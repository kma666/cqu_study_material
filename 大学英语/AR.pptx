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6" r:id="rId3"/>
    <p:sldId id="259" r:id="rId4"/>
    <p:sldId id="258" r:id="rId5"/>
    <p:sldId id="260" r:id="rId6"/>
    <p:sldId id="262" r:id="rId7"/>
    <p:sldId id="261" r:id="rId8"/>
    <p:sldId id="263" r:id="rId9"/>
    <p:sldId id="264" r:id="rId10"/>
    <p:sldId id="265" r:id="rId11"/>
    <p:sldId id="266" r:id="rId12"/>
    <p:sldId id="267"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87" d="100"/>
          <a:sy n="87" d="100"/>
        </p:scale>
        <p:origin x="40" y="4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841611-72F1-4494-9E04-0A86586AB979}" type="datetimeFigureOut">
              <a:rPr lang="zh-CN" altLang="en-US" smtClean="0"/>
              <a:t>2025/4/20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DDB6D9-4AF7-4B5F-86FD-57B177CE5274}" type="slidenum">
              <a:rPr lang="zh-CN" altLang="en-US" smtClean="0"/>
              <a:t>‹#›</a:t>
            </a:fld>
            <a:endParaRPr lang="zh-CN" altLang="en-US"/>
          </a:p>
        </p:txBody>
      </p:sp>
    </p:spTree>
    <p:extLst>
      <p:ext uri="{BB962C8B-B14F-4D97-AF65-F5344CB8AC3E}">
        <p14:creationId xmlns:p14="http://schemas.microsoft.com/office/powerpoint/2010/main" val="4157285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DDB6D9-4AF7-4B5F-86FD-57B177CE5274}" type="slidenum">
              <a:rPr lang="zh-CN" altLang="en-US" smtClean="0"/>
              <a:t>5</a:t>
            </a:fld>
            <a:endParaRPr lang="zh-CN" altLang="en-US"/>
          </a:p>
        </p:txBody>
      </p:sp>
    </p:spTree>
    <p:extLst>
      <p:ext uri="{BB962C8B-B14F-4D97-AF65-F5344CB8AC3E}">
        <p14:creationId xmlns:p14="http://schemas.microsoft.com/office/powerpoint/2010/main" val="2944245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DDB6D9-4AF7-4B5F-86FD-57B177CE5274}" type="slidenum">
              <a:rPr lang="zh-CN" altLang="en-US" smtClean="0"/>
              <a:t>6</a:t>
            </a:fld>
            <a:endParaRPr lang="zh-CN" altLang="en-US"/>
          </a:p>
        </p:txBody>
      </p:sp>
    </p:spTree>
    <p:extLst>
      <p:ext uri="{BB962C8B-B14F-4D97-AF65-F5344CB8AC3E}">
        <p14:creationId xmlns:p14="http://schemas.microsoft.com/office/powerpoint/2010/main" val="1411816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DDB6D9-4AF7-4B5F-86FD-57B177CE5274}" type="slidenum">
              <a:rPr lang="zh-CN" altLang="en-US" smtClean="0"/>
              <a:t>10</a:t>
            </a:fld>
            <a:endParaRPr lang="zh-CN" altLang="en-US"/>
          </a:p>
        </p:txBody>
      </p:sp>
    </p:spTree>
    <p:extLst>
      <p:ext uri="{BB962C8B-B14F-4D97-AF65-F5344CB8AC3E}">
        <p14:creationId xmlns:p14="http://schemas.microsoft.com/office/powerpoint/2010/main" val="1035969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714819-95EF-34BC-9A23-F009C336425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F440B0D-74F8-0D64-44B2-7465864C9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BDA1B23-6FA8-038B-A510-A7FCB8D88C62}"/>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639804FF-DBD6-B394-3227-6C00AFEF8F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89DE74-F52B-4563-360D-824F207E6A29}"/>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279158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FC461B-44F0-56B6-93AF-09A40280D55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52A7CA-8FA3-EA6D-135B-96DDF586325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683FAE8-A1C2-D860-F562-9B2A2A5A55F3}"/>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AFFB0C6B-11A6-B554-6E8D-C0A63B263F9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8FBF592-42B7-4B2B-EE4B-9AC9C1144C56}"/>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2220420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92827F-7C86-75DD-E007-CC44682C879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18A5C9F-515C-D578-C668-23DFE2F16F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F0AB27B-9E63-A8B8-637C-D5EAD3142C09}"/>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6801F2D5-DCD9-DBBB-0B45-D4A2425912C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098FC6-6A46-0F1C-51B3-6C5A5F774790}"/>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15862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62B692-9368-AE96-3AD4-FAF2E3CAB3D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B35A784-D25A-8F38-056E-D1B1E42918C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9D5BD59-C106-373C-0B4B-054FDEF9991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52FC428-AE69-83B4-815E-C067BEBCB0A1}"/>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6" name="页脚占位符 5">
            <a:extLst>
              <a:ext uri="{FF2B5EF4-FFF2-40B4-BE49-F238E27FC236}">
                <a16:creationId xmlns:a16="http://schemas.microsoft.com/office/drawing/2014/main" id="{B37BC34F-24A2-03AA-3D0F-AB51A177E5B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7B8E2FE-ACCC-5A0F-C70E-1FC54067EC43}"/>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2437000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AEE98-5F1E-3882-8763-E40C5F3DB9E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4D4279F-4EB6-7175-AB87-285214F2F8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330135E-2191-9BB3-7D02-746F4FC6428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7D623AD-B8C1-3B57-1210-1CF602B4D1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85D06AD-EA95-6240-0730-F36F67A4FAA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1336502-1138-74E1-3071-954ED1B3C578}"/>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8" name="页脚占位符 7">
            <a:extLst>
              <a:ext uri="{FF2B5EF4-FFF2-40B4-BE49-F238E27FC236}">
                <a16:creationId xmlns:a16="http://schemas.microsoft.com/office/drawing/2014/main" id="{A177ECE9-1D3F-8646-D77C-3259816B1FC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0514758-7213-0AFC-BA66-8FDCA1BD016D}"/>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3144387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B7355-4706-C2D8-D034-9D041DF5A52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F35B4AE-A377-1D96-654C-74EFD6252CE4}"/>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4" name="页脚占位符 3">
            <a:extLst>
              <a:ext uri="{FF2B5EF4-FFF2-40B4-BE49-F238E27FC236}">
                <a16:creationId xmlns:a16="http://schemas.microsoft.com/office/drawing/2014/main" id="{15712AE8-0A5D-E767-1187-3EDC24D35C0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FDF6858-6B33-78D8-3F5F-F36CE9D6E825}"/>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93613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898C02E-CE55-6EFB-3CA7-9CB14A96C5AE}"/>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3" name="页脚占位符 2">
            <a:extLst>
              <a:ext uri="{FF2B5EF4-FFF2-40B4-BE49-F238E27FC236}">
                <a16:creationId xmlns:a16="http://schemas.microsoft.com/office/drawing/2014/main" id="{AE585E5C-5F3B-60B4-5313-4D08B5CD98A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8CFAFF-1AF3-CE36-C57A-17C3531D35B8}"/>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4102719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A5BCDE-5992-FCCC-19DF-C26E4902C33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EE1EBD3-F2F2-65E5-43EE-DE5448BD8E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50914E5-A5AF-6285-AB86-8B4A31FF1F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F6EBBA-92A6-BC41-270A-32D30BC78CD5}"/>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6" name="页脚占位符 5">
            <a:extLst>
              <a:ext uri="{FF2B5EF4-FFF2-40B4-BE49-F238E27FC236}">
                <a16:creationId xmlns:a16="http://schemas.microsoft.com/office/drawing/2014/main" id="{8A412D33-8D3C-A0DD-C571-2AD19F3CB8A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583F8D6-3E32-A5E7-D046-937068517882}"/>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3310623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ADE050-6277-E79B-ED77-2A4856D9342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5E4D4CE-3231-7E5A-ECC9-F352BC7E3C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77DA14C-B957-55E9-3210-7490F87EA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8939BCF-62D8-80D3-742D-7F4690FB18C3}"/>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6" name="页脚占位符 5">
            <a:extLst>
              <a:ext uri="{FF2B5EF4-FFF2-40B4-BE49-F238E27FC236}">
                <a16:creationId xmlns:a16="http://schemas.microsoft.com/office/drawing/2014/main" id="{69C84D13-C4EB-7502-E8E6-447BAD039CB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7317337-953F-EC27-7F7A-B5FA6E1D3192}"/>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509422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187810-6CE8-38E6-752F-2CAF6727726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F465B3B-8CAC-4AA1-751F-5F6ECD64C75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0E73EC9-1783-BBF8-D19E-7FA15C408B0D}"/>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34774673-9B7A-C58B-7158-DE333224B6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7225F81-BB4F-DC95-4B46-1F54F0BBE0F5}"/>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309289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09B71F4-A7FC-F78F-965D-4722BF4167F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A8968FC-B517-78F0-A810-30CF4ADE90E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E940820-B4DA-963E-5B2E-1F911E2801DD}"/>
              </a:ext>
            </a:extLst>
          </p:cNvPr>
          <p:cNvSpPr>
            <a:spLocks noGrp="1"/>
          </p:cNvSpPr>
          <p:nvPr>
            <p:ph type="dt" sz="half" idx="10"/>
          </p:nvPr>
        </p:nvSpPr>
        <p:spPr/>
        <p:txBody>
          <a:bodyPr/>
          <a:lstStyle/>
          <a:p>
            <a:fld id="{4910A04B-2B85-40E5-BA3B-0A3E197FBAF1}"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E0B28C22-7D06-7C54-8F8C-955DDBFD67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888129-FD42-3196-8D5D-ABEA0D008187}"/>
              </a:ext>
            </a:extLst>
          </p:cNvPr>
          <p:cNvSpPr>
            <a:spLocks noGrp="1"/>
          </p:cNvSpPr>
          <p:nvPr>
            <p:ph type="sldNum" sz="quarter" idx="12"/>
          </p:nvPr>
        </p:nvSpPr>
        <p:spPr/>
        <p:txBody>
          <a:body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56630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0D082E8-DF35-1178-89B1-E42458113E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1C45DE6-21C2-2DD1-B0E0-496B4BADCD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947D56-98A7-AB23-BA73-45E08C28E6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10A04B-2B85-40E5-BA3B-0A3E197FBAF1}"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63CD5D3F-4C0A-CB74-7295-A9104F7E91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F09744F-DCFC-3E18-7478-FA389F8620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C80F8A-67F8-47AC-A115-77E711572B40}" type="slidenum">
              <a:rPr lang="zh-CN" altLang="en-US" smtClean="0"/>
              <a:t>‹#›</a:t>
            </a:fld>
            <a:endParaRPr lang="zh-CN" altLang="en-US"/>
          </a:p>
        </p:txBody>
      </p:sp>
    </p:spTree>
    <p:extLst>
      <p:ext uri="{BB962C8B-B14F-4D97-AF65-F5344CB8AC3E}">
        <p14:creationId xmlns:p14="http://schemas.microsoft.com/office/powerpoint/2010/main" val="902764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l.acm.org/doi/10.1145/3343055.3359718"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hyperlink" Target="https://www.sciencedirect.com/science/article/pii/S000768132500047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10447-AE37-5B91-EFDC-8C5674A5CA05}"/>
              </a:ext>
            </a:extLst>
          </p:cNvPr>
          <p:cNvSpPr>
            <a:spLocks noGrp="1"/>
          </p:cNvSpPr>
          <p:nvPr>
            <p:ph type="ctrTitle"/>
          </p:nvPr>
        </p:nvSpPr>
        <p:spPr/>
        <p:txBody>
          <a:bodyPr/>
          <a:lstStyle/>
          <a:p>
            <a:r>
              <a:rPr lang="en-US" altLang="zh-CN" dirty="0"/>
              <a:t>AR</a:t>
            </a:r>
            <a:endParaRPr lang="zh-CN" altLang="en-US" dirty="0"/>
          </a:p>
        </p:txBody>
      </p:sp>
      <p:sp>
        <p:nvSpPr>
          <p:cNvPr id="3" name="副标题 2">
            <a:extLst>
              <a:ext uri="{FF2B5EF4-FFF2-40B4-BE49-F238E27FC236}">
                <a16:creationId xmlns:a16="http://schemas.microsoft.com/office/drawing/2014/main" id="{E134C652-2504-5A15-B93E-28C0912CA002}"/>
              </a:ext>
            </a:extLst>
          </p:cNvPr>
          <p:cNvSpPr>
            <a:spLocks noGrp="1"/>
          </p:cNvSpPr>
          <p:nvPr>
            <p:ph type="subTitle" idx="1"/>
          </p:nvPr>
        </p:nvSpPr>
        <p:spPr/>
        <p:txBody>
          <a:bodyPr/>
          <a:lstStyle/>
          <a:p>
            <a:r>
              <a:rPr lang="en-US" altLang="zh-CN" dirty="0"/>
              <a:t>HOW TO CHANGE OUR LIFE</a:t>
            </a:r>
          </a:p>
          <a:p>
            <a:endParaRPr lang="zh-CN" altLang="en-US" dirty="0"/>
          </a:p>
        </p:txBody>
      </p:sp>
      <p:sp>
        <p:nvSpPr>
          <p:cNvPr id="6" name="文本框 5">
            <a:extLst>
              <a:ext uri="{FF2B5EF4-FFF2-40B4-BE49-F238E27FC236}">
                <a16:creationId xmlns:a16="http://schemas.microsoft.com/office/drawing/2014/main" id="{314AAEC3-B51F-4BB7-97E4-7CD19AB30EFE}"/>
              </a:ext>
            </a:extLst>
          </p:cNvPr>
          <p:cNvSpPr txBox="1"/>
          <p:nvPr/>
        </p:nvSpPr>
        <p:spPr>
          <a:xfrm>
            <a:off x="9676790" y="5901537"/>
            <a:ext cx="1982419" cy="646331"/>
          </a:xfrm>
          <a:prstGeom prst="rect">
            <a:avLst/>
          </a:prstGeom>
          <a:noFill/>
        </p:spPr>
        <p:txBody>
          <a:bodyPr wrap="square" rtlCol="0">
            <a:spAutoFit/>
          </a:bodyPr>
          <a:lstStyle/>
          <a:p>
            <a:r>
              <a:rPr lang="en-US" altLang="zh-CN" dirty="0"/>
              <a:t>BY         Chen J.M</a:t>
            </a:r>
          </a:p>
          <a:p>
            <a:r>
              <a:rPr lang="zh-CN" altLang="en-US" dirty="0"/>
              <a:t>              </a:t>
            </a:r>
            <a:r>
              <a:rPr lang="en-US" altLang="zh-CN" dirty="0"/>
              <a:t>Yan H.R</a:t>
            </a:r>
            <a:endParaRPr lang="zh-CN" altLang="en-US" dirty="0"/>
          </a:p>
        </p:txBody>
      </p:sp>
    </p:spTree>
    <p:extLst>
      <p:ext uri="{BB962C8B-B14F-4D97-AF65-F5344CB8AC3E}">
        <p14:creationId xmlns:p14="http://schemas.microsoft.com/office/powerpoint/2010/main" val="57538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C5C59-3BB7-CB02-D0C3-4AD1B9FA1BF2}"/>
              </a:ext>
            </a:extLst>
          </p:cNvPr>
          <p:cNvSpPr>
            <a:spLocks noGrp="1"/>
          </p:cNvSpPr>
          <p:nvPr>
            <p:ph type="ctrTitle"/>
          </p:nvPr>
        </p:nvSpPr>
        <p:spPr>
          <a:xfrm>
            <a:off x="1314943" y="522517"/>
            <a:ext cx="9287219" cy="1094143"/>
          </a:xfrm>
        </p:spPr>
        <p:txBody>
          <a:bodyPr/>
          <a:lstStyle/>
          <a:p>
            <a:r>
              <a:rPr lang="en-US" altLang="zh-CN" dirty="0"/>
              <a:t>WHAT IS AR?</a:t>
            </a:r>
            <a:endParaRPr lang="zh-CN" altLang="en-US" dirty="0"/>
          </a:p>
        </p:txBody>
      </p:sp>
      <p:sp>
        <p:nvSpPr>
          <p:cNvPr id="3" name="副标题 2">
            <a:extLst>
              <a:ext uri="{FF2B5EF4-FFF2-40B4-BE49-F238E27FC236}">
                <a16:creationId xmlns:a16="http://schemas.microsoft.com/office/drawing/2014/main" id="{E881B361-C653-F950-CD6F-F65FF31554DE}"/>
              </a:ext>
            </a:extLst>
          </p:cNvPr>
          <p:cNvSpPr>
            <a:spLocks noGrp="1"/>
          </p:cNvSpPr>
          <p:nvPr>
            <p:ph type="subTitle" idx="1"/>
          </p:nvPr>
        </p:nvSpPr>
        <p:spPr>
          <a:xfrm>
            <a:off x="5747310" y="2223983"/>
            <a:ext cx="6444690" cy="3268949"/>
          </a:xfrm>
        </p:spPr>
        <p:txBody>
          <a:bodyPr>
            <a:normAutofit/>
          </a:bodyPr>
          <a:lstStyle/>
          <a:p>
            <a:pPr algn="l"/>
            <a:r>
              <a:rPr lang="en-US" altLang="zh-CN" b="1" dirty="0"/>
              <a:t>Augmented Reality (AR) </a:t>
            </a:r>
            <a:r>
              <a:rPr lang="en-US" altLang="zh-CN" dirty="0"/>
              <a:t>is a technology that superimposes virtual content (e.g., images, text, 3D models) onto the real world, allowing users to view blended environments where digital and physical elements coexist through devices like smartphones or glasses.</a:t>
            </a:r>
            <a:endParaRPr lang="zh-CN" altLang="en-US" dirty="0"/>
          </a:p>
        </p:txBody>
      </p:sp>
      <p:pic>
        <p:nvPicPr>
          <p:cNvPr id="1028" name="Picture 4" descr="什么是VR/AR？">
            <a:extLst>
              <a:ext uri="{FF2B5EF4-FFF2-40B4-BE49-F238E27FC236}">
                <a16:creationId xmlns:a16="http://schemas.microsoft.com/office/drawing/2014/main" id="{E4E6852F-563D-D567-EC5A-3A6B00A42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251" y="2209192"/>
            <a:ext cx="5310944" cy="3283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05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254427-198D-AB9C-AEA7-9794732EBDC4}"/>
              </a:ext>
            </a:extLst>
          </p:cNvPr>
          <p:cNvSpPr>
            <a:spLocks noGrp="1"/>
          </p:cNvSpPr>
          <p:nvPr>
            <p:ph type="title"/>
          </p:nvPr>
        </p:nvSpPr>
        <p:spPr>
          <a:xfrm>
            <a:off x="838200" y="153192"/>
            <a:ext cx="10515600" cy="1325563"/>
          </a:xfrm>
        </p:spPr>
        <p:txBody>
          <a:bodyPr/>
          <a:lstStyle/>
          <a:p>
            <a:pPr algn="ctr"/>
            <a:r>
              <a:rPr lang="en-US" altLang="zh-CN" dirty="0"/>
              <a:t>The Origin of AR</a:t>
            </a:r>
            <a:endParaRPr lang="zh-CN" altLang="en-US" dirty="0"/>
          </a:p>
        </p:txBody>
      </p:sp>
      <p:sp>
        <p:nvSpPr>
          <p:cNvPr id="3" name="内容占位符 2">
            <a:extLst>
              <a:ext uri="{FF2B5EF4-FFF2-40B4-BE49-F238E27FC236}">
                <a16:creationId xmlns:a16="http://schemas.microsoft.com/office/drawing/2014/main" id="{8ADEDFBE-E310-9A77-9E61-01E485C67887}"/>
              </a:ext>
            </a:extLst>
          </p:cNvPr>
          <p:cNvSpPr>
            <a:spLocks noGrp="1"/>
          </p:cNvSpPr>
          <p:nvPr>
            <p:ph idx="1"/>
          </p:nvPr>
        </p:nvSpPr>
        <p:spPr>
          <a:xfrm>
            <a:off x="5632704" y="1609839"/>
            <a:ext cx="5721096" cy="4703146"/>
          </a:xfrm>
        </p:spPr>
        <p:txBody>
          <a:bodyPr>
            <a:normAutofit fontScale="92500" lnSpcReduction="20000"/>
          </a:bodyPr>
          <a:lstStyle/>
          <a:p>
            <a:r>
              <a:rPr lang="en-US" altLang="zh-CN" dirty="0"/>
              <a:t>  AR technology originated in military and academic laboratories. Over decades of iterative advancements in hardware and algorithms, it has evolved from clunky experimental prototypes to mainstream consumer applications.</a:t>
            </a:r>
          </a:p>
          <a:p>
            <a:r>
              <a:rPr lang="en-US" altLang="zh-CN" dirty="0"/>
              <a:t>  Its development has consistently revolved around the core framework of "sensing, positioning, rendering, and interaction". In the future, AR is poised to become the next-generation general-purpose computing platform, driven by lightweight glasses and deeper integration with AI.</a:t>
            </a:r>
            <a:endParaRPr lang="zh-CN" altLang="en-US" dirty="0"/>
          </a:p>
        </p:txBody>
      </p:sp>
      <p:pic>
        <p:nvPicPr>
          <p:cNvPr id="2050" name="Picture 2">
            <a:extLst>
              <a:ext uri="{FF2B5EF4-FFF2-40B4-BE49-F238E27FC236}">
                <a16:creationId xmlns:a16="http://schemas.microsoft.com/office/drawing/2014/main" id="{C7CBF71A-B5C2-4B23-CD23-36EB8603AC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661" y="1608754"/>
            <a:ext cx="4257446" cy="4568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22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D05C91-938A-101E-48ED-5AE0F41284F5}"/>
              </a:ext>
            </a:extLst>
          </p:cNvPr>
          <p:cNvSpPr>
            <a:spLocks noGrp="1"/>
          </p:cNvSpPr>
          <p:nvPr>
            <p:ph type="title"/>
          </p:nvPr>
        </p:nvSpPr>
        <p:spPr/>
        <p:txBody>
          <a:bodyPr/>
          <a:lstStyle/>
          <a:p>
            <a:pPr algn="ctr"/>
            <a:r>
              <a:rPr lang="en-US" altLang="zh-CN" dirty="0"/>
              <a:t>The Working Principle of AR</a:t>
            </a:r>
            <a:endParaRPr lang="zh-CN" altLang="en-US" dirty="0"/>
          </a:p>
        </p:txBody>
      </p:sp>
      <p:sp>
        <p:nvSpPr>
          <p:cNvPr id="3" name="内容占位符 2">
            <a:extLst>
              <a:ext uri="{FF2B5EF4-FFF2-40B4-BE49-F238E27FC236}">
                <a16:creationId xmlns:a16="http://schemas.microsoft.com/office/drawing/2014/main" id="{B7A24B9C-DD93-65F0-1EE2-BF63F4828F13}"/>
              </a:ext>
            </a:extLst>
          </p:cNvPr>
          <p:cNvSpPr>
            <a:spLocks noGrp="1"/>
          </p:cNvSpPr>
          <p:nvPr>
            <p:ph idx="1"/>
          </p:nvPr>
        </p:nvSpPr>
        <p:spPr>
          <a:xfrm rot="10800000" flipV="1">
            <a:off x="1769057" y="4741901"/>
            <a:ext cx="8653883" cy="2233142"/>
          </a:xfrm>
        </p:spPr>
        <p:txBody>
          <a:bodyPr>
            <a:normAutofit fontScale="85000" lnSpcReduction="10000"/>
          </a:bodyPr>
          <a:lstStyle/>
          <a:p>
            <a:r>
              <a:rPr lang="en-US" altLang="zh-CN" dirty="0"/>
              <a:t>AR dynamically integrates virtual content with the real world by real-time environmental perception (via computer vision and sensors), precise positioning and tracking (using SLAM technology), virtual-real fusion rendering (ensuring geometric and lighting consistency), and natural interaction (gesture/voice recognition), creating a seamless "digital layer" that interacts with physical reality.</a:t>
            </a:r>
            <a:endParaRPr lang="zh-CN" altLang="en-US" dirty="0"/>
          </a:p>
          <a:p>
            <a:pPr algn="ctr"/>
            <a:endParaRPr lang="zh-CN" altLang="en-US" dirty="0"/>
          </a:p>
        </p:txBody>
      </p:sp>
      <p:pic>
        <p:nvPicPr>
          <p:cNvPr id="3074" name="Picture 2">
            <a:extLst>
              <a:ext uri="{FF2B5EF4-FFF2-40B4-BE49-F238E27FC236}">
                <a16:creationId xmlns:a16="http://schemas.microsoft.com/office/drawing/2014/main" id="{2F91CEE6-A041-2B16-C4DE-4A360DDC20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287" y="1400328"/>
            <a:ext cx="10181425" cy="3217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377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90332A-EF61-74E7-8591-FB5DF36FCADA}"/>
              </a:ext>
            </a:extLst>
          </p:cNvPr>
          <p:cNvSpPr>
            <a:spLocks noGrp="1"/>
          </p:cNvSpPr>
          <p:nvPr>
            <p:ph type="title"/>
          </p:nvPr>
        </p:nvSpPr>
        <p:spPr>
          <a:xfrm>
            <a:off x="2988107" y="5047492"/>
            <a:ext cx="6825386" cy="1509098"/>
          </a:xfrm>
        </p:spPr>
        <p:txBody>
          <a:bodyPr>
            <a:normAutofit fontScale="90000"/>
          </a:bodyPr>
          <a:lstStyle/>
          <a:p>
            <a:r>
              <a:rPr lang="en-US" altLang="zh-CN" dirty="0"/>
              <a:t>AR Navigation: ground guidance shortens navigation time in complex environments</a:t>
            </a:r>
            <a:endParaRPr lang="zh-CN" altLang="en-US" dirty="0"/>
          </a:p>
        </p:txBody>
      </p:sp>
      <p:sp>
        <p:nvSpPr>
          <p:cNvPr id="7" name="AutoShape 10">
            <a:extLst>
              <a:ext uri="{FF2B5EF4-FFF2-40B4-BE49-F238E27FC236}">
                <a16:creationId xmlns:a16="http://schemas.microsoft.com/office/drawing/2014/main" id="{874C840F-8252-6A67-9567-5F26F2342DFD}"/>
              </a:ext>
            </a:extLst>
          </p:cNvPr>
          <p:cNvSpPr>
            <a:spLocks noGrp="1" noChangeAspect="1" noChangeArrowheads="1"/>
          </p:cNvSpPr>
          <p:nvPr>
            <p:ph idx="1"/>
          </p:nvPr>
        </p:nvSpPr>
        <p:spPr bwMode="auto">
          <a:xfrm>
            <a:off x="3522802" y="4881372"/>
            <a:ext cx="5257800" cy="21756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indent="0">
              <a:buNone/>
            </a:pPr>
            <a:r>
              <a:rPr lang="en-US" altLang="zh-CN" dirty="0"/>
              <a:t>.</a:t>
            </a:r>
            <a:endParaRPr lang="zh-CN" altLang="en-US" dirty="0"/>
          </a:p>
        </p:txBody>
      </p:sp>
      <p:sp>
        <p:nvSpPr>
          <p:cNvPr id="8" name="AutoShape 12">
            <a:extLst>
              <a:ext uri="{FF2B5EF4-FFF2-40B4-BE49-F238E27FC236}">
                <a16:creationId xmlns:a16="http://schemas.microsoft.com/office/drawing/2014/main" id="{1581D5FB-70FF-B2A0-57A7-C741081CC7C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AutoShape 14">
            <a:extLst>
              <a:ext uri="{FF2B5EF4-FFF2-40B4-BE49-F238E27FC236}">
                <a16:creationId xmlns:a16="http://schemas.microsoft.com/office/drawing/2014/main" id="{5C10CA52-0ED0-210D-4139-56EE11D558E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112" name="Picture 16">
            <a:extLst>
              <a:ext uri="{FF2B5EF4-FFF2-40B4-BE49-F238E27FC236}">
                <a16:creationId xmlns:a16="http://schemas.microsoft.com/office/drawing/2014/main" id="{B2EB74D3-07E6-362E-A14C-46EFCA5E9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725" y="118872"/>
            <a:ext cx="8515350" cy="47625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DAEB462E-B347-0FD1-E301-F70B7DD8FBED}"/>
              </a:ext>
            </a:extLst>
          </p:cNvPr>
          <p:cNvSpPr/>
          <p:nvPr/>
        </p:nvSpPr>
        <p:spPr>
          <a:xfrm>
            <a:off x="7913827" y="3219875"/>
            <a:ext cx="2495550" cy="1509097"/>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AR</a:t>
            </a:r>
            <a:r>
              <a:rPr lang="zh-CN" altLang="en-US" dirty="0"/>
              <a:t>导航</a:t>
            </a:r>
          </a:p>
        </p:txBody>
      </p:sp>
    </p:spTree>
    <p:extLst>
      <p:ext uri="{BB962C8B-B14F-4D97-AF65-F5344CB8AC3E}">
        <p14:creationId xmlns:p14="http://schemas.microsoft.com/office/powerpoint/2010/main" val="1312938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a:extLst>
              <a:ext uri="{FF2B5EF4-FFF2-40B4-BE49-F238E27FC236}">
                <a16:creationId xmlns:a16="http://schemas.microsoft.com/office/drawing/2014/main" id="{BD16DBEB-801A-1209-7F75-6551877C51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6">
            <a:extLst>
              <a:ext uri="{FF2B5EF4-FFF2-40B4-BE49-F238E27FC236}">
                <a16:creationId xmlns:a16="http://schemas.microsoft.com/office/drawing/2014/main" id="{DCBCBD75-47DD-09F7-21A7-6C24EE987ED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8">
            <a:extLst>
              <a:ext uri="{FF2B5EF4-FFF2-40B4-BE49-F238E27FC236}">
                <a16:creationId xmlns:a16="http://schemas.microsoft.com/office/drawing/2014/main" id="{4683E957-B2B1-9A25-EFA1-818A772F301B}"/>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AutoShape 10">
            <a:extLst>
              <a:ext uri="{FF2B5EF4-FFF2-40B4-BE49-F238E27FC236}">
                <a16:creationId xmlns:a16="http://schemas.microsoft.com/office/drawing/2014/main" id="{54A07B35-828C-327B-E60A-C6609C1234BB}"/>
              </a:ext>
            </a:extLst>
          </p:cNvPr>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12" name="内容占位符 11">
            <a:extLst>
              <a:ext uri="{FF2B5EF4-FFF2-40B4-BE49-F238E27FC236}">
                <a16:creationId xmlns:a16="http://schemas.microsoft.com/office/drawing/2014/main" id="{F98A468E-6B4D-B1E9-CF09-EC93AD9B7C8A}"/>
              </a:ext>
            </a:extLst>
          </p:cNvPr>
          <p:cNvSpPr>
            <a:spLocks noGrp="1"/>
          </p:cNvSpPr>
          <p:nvPr>
            <p:ph idx="1"/>
          </p:nvPr>
        </p:nvSpPr>
        <p:spPr>
          <a:xfrm>
            <a:off x="990600" y="5624512"/>
            <a:ext cx="10515600" cy="1070953"/>
          </a:xfrm>
        </p:spPr>
        <p:txBody>
          <a:bodyPr/>
          <a:lstStyle/>
          <a:p>
            <a:r>
              <a:rPr lang="en-US" altLang="zh-CN" dirty="0"/>
              <a:t>Architectural Design: Real-time 3D model overlays minimize design iteration costs.</a:t>
            </a:r>
            <a:endParaRPr lang="zh-CN" altLang="en-US" dirty="0"/>
          </a:p>
        </p:txBody>
      </p:sp>
      <p:pic>
        <p:nvPicPr>
          <p:cNvPr id="16" name="图片 15">
            <a:extLst>
              <a:ext uri="{FF2B5EF4-FFF2-40B4-BE49-F238E27FC236}">
                <a16:creationId xmlns:a16="http://schemas.microsoft.com/office/drawing/2014/main" id="{8841C0F2-E9DE-FFBB-0665-0EC89025839E}"/>
              </a:ext>
            </a:extLst>
          </p:cNvPr>
          <p:cNvPicPr>
            <a:picLocks noChangeAspect="1"/>
          </p:cNvPicPr>
          <p:nvPr/>
        </p:nvPicPr>
        <p:blipFill>
          <a:blip r:embed="rId3"/>
          <a:stretch>
            <a:fillRect/>
          </a:stretch>
        </p:blipFill>
        <p:spPr>
          <a:xfrm>
            <a:off x="537252" y="130797"/>
            <a:ext cx="11251129" cy="5493715"/>
          </a:xfrm>
          <a:prstGeom prst="rect">
            <a:avLst/>
          </a:prstGeom>
        </p:spPr>
      </p:pic>
    </p:spTree>
    <p:extLst>
      <p:ext uri="{BB962C8B-B14F-4D97-AF65-F5344CB8AC3E}">
        <p14:creationId xmlns:p14="http://schemas.microsoft.com/office/powerpoint/2010/main" val="2950551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043E88-30C1-376A-FCB4-BEB0DCBA741C}"/>
              </a:ext>
            </a:extLst>
          </p:cNvPr>
          <p:cNvSpPr>
            <a:spLocks noGrp="1"/>
          </p:cNvSpPr>
          <p:nvPr>
            <p:ph type="title"/>
          </p:nvPr>
        </p:nvSpPr>
        <p:spPr>
          <a:xfrm>
            <a:off x="6295901" y="3847797"/>
            <a:ext cx="5628437" cy="2626156"/>
          </a:xfrm>
        </p:spPr>
        <p:txBody>
          <a:bodyPr>
            <a:normAutofit fontScale="90000"/>
          </a:bodyPr>
          <a:lstStyle/>
          <a:p>
            <a:r>
              <a:rPr lang="en-US" altLang="zh-CN" dirty="0"/>
              <a:t>AR Gaming: Hybrid real-virtual experiences (e.g., Pokémon GO) drive multi-billion-dollar markets.</a:t>
            </a:r>
            <a:endParaRPr lang="zh-CN" altLang="en-US" dirty="0"/>
          </a:p>
        </p:txBody>
      </p:sp>
      <p:pic>
        <p:nvPicPr>
          <p:cNvPr id="5124" name="Picture 4">
            <a:extLst>
              <a:ext uri="{FF2B5EF4-FFF2-40B4-BE49-F238E27FC236}">
                <a16:creationId xmlns:a16="http://schemas.microsoft.com/office/drawing/2014/main" id="{4772EF6B-AF34-008F-EB7E-89E6938D33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600329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00D2D02E-AC20-5DE1-00F4-9376B89E0F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3293" y="0"/>
            <a:ext cx="6096000" cy="3676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67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D74826-2E64-9C3E-1E65-98634DC21D64}"/>
              </a:ext>
            </a:extLst>
          </p:cNvPr>
          <p:cNvSpPr>
            <a:spLocks noGrp="1"/>
          </p:cNvSpPr>
          <p:nvPr>
            <p:ph type="title"/>
          </p:nvPr>
        </p:nvSpPr>
        <p:spPr/>
        <p:txBody>
          <a:bodyPr/>
          <a:lstStyle/>
          <a:p>
            <a:pPr algn="ctr"/>
            <a:r>
              <a:rPr lang="en-US" altLang="zh-CN" dirty="0"/>
              <a:t>Future and Challenge</a:t>
            </a:r>
            <a:endParaRPr lang="zh-CN" altLang="en-US" dirty="0"/>
          </a:p>
        </p:txBody>
      </p:sp>
      <p:sp>
        <p:nvSpPr>
          <p:cNvPr id="3" name="内容占位符 2">
            <a:extLst>
              <a:ext uri="{FF2B5EF4-FFF2-40B4-BE49-F238E27FC236}">
                <a16:creationId xmlns:a16="http://schemas.microsoft.com/office/drawing/2014/main" id="{C8218E57-8E5E-B096-29E8-5680F551B558}"/>
              </a:ext>
            </a:extLst>
          </p:cNvPr>
          <p:cNvSpPr>
            <a:spLocks noGrp="1"/>
          </p:cNvSpPr>
          <p:nvPr>
            <p:ph idx="1"/>
          </p:nvPr>
        </p:nvSpPr>
        <p:spPr/>
        <p:txBody>
          <a:bodyPr>
            <a:normAutofit fontScale="92500" lnSpcReduction="10000"/>
          </a:bodyPr>
          <a:lstStyle/>
          <a:p>
            <a:r>
              <a:rPr lang="en-US" altLang="zh-CN" sz="4000" b="1" dirty="0"/>
              <a:t>Future:</a:t>
            </a:r>
            <a:r>
              <a:rPr lang="zh-CN" altLang="en-US" sz="4000" b="1" dirty="0"/>
              <a:t> </a:t>
            </a:r>
            <a:endParaRPr lang="en-US" altLang="zh-CN" sz="4000" b="1" dirty="0"/>
          </a:p>
          <a:p>
            <a:r>
              <a:rPr lang="en-US" altLang="zh-CN" dirty="0"/>
              <a:t>Lightweight glasses replacing smartphones</a:t>
            </a:r>
          </a:p>
          <a:p>
            <a:r>
              <a:rPr lang="en-US" altLang="zh-CN" dirty="0"/>
              <a:t>AI integration</a:t>
            </a:r>
          </a:p>
          <a:p>
            <a:r>
              <a:rPr lang="en-US" altLang="zh-CN" dirty="0"/>
              <a:t>Cross-industry transformation</a:t>
            </a:r>
          </a:p>
          <a:p>
            <a:r>
              <a:rPr lang="en-US" altLang="zh-CN" sz="3800" b="1" dirty="0"/>
              <a:t>Core Challenges:</a:t>
            </a:r>
          </a:p>
          <a:p>
            <a:r>
              <a:rPr lang="en-US" altLang="zh-CN" dirty="0"/>
              <a:t>Hardware limitations</a:t>
            </a:r>
          </a:p>
          <a:p>
            <a:r>
              <a:rPr lang="en-US" altLang="zh-CN" dirty="0"/>
              <a:t>Privacy concerns</a:t>
            </a:r>
          </a:p>
          <a:p>
            <a:r>
              <a:rPr lang="en-US" altLang="zh-CN" dirty="0"/>
              <a:t>User adoption barriers</a:t>
            </a:r>
          </a:p>
          <a:p>
            <a:r>
              <a:rPr lang="en-US" altLang="zh-CN" dirty="0"/>
              <a:t>Lack of content ecosystems.</a:t>
            </a:r>
          </a:p>
          <a:p>
            <a:endParaRPr lang="zh-CN" altLang="en-US" dirty="0"/>
          </a:p>
        </p:txBody>
      </p:sp>
    </p:spTree>
    <p:extLst>
      <p:ext uri="{BB962C8B-B14F-4D97-AF65-F5344CB8AC3E}">
        <p14:creationId xmlns:p14="http://schemas.microsoft.com/office/powerpoint/2010/main" val="2188983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0426BFD-B4AA-8209-33A9-9E23AC1CE9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12648" y="-2709273"/>
            <a:ext cx="6966704" cy="12385252"/>
          </a:xfrm>
          <a:prstGeom prst="rect">
            <a:avLst/>
          </a:prstGeom>
        </p:spPr>
      </p:pic>
      <p:sp>
        <p:nvSpPr>
          <p:cNvPr id="2" name="标题 1">
            <a:extLst>
              <a:ext uri="{FF2B5EF4-FFF2-40B4-BE49-F238E27FC236}">
                <a16:creationId xmlns:a16="http://schemas.microsoft.com/office/drawing/2014/main" id="{05FC6669-7180-D0A5-6CEA-126B2C362789}"/>
              </a:ext>
            </a:extLst>
          </p:cNvPr>
          <p:cNvSpPr>
            <a:spLocks noGrp="1"/>
          </p:cNvSpPr>
          <p:nvPr>
            <p:ph type="title"/>
          </p:nvPr>
        </p:nvSpPr>
        <p:spPr>
          <a:xfrm>
            <a:off x="838200" y="372440"/>
            <a:ext cx="10515600" cy="1325563"/>
          </a:xfrm>
        </p:spPr>
        <p:txBody>
          <a:bodyPr>
            <a:normAutofit/>
          </a:bodyPr>
          <a:lstStyle/>
          <a:p>
            <a:pPr algn="ctr"/>
            <a:r>
              <a:rPr lang="en-US" altLang="zh-CN" sz="7200" b="1" dirty="0">
                <a:solidFill>
                  <a:srgbClr val="FF0000"/>
                </a:solidFill>
              </a:rPr>
              <a:t>Conclusion</a:t>
            </a:r>
            <a:endParaRPr lang="zh-CN" altLang="en-US" sz="7200" b="1" dirty="0">
              <a:solidFill>
                <a:srgbClr val="FF0000"/>
              </a:solidFill>
            </a:endParaRPr>
          </a:p>
        </p:txBody>
      </p:sp>
      <p:sp>
        <p:nvSpPr>
          <p:cNvPr id="3" name="内容占位符 2">
            <a:extLst>
              <a:ext uri="{FF2B5EF4-FFF2-40B4-BE49-F238E27FC236}">
                <a16:creationId xmlns:a16="http://schemas.microsoft.com/office/drawing/2014/main" id="{43C6F1E3-AD58-2A19-E55E-5FE10D49951E}"/>
              </a:ext>
            </a:extLst>
          </p:cNvPr>
          <p:cNvSpPr>
            <a:spLocks noGrp="1"/>
          </p:cNvSpPr>
          <p:nvPr>
            <p:ph idx="1"/>
          </p:nvPr>
        </p:nvSpPr>
        <p:spPr>
          <a:xfrm>
            <a:off x="838200" y="1840255"/>
            <a:ext cx="10515600" cy="4351338"/>
          </a:xfrm>
        </p:spPr>
        <p:txBody>
          <a:bodyPr/>
          <a:lstStyle/>
          <a:p>
            <a:pPr marL="0" indent="0">
              <a:buNone/>
            </a:pPr>
            <a:r>
              <a:rPr lang="en-US" altLang="zh-CN" dirty="0"/>
              <a:t>    </a:t>
            </a:r>
            <a:r>
              <a:rPr lang="en-US" altLang="zh-CN" sz="4000" dirty="0">
                <a:solidFill>
                  <a:srgbClr val="FF0000"/>
                </a:solidFill>
              </a:rPr>
              <a:t>AR will become a gigantic turning point in technology. As a cutting-edge innovation, it can cause a tremendous impact on human life.</a:t>
            </a:r>
          </a:p>
        </p:txBody>
      </p:sp>
    </p:spTree>
    <p:extLst>
      <p:ext uri="{BB962C8B-B14F-4D97-AF65-F5344CB8AC3E}">
        <p14:creationId xmlns:p14="http://schemas.microsoft.com/office/powerpoint/2010/main" val="586096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1F70DD9-410B-9CB8-34C5-5928CEA224B1}"/>
              </a:ext>
            </a:extLst>
          </p:cNvPr>
          <p:cNvSpPr>
            <a:spLocks noGrp="1"/>
          </p:cNvSpPr>
          <p:nvPr>
            <p:ph type="title"/>
          </p:nvPr>
        </p:nvSpPr>
        <p:spPr>
          <a:xfrm>
            <a:off x="838200" y="350495"/>
            <a:ext cx="10515600" cy="1325563"/>
          </a:xfrm>
        </p:spPr>
        <p:txBody>
          <a:bodyPr>
            <a:normAutofit/>
          </a:bodyPr>
          <a:lstStyle/>
          <a:p>
            <a:pPr algn="ctr"/>
            <a:r>
              <a:rPr lang="en-US" altLang="zh-CN" sz="8000" b="1" dirty="0"/>
              <a:t>Thanks</a:t>
            </a:r>
            <a:endParaRPr lang="zh-CN" altLang="en-US" sz="8000" b="1" dirty="0"/>
          </a:p>
        </p:txBody>
      </p:sp>
      <p:sp>
        <p:nvSpPr>
          <p:cNvPr id="3" name="内容占位符 2">
            <a:extLst>
              <a:ext uri="{FF2B5EF4-FFF2-40B4-BE49-F238E27FC236}">
                <a16:creationId xmlns:a16="http://schemas.microsoft.com/office/drawing/2014/main" id="{78A29C1F-F920-DD95-950D-3DA3822A2234}"/>
              </a:ext>
            </a:extLst>
          </p:cNvPr>
          <p:cNvSpPr>
            <a:spLocks noGrp="1"/>
          </p:cNvSpPr>
          <p:nvPr>
            <p:ph idx="4294967295"/>
          </p:nvPr>
        </p:nvSpPr>
        <p:spPr>
          <a:xfrm>
            <a:off x="838200" y="2506663"/>
            <a:ext cx="10515600" cy="4351337"/>
          </a:xfrm>
        </p:spPr>
        <p:txBody>
          <a:bodyPr/>
          <a:lstStyle/>
          <a:p>
            <a:r>
              <a:rPr lang="en-US" altLang="zh-CN" b="1" dirty="0"/>
              <a:t>reference</a:t>
            </a:r>
            <a:r>
              <a:rPr lang="zh-CN" altLang="en-US" b="1" dirty="0"/>
              <a:t>：</a:t>
            </a:r>
            <a:endParaRPr lang="en-US" altLang="zh-CN" b="1" dirty="0"/>
          </a:p>
          <a:p>
            <a:r>
              <a:rPr lang="en-US" altLang="zh-CN" sz="2000" dirty="0">
                <a:hlinkClick r:id="rId3">
                  <a:extLst>
                    <a:ext uri="{A12FA001-AC4F-418D-AE19-62706E023703}">
                      <ahyp:hlinkClr xmlns:ahyp="http://schemas.microsoft.com/office/drawing/2018/hyperlinkcolor" val="tx"/>
                    </a:ext>
                  </a:extLst>
                </a:hlinkClick>
              </a:rPr>
              <a:t>Design AR: Immersive 3D-Modeling Combining Augmented Reality with Interactive Displays | Proceedings of the 2019 ACM International Conference on Interactive Surfaces and Spaces</a:t>
            </a:r>
            <a:endParaRPr lang="en-US" altLang="zh-CN" sz="2000" dirty="0"/>
          </a:p>
          <a:p>
            <a:r>
              <a:rPr lang="en-US" altLang="zh-CN" sz="2000" dirty="0">
                <a:hlinkClick r:id="rId4">
                  <a:extLst>
                    <a:ext uri="{A12FA001-AC4F-418D-AE19-62706E023703}">
                      <ahyp:hlinkClr xmlns:ahyp="http://schemas.microsoft.com/office/drawing/2018/hyperlinkcolor" val="tx"/>
                    </a:ext>
                  </a:extLst>
                </a:hlinkClick>
              </a:rPr>
              <a:t>Navigating augmented reality: A practice-oriented guide to identifying and overcoming implementation obstacles – ScienceDirect</a:t>
            </a:r>
            <a:endParaRPr lang="en-US" altLang="zh-CN" sz="2000" dirty="0"/>
          </a:p>
          <a:p>
            <a:endParaRPr lang="en-US" altLang="zh-CN" sz="2000" dirty="0"/>
          </a:p>
        </p:txBody>
      </p:sp>
    </p:spTree>
    <p:extLst>
      <p:ext uri="{BB962C8B-B14F-4D97-AF65-F5344CB8AC3E}">
        <p14:creationId xmlns:p14="http://schemas.microsoft.com/office/powerpoint/2010/main" val="2701448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30EBE0-CF54-A2B2-DB2C-C8B67F79A793}"/>
              </a:ext>
            </a:extLst>
          </p:cNvPr>
          <p:cNvSpPr>
            <a:spLocks noGrp="1"/>
          </p:cNvSpPr>
          <p:nvPr>
            <p:ph type="title"/>
          </p:nvPr>
        </p:nvSpPr>
        <p:spPr>
          <a:xfrm>
            <a:off x="4488485" y="2766218"/>
            <a:ext cx="10515600" cy="1325563"/>
          </a:xfrm>
        </p:spPr>
        <p:txBody>
          <a:bodyPr/>
          <a:lstStyle/>
          <a:p>
            <a:r>
              <a:rPr lang="en-US" altLang="zh-CN" b="1" dirty="0">
                <a:latin typeface="华文楷体" panose="02010600040101010101" pitchFamily="2" charset="-122"/>
                <a:ea typeface="华文楷体" panose="02010600040101010101" pitchFamily="2" charset="-122"/>
                <a:cs typeface="Microsoft Sans Serif" panose="020B0604020202020204" pitchFamily="34" charset="0"/>
              </a:rPr>
              <a:t>By Chen J.M </a:t>
            </a:r>
            <a:endParaRPr lang="zh-CN" altLang="en-US" b="1" dirty="0">
              <a:latin typeface="华文楷体" panose="02010600040101010101" pitchFamily="2" charset="-122"/>
              <a:ea typeface="华文楷体" panose="02010600040101010101" pitchFamily="2" charset="-122"/>
              <a:cs typeface="Microsoft Sans Serif" panose="020B0604020202020204" pitchFamily="34" charset="0"/>
            </a:endParaRPr>
          </a:p>
        </p:txBody>
      </p:sp>
    </p:spTree>
    <p:extLst>
      <p:ext uri="{BB962C8B-B14F-4D97-AF65-F5344CB8AC3E}">
        <p14:creationId xmlns:p14="http://schemas.microsoft.com/office/powerpoint/2010/main" val="1381334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23370F-D61B-EC5C-2A2A-5E4FBA407CDA}"/>
              </a:ext>
            </a:extLst>
          </p:cNvPr>
          <p:cNvSpPr>
            <a:spLocks noGrp="1"/>
          </p:cNvSpPr>
          <p:nvPr>
            <p:ph type="title"/>
          </p:nvPr>
        </p:nvSpPr>
        <p:spPr>
          <a:xfrm>
            <a:off x="4620160" y="2766218"/>
            <a:ext cx="10515600" cy="1325563"/>
          </a:xfrm>
        </p:spPr>
        <p:txBody>
          <a:bodyPr/>
          <a:lstStyle/>
          <a:p>
            <a:r>
              <a:rPr lang="en-US" altLang="zh-CN" b="1" dirty="0">
                <a:latin typeface="华文楷体" panose="02010600040101010101" pitchFamily="2" charset="-122"/>
                <a:ea typeface="华文楷体" panose="02010600040101010101" pitchFamily="2" charset="-122"/>
              </a:rPr>
              <a:t>By Yan H.R</a:t>
            </a:r>
            <a:endParaRPr lang="zh-CN" altLang="en-US"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21778640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370</Words>
  <Application>Microsoft Office PowerPoint</Application>
  <PresentationFormat>宽屏</PresentationFormat>
  <Paragraphs>37</Paragraphs>
  <Slides>12</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等线</vt:lpstr>
      <vt:lpstr>等线 Light</vt:lpstr>
      <vt:lpstr>华文楷体</vt:lpstr>
      <vt:lpstr>Arial</vt:lpstr>
      <vt:lpstr>Office 主题​​</vt:lpstr>
      <vt:lpstr>AR</vt:lpstr>
      <vt:lpstr>WHAT IS AR?</vt:lpstr>
      <vt:lpstr>The Origin of AR</vt:lpstr>
      <vt:lpstr>The Working Principle of AR</vt:lpstr>
      <vt:lpstr>AR Navigation: ground guidance shortens navigation time in complex environments</vt:lpstr>
      <vt:lpstr>PowerPoint 演示文稿</vt:lpstr>
      <vt:lpstr>AR Gaming: Hybrid real-virtual experiences (e.g., Pokémon GO) drive multi-billion-dollar markets.</vt:lpstr>
      <vt:lpstr>Future and Challenge</vt:lpstr>
      <vt:lpstr>Conclusion</vt:lpstr>
      <vt:lpstr>Thanks</vt:lpstr>
      <vt:lpstr>By Chen J.M </vt:lpstr>
      <vt:lpstr>By Yan H.R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haorui yan</dc:creator>
  <cp:lastModifiedBy>haorui yan</cp:lastModifiedBy>
  <cp:revision>3</cp:revision>
  <dcterms:created xsi:type="dcterms:W3CDTF">2025-04-20T03:32:39Z</dcterms:created>
  <dcterms:modified xsi:type="dcterms:W3CDTF">2025-04-20T07:52:44Z</dcterms:modified>
</cp:coreProperties>
</file>