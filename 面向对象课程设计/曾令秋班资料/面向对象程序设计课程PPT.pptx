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2.svg" ContentType="image/svg+xml"/>
  <Override PartName="/ppt/media/image20.svg" ContentType="image/svg+xml"/>
  <Override PartName="/ppt/media/image22.svg" ContentType="image/svg+xml"/>
  <Override PartName="/ppt/media/image26.svg" ContentType="image/svg+xml"/>
  <Override PartName="/ppt/media/image28.svg" ContentType="image/svg+xml"/>
  <Override PartName="/ppt/media/image32.svg" ContentType="image/svg+xml"/>
  <Override PartName="/ppt/media/image34.svg" ContentType="image/svg+xml"/>
  <Override PartName="/ppt/media/image36.svg" ContentType="image/svg+xml"/>
  <Override PartName="/ppt/media/image4.svg" ContentType="image/svg+xml"/>
  <Override PartName="/ppt/media/image43.svg" ContentType="image/svg+xml"/>
  <Override PartName="/ppt/media/image49.svg" ContentType="image/svg+xml"/>
  <Override PartName="/ppt/media/image52.svg" ContentType="image/svg+xml"/>
  <Override PartName="/ppt/media/image54.svg" ContentType="image/svg+xml"/>
  <Override PartName="/ppt/media/image57.svg" ContentType="image/svg+xml"/>
  <Override PartName="/ppt/media/image59.svg" ContentType="image/svg+xml"/>
  <Override PartName="/ppt/media/image6.svg" ContentType="image/svg+xml"/>
  <Override PartName="/ppt/media/image62.svg" ContentType="image/svg+xml"/>
  <Override PartName="/ppt/media/image64.svg" ContentType="image/svg+xml"/>
  <Override PartName="/ppt/media/image66.svg" ContentType="image/svg+xml"/>
  <Override PartName="/ppt/media/image69.svg" ContentType="image/svg+xml"/>
  <Override PartName="/ppt/media/image71.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 id="2147483662" r:id="rId4"/>
    <p:sldMasterId id="2147483664" r:id="rId5"/>
    <p:sldMasterId id="2147483666" r:id="rId6"/>
    <p:sldMasterId id="2147483668" r:id="rId7"/>
    <p:sldMasterId id="2147483670" r:id="rId8"/>
    <p:sldMasterId id="2147483672" r:id="rId9"/>
    <p:sldMasterId id="2147483674" r:id="rId10"/>
    <p:sldMasterId id="2147483676" r:id="rId11"/>
  </p:sldMasterIdLst>
  <p:notesMasterIdLst>
    <p:notesMasterId r:id="rId13"/>
  </p:notesMasterIdLst>
  <p:sldIdLst>
    <p:sldId id="279" r:id="rId12"/>
    <p:sldId id="280" r:id="rId14"/>
    <p:sldId id="258" r:id="rId15"/>
    <p:sldId id="260" r:id="rId16"/>
    <p:sldId id="283" r:id="rId17"/>
    <p:sldId id="285" r:id="rId18"/>
    <p:sldId id="278" r:id="rId19"/>
    <p:sldId id="262" r:id="rId20"/>
    <p:sldId id="289" r:id="rId21"/>
    <p:sldId id="295" r:id="rId22"/>
    <p:sldId id="290" r:id="rId23"/>
    <p:sldId id="291" r:id="rId24"/>
    <p:sldId id="292" r:id="rId25"/>
    <p:sldId id="293" r:id="rId26"/>
    <p:sldId id="294" r:id="rId27"/>
    <p:sldId id="263" r:id="rId28"/>
    <p:sldId id="264" r:id="rId29"/>
    <p:sldId id="265" r:id="rId30"/>
    <p:sldId id="286" r:id="rId31"/>
    <p:sldId id="268" r:id="rId32"/>
    <p:sldId id="269" r:id="rId33"/>
    <p:sldId id="270" r:id="rId34"/>
    <p:sldId id="297" r:id="rId35"/>
    <p:sldId id="296" r:id="rId36"/>
    <p:sldId id="298" r:id="rId37"/>
    <p:sldId id="299" r:id="rId38"/>
    <p:sldId id="284" r:id="rId39"/>
    <p:sldId id="276" r:id="rId4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528"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5F7FA"/>
    <a:srgbClr val="57658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528"/>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Master" Target="slideMasters/slideMaster8.xml"/><Relationship Id="rId8" Type="http://schemas.openxmlformats.org/officeDocument/2006/relationships/slideMaster" Target="slideMasters/slideMaster7.xml"/><Relationship Id="rId7" Type="http://schemas.openxmlformats.org/officeDocument/2006/relationships/slideMaster" Target="slideMasters/slideMaster6.xml"/><Relationship Id="rId6" Type="http://schemas.openxmlformats.org/officeDocument/2006/relationships/slideMaster" Target="slideMasters/slideMaster5.xml"/><Relationship Id="rId5" Type="http://schemas.openxmlformats.org/officeDocument/2006/relationships/slideMaster" Target="slideMasters/slideMaster4.xml"/><Relationship Id="rId43" Type="http://schemas.openxmlformats.org/officeDocument/2006/relationships/tableStyles" Target="tableStyles.xml"/><Relationship Id="rId42" Type="http://schemas.openxmlformats.org/officeDocument/2006/relationships/viewProps" Target="viewProps.xml"/><Relationship Id="rId41" Type="http://schemas.openxmlformats.org/officeDocument/2006/relationships/presProps" Target="presProps.xml"/><Relationship Id="rId40" Type="http://schemas.openxmlformats.org/officeDocument/2006/relationships/slide" Target="slides/slide28.xml"/><Relationship Id="rId4" Type="http://schemas.openxmlformats.org/officeDocument/2006/relationships/slideMaster" Target="slideMasters/slideMaster3.xml"/><Relationship Id="rId39" Type="http://schemas.openxmlformats.org/officeDocument/2006/relationships/slide" Target="slides/slide27.xml"/><Relationship Id="rId38" Type="http://schemas.openxmlformats.org/officeDocument/2006/relationships/slide" Target="slides/slide26.xml"/><Relationship Id="rId37" Type="http://schemas.openxmlformats.org/officeDocument/2006/relationships/slide" Target="slides/slide25.xml"/><Relationship Id="rId36" Type="http://schemas.openxmlformats.org/officeDocument/2006/relationships/slide" Target="slides/slide24.xml"/><Relationship Id="rId35" Type="http://schemas.openxmlformats.org/officeDocument/2006/relationships/slide" Target="slides/slide23.xml"/><Relationship Id="rId34" Type="http://schemas.openxmlformats.org/officeDocument/2006/relationships/slide" Target="slides/slide22.xml"/><Relationship Id="rId33" Type="http://schemas.openxmlformats.org/officeDocument/2006/relationships/slide" Target="slides/slide21.xml"/><Relationship Id="rId32" Type="http://schemas.openxmlformats.org/officeDocument/2006/relationships/slide" Target="slides/slide20.xml"/><Relationship Id="rId31" Type="http://schemas.openxmlformats.org/officeDocument/2006/relationships/slide" Target="slides/slide19.xml"/><Relationship Id="rId30" Type="http://schemas.openxmlformats.org/officeDocument/2006/relationships/slide" Target="slides/slide18.xml"/><Relationship Id="rId3" Type="http://schemas.openxmlformats.org/officeDocument/2006/relationships/slideMaster" Target="slideMasters/slideMaster2.xml"/><Relationship Id="rId29" Type="http://schemas.openxmlformats.org/officeDocument/2006/relationships/slide" Target="slides/slide17.xml"/><Relationship Id="rId28" Type="http://schemas.openxmlformats.org/officeDocument/2006/relationships/slide" Target="slides/slide16.xml"/><Relationship Id="rId27" Type="http://schemas.openxmlformats.org/officeDocument/2006/relationships/slide" Target="slides/slide15.xml"/><Relationship Id="rId26" Type="http://schemas.openxmlformats.org/officeDocument/2006/relationships/slide" Target="slides/slide14.xml"/><Relationship Id="rId25" Type="http://schemas.openxmlformats.org/officeDocument/2006/relationships/slide" Target="slides/slide13.xml"/><Relationship Id="rId24" Type="http://schemas.openxmlformats.org/officeDocument/2006/relationships/slide" Target="slides/slide12.xml"/><Relationship Id="rId23" Type="http://schemas.openxmlformats.org/officeDocument/2006/relationships/slide" Target="slides/slide11.xml"/><Relationship Id="rId22" Type="http://schemas.openxmlformats.org/officeDocument/2006/relationships/slide" Target="slides/slide10.xml"/><Relationship Id="rId21" Type="http://schemas.openxmlformats.org/officeDocument/2006/relationships/slide" Target="slides/slide9.xml"/><Relationship Id="rId20" Type="http://schemas.openxmlformats.org/officeDocument/2006/relationships/slide" Target="slides/slide8.xml"/><Relationship Id="rId2" Type="http://schemas.openxmlformats.org/officeDocument/2006/relationships/theme" Target="theme/theme1.xml"/><Relationship Id="rId19" Type="http://schemas.openxmlformats.org/officeDocument/2006/relationships/slide" Target="slides/slide7.xml"/><Relationship Id="rId18" Type="http://schemas.openxmlformats.org/officeDocument/2006/relationships/slide" Target="slides/slide6.xml"/><Relationship Id="rId17" Type="http://schemas.openxmlformats.org/officeDocument/2006/relationships/slide" Target="slides/slide5.xml"/><Relationship Id="rId16" Type="http://schemas.openxmlformats.org/officeDocument/2006/relationships/slide" Target="slides/slide4.xml"/><Relationship Id="rId15" Type="http://schemas.openxmlformats.org/officeDocument/2006/relationships/slide" Target="slides/slide3.xml"/><Relationship Id="rId14" Type="http://schemas.openxmlformats.org/officeDocument/2006/relationships/slide" Target="slides/slide2.xml"/><Relationship Id="rId13" Type="http://schemas.openxmlformats.org/officeDocument/2006/relationships/notesMaster" Target="notesMasters/notesMaster1.xml"/><Relationship Id="rId12" Type="http://schemas.openxmlformats.org/officeDocument/2006/relationships/slide" Target="slides/slide1.xml"/><Relationship Id="rId11" Type="http://schemas.openxmlformats.org/officeDocument/2006/relationships/slideMaster" Target="slideMasters/slideMaster10.xml"/><Relationship Id="rId10" Type="http://schemas.openxmlformats.org/officeDocument/2006/relationships/slideMaster" Target="slideMasters/slideMaster9.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altLang="en-US" sz="1400" b="0" i="0" u="none" strike="noStrike">
                <a:solidFill>
                  <a:srgbClr val="000000"/>
                </a:solidFill>
              </a:rPr>
              <a:t>本课程将带领大家深入探索面向对象的核心概念、经典设计模式以及在</a:t>
            </a:r>
            <a:r>
              <a:rPr lang="en-US" altLang="zh-CN" sz="1400" b="0" i="0" u="none" strike="noStrike">
                <a:solidFill>
                  <a:srgbClr val="000000"/>
                </a:solidFill>
              </a:rPr>
              <a:t>QT</a:t>
            </a:r>
            <a:r>
              <a:rPr lang="zh-CN" altLang="en-US" sz="1400" b="0" i="0" u="none" strike="noStrike">
                <a:solidFill>
                  <a:srgbClr val="000000"/>
                </a:solidFill>
              </a:rPr>
              <a:t>框架中的实践应用。希望通过本课程的学习，大家能够掌握面向对象的思维方式，编写出更加优雅、高效和可维护的代码。</a:t>
            </a:r>
            <a:endParaRPr lang="zh-CN" alt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设计模式可以分为三大类。首先是创建型模式，它的核心关注点是对象的创建过程，目的是解耦对象的创建和使用。常见的创建型模式包括单例模式、工厂方法模式和抽象工厂模式等。比如单例模式，它可以确保一个类在整个系统中只有一个实例。</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二类是结构型模式，它主要关注类和对象的组合方式，通过优化结构来提升系统的灵活性和可扩展性。常见的结构型模式有适配器模式、装饰器模式和外观模式等。例如，适配器模式可以帮助我们解决两个不兼容接口之间的协作问题。</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三类是行为型模式，它关注的是对象之间的交互方式以及职责的分配。常见的行为型模式包括观察者模式、策略模式和模板方法模式等。比如观察者模式，它定义了对象之间的一对多依赖关系，当一个对象的状态发生变化时，所有依赖于它的对象都会得到通知并自动更新。</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首先，让我们简单了解一下QT。QT是一个功能强大的跨平台C++开发框架，它不仅可以用来开发图形用户界面程序，也可以开发非GUI程序。QT的一大特点是它的面向对象设计，以及通过元对象编译器（moc）实现的一些高级特性，其中就包括我们今天要讲的信号与槽。</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信号与槽是QT的核心机制。简单来说，信号就是对象在某个事件发生时发出的通知，而槽则是用于接收这个通知并进行处理的函数。通过将信号和槽连接起来，我们就可以实现对象之间的松散耦合的通信。当信号发出时，所有与之相连的槽函数都会被自动调用。</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信号与槽机制的实现，依赖于QT的元对象系统。所有支持信号与槽的类都必须继承自QObject，并且在类定义中声明Q_OBJECT宏。QT的moc工具会对这些类的头文件进行预处理，生成额外的代码，这些代码负责实现信号的发送和槽的调用。</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那么，当我们写下`emit mySignal()`时，背后到底发生了什么？首先，`emit`只是一个让代码更易读的标记，它本身不做任何事。真正的工作是由MOC生成的信号函数完成的。这个函数会遍历一个内部的连接列表，这个列表记录了所有与该信号相连的槽。然后，它会根据连接类型，逐一调用这些槽函数。这个过程非常高效，即使一个信号连接了多个槽，也能被快速处理。</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Qt提供了多种连接类型来应对不同的线程场景。最常用的是默认的自动连接，Qt会智能判断。直接连接是同步调用，效率最高，但只适用于单线程或你能保证线程安全的情况。而队列连接则是异步的，它通过事件队列来转发调用，是跨线程通信的安全选择。理解这三种连接类型的区别，对于写出稳定高效的多线程Qt程序至关重要。</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最后，我们来理清信号与槽和Qt事件循环之间的关系。很多人会混淆这两者，但它们是不同的概念。信号与槽本质上是一种函数调用机制，可以是同步的。而事件循环是Qt应用程序处理各种事件（如用户输入、定时器、网络响应等）的核心。它们的交集在于异步调用：当我们使用队列连接进行跨线程通信时，槽函数的调用请求会被包装成一个事件，这个事件的处理就依赖于接收者线程的事件循环。可以说，事件循环为信号与槽的异步通信提供了土壤。</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1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15.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16.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17.xml"/></Relationships>
</file>

<file path=ppt/slideMasters/_rels/slideMaster8.xml.rels><?xml version="1.0" encoding="UTF-8" standalone="yes"?>
<Relationships xmlns="http://schemas.openxmlformats.org/package/2006/relationships"><Relationship Id="rId2" Type="http://schemas.openxmlformats.org/officeDocument/2006/relationships/theme" Target="../theme/theme8.xml"/><Relationship Id="rId1" Type="http://schemas.openxmlformats.org/officeDocument/2006/relationships/slideLayout" Target="../slideLayouts/slideLayout18.xml"/></Relationships>
</file>

<file path=ppt/slideMasters/_rels/slideMaster9.xml.rels><?xml version="1.0" encoding="UTF-8" standalone="yes"?>
<Relationships xmlns="http://schemas.openxmlformats.org/package/2006/relationships"><Relationship Id="rId2" Type="http://schemas.openxmlformats.org/officeDocument/2006/relationships/theme" Target="../theme/theme9.xml"/><Relationship Id="rId1" Type="http://schemas.openxmlformats.org/officeDocument/2006/relationships/slideLayout" Target="../slideLayouts/slideLayout19.xml"/></Relationships>
</file>

<file path=ppt/slideMasters/_rels/slideMaster10.xml.rels><?xml version="1.0" encoding="UTF-8" standalone="yes"?>
<Relationships xmlns="http://schemas.openxmlformats.org/package/2006/relationships"><Relationship Id="rId2" Type="http://schemas.openxmlformats.org/officeDocument/2006/relationships/theme" Target="../theme/theme10.xml"/><Relationship Id="rId1"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3"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7"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3"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7"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8" Type="http://schemas.openxmlformats.org/officeDocument/2006/relationships/notesSlide" Target="../notesSlides/notesSlide2.xml"/><Relationship Id="rId7" Type="http://schemas.openxmlformats.org/officeDocument/2006/relationships/slideLayout" Target="../slideLayouts/slideLayout15.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9" Type="http://schemas.openxmlformats.org/officeDocument/2006/relationships/tags" Target="../tags/tag13.xml"/><Relationship Id="rId8" Type="http://schemas.openxmlformats.org/officeDocument/2006/relationships/tags" Target="../tags/tag12.xml"/><Relationship Id="rId7" Type="http://schemas.openxmlformats.org/officeDocument/2006/relationships/tags" Target="../tags/tag11.xml"/><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image" Target="../media/image2.svg"/><Relationship Id="rId12" Type="http://schemas.openxmlformats.org/officeDocument/2006/relationships/notesSlide" Target="../notesSlides/notesSlide4.xml"/><Relationship Id="rId11" Type="http://schemas.openxmlformats.org/officeDocument/2006/relationships/slideLayout" Target="../slideLayouts/slideLayout12.xml"/><Relationship Id="rId10" Type="http://schemas.openxmlformats.org/officeDocument/2006/relationships/tags" Target="../tags/tag14.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16.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tags" Target="../tags/tag15.xml"/></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18.xml"/><Relationship Id="rId4" Type="http://schemas.openxmlformats.org/officeDocument/2006/relationships/tags" Target="../tags/tag22.xml"/><Relationship Id="rId3" Type="http://schemas.openxmlformats.org/officeDocument/2006/relationships/tags" Target="../tags/tag21.xml"/><Relationship Id="rId2" Type="http://schemas.openxmlformats.org/officeDocument/2006/relationships/tags" Target="../tags/tag20.xml"/><Relationship Id="rId1" Type="http://schemas.openxmlformats.org/officeDocument/2006/relationships/tags" Target="../tags/tag1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8" Type="http://schemas.openxmlformats.org/officeDocument/2006/relationships/notesSlide" Target="../notesSlides/notesSlide8.xml"/><Relationship Id="rId7" Type="http://schemas.openxmlformats.org/officeDocument/2006/relationships/slideLayout" Target="../slideLayouts/slideLayout12.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2.svg"/><Relationship Id="rId3" Type="http://schemas.openxmlformats.org/officeDocument/2006/relationships/image" Target="../media/image1.png"/><Relationship Id="rId2" Type="http://schemas.openxmlformats.org/officeDocument/2006/relationships/image" Target="../media/image4.svg"/><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9" Type="http://schemas.openxmlformats.org/officeDocument/2006/relationships/image" Target="../media/image13.png"/><Relationship Id="rId8" Type="http://schemas.openxmlformats.org/officeDocument/2006/relationships/image" Target="../media/image12.svg"/><Relationship Id="rId7" Type="http://schemas.openxmlformats.org/officeDocument/2006/relationships/image" Target="../media/image11.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 Id="rId3" Type="http://schemas.openxmlformats.org/officeDocument/2006/relationships/image" Target="../media/image7.png"/><Relationship Id="rId2" Type="http://schemas.openxmlformats.org/officeDocument/2006/relationships/image" Target="../media/image2.svg"/><Relationship Id="rId14" Type="http://schemas.openxmlformats.org/officeDocument/2006/relationships/notesSlide" Target="../notesSlides/notesSlide9.xml"/><Relationship Id="rId13" Type="http://schemas.openxmlformats.org/officeDocument/2006/relationships/slideLayout" Target="../slideLayouts/slideLayout20.xml"/><Relationship Id="rId12" Type="http://schemas.openxmlformats.org/officeDocument/2006/relationships/image" Target="../media/image16.svg"/><Relationship Id="rId11" Type="http://schemas.openxmlformats.org/officeDocument/2006/relationships/image" Target="../media/image15.png"/><Relationship Id="rId10" Type="http://schemas.openxmlformats.org/officeDocument/2006/relationships/image" Target="../media/image14.svg"/><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9" Type="http://schemas.openxmlformats.org/officeDocument/2006/relationships/tags" Target="../tags/tag27.xml"/><Relationship Id="rId8" Type="http://schemas.openxmlformats.org/officeDocument/2006/relationships/image" Target="../media/image20.svg"/><Relationship Id="rId7" Type="http://schemas.openxmlformats.org/officeDocument/2006/relationships/image" Target="../media/image19.png"/><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image" Target="../media/image18.svg"/><Relationship Id="rId2" Type="http://schemas.openxmlformats.org/officeDocument/2006/relationships/image" Target="../media/image17.png"/><Relationship Id="rId18" Type="http://schemas.openxmlformats.org/officeDocument/2006/relationships/notesSlide" Target="../notesSlides/notesSlide10.xml"/><Relationship Id="rId17" Type="http://schemas.openxmlformats.org/officeDocument/2006/relationships/slideLayout" Target="../slideLayouts/slideLayout20.xml"/><Relationship Id="rId16" Type="http://schemas.openxmlformats.org/officeDocument/2006/relationships/image" Target="../media/image23.png"/><Relationship Id="rId15" Type="http://schemas.openxmlformats.org/officeDocument/2006/relationships/tags" Target="../tags/tag31.xml"/><Relationship Id="rId14" Type="http://schemas.openxmlformats.org/officeDocument/2006/relationships/tags" Target="../tags/tag30.xml"/><Relationship Id="rId13" Type="http://schemas.openxmlformats.org/officeDocument/2006/relationships/image" Target="../media/image22.svg"/><Relationship Id="rId12" Type="http://schemas.openxmlformats.org/officeDocument/2006/relationships/image" Target="../media/image21.png"/><Relationship Id="rId11" Type="http://schemas.openxmlformats.org/officeDocument/2006/relationships/tags" Target="../tags/tag29.xml"/><Relationship Id="rId10" Type="http://schemas.openxmlformats.org/officeDocument/2006/relationships/tags" Target="../tags/tag28.xml"/><Relationship Id="rId1" Type="http://schemas.openxmlformats.org/officeDocument/2006/relationships/tags" Target="../tags/tag23.xml"/></Relationships>
</file>

<file path=ppt/slides/_rels/slide11.xml.rels><?xml version="1.0" encoding="UTF-8" standalone="yes"?>
<Relationships xmlns="http://schemas.openxmlformats.org/package/2006/relationships"><Relationship Id="rId9" Type="http://schemas.openxmlformats.org/officeDocument/2006/relationships/notesSlide" Target="../notesSlides/notesSlide11.xml"/><Relationship Id="rId8" Type="http://schemas.openxmlformats.org/officeDocument/2006/relationships/slideLayout" Target="../slideLayouts/slideLayout20.xml"/><Relationship Id="rId7" Type="http://schemas.openxmlformats.org/officeDocument/2006/relationships/image" Target="../media/image29.png"/><Relationship Id="rId6" Type="http://schemas.openxmlformats.org/officeDocument/2006/relationships/image" Target="../media/image28.svg"/><Relationship Id="rId5" Type="http://schemas.openxmlformats.org/officeDocument/2006/relationships/image" Target="../media/image27.png"/><Relationship Id="rId4" Type="http://schemas.openxmlformats.org/officeDocument/2006/relationships/image" Target="../media/image26.svg"/><Relationship Id="rId3" Type="http://schemas.openxmlformats.org/officeDocument/2006/relationships/image" Target="../media/image25.png"/><Relationship Id="rId2" Type="http://schemas.openxmlformats.org/officeDocument/2006/relationships/image" Target="../media/image18.svg"/><Relationship Id="rId1" Type="http://schemas.openxmlformats.org/officeDocument/2006/relationships/image" Target="../media/image24.png"/></Relationships>
</file>

<file path=ppt/slides/_rels/slide12.xml.rels><?xml version="1.0" encoding="UTF-8" standalone="yes"?>
<Relationships xmlns="http://schemas.openxmlformats.org/package/2006/relationships"><Relationship Id="rId9" Type="http://schemas.openxmlformats.org/officeDocument/2006/relationships/image" Target="../media/image18.svg"/><Relationship Id="rId8" Type="http://schemas.openxmlformats.org/officeDocument/2006/relationships/image" Target="../media/image24.png"/><Relationship Id="rId7" Type="http://schemas.openxmlformats.org/officeDocument/2006/relationships/tags" Target="../tags/tag38.xml"/><Relationship Id="rId6" Type="http://schemas.openxmlformats.org/officeDocument/2006/relationships/tags" Target="../tags/tag37.xml"/><Relationship Id="rId5" Type="http://schemas.openxmlformats.org/officeDocument/2006/relationships/tags" Target="../tags/tag36.xml"/><Relationship Id="rId4" Type="http://schemas.openxmlformats.org/officeDocument/2006/relationships/tags" Target="../tags/tag35.xml"/><Relationship Id="rId3" Type="http://schemas.openxmlformats.org/officeDocument/2006/relationships/tags" Target="../tags/tag34.xml"/><Relationship Id="rId2" Type="http://schemas.openxmlformats.org/officeDocument/2006/relationships/tags" Target="../tags/tag33.xml"/><Relationship Id="rId16" Type="http://schemas.openxmlformats.org/officeDocument/2006/relationships/notesSlide" Target="../notesSlides/notesSlide12.xml"/><Relationship Id="rId15" Type="http://schemas.openxmlformats.org/officeDocument/2006/relationships/slideLayout" Target="../slideLayouts/slideLayout20.xml"/><Relationship Id="rId14" Type="http://schemas.openxmlformats.org/officeDocument/2006/relationships/image" Target="../media/image32.svg"/><Relationship Id="rId13" Type="http://schemas.openxmlformats.org/officeDocument/2006/relationships/image" Target="../media/image31.png"/><Relationship Id="rId12" Type="http://schemas.openxmlformats.org/officeDocument/2006/relationships/tags" Target="../tags/tag39.xml"/><Relationship Id="rId11" Type="http://schemas.openxmlformats.org/officeDocument/2006/relationships/image" Target="../media/image26.svg"/><Relationship Id="rId10" Type="http://schemas.openxmlformats.org/officeDocument/2006/relationships/image" Target="../media/image30.png"/><Relationship Id="rId1" Type="http://schemas.openxmlformats.org/officeDocument/2006/relationships/tags" Target="../tags/tag32.xml"/></Relationships>
</file>

<file path=ppt/slides/_rels/slide13.xml.rels><?xml version="1.0" encoding="UTF-8" standalone="yes"?>
<Relationships xmlns="http://schemas.openxmlformats.org/package/2006/relationships"><Relationship Id="rId9" Type="http://schemas.openxmlformats.org/officeDocument/2006/relationships/notesSlide" Target="../notesSlides/notesSlide13.xml"/><Relationship Id="rId8" Type="http://schemas.openxmlformats.org/officeDocument/2006/relationships/slideLayout" Target="../slideLayouts/slideLayout20.xml"/><Relationship Id="rId7" Type="http://schemas.openxmlformats.org/officeDocument/2006/relationships/image" Target="../media/image37.png"/><Relationship Id="rId6" Type="http://schemas.openxmlformats.org/officeDocument/2006/relationships/image" Target="../media/image36.svg"/><Relationship Id="rId5" Type="http://schemas.openxmlformats.org/officeDocument/2006/relationships/image" Target="../media/image35.png"/><Relationship Id="rId4" Type="http://schemas.openxmlformats.org/officeDocument/2006/relationships/image" Target="../media/image26.svg"/><Relationship Id="rId3" Type="http://schemas.openxmlformats.org/officeDocument/2006/relationships/image" Target="../media/image30.png"/><Relationship Id="rId2" Type="http://schemas.openxmlformats.org/officeDocument/2006/relationships/image" Target="../media/image34.svg"/><Relationship Id="rId1" Type="http://schemas.openxmlformats.org/officeDocument/2006/relationships/image" Target="../media/image33.png"/></Relationships>
</file>

<file path=ppt/slides/_rels/slide14.xml.rels><?xml version="1.0" encoding="UTF-8" standalone="yes"?>
<Relationships xmlns="http://schemas.openxmlformats.org/package/2006/relationships"><Relationship Id="rId8" Type="http://schemas.openxmlformats.org/officeDocument/2006/relationships/notesSlide" Target="../notesSlides/notesSlide14.xml"/><Relationship Id="rId7" Type="http://schemas.openxmlformats.org/officeDocument/2006/relationships/slideLayout" Target="../slideLayouts/slideLayout20.xml"/><Relationship Id="rId6" Type="http://schemas.openxmlformats.org/officeDocument/2006/relationships/image" Target="../media/image22.svg"/><Relationship Id="rId5" Type="http://schemas.openxmlformats.org/officeDocument/2006/relationships/image" Target="../media/image38.png"/><Relationship Id="rId4" Type="http://schemas.openxmlformats.org/officeDocument/2006/relationships/image" Target="../media/image26.svg"/><Relationship Id="rId3" Type="http://schemas.openxmlformats.org/officeDocument/2006/relationships/image" Target="../media/image30.png"/><Relationship Id="rId2" Type="http://schemas.openxmlformats.org/officeDocument/2006/relationships/image" Target="../media/image18.svg"/><Relationship Id="rId1" Type="http://schemas.openxmlformats.org/officeDocument/2006/relationships/image" Target="../media/image24.png"/></Relationships>
</file>

<file path=ppt/slides/_rels/slide15.xml.rels><?xml version="1.0" encoding="UTF-8" standalone="yes"?>
<Relationships xmlns="http://schemas.openxmlformats.org/package/2006/relationships"><Relationship Id="rId9" Type="http://schemas.openxmlformats.org/officeDocument/2006/relationships/tags" Target="../tags/tag44.xml"/><Relationship Id="rId8" Type="http://schemas.openxmlformats.org/officeDocument/2006/relationships/image" Target="../media/image28.svg"/><Relationship Id="rId7" Type="http://schemas.openxmlformats.org/officeDocument/2006/relationships/image" Target="../media/image39.png"/><Relationship Id="rId6" Type="http://schemas.openxmlformats.org/officeDocument/2006/relationships/tags" Target="../tags/tag43.xml"/><Relationship Id="rId5" Type="http://schemas.openxmlformats.org/officeDocument/2006/relationships/tags" Target="../tags/tag42.xml"/><Relationship Id="rId4" Type="http://schemas.openxmlformats.org/officeDocument/2006/relationships/tags" Target="../tags/tag41.xml"/><Relationship Id="rId3" Type="http://schemas.openxmlformats.org/officeDocument/2006/relationships/image" Target="../media/image26.svg"/><Relationship Id="rId2" Type="http://schemas.openxmlformats.org/officeDocument/2006/relationships/image" Target="../media/image30.png"/><Relationship Id="rId17" Type="http://schemas.openxmlformats.org/officeDocument/2006/relationships/notesSlide" Target="../notesSlides/notesSlide15.xml"/><Relationship Id="rId16" Type="http://schemas.openxmlformats.org/officeDocument/2006/relationships/slideLayout" Target="../slideLayouts/slideLayout20.xml"/><Relationship Id="rId15" Type="http://schemas.openxmlformats.org/officeDocument/2006/relationships/tags" Target="../tags/tag48.xml"/><Relationship Id="rId14" Type="http://schemas.openxmlformats.org/officeDocument/2006/relationships/tags" Target="../tags/tag47.xml"/><Relationship Id="rId13" Type="http://schemas.openxmlformats.org/officeDocument/2006/relationships/image" Target="../media/image32.svg"/><Relationship Id="rId12" Type="http://schemas.openxmlformats.org/officeDocument/2006/relationships/image" Target="../media/image31.png"/><Relationship Id="rId11" Type="http://schemas.openxmlformats.org/officeDocument/2006/relationships/tags" Target="../tags/tag46.xml"/><Relationship Id="rId10" Type="http://schemas.openxmlformats.org/officeDocument/2006/relationships/tags" Target="../tags/tag45.xml"/><Relationship Id="rId1" Type="http://schemas.openxmlformats.org/officeDocument/2006/relationships/tags" Target="../tags/tag40.xml"/></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12.xml"/><Relationship Id="rId2" Type="http://schemas.openxmlformats.org/officeDocument/2006/relationships/image" Target="../media/image2.svg"/><Relationship Id="rId1" Type="http://schemas.openxmlformats.org/officeDocument/2006/relationships/image" Target="../media/image40.png"/></Relationships>
</file>

<file path=ppt/slides/_rels/slide17.xml.rels><?xml version="1.0" encoding="UTF-8" standalone="yes"?>
<Relationships xmlns="http://schemas.openxmlformats.org/package/2006/relationships"><Relationship Id="rId8" Type="http://schemas.openxmlformats.org/officeDocument/2006/relationships/notesSlide" Target="../notesSlides/notesSlide17.xml"/><Relationship Id="rId7" Type="http://schemas.openxmlformats.org/officeDocument/2006/relationships/slideLayout" Target="../slideLayouts/slideLayout12.xml"/><Relationship Id="rId6" Type="http://schemas.openxmlformats.org/officeDocument/2006/relationships/image" Target="../media/image8.svg"/><Relationship Id="rId5" Type="http://schemas.openxmlformats.org/officeDocument/2006/relationships/image" Target="../media/image44.png"/><Relationship Id="rId4" Type="http://schemas.openxmlformats.org/officeDocument/2006/relationships/image" Target="../media/image43.svg"/><Relationship Id="rId3" Type="http://schemas.openxmlformats.org/officeDocument/2006/relationships/image" Target="../media/image42.png"/><Relationship Id="rId2" Type="http://schemas.openxmlformats.org/officeDocument/2006/relationships/image" Target="../media/image12.svg"/><Relationship Id="rId1" Type="http://schemas.openxmlformats.org/officeDocument/2006/relationships/image" Target="../media/image41.png"/></Relationships>
</file>

<file path=ppt/slides/_rels/slide18.xml.rels><?xml version="1.0" encoding="UTF-8" standalone="yes"?>
<Relationships xmlns="http://schemas.openxmlformats.org/package/2006/relationships"><Relationship Id="rId6" Type="http://schemas.openxmlformats.org/officeDocument/2006/relationships/notesSlide" Target="../notesSlides/notesSlide18.xml"/><Relationship Id="rId5" Type="http://schemas.openxmlformats.org/officeDocument/2006/relationships/slideLayout" Target="../slideLayouts/slideLayout12.xml"/><Relationship Id="rId4" Type="http://schemas.openxmlformats.org/officeDocument/2006/relationships/image" Target="../media/image43.svg"/><Relationship Id="rId3" Type="http://schemas.openxmlformats.org/officeDocument/2006/relationships/image" Target="../media/image46.png"/><Relationship Id="rId2" Type="http://schemas.openxmlformats.org/officeDocument/2006/relationships/image" Target="../media/image10.svg"/><Relationship Id="rId1" Type="http://schemas.openxmlformats.org/officeDocument/2006/relationships/image" Target="../media/image45.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9" Type="http://schemas.openxmlformats.org/officeDocument/2006/relationships/tags" Target="../tags/tag53.xml"/><Relationship Id="rId8" Type="http://schemas.openxmlformats.org/officeDocument/2006/relationships/image" Target="../media/image8.svg"/><Relationship Id="rId7" Type="http://schemas.openxmlformats.org/officeDocument/2006/relationships/image" Target="../media/image44.png"/><Relationship Id="rId6" Type="http://schemas.openxmlformats.org/officeDocument/2006/relationships/tags" Target="../tags/tag52.xml"/><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image" Target="../media/image2.svg"/><Relationship Id="rId2" Type="http://schemas.openxmlformats.org/officeDocument/2006/relationships/image" Target="../media/image40.png"/><Relationship Id="rId18" Type="http://schemas.openxmlformats.org/officeDocument/2006/relationships/notesSlide" Target="../notesSlides/notesSlide20.xml"/><Relationship Id="rId17" Type="http://schemas.openxmlformats.org/officeDocument/2006/relationships/slideLayout" Target="../slideLayouts/slideLayout12.xml"/><Relationship Id="rId16" Type="http://schemas.openxmlformats.org/officeDocument/2006/relationships/image" Target="../media/image47.jpeg"/><Relationship Id="rId15" Type="http://schemas.openxmlformats.org/officeDocument/2006/relationships/tags" Target="../tags/tag57.xml"/><Relationship Id="rId14" Type="http://schemas.openxmlformats.org/officeDocument/2006/relationships/tags" Target="../tags/tag56.xml"/><Relationship Id="rId13" Type="http://schemas.openxmlformats.org/officeDocument/2006/relationships/image" Target="../media/image10.svg"/><Relationship Id="rId12" Type="http://schemas.openxmlformats.org/officeDocument/2006/relationships/image" Target="../media/image45.png"/><Relationship Id="rId11" Type="http://schemas.openxmlformats.org/officeDocument/2006/relationships/tags" Target="../tags/tag55.xml"/><Relationship Id="rId10" Type="http://schemas.openxmlformats.org/officeDocument/2006/relationships/tags" Target="../tags/tag54.xml"/><Relationship Id="rId1" Type="http://schemas.openxmlformats.org/officeDocument/2006/relationships/tags" Target="../tags/tag49.xml"/></Relationships>
</file>

<file path=ppt/slides/_rels/slide21.xml.rels><?xml version="1.0" encoding="UTF-8" standalone="yes"?>
<Relationships xmlns="http://schemas.openxmlformats.org/package/2006/relationships"><Relationship Id="rId9" Type="http://schemas.openxmlformats.org/officeDocument/2006/relationships/tags" Target="../tags/tag62.xml"/><Relationship Id="rId8" Type="http://schemas.openxmlformats.org/officeDocument/2006/relationships/image" Target="../media/image2.svg"/><Relationship Id="rId7" Type="http://schemas.openxmlformats.org/officeDocument/2006/relationships/image" Target="../media/image40.png"/><Relationship Id="rId6" Type="http://schemas.openxmlformats.org/officeDocument/2006/relationships/tags" Target="../tags/tag61.xml"/><Relationship Id="rId5" Type="http://schemas.openxmlformats.org/officeDocument/2006/relationships/tags" Target="../tags/tag60.xml"/><Relationship Id="rId4" Type="http://schemas.openxmlformats.org/officeDocument/2006/relationships/tags" Target="../tags/tag59.xml"/><Relationship Id="rId3" Type="http://schemas.openxmlformats.org/officeDocument/2006/relationships/image" Target="../media/image49.svg"/><Relationship Id="rId2" Type="http://schemas.openxmlformats.org/officeDocument/2006/relationships/image" Target="../media/image48.png"/><Relationship Id="rId18" Type="http://schemas.openxmlformats.org/officeDocument/2006/relationships/notesSlide" Target="../notesSlides/notesSlide21.xml"/><Relationship Id="rId17" Type="http://schemas.openxmlformats.org/officeDocument/2006/relationships/slideLayout" Target="../slideLayouts/slideLayout12.xml"/><Relationship Id="rId16" Type="http://schemas.openxmlformats.org/officeDocument/2006/relationships/image" Target="../media/image50.jpeg"/><Relationship Id="rId15" Type="http://schemas.openxmlformats.org/officeDocument/2006/relationships/tags" Target="../tags/tag66.xml"/><Relationship Id="rId14" Type="http://schemas.openxmlformats.org/officeDocument/2006/relationships/tags" Target="../tags/tag65.xml"/><Relationship Id="rId13" Type="http://schemas.openxmlformats.org/officeDocument/2006/relationships/image" Target="../media/image10.svg"/><Relationship Id="rId12" Type="http://schemas.openxmlformats.org/officeDocument/2006/relationships/image" Target="../media/image45.png"/><Relationship Id="rId11" Type="http://schemas.openxmlformats.org/officeDocument/2006/relationships/tags" Target="../tags/tag64.xml"/><Relationship Id="rId10" Type="http://schemas.openxmlformats.org/officeDocument/2006/relationships/tags" Target="../tags/tag63.xml"/><Relationship Id="rId1" Type="http://schemas.openxmlformats.org/officeDocument/2006/relationships/tags" Target="../tags/tag58.xml"/></Relationships>
</file>

<file path=ppt/slides/_rels/slide22.xml.rels><?xml version="1.0" encoding="UTF-8" standalone="yes"?>
<Relationships xmlns="http://schemas.openxmlformats.org/package/2006/relationships"><Relationship Id="rId8" Type="http://schemas.openxmlformats.org/officeDocument/2006/relationships/notesSlide" Target="../notesSlides/notesSlide22.xml"/><Relationship Id="rId7" Type="http://schemas.openxmlformats.org/officeDocument/2006/relationships/slideLayout" Target="../slideLayouts/slideLayout12.xml"/><Relationship Id="rId6" Type="http://schemas.openxmlformats.org/officeDocument/2006/relationships/image" Target="../media/image52.svg"/><Relationship Id="rId5" Type="http://schemas.openxmlformats.org/officeDocument/2006/relationships/image" Target="../media/image51.png"/><Relationship Id="rId4" Type="http://schemas.openxmlformats.org/officeDocument/2006/relationships/image" Target="../media/image8.svg"/><Relationship Id="rId3" Type="http://schemas.openxmlformats.org/officeDocument/2006/relationships/image" Target="../media/image44.png"/><Relationship Id="rId2" Type="http://schemas.openxmlformats.org/officeDocument/2006/relationships/image" Target="../media/image10.svg"/><Relationship Id="rId1" Type="http://schemas.openxmlformats.org/officeDocument/2006/relationships/image" Target="../media/image45.png"/></Relationships>
</file>

<file path=ppt/slides/_rels/slide23.xml.rels><?xml version="1.0" encoding="UTF-8" standalone="yes"?>
<Relationships xmlns="http://schemas.openxmlformats.org/package/2006/relationships"><Relationship Id="rId9" Type="http://schemas.openxmlformats.org/officeDocument/2006/relationships/tags" Target="../tags/tag71.xml"/><Relationship Id="rId8" Type="http://schemas.openxmlformats.org/officeDocument/2006/relationships/image" Target="../media/image28.svg"/><Relationship Id="rId7" Type="http://schemas.openxmlformats.org/officeDocument/2006/relationships/image" Target="../media/image39.png"/><Relationship Id="rId6" Type="http://schemas.openxmlformats.org/officeDocument/2006/relationships/tags" Target="../tags/tag70.xml"/><Relationship Id="rId5" Type="http://schemas.openxmlformats.org/officeDocument/2006/relationships/tags" Target="../tags/tag69.xml"/><Relationship Id="rId4" Type="http://schemas.openxmlformats.org/officeDocument/2006/relationships/tags" Target="../tags/tag68.xml"/><Relationship Id="rId3" Type="http://schemas.openxmlformats.org/officeDocument/2006/relationships/image" Target="../media/image54.svg"/><Relationship Id="rId2" Type="http://schemas.openxmlformats.org/officeDocument/2006/relationships/image" Target="../media/image53.png"/><Relationship Id="rId18" Type="http://schemas.openxmlformats.org/officeDocument/2006/relationships/notesSlide" Target="../notesSlides/notesSlide23.xml"/><Relationship Id="rId17" Type="http://schemas.openxmlformats.org/officeDocument/2006/relationships/slideLayout" Target="../slideLayouts/slideLayout12.xml"/><Relationship Id="rId16" Type="http://schemas.openxmlformats.org/officeDocument/2006/relationships/image" Target="../media/image55.jpeg"/><Relationship Id="rId15" Type="http://schemas.openxmlformats.org/officeDocument/2006/relationships/tags" Target="../tags/tag75.xml"/><Relationship Id="rId14" Type="http://schemas.openxmlformats.org/officeDocument/2006/relationships/tags" Target="../tags/tag74.xml"/><Relationship Id="rId13" Type="http://schemas.openxmlformats.org/officeDocument/2006/relationships/image" Target="../media/image26.svg"/><Relationship Id="rId12" Type="http://schemas.openxmlformats.org/officeDocument/2006/relationships/image" Target="../media/image30.png"/><Relationship Id="rId11" Type="http://schemas.openxmlformats.org/officeDocument/2006/relationships/tags" Target="../tags/tag73.xml"/><Relationship Id="rId10" Type="http://schemas.openxmlformats.org/officeDocument/2006/relationships/tags" Target="../tags/tag72.xml"/><Relationship Id="rId1" Type="http://schemas.openxmlformats.org/officeDocument/2006/relationships/tags" Target="../tags/tag67.xml"/></Relationships>
</file>

<file path=ppt/slides/_rels/slide24.xml.rels><?xml version="1.0" encoding="UTF-8" standalone="yes"?>
<Relationships xmlns="http://schemas.openxmlformats.org/package/2006/relationships"><Relationship Id="rId8" Type="http://schemas.openxmlformats.org/officeDocument/2006/relationships/notesSlide" Target="../notesSlides/notesSlide24.xml"/><Relationship Id="rId7" Type="http://schemas.openxmlformats.org/officeDocument/2006/relationships/slideLayout" Target="../slideLayouts/slideLayout12.xml"/><Relationship Id="rId6" Type="http://schemas.openxmlformats.org/officeDocument/2006/relationships/image" Target="../media/image59.svg"/><Relationship Id="rId5" Type="http://schemas.openxmlformats.org/officeDocument/2006/relationships/image" Target="../media/image58.png"/><Relationship Id="rId4" Type="http://schemas.openxmlformats.org/officeDocument/2006/relationships/image" Target="../media/image57.svg"/><Relationship Id="rId3" Type="http://schemas.openxmlformats.org/officeDocument/2006/relationships/image" Target="../media/image56.png"/><Relationship Id="rId2" Type="http://schemas.openxmlformats.org/officeDocument/2006/relationships/image" Target="../media/image28.svg"/><Relationship Id="rId1" Type="http://schemas.openxmlformats.org/officeDocument/2006/relationships/image" Target="../media/image39.png"/></Relationships>
</file>

<file path=ppt/slides/_rels/slide25.xml.rels><?xml version="1.0" encoding="UTF-8" standalone="yes"?>
<Relationships xmlns="http://schemas.openxmlformats.org/package/2006/relationships"><Relationship Id="rId9" Type="http://schemas.openxmlformats.org/officeDocument/2006/relationships/image" Target="../media/image65.png"/><Relationship Id="rId8" Type="http://schemas.openxmlformats.org/officeDocument/2006/relationships/image" Target="../media/image2.svg"/><Relationship Id="rId7" Type="http://schemas.openxmlformats.org/officeDocument/2006/relationships/image" Target="../media/image40.png"/><Relationship Id="rId6" Type="http://schemas.openxmlformats.org/officeDocument/2006/relationships/image" Target="../media/image64.svg"/><Relationship Id="rId5" Type="http://schemas.openxmlformats.org/officeDocument/2006/relationships/image" Target="../media/image63.png"/><Relationship Id="rId4" Type="http://schemas.openxmlformats.org/officeDocument/2006/relationships/image" Target="../media/image62.svg"/><Relationship Id="rId3" Type="http://schemas.openxmlformats.org/officeDocument/2006/relationships/image" Target="../media/image61.png"/><Relationship Id="rId2" Type="http://schemas.openxmlformats.org/officeDocument/2006/relationships/image" Target="../media/image20.svg"/><Relationship Id="rId13" Type="http://schemas.openxmlformats.org/officeDocument/2006/relationships/notesSlide" Target="../notesSlides/notesSlide25.xml"/><Relationship Id="rId12" Type="http://schemas.openxmlformats.org/officeDocument/2006/relationships/slideLayout" Target="../slideLayouts/slideLayout12.xml"/><Relationship Id="rId11" Type="http://schemas.openxmlformats.org/officeDocument/2006/relationships/image" Target="../media/image67.jpeg"/><Relationship Id="rId10" Type="http://schemas.openxmlformats.org/officeDocument/2006/relationships/image" Target="../media/image66.svg"/><Relationship Id="rId1" Type="http://schemas.openxmlformats.org/officeDocument/2006/relationships/image" Target="../media/image60.png"/></Relationships>
</file>

<file path=ppt/slides/_rels/slide26.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6.svg"/><Relationship Id="rId7" Type="http://schemas.openxmlformats.org/officeDocument/2006/relationships/image" Target="../media/image72.png"/><Relationship Id="rId6" Type="http://schemas.openxmlformats.org/officeDocument/2006/relationships/image" Target="../media/image71.svg"/><Relationship Id="rId5" Type="http://schemas.openxmlformats.org/officeDocument/2006/relationships/image" Target="../media/image70.png"/><Relationship Id="rId4" Type="http://schemas.openxmlformats.org/officeDocument/2006/relationships/image" Target="../media/image10.svg"/><Relationship Id="rId3" Type="http://schemas.openxmlformats.org/officeDocument/2006/relationships/image" Target="../media/image45.png"/><Relationship Id="rId2" Type="http://schemas.openxmlformats.org/officeDocument/2006/relationships/image" Target="../media/image69.svg"/><Relationship Id="rId10" Type="http://schemas.openxmlformats.org/officeDocument/2006/relationships/notesSlide" Target="../notesSlides/notesSlide26.xml"/><Relationship Id="rId1" Type="http://schemas.openxmlformats.org/officeDocument/2006/relationships/image" Target="../media/image68.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7.xml"/><Relationship Id="rId1" Type="http://schemas.openxmlformats.org/officeDocument/2006/relationships/image" Target="../media/image73.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5F7FA">
            <a:alpha val="100000"/>
          </a:srgbClr>
        </a:solidFill>
        <a:effectLst/>
      </p:bgPr>
    </p:bg>
    <p:spTree>
      <p:nvGrpSpPr>
        <p:cNvPr id="1" name=""/>
        <p:cNvGrpSpPr/>
        <p:nvPr/>
      </p:nvGrpSpPr>
      <p:grpSpPr>
        <a:xfrm>
          <a:off x="0" y="0"/>
          <a:ext cx="0" cy="0"/>
          <a:chOff x="0" y="0"/>
          <a:chExt cx="0" cy="0"/>
        </a:xfrm>
      </p:grpSpPr>
      <p:sp>
        <p:nvSpPr>
          <p:cNvPr id="2" name="AutoShape 4"/>
          <p:cNvSpPr/>
          <p:nvPr/>
        </p:nvSpPr>
        <p:spPr>
          <a:xfrm>
            <a:off x="1016000" y="2476500"/>
            <a:ext cx="10160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800" b="1" i="0" u="none" strike="noStrike">
                <a:solidFill>
                  <a:srgbClr val="0D1B2A"/>
                </a:solidFill>
                <a:latin typeface="黑体" panose="02010609060101010101" charset="-122"/>
                <a:ea typeface="黑体" panose="02010609060101010101" charset="-122"/>
                <a:cs typeface="Noto Sans SC" panose="020B0200000000000000" charset="-122"/>
                <a:sym typeface="Noto Sans SC" panose="020B0200000000000000" charset="-122"/>
              </a:rPr>
              <a:t>面向对象程序设计</a:t>
            </a:r>
            <a:endParaRPr lang="en-US" sz="4800" b="1" i="0" u="none" strike="noStrike">
              <a:solidFill>
                <a:srgbClr val="0D1B2A"/>
              </a:solidFill>
              <a:latin typeface="黑体" panose="02010609060101010101" charset="-122"/>
              <a:ea typeface="黑体" panose="02010609060101010101" charset="-122"/>
              <a:cs typeface="Noto Sans SC" panose="020B0200000000000000" charset="-122"/>
              <a:sym typeface="Noto Sans SC" panose="020B0200000000000000" charset="-122"/>
            </a:endParaRPr>
          </a:p>
        </p:txBody>
      </p:sp>
      <p:sp>
        <p:nvSpPr>
          <p:cNvPr id="7" name="AutoShape 6"/>
          <p:cNvSpPr/>
          <p:nvPr/>
        </p:nvSpPr>
        <p:spPr>
          <a:xfrm>
            <a:off x="1016000" y="3810000"/>
            <a:ext cx="10160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0" i="0" u="none" strike="noStrike">
                <a:solidFill>
                  <a:srgbClr val="0D1B2A"/>
                </a:solidFill>
                <a:latin typeface="黑体" panose="02010609060101010101" charset="-122"/>
                <a:ea typeface="黑体" panose="02010609060101010101" charset="-122"/>
                <a:cs typeface="黑体" panose="02010609060101010101" charset="-122"/>
                <a:sym typeface="Noto Sans SC" panose="020B0200000000000000" charset="-122"/>
              </a:rPr>
              <a:t>核心概念、设计模式与QT实践</a:t>
            </a:r>
            <a:endParaRPr lang="en-US" sz="1100">
              <a:latin typeface="黑体" panose="02010609060101010101" charset="-122"/>
              <a:ea typeface="黑体" panose="02010609060101010101" charset="-122"/>
              <a:cs typeface="黑体" panose="02010609060101010101" charset="-122"/>
            </a:endParaRPr>
          </a:p>
        </p:txBody>
      </p:sp>
      <p:cxnSp>
        <p:nvCxnSpPr>
          <p:cNvPr id="8" name="Connector 5"/>
          <p:cNvCxnSpPr/>
          <p:nvPr/>
        </p:nvCxnSpPr>
        <p:spPr>
          <a:xfrm rot="-28647">
            <a:off x="5334026" y="3486150"/>
            <a:ext cx="1524000" cy="12700"/>
          </a:xfrm>
          <a:prstGeom prst="straightConnector1">
            <a:avLst/>
          </a:prstGeom>
          <a:solidFill>
            <a:srgbClr val="DEE0E3">
              <a:alpha val="100000"/>
            </a:srgbClr>
          </a:solidFill>
          <a:ln w="25400" cap="flat" cmpd="sng">
            <a:solidFill>
              <a:srgbClr val="A9C4EB">
                <a:alpha val="100000"/>
              </a:srgbClr>
            </a:solidFill>
            <a:prstDash val="solid"/>
            <a:round/>
            <a:headEnd type="none" w="lg" len="lg"/>
            <a:tailEnd type="none" w="lg" len="lg"/>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7FA">
            <a:alpha val="100000"/>
          </a:srgbClr>
        </a:solidFill>
        <a:effectLst/>
      </p:bgPr>
    </p:bg>
    <p:spTree>
      <p:nvGrpSpPr>
        <p:cNvPr id="1" name=""/>
        <p:cNvGrpSpPr/>
        <p:nvPr/>
      </p:nvGrpSpPr>
      <p:grpSpPr>
        <a:xfrm>
          <a:off x="0" y="0"/>
          <a:ext cx="0" cy="0"/>
          <a:chOff x="0" y="0"/>
          <a:chExt cx="0" cy="0"/>
        </a:xfrm>
      </p:grpSpPr>
      <p:sp>
        <p:nvSpPr>
          <p:cNvPr id="32" name="AutoShape 2"/>
          <p:cNvSpPr/>
          <p:nvPr/>
        </p:nvSpPr>
        <p:spPr>
          <a:xfrm>
            <a:off x="1016000" y="762000"/>
            <a:ext cx="2540000" cy="609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D1B2A"/>
                </a:solidFill>
                <a:latin typeface="黑体" panose="02010609060101010101" charset="-122"/>
                <a:ea typeface="黑体" panose="02010609060101010101" charset="-122"/>
                <a:cs typeface="Noto Sans SC" panose="020B0200000000000000" charset="-122"/>
                <a:sym typeface="Noto Sans SC" panose="020B0200000000000000" charset="-122"/>
              </a:rPr>
              <a:t>目录</a:t>
            </a:r>
            <a:endParaRPr lang="en-US" sz="1100">
              <a:latin typeface="黑体" panose="02010609060101010101" charset="-122"/>
              <a:ea typeface="黑体" panose="02010609060101010101" charset="-122"/>
            </a:endParaRPr>
          </a:p>
        </p:txBody>
      </p:sp>
      <p:cxnSp>
        <p:nvCxnSpPr>
          <p:cNvPr id="33" name="Connector 3"/>
          <p:cNvCxnSpPr/>
          <p:nvPr/>
        </p:nvCxnSpPr>
        <p:spPr>
          <a:xfrm rot="-4297">
            <a:off x="1016004" y="1619250"/>
            <a:ext cx="10160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34" name="AutoShape 4"/>
          <p:cNvSpPr/>
          <p:nvPr>
            <p:custDataLst>
              <p:tags r:id="rId1"/>
            </p:custDataLst>
          </p:nvPr>
        </p:nvSpPr>
        <p:spPr>
          <a:xfrm>
            <a:off x="1016000" y="2159000"/>
            <a:ext cx="6096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chemeClr val="tx1"/>
                </a:solidFill>
                <a:latin typeface="黑体" panose="02010609060101010101" charset="-122"/>
                <a:ea typeface="黑体" panose="02010609060101010101" charset="-122"/>
                <a:cs typeface="Noto Sans SC" panose="020B0200000000000000" charset="-122"/>
                <a:sym typeface="Noto Sans SC" panose="020B0200000000000000" charset="-122"/>
              </a:rPr>
              <a:t>01</a:t>
            </a:r>
            <a:endParaRPr lang="en-US" sz="2400" b="1" i="0" u="none" strike="noStrike">
              <a:solidFill>
                <a:schemeClr val="tx1"/>
              </a:solidFill>
              <a:latin typeface="黑体" panose="02010609060101010101" charset="-122"/>
              <a:ea typeface="黑体" panose="02010609060101010101" charset="-122"/>
              <a:cs typeface="Noto Sans SC" panose="020B0200000000000000" charset="-122"/>
              <a:sym typeface="Noto Sans SC" panose="020B0200000000000000" charset="-122"/>
            </a:endParaRPr>
          </a:p>
        </p:txBody>
      </p:sp>
      <p:sp>
        <p:nvSpPr>
          <p:cNvPr id="35" name="AutoShape 5"/>
          <p:cNvSpPr/>
          <p:nvPr>
            <p:custDataLst>
              <p:tags r:id="rId2"/>
            </p:custDataLst>
          </p:nvPr>
        </p:nvSpPr>
        <p:spPr>
          <a:xfrm>
            <a:off x="1778000" y="2184400"/>
            <a:ext cx="7620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0" i="0" u="none" strike="noStrike">
                <a:solidFill>
                  <a:srgbClr val="0D1B2A"/>
                </a:solidFill>
                <a:latin typeface="黑体" panose="02010609060101010101" charset="-122"/>
                <a:ea typeface="黑体" panose="02010609060101010101" charset="-122"/>
                <a:cs typeface="Noto Sans SC" panose="020B0200000000000000" charset="-122"/>
                <a:sym typeface="Noto Sans SC" panose="020B0200000000000000" charset="-122"/>
              </a:rPr>
              <a:t>课程要求与</a:t>
            </a:r>
            <a:r>
              <a:rPr lang="zh-CN" altLang="en-US" sz="2400" b="0" i="0" u="none" strike="noStrike">
                <a:solidFill>
                  <a:srgbClr val="0D1B2A"/>
                </a:solidFill>
                <a:latin typeface="黑体" panose="02010609060101010101" charset="-122"/>
                <a:ea typeface="黑体" panose="02010609060101010101" charset="-122"/>
                <a:cs typeface="Noto Sans SC" panose="020B0200000000000000" charset="-122"/>
                <a:sym typeface="Noto Sans SC" panose="020B0200000000000000" charset="-122"/>
              </a:rPr>
              <a:t>安排</a:t>
            </a:r>
            <a:endParaRPr lang="zh-CN" altLang="en-US" sz="2400" b="0" i="0" u="none" strike="noStrike">
              <a:solidFill>
                <a:srgbClr val="0D1B2A"/>
              </a:solidFill>
              <a:latin typeface="黑体" panose="02010609060101010101" charset="-122"/>
              <a:ea typeface="黑体" panose="02010609060101010101" charset="-122"/>
              <a:cs typeface="Noto Sans SC" panose="020B0200000000000000" charset="-122"/>
              <a:sym typeface="Noto Sans SC" panose="020B0200000000000000" charset="-122"/>
            </a:endParaRPr>
          </a:p>
        </p:txBody>
      </p:sp>
      <p:sp>
        <p:nvSpPr>
          <p:cNvPr id="37" name="AutoShape 7"/>
          <p:cNvSpPr/>
          <p:nvPr>
            <p:custDataLst>
              <p:tags r:id="rId3"/>
            </p:custDataLst>
          </p:nvPr>
        </p:nvSpPr>
        <p:spPr>
          <a:xfrm>
            <a:off x="1016000" y="3200400"/>
            <a:ext cx="6096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chemeClr val="tx1"/>
                </a:solidFill>
                <a:latin typeface="黑体" panose="02010609060101010101" charset="-122"/>
                <a:ea typeface="黑体" panose="02010609060101010101" charset="-122"/>
                <a:cs typeface="Noto Sans SC" panose="020B0200000000000000" charset="-122"/>
                <a:sym typeface="Noto Sans SC" panose="020B0200000000000000" charset="-122"/>
              </a:rPr>
              <a:t>02</a:t>
            </a:r>
            <a:endParaRPr lang="en-US" sz="2400" b="1" i="0" u="none" strike="noStrike">
              <a:solidFill>
                <a:schemeClr val="tx1"/>
              </a:solidFill>
              <a:latin typeface="黑体" panose="02010609060101010101" charset="-122"/>
              <a:ea typeface="黑体" panose="02010609060101010101" charset="-122"/>
              <a:cs typeface="Noto Sans SC" panose="020B0200000000000000" charset="-122"/>
              <a:sym typeface="Noto Sans SC" panose="020B0200000000000000" charset="-122"/>
            </a:endParaRPr>
          </a:p>
        </p:txBody>
      </p:sp>
      <p:sp>
        <p:nvSpPr>
          <p:cNvPr id="38" name="AutoShape 8"/>
          <p:cNvSpPr/>
          <p:nvPr>
            <p:custDataLst>
              <p:tags r:id="rId4"/>
            </p:custDataLst>
          </p:nvPr>
        </p:nvSpPr>
        <p:spPr>
          <a:xfrm>
            <a:off x="1778000" y="3225800"/>
            <a:ext cx="7620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0" i="0" u="none" strike="noStrike">
                <a:solidFill>
                  <a:srgbClr val="0D1B2A"/>
                </a:solidFill>
                <a:latin typeface="黑体" panose="02010609060101010101" charset="-122"/>
                <a:ea typeface="黑体" panose="02010609060101010101" charset="-122"/>
                <a:cs typeface="Noto Sans SC" panose="020B0200000000000000" charset="-122"/>
                <a:sym typeface="Noto Sans SC" panose="020B0200000000000000" charset="-122"/>
              </a:rPr>
              <a:t>面向对象设计模式</a:t>
            </a:r>
            <a:endParaRPr lang="en-US" sz="2400">
              <a:latin typeface="黑体" panose="02010609060101010101" charset="-122"/>
              <a:ea typeface="黑体" panose="02010609060101010101" charset="-122"/>
            </a:endParaRPr>
          </a:p>
        </p:txBody>
      </p:sp>
      <p:sp>
        <p:nvSpPr>
          <p:cNvPr id="40" name="AutoShape 10"/>
          <p:cNvSpPr/>
          <p:nvPr>
            <p:custDataLst>
              <p:tags r:id="rId5"/>
            </p:custDataLst>
          </p:nvPr>
        </p:nvSpPr>
        <p:spPr>
          <a:xfrm>
            <a:off x="1016000" y="4241800"/>
            <a:ext cx="6096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chemeClr val="tx1"/>
                </a:solidFill>
                <a:latin typeface="黑体" panose="02010609060101010101" charset="-122"/>
                <a:ea typeface="黑体" panose="02010609060101010101" charset="-122"/>
                <a:cs typeface="Noto Sans SC" panose="020B0200000000000000" charset="-122"/>
                <a:sym typeface="Noto Sans SC" panose="020B0200000000000000" charset="-122"/>
              </a:rPr>
              <a:t>03</a:t>
            </a:r>
            <a:endParaRPr lang="en-US" sz="2400" b="1" i="0" u="none" strike="noStrike">
              <a:solidFill>
                <a:schemeClr val="tx1"/>
              </a:solidFill>
              <a:latin typeface="黑体" panose="02010609060101010101" charset="-122"/>
              <a:ea typeface="黑体" panose="02010609060101010101" charset="-122"/>
              <a:cs typeface="Noto Sans SC" panose="020B0200000000000000" charset="-122"/>
              <a:sym typeface="Noto Sans SC" panose="020B0200000000000000" charset="-122"/>
            </a:endParaRPr>
          </a:p>
        </p:txBody>
      </p:sp>
      <p:sp>
        <p:nvSpPr>
          <p:cNvPr id="41" name="AutoShape 11"/>
          <p:cNvSpPr/>
          <p:nvPr>
            <p:custDataLst>
              <p:tags r:id="rId6"/>
            </p:custDataLst>
          </p:nvPr>
        </p:nvSpPr>
        <p:spPr>
          <a:xfrm>
            <a:off x="1778000" y="4267200"/>
            <a:ext cx="7620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0" i="0" u="none" strike="noStrike">
                <a:solidFill>
                  <a:srgbClr val="0D1B2A"/>
                </a:solidFill>
                <a:latin typeface="黑体" panose="02010609060101010101" charset="-122"/>
                <a:ea typeface="黑体" panose="02010609060101010101" charset="-122"/>
                <a:cs typeface="黑体" panose="02010609060101010101" charset="-122"/>
                <a:sym typeface="Noto Sans SC" panose="020B0200000000000000" charset="-122"/>
              </a:rPr>
              <a:t>QT信号与槽机制</a:t>
            </a:r>
            <a:endParaRPr lang="en-US" sz="2400">
              <a:latin typeface="黑体" panose="02010609060101010101" charset="-122"/>
              <a:ea typeface="黑体" panose="02010609060101010101" charset="-122"/>
              <a:cs typeface="黑体" panose="02010609060101010101"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7FA">
            <a:alpha val="100000"/>
          </a:srgbClr>
        </a:solidFill>
        <a:effectLst/>
      </p:bgPr>
    </p:bg>
    <p:spTree>
      <p:nvGrpSpPr>
        <p:cNvPr id="1" name=""/>
        <p:cNvGrpSpPr/>
        <p:nvPr/>
      </p:nvGrpSpPr>
      <p:grpSpPr>
        <a:xfrm>
          <a:off x="0" y="0"/>
          <a:ext cx="0" cy="0"/>
          <a:chOff x="0" y="0"/>
          <a:chExt cx="0" cy="0"/>
        </a:xfrm>
      </p:grpSpPr>
      <p:sp>
        <p:nvSpPr>
          <p:cNvPr id="4" name="AutoShape 4"/>
          <p:cNvSpPr/>
          <p:nvPr/>
        </p:nvSpPr>
        <p:spPr>
          <a:xfrm>
            <a:off x="0" y="2032000"/>
            <a:ext cx="12192000" cy="1397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9600" b="1" i="0" u="none" strike="noStrike">
                <a:solidFill>
                  <a:schemeClr val="tx1"/>
                </a:solidFill>
                <a:latin typeface="黑体" panose="02010609060101010101" charset="-122"/>
                <a:ea typeface="黑体" panose="02010609060101010101" charset="-122"/>
                <a:cs typeface="Noto Sans SC" panose="020B0200000000000000" charset="-122"/>
                <a:sym typeface="Noto Sans SC" panose="020B0200000000000000" charset="-122"/>
              </a:rPr>
              <a:t>01</a:t>
            </a:r>
            <a:endParaRPr lang="en-US" sz="9600" b="1" i="0" u="none" strike="noStrike">
              <a:solidFill>
                <a:schemeClr val="tx1"/>
              </a:solidFill>
              <a:latin typeface="黑体" panose="02010609060101010101" charset="-122"/>
              <a:ea typeface="黑体" panose="02010609060101010101" charset="-122"/>
              <a:cs typeface="Noto Sans SC" panose="020B0200000000000000" charset="-122"/>
              <a:sym typeface="Noto Sans SC" panose="020B0200000000000000" charset="-122"/>
            </a:endParaRPr>
          </a:p>
        </p:txBody>
      </p:sp>
      <p:cxnSp>
        <p:nvCxnSpPr>
          <p:cNvPr id="5" name="Connector 5"/>
          <p:cNvCxnSpPr/>
          <p:nvPr/>
        </p:nvCxnSpPr>
        <p:spPr>
          <a:xfrm rot="-42969">
            <a:off x="5588040" y="3549650"/>
            <a:ext cx="1016000" cy="12700"/>
          </a:xfrm>
          <a:prstGeom prst="straightConnector1">
            <a:avLst/>
          </a:prstGeom>
          <a:solidFill>
            <a:srgbClr val="DEE0E3">
              <a:alpha val="100000"/>
            </a:srgbClr>
          </a:solidFill>
          <a:ln w="25400" cap="flat" cmpd="sng">
            <a:solidFill>
              <a:srgbClr val="A9C4EB">
                <a:alpha val="100000"/>
              </a:srgbClr>
            </a:solidFill>
            <a:prstDash val="solid"/>
            <a:round/>
            <a:headEnd type="none" w="lg" len="lg"/>
            <a:tailEnd type="none" w="lg" len="lg"/>
          </a:ln>
        </p:spPr>
      </p:cxnSp>
      <p:sp>
        <p:nvSpPr>
          <p:cNvPr id="6" name="AutoShape 6"/>
          <p:cNvSpPr/>
          <p:nvPr/>
        </p:nvSpPr>
        <p:spPr>
          <a:xfrm>
            <a:off x="0" y="3810000"/>
            <a:ext cx="1219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800" b="1" i="0" u="none" strike="noStrike">
                <a:solidFill>
                  <a:schemeClr val="tx1"/>
                </a:solidFill>
                <a:latin typeface="黑体" panose="02010609060101010101" charset="-122"/>
                <a:ea typeface="黑体" panose="02010609060101010101" charset="-122"/>
                <a:cs typeface="Noto Sans SC" panose="020B0200000000000000" charset="-122"/>
                <a:sym typeface="Noto Sans SC" panose="020B0200000000000000" charset="-122"/>
              </a:rPr>
              <a:t>课程要求与</a:t>
            </a:r>
            <a:r>
              <a:rPr lang="zh-CN" altLang="en-US" sz="2800" b="1" i="0" u="none" strike="noStrike">
                <a:solidFill>
                  <a:schemeClr val="tx1"/>
                </a:solidFill>
                <a:latin typeface="黑体" panose="02010609060101010101" charset="-122"/>
                <a:ea typeface="黑体" panose="02010609060101010101" charset="-122"/>
                <a:cs typeface="Noto Sans SC" panose="020B0200000000000000" charset="-122"/>
                <a:sym typeface="Noto Sans SC" panose="020B0200000000000000" charset="-122"/>
              </a:rPr>
              <a:t>安排</a:t>
            </a:r>
            <a:endParaRPr lang="zh-CN" altLang="en-US" sz="2800" b="1" i="0" u="none" strike="noStrike">
              <a:solidFill>
                <a:schemeClr val="tx1"/>
              </a:solidFill>
              <a:latin typeface="黑体" panose="02010609060101010101" charset="-122"/>
              <a:ea typeface="黑体" panose="02010609060101010101" charset="-122"/>
              <a:cs typeface="Noto Sans SC" panose="020B0200000000000000" charset="-122"/>
              <a:sym typeface="Noto Sans SC" panose="020B0200000000000000"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5080000" cy="558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D1B2A"/>
                </a:solidFill>
                <a:latin typeface="Noto Sans SC" panose="020B0200000000000000" charset="-122"/>
                <a:ea typeface="Noto Sans SC" panose="020B0200000000000000" charset="-122"/>
                <a:cs typeface="Noto Sans SC" panose="020B0200000000000000" charset="-122"/>
                <a:sym typeface="Noto Sans SC" panose="020B0200000000000000" charset="-122"/>
              </a:rPr>
              <a:t>学习目标</a:t>
            </a:r>
            <a:endParaRPr lang="en-US" sz="1100"/>
          </a:p>
        </p:txBody>
      </p:sp>
      <p:cxnSp>
        <p:nvCxnSpPr>
          <p:cNvPr id="3" name="Connector 3"/>
          <p:cNvCxnSpPr/>
          <p:nvPr/>
        </p:nvCxnSpPr>
        <p:spPr>
          <a:xfrm rot="-4092">
            <a:off x="762004" y="1263650"/>
            <a:ext cx="10668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62000" y="1778000"/>
            <a:ext cx="355600" cy="355600"/>
          </a:xfrm>
          <a:prstGeom prst="rect">
            <a:avLst/>
          </a:prstGeom>
        </p:spPr>
      </p:pic>
      <p:sp>
        <p:nvSpPr>
          <p:cNvPr id="5" name="AutoShape 5"/>
          <p:cNvSpPr/>
          <p:nvPr>
            <p:custDataLst>
              <p:tags r:id="rId3"/>
            </p:custDataLst>
          </p:nvPr>
        </p:nvSpPr>
        <p:spPr>
          <a:xfrm>
            <a:off x="1361440" y="1741170"/>
            <a:ext cx="9906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D1B2A"/>
                </a:solidFill>
                <a:latin typeface="Noto Sans SC" panose="020B0200000000000000" charset="-122"/>
                <a:ea typeface="Noto Sans SC" panose="020B0200000000000000" charset="-122"/>
                <a:cs typeface="Noto Sans SC" panose="020B0200000000000000" charset="-122"/>
                <a:sym typeface="Noto Sans SC" panose="020B0200000000000000" charset="-122"/>
              </a:rPr>
              <a:t>掌握面向对象的基本思想和设计原则</a:t>
            </a:r>
            <a:endParaRPr lang="en-US" sz="1100"/>
          </a:p>
        </p:txBody>
      </p:sp>
      <p:sp>
        <p:nvSpPr>
          <p:cNvPr id="6" name="AutoShape 6"/>
          <p:cNvSpPr/>
          <p:nvPr>
            <p:custDataLst>
              <p:tags r:id="rId4"/>
            </p:custDataLst>
          </p:nvPr>
        </p:nvSpPr>
        <p:spPr>
          <a:xfrm>
            <a:off x="1361440" y="2147570"/>
            <a:ext cx="9906000" cy="2794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理解封装、继承、多态的核心概念，遵循SOLID设计准则。</a:t>
            </a:r>
            <a:endParaRPr lang="en-US" sz="1100"/>
          </a:p>
        </p:txBody>
      </p:sp>
      <p:pic>
        <p:nvPicPr>
          <p:cNvPr id="7" name="Picture 7"/>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62000" y="2921000"/>
            <a:ext cx="355600" cy="355600"/>
          </a:xfrm>
          <a:prstGeom prst="rect">
            <a:avLst/>
          </a:prstGeom>
        </p:spPr>
      </p:pic>
      <p:sp>
        <p:nvSpPr>
          <p:cNvPr id="8" name="AutoShape 8"/>
          <p:cNvSpPr/>
          <p:nvPr>
            <p:custDataLst>
              <p:tags r:id="rId5"/>
            </p:custDataLst>
          </p:nvPr>
        </p:nvSpPr>
        <p:spPr>
          <a:xfrm>
            <a:off x="1361440" y="2884170"/>
            <a:ext cx="9906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D1B2A"/>
                </a:solidFill>
                <a:latin typeface="Noto Sans SC" panose="020B0200000000000000" charset="-122"/>
                <a:ea typeface="Noto Sans SC" panose="020B0200000000000000" charset="-122"/>
                <a:cs typeface="Noto Sans SC" panose="020B0200000000000000" charset="-122"/>
                <a:sym typeface="Noto Sans SC" panose="020B0200000000000000" charset="-122"/>
              </a:rPr>
              <a:t>运用设计模式解决实际问题</a:t>
            </a:r>
            <a:endParaRPr lang="en-US" sz="1100"/>
          </a:p>
        </p:txBody>
      </p:sp>
      <p:sp>
        <p:nvSpPr>
          <p:cNvPr id="9" name="AutoShape 9"/>
          <p:cNvSpPr/>
          <p:nvPr>
            <p:custDataLst>
              <p:tags r:id="rId6"/>
            </p:custDataLst>
          </p:nvPr>
        </p:nvSpPr>
        <p:spPr>
          <a:xfrm>
            <a:off x="1361440" y="3290570"/>
            <a:ext cx="9906000" cy="2794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如单例、工厂、观察者、策略等模式，提升代码的可复用性与可维护性。</a:t>
            </a:r>
            <a:endParaRPr lang="en-US" sz="1100"/>
          </a:p>
        </p:txBody>
      </p:sp>
      <p:pic>
        <p:nvPicPr>
          <p:cNvPr id="10" name="Picture 10"/>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62000" y="4064000"/>
            <a:ext cx="355600" cy="355600"/>
          </a:xfrm>
          <a:prstGeom prst="rect">
            <a:avLst/>
          </a:prstGeom>
        </p:spPr>
      </p:pic>
      <p:sp>
        <p:nvSpPr>
          <p:cNvPr id="11" name="AutoShape 11"/>
          <p:cNvSpPr/>
          <p:nvPr>
            <p:custDataLst>
              <p:tags r:id="rId7"/>
            </p:custDataLst>
          </p:nvPr>
        </p:nvSpPr>
        <p:spPr>
          <a:xfrm>
            <a:off x="1361440" y="4027170"/>
            <a:ext cx="9906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D1B2A"/>
                </a:solidFill>
                <a:latin typeface="Noto Sans SC" panose="020B0200000000000000" charset="-122"/>
                <a:ea typeface="Noto Sans SC" panose="020B0200000000000000" charset="-122"/>
                <a:cs typeface="Noto Sans SC" panose="020B0200000000000000" charset="-122"/>
                <a:sym typeface="Noto Sans SC" panose="020B0200000000000000" charset="-122"/>
              </a:rPr>
              <a:t>理解并能使用QT进行图形界面开发</a:t>
            </a:r>
            <a:endParaRPr lang="en-US" sz="1100"/>
          </a:p>
        </p:txBody>
      </p:sp>
      <p:sp>
        <p:nvSpPr>
          <p:cNvPr id="12" name="AutoShape 12"/>
          <p:cNvSpPr/>
          <p:nvPr>
            <p:custDataLst>
              <p:tags r:id="rId8"/>
            </p:custDataLst>
          </p:nvPr>
        </p:nvSpPr>
        <p:spPr>
          <a:xfrm>
            <a:off x="1361440" y="4433570"/>
            <a:ext cx="9906000" cy="2794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构建跨平台、美观且交互友好的桌面应用程序。</a:t>
            </a:r>
            <a:endParaRPr lang="en-US" sz="1100"/>
          </a:p>
        </p:txBody>
      </p:sp>
      <p:pic>
        <p:nvPicPr>
          <p:cNvPr id="13" name="Picture 13"/>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62000" y="5207000"/>
            <a:ext cx="355600" cy="355600"/>
          </a:xfrm>
          <a:prstGeom prst="rect">
            <a:avLst/>
          </a:prstGeom>
        </p:spPr>
      </p:pic>
      <p:sp>
        <p:nvSpPr>
          <p:cNvPr id="14" name="AutoShape 14"/>
          <p:cNvSpPr/>
          <p:nvPr>
            <p:custDataLst>
              <p:tags r:id="rId9"/>
            </p:custDataLst>
          </p:nvPr>
        </p:nvSpPr>
        <p:spPr>
          <a:xfrm>
            <a:off x="1361440" y="5170170"/>
            <a:ext cx="9906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D1B2A"/>
                </a:solidFill>
                <a:latin typeface="Noto Sans SC" panose="020B0200000000000000" charset="-122"/>
                <a:ea typeface="Noto Sans SC" panose="020B0200000000000000" charset="-122"/>
                <a:cs typeface="Noto Sans SC" panose="020B0200000000000000" charset="-122"/>
                <a:sym typeface="Noto Sans SC" panose="020B0200000000000000" charset="-122"/>
              </a:rPr>
              <a:t>具备设计和实现小型软件系统的能力</a:t>
            </a:r>
            <a:endParaRPr lang="en-US" sz="1100"/>
          </a:p>
        </p:txBody>
      </p:sp>
      <p:sp>
        <p:nvSpPr>
          <p:cNvPr id="15" name="AutoShape 15"/>
          <p:cNvSpPr/>
          <p:nvPr>
            <p:custDataLst>
              <p:tags r:id="rId10"/>
            </p:custDataLst>
          </p:nvPr>
        </p:nvSpPr>
        <p:spPr>
          <a:xfrm>
            <a:off x="1361440" y="5576570"/>
            <a:ext cx="9906000" cy="2794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从需求分析到系统测试，完成端到端的软件开发流程。</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762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D1B2A"/>
                </a:solidFill>
                <a:latin typeface="黑体" panose="02010609060101010101" charset="-122"/>
                <a:ea typeface="黑体" panose="02010609060101010101" charset="-122"/>
                <a:cs typeface="Noto Sans SC" panose="020B0200000000000000" charset="-122"/>
                <a:sym typeface="Noto Sans SC" panose="020B0200000000000000" charset="-122"/>
              </a:rPr>
              <a:t>课程</a:t>
            </a:r>
            <a:r>
              <a:rPr lang="zh-CN" altLang="en-US" sz="3600" b="1" i="0" u="none" strike="noStrike">
                <a:solidFill>
                  <a:srgbClr val="0D1B2A"/>
                </a:solidFill>
                <a:latin typeface="黑体" panose="02010609060101010101" charset="-122"/>
                <a:ea typeface="黑体" panose="02010609060101010101" charset="-122"/>
                <a:cs typeface="Noto Sans SC" panose="020B0200000000000000" charset="-122"/>
                <a:sym typeface="Noto Sans SC" panose="020B0200000000000000" charset="-122"/>
              </a:rPr>
              <a:t>要求</a:t>
            </a:r>
            <a:endParaRPr lang="zh-CN" altLang="en-US" sz="3600" b="1" i="0" u="none" strike="noStrike">
              <a:solidFill>
                <a:srgbClr val="0D1B2A"/>
              </a:solidFill>
              <a:latin typeface="黑体" panose="02010609060101010101" charset="-122"/>
              <a:ea typeface="黑体" panose="02010609060101010101" charset="-122"/>
              <a:cs typeface="Noto Sans SC" panose="020B0200000000000000" charset="-122"/>
              <a:sym typeface="Noto Sans SC" panose="020B0200000000000000" charset="-122"/>
            </a:endParaRPr>
          </a:p>
        </p:txBody>
      </p:sp>
      <p:cxnSp>
        <p:nvCxnSpPr>
          <p:cNvPr id="3" name="Connector 3"/>
          <p:cNvCxnSpPr/>
          <p:nvPr/>
        </p:nvCxnSpPr>
        <p:spPr>
          <a:xfrm rot="-4092">
            <a:off x="762004" y="1212850"/>
            <a:ext cx="10668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20" name="AutoShape 4"/>
          <p:cNvSpPr/>
          <p:nvPr>
            <p:custDataLst>
              <p:tags r:id="rId1"/>
            </p:custDataLst>
          </p:nvPr>
        </p:nvSpPr>
        <p:spPr>
          <a:xfrm>
            <a:off x="762000" y="1651000"/>
            <a:ext cx="5080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2000" b="1" i="0" u="none" strike="noStrike">
                <a:solidFill>
                  <a:srgbClr val="0D1B2A"/>
                </a:solidFill>
                <a:latin typeface="黑体" panose="02010609060101010101" charset="-122"/>
                <a:ea typeface="黑体" panose="02010609060101010101" charset="-122"/>
                <a:cs typeface="Noto Sans SC" panose="020B0200000000000000" charset="-122"/>
                <a:sym typeface="Noto Sans SC" panose="020B0200000000000000" charset="-122"/>
              </a:rPr>
              <a:t>基础要求</a:t>
            </a:r>
            <a:endParaRPr lang="zh-CN" altLang="en-US" sz="2000" b="1" i="0" u="none" strike="noStrike">
              <a:solidFill>
                <a:srgbClr val="0D1B2A"/>
              </a:solidFill>
              <a:latin typeface="黑体" panose="02010609060101010101" charset="-122"/>
              <a:ea typeface="黑体" panose="02010609060101010101" charset="-122"/>
              <a:cs typeface="Noto Sans SC" panose="020B0200000000000000" charset="-122"/>
              <a:sym typeface="Noto Sans SC" panose="020B0200000000000000" charset="-122"/>
            </a:endParaRPr>
          </a:p>
        </p:txBody>
      </p:sp>
      <p:sp>
        <p:nvSpPr>
          <p:cNvPr id="21" name="AutoShape 5"/>
          <p:cNvSpPr/>
          <p:nvPr>
            <p:custDataLst>
              <p:tags r:id="rId2"/>
            </p:custDataLst>
          </p:nvPr>
        </p:nvSpPr>
        <p:spPr>
          <a:xfrm>
            <a:off x="762000" y="2159000"/>
            <a:ext cx="10058400" cy="1547495"/>
          </a:xfrm>
          <a:prstGeom prst="rect">
            <a:avLst/>
          </a:prstGeom>
          <a:noFill/>
          <a:ln w="12700" cap="flat" cmpd="sng">
            <a:noFill/>
            <a:prstDash val="solid"/>
            <a:round/>
          </a:ln>
        </p:spPr>
        <p:txBody>
          <a:bodyPr vert="horz" wrap="square" lIns="0" tIns="0" rIns="0" bIns="0" rtlCol="0" anchor="t" anchorCtr="0"/>
          <a:lstStyle/>
          <a:p>
            <a:pPr marL="285750" indent="-285750" algn="l">
              <a:lnSpc>
                <a:spcPct val="125000"/>
              </a:lnSpc>
              <a:buFont typeface="Arial" panose="020B0604020202020204" pitchFamily="34" charset="0"/>
              <a:buChar char="•"/>
              <a:defRPr/>
            </a:pPr>
            <a:r>
              <a:rPr lang="zh-CN" altLang="en-US" sz="1800" b="1" i="0" u="none" strike="noStrike">
                <a:solidFill>
                  <a:schemeClr val="tx1"/>
                </a:solidFill>
                <a:latin typeface="黑体" panose="02010609060101010101" charset="-122"/>
                <a:ea typeface="黑体" panose="02010609060101010101" charset="-122"/>
                <a:sym typeface="Noto Sans SC" panose="020B0200000000000000" charset="-122"/>
              </a:rPr>
              <a:t>选题：</a:t>
            </a:r>
            <a:r>
              <a:rPr lang="zh-CN" altLang="en-US" sz="1800" b="0" i="0" u="none" strike="noStrike">
                <a:solidFill>
                  <a:schemeClr val="tx1"/>
                </a:solidFill>
                <a:latin typeface="黑体" panose="02010609060101010101" charset="-122"/>
                <a:ea typeface="黑体" panose="02010609060101010101" charset="-122"/>
                <a:cs typeface="Noto Sans SC" panose="020B0200000000000000" charset="-122"/>
                <a:sym typeface="Noto Sans SC" panose="020B0200000000000000" charset="-122"/>
              </a:rPr>
              <a:t>自主选择一款规则清晰、逻辑简单的小型游戏，自行组队</a:t>
            </a:r>
            <a:r>
              <a:rPr lang="en-US" altLang="zh-CN" sz="1800" b="0" i="0" u="none" strike="noStrike">
                <a:solidFill>
                  <a:srgbClr val="C00000"/>
                </a:solidFill>
                <a:latin typeface="Times New Roman" panose="02020603050405020304" charset="0"/>
                <a:ea typeface="黑体" panose="02010609060101010101" charset="-122"/>
                <a:cs typeface="Times New Roman" panose="02020603050405020304" charset="0"/>
                <a:sym typeface="Noto Sans SC" panose="020B0200000000000000" charset="-122"/>
              </a:rPr>
              <a:t>4~5</a:t>
            </a:r>
            <a:r>
              <a:rPr lang="zh-CN" altLang="en-US" sz="1800" b="0" i="0" u="none" strike="noStrike">
                <a:solidFill>
                  <a:srgbClr val="C00000"/>
                </a:solidFill>
                <a:latin typeface="黑体" panose="02010609060101010101" charset="-122"/>
                <a:ea typeface="黑体" panose="02010609060101010101" charset="-122"/>
                <a:cs typeface="Noto Sans SC" panose="020B0200000000000000" charset="-122"/>
                <a:sym typeface="Noto Sans SC" panose="020B0200000000000000" charset="-122"/>
              </a:rPr>
              <a:t>人</a:t>
            </a:r>
            <a:r>
              <a:rPr lang="zh-CN" altLang="en-US" sz="1800" b="0" i="0" u="none" strike="noStrike">
                <a:solidFill>
                  <a:schemeClr val="tx1"/>
                </a:solidFill>
                <a:latin typeface="黑体" panose="02010609060101010101" charset="-122"/>
                <a:ea typeface="黑体" panose="02010609060101010101" charset="-122"/>
                <a:cs typeface="Noto Sans SC" panose="020B0200000000000000" charset="-122"/>
                <a:sym typeface="Noto Sans SC" panose="020B0200000000000000" charset="-122"/>
              </a:rPr>
              <a:t>一组</a:t>
            </a:r>
            <a:r>
              <a:rPr lang="en-US" sz="1800" b="0" i="0" u="none" strike="noStrike">
                <a:solidFill>
                  <a:schemeClr val="tx1"/>
                </a:solidFill>
                <a:latin typeface="黑体" panose="02010609060101010101" charset="-122"/>
                <a:ea typeface="黑体" panose="02010609060101010101" charset="-122"/>
                <a:cs typeface="Noto Sans SC" panose="020B0200000000000000" charset="-122"/>
                <a:sym typeface="Noto Sans SC" panose="020B0200000000000000" charset="-122"/>
              </a:rPr>
              <a:t>。</a:t>
            </a:r>
            <a:endParaRPr lang="en-US" sz="1800" b="0" i="0" u="none" strike="noStrike">
              <a:solidFill>
                <a:schemeClr val="tx1"/>
              </a:solidFill>
              <a:latin typeface="黑体" panose="02010609060101010101" charset="-122"/>
              <a:ea typeface="黑体" panose="02010609060101010101" charset="-122"/>
              <a:cs typeface="Noto Sans SC" panose="020B0200000000000000" charset="-122"/>
              <a:sym typeface="Noto Sans SC" panose="020B0200000000000000" charset="-122"/>
            </a:endParaRPr>
          </a:p>
          <a:p>
            <a:pPr marL="285750" indent="-285750" algn="l">
              <a:lnSpc>
                <a:spcPct val="125000"/>
              </a:lnSpc>
              <a:buFont typeface="Arial" panose="020B0604020202020204" pitchFamily="34" charset="0"/>
              <a:buChar char="•"/>
              <a:defRPr/>
            </a:pPr>
            <a:r>
              <a:rPr lang="zh-CN" altLang="en-US" sz="1800" b="1">
                <a:solidFill>
                  <a:schemeClr val="tx1"/>
                </a:solidFill>
                <a:latin typeface="黑体" panose="02010609060101010101" charset="-122"/>
                <a:ea typeface="黑体" panose="02010609060101010101" charset="-122"/>
              </a:rPr>
              <a:t>面向对象设计思想：</a:t>
            </a:r>
            <a:r>
              <a:rPr lang="zh-CN" altLang="en-US" sz="1800">
                <a:solidFill>
                  <a:srgbClr val="C00000"/>
                </a:solidFill>
                <a:latin typeface="黑体" panose="02010609060101010101" charset="-122"/>
                <a:ea typeface="黑体" panose="02010609060101010101" charset="-122"/>
                <a:cs typeface="Noto Sans SC" panose="020B0200000000000000" charset="-122"/>
              </a:rPr>
              <a:t>面向对象</a:t>
            </a:r>
            <a:r>
              <a:rPr lang="zh-CN" altLang="en-US" sz="1800">
                <a:solidFill>
                  <a:schemeClr val="tx1"/>
                </a:solidFill>
                <a:latin typeface="黑体" panose="02010609060101010101" charset="-122"/>
                <a:ea typeface="黑体" panose="02010609060101010101" charset="-122"/>
                <a:cs typeface="Noto Sans SC" panose="020B0200000000000000" charset="-122"/>
              </a:rPr>
              <a:t>的类</a:t>
            </a:r>
            <a:r>
              <a:rPr lang="en-US" altLang="zh-CN" sz="1800">
                <a:solidFill>
                  <a:schemeClr val="tx1"/>
                </a:solidFill>
                <a:latin typeface="黑体" panose="02010609060101010101" charset="-122"/>
                <a:ea typeface="黑体" panose="02010609060101010101" charset="-122"/>
                <a:cs typeface="Noto Sans SC" panose="020B0200000000000000" charset="-122"/>
              </a:rPr>
              <a:t>/</a:t>
            </a:r>
            <a:r>
              <a:rPr lang="zh-CN" altLang="en-US" sz="1800">
                <a:solidFill>
                  <a:schemeClr val="tx1"/>
                </a:solidFill>
                <a:latin typeface="黑体" panose="02010609060101010101" charset="-122"/>
                <a:ea typeface="黑体" panose="02010609060101010101" charset="-122"/>
                <a:cs typeface="Noto Sans SC" panose="020B0200000000000000" charset="-122"/>
              </a:rPr>
              <a:t>对象设计，将核心实体抽象为</a:t>
            </a:r>
            <a:r>
              <a:rPr lang="zh-CN" altLang="en-US" sz="1800">
                <a:solidFill>
                  <a:srgbClr val="C00000"/>
                </a:solidFill>
                <a:latin typeface="黑体" panose="02010609060101010101" charset="-122"/>
                <a:ea typeface="黑体" panose="02010609060101010101" charset="-122"/>
                <a:cs typeface="Noto Sans SC" panose="020B0200000000000000" charset="-122"/>
              </a:rPr>
              <a:t>独立类</a:t>
            </a:r>
            <a:r>
              <a:rPr lang="zh-CN" altLang="en-US" sz="1800">
                <a:solidFill>
                  <a:schemeClr val="tx1"/>
                </a:solidFill>
                <a:latin typeface="黑体" panose="02010609060101010101" charset="-122"/>
                <a:ea typeface="黑体" panose="02010609060101010101" charset="-122"/>
                <a:cs typeface="Noto Sans SC" panose="020B0200000000000000" charset="-122"/>
              </a:rPr>
              <a:t>，禁止把逻辑堆在少量函数或主函数中，并保证程序可运行且实现对应游戏的</a:t>
            </a:r>
            <a:r>
              <a:rPr lang="zh-CN" altLang="en-US" sz="1800">
                <a:solidFill>
                  <a:srgbClr val="C00000"/>
                </a:solidFill>
                <a:latin typeface="黑体" panose="02010609060101010101" charset="-122"/>
                <a:ea typeface="黑体" panose="02010609060101010101" charset="-122"/>
                <a:cs typeface="Noto Sans SC" panose="020B0200000000000000" charset="-122"/>
              </a:rPr>
              <a:t>核心玩法</a:t>
            </a:r>
            <a:r>
              <a:rPr lang="zh-CN" altLang="en-US" sz="1800">
                <a:solidFill>
                  <a:schemeClr val="tx1"/>
                </a:solidFill>
                <a:latin typeface="黑体" panose="02010609060101010101" charset="-122"/>
                <a:ea typeface="黑体" panose="02010609060101010101" charset="-122"/>
                <a:cs typeface="Noto Sans SC" panose="020B0200000000000000" charset="-122"/>
              </a:rPr>
              <a:t>。</a:t>
            </a:r>
            <a:endParaRPr lang="zh-CN" altLang="en-US" sz="1800">
              <a:solidFill>
                <a:schemeClr val="tx1"/>
              </a:solidFill>
              <a:latin typeface="黑体" panose="02010609060101010101" charset="-122"/>
              <a:ea typeface="黑体" panose="02010609060101010101" charset="-122"/>
              <a:cs typeface="Noto Sans SC" panose="020B0200000000000000" charset="-122"/>
            </a:endParaRPr>
          </a:p>
          <a:p>
            <a:pPr marL="285750" indent="-285750" algn="l">
              <a:lnSpc>
                <a:spcPct val="125000"/>
              </a:lnSpc>
              <a:buFont typeface="Arial" panose="020B0604020202020204" pitchFamily="34" charset="0"/>
              <a:buChar char="•"/>
              <a:defRPr/>
            </a:pPr>
            <a:r>
              <a:rPr lang="zh-CN" altLang="en-US" sz="1800" b="1">
                <a:solidFill>
                  <a:schemeClr val="tx1"/>
                </a:solidFill>
                <a:latin typeface="黑体" panose="02010609060101010101" charset="-122"/>
                <a:ea typeface="黑体" panose="02010609060101010101" charset="-122"/>
              </a:rPr>
              <a:t>代码规范：</a:t>
            </a:r>
            <a:r>
              <a:rPr lang="zh-CN" altLang="en-US" sz="1800">
                <a:solidFill>
                  <a:schemeClr val="tx1"/>
                </a:solidFill>
                <a:latin typeface="黑体" panose="02010609060101010101" charset="-122"/>
                <a:ea typeface="黑体" panose="02010609060101010101" charset="-122"/>
                <a:cs typeface="Noto Sans SC" panose="020B0200000000000000" charset="-122"/>
              </a:rPr>
              <a:t>类</a:t>
            </a:r>
            <a:r>
              <a:rPr lang="en-US" altLang="zh-CN" sz="1800">
                <a:solidFill>
                  <a:schemeClr val="tx1"/>
                </a:solidFill>
                <a:latin typeface="黑体" panose="02010609060101010101" charset="-122"/>
                <a:ea typeface="黑体" panose="02010609060101010101" charset="-122"/>
                <a:cs typeface="Noto Sans SC" panose="020B0200000000000000" charset="-122"/>
              </a:rPr>
              <a:t>/</a:t>
            </a:r>
            <a:r>
              <a:rPr lang="zh-CN" altLang="en-US" sz="1800">
                <a:solidFill>
                  <a:schemeClr val="tx1"/>
                </a:solidFill>
                <a:latin typeface="黑体" panose="02010609060101010101" charset="-122"/>
                <a:ea typeface="黑体" panose="02010609060101010101" charset="-122"/>
                <a:cs typeface="Noto Sans SC" panose="020B0200000000000000" charset="-122"/>
              </a:rPr>
              <a:t>方法命名符合行业规范，关键代码添加注释，代码结构清晰，按职责划分模块。</a:t>
            </a:r>
            <a:endParaRPr lang="zh-CN" altLang="en-US" sz="1800">
              <a:solidFill>
                <a:schemeClr val="tx1"/>
              </a:solidFill>
              <a:latin typeface="黑体" panose="02010609060101010101" charset="-122"/>
              <a:ea typeface="黑体" panose="02010609060101010101" charset="-122"/>
              <a:cs typeface="Noto Sans SC" panose="020B0200000000000000" charset="-122"/>
            </a:endParaRPr>
          </a:p>
        </p:txBody>
      </p:sp>
      <p:sp>
        <p:nvSpPr>
          <p:cNvPr id="22" name="AutoShape 6"/>
          <p:cNvSpPr/>
          <p:nvPr>
            <p:custDataLst>
              <p:tags r:id="rId3"/>
            </p:custDataLst>
          </p:nvPr>
        </p:nvSpPr>
        <p:spPr>
          <a:xfrm>
            <a:off x="762000" y="3759200"/>
            <a:ext cx="5080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2000" b="1" i="0" u="none" strike="noStrike">
                <a:solidFill>
                  <a:srgbClr val="0D1B2A"/>
                </a:solidFill>
                <a:latin typeface="黑体" panose="02010609060101010101" charset="-122"/>
                <a:ea typeface="黑体" panose="02010609060101010101" charset="-122"/>
                <a:cs typeface="Noto Sans SC" panose="020B0200000000000000" charset="-122"/>
                <a:sym typeface="Noto Sans SC" panose="020B0200000000000000" charset="-122"/>
              </a:rPr>
              <a:t>进阶要求</a:t>
            </a:r>
            <a:endParaRPr lang="zh-CN" altLang="en-US" sz="2000" b="1" i="0" u="none" strike="noStrike">
              <a:solidFill>
                <a:srgbClr val="0D1B2A"/>
              </a:solidFill>
              <a:latin typeface="黑体" panose="02010609060101010101" charset="-122"/>
              <a:ea typeface="黑体" panose="02010609060101010101" charset="-122"/>
              <a:cs typeface="Noto Sans SC" panose="020B0200000000000000" charset="-122"/>
              <a:sym typeface="Noto Sans SC" panose="020B0200000000000000" charset="-122"/>
            </a:endParaRPr>
          </a:p>
        </p:txBody>
      </p:sp>
      <p:sp>
        <p:nvSpPr>
          <p:cNvPr id="30" name="AutoShape 5"/>
          <p:cNvSpPr/>
          <p:nvPr>
            <p:custDataLst>
              <p:tags r:id="rId4"/>
            </p:custDataLst>
          </p:nvPr>
        </p:nvSpPr>
        <p:spPr>
          <a:xfrm>
            <a:off x="762000" y="4324350"/>
            <a:ext cx="10058400" cy="1864995"/>
          </a:xfrm>
          <a:prstGeom prst="rect">
            <a:avLst/>
          </a:prstGeom>
          <a:noFill/>
          <a:ln w="12700" cap="flat" cmpd="sng">
            <a:noFill/>
            <a:prstDash val="solid"/>
            <a:round/>
          </a:ln>
        </p:spPr>
        <p:txBody>
          <a:bodyPr vert="horz" wrap="square" lIns="0" tIns="0" rIns="0" bIns="0" rtlCol="0" anchor="t" anchorCtr="0"/>
          <a:lstStyle/>
          <a:p>
            <a:pPr marL="285750" indent="-285750" algn="l">
              <a:lnSpc>
                <a:spcPct val="125000"/>
              </a:lnSpc>
              <a:buFont typeface="Arial" panose="020B0604020202020204" pitchFamily="34" charset="0"/>
              <a:buChar char="•"/>
              <a:defRPr/>
            </a:pPr>
            <a:r>
              <a:rPr lang="zh-CN" altLang="en-US" sz="1800" b="1" i="0" u="none" strike="noStrike">
                <a:solidFill>
                  <a:schemeClr val="tx1"/>
                </a:solidFill>
                <a:latin typeface="黑体" panose="02010609060101010101" charset="-122"/>
                <a:ea typeface="黑体" panose="02010609060101010101" charset="-122"/>
                <a:sym typeface="Noto Sans SC" panose="020B0200000000000000" charset="-122"/>
              </a:rPr>
              <a:t>设计</a:t>
            </a:r>
            <a:r>
              <a:rPr lang="zh-CN" altLang="en-US" sz="1800" b="1" i="0" u="none" strike="noStrike">
                <a:solidFill>
                  <a:schemeClr val="tx1"/>
                </a:solidFill>
                <a:latin typeface="黑体" panose="02010609060101010101" charset="-122"/>
                <a:ea typeface="黑体" panose="02010609060101010101" charset="-122"/>
                <a:sym typeface="Noto Sans SC" panose="020B0200000000000000" charset="-122"/>
              </a:rPr>
              <a:t>模式：</a:t>
            </a:r>
            <a:r>
              <a:rPr lang="zh-CN" altLang="en-US" sz="1800" b="0" i="0" u="none" strike="noStrike">
                <a:solidFill>
                  <a:schemeClr val="tx1"/>
                </a:solidFill>
                <a:latin typeface="黑体" panose="02010609060101010101" charset="-122"/>
                <a:ea typeface="黑体" panose="02010609060101010101" charset="-122"/>
                <a:cs typeface="Noto Sans SC" panose="020B0200000000000000" charset="-122"/>
                <a:sym typeface="Noto Sans SC" panose="020B0200000000000000" charset="-122"/>
              </a:rPr>
              <a:t>自主识别游戏开发中的场景问题，选择至少</a:t>
            </a:r>
            <a:r>
              <a:rPr lang="en-US" altLang="zh-CN" sz="1800" b="0" i="0" u="none" strike="noStrike">
                <a:solidFill>
                  <a:schemeClr val="tx1"/>
                </a:solidFill>
                <a:latin typeface="黑体" panose="02010609060101010101" charset="-122"/>
                <a:ea typeface="黑体" panose="02010609060101010101" charset="-122"/>
                <a:cs typeface="Noto Sans SC" panose="020B0200000000000000" charset="-122"/>
                <a:sym typeface="Noto Sans SC" panose="020B0200000000000000" charset="-122"/>
              </a:rPr>
              <a:t>2</a:t>
            </a:r>
            <a:r>
              <a:rPr lang="zh-CN" altLang="en-US" sz="1800" b="0" i="0" u="none" strike="noStrike">
                <a:solidFill>
                  <a:schemeClr val="tx1"/>
                </a:solidFill>
                <a:latin typeface="黑体" panose="02010609060101010101" charset="-122"/>
                <a:ea typeface="黑体" panose="02010609060101010101" charset="-122"/>
                <a:cs typeface="Noto Sans SC" panose="020B0200000000000000" charset="-122"/>
                <a:sym typeface="Noto Sans SC" panose="020B0200000000000000" charset="-122"/>
              </a:rPr>
              <a:t>种设计模式并应用到代码中，应贴合场景且有实际价值</a:t>
            </a:r>
            <a:r>
              <a:rPr lang="en-US" sz="1800" b="0" i="0" u="none" strike="noStrike">
                <a:solidFill>
                  <a:schemeClr val="tx1"/>
                </a:solidFill>
                <a:latin typeface="黑体" panose="02010609060101010101" charset="-122"/>
                <a:ea typeface="黑体" panose="02010609060101010101" charset="-122"/>
                <a:cs typeface="Noto Sans SC" panose="020B0200000000000000" charset="-122"/>
                <a:sym typeface="Noto Sans SC" panose="020B0200000000000000" charset="-122"/>
              </a:rPr>
              <a:t>。</a:t>
            </a:r>
            <a:endParaRPr lang="en-US" sz="1800" b="0" i="0" u="none" strike="noStrike">
              <a:solidFill>
                <a:schemeClr val="tx1"/>
              </a:solidFill>
              <a:latin typeface="黑体" panose="02010609060101010101" charset="-122"/>
              <a:ea typeface="黑体" panose="02010609060101010101" charset="-122"/>
              <a:cs typeface="Noto Sans SC" panose="020B0200000000000000" charset="-122"/>
              <a:sym typeface="Noto Sans SC" panose="020B0200000000000000" charset="-122"/>
            </a:endParaRPr>
          </a:p>
          <a:p>
            <a:pPr marL="285750" indent="-285750" algn="l">
              <a:lnSpc>
                <a:spcPct val="125000"/>
              </a:lnSpc>
              <a:buFont typeface="Arial" panose="020B0604020202020204" pitchFamily="34" charset="0"/>
              <a:buChar char="•"/>
              <a:defRPr/>
            </a:pPr>
            <a:r>
              <a:rPr lang="zh-CN" altLang="en-US" sz="1800" b="1">
                <a:solidFill>
                  <a:schemeClr val="tx1"/>
                </a:solidFill>
                <a:latin typeface="黑体" panose="02010609060101010101" charset="-122"/>
                <a:ea typeface="黑体" panose="02010609060101010101" charset="-122"/>
              </a:rPr>
              <a:t>扩展</a:t>
            </a:r>
            <a:r>
              <a:rPr lang="zh-CN" altLang="en-US" sz="1800" b="1">
                <a:solidFill>
                  <a:schemeClr val="tx1"/>
                </a:solidFill>
                <a:latin typeface="黑体" panose="02010609060101010101" charset="-122"/>
                <a:ea typeface="黑体" panose="02010609060101010101" charset="-122"/>
              </a:rPr>
              <a:t>能力：</a:t>
            </a:r>
            <a:r>
              <a:rPr lang="zh-CN" altLang="en-US" sz="1800">
                <a:solidFill>
                  <a:schemeClr val="tx1"/>
                </a:solidFill>
                <a:latin typeface="黑体" panose="02010609060101010101" charset="-122"/>
                <a:ea typeface="黑体" panose="02010609060101010101" charset="-122"/>
                <a:cs typeface="Noto Sans SC" panose="020B0200000000000000" charset="-122"/>
              </a:rPr>
              <a:t>代码具备扩展能力，如新增游戏角色、道具、规则时，无需大幅修改原有代码</a:t>
            </a:r>
            <a:r>
              <a:rPr lang="zh-CN" altLang="en-US" sz="1800">
                <a:solidFill>
                  <a:schemeClr val="tx1"/>
                </a:solidFill>
                <a:latin typeface="黑体" panose="02010609060101010101" charset="-122"/>
                <a:ea typeface="黑体" panose="02010609060101010101" charset="-122"/>
                <a:cs typeface="Noto Sans SC" panose="020B0200000000000000" charset="-122"/>
              </a:rPr>
              <a:t>。</a:t>
            </a:r>
            <a:endParaRPr lang="zh-CN" altLang="en-US" sz="1800">
              <a:solidFill>
                <a:schemeClr val="tx1"/>
              </a:solidFill>
              <a:latin typeface="黑体" panose="02010609060101010101" charset="-122"/>
              <a:ea typeface="黑体" panose="02010609060101010101" charset="-122"/>
              <a:cs typeface="Noto Sans SC" panose="020B0200000000000000" charset="-122"/>
            </a:endParaRPr>
          </a:p>
          <a:p>
            <a:pPr marL="285750" indent="-285750" algn="l">
              <a:lnSpc>
                <a:spcPct val="125000"/>
              </a:lnSpc>
              <a:buFont typeface="Arial" panose="020B0604020202020204" pitchFamily="34" charset="0"/>
              <a:buChar char="•"/>
              <a:defRPr/>
            </a:pPr>
            <a:r>
              <a:rPr lang="zh-CN" altLang="en-US" sz="1800" b="1">
                <a:solidFill>
                  <a:schemeClr val="tx1"/>
                </a:solidFill>
                <a:latin typeface="黑体" panose="02010609060101010101" charset="-122"/>
                <a:ea typeface="黑体" panose="02010609060101010101" charset="-122"/>
              </a:rPr>
              <a:t>异常处理：</a:t>
            </a:r>
            <a:r>
              <a:rPr lang="zh-CN" altLang="en-US" sz="1800">
                <a:solidFill>
                  <a:schemeClr val="tx1"/>
                </a:solidFill>
                <a:latin typeface="黑体" panose="02010609060101010101" charset="-122"/>
                <a:ea typeface="黑体" panose="02010609060101010101" charset="-122"/>
                <a:cs typeface="Noto Sans SC" panose="020B0200000000000000" charset="-122"/>
              </a:rPr>
              <a:t>针对游戏运行中的常见异常，如边界碰撞、输入非法、资源加载失败等，添加合理的异常处理逻辑。</a:t>
            </a:r>
            <a:endParaRPr lang="zh-CN" altLang="en-US" sz="1800">
              <a:solidFill>
                <a:schemeClr val="tx1"/>
              </a:solidFill>
              <a:latin typeface="黑体" panose="02010609060101010101" charset="-122"/>
              <a:ea typeface="黑体" panose="02010609060101010101" charset="-122"/>
              <a:cs typeface="Noto Sans SC" panose="020B0200000000000000"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762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D1B2A"/>
                </a:solidFill>
                <a:latin typeface="黑体" panose="02010609060101010101" charset="-122"/>
                <a:ea typeface="黑体" panose="02010609060101010101" charset="-122"/>
                <a:cs typeface="Noto Sans SC" panose="020B0200000000000000" charset="-122"/>
                <a:sym typeface="Noto Sans SC" panose="020B0200000000000000" charset="-122"/>
              </a:rPr>
              <a:t>课程</a:t>
            </a:r>
            <a:r>
              <a:rPr lang="zh-CN" altLang="en-US" sz="3600" b="1" i="0" u="none" strike="noStrike">
                <a:solidFill>
                  <a:srgbClr val="0D1B2A"/>
                </a:solidFill>
                <a:latin typeface="黑体" panose="02010609060101010101" charset="-122"/>
                <a:ea typeface="黑体" panose="02010609060101010101" charset="-122"/>
                <a:cs typeface="Noto Sans SC" panose="020B0200000000000000" charset="-122"/>
                <a:sym typeface="Noto Sans SC" panose="020B0200000000000000" charset="-122"/>
              </a:rPr>
              <a:t>安排</a:t>
            </a:r>
            <a:endParaRPr lang="zh-CN" altLang="en-US" sz="3600" b="1" i="0" u="none" strike="noStrike">
              <a:solidFill>
                <a:srgbClr val="0D1B2A"/>
              </a:solidFill>
              <a:latin typeface="黑体" panose="02010609060101010101" charset="-122"/>
              <a:ea typeface="黑体" panose="02010609060101010101" charset="-122"/>
              <a:cs typeface="Noto Sans SC" panose="020B0200000000000000" charset="-122"/>
              <a:sym typeface="Noto Sans SC" panose="020B0200000000000000" charset="-122"/>
            </a:endParaRPr>
          </a:p>
        </p:txBody>
      </p:sp>
      <p:cxnSp>
        <p:nvCxnSpPr>
          <p:cNvPr id="3" name="Connector 3"/>
          <p:cNvCxnSpPr/>
          <p:nvPr/>
        </p:nvCxnSpPr>
        <p:spPr>
          <a:xfrm rot="-4092">
            <a:off x="762004" y="1212850"/>
            <a:ext cx="10668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20" name="AutoShape 4"/>
          <p:cNvSpPr/>
          <p:nvPr>
            <p:custDataLst>
              <p:tags r:id="rId1"/>
            </p:custDataLst>
          </p:nvPr>
        </p:nvSpPr>
        <p:spPr>
          <a:xfrm>
            <a:off x="762000" y="1651000"/>
            <a:ext cx="5080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2000" b="1" i="0" u="none" strike="noStrike">
                <a:solidFill>
                  <a:srgbClr val="0D1B2A"/>
                </a:solidFill>
                <a:latin typeface="黑体" panose="02010609060101010101" charset="-122"/>
                <a:ea typeface="黑体" panose="02010609060101010101" charset="-122"/>
                <a:cs typeface="Noto Sans SC" panose="020B0200000000000000" charset="-122"/>
                <a:sym typeface="Noto Sans SC" panose="020B0200000000000000" charset="-122"/>
              </a:rPr>
              <a:t>时间</a:t>
            </a:r>
            <a:r>
              <a:rPr lang="zh-CN" altLang="en-US" sz="2000" b="1" i="0" u="none" strike="noStrike">
                <a:solidFill>
                  <a:srgbClr val="0D1B2A"/>
                </a:solidFill>
                <a:latin typeface="黑体" panose="02010609060101010101" charset="-122"/>
                <a:ea typeface="黑体" panose="02010609060101010101" charset="-122"/>
                <a:cs typeface="Noto Sans SC" panose="020B0200000000000000" charset="-122"/>
                <a:sym typeface="Noto Sans SC" panose="020B0200000000000000" charset="-122"/>
              </a:rPr>
              <a:t>安排</a:t>
            </a:r>
            <a:endParaRPr lang="zh-CN" altLang="en-US" sz="2000" b="1" i="0" u="none" strike="noStrike">
              <a:solidFill>
                <a:srgbClr val="0D1B2A"/>
              </a:solidFill>
              <a:latin typeface="黑体" panose="02010609060101010101" charset="-122"/>
              <a:ea typeface="黑体" panose="02010609060101010101" charset="-122"/>
              <a:cs typeface="Noto Sans SC" panose="020B0200000000000000" charset="-122"/>
              <a:sym typeface="Noto Sans SC" panose="020B0200000000000000" charset="-122"/>
            </a:endParaRPr>
          </a:p>
        </p:txBody>
      </p:sp>
      <p:sp>
        <p:nvSpPr>
          <p:cNvPr id="21" name="AutoShape 5"/>
          <p:cNvSpPr/>
          <p:nvPr>
            <p:custDataLst>
              <p:tags r:id="rId2"/>
            </p:custDataLst>
          </p:nvPr>
        </p:nvSpPr>
        <p:spPr>
          <a:xfrm>
            <a:off x="762000" y="2159000"/>
            <a:ext cx="10058400" cy="1788160"/>
          </a:xfrm>
          <a:prstGeom prst="rect">
            <a:avLst/>
          </a:prstGeom>
          <a:noFill/>
          <a:ln w="12700" cap="flat" cmpd="sng">
            <a:noFill/>
            <a:prstDash val="solid"/>
            <a:round/>
          </a:ln>
        </p:spPr>
        <p:txBody>
          <a:bodyPr vert="horz" wrap="square" lIns="0" tIns="0" rIns="0" bIns="0" rtlCol="0" anchor="t" anchorCtr="0"/>
          <a:lstStyle/>
          <a:p>
            <a:pPr marL="285750" indent="-285750" algn="l">
              <a:lnSpc>
                <a:spcPct val="125000"/>
              </a:lnSpc>
              <a:buFont typeface="Arial" panose="020B0604020202020204" pitchFamily="34" charset="0"/>
              <a:buChar char="•"/>
              <a:defRPr/>
            </a:pPr>
            <a:r>
              <a:rPr lang="en-US" altLang="zh-CN" sz="1800" b="1" i="0" u="none" strike="noStrike">
                <a:solidFill>
                  <a:schemeClr val="tx1"/>
                </a:solidFill>
                <a:latin typeface="黑体" panose="02010609060101010101" charset="-122"/>
                <a:ea typeface="黑体" panose="02010609060101010101" charset="-122"/>
                <a:sym typeface="Noto Sans SC" panose="020B0200000000000000" charset="-122"/>
              </a:rPr>
              <a:t>Day1</a:t>
            </a:r>
            <a:r>
              <a:rPr lang="zh-CN" altLang="en-US" sz="1800" b="1" i="0" u="none" strike="noStrike">
                <a:solidFill>
                  <a:schemeClr val="tx1"/>
                </a:solidFill>
                <a:latin typeface="黑体" panose="02010609060101010101" charset="-122"/>
                <a:ea typeface="黑体" panose="02010609060101010101" charset="-122"/>
                <a:sym typeface="Noto Sans SC" panose="020B0200000000000000" charset="-122"/>
              </a:rPr>
              <a:t>：</a:t>
            </a:r>
            <a:r>
              <a:rPr lang="zh-CN" altLang="en-US" sz="1800" b="0" i="0" u="none" strike="noStrike">
                <a:solidFill>
                  <a:schemeClr val="tx1"/>
                </a:solidFill>
                <a:latin typeface="黑体" panose="02010609060101010101" charset="-122"/>
                <a:ea typeface="黑体" panose="02010609060101010101" charset="-122"/>
                <a:cs typeface="Noto Sans SC" panose="020B0200000000000000" charset="-122"/>
                <a:sym typeface="Noto Sans SC" panose="020B0200000000000000" charset="-122"/>
              </a:rPr>
              <a:t>选题</a:t>
            </a:r>
            <a:r>
              <a:rPr lang="en-US" altLang="zh-CN" sz="1800" b="0" i="0" u="none" strike="noStrike">
                <a:solidFill>
                  <a:schemeClr val="tx1"/>
                </a:solidFill>
                <a:latin typeface="黑体" panose="02010609060101010101" charset="-122"/>
                <a:ea typeface="黑体" panose="02010609060101010101" charset="-122"/>
                <a:cs typeface="Noto Sans SC" panose="020B0200000000000000" charset="-122"/>
                <a:sym typeface="Noto Sans SC" panose="020B0200000000000000" charset="-122"/>
              </a:rPr>
              <a:t>+</a:t>
            </a:r>
            <a:r>
              <a:rPr lang="zh-CN" altLang="en-US" sz="1800" b="0" i="0" u="none" strike="noStrike">
                <a:solidFill>
                  <a:schemeClr val="tx1"/>
                </a:solidFill>
                <a:latin typeface="黑体" panose="02010609060101010101" charset="-122"/>
                <a:ea typeface="黑体" panose="02010609060101010101" charset="-122"/>
                <a:cs typeface="Noto Sans SC" panose="020B0200000000000000" charset="-122"/>
                <a:sym typeface="Noto Sans SC" panose="020B0200000000000000" charset="-122"/>
              </a:rPr>
              <a:t>自主学习，提交《游戏选型说明》</a:t>
            </a:r>
            <a:r>
              <a:rPr lang="en-US" sz="1800" b="0" i="0" u="none" strike="noStrike">
                <a:solidFill>
                  <a:schemeClr val="tx1"/>
                </a:solidFill>
                <a:latin typeface="黑体" panose="02010609060101010101" charset="-122"/>
                <a:ea typeface="黑体" panose="02010609060101010101" charset="-122"/>
                <a:cs typeface="Noto Sans SC" panose="020B0200000000000000" charset="-122"/>
                <a:sym typeface="Noto Sans SC" panose="020B0200000000000000" charset="-122"/>
              </a:rPr>
              <a:t>。</a:t>
            </a:r>
            <a:endParaRPr lang="en-US" sz="1800" b="0" i="0" u="none" strike="noStrike">
              <a:solidFill>
                <a:schemeClr val="tx1"/>
              </a:solidFill>
              <a:latin typeface="黑体" panose="02010609060101010101" charset="-122"/>
              <a:ea typeface="黑体" panose="02010609060101010101" charset="-122"/>
              <a:cs typeface="Noto Sans SC" panose="020B0200000000000000" charset="-122"/>
              <a:sym typeface="Noto Sans SC" panose="020B0200000000000000" charset="-122"/>
            </a:endParaRPr>
          </a:p>
          <a:p>
            <a:pPr marL="285750" indent="-285750" algn="l">
              <a:lnSpc>
                <a:spcPct val="125000"/>
              </a:lnSpc>
              <a:buFont typeface="Arial" panose="020B0604020202020204" pitchFamily="34" charset="0"/>
              <a:buChar char="•"/>
              <a:defRPr/>
            </a:pPr>
            <a:r>
              <a:rPr lang="en-US" altLang="zh-CN" sz="1800" b="1">
                <a:solidFill>
                  <a:schemeClr val="tx1"/>
                </a:solidFill>
                <a:latin typeface="黑体" panose="02010609060101010101" charset="-122"/>
                <a:ea typeface="黑体" panose="02010609060101010101" charset="-122"/>
              </a:rPr>
              <a:t>Day2</a:t>
            </a:r>
            <a:r>
              <a:rPr lang="zh-CN" altLang="en-US" sz="1800" b="1">
                <a:solidFill>
                  <a:schemeClr val="tx1"/>
                </a:solidFill>
                <a:latin typeface="黑体" panose="02010609060101010101" charset="-122"/>
                <a:ea typeface="黑体" panose="02010609060101010101" charset="-122"/>
              </a:rPr>
              <a:t>：</a:t>
            </a:r>
            <a:r>
              <a:rPr lang="zh-CN" altLang="en-US" sz="1800">
                <a:solidFill>
                  <a:schemeClr val="tx1"/>
                </a:solidFill>
                <a:latin typeface="黑体" panose="02010609060101010101" charset="-122"/>
                <a:ea typeface="黑体" panose="02010609060101010101" charset="-122"/>
                <a:cs typeface="Noto Sans SC" panose="020B0200000000000000" charset="-122"/>
              </a:rPr>
              <a:t>游戏设计，完成设计方案初稿</a:t>
            </a:r>
            <a:r>
              <a:rPr lang="zh-CN" altLang="en-US" sz="1800">
                <a:solidFill>
                  <a:schemeClr val="tx1"/>
                </a:solidFill>
                <a:latin typeface="黑体" panose="02010609060101010101" charset="-122"/>
                <a:ea typeface="黑体" panose="02010609060101010101" charset="-122"/>
                <a:cs typeface="Noto Sans SC" panose="020B0200000000000000" charset="-122"/>
              </a:rPr>
              <a:t>。</a:t>
            </a:r>
            <a:endParaRPr lang="zh-CN" altLang="en-US" sz="1800">
              <a:solidFill>
                <a:schemeClr val="tx1"/>
              </a:solidFill>
              <a:latin typeface="黑体" panose="02010609060101010101" charset="-122"/>
              <a:ea typeface="黑体" panose="02010609060101010101" charset="-122"/>
              <a:cs typeface="Noto Sans SC" panose="020B0200000000000000" charset="-122"/>
            </a:endParaRPr>
          </a:p>
          <a:p>
            <a:pPr marL="285750" indent="-285750" algn="l">
              <a:lnSpc>
                <a:spcPct val="125000"/>
              </a:lnSpc>
              <a:buFont typeface="Arial" panose="020B0604020202020204" pitchFamily="34" charset="0"/>
              <a:buChar char="•"/>
              <a:defRPr/>
            </a:pPr>
            <a:r>
              <a:rPr lang="en-US" altLang="zh-CN" sz="1800" b="1">
                <a:solidFill>
                  <a:schemeClr val="tx1"/>
                </a:solidFill>
                <a:latin typeface="黑体" panose="02010609060101010101" charset="-122"/>
                <a:ea typeface="黑体" panose="02010609060101010101" charset="-122"/>
              </a:rPr>
              <a:t>Day3</a:t>
            </a:r>
            <a:r>
              <a:rPr lang="zh-CN" altLang="en-US" sz="1800" b="1">
                <a:solidFill>
                  <a:schemeClr val="tx1"/>
                </a:solidFill>
                <a:latin typeface="黑体" panose="02010609060101010101" charset="-122"/>
                <a:ea typeface="黑体" panose="02010609060101010101" charset="-122"/>
              </a:rPr>
              <a:t>：</a:t>
            </a:r>
            <a:r>
              <a:rPr lang="zh-CN" altLang="en-US" sz="1800">
                <a:solidFill>
                  <a:schemeClr val="tx1"/>
                </a:solidFill>
                <a:latin typeface="黑体" panose="02010609060101010101" charset="-122"/>
                <a:ea typeface="黑体" panose="02010609060101010101" charset="-122"/>
                <a:cs typeface="Noto Sans SC" panose="020B0200000000000000" charset="-122"/>
              </a:rPr>
              <a:t>编码实现与测试</a:t>
            </a:r>
            <a:r>
              <a:rPr lang="zh-CN" altLang="en-US" sz="1800">
                <a:solidFill>
                  <a:schemeClr val="tx1"/>
                </a:solidFill>
                <a:latin typeface="黑体" panose="02010609060101010101" charset="-122"/>
                <a:ea typeface="黑体" panose="02010609060101010101" charset="-122"/>
                <a:cs typeface="Noto Sans SC" panose="020B0200000000000000" charset="-122"/>
              </a:rPr>
              <a:t>。</a:t>
            </a:r>
            <a:endParaRPr lang="zh-CN" altLang="en-US" sz="1800">
              <a:solidFill>
                <a:schemeClr val="tx1"/>
              </a:solidFill>
              <a:latin typeface="黑体" panose="02010609060101010101" charset="-122"/>
              <a:ea typeface="黑体" panose="02010609060101010101" charset="-122"/>
              <a:cs typeface="Noto Sans SC" panose="020B0200000000000000" charset="-122"/>
            </a:endParaRPr>
          </a:p>
          <a:p>
            <a:pPr marL="285750" indent="-285750" algn="l">
              <a:lnSpc>
                <a:spcPct val="125000"/>
              </a:lnSpc>
              <a:buFont typeface="Arial" panose="020B0604020202020204" pitchFamily="34" charset="0"/>
              <a:buChar char="•"/>
              <a:defRPr/>
            </a:pPr>
            <a:r>
              <a:rPr lang="en-US" altLang="zh-CN" sz="1800" b="1">
                <a:solidFill>
                  <a:schemeClr val="tx1"/>
                </a:solidFill>
                <a:latin typeface="黑体" panose="02010609060101010101" charset="-122"/>
                <a:ea typeface="黑体" panose="02010609060101010101" charset="-122"/>
                <a:cs typeface="Noto Sans SC" panose="020B0200000000000000" charset="-122"/>
              </a:rPr>
              <a:t>Day4</a:t>
            </a:r>
            <a:r>
              <a:rPr lang="zh-CN" altLang="en-US" sz="1800" b="1">
                <a:solidFill>
                  <a:schemeClr val="tx1"/>
                </a:solidFill>
                <a:latin typeface="黑体" panose="02010609060101010101" charset="-122"/>
                <a:ea typeface="黑体" panose="02010609060101010101" charset="-122"/>
                <a:cs typeface="Noto Sans SC" panose="020B0200000000000000" charset="-122"/>
              </a:rPr>
              <a:t>：</a:t>
            </a:r>
            <a:r>
              <a:rPr lang="zh-CN" altLang="en-US" sz="1800">
                <a:solidFill>
                  <a:schemeClr val="tx1"/>
                </a:solidFill>
                <a:latin typeface="黑体" panose="02010609060101010101" charset="-122"/>
                <a:ea typeface="黑体" panose="02010609060101010101" charset="-122"/>
                <a:cs typeface="Noto Sans SC" panose="020B0200000000000000" charset="-122"/>
              </a:rPr>
              <a:t>优化代码，撰写课程设计报告</a:t>
            </a:r>
            <a:endParaRPr lang="zh-CN" altLang="en-US" sz="1800">
              <a:solidFill>
                <a:schemeClr val="tx1"/>
              </a:solidFill>
              <a:latin typeface="黑体" panose="02010609060101010101" charset="-122"/>
              <a:ea typeface="黑体" panose="02010609060101010101" charset="-122"/>
              <a:cs typeface="Noto Sans SC" panose="020B0200000000000000" charset="-122"/>
            </a:endParaRPr>
          </a:p>
          <a:p>
            <a:pPr marL="285750" indent="-285750" algn="l">
              <a:lnSpc>
                <a:spcPct val="125000"/>
              </a:lnSpc>
              <a:buFont typeface="Arial" panose="020B0604020202020204" pitchFamily="34" charset="0"/>
              <a:buChar char="•"/>
              <a:defRPr/>
            </a:pPr>
            <a:r>
              <a:rPr lang="en-US" altLang="zh-CN" sz="1800" b="1">
                <a:solidFill>
                  <a:schemeClr val="tx1"/>
                </a:solidFill>
                <a:latin typeface="黑体" panose="02010609060101010101" charset="-122"/>
                <a:ea typeface="黑体" panose="02010609060101010101" charset="-122"/>
                <a:cs typeface="Noto Sans SC" panose="020B0200000000000000" charset="-122"/>
              </a:rPr>
              <a:t>Day5</a:t>
            </a:r>
            <a:r>
              <a:rPr lang="zh-CN" altLang="en-US" sz="1800" b="1">
                <a:solidFill>
                  <a:schemeClr val="tx1"/>
                </a:solidFill>
                <a:latin typeface="黑体" panose="02010609060101010101" charset="-122"/>
                <a:ea typeface="黑体" panose="02010609060101010101" charset="-122"/>
                <a:cs typeface="Noto Sans SC" panose="020B0200000000000000" charset="-122"/>
              </a:rPr>
              <a:t>：</a:t>
            </a:r>
            <a:r>
              <a:rPr lang="zh-CN" altLang="en-US" sz="1800">
                <a:solidFill>
                  <a:schemeClr val="tx1"/>
                </a:solidFill>
                <a:latin typeface="黑体" panose="02010609060101010101" charset="-122"/>
                <a:ea typeface="黑体" panose="02010609060101010101" charset="-122"/>
                <a:cs typeface="Noto Sans SC" panose="020B0200000000000000" charset="-122"/>
              </a:rPr>
              <a:t>提交所有材料，答辩</a:t>
            </a:r>
            <a:endParaRPr lang="zh-CN" altLang="en-US" sz="1800">
              <a:solidFill>
                <a:schemeClr val="tx1"/>
              </a:solidFill>
              <a:latin typeface="黑体" panose="02010609060101010101" charset="-122"/>
              <a:ea typeface="黑体" panose="02010609060101010101" charset="-122"/>
              <a:cs typeface="Noto Sans SC" panose="020B0200000000000000" charset="-122"/>
            </a:endParaRPr>
          </a:p>
        </p:txBody>
      </p:sp>
      <p:sp>
        <p:nvSpPr>
          <p:cNvPr id="22" name="AutoShape 6"/>
          <p:cNvSpPr/>
          <p:nvPr>
            <p:custDataLst>
              <p:tags r:id="rId3"/>
            </p:custDataLst>
          </p:nvPr>
        </p:nvSpPr>
        <p:spPr>
          <a:xfrm>
            <a:off x="762000" y="3994150"/>
            <a:ext cx="5080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2000" b="1" i="0" u="none" strike="noStrike">
                <a:solidFill>
                  <a:srgbClr val="0D1B2A"/>
                </a:solidFill>
                <a:latin typeface="黑体" panose="02010609060101010101" charset="-122"/>
                <a:ea typeface="黑体" panose="02010609060101010101" charset="-122"/>
                <a:cs typeface="Noto Sans SC" panose="020B0200000000000000" charset="-122"/>
                <a:sym typeface="Noto Sans SC" panose="020B0200000000000000" charset="-122"/>
              </a:rPr>
              <a:t>交付</a:t>
            </a:r>
            <a:endParaRPr lang="zh-CN" altLang="en-US" sz="2000" b="1" i="0" u="none" strike="noStrike">
              <a:solidFill>
                <a:srgbClr val="0D1B2A"/>
              </a:solidFill>
              <a:latin typeface="黑体" panose="02010609060101010101" charset="-122"/>
              <a:ea typeface="黑体" panose="02010609060101010101" charset="-122"/>
              <a:cs typeface="Noto Sans SC" panose="020B0200000000000000" charset="-122"/>
              <a:sym typeface="Noto Sans SC" panose="020B0200000000000000" charset="-122"/>
            </a:endParaRPr>
          </a:p>
        </p:txBody>
      </p:sp>
      <p:sp>
        <p:nvSpPr>
          <p:cNvPr id="30" name="AutoShape 5"/>
          <p:cNvSpPr/>
          <p:nvPr>
            <p:custDataLst>
              <p:tags r:id="rId4"/>
            </p:custDataLst>
          </p:nvPr>
        </p:nvSpPr>
        <p:spPr>
          <a:xfrm>
            <a:off x="762000" y="4469765"/>
            <a:ext cx="10058400" cy="1339850"/>
          </a:xfrm>
          <a:prstGeom prst="rect">
            <a:avLst/>
          </a:prstGeom>
          <a:noFill/>
          <a:ln w="12700" cap="flat" cmpd="sng">
            <a:noFill/>
            <a:prstDash val="solid"/>
            <a:round/>
          </a:ln>
        </p:spPr>
        <p:txBody>
          <a:bodyPr vert="horz" wrap="square" lIns="0" tIns="0" rIns="0" bIns="0" rtlCol="0" anchor="t" anchorCtr="0"/>
          <a:lstStyle/>
          <a:p>
            <a:pPr marL="285750" indent="-285750" algn="l">
              <a:lnSpc>
                <a:spcPct val="125000"/>
              </a:lnSpc>
              <a:buFont typeface="Arial" panose="020B0604020202020204" pitchFamily="34" charset="0"/>
              <a:buChar char="•"/>
              <a:defRPr/>
            </a:pPr>
            <a:r>
              <a:rPr lang="zh-CN" altLang="en-US" sz="1800" b="1" i="0" u="none" strike="noStrike">
                <a:solidFill>
                  <a:schemeClr val="tx1"/>
                </a:solidFill>
                <a:latin typeface="黑体" panose="02010609060101010101" charset="-122"/>
                <a:ea typeface="黑体" panose="02010609060101010101" charset="-122"/>
                <a:sym typeface="Noto Sans SC" panose="020B0200000000000000" charset="-122"/>
              </a:rPr>
              <a:t>源代码：</a:t>
            </a:r>
            <a:r>
              <a:rPr lang="zh-CN" altLang="en-US" sz="1800" b="0" i="0" u="none" strike="noStrike">
                <a:solidFill>
                  <a:schemeClr val="tx1"/>
                </a:solidFill>
                <a:latin typeface="黑体" panose="02010609060101010101" charset="-122"/>
                <a:ea typeface="黑体" panose="02010609060101010101" charset="-122"/>
                <a:cs typeface="Noto Sans SC" panose="020B0200000000000000" charset="-122"/>
                <a:sym typeface="Noto Sans SC" panose="020B0200000000000000" charset="-122"/>
              </a:rPr>
              <a:t>可直接运行的完整工程代码，需标注</a:t>
            </a:r>
            <a:r>
              <a:rPr lang="en-US" altLang="zh-CN" sz="1800" b="0" i="0" u="none" strike="noStrike">
                <a:solidFill>
                  <a:schemeClr val="tx1"/>
                </a:solidFill>
                <a:latin typeface="黑体" panose="02010609060101010101" charset="-122"/>
                <a:ea typeface="黑体" panose="02010609060101010101" charset="-122"/>
                <a:cs typeface="Noto Sans SC" panose="020B0200000000000000" charset="-122"/>
                <a:sym typeface="Noto Sans SC" panose="020B0200000000000000" charset="-122"/>
              </a:rPr>
              <a:t>“AI</a:t>
            </a:r>
            <a:r>
              <a:rPr lang="zh-CN" altLang="en-US" sz="1800" b="0" i="0" u="none" strike="noStrike">
                <a:solidFill>
                  <a:schemeClr val="tx1"/>
                </a:solidFill>
                <a:latin typeface="黑体" panose="02010609060101010101" charset="-122"/>
                <a:ea typeface="黑体" panose="02010609060101010101" charset="-122"/>
                <a:cs typeface="Noto Sans SC" panose="020B0200000000000000" charset="-122"/>
                <a:sym typeface="Noto Sans SC" panose="020B0200000000000000" charset="-122"/>
              </a:rPr>
              <a:t>辅助痕迹</a:t>
            </a:r>
            <a:r>
              <a:rPr lang="en-US" altLang="zh-CN" sz="1800" b="0" i="0" u="none" strike="noStrike">
                <a:solidFill>
                  <a:schemeClr val="tx1"/>
                </a:solidFill>
                <a:latin typeface="黑体" panose="02010609060101010101" charset="-122"/>
                <a:ea typeface="黑体" panose="02010609060101010101" charset="-122"/>
                <a:cs typeface="Noto Sans SC" panose="020B0200000000000000" charset="-122"/>
                <a:sym typeface="Noto Sans SC" panose="020B0200000000000000" charset="-122"/>
              </a:rPr>
              <a:t>”</a:t>
            </a:r>
            <a:r>
              <a:rPr lang="zh-CN" altLang="en-US" sz="1800" b="0" i="0" u="none" strike="noStrike">
                <a:solidFill>
                  <a:schemeClr val="tx1"/>
                </a:solidFill>
                <a:latin typeface="黑体" panose="02010609060101010101" charset="-122"/>
                <a:ea typeface="黑体" panose="02010609060101010101" charset="-122"/>
                <a:cs typeface="Noto Sans SC" panose="020B0200000000000000" charset="-122"/>
                <a:sym typeface="Noto Sans SC" panose="020B0200000000000000" charset="-122"/>
              </a:rPr>
              <a:t>。如</a:t>
            </a:r>
            <a:r>
              <a:rPr lang="en-US" altLang="zh-CN" sz="1800" b="0" i="0" u="none" strike="noStrike">
                <a:solidFill>
                  <a:schemeClr val="tx1"/>
                </a:solidFill>
                <a:latin typeface="黑体" panose="02010609060101010101" charset="-122"/>
                <a:ea typeface="黑体" panose="02010609060101010101" charset="-122"/>
                <a:cs typeface="Noto Sans SC" panose="020B0200000000000000" charset="-122"/>
                <a:sym typeface="Noto Sans SC" panose="020B0200000000000000" charset="-122"/>
              </a:rPr>
              <a:t>“</a:t>
            </a:r>
            <a:r>
              <a:rPr lang="zh-CN" altLang="en-US" sz="1800" b="0" i="0" u="none" strike="noStrike">
                <a:solidFill>
                  <a:schemeClr val="tx1"/>
                </a:solidFill>
                <a:latin typeface="黑体" panose="02010609060101010101" charset="-122"/>
                <a:ea typeface="黑体" panose="02010609060101010101" charset="-122"/>
                <a:cs typeface="Noto Sans SC" panose="020B0200000000000000" charset="-122"/>
                <a:sym typeface="Noto Sans SC" panose="020B0200000000000000" charset="-122"/>
              </a:rPr>
              <a:t>此处参考</a:t>
            </a:r>
            <a:r>
              <a:rPr lang="en-US" altLang="zh-CN" sz="1800" b="0" i="0" u="none" strike="noStrike">
                <a:solidFill>
                  <a:schemeClr val="tx1"/>
                </a:solidFill>
                <a:latin typeface="黑体" panose="02010609060101010101" charset="-122"/>
                <a:ea typeface="黑体" panose="02010609060101010101" charset="-122"/>
                <a:cs typeface="Noto Sans SC" panose="020B0200000000000000" charset="-122"/>
                <a:sym typeface="Noto Sans SC" panose="020B0200000000000000" charset="-122"/>
              </a:rPr>
              <a:t>AI</a:t>
            </a:r>
            <a:r>
              <a:rPr lang="zh-CN" altLang="en-US" sz="1800" b="0" i="0" u="none" strike="noStrike">
                <a:solidFill>
                  <a:schemeClr val="tx1"/>
                </a:solidFill>
                <a:latin typeface="黑体" panose="02010609060101010101" charset="-122"/>
                <a:ea typeface="黑体" panose="02010609060101010101" charset="-122"/>
                <a:cs typeface="Noto Sans SC" panose="020B0200000000000000" charset="-122"/>
                <a:sym typeface="Noto Sans SC" panose="020B0200000000000000" charset="-122"/>
              </a:rPr>
              <a:t>生成的碰撞检测代码，我修改了</a:t>
            </a:r>
            <a:r>
              <a:rPr lang="en-US" altLang="zh-CN" sz="1800" b="0" i="0" u="none" strike="noStrike">
                <a:solidFill>
                  <a:schemeClr val="tx1"/>
                </a:solidFill>
                <a:latin typeface="黑体" panose="02010609060101010101" charset="-122"/>
                <a:ea typeface="黑体" panose="02010609060101010101" charset="-122"/>
                <a:cs typeface="Noto Sans SC" panose="020B0200000000000000" charset="-122"/>
                <a:sym typeface="Noto Sans SC" panose="020B0200000000000000" charset="-122"/>
              </a:rPr>
              <a:t>XXX</a:t>
            </a:r>
            <a:r>
              <a:rPr lang="zh-CN" altLang="en-US" sz="1800" b="0" i="0" u="none" strike="noStrike">
                <a:solidFill>
                  <a:schemeClr val="tx1"/>
                </a:solidFill>
                <a:latin typeface="黑体" panose="02010609060101010101" charset="-122"/>
                <a:ea typeface="黑体" panose="02010609060101010101" charset="-122"/>
                <a:cs typeface="Noto Sans SC" panose="020B0200000000000000" charset="-122"/>
                <a:sym typeface="Noto Sans SC" panose="020B0200000000000000" charset="-122"/>
              </a:rPr>
              <a:t>逻辑以符合封装原则</a:t>
            </a:r>
            <a:r>
              <a:rPr lang="en-US" altLang="zh-CN" sz="1800" b="0" i="0" u="none" strike="noStrike">
                <a:solidFill>
                  <a:schemeClr val="tx1"/>
                </a:solidFill>
                <a:latin typeface="黑体" panose="02010609060101010101" charset="-122"/>
                <a:ea typeface="黑体" panose="02010609060101010101" charset="-122"/>
                <a:cs typeface="Noto Sans SC" panose="020B0200000000000000" charset="-122"/>
                <a:sym typeface="Noto Sans SC" panose="020B0200000000000000" charset="-122"/>
              </a:rPr>
              <a:t>”</a:t>
            </a:r>
            <a:r>
              <a:rPr lang="en-US" sz="1800" b="0" i="0" u="none" strike="noStrike">
                <a:solidFill>
                  <a:schemeClr val="tx1"/>
                </a:solidFill>
                <a:latin typeface="黑体" panose="02010609060101010101" charset="-122"/>
                <a:ea typeface="黑体" panose="02010609060101010101" charset="-122"/>
                <a:cs typeface="Noto Sans SC" panose="020B0200000000000000" charset="-122"/>
                <a:sym typeface="Noto Sans SC" panose="020B0200000000000000" charset="-122"/>
              </a:rPr>
              <a:t>。</a:t>
            </a:r>
            <a:endParaRPr lang="en-US" sz="1800" b="0" i="0" u="none" strike="noStrike">
              <a:solidFill>
                <a:schemeClr val="tx1"/>
              </a:solidFill>
              <a:latin typeface="黑体" panose="02010609060101010101" charset="-122"/>
              <a:ea typeface="黑体" panose="02010609060101010101" charset="-122"/>
              <a:cs typeface="Noto Sans SC" panose="020B0200000000000000" charset="-122"/>
              <a:sym typeface="Noto Sans SC" panose="020B0200000000000000" charset="-122"/>
            </a:endParaRPr>
          </a:p>
          <a:p>
            <a:pPr marL="285750" indent="-285750" algn="l">
              <a:lnSpc>
                <a:spcPct val="125000"/>
              </a:lnSpc>
              <a:buFont typeface="Arial" panose="020B0604020202020204" pitchFamily="34" charset="0"/>
              <a:buChar char="•"/>
              <a:defRPr/>
            </a:pPr>
            <a:r>
              <a:rPr lang="zh-CN" altLang="en-US" sz="1800" b="1">
                <a:solidFill>
                  <a:schemeClr val="tx1"/>
                </a:solidFill>
                <a:latin typeface="黑体" panose="02010609060101010101" charset="-122"/>
                <a:ea typeface="黑体" panose="02010609060101010101" charset="-122"/>
              </a:rPr>
              <a:t>课程</a:t>
            </a:r>
            <a:r>
              <a:rPr lang="zh-CN" altLang="en-US" sz="1800" b="1">
                <a:solidFill>
                  <a:schemeClr val="tx1"/>
                </a:solidFill>
                <a:latin typeface="黑体" panose="02010609060101010101" charset="-122"/>
                <a:ea typeface="黑体" panose="02010609060101010101" charset="-122"/>
              </a:rPr>
              <a:t>设计报告：</a:t>
            </a:r>
            <a:r>
              <a:rPr lang="zh-CN" altLang="en-US" sz="1800">
                <a:solidFill>
                  <a:schemeClr val="tx1"/>
                </a:solidFill>
                <a:latin typeface="黑体" panose="02010609060101010101" charset="-122"/>
                <a:ea typeface="黑体" panose="02010609060101010101" charset="-122"/>
                <a:cs typeface="Noto Sans SC" panose="020B0200000000000000" charset="-122"/>
              </a:rPr>
              <a:t>报告提纲附后</a:t>
            </a:r>
            <a:r>
              <a:rPr lang="zh-CN" altLang="en-US" sz="1800">
                <a:solidFill>
                  <a:schemeClr val="tx1"/>
                </a:solidFill>
                <a:latin typeface="黑体" panose="02010609060101010101" charset="-122"/>
                <a:ea typeface="黑体" panose="02010609060101010101" charset="-122"/>
                <a:cs typeface="Noto Sans SC" panose="020B0200000000000000" charset="-122"/>
              </a:rPr>
              <a:t>。</a:t>
            </a:r>
            <a:endParaRPr lang="zh-CN" altLang="en-US" sz="1800">
              <a:solidFill>
                <a:schemeClr val="tx1"/>
              </a:solidFill>
              <a:latin typeface="黑体" panose="02010609060101010101" charset="-122"/>
              <a:ea typeface="黑体" panose="02010609060101010101" charset="-122"/>
              <a:cs typeface="Noto Sans SC" panose="020B0200000000000000" charset="-122"/>
            </a:endParaRPr>
          </a:p>
          <a:p>
            <a:pPr marL="285750" indent="-285750" algn="l">
              <a:lnSpc>
                <a:spcPct val="125000"/>
              </a:lnSpc>
              <a:buFont typeface="Arial" panose="020B0604020202020204" pitchFamily="34" charset="0"/>
              <a:buChar char="•"/>
              <a:defRPr/>
            </a:pPr>
            <a:r>
              <a:rPr lang="zh-CN" altLang="en-US" sz="1800" b="1">
                <a:solidFill>
                  <a:schemeClr val="tx1"/>
                </a:solidFill>
                <a:latin typeface="黑体" panose="02010609060101010101" charset="-122"/>
                <a:ea typeface="黑体" panose="02010609060101010101" charset="-122"/>
              </a:rPr>
              <a:t>游戏设计与实现介绍短视频：</a:t>
            </a:r>
            <a:r>
              <a:rPr lang="zh-CN" altLang="en-US" sz="1800">
                <a:solidFill>
                  <a:schemeClr val="tx1"/>
                </a:solidFill>
                <a:latin typeface="黑体" panose="02010609060101010101" charset="-122"/>
                <a:ea typeface="黑体" panose="02010609060101010101" charset="-122"/>
                <a:cs typeface="Noto Sans SC" panose="020B0200000000000000" charset="-122"/>
              </a:rPr>
              <a:t>短视频时长</a:t>
            </a:r>
            <a:r>
              <a:rPr lang="zh-CN" altLang="en-US" sz="1800">
                <a:solidFill>
                  <a:srgbClr val="C00000"/>
                </a:solidFill>
                <a:latin typeface="黑体" panose="02010609060101010101" charset="-122"/>
                <a:ea typeface="黑体" panose="02010609060101010101" charset="-122"/>
                <a:cs typeface="Noto Sans SC" panose="020B0200000000000000" charset="-122"/>
              </a:rPr>
              <a:t>不超过</a:t>
            </a:r>
            <a:r>
              <a:rPr lang="en-US" altLang="zh-CN" sz="1800">
                <a:solidFill>
                  <a:srgbClr val="C00000"/>
                </a:solidFill>
                <a:latin typeface="黑体" panose="02010609060101010101" charset="-122"/>
                <a:ea typeface="黑体" panose="02010609060101010101" charset="-122"/>
                <a:cs typeface="Noto Sans SC" panose="020B0200000000000000" charset="-122"/>
              </a:rPr>
              <a:t>10</a:t>
            </a:r>
            <a:r>
              <a:rPr lang="zh-CN" altLang="en-US" sz="1800">
                <a:solidFill>
                  <a:srgbClr val="C00000"/>
                </a:solidFill>
                <a:latin typeface="黑体" panose="02010609060101010101" charset="-122"/>
                <a:ea typeface="黑体" panose="02010609060101010101" charset="-122"/>
                <a:cs typeface="Noto Sans SC" panose="020B0200000000000000" charset="-122"/>
              </a:rPr>
              <a:t>分钟</a:t>
            </a:r>
            <a:r>
              <a:rPr lang="zh-CN" altLang="en-US" sz="1800">
                <a:solidFill>
                  <a:schemeClr val="tx1"/>
                </a:solidFill>
                <a:latin typeface="黑体" panose="02010609060101010101" charset="-122"/>
                <a:ea typeface="黑体" panose="02010609060101010101" charset="-122"/>
                <a:cs typeface="Noto Sans SC" panose="020B0200000000000000" charset="-122"/>
              </a:rPr>
              <a:t>。</a:t>
            </a:r>
            <a:endParaRPr lang="zh-CN" altLang="en-US" sz="1800">
              <a:solidFill>
                <a:schemeClr val="tx1"/>
              </a:solidFill>
              <a:latin typeface="黑体" panose="02010609060101010101" charset="-122"/>
              <a:ea typeface="黑体" panose="02010609060101010101" charset="-122"/>
              <a:cs typeface="Noto Sans SC" panose="020B0200000000000000"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7FA">
            <a:alpha val="100000"/>
          </a:srgbClr>
        </a:solidFill>
        <a:effectLst/>
      </p:bgPr>
    </p:bg>
    <p:spTree>
      <p:nvGrpSpPr>
        <p:cNvPr id="1" name=""/>
        <p:cNvGrpSpPr/>
        <p:nvPr/>
      </p:nvGrpSpPr>
      <p:grpSpPr>
        <a:xfrm>
          <a:off x="0" y="0"/>
          <a:ext cx="0" cy="0"/>
          <a:chOff x="0" y="0"/>
          <a:chExt cx="0" cy="0"/>
        </a:xfrm>
      </p:grpSpPr>
      <p:sp>
        <p:nvSpPr>
          <p:cNvPr id="4" name="AutoShape 4"/>
          <p:cNvSpPr/>
          <p:nvPr/>
        </p:nvSpPr>
        <p:spPr>
          <a:xfrm>
            <a:off x="0" y="2032000"/>
            <a:ext cx="12192000" cy="1397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96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endParaRPr lang="en-US" sz="96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5" name="Connector 5"/>
          <p:cNvCxnSpPr/>
          <p:nvPr/>
        </p:nvCxnSpPr>
        <p:spPr>
          <a:xfrm rot="-42969">
            <a:off x="5588040" y="3549650"/>
            <a:ext cx="1016000" cy="12700"/>
          </a:xfrm>
          <a:prstGeom prst="straightConnector1">
            <a:avLst/>
          </a:prstGeom>
          <a:solidFill>
            <a:srgbClr val="DEE0E3">
              <a:alpha val="100000"/>
            </a:srgbClr>
          </a:solidFill>
          <a:ln w="25400" cap="flat" cmpd="sng">
            <a:solidFill>
              <a:srgbClr val="A9C4EB">
                <a:alpha val="100000"/>
              </a:srgbClr>
            </a:solidFill>
            <a:prstDash val="solid"/>
            <a:round/>
            <a:headEnd type="none" w="lg" len="lg"/>
            <a:tailEnd type="none" w="lg" len="lg"/>
          </a:ln>
        </p:spPr>
      </p:cxnSp>
      <p:sp>
        <p:nvSpPr>
          <p:cNvPr id="6" name="AutoShape 6"/>
          <p:cNvSpPr/>
          <p:nvPr/>
        </p:nvSpPr>
        <p:spPr>
          <a:xfrm>
            <a:off x="0" y="3810000"/>
            <a:ext cx="1219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zh-CN" altLang="en-US" sz="28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面向对象设计模式</a:t>
            </a:r>
            <a:endParaRPr lang="zh-CN" altLang="en-US" sz="28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7620000" cy="558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D1B2A"/>
                </a:solidFill>
                <a:latin typeface="Noto Sans SC" panose="020B0200000000000000" charset="-122"/>
                <a:ea typeface="Noto Sans SC" panose="020B0200000000000000" charset="-122"/>
                <a:cs typeface="Noto Sans SC" panose="020B0200000000000000" charset="-122"/>
                <a:sym typeface="Noto Sans SC" panose="020B0200000000000000" charset="-122"/>
              </a:rPr>
              <a:t>什么是设计模式？</a:t>
            </a:r>
            <a:endParaRPr lang="en-US" sz="1100"/>
          </a:p>
        </p:txBody>
      </p:sp>
      <p:cxnSp>
        <p:nvCxnSpPr>
          <p:cNvPr id="3" name="Connector 3"/>
          <p:cNvCxnSpPr/>
          <p:nvPr/>
        </p:nvCxnSpPr>
        <p:spPr>
          <a:xfrm rot="-4092">
            <a:off x="762004" y="1263650"/>
            <a:ext cx="10668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62000" y="1778000"/>
            <a:ext cx="355600" cy="355600"/>
          </a:xfrm>
          <a:prstGeom prst="rect">
            <a:avLst/>
          </a:prstGeom>
        </p:spPr>
      </p:pic>
      <p:sp>
        <p:nvSpPr>
          <p:cNvPr id="5" name="AutoShape 5"/>
          <p:cNvSpPr/>
          <p:nvPr/>
        </p:nvSpPr>
        <p:spPr>
          <a:xfrm>
            <a:off x="1320800" y="1778000"/>
            <a:ext cx="4826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D1B2A"/>
                </a:solidFill>
                <a:latin typeface="Noto Sans SC" panose="020B0200000000000000" charset="-122"/>
                <a:ea typeface="Noto Sans SC" panose="020B0200000000000000" charset="-122"/>
                <a:cs typeface="Noto Sans SC" panose="020B0200000000000000" charset="-122"/>
                <a:sym typeface="Noto Sans SC" panose="020B0200000000000000" charset="-122"/>
              </a:rPr>
              <a:t>定义</a:t>
            </a:r>
            <a:endParaRPr lang="en-US" sz="1100"/>
          </a:p>
        </p:txBody>
      </p:sp>
      <p:sp>
        <p:nvSpPr>
          <p:cNvPr id="6" name="AutoShape 6"/>
          <p:cNvSpPr/>
          <p:nvPr/>
        </p:nvSpPr>
        <p:spPr>
          <a:xfrm>
            <a:off x="1320800" y="2260600"/>
            <a:ext cx="6894830" cy="8382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a:solidFill>
                  <a:srgbClr val="374151"/>
                </a:solidFill>
                <a:latin typeface="Noto Sans SC" panose="020B0200000000000000" charset="-122"/>
                <a:ea typeface="Noto Sans SC" panose="020B0200000000000000" charset="-122"/>
                <a:cs typeface="Noto Sans SC" panose="020B0200000000000000" charset="-122"/>
              </a:rPr>
              <a:t>设计模式（Design pattern）代表了最佳的实践，通常被有经验的面向对象的软件开发人员所采用。设计模式是软件开发人员在软件开发过程中面临的一般问题的解决方案。这些解决方案是众多软件开发人员经过相当长的一段时间的试验和错误总结出来的。</a:t>
            </a:r>
            <a:endParaRPr lang="en-US" sz="1400">
              <a:solidFill>
                <a:srgbClr val="374151"/>
              </a:solidFill>
              <a:latin typeface="Noto Sans SC" panose="020B0200000000000000" charset="-122"/>
              <a:ea typeface="Noto Sans SC" panose="020B0200000000000000" charset="-122"/>
              <a:cs typeface="Noto Sans SC" panose="020B0200000000000000" charset="-122"/>
            </a:endParaRPr>
          </a:p>
        </p:txBody>
      </p: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62000" y="3403600"/>
            <a:ext cx="355600" cy="355600"/>
          </a:xfrm>
          <a:prstGeom prst="rect">
            <a:avLst/>
          </a:prstGeom>
        </p:spPr>
      </p:pic>
      <p:sp>
        <p:nvSpPr>
          <p:cNvPr id="8" name="AutoShape 8"/>
          <p:cNvSpPr/>
          <p:nvPr/>
        </p:nvSpPr>
        <p:spPr>
          <a:xfrm>
            <a:off x="1320800" y="3403600"/>
            <a:ext cx="4826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D1B2A"/>
                </a:solidFill>
                <a:latin typeface="Noto Sans SC" panose="020B0200000000000000" charset="-122"/>
                <a:ea typeface="Noto Sans SC" panose="020B0200000000000000" charset="-122"/>
                <a:cs typeface="Noto Sans SC" panose="020B0200000000000000" charset="-122"/>
                <a:sym typeface="Noto Sans SC" panose="020B0200000000000000" charset="-122"/>
              </a:rPr>
              <a:t>目的</a:t>
            </a:r>
            <a:endParaRPr lang="en-US" sz="1100"/>
          </a:p>
        </p:txBody>
      </p:sp>
      <p:sp>
        <p:nvSpPr>
          <p:cNvPr id="9" name="AutoShape 9"/>
          <p:cNvSpPr/>
          <p:nvPr/>
        </p:nvSpPr>
        <p:spPr>
          <a:xfrm>
            <a:off x="1320800" y="3886200"/>
            <a:ext cx="4826000" cy="8382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为了可重用代码、让代码更容易被他人理解、保证代码的可靠性。</a:t>
            </a:r>
            <a:endParaRPr lang="en-US" sz="1100"/>
          </a:p>
        </p:txBody>
      </p:sp>
      <p:pic>
        <p:nvPicPr>
          <p:cNvPr id="10" name="Picture 1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62000" y="5029200"/>
            <a:ext cx="355600" cy="355600"/>
          </a:xfrm>
          <a:prstGeom prst="rect">
            <a:avLst/>
          </a:prstGeom>
        </p:spPr>
      </p:pic>
      <p:sp>
        <p:nvSpPr>
          <p:cNvPr id="11" name="AutoShape 11"/>
          <p:cNvSpPr/>
          <p:nvPr/>
        </p:nvSpPr>
        <p:spPr>
          <a:xfrm>
            <a:off x="1320800" y="5029200"/>
            <a:ext cx="4826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D1B2A"/>
                </a:solidFill>
                <a:latin typeface="Noto Sans SC" panose="020B0200000000000000" charset="-122"/>
                <a:ea typeface="Noto Sans SC" panose="020B0200000000000000" charset="-122"/>
                <a:cs typeface="Noto Sans SC" panose="020B0200000000000000" charset="-122"/>
                <a:sym typeface="Noto Sans SC" panose="020B0200000000000000" charset="-122"/>
              </a:rPr>
              <a:t>本质</a:t>
            </a:r>
            <a:endParaRPr lang="en-US" sz="1100"/>
          </a:p>
        </p:txBody>
      </p:sp>
      <p:sp>
        <p:nvSpPr>
          <p:cNvPr id="12" name="AutoShape 12"/>
          <p:cNvSpPr/>
          <p:nvPr/>
        </p:nvSpPr>
        <p:spPr>
          <a:xfrm>
            <a:off x="1320800" y="5511800"/>
            <a:ext cx="4826000" cy="5588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是面向对象设计原则的实际运用。</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13" name="AutoShape 2"/>
          <p:cNvSpPr/>
          <p:nvPr/>
        </p:nvSpPr>
        <p:spPr>
          <a:xfrm>
            <a:off x="762000" y="508000"/>
            <a:ext cx="7620000" cy="609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D1B2A"/>
                </a:solidFill>
                <a:latin typeface="Noto Sans SC" panose="020B0200000000000000" charset="-122"/>
                <a:ea typeface="Noto Sans SC" panose="020B0200000000000000" charset="-122"/>
                <a:cs typeface="Noto Sans SC" panose="020B0200000000000000" charset="-122"/>
                <a:sym typeface="Noto Sans SC" panose="020B0200000000000000" charset="-122"/>
              </a:rPr>
              <a:t>设计模式六大原则</a:t>
            </a:r>
            <a:endParaRPr lang="en-US" sz="1100"/>
          </a:p>
        </p:txBody>
      </p:sp>
      <p:cxnSp>
        <p:nvCxnSpPr>
          <p:cNvPr id="14" name="Connector 3"/>
          <p:cNvCxnSpPr/>
          <p:nvPr/>
        </p:nvCxnSpPr>
        <p:spPr>
          <a:xfrm rot="-34376">
            <a:off x="762032" y="1314450"/>
            <a:ext cx="1270000" cy="12700"/>
          </a:xfrm>
          <a:prstGeom prst="straightConnector1">
            <a:avLst/>
          </a:prstGeom>
          <a:solidFill>
            <a:srgbClr val="DEE0E3">
              <a:alpha val="100000"/>
            </a:srgbClr>
          </a:solidFill>
          <a:ln w="38100" cap="flat" cmpd="sng">
            <a:solidFill>
              <a:srgbClr val="A9C4EB">
                <a:alpha val="100000"/>
              </a:srgbClr>
            </a:solidFill>
            <a:prstDash val="solid"/>
            <a:round/>
            <a:headEnd type="none" w="lg" len="lg"/>
            <a:tailEnd type="none" w="lg" len="lg"/>
          </a:ln>
        </p:spPr>
      </p:cxnSp>
      <p:sp>
        <p:nvSpPr>
          <p:cNvPr id="15" name="AutoShape 4"/>
          <p:cNvSpPr/>
          <p:nvPr/>
        </p:nvSpPr>
        <p:spPr>
          <a:xfrm>
            <a:off x="762000" y="1778000"/>
            <a:ext cx="10668000" cy="1016000"/>
          </a:xfrm>
          <a:prstGeom prst="rect">
            <a:avLst/>
          </a:prstGeom>
          <a:noFill/>
          <a:ln w="12700" cap="flat" cmpd="sng">
            <a:noFill/>
            <a:prstDash val="solid"/>
            <a:round/>
          </a:ln>
        </p:spPr>
        <p:txBody>
          <a:bodyPr vert="horz" wrap="square" lIns="0" tIns="0" rIns="0" bIns="0" rtlCol="0" anchor="t" anchorCtr="0"/>
          <a:lstStyle/>
          <a:p>
            <a:pPr indent="0" algn="l">
              <a:lnSpc>
                <a:spcPct val="133000"/>
              </a:lnSpc>
              <a:defRPr/>
            </a:pPr>
            <a:r>
              <a:rPr lang="en-US" sz="1600" b="0" i="0" u="none" strike="noStrike">
                <a:solidFill>
                  <a:srgbClr val="0D1B2A"/>
                </a:solidFill>
                <a:latin typeface="Noto Sans SC" panose="020B0200000000000000" charset="-122"/>
                <a:ea typeface="Noto Sans SC" panose="020B0200000000000000" charset="-122"/>
                <a:cs typeface="Noto Sans SC" panose="020B0200000000000000" charset="-122"/>
                <a:sym typeface="Noto Sans SC" panose="020B0200000000000000" charset="-122"/>
              </a:rPr>
              <a:t>在学习具体的设计模式之前，我们需要先掌握面向对象设计的六大基本原则。这些原则是设计模式的基石，它们指导我们如何编写高质量、易于维护和扩展的代码。</a:t>
            </a:r>
            <a:endParaRPr lang="en-US" sz="1100"/>
          </a:p>
        </p:txBody>
      </p:sp>
      <p:pic>
        <p:nvPicPr>
          <p:cNvPr id="16"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62000" y="3048000"/>
            <a:ext cx="304800" cy="304800"/>
          </a:xfrm>
          <a:prstGeom prst="rect">
            <a:avLst/>
          </a:prstGeom>
        </p:spPr>
      </p:pic>
      <p:sp>
        <p:nvSpPr>
          <p:cNvPr id="17" name="AutoShape 6"/>
          <p:cNvSpPr/>
          <p:nvPr/>
        </p:nvSpPr>
        <p:spPr>
          <a:xfrm>
            <a:off x="1270000" y="3048000"/>
            <a:ext cx="482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D1B2A"/>
                </a:solidFill>
                <a:latin typeface="Noto Sans SC" panose="020B0200000000000000" charset="-122"/>
                <a:ea typeface="Noto Sans SC" panose="020B0200000000000000" charset="-122"/>
                <a:cs typeface="Noto Sans SC" panose="020B0200000000000000" charset="-122"/>
                <a:sym typeface="Noto Sans SC" panose="020B0200000000000000" charset="-122"/>
              </a:rPr>
              <a:t>单一职责原则 (SRP)</a:t>
            </a:r>
            <a:endParaRPr lang="en-US" sz="1100"/>
          </a:p>
        </p:txBody>
      </p:sp>
      <p:sp>
        <p:nvSpPr>
          <p:cNvPr id="18" name="AutoShape 7"/>
          <p:cNvSpPr/>
          <p:nvPr/>
        </p:nvSpPr>
        <p:spPr>
          <a:xfrm>
            <a:off x="1270000" y="3429000"/>
            <a:ext cx="4826000" cy="508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一个类应该只有一个引起它变化的原因。</a:t>
            </a:r>
            <a:endParaRPr lang="en-US" sz="1100"/>
          </a:p>
        </p:txBody>
      </p:sp>
      <p:pic>
        <p:nvPicPr>
          <p:cNvPr id="19"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62000" y="4191000"/>
            <a:ext cx="304800" cy="304800"/>
          </a:xfrm>
          <a:prstGeom prst="rect">
            <a:avLst/>
          </a:prstGeom>
        </p:spPr>
      </p:pic>
      <p:sp>
        <p:nvSpPr>
          <p:cNvPr id="20" name="AutoShape 9"/>
          <p:cNvSpPr/>
          <p:nvPr/>
        </p:nvSpPr>
        <p:spPr>
          <a:xfrm>
            <a:off x="1270000" y="4191000"/>
            <a:ext cx="482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D1B2A"/>
                </a:solidFill>
                <a:latin typeface="Noto Sans SC" panose="020B0200000000000000" charset="-122"/>
                <a:ea typeface="Noto Sans SC" panose="020B0200000000000000" charset="-122"/>
                <a:cs typeface="Noto Sans SC" panose="020B0200000000000000" charset="-122"/>
                <a:sym typeface="Noto Sans SC" panose="020B0200000000000000" charset="-122"/>
              </a:rPr>
              <a:t>开放-封闭原则 (OCP)</a:t>
            </a:r>
            <a:endParaRPr lang="en-US" sz="1100"/>
          </a:p>
        </p:txBody>
      </p:sp>
      <p:sp>
        <p:nvSpPr>
          <p:cNvPr id="21" name="AutoShape 10"/>
          <p:cNvSpPr/>
          <p:nvPr/>
        </p:nvSpPr>
        <p:spPr>
          <a:xfrm>
            <a:off x="1270000" y="4572000"/>
            <a:ext cx="4826000" cy="508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对扩展开放，对修改关闭。</a:t>
            </a:r>
            <a:endParaRPr lang="en-US" sz="1100"/>
          </a:p>
        </p:txBody>
      </p:sp>
      <p:pic>
        <p:nvPicPr>
          <p:cNvPr id="22" name="Picture 11"/>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62000" y="5334000"/>
            <a:ext cx="304800" cy="304800"/>
          </a:xfrm>
          <a:prstGeom prst="rect">
            <a:avLst/>
          </a:prstGeom>
        </p:spPr>
      </p:pic>
      <p:sp>
        <p:nvSpPr>
          <p:cNvPr id="23" name="AutoShape 12"/>
          <p:cNvSpPr/>
          <p:nvPr/>
        </p:nvSpPr>
        <p:spPr>
          <a:xfrm>
            <a:off x="1270000" y="5334000"/>
            <a:ext cx="482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D1B2A"/>
                </a:solidFill>
                <a:latin typeface="Noto Sans SC" panose="020B0200000000000000" charset="-122"/>
                <a:ea typeface="Noto Sans SC" panose="020B0200000000000000" charset="-122"/>
                <a:cs typeface="Noto Sans SC" panose="020B0200000000000000" charset="-122"/>
                <a:sym typeface="Noto Sans SC" panose="020B0200000000000000" charset="-122"/>
              </a:rPr>
              <a:t>里氏替换原则 (LSP)</a:t>
            </a:r>
            <a:endParaRPr lang="en-US" sz="1100"/>
          </a:p>
        </p:txBody>
      </p:sp>
      <p:sp>
        <p:nvSpPr>
          <p:cNvPr id="24" name="AutoShape 13"/>
          <p:cNvSpPr/>
          <p:nvPr/>
        </p:nvSpPr>
        <p:spPr>
          <a:xfrm>
            <a:off x="1270000" y="5715000"/>
            <a:ext cx="4826000" cy="508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子类必须能够替换掉它们的父类。</a:t>
            </a:r>
            <a:endParaRPr lang="en-US" sz="1100"/>
          </a:p>
        </p:txBody>
      </p:sp>
      <p:cxnSp>
        <p:nvCxnSpPr>
          <p:cNvPr id="25" name="Connector 14"/>
          <p:cNvCxnSpPr/>
          <p:nvPr/>
        </p:nvCxnSpPr>
        <p:spPr>
          <a:xfrm rot="5385053">
            <a:off x="4635500" y="4502164"/>
            <a:ext cx="2921000" cy="12700"/>
          </a:xfrm>
          <a:prstGeom prst="straightConnector1">
            <a:avLst/>
          </a:prstGeom>
          <a:solidFill>
            <a:srgbClr val="DEE0E3">
              <a:alpha val="100000"/>
            </a:srgbClr>
          </a:solidFill>
          <a:ln w="12700" cap="flat" cmpd="sng">
            <a:solidFill>
              <a:srgbClr val="E5E7EB">
                <a:alpha val="100000"/>
              </a:srgbClr>
            </a:solidFill>
            <a:prstDash val="dash"/>
            <a:round/>
            <a:headEnd type="none" w="med" len="med"/>
            <a:tailEnd type="none" w="med" len="med"/>
          </a:ln>
        </p:spPr>
      </p:cxnSp>
      <p:pic>
        <p:nvPicPr>
          <p:cNvPr id="26" name="Picture 15"/>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604000" y="3048000"/>
            <a:ext cx="304800" cy="304800"/>
          </a:xfrm>
          <a:prstGeom prst="rect">
            <a:avLst/>
          </a:prstGeom>
        </p:spPr>
      </p:pic>
      <p:sp>
        <p:nvSpPr>
          <p:cNvPr id="27" name="AutoShape 16"/>
          <p:cNvSpPr/>
          <p:nvPr/>
        </p:nvSpPr>
        <p:spPr>
          <a:xfrm>
            <a:off x="7112000" y="3048000"/>
            <a:ext cx="482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D1B2A"/>
                </a:solidFill>
                <a:latin typeface="Noto Sans SC" panose="020B0200000000000000" charset="-122"/>
                <a:ea typeface="Noto Sans SC" panose="020B0200000000000000" charset="-122"/>
                <a:cs typeface="Noto Sans SC" panose="020B0200000000000000" charset="-122"/>
                <a:sym typeface="Noto Sans SC" panose="020B0200000000000000" charset="-122"/>
              </a:rPr>
              <a:t>依赖倒置原则 (DIP)</a:t>
            </a:r>
            <a:endParaRPr lang="en-US" sz="1100"/>
          </a:p>
        </p:txBody>
      </p:sp>
      <p:sp>
        <p:nvSpPr>
          <p:cNvPr id="28" name="AutoShape 17"/>
          <p:cNvSpPr/>
          <p:nvPr/>
        </p:nvSpPr>
        <p:spPr>
          <a:xfrm>
            <a:off x="7112000" y="3429000"/>
            <a:ext cx="4826000" cy="508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依赖于抽象，而不是具体实现。</a:t>
            </a:r>
            <a:endParaRPr lang="en-US" sz="1100"/>
          </a:p>
        </p:txBody>
      </p:sp>
      <p:pic>
        <p:nvPicPr>
          <p:cNvPr id="29" name="Picture 18"/>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604000" y="4191000"/>
            <a:ext cx="304800" cy="304800"/>
          </a:xfrm>
          <a:prstGeom prst="rect">
            <a:avLst/>
          </a:prstGeom>
        </p:spPr>
      </p:pic>
      <p:sp>
        <p:nvSpPr>
          <p:cNvPr id="30" name="AutoShape 19"/>
          <p:cNvSpPr/>
          <p:nvPr/>
        </p:nvSpPr>
        <p:spPr>
          <a:xfrm>
            <a:off x="7112000" y="4191000"/>
            <a:ext cx="482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D1B2A"/>
                </a:solidFill>
                <a:latin typeface="Noto Sans SC" panose="020B0200000000000000" charset="-122"/>
                <a:ea typeface="Noto Sans SC" panose="020B0200000000000000" charset="-122"/>
                <a:cs typeface="Noto Sans SC" panose="020B0200000000000000" charset="-122"/>
                <a:sym typeface="Noto Sans SC" panose="020B0200000000000000" charset="-122"/>
              </a:rPr>
              <a:t>接口隔离原则 (ISP)</a:t>
            </a:r>
            <a:endParaRPr lang="en-US" sz="1100"/>
          </a:p>
        </p:txBody>
      </p:sp>
      <p:sp>
        <p:nvSpPr>
          <p:cNvPr id="31" name="AutoShape 20"/>
          <p:cNvSpPr/>
          <p:nvPr/>
        </p:nvSpPr>
        <p:spPr>
          <a:xfrm>
            <a:off x="7112000" y="4572000"/>
            <a:ext cx="4826000" cy="508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使用多个专门的接口，而不是单一的总接口。</a:t>
            </a:r>
            <a:endParaRPr lang="en-US" sz="1100"/>
          </a:p>
        </p:txBody>
      </p:sp>
      <p:pic>
        <p:nvPicPr>
          <p:cNvPr id="32" name="Picture 21"/>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604000" y="5334000"/>
            <a:ext cx="304800" cy="304800"/>
          </a:xfrm>
          <a:prstGeom prst="rect">
            <a:avLst/>
          </a:prstGeom>
        </p:spPr>
      </p:pic>
      <p:sp>
        <p:nvSpPr>
          <p:cNvPr id="33" name="AutoShape 22"/>
          <p:cNvSpPr/>
          <p:nvPr/>
        </p:nvSpPr>
        <p:spPr>
          <a:xfrm>
            <a:off x="7112000" y="5334000"/>
            <a:ext cx="482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D1B2A"/>
                </a:solidFill>
                <a:latin typeface="Noto Sans SC" panose="020B0200000000000000" charset="-122"/>
                <a:ea typeface="Noto Sans SC" panose="020B0200000000000000" charset="-122"/>
                <a:cs typeface="Noto Sans SC" panose="020B0200000000000000" charset="-122"/>
                <a:sym typeface="Noto Sans SC" panose="020B0200000000000000" charset="-122"/>
              </a:rPr>
              <a:t>迪米特法则 (LoD)</a:t>
            </a:r>
            <a:endParaRPr lang="en-US" sz="1100"/>
          </a:p>
        </p:txBody>
      </p:sp>
      <p:sp>
        <p:nvSpPr>
          <p:cNvPr id="34" name="AutoShape 23"/>
          <p:cNvSpPr/>
          <p:nvPr/>
        </p:nvSpPr>
        <p:spPr>
          <a:xfrm>
            <a:off x="7112000" y="5715000"/>
            <a:ext cx="4826000" cy="508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一个对象应该对其他对象保持最少的了解。</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3200" b="1" i="0" u="none" strike="noStrike">
                <a:solidFill>
                  <a:srgbClr val="0D1B2A"/>
                </a:solidFill>
                <a:latin typeface="Noto Sans SC" panose="020B0200000000000000" charset="-122"/>
                <a:ea typeface="Noto Sans SC" panose="020B0200000000000000" charset="-122"/>
                <a:cs typeface="Noto Sans SC" panose="020B0200000000000000" charset="-122"/>
                <a:sym typeface="Noto Sans SC" panose="020B0200000000000000" charset="-122"/>
              </a:rPr>
              <a:t>单一职责原则</a:t>
            </a:r>
            <a:r>
              <a:rPr lang="en-US" sz="3200" b="1" i="0" u="none" strike="noStrike">
                <a:solidFill>
                  <a:srgbClr val="0D1B2A"/>
                </a:solidFill>
                <a:latin typeface="Noto Sans SC" panose="020B0200000000000000" charset="-122"/>
                <a:ea typeface="Noto Sans SC" panose="020B0200000000000000" charset="-122"/>
                <a:cs typeface="Noto Sans SC" panose="020B0200000000000000" charset="-122"/>
                <a:sym typeface="Noto Sans SC" panose="020B0200000000000000" charset="-122"/>
              </a:rPr>
              <a:t> (Single </a:t>
            </a:r>
            <a:r>
              <a:rPr lang="en-US" sz="3200" b="1" i="0" u="none" strike="noStrike">
                <a:solidFill>
                  <a:srgbClr val="0D1B2A"/>
                </a:solidFill>
                <a:latin typeface="Noto Sans SC" panose="020B0200000000000000" charset="-122"/>
                <a:ea typeface="Noto Sans SC" panose="020B0200000000000000" charset="-122"/>
                <a:cs typeface="Noto Sans SC" panose="020B0200000000000000" charset="-122"/>
                <a:sym typeface="Noto Sans SC" panose="020B0200000000000000" charset="-122"/>
              </a:rPr>
              <a:t>Responsibility Principle)</a:t>
            </a:r>
            <a:endParaRPr lang="en-US" sz="1100"/>
          </a:p>
        </p:txBody>
      </p:sp>
      <p:cxnSp>
        <p:nvCxnSpPr>
          <p:cNvPr id="3" name="Connector 3"/>
          <p:cNvCxnSpPr/>
          <p:nvPr/>
        </p:nvCxnSpPr>
        <p:spPr>
          <a:xfrm rot="-4092">
            <a:off x="762004" y="1212850"/>
            <a:ext cx="10668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pic>
        <p:nvPicPr>
          <p:cNvPr id="4" name="Picture 4"/>
          <p:cNvPicPr>
            <a:picLocks noChangeAspect="1"/>
          </p:cNvPicPr>
          <p:nvPr>
            <p:custDataLst>
              <p:tags r:id="rId1"/>
            </p:custDataLst>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62000" y="1651000"/>
            <a:ext cx="304800" cy="304800"/>
          </a:xfrm>
          <a:prstGeom prst="rect">
            <a:avLst/>
          </a:prstGeom>
        </p:spPr>
      </p:pic>
      <p:sp>
        <p:nvSpPr>
          <p:cNvPr id="5" name="AutoShape 5"/>
          <p:cNvSpPr/>
          <p:nvPr>
            <p:custDataLst>
              <p:tags r:id="rId4"/>
            </p:custDataLst>
          </p:nvPr>
        </p:nvSpPr>
        <p:spPr>
          <a:xfrm>
            <a:off x="1219200" y="1651000"/>
            <a:ext cx="482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D1B2A"/>
                </a:solidFill>
                <a:latin typeface="Noto Sans SC" panose="020B0200000000000000" charset="-122"/>
                <a:ea typeface="Noto Sans SC" panose="020B0200000000000000" charset="-122"/>
                <a:cs typeface="Noto Sans SC" panose="020B0200000000000000" charset="-122"/>
                <a:sym typeface="Noto Sans SC" panose="020B0200000000000000" charset="-122"/>
              </a:rPr>
              <a:t>定义</a:t>
            </a:r>
            <a:endParaRPr lang="en-US" sz="1100"/>
          </a:p>
        </p:txBody>
      </p:sp>
      <p:sp>
        <p:nvSpPr>
          <p:cNvPr id="6" name="AutoShape 6"/>
          <p:cNvSpPr/>
          <p:nvPr>
            <p:custDataLst>
              <p:tags r:id="rId5"/>
            </p:custDataLst>
          </p:nvPr>
        </p:nvSpPr>
        <p:spPr>
          <a:xfrm>
            <a:off x="1219200" y="2082800"/>
            <a:ext cx="4826000" cy="5588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a:solidFill>
                  <a:srgbClr val="374151"/>
                </a:solidFill>
                <a:latin typeface="Noto Sans SC" panose="020B0200000000000000" charset="-122"/>
                <a:ea typeface="Noto Sans SC" panose="020B0200000000000000" charset="-122"/>
                <a:cs typeface="Noto Sans SC" panose="020B0200000000000000" charset="-122"/>
              </a:rPr>
              <a:t>类或模块应仅有一个引起变化的原因</a:t>
            </a:r>
            <a:r>
              <a:rPr lang="zh-CN" altLang="en-US" sz="1400">
                <a:solidFill>
                  <a:srgbClr val="374151"/>
                </a:solidFill>
                <a:latin typeface="Noto Sans SC" panose="020B0200000000000000" charset="-122"/>
                <a:ea typeface="Noto Sans SC" panose="020B0200000000000000" charset="-122"/>
                <a:cs typeface="Noto Sans SC" panose="020B0200000000000000" charset="-122"/>
              </a:rPr>
              <a:t>。</a:t>
            </a:r>
            <a:endParaRPr lang="zh-CN" altLang="en-US" sz="1400">
              <a:solidFill>
                <a:srgbClr val="374151"/>
              </a:solidFill>
              <a:latin typeface="Noto Sans SC" panose="020B0200000000000000" charset="-122"/>
              <a:ea typeface="Noto Sans SC" panose="020B0200000000000000" charset="-122"/>
              <a:cs typeface="Noto Sans SC" panose="020B0200000000000000" charset="-122"/>
            </a:endParaRPr>
          </a:p>
        </p:txBody>
      </p:sp>
      <p:pic>
        <p:nvPicPr>
          <p:cNvPr id="7" name="Picture 7"/>
          <p:cNvPicPr>
            <a:picLocks noChangeAspect="1"/>
          </p:cNvPicPr>
          <p:nvPr>
            <p:custDataLst>
              <p:tags r:id="rId6"/>
            </p:custDataLst>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62000" y="3048000"/>
            <a:ext cx="304800" cy="304800"/>
          </a:xfrm>
          <a:prstGeom prst="rect">
            <a:avLst/>
          </a:prstGeom>
        </p:spPr>
      </p:pic>
      <p:sp>
        <p:nvSpPr>
          <p:cNvPr id="8" name="AutoShape 8"/>
          <p:cNvSpPr/>
          <p:nvPr>
            <p:custDataLst>
              <p:tags r:id="rId9"/>
            </p:custDataLst>
          </p:nvPr>
        </p:nvSpPr>
        <p:spPr>
          <a:xfrm>
            <a:off x="1219200" y="3048000"/>
            <a:ext cx="482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D1B2A"/>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核心思想</a:t>
            </a:r>
            <a:endParaRPr lang="en-US" sz="1100"/>
          </a:p>
        </p:txBody>
      </p:sp>
      <p:sp>
        <p:nvSpPr>
          <p:cNvPr id="9" name="AutoShape 9"/>
          <p:cNvSpPr/>
          <p:nvPr>
            <p:custDataLst>
              <p:tags r:id="rId10"/>
            </p:custDataLst>
          </p:nvPr>
        </p:nvSpPr>
        <p:spPr>
          <a:xfrm>
            <a:off x="1219200" y="3479800"/>
            <a:ext cx="4826000" cy="5588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zh-CN" alt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一个类只负责一项职责，避免多个职责耦合一起。当某一职责发生变化，不会影响到其他职责的</a:t>
            </a:r>
            <a:r>
              <a:rPr lang="zh-CN" alt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功能。</a:t>
            </a:r>
            <a:endParaRPr lang="zh-CN" alt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0" name="Picture 10"/>
          <p:cNvPicPr>
            <a:picLocks noChangeAspect="1"/>
          </p:cNvPicPr>
          <p:nvPr>
            <p:custDataLst>
              <p:tags r:id="rId11"/>
            </p:custDataLst>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762000" y="4445000"/>
            <a:ext cx="304800" cy="304800"/>
          </a:xfrm>
          <a:prstGeom prst="rect">
            <a:avLst/>
          </a:prstGeom>
        </p:spPr>
      </p:pic>
      <p:sp>
        <p:nvSpPr>
          <p:cNvPr id="11" name="AutoShape 11"/>
          <p:cNvSpPr/>
          <p:nvPr>
            <p:custDataLst>
              <p:tags r:id="rId14"/>
            </p:custDataLst>
          </p:nvPr>
        </p:nvSpPr>
        <p:spPr>
          <a:xfrm>
            <a:off x="1219200" y="4445000"/>
            <a:ext cx="482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D1B2A"/>
                </a:solidFill>
                <a:latin typeface="Noto Sans SC" panose="020B0200000000000000" charset="-122"/>
                <a:ea typeface="Noto Sans SC" panose="020B0200000000000000" charset="-122"/>
                <a:cs typeface="Noto Sans SC" panose="020B0200000000000000" charset="-122"/>
                <a:sym typeface="Noto Sans SC" panose="020B0200000000000000" charset="-122"/>
              </a:rPr>
              <a:t>意义</a:t>
            </a:r>
            <a:endParaRPr lang="en-US" sz="1100"/>
          </a:p>
        </p:txBody>
      </p:sp>
      <p:sp>
        <p:nvSpPr>
          <p:cNvPr id="12" name="AutoShape 12"/>
          <p:cNvSpPr/>
          <p:nvPr>
            <p:custDataLst>
              <p:tags r:id="rId15"/>
            </p:custDataLst>
          </p:nvPr>
        </p:nvSpPr>
        <p:spPr>
          <a:xfrm>
            <a:off x="1219200" y="4876800"/>
            <a:ext cx="4826000" cy="5588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zh-CN" altLang="en-US" sz="1400">
                <a:solidFill>
                  <a:srgbClr val="374151"/>
                </a:solidFill>
                <a:latin typeface="Noto Sans SC" panose="020B0200000000000000" charset="-122"/>
                <a:ea typeface="Noto Sans SC" panose="020B0200000000000000" charset="-122"/>
                <a:cs typeface="Noto Sans SC" panose="020B0200000000000000" charset="-122"/>
              </a:rPr>
              <a:t>降低系统复杂度，提高可维护性。</a:t>
            </a:r>
            <a:endParaRPr lang="zh-CN" altLang="en-US" sz="1400">
              <a:solidFill>
                <a:srgbClr val="374151"/>
              </a:solidFill>
              <a:latin typeface="Noto Sans SC" panose="020B0200000000000000" charset="-122"/>
              <a:ea typeface="Noto Sans SC" panose="020B0200000000000000" charset="-122"/>
              <a:cs typeface="Noto Sans SC" panose="020B0200000000000000" charset="-122"/>
            </a:endParaRPr>
          </a:p>
        </p:txBody>
      </p:sp>
      <p:pic>
        <p:nvPicPr>
          <p:cNvPr id="13" name="图片 12"/>
          <p:cNvPicPr>
            <a:picLocks noChangeAspect="1"/>
          </p:cNvPicPr>
          <p:nvPr/>
        </p:nvPicPr>
        <p:blipFill>
          <a:blip r:embed="rId16"/>
          <a:stretch>
            <a:fillRect/>
          </a:stretch>
        </p:blipFill>
        <p:spPr>
          <a:xfrm>
            <a:off x="6499860" y="2305050"/>
            <a:ext cx="5404485" cy="29083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7620000" cy="558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D1B2A"/>
                </a:solidFill>
                <a:latin typeface="Noto Sans SC" panose="020B0200000000000000" charset="-122"/>
                <a:ea typeface="Noto Sans SC" panose="020B0200000000000000" charset="-122"/>
                <a:cs typeface="Noto Sans SC" panose="020B0200000000000000" charset="-122"/>
                <a:sym typeface="Noto Sans SC" panose="020B0200000000000000" charset="-122"/>
              </a:rPr>
              <a:t>开闭原则 (Open Close Principle)</a:t>
            </a:r>
            <a:endParaRPr lang="en-US" sz="1100"/>
          </a:p>
        </p:txBody>
      </p:sp>
      <p:cxnSp>
        <p:nvCxnSpPr>
          <p:cNvPr id="3" name="Connector 3"/>
          <p:cNvCxnSpPr/>
          <p:nvPr/>
        </p:nvCxnSpPr>
        <p:spPr>
          <a:xfrm rot="-4092">
            <a:off x="762004" y="1263650"/>
            <a:ext cx="10668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62000" y="1778000"/>
            <a:ext cx="355600" cy="355600"/>
          </a:xfrm>
          <a:prstGeom prst="rect">
            <a:avLst/>
          </a:prstGeom>
        </p:spPr>
      </p:pic>
      <p:sp>
        <p:nvSpPr>
          <p:cNvPr id="5" name="AutoShape 5"/>
          <p:cNvSpPr/>
          <p:nvPr/>
        </p:nvSpPr>
        <p:spPr>
          <a:xfrm>
            <a:off x="1320800" y="1778000"/>
            <a:ext cx="4826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D1B2A"/>
                </a:solidFill>
                <a:latin typeface="Noto Sans SC" panose="020B0200000000000000" charset="-122"/>
                <a:ea typeface="Noto Sans SC" panose="020B0200000000000000" charset="-122"/>
                <a:cs typeface="Noto Sans SC" panose="020B0200000000000000" charset="-122"/>
                <a:sym typeface="Noto Sans SC" panose="020B0200000000000000" charset="-122"/>
              </a:rPr>
              <a:t>定义</a:t>
            </a:r>
            <a:endParaRPr lang="en-US" sz="1100"/>
          </a:p>
        </p:txBody>
      </p:sp>
      <p:sp>
        <p:nvSpPr>
          <p:cNvPr id="6" name="AutoShape 6"/>
          <p:cNvSpPr/>
          <p:nvPr/>
        </p:nvSpPr>
        <p:spPr>
          <a:xfrm>
            <a:off x="1320800" y="2235200"/>
            <a:ext cx="4826000" cy="5588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对扩展开放，对修改关闭。</a:t>
            </a:r>
            <a:endParaRPr lang="en-US" sz="1100"/>
          </a:p>
        </p:txBody>
      </p: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62000" y="3175000"/>
            <a:ext cx="355600" cy="355600"/>
          </a:xfrm>
          <a:prstGeom prst="rect">
            <a:avLst/>
          </a:prstGeom>
        </p:spPr>
      </p:pic>
      <p:sp>
        <p:nvSpPr>
          <p:cNvPr id="8" name="AutoShape 8"/>
          <p:cNvSpPr/>
          <p:nvPr/>
        </p:nvSpPr>
        <p:spPr>
          <a:xfrm>
            <a:off x="1320800" y="3175000"/>
            <a:ext cx="4826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D1B2A"/>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核心思想</a:t>
            </a:r>
            <a:endParaRPr lang="en-US" sz="1100"/>
          </a:p>
        </p:txBody>
      </p:sp>
      <p:sp>
        <p:nvSpPr>
          <p:cNvPr id="9" name="AutoShape 9"/>
          <p:cNvSpPr/>
          <p:nvPr/>
        </p:nvSpPr>
        <p:spPr>
          <a:xfrm>
            <a:off x="1320800" y="3632200"/>
            <a:ext cx="4826000" cy="5588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增加新功能时，通过增加新代码实现，而非修改已有代码。</a:t>
            </a:r>
            <a:endParaRPr lang="en-US" sz="1100"/>
          </a:p>
        </p:txBody>
      </p:sp>
      <p:pic>
        <p:nvPicPr>
          <p:cNvPr id="10" name="Picture 1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62000" y="4572000"/>
            <a:ext cx="355600" cy="355600"/>
          </a:xfrm>
          <a:prstGeom prst="rect">
            <a:avLst/>
          </a:prstGeom>
        </p:spPr>
      </p:pic>
      <p:sp>
        <p:nvSpPr>
          <p:cNvPr id="11" name="AutoShape 11"/>
          <p:cNvSpPr/>
          <p:nvPr/>
        </p:nvSpPr>
        <p:spPr>
          <a:xfrm>
            <a:off x="1320800" y="4572000"/>
            <a:ext cx="4826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D1B2A"/>
                </a:solidFill>
                <a:latin typeface="Noto Sans SC" panose="020B0200000000000000" charset="-122"/>
                <a:ea typeface="Noto Sans SC" panose="020B0200000000000000" charset="-122"/>
                <a:cs typeface="Noto Sans SC" panose="020B0200000000000000" charset="-122"/>
                <a:sym typeface="Noto Sans SC" panose="020B0200000000000000" charset="-122"/>
              </a:rPr>
              <a:t>实现方式</a:t>
            </a:r>
            <a:endParaRPr lang="en-US" sz="1100"/>
          </a:p>
        </p:txBody>
      </p:sp>
      <p:sp>
        <p:nvSpPr>
          <p:cNvPr id="12" name="AutoShape 12"/>
          <p:cNvSpPr/>
          <p:nvPr/>
        </p:nvSpPr>
        <p:spPr>
          <a:xfrm>
            <a:off x="1320800" y="5029200"/>
            <a:ext cx="4826000" cy="5588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主要通过抽象（Abstraction）和多态（Polymorphism）来实现。</a:t>
            </a:r>
            <a:endParaRPr lang="en-US" sz="1100"/>
          </a:p>
        </p:txBody>
      </p:sp>
      <p:pic>
        <p:nvPicPr>
          <p:cNvPr id="14" name="图片 13"/>
          <p:cNvPicPr>
            <a:picLocks noChangeAspect="1"/>
          </p:cNvPicPr>
          <p:nvPr/>
        </p:nvPicPr>
        <p:blipFill>
          <a:blip r:embed="rId7"/>
          <a:stretch>
            <a:fillRect/>
          </a:stretch>
        </p:blipFill>
        <p:spPr>
          <a:xfrm>
            <a:off x="6936740" y="2501900"/>
            <a:ext cx="4645660" cy="25273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0D1B2A"/>
                </a:solidFill>
                <a:latin typeface="Noto Sans SC" panose="020B0200000000000000" charset="-122"/>
                <a:ea typeface="Noto Sans SC" panose="020B0200000000000000" charset="-122"/>
                <a:cs typeface="Noto Sans SC" panose="020B0200000000000000" charset="-122"/>
                <a:sym typeface="Noto Sans SC" panose="020B0200000000000000" charset="-122"/>
              </a:rPr>
              <a:t>里氏代换原则 (Liskov Substitution Principle)</a:t>
            </a:r>
            <a:endParaRPr lang="en-US" sz="1100"/>
          </a:p>
        </p:txBody>
      </p:sp>
      <p:cxnSp>
        <p:nvCxnSpPr>
          <p:cNvPr id="3" name="Connector 3"/>
          <p:cNvCxnSpPr/>
          <p:nvPr/>
        </p:nvCxnSpPr>
        <p:spPr>
          <a:xfrm rot="-4092">
            <a:off x="762004" y="1212850"/>
            <a:ext cx="10668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5" name="AutoShape 5"/>
          <p:cNvSpPr/>
          <p:nvPr>
            <p:custDataLst>
              <p:tags r:id="rId1"/>
            </p:custDataLst>
          </p:nvPr>
        </p:nvSpPr>
        <p:spPr>
          <a:xfrm>
            <a:off x="1219200" y="1676400"/>
            <a:ext cx="482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D1B2A"/>
                </a:solidFill>
                <a:latin typeface="Noto Sans SC" panose="020B0200000000000000" charset="-122"/>
                <a:ea typeface="Noto Sans SC" panose="020B0200000000000000" charset="-122"/>
                <a:cs typeface="Noto Sans SC" panose="020B0200000000000000" charset="-122"/>
                <a:sym typeface="Noto Sans SC" panose="020B0200000000000000" charset="-122"/>
              </a:rPr>
              <a:t>定义</a:t>
            </a:r>
            <a:endParaRPr lang="en-US" sz="1100"/>
          </a:p>
        </p:txBody>
      </p:sp>
      <p:sp>
        <p:nvSpPr>
          <p:cNvPr id="6" name="AutoShape 6"/>
          <p:cNvSpPr/>
          <p:nvPr>
            <p:custDataLst>
              <p:tags r:id="rId2"/>
            </p:custDataLst>
          </p:nvPr>
        </p:nvSpPr>
        <p:spPr>
          <a:xfrm>
            <a:off x="1219200" y="2082800"/>
            <a:ext cx="4826000" cy="5588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任何基类可以出现的地方，子类一定可以出现。</a:t>
            </a:r>
            <a:endParaRPr lang="en-US" sz="1100"/>
          </a:p>
        </p:txBody>
      </p:sp>
      <p:sp>
        <p:nvSpPr>
          <p:cNvPr id="8" name="AutoShape 8"/>
          <p:cNvSpPr/>
          <p:nvPr>
            <p:custDataLst>
              <p:tags r:id="rId3"/>
            </p:custDataLst>
          </p:nvPr>
        </p:nvSpPr>
        <p:spPr>
          <a:xfrm>
            <a:off x="1219200" y="3073400"/>
            <a:ext cx="482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D1B2A"/>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核心思想</a:t>
            </a:r>
            <a:endParaRPr lang="en-US" sz="1100"/>
          </a:p>
        </p:txBody>
      </p:sp>
      <p:sp>
        <p:nvSpPr>
          <p:cNvPr id="9" name="AutoShape 9"/>
          <p:cNvSpPr/>
          <p:nvPr>
            <p:custDataLst>
              <p:tags r:id="rId4"/>
            </p:custDataLst>
          </p:nvPr>
        </p:nvSpPr>
        <p:spPr>
          <a:xfrm>
            <a:off x="1219200" y="3479800"/>
            <a:ext cx="4826000" cy="5588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子类必须能替换父类，且程序行为不变。</a:t>
            </a:r>
            <a:endParaRPr lang="en-US" sz="1100"/>
          </a:p>
        </p:txBody>
      </p:sp>
      <p:sp>
        <p:nvSpPr>
          <p:cNvPr id="11" name="AutoShape 11"/>
          <p:cNvSpPr/>
          <p:nvPr>
            <p:custDataLst>
              <p:tags r:id="rId5"/>
            </p:custDataLst>
          </p:nvPr>
        </p:nvSpPr>
        <p:spPr>
          <a:xfrm>
            <a:off x="1219200" y="4470400"/>
            <a:ext cx="482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D1B2A"/>
                </a:solidFill>
                <a:latin typeface="Noto Sans SC" panose="020B0200000000000000" charset="-122"/>
                <a:ea typeface="Noto Sans SC" panose="020B0200000000000000" charset="-122"/>
                <a:cs typeface="Noto Sans SC" panose="020B0200000000000000" charset="-122"/>
                <a:sym typeface="Noto Sans SC" panose="020B0200000000000000" charset="-122"/>
              </a:rPr>
              <a:t>意义</a:t>
            </a:r>
            <a:endParaRPr lang="en-US" sz="1100"/>
          </a:p>
        </p:txBody>
      </p:sp>
      <p:sp>
        <p:nvSpPr>
          <p:cNvPr id="12" name="AutoShape 12"/>
          <p:cNvSpPr/>
          <p:nvPr>
            <p:custDataLst>
              <p:tags r:id="rId6"/>
            </p:custDataLst>
          </p:nvPr>
        </p:nvSpPr>
        <p:spPr>
          <a:xfrm>
            <a:off x="1219200" y="4876800"/>
            <a:ext cx="4826000" cy="5588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确保继承复用的基础，保障代码的正确性与可维护性。</a:t>
            </a:r>
            <a:endParaRPr lang="en-US" sz="1100"/>
          </a:p>
        </p:txBody>
      </p:sp>
      <p:pic>
        <p:nvPicPr>
          <p:cNvPr id="16" name="Picture 4"/>
          <p:cNvPicPr>
            <a:picLocks noChangeAspect="1"/>
          </p:cNvPicPr>
          <p:nvPr>
            <p:custDataLst>
              <p:tags r:id="rId7"/>
            </p:custDataLst>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62000" y="1686560"/>
            <a:ext cx="304800" cy="304800"/>
          </a:xfrm>
          <a:prstGeom prst="rect">
            <a:avLst/>
          </a:prstGeom>
        </p:spPr>
      </p:pic>
      <p:pic>
        <p:nvPicPr>
          <p:cNvPr id="17" name="Picture 7"/>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62000" y="3108960"/>
            <a:ext cx="304800" cy="304800"/>
          </a:xfrm>
          <a:prstGeom prst="rect">
            <a:avLst/>
          </a:prstGeom>
        </p:spPr>
      </p:pic>
      <p:pic>
        <p:nvPicPr>
          <p:cNvPr id="18" name="Picture 10"/>
          <p:cNvPicPr>
            <a:picLocks noChangeAspect="1"/>
          </p:cNvPicPr>
          <p:nvPr>
            <p:custDataLst>
              <p:tags r:id="rId12"/>
            </p:custDataLst>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762000" y="4497070"/>
            <a:ext cx="304800" cy="3048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558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D1B2A"/>
                </a:solidFill>
                <a:latin typeface="Noto Sans SC" panose="020B0200000000000000" charset="-122"/>
                <a:ea typeface="Noto Sans SC" panose="020B0200000000000000" charset="-122"/>
                <a:cs typeface="Noto Sans SC" panose="020B0200000000000000" charset="-122"/>
                <a:sym typeface="Noto Sans SC" panose="020B0200000000000000" charset="-122"/>
              </a:rPr>
              <a:t>依赖倒转原则 (Dependence Inversion Principle)</a:t>
            </a:r>
            <a:endParaRPr lang="en-US" sz="1100"/>
          </a:p>
        </p:txBody>
      </p:sp>
      <p:cxnSp>
        <p:nvCxnSpPr>
          <p:cNvPr id="3" name="Connector 3"/>
          <p:cNvCxnSpPr/>
          <p:nvPr/>
        </p:nvCxnSpPr>
        <p:spPr>
          <a:xfrm rot="-4092">
            <a:off x="762004" y="1212850"/>
            <a:ext cx="10668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62000" y="1651000"/>
            <a:ext cx="304800" cy="304800"/>
          </a:xfrm>
          <a:prstGeom prst="rect">
            <a:avLst/>
          </a:prstGeom>
        </p:spPr>
      </p:pic>
      <p:sp>
        <p:nvSpPr>
          <p:cNvPr id="5" name="AutoShape 5"/>
          <p:cNvSpPr/>
          <p:nvPr/>
        </p:nvSpPr>
        <p:spPr>
          <a:xfrm>
            <a:off x="1219200" y="1651000"/>
            <a:ext cx="4826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D1B2A"/>
                </a:solidFill>
                <a:latin typeface="Noto Sans SC" panose="020B0200000000000000" charset="-122"/>
                <a:ea typeface="Noto Sans SC" panose="020B0200000000000000" charset="-122"/>
                <a:cs typeface="Noto Sans SC" panose="020B0200000000000000" charset="-122"/>
                <a:sym typeface="Noto Sans SC" panose="020B0200000000000000" charset="-122"/>
              </a:rPr>
              <a:t>定义</a:t>
            </a:r>
            <a:endParaRPr lang="en-US" sz="1100"/>
          </a:p>
        </p:txBody>
      </p:sp>
      <p:sp>
        <p:nvSpPr>
          <p:cNvPr id="6" name="AutoShape 6"/>
          <p:cNvSpPr/>
          <p:nvPr/>
        </p:nvSpPr>
        <p:spPr>
          <a:xfrm>
            <a:off x="1219200" y="2108200"/>
            <a:ext cx="4826000" cy="8382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高层模块不应该依赖低层模块，两者都应该依赖于抽象。抽象不应该依赖于细节，细节应该依赖于抽象。</a:t>
            </a:r>
            <a:endParaRPr lang="en-US" sz="1100"/>
          </a:p>
        </p:txBody>
      </p: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62000" y="3251200"/>
            <a:ext cx="304800" cy="304800"/>
          </a:xfrm>
          <a:prstGeom prst="rect">
            <a:avLst/>
          </a:prstGeom>
        </p:spPr>
      </p:pic>
      <p:sp>
        <p:nvSpPr>
          <p:cNvPr id="8" name="AutoShape 8"/>
          <p:cNvSpPr/>
          <p:nvPr/>
        </p:nvSpPr>
        <p:spPr>
          <a:xfrm>
            <a:off x="1219200" y="3251200"/>
            <a:ext cx="4826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D1B2A"/>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核心思想</a:t>
            </a:r>
            <a:endParaRPr lang="en-US" sz="1100"/>
          </a:p>
        </p:txBody>
      </p:sp>
      <p:sp>
        <p:nvSpPr>
          <p:cNvPr id="9" name="AutoShape 9"/>
          <p:cNvSpPr/>
          <p:nvPr/>
        </p:nvSpPr>
        <p:spPr>
          <a:xfrm>
            <a:off x="1219200" y="3708400"/>
            <a:ext cx="4826000" cy="5588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要面向接口编程，而不是面向实现编程。</a:t>
            </a:r>
            <a:endParaRPr lang="en-US" sz="1100"/>
          </a:p>
        </p:txBody>
      </p:sp>
      <p:pic>
        <p:nvPicPr>
          <p:cNvPr id="10" name="Picture 1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62000" y="4572000"/>
            <a:ext cx="304800" cy="304800"/>
          </a:xfrm>
          <a:prstGeom prst="rect">
            <a:avLst/>
          </a:prstGeom>
        </p:spPr>
      </p:pic>
      <p:sp>
        <p:nvSpPr>
          <p:cNvPr id="11" name="AutoShape 11"/>
          <p:cNvSpPr/>
          <p:nvPr/>
        </p:nvSpPr>
        <p:spPr>
          <a:xfrm>
            <a:off x="1219200" y="4572000"/>
            <a:ext cx="4826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D1B2A"/>
                </a:solidFill>
                <a:latin typeface="Noto Sans SC" panose="020B0200000000000000" charset="-122"/>
                <a:ea typeface="Noto Sans SC" panose="020B0200000000000000" charset="-122"/>
                <a:cs typeface="Noto Sans SC" panose="020B0200000000000000" charset="-122"/>
                <a:sym typeface="Noto Sans SC" panose="020B0200000000000000" charset="-122"/>
              </a:rPr>
              <a:t>实现方式</a:t>
            </a:r>
            <a:endParaRPr lang="en-US" sz="1100"/>
          </a:p>
        </p:txBody>
      </p:sp>
      <p:sp>
        <p:nvSpPr>
          <p:cNvPr id="12" name="AutoShape 12"/>
          <p:cNvSpPr/>
          <p:nvPr/>
        </p:nvSpPr>
        <p:spPr>
          <a:xfrm>
            <a:off x="1219200" y="5029200"/>
            <a:ext cx="4826000" cy="5588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通过接口或抽象类来定义规范，实现模块间的解耦。</a:t>
            </a:r>
            <a:endParaRPr lang="en-US" sz="1100"/>
          </a:p>
        </p:txBody>
      </p:sp>
      <p:pic>
        <p:nvPicPr>
          <p:cNvPr id="13" name="图片 12"/>
          <p:cNvPicPr>
            <a:picLocks noChangeAspect="1"/>
          </p:cNvPicPr>
          <p:nvPr/>
        </p:nvPicPr>
        <p:blipFill>
          <a:blip r:embed="rId7"/>
          <a:stretch>
            <a:fillRect/>
          </a:stretch>
        </p:blipFill>
        <p:spPr>
          <a:xfrm>
            <a:off x="7206615" y="2590165"/>
            <a:ext cx="4122420" cy="2228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558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0D1B2A"/>
                </a:solidFill>
                <a:latin typeface="Noto Sans SC" panose="020B0200000000000000" charset="-122"/>
                <a:ea typeface="Noto Sans SC" panose="020B0200000000000000" charset="-122"/>
                <a:cs typeface="Noto Sans SC" panose="020B0200000000000000" charset="-122"/>
                <a:sym typeface="Noto Sans SC" panose="020B0200000000000000" charset="-122"/>
              </a:rPr>
              <a:t>接口隔离原则 (Interface Segregation Principle)</a:t>
            </a:r>
            <a:endParaRPr lang="en-US" sz="1100"/>
          </a:p>
        </p:txBody>
      </p:sp>
      <p:cxnSp>
        <p:nvCxnSpPr>
          <p:cNvPr id="3" name="Connector 3"/>
          <p:cNvCxnSpPr/>
          <p:nvPr/>
        </p:nvCxnSpPr>
        <p:spPr>
          <a:xfrm rot="-4092">
            <a:off x="762004" y="1263650"/>
            <a:ext cx="10668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62000" y="1778000"/>
            <a:ext cx="304800" cy="304800"/>
          </a:xfrm>
          <a:prstGeom prst="rect">
            <a:avLst/>
          </a:prstGeom>
        </p:spPr>
      </p:pic>
      <p:sp>
        <p:nvSpPr>
          <p:cNvPr id="5" name="AutoShape 5"/>
          <p:cNvSpPr/>
          <p:nvPr/>
        </p:nvSpPr>
        <p:spPr>
          <a:xfrm>
            <a:off x="1270000" y="1778000"/>
            <a:ext cx="482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D1B2A"/>
                </a:solidFill>
                <a:latin typeface="Noto Sans SC" panose="020B0200000000000000" charset="-122"/>
                <a:ea typeface="Noto Sans SC" panose="020B0200000000000000" charset="-122"/>
                <a:cs typeface="Noto Sans SC" panose="020B0200000000000000" charset="-122"/>
                <a:sym typeface="Noto Sans SC" panose="020B0200000000000000" charset="-122"/>
              </a:rPr>
              <a:t>定义</a:t>
            </a:r>
            <a:endParaRPr lang="en-US" sz="1100"/>
          </a:p>
        </p:txBody>
      </p:sp>
      <p:sp>
        <p:nvSpPr>
          <p:cNvPr id="6" name="AutoShape 6"/>
          <p:cNvSpPr/>
          <p:nvPr/>
        </p:nvSpPr>
        <p:spPr>
          <a:xfrm>
            <a:off x="1270000" y="2209800"/>
            <a:ext cx="4826000" cy="5588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使用多个专门的接口，而不使用单一的总接口。</a:t>
            </a:r>
            <a:endParaRPr lang="en-US" sz="1100"/>
          </a:p>
        </p:txBody>
      </p: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62000" y="3149600"/>
            <a:ext cx="304800" cy="304800"/>
          </a:xfrm>
          <a:prstGeom prst="rect">
            <a:avLst/>
          </a:prstGeom>
        </p:spPr>
      </p:pic>
      <p:sp>
        <p:nvSpPr>
          <p:cNvPr id="8" name="AutoShape 8"/>
          <p:cNvSpPr/>
          <p:nvPr/>
        </p:nvSpPr>
        <p:spPr>
          <a:xfrm>
            <a:off x="1270000" y="3149600"/>
            <a:ext cx="482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D1B2A"/>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核心思想</a:t>
            </a:r>
            <a:endParaRPr lang="en-US" sz="1100"/>
          </a:p>
        </p:txBody>
      </p:sp>
      <p:sp>
        <p:nvSpPr>
          <p:cNvPr id="9" name="AutoShape 9"/>
          <p:cNvSpPr/>
          <p:nvPr/>
        </p:nvSpPr>
        <p:spPr>
          <a:xfrm>
            <a:off x="1270000" y="3581400"/>
            <a:ext cx="4826000" cy="5588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客户端不应该依赖它不需要的接口。</a:t>
            </a:r>
            <a:endParaRPr lang="en-US" sz="1100"/>
          </a:p>
        </p:txBody>
      </p:sp>
      <p:pic>
        <p:nvPicPr>
          <p:cNvPr id="10" name="Picture 1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62000" y="4521200"/>
            <a:ext cx="304800" cy="304800"/>
          </a:xfrm>
          <a:prstGeom prst="rect">
            <a:avLst/>
          </a:prstGeom>
        </p:spPr>
      </p:pic>
      <p:sp>
        <p:nvSpPr>
          <p:cNvPr id="11" name="AutoShape 11"/>
          <p:cNvSpPr/>
          <p:nvPr/>
        </p:nvSpPr>
        <p:spPr>
          <a:xfrm>
            <a:off x="1270000" y="4521200"/>
            <a:ext cx="482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D1B2A"/>
                </a:solidFill>
                <a:latin typeface="Noto Sans SC" panose="020B0200000000000000" charset="-122"/>
                <a:ea typeface="Noto Sans SC" panose="020B0200000000000000" charset="-122"/>
                <a:cs typeface="Noto Sans SC" panose="020B0200000000000000" charset="-122"/>
                <a:sym typeface="Noto Sans SC" panose="020B0200000000000000" charset="-122"/>
              </a:rPr>
              <a:t>意义</a:t>
            </a:r>
            <a:endParaRPr lang="en-US" sz="1100"/>
          </a:p>
        </p:txBody>
      </p:sp>
      <p:sp>
        <p:nvSpPr>
          <p:cNvPr id="12" name="AutoShape 12"/>
          <p:cNvSpPr/>
          <p:nvPr/>
        </p:nvSpPr>
        <p:spPr>
          <a:xfrm>
            <a:off x="1270000" y="4953000"/>
            <a:ext cx="4826000" cy="5588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降低类之间的耦合度，提高接口的灵活性和可维护性。</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609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D1B2A"/>
                </a:solidFill>
                <a:latin typeface="Noto Sans SC" panose="020B0200000000000000" charset="-122"/>
                <a:ea typeface="Noto Sans SC" panose="020B0200000000000000" charset="-122"/>
                <a:cs typeface="Noto Sans SC" panose="020B0200000000000000" charset="-122"/>
                <a:sym typeface="Noto Sans SC" panose="020B0200000000000000" charset="-122"/>
              </a:rPr>
              <a:t>迪米特法则 (Law of Demeter)</a:t>
            </a:r>
            <a:endParaRPr lang="en-US" sz="1100"/>
          </a:p>
        </p:txBody>
      </p:sp>
      <p:cxnSp>
        <p:nvCxnSpPr>
          <p:cNvPr id="3" name="Connector 3"/>
          <p:cNvCxnSpPr/>
          <p:nvPr/>
        </p:nvCxnSpPr>
        <p:spPr>
          <a:xfrm rot="-4092">
            <a:off x="762004" y="1263650"/>
            <a:ext cx="10668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pic>
        <p:nvPicPr>
          <p:cNvPr id="4" name="Picture 4"/>
          <p:cNvPicPr>
            <a:picLocks noChangeAspect="1"/>
          </p:cNvPicPr>
          <p:nvPr>
            <p:custDataLst>
              <p:tags r:id="rId1"/>
            </p:custDataLst>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62000" y="1778000"/>
            <a:ext cx="304800" cy="304800"/>
          </a:xfrm>
          <a:prstGeom prst="rect">
            <a:avLst/>
          </a:prstGeom>
        </p:spPr>
      </p:pic>
      <p:sp>
        <p:nvSpPr>
          <p:cNvPr id="5" name="AutoShape 5"/>
          <p:cNvSpPr/>
          <p:nvPr>
            <p:custDataLst>
              <p:tags r:id="rId4"/>
            </p:custDataLst>
          </p:nvPr>
        </p:nvSpPr>
        <p:spPr>
          <a:xfrm>
            <a:off x="1270000" y="1778000"/>
            <a:ext cx="482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D1B2A"/>
                </a:solidFill>
                <a:latin typeface="Noto Sans SC" panose="020B0200000000000000" charset="-122"/>
                <a:ea typeface="Noto Sans SC" panose="020B0200000000000000" charset="-122"/>
                <a:cs typeface="Noto Sans SC" panose="020B0200000000000000" charset="-122"/>
                <a:sym typeface="Noto Sans SC" panose="020B0200000000000000" charset="-122"/>
              </a:rPr>
              <a:t>定义</a:t>
            </a:r>
            <a:endParaRPr lang="en-US" sz="1100"/>
          </a:p>
        </p:txBody>
      </p:sp>
      <p:sp>
        <p:nvSpPr>
          <p:cNvPr id="6" name="AutoShape 6"/>
          <p:cNvSpPr/>
          <p:nvPr>
            <p:custDataLst>
              <p:tags r:id="rId5"/>
            </p:custDataLst>
          </p:nvPr>
        </p:nvSpPr>
        <p:spPr>
          <a:xfrm>
            <a:off x="1270000" y="2184400"/>
            <a:ext cx="4826000" cy="5588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一个对象应该对其他对象保持最少的了解。</a:t>
            </a:r>
            <a:endParaRPr lang="en-US" sz="1100"/>
          </a:p>
        </p:txBody>
      </p:sp>
      <p:pic>
        <p:nvPicPr>
          <p:cNvPr id="7" name="Picture 7"/>
          <p:cNvPicPr>
            <a:picLocks noChangeAspect="1"/>
          </p:cNvPicPr>
          <p:nvPr>
            <p:custDataLst>
              <p:tags r:id="rId6"/>
            </p:custDataLst>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62000" y="3124200"/>
            <a:ext cx="304800" cy="304800"/>
          </a:xfrm>
          <a:prstGeom prst="rect">
            <a:avLst/>
          </a:prstGeom>
        </p:spPr>
      </p:pic>
      <p:sp>
        <p:nvSpPr>
          <p:cNvPr id="8" name="AutoShape 8"/>
          <p:cNvSpPr/>
          <p:nvPr>
            <p:custDataLst>
              <p:tags r:id="rId9"/>
            </p:custDataLst>
          </p:nvPr>
        </p:nvSpPr>
        <p:spPr>
          <a:xfrm>
            <a:off x="1270000" y="3124200"/>
            <a:ext cx="482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D1B2A"/>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核心思想</a:t>
            </a:r>
            <a:endParaRPr lang="en-US" sz="1100"/>
          </a:p>
        </p:txBody>
      </p:sp>
      <p:sp>
        <p:nvSpPr>
          <p:cNvPr id="9" name="AutoShape 9"/>
          <p:cNvSpPr/>
          <p:nvPr>
            <p:custDataLst>
              <p:tags r:id="rId10"/>
            </p:custDataLst>
          </p:nvPr>
        </p:nvSpPr>
        <p:spPr>
          <a:xfrm>
            <a:off x="1270000" y="3530600"/>
            <a:ext cx="4826000" cy="5588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只与你的直接朋友通信，不要和陌生人说话。</a:t>
            </a:r>
            <a:endParaRPr lang="en-US" sz="1100"/>
          </a:p>
        </p:txBody>
      </p:sp>
      <p:pic>
        <p:nvPicPr>
          <p:cNvPr id="10" name="Picture 10"/>
          <p:cNvPicPr>
            <a:picLocks noChangeAspect="1"/>
          </p:cNvPicPr>
          <p:nvPr>
            <p:custDataLst>
              <p:tags r:id="rId11"/>
            </p:custDataLst>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762000" y="4470400"/>
            <a:ext cx="304800" cy="304800"/>
          </a:xfrm>
          <a:prstGeom prst="rect">
            <a:avLst/>
          </a:prstGeom>
        </p:spPr>
      </p:pic>
      <p:sp>
        <p:nvSpPr>
          <p:cNvPr id="11" name="AutoShape 11"/>
          <p:cNvSpPr/>
          <p:nvPr>
            <p:custDataLst>
              <p:tags r:id="rId14"/>
            </p:custDataLst>
          </p:nvPr>
        </p:nvSpPr>
        <p:spPr>
          <a:xfrm>
            <a:off x="1270000" y="4470400"/>
            <a:ext cx="482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D1B2A"/>
                </a:solidFill>
                <a:latin typeface="Noto Sans SC" panose="020B0200000000000000" charset="-122"/>
                <a:ea typeface="Noto Sans SC" panose="020B0200000000000000" charset="-122"/>
                <a:cs typeface="Noto Sans SC" panose="020B0200000000000000" charset="-122"/>
                <a:sym typeface="Noto Sans SC" panose="020B0200000000000000" charset="-122"/>
              </a:rPr>
              <a:t>意义</a:t>
            </a:r>
            <a:endParaRPr lang="en-US" sz="1100"/>
          </a:p>
        </p:txBody>
      </p:sp>
      <p:sp>
        <p:nvSpPr>
          <p:cNvPr id="12" name="AutoShape 12"/>
          <p:cNvSpPr/>
          <p:nvPr>
            <p:custDataLst>
              <p:tags r:id="rId15"/>
            </p:custDataLst>
          </p:nvPr>
        </p:nvSpPr>
        <p:spPr>
          <a:xfrm>
            <a:off x="1270000" y="4876800"/>
            <a:ext cx="4826000" cy="5588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降低系统的复杂性，提高模块的独立性。</a:t>
            </a:r>
            <a:endParaRPr lang="en-US" sz="11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5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508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D1B2A"/>
                </a:solidFill>
                <a:latin typeface="Noto Sans SC" panose="020B0200000000000000" charset="-122"/>
                <a:ea typeface="Noto Sans SC" panose="020B0200000000000000" charset="-122"/>
                <a:cs typeface="Noto Sans SC" panose="020B0200000000000000" charset="-122"/>
                <a:sym typeface="Noto Sans SC" panose="020B0200000000000000" charset="-122"/>
              </a:rPr>
              <a:t>创建型模式</a:t>
            </a:r>
            <a:endParaRPr lang="en-US" sz="1100"/>
          </a:p>
        </p:txBody>
      </p:sp>
      <p:cxnSp>
        <p:nvCxnSpPr>
          <p:cNvPr id="3" name="Connector 3"/>
          <p:cNvCxnSpPr/>
          <p:nvPr/>
        </p:nvCxnSpPr>
        <p:spPr>
          <a:xfrm rot="-4092">
            <a:off x="762004" y="1212850"/>
            <a:ext cx="10668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4" name="AutoShape 4"/>
          <p:cNvSpPr/>
          <p:nvPr/>
        </p:nvSpPr>
        <p:spPr>
          <a:xfrm>
            <a:off x="762000" y="1524000"/>
            <a:ext cx="5080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D1B2A"/>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核心思想</a:t>
            </a:r>
            <a:endParaRPr lang="en-US" sz="1100"/>
          </a:p>
        </p:txBody>
      </p:sp>
      <p:sp>
        <p:nvSpPr>
          <p:cNvPr id="5" name="AutoShape 5"/>
          <p:cNvSpPr/>
          <p:nvPr/>
        </p:nvSpPr>
        <p:spPr>
          <a:xfrm>
            <a:off x="762000" y="1981200"/>
            <a:ext cx="5080000" cy="6096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关注对象的创建过程，通过封装和抽象，解耦对象的创建与使用，提高系统的灵活性和可维护性。</a:t>
            </a:r>
            <a:endParaRPr lang="en-US" sz="1100"/>
          </a:p>
        </p:txBody>
      </p:sp>
      <p:sp>
        <p:nvSpPr>
          <p:cNvPr id="6" name="AutoShape 6"/>
          <p:cNvSpPr/>
          <p:nvPr/>
        </p:nvSpPr>
        <p:spPr>
          <a:xfrm>
            <a:off x="762000" y="2921000"/>
            <a:ext cx="5080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D1B2A"/>
                </a:solidFill>
                <a:latin typeface="Noto Sans SC" panose="020B0200000000000000" charset="-122"/>
                <a:ea typeface="Noto Sans SC" panose="020B0200000000000000" charset="-122"/>
                <a:cs typeface="Noto Sans SC" panose="020B0200000000000000" charset="-122"/>
                <a:sym typeface="Noto Sans SC" panose="020B0200000000000000" charset="-122"/>
              </a:rPr>
              <a:t>常见模式</a:t>
            </a:r>
            <a:endParaRPr lang="en-US" sz="1100"/>
          </a:p>
        </p:txBody>
      </p:sp>
      <p:pic>
        <p:nvPicPr>
          <p:cNvPr id="7" name="Picture 7"/>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62000" y="3429000"/>
            <a:ext cx="304800" cy="304800"/>
          </a:xfrm>
          <a:prstGeom prst="rect">
            <a:avLst/>
          </a:prstGeom>
        </p:spPr>
      </p:pic>
      <p:sp>
        <p:nvSpPr>
          <p:cNvPr id="8" name="AutoShape 8"/>
          <p:cNvSpPr/>
          <p:nvPr/>
        </p:nvSpPr>
        <p:spPr>
          <a:xfrm>
            <a:off x="1270000" y="3429000"/>
            <a:ext cx="457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D1B2A"/>
                </a:solidFill>
                <a:latin typeface="Noto Sans SC" panose="020B0200000000000000" charset="-122"/>
                <a:ea typeface="Noto Sans SC" panose="020B0200000000000000" charset="-122"/>
                <a:cs typeface="Noto Sans SC" panose="020B0200000000000000" charset="-122"/>
                <a:sym typeface="Noto Sans SC" panose="020B0200000000000000" charset="-122"/>
              </a:rPr>
              <a:t>单例模式 (Singleton)</a:t>
            </a:r>
            <a:endParaRPr lang="en-US" sz="1100"/>
          </a:p>
        </p:txBody>
      </p:sp>
      <p:sp>
        <p:nvSpPr>
          <p:cNvPr id="9" name="AutoShape 9"/>
          <p:cNvSpPr/>
          <p:nvPr/>
        </p:nvSpPr>
        <p:spPr>
          <a:xfrm>
            <a:off x="1270000" y="3810000"/>
            <a:ext cx="4572000" cy="2794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确保一个类仅有一个实例，并提供全局访问点。</a:t>
            </a:r>
            <a:endParaRPr lang="en-US" sz="1100"/>
          </a:p>
        </p:txBody>
      </p:sp>
      <p:pic>
        <p:nvPicPr>
          <p:cNvPr id="10" name="Picture 10"/>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62000" y="4394200"/>
            <a:ext cx="304800" cy="304800"/>
          </a:xfrm>
          <a:prstGeom prst="rect">
            <a:avLst/>
          </a:prstGeom>
        </p:spPr>
      </p:pic>
      <p:sp>
        <p:nvSpPr>
          <p:cNvPr id="11" name="AutoShape 11"/>
          <p:cNvSpPr/>
          <p:nvPr/>
        </p:nvSpPr>
        <p:spPr>
          <a:xfrm>
            <a:off x="1270000" y="4394200"/>
            <a:ext cx="457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D1B2A"/>
                </a:solidFill>
                <a:latin typeface="Noto Sans SC" panose="020B0200000000000000" charset="-122"/>
                <a:ea typeface="Noto Sans SC" panose="020B0200000000000000" charset="-122"/>
                <a:cs typeface="Noto Sans SC" panose="020B0200000000000000" charset="-122"/>
                <a:sym typeface="Noto Sans SC" panose="020B0200000000000000" charset="-122"/>
              </a:rPr>
              <a:t>工厂方法模式 (Factory Method)</a:t>
            </a:r>
            <a:endParaRPr lang="en-US" sz="1100"/>
          </a:p>
        </p:txBody>
      </p:sp>
      <p:sp>
        <p:nvSpPr>
          <p:cNvPr id="12" name="AutoShape 12"/>
          <p:cNvSpPr/>
          <p:nvPr/>
        </p:nvSpPr>
        <p:spPr>
          <a:xfrm>
            <a:off x="1270000" y="4775200"/>
            <a:ext cx="4572000" cy="2794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定义一个用于创建对象的接口，由子类决定实例化哪一个类。</a:t>
            </a:r>
            <a:endParaRPr lang="en-US" sz="1100"/>
          </a:p>
        </p:txBody>
      </p:sp>
      <p:pic>
        <p:nvPicPr>
          <p:cNvPr id="13" name="Picture 13"/>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62000" y="5359400"/>
            <a:ext cx="304800" cy="304800"/>
          </a:xfrm>
          <a:prstGeom prst="rect">
            <a:avLst/>
          </a:prstGeom>
        </p:spPr>
      </p:pic>
      <p:sp>
        <p:nvSpPr>
          <p:cNvPr id="14" name="AutoShape 14"/>
          <p:cNvSpPr/>
          <p:nvPr/>
        </p:nvSpPr>
        <p:spPr>
          <a:xfrm>
            <a:off x="1270000" y="5359400"/>
            <a:ext cx="457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D1B2A"/>
                </a:solidFill>
                <a:latin typeface="Noto Sans SC" panose="020B0200000000000000" charset="-122"/>
                <a:ea typeface="Noto Sans SC" panose="020B0200000000000000" charset="-122"/>
                <a:cs typeface="Noto Sans SC" panose="020B0200000000000000" charset="-122"/>
                <a:sym typeface="Noto Sans SC" panose="020B0200000000000000" charset="-122"/>
              </a:rPr>
              <a:t>抽象工厂模式 (Abstract Factory)</a:t>
            </a:r>
            <a:endParaRPr lang="en-US" sz="1100"/>
          </a:p>
        </p:txBody>
      </p:sp>
      <p:sp>
        <p:nvSpPr>
          <p:cNvPr id="15" name="AutoShape 15"/>
          <p:cNvSpPr/>
          <p:nvPr/>
        </p:nvSpPr>
        <p:spPr>
          <a:xfrm>
            <a:off x="1270000" y="5740400"/>
            <a:ext cx="4572000" cy="2794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提供一个创建一系列相关或相互依赖对象的接口。</a:t>
            </a:r>
            <a:endParaRPr lang="en-US" sz="11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5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5080000" cy="609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D1B2A"/>
                </a:solidFill>
                <a:latin typeface="Noto Sans SC" panose="020B0200000000000000" charset="-122"/>
                <a:ea typeface="Noto Sans SC" panose="020B0200000000000000" charset="-122"/>
                <a:cs typeface="Noto Sans SC" panose="020B0200000000000000" charset="-122"/>
                <a:sym typeface="Noto Sans SC" panose="020B0200000000000000" charset="-122"/>
              </a:rPr>
              <a:t>结构型模式</a:t>
            </a:r>
            <a:endParaRPr lang="en-US" sz="1100"/>
          </a:p>
        </p:txBody>
      </p:sp>
      <p:cxnSp>
        <p:nvCxnSpPr>
          <p:cNvPr id="3" name="Connector 3"/>
          <p:cNvCxnSpPr/>
          <p:nvPr/>
        </p:nvCxnSpPr>
        <p:spPr>
          <a:xfrm rot="-4092">
            <a:off x="762004" y="1263650"/>
            <a:ext cx="10668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4" name="AutoShape 4"/>
          <p:cNvSpPr/>
          <p:nvPr/>
        </p:nvSpPr>
        <p:spPr>
          <a:xfrm>
            <a:off x="762000" y="1574800"/>
            <a:ext cx="508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D1B2A"/>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核心思想</a:t>
            </a:r>
            <a:endParaRPr lang="en-US" sz="1100"/>
          </a:p>
        </p:txBody>
      </p:sp>
      <p:sp>
        <p:nvSpPr>
          <p:cNvPr id="5" name="AutoShape 5"/>
          <p:cNvSpPr/>
          <p:nvPr/>
        </p:nvSpPr>
        <p:spPr>
          <a:xfrm>
            <a:off x="762000" y="2082800"/>
            <a:ext cx="5080000" cy="5588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关注类和对象的组合，通过优化结构来提升系统的灵活性与可扩展性。</a:t>
            </a:r>
            <a:endParaRPr lang="en-US" sz="1100"/>
          </a:p>
        </p:txBody>
      </p:sp>
      <p:sp>
        <p:nvSpPr>
          <p:cNvPr id="6" name="AutoShape 6"/>
          <p:cNvSpPr/>
          <p:nvPr/>
        </p:nvSpPr>
        <p:spPr>
          <a:xfrm>
            <a:off x="762000" y="2946400"/>
            <a:ext cx="508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D1B2A"/>
                </a:solidFill>
                <a:latin typeface="Noto Sans SC" panose="020B0200000000000000" charset="-122"/>
                <a:ea typeface="Noto Sans SC" panose="020B0200000000000000" charset="-122"/>
                <a:cs typeface="Noto Sans SC" panose="020B0200000000000000" charset="-122"/>
                <a:sym typeface="Noto Sans SC" panose="020B0200000000000000" charset="-122"/>
              </a:rPr>
              <a:t>常见模式</a:t>
            </a:r>
            <a:endParaRPr lang="en-US" sz="1100"/>
          </a:p>
        </p:txBody>
      </p:sp>
      <p:pic>
        <p:nvPicPr>
          <p:cNvPr id="7" name="Picture 7"/>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62000" y="3505200"/>
            <a:ext cx="304800" cy="304800"/>
          </a:xfrm>
          <a:prstGeom prst="rect">
            <a:avLst/>
          </a:prstGeom>
        </p:spPr>
      </p:pic>
      <p:sp>
        <p:nvSpPr>
          <p:cNvPr id="8" name="AutoShape 8"/>
          <p:cNvSpPr/>
          <p:nvPr/>
        </p:nvSpPr>
        <p:spPr>
          <a:xfrm>
            <a:off x="1270000" y="3505200"/>
            <a:ext cx="457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D1B2A"/>
                </a:solidFill>
                <a:latin typeface="Noto Sans SC" panose="020B0200000000000000" charset="-122"/>
                <a:ea typeface="Noto Sans SC" panose="020B0200000000000000" charset="-122"/>
                <a:cs typeface="Noto Sans SC" panose="020B0200000000000000" charset="-122"/>
                <a:sym typeface="Noto Sans SC" panose="020B0200000000000000" charset="-122"/>
              </a:rPr>
              <a:t>适配器模式 (Adapter)</a:t>
            </a:r>
            <a:endParaRPr lang="en-US" sz="1100"/>
          </a:p>
        </p:txBody>
      </p:sp>
      <p:sp>
        <p:nvSpPr>
          <p:cNvPr id="9" name="AutoShape 9"/>
          <p:cNvSpPr/>
          <p:nvPr/>
        </p:nvSpPr>
        <p:spPr>
          <a:xfrm>
            <a:off x="1270000" y="3860800"/>
            <a:ext cx="4572000" cy="2794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解决两个不兼容接口间的协作问题。</a:t>
            </a:r>
            <a:endParaRPr lang="en-US" sz="1100"/>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62000" y="4445000"/>
            <a:ext cx="304800" cy="304800"/>
          </a:xfrm>
          <a:prstGeom prst="rect">
            <a:avLst/>
          </a:prstGeom>
        </p:spPr>
      </p:pic>
      <p:sp>
        <p:nvSpPr>
          <p:cNvPr id="11" name="AutoShape 11"/>
          <p:cNvSpPr/>
          <p:nvPr/>
        </p:nvSpPr>
        <p:spPr>
          <a:xfrm>
            <a:off x="1270000" y="4445000"/>
            <a:ext cx="457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D1B2A"/>
                </a:solidFill>
                <a:latin typeface="Noto Sans SC" panose="020B0200000000000000" charset="-122"/>
                <a:ea typeface="Noto Sans SC" panose="020B0200000000000000" charset="-122"/>
                <a:cs typeface="Noto Sans SC" panose="020B0200000000000000" charset="-122"/>
                <a:sym typeface="Noto Sans SC" panose="020B0200000000000000" charset="-122"/>
              </a:rPr>
              <a:t>装饰器模式 (Decorator)</a:t>
            </a:r>
            <a:endParaRPr lang="en-US" sz="1100"/>
          </a:p>
        </p:txBody>
      </p:sp>
      <p:sp>
        <p:nvSpPr>
          <p:cNvPr id="12" name="AutoShape 12"/>
          <p:cNvSpPr/>
          <p:nvPr/>
        </p:nvSpPr>
        <p:spPr>
          <a:xfrm>
            <a:off x="1270000" y="4800600"/>
            <a:ext cx="4572000" cy="2794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动态地为对象添加额外职责。</a:t>
            </a:r>
            <a:endParaRPr lang="en-US" sz="1100"/>
          </a:p>
        </p:txBody>
      </p:sp>
      <p:pic>
        <p:nvPicPr>
          <p:cNvPr id="13" name="Picture 13"/>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62000" y="5384800"/>
            <a:ext cx="304800" cy="304800"/>
          </a:xfrm>
          <a:prstGeom prst="rect">
            <a:avLst/>
          </a:prstGeom>
        </p:spPr>
      </p:pic>
      <p:sp>
        <p:nvSpPr>
          <p:cNvPr id="14" name="AutoShape 14"/>
          <p:cNvSpPr/>
          <p:nvPr/>
        </p:nvSpPr>
        <p:spPr>
          <a:xfrm>
            <a:off x="1270000" y="5384800"/>
            <a:ext cx="457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D1B2A"/>
                </a:solidFill>
                <a:latin typeface="Noto Sans SC" panose="020B0200000000000000" charset="-122"/>
                <a:ea typeface="Noto Sans SC" panose="020B0200000000000000" charset="-122"/>
                <a:cs typeface="Noto Sans SC" panose="020B0200000000000000" charset="-122"/>
                <a:sym typeface="Noto Sans SC" panose="020B0200000000000000" charset="-122"/>
              </a:rPr>
              <a:t>外观模式 (Facade)</a:t>
            </a:r>
            <a:endParaRPr lang="en-US" sz="1100"/>
          </a:p>
        </p:txBody>
      </p:sp>
      <p:sp>
        <p:nvSpPr>
          <p:cNvPr id="15" name="AutoShape 15"/>
          <p:cNvSpPr/>
          <p:nvPr/>
        </p:nvSpPr>
        <p:spPr>
          <a:xfrm>
            <a:off x="1270000" y="5740400"/>
            <a:ext cx="4572000" cy="2794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为子系统提供统一的简化入口。</a:t>
            </a:r>
            <a:endParaRPr lang="en-US" sz="11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5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7620000" cy="558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D1B2A"/>
                </a:solidFill>
                <a:latin typeface="Noto Sans SC" panose="020B0200000000000000" charset="-122"/>
                <a:ea typeface="Noto Sans SC" panose="020B0200000000000000" charset="-122"/>
                <a:cs typeface="Noto Sans SC" panose="020B0200000000000000" charset="-122"/>
                <a:sym typeface="Noto Sans SC" panose="020B0200000000000000" charset="-122"/>
              </a:rPr>
              <a:t>行为型模式</a:t>
            </a:r>
            <a:endParaRPr lang="en-US" sz="1100"/>
          </a:p>
        </p:txBody>
      </p:sp>
      <p:cxnSp>
        <p:nvCxnSpPr>
          <p:cNvPr id="3" name="Connector 3"/>
          <p:cNvCxnSpPr/>
          <p:nvPr/>
        </p:nvCxnSpPr>
        <p:spPr>
          <a:xfrm rot="-4092">
            <a:off x="762004" y="1263650"/>
            <a:ext cx="10668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4" name="AutoShape 4"/>
          <p:cNvSpPr/>
          <p:nvPr/>
        </p:nvSpPr>
        <p:spPr>
          <a:xfrm>
            <a:off x="762000" y="1651000"/>
            <a:ext cx="5080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D1B2A"/>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核心思想</a:t>
            </a:r>
            <a:endParaRPr lang="en-US" sz="1100"/>
          </a:p>
        </p:txBody>
      </p:sp>
      <p:sp>
        <p:nvSpPr>
          <p:cNvPr id="5" name="AutoShape 5"/>
          <p:cNvSpPr/>
          <p:nvPr/>
        </p:nvSpPr>
        <p:spPr>
          <a:xfrm>
            <a:off x="762000" y="2159000"/>
            <a:ext cx="5080000" cy="5588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关注对象之间的交互和职责分配，旨在优化对象行为的协作方式。</a:t>
            </a:r>
            <a:endParaRPr lang="en-US" sz="1100"/>
          </a:p>
        </p:txBody>
      </p:sp>
      <p:sp>
        <p:nvSpPr>
          <p:cNvPr id="6" name="AutoShape 6"/>
          <p:cNvSpPr/>
          <p:nvPr/>
        </p:nvSpPr>
        <p:spPr>
          <a:xfrm>
            <a:off x="762000" y="3048000"/>
            <a:ext cx="5080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D1B2A"/>
                </a:solidFill>
                <a:latin typeface="Noto Sans SC" panose="020B0200000000000000" charset="-122"/>
                <a:ea typeface="Noto Sans SC" panose="020B0200000000000000" charset="-122"/>
                <a:cs typeface="Noto Sans SC" panose="020B0200000000000000" charset="-122"/>
                <a:sym typeface="Noto Sans SC" panose="020B0200000000000000" charset="-122"/>
              </a:rPr>
              <a:t>常见模式</a:t>
            </a:r>
            <a:endParaRPr lang="en-US" sz="1100"/>
          </a:p>
        </p:txBody>
      </p:sp>
      <p:pic>
        <p:nvPicPr>
          <p:cNvPr id="7" name="Picture 7"/>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62000" y="3606800"/>
            <a:ext cx="304800" cy="304800"/>
          </a:xfrm>
          <a:prstGeom prst="rect">
            <a:avLst/>
          </a:prstGeom>
        </p:spPr>
      </p:pic>
      <p:sp>
        <p:nvSpPr>
          <p:cNvPr id="8" name="AutoShape 8"/>
          <p:cNvSpPr/>
          <p:nvPr/>
        </p:nvSpPr>
        <p:spPr>
          <a:xfrm>
            <a:off x="1270000" y="3606800"/>
            <a:ext cx="457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D1B2A"/>
                </a:solidFill>
                <a:latin typeface="Noto Sans SC" panose="020B0200000000000000" charset="-122"/>
                <a:ea typeface="Noto Sans SC" panose="020B0200000000000000" charset="-122"/>
                <a:cs typeface="Noto Sans SC" panose="020B0200000000000000" charset="-122"/>
                <a:sym typeface="Noto Sans SC" panose="020B0200000000000000" charset="-122"/>
              </a:rPr>
              <a:t>观察者模式 (Observer)</a:t>
            </a:r>
            <a:endParaRPr lang="en-US" sz="1100"/>
          </a:p>
        </p:txBody>
      </p:sp>
      <p:sp>
        <p:nvSpPr>
          <p:cNvPr id="9" name="AutoShape 9"/>
          <p:cNvSpPr/>
          <p:nvPr/>
        </p:nvSpPr>
        <p:spPr>
          <a:xfrm>
            <a:off x="1270000" y="3987800"/>
            <a:ext cx="4572000" cy="508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定义对象间一对多依赖，当对象状态改变时通知所有依赖者。</a:t>
            </a:r>
            <a:endParaRPr lang="en-US" sz="1100"/>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62000" y="4699000"/>
            <a:ext cx="304800" cy="304800"/>
          </a:xfrm>
          <a:prstGeom prst="rect">
            <a:avLst/>
          </a:prstGeom>
        </p:spPr>
      </p:pic>
      <p:sp>
        <p:nvSpPr>
          <p:cNvPr id="11" name="AutoShape 11"/>
          <p:cNvSpPr/>
          <p:nvPr/>
        </p:nvSpPr>
        <p:spPr>
          <a:xfrm>
            <a:off x="1270000" y="4699000"/>
            <a:ext cx="457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D1B2A"/>
                </a:solidFill>
                <a:latin typeface="Noto Sans SC" panose="020B0200000000000000" charset="-122"/>
                <a:ea typeface="Noto Sans SC" panose="020B0200000000000000" charset="-122"/>
                <a:cs typeface="Noto Sans SC" panose="020B0200000000000000" charset="-122"/>
                <a:sym typeface="Noto Sans SC" panose="020B0200000000000000" charset="-122"/>
              </a:rPr>
              <a:t>策略模式 (Strategy)</a:t>
            </a:r>
            <a:endParaRPr lang="en-US" sz="1100"/>
          </a:p>
        </p:txBody>
      </p:sp>
      <p:sp>
        <p:nvSpPr>
          <p:cNvPr id="12" name="AutoShape 12"/>
          <p:cNvSpPr/>
          <p:nvPr/>
        </p:nvSpPr>
        <p:spPr>
          <a:xfrm>
            <a:off x="1270000" y="5080000"/>
            <a:ext cx="4572000" cy="508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定义算法族，使其可互换，让算法独立于使用它的客户。</a:t>
            </a:r>
            <a:endParaRPr lang="en-US" sz="11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5F7FA">
            <a:alpha val="100000"/>
          </a:srgbClr>
        </a:solidFill>
        <a:effectLst/>
      </p:bgPr>
    </p:bg>
    <p:spTree>
      <p:nvGrpSpPr>
        <p:cNvPr id="1" name=""/>
        <p:cNvGrpSpPr/>
        <p:nvPr/>
      </p:nvGrpSpPr>
      <p:grpSpPr>
        <a:xfrm>
          <a:off x="0" y="0"/>
          <a:ext cx="0" cy="0"/>
          <a:chOff x="0" y="0"/>
          <a:chExt cx="0" cy="0"/>
        </a:xfrm>
      </p:grpSpPr>
      <p:sp>
        <p:nvSpPr>
          <p:cNvPr id="4" name="AutoShape 4"/>
          <p:cNvSpPr/>
          <p:nvPr/>
        </p:nvSpPr>
        <p:spPr>
          <a:xfrm>
            <a:off x="0" y="2032000"/>
            <a:ext cx="12192000" cy="1397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96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endParaRPr lang="en-US" sz="96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5" name="Connector 5"/>
          <p:cNvCxnSpPr/>
          <p:nvPr/>
        </p:nvCxnSpPr>
        <p:spPr>
          <a:xfrm rot="-42969">
            <a:off x="5588040" y="3549650"/>
            <a:ext cx="1016000" cy="12700"/>
          </a:xfrm>
          <a:prstGeom prst="straightConnector1">
            <a:avLst/>
          </a:prstGeom>
          <a:solidFill>
            <a:srgbClr val="DEE0E3">
              <a:alpha val="100000"/>
            </a:srgbClr>
          </a:solidFill>
          <a:ln w="25400" cap="flat" cmpd="sng">
            <a:solidFill>
              <a:srgbClr val="A9C4EB">
                <a:alpha val="100000"/>
              </a:srgbClr>
            </a:solidFill>
            <a:prstDash val="solid"/>
            <a:round/>
            <a:headEnd type="none" w="lg" len="lg"/>
            <a:tailEnd type="none" w="lg" len="lg"/>
          </a:ln>
        </p:spPr>
      </p:cxnSp>
      <p:sp>
        <p:nvSpPr>
          <p:cNvPr id="6" name="AutoShape 6"/>
          <p:cNvSpPr/>
          <p:nvPr/>
        </p:nvSpPr>
        <p:spPr>
          <a:xfrm>
            <a:off x="0" y="3810000"/>
            <a:ext cx="1219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altLang="zh-CN" sz="28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QT</a:t>
            </a:r>
            <a:r>
              <a:rPr lang="zh-CN" altLang="en-US" sz="28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信号与槽机制</a:t>
            </a:r>
            <a:endParaRPr lang="zh-CN" altLang="en-US" sz="28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5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5080000" cy="609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D1B2A"/>
                </a:solidFill>
                <a:latin typeface="Noto Sans SC" panose="020B0200000000000000" charset="-122"/>
                <a:ea typeface="Noto Sans SC" panose="020B0200000000000000" charset="-122"/>
                <a:cs typeface="Noto Sans SC" panose="020B0200000000000000" charset="-122"/>
                <a:sym typeface="Noto Sans SC" panose="020B0200000000000000" charset="-122"/>
              </a:rPr>
              <a:t>什么是QT？</a:t>
            </a:r>
            <a:endParaRPr lang="en-US" sz="1100"/>
          </a:p>
        </p:txBody>
      </p:sp>
      <p:cxnSp>
        <p:nvCxnSpPr>
          <p:cNvPr id="3" name="Connector 3"/>
          <p:cNvCxnSpPr/>
          <p:nvPr/>
        </p:nvCxnSpPr>
        <p:spPr>
          <a:xfrm rot="-4092">
            <a:off x="762004" y="1263650"/>
            <a:ext cx="10668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pic>
        <p:nvPicPr>
          <p:cNvPr id="4" name="Picture 4"/>
          <p:cNvPicPr>
            <a:picLocks noChangeAspect="1"/>
          </p:cNvPicPr>
          <p:nvPr>
            <p:custDataLst>
              <p:tags r:id="rId1"/>
            </p:custDataLst>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62000" y="1778000"/>
            <a:ext cx="304800" cy="304800"/>
          </a:xfrm>
          <a:prstGeom prst="rect">
            <a:avLst/>
          </a:prstGeom>
        </p:spPr>
      </p:pic>
      <p:sp>
        <p:nvSpPr>
          <p:cNvPr id="5" name="AutoShape 5"/>
          <p:cNvSpPr/>
          <p:nvPr>
            <p:custDataLst>
              <p:tags r:id="rId4"/>
            </p:custDataLst>
          </p:nvPr>
        </p:nvSpPr>
        <p:spPr>
          <a:xfrm>
            <a:off x="1270000" y="1778000"/>
            <a:ext cx="482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D1B2A"/>
                </a:solidFill>
                <a:latin typeface="Noto Sans SC" panose="020B0200000000000000" charset="-122"/>
                <a:ea typeface="Noto Sans SC" panose="020B0200000000000000" charset="-122"/>
                <a:cs typeface="Noto Sans SC" panose="020B0200000000000000" charset="-122"/>
                <a:sym typeface="Noto Sans SC" panose="020B0200000000000000" charset="-122"/>
              </a:rPr>
              <a:t>跨平台C++开发框架</a:t>
            </a:r>
            <a:endParaRPr lang="en-US" sz="1100"/>
          </a:p>
        </p:txBody>
      </p:sp>
      <p:sp>
        <p:nvSpPr>
          <p:cNvPr id="6" name="AutoShape 6"/>
          <p:cNvSpPr/>
          <p:nvPr>
            <p:custDataLst>
              <p:tags r:id="rId5"/>
            </p:custDataLst>
          </p:nvPr>
        </p:nvSpPr>
        <p:spPr>
          <a:xfrm>
            <a:off x="1270000" y="2159000"/>
            <a:ext cx="4826000" cy="5588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1991年由Qt Company开发，用于构建高性能、高质量的应用程序。</a:t>
            </a:r>
            <a:endParaRPr lang="en-US" sz="1100"/>
          </a:p>
        </p:txBody>
      </p:sp>
      <p:pic>
        <p:nvPicPr>
          <p:cNvPr id="7" name="Picture 7"/>
          <p:cNvPicPr>
            <a:picLocks noChangeAspect="1"/>
          </p:cNvPicPr>
          <p:nvPr>
            <p:custDataLst>
              <p:tags r:id="rId6"/>
            </p:custDataLst>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62000" y="3098800"/>
            <a:ext cx="304800" cy="304800"/>
          </a:xfrm>
          <a:prstGeom prst="rect">
            <a:avLst/>
          </a:prstGeom>
        </p:spPr>
      </p:pic>
      <p:sp>
        <p:nvSpPr>
          <p:cNvPr id="8" name="AutoShape 8"/>
          <p:cNvSpPr/>
          <p:nvPr>
            <p:custDataLst>
              <p:tags r:id="rId9"/>
            </p:custDataLst>
          </p:nvPr>
        </p:nvSpPr>
        <p:spPr>
          <a:xfrm>
            <a:off x="1270000" y="3098800"/>
            <a:ext cx="482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D1B2A"/>
                </a:solidFill>
                <a:latin typeface="Noto Sans SC" panose="020B0200000000000000" charset="-122"/>
                <a:ea typeface="Noto Sans SC" panose="020B0200000000000000" charset="-122"/>
                <a:cs typeface="Noto Sans SC" panose="020B0200000000000000" charset="-122"/>
                <a:sym typeface="Noto Sans SC" panose="020B0200000000000000" charset="-122"/>
              </a:rPr>
              <a:t>多场景应用开发</a:t>
            </a:r>
            <a:endParaRPr lang="en-US" sz="1100"/>
          </a:p>
        </p:txBody>
      </p:sp>
      <p:sp>
        <p:nvSpPr>
          <p:cNvPr id="9" name="AutoShape 9"/>
          <p:cNvSpPr/>
          <p:nvPr>
            <p:custDataLst>
              <p:tags r:id="rId10"/>
            </p:custDataLst>
          </p:nvPr>
        </p:nvSpPr>
        <p:spPr>
          <a:xfrm>
            <a:off x="1270000" y="3479800"/>
            <a:ext cx="4826000" cy="5588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支持GUI程序、控制台工具、服务器等多种应用类型的开发。</a:t>
            </a:r>
            <a:endParaRPr lang="en-US" sz="1100"/>
          </a:p>
        </p:txBody>
      </p:sp>
      <p:pic>
        <p:nvPicPr>
          <p:cNvPr id="10" name="Picture 10"/>
          <p:cNvPicPr>
            <a:picLocks noChangeAspect="1"/>
          </p:cNvPicPr>
          <p:nvPr>
            <p:custDataLst>
              <p:tags r:id="rId11"/>
            </p:custDataLst>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762000" y="4419600"/>
            <a:ext cx="304800" cy="304800"/>
          </a:xfrm>
          <a:prstGeom prst="rect">
            <a:avLst/>
          </a:prstGeom>
        </p:spPr>
      </p:pic>
      <p:sp>
        <p:nvSpPr>
          <p:cNvPr id="11" name="AutoShape 11"/>
          <p:cNvSpPr/>
          <p:nvPr>
            <p:custDataLst>
              <p:tags r:id="rId14"/>
            </p:custDataLst>
          </p:nvPr>
        </p:nvSpPr>
        <p:spPr>
          <a:xfrm>
            <a:off x="1270000" y="4419600"/>
            <a:ext cx="482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D1B2A"/>
                </a:solidFill>
                <a:latin typeface="Noto Sans SC" panose="020B0200000000000000" charset="-122"/>
                <a:ea typeface="Noto Sans SC" panose="020B0200000000000000" charset="-122"/>
                <a:cs typeface="Noto Sans SC" panose="020B0200000000000000" charset="-122"/>
                <a:sym typeface="Noto Sans SC" panose="020B0200000000000000" charset="-122"/>
              </a:rPr>
              <a:t>面向对象与高级特性</a:t>
            </a:r>
            <a:endParaRPr lang="en-US" sz="1100"/>
          </a:p>
        </p:txBody>
      </p:sp>
      <p:sp>
        <p:nvSpPr>
          <p:cNvPr id="12" name="AutoShape 12"/>
          <p:cNvSpPr/>
          <p:nvPr>
            <p:custDataLst>
              <p:tags r:id="rId15"/>
            </p:custDataLst>
          </p:nvPr>
        </p:nvSpPr>
        <p:spPr>
          <a:xfrm>
            <a:off x="1270000" y="4800600"/>
            <a:ext cx="4826000" cy="5588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采用元对象编译器(moc)和宏，实现信号与槽等强大机制。</a:t>
            </a:r>
            <a:endParaRPr lang="en-US" sz="1100"/>
          </a:p>
        </p:txBody>
      </p:sp>
      <p:cxnSp>
        <p:nvCxnSpPr>
          <p:cNvPr id="13" name="Connector 13"/>
          <p:cNvCxnSpPr/>
          <p:nvPr/>
        </p:nvCxnSpPr>
        <p:spPr>
          <a:xfrm rot="5387809">
            <a:off x="4305300" y="3562361"/>
            <a:ext cx="3581400" cy="12700"/>
          </a:xfrm>
          <a:prstGeom prst="straightConnector1">
            <a:avLst/>
          </a:prstGeom>
          <a:solidFill>
            <a:srgbClr val="DEE0E3">
              <a:alpha val="100000"/>
            </a:srgbClr>
          </a:solidFill>
          <a:ln w="12700" cap="flat" cmpd="sng">
            <a:solidFill>
              <a:srgbClr val="E5E7EB">
                <a:alpha val="100000"/>
              </a:srgbClr>
            </a:solidFill>
            <a:prstDash val="dash"/>
            <a:round/>
            <a:headEnd type="none" w="med" len="med"/>
            <a:tailEnd type="none" w="med" len="med"/>
          </a:ln>
        </p:spPr>
      </p:cxnSp>
      <p:pic>
        <p:nvPicPr>
          <p:cNvPr id="14" name="Picture 14"/>
          <p:cNvPicPr>
            <a:picLocks noChangeAspect="1"/>
          </p:cNvPicPr>
          <p:nvPr/>
        </p:nvPicPr>
        <p:blipFill>
          <a:blip r:embed="rId16"/>
          <a:srcRect t="26" b="26"/>
          <a:stretch>
            <a:fillRect/>
          </a:stretch>
        </p:blipFill>
        <p:spPr>
          <a:xfrm>
            <a:off x="6604000" y="1905000"/>
            <a:ext cx="4572000" cy="3365500"/>
          </a:xfrm>
          <a:prstGeom prst="rect">
            <a:avLst/>
          </a:prstGeom>
          <a:noFill/>
          <a:ln w="25400" cap="flat" cmpd="sng">
            <a:noFill/>
            <a:prstDash val="solid"/>
            <a:round/>
          </a:ln>
          <a:effectLst>
            <a:outerShdw blurRad="254000" dist="63500" dir="2700000" algn="tl" rotWithShape="0">
              <a:srgbClr val="000000">
                <a:alpha val="10000"/>
              </a:srgbClr>
            </a:outerShdw>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5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762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D1B2A"/>
                </a:solidFill>
                <a:latin typeface="Noto Sans SC" panose="020B0200000000000000" charset="-122"/>
                <a:ea typeface="Noto Sans SC" panose="020B0200000000000000" charset="-122"/>
                <a:cs typeface="Noto Sans SC" panose="020B0200000000000000" charset="-122"/>
                <a:sym typeface="Noto Sans SC" panose="020B0200000000000000" charset="-122"/>
              </a:rPr>
              <a:t>信号与槽：QT的核心</a:t>
            </a:r>
            <a:endParaRPr lang="en-US" sz="1100"/>
          </a:p>
        </p:txBody>
      </p:sp>
      <p:cxnSp>
        <p:nvCxnSpPr>
          <p:cNvPr id="3" name="Connector 3"/>
          <p:cNvCxnSpPr/>
          <p:nvPr/>
        </p:nvCxnSpPr>
        <p:spPr>
          <a:xfrm rot="-4092">
            <a:off x="762004" y="1212850"/>
            <a:ext cx="10668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pic>
        <p:nvPicPr>
          <p:cNvPr id="4" name="Picture 4"/>
          <p:cNvPicPr>
            <a:picLocks noChangeAspect="1"/>
          </p:cNvPicPr>
          <p:nvPr>
            <p:custDataLst>
              <p:tags r:id="rId1"/>
            </p:custDataLst>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62000" y="1651000"/>
            <a:ext cx="406400" cy="406400"/>
          </a:xfrm>
          <a:prstGeom prst="rect">
            <a:avLst/>
          </a:prstGeom>
        </p:spPr>
      </p:pic>
      <p:sp>
        <p:nvSpPr>
          <p:cNvPr id="5" name="AutoShape 5"/>
          <p:cNvSpPr/>
          <p:nvPr>
            <p:custDataLst>
              <p:tags r:id="rId4"/>
            </p:custDataLst>
          </p:nvPr>
        </p:nvSpPr>
        <p:spPr>
          <a:xfrm>
            <a:off x="1422400" y="1661160"/>
            <a:ext cx="482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D1B2A"/>
                </a:solidFill>
                <a:latin typeface="Noto Sans SC" panose="020B0200000000000000" charset="-122"/>
                <a:ea typeface="Noto Sans SC" panose="020B0200000000000000" charset="-122"/>
                <a:cs typeface="Noto Sans SC" panose="020B0200000000000000" charset="-122"/>
                <a:sym typeface="Noto Sans SC" panose="020B0200000000000000" charset="-122"/>
              </a:rPr>
              <a:t>信号 (Signal)</a:t>
            </a:r>
            <a:endParaRPr lang="en-US" sz="1100"/>
          </a:p>
        </p:txBody>
      </p:sp>
      <p:sp>
        <p:nvSpPr>
          <p:cNvPr id="6" name="AutoShape 6"/>
          <p:cNvSpPr/>
          <p:nvPr>
            <p:custDataLst>
              <p:tags r:id="rId5"/>
            </p:custDataLst>
          </p:nvPr>
        </p:nvSpPr>
        <p:spPr>
          <a:xfrm>
            <a:off x="1422400" y="2062480"/>
            <a:ext cx="4826000" cy="10922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a:solidFill>
                  <a:srgbClr val="374151"/>
                </a:solidFill>
                <a:latin typeface="Noto Sans SC" panose="020B0200000000000000" charset="-122"/>
                <a:ea typeface="Noto Sans SC" panose="020B0200000000000000" charset="-122"/>
                <a:cs typeface="Noto Sans SC" panose="020B0200000000000000" charset="-122"/>
              </a:rPr>
              <a:t>当某个特定条件满足或事件发生时（例如按钮被点击、定时器触发等），对象会自动发出一个信号。信号本质上是一种特殊的函数声明，它不需要具体的实现，只负责通知外界：“我这里发生了某件事”</a:t>
            </a:r>
            <a:endParaRPr lang="en-US" sz="1400">
              <a:solidFill>
                <a:srgbClr val="374151"/>
              </a:solidFill>
              <a:latin typeface="Noto Sans SC" panose="020B0200000000000000" charset="-122"/>
              <a:ea typeface="Noto Sans SC" panose="020B0200000000000000" charset="-122"/>
              <a:cs typeface="Noto Sans SC" panose="020B0200000000000000" charset="-122"/>
            </a:endParaRPr>
          </a:p>
        </p:txBody>
      </p:sp>
      <p:pic>
        <p:nvPicPr>
          <p:cNvPr id="7" name="Picture 7"/>
          <p:cNvPicPr>
            <a:picLocks noChangeAspect="1"/>
          </p:cNvPicPr>
          <p:nvPr>
            <p:custDataLst>
              <p:tags r:id="rId6"/>
            </p:custDataLst>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62000" y="3213100"/>
            <a:ext cx="406400" cy="406400"/>
          </a:xfrm>
          <a:prstGeom prst="rect">
            <a:avLst/>
          </a:prstGeom>
        </p:spPr>
      </p:pic>
      <p:sp>
        <p:nvSpPr>
          <p:cNvPr id="8" name="AutoShape 8"/>
          <p:cNvSpPr/>
          <p:nvPr>
            <p:custDataLst>
              <p:tags r:id="rId9"/>
            </p:custDataLst>
          </p:nvPr>
        </p:nvSpPr>
        <p:spPr>
          <a:xfrm>
            <a:off x="1422400" y="3251200"/>
            <a:ext cx="482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D1B2A"/>
                </a:solidFill>
                <a:latin typeface="Noto Sans SC" panose="020B0200000000000000" charset="-122"/>
                <a:ea typeface="Noto Sans SC" panose="020B0200000000000000" charset="-122"/>
                <a:cs typeface="Noto Sans SC" panose="020B0200000000000000" charset="-122"/>
                <a:sym typeface="Noto Sans SC" panose="020B0200000000000000" charset="-122"/>
              </a:rPr>
              <a:t>槽 (Slot)</a:t>
            </a:r>
            <a:endParaRPr lang="en-US" sz="1100"/>
          </a:p>
        </p:txBody>
      </p:sp>
      <p:sp>
        <p:nvSpPr>
          <p:cNvPr id="9" name="AutoShape 9"/>
          <p:cNvSpPr/>
          <p:nvPr>
            <p:custDataLst>
              <p:tags r:id="rId10"/>
            </p:custDataLst>
          </p:nvPr>
        </p:nvSpPr>
        <p:spPr>
          <a:xfrm>
            <a:off x="1422400" y="3652520"/>
            <a:ext cx="4826000" cy="8636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a:solidFill>
                  <a:srgbClr val="374151"/>
                </a:solidFill>
                <a:latin typeface="Noto Sans SC" panose="020B0200000000000000" charset="-122"/>
                <a:ea typeface="Noto Sans SC" panose="020B0200000000000000" charset="-122"/>
                <a:cs typeface="Noto Sans SC" panose="020B0200000000000000" charset="-122"/>
              </a:rPr>
              <a:t>槽就是用来响应信号的函数，它可以是普通的成员函数、静态函数，也可以是 Lambda 表达式。当一个信号被发射时，与其连接的槽函数就会被自动调用，从而完成相应的逻辑处理。</a:t>
            </a:r>
            <a:endParaRPr lang="en-US" sz="1400">
              <a:solidFill>
                <a:srgbClr val="374151"/>
              </a:solidFill>
              <a:latin typeface="Noto Sans SC" panose="020B0200000000000000" charset="-122"/>
              <a:ea typeface="Noto Sans SC" panose="020B0200000000000000" charset="-122"/>
              <a:cs typeface="Noto Sans SC" panose="020B0200000000000000" charset="-122"/>
            </a:endParaRPr>
          </a:p>
        </p:txBody>
      </p:sp>
      <p:pic>
        <p:nvPicPr>
          <p:cNvPr id="10" name="Picture 10"/>
          <p:cNvPicPr>
            <a:picLocks noChangeAspect="1"/>
          </p:cNvPicPr>
          <p:nvPr>
            <p:custDataLst>
              <p:tags r:id="rId11"/>
            </p:custDataLst>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762000" y="4775200"/>
            <a:ext cx="406400" cy="406400"/>
          </a:xfrm>
          <a:prstGeom prst="rect">
            <a:avLst/>
          </a:prstGeom>
        </p:spPr>
      </p:pic>
      <p:sp>
        <p:nvSpPr>
          <p:cNvPr id="11" name="AutoShape 11"/>
          <p:cNvSpPr/>
          <p:nvPr>
            <p:custDataLst>
              <p:tags r:id="rId14"/>
            </p:custDataLst>
          </p:nvPr>
        </p:nvSpPr>
        <p:spPr>
          <a:xfrm>
            <a:off x="1422400" y="4841240"/>
            <a:ext cx="482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D1B2A"/>
                </a:solidFill>
                <a:latin typeface="Noto Sans SC" panose="020B0200000000000000" charset="-122"/>
                <a:ea typeface="Noto Sans SC" panose="020B0200000000000000" charset="-122"/>
                <a:cs typeface="Noto Sans SC" panose="020B0200000000000000" charset="-122"/>
                <a:sym typeface="Noto Sans SC" panose="020B0200000000000000" charset="-122"/>
              </a:rPr>
              <a:t>连接 (Connect)</a:t>
            </a:r>
            <a:endParaRPr lang="en-US" sz="1100"/>
          </a:p>
        </p:txBody>
      </p:sp>
      <p:sp>
        <p:nvSpPr>
          <p:cNvPr id="12" name="AutoShape 12"/>
          <p:cNvSpPr/>
          <p:nvPr>
            <p:custDataLst>
              <p:tags r:id="rId15"/>
            </p:custDataLst>
          </p:nvPr>
        </p:nvSpPr>
        <p:spPr>
          <a:xfrm>
            <a:off x="1422400" y="5270500"/>
            <a:ext cx="4826000" cy="5588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将信号与槽关联，信号发出时槽函数自动调用。</a:t>
            </a:r>
            <a:endParaRPr lang="en-US" sz="1100"/>
          </a:p>
        </p:txBody>
      </p:sp>
      <p:cxnSp>
        <p:nvCxnSpPr>
          <p:cNvPr id="13" name="Connector 13"/>
          <p:cNvCxnSpPr/>
          <p:nvPr/>
        </p:nvCxnSpPr>
        <p:spPr>
          <a:xfrm rot="5388910">
            <a:off x="4381500" y="3613160"/>
            <a:ext cx="3937000" cy="12700"/>
          </a:xfrm>
          <a:prstGeom prst="straightConnector1">
            <a:avLst/>
          </a:prstGeom>
          <a:solidFill>
            <a:srgbClr val="DEE0E3">
              <a:alpha val="100000"/>
            </a:srgbClr>
          </a:solidFill>
          <a:ln w="12700" cap="flat" cmpd="sng">
            <a:solidFill>
              <a:srgbClr val="E5E7EB">
                <a:alpha val="100000"/>
              </a:srgbClr>
            </a:solidFill>
            <a:prstDash val="dash"/>
            <a:round/>
            <a:headEnd type="none" w="med" len="med"/>
            <a:tailEnd type="none" w="med" len="med"/>
          </a:ln>
        </p:spPr>
      </p:cxnSp>
      <p:pic>
        <p:nvPicPr>
          <p:cNvPr id="14" name="Picture 14"/>
          <p:cNvPicPr>
            <a:picLocks noChangeAspect="1"/>
          </p:cNvPicPr>
          <p:nvPr/>
        </p:nvPicPr>
        <p:blipFill>
          <a:blip r:embed="rId16"/>
          <a:srcRect t="12500" b="12500"/>
          <a:stretch>
            <a:fillRect/>
          </a:stretch>
        </p:blipFill>
        <p:spPr>
          <a:xfrm>
            <a:off x="6858000" y="2032000"/>
            <a:ext cx="4318000" cy="3238500"/>
          </a:xfrm>
          <a:prstGeom prst="roundRect">
            <a:avLst>
              <a:gd name="adj" fmla="val 4705"/>
            </a:avLst>
          </a:prstGeom>
          <a:noFill/>
          <a:ln w="25400" cap="flat" cmpd="sng">
            <a:noFill/>
            <a:prstDash val="solid"/>
            <a:round/>
          </a:ln>
          <a:effectLst>
            <a:outerShdw blurRad="254000" dist="63500" dir="2700000" algn="tl" rotWithShape="0">
              <a:srgbClr val="000000">
                <a:alpha val="10000"/>
              </a:srgbClr>
            </a:outerShdw>
          </a:effectLst>
        </p:spPr>
      </p:pic>
      <p:sp>
        <p:nvSpPr>
          <p:cNvPr id="15" name="AutoShape 15"/>
          <p:cNvSpPr/>
          <p:nvPr/>
        </p:nvSpPr>
        <p:spPr>
          <a:xfrm>
            <a:off x="6858000" y="5397500"/>
            <a:ext cx="4318000" cy="254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信号与槽连接示意图</a:t>
            </a:r>
            <a:endParaRPr lang="en-US" sz="11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5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5080000" cy="558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D1B2A"/>
                </a:solidFill>
                <a:latin typeface="Noto Sans SC" panose="020B0200000000000000" charset="-122"/>
                <a:ea typeface="Noto Sans SC" panose="020B0200000000000000" charset="-122"/>
                <a:cs typeface="Noto Sans SC" panose="020B0200000000000000" charset="-122"/>
                <a:sym typeface="Noto Sans SC" panose="020B0200000000000000" charset="-122"/>
              </a:rPr>
              <a:t>工作原理</a:t>
            </a:r>
            <a:endParaRPr lang="en-US" sz="1100"/>
          </a:p>
        </p:txBody>
      </p:sp>
      <p:cxnSp>
        <p:nvCxnSpPr>
          <p:cNvPr id="3" name="Connector 3"/>
          <p:cNvCxnSpPr/>
          <p:nvPr/>
        </p:nvCxnSpPr>
        <p:spPr>
          <a:xfrm rot="-4092">
            <a:off x="762004" y="1263650"/>
            <a:ext cx="10668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4" name="AutoShape 4"/>
          <p:cNvSpPr/>
          <p:nvPr/>
        </p:nvSpPr>
        <p:spPr>
          <a:xfrm>
            <a:off x="762000" y="1651000"/>
            <a:ext cx="10668000" cy="1143000"/>
          </a:xfrm>
          <a:prstGeom prst="roundRect">
            <a:avLst>
              <a:gd name="adj" fmla="val 8888"/>
            </a:avLst>
          </a:prstGeom>
          <a:solidFill>
            <a:srgbClr val="FFFFFF">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66800" y="2019300"/>
            <a:ext cx="406400" cy="406400"/>
          </a:xfrm>
          <a:prstGeom prst="rect">
            <a:avLst/>
          </a:prstGeom>
        </p:spPr>
      </p:pic>
      <p:sp>
        <p:nvSpPr>
          <p:cNvPr id="6" name="AutoShape 6"/>
          <p:cNvSpPr/>
          <p:nvPr/>
        </p:nvSpPr>
        <p:spPr>
          <a:xfrm>
            <a:off x="1727200" y="1879600"/>
            <a:ext cx="889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D1B2A"/>
                </a:solidFill>
                <a:latin typeface="Noto Sans SC" panose="020B0200000000000000" charset="-122"/>
                <a:ea typeface="Noto Sans SC" panose="020B0200000000000000" charset="-122"/>
                <a:cs typeface="Noto Sans SC" panose="020B0200000000000000" charset="-122"/>
                <a:sym typeface="Noto Sans SC" panose="020B0200000000000000" charset="-122"/>
              </a:rPr>
              <a:t>元对象系统支持</a:t>
            </a:r>
            <a:endParaRPr lang="en-US" sz="1100"/>
          </a:p>
        </p:txBody>
      </p:sp>
      <p:sp>
        <p:nvSpPr>
          <p:cNvPr id="7" name="AutoShape 7"/>
          <p:cNvSpPr/>
          <p:nvPr/>
        </p:nvSpPr>
        <p:spPr>
          <a:xfrm>
            <a:off x="1727200" y="2286000"/>
            <a:ext cx="8890000" cy="2794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Qt的元对象系统（Meta-Object System）提供了信号与槽机制的底层支持。</a:t>
            </a:r>
            <a:endParaRPr lang="en-US" sz="1100"/>
          </a:p>
        </p:txBody>
      </p:sp>
      <p:sp>
        <p:nvSpPr>
          <p:cNvPr id="8" name="AutoShape 8"/>
          <p:cNvSpPr/>
          <p:nvPr/>
        </p:nvSpPr>
        <p:spPr>
          <a:xfrm>
            <a:off x="762000" y="3048000"/>
            <a:ext cx="10668000" cy="1143000"/>
          </a:xfrm>
          <a:prstGeom prst="roundRect">
            <a:avLst>
              <a:gd name="adj" fmla="val 8888"/>
            </a:avLst>
          </a:prstGeom>
          <a:solidFill>
            <a:srgbClr val="FFFFFF">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6800" y="3416300"/>
            <a:ext cx="406400" cy="406400"/>
          </a:xfrm>
          <a:prstGeom prst="rect">
            <a:avLst/>
          </a:prstGeom>
        </p:spPr>
      </p:pic>
      <p:sp>
        <p:nvSpPr>
          <p:cNvPr id="10" name="AutoShape 10"/>
          <p:cNvSpPr/>
          <p:nvPr/>
        </p:nvSpPr>
        <p:spPr>
          <a:xfrm>
            <a:off x="1727200" y="3276600"/>
            <a:ext cx="889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D1B2A"/>
                </a:solidFill>
                <a:latin typeface="Noto Sans SC" panose="020B0200000000000000" charset="-122"/>
                <a:ea typeface="Noto Sans SC" panose="020B0200000000000000" charset="-122"/>
                <a:cs typeface="Noto Sans SC" panose="020B0200000000000000" charset="-122"/>
                <a:sym typeface="Noto Sans SC" panose="020B0200000000000000" charset="-122"/>
              </a:rPr>
              <a:t>QObject 基类</a:t>
            </a:r>
            <a:endParaRPr lang="en-US" sz="1100"/>
          </a:p>
        </p:txBody>
      </p:sp>
      <p:sp>
        <p:nvSpPr>
          <p:cNvPr id="11" name="AutoShape 11"/>
          <p:cNvSpPr/>
          <p:nvPr/>
        </p:nvSpPr>
        <p:spPr>
          <a:xfrm>
            <a:off x="1727200" y="3683000"/>
            <a:ext cx="8890000" cy="2794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所有支持信号与槽的类都必须直接或间接继承自 QObject 类。</a:t>
            </a:r>
            <a:endParaRPr lang="en-US" sz="1100"/>
          </a:p>
        </p:txBody>
      </p:sp>
      <p:sp>
        <p:nvSpPr>
          <p:cNvPr id="12" name="AutoShape 12"/>
          <p:cNvSpPr/>
          <p:nvPr/>
        </p:nvSpPr>
        <p:spPr>
          <a:xfrm>
            <a:off x="762000" y="4445000"/>
            <a:ext cx="10668000" cy="1143000"/>
          </a:xfrm>
          <a:prstGeom prst="roundRect">
            <a:avLst>
              <a:gd name="adj" fmla="val 8888"/>
            </a:avLst>
          </a:prstGeom>
          <a:solidFill>
            <a:srgbClr val="FFFFFF">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66800" y="4813300"/>
            <a:ext cx="406400" cy="406400"/>
          </a:xfrm>
          <a:prstGeom prst="rect">
            <a:avLst/>
          </a:prstGeom>
        </p:spPr>
      </p:pic>
      <p:sp>
        <p:nvSpPr>
          <p:cNvPr id="14" name="AutoShape 14"/>
          <p:cNvSpPr/>
          <p:nvPr/>
        </p:nvSpPr>
        <p:spPr>
          <a:xfrm>
            <a:off x="1727200" y="4673600"/>
            <a:ext cx="889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D1B2A"/>
                </a:solidFill>
                <a:latin typeface="Noto Sans SC" panose="020B0200000000000000" charset="-122"/>
                <a:ea typeface="Noto Sans SC" panose="020B0200000000000000" charset="-122"/>
                <a:cs typeface="Noto Sans SC" panose="020B0200000000000000" charset="-122"/>
                <a:sym typeface="Noto Sans SC" panose="020B0200000000000000" charset="-122"/>
              </a:rPr>
              <a:t>MOC 预编译工具</a:t>
            </a:r>
            <a:endParaRPr lang="en-US" sz="1100"/>
          </a:p>
        </p:txBody>
      </p:sp>
      <p:sp>
        <p:nvSpPr>
          <p:cNvPr id="15" name="AutoShape 15"/>
          <p:cNvSpPr/>
          <p:nvPr/>
        </p:nvSpPr>
        <p:spPr>
          <a:xfrm>
            <a:off x="1727200" y="5080000"/>
            <a:ext cx="8890000" cy="2794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moc 工具预处理含 Q_OBJECT 宏的头文件，生成额外代码实现信号与槽通信。</a:t>
            </a:r>
            <a:endParaRPr lang="en-US" sz="11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7620000" cy="558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D1B2A"/>
                </a:solidFill>
                <a:latin typeface="Noto Sans SC" panose="020B0200000000000000" charset="-122"/>
                <a:ea typeface="Noto Sans SC" panose="020B0200000000000000" charset="-122"/>
                <a:cs typeface="Noto Sans SC" panose="020B0200000000000000" charset="-122"/>
                <a:sym typeface="Noto Sans SC" panose="020B0200000000000000" charset="-122"/>
              </a:rPr>
              <a:t>信号发射与槽调用机制</a:t>
            </a:r>
            <a:endParaRPr lang="en-US" sz="1100"/>
          </a:p>
        </p:txBody>
      </p:sp>
      <p:cxnSp>
        <p:nvCxnSpPr>
          <p:cNvPr id="3" name="Connector 3"/>
          <p:cNvCxnSpPr/>
          <p:nvPr/>
        </p:nvCxnSpPr>
        <p:spPr>
          <a:xfrm rot="-4092">
            <a:off x="762004" y="1263650"/>
            <a:ext cx="10668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pic>
        <p:nvPicPr>
          <p:cNvPr id="4" name="Picture 4"/>
          <p:cNvPicPr>
            <a:picLocks noChangeAspect="1"/>
          </p:cNvPicPr>
          <p:nvPr>
            <p:custDataLst>
              <p:tags r:id="rId1"/>
            </p:custDataLst>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62000" y="1651000"/>
            <a:ext cx="304800" cy="304800"/>
          </a:xfrm>
          <a:prstGeom prst="rect">
            <a:avLst/>
          </a:prstGeom>
        </p:spPr>
      </p:pic>
      <p:sp>
        <p:nvSpPr>
          <p:cNvPr id="5" name="AutoShape 5"/>
          <p:cNvSpPr/>
          <p:nvPr>
            <p:custDataLst>
              <p:tags r:id="rId4"/>
            </p:custDataLst>
          </p:nvPr>
        </p:nvSpPr>
        <p:spPr>
          <a:xfrm>
            <a:off x="1270000" y="1651000"/>
            <a:ext cx="482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D1B2A"/>
                </a:solidFill>
                <a:latin typeface="Noto Sans SC" panose="020B0200000000000000" charset="-122"/>
                <a:ea typeface="Noto Sans SC" panose="020B0200000000000000" charset="-122"/>
                <a:cs typeface="Noto Sans SC" panose="020B0200000000000000" charset="-122"/>
                <a:sym typeface="Noto Sans SC" panose="020B0200000000000000" charset="-122"/>
              </a:rPr>
              <a:t>发射信号 (emit)</a:t>
            </a:r>
            <a:endParaRPr lang="en-US" sz="1100"/>
          </a:p>
        </p:txBody>
      </p:sp>
      <p:sp>
        <p:nvSpPr>
          <p:cNvPr id="6" name="AutoShape 6"/>
          <p:cNvSpPr/>
          <p:nvPr>
            <p:custDataLst>
              <p:tags r:id="rId5"/>
            </p:custDataLst>
          </p:nvPr>
        </p:nvSpPr>
        <p:spPr>
          <a:xfrm>
            <a:off x="1270000" y="2082800"/>
            <a:ext cx="4826000" cy="5588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`emit` 是语法提示宏，信号本质是MOC生成的函数，调用即触发发射。</a:t>
            </a:r>
            <a:endParaRPr lang="en-US" sz="1100"/>
          </a:p>
        </p:txBody>
      </p:sp>
      <p:pic>
        <p:nvPicPr>
          <p:cNvPr id="7" name="Picture 7"/>
          <p:cNvPicPr>
            <a:picLocks noChangeAspect="1"/>
          </p:cNvPicPr>
          <p:nvPr>
            <p:custDataLst>
              <p:tags r:id="rId6"/>
            </p:custDataLst>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62000" y="3048000"/>
            <a:ext cx="304800" cy="304800"/>
          </a:xfrm>
          <a:prstGeom prst="rect">
            <a:avLst/>
          </a:prstGeom>
        </p:spPr>
      </p:pic>
      <p:sp>
        <p:nvSpPr>
          <p:cNvPr id="8" name="AutoShape 8"/>
          <p:cNvSpPr/>
          <p:nvPr>
            <p:custDataLst>
              <p:tags r:id="rId9"/>
            </p:custDataLst>
          </p:nvPr>
        </p:nvSpPr>
        <p:spPr>
          <a:xfrm>
            <a:off x="1270000" y="3048000"/>
            <a:ext cx="482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D1B2A"/>
                </a:solidFill>
                <a:latin typeface="Noto Sans SC" panose="020B0200000000000000" charset="-122"/>
                <a:ea typeface="Noto Sans SC" panose="020B0200000000000000" charset="-122"/>
                <a:cs typeface="Noto Sans SC" panose="020B0200000000000000" charset="-122"/>
                <a:sym typeface="Noto Sans SC" panose="020B0200000000000000" charset="-122"/>
              </a:rPr>
              <a:t>遍历连接列表</a:t>
            </a:r>
            <a:endParaRPr lang="en-US" sz="1100"/>
          </a:p>
        </p:txBody>
      </p:sp>
      <p:sp>
        <p:nvSpPr>
          <p:cNvPr id="9" name="AutoShape 9"/>
          <p:cNvSpPr/>
          <p:nvPr>
            <p:custDataLst>
              <p:tags r:id="rId10"/>
            </p:custDataLst>
          </p:nvPr>
        </p:nvSpPr>
        <p:spPr>
          <a:xfrm>
            <a:off x="1270000" y="3479800"/>
            <a:ext cx="4826000" cy="5588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信号内部维护连接列表，发射时Qt会遍历列表找到所有关联的槽。</a:t>
            </a:r>
            <a:endParaRPr lang="en-US" sz="1100"/>
          </a:p>
        </p:txBody>
      </p:sp>
      <p:pic>
        <p:nvPicPr>
          <p:cNvPr id="10" name="Picture 10"/>
          <p:cNvPicPr>
            <a:picLocks noChangeAspect="1"/>
          </p:cNvPicPr>
          <p:nvPr>
            <p:custDataLst>
              <p:tags r:id="rId11"/>
            </p:custDataLst>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762000" y="4445000"/>
            <a:ext cx="304800" cy="304800"/>
          </a:xfrm>
          <a:prstGeom prst="rect">
            <a:avLst/>
          </a:prstGeom>
        </p:spPr>
      </p:pic>
      <p:sp>
        <p:nvSpPr>
          <p:cNvPr id="11" name="AutoShape 11"/>
          <p:cNvSpPr/>
          <p:nvPr>
            <p:custDataLst>
              <p:tags r:id="rId14"/>
            </p:custDataLst>
          </p:nvPr>
        </p:nvSpPr>
        <p:spPr>
          <a:xfrm>
            <a:off x="1270000" y="4445000"/>
            <a:ext cx="482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D1B2A"/>
                </a:solidFill>
                <a:latin typeface="Noto Sans SC" panose="020B0200000000000000" charset="-122"/>
                <a:ea typeface="Noto Sans SC" panose="020B0200000000000000" charset="-122"/>
                <a:cs typeface="Noto Sans SC" panose="020B0200000000000000" charset="-122"/>
                <a:sym typeface="Noto Sans SC" panose="020B0200000000000000" charset="-122"/>
              </a:rPr>
              <a:t>调用槽函数</a:t>
            </a:r>
            <a:endParaRPr lang="en-US" sz="1100"/>
          </a:p>
        </p:txBody>
      </p:sp>
      <p:sp>
        <p:nvSpPr>
          <p:cNvPr id="12" name="AutoShape 12"/>
          <p:cNvSpPr/>
          <p:nvPr>
            <p:custDataLst>
              <p:tags r:id="rId15"/>
            </p:custDataLst>
          </p:nvPr>
        </p:nvSpPr>
        <p:spPr>
          <a:xfrm>
            <a:off x="1270000" y="4876800"/>
            <a:ext cx="4826000" cy="5588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根据连接类型直接调用或事件队列调用，一个信号可连接多个槽。</a:t>
            </a:r>
            <a:endParaRPr lang="en-US" sz="1100"/>
          </a:p>
        </p:txBody>
      </p:sp>
      <p:pic>
        <p:nvPicPr>
          <p:cNvPr id="14" name="Picture 14"/>
          <p:cNvPicPr>
            <a:picLocks noChangeAspect="1"/>
          </p:cNvPicPr>
          <p:nvPr/>
        </p:nvPicPr>
        <p:blipFill>
          <a:blip r:embed="rId16"/>
          <a:srcRect t="12500" b="12500"/>
          <a:stretch>
            <a:fillRect/>
          </a:stretch>
        </p:blipFill>
        <p:spPr>
          <a:xfrm>
            <a:off x="6604000" y="1905000"/>
            <a:ext cx="4826000" cy="3619500"/>
          </a:xfrm>
          <a:prstGeom prst="roundRect">
            <a:avLst>
              <a:gd name="adj" fmla="val 4210"/>
            </a:avLst>
          </a:prstGeom>
          <a:noFill/>
          <a:ln w="12700" cap="flat" cmpd="sng">
            <a:solidFill>
              <a:srgbClr val="E5E7EB">
                <a:alpha val="100000"/>
              </a:srgbClr>
            </a:solidFill>
            <a:prstDash val="solid"/>
            <a:round/>
          </a:ln>
        </p:spPr>
      </p:pic>
      <p:sp>
        <p:nvSpPr>
          <p:cNvPr id="15" name="AutoShape 15"/>
          <p:cNvSpPr/>
          <p:nvPr/>
        </p:nvSpPr>
        <p:spPr>
          <a:xfrm>
            <a:off x="6604000" y="5651500"/>
            <a:ext cx="4826000" cy="2794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信号发射与槽调用流程示意图</a:t>
            </a:r>
            <a:endParaRPr lang="en-US" sz="11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7620000" cy="558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D1B2A"/>
                </a:solidFill>
                <a:latin typeface="Noto Sans SC" panose="020B0200000000000000" charset="-122"/>
                <a:ea typeface="Noto Sans SC" panose="020B0200000000000000" charset="-122"/>
                <a:cs typeface="Noto Sans SC" panose="020B0200000000000000" charset="-122"/>
                <a:sym typeface="Noto Sans SC" panose="020B0200000000000000" charset="-122"/>
              </a:rPr>
              <a:t>连接类型详解</a:t>
            </a:r>
            <a:endParaRPr lang="en-US" sz="1100"/>
          </a:p>
        </p:txBody>
      </p:sp>
      <p:cxnSp>
        <p:nvCxnSpPr>
          <p:cNvPr id="3" name="Connector 3"/>
          <p:cNvCxnSpPr/>
          <p:nvPr/>
        </p:nvCxnSpPr>
        <p:spPr>
          <a:xfrm rot="-4092">
            <a:off x="762004" y="1212850"/>
            <a:ext cx="10668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62000" y="1625600"/>
            <a:ext cx="304800" cy="304800"/>
          </a:xfrm>
          <a:prstGeom prst="rect">
            <a:avLst/>
          </a:prstGeom>
        </p:spPr>
      </p:pic>
      <p:sp>
        <p:nvSpPr>
          <p:cNvPr id="5" name="AutoShape 5"/>
          <p:cNvSpPr/>
          <p:nvPr/>
        </p:nvSpPr>
        <p:spPr>
          <a:xfrm>
            <a:off x="1219200" y="1625600"/>
            <a:ext cx="482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D1B2A"/>
                </a:solidFill>
                <a:latin typeface="Noto Sans SC" panose="020B0200000000000000" charset="-122"/>
                <a:ea typeface="Noto Sans SC" panose="020B0200000000000000" charset="-122"/>
                <a:cs typeface="Noto Sans SC" panose="020B0200000000000000" charset="-122"/>
                <a:sym typeface="Noto Sans SC" panose="020B0200000000000000" charset="-122"/>
              </a:rPr>
              <a:t>Qt::DirectConnection (直接连接)</a:t>
            </a:r>
            <a:endParaRPr lang="en-US" sz="1100"/>
          </a:p>
        </p:txBody>
      </p:sp>
      <p:sp>
        <p:nvSpPr>
          <p:cNvPr id="6" name="AutoShape 6"/>
          <p:cNvSpPr/>
          <p:nvPr/>
        </p:nvSpPr>
        <p:spPr>
          <a:xfrm>
            <a:off x="1219200" y="2032000"/>
            <a:ext cx="4826000" cy="5588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信号发射后，槽函数立即在发射者线程被同步调用，效率高但跨线程不安全。</a:t>
            </a:r>
            <a:endParaRPr lang="en-US" sz="1100"/>
          </a:p>
        </p:txBody>
      </p: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62000" y="2946400"/>
            <a:ext cx="304800" cy="304800"/>
          </a:xfrm>
          <a:prstGeom prst="rect">
            <a:avLst/>
          </a:prstGeom>
        </p:spPr>
      </p:pic>
      <p:sp>
        <p:nvSpPr>
          <p:cNvPr id="8" name="AutoShape 8"/>
          <p:cNvSpPr/>
          <p:nvPr/>
        </p:nvSpPr>
        <p:spPr>
          <a:xfrm>
            <a:off x="1219200" y="2946400"/>
            <a:ext cx="482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D1B2A"/>
                </a:solidFill>
                <a:latin typeface="Noto Sans SC" panose="020B0200000000000000" charset="-122"/>
                <a:ea typeface="Noto Sans SC" panose="020B0200000000000000" charset="-122"/>
                <a:cs typeface="Noto Sans SC" panose="020B0200000000000000" charset="-122"/>
                <a:sym typeface="Noto Sans SC" panose="020B0200000000000000" charset="-122"/>
              </a:rPr>
              <a:t>Qt::QueuedConnection (队列连接)</a:t>
            </a:r>
            <a:endParaRPr lang="en-US" sz="1100"/>
          </a:p>
        </p:txBody>
      </p:sp>
      <p:sp>
        <p:nvSpPr>
          <p:cNvPr id="9" name="AutoShape 9"/>
          <p:cNvSpPr/>
          <p:nvPr/>
        </p:nvSpPr>
        <p:spPr>
          <a:xfrm>
            <a:off x="1219200" y="3352800"/>
            <a:ext cx="4826000" cy="5588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调用请求被封装成事件入队，由接收者线程处理，异步且线程安全。</a:t>
            </a:r>
            <a:endParaRPr lang="en-US" sz="1100"/>
          </a:p>
        </p:txBody>
      </p:sp>
      <p:pic>
        <p:nvPicPr>
          <p:cNvPr id="10" name="Picture 1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62000" y="4267200"/>
            <a:ext cx="304800" cy="304800"/>
          </a:xfrm>
          <a:prstGeom prst="rect">
            <a:avLst/>
          </a:prstGeom>
        </p:spPr>
      </p:pic>
      <p:sp>
        <p:nvSpPr>
          <p:cNvPr id="11" name="AutoShape 11"/>
          <p:cNvSpPr/>
          <p:nvPr/>
        </p:nvSpPr>
        <p:spPr>
          <a:xfrm>
            <a:off x="1219200" y="4267200"/>
            <a:ext cx="482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D1B2A"/>
                </a:solidFill>
                <a:latin typeface="Noto Sans SC" panose="020B0200000000000000" charset="-122"/>
                <a:ea typeface="Noto Sans SC" panose="020B0200000000000000" charset="-122"/>
                <a:cs typeface="Noto Sans SC" panose="020B0200000000000000" charset="-122"/>
                <a:sym typeface="Noto Sans SC" panose="020B0200000000000000" charset="-122"/>
              </a:rPr>
              <a:t>Qt::AutoConnection (自动连接)</a:t>
            </a:r>
            <a:endParaRPr lang="en-US" sz="1100"/>
          </a:p>
        </p:txBody>
      </p:sp>
      <p:sp>
        <p:nvSpPr>
          <p:cNvPr id="12" name="AutoShape 12"/>
          <p:cNvSpPr/>
          <p:nvPr/>
        </p:nvSpPr>
        <p:spPr>
          <a:xfrm>
            <a:off x="1219200" y="4673600"/>
            <a:ext cx="4826000" cy="5588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默认方式，Qt根据线程关系自动选择 Direct 或 Queued 连接。</a:t>
            </a:r>
            <a:endParaRPr lang="en-US" sz="11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7620000" cy="609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D1B2A"/>
                </a:solidFill>
                <a:latin typeface="Noto Sans SC" panose="020B0200000000000000" charset="-122"/>
                <a:ea typeface="Noto Sans SC" panose="020B0200000000000000" charset="-122"/>
                <a:cs typeface="Noto Sans SC" panose="020B0200000000000000" charset="-122"/>
                <a:sym typeface="Noto Sans SC" panose="020B0200000000000000" charset="-122"/>
              </a:rPr>
              <a:t>与事件循环的关系</a:t>
            </a:r>
            <a:endParaRPr lang="en-US" sz="1100"/>
          </a:p>
        </p:txBody>
      </p:sp>
      <p:cxnSp>
        <p:nvCxnSpPr>
          <p:cNvPr id="3" name="Connector 3"/>
          <p:cNvCxnSpPr/>
          <p:nvPr/>
        </p:nvCxnSpPr>
        <p:spPr>
          <a:xfrm rot="-4092">
            <a:off x="762004" y="1263650"/>
            <a:ext cx="10668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62000" y="1651000"/>
            <a:ext cx="304800" cy="304800"/>
          </a:xfrm>
          <a:prstGeom prst="rect">
            <a:avLst/>
          </a:prstGeom>
        </p:spPr>
      </p:pic>
      <p:sp>
        <p:nvSpPr>
          <p:cNvPr id="5" name="AutoShape 5"/>
          <p:cNvSpPr/>
          <p:nvPr/>
        </p:nvSpPr>
        <p:spPr>
          <a:xfrm>
            <a:off x="1219200" y="1663700"/>
            <a:ext cx="482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D1B2A"/>
                </a:solidFill>
                <a:latin typeface="Noto Sans SC" panose="020B0200000000000000" charset="-122"/>
                <a:ea typeface="Noto Sans SC" panose="020B0200000000000000" charset="-122"/>
                <a:cs typeface="Noto Sans SC" panose="020B0200000000000000" charset="-122"/>
                <a:sym typeface="Noto Sans SC" panose="020B0200000000000000" charset="-122"/>
              </a:rPr>
              <a:t>信号与槽 ≠ 事件循环</a:t>
            </a:r>
            <a:endParaRPr lang="en-US" sz="1100"/>
          </a:p>
        </p:txBody>
      </p:sp>
      <p:sp>
        <p:nvSpPr>
          <p:cNvPr id="6" name="AutoShape 6"/>
          <p:cNvSpPr/>
          <p:nvPr/>
        </p:nvSpPr>
        <p:spPr>
          <a:xfrm>
            <a:off x="1219200" y="2032000"/>
            <a:ext cx="4826000" cy="5588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信号与槽机制本身是同步的函数调用，不依赖事件循环。</a:t>
            </a:r>
            <a:endParaRPr lang="en-US" sz="1100"/>
          </a:p>
        </p:txBody>
      </p: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62000" y="2844800"/>
            <a:ext cx="304800" cy="304800"/>
          </a:xfrm>
          <a:prstGeom prst="rect">
            <a:avLst/>
          </a:prstGeom>
        </p:spPr>
      </p:pic>
      <p:sp>
        <p:nvSpPr>
          <p:cNvPr id="8" name="AutoShape 8"/>
          <p:cNvSpPr/>
          <p:nvPr/>
        </p:nvSpPr>
        <p:spPr>
          <a:xfrm>
            <a:off x="1219200" y="2857500"/>
            <a:ext cx="482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D1B2A"/>
                </a:solidFill>
                <a:latin typeface="Noto Sans SC" panose="020B0200000000000000" charset="-122"/>
                <a:ea typeface="Noto Sans SC" panose="020B0200000000000000" charset="-122"/>
                <a:cs typeface="Noto Sans SC" panose="020B0200000000000000" charset="-122"/>
                <a:sym typeface="Noto Sans SC" panose="020B0200000000000000" charset="-122"/>
              </a:rPr>
              <a:t>事件循环的角色</a:t>
            </a:r>
            <a:endParaRPr lang="en-US" sz="1100"/>
          </a:p>
        </p:txBody>
      </p:sp>
      <p:pic>
        <p:nvPicPr>
          <p:cNvPr id="9" name="Picture 9"/>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270000" y="3302000"/>
            <a:ext cx="203200" cy="203200"/>
          </a:xfrm>
          <a:prstGeom prst="rect">
            <a:avLst/>
          </a:prstGeom>
        </p:spPr>
      </p:pic>
      <p:sp>
        <p:nvSpPr>
          <p:cNvPr id="10" name="AutoShape 10"/>
          <p:cNvSpPr/>
          <p:nvPr/>
        </p:nvSpPr>
        <p:spPr>
          <a:xfrm>
            <a:off x="1625600" y="3302000"/>
            <a:ext cx="4445000" cy="5588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异步调用载体：</a:t>
            </a: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`Qt::QueuedConnection` 依赖接收者线程的事件循环。</a:t>
            </a:r>
            <a:endParaRPr lang="en-US" sz="1100"/>
          </a:p>
        </p:txBody>
      </p:sp>
      <p:pic>
        <p:nvPicPr>
          <p:cNvPr id="11" name="Picture 11"/>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270000" y="4064000"/>
            <a:ext cx="203200" cy="203200"/>
          </a:xfrm>
          <a:prstGeom prst="rect">
            <a:avLst/>
          </a:prstGeom>
        </p:spPr>
      </p:pic>
      <p:sp>
        <p:nvSpPr>
          <p:cNvPr id="12" name="AutoShape 12"/>
          <p:cNvSpPr/>
          <p:nvPr/>
        </p:nvSpPr>
        <p:spPr>
          <a:xfrm>
            <a:off x="1625600" y="4064000"/>
            <a:ext cx="4445000" cy="5588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事件驱动核心：</a:t>
            </a: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处理用户输入、定时器、跨线程信号等所有事件。</a:t>
            </a:r>
            <a:endParaRPr lang="en-US" sz="1100"/>
          </a:p>
        </p:txBody>
      </p:sp>
      <p:sp>
        <p:nvSpPr>
          <p:cNvPr id="13" name="AutoShape 13"/>
          <p:cNvSpPr/>
          <p:nvPr/>
        </p:nvSpPr>
        <p:spPr>
          <a:xfrm>
            <a:off x="762000" y="4876800"/>
            <a:ext cx="5080000" cy="762000"/>
          </a:xfrm>
          <a:prstGeom prst="roundRect">
            <a:avLst>
              <a:gd name="adj" fmla="val 13333"/>
            </a:avLst>
          </a:prstGeom>
          <a:solidFill>
            <a:srgbClr val="A9C4EB">
              <a:alpha val="20000"/>
            </a:srgbClr>
          </a:solidFill>
          <a:ln w="12700" cap="flat" cmpd="sng">
            <a:solidFill>
              <a:srgbClr val="A9C4EB">
                <a:alpha val="100000"/>
              </a:srgbClr>
            </a:solid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65200" y="5130800"/>
            <a:ext cx="254000" cy="254000"/>
          </a:xfrm>
          <a:prstGeom prst="rect">
            <a:avLst/>
          </a:prstGeom>
        </p:spPr>
      </p:pic>
      <p:sp>
        <p:nvSpPr>
          <p:cNvPr id="15" name="AutoShape 15"/>
          <p:cNvSpPr/>
          <p:nvPr/>
        </p:nvSpPr>
        <p:spPr>
          <a:xfrm>
            <a:off x="1371600" y="5105400"/>
            <a:ext cx="4318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D1B2A"/>
                </a:solidFill>
                <a:latin typeface="Noto Sans SC" panose="020B0200000000000000" charset="-122"/>
                <a:ea typeface="Noto Sans SC" panose="020B0200000000000000" charset="-122"/>
                <a:cs typeface="Noto Sans SC" panose="020B0200000000000000" charset="-122"/>
                <a:sym typeface="Noto Sans SC" panose="020B0200000000000000" charset="-122"/>
              </a:rPr>
              <a:t>结论：事件循环是实现信号与槽异步通信的必要条件。</a:t>
            </a:r>
            <a:endParaRPr lang="en-US" sz="1100"/>
          </a:p>
        </p:txBody>
      </p:sp>
      <p:pic>
        <p:nvPicPr>
          <p:cNvPr id="17" name="Picture 17"/>
          <p:cNvPicPr>
            <a:picLocks noChangeAspect="1"/>
          </p:cNvPicPr>
          <p:nvPr/>
        </p:nvPicPr>
        <p:blipFill>
          <a:blip r:embed="rId11"/>
          <a:srcRect t="16710" b="16710"/>
          <a:stretch>
            <a:fillRect/>
          </a:stretch>
        </p:blipFill>
        <p:spPr>
          <a:xfrm>
            <a:off x="6604000" y="1905000"/>
            <a:ext cx="4826000" cy="3213100"/>
          </a:xfrm>
          <a:prstGeom prst="roundRect">
            <a:avLst>
              <a:gd name="adj" fmla="val 4743"/>
            </a:avLst>
          </a:prstGeom>
          <a:noFill/>
          <a:ln w="25400" cap="flat" cmpd="sng">
            <a:noFill/>
            <a:prstDash val="solid"/>
            <a:round/>
          </a:ln>
          <a:effectLst>
            <a:outerShdw blurRad="254000" dist="63500" dir="2700000" algn="tl" rotWithShape="0">
              <a:srgbClr val="000000">
                <a:alpha val="10000"/>
              </a:srgbClr>
            </a:outerShdw>
          </a:effectLst>
        </p:spPr>
      </p:pic>
      <p:sp>
        <p:nvSpPr>
          <p:cNvPr id="18" name="AutoShape 18"/>
          <p:cNvSpPr/>
          <p:nvPr/>
        </p:nvSpPr>
        <p:spPr>
          <a:xfrm>
            <a:off x="6604000" y="5270500"/>
            <a:ext cx="4826000" cy="2794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信号与槽和事件循环关系示意图</a:t>
            </a:r>
            <a:endParaRPr lang="en-US" sz="11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7620000" cy="558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D1B2A"/>
                </a:solidFill>
                <a:latin typeface="Noto Sans SC" panose="020B0200000000000000" charset="-122"/>
                <a:ea typeface="Noto Sans SC" panose="020B0200000000000000" charset="-122"/>
                <a:cs typeface="Noto Sans SC" panose="020B0200000000000000" charset="-122"/>
                <a:sym typeface="Noto Sans SC" panose="020B0200000000000000" charset="-122"/>
              </a:rPr>
              <a:t>信号与槽的优势</a:t>
            </a:r>
            <a:endParaRPr lang="en-US" sz="1100"/>
          </a:p>
        </p:txBody>
      </p:sp>
      <p:cxnSp>
        <p:nvCxnSpPr>
          <p:cNvPr id="3" name="Connector 3"/>
          <p:cNvCxnSpPr/>
          <p:nvPr/>
        </p:nvCxnSpPr>
        <p:spPr>
          <a:xfrm rot="-4092">
            <a:off x="762004" y="1263650"/>
            <a:ext cx="10668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4" name="AutoShape 4"/>
          <p:cNvSpPr/>
          <p:nvPr/>
        </p:nvSpPr>
        <p:spPr>
          <a:xfrm>
            <a:off x="762000" y="1651000"/>
            <a:ext cx="5080000" cy="2032000"/>
          </a:xfrm>
          <a:prstGeom prst="roundRect">
            <a:avLst>
              <a:gd name="adj" fmla="val 5000"/>
            </a:avLst>
          </a:prstGeom>
          <a:solidFill>
            <a:srgbClr val="FFFFFF">
              <a:alpha val="100000"/>
            </a:srgbClr>
          </a:solidFill>
          <a:ln w="12700" cap="flat" cmpd="sng">
            <a:solidFill>
              <a:srgbClr val="E5E7EB">
                <a:alpha val="100000"/>
              </a:srgbClr>
            </a:solidFill>
            <a:prstDash val="solid"/>
            <a:round/>
          </a:ln>
          <a:effectLst>
            <a:outerShdw blurRad="127000" dist="63500" dir="5400000" algn="tl" rotWithShape="0">
              <a:srgbClr val="000000">
                <a:alpha val="5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66800" y="1955800"/>
            <a:ext cx="406400" cy="406400"/>
          </a:xfrm>
          <a:prstGeom prst="rect">
            <a:avLst/>
          </a:prstGeom>
        </p:spPr>
      </p:pic>
      <p:sp>
        <p:nvSpPr>
          <p:cNvPr id="6" name="AutoShape 6"/>
          <p:cNvSpPr/>
          <p:nvPr/>
        </p:nvSpPr>
        <p:spPr>
          <a:xfrm>
            <a:off x="1676400" y="1981200"/>
            <a:ext cx="3810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D1B2A"/>
                </a:solidFill>
                <a:latin typeface="Noto Sans SC" panose="020B0200000000000000" charset="-122"/>
                <a:ea typeface="Noto Sans SC" panose="020B0200000000000000" charset="-122"/>
                <a:cs typeface="Noto Sans SC" panose="020B0200000000000000" charset="-122"/>
                <a:sym typeface="Noto Sans SC" panose="020B0200000000000000" charset="-122"/>
              </a:rPr>
              <a:t>类型安全</a:t>
            </a:r>
            <a:endParaRPr lang="en-US" sz="1100"/>
          </a:p>
        </p:txBody>
      </p:sp>
      <p:sp>
        <p:nvSpPr>
          <p:cNvPr id="7" name="AutoShape 7"/>
          <p:cNvSpPr/>
          <p:nvPr/>
        </p:nvSpPr>
        <p:spPr>
          <a:xfrm>
            <a:off x="1066800" y="2540000"/>
            <a:ext cx="4064000" cy="5588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编译期检查参数类型，有效避免类型不匹配的运行时错误。</a:t>
            </a:r>
            <a:endParaRPr lang="en-US" sz="1100"/>
          </a:p>
        </p:txBody>
      </p:sp>
      <p:sp>
        <p:nvSpPr>
          <p:cNvPr id="8" name="AutoShape 8"/>
          <p:cNvSpPr/>
          <p:nvPr/>
        </p:nvSpPr>
        <p:spPr>
          <a:xfrm>
            <a:off x="6350000" y="1651000"/>
            <a:ext cx="5080000" cy="2032000"/>
          </a:xfrm>
          <a:prstGeom prst="roundRect">
            <a:avLst>
              <a:gd name="adj" fmla="val 5000"/>
            </a:avLst>
          </a:prstGeom>
          <a:solidFill>
            <a:srgbClr val="FFFFFF">
              <a:alpha val="100000"/>
            </a:srgbClr>
          </a:solidFill>
          <a:ln w="12700" cap="flat" cmpd="sng">
            <a:solidFill>
              <a:srgbClr val="E5E7EB">
                <a:alpha val="100000"/>
              </a:srgbClr>
            </a:solidFill>
            <a:prstDash val="solid"/>
            <a:round/>
          </a:ln>
          <a:effectLst>
            <a:outerShdw blurRad="127000" dist="63500" dir="5400000" algn="tl" rotWithShape="0">
              <a:srgbClr val="000000">
                <a:alpha val="5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54800" y="1955800"/>
            <a:ext cx="406400" cy="406400"/>
          </a:xfrm>
          <a:prstGeom prst="rect">
            <a:avLst/>
          </a:prstGeom>
        </p:spPr>
      </p:pic>
      <p:sp>
        <p:nvSpPr>
          <p:cNvPr id="10" name="AutoShape 10"/>
          <p:cNvSpPr/>
          <p:nvPr/>
        </p:nvSpPr>
        <p:spPr>
          <a:xfrm>
            <a:off x="7264400" y="1981200"/>
            <a:ext cx="3810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D1B2A"/>
                </a:solidFill>
                <a:latin typeface="Noto Sans SC" panose="020B0200000000000000" charset="-122"/>
                <a:ea typeface="Noto Sans SC" panose="020B0200000000000000" charset="-122"/>
                <a:cs typeface="Noto Sans SC" panose="020B0200000000000000" charset="-122"/>
                <a:sym typeface="Noto Sans SC" panose="020B0200000000000000" charset="-122"/>
              </a:rPr>
              <a:t>松耦合</a:t>
            </a:r>
            <a:endParaRPr lang="en-US" sz="1100"/>
          </a:p>
        </p:txBody>
      </p:sp>
      <p:sp>
        <p:nvSpPr>
          <p:cNvPr id="11" name="AutoShape 11"/>
          <p:cNvSpPr/>
          <p:nvPr/>
        </p:nvSpPr>
        <p:spPr>
          <a:xfrm>
            <a:off x="6654800" y="2540000"/>
            <a:ext cx="4064000" cy="5588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发送者与接收者无需知晓对方细节，降低系统复杂度。</a:t>
            </a:r>
            <a:endParaRPr lang="en-US" sz="1100"/>
          </a:p>
        </p:txBody>
      </p:sp>
      <p:sp>
        <p:nvSpPr>
          <p:cNvPr id="12" name="AutoShape 12"/>
          <p:cNvSpPr/>
          <p:nvPr/>
        </p:nvSpPr>
        <p:spPr>
          <a:xfrm>
            <a:off x="762000" y="3937000"/>
            <a:ext cx="5080000" cy="2032000"/>
          </a:xfrm>
          <a:prstGeom prst="roundRect">
            <a:avLst>
              <a:gd name="adj" fmla="val 5000"/>
            </a:avLst>
          </a:prstGeom>
          <a:solidFill>
            <a:srgbClr val="FFFFFF">
              <a:alpha val="100000"/>
            </a:srgbClr>
          </a:solidFill>
          <a:ln w="12700" cap="flat" cmpd="sng">
            <a:solidFill>
              <a:srgbClr val="E5E7EB">
                <a:alpha val="100000"/>
              </a:srgbClr>
            </a:solidFill>
            <a:prstDash val="solid"/>
            <a:round/>
          </a:ln>
          <a:effectLst>
            <a:outerShdw blurRad="127000" dist="63500" dir="5400000" algn="tl" rotWithShape="0">
              <a:srgbClr val="000000">
                <a:alpha val="5000"/>
              </a:srgbClr>
            </a:outerShdw>
          </a:effectLst>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66800" y="4241800"/>
            <a:ext cx="406400" cy="406400"/>
          </a:xfrm>
          <a:prstGeom prst="rect">
            <a:avLst/>
          </a:prstGeom>
        </p:spPr>
      </p:pic>
      <p:sp>
        <p:nvSpPr>
          <p:cNvPr id="14" name="AutoShape 14"/>
          <p:cNvSpPr/>
          <p:nvPr/>
        </p:nvSpPr>
        <p:spPr>
          <a:xfrm>
            <a:off x="1676400" y="4267200"/>
            <a:ext cx="3810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D1B2A"/>
                </a:solidFill>
                <a:latin typeface="Noto Sans SC" panose="020B0200000000000000" charset="-122"/>
                <a:ea typeface="Noto Sans SC" panose="020B0200000000000000" charset="-122"/>
                <a:cs typeface="Noto Sans SC" panose="020B0200000000000000" charset="-122"/>
                <a:sym typeface="Noto Sans SC" panose="020B0200000000000000" charset="-122"/>
              </a:rPr>
              <a:t>灵活性高</a:t>
            </a:r>
            <a:endParaRPr lang="en-US" sz="1100"/>
          </a:p>
        </p:txBody>
      </p:sp>
      <p:sp>
        <p:nvSpPr>
          <p:cNvPr id="15" name="AutoShape 15"/>
          <p:cNvSpPr/>
          <p:nvPr/>
        </p:nvSpPr>
        <p:spPr>
          <a:xfrm>
            <a:off x="1066800" y="4826000"/>
            <a:ext cx="4064000" cy="5588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支持任意函数作为槽，包括全局函数、Lambda表达式等。</a:t>
            </a:r>
            <a:endParaRPr lang="en-US" sz="1100"/>
          </a:p>
        </p:txBody>
      </p:sp>
      <p:sp>
        <p:nvSpPr>
          <p:cNvPr id="16" name="AutoShape 16"/>
          <p:cNvSpPr/>
          <p:nvPr/>
        </p:nvSpPr>
        <p:spPr>
          <a:xfrm>
            <a:off x="6350000" y="3937000"/>
            <a:ext cx="5080000" cy="2032000"/>
          </a:xfrm>
          <a:prstGeom prst="roundRect">
            <a:avLst>
              <a:gd name="adj" fmla="val 5000"/>
            </a:avLst>
          </a:prstGeom>
          <a:solidFill>
            <a:srgbClr val="FFFFFF">
              <a:alpha val="100000"/>
            </a:srgbClr>
          </a:solidFill>
          <a:ln w="12700" cap="flat" cmpd="sng">
            <a:solidFill>
              <a:srgbClr val="E5E7EB">
                <a:alpha val="100000"/>
              </a:srgbClr>
            </a:solidFill>
            <a:prstDash val="solid"/>
            <a:round/>
          </a:ln>
          <a:effectLst>
            <a:outerShdw blurRad="127000" dist="63500" dir="5400000" algn="tl" rotWithShape="0">
              <a:srgbClr val="000000">
                <a:alpha val="5000"/>
              </a:srgbClr>
            </a:outerShdw>
          </a:effectLst>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654800" y="4241800"/>
            <a:ext cx="406400" cy="406400"/>
          </a:xfrm>
          <a:prstGeom prst="rect">
            <a:avLst/>
          </a:prstGeom>
        </p:spPr>
      </p:pic>
      <p:sp>
        <p:nvSpPr>
          <p:cNvPr id="18" name="AutoShape 18"/>
          <p:cNvSpPr/>
          <p:nvPr/>
        </p:nvSpPr>
        <p:spPr>
          <a:xfrm>
            <a:off x="7264400" y="4267200"/>
            <a:ext cx="3810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D1B2A"/>
                </a:solidFill>
                <a:latin typeface="Noto Sans SC" panose="020B0200000000000000" charset="-122"/>
                <a:ea typeface="Noto Sans SC" panose="020B0200000000000000" charset="-122"/>
                <a:cs typeface="Noto Sans SC" panose="020B0200000000000000" charset="-122"/>
                <a:sym typeface="Noto Sans SC" panose="020B0200000000000000" charset="-122"/>
              </a:rPr>
              <a:t>支持多线程</a:t>
            </a:r>
            <a:endParaRPr lang="en-US" sz="1100"/>
          </a:p>
        </p:txBody>
      </p:sp>
      <p:sp>
        <p:nvSpPr>
          <p:cNvPr id="19" name="AutoShape 19"/>
          <p:cNvSpPr/>
          <p:nvPr/>
        </p:nvSpPr>
        <p:spPr>
          <a:xfrm>
            <a:off x="6654800" y="4826000"/>
            <a:ext cx="4064000" cy="5588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自动处理跨线程信号传递，简化并发编程模型。</a:t>
            </a:r>
            <a:endParaRPr lang="en-US" sz="11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5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5080000" cy="558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D1B2A"/>
                </a:solidFill>
                <a:latin typeface="Times New Roman" panose="02020603050405020304" charset="0"/>
                <a:ea typeface="黑体" panose="02010609060101010101" charset="-122"/>
                <a:cs typeface="Times New Roman" panose="02020603050405020304" charset="0"/>
                <a:sym typeface="Noto Sans SC" panose="020B0200000000000000" charset="-122"/>
              </a:rPr>
              <a:t>Q&amp;A</a:t>
            </a:r>
            <a:endParaRPr lang="en-US" sz="3600" b="1" i="0" u="none" strike="noStrike">
              <a:solidFill>
                <a:srgbClr val="0D1B2A"/>
              </a:solidFill>
              <a:latin typeface="Times New Roman" panose="02020603050405020304" charset="0"/>
              <a:ea typeface="黑体" panose="02010609060101010101" charset="-122"/>
              <a:cs typeface="Times New Roman" panose="02020603050405020304" charset="0"/>
              <a:sym typeface="Noto Sans SC" panose="020B0200000000000000" charset="-122"/>
            </a:endParaRPr>
          </a:p>
        </p:txBody>
      </p:sp>
      <p:cxnSp>
        <p:nvCxnSpPr>
          <p:cNvPr id="3" name="Connector 3"/>
          <p:cNvCxnSpPr/>
          <p:nvPr/>
        </p:nvCxnSpPr>
        <p:spPr>
          <a:xfrm rot="-4092">
            <a:off x="762004" y="1263650"/>
            <a:ext cx="10668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4" name="AutoShape 4"/>
          <p:cNvSpPr/>
          <p:nvPr/>
        </p:nvSpPr>
        <p:spPr>
          <a:xfrm>
            <a:off x="762000" y="1651000"/>
            <a:ext cx="5080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2000" b="1" i="0" u="none" strike="noStrike">
                <a:solidFill>
                  <a:srgbClr val="0D1B2A"/>
                </a:solidFill>
                <a:latin typeface="Noto Sans SC" panose="020B0200000000000000" charset="-122"/>
                <a:ea typeface="Noto Sans SC" panose="020B0200000000000000" charset="-122"/>
                <a:cs typeface="Noto Sans SC" panose="020B0200000000000000" charset="-122"/>
                <a:sym typeface="Noto Sans SC" panose="020B0200000000000000" charset="-122"/>
              </a:rPr>
              <a:t>参考</a:t>
            </a:r>
            <a:r>
              <a:rPr lang="zh-CN" altLang="en-US" sz="2000" b="1" i="0" u="none" strike="noStrike">
                <a:solidFill>
                  <a:srgbClr val="0D1B2A"/>
                </a:solidFill>
                <a:latin typeface="Noto Sans SC" panose="020B0200000000000000" charset="-122"/>
                <a:ea typeface="Noto Sans SC" panose="020B0200000000000000" charset="-122"/>
                <a:cs typeface="Noto Sans SC" panose="020B0200000000000000" charset="-122"/>
                <a:sym typeface="Noto Sans SC" panose="020B0200000000000000" charset="-122"/>
              </a:rPr>
              <a:t>资料</a:t>
            </a:r>
            <a:endParaRPr lang="zh-CN" altLang="en-US" sz="2000" b="1" i="0" u="none" strike="noStrike">
              <a:solidFill>
                <a:srgbClr val="0D1B2A"/>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文本框 6"/>
          <p:cNvSpPr txBox="1"/>
          <p:nvPr/>
        </p:nvSpPr>
        <p:spPr>
          <a:xfrm>
            <a:off x="762000" y="2185670"/>
            <a:ext cx="7130415" cy="1568450"/>
          </a:xfrm>
          <a:prstGeom prst="rect">
            <a:avLst/>
          </a:prstGeom>
          <a:noFill/>
        </p:spPr>
        <p:txBody>
          <a:bodyPr wrap="square" rtlCol="0" anchor="t">
            <a:spAutoFit/>
          </a:bodyPr>
          <a:p>
            <a:pPr marL="285750" indent="-285750">
              <a:buFont typeface="Arial" panose="020B0604020202020204" pitchFamily="34" charset="0"/>
              <a:buChar char="•"/>
            </a:pPr>
            <a:r>
              <a:rPr lang="en-US" altLang="zh-CN" sz="2400"/>
              <a:t>https://www.runoob.com/design-pattern/design-pattern-intro.html</a:t>
            </a:r>
            <a:endParaRPr lang="en-US" altLang="zh-CN" sz="2400"/>
          </a:p>
          <a:p>
            <a:pPr marL="285750" indent="-285750">
              <a:buFont typeface="Arial" panose="020B0604020202020204" pitchFamily="34" charset="0"/>
              <a:buChar char="•"/>
            </a:pPr>
            <a:r>
              <a:rPr lang="en-US" altLang="zh-CN" sz="2400"/>
              <a:t>https://google.github.io/styleguide/cppguide.html</a:t>
            </a:r>
            <a:endParaRPr lang="en-US" altLang="zh-CN" sz="2400"/>
          </a:p>
          <a:p>
            <a:pPr marL="285750" indent="-285750">
              <a:buFont typeface="Arial" panose="020B0604020202020204" pitchFamily="34" charset="0"/>
              <a:buChar char="•"/>
            </a:pPr>
            <a:r>
              <a:rPr lang="en-US" altLang="zh-CN" sz="2400"/>
              <a:t>https://doc.qt.io/</a:t>
            </a:r>
            <a:endParaRPr lang="en-US" altLang="zh-CN" sz="2400"/>
          </a:p>
        </p:txBody>
      </p:sp>
      <p:pic>
        <p:nvPicPr>
          <p:cNvPr id="8" name="图片 7" descr="qrcode_1768012228369"/>
          <p:cNvPicPr>
            <a:picLocks noChangeAspect="1"/>
          </p:cNvPicPr>
          <p:nvPr/>
        </p:nvPicPr>
        <p:blipFill>
          <a:blip r:embed="rId1"/>
          <a:stretch>
            <a:fillRect/>
          </a:stretch>
        </p:blipFill>
        <p:spPr>
          <a:xfrm>
            <a:off x="8557895" y="1548130"/>
            <a:ext cx="2717800" cy="483362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5F7FA">
            <a:alpha val="100000"/>
          </a:srgbClr>
        </a:solidFill>
        <a:effectLst/>
      </p:bgPr>
    </p:bg>
    <p:spTree>
      <p:nvGrpSpPr>
        <p:cNvPr id="1" name=""/>
        <p:cNvGrpSpPr/>
        <p:nvPr/>
      </p:nvGrpSpPr>
      <p:grpSpPr>
        <a:xfrm>
          <a:off x="0" y="0"/>
          <a:ext cx="0" cy="0"/>
          <a:chOff x="0" y="0"/>
          <a:chExt cx="0" cy="0"/>
        </a:xfrm>
      </p:grpSpPr>
      <p:sp>
        <p:nvSpPr>
          <p:cNvPr id="4" name="AutoShape 4"/>
          <p:cNvSpPr/>
          <p:nvPr/>
        </p:nvSpPr>
        <p:spPr>
          <a:xfrm>
            <a:off x="1016000" y="3048000"/>
            <a:ext cx="10160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7200" b="1" i="0" u="none" strike="noStrike">
                <a:solidFill>
                  <a:schemeClr val="tx1"/>
                </a:solidFill>
                <a:latin typeface="黑体" panose="02010609060101010101" charset="-122"/>
                <a:ea typeface="黑体" panose="02010609060101010101" charset="-122"/>
                <a:cs typeface="Noto Sans SC" panose="020B0200000000000000" charset="-122"/>
                <a:sym typeface="Noto Sans SC" panose="020B0200000000000000" charset="-122"/>
              </a:rPr>
              <a:t>感谢观看</a:t>
            </a:r>
            <a:endParaRPr lang="en-US" sz="7200" b="1" i="0" u="none" strike="noStrike">
              <a:solidFill>
                <a:schemeClr val="tx1"/>
              </a:solidFill>
              <a:latin typeface="黑体" panose="02010609060101010101" charset="-122"/>
              <a:ea typeface="黑体" panose="02010609060101010101" charset="-122"/>
              <a:cs typeface="Noto Sans SC" panose="020B0200000000000000" charset="-122"/>
              <a:sym typeface="Noto Sans SC" panose="020B0200000000000000" charset="-122"/>
            </a:endParaRPr>
          </a:p>
        </p:txBody>
      </p:sp>
    </p:spTree>
  </p:cSld>
  <p:clrMapOvr>
    <a:masterClrMapping/>
  </p:clrMapOvr>
</p:sld>
</file>

<file path=ppt/tags/tag1.xml><?xml version="1.0" encoding="utf-8"?>
<p:tagLst xmlns:p="http://schemas.openxmlformats.org/presentationml/2006/main">
  <p:tag name="KSO_WM_DIAGRAM_VIRTUALLY_FRAME" val="{&quot;height&quot;:198,&quot;left&quot;:80,&quot;top&quot;:170,&quot;width&quot;:660}"/>
</p:tagLst>
</file>

<file path=ppt/tags/tag2.xml><?xml version="1.0" encoding="utf-8"?>
<p:tagLst xmlns:p="http://schemas.openxmlformats.org/presentationml/2006/main">
  <p:tag name="KSO_WM_DIAGRAM_VIRTUALLY_FRAME" val="{&quot;height&quot;:198,&quot;left&quot;:80,&quot;top&quot;:170,&quot;width&quot;:660}"/>
</p:tagLst>
</file>

<file path=ppt/tags/tag3.xml><?xml version="1.0" encoding="utf-8"?>
<p:tagLst xmlns:p="http://schemas.openxmlformats.org/presentationml/2006/main">
  <p:tag name="KSO_WM_DIAGRAM_VIRTUALLY_FRAME" val="{&quot;height&quot;:198,&quot;left&quot;:80,&quot;top&quot;:170,&quot;width&quot;:660}"/>
</p:tagLst>
</file>

<file path=ppt/tags/tag4.xml><?xml version="1.0" encoding="utf-8"?>
<p:tagLst xmlns:p="http://schemas.openxmlformats.org/presentationml/2006/main">
  <p:tag name="KSO_WM_DIAGRAM_VIRTUALLY_FRAME" val="{&quot;height&quot;:198,&quot;left&quot;:80,&quot;top&quot;:170,&quot;width&quot;:660}"/>
</p:tagLst>
</file>

<file path=ppt/tags/tag5.xml><?xml version="1.0" encoding="utf-8"?>
<p:tagLst xmlns:p="http://schemas.openxmlformats.org/presentationml/2006/main">
  <p:tag name="KSO_WM_DIAGRAM_VIRTUALLY_FRAME" val="{&quot;height&quot;:198,&quot;left&quot;:80,&quot;top&quot;:170,&quot;width&quot;:660}"/>
</p:tagLst>
</file>

<file path=ppt/tags/tag6.xml><?xml version="1.0" encoding="utf-8"?>
<p:tagLst xmlns:p="http://schemas.openxmlformats.org/presentationml/2006/main">
  <p:tag name="KSO_WM_DIAGRAM_VIRTUALLY_FRAME" val="{&quot;height&quot;:198,&quot;left&quot;:80,&quot;top&quot;:170,&quot;width&quot;:660}"/>
</p:tagLst>
</file>

<file path=ppt/tags/tag7.xml><?xml version="1.0" encoding="utf-8"?>
<p:tagLst xmlns:p="http://schemas.openxmlformats.org/presentationml/2006/main">
  <p:tag name="KSO_WM_DIAGRAM_VIRTUALLY_FRAME" val="{&quot;height&quot;:324,&quot;left&quot;:107.2,&quot;top&quot;:137.1,&quot;width&quot;:780}"/>
</p:tagLst>
</file>

<file path=ppt/tags/tag8.xml><?xml version="1.0" encoding="utf-8"?>
<p:tagLst xmlns:p="http://schemas.openxmlformats.org/presentationml/2006/main">
  <p:tag name="KSO_WM_DIAGRAM_VIRTUALLY_FRAME" val="{&quot;height&quot;:324,&quot;left&quot;:107.2,&quot;top&quot;:137.1,&quot;width&quot;:780}"/>
</p:tagLst>
</file>

<file path=ppt/tags/tag9.xml><?xml version="1.0" encoding="utf-8"?>
<p:tagLst xmlns:p="http://schemas.openxmlformats.org/presentationml/2006/main">
  <p:tag name="KSO_WM_DIAGRAM_VIRTUALLY_FRAME" val="{&quot;height&quot;:324,&quot;left&quot;:107.2,&quot;top&quot;:137.1,&quot;width&quot;:780}"/>
</p:tagLst>
</file>

<file path=ppt/tags/tag10.xml><?xml version="1.0" encoding="utf-8"?>
<p:tagLst xmlns:p="http://schemas.openxmlformats.org/presentationml/2006/main">
  <p:tag name="KSO_WM_DIAGRAM_VIRTUALLY_FRAME" val="{&quot;height&quot;:324,&quot;left&quot;:107.2,&quot;top&quot;:137.1,&quot;width&quot;:780}"/>
</p:tagLst>
</file>

<file path=ppt/tags/tag11.xml><?xml version="1.0" encoding="utf-8"?>
<p:tagLst xmlns:p="http://schemas.openxmlformats.org/presentationml/2006/main">
  <p:tag name="KSO_WM_DIAGRAM_VIRTUALLY_FRAME" val="{&quot;height&quot;:324,&quot;left&quot;:107.2,&quot;top&quot;:137.1,&quot;width&quot;:780}"/>
</p:tagLst>
</file>

<file path=ppt/tags/tag12.xml><?xml version="1.0" encoding="utf-8"?>
<p:tagLst xmlns:p="http://schemas.openxmlformats.org/presentationml/2006/main">
  <p:tag name="KSO_WM_DIAGRAM_VIRTUALLY_FRAME" val="{&quot;height&quot;:324,&quot;left&quot;:107.2,&quot;top&quot;:137.1,&quot;width&quot;:780}"/>
</p:tagLst>
</file>

<file path=ppt/tags/tag13.xml><?xml version="1.0" encoding="utf-8"?>
<p:tagLst xmlns:p="http://schemas.openxmlformats.org/presentationml/2006/main">
  <p:tag name="KSO_WM_DIAGRAM_VIRTUALLY_FRAME" val="{&quot;height&quot;:324,&quot;left&quot;:107.2,&quot;top&quot;:137.1,&quot;width&quot;:780}"/>
</p:tagLst>
</file>

<file path=ppt/tags/tag14.xml><?xml version="1.0" encoding="utf-8"?>
<p:tagLst xmlns:p="http://schemas.openxmlformats.org/presentationml/2006/main">
  <p:tag name="KSO_WM_DIAGRAM_VIRTUALLY_FRAME" val="{&quot;height&quot;:324,&quot;left&quot;:107.2,&quot;top&quot;:137.1,&quot;width&quot;:780}"/>
</p:tagLst>
</file>

<file path=ppt/tags/tag15.xml><?xml version="1.0" encoding="utf-8"?>
<p:tagLst xmlns:p="http://schemas.openxmlformats.org/presentationml/2006/main">
  <p:tag name="KSO_WM_DIAGRAM_VIRTUALLY_FRAME" val="{&quot;height&quot;:357.35,&quot;left&quot;:60,&quot;top&quot;:130,&quot;width&quot;:792}"/>
</p:tagLst>
</file>

<file path=ppt/tags/tag16.xml><?xml version="1.0" encoding="utf-8"?>
<p:tagLst xmlns:p="http://schemas.openxmlformats.org/presentationml/2006/main">
  <p:tag name="KSO_WM_DIAGRAM_VIRTUALLY_FRAME" val="{&quot;height&quot;:357.35,&quot;left&quot;:60,&quot;top&quot;:130,&quot;width&quot;:792}"/>
</p:tagLst>
</file>

<file path=ppt/tags/tag17.xml><?xml version="1.0" encoding="utf-8"?>
<p:tagLst xmlns:p="http://schemas.openxmlformats.org/presentationml/2006/main">
  <p:tag name="KSO_WM_DIAGRAM_VIRTUALLY_FRAME" val="{&quot;height&quot;:357.35,&quot;left&quot;:60,&quot;top&quot;:130,&quot;width&quot;:792}"/>
</p:tagLst>
</file>

<file path=ppt/tags/tag18.xml><?xml version="1.0" encoding="utf-8"?>
<p:tagLst xmlns:p="http://schemas.openxmlformats.org/presentationml/2006/main">
  <p:tag name="KSO_WM_DIAGRAM_VIRTUALLY_FRAME" val="{&quot;height&quot;:357.35,&quot;left&quot;:60,&quot;top&quot;:130,&quot;width&quot;:792}"/>
</p:tagLst>
</file>

<file path=ppt/tags/tag19.xml><?xml version="1.0" encoding="utf-8"?>
<p:tagLst xmlns:p="http://schemas.openxmlformats.org/presentationml/2006/main">
  <p:tag name="KSO_WM_DIAGRAM_VIRTUALLY_FRAME" val="{&quot;height&quot;:357.35,&quot;left&quot;:60,&quot;top&quot;:130,&quot;width&quot;:792}"/>
</p:tagLst>
</file>

<file path=ppt/tags/tag20.xml><?xml version="1.0" encoding="utf-8"?>
<p:tagLst xmlns:p="http://schemas.openxmlformats.org/presentationml/2006/main">
  <p:tag name="KSO_WM_DIAGRAM_VIRTUALLY_FRAME" val="{&quot;height&quot;:357.35,&quot;left&quot;:60,&quot;top&quot;:130,&quot;width&quot;:792}"/>
</p:tagLst>
</file>

<file path=ppt/tags/tag21.xml><?xml version="1.0" encoding="utf-8"?>
<p:tagLst xmlns:p="http://schemas.openxmlformats.org/presentationml/2006/main">
  <p:tag name="KSO_WM_DIAGRAM_VIRTUALLY_FRAME" val="{&quot;height&quot;:357.35,&quot;left&quot;:60,&quot;top&quot;:130,&quot;width&quot;:792}"/>
</p:tagLst>
</file>

<file path=ppt/tags/tag22.xml><?xml version="1.0" encoding="utf-8"?>
<p:tagLst xmlns:p="http://schemas.openxmlformats.org/presentationml/2006/main">
  <p:tag name="KSO_WM_DIAGRAM_VIRTUALLY_FRAME" val="{&quot;height&quot;:357.35,&quot;left&quot;:60,&quot;top&quot;:130,&quot;width&quot;:792}"/>
</p:tagLst>
</file>

<file path=ppt/tags/tag23.xml><?xml version="1.0" encoding="utf-8"?>
<p:tagLst xmlns:p="http://schemas.openxmlformats.org/presentationml/2006/main">
  <p:tag name="KSO_WM_DIAGRAM_VIRTUALLY_FRAME" val="{&quot;height&quot;:298,&quot;left&quot;:60,&quot;top&quot;:130,&quot;width&quot;:416}"/>
</p:tagLst>
</file>

<file path=ppt/tags/tag24.xml><?xml version="1.0" encoding="utf-8"?>
<p:tagLst xmlns:p="http://schemas.openxmlformats.org/presentationml/2006/main">
  <p:tag name="KSO_WM_DIAGRAM_VIRTUALLY_FRAME" val="{&quot;height&quot;:298,&quot;left&quot;:60,&quot;top&quot;:130,&quot;width&quot;:416}"/>
</p:tagLst>
</file>

<file path=ppt/tags/tag25.xml><?xml version="1.0" encoding="utf-8"?>
<p:tagLst xmlns:p="http://schemas.openxmlformats.org/presentationml/2006/main">
  <p:tag name="KSO_WM_DIAGRAM_VIRTUALLY_FRAME" val="{&quot;height&quot;:298,&quot;left&quot;:60,&quot;top&quot;:130,&quot;width&quot;:416}"/>
</p:tagLst>
</file>

<file path=ppt/tags/tag26.xml><?xml version="1.0" encoding="utf-8"?>
<p:tagLst xmlns:p="http://schemas.openxmlformats.org/presentationml/2006/main">
  <p:tag name="KSO_WM_DIAGRAM_VIRTUALLY_FRAME" val="{&quot;height&quot;:298,&quot;left&quot;:60,&quot;top&quot;:130,&quot;width&quot;:416}"/>
</p:tagLst>
</file>

<file path=ppt/tags/tag27.xml><?xml version="1.0" encoding="utf-8"?>
<p:tagLst xmlns:p="http://schemas.openxmlformats.org/presentationml/2006/main">
  <p:tag name="KSO_WM_DIAGRAM_VIRTUALLY_FRAME" val="{&quot;height&quot;:298,&quot;left&quot;:60,&quot;top&quot;:130,&quot;width&quot;:416}"/>
</p:tagLst>
</file>

<file path=ppt/tags/tag28.xml><?xml version="1.0" encoding="utf-8"?>
<p:tagLst xmlns:p="http://schemas.openxmlformats.org/presentationml/2006/main">
  <p:tag name="KSO_WM_DIAGRAM_VIRTUALLY_FRAME" val="{&quot;height&quot;:298,&quot;left&quot;:60,&quot;top&quot;:130,&quot;width&quot;:416}"/>
</p:tagLst>
</file>

<file path=ppt/tags/tag29.xml><?xml version="1.0" encoding="utf-8"?>
<p:tagLst xmlns:p="http://schemas.openxmlformats.org/presentationml/2006/main">
  <p:tag name="KSO_WM_DIAGRAM_VIRTUALLY_FRAME" val="{&quot;height&quot;:298,&quot;left&quot;:60,&quot;top&quot;:130,&quot;width&quot;:416}"/>
</p:tagLst>
</file>

<file path=ppt/tags/tag30.xml><?xml version="1.0" encoding="utf-8"?>
<p:tagLst xmlns:p="http://schemas.openxmlformats.org/presentationml/2006/main">
  <p:tag name="KSO_WM_DIAGRAM_VIRTUALLY_FRAME" val="{&quot;height&quot;:298,&quot;left&quot;:60,&quot;top&quot;:130,&quot;width&quot;:416}"/>
</p:tagLst>
</file>

<file path=ppt/tags/tag31.xml><?xml version="1.0" encoding="utf-8"?>
<p:tagLst xmlns:p="http://schemas.openxmlformats.org/presentationml/2006/main">
  <p:tag name="KSO_WM_DIAGRAM_VIRTUALLY_FRAME" val="{&quot;height&quot;:298,&quot;left&quot;:60,&quot;top&quot;:130,&quot;width&quot;:416}"/>
</p:tagLst>
</file>

<file path=ppt/tags/tag32.xml><?xml version="1.0" encoding="utf-8"?>
<p:tagLst xmlns:p="http://schemas.openxmlformats.org/presentationml/2006/main">
  <p:tag name="KSO_WM_DIAGRAM_VIRTUALLY_FRAME" val="{&quot;height&quot;:298,&quot;left&quot;:60,&quot;top&quot;:130,&quot;width&quot;:416}"/>
</p:tagLst>
</file>

<file path=ppt/tags/tag33.xml><?xml version="1.0" encoding="utf-8"?>
<p:tagLst xmlns:p="http://schemas.openxmlformats.org/presentationml/2006/main">
  <p:tag name="KSO_WM_DIAGRAM_VIRTUALLY_FRAME" val="{&quot;height&quot;:298,&quot;left&quot;:60,&quot;top&quot;:130,&quot;width&quot;:416}"/>
</p:tagLst>
</file>

<file path=ppt/tags/tag34.xml><?xml version="1.0" encoding="utf-8"?>
<p:tagLst xmlns:p="http://schemas.openxmlformats.org/presentationml/2006/main">
  <p:tag name="KSO_WM_DIAGRAM_VIRTUALLY_FRAME" val="{&quot;height&quot;:298,&quot;left&quot;:60,&quot;top&quot;:130,&quot;width&quot;:416}"/>
</p:tagLst>
</file>

<file path=ppt/tags/tag35.xml><?xml version="1.0" encoding="utf-8"?>
<p:tagLst xmlns:p="http://schemas.openxmlformats.org/presentationml/2006/main">
  <p:tag name="KSO_WM_DIAGRAM_VIRTUALLY_FRAME" val="{&quot;height&quot;:298,&quot;left&quot;:60,&quot;top&quot;:130,&quot;width&quot;:416}"/>
</p:tagLst>
</file>

<file path=ppt/tags/tag36.xml><?xml version="1.0" encoding="utf-8"?>
<p:tagLst xmlns:p="http://schemas.openxmlformats.org/presentationml/2006/main">
  <p:tag name="KSO_WM_DIAGRAM_VIRTUALLY_FRAME" val="{&quot;height&quot;:298,&quot;left&quot;:60,&quot;top&quot;:130,&quot;width&quot;:416}"/>
</p:tagLst>
</file>

<file path=ppt/tags/tag37.xml><?xml version="1.0" encoding="utf-8"?>
<p:tagLst xmlns:p="http://schemas.openxmlformats.org/presentationml/2006/main">
  <p:tag name="KSO_WM_DIAGRAM_VIRTUALLY_FRAME" val="{&quot;height&quot;:298,&quot;left&quot;:60,&quot;top&quot;:130,&quot;width&quot;:416}"/>
</p:tagLst>
</file>

<file path=ppt/tags/tag38.xml><?xml version="1.0" encoding="utf-8"?>
<p:tagLst xmlns:p="http://schemas.openxmlformats.org/presentationml/2006/main">
  <p:tag name="KSO_WM_DIAGRAM_VIRTUALLY_FRAME" val="{&quot;height&quot;:298,&quot;left&quot;:60,&quot;top&quot;:130,&quot;width&quot;:416}"/>
</p:tagLst>
</file>

<file path=ppt/tags/tag39.xml><?xml version="1.0" encoding="utf-8"?>
<p:tagLst xmlns:p="http://schemas.openxmlformats.org/presentationml/2006/main">
  <p:tag name="KSO_WM_DIAGRAM_VIRTUALLY_FRAME" val="{&quot;height&quot;:288,&quot;left&quot;:60,&quot;top&quot;:140,&quot;width&quot;:420}"/>
</p:tagLst>
</file>

<file path=ppt/tags/tag40.xml><?xml version="1.0" encoding="utf-8"?>
<p:tagLst xmlns:p="http://schemas.openxmlformats.org/presentationml/2006/main">
  <p:tag name="KSO_WM_DIAGRAM_VIRTUALLY_FRAME" val="{&quot;height&quot;:288,&quot;left&quot;:60,&quot;top&quot;:140,&quot;width&quot;:420}"/>
</p:tagLst>
</file>

<file path=ppt/tags/tag41.xml><?xml version="1.0" encoding="utf-8"?>
<p:tagLst xmlns:p="http://schemas.openxmlformats.org/presentationml/2006/main">
  <p:tag name="KSO_WM_DIAGRAM_VIRTUALLY_FRAME" val="{&quot;height&quot;:288,&quot;left&quot;:60,&quot;top&quot;:140,&quot;width&quot;:420}"/>
</p:tagLst>
</file>

<file path=ppt/tags/tag42.xml><?xml version="1.0" encoding="utf-8"?>
<p:tagLst xmlns:p="http://schemas.openxmlformats.org/presentationml/2006/main">
  <p:tag name="KSO_WM_DIAGRAM_VIRTUALLY_FRAME" val="{&quot;height&quot;:288,&quot;left&quot;:60,&quot;top&quot;:140,&quot;width&quot;:420}"/>
</p:tagLst>
</file>

<file path=ppt/tags/tag43.xml><?xml version="1.0" encoding="utf-8"?>
<p:tagLst xmlns:p="http://schemas.openxmlformats.org/presentationml/2006/main">
  <p:tag name="KSO_WM_DIAGRAM_VIRTUALLY_FRAME" val="{&quot;height&quot;:288,&quot;left&quot;:60,&quot;top&quot;:140,&quot;width&quot;:420}"/>
</p:tagLst>
</file>

<file path=ppt/tags/tag44.xml><?xml version="1.0" encoding="utf-8"?>
<p:tagLst xmlns:p="http://schemas.openxmlformats.org/presentationml/2006/main">
  <p:tag name="KSO_WM_DIAGRAM_VIRTUALLY_FRAME" val="{&quot;height&quot;:288,&quot;left&quot;:60,&quot;top&quot;:140,&quot;width&quot;:420}"/>
</p:tagLst>
</file>

<file path=ppt/tags/tag45.xml><?xml version="1.0" encoding="utf-8"?>
<p:tagLst xmlns:p="http://schemas.openxmlformats.org/presentationml/2006/main">
  <p:tag name="KSO_WM_DIAGRAM_VIRTUALLY_FRAME" val="{&quot;height&quot;:288,&quot;left&quot;:60,&quot;top&quot;:140,&quot;width&quot;:420}"/>
</p:tagLst>
</file>

<file path=ppt/tags/tag46.xml><?xml version="1.0" encoding="utf-8"?>
<p:tagLst xmlns:p="http://schemas.openxmlformats.org/presentationml/2006/main">
  <p:tag name="KSO_WM_DIAGRAM_VIRTUALLY_FRAME" val="{&quot;height&quot;:288,&quot;left&quot;:60,&quot;top&quot;:140,&quot;width&quot;:420}"/>
</p:tagLst>
</file>

<file path=ppt/tags/tag47.xml><?xml version="1.0" encoding="utf-8"?>
<p:tagLst xmlns:p="http://schemas.openxmlformats.org/presentationml/2006/main">
  <p:tag name="KSO_WM_DIAGRAM_VIRTUALLY_FRAME" val="{&quot;height&quot;:288,&quot;left&quot;:60,&quot;top&quot;:140,&quot;width&quot;:420}"/>
</p:tagLst>
</file>

<file path=ppt/tags/tag48.xml><?xml version="1.0" encoding="utf-8"?>
<p:tagLst xmlns:p="http://schemas.openxmlformats.org/presentationml/2006/main">
  <p:tag name="KSO_WM_DIAGRAM_VIRTUALLY_FRAME" val="{&quot;height&quot;:288,&quot;left&quot;:60,&quot;top&quot;:140,&quot;width&quot;:420}"/>
</p:tagLst>
</file>

<file path=ppt/tags/tag49.xml><?xml version="1.0" encoding="utf-8"?>
<p:tagLst xmlns:p="http://schemas.openxmlformats.org/presentationml/2006/main">
  <p:tag name="KSO_WM_DIAGRAM_VIRTUALLY_FRAME" val="{&quot;height&quot;:282,&quot;left&quot;:60,&quot;top&quot;:140,&quot;width&quot;:420}"/>
</p:tagLst>
</file>

<file path=ppt/tags/tag50.xml><?xml version="1.0" encoding="utf-8"?>
<p:tagLst xmlns:p="http://schemas.openxmlformats.org/presentationml/2006/main">
  <p:tag name="KSO_WM_DIAGRAM_VIRTUALLY_FRAME" val="{&quot;height&quot;:282,&quot;left&quot;:60,&quot;top&quot;:140,&quot;width&quot;:420}"/>
</p:tagLst>
</file>

<file path=ppt/tags/tag51.xml><?xml version="1.0" encoding="utf-8"?>
<p:tagLst xmlns:p="http://schemas.openxmlformats.org/presentationml/2006/main">
  <p:tag name="KSO_WM_DIAGRAM_VIRTUALLY_FRAME" val="{&quot;height&quot;:282,&quot;left&quot;:60,&quot;top&quot;:140,&quot;width&quot;:420}"/>
</p:tagLst>
</file>

<file path=ppt/tags/tag52.xml><?xml version="1.0" encoding="utf-8"?>
<p:tagLst xmlns:p="http://schemas.openxmlformats.org/presentationml/2006/main">
  <p:tag name="KSO_WM_DIAGRAM_VIRTUALLY_FRAME" val="{&quot;height&quot;:282,&quot;left&quot;:60,&quot;top&quot;:140,&quot;width&quot;:420}"/>
</p:tagLst>
</file>

<file path=ppt/tags/tag53.xml><?xml version="1.0" encoding="utf-8"?>
<p:tagLst xmlns:p="http://schemas.openxmlformats.org/presentationml/2006/main">
  <p:tag name="KSO_WM_DIAGRAM_VIRTUALLY_FRAME" val="{&quot;height&quot;:282,&quot;left&quot;:60,&quot;top&quot;:140,&quot;width&quot;:420}"/>
</p:tagLst>
</file>

<file path=ppt/tags/tag54.xml><?xml version="1.0" encoding="utf-8"?>
<p:tagLst xmlns:p="http://schemas.openxmlformats.org/presentationml/2006/main">
  <p:tag name="KSO_WM_DIAGRAM_VIRTUALLY_FRAME" val="{&quot;height&quot;:282,&quot;left&quot;:60,&quot;top&quot;:140,&quot;width&quot;:420}"/>
</p:tagLst>
</file>

<file path=ppt/tags/tag55.xml><?xml version="1.0" encoding="utf-8"?>
<p:tagLst xmlns:p="http://schemas.openxmlformats.org/presentationml/2006/main">
  <p:tag name="KSO_WM_DIAGRAM_VIRTUALLY_FRAME" val="{&quot;height&quot;:282,&quot;left&quot;:60,&quot;top&quot;:140,&quot;width&quot;:420}"/>
</p:tagLst>
</file>

<file path=ppt/tags/tag56.xml><?xml version="1.0" encoding="utf-8"?>
<p:tagLst xmlns:p="http://schemas.openxmlformats.org/presentationml/2006/main">
  <p:tag name="KSO_WM_DIAGRAM_VIRTUALLY_FRAME" val="{&quot;height&quot;:282,&quot;left&quot;:60,&quot;top&quot;:140,&quot;width&quot;:420}"/>
</p:tagLst>
</file>

<file path=ppt/tags/tag57.xml><?xml version="1.0" encoding="utf-8"?>
<p:tagLst xmlns:p="http://schemas.openxmlformats.org/presentationml/2006/main">
  <p:tag name="KSO_WM_DIAGRAM_VIRTUALLY_FRAME" val="{&quot;height&quot;:282,&quot;left&quot;:60,&quot;top&quot;:140,&quot;width&quot;:420}"/>
</p:tagLst>
</file>

<file path=ppt/tags/tag58.xml><?xml version="1.0" encoding="utf-8"?>
<p:tagLst xmlns:p="http://schemas.openxmlformats.org/presentationml/2006/main">
  <p:tag name="KSO_WM_DIAGRAM_VIRTUALLY_FRAME" val="{&quot;height&quot;:308,&quot;left&quot;:60,&quot;top&quot;:130,&quot;width&quot;:432}"/>
</p:tagLst>
</file>

<file path=ppt/tags/tag59.xml><?xml version="1.0" encoding="utf-8"?>
<p:tagLst xmlns:p="http://schemas.openxmlformats.org/presentationml/2006/main">
  <p:tag name="KSO_WM_DIAGRAM_VIRTUALLY_FRAME" val="{&quot;height&quot;:308,&quot;left&quot;:60,&quot;top&quot;:130,&quot;width&quot;:432}"/>
</p:tagLst>
</file>

<file path=ppt/tags/tag60.xml><?xml version="1.0" encoding="utf-8"?>
<p:tagLst xmlns:p="http://schemas.openxmlformats.org/presentationml/2006/main">
  <p:tag name="KSO_WM_DIAGRAM_VIRTUALLY_FRAME" val="{&quot;height&quot;:308,&quot;left&quot;:60,&quot;top&quot;:130,&quot;width&quot;:432}"/>
</p:tagLst>
</file>

<file path=ppt/tags/tag61.xml><?xml version="1.0" encoding="utf-8"?>
<p:tagLst xmlns:p="http://schemas.openxmlformats.org/presentationml/2006/main">
  <p:tag name="KSO_WM_DIAGRAM_VIRTUALLY_FRAME" val="{&quot;height&quot;:308,&quot;left&quot;:60,&quot;top&quot;:130,&quot;width&quot;:432}"/>
</p:tagLst>
</file>

<file path=ppt/tags/tag62.xml><?xml version="1.0" encoding="utf-8"?>
<p:tagLst xmlns:p="http://schemas.openxmlformats.org/presentationml/2006/main">
  <p:tag name="KSO_WM_DIAGRAM_VIRTUALLY_FRAME" val="{&quot;height&quot;:308,&quot;left&quot;:60,&quot;top&quot;:130,&quot;width&quot;:432}"/>
</p:tagLst>
</file>

<file path=ppt/tags/tag63.xml><?xml version="1.0" encoding="utf-8"?>
<p:tagLst xmlns:p="http://schemas.openxmlformats.org/presentationml/2006/main">
  <p:tag name="KSO_WM_DIAGRAM_VIRTUALLY_FRAME" val="{&quot;height&quot;:308,&quot;left&quot;:60,&quot;top&quot;:130,&quot;width&quot;:432}"/>
</p:tagLst>
</file>

<file path=ppt/tags/tag64.xml><?xml version="1.0" encoding="utf-8"?>
<p:tagLst xmlns:p="http://schemas.openxmlformats.org/presentationml/2006/main">
  <p:tag name="KSO_WM_DIAGRAM_VIRTUALLY_FRAME" val="{&quot;height&quot;:308,&quot;left&quot;:60,&quot;top&quot;:130,&quot;width&quot;:432}"/>
</p:tagLst>
</file>

<file path=ppt/tags/tag65.xml><?xml version="1.0" encoding="utf-8"?>
<p:tagLst xmlns:p="http://schemas.openxmlformats.org/presentationml/2006/main">
  <p:tag name="KSO_WM_DIAGRAM_VIRTUALLY_FRAME" val="{&quot;height&quot;:308,&quot;left&quot;:60,&quot;top&quot;:130,&quot;width&quot;:432}"/>
</p:tagLst>
</file>

<file path=ppt/tags/tag66.xml><?xml version="1.0" encoding="utf-8"?>
<p:tagLst xmlns:p="http://schemas.openxmlformats.org/presentationml/2006/main">
  <p:tag name="KSO_WM_DIAGRAM_VIRTUALLY_FRAME" val="{&quot;height&quot;:308,&quot;left&quot;:60,&quot;top&quot;:130,&quot;width&quot;:432}"/>
</p:tagLst>
</file>

<file path=ppt/tags/tag67.xml><?xml version="1.0" encoding="utf-8"?>
<p:tagLst xmlns:p="http://schemas.openxmlformats.org/presentationml/2006/main">
  <p:tag name="KSO_WM_DIAGRAM_VIRTUALLY_FRAME" val="{&quot;height&quot;:298,&quot;left&quot;:60,&quot;top&quot;:130,&quot;width&quot;:420}"/>
</p:tagLst>
</file>

<file path=ppt/tags/tag68.xml><?xml version="1.0" encoding="utf-8"?>
<p:tagLst xmlns:p="http://schemas.openxmlformats.org/presentationml/2006/main">
  <p:tag name="KSO_WM_DIAGRAM_VIRTUALLY_FRAME" val="{&quot;height&quot;:298,&quot;left&quot;:60,&quot;top&quot;:130,&quot;width&quot;:420}"/>
</p:tagLst>
</file>

<file path=ppt/tags/tag69.xml><?xml version="1.0" encoding="utf-8"?>
<p:tagLst xmlns:p="http://schemas.openxmlformats.org/presentationml/2006/main">
  <p:tag name="KSO_WM_DIAGRAM_VIRTUALLY_FRAME" val="{&quot;height&quot;:298,&quot;left&quot;:60,&quot;top&quot;:130,&quot;width&quot;:420}"/>
</p:tagLst>
</file>

<file path=ppt/tags/tag70.xml><?xml version="1.0" encoding="utf-8"?>
<p:tagLst xmlns:p="http://schemas.openxmlformats.org/presentationml/2006/main">
  <p:tag name="KSO_WM_DIAGRAM_VIRTUALLY_FRAME" val="{&quot;height&quot;:298,&quot;left&quot;:60,&quot;top&quot;:130,&quot;width&quot;:420}"/>
</p:tagLst>
</file>

<file path=ppt/tags/tag71.xml><?xml version="1.0" encoding="utf-8"?>
<p:tagLst xmlns:p="http://schemas.openxmlformats.org/presentationml/2006/main">
  <p:tag name="KSO_WM_DIAGRAM_VIRTUALLY_FRAME" val="{&quot;height&quot;:298,&quot;left&quot;:60,&quot;top&quot;:130,&quot;width&quot;:420}"/>
</p:tagLst>
</file>

<file path=ppt/tags/tag72.xml><?xml version="1.0" encoding="utf-8"?>
<p:tagLst xmlns:p="http://schemas.openxmlformats.org/presentationml/2006/main">
  <p:tag name="KSO_WM_DIAGRAM_VIRTUALLY_FRAME" val="{&quot;height&quot;:298,&quot;left&quot;:60,&quot;top&quot;:130,&quot;width&quot;:420}"/>
</p:tagLst>
</file>

<file path=ppt/tags/tag73.xml><?xml version="1.0" encoding="utf-8"?>
<p:tagLst xmlns:p="http://schemas.openxmlformats.org/presentationml/2006/main">
  <p:tag name="KSO_WM_DIAGRAM_VIRTUALLY_FRAME" val="{&quot;height&quot;:298,&quot;left&quot;:60,&quot;top&quot;:130,&quot;width&quot;:420}"/>
</p:tagLst>
</file>

<file path=ppt/tags/tag74.xml><?xml version="1.0" encoding="utf-8"?>
<p:tagLst xmlns:p="http://schemas.openxmlformats.org/presentationml/2006/main">
  <p:tag name="KSO_WM_DIAGRAM_VIRTUALLY_FRAME" val="{&quot;height&quot;:298,&quot;left&quot;:60,&quot;top&quot;:130,&quot;width&quot;:420}"/>
</p:tagLst>
</file>

<file path=ppt/tags/tag75.xml><?xml version="1.0" encoding="utf-8"?>
<p:tagLst xmlns:p="http://schemas.openxmlformats.org/presentationml/2006/main">
  <p:tag name="KSO_WM_DIAGRAM_VIRTUALLY_FRAME" val="{&quot;height&quot;:298,&quot;left&quot;:60,&quot;top&quot;:130,&quot;width&quot;:420}"/>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6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7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1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5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8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3573</Words>
  <Application>WPS 演示</Application>
  <PresentationFormat/>
  <Paragraphs>378</Paragraphs>
  <Slides>28</Slides>
  <Notes>0</Notes>
  <HiddenSlides>0</HiddenSlides>
  <MMClips>0</MMClips>
  <ScaleCrop>false</ScaleCrop>
  <HeadingPairs>
    <vt:vector size="6" baseType="variant">
      <vt:variant>
        <vt:lpstr>已用的字体</vt:lpstr>
      </vt:variant>
      <vt:variant>
        <vt:i4>9</vt:i4>
      </vt:variant>
      <vt:variant>
        <vt:lpstr>主题</vt:lpstr>
      </vt:variant>
      <vt:variant>
        <vt:i4>10</vt:i4>
      </vt:variant>
      <vt:variant>
        <vt:lpstr>幻灯片标题</vt:lpstr>
      </vt:variant>
      <vt:variant>
        <vt:i4>28</vt:i4>
      </vt:variant>
    </vt:vector>
  </HeadingPairs>
  <TitlesOfParts>
    <vt:vector size="47" baseType="lpstr">
      <vt:lpstr>Arial</vt:lpstr>
      <vt:lpstr>宋体</vt:lpstr>
      <vt:lpstr>Wingdings</vt:lpstr>
      <vt:lpstr>Arial</vt:lpstr>
      <vt:lpstr>黑体</vt:lpstr>
      <vt:lpstr>Noto Sans SC</vt:lpstr>
      <vt:lpstr>Times New Roman</vt:lpstr>
      <vt:lpstr>微软雅黑</vt:lpstr>
      <vt:lpstr>Arial Unicode MS</vt:lpstr>
      <vt:lpstr>Office 主题​​</vt:lpstr>
      <vt:lpstr>默认主题</vt:lpstr>
      <vt:lpstr>2_默认主题</vt:lpstr>
      <vt:lpstr>3_默认主题</vt:lpstr>
      <vt:lpstr>4_默认主题</vt:lpstr>
      <vt:lpstr>6_默认主题</vt:lpstr>
      <vt:lpstr>7_默认主题</vt:lpstr>
      <vt:lpstr>1_默认主题</vt:lpstr>
      <vt:lpstr>5_默认主题</vt:lpstr>
      <vt:lpstr>8_默认主题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clark</cp:lastModifiedBy>
  <cp:revision>105</cp:revision>
  <dcterms:created xsi:type="dcterms:W3CDTF">2026-01-09T06:41:00Z</dcterms:created>
  <dcterms:modified xsi:type="dcterms:W3CDTF">2026-01-12T01:43:49Z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4EAD51AA2AF54C24841CD5B3307DA564_12</vt:lpwstr>
  </property>
  <property fmtid="{D5CDD505-2E9C-101B-9397-08002B2CF9AE}" pid="3" name="KSOProductBuildVer">
    <vt:lpwstr>2052-12.1.0.24034</vt:lpwstr>
  </property>
</Properties>
</file>