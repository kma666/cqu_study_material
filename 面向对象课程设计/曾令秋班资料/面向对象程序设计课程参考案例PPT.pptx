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</p:sldMasterIdLst>
  <p:notesMasterIdLst>
    <p:notesMasterId r:id="rId17"/>
  </p:notesMasterIdLst>
  <p:sldIdLst>
    <p:sldId id="279" r:id="rId16"/>
    <p:sldId id="280" r:id="rId18"/>
    <p:sldId id="258" r:id="rId19"/>
    <p:sldId id="260" r:id="rId20"/>
    <p:sldId id="283" r:id="rId21"/>
    <p:sldId id="278" r:id="rId22"/>
    <p:sldId id="289" r:id="rId23"/>
    <p:sldId id="301" r:id="rId24"/>
    <p:sldId id="286" r:id="rId25"/>
    <p:sldId id="268" r:id="rId26"/>
    <p:sldId id="269" r:id="rId27"/>
    <p:sldId id="302" r:id="rId28"/>
    <p:sldId id="303" r:id="rId29"/>
    <p:sldId id="304" r:id="rId30"/>
    <p:sldId id="305" r:id="rId31"/>
    <p:sldId id="284" r:id="rId32"/>
    <p:sldId id="276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5765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.svg"/><Relationship Id="rId11" Type="http://schemas.openxmlformats.org/officeDocument/2006/relationships/image" Target="../media/image6.png"/><Relationship Id="rId10" Type="http://schemas.openxmlformats.org/officeDocument/2006/relationships/tags" Target="../tags/tag18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image" Target="../media/image19.svg"/><Relationship Id="rId12" Type="http://schemas.openxmlformats.org/officeDocument/2006/relationships/image" Target="../media/image18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3.jpe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0.jpeg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image" Target="../media/image29.svg"/><Relationship Id="rId12" Type="http://schemas.openxmlformats.org/officeDocument/2006/relationships/image" Target="../media/image28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23.xml"/><Relationship Id="rId16" Type="http://schemas.openxmlformats.org/officeDocument/2006/relationships/image" Target="../media/image41.jpe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image" Target="../media/image40.svg"/><Relationship Id="rId12" Type="http://schemas.openxmlformats.org/officeDocument/2006/relationships/image" Target="../media/image39.png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AutoShape 4"/>
          <p:cNvSpPr/>
          <p:nvPr/>
        </p:nvSpPr>
        <p:spPr>
          <a:xfrm>
            <a:off x="1016000" y="2476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面向对象程序设计</a:t>
            </a:r>
            <a:endParaRPr lang="en-US" sz="4800" b="1" i="0" u="none" strike="noStrike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4267200" y="3810000"/>
            <a:ext cx="36582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QT</a:t>
            </a:r>
            <a:r>
              <a:rPr lang="zh-CN" altLang="en-US" sz="20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参考案例</a:t>
            </a:r>
            <a:endParaRPr lang="zh-CN" altLang="en-US" sz="2000" b="0" i="0" u="none" strike="noStrike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cxnSp>
        <p:nvCxnSpPr>
          <p:cNvPr id="8" name="Connector 5"/>
          <p:cNvCxnSpPr/>
          <p:nvPr/>
        </p:nvCxnSpPr>
        <p:spPr>
          <a:xfrm rot="-28647">
            <a:off x="5334026" y="3486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9C4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"/>
          <p:cNvSpPr/>
          <p:nvPr/>
        </p:nvSpPr>
        <p:spPr>
          <a:xfrm>
            <a:off x="1016000" y="762000"/>
            <a:ext cx="254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4"/>
          <p:cNvSpPr/>
          <p:nvPr>
            <p:custDataLst>
              <p:tags r:id="rId1"/>
            </p:custDataLst>
          </p:nvPr>
        </p:nvSpPr>
        <p:spPr>
          <a:xfrm>
            <a:off x="1016000" y="21590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24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5"/>
          <p:cNvSpPr/>
          <p:nvPr>
            <p:custDataLst>
              <p:tags r:id="rId2"/>
            </p:custDataLst>
          </p:nvPr>
        </p:nvSpPr>
        <p:spPr>
          <a:xfrm>
            <a:off x="1778000" y="21844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界面</a:t>
            </a: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2400" b="0" i="0" u="none" strike="noStrike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7"/>
          <p:cNvSpPr/>
          <p:nvPr>
            <p:custDataLst>
              <p:tags r:id="rId3"/>
            </p:custDataLst>
          </p:nvPr>
        </p:nvSpPr>
        <p:spPr>
          <a:xfrm>
            <a:off x="1016000" y="31623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24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8"/>
          <p:cNvSpPr/>
          <p:nvPr>
            <p:custDataLst>
              <p:tags r:id="rId4"/>
            </p:custDataLst>
          </p:nvPr>
        </p:nvSpPr>
        <p:spPr>
          <a:xfrm>
            <a:off x="1778000" y="3179445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信号与</a:t>
            </a: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槽</a:t>
            </a:r>
            <a:endParaRPr lang="zh-CN" altLang="en-US" sz="2400" b="0" i="0" u="none" strike="noStrike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0"/>
          <p:cNvSpPr/>
          <p:nvPr>
            <p:custDataLst>
              <p:tags r:id="rId5"/>
            </p:custDataLst>
          </p:nvPr>
        </p:nvSpPr>
        <p:spPr>
          <a:xfrm>
            <a:off x="1016000" y="41656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24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11"/>
          <p:cNvSpPr/>
          <p:nvPr>
            <p:custDataLst>
              <p:tags r:id="rId6"/>
            </p:custDataLst>
          </p:nvPr>
        </p:nvSpPr>
        <p:spPr>
          <a:xfrm>
            <a:off x="1778000" y="417449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键盘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输入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AutoShape 10"/>
          <p:cNvSpPr/>
          <p:nvPr>
            <p:custDataLst>
              <p:tags r:id="rId7"/>
            </p:custDataLst>
          </p:nvPr>
        </p:nvSpPr>
        <p:spPr>
          <a:xfrm>
            <a:off x="1016000" y="5168900"/>
            <a:ext cx="609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24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9" name="AutoShape 11"/>
          <p:cNvSpPr/>
          <p:nvPr>
            <p:custDataLst>
              <p:tags r:id="rId8"/>
            </p:custDataLst>
          </p:nvPr>
        </p:nvSpPr>
        <p:spPr>
          <a:xfrm>
            <a:off x="1778000" y="5169535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资源与</a:t>
            </a:r>
            <a:r>
              <a:rPr lang="zh-CN" altLang="en-US" sz="2400" b="0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样式</a:t>
            </a:r>
            <a:endParaRPr lang="zh-CN" altLang="en-US" sz="2400" b="0" i="0" u="none" strike="noStrike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60" name="AutoShape 8"/>
          <p:cNvSpPr/>
          <p:nvPr>
            <p:custDataLst>
              <p:tags r:id="rId9"/>
            </p:custDataLst>
          </p:nvPr>
        </p:nvSpPr>
        <p:spPr>
          <a:xfrm>
            <a:off x="1778000" y="25908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使用UI文件构建游戏世界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1" name="AutoShape 11"/>
          <p:cNvSpPr/>
          <p:nvPr>
            <p:custDataLst>
              <p:tags r:id="rId10"/>
            </p:custDataLst>
          </p:nvPr>
        </p:nvSpPr>
        <p:spPr>
          <a:xfrm>
            <a:off x="1778000" y="3585845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处理游戏中的交互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2" name="AutoShape 14"/>
          <p:cNvSpPr/>
          <p:nvPr>
            <p:custDataLst>
              <p:tags r:id="rId11"/>
            </p:custDataLst>
          </p:nvPr>
        </p:nvSpPr>
        <p:spPr>
          <a:xfrm>
            <a:off x="1778000" y="458089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让角色动起来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3" name="AutoShape 17"/>
          <p:cNvSpPr/>
          <p:nvPr>
            <p:custDataLst>
              <p:tags r:id="rId12"/>
            </p:custDataLst>
          </p:nvPr>
        </p:nvSpPr>
        <p:spPr>
          <a:xfrm>
            <a:off x="1778000" y="5575935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打造独特的视觉风格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96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9C4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界面设计：使用</a:t>
            </a:r>
            <a:r>
              <a:rPr lang="en-US" altLang="zh-CN" sz="28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UI</a:t>
            </a:r>
            <a:r>
              <a:rPr lang="zh-CN" altLang="en-US" sz="28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文件构建游戏世界</a:t>
            </a:r>
            <a:endParaRPr lang="zh-CN" altLang="en-US" sz="28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1651000" y="4406900"/>
            <a:ext cx="889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在QT中，我们可以使用Qt Designer来创建UI文件，通过拖拽控件的方式快速构建游戏的界面。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Qt Designer：可视化的UI设计工具</a:t>
            </a:r>
            <a:endParaRPr lang="en-US" sz="36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cxnSp>
        <p:nvCxnSpPr>
          <p:cNvPr id="17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19" name="AutoShape 5"/>
          <p:cNvSpPr/>
          <p:nvPr>
            <p:custDataLst>
              <p:tags r:id="rId4"/>
            </p:custDataLst>
          </p:nvPr>
        </p:nvSpPr>
        <p:spPr>
          <a:xfrm>
            <a:off x="1270000" y="162433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快速创建UI文件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20" name="AutoShape 6"/>
          <p:cNvSpPr/>
          <p:nvPr>
            <p:custDataLst>
              <p:tags r:id="rId5"/>
            </p:custDataLst>
          </p:nvPr>
        </p:nvSpPr>
        <p:spPr>
          <a:xfrm>
            <a:off x="1270000" y="200533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 Designer是QT自带的可视化工具，可快速创建和编辑UI文件（.ui）。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048000"/>
            <a:ext cx="304800" cy="304800"/>
          </a:xfrm>
          <a:prstGeom prst="rect">
            <a:avLst/>
          </a:prstGeom>
        </p:spPr>
      </p:pic>
      <p:sp>
        <p:nvSpPr>
          <p:cNvPr id="22" name="AutoShape 8"/>
          <p:cNvSpPr/>
          <p:nvPr>
            <p:custDataLst>
              <p:tags r:id="rId9"/>
            </p:custDataLst>
          </p:nvPr>
        </p:nvSpPr>
        <p:spPr>
          <a:xfrm>
            <a:off x="1270000" y="302133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拖拽式界面设计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23" name="AutoShape 9"/>
          <p:cNvSpPr/>
          <p:nvPr>
            <p:custDataLst>
              <p:tags r:id="rId10"/>
            </p:custDataLst>
          </p:nvPr>
        </p:nvSpPr>
        <p:spPr>
          <a:xfrm>
            <a:off x="1270000" y="340233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像搭积木一样拖拽控件，轻松设置属性与布局，无需编写代码。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25" name="AutoShape 11"/>
          <p:cNvSpPr/>
          <p:nvPr/>
        </p:nvSpPr>
        <p:spPr>
          <a:xfrm>
            <a:off x="1270000" y="441833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无缝集成代码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26" name="AutoShape 12"/>
          <p:cNvSpPr/>
          <p:nvPr/>
        </p:nvSpPr>
        <p:spPr>
          <a:xfrm>
            <a:off x="1270000" y="479933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设计好的.ui文件可在C++或Python代码中方便地加载和使用。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64084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使用Qt Designer创建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270000" y="204724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快速搭建包含画布、菜单、工具栏和状态栏的完整界面框架。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303784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核心游戏画布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344424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通过QWidget或QGraphicsView绘制游戏世界、角色与交互元素。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43484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功能控制区</a:t>
            </a:r>
            <a:endParaRPr lang="zh-CN" altLang="en-US" sz="20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484124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利用菜单和工具栏提供开始、暂停、保存、加载等核心游戏功能。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2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600" b="1" i="0" u="none" strike="noStrike">
                <a:solidFill>
                  <a:srgbClr val="0D1B2A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构建界面</a:t>
            </a:r>
            <a:endParaRPr lang="en-US" sz="3600" b="1">
              <a:solidFill>
                <a:srgbClr val="0D1B2A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9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9C4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信号与槽：处理游戏中的交互</a:t>
            </a:r>
            <a:endParaRPr lang="zh-CN" altLang="en-US" sz="2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2032000" y="4559300"/>
            <a:ext cx="812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信号与槽是QT的核心机制，它允许对象之间进行通信，是处理用户交互和事件响应的基础。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1320800" y="162306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 (Signal)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20800" y="208026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当某个事件发生时，对象会发出一个信号。例如，用户点击按钮时发出 clicked() 信号。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048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1320800" y="302006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槽 (Slot)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320800" y="347726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槽是一个函数，用于响应一个或多个信号。当信号发出时，连接的槽函数会被自动调用。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4445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1320800" y="441706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 (Connect)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1320800" y="487426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connect() 函数可以将一个信号连接到一个或多个槽，建立通信桥梁。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" name="Connector 13"/>
          <p:cNvCxnSpPr/>
          <p:nvPr>
            <p:custDataLst>
              <p:tags r:id="rId16"/>
            </p:custDataLst>
          </p:nvPr>
        </p:nvCxnSpPr>
        <p:spPr>
          <a:xfrm rot="5388910">
            <a:off x="4127500" y="355982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信号与槽：QT的通信机制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处理按钮的点击事件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4"/>
          <p:cNvSpPr/>
          <p:nvPr/>
        </p:nvSpPr>
        <p:spPr>
          <a:xfrm>
            <a:off x="762000" y="1524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在游戏中，我们经常需要处理按钮的点击事件，例如开始游戏、暂停、退出等。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762000" y="25400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使用QT的信号与槽机制，我们可以很容易地将按钮的clicked()信号连接到我们自己定义的槽函数。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6"/>
          <p:cNvSpPr/>
          <p:nvPr/>
        </p:nvSpPr>
        <p:spPr>
          <a:xfrm>
            <a:off x="762000" y="3683000"/>
            <a:ext cx="5334000" cy="1016000"/>
          </a:xfrm>
          <a:prstGeom prst="roundRect">
            <a:avLst>
              <a:gd name="adj" fmla="val 1000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7"/>
          <p:cNvSpPr/>
          <p:nvPr/>
        </p:nvSpPr>
        <p:spPr>
          <a:xfrm>
            <a:off x="889000" y="3810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connect(ui-&gt;startButton, &amp;QPushButton::clicked,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this, &amp;MainWindow::onStartButtonClicked);</a:t>
            </a:r>
            <a:endParaRPr lang="en-US" sz="14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" name="Picture 9"/>
          <p:cNvPicPr>
            <a:picLocks noChangeAspect="1"/>
          </p:cNvPicPr>
          <p:nvPr/>
        </p:nvPicPr>
        <p:blipFill>
          <a:blip r:embed="rId1"/>
          <a:srcRect l="58" r="58"/>
          <a:stretch>
            <a:fillRect/>
          </a:stretch>
        </p:blipFill>
        <p:spPr>
          <a:xfrm>
            <a:off x="6604000" y="17780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solidFill>
              <a:srgbClr val="FF980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9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9C4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键盘输入：让角色动起来</a:t>
            </a:r>
            <a:endParaRPr lang="zh-CN" altLang="en-US" sz="2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1651000" y="45593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处理键盘输入是游戏开发的重要部分，它可以让玩家通过键盘来控制游戏角色的移动、攻击等。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25600"/>
            <a:ext cx="254000" cy="254000"/>
          </a:xfrm>
          <a:prstGeom prst="rect">
            <a:avLst/>
          </a:prstGeom>
        </p:spPr>
      </p:pic>
      <p:sp>
        <p:nvSpPr>
          <p:cNvPr id="16" name="AutoShape 5"/>
          <p:cNvSpPr/>
          <p:nvPr/>
        </p:nvSpPr>
        <p:spPr>
          <a:xfrm>
            <a:off x="1168400" y="1625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通过重写</a:t>
            </a:r>
            <a:r>
              <a:rPr lang="en-US" sz="1400" b="1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keyPressEvent()</a:t>
            </a: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keyReleaseEvent()</a:t>
            </a: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处理键盘输入。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184400"/>
            <a:ext cx="254000" cy="254000"/>
          </a:xfrm>
          <a:prstGeom prst="rect">
            <a:avLst/>
          </a:prstGeom>
        </p:spPr>
      </p:pic>
      <p:sp>
        <p:nvSpPr>
          <p:cNvPr id="18" name="AutoShape 7"/>
          <p:cNvSpPr/>
          <p:nvPr/>
        </p:nvSpPr>
        <p:spPr>
          <a:xfrm>
            <a:off x="1168400" y="218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keyPressEvent()</a:t>
            </a: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按键被按下时调用。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743200"/>
            <a:ext cx="254000" cy="254000"/>
          </a:xfrm>
          <a:prstGeom prst="rect">
            <a:avLst/>
          </a:prstGeom>
        </p:spPr>
      </p:pic>
      <p:sp>
        <p:nvSpPr>
          <p:cNvPr id="20" name="AutoShape 9"/>
          <p:cNvSpPr/>
          <p:nvPr/>
        </p:nvSpPr>
        <p:spPr>
          <a:xfrm>
            <a:off x="1168400" y="2743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keyReleaseEvent()</a:t>
            </a: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按键被释放时调用。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重写键盘事件处理函数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AutoShape 10"/>
          <p:cNvSpPr/>
          <p:nvPr/>
        </p:nvSpPr>
        <p:spPr>
          <a:xfrm>
            <a:off x="762000" y="35814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1F1F1F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1"/>
          <p:cNvSpPr/>
          <p:nvPr/>
        </p:nvSpPr>
        <p:spPr>
          <a:xfrm>
            <a:off x="952500" y="37084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CB342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MainWindow::keyPressEvent(QKeyEvent *e)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24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CB342"/>
                </a:solidFill>
                <a:latin typeface="Roboto Mono"/>
                <a:ea typeface="Roboto Mono"/>
                <a:cs typeface="Roboto Mono"/>
                <a:sym typeface="Roboto Mono"/>
              </a:rPr>
              <a:t>switch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(e-&gt;key()) { ... }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3"/>
          <a:srcRect t="16666" b="16666"/>
          <a:stretch>
            <a:fillRect/>
          </a:stretch>
        </p:blipFill>
        <p:spPr>
          <a:xfrm>
            <a:off x="6604000" y="1955800"/>
            <a:ext cx="4572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实现角色的移动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19" name="AutoShape 5"/>
          <p:cNvSpPr/>
          <p:nvPr>
            <p:custDataLst>
              <p:tags r:id="rId4"/>
            </p:custDataLst>
          </p:nvPr>
        </p:nvSpPr>
        <p:spPr>
          <a:xfrm>
            <a:off x="1270000" y="175895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键盘事件处理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6"/>
          <p:cNvSpPr/>
          <p:nvPr>
            <p:custDataLst>
              <p:tags r:id="rId5"/>
            </p:custDataLst>
          </p:nvPr>
        </p:nvSpPr>
        <p:spPr>
          <a:xfrm>
            <a:off x="1270000" y="216535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结合键盘事件与画布绘制，监听方向键输入。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149600"/>
            <a:ext cx="304800" cy="304800"/>
          </a:xfrm>
          <a:prstGeom prst="rect">
            <a:avLst/>
          </a:prstGeom>
        </p:spPr>
      </p:pic>
      <p:sp>
        <p:nvSpPr>
          <p:cNvPr id="22" name="AutoShape 8"/>
          <p:cNvSpPr/>
          <p:nvPr>
            <p:custDataLst>
              <p:tags r:id="rId9"/>
            </p:custDataLst>
          </p:nvPr>
        </p:nvSpPr>
        <p:spPr>
          <a:xfrm>
            <a:off x="1270000" y="313055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坐标更新与重绘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AutoShape 9"/>
          <p:cNvSpPr/>
          <p:nvPr>
            <p:custDataLst>
              <p:tags r:id="rId10"/>
            </p:custDataLst>
          </p:nvPr>
        </p:nvSpPr>
        <p:spPr>
          <a:xfrm>
            <a:off x="1270000" y="353695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根据按键更新角色坐标，并调用update()重绘画布。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4521200"/>
            <a:ext cx="304800" cy="304800"/>
          </a:xfrm>
          <a:prstGeom prst="rect">
            <a:avLst/>
          </a:prstGeom>
        </p:spPr>
      </p:pic>
      <p:sp>
        <p:nvSpPr>
          <p:cNvPr id="25" name="AutoShape 11"/>
          <p:cNvSpPr/>
          <p:nvPr>
            <p:custDataLst>
              <p:tags r:id="rId14"/>
            </p:custDataLst>
          </p:nvPr>
        </p:nvSpPr>
        <p:spPr>
          <a:xfrm>
            <a:off x="1270000" y="450215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帧率控制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AutoShape 12"/>
          <p:cNvSpPr/>
          <p:nvPr>
            <p:custDataLst>
              <p:tags r:id="rId15"/>
            </p:custDataLst>
          </p:nvPr>
        </p:nvSpPr>
        <p:spPr>
          <a:xfrm>
            <a:off x="1270000" y="490855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使用定时器控制游戏帧率，实现平滑移动效果。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13"/>
          <p:cNvCxnSpPr/>
          <p:nvPr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8" name="Picture 14"/>
          <p:cNvPicPr>
            <a:picLocks noChangeAspect="1"/>
          </p:cNvPicPr>
          <p:nvPr/>
        </p:nvPicPr>
        <p:blipFill>
          <a:blip r:embed="rId16"/>
          <a:srcRect l="58" r="58"/>
          <a:stretch>
            <a:fillRect/>
          </a:stretch>
        </p:blipFill>
        <p:spPr>
          <a:xfrm>
            <a:off x="6604000" y="20701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solidFill>
              <a:srgbClr val="FF980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9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2969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9C4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资源与样式：打造独特的视觉风格</a:t>
            </a:r>
            <a:endParaRPr lang="zh-CN" altLang="en-US" sz="2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6"/>
          <p:cNvSpPr/>
          <p:nvPr/>
        </p:nvSpPr>
        <p:spPr>
          <a:xfrm>
            <a:off x="2032000" y="4559300"/>
            <a:ext cx="812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游戏的视觉风格是吸引玩家的重要因素。在QT中，我们可以使用资源文件和QSS来管理游戏的资源和美化界面。</a:t>
            </a:r>
            <a:endParaRPr lang="en-US" sz="16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使用资源文件管理游戏素材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1270000" y="1631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资源打包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AutoShape 6"/>
          <p:cNvSpPr/>
          <p:nvPr/>
        </p:nvSpPr>
        <p:spPr>
          <a:xfrm>
            <a:off x="1270000" y="201295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QT资源文件(.qrc)可将图片、音频等资源打包进应用程序，便于统一管理。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048000"/>
            <a:ext cx="304800" cy="304800"/>
          </a:xfrm>
          <a:prstGeom prst="rect">
            <a:avLst/>
          </a:prstGeom>
        </p:spPr>
      </p:pic>
      <p:sp>
        <p:nvSpPr>
          <p:cNvPr id="26" name="AutoShape 8"/>
          <p:cNvSpPr/>
          <p:nvPr/>
        </p:nvSpPr>
        <p:spPr>
          <a:xfrm>
            <a:off x="1270000" y="3028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避免路径错误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1270000" y="340995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通过资源文件访问资源，可有效避免因文件移动或路径变更导致的加载失败。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8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29" name="AutoShape 11"/>
          <p:cNvSpPr/>
          <p:nvPr/>
        </p:nvSpPr>
        <p:spPr>
          <a:xfrm>
            <a:off x="1270000" y="4425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便捷编辑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12"/>
          <p:cNvSpPr/>
          <p:nvPr/>
        </p:nvSpPr>
        <p:spPr>
          <a:xfrm>
            <a:off x="1270000" y="480695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 Creator提供可视化资源编辑器，支持拖拽操作，轻松创建和维护.qrc文件。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13"/>
          <p:cNvCxnSpPr/>
          <p:nvPr/>
        </p:nvCxnSpPr>
        <p:spPr>
          <a:xfrm rot="5388910">
            <a:off x="4127500" y="356871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设置贴图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1270000" y="1778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什么是贴图 (Sprite Sheet)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270000" y="2209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角色由一系列图片（帧）组成，整合在一张大图上，即为贴图。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1270000" y="3175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如何绘制动画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270000" y="3606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QPainter 绘制贴图的不同区域，通过切换区域实现动画。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457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1270000" y="4572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为何使用贴图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1270000" y="5003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减少图片加载次数，有效提升游戏绘制效率和性能。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6"/>
          <a:srcRect t="90" b="90"/>
          <a:stretch>
            <a:fillRect/>
          </a:stretch>
        </p:blipFill>
        <p:spPr>
          <a:xfrm>
            <a:off x="6604000" y="2032000"/>
            <a:ext cx="4826000" cy="3213100"/>
          </a:xfrm>
          <a:prstGeom prst="roundRect">
            <a:avLst>
              <a:gd name="adj" fmla="val 3162"/>
            </a:avLst>
          </a:prstGeom>
          <a:noFill/>
          <a:ln w="25400" cap="flat" cmpd="sng">
            <a:solidFill>
              <a:srgbClr val="FF980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使用QSS美化界面</a:t>
            </a:r>
            <a:endParaRPr lang="zh-CN" altLang="en-US" sz="32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25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625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什么是QSS？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270000" y="2032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QSS（Qt Style Sheet）是QT的样式表语言，类似CSS，用于美化QT应用程序界面。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895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895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灵活的样式控制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3302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轻松改变控件颜色、字体、边框、背景等，打造独特视觉效果。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14800"/>
            <a:ext cx="5334000" cy="1778000"/>
          </a:xfrm>
          <a:prstGeom prst="roundRect">
            <a:avLst>
              <a:gd name="adj" fmla="val 5714"/>
            </a:avLst>
          </a:prstGeom>
          <a:solidFill>
            <a:srgbClr val="222222">
              <a:alpha val="100000"/>
            </a:srgbClr>
          </a:solidFill>
          <a:ln w="12700" cap="flat" cmpd="sng">
            <a:solidFill>
              <a:srgbClr val="5555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2418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QPushButton {</a:t>
            </a:r>
            <a:endParaRPr lang="en-US" sz="1100"/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CB342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background-color:</a:t>
            </a:r>
            <a:r>
              <a:rPr lang="en-US" sz="1300" b="0" i="0" u="none" strike="noStrike">
                <a:solidFill>
                  <a:srgbClr val="FD971F"/>
                </a:solidFill>
                <a:latin typeface="Roboto Mono"/>
                <a:ea typeface="Roboto Mono"/>
                <a:cs typeface="Roboto Mono"/>
                <a:sym typeface="Roboto Mono"/>
              </a:rPr>
              <a:t>#7CB342</a:t>
            </a:r>
            <a:r>
              <a:rPr lang="en-US" sz="1300" b="0" i="0" u="none" strike="noStrike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300" b="0" i="0" u="none" strike="noStrike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9050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CB342"/>
                </a:solidFill>
                <a:latin typeface="Roboto Mono"/>
                <a:ea typeface="Roboto Mono"/>
                <a:cs typeface="Roboto Mono"/>
                <a:sym typeface="Roboto Mono"/>
              </a:rPr>
              <a:t>color:</a:t>
            </a:r>
            <a:r>
              <a:rPr lang="en-US" sz="1300" b="0" i="0" u="none" strike="noStrike">
                <a:solidFill>
                  <a:srgbClr val="FD971F"/>
                </a:solidFill>
                <a:latin typeface="Roboto Mono"/>
                <a:ea typeface="Roboto Mono"/>
                <a:cs typeface="Roboto Mono"/>
                <a:sym typeface="Roboto Mono"/>
              </a:rPr>
              <a:t>white</a:t>
            </a:r>
            <a:r>
              <a:rPr lang="en-US" sz="1300" b="0" i="0" u="none" strike="noStrike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300" b="0" i="0" u="none" strike="noStrike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300" b="0" i="0" u="none" strike="noStrike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9768">
            <a:off x="4216400" y="3752859"/>
            <a:ext cx="426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58" r="58"/>
          <a:stretch>
            <a:fillRect/>
          </a:stretch>
        </p:blipFill>
        <p:spPr>
          <a:xfrm>
            <a:off x="6604000" y="1625600"/>
            <a:ext cx="4826000" cy="2717800"/>
          </a:xfrm>
          <a:prstGeom prst="roundRect">
            <a:avLst>
              <a:gd name="adj" fmla="val 3738"/>
            </a:avLst>
          </a:prstGeom>
          <a:noFill/>
          <a:ln w="25400" cap="flat" cmpd="sng">
            <a:solidFill>
              <a:srgbClr val="7CB342">
                <a:alpha val="10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604000" y="459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美化后的QT界面示例</a:t>
            </a:r>
            <a:endParaRPr lang="en-US" sz="1800" b="1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5003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通过QSS实现的现代、扁平化UI风格，显著提升用户体验。</a:t>
            </a:r>
            <a:endParaRPr lang="en-US" sz="1400" b="0" i="0" u="none" strike="noStrike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B2A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Q&amp;A</a:t>
            </a:r>
            <a:endParaRPr lang="en-US" sz="3600" b="1" i="0" u="none" strike="noStrike">
              <a:solidFill>
                <a:srgbClr val="0D1B2A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</a:t>
            </a:r>
            <a:r>
              <a:rPr lang="zh-CN" altLang="en-US" sz="2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资料</a:t>
            </a:r>
            <a:endParaRPr lang="zh-CN" altLang="en-US" sz="2000" b="1" i="0" u="none" strike="noStrike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2185670"/>
            <a:ext cx="7130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https://www.runoob.com/design-pattern/design-pattern-intro.html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https://google.github.io/styleguide/cppguide.html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https://doc.qt.io/</a:t>
            </a:r>
            <a:endParaRPr lang="en-US" altLang="zh-CN" sz="2400"/>
          </a:p>
        </p:txBody>
      </p:sp>
      <p:pic>
        <p:nvPicPr>
          <p:cNvPr id="8" name="图片 7" descr="qrcode_17680122283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7895" y="1548130"/>
            <a:ext cx="2717800" cy="4833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7200" b="1" i="0" u="none" strike="noStrike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2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3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4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5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6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7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8.xml><?xml version="1.0" encoding="utf-8"?>
<p:tagLst xmlns:p="http://schemas.openxmlformats.org/presentationml/2006/main">
  <p:tag name="KSO_WM_DIAGRAM_VIRTUALLY_FRAME" val="{&quot;height&quot;:198,&quot;left&quot;:80,&quot;top&quot;:170,&quot;width&quot;:660}"/>
</p:tagLst>
</file>

<file path=ppt/tags/tag9.xml><?xml version="1.0" encoding="utf-8"?>
<p:tagLst xmlns:p="http://schemas.openxmlformats.org/presentationml/2006/main">
  <p:tag name="KSO_WM_DIAGRAM_VIRTUALLY_FRAME" val="{&quot;height&quot;:294,&quot;left&quot;:60,&quot;top&quot;:140,&quot;width&quot;:709.5}"/>
</p:tagLst>
</file>

<file path=ppt/tags/tag10.xml><?xml version="1.0" encoding="utf-8"?>
<p:tagLst xmlns:p="http://schemas.openxmlformats.org/presentationml/2006/main">
  <p:tag name="KSO_WM_DIAGRAM_VIRTUALLY_FRAME" val="{&quot;height&quot;:294,&quot;left&quot;:60,&quot;top&quot;:140,&quot;width&quot;:709.5}"/>
</p:tagLst>
</file>

<file path=ppt/tags/tag11.xml><?xml version="1.0" encoding="utf-8"?>
<p:tagLst xmlns:p="http://schemas.openxmlformats.org/presentationml/2006/main">
  <p:tag name="KSO_WM_DIAGRAM_VIRTUALLY_FRAME" val="{&quot;height&quot;:294,&quot;left&quot;:60,&quot;top&quot;:140,&quot;width&quot;:709.5}"/>
</p:tagLst>
</file>

<file path=ppt/tags/tag12.xml><?xml version="1.0" encoding="utf-8"?>
<p:tagLst xmlns:p="http://schemas.openxmlformats.org/presentationml/2006/main">
  <p:tag name="KSO_WM_DIAGRAM_VIRTUALLY_FRAME" val="{&quot;height&quot;:294,&quot;left&quot;:60,&quot;top&quot;:140,&quot;width&quot;:709.5}"/>
</p:tagLst>
</file>

<file path=ppt/tags/tag13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4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5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6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7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8.xml><?xml version="1.0" encoding="utf-8"?>
<p:tagLst xmlns:p="http://schemas.openxmlformats.org/presentationml/2006/main">
  <p:tag name="KSO_WM_DIAGRAM_VIRTUALLY_FRAME" val="{&quot;height&quot;:184,&quot;left&quot;:60,&quot;top&quot;:130,&quot;width&quot;:420}"/>
</p:tagLst>
</file>

<file path=ppt/tags/tag19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0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1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2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3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4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5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6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7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8.xml><?xml version="1.0" encoding="utf-8"?>
<p:tagLst xmlns:p="http://schemas.openxmlformats.org/presentationml/2006/main">
  <p:tag name="KSO_WM_DIAGRAM_VIRTUALLY_FRAME" val="{&quot;height&quot;:310.00161289902627,&quot;left&quot;:60,&quot;top&quot;:129.99998095206166,&quot;width&quot;:424}"/>
</p:tagLst>
</file>

<file path=ppt/tags/tag29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0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1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2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3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4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5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6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7.xml><?xml version="1.0" encoding="utf-8"?>
<p:tagLst xmlns:p="http://schemas.openxmlformats.org/presentationml/2006/main">
  <p:tag name="KSO_WM_DIAGRAM_VIRTUALLY_FRAME" val="{&quot;height&quot;:294,&quot;left&quot;:60,&quot;top&quot;:140,&quot;width&quot;:400}"/>
</p:tagLst>
</file>

<file path=ppt/tags/tag38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39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0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1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2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3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4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5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ags/tag46.xml><?xml version="1.0" encoding="utf-8"?>
<p:tagLst xmlns:p="http://schemas.openxmlformats.org/presentationml/2006/main">
  <p:tag name="KSO_WM_DIAGRAM_VIRTUALLY_FRAME" val="{&quot;height&quot;:363.26846136472085,&quot;left&quot;:60,&quot;top&quot;:140,&quot;width&quot;:545.750033126381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1797</Words>
  <Application>WPS 演示</Application>
  <PresentationFormat/>
  <Paragraphs>189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17</vt:i4>
      </vt:variant>
    </vt:vector>
  </HeadingPairs>
  <TitlesOfParts>
    <vt:vector size="42" baseType="lpstr">
      <vt:lpstr>Arial</vt:lpstr>
      <vt:lpstr>宋体</vt:lpstr>
      <vt:lpstr>Wingdings</vt:lpstr>
      <vt:lpstr>Arial</vt:lpstr>
      <vt:lpstr>黑体</vt:lpstr>
      <vt:lpstr>Noto Sans SC</vt:lpstr>
      <vt:lpstr>Times New Roman</vt:lpstr>
      <vt:lpstr>微软雅黑</vt:lpstr>
      <vt:lpstr>Arial Unicode MS</vt:lpstr>
      <vt:lpstr>Roboto Mono</vt:lpstr>
      <vt:lpstr>Roboto</vt:lpstr>
      <vt:lpstr>Office 主题​​</vt:lpstr>
      <vt:lpstr>默认主题</vt:lpstr>
      <vt:lpstr>2_默认主题</vt:lpstr>
      <vt:lpstr>3_默认主题</vt:lpstr>
      <vt:lpstr>4_默认主题</vt:lpstr>
      <vt:lpstr>6_默认主题</vt:lpstr>
      <vt:lpstr>7_默认主题</vt:lpstr>
      <vt:lpstr>5_默认主题</vt:lpstr>
      <vt:lpstr>8_默认主题</vt:lpstr>
      <vt:lpstr>1_默认主题</vt:lpstr>
      <vt:lpstr>9_默认主题</vt:lpstr>
      <vt:lpstr>10_默认主题</vt:lpstr>
      <vt:lpstr>11_默认主题</vt:lpstr>
      <vt:lpstr>12_默认主题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clark</cp:lastModifiedBy>
  <cp:revision>134</cp:revision>
  <dcterms:created xsi:type="dcterms:W3CDTF">2026-01-09T06:41:00Z</dcterms:created>
  <dcterms:modified xsi:type="dcterms:W3CDTF">2026-01-11T04:41:20Z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4EAD51AA2AF54C24841CD5B3307DA564_12</vt:lpwstr>
  </property>
  <property fmtid="{D5CDD505-2E9C-101B-9397-08002B2CF9AE}" pid="3" name="KSOProductBuildVer">
    <vt:lpwstr>2052-12.1.0.24034</vt:lpwstr>
  </property>
</Properties>
</file>