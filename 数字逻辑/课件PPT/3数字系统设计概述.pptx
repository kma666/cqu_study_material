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4" r:id="rId3"/>
    <p:sldId id="258" r:id="rId5"/>
    <p:sldId id="322" r:id="rId6"/>
    <p:sldId id="260" r:id="rId7"/>
    <p:sldId id="340" r:id="rId8"/>
    <p:sldId id="262" r:id="rId9"/>
    <p:sldId id="318" r:id="rId10"/>
    <p:sldId id="319" r:id="rId11"/>
    <p:sldId id="309" r:id="rId12"/>
    <p:sldId id="263" r:id="rId13"/>
    <p:sldId id="320" r:id="rId14"/>
    <p:sldId id="264" r:id="rId15"/>
    <p:sldId id="323" r:id="rId16"/>
    <p:sldId id="324" r:id="rId17"/>
    <p:sldId id="271" r:id="rId18"/>
    <p:sldId id="336" r:id="rId19"/>
    <p:sldId id="273" r:id="rId20"/>
    <p:sldId id="274" r:id="rId21"/>
    <p:sldId id="277" r:id="rId22"/>
    <p:sldId id="349" r:id="rId23"/>
    <p:sldId id="386" r:id="rId24"/>
    <p:sldId id="387" r:id="rId25"/>
    <p:sldId id="331" r:id="rId26"/>
    <p:sldId id="346" r:id="rId27"/>
    <p:sldId id="347" r:id="rId28"/>
    <p:sldId id="348" r:id="rId29"/>
    <p:sldId id="314" r:id="rId30"/>
    <p:sldId id="280" r:id="rId31"/>
    <p:sldId id="328" r:id="rId32"/>
    <p:sldId id="329" r:id="rId33"/>
    <p:sldId id="330" r:id="rId34"/>
    <p:sldId id="337" r:id="rId35"/>
    <p:sldId id="283" r:id="rId36"/>
    <p:sldId id="312" r:id="rId37"/>
    <p:sldId id="317" r:id="rId38"/>
    <p:sldId id="285" r:id="rId39"/>
    <p:sldId id="286" r:id="rId40"/>
    <p:sldId id="288" r:id="rId41"/>
    <p:sldId id="341" r:id="rId42"/>
    <p:sldId id="313" r:id="rId43"/>
    <p:sldId id="287" r:id="rId44"/>
    <p:sldId id="290" r:id="rId45"/>
    <p:sldId id="298" r:id="rId46"/>
    <p:sldId id="342" r:id="rId47"/>
    <p:sldId id="296" r:id="rId48"/>
    <p:sldId id="297" r:id="rId49"/>
    <p:sldId id="343" r:id="rId50"/>
    <p:sldId id="299" r:id="rId51"/>
    <p:sldId id="300" r:id="rId52"/>
    <p:sldId id="344" r:id="rId53"/>
    <p:sldId id="301" r:id="rId54"/>
    <p:sldId id="302" r:id="rId55"/>
    <p:sldId id="303" r:id="rId56"/>
  </p:sldIdLst>
  <p:sldSz cx="9144000" cy="6858000" type="screen4x3"/>
  <p:notesSz cx="6858000" cy="9144000"/>
  <p:defaultTextStyle>
    <a:defPPr>
      <a:defRPr lang="zh-CN"/>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FFFF00"/>
    <a:srgbClr val="66CCFF"/>
    <a:srgbClr val="0099FF"/>
    <a:srgbClr val="000000"/>
    <a:srgbClr val="FFFFFF"/>
    <a:srgbClr val="660066"/>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618"/>
    <p:restoredTop sz="95494"/>
  </p:normalViewPr>
  <p:slideViewPr>
    <p:cSldViewPr showGuides="1">
      <p:cViewPr varScale="1">
        <p:scale>
          <a:sx n="92" d="100"/>
          <a:sy n="92" d="100"/>
        </p:scale>
        <p:origin x="134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502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710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101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4"/>
          <p:cNvSpPr>
            <a:spLocks noRot="1" noTextEdit="1"/>
          </p:cNvSpPr>
          <p:nvPr>
            <p:ph type="sldImg" idx="2"/>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17101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endPar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101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101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DB0C8682-5334-4919-A4E0-6FAA6E89D170}"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4099" name="Rectangle 2"/>
          <p:cNvSpPr>
            <a:spLocks noRot="1" noTextEdit="1"/>
          </p:cNvSpPr>
          <p:nvPr>
            <p:ph type="sldImg"/>
          </p:nvPr>
        </p:nvSpPr>
        <p:spPr>
          <a:ln/>
        </p:spPr>
      </p:sp>
      <p:sp>
        <p:nvSpPr>
          <p:cNvPr id="4100" name="Rectangle 3"/>
          <p:cNvSpPr>
            <a:spLocks noGrp="1"/>
          </p:cNvSpPr>
          <p:nvPr>
            <p:ph type="body" idx="1"/>
          </p:nvPr>
        </p:nvSpPr>
        <p:spPr>
          <a:xfrm>
            <a:off x="914400" y="4343400"/>
            <a:ext cx="5029200" cy="4114800"/>
          </a:xfrm>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6147" name="Rectangle 2"/>
          <p:cNvSpPr>
            <a:spLocks noRot="1" noTextEdit="1"/>
          </p:cNvSpPr>
          <p:nvPr>
            <p:ph type="sldImg"/>
          </p:nvPr>
        </p:nvSpPr>
        <p:spPr>
          <a:ln/>
        </p:spPr>
      </p:sp>
      <p:sp>
        <p:nvSpPr>
          <p:cNvPr id="6148"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8195" name="Rectangle 2"/>
          <p:cNvSpPr>
            <a:spLocks noRot="1" noTextEdit="1"/>
          </p:cNvSpPr>
          <p:nvPr>
            <p:ph type="sldImg"/>
          </p:nvPr>
        </p:nvSpPr>
        <p:spPr>
          <a:ln/>
        </p:spPr>
      </p:sp>
      <p:sp>
        <p:nvSpPr>
          <p:cNvPr id="8196" name="Rectangle 3"/>
          <p:cNvSpPr>
            <a:spLocks noGrp="1"/>
          </p:cNvSpPr>
          <p:nvPr>
            <p:ph type="body" idx="1"/>
          </p:nvPr>
        </p:nvSpPr>
        <p:spPr>
          <a:ln/>
        </p:spPr>
        <p:txBody>
          <a:bodyPr wrap="square" lIns="91440" tIns="45720" rIns="91440" bIns="45720" anchor="t" anchorCtr="0"/>
          <a:p>
            <a:pPr lvl="0" eaLnBrk="1" hangingPunct="1"/>
            <a:r>
              <a:rPr lang="zh-CN" altLang="en-US" b="1" dirty="0">
                <a:solidFill>
                  <a:srgbClr val="FF0000"/>
                </a:solidFill>
              </a:rPr>
              <a:t>这个图就表示了</a:t>
            </a:r>
            <a:r>
              <a:rPr lang="en-US" altLang="zh-CN" b="1" dirty="0">
                <a:solidFill>
                  <a:srgbClr val="FF0000"/>
                </a:solidFill>
              </a:rPr>
              <a:t>eda</a:t>
            </a:r>
            <a:r>
              <a:rPr lang="zh-CN" altLang="en-US" b="1" dirty="0">
                <a:solidFill>
                  <a:srgbClr val="FF0000"/>
                </a:solidFill>
              </a:rPr>
              <a:t>技术的功能和范畴。</a:t>
            </a:r>
            <a:endParaRPr lang="zh-CN" altLang="en-US" b="1" dirty="0">
              <a:solidFill>
                <a:srgbClr val="FF0000"/>
              </a:solidFill>
            </a:endParaRPr>
          </a:p>
          <a:p>
            <a:pPr lvl="0" eaLnBrk="1" hangingPunct="1"/>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10243" name="Rectangle 2"/>
          <p:cNvSpPr>
            <a:spLocks noRot="1" noTextEdit="1"/>
          </p:cNvSpPr>
          <p:nvPr>
            <p:ph type="sldImg"/>
          </p:nvPr>
        </p:nvSpPr>
        <p:spPr>
          <a:ln/>
        </p:spPr>
      </p:sp>
      <p:sp>
        <p:nvSpPr>
          <p:cNvPr id="10244" name="Rectangle 3"/>
          <p:cNvSpPr>
            <a:spLocks noGrp="1"/>
          </p:cNvSpPr>
          <p:nvPr>
            <p:ph type="body" idx="1"/>
          </p:nvPr>
        </p:nvSpPr>
        <p:spPr>
          <a:ln/>
        </p:spPr>
        <p:txBody>
          <a:bodyPr wrap="square" lIns="91440" tIns="45720" rIns="91440" bIns="45720" anchor="t" anchorCtr="0"/>
          <a:p>
            <a:pPr lvl="0" eaLnBrk="1" hangingPunct="1"/>
            <a:r>
              <a:rPr lang="zh-CN" altLang="en-US" dirty="0"/>
              <a:t>由于</a:t>
            </a:r>
            <a:r>
              <a:rPr lang="en-US" altLang="zh-CN" dirty="0"/>
              <a:t>eda</a:t>
            </a:r>
            <a:r>
              <a:rPr lang="zh-CN" altLang="en-US" dirty="0"/>
              <a:t>技术就是利用</a:t>
            </a:r>
            <a:r>
              <a:rPr lang="en-US" altLang="zh-CN" dirty="0"/>
              <a:t>eda</a:t>
            </a:r>
            <a:r>
              <a:rPr lang="zh-CN" altLang="en-US" dirty="0"/>
              <a:t>工具对</a:t>
            </a:r>
            <a:r>
              <a:rPr lang="en-US" altLang="zh-CN" dirty="0"/>
              <a:t>hdl</a:t>
            </a:r>
            <a:r>
              <a:rPr lang="zh-CN" altLang="en-US" dirty="0"/>
              <a:t>语言所描述的设计文件自动地进行逻辑编译。。。等等过程，因此，可以说</a:t>
            </a:r>
            <a:r>
              <a:rPr lang="en-US" altLang="zh-CN" b="1" i="1" dirty="0">
                <a:solidFill>
                  <a:srgbClr val="FF0000"/>
                </a:solidFill>
              </a:rPr>
              <a:t>EDA</a:t>
            </a:r>
            <a:r>
              <a:rPr lang="zh-CN" altLang="en-US" b="1" dirty="0">
                <a:solidFill>
                  <a:srgbClr val="FF0000"/>
                </a:solidFill>
              </a:rPr>
              <a:t>技术 等于 </a:t>
            </a:r>
            <a:r>
              <a:rPr lang="en-US" altLang="zh-CN" b="1" i="1" dirty="0">
                <a:solidFill>
                  <a:srgbClr val="FF0000"/>
                </a:solidFill>
              </a:rPr>
              <a:t>HDL+EDA</a:t>
            </a:r>
            <a:r>
              <a:rPr lang="zh-CN" altLang="en-US" b="1" dirty="0">
                <a:solidFill>
                  <a:srgbClr val="FF0000"/>
                </a:solidFill>
              </a:rPr>
              <a:t>工具</a:t>
            </a:r>
            <a:r>
              <a:rPr lang="zh-CN" altLang="en-US" b="1" i="1" dirty="0">
                <a:solidFill>
                  <a:srgbClr val="FF0000"/>
                </a:solidFill>
              </a:rPr>
              <a:t> </a:t>
            </a:r>
            <a:r>
              <a:rPr lang="zh-CN" altLang="en-US" b="1" dirty="0">
                <a:solidFill>
                  <a:srgbClr val="FF0000"/>
                </a:solidFill>
              </a:rPr>
              <a:t>。</a:t>
            </a:r>
            <a:endParaRPr lang="zh-CN" altLang="en-US" b="1" dirty="0">
              <a:solidFill>
                <a:srgbClr val="FF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15363" name="Rectangle 2"/>
          <p:cNvSpPr>
            <a:spLocks noRot="1" noTextEdit="1"/>
          </p:cNvSpPr>
          <p:nvPr>
            <p:ph type="sldImg"/>
          </p:nvPr>
        </p:nvSpPr>
        <p:spPr>
          <a:ln/>
        </p:spPr>
      </p:sp>
      <p:sp>
        <p:nvSpPr>
          <p:cNvPr id="15364"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18435" name="Rectangle 2"/>
          <p:cNvSpPr>
            <a:spLocks noRot="1" noTextEdit="1"/>
          </p:cNvSpPr>
          <p:nvPr>
            <p:ph type="sldImg"/>
          </p:nvPr>
        </p:nvSpPr>
        <p:spPr>
          <a:ln/>
        </p:spPr>
      </p:sp>
      <p:sp>
        <p:nvSpPr>
          <p:cNvPr id="18436"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20483" name="Rectangle 2"/>
          <p:cNvSpPr>
            <a:spLocks noRot="1" noTextEdit="1"/>
          </p:cNvSpPr>
          <p:nvPr>
            <p:ph type="sldImg"/>
          </p:nvPr>
        </p:nvSpPr>
        <p:spPr>
          <a:ln/>
        </p:spPr>
      </p:sp>
      <p:sp>
        <p:nvSpPr>
          <p:cNvPr id="20484" name="Rectangle 3"/>
          <p:cNvSpPr>
            <a:spLocks noGrp="1"/>
          </p:cNvSpPr>
          <p:nvPr>
            <p:ph type="body" idx="1"/>
          </p:nvPr>
        </p:nvSpPr>
        <p:spPr>
          <a:ln/>
        </p:spPr>
        <p:txBody>
          <a:bodyPr wrap="square" lIns="91440" tIns="45720" rIns="91440" bIns="45720" anchor="t" anchorCtr="0"/>
          <a:p>
            <a:pPr lvl="0" eaLnBrk="1" hangingPunct="1">
              <a:lnSpc>
                <a:spcPct val="130000"/>
              </a:lnSpc>
              <a:spcBef>
                <a:spcPct val="0"/>
              </a:spcBef>
            </a:pPr>
            <a:r>
              <a:rPr lang="zh-CN" altLang="en-US" b="1" dirty="0">
                <a:solidFill>
                  <a:srgbClr val="000000"/>
                </a:solidFill>
              </a:rPr>
              <a:t>由于整个设计是从顶层开始的，在设计过程中又结合模拟和仿真手段，可以从一开始就掌握所实现系统的性能状况，结合应用领域的具体要求，及时调整设计方案，进行性能优化，从而保证了设计的正确性，缩短了设计周期，加快了上市时间。</a:t>
            </a:r>
            <a:endParaRPr lang="zh-CN" altLang="en-US" b="1" dirty="0">
              <a:solidFill>
                <a:srgbClr val="000000"/>
              </a:solidFill>
            </a:endParaRPr>
          </a:p>
          <a:p>
            <a:pPr lvl="0"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22531" name="Rectangle 2"/>
          <p:cNvSpPr>
            <a:spLocks noRot="1" noTextEdit="1"/>
          </p:cNvSpPr>
          <p:nvPr>
            <p:ph type="sldImg"/>
          </p:nvPr>
        </p:nvSpPr>
        <p:spPr>
          <a:ln/>
        </p:spPr>
      </p:sp>
      <p:sp>
        <p:nvSpPr>
          <p:cNvPr id="22532"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24579" name="Rectangle 2"/>
          <p:cNvSpPr>
            <a:spLocks noRot="1" noTextEdit="1"/>
          </p:cNvSpPr>
          <p:nvPr>
            <p:ph type="sldImg"/>
          </p:nvPr>
        </p:nvSpPr>
        <p:spPr>
          <a:ln/>
        </p:spPr>
      </p:sp>
      <p:sp>
        <p:nvSpPr>
          <p:cNvPr id="24580" name="Rectangle 3"/>
          <p:cNvSpPr>
            <a:spLocks noGrp="1"/>
          </p:cNvSpPr>
          <p:nvPr>
            <p:ph type="body" idx="1"/>
          </p:nvPr>
        </p:nvSpPr>
        <p:spPr>
          <a:ln/>
        </p:spPr>
        <p:txBody>
          <a:bodyPr wrap="square" lIns="91440" tIns="45720" rIns="91440" bIns="45720" anchor="t" anchorCtr="0"/>
          <a:p>
            <a:pPr lvl="0" eaLnBrk="1" hangingPunct="1"/>
            <a:r>
              <a:rPr lang="en-US" altLang="zh-CN" dirty="0"/>
              <a:t>Top down</a:t>
            </a:r>
            <a:r>
              <a:rPr lang="zh-CN" altLang="en-US" dirty="0"/>
              <a:t>的设计由于更符合人们逻辑思维的习惯，也容易使设计者对复杂的系统进行合理的划分和不断的优化，因此是目前设计的主流，而</a:t>
            </a:r>
            <a:r>
              <a:rPr lang="en-US" altLang="zh-CN" dirty="0"/>
              <a:t>bottom up </a:t>
            </a:r>
            <a:r>
              <a:rPr lang="zh-CN" altLang="en-US" dirty="0"/>
              <a:t>的设计往往使设计者更关注细节，而对整个系统缺乏规划，当设计出现问题时，如果要修改的话，就会很麻烦。甚至前功尽弃，不得不从头再来。因此，在数字系统的设计中，主要采用</a:t>
            </a:r>
            <a:r>
              <a:rPr lang="en-US" altLang="zh-CN" dirty="0"/>
              <a:t>top down</a:t>
            </a:r>
            <a:r>
              <a:rPr lang="zh-CN" altLang="en-US" dirty="0"/>
              <a:t>的设计思路，而以</a:t>
            </a:r>
            <a:r>
              <a:rPr lang="en-US" altLang="zh-CN" dirty="0"/>
              <a:t>bottom –up </a:t>
            </a:r>
            <a:r>
              <a:rPr lang="zh-CN" altLang="en-US" dirty="0"/>
              <a:t>为辅。</a:t>
            </a:r>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26627" name="Rectangle 2"/>
          <p:cNvSpPr>
            <a:spLocks noRot="1" noTextEdit="1"/>
          </p:cNvSpPr>
          <p:nvPr>
            <p:ph type="sldImg"/>
          </p:nvPr>
        </p:nvSpPr>
        <p:spPr>
          <a:ln/>
        </p:spPr>
      </p:sp>
      <p:sp>
        <p:nvSpPr>
          <p:cNvPr id="26628" name="Rectangle 3"/>
          <p:cNvSpPr>
            <a:spLocks noGrp="1"/>
          </p:cNvSpPr>
          <p:nvPr>
            <p:ph type="body" idx="1"/>
          </p:nvPr>
        </p:nvSpPr>
        <p:spPr>
          <a:ln/>
        </p:spPr>
        <p:txBody>
          <a:bodyPr wrap="square" lIns="91440" tIns="45720" rIns="91440" bIns="45720" anchor="t" anchorCtr="0"/>
          <a:p>
            <a:pPr lvl="0" eaLnBrk="1" hangingPunct="1"/>
            <a:r>
              <a:rPr lang="zh-CN" altLang="en-US" sz="1000" b="1" dirty="0">
                <a:solidFill>
                  <a:srgbClr val="990099"/>
                </a:solidFill>
                <a:latin typeface="Times New Roman" panose="02020603050405020304" pitchFamily="18" charset="0"/>
                <a:ea typeface="楷体_GB2312" pitchFamily="49" charset="-122"/>
              </a:rPr>
              <a:t>更适合描述规模大的数字系统，够使设计者在比较抽象的层次上对所设计的系统结构和逻辑功能进行设计。</a:t>
            </a:r>
            <a:endParaRPr lang="zh-CN" altLang="en-US" sz="1000" b="1" dirty="0">
              <a:solidFill>
                <a:srgbClr val="990099"/>
              </a:solidFill>
              <a:latin typeface="Times New Roman" panose="02020603050405020304" pitchFamily="18" charset="0"/>
              <a:ea typeface="楷体_GB2312" pitchFamily="49" charset="-122"/>
            </a:endParaRPr>
          </a:p>
          <a:p>
            <a:pPr lvl="0" eaLnBrk="1" hangingPunct="1"/>
            <a:r>
              <a:rPr lang="zh-CN" altLang="en-US" sz="1000" b="1" dirty="0">
                <a:solidFill>
                  <a:srgbClr val="990099"/>
                </a:solidFill>
                <a:latin typeface="Times New Roman" panose="02020603050405020304" pitchFamily="18" charset="0"/>
                <a:ea typeface="楷体_GB2312" pitchFamily="49" charset="-122"/>
              </a:rPr>
              <a:t>任何一个</a:t>
            </a:r>
            <a:r>
              <a:rPr lang="en-US" altLang="zh-CN" sz="1000" b="1" dirty="0">
                <a:solidFill>
                  <a:srgbClr val="990099"/>
                </a:solidFill>
                <a:latin typeface="Times New Roman" panose="02020603050405020304" pitchFamily="18" charset="0"/>
                <a:ea typeface="楷体_GB2312" pitchFamily="49" charset="-122"/>
              </a:rPr>
              <a:t>EDA</a:t>
            </a:r>
            <a:r>
              <a:rPr lang="zh-CN" altLang="en-US" sz="1000" b="1" dirty="0">
                <a:solidFill>
                  <a:srgbClr val="990099"/>
                </a:solidFill>
                <a:latin typeface="Times New Roman" panose="02020603050405020304" pitchFamily="18" charset="0"/>
                <a:ea typeface="楷体_GB2312" pitchFamily="49" charset="-122"/>
              </a:rPr>
              <a:t>系统只要建立一个符合标准的开放式框架结构，就可以接纳其它厂商的</a:t>
            </a:r>
            <a:r>
              <a:rPr lang="en-US" altLang="zh-CN" sz="1000" b="1" dirty="0">
                <a:solidFill>
                  <a:srgbClr val="990099"/>
                </a:solidFill>
                <a:latin typeface="Times New Roman" panose="02020603050405020304" pitchFamily="18" charset="0"/>
                <a:ea typeface="楷体_GB2312" pitchFamily="49" charset="-122"/>
              </a:rPr>
              <a:t>EDA</a:t>
            </a:r>
            <a:r>
              <a:rPr lang="zh-CN" altLang="en-US" sz="1000" b="1" dirty="0">
                <a:solidFill>
                  <a:srgbClr val="990099"/>
                </a:solidFill>
                <a:latin typeface="Times New Roman" panose="02020603050405020304" pitchFamily="18" charset="0"/>
                <a:ea typeface="楷体_GB2312" pitchFamily="49" charset="-122"/>
              </a:rPr>
              <a:t>工具一起进行设计。这样就可实现各种</a:t>
            </a:r>
            <a:r>
              <a:rPr lang="en-US" altLang="zh-CN" sz="1000" b="1" dirty="0">
                <a:solidFill>
                  <a:srgbClr val="990099"/>
                </a:solidFill>
                <a:latin typeface="Times New Roman" panose="02020603050405020304" pitchFamily="18" charset="0"/>
                <a:ea typeface="楷体_GB2312" pitchFamily="49" charset="-122"/>
              </a:rPr>
              <a:t>EDA</a:t>
            </a:r>
            <a:r>
              <a:rPr lang="zh-CN" altLang="en-US" sz="1000" b="1" dirty="0">
                <a:solidFill>
                  <a:srgbClr val="990099"/>
                </a:solidFill>
                <a:latin typeface="Times New Roman" panose="02020603050405020304" pitchFamily="18" charset="0"/>
                <a:ea typeface="楷体_GB2312" pitchFamily="49" charset="-122"/>
              </a:rPr>
              <a:t>工具间的优化组合，并集成在一个易于管理的统一环境之下，实现资源共享。</a:t>
            </a:r>
            <a:endParaRPr lang="zh-CN" altLang="en-US" sz="1000" b="1" dirty="0">
              <a:solidFill>
                <a:srgbClr val="990099"/>
              </a:solidFill>
              <a:latin typeface="Times New Roman" panose="02020603050405020304" pitchFamily="18" charset="0"/>
              <a:ea typeface="楷体_GB2312" pitchFamily="49" charset="-122"/>
            </a:endParaRPr>
          </a:p>
          <a:p>
            <a:pPr lvl="0" eaLnBrk="1" hangingPunct="1"/>
            <a:endParaRPr lang="en-US"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29699" name="Rectangle 2"/>
          <p:cNvSpPr>
            <a:spLocks noRot="1" noTextEdit="1"/>
          </p:cNvSpPr>
          <p:nvPr>
            <p:ph type="sldImg"/>
          </p:nvPr>
        </p:nvSpPr>
        <p:spPr>
          <a:ln/>
        </p:spPr>
      </p:sp>
      <p:sp>
        <p:nvSpPr>
          <p:cNvPr id="29700" name="Rectangle 3"/>
          <p:cNvSpPr>
            <a:spLocks noGrp="1"/>
          </p:cNvSpPr>
          <p:nvPr>
            <p:ph type="body" idx="1"/>
          </p:nvPr>
        </p:nvSpPr>
        <p:spPr>
          <a:ln/>
        </p:spPr>
        <p:txBody>
          <a:bodyPr wrap="square" lIns="91440" tIns="45720" rIns="91440" bIns="45720" anchor="t" anchorCtr="0"/>
          <a:p>
            <a:pPr lvl="0">
              <a:lnSpc>
                <a:spcPct val="80000"/>
              </a:lnSpc>
              <a:spcBef>
                <a:spcPct val="0"/>
              </a:spcBef>
            </a:pPr>
            <a:r>
              <a:rPr lang="zh-CN" altLang="en-US" b="1" dirty="0">
                <a:solidFill>
                  <a:srgbClr val="990033"/>
                </a:solidFill>
              </a:rPr>
              <a:t>系统仿真：包括系统级的硬件设计与仿真，软件设计与仿真</a:t>
            </a:r>
            <a:endParaRPr lang="zh-CN" altLang="en-US" b="1" dirty="0">
              <a:solidFill>
                <a:srgbClr val="990033"/>
              </a:solidFill>
            </a:endParaRPr>
          </a:p>
          <a:p>
            <a:pPr lvl="0" eaLnBrk="1" hangingPunct="1"/>
            <a:endParaRPr lang="zh-CN" altLang="en-US" dirty="0">
              <a:solidFill>
                <a:srgbClr val="FF0066"/>
              </a:solidFill>
            </a:endParaRPr>
          </a:p>
          <a:p>
            <a:pPr lvl="0" eaLnBrk="1" hangingPunct="1"/>
            <a:r>
              <a:rPr lang="en-US" altLang="zh-CN" dirty="0">
                <a:solidFill>
                  <a:srgbClr val="FF0066"/>
                </a:solidFill>
              </a:rPr>
              <a:t>SOFTWEAR DEBUGERRING</a:t>
            </a:r>
            <a:endParaRPr lang="en-US" altLang="zh-CN" dirty="0">
              <a:solidFill>
                <a:srgbClr val="FF0066"/>
              </a:solidFill>
            </a:endParaRPr>
          </a:p>
          <a:p>
            <a:pPr lvl="0" eaLnBrk="1" hangingPunct="1"/>
            <a:r>
              <a:rPr lang="en-US" altLang="zh-CN" dirty="0">
                <a:solidFill>
                  <a:srgbClr val="FF0066"/>
                </a:solidFill>
              </a:rPr>
              <a:t> </a:t>
            </a:r>
            <a:r>
              <a:rPr lang="zh-CN" altLang="en-US" dirty="0">
                <a:solidFill>
                  <a:srgbClr val="006600"/>
                </a:solidFill>
              </a:rPr>
              <a:t>（芯片内的</a:t>
            </a:r>
            <a:r>
              <a:rPr lang="zh-CN" altLang="en-US" dirty="0">
                <a:solidFill>
                  <a:srgbClr val="FF0066"/>
                </a:solidFill>
              </a:rPr>
              <a:t>布线布局</a:t>
            </a:r>
            <a:r>
              <a:rPr lang="zh-CN" altLang="en-US" b="1" dirty="0">
                <a:solidFill>
                  <a:srgbClr val="990033"/>
                </a:solidFill>
              </a:rPr>
              <a:t>）</a:t>
            </a:r>
            <a:endParaRPr lang="zh-CN" altLang="en-US" b="1" dirty="0">
              <a:solidFill>
                <a:srgbClr val="990033"/>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31747" name="Rectangle 2"/>
          <p:cNvSpPr>
            <a:spLocks noRot="1" noTextEdit="1"/>
          </p:cNvSpPr>
          <p:nvPr>
            <p:ph type="sldImg"/>
          </p:nvPr>
        </p:nvSpPr>
        <p:spPr>
          <a:ln/>
        </p:spPr>
      </p:sp>
      <p:sp>
        <p:nvSpPr>
          <p:cNvPr id="31748" name="Rectangle 3"/>
          <p:cNvSpPr>
            <a:spLocks noGrp="1"/>
          </p:cNvSpPr>
          <p:nvPr>
            <p:ph type="body" idx="1"/>
          </p:nvPr>
        </p:nvSpPr>
        <p:spPr>
          <a:ln/>
        </p:spPr>
        <p:txBody>
          <a:bodyPr wrap="square" lIns="91440" tIns="45720" rIns="91440" bIns="45720" anchor="t" anchorCtr="0"/>
          <a:p>
            <a:pPr lvl="0" eaLnBrk="1" hangingPunct="1"/>
            <a:r>
              <a:rPr lang="zh-CN" altLang="en-US" b="1" dirty="0"/>
              <a:t>手工设计方法的缺点是：</a:t>
            </a:r>
            <a:r>
              <a:rPr lang="en-US" altLang="zh-CN" dirty="0">
                <a:solidFill>
                  <a:srgbClr val="FF0000"/>
                </a:solidFill>
              </a:rPr>
              <a:t>1)</a:t>
            </a:r>
            <a:r>
              <a:rPr lang="zh-CN" altLang="en-US" dirty="0"/>
              <a:t>设计依赖于手工和经验</a:t>
            </a:r>
            <a:r>
              <a:rPr lang="zh-CN" altLang="en-US" dirty="0">
                <a:solidFill>
                  <a:srgbClr val="FF0000"/>
                </a:solidFill>
              </a:rPr>
              <a:t> </a:t>
            </a:r>
            <a:r>
              <a:rPr lang="en-US" altLang="zh-CN" dirty="0">
                <a:solidFill>
                  <a:srgbClr val="FF0000"/>
                </a:solidFill>
              </a:rPr>
              <a:t>2)</a:t>
            </a:r>
            <a:r>
              <a:rPr lang="zh-CN" altLang="en-US" dirty="0"/>
              <a:t>设计依赖于现有的通用元器件</a:t>
            </a:r>
            <a:r>
              <a:rPr lang="zh-CN" altLang="en-US" dirty="0">
                <a:solidFill>
                  <a:srgbClr val="FF0000"/>
                </a:solidFill>
              </a:rPr>
              <a:t> </a:t>
            </a:r>
            <a:r>
              <a:rPr lang="en-US" altLang="zh-CN" dirty="0">
                <a:solidFill>
                  <a:srgbClr val="FF0000"/>
                </a:solidFill>
              </a:rPr>
              <a:t>3)</a:t>
            </a:r>
            <a:r>
              <a:rPr lang="zh-CN" altLang="en-US" dirty="0"/>
              <a:t>设计后期仿真和调试。</a:t>
            </a:r>
            <a:r>
              <a:rPr lang="zh-CN" altLang="en-US" dirty="0">
                <a:solidFill>
                  <a:srgbClr val="FF0000"/>
                </a:solidFill>
              </a:rPr>
              <a:t> </a:t>
            </a:r>
            <a:r>
              <a:rPr lang="en-US" altLang="zh-CN" dirty="0">
                <a:solidFill>
                  <a:srgbClr val="FF0000"/>
                </a:solidFill>
              </a:rPr>
              <a:t>4)</a:t>
            </a:r>
            <a:r>
              <a:rPr lang="zh-CN" altLang="en-US" dirty="0"/>
              <a:t>自下而上设计思想的局限，只有在设计出样机或生产出芯片后才能进行实测。</a:t>
            </a:r>
            <a:r>
              <a:rPr lang="en-US" altLang="zh-CN" dirty="0">
                <a:solidFill>
                  <a:srgbClr val="FF0066"/>
                </a:solidFill>
              </a:rPr>
              <a:t>5)</a:t>
            </a:r>
            <a:r>
              <a:rPr lang="zh-CN" altLang="en-US" dirty="0"/>
              <a:t>设计实现周期长，灵活性差，耗时耗力，效率低下。</a:t>
            </a:r>
            <a:endParaRPr lang="zh-CN" altLang="en-US" dirty="0"/>
          </a:p>
          <a:p>
            <a:pPr lvl="0">
              <a:spcBef>
                <a:spcPct val="50000"/>
              </a:spcBef>
            </a:pPr>
            <a:endParaRPr lang="zh-CN" altLang="en-US" dirty="0">
              <a:solidFill>
                <a:srgbClr val="0000FF"/>
              </a:solidFill>
            </a:endParaRPr>
          </a:p>
          <a:p>
            <a:pPr lvl="0">
              <a:spcBef>
                <a:spcPct val="50000"/>
              </a:spcBef>
            </a:pPr>
            <a:r>
              <a:rPr lang="zh-CN" altLang="en-US" dirty="0">
                <a:solidFill>
                  <a:srgbClr val="0000FF"/>
                </a:solidFill>
              </a:rPr>
              <a:t>其方案验证与设计、系统逻辑综合、布局布线、性能仿真、器件编程等均由</a:t>
            </a:r>
            <a:r>
              <a:rPr lang="en-US" altLang="zh-CN" dirty="0">
                <a:solidFill>
                  <a:srgbClr val="0000FF"/>
                </a:solidFill>
              </a:rPr>
              <a:t>EDA</a:t>
            </a:r>
            <a:r>
              <a:rPr lang="zh-CN" altLang="en-US" dirty="0">
                <a:solidFill>
                  <a:srgbClr val="0000FF"/>
                </a:solidFill>
              </a:rPr>
              <a:t>工具一体化完成。</a:t>
            </a:r>
            <a:endParaRPr lang="zh-CN" altLang="en-US" dirty="0">
              <a:solidFill>
                <a:srgbClr val="0000FF"/>
              </a:solidFill>
            </a:endParaRPr>
          </a:p>
          <a:p>
            <a:pPr lvl="0" eaLnBrk="1" hangingPunct="1"/>
            <a:endParaRPr lang="en-US"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33795" name="Rectangle 2"/>
          <p:cNvSpPr>
            <a:spLocks noRot="1" noTextEdit="1"/>
          </p:cNvSpPr>
          <p:nvPr>
            <p:ph type="sldImg"/>
          </p:nvPr>
        </p:nvSpPr>
        <p:spPr>
          <a:ln/>
        </p:spPr>
      </p:sp>
      <p:sp>
        <p:nvSpPr>
          <p:cNvPr id="33796" name="Rectangle 3"/>
          <p:cNvSpPr>
            <a:spLocks noGrp="1"/>
          </p:cNvSpPr>
          <p:nvPr>
            <p:ph type="body" idx="1"/>
          </p:nvPr>
        </p:nvSpPr>
        <p:spPr>
          <a:ln/>
        </p:spPr>
        <p:txBody>
          <a:bodyPr wrap="square" lIns="91440" tIns="45720" rIns="91440" bIns="45720" anchor="t" anchorCtr="0"/>
          <a:p>
            <a:pPr lvl="0" algn="just" eaLnBrk="1" hangingPunct="1">
              <a:spcBef>
                <a:spcPct val="0"/>
              </a:spcBef>
            </a:pPr>
            <a:r>
              <a:rPr lang="zh-CN" altLang="en-US" dirty="0"/>
              <a:t>它可以使数字逻辑电路设计者利用这种语言来描述自己的设计思想，然后利用电子设计自动化</a:t>
            </a:r>
            <a:r>
              <a:rPr lang="en-US" altLang="zh-CN" dirty="0"/>
              <a:t>(</a:t>
            </a:r>
            <a:r>
              <a:rPr lang="zh-CN" altLang="en-US" dirty="0"/>
              <a:t>在下面简称为</a:t>
            </a:r>
            <a:r>
              <a:rPr lang="en-US" altLang="zh-CN" dirty="0"/>
              <a:t>EDA)</a:t>
            </a:r>
            <a:r>
              <a:rPr lang="zh-CN" altLang="en-US" dirty="0"/>
              <a:t>工具进行仿真，再自动综合到门级电路，再用</a:t>
            </a:r>
            <a:r>
              <a:rPr lang="en-US" altLang="zh-CN" dirty="0"/>
              <a:t>ASIC</a:t>
            </a:r>
            <a:r>
              <a:rPr lang="zh-CN" altLang="en-US" dirty="0"/>
              <a:t>或</a:t>
            </a:r>
            <a:r>
              <a:rPr lang="en-US" altLang="zh-CN" dirty="0"/>
              <a:t>FPGA</a:t>
            </a:r>
            <a:r>
              <a:rPr lang="zh-CN" altLang="en-US" dirty="0"/>
              <a:t>实现其功能。目前，这种称之为高层次设计</a:t>
            </a:r>
            <a:r>
              <a:rPr lang="en-US" altLang="zh-CN" dirty="0"/>
              <a:t>(High-Level-Design)</a:t>
            </a:r>
            <a:r>
              <a:rPr lang="zh-CN" altLang="en-US" dirty="0"/>
              <a:t>的方法已被广泛采用。据统计，在美国硅谷目前约有</a:t>
            </a:r>
            <a:r>
              <a:rPr lang="en-US" altLang="zh-CN" dirty="0"/>
              <a:t>90</a:t>
            </a:r>
            <a:r>
              <a:rPr lang="zh-CN" altLang="en-US" dirty="0"/>
              <a:t>％以上的</a:t>
            </a:r>
            <a:r>
              <a:rPr lang="en-US" altLang="zh-CN" dirty="0"/>
              <a:t>ASIC</a:t>
            </a:r>
            <a:r>
              <a:rPr lang="zh-CN" altLang="en-US" dirty="0"/>
              <a:t>和</a:t>
            </a:r>
            <a:r>
              <a:rPr lang="en-US" altLang="zh-CN" dirty="0"/>
              <a:t>FPGA</a:t>
            </a:r>
            <a:r>
              <a:rPr lang="zh-CN" altLang="en-US" dirty="0"/>
              <a:t>已采用硬件描述语言方法进行设计。 </a:t>
            </a:r>
            <a:endParaRPr lang="zh-CN" altLang="en-US" dirty="0"/>
          </a:p>
          <a:p>
            <a:pPr lvl="0" eaLnBrk="1" hangingPunct="1"/>
            <a:endParaRPr lang="zh-CN" altLang="en-US" dirty="0"/>
          </a:p>
          <a:p>
            <a:pPr lvl="0" eaLnBrk="1" hangingPunct="1"/>
            <a:r>
              <a:rPr lang="zh-CN" altLang="en-US" b="1" dirty="0">
                <a:solidFill>
                  <a:srgbClr val="000000"/>
                </a:solidFill>
                <a:latin typeface="Times New Roman" panose="02020603050405020304" pitchFamily="18" charset="0"/>
                <a:ea typeface="楷体_GB2312" pitchFamily="49" charset="-122"/>
              </a:rPr>
              <a:t>其主要目的是用来编写设计文件，建立电子系统仿真模型，利用计算机和</a:t>
            </a:r>
            <a:r>
              <a:rPr lang="en-US" altLang="zh-CN" b="1" dirty="0">
                <a:solidFill>
                  <a:srgbClr val="000000"/>
                </a:solidFill>
                <a:latin typeface="Times New Roman" panose="02020603050405020304" pitchFamily="18" charset="0"/>
                <a:ea typeface="楷体_GB2312" pitchFamily="49" charset="-122"/>
              </a:rPr>
              <a:t>EDA</a:t>
            </a:r>
            <a:r>
              <a:rPr lang="zh-CN" altLang="en-US" b="1" dirty="0">
                <a:solidFill>
                  <a:srgbClr val="000000"/>
                </a:solidFill>
                <a:latin typeface="Times New Roman" panose="02020603050405020304" pitchFamily="18" charset="0"/>
                <a:ea typeface="楷体_GB2312" pitchFamily="49" charset="-122"/>
              </a:rPr>
              <a:t>工具，对硬件语言描述语言建模的数字逻辑进行仿真，然后在综合，以生成符合要求且在电路结构上可以实现的数字逻辑网表，根据网表和某种工艺的器件，自动生成具体电路，然后生成该工艺条件下这种具体电路延时模型，仿真验证无误后，写入</a:t>
            </a:r>
            <a:r>
              <a:rPr lang="en-US" altLang="zh-CN" b="1" dirty="0">
                <a:solidFill>
                  <a:srgbClr val="000000"/>
                </a:solidFill>
                <a:latin typeface="Times New Roman" panose="02020603050405020304" pitchFamily="18" charset="0"/>
                <a:ea typeface="楷体_GB2312" pitchFamily="49" charset="-122"/>
              </a:rPr>
              <a:t>CPLD</a:t>
            </a:r>
            <a:r>
              <a:rPr lang="zh-CN" altLang="en-US" b="1" dirty="0">
                <a:solidFill>
                  <a:srgbClr val="000000"/>
                </a:solidFill>
                <a:latin typeface="Times New Roman" panose="02020603050405020304" pitchFamily="18" charset="0"/>
                <a:ea typeface="楷体_GB2312" pitchFamily="49" charset="-122"/>
              </a:rPr>
              <a:t>和</a:t>
            </a:r>
            <a:r>
              <a:rPr lang="en-US" altLang="zh-CN" b="1" dirty="0">
                <a:solidFill>
                  <a:srgbClr val="000000"/>
                </a:solidFill>
                <a:latin typeface="Times New Roman" panose="02020603050405020304" pitchFamily="18" charset="0"/>
                <a:ea typeface="楷体_GB2312" pitchFamily="49" charset="-122"/>
              </a:rPr>
              <a:t>FPGA</a:t>
            </a:r>
            <a:r>
              <a:rPr lang="zh-CN" altLang="en-US" b="1" dirty="0">
                <a:solidFill>
                  <a:srgbClr val="000000"/>
                </a:solidFill>
                <a:latin typeface="Times New Roman" panose="02020603050405020304" pitchFamily="18" charset="0"/>
                <a:ea typeface="楷体_GB2312" pitchFamily="49" charset="-122"/>
              </a:rPr>
              <a:t>。</a:t>
            </a:r>
            <a:endParaRPr lang="zh-CN" altLang="en-US" b="1" dirty="0">
              <a:solidFill>
                <a:srgbClr val="000000"/>
              </a:solidFill>
              <a:latin typeface="Times New Roman" panose="02020603050405020304" pitchFamily="18" charset="0"/>
              <a:ea typeface="楷体_GB2312" pitchFamily="49" charset="-122"/>
            </a:endParaRPr>
          </a:p>
          <a:p>
            <a:pPr lvl="0" eaLnBrk="1" hangingPunct="1"/>
            <a:r>
              <a:rPr lang="en-US" altLang="en-US" b="1" dirty="0">
                <a:solidFill>
                  <a:srgbClr val="000000"/>
                </a:solidFill>
              </a:rPr>
              <a:t>Department of Defense</a:t>
            </a:r>
            <a:endParaRPr lang="en-US" altLang="zh-CN" b="1" dirty="0">
              <a:solidFill>
                <a:srgbClr val="000000"/>
              </a:solidFill>
            </a:endParaRPr>
          </a:p>
          <a:p>
            <a:pPr lvl="0" eaLnBrk="1" hangingPunct="1"/>
            <a:r>
              <a:rPr lang="en-US" altLang="zh-CN" b="1" dirty="0">
                <a:solidFill>
                  <a:srgbClr val="000000"/>
                </a:solidFill>
              </a:rPr>
              <a:t>(Very High Speed Integration Circuit)</a:t>
            </a:r>
            <a:endParaRPr lang="en-US" altLang="zh-CN" b="1" dirty="0">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35843" name="Rectangle 2"/>
          <p:cNvSpPr>
            <a:spLocks noRot="1" noTextEdit="1"/>
          </p:cNvSpPr>
          <p:nvPr>
            <p:ph type="sldImg"/>
          </p:nvPr>
        </p:nvSpPr>
        <p:spPr>
          <a:ln/>
        </p:spPr>
      </p:sp>
      <p:sp>
        <p:nvSpPr>
          <p:cNvPr id="35844" name="Rectangle 3"/>
          <p:cNvSpPr>
            <a:spLocks noGrp="1"/>
          </p:cNvSpPr>
          <p:nvPr>
            <p:ph type="body" idx="1"/>
          </p:nvPr>
        </p:nvSpPr>
        <p:spPr>
          <a:ln/>
        </p:spPr>
        <p:txBody>
          <a:bodyPr wrap="square" lIns="91440" tIns="45720" rIns="91440" bIns="45720" anchor="t" anchorCtr="0"/>
          <a:p>
            <a:pPr lvl="0" eaLnBrk="1" hangingPunct="1"/>
            <a:r>
              <a:rPr lang="zh-CN" altLang="en-US" dirty="0"/>
              <a:t>早期的数字逻辑电路设计规模比较小，也比较简单，设计时只能采用提供的电路图输入工具进行。为了满足设计性能指标，往往需要花很长时间进行手工布线，设计周期较长。</a:t>
            </a:r>
            <a:endParaRPr lang="zh-CN" altLang="en-US" dirty="0"/>
          </a:p>
          <a:p>
            <a:pPr lvl="0" eaLnBrk="1" hangingPunct="1"/>
            <a:r>
              <a:rPr lang="zh-CN" altLang="en-US" dirty="0"/>
              <a:t>近年来，</a:t>
            </a:r>
            <a:r>
              <a:rPr lang="en-US" altLang="zh-CN" dirty="0"/>
              <a:t>cpld </a:t>
            </a:r>
            <a:r>
              <a:rPr lang="zh-CN" altLang="en-US" dirty="0"/>
              <a:t>和 </a:t>
            </a:r>
            <a:r>
              <a:rPr lang="en-US" altLang="zh-CN" dirty="0"/>
              <a:t>fpga </a:t>
            </a:r>
            <a:r>
              <a:rPr lang="zh-CN" altLang="en-US" dirty="0"/>
              <a:t>的设计规模越来越复杂，如果仍采用原理图输入方法，将无法完成任务，必须采用</a:t>
            </a:r>
            <a:r>
              <a:rPr lang="en-US" altLang="zh-CN" dirty="0"/>
              <a:t>hdl</a:t>
            </a:r>
            <a:r>
              <a:rPr lang="zh-CN" altLang="en-US" dirty="0"/>
              <a:t>进行设计。采用</a:t>
            </a:r>
            <a:r>
              <a:rPr lang="en-US" altLang="zh-CN" dirty="0"/>
              <a:t>hdl</a:t>
            </a:r>
            <a:r>
              <a:rPr lang="zh-CN" altLang="en-US" dirty="0"/>
              <a:t>进行设计时，由于</a:t>
            </a:r>
            <a:r>
              <a:rPr lang="en-US" altLang="zh-CN" dirty="0"/>
              <a:t>hdl</a:t>
            </a:r>
            <a:r>
              <a:rPr lang="zh-CN" altLang="en-US" dirty="0"/>
              <a:t>已经标准化，可以很容易地完成把完成的设计移植到不同的芯片中去，并在不同规模应用时，可以较容易地进行修改，在仿真验证时，测试向量也可以用该语言来描述，此外，采用</a:t>
            </a:r>
            <a:r>
              <a:rPr lang="en-US" altLang="zh-CN" dirty="0"/>
              <a:t>hdl</a:t>
            </a:r>
            <a:r>
              <a:rPr lang="zh-CN" altLang="en-US" dirty="0"/>
              <a:t>进行设计还具有与工艺无关性，逻辑验证阶段可以不必多考虑门级及工艺实现的具体细节，只需要根据系统设计的要求，施加不同的约束条件，即可设计出实际电路。</a:t>
            </a:r>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37891" name="Rectangle 2"/>
          <p:cNvSpPr>
            <a:spLocks noRot="1" noTextEdit="1"/>
          </p:cNvSpPr>
          <p:nvPr>
            <p:ph type="sldImg"/>
          </p:nvPr>
        </p:nvSpPr>
        <p:spPr>
          <a:ln/>
        </p:spPr>
      </p:sp>
      <p:sp>
        <p:nvSpPr>
          <p:cNvPr id="37892" name="Rectangle 3"/>
          <p:cNvSpPr>
            <a:spLocks noGrp="1"/>
          </p:cNvSpPr>
          <p:nvPr>
            <p:ph type="body" idx="1"/>
          </p:nvPr>
        </p:nvSpPr>
        <p:spPr>
          <a:ln/>
        </p:spPr>
        <p:txBody>
          <a:bodyPr wrap="square" lIns="91440" tIns="45720" rIns="91440" bIns="45720" anchor="t" anchorCtr="0"/>
          <a:p>
            <a:pPr lvl="0"/>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39939" name="Rectangle 2"/>
          <p:cNvSpPr>
            <a:spLocks noRot="1" noTextEdit="1"/>
          </p:cNvSpPr>
          <p:nvPr>
            <p:ph type="sldImg"/>
          </p:nvPr>
        </p:nvSpPr>
        <p:spPr>
          <a:ln/>
        </p:spPr>
      </p:sp>
      <p:sp>
        <p:nvSpPr>
          <p:cNvPr id="39940" name="Rectangle 3"/>
          <p:cNvSpPr>
            <a:spLocks noGrp="1"/>
          </p:cNvSpPr>
          <p:nvPr>
            <p:ph type="body" idx="1"/>
          </p:nvPr>
        </p:nvSpPr>
        <p:spPr>
          <a:ln/>
        </p:spPr>
        <p:txBody>
          <a:bodyPr wrap="square" lIns="91440" tIns="45720" rIns="91440" bIns="45720" anchor="t" anchorCtr="0"/>
          <a:p>
            <a:pPr lvl="1" eaLnBrk="1" hangingPunct="1"/>
            <a:r>
              <a:rPr lang="en-US" altLang="zh-CN" sz="1400" b="1" dirty="0">
                <a:solidFill>
                  <a:srgbClr val="000000"/>
                </a:solidFill>
                <a:latin typeface="Times New Roman" panose="02020603050405020304" pitchFamily="18" charset="0"/>
                <a:ea typeface="楷体_GB2312" pitchFamily="49" charset="-122"/>
              </a:rPr>
              <a:t>VHDL</a:t>
            </a:r>
            <a:r>
              <a:rPr lang="zh-CN" altLang="en-US" sz="1400" b="1" dirty="0">
                <a:solidFill>
                  <a:srgbClr val="000000"/>
                </a:solidFill>
                <a:latin typeface="Times New Roman" panose="02020603050405020304" pitchFamily="18" charset="0"/>
                <a:ea typeface="楷体_GB2312" pitchFamily="49" charset="-122"/>
              </a:rPr>
              <a:t>出现较晚，但标准化早。</a:t>
            </a:r>
            <a:r>
              <a:rPr lang="en-US" altLang="zh-CN" sz="1400" b="1" dirty="0">
                <a:solidFill>
                  <a:srgbClr val="000000"/>
                </a:solidFill>
                <a:latin typeface="Times New Roman" panose="02020603050405020304" pitchFamily="18" charset="0"/>
                <a:ea typeface="楷体_GB2312" pitchFamily="49" charset="-122"/>
              </a:rPr>
              <a:t>IEEE 1706-1985</a:t>
            </a:r>
            <a:r>
              <a:rPr lang="zh-CN" altLang="en-US" sz="1400" b="1" dirty="0">
                <a:solidFill>
                  <a:srgbClr val="000000"/>
                </a:solidFill>
                <a:latin typeface="Times New Roman" panose="02020603050405020304" pitchFamily="18" charset="0"/>
                <a:ea typeface="楷体_GB2312" pitchFamily="49" charset="-122"/>
              </a:rPr>
              <a:t>标准。介绍一下</a:t>
            </a:r>
            <a:r>
              <a:rPr lang="en-US" altLang="zh-CN" sz="1400" b="1" dirty="0">
                <a:solidFill>
                  <a:srgbClr val="000000"/>
                </a:solidFill>
                <a:latin typeface="Times New Roman" panose="02020603050405020304" pitchFamily="18" charset="0"/>
                <a:ea typeface="楷体_GB2312" pitchFamily="49" charset="-122"/>
              </a:rPr>
              <a:t>vhdl</a:t>
            </a:r>
            <a:r>
              <a:rPr lang="zh-CN" altLang="en-US" sz="1400" b="1" dirty="0">
                <a:solidFill>
                  <a:srgbClr val="000000"/>
                </a:solidFill>
                <a:latin typeface="Times New Roman" panose="02020603050405020304" pitchFamily="18" charset="0"/>
                <a:ea typeface="楷体_GB2312" pitchFamily="49" charset="-122"/>
              </a:rPr>
              <a:t>语言</a:t>
            </a:r>
            <a:endParaRPr lang="zh-CN" altLang="en-US" sz="1400" b="1" dirty="0">
              <a:solidFill>
                <a:srgbClr val="000000"/>
              </a:solidFill>
              <a:latin typeface="Times New Roman" panose="02020603050405020304" pitchFamily="18" charset="0"/>
              <a:ea typeface="楷体_GB2312" pitchFamily="49" charset="-122"/>
            </a:endParaRPr>
          </a:p>
          <a:p>
            <a:pPr lvl="0" eaLnBrk="1" hangingPunct="1"/>
            <a:endParaRPr lang="en-US"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41987" name="Rectangle 2"/>
          <p:cNvSpPr>
            <a:spLocks noRot="1" noTextEdit="1"/>
          </p:cNvSpPr>
          <p:nvPr>
            <p:ph type="sldImg"/>
          </p:nvPr>
        </p:nvSpPr>
        <p:spPr>
          <a:ln/>
        </p:spPr>
      </p:sp>
      <p:sp>
        <p:nvSpPr>
          <p:cNvPr id="41988" name="Rectangle 3"/>
          <p:cNvSpPr>
            <a:spLocks noGrp="1"/>
          </p:cNvSpPr>
          <p:nvPr>
            <p:ph type="body" idx="1"/>
          </p:nvPr>
        </p:nvSpPr>
        <p:spPr>
          <a:ln/>
        </p:spPr>
        <p:txBody>
          <a:bodyPr wrap="square" lIns="91440" tIns="45720" rIns="91440" bIns="45720" anchor="t" anchorCtr="0"/>
          <a:p>
            <a:pPr lvl="1" eaLnBrk="1" hangingPunct="1"/>
            <a:r>
              <a:rPr lang="en-US" altLang="zh-CN" b="1" dirty="0"/>
              <a:t>Verilog HDL</a:t>
            </a:r>
            <a:r>
              <a:rPr lang="zh-CN" altLang="en-US" b="1" dirty="0"/>
              <a:t>较为适合系统级</a:t>
            </a:r>
            <a:r>
              <a:rPr lang="en-US" altLang="zh-CN" b="1" dirty="0"/>
              <a:t>(System)</a:t>
            </a:r>
            <a:r>
              <a:rPr lang="zh-CN" altLang="en-US" b="1" dirty="0"/>
              <a:t>、算法级</a:t>
            </a:r>
            <a:r>
              <a:rPr lang="en-US" altLang="zh-CN" b="1" dirty="0"/>
              <a:t>(Alogrithem)</a:t>
            </a:r>
            <a:r>
              <a:rPr lang="zh-CN" altLang="en-US" b="1" dirty="0"/>
              <a:t>、寄存器传输级</a:t>
            </a:r>
            <a:r>
              <a:rPr lang="en-US" altLang="zh-CN" b="1" dirty="0"/>
              <a:t>(RTL)</a:t>
            </a:r>
            <a:r>
              <a:rPr lang="zh-CN" altLang="en-US" b="1" dirty="0"/>
              <a:t>、逻辑级</a:t>
            </a:r>
            <a:r>
              <a:rPr lang="en-US" altLang="zh-CN" b="1" dirty="0"/>
              <a:t>(Logic)</a:t>
            </a:r>
            <a:r>
              <a:rPr lang="zh-CN" altLang="en-US" b="1" dirty="0"/>
              <a:t>、门级</a:t>
            </a:r>
            <a:r>
              <a:rPr lang="en-US" altLang="zh-CN" b="1" dirty="0"/>
              <a:t>(Gate)</a:t>
            </a:r>
            <a:r>
              <a:rPr lang="zh-CN" altLang="en-US" b="1" dirty="0"/>
              <a:t>、电路开关级</a:t>
            </a:r>
            <a:r>
              <a:rPr lang="en-US" altLang="zh-CN" b="1" dirty="0"/>
              <a:t>(Switch)</a:t>
            </a:r>
            <a:r>
              <a:rPr lang="zh-CN" altLang="en-US" b="1" dirty="0"/>
              <a:t>设计，而对于特大型（几百万门级以上）的系统级</a:t>
            </a:r>
            <a:r>
              <a:rPr lang="en-US" altLang="zh-CN" b="1" dirty="0"/>
              <a:t>(System)</a:t>
            </a:r>
            <a:r>
              <a:rPr lang="zh-CN" altLang="en-US" b="1" dirty="0"/>
              <a:t>设计</a:t>
            </a:r>
            <a:r>
              <a:rPr lang="en-US" altLang="zh-CN" b="1" dirty="0"/>
              <a:t>,</a:t>
            </a:r>
            <a:r>
              <a:rPr lang="zh-CN" altLang="en-US" b="1" dirty="0"/>
              <a:t>则</a:t>
            </a:r>
            <a:r>
              <a:rPr lang="en-US" altLang="zh-CN" b="1" dirty="0"/>
              <a:t>VHDL</a:t>
            </a:r>
            <a:r>
              <a:rPr lang="zh-CN" altLang="en-US" b="1" dirty="0"/>
              <a:t>更为适合，由于这两种</a:t>
            </a:r>
            <a:r>
              <a:rPr lang="en-US" altLang="zh-CN" b="1" dirty="0"/>
              <a:t>HDL</a:t>
            </a:r>
            <a:r>
              <a:rPr lang="zh-CN" altLang="en-US" b="1" dirty="0"/>
              <a:t>语言还在不断地发展过程中，它们都会逐步地完善自己。</a:t>
            </a:r>
            <a:endParaRPr lang="zh-CN" altLang="en-US" b="1" dirty="0"/>
          </a:p>
          <a:p>
            <a:pPr lvl="1" eaLnBrk="1" hangingPunct="1"/>
            <a:r>
              <a:rPr lang="zh-CN" altLang="en-US" b="1" dirty="0"/>
              <a:t>一个有趣的现象：由于</a:t>
            </a:r>
            <a:r>
              <a:rPr lang="en-US" altLang="zh-CN" b="1" dirty="0"/>
              <a:t>Verilog HDL</a:t>
            </a:r>
            <a:r>
              <a:rPr lang="zh-CN" altLang="en-US" b="1" dirty="0"/>
              <a:t>在其门级描述的底层，也就是在晶体管开关的描述方面比</a:t>
            </a:r>
            <a:r>
              <a:rPr lang="en-US" altLang="zh-CN" b="1" dirty="0"/>
              <a:t>VHDL</a:t>
            </a:r>
            <a:r>
              <a:rPr lang="zh-CN" altLang="en-US" b="1" dirty="0"/>
              <a:t>有强得多得功能，所以即使是</a:t>
            </a:r>
            <a:r>
              <a:rPr lang="en-US" altLang="zh-CN" b="1" dirty="0"/>
              <a:t>VHDL</a:t>
            </a:r>
            <a:r>
              <a:rPr lang="zh-CN" altLang="en-US" b="1" dirty="0"/>
              <a:t>的设计环境，在底层往往上也是由</a:t>
            </a:r>
            <a:r>
              <a:rPr lang="en-US" altLang="zh-CN" b="1" dirty="0"/>
              <a:t>Verilog HDL</a:t>
            </a:r>
            <a:r>
              <a:rPr lang="zh-CN" altLang="en-US" b="1" dirty="0"/>
              <a:t>描述的器件库所支持的。</a:t>
            </a:r>
            <a:endParaRPr lang="zh-CN" altLang="en-US" b="1" dirty="0"/>
          </a:p>
          <a:p>
            <a:pPr lvl="1" eaLnBrk="1" hangingPunct="1"/>
            <a:r>
              <a:rPr lang="en-US" altLang="zh-CN" b="1" dirty="0"/>
              <a:t>Cadence</a:t>
            </a:r>
            <a:r>
              <a:rPr lang="zh-CN" altLang="en-US" b="1" dirty="0"/>
              <a:t>开发了</a:t>
            </a:r>
            <a:r>
              <a:rPr lang="en-US" altLang="zh-CN" b="1" dirty="0"/>
              <a:t>Verilog HDL</a:t>
            </a:r>
            <a:r>
              <a:rPr lang="zh-CN" altLang="en-US" b="1" dirty="0"/>
              <a:t>和</a:t>
            </a:r>
            <a:r>
              <a:rPr lang="en-US" altLang="zh-CN" b="1" dirty="0"/>
              <a:t>SDF</a:t>
            </a:r>
            <a:r>
              <a:rPr lang="zh-CN" altLang="en-US" b="1" dirty="0"/>
              <a:t>，其领导开发的</a:t>
            </a:r>
            <a:r>
              <a:rPr lang="en-US" altLang="zh-CN" b="1" dirty="0"/>
              <a:t>ASIC</a:t>
            </a:r>
            <a:r>
              <a:rPr lang="zh-CN" altLang="en-US" b="1" dirty="0"/>
              <a:t>的库元素的</a:t>
            </a:r>
            <a:r>
              <a:rPr lang="en-US" altLang="zh-CN" b="1" dirty="0"/>
              <a:t>Verilog HDL</a:t>
            </a:r>
            <a:r>
              <a:rPr lang="zh-CN" altLang="en-US" b="1" dirty="0"/>
              <a:t>模型高效、仿真速度快；工具厂商在开发</a:t>
            </a:r>
            <a:r>
              <a:rPr lang="en-US" altLang="zh-CN" b="1" dirty="0"/>
              <a:t>ASIC</a:t>
            </a:r>
            <a:r>
              <a:rPr lang="zh-CN" altLang="en-US" b="1" dirty="0"/>
              <a:t>库元素的高效</a:t>
            </a:r>
            <a:r>
              <a:rPr lang="en-US" altLang="zh-CN" b="1" dirty="0"/>
              <a:t>VHDL</a:t>
            </a:r>
            <a:r>
              <a:rPr lang="zh-CN" altLang="en-US" b="1" dirty="0"/>
              <a:t>模型上速度较慢。</a:t>
            </a:r>
            <a:endParaRPr lang="zh-CN" altLang="en-US" b="1" dirty="0"/>
          </a:p>
          <a:p>
            <a:pPr lvl="1" eaLnBrk="1" hangingPunct="1"/>
            <a:endParaRPr lang="zh-CN" altLang="en-US" b="1" dirty="0"/>
          </a:p>
          <a:p>
            <a:pPr lvl="1" eaLnBrk="1" hangingPunct="1"/>
            <a:r>
              <a:rPr lang="en-US" altLang="zh-CN" b="1" dirty="0"/>
              <a:t>VITAL</a:t>
            </a:r>
            <a:r>
              <a:rPr lang="zh-CN" altLang="en-US" b="1" dirty="0"/>
              <a:t>：库元素的</a:t>
            </a:r>
            <a:r>
              <a:rPr lang="en-US" altLang="zh-CN" b="1" dirty="0"/>
              <a:t>VHDL</a:t>
            </a:r>
            <a:r>
              <a:rPr lang="zh-CN" altLang="en-US" b="1" dirty="0"/>
              <a:t>模型生成标准。利用现存的模型开发方法，加速</a:t>
            </a:r>
            <a:r>
              <a:rPr lang="en-US" altLang="zh-CN" b="1" dirty="0"/>
              <a:t>VHDL</a:t>
            </a:r>
            <a:r>
              <a:rPr lang="zh-CN" altLang="en-US" b="1" dirty="0"/>
              <a:t>的</a:t>
            </a:r>
            <a:r>
              <a:rPr lang="en-US" altLang="zh-CN" b="1" dirty="0"/>
              <a:t>ASIC</a:t>
            </a:r>
            <a:r>
              <a:rPr lang="zh-CN" altLang="en-US" b="1" dirty="0"/>
              <a:t>单元仿真库的开发。形成了一套标准化的</a:t>
            </a:r>
            <a:r>
              <a:rPr lang="en-US" altLang="zh-CN" b="1" dirty="0"/>
              <a:t>VHDL ASIC</a:t>
            </a:r>
            <a:r>
              <a:rPr lang="zh-CN" altLang="en-US" b="1" dirty="0"/>
              <a:t>单元模型产生技术，由两个</a:t>
            </a:r>
            <a:r>
              <a:rPr lang="en-US" altLang="zh-CN" b="1" dirty="0"/>
              <a:t>IEEE</a:t>
            </a:r>
            <a:r>
              <a:rPr lang="zh-CN" altLang="en-US" b="1" dirty="0"/>
              <a:t>包支持：</a:t>
            </a:r>
            <a:r>
              <a:rPr lang="en-US" altLang="zh-CN" b="1" dirty="0"/>
              <a:t>VITAL_timing</a:t>
            </a:r>
            <a:r>
              <a:rPr lang="zh-CN" altLang="en-US" b="1" dirty="0"/>
              <a:t>和</a:t>
            </a:r>
            <a:r>
              <a:rPr lang="en-US" altLang="zh-CN" b="1" dirty="0"/>
              <a:t>VITAL_primitive</a:t>
            </a:r>
            <a:r>
              <a:rPr lang="zh-CN" altLang="en-US" b="1" dirty="0"/>
              <a:t>。</a:t>
            </a:r>
            <a:r>
              <a:rPr lang="en-US" altLang="zh-CN" b="1" dirty="0"/>
              <a:t>IEEE</a:t>
            </a:r>
            <a:r>
              <a:rPr lang="zh-CN" altLang="en-US" b="1" dirty="0"/>
              <a:t>成立</a:t>
            </a:r>
            <a:r>
              <a:rPr lang="en-US" altLang="zh-CN" b="1" dirty="0"/>
              <a:t>VHDL Initiative Towards ASIC Libarary</a:t>
            </a:r>
            <a:r>
              <a:rPr lang="zh-CN" altLang="en-US" b="1" dirty="0"/>
              <a:t>（ </a:t>
            </a:r>
            <a:r>
              <a:rPr lang="en-US" altLang="zh-CN" b="1" dirty="0"/>
              <a:t>VITAL</a:t>
            </a:r>
            <a:r>
              <a:rPr lang="zh-CN" altLang="en-US" b="1" dirty="0"/>
              <a:t>）委员会，</a:t>
            </a:r>
            <a:endParaRPr lang="zh-CN" altLang="en-US" sz="1300" b="1" dirty="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44035" name="Rectangle 2"/>
          <p:cNvSpPr>
            <a:spLocks noRot="1" noTextEdit="1"/>
          </p:cNvSpPr>
          <p:nvPr>
            <p:ph type="sldImg"/>
          </p:nvPr>
        </p:nvSpPr>
        <p:spPr>
          <a:ln/>
        </p:spPr>
      </p:sp>
      <p:sp>
        <p:nvSpPr>
          <p:cNvPr id="44036" name="Rectangle 3"/>
          <p:cNvSpPr>
            <a:spLocks noGrp="1"/>
          </p:cNvSpPr>
          <p:nvPr>
            <p:ph type="body" idx="1"/>
          </p:nvPr>
        </p:nvSpPr>
        <p:spPr>
          <a:ln/>
        </p:spPr>
        <p:txBody>
          <a:bodyPr wrap="square" lIns="91440" tIns="45720" rIns="91440" bIns="45720" anchor="t" anchorCtr="0"/>
          <a:p>
            <a:pPr lvl="0" eaLnBrk="1" hangingPunct="1"/>
            <a:r>
              <a:rPr lang="zh-CN" altLang="en-US" dirty="0"/>
              <a:t>既是一种行为描述语言，就是一种结构描述语言</a:t>
            </a:r>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52227" name="Rectangle 2"/>
          <p:cNvSpPr>
            <a:spLocks noRot="1" noTextEdit="1"/>
          </p:cNvSpPr>
          <p:nvPr>
            <p:ph type="sldImg"/>
          </p:nvPr>
        </p:nvSpPr>
        <p:spPr>
          <a:ln/>
        </p:spPr>
      </p:sp>
      <p:sp>
        <p:nvSpPr>
          <p:cNvPr id="52228" name="Rectangle 3"/>
          <p:cNvSpPr>
            <a:spLocks noGrp="1"/>
          </p:cNvSpPr>
          <p:nvPr>
            <p:ph type="body" idx="1"/>
          </p:nvPr>
        </p:nvSpPr>
        <p:spPr>
          <a:ln/>
        </p:spPr>
        <p:txBody>
          <a:bodyPr wrap="square" lIns="91440" tIns="45720" rIns="91440" bIns="45720" anchor="t" anchorCtr="0"/>
          <a:p>
            <a:pPr lvl="0" eaLnBrk="1" hangingPunct="1"/>
            <a:r>
              <a:rPr lang="zh-CN" altLang="en-US" b="1" dirty="0">
                <a:solidFill>
                  <a:srgbClr val="000000"/>
                </a:solidFill>
              </a:rPr>
              <a:t>目前国际上有一个叫作</a:t>
            </a:r>
            <a:r>
              <a:rPr lang="zh-CN" altLang="en-US" b="1" dirty="0">
                <a:solidFill>
                  <a:srgbClr val="FD3A35"/>
                </a:solidFill>
              </a:rPr>
              <a:t>虚拟接口联盟</a:t>
            </a:r>
            <a:r>
              <a:rPr lang="zh-CN" altLang="en-US" b="1" dirty="0">
                <a:solidFill>
                  <a:srgbClr val="000000"/>
                </a:solidFill>
              </a:rPr>
              <a:t>的组织（</a:t>
            </a:r>
            <a:r>
              <a:rPr lang="en-US" altLang="zh-CN" b="1" i="1" dirty="0">
                <a:solidFill>
                  <a:srgbClr val="000000"/>
                </a:solidFill>
              </a:rPr>
              <a:t>Virtual Socket Interface Alliance</a:t>
            </a:r>
            <a:r>
              <a:rPr lang="zh-CN" altLang="en-US" b="1" dirty="0">
                <a:solidFill>
                  <a:srgbClr val="000000"/>
                </a:solidFill>
              </a:rPr>
              <a:t>）来协调这方面的工作。</a:t>
            </a:r>
            <a:endParaRPr lang="zh-CN" altLang="en-US" b="1" dirty="0">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56323" name="Rectangle 2"/>
          <p:cNvSpPr>
            <a:spLocks noRot="1" noTextEdit="1"/>
          </p:cNvSpPr>
          <p:nvPr>
            <p:ph type="sldImg"/>
          </p:nvPr>
        </p:nvSpPr>
        <p:spPr>
          <a:ln/>
        </p:spPr>
      </p:sp>
      <p:sp>
        <p:nvSpPr>
          <p:cNvPr id="56324" name="Rectangle 3"/>
          <p:cNvSpPr>
            <a:spLocks noGrp="1"/>
          </p:cNvSpPr>
          <p:nvPr>
            <p:ph type="body" idx="1"/>
          </p:nvPr>
        </p:nvSpPr>
        <p:spPr>
          <a:ln/>
        </p:spPr>
        <p:txBody>
          <a:bodyPr wrap="square" lIns="91440" tIns="45720" rIns="91440" bIns="45720" anchor="t" anchorCtr="0"/>
          <a:p>
            <a:pPr lvl="0" eaLnBrk="1" hangingPunct="1"/>
            <a:r>
              <a:rPr lang="zh-CN" altLang="en-US" dirty="0"/>
              <a:t>全定制方法是一种在最底层，即物理版图实现设计的方法</a:t>
            </a:r>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58371" name="Rectangle 2"/>
          <p:cNvSpPr>
            <a:spLocks noRot="1" noTextEdit="1"/>
          </p:cNvSpPr>
          <p:nvPr>
            <p:ph type="sldImg"/>
          </p:nvPr>
        </p:nvSpPr>
        <p:spPr>
          <a:ln/>
        </p:spPr>
      </p:sp>
      <p:sp>
        <p:nvSpPr>
          <p:cNvPr id="58372" name="Rectangle 3"/>
          <p:cNvSpPr>
            <a:spLocks noGrp="1"/>
          </p:cNvSpPr>
          <p:nvPr>
            <p:ph type="body" idx="1"/>
          </p:nvPr>
        </p:nvSpPr>
        <p:spPr>
          <a:ln/>
        </p:spPr>
        <p:txBody>
          <a:bodyPr wrap="square" lIns="91440" tIns="45720" rIns="91440" bIns="45720" anchor="t" anchorCtr="0"/>
          <a:p>
            <a:pPr lvl="0" eaLnBrk="1" hangingPunct="1"/>
            <a:r>
              <a:rPr lang="zh-CN" altLang="en-US" dirty="0"/>
              <a:t>数字系统的设计和实现离不开</a:t>
            </a:r>
            <a:r>
              <a:rPr lang="en-US" altLang="zh-CN" dirty="0"/>
              <a:t>cpld </a:t>
            </a:r>
            <a:r>
              <a:rPr lang="zh-CN" altLang="en-US" dirty="0"/>
              <a:t>和 </a:t>
            </a:r>
            <a:r>
              <a:rPr lang="en-US" altLang="zh-CN" dirty="0"/>
              <a:t>fpga </a:t>
            </a:r>
            <a:r>
              <a:rPr lang="zh-CN" altLang="en-US" dirty="0"/>
              <a:t>器件，本部分介绍</a:t>
            </a:r>
            <a:r>
              <a:rPr lang="en-US" altLang="zh-CN" dirty="0"/>
              <a:t>cpld/fpga</a:t>
            </a:r>
            <a:r>
              <a:rPr lang="zh-CN" altLang="en-US" dirty="0"/>
              <a:t>器件的发展、结构特点，以及在系统编程和边界扫描技术，并对主流的</a:t>
            </a:r>
            <a:r>
              <a:rPr lang="en-US" altLang="zh-CN" dirty="0"/>
              <a:t>cpld</a:t>
            </a:r>
            <a:r>
              <a:rPr lang="zh-CN" altLang="en-US" dirty="0"/>
              <a:t>器件和</a:t>
            </a:r>
            <a:r>
              <a:rPr lang="en-US" altLang="zh-CN" dirty="0"/>
              <a:t>fpga</a:t>
            </a:r>
            <a:r>
              <a:rPr lang="zh-CN" altLang="en-US" dirty="0"/>
              <a:t>器件做了概述。</a:t>
            </a:r>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60419" name="Rectangle 2"/>
          <p:cNvSpPr>
            <a:spLocks noRot="1" noTextEdit="1"/>
          </p:cNvSpPr>
          <p:nvPr>
            <p:ph type="sldImg"/>
          </p:nvPr>
        </p:nvSpPr>
        <p:spPr>
          <a:ln/>
        </p:spPr>
      </p:sp>
      <p:sp>
        <p:nvSpPr>
          <p:cNvPr id="60420" name="Rectangle 3"/>
          <p:cNvSpPr>
            <a:spLocks noGrp="1"/>
          </p:cNvSpPr>
          <p:nvPr>
            <p:ph type="body" idx="1"/>
          </p:nvPr>
        </p:nvSpPr>
        <p:spPr>
          <a:ln/>
        </p:spPr>
        <p:txBody>
          <a:bodyPr wrap="square" lIns="91440" tIns="45720" rIns="91440" bIns="45720" anchor="t" anchorCtr="0"/>
          <a:p>
            <a:pPr lvl="0" eaLnBrk="1" hangingPunct="1"/>
            <a:r>
              <a:rPr lang="zh-CN" altLang="en-US" dirty="0"/>
              <a:t>可编程逻辑器件是</a:t>
            </a:r>
            <a:r>
              <a:rPr lang="en-US" altLang="zh-CN" dirty="0"/>
              <a:t>20</a:t>
            </a:r>
            <a:r>
              <a:rPr lang="zh-CN" altLang="en-US" dirty="0"/>
              <a:t>世纪</a:t>
            </a:r>
            <a:r>
              <a:rPr lang="en-US" altLang="zh-CN" dirty="0"/>
              <a:t>70</a:t>
            </a:r>
            <a:r>
              <a:rPr lang="zh-CN" altLang="en-US" dirty="0"/>
              <a:t>年代发展起来的新型器件，他的应用和发展不仅简化了电路设计，降低了开发成本，太高了系统的可靠性，且数字系统的设计方式带来了革命性变化。</a:t>
            </a:r>
            <a:endParaRPr lang="zh-CN" altLang="en-US" dirty="0"/>
          </a:p>
          <a:p>
            <a:pPr lvl="0" eaLnBrk="1" hangingPunct="1">
              <a:spcBef>
                <a:spcPct val="0"/>
              </a:spcBef>
            </a:pPr>
            <a:r>
              <a:rPr lang="en-US" altLang="zh-CN" sz="900" b="1" dirty="0">
                <a:solidFill>
                  <a:schemeClr val="tx2"/>
                </a:solidFill>
                <a:latin typeface="Times New Roman" panose="02020603050405020304" pitchFamily="18" charset="0"/>
              </a:rPr>
              <a:t>(1)</a:t>
            </a:r>
            <a:r>
              <a:rPr lang="zh-CN" altLang="en-US" sz="900" b="1" dirty="0">
                <a:solidFill>
                  <a:schemeClr val="tx2"/>
                </a:solidFill>
                <a:latin typeface="Times New Roman" panose="02020603050405020304" pitchFamily="18" charset="0"/>
              </a:rPr>
              <a:t>采用熔丝编程元件的器件，如：</a:t>
            </a:r>
            <a:r>
              <a:rPr lang="en-US" altLang="zh-CN" sz="900" b="1" dirty="0">
                <a:solidFill>
                  <a:schemeClr val="tx2"/>
                </a:solidFill>
                <a:latin typeface="Times New Roman" panose="02020603050405020304" pitchFamily="18" charset="0"/>
              </a:rPr>
              <a:t>PROM (2)</a:t>
            </a:r>
            <a:r>
              <a:rPr lang="zh-CN" altLang="en-US" sz="900" b="1" dirty="0">
                <a:solidFill>
                  <a:schemeClr val="tx2"/>
                </a:solidFill>
                <a:latin typeface="Times New Roman" panose="02020603050405020304" pitchFamily="18" charset="0"/>
              </a:rPr>
              <a:t>采用反熔丝编程的元件</a:t>
            </a:r>
            <a:r>
              <a:rPr lang="en-US" altLang="zh-CN" sz="900" b="1" dirty="0">
                <a:solidFill>
                  <a:schemeClr val="tx2"/>
                </a:solidFill>
                <a:latin typeface="Times New Roman" panose="02020603050405020304" pitchFamily="18" charset="0"/>
              </a:rPr>
              <a:t>(3)</a:t>
            </a:r>
            <a:r>
              <a:rPr lang="zh-CN" altLang="en-US" sz="900" b="1" dirty="0">
                <a:solidFill>
                  <a:schemeClr val="tx2"/>
                </a:solidFill>
                <a:latin typeface="Times New Roman" panose="02020603050405020304" pitchFamily="18" charset="0"/>
              </a:rPr>
              <a:t>采用紫外线擦出、点编程方式，如：</a:t>
            </a:r>
            <a:r>
              <a:rPr lang="en-US" altLang="zh-CN" sz="900" b="1" dirty="0">
                <a:solidFill>
                  <a:schemeClr val="tx2"/>
                </a:solidFill>
                <a:latin typeface="Times New Roman" panose="02020603050405020304" pitchFamily="18" charset="0"/>
              </a:rPr>
              <a:t>EPROM(4)</a:t>
            </a:r>
            <a:r>
              <a:rPr lang="zh-CN" altLang="en-US" sz="900" b="1" dirty="0">
                <a:solidFill>
                  <a:schemeClr val="tx2"/>
                </a:solidFill>
                <a:latin typeface="Times New Roman" panose="02020603050405020304" pitchFamily="18" charset="0"/>
              </a:rPr>
              <a:t>采用电擦除、电编程方式的器件。如：</a:t>
            </a:r>
            <a:r>
              <a:rPr lang="en-US" altLang="zh-CN" sz="900" b="1" dirty="0">
                <a:solidFill>
                  <a:schemeClr val="tx2"/>
                </a:solidFill>
                <a:latin typeface="Times New Roman" panose="02020603050405020304" pitchFamily="18" charset="0"/>
              </a:rPr>
              <a:t>EEPROM</a:t>
            </a:r>
            <a:r>
              <a:rPr lang="zh-CN" altLang="en-US" sz="900" b="1" dirty="0">
                <a:solidFill>
                  <a:schemeClr val="tx2"/>
                </a:solidFill>
                <a:latin typeface="Times New Roman" panose="02020603050405020304" pitchFamily="18" charset="0"/>
              </a:rPr>
              <a:t>、</a:t>
            </a:r>
            <a:r>
              <a:rPr lang="en-US" altLang="zh-CN" sz="900" b="1" dirty="0">
                <a:solidFill>
                  <a:schemeClr val="tx2"/>
                </a:solidFill>
                <a:latin typeface="Times New Roman" panose="02020603050405020304" pitchFamily="18" charset="0"/>
              </a:rPr>
              <a:t>Flash Memory </a:t>
            </a:r>
            <a:r>
              <a:rPr lang="zh-CN" altLang="en-US" sz="900" b="1" dirty="0">
                <a:solidFill>
                  <a:schemeClr val="tx2"/>
                </a:solidFill>
                <a:latin typeface="Times New Roman" panose="02020603050405020304" pitchFamily="18" charset="0"/>
              </a:rPr>
              <a:t>，</a:t>
            </a:r>
            <a:r>
              <a:rPr lang="en-US" altLang="zh-CN" sz="900" b="1" dirty="0">
                <a:solidFill>
                  <a:schemeClr val="tx2"/>
                </a:solidFill>
                <a:latin typeface="Times New Roman" panose="02020603050405020304" pitchFamily="18" charset="0"/>
              </a:rPr>
              <a:t>CPLD (5)</a:t>
            </a:r>
            <a:r>
              <a:rPr lang="zh-CN" altLang="en-US" sz="900" b="1" dirty="0">
                <a:solidFill>
                  <a:schemeClr val="tx2"/>
                </a:solidFill>
                <a:latin typeface="Times New Roman" panose="02020603050405020304" pitchFamily="18" charset="0"/>
              </a:rPr>
              <a:t>采用静态存储器件结构的器件，如：</a:t>
            </a:r>
            <a:r>
              <a:rPr lang="en-US" altLang="zh-CN" sz="900" b="1" dirty="0">
                <a:solidFill>
                  <a:schemeClr val="tx2"/>
                </a:solidFill>
                <a:latin typeface="Times New Roman" panose="02020603050405020304" pitchFamily="18" charset="0"/>
              </a:rPr>
              <a:t>FPGA</a:t>
            </a:r>
            <a:endParaRPr lang="en-US" altLang="zh-CN" sz="900" b="1" dirty="0">
              <a:solidFill>
                <a:schemeClr val="tx2"/>
              </a:solidFill>
              <a:latin typeface="Times New Roman" panose="02020603050405020304" pitchFamily="18" charset="0"/>
            </a:endParaRPr>
          </a:p>
          <a:p>
            <a:pPr lvl="0" eaLnBrk="1" hangingPunct="1"/>
            <a:endParaRPr lang="en-US" altLang="zh-CN" dirty="0"/>
          </a:p>
          <a:p>
            <a:pPr lvl="0" eaLnBrk="1" hangingPunct="1"/>
            <a:endParaRPr lang="en-US"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62467" name="Rectangle 2"/>
          <p:cNvSpPr>
            <a:spLocks noRot="1" noTextEdit="1"/>
          </p:cNvSpPr>
          <p:nvPr>
            <p:ph type="sldImg"/>
          </p:nvPr>
        </p:nvSpPr>
        <p:spPr>
          <a:ln/>
        </p:spPr>
      </p:sp>
      <p:sp>
        <p:nvSpPr>
          <p:cNvPr id="62468" name="Rectangle 3"/>
          <p:cNvSpPr>
            <a:spLocks noGrp="1"/>
          </p:cNvSpPr>
          <p:nvPr>
            <p:ph type="body" idx="1"/>
          </p:nvPr>
        </p:nvSpPr>
        <p:spPr>
          <a:ln/>
        </p:spPr>
        <p:txBody>
          <a:bodyPr wrap="square" lIns="91440" tIns="45720" rIns="91440" bIns="45720" anchor="t" anchorCtr="0"/>
          <a:p>
            <a:pPr lvl="0" eaLnBrk="1" hangingPunct="1"/>
            <a:r>
              <a:rPr lang="zh-CN" altLang="en-US" sz="1600" b="1" dirty="0">
                <a:solidFill>
                  <a:srgbClr val="FF0000"/>
                </a:solidFill>
                <a:latin typeface="楷体_GB2312" pitchFamily="49" charset="-122"/>
                <a:ea typeface="楷体_GB2312" pitchFamily="49" charset="-122"/>
              </a:rPr>
              <a:t>前面已经说过，按</a:t>
            </a:r>
            <a:r>
              <a:rPr lang="en-US" altLang="zh-CN" sz="1600" b="1" dirty="0">
                <a:solidFill>
                  <a:srgbClr val="FF0000"/>
                </a:solidFill>
                <a:latin typeface="楷体_GB2312" pitchFamily="49" charset="-122"/>
                <a:ea typeface="楷体_GB2312" pitchFamily="49" charset="-122"/>
              </a:rPr>
              <a:t>PLD</a:t>
            </a:r>
            <a:r>
              <a:rPr lang="zh-CN" altLang="en-US" sz="1600" b="1" dirty="0">
                <a:solidFill>
                  <a:srgbClr val="FF0000"/>
                </a:solidFill>
                <a:latin typeface="楷体_GB2312" pitchFamily="49" charset="-122"/>
                <a:ea typeface="楷体_GB2312" pitchFamily="49" charset="-122"/>
              </a:rPr>
              <a:t>的集成度分类可以分成简单</a:t>
            </a:r>
            <a:r>
              <a:rPr lang="en-US" altLang="zh-CN" sz="1600" b="1" dirty="0">
                <a:solidFill>
                  <a:srgbClr val="FF0000"/>
                </a:solidFill>
                <a:latin typeface="楷体_GB2312" pitchFamily="49" charset="-122"/>
                <a:ea typeface="楷体_GB2312" pitchFamily="49" charset="-122"/>
              </a:rPr>
              <a:t>PLD</a:t>
            </a:r>
            <a:r>
              <a:rPr lang="zh-CN" altLang="en-US" sz="1600" b="1" dirty="0">
                <a:solidFill>
                  <a:srgbClr val="FF0000"/>
                </a:solidFill>
                <a:latin typeface="楷体_GB2312" pitchFamily="49" charset="-122"/>
                <a:ea typeface="楷体_GB2312" pitchFamily="49" charset="-122"/>
              </a:rPr>
              <a:t>和高集成度</a:t>
            </a:r>
            <a:r>
              <a:rPr lang="en-US" altLang="zh-CN" sz="1600" b="1" dirty="0">
                <a:solidFill>
                  <a:srgbClr val="FF0000"/>
                </a:solidFill>
                <a:latin typeface="楷体_GB2312" pitchFamily="49" charset="-122"/>
                <a:ea typeface="楷体_GB2312" pitchFamily="49" charset="-122"/>
              </a:rPr>
              <a:t>PLD</a:t>
            </a:r>
            <a:r>
              <a:rPr lang="zh-CN" altLang="en-US" sz="1600" b="1" dirty="0">
                <a:solidFill>
                  <a:srgbClr val="FF0000"/>
                </a:solidFill>
                <a:latin typeface="楷体_GB2312" pitchFamily="49" charset="-122"/>
                <a:ea typeface="楷体_GB2312" pitchFamily="49" charset="-122"/>
              </a:rPr>
              <a:t>器件，</a:t>
            </a:r>
            <a:r>
              <a:rPr lang="en-US" altLang="zh-CN" sz="1600" b="1" dirty="0">
                <a:solidFill>
                  <a:srgbClr val="FF0000"/>
                </a:solidFill>
                <a:latin typeface="楷体_GB2312" pitchFamily="49" charset="-122"/>
                <a:ea typeface="楷体_GB2312" pitchFamily="49" charset="-122"/>
              </a:rPr>
              <a:t>FPGA</a:t>
            </a:r>
            <a:r>
              <a:rPr lang="zh-CN" altLang="en-US" sz="1600" b="1" dirty="0">
                <a:solidFill>
                  <a:srgbClr val="FF0000"/>
                </a:solidFill>
                <a:latin typeface="楷体_GB2312" pitchFamily="49" charset="-122"/>
                <a:ea typeface="楷体_GB2312" pitchFamily="49" charset="-122"/>
              </a:rPr>
              <a:t>器件是一种高密度的</a:t>
            </a:r>
            <a:r>
              <a:rPr lang="en-US" altLang="zh-CN" sz="1600" b="1" dirty="0">
                <a:solidFill>
                  <a:srgbClr val="FF0000"/>
                </a:solidFill>
                <a:latin typeface="楷体_GB2312" pitchFamily="49" charset="-122"/>
                <a:ea typeface="楷体_GB2312" pitchFamily="49" charset="-122"/>
              </a:rPr>
              <a:t>PLD</a:t>
            </a:r>
            <a:r>
              <a:rPr lang="zh-CN" altLang="en-US" sz="1600" b="1" dirty="0">
                <a:solidFill>
                  <a:srgbClr val="FF0000"/>
                </a:solidFill>
                <a:latin typeface="楷体_GB2312" pitchFamily="49" charset="-122"/>
                <a:ea typeface="楷体_GB2312" pitchFamily="49" charset="-122"/>
              </a:rPr>
              <a:t>器件</a:t>
            </a:r>
            <a:r>
              <a:rPr lang="zh-CN" altLang="en-US" dirty="0"/>
              <a:t>，其与</a:t>
            </a:r>
            <a:r>
              <a:rPr lang="en-US" altLang="zh-CN" dirty="0"/>
              <a:t>cPLD</a:t>
            </a:r>
            <a:r>
              <a:rPr lang="zh-CN" altLang="en-US" dirty="0"/>
              <a:t>相比，</a:t>
            </a:r>
            <a:r>
              <a:rPr lang="en-US" altLang="zh-CN" dirty="0"/>
              <a:t>FPGA</a:t>
            </a:r>
            <a:r>
              <a:rPr lang="zh-CN" altLang="en-US" dirty="0"/>
              <a:t>具有跟高的集成度、更强的逻辑功能和更大的灵活性，</a:t>
            </a:r>
            <a:r>
              <a:rPr lang="en-US" altLang="zh-CN" dirty="0"/>
              <a:t>FPGA</a:t>
            </a:r>
            <a:r>
              <a:rPr lang="zh-CN" altLang="en-US" dirty="0"/>
              <a:t>是阵列型的</a:t>
            </a:r>
            <a:r>
              <a:rPr lang="en-US" altLang="zh-CN" dirty="0"/>
              <a:t>PLD</a:t>
            </a:r>
            <a:r>
              <a:rPr lang="zh-CN" altLang="en-US" dirty="0"/>
              <a:t>器件。</a:t>
            </a:r>
            <a:endParaRPr lang="zh-CN" altLang="en-US" dirty="0"/>
          </a:p>
          <a:p>
            <a:pPr lvl="0" eaLnBrk="1" hangingPunct="1"/>
            <a:r>
              <a:rPr lang="en-US" altLang="zh-CN" dirty="0"/>
              <a:t>Lattice </a:t>
            </a:r>
            <a:r>
              <a:rPr lang="zh-CN" altLang="en-US" dirty="0"/>
              <a:t>是比较早开发</a:t>
            </a:r>
            <a:r>
              <a:rPr lang="en-US" altLang="zh-CN" dirty="0"/>
              <a:t>PLD</a:t>
            </a:r>
            <a:r>
              <a:rPr lang="zh-CN" altLang="en-US" dirty="0"/>
              <a:t>的公司，如：</a:t>
            </a:r>
            <a:r>
              <a:rPr lang="en-US" altLang="zh-CN" dirty="0"/>
              <a:t>GAL</a:t>
            </a:r>
            <a:r>
              <a:rPr lang="zh-CN" altLang="en-US" dirty="0"/>
              <a:t>器件就是最先由</a:t>
            </a:r>
            <a:r>
              <a:rPr lang="en-US" altLang="zh-CN" dirty="0"/>
              <a:t>lattice</a:t>
            </a:r>
            <a:r>
              <a:rPr lang="zh-CN" altLang="en-US" dirty="0"/>
              <a:t>生产的，</a:t>
            </a:r>
            <a:r>
              <a:rPr lang="en-US" altLang="zh-CN" dirty="0"/>
              <a:t>lattice</a:t>
            </a:r>
            <a:r>
              <a:rPr lang="zh-CN" altLang="en-US" dirty="0"/>
              <a:t>公司的</a:t>
            </a:r>
            <a:r>
              <a:rPr lang="en-US" altLang="zh-CN" dirty="0"/>
              <a:t>PLD</a:t>
            </a:r>
            <a:r>
              <a:rPr lang="zh-CN" altLang="en-US" dirty="0"/>
              <a:t>产品丰富，包括</a:t>
            </a:r>
            <a:r>
              <a:rPr lang="en-US" altLang="zh-CN" dirty="0"/>
              <a:t>FPGA</a:t>
            </a:r>
            <a:r>
              <a:rPr lang="zh-CN" altLang="en-US" dirty="0"/>
              <a:t>，</a:t>
            </a:r>
            <a:r>
              <a:rPr lang="en-US" altLang="zh-CN" dirty="0"/>
              <a:t>FPSC</a:t>
            </a:r>
            <a:r>
              <a:rPr lang="zh-CN" altLang="en-US" dirty="0"/>
              <a:t>，</a:t>
            </a:r>
            <a:r>
              <a:rPr lang="en-US" altLang="zh-CN" dirty="0"/>
              <a:t>CPLD</a:t>
            </a:r>
            <a:r>
              <a:rPr lang="zh-CN" altLang="en-US" dirty="0"/>
              <a:t>及</a:t>
            </a:r>
            <a:r>
              <a:rPr lang="en-US" altLang="zh-CN" dirty="0"/>
              <a:t>SPLD</a:t>
            </a:r>
            <a:r>
              <a:rPr lang="zh-CN" altLang="en-US" dirty="0"/>
              <a:t>等等。</a:t>
            </a:r>
            <a:endParaRPr lang="zh-CN" altLang="en-US" dirty="0"/>
          </a:p>
          <a:p>
            <a:pPr lvl="0" eaLnBrk="1" hangingPunct="1"/>
            <a:r>
              <a:rPr lang="en-US" altLang="zh-CN" dirty="0"/>
              <a:t>Xilinx</a:t>
            </a:r>
            <a:r>
              <a:rPr lang="zh-CN" altLang="en-US" dirty="0"/>
              <a:t>在</a:t>
            </a:r>
            <a:r>
              <a:rPr lang="en-US" altLang="zh-CN" dirty="0"/>
              <a:t>1985</a:t>
            </a:r>
            <a:r>
              <a:rPr lang="zh-CN" altLang="en-US" dirty="0"/>
              <a:t>年首次推出</a:t>
            </a:r>
            <a:r>
              <a:rPr lang="en-US" altLang="zh-CN" dirty="0"/>
              <a:t>FPGA</a:t>
            </a:r>
            <a:r>
              <a:rPr lang="zh-CN" altLang="en-US" dirty="0"/>
              <a:t>，在这之后，不断推出新的集成度更高、速度更快、价格更低的器件。</a:t>
            </a:r>
            <a:endParaRPr lang="zh-CN" altLang="en-US" dirty="0"/>
          </a:p>
          <a:p>
            <a:pPr lvl="0" eaLnBrk="1" hangingPunct="1"/>
            <a:r>
              <a:rPr lang="en-US" altLang="zh-CN" dirty="0"/>
              <a:t>Altera </a:t>
            </a:r>
            <a:r>
              <a:rPr lang="zh-CN" altLang="en-US" dirty="0"/>
              <a:t>也是世界有名的</a:t>
            </a:r>
            <a:r>
              <a:rPr lang="en-US" altLang="zh-CN" dirty="0"/>
              <a:t>PLD</a:t>
            </a:r>
            <a:r>
              <a:rPr lang="zh-CN" altLang="en-US" dirty="0"/>
              <a:t>器件生产厂商，多年来一直占据着行业的领先地位。</a:t>
            </a:r>
            <a:r>
              <a:rPr lang="en-US" altLang="zh-CN" dirty="0"/>
              <a:t>Altera</a:t>
            </a:r>
            <a:r>
              <a:rPr lang="zh-CN" altLang="en-US" dirty="0"/>
              <a:t>的</a:t>
            </a:r>
            <a:r>
              <a:rPr lang="en-US" altLang="zh-CN" dirty="0"/>
              <a:t>PLD</a:t>
            </a:r>
            <a:r>
              <a:rPr lang="zh-CN" altLang="en-US" dirty="0"/>
              <a:t>器件具有高性能、高集成度和高性价比的优点，而且器件延时可以预测，加上</a:t>
            </a:r>
            <a:r>
              <a:rPr lang="en-US" altLang="zh-CN" dirty="0"/>
              <a:t>altera</a:t>
            </a:r>
            <a:r>
              <a:rPr lang="zh-CN" altLang="en-US" dirty="0"/>
              <a:t>提供了功能全面的开发工具和丰富的</a:t>
            </a:r>
            <a:r>
              <a:rPr lang="en-US" altLang="zh-CN" dirty="0"/>
              <a:t>ip</a:t>
            </a:r>
            <a:r>
              <a:rPr lang="zh-CN" altLang="en-US" dirty="0"/>
              <a:t>核、宏功能库等，因此</a:t>
            </a:r>
            <a:r>
              <a:rPr lang="en-US" altLang="zh-CN" dirty="0"/>
              <a:t>altera</a:t>
            </a:r>
            <a:r>
              <a:rPr lang="zh-CN" altLang="en-US" dirty="0"/>
              <a:t>的产品获得了广泛的应用</a:t>
            </a:r>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64515" name="Rectangle 2"/>
          <p:cNvSpPr>
            <a:spLocks noRot="1" noTextEdit="1"/>
          </p:cNvSpPr>
          <p:nvPr>
            <p:ph type="sldImg"/>
          </p:nvPr>
        </p:nvSpPr>
        <p:spPr>
          <a:ln/>
        </p:spPr>
      </p:sp>
      <p:sp>
        <p:nvSpPr>
          <p:cNvPr id="64516" name="Rectangle 3"/>
          <p:cNvSpPr>
            <a:spLocks noGrp="1"/>
          </p:cNvSpPr>
          <p:nvPr>
            <p:ph type="body" idx="1"/>
          </p:nvPr>
        </p:nvSpPr>
        <p:spPr>
          <a:ln/>
        </p:spPr>
        <p:txBody>
          <a:bodyPr wrap="square" lIns="91440" tIns="45720" rIns="91440" bIns="45720" anchor="t" anchorCtr="0"/>
          <a:p>
            <a:pPr lvl="0" eaLnBrk="1" hangingPunct="1"/>
            <a:r>
              <a:rPr lang="zh-CN" altLang="en-US" dirty="0"/>
              <a:t>主要由三部分组成：可配置逻辑块（</a:t>
            </a:r>
            <a:r>
              <a:rPr lang="en-US" altLang="zh-CN" dirty="0"/>
              <a:t>configurable logic block</a:t>
            </a:r>
            <a:r>
              <a:rPr lang="zh-CN" altLang="en-US" dirty="0"/>
              <a:t>，</a:t>
            </a:r>
            <a:r>
              <a:rPr lang="en-US" altLang="zh-CN" dirty="0"/>
              <a:t>CLB</a:t>
            </a:r>
            <a:r>
              <a:rPr lang="zh-CN" altLang="en-US" dirty="0"/>
              <a:t>），输入输出模块（</a:t>
            </a:r>
            <a:r>
              <a:rPr lang="en-US" altLang="zh-CN" dirty="0"/>
              <a:t>I/O BLOCK</a:t>
            </a:r>
            <a:r>
              <a:rPr lang="zh-CN" altLang="en-US" dirty="0"/>
              <a:t>， </a:t>
            </a:r>
            <a:r>
              <a:rPr lang="en-US" altLang="zh-CN" dirty="0"/>
              <a:t>IOB</a:t>
            </a:r>
            <a:r>
              <a:rPr lang="zh-CN" altLang="en-US" dirty="0"/>
              <a:t>）和布线通道（</a:t>
            </a:r>
            <a:r>
              <a:rPr lang="en-US" altLang="zh-CN" dirty="0"/>
              <a:t>routing channels</a:t>
            </a:r>
            <a:r>
              <a:rPr lang="zh-CN" altLang="en-US" dirty="0"/>
              <a:t>）</a:t>
            </a:r>
            <a:endParaRPr lang="zh-CN" altLang="en-US" dirty="0"/>
          </a:p>
          <a:p>
            <a:pPr lvl="0" eaLnBrk="1" hangingPunct="1"/>
            <a:r>
              <a:rPr lang="en-US" altLang="zh-CN" dirty="0"/>
              <a:t>CLB</a:t>
            </a:r>
            <a:r>
              <a:rPr lang="zh-CN" altLang="en-US" dirty="0"/>
              <a:t>是</a:t>
            </a:r>
            <a:r>
              <a:rPr lang="en-US" altLang="zh-CN" dirty="0"/>
              <a:t>fpga</a:t>
            </a:r>
            <a:r>
              <a:rPr lang="zh-CN" altLang="en-US" dirty="0"/>
              <a:t>的基本结构单元，</a:t>
            </a:r>
            <a:r>
              <a:rPr lang="en-US" altLang="zh-CN" dirty="0"/>
              <a:t>clb</a:t>
            </a:r>
            <a:r>
              <a:rPr lang="zh-CN" altLang="en-US" dirty="0"/>
              <a:t>功能很强大，它不仅能够实现逻辑函数，还可配置成</a:t>
            </a:r>
            <a:r>
              <a:rPr lang="en-US" altLang="zh-CN" dirty="0"/>
              <a:t>RAM</a:t>
            </a:r>
            <a:r>
              <a:rPr lang="zh-CN" altLang="en-US" dirty="0"/>
              <a:t>。</a:t>
            </a:r>
            <a:endParaRPr lang="zh-CN" altLang="en-US" dirty="0"/>
          </a:p>
          <a:p>
            <a:pPr lvl="0" eaLnBrk="1" hangingPunct="1"/>
            <a:r>
              <a:rPr lang="zh-CN" altLang="en-US" dirty="0"/>
              <a:t>现在的</a:t>
            </a:r>
            <a:r>
              <a:rPr lang="en-US" altLang="zh-CN" dirty="0"/>
              <a:t>fpga</a:t>
            </a:r>
            <a:r>
              <a:rPr lang="zh-CN" altLang="en-US" dirty="0"/>
              <a:t>器件又包括了底层嵌入式功能单元（</a:t>
            </a:r>
            <a:r>
              <a:rPr lang="en-US" altLang="zh-CN" dirty="0"/>
              <a:t>PLL</a:t>
            </a:r>
            <a:r>
              <a:rPr lang="zh-CN" altLang="en-US" dirty="0"/>
              <a:t>、</a:t>
            </a:r>
            <a:r>
              <a:rPr lang="en-US" altLang="zh-CN" dirty="0"/>
              <a:t>DSP</a:t>
            </a:r>
            <a:r>
              <a:rPr lang="zh-CN" altLang="en-US" dirty="0"/>
              <a:t>、</a:t>
            </a:r>
            <a:r>
              <a:rPr lang="en-US" altLang="zh-CN" dirty="0"/>
              <a:t>CPU</a:t>
            </a:r>
            <a:r>
              <a:rPr lang="zh-CN" altLang="en-US" dirty="0"/>
              <a:t>）完成高精度时钟，内嵌专用硬核，嵌入式</a:t>
            </a:r>
            <a:r>
              <a:rPr lang="en-US" altLang="zh-CN" dirty="0"/>
              <a:t>ram</a:t>
            </a:r>
            <a:r>
              <a:rPr lang="zh-CN" altLang="en-US" dirty="0"/>
              <a:t>等结构</a:t>
            </a:r>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67587" name="Rectangle 2"/>
          <p:cNvSpPr>
            <a:spLocks noRot="1" noTextEdit="1"/>
          </p:cNvSpPr>
          <p:nvPr>
            <p:ph type="sldImg"/>
          </p:nvPr>
        </p:nvSpPr>
        <p:spPr>
          <a:ln/>
        </p:spPr>
      </p:sp>
      <p:sp>
        <p:nvSpPr>
          <p:cNvPr id="67588" name="Rectangle 3"/>
          <p:cNvSpPr>
            <a:spLocks noGrp="1"/>
          </p:cNvSpPr>
          <p:nvPr>
            <p:ph type="body" idx="1"/>
          </p:nvPr>
        </p:nvSpPr>
        <p:spPr>
          <a:ln/>
        </p:spPr>
        <p:txBody>
          <a:bodyPr wrap="square" lIns="91440" tIns="45720" rIns="91440" bIns="45720" anchor="t" anchorCtr="0"/>
          <a:p>
            <a:pPr lvl="0" eaLnBrk="1" hangingPunct="1"/>
            <a:r>
              <a:rPr lang="zh-CN" altLang="en-US" dirty="0"/>
              <a:t>咱们的实验室购买的</a:t>
            </a:r>
            <a:r>
              <a:rPr lang="en-US" altLang="zh-CN" dirty="0"/>
              <a:t>fpga</a:t>
            </a:r>
            <a:r>
              <a:rPr lang="zh-CN" altLang="en-US" dirty="0"/>
              <a:t>开发板</a:t>
            </a:r>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69635" name="Rectangle 2"/>
          <p:cNvSpPr>
            <a:spLocks noRot="1" noTextEdit="1"/>
          </p:cNvSpPr>
          <p:nvPr>
            <p:ph type="sldImg"/>
          </p:nvPr>
        </p:nvSpPr>
        <p:spPr>
          <a:ln/>
        </p:spPr>
      </p:sp>
      <p:sp>
        <p:nvSpPr>
          <p:cNvPr id="69636" name="Rectangle 3"/>
          <p:cNvSpPr>
            <a:spLocks noGrp="1"/>
          </p:cNvSpPr>
          <p:nvPr>
            <p:ph type="body" idx="1"/>
          </p:nvPr>
        </p:nvSpPr>
        <p:spPr>
          <a:ln/>
        </p:spPr>
        <p:txBody>
          <a:bodyPr wrap="square" lIns="91440" tIns="45720" rIns="91440" bIns="45720" anchor="t" anchorCtr="0"/>
          <a:p>
            <a:pPr lvl="0" eaLnBrk="1" hangingPunct="1"/>
            <a:r>
              <a:rPr lang="zh-CN" altLang="en-US" sz="1400" dirty="0">
                <a:latin typeface="Times New Roman" panose="02020603050405020304" pitchFamily="18" charset="0"/>
                <a:ea typeface="楷体_GB2312" pitchFamily="49" charset="-122"/>
              </a:rPr>
              <a:t>传统的编程技术是将</a:t>
            </a:r>
            <a:r>
              <a:rPr lang="en-US" altLang="zh-CN" sz="1400" dirty="0">
                <a:latin typeface="Times New Roman" panose="02020603050405020304" pitchFamily="18" charset="0"/>
                <a:ea typeface="楷体_GB2312" pitchFamily="49" charset="-122"/>
              </a:rPr>
              <a:t>PLD</a:t>
            </a:r>
            <a:r>
              <a:rPr lang="zh-CN" altLang="en-US" sz="1400" dirty="0">
                <a:latin typeface="Times New Roman" panose="02020603050405020304" pitchFamily="18" charset="0"/>
                <a:ea typeface="楷体_GB2312" pitchFamily="49" charset="-122"/>
              </a:rPr>
              <a:t>器件插在编程器上进行编程，而“在系统可编程”（</a:t>
            </a:r>
            <a:r>
              <a:rPr lang="en-US" altLang="zh-CN" sz="1400" dirty="0">
                <a:latin typeface="Times New Roman" panose="02020603050405020304" pitchFamily="18" charset="0"/>
                <a:ea typeface="楷体_GB2312" pitchFamily="49" charset="-122"/>
              </a:rPr>
              <a:t>ISP</a:t>
            </a:r>
            <a:r>
              <a:rPr lang="zh-CN" altLang="en-US" sz="1400" dirty="0">
                <a:latin typeface="Times New Roman" panose="02020603050405020304" pitchFamily="18" charset="0"/>
                <a:ea typeface="楷体_GB2312" pitchFamily="49" charset="-122"/>
              </a:rPr>
              <a:t>，即</a:t>
            </a:r>
            <a:r>
              <a:rPr lang="en-US" altLang="zh-CN" sz="1400" dirty="0">
                <a:latin typeface="Times New Roman" panose="02020603050405020304" pitchFamily="18" charset="0"/>
                <a:ea typeface="楷体_GB2312" pitchFamily="49" charset="-122"/>
              </a:rPr>
              <a:t>In-System Programmable</a:t>
            </a:r>
            <a:r>
              <a:rPr lang="zh-CN" altLang="en-US" sz="1400" dirty="0">
                <a:latin typeface="Times New Roman" panose="02020603050405020304" pitchFamily="18" charset="0"/>
                <a:ea typeface="楷体_GB2312" pitchFamily="49" charset="-122"/>
              </a:rPr>
              <a:t>）逻辑器件的问世，将可编程器件的优越性发挥到了极致。这种重构或修改可以在产品设计、制造过程的每一个环节，甚至是在交付用户以后。</a:t>
            </a:r>
            <a:r>
              <a:rPr lang="en-US" altLang="zh-CN" sz="1400" dirty="0">
                <a:latin typeface="Times New Roman" panose="02020603050405020304" pitchFamily="18" charset="0"/>
                <a:ea typeface="楷体_GB2312" pitchFamily="49" charset="-122"/>
              </a:rPr>
              <a:t>ISP</a:t>
            </a:r>
            <a:r>
              <a:rPr lang="zh-CN" altLang="en-US" sz="1400" dirty="0">
                <a:latin typeface="Times New Roman" panose="02020603050405020304" pitchFamily="18" charset="0"/>
                <a:ea typeface="楷体_GB2312" pitchFamily="49" charset="-122"/>
              </a:rPr>
              <a:t>技术即直接在用户设计的目标系统中或线路板上对</a:t>
            </a:r>
            <a:r>
              <a:rPr lang="en-US" altLang="zh-CN" sz="1400" dirty="0">
                <a:latin typeface="Times New Roman" panose="02020603050405020304" pitchFamily="18" charset="0"/>
                <a:ea typeface="楷体_GB2312" pitchFamily="49" charset="-122"/>
              </a:rPr>
              <a:t>PLD</a:t>
            </a:r>
            <a:r>
              <a:rPr lang="zh-CN" altLang="en-US" sz="1400" dirty="0">
                <a:latin typeface="Times New Roman" panose="02020603050405020304" pitchFamily="18" charset="0"/>
                <a:ea typeface="楷体_GB2312" pitchFamily="49" charset="-122"/>
              </a:rPr>
              <a:t>器件进行编程的技术，打破了使用</a:t>
            </a:r>
            <a:r>
              <a:rPr lang="en-US" altLang="zh-CN" sz="1400" dirty="0">
                <a:latin typeface="Times New Roman" panose="02020603050405020304" pitchFamily="18" charset="0"/>
                <a:ea typeface="楷体_GB2312" pitchFamily="49" charset="-122"/>
              </a:rPr>
              <a:t>PLD</a:t>
            </a:r>
            <a:r>
              <a:rPr lang="zh-CN" altLang="en-US" sz="1400" dirty="0">
                <a:latin typeface="Times New Roman" panose="02020603050405020304" pitchFamily="18" charset="0"/>
                <a:ea typeface="楷体_GB2312" pitchFamily="49" charset="-122"/>
              </a:rPr>
              <a:t>必须先编程后装配的惯例，而可以先装配后编程，成为产品后还可以反复编程，从而开创了数字电子系统设计技术新的一页。 </a:t>
            </a:r>
            <a:endParaRPr lang="zh-CN" altLang="en-US" sz="1400" dirty="0">
              <a:latin typeface="Times New Roman" panose="02020603050405020304" pitchFamily="18" charset="0"/>
              <a:ea typeface="楷体_GB2312" pitchFamily="49" charset="-122"/>
            </a:endParaRPr>
          </a:p>
          <a:p>
            <a:pPr lvl="0" eaLnBrk="1" hangingPunct="1"/>
            <a:endParaRPr lang="en-US" altLang="zh-CN" sz="1400" dirty="0">
              <a:latin typeface="Times New Roman" panose="02020603050405020304" pitchFamily="18" charset="0"/>
              <a:ea typeface="楷体_GB2312" pitchFamily="49"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75779" name="Rectangle 2"/>
          <p:cNvSpPr>
            <a:spLocks noRot="1" noTextEdit="1"/>
          </p:cNvSpPr>
          <p:nvPr>
            <p:ph type="sldImg"/>
          </p:nvPr>
        </p:nvSpPr>
        <p:spPr>
          <a:ln/>
        </p:spPr>
      </p:sp>
      <p:sp>
        <p:nvSpPr>
          <p:cNvPr id="75780" name="Rectangle 3"/>
          <p:cNvSpPr>
            <a:spLocks noGrp="1"/>
          </p:cNvSpPr>
          <p:nvPr>
            <p:ph type="body" idx="1"/>
          </p:nvPr>
        </p:nvSpPr>
        <p:spPr>
          <a:ln/>
        </p:spPr>
        <p:txBody>
          <a:bodyPr wrap="square" lIns="91440" tIns="45720" rIns="91440" bIns="45720" anchor="t" anchorCtr="0"/>
          <a:p>
            <a:pPr lvl="0" eaLnBrk="1" hangingPunct="1">
              <a:lnSpc>
                <a:spcPct val="95000"/>
              </a:lnSpc>
              <a:spcBef>
                <a:spcPct val="0"/>
              </a:spcBef>
            </a:pPr>
            <a:r>
              <a:rPr lang="en-US" altLang="zh-CN" dirty="0">
                <a:solidFill>
                  <a:srgbClr val="000000"/>
                </a:solidFill>
                <a:latin typeface="Times New Roman" panose="02020603050405020304" pitchFamily="18" charset="0"/>
                <a:ea typeface="楷体_GB2312" pitchFamily="49" charset="-122"/>
              </a:rPr>
              <a:t> </a:t>
            </a:r>
            <a:r>
              <a:rPr lang="zh-CN" altLang="en-US" b="1" dirty="0">
                <a:solidFill>
                  <a:srgbClr val="000000"/>
                </a:solidFill>
                <a:latin typeface="Times New Roman" panose="02020603050405020304" pitchFamily="18" charset="0"/>
                <a:ea typeface="楷体_GB2312" pitchFamily="49" charset="-122"/>
              </a:rPr>
              <a:t>由设计要求到设计实现的整个过程，如果是靠人工完成，通常简单地称之为</a:t>
            </a:r>
            <a:r>
              <a:rPr lang="zh-CN" altLang="en-US" sz="1400" b="1" dirty="0">
                <a:solidFill>
                  <a:srgbClr val="FF3300"/>
                </a:solidFill>
                <a:latin typeface="Times New Roman" panose="02020603050405020304" pitchFamily="18" charset="0"/>
                <a:ea typeface="楷体_GB2312" pitchFamily="49" charset="-122"/>
              </a:rPr>
              <a:t>设计</a:t>
            </a:r>
            <a:r>
              <a:rPr lang="zh-CN" altLang="en-US" b="1" dirty="0">
                <a:solidFill>
                  <a:srgbClr val="000000"/>
                </a:solidFill>
                <a:latin typeface="Times New Roman" panose="02020603050405020304" pitchFamily="18" charset="0"/>
                <a:ea typeface="楷体_GB2312" pitchFamily="49" charset="-122"/>
              </a:rPr>
              <a:t>；如果依靠 </a:t>
            </a:r>
            <a:r>
              <a:rPr lang="en-US" altLang="zh-CN" b="1" i="1" dirty="0">
                <a:solidFill>
                  <a:srgbClr val="000000"/>
                </a:solidFill>
                <a:latin typeface="Times New Roman" panose="02020603050405020304" pitchFamily="18" charset="0"/>
                <a:ea typeface="楷体_GB2312" pitchFamily="49" charset="-122"/>
              </a:rPr>
              <a:t>EDA</a:t>
            </a:r>
            <a:r>
              <a:rPr lang="en-US" altLang="zh-CN" b="1" dirty="0">
                <a:solidFill>
                  <a:srgbClr val="000000"/>
                </a:solidFill>
                <a:latin typeface="Times New Roman" panose="02020603050405020304" pitchFamily="18" charset="0"/>
                <a:ea typeface="楷体_GB2312" pitchFamily="49" charset="-122"/>
              </a:rPr>
              <a:t> </a:t>
            </a:r>
            <a:r>
              <a:rPr lang="zh-CN" altLang="en-US" b="1" dirty="0">
                <a:solidFill>
                  <a:srgbClr val="000000"/>
                </a:solidFill>
                <a:latin typeface="Times New Roman" panose="02020603050405020304" pitchFamily="18" charset="0"/>
                <a:ea typeface="楷体_GB2312" pitchFamily="49" charset="-122"/>
              </a:rPr>
              <a:t>工具自动生成，通常称之为</a:t>
            </a:r>
            <a:r>
              <a:rPr lang="zh-CN" altLang="en-US" sz="1400" b="1" dirty="0">
                <a:solidFill>
                  <a:srgbClr val="FF3300"/>
                </a:solidFill>
                <a:latin typeface="Times New Roman" panose="02020603050405020304" pitchFamily="18" charset="0"/>
                <a:ea typeface="楷体_GB2312" pitchFamily="49" charset="-122"/>
              </a:rPr>
              <a:t>综合</a:t>
            </a:r>
            <a:r>
              <a:rPr lang="zh-CN" altLang="en-US" b="1" dirty="0">
                <a:solidFill>
                  <a:srgbClr val="000000"/>
                </a:solidFill>
                <a:latin typeface="Times New Roman" panose="02020603050405020304" pitchFamily="18" charset="0"/>
                <a:ea typeface="楷体_GB2312" pitchFamily="49" charset="-122"/>
              </a:rPr>
              <a:t>。</a:t>
            </a:r>
            <a:endParaRPr lang="zh-CN" altLang="en-US" b="1" dirty="0">
              <a:solidFill>
                <a:schemeClr val="bg1"/>
              </a:solidFill>
            </a:endParaRPr>
          </a:p>
          <a:p>
            <a:pPr lvl="0" eaLnBrk="1" hangingPunct="1"/>
            <a:endParaRPr lang="zh-CN" altLang="en-US" b="1" dirty="0">
              <a:solidFill>
                <a:schemeClr val="bg1"/>
              </a:solidFill>
            </a:endParaRPr>
          </a:p>
          <a:p>
            <a:pPr lvl="0" eaLnBrk="1" hangingPunct="1"/>
            <a:r>
              <a:rPr lang="en-US" altLang="zh-CN" b="1" dirty="0">
                <a:solidFill>
                  <a:schemeClr val="bg1"/>
                </a:solidFill>
              </a:rPr>
              <a:t>PLD</a:t>
            </a:r>
            <a:r>
              <a:rPr lang="zh-CN" altLang="en-US" b="1" dirty="0">
                <a:solidFill>
                  <a:schemeClr val="bg1"/>
                </a:solidFill>
              </a:rPr>
              <a:t>器件的设计往往采用层次化的设计方法，分模块、分层次地进行设计描述。在顶层设计中，使用图形法表示连接关系和芯片内部逻辑到管脚的接口；在低层设计中，使用硬件描述语言来描述各模块的逻辑功能。</a:t>
            </a:r>
            <a:endParaRPr lang="zh-CN" altLang="en-US" b="1" dirty="0">
              <a:solidFill>
                <a:schemeClr val="bg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77827" name="Rectangle 2"/>
          <p:cNvSpPr>
            <a:spLocks noRot="1" noTextEdit="1"/>
          </p:cNvSpPr>
          <p:nvPr>
            <p:ph type="sldImg"/>
          </p:nvPr>
        </p:nvSpPr>
        <p:spPr>
          <a:ln/>
        </p:spPr>
      </p:sp>
      <p:sp>
        <p:nvSpPr>
          <p:cNvPr id="77828" name="Rectangle 3"/>
          <p:cNvSpPr>
            <a:spLocks noGrp="1"/>
          </p:cNvSpPr>
          <p:nvPr>
            <p:ph type="body" idx="1"/>
          </p:nvPr>
        </p:nvSpPr>
        <p:spPr>
          <a:ln/>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fld>
            <a:endParaRPr lang="en-US" altLang="zh-CN" sz="1200" dirty="0"/>
          </a:p>
        </p:txBody>
      </p:sp>
      <p:sp>
        <p:nvSpPr>
          <p:cNvPr id="81923" name="Rectangle 2"/>
          <p:cNvSpPr>
            <a:spLocks noRot="1" noTextEdit="1"/>
          </p:cNvSpPr>
          <p:nvPr>
            <p:ph type="sldImg"/>
          </p:nvPr>
        </p:nvSpPr>
        <p:spPr>
          <a:ln/>
        </p:spPr>
      </p:sp>
      <p:sp>
        <p:nvSpPr>
          <p:cNvPr id="81924" name="Rectangle 3"/>
          <p:cNvSpPr>
            <a:spLocks noGrp="1"/>
          </p:cNvSpPr>
          <p:nvPr>
            <p:ph type="body" idx="1"/>
          </p:nvPr>
        </p:nvSpPr>
        <p:spPr>
          <a:ln/>
        </p:spPr>
        <p:txBody>
          <a:bodyPr wrap="square" lIns="91440" tIns="45720" rIns="91440" bIns="45720" anchor="t" anchorCtr="0"/>
          <a:p>
            <a:pPr lvl="0" eaLnBrk="1" hangingPunct="1"/>
            <a:r>
              <a:rPr lang="zh-CN" altLang="en-US" dirty="0"/>
              <a:t>由于不同器件的内部延时不一样，不同的布局布线方案也给延时造成了很大的影响，因此，在设计师先后，对网络和逻辑块进行延时仿真，分析定时关系，估计设计性能是非常必要的。</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9"/>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29842" y="2505075"/>
            <a:ext cx="3868340"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391"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9" name="灯片编号占位符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灯片编号占位符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987426"/>
            <a:ext cx="4629150" cy="4873625"/>
          </a:xfrm>
        </p:spPr>
        <p:txBody>
          <a:bodyPr vert="horz" wrap="square" lIns="91440" tIns="45720" rIns="91440" bIns="45720" numCol="1" rtlCol="0" anchor="t" anchorCtr="0" compatLnSpc="1">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90000"/>
              </a:lnSpc>
              <a:spcBef>
                <a:spcPts val="750"/>
              </a:spcBef>
              <a:spcAft>
                <a:spcPct val="0"/>
              </a:spcAft>
              <a:buClrTx/>
              <a:buSzTx/>
              <a:buFont typeface="Arial" panose="020B0604020202020204" pitchFamily="34" charset="0"/>
              <a:buNone/>
              <a:defRPr/>
            </a:pPr>
            <a:endParaRPr kumimoji="0" lang="zh-CN" altLang="en-US" sz="24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7" name="灯片编号占位符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spd="slow">
    <p:pull dir="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标题占位符 1"/>
          <p:cNvSpPr>
            <a:spLocks noGrp="1"/>
          </p:cNvSpPr>
          <p:nvPr>
            <p:ph type="title"/>
          </p:nvPr>
        </p:nvSpPr>
        <p:spPr>
          <a:xfrm>
            <a:off x="628650" y="365125"/>
            <a:ext cx="7886700" cy="1325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idx="1"/>
          </p:nvPr>
        </p:nvSpPr>
        <p:spPr>
          <a:xfrm>
            <a:off x="628650" y="1825625"/>
            <a:ext cx="7886700" cy="4351338"/>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hangingPunct="1">
              <a:defRPr sz="900">
                <a:solidFill>
                  <a:schemeClr val="tx1">
                    <a:tint val="75000"/>
                  </a:schemeClr>
                </a:solidFill>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hangingPunct="1">
              <a:defRPr sz="900">
                <a:solidFill>
                  <a:schemeClr val="tx1">
                    <a:tint val="75000"/>
                  </a:schemeClr>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eaLnBrk="1" hangingPunct="1">
              <a:defRPr sz="900">
                <a:solidFill>
                  <a:schemeClr val="tx1">
                    <a:tint val="75000"/>
                  </a:schemeClr>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77D8EA22-95A8-4EE5-B929-3A7995CDDEA1}" type="slidenum">
              <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rPr>
            </a:fld>
            <a:endParaRPr kumimoji="0" lang="en-US" altLang="zh-CN" sz="900" b="0" i="0" u="none" strike="noStrike" kern="1200" cap="none" spc="0" normalizeH="0" baseline="0" noProof="0">
              <a:ln>
                <a:noFill/>
              </a:ln>
              <a:solidFill>
                <a:schemeClr val="tx1">
                  <a:tint val="75000"/>
                </a:schemeClr>
              </a:solidFill>
              <a:effectLst/>
              <a:uLnTx/>
              <a:uFillTx/>
              <a:latin typeface="Arial" panose="020B0604020202020204" pitchFamily="34"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ll dir="ru"/>
  </p:transition>
  <p:timing>
    <p:tnLst>
      <p:par>
        <p:cTn id="1" dur="indefinite" restart="never" nodeType="tmRoot"/>
      </p:par>
    </p:tnLst>
  </p:timing>
  <p:hf sldNum="0" hdr="0" ft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ea typeface="宋体" panose="02010600030101010101" pitchFamily="2" charset="-122"/>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jpe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4"/>
          <p:cNvSpPr/>
          <p:nvPr/>
        </p:nvSpPr>
        <p:spPr>
          <a:xfrm>
            <a:off x="1116013" y="2781300"/>
            <a:ext cx="7772400" cy="1066800"/>
          </a:xfrm>
          <a:prstGeom prst="rect">
            <a:avLst/>
          </a:prstGeom>
          <a:noFill/>
          <a:ln w="9525">
            <a:noFill/>
          </a:ln>
        </p:spPr>
        <p:txBody>
          <a:bodyPr anchor="ctr" anchorCtr="0"/>
          <a:p>
            <a:pPr eaLnBrk="1" hangingPunct="1"/>
            <a:r>
              <a:rPr lang="zh-CN" altLang="en-US" sz="4400" b="1" dirty="0">
                <a:solidFill>
                  <a:srgbClr val="FF0000"/>
                </a:solidFill>
                <a:latin typeface="Arial" panose="020B0604020202020204" pitchFamily="34" charset="0"/>
                <a:ea typeface="楷体_GB2312" pitchFamily="49" charset="-122"/>
              </a:rPr>
              <a:t>数字系统设计与 </a:t>
            </a:r>
            <a:r>
              <a:rPr lang="en-US" altLang="zh-CN" sz="4400" b="1" dirty="0">
                <a:solidFill>
                  <a:srgbClr val="FF0000"/>
                </a:solidFill>
                <a:latin typeface="Comic Sans MS" panose="030F0702030302020204" pitchFamily="66" charset="0"/>
              </a:rPr>
              <a:t>Verilog HDL</a:t>
            </a:r>
            <a:endParaRPr lang="en-US" altLang="zh-CN" sz="4400" b="1" dirty="0">
              <a:solidFill>
                <a:srgbClr val="FF0000"/>
              </a:solidFill>
              <a:latin typeface="Comic Sans MS" panose="030F0702030302020204" pitchFamily="66" charset="0"/>
            </a:endParaRPr>
          </a:p>
        </p:txBody>
      </p:sp>
    </p:spTree>
  </p:cSld>
  <p:clrMapOvr>
    <a:masterClrMapping/>
  </p:clrMapOvr>
  <p:transition spd="slow">
    <p:pull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10" name="Rectangle 2"/>
          <p:cNvSpPr>
            <a:spLocks noGrp="1" noRot="1" noChangeArrowheads="1"/>
          </p:cNvSpPr>
          <p:nvPr>
            <p:ph type="title"/>
          </p:nvPr>
        </p:nvSpPr>
        <p:spPr>
          <a:xfrm>
            <a:off x="500063" y="473075"/>
            <a:ext cx="8248650" cy="701675"/>
          </a:xfrm>
        </p:spPr>
        <p:txBody>
          <a:bodyPr vert="horz" wrap="square" lIns="91440" tIns="45720" rIns="91440" bIns="45720" numCol="1" rtlCol="0" anchor="ctr" anchorCtr="0" compatLnSpc="1">
            <a:no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4000" b="1" i="0" u="none" strike="noStrike" kern="1200" cap="none" spc="0" normalizeH="0" baseline="0" noProof="0" dirty="0" smtClean="0">
                <a:ln>
                  <a:noFill/>
                </a:ln>
                <a:solidFill>
                  <a:schemeClr val="hlink"/>
                </a:solidFill>
                <a:effectLst/>
                <a:uLnTx/>
                <a:uFillTx/>
                <a:latin typeface="+mn-ea"/>
                <a:ea typeface="+mn-ea"/>
                <a:cs typeface="+mj-cs"/>
              </a:rPr>
              <a:t> </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rPr>
              <a:t>数字电路 </a:t>
            </a:r>
            <a:r>
              <a:rPr kumimoji="0" lang="en-US" altLang="zh-CN" sz="4000" b="1" i="0" u="none" strike="noStrike" kern="1200" cap="none" spc="0" normalizeH="0" baseline="0" noProof="0" dirty="0" smtClean="0">
                <a:ln>
                  <a:noFill/>
                </a:ln>
                <a:solidFill>
                  <a:schemeClr val="hlink"/>
                </a:solidFill>
                <a:effectLst/>
                <a:uLnTx/>
                <a:uFillTx/>
                <a:latin typeface="+mn-ea"/>
                <a:ea typeface="+mn-ea"/>
                <a:cs typeface="+mj-cs"/>
              </a:rPr>
              <a:t>CAD </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rPr>
              <a:t>技术的发展历史</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5123" name="Text Box 4"/>
          <p:cNvSpPr txBox="1"/>
          <p:nvPr/>
        </p:nvSpPr>
        <p:spPr>
          <a:xfrm>
            <a:off x="1187450" y="3649663"/>
            <a:ext cx="990600" cy="519112"/>
          </a:xfrm>
          <a:prstGeom prst="rect">
            <a:avLst/>
          </a:prstGeom>
          <a:noFill/>
          <a:ln w="9525">
            <a:noFill/>
          </a:ln>
        </p:spPr>
        <p:txBody>
          <a:bodyPr>
            <a:spAutoFit/>
          </a:bodyPr>
          <a:p>
            <a:pPr algn="ctr" eaLnBrk="1" hangingPunct="1">
              <a:spcBef>
                <a:spcPct val="50000"/>
              </a:spcBef>
            </a:pPr>
            <a:r>
              <a:rPr lang="en-US" altLang="zh-CN" sz="2800" b="1" dirty="0">
                <a:latin typeface="Times New Roman" panose="02020603050405020304" pitchFamily="18" charset="0"/>
              </a:rPr>
              <a:t>PLA</a:t>
            </a:r>
            <a:endParaRPr lang="en-US" altLang="zh-CN" sz="2800" b="1" dirty="0">
              <a:latin typeface="Times New Roman" panose="02020603050405020304" pitchFamily="18" charset="0"/>
            </a:endParaRPr>
          </a:p>
        </p:txBody>
      </p:sp>
      <p:sp>
        <p:nvSpPr>
          <p:cNvPr id="5124" name="Line 5"/>
          <p:cNvSpPr/>
          <p:nvPr/>
        </p:nvSpPr>
        <p:spPr>
          <a:xfrm>
            <a:off x="1692275" y="4119563"/>
            <a:ext cx="0" cy="601662"/>
          </a:xfrm>
          <a:prstGeom prst="line">
            <a:avLst/>
          </a:prstGeom>
          <a:ln w="28575" cap="flat" cmpd="sng">
            <a:solidFill>
              <a:schemeClr val="tx1"/>
            </a:solidFill>
            <a:prstDash val="solid"/>
            <a:headEnd type="none" w="med" len="med"/>
            <a:tailEnd type="triangle" w="med" len="med"/>
          </a:ln>
        </p:spPr>
      </p:sp>
      <p:sp>
        <p:nvSpPr>
          <p:cNvPr id="5125" name="Text Box 6"/>
          <p:cNvSpPr txBox="1"/>
          <p:nvPr/>
        </p:nvSpPr>
        <p:spPr>
          <a:xfrm>
            <a:off x="1195388" y="4641850"/>
            <a:ext cx="969962" cy="519113"/>
          </a:xfrm>
          <a:prstGeom prst="rect">
            <a:avLst/>
          </a:prstGeom>
          <a:noFill/>
          <a:ln w="9525">
            <a:noFill/>
          </a:ln>
        </p:spPr>
        <p:txBody>
          <a:bodyPr>
            <a:spAutoFit/>
          </a:bodyPr>
          <a:p>
            <a:pPr algn="ctr" eaLnBrk="1" hangingPunct="1">
              <a:spcBef>
                <a:spcPct val="50000"/>
              </a:spcBef>
            </a:pPr>
            <a:r>
              <a:rPr lang="en-US" altLang="zh-CN" sz="2800" b="1" dirty="0">
                <a:latin typeface="Times New Roman" panose="02020603050405020304" pitchFamily="18" charset="0"/>
              </a:rPr>
              <a:t>GAL</a:t>
            </a:r>
            <a:endParaRPr lang="en-US" altLang="zh-CN" sz="2800" b="1" dirty="0">
              <a:latin typeface="Times New Roman" panose="02020603050405020304" pitchFamily="18" charset="0"/>
            </a:endParaRPr>
          </a:p>
        </p:txBody>
      </p:sp>
      <p:sp>
        <p:nvSpPr>
          <p:cNvPr id="5126" name="Line 7"/>
          <p:cNvSpPr/>
          <p:nvPr/>
        </p:nvSpPr>
        <p:spPr>
          <a:xfrm>
            <a:off x="1692275" y="5100638"/>
            <a:ext cx="0" cy="601662"/>
          </a:xfrm>
          <a:prstGeom prst="line">
            <a:avLst/>
          </a:prstGeom>
          <a:ln w="28575" cap="flat" cmpd="sng">
            <a:solidFill>
              <a:schemeClr val="tx1"/>
            </a:solidFill>
            <a:prstDash val="solid"/>
            <a:headEnd type="none" w="med" len="med"/>
            <a:tailEnd type="triangle" w="med" len="med"/>
          </a:ln>
        </p:spPr>
      </p:sp>
      <p:sp>
        <p:nvSpPr>
          <p:cNvPr id="5127" name="Text Box 8"/>
          <p:cNvSpPr txBox="1"/>
          <p:nvPr/>
        </p:nvSpPr>
        <p:spPr>
          <a:xfrm>
            <a:off x="500063" y="5589588"/>
            <a:ext cx="2403475" cy="519112"/>
          </a:xfrm>
          <a:prstGeom prst="rect">
            <a:avLst/>
          </a:prstGeom>
          <a:noFill/>
          <a:ln w="9525">
            <a:noFill/>
          </a:ln>
        </p:spPr>
        <p:txBody>
          <a:bodyPr>
            <a:spAutoFit/>
          </a:bodyPr>
          <a:p>
            <a:pPr algn="ctr" eaLnBrk="1" hangingPunct="1">
              <a:spcBef>
                <a:spcPct val="50000"/>
              </a:spcBef>
            </a:pPr>
            <a:r>
              <a:rPr lang="en-US" altLang="zh-CN" sz="2800" b="1" dirty="0">
                <a:latin typeface="Times New Roman" panose="02020603050405020304" pitchFamily="18" charset="0"/>
              </a:rPr>
              <a:t>CPLD/FPGA</a:t>
            </a:r>
            <a:endParaRPr lang="en-US" altLang="zh-CN" sz="2800" b="1" dirty="0">
              <a:latin typeface="Times New Roman" panose="02020603050405020304" pitchFamily="18" charset="0"/>
            </a:endParaRPr>
          </a:p>
        </p:txBody>
      </p:sp>
      <p:sp>
        <p:nvSpPr>
          <p:cNvPr id="5128" name="AutoShape 14"/>
          <p:cNvSpPr/>
          <p:nvPr/>
        </p:nvSpPr>
        <p:spPr>
          <a:xfrm>
            <a:off x="1979613" y="1700213"/>
            <a:ext cx="1943100" cy="1133475"/>
          </a:xfrm>
          <a:prstGeom prst="cloudCallout">
            <a:avLst>
              <a:gd name="adj1" fmla="val 40523"/>
              <a:gd name="adj2" fmla="val 114144"/>
            </a:avLst>
          </a:prstGeom>
          <a:solidFill>
            <a:schemeClr val="accent1"/>
          </a:solidFill>
          <a:ln w="9525" cap="flat" cmpd="sng">
            <a:solidFill>
              <a:schemeClr val="tx1"/>
            </a:solidFill>
            <a:prstDash val="solid"/>
            <a:headEnd type="none" w="med" len="med"/>
            <a:tailEnd type="none" w="med" len="med"/>
          </a:ln>
        </p:spPr>
        <p:txBody>
          <a:bodyPr/>
          <a:p>
            <a:pPr algn="ctr" eaLnBrk="1" hangingPunct="1"/>
            <a:r>
              <a:rPr lang="zh-CN" altLang="en-US" sz="2400" dirty="0">
                <a:solidFill>
                  <a:srgbClr val="010000"/>
                </a:solidFill>
                <a:latin typeface="Times New Roman" panose="02020603050405020304" pitchFamily="18" charset="0"/>
                <a:ea typeface="隶书" panose="02010509060101010101" pitchFamily="49" charset="-122"/>
              </a:rPr>
              <a:t>数字器件发展</a:t>
            </a:r>
            <a:endParaRPr lang="zh-CN" altLang="en-US" sz="2400" dirty="0">
              <a:solidFill>
                <a:srgbClr val="010000"/>
              </a:solidFill>
              <a:latin typeface="Times New Roman" panose="02020603050405020304" pitchFamily="18" charset="0"/>
              <a:ea typeface="隶书" panose="02010509060101010101" pitchFamily="49" charset="-122"/>
            </a:endParaRPr>
          </a:p>
        </p:txBody>
      </p:sp>
      <p:sp>
        <p:nvSpPr>
          <p:cNvPr id="5129" name="AutoShape 15"/>
          <p:cNvSpPr/>
          <p:nvPr/>
        </p:nvSpPr>
        <p:spPr>
          <a:xfrm>
            <a:off x="5076825" y="1773238"/>
            <a:ext cx="1943100" cy="1133475"/>
          </a:xfrm>
          <a:prstGeom prst="cloudCallout">
            <a:avLst>
              <a:gd name="adj1" fmla="val -42074"/>
              <a:gd name="adj2" fmla="val 114005"/>
            </a:avLst>
          </a:prstGeom>
          <a:solidFill>
            <a:schemeClr val="accent1"/>
          </a:solidFill>
          <a:ln w="9525" cap="flat" cmpd="sng">
            <a:solidFill>
              <a:schemeClr val="tx1"/>
            </a:solidFill>
            <a:prstDash val="solid"/>
            <a:headEnd type="none" w="med" len="med"/>
            <a:tailEnd type="none" w="med" len="med"/>
          </a:ln>
        </p:spPr>
        <p:txBody>
          <a:bodyPr/>
          <a:p>
            <a:pPr algn="ctr" eaLnBrk="1" hangingPunct="1"/>
            <a:r>
              <a:rPr lang="zh-CN" altLang="en-US" sz="2400" dirty="0">
                <a:solidFill>
                  <a:srgbClr val="010000"/>
                </a:solidFill>
                <a:latin typeface="Times New Roman" panose="02020603050405020304" pitchFamily="18" charset="0"/>
                <a:ea typeface="隶书" panose="02010509060101010101" pitchFamily="49" charset="-122"/>
              </a:rPr>
              <a:t>设计方法发展</a:t>
            </a:r>
            <a:endParaRPr lang="zh-CN" altLang="en-US" sz="2400" dirty="0">
              <a:solidFill>
                <a:srgbClr val="010000"/>
              </a:solidFill>
              <a:latin typeface="Times New Roman" panose="02020603050405020304" pitchFamily="18" charset="0"/>
              <a:ea typeface="隶书" panose="02010509060101010101" pitchFamily="49" charset="-122"/>
            </a:endParaRPr>
          </a:p>
        </p:txBody>
      </p:sp>
      <p:sp>
        <p:nvSpPr>
          <p:cNvPr id="5130" name="AutoShape 16"/>
          <p:cNvSpPr/>
          <p:nvPr/>
        </p:nvSpPr>
        <p:spPr>
          <a:xfrm>
            <a:off x="3419475" y="3789363"/>
            <a:ext cx="2376488" cy="1017587"/>
          </a:xfrm>
          <a:prstGeom prst="flowChartProcess">
            <a:avLst/>
          </a:prstGeom>
          <a:solidFill>
            <a:srgbClr val="C0C0C0"/>
          </a:solidFill>
          <a:ln w="9525" cap="flat" cmpd="sng">
            <a:solidFill>
              <a:srgbClr val="808080"/>
            </a:solidFill>
            <a:prstDash val="solid"/>
            <a:miter/>
            <a:headEnd type="none" w="med" len="med"/>
            <a:tailEnd type="none" w="med" len="med"/>
          </a:ln>
          <a:effectLst>
            <a:prstShdw prst="shdw13" dist="71842" dir="13499999">
              <a:srgbClr val="969696"/>
            </a:prstShdw>
          </a:effectLst>
        </p:spPr>
        <p:txBody>
          <a:bodyPr wrap="none" anchor="ctr" anchorCtr="0"/>
          <a:p>
            <a:pPr algn="ctr" eaLnBrk="1" hangingPunct="1"/>
            <a:r>
              <a:rPr lang="zh-CN" altLang="en-US" sz="4000" b="1" dirty="0">
                <a:solidFill>
                  <a:schemeClr val="tx2"/>
                </a:solidFill>
                <a:latin typeface="Times New Roman" panose="02020603050405020304" pitchFamily="18" charset="0"/>
                <a:ea typeface="楷体_GB2312" pitchFamily="49" charset="-122"/>
              </a:rPr>
              <a:t>数字系统</a:t>
            </a:r>
            <a:endParaRPr lang="zh-CN" altLang="en-US" sz="4000" b="1" dirty="0">
              <a:solidFill>
                <a:schemeClr val="tx2"/>
              </a:solidFill>
              <a:latin typeface="Times New Roman" panose="02020603050405020304" pitchFamily="18" charset="0"/>
              <a:ea typeface="楷体_GB2312" pitchFamily="49" charset="-122"/>
            </a:endParaRPr>
          </a:p>
        </p:txBody>
      </p:sp>
      <p:sp>
        <p:nvSpPr>
          <p:cNvPr id="5131" name="AutoShape 17"/>
          <p:cNvSpPr/>
          <p:nvPr/>
        </p:nvSpPr>
        <p:spPr>
          <a:xfrm>
            <a:off x="1116013" y="2636838"/>
            <a:ext cx="1403350" cy="1136650"/>
          </a:xfrm>
          <a:prstGeom prst="irregularSeal1">
            <a:avLst/>
          </a:prstGeom>
          <a:solidFill>
            <a:srgbClr val="FF9900"/>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zh-CN" b="1" dirty="0">
                <a:solidFill>
                  <a:srgbClr val="0000CC"/>
                </a:solidFill>
                <a:latin typeface="Times New Roman" panose="02020603050405020304" pitchFamily="18" charset="0"/>
                <a:ea typeface="华文新魏" panose="02010800040101010101" pitchFamily="2" charset="-122"/>
              </a:rPr>
              <a:t>PLD</a:t>
            </a:r>
            <a:r>
              <a:rPr lang="zh-CN" altLang="en-US" dirty="0">
                <a:solidFill>
                  <a:srgbClr val="0000CC"/>
                </a:solidFill>
                <a:latin typeface="Times New Roman" panose="02020603050405020304" pitchFamily="18" charset="0"/>
                <a:ea typeface="华文新魏" panose="02010800040101010101" pitchFamily="2" charset="-122"/>
              </a:rPr>
              <a:t>器件</a:t>
            </a:r>
            <a:endParaRPr lang="zh-CN" altLang="en-US" dirty="0">
              <a:solidFill>
                <a:srgbClr val="0000CC"/>
              </a:solidFill>
              <a:latin typeface="Times New Roman" panose="02020603050405020304" pitchFamily="18" charset="0"/>
              <a:ea typeface="华文新魏" panose="02010800040101010101" pitchFamily="2" charset="-122"/>
            </a:endParaRPr>
          </a:p>
        </p:txBody>
      </p:sp>
      <p:sp>
        <p:nvSpPr>
          <p:cNvPr id="5132" name="AutoShape 18"/>
          <p:cNvSpPr/>
          <p:nvPr/>
        </p:nvSpPr>
        <p:spPr>
          <a:xfrm>
            <a:off x="6588125" y="2524125"/>
            <a:ext cx="1403350" cy="1125538"/>
          </a:xfrm>
          <a:prstGeom prst="irregularSeal1">
            <a:avLst/>
          </a:prstGeom>
          <a:solidFill>
            <a:srgbClr val="FF9900"/>
          </a:solidFill>
          <a:ln w="9525" cap="flat" cmpd="sng">
            <a:solidFill>
              <a:schemeClr val="tx1"/>
            </a:solidFill>
            <a:prstDash val="solid"/>
            <a:miter/>
            <a:headEnd type="none" w="med" len="med"/>
            <a:tailEnd type="none" w="med" len="med"/>
          </a:ln>
        </p:spPr>
        <p:txBody>
          <a:bodyPr wrap="none" anchor="ctr" anchorCtr="0"/>
          <a:p>
            <a:pPr algn="ctr" eaLnBrk="1" hangingPunct="1"/>
            <a:r>
              <a:rPr lang="en-US" altLang="zh-CN" b="1" dirty="0">
                <a:solidFill>
                  <a:srgbClr val="0000CC"/>
                </a:solidFill>
                <a:latin typeface="Times New Roman" panose="02020603050405020304" pitchFamily="18" charset="0"/>
                <a:ea typeface="华文新魏" panose="02010800040101010101" pitchFamily="2" charset="-122"/>
              </a:rPr>
              <a:t>EDA</a:t>
            </a:r>
            <a:r>
              <a:rPr lang="zh-CN" altLang="en-US" dirty="0">
                <a:solidFill>
                  <a:srgbClr val="0000CC"/>
                </a:solidFill>
                <a:latin typeface="Times New Roman" panose="02020603050405020304" pitchFamily="18" charset="0"/>
                <a:ea typeface="华文新魏" panose="02010800040101010101" pitchFamily="2" charset="-122"/>
              </a:rPr>
              <a:t>技术</a:t>
            </a:r>
            <a:endParaRPr lang="zh-CN" altLang="en-US" dirty="0">
              <a:solidFill>
                <a:srgbClr val="0000CC"/>
              </a:solidFill>
              <a:latin typeface="Times New Roman" panose="02020603050405020304" pitchFamily="18" charset="0"/>
              <a:ea typeface="华文新魏" panose="02010800040101010101" pitchFamily="2" charset="-122"/>
            </a:endParaRPr>
          </a:p>
        </p:txBody>
      </p:sp>
      <p:sp>
        <p:nvSpPr>
          <p:cNvPr id="5133" name="Line 19"/>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
        <p:nvSpPr>
          <p:cNvPr id="5134" name="Text Box 21"/>
          <p:cNvSpPr txBox="1"/>
          <p:nvPr/>
        </p:nvSpPr>
        <p:spPr>
          <a:xfrm>
            <a:off x="6772275" y="3648075"/>
            <a:ext cx="1008063" cy="520700"/>
          </a:xfrm>
          <a:prstGeom prst="rect">
            <a:avLst/>
          </a:prstGeom>
          <a:noFill/>
          <a:ln w="9525">
            <a:noFill/>
          </a:ln>
        </p:spPr>
        <p:txBody>
          <a:bodyPr>
            <a:spAutoFit/>
          </a:bodyPr>
          <a:p>
            <a:pPr algn="ctr" eaLnBrk="1" hangingPunct="1">
              <a:spcBef>
                <a:spcPct val="50000"/>
              </a:spcBef>
            </a:pPr>
            <a:r>
              <a:rPr lang="en-US" altLang="zh-CN" sz="2800" b="1" dirty="0">
                <a:latin typeface="Times New Roman" panose="02020603050405020304" pitchFamily="18" charset="0"/>
              </a:rPr>
              <a:t>CAD</a:t>
            </a:r>
            <a:endParaRPr lang="en-US" altLang="zh-CN" sz="2800" b="1" dirty="0">
              <a:latin typeface="Times New Roman" panose="02020603050405020304" pitchFamily="18" charset="0"/>
            </a:endParaRPr>
          </a:p>
        </p:txBody>
      </p:sp>
      <p:sp>
        <p:nvSpPr>
          <p:cNvPr id="5135" name="Line 22"/>
          <p:cNvSpPr/>
          <p:nvPr/>
        </p:nvSpPr>
        <p:spPr>
          <a:xfrm>
            <a:off x="7283450" y="4076700"/>
            <a:ext cx="0" cy="601663"/>
          </a:xfrm>
          <a:prstGeom prst="line">
            <a:avLst/>
          </a:prstGeom>
          <a:ln w="28575" cap="flat" cmpd="sng">
            <a:solidFill>
              <a:schemeClr val="tx1"/>
            </a:solidFill>
            <a:prstDash val="solid"/>
            <a:headEnd type="none" w="med" len="med"/>
            <a:tailEnd type="triangle" w="med" len="med"/>
          </a:ln>
        </p:spPr>
      </p:sp>
      <p:sp>
        <p:nvSpPr>
          <p:cNvPr id="5136" name="Text Box 23"/>
          <p:cNvSpPr txBox="1"/>
          <p:nvPr/>
        </p:nvSpPr>
        <p:spPr>
          <a:xfrm>
            <a:off x="6819900" y="4641850"/>
            <a:ext cx="936625" cy="520700"/>
          </a:xfrm>
          <a:prstGeom prst="rect">
            <a:avLst/>
          </a:prstGeom>
          <a:noFill/>
          <a:ln w="9525">
            <a:noFill/>
          </a:ln>
        </p:spPr>
        <p:txBody>
          <a:bodyPr>
            <a:spAutoFit/>
          </a:bodyPr>
          <a:p>
            <a:pPr algn="ctr" eaLnBrk="1" hangingPunct="1">
              <a:spcBef>
                <a:spcPct val="50000"/>
              </a:spcBef>
            </a:pPr>
            <a:r>
              <a:rPr lang="en-US" altLang="zh-CN" sz="2800" b="1" dirty="0">
                <a:latin typeface="Times New Roman" panose="02020603050405020304" pitchFamily="18" charset="0"/>
              </a:rPr>
              <a:t>CAE</a:t>
            </a:r>
            <a:endParaRPr lang="en-US" altLang="zh-CN" sz="2800" b="1" dirty="0">
              <a:latin typeface="Times New Roman" panose="02020603050405020304" pitchFamily="18" charset="0"/>
            </a:endParaRPr>
          </a:p>
        </p:txBody>
      </p:sp>
      <p:sp>
        <p:nvSpPr>
          <p:cNvPr id="5137" name="Text Box 25"/>
          <p:cNvSpPr txBox="1"/>
          <p:nvPr/>
        </p:nvSpPr>
        <p:spPr>
          <a:xfrm>
            <a:off x="6835775" y="5588000"/>
            <a:ext cx="936625" cy="519113"/>
          </a:xfrm>
          <a:prstGeom prst="rect">
            <a:avLst/>
          </a:prstGeom>
          <a:noFill/>
          <a:ln w="9525">
            <a:noFill/>
          </a:ln>
        </p:spPr>
        <p:txBody>
          <a:bodyPr>
            <a:spAutoFit/>
          </a:bodyPr>
          <a:p>
            <a:pPr algn="ctr" eaLnBrk="1" hangingPunct="1">
              <a:spcBef>
                <a:spcPct val="50000"/>
              </a:spcBef>
            </a:pPr>
            <a:r>
              <a:rPr lang="en-US" altLang="zh-CN" sz="2800" b="1" dirty="0">
                <a:latin typeface="Times New Roman" panose="02020603050405020304" pitchFamily="18" charset="0"/>
              </a:rPr>
              <a:t>EDA</a:t>
            </a:r>
            <a:endParaRPr lang="en-US" altLang="zh-CN" sz="2800" b="1" dirty="0">
              <a:latin typeface="Times New Roman" panose="02020603050405020304" pitchFamily="18" charset="0"/>
            </a:endParaRPr>
          </a:p>
        </p:txBody>
      </p:sp>
      <p:sp>
        <p:nvSpPr>
          <p:cNvPr id="5138" name="Line 32"/>
          <p:cNvSpPr/>
          <p:nvPr/>
        </p:nvSpPr>
        <p:spPr>
          <a:xfrm>
            <a:off x="7308850" y="5046663"/>
            <a:ext cx="0" cy="601662"/>
          </a:xfrm>
          <a:prstGeom prst="line">
            <a:avLst/>
          </a:prstGeom>
          <a:ln w="28575" cap="flat" cmpd="sng">
            <a:solidFill>
              <a:schemeClr val="tx1"/>
            </a:solidFill>
            <a:prstDash val="solid"/>
            <a:headEnd type="none" w="med" len="med"/>
            <a:tailEnd type="triangle" w="med" len="med"/>
          </a:ln>
        </p:spPr>
      </p:sp>
    </p:spTree>
  </p:cSld>
  <p:clrMapOvr>
    <a:masterClrMapping/>
  </p:clrMapOvr>
  <p:transition spd="slow">
    <p:zo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6310" name="Rectangle 6"/>
          <p:cNvSpPr>
            <a:spLocks noChangeArrowheads="1"/>
          </p:cNvSpPr>
          <p:nvPr/>
        </p:nvSpPr>
        <p:spPr bwMode="auto">
          <a:xfrm>
            <a:off x="660400" y="2038350"/>
            <a:ext cx="1998663" cy="547688"/>
          </a:xfrm>
          <a:prstGeom prst="rect">
            <a:avLst/>
          </a:prstGeom>
          <a:solidFill>
            <a:schemeClr val="accent5">
              <a:lumMod val="20000"/>
              <a:lumOff val="80000"/>
            </a:schemeClr>
          </a:solidFill>
          <a:ln w="28575">
            <a:solidFill>
              <a:schemeClr val="hlink"/>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系统级设计</a:t>
            </a: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6332" name="Rectangle 28"/>
          <p:cNvSpPr>
            <a:spLocks noChangeArrowheads="1"/>
          </p:cNvSpPr>
          <p:nvPr/>
        </p:nvSpPr>
        <p:spPr bwMode="auto">
          <a:xfrm>
            <a:off x="3148013" y="2022475"/>
            <a:ext cx="2355850" cy="547688"/>
          </a:xfrm>
          <a:prstGeom prst="rect">
            <a:avLst/>
          </a:prstGeom>
          <a:solidFill>
            <a:schemeClr val="accent5">
              <a:lumMod val="20000"/>
              <a:lumOff val="80000"/>
            </a:schemeClr>
          </a:solidFill>
          <a:ln w="28575">
            <a:solidFill>
              <a:schemeClr val="hlink"/>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rPr>
              <a:t>混合电路设计</a:t>
            </a:r>
            <a:endParaRPr kumimoji="0" lang="zh-CN" altLang="en-US" sz="2800" b="1" i="0" u="none" strike="noStrike" kern="1200" cap="none" spc="0" normalizeH="0" baseline="0" noProof="0" dirty="0">
              <a:ln>
                <a:noFill/>
              </a:ln>
              <a:solidFill>
                <a:schemeClr val="tx1"/>
              </a:solidFill>
              <a:effectLst/>
              <a:uLnTx/>
              <a:uFillTx/>
              <a:latin typeface="Arial" panose="020B0604020202020204" pitchFamily="34" charset="0"/>
              <a:ea typeface="楷体_GB2312" pitchFamily="49" charset="-122"/>
              <a:cs typeface="+mn-cs"/>
            </a:endParaRPr>
          </a:p>
        </p:txBody>
      </p:sp>
      <p:sp>
        <p:nvSpPr>
          <p:cNvPr id="226333" name="Rectangle 29"/>
          <p:cNvSpPr>
            <a:spLocks noChangeArrowheads="1"/>
          </p:cNvSpPr>
          <p:nvPr/>
        </p:nvSpPr>
        <p:spPr bwMode="auto">
          <a:xfrm>
            <a:off x="6061075" y="2038350"/>
            <a:ext cx="1998663" cy="547688"/>
          </a:xfrm>
          <a:prstGeom prst="rect">
            <a:avLst/>
          </a:prstGeom>
          <a:solidFill>
            <a:schemeClr val="accent5">
              <a:lumMod val="20000"/>
              <a:lumOff val="80000"/>
            </a:schemeClr>
          </a:solidFill>
          <a:ln w="28575">
            <a:solidFill>
              <a:schemeClr val="hlink"/>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综合与仿真</a:t>
            </a: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6334" name="Rectangle 30"/>
          <p:cNvSpPr>
            <a:spLocks noChangeArrowheads="1"/>
          </p:cNvSpPr>
          <p:nvPr/>
        </p:nvSpPr>
        <p:spPr bwMode="auto">
          <a:xfrm>
            <a:off x="500063" y="3268663"/>
            <a:ext cx="2355850" cy="547688"/>
          </a:xfrm>
          <a:prstGeom prst="rect">
            <a:avLst/>
          </a:prstGeom>
          <a:solidFill>
            <a:schemeClr val="accent5">
              <a:lumMod val="20000"/>
              <a:lumOff val="80000"/>
            </a:schemeClr>
          </a:solidFill>
          <a:ln w="28575">
            <a:solidFill>
              <a:schemeClr val="hlink"/>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数字电路设计</a:t>
            </a: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6335" name="Rectangle 31"/>
          <p:cNvSpPr>
            <a:spLocks noChangeArrowheads="1"/>
          </p:cNvSpPr>
          <p:nvPr/>
        </p:nvSpPr>
        <p:spPr bwMode="auto">
          <a:xfrm>
            <a:off x="5961063" y="3313113"/>
            <a:ext cx="2355850" cy="547688"/>
          </a:xfrm>
          <a:prstGeom prst="rect">
            <a:avLst/>
          </a:prstGeom>
          <a:solidFill>
            <a:schemeClr val="accent5">
              <a:lumMod val="20000"/>
              <a:lumOff val="80000"/>
            </a:schemeClr>
          </a:solidFill>
          <a:ln w="28575">
            <a:solidFill>
              <a:schemeClr val="hlink"/>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模拟电路设计</a:t>
            </a: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6336" name="Rectangle 32"/>
          <p:cNvSpPr>
            <a:spLocks noChangeArrowheads="1"/>
          </p:cNvSpPr>
          <p:nvPr/>
        </p:nvSpPr>
        <p:spPr bwMode="auto">
          <a:xfrm>
            <a:off x="755650" y="4537075"/>
            <a:ext cx="1641475" cy="547688"/>
          </a:xfrm>
          <a:prstGeom prst="rect">
            <a:avLst/>
          </a:prstGeom>
          <a:solidFill>
            <a:schemeClr val="accent5">
              <a:lumMod val="20000"/>
              <a:lumOff val="80000"/>
            </a:schemeClr>
          </a:solidFill>
          <a:ln w="28575">
            <a:solidFill>
              <a:schemeClr val="hlink"/>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版图设计</a:t>
            </a: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6337" name="Rectangle 33"/>
          <p:cNvSpPr>
            <a:spLocks noChangeArrowheads="1"/>
          </p:cNvSpPr>
          <p:nvPr/>
        </p:nvSpPr>
        <p:spPr bwMode="auto">
          <a:xfrm>
            <a:off x="3290888" y="4537075"/>
            <a:ext cx="2073275" cy="547688"/>
          </a:xfrm>
          <a:prstGeom prst="rect">
            <a:avLst/>
          </a:prstGeom>
          <a:solidFill>
            <a:schemeClr val="accent5">
              <a:lumMod val="20000"/>
              <a:lumOff val="80000"/>
            </a:schemeClr>
          </a:solidFill>
          <a:ln w="28575">
            <a:solidFill>
              <a:schemeClr val="hlink"/>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1"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PCB</a:t>
            </a:r>
            <a:r>
              <a:rPr kumimoji="0" lang="en-US" altLang="zh-CN"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 </a:t>
            </a:r>
            <a:r>
              <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板设计</a:t>
            </a: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6338" name="Rectangle 34"/>
          <p:cNvSpPr>
            <a:spLocks noChangeArrowheads="1"/>
          </p:cNvSpPr>
          <p:nvPr/>
        </p:nvSpPr>
        <p:spPr bwMode="auto">
          <a:xfrm>
            <a:off x="5878513" y="4537075"/>
            <a:ext cx="2355850" cy="547688"/>
          </a:xfrm>
          <a:prstGeom prst="rect">
            <a:avLst/>
          </a:prstGeom>
          <a:solidFill>
            <a:schemeClr val="accent5">
              <a:lumMod val="20000"/>
              <a:lumOff val="80000"/>
            </a:schemeClr>
          </a:solidFill>
          <a:ln w="28575">
            <a:solidFill>
              <a:schemeClr val="hlink"/>
            </a:solidFill>
            <a:miter lim="800000"/>
          </a:ln>
          <a:effectLst/>
        </p:spPr>
        <p:txBody>
          <a:bodyPr wrap="none" anchor="ctr">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高速电路设计</a:t>
            </a: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6339" name="Oval 35"/>
          <p:cNvSpPr>
            <a:spLocks noChangeArrowheads="1"/>
          </p:cNvSpPr>
          <p:nvPr/>
        </p:nvSpPr>
        <p:spPr bwMode="auto">
          <a:xfrm>
            <a:off x="3276600" y="3082925"/>
            <a:ext cx="2159000" cy="1008063"/>
          </a:xfrm>
          <a:prstGeom prst="ellipse">
            <a:avLst/>
          </a:prstGeom>
          <a:solidFill>
            <a:schemeClr val="accent5">
              <a:lumMod val="20000"/>
              <a:lumOff val="80000"/>
            </a:schemeClr>
          </a:solidFill>
          <a:ln w="28575">
            <a:solidFill>
              <a:srgbClr val="0000FF"/>
            </a:solidFill>
            <a:round/>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800" b="1" i="1"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EDA</a:t>
            </a:r>
            <a:r>
              <a:rPr kumimoji="0" lang="en-US" altLang="zh-CN" sz="2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工具</a:t>
            </a:r>
            <a:endParaRPr kumimoji="0" lang="zh-CN" altLang="en-US" sz="28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7179" name="Line 36"/>
          <p:cNvSpPr/>
          <p:nvPr/>
        </p:nvSpPr>
        <p:spPr>
          <a:xfrm flipH="1" flipV="1">
            <a:off x="1979613" y="2651125"/>
            <a:ext cx="1439862" cy="647700"/>
          </a:xfrm>
          <a:prstGeom prst="line">
            <a:avLst/>
          </a:prstGeom>
          <a:ln w="44450" cap="flat" cmpd="sng">
            <a:solidFill>
              <a:srgbClr val="000000"/>
            </a:solidFill>
            <a:prstDash val="solid"/>
            <a:headEnd type="none" w="med" len="med"/>
            <a:tailEnd type="stealth" w="med" len="med"/>
          </a:ln>
        </p:spPr>
      </p:sp>
      <p:sp>
        <p:nvSpPr>
          <p:cNvPr id="7180" name="Line 37"/>
          <p:cNvSpPr/>
          <p:nvPr/>
        </p:nvSpPr>
        <p:spPr>
          <a:xfrm flipV="1">
            <a:off x="4324350" y="2578100"/>
            <a:ext cx="0" cy="504825"/>
          </a:xfrm>
          <a:prstGeom prst="line">
            <a:avLst/>
          </a:prstGeom>
          <a:ln w="44450" cap="flat" cmpd="sng">
            <a:solidFill>
              <a:srgbClr val="000000"/>
            </a:solidFill>
            <a:prstDash val="solid"/>
            <a:headEnd type="none" w="med" len="med"/>
            <a:tailEnd type="stealth" w="med" len="med"/>
          </a:ln>
        </p:spPr>
      </p:sp>
      <p:sp>
        <p:nvSpPr>
          <p:cNvPr id="7181" name="Line 38"/>
          <p:cNvSpPr/>
          <p:nvPr/>
        </p:nvSpPr>
        <p:spPr>
          <a:xfrm flipV="1">
            <a:off x="5292725" y="2651125"/>
            <a:ext cx="1366838" cy="647700"/>
          </a:xfrm>
          <a:prstGeom prst="line">
            <a:avLst/>
          </a:prstGeom>
          <a:ln w="44450" cap="flat" cmpd="sng">
            <a:solidFill>
              <a:srgbClr val="000000"/>
            </a:solidFill>
            <a:prstDash val="solid"/>
            <a:headEnd type="none" w="med" len="med"/>
            <a:tailEnd type="stealth" w="med" len="med"/>
          </a:ln>
        </p:spPr>
      </p:sp>
      <p:sp>
        <p:nvSpPr>
          <p:cNvPr id="7182" name="Line 39"/>
          <p:cNvSpPr/>
          <p:nvPr/>
        </p:nvSpPr>
        <p:spPr>
          <a:xfrm flipH="1">
            <a:off x="2843213" y="3587750"/>
            <a:ext cx="433387" cy="0"/>
          </a:xfrm>
          <a:prstGeom prst="line">
            <a:avLst/>
          </a:prstGeom>
          <a:ln w="44450" cap="flat" cmpd="sng">
            <a:solidFill>
              <a:srgbClr val="000000"/>
            </a:solidFill>
            <a:prstDash val="solid"/>
            <a:headEnd type="none" w="med" len="med"/>
            <a:tailEnd type="stealth" w="med" len="med"/>
          </a:ln>
        </p:spPr>
      </p:sp>
      <p:sp>
        <p:nvSpPr>
          <p:cNvPr id="7183" name="Line 40"/>
          <p:cNvSpPr/>
          <p:nvPr/>
        </p:nvSpPr>
        <p:spPr>
          <a:xfrm>
            <a:off x="5435600" y="3587750"/>
            <a:ext cx="504825" cy="0"/>
          </a:xfrm>
          <a:prstGeom prst="line">
            <a:avLst/>
          </a:prstGeom>
          <a:ln w="44450" cap="flat" cmpd="sng">
            <a:solidFill>
              <a:srgbClr val="000000"/>
            </a:solidFill>
            <a:prstDash val="solid"/>
            <a:headEnd type="none" w="med" len="med"/>
            <a:tailEnd type="stealth" w="med" len="med"/>
          </a:ln>
        </p:spPr>
      </p:sp>
      <p:sp>
        <p:nvSpPr>
          <p:cNvPr id="7184" name="Line 41"/>
          <p:cNvSpPr/>
          <p:nvPr/>
        </p:nvSpPr>
        <p:spPr>
          <a:xfrm flipH="1">
            <a:off x="1908175" y="3875088"/>
            <a:ext cx="1511300" cy="647700"/>
          </a:xfrm>
          <a:prstGeom prst="line">
            <a:avLst/>
          </a:prstGeom>
          <a:ln w="44450" cap="flat" cmpd="sng">
            <a:solidFill>
              <a:srgbClr val="000000"/>
            </a:solidFill>
            <a:prstDash val="solid"/>
            <a:headEnd type="none" w="med" len="med"/>
            <a:tailEnd type="stealth" w="med" len="med"/>
          </a:ln>
        </p:spPr>
      </p:sp>
      <p:sp>
        <p:nvSpPr>
          <p:cNvPr id="7185" name="Line 42"/>
          <p:cNvSpPr/>
          <p:nvPr/>
        </p:nvSpPr>
        <p:spPr>
          <a:xfrm>
            <a:off x="4332288" y="4090988"/>
            <a:ext cx="0" cy="431800"/>
          </a:xfrm>
          <a:prstGeom prst="line">
            <a:avLst/>
          </a:prstGeom>
          <a:ln w="44450" cap="flat" cmpd="sng">
            <a:solidFill>
              <a:srgbClr val="000000"/>
            </a:solidFill>
            <a:prstDash val="solid"/>
            <a:headEnd type="none" w="med" len="med"/>
            <a:tailEnd type="stealth" w="med" len="med"/>
          </a:ln>
        </p:spPr>
      </p:sp>
      <p:sp>
        <p:nvSpPr>
          <p:cNvPr id="7186" name="Line 43"/>
          <p:cNvSpPr/>
          <p:nvPr/>
        </p:nvSpPr>
        <p:spPr>
          <a:xfrm>
            <a:off x="5148263" y="3946525"/>
            <a:ext cx="1655762" cy="576263"/>
          </a:xfrm>
          <a:prstGeom prst="line">
            <a:avLst/>
          </a:prstGeom>
          <a:ln w="44450" cap="flat" cmpd="sng">
            <a:solidFill>
              <a:srgbClr val="000000"/>
            </a:solidFill>
            <a:prstDash val="solid"/>
            <a:headEnd type="none" w="med" len="med"/>
            <a:tailEnd type="stealth" w="med" len="med"/>
          </a:ln>
        </p:spPr>
      </p:sp>
      <p:sp>
        <p:nvSpPr>
          <p:cNvPr id="7187" name="Line 44"/>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
        <p:nvSpPr>
          <p:cNvPr id="226349" name="Rectangle 45"/>
          <p:cNvSpPr>
            <a:spLocks noGrp="1" noRot="1" noChangeArrowheads="1"/>
          </p:cNvSpPr>
          <p:nvPr>
            <p:ph type="title"/>
          </p:nvPr>
        </p:nvSpPr>
        <p:spPr>
          <a:xfrm>
            <a:off x="468313" y="593725"/>
            <a:ext cx="7772400" cy="647700"/>
          </a:xfrm>
        </p:spPr>
        <p:txBody>
          <a:bodyPr vert="horz" wrap="square" lIns="91440" tIns="45720" rIns="91440" bIns="45720" numCol="1" rtlCol="0" anchor="ctr" anchorCtr="0" compatLnSpc="1">
            <a:no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4000" b="1" i="0" u="none" strike="noStrike" kern="1200" cap="none" spc="0" normalizeH="0" baseline="0" noProof="0" dirty="0" smtClean="0">
                <a:ln>
                  <a:noFill/>
                </a:ln>
                <a:solidFill>
                  <a:schemeClr val="hlink"/>
                </a:solidFill>
                <a:effectLst/>
                <a:uLnTx/>
                <a:uFillTx/>
                <a:latin typeface="+mn-ea"/>
                <a:ea typeface="+mn-ea"/>
                <a:cs typeface="+mj-cs"/>
              </a:rPr>
              <a:t>EDA</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rPr>
              <a:t>技术的功能和范畴</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endParaRPr>
          </a:p>
        </p:txBody>
      </p:sp>
    </p:spTree>
  </p:cSld>
  <p:clrMapOvr>
    <a:masterClrMapping/>
  </p:clrMapOvr>
  <p:transition spd="slow">
    <p:pull dir="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8" name="Text Box 2"/>
          <p:cNvSpPr txBox="1">
            <a:spLocks noChangeArrowheads="1"/>
          </p:cNvSpPr>
          <p:nvPr/>
        </p:nvSpPr>
        <p:spPr bwMode="auto">
          <a:xfrm>
            <a:off x="395288" y="1933575"/>
            <a:ext cx="8424863" cy="3662363"/>
          </a:xfrm>
          <a:prstGeom prst="rect">
            <a:avLst/>
          </a:prstGeom>
          <a:solidFill>
            <a:schemeClr val="accent5">
              <a:lumMod val="20000"/>
              <a:lumOff val="80000"/>
            </a:schemeClr>
          </a:solidFill>
          <a:ln w="28575">
            <a:solidFill>
              <a:srgbClr val="808080"/>
            </a:solidFill>
            <a:miter lim="800000"/>
          </a:ln>
          <a:effectLst/>
        </p:spPr>
        <p:txBody>
          <a:bodyPr>
            <a:spAutoFit/>
          </a:bodyPr>
          <a:lstStyle/>
          <a:p>
            <a:pPr marR="0" defTabSz="914400" eaLnBrk="1" hangingPunct="1">
              <a:lnSpc>
                <a:spcPct val="120000"/>
              </a:lnSpc>
              <a:spcBef>
                <a:spcPct val="30000"/>
              </a:spcBef>
              <a:buClr>
                <a:srgbClr val="FF66CC"/>
              </a:buClr>
              <a:buSzTx/>
              <a:buFont typeface="Wingdings" panose="05000000000000000000" pitchFamily="2" charset="2"/>
              <a:buNone/>
              <a:defRPr/>
            </a:pPr>
            <a:r>
              <a:rPr kumimoji="1" lang="en-US" altLang="zh-CN" sz="2800" b="1" kern="1200" cap="none" spc="0" normalizeH="0" baseline="0" noProof="0" dirty="0">
                <a:solidFill>
                  <a:srgbClr val="000000"/>
                </a:solidFill>
                <a:latin typeface="Times New Roman" panose="02020603050405020304" pitchFamily="18" charset="0"/>
                <a:ea typeface="楷体_GB2312" pitchFamily="49" charset="-122"/>
                <a:cs typeface="+mn-cs"/>
              </a:rPr>
              <a:t>		        </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即电子设计自动化，其依赖功能强大的计算机，在 </a:t>
            </a:r>
            <a:r>
              <a:rPr kumimoji="1" lang="en-US" altLang="zh-CN" sz="2800" b="1" i="1" kern="1200" cap="none" spc="0" normalizeH="0" baseline="0" noProof="0" dirty="0">
                <a:solidFill>
                  <a:srgbClr val="000000"/>
                </a:solidFill>
                <a:latin typeface="Times New Roman" panose="02020603050405020304" pitchFamily="18" charset="0"/>
                <a:ea typeface="楷体_GB2312" pitchFamily="49" charset="-122"/>
                <a:cs typeface="+mn-cs"/>
              </a:rPr>
              <a:t>EDA</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工具软件平台上，对以硬件描述语言</a:t>
            </a:r>
            <a:r>
              <a:rPr kumimoji="1" lang="en-US" altLang="zh-CN" sz="2800" b="1" kern="1200" cap="none" spc="0" normalizeH="0" baseline="0" noProof="0" dirty="0">
                <a:solidFill>
                  <a:srgbClr val="000000"/>
                </a:solidFill>
                <a:latin typeface="Times New Roman" panose="02020603050405020304" pitchFamily="18" charset="0"/>
                <a:ea typeface="楷体_GB2312" pitchFamily="49" charset="-122"/>
                <a:cs typeface="+mn-cs"/>
              </a:rPr>
              <a:t>(</a:t>
            </a:r>
            <a:r>
              <a:rPr kumimoji="1" lang="en-US" altLang="zh-CN" sz="2800" b="1" i="1" kern="1200" cap="none" spc="0" normalizeH="0" baseline="0" noProof="0" dirty="0">
                <a:solidFill>
                  <a:srgbClr val="000000"/>
                </a:solidFill>
                <a:latin typeface="Times New Roman" panose="02020603050405020304" pitchFamily="18" charset="0"/>
                <a:ea typeface="楷体_GB2312" pitchFamily="49" charset="-122"/>
                <a:cs typeface="+mn-cs"/>
              </a:rPr>
              <a:t>HDL</a:t>
            </a:r>
            <a:r>
              <a:rPr kumimoji="1" lang="en-US" altLang="zh-CN" sz="2800" b="1" kern="1200" cap="none" spc="0" normalizeH="0" baseline="0" noProof="0" dirty="0">
                <a:solidFill>
                  <a:srgbClr val="000000"/>
                </a:solidFill>
                <a:latin typeface="Times New Roman" panose="02020603050405020304" pitchFamily="18" charset="0"/>
                <a:ea typeface="楷体_GB2312" pitchFamily="49" charset="-122"/>
                <a:cs typeface="+mn-cs"/>
              </a:rPr>
              <a:t>)</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为系统逻辑描述手段完成的设计文件，自动地完成逻辑编译、逻辑化简、逻辑分割、逻辑综合、布局布线，以及逻辑优化和仿真测试，直至物理实现既定的电子设计系统功能。可以说：</a:t>
            </a:r>
            <a:r>
              <a:rPr kumimoji="1" lang="en-US" altLang="zh-CN" sz="2800" b="1" i="1" kern="1200" cap="none" spc="0" normalizeH="0" baseline="0" noProof="0" dirty="0">
                <a:solidFill>
                  <a:srgbClr val="FF0000"/>
                </a:solidFill>
                <a:latin typeface="Times New Roman" panose="02020603050405020304" pitchFamily="18" charset="0"/>
                <a:ea typeface="楷体_GB2312" pitchFamily="49" charset="-122"/>
                <a:cs typeface="+mn-cs"/>
              </a:rPr>
              <a:t>EDA</a:t>
            </a:r>
            <a:r>
              <a:rPr kumimoji="1" lang="zh-CN" altLang="en-US" sz="2800" b="1" kern="1200" cap="none" spc="0" normalizeH="0" baseline="0" noProof="0" dirty="0">
                <a:solidFill>
                  <a:srgbClr val="FF0000"/>
                </a:solidFill>
                <a:latin typeface="Times New Roman" panose="02020603050405020304" pitchFamily="18" charset="0"/>
                <a:ea typeface="楷体_GB2312" pitchFamily="49" charset="-122"/>
                <a:cs typeface="+mn-cs"/>
              </a:rPr>
              <a:t>技术 等于 </a:t>
            </a:r>
            <a:r>
              <a:rPr kumimoji="1" lang="en-US" altLang="zh-CN" sz="2800" b="1" i="1" kern="1200" cap="none" spc="0" normalizeH="0" baseline="0" noProof="0" dirty="0">
                <a:solidFill>
                  <a:srgbClr val="FF0000"/>
                </a:solidFill>
                <a:latin typeface="Times New Roman" panose="02020603050405020304" pitchFamily="18" charset="0"/>
                <a:ea typeface="楷体_GB2312" pitchFamily="49" charset="-122"/>
                <a:cs typeface="+mn-cs"/>
              </a:rPr>
              <a:t>HDL+EDA</a:t>
            </a:r>
            <a:r>
              <a:rPr kumimoji="1" lang="zh-CN" altLang="en-US" sz="2800" b="1" kern="1200" cap="none" spc="0" normalizeH="0" baseline="0" noProof="0" dirty="0">
                <a:solidFill>
                  <a:srgbClr val="FF0000"/>
                </a:solidFill>
                <a:latin typeface="Times New Roman" panose="02020603050405020304" pitchFamily="18" charset="0"/>
                <a:ea typeface="楷体_GB2312" pitchFamily="49" charset="-122"/>
                <a:cs typeface="+mn-cs"/>
              </a:rPr>
              <a:t>工具</a:t>
            </a:r>
            <a:r>
              <a:rPr kumimoji="1" lang="zh-CN" altLang="en-US" sz="2800" b="1" i="1" kern="1200" cap="none" spc="0" normalizeH="0" baseline="0" noProof="0" dirty="0">
                <a:solidFill>
                  <a:srgbClr val="FF0000"/>
                </a:solidFill>
                <a:latin typeface="Times New Roman" panose="02020603050405020304" pitchFamily="18" charset="0"/>
                <a:ea typeface="楷体_GB2312" pitchFamily="49" charset="-122"/>
                <a:cs typeface="+mn-cs"/>
              </a:rPr>
              <a:t> </a:t>
            </a:r>
            <a:r>
              <a:rPr kumimoji="1" lang="zh-CN" altLang="en-US" sz="2800" b="1" kern="1200" cap="none" spc="0" normalizeH="0" baseline="0" noProof="0" dirty="0">
                <a:solidFill>
                  <a:srgbClr val="FF0000"/>
                </a:solidFill>
                <a:latin typeface="Times New Roman" panose="02020603050405020304" pitchFamily="18" charset="0"/>
                <a:ea typeface="楷体_GB2312" pitchFamily="49" charset="-122"/>
                <a:cs typeface="+mn-cs"/>
              </a:rPr>
              <a:t>。</a:t>
            </a:r>
            <a:endParaRPr kumimoji="1" lang="zh-CN" altLang="en-US" sz="2800" b="1" kern="1200" cap="none" spc="0" normalizeH="0" baseline="0" noProof="0" dirty="0">
              <a:solidFill>
                <a:srgbClr val="FF0000"/>
              </a:solidFill>
              <a:latin typeface="Times New Roman" panose="02020603050405020304" pitchFamily="18" charset="0"/>
              <a:ea typeface="楷体_GB2312" pitchFamily="49" charset="-122"/>
              <a:cs typeface="+mn-cs"/>
            </a:endParaRPr>
          </a:p>
        </p:txBody>
      </p:sp>
      <p:sp>
        <p:nvSpPr>
          <p:cNvPr id="9219" name="Line 3"/>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
        <p:nvSpPr>
          <p:cNvPr id="121860" name="Rectangle 4"/>
          <p:cNvSpPr>
            <a:spLocks noGrp="1" noRot="1" noChangeArrowheads="1"/>
          </p:cNvSpPr>
          <p:nvPr>
            <p:ph type="title"/>
          </p:nvPr>
        </p:nvSpPr>
        <p:spPr>
          <a:xfrm>
            <a:off x="452438" y="485775"/>
            <a:ext cx="7772400" cy="701675"/>
          </a:xfrm>
        </p:spPr>
        <p:txBody>
          <a:bodyPr vert="horz" wrap="square" lIns="91440" tIns="45720" rIns="91440" bIns="45720" numCol="1" rtlCol="0" anchor="ctr" anchorCtr="0" compatLnSpc="1">
            <a:no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4000" b="1" i="0" u="none" strike="noStrike" kern="1200" cap="none" spc="0" normalizeH="0" baseline="0" noProof="0" smtClean="0">
                <a:ln>
                  <a:noFill/>
                </a:ln>
                <a:solidFill>
                  <a:schemeClr val="hlink"/>
                </a:solidFill>
                <a:effectLst/>
                <a:uLnTx/>
                <a:uFillTx/>
                <a:latin typeface="+mn-ea"/>
                <a:ea typeface="+mn-ea"/>
                <a:cs typeface="+mj-cs"/>
              </a:rPr>
              <a:t>EDA </a:t>
            </a:r>
            <a:r>
              <a:rPr kumimoji="0" lang="zh-CN" altLang="en-US" sz="4000" b="1" i="0" u="none" strike="noStrike" kern="1200" cap="none" spc="0" normalizeH="0" baseline="0" noProof="0" smtClean="0">
                <a:ln>
                  <a:noFill/>
                </a:ln>
                <a:solidFill>
                  <a:schemeClr val="hlink"/>
                </a:solidFill>
                <a:effectLst/>
                <a:uLnTx/>
                <a:uFillTx/>
                <a:latin typeface="+mn-ea"/>
                <a:ea typeface="+mn-ea"/>
                <a:cs typeface="+mj-cs"/>
              </a:rPr>
              <a:t>技术</a:t>
            </a:r>
            <a:endParaRPr kumimoji="0" lang="zh-CN" altLang="en-US" sz="4000" b="1" i="0" u="none" strike="noStrike" kern="1200" cap="none" spc="0" normalizeH="0" baseline="0" noProof="0" smtClean="0">
              <a:ln>
                <a:noFill/>
              </a:ln>
              <a:solidFill>
                <a:schemeClr val="hlink"/>
              </a:solidFill>
              <a:effectLst/>
              <a:uLnTx/>
              <a:uFillTx/>
              <a:latin typeface="+mn-ea"/>
              <a:ea typeface="+mn-ea"/>
              <a:cs typeface="+mj-cs"/>
            </a:endParaRPr>
          </a:p>
        </p:txBody>
      </p:sp>
      <p:sp>
        <p:nvSpPr>
          <p:cNvPr id="9221" name="Rectangle 6"/>
          <p:cNvSpPr/>
          <p:nvPr/>
        </p:nvSpPr>
        <p:spPr>
          <a:xfrm>
            <a:off x="452438" y="1947863"/>
            <a:ext cx="2533650" cy="530225"/>
          </a:xfrm>
          <a:prstGeom prst="rect">
            <a:avLst/>
          </a:prstGeom>
          <a:solidFill>
            <a:schemeClr val="accent1"/>
          </a:solidFill>
          <a:ln w="9525">
            <a:noFill/>
          </a:ln>
        </p:spPr>
        <p:txBody>
          <a:bodyPr>
            <a:spAutoFit/>
          </a:bodyPr>
          <a:p>
            <a:pPr eaLnBrk="1" hangingPunct="1">
              <a:lnSpc>
                <a:spcPct val="90000"/>
              </a:lnSpc>
              <a:buFont typeface="Wingdings" panose="05000000000000000000" pitchFamily="2" charset="2"/>
              <a:buChar char="Ø"/>
            </a:pPr>
            <a:r>
              <a:rPr lang="en-US" altLang="zh-CN" sz="3200" b="1" i="1" dirty="0">
                <a:solidFill>
                  <a:srgbClr val="FF0000"/>
                </a:solidFill>
                <a:latin typeface="Times New Roman" panose="02020603050405020304" pitchFamily="18" charset="0"/>
                <a:ea typeface="楷体_GB2312" pitchFamily="49" charset="-122"/>
              </a:rPr>
              <a:t> EDA </a:t>
            </a:r>
            <a:r>
              <a:rPr lang="zh-CN" altLang="en-US" sz="3200" b="1" dirty="0">
                <a:solidFill>
                  <a:srgbClr val="FF0000"/>
                </a:solidFill>
                <a:latin typeface="Times New Roman" panose="02020603050405020304" pitchFamily="18" charset="0"/>
                <a:ea typeface="楷体_GB2312" pitchFamily="49" charset="-122"/>
              </a:rPr>
              <a:t>技术</a:t>
            </a:r>
            <a:r>
              <a:rPr lang="zh-CN" altLang="en-US" sz="3200" b="1" dirty="0">
                <a:solidFill>
                  <a:srgbClr val="CC0000"/>
                </a:solidFill>
                <a:latin typeface="Times New Roman" panose="02020603050405020304" pitchFamily="18" charset="0"/>
                <a:ea typeface="楷体_GB2312" pitchFamily="49" charset="-122"/>
              </a:rPr>
              <a:t>：</a:t>
            </a:r>
            <a:endParaRPr lang="zh-CN" altLang="en-US" sz="3200" b="1" dirty="0">
              <a:solidFill>
                <a:srgbClr val="CC0000"/>
              </a:solidFill>
              <a:latin typeface="Times New Roman" panose="02020603050405020304" pitchFamily="18" charset="0"/>
              <a:ea typeface="楷体_GB2312" pitchFamily="49" charset="-122"/>
            </a:endParaRPr>
          </a:p>
        </p:txBody>
      </p:sp>
    </p:spTree>
  </p:cSld>
  <p:clrMapOvr>
    <a:masterClrMapping/>
  </p:clrMapOvr>
  <p:transition spd="slow">
    <p:diamon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1858">
                                            <p:txEl>
                                              <p:charRg st="0" end="159"/>
                                            </p:txEl>
                                          </p:spTgt>
                                        </p:tgtEl>
                                        <p:attrNameLst>
                                          <p:attrName>style.visibility</p:attrName>
                                        </p:attrNameLst>
                                      </p:cBhvr>
                                      <p:to>
                                        <p:strVal val="visible"/>
                                      </p:to>
                                    </p:set>
                                    <p:animEffect transition="in" filter="blinds(horizontal)">
                                      <p:cBhvr>
                                        <p:cTn id="7" dur="500"/>
                                        <p:tgtEl>
                                          <p:spTgt spid="121858">
                                            <p:txEl>
                                              <p:charRg st="0" end="15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1907" name="Rectangle 3"/>
          <p:cNvSpPr>
            <a:spLocks noGrp="1" noRot="1" noChangeArrowheads="1"/>
          </p:cNvSpPr>
          <p:nvPr>
            <p:ph idx="1"/>
          </p:nvPr>
        </p:nvSpPr>
        <p:spPr>
          <a:xfrm>
            <a:off x="682625" y="1989138"/>
            <a:ext cx="7850188" cy="1865313"/>
          </a:xfrm>
          <a:solidFill>
            <a:schemeClr val="accent5">
              <a:lumMod val="20000"/>
              <a:lumOff val="80000"/>
            </a:schemeClr>
          </a:solidFill>
          <a:ln w="31750">
            <a:solidFill>
              <a:schemeClr val="folHlink"/>
            </a:solidFill>
            <a:miter lim="800000"/>
          </a:ln>
        </p:spPr>
        <p:txBody>
          <a:bodyPr vert="horz" wrap="square" lIns="91440" tIns="45720" rIns="91440" bIns="45720" numCol="1" rtlCol="0" anchor="t" anchorCtr="0" compatLnSpc="1">
            <a:spAutoFit/>
          </a:bodyPr>
          <a:lstStyle/>
          <a:p>
            <a:pPr marL="171450" marR="0" lvl="0" indent="-171450" algn="l" defTabSz="685800" rtl="0" eaLnBrk="1" fontAlgn="auto" latinLnBrk="0" hangingPunct="1">
              <a:lnSpc>
                <a:spcPct val="90000"/>
              </a:lnSpc>
              <a:spcBef>
                <a:spcPct val="0"/>
              </a:spcBef>
              <a:spcAft>
                <a:spcPts val="0"/>
              </a:spcAft>
              <a:buClr>
                <a:srgbClr val="FF66CC"/>
              </a:buClr>
              <a:buSzTx/>
              <a:buFont typeface="Wingdings" panose="05000000000000000000" pitchFamily="2" charset="2"/>
              <a:buNone/>
              <a:defRPr/>
            </a:pPr>
            <a:r>
              <a:rPr kumimoji="1" lang="en-US" altLang="zh-CN"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1"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那么我们为什么要使用 </a:t>
            </a:r>
            <a:r>
              <a:rPr kumimoji="1" lang="en-US" altLang="zh-CN" sz="32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EDA </a:t>
            </a:r>
            <a:r>
              <a:rPr kumimoji="1"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技术，利用其设计电子电路时有什么优点呢？我们首先讨论一下数字集成电路的描述方法和设计方法？</a:t>
            </a:r>
            <a:endParaRPr kumimoji="0" lang="zh-CN" altLang="en-US" sz="3200" b="0" i="0"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ransition spd="slow">
    <p:pull dir="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6" name="Text Box 2"/>
          <p:cNvSpPr txBox="1">
            <a:spLocks noChangeArrowheads="1"/>
          </p:cNvSpPr>
          <p:nvPr/>
        </p:nvSpPr>
        <p:spPr bwMode="auto">
          <a:xfrm>
            <a:off x="539750" y="4203700"/>
            <a:ext cx="7920038" cy="1530350"/>
          </a:xfrm>
          <a:prstGeom prst="rect">
            <a:avLst/>
          </a:prstGeom>
          <a:solidFill>
            <a:schemeClr val="accent4">
              <a:lumMod val="20000"/>
              <a:lumOff val="80000"/>
            </a:schemeClr>
          </a:solidFill>
          <a:ln w="28575">
            <a:solidFill>
              <a:srgbClr val="808080"/>
            </a:solidFill>
            <a:miter lim="800000"/>
          </a:ln>
          <a:effectLst/>
        </p:spPr>
        <p:txBody>
          <a:bodyPr>
            <a:spAutoFit/>
          </a:bodyPr>
          <a:lstStyle/>
          <a:p>
            <a:pPr marR="0" defTabSz="914400" eaLnBrk="1" hangingPunct="1">
              <a:lnSpc>
                <a:spcPct val="110000"/>
              </a:lnSpc>
              <a:buClrTx/>
              <a:buSzTx/>
              <a:buFontTx/>
              <a:buNone/>
              <a:defRPr/>
            </a:pPr>
            <a:r>
              <a:rPr kumimoji="1" lang="en-US" altLang="zh-CN" sz="2800" b="1" kern="1200" cap="none" spc="0" normalizeH="0" baseline="0" noProof="0" dirty="0">
                <a:latin typeface="Times New Roman" panose="02020603050405020304" pitchFamily="18" charset="0"/>
                <a:ea typeface="楷体_GB2312" pitchFamily="49" charset="-122"/>
                <a:cs typeface="+mn-cs"/>
              </a:rPr>
              <a:t>         </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从设计方法学的角度来看，基于 </a:t>
            </a:r>
            <a:r>
              <a:rPr kumimoji="1" lang="en-US" altLang="zh-CN" sz="2800" b="1" i="1" kern="1200" cap="none" spc="0" normalizeH="0" baseline="0" noProof="0" dirty="0">
                <a:solidFill>
                  <a:srgbClr val="000000"/>
                </a:solidFill>
                <a:latin typeface="Times New Roman" panose="02020603050405020304" pitchFamily="18" charset="0"/>
                <a:ea typeface="楷体_GB2312" pitchFamily="49" charset="-122"/>
                <a:cs typeface="+mn-cs"/>
              </a:rPr>
              <a:t>EDA </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技术设计中，有两种基本的</a:t>
            </a:r>
            <a:r>
              <a:rPr kumimoji="1" lang="zh-CN" altLang="en-US" sz="2800" b="1" kern="1200" cap="none" spc="0" normalizeH="0" baseline="0" noProof="0" dirty="0">
                <a:solidFill>
                  <a:srgbClr val="FF0000"/>
                </a:solidFill>
                <a:latin typeface="Times New Roman" panose="02020603050405020304" pitchFamily="18" charset="0"/>
                <a:ea typeface="楷体_GB2312" pitchFamily="49" charset="-122"/>
                <a:cs typeface="+mn-cs"/>
              </a:rPr>
              <a:t>设计思路</a:t>
            </a:r>
            <a:r>
              <a:rPr kumimoji="1" lang="zh-CN" altLang="en-US" sz="2800" b="1" kern="1200" cap="none" spc="0" normalizeH="0" baseline="0" noProof="0" dirty="0">
                <a:solidFill>
                  <a:srgbClr val="669900"/>
                </a:solidFill>
                <a:latin typeface="Times New Roman" panose="02020603050405020304" pitchFamily="18" charset="0"/>
                <a:ea typeface="楷体_GB2312" pitchFamily="49" charset="-122"/>
                <a:cs typeface="+mn-cs"/>
              </a:rPr>
              <a:t>（自顶向下和自底向上）</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a:t>
            </a:r>
            <a:r>
              <a:rPr kumimoji="1" lang="zh-CN" altLang="en-US" sz="2400" b="1" kern="1200" cap="none" spc="0" normalizeH="0" baseline="0" noProof="0" dirty="0">
                <a:solidFill>
                  <a:srgbClr val="000000"/>
                </a:solidFill>
                <a:latin typeface="Times New Roman" panose="02020603050405020304" pitchFamily="18" charset="0"/>
                <a:ea typeface="楷体_GB2312" pitchFamily="49" charset="-122"/>
                <a:cs typeface="+mn-cs"/>
              </a:rPr>
              <a:t> </a:t>
            </a:r>
            <a:endParaRPr kumimoji="1" lang="zh-CN" altLang="en-US" sz="2800" b="1" kern="1200" cap="none" spc="0" normalizeH="0" baseline="0" noProof="0" dirty="0">
              <a:solidFill>
                <a:srgbClr val="FF0000"/>
              </a:solidFill>
              <a:latin typeface="Times New Roman" panose="02020603050405020304" pitchFamily="18" charset="0"/>
              <a:ea typeface="楷体_GB2312" pitchFamily="49" charset="-122"/>
              <a:cs typeface="+mn-cs"/>
            </a:endParaRPr>
          </a:p>
        </p:txBody>
      </p:sp>
      <p:sp>
        <p:nvSpPr>
          <p:cNvPr id="12291" name="Line 3"/>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
        <p:nvSpPr>
          <p:cNvPr id="123908" name="Rectangle 4"/>
          <p:cNvSpPr>
            <a:spLocks noGrp="1" noRot="1" noChangeArrowheads="1"/>
          </p:cNvSpPr>
          <p:nvPr>
            <p:ph type="title"/>
          </p:nvPr>
        </p:nvSpPr>
        <p:spPr>
          <a:xfrm>
            <a:off x="538163" y="546100"/>
            <a:ext cx="7200900" cy="576263"/>
          </a:xfrm>
        </p:spPr>
        <p:txBody>
          <a:bodyPr vert="horz" wrap="square" lIns="91440" tIns="45720" rIns="91440" bIns="45720" numCol="1" rtlCol="0" anchor="ctr" anchorCtr="0" compatLnSpc="1">
            <a:no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rPr>
              <a:t>数字集成电路的描述与设计</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123909" name="Text Box 5"/>
          <p:cNvSpPr txBox="1">
            <a:spLocks noChangeArrowheads="1"/>
          </p:cNvSpPr>
          <p:nvPr/>
        </p:nvSpPr>
        <p:spPr bwMode="auto">
          <a:xfrm>
            <a:off x="539750" y="1827213"/>
            <a:ext cx="7920038" cy="2133600"/>
          </a:xfrm>
          <a:prstGeom prst="rect">
            <a:avLst/>
          </a:prstGeom>
          <a:solidFill>
            <a:schemeClr val="accent5">
              <a:lumMod val="20000"/>
              <a:lumOff val="80000"/>
            </a:schemeClr>
          </a:solidFill>
          <a:ln w="28575">
            <a:solidFill>
              <a:srgbClr val="808080"/>
            </a:solidFill>
            <a:miter lim="800000"/>
          </a:ln>
          <a:effectLst/>
        </p:spPr>
        <p:txBody>
          <a:bodyPr>
            <a:spAutoFit/>
          </a:bodyPr>
          <a:lstStyle/>
          <a:p>
            <a:pPr marR="0" defTabSz="914400" eaLnBrk="1" hangingPunct="1">
              <a:lnSpc>
                <a:spcPct val="110000"/>
              </a:lnSpc>
              <a:buClrTx/>
              <a:buSzTx/>
              <a:buFontTx/>
              <a:buNone/>
              <a:defRPr/>
            </a:pPr>
            <a:r>
              <a:rPr kumimoji="1" lang="en-US" altLang="zh-CN" sz="2800" b="1" kern="1200" cap="none" spc="0" normalizeH="0" baseline="0" noProof="0" dirty="0">
                <a:solidFill>
                  <a:srgbClr val="000000"/>
                </a:solidFill>
                <a:latin typeface="Times New Roman" panose="02020603050405020304" pitchFamily="18" charset="0"/>
                <a:ea typeface="楷体_GB2312" pitchFamily="49" charset="-122"/>
                <a:cs typeface="+mn-cs"/>
              </a:rPr>
              <a:t>        </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数字集成电路的可以从不同的</a:t>
            </a:r>
            <a:r>
              <a:rPr kumimoji="1" lang="zh-CN" altLang="en-US" sz="3200" b="1" kern="1200" cap="none" spc="0" normalizeH="0" baseline="0" noProof="0" dirty="0">
                <a:solidFill>
                  <a:srgbClr val="FF0000"/>
                </a:solidFill>
                <a:latin typeface="Times New Roman" panose="02020603050405020304" pitchFamily="18" charset="0"/>
                <a:ea typeface="楷体_GB2312" pitchFamily="49" charset="-122"/>
                <a:cs typeface="+mn-cs"/>
              </a:rPr>
              <a:t>层次</a:t>
            </a:r>
            <a:r>
              <a:rPr kumimoji="1" lang="zh-CN" altLang="en-US" sz="2800" b="1" kern="1200" cap="none" spc="0" normalizeH="0" baseline="0" noProof="0" dirty="0">
                <a:solidFill>
                  <a:srgbClr val="669900"/>
                </a:solidFill>
                <a:latin typeface="Times New Roman" panose="02020603050405020304" pitchFamily="18" charset="0"/>
                <a:ea typeface="楷体_GB2312" pitchFamily="49" charset="-122"/>
                <a:cs typeface="+mn-cs"/>
              </a:rPr>
              <a:t>（系统级、算法级、寄存器传输级、门级、开关级）</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以及不同的</a:t>
            </a:r>
            <a:r>
              <a:rPr kumimoji="1" lang="zh-CN" altLang="en-US" sz="3200" b="1" kern="1200" cap="none" spc="0" normalizeH="0" baseline="0" noProof="0" dirty="0">
                <a:solidFill>
                  <a:srgbClr val="FF3300"/>
                </a:solidFill>
                <a:latin typeface="Times New Roman" panose="02020603050405020304" pitchFamily="18" charset="0"/>
                <a:ea typeface="楷体_GB2312" pitchFamily="49" charset="-122"/>
                <a:cs typeface="+mn-cs"/>
              </a:rPr>
              <a:t>领域</a:t>
            </a:r>
            <a:r>
              <a:rPr kumimoji="1" lang="zh-CN" altLang="en-US" sz="2800" b="1" kern="1200" cap="none" spc="0" normalizeH="0" baseline="0" noProof="0" dirty="0">
                <a:solidFill>
                  <a:srgbClr val="669900"/>
                </a:solidFill>
                <a:latin typeface="Times New Roman" panose="02020603050405020304" pitchFamily="18" charset="0"/>
                <a:ea typeface="楷体_GB2312" pitchFamily="49" charset="-122"/>
                <a:cs typeface="+mn-cs"/>
              </a:rPr>
              <a:t>（行为领域、结构领域、物理领域）</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进行描述。</a:t>
            </a:r>
            <a:endPar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endParaRPr>
          </a:p>
        </p:txBody>
      </p:sp>
    </p:spTree>
  </p:cSld>
  <p:clrMapOvr>
    <a:masterClrMapping/>
  </p:clrMapOvr>
  <p:transition spd="slow">
    <p:diamon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8117" name="Rectangle 5"/>
          <p:cNvSpPr>
            <a:spLocks noGrp="1" noRot="1" noChangeArrowheads="1"/>
          </p:cNvSpPr>
          <p:nvPr>
            <p:ph type="title"/>
          </p:nvPr>
        </p:nvSpPr>
        <p:spPr>
          <a:xfrm>
            <a:off x="452438" y="636588"/>
            <a:ext cx="7200900" cy="576263"/>
          </a:xfrm>
        </p:spPr>
        <p:txBody>
          <a:bodyPr vert="horz" wrap="square" lIns="91440" tIns="45720" rIns="91440" bIns="45720" numCol="1" rtlCol="0" anchor="ctr" anchorCtr="0" compatLnSpc="1">
            <a:no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rPr>
              <a:t>数字集成电路的描述</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218114" name="Rectangle 2"/>
          <p:cNvSpPr>
            <a:spLocks noGrp="1" noRot="1" noChangeArrowheads="1"/>
          </p:cNvSpPr>
          <p:nvPr>
            <p:ph idx="1"/>
          </p:nvPr>
        </p:nvSpPr>
        <p:spPr>
          <a:xfrm>
            <a:off x="382588" y="1484313"/>
            <a:ext cx="8437563" cy="4537075"/>
          </a:xfrm>
          <a:solidFill>
            <a:schemeClr val="accent5">
              <a:lumMod val="20000"/>
              <a:lumOff val="80000"/>
            </a:schemeClr>
          </a:solidFill>
          <a:ln w="28575">
            <a:solidFill>
              <a:srgbClr val="808080"/>
            </a:solidFill>
            <a:miter lim="800000"/>
          </a:ln>
        </p:spPr>
        <p:txBody>
          <a:bodyPr vert="horz" wrap="square" lIns="91440" tIns="45720" rIns="91440" bIns="45720" numCol="1" rtlCol="0" anchor="t" anchorCtr="0" compatLnSpc="1">
            <a:normAutofit/>
          </a:bodyPr>
          <a:lstStyle/>
          <a:p>
            <a:pPr marL="171450" marR="0" lvl="0" indent="-171450" algn="l" defTabSz="685800" rtl="0" eaLnBrk="1" fontAlgn="auto" latinLnBrk="0" hangingPunct="1">
              <a:lnSpc>
                <a:spcPct val="90000"/>
              </a:lnSpc>
              <a:spcBef>
                <a:spcPts val="750"/>
              </a:spcBef>
              <a:spcAft>
                <a:spcPts val="0"/>
              </a:spcAft>
              <a:buClrTx/>
              <a:buSzTx/>
              <a:buFont typeface="Wingdings" panose="05000000000000000000" pitchFamily="2" charset="2"/>
              <a:buNone/>
              <a:defRPr/>
            </a:pPr>
            <a:r>
              <a:rPr kumimoji="0" lang="zh-CN" altLang="en-US" sz="36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rPr>
              <a:t>三个描述领域的主要含义：</a:t>
            </a:r>
            <a:endParaRPr kumimoji="0" lang="zh-CN" altLang="en-US" sz="3600" b="1" i="0" u="none" strike="noStrike" kern="1200" cap="none" spc="0" normalizeH="0" baseline="0" noProof="0" dirty="0" smtClean="0">
              <a:ln>
                <a:noFill/>
              </a:ln>
              <a:solidFill>
                <a:srgbClr val="FF0000"/>
              </a:solidFill>
              <a:effectLst/>
              <a:uLnTx/>
              <a:uFillTx/>
              <a:latin typeface="楷体_GB2312" pitchFamily="49" charset="-122"/>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endParaRPr kumimoji="0" lang="zh-CN" altLang="en-US" sz="36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endParaRPr kumimoji="0" lang="zh-CN" altLang="en-US" sz="36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endParaRPr kumimoji="0" lang="zh-CN" altLang="en-US" sz="36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endParaRPr kumimoji="0" lang="zh-CN" altLang="en-US" sz="3600" b="1" i="0" u="none" strike="noStrike" kern="1200" cap="none" spc="0" normalizeH="0" baseline="0" noProof="0" dirty="0" smtClean="0">
              <a:ln>
                <a:noFill/>
              </a:ln>
              <a:solidFill>
                <a:schemeClr val="tx1"/>
              </a:solidFill>
              <a:effectLst/>
              <a:uLnTx/>
              <a:uFillTx/>
              <a:latin typeface="楷体_GB2312" pitchFamily="49" charset="-122"/>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endParaRPr kumimoji="0" lang="en-US" altLang="zh-CN" sz="2100" b="0" i="0" u="none" strike="noStrike" kern="1200" cap="none" spc="0" normalizeH="0" baseline="0" noProof="0" dirty="0" smtClean="0">
              <a:ln>
                <a:noFill/>
              </a:ln>
              <a:solidFill>
                <a:schemeClr val="tx1"/>
              </a:solidFill>
              <a:effectLst/>
              <a:uLnTx/>
              <a:uFillTx/>
              <a:latin typeface="华文新魏" panose="02010800040101010101" pitchFamily="2" charset="-122"/>
              <a:ea typeface="华文新魏" panose="02010800040101010101" pitchFamily="2" charset="-122"/>
              <a:cs typeface="+mn-cs"/>
            </a:endParaRPr>
          </a:p>
        </p:txBody>
      </p:sp>
      <p:sp>
        <p:nvSpPr>
          <p:cNvPr id="13316" name="Line 3"/>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
        <p:nvSpPr>
          <p:cNvPr id="218116" name="Rectangle 4"/>
          <p:cNvSpPr>
            <a:spLocks noChangeArrowheads="1"/>
          </p:cNvSpPr>
          <p:nvPr/>
        </p:nvSpPr>
        <p:spPr bwMode="auto">
          <a:xfrm>
            <a:off x="395288" y="2276475"/>
            <a:ext cx="8424863" cy="3625850"/>
          </a:xfrm>
          <a:prstGeom prst="rect">
            <a:avLst/>
          </a:prstGeom>
          <a:solidFill>
            <a:schemeClr val="accent4">
              <a:lumMod val="20000"/>
              <a:lumOff val="80000"/>
            </a:schemeClr>
          </a:solidFill>
          <a:ln w="28575">
            <a:solidFill>
              <a:srgbClr val="00FF00"/>
            </a:solidFill>
            <a:miter lim="800000"/>
          </a:ln>
          <a:effectLst/>
        </p:spPr>
        <p:txBody>
          <a:bodyPr>
            <a:spAutoFit/>
          </a:bodyPr>
          <a:lstStyle/>
          <a:p>
            <a:pPr marL="0" marR="0" lvl="0" indent="0" algn="l" defTabSz="914400" rtl="0" eaLnBrk="1" fontAlgn="base" latinLnBrk="0" hangingPunct="1">
              <a:lnSpc>
                <a:spcPct val="100000"/>
              </a:lnSpc>
              <a:spcBef>
                <a:spcPct val="3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itchFamily="49" charset="-122"/>
                <a:cs typeface="+mn-cs"/>
              </a:rPr>
              <a:t>1.  </a:t>
            </a:r>
            <a:r>
              <a:rPr kumimoji="0" lang="zh-CN" altLang="en-US"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itchFamily="49" charset="-122"/>
                <a:cs typeface="+mn-cs"/>
              </a:rPr>
              <a:t>行为领域：</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描述一个设计的基本功能，或者说所设计的电路应该做什么。从概念上讲，是纯行为的描述，是输入和输出映射关系的描述。</a:t>
            </a: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itchFamily="49" charset="-122"/>
                <a:cs typeface="+mn-cs"/>
              </a:rPr>
              <a:t>2.  </a:t>
            </a:r>
            <a:r>
              <a:rPr kumimoji="0" lang="zh-CN" altLang="en-US"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itchFamily="49" charset="-122"/>
                <a:cs typeface="+mn-cs"/>
              </a:rPr>
              <a:t>结构领域：</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描述一个设计的逻辑结构，或者说一个设计的抽象实现。典型的表达方式是一些抽象功能模块之间相互连接的网表。</a:t>
            </a: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30000"/>
              </a:spcBef>
              <a:spcAft>
                <a:spcPct val="0"/>
              </a:spcAft>
              <a:buClrTx/>
              <a:buSzTx/>
              <a:buFontTx/>
              <a:buNone/>
              <a:defRPr/>
            </a:pPr>
            <a:r>
              <a:rPr kumimoji="0" lang="en-US" altLang="zh-CN"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itchFamily="49" charset="-122"/>
                <a:cs typeface="+mn-cs"/>
              </a:rPr>
              <a:t>3.  </a:t>
            </a:r>
            <a:r>
              <a:rPr kumimoji="0" lang="zh-CN" altLang="en-US" sz="2400" b="1" i="0" u="none" strike="noStrike" kern="1200" cap="none" spc="0" normalizeH="0" baseline="0" noProof="0">
                <a:ln>
                  <a:noFill/>
                </a:ln>
                <a:solidFill>
                  <a:srgbClr val="FF0000"/>
                </a:solidFill>
                <a:effectLst/>
                <a:uLnTx/>
                <a:uFillTx/>
                <a:latin typeface="Times New Roman" panose="02020603050405020304" pitchFamily="18" charset="0"/>
                <a:ea typeface="楷体_GB2312" pitchFamily="49" charset="-122"/>
                <a:cs typeface="+mn-cs"/>
              </a:rPr>
              <a:t>物理领域：</a:t>
            </a:r>
            <a:r>
              <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rPr>
              <a:t>描述一个设计的物理实现，或者说把结构描述中的抽象元件代之以真正的物理元件。物理域的设计常常与具体的电路工艺条件相关联。</a:t>
            </a:r>
            <a:endParaRPr kumimoji="0" lang="zh-CN" altLang="en-US" sz="2400" b="1" i="0" u="none" strike="noStrike" kern="1200" cap="none" spc="0" normalizeH="0" baseline="0" noProof="0">
              <a:ln>
                <a:noFill/>
              </a:ln>
              <a:solidFill>
                <a:srgbClr val="000000"/>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spd="slow">
    <p:cover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18116"/>
                                        </p:tgtEl>
                                        <p:attrNameLst>
                                          <p:attrName>style.visibility</p:attrName>
                                        </p:attrNameLst>
                                      </p:cBhvr>
                                      <p:to>
                                        <p:strVal val="visible"/>
                                      </p:to>
                                    </p:set>
                                    <p:animEffect transition="in" filter="diamond(in)">
                                      <p:cBhvr>
                                        <p:cTn id="7" dur="2000"/>
                                        <p:tgtEl>
                                          <p:spTgt spid="218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81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Line 2"/>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
        <p:nvSpPr>
          <p:cNvPr id="219139" name="Rectangle 3"/>
          <p:cNvSpPr>
            <a:spLocks noGrp="1" noRot="1" noChangeArrowheads="1"/>
          </p:cNvSpPr>
          <p:nvPr>
            <p:ph type="title"/>
          </p:nvPr>
        </p:nvSpPr>
        <p:spPr>
          <a:xfrm>
            <a:off x="468313" y="573088"/>
            <a:ext cx="7200900" cy="576263"/>
          </a:xfrm>
        </p:spPr>
        <p:txBody>
          <a:bodyPr vert="horz" wrap="square" lIns="91440" tIns="45720" rIns="91440" bIns="45720" numCol="1" rtlCol="0" anchor="ctr" anchorCtr="0" compatLnSpc="1">
            <a:no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rPr>
              <a:t>数字集成电路的描述</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219140" name="Rectangle 4"/>
          <p:cNvSpPr>
            <a:spLocks noGrp="1" noRot="1" noChangeArrowheads="1"/>
          </p:cNvSpPr>
          <p:nvPr>
            <p:ph idx="1"/>
          </p:nvPr>
        </p:nvSpPr>
        <p:spPr>
          <a:xfrm>
            <a:off x="323850" y="1670050"/>
            <a:ext cx="8612188" cy="4468813"/>
          </a:xfrm>
          <a:solidFill>
            <a:schemeClr val="accent5">
              <a:lumMod val="20000"/>
              <a:lumOff val="80000"/>
            </a:schemeClr>
          </a:solidFill>
          <a:ln w="28575">
            <a:solidFill>
              <a:srgbClr val="808080"/>
            </a:solidFill>
            <a:miter lim="800000"/>
          </a:ln>
        </p:spPr>
        <p:txBody>
          <a:bodyPr vert="horz" wrap="square" lIns="91440" tIns="45720" rIns="91440" bIns="45720" numCol="1" rtlCol="0" anchor="t" anchorCtr="0" compatLnSpc="1">
            <a:normAutofit/>
          </a:bodyPr>
          <a:lstStyle/>
          <a:p>
            <a:pPr marL="171450" marR="0" lvl="0" indent="-171450" algn="l" defTabSz="685800" rtl="0" eaLnBrk="1" fontAlgn="auto" latinLnBrk="0" hangingPunct="1">
              <a:lnSpc>
                <a:spcPct val="90000"/>
              </a:lnSpc>
              <a:spcBef>
                <a:spcPts val="750"/>
              </a:spcBef>
              <a:spcAft>
                <a:spcPts val="0"/>
              </a:spcAft>
              <a:buClrTx/>
              <a:buSzTx/>
              <a:buFont typeface="Wingdings" panose="05000000000000000000" pitchFamily="2" charset="2"/>
              <a:buNone/>
              <a:defRPr/>
            </a:pPr>
            <a:r>
              <a:rPr kumimoji="0" lang="zh-CN" altLang="en-US" sz="36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五个描述层次的主要含义：</a:t>
            </a:r>
            <a:endParaRPr kumimoji="0" lang="zh-CN" altLang="en-US" sz="36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Wingdings" panose="05000000000000000000" pitchFamily="2" charset="2"/>
              <a:buNone/>
              <a:defRPr/>
            </a:pPr>
            <a:endParaRPr kumimoji="0" lang="en-US" altLang="zh-CN" sz="21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19141" name="Rectangle 5"/>
          <p:cNvSpPr/>
          <p:nvPr/>
        </p:nvSpPr>
        <p:spPr>
          <a:xfrm>
            <a:off x="339725" y="2393950"/>
            <a:ext cx="8577263" cy="3771900"/>
          </a:xfrm>
          <a:prstGeom prst="rect">
            <a:avLst/>
          </a:prstGeom>
          <a:solidFill>
            <a:srgbClr val="FFFF99"/>
          </a:solidFill>
          <a:ln w="28575" cap="flat" cmpd="sng">
            <a:solidFill>
              <a:srgbClr val="00FF00"/>
            </a:solidFill>
            <a:prstDash val="solid"/>
            <a:miter/>
            <a:headEnd type="none" w="med" len="med"/>
            <a:tailEnd type="none" w="med" len="med"/>
          </a:ln>
        </p:spPr>
        <p:txBody>
          <a:bodyPr>
            <a:spAutoFit/>
          </a:bodyPr>
          <a:p>
            <a:pPr eaLnBrk="1" hangingPunct="1"/>
            <a:r>
              <a:rPr lang="en-US" altLang="zh-CN" sz="2400" b="1" dirty="0">
                <a:solidFill>
                  <a:srgbClr val="FF0000"/>
                </a:solidFill>
                <a:latin typeface="Times New Roman" panose="02020603050405020304" pitchFamily="18" charset="0"/>
                <a:ea typeface="楷体_GB2312" pitchFamily="49" charset="-122"/>
              </a:rPr>
              <a:t>1.  </a:t>
            </a:r>
            <a:r>
              <a:rPr lang="zh-CN" altLang="en-US" sz="2400" b="1" dirty="0">
                <a:solidFill>
                  <a:srgbClr val="FF0000"/>
                </a:solidFill>
                <a:latin typeface="Times New Roman" panose="02020603050405020304" pitchFamily="18" charset="0"/>
                <a:ea typeface="楷体_GB2312" pitchFamily="49" charset="-122"/>
              </a:rPr>
              <a:t>系统级：</a:t>
            </a:r>
            <a:r>
              <a:rPr lang="zh-CN" altLang="en-US" sz="2400" b="1" dirty="0">
                <a:solidFill>
                  <a:srgbClr val="000000"/>
                </a:solidFill>
                <a:latin typeface="Times New Roman" panose="02020603050405020304" pitchFamily="18" charset="0"/>
                <a:ea typeface="楷体_GB2312" pitchFamily="49" charset="-122"/>
              </a:rPr>
              <a:t>是针对整个数字系统性能的描述，是系统最高层次的抽象描述。系统级只描述电路的行为而不涉及电路的结构。</a:t>
            </a:r>
            <a:endParaRPr lang="zh-CN" altLang="en-US" sz="2400" b="1" dirty="0">
              <a:solidFill>
                <a:srgbClr val="000000"/>
              </a:solidFill>
              <a:latin typeface="Times New Roman" panose="02020603050405020304" pitchFamily="18" charset="0"/>
              <a:ea typeface="楷体_GB2312" pitchFamily="49" charset="-122"/>
            </a:endParaRPr>
          </a:p>
          <a:p>
            <a:pPr eaLnBrk="1" hangingPunct="1"/>
            <a:r>
              <a:rPr lang="en-US" altLang="zh-CN" sz="2400" b="1" dirty="0">
                <a:solidFill>
                  <a:srgbClr val="FF0000"/>
                </a:solidFill>
                <a:latin typeface="Times New Roman" panose="02020603050405020304" pitchFamily="18" charset="0"/>
                <a:ea typeface="楷体_GB2312" pitchFamily="49" charset="-122"/>
              </a:rPr>
              <a:t>2.  </a:t>
            </a:r>
            <a:r>
              <a:rPr lang="zh-CN" altLang="en-US" sz="2400" b="1" dirty="0">
                <a:solidFill>
                  <a:srgbClr val="FF0000"/>
                </a:solidFill>
                <a:latin typeface="Times New Roman" panose="02020603050405020304" pitchFamily="18" charset="0"/>
                <a:ea typeface="楷体_GB2312" pitchFamily="49" charset="-122"/>
              </a:rPr>
              <a:t>算法级：</a:t>
            </a:r>
            <a:r>
              <a:rPr lang="zh-CN" altLang="en-US" sz="2400" b="1" dirty="0">
                <a:solidFill>
                  <a:srgbClr val="000000"/>
                </a:solidFill>
                <a:latin typeface="Times New Roman" panose="02020603050405020304" pitchFamily="18" charset="0"/>
                <a:ea typeface="楷体_GB2312" pitchFamily="49" charset="-122"/>
              </a:rPr>
              <a:t>是在系统级性能分析和结构划分之后，对每个模块功能行为的描述。这一层次又称为行为层或功能层。</a:t>
            </a:r>
            <a:endParaRPr lang="zh-CN" altLang="en-US" sz="2400" b="1" dirty="0">
              <a:solidFill>
                <a:srgbClr val="000000"/>
              </a:solidFill>
              <a:latin typeface="Times New Roman" panose="02020603050405020304" pitchFamily="18" charset="0"/>
              <a:ea typeface="楷体_GB2312" pitchFamily="49" charset="-122"/>
            </a:endParaRPr>
          </a:p>
          <a:p>
            <a:pPr eaLnBrk="1" hangingPunct="1"/>
            <a:r>
              <a:rPr lang="en-US" altLang="zh-CN" sz="2400" b="1" dirty="0">
                <a:solidFill>
                  <a:srgbClr val="FF0000"/>
                </a:solidFill>
                <a:latin typeface="Times New Roman" panose="02020603050405020304" pitchFamily="18" charset="0"/>
                <a:ea typeface="楷体_GB2312" pitchFamily="49" charset="-122"/>
              </a:rPr>
              <a:t>3.  </a:t>
            </a:r>
            <a:r>
              <a:rPr lang="zh-CN" altLang="en-US" sz="2400" b="1" dirty="0">
                <a:solidFill>
                  <a:srgbClr val="FF0000"/>
                </a:solidFill>
                <a:latin typeface="Times New Roman" panose="02020603050405020304" pitchFamily="18" charset="0"/>
                <a:ea typeface="楷体_GB2312" pitchFamily="49" charset="-122"/>
              </a:rPr>
              <a:t>寄存器传输级：</a:t>
            </a:r>
            <a:r>
              <a:rPr lang="zh-CN" altLang="en-US" sz="2400" b="1" dirty="0">
                <a:solidFill>
                  <a:srgbClr val="000000"/>
                </a:solidFill>
                <a:latin typeface="Times New Roman" panose="02020603050405020304" pitchFamily="18" charset="0"/>
                <a:ea typeface="楷体_GB2312" pitchFamily="49" charset="-122"/>
              </a:rPr>
              <a:t>是从信号存储、传输的角度去描述整个系统的。</a:t>
            </a:r>
            <a:endParaRPr lang="zh-CN" altLang="en-US" sz="2400" b="1" dirty="0">
              <a:solidFill>
                <a:srgbClr val="000000"/>
              </a:solidFill>
              <a:latin typeface="Times New Roman" panose="02020603050405020304" pitchFamily="18" charset="0"/>
              <a:ea typeface="楷体_GB2312" pitchFamily="49" charset="-122"/>
            </a:endParaRPr>
          </a:p>
          <a:p>
            <a:pPr eaLnBrk="1" hangingPunct="1"/>
            <a:r>
              <a:rPr lang="en-US" altLang="zh-CN" sz="2400" b="1" dirty="0">
                <a:solidFill>
                  <a:srgbClr val="FF0000"/>
                </a:solidFill>
                <a:latin typeface="Times New Roman" panose="02020603050405020304" pitchFamily="18" charset="0"/>
                <a:ea typeface="楷体_GB2312" pitchFamily="49" charset="-122"/>
              </a:rPr>
              <a:t>4.  </a:t>
            </a:r>
            <a:r>
              <a:rPr lang="zh-CN" altLang="en-US" sz="2400" b="1" dirty="0">
                <a:solidFill>
                  <a:srgbClr val="FF0000"/>
                </a:solidFill>
                <a:latin typeface="Times New Roman" panose="02020603050405020304" pitchFamily="18" charset="0"/>
                <a:ea typeface="楷体_GB2312" pitchFamily="49" charset="-122"/>
              </a:rPr>
              <a:t>门级：</a:t>
            </a:r>
            <a:r>
              <a:rPr lang="zh-CN" altLang="en-US" sz="2400" b="1" dirty="0">
                <a:solidFill>
                  <a:srgbClr val="000000"/>
                </a:solidFill>
                <a:latin typeface="Times New Roman" panose="02020603050405020304" pitchFamily="18" charset="0"/>
                <a:ea typeface="楷体_GB2312" pitchFamily="49" charset="-122"/>
              </a:rPr>
              <a:t>是从各种逻辑门的组合、连接的角度去描述整个系统的。</a:t>
            </a:r>
            <a:endParaRPr lang="zh-CN" altLang="en-US" sz="2400" b="1" dirty="0">
              <a:solidFill>
                <a:srgbClr val="000000"/>
              </a:solidFill>
              <a:latin typeface="Times New Roman" panose="02020603050405020304" pitchFamily="18" charset="0"/>
              <a:ea typeface="楷体_GB2312" pitchFamily="49" charset="-122"/>
            </a:endParaRPr>
          </a:p>
          <a:p>
            <a:pPr eaLnBrk="1" hangingPunct="1"/>
            <a:r>
              <a:rPr lang="en-US" altLang="zh-CN" sz="2400" b="1" dirty="0">
                <a:solidFill>
                  <a:srgbClr val="FF0000"/>
                </a:solidFill>
                <a:latin typeface="Times New Roman" panose="02020603050405020304" pitchFamily="18" charset="0"/>
                <a:ea typeface="楷体_GB2312" pitchFamily="49" charset="-122"/>
              </a:rPr>
              <a:t>5.  </a:t>
            </a:r>
            <a:r>
              <a:rPr lang="zh-CN" altLang="en-US" sz="2400" b="1" dirty="0">
                <a:solidFill>
                  <a:srgbClr val="FF0000"/>
                </a:solidFill>
                <a:latin typeface="Times New Roman" panose="02020603050405020304" pitchFamily="18" charset="0"/>
                <a:ea typeface="楷体_GB2312" pitchFamily="49" charset="-122"/>
              </a:rPr>
              <a:t>开关级：</a:t>
            </a:r>
            <a:r>
              <a:rPr lang="zh-CN" altLang="en-US" sz="2400" b="1" dirty="0">
                <a:solidFill>
                  <a:srgbClr val="000000"/>
                </a:solidFill>
                <a:latin typeface="Times New Roman" panose="02020603050405020304" pitchFamily="18" charset="0"/>
                <a:ea typeface="楷体_GB2312" pitchFamily="49" charset="-122"/>
              </a:rPr>
              <a:t>门级中的逻辑门是由晶体管电路组成的。因此开关级描述是从晶体管的组合、连接的角度来描述整个系统的。</a:t>
            </a:r>
            <a:endParaRPr lang="zh-CN" altLang="en-US" sz="2400" b="1" dirty="0">
              <a:solidFill>
                <a:srgbClr val="000000"/>
              </a:solidFill>
              <a:latin typeface="Times New Roman" panose="02020603050405020304" pitchFamily="18" charset="0"/>
              <a:ea typeface="楷体_GB2312" pitchFamily="49" charset="-122"/>
            </a:endParaRPr>
          </a:p>
        </p:txBody>
      </p:sp>
    </p:spTree>
  </p:cSld>
  <p:clrMapOvr>
    <a:masterClrMapping/>
  </p:clrMapOvr>
  <p:transition spd="slow">
    <p:pull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19141"/>
                                        </p:tgtEl>
                                        <p:attrNameLst>
                                          <p:attrName>style.visibility</p:attrName>
                                        </p:attrNameLst>
                                      </p:cBhvr>
                                      <p:to>
                                        <p:strVal val="visible"/>
                                      </p:to>
                                    </p:set>
                                    <p:animEffect transition="in" filter="blinds(horizontal)">
                                      <p:cBhvr>
                                        <p:cTn id="7" dur="500"/>
                                        <p:tgtEl>
                                          <p:spTgt spid="219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8658" name="Rectangle 2"/>
          <p:cNvSpPr>
            <a:spLocks noGrp="1" noRot="1" noChangeArrowheads="1"/>
          </p:cNvSpPr>
          <p:nvPr>
            <p:ph type="title"/>
          </p:nvPr>
        </p:nvSpPr>
        <p:spPr>
          <a:xfrm>
            <a:off x="547688" y="476250"/>
            <a:ext cx="7200900" cy="576263"/>
          </a:xfrm>
        </p:spPr>
        <p:txBody>
          <a:bodyPr vert="horz" wrap="square" lIns="91440" tIns="45720" rIns="91440" bIns="45720" numCol="1" rtlCol="0" anchor="ctr" anchorCtr="0" compatLnSpc="1">
            <a:no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4000" b="1" i="0" u="none" strike="noStrike" kern="1200" cap="none" spc="0" normalizeH="0" baseline="0" noProof="0" smtClean="0">
                <a:ln>
                  <a:noFill/>
                </a:ln>
                <a:solidFill>
                  <a:schemeClr val="hlink"/>
                </a:solidFill>
                <a:effectLst/>
                <a:uLnTx/>
                <a:uFillTx/>
                <a:latin typeface="+mn-ea"/>
                <a:ea typeface="+mn-ea"/>
                <a:cs typeface="+mj-cs"/>
              </a:rPr>
              <a:t>数字集成电路的描述</a:t>
            </a:r>
            <a:endParaRPr kumimoji="0" lang="zh-CN" altLang="en-US" sz="4000" b="1" i="0" u="none" strike="noStrike" kern="1200" cap="none" spc="0" normalizeH="0" baseline="0" noProof="0" smtClean="0">
              <a:ln>
                <a:noFill/>
              </a:ln>
              <a:solidFill>
                <a:schemeClr val="hlink"/>
              </a:solidFill>
              <a:effectLst/>
              <a:uLnTx/>
              <a:uFillTx/>
              <a:latin typeface="+mn-ea"/>
              <a:ea typeface="+mn-ea"/>
              <a:cs typeface="+mj-cs"/>
            </a:endParaRPr>
          </a:p>
        </p:txBody>
      </p:sp>
      <p:graphicFrame>
        <p:nvGraphicFramePr>
          <p:cNvPr id="198708" name="Group 52"/>
          <p:cNvGraphicFramePr>
            <a:graphicFrameLocks noGrp="1"/>
          </p:cNvGraphicFramePr>
          <p:nvPr/>
        </p:nvGraphicFramePr>
        <p:xfrm>
          <a:off x="539750" y="1341438"/>
          <a:ext cx="8316913" cy="5172075"/>
        </p:xfrm>
        <a:graphic>
          <a:graphicData uri="http://schemas.openxmlformats.org/drawingml/2006/table">
            <a:tbl>
              <a:tblPr/>
              <a:tblGrid>
                <a:gridCol w="1752600"/>
                <a:gridCol w="1847850"/>
                <a:gridCol w="2582863"/>
                <a:gridCol w="2133600"/>
              </a:tblGrid>
              <a:tr h="563563">
                <a:tc rowSpan="2">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3200" b="1" i="0" u="none" strike="noStrike" cap="none" normalizeH="0" baseline="0" dirty="0" smtClean="0">
                          <a:ln>
                            <a:noFill/>
                          </a:ln>
                          <a:solidFill>
                            <a:schemeClr val="hlink"/>
                          </a:solidFill>
                          <a:effectLst/>
                          <a:latin typeface="Times New Roman" panose="02020603050405020304" pitchFamily="18" charset="0"/>
                          <a:ea typeface="楷体_GB2312" pitchFamily="49" charset="-122"/>
                        </a:rPr>
                        <a:t>设计</a:t>
                      </a:r>
                      <a:endParaRPr kumimoji="0" lang="zh-CN" altLang="en-US" sz="3200" b="1" i="0" u="none" strike="noStrike" cap="none" normalizeH="0" baseline="0" dirty="0" smtClean="0">
                        <a:ln>
                          <a:noFill/>
                        </a:ln>
                        <a:solidFill>
                          <a:schemeClr val="hlink"/>
                        </a:solidFill>
                        <a:effectLst/>
                        <a:latin typeface="Times New Roman" panose="02020603050405020304" pitchFamily="18" charset="0"/>
                        <a:ea typeface="楷体_GB2312" pitchFamily="49" charset="-122"/>
                      </a:endParaRPr>
                    </a:p>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3200" b="1" i="0" u="none" strike="noStrike" cap="none" normalizeH="0" baseline="0" dirty="0" smtClean="0">
                          <a:ln>
                            <a:noFill/>
                          </a:ln>
                          <a:solidFill>
                            <a:schemeClr val="hlink"/>
                          </a:solidFill>
                          <a:effectLst/>
                          <a:latin typeface="Times New Roman" panose="02020603050405020304" pitchFamily="18" charset="0"/>
                          <a:ea typeface="楷体_GB2312" pitchFamily="49" charset="-122"/>
                        </a:rPr>
                        <a:t>层次</a:t>
                      </a:r>
                      <a:endParaRPr kumimoji="0" lang="zh-CN" altLang="en-US" sz="3200" b="1" i="0" u="none" strike="noStrike" cap="none" normalizeH="0" baseline="0" dirty="0" smtClean="0">
                        <a:ln>
                          <a:noFill/>
                        </a:ln>
                        <a:solidFill>
                          <a:schemeClr val="hlink"/>
                        </a:solidFill>
                        <a:effectLst/>
                        <a:latin typeface="Times New Roman" panose="02020603050405020304" pitchFamily="18" charset="0"/>
                        <a:ea typeface="楷体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gridSpan="3">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3200" b="1" i="0" u="none" strike="noStrike" cap="none" normalizeH="0" baseline="0" dirty="0" smtClean="0">
                          <a:ln>
                            <a:noFill/>
                          </a:ln>
                          <a:solidFill>
                            <a:schemeClr val="hlink"/>
                          </a:solidFill>
                          <a:effectLst/>
                          <a:latin typeface="Times New Roman" panose="02020603050405020304" pitchFamily="18" charset="0"/>
                          <a:ea typeface="楷体_GB2312" pitchFamily="49" charset="-122"/>
                        </a:rPr>
                        <a:t>描  述  领  域</a:t>
                      </a:r>
                      <a:endParaRPr kumimoji="0" lang="zh-CN" altLang="en-US" sz="3200" b="1" i="0" u="none" strike="noStrike" cap="none" normalizeH="0" baseline="0" dirty="0" smtClean="0">
                        <a:ln>
                          <a:noFill/>
                        </a:ln>
                        <a:solidFill>
                          <a:schemeClr val="hlink"/>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hMerge="1">
                  <a:tcPr/>
                </a:tc>
                <a:tc hMerge="1">
                  <a:tcPr/>
                </a:tc>
              </a:tr>
              <a:tr h="533400">
                <a:tc vMerge="1">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行为领域描述</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结构领域描述</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物理领域描述</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r>
              <a:tr h="1188720">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Times New Roman" panose="02020603050405020304" pitchFamily="18" charset="0"/>
                          <a:ea typeface="仿宋_GB2312" pitchFamily="49" charset="-122"/>
                        </a:rPr>
                        <a:t>系统级</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仿宋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行为、性能、输入输出映</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射的关系</a:t>
                      </a:r>
                      <a:r>
                        <a:rPr kumimoji="0" lang="en-US" altLang="zh-CN" sz="2000" b="1" i="0" u="none" strike="noStrike" cap="none" normalizeH="0" baseline="0" smtClean="0">
                          <a:ln>
                            <a:noFill/>
                          </a:ln>
                          <a:solidFill>
                            <a:srgbClr val="000000"/>
                          </a:solidFill>
                          <a:effectLst/>
                          <a:latin typeface="仿宋_GB2312" pitchFamily="49" charset="-122"/>
                          <a:ea typeface="仿宋_GB2312" pitchFamily="49" charset="-122"/>
                        </a:rPr>
                        <a:t>(</a:t>
                      </a: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自</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然语言描述</a:t>
                      </a:r>
                      <a:r>
                        <a:rPr kumimoji="0" lang="en-US" altLang="zh-CN" sz="2000" b="1" i="0" u="none" strike="noStrike" cap="none" normalizeH="0" baseline="0" smtClean="0">
                          <a:ln>
                            <a:noFill/>
                          </a:ln>
                          <a:solidFill>
                            <a:srgbClr val="000000"/>
                          </a:solidFill>
                          <a:effectLst/>
                          <a:latin typeface="仿宋_GB2312" pitchFamily="49" charset="-122"/>
                          <a:ea typeface="仿宋_GB2312" pitchFamily="49" charset="-122"/>
                        </a:rPr>
                        <a:t>)</a:t>
                      </a:r>
                      <a:endParaRPr kumimoji="0" lang="en-US" altLang="zh-CN"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仿宋_GB2312" pitchFamily="49" charset="-122"/>
                          <a:ea typeface="仿宋_GB2312" pitchFamily="49" charset="-122"/>
                        </a:rPr>
                        <a:t>CPU</a:t>
                      </a: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、存储器、控制器及总线之间的联系（系统逻辑方框图）</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芯片、模块、电路板及子系统的物理划分</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r>
              <a:tr h="712788">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Times New Roman" panose="02020603050405020304" pitchFamily="18" charset="0"/>
                          <a:ea typeface="仿宋_GB2312" pitchFamily="49" charset="-122"/>
                        </a:rPr>
                        <a:t>算法级</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仿宋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实现行为</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的算法</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硬件模块、数据结构</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部件之间的物理连接、电路板</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r>
              <a:tr h="923925">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Times New Roman" panose="02020603050405020304" pitchFamily="18" charset="0"/>
                          <a:ea typeface="仿宋_GB2312" pitchFamily="49" charset="-122"/>
                        </a:rPr>
                        <a:t>寄存器传输级</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仿宋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寄存器传输、状态表、</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状态图等</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en-US" altLang="zh-CN" sz="2000" b="1" i="0" u="none" strike="noStrike" cap="none" normalizeH="0" baseline="0" smtClean="0">
                          <a:ln>
                            <a:noFill/>
                          </a:ln>
                          <a:solidFill>
                            <a:srgbClr val="000000"/>
                          </a:solidFill>
                          <a:effectLst/>
                          <a:latin typeface="仿宋_GB2312" pitchFamily="49" charset="-122"/>
                          <a:ea typeface="仿宋_GB2312" pitchFamily="49" charset="-122"/>
                        </a:rPr>
                        <a:t>ALU</a:t>
                      </a: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、多路选择器</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、寄存器、存储器、控制器等模块互连</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芯片、宏单元等</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r>
              <a:tr h="640080">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Times New Roman" panose="02020603050405020304" pitchFamily="18" charset="0"/>
                          <a:ea typeface="仿宋_GB2312" pitchFamily="49" charset="-122"/>
                        </a:rPr>
                        <a:t>门级</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仿宋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布尔方程、</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卡诺图</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逻辑门、触发器、锁存器构成的逻辑图</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门级单元布图</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r>
              <a:tr h="609600">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Times New Roman" panose="02020603050405020304" pitchFamily="18" charset="0"/>
                          <a:ea typeface="仿宋_GB2312" pitchFamily="49" charset="-122"/>
                        </a:rPr>
                        <a:t>开关级</a:t>
                      </a:r>
                      <a:endParaRPr kumimoji="0" lang="zh-CN" altLang="en-US" sz="2000" b="1" i="0" u="none" strike="noStrike" cap="none" normalizeH="0" baseline="0" smtClean="0">
                        <a:ln>
                          <a:noFill/>
                        </a:ln>
                        <a:solidFill>
                          <a:srgbClr val="000000"/>
                        </a:solidFill>
                        <a:effectLst/>
                        <a:latin typeface="Times New Roman" panose="02020603050405020304" pitchFamily="18" charset="0"/>
                        <a:ea typeface="仿宋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电路微分方程</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rPr>
                        <a:t>晶体管、电阻、电容</a:t>
                      </a:r>
                      <a:endParaRPr kumimoji="0" lang="zh-CN" altLang="en-US" sz="2000" b="1" i="0" u="none" strike="noStrike" cap="none" normalizeH="0" baseline="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90000"/>
                        </a:lnSpc>
                        <a:spcBef>
                          <a:spcPct val="0"/>
                        </a:spcBef>
                        <a:spcAft>
                          <a:spcPct val="0"/>
                        </a:spcAft>
                        <a:buClrTx/>
                        <a:buSzTx/>
                        <a:buFontTx/>
                        <a:buNone/>
                      </a:pPr>
                      <a:r>
                        <a:rPr kumimoji="0" lang="zh-CN" altLang="en-US" sz="2000" b="1" i="0" u="none" strike="noStrike" cap="none" normalizeH="0" baseline="0" dirty="0" smtClean="0">
                          <a:ln>
                            <a:noFill/>
                          </a:ln>
                          <a:solidFill>
                            <a:srgbClr val="000000"/>
                          </a:solidFill>
                          <a:effectLst/>
                          <a:latin typeface="仿宋_GB2312" pitchFamily="49" charset="-122"/>
                          <a:ea typeface="仿宋_GB2312" pitchFamily="49" charset="-122"/>
                        </a:rPr>
                        <a:t>版图</a:t>
                      </a:r>
                      <a:endParaRPr kumimoji="0" lang="zh-CN" altLang="en-US" sz="2000" b="1" i="0" u="none" strike="noStrike" cap="none" normalizeH="0" baseline="0" dirty="0" smtClean="0">
                        <a:ln>
                          <a:noFill/>
                        </a:ln>
                        <a:solidFill>
                          <a:srgbClr val="000000"/>
                        </a:solidFill>
                        <a:effectLst/>
                        <a:latin typeface="仿宋_GB2312" pitchFamily="49" charset="-122"/>
                        <a:ea typeface="仿宋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3">
                        <a:lumMod val="20000"/>
                        <a:lumOff val="80000"/>
                      </a:schemeClr>
                    </a:solidFill>
                  </a:tcPr>
                </a:tc>
              </a:tr>
            </a:tbl>
          </a:graphicData>
        </a:graphic>
      </p:graphicFrame>
      <p:sp>
        <p:nvSpPr>
          <p:cNvPr id="16426" name="Line 42"/>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zoom dir="in"/>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31" name="Text Box 3"/>
          <p:cNvSpPr txBox="1">
            <a:spLocks noChangeArrowheads="1"/>
          </p:cNvSpPr>
          <p:nvPr/>
        </p:nvSpPr>
        <p:spPr bwMode="auto">
          <a:xfrm>
            <a:off x="468313" y="1651000"/>
            <a:ext cx="8201025" cy="4573588"/>
          </a:xfrm>
          <a:prstGeom prst="rect">
            <a:avLst/>
          </a:prstGeom>
          <a:solidFill>
            <a:schemeClr val="accent4">
              <a:lumMod val="20000"/>
              <a:lumOff val="80000"/>
            </a:schemeClr>
          </a:solidFill>
          <a:ln w="28575" cap="sq">
            <a:solidFill>
              <a:srgbClr val="66FF33"/>
            </a:solidFill>
            <a:miter lim="800000"/>
            <a:headEnd type="none" w="sm" len="sm"/>
            <a:tailEnd type="none" w="sm" len="sm"/>
          </a:ln>
          <a:effectLst/>
        </p:spPr>
        <p:txBody>
          <a:bodyPr>
            <a:spAutoFit/>
          </a:bodyPr>
          <a:lstStyle/>
          <a:p>
            <a:pPr marR="0" defTabSz="914400" eaLnBrk="1" hangingPunct="1">
              <a:lnSpc>
                <a:spcPct val="130000"/>
              </a:lnSpc>
              <a:buClrTx/>
              <a:buSzTx/>
              <a:buFontTx/>
              <a:buNone/>
              <a:defRPr/>
            </a:pPr>
            <a:r>
              <a:rPr kumimoji="1" lang="en-US" altLang="zh-CN" sz="2800" b="1" kern="1200" cap="none" spc="0" normalizeH="0" baseline="0" noProof="0" dirty="0">
                <a:solidFill>
                  <a:srgbClr val="000000"/>
                </a:solidFill>
                <a:latin typeface="Times New Roman" panose="02020603050405020304" pitchFamily="18" charset="0"/>
                <a:ea typeface="楷体_GB2312" pitchFamily="49" charset="-122"/>
                <a:cs typeface="+mn-cs"/>
              </a:rPr>
              <a:t>						</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首先从整体上规划整个系统的功能和性质，然后对系统进行分割，将系统划分为各个功能模块，每个模块也可进一步细化，并借助于</a:t>
            </a:r>
            <a:r>
              <a:rPr kumimoji="1" lang="en-US" altLang="zh-CN" sz="2800" b="1" i="1" kern="1200" cap="none" spc="0" normalizeH="0" baseline="0" noProof="0" dirty="0">
                <a:solidFill>
                  <a:srgbClr val="000000"/>
                </a:solidFill>
                <a:latin typeface="Times New Roman" panose="02020603050405020304" pitchFamily="18" charset="0"/>
                <a:ea typeface="楷体_GB2312" pitchFamily="49" charset="-122"/>
                <a:cs typeface="+mn-cs"/>
              </a:rPr>
              <a:t>EDA </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技术完成到工艺的映射直至物理实现。</a:t>
            </a:r>
            <a:endPar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endParaRPr>
          </a:p>
          <a:p>
            <a:pPr marR="0" defTabSz="914400" eaLnBrk="1" hangingPunct="1">
              <a:lnSpc>
                <a:spcPct val="130000"/>
              </a:lnSpc>
              <a:buClrTx/>
              <a:buSzTx/>
              <a:buFontTx/>
              <a:buNone/>
              <a:defRPr/>
            </a:pP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        特点是：借助 </a:t>
            </a:r>
            <a:r>
              <a:rPr kumimoji="1" lang="en-US" altLang="zh-CN" sz="2800" b="1" i="1" kern="1200" cap="none" spc="0" normalizeH="0" baseline="0" noProof="0" dirty="0">
                <a:solidFill>
                  <a:srgbClr val="000000"/>
                </a:solidFill>
                <a:latin typeface="Times New Roman" panose="02020603050405020304" pitchFamily="18" charset="0"/>
                <a:ea typeface="楷体_GB2312" pitchFamily="49" charset="-122"/>
                <a:cs typeface="+mn-cs"/>
              </a:rPr>
              <a:t>EDA </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工具，自动地实现从高层次到低层次的转换，从而使得自顶向下的过程得以实现。</a:t>
            </a:r>
            <a:endPar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endParaRPr>
          </a:p>
        </p:txBody>
      </p:sp>
      <p:sp>
        <p:nvSpPr>
          <p:cNvPr id="17411" name="Line 5"/>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
        <p:nvSpPr>
          <p:cNvPr id="124934" name="Rectangle 6"/>
          <p:cNvSpPr>
            <a:spLocks noGrp="1" noRot="1" noChangeArrowheads="1"/>
          </p:cNvSpPr>
          <p:nvPr>
            <p:ph type="title"/>
          </p:nvPr>
        </p:nvSpPr>
        <p:spPr>
          <a:xfrm>
            <a:off x="458788" y="604838"/>
            <a:ext cx="7200900" cy="576263"/>
          </a:xfrm>
        </p:spPr>
        <p:txBody>
          <a:bodyPr vert="horz" wrap="square" lIns="91440" tIns="45720" rIns="91440" bIns="45720" numCol="1" rtlCol="0" anchor="ctr" anchorCtr="0" compatLnSpc="1">
            <a:normAutofit fontScale="90000"/>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rPr>
              <a:t>数字集成电路的设计方法</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124935" name="Rectangle 7"/>
          <p:cNvSpPr>
            <a:spLocks noChangeArrowheads="1"/>
          </p:cNvSpPr>
          <p:nvPr/>
        </p:nvSpPr>
        <p:spPr bwMode="auto">
          <a:xfrm>
            <a:off x="555625" y="1741488"/>
            <a:ext cx="5529263" cy="519113"/>
          </a:xfrm>
          <a:prstGeom prst="rect">
            <a:avLst/>
          </a:prstGeom>
          <a:solidFill>
            <a:schemeClr val="accent6">
              <a:lumMod val="20000"/>
              <a:lumOff val="80000"/>
            </a:schemeClr>
          </a:solidFill>
          <a:ln>
            <a:noFill/>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2800" b="1" i="0" u="none" strike="noStrike" kern="1200" cap="none" spc="0" normalizeH="0" baseline="0" noProof="0" dirty="0">
                <a:ln>
                  <a:noFill/>
                </a:ln>
                <a:solidFill>
                  <a:srgbClr val="CC0000"/>
                </a:solidFill>
                <a:effectLst/>
                <a:uLnTx/>
                <a:uFillTx/>
                <a:latin typeface="Times New Roman" panose="02020603050405020304" pitchFamily="18" charset="0"/>
                <a:ea typeface="楷体_GB2312" pitchFamily="49" charset="-122"/>
                <a:cs typeface="+mn-cs"/>
              </a:rPr>
              <a:t>自顶向下的设计（</a:t>
            </a:r>
            <a:r>
              <a:rPr kumimoji="1" lang="en-US" altLang="zh-CN" sz="2800" b="1" i="1" u="none" strike="noStrike" kern="1200" cap="none" spc="0" normalizeH="0" baseline="0" noProof="0" dirty="0">
                <a:ln>
                  <a:noFill/>
                </a:ln>
                <a:solidFill>
                  <a:srgbClr val="CC0000"/>
                </a:solidFill>
                <a:effectLst/>
                <a:uLnTx/>
                <a:uFillTx/>
                <a:latin typeface="Times New Roman" panose="02020603050405020304" pitchFamily="18" charset="0"/>
                <a:ea typeface="楷体_GB2312" pitchFamily="49" charset="-122"/>
                <a:cs typeface="+mn-cs"/>
              </a:rPr>
              <a:t>TOP-DOWN</a:t>
            </a:r>
            <a:r>
              <a:rPr kumimoji="1" lang="zh-CN" altLang="en-US" sz="2800" b="1" i="0" u="none" strike="noStrike" kern="1200" cap="none" spc="0" normalizeH="0" baseline="0" noProof="0" dirty="0">
                <a:ln>
                  <a:noFill/>
                </a:ln>
                <a:solidFill>
                  <a:srgbClr val="CC0000"/>
                </a:solidFill>
                <a:effectLst/>
                <a:uLnTx/>
                <a:uFillTx/>
                <a:latin typeface="Times New Roman" panose="02020603050405020304" pitchFamily="18" charset="0"/>
                <a:ea typeface="楷体_GB2312" pitchFamily="49" charset="-122"/>
                <a:cs typeface="+mn-cs"/>
              </a:rPr>
              <a:t>）：</a:t>
            </a:r>
            <a:endParaRPr kumimoji="1" lang="zh-CN" altLang="en-US" sz="2800" b="1" i="0" u="none" strike="noStrike" kern="1200" cap="none" spc="0" normalizeH="0" baseline="0" noProof="0" dirty="0">
              <a:ln>
                <a:noFill/>
              </a:ln>
              <a:solidFill>
                <a:srgbClr val="CC0000"/>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spd="slow">
    <p:strip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4931">
                                            <p:txEl>
                                              <p:charRg st="0" end="86"/>
                                            </p:txEl>
                                          </p:spTgt>
                                        </p:tgtEl>
                                        <p:attrNameLst>
                                          <p:attrName>style.visibility</p:attrName>
                                        </p:attrNameLst>
                                      </p:cBhvr>
                                      <p:to>
                                        <p:strVal val="visible"/>
                                      </p:to>
                                    </p:set>
                                    <p:animEffect transition="in" filter="blinds(horizontal)">
                                      <p:cBhvr>
                                        <p:cTn id="7" dur="500"/>
                                        <p:tgtEl>
                                          <p:spTgt spid="124931">
                                            <p:txEl>
                                              <p:charRg st="0" end="86"/>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24931">
                                            <p:txEl>
                                              <p:charRg st="86" end="142"/>
                                            </p:txEl>
                                          </p:spTgt>
                                        </p:tgtEl>
                                        <p:attrNameLst>
                                          <p:attrName>style.visibility</p:attrName>
                                        </p:attrNameLst>
                                      </p:cBhvr>
                                      <p:to>
                                        <p:strVal val="visible"/>
                                      </p:to>
                                    </p:set>
                                    <p:animEffect transition="in" filter="blinds(horizontal)">
                                      <p:cBhvr>
                                        <p:cTn id="12" dur="500"/>
                                        <p:tgtEl>
                                          <p:spTgt spid="124931">
                                            <p:txEl>
                                              <p:charRg st="86" end="14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3259" name="Group 27"/>
          <p:cNvGrpSpPr/>
          <p:nvPr/>
        </p:nvGrpSpPr>
        <p:grpSpPr bwMode="auto">
          <a:xfrm>
            <a:off x="862013" y="1870075"/>
            <a:ext cx="6950075" cy="3071813"/>
            <a:chOff x="622" y="1344"/>
            <a:chExt cx="4378" cy="1935"/>
          </a:xfrm>
          <a:solidFill>
            <a:schemeClr val="accent4">
              <a:lumMod val="20000"/>
              <a:lumOff val="80000"/>
            </a:schemeClr>
          </a:solidFill>
        </p:grpSpPr>
        <p:sp>
          <p:nvSpPr>
            <p:cNvPr id="223237" name="Rectangle 5"/>
            <p:cNvSpPr>
              <a:spLocks noChangeArrowheads="1"/>
            </p:cNvSpPr>
            <p:nvPr/>
          </p:nvSpPr>
          <p:spPr bwMode="auto">
            <a:xfrm>
              <a:off x="2062" y="1344"/>
              <a:ext cx="1497"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顶层模块</a:t>
              </a: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3238" name="Rectangle 6"/>
            <p:cNvSpPr>
              <a:spLocks noChangeArrowheads="1"/>
            </p:cNvSpPr>
            <p:nvPr/>
          </p:nvSpPr>
          <p:spPr bwMode="auto">
            <a:xfrm>
              <a:off x="828" y="2135"/>
              <a:ext cx="952"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子模块</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1</a:t>
              </a:r>
              <a:endPar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23239" name="Rectangle 7"/>
            <p:cNvSpPr>
              <a:spLocks noChangeArrowheads="1"/>
            </p:cNvSpPr>
            <p:nvPr/>
          </p:nvSpPr>
          <p:spPr bwMode="auto">
            <a:xfrm>
              <a:off x="2320" y="2135"/>
              <a:ext cx="952"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子模块</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2</a:t>
              </a:r>
              <a:endPar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23240" name="Rectangle 8"/>
            <p:cNvSpPr>
              <a:spLocks noChangeArrowheads="1"/>
            </p:cNvSpPr>
            <p:nvPr/>
          </p:nvSpPr>
          <p:spPr bwMode="auto">
            <a:xfrm>
              <a:off x="3777" y="2135"/>
              <a:ext cx="952"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子模块</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3</a:t>
              </a:r>
              <a:endPar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23241" name="Rectangle 9"/>
            <p:cNvSpPr>
              <a:spLocks noChangeArrowheads="1"/>
            </p:cNvSpPr>
            <p:nvPr/>
          </p:nvSpPr>
          <p:spPr bwMode="auto">
            <a:xfrm>
              <a:off x="1347" y="2916"/>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3242" name="Rectangle 10"/>
            <p:cNvSpPr>
              <a:spLocks noChangeArrowheads="1"/>
            </p:cNvSpPr>
            <p:nvPr/>
          </p:nvSpPr>
          <p:spPr bwMode="auto">
            <a:xfrm>
              <a:off x="3661" y="2916"/>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3243" name="Rectangle 11"/>
            <p:cNvSpPr>
              <a:spLocks noChangeArrowheads="1"/>
            </p:cNvSpPr>
            <p:nvPr/>
          </p:nvSpPr>
          <p:spPr bwMode="auto">
            <a:xfrm>
              <a:off x="2163" y="2916"/>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3244" name="Rectangle 12"/>
            <p:cNvSpPr>
              <a:spLocks noChangeArrowheads="1"/>
            </p:cNvSpPr>
            <p:nvPr/>
          </p:nvSpPr>
          <p:spPr bwMode="auto">
            <a:xfrm>
              <a:off x="4411" y="2916"/>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3245" name="Rectangle 13"/>
            <p:cNvSpPr>
              <a:spLocks noChangeArrowheads="1"/>
            </p:cNvSpPr>
            <p:nvPr/>
          </p:nvSpPr>
          <p:spPr bwMode="auto">
            <a:xfrm>
              <a:off x="622" y="2916"/>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3246" name="Rectangle 14"/>
            <p:cNvSpPr>
              <a:spLocks noChangeArrowheads="1"/>
            </p:cNvSpPr>
            <p:nvPr/>
          </p:nvSpPr>
          <p:spPr bwMode="auto">
            <a:xfrm>
              <a:off x="2934" y="2916"/>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3247" name="Line 15"/>
            <p:cNvSpPr>
              <a:spLocks noChangeShapeType="1"/>
            </p:cNvSpPr>
            <p:nvPr/>
          </p:nvSpPr>
          <p:spPr bwMode="auto">
            <a:xfrm>
              <a:off x="2789" y="1706"/>
              <a:ext cx="0" cy="431"/>
            </a:xfrm>
            <a:prstGeom prst="line">
              <a:avLst/>
            </a:prstGeom>
            <a:grpFill/>
            <a:ln w="33020">
              <a:solidFill>
                <a:srgbClr val="00808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3248" name="Line 16"/>
            <p:cNvSpPr>
              <a:spLocks noChangeShapeType="1"/>
            </p:cNvSpPr>
            <p:nvPr/>
          </p:nvSpPr>
          <p:spPr bwMode="auto">
            <a:xfrm flipH="1">
              <a:off x="1292" y="1706"/>
              <a:ext cx="1497" cy="409"/>
            </a:xfrm>
            <a:prstGeom prst="line">
              <a:avLst/>
            </a:prstGeom>
            <a:grpFill/>
            <a:ln w="33020">
              <a:solidFill>
                <a:srgbClr val="00808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3249" name="Line 17"/>
            <p:cNvSpPr>
              <a:spLocks noChangeShapeType="1"/>
            </p:cNvSpPr>
            <p:nvPr/>
          </p:nvSpPr>
          <p:spPr bwMode="auto">
            <a:xfrm>
              <a:off x="2789" y="1706"/>
              <a:ext cx="1452" cy="409"/>
            </a:xfrm>
            <a:prstGeom prst="line">
              <a:avLst/>
            </a:prstGeom>
            <a:grpFill/>
            <a:ln w="33020">
              <a:solidFill>
                <a:srgbClr val="00808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3253" name="Line 21"/>
            <p:cNvSpPr>
              <a:spLocks noChangeShapeType="1"/>
            </p:cNvSpPr>
            <p:nvPr/>
          </p:nvSpPr>
          <p:spPr bwMode="auto">
            <a:xfrm flipH="1">
              <a:off x="930" y="2508"/>
              <a:ext cx="317" cy="408"/>
            </a:xfrm>
            <a:prstGeom prst="line">
              <a:avLst/>
            </a:prstGeom>
            <a:grpFill/>
            <a:ln w="33020">
              <a:solidFill>
                <a:srgbClr val="00808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3254" name="Line 22"/>
            <p:cNvSpPr>
              <a:spLocks noChangeShapeType="1"/>
            </p:cNvSpPr>
            <p:nvPr/>
          </p:nvSpPr>
          <p:spPr bwMode="auto">
            <a:xfrm>
              <a:off x="1232" y="2498"/>
              <a:ext cx="363" cy="408"/>
            </a:xfrm>
            <a:prstGeom prst="line">
              <a:avLst/>
            </a:prstGeom>
            <a:grpFill/>
            <a:ln w="33020">
              <a:solidFill>
                <a:srgbClr val="00808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3255" name="Line 23"/>
            <p:cNvSpPr>
              <a:spLocks noChangeShapeType="1"/>
            </p:cNvSpPr>
            <p:nvPr/>
          </p:nvSpPr>
          <p:spPr bwMode="auto">
            <a:xfrm flipH="1">
              <a:off x="2426" y="2498"/>
              <a:ext cx="363" cy="408"/>
            </a:xfrm>
            <a:prstGeom prst="line">
              <a:avLst/>
            </a:prstGeom>
            <a:grpFill/>
            <a:ln w="33020">
              <a:solidFill>
                <a:srgbClr val="00808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3256" name="Line 24"/>
            <p:cNvSpPr>
              <a:spLocks noChangeShapeType="1"/>
            </p:cNvSpPr>
            <p:nvPr/>
          </p:nvSpPr>
          <p:spPr bwMode="auto">
            <a:xfrm>
              <a:off x="2764" y="2498"/>
              <a:ext cx="408" cy="408"/>
            </a:xfrm>
            <a:prstGeom prst="line">
              <a:avLst/>
            </a:prstGeom>
            <a:grpFill/>
            <a:ln w="33020">
              <a:solidFill>
                <a:srgbClr val="00808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3257" name="Line 25"/>
            <p:cNvSpPr>
              <a:spLocks noChangeShapeType="1"/>
            </p:cNvSpPr>
            <p:nvPr/>
          </p:nvSpPr>
          <p:spPr bwMode="auto">
            <a:xfrm flipH="1">
              <a:off x="3933" y="2498"/>
              <a:ext cx="318" cy="408"/>
            </a:xfrm>
            <a:prstGeom prst="line">
              <a:avLst/>
            </a:prstGeom>
            <a:grpFill/>
            <a:ln w="33020">
              <a:solidFill>
                <a:srgbClr val="00808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3258" name="Line 26"/>
            <p:cNvSpPr>
              <a:spLocks noChangeShapeType="1"/>
            </p:cNvSpPr>
            <p:nvPr/>
          </p:nvSpPr>
          <p:spPr bwMode="auto">
            <a:xfrm>
              <a:off x="4251" y="2498"/>
              <a:ext cx="408" cy="408"/>
            </a:xfrm>
            <a:prstGeom prst="line">
              <a:avLst/>
            </a:prstGeom>
            <a:grpFill/>
            <a:ln w="33020">
              <a:solidFill>
                <a:srgbClr val="008080"/>
              </a:solidFill>
              <a:roun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223260" name="Rectangle 28"/>
          <p:cNvSpPr>
            <a:spLocks noRot="1" noChangeArrowheads="1"/>
          </p:cNvSpPr>
          <p:nvPr/>
        </p:nvSpPr>
        <p:spPr bwMode="auto">
          <a:xfrm>
            <a:off x="414338" y="511175"/>
            <a:ext cx="720090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自顶向下的设计 </a:t>
            </a: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(TOP-DOWN)</a:t>
            </a:r>
            <a:endPar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endParaRPr>
          </a:p>
        </p:txBody>
      </p:sp>
      <p:sp>
        <p:nvSpPr>
          <p:cNvPr id="19460" name="Line 29"/>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4" name="Text Box 2"/>
          <p:cNvSpPr txBox="1">
            <a:spLocks noChangeArrowheads="1"/>
          </p:cNvSpPr>
          <p:nvPr/>
        </p:nvSpPr>
        <p:spPr bwMode="auto">
          <a:xfrm>
            <a:off x="522288" y="1774825"/>
            <a:ext cx="8261350" cy="4010025"/>
          </a:xfrm>
          <a:prstGeom prst="rect">
            <a:avLst/>
          </a:prstGeom>
          <a:solidFill>
            <a:schemeClr val="accent5">
              <a:lumMod val="20000"/>
              <a:lumOff val="80000"/>
            </a:schemeClr>
          </a:solidFill>
          <a:ln w="28575" cap="sq">
            <a:solidFill>
              <a:srgbClr val="66FF33"/>
            </a:solidFill>
            <a:miter lim="800000"/>
            <a:headEnd type="none" w="sm" len="sm"/>
            <a:tailEnd type="none" w="sm" len="sm"/>
          </a:ln>
          <a:effectLst/>
        </p:spPr>
        <p:txBody>
          <a:bodyPr>
            <a:spAutoFit/>
          </a:bodyPr>
          <a:lstStyle/>
          <a:p>
            <a:pPr marR="0" defTabSz="914400" eaLnBrk="1" hangingPunct="1">
              <a:lnSpc>
                <a:spcPct val="130000"/>
              </a:lnSpc>
              <a:buClrTx/>
              <a:buSzTx/>
              <a:buFontTx/>
              <a:buNone/>
              <a:defRPr/>
            </a:pPr>
            <a:r>
              <a:rPr kumimoji="1" lang="en-US" altLang="zh-CN" sz="2800" b="1" kern="1200" cap="none" spc="0" normalizeH="0" baseline="0" noProof="0" dirty="0">
                <a:solidFill>
                  <a:srgbClr val="000000"/>
                </a:solidFill>
                <a:latin typeface="Times New Roman" panose="02020603050405020304" pitchFamily="18" charset="0"/>
                <a:ea typeface="楷体_GB2312" pitchFamily="49" charset="-122"/>
                <a:cs typeface="+mn-cs"/>
              </a:rPr>
              <a:t>					       </a:t>
            </a: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这是一种传统的设计方法。即首先确定可用的元器件，然后根据器件进行逻辑设计，完成各模块后进行连接，最后形成一个完整的系统。</a:t>
            </a:r>
            <a:endPar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endParaRPr>
          </a:p>
          <a:p>
            <a:pPr marR="0" defTabSz="914400" eaLnBrk="1" hangingPunct="1">
              <a:lnSpc>
                <a:spcPct val="130000"/>
              </a:lnSpc>
              <a:buClrTx/>
              <a:buSzTx/>
              <a:buFontTx/>
              <a:buNone/>
              <a:defRPr/>
            </a:pPr>
            <a:r>
              <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rPr>
              <a:t>	由于它首先进行的是低层设计，因此，缺乏对整个系统总体性能的把握。系统规模越大，复杂度越高，其缺点越突出。</a:t>
            </a:r>
            <a:endParaRPr kumimoji="1" lang="zh-CN" altLang="en-US" sz="2800" b="1" kern="1200" cap="none" spc="0" normalizeH="0" baseline="0" noProof="0" dirty="0">
              <a:solidFill>
                <a:srgbClr val="000000"/>
              </a:solidFill>
              <a:latin typeface="Times New Roman" panose="02020603050405020304" pitchFamily="18" charset="0"/>
              <a:ea typeface="楷体_GB2312" pitchFamily="49" charset="-122"/>
              <a:cs typeface="+mn-cs"/>
            </a:endParaRPr>
          </a:p>
        </p:txBody>
      </p:sp>
      <p:sp>
        <p:nvSpPr>
          <p:cNvPr id="21507" name="Line 3"/>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
        <p:nvSpPr>
          <p:cNvPr id="125956" name="Rectangle 4"/>
          <p:cNvSpPr>
            <a:spLocks noGrp="1" noRot="1" noChangeArrowheads="1"/>
          </p:cNvSpPr>
          <p:nvPr>
            <p:ph type="title"/>
          </p:nvPr>
        </p:nvSpPr>
        <p:spPr>
          <a:xfrm>
            <a:off x="452438" y="604838"/>
            <a:ext cx="7200900" cy="576263"/>
          </a:xfrm>
        </p:spPr>
        <p:txBody>
          <a:bodyPr vert="horz" wrap="square" lIns="91440" tIns="45720" rIns="91440" bIns="45720" numCol="1" rtlCol="0" anchor="ctr" anchorCtr="0" compatLnSpc="1">
            <a:normAutofit fontScale="90000"/>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rPr>
              <a:t>数字集成电路的设计方法</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21509" name="Rectangle 5"/>
          <p:cNvSpPr/>
          <p:nvPr/>
        </p:nvSpPr>
        <p:spPr>
          <a:xfrm>
            <a:off x="628650" y="1846263"/>
            <a:ext cx="5167313" cy="519112"/>
          </a:xfrm>
          <a:prstGeom prst="rect">
            <a:avLst/>
          </a:prstGeom>
          <a:solidFill>
            <a:srgbClr val="FFFF00"/>
          </a:solidFill>
          <a:ln w="9525">
            <a:noFill/>
          </a:ln>
        </p:spPr>
        <p:txBody>
          <a:bodyPr>
            <a:spAutoFit/>
          </a:bodyPr>
          <a:p>
            <a:pPr eaLnBrk="1" hangingPunct="1"/>
            <a:r>
              <a:rPr lang="zh-CN" altLang="en-US" sz="2800" b="1" dirty="0">
                <a:solidFill>
                  <a:srgbClr val="CC0000"/>
                </a:solidFill>
                <a:latin typeface="Times New Roman" panose="02020603050405020304" pitchFamily="18" charset="0"/>
                <a:ea typeface="楷体_GB2312" pitchFamily="49" charset="-122"/>
              </a:rPr>
              <a:t>自底向上的设计 </a:t>
            </a:r>
            <a:r>
              <a:rPr lang="en-US" altLang="zh-CN" sz="2800" b="1" dirty="0">
                <a:solidFill>
                  <a:srgbClr val="CC0000"/>
                </a:solidFill>
                <a:latin typeface="Times New Roman" panose="02020603050405020304" pitchFamily="18" charset="0"/>
                <a:ea typeface="楷体_GB2312" pitchFamily="49" charset="-122"/>
              </a:rPr>
              <a:t>(</a:t>
            </a:r>
            <a:r>
              <a:rPr lang="en-US" altLang="zh-CN" sz="2800" b="1" i="1" dirty="0">
                <a:solidFill>
                  <a:srgbClr val="CC0000"/>
                </a:solidFill>
                <a:latin typeface="Times New Roman" panose="02020603050405020304" pitchFamily="18" charset="0"/>
                <a:ea typeface="楷体_GB2312" pitchFamily="49" charset="-122"/>
              </a:rPr>
              <a:t>DOWN-TOP</a:t>
            </a:r>
            <a:r>
              <a:rPr lang="en-US" altLang="zh-CN" sz="2800" b="1" dirty="0">
                <a:solidFill>
                  <a:srgbClr val="CC0000"/>
                </a:solidFill>
                <a:latin typeface="Times New Roman" panose="02020603050405020304" pitchFamily="18" charset="0"/>
                <a:ea typeface="楷体_GB2312" pitchFamily="49" charset="-122"/>
              </a:rPr>
              <a:t>)</a:t>
            </a:r>
            <a:r>
              <a:rPr lang="zh-CN" altLang="en-US" sz="2800" b="1" dirty="0">
                <a:solidFill>
                  <a:srgbClr val="CC0000"/>
                </a:solidFill>
                <a:latin typeface="Times New Roman" panose="02020603050405020304" pitchFamily="18" charset="0"/>
                <a:ea typeface="楷体_GB2312" pitchFamily="49" charset="-122"/>
              </a:rPr>
              <a:t>：</a:t>
            </a:r>
            <a:endParaRPr lang="zh-CN" altLang="en-US" sz="2800" b="1" dirty="0">
              <a:solidFill>
                <a:srgbClr val="CC0000"/>
              </a:solidFill>
              <a:latin typeface="Times New Roman" panose="02020603050405020304" pitchFamily="18" charset="0"/>
              <a:ea typeface="楷体_GB2312" pitchFamily="49" charset="-122"/>
            </a:endParaRPr>
          </a:p>
        </p:txBody>
      </p:sp>
    </p:spTree>
  </p:cSld>
  <p:clrMapOvr>
    <a:masterClrMapping/>
  </p:clrMapOvr>
  <p:transition spd="slow">
    <p:strips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25954">
                                            <p:txEl>
                                              <p:charRg st="0" end="73"/>
                                            </p:txEl>
                                          </p:spTgt>
                                        </p:tgtEl>
                                        <p:attrNameLst>
                                          <p:attrName>style.visibility</p:attrName>
                                        </p:attrNameLst>
                                      </p:cBhvr>
                                      <p:to>
                                        <p:strVal val="visible"/>
                                      </p:to>
                                    </p:set>
                                    <p:animEffect transition="in" filter="box(in)">
                                      <p:cBhvr>
                                        <p:cTn id="7" dur="500"/>
                                        <p:tgtEl>
                                          <p:spTgt spid="125954">
                                            <p:txEl>
                                              <p:charRg st="0" end="7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25954">
                                            <p:txEl>
                                              <p:charRg st="73" end="127"/>
                                            </p:txEl>
                                          </p:spTgt>
                                        </p:tgtEl>
                                        <p:attrNameLst>
                                          <p:attrName>style.visibility</p:attrName>
                                        </p:attrNameLst>
                                      </p:cBhvr>
                                      <p:to>
                                        <p:strVal val="visible"/>
                                      </p:to>
                                    </p:set>
                                    <p:animEffect transition="in" filter="box(in)">
                                      <p:cBhvr>
                                        <p:cTn id="12" dur="500"/>
                                        <p:tgtEl>
                                          <p:spTgt spid="125954">
                                            <p:txEl>
                                              <p:charRg st="73" end="12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227353" name="Group 25"/>
          <p:cNvGrpSpPr/>
          <p:nvPr/>
        </p:nvGrpSpPr>
        <p:grpSpPr bwMode="auto">
          <a:xfrm>
            <a:off x="862013" y="1916113"/>
            <a:ext cx="6950075" cy="3087687"/>
            <a:chOff x="567" y="1576"/>
            <a:chExt cx="4378" cy="1945"/>
          </a:xfrm>
          <a:solidFill>
            <a:schemeClr val="accent4">
              <a:lumMod val="20000"/>
              <a:lumOff val="80000"/>
            </a:schemeClr>
          </a:solidFill>
        </p:grpSpPr>
        <p:sp>
          <p:nvSpPr>
            <p:cNvPr id="227334" name="Rectangle 6"/>
            <p:cNvSpPr>
              <a:spLocks noChangeArrowheads="1"/>
            </p:cNvSpPr>
            <p:nvPr/>
          </p:nvSpPr>
          <p:spPr bwMode="auto">
            <a:xfrm>
              <a:off x="2017" y="1576"/>
              <a:ext cx="1497"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顶层模块</a:t>
              </a:r>
              <a:endParaRPr kumimoji="0" lang="zh-CN" altLang="en-US" sz="28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7335" name="Rectangle 7"/>
            <p:cNvSpPr>
              <a:spLocks noChangeArrowheads="1"/>
            </p:cNvSpPr>
            <p:nvPr/>
          </p:nvSpPr>
          <p:spPr bwMode="auto">
            <a:xfrm>
              <a:off x="773" y="2377"/>
              <a:ext cx="952"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宏单元</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1</a:t>
              </a:r>
              <a:endPar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27336" name="Rectangle 8"/>
            <p:cNvSpPr>
              <a:spLocks noChangeArrowheads="1"/>
            </p:cNvSpPr>
            <p:nvPr/>
          </p:nvSpPr>
          <p:spPr bwMode="auto">
            <a:xfrm>
              <a:off x="2265" y="2377"/>
              <a:ext cx="952"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宏单元</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2</a:t>
              </a:r>
              <a:endPar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27337" name="Rectangle 9"/>
            <p:cNvSpPr>
              <a:spLocks noChangeArrowheads="1"/>
            </p:cNvSpPr>
            <p:nvPr/>
          </p:nvSpPr>
          <p:spPr bwMode="auto">
            <a:xfrm>
              <a:off x="3722" y="2377"/>
              <a:ext cx="952"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楷体_GB2312" pitchFamily="49" charset="-122"/>
                  <a:ea typeface="楷体_GB2312" pitchFamily="49" charset="-122"/>
                  <a:cs typeface="+mn-cs"/>
                </a:rPr>
                <a:t>宏单元</a:t>
              </a:r>
              <a:r>
                <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3</a:t>
              </a:r>
              <a:endParaRPr kumimoji="0" lang="en-US" altLang="zh-CN" sz="24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27338" name="Rectangle 10"/>
            <p:cNvSpPr>
              <a:spLocks noChangeArrowheads="1"/>
            </p:cNvSpPr>
            <p:nvPr/>
          </p:nvSpPr>
          <p:spPr bwMode="auto">
            <a:xfrm>
              <a:off x="1292" y="3158"/>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7339" name="Rectangle 11"/>
            <p:cNvSpPr>
              <a:spLocks noChangeArrowheads="1"/>
            </p:cNvSpPr>
            <p:nvPr/>
          </p:nvSpPr>
          <p:spPr bwMode="auto">
            <a:xfrm>
              <a:off x="3606" y="3158"/>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7340" name="Rectangle 12"/>
            <p:cNvSpPr>
              <a:spLocks noChangeArrowheads="1"/>
            </p:cNvSpPr>
            <p:nvPr/>
          </p:nvSpPr>
          <p:spPr bwMode="auto">
            <a:xfrm>
              <a:off x="2108" y="3158"/>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7341" name="Rectangle 13"/>
            <p:cNvSpPr>
              <a:spLocks noChangeArrowheads="1"/>
            </p:cNvSpPr>
            <p:nvPr/>
          </p:nvSpPr>
          <p:spPr bwMode="auto">
            <a:xfrm>
              <a:off x="4356" y="3158"/>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7342" name="Rectangle 14"/>
            <p:cNvSpPr>
              <a:spLocks noChangeArrowheads="1"/>
            </p:cNvSpPr>
            <p:nvPr/>
          </p:nvSpPr>
          <p:spPr bwMode="auto">
            <a:xfrm>
              <a:off x="567" y="3158"/>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7343" name="Rectangle 15"/>
            <p:cNvSpPr>
              <a:spLocks noChangeArrowheads="1"/>
            </p:cNvSpPr>
            <p:nvPr/>
          </p:nvSpPr>
          <p:spPr bwMode="auto">
            <a:xfrm>
              <a:off x="2879" y="3158"/>
              <a:ext cx="589" cy="363"/>
            </a:xfrm>
            <a:prstGeom prst="rect">
              <a:avLst/>
            </a:prstGeom>
            <a:grpFill/>
            <a:ln w="31750">
              <a:solidFill>
                <a:srgbClr val="993366"/>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rPr>
                <a:t>页单元</a:t>
              </a:r>
              <a:endParaRPr kumimoji="0" lang="zh-CN" altLang="en-US" sz="2000" b="1" i="0" u="none" strike="noStrike" kern="1200" cap="none" spc="0" normalizeH="0" baseline="0" noProof="0">
                <a:ln>
                  <a:noFill/>
                </a:ln>
                <a:solidFill>
                  <a:schemeClr val="tx1"/>
                </a:solidFill>
                <a:effectLst/>
                <a:uLnTx/>
                <a:uFillTx/>
                <a:latin typeface="Arial" panose="020B0604020202020204" pitchFamily="34" charset="0"/>
                <a:ea typeface="楷体_GB2312" pitchFamily="49" charset="-122"/>
                <a:cs typeface="+mn-cs"/>
              </a:endParaRPr>
            </a:p>
          </p:txBody>
        </p:sp>
        <p:sp>
          <p:nvSpPr>
            <p:cNvPr id="227344" name="Line 16"/>
            <p:cNvSpPr>
              <a:spLocks noChangeShapeType="1"/>
            </p:cNvSpPr>
            <p:nvPr/>
          </p:nvSpPr>
          <p:spPr bwMode="auto">
            <a:xfrm>
              <a:off x="2734" y="1948"/>
              <a:ext cx="0" cy="431"/>
            </a:xfrm>
            <a:prstGeom prst="line">
              <a:avLst/>
            </a:prstGeom>
            <a:grpFill/>
            <a:ln w="33020">
              <a:solidFill>
                <a:srgbClr val="008080"/>
              </a:solidFill>
              <a:round/>
              <a:head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7345" name="Line 17"/>
            <p:cNvSpPr>
              <a:spLocks noChangeShapeType="1"/>
            </p:cNvSpPr>
            <p:nvPr/>
          </p:nvSpPr>
          <p:spPr bwMode="auto">
            <a:xfrm flipH="1">
              <a:off x="1237" y="1948"/>
              <a:ext cx="1497" cy="409"/>
            </a:xfrm>
            <a:prstGeom prst="line">
              <a:avLst/>
            </a:prstGeom>
            <a:grpFill/>
            <a:ln w="33020">
              <a:solidFill>
                <a:srgbClr val="008080"/>
              </a:solidFill>
              <a:round/>
              <a:head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7346" name="Line 18"/>
            <p:cNvSpPr>
              <a:spLocks noChangeShapeType="1"/>
            </p:cNvSpPr>
            <p:nvPr/>
          </p:nvSpPr>
          <p:spPr bwMode="auto">
            <a:xfrm>
              <a:off x="2734" y="1948"/>
              <a:ext cx="1452" cy="409"/>
            </a:xfrm>
            <a:prstGeom prst="line">
              <a:avLst/>
            </a:prstGeom>
            <a:grpFill/>
            <a:ln w="33020">
              <a:solidFill>
                <a:srgbClr val="008080"/>
              </a:solidFill>
              <a:round/>
              <a:head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7347" name="Line 19"/>
            <p:cNvSpPr>
              <a:spLocks noChangeShapeType="1"/>
            </p:cNvSpPr>
            <p:nvPr/>
          </p:nvSpPr>
          <p:spPr bwMode="auto">
            <a:xfrm flipH="1">
              <a:off x="875" y="2750"/>
              <a:ext cx="317" cy="408"/>
            </a:xfrm>
            <a:prstGeom prst="line">
              <a:avLst/>
            </a:prstGeom>
            <a:grpFill/>
            <a:ln w="33020">
              <a:solidFill>
                <a:srgbClr val="008080"/>
              </a:solidFill>
              <a:round/>
              <a:head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7348" name="Line 20"/>
            <p:cNvSpPr>
              <a:spLocks noChangeShapeType="1"/>
            </p:cNvSpPr>
            <p:nvPr/>
          </p:nvSpPr>
          <p:spPr bwMode="auto">
            <a:xfrm>
              <a:off x="1177" y="2740"/>
              <a:ext cx="363" cy="408"/>
            </a:xfrm>
            <a:prstGeom prst="line">
              <a:avLst/>
            </a:prstGeom>
            <a:grpFill/>
            <a:ln w="33020">
              <a:solidFill>
                <a:srgbClr val="008080"/>
              </a:solidFill>
              <a:round/>
              <a:head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7349" name="Line 21"/>
            <p:cNvSpPr>
              <a:spLocks noChangeShapeType="1"/>
            </p:cNvSpPr>
            <p:nvPr/>
          </p:nvSpPr>
          <p:spPr bwMode="auto">
            <a:xfrm flipH="1">
              <a:off x="2371" y="2740"/>
              <a:ext cx="363" cy="408"/>
            </a:xfrm>
            <a:prstGeom prst="line">
              <a:avLst/>
            </a:prstGeom>
            <a:grpFill/>
            <a:ln w="33020">
              <a:solidFill>
                <a:srgbClr val="008080"/>
              </a:solidFill>
              <a:round/>
              <a:head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7350" name="Line 22"/>
            <p:cNvSpPr>
              <a:spLocks noChangeShapeType="1"/>
            </p:cNvSpPr>
            <p:nvPr/>
          </p:nvSpPr>
          <p:spPr bwMode="auto">
            <a:xfrm>
              <a:off x="2709" y="2740"/>
              <a:ext cx="408" cy="408"/>
            </a:xfrm>
            <a:prstGeom prst="line">
              <a:avLst/>
            </a:prstGeom>
            <a:grpFill/>
            <a:ln w="33020">
              <a:solidFill>
                <a:srgbClr val="008080"/>
              </a:solidFill>
              <a:round/>
              <a:head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7351" name="Line 23"/>
            <p:cNvSpPr>
              <a:spLocks noChangeShapeType="1"/>
            </p:cNvSpPr>
            <p:nvPr/>
          </p:nvSpPr>
          <p:spPr bwMode="auto">
            <a:xfrm flipH="1">
              <a:off x="3878" y="2740"/>
              <a:ext cx="318" cy="408"/>
            </a:xfrm>
            <a:prstGeom prst="line">
              <a:avLst/>
            </a:prstGeom>
            <a:grpFill/>
            <a:ln w="33020">
              <a:solidFill>
                <a:srgbClr val="008080"/>
              </a:solidFill>
              <a:round/>
              <a:head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27352" name="Line 24"/>
            <p:cNvSpPr>
              <a:spLocks noChangeShapeType="1"/>
            </p:cNvSpPr>
            <p:nvPr/>
          </p:nvSpPr>
          <p:spPr bwMode="auto">
            <a:xfrm>
              <a:off x="4196" y="2740"/>
              <a:ext cx="408" cy="408"/>
            </a:xfrm>
            <a:prstGeom prst="line">
              <a:avLst/>
            </a:prstGeom>
            <a:grpFill/>
            <a:ln w="33020">
              <a:solidFill>
                <a:srgbClr val="008080"/>
              </a:solidFill>
              <a:round/>
              <a:head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pSp>
      <p:sp>
        <p:nvSpPr>
          <p:cNvPr id="227354" name="Rectangle 26"/>
          <p:cNvSpPr>
            <a:spLocks noRot="1" noChangeArrowheads="1"/>
          </p:cNvSpPr>
          <p:nvPr/>
        </p:nvSpPr>
        <p:spPr bwMode="auto">
          <a:xfrm>
            <a:off x="414338" y="531813"/>
            <a:ext cx="7200900"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自底向上的设计 </a:t>
            </a: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(DOWN-TOP)</a:t>
            </a:r>
            <a:endPar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endParaRPr>
          </a:p>
        </p:txBody>
      </p:sp>
      <p:sp>
        <p:nvSpPr>
          <p:cNvPr id="23556" name="Line 27"/>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8354" name="Rectangle 2"/>
          <p:cNvSpPr>
            <a:spLocks noGrp="1" noRot="1" noChangeArrowheads="1"/>
          </p:cNvSpPr>
          <p:nvPr>
            <p:ph type="title"/>
          </p:nvPr>
        </p:nvSpPr>
        <p:spPr>
          <a:xfrm>
            <a:off x="250825" y="1554163"/>
            <a:ext cx="8497888" cy="4754563"/>
          </a:xfrm>
          <a:solidFill>
            <a:schemeClr val="accent5">
              <a:lumMod val="20000"/>
              <a:lumOff val="80000"/>
            </a:schemeClr>
          </a:solidFill>
          <a:ln w="28575">
            <a:solidFill>
              <a:srgbClr val="808080"/>
            </a:solidFill>
            <a:miter lim="800000"/>
          </a:ln>
        </p:spPr>
        <p:txBody>
          <a:bodyPr vert="horz" wrap="square" lIns="91440" tIns="45720" rIns="91440" bIns="45720" numCol="1" rtlCol="0" anchor="ctr" anchorCtr="0" compatLnSpc="1">
            <a:sp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3200" b="1" i="0" u="none" strike="noStrike" kern="1200" cap="none" spc="0" normalizeH="0" baseline="0" noProof="0" dirty="0" smtClean="0">
                <a:ln>
                  <a:noFill/>
                </a:ln>
                <a:solidFill>
                  <a:srgbClr val="000000"/>
                </a:solidFill>
                <a:effectLst/>
                <a:uLnTx/>
                <a:uFillTx/>
                <a:latin typeface="Arial Black" panose="020B0A04020102020204" pitchFamily="34" charset="0"/>
                <a:ea typeface="楷体_GB2312" pitchFamily="49" charset="-122"/>
                <a:cs typeface="+mj-cs"/>
              </a:rPr>
              <a:t>	</a:t>
            </a:r>
            <a:r>
              <a:rPr kumimoji="0" lang="zh-CN" altLang="en-US" sz="3200" b="1" i="0" u="none" strike="noStrike" kern="1200" cap="none" spc="0" normalizeH="0" baseline="0" noProof="0" dirty="0" smtClean="0">
                <a:ln>
                  <a:noFill/>
                </a:ln>
                <a:solidFill>
                  <a:srgbClr val="000000"/>
                </a:solidFill>
                <a:effectLst/>
                <a:uLnTx/>
                <a:uFillTx/>
                <a:latin typeface="Arial Black" panose="020B0A04020102020204" pitchFamily="34" charset="0"/>
                <a:ea typeface="楷体_GB2312" pitchFamily="49" charset="-122"/>
                <a:cs typeface="+mj-cs"/>
              </a:rPr>
              <a:t>高层综合和优化：</a:t>
            </a:r>
            <a:r>
              <a:rPr kumimoji="0" lang="zh-CN" altLang="en-US" sz="2800" b="1" i="0" u="none" strike="noStrike" kern="1200" cap="none" spc="0" normalizeH="0" baseline="0" noProof="0" dirty="0" smtClean="0">
                <a:ln>
                  <a:noFill/>
                </a:ln>
                <a:solidFill>
                  <a:srgbClr val="990099"/>
                </a:solidFill>
                <a:effectLst/>
                <a:uLnTx/>
                <a:uFillTx/>
                <a:latin typeface="Arial Black" panose="020B0A04020102020204" pitchFamily="34" charset="0"/>
                <a:ea typeface="楷体_GB2312" pitchFamily="49" charset="-122"/>
                <a:cs typeface="+mj-cs"/>
              </a:rPr>
              <a:t>更好地支持自顶向下的设计方法，能够进行系统级的综合与优化，缩短了设计周期提高了效率。</a:t>
            </a:r>
            <a:br>
              <a:rPr kumimoji="0" lang="zh-CN" altLang="en-US" sz="3200" b="1" i="0" u="none" strike="noStrike" kern="1200" cap="none" spc="0" normalizeH="0" baseline="0" noProof="0" dirty="0" smtClean="0">
                <a:ln>
                  <a:noFill/>
                </a:ln>
                <a:solidFill>
                  <a:srgbClr val="990099"/>
                </a:solidFill>
                <a:effectLst/>
                <a:uLnTx/>
                <a:uFillTx/>
                <a:latin typeface="Arial Black" panose="020B0A04020102020204" pitchFamily="34" charset="0"/>
                <a:ea typeface="楷体_GB2312" pitchFamily="49" charset="-122"/>
                <a:cs typeface="+mj-cs"/>
              </a:rPr>
            </a:br>
            <a:r>
              <a:rPr kumimoji="0" lang="zh-CN" altLang="en-US" sz="3200" b="1" i="0" u="none" strike="noStrike" kern="1200" cap="none" spc="0" normalizeH="0" baseline="0" noProof="0" dirty="0" smtClean="0">
                <a:ln>
                  <a:noFill/>
                </a:ln>
                <a:solidFill>
                  <a:srgbClr val="990099"/>
                </a:solidFill>
                <a:effectLst/>
                <a:uLnTx/>
                <a:uFillTx/>
                <a:latin typeface="Arial Black" panose="020B0A04020102020204" pitchFamily="34" charset="0"/>
                <a:ea typeface="楷体_GB2312" pitchFamily="49" charset="-122"/>
                <a:cs typeface="+mj-cs"/>
              </a:rPr>
              <a:t>	</a:t>
            </a:r>
            <a:r>
              <a:rPr kumimoji="0" lang="zh-CN" altLang="en-US" sz="3200" b="1" i="0" u="none" strike="noStrike" kern="1200" cap="none" spc="0" normalizeH="0" baseline="0" noProof="0" dirty="0" smtClean="0">
                <a:ln>
                  <a:noFill/>
                </a:ln>
                <a:solidFill>
                  <a:srgbClr val="000000"/>
                </a:solidFill>
                <a:effectLst/>
                <a:uLnTx/>
                <a:uFillTx/>
                <a:latin typeface="Arial Black" panose="020B0A04020102020204" pitchFamily="34" charset="0"/>
                <a:ea typeface="楷体_GB2312" pitchFamily="49" charset="-122"/>
                <a:cs typeface="+mj-cs"/>
              </a:rPr>
              <a:t>采用硬件描述语言进行设计：</a:t>
            </a:r>
            <a:r>
              <a:rPr kumimoji="0" lang="zh-CN" altLang="en-US" sz="2800" b="1" i="0" u="none" strike="noStrike" kern="1200" cap="none" spc="0" normalizeH="0" baseline="0" noProof="0" dirty="0" smtClean="0">
                <a:ln>
                  <a:noFill/>
                </a:ln>
                <a:solidFill>
                  <a:srgbClr val="990099"/>
                </a:solidFill>
                <a:effectLst/>
                <a:uLnTx/>
                <a:uFillTx/>
                <a:latin typeface="Arial Black" panose="020B0A04020102020204" pitchFamily="34" charset="0"/>
                <a:ea typeface="楷体_GB2312" pitchFamily="49" charset="-122"/>
                <a:cs typeface="+mj-cs"/>
              </a:rPr>
              <a:t>更适合描述规模大的数字系统，够使设计者在比较抽象的层次上对所设计的系统结构和逻辑功能进行设计。语言的设计与工艺的无关性，便于复用、交流、保存和修改等。</a:t>
            </a:r>
            <a:br>
              <a:rPr kumimoji="0" lang="zh-CN" altLang="en-US" sz="3200" b="1" i="0" u="none" strike="noStrike" kern="1200" cap="none" spc="0" normalizeH="0" baseline="0" noProof="0" dirty="0" smtClean="0">
                <a:ln>
                  <a:noFill/>
                </a:ln>
                <a:solidFill>
                  <a:srgbClr val="990099"/>
                </a:solidFill>
                <a:effectLst/>
                <a:uLnTx/>
                <a:uFillTx/>
                <a:latin typeface="Arial Black" panose="020B0A04020102020204" pitchFamily="34" charset="0"/>
                <a:ea typeface="楷体_GB2312" pitchFamily="49" charset="-122"/>
                <a:cs typeface="+mj-cs"/>
              </a:rPr>
            </a:br>
            <a:r>
              <a:rPr kumimoji="0" lang="zh-CN" altLang="en-US" sz="3200" b="1" i="0" u="none" strike="noStrike" kern="1200" cap="none" spc="0" normalizeH="0" baseline="0" noProof="0" dirty="0" smtClean="0">
                <a:ln>
                  <a:noFill/>
                </a:ln>
                <a:solidFill>
                  <a:srgbClr val="990099"/>
                </a:solidFill>
                <a:effectLst/>
                <a:uLnTx/>
                <a:uFillTx/>
                <a:latin typeface="Arial Black" panose="020B0A04020102020204" pitchFamily="34" charset="0"/>
                <a:ea typeface="楷体_GB2312" pitchFamily="49" charset="-122"/>
                <a:cs typeface="+mj-cs"/>
              </a:rPr>
              <a:t>	</a:t>
            </a:r>
            <a:r>
              <a:rPr kumimoji="0" lang="zh-CN" altLang="en-US" sz="3200" b="1" i="0" u="none" strike="noStrike" kern="1200" cap="none" spc="0" normalizeH="0" baseline="0" noProof="0" dirty="0" smtClean="0">
                <a:ln>
                  <a:noFill/>
                </a:ln>
                <a:solidFill>
                  <a:srgbClr val="000000"/>
                </a:solidFill>
                <a:effectLst/>
                <a:uLnTx/>
                <a:uFillTx/>
                <a:latin typeface="Arial Black" panose="020B0A04020102020204" pitchFamily="34" charset="0"/>
                <a:ea typeface="楷体_GB2312" pitchFamily="49" charset="-122"/>
                <a:cs typeface="+mj-cs"/>
              </a:rPr>
              <a:t>开放性和标准化：</a:t>
            </a:r>
            <a:r>
              <a:rPr kumimoji="0" lang="zh-CN" altLang="en-US"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j-cs"/>
              </a:rPr>
              <a:t>采用了标准化和开放性框架结构，可实现各种 </a:t>
            </a:r>
            <a:r>
              <a:rPr kumimoji="0" lang="en-US" altLang="zh-CN" sz="2800" b="1" i="1"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j-cs"/>
              </a:rPr>
              <a:t>EDA</a:t>
            </a:r>
            <a:r>
              <a:rPr kumimoji="0" lang="en-US" altLang="zh-CN"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j-cs"/>
              </a:rPr>
              <a:t> </a:t>
            </a:r>
            <a:r>
              <a:rPr kumimoji="0" lang="zh-CN" altLang="en-US"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j-cs"/>
              </a:rPr>
              <a:t>工具间的优化组合，并集成在一个易于管理的统一环境之下，实现资源共享。</a:t>
            </a:r>
            <a:r>
              <a:rPr kumimoji="0" lang="zh-CN" altLang="en-US" sz="4000" b="1" i="0" u="none" strike="noStrike" kern="1200" cap="none" spc="0" normalizeH="0" baseline="0" noProof="0" dirty="0" smtClean="0">
                <a:ln>
                  <a:noFill/>
                </a:ln>
                <a:solidFill>
                  <a:schemeClr val="hlink"/>
                </a:solidFill>
                <a:effectLst/>
                <a:uLnTx/>
                <a:uFillTx/>
                <a:latin typeface="Comic Sans MS" panose="030F0702030302020204" pitchFamily="66" charset="0"/>
                <a:ea typeface="华文行楷" panose="02010800040101010101" pitchFamily="2" charset="-122"/>
                <a:cs typeface="+mj-cs"/>
              </a:rPr>
              <a:t> </a:t>
            </a:r>
            <a:endParaRPr kumimoji="0" lang="zh-CN" altLang="en-US" sz="3600" b="1" i="0" u="none" strike="noStrike" kern="1200" cap="none" spc="0" normalizeH="0" baseline="0" noProof="0" dirty="0" smtClean="0">
              <a:ln>
                <a:noFill/>
              </a:ln>
              <a:solidFill>
                <a:schemeClr val="tx1"/>
              </a:solidFill>
              <a:effectLst/>
              <a:uLnTx/>
              <a:uFillTx/>
              <a:latin typeface="华文行楷" panose="02010800040101010101" pitchFamily="2" charset="-122"/>
              <a:ea typeface="华文行楷" panose="02010800040101010101" pitchFamily="2" charset="-122"/>
              <a:cs typeface="+mj-cs"/>
            </a:endParaRPr>
          </a:p>
        </p:txBody>
      </p:sp>
      <p:sp>
        <p:nvSpPr>
          <p:cNvPr id="25603"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228357" name="Rectangle 5"/>
          <p:cNvSpPr>
            <a:spLocks noChangeArrowheads="1"/>
          </p:cNvSpPr>
          <p:nvPr/>
        </p:nvSpPr>
        <p:spPr bwMode="auto">
          <a:xfrm>
            <a:off x="468313" y="525463"/>
            <a:ext cx="66960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smtClean="0">
                <a:ln>
                  <a:noFill/>
                </a:ln>
                <a:solidFill>
                  <a:schemeClr val="hlink"/>
                </a:solidFill>
                <a:effectLst/>
                <a:uLnTx/>
                <a:uFillTx/>
                <a:latin typeface="+mn-ea"/>
                <a:ea typeface="+mn-ea"/>
                <a:cs typeface="+mn-cs"/>
              </a:rPr>
              <a:t>EDA </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n-cs"/>
              </a:rPr>
              <a:t>技术的特点</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mn-cs"/>
            </a:endParaRPr>
          </a:p>
        </p:txBody>
      </p:sp>
    </p:spTree>
  </p:cSld>
  <p:clrMapOvr>
    <a:masterClrMapping/>
  </p:clrMapOvr>
  <p:transition spd="slow">
    <p:pull dir="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2" name="Rectangle 2"/>
          <p:cNvSpPr>
            <a:spLocks noGrp="1" noRot="1" noChangeArrowheads="1"/>
          </p:cNvSpPr>
          <p:nvPr>
            <p:ph type="title"/>
          </p:nvPr>
        </p:nvSpPr>
        <p:spPr>
          <a:xfrm>
            <a:off x="465138" y="482600"/>
            <a:ext cx="7416800" cy="646113"/>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spAutoFit/>
          </a:bodyPr>
          <a:lstStyle/>
          <a:p>
            <a:pPr marL="0" marR="0" lvl="0" indent="0" algn="l" defTabSz="685800" rtl="0" eaLnBrk="1" fontAlgn="base" latinLnBrk="0" hangingPunct="1">
              <a:lnSpc>
                <a:spcPct val="90000"/>
              </a:lnSpc>
              <a:spcBef>
                <a:spcPct val="0"/>
              </a:spcBef>
              <a:spcAft>
                <a:spcPct val="0"/>
              </a:spcAft>
              <a:buClrTx/>
              <a:buSzTx/>
              <a:buFontTx/>
              <a:buNone/>
              <a:defRPr/>
            </a:pP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n-cs"/>
              </a:rPr>
              <a:t>传统与现代数字系统设计的比较</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mn-cs"/>
            </a:endParaRPr>
          </a:p>
        </p:txBody>
      </p:sp>
      <p:sp>
        <p:nvSpPr>
          <p:cNvPr id="133123" name="AutoShape 3"/>
          <p:cNvSpPr/>
          <p:nvPr/>
        </p:nvSpPr>
        <p:spPr>
          <a:xfrm>
            <a:off x="4175125" y="1268413"/>
            <a:ext cx="3921125" cy="1808162"/>
          </a:xfrm>
          <a:prstGeom prst="wedgeRoundRectCallout">
            <a:avLst>
              <a:gd name="adj1" fmla="val -20282"/>
              <a:gd name="adj2" fmla="val -49560"/>
              <a:gd name="adj3" fmla="val 16667"/>
            </a:avLst>
          </a:prstGeom>
          <a:solidFill>
            <a:srgbClr val="CCFF99"/>
          </a:solidFill>
          <a:ln w="28575" cap="flat" cmpd="sng">
            <a:solidFill>
              <a:srgbClr val="66FF33"/>
            </a:solidFill>
            <a:prstDash val="solid"/>
            <a:miter/>
            <a:headEnd type="none" w="med" len="med"/>
            <a:tailEnd type="none" w="med" len="med"/>
          </a:ln>
        </p:spPr>
        <p:txBody>
          <a:bodyPr/>
          <a:p>
            <a:pPr algn="ctr" eaLnBrk="1" hangingPunct="1"/>
            <a:r>
              <a:rPr lang="zh-CN" altLang="en-US" sz="2400" b="1" dirty="0">
                <a:solidFill>
                  <a:srgbClr val="000000"/>
                </a:solidFill>
                <a:latin typeface="Times New Roman" panose="02020603050405020304" pitchFamily="18" charset="0"/>
                <a:ea typeface="楷体_GB2312" pitchFamily="49" charset="-122"/>
              </a:rPr>
              <a:t>指集成电路制造工艺处于微米、亚微米级时期（</a:t>
            </a:r>
            <a:r>
              <a:rPr lang="en-US" altLang="zh-CN" sz="2400" b="1" dirty="0">
                <a:solidFill>
                  <a:srgbClr val="000000"/>
                </a:solidFill>
                <a:latin typeface="Times New Roman" panose="02020603050405020304" pitchFamily="18" charset="0"/>
                <a:ea typeface="楷体_GB2312" pitchFamily="49" charset="-122"/>
              </a:rPr>
              <a:t>0.35</a:t>
            </a:r>
            <a:r>
              <a:rPr lang="en-US" altLang="zh-CN" sz="2400" b="1" dirty="0">
                <a:solidFill>
                  <a:srgbClr val="000000"/>
                </a:solidFill>
                <a:latin typeface="Times New Roman" panose="02020603050405020304" pitchFamily="18" charset="0"/>
                <a:cs typeface="Times New Roman" panose="02020603050405020304" pitchFamily="18" charset="0"/>
              </a:rPr>
              <a:t>μm</a:t>
            </a:r>
            <a:r>
              <a:rPr lang="zh-CN" altLang="en-US" sz="2400" b="1" dirty="0">
                <a:solidFill>
                  <a:srgbClr val="000000"/>
                </a:solidFill>
                <a:latin typeface="Times New Roman" panose="02020603050405020304" pitchFamily="18" charset="0"/>
                <a:ea typeface="楷体_GB2312" pitchFamily="49" charset="-122"/>
              </a:rPr>
              <a:t>）的</a:t>
            </a:r>
            <a:endParaRPr lang="zh-CN" altLang="en-US" sz="2400" b="1" dirty="0">
              <a:solidFill>
                <a:srgbClr val="000000"/>
              </a:solidFill>
              <a:latin typeface="Times New Roman" panose="02020603050405020304" pitchFamily="18" charset="0"/>
              <a:ea typeface="楷体_GB2312" pitchFamily="49" charset="-122"/>
            </a:endParaRPr>
          </a:p>
          <a:p>
            <a:pPr algn="ctr" eaLnBrk="1" hangingPunct="1"/>
            <a:r>
              <a:rPr lang="zh-CN" altLang="en-US" sz="2400" b="1" dirty="0">
                <a:solidFill>
                  <a:srgbClr val="000000"/>
                </a:solidFill>
                <a:latin typeface="Times New Roman" panose="02020603050405020304" pitchFamily="18" charset="0"/>
                <a:ea typeface="楷体_GB2312" pitchFamily="49" charset="-122"/>
              </a:rPr>
              <a:t>设计流程。</a:t>
            </a:r>
            <a:endParaRPr lang="zh-CN" altLang="en-US" sz="2400" b="1" dirty="0">
              <a:solidFill>
                <a:srgbClr val="000000"/>
              </a:solidFill>
              <a:latin typeface="Times New Roman" panose="02020603050405020304" pitchFamily="18" charset="0"/>
              <a:ea typeface="楷体_GB2312" pitchFamily="49" charset="-122"/>
            </a:endParaRPr>
          </a:p>
        </p:txBody>
      </p:sp>
      <p:sp>
        <p:nvSpPr>
          <p:cNvPr id="133124" name="AutoShape 4"/>
          <p:cNvSpPr/>
          <p:nvPr/>
        </p:nvSpPr>
        <p:spPr>
          <a:xfrm>
            <a:off x="4173538" y="3460750"/>
            <a:ext cx="3925887" cy="1930400"/>
          </a:xfrm>
          <a:prstGeom prst="wedgeRoundRectCallout">
            <a:avLst>
              <a:gd name="adj1" fmla="val 32574"/>
              <a:gd name="adj2" fmla="val -4278"/>
              <a:gd name="adj3" fmla="val 16667"/>
            </a:avLst>
          </a:prstGeom>
          <a:solidFill>
            <a:srgbClr val="CCFF99"/>
          </a:solidFill>
          <a:ln w="28575" cap="flat" cmpd="sng">
            <a:solidFill>
              <a:srgbClr val="66FF33"/>
            </a:solidFill>
            <a:prstDash val="solid"/>
            <a:miter/>
            <a:headEnd type="none" w="med" len="med"/>
            <a:tailEnd type="none" w="med" len="med"/>
          </a:ln>
        </p:spPr>
        <p:txBody>
          <a:bodyPr/>
          <a:p>
            <a:pPr algn="ctr" eaLnBrk="1" hangingPunct="1"/>
            <a:r>
              <a:rPr lang="zh-CN" altLang="en-US" sz="2400" b="1" dirty="0">
                <a:solidFill>
                  <a:srgbClr val="000000"/>
                </a:solidFill>
                <a:latin typeface="Times New Roman" panose="02020603050405020304" pitchFamily="18" charset="0"/>
                <a:ea typeface="楷体_GB2312" pitchFamily="49" charset="-122"/>
              </a:rPr>
              <a:t>指当前集成电路制造工艺已经达到深亚微米水平（</a:t>
            </a:r>
            <a:r>
              <a:rPr lang="en-US" altLang="zh-CN" sz="2400" b="1" dirty="0">
                <a:solidFill>
                  <a:srgbClr val="000000"/>
                </a:solidFill>
                <a:latin typeface="Times New Roman" panose="02020603050405020304" pitchFamily="18" charset="0"/>
                <a:ea typeface="楷体_GB2312" pitchFamily="49" charset="-122"/>
              </a:rPr>
              <a:t>0.35</a:t>
            </a:r>
            <a:r>
              <a:rPr lang="en-US" altLang="zh-CN" sz="2400" b="1" dirty="0">
                <a:solidFill>
                  <a:srgbClr val="000000"/>
                </a:solidFill>
                <a:latin typeface="Times New Roman" panose="02020603050405020304" pitchFamily="18" charset="0"/>
                <a:cs typeface="Times New Roman" panose="02020603050405020304" pitchFamily="18" charset="0"/>
              </a:rPr>
              <a:t>μm</a:t>
            </a:r>
            <a:r>
              <a:rPr lang="zh-CN" altLang="en-US" sz="2400" b="1" dirty="0">
                <a:solidFill>
                  <a:srgbClr val="000000"/>
                </a:solidFill>
                <a:latin typeface="Times New Roman" panose="02020603050405020304" pitchFamily="18" charset="0"/>
              </a:rPr>
              <a:t>以下</a:t>
            </a:r>
            <a:r>
              <a:rPr lang="zh-CN" altLang="en-US" sz="2400" b="1" dirty="0">
                <a:solidFill>
                  <a:srgbClr val="000000"/>
                </a:solidFill>
                <a:latin typeface="Times New Roman" panose="02020603050405020304" pitchFamily="18" charset="0"/>
                <a:ea typeface="楷体_GB2312" pitchFamily="49" charset="-122"/>
              </a:rPr>
              <a:t>）后与之相适应的设计流程。</a:t>
            </a:r>
            <a:endParaRPr lang="zh-CN" altLang="en-US" sz="2400" b="1" dirty="0">
              <a:solidFill>
                <a:srgbClr val="000000"/>
              </a:solidFill>
              <a:latin typeface="Times New Roman" panose="02020603050405020304" pitchFamily="18" charset="0"/>
              <a:ea typeface="楷体_GB2312" pitchFamily="49" charset="-122"/>
            </a:endParaRPr>
          </a:p>
        </p:txBody>
      </p:sp>
      <p:sp>
        <p:nvSpPr>
          <p:cNvPr id="27653" name="Text Box 5"/>
          <p:cNvSpPr txBox="1"/>
          <p:nvPr/>
        </p:nvSpPr>
        <p:spPr>
          <a:xfrm>
            <a:off x="873125" y="1574800"/>
            <a:ext cx="1122363" cy="1146175"/>
          </a:xfrm>
          <a:prstGeom prst="rect">
            <a:avLst/>
          </a:prstGeom>
          <a:solidFill>
            <a:schemeClr val="accent1"/>
          </a:solidFill>
          <a:ln w="28829" cap="flat" cmpd="sng">
            <a:solidFill>
              <a:schemeClr val="hlink"/>
            </a:solidFill>
            <a:prstDash val="solid"/>
            <a:miter/>
            <a:headEnd type="none" w="med" len="med"/>
            <a:tailEnd type="none" w="med" len="med"/>
          </a:ln>
        </p:spPr>
        <p:txBody>
          <a:bodyPr>
            <a:spAutoFit/>
          </a:bodyPr>
          <a:p>
            <a:pPr algn="ctr" eaLnBrk="1" hangingPunct="1">
              <a:lnSpc>
                <a:spcPct val="80000"/>
              </a:lnSpc>
              <a:spcBef>
                <a:spcPct val="50000"/>
              </a:spcBef>
            </a:pPr>
            <a:r>
              <a:rPr lang="zh-CN" altLang="en-US" sz="3200" b="1" dirty="0">
                <a:latin typeface="Times New Roman" panose="02020603050405020304" pitchFamily="18" charset="0"/>
                <a:ea typeface="楷体_GB2312" pitchFamily="49" charset="-122"/>
              </a:rPr>
              <a:t>传统</a:t>
            </a:r>
            <a:endParaRPr lang="zh-CN" altLang="en-US" sz="3200" b="1" dirty="0">
              <a:latin typeface="Times New Roman" panose="02020603050405020304" pitchFamily="18" charset="0"/>
              <a:ea typeface="楷体_GB2312" pitchFamily="49" charset="-122"/>
            </a:endParaRPr>
          </a:p>
          <a:p>
            <a:pPr algn="ctr" eaLnBrk="1" hangingPunct="1">
              <a:lnSpc>
                <a:spcPct val="80000"/>
              </a:lnSpc>
              <a:spcBef>
                <a:spcPct val="50000"/>
              </a:spcBef>
            </a:pPr>
            <a:r>
              <a:rPr lang="zh-CN" altLang="en-US" sz="3200" b="1" dirty="0">
                <a:latin typeface="Times New Roman" panose="02020603050405020304" pitchFamily="18" charset="0"/>
                <a:ea typeface="楷体_GB2312" pitchFamily="49" charset="-122"/>
              </a:rPr>
              <a:t>设计</a:t>
            </a:r>
            <a:endParaRPr lang="zh-CN" altLang="en-US" sz="3200" b="1" dirty="0">
              <a:latin typeface="Times New Roman" panose="02020603050405020304" pitchFamily="18" charset="0"/>
              <a:ea typeface="楷体_GB2312" pitchFamily="49" charset="-122"/>
            </a:endParaRPr>
          </a:p>
        </p:txBody>
      </p:sp>
      <p:sp>
        <p:nvSpPr>
          <p:cNvPr id="27654" name="AutoShape 6"/>
          <p:cNvSpPr/>
          <p:nvPr/>
        </p:nvSpPr>
        <p:spPr>
          <a:xfrm>
            <a:off x="2441575" y="1909763"/>
            <a:ext cx="1350963" cy="514350"/>
          </a:xfrm>
          <a:prstGeom prst="rightArrow">
            <a:avLst>
              <a:gd name="adj1" fmla="val 50000"/>
              <a:gd name="adj2" fmla="val 65663"/>
            </a:avLst>
          </a:prstGeom>
          <a:solidFill>
            <a:srgbClr val="CCFF99"/>
          </a:solidFill>
          <a:ln w="28575" cap="flat" cmpd="sng">
            <a:solidFill>
              <a:srgbClr val="66FF33"/>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27655" name="Text Box 7"/>
          <p:cNvSpPr txBox="1"/>
          <p:nvPr/>
        </p:nvSpPr>
        <p:spPr>
          <a:xfrm>
            <a:off x="914400" y="3738563"/>
            <a:ext cx="1122363" cy="1146175"/>
          </a:xfrm>
          <a:prstGeom prst="rect">
            <a:avLst/>
          </a:prstGeom>
          <a:solidFill>
            <a:schemeClr val="accent1"/>
          </a:solidFill>
          <a:ln w="28829" cap="flat" cmpd="sng">
            <a:solidFill>
              <a:schemeClr val="hlink"/>
            </a:solidFill>
            <a:prstDash val="solid"/>
            <a:miter/>
            <a:headEnd type="none" w="med" len="med"/>
            <a:tailEnd type="none" w="med" len="med"/>
          </a:ln>
        </p:spPr>
        <p:txBody>
          <a:bodyPr>
            <a:spAutoFit/>
          </a:bodyPr>
          <a:p>
            <a:pPr algn="ctr" eaLnBrk="1" hangingPunct="1">
              <a:lnSpc>
                <a:spcPct val="80000"/>
              </a:lnSpc>
              <a:spcBef>
                <a:spcPct val="50000"/>
              </a:spcBef>
            </a:pPr>
            <a:r>
              <a:rPr lang="zh-CN" altLang="en-US" sz="3200" b="1" dirty="0">
                <a:latin typeface="Times New Roman" panose="02020603050405020304" pitchFamily="18" charset="0"/>
                <a:ea typeface="楷体_GB2312" pitchFamily="49" charset="-122"/>
              </a:rPr>
              <a:t>现代</a:t>
            </a:r>
            <a:endParaRPr lang="zh-CN" altLang="en-US" sz="3200" b="1" dirty="0">
              <a:latin typeface="Times New Roman" panose="02020603050405020304" pitchFamily="18" charset="0"/>
              <a:ea typeface="楷体_GB2312" pitchFamily="49" charset="-122"/>
            </a:endParaRPr>
          </a:p>
          <a:p>
            <a:pPr algn="ctr" eaLnBrk="1" hangingPunct="1">
              <a:lnSpc>
                <a:spcPct val="80000"/>
              </a:lnSpc>
              <a:spcBef>
                <a:spcPct val="50000"/>
              </a:spcBef>
            </a:pPr>
            <a:r>
              <a:rPr lang="zh-CN" altLang="en-US" sz="3200" b="1" dirty="0">
                <a:latin typeface="Times New Roman" panose="02020603050405020304" pitchFamily="18" charset="0"/>
                <a:ea typeface="楷体_GB2312" pitchFamily="49" charset="-122"/>
              </a:rPr>
              <a:t>设计</a:t>
            </a:r>
            <a:endParaRPr lang="zh-CN" altLang="en-US" sz="3200" b="1" dirty="0">
              <a:latin typeface="Times New Roman" panose="02020603050405020304" pitchFamily="18" charset="0"/>
              <a:ea typeface="楷体_GB2312" pitchFamily="49" charset="-122"/>
            </a:endParaRPr>
          </a:p>
        </p:txBody>
      </p:sp>
      <p:sp>
        <p:nvSpPr>
          <p:cNvPr id="27656" name="AutoShape 8"/>
          <p:cNvSpPr/>
          <p:nvPr/>
        </p:nvSpPr>
        <p:spPr>
          <a:xfrm>
            <a:off x="2443163" y="4071938"/>
            <a:ext cx="1350962" cy="514350"/>
          </a:xfrm>
          <a:prstGeom prst="rightArrow">
            <a:avLst>
              <a:gd name="adj1" fmla="val 50000"/>
              <a:gd name="adj2" fmla="val 65663"/>
            </a:avLst>
          </a:prstGeom>
          <a:solidFill>
            <a:srgbClr val="CCFF99"/>
          </a:solidFill>
          <a:ln w="28575" cap="flat" cmpd="sng">
            <a:solidFill>
              <a:srgbClr val="66FF33"/>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27657" name="Line 9"/>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pic>
        <p:nvPicPr>
          <p:cNvPr id="27658" name="图片 1"/>
          <p:cNvPicPr>
            <a:picLocks noChangeAspect="1"/>
          </p:cNvPicPr>
          <p:nvPr/>
        </p:nvPicPr>
        <p:blipFill>
          <a:blip r:embed="rId1"/>
          <a:stretch>
            <a:fillRect/>
          </a:stretch>
        </p:blipFill>
        <p:spPr>
          <a:xfrm>
            <a:off x="1400175" y="5524500"/>
            <a:ext cx="5705475" cy="1420813"/>
          </a:xfrm>
          <a:prstGeom prst="rect">
            <a:avLst/>
          </a:prstGeom>
          <a:noFill/>
          <a:ln w="9525">
            <a:noFill/>
          </a:ln>
        </p:spPr>
      </p:pic>
    </p:spTree>
  </p:cSld>
  <p:clrMapOvr>
    <a:masterClrMapping/>
  </p:clrMapOvr>
  <p:transition spd="slow">
    <p:check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133123"/>
                                        </p:tgtEl>
                                        <p:attrNameLst>
                                          <p:attrName>style.visibility</p:attrName>
                                        </p:attrNameLst>
                                      </p:cBhvr>
                                      <p:to>
                                        <p:strVal val="visible"/>
                                      </p:to>
                                    </p:set>
                                    <p:anim calcmode="lin" valueType="num">
                                      <p:cBhvr additive="base">
                                        <p:cTn id="7" dur="500" fill="hold"/>
                                        <p:tgtEl>
                                          <p:spTgt spid="133123"/>
                                        </p:tgtEl>
                                        <p:attrNameLst>
                                          <p:attrName>ppt_x</p:attrName>
                                        </p:attrNameLst>
                                      </p:cBhvr>
                                      <p:tavLst>
                                        <p:tav tm="0">
                                          <p:val>
                                            <p:strVal val="0-#ppt_w/2"/>
                                          </p:val>
                                        </p:tav>
                                        <p:tav tm="100000">
                                          <p:val>
                                            <p:strVal val="#ppt_x"/>
                                          </p:val>
                                        </p:tav>
                                      </p:tavLst>
                                    </p:anim>
                                    <p:anim calcmode="lin" valueType="num">
                                      <p:cBhvr additive="base">
                                        <p:cTn id="8" dur="500" fill="hold"/>
                                        <p:tgtEl>
                                          <p:spTgt spid="1331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133124"/>
                                        </p:tgtEl>
                                        <p:attrNameLst>
                                          <p:attrName>style.visibility</p:attrName>
                                        </p:attrNameLst>
                                      </p:cBhvr>
                                      <p:to>
                                        <p:strVal val="visible"/>
                                      </p:to>
                                    </p:set>
                                    <p:anim calcmode="lin" valueType="num">
                                      <p:cBhvr additive="base">
                                        <p:cTn id="13" dur="500" fill="hold"/>
                                        <p:tgtEl>
                                          <p:spTgt spid="133124"/>
                                        </p:tgtEl>
                                        <p:attrNameLst>
                                          <p:attrName>ppt_x</p:attrName>
                                        </p:attrNameLst>
                                      </p:cBhvr>
                                      <p:tavLst>
                                        <p:tav tm="0">
                                          <p:val>
                                            <p:strVal val="1+#ppt_w/2"/>
                                          </p:val>
                                        </p:tav>
                                        <p:tav tm="100000">
                                          <p:val>
                                            <p:strVal val="#ppt_x"/>
                                          </p:val>
                                        </p:tav>
                                      </p:tavLst>
                                    </p:anim>
                                    <p:anim calcmode="lin" valueType="num">
                                      <p:cBhvr additive="base">
                                        <p:cTn id="14" dur="500" fill="hold"/>
                                        <p:tgtEl>
                                          <p:spTgt spid="1331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animBg="1"/>
      <p:bldP spid="13312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AutoShape 2"/>
          <p:cNvSpPr/>
          <p:nvPr/>
        </p:nvSpPr>
        <p:spPr>
          <a:xfrm>
            <a:off x="990600" y="2057400"/>
            <a:ext cx="2514600" cy="6858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8675" name="AutoShape 3"/>
          <p:cNvSpPr/>
          <p:nvPr/>
        </p:nvSpPr>
        <p:spPr>
          <a:xfrm>
            <a:off x="990600" y="914400"/>
            <a:ext cx="2514600" cy="8382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43716" name="Text Box 4"/>
          <p:cNvSpPr txBox="1"/>
          <p:nvPr/>
        </p:nvSpPr>
        <p:spPr>
          <a:xfrm>
            <a:off x="971550" y="930275"/>
            <a:ext cx="2808288" cy="825500"/>
          </a:xfrm>
          <a:prstGeom prst="rect">
            <a:avLst/>
          </a:prstGeom>
          <a:noFill/>
          <a:ln w="9525">
            <a:noFill/>
          </a:ln>
        </p:spPr>
        <p:txBody>
          <a:bodyPr>
            <a:spAutoFit/>
          </a:bodyPr>
          <a:p>
            <a:pPr algn="ctr"/>
            <a:r>
              <a:rPr lang="en-US" altLang="zh-CN" sz="1200" dirty="0">
                <a:solidFill>
                  <a:srgbClr val="006600"/>
                </a:solidFill>
                <a:latin typeface="宋体" panose="02010600030101010101" pitchFamily="2" charset="-122"/>
              </a:rPr>
              <a:t> </a:t>
            </a:r>
            <a:r>
              <a:rPr lang="zh-CN" altLang="en-US" sz="1600" b="1" dirty="0">
                <a:solidFill>
                  <a:srgbClr val="990033"/>
                </a:solidFill>
                <a:latin typeface="楷体_GB2312" pitchFamily="49" charset="-122"/>
                <a:ea typeface="楷体_GB2312" pitchFamily="49" charset="-122"/>
              </a:rPr>
              <a:t>方案论证与系统级构</a:t>
            </a:r>
            <a:endParaRPr lang="zh-CN" altLang="en-US" sz="1600" b="1" dirty="0">
              <a:solidFill>
                <a:srgbClr val="990033"/>
              </a:solidFill>
              <a:latin typeface="楷体_GB2312" pitchFamily="49" charset="-122"/>
              <a:ea typeface="楷体_GB2312" pitchFamily="49" charset="-122"/>
            </a:endParaRPr>
          </a:p>
          <a:p>
            <a:pPr algn="ctr"/>
            <a:r>
              <a:rPr lang="zh-CN" altLang="en-US" sz="1600" b="1" dirty="0">
                <a:solidFill>
                  <a:srgbClr val="990033"/>
                </a:solidFill>
                <a:latin typeface="楷体_GB2312" pitchFamily="49" charset="-122"/>
                <a:ea typeface="楷体_GB2312" pitchFamily="49" charset="-122"/>
              </a:rPr>
              <a:t>建独立于硬件的系统行</a:t>
            </a:r>
            <a:endParaRPr lang="zh-CN" altLang="en-US" sz="1600" b="1" dirty="0">
              <a:solidFill>
                <a:srgbClr val="990033"/>
              </a:solidFill>
              <a:latin typeface="楷体_GB2312" pitchFamily="49" charset="-122"/>
              <a:ea typeface="楷体_GB2312" pitchFamily="49" charset="-122"/>
            </a:endParaRPr>
          </a:p>
          <a:p>
            <a:pPr algn="ctr"/>
            <a:r>
              <a:rPr lang="zh-CN" altLang="en-US" sz="1600" b="1" dirty="0">
                <a:solidFill>
                  <a:srgbClr val="990033"/>
                </a:solidFill>
                <a:latin typeface="楷体_GB2312" pitchFamily="49" charset="-122"/>
                <a:ea typeface="楷体_GB2312" pitchFamily="49" charset="-122"/>
              </a:rPr>
              <a:t>为评估和设计。</a:t>
            </a:r>
            <a:endParaRPr lang="zh-CN" altLang="en-US" sz="1600" b="1" dirty="0">
              <a:solidFill>
                <a:srgbClr val="990033"/>
              </a:solidFill>
              <a:latin typeface="楷体_GB2312" pitchFamily="49" charset="-122"/>
              <a:ea typeface="楷体_GB2312" pitchFamily="49" charset="-122"/>
            </a:endParaRPr>
          </a:p>
        </p:txBody>
      </p:sp>
      <p:sp>
        <p:nvSpPr>
          <p:cNvPr id="28677" name="Line 5"/>
          <p:cNvSpPr/>
          <p:nvPr/>
        </p:nvSpPr>
        <p:spPr>
          <a:xfrm flipH="1">
            <a:off x="2209800" y="1752600"/>
            <a:ext cx="0" cy="304800"/>
          </a:xfrm>
          <a:prstGeom prst="line">
            <a:avLst/>
          </a:prstGeom>
          <a:ln w="28575" cap="flat" cmpd="sng">
            <a:solidFill>
              <a:srgbClr val="FF0000"/>
            </a:solidFill>
            <a:prstDash val="solid"/>
            <a:headEnd type="none" w="med" len="med"/>
            <a:tailEnd type="triangle" w="med" len="med"/>
          </a:ln>
        </p:spPr>
      </p:sp>
      <p:sp>
        <p:nvSpPr>
          <p:cNvPr id="243718" name="Text Box 6"/>
          <p:cNvSpPr txBox="1"/>
          <p:nvPr/>
        </p:nvSpPr>
        <p:spPr>
          <a:xfrm>
            <a:off x="990600" y="508000"/>
            <a:ext cx="2740025" cy="396875"/>
          </a:xfrm>
          <a:prstGeom prst="rect">
            <a:avLst/>
          </a:prstGeom>
          <a:noFill/>
          <a:ln w="9525">
            <a:noFill/>
          </a:ln>
        </p:spPr>
        <p:txBody>
          <a:bodyPr wrap="none">
            <a:spAutoFit/>
          </a:bodyPr>
          <a:p>
            <a:r>
              <a:rPr lang="zh-CN" altLang="en-US" sz="2000" b="1" dirty="0">
                <a:solidFill>
                  <a:srgbClr val="FF0000"/>
                </a:solidFill>
                <a:latin typeface="楷体_GB2312" pitchFamily="49" charset="-122"/>
                <a:ea typeface="楷体_GB2312" pitchFamily="49" charset="-122"/>
              </a:rPr>
              <a:t>现代电子系统设计流程</a:t>
            </a:r>
            <a:endParaRPr lang="zh-CN" altLang="en-US" sz="2000" b="1" dirty="0">
              <a:solidFill>
                <a:srgbClr val="FF0000"/>
              </a:solidFill>
              <a:latin typeface="楷体_GB2312" pitchFamily="49" charset="-122"/>
              <a:ea typeface="楷体_GB2312" pitchFamily="49" charset="-122"/>
            </a:endParaRPr>
          </a:p>
        </p:txBody>
      </p:sp>
      <p:sp>
        <p:nvSpPr>
          <p:cNvPr id="243719" name="Text Box 7"/>
          <p:cNvSpPr txBox="1"/>
          <p:nvPr/>
        </p:nvSpPr>
        <p:spPr>
          <a:xfrm>
            <a:off x="1035050" y="2041525"/>
            <a:ext cx="2514600" cy="754063"/>
          </a:xfrm>
          <a:prstGeom prst="rect">
            <a:avLst/>
          </a:prstGeom>
          <a:noFill/>
          <a:ln w="9525">
            <a:noFill/>
          </a:ln>
        </p:spPr>
        <p:txBody>
          <a:bodyPr>
            <a:spAutoFit/>
          </a:bodyPr>
          <a:p>
            <a:pPr algn="ctr">
              <a:lnSpc>
                <a:spcPct val="90000"/>
              </a:lnSpc>
            </a:pPr>
            <a:r>
              <a:rPr lang="zh-CN" altLang="en-US" sz="1600" b="1" dirty="0">
                <a:solidFill>
                  <a:srgbClr val="990033"/>
                </a:solidFill>
                <a:latin typeface="楷体_GB2312" pitchFamily="49" charset="-122"/>
                <a:ea typeface="楷体_GB2312" pitchFamily="49" charset="-122"/>
              </a:rPr>
              <a:t>将硬件系统设计文件转</a:t>
            </a:r>
            <a:endParaRPr lang="zh-CN" altLang="en-US" sz="1600" b="1" dirty="0">
              <a:solidFill>
                <a:srgbClr val="990033"/>
              </a:solidFill>
              <a:latin typeface="楷体_GB2312" pitchFamily="49" charset="-122"/>
              <a:ea typeface="楷体_GB2312" pitchFamily="49" charset="-122"/>
            </a:endParaRPr>
          </a:p>
          <a:p>
            <a:pPr algn="ctr">
              <a:lnSpc>
                <a:spcPct val="90000"/>
              </a:lnSpc>
            </a:pPr>
            <a:r>
              <a:rPr lang="zh-CN" altLang="en-US" sz="1600" b="1" dirty="0">
                <a:solidFill>
                  <a:srgbClr val="990033"/>
                </a:solidFill>
                <a:latin typeface="楷体_GB2312" pitchFamily="49" charset="-122"/>
                <a:ea typeface="楷体_GB2312" pitchFamily="49" charset="-122"/>
              </a:rPr>
              <a:t>换成可综合硬件描述语</a:t>
            </a:r>
            <a:endParaRPr lang="zh-CN" altLang="en-US" sz="1600" b="1" dirty="0">
              <a:solidFill>
                <a:srgbClr val="990033"/>
              </a:solidFill>
              <a:latin typeface="楷体_GB2312" pitchFamily="49" charset="-122"/>
              <a:ea typeface="楷体_GB2312" pitchFamily="49" charset="-122"/>
            </a:endParaRPr>
          </a:p>
          <a:p>
            <a:pPr algn="ctr">
              <a:lnSpc>
                <a:spcPct val="90000"/>
              </a:lnSpc>
            </a:pPr>
            <a:r>
              <a:rPr lang="zh-CN" altLang="en-US" sz="1600" b="1" dirty="0">
                <a:solidFill>
                  <a:srgbClr val="990033"/>
                </a:solidFill>
                <a:latin typeface="楷体_GB2312" pitchFamily="49" charset="-122"/>
                <a:ea typeface="楷体_GB2312" pitchFamily="49" charset="-122"/>
              </a:rPr>
              <a:t>言。进行功能仿真</a:t>
            </a:r>
            <a:endParaRPr lang="zh-CN" altLang="en-US" sz="1600" b="1" dirty="0">
              <a:solidFill>
                <a:srgbClr val="990033"/>
              </a:solidFill>
              <a:latin typeface="楷体_GB2312" pitchFamily="49" charset="-122"/>
              <a:ea typeface="楷体_GB2312" pitchFamily="49" charset="-122"/>
            </a:endParaRPr>
          </a:p>
        </p:txBody>
      </p:sp>
      <p:sp>
        <p:nvSpPr>
          <p:cNvPr id="28680" name="AutoShape 8"/>
          <p:cNvSpPr/>
          <p:nvPr/>
        </p:nvSpPr>
        <p:spPr>
          <a:xfrm>
            <a:off x="971550" y="2997200"/>
            <a:ext cx="2514600" cy="5334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43721" name="Text Box 9"/>
          <p:cNvSpPr txBox="1"/>
          <p:nvPr/>
        </p:nvSpPr>
        <p:spPr>
          <a:xfrm>
            <a:off x="922338" y="2981325"/>
            <a:ext cx="2881312" cy="581025"/>
          </a:xfrm>
          <a:prstGeom prst="rect">
            <a:avLst/>
          </a:prstGeom>
          <a:noFill/>
          <a:ln w="9525">
            <a:noFill/>
          </a:ln>
        </p:spPr>
        <p:txBody>
          <a:bodyPr>
            <a:spAutoFit/>
          </a:bodyPr>
          <a:p>
            <a:r>
              <a:rPr lang="zh-CN" altLang="en-US" sz="1600" b="1" dirty="0">
                <a:solidFill>
                  <a:srgbClr val="990033"/>
                </a:solidFill>
                <a:latin typeface="楷体_GB2312" pitchFamily="49" charset="-122"/>
                <a:ea typeface="楷体_GB2312" pitchFamily="49" charset="-122"/>
              </a:rPr>
              <a:t>将硬件描述语言转换成标准</a:t>
            </a:r>
            <a:endParaRPr lang="zh-CN" altLang="en-US" sz="1600" b="1" dirty="0">
              <a:solidFill>
                <a:srgbClr val="990033"/>
              </a:solidFill>
              <a:latin typeface="楷体_GB2312" pitchFamily="49" charset="-122"/>
              <a:ea typeface="楷体_GB2312" pitchFamily="49" charset="-122"/>
            </a:endParaRPr>
          </a:p>
          <a:p>
            <a:r>
              <a:rPr lang="zh-CN" altLang="en-US" sz="1600" b="1" dirty="0">
                <a:solidFill>
                  <a:srgbClr val="990033"/>
                </a:solidFill>
                <a:latin typeface="楷体_GB2312" pitchFamily="49" charset="-122"/>
                <a:ea typeface="楷体_GB2312" pitchFamily="49" charset="-122"/>
              </a:rPr>
              <a:t>网表文件，</a:t>
            </a:r>
            <a:r>
              <a:rPr lang="zh-CN" altLang="en-US" sz="1600" b="1" dirty="0">
                <a:solidFill>
                  <a:srgbClr val="990033"/>
                </a:solidFill>
                <a:latin typeface="Times New Roman" panose="02020603050405020304" pitchFamily="18" charset="0"/>
                <a:ea typeface="楷体_GB2312" pitchFamily="49" charset="-122"/>
              </a:rPr>
              <a:t>如：</a:t>
            </a:r>
            <a:r>
              <a:rPr lang="en-US" altLang="zh-CN" sz="1600" b="1" dirty="0">
                <a:solidFill>
                  <a:srgbClr val="990033"/>
                </a:solidFill>
                <a:latin typeface="Times New Roman" panose="02020603050405020304" pitchFamily="18" charset="0"/>
                <a:ea typeface="楷体_GB2312" pitchFamily="49" charset="-122"/>
              </a:rPr>
              <a:t>Verilog</a:t>
            </a:r>
            <a:r>
              <a:rPr lang="zh-CN" altLang="en-US" sz="1600" b="1" dirty="0">
                <a:solidFill>
                  <a:srgbClr val="990033"/>
                </a:solidFill>
                <a:latin typeface="楷体_GB2312" pitchFamily="49" charset="-122"/>
                <a:ea typeface="楷体_GB2312" pitchFamily="49" charset="-122"/>
              </a:rPr>
              <a:t>等</a:t>
            </a:r>
            <a:endParaRPr lang="zh-CN" altLang="en-US" sz="1600" b="1" dirty="0">
              <a:solidFill>
                <a:srgbClr val="990033"/>
              </a:solidFill>
              <a:latin typeface="楷体_GB2312" pitchFamily="49" charset="-122"/>
              <a:ea typeface="楷体_GB2312" pitchFamily="49" charset="-122"/>
            </a:endParaRPr>
          </a:p>
        </p:txBody>
      </p:sp>
      <p:sp>
        <p:nvSpPr>
          <p:cNvPr id="28682" name="AutoShape 10"/>
          <p:cNvSpPr/>
          <p:nvPr/>
        </p:nvSpPr>
        <p:spPr>
          <a:xfrm>
            <a:off x="827088" y="3860800"/>
            <a:ext cx="2895600" cy="6096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43723" name="Text Box 11"/>
          <p:cNvSpPr txBox="1"/>
          <p:nvPr/>
        </p:nvSpPr>
        <p:spPr>
          <a:xfrm>
            <a:off x="858838" y="3843338"/>
            <a:ext cx="2906712" cy="677862"/>
          </a:xfrm>
          <a:prstGeom prst="rect">
            <a:avLst/>
          </a:prstGeom>
          <a:noFill/>
          <a:ln w="9525">
            <a:noFill/>
          </a:ln>
        </p:spPr>
        <p:txBody>
          <a:bodyPr>
            <a:spAutoFit/>
          </a:bodyPr>
          <a:p>
            <a:pPr algn="ctr">
              <a:lnSpc>
                <a:spcPct val="80000"/>
              </a:lnSpc>
            </a:pPr>
            <a:r>
              <a:rPr lang="zh-CN" altLang="en-US" sz="1600" b="1" dirty="0">
                <a:solidFill>
                  <a:srgbClr val="990033"/>
                </a:solidFill>
                <a:latin typeface="楷体_GB2312" pitchFamily="49" charset="-122"/>
                <a:ea typeface="楷体_GB2312" pitchFamily="49" charset="-122"/>
              </a:rPr>
              <a:t>通过结构综合或适配，将</a:t>
            </a:r>
            <a:endParaRPr lang="zh-CN" altLang="en-US" sz="1600" b="1" dirty="0">
              <a:solidFill>
                <a:srgbClr val="990033"/>
              </a:solidFill>
              <a:latin typeface="楷体_GB2312" pitchFamily="49" charset="-122"/>
              <a:ea typeface="楷体_GB2312" pitchFamily="49" charset="-122"/>
            </a:endParaRPr>
          </a:p>
          <a:p>
            <a:pPr algn="ctr">
              <a:lnSpc>
                <a:spcPct val="80000"/>
              </a:lnSpc>
            </a:pPr>
            <a:r>
              <a:rPr lang="zh-CN" altLang="en-US" sz="1600" b="1" dirty="0">
                <a:solidFill>
                  <a:srgbClr val="990033"/>
                </a:solidFill>
                <a:latin typeface="楷体_GB2312" pitchFamily="49" charset="-122"/>
                <a:ea typeface="楷体_GB2312" pitchFamily="49" charset="-122"/>
              </a:rPr>
              <a:t>标准网表文件转换成芯片</a:t>
            </a:r>
            <a:endParaRPr lang="zh-CN" altLang="en-US" sz="1600" b="1" dirty="0">
              <a:solidFill>
                <a:srgbClr val="990033"/>
              </a:solidFill>
              <a:latin typeface="楷体_GB2312" pitchFamily="49" charset="-122"/>
              <a:ea typeface="楷体_GB2312" pitchFamily="49" charset="-122"/>
            </a:endParaRPr>
          </a:p>
          <a:p>
            <a:pPr algn="ctr">
              <a:lnSpc>
                <a:spcPct val="80000"/>
              </a:lnSpc>
            </a:pPr>
            <a:r>
              <a:rPr lang="zh-CN" altLang="en-US" sz="1600" b="1" dirty="0">
                <a:solidFill>
                  <a:srgbClr val="990033"/>
                </a:solidFill>
                <a:latin typeface="楷体_GB2312" pitchFamily="49" charset="-122"/>
                <a:ea typeface="楷体_GB2312" pitchFamily="49" charset="-122"/>
              </a:rPr>
              <a:t>下载文件，并进行时序仿真</a:t>
            </a:r>
            <a:endParaRPr lang="zh-CN" altLang="en-US" sz="1600" b="1" dirty="0">
              <a:solidFill>
                <a:srgbClr val="990033"/>
              </a:solidFill>
              <a:latin typeface="楷体_GB2312" pitchFamily="49" charset="-122"/>
              <a:ea typeface="楷体_GB2312" pitchFamily="49" charset="-122"/>
            </a:endParaRPr>
          </a:p>
        </p:txBody>
      </p:sp>
      <p:sp>
        <p:nvSpPr>
          <p:cNvPr id="28684" name="Line 12"/>
          <p:cNvSpPr/>
          <p:nvPr/>
        </p:nvSpPr>
        <p:spPr>
          <a:xfrm flipH="1">
            <a:off x="2209800" y="2743200"/>
            <a:ext cx="0" cy="304800"/>
          </a:xfrm>
          <a:prstGeom prst="line">
            <a:avLst/>
          </a:prstGeom>
          <a:ln w="28575" cap="flat" cmpd="sng">
            <a:solidFill>
              <a:srgbClr val="FF0000"/>
            </a:solidFill>
            <a:prstDash val="solid"/>
            <a:headEnd type="none" w="med" len="med"/>
            <a:tailEnd type="triangle" w="med" len="med"/>
          </a:ln>
        </p:spPr>
      </p:sp>
      <p:sp>
        <p:nvSpPr>
          <p:cNvPr id="28685" name="Line 13"/>
          <p:cNvSpPr/>
          <p:nvPr/>
        </p:nvSpPr>
        <p:spPr>
          <a:xfrm flipH="1">
            <a:off x="2209800" y="3581400"/>
            <a:ext cx="0" cy="304800"/>
          </a:xfrm>
          <a:prstGeom prst="line">
            <a:avLst/>
          </a:prstGeom>
          <a:ln w="28575" cap="flat" cmpd="sng">
            <a:solidFill>
              <a:srgbClr val="FF0000"/>
            </a:solidFill>
            <a:prstDash val="solid"/>
            <a:headEnd type="none" w="med" len="med"/>
            <a:tailEnd type="triangle" w="med" len="med"/>
          </a:ln>
        </p:spPr>
      </p:sp>
      <p:sp>
        <p:nvSpPr>
          <p:cNvPr id="28686" name="AutoShape 14"/>
          <p:cNvSpPr/>
          <p:nvPr/>
        </p:nvSpPr>
        <p:spPr>
          <a:xfrm>
            <a:off x="755650" y="5516563"/>
            <a:ext cx="2819400" cy="4572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43727" name="Text Box 15"/>
          <p:cNvSpPr txBox="1"/>
          <p:nvPr/>
        </p:nvSpPr>
        <p:spPr>
          <a:xfrm>
            <a:off x="755650" y="5461000"/>
            <a:ext cx="2808288" cy="581025"/>
          </a:xfrm>
          <a:prstGeom prst="rect">
            <a:avLst/>
          </a:prstGeom>
          <a:noFill/>
          <a:ln w="9525">
            <a:noFill/>
          </a:ln>
        </p:spPr>
        <p:txBody>
          <a:bodyPr>
            <a:spAutoFit/>
          </a:bodyPr>
          <a:p>
            <a:pPr algn="ctr"/>
            <a:r>
              <a:rPr lang="zh-CN" altLang="en-US" sz="1600" b="1" dirty="0">
                <a:solidFill>
                  <a:srgbClr val="990033"/>
                </a:solidFill>
                <a:latin typeface="楷体_GB2312" pitchFamily="49" charset="-122"/>
                <a:ea typeface="楷体_GB2312" pitchFamily="49" charset="-122"/>
              </a:rPr>
              <a:t>硬件系统实现。硬件</a:t>
            </a:r>
            <a:endParaRPr lang="zh-CN" altLang="en-US" sz="1600" b="1" dirty="0">
              <a:solidFill>
                <a:srgbClr val="990033"/>
              </a:solidFill>
              <a:latin typeface="楷体_GB2312" pitchFamily="49" charset="-122"/>
              <a:ea typeface="楷体_GB2312" pitchFamily="49" charset="-122"/>
            </a:endParaRPr>
          </a:p>
          <a:p>
            <a:pPr algn="ctr"/>
            <a:r>
              <a:rPr lang="zh-CN" altLang="en-US" sz="1600" b="1" dirty="0">
                <a:solidFill>
                  <a:srgbClr val="990033"/>
                </a:solidFill>
                <a:latin typeface="楷体_GB2312" pitchFamily="49" charset="-122"/>
                <a:ea typeface="楷体_GB2312" pitchFamily="49" charset="-122"/>
              </a:rPr>
              <a:t>系统测试与调试</a:t>
            </a:r>
            <a:endParaRPr lang="zh-CN" altLang="en-US" sz="1600" b="1" dirty="0">
              <a:solidFill>
                <a:srgbClr val="990033"/>
              </a:solidFill>
              <a:latin typeface="楷体_GB2312" pitchFamily="49" charset="-122"/>
              <a:ea typeface="楷体_GB2312" pitchFamily="49" charset="-122"/>
            </a:endParaRPr>
          </a:p>
        </p:txBody>
      </p:sp>
      <p:sp>
        <p:nvSpPr>
          <p:cNvPr id="28688" name="Line 16"/>
          <p:cNvSpPr/>
          <p:nvPr/>
        </p:nvSpPr>
        <p:spPr>
          <a:xfrm flipH="1">
            <a:off x="2209800" y="4495800"/>
            <a:ext cx="0" cy="304800"/>
          </a:xfrm>
          <a:prstGeom prst="line">
            <a:avLst/>
          </a:prstGeom>
          <a:ln w="28575" cap="flat" cmpd="sng">
            <a:solidFill>
              <a:srgbClr val="FF0000"/>
            </a:solidFill>
            <a:prstDash val="solid"/>
            <a:headEnd type="none" w="med" len="med"/>
            <a:tailEnd type="triangle" w="med" len="med"/>
          </a:ln>
        </p:spPr>
      </p:sp>
      <p:sp>
        <p:nvSpPr>
          <p:cNvPr id="28689" name="AutoShape 17"/>
          <p:cNvSpPr/>
          <p:nvPr/>
        </p:nvSpPr>
        <p:spPr>
          <a:xfrm>
            <a:off x="1331913" y="4797425"/>
            <a:ext cx="1828800" cy="4572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43730" name="Text Box 18"/>
          <p:cNvSpPr txBox="1"/>
          <p:nvPr/>
        </p:nvSpPr>
        <p:spPr>
          <a:xfrm>
            <a:off x="1419225" y="4845050"/>
            <a:ext cx="1828800" cy="336550"/>
          </a:xfrm>
          <a:prstGeom prst="rect">
            <a:avLst/>
          </a:prstGeom>
          <a:noFill/>
          <a:ln w="9525">
            <a:noFill/>
          </a:ln>
        </p:spPr>
        <p:txBody>
          <a:bodyPr>
            <a:spAutoFit/>
          </a:bodyPr>
          <a:p>
            <a:r>
              <a:rPr lang="zh-CN" altLang="en-US" sz="1600" b="1" dirty="0">
                <a:solidFill>
                  <a:srgbClr val="990033"/>
                </a:solidFill>
                <a:latin typeface="楷体_GB2312" pitchFamily="49" charset="-122"/>
                <a:ea typeface="楷体_GB2312" pitchFamily="49" charset="-122"/>
              </a:rPr>
              <a:t>软件设计与调试</a:t>
            </a:r>
            <a:endParaRPr lang="zh-CN" altLang="en-US" sz="1600" b="1" dirty="0">
              <a:solidFill>
                <a:srgbClr val="990033"/>
              </a:solidFill>
              <a:latin typeface="楷体_GB2312" pitchFamily="49" charset="-122"/>
              <a:ea typeface="楷体_GB2312" pitchFamily="49" charset="-122"/>
            </a:endParaRPr>
          </a:p>
        </p:txBody>
      </p:sp>
      <p:sp>
        <p:nvSpPr>
          <p:cNvPr id="28691" name="Line 19"/>
          <p:cNvSpPr/>
          <p:nvPr/>
        </p:nvSpPr>
        <p:spPr>
          <a:xfrm flipH="1">
            <a:off x="2209800" y="5257800"/>
            <a:ext cx="0" cy="304800"/>
          </a:xfrm>
          <a:prstGeom prst="line">
            <a:avLst/>
          </a:prstGeom>
          <a:ln w="28575" cap="flat" cmpd="sng">
            <a:solidFill>
              <a:srgbClr val="FF0000"/>
            </a:solidFill>
            <a:prstDash val="solid"/>
            <a:headEnd type="none" w="med" len="med"/>
            <a:tailEnd type="triangle" w="med" len="med"/>
          </a:ln>
        </p:spPr>
      </p:sp>
      <p:sp>
        <p:nvSpPr>
          <p:cNvPr id="28692" name="AutoShape 20"/>
          <p:cNvSpPr/>
          <p:nvPr/>
        </p:nvSpPr>
        <p:spPr>
          <a:xfrm>
            <a:off x="1600200" y="6324600"/>
            <a:ext cx="1295400" cy="3048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43733" name="Text Box 21"/>
          <p:cNvSpPr txBox="1"/>
          <p:nvPr/>
        </p:nvSpPr>
        <p:spPr>
          <a:xfrm>
            <a:off x="1531938" y="6308725"/>
            <a:ext cx="1455737" cy="336550"/>
          </a:xfrm>
          <a:prstGeom prst="rect">
            <a:avLst/>
          </a:prstGeom>
          <a:noFill/>
          <a:ln w="9525">
            <a:noFill/>
          </a:ln>
        </p:spPr>
        <p:txBody>
          <a:bodyPr>
            <a:spAutoFit/>
          </a:bodyPr>
          <a:p>
            <a:r>
              <a:rPr lang="zh-CN" altLang="en-US" sz="1600" b="1" dirty="0">
                <a:solidFill>
                  <a:srgbClr val="990033"/>
                </a:solidFill>
                <a:latin typeface="楷体_GB2312" pitchFamily="49" charset="-122"/>
                <a:ea typeface="楷体_GB2312" pitchFamily="49" charset="-122"/>
              </a:rPr>
              <a:t>系统设计完成</a:t>
            </a:r>
            <a:endParaRPr lang="zh-CN" altLang="en-US" sz="1600" b="1" dirty="0">
              <a:solidFill>
                <a:srgbClr val="990033"/>
              </a:solidFill>
              <a:latin typeface="楷体_GB2312" pitchFamily="49" charset="-122"/>
              <a:ea typeface="楷体_GB2312" pitchFamily="49" charset="-122"/>
            </a:endParaRPr>
          </a:p>
        </p:txBody>
      </p:sp>
      <p:sp>
        <p:nvSpPr>
          <p:cNvPr id="28694" name="Line 22"/>
          <p:cNvSpPr/>
          <p:nvPr/>
        </p:nvSpPr>
        <p:spPr>
          <a:xfrm flipH="1">
            <a:off x="2209800" y="6019800"/>
            <a:ext cx="0" cy="304800"/>
          </a:xfrm>
          <a:prstGeom prst="line">
            <a:avLst/>
          </a:prstGeom>
          <a:ln w="28575" cap="flat" cmpd="sng">
            <a:solidFill>
              <a:srgbClr val="FF0000"/>
            </a:solidFill>
            <a:prstDash val="solid"/>
            <a:headEnd type="none" w="med" len="med"/>
            <a:tailEnd type="triangle" w="med" len="med"/>
          </a:ln>
        </p:spPr>
      </p:sp>
      <p:sp>
        <p:nvSpPr>
          <p:cNvPr id="28695" name="AutoShape 23"/>
          <p:cNvSpPr/>
          <p:nvPr/>
        </p:nvSpPr>
        <p:spPr>
          <a:xfrm>
            <a:off x="5334000" y="2209800"/>
            <a:ext cx="2514600" cy="6858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43736" name="Text Box 24"/>
          <p:cNvSpPr txBox="1"/>
          <p:nvPr/>
        </p:nvSpPr>
        <p:spPr>
          <a:xfrm>
            <a:off x="5181600" y="508000"/>
            <a:ext cx="2740025" cy="396875"/>
          </a:xfrm>
          <a:prstGeom prst="rect">
            <a:avLst/>
          </a:prstGeom>
          <a:noFill/>
          <a:ln w="9525">
            <a:noFill/>
          </a:ln>
        </p:spPr>
        <p:txBody>
          <a:bodyPr wrap="none">
            <a:spAutoFit/>
          </a:bodyPr>
          <a:p>
            <a:r>
              <a:rPr lang="zh-CN" altLang="en-US" sz="2000" b="1" dirty="0">
                <a:solidFill>
                  <a:srgbClr val="FF0000"/>
                </a:solidFill>
                <a:latin typeface="楷体_GB2312" pitchFamily="49" charset="-122"/>
                <a:ea typeface="楷体_GB2312" pitchFamily="49" charset="-122"/>
              </a:rPr>
              <a:t>传统电子系统设计流程</a:t>
            </a:r>
            <a:endParaRPr lang="zh-CN" altLang="en-US" sz="2000" b="1" dirty="0">
              <a:solidFill>
                <a:srgbClr val="FF0000"/>
              </a:solidFill>
              <a:latin typeface="楷体_GB2312" pitchFamily="49" charset="-122"/>
              <a:ea typeface="楷体_GB2312" pitchFamily="49" charset="-122"/>
            </a:endParaRPr>
          </a:p>
        </p:txBody>
      </p:sp>
      <p:sp>
        <p:nvSpPr>
          <p:cNvPr id="28697" name="AutoShape 25"/>
          <p:cNvSpPr/>
          <p:nvPr/>
        </p:nvSpPr>
        <p:spPr>
          <a:xfrm>
            <a:off x="5562600" y="3352800"/>
            <a:ext cx="2057400" cy="5334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8698" name="AutoShape 26"/>
          <p:cNvSpPr/>
          <p:nvPr/>
        </p:nvSpPr>
        <p:spPr>
          <a:xfrm>
            <a:off x="5076825" y="4365625"/>
            <a:ext cx="2971800" cy="6096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43739" name="Text Box 27"/>
          <p:cNvSpPr txBox="1"/>
          <p:nvPr/>
        </p:nvSpPr>
        <p:spPr>
          <a:xfrm>
            <a:off x="5116513" y="4387850"/>
            <a:ext cx="2928937" cy="581025"/>
          </a:xfrm>
          <a:prstGeom prst="rect">
            <a:avLst/>
          </a:prstGeom>
          <a:noFill/>
          <a:ln w="9525">
            <a:noFill/>
          </a:ln>
        </p:spPr>
        <p:txBody>
          <a:bodyPr>
            <a:spAutoFit/>
          </a:bodyPr>
          <a:p>
            <a:r>
              <a:rPr lang="zh-CN" altLang="en-US" sz="1600" b="1" dirty="0">
                <a:solidFill>
                  <a:srgbClr val="990033"/>
                </a:solidFill>
                <a:latin typeface="楷体_GB2312" pitchFamily="49" charset="-122"/>
                <a:ea typeface="楷体_GB2312" pitchFamily="49" charset="-122"/>
              </a:rPr>
              <a:t>根据方案和系统指标选择硬件并设计电路板</a:t>
            </a:r>
            <a:r>
              <a:rPr lang="en-US" altLang="zh-CN" sz="1600" b="1" dirty="0">
                <a:solidFill>
                  <a:srgbClr val="990033"/>
                </a:solidFill>
                <a:latin typeface="楷体_GB2312" pitchFamily="49" charset="-122"/>
                <a:ea typeface="楷体_GB2312" pitchFamily="49" charset="-122"/>
              </a:rPr>
              <a:t>--</a:t>
            </a:r>
            <a:r>
              <a:rPr lang="zh-CN" altLang="en-US" sz="1600" b="1" dirty="0">
                <a:solidFill>
                  <a:srgbClr val="990033"/>
                </a:solidFill>
                <a:latin typeface="楷体_GB2312" pitchFamily="49" charset="-122"/>
                <a:ea typeface="楷体_GB2312" pitchFamily="49" charset="-122"/>
              </a:rPr>
              <a:t>硬件系统设计</a:t>
            </a:r>
            <a:endParaRPr lang="zh-CN" altLang="en-US" sz="1600" b="1" dirty="0">
              <a:solidFill>
                <a:srgbClr val="990033"/>
              </a:solidFill>
              <a:latin typeface="楷体_GB2312" pitchFamily="49" charset="-122"/>
              <a:ea typeface="楷体_GB2312" pitchFamily="49" charset="-122"/>
            </a:endParaRPr>
          </a:p>
        </p:txBody>
      </p:sp>
      <p:sp>
        <p:nvSpPr>
          <p:cNvPr id="28700" name="AutoShape 28"/>
          <p:cNvSpPr/>
          <p:nvPr/>
        </p:nvSpPr>
        <p:spPr>
          <a:xfrm>
            <a:off x="5435600" y="5445125"/>
            <a:ext cx="2362200" cy="6858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8701" name="Line 29"/>
          <p:cNvSpPr/>
          <p:nvPr/>
        </p:nvSpPr>
        <p:spPr>
          <a:xfrm flipH="1">
            <a:off x="6629400" y="4953000"/>
            <a:ext cx="0" cy="457200"/>
          </a:xfrm>
          <a:prstGeom prst="line">
            <a:avLst/>
          </a:prstGeom>
          <a:ln w="28575" cap="flat" cmpd="sng">
            <a:solidFill>
              <a:srgbClr val="FF0000"/>
            </a:solidFill>
            <a:prstDash val="sysDot"/>
            <a:headEnd type="triangle" w="med" len="med"/>
            <a:tailEnd type="none" w="med" len="med"/>
          </a:ln>
        </p:spPr>
      </p:sp>
      <p:sp>
        <p:nvSpPr>
          <p:cNvPr id="243742" name="Text Box 30"/>
          <p:cNvSpPr txBox="1"/>
          <p:nvPr/>
        </p:nvSpPr>
        <p:spPr>
          <a:xfrm>
            <a:off x="304800" y="1371600"/>
            <a:ext cx="457200" cy="3109913"/>
          </a:xfrm>
          <a:prstGeom prst="rect">
            <a:avLst/>
          </a:prstGeom>
          <a:noFill/>
          <a:ln w="9525">
            <a:noFill/>
          </a:ln>
        </p:spPr>
        <p:txBody>
          <a:bodyPr>
            <a:spAutoFit/>
          </a:bodyPr>
          <a:p>
            <a:endParaRPr lang="en-US" altLang="zh-CN" dirty="0">
              <a:solidFill>
                <a:srgbClr val="FF0000"/>
              </a:solidFill>
              <a:latin typeface="宋体" panose="02010600030101010101" pitchFamily="2" charset="-122"/>
            </a:endParaRPr>
          </a:p>
          <a:p>
            <a:r>
              <a:rPr lang="zh-CN" altLang="en-US" sz="2000" b="1" dirty="0">
                <a:solidFill>
                  <a:srgbClr val="CC00CC"/>
                </a:solidFill>
                <a:latin typeface="楷体_GB2312" pitchFamily="49" charset="-122"/>
                <a:ea typeface="楷体_GB2312" pitchFamily="49" charset="-122"/>
              </a:rPr>
              <a:t>自顶向下的设计流程</a:t>
            </a:r>
            <a:endParaRPr lang="zh-CN" altLang="en-US" sz="2000" b="1" dirty="0">
              <a:solidFill>
                <a:srgbClr val="CC00CC"/>
              </a:solidFill>
              <a:latin typeface="楷体_GB2312" pitchFamily="49" charset="-122"/>
              <a:ea typeface="楷体_GB2312" pitchFamily="49" charset="-122"/>
            </a:endParaRPr>
          </a:p>
        </p:txBody>
      </p:sp>
      <p:sp>
        <p:nvSpPr>
          <p:cNvPr id="243743" name="Line 31"/>
          <p:cNvSpPr/>
          <p:nvPr/>
        </p:nvSpPr>
        <p:spPr>
          <a:xfrm flipH="1">
            <a:off x="539750" y="4724400"/>
            <a:ext cx="0" cy="1219200"/>
          </a:xfrm>
          <a:prstGeom prst="line">
            <a:avLst/>
          </a:prstGeom>
          <a:ln w="44450" cap="flat" cmpd="sng">
            <a:solidFill>
              <a:srgbClr val="FF0000"/>
            </a:solidFill>
            <a:prstDash val="solid"/>
            <a:headEnd type="none" w="med" len="med"/>
            <a:tailEnd type="triangle" w="med" len="med"/>
          </a:ln>
        </p:spPr>
      </p:sp>
      <p:sp>
        <p:nvSpPr>
          <p:cNvPr id="243744" name="Text Box 32"/>
          <p:cNvSpPr txBox="1"/>
          <p:nvPr/>
        </p:nvSpPr>
        <p:spPr>
          <a:xfrm>
            <a:off x="8258175" y="2454275"/>
            <a:ext cx="457200" cy="3109913"/>
          </a:xfrm>
          <a:prstGeom prst="rect">
            <a:avLst/>
          </a:prstGeom>
          <a:noFill/>
          <a:ln w="9525">
            <a:noFill/>
          </a:ln>
        </p:spPr>
        <p:txBody>
          <a:bodyPr>
            <a:spAutoFit/>
          </a:bodyPr>
          <a:p>
            <a:endParaRPr lang="en-US" altLang="zh-CN" dirty="0">
              <a:solidFill>
                <a:srgbClr val="FF0000"/>
              </a:solidFill>
              <a:latin typeface="宋体" panose="02010600030101010101" pitchFamily="2" charset="-122"/>
            </a:endParaRPr>
          </a:p>
          <a:p>
            <a:r>
              <a:rPr lang="zh-CN" altLang="en-US" sz="2000" b="1" dirty="0">
                <a:solidFill>
                  <a:srgbClr val="CC00CC"/>
                </a:solidFill>
                <a:latin typeface="楷体_GB2312" pitchFamily="49" charset="-122"/>
                <a:ea typeface="楷体_GB2312" pitchFamily="49" charset="-122"/>
              </a:rPr>
              <a:t>自底向上的设计流程</a:t>
            </a:r>
            <a:endParaRPr lang="zh-CN" altLang="en-US" sz="2000" b="1" dirty="0">
              <a:solidFill>
                <a:srgbClr val="CC00CC"/>
              </a:solidFill>
              <a:latin typeface="楷体_GB2312" pitchFamily="49" charset="-122"/>
              <a:ea typeface="楷体_GB2312" pitchFamily="49" charset="-122"/>
            </a:endParaRPr>
          </a:p>
        </p:txBody>
      </p:sp>
      <p:sp>
        <p:nvSpPr>
          <p:cNvPr id="243745" name="Line 33"/>
          <p:cNvSpPr/>
          <p:nvPr/>
        </p:nvSpPr>
        <p:spPr>
          <a:xfrm flipH="1">
            <a:off x="8475663" y="1412875"/>
            <a:ext cx="0" cy="1219200"/>
          </a:xfrm>
          <a:prstGeom prst="line">
            <a:avLst/>
          </a:prstGeom>
          <a:ln w="44450" cap="flat" cmpd="sng">
            <a:solidFill>
              <a:srgbClr val="FF0000"/>
            </a:solidFill>
            <a:prstDash val="solid"/>
            <a:headEnd type="triangle" w="med" len="med"/>
            <a:tailEnd type="none" w="med" len="med"/>
          </a:ln>
        </p:spPr>
      </p:sp>
      <p:sp>
        <p:nvSpPr>
          <p:cNvPr id="243746" name="Text Box 34"/>
          <p:cNvSpPr txBox="1"/>
          <p:nvPr/>
        </p:nvSpPr>
        <p:spPr>
          <a:xfrm>
            <a:off x="5508625" y="5638800"/>
            <a:ext cx="2232025" cy="336550"/>
          </a:xfrm>
          <a:prstGeom prst="rect">
            <a:avLst/>
          </a:prstGeom>
          <a:noFill/>
          <a:ln w="9525">
            <a:noFill/>
          </a:ln>
        </p:spPr>
        <p:txBody>
          <a:bodyPr>
            <a:spAutoFit/>
          </a:bodyPr>
          <a:p>
            <a:r>
              <a:rPr lang="zh-CN" altLang="en-US" sz="1600" b="1" dirty="0">
                <a:solidFill>
                  <a:srgbClr val="990033"/>
                </a:solidFill>
                <a:latin typeface="楷体_GB2312" pitchFamily="49" charset="-122"/>
                <a:ea typeface="楷体_GB2312" pitchFamily="49" charset="-122"/>
              </a:rPr>
              <a:t>方案论证，与算法确定</a:t>
            </a:r>
            <a:endParaRPr lang="zh-CN" altLang="en-US" sz="1600" b="1" dirty="0">
              <a:solidFill>
                <a:srgbClr val="990033"/>
              </a:solidFill>
              <a:latin typeface="楷体_GB2312" pitchFamily="49" charset="-122"/>
              <a:ea typeface="楷体_GB2312" pitchFamily="49" charset="-122"/>
            </a:endParaRPr>
          </a:p>
        </p:txBody>
      </p:sp>
      <p:sp>
        <p:nvSpPr>
          <p:cNvPr id="243747" name="Line 35"/>
          <p:cNvSpPr/>
          <p:nvPr/>
        </p:nvSpPr>
        <p:spPr>
          <a:xfrm>
            <a:off x="4267200" y="1219200"/>
            <a:ext cx="17463" cy="4514850"/>
          </a:xfrm>
          <a:prstGeom prst="line">
            <a:avLst/>
          </a:prstGeom>
          <a:ln w="28575" cap="flat" cmpd="sng">
            <a:solidFill>
              <a:srgbClr val="660066"/>
            </a:solidFill>
            <a:prstDash val="solid"/>
            <a:headEnd type="none" w="med" len="med"/>
            <a:tailEnd type="none" w="med" len="med"/>
          </a:ln>
        </p:spPr>
      </p:sp>
      <p:sp>
        <p:nvSpPr>
          <p:cNvPr id="243748" name="Line 36"/>
          <p:cNvSpPr/>
          <p:nvPr/>
        </p:nvSpPr>
        <p:spPr>
          <a:xfrm flipH="1">
            <a:off x="3505200" y="1219200"/>
            <a:ext cx="762000" cy="0"/>
          </a:xfrm>
          <a:prstGeom prst="line">
            <a:avLst/>
          </a:prstGeom>
          <a:ln w="28575" cap="flat" cmpd="sng">
            <a:solidFill>
              <a:srgbClr val="660066"/>
            </a:solidFill>
            <a:prstDash val="solid"/>
            <a:headEnd type="none" w="med" len="med"/>
            <a:tailEnd type="triangle" w="med" len="med"/>
          </a:ln>
        </p:spPr>
      </p:sp>
      <p:sp>
        <p:nvSpPr>
          <p:cNvPr id="243749" name="Line 37"/>
          <p:cNvSpPr/>
          <p:nvPr/>
        </p:nvSpPr>
        <p:spPr>
          <a:xfrm flipH="1">
            <a:off x="4067175" y="1412875"/>
            <a:ext cx="0" cy="3581400"/>
          </a:xfrm>
          <a:prstGeom prst="line">
            <a:avLst/>
          </a:prstGeom>
          <a:ln w="28575" cap="flat" cmpd="sng">
            <a:solidFill>
              <a:srgbClr val="660066"/>
            </a:solidFill>
            <a:prstDash val="solid"/>
            <a:headEnd type="none" w="med" len="med"/>
            <a:tailEnd type="none" w="med" len="med"/>
          </a:ln>
        </p:spPr>
      </p:sp>
      <p:sp>
        <p:nvSpPr>
          <p:cNvPr id="243750" name="Line 38"/>
          <p:cNvSpPr/>
          <p:nvPr/>
        </p:nvSpPr>
        <p:spPr>
          <a:xfrm flipH="1">
            <a:off x="3505200" y="1447800"/>
            <a:ext cx="533400" cy="0"/>
          </a:xfrm>
          <a:prstGeom prst="line">
            <a:avLst/>
          </a:prstGeom>
          <a:ln w="28575" cap="flat" cmpd="sng">
            <a:solidFill>
              <a:srgbClr val="660066"/>
            </a:solidFill>
            <a:prstDash val="solid"/>
            <a:headEnd type="none" w="med" len="med"/>
            <a:tailEnd type="triangle" w="med" len="med"/>
          </a:ln>
        </p:spPr>
      </p:sp>
      <p:sp>
        <p:nvSpPr>
          <p:cNvPr id="28711" name="Line 39"/>
          <p:cNvSpPr/>
          <p:nvPr/>
        </p:nvSpPr>
        <p:spPr>
          <a:xfrm flipH="1">
            <a:off x="6553200" y="3886200"/>
            <a:ext cx="0" cy="457200"/>
          </a:xfrm>
          <a:prstGeom prst="line">
            <a:avLst/>
          </a:prstGeom>
          <a:ln w="28575" cap="flat" cmpd="sng">
            <a:solidFill>
              <a:srgbClr val="FF0000"/>
            </a:solidFill>
            <a:prstDash val="sysDot"/>
            <a:headEnd type="triangle" w="med" len="med"/>
            <a:tailEnd type="none" w="med" len="med"/>
          </a:ln>
        </p:spPr>
      </p:sp>
      <p:sp>
        <p:nvSpPr>
          <p:cNvPr id="243752" name="Text Box 40"/>
          <p:cNvSpPr txBox="1"/>
          <p:nvPr/>
        </p:nvSpPr>
        <p:spPr>
          <a:xfrm>
            <a:off x="5724525" y="3429000"/>
            <a:ext cx="1800225" cy="336550"/>
          </a:xfrm>
          <a:prstGeom prst="rect">
            <a:avLst/>
          </a:prstGeom>
          <a:noFill/>
          <a:ln w="9525">
            <a:noFill/>
          </a:ln>
        </p:spPr>
        <p:txBody>
          <a:bodyPr>
            <a:spAutoFit/>
          </a:bodyPr>
          <a:p>
            <a:r>
              <a:rPr lang="zh-CN" altLang="en-US" sz="1600" b="1" dirty="0">
                <a:solidFill>
                  <a:srgbClr val="990033"/>
                </a:solidFill>
                <a:latin typeface="楷体_GB2312" pitchFamily="49" charset="-122"/>
                <a:ea typeface="楷体_GB2312" pitchFamily="49" charset="-122"/>
              </a:rPr>
              <a:t>软件设计与调试</a:t>
            </a:r>
            <a:endParaRPr lang="zh-CN" altLang="en-US" sz="1600" b="1" dirty="0">
              <a:solidFill>
                <a:srgbClr val="990033"/>
              </a:solidFill>
              <a:latin typeface="楷体_GB2312" pitchFamily="49" charset="-122"/>
              <a:ea typeface="楷体_GB2312" pitchFamily="49" charset="-122"/>
            </a:endParaRPr>
          </a:p>
        </p:txBody>
      </p:sp>
      <p:sp>
        <p:nvSpPr>
          <p:cNvPr id="28713" name="Line 41"/>
          <p:cNvSpPr/>
          <p:nvPr/>
        </p:nvSpPr>
        <p:spPr>
          <a:xfrm flipH="1">
            <a:off x="6553200" y="2895600"/>
            <a:ext cx="0" cy="457200"/>
          </a:xfrm>
          <a:prstGeom prst="line">
            <a:avLst/>
          </a:prstGeom>
          <a:ln w="28575" cap="flat" cmpd="sng">
            <a:solidFill>
              <a:srgbClr val="FF0000"/>
            </a:solidFill>
            <a:prstDash val="sysDot"/>
            <a:headEnd type="triangle" w="med" len="med"/>
            <a:tailEnd type="none" w="med" len="med"/>
          </a:ln>
        </p:spPr>
      </p:sp>
      <p:sp>
        <p:nvSpPr>
          <p:cNvPr id="243754" name="Text Box 42"/>
          <p:cNvSpPr txBox="1"/>
          <p:nvPr/>
        </p:nvSpPr>
        <p:spPr>
          <a:xfrm>
            <a:off x="5508625" y="2365375"/>
            <a:ext cx="2111375" cy="336550"/>
          </a:xfrm>
          <a:prstGeom prst="rect">
            <a:avLst/>
          </a:prstGeom>
          <a:noFill/>
          <a:ln w="9525">
            <a:noFill/>
          </a:ln>
        </p:spPr>
        <p:txBody>
          <a:bodyPr>
            <a:spAutoFit/>
          </a:bodyPr>
          <a:p>
            <a:r>
              <a:rPr lang="zh-CN" altLang="en-US" sz="1600" b="1" dirty="0">
                <a:solidFill>
                  <a:srgbClr val="990033"/>
                </a:solidFill>
                <a:latin typeface="楷体_GB2312" pitchFamily="49" charset="-122"/>
                <a:ea typeface="楷体_GB2312" pitchFamily="49" charset="-122"/>
              </a:rPr>
              <a:t>硬件系统测试与调试</a:t>
            </a:r>
            <a:endParaRPr lang="zh-CN" altLang="en-US" sz="1600" b="1" dirty="0">
              <a:solidFill>
                <a:srgbClr val="990033"/>
              </a:solidFill>
              <a:latin typeface="楷体_GB2312" pitchFamily="49" charset="-122"/>
              <a:ea typeface="楷体_GB2312" pitchFamily="49" charset="-122"/>
            </a:endParaRPr>
          </a:p>
        </p:txBody>
      </p:sp>
      <p:sp>
        <p:nvSpPr>
          <p:cNvPr id="28715" name="Line 43"/>
          <p:cNvSpPr/>
          <p:nvPr/>
        </p:nvSpPr>
        <p:spPr>
          <a:xfrm flipH="1">
            <a:off x="6553200" y="1752600"/>
            <a:ext cx="0" cy="457200"/>
          </a:xfrm>
          <a:prstGeom prst="line">
            <a:avLst/>
          </a:prstGeom>
          <a:ln w="28575" cap="flat" cmpd="sng">
            <a:solidFill>
              <a:srgbClr val="FF0000"/>
            </a:solidFill>
            <a:prstDash val="sysDot"/>
            <a:headEnd type="triangle" w="med" len="med"/>
            <a:tailEnd type="none" w="med" len="med"/>
          </a:ln>
        </p:spPr>
      </p:sp>
      <p:sp>
        <p:nvSpPr>
          <p:cNvPr id="28716" name="AutoShape 44"/>
          <p:cNvSpPr/>
          <p:nvPr/>
        </p:nvSpPr>
        <p:spPr>
          <a:xfrm>
            <a:off x="5486400" y="990600"/>
            <a:ext cx="2057400" cy="762000"/>
          </a:xfrm>
          <a:prstGeom prst="flowChartAlternateProcess">
            <a:avLst/>
          </a:prstGeom>
          <a:gradFill rotWithShape="0">
            <a:gsLst>
              <a:gs pos="0">
                <a:srgbClr val="AAAAAA"/>
              </a:gs>
              <a:gs pos="100000">
                <a:srgbClr val="FFFFFF"/>
              </a:gs>
            </a:gsLst>
            <a:lin ang="5400000" scaled="1"/>
            <a:tileRect/>
          </a:gradFill>
          <a:ln w="9525">
            <a:noFill/>
          </a:ln>
          <a:effectLst>
            <a:outerShdw dist="45791" dir="3378595" algn="ctr" rotWithShape="0">
              <a:srgbClr val="4D4D4D"/>
            </a:outerShdw>
          </a:effectLst>
        </p:spPr>
        <p:txBody>
          <a:bodyPr wrap="none" anchor="ctr" anchorCtr="0"/>
          <a:p>
            <a:pPr algn="ctr" eaLnBrk="1" hangingPunct="1"/>
            <a:endParaRPr lang="zh-CN" altLang="zh-CN" sz="2000" dirty="0">
              <a:latin typeface="Times New Roman" panose="02020603050405020304" pitchFamily="18" charset="0"/>
            </a:endParaRPr>
          </a:p>
        </p:txBody>
      </p:sp>
      <p:sp>
        <p:nvSpPr>
          <p:cNvPr id="243757" name="Text Box 45"/>
          <p:cNvSpPr txBox="1"/>
          <p:nvPr/>
        </p:nvSpPr>
        <p:spPr>
          <a:xfrm>
            <a:off x="5507038" y="1063625"/>
            <a:ext cx="2160587" cy="581025"/>
          </a:xfrm>
          <a:prstGeom prst="rect">
            <a:avLst/>
          </a:prstGeom>
          <a:noFill/>
          <a:ln w="9525">
            <a:noFill/>
          </a:ln>
        </p:spPr>
        <p:txBody>
          <a:bodyPr>
            <a:spAutoFit/>
          </a:bodyPr>
          <a:p>
            <a:r>
              <a:rPr lang="zh-CN" altLang="en-US" sz="1600" b="1" dirty="0">
                <a:solidFill>
                  <a:srgbClr val="990033"/>
                </a:solidFill>
                <a:latin typeface="楷体_GB2312" pitchFamily="49" charset="-122"/>
                <a:ea typeface="楷体_GB2312" pitchFamily="49" charset="-122"/>
              </a:rPr>
              <a:t>系统设计完成或系统中某一模块设计完成</a:t>
            </a:r>
            <a:endParaRPr lang="zh-CN" altLang="en-US" sz="1600" b="1" dirty="0">
              <a:solidFill>
                <a:srgbClr val="990033"/>
              </a:solidFill>
              <a:latin typeface="楷体_GB2312" pitchFamily="49" charset="-122"/>
              <a:ea typeface="楷体_GB2312" pitchFamily="49" charset="-122"/>
            </a:endParaRPr>
          </a:p>
        </p:txBody>
      </p:sp>
      <p:sp>
        <p:nvSpPr>
          <p:cNvPr id="28718" name="Line 47"/>
          <p:cNvSpPr/>
          <p:nvPr/>
        </p:nvSpPr>
        <p:spPr>
          <a:xfrm>
            <a:off x="3348038" y="5013325"/>
            <a:ext cx="719137" cy="0"/>
          </a:xfrm>
          <a:prstGeom prst="line">
            <a:avLst/>
          </a:prstGeom>
          <a:ln w="9525">
            <a:noFill/>
          </a:ln>
        </p:spPr>
      </p:sp>
      <p:sp>
        <p:nvSpPr>
          <p:cNvPr id="28719" name="Line 48"/>
          <p:cNvSpPr/>
          <p:nvPr/>
        </p:nvSpPr>
        <p:spPr>
          <a:xfrm>
            <a:off x="3203575" y="5013325"/>
            <a:ext cx="863600" cy="0"/>
          </a:xfrm>
          <a:prstGeom prst="line">
            <a:avLst/>
          </a:prstGeom>
          <a:ln w="9525">
            <a:noFill/>
          </a:ln>
        </p:spPr>
      </p:sp>
      <p:sp>
        <p:nvSpPr>
          <p:cNvPr id="28720" name="Line 49"/>
          <p:cNvSpPr/>
          <p:nvPr/>
        </p:nvSpPr>
        <p:spPr>
          <a:xfrm flipH="1">
            <a:off x="3203575" y="5084763"/>
            <a:ext cx="792163" cy="0"/>
          </a:xfrm>
          <a:prstGeom prst="line">
            <a:avLst/>
          </a:prstGeom>
          <a:ln w="9525">
            <a:noFill/>
          </a:ln>
        </p:spPr>
      </p:sp>
      <p:sp>
        <p:nvSpPr>
          <p:cNvPr id="28721" name="Line 50"/>
          <p:cNvSpPr/>
          <p:nvPr/>
        </p:nvSpPr>
        <p:spPr>
          <a:xfrm>
            <a:off x="3708400" y="6092825"/>
            <a:ext cx="1223963" cy="0"/>
          </a:xfrm>
          <a:prstGeom prst="line">
            <a:avLst/>
          </a:prstGeom>
          <a:ln w="9525">
            <a:noFill/>
          </a:ln>
        </p:spPr>
      </p:sp>
      <p:sp>
        <p:nvSpPr>
          <p:cNvPr id="243763" name="Line 51"/>
          <p:cNvSpPr/>
          <p:nvPr/>
        </p:nvSpPr>
        <p:spPr>
          <a:xfrm>
            <a:off x="3203575" y="5013325"/>
            <a:ext cx="863600" cy="0"/>
          </a:xfrm>
          <a:prstGeom prst="line">
            <a:avLst/>
          </a:prstGeom>
          <a:ln w="28575" cap="flat" cmpd="sng">
            <a:solidFill>
              <a:srgbClr val="800080"/>
            </a:solidFill>
            <a:prstDash val="solid"/>
            <a:headEnd type="none" w="med" len="med"/>
            <a:tailEnd type="none" w="med" len="med"/>
          </a:ln>
        </p:spPr>
      </p:sp>
      <p:sp>
        <p:nvSpPr>
          <p:cNvPr id="243764" name="Line 52"/>
          <p:cNvSpPr/>
          <p:nvPr/>
        </p:nvSpPr>
        <p:spPr>
          <a:xfrm>
            <a:off x="3563938" y="5734050"/>
            <a:ext cx="720725" cy="0"/>
          </a:xfrm>
          <a:prstGeom prst="line">
            <a:avLst/>
          </a:prstGeom>
          <a:ln w="28575" cap="flat" cmpd="sng">
            <a:solidFill>
              <a:srgbClr val="660066"/>
            </a:solidFill>
            <a:prstDash val="solid"/>
            <a:headEnd type="none" w="med" len="med"/>
            <a:tailEnd type="none" w="med" len="med"/>
          </a:ln>
        </p:spPr>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3718">
                                            <p:txEl>
                                              <p:charRg st="0" end="11"/>
                                            </p:txEl>
                                          </p:spTgt>
                                        </p:tgtEl>
                                        <p:attrNameLst>
                                          <p:attrName>style.visibility</p:attrName>
                                        </p:attrNameLst>
                                      </p:cBhvr>
                                      <p:to>
                                        <p:strVal val="visible"/>
                                      </p:to>
                                    </p:set>
                                    <p:anim calcmode="lin" valueType="num">
                                      <p:cBhvr additive="base">
                                        <p:cTn id="7" dur="500" fill="hold"/>
                                        <p:tgtEl>
                                          <p:spTgt spid="243718">
                                            <p:txEl>
                                              <p:charRg st="0"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3718">
                                            <p:txEl>
                                              <p:charRg st="0" end="1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3736"/>
                                        </p:tgtEl>
                                        <p:attrNameLst>
                                          <p:attrName>style.visibility</p:attrName>
                                        </p:attrNameLst>
                                      </p:cBhvr>
                                      <p:to>
                                        <p:strVal val="visible"/>
                                      </p:to>
                                    </p:set>
                                    <p:anim calcmode="lin" valueType="num">
                                      <p:cBhvr additive="base">
                                        <p:cTn id="13" dur="500" fill="hold"/>
                                        <p:tgtEl>
                                          <p:spTgt spid="243736"/>
                                        </p:tgtEl>
                                        <p:attrNameLst>
                                          <p:attrName>ppt_x</p:attrName>
                                        </p:attrNameLst>
                                      </p:cBhvr>
                                      <p:tavLst>
                                        <p:tav tm="0">
                                          <p:val>
                                            <p:strVal val="#ppt_x"/>
                                          </p:val>
                                        </p:tav>
                                        <p:tav tm="100000">
                                          <p:val>
                                            <p:strVal val="#ppt_x"/>
                                          </p:val>
                                        </p:tav>
                                      </p:tavLst>
                                    </p:anim>
                                    <p:anim calcmode="lin" valueType="num">
                                      <p:cBhvr additive="base">
                                        <p:cTn id="14" dur="500" fill="hold"/>
                                        <p:tgtEl>
                                          <p:spTgt spid="24373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3746"/>
                                        </p:tgtEl>
                                        <p:attrNameLst>
                                          <p:attrName>style.visibility</p:attrName>
                                        </p:attrNameLst>
                                      </p:cBhvr>
                                      <p:to>
                                        <p:strVal val="visible"/>
                                      </p:to>
                                    </p:set>
                                    <p:anim calcmode="lin" valueType="num">
                                      <p:cBhvr additive="base">
                                        <p:cTn id="19" dur="500" fill="hold"/>
                                        <p:tgtEl>
                                          <p:spTgt spid="243746"/>
                                        </p:tgtEl>
                                        <p:attrNameLst>
                                          <p:attrName>ppt_x</p:attrName>
                                        </p:attrNameLst>
                                      </p:cBhvr>
                                      <p:tavLst>
                                        <p:tav tm="0">
                                          <p:val>
                                            <p:strVal val="#ppt_x"/>
                                          </p:val>
                                        </p:tav>
                                        <p:tav tm="100000">
                                          <p:val>
                                            <p:strVal val="#ppt_x"/>
                                          </p:val>
                                        </p:tav>
                                      </p:tavLst>
                                    </p:anim>
                                    <p:anim calcmode="lin" valueType="num">
                                      <p:cBhvr additive="base">
                                        <p:cTn id="20" dur="500" fill="hold"/>
                                        <p:tgtEl>
                                          <p:spTgt spid="24374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43739"/>
                                        </p:tgtEl>
                                        <p:attrNameLst>
                                          <p:attrName>style.visibility</p:attrName>
                                        </p:attrNameLst>
                                      </p:cBhvr>
                                      <p:to>
                                        <p:strVal val="visible"/>
                                      </p:to>
                                    </p:set>
                                    <p:anim calcmode="lin" valueType="num">
                                      <p:cBhvr additive="base">
                                        <p:cTn id="25" dur="500" fill="hold"/>
                                        <p:tgtEl>
                                          <p:spTgt spid="243739"/>
                                        </p:tgtEl>
                                        <p:attrNameLst>
                                          <p:attrName>ppt_x</p:attrName>
                                        </p:attrNameLst>
                                      </p:cBhvr>
                                      <p:tavLst>
                                        <p:tav tm="0">
                                          <p:val>
                                            <p:strVal val="#ppt_x"/>
                                          </p:val>
                                        </p:tav>
                                        <p:tav tm="100000">
                                          <p:val>
                                            <p:strVal val="#ppt_x"/>
                                          </p:val>
                                        </p:tav>
                                      </p:tavLst>
                                    </p:anim>
                                    <p:anim calcmode="lin" valueType="num">
                                      <p:cBhvr additive="base">
                                        <p:cTn id="26" dur="500" fill="hold"/>
                                        <p:tgtEl>
                                          <p:spTgt spid="24373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243752"/>
                                        </p:tgtEl>
                                        <p:attrNameLst>
                                          <p:attrName>style.visibility</p:attrName>
                                        </p:attrNameLst>
                                      </p:cBhvr>
                                      <p:to>
                                        <p:strVal val="visible"/>
                                      </p:to>
                                    </p:set>
                                    <p:anim calcmode="lin" valueType="num">
                                      <p:cBhvr additive="base">
                                        <p:cTn id="31" dur="500" fill="hold"/>
                                        <p:tgtEl>
                                          <p:spTgt spid="243752"/>
                                        </p:tgtEl>
                                        <p:attrNameLst>
                                          <p:attrName>ppt_x</p:attrName>
                                        </p:attrNameLst>
                                      </p:cBhvr>
                                      <p:tavLst>
                                        <p:tav tm="0">
                                          <p:val>
                                            <p:strVal val="#ppt_x"/>
                                          </p:val>
                                        </p:tav>
                                        <p:tav tm="100000">
                                          <p:val>
                                            <p:strVal val="#ppt_x"/>
                                          </p:val>
                                        </p:tav>
                                      </p:tavLst>
                                    </p:anim>
                                    <p:anim calcmode="lin" valueType="num">
                                      <p:cBhvr additive="base">
                                        <p:cTn id="32" dur="500" fill="hold"/>
                                        <p:tgtEl>
                                          <p:spTgt spid="24375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43754"/>
                                        </p:tgtEl>
                                        <p:attrNameLst>
                                          <p:attrName>style.visibility</p:attrName>
                                        </p:attrNameLst>
                                      </p:cBhvr>
                                      <p:to>
                                        <p:strVal val="visible"/>
                                      </p:to>
                                    </p:set>
                                    <p:anim calcmode="lin" valueType="num">
                                      <p:cBhvr additive="base">
                                        <p:cTn id="37" dur="500" fill="hold"/>
                                        <p:tgtEl>
                                          <p:spTgt spid="243754"/>
                                        </p:tgtEl>
                                        <p:attrNameLst>
                                          <p:attrName>ppt_x</p:attrName>
                                        </p:attrNameLst>
                                      </p:cBhvr>
                                      <p:tavLst>
                                        <p:tav tm="0">
                                          <p:val>
                                            <p:strVal val="#ppt_x"/>
                                          </p:val>
                                        </p:tav>
                                        <p:tav tm="100000">
                                          <p:val>
                                            <p:strVal val="#ppt_x"/>
                                          </p:val>
                                        </p:tav>
                                      </p:tavLst>
                                    </p:anim>
                                    <p:anim calcmode="lin" valueType="num">
                                      <p:cBhvr additive="base">
                                        <p:cTn id="38" dur="500" fill="hold"/>
                                        <p:tgtEl>
                                          <p:spTgt spid="24375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43757"/>
                                        </p:tgtEl>
                                        <p:attrNameLst>
                                          <p:attrName>style.visibility</p:attrName>
                                        </p:attrNameLst>
                                      </p:cBhvr>
                                      <p:to>
                                        <p:strVal val="visible"/>
                                      </p:to>
                                    </p:set>
                                    <p:anim calcmode="lin" valueType="num">
                                      <p:cBhvr additive="base">
                                        <p:cTn id="43" dur="500" fill="hold"/>
                                        <p:tgtEl>
                                          <p:spTgt spid="243757"/>
                                        </p:tgtEl>
                                        <p:attrNameLst>
                                          <p:attrName>ppt_x</p:attrName>
                                        </p:attrNameLst>
                                      </p:cBhvr>
                                      <p:tavLst>
                                        <p:tav tm="0">
                                          <p:val>
                                            <p:strVal val="#ppt_x"/>
                                          </p:val>
                                        </p:tav>
                                        <p:tav tm="100000">
                                          <p:val>
                                            <p:strVal val="#ppt_x"/>
                                          </p:val>
                                        </p:tav>
                                      </p:tavLst>
                                    </p:anim>
                                    <p:anim calcmode="lin" valueType="num">
                                      <p:cBhvr additive="base">
                                        <p:cTn id="44" dur="500" fill="hold"/>
                                        <p:tgtEl>
                                          <p:spTgt spid="24375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243744"/>
                                        </p:tgtEl>
                                        <p:attrNameLst>
                                          <p:attrName>style.visibility</p:attrName>
                                        </p:attrNameLst>
                                      </p:cBhvr>
                                      <p:to>
                                        <p:strVal val="visible"/>
                                      </p:to>
                                    </p:set>
                                    <p:anim calcmode="lin" valueType="num">
                                      <p:cBhvr additive="base">
                                        <p:cTn id="49" dur="500" fill="hold"/>
                                        <p:tgtEl>
                                          <p:spTgt spid="243744"/>
                                        </p:tgtEl>
                                        <p:attrNameLst>
                                          <p:attrName>ppt_x</p:attrName>
                                        </p:attrNameLst>
                                      </p:cBhvr>
                                      <p:tavLst>
                                        <p:tav tm="0">
                                          <p:val>
                                            <p:strVal val="#ppt_x"/>
                                          </p:val>
                                        </p:tav>
                                        <p:tav tm="100000">
                                          <p:val>
                                            <p:strVal val="#ppt_x"/>
                                          </p:val>
                                        </p:tav>
                                      </p:tavLst>
                                    </p:anim>
                                    <p:anim calcmode="lin" valueType="num">
                                      <p:cBhvr additive="base">
                                        <p:cTn id="50" dur="500" fill="hold"/>
                                        <p:tgtEl>
                                          <p:spTgt spid="243744"/>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43745"/>
                                        </p:tgtEl>
                                        <p:attrNameLst>
                                          <p:attrName>style.visibility</p:attrName>
                                        </p:attrNameLst>
                                      </p:cBhvr>
                                      <p:to>
                                        <p:strVal val="visible"/>
                                      </p:to>
                                    </p:set>
                                    <p:anim calcmode="lin" valueType="num">
                                      <p:cBhvr additive="base">
                                        <p:cTn id="53" dur="500" fill="hold"/>
                                        <p:tgtEl>
                                          <p:spTgt spid="243745"/>
                                        </p:tgtEl>
                                        <p:attrNameLst>
                                          <p:attrName>ppt_x</p:attrName>
                                        </p:attrNameLst>
                                      </p:cBhvr>
                                      <p:tavLst>
                                        <p:tav tm="0">
                                          <p:val>
                                            <p:strVal val="#ppt_x"/>
                                          </p:val>
                                        </p:tav>
                                        <p:tav tm="100000">
                                          <p:val>
                                            <p:strVal val="#ppt_x"/>
                                          </p:val>
                                        </p:tav>
                                      </p:tavLst>
                                    </p:anim>
                                    <p:anim calcmode="lin" valueType="num">
                                      <p:cBhvr additive="base">
                                        <p:cTn id="54" dur="500" fill="hold"/>
                                        <p:tgtEl>
                                          <p:spTgt spid="24374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8" presetClass="entr" presetSubtype="16" fill="hold" grpId="0" nodeType="clickEffect">
                                  <p:stCondLst>
                                    <p:cond delay="0"/>
                                  </p:stCondLst>
                                  <p:childTnLst>
                                    <p:set>
                                      <p:cBhvr>
                                        <p:cTn id="58" dur="1" fill="hold">
                                          <p:stCondLst>
                                            <p:cond delay="0"/>
                                          </p:stCondLst>
                                        </p:cTn>
                                        <p:tgtEl>
                                          <p:spTgt spid="243716"/>
                                        </p:tgtEl>
                                        <p:attrNameLst>
                                          <p:attrName>style.visibility</p:attrName>
                                        </p:attrNameLst>
                                      </p:cBhvr>
                                      <p:to>
                                        <p:strVal val="visible"/>
                                      </p:to>
                                    </p:set>
                                    <p:animEffect transition="in" filter="diamond(in)">
                                      <p:cBhvr>
                                        <p:cTn id="59" dur="2000"/>
                                        <p:tgtEl>
                                          <p:spTgt spid="243716"/>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243719"/>
                                        </p:tgtEl>
                                        <p:attrNameLst>
                                          <p:attrName>style.visibility</p:attrName>
                                        </p:attrNameLst>
                                      </p:cBhvr>
                                      <p:to>
                                        <p:strVal val="visible"/>
                                      </p:to>
                                    </p:set>
                                    <p:anim calcmode="lin" valueType="num">
                                      <p:cBhvr additive="base">
                                        <p:cTn id="64" dur="500" fill="hold"/>
                                        <p:tgtEl>
                                          <p:spTgt spid="243719"/>
                                        </p:tgtEl>
                                        <p:attrNameLst>
                                          <p:attrName>ppt_x</p:attrName>
                                        </p:attrNameLst>
                                      </p:cBhvr>
                                      <p:tavLst>
                                        <p:tav tm="0">
                                          <p:val>
                                            <p:strVal val="#ppt_x"/>
                                          </p:val>
                                        </p:tav>
                                        <p:tav tm="100000">
                                          <p:val>
                                            <p:strVal val="#ppt_x"/>
                                          </p:val>
                                        </p:tav>
                                      </p:tavLst>
                                    </p:anim>
                                    <p:anim calcmode="lin" valueType="num">
                                      <p:cBhvr additive="base">
                                        <p:cTn id="65" dur="500" fill="hold"/>
                                        <p:tgtEl>
                                          <p:spTgt spid="243719"/>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243721"/>
                                        </p:tgtEl>
                                        <p:attrNameLst>
                                          <p:attrName>style.visibility</p:attrName>
                                        </p:attrNameLst>
                                      </p:cBhvr>
                                      <p:to>
                                        <p:strVal val="visible"/>
                                      </p:to>
                                    </p:set>
                                    <p:anim calcmode="lin" valueType="num">
                                      <p:cBhvr additive="base">
                                        <p:cTn id="70" dur="500" fill="hold"/>
                                        <p:tgtEl>
                                          <p:spTgt spid="243721"/>
                                        </p:tgtEl>
                                        <p:attrNameLst>
                                          <p:attrName>ppt_x</p:attrName>
                                        </p:attrNameLst>
                                      </p:cBhvr>
                                      <p:tavLst>
                                        <p:tav tm="0">
                                          <p:val>
                                            <p:strVal val="#ppt_x"/>
                                          </p:val>
                                        </p:tav>
                                        <p:tav tm="100000">
                                          <p:val>
                                            <p:strVal val="#ppt_x"/>
                                          </p:val>
                                        </p:tav>
                                      </p:tavLst>
                                    </p:anim>
                                    <p:anim calcmode="lin" valueType="num">
                                      <p:cBhvr additive="base">
                                        <p:cTn id="71" dur="500" fill="hold"/>
                                        <p:tgtEl>
                                          <p:spTgt spid="243721"/>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243723"/>
                                        </p:tgtEl>
                                        <p:attrNameLst>
                                          <p:attrName>style.visibility</p:attrName>
                                        </p:attrNameLst>
                                      </p:cBhvr>
                                      <p:to>
                                        <p:strVal val="visible"/>
                                      </p:to>
                                    </p:set>
                                    <p:anim calcmode="lin" valueType="num">
                                      <p:cBhvr additive="base">
                                        <p:cTn id="76" dur="500" fill="hold"/>
                                        <p:tgtEl>
                                          <p:spTgt spid="243723"/>
                                        </p:tgtEl>
                                        <p:attrNameLst>
                                          <p:attrName>ppt_x</p:attrName>
                                        </p:attrNameLst>
                                      </p:cBhvr>
                                      <p:tavLst>
                                        <p:tav tm="0">
                                          <p:val>
                                            <p:strVal val="#ppt_x"/>
                                          </p:val>
                                        </p:tav>
                                        <p:tav tm="100000">
                                          <p:val>
                                            <p:strVal val="#ppt_x"/>
                                          </p:val>
                                        </p:tav>
                                      </p:tavLst>
                                    </p:anim>
                                    <p:anim calcmode="lin" valueType="num">
                                      <p:cBhvr additive="base">
                                        <p:cTn id="77" dur="500" fill="hold"/>
                                        <p:tgtEl>
                                          <p:spTgt spid="243723"/>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2" presetClass="entr" presetSubtype="4" fill="hold" grpId="0" nodeType="clickEffect">
                                  <p:stCondLst>
                                    <p:cond delay="0"/>
                                  </p:stCondLst>
                                  <p:childTnLst>
                                    <p:set>
                                      <p:cBhvr>
                                        <p:cTn id="81" dur="1" fill="hold">
                                          <p:stCondLst>
                                            <p:cond delay="0"/>
                                          </p:stCondLst>
                                        </p:cTn>
                                        <p:tgtEl>
                                          <p:spTgt spid="243730"/>
                                        </p:tgtEl>
                                        <p:attrNameLst>
                                          <p:attrName>style.visibility</p:attrName>
                                        </p:attrNameLst>
                                      </p:cBhvr>
                                      <p:to>
                                        <p:strVal val="visible"/>
                                      </p:to>
                                    </p:set>
                                    <p:anim calcmode="lin" valueType="num">
                                      <p:cBhvr additive="base">
                                        <p:cTn id="82" dur="500" fill="hold"/>
                                        <p:tgtEl>
                                          <p:spTgt spid="243730"/>
                                        </p:tgtEl>
                                        <p:attrNameLst>
                                          <p:attrName>ppt_x</p:attrName>
                                        </p:attrNameLst>
                                      </p:cBhvr>
                                      <p:tavLst>
                                        <p:tav tm="0">
                                          <p:val>
                                            <p:strVal val="#ppt_x"/>
                                          </p:val>
                                        </p:tav>
                                        <p:tav tm="100000">
                                          <p:val>
                                            <p:strVal val="#ppt_x"/>
                                          </p:val>
                                        </p:tav>
                                      </p:tavLst>
                                    </p:anim>
                                    <p:anim calcmode="lin" valueType="num">
                                      <p:cBhvr additive="base">
                                        <p:cTn id="83" dur="500" fill="hold"/>
                                        <p:tgtEl>
                                          <p:spTgt spid="243730"/>
                                        </p:tgtEl>
                                        <p:attrNameLst>
                                          <p:attrName>ppt_y</p:attrName>
                                        </p:attrNameLst>
                                      </p:cBhvr>
                                      <p:tavLst>
                                        <p:tav tm="0">
                                          <p:val>
                                            <p:strVal val="1+#ppt_h/2"/>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 presetClass="entr" presetSubtype="4" fill="hold" nodeType="clickEffect">
                                  <p:stCondLst>
                                    <p:cond delay="0"/>
                                  </p:stCondLst>
                                  <p:childTnLst>
                                    <p:set>
                                      <p:cBhvr>
                                        <p:cTn id="87" dur="1" fill="hold">
                                          <p:stCondLst>
                                            <p:cond delay="0"/>
                                          </p:stCondLst>
                                        </p:cTn>
                                        <p:tgtEl>
                                          <p:spTgt spid="243763"/>
                                        </p:tgtEl>
                                        <p:attrNameLst>
                                          <p:attrName>style.visibility</p:attrName>
                                        </p:attrNameLst>
                                      </p:cBhvr>
                                      <p:to>
                                        <p:strVal val="visible"/>
                                      </p:to>
                                    </p:set>
                                    <p:anim calcmode="lin" valueType="num">
                                      <p:cBhvr additive="base">
                                        <p:cTn id="88" dur="500" fill="hold"/>
                                        <p:tgtEl>
                                          <p:spTgt spid="243763"/>
                                        </p:tgtEl>
                                        <p:attrNameLst>
                                          <p:attrName>ppt_x</p:attrName>
                                        </p:attrNameLst>
                                      </p:cBhvr>
                                      <p:tavLst>
                                        <p:tav tm="0">
                                          <p:val>
                                            <p:strVal val="#ppt_x"/>
                                          </p:val>
                                        </p:tav>
                                        <p:tav tm="100000">
                                          <p:val>
                                            <p:strVal val="#ppt_x"/>
                                          </p:val>
                                        </p:tav>
                                      </p:tavLst>
                                    </p:anim>
                                    <p:anim calcmode="lin" valueType="num">
                                      <p:cBhvr additive="base">
                                        <p:cTn id="89" dur="500" fill="hold"/>
                                        <p:tgtEl>
                                          <p:spTgt spid="243763"/>
                                        </p:tgtEl>
                                        <p:attrNameLst>
                                          <p:attrName>ppt_y</p:attrName>
                                        </p:attrNameLst>
                                      </p:cBhvr>
                                      <p:tavLst>
                                        <p:tav tm="0">
                                          <p:val>
                                            <p:strVal val="1+#ppt_h/2"/>
                                          </p:val>
                                        </p:tav>
                                        <p:tav tm="100000">
                                          <p:val>
                                            <p:strVal val="#ppt_y"/>
                                          </p:val>
                                        </p:tav>
                                      </p:tavLst>
                                    </p:anim>
                                  </p:childTnLst>
                                </p:cTn>
                              </p:par>
                              <p:par>
                                <p:cTn id="90" presetID="2" presetClass="entr" presetSubtype="4" fill="hold" nodeType="withEffect">
                                  <p:stCondLst>
                                    <p:cond delay="0"/>
                                  </p:stCondLst>
                                  <p:childTnLst>
                                    <p:set>
                                      <p:cBhvr>
                                        <p:cTn id="91" dur="1" fill="hold">
                                          <p:stCondLst>
                                            <p:cond delay="0"/>
                                          </p:stCondLst>
                                        </p:cTn>
                                        <p:tgtEl>
                                          <p:spTgt spid="243749"/>
                                        </p:tgtEl>
                                        <p:attrNameLst>
                                          <p:attrName>style.visibility</p:attrName>
                                        </p:attrNameLst>
                                      </p:cBhvr>
                                      <p:to>
                                        <p:strVal val="visible"/>
                                      </p:to>
                                    </p:set>
                                    <p:anim calcmode="lin" valueType="num">
                                      <p:cBhvr additive="base">
                                        <p:cTn id="92" dur="500" fill="hold"/>
                                        <p:tgtEl>
                                          <p:spTgt spid="243749"/>
                                        </p:tgtEl>
                                        <p:attrNameLst>
                                          <p:attrName>ppt_x</p:attrName>
                                        </p:attrNameLst>
                                      </p:cBhvr>
                                      <p:tavLst>
                                        <p:tav tm="0">
                                          <p:val>
                                            <p:strVal val="#ppt_x"/>
                                          </p:val>
                                        </p:tav>
                                        <p:tav tm="100000">
                                          <p:val>
                                            <p:strVal val="#ppt_x"/>
                                          </p:val>
                                        </p:tav>
                                      </p:tavLst>
                                    </p:anim>
                                    <p:anim calcmode="lin" valueType="num">
                                      <p:cBhvr additive="base">
                                        <p:cTn id="93" dur="500" fill="hold"/>
                                        <p:tgtEl>
                                          <p:spTgt spid="243749"/>
                                        </p:tgtEl>
                                        <p:attrNameLst>
                                          <p:attrName>ppt_y</p:attrName>
                                        </p:attrNameLst>
                                      </p:cBhvr>
                                      <p:tavLst>
                                        <p:tav tm="0">
                                          <p:val>
                                            <p:strVal val="1+#ppt_h/2"/>
                                          </p:val>
                                        </p:tav>
                                        <p:tav tm="100000">
                                          <p:val>
                                            <p:strVal val="#ppt_y"/>
                                          </p:val>
                                        </p:tav>
                                      </p:tavLst>
                                    </p:anim>
                                  </p:childTnLst>
                                </p:cTn>
                              </p:par>
                              <p:par>
                                <p:cTn id="94" presetID="2" presetClass="entr" presetSubtype="4" fill="hold" nodeType="withEffect">
                                  <p:stCondLst>
                                    <p:cond delay="0"/>
                                  </p:stCondLst>
                                  <p:childTnLst>
                                    <p:set>
                                      <p:cBhvr>
                                        <p:cTn id="95" dur="1" fill="hold">
                                          <p:stCondLst>
                                            <p:cond delay="0"/>
                                          </p:stCondLst>
                                        </p:cTn>
                                        <p:tgtEl>
                                          <p:spTgt spid="243750"/>
                                        </p:tgtEl>
                                        <p:attrNameLst>
                                          <p:attrName>style.visibility</p:attrName>
                                        </p:attrNameLst>
                                      </p:cBhvr>
                                      <p:to>
                                        <p:strVal val="visible"/>
                                      </p:to>
                                    </p:set>
                                    <p:anim calcmode="lin" valueType="num">
                                      <p:cBhvr additive="base">
                                        <p:cTn id="96" dur="500" fill="hold"/>
                                        <p:tgtEl>
                                          <p:spTgt spid="243750"/>
                                        </p:tgtEl>
                                        <p:attrNameLst>
                                          <p:attrName>ppt_x</p:attrName>
                                        </p:attrNameLst>
                                      </p:cBhvr>
                                      <p:tavLst>
                                        <p:tav tm="0">
                                          <p:val>
                                            <p:strVal val="#ppt_x"/>
                                          </p:val>
                                        </p:tav>
                                        <p:tav tm="100000">
                                          <p:val>
                                            <p:strVal val="#ppt_x"/>
                                          </p:val>
                                        </p:tav>
                                      </p:tavLst>
                                    </p:anim>
                                    <p:anim calcmode="lin" valueType="num">
                                      <p:cBhvr additive="base">
                                        <p:cTn id="97" dur="500" fill="hold"/>
                                        <p:tgtEl>
                                          <p:spTgt spid="243750"/>
                                        </p:tgtEl>
                                        <p:attrNameLst>
                                          <p:attrName>ppt_y</p:attrName>
                                        </p:attrNameLst>
                                      </p:cBhvr>
                                      <p:tavLst>
                                        <p:tav tm="0">
                                          <p:val>
                                            <p:strVal val="1+#ppt_h/2"/>
                                          </p:val>
                                        </p:tav>
                                        <p:tav tm="100000">
                                          <p:val>
                                            <p:strVal val="#ppt_y"/>
                                          </p:val>
                                        </p:tav>
                                      </p:tavLst>
                                    </p:anim>
                                  </p:childTnLst>
                                </p:cTn>
                              </p:par>
                            </p:childTnLst>
                          </p:cTn>
                        </p:par>
                      </p:childTnLst>
                    </p:cTn>
                  </p:par>
                  <p:par>
                    <p:cTn id="98" fill="hold">
                      <p:stCondLst>
                        <p:cond delay="indefinite"/>
                      </p:stCondLst>
                      <p:childTnLst>
                        <p:par>
                          <p:cTn id="99" fill="hold">
                            <p:stCondLst>
                              <p:cond delay="0"/>
                            </p:stCondLst>
                            <p:childTnLst>
                              <p:par>
                                <p:cTn id="100" presetID="2" presetClass="entr" presetSubtype="4" fill="hold" grpId="0" nodeType="clickEffect">
                                  <p:stCondLst>
                                    <p:cond delay="0"/>
                                  </p:stCondLst>
                                  <p:childTnLst>
                                    <p:set>
                                      <p:cBhvr>
                                        <p:cTn id="101" dur="1" fill="hold">
                                          <p:stCondLst>
                                            <p:cond delay="0"/>
                                          </p:stCondLst>
                                        </p:cTn>
                                        <p:tgtEl>
                                          <p:spTgt spid="243727"/>
                                        </p:tgtEl>
                                        <p:attrNameLst>
                                          <p:attrName>style.visibility</p:attrName>
                                        </p:attrNameLst>
                                      </p:cBhvr>
                                      <p:to>
                                        <p:strVal val="visible"/>
                                      </p:to>
                                    </p:set>
                                    <p:anim calcmode="lin" valueType="num">
                                      <p:cBhvr additive="base">
                                        <p:cTn id="102" dur="500" fill="hold"/>
                                        <p:tgtEl>
                                          <p:spTgt spid="243727"/>
                                        </p:tgtEl>
                                        <p:attrNameLst>
                                          <p:attrName>ppt_x</p:attrName>
                                        </p:attrNameLst>
                                      </p:cBhvr>
                                      <p:tavLst>
                                        <p:tav tm="0">
                                          <p:val>
                                            <p:strVal val="#ppt_x"/>
                                          </p:val>
                                        </p:tav>
                                        <p:tav tm="100000">
                                          <p:val>
                                            <p:strVal val="#ppt_x"/>
                                          </p:val>
                                        </p:tav>
                                      </p:tavLst>
                                    </p:anim>
                                    <p:anim calcmode="lin" valueType="num">
                                      <p:cBhvr additive="base">
                                        <p:cTn id="103" dur="500" fill="hold"/>
                                        <p:tgtEl>
                                          <p:spTgt spid="243727"/>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nodeType="clickEffect">
                                  <p:stCondLst>
                                    <p:cond delay="0"/>
                                  </p:stCondLst>
                                  <p:childTnLst>
                                    <p:set>
                                      <p:cBhvr>
                                        <p:cTn id="107" dur="1" fill="hold">
                                          <p:stCondLst>
                                            <p:cond delay="0"/>
                                          </p:stCondLst>
                                        </p:cTn>
                                        <p:tgtEl>
                                          <p:spTgt spid="243764"/>
                                        </p:tgtEl>
                                        <p:attrNameLst>
                                          <p:attrName>style.visibility</p:attrName>
                                        </p:attrNameLst>
                                      </p:cBhvr>
                                      <p:to>
                                        <p:strVal val="visible"/>
                                      </p:to>
                                    </p:set>
                                    <p:anim calcmode="lin" valueType="num">
                                      <p:cBhvr additive="base">
                                        <p:cTn id="108" dur="500" fill="hold"/>
                                        <p:tgtEl>
                                          <p:spTgt spid="243764"/>
                                        </p:tgtEl>
                                        <p:attrNameLst>
                                          <p:attrName>ppt_x</p:attrName>
                                        </p:attrNameLst>
                                      </p:cBhvr>
                                      <p:tavLst>
                                        <p:tav tm="0">
                                          <p:val>
                                            <p:strVal val="#ppt_x"/>
                                          </p:val>
                                        </p:tav>
                                        <p:tav tm="100000">
                                          <p:val>
                                            <p:strVal val="#ppt_x"/>
                                          </p:val>
                                        </p:tav>
                                      </p:tavLst>
                                    </p:anim>
                                    <p:anim calcmode="lin" valueType="num">
                                      <p:cBhvr additive="base">
                                        <p:cTn id="109" dur="500" fill="hold"/>
                                        <p:tgtEl>
                                          <p:spTgt spid="243764"/>
                                        </p:tgtEl>
                                        <p:attrNameLst>
                                          <p:attrName>ppt_y</p:attrName>
                                        </p:attrNameLst>
                                      </p:cBhvr>
                                      <p:tavLst>
                                        <p:tav tm="0">
                                          <p:val>
                                            <p:strVal val="1+#ppt_h/2"/>
                                          </p:val>
                                        </p:tav>
                                        <p:tav tm="100000">
                                          <p:val>
                                            <p:strVal val="#ppt_y"/>
                                          </p:val>
                                        </p:tav>
                                      </p:tavLst>
                                    </p:anim>
                                  </p:childTnLst>
                                </p:cTn>
                              </p:par>
                              <p:par>
                                <p:cTn id="110" presetID="2" presetClass="entr" presetSubtype="4" fill="hold" nodeType="withEffect">
                                  <p:stCondLst>
                                    <p:cond delay="0"/>
                                  </p:stCondLst>
                                  <p:childTnLst>
                                    <p:set>
                                      <p:cBhvr>
                                        <p:cTn id="111" dur="1" fill="hold">
                                          <p:stCondLst>
                                            <p:cond delay="0"/>
                                          </p:stCondLst>
                                        </p:cTn>
                                        <p:tgtEl>
                                          <p:spTgt spid="243747"/>
                                        </p:tgtEl>
                                        <p:attrNameLst>
                                          <p:attrName>style.visibility</p:attrName>
                                        </p:attrNameLst>
                                      </p:cBhvr>
                                      <p:to>
                                        <p:strVal val="visible"/>
                                      </p:to>
                                    </p:set>
                                    <p:anim calcmode="lin" valueType="num">
                                      <p:cBhvr additive="base">
                                        <p:cTn id="112" dur="500" fill="hold"/>
                                        <p:tgtEl>
                                          <p:spTgt spid="243747"/>
                                        </p:tgtEl>
                                        <p:attrNameLst>
                                          <p:attrName>ppt_x</p:attrName>
                                        </p:attrNameLst>
                                      </p:cBhvr>
                                      <p:tavLst>
                                        <p:tav tm="0">
                                          <p:val>
                                            <p:strVal val="#ppt_x"/>
                                          </p:val>
                                        </p:tav>
                                        <p:tav tm="100000">
                                          <p:val>
                                            <p:strVal val="#ppt_x"/>
                                          </p:val>
                                        </p:tav>
                                      </p:tavLst>
                                    </p:anim>
                                    <p:anim calcmode="lin" valueType="num">
                                      <p:cBhvr additive="base">
                                        <p:cTn id="113" dur="500" fill="hold"/>
                                        <p:tgtEl>
                                          <p:spTgt spid="243747"/>
                                        </p:tgtEl>
                                        <p:attrNameLst>
                                          <p:attrName>ppt_y</p:attrName>
                                        </p:attrNameLst>
                                      </p:cBhvr>
                                      <p:tavLst>
                                        <p:tav tm="0">
                                          <p:val>
                                            <p:strVal val="1+#ppt_h/2"/>
                                          </p:val>
                                        </p:tav>
                                        <p:tav tm="100000">
                                          <p:val>
                                            <p:strVal val="#ppt_y"/>
                                          </p:val>
                                        </p:tav>
                                      </p:tavLst>
                                    </p:anim>
                                  </p:childTnLst>
                                </p:cTn>
                              </p:par>
                              <p:par>
                                <p:cTn id="114" presetID="2" presetClass="entr" presetSubtype="4" fill="hold" nodeType="withEffect">
                                  <p:stCondLst>
                                    <p:cond delay="0"/>
                                  </p:stCondLst>
                                  <p:childTnLst>
                                    <p:set>
                                      <p:cBhvr>
                                        <p:cTn id="115" dur="1" fill="hold">
                                          <p:stCondLst>
                                            <p:cond delay="0"/>
                                          </p:stCondLst>
                                        </p:cTn>
                                        <p:tgtEl>
                                          <p:spTgt spid="243748"/>
                                        </p:tgtEl>
                                        <p:attrNameLst>
                                          <p:attrName>style.visibility</p:attrName>
                                        </p:attrNameLst>
                                      </p:cBhvr>
                                      <p:to>
                                        <p:strVal val="visible"/>
                                      </p:to>
                                    </p:set>
                                    <p:anim calcmode="lin" valueType="num">
                                      <p:cBhvr additive="base">
                                        <p:cTn id="116" dur="500" fill="hold"/>
                                        <p:tgtEl>
                                          <p:spTgt spid="243748"/>
                                        </p:tgtEl>
                                        <p:attrNameLst>
                                          <p:attrName>ppt_x</p:attrName>
                                        </p:attrNameLst>
                                      </p:cBhvr>
                                      <p:tavLst>
                                        <p:tav tm="0">
                                          <p:val>
                                            <p:strVal val="#ppt_x"/>
                                          </p:val>
                                        </p:tav>
                                        <p:tav tm="100000">
                                          <p:val>
                                            <p:strVal val="#ppt_x"/>
                                          </p:val>
                                        </p:tav>
                                      </p:tavLst>
                                    </p:anim>
                                    <p:anim calcmode="lin" valueType="num">
                                      <p:cBhvr additive="base">
                                        <p:cTn id="117" dur="500" fill="hold"/>
                                        <p:tgtEl>
                                          <p:spTgt spid="243748"/>
                                        </p:tgtEl>
                                        <p:attrNameLst>
                                          <p:attrName>ppt_y</p:attrName>
                                        </p:attrNameLst>
                                      </p:cBhvr>
                                      <p:tavLst>
                                        <p:tav tm="0">
                                          <p:val>
                                            <p:strVal val="1+#ppt_h/2"/>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2" presetClass="entr" presetSubtype="4" fill="hold" grpId="0" nodeType="clickEffect">
                                  <p:stCondLst>
                                    <p:cond delay="0"/>
                                  </p:stCondLst>
                                  <p:childTnLst>
                                    <p:set>
                                      <p:cBhvr>
                                        <p:cTn id="121" dur="1" fill="hold">
                                          <p:stCondLst>
                                            <p:cond delay="0"/>
                                          </p:stCondLst>
                                        </p:cTn>
                                        <p:tgtEl>
                                          <p:spTgt spid="243733"/>
                                        </p:tgtEl>
                                        <p:attrNameLst>
                                          <p:attrName>style.visibility</p:attrName>
                                        </p:attrNameLst>
                                      </p:cBhvr>
                                      <p:to>
                                        <p:strVal val="visible"/>
                                      </p:to>
                                    </p:set>
                                    <p:anim calcmode="lin" valueType="num">
                                      <p:cBhvr additive="base">
                                        <p:cTn id="122" dur="500" fill="hold"/>
                                        <p:tgtEl>
                                          <p:spTgt spid="243733"/>
                                        </p:tgtEl>
                                        <p:attrNameLst>
                                          <p:attrName>ppt_x</p:attrName>
                                        </p:attrNameLst>
                                      </p:cBhvr>
                                      <p:tavLst>
                                        <p:tav tm="0">
                                          <p:val>
                                            <p:strVal val="#ppt_x"/>
                                          </p:val>
                                        </p:tav>
                                        <p:tav tm="100000">
                                          <p:val>
                                            <p:strVal val="#ppt_x"/>
                                          </p:val>
                                        </p:tav>
                                      </p:tavLst>
                                    </p:anim>
                                    <p:anim calcmode="lin" valueType="num">
                                      <p:cBhvr additive="base">
                                        <p:cTn id="123" dur="500" fill="hold"/>
                                        <p:tgtEl>
                                          <p:spTgt spid="243733"/>
                                        </p:tgtEl>
                                        <p:attrNameLst>
                                          <p:attrName>ppt_y</p:attrName>
                                        </p:attrNameLst>
                                      </p:cBhvr>
                                      <p:tavLst>
                                        <p:tav tm="0">
                                          <p:val>
                                            <p:strVal val="1+#ppt_h/2"/>
                                          </p:val>
                                        </p:tav>
                                        <p:tav tm="100000">
                                          <p:val>
                                            <p:strVal val="#ppt_y"/>
                                          </p:val>
                                        </p:tav>
                                      </p:tavLst>
                                    </p:anim>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243742"/>
                                        </p:tgtEl>
                                        <p:attrNameLst>
                                          <p:attrName>style.visibility</p:attrName>
                                        </p:attrNameLst>
                                      </p:cBhvr>
                                      <p:to>
                                        <p:strVal val="visible"/>
                                      </p:to>
                                    </p:set>
                                    <p:anim calcmode="lin" valueType="num">
                                      <p:cBhvr additive="base">
                                        <p:cTn id="128" dur="500" fill="hold"/>
                                        <p:tgtEl>
                                          <p:spTgt spid="243742"/>
                                        </p:tgtEl>
                                        <p:attrNameLst>
                                          <p:attrName>ppt_x</p:attrName>
                                        </p:attrNameLst>
                                      </p:cBhvr>
                                      <p:tavLst>
                                        <p:tav tm="0">
                                          <p:val>
                                            <p:strVal val="#ppt_x"/>
                                          </p:val>
                                        </p:tav>
                                        <p:tav tm="100000">
                                          <p:val>
                                            <p:strVal val="#ppt_x"/>
                                          </p:val>
                                        </p:tav>
                                      </p:tavLst>
                                    </p:anim>
                                    <p:anim calcmode="lin" valueType="num">
                                      <p:cBhvr additive="base">
                                        <p:cTn id="129" dur="500" fill="hold"/>
                                        <p:tgtEl>
                                          <p:spTgt spid="243742"/>
                                        </p:tgtEl>
                                        <p:attrNameLst>
                                          <p:attrName>ppt_y</p:attrName>
                                        </p:attrNameLst>
                                      </p:cBhvr>
                                      <p:tavLst>
                                        <p:tav tm="0">
                                          <p:val>
                                            <p:strVal val="1+#ppt_h/2"/>
                                          </p:val>
                                        </p:tav>
                                        <p:tav tm="100000">
                                          <p:val>
                                            <p:strVal val="#ppt_y"/>
                                          </p:val>
                                        </p:tav>
                                      </p:tavLst>
                                    </p:anim>
                                  </p:childTnLst>
                                </p:cTn>
                              </p:par>
                              <p:par>
                                <p:cTn id="130" presetID="2" presetClass="entr" presetSubtype="1" fill="hold" nodeType="withEffect">
                                  <p:stCondLst>
                                    <p:cond delay="0"/>
                                  </p:stCondLst>
                                  <p:childTnLst>
                                    <p:set>
                                      <p:cBhvr>
                                        <p:cTn id="131" dur="1" fill="hold">
                                          <p:stCondLst>
                                            <p:cond delay="0"/>
                                          </p:stCondLst>
                                        </p:cTn>
                                        <p:tgtEl>
                                          <p:spTgt spid="243743"/>
                                        </p:tgtEl>
                                        <p:attrNameLst>
                                          <p:attrName>style.visibility</p:attrName>
                                        </p:attrNameLst>
                                      </p:cBhvr>
                                      <p:to>
                                        <p:strVal val="visible"/>
                                      </p:to>
                                    </p:set>
                                    <p:anim calcmode="lin" valueType="num">
                                      <p:cBhvr additive="base">
                                        <p:cTn id="132" dur="500" fill="hold"/>
                                        <p:tgtEl>
                                          <p:spTgt spid="243743"/>
                                        </p:tgtEl>
                                        <p:attrNameLst>
                                          <p:attrName>ppt_x</p:attrName>
                                        </p:attrNameLst>
                                      </p:cBhvr>
                                      <p:tavLst>
                                        <p:tav tm="0">
                                          <p:val>
                                            <p:strVal val="#ppt_x"/>
                                          </p:val>
                                        </p:tav>
                                        <p:tav tm="100000">
                                          <p:val>
                                            <p:strVal val="#ppt_x"/>
                                          </p:val>
                                        </p:tav>
                                      </p:tavLst>
                                    </p:anim>
                                    <p:anim calcmode="lin" valueType="num">
                                      <p:cBhvr additive="base">
                                        <p:cTn id="133" dur="500" fill="hold"/>
                                        <p:tgtEl>
                                          <p:spTgt spid="2437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6" grpId="0"/>
      <p:bldP spid="243719" grpId="0"/>
      <p:bldP spid="243721" grpId="0"/>
      <p:bldP spid="243723" grpId="0"/>
      <p:bldP spid="243727" grpId="0"/>
      <p:bldP spid="243730" grpId="0"/>
      <p:bldP spid="243733" grpId="0"/>
      <p:bldP spid="243736" grpId="0"/>
      <p:bldP spid="243739" grpId="0"/>
      <p:bldP spid="243742" grpId="0"/>
      <p:bldP spid="243744" grpId="0"/>
      <p:bldP spid="243746" grpId="0"/>
      <p:bldP spid="243752" grpId="0"/>
      <p:bldP spid="243754" grpId="0"/>
      <p:bldP spid="24375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70" name="Rectangle 2"/>
          <p:cNvSpPr>
            <a:spLocks noGrp="1" noRot="1" noChangeArrowheads="1"/>
          </p:cNvSpPr>
          <p:nvPr>
            <p:ph type="title"/>
          </p:nvPr>
        </p:nvSpPr>
        <p:spPr>
          <a:xfrm>
            <a:off x="395288" y="555625"/>
            <a:ext cx="7632700" cy="557213"/>
          </a:xfrm>
        </p:spPr>
        <p:txBody>
          <a:bodyPr vert="horz" wrap="square" lIns="91440" tIns="45720" rIns="91440" bIns="45720" numCol="1" rtlCol="0" anchor="ctr" anchorCtr="0" compatLnSpc="1">
            <a:no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rPr>
              <a:t>传统与现代数字系统设计流程的比较</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endParaRPr>
          </a:p>
        </p:txBody>
      </p:sp>
      <p:graphicFrame>
        <p:nvGraphicFramePr>
          <p:cNvPr id="135256" name="Group 88"/>
          <p:cNvGraphicFramePr>
            <a:graphicFrameLocks noGrp="1"/>
          </p:cNvGraphicFramePr>
          <p:nvPr/>
        </p:nvGraphicFramePr>
        <p:xfrm>
          <a:off x="841375" y="1773238"/>
          <a:ext cx="7331075" cy="4237038"/>
        </p:xfrm>
        <a:graphic>
          <a:graphicData uri="http://schemas.openxmlformats.org/drawingml/2006/table">
            <a:tbl>
              <a:tblPr/>
              <a:tblGrid>
                <a:gridCol w="1409700"/>
                <a:gridCol w="2960688"/>
                <a:gridCol w="2960687"/>
              </a:tblGrid>
              <a:tr h="769938">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endParaRPr kumimoji="0" lang="zh-CN" altLang="zh-CN" sz="2400" b="1" i="0" u="none" strike="noStrike" cap="none" normalizeH="0" baseline="0" dirty="0" smtClean="0">
                        <a:ln>
                          <a:noFill/>
                        </a:ln>
                        <a:solidFill>
                          <a:srgbClr val="000000"/>
                        </a:solidFill>
                        <a:effectLst/>
                        <a:latin typeface="Times New Roman" panose="02020603050405020304" pitchFamily="18" charset="0"/>
                        <a:ea typeface="楷体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rPr>
                        <a:t>传统集成电路设计</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rPr>
                        <a:t>现代集成电路设计</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r h="682625">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rgbClr val="FF0000"/>
                          </a:solidFill>
                          <a:effectLst/>
                          <a:latin typeface="Times New Roman" panose="02020603050405020304" pitchFamily="18" charset="0"/>
                          <a:ea typeface="楷体_GB2312" pitchFamily="49" charset="-122"/>
                        </a:rPr>
                        <a:t>设计方法</a:t>
                      </a:r>
                      <a:endParaRPr kumimoji="0" lang="zh-CN" altLang="en-US" sz="2400" b="1" i="0" u="none" strike="noStrike" cap="none" normalizeH="0" baseline="0" dirty="0" smtClean="0">
                        <a:ln>
                          <a:noFill/>
                        </a:ln>
                        <a:solidFill>
                          <a:srgbClr val="FF0000"/>
                        </a:solidFill>
                        <a:effectLst/>
                        <a:latin typeface="Times New Roman" panose="02020603050405020304" pitchFamily="18" charset="0"/>
                        <a:ea typeface="楷体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楷体_GB2312" pitchFamily="49" charset="-122"/>
                        </a:rPr>
                        <a:t>自底向上</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rPr>
                        <a:t>自顶向下</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r h="682625">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rgbClr val="FF0000"/>
                          </a:solidFill>
                          <a:effectLst/>
                          <a:latin typeface="Times New Roman" panose="02020603050405020304" pitchFamily="18" charset="0"/>
                          <a:ea typeface="楷体_GB2312" pitchFamily="49" charset="-122"/>
                        </a:rPr>
                        <a:t>设计手段</a:t>
                      </a:r>
                      <a:endParaRPr kumimoji="0" lang="zh-CN" altLang="en-US" sz="2400" b="1" i="0" u="none" strike="noStrike" cap="none" normalizeH="0" baseline="0" dirty="0" smtClean="0">
                        <a:ln>
                          <a:noFill/>
                        </a:ln>
                        <a:solidFill>
                          <a:srgbClr val="FF0000"/>
                        </a:solidFill>
                        <a:effectLst/>
                        <a:latin typeface="Times New Roman" panose="02020603050405020304" pitchFamily="18" charset="0"/>
                        <a:ea typeface="楷体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rPr>
                        <a:t>电路原理图</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2400" b="1" i="1" u="none" strike="noStrike" cap="none" normalizeH="0" baseline="0" smtClean="0">
                          <a:ln>
                            <a:noFill/>
                          </a:ln>
                          <a:solidFill>
                            <a:srgbClr val="000000"/>
                          </a:solidFill>
                          <a:effectLst/>
                          <a:latin typeface="Times New Roman" panose="02020603050405020304" pitchFamily="18" charset="0"/>
                          <a:ea typeface="楷体_GB2312" pitchFamily="49" charset="-122"/>
                        </a:rPr>
                        <a:t>HDL</a:t>
                      </a:r>
                      <a:r>
                        <a:rPr kumimoji="0" lang="en-US" altLang="zh-CN" sz="2400" b="1" i="0" u="none" strike="noStrike" cap="none" normalizeH="0" baseline="0" smtClean="0">
                          <a:ln>
                            <a:noFill/>
                          </a:ln>
                          <a:solidFill>
                            <a:srgbClr val="000000"/>
                          </a:solidFill>
                          <a:effectLst/>
                          <a:latin typeface="Times New Roman" panose="02020603050405020304" pitchFamily="18" charset="0"/>
                          <a:ea typeface="楷体_GB2312" pitchFamily="49" charset="-122"/>
                        </a:rPr>
                        <a:t> </a:t>
                      </a:r>
                      <a:r>
                        <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rPr>
                        <a:t>语言</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r h="681038">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rgbClr val="FF0000"/>
                          </a:solidFill>
                          <a:effectLst/>
                          <a:latin typeface="Times New Roman" panose="02020603050405020304" pitchFamily="18" charset="0"/>
                          <a:ea typeface="楷体_GB2312" pitchFamily="49" charset="-122"/>
                        </a:rPr>
                        <a:t>系统构成</a:t>
                      </a:r>
                      <a:endParaRPr kumimoji="0" lang="zh-CN" altLang="en-US" sz="2400" b="1" i="0" u="none" strike="noStrike" cap="none" normalizeH="0" baseline="0" dirty="0" smtClean="0">
                        <a:ln>
                          <a:noFill/>
                        </a:ln>
                        <a:solidFill>
                          <a:srgbClr val="FF0000"/>
                        </a:solidFill>
                        <a:effectLst/>
                        <a:latin typeface="Times New Roman" panose="02020603050405020304" pitchFamily="18" charset="0"/>
                        <a:ea typeface="楷体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rPr>
                        <a:t>通用元器件</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楷体_GB2312" pitchFamily="49" charset="-122"/>
                        </a:rPr>
                        <a:t>可编程逻辑器件</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r h="738188">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rgbClr val="FF0000"/>
                          </a:solidFill>
                          <a:effectLst/>
                          <a:latin typeface="Times New Roman" panose="02020603050405020304" pitchFamily="18" charset="0"/>
                          <a:ea typeface="楷体_GB2312" pitchFamily="49" charset="-122"/>
                        </a:rPr>
                        <a:t>仿真调试</a:t>
                      </a:r>
                      <a:endParaRPr kumimoji="0" lang="zh-CN" altLang="en-US" sz="2400" b="1" i="0" u="none" strike="noStrike" cap="none" normalizeH="0" baseline="0" dirty="0" smtClean="0">
                        <a:ln>
                          <a:noFill/>
                        </a:ln>
                        <a:solidFill>
                          <a:srgbClr val="FF0000"/>
                        </a:solidFill>
                        <a:effectLst/>
                        <a:latin typeface="Times New Roman" panose="02020603050405020304" pitchFamily="18" charset="0"/>
                        <a:ea typeface="楷体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rPr>
                        <a:t>在设计的后期进行</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rPr>
                        <a:t>在设计的早期进行</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r h="682625">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rgbClr val="FF0000"/>
                          </a:solidFill>
                          <a:effectLst/>
                          <a:latin typeface="Times New Roman" panose="02020603050405020304" pitchFamily="18" charset="0"/>
                          <a:ea typeface="楷体_GB2312" pitchFamily="49" charset="-122"/>
                        </a:rPr>
                        <a:t>实现手段</a:t>
                      </a:r>
                      <a:endParaRPr kumimoji="0" lang="zh-CN" altLang="en-US" sz="2400" b="1" i="0" u="none" strike="noStrike" cap="none" normalizeH="0" baseline="0" dirty="0" smtClean="0">
                        <a:ln>
                          <a:noFill/>
                        </a:ln>
                        <a:solidFill>
                          <a:srgbClr val="FF0000"/>
                        </a:solidFill>
                        <a:effectLst/>
                        <a:latin typeface="Times New Roman" panose="02020603050405020304" pitchFamily="18" charset="0"/>
                        <a:ea typeface="楷体_GB2312" pitchFamily="49" charset="-122"/>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rPr>
                        <a:t>手工实现</a:t>
                      </a:r>
                      <a:endParaRPr kumimoji="0" lang="zh-CN" altLang="en-US" sz="2400" b="1" i="0" u="none" strike="noStrike" cap="none" normalizeH="0" baseline="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a:spcBef>
                          <a:spcPct val="20000"/>
                        </a:spcBef>
                        <a:buClr>
                          <a:schemeClr val="hlink"/>
                        </a:buClr>
                        <a:buSzPct val="70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5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hlink"/>
                        </a:buClr>
                        <a:buSzPct val="80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9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2400" b="1" i="0" u="none" strike="noStrike" cap="none" normalizeH="0" baseline="0" dirty="0" smtClean="0">
                          <a:ln>
                            <a:noFill/>
                          </a:ln>
                          <a:solidFill>
                            <a:srgbClr val="000000"/>
                          </a:solidFill>
                          <a:effectLst/>
                          <a:latin typeface="Times New Roman" panose="02020603050405020304" pitchFamily="18" charset="0"/>
                          <a:ea typeface="楷体_GB2312" pitchFamily="49" charset="-122"/>
                        </a:rPr>
                        <a:t>自动实现</a:t>
                      </a:r>
                      <a:endParaRPr kumimoji="0" lang="zh-CN" altLang="en-US" sz="2400" b="1" i="0" u="none" strike="noStrike" cap="none" normalizeH="0" baseline="0" dirty="0" smtClean="0">
                        <a:ln>
                          <a:noFill/>
                        </a:ln>
                        <a:solidFill>
                          <a:srgbClr val="000000"/>
                        </a:solidFill>
                        <a:effectLst/>
                        <a:latin typeface="Times New Roman" panose="02020603050405020304" pitchFamily="18" charset="0"/>
                        <a:ea typeface="楷体_GB2312" pitchFamily="49" charset="-122"/>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r>
            </a:tbl>
          </a:graphicData>
        </a:graphic>
      </p:graphicFrame>
      <p:sp>
        <p:nvSpPr>
          <p:cNvPr id="30753" name="Line 29"/>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checke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Rectangle 5"/>
          <p:cNvSpPr>
            <a:spLocks noGrp="1" noChangeArrowheads="1"/>
          </p:cNvSpPr>
          <p:nvPr>
            <p:ph type="title"/>
          </p:nvPr>
        </p:nvSpPr>
        <p:spPr>
          <a:xfrm>
            <a:off x="468313" y="574675"/>
            <a:ext cx="6696075" cy="603250"/>
          </a:xfrm>
        </p:spPr>
        <p:txBody>
          <a:bodyPr vert="horz" wrap="square" lIns="91440" tIns="45720" rIns="91440" bIns="45720" numCol="1" anchor="ctr" anchorCtr="0" compatLnSpc="1">
            <a:spAutoFit/>
          </a:bodyPr>
          <a:lstStyle/>
          <a:p>
            <a:pPr marL="0" marR="0" lvl="0" indent="0" algn="l" defTabSz="685800" rtl="0" eaLnBrk="1" fontAlgn="base" latinLnBrk="0" hangingPunct="1">
              <a:lnSpc>
                <a:spcPct val="90000"/>
              </a:lnSpc>
              <a:spcBef>
                <a:spcPct val="0"/>
              </a:spcBef>
              <a:spcAft>
                <a:spcPct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j-cs"/>
              </a:rPr>
              <a:t> </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rPr>
              <a:t>硬件描述语言 </a:t>
            </a: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j-cs"/>
              </a:rPr>
              <a:t>HDL</a:t>
            </a:r>
            <a:endParaRPr kumimoji="0" lang="en-US" altLang="zh-CN" sz="36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136194" name="Rectangle 2"/>
          <p:cNvSpPr>
            <a:spLocks noGrp="1" noRot="1" noChangeArrowheads="1"/>
          </p:cNvSpPr>
          <p:nvPr>
            <p:ph idx="1"/>
          </p:nvPr>
        </p:nvSpPr>
        <p:spPr>
          <a:xfrm>
            <a:off x="481013" y="1557338"/>
            <a:ext cx="8123238" cy="1584325"/>
          </a:xfrm>
          <a:solidFill>
            <a:schemeClr val="accent3">
              <a:lumMod val="20000"/>
              <a:lumOff val="80000"/>
            </a:schemeClr>
          </a:solidFill>
          <a:ln w="28575">
            <a:solidFill>
              <a:srgbClr val="808080"/>
            </a:solidFill>
            <a:miter lim="800000"/>
          </a:ln>
        </p:spPr>
        <p:txBody>
          <a:bodyPr vert="horz" wrap="square" lIns="91440" tIns="45720" rIns="91440" bIns="45720" numCol="1" rtlCol="0" anchor="t" anchorCtr="0" compatLnSpc="1">
            <a:spAutoFit/>
          </a:bodyPr>
          <a:lstStyle/>
          <a:p>
            <a:pPr marL="171450" marR="0" lvl="0" indent="-171450" algn="l" defTabSz="685800" rtl="0" eaLnBrk="1" fontAlgn="auto" latinLnBrk="0" hangingPunct="1">
              <a:lnSpc>
                <a:spcPct val="90000"/>
              </a:lnSpc>
              <a:spcBef>
                <a:spcPts val="750"/>
              </a:spcBef>
              <a:spcAft>
                <a:spcPts val="0"/>
              </a:spcAft>
              <a:buClr>
                <a:schemeClr val="folHlink"/>
              </a:buClr>
              <a:buSzPct val="80000"/>
              <a:buFont typeface="Wingdings" panose="05000000000000000000" pitchFamily="2" charset="2"/>
              <a:buChar char="p"/>
              <a:defRPr/>
            </a:pPr>
            <a:r>
              <a:rPr kumimoji="0" lang="en-US" altLang="zh-CN" sz="4000" b="1" i="0" u="none" strike="noStrike" kern="1200" cap="none" spc="0" normalizeH="0" baseline="0" noProof="0" dirty="0" smtClean="0">
                <a:ln>
                  <a:noFill/>
                </a:ln>
                <a:solidFill>
                  <a:srgbClr val="CC0000"/>
                </a:solidFill>
                <a:effectLst/>
                <a:uLnTx/>
                <a:uFillTx/>
                <a:latin typeface="Times New Roman" panose="02020603050405020304" pitchFamily="18" charset="0"/>
                <a:ea typeface="楷体_GB2312" pitchFamily="49" charset="-122"/>
                <a:cs typeface="+mn-cs"/>
              </a:rPr>
              <a:t> </a:t>
            </a:r>
            <a:r>
              <a:rPr kumimoji="0" lang="zh-CN" altLang="en-US" sz="4000" b="1" i="0" u="none" strike="noStrike" kern="1200" cap="none" spc="0" normalizeH="0" baseline="0" noProof="0" dirty="0" smtClean="0">
                <a:ln>
                  <a:noFill/>
                </a:ln>
                <a:solidFill>
                  <a:srgbClr val="CC0000"/>
                </a:solidFill>
                <a:effectLst/>
                <a:uLnTx/>
                <a:uFillTx/>
                <a:latin typeface="Times New Roman" panose="02020603050405020304" pitchFamily="18" charset="0"/>
                <a:ea typeface="楷体_GB2312" pitchFamily="49" charset="-122"/>
                <a:cs typeface="+mn-cs"/>
              </a:rPr>
              <a:t>硬件描述语言：</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硬件描述语言是一种用形式化方法来描述数字电路和设计数字逻辑系统的语言，即用文本形式来描述电路的语言。</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32772" name="Line 6"/>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36202" name="Rectangle 10"/>
          <p:cNvSpPr>
            <a:spLocks noChangeArrowheads="1"/>
          </p:cNvSpPr>
          <p:nvPr/>
        </p:nvSpPr>
        <p:spPr bwMode="auto">
          <a:xfrm>
            <a:off x="441325" y="3716338"/>
            <a:ext cx="8135938" cy="2441575"/>
          </a:xfrm>
          <a:prstGeom prst="rect">
            <a:avLst/>
          </a:prstGeom>
          <a:solidFill>
            <a:schemeClr val="accent1">
              <a:lumMod val="40000"/>
              <a:lumOff val="60000"/>
            </a:schemeClr>
          </a:solidFill>
          <a:ln w="31750">
            <a:solidFill>
              <a:srgbClr val="808080"/>
            </a:solid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
                <a:schemeClr val="tx1"/>
              </a:buClr>
              <a:buSzPct val="80000"/>
              <a:buFont typeface="Wingdings" panose="05000000000000000000" pitchFamily="2" charset="2"/>
              <a:buChar char="p"/>
              <a:defRPr/>
            </a:pPr>
            <a:r>
              <a:rPr kumimoji="0" lang="en-US" altLang="zh-CN" sz="4000" b="1" i="1" u="none" strike="noStrike" kern="1200" cap="none" spc="0" normalizeH="0" baseline="0" noProof="0" dirty="0">
                <a:ln>
                  <a:noFill/>
                </a:ln>
                <a:solidFill>
                  <a:srgbClr val="CC0000"/>
                </a:solidFill>
                <a:effectLst/>
                <a:uLnTx/>
                <a:uFillTx/>
                <a:latin typeface="Times New Roman" panose="02020603050405020304" pitchFamily="18" charset="0"/>
                <a:ea typeface="楷体_GB2312" pitchFamily="49" charset="-122"/>
                <a:cs typeface="+mn-cs"/>
              </a:rPr>
              <a:t> HDL</a:t>
            </a:r>
            <a:r>
              <a:rPr kumimoji="0" lang="zh-CN" altLang="en-US" sz="4000" b="1" i="0" u="none" strike="noStrike" kern="1200" cap="none" spc="0" normalizeH="0" baseline="0" noProof="0" dirty="0">
                <a:ln>
                  <a:noFill/>
                </a:ln>
                <a:solidFill>
                  <a:srgbClr val="CC0000"/>
                </a:solidFill>
                <a:effectLst/>
                <a:uLnTx/>
                <a:uFillTx/>
                <a:latin typeface="Times New Roman" panose="02020603050405020304" pitchFamily="18" charset="0"/>
                <a:ea typeface="楷体_GB2312" pitchFamily="49" charset="-122"/>
                <a:cs typeface="+mn-cs"/>
              </a:rPr>
              <a:t>的来历：</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1980</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年开始在美国国防部</a:t>
            </a:r>
            <a:r>
              <a:rPr kumimoji="0" lang="en-US"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的 </a:t>
            </a:r>
            <a:r>
              <a:rPr kumimoji="0" lang="en-US" altLang="zh-CN" sz="28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VHSIC</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计划的指导下开发，完成于</a:t>
            </a:r>
            <a:r>
              <a:rPr kumimoji="0" lang="en-US" altLang="zh-CN"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1983</a:t>
            </a:r>
            <a:r>
              <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年。最初的目的是为了在各个承担国防部订货的集成电路厂商之间建立一个统一的设计数据和文档交换格式而产生的。</a:t>
            </a:r>
            <a:endParaRPr kumimoji="0" lang="zh-CN" altLang="en-US" sz="28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spd="slow">
    <p:wipe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0"/>
                                  </p:stCondLst>
                                  <p:childTnLst>
                                    <p:set>
                                      <p:cBhvr>
                                        <p:cTn id="6" dur="1" fill="hold">
                                          <p:stCondLst>
                                            <p:cond delay="0"/>
                                          </p:stCondLst>
                                        </p:cTn>
                                        <p:tgtEl>
                                          <p:spTgt spid="136194">
                                            <p:txEl>
                                              <p:charRg st="0" end="59"/>
                                            </p:txEl>
                                          </p:spTgt>
                                        </p:tgtEl>
                                        <p:attrNameLst>
                                          <p:attrName>style.visibility</p:attrName>
                                        </p:attrNameLst>
                                      </p:cBhvr>
                                      <p:to>
                                        <p:strVal val="visible"/>
                                      </p:to>
                                    </p:set>
                                    <p:animEffect transition="in" filter="barn(inVertical)">
                                      <p:cBhvr>
                                        <p:cTn id="7" dur="500"/>
                                        <p:tgtEl>
                                          <p:spTgt spid="136194">
                                            <p:txEl>
                                              <p:charRg st="0" end="59"/>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36202"/>
                                        </p:tgtEl>
                                        <p:attrNameLst>
                                          <p:attrName>style.visibility</p:attrName>
                                        </p:attrNameLst>
                                      </p:cBhvr>
                                      <p:to>
                                        <p:strVal val="visible"/>
                                      </p:to>
                                    </p:set>
                                    <p:animEffect transition="in" filter="blinds(horizontal)">
                                      <p:cBhvr>
                                        <p:cTn id="12" dur="500"/>
                                        <p:tgtEl>
                                          <p:spTgt spid="1362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194" grpId="0" advAuto="1000" build="p"/>
      <p:bldP spid="136202"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9" name="Rectangle 3"/>
          <p:cNvSpPr>
            <a:spLocks noGrp="1" noRot="1" noChangeArrowheads="1"/>
          </p:cNvSpPr>
          <p:nvPr>
            <p:ph idx="1"/>
          </p:nvPr>
        </p:nvSpPr>
        <p:spPr>
          <a:xfrm>
            <a:off x="415925" y="1557338"/>
            <a:ext cx="8548688" cy="3949700"/>
          </a:xfrm>
          <a:solidFill>
            <a:schemeClr val="accent4">
              <a:lumMod val="20000"/>
              <a:lumOff val="80000"/>
            </a:schemeClr>
          </a:solidFill>
          <a:ln w="28575">
            <a:solidFill>
              <a:srgbClr val="808080"/>
            </a:solidFill>
            <a:miter lim="800000"/>
          </a:ln>
        </p:spPr>
        <p:txBody>
          <a:bodyPr vert="horz" wrap="square" lIns="91440" tIns="45720" rIns="91440" bIns="45720" numCol="1" rtlCol="0" anchor="t" anchorCtr="0" compatLnSpc="1">
            <a:sp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3600" b="1" i="0" u="sng"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使用</a:t>
            </a:r>
            <a:r>
              <a:rPr kumimoji="0" lang="en-US" altLang="zh-CN" sz="3600" b="1" i="1" u="sng"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HDL</a:t>
            </a:r>
            <a:r>
              <a:rPr kumimoji="0" lang="zh-CN" altLang="en-US" sz="3600" b="1" i="0" u="sng"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描述设计具有下列优点：</a:t>
            </a:r>
            <a:endParaRPr kumimoji="0" lang="zh-CN" altLang="en-US" sz="3600" b="1" i="0" u="sng"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1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设计在高层次进行，与具体实现无关，设计开发更加容易</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早在设计期间就能发现问题</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能够自动的将高级描述映射到具体工艺实现</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HDL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具有更大的灵活性：可重用、可以选择工具及生产厂</a:t>
            </a:r>
            <a:endParaRPr kumimoji="0" lang="zh-CN" altLang="en-US" sz="2800" b="1" i="0" u="sng"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HDL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能够利用先进的软件，能够更快的输入、且易于管理</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142340" name="Rectangle 4"/>
          <p:cNvSpPr>
            <a:spLocks noChangeArrowheads="1"/>
          </p:cNvSpPr>
          <p:nvPr/>
        </p:nvSpPr>
        <p:spPr bwMode="auto">
          <a:xfrm>
            <a:off x="509588" y="434975"/>
            <a:ext cx="816610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4000" b="1" i="0" u="none" strike="noStrike" kern="1200" cap="none" spc="0" normalizeH="0" baseline="0" noProof="0" dirty="0">
                <a:ln>
                  <a:noFill/>
                </a:ln>
                <a:solidFill>
                  <a:schemeClr val="hlink"/>
                </a:solidFill>
                <a:effectLst/>
                <a:uLnTx/>
                <a:uFillTx/>
                <a:latin typeface="+mn-ea"/>
                <a:ea typeface="+mn-ea"/>
                <a:cs typeface="+mn-cs"/>
              </a:rPr>
              <a:t>为什么使用硬件描述语言 </a:t>
            </a:r>
            <a:r>
              <a:rPr kumimoji="0" lang="en-US" altLang="zh-CN" sz="4000" b="1" i="0" u="none" strike="noStrike" kern="1200" cap="none" spc="0" normalizeH="0" baseline="0" noProof="0" dirty="0">
                <a:ln>
                  <a:noFill/>
                </a:ln>
                <a:solidFill>
                  <a:schemeClr val="hlink"/>
                </a:solidFill>
                <a:effectLst/>
                <a:uLnTx/>
                <a:uFillTx/>
                <a:latin typeface="+mn-ea"/>
                <a:ea typeface="+mn-ea"/>
                <a:cs typeface="+mn-cs"/>
              </a:rPr>
              <a:t>(HDL) </a:t>
            </a:r>
            <a:r>
              <a:rPr kumimoji="0" lang="zh-CN" altLang="en-US" sz="4000" b="1" i="0" u="none" strike="noStrike" kern="1200" cap="none" spc="0" normalizeH="0" baseline="0" noProof="0" dirty="0">
                <a:ln>
                  <a:noFill/>
                </a:ln>
                <a:solidFill>
                  <a:schemeClr val="hlink"/>
                </a:solidFill>
                <a:effectLst/>
                <a:uLnTx/>
                <a:uFillTx/>
                <a:latin typeface="+mn-ea"/>
                <a:ea typeface="+mn-ea"/>
                <a:cs typeface="+mn-cs"/>
              </a:rPr>
              <a:t>？</a:t>
            </a:r>
            <a:endParaRPr kumimoji="0" lang="zh-CN" altLang="en-US" sz="4000" b="1" i="0" u="none" strike="noStrike" kern="1200" cap="none" spc="0" normalizeH="0" baseline="0" noProof="0" dirty="0">
              <a:ln>
                <a:noFill/>
              </a:ln>
              <a:solidFill>
                <a:schemeClr val="hlink"/>
              </a:solidFill>
              <a:effectLst/>
              <a:uLnTx/>
              <a:uFillTx/>
              <a:latin typeface="+mn-ea"/>
              <a:ea typeface="+mn-ea"/>
              <a:cs typeface="+mn-cs"/>
            </a:endParaRPr>
          </a:p>
        </p:txBody>
      </p:sp>
      <p:sp>
        <p:nvSpPr>
          <p:cNvPr id="34820" name="Line 5"/>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6" fill="hold" grpId="0" nodeType="withEffect">
                                  <p:stCondLst>
                                    <p:cond delay="0"/>
                                  </p:stCondLst>
                                  <p:childTnLst>
                                    <p:set>
                                      <p:cBhvr>
                                        <p:cTn id="6" dur="1" fill="hold">
                                          <p:stCondLst>
                                            <p:cond delay="0"/>
                                          </p:stCondLst>
                                        </p:cTn>
                                        <p:tgtEl>
                                          <p:spTgt spid="142339"/>
                                        </p:tgtEl>
                                        <p:attrNameLst>
                                          <p:attrName>style.visibility</p:attrName>
                                        </p:attrNameLst>
                                      </p:cBhvr>
                                      <p:to>
                                        <p:strVal val="visible"/>
                                      </p:to>
                                    </p:set>
                                    <p:animEffect transition="in" filter="barn(inHorizontal)">
                                      <p:cBhvr>
                                        <p:cTn id="7" dur="500"/>
                                        <p:tgtEl>
                                          <p:spTgt spid="142339"/>
                                        </p:tgtEl>
                                      </p:cBhvr>
                                    </p:animEffect>
                                  </p:childTnLst>
                                </p:cTn>
                              </p:par>
                            </p:childTnLst>
                          </p:cTn>
                        </p:par>
                        <p:par>
                          <p:cTn id="8" fill="hold">
                            <p:stCondLst>
                              <p:cond delay="500"/>
                            </p:stCondLst>
                            <p:childTnLst>
                              <p:par>
                                <p:cTn id="9" presetID="16" presetClass="entr" presetSubtype="26" fill="hold" grpId="0" nodeType="afterEffect">
                                  <p:stCondLst>
                                    <p:cond delay="0"/>
                                  </p:stCondLst>
                                  <p:childTnLst>
                                    <p:set>
                                      <p:cBhvr>
                                        <p:cTn id="10" dur="1" fill="hold">
                                          <p:stCondLst>
                                            <p:cond delay="0"/>
                                          </p:stCondLst>
                                        </p:cTn>
                                        <p:tgtEl>
                                          <p:spTgt spid="142339">
                                            <p:txEl>
                                              <p:charRg st="0" end="17"/>
                                            </p:txEl>
                                          </p:spTgt>
                                        </p:tgtEl>
                                        <p:attrNameLst>
                                          <p:attrName>style.visibility</p:attrName>
                                        </p:attrNameLst>
                                      </p:cBhvr>
                                      <p:to>
                                        <p:strVal val="visible"/>
                                      </p:to>
                                    </p:set>
                                    <p:animEffect transition="in" filter="barn(inHorizontal)">
                                      <p:cBhvr>
                                        <p:cTn id="11" dur="500"/>
                                        <p:tgtEl>
                                          <p:spTgt spid="142339">
                                            <p:txEl>
                                              <p:charRg st="0" end="17"/>
                                            </p:txEl>
                                          </p:spTgt>
                                        </p:tgtEl>
                                      </p:cBhvr>
                                    </p:animEffect>
                                  </p:childTnLst>
                                </p:cTn>
                              </p:par>
                              <p:par>
                                <p:cTn id="12" presetID="16" presetClass="entr" presetSubtype="26" fill="hold" grpId="0" nodeType="withEffect">
                                  <p:stCondLst>
                                    <p:cond delay="0"/>
                                  </p:stCondLst>
                                  <p:childTnLst>
                                    <p:set>
                                      <p:cBhvr>
                                        <p:cTn id="13" dur="1" fill="hold">
                                          <p:stCondLst>
                                            <p:cond delay="0"/>
                                          </p:stCondLst>
                                        </p:cTn>
                                        <p:tgtEl>
                                          <p:spTgt spid="142339">
                                            <p:txEl>
                                              <p:charRg st="17" end="44"/>
                                            </p:txEl>
                                          </p:spTgt>
                                        </p:tgtEl>
                                        <p:attrNameLst>
                                          <p:attrName>style.visibility</p:attrName>
                                        </p:attrNameLst>
                                      </p:cBhvr>
                                      <p:to>
                                        <p:strVal val="visible"/>
                                      </p:to>
                                    </p:set>
                                    <p:animEffect transition="in" filter="barn(inHorizontal)">
                                      <p:cBhvr>
                                        <p:cTn id="14" dur="500"/>
                                        <p:tgtEl>
                                          <p:spTgt spid="142339">
                                            <p:txEl>
                                              <p:charRg st="17" end="44"/>
                                            </p:txEl>
                                          </p:spTgt>
                                        </p:tgtEl>
                                      </p:cBhvr>
                                    </p:animEffect>
                                  </p:childTnLst>
                                </p:cTn>
                              </p:par>
                              <p:par>
                                <p:cTn id="15" presetID="16" presetClass="entr" presetSubtype="26" fill="hold" grpId="0" nodeType="withEffect">
                                  <p:stCondLst>
                                    <p:cond delay="0"/>
                                  </p:stCondLst>
                                  <p:childTnLst>
                                    <p:set>
                                      <p:cBhvr>
                                        <p:cTn id="16" dur="1" fill="hold">
                                          <p:stCondLst>
                                            <p:cond delay="0"/>
                                          </p:stCondLst>
                                        </p:cTn>
                                        <p:tgtEl>
                                          <p:spTgt spid="142339">
                                            <p:txEl>
                                              <p:charRg st="44" end="57"/>
                                            </p:txEl>
                                          </p:spTgt>
                                        </p:tgtEl>
                                        <p:attrNameLst>
                                          <p:attrName>style.visibility</p:attrName>
                                        </p:attrNameLst>
                                      </p:cBhvr>
                                      <p:to>
                                        <p:strVal val="visible"/>
                                      </p:to>
                                    </p:set>
                                    <p:animEffect transition="in" filter="barn(inHorizontal)">
                                      <p:cBhvr>
                                        <p:cTn id="17" dur="500"/>
                                        <p:tgtEl>
                                          <p:spTgt spid="142339">
                                            <p:txEl>
                                              <p:charRg st="44" end="57"/>
                                            </p:txEl>
                                          </p:spTgt>
                                        </p:tgtEl>
                                      </p:cBhvr>
                                    </p:animEffect>
                                  </p:childTnLst>
                                </p:cTn>
                              </p:par>
                              <p:par>
                                <p:cTn id="18" presetID="16" presetClass="entr" presetSubtype="26" fill="hold" grpId="0" nodeType="withEffect">
                                  <p:stCondLst>
                                    <p:cond delay="0"/>
                                  </p:stCondLst>
                                  <p:childTnLst>
                                    <p:set>
                                      <p:cBhvr>
                                        <p:cTn id="19" dur="1" fill="hold">
                                          <p:stCondLst>
                                            <p:cond delay="0"/>
                                          </p:stCondLst>
                                        </p:cTn>
                                        <p:tgtEl>
                                          <p:spTgt spid="142339">
                                            <p:txEl>
                                              <p:charRg st="57" end="78"/>
                                            </p:txEl>
                                          </p:spTgt>
                                        </p:tgtEl>
                                        <p:attrNameLst>
                                          <p:attrName>style.visibility</p:attrName>
                                        </p:attrNameLst>
                                      </p:cBhvr>
                                      <p:to>
                                        <p:strVal val="visible"/>
                                      </p:to>
                                    </p:set>
                                    <p:animEffect transition="in" filter="barn(inHorizontal)">
                                      <p:cBhvr>
                                        <p:cTn id="20" dur="500"/>
                                        <p:tgtEl>
                                          <p:spTgt spid="142339">
                                            <p:txEl>
                                              <p:charRg st="57" end="78"/>
                                            </p:txEl>
                                          </p:spTgt>
                                        </p:tgtEl>
                                      </p:cBhvr>
                                    </p:animEffect>
                                  </p:childTnLst>
                                </p:cTn>
                              </p:par>
                              <p:par>
                                <p:cTn id="21" presetID="16" presetClass="entr" presetSubtype="26" fill="hold" grpId="0" nodeType="withEffect">
                                  <p:stCondLst>
                                    <p:cond delay="0"/>
                                  </p:stCondLst>
                                  <p:childTnLst>
                                    <p:set>
                                      <p:cBhvr>
                                        <p:cTn id="22" dur="1" fill="hold">
                                          <p:stCondLst>
                                            <p:cond delay="0"/>
                                          </p:stCondLst>
                                        </p:cTn>
                                        <p:tgtEl>
                                          <p:spTgt spid="142339">
                                            <p:txEl>
                                              <p:charRg st="78" end="106"/>
                                            </p:txEl>
                                          </p:spTgt>
                                        </p:tgtEl>
                                        <p:attrNameLst>
                                          <p:attrName>style.visibility</p:attrName>
                                        </p:attrNameLst>
                                      </p:cBhvr>
                                      <p:to>
                                        <p:strVal val="visible"/>
                                      </p:to>
                                    </p:set>
                                    <p:animEffect transition="in" filter="barn(inHorizontal)">
                                      <p:cBhvr>
                                        <p:cTn id="23" dur="500"/>
                                        <p:tgtEl>
                                          <p:spTgt spid="142339">
                                            <p:txEl>
                                              <p:charRg st="78" end="106"/>
                                            </p:txEl>
                                          </p:spTgt>
                                        </p:tgtEl>
                                      </p:cBhvr>
                                    </p:animEffect>
                                  </p:childTnLst>
                                </p:cTn>
                              </p:par>
                              <p:par>
                                <p:cTn id="24" presetID="16" presetClass="entr" presetSubtype="26" fill="hold" grpId="0" nodeType="withEffect">
                                  <p:stCondLst>
                                    <p:cond delay="0"/>
                                  </p:stCondLst>
                                  <p:childTnLst>
                                    <p:set>
                                      <p:cBhvr>
                                        <p:cTn id="25" dur="1" fill="hold">
                                          <p:stCondLst>
                                            <p:cond delay="0"/>
                                          </p:stCondLst>
                                        </p:cTn>
                                        <p:tgtEl>
                                          <p:spTgt spid="142339">
                                            <p:txEl>
                                              <p:charRg st="106" end="135"/>
                                            </p:txEl>
                                          </p:spTgt>
                                        </p:tgtEl>
                                        <p:attrNameLst>
                                          <p:attrName>style.visibility</p:attrName>
                                        </p:attrNameLst>
                                      </p:cBhvr>
                                      <p:to>
                                        <p:strVal val="visible"/>
                                      </p:to>
                                    </p:set>
                                    <p:animEffect transition="in" filter="barn(inHorizontal)">
                                      <p:cBhvr>
                                        <p:cTn id="26" dur="500"/>
                                        <p:tgtEl>
                                          <p:spTgt spid="142339">
                                            <p:txEl>
                                              <p:charRg st="106" end="13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animBg="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0168" name="Text Box 8"/>
          <p:cNvSpPr txBox="1">
            <a:spLocks noChangeArrowheads="1"/>
          </p:cNvSpPr>
          <p:nvPr/>
        </p:nvSpPr>
        <p:spPr bwMode="auto">
          <a:xfrm>
            <a:off x="457200" y="404813"/>
            <a:ext cx="8507413" cy="138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R="0" defTabSz="914400">
              <a:spcBef>
                <a:spcPct val="50000"/>
              </a:spcBef>
              <a:buClrTx/>
              <a:buSzTx/>
              <a:buFontTx/>
              <a:buNone/>
              <a:defRPr/>
            </a:pPr>
            <a:r>
              <a:rPr kumimoji="0" lang="en-US" altLang="zh-CN" sz="2800" b="1" kern="1200" cap="none" spc="0" normalizeH="0" baseline="0" noProof="0" dirty="0">
                <a:solidFill>
                  <a:srgbClr val="FFFF00"/>
                </a:solidFill>
                <a:latin typeface="+mn-ea"/>
                <a:ea typeface="+mn-ea"/>
                <a:cs typeface="+mn-cs"/>
              </a:rPr>
              <a:t>    </a:t>
            </a:r>
            <a:r>
              <a:rPr kumimoji="0" lang="en-US" altLang="zh-CN" sz="2800" b="1" kern="1200" cap="none" spc="0" normalizeH="0" baseline="0" noProof="0" dirty="0">
                <a:solidFill>
                  <a:schemeClr val="tx2"/>
                </a:solidFill>
                <a:latin typeface="+mn-ea"/>
                <a:ea typeface="+mn-ea"/>
                <a:cs typeface="+mn-cs"/>
              </a:rPr>
              <a:t>HDL</a:t>
            </a:r>
            <a:r>
              <a:rPr kumimoji="0" lang="zh-CN" altLang="en-US" sz="2800" b="1" kern="1200" cap="none" spc="0" normalizeH="0" baseline="0" noProof="0" dirty="0">
                <a:solidFill>
                  <a:schemeClr val="tx2"/>
                </a:solidFill>
                <a:latin typeface="+mn-ea"/>
                <a:ea typeface="+mn-ea"/>
                <a:cs typeface="+mn-cs"/>
              </a:rPr>
              <a:t>（</a:t>
            </a:r>
            <a:r>
              <a:rPr kumimoji="0" lang="en-US" altLang="zh-CN" sz="2800" b="1" kern="1200" cap="none" spc="0" normalizeH="0" baseline="0" noProof="0" dirty="0">
                <a:solidFill>
                  <a:schemeClr val="tx2"/>
                </a:solidFill>
                <a:latin typeface="+mn-ea"/>
                <a:ea typeface="+mn-ea"/>
                <a:cs typeface="+mn-cs"/>
              </a:rPr>
              <a:t>Hardware Description Language</a:t>
            </a:r>
            <a:r>
              <a:rPr kumimoji="0" lang="zh-CN" altLang="en-US" sz="2800" b="1" kern="1200" cap="none" spc="0" normalizeH="0" baseline="0" noProof="0" dirty="0">
                <a:solidFill>
                  <a:schemeClr val="tx2"/>
                </a:solidFill>
                <a:latin typeface="+mn-ea"/>
                <a:ea typeface="+mn-ea"/>
                <a:cs typeface="+mn-cs"/>
              </a:rPr>
              <a:t>）是一种用形式化方法来描述数字电路和数字逻辑系统的硬件描述语言。有两种类型：</a:t>
            </a:r>
            <a:r>
              <a:rPr kumimoji="0" lang="en-US" altLang="zh-CN" sz="2800" b="1" kern="1200" cap="none" spc="0" normalizeH="0" baseline="0" noProof="0" dirty="0">
                <a:solidFill>
                  <a:srgbClr val="FF0000"/>
                </a:solidFill>
                <a:latin typeface="+mn-ea"/>
                <a:ea typeface="+mn-ea"/>
                <a:cs typeface="+mn-cs"/>
              </a:rPr>
              <a:t>VHDL </a:t>
            </a:r>
            <a:r>
              <a:rPr kumimoji="0" lang="zh-CN" altLang="en-US" sz="2800" b="1" kern="1200" cap="none" spc="0" normalizeH="0" baseline="0" noProof="0" dirty="0">
                <a:solidFill>
                  <a:srgbClr val="FF0000"/>
                </a:solidFill>
                <a:latin typeface="+mn-ea"/>
                <a:ea typeface="+mn-ea"/>
                <a:cs typeface="+mn-cs"/>
              </a:rPr>
              <a:t>和 </a:t>
            </a:r>
            <a:r>
              <a:rPr kumimoji="0" lang="en-US" altLang="zh-CN" sz="2800" b="1" kern="1200" cap="none" spc="0" normalizeH="0" baseline="0" noProof="0" dirty="0">
                <a:solidFill>
                  <a:srgbClr val="FF0000"/>
                </a:solidFill>
                <a:latin typeface="+mn-ea"/>
                <a:ea typeface="+mn-ea"/>
                <a:cs typeface="+mn-cs"/>
              </a:rPr>
              <a:t>Verilog HDL</a:t>
            </a:r>
            <a:r>
              <a:rPr kumimoji="0" lang="zh-CN" altLang="en-US" sz="2800" b="1" kern="1200" cap="none" spc="0" normalizeH="0" baseline="0" noProof="0" dirty="0">
                <a:solidFill>
                  <a:schemeClr val="tx2"/>
                </a:solidFill>
                <a:latin typeface="+mn-ea"/>
                <a:ea typeface="+mn-ea"/>
                <a:cs typeface="+mn-cs"/>
              </a:rPr>
              <a:t>。</a:t>
            </a:r>
            <a:r>
              <a:rPr kumimoji="0" lang="zh-CN" altLang="en-US" sz="2800" b="1" kern="1200" cap="none" spc="0" normalizeH="0" baseline="0" noProof="0" dirty="0">
                <a:solidFill>
                  <a:srgbClr val="FFFF00"/>
                </a:solidFill>
                <a:latin typeface="+mn-ea"/>
                <a:ea typeface="+mn-ea"/>
                <a:cs typeface="+mn-cs"/>
              </a:rPr>
              <a:t> </a:t>
            </a:r>
            <a:endParaRPr kumimoji="0" lang="zh-CN" altLang="en-US" sz="2800" b="1" kern="1200" cap="none" spc="0" normalizeH="0" baseline="0" noProof="0" dirty="0">
              <a:solidFill>
                <a:srgbClr val="FFFF00"/>
              </a:solidFill>
              <a:latin typeface="+mn-ea"/>
              <a:ea typeface="+mn-ea"/>
              <a:cs typeface="+mn-cs"/>
            </a:endParaRPr>
          </a:p>
        </p:txBody>
      </p:sp>
      <p:sp>
        <p:nvSpPr>
          <p:cNvPr id="220169" name="Text Box 9"/>
          <p:cNvSpPr txBox="1"/>
          <p:nvPr/>
        </p:nvSpPr>
        <p:spPr>
          <a:xfrm>
            <a:off x="611188" y="2060575"/>
            <a:ext cx="7991475" cy="3786188"/>
          </a:xfrm>
          <a:prstGeom prst="rect">
            <a:avLst/>
          </a:prstGeom>
          <a:solidFill>
            <a:schemeClr val="bg1"/>
          </a:solidFill>
          <a:ln w="9525">
            <a:noFill/>
          </a:ln>
        </p:spPr>
        <p:txBody>
          <a:bodyPr>
            <a:spAutoFit/>
          </a:bodyPr>
          <a:p>
            <a:r>
              <a:rPr lang="en-US" altLang="zh-CN" sz="2400" b="1" dirty="0">
                <a:solidFill>
                  <a:schemeClr val="bg1"/>
                </a:solidFill>
                <a:latin typeface="Arial" panose="020B0604020202020204" pitchFamily="34" charset="0"/>
                <a:ea typeface="楷体_GB2312" pitchFamily="49" charset="-122"/>
              </a:rPr>
              <a:t>       </a:t>
            </a:r>
            <a:r>
              <a:rPr lang="en-US" altLang="zh-CN" sz="2400" b="1" dirty="0">
                <a:solidFill>
                  <a:srgbClr val="FF0000"/>
                </a:solidFill>
                <a:latin typeface="Arial" panose="020B0604020202020204" pitchFamily="34" charset="0"/>
                <a:ea typeface="楷体_GB2312" pitchFamily="49" charset="-122"/>
              </a:rPr>
              <a:t>Verilog HDL</a:t>
            </a:r>
            <a:r>
              <a:rPr lang="zh-CN" altLang="en-US" sz="2400" b="1" dirty="0">
                <a:latin typeface="Arial" panose="020B0604020202020204" pitchFamily="34" charset="0"/>
                <a:ea typeface="楷体_GB2312" pitchFamily="49" charset="-122"/>
              </a:rPr>
              <a:t>语言具有这样的描述能力：设计的行为特性、设计的数据流特性、设计的结构组成，以及包含响应监控与设计验证方面的时延和波形产生机制。 </a:t>
            </a:r>
            <a:endParaRPr lang="zh-CN" altLang="en-US" sz="2400" b="1" dirty="0">
              <a:latin typeface="Arial" panose="020B0604020202020204" pitchFamily="34" charset="0"/>
              <a:ea typeface="楷体_GB2312" pitchFamily="49" charset="-122"/>
            </a:endParaRPr>
          </a:p>
          <a:p>
            <a:r>
              <a:rPr lang="en-US" altLang="zh-CN" sz="2400" b="1" dirty="0">
                <a:latin typeface="Arial" panose="020B0604020202020204" pitchFamily="34" charset="0"/>
                <a:ea typeface="楷体_GB2312" pitchFamily="49" charset="-122"/>
              </a:rPr>
              <a:t>Verilog HDL</a:t>
            </a:r>
            <a:r>
              <a:rPr lang="zh-CN" altLang="en-US" sz="2400" b="1" dirty="0">
                <a:latin typeface="Arial" panose="020B0604020202020204" pitchFamily="34" charset="0"/>
                <a:ea typeface="楷体_GB2312" pitchFamily="49" charset="-122"/>
              </a:rPr>
              <a:t>语言不仅定义了语法，而且对每个语法结构都定义了清晰的模拟和仿真语义。因此，用这种语言编写的模型能够使用</a:t>
            </a:r>
            <a:r>
              <a:rPr lang="en-US" altLang="zh-CN" sz="2400" b="1" dirty="0">
                <a:latin typeface="Arial" panose="020B0604020202020204" pitchFamily="34" charset="0"/>
                <a:ea typeface="楷体_GB2312" pitchFamily="49" charset="-122"/>
              </a:rPr>
              <a:t>Verilog</a:t>
            </a:r>
            <a:r>
              <a:rPr lang="zh-CN" altLang="en-US" sz="2400" b="1" dirty="0">
                <a:latin typeface="Arial" panose="020B0604020202020204" pitchFamily="34" charset="0"/>
                <a:ea typeface="楷体_GB2312" pitchFamily="49" charset="-122"/>
              </a:rPr>
              <a:t>仿真器进行验证。</a:t>
            </a:r>
            <a:endParaRPr lang="zh-CN" altLang="en-US" sz="2400" b="1" dirty="0">
              <a:latin typeface="Arial" panose="020B0604020202020204" pitchFamily="34" charset="0"/>
              <a:ea typeface="楷体_GB2312" pitchFamily="49" charset="-122"/>
            </a:endParaRPr>
          </a:p>
          <a:p>
            <a:r>
              <a:rPr lang="zh-CN" altLang="en-US" sz="2400" b="1" dirty="0">
                <a:latin typeface="Arial" panose="020B0604020202020204" pitchFamily="34" charset="0"/>
                <a:ea typeface="楷体_GB2312" pitchFamily="49" charset="-122"/>
              </a:rPr>
              <a:t>        </a:t>
            </a:r>
            <a:r>
              <a:rPr lang="en-US" altLang="zh-CN" sz="2400" b="1" dirty="0">
                <a:solidFill>
                  <a:srgbClr val="FF0000"/>
                </a:solidFill>
                <a:latin typeface="Arial" panose="020B0604020202020204" pitchFamily="34" charset="0"/>
                <a:ea typeface="楷体_GB2312" pitchFamily="49" charset="-122"/>
              </a:rPr>
              <a:t>VHDL</a:t>
            </a:r>
            <a:r>
              <a:rPr lang="zh-CN" altLang="en-US" sz="2400" b="1" dirty="0">
                <a:latin typeface="Arial" panose="020B0604020202020204" pitchFamily="34" charset="0"/>
                <a:ea typeface="楷体_GB2312" pitchFamily="49" charset="-122"/>
              </a:rPr>
              <a:t>侧重于系统级描述，通常被系统级设计人员所采用，</a:t>
            </a:r>
            <a:r>
              <a:rPr lang="en-US" altLang="zh-CN" sz="2400" b="1" dirty="0">
                <a:latin typeface="Arial" panose="020B0604020202020204" pitchFamily="34" charset="0"/>
                <a:ea typeface="楷体_GB2312" pitchFamily="49" charset="-122"/>
              </a:rPr>
              <a:t>Verilog</a:t>
            </a:r>
            <a:r>
              <a:rPr lang="zh-CN" altLang="en-US" sz="2400" b="1" dirty="0">
                <a:latin typeface="Arial" panose="020B0604020202020204" pitchFamily="34" charset="0"/>
                <a:ea typeface="楷体_GB2312" pitchFamily="49" charset="-122"/>
              </a:rPr>
              <a:t>侧重于电路级描述，从而更多地为电路级设计人员所采用。</a:t>
            </a:r>
            <a:r>
              <a:rPr lang="en-US" altLang="zh-CN" sz="2400" b="1" dirty="0">
                <a:latin typeface="Arial" panose="020B0604020202020204" pitchFamily="34" charset="0"/>
                <a:ea typeface="楷体_GB2312" pitchFamily="49" charset="-122"/>
              </a:rPr>
              <a:t>Verilog</a:t>
            </a:r>
            <a:r>
              <a:rPr lang="zh-CN" altLang="en-US" sz="2400" b="1" dirty="0">
                <a:latin typeface="Arial" panose="020B0604020202020204" pitchFamily="34" charset="0"/>
                <a:ea typeface="楷体_GB2312" pitchFamily="49" charset="-122"/>
              </a:rPr>
              <a:t>非常容易掌握，只需要有</a:t>
            </a:r>
            <a:r>
              <a:rPr lang="en-US" altLang="zh-CN" sz="2400" b="1" dirty="0">
                <a:latin typeface="Arial" panose="020B0604020202020204" pitchFamily="34" charset="0"/>
                <a:ea typeface="楷体_GB2312" pitchFamily="49" charset="-122"/>
              </a:rPr>
              <a:t>C</a:t>
            </a:r>
            <a:r>
              <a:rPr lang="zh-CN" altLang="en-US" sz="2400" b="1" dirty="0">
                <a:latin typeface="Arial" panose="020B0604020202020204" pitchFamily="34" charset="0"/>
                <a:ea typeface="楷体_GB2312" pitchFamily="49" charset="-122"/>
              </a:rPr>
              <a:t>语言编程基础就可很快上手。</a:t>
            </a:r>
            <a:endParaRPr lang="zh-CN" altLang="en-US" sz="2400" b="1" dirty="0">
              <a:latin typeface="Arial" panose="020B0604020202020204" pitchFamily="34" charset="0"/>
              <a:ea typeface="楷体_GB2312" pitchFamily="49" charset="-122"/>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20168"/>
                                        </p:tgtEl>
                                        <p:attrNameLst>
                                          <p:attrName>style.visibility</p:attrName>
                                        </p:attrNameLst>
                                      </p:cBhvr>
                                      <p:to>
                                        <p:strVal val="visible"/>
                                      </p:to>
                                    </p:set>
                                    <p:animEffect transition="in" filter="slide(fromBottom)">
                                      <p:cBhvr>
                                        <p:cTn id="7" dur="1000"/>
                                        <p:tgtEl>
                                          <p:spTgt spid="220168"/>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iterate type="lt">
                                    <p:tmPct val="100000"/>
                                  </p:iterate>
                                  <p:childTnLst>
                                    <p:set>
                                      <p:cBhvr>
                                        <p:cTn id="11" dur="1" fill="hold">
                                          <p:stCondLst>
                                            <p:cond delay="0"/>
                                          </p:stCondLst>
                                        </p:cTn>
                                        <p:tgtEl>
                                          <p:spTgt spid="220169"/>
                                        </p:tgtEl>
                                        <p:attrNameLst>
                                          <p:attrName>style.visibility</p:attrName>
                                        </p:attrNameLst>
                                      </p:cBhvr>
                                      <p:to>
                                        <p:strVal val="visible"/>
                                      </p:to>
                                    </p:set>
                                    <p:anim calcmode="lin" valueType="num">
                                      <p:cBhvr>
                                        <p:cTn id="12" dur="100" fill="hold"/>
                                        <p:tgtEl>
                                          <p:spTgt spid="220169"/>
                                        </p:tgtEl>
                                        <p:attrNameLst>
                                          <p:attrName>ppt_w</p:attrName>
                                        </p:attrNameLst>
                                      </p:cBhvr>
                                      <p:tavLst>
                                        <p:tav tm="0">
                                          <p:val>
                                            <p:strVal val="#ppt_w*0.70"/>
                                          </p:val>
                                        </p:tav>
                                        <p:tav tm="100000">
                                          <p:val>
                                            <p:strVal val="#ppt_w"/>
                                          </p:val>
                                        </p:tav>
                                      </p:tavLst>
                                    </p:anim>
                                    <p:anim calcmode="lin" valueType="num">
                                      <p:cBhvr>
                                        <p:cTn id="13" dur="100" fill="hold"/>
                                        <p:tgtEl>
                                          <p:spTgt spid="220169"/>
                                        </p:tgtEl>
                                        <p:attrNameLst>
                                          <p:attrName>ppt_h</p:attrName>
                                        </p:attrNameLst>
                                      </p:cBhvr>
                                      <p:tavLst>
                                        <p:tav tm="0">
                                          <p:val>
                                            <p:strVal val="#ppt_h"/>
                                          </p:val>
                                        </p:tav>
                                        <p:tav tm="100000">
                                          <p:val>
                                            <p:strVal val="#ppt_h"/>
                                          </p:val>
                                        </p:tav>
                                      </p:tavLst>
                                    </p:anim>
                                    <p:animEffect transition="in" filter="fade">
                                      <p:cBhvr>
                                        <p:cTn id="14" dur="100"/>
                                        <p:tgtEl>
                                          <p:spTgt spid="2201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8" grpId="0"/>
      <p:bldP spid="22016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3" name="Rectangle 3"/>
          <p:cNvSpPr>
            <a:spLocks noGrp="1" noRot="1" noChangeArrowheads="1"/>
          </p:cNvSpPr>
          <p:nvPr>
            <p:ph idx="1"/>
          </p:nvPr>
        </p:nvSpPr>
        <p:spPr>
          <a:xfrm>
            <a:off x="827088" y="1773238"/>
            <a:ext cx="8066088" cy="3894138"/>
          </a:xfrm>
          <a:solidFill>
            <a:schemeClr val="accent5">
              <a:lumMod val="20000"/>
              <a:lumOff val="80000"/>
            </a:schemeClr>
          </a:solidFill>
          <a:ln w="28575">
            <a:solidFill>
              <a:srgbClr val="00FF00"/>
            </a:solidFill>
            <a:miter lim="800000"/>
          </a:ln>
        </p:spPr>
        <p:txBody>
          <a:bodyPr vert="horz" wrap="square" lIns="91440" tIns="45720" rIns="91440" bIns="45720" numCol="1" rtlCol="0" anchor="t" anchorCtr="0" compatLnSpc="1">
            <a:spAutoFit/>
          </a:bodyPr>
          <a:lstStyle/>
          <a:p>
            <a:pPr marL="514350" marR="0" lvl="1" indent="-171450" algn="l" defTabSz="685800" rtl="0" eaLnBrk="1" fontAlgn="auto" latinLnBrk="0" hangingPunct="1">
              <a:lnSpc>
                <a:spcPct val="120000"/>
              </a:lnSpc>
              <a:spcBef>
                <a:spcPts val="375"/>
              </a:spcBef>
              <a:spcAft>
                <a:spcPts val="0"/>
              </a:spcAft>
              <a:buClr>
                <a:srgbClr val="990099"/>
              </a:buClr>
              <a:buSzPct val="120000"/>
              <a:buFont typeface="Wingdings" panose="05000000000000000000" pitchFamily="2" charset="2"/>
              <a:buChar char="Ø"/>
              <a:defRPr/>
            </a:pPr>
            <a:r>
              <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rPr>
              <a:t>能形式化地抽象表示电路的结构和行为；</a:t>
            </a:r>
            <a:endPar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endParaRPr>
          </a:p>
          <a:p>
            <a:pPr marL="514350" marR="0" lvl="1" indent="-171450" algn="l" defTabSz="685800" rtl="0" eaLnBrk="1" fontAlgn="auto" latinLnBrk="0" hangingPunct="1">
              <a:lnSpc>
                <a:spcPct val="120000"/>
              </a:lnSpc>
              <a:spcBef>
                <a:spcPts val="375"/>
              </a:spcBef>
              <a:spcAft>
                <a:spcPts val="0"/>
              </a:spcAft>
              <a:buClr>
                <a:srgbClr val="990099"/>
              </a:buClr>
              <a:buSzPct val="120000"/>
              <a:buFont typeface="Wingdings" panose="05000000000000000000" pitchFamily="2" charset="2"/>
              <a:buChar char="Ø"/>
              <a:defRPr/>
            </a:pPr>
            <a:r>
              <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rPr>
              <a:t>支持逻辑设计中层次描述；</a:t>
            </a:r>
            <a:endPar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endParaRPr>
          </a:p>
          <a:p>
            <a:pPr marL="514350" marR="0" lvl="1" indent="-171450" algn="l" defTabSz="685800" rtl="0" eaLnBrk="1" fontAlgn="auto" latinLnBrk="0" hangingPunct="1">
              <a:lnSpc>
                <a:spcPct val="120000"/>
              </a:lnSpc>
              <a:spcBef>
                <a:spcPts val="375"/>
              </a:spcBef>
              <a:spcAft>
                <a:spcPts val="0"/>
              </a:spcAft>
              <a:buClr>
                <a:srgbClr val="990099"/>
              </a:buClr>
              <a:buSzPct val="120000"/>
              <a:buFont typeface="Wingdings" panose="05000000000000000000" pitchFamily="2" charset="2"/>
              <a:buChar char="Ø"/>
              <a:defRPr/>
            </a:pPr>
            <a:r>
              <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rPr>
              <a:t>具有电路仿真与验证机制；</a:t>
            </a:r>
            <a:endPar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endParaRPr>
          </a:p>
          <a:p>
            <a:pPr marL="514350" marR="0" lvl="1" indent="-171450" algn="l" defTabSz="685800" rtl="0" eaLnBrk="1" fontAlgn="auto" latinLnBrk="0" hangingPunct="1">
              <a:lnSpc>
                <a:spcPct val="120000"/>
              </a:lnSpc>
              <a:spcBef>
                <a:spcPts val="375"/>
              </a:spcBef>
              <a:spcAft>
                <a:spcPts val="0"/>
              </a:spcAft>
              <a:buClr>
                <a:srgbClr val="990099"/>
              </a:buClr>
              <a:buSzPct val="120000"/>
              <a:buFont typeface="Wingdings" panose="05000000000000000000" pitchFamily="2" charset="2"/>
              <a:buChar char="Ø"/>
              <a:defRPr/>
            </a:pPr>
            <a:r>
              <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rPr>
              <a:t>支持电路描述由高层到低层的综合转换；</a:t>
            </a:r>
            <a:endPar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endParaRPr>
          </a:p>
          <a:p>
            <a:pPr marL="514350" marR="0" lvl="1" indent="-171450" algn="l" defTabSz="685800" rtl="0" eaLnBrk="1" fontAlgn="auto" latinLnBrk="0" hangingPunct="1">
              <a:lnSpc>
                <a:spcPct val="120000"/>
              </a:lnSpc>
              <a:spcBef>
                <a:spcPts val="375"/>
              </a:spcBef>
              <a:spcAft>
                <a:spcPts val="0"/>
              </a:spcAft>
              <a:buClr>
                <a:srgbClr val="990099"/>
              </a:buClr>
              <a:buSzPct val="120000"/>
              <a:buFont typeface="Wingdings" panose="05000000000000000000" pitchFamily="2" charset="2"/>
              <a:buChar char="Ø"/>
              <a:defRPr/>
            </a:pPr>
            <a:r>
              <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rPr>
              <a:t>硬件描述与实现工艺无关；</a:t>
            </a:r>
            <a:endPar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endParaRPr>
          </a:p>
          <a:p>
            <a:pPr marL="514350" marR="0" lvl="1" indent="-171450" algn="l" defTabSz="685800" rtl="0" eaLnBrk="1" fontAlgn="auto" latinLnBrk="0" hangingPunct="1">
              <a:lnSpc>
                <a:spcPct val="120000"/>
              </a:lnSpc>
              <a:spcBef>
                <a:spcPts val="375"/>
              </a:spcBef>
              <a:spcAft>
                <a:spcPts val="0"/>
              </a:spcAft>
              <a:buClr>
                <a:srgbClr val="990099"/>
              </a:buClr>
              <a:buSzPct val="120000"/>
              <a:buFont typeface="Wingdings" panose="05000000000000000000" pitchFamily="2" charset="2"/>
              <a:buChar char="Ø"/>
              <a:defRPr/>
            </a:pPr>
            <a:r>
              <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rPr>
              <a:t>便于文档管理、易于理解和设计重用。</a:t>
            </a:r>
            <a:endParaRPr kumimoji="0" lang="zh-CN" altLang="en-US" sz="3200" b="1" i="0" u="none" strike="noStrike" kern="1200" cap="none" spc="0" normalizeH="0" baseline="0" noProof="0" dirty="0" smtClean="0">
              <a:ln>
                <a:noFill/>
              </a:ln>
              <a:solidFill>
                <a:srgbClr val="000000"/>
              </a:solidFill>
              <a:effectLst/>
              <a:uLnTx/>
              <a:uFillTx/>
              <a:latin typeface="+mn-lt"/>
              <a:ea typeface="楷体_GB2312" pitchFamily="49" charset="-122"/>
              <a:cs typeface="+mn-cs"/>
            </a:endParaRPr>
          </a:p>
        </p:txBody>
      </p:sp>
      <p:sp>
        <p:nvSpPr>
          <p:cNvPr id="38915"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43365" name="Rectangle 5"/>
          <p:cNvSpPr>
            <a:spLocks noChangeArrowheads="1"/>
          </p:cNvSpPr>
          <p:nvPr/>
        </p:nvSpPr>
        <p:spPr bwMode="auto">
          <a:xfrm>
            <a:off x="468313" y="522288"/>
            <a:ext cx="755967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smtClean="0">
                <a:ln>
                  <a:noFill/>
                </a:ln>
                <a:solidFill>
                  <a:schemeClr val="hlink"/>
                </a:solidFill>
                <a:effectLst/>
                <a:uLnTx/>
                <a:uFillTx/>
                <a:latin typeface="+mn-ea"/>
                <a:ea typeface="+mn-ea"/>
                <a:cs typeface="+mn-cs"/>
              </a:rPr>
              <a:t>Verilog HDL </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n-cs"/>
              </a:rPr>
              <a:t>与 </a:t>
            </a:r>
            <a:r>
              <a:rPr kumimoji="0" lang="en-US" altLang="zh-CN" sz="4000" b="1" i="0" u="none" strike="noStrike" kern="1200" cap="none" spc="0" normalizeH="0" baseline="0" noProof="0" dirty="0" smtClean="0">
                <a:ln>
                  <a:noFill/>
                </a:ln>
                <a:solidFill>
                  <a:schemeClr val="hlink"/>
                </a:solidFill>
                <a:effectLst/>
                <a:uLnTx/>
                <a:uFillTx/>
                <a:latin typeface="+mn-ea"/>
                <a:ea typeface="+mn-ea"/>
                <a:cs typeface="+mn-cs"/>
              </a:rPr>
              <a:t>VHDL</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n-cs"/>
              </a:rPr>
              <a:t>的共同点</a:t>
            </a:r>
            <a:r>
              <a:rPr kumimoji="0" lang="zh-CN" altLang="en-US" sz="4000" b="1"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mn-ea"/>
                <a:ea typeface="+mn-ea"/>
                <a:cs typeface="+mn-cs"/>
              </a:rPr>
              <a:t> </a:t>
            </a:r>
            <a:endParaRPr kumimoji="0" lang="zh-CN" altLang="en-US" sz="4000" b="1"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mn-ea"/>
              <a:ea typeface="+mn-ea"/>
              <a:cs typeface="+mn-cs"/>
            </a:endParaRPr>
          </a:p>
        </p:txBody>
      </p:sp>
    </p:spTree>
  </p:cSld>
  <p:clrMapOvr>
    <a:masterClrMapping/>
  </p:clrMapOvr>
  <p:transition spd="slow">
    <p:pull dir="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3"/>
          <p:cNvSpPr>
            <a:spLocks noGrp="1" noRot="1"/>
          </p:cNvSpPr>
          <p:nvPr>
            <p:ph idx="1"/>
          </p:nvPr>
        </p:nvSpPr>
        <p:spPr>
          <a:xfrm>
            <a:off x="644525" y="1412875"/>
            <a:ext cx="7959725" cy="3519488"/>
          </a:xfrm>
          <a:solidFill>
            <a:schemeClr val="bg1">
              <a:alpha val="100000"/>
            </a:schemeClr>
          </a:solidFill>
          <a:ln w="28575">
            <a:solidFill>
              <a:srgbClr val="808080">
                <a:alpha val="100000"/>
              </a:srgbClr>
            </a:solidFill>
            <a:miter lim="800000"/>
          </a:ln>
        </p:spPr>
        <p:txBody>
          <a:bodyPr vert="horz" wrap="square" lIns="91440" tIns="45720" rIns="91440" bIns="45720" anchor="t" anchorCtr="0">
            <a:spAutoFit/>
          </a:bodyPr>
          <a:p>
            <a:pPr lvl="1" eaLnBrk="1" hangingPunct="1">
              <a:buClr>
                <a:srgbClr val="990099"/>
              </a:buClr>
              <a:buFont typeface="Wingdings" panose="05000000000000000000" pitchFamily="2" charset="2"/>
              <a:buChar char="p"/>
            </a:pPr>
            <a:r>
              <a:rPr lang="en-US" altLang="zh-CN" b="1" i="1" dirty="0">
                <a:solidFill>
                  <a:srgbClr val="000000"/>
                </a:solidFill>
                <a:latin typeface="Times New Roman" panose="02020603050405020304" pitchFamily="18" charset="0"/>
                <a:ea typeface="楷体_GB2312" pitchFamily="49" charset="-122"/>
              </a:rPr>
              <a:t> </a:t>
            </a:r>
            <a:r>
              <a:rPr lang="en-US" altLang="zh-CN" sz="2400" b="1" i="1" dirty="0">
                <a:solidFill>
                  <a:srgbClr val="990099"/>
                </a:solidFill>
                <a:latin typeface="Times New Roman" panose="02020603050405020304" pitchFamily="18" charset="0"/>
                <a:ea typeface="楷体_GB2312" pitchFamily="49" charset="-122"/>
              </a:rPr>
              <a:t>Verilog HDL </a:t>
            </a:r>
            <a:r>
              <a:rPr lang="zh-CN" altLang="en-US" sz="2400" b="1" dirty="0">
                <a:solidFill>
                  <a:srgbClr val="990099"/>
                </a:solidFill>
                <a:latin typeface="Times New Roman" panose="02020603050405020304" pitchFamily="18" charset="0"/>
                <a:ea typeface="楷体_GB2312" pitchFamily="49" charset="-122"/>
              </a:rPr>
              <a:t>拥有更广泛的设计群体，成熟的资源也远比</a:t>
            </a:r>
            <a:r>
              <a:rPr lang="en-US" altLang="zh-CN" sz="2400" b="1" i="1" dirty="0">
                <a:solidFill>
                  <a:srgbClr val="990099"/>
                </a:solidFill>
                <a:latin typeface="Times New Roman" panose="02020603050405020304" pitchFamily="18" charset="0"/>
                <a:ea typeface="楷体_GB2312" pitchFamily="49" charset="-122"/>
              </a:rPr>
              <a:t>VHDL</a:t>
            </a:r>
            <a:r>
              <a:rPr lang="zh-CN" altLang="en-US" sz="2400" b="1" dirty="0">
                <a:solidFill>
                  <a:srgbClr val="990099"/>
                </a:solidFill>
                <a:latin typeface="Times New Roman" panose="02020603050405020304" pitchFamily="18" charset="0"/>
                <a:ea typeface="楷体_GB2312" pitchFamily="49" charset="-122"/>
              </a:rPr>
              <a:t>丰富。</a:t>
            </a:r>
            <a:endParaRPr lang="zh-CN" altLang="en-US" sz="2400" b="1" dirty="0">
              <a:solidFill>
                <a:srgbClr val="990099"/>
              </a:solidFill>
              <a:latin typeface="Times New Roman" panose="02020603050405020304" pitchFamily="18" charset="0"/>
              <a:ea typeface="楷体_GB2312" pitchFamily="49" charset="-122"/>
            </a:endParaRPr>
          </a:p>
          <a:p>
            <a:pPr lvl="1" eaLnBrk="1" hangingPunct="1">
              <a:buClr>
                <a:schemeClr val="hlink"/>
              </a:buClr>
              <a:buFont typeface="Wingdings" panose="05000000000000000000" pitchFamily="2" charset="2"/>
              <a:buChar char="p"/>
            </a:pPr>
            <a:r>
              <a:rPr lang="zh-CN" altLang="en-US" sz="2400" b="1" dirty="0">
                <a:solidFill>
                  <a:srgbClr val="FD3A35"/>
                </a:solidFill>
                <a:latin typeface="Times New Roman" panose="02020603050405020304" pitchFamily="18" charset="0"/>
                <a:ea typeface="楷体_GB2312" pitchFamily="49" charset="-122"/>
              </a:rPr>
              <a:t> </a:t>
            </a:r>
            <a:r>
              <a:rPr lang="en-US" altLang="zh-CN" sz="2400" b="1" i="1" dirty="0">
                <a:solidFill>
                  <a:schemeClr val="hlink"/>
                </a:solidFill>
                <a:latin typeface="Times New Roman" panose="02020603050405020304" pitchFamily="18" charset="0"/>
                <a:ea typeface="楷体_GB2312" pitchFamily="49" charset="-122"/>
              </a:rPr>
              <a:t>Verilog</a:t>
            </a:r>
            <a:r>
              <a:rPr lang="en-US" altLang="zh-CN" sz="2400" b="1" dirty="0">
                <a:solidFill>
                  <a:schemeClr val="hlink"/>
                </a:solidFill>
                <a:latin typeface="Times New Roman" panose="02020603050405020304" pitchFamily="18" charset="0"/>
                <a:ea typeface="楷体_GB2312" pitchFamily="49" charset="-122"/>
              </a:rPr>
              <a:t> </a:t>
            </a:r>
            <a:r>
              <a:rPr lang="en-US" altLang="zh-CN" sz="2400" b="1" i="1" dirty="0">
                <a:solidFill>
                  <a:schemeClr val="hlink"/>
                </a:solidFill>
                <a:latin typeface="Times New Roman" panose="02020603050405020304" pitchFamily="18" charset="0"/>
                <a:ea typeface="楷体_GB2312" pitchFamily="49" charset="-122"/>
              </a:rPr>
              <a:t>HDL</a:t>
            </a:r>
            <a:r>
              <a:rPr lang="zh-CN" altLang="en-US" sz="2400" b="1" dirty="0">
                <a:solidFill>
                  <a:schemeClr val="hlink"/>
                </a:solidFill>
                <a:latin typeface="Times New Roman" panose="02020603050405020304" pitchFamily="18" charset="0"/>
                <a:ea typeface="楷体_GB2312" pitchFamily="49" charset="-122"/>
              </a:rPr>
              <a:t>的最大优点是：它是一种非常容易掌握的硬件描述语言， </a:t>
            </a:r>
            <a:r>
              <a:rPr lang="en-US" altLang="zh-CN" sz="2400" b="1" i="1" dirty="0">
                <a:solidFill>
                  <a:schemeClr val="hlink"/>
                </a:solidFill>
                <a:latin typeface="Times New Roman" panose="02020603050405020304" pitchFamily="18" charset="0"/>
                <a:ea typeface="楷体_GB2312" pitchFamily="49" charset="-122"/>
              </a:rPr>
              <a:t>Verilog HDL </a:t>
            </a:r>
            <a:r>
              <a:rPr lang="zh-CN" altLang="en-US" sz="2400" b="1" dirty="0">
                <a:solidFill>
                  <a:schemeClr val="hlink"/>
                </a:solidFill>
                <a:latin typeface="Times New Roman" panose="02020603050405020304" pitchFamily="18" charset="0"/>
                <a:ea typeface="楷体_GB2312" pitchFamily="49" charset="-122"/>
              </a:rPr>
              <a:t>是在 </a:t>
            </a:r>
            <a:r>
              <a:rPr lang="en-US" altLang="zh-CN" sz="2400" b="1" i="1" dirty="0">
                <a:solidFill>
                  <a:schemeClr val="hlink"/>
                </a:solidFill>
                <a:latin typeface="Times New Roman" panose="02020603050405020304" pitchFamily="18" charset="0"/>
                <a:ea typeface="楷体_GB2312" pitchFamily="49" charset="-122"/>
              </a:rPr>
              <a:t>C</a:t>
            </a:r>
            <a:r>
              <a:rPr lang="en-US" altLang="zh-CN" sz="2400" b="1" dirty="0">
                <a:solidFill>
                  <a:schemeClr val="hlink"/>
                </a:solidFill>
                <a:latin typeface="Times New Roman" panose="02020603050405020304" pitchFamily="18" charset="0"/>
                <a:ea typeface="楷体_GB2312" pitchFamily="49" charset="-122"/>
              </a:rPr>
              <a:t> </a:t>
            </a:r>
            <a:r>
              <a:rPr lang="zh-CN" altLang="en-US" sz="2400" b="1" dirty="0">
                <a:solidFill>
                  <a:schemeClr val="hlink"/>
                </a:solidFill>
                <a:latin typeface="Times New Roman" panose="02020603050405020304" pitchFamily="18" charset="0"/>
                <a:ea typeface="楷体_GB2312" pitchFamily="49" charset="-122"/>
              </a:rPr>
              <a:t>语言的基础上发展而来的。从语法结构上看，</a:t>
            </a:r>
            <a:r>
              <a:rPr lang="en-US" altLang="zh-CN" sz="2400" b="1" i="1" dirty="0">
                <a:solidFill>
                  <a:schemeClr val="hlink"/>
                </a:solidFill>
                <a:latin typeface="Times New Roman" panose="02020603050405020304" pitchFamily="18" charset="0"/>
                <a:ea typeface="楷体_GB2312" pitchFamily="49" charset="-122"/>
              </a:rPr>
              <a:t>Verilog HDL</a:t>
            </a:r>
            <a:r>
              <a:rPr lang="en-US" altLang="zh-CN" sz="2400" b="1" dirty="0">
                <a:solidFill>
                  <a:schemeClr val="hlink"/>
                </a:solidFill>
                <a:latin typeface="Times New Roman" panose="02020603050405020304" pitchFamily="18" charset="0"/>
                <a:ea typeface="楷体_GB2312" pitchFamily="49" charset="-122"/>
              </a:rPr>
              <a:t> </a:t>
            </a:r>
            <a:r>
              <a:rPr lang="zh-CN" altLang="en-US" sz="2400" b="1" dirty="0">
                <a:solidFill>
                  <a:schemeClr val="hlink"/>
                </a:solidFill>
                <a:latin typeface="Times New Roman" panose="02020603050405020304" pitchFamily="18" charset="0"/>
                <a:ea typeface="楷体_GB2312" pitchFamily="49" charset="-122"/>
              </a:rPr>
              <a:t>与 </a:t>
            </a:r>
            <a:r>
              <a:rPr lang="en-US" altLang="zh-CN" sz="2400" b="1" i="1" dirty="0">
                <a:solidFill>
                  <a:schemeClr val="hlink"/>
                </a:solidFill>
                <a:latin typeface="Times New Roman" panose="02020603050405020304" pitchFamily="18" charset="0"/>
                <a:ea typeface="楷体_GB2312" pitchFamily="49" charset="-122"/>
              </a:rPr>
              <a:t>C </a:t>
            </a:r>
            <a:r>
              <a:rPr lang="en-US" altLang="zh-CN" sz="2400" b="1" dirty="0">
                <a:solidFill>
                  <a:schemeClr val="hlink"/>
                </a:solidFill>
                <a:latin typeface="Times New Roman" panose="02020603050405020304" pitchFamily="18" charset="0"/>
                <a:ea typeface="楷体_GB2312" pitchFamily="49" charset="-122"/>
              </a:rPr>
              <a:t> </a:t>
            </a:r>
            <a:r>
              <a:rPr lang="zh-CN" altLang="en-US" sz="2400" b="1" dirty="0">
                <a:solidFill>
                  <a:schemeClr val="hlink"/>
                </a:solidFill>
                <a:latin typeface="Times New Roman" panose="02020603050405020304" pitchFamily="18" charset="0"/>
                <a:ea typeface="楷体_GB2312" pitchFamily="49" charset="-122"/>
              </a:rPr>
              <a:t>语言有很多相似之处，掌握这种设计技术比较容易。</a:t>
            </a:r>
            <a:endParaRPr lang="zh-CN" altLang="en-US" sz="2400" b="1" dirty="0">
              <a:solidFill>
                <a:schemeClr val="hlink"/>
              </a:solidFill>
              <a:latin typeface="Times New Roman" panose="02020603050405020304" pitchFamily="18" charset="0"/>
              <a:ea typeface="楷体_GB2312" pitchFamily="49" charset="-122"/>
            </a:endParaRPr>
          </a:p>
          <a:p>
            <a:pPr lvl="1" eaLnBrk="1" hangingPunct="1">
              <a:buClr>
                <a:srgbClr val="669900"/>
              </a:buClr>
              <a:buFont typeface="Wingdings" panose="05000000000000000000" pitchFamily="2" charset="2"/>
              <a:buChar char="p"/>
            </a:pPr>
            <a:r>
              <a:rPr lang="zh-CN" altLang="en-US" sz="2400" b="1" i="1" dirty="0">
                <a:solidFill>
                  <a:srgbClr val="000000"/>
                </a:solidFill>
                <a:latin typeface="Times New Roman" panose="02020603050405020304" pitchFamily="18" charset="0"/>
                <a:ea typeface="楷体_GB2312" pitchFamily="49" charset="-122"/>
              </a:rPr>
              <a:t> </a:t>
            </a:r>
            <a:r>
              <a:rPr lang="en-US" altLang="zh-CN" sz="2400" b="1" i="1" dirty="0">
                <a:solidFill>
                  <a:srgbClr val="669900"/>
                </a:solidFill>
                <a:latin typeface="Times New Roman" panose="02020603050405020304" pitchFamily="18" charset="0"/>
                <a:ea typeface="楷体_GB2312" pitchFamily="49" charset="-122"/>
              </a:rPr>
              <a:t>Verilog HDL</a:t>
            </a:r>
            <a:r>
              <a:rPr lang="en-US" altLang="zh-CN" sz="2400" b="1" i="1" dirty="0">
                <a:solidFill>
                  <a:srgbClr val="000000"/>
                </a:solidFill>
                <a:latin typeface="Times New Roman" panose="02020603050405020304" pitchFamily="18" charset="0"/>
                <a:ea typeface="楷体_GB2312" pitchFamily="49" charset="-122"/>
              </a:rPr>
              <a:t> </a:t>
            </a:r>
            <a:r>
              <a:rPr lang="zh-CN" altLang="en-US" sz="2400" b="1" dirty="0">
                <a:solidFill>
                  <a:srgbClr val="669900"/>
                </a:solidFill>
                <a:latin typeface="Times New Roman" panose="02020603050405020304" pitchFamily="18" charset="0"/>
                <a:ea typeface="楷体_GB2312" pitchFamily="49" charset="-122"/>
              </a:rPr>
              <a:t>和 </a:t>
            </a:r>
            <a:r>
              <a:rPr lang="en-US" altLang="zh-CN" sz="2400" b="1" i="1" dirty="0">
                <a:solidFill>
                  <a:srgbClr val="669900"/>
                </a:solidFill>
                <a:latin typeface="Times New Roman" panose="02020603050405020304" pitchFamily="18" charset="0"/>
                <a:ea typeface="楷体_GB2312" pitchFamily="49" charset="-122"/>
              </a:rPr>
              <a:t>VHDL</a:t>
            </a:r>
            <a:r>
              <a:rPr lang="zh-CN" altLang="en-US" sz="2400" b="1" dirty="0">
                <a:solidFill>
                  <a:srgbClr val="669900"/>
                </a:solidFill>
                <a:latin typeface="Times New Roman" panose="02020603050405020304" pitchFamily="18" charset="0"/>
                <a:ea typeface="楷体_GB2312" pitchFamily="49" charset="-122"/>
              </a:rPr>
              <a:t>在行为级抽象建模的覆盖范围方面也有所不同。一般认为</a:t>
            </a:r>
            <a:r>
              <a:rPr lang="en-US" altLang="zh-CN" sz="2400" b="1" i="1" dirty="0">
                <a:solidFill>
                  <a:srgbClr val="669900"/>
                </a:solidFill>
                <a:latin typeface="Times New Roman" panose="02020603050405020304" pitchFamily="18" charset="0"/>
                <a:ea typeface="楷体_GB2312" pitchFamily="49" charset="-122"/>
              </a:rPr>
              <a:t>Verilog HDL</a:t>
            </a:r>
            <a:r>
              <a:rPr lang="zh-CN" altLang="en-US" sz="2400" b="1" dirty="0">
                <a:solidFill>
                  <a:srgbClr val="669900"/>
                </a:solidFill>
                <a:latin typeface="Times New Roman" panose="02020603050405020304" pitchFamily="18" charset="0"/>
                <a:ea typeface="楷体_GB2312" pitchFamily="49" charset="-122"/>
              </a:rPr>
              <a:t>在系统级抽象方面比</a:t>
            </a:r>
            <a:r>
              <a:rPr lang="en-US" altLang="zh-CN" sz="2400" b="1" i="1" dirty="0">
                <a:solidFill>
                  <a:srgbClr val="669900"/>
                </a:solidFill>
                <a:latin typeface="Times New Roman" panose="02020603050405020304" pitchFamily="18" charset="0"/>
                <a:ea typeface="楷体_GB2312" pitchFamily="49" charset="-122"/>
              </a:rPr>
              <a:t>VHDL</a:t>
            </a:r>
            <a:r>
              <a:rPr lang="zh-CN" altLang="en-US" sz="2400" b="1" dirty="0">
                <a:solidFill>
                  <a:srgbClr val="669900"/>
                </a:solidFill>
                <a:latin typeface="Times New Roman" panose="02020603050405020304" pitchFamily="18" charset="0"/>
                <a:ea typeface="楷体_GB2312" pitchFamily="49" charset="-122"/>
              </a:rPr>
              <a:t>略差一些，而在门级开关电路描述方面比 </a:t>
            </a:r>
            <a:r>
              <a:rPr lang="en-US" altLang="zh-CN" sz="2400" b="1" i="1" dirty="0">
                <a:solidFill>
                  <a:srgbClr val="669900"/>
                </a:solidFill>
                <a:latin typeface="Times New Roman" panose="02020603050405020304" pitchFamily="18" charset="0"/>
                <a:ea typeface="楷体_GB2312" pitchFamily="49" charset="-122"/>
              </a:rPr>
              <a:t>VHDL </a:t>
            </a:r>
            <a:r>
              <a:rPr lang="zh-CN" altLang="en-US" sz="2400" b="1" dirty="0">
                <a:solidFill>
                  <a:srgbClr val="669900"/>
                </a:solidFill>
                <a:latin typeface="Times New Roman" panose="02020603050405020304" pitchFamily="18" charset="0"/>
                <a:ea typeface="楷体_GB2312" pitchFamily="49" charset="-122"/>
              </a:rPr>
              <a:t>强得多。</a:t>
            </a:r>
            <a:endParaRPr lang="zh-CN" altLang="en-US" sz="2400" b="1" dirty="0">
              <a:solidFill>
                <a:srgbClr val="669900"/>
              </a:solidFill>
              <a:latin typeface="Times New Roman" panose="02020603050405020304" pitchFamily="18" charset="0"/>
              <a:ea typeface="楷体_GB2312" pitchFamily="49" charset="-122"/>
            </a:endParaRPr>
          </a:p>
        </p:txBody>
      </p:sp>
      <p:sp>
        <p:nvSpPr>
          <p:cNvPr id="40963"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94566" name="Rectangle 6"/>
          <p:cNvSpPr>
            <a:spLocks noChangeArrowheads="1"/>
          </p:cNvSpPr>
          <p:nvPr/>
        </p:nvSpPr>
        <p:spPr bwMode="auto">
          <a:xfrm>
            <a:off x="468313" y="555625"/>
            <a:ext cx="75596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Verilog HDL </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与 </a:t>
            </a: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VHDL</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的不同点</a:t>
            </a:r>
            <a:r>
              <a:rPr kumimoji="0" lang="zh-CN" altLang="en-US" sz="3600" b="1"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mn-ea"/>
                <a:ea typeface="+mn-ea"/>
                <a:cs typeface="+mn-cs"/>
              </a:rPr>
              <a:t> </a:t>
            </a:r>
            <a:endParaRPr kumimoji="0" lang="zh-CN" altLang="en-US" sz="3600" b="1" i="0" u="none" strike="noStrike" kern="1200" cap="none" spc="0" normalizeH="0" baseline="0" noProof="0" dirty="0" smtClean="0">
              <a:ln>
                <a:noFill/>
              </a:ln>
              <a:solidFill>
                <a:srgbClr val="000000"/>
              </a:solidFill>
              <a:effectLst>
                <a:outerShdw blurRad="38100" dist="38100" dir="2700000" algn="tl">
                  <a:srgbClr val="C0C0C0"/>
                </a:outerShdw>
              </a:effectLst>
              <a:uLnTx/>
              <a:uFillTx/>
              <a:latin typeface="+mn-ea"/>
              <a:ea typeface="+mn-ea"/>
              <a:cs typeface="+mn-cs"/>
            </a:endParaRPr>
          </a:p>
        </p:txBody>
      </p:sp>
      <p:grpSp>
        <p:nvGrpSpPr>
          <p:cNvPr id="194583" name="Group 23"/>
          <p:cNvGrpSpPr/>
          <p:nvPr/>
        </p:nvGrpSpPr>
        <p:grpSpPr>
          <a:xfrm>
            <a:off x="3059113" y="2133600"/>
            <a:ext cx="5832475" cy="4464050"/>
            <a:chOff x="793" y="709"/>
            <a:chExt cx="3674" cy="2812"/>
          </a:xfrm>
        </p:grpSpPr>
        <p:sp>
          <p:nvSpPr>
            <p:cNvPr id="40966" name="Rectangle 24"/>
            <p:cNvSpPr/>
            <p:nvPr/>
          </p:nvSpPr>
          <p:spPr>
            <a:xfrm>
              <a:off x="793" y="709"/>
              <a:ext cx="3674" cy="2812"/>
            </a:xfrm>
            <a:prstGeom prst="rect">
              <a:avLst/>
            </a:prstGeom>
            <a:solidFill>
              <a:srgbClr val="00CCFF"/>
            </a:solidFill>
            <a:ln w="31750" cap="flat" cmpd="sng">
              <a:solidFill>
                <a:schemeClr val="tx2"/>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40967" name="Line 25"/>
            <p:cNvSpPr/>
            <p:nvPr/>
          </p:nvSpPr>
          <p:spPr>
            <a:xfrm>
              <a:off x="1602" y="3144"/>
              <a:ext cx="2651" cy="0"/>
            </a:xfrm>
            <a:prstGeom prst="line">
              <a:avLst/>
            </a:prstGeom>
            <a:ln w="38100" cap="flat" cmpd="sng">
              <a:solidFill>
                <a:srgbClr val="0000FF"/>
              </a:solidFill>
              <a:prstDash val="solid"/>
              <a:headEnd type="none" w="sm" len="sm"/>
              <a:tailEnd type="arrow" w="med" len="lg"/>
            </a:ln>
          </p:spPr>
        </p:sp>
        <p:sp>
          <p:nvSpPr>
            <p:cNvPr id="40968" name="Rectangle 26"/>
            <p:cNvSpPr/>
            <p:nvPr/>
          </p:nvSpPr>
          <p:spPr>
            <a:xfrm>
              <a:off x="2820" y="1113"/>
              <a:ext cx="859" cy="1682"/>
            </a:xfrm>
            <a:prstGeom prst="rect">
              <a:avLst/>
            </a:prstGeom>
            <a:solidFill>
              <a:srgbClr val="FF99CC"/>
            </a:solidFill>
            <a:ln w="31750" cap="flat" cmpd="sng">
              <a:solidFill>
                <a:schemeClr val="bg2"/>
              </a:solidFill>
              <a:prstDash val="solid"/>
              <a:miter/>
              <a:headEnd type="none" w="med" len="med"/>
              <a:tailEnd type="none" w="med" len="med"/>
            </a:ln>
          </p:spPr>
          <p:txBody>
            <a:bodyPr lIns="12700" tIns="12700" rIns="12700" bIns="12700"/>
            <a:p>
              <a:pPr algn="just"/>
              <a:r>
                <a:rPr lang="en-US" altLang="zh-CN" sz="900" dirty="0">
                  <a:latin typeface="Times New Roman" panose="02020603050405020304" pitchFamily="18" charset="0"/>
                </a:rPr>
                <a:t>        </a:t>
              </a:r>
              <a:r>
                <a:rPr lang="en-US" altLang="zh-CN" sz="2400" b="1" i="1" dirty="0">
                  <a:solidFill>
                    <a:srgbClr val="000000"/>
                  </a:solidFill>
                  <a:latin typeface="Times New Roman" panose="02020603050405020304" pitchFamily="18" charset="0"/>
                </a:rPr>
                <a:t>VHDL</a:t>
              </a:r>
              <a:endParaRPr lang="en-US" altLang="zh-CN" sz="2400" b="1" i="1" dirty="0">
                <a:solidFill>
                  <a:srgbClr val="000000"/>
                </a:solidFill>
                <a:latin typeface="Times New Roman" panose="02020603050405020304" pitchFamily="18" charset="0"/>
              </a:endParaRPr>
            </a:p>
          </p:txBody>
        </p:sp>
        <p:sp>
          <p:nvSpPr>
            <p:cNvPr id="40969" name="Rectangle 27"/>
            <p:cNvSpPr/>
            <p:nvPr/>
          </p:nvSpPr>
          <p:spPr>
            <a:xfrm>
              <a:off x="2891" y="2750"/>
              <a:ext cx="788" cy="193"/>
            </a:xfrm>
            <a:prstGeom prst="rect">
              <a:avLst/>
            </a:prstGeom>
            <a:solidFill>
              <a:srgbClr val="FF99CC"/>
            </a:solidFill>
            <a:ln w="31750" cap="flat" cmpd="sng">
              <a:solidFill>
                <a:schemeClr val="bg2"/>
              </a:solidFill>
              <a:prstDash val="solid"/>
              <a:miter/>
              <a:headEnd type="none" w="med" len="med"/>
              <a:tailEnd type="none" w="med" len="med"/>
            </a:ln>
          </p:spPr>
          <p:txBody>
            <a:bodyPr lIns="12700" tIns="12700" rIns="12700" bIns="12700"/>
            <a:p>
              <a:pPr algn="just"/>
              <a:r>
                <a:rPr lang="zh-CN" altLang="zh-CN" sz="1200" b="1" i="1" dirty="0">
                  <a:solidFill>
                    <a:schemeClr val="bg2"/>
                  </a:solidFill>
                  <a:latin typeface="Times New Roman" panose="02020603050405020304" pitchFamily="18" charset="0"/>
                </a:rPr>
                <a:t>     </a:t>
              </a:r>
              <a:r>
                <a:rPr lang="en-US" altLang="zh-CN" sz="1600" b="1" i="1" dirty="0">
                  <a:solidFill>
                    <a:srgbClr val="000000"/>
                  </a:solidFill>
                  <a:latin typeface="Times New Roman" panose="02020603050405020304" pitchFamily="18" charset="0"/>
                </a:rPr>
                <a:t>VITAL</a:t>
              </a:r>
              <a:endParaRPr lang="en-US" altLang="zh-CN" sz="1600" b="1" i="1" dirty="0">
                <a:solidFill>
                  <a:srgbClr val="000000"/>
                </a:solidFill>
                <a:latin typeface="Times New Roman" panose="02020603050405020304" pitchFamily="18" charset="0"/>
              </a:endParaRPr>
            </a:p>
          </p:txBody>
        </p:sp>
        <p:sp>
          <p:nvSpPr>
            <p:cNvPr id="40970" name="Rectangle 28"/>
            <p:cNvSpPr/>
            <p:nvPr/>
          </p:nvSpPr>
          <p:spPr>
            <a:xfrm>
              <a:off x="897" y="1162"/>
              <a:ext cx="529" cy="226"/>
            </a:xfrm>
            <a:prstGeom prst="rect">
              <a:avLst/>
            </a:prstGeom>
            <a:noFill/>
            <a:ln w="9525">
              <a:noFill/>
            </a:ln>
          </p:spPr>
          <p:txBody>
            <a:bodyPr lIns="12700" tIns="12700" rIns="12700" bIns="12700"/>
            <a:p>
              <a:pPr algn="just"/>
              <a:r>
                <a:rPr lang="zh-CN" altLang="en-US" sz="2000" b="1" dirty="0">
                  <a:solidFill>
                    <a:srgbClr val="000000"/>
                  </a:solidFill>
                  <a:latin typeface="Times New Roman" panose="02020603050405020304" pitchFamily="18" charset="0"/>
                  <a:ea typeface="楷体_GB2312" pitchFamily="49" charset="-122"/>
                </a:rPr>
                <a:t>系统级</a:t>
              </a:r>
              <a:endParaRPr lang="zh-CN" altLang="en-US" sz="2000" b="1" dirty="0">
                <a:solidFill>
                  <a:srgbClr val="000000"/>
                </a:solidFill>
                <a:latin typeface="Times New Roman" panose="02020603050405020304" pitchFamily="18" charset="0"/>
                <a:ea typeface="楷体_GB2312" pitchFamily="49" charset="-122"/>
              </a:endParaRPr>
            </a:p>
          </p:txBody>
        </p:sp>
        <p:sp>
          <p:nvSpPr>
            <p:cNvPr id="40971" name="Rectangle 29"/>
            <p:cNvSpPr/>
            <p:nvPr/>
          </p:nvSpPr>
          <p:spPr>
            <a:xfrm>
              <a:off x="897" y="1616"/>
              <a:ext cx="545" cy="224"/>
            </a:xfrm>
            <a:prstGeom prst="rect">
              <a:avLst/>
            </a:prstGeom>
            <a:noFill/>
            <a:ln w="9525">
              <a:noFill/>
            </a:ln>
          </p:spPr>
          <p:txBody>
            <a:bodyPr lIns="12700" tIns="12700" rIns="12700" bIns="12700"/>
            <a:p>
              <a:pPr algn="just"/>
              <a:r>
                <a:rPr lang="zh-CN" altLang="en-US" sz="2000" b="1" dirty="0">
                  <a:solidFill>
                    <a:srgbClr val="000000"/>
                  </a:solidFill>
                  <a:latin typeface="Times New Roman" panose="02020603050405020304" pitchFamily="18" charset="0"/>
                  <a:ea typeface="楷体_GB2312" pitchFamily="49" charset="-122"/>
                </a:rPr>
                <a:t>算法级</a:t>
              </a:r>
              <a:endParaRPr lang="zh-CN" altLang="en-US" sz="2000" b="1" dirty="0">
                <a:solidFill>
                  <a:srgbClr val="000000"/>
                </a:solidFill>
                <a:latin typeface="Times New Roman" panose="02020603050405020304" pitchFamily="18" charset="0"/>
                <a:ea typeface="楷体_GB2312" pitchFamily="49" charset="-122"/>
              </a:endParaRPr>
            </a:p>
          </p:txBody>
        </p:sp>
        <p:sp>
          <p:nvSpPr>
            <p:cNvPr id="40972" name="Rectangle 30"/>
            <p:cNvSpPr/>
            <p:nvPr/>
          </p:nvSpPr>
          <p:spPr>
            <a:xfrm>
              <a:off x="896" y="2069"/>
              <a:ext cx="1044" cy="224"/>
            </a:xfrm>
            <a:prstGeom prst="rect">
              <a:avLst/>
            </a:prstGeom>
            <a:noFill/>
            <a:ln w="9525">
              <a:noFill/>
            </a:ln>
          </p:spPr>
          <p:txBody>
            <a:bodyPr lIns="12700" tIns="12700" rIns="12700" bIns="12700"/>
            <a:p>
              <a:pPr algn="just"/>
              <a:r>
                <a:rPr lang="zh-CN" altLang="en-US" sz="2000" b="1" dirty="0">
                  <a:solidFill>
                    <a:srgbClr val="000000"/>
                  </a:solidFill>
                  <a:latin typeface="Times New Roman" panose="02020603050405020304" pitchFamily="18" charset="0"/>
                  <a:ea typeface="楷体_GB2312" pitchFamily="49" charset="-122"/>
                </a:rPr>
                <a:t>寄存器传输级</a:t>
              </a:r>
              <a:endParaRPr lang="zh-CN" altLang="en-US" sz="2000" b="1" dirty="0">
                <a:solidFill>
                  <a:srgbClr val="000000"/>
                </a:solidFill>
                <a:latin typeface="Times New Roman" panose="02020603050405020304" pitchFamily="18" charset="0"/>
                <a:ea typeface="楷体_GB2312" pitchFamily="49" charset="-122"/>
              </a:endParaRPr>
            </a:p>
          </p:txBody>
        </p:sp>
        <p:sp>
          <p:nvSpPr>
            <p:cNvPr id="40973" name="Rectangle 31"/>
            <p:cNvSpPr/>
            <p:nvPr/>
          </p:nvSpPr>
          <p:spPr>
            <a:xfrm>
              <a:off x="879" y="2523"/>
              <a:ext cx="698" cy="224"/>
            </a:xfrm>
            <a:prstGeom prst="rect">
              <a:avLst/>
            </a:prstGeom>
            <a:noFill/>
            <a:ln w="9525">
              <a:noFill/>
            </a:ln>
          </p:spPr>
          <p:txBody>
            <a:bodyPr lIns="12700" tIns="12700" rIns="12700" bIns="12700"/>
            <a:p>
              <a:pPr algn="just"/>
              <a:r>
                <a:rPr lang="zh-CN" altLang="en-US" sz="2000" b="1" dirty="0">
                  <a:solidFill>
                    <a:srgbClr val="000000"/>
                  </a:solidFill>
                  <a:latin typeface="Times New Roman" panose="02020603050405020304" pitchFamily="18" charset="0"/>
                  <a:ea typeface="楷体_GB2312" pitchFamily="49" charset="-122"/>
                </a:rPr>
                <a:t>逻辑门级</a:t>
              </a:r>
              <a:endParaRPr lang="zh-CN" altLang="en-US" sz="2000" b="1" dirty="0">
                <a:solidFill>
                  <a:srgbClr val="000000"/>
                </a:solidFill>
                <a:latin typeface="Times New Roman" panose="02020603050405020304" pitchFamily="18" charset="0"/>
                <a:ea typeface="楷体_GB2312" pitchFamily="49" charset="-122"/>
              </a:endParaRPr>
            </a:p>
          </p:txBody>
        </p:sp>
        <p:sp>
          <p:nvSpPr>
            <p:cNvPr id="40974" name="Rectangle 32"/>
            <p:cNvSpPr/>
            <p:nvPr/>
          </p:nvSpPr>
          <p:spPr>
            <a:xfrm>
              <a:off x="879" y="2886"/>
              <a:ext cx="834" cy="229"/>
            </a:xfrm>
            <a:prstGeom prst="rect">
              <a:avLst/>
            </a:prstGeom>
            <a:noFill/>
            <a:ln w="9525">
              <a:noFill/>
            </a:ln>
          </p:spPr>
          <p:txBody>
            <a:bodyPr lIns="12700" tIns="12700" rIns="12700" bIns="12700"/>
            <a:p>
              <a:pPr algn="just"/>
              <a:r>
                <a:rPr lang="zh-CN" altLang="en-US" sz="2000" b="1" dirty="0">
                  <a:solidFill>
                    <a:srgbClr val="000000"/>
                  </a:solidFill>
                  <a:latin typeface="Times New Roman" panose="02020603050405020304" pitchFamily="18" charset="0"/>
                  <a:ea typeface="楷体_GB2312" pitchFamily="49" charset="-122"/>
                </a:rPr>
                <a:t>开关电路级</a:t>
              </a:r>
              <a:endParaRPr lang="zh-CN" altLang="en-US" sz="2000" b="1" dirty="0">
                <a:solidFill>
                  <a:srgbClr val="000000"/>
                </a:solidFill>
                <a:latin typeface="Times New Roman" panose="02020603050405020304" pitchFamily="18" charset="0"/>
                <a:ea typeface="楷体_GB2312" pitchFamily="49" charset="-122"/>
              </a:endParaRPr>
            </a:p>
          </p:txBody>
        </p:sp>
        <p:sp>
          <p:nvSpPr>
            <p:cNvPr id="40975" name="Rectangle 33"/>
            <p:cNvSpPr/>
            <p:nvPr/>
          </p:nvSpPr>
          <p:spPr>
            <a:xfrm>
              <a:off x="1350" y="935"/>
              <a:ext cx="1134" cy="227"/>
            </a:xfrm>
            <a:prstGeom prst="rect">
              <a:avLst/>
            </a:prstGeom>
            <a:noFill/>
            <a:ln w="9525">
              <a:noFill/>
            </a:ln>
          </p:spPr>
          <p:txBody>
            <a:bodyPr lIns="12700" tIns="12700" rIns="12700" bIns="12700"/>
            <a:p>
              <a:pPr algn="just"/>
              <a:r>
                <a:rPr lang="en-US" altLang="zh-CN" sz="900" dirty="0">
                  <a:latin typeface="Times New Roman" panose="02020603050405020304" pitchFamily="18" charset="0"/>
                </a:rPr>
                <a:t>  </a:t>
              </a:r>
              <a:r>
                <a:rPr lang="zh-CN" altLang="en-US" sz="2000" b="1" dirty="0">
                  <a:solidFill>
                    <a:srgbClr val="000000"/>
                  </a:solidFill>
                  <a:latin typeface="Times New Roman" panose="02020603050405020304" pitchFamily="18" charset="0"/>
                  <a:ea typeface="楷体_GB2312" pitchFamily="49" charset="-122"/>
                </a:rPr>
                <a:t>行为级的抽象</a:t>
              </a:r>
              <a:r>
                <a:rPr lang="zh-CN" altLang="en-US" sz="1600" dirty="0">
                  <a:latin typeface="黑体" panose="02010609060101010101" pitchFamily="49" charset="-122"/>
                  <a:ea typeface="黑体" panose="02010609060101010101" pitchFamily="49" charset="-122"/>
                </a:rPr>
                <a:t> </a:t>
              </a:r>
              <a:endParaRPr lang="zh-CN" altLang="en-US" sz="900" dirty="0">
                <a:latin typeface="Times New Roman" panose="02020603050405020304" pitchFamily="18" charset="0"/>
              </a:endParaRPr>
            </a:p>
          </p:txBody>
        </p:sp>
        <p:sp>
          <p:nvSpPr>
            <p:cNvPr id="40976" name="Line 34"/>
            <p:cNvSpPr/>
            <p:nvPr/>
          </p:nvSpPr>
          <p:spPr>
            <a:xfrm>
              <a:off x="1940" y="1389"/>
              <a:ext cx="0" cy="1360"/>
            </a:xfrm>
            <a:prstGeom prst="line">
              <a:avLst/>
            </a:prstGeom>
            <a:ln w="38100" cap="flat" cmpd="sng">
              <a:solidFill>
                <a:schemeClr val="tx1"/>
              </a:solidFill>
              <a:prstDash val="solid"/>
              <a:headEnd type="none" w="med" len="med"/>
              <a:tailEnd type="triangle" w="med" len="med"/>
            </a:ln>
          </p:spPr>
        </p:sp>
        <p:sp>
          <p:nvSpPr>
            <p:cNvPr id="40977" name="Rectangle 35"/>
            <p:cNvSpPr/>
            <p:nvPr/>
          </p:nvSpPr>
          <p:spPr>
            <a:xfrm>
              <a:off x="2103" y="1202"/>
              <a:ext cx="788" cy="1924"/>
            </a:xfrm>
            <a:prstGeom prst="rect">
              <a:avLst/>
            </a:prstGeom>
            <a:solidFill>
              <a:schemeClr val="folHlink"/>
            </a:solidFill>
            <a:ln w="31750" cap="flat" cmpd="sng">
              <a:solidFill>
                <a:schemeClr val="bg2"/>
              </a:solidFill>
              <a:prstDash val="solid"/>
              <a:miter/>
              <a:headEnd type="none" w="med" len="med"/>
              <a:tailEnd type="none" w="med" len="med"/>
            </a:ln>
          </p:spPr>
          <p:txBody>
            <a:bodyPr lIns="12700" tIns="12700" rIns="12700" bIns="12700"/>
            <a:p>
              <a:pPr algn="just"/>
              <a:r>
                <a:rPr lang="zh-CN" altLang="zh-CN" sz="1200" dirty="0">
                  <a:solidFill>
                    <a:schemeClr val="bg2"/>
                  </a:solidFill>
                  <a:latin typeface="Times New Roman" panose="02020603050405020304" pitchFamily="18" charset="0"/>
                </a:rPr>
                <a:t>   </a:t>
              </a:r>
              <a:endParaRPr lang="en-US" altLang="zh-CN" sz="1200" dirty="0">
                <a:solidFill>
                  <a:schemeClr val="bg2"/>
                </a:solidFill>
                <a:latin typeface="Times New Roman" panose="02020603050405020304" pitchFamily="18" charset="0"/>
              </a:endParaRPr>
            </a:p>
            <a:p>
              <a:pPr algn="ctr"/>
              <a:r>
                <a:rPr lang="en-US" altLang="zh-CN" sz="2400" b="1" i="1" dirty="0">
                  <a:solidFill>
                    <a:srgbClr val="000000"/>
                  </a:solidFill>
                  <a:latin typeface="Times New Roman" panose="02020603050405020304" pitchFamily="18" charset="0"/>
                </a:rPr>
                <a:t>Verilog</a:t>
              </a:r>
              <a:endParaRPr lang="en-US" altLang="zh-CN" sz="2400" b="1" i="1" dirty="0">
                <a:solidFill>
                  <a:srgbClr val="000000"/>
                </a:solidFill>
                <a:latin typeface="Times New Roman" panose="02020603050405020304" pitchFamily="18" charset="0"/>
              </a:endParaRPr>
            </a:p>
          </p:txBody>
        </p:sp>
        <p:sp>
          <p:nvSpPr>
            <p:cNvPr id="40978" name="Rectangle 36"/>
            <p:cNvSpPr/>
            <p:nvPr/>
          </p:nvSpPr>
          <p:spPr>
            <a:xfrm>
              <a:off x="1577" y="3235"/>
              <a:ext cx="2755" cy="250"/>
            </a:xfrm>
            <a:prstGeom prst="rect">
              <a:avLst/>
            </a:prstGeom>
            <a:noFill/>
            <a:ln w="9525">
              <a:noFill/>
            </a:ln>
          </p:spPr>
          <p:txBody>
            <a:bodyPr wrap="none">
              <a:spAutoFit/>
            </a:bodyPr>
            <a:p>
              <a:pPr eaLnBrk="1" hangingPunct="1"/>
              <a:r>
                <a:rPr lang="en-US" altLang="zh-CN" sz="2000" b="1" i="1" dirty="0">
                  <a:solidFill>
                    <a:srgbClr val="000000"/>
                  </a:solidFill>
                  <a:latin typeface="Times New Roman" panose="02020603050405020304" pitchFamily="18" charset="0"/>
                  <a:ea typeface="楷体_GB2312" pitchFamily="49" charset="-122"/>
                </a:rPr>
                <a:t>Verilog HDL</a:t>
              </a:r>
              <a:r>
                <a:rPr lang="zh-CN" altLang="en-US" sz="2000" b="1" dirty="0">
                  <a:solidFill>
                    <a:srgbClr val="000000"/>
                  </a:solidFill>
                  <a:latin typeface="Times New Roman" panose="02020603050405020304" pitchFamily="18" charset="0"/>
                  <a:ea typeface="楷体_GB2312" pitchFamily="49" charset="-122"/>
                </a:rPr>
                <a:t>与</a:t>
              </a:r>
              <a:r>
                <a:rPr lang="en-US" altLang="zh-CN" sz="2000" b="1" i="1" dirty="0">
                  <a:solidFill>
                    <a:srgbClr val="000000"/>
                  </a:solidFill>
                  <a:latin typeface="Times New Roman" panose="02020603050405020304" pitchFamily="18" charset="0"/>
                  <a:ea typeface="楷体_GB2312" pitchFamily="49" charset="-122"/>
                </a:rPr>
                <a:t>VHDL </a:t>
              </a:r>
              <a:r>
                <a:rPr lang="zh-CN" altLang="en-US" sz="2000" b="1" dirty="0">
                  <a:solidFill>
                    <a:srgbClr val="000000"/>
                  </a:solidFill>
                  <a:latin typeface="Times New Roman" panose="02020603050405020304" pitchFamily="18" charset="0"/>
                  <a:ea typeface="楷体_GB2312" pitchFamily="49" charset="-122"/>
                </a:rPr>
                <a:t>建模能力的比较</a:t>
              </a:r>
              <a:endParaRPr lang="zh-CN" altLang="en-US" sz="2000" b="1" dirty="0">
                <a:solidFill>
                  <a:srgbClr val="000000"/>
                </a:solidFill>
                <a:latin typeface="Times New Roman" panose="02020603050405020304" pitchFamily="18" charset="0"/>
                <a:ea typeface="楷体_GB2312" pitchFamily="49" charset="-122"/>
              </a:endParaRPr>
            </a:p>
          </p:txBody>
        </p:sp>
        <p:sp>
          <p:nvSpPr>
            <p:cNvPr id="40979" name="Line 37"/>
            <p:cNvSpPr/>
            <p:nvPr/>
          </p:nvSpPr>
          <p:spPr>
            <a:xfrm>
              <a:off x="1602" y="890"/>
              <a:ext cx="0" cy="2254"/>
            </a:xfrm>
            <a:prstGeom prst="line">
              <a:avLst/>
            </a:prstGeom>
            <a:ln w="38100" cap="flat" cmpd="sng">
              <a:solidFill>
                <a:schemeClr val="tx1"/>
              </a:solidFill>
              <a:prstDash val="solid"/>
              <a:headEnd type="arrow" w="med" len="lg"/>
              <a:tailEnd type="none" w="sm" len="sm"/>
            </a:ln>
          </p:spPr>
        </p:sp>
      </p:gr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4583"/>
                                        </p:tgtEl>
                                        <p:attrNameLst>
                                          <p:attrName>style.visibility</p:attrName>
                                        </p:attrNameLst>
                                      </p:cBhvr>
                                      <p:to>
                                        <p:strVal val="visible"/>
                                      </p:to>
                                    </p:set>
                                    <p:anim calcmode="lin" valueType="num">
                                      <p:cBhvr additive="base">
                                        <p:cTn id="7" dur="500" fill="hold"/>
                                        <p:tgtEl>
                                          <p:spTgt spid="194583"/>
                                        </p:tgtEl>
                                        <p:attrNameLst>
                                          <p:attrName>ppt_x</p:attrName>
                                        </p:attrNameLst>
                                      </p:cBhvr>
                                      <p:tavLst>
                                        <p:tav tm="0">
                                          <p:val>
                                            <p:strVal val="#ppt_x"/>
                                          </p:val>
                                        </p:tav>
                                        <p:tav tm="100000">
                                          <p:val>
                                            <p:strVal val="#ppt_x"/>
                                          </p:val>
                                        </p:tav>
                                      </p:tavLst>
                                    </p:anim>
                                    <p:anim calcmode="lin" valueType="num">
                                      <p:cBhvr additive="base">
                                        <p:cTn id="8" dur="500" fill="hold"/>
                                        <p:tgtEl>
                                          <p:spTgt spid="19458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7570" name="Rectangle 2"/>
          <p:cNvSpPr>
            <a:spLocks noGrp="1" noRot="1" noChangeArrowheads="1"/>
          </p:cNvSpPr>
          <p:nvPr>
            <p:ph type="title"/>
          </p:nvPr>
        </p:nvSpPr>
        <p:spPr>
          <a:xfrm>
            <a:off x="423863" y="552450"/>
            <a:ext cx="8540750" cy="647700"/>
          </a:xfrm>
        </p:spPr>
        <p:txBody>
          <a:bodyPr vert="horz" wrap="square" lIns="91440" tIns="45720" rIns="91440" bIns="45720" numCol="1" rtlCol="0" anchor="ctr" anchorCtr="0" compatLnSpc="1">
            <a:sp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rPr>
              <a:t>什么是</a:t>
            </a:r>
            <a:r>
              <a:rPr kumimoji="0" lang="en-US" altLang="zh-CN" sz="4000" b="1" i="0" u="none" strike="noStrike" kern="1200" cap="none" spc="0" normalizeH="0" baseline="0" noProof="0" dirty="0" err="1" smtClean="0">
                <a:ln>
                  <a:noFill/>
                </a:ln>
                <a:solidFill>
                  <a:schemeClr val="hlink"/>
                </a:solidFill>
                <a:effectLst/>
                <a:uLnTx/>
                <a:uFillTx/>
                <a:latin typeface="+mn-ea"/>
                <a:ea typeface="+mn-ea"/>
                <a:cs typeface="+mj-cs"/>
              </a:rPr>
              <a:t>verilog</a:t>
            </a:r>
            <a:r>
              <a:rPr kumimoji="0" lang="en-US" altLang="zh-CN" sz="4000" b="1" i="0" u="none" strike="noStrike" kern="1200" cap="none" spc="0" normalizeH="0" baseline="0" noProof="0" dirty="0" smtClean="0">
                <a:ln>
                  <a:noFill/>
                </a:ln>
                <a:solidFill>
                  <a:schemeClr val="hlink"/>
                </a:solidFill>
                <a:effectLst/>
                <a:uLnTx/>
                <a:uFillTx/>
                <a:latin typeface="+mn-ea"/>
                <a:ea typeface="+mn-ea"/>
                <a:cs typeface="+mj-cs"/>
              </a:rPr>
              <a:t> HDL</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rPr>
              <a:t>语言</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237571" name="Rectangle 3"/>
          <p:cNvSpPr>
            <a:spLocks noGrp="1" noRot="1" noChangeArrowheads="1"/>
          </p:cNvSpPr>
          <p:nvPr>
            <p:ph idx="1"/>
          </p:nvPr>
        </p:nvSpPr>
        <p:spPr>
          <a:xfrm>
            <a:off x="446088" y="1628775"/>
            <a:ext cx="8496300" cy="2032000"/>
          </a:xfrm>
          <a:solidFill>
            <a:schemeClr val="accent3">
              <a:lumMod val="20000"/>
              <a:lumOff val="80000"/>
            </a:schemeClr>
          </a:solidFill>
          <a:ln w="27305">
            <a:solidFill>
              <a:schemeClr val="folHlink"/>
            </a:solidFill>
            <a:miter lim="800000"/>
          </a:ln>
        </p:spPr>
        <p:txBody>
          <a:bodyPr vert="horz" wrap="square" lIns="91440" tIns="45720" rIns="91440" bIns="45720" numCol="1" rtlCol="0" anchor="t" anchorCtr="0" compatLnSpc="1">
            <a:spAutoFit/>
          </a:bodyPr>
          <a:lstStyle/>
          <a:p>
            <a:pPr marL="171450" marR="0" lvl="0" indent="-171450" algn="l" defTabSz="685800" rtl="0" eaLnBrk="1" fontAlgn="auto" latinLnBrk="0" hangingPunct="1">
              <a:lnSpc>
                <a:spcPct val="90000"/>
              </a:lnSpc>
              <a:spcBef>
                <a:spcPts val="750"/>
              </a:spcBef>
              <a:spcAft>
                <a:spcPts val="0"/>
              </a:spcAft>
              <a:buClr>
                <a:schemeClr val="tx1"/>
              </a:buClr>
              <a:buSzTx/>
              <a:buFont typeface="Wingdings" panose="05000000000000000000" pitchFamily="2" charset="2"/>
              <a:buNone/>
              <a:defRPr/>
            </a:pPr>
            <a:r>
              <a:rPr kumimoji="0" lang="en-US" altLang="zh-CN" sz="2800" b="1" i="1" u="none" strike="noStrike" kern="1200" cap="none" spc="0" normalizeH="0" baseline="0" noProof="0" dirty="0" smtClean="0">
                <a:ln>
                  <a:noFill/>
                </a:ln>
                <a:solidFill>
                  <a:srgbClr val="FF3300"/>
                </a:solidFill>
                <a:effectLst/>
                <a:uLnTx/>
                <a:uFillTx/>
                <a:latin typeface="Times New Roman" panose="02020603050405020304" pitchFamily="18" charset="0"/>
                <a:ea typeface="楷体_GB2312" pitchFamily="49" charset="-122"/>
                <a:cs typeface="+mn-cs"/>
              </a:rPr>
              <a:t>Verilog HDL</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是硬件描述语言的一种，用于数字电子系统设计。设计者可用它进行各种级别的逻辑设计，可用它进行数字逻辑系统的仿真验证、时序分析、逻辑综合。它是目前应用最广泛的一种硬件描述语言。</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43012"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3241" name="Rectangle 9"/>
          <p:cNvSpPr>
            <a:spLocks noChangeArrowheads="1"/>
          </p:cNvSpPr>
          <p:nvPr/>
        </p:nvSpPr>
        <p:spPr bwMode="auto">
          <a:xfrm>
            <a:off x="684213" y="333375"/>
            <a:ext cx="482282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rgbClr val="FF0000"/>
                </a:solidFill>
                <a:effectLst/>
                <a:uLnTx/>
                <a:uFillTx/>
                <a:latin typeface="+mn-ea"/>
                <a:ea typeface="+mn-ea"/>
                <a:cs typeface="+mn-cs"/>
              </a:rPr>
              <a:t>Verilog</a:t>
            </a:r>
            <a:r>
              <a:rPr kumimoji="0" lang="zh-CN" altLang="en-US" sz="3600" b="1" i="0" u="none" strike="noStrike" kern="1200" cap="none" spc="0" normalizeH="0" baseline="0" noProof="0" dirty="0">
                <a:ln>
                  <a:noFill/>
                </a:ln>
                <a:solidFill>
                  <a:srgbClr val="FF0000"/>
                </a:solidFill>
                <a:effectLst/>
                <a:uLnTx/>
                <a:uFillTx/>
                <a:latin typeface="+mn-ea"/>
                <a:ea typeface="+mn-ea"/>
                <a:cs typeface="+mn-cs"/>
              </a:rPr>
              <a:t>与</a:t>
            </a:r>
            <a:r>
              <a:rPr kumimoji="0" lang="en-US" altLang="zh-CN" sz="3600" b="1" i="0" u="none" strike="noStrike" kern="1200" cap="none" spc="0" normalizeH="0" baseline="0" noProof="0" dirty="0">
                <a:ln>
                  <a:noFill/>
                </a:ln>
                <a:solidFill>
                  <a:srgbClr val="FF0000"/>
                </a:solidFill>
                <a:effectLst/>
                <a:uLnTx/>
                <a:uFillTx/>
                <a:latin typeface="+mn-ea"/>
                <a:ea typeface="+mn-ea"/>
                <a:cs typeface="+mn-cs"/>
              </a:rPr>
              <a:t>C</a:t>
            </a:r>
            <a:r>
              <a:rPr kumimoji="0" lang="zh-CN" altLang="en-US" sz="3600" b="1" i="0" u="none" strike="noStrike" kern="1200" cap="none" spc="0" normalizeH="0" baseline="0" noProof="0" dirty="0">
                <a:ln>
                  <a:noFill/>
                </a:ln>
                <a:solidFill>
                  <a:srgbClr val="FF0000"/>
                </a:solidFill>
                <a:effectLst/>
                <a:uLnTx/>
                <a:uFillTx/>
                <a:latin typeface="+mn-ea"/>
                <a:ea typeface="+mn-ea"/>
                <a:cs typeface="+mn-cs"/>
              </a:rPr>
              <a:t>语言的比较</a:t>
            </a:r>
            <a:endParaRPr kumimoji="0" lang="zh-CN" altLang="en-US" sz="3600" b="1" i="0" u="none" strike="noStrike" kern="1200" cap="none" spc="0" normalizeH="0" baseline="0" noProof="0" dirty="0">
              <a:ln>
                <a:noFill/>
              </a:ln>
              <a:solidFill>
                <a:srgbClr val="FF0000"/>
              </a:solidFill>
              <a:effectLst/>
              <a:uLnTx/>
              <a:uFillTx/>
              <a:latin typeface="+mn-ea"/>
              <a:ea typeface="+mn-ea"/>
              <a:cs typeface="+mn-cs"/>
            </a:endParaRPr>
          </a:p>
        </p:txBody>
      </p:sp>
      <p:sp>
        <p:nvSpPr>
          <p:cNvPr id="223242" name="Text Box 10"/>
          <p:cNvSpPr txBox="1">
            <a:spLocks noChangeArrowheads="1"/>
          </p:cNvSpPr>
          <p:nvPr/>
        </p:nvSpPr>
        <p:spPr bwMode="auto">
          <a:xfrm>
            <a:off x="468313" y="1196975"/>
            <a:ext cx="8351838" cy="4892675"/>
          </a:xfrm>
          <a:prstGeom prst="rect">
            <a:avLst/>
          </a:prstGeom>
          <a:solidFill>
            <a:schemeClr val="bg1"/>
          </a:solidFill>
          <a:ln>
            <a:noFill/>
          </a:ln>
        </p:spPr>
        <p:txBody>
          <a:bodyPr>
            <a:spAutoFit/>
          </a:bodyPr>
          <a:lstStyle/>
          <a:p>
            <a:pPr marR="0" defTabSz="914400">
              <a:buClrTx/>
              <a:buSzTx/>
              <a:buFontTx/>
              <a:buNone/>
              <a:defRPr/>
            </a:pPr>
            <a:r>
              <a:rPr kumimoji="1" lang="zh-CN" altLang="en-US" sz="2400" b="1" kern="1200" cap="none" spc="0" normalizeH="0" baseline="0" noProof="0" dirty="0">
                <a:latin typeface="+mn-ea"/>
                <a:ea typeface="+mn-ea"/>
                <a:cs typeface="+mn-cs"/>
              </a:rPr>
              <a:t>（</a:t>
            </a:r>
            <a:r>
              <a:rPr kumimoji="1" lang="en-US" altLang="zh-CN" sz="2400" b="1" kern="1200" cap="none" spc="0" normalizeH="0" baseline="0" noProof="0" dirty="0">
                <a:latin typeface="+mn-ea"/>
                <a:ea typeface="+mn-ea"/>
                <a:cs typeface="+mn-cs"/>
              </a:rPr>
              <a:t>1</a:t>
            </a:r>
            <a:r>
              <a:rPr kumimoji="1" lang="zh-CN" altLang="en-US" sz="2400" b="1" kern="1200" cap="none" spc="0" normalizeH="0" baseline="0" noProof="0" dirty="0">
                <a:latin typeface="+mn-ea"/>
                <a:ea typeface="+mn-ea"/>
                <a:cs typeface="+mn-cs"/>
              </a:rPr>
              <a:t>）</a:t>
            </a:r>
            <a:r>
              <a:rPr kumimoji="1" lang="en-US" altLang="zh-CN" sz="2400" b="1" kern="1200" cap="none" spc="0" normalizeH="0" baseline="0" noProof="0" dirty="0">
                <a:latin typeface="+mn-ea"/>
                <a:ea typeface="+mn-ea"/>
                <a:cs typeface="+mn-cs"/>
              </a:rPr>
              <a:t>Verilog</a:t>
            </a:r>
            <a:r>
              <a:rPr kumimoji="1" lang="zh-CN" altLang="en-US" sz="2400" b="1" kern="1200" cap="none" spc="0" normalizeH="0" baseline="0" noProof="0" dirty="0">
                <a:latin typeface="+mn-ea"/>
                <a:ea typeface="+mn-ea"/>
                <a:cs typeface="+mn-cs"/>
              </a:rPr>
              <a:t>是一种硬件语言，最终是为了产生实际的硬件电路或对硬件电路进行仿真；而</a:t>
            </a:r>
            <a:r>
              <a:rPr kumimoji="1" lang="en-US" altLang="zh-CN" sz="2400" b="1" kern="1200" cap="none" spc="0" normalizeH="0" baseline="0" noProof="0" dirty="0">
                <a:latin typeface="+mn-ea"/>
                <a:ea typeface="+mn-ea"/>
                <a:cs typeface="+mn-cs"/>
              </a:rPr>
              <a:t>C</a:t>
            </a:r>
            <a:r>
              <a:rPr kumimoji="1" lang="zh-CN" altLang="en-US" sz="2400" b="1" kern="1200" cap="none" spc="0" normalizeH="0" baseline="0" noProof="0" dirty="0">
                <a:latin typeface="+mn-ea"/>
                <a:ea typeface="+mn-ea"/>
                <a:cs typeface="+mn-cs"/>
              </a:rPr>
              <a:t>语言是一种软件语言，是控制硬件来实现某些功能的语言。</a:t>
            </a:r>
            <a:endParaRPr kumimoji="1" lang="zh-CN" altLang="en-US" sz="2400" b="1" kern="1200" cap="none" spc="0" normalizeH="0" baseline="0" noProof="0" dirty="0">
              <a:latin typeface="+mn-ea"/>
              <a:ea typeface="+mn-ea"/>
              <a:cs typeface="+mn-cs"/>
            </a:endParaRPr>
          </a:p>
          <a:p>
            <a:pPr marR="0" defTabSz="914400">
              <a:buClrTx/>
              <a:buSzTx/>
              <a:buFontTx/>
              <a:buNone/>
              <a:defRPr/>
            </a:pPr>
            <a:endParaRPr kumimoji="1" lang="zh-CN" altLang="en-US" sz="2400" b="1" kern="1200" cap="none" spc="0" normalizeH="0" baseline="0" noProof="0" dirty="0">
              <a:latin typeface="+mn-ea"/>
              <a:ea typeface="+mn-ea"/>
              <a:cs typeface="+mn-cs"/>
            </a:endParaRPr>
          </a:p>
          <a:p>
            <a:pPr marR="0" defTabSz="914400">
              <a:buClrTx/>
              <a:buSzTx/>
              <a:buFontTx/>
              <a:buNone/>
              <a:defRPr/>
            </a:pPr>
            <a:r>
              <a:rPr kumimoji="1" lang="zh-CN" altLang="en-US" sz="2400" b="1" kern="1200" cap="none" spc="0" normalizeH="0" baseline="0" noProof="0" dirty="0">
                <a:latin typeface="+mn-ea"/>
                <a:ea typeface="+mn-ea"/>
                <a:cs typeface="+mn-cs"/>
              </a:rPr>
              <a:t>（</a:t>
            </a:r>
            <a:r>
              <a:rPr kumimoji="1" lang="en-US" altLang="zh-CN" sz="2400" b="1" kern="1200" cap="none" spc="0" normalizeH="0" baseline="0" noProof="0" dirty="0">
                <a:latin typeface="+mn-ea"/>
                <a:ea typeface="+mn-ea"/>
                <a:cs typeface="+mn-cs"/>
              </a:rPr>
              <a:t>2</a:t>
            </a:r>
            <a:r>
              <a:rPr kumimoji="1" lang="zh-CN" altLang="en-US" sz="2400" b="1" kern="1200" cap="none" spc="0" normalizeH="0" baseline="0" noProof="0" dirty="0">
                <a:latin typeface="+mn-ea"/>
                <a:ea typeface="+mn-ea"/>
                <a:cs typeface="+mn-cs"/>
              </a:rPr>
              <a:t>）</a:t>
            </a:r>
            <a:r>
              <a:rPr kumimoji="1" lang="en-US" altLang="zh-CN" sz="2400" b="1" kern="1200" cap="none" spc="0" normalizeH="0" baseline="0" noProof="0" dirty="0">
                <a:latin typeface="+mn-ea"/>
                <a:ea typeface="+mn-ea"/>
                <a:cs typeface="+mn-cs"/>
              </a:rPr>
              <a:t>C</a:t>
            </a:r>
            <a:r>
              <a:rPr kumimoji="1" lang="zh-CN" altLang="en-US" sz="2400" b="1" kern="1200" cap="none" spc="0" normalizeH="0" baseline="0" noProof="0" dirty="0">
                <a:latin typeface="+mn-ea"/>
                <a:ea typeface="+mn-ea"/>
                <a:cs typeface="+mn-cs"/>
              </a:rPr>
              <a:t>语言只要是语法正确，都可以编译执行；而</a:t>
            </a:r>
            <a:r>
              <a:rPr kumimoji="1" lang="en-US" altLang="zh-CN" sz="2400" b="1" kern="1200" cap="none" spc="0" normalizeH="0" baseline="0" noProof="0" dirty="0">
                <a:latin typeface="+mn-ea"/>
                <a:ea typeface="+mn-ea"/>
                <a:cs typeface="+mn-cs"/>
              </a:rPr>
              <a:t>Verilog</a:t>
            </a:r>
            <a:r>
              <a:rPr kumimoji="1" lang="zh-CN" altLang="en-US" sz="2400" b="1" kern="1200" cap="none" spc="0" normalizeH="0" baseline="0" noProof="0" dirty="0">
                <a:latin typeface="+mn-ea"/>
                <a:ea typeface="+mn-ea"/>
                <a:cs typeface="+mn-cs"/>
              </a:rPr>
              <a:t>语言有可综合的限制，即在所有的</a:t>
            </a:r>
            <a:r>
              <a:rPr kumimoji="1" lang="en-US" altLang="zh-CN" sz="2400" b="1" kern="1200" cap="none" spc="0" normalizeH="0" baseline="0" noProof="0" dirty="0">
                <a:latin typeface="+mn-ea"/>
                <a:ea typeface="+mn-ea"/>
                <a:cs typeface="+mn-cs"/>
              </a:rPr>
              <a:t>Verilog</a:t>
            </a:r>
            <a:r>
              <a:rPr kumimoji="1" lang="zh-CN" altLang="en-US" sz="2400" b="1" kern="1200" cap="none" spc="0" normalizeH="0" baseline="0" noProof="0" dirty="0">
                <a:latin typeface="+mn-ea"/>
                <a:ea typeface="+mn-ea"/>
                <a:cs typeface="+mn-cs"/>
              </a:rPr>
              <a:t>语句中，只有一部分可以被综合，而另外的部分则不能被综合，只能用来仿真。</a:t>
            </a:r>
            <a:endParaRPr kumimoji="1" lang="zh-CN" altLang="en-US" sz="2400" b="1" kern="1200" cap="none" spc="0" normalizeH="0" baseline="0" noProof="0" dirty="0">
              <a:latin typeface="+mn-ea"/>
              <a:ea typeface="+mn-ea"/>
              <a:cs typeface="+mn-cs"/>
            </a:endParaRPr>
          </a:p>
          <a:p>
            <a:pPr marR="0" defTabSz="914400">
              <a:buClrTx/>
              <a:buSzTx/>
              <a:buFontTx/>
              <a:buNone/>
              <a:defRPr/>
            </a:pPr>
            <a:endParaRPr kumimoji="1" lang="zh-CN" altLang="en-US" sz="2400" b="1" kern="1200" cap="none" spc="0" normalizeH="0" baseline="0" noProof="0" dirty="0">
              <a:latin typeface="+mn-ea"/>
              <a:ea typeface="+mn-ea"/>
              <a:cs typeface="+mn-cs"/>
            </a:endParaRPr>
          </a:p>
          <a:p>
            <a:pPr marR="0" defTabSz="914400">
              <a:buClrTx/>
              <a:buSzTx/>
              <a:buFontTx/>
              <a:buNone/>
              <a:defRPr/>
            </a:pPr>
            <a:r>
              <a:rPr kumimoji="1" lang="zh-CN" altLang="en-US" sz="2400" b="1" kern="1200" cap="none" spc="0" normalizeH="0" baseline="0" noProof="0" dirty="0">
                <a:latin typeface="+mn-ea"/>
                <a:ea typeface="+mn-ea"/>
                <a:cs typeface="+mn-cs"/>
              </a:rPr>
              <a:t>（</a:t>
            </a:r>
            <a:r>
              <a:rPr kumimoji="1" lang="en-US" altLang="zh-CN" sz="2400" b="1" kern="1200" cap="none" spc="0" normalizeH="0" baseline="0" noProof="0" dirty="0">
                <a:latin typeface="+mn-ea"/>
                <a:ea typeface="+mn-ea"/>
                <a:cs typeface="+mn-cs"/>
              </a:rPr>
              <a:t>3</a:t>
            </a:r>
            <a:r>
              <a:rPr kumimoji="1" lang="zh-CN" altLang="en-US" sz="2400" b="1" kern="1200" cap="none" spc="0" normalizeH="0" baseline="0" noProof="0" dirty="0">
                <a:latin typeface="+mn-ea"/>
                <a:ea typeface="+mn-ea"/>
                <a:cs typeface="+mn-cs"/>
              </a:rPr>
              <a:t>）</a:t>
            </a:r>
            <a:r>
              <a:rPr kumimoji="1" lang="en-US" altLang="zh-CN" sz="2400" b="1" kern="1200" cap="none" spc="0" normalizeH="0" baseline="0" noProof="0" dirty="0">
                <a:latin typeface="+mn-ea"/>
                <a:ea typeface="+mn-ea"/>
                <a:cs typeface="+mn-cs"/>
              </a:rPr>
              <a:t>C</a:t>
            </a:r>
            <a:r>
              <a:rPr kumimoji="1" lang="zh-CN" altLang="en-US" sz="2400" b="1" kern="1200" cap="none" spc="0" normalizeH="0" baseline="0" noProof="0" dirty="0">
                <a:latin typeface="+mn-ea"/>
                <a:ea typeface="+mn-ea"/>
                <a:cs typeface="+mn-cs"/>
              </a:rPr>
              <a:t>语言是一种软件编程语言，其基本思想是语句的循序执行；而</a:t>
            </a:r>
            <a:r>
              <a:rPr kumimoji="1" lang="en-US" altLang="zh-CN" sz="2400" b="1" kern="1200" cap="none" spc="0" normalizeH="0" baseline="0" noProof="0" dirty="0">
                <a:latin typeface="+mn-ea"/>
                <a:ea typeface="+mn-ea"/>
                <a:cs typeface="+mn-cs"/>
              </a:rPr>
              <a:t>Verilog</a:t>
            </a:r>
            <a:r>
              <a:rPr kumimoji="1" lang="zh-CN" altLang="en-US" sz="2400" b="1" kern="1200" cap="none" spc="0" normalizeH="0" baseline="0" noProof="0" dirty="0">
                <a:latin typeface="+mn-ea"/>
                <a:ea typeface="+mn-ea"/>
                <a:cs typeface="+mn-cs"/>
              </a:rPr>
              <a:t>语言的基本思想是模块的并行执行。</a:t>
            </a:r>
            <a:endParaRPr kumimoji="1" lang="zh-CN" altLang="en-US" sz="2400" b="1" kern="1200" cap="none" spc="0" normalizeH="0" baseline="0" noProof="0" dirty="0">
              <a:latin typeface="+mn-ea"/>
              <a:ea typeface="+mn-ea"/>
              <a:cs typeface="+mn-cs"/>
            </a:endParaRPr>
          </a:p>
          <a:p>
            <a:pPr marR="0" defTabSz="914400">
              <a:buClrTx/>
              <a:buSzTx/>
              <a:buFontTx/>
              <a:buNone/>
              <a:defRPr/>
            </a:pPr>
            <a:endParaRPr kumimoji="1" lang="zh-CN" altLang="en-US" sz="2400" b="1" kern="1200" cap="none" spc="0" normalizeH="0" baseline="0" noProof="0" dirty="0">
              <a:latin typeface="+mn-ea"/>
              <a:ea typeface="+mn-ea"/>
              <a:cs typeface="+mn-cs"/>
            </a:endParaRPr>
          </a:p>
          <a:p>
            <a:pPr marR="0" defTabSz="914400">
              <a:buClrTx/>
              <a:buSzTx/>
              <a:buFontTx/>
              <a:buNone/>
              <a:defRPr/>
            </a:pPr>
            <a:r>
              <a:rPr kumimoji="1" lang="zh-CN" altLang="en-US" sz="2400" b="1" kern="1200" cap="none" spc="0" normalizeH="0" baseline="0" noProof="0" dirty="0">
                <a:latin typeface="+mn-ea"/>
                <a:ea typeface="+mn-ea"/>
                <a:cs typeface="+mn-cs"/>
              </a:rPr>
              <a:t>（</a:t>
            </a:r>
            <a:r>
              <a:rPr kumimoji="1" lang="en-US" altLang="zh-CN" sz="2400" b="1" kern="1200" cap="none" spc="0" normalizeH="0" baseline="0" noProof="0" dirty="0">
                <a:latin typeface="+mn-ea"/>
                <a:ea typeface="+mn-ea"/>
                <a:cs typeface="+mn-cs"/>
              </a:rPr>
              <a:t>4</a:t>
            </a:r>
            <a:r>
              <a:rPr kumimoji="1" lang="zh-CN" altLang="en-US" sz="2400" b="1" kern="1200" cap="none" spc="0" normalizeH="0" baseline="0" noProof="0" dirty="0">
                <a:latin typeface="+mn-ea"/>
                <a:ea typeface="+mn-ea"/>
                <a:cs typeface="+mn-cs"/>
              </a:rPr>
              <a:t>）利用</a:t>
            </a:r>
            <a:r>
              <a:rPr kumimoji="1" lang="en-US" altLang="zh-CN" sz="2400" b="1" kern="1200" cap="none" spc="0" normalizeH="0" baseline="0" noProof="0" dirty="0">
                <a:latin typeface="+mn-ea"/>
                <a:ea typeface="+mn-ea"/>
                <a:cs typeface="+mn-cs"/>
              </a:rPr>
              <a:t>Verilog</a:t>
            </a:r>
            <a:r>
              <a:rPr kumimoji="1" lang="zh-CN" altLang="en-US" sz="2400" b="1" kern="1200" cap="none" spc="0" normalizeH="0" baseline="0" noProof="0" dirty="0">
                <a:latin typeface="+mn-ea"/>
                <a:ea typeface="+mn-ea"/>
                <a:cs typeface="+mn-cs"/>
              </a:rPr>
              <a:t>编程时，要时刻记得</a:t>
            </a:r>
            <a:r>
              <a:rPr kumimoji="1" lang="en-US" altLang="zh-CN" sz="2400" b="1" kern="1200" cap="none" spc="0" normalizeH="0" baseline="0" noProof="0" dirty="0">
                <a:latin typeface="+mn-ea"/>
                <a:ea typeface="+mn-ea"/>
                <a:cs typeface="+mn-cs"/>
              </a:rPr>
              <a:t>Verilog</a:t>
            </a:r>
            <a:r>
              <a:rPr kumimoji="1" lang="zh-CN" altLang="en-US" sz="2400" b="1" kern="1200" cap="none" spc="0" normalizeH="0" baseline="0" noProof="0" dirty="0">
                <a:latin typeface="+mn-ea"/>
                <a:ea typeface="+mn-ea"/>
                <a:cs typeface="+mn-cs"/>
              </a:rPr>
              <a:t>是硬件语言，要时刻将</a:t>
            </a:r>
            <a:r>
              <a:rPr kumimoji="1" lang="en-US" altLang="zh-CN" sz="2400" b="1" kern="1200" cap="none" spc="0" normalizeH="0" baseline="0" noProof="0" dirty="0">
                <a:latin typeface="+mn-ea"/>
                <a:ea typeface="+mn-ea"/>
                <a:cs typeface="+mn-cs"/>
              </a:rPr>
              <a:t>Verilog</a:t>
            </a:r>
            <a:r>
              <a:rPr kumimoji="1" lang="zh-CN" altLang="en-US" sz="2400" b="1" kern="1200" cap="none" spc="0" normalizeH="0" baseline="0" noProof="0" dirty="0">
                <a:latin typeface="+mn-ea"/>
                <a:ea typeface="+mn-ea"/>
                <a:cs typeface="+mn-cs"/>
              </a:rPr>
              <a:t>与硬件电路对应起来。</a:t>
            </a:r>
            <a:endParaRPr kumimoji="1" lang="zh-CN" altLang="en-US" sz="2400" b="1" kern="1200" cap="none" spc="0" normalizeH="0" baseline="0" noProof="0" dirty="0">
              <a:latin typeface="+mn-ea"/>
              <a:ea typeface="+mn-ea"/>
              <a:cs typeface="+mn-cs"/>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iterate type="lt">
                                    <p:tmPct val="100000"/>
                                  </p:iterate>
                                  <p:childTnLst>
                                    <p:set>
                                      <p:cBhvr>
                                        <p:cTn id="6" dur="1" fill="hold">
                                          <p:stCondLst>
                                            <p:cond delay="0"/>
                                          </p:stCondLst>
                                        </p:cTn>
                                        <p:tgtEl>
                                          <p:spTgt spid="223242"/>
                                        </p:tgtEl>
                                        <p:attrNameLst>
                                          <p:attrName>style.visibility</p:attrName>
                                        </p:attrNameLst>
                                      </p:cBhvr>
                                      <p:to>
                                        <p:strVal val="visible"/>
                                      </p:to>
                                    </p:set>
                                    <p:anim calcmode="lin" valueType="num">
                                      <p:cBhvr>
                                        <p:cTn id="7" dur="100" fill="hold"/>
                                        <p:tgtEl>
                                          <p:spTgt spid="223242"/>
                                        </p:tgtEl>
                                        <p:attrNameLst>
                                          <p:attrName>ppt_w</p:attrName>
                                        </p:attrNameLst>
                                      </p:cBhvr>
                                      <p:tavLst>
                                        <p:tav tm="0">
                                          <p:val>
                                            <p:strVal val="#ppt_w*0.70"/>
                                          </p:val>
                                        </p:tav>
                                        <p:tav tm="100000">
                                          <p:val>
                                            <p:strVal val="#ppt_w"/>
                                          </p:val>
                                        </p:tav>
                                      </p:tavLst>
                                    </p:anim>
                                    <p:anim calcmode="lin" valueType="num">
                                      <p:cBhvr>
                                        <p:cTn id="8" dur="100" fill="hold"/>
                                        <p:tgtEl>
                                          <p:spTgt spid="223242"/>
                                        </p:tgtEl>
                                        <p:attrNameLst>
                                          <p:attrName>ppt_h</p:attrName>
                                        </p:attrNameLst>
                                      </p:cBhvr>
                                      <p:tavLst>
                                        <p:tav tm="0">
                                          <p:val>
                                            <p:strVal val="#ppt_h"/>
                                          </p:val>
                                        </p:tav>
                                        <p:tav tm="100000">
                                          <p:val>
                                            <p:strVal val="#ppt_h"/>
                                          </p:val>
                                        </p:tav>
                                      </p:tavLst>
                                    </p:anim>
                                    <p:animEffect transition="in" filter="fade">
                                      <p:cBhvr>
                                        <p:cTn id="9" dur="100"/>
                                        <p:tgtEl>
                                          <p:spTgt spid="2232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42"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326" name="Group 46"/>
          <p:cNvGraphicFramePr>
            <a:graphicFrameLocks noGrp="1"/>
          </p:cNvGraphicFramePr>
          <p:nvPr/>
        </p:nvGraphicFramePr>
        <p:xfrm>
          <a:off x="2195513" y="1484313"/>
          <a:ext cx="6696075" cy="5175250"/>
        </p:xfrm>
        <a:graphic>
          <a:graphicData uri="http://schemas.openxmlformats.org/drawingml/2006/table">
            <a:tbl>
              <a:tblPr/>
              <a:tblGrid>
                <a:gridCol w="2611438"/>
                <a:gridCol w="4084637"/>
              </a:tblGrid>
              <a:tr h="67745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zh-CN" altLang="en-US" sz="20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语言</a:t>
                      </a:r>
                      <a:endParaRPr kumimoji="0" lang="zh-CN" altLang="en-US" sz="200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Verilog</a:t>
                      </a:r>
                      <a:r>
                        <a:rPr kumimoji="0" lang="zh-CN" altLang="en-US" sz="20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语言</a:t>
                      </a:r>
                      <a:endParaRPr kumimoji="0" lang="zh-CN" altLang="en-US" sz="2000" b="0"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46128">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sub-function</a:t>
                      </a:r>
                      <a:endPar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module, function, task</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81056">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if-then-else</a:t>
                      </a:r>
                      <a:endPar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if-then-else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46128">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Case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Case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46128">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begin, end</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46128">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For</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For</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46128">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While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While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46128">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Break</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Disable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47715">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Define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Define</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46128">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Int</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446128">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Printf</a:t>
                      </a:r>
                      <a:endParaRPr kumimoji="0" lang="en-US" altLang="zh-CN" sz="20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monitor, </a:t>
                      </a:r>
                      <a:r>
                        <a:rPr kumimoji="0" lang="en-US" altLang="zh-CN" sz="2000" b="0"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display,strobe</a:t>
                      </a:r>
                      <a:endParaRPr kumimoji="0" lang="en-US" altLang="zh-CN" sz="2000" b="0"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T="45724" marB="45724"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
        <p:nvSpPr>
          <p:cNvPr id="225327" name="Text Box 47"/>
          <p:cNvSpPr txBox="1">
            <a:spLocks noChangeArrowheads="1"/>
          </p:cNvSpPr>
          <p:nvPr/>
        </p:nvSpPr>
        <p:spPr bwMode="auto">
          <a:xfrm>
            <a:off x="611188" y="333375"/>
            <a:ext cx="8226425" cy="584200"/>
          </a:xfrm>
          <a:prstGeom prst="rect">
            <a:avLst/>
          </a:prstGeom>
          <a:noFill/>
          <a:ln w="38100">
            <a:solidFill>
              <a:schemeClr val="bg1"/>
            </a:solidFill>
            <a:miter lim="800000"/>
          </a:ln>
          <a:extLst>
            <a:ext uri="{909E8E84-426E-40DD-AFC4-6F175D3DCCD1}">
              <a14:hiddenFill xmlns:a14="http://schemas.microsoft.com/office/drawing/2010/main">
                <a:solidFill>
                  <a:schemeClr val="accent1"/>
                </a:solidFill>
              </a14:hiddenFill>
            </a:ext>
          </a:extLst>
        </p:spPr>
        <p:txBody>
          <a:bodyPr wrap="none">
            <a:spAutoFit/>
          </a:bodyPr>
          <a:lstStyle/>
          <a:p>
            <a:pPr marR="0" defTabSz="914400">
              <a:buClrTx/>
              <a:buSzTx/>
              <a:buFontTx/>
              <a:buNone/>
              <a:defRPr/>
            </a:pPr>
            <a:r>
              <a:rPr kumimoji="1" lang="zh-CN" altLang="en-US" sz="3200" b="1" kern="1200" cap="none" spc="0" normalizeH="0" baseline="0" noProof="0" dirty="0">
                <a:solidFill>
                  <a:srgbClr val="FF0000"/>
                </a:solidFill>
                <a:latin typeface="+mn-ea"/>
                <a:ea typeface="+mn-ea"/>
                <a:cs typeface="+mn-cs"/>
              </a:rPr>
              <a:t>常用的</a:t>
            </a:r>
            <a:r>
              <a:rPr kumimoji="1" lang="en-US" altLang="zh-CN" sz="3200" b="1" kern="1200" cap="none" spc="0" normalizeH="0" baseline="0" noProof="0" dirty="0">
                <a:solidFill>
                  <a:srgbClr val="FF0000"/>
                </a:solidFill>
                <a:latin typeface="+mn-ea"/>
                <a:ea typeface="+mn-ea"/>
                <a:cs typeface="+mn-cs"/>
              </a:rPr>
              <a:t>C</a:t>
            </a:r>
            <a:r>
              <a:rPr kumimoji="1" lang="zh-CN" altLang="en-US" sz="3200" b="1" kern="1200" cap="none" spc="0" normalizeH="0" baseline="0" noProof="0" dirty="0">
                <a:solidFill>
                  <a:srgbClr val="FF0000"/>
                </a:solidFill>
                <a:latin typeface="+mn-ea"/>
                <a:ea typeface="+mn-ea"/>
                <a:cs typeface="+mn-cs"/>
              </a:rPr>
              <a:t>语言与</a:t>
            </a:r>
            <a:r>
              <a:rPr kumimoji="1" lang="en-US" altLang="zh-CN" sz="3200" b="1" kern="1200" cap="none" spc="0" normalizeH="0" baseline="0" noProof="0" dirty="0">
                <a:solidFill>
                  <a:srgbClr val="FF0000"/>
                </a:solidFill>
                <a:latin typeface="+mn-ea"/>
                <a:ea typeface="+mn-ea"/>
                <a:cs typeface="+mn-cs"/>
              </a:rPr>
              <a:t>Verilog</a:t>
            </a:r>
            <a:r>
              <a:rPr kumimoji="1" lang="zh-CN" altLang="en-US" sz="3200" b="1" kern="1200" cap="none" spc="0" normalizeH="0" baseline="0" noProof="0" dirty="0">
                <a:solidFill>
                  <a:srgbClr val="FF0000"/>
                </a:solidFill>
                <a:latin typeface="+mn-ea"/>
                <a:ea typeface="+mn-ea"/>
                <a:cs typeface="+mn-cs"/>
              </a:rPr>
              <a:t>语言相对应的运算符 </a:t>
            </a:r>
            <a:endParaRPr kumimoji="1" lang="zh-CN" altLang="en-US" sz="3200" b="1" kern="1200" cap="none" spc="0" normalizeH="0" baseline="0" noProof="0" dirty="0">
              <a:solidFill>
                <a:srgbClr val="FF0000"/>
              </a:solidFill>
              <a:latin typeface="+mn-ea"/>
              <a:ea typeface="+mn-ea"/>
              <a:cs typeface="+mn-cs"/>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afterEffect">
                                  <p:stCondLst>
                                    <p:cond delay="0"/>
                                  </p:stCondLst>
                                  <p:childTnLst>
                                    <p:set>
                                      <p:cBhvr>
                                        <p:cTn id="6" dur="1" fill="hold">
                                          <p:stCondLst>
                                            <p:cond delay="0"/>
                                          </p:stCondLst>
                                        </p:cTn>
                                        <p:tgtEl>
                                          <p:spTgt spid="225326"/>
                                        </p:tgtEl>
                                        <p:attrNameLst>
                                          <p:attrName>style.visibility</p:attrName>
                                        </p:attrNameLst>
                                      </p:cBhvr>
                                      <p:to>
                                        <p:strVal val="visible"/>
                                      </p:to>
                                    </p:set>
                                    <p:animEffect transition="in" filter="diamond(in)">
                                      <p:cBhvr>
                                        <p:cTn id="7" dur="2000"/>
                                        <p:tgtEl>
                                          <p:spTgt spid="225326"/>
                                        </p:tgtEl>
                                      </p:cBhvr>
                                    </p:animEffect>
                                  </p:childTnLst>
                                </p:cTn>
                              </p:par>
                            </p:childTnLst>
                          </p:cTn>
                        </p:par>
                        <p:par>
                          <p:cTn id="8" fill="hold">
                            <p:stCondLst>
                              <p:cond delay="2000"/>
                            </p:stCondLst>
                            <p:childTnLst>
                              <p:par>
                                <p:cTn id="9" presetID="2" presetClass="entr" presetSubtype="8" fill="hold" grpId="0" nodeType="afterEffect">
                                  <p:stCondLst>
                                    <p:cond delay="0"/>
                                  </p:stCondLst>
                                  <p:childTnLst>
                                    <p:set>
                                      <p:cBhvr>
                                        <p:cTn id="10" dur="1" fill="hold">
                                          <p:stCondLst>
                                            <p:cond delay="0"/>
                                          </p:stCondLst>
                                        </p:cTn>
                                        <p:tgtEl>
                                          <p:spTgt spid="225327"/>
                                        </p:tgtEl>
                                        <p:attrNameLst>
                                          <p:attrName>style.visibility</p:attrName>
                                        </p:attrNameLst>
                                      </p:cBhvr>
                                      <p:to>
                                        <p:strVal val="visible"/>
                                      </p:to>
                                    </p:set>
                                    <p:anim calcmode="lin" valueType="num">
                                      <p:cBhvr additive="base">
                                        <p:cTn id="11" dur="500" fill="hold"/>
                                        <p:tgtEl>
                                          <p:spTgt spid="225327"/>
                                        </p:tgtEl>
                                        <p:attrNameLst>
                                          <p:attrName>ppt_x</p:attrName>
                                        </p:attrNameLst>
                                      </p:cBhvr>
                                      <p:tavLst>
                                        <p:tav tm="0">
                                          <p:val>
                                            <p:strVal val="0-#ppt_w/2"/>
                                          </p:val>
                                        </p:tav>
                                        <p:tav tm="100000">
                                          <p:val>
                                            <p:strVal val="#ppt_x"/>
                                          </p:val>
                                        </p:tav>
                                      </p:tavLst>
                                    </p:anim>
                                    <p:anim calcmode="lin" valueType="num">
                                      <p:cBhvr additive="base">
                                        <p:cTn id="12" dur="500" fill="hold"/>
                                        <p:tgtEl>
                                          <p:spTgt spid="22532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6414" name="Group 110"/>
          <p:cNvGraphicFramePr>
            <a:graphicFrameLocks noGrp="1"/>
          </p:cNvGraphicFramePr>
          <p:nvPr/>
        </p:nvGraphicFramePr>
        <p:xfrm>
          <a:off x="0" y="333375"/>
          <a:ext cx="9144000" cy="6443663"/>
        </p:xfrm>
        <a:graphic>
          <a:graphicData uri="http://schemas.openxmlformats.org/drawingml/2006/table">
            <a:tbl>
              <a:tblPr/>
              <a:tblGrid>
                <a:gridCol w="1997075"/>
                <a:gridCol w="2344738"/>
                <a:gridCol w="4802187"/>
              </a:tblGrid>
              <a:tr h="40835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zh-CN" altLang="en-US" sz="12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语言</a:t>
                      </a:r>
                      <a:endParaRPr kumimoji="0" lang="zh-CN" altLang="en-US" sz="12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Verilog</a:t>
                      </a:r>
                      <a:r>
                        <a:rPr kumimoji="0" lang="zh-CN" altLang="en-US" sz="1200" b="1" i="0" u="none" strike="noStrike" cap="none" normalizeH="0" baseline="0" dirty="0" smtClean="0">
                          <a:ln>
                            <a:noFill/>
                          </a:ln>
                          <a:solidFill>
                            <a:srgbClr val="FF0000"/>
                          </a:solidFill>
                          <a:effectLst/>
                          <a:latin typeface="Times New Roman" panose="02020603050405020304" pitchFamily="18" charset="0"/>
                          <a:ea typeface="宋体" panose="02010600030101010101" pitchFamily="2" charset="-122"/>
                          <a:cs typeface="Times New Roman" panose="02020603050405020304" pitchFamily="18" charset="0"/>
                        </a:rPr>
                        <a:t>语言</a:t>
                      </a:r>
                      <a:endParaRPr kumimoji="0" lang="zh-CN" altLang="en-US" sz="12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功  能</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乘</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除</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加</a:t>
                      </a:r>
                      <a:endParaRPr kumimoji="0" lang="zh-CN" altLang="en-US" sz="1200" b="1" i="0" u="none" strike="noStrike" cap="none" normalizeH="0" baseline="0" dirty="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减</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取模</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反逻辑</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&amp;&amp;</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&amp;&amp;</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逻辑且</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逻辑或</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大于</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&lt;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&lt;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小于</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anchor="ct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&gt;=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大于等于</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&lt;=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&lt;=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小于等于</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等于</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不等于</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位反相</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&amp;</a:t>
                      </a:r>
                      <a:endParaRPr kumimoji="0" lang="en-US" altLang="zh-CN" sz="1200" b="1" i="0" u="none" strike="noStrike" cap="none" normalizeH="0" baseline="0" dirty="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&amp;</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按位逻辑与</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dirty="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dirty="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按位逻辑或</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按位逻辑异或</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按位逻辑同或</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&gt;&gt;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&gt;&gt;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右移</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&lt;&lt;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&lt;&lt;</a:t>
                      </a:r>
                      <a:endParaRPr kumimoji="0" lang="en-US" altLang="zh-CN"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左移</a:t>
                      </a:r>
                      <a:endParaRPr kumimoji="0" lang="zh-CN" altLang="en-US" sz="1200" b="1" i="0" u="none" strike="noStrike" cap="none" normalizeH="0" baseline="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tr>
              <a:tr h="274332">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dirty="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en-US" altLang="zh-CN" sz="12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en-US" altLang="zh-CN" sz="1200" b="1" i="0" u="none" strike="noStrike" cap="none" normalizeH="0" baseline="0" dirty="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c>
                  <a:txBody>
                    <a:bodyPr/>
                    <a:lstStyle>
                      <a:lvl1pPr algn="l">
                        <a:defRPr sz="2800">
                          <a:solidFill>
                            <a:schemeClr val="tx1"/>
                          </a:solidFill>
                          <a:latin typeface="Arial" panose="020B0604020202020204" pitchFamily="34" charset="0"/>
                          <a:ea typeface="宋体" panose="02010600030101010101" pitchFamily="2" charset="-122"/>
                        </a:defRPr>
                      </a:lvl1pPr>
                      <a:lvl2pPr algn="l">
                        <a:buClr>
                          <a:schemeClr val="accent2"/>
                        </a:buClr>
                        <a:buSzPct val="85000"/>
                        <a:defRPr sz="2400">
                          <a:solidFill>
                            <a:schemeClr val="tx1"/>
                          </a:solidFill>
                          <a:latin typeface="Arial" panose="020B0604020202020204" pitchFamily="34" charset="0"/>
                          <a:ea typeface="宋体" panose="02010600030101010101" pitchFamily="2" charset="-122"/>
                        </a:defRPr>
                      </a:lvl2pPr>
                      <a:lvl3pPr algn="l">
                        <a:buSzPct val="85000"/>
                        <a:defRPr sz="2000">
                          <a:solidFill>
                            <a:schemeClr val="tx1"/>
                          </a:solidFill>
                          <a:latin typeface="Arial" panose="020B0604020202020204" pitchFamily="34" charset="0"/>
                          <a:ea typeface="宋体" panose="02010600030101010101" pitchFamily="2" charset="-122"/>
                        </a:defRPr>
                      </a:lvl3pPr>
                      <a:lvl4pPr algn="l">
                        <a:buClr>
                          <a:schemeClr val="accent2"/>
                        </a:buClr>
                        <a:buSzPct val="90000"/>
                        <a:defRPr>
                          <a:solidFill>
                            <a:schemeClr val="tx1"/>
                          </a:solidFill>
                          <a:latin typeface="Arial" panose="020B0604020202020204" pitchFamily="34" charset="0"/>
                          <a:ea typeface="宋体" panose="02010600030101010101" pitchFamily="2" charset="-122"/>
                        </a:defRPr>
                      </a:lvl4pPr>
                      <a:lvl5pPr algn="l">
                        <a:buSzPct val="85000"/>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
                          <a:schemeClr val="hlink"/>
                        </a:buClr>
                        <a:buSzPct val="75000"/>
                        <a:buFont typeface="Wingdings" panose="05000000000000000000" pitchFamily="2" charset="2"/>
                        <a:buNone/>
                      </a:pPr>
                      <a:r>
                        <a:rPr kumimoji="0" lang="zh-CN" altLang="en-US" sz="12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同等于</a:t>
                      </a:r>
                      <a:r>
                        <a:rPr kumimoji="0" lang="en-US" altLang="zh-CN" sz="12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if-else</a:t>
                      </a:r>
                      <a:r>
                        <a:rPr kumimoji="0" lang="zh-CN" altLang="en-US" sz="1200" b="1" i="0" u="none" strike="noStrike" cap="none" normalizeH="0" baseline="0" dirty="0" smtClean="0">
                          <a:ln>
                            <a:noFill/>
                          </a:ln>
                          <a:solidFill>
                            <a:schemeClr val="tx2"/>
                          </a:solidFill>
                          <a:effectLst/>
                          <a:latin typeface="Times New Roman" panose="02020603050405020304" pitchFamily="18" charset="0"/>
                          <a:ea typeface="宋体" panose="02010600030101010101" pitchFamily="2" charset="-122"/>
                          <a:cs typeface="Times New Roman" panose="02020603050405020304" pitchFamily="18" charset="0"/>
                        </a:rPr>
                        <a:t>敘述</a:t>
                      </a:r>
                      <a:endParaRPr kumimoji="0" lang="zh-CN" altLang="en-US" sz="1200" b="1" i="0" u="none" strike="noStrike" cap="none" normalizeH="0" baseline="0" dirty="0" smtClean="0">
                        <a:ln>
                          <a:noFill/>
                        </a:ln>
                        <a:solidFill>
                          <a:schemeClr val="tx2"/>
                        </a:solidFill>
                        <a:effectLst/>
                        <a:latin typeface="Arial" panose="020B0604020202020204" pitchFamily="34" charset="0"/>
                        <a:ea typeface="宋体" panose="02010600030101010101" pitchFamily="2" charset="-122"/>
                      </a:endParaRPr>
                    </a:p>
                  </a:txBody>
                  <a:tcPr marT="45715" marB="45715"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26414"/>
                                        </p:tgtEl>
                                        <p:attrNameLst>
                                          <p:attrName>style.visibility</p:attrName>
                                        </p:attrNameLst>
                                      </p:cBhvr>
                                      <p:to>
                                        <p:strVal val="visible"/>
                                      </p:to>
                                    </p:set>
                                    <p:animEffect transition="in" filter="diamond(in)">
                                      <p:cBhvr>
                                        <p:cTn id="7" dur="2000"/>
                                        <p:tgtEl>
                                          <p:spTgt spid="226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6850" name="Rectangle 2"/>
          <p:cNvSpPr>
            <a:spLocks noGrp="1" noRot="1" noChangeArrowheads="1"/>
          </p:cNvSpPr>
          <p:nvPr>
            <p:ph type="title"/>
          </p:nvPr>
        </p:nvSpPr>
        <p:spPr>
          <a:xfrm>
            <a:off x="631825" y="1484313"/>
            <a:ext cx="7920038" cy="4502150"/>
          </a:xfrm>
          <a:solidFill>
            <a:schemeClr val="accent6">
              <a:lumMod val="20000"/>
              <a:lumOff val="80000"/>
            </a:schemeClr>
          </a:solidFill>
          <a:ln w="28575">
            <a:solidFill>
              <a:srgbClr val="808080"/>
            </a:solidFill>
            <a:miter lim="800000"/>
          </a:ln>
        </p:spPr>
        <p:txBody>
          <a:bodyPr vert="horz" wrap="square" lIns="91440" tIns="45720" rIns="91440" bIns="45720" numCol="1" rtlCol="0" anchor="ctr" anchorCtr="0" compatLnSpc="1">
            <a:spAutoFit/>
          </a:bodyPr>
          <a:lstStyle/>
          <a:p>
            <a:pPr marL="0" marR="0" lvl="0" indent="0" algn="l" defTabSz="685800" rtl="0" eaLnBrk="1" fontAlgn="auto" latinLnBrk="0" hangingPunct="1">
              <a:lnSpc>
                <a:spcPct val="90000"/>
              </a:lnSpc>
              <a:spcBef>
                <a:spcPct val="0"/>
              </a:spcBef>
              <a:spcAft>
                <a:spcPts val="0"/>
              </a:spcAft>
              <a:buClr>
                <a:schemeClr val="tx1"/>
              </a:buClr>
              <a:buSzPct val="80000"/>
              <a:buFont typeface="Wingdings" panose="05000000000000000000" pitchFamily="2" charset="2"/>
              <a:buNone/>
              <a:defRPr/>
            </a:pP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1</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Verilog HDL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是在</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1983</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年由 </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GDA</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 (</a:t>
            </a:r>
            <a:r>
              <a:rPr kumimoji="0" lang="en-US" altLang="zh-CN" sz="2400" b="1" i="1" u="none" strike="noStrike" kern="1200" cap="none" spc="0" normalizeH="0" baseline="0" noProof="0" dirty="0" err="1" smtClean="0">
                <a:ln>
                  <a:noFill/>
                </a:ln>
                <a:solidFill>
                  <a:srgbClr val="000000"/>
                </a:solidFill>
                <a:effectLst/>
                <a:uLnTx/>
                <a:uFillTx/>
                <a:latin typeface="Times New Roman" panose="02020603050405020304" pitchFamily="18" charset="0"/>
                <a:ea typeface="楷体_GB2312" pitchFamily="49" charset="-122"/>
                <a:cs typeface="+mj-cs"/>
              </a:rPr>
              <a:t>GateWay</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 Design Automation)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公司的 </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Phil </a:t>
            </a:r>
            <a:r>
              <a:rPr kumimoji="0" lang="en-US" altLang="zh-CN" sz="2400" b="1" i="1" u="none" strike="noStrike" kern="1200" cap="none" spc="0" normalizeH="0" baseline="0" noProof="0" dirty="0" err="1" smtClean="0">
                <a:ln>
                  <a:noFill/>
                </a:ln>
                <a:solidFill>
                  <a:srgbClr val="000000"/>
                </a:solidFill>
                <a:effectLst/>
                <a:uLnTx/>
                <a:uFillTx/>
                <a:latin typeface="Times New Roman" panose="02020603050405020304" pitchFamily="18" charset="0"/>
                <a:ea typeface="楷体_GB2312" pitchFamily="49" charset="-122"/>
                <a:cs typeface="+mj-cs"/>
              </a:rPr>
              <a:t>Moorby</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所创。</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Phi </a:t>
            </a:r>
            <a:r>
              <a:rPr kumimoji="0" lang="en-US" altLang="zh-CN" sz="2400" b="1" i="1" u="none" strike="noStrike" kern="1200" cap="none" spc="0" normalizeH="0" baseline="0" noProof="0" dirty="0" err="1" smtClean="0">
                <a:ln>
                  <a:noFill/>
                </a:ln>
                <a:solidFill>
                  <a:srgbClr val="000000"/>
                </a:solidFill>
                <a:effectLst/>
                <a:uLnTx/>
                <a:uFillTx/>
                <a:latin typeface="Times New Roman" panose="02020603050405020304" pitchFamily="18" charset="0"/>
                <a:ea typeface="楷体_GB2312" pitchFamily="49" charset="-122"/>
                <a:cs typeface="+mj-cs"/>
              </a:rPr>
              <a:t>Moorby</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后来成为 </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Verilog-XL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的主要设计者和 </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Cadence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公司的第一个合伙人。</a:t>
            </a:r>
            <a:b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b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2</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、在</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1984~1985</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年间，</a:t>
            </a:r>
            <a:r>
              <a:rPr kumimoji="0" lang="en-US" altLang="zh-CN" sz="2400" b="1" i="1" u="none" strike="noStrike" kern="1200" cap="none" spc="0" normalizeH="0" baseline="0" noProof="0" dirty="0" err="1" smtClean="0">
                <a:ln>
                  <a:noFill/>
                </a:ln>
                <a:solidFill>
                  <a:srgbClr val="000000"/>
                </a:solidFill>
                <a:effectLst/>
                <a:uLnTx/>
                <a:uFillTx/>
                <a:latin typeface="Times New Roman" panose="02020603050405020304" pitchFamily="18" charset="0"/>
                <a:ea typeface="楷体_GB2312" pitchFamily="49" charset="-122"/>
                <a:cs typeface="+mj-cs"/>
              </a:rPr>
              <a:t>Moorby</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设计出了第一个 </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Verilog-XL</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的仿真器。</a:t>
            </a:r>
            <a:b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b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3</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1986</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年，</a:t>
            </a:r>
            <a:r>
              <a:rPr kumimoji="0" lang="en-US" altLang="zh-CN" sz="2400" b="1" i="1" u="none" strike="noStrike" kern="1200" cap="none" spc="0" normalizeH="0" baseline="0" noProof="0" dirty="0" err="1" smtClean="0">
                <a:ln>
                  <a:noFill/>
                </a:ln>
                <a:solidFill>
                  <a:srgbClr val="000000"/>
                </a:solidFill>
                <a:effectLst/>
                <a:uLnTx/>
                <a:uFillTx/>
                <a:latin typeface="Times New Roman" panose="02020603050405020304" pitchFamily="18" charset="0"/>
                <a:ea typeface="楷体_GB2312" pitchFamily="49" charset="-122"/>
                <a:cs typeface="+mj-cs"/>
              </a:rPr>
              <a:t>Moorby</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提出了用于快速门级仿真的</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XL</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算法。</a:t>
            </a:r>
            <a:b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b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4</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1990</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年，</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Cadence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公司收购了 </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GDA</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公司。</a:t>
            </a:r>
            <a:b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b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5</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1991</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年，</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Cadence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公司公开发表</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Verilog HDL</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语言，成立了</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OVI</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 (</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Open Verilog International</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组织来负责 </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Verilog HDL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语言的发展。</a:t>
            </a:r>
            <a:b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b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6</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1995</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年制定了</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Verilog HDL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的</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IEEE</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标准，即 </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IEEE1364</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a:t>
            </a:r>
            <a:endPar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endParaRPr>
          </a:p>
        </p:txBody>
      </p:sp>
      <p:sp>
        <p:nvSpPr>
          <p:cNvPr id="48131"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206853" name="Rectangle 5"/>
          <p:cNvSpPr>
            <a:spLocks noChangeArrowheads="1"/>
          </p:cNvSpPr>
          <p:nvPr/>
        </p:nvSpPr>
        <p:spPr bwMode="auto">
          <a:xfrm>
            <a:off x="468313" y="522288"/>
            <a:ext cx="6696075"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smtClean="0">
                <a:ln>
                  <a:noFill/>
                </a:ln>
                <a:solidFill>
                  <a:schemeClr val="hlink"/>
                </a:solidFill>
                <a:effectLst/>
                <a:uLnTx/>
                <a:uFillTx/>
                <a:latin typeface="+mn-ea"/>
                <a:ea typeface="+mn-ea"/>
                <a:cs typeface="+mn-cs"/>
              </a:rPr>
              <a:t>Verilog HDL </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n-cs"/>
              </a:rPr>
              <a:t>的起源与发展</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mn-cs"/>
            </a:endParaRPr>
          </a:p>
        </p:txBody>
      </p:sp>
    </p:spTree>
  </p:cSld>
  <p:clrMapOvr>
    <a:masterClrMapping/>
  </p:clrMapOvr>
  <p:transition spd="slow">
    <p:pull dir="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45415" name="Rectangle 7"/>
          <p:cNvSpPr>
            <a:spLocks noChangeArrowheads="1"/>
          </p:cNvSpPr>
          <p:nvPr/>
        </p:nvSpPr>
        <p:spPr bwMode="auto">
          <a:xfrm>
            <a:off x="468313" y="496888"/>
            <a:ext cx="7991475"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Verilog HDL</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设计复杂数字电路的优点</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endParaRPr>
          </a:p>
        </p:txBody>
      </p:sp>
      <p:sp>
        <p:nvSpPr>
          <p:cNvPr id="145418" name="Rectangle 10"/>
          <p:cNvSpPr>
            <a:spLocks noGrp="1" noChangeArrowheads="1"/>
          </p:cNvSpPr>
          <p:nvPr>
            <p:ph idx="1"/>
          </p:nvPr>
        </p:nvSpPr>
        <p:spPr>
          <a:xfrm>
            <a:off x="762000" y="1484313"/>
            <a:ext cx="8058150" cy="3451225"/>
          </a:xfrm>
          <a:solidFill>
            <a:schemeClr val="accent5">
              <a:lumMod val="20000"/>
              <a:lumOff val="80000"/>
            </a:schemeClr>
          </a:solidFill>
          <a:ln w="28575">
            <a:solidFill>
              <a:srgbClr val="808080"/>
            </a:solidFill>
            <a:miter lim="800000"/>
          </a:ln>
        </p:spPr>
        <p:txBody>
          <a:bodyPr vert="horz" wrap="square" lIns="91440" tIns="45720" rIns="91440" bIns="45720" numCol="1" rtlCol="0" anchor="t" anchorCtr="0" compatLnSpc="1">
            <a:sp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zh-CN" sz="2800" b="1" i="1"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Verilog HDL </a:t>
            </a:r>
            <a:r>
              <a:rPr kumimoji="0" lang="zh-CN" altLang="en-US"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设计法</a:t>
            </a:r>
            <a:endParaRPr kumimoji="0" lang="zh-CN" altLang="en-US"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采用</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Verilog HDL</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设计电路的逻辑功能容易理解；</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把逻辑设计与具体电路的实现分成两个独立的阶段来操作；</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逻辑设计与实现的工艺无关；</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逻辑设计的资源积累可以重复利用；</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可以由多人共同更好更快地设计非常复杂的逻辑电路（几十万门以上的逻辑系统）。</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spd="slow">
    <p:pull dir="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4500" name="Rectangle 4"/>
          <p:cNvSpPr>
            <a:spLocks noGrp="1" noChangeArrowheads="1"/>
          </p:cNvSpPr>
          <p:nvPr>
            <p:ph idx="1"/>
          </p:nvPr>
        </p:nvSpPr>
        <p:spPr>
          <a:xfrm>
            <a:off x="763588" y="1628775"/>
            <a:ext cx="7696200" cy="2185988"/>
          </a:xfrm>
          <a:solidFill>
            <a:schemeClr val="accent5">
              <a:lumMod val="20000"/>
              <a:lumOff val="80000"/>
            </a:schemeClr>
          </a:solidFill>
          <a:ln w="31750">
            <a:solidFill>
              <a:srgbClr val="808080"/>
            </a:solidFill>
            <a:miter lim="800000"/>
          </a:ln>
        </p:spPr>
        <p:txBody>
          <a:bodyPr vert="horz" wrap="square" lIns="91440" tIns="45720" rIns="91440" bIns="45720" numCol="1" rtlCol="0" anchor="t" anchorCtr="0" compatLnSpc="1">
            <a:spAutoFit/>
          </a:bodyPr>
          <a:lstStyle/>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楷体_GB2312" pitchFamily="49" charset="-122"/>
                <a:ea typeface="楷体_GB2312" pitchFamily="49" charset="-122"/>
                <a:cs typeface="+mn-cs"/>
              </a:rPr>
              <a:t>硬件描述语自身就是设计规格书。</a:t>
            </a:r>
            <a:endParaRPr kumimoji="0" lang="zh-CN" altLang="en-US" sz="2800" b="1" i="0" u="none" strike="noStrike" kern="120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楷体_GB2312" pitchFamily="49" charset="-122"/>
                <a:ea typeface="楷体_GB2312" pitchFamily="49" charset="-122"/>
                <a:cs typeface="+mn-cs"/>
              </a:rPr>
              <a:t>可以在设计初期发现错误。</a:t>
            </a:r>
            <a:endParaRPr kumimoji="0" lang="zh-CN" altLang="en-US" sz="2800" b="1" i="0" u="none" strike="noStrike" kern="120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楷体_GB2312" pitchFamily="49" charset="-122"/>
                <a:ea typeface="楷体_GB2312" pitchFamily="49" charset="-122"/>
                <a:cs typeface="+mn-cs"/>
              </a:rPr>
              <a:t>可以进行仿真。而且，仿真可以在电路系统不同的层次进行。</a:t>
            </a:r>
            <a:endParaRPr kumimoji="0" lang="zh-CN" altLang="en-US" sz="2800" b="1" i="0" u="none" strike="noStrike" kern="120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楷体_GB2312" pitchFamily="49" charset="-122"/>
                <a:ea typeface="楷体_GB2312" pitchFamily="49" charset="-122"/>
                <a:cs typeface="+mn-cs"/>
              </a:rPr>
              <a:t>设计的文档化。</a:t>
            </a:r>
            <a:endParaRPr kumimoji="0" lang="zh-CN" altLang="en-US" sz="2800" b="1" i="0" u="none" strike="noStrike" kern="1200" cap="none" spc="0" normalizeH="0" baseline="0" noProof="0" dirty="0" smtClean="0">
              <a:ln>
                <a:noFill/>
              </a:ln>
              <a:solidFill>
                <a:srgbClr val="000000"/>
              </a:solidFill>
              <a:effectLst/>
              <a:uLnTx/>
              <a:uFillTx/>
              <a:latin typeface="楷体_GB2312" pitchFamily="49" charset="-122"/>
              <a:ea typeface="楷体_GB2312" pitchFamily="49" charset="-122"/>
              <a:cs typeface="+mn-cs"/>
            </a:endParaRPr>
          </a:p>
        </p:txBody>
      </p:sp>
      <p:sp>
        <p:nvSpPr>
          <p:cNvPr id="234502" name="AutoShape 6"/>
          <p:cNvSpPr>
            <a:spLocks noChangeArrowheads="1"/>
          </p:cNvSpPr>
          <p:nvPr/>
        </p:nvSpPr>
        <p:spPr bwMode="auto">
          <a:xfrm>
            <a:off x="1331913" y="4868863"/>
            <a:ext cx="6330950" cy="825500"/>
          </a:xfrm>
          <a:prstGeom prst="bevel">
            <a:avLst>
              <a:gd name="adj" fmla="val 12500"/>
            </a:avLst>
          </a:prstGeom>
          <a:solidFill>
            <a:schemeClr val="tx2">
              <a:alpha val="52000"/>
            </a:schemeClr>
          </a:solidFill>
          <a:ln>
            <a:noFill/>
          </a:ln>
          <a:effectLst/>
          <a:extLs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zh-CN" altLang="en-US" sz="3600" b="1" i="0" u="none" strike="noStrike" kern="1200" cap="none" spc="0" normalizeH="0" baseline="0" noProof="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rPr>
              <a:t>可以大大提高硬件的生产效率</a:t>
            </a:r>
            <a:endParaRPr kumimoji="1" lang="zh-CN" altLang="en-US" sz="3600" b="1" i="0" u="none" strike="noStrike" kern="1200" cap="none" spc="0" normalizeH="0" baseline="0" noProof="0">
              <a:ln>
                <a:noFill/>
              </a:ln>
              <a:solidFill>
                <a:schemeClr val="bg1"/>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endParaRPr>
          </a:p>
        </p:txBody>
      </p:sp>
      <p:sp>
        <p:nvSpPr>
          <p:cNvPr id="234503" name="Rectangle 7"/>
          <p:cNvSpPr>
            <a:spLocks noChangeArrowheads="1"/>
          </p:cNvSpPr>
          <p:nvPr/>
        </p:nvSpPr>
        <p:spPr bwMode="auto">
          <a:xfrm>
            <a:off x="468313" y="501650"/>
            <a:ext cx="79914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Verilog HDL</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设计复杂数字电路的优点</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endParaRPr>
          </a:p>
        </p:txBody>
      </p:sp>
      <p:sp>
        <p:nvSpPr>
          <p:cNvPr id="50181" name="Line 8"/>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23" name="Rectangle 3"/>
          <p:cNvSpPr>
            <a:spLocks noGrp="1" noRot="1" noChangeArrowheads="1"/>
          </p:cNvSpPr>
          <p:nvPr>
            <p:ph idx="1"/>
          </p:nvPr>
        </p:nvSpPr>
        <p:spPr>
          <a:xfrm>
            <a:off x="304800" y="1773238"/>
            <a:ext cx="8540750" cy="3886200"/>
          </a:xfrm>
          <a:solidFill>
            <a:schemeClr val="accent5">
              <a:lumMod val="20000"/>
              <a:lumOff val="80000"/>
            </a:schemeClr>
          </a:solidFill>
          <a:ln w="31750">
            <a:solidFill>
              <a:srgbClr val="666699"/>
            </a:solidFill>
            <a:miter lim="800000"/>
          </a:ln>
        </p:spPr>
        <p:txBody>
          <a:bodyPr vert="horz" wrap="square" lIns="91440" tIns="45720" rIns="91440" bIns="45720" numCol="1" rtlCol="0" anchor="t" anchorCtr="0" compatLnSpc="1">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HDL </a:t>
            </a:r>
            <a:r>
              <a:rPr kumimoji="0" lang="zh-CN" altLang="en-US" sz="2800" b="1" i="0" u="none" strike="noStrike" kern="1200" cap="none" spc="0" normalizeH="0" baseline="0" noProof="0" dirty="0" smtClean="0">
                <a:ln>
                  <a:noFill/>
                </a:ln>
                <a:solidFill>
                  <a:srgbClr val="FF3300"/>
                </a:solidFill>
                <a:effectLst/>
                <a:uLnTx/>
                <a:uFillTx/>
                <a:latin typeface="Times New Roman" panose="02020603050405020304" pitchFamily="18" charset="0"/>
                <a:ea typeface="楷体_GB2312" pitchFamily="49" charset="-122"/>
                <a:cs typeface="+mn-cs"/>
              </a:rPr>
              <a:t>软核、固核和硬核</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的重用</a:t>
            </a:r>
            <a:r>
              <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t>
            </a:r>
            <a:endParaRPr kumimoji="0" lang="en-US" altLang="zh-CN"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FD3A35"/>
                </a:solidFill>
                <a:effectLst/>
                <a:uLnTx/>
                <a:uFillTx/>
                <a:latin typeface="Times New Roman" panose="02020603050405020304" pitchFamily="18" charset="0"/>
                <a:ea typeface="楷体_GB2312" pitchFamily="49" charset="-122"/>
                <a:cs typeface="+mn-cs"/>
              </a:rPr>
              <a:t>软核</a:t>
            </a:r>
            <a:r>
              <a:rPr kumimoji="0" lang="zh-CN" altLang="en-US" sz="2800" b="1" i="0" u="none" strike="noStrike" kern="1200" cap="none" spc="0" normalizeH="0" baseline="0" noProof="0" dirty="0" smtClean="0">
                <a:ln>
                  <a:noFill/>
                </a:ln>
                <a:solidFill>
                  <a:srgbClr val="FF3300"/>
                </a:solidFill>
                <a:effectLst/>
                <a:uLnTx/>
                <a:uFillTx/>
                <a:latin typeface="Times New Roman" panose="02020603050405020304" pitchFamily="18" charset="0"/>
                <a:ea typeface="楷体_GB2312" pitchFamily="49" charset="-122"/>
                <a:cs typeface="+mn-cs"/>
              </a:rPr>
              <a:t>：</a:t>
            </a:r>
            <a:r>
              <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把功能经过验证的、可综合的、实现后电路结构总门数在</a:t>
            </a:r>
            <a:r>
              <a:rPr kumimoji="0"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5000</a:t>
            </a:r>
            <a:r>
              <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门以上的</a:t>
            </a:r>
            <a:r>
              <a:rPr kumimoji="0" lang="en-US" altLang="zh-CN" sz="2800" b="1" i="1" u="none" strike="noStrike" kern="1200" cap="none" spc="0" normalizeH="0" baseline="0" noProof="0" dirty="0" smtClean="0">
                <a:ln>
                  <a:noFill/>
                </a:ln>
                <a:solidFill>
                  <a:srgbClr val="FD3A35"/>
                </a:solidFill>
                <a:effectLst/>
                <a:uLnTx/>
                <a:uFillTx/>
                <a:latin typeface="Times New Roman" panose="02020603050405020304" pitchFamily="18" charset="0"/>
                <a:ea typeface="楷体_GB2312" pitchFamily="49" charset="-122"/>
                <a:cs typeface="+mn-cs"/>
              </a:rPr>
              <a:t>Verilog HDL</a:t>
            </a:r>
            <a:r>
              <a:rPr kumimoji="0" lang="zh-CN" altLang="en-US" sz="2800" b="1" i="0" u="none" strike="noStrike" kern="1200" cap="none" spc="0" normalizeH="0" baseline="0" noProof="0" dirty="0" smtClean="0">
                <a:ln>
                  <a:noFill/>
                </a:ln>
                <a:solidFill>
                  <a:srgbClr val="FD3A35"/>
                </a:solidFill>
                <a:effectLst/>
                <a:uLnTx/>
                <a:uFillTx/>
                <a:latin typeface="Times New Roman" panose="02020603050405020304" pitchFamily="18" charset="0"/>
                <a:ea typeface="楷体_GB2312" pitchFamily="49" charset="-122"/>
                <a:cs typeface="+mn-cs"/>
              </a:rPr>
              <a:t>模型</a:t>
            </a:r>
            <a:r>
              <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称之为“软核”</a:t>
            </a:r>
            <a:r>
              <a:rPr kumimoji="0"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(Soft Core)</a:t>
            </a:r>
            <a:r>
              <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。把由软核构成的器件称为虚拟器件。软核和虚拟器件的重用性就可大大缩短设计周期，加快复杂电路的设计。</a:t>
            </a:r>
            <a:endPar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FD3A35"/>
                </a:solidFill>
                <a:effectLst/>
                <a:uLnTx/>
                <a:uFillTx/>
                <a:latin typeface="Times New Roman" panose="02020603050405020304" pitchFamily="18" charset="0"/>
                <a:ea typeface="楷体_GB2312" pitchFamily="49" charset="-122"/>
                <a:cs typeface="+mn-cs"/>
              </a:rPr>
              <a:t>固核</a:t>
            </a:r>
            <a:r>
              <a:rPr kumimoji="0" lang="zh-CN" altLang="en-US" sz="2800" b="1" i="0" u="none" strike="noStrike" kern="1200" cap="none" spc="0" normalizeH="0" baseline="0" noProof="0" dirty="0" smtClean="0">
                <a:ln>
                  <a:noFill/>
                </a:ln>
                <a:solidFill>
                  <a:srgbClr val="FF3300"/>
                </a:solidFill>
                <a:effectLst/>
                <a:uLnTx/>
                <a:uFillTx/>
                <a:latin typeface="Times New Roman" panose="02020603050405020304" pitchFamily="18" charset="0"/>
                <a:ea typeface="楷体_GB2312" pitchFamily="49" charset="-122"/>
                <a:cs typeface="+mn-cs"/>
              </a:rPr>
              <a:t>：</a:t>
            </a:r>
            <a:r>
              <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把在某一种</a:t>
            </a:r>
            <a:r>
              <a:rPr kumimoji="0" lang="en-US" altLang="zh-CN" sz="2800" b="1" i="1" u="none" strike="noStrike" kern="1200" cap="none" spc="0" normalizeH="0" baseline="0" noProof="0" dirty="0" smtClean="0">
                <a:ln>
                  <a:noFill/>
                </a:ln>
                <a:solidFill>
                  <a:srgbClr val="FD3A35"/>
                </a:solidFill>
                <a:effectLst/>
                <a:uLnTx/>
                <a:uFillTx/>
                <a:latin typeface="Times New Roman" panose="02020603050405020304" pitchFamily="18" charset="0"/>
                <a:ea typeface="楷体_GB2312" pitchFamily="49" charset="-122"/>
                <a:cs typeface="+mn-cs"/>
              </a:rPr>
              <a:t>FPGA</a:t>
            </a:r>
            <a:r>
              <a:rPr kumimoji="0" lang="zh-CN" altLang="en-US" sz="2800" b="1" i="0" u="none" strike="noStrike" kern="1200" cap="none" spc="0" normalizeH="0" baseline="0" noProof="0" dirty="0" smtClean="0">
                <a:ln>
                  <a:noFill/>
                </a:ln>
                <a:solidFill>
                  <a:srgbClr val="FD3A35"/>
                </a:solidFill>
                <a:effectLst/>
                <a:uLnTx/>
                <a:uFillTx/>
                <a:latin typeface="Times New Roman" panose="02020603050405020304" pitchFamily="18" charset="0"/>
                <a:ea typeface="楷体_GB2312" pitchFamily="49" charset="-122"/>
                <a:cs typeface="+mn-cs"/>
              </a:rPr>
              <a:t>器件上实现的</a:t>
            </a:r>
            <a:r>
              <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，经验证是正确的，总门数在</a:t>
            </a:r>
            <a:r>
              <a:rPr kumimoji="0" lang="en-US" altLang="zh-CN"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5000</a:t>
            </a:r>
            <a:r>
              <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门以上</a:t>
            </a:r>
            <a:r>
              <a:rPr kumimoji="0" lang="zh-CN" altLang="en-US" sz="2800" b="1" i="0" u="none" strike="noStrike" kern="1200" cap="none" spc="0" normalizeH="0" baseline="0" noProof="0" dirty="0" smtClean="0">
                <a:ln>
                  <a:noFill/>
                </a:ln>
                <a:solidFill>
                  <a:srgbClr val="FD3A35"/>
                </a:solidFill>
                <a:effectLst/>
                <a:uLnTx/>
                <a:uFillTx/>
                <a:latin typeface="Times New Roman" panose="02020603050405020304" pitchFamily="18" charset="0"/>
                <a:ea typeface="楷体_GB2312" pitchFamily="49" charset="-122"/>
                <a:cs typeface="+mn-cs"/>
              </a:rPr>
              <a:t>电路结构编码文件</a:t>
            </a:r>
            <a:r>
              <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rPr>
              <a:t>，称为“固核”。</a:t>
            </a:r>
            <a:endPar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n-cs"/>
            </a:endParaRPr>
          </a:p>
        </p:txBody>
      </p:sp>
      <p:sp>
        <p:nvSpPr>
          <p:cNvPr id="235524" name="Rectangle 4"/>
          <p:cNvSpPr>
            <a:spLocks noChangeArrowheads="1"/>
          </p:cNvSpPr>
          <p:nvPr/>
        </p:nvSpPr>
        <p:spPr bwMode="auto">
          <a:xfrm>
            <a:off x="468313" y="484188"/>
            <a:ext cx="799147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HDL</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设计复杂数字电路的优点</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endParaRPr>
          </a:p>
        </p:txBody>
      </p:sp>
      <p:sp>
        <p:nvSpPr>
          <p:cNvPr id="51204" name="Line 5"/>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6547" name="Rectangle 3"/>
          <p:cNvSpPr>
            <a:spLocks noGrp="1" noRot="1" noChangeArrowheads="1"/>
          </p:cNvSpPr>
          <p:nvPr>
            <p:ph idx="1"/>
          </p:nvPr>
        </p:nvSpPr>
        <p:spPr>
          <a:xfrm>
            <a:off x="611188" y="1628775"/>
            <a:ext cx="8066088" cy="1422400"/>
          </a:xfrm>
          <a:solidFill>
            <a:schemeClr val="accent5">
              <a:lumMod val="20000"/>
              <a:lumOff val="80000"/>
            </a:schemeClr>
          </a:solidFill>
          <a:ln w="31750">
            <a:solidFill>
              <a:srgbClr val="808080"/>
            </a:solidFill>
            <a:miter lim="800000"/>
          </a:ln>
        </p:spPr>
        <p:txBody>
          <a:bodyPr vert="horz" wrap="square" lIns="91440" tIns="45720" rIns="91440" bIns="45720" numCol="1" rtlCol="0" anchor="t" anchorCtr="0" compatLnSpc="1">
            <a:spAutoFit/>
          </a:bodyPr>
          <a:lstStyle/>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3200" b="1" i="0" u="none" strike="noStrike" kern="1200" cap="none" spc="0" normalizeH="0" baseline="0" noProof="0" smtClean="0">
                <a:ln>
                  <a:noFill/>
                </a:ln>
                <a:solidFill>
                  <a:srgbClr val="FF3300"/>
                </a:solidFill>
                <a:effectLst/>
                <a:uLnTx/>
                <a:uFillTx/>
                <a:latin typeface="Times New Roman" panose="02020603050405020304" pitchFamily="18" charset="0"/>
                <a:ea typeface="楷体_GB2312" pitchFamily="49" charset="-122"/>
                <a:cs typeface="+mn-cs"/>
              </a:rPr>
              <a:t>硬核：</a:t>
            </a:r>
            <a:r>
              <a:rPr kumimoji="0"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把在某一种</a:t>
            </a:r>
            <a:r>
              <a:rPr kumimoji="0"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ASIC</a:t>
            </a:r>
            <a:r>
              <a:rPr kumimoji="0"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器件上实现的，经验证是正确的，总门数在</a:t>
            </a:r>
            <a:r>
              <a:rPr kumimoji="0" lang="en-US" altLang="zh-CN" sz="32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5000</a:t>
            </a:r>
            <a:r>
              <a:rPr kumimoji="0"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门以上的电路结构掩膜，称为“硬核”。</a:t>
            </a:r>
            <a:endParaRPr kumimoji="0" lang="zh-CN" altLang="en-US" sz="32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236548" name="Rectangle 4"/>
          <p:cNvSpPr>
            <a:spLocks noChangeArrowheads="1"/>
          </p:cNvSpPr>
          <p:nvPr/>
        </p:nvSpPr>
        <p:spPr bwMode="auto">
          <a:xfrm>
            <a:off x="468313" y="546100"/>
            <a:ext cx="83502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HDL</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软核、固核和硬核的重用</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endParaRPr>
          </a:p>
        </p:txBody>
      </p:sp>
      <p:sp>
        <p:nvSpPr>
          <p:cNvPr id="53252" name="Line 5"/>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53253" name="Rectangle 6"/>
          <p:cNvSpPr/>
          <p:nvPr/>
        </p:nvSpPr>
        <p:spPr>
          <a:xfrm>
            <a:off x="611188" y="3500438"/>
            <a:ext cx="8064500" cy="1584325"/>
          </a:xfrm>
          <a:prstGeom prst="rect">
            <a:avLst/>
          </a:prstGeom>
          <a:solidFill>
            <a:srgbClr val="FFCC00"/>
          </a:solidFill>
          <a:ln w="31750" cap="flat" cmpd="sng">
            <a:solidFill>
              <a:schemeClr val="tx1"/>
            </a:solidFill>
            <a:prstDash val="solid"/>
            <a:miter/>
            <a:headEnd type="none" w="med" len="med"/>
            <a:tailEnd type="none" w="med" len="med"/>
          </a:ln>
        </p:spPr>
        <p:txBody>
          <a:bodyPr>
            <a:spAutoFit/>
          </a:bodyPr>
          <a:p>
            <a:pPr lvl="1" eaLnBrk="1" hangingPunct="1">
              <a:spcBef>
                <a:spcPct val="20000"/>
              </a:spcBef>
              <a:buClr>
                <a:schemeClr val="accent2"/>
              </a:buClr>
              <a:buSzPct val="85000"/>
              <a:buFont typeface="Wingdings" panose="05000000000000000000" pitchFamily="2" charset="2"/>
            </a:pPr>
            <a:r>
              <a:rPr lang="en-US" altLang="zh-CN" sz="2400" b="1" dirty="0">
                <a:solidFill>
                  <a:srgbClr val="000000"/>
                </a:solidFill>
                <a:latin typeface="Times New Roman" panose="02020603050405020304" pitchFamily="18" charset="0"/>
                <a:ea typeface="楷体_GB2312" pitchFamily="49" charset="-122"/>
              </a:rPr>
              <a:t>	</a:t>
            </a:r>
            <a:r>
              <a:rPr lang="zh-CN" altLang="en-US" sz="2400" b="1" dirty="0">
                <a:solidFill>
                  <a:srgbClr val="000000"/>
                </a:solidFill>
                <a:latin typeface="Times New Roman" panose="02020603050405020304" pitchFamily="18" charset="0"/>
                <a:ea typeface="楷体_GB2312" pitchFamily="49" charset="-122"/>
              </a:rPr>
              <a:t>在逻辑设计阶段，软核具有最大的灵活性，它可以很容易地借助</a:t>
            </a:r>
            <a:r>
              <a:rPr lang="en-US" altLang="zh-CN" sz="2400" b="1" i="1" dirty="0">
                <a:solidFill>
                  <a:srgbClr val="000000"/>
                </a:solidFill>
                <a:latin typeface="Times New Roman" panose="02020603050405020304" pitchFamily="18" charset="0"/>
                <a:ea typeface="楷体_GB2312" pitchFamily="49" charset="-122"/>
              </a:rPr>
              <a:t>EDA</a:t>
            </a:r>
            <a:r>
              <a:rPr lang="zh-CN" altLang="en-US" sz="2400" b="1" dirty="0">
                <a:solidFill>
                  <a:srgbClr val="000000"/>
                </a:solidFill>
                <a:latin typeface="Times New Roman" panose="02020603050405020304" pitchFamily="18" charset="0"/>
                <a:ea typeface="楷体_GB2312" pitchFamily="49" charset="-122"/>
              </a:rPr>
              <a:t>综合工具与其它外部逻辑结合为一体。相比之下固核和硬核与其它外部逻辑结合为一体的灵活性要差得多，特别是电路实现工艺技术改变时更是如此。</a:t>
            </a:r>
            <a:endParaRPr lang="zh-CN" altLang="en-US" sz="2400" b="1" dirty="0">
              <a:solidFill>
                <a:srgbClr val="000000"/>
              </a:solidFill>
              <a:latin typeface="Times New Roman" panose="02020603050405020304" pitchFamily="18" charset="0"/>
              <a:ea typeface="楷体_GB2312" pitchFamily="49" charset="-122"/>
            </a:endParaRPr>
          </a:p>
        </p:txBody>
      </p:sp>
    </p:spTree>
  </p:cSld>
  <p:clrMapOvr>
    <a:masterClrMapping/>
  </p:clrMapOvr>
  <p:transition spd="slow">
    <p:pull dir="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7810" name="Rectangle 2"/>
          <p:cNvSpPr>
            <a:spLocks noGrp="1" noRot="1" noChangeArrowheads="1"/>
          </p:cNvSpPr>
          <p:nvPr>
            <p:ph type="title"/>
          </p:nvPr>
        </p:nvSpPr>
        <p:spPr>
          <a:xfrm>
            <a:off x="423863" y="574675"/>
            <a:ext cx="5732463" cy="590550"/>
          </a:xfrm>
          <a:extLst>
            <a:ext uri="{AF507438-7753-43E0-B8FC-AC1667EBCBE1}">
              <a14:hiddenEffects xmlns:a14="http://schemas.microsoft.com/office/drawing/2010/main">
                <a:effectLst>
                  <a:outerShdw dist="107763" dir="2700000" algn="ctr" rotWithShape="0">
                    <a:srgbClr val="969696">
                      <a:alpha val="50000"/>
                    </a:srgbClr>
                  </a:outerShdw>
                </a:effectLst>
              </a14:hiddenEffects>
            </a:ext>
          </a:extLst>
        </p:spPr>
        <p:txBody>
          <a:bodyPr vert="horz" wrap="square" lIns="91440" tIns="45720" rIns="91440" bIns="45720" numCol="1" rtlCol="0" anchor="ctr" anchorCtr="0" compatLnSpc="1">
            <a:sp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j-cs"/>
              </a:rPr>
              <a:t>HDL </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rPr>
              <a:t>的应用方面</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247811" name="Rectangle 3"/>
          <p:cNvSpPr>
            <a:spLocks noGrp="1" noRot="1" noChangeArrowheads="1"/>
          </p:cNvSpPr>
          <p:nvPr>
            <p:ph idx="1"/>
          </p:nvPr>
        </p:nvSpPr>
        <p:spPr>
          <a:xfrm>
            <a:off x="323850" y="1628775"/>
            <a:ext cx="8712200" cy="4389438"/>
          </a:xfrm>
          <a:solidFill>
            <a:schemeClr val="accent5">
              <a:lumMod val="20000"/>
              <a:lumOff val="80000"/>
            </a:schemeClr>
          </a:solidFill>
          <a:ln w="31750">
            <a:solidFill>
              <a:srgbClr val="808080"/>
            </a:solidFill>
            <a:miter lim="800000"/>
          </a:ln>
        </p:spPr>
        <p:txBody>
          <a:bodyPr vert="horz" wrap="square" lIns="91440" tIns="45720" rIns="91440" bIns="45720" numCol="1" rtlCol="0" anchor="t" anchorCtr="0" compatLnSpc="1">
            <a:spAutoFit/>
          </a:bodyPr>
          <a:lstStyle/>
          <a:p>
            <a:pPr marL="171450" marR="0" lvl="0" indent="-171450" algn="l" defTabSz="685800" rtl="0" eaLnBrk="1" fontAlgn="auto" latinLnBrk="0" hangingPunct="1">
              <a:lnSpc>
                <a:spcPct val="90000"/>
              </a:lnSpc>
              <a:spcBef>
                <a:spcPts val="750"/>
              </a:spcBef>
              <a:spcAft>
                <a:spcPts val="0"/>
              </a:spcAft>
              <a:buClr>
                <a:schemeClr val="tx1"/>
              </a:buClr>
              <a:buSzTx/>
              <a:buFont typeface="Arial" panose="020B0604020202020204" pitchFamily="34" charset="0"/>
              <a:buChar char="•"/>
              <a:defRPr/>
            </a:pPr>
            <a:r>
              <a:rPr kumimoji="0" lang="en-US" altLang="zh-CN"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en-US" altLang="zh-CN" sz="32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ASIC</a:t>
            </a:r>
            <a:r>
              <a:rPr kumimoji="0" lang="en-US" altLang="zh-CN"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和</a:t>
            </a:r>
            <a:r>
              <a:rPr kumimoji="0" lang="en-US" altLang="zh-CN" sz="32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FPGA</a:t>
            </a:r>
            <a:r>
              <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设计师可用它来编写可综合的代码。</a:t>
            </a:r>
            <a:endPar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
                <a:schemeClr val="tx1"/>
              </a:buClr>
              <a:buSzTx/>
              <a:buFont typeface="Arial" panose="020B0604020202020204" pitchFamily="34" charset="0"/>
              <a:buChar char="•"/>
              <a:defRPr/>
            </a:pPr>
            <a:r>
              <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描述系统的结构，做高层次的仿真。</a:t>
            </a:r>
            <a:endPar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
                <a:schemeClr val="tx1"/>
              </a:buClr>
              <a:buSzTx/>
              <a:buFont typeface="Arial" panose="020B0604020202020204" pitchFamily="34" charset="0"/>
              <a:buChar char="•"/>
              <a:defRPr/>
            </a:pPr>
            <a:r>
              <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验证工程师编写各种层次的测试模块对具体电路设计工程师所设计的模块进行全面细致的验证。</a:t>
            </a:r>
            <a:endPar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
                <a:schemeClr val="tx1"/>
              </a:buClr>
              <a:buSzTx/>
              <a:buFont typeface="Arial" panose="020B0604020202020204" pitchFamily="34" charset="0"/>
              <a:buChar char="•"/>
              <a:defRPr/>
            </a:pPr>
            <a:r>
              <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库模型的设计：可以用于描述</a:t>
            </a:r>
            <a:r>
              <a:rPr kumimoji="0" lang="en-US" altLang="zh-CN" sz="32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ASIC</a:t>
            </a:r>
            <a:r>
              <a:rPr kumimoji="0" lang="en-US" altLang="zh-CN"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和</a:t>
            </a:r>
            <a:r>
              <a:rPr kumimoji="0" lang="en-US" altLang="zh-CN" sz="32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FPGA</a:t>
            </a:r>
            <a:r>
              <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的基本单元（</a:t>
            </a:r>
            <a:r>
              <a:rPr kumimoji="0" lang="en-US" altLang="zh-CN" sz="32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Cell</a:t>
            </a:r>
            <a:r>
              <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）部件，也可以描述复杂的宏单元（</a:t>
            </a:r>
            <a:r>
              <a:rPr kumimoji="0" lang="en-US" altLang="zh-CN" sz="32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Macro Cell</a:t>
            </a:r>
            <a:r>
              <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t>
            </a:r>
            <a:endParaRPr kumimoji="0" lang="zh-CN" altLang="en-US" sz="32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54276"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zo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2" name="Rectangle 2"/>
          <p:cNvSpPr>
            <a:spLocks noGrp="1" noRot="1" noChangeArrowheads="1"/>
          </p:cNvSpPr>
          <p:nvPr>
            <p:ph type="title"/>
          </p:nvPr>
        </p:nvSpPr>
        <p:spPr>
          <a:xfrm>
            <a:off x="530225" y="614363"/>
            <a:ext cx="4905375" cy="582613"/>
          </a:xfrm>
        </p:spPr>
        <p:txBody>
          <a:bodyPr vert="horz" wrap="square" lIns="91440" tIns="45720" rIns="91440" bIns="45720" numCol="1" rtlCol="0" anchor="ctr" anchorCtr="0" compatLnSpc="1">
            <a:no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rPr>
              <a:t>数字系统设计实现</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148483" name="Rectangle 3"/>
          <p:cNvSpPr>
            <a:spLocks noGrp="1" noRot="1" noChangeArrowheads="1"/>
          </p:cNvSpPr>
          <p:nvPr>
            <p:ph idx="1"/>
          </p:nvPr>
        </p:nvSpPr>
        <p:spPr>
          <a:xfrm>
            <a:off x="539750" y="1341438"/>
            <a:ext cx="7993063" cy="5124450"/>
          </a:xfrm>
          <a:solidFill>
            <a:schemeClr val="accent5">
              <a:lumMod val="20000"/>
              <a:lumOff val="80000"/>
            </a:schemeClr>
          </a:solidFill>
          <a:ln w="28575">
            <a:solidFill>
              <a:srgbClr val="808080"/>
            </a:solidFill>
            <a:miter lim="800000"/>
          </a:ln>
        </p:spPr>
        <p:txBody>
          <a:bodyPr vert="horz" wrap="square" lIns="91440" tIns="45720" rIns="91440" bIns="45720" numCol="1" rtlCol="0" anchor="t" anchorCtr="0" compatLnSpc="1">
            <a:spAutoFit/>
          </a:bodyPr>
          <a:lstStyle/>
          <a:p>
            <a:pPr marL="171450" marR="0" lvl="0" indent="-171450" algn="l" defTabSz="685800" rtl="0" eaLnBrk="1" fontAlgn="auto" latinLnBrk="0" hangingPunct="1">
              <a:lnSpc>
                <a:spcPct val="90000"/>
              </a:lnSpc>
              <a:spcBef>
                <a:spcPts val="750"/>
              </a:spcBef>
              <a:spcAft>
                <a:spcPts val="0"/>
              </a:spcAft>
              <a:buClrTx/>
              <a:buSzTx/>
              <a:buFont typeface="Wingdings" panose="05000000000000000000" pitchFamily="2" charset="2"/>
              <a:buNone/>
              <a:defRPr/>
            </a:pPr>
            <a:r>
              <a:rPr kumimoji="0"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数字系统的实现一般可选择两种器件：</a:t>
            </a:r>
            <a:endParaRPr kumimoji="0"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基于可编程逻辑 </a:t>
            </a:r>
            <a:r>
              <a:rPr kumimoji="0" lang="en-US" altLang="zh-CN"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a:t>
            </a:r>
            <a:r>
              <a:rPr kumimoji="0" lang="en-US" altLang="zh-CN" sz="2800" b="1" i="1"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PLD</a:t>
            </a:r>
            <a:r>
              <a:rPr kumimoji="0" lang="en-US" altLang="zh-CN"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 </a:t>
            </a:r>
            <a:r>
              <a:rPr kumimoji="0"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器件</a:t>
            </a:r>
            <a:endParaRPr kumimoji="0"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以 </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CPLD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和 </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FPGA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为代表</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用户可以对它进行编程来实现所需功能，并可以反复修改、反复编程。</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其它方法无法比拟的方便、灵活</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专用集成电路 </a:t>
            </a:r>
            <a:r>
              <a:rPr kumimoji="0" lang="en-US" altLang="zh-CN"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a:t>
            </a:r>
            <a:r>
              <a:rPr kumimoji="0" lang="en-US" altLang="zh-CN" sz="2800" b="1" i="1"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ASIC</a:t>
            </a:r>
            <a:r>
              <a:rPr kumimoji="0" lang="en-US" altLang="zh-CN"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a:t>
            </a:r>
            <a:endParaRPr kumimoji="0" lang="en-US" altLang="zh-CN" sz="28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用全定制方法来实现，在最底层，即物理版图级实现设计。</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514350" marR="0" lvl="1" indent="-171450" algn="l" defTabSz="685800" rtl="0" eaLnBrk="1" fontAlgn="auto" latinLnBrk="0" hangingPunct="1">
              <a:lnSpc>
                <a:spcPct val="90000"/>
              </a:lnSpc>
              <a:spcBef>
                <a:spcPts val="375"/>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高速度、低功耗、省面积设计周期长、成本高适用于要求高或批量很大的芯片。</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55300" name="Line 7"/>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2754" name="Rectangle 2"/>
          <p:cNvSpPr>
            <a:spLocks noGrp="1" noRot="1" noChangeArrowheads="1"/>
          </p:cNvSpPr>
          <p:nvPr>
            <p:ph type="title"/>
          </p:nvPr>
        </p:nvSpPr>
        <p:spPr>
          <a:xfrm>
            <a:off x="468313" y="476250"/>
            <a:ext cx="7112000" cy="649288"/>
          </a:xfrm>
        </p:spPr>
        <p:txBody>
          <a:bodyPr vert="horz" wrap="square" lIns="91440" tIns="45720" rIns="91440" bIns="45720" numCol="1" rtlCol="0" anchor="ctr" anchorCtr="0" compatLnSpc="1">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j-cs"/>
              </a:rPr>
              <a:t>CPLD/FPGA </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rPr>
              <a:t>的结构及特点</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202755" name="Rectangle 3"/>
          <p:cNvSpPr>
            <a:spLocks noGrp="1" noRot="1" noChangeArrowheads="1"/>
          </p:cNvSpPr>
          <p:nvPr>
            <p:ph idx="1"/>
          </p:nvPr>
        </p:nvSpPr>
        <p:spPr>
          <a:xfrm>
            <a:off x="1476375" y="1916113"/>
            <a:ext cx="6553200" cy="3095625"/>
          </a:xfrm>
          <a:solidFill>
            <a:schemeClr val="accent5">
              <a:lumMod val="20000"/>
              <a:lumOff val="80000"/>
            </a:schemeClr>
          </a:solidFill>
          <a:ln w="28575">
            <a:solidFill>
              <a:srgbClr val="CC99FF"/>
            </a:solidFill>
            <a:miter lim="800000"/>
          </a:ln>
        </p:spPr>
        <p:txBody>
          <a:bodyPr vert="horz" wrap="square" lIns="91440" tIns="45720" rIns="91440" bIns="45720" numCol="1" rtlCol="0" anchor="t" anchorCtr="0" compatLnSpc="1">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zh-CN" sz="2800" b="1" i="1"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PLD </a:t>
            </a:r>
            <a:r>
              <a:rPr kumimoji="0"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器件分类</a:t>
            </a:r>
            <a:endParaRPr kumimoji="0"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zh-CN" sz="2800" b="1" i="1"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FPGA</a:t>
            </a:r>
            <a:r>
              <a:rPr kumimoji="0"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器件及结构</a:t>
            </a:r>
            <a:endParaRPr kumimoji="0"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在系统编程技术</a:t>
            </a:r>
            <a:r>
              <a:rPr kumimoji="0"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a:t>
            </a:r>
            <a:r>
              <a:rPr kumimoji="0" lang="en-US" altLang="zh-CN" sz="2800" b="1" i="1"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ISP</a:t>
            </a:r>
            <a:r>
              <a:rPr kumimoji="0"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a:t>
            </a:r>
            <a:endParaRPr kumimoji="0" lang="en-US" altLang="zh-CN"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rPr>
              <a:t>用途</a:t>
            </a:r>
            <a:endParaRPr kumimoji="0" lang="zh-CN" altLang="en-US" sz="2800" b="1" i="0" u="none" strike="noStrike" kern="1200" cap="none" spc="0" normalizeH="0" baseline="0" noProof="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57348"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1973" name="Rectangle 5"/>
          <p:cNvSpPr>
            <a:spLocks noGrp="1" noRot="1" noChangeArrowheads="1"/>
          </p:cNvSpPr>
          <p:nvPr>
            <p:ph type="title"/>
          </p:nvPr>
        </p:nvSpPr>
        <p:spPr>
          <a:xfrm>
            <a:off x="484188" y="611188"/>
            <a:ext cx="6680200" cy="649288"/>
          </a:xfrm>
        </p:spPr>
        <p:txBody>
          <a:bodyPr vert="horz" wrap="square" lIns="91440" tIns="45720" rIns="91440" bIns="45720" numCol="1" rtlCol="0" anchor="ctr" anchorCtr="0" compatLnSpc="1">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j-cs"/>
              </a:rPr>
              <a:t>PLD</a:t>
            </a:r>
            <a:r>
              <a:rPr kumimoji="0" lang="en-US" altLang="zh-CN" sz="3200" b="1" i="0" u="none" strike="noStrike" kern="1200" cap="none" spc="0" normalizeH="0" baseline="0" noProof="0" dirty="0" smtClean="0">
                <a:ln>
                  <a:noFill/>
                </a:ln>
                <a:solidFill>
                  <a:schemeClr val="hlink"/>
                </a:solidFill>
                <a:effectLst/>
                <a:uLnTx/>
                <a:uFillTx/>
                <a:latin typeface="+mn-ea"/>
                <a:ea typeface="+mn-ea"/>
                <a:cs typeface="+mj-cs"/>
              </a:rPr>
              <a:t> </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rPr>
              <a:t>器件的分类</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211971" name="Rectangle 3"/>
          <p:cNvSpPr>
            <a:spLocks noGrp="1" noRot="1" noChangeArrowheads="1"/>
          </p:cNvSpPr>
          <p:nvPr>
            <p:ph idx="1"/>
          </p:nvPr>
        </p:nvSpPr>
        <p:spPr>
          <a:xfrm>
            <a:off x="468313" y="1482725"/>
            <a:ext cx="7272338" cy="793750"/>
          </a:xfrm>
          <a:solidFill>
            <a:schemeClr val="accent5">
              <a:lumMod val="20000"/>
              <a:lumOff val="80000"/>
            </a:schemeClr>
          </a:solidFill>
          <a:ln w="31750">
            <a:solidFill>
              <a:srgbClr val="808080"/>
            </a:solidFill>
            <a:miter lim="800000"/>
          </a:ln>
        </p:spPr>
        <p:txBody>
          <a:bodyPr vert="horz" wrap="square" lIns="91440" tIns="45720" rIns="91440" bIns="45720" numCol="1" rtlCol="0" anchor="t" anchorCtr="0" compatLnSpc="1">
            <a:spAutoFit/>
          </a:bodyPr>
          <a:lstStyle/>
          <a:p>
            <a:pPr marL="171450" marR="0" lvl="0" indent="-171450" algn="l" defTabSz="685800" rtl="0" eaLnBrk="1" fontAlgn="auto" latinLnBrk="0" hangingPunct="1">
              <a:lnSpc>
                <a:spcPct val="110000"/>
              </a:lnSpc>
              <a:spcBef>
                <a:spcPct val="0"/>
              </a:spcBef>
              <a:spcAft>
                <a:spcPts val="0"/>
              </a:spcAft>
              <a:buClrTx/>
              <a:buSzTx/>
              <a:buFont typeface="Arial" panose="020B0604020202020204" pitchFamily="34" charset="0"/>
              <a:buChar char="•"/>
              <a:defRPr/>
            </a:pPr>
            <a:r>
              <a:rPr kumimoji="0" lang="zh-CN" altLang="en-US" sz="4000" b="1" i="0" u="none" strike="noStrike" kern="1200" cap="none" spc="0" normalizeH="0" baseline="0" noProof="0" dirty="0" smtClean="0">
                <a:ln>
                  <a:noFill/>
                </a:ln>
                <a:solidFill>
                  <a:srgbClr val="FF3300"/>
                </a:solidFill>
                <a:effectLst/>
                <a:uLnTx/>
                <a:uFillTx/>
                <a:latin typeface="楷体_GB2312" pitchFamily="49" charset="-122"/>
                <a:ea typeface="楷体_GB2312" pitchFamily="49" charset="-122"/>
                <a:cs typeface="+mn-cs"/>
              </a:rPr>
              <a:t>按</a:t>
            </a:r>
            <a:r>
              <a:rPr kumimoji="0" lang="en-US" altLang="zh-CN" sz="4000" b="1" i="0" u="none" strike="noStrike" kern="1200" cap="none" spc="0" normalizeH="0" baseline="0" noProof="0" dirty="0" smtClean="0">
                <a:ln>
                  <a:noFill/>
                </a:ln>
                <a:solidFill>
                  <a:srgbClr val="FF3300"/>
                </a:solidFill>
                <a:effectLst/>
                <a:uLnTx/>
                <a:uFillTx/>
                <a:latin typeface="楷体_GB2312" pitchFamily="49" charset="-122"/>
                <a:ea typeface="楷体_GB2312" pitchFamily="49" charset="-122"/>
                <a:cs typeface="+mn-cs"/>
              </a:rPr>
              <a:t>PLD</a:t>
            </a:r>
            <a:r>
              <a:rPr kumimoji="0" lang="zh-CN" altLang="en-US" sz="4000" b="1" i="0" u="none" strike="noStrike" kern="1200" cap="none" spc="0" normalizeH="0" baseline="0" noProof="0" dirty="0" smtClean="0">
                <a:ln>
                  <a:noFill/>
                </a:ln>
                <a:solidFill>
                  <a:srgbClr val="FF3300"/>
                </a:solidFill>
                <a:effectLst/>
                <a:uLnTx/>
                <a:uFillTx/>
                <a:latin typeface="楷体_GB2312" pitchFamily="49" charset="-122"/>
                <a:ea typeface="楷体_GB2312" pitchFamily="49" charset="-122"/>
                <a:cs typeface="+mn-cs"/>
              </a:rPr>
              <a:t>的集成度分类</a:t>
            </a:r>
            <a:endParaRPr kumimoji="0" lang="zh-CN" altLang="en-US" sz="2100" b="0" i="0" u="none" strike="noStrike" kern="1200" cap="none" spc="0" normalizeH="0" baseline="0" noProof="0" dirty="0" smtClean="0">
              <a:ln>
                <a:noFill/>
              </a:ln>
              <a:solidFill>
                <a:schemeClr val="tx1"/>
              </a:solidFill>
              <a:effectLst/>
              <a:uLnTx/>
              <a:uFillTx/>
              <a:latin typeface="+mn-lt"/>
              <a:ea typeface="+mn-ea"/>
              <a:cs typeface="+mn-cs"/>
            </a:endParaRPr>
          </a:p>
        </p:txBody>
      </p:sp>
      <p:sp>
        <p:nvSpPr>
          <p:cNvPr id="59396"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grpSp>
        <p:nvGrpSpPr>
          <p:cNvPr id="212004" name="Group 36"/>
          <p:cNvGrpSpPr/>
          <p:nvPr/>
        </p:nvGrpSpPr>
        <p:grpSpPr>
          <a:xfrm>
            <a:off x="611188" y="2565400"/>
            <a:ext cx="7489825" cy="2808288"/>
            <a:chOff x="385" y="1752"/>
            <a:chExt cx="4718" cy="1769"/>
          </a:xfrm>
        </p:grpSpPr>
        <p:sp>
          <p:nvSpPr>
            <p:cNvPr id="59398" name="Rectangle 8"/>
            <p:cNvSpPr/>
            <p:nvPr/>
          </p:nvSpPr>
          <p:spPr>
            <a:xfrm>
              <a:off x="2109" y="1752"/>
              <a:ext cx="2223" cy="308"/>
            </a:xfrm>
            <a:prstGeom prst="rect">
              <a:avLst/>
            </a:prstGeom>
            <a:solidFill>
              <a:srgbClr val="CCFFFF"/>
            </a:solidFill>
            <a:ln w="31750" cap="flat" cmpd="sng">
              <a:solidFill>
                <a:schemeClr val="tx2"/>
              </a:solidFill>
              <a:prstDash val="solid"/>
              <a:miter/>
              <a:headEnd type="none" w="med" len="med"/>
              <a:tailEnd type="none" w="med" len="med"/>
            </a:ln>
          </p:spPr>
          <p:txBody>
            <a:bodyPr anchor="ctr" anchorCtr="0">
              <a:spAutoFit/>
            </a:bodyPr>
            <a:p>
              <a:pPr algn="ctr" eaLnBrk="1" hangingPunct="1"/>
              <a:r>
                <a:rPr lang="zh-CN" altLang="en-US" sz="2400" b="1" dirty="0">
                  <a:solidFill>
                    <a:srgbClr val="000000"/>
                  </a:solidFill>
                  <a:latin typeface="Times New Roman" panose="02020603050405020304" pitchFamily="18" charset="0"/>
                  <a:ea typeface="楷体_GB2312" pitchFamily="49" charset="-122"/>
                </a:rPr>
                <a:t>可编程逻辑器件（</a:t>
              </a:r>
              <a:r>
                <a:rPr lang="en-US" altLang="zh-CN" sz="2400" b="1" i="1" dirty="0">
                  <a:solidFill>
                    <a:srgbClr val="000000"/>
                  </a:solidFill>
                  <a:latin typeface="Times New Roman" panose="02020603050405020304" pitchFamily="18" charset="0"/>
                  <a:ea typeface="楷体_GB2312" pitchFamily="49" charset="-122"/>
                </a:rPr>
                <a:t>PLD</a:t>
              </a:r>
              <a:r>
                <a:rPr lang="zh-CN" altLang="en-US" sz="2400" b="1" dirty="0">
                  <a:solidFill>
                    <a:srgbClr val="000000"/>
                  </a:solidFill>
                  <a:latin typeface="Times New Roman" panose="02020603050405020304" pitchFamily="18" charset="0"/>
                  <a:ea typeface="楷体_GB2312" pitchFamily="49" charset="-122"/>
                </a:rPr>
                <a:t>）</a:t>
              </a:r>
              <a:endParaRPr lang="zh-CN" altLang="en-US" sz="2400" b="1" dirty="0">
                <a:solidFill>
                  <a:srgbClr val="000000"/>
                </a:solidFill>
                <a:latin typeface="Times New Roman" panose="02020603050405020304" pitchFamily="18" charset="0"/>
                <a:ea typeface="楷体_GB2312" pitchFamily="49" charset="-122"/>
              </a:endParaRPr>
            </a:p>
          </p:txBody>
        </p:sp>
        <p:sp>
          <p:nvSpPr>
            <p:cNvPr id="59399" name="Rectangle 10"/>
            <p:cNvSpPr/>
            <p:nvPr/>
          </p:nvSpPr>
          <p:spPr>
            <a:xfrm>
              <a:off x="1474" y="2448"/>
              <a:ext cx="1134" cy="308"/>
            </a:xfrm>
            <a:prstGeom prst="rect">
              <a:avLst/>
            </a:prstGeom>
            <a:solidFill>
              <a:srgbClr val="CCFFFF"/>
            </a:solidFill>
            <a:ln w="31750" cap="flat" cmpd="sng">
              <a:solidFill>
                <a:schemeClr val="tx2"/>
              </a:solidFill>
              <a:prstDash val="solid"/>
              <a:miter/>
              <a:headEnd type="none" w="med" len="med"/>
              <a:tailEnd type="none" w="med" len="med"/>
            </a:ln>
          </p:spPr>
          <p:txBody>
            <a:bodyPr anchor="ctr" anchorCtr="0">
              <a:spAutoFit/>
            </a:bodyPr>
            <a:p>
              <a:pPr algn="ctr" eaLnBrk="1" hangingPunct="1"/>
              <a:r>
                <a:rPr lang="zh-CN" altLang="en-US" sz="2400" b="1" dirty="0">
                  <a:solidFill>
                    <a:srgbClr val="000000"/>
                  </a:solidFill>
                  <a:latin typeface="Times New Roman" panose="02020603050405020304" pitchFamily="18" charset="0"/>
                  <a:ea typeface="楷体_GB2312" pitchFamily="49" charset="-122"/>
                </a:rPr>
                <a:t>简单</a:t>
              </a:r>
              <a:r>
                <a:rPr lang="en-US" altLang="zh-CN" sz="2400" b="1" i="1" dirty="0">
                  <a:solidFill>
                    <a:srgbClr val="000000"/>
                  </a:solidFill>
                  <a:latin typeface="Times New Roman" panose="02020603050405020304" pitchFamily="18" charset="0"/>
                  <a:ea typeface="楷体_GB2312" pitchFamily="49" charset="-122"/>
                </a:rPr>
                <a:t>PLD</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59400" name="Rectangle 11"/>
            <p:cNvSpPr/>
            <p:nvPr/>
          </p:nvSpPr>
          <p:spPr>
            <a:xfrm>
              <a:off x="3697" y="2447"/>
              <a:ext cx="1134" cy="308"/>
            </a:xfrm>
            <a:prstGeom prst="rect">
              <a:avLst/>
            </a:prstGeom>
            <a:solidFill>
              <a:srgbClr val="CCFFFF"/>
            </a:solidFill>
            <a:ln w="31750" cap="flat" cmpd="sng">
              <a:solidFill>
                <a:schemeClr val="tx2"/>
              </a:solidFill>
              <a:prstDash val="solid"/>
              <a:miter/>
              <a:headEnd type="none" w="med" len="med"/>
              <a:tailEnd type="none" w="med" len="med"/>
            </a:ln>
          </p:spPr>
          <p:txBody>
            <a:bodyPr anchor="ctr" anchorCtr="0">
              <a:spAutoFit/>
            </a:bodyPr>
            <a:p>
              <a:pPr algn="ctr" eaLnBrk="1" hangingPunct="1"/>
              <a:r>
                <a:rPr lang="zh-CN" altLang="en-US" sz="2400" b="1" dirty="0">
                  <a:solidFill>
                    <a:srgbClr val="000000"/>
                  </a:solidFill>
                  <a:latin typeface="Times New Roman" panose="02020603050405020304" pitchFamily="18" charset="0"/>
                  <a:ea typeface="楷体_GB2312" pitchFamily="49" charset="-122"/>
                </a:rPr>
                <a:t>复杂</a:t>
              </a:r>
              <a:r>
                <a:rPr lang="en-US" altLang="zh-CN" sz="2400" b="1" i="1" dirty="0">
                  <a:solidFill>
                    <a:srgbClr val="000000"/>
                  </a:solidFill>
                  <a:latin typeface="Times New Roman" panose="02020603050405020304" pitchFamily="18" charset="0"/>
                  <a:ea typeface="楷体_GB2312" pitchFamily="49" charset="-122"/>
                </a:rPr>
                <a:t>PLD</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59401" name="Rectangle 12"/>
            <p:cNvSpPr/>
            <p:nvPr/>
          </p:nvSpPr>
          <p:spPr>
            <a:xfrm>
              <a:off x="1156" y="3203"/>
              <a:ext cx="635" cy="318"/>
            </a:xfrm>
            <a:prstGeom prst="rect">
              <a:avLst/>
            </a:prstGeom>
            <a:solidFill>
              <a:srgbClr val="CCFFFF"/>
            </a:solidFill>
            <a:ln w="31750" cap="flat" cmpd="sng">
              <a:solidFill>
                <a:schemeClr val="tx2"/>
              </a:solidFill>
              <a:prstDash val="solid"/>
              <a:miter/>
              <a:headEnd type="none" w="med" len="med"/>
              <a:tailEnd type="none" w="med" len="med"/>
            </a:ln>
          </p:spPr>
          <p:txBody>
            <a:bodyPr wrap="none" anchor="ctr" anchorCtr="0"/>
            <a:p>
              <a:pPr algn="ctr" eaLnBrk="1" hangingPunct="1"/>
              <a:r>
                <a:rPr lang="en-US" altLang="zh-CN" sz="2400" b="1" i="1" dirty="0">
                  <a:solidFill>
                    <a:srgbClr val="000000"/>
                  </a:solidFill>
                  <a:latin typeface="Times New Roman" panose="02020603050405020304" pitchFamily="18" charset="0"/>
                  <a:ea typeface="楷体_GB2312" pitchFamily="49" charset="-122"/>
                </a:rPr>
                <a:t>PLA</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59402" name="Rectangle 13"/>
            <p:cNvSpPr/>
            <p:nvPr/>
          </p:nvSpPr>
          <p:spPr>
            <a:xfrm>
              <a:off x="1927" y="3203"/>
              <a:ext cx="635" cy="318"/>
            </a:xfrm>
            <a:prstGeom prst="rect">
              <a:avLst/>
            </a:prstGeom>
            <a:solidFill>
              <a:srgbClr val="CCFFFF"/>
            </a:solidFill>
            <a:ln w="31750" cap="flat" cmpd="sng">
              <a:solidFill>
                <a:schemeClr val="tx2"/>
              </a:solidFill>
              <a:prstDash val="solid"/>
              <a:miter/>
              <a:headEnd type="none" w="med" len="med"/>
              <a:tailEnd type="none" w="med" len="med"/>
            </a:ln>
          </p:spPr>
          <p:txBody>
            <a:bodyPr wrap="none" anchor="ctr" anchorCtr="0"/>
            <a:p>
              <a:pPr algn="ctr" eaLnBrk="1" hangingPunct="1"/>
              <a:r>
                <a:rPr lang="en-US" altLang="zh-CN" sz="2400" b="1" i="1" dirty="0">
                  <a:solidFill>
                    <a:srgbClr val="000000"/>
                  </a:solidFill>
                  <a:latin typeface="Times New Roman" panose="02020603050405020304" pitchFamily="18" charset="0"/>
                  <a:ea typeface="楷体_GB2312" pitchFamily="49" charset="-122"/>
                </a:rPr>
                <a:t>PAL</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59403" name="Rectangle 15"/>
            <p:cNvSpPr/>
            <p:nvPr/>
          </p:nvSpPr>
          <p:spPr>
            <a:xfrm>
              <a:off x="385" y="3203"/>
              <a:ext cx="635" cy="318"/>
            </a:xfrm>
            <a:prstGeom prst="rect">
              <a:avLst/>
            </a:prstGeom>
            <a:solidFill>
              <a:srgbClr val="CCFFFF"/>
            </a:solidFill>
            <a:ln w="31750" cap="flat" cmpd="sng">
              <a:solidFill>
                <a:schemeClr val="tx2"/>
              </a:solidFill>
              <a:prstDash val="solid"/>
              <a:miter/>
              <a:headEnd type="none" w="med" len="med"/>
              <a:tailEnd type="none" w="med" len="med"/>
            </a:ln>
          </p:spPr>
          <p:txBody>
            <a:bodyPr wrap="none" anchor="ctr" anchorCtr="0"/>
            <a:p>
              <a:pPr algn="ctr" eaLnBrk="1" hangingPunct="1"/>
              <a:r>
                <a:rPr lang="en-US" altLang="zh-CN" sz="2400" b="1" i="1" dirty="0">
                  <a:solidFill>
                    <a:srgbClr val="000000"/>
                  </a:solidFill>
                  <a:latin typeface="Times New Roman" panose="02020603050405020304" pitchFamily="18" charset="0"/>
                  <a:ea typeface="楷体_GB2312" pitchFamily="49" charset="-122"/>
                </a:rPr>
                <a:t>PROM</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59404" name="Rectangle 17"/>
            <p:cNvSpPr/>
            <p:nvPr/>
          </p:nvSpPr>
          <p:spPr>
            <a:xfrm>
              <a:off x="2744" y="3203"/>
              <a:ext cx="635" cy="318"/>
            </a:xfrm>
            <a:prstGeom prst="rect">
              <a:avLst/>
            </a:prstGeom>
            <a:solidFill>
              <a:srgbClr val="CCFFFF"/>
            </a:solidFill>
            <a:ln w="31750" cap="flat" cmpd="sng">
              <a:solidFill>
                <a:schemeClr val="tx2"/>
              </a:solidFill>
              <a:prstDash val="solid"/>
              <a:miter/>
              <a:headEnd type="none" w="med" len="med"/>
              <a:tailEnd type="none" w="med" len="med"/>
            </a:ln>
          </p:spPr>
          <p:txBody>
            <a:bodyPr wrap="none" anchor="ctr" anchorCtr="0"/>
            <a:p>
              <a:pPr algn="ctr" eaLnBrk="1" hangingPunct="1"/>
              <a:r>
                <a:rPr lang="en-US" altLang="zh-CN" sz="2400" b="1" i="1" dirty="0">
                  <a:solidFill>
                    <a:srgbClr val="000000"/>
                  </a:solidFill>
                  <a:latin typeface="Times New Roman" panose="02020603050405020304" pitchFamily="18" charset="0"/>
                  <a:ea typeface="楷体_GB2312" pitchFamily="49" charset="-122"/>
                </a:rPr>
                <a:t>GAL</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59405" name="Rectangle 18"/>
            <p:cNvSpPr/>
            <p:nvPr/>
          </p:nvSpPr>
          <p:spPr>
            <a:xfrm>
              <a:off x="3515" y="3203"/>
              <a:ext cx="635" cy="318"/>
            </a:xfrm>
            <a:prstGeom prst="rect">
              <a:avLst/>
            </a:prstGeom>
            <a:solidFill>
              <a:srgbClr val="CCFFFF"/>
            </a:solidFill>
            <a:ln w="31750" cap="flat" cmpd="sng">
              <a:solidFill>
                <a:schemeClr val="tx2"/>
              </a:solidFill>
              <a:prstDash val="solid"/>
              <a:miter/>
              <a:headEnd type="none" w="med" len="med"/>
              <a:tailEnd type="none" w="med" len="med"/>
            </a:ln>
          </p:spPr>
          <p:txBody>
            <a:bodyPr wrap="none" anchor="ctr" anchorCtr="0"/>
            <a:p>
              <a:pPr algn="ctr" eaLnBrk="1" hangingPunct="1"/>
              <a:r>
                <a:rPr lang="en-US" altLang="zh-CN" sz="2400" b="1" i="1" dirty="0">
                  <a:solidFill>
                    <a:srgbClr val="000000"/>
                  </a:solidFill>
                  <a:latin typeface="Times New Roman" panose="02020603050405020304" pitchFamily="18" charset="0"/>
                  <a:ea typeface="楷体_GB2312" pitchFamily="49" charset="-122"/>
                </a:rPr>
                <a:t>CPLD</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59406" name="Rectangle 19"/>
            <p:cNvSpPr/>
            <p:nvPr/>
          </p:nvSpPr>
          <p:spPr>
            <a:xfrm>
              <a:off x="4468" y="3203"/>
              <a:ext cx="635" cy="318"/>
            </a:xfrm>
            <a:prstGeom prst="rect">
              <a:avLst/>
            </a:prstGeom>
            <a:solidFill>
              <a:srgbClr val="CCFFFF"/>
            </a:solidFill>
            <a:ln w="31750" cap="flat" cmpd="sng">
              <a:solidFill>
                <a:schemeClr val="tx2"/>
              </a:solidFill>
              <a:prstDash val="solid"/>
              <a:miter/>
              <a:headEnd type="none" w="med" len="med"/>
              <a:tailEnd type="none" w="med" len="med"/>
            </a:ln>
          </p:spPr>
          <p:txBody>
            <a:bodyPr wrap="none" anchor="ctr" anchorCtr="0"/>
            <a:p>
              <a:pPr algn="ctr" eaLnBrk="1" hangingPunct="1"/>
              <a:r>
                <a:rPr lang="en-US" altLang="zh-CN" sz="2400" b="1" i="1" dirty="0">
                  <a:solidFill>
                    <a:srgbClr val="000000"/>
                  </a:solidFill>
                  <a:latin typeface="Times New Roman" panose="02020603050405020304" pitchFamily="18" charset="0"/>
                  <a:ea typeface="楷体_GB2312" pitchFamily="49" charset="-122"/>
                </a:rPr>
                <a:t>FPGA</a:t>
              </a:r>
              <a:endParaRPr lang="en-US" altLang="zh-CN" sz="2400" b="1" i="1" dirty="0">
                <a:solidFill>
                  <a:srgbClr val="000000"/>
                </a:solidFill>
                <a:latin typeface="Times New Roman" panose="02020603050405020304" pitchFamily="18" charset="0"/>
                <a:ea typeface="楷体_GB2312" pitchFamily="49" charset="-122"/>
              </a:endParaRPr>
            </a:p>
          </p:txBody>
        </p:sp>
        <p:sp>
          <p:nvSpPr>
            <p:cNvPr id="59407" name="Line 20"/>
            <p:cNvSpPr/>
            <p:nvPr/>
          </p:nvSpPr>
          <p:spPr>
            <a:xfrm flipV="1">
              <a:off x="2064" y="2296"/>
              <a:ext cx="0" cy="136"/>
            </a:xfrm>
            <a:prstGeom prst="line">
              <a:avLst/>
            </a:prstGeom>
            <a:ln w="31750" cap="flat" cmpd="sng">
              <a:solidFill>
                <a:srgbClr val="333333"/>
              </a:solidFill>
              <a:prstDash val="solid"/>
              <a:headEnd type="none" w="med" len="med"/>
              <a:tailEnd type="none" w="med" len="med"/>
            </a:ln>
          </p:spPr>
        </p:sp>
        <p:sp>
          <p:nvSpPr>
            <p:cNvPr id="59408" name="Line 21"/>
            <p:cNvSpPr/>
            <p:nvPr/>
          </p:nvSpPr>
          <p:spPr>
            <a:xfrm>
              <a:off x="2064" y="2296"/>
              <a:ext cx="2268" cy="0"/>
            </a:xfrm>
            <a:prstGeom prst="line">
              <a:avLst/>
            </a:prstGeom>
            <a:ln w="31750" cap="flat" cmpd="sng">
              <a:solidFill>
                <a:srgbClr val="333333"/>
              </a:solidFill>
              <a:prstDash val="solid"/>
              <a:headEnd type="none" w="med" len="med"/>
              <a:tailEnd type="none" w="med" len="med"/>
            </a:ln>
          </p:spPr>
        </p:sp>
        <p:sp>
          <p:nvSpPr>
            <p:cNvPr id="59409" name="Line 22"/>
            <p:cNvSpPr/>
            <p:nvPr/>
          </p:nvSpPr>
          <p:spPr>
            <a:xfrm>
              <a:off x="4332" y="2296"/>
              <a:ext cx="0" cy="136"/>
            </a:xfrm>
            <a:prstGeom prst="line">
              <a:avLst/>
            </a:prstGeom>
            <a:ln w="31750" cap="flat" cmpd="sng">
              <a:solidFill>
                <a:srgbClr val="333333"/>
              </a:solidFill>
              <a:prstDash val="solid"/>
              <a:headEnd type="none" w="med" len="med"/>
              <a:tailEnd type="none" w="med" len="med"/>
            </a:ln>
          </p:spPr>
        </p:sp>
        <p:sp>
          <p:nvSpPr>
            <p:cNvPr id="59410" name="Line 23"/>
            <p:cNvSpPr/>
            <p:nvPr/>
          </p:nvSpPr>
          <p:spPr>
            <a:xfrm>
              <a:off x="3107" y="2069"/>
              <a:ext cx="0" cy="227"/>
            </a:xfrm>
            <a:prstGeom prst="line">
              <a:avLst/>
            </a:prstGeom>
            <a:ln w="31750" cap="flat" cmpd="sng">
              <a:solidFill>
                <a:srgbClr val="333333"/>
              </a:solidFill>
              <a:prstDash val="solid"/>
              <a:headEnd type="none" w="med" len="med"/>
              <a:tailEnd type="none" w="med" len="med"/>
            </a:ln>
          </p:spPr>
        </p:sp>
        <p:sp>
          <p:nvSpPr>
            <p:cNvPr id="59411" name="Line 24"/>
            <p:cNvSpPr/>
            <p:nvPr/>
          </p:nvSpPr>
          <p:spPr>
            <a:xfrm>
              <a:off x="703" y="2976"/>
              <a:ext cx="2358" cy="0"/>
            </a:xfrm>
            <a:prstGeom prst="line">
              <a:avLst/>
            </a:prstGeom>
            <a:ln w="31750" cap="flat" cmpd="sng">
              <a:solidFill>
                <a:srgbClr val="333333"/>
              </a:solidFill>
              <a:prstDash val="solid"/>
              <a:headEnd type="none" w="med" len="med"/>
              <a:tailEnd type="none" w="med" len="med"/>
            </a:ln>
          </p:spPr>
        </p:sp>
        <p:sp>
          <p:nvSpPr>
            <p:cNvPr id="59412" name="Line 25"/>
            <p:cNvSpPr/>
            <p:nvPr/>
          </p:nvSpPr>
          <p:spPr>
            <a:xfrm>
              <a:off x="703" y="2976"/>
              <a:ext cx="0" cy="227"/>
            </a:xfrm>
            <a:prstGeom prst="line">
              <a:avLst/>
            </a:prstGeom>
            <a:ln w="31750" cap="flat" cmpd="sng">
              <a:solidFill>
                <a:srgbClr val="333333"/>
              </a:solidFill>
              <a:prstDash val="solid"/>
              <a:headEnd type="none" w="med" len="med"/>
              <a:tailEnd type="none" w="med" len="med"/>
            </a:ln>
          </p:spPr>
        </p:sp>
        <p:sp>
          <p:nvSpPr>
            <p:cNvPr id="59413" name="Line 26"/>
            <p:cNvSpPr/>
            <p:nvPr/>
          </p:nvSpPr>
          <p:spPr>
            <a:xfrm>
              <a:off x="1474" y="2976"/>
              <a:ext cx="0" cy="227"/>
            </a:xfrm>
            <a:prstGeom prst="line">
              <a:avLst/>
            </a:prstGeom>
            <a:ln w="31750" cap="flat" cmpd="sng">
              <a:solidFill>
                <a:srgbClr val="333333"/>
              </a:solidFill>
              <a:prstDash val="solid"/>
              <a:headEnd type="none" w="med" len="med"/>
              <a:tailEnd type="none" w="med" len="med"/>
            </a:ln>
          </p:spPr>
        </p:sp>
        <p:sp>
          <p:nvSpPr>
            <p:cNvPr id="59414" name="Line 27"/>
            <p:cNvSpPr/>
            <p:nvPr/>
          </p:nvSpPr>
          <p:spPr>
            <a:xfrm>
              <a:off x="2245" y="2976"/>
              <a:ext cx="0" cy="227"/>
            </a:xfrm>
            <a:prstGeom prst="line">
              <a:avLst/>
            </a:prstGeom>
            <a:ln w="31750" cap="flat" cmpd="sng">
              <a:solidFill>
                <a:srgbClr val="333333"/>
              </a:solidFill>
              <a:prstDash val="solid"/>
              <a:headEnd type="none" w="med" len="med"/>
              <a:tailEnd type="none" w="med" len="med"/>
            </a:ln>
          </p:spPr>
        </p:sp>
        <p:sp>
          <p:nvSpPr>
            <p:cNvPr id="59415" name="Line 29"/>
            <p:cNvSpPr/>
            <p:nvPr/>
          </p:nvSpPr>
          <p:spPr>
            <a:xfrm>
              <a:off x="3061" y="2976"/>
              <a:ext cx="0" cy="227"/>
            </a:xfrm>
            <a:prstGeom prst="line">
              <a:avLst/>
            </a:prstGeom>
            <a:ln w="31750" cap="flat" cmpd="sng">
              <a:solidFill>
                <a:srgbClr val="333333"/>
              </a:solidFill>
              <a:prstDash val="solid"/>
              <a:headEnd type="none" w="med" len="med"/>
              <a:tailEnd type="none" w="med" len="med"/>
            </a:ln>
          </p:spPr>
        </p:sp>
        <p:sp>
          <p:nvSpPr>
            <p:cNvPr id="59416" name="Line 31"/>
            <p:cNvSpPr/>
            <p:nvPr/>
          </p:nvSpPr>
          <p:spPr>
            <a:xfrm>
              <a:off x="3787" y="2976"/>
              <a:ext cx="998" cy="0"/>
            </a:xfrm>
            <a:prstGeom prst="line">
              <a:avLst/>
            </a:prstGeom>
            <a:ln w="31750" cap="flat" cmpd="sng">
              <a:solidFill>
                <a:srgbClr val="333333"/>
              </a:solidFill>
              <a:prstDash val="solid"/>
              <a:headEnd type="none" w="med" len="med"/>
              <a:tailEnd type="none" w="med" len="med"/>
            </a:ln>
          </p:spPr>
        </p:sp>
        <p:sp>
          <p:nvSpPr>
            <p:cNvPr id="59417" name="Line 32"/>
            <p:cNvSpPr/>
            <p:nvPr/>
          </p:nvSpPr>
          <p:spPr>
            <a:xfrm>
              <a:off x="3787" y="2976"/>
              <a:ext cx="0" cy="227"/>
            </a:xfrm>
            <a:prstGeom prst="line">
              <a:avLst/>
            </a:prstGeom>
            <a:ln w="31750" cap="flat" cmpd="sng">
              <a:solidFill>
                <a:srgbClr val="333333"/>
              </a:solidFill>
              <a:prstDash val="solid"/>
              <a:headEnd type="none" w="med" len="med"/>
              <a:tailEnd type="none" w="med" len="med"/>
            </a:ln>
          </p:spPr>
        </p:sp>
        <p:sp>
          <p:nvSpPr>
            <p:cNvPr id="59418" name="Line 33"/>
            <p:cNvSpPr/>
            <p:nvPr/>
          </p:nvSpPr>
          <p:spPr>
            <a:xfrm>
              <a:off x="4785" y="2976"/>
              <a:ext cx="0" cy="227"/>
            </a:xfrm>
            <a:prstGeom prst="line">
              <a:avLst/>
            </a:prstGeom>
            <a:ln w="31750" cap="flat" cmpd="sng">
              <a:solidFill>
                <a:srgbClr val="333333"/>
              </a:solidFill>
              <a:prstDash val="solid"/>
              <a:headEnd type="none" w="med" len="med"/>
              <a:tailEnd type="none" w="med" len="med"/>
            </a:ln>
          </p:spPr>
        </p:sp>
        <p:sp>
          <p:nvSpPr>
            <p:cNvPr id="59419" name="Line 34"/>
            <p:cNvSpPr/>
            <p:nvPr/>
          </p:nvSpPr>
          <p:spPr>
            <a:xfrm>
              <a:off x="2064" y="2750"/>
              <a:ext cx="0" cy="226"/>
            </a:xfrm>
            <a:prstGeom prst="line">
              <a:avLst/>
            </a:prstGeom>
            <a:ln w="31750" cap="flat" cmpd="sng">
              <a:solidFill>
                <a:srgbClr val="333333"/>
              </a:solidFill>
              <a:prstDash val="solid"/>
              <a:headEnd type="none" w="med" len="med"/>
              <a:tailEnd type="none" w="med" len="med"/>
            </a:ln>
          </p:spPr>
        </p:sp>
        <p:sp>
          <p:nvSpPr>
            <p:cNvPr id="59420" name="Line 35"/>
            <p:cNvSpPr/>
            <p:nvPr/>
          </p:nvSpPr>
          <p:spPr>
            <a:xfrm>
              <a:off x="4286" y="2750"/>
              <a:ext cx="0" cy="226"/>
            </a:xfrm>
            <a:prstGeom prst="line">
              <a:avLst/>
            </a:prstGeom>
            <a:ln w="31750" cap="flat" cmpd="sng">
              <a:solidFill>
                <a:srgbClr val="333333"/>
              </a:solidFill>
              <a:prstDash val="solid"/>
              <a:headEnd type="none" w="med" len="med"/>
              <a:tailEnd type="none" w="med" len="med"/>
            </a:ln>
          </p:spPr>
        </p:sp>
      </p:gr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212004"/>
                                        </p:tgtEl>
                                        <p:attrNameLst>
                                          <p:attrName>style.visibility</p:attrName>
                                        </p:attrNameLst>
                                      </p:cBhvr>
                                      <p:to>
                                        <p:strVal val="visible"/>
                                      </p:to>
                                    </p:set>
                                    <p:animEffect transition="in" filter="diamond(in)">
                                      <p:cBhvr>
                                        <p:cTn id="7" dur="2000"/>
                                        <p:tgtEl>
                                          <p:spTgt spid="2120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31" name="Rectangle 3"/>
          <p:cNvSpPr>
            <a:spLocks noGrp="1" noRot="1" noChangeArrowheads="1"/>
          </p:cNvSpPr>
          <p:nvPr>
            <p:ph idx="1"/>
          </p:nvPr>
        </p:nvSpPr>
        <p:spPr>
          <a:xfrm>
            <a:off x="900113" y="2276475"/>
            <a:ext cx="7632700" cy="2374900"/>
          </a:xfrm>
          <a:solidFill>
            <a:schemeClr val="accent5">
              <a:lumMod val="20000"/>
              <a:lumOff val="80000"/>
            </a:schemeClr>
          </a:solidFill>
          <a:ln w="28575">
            <a:solidFill>
              <a:srgbClr val="808080"/>
            </a:solidFill>
            <a:miter lim="800000"/>
          </a:ln>
        </p:spPr>
        <p:txBody>
          <a:bodyPr vert="horz" wrap="square" lIns="91440" tIns="45720" rIns="91440" bIns="45720" numCol="1" rtlCol="0" anchor="t" anchorCtr="0" compatLnSpc="1">
            <a:norm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概念：一种集成度较高的</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PLD</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器件，</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FPGA</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称为现场可编程门阵列</a:t>
            </a:r>
            <a:r>
              <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Field Programmable Gate-Array</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t>
            </a:r>
            <a:endPar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lattice </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的</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FPGA</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器件</a:t>
            </a:r>
            <a:r>
              <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t>
            </a:r>
            <a:r>
              <a:rPr kumimoji="0" lang="en-US" altLang="zh-CN" sz="2800" b="1" i="1" u="none" strike="noStrike" kern="1200" cap="none" spc="0" normalizeH="0" baseline="0" noProof="0" dirty="0" err="1" smtClean="0">
                <a:ln>
                  <a:noFill/>
                </a:ln>
                <a:solidFill>
                  <a:srgbClr val="000000"/>
                </a:solidFill>
                <a:effectLst/>
                <a:uLnTx/>
                <a:uFillTx/>
                <a:latin typeface="Times New Roman" panose="02020603050405020304" pitchFamily="18" charset="0"/>
                <a:ea typeface="楷体_GB2312" pitchFamily="49" charset="-122"/>
                <a:cs typeface="+mn-cs"/>
              </a:rPr>
              <a:t>xilinx</a:t>
            </a:r>
            <a:r>
              <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的</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FPGA</a:t>
            </a:r>
            <a:r>
              <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器件、</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Altera</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的</a:t>
            </a:r>
            <a:r>
              <a:rPr kumimoji="0" lang="en-US" altLang="zh-CN"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FPGA</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器件</a:t>
            </a:r>
            <a:r>
              <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endParaRPr kumimoji="0" lang="zh-CN" altLang="en-US" sz="28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150532" name="Rectangle 4"/>
          <p:cNvSpPr>
            <a:spLocks noRot="1" noChangeArrowheads="1"/>
          </p:cNvSpPr>
          <p:nvPr/>
        </p:nvSpPr>
        <p:spPr bwMode="auto">
          <a:xfrm>
            <a:off x="627063" y="346075"/>
            <a:ext cx="7056438" cy="79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FPGA </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的概念</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endParaRPr>
          </a:p>
        </p:txBody>
      </p:sp>
      <p:sp>
        <p:nvSpPr>
          <p:cNvPr id="61444" name="Line 5"/>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4" name="Rectangle 2"/>
          <p:cNvSpPr>
            <a:spLocks noGrp="1" noChangeArrowheads="1"/>
          </p:cNvSpPr>
          <p:nvPr>
            <p:ph type="title"/>
          </p:nvPr>
        </p:nvSpPr>
        <p:spPr>
          <a:xfrm>
            <a:off x="323850" y="1493838"/>
            <a:ext cx="8532813" cy="1314450"/>
          </a:xfrm>
          <a:solidFill>
            <a:schemeClr val="accent5">
              <a:lumMod val="20000"/>
              <a:lumOff val="80000"/>
            </a:schemeClr>
          </a:solidFill>
          <a:ln w="31750">
            <a:solidFill>
              <a:schemeClr val="tx1"/>
            </a:solidFill>
            <a:miter lim="800000"/>
          </a:ln>
        </p:spPr>
        <p:txBody>
          <a:bodyPr vert="horz" wrap="square" lIns="91440" tIns="45720" rIns="91440" bIns="45720" numCol="1" rtlCol="0" anchor="ctr" anchorCtr="0" compatLnSpc="1">
            <a:sp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j-cs"/>
              </a:rPr>
              <a:t>	</a:t>
            </a:r>
            <a:r>
              <a:rPr kumimoji="0" lang="zh-CN" altLang="en-US" sz="26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主要由三部分组成：可配置逻辑块（</a:t>
            </a:r>
            <a:r>
              <a:rPr kumimoji="0" lang="en-US" altLang="zh-CN" sz="2600" b="1" i="1"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configurable logic block</a:t>
            </a:r>
            <a:r>
              <a:rPr kumimoji="0" lang="zh-CN" altLang="en-US" sz="2600" b="1" i="1"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a:t>
            </a:r>
            <a:r>
              <a:rPr kumimoji="0" lang="en-US" altLang="zh-CN" sz="2600" b="1" i="1"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CLB</a:t>
            </a:r>
            <a:r>
              <a:rPr kumimoji="0" lang="zh-CN" altLang="en-US" sz="26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），输入输出模块（</a:t>
            </a:r>
            <a:r>
              <a:rPr kumimoji="0" lang="en-US" altLang="zh-CN" sz="2600" b="1" i="1"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I/O BLOCK</a:t>
            </a:r>
            <a:r>
              <a:rPr kumimoji="0" lang="zh-CN" altLang="en-US" sz="2600" b="1" i="1"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 </a:t>
            </a:r>
            <a:r>
              <a:rPr kumimoji="0" lang="en-US" altLang="zh-CN" sz="2600" b="1" i="1"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IOB</a:t>
            </a:r>
            <a:r>
              <a:rPr kumimoji="0" lang="zh-CN" altLang="en-US" sz="26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）和布线通道（</a:t>
            </a:r>
            <a:r>
              <a:rPr kumimoji="0" lang="en-US" altLang="zh-CN" sz="2600" b="1" i="1"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Routing Channels</a:t>
            </a:r>
            <a:r>
              <a:rPr kumimoji="0" lang="zh-CN" altLang="en-US" sz="26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a:t>
            </a:r>
            <a:endParaRPr kumimoji="0" lang="zh-CN" altLang="en-US" sz="26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endParaRPr>
          </a:p>
        </p:txBody>
      </p:sp>
      <p:grpSp>
        <p:nvGrpSpPr>
          <p:cNvPr id="63491" name="Group 764"/>
          <p:cNvGrpSpPr/>
          <p:nvPr/>
        </p:nvGrpSpPr>
        <p:grpSpPr>
          <a:xfrm>
            <a:off x="2554288" y="2924175"/>
            <a:ext cx="6265862" cy="3600450"/>
            <a:chOff x="793" y="1843"/>
            <a:chExt cx="3947" cy="2268"/>
          </a:xfrm>
        </p:grpSpPr>
        <p:grpSp>
          <p:nvGrpSpPr>
            <p:cNvPr id="63494" name="Group 3"/>
            <p:cNvGrpSpPr/>
            <p:nvPr/>
          </p:nvGrpSpPr>
          <p:grpSpPr>
            <a:xfrm>
              <a:off x="1789" y="2026"/>
              <a:ext cx="2545" cy="2085"/>
              <a:chOff x="1247" y="1071"/>
              <a:chExt cx="3130" cy="2586"/>
            </a:xfrm>
          </p:grpSpPr>
          <p:grpSp>
            <p:nvGrpSpPr>
              <p:cNvPr id="63529" name="Group 4"/>
              <p:cNvGrpSpPr/>
              <p:nvPr/>
            </p:nvGrpSpPr>
            <p:grpSpPr>
              <a:xfrm>
                <a:off x="1564" y="1299"/>
                <a:ext cx="228" cy="271"/>
                <a:chOff x="1383" y="1616"/>
                <a:chExt cx="228" cy="271"/>
              </a:xfrm>
            </p:grpSpPr>
            <p:sp>
              <p:nvSpPr>
                <p:cNvPr id="64236" name="Rectangle 5"/>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237" name="Line 6"/>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238" name="Line 7"/>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239" name="Line 8"/>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240" name="Line 9"/>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241" name="Line 10"/>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242" name="Line 11"/>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243" name="Line 12"/>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244" name="Line 13"/>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245" name="Line 14"/>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246" name="Line 15"/>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30" name="Group 16"/>
              <p:cNvGrpSpPr/>
              <p:nvPr/>
            </p:nvGrpSpPr>
            <p:grpSpPr>
              <a:xfrm>
                <a:off x="1927" y="1299"/>
                <a:ext cx="228" cy="271"/>
                <a:chOff x="1383" y="1616"/>
                <a:chExt cx="228" cy="271"/>
              </a:xfrm>
            </p:grpSpPr>
            <p:sp>
              <p:nvSpPr>
                <p:cNvPr id="64225" name="Rectangle 17"/>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226" name="Line 18"/>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227" name="Line 19"/>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228" name="Line 20"/>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229" name="Line 21"/>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230" name="Line 22"/>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231" name="Line 23"/>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232" name="Line 24"/>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233" name="Line 25"/>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234" name="Line 26"/>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235" name="Line 27"/>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31" name="Group 28"/>
              <p:cNvGrpSpPr/>
              <p:nvPr/>
            </p:nvGrpSpPr>
            <p:grpSpPr>
              <a:xfrm>
                <a:off x="2290" y="1299"/>
                <a:ext cx="228" cy="271"/>
                <a:chOff x="1383" y="1616"/>
                <a:chExt cx="228" cy="271"/>
              </a:xfrm>
            </p:grpSpPr>
            <p:sp>
              <p:nvSpPr>
                <p:cNvPr id="64214" name="Rectangle 29"/>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215" name="Line 30"/>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216" name="Line 31"/>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217" name="Line 32"/>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218" name="Line 33"/>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219" name="Line 34"/>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220" name="Line 35"/>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221" name="Line 36"/>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222" name="Line 37"/>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223" name="Line 38"/>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224" name="Line 39"/>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32" name="Group 40"/>
              <p:cNvGrpSpPr/>
              <p:nvPr/>
            </p:nvGrpSpPr>
            <p:grpSpPr>
              <a:xfrm>
                <a:off x="2653" y="1299"/>
                <a:ext cx="228" cy="271"/>
                <a:chOff x="1383" y="1616"/>
                <a:chExt cx="228" cy="271"/>
              </a:xfrm>
            </p:grpSpPr>
            <p:sp>
              <p:nvSpPr>
                <p:cNvPr id="64203" name="Rectangle 41"/>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204" name="Line 42"/>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205" name="Line 43"/>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206" name="Line 44"/>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207" name="Line 45"/>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208" name="Line 46"/>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209" name="Line 47"/>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210" name="Line 48"/>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211" name="Line 49"/>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212" name="Line 50"/>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213" name="Line 51"/>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33" name="Group 52"/>
              <p:cNvGrpSpPr/>
              <p:nvPr/>
            </p:nvGrpSpPr>
            <p:grpSpPr>
              <a:xfrm>
                <a:off x="3061" y="1299"/>
                <a:ext cx="228" cy="271"/>
                <a:chOff x="1383" y="1616"/>
                <a:chExt cx="228" cy="271"/>
              </a:xfrm>
            </p:grpSpPr>
            <p:sp>
              <p:nvSpPr>
                <p:cNvPr id="64192" name="Rectangle 53"/>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193" name="Line 54"/>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194" name="Line 55"/>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195" name="Line 56"/>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196" name="Line 57"/>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197" name="Line 58"/>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198" name="Line 59"/>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199" name="Line 60"/>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200" name="Line 61"/>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201" name="Line 62"/>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202" name="Line 63"/>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34" name="Group 64"/>
              <p:cNvGrpSpPr/>
              <p:nvPr/>
            </p:nvGrpSpPr>
            <p:grpSpPr>
              <a:xfrm>
                <a:off x="3424" y="1299"/>
                <a:ext cx="228" cy="271"/>
                <a:chOff x="1383" y="1616"/>
                <a:chExt cx="228" cy="271"/>
              </a:xfrm>
            </p:grpSpPr>
            <p:sp>
              <p:nvSpPr>
                <p:cNvPr id="64181" name="Rectangle 65"/>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182" name="Line 66"/>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183" name="Line 67"/>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184" name="Line 68"/>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185" name="Line 69"/>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186" name="Line 70"/>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187" name="Line 71"/>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188" name="Line 72"/>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189" name="Line 73"/>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190" name="Line 74"/>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191" name="Line 75"/>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35" name="Group 76"/>
              <p:cNvGrpSpPr/>
              <p:nvPr/>
            </p:nvGrpSpPr>
            <p:grpSpPr>
              <a:xfrm>
                <a:off x="3787" y="1299"/>
                <a:ext cx="228" cy="271"/>
                <a:chOff x="1383" y="1616"/>
                <a:chExt cx="228" cy="271"/>
              </a:xfrm>
            </p:grpSpPr>
            <p:sp>
              <p:nvSpPr>
                <p:cNvPr id="64170" name="Rectangle 77"/>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171" name="Line 78"/>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172" name="Line 79"/>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173" name="Line 80"/>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174" name="Line 81"/>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175" name="Line 82"/>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176" name="Line 83"/>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177" name="Line 84"/>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178" name="Line 85"/>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179" name="Line 86"/>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180" name="Line 87"/>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36" name="Group 88"/>
              <p:cNvGrpSpPr/>
              <p:nvPr/>
            </p:nvGrpSpPr>
            <p:grpSpPr>
              <a:xfrm>
                <a:off x="1564" y="1662"/>
                <a:ext cx="228" cy="271"/>
                <a:chOff x="1383" y="1616"/>
                <a:chExt cx="228" cy="271"/>
              </a:xfrm>
            </p:grpSpPr>
            <p:sp>
              <p:nvSpPr>
                <p:cNvPr id="64159" name="Rectangle 89"/>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160" name="Line 90"/>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161" name="Line 91"/>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162" name="Line 92"/>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163" name="Line 93"/>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164" name="Line 94"/>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165" name="Line 95"/>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166" name="Line 96"/>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167" name="Line 97"/>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168" name="Line 98"/>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169" name="Line 99"/>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37" name="Group 100"/>
              <p:cNvGrpSpPr/>
              <p:nvPr/>
            </p:nvGrpSpPr>
            <p:grpSpPr>
              <a:xfrm>
                <a:off x="1927" y="1662"/>
                <a:ext cx="228" cy="271"/>
                <a:chOff x="1383" y="1616"/>
                <a:chExt cx="228" cy="271"/>
              </a:xfrm>
            </p:grpSpPr>
            <p:sp>
              <p:nvSpPr>
                <p:cNvPr id="64148" name="Rectangle 101"/>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149" name="Line 102"/>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150" name="Line 103"/>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151" name="Line 104"/>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152" name="Line 105"/>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153" name="Line 106"/>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154" name="Line 107"/>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155" name="Line 108"/>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156" name="Line 109"/>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157" name="Line 110"/>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158" name="Line 111"/>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38" name="Group 112"/>
              <p:cNvGrpSpPr/>
              <p:nvPr/>
            </p:nvGrpSpPr>
            <p:grpSpPr>
              <a:xfrm>
                <a:off x="2290" y="1662"/>
                <a:ext cx="228" cy="271"/>
                <a:chOff x="1383" y="1616"/>
                <a:chExt cx="228" cy="271"/>
              </a:xfrm>
            </p:grpSpPr>
            <p:sp>
              <p:nvSpPr>
                <p:cNvPr id="64137" name="Rectangle 113"/>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138" name="Line 114"/>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139" name="Line 115"/>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140" name="Line 116"/>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141" name="Line 117"/>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142" name="Line 118"/>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143" name="Line 119"/>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144" name="Line 120"/>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145" name="Line 121"/>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146" name="Line 122"/>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147" name="Line 123"/>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39" name="Group 124"/>
              <p:cNvGrpSpPr/>
              <p:nvPr/>
            </p:nvGrpSpPr>
            <p:grpSpPr>
              <a:xfrm>
                <a:off x="2653" y="1662"/>
                <a:ext cx="228" cy="271"/>
                <a:chOff x="1383" y="1616"/>
                <a:chExt cx="228" cy="271"/>
              </a:xfrm>
            </p:grpSpPr>
            <p:sp>
              <p:nvSpPr>
                <p:cNvPr id="64126" name="Rectangle 125"/>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127" name="Line 126"/>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128" name="Line 127"/>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129" name="Line 128"/>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130" name="Line 129"/>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131" name="Line 130"/>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132" name="Line 131"/>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133" name="Line 132"/>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134" name="Line 133"/>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135" name="Line 134"/>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136" name="Line 135"/>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40" name="Group 136"/>
              <p:cNvGrpSpPr/>
              <p:nvPr/>
            </p:nvGrpSpPr>
            <p:grpSpPr>
              <a:xfrm>
                <a:off x="3061" y="1662"/>
                <a:ext cx="228" cy="271"/>
                <a:chOff x="1383" y="1616"/>
                <a:chExt cx="228" cy="271"/>
              </a:xfrm>
            </p:grpSpPr>
            <p:sp>
              <p:nvSpPr>
                <p:cNvPr id="64115" name="Rectangle 137"/>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116" name="Line 138"/>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117" name="Line 139"/>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118" name="Line 140"/>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119" name="Line 141"/>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120" name="Line 142"/>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121" name="Line 143"/>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122" name="Line 144"/>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123" name="Line 145"/>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124" name="Line 146"/>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125" name="Line 147"/>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41" name="Group 148"/>
              <p:cNvGrpSpPr/>
              <p:nvPr/>
            </p:nvGrpSpPr>
            <p:grpSpPr>
              <a:xfrm>
                <a:off x="3424" y="1662"/>
                <a:ext cx="228" cy="271"/>
                <a:chOff x="1383" y="1616"/>
                <a:chExt cx="228" cy="271"/>
              </a:xfrm>
            </p:grpSpPr>
            <p:sp>
              <p:nvSpPr>
                <p:cNvPr id="64104" name="Rectangle 149"/>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105" name="Line 150"/>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106" name="Line 151"/>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107" name="Line 152"/>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108" name="Line 153"/>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109" name="Line 154"/>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110" name="Line 155"/>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111" name="Line 156"/>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112" name="Line 157"/>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113" name="Line 158"/>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114" name="Line 159"/>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42" name="Group 160"/>
              <p:cNvGrpSpPr/>
              <p:nvPr/>
            </p:nvGrpSpPr>
            <p:grpSpPr>
              <a:xfrm>
                <a:off x="3787" y="1662"/>
                <a:ext cx="228" cy="271"/>
                <a:chOff x="1383" y="1616"/>
                <a:chExt cx="228" cy="271"/>
              </a:xfrm>
            </p:grpSpPr>
            <p:sp>
              <p:nvSpPr>
                <p:cNvPr id="64093" name="Rectangle 161"/>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094" name="Line 162"/>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095" name="Line 163"/>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096" name="Line 164"/>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097" name="Line 165"/>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098" name="Line 166"/>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099" name="Line 167"/>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100" name="Line 168"/>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101" name="Line 169"/>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102" name="Line 170"/>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103" name="Line 171"/>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43" name="Group 172"/>
              <p:cNvGrpSpPr/>
              <p:nvPr/>
            </p:nvGrpSpPr>
            <p:grpSpPr>
              <a:xfrm>
                <a:off x="1564" y="2024"/>
                <a:ext cx="228" cy="271"/>
                <a:chOff x="1383" y="1616"/>
                <a:chExt cx="228" cy="271"/>
              </a:xfrm>
            </p:grpSpPr>
            <p:sp>
              <p:nvSpPr>
                <p:cNvPr id="64082" name="Rectangle 173"/>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083" name="Line 174"/>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084" name="Line 175"/>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085" name="Line 176"/>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086" name="Line 177"/>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087" name="Line 178"/>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088" name="Line 179"/>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089" name="Line 180"/>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090" name="Line 181"/>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091" name="Line 182"/>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092" name="Line 183"/>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44" name="Group 184"/>
              <p:cNvGrpSpPr/>
              <p:nvPr/>
            </p:nvGrpSpPr>
            <p:grpSpPr>
              <a:xfrm>
                <a:off x="1927" y="2024"/>
                <a:ext cx="228" cy="271"/>
                <a:chOff x="1383" y="1616"/>
                <a:chExt cx="228" cy="271"/>
              </a:xfrm>
            </p:grpSpPr>
            <p:sp>
              <p:nvSpPr>
                <p:cNvPr id="64071" name="Rectangle 185"/>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072" name="Line 186"/>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073" name="Line 187"/>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074" name="Line 188"/>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075" name="Line 189"/>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076" name="Line 190"/>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077" name="Line 191"/>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078" name="Line 192"/>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079" name="Line 193"/>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080" name="Line 194"/>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081" name="Line 195"/>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45" name="Group 196"/>
              <p:cNvGrpSpPr/>
              <p:nvPr/>
            </p:nvGrpSpPr>
            <p:grpSpPr>
              <a:xfrm>
                <a:off x="2290" y="2024"/>
                <a:ext cx="228" cy="271"/>
                <a:chOff x="1383" y="1616"/>
                <a:chExt cx="228" cy="271"/>
              </a:xfrm>
            </p:grpSpPr>
            <p:sp>
              <p:nvSpPr>
                <p:cNvPr id="64060" name="Rectangle 197"/>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061" name="Line 198"/>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062" name="Line 199"/>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063" name="Line 200"/>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064" name="Line 201"/>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065" name="Line 202"/>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066" name="Line 203"/>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067" name="Line 204"/>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068" name="Line 205"/>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069" name="Line 206"/>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070" name="Line 207"/>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46" name="Group 208"/>
              <p:cNvGrpSpPr/>
              <p:nvPr/>
            </p:nvGrpSpPr>
            <p:grpSpPr>
              <a:xfrm>
                <a:off x="2653" y="2024"/>
                <a:ext cx="228" cy="271"/>
                <a:chOff x="1383" y="1616"/>
                <a:chExt cx="228" cy="271"/>
              </a:xfrm>
            </p:grpSpPr>
            <p:sp>
              <p:nvSpPr>
                <p:cNvPr id="64049" name="Rectangle 209"/>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050" name="Line 210"/>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051" name="Line 211"/>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052" name="Line 212"/>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053" name="Line 213"/>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054" name="Line 214"/>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055" name="Line 215"/>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056" name="Line 216"/>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057" name="Line 217"/>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058" name="Line 218"/>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059" name="Line 219"/>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47" name="Group 220"/>
              <p:cNvGrpSpPr/>
              <p:nvPr/>
            </p:nvGrpSpPr>
            <p:grpSpPr>
              <a:xfrm>
                <a:off x="3061" y="2024"/>
                <a:ext cx="228" cy="271"/>
                <a:chOff x="1383" y="1616"/>
                <a:chExt cx="228" cy="271"/>
              </a:xfrm>
            </p:grpSpPr>
            <p:sp>
              <p:nvSpPr>
                <p:cNvPr id="64038" name="Rectangle 221"/>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039" name="Line 222"/>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040" name="Line 223"/>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041" name="Line 224"/>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042" name="Line 225"/>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043" name="Line 226"/>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044" name="Line 227"/>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045" name="Line 228"/>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046" name="Line 229"/>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047" name="Line 230"/>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048" name="Line 231"/>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48" name="Group 232"/>
              <p:cNvGrpSpPr/>
              <p:nvPr/>
            </p:nvGrpSpPr>
            <p:grpSpPr>
              <a:xfrm>
                <a:off x="3424" y="2024"/>
                <a:ext cx="228" cy="271"/>
                <a:chOff x="1383" y="1616"/>
                <a:chExt cx="228" cy="271"/>
              </a:xfrm>
            </p:grpSpPr>
            <p:sp>
              <p:nvSpPr>
                <p:cNvPr id="64027" name="Rectangle 233"/>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028" name="Line 234"/>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029" name="Line 235"/>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030" name="Line 236"/>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031" name="Line 237"/>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032" name="Line 238"/>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033" name="Line 239"/>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034" name="Line 240"/>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035" name="Line 241"/>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036" name="Line 242"/>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037" name="Line 243"/>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49" name="Group 244"/>
              <p:cNvGrpSpPr/>
              <p:nvPr/>
            </p:nvGrpSpPr>
            <p:grpSpPr>
              <a:xfrm>
                <a:off x="3787" y="2024"/>
                <a:ext cx="228" cy="271"/>
                <a:chOff x="1383" y="1616"/>
                <a:chExt cx="228" cy="271"/>
              </a:xfrm>
            </p:grpSpPr>
            <p:sp>
              <p:nvSpPr>
                <p:cNvPr id="64016" name="Rectangle 245"/>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017" name="Line 246"/>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018" name="Line 247"/>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019" name="Line 248"/>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020" name="Line 249"/>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021" name="Line 250"/>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022" name="Line 251"/>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023" name="Line 252"/>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024" name="Line 253"/>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025" name="Line 254"/>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026" name="Line 255"/>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50" name="Group 256"/>
              <p:cNvGrpSpPr/>
              <p:nvPr/>
            </p:nvGrpSpPr>
            <p:grpSpPr>
              <a:xfrm>
                <a:off x="1564" y="2388"/>
                <a:ext cx="228" cy="271"/>
                <a:chOff x="1383" y="1616"/>
                <a:chExt cx="228" cy="271"/>
              </a:xfrm>
            </p:grpSpPr>
            <p:sp>
              <p:nvSpPr>
                <p:cNvPr id="64005" name="Rectangle 257"/>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4006" name="Line 258"/>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4007" name="Line 259"/>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4008" name="Line 260"/>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4009" name="Line 261"/>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4010" name="Line 262"/>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011" name="Line 263"/>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012" name="Line 264"/>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013" name="Line 265"/>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014" name="Line 266"/>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015" name="Line 267"/>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51" name="Group 268"/>
              <p:cNvGrpSpPr/>
              <p:nvPr/>
            </p:nvGrpSpPr>
            <p:grpSpPr>
              <a:xfrm>
                <a:off x="1927" y="2388"/>
                <a:ext cx="228" cy="271"/>
                <a:chOff x="1383" y="1616"/>
                <a:chExt cx="228" cy="271"/>
              </a:xfrm>
            </p:grpSpPr>
            <p:sp>
              <p:nvSpPr>
                <p:cNvPr id="63994" name="Rectangle 269"/>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995" name="Line 270"/>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996" name="Line 271"/>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997" name="Line 272"/>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998" name="Line 273"/>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999" name="Line 274"/>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4000" name="Line 275"/>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4001" name="Line 276"/>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4002" name="Line 277"/>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4003" name="Line 278"/>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4004" name="Line 279"/>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52" name="Group 280"/>
              <p:cNvGrpSpPr/>
              <p:nvPr/>
            </p:nvGrpSpPr>
            <p:grpSpPr>
              <a:xfrm>
                <a:off x="2290" y="2388"/>
                <a:ext cx="228" cy="271"/>
                <a:chOff x="1383" y="1616"/>
                <a:chExt cx="228" cy="271"/>
              </a:xfrm>
            </p:grpSpPr>
            <p:sp>
              <p:nvSpPr>
                <p:cNvPr id="63983" name="Rectangle 281"/>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984" name="Line 282"/>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985" name="Line 283"/>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986" name="Line 284"/>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987" name="Line 285"/>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988" name="Line 286"/>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989" name="Line 287"/>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990" name="Line 288"/>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991" name="Line 289"/>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992" name="Line 290"/>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993" name="Line 291"/>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53" name="Group 292"/>
              <p:cNvGrpSpPr/>
              <p:nvPr/>
            </p:nvGrpSpPr>
            <p:grpSpPr>
              <a:xfrm>
                <a:off x="2653" y="2388"/>
                <a:ext cx="228" cy="271"/>
                <a:chOff x="1383" y="1616"/>
                <a:chExt cx="228" cy="271"/>
              </a:xfrm>
            </p:grpSpPr>
            <p:sp>
              <p:nvSpPr>
                <p:cNvPr id="63972" name="Rectangle 293"/>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973" name="Line 294"/>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974" name="Line 295"/>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975" name="Line 296"/>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976" name="Line 297"/>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977" name="Line 298"/>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978" name="Line 299"/>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979" name="Line 300"/>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980" name="Line 301"/>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981" name="Line 302"/>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982" name="Line 303"/>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54" name="Group 304"/>
              <p:cNvGrpSpPr/>
              <p:nvPr/>
            </p:nvGrpSpPr>
            <p:grpSpPr>
              <a:xfrm>
                <a:off x="3061" y="2388"/>
                <a:ext cx="228" cy="271"/>
                <a:chOff x="1383" y="1616"/>
                <a:chExt cx="228" cy="271"/>
              </a:xfrm>
            </p:grpSpPr>
            <p:sp>
              <p:nvSpPr>
                <p:cNvPr id="63961" name="Rectangle 305"/>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962" name="Line 306"/>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963" name="Line 307"/>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964" name="Line 308"/>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965" name="Line 309"/>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966" name="Line 310"/>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967" name="Line 311"/>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968" name="Line 312"/>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969" name="Line 313"/>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970" name="Line 314"/>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971" name="Line 315"/>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55" name="Group 316"/>
              <p:cNvGrpSpPr/>
              <p:nvPr/>
            </p:nvGrpSpPr>
            <p:grpSpPr>
              <a:xfrm>
                <a:off x="3424" y="2388"/>
                <a:ext cx="228" cy="271"/>
                <a:chOff x="1383" y="1616"/>
                <a:chExt cx="228" cy="271"/>
              </a:xfrm>
            </p:grpSpPr>
            <p:sp>
              <p:nvSpPr>
                <p:cNvPr id="63950" name="Rectangle 317"/>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951" name="Line 318"/>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952" name="Line 319"/>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953" name="Line 320"/>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954" name="Line 321"/>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955" name="Line 322"/>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956" name="Line 323"/>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957" name="Line 324"/>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958" name="Line 325"/>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959" name="Line 326"/>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960" name="Line 327"/>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56" name="Group 328"/>
              <p:cNvGrpSpPr/>
              <p:nvPr/>
            </p:nvGrpSpPr>
            <p:grpSpPr>
              <a:xfrm>
                <a:off x="3787" y="2388"/>
                <a:ext cx="228" cy="271"/>
                <a:chOff x="1383" y="1616"/>
                <a:chExt cx="228" cy="271"/>
              </a:xfrm>
            </p:grpSpPr>
            <p:sp>
              <p:nvSpPr>
                <p:cNvPr id="63939" name="Rectangle 329"/>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940" name="Line 330"/>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941" name="Line 331"/>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942" name="Line 332"/>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943" name="Line 333"/>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944" name="Line 334"/>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945" name="Line 335"/>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946" name="Line 336"/>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947" name="Line 337"/>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948" name="Line 338"/>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949" name="Line 339"/>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57" name="Group 340"/>
              <p:cNvGrpSpPr/>
              <p:nvPr/>
            </p:nvGrpSpPr>
            <p:grpSpPr>
              <a:xfrm>
                <a:off x="1564" y="2751"/>
                <a:ext cx="228" cy="271"/>
                <a:chOff x="1383" y="1616"/>
                <a:chExt cx="228" cy="271"/>
              </a:xfrm>
            </p:grpSpPr>
            <p:sp>
              <p:nvSpPr>
                <p:cNvPr id="63928" name="Rectangle 341"/>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929" name="Line 342"/>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930" name="Line 343"/>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931" name="Line 344"/>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932" name="Line 345"/>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933" name="Line 346"/>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934" name="Line 347"/>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935" name="Line 348"/>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936" name="Line 349"/>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937" name="Line 350"/>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938" name="Line 351"/>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58" name="Group 352"/>
              <p:cNvGrpSpPr/>
              <p:nvPr/>
            </p:nvGrpSpPr>
            <p:grpSpPr>
              <a:xfrm>
                <a:off x="1927" y="2751"/>
                <a:ext cx="228" cy="271"/>
                <a:chOff x="1383" y="1616"/>
                <a:chExt cx="228" cy="271"/>
              </a:xfrm>
            </p:grpSpPr>
            <p:sp>
              <p:nvSpPr>
                <p:cNvPr id="63917" name="Rectangle 353"/>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918" name="Line 354"/>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919" name="Line 355"/>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920" name="Line 356"/>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921" name="Line 357"/>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922" name="Line 358"/>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923" name="Line 359"/>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924" name="Line 360"/>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925" name="Line 361"/>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926" name="Line 362"/>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927" name="Line 363"/>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59" name="Group 364"/>
              <p:cNvGrpSpPr/>
              <p:nvPr/>
            </p:nvGrpSpPr>
            <p:grpSpPr>
              <a:xfrm>
                <a:off x="2290" y="2751"/>
                <a:ext cx="228" cy="271"/>
                <a:chOff x="1383" y="1616"/>
                <a:chExt cx="228" cy="271"/>
              </a:xfrm>
            </p:grpSpPr>
            <p:sp>
              <p:nvSpPr>
                <p:cNvPr id="63906" name="Rectangle 365"/>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907" name="Line 366"/>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908" name="Line 367"/>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909" name="Line 368"/>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910" name="Line 369"/>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911" name="Line 370"/>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912" name="Line 371"/>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913" name="Line 372"/>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914" name="Line 373"/>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915" name="Line 374"/>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916" name="Line 375"/>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60" name="Group 376"/>
              <p:cNvGrpSpPr/>
              <p:nvPr/>
            </p:nvGrpSpPr>
            <p:grpSpPr>
              <a:xfrm>
                <a:off x="2653" y="2751"/>
                <a:ext cx="228" cy="271"/>
                <a:chOff x="1383" y="1616"/>
                <a:chExt cx="228" cy="271"/>
              </a:xfrm>
            </p:grpSpPr>
            <p:sp>
              <p:nvSpPr>
                <p:cNvPr id="63895" name="Rectangle 377"/>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896" name="Line 378"/>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897" name="Line 379"/>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898" name="Line 380"/>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899" name="Line 381"/>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900" name="Line 382"/>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901" name="Line 383"/>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902" name="Line 384"/>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903" name="Line 385"/>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904" name="Line 386"/>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905" name="Line 387"/>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61" name="Group 388"/>
              <p:cNvGrpSpPr/>
              <p:nvPr/>
            </p:nvGrpSpPr>
            <p:grpSpPr>
              <a:xfrm>
                <a:off x="3061" y="2751"/>
                <a:ext cx="228" cy="271"/>
                <a:chOff x="1383" y="1616"/>
                <a:chExt cx="228" cy="271"/>
              </a:xfrm>
            </p:grpSpPr>
            <p:sp>
              <p:nvSpPr>
                <p:cNvPr id="63884" name="Rectangle 389"/>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885" name="Line 390"/>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886" name="Line 391"/>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887" name="Line 392"/>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888" name="Line 393"/>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889" name="Line 394"/>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890" name="Line 395"/>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891" name="Line 396"/>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892" name="Line 397"/>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893" name="Line 398"/>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894" name="Line 399"/>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62" name="Group 400"/>
              <p:cNvGrpSpPr/>
              <p:nvPr/>
            </p:nvGrpSpPr>
            <p:grpSpPr>
              <a:xfrm>
                <a:off x="3424" y="2751"/>
                <a:ext cx="228" cy="271"/>
                <a:chOff x="1383" y="1616"/>
                <a:chExt cx="228" cy="271"/>
              </a:xfrm>
            </p:grpSpPr>
            <p:sp>
              <p:nvSpPr>
                <p:cNvPr id="63873" name="Rectangle 401"/>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874" name="Line 402"/>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875" name="Line 403"/>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876" name="Line 404"/>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877" name="Line 405"/>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878" name="Line 406"/>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879" name="Line 407"/>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880" name="Line 408"/>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881" name="Line 409"/>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882" name="Line 410"/>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883" name="Line 411"/>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63" name="Group 412"/>
              <p:cNvGrpSpPr/>
              <p:nvPr/>
            </p:nvGrpSpPr>
            <p:grpSpPr>
              <a:xfrm>
                <a:off x="3787" y="2751"/>
                <a:ext cx="228" cy="271"/>
                <a:chOff x="1383" y="1616"/>
                <a:chExt cx="228" cy="271"/>
              </a:xfrm>
            </p:grpSpPr>
            <p:sp>
              <p:nvSpPr>
                <p:cNvPr id="63862" name="Rectangle 413"/>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863" name="Line 414"/>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864" name="Line 415"/>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865" name="Line 416"/>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866" name="Line 417"/>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867" name="Line 418"/>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868" name="Line 419"/>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869" name="Line 420"/>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870" name="Line 421"/>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871" name="Line 422"/>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872" name="Line 423"/>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64" name="Group 424"/>
              <p:cNvGrpSpPr/>
              <p:nvPr/>
            </p:nvGrpSpPr>
            <p:grpSpPr>
              <a:xfrm>
                <a:off x="1564" y="3113"/>
                <a:ext cx="228" cy="271"/>
                <a:chOff x="1383" y="1616"/>
                <a:chExt cx="228" cy="271"/>
              </a:xfrm>
            </p:grpSpPr>
            <p:sp>
              <p:nvSpPr>
                <p:cNvPr id="63851" name="Rectangle 425"/>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852" name="Line 426"/>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853" name="Line 427"/>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854" name="Line 428"/>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855" name="Line 429"/>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856" name="Line 430"/>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857" name="Line 431"/>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858" name="Line 432"/>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859" name="Line 433"/>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860" name="Line 434"/>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861" name="Line 435"/>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65" name="Group 436"/>
              <p:cNvGrpSpPr/>
              <p:nvPr/>
            </p:nvGrpSpPr>
            <p:grpSpPr>
              <a:xfrm>
                <a:off x="1927" y="3113"/>
                <a:ext cx="228" cy="271"/>
                <a:chOff x="1383" y="1616"/>
                <a:chExt cx="228" cy="271"/>
              </a:xfrm>
            </p:grpSpPr>
            <p:sp>
              <p:nvSpPr>
                <p:cNvPr id="63840" name="Rectangle 437"/>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841" name="Line 438"/>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842" name="Line 439"/>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843" name="Line 440"/>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844" name="Line 441"/>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845" name="Line 442"/>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846" name="Line 443"/>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847" name="Line 444"/>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848" name="Line 445"/>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849" name="Line 446"/>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850" name="Line 447"/>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66" name="Group 448"/>
              <p:cNvGrpSpPr/>
              <p:nvPr/>
            </p:nvGrpSpPr>
            <p:grpSpPr>
              <a:xfrm>
                <a:off x="2290" y="3113"/>
                <a:ext cx="228" cy="271"/>
                <a:chOff x="1383" y="1616"/>
                <a:chExt cx="228" cy="271"/>
              </a:xfrm>
            </p:grpSpPr>
            <p:sp>
              <p:nvSpPr>
                <p:cNvPr id="63829" name="Rectangle 449"/>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830" name="Line 450"/>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831" name="Line 451"/>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832" name="Line 452"/>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833" name="Line 453"/>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834" name="Line 454"/>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835" name="Line 455"/>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836" name="Line 456"/>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837" name="Line 457"/>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838" name="Line 458"/>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839" name="Line 459"/>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67" name="Group 460"/>
              <p:cNvGrpSpPr/>
              <p:nvPr/>
            </p:nvGrpSpPr>
            <p:grpSpPr>
              <a:xfrm>
                <a:off x="2653" y="3113"/>
                <a:ext cx="228" cy="271"/>
                <a:chOff x="1383" y="1616"/>
                <a:chExt cx="228" cy="271"/>
              </a:xfrm>
            </p:grpSpPr>
            <p:sp>
              <p:nvSpPr>
                <p:cNvPr id="63818" name="Rectangle 461"/>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819" name="Line 462"/>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820" name="Line 463"/>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821" name="Line 464"/>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822" name="Line 465"/>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823" name="Line 466"/>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824" name="Line 467"/>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825" name="Line 468"/>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826" name="Line 469"/>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827" name="Line 470"/>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828" name="Line 471"/>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68" name="Group 472"/>
              <p:cNvGrpSpPr/>
              <p:nvPr/>
            </p:nvGrpSpPr>
            <p:grpSpPr>
              <a:xfrm>
                <a:off x="3061" y="3113"/>
                <a:ext cx="228" cy="271"/>
                <a:chOff x="1383" y="1616"/>
                <a:chExt cx="228" cy="271"/>
              </a:xfrm>
            </p:grpSpPr>
            <p:sp>
              <p:nvSpPr>
                <p:cNvPr id="63807" name="Rectangle 473"/>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808" name="Line 474"/>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809" name="Line 475"/>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810" name="Line 476"/>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811" name="Line 477"/>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812" name="Line 478"/>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813" name="Line 479"/>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814" name="Line 480"/>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815" name="Line 481"/>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816" name="Line 482"/>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817" name="Line 483"/>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69" name="Group 484"/>
              <p:cNvGrpSpPr/>
              <p:nvPr/>
            </p:nvGrpSpPr>
            <p:grpSpPr>
              <a:xfrm>
                <a:off x="3424" y="3113"/>
                <a:ext cx="228" cy="271"/>
                <a:chOff x="1383" y="1616"/>
                <a:chExt cx="228" cy="271"/>
              </a:xfrm>
            </p:grpSpPr>
            <p:sp>
              <p:nvSpPr>
                <p:cNvPr id="63796" name="Rectangle 485"/>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97" name="Line 486"/>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798" name="Line 487"/>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799" name="Line 488"/>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800" name="Line 489"/>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801" name="Line 490"/>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802" name="Line 491"/>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803" name="Line 492"/>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804" name="Line 493"/>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805" name="Line 494"/>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806" name="Line 495"/>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70" name="Group 496"/>
              <p:cNvGrpSpPr/>
              <p:nvPr/>
            </p:nvGrpSpPr>
            <p:grpSpPr>
              <a:xfrm>
                <a:off x="3787" y="3113"/>
                <a:ext cx="228" cy="271"/>
                <a:chOff x="1383" y="1616"/>
                <a:chExt cx="228" cy="271"/>
              </a:xfrm>
            </p:grpSpPr>
            <p:sp>
              <p:nvSpPr>
                <p:cNvPr id="63785" name="Rectangle 497"/>
                <p:cNvSpPr/>
                <p:nvPr/>
              </p:nvSpPr>
              <p:spPr>
                <a:xfrm>
                  <a:off x="1429" y="1661"/>
                  <a:ext cx="136" cy="181"/>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86" name="Line 498"/>
                <p:cNvSpPr/>
                <p:nvPr/>
              </p:nvSpPr>
              <p:spPr>
                <a:xfrm>
                  <a:off x="1565" y="1706"/>
                  <a:ext cx="46" cy="0"/>
                </a:xfrm>
                <a:prstGeom prst="line">
                  <a:avLst/>
                </a:prstGeom>
                <a:ln w="19050" cap="flat" cmpd="sng">
                  <a:solidFill>
                    <a:schemeClr val="tx1"/>
                  </a:solidFill>
                  <a:prstDash val="solid"/>
                  <a:headEnd type="none" w="med" len="med"/>
                  <a:tailEnd type="none" w="med" len="med"/>
                </a:ln>
              </p:spPr>
            </p:sp>
            <p:sp>
              <p:nvSpPr>
                <p:cNvPr id="63787" name="Line 499"/>
                <p:cNvSpPr/>
                <p:nvPr/>
              </p:nvSpPr>
              <p:spPr>
                <a:xfrm>
                  <a:off x="1565" y="1752"/>
                  <a:ext cx="46" cy="0"/>
                </a:xfrm>
                <a:prstGeom prst="line">
                  <a:avLst/>
                </a:prstGeom>
                <a:ln w="19050" cap="flat" cmpd="sng">
                  <a:solidFill>
                    <a:schemeClr val="tx1"/>
                  </a:solidFill>
                  <a:prstDash val="solid"/>
                  <a:headEnd type="none" w="med" len="med"/>
                  <a:tailEnd type="none" w="med" len="med"/>
                </a:ln>
              </p:spPr>
            </p:sp>
            <p:sp>
              <p:nvSpPr>
                <p:cNvPr id="63788" name="Line 500"/>
                <p:cNvSpPr/>
                <p:nvPr/>
              </p:nvSpPr>
              <p:spPr>
                <a:xfrm>
                  <a:off x="1565" y="1797"/>
                  <a:ext cx="46" cy="0"/>
                </a:xfrm>
                <a:prstGeom prst="line">
                  <a:avLst/>
                </a:prstGeom>
                <a:ln w="19050" cap="flat" cmpd="sng">
                  <a:solidFill>
                    <a:schemeClr val="tx1"/>
                  </a:solidFill>
                  <a:prstDash val="solid"/>
                  <a:headEnd type="none" w="med" len="med"/>
                  <a:tailEnd type="none" w="med" len="med"/>
                </a:ln>
              </p:spPr>
            </p:sp>
            <p:sp>
              <p:nvSpPr>
                <p:cNvPr id="63789" name="Line 501"/>
                <p:cNvSpPr/>
                <p:nvPr/>
              </p:nvSpPr>
              <p:spPr>
                <a:xfrm>
                  <a:off x="1383" y="1706"/>
                  <a:ext cx="46" cy="0"/>
                </a:xfrm>
                <a:prstGeom prst="line">
                  <a:avLst/>
                </a:prstGeom>
                <a:ln w="19050" cap="flat" cmpd="sng">
                  <a:solidFill>
                    <a:schemeClr val="tx1"/>
                  </a:solidFill>
                  <a:prstDash val="solid"/>
                  <a:headEnd type="none" w="med" len="med"/>
                  <a:tailEnd type="none" w="med" len="med"/>
                </a:ln>
              </p:spPr>
            </p:sp>
            <p:sp>
              <p:nvSpPr>
                <p:cNvPr id="63790" name="Line 502"/>
                <p:cNvSpPr/>
                <p:nvPr/>
              </p:nvSpPr>
              <p:spPr>
                <a:xfrm>
                  <a:off x="1383" y="1752"/>
                  <a:ext cx="46" cy="0"/>
                </a:xfrm>
                <a:prstGeom prst="line">
                  <a:avLst/>
                </a:prstGeom>
                <a:ln w="19050" cap="flat" cmpd="sng">
                  <a:solidFill>
                    <a:schemeClr val="tx1"/>
                  </a:solidFill>
                  <a:prstDash val="solid"/>
                  <a:headEnd type="none" w="med" len="med"/>
                  <a:tailEnd type="none" w="med" len="med"/>
                </a:ln>
              </p:spPr>
            </p:sp>
            <p:sp>
              <p:nvSpPr>
                <p:cNvPr id="63791" name="Line 503"/>
                <p:cNvSpPr/>
                <p:nvPr/>
              </p:nvSpPr>
              <p:spPr>
                <a:xfrm>
                  <a:off x="1383" y="1797"/>
                  <a:ext cx="46" cy="0"/>
                </a:xfrm>
                <a:prstGeom prst="line">
                  <a:avLst/>
                </a:prstGeom>
                <a:ln w="19050" cap="flat" cmpd="sng">
                  <a:solidFill>
                    <a:schemeClr val="tx1"/>
                  </a:solidFill>
                  <a:prstDash val="solid"/>
                  <a:headEnd type="none" w="med" len="med"/>
                  <a:tailEnd type="none" w="med" len="med"/>
                </a:ln>
              </p:spPr>
            </p:sp>
            <p:sp>
              <p:nvSpPr>
                <p:cNvPr id="63792" name="Line 504"/>
                <p:cNvSpPr/>
                <p:nvPr/>
              </p:nvSpPr>
              <p:spPr>
                <a:xfrm flipH="1">
                  <a:off x="1474" y="1616"/>
                  <a:ext cx="0" cy="45"/>
                </a:xfrm>
                <a:prstGeom prst="line">
                  <a:avLst/>
                </a:prstGeom>
                <a:ln w="19050" cap="flat" cmpd="sng">
                  <a:solidFill>
                    <a:schemeClr val="tx1"/>
                  </a:solidFill>
                  <a:prstDash val="solid"/>
                  <a:headEnd type="none" w="med" len="med"/>
                  <a:tailEnd type="none" w="med" len="med"/>
                </a:ln>
              </p:spPr>
            </p:sp>
            <p:sp>
              <p:nvSpPr>
                <p:cNvPr id="63793" name="Line 505"/>
                <p:cNvSpPr/>
                <p:nvPr/>
              </p:nvSpPr>
              <p:spPr>
                <a:xfrm flipH="1">
                  <a:off x="1519" y="1616"/>
                  <a:ext cx="0" cy="45"/>
                </a:xfrm>
                <a:prstGeom prst="line">
                  <a:avLst/>
                </a:prstGeom>
                <a:ln w="19050" cap="flat" cmpd="sng">
                  <a:solidFill>
                    <a:schemeClr val="tx1"/>
                  </a:solidFill>
                  <a:prstDash val="solid"/>
                  <a:headEnd type="none" w="med" len="med"/>
                  <a:tailEnd type="none" w="med" len="med"/>
                </a:ln>
              </p:spPr>
            </p:sp>
            <p:sp>
              <p:nvSpPr>
                <p:cNvPr id="63794" name="Line 506"/>
                <p:cNvSpPr/>
                <p:nvPr/>
              </p:nvSpPr>
              <p:spPr>
                <a:xfrm flipH="1">
                  <a:off x="1474" y="1842"/>
                  <a:ext cx="0" cy="45"/>
                </a:xfrm>
                <a:prstGeom prst="line">
                  <a:avLst/>
                </a:prstGeom>
                <a:ln w="19050" cap="flat" cmpd="sng">
                  <a:solidFill>
                    <a:schemeClr val="tx1"/>
                  </a:solidFill>
                  <a:prstDash val="solid"/>
                  <a:headEnd type="none" w="med" len="med"/>
                  <a:tailEnd type="none" w="med" len="med"/>
                </a:ln>
              </p:spPr>
            </p:sp>
            <p:sp>
              <p:nvSpPr>
                <p:cNvPr id="63795" name="Line 507"/>
                <p:cNvSpPr/>
                <p:nvPr/>
              </p:nvSpPr>
              <p:spPr>
                <a:xfrm flipH="1">
                  <a:off x="1519" y="1842"/>
                  <a:ext cx="0" cy="45"/>
                </a:xfrm>
                <a:prstGeom prst="line">
                  <a:avLst/>
                </a:prstGeom>
                <a:ln w="19050" cap="flat" cmpd="sng">
                  <a:solidFill>
                    <a:schemeClr val="tx1"/>
                  </a:solidFill>
                  <a:prstDash val="solid"/>
                  <a:headEnd type="none" w="med" len="med"/>
                  <a:tailEnd type="none" w="med" len="med"/>
                </a:ln>
              </p:spPr>
            </p:sp>
          </p:grpSp>
          <p:grpSp>
            <p:nvGrpSpPr>
              <p:cNvPr id="63571" name="Group 508"/>
              <p:cNvGrpSpPr/>
              <p:nvPr/>
            </p:nvGrpSpPr>
            <p:grpSpPr>
              <a:xfrm>
                <a:off x="1565" y="1117"/>
                <a:ext cx="180" cy="137"/>
                <a:chOff x="4468" y="2024"/>
                <a:chExt cx="180" cy="137"/>
              </a:xfrm>
            </p:grpSpPr>
            <p:sp>
              <p:nvSpPr>
                <p:cNvPr id="63778" name="Rectangle 509"/>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79" name="Rectangle 510"/>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80" name="Line 511"/>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81" name="Line 512"/>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82" name="Line 513"/>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83" name="Line 514"/>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84" name="Line 515"/>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572" name="Group 516"/>
              <p:cNvGrpSpPr/>
              <p:nvPr/>
            </p:nvGrpSpPr>
            <p:grpSpPr>
              <a:xfrm>
                <a:off x="2290" y="1117"/>
                <a:ext cx="180" cy="137"/>
                <a:chOff x="4468" y="2024"/>
                <a:chExt cx="180" cy="137"/>
              </a:xfrm>
            </p:grpSpPr>
            <p:sp>
              <p:nvSpPr>
                <p:cNvPr id="63771" name="Rectangle 517"/>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72" name="Rectangle 518"/>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73" name="Line 519"/>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74" name="Line 520"/>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75" name="Line 521"/>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76" name="Line 522"/>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77" name="Line 523"/>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573" name="Group 524"/>
              <p:cNvGrpSpPr/>
              <p:nvPr/>
            </p:nvGrpSpPr>
            <p:grpSpPr>
              <a:xfrm>
                <a:off x="1927" y="1117"/>
                <a:ext cx="180" cy="137"/>
                <a:chOff x="4468" y="2024"/>
                <a:chExt cx="180" cy="137"/>
              </a:xfrm>
            </p:grpSpPr>
            <p:sp>
              <p:nvSpPr>
                <p:cNvPr id="63764" name="Rectangle 525"/>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65" name="Rectangle 526"/>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66" name="Line 527"/>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67" name="Line 528"/>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68" name="Line 529"/>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69" name="Line 530"/>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70" name="Line 531"/>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574" name="Group 532"/>
              <p:cNvGrpSpPr/>
              <p:nvPr/>
            </p:nvGrpSpPr>
            <p:grpSpPr>
              <a:xfrm>
                <a:off x="2699" y="1117"/>
                <a:ext cx="180" cy="137"/>
                <a:chOff x="4468" y="2024"/>
                <a:chExt cx="180" cy="137"/>
              </a:xfrm>
            </p:grpSpPr>
            <p:sp>
              <p:nvSpPr>
                <p:cNvPr id="63757" name="Rectangle 533"/>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58" name="Rectangle 534"/>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59" name="Line 535"/>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60" name="Line 536"/>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61" name="Line 537"/>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62" name="Line 538"/>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63" name="Line 539"/>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575" name="Group 540"/>
              <p:cNvGrpSpPr/>
              <p:nvPr/>
            </p:nvGrpSpPr>
            <p:grpSpPr>
              <a:xfrm>
                <a:off x="3424" y="1117"/>
                <a:ext cx="180" cy="137"/>
                <a:chOff x="4468" y="2024"/>
                <a:chExt cx="180" cy="137"/>
              </a:xfrm>
            </p:grpSpPr>
            <p:sp>
              <p:nvSpPr>
                <p:cNvPr id="63750" name="Rectangle 541"/>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51" name="Rectangle 542"/>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52" name="Line 543"/>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53" name="Line 544"/>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54" name="Line 545"/>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55" name="Line 546"/>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56" name="Line 547"/>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576" name="Group 548"/>
              <p:cNvGrpSpPr/>
              <p:nvPr/>
            </p:nvGrpSpPr>
            <p:grpSpPr>
              <a:xfrm>
                <a:off x="3061" y="1117"/>
                <a:ext cx="180" cy="137"/>
                <a:chOff x="4468" y="2024"/>
                <a:chExt cx="180" cy="137"/>
              </a:xfrm>
            </p:grpSpPr>
            <p:sp>
              <p:nvSpPr>
                <p:cNvPr id="63743" name="Rectangle 549"/>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44" name="Rectangle 550"/>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45" name="Line 551"/>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46" name="Line 552"/>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47" name="Line 553"/>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48" name="Line 554"/>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49" name="Line 555"/>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577" name="Group 556"/>
              <p:cNvGrpSpPr/>
              <p:nvPr/>
            </p:nvGrpSpPr>
            <p:grpSpPr>
              <a:xfrm>
                <a:off x="3787" y="1117"/>
                <a:ext cx="180" cy="137"/>
                <a:chOff x="4468" y="2024"/>
                <a:chExt cx="180" cy="137"/>
              </a:xfrm>
            </p:grpSpPr>
            <p:sp>
              <p:nvSpPr>
                <p:cNvPr id="63736" name="Rectangle 557"/>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37" name="Rectangle 558"/>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38" name="Line 559"/>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39" name="Line 560"/>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40" name="Line 561"/>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41" name="Line 562"/>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42" name="Line 563"/>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578" name="Group 564"/>
              <p:cNvGrpSpPr/>
              <p:nvPr/>
            </p:nvGrpSpPr>
            <p:grpSpPr>
              <a:xfrm rot="10800000">
                <a:off x="1565" y="3430"/>
                <a:ext cx="2402" cy="137"/>
                <a:chOff x="1565" y="3430"/>
                <a:chExt cx="2402" cy="137"/>
              </a:xfrm>
            </p:grpSpPr>
            <p:grpSp>
              <p:nvGrpSpPr>
                <p:cNvPr id="63680" name="Group 565"/>
                <p:cNvGrpSpPr/>
                <p:nvPr/>
              </p:nvGrpSpPr>
              <p:grpSpPr>
                <a:xfrm>
                  <a:off x="1565" y="3430"/>
                  <a:ext cx="180" cy="137"/>
                  <a:chOff x="4468" y="2024"/>
                  <a:chExt cx="180" cy="137"/>
                </a:xfrm>
              </p:grpSpPr>
              <p:sp>
                <p:nvSpPr>
                  <p:cNvPr id="63729" name="Rectangle 566"/>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30" name="Rectangle 567"/>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31" name="Line 568"/>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32" name="Line 569"/>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33" name="Line 570"/>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34" name="Line 571"/>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35" name="Line 572"/>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81" name="Group 573"/>
                <p:cNvGrpSpPr/>
                <p:nvPr/>
              </p:nvGrpSpPr>
              <p:grpSpPr>
                <a:xfrm>
                  <a:off x="2290" y="3430"/>
                  <a:ext cx="180" cy="137"/>
                  <a:chOff x="4468" y="2024"/>
                  <a:chExt cx="180" cy="137"/>
                </a:xfrm>
              </p:grpSpPr>
              <p:sp>
                <p:nvSpPr>
                  <p:cNvPr id="63722" name="Rectangle 574"/>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23" name="Rectangle 575"/>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24" name="Line 576"/>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25" name="Line 577"/>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26" name="Line 578"/>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27" name="Line 579"/>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28" name="Line 580"/>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82" name="Group 581"/>
                <p:cNvGrpSpPr/>
                <p:nvPr/>
              </p:nvGrpSpPr>
              <p:grpSpPr>
                <a:xfrm>
                  <a:off x="1927" y="3430"/>
                  <a:ext cx="180" cy="137"/>
                  <a:chOff x="4468" y="2024"/>
                  <a:chExt cx="180" cy="137"/>
                </a:xfrm>
              </p:grpSpPr>
              <p:sp>
                <p:nvSpPr>
                  <p:cNvPr id="63715" name="Rectangle 582"/>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16" name="Rectangle 583"/>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17" name="Line 584"/>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18" name="Line 585"/>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19" name="Line 586"/>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20" name="Line 587"/>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21" name="Line 588"/>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83" name="Group 589"/>
                <p:cNvGrpSpPr/>
                <p:nvPr/>
              </p:nvGrpSpPr>
              <p:grpSpPr>
                <a:xfrm>
                  <a:off x="2699" y="3430"/>
                  <a:ext cx="180" cy="137"/>
                  <a:chOff x="4468" y="2024"/>
                  <a:chExt cx="180" cy="137"/>
                </a:xfrm>
              </p:grpSpPr>
              <p:sp>
                <p:nvSpPr>
                  <p:cNvPr id="63708" name="Rectangle 590"/>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09" name="Rectangle 591"/>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10" name="Line 592"/>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11" name="Line 593"/>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12" name="Line 594"/>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13" name="Line 595"/>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14" name="Line 596"/>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84" name="Group 597"/>
                <p:cNvGrpSpPr/>
                <p:nvPr/>
              </p:nvGrpSpPr>
              <p:grpSpPr>
                <a:xfrm>
                  <a:off x="3424" y="3430"/>
                  <a:ext cx="180" cy="137"/>
                  <a:chOff x="4468" y="2024"/>
                  <a:chExt cx="180" cy="137"/>
                </a:xfrm>
              </p:grpSpPr>
              <p:sp>
                <p:nvSpPr>
                  <p:cNvPr id="63701" name="Rectangle 598"/>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02" name="Rectangle 599"/>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703" name="Line 600"/>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704" name="Line 601"/>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705" name="Line 602"/>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706" name="Line 603"/>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07" name="Line 604"/>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85" name="Group 605"/>
                <p:cNvGrpSpPr/>
                <p:nvPr/>
              </p:nvGrpSpPr>
              <p:grpSpPr>
                <a:xfrm>
                  <a:off x="3061" y="3430"/>
                  <a:ext cx="180" cy="137"/>
                  <a:chOff x="4468" y="2024"/>
                  <a:chExt cx="180" cy="137"/>
                </a:xfrm>
              </p:grpSpPr>
              <p:sp>
                <p:nvSpPr>
                  <p:cNvPr id="63694" name="Rectangle 606"/>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95" name="Rectangle 607"/>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96" name="Line 608"/>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97" name="Line 609"/>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98" name="Line 610"/>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99" name="Line 611"/>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700" name="Line 612"/>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86" name="Group 613"/>
                <p:cNvGrpSpPr/>
                <p:nvPr/>
              </p:nvGrpSpPr>
              <p:grpSpPr>
                <a:xfrm>
                  <a:off x="3787" y="3430"/>
                  <a:ext cx="180" cy="137"/>
                  <a:chOff x="4468" y="2024"/>
                  <a:chExt cx="180" cy="137"/>
                </a:xfrm>
              </p:grpSpPr>
              <p:sp>
                <p:nvSpPr>
                  <p:cNvPr id="63687" name="Rectangle 614"/>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88" name="Rectangle 615"/>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89" name="Line 616"/>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90" name="Line 617"/>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91" name="Line 618"/>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92" name="Line 619"/>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93" name="Line 620"/>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grpSp>
            <p:nvGrpSpPr>
              <p:cNvPr id="63579" name="Group 621"/>
              <p:cNvGrpSpPr/>
              <p:nvPr/>
            </p:nvGrpSpPr>
            <p:grpSpPr>
              <a:xfrm rot="-5400000">
                <a:off x="953" y="1728"/>
                <a:ext cx="906" cy="137"/>
                <a:chOff x="340" y="1979"/>
                <a:chExt cx="906" cy="137"/>
              </a:xfrm>
            </p:grpSpPr>
            <p:grpSp>
              <p:nvGrpSpPr>
                <p:cNvPr id="63656" name="Group 622"/>
                <p:cNvGrpSpPr/>
                <p:nvPr/>
              </p:nvGrpSpPr>
              <p:grpSpPr>
                <a:xfrm>
                  <a:off x="340" y="1979"/>
                  <a:ext cx="180" cy="137"/>
                  <a:chOff x="4468" y="2024"/>
                  <a:chExt cx="180" cy="137"/>
                </a:xfrm>
              </p:grpSpPr>
              <p:sp>
                <p:nvSpPr>
                  <p:cNvPr id="63673" name="Rectangle 623"/>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74" name="Rectangle 624"/>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75" name="Line 625"/>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76" name="Line 626"/>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77" name="Line 627"/>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78" name="Line 628"/>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79" name="Line 629"/>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57" name="Group 630"/>
                <p:cNvGrpSpPr/>
                <p:nvPr/>
              </p:nvGrpSpPr>
              <p:grpSpPr>
                <a:xfrm>
                  <a:off x="703" y="1979"/>
                  <a:ext cx="180" cy="137"/>
                  <a:chOff x="4468" y="2024"/>
                  <a:chExt cx="180" cy="137"/>
                </a:xfrm>
              </p:grpSpPr>
              <p:sp>
                <p:nvSpPr>
                  <p:cNvPr id="63666" name="Rectangle 631"/>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67" name="Rectangle 632"/>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68" name="Line 633"/>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69" name="Line 634"/>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70" name="Line 635"/>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71" name="Line 636"/>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72" name="Line 637"/>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58" name="Group 638"/>
                <p:cNvGrpSpPr/>
                <p:nvPr/>
              </p:nvGrpSpPr>
              <p:grpSpPr>
                <a:xfrm>
                  <a:off x="1066" y="1979"/>
                  <a:ext cx="180" cy="137"/>
                  <a:chOff x="4468" y="2024"/>
                  <a:chExt cx="180" cy="137"/>
                </a:xfrm>
              </p:grpSpPr>
              <p:sp>
                <p:nvSpPr>
                  <p:cNvPr id="63659" name="Rectangle 639"/>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60" name="Rectangle 640"/>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61" name="Line 641"/>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62" name="Line 642"/>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63" name="Line 643"/>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64" name="Line 644"/>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65" name="Line 645"/>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grpSp>
            <p:nvGrpSpPr>
              <p:cNvPr id="63580" name="Group 646"/>
              <p:cNvGrpSpPr/>
              <p:nvPr/>
            </p:nvGrpSpPr>
            <p:grpSpPr>
              <a:xfrm rot="-5400000">
                <a:off x="953" y="2816"/>
                <a:ext cx="906" cy="137"/>
                <a:chOff x="340" y="1979"/>
                <a:chExt cx="906" cy="137"/>
              </a:xfrm>
            </p:grpSpPr>
            <p:grpSp>
              <p:nvGrpSpPr>
                <p:cNvPr id="63632" name="Group 647"/>
                <p:cNvGrpSpPr/>
                <p:nvPr/>
              </p:nvGrpSpPr>
              <p:grpSpPr>
                <a:xfrm>
                  <a:off x="340" y="1979"/>
                  <a:ext cx="180" cy="137"/>
                  <a:chOff x="4468" y="2024"/>
                  <a:chExt cx="180" cy="137"/>
                </a:xfrm>
              </p:grpSpPr>
              <p:sp>
                <p:nvSpPr>
                  <p:cNvPr id="63649" name="Rectangle 648"/>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50" name="Rectangle 649"/>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51" name="Line 650"/>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52" name="Line 651"/>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53" name="Line 652"/>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54" name="Line 653"/>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55" name="Line 654"/>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33" name="Group 655"/>
                <p:cNvGrpSpPr/>
                <p:nvPr/>
              </p:nvGrpSpPr>
              <p:grpSpPr>
                <a:xfrm>
                  <a:off x="703" y="1979"/>
                  <a:ext cx="180" cy="137"/>
                  <a:chOff x="4468" y="2024"/>
                  <a:chExt cx="180" cy="137"/>
                </a:xfrm>
              </p:grpSpPr>
              <p:sp>
                <p:nvSpPr>
                  <p:cNvPr id="63642" name="Rectangle 656"/>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43" name="Rectangle 657"/>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44" name="Line 658"/>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45" name="Line 659"/>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46" name="Line 660"/>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47" name="Line 661"/>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48" name="Line 662"/>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34" name="Group 663"/>
                <p:cNvGrpSpPr/>
                <p:nvPr/>
              </p:nvGrpSpPr>
              <p:grpSpPr>
                <a:xfrm>
                  <a:off x="1066" y="1979"/>
                  <a:ext cx="180" cy="137"/>
                  <a:chOff x="4468" y="2024"/>
                  <a:chExt cx="180" cy="137"/>
                </a:xfrm>
              </p:grpSpPr>
              <p:sp>
                <p:nvSpPr>
                  <p:cNvPr id="63635" name="Rectangle 664"/>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36" name="Rectangle 665"/>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37" name="Line 666"/>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38" name="Line 667"/>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39" name="Line 668"/>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40" name="Line 669"/>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41" name="Line 670"/>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grpSp>
            <p:nvGrpSpPr>
              <p:cNvPr id="63581" name="Group 671"/>
              <p:cNvGrpSpPr/>
              <p:nvPr/>
            </p:nvGrpSpPr>
            <p:grpSpPr>
              <a:xfrm rot="5400000">
                <a:off x="3765" y="1728"/>
                <a:ext cx="906" cy="137"/>
                <a:chOff x="340" y="1979"/>
                <a:chExt cx="906" cy="137"/>
              </a:xfrm>
            </p:grpSpPr>
            <p:grpSp>
              <p:nvGrpSpPr>
                <p:cNvPr id="63608" name="Group 672"/>
                <p:cNvGrpSpPr/>
                <p:nvPr/>
              </p:nvGrpSpPr>
              <p:grpSpPr>
                <a:xfrm>
                  <a:off x="340" y="1979"/>
                  <a:ext cx="180" cy="137"/>
                  <a:chOff x="4468" y="2024"/>
                  <a:chExt cx="180" cy="137"/>
                </a:xfrm>
              </p:grpSpPr>
              <p:sp>
                <p:nvSpPr>
                  <p:cNvPr id="63625" name="Rectangle 673"/>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26" name="Rectangle 674"/>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27" name="Line 675"/>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28" name="Line 676"/>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29" name="Line 677"/>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30" name="Line 678"/>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31" name="Line 679"/>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09" name="Group 680"/>
                <p:cNvGrpSpPr/>
                <p:nvPr/>
              </p:nvGrpSpPr>
              <p:grpSpPr>
                <a:xfrm>
                  <a:off x="703" y="1979"/>
                  <a:ext cx="180" cy="137"/>
                  <a:chOff x="4468" y="2024"/>
                  <a:chExt cx="180" cy="137"/>
                </a:xfrm>
              </p:grpSpPr>
              <p:sp>
                <p:nvSpPr>
                  <p:cNvPr id="63618" name="Rectangle 681"/>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19" name="Rectangle 682"/>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20" name="Line 683"/>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21" name="Line 684"/>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22" name="Line 685"/>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23" name="Line 686"/>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24" name="Line 687"/>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610" name="Group 688"/>
                <p:cNvGrpSpPr/>
                <p:nvPr/>
              </p:nvGrpSpPr>
              <p:grpSpPr>
                <a:xfrm>
                  <a:off x="1066" y="1979"/>
                  <a:ext cx="180" cy="137"/>
                  <a:chOff x="4468" y="2024"/>
                  <a:chExt cx="180" cy="137"/>
                </a:xfrm>
              </p:grpSpPr>
              <p:sp>
                <p:nvSpPr>
                  <p:cNvPr id="63611" name="Rectangle 689"/>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12" name="Rectangle 690"/>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13" name="Line 691"/>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14" name="Line 692"/>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15" name="Line 693"/>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16" name="Line 694"/>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17" name="Line 695"/>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grpSp>
            <p:nvGrpSpPr>
              <p:cNvPr id="63582" name="Group 696"/>
              <p:cNvGrpSpPr/>
              <p:nvPr/>
            </p:nvGrpSpPr>
            <p:grpSpPr>
              <a:xfrm rot="5400000">
                <a:off x="3765" y="2816"/>
                <a:ext cx="906" cy="137"/>
                <a:chOff x="340" y="1979"/>
                <a:chExt cx="906" cy="137"/>
              </a:xfrm>
            </p:grpSpPr>
            <p:grpSp>
              <p:nvGrpSpPr>
                <p:cNvPr id="63584" name="Group 697"/>
                <p:cNvGrpSpPr/>
                <p:nvPr/>
              </p:nvGrpSpPr>
              <p:grpSpPr>
                <a:xfrm>
                  <a:off x="340" y="1979"/>
                  <a:ext cx="180" cy="137"/>
                  <a:chOff x="4468" y="2024"/>
                  <a:chExt cx="180" cy="137"/>
                </a:xfrm>
              </p:grpSpPr>
              <p:sp>
                <p:nvSpPr>
                  <p:cNvPr id="63601" name="Rectangle 698"/>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02" name="Rectangle 699"/>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603" name="Line 700"/>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604" name="Line 701"/>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605" name="Line 702"/>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606" name="Line 703"/>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07" name="Line 704"/>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585" name="Group 705"/>
                <p:cNvGrpSpPr/>
                <p:nvPr/>
              </p:nvGrpSpPr>
              <p:grpSpPr>
                <a:xfrm>
                  <a:off x="703" y="1979"/>
                  <a:ext cx="180" cy="137"/>
                  <a:chOff x="4468" y="2024"/>
                  <a:chExt cx="180" cy="137"/>
                </a:xfrm>
              </p:grpSpPr>
              <p:sp>
                <p:nvSpPr>
                  <p:cNvPr id="63594" name="Rectangle 706"/>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95" name="Rectangle 707"/>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96" name="Line 708"/>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597" name="Line 709"/>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598" name="Line 710"/>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599" name="Line 711"/>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600" name="Line 712"/>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nvGrpSpPr>
                <p:cNvPr id="63586" name="Group 713"/>
                <p:cNvGrpSpPr/>
                <p:nvPr/>
              </p:nvGrpSpPr>
              <p:grpSpPr>
                <a:xfrm>
                  <a:off x="1066" y="1979"/>
                  <a:ext cx="180" cy="137"/>
                  <a:chOff x="4468" y="2024"/>
                  <a:chExt cx="180" cy="137"/>
                </a:xfrm>
              </p:grpSpPr>
              <p:sp>
                <p:nvSpPr>
                  <p:cNvPr id="63587" name="Rectangle 714"/>
                  <p:cNvSpPr/>
                  <p:nvPr/>
                </p:nvSpPr>
                <p:spPr>
                  <a:xfrm>
                    <a:off x="446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88" name="Rectangle 715"/>
                  <p:cNvSpPr/>
                  <p:nvPr/>
                </p:nvSpPr>
                <p:spPr>
                  <a:xfrm>
                    <a:off x="4558" y="2069"/>
                    <a:ext cx="90" cy="46"/>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89" name="Line 716"/>
                  <p:cNvSpPr/>
                  <p:nvPr/>
                </p:nvSpPr>
                <p:spPr>
                  <a:xfrm flipV="1">
                    <a:off x="4513" y="2024"/>
                    <a:ext cx="0" cy="46"/>
                  </a:xfrm>
                  <a:prstGeom prst="line">
                    <a:avLst/>
                  </a:prstGeom>
                  <a:ln w="9525" cap="flat" cmpd="sng">
                    <a:solidFill>
                      <a:schemeClr val="tx1"/>
                    </a:solidFill>
                    <a:prstDash val="solid"/>
                    <a:headEnd type="none" w="med" len="med"/>
                    <a:tailEnd type="none" w="med" len="med"/>
                  </a:ln>
                </p:spPr>
              </p:sp>
              <p:sp>
                <p:nvSpPr>
                  <p:cNvPr id="63590" name="Line 717"/>
                  <p:cNvSpPr/>
                  <p:nvPr/>
                </p:nvSpPr>
                <p:spPr>
                  <a:xfrm flipV="1">
                    <a:off x="4513" y="2115"/>
                    <a:ext cx="0" cy="46"/>
                  </a:xfrm>
                  <a:prstGeom prst="line">
                    <a:avLst/>
                  </a:prstGeom>
                  <a:ln w="9525" cap="flat" cmpd="sng">
                    <a:solidFill>
                      <a:schemeClr val="tx1"/>
                    </a:solidFill>
                    <a:prstDash val="solid"/>
                    <a:headEnd type="none" w="med" len="med"/>
                    <a:tailEnd type="none" w="med" len="med"/>
                  </a:ln>
                </p:spPr>
              </p:sp>
              <p:sp>
                <p:nvSpPr>
                  <p:cNvPr id="63591" name="Line 718"/>
                  <p:cNvSpPr/>
                  <p:nvPr/>
                </p:nvSpPr>
                <p:spPr>
                  <a:xfrm flipV="1">
                    <a:off x="4604" y="2024"/>
                    <a:ext cx="0" cy="46"/>
                  </a:xfrm>
                  <a:prstGeom prst="line">
                    <a:avLst/>
                  </a:prstGeom>
                  <a:ln w="9525" cap="flat" cmpd="sng">
                    <a:solidFill>
                      <a:schemeClr val="tx1"/>
                    </a:solidFill>
                    <a:prstDash val="solid"/>
                    <a:headEnd type="none" w="med" len="med"/>
                    <a:tailEnd type="none" w="med" len="med"/>
                  </a:ln>
                </p:spPr>
              </p:sp>
              <p:sp>
                <p:nvSpPr>
                  <p:cNvPr id="63592" name="Line 719"/>
                  <p:cNvSpPr/>
                  <p:nvPr/>
                </p:nvSpPr>
                <p:spPr>
                  <a:xfrm flipV="1">
                    <a:off x="4558" y="2115"/>
                    <a:ext cx="0" cy="46"/>
                  </a:xfrm>
                  <a:prstGeom prst="line">
                    <a:avLst/>
                  </a:prstGeom>
                  <a:ln w="9525" cap="flat" cmpd="sng">
                    <a:solidFill>
                      <a:schemeClr val="tx1"/>
                    </a:solidFill>
                    <a:prstDash val="solid"/>
                    <a:headEnd type="none" w="med" len="med"/>
                    <a:tailEnd type="none" w="med" len="med"/>
                  </a:ln>
                </p:spPr>
              </p:sp>
              <p:sp>
                <p:nvSpPr>
                  <p:cNvPr id="63593" name="Line 720"/>
                  <p:cNvSpPr/>
                  <p:nvPr/>
                </p:nvSpPr>
                <p:spPr>
                  <a:xfrm flipV="1">
                    <a:off x="4604" y="2115"/>
                    <a:ext cx="0" cy="46"/>
                  </a:xfrm>
                  <a:prstGeom prst="line">
                    <a:avLst/>
                  </a:prstGeom>
                  <a:ln w="9525" cap="flat" cmpd="sng">
                    <a:solidFill>
                      <a:schemeClr val="tx1"/>
                    </a:solidFill>
                    <a:prstDash val="solid"/>
                    <a:headEnd type="none" w="med" len="med"/>
                    <a:tailEnd type="none" w="med" len="med"/>
                  </a:ln>
                </p:spPr>
              </p:sp>
            </p:grpSp>
          </p:grpSp>
          <p:sp>
            <p:nvSpPr>
              <p:cNvPr id="63583" name="Rectangle 721"/>
              <p:cNvSpPr/>
              <p:nvPr/>
            </p:nvSpPr>
            <p:spPr>
              <a:xfrm>
                <a:off x="1247" y="1071"/>
                <a:ext cx="3130" cy="2586"/>
              </a:xfrm>
              <a:prstGeom prst="rect">
                <a:avLst/>
              </a:prstGeom>
              <a:noFill/>
              <a:ln w="25400"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grpSp>
        <p:sp>
          <p:nvSpPr>
            <p:cNvPr id="63495" name="Text Box 723"/>
            <p:cNvSpPr txBox="1"/>
            <p:nvPr/>
          </p:nvSpPr>
          <p:spPr>
            <a:xfrm>
              <a:off x="4002" y="1843"/>
              <a:ext cx="738" cy="231"/>
            </a:xfrm>
            <a:prstGeom prst="rect">
              <a:avLst/>
            </a:prstGeom>
            <a:noFill/>
            <a:ln w="9525">
              <a:noFill/>
            </a:ln>
          </p:spPr>
          <p:txBody>
            <a:bodyPr>
              <a:spAutoFit/>
            </a:bodyPr>
            <a:p>
              <a:pPr eaLnBrk="1" hangingPunct="1">
                <a:spcBef>
                  <a:spcPct val="50000"/>
                </a:spcBef>
              </a:pPr>
              <a:r>
                <a:rPr lang="en-US" altLang="zh-CN" b="1" dirty="0">
                  <a:solidFill>
                    <a:srgbClr val="000066"/>
                  </a:solidFill>
                  <a:latin typeface="Times New Roman" panose="02020603050405020304" pitchFamily="18" charset="0"/>
                </a:rPr>
                <a:t>I/O Block</a:t>
              </a:r>
              <a:endParaRPr lang="en-US" altLang="zh-CN" b="1" dirty="0">
                <a:solidFill>
                  <a:srgbClr val="000066"/>
                </a:solidFill>
                <a:latin typeface="Times New Roman" panose="02020603050405020304" pitchFamily="18" charset="0"/>
              </a:endParaRPr>
            </a:p>
          </p:txBody>
        </p:sp>
        <p:sp>
          <p:nvSpPr>
            <p:cNvPr id="63496" name="Line 724"/>
            <p:cNvSpPr/>
            <p:nvPr/>
          </p:nvSpPr>
          <p:spPr>
            <a:xfrm flipH="1">
              <a:off x="4224" y="2027"/>
              <a:ext cx="184" cy="218"/>
            </a:xfrm>
            <a:prstGeom prst="line">
              <a:avLst/>
            </a:prstGeom>
            <a:ln w="9525" cap="flat" cmpd="sng">
              <a:solidFill>
                <a:schemeClr val="tx1"/>
              </a:solidFill>
              <a:prstDash val="solid"/>
              <a:headEnd type="none" w="med" len="med"/>
              <a:tailEnd type="triangle" w="med" len="med"/>
            </a:ln>
          </p:spPr>
        </p:sp>
        <p:sp>
          <p:nvSpPr>
            <p:cNvPr id="63497" name="Text Box 726"/>
            <p:cNvSpPr txBox="1"/>
            <p:nvPr/>
          </p:nvSpPr>
          <p:spPr>
            <a:xfrm>
              <a:off x="1111" y="3640"/>
              <a:ext cx="494" cy="366"/>
            </a:xfrm>
            <a:prstGeom prst="rect">
              <a:avLst/>
            </a:prstGeom>
            <a:noFill/>
            <a:ln w="9525">
              <a:noFill/>
            </a:ln>
          </p:spPr>
          <p:txBody>
            <a:bodyPr>
              <a:spAutoFit/>
            </a:bodyPr>
            <a:p>
              <a:pPr eaLnBrk="1" hangingPunct="1">
                <a:spcBef>
                  <a:spcPct val="50000"/>
                </a:spcBef>
              </a:pPr>
              <a:r>
                <a:rPr lang="en-US" altLang="zh-CN" sz="1600" b="1" dirty="0">
                  <a:solidFill>
                    <a:srgbClr val="000066"/>
                  </a:solidFill>
                  <a:latin typeface="Arial" panose="020B0604020202020204" pitchFamily="34" charset="0"/>
                </a:rPr>
                <a:t>Logic Block</a:t>
              </a:r>
              <a:endParaRPr lang="en-US" altLang="zh-CN" sz="1600" b="1" dirty="0">
                <a:solidFill>
                  <a:srgbClr val="000066"/>
                </a:solidFill>
                <a:latin typeface="Arial" panose="020B0604020202020204" pitchFamily="34" charset="0"/>
              </a:endParaRPr>
            </a:p>
          </p:txBody>
        </p:sp>
        <p:sp>
          <p:nvSpPr>
            <p:cNvPr id="63498" name="Line 727"/>
            <p:cNvSpPr/>
            <p:nvPr/>
          </p:nvSpPr>
          <p:spPr>
            <a:xfrm flipV="1">
              <a:off x="1605" y="3306"/>
              <a:ext cx="443" cy="329"/>
            </a:xfrm>
            <a:prstGeom prst="line">
              <a:avLst/>
            </a:prstGeom>
            <a:ln w="9525" cap="flat" cmpd="sng">
              <a:solidFill>
                <a:schemeClr val="tx1"/>
              </a:solidFill>
              <a:prstDash val="solid"/>
              <a:headEnd type="none" w="med" len="med"/>
              <a:tailEnd type="triangle" w="med" len="med"/>
            </a:ln>
          </p:spPr>
        </p:sp>
        <p:sp>
          <p:nvSpPr>
            <p:cNvPr id="63499" name="Oval 730"/>
            <p:cNvSpPr/>
            <p:nvPr/>
          </p:nvSpPr>
          <p:spPr>
            <a:xfrm>
              <a:off x="2138" y="2319"/>
              <a:ext cx="356" cy="292"/>
            </a:xfrm>
            <a:prstGeom prst="ellipse">
              <a:avLst/>
            </a:prstGeom>
            <a:noFill/>
            <a:ln w="9525" cap="flat" cmpd="sng">
              <a:solidFill>
                <a:srgbClr val="FF0000"/>
              </a:solidFill>
              <a:prstDash val="solid"/>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00" name="Rectangle 731"/>
            <p:cNvSpPr/>
            <p:nvPr/>
          </p:nvSpPr>
          <p:spPr>
            <a:xfrm>
              <a:off x="830" y="1953"/>
              <a:ext cx="910" cy="841"/>
            </a:xfrm>
            <a:prstGeom prst="rect">
              <a:avLst/>
            </a:prstGeom>
            <a:no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01" name="Line 732"/>
            <p:cNvSpPr/>
            <p:nvPr/>
          </p:nvSpPr>
          <p:spPr>
            <a:xfrm>
              <a:off x="1030" y="1990"/>
              <a:ext cx="0" cy="695"/>
            </a:xfrm>
            <a:prstGeom prst="line">
              <a:avLst/>
            </a:prstGeom>
            <a:ln w="9525" cap="flat" cmpd="sng">
              <a:solidFill>
                <a:schemeClr val="tx1"/>
              </a:solidFill>
              <a:prstDash val="solid"/>
              <a:headEnd type="none" w="med" len="med"/>
              <a:tailEnd type="none" w="med" len="med"/>
            </a:ln>
          </p:spPr>
        </p:sp>
        <p:sp>
          <p:nvSpPr>
            <p:cNvPr id="63502" name="Line 733"/>
            <p:cNvSpPr/>
            <p:nvPr/>
          </p:nvSpPr>
          <p:spPr>
            <a:xfrm>
              <a:off x="1070" y="1990"/>
              <a:ext cx="0" cy="695"/>
            </a:xfrm>
            <a:prstGeom prst="line">
              <a:avLst/>
            </a:prstGeom>
            <a:ln w="9525" cap="flat" cmpd="sng">
              <a:solidFill>
                <a:schemeClr val="tx1"/>
              </a:solidFill>
              <a:prstDash val="solid"/>
              <a:headEnd type="none" w="med" len="med"/>
              <a:tailEnd type="none" w="med" len="med"/>
            </a:ln>
          </p:spPr>
        </p:sp>
        <p:sp>
          <p:nvSpPr>
            <p:cNvPr id="63503" name="Line 734"/>
            <p:cNvSpPr/>
            <p:nvPr/>
          </p:nvSpPr>
          <p:spPr>
            <a:xfrm>
              <a:off x="1109" y="1990"/>
              <a:ext cx="0" cy="695"/>
            </a:xfrm>
            <a:prstGeom prst="line">
              <a:avLst/>
            </a:prstGeom>
            <a:ln w="9525" cap="flat" cmpd="sng">
              <a:solidFill>
                <a:schemeClr val="tx1"/>
              </a:solidFill>
              <a:prstDash val="solid"/>
              <a:headEnd type="none" w="med" len="med"/>
              <a:tailEnd type="none" w="med" len="med"/>
            </a:ln>
          </p:spPr>
        </p:sp>
        <p:sp>
          <p:nvSpPr>
            <p:cNvPr id="63504" name="Line 735"/>
            <p:cNvSpPr/>
            <p:nvPr/>
          </p:nvSpPr>
          <p:spPr>
            <a:xfrm>
              <a:off x="1149" y="1990"/>
              <a:ext cx="0" cy="695"/>
            </a:xfrm>
            <a:prstGeom prst="line">
              <a:avLst/>
            </a:prstGeom>
            <a:ln w="9525" cap="flat" cmpd="sng">
              <a:solidFill>
                <a:schemeClr val="tx1"/>
              </a:solidFill>
              <a:prstDash val="solid"/>
              <a:headEnd type="none" w="med" len="med"/>
              <a:tailEnd type="none" w="med" len="med"/>
            </a:ln>
          </p:spPr>
        </p:sp>
        <p:sp>
          <p:nvSpPr>
            <p:cNvPr id="63505" name="Line 736"/>
            <p:cNvSpPr/>
            <p:nvPr/>
          </p:nvSpPr>
          <p:spPr>
            <a:xfrm>
              <a:off x="1189" y="1990"/>
              <a:ext cx="0" cy="695"/>
            </a:xfrm>
            <a:prstGeom prst="line">
              <a:avLst/>
            </a:prstGeom>
            <a:ln w="9525" cap="flat" cmpd="sng">
              <a:solidFill>
                <a:schemeClr val="tx1"/>
              </a:solidFill>
              <a:prstDash val="solid"/>
              <a:headEnd type="none" w="med" len="med"/>
              <a:tailEnd type="none" w="med" len="med"/>
            </a:ln>
          </p:spPr>
        </p:sp>
        <p:sp>
          <p:nvSpPr>
            <p:cNvPr id="63506" name="Line 737"/>
            <p:cNvSpPr/>
            <p:nvPr/>
          </p:nvSpPr>
          <p:spPr>
            <a:xfrm>
              <a:off x="1307" y="1990"/>
              <a:ext cx="0" cy="695"/>
            </a:xfrm>
            <a:prstGeom prst="line">
              <a:avLst/>
            </a:prstGeom>
            <a:ln w="9525" cap="flat" cmpd="sng">
              <a:solidFill>
                <a:schemeClr val="tx1"/>
              </a:solidFill>
              <a:prstDash val="solid"/>
              <a:headEnd type="none" w="med" len="med"/>
              <a:tailEnd type="none" w="med" len="med"/>
            </a:ln>
          </p:spPr>
        </p:sp>
        <p:sp>
          <p:nvSpPr>
            <p:cNvPr id="63507" name="Line 738"/>
            <p:cNvSpPr/>
            <p:nvPr/>
          </p:nvSpPr>
          <p:spPr>
            <a:xfrm>
              <a:off x="1347" y="1990"/>
              <a:ext cx="0" cy="695"/>
            </a:xfrm>
            <a:prstGeom prst="line">
              <a:avLst/>
            </a:prstGeom>
            <a:ln w="9525" cap="flat" cmpd="sng">
              <a:solidFill>
                <a:schemeClr val="tx1"/>
              </a:solidFill>
              <a:prstDash val="solid"/>
              <a:headEnd type="none" w="med" len="med"/>
              <a:tailEnd type="none" w="med" len="med"/>
            </a:ln>
          </p:spPr>
        </p:sp>
        <p:sp>
          <p:nvSpPr>
            <p:cNvPr id="63508" name="Line 739"/>
            <p:cNvSpPr/>
            <p:nvPr/>
          </p:nvSpPr>
          <p:spPr>
            <a:xfrm>
              <a:off x="1387" y="1990"/>
              <a:ext cx="0" cy="695"/>
            </a:xfrm>
            <a:prstGeom prst="line">
              <a:avLst/>
            </a:prstGeom>
            <a:ln w="9525" cap="flat" cmpd="sng">
              <a:solidFill>
                <a:schemeClr val="tx1"/>
              </a:solidFill>
              <a:prstDash val="solid"/>
              <a:headEnd type="none" w="med" len="med"/>
              <a:tailEnd type="none" w="med" len="med"/>
            </a:ln>
          </p:spPr>
        </p:sp>
        <p:sp>
          <p:nvSpPr>
            <p:cNvPr id="63509" name="Line 740"/>
            <p:cNvSpPr/>
            <p:nvPr/>
          </p:nvSpPr>
          <p:spPr>
            <a:xfrm>
              <a:off x="1426" y="1990"/>
              <a:ext cx="0" cy="695"/>
            </a:xfrm>
            <a:prstGeom prst="line">
              <a:avLst/>
            </a:prstGeom>
            <a:ln w="9525" cap="flat" cmpd="sng">
              <a:solidFill>
                <a:schemeClr val="tx1"/>
              </a:solidFill>
              <a:prstDash val="solid"/>
              <a:headEnd type="none" w="med" len="med"/>
              <a:tailEnd type="none" w="med" len="med"/>
            </a:ln>
          </p:spPr>
        </p:sp>
        <p:sp>
          <p:nvSpPr>
            <p:cNvPr id="63510" name="Line 741"/>
            <p:cNvSpPr/>
            <p:nvPr/>
          </p:nvSpPr>
          <p:spPr>
            <a:xfrm>
              <a:off x="1465" y="1990"/>
              <a:ext cx="0" cy="695"/>
            </a:xfrm>
            <a:prstGeom prst="line">
              <a:avLst/>
            </a:prstGeom>
            <a:ln w="9525" cap="flat" cmpd="sng">
              <a:solidFill>
                <a:schemeClr val="tx1"/>
              </a:solidFill>
              <a:prstDash val="solid"/>
              <a:headEnd type="none" w="med" len="med"/>
              <a:tailEnd type="none" w="med" len="med"/>
            </a:ln>
          </p:spPr>
        </p:sp>
        <p:grpSp>
          <p:nvGrpSpPr>
            <p:cNvPr id="63511" name="Group 742"/>
            <p:cNvGrpSpPr/>
            <p:nvPr/>
          </p:nvGrpSpPr>
          <p:grpSpPr>
            <a:xfrm rot="-5400000">
              <a:off x="1047" y="1961"/>
              <a:ext cx="402" cy="751"/>
              <a:chOff x="340" y="2205"/>
              <a:chExt cx="499" cy="862"/>
            </a:xfrm>
          </p:grpSpPr>
          <p:sp>
            <p:nvSpPr>
              <p:cNvPr id="63519" name="Line 743"/>
              <p:cNvSpPr/>
              <p:nvPr/>
            </p:nvSpPr>
            <p:spPr>
              <a:xfrm>
                <a:off x="340" y="2205"/>
                <a:ext cx="0" cy="862"/>
              </a:xfrm>
              <a:prstGeom prst="line">
                <a:avLst/>
              </a:prstGeom>
              <a:ln w="9525" cap="flat" cmpd="sng">
                <a:solidFill>
                  <a:schemeClr val="tx1"/>
                </a:solidFill>
                <a:prstDash val="solid"/>
                <a:headEnd type="none" w="med" len="med"/>
                <a:tailEnd type="none" w="med" len="med"/>
              </a:ln>
            </p:spPr>
          </p:sp>
          <p:sp>
            <p:nvSpPr>
              <p:cNvPr id="63520" name="Line 744"/>
              <p:cNvSpPr/>
              <p:nvPr/>
            </p:nvSpPr>
            <p:spPr>
              <a:xfrm>
                <a:off x="386" y="2205"/>
                <a:ext cx="0" cy="862"/>
              </a:xfrm>
              <a:prstGeom prst="line">
                <a:avLst/>
              </a:prstGeom>
              <a:ln w="9525" cap="flat" cmpd="sng">
                <a:solidFill>
                  <a:schemeClr val="tx1"/>
                </a:solidFill>
                <a:prstDash val="solid"/>
                <a:headEnd type="none" w="med" len="med"/>
                <a:tailEnd type="none" w="med" len="med"/>
              </a:ln>
            </p:spPr>
          </p:sp>
          <p:sp>
            <p:nvSpPr>
              <p:cNvPr id="63521" name="Line 745"/>
              <p:cNvSpPr/>
              <p:nvPr/>
            </p:nvSpPr>
            <p:spPr>
              <a:xfrm>
                <a:off x="431" y="2205"/>
                <a:ext cx="0" cy="862"/>
              </a:xfrm>
              <a:prstGeom prst="line">
                <a:avLst/>
              </a:prstGeom>
              <a:ln w="9525" cap="flat" cmpd="sng">
                <a:solidFill>
                  <a:schemeClr val="tx1"/>
                </a:solidFill>
                <a:prstDash val="solid"/>
                <a:headEnd type="none" w="med" len="med"/>
                <a:tailEnd type="none" w="med" len="med"/>
              </a:ln>
            </p:spPr>
          </p:sp>
          <p:sp>
            <p:nvSpPr>
              <p:cNvPr id="63522" name="Line 746"/>
              <p:cNvSpPr/>
              <p:nvPr/>
            </p:nvSpPr>
            <p:spPr>
              <a:xfrm>
                <a:off x="476" y="2205"/>
                <a:ext cx="0" cy="862"/>
              </a:xfrm>
              <a:prstGeom prst="line">
                <a:avLst/>
              </a:prstGeom>
              <a:ln w="9525" cap="flat" cmpd="sng">
                <a:solidFill>
                  <a:schemeClr val="tx1"/>
                </a:solidFill>
                <a:prstDash val="solid"/>
                <a:headEnd type="none" w="med" len="med"/>
                <a:tailEnd type="none" w="med" len="med"/>
              </a:ln>
            </p:spPr>
          </p:sp>
          <p:sp>
            <p:nvSpPr>
              <p:cNvPr id="63523" name="Line 747"/>
              <p:cNvSpPr/>
              <p:nvPr/>
            </p:nvSpPr>
            <p:spPr>
              <a:xfrm>
                <a:off x="522" y="2205"/>
                <a:ext cx="0" cy="862"/>
              </a:xfrm>
              <a:prstGeom prst="line">
                <a:avLst/>
              </a:prstGeom>
              <a:ln w="9525" cap="flat" cmpd="sng">
                <a:solidFill>
                  <a:schemeClr val="tx1"/>
                </a:solidFill>
                <a:prstDash val="solid"/>
                <a:headEnd type="none" w="med" len="med"/>
                <a:tailEnd type="none" w="med" len="med"/>
              </a:ln>
            </p:spPr>
          </p:sp>
          <p:sp>
            <p:nvSpPr>
              <p:cNvPr id="63524" name="Line 748"/>
              <p:cNvSpPr/>
              <p:nvPr/>
            </p:nvSpPr>
            <p:spPr>
              <a:xfrm>
                <a:off x="657" y="2205"/>
                <a:ext cx="0" cy="862"/>
              </a:xfrm>
              <a:prstGeom prst="line">
                <a:avLst/>
              </a:prstGeom>
              <a:ln w="9525" cap="flat" cmpd="sng">
                <a:solidFill>
                  <a:schemeClr val="tx1"/>
                </a:solidFill>
                <a:prstDash val="solid"/>
                <a:headEnd type="none" w="med" len="med"/>
                <a:tailEnd type="none" w="med" len="med"/>
              </a:ln>
            </p:spPr>
          </p:sp>
          <p:sp>
            <p:nvSpPr>
              <p:cNvPr id="63525" name="Line 749"/>
              <p:cNvSpPr/>
              <p:nvPr/>
            </p:nvSpPr>
            <p:spPr>
              <a:xfrm>
                <a:off x="703" y="2205"/>
                <a:ext cx="0" cy="862"/>
              </a:xfrm>
              <a:prstGeom prst="line">
                <a:avLst/>
              </a:prstGeom>
              <a:ln w="9525" cap="flat" cmpd="sng">
                <a:solidFill>
                  <a:schemeClr val="tx1"/>
                </a:solidFill>
                <a:prstDash val="solid"/>
                <a:headEnd type="none" w="med" len="med"/>
                <a:tailEnd type="none" w="med" len="med"/>
              </a:ln>
            </p:spPr>
          </p:sp>
          <p:sp>
            <p:nvSpPr>
              <p:cNvPr id="63526" name="Line 750"/>
              <p:cNvSpPr/>
              <p:nvPr/>
            </p:nvSpPr>
            <p:spPr>
              <a:xfrm>
                <a:off x="748" y="2205"/>
                <a:ext cx="0" cy="862"/>
              </a:xfrm>
              <a:prstGeom prst="line">
                <a:avLst/>
              </a:prstGeom>
              <a:ln w="9525" cap="flat" cmpd="sng">
                <a:solidFill>
                  <a:schemeClr val="tx1"/>
                </a:solidFill>
                <a:prstDash val="solid"/>
                <a:headEnd type="none" w="med" len="med"/>
                <a:tailEnd type="none" w="med" len="med"/>
              </a:ln>
            </p:spPr>
          </p:sp>
          <p:sp>
            <p:nvSpPr>
              <p:cNvPr id="63527" name="Line 751"/>
              <p:cNvSpPr/>
              <p:nvPr/>
            </p:nvSpPr>
            <p:spPr>
              <a:xfrm>
                <a:off x="793" y="2205"/>
                <a:ext cx="0" cy="862"/>
              </a:xfrm>
              <a:prstGeom prst="line">
                <a:avLst/>
              </a:prstGeom>
              <a:ln w="9525" cap="flat" cmpd="sng">
                <a:solidFill>
                  <a:schemeClr val="tx1"/>
                </a:solidFill>
                <a:prstDash val="solid"/>
                <a:headEnd type="none" w="med" len="med"/>
                <a:tailEnd type="none" w="med" len="med"/>
              </a:ln>
            </p:spPr>
          </p:sp>
          <p:sp>
            <p:nvSpPr>
              <p:cNvPr id="63528" name="Line 752"/>
              <p:cNvSpPr/>
              <p:nvPr/>
            </p:nvSpPr>
            <p:spPr>
              <a:xfrm>
                <a:off x="839" y="2205"/>
                <a:ext cx="0" cy="862"/>
              </a:xfrm>
              <a:prstGeom prst="line">
                <a:avLst/>
              </a:prstGeom>
              <a:ln w="9525" cap="flat" cmpd="sng">
                <a:solidFill>
                  <a:schemeClr val="tx1"/>
                </a:solidFill>
                <a:prstDash val="solid"/>
                <a:headEnd type="none" w="med" len="med"/>
                <a:tailEnd type="none" w="med" len="med"/>
              </a:ln>
            </p:spPr>
          </p:sp>
        </p:grpSp>
        <p:sp>
          <p:nvSpPr>
            <p:cNvPr id="63512" name="Rectangle 753"/>
            <p:cNvSpPr/>
            <p:nvPr/>
          </p:nvSpPr>
          <p:spPr>
            <a:xfrm>
              <a:off x="991" y="2099"/>
              <a:ext cx="237" cy="220"/>
            </a:xfrm>
            <a:prstGeom prst="rect">
              <a:avLst/>
            </a:prstGeom>
            <a:solidFill>
              <a:srgbClr val="C0C0C0"/>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13" name="Rectangle 754"/>
            <p:cNvSpPr/>
            <p:nvPr/>
          </p:nvSpPr>
          <p:spPr>
            <a:xfrm>
              <a:off x="793" y="2611"/>
              <a:ext cx="159" cy="1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14" name="Rectangle 755"/>
            <p:cNvSpPr/>
            <p:nvPr/>
          </p:nvSpPr>
          <p:spPr>
            <a:xfrm>
              <a:off x="793" y="1916"/>
              <a:ext cx="159" cy="1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15" name="Rectangle 756"/>
            <p:cNvSpPr/>
            <p:nvPr/>
          </p:nvSpPr>
          <p:spPr>
            <a:xfrm>
              <a:off x="1545" y="1916"/>
              <a:ext cx="159" cy="1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16" name="Rectangle 757"/>
            <p:cNvSpPr/>
            <p:nvPr/>
          </p:nvSpPr>
          <p:spPr>
            <a:xfrm>
              <a:off x="1545" y="2611"/>
              <a:ext cx="159" cy="147"/>
            </a:xfrm>
            <a:prstGeom prst="rect">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63517" name="Line 758"/>
            <p:cNvSpPr/>
            <p:nvPr/>
          </p:nvSpPr>
          <p:spPr>
            <a:xfrm>
              <a:off x="1753" y="2282"/>
              <a:ext cx="504" cy="146"/>
            </a:xfrm>
            <a:prstGeom prst="line">
              <a:avLst/>
            </a:prstGeom>
            <a:ln w="9525" cap="flat" cmpd="sng">
              <a:solidFill>
                <a:schemeClr val="tx1"/>
              </a:solidFill>
              <a:prstDash val="solid"/>
              <a:headEnd type="none" w="med" len="med"/>
              <a:tailEnd type="triangle" w="med" len="med"/>
            </a:ln>
          </p:spPr>
        </p:sp>
        <p:sp>
          <p:nvSpPr>
            <p:cNvPr id="63518" name="Text Box 759"/>
            <p:cNvSpPr txBox="1"/>
            <p:nvPr/>
          </p:nvSpPr>
          <p:spPr>
            <a:xfrm>
              <a:off x="794" y="2794"/>
              <a:ext cx="1107" cy="404"/>
            </a:xfrm>
            <a:prstGeom prst="rect">
              <a:avLst/>
            </a:prstGeom>
            <a:noFill/>
            <a:ln w="9525">
              <a:noFill/>
            </a:ln>
          </p:spPr>
          <p:txBody>
            <a:bodyPr>
              <a:spAutoFit/>
            </a:bodyPr>
            <a:p>
              <a:pPr eaLnBrk="1" hangingPunct="1">
                <a:spcBef>
                  <a:spcPct val="50000"/>
                </a:spcBef>
              </a:pPr>
              <a:r>
                <a:rPr lang="en-US" altLang="zh-CN" b="1" dirty="0">
                  <a:solidFill>
                    <a:srgbClr val="000066"/>
                  </a:solidFill>
                  <a:latin typeface="Times New Roman" panose="02020603050405020304" pitchFamily="18" charset="0"/>
                </a:rPr>
                <a:t>Programmable Interconnect</a:t>
              </a:r>
              <a:endParaRPr lang="en-US" altLang="zh-CN" b="1" dirty="0">
                <a:solidFill>
                  <a:srgbClr val="000066"/>
                </a:solidFill>
                <a:latin typeface="Times New Roman" panose="02020603050405020304" pitchFamily="18" charset="0"/>
              </a:endParaRPr>
            </a:p>
          </p:txBody>
        </p:sp>
      </p:grpSp>
      <p:sp>
        <p:nvSpPr>
          <p:cNvPr id="152313" name="Rectangle 761"/>
          <p:cNvSpPr>
            <a:spLocks noRot="1" noChangeArrowheads="1"/>
          </p:cNvSpPr>
          <p:nvPr/>
        </p:nvSpPr>
        <p:spPr bwMode="auto">
          <a:xfrm>
            <a:off x="611188" y="476250"/>
            <a:ext cx="6553200" cy="79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FPGA </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的结构</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endParaRPr>
          </a:p>
        </p:txBody>
      </p:sp>
      <p:sp>
        <p:nvSpPr>
          <p:cNvPr id="63493" name="Line 762"/>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Rectangle 3"/>
          <p:cNvSpPr>
            <a:spLocks noGrp="1" noRot="1"/>
          </p:cNvSpPr>
          <p:nvPr>
            <p:ph type="title"/>
          </p:nvPr>
        </p:nvSpPr>
        <p:spPr>
          <a:xfrm>
            <a:off x="611188" y="476250"/>
            <a:ext cx="6985000" cy="798513"/>
          </a:xfrm>
          <a:ln/>
        </p:spPr>
        <p:txBody>
          <a:bodyPr vert="horz" wrap="square" lIns="91440" tIns="45720" rIns="91440" bIns="45720" anchor="ctr" anchorCtr="0"/>
          <a:p>
            <a:pPr eaLnBrk="1" hangingPunct="1"/>
            <a:r>
              <a:rPr lang="en-US" altLang="zh-CN" sz="3600" b="1" dirty="0">
                <a:solidFill>
                  <a:schemeClr val="hlink"/>
                </a:solidFill>
                <a:latin typeface="Comic Sans MS" panose="030F0702030302020204" pitchFamily="66" charset="0"/>
                <a:ea typeface="华文行楷" panose="02010800040101010101" pitchFamily="2" charset="-122"/>
              </a:rPr>
              <a:t>FPGA </a:t>
            </a:r>
            <a:r>
              <a:rPr lang="zh-CN" altLang="en-US" sz="3600" b="1" dirty="0">
                <a:solidFill>
                  <a:schemeClr val="hlink"/>
                </a:solidFill>
                <a:latin typeface="Comic Sans MS" panose="030F0702030302020204" pitchFamily="66" charset="0"/>
                <a:ea typeface="华文行楷" panose="02010800040101010101" pitchFamily="2" charset="-122"/>
              </a:rPr>
              <a:t>的结构及特点</a:t>
            </a:r>
            <a:endParaRPr lang="zh-CN" altLang="en-US" sz="3600" b="1" dirty="0">
              <a:solidFill>
                <a:schemeClr val="hlink"/>
              </a:solidFill>
              <a:latin typeface="Comic Sans MS" panose="030F0702030302020204" pitchFamily="66" charset="0"/>
              <a:ea typeface="华文行楷" panose="02010800040101010101" pitchFamily="2" charset="-122"/>
            </a:endParaRPr>
          </a:p>
        </p:txBody>
      </p:sp>
      <p:sp>
        <p:nvSpPr>
          <p:cNvPr id="65539"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pic>
        <p:nvPicPr>
          <p:cNvPr id="65540" name="Picture 7" descr="TS2_TOP_800x"/>
          <p:cNvPicPr>
            <a:picLocks noChangeAspect="1"/>
          </p:cNvPicPr>
          <p:nvPr/>
        </p:nvPicPr>
        <p:blipFill>
          <a:blip r:embed="rId1"/>
          <a:stretch>
            <a:fillRect/>
          </a:stretch>
        </p:blipFill>
        <p:spPr>
          <a:xfrm>
            <a:off x="5002213" y="1916113"/>
            <a:ext cx="3673475" cy="2809875"/>
          </a:xfrm>
          <a:prstGeom prst="rect">
            <a:avLst/>
          </a:prstGeom>
          <a:noFill/>
          <a:ln w="9525">
            <a:noFill/>
          </a:ln>
        </p:spPr>
      </p:pic>
      <p:pic>
        <p:nvPicPr>
          <p:cNvPr id="65541" name="Picture 8" descr="2008092411254540"/>
          <p:cNvPicPr>
            <a:picLocks noChangeAspect="1"/>
          </p:cNvPicPr>
          <p:nvPr/>
        </p:nvPicPr>
        <p:blipFill>
          <a:blip r:embed="rId2"/>
          <a:stretch>
            <a:fillRect/>
          </a:stretch>
        </p:blipFill>
        <p:spPr>
          <a:xfrm>
            <a:off x="673100" y="1916113"/>
            <a:ext cx="3681413" cy="2808287"/>
          </a:xfrm>
          <a:prstGeom prst="rect">
            <a:avLst/>
          </a:prstGeom>
          <a:noFill/>
          <a:ln w="9525">
            <a:noFill/>
          </a:ln>
        </p:spPr>
      </p:pic>
      <p:sp>
        <p:nvSpPr>
          <p:cNvPr id="65542" name="Text Box 9"/>
          <p:cNvSpPr txBox="1"/>
          <p:nvPr/>
        </p:nvSpPr>
        <p:spPr>
          <a:xfrm>
            <a:off x="908050" y="4941888"/>
            <a:ext cx="7391400" cy="457200"/>
          </a:xfrm>
          <a:prstGeom prst="rect">
            <a:avLst/>
          </a:prstGeom>
          <a:noFill/>
          <a:ln w="9525">
            <a:noFill/>
          </a:ln>
        </p:spPr>
        <p:txBody>
          <a:bodyPr wrap="none">
            <a:spAutoFit/>
          </a:bodyPr>
          <a:p>
            <a:pPr eaLnBrk="1" hangingPunct="1"/>
            <a:r>
              <a:rPr lang="en-US" altLang="zh-CN" sz="2400" b="1" dirty="0">
                <a:latin typeface="Times New Roman" panose="02020603050405020304" pitchFamily="18" charset="0"/>
                <a:ea typeface="楷体_GB2312" pitchFamily="49" charset="-122"/>
              </a:rPr>
              <a:t>1</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Xilinx </a:t>
            </a:r>
            <a:r>
              <a:rPr lang="zh-CN" altLang="en-US" sz="2400" b="1" dirty="0">
                <a:latin typeface="Times New Roman" panose="02020603050405020304" pitchFamily="18" charset="0"/>
                <a:ea typeface="楷体_GB2312" pitchFamily="49" charset="-122"/>
              </a:rPr>
              <a:t>的</a:t>
            </a:r>
            <a:r>
              <a:rPr lang="en-US" altLang="zh-CN" sz="2400" b="1" dirty="0">
                <a:latin typeface="Times New Roman" panose="02020603050405020304" pitchFamily="18" charset="0"/>
                <a:ea typeface="楷体_GB2312" pitchFamily="49" charset="-122"/>
              </a:rPr>
              <a:t>Virtex 5                       2</a:t>
            </a:r>
            <a:r>
              <a:rPr lang="zh-CN" altLang="en-US" sz="2400" b="1" dirty="0">
                <a:latin typeface="Times New Roman" panose="02020603050405020304" pitchFamily="18" charset="0"/>
                <a:ea typeface="楷体_GB2312" pitchFamily="49" charset="-122"/>
              </a:rPr>
              <a:t>、</a:t>
            </a:r>
            <a:r>
              <a:rPr lang="en-US" altLang="zh-CN" sz="2400" b="1" dirty="0">
                <a:latin typeface="Times New Roman" panose="02020603050405020304" pitchFamily="18" charset="0"/>
                <a:ea typeface="楷体_GB2312" pitchFamily="49" charset="-122"/>
              </a:rPr>
              <a:t>Altera </a:t>
            </a:r>
            <a:r>
              <a:rPr lang="zh-CN" altLang="en-US" sz="2400" b="1" dirty="0">
                <a:latin typeface="Times New Roman" panose="02020603050405020304" pitchFamily="18" charset="0"/>
                <a:ea typeface="楷体_GB2312" pitchFamily="49" charset="-122"/>
              </a:rPr>
              <a:t>的</a:t>
            </a:r>
            <a:r>
              <a:rPr lang="en-US" altLang="zh-CN" sz="2400" b="1" dirty="0">
                <a:latin typeface="Times New Roman" panose="02020603050405020304" pitchFamily="18" charset="0"/>
                <a:ea typeface="楷体_GB2312" pitchFamily="49" charset="-122"/>
              </a:rPr>
              <a:t>stratix ii</a:t>
            </a:r>
            <a:endParaRPr lang="en-US" altLang="zh-CN" sz="2400" b="1" dirty="0">
              <a:latin typeface="Times New Roman" panose="02020603050405020304" pitchFamily="18" charset="0"/>
              <a:ea typeface="楷体_GB2312" pitchFamily="49" charset="-122"/>
            </a:endParaRPr>
          </a:p>
        </p:txBody>
      </p:sp>
    </p:spTree>
  </p:cSld>
  <p:clrMapOvr>
    <a:masterClrMapping/>
  </p:clrMapOvr>
  <p:transition spd="slow">
    <p:pull dir="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3"/>
          <p:cNvSpPr>
            <a:spLocks noGrp="1" noRot="1"/>
          </p:cNvSpPr>
          <p:nvPr>
            <p:ph idx="1"/>
          </p:nvPr>
        </p:nvSpPr>
        <p:spPr>
          <a:xfrm>
            <a:off x="1331913" y="5876925"/>
            <a:ext cx="6264275" cy="519113"/>
          </a:xfrm>
          <a:ln/>
        </p:spPr>
        <p:txBody>
          <a:bodyPr vert="horz" wrap="square" lIns="91440" tIns="45720" rIns="91440" bIns="45720" anchor="t" anchorCtr="0">
            <a:spAutoFit/>
          </a:bodyPr>
          <a:p>
            <a:pPr algn="ctr" eaLnBrk="1" hangingPunct="1">
              <a:buFont typeface="Wingdings" panose="05000000000000000000" pitchFamily="2" charset="2"/>
              <a:buNone/>
            </a:pPr>
            <a:r>
              <a:rPr lang="en-US" altLang="zh-CN" sz="2800" b="1" dirty="0">
                <a:latin typeface="Times New Roman" panose="02020603050405020304" pitchFamily="18" charset="0"/>
                <a:ea typeface="楷体_GB2312" pitchFamily="49" charset="-122"/>
              </a:rPr>
              <a:t> </a:t>
            </a:r>
            <a:r>
              <a:rPr lang="en-US" altLang="zh-CN" sz="2800" b="1" i="1" dirty="0">
                <a:latin typeface="Times New Roman" panose="02020603050405020304" pitchFamily="18" charset="0"/>
                <a:ea typeface="楷体_GB2312" pitchFamily="49" charset="-122"/>
              </a:rPr>
              <a:t>Altera</a:t>
            </a:r>
            <a:r>
              <a:rPr lang="en-US" altLang="zh-CN" sz="2800" b="1" dirty="0">
                <a:latin typeface="Times New Roman" panose="02020603050405020304" pitchFamily="18" charset="0"/>
                <a:ea typeface="楷体_GB2312" pitchFamily="49" charset="-122"/>
              </a:rPr>
              <a:t> </a:t>
            </a:r>
            <a:r>
              <a:rPr lang="zh-CN" altLang="en-US" sz="2800" b="1" dirty="0">
                <a:latin typeface="Times New Roman" panose="02020603050405020304" pitchFamily="18" charset="0"/>
                <a:ea typeface="楷体_GB2312" pitchFamily="49" charset="-122"/>
              </a:rPr>
              <a:t>的 </a:t>
            </a:r>
            <a:r>
              <a:rPr lang="en-US" altLang="zh-CN" sz="2800" b="1" i="1" dirty="0">
                <a:latin typeface="Times New Roman" panose="02020603050405020304" pitchFamily="18" charset="0"/>
                <a:ea typeface="楷体_GB2312" pitchFamily="49" charset="-122"/>
              </a:rPr>
              <a:t>DE2</a:t>
            </a:r>
            <a:r>
              <a:rPr lang="zh-CN" altLang="en-US" sz="2800" b="1" dirty="0">
                <a:latin typeface="Times New Roman" panose="02020603050405020304" pitchFamily="18" charset="0"/>
                <a:ea typeface="楷体_GB2312" pitchFamily="49" charset="-122"/>
              </a:rPr>
              <a:t>，</a:t>
            </a:r>
            <a:r>
              <a:rPr lang="en-US" altLang="zh-CN" sz="2800" b="1" i="1" dirty="0">
                <a:latin typeface="Times New Roman" panose="02020603050405020304" pitchFamily="18" charset="0"/>
                <a:ea typeface="楷体_GB2312" pitchFamily="49" charset="-122"/>
              </a:rPr>
              <a:t>cyclone II FPGA</a:t>
            </a:r>
            <a:endParaRPr lang="en-US" altLang="zh-CN" sz="2800" b="1" i="1" dirty="0">
              <a:latin typeface="Times New Roman" panose="02020603050405020304" pitchFamily="18" charset="0"/>
              <a:ea typeface="楷体_GB2312" pitchFamily="49" charset="-122"/>
            </a:endParaRPr>
          </a:p>
        </p:txBody>
      </p:sp>
      <p:pic>
        <p:nvPicPr>
          <p:cNvPr id="66563" name="Picture 4" descr="DE2_1280"/>
          <p:cNvPicPr>
            <a:picLocks noChangeAspect="1"/>
          </p:cNvPicPr>
          <p:nvPr/>
        </p:nvPicPr>
        <p:blipFill>
          <a:blip r:embed="rId1"/>
          <a:stretch>
            <a:fillRect/>
          </a:stretch>
        </p:blipFill>
        <p:spPr>
          <a:xfrm>
            <a:off x="900113" y="527050"/>
            <a:ext cx="7056437" cy="5422900"/>
          </a:xfrm>
          <a:prstGeom prst="rect">
            <a:avLst/>
          </a:prstGeom>
          <a:noFill/>
          <a:ln w="9525">
            <a:noFill/>
          </a:ln>
        </p:spPr>
      </p:pic>
    </p:spTree>
  </p:cSld>
  <p:clrMapOvr>
    <a:masterClrMapping/>
  </p:clrMapOvr>
  <p:transition spd="slow">
    <p:pull dir="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3779" name="Rectangle 3"/>
          <p:cNvSpPr>
            <a:spLocks noGrp="1" noRot="1" noChangeArrowheads="1"/>
          </p:cNvSpPr>
          <p:nvPr>
            <p:ph idx="1"/>
          </p:nvPr>
        </p:nvSpPr>
        <p:spPr>
          <a:xfrm>
            <a:off x="611188" y="1852613"/>
            <a:ext cx="7848600" cy="3232150"/>
          </a:xfrm>
          <a:solidFill>
            <a:schemeClr val="accent5">
              <a:lumMod val="20000"/>
              <a:lumOff val="80000"/>
            </a:schemeClr>
          </a:solidFill>
          <a:ln w="28575">
            <a:solidFill>
              <a:srgbClr val="00FF00"/>
            </a:solidFill>
            <a:miter lim="800000"/>
          </a:ln>
        </p:spPr>
        <p:txBody>
          <a:bodyPr vert="horz" wrap="square" lIns="91440" tIns="45720" rIns="91440" bIns="45720" numCol="1" rtlCol="0" anchor="t" anchorCtr="0" compatLnSpc="1">
            <a:spAutoFit/>
          </a:bodyPr>
          <a:lstStyle/>
          <a:p>
            <a:pPr marL="171450" marR="0" lvl="0" indent="-171450" algn="l" defTabSz="685800" rtl="0" eaLnBrk="1" fontAlgn="auto" latinLnBrk="0" hangingPunct="1">
              <a:lnSpc>
                <a:spcPct val="90000"/>
              </a:lnSpc>
              <a:spcBef>
                <a:spcPts val="750"/>
              </a:spcBef>
              <a:spcAft>
                <a:spcPts val="0"/>
              </a:spcAft>
              <a:buClrTx/>
              <a:buSzTx/>
              <a:buFont typeface="Wingdings" panose="05000000000000000000" pitchFamily="2" charset="2"/>
              <a:buNone/>
              <a:defRPr/>
            </a:pPr>
            <a:r>
              <a:rPr kumimoji="0" lang="zh-CN" altLang="en-US" sz="36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所谓“在系统编程”指的是：</a:t>
            </a:r>
            <a:r>
              <a:rPr kumimoji="0" lang="zh-CN" altLang="en-US" sz="28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对器件、电路板或整个电路子系统的逻辑功能可随时进行修改重构的能力。它允许用户“在系统中”编辑和修改逻辑，给使用者提供了在不修改系统硬件设计的条件下重构系统的能力和硬件升级能力，使硬件修改变得像软件修改一样方便，系统的可靠性因此而提高。</a:t>
            </a:r>
            <a:endParaRPr kumimoji="0" lang="zh-CN" altLang="en-US" sz="2800" b="0" i="0" u="none" strike="noStrike" kern="1200" cap="none" spc="0" normalizeH="0" baseline="0" noProof="0" dirty="0" smtClean="0">
              <a:ln>
                <a:noFill/>
              </a:ln>
              <a:solidFill>
                <a:srgbClr val="000000"/>
              </a:solidFill>
              <a:effectLst/>
              <a:uLnTx/>
              <a:uFillTx/>
              <a:latin typeface="+mn-lt"/>
              <a:ea typeface="+mn-ea"/>
              <a:cs typeface="+mn-cs"/>
            </a:endParaRPr>
          </a:p>
        </p:txBody>
      </p:sp>
      <p:sp>
        <p:nvSpPr>
          <p:cNvPr id="203780" name="Rectangle 4"/>
          <p:cNvSpPr>
            <a:spLocks noRot="1" noChangeArrowheads="1"/>
          </p:cNvSpPr>
          <p:nvPr/>
        </p:nvSpPr>
        <p:spPr bwMode="auto">
          <a:xfrm>
            <a:off x="468313" y="476250"/>
            <a:ext cx="7559675" cy="79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smtClean="0">
                <a:ln>
                  <a:noFill/>
                </a:ln>
                <a:solidFill>
                  <a:schemeClr val="hlink"/>
                </a:solidFill>
                <a:effectLst/>
                <a:uLnTx/>
                <a:uFillTx/>
                <a:latin typeface="+mn-ea"/>
                <a:ea typeface="+mn-ea"/>
                <a:cs typeface="Times New Roman" panose="02020603050405020304" pitchFamily="18" charset="0"/>
              </a:rPr>
              <a:t>ISP</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Times New Roman" panose="02020603050405020304" pitchFamily="18" charset="0"/>
              </a:rPr>
              <a:t>（</a:t>
            </a:r>
            <a:r>
              <a:rPr kumimoji="0" lang="en-US" altLang="zh-CN" sz="4000" b="1" i="0" u="none" strike="noStrike" kern="1200" cap="none" spc="0" normalizeH="0" baseline="0" noProof="0" dirty="0" smtClean="0">
                <a:ln>
                  <a:noFill/>
                </a:ln>
                <a:solidFill>
                  <a:schemeClr val="hlink"/>
                </a:solidFill>
                <a:effectLst/>
                <a:uLnTx/>
                <a:uFillTx/>
                <a:latin typeface="+mn-ea"/>
                <a:ea typeface="+mn-ea"/>
                <a:cs typeface="Times New Roman" panose="02020603050405020304" pitchFamily="18" charset="0"/>
              </a:rPr>
              <a:t>in system </a:t>
            </a:r>
            <a:r>
              <a:rPr kumimoji="0" lang="en-US" altLang="zh-CN" sz="4000" b="1" i="0" u="none" strike="noStrike" kern="1200" cap="none" spc="0" normalizeH="0" baseline="0" noProof="0" dirty="0" err="1" smtClean="0">
                <a:ln>
                  <a:noFill/>
                </a:ln>
                <a:solidFill>
                  <a:schemeClr val="hlink"/>
                </a:solidFill>
                <a:effectLst/>
                <a:uLnTx/>
                <a:uFillTx/>
                <a:latin typeface="+mn-ea"/>
                <a:ea typeface="+mn-ea"/>
                <a:cs typeface="Times New Roman" panose="02020603050405020304" pitchFamily="18" charset="0"/>
              </a:rPr>
              <a:t>progammable</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Times New Roman" panose="02020603050405020304" pitchFamily="18" charset="0"/>
              </a:rPr>
              <a:t>）</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Times New Roman" panose="02020603050405020304" pitchFamily="18" charset="0"/>
            </a:endParaRPr>
          </a:p>
        </p:txBody>
      </p:sp>
      <p:sp>
        <p:nvSpPr>
          <p:cNvPr id="68612" name="Line 5"/>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0658" name="Picture 2" descr="ISP1"/>
          <p:cNvPicPr>
            <a:picLocks noGrp="1" noChangeAspect="1"/>
          </p:cNvPicPr>
          <p:nvPr>
            <p:ph idx="1"/>
          </p:nvPr>
        </p:nvPicPr>
        <p:blipFill>
          <a:blip r:embed="rId1"/>
          <a:srcRect/>
          <a:stretch>
            <a:fillRect/>
          </a:stretch>
        </p:blipFill>
        <p:spPr>
          <a:xfrm>
            <a:off x="323850" y="2276475"/>
            <a:ext cx="8229600" cy="1966913"/>
          </a:xfrm>
          <a:ln/>
        </p:spPr>
      </p:pic>
      <p:sp>
        <p:nvSpPr>
          <p:cNvPr id="70659" name="Text Box 3"/>
          <p:cNvSpPr txBox="1"/>
          <p:nvPr/>
        </p:nvSpPr>
        <p:spPr>
          <a:xfrm>
            <a:off x="107950" y="4437063"/>
            <a:ext cx="8605838" cy="396875"/>
          </a:xfrm>
          <a:prstGeom prst="rect">
            <a:avLst/>
          </a:prstGeom>
          <a:noFill/>
          <a:ln w="9525">
            <a:noFill/>
          </a:ln>
        </p:spPr>
        <p:txBody>
          <a:bodyPr>
            <a:spAutoFit/>
          </a:bodyPr>
          <a:p>
            <a:pPr eaLnBrk="1" hangingPunct="1">
              <a:spcBef>
                <a:spcPct val="50000"/>
              </a:spcBef>
            </a:pPr>
            <a:r>
              <a:rPr lang="en-US" altLang="zh-CN" sz="2000" b="1" dirty="0">
                <a:latin typeface="Times New Roman" panose="02020603050405020304" pitchFamily="18" charset="0"/>
                <a:ea typeface="楷体_GB2312" pitchFamily="49" charset="-122"/>
              </a:rPr>
              <a:t>1.</a:t>
            </a:r>
            <a:r>
              <a:rPr lang="zh-CN" altLang="en-US" sz="2000" b="1" dirty="0">
                <a:latin typeface="Times New Roman" panose="02020603050405020304" pitchFamily="18" charset="0"/>
                <a:ea typeface="楷体_GB2312" pitchFamily="49" charset="-122"/>
              </a:rPr>
              <a:t>将</a:t>
            </a:r>
            <a:r>
              <a:rPr lang="en-US" altLang="zh-CN" sz="2000" b="1" i="1" dirty="0">
                <a:latin typeface="Times New Roman" panose="02020603050405020304" pitchFamily="18" charset="0"/>
                <a:ea typeface="楷体_GB2312" pitchFamily="49" charset="-122"/>
              </a:rPr>
              <a:t>PLD/FPGA</a:t>
            </a:r>
            <a:r>
              <a:rPr lang="zh-CN" altLang="en-US" sz="2000" b="1" dirty="0">
                <a:latin typeface="Times New Roman" panose="02020603050405020304" pitchFamily="18" charset="0"/>
                <a:ea typeface="楷体_GB2312" pitchFamily="49" charset="-122"/>
              </a:rPr>
              <a:t>焊在</a:t>
            </a:r>
            <a:r>
              <a:rPr lang="en-US" altLang="zh-CN" sz="2000" b="1" i="1" dirty="0">
                <a:latin typeface="Times New Roman" panose="02020603050405020304" pitchFamily="18" charset="0"/>
                <a:ea typeface="楷体_GB2312" pitchFamily="49" charset="-122"/>
              </a:rPr>
              <a:t>PCB</a:t>
            </a:r>
            <a:r>
              <a:rPr lang="zh-CN" altLang="en-US" sz="2000" b="1" dirty="0">
                <a:latin typeface="Times New Roman" panose="02020603050405020304" pitchFamily="18" charset="0"/>
                <a:ea typeface="楷体_GB2312" pitchFamily="49" charset="-122"/>
              </a:rPr>
              <a:t>板上  </a:t>
            </a:r>
            <a:r>
              <a:rPr lang="en-US" altLang="zh-CN" sz="2000" b="1" dirty="0">
                <a:latin typeface="Times New Roman" panose="02020603050405020304" pitchFamily="18" charset="0"/>
                <a:ea typeface="楷体_GB2312" pitchFamily="49" charset="-122"/>
              </a:rPr>
              <a:t>2.</a:t>
            </a:r>
            <a:r>
              <a:rPr lang="zh-CN" altLang="en-US" sz="2000" b="1" dirty="0">
                <a:latin typeface="Times New Roman" panose="02020603050405020304" pitchFamily="18" charset="0"/>
                <a:ea typeface="楷体_GB2312" pitchFamily="49" charset="-122"/>
              </a:rPr>
              <a:t>接好编程电缆           </a:t>
            </a:r>
            <a:r>
              <a:rPr lang="en-US" altLang="zh-CN" sz="2000" b="1" dirty="0">
                <a:latin typeface="Times New Roman" panose="02020603050405020304" pitchFamily="18" charset="0"/>
                <a:ea typeface="楷体_GB2312" pitchFamily="49" charset="-122"/>
              </a:rPr>
              <a:t>3.</a:t>
            </a:r>
            <a:r>
              <a:rPr lang="zh-CN" altLang="en-US" sz="2000" b="1" dirty="0">
                <a:latin typeface="Times New Roman" panose="02020603050405020304" pitchFamily="18" charset="0"/>
                <a:ea typeface="楷体_GB2312" pitchFamily="49" charset="-122"/>
              </a:rPr>
              <a:t>现场烧写</a:t>
            </a:r>
            <a:r>
              <a:rPr lang="en-US" altLang="zh-CN" sz="2000" b="1" i="1" dirty="0">
                <a:latin typeface="Times New Roman" panose="02020603050405020304" pitchFamily="18" charset="0"/>
                <a:ea typeface="楷体_GB2312" pitchFamily="49" charset="-122"/>
              </a:rPr>
              <a:t>PLD</a:t>
            </a:r>
            <a:r>
              <a:rPr lang="zh-CN" altLang="en-US" sz="2000" b="1" dirty="0">
                <a:latin typeface="Times New Roman" panose="02020603050405020304" pitchFamily="18" charset="0"/>
                <a:ea typeface="楷体_GB2312" pitchFamily="49" charset="-122"/>
              </a:rPr>
              <a:t>芯片</a:t>
            </a:r>
            <a:endParaRPr lang="zh-CN" altLang="en-US" sz="2000" b="1" dirty="0">
              <a:latin typeface="Times New Roman" panose="02020603050405020304" pitchFamily="18" charset="0"/>
              <a:ea typeface="楷体_GB2312" pitchFamily="49" charset="-122"/>
            </a:endParaRPr>
          </a:p>
        </p:txBody>
      </p:sp>
      <p:sp>
        <p:nvSpPr>
          <p:cNvPr id="70660" name="Line 5"/>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52586" name="Rectangle 10"/>
          <p:cNvSpPr>
            <a:spLocks noRot="1" noChangeArrowheads="1"/>
          </p:cNvSpPr>
          <p:nvPr/>
        </p:nvSpPr>
        <p:spPr bwMode="auto">
          <a:xfrm>
            <a:off x="468313" y="334963"/>
            <a:ext cx="7559675"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hlink"/>
                </a:solidFill>
                <a:effectLst/>
                <a:uLnTx/>
                <a:uFillTx/>
                <a:latin typeface="+mn-ea"/>
                <a:ea typeface="+mn-ea"/>
                <a:cs typeface="Times New Roman" panose="02020603050405020304" pitchFamily="18" charset="0"/>
              </a:rPr>
              <a:t>ISP</a:t>
            </a:r>
            <a:r>
              <a:rPr kumimoji="0" lang="zh-CN" altLang="en-US" sz="4000" b="1" i="0" u="none" strike="noStrike" kern="1200" cap="none" spc="0" normalizeH="0" baseline="0" noProof="0" dirty="0">
                <a:ln>
                  <a:noFill/>
                </a:ln>
                <a:solidFill>
                  <a:schemeClr val="hlink"/>
                </a:solidFill>
                <a:effectLst/>
                <a:uLnTx/>
                <a:uFillTx/>
                <a:latin typeface="+mn-ea"/>
                <a:ea typeface="+mn-ea"/>
                <a:cs typeface="Times New Roman" panose="02020603050405020304" pitchFamily="18" charset="0"/>
              </a:rPr>
              <a:t>（</a:t>
            </a:r>
            <a:r>
              <a:rPr kumimoji="0" lang="en-US" altLang="zh-CN" sz="4000" b="1" i="0" u="none" strike="noStrike" kern="1200" cap="none" spc="0" normalizeH="0" baseline="0" noProof="0" dirty="0">
                <a:ln>
                  <a:noFill/>
                </a:ln>
                <a:solidFill>
                  <a:schemeClr val="hlink"/>
                </a:solidFill>
                <a:effectLst/>
                <a:uLnTx/>
                <a:uFillTx/>
                <a:latin typeface="+mn-ea"/>
                <a:ea typeface="+mn-ea"/>
                <a:cs typeface="Times New Roman" panose="02020603050405020304" pitchFamily="18" charset="0"/>
              </a:rPr>
              <a:t>in system </a:t>
            </a:r>
            <a:r>
              <a:rPr kumimoji="0" lang="en-US" altLang="zh-CN" sz="4000" b="1" i="0" u="none" strike="noStrike" kern="1200" cap="none" spc="0" normalizeH="0" baseline="0" noProof="0" dirty="0" err="1">
                <a:ln>
                  <a:noFill/>
                </a:ln>
                <a:solidFill>
                  <a:schemeClr val="hlink"/>
                </a:solidFill>
                <a:effectLst/>
                <a:uLnTx/>
                <a:uFillTx/>
                <a:latin typeface="+mn-ea"/>
                <a:ea typeface="+mn-ea"/>
                <a:cs typeface="Times New Roman" panose="02020603050405020304" pitchFamily="18" charset="0"/>
              </a:rPr>
              <a:t>progammable</a:t>
            </a:r>
            <a:r>
              <a:rPr kumimoji="0" lang="zh-CN" altLang="en-US" sz="4000" b="1" i="0" u="none" strike="noStrike" kern="1200" cap="none" spc="0" normalizeH="0" baseline="0" noProof="0" dirty="0">
                <a:ln>
                  <a:noFill/>
                </a:ln>
                <a:solidFill>
                  <a:schemeClr val="hlink"/>
                </a:solidFill>
                <a:effectLst/>
                <a:uLnTx/>
                <a:uFillTx/>
                <a:latin typeface="+mn-ea"/>
                <a:ea typeface="+mn-ea"/>
                <a:cs typeface="Times New Roman" panose="02020603050405020304" pitchFamily="18" charset="0"/>
              </a:rPr>
              <a:t>）</a:t>
            </a:r>
            <a:endParaRPr kumimoji="0" lang="zh-CN" altLang="en-US" sz="4000" b="1" i="0" u="none" strike="noStrike" kern="1200" cap="none" spc="0" normalizeH="0" baseline="0" noProof="0" dirty="0">
              <a:ln>
                <a:noFill/>
              </a:ln>
              <a:solidFill>
                <a:schemeClr val="hlink"/>
              </a:solidFill>
              <a:effectLst/>
              <a:uLnTx/>
              <a:uFillTx/>
              <a:latin typeface="+mn-ea"/>
              <a:ea typeface="+mn-ea"/>
              <a:cs typeface="Times New Roman" panose="02020603050405020304" pitchFamily="18" charset="0"/>
            </a:endParaRPr>
          </a:p>
        </p:txBody>
      </p:sp>
    </p:spTree>
  </p:cSld>
  <p:clrMapOvr>
    <a:masterClrMapping/>
  </p:clrMapOvr>
  <p:transition spd="slow">
    <p:pull dir="ru"/>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51" name="Rectangle 3"/>
          <p:cNvSpPr>
            <a:spLocks noGrp="1" noRot="1" noChangeArrowheads="1"/>
          </p:cNvSpPr>
          <p:nvPr>
            <p:ph idx="1"/>
          </p:nvPr>
        </p:nvSpPr>
        <p:spPr>
          <a:xfrm>
            <a:off x="612775" y="1557338"/>
            <a:ext cx="7920038" cy="4464050"/>
          </a:xfrm>
          <a:solidFill>
            <a:schemeClr val="accent4">
              <a:lumMod val="20000"/>
              <a:lumOff val="80000"/>
            </a:schemeClr>
          </a:solidFill>
          <a:ln w="28575">
            <a:solidFill>
              <a:schemeClr val="folHlink"/>
            </a:solidFill>
            <a:miter lim="800000"/>
          </a:ln>
        </p:spPr>
        <p:txBody>
          <a:bodyPr vert="horz" wrap="square" lIns="91440" tIns="45720" rIns="91440" bIns="45720" numCol="1" rtlCol="0" anchor="t" anchorCtr="0" compatLnSpc="1">
            <a:noAutofit/>
          </a:bodyPr>
          <a:lstStyle/>
          <a:p>
            <a:pPr marL="171450" marR="0" lvl="0" indent="-171450" algn="l" defTabSz="685800" rtl="0" eaLnBrk="1" fontAlgn="auto" latinLnBrk="0" hangingPunct="1">
              <a:lnSpc>
                <a:spcPct val="90000"/>
              </a:lnSpc>
              <a:spcBef>
                <a:spcPts val="750"/>
              </a:spcBef>
              <a:spcAft>
                <a:spcPts val="0"/>
              </a:spcAft>
              <a:buClrTx/>
              <a:buSzTx/>
              <a:buFont typeface="Wingdings" panose="05000000000000000000" pitchFamily="2" charset="2"/>
              <a:buNone/>
              <a:defRPr/>
            </a:pPr>
            <a:r>
              <a:rPr kumimoji="0" lang="en-US"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夸张的讲，</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CPLD/FPGA </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能完成任何数字器件的功能，上至高性能 </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CPU</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，下至简单的电路，都可以用</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CPLD/FPG</a:t>
            </a:r>
            <a:r>
              <a:rPr kumimoji="0" lang="en-US"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 </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来实现。利用 </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CPLD/FPGA</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，工程师可以通过传统的</a:t>
            </a:r>
            <a:r>
              <a:rPr kumimoji="0" lang="zh-CN" altLang="en-US" sz="2600" b="1" i="0" u="sng"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原理图输入法</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，或</a:t>
            </a:r>
            <a:r>
              <a:rPr kumimoji="0" lang="zh-CN" altLang="en-US" sz="2600" b="1" i="0" u="sng"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硬件描述语言</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自由的设计一个数字系统。通过软件</a:t>
            </a:r>
            <a:r>
              <a:rPr kumimoji="0" lang="zh-CN" altLang="en-US" sz="2600" b="1" i="0" u="sng"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仿真</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，我们可以事先验证设计的正确性。在 </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PCB </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完成以后，还可以利用</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CPLD/FPGA </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的</a:t>
            </a:r>
            <a:r>
              <a:rPr kumimoji="0" lang="zh-CN" altLang="en-US" sz="2600" b="1" i="0" u="sng"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n-cs"/>
              </a:rPr>
              <a:t>在线修改</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能力，随时修改设计而不必改动硬件电路。使用 </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CPLD/FPGA </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来开发数字电路，可以大大缩短设计时间，提高系统的可靠性。 </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CPLD/FPGA </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的这些优点使得</a:t>
            </a:r>
            <a:r>
              <a:rPr kumimoji="0" lang="zh-CN" altLang="en-US"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CPLD/FPGA</a:t>
            </a:r>
            <a:r>
              <a:rPr kumimoji="0" lang="en-US"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技术得到飞速的发展，同时也大大推动了</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EDA</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软件和硬件描述语言</a:t>
            </a:r>
            <a:r>
              <a:rPr kumimoji="0" lang="en-US"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t>
            </a:r>
            <a:r>
              <a:rPr kumimoji="0" lang="en-US" altLang="zh-CN" sz="26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HDL</a:t>
            </a:r>
            <a:r>
              <a:rPr kumimoji="0" lang="en-US" altLang="zh-CN"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a:t>
            </a:r>
            <a:r>
              <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的进步。</a:t>
            </a:r>
            <a:endParaRPr kumimoji="0" lang="zh-CN" altLang="en-US" sz="2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155652" name="Rectangle 4"/>
          <p:cNvSpPr>
            <a:spLocks noRot="1" noChangeArrowheads="1"/>
          </p:cNvSpPr>
          <p:nvPr/>
        </p:nvSpPr>
        <p:spPr bwMode="auto">
          <a:xfrm>
            <a:off x="611188" y="476250"/>
            <a:ext cx="7416800" cy="798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lgn="ctr">
              <a:defRPr sz="4400">
                <a:solidFill>
                  <a:schemeClr val="tx2"/>
                </a:solidFill>
                <a:latin typeface="Arial" panose="020B0604020202020204" pitchFamily="34" charset="0"/>
                <a:ea typeface="宋体" panose="02010600030101010101" pitchFamily="2" charset="-122"/>
              </a:defRPr>
            </a:lvl1pPr>
            <a:lvl2pPr algn="ctr">
              <a:defRPr sz="4400">
                <a:solidFill>
                  <a:schemeClr val="tx2"/>
                </a:solidFill>
                <a:latin typeface="Arial" panose="020B0604020202020204" pitchFamily="34" charset="0"/>
                <a:ea typeface="宋体" panose="02010600030101010101" pitchFamily="2" charset="-122"/>
              </a:defRPr>
            </a:lvl2pPr>
            <a:lvl3pPr algn="ctr">
              <a:defRPr sz="4400">
                <a:solidFill>
                  <a:schemeClr val="tx2"/>
                </a:solidFill>
                <a:latin typeface="Arial" panose="020B0604020202020204" pitchFamily="34" charset="0"/>
                <a:ea typeface="宋体" panose="02010600030101010101" pitchFamily="2" charset="-122"/>
              </a:defRPr>
            </a:lvl3pPr>
            <a:lvl4pPr algn="ctr">
              <a:defRPr sz="4400">
                <a:solidFill>
                  <a:schemeClr val="tx2"/>
                </a:solidFill>
                <a:latin typeface="Arial" panose="020B0604020202020204" pitchFamily="34" charset="0"/>
                <a:ea typeface="宋体" panose="02010600030101010101" pitchFamily="2" charset="-122"/>
              </a:defRPr>
            </a:lvl4pPr>
            <a:lvl5pPr algn="ctr">
              <a:defRPr sz="4400">
                <a:solidFill>
                  <a:schemeClr val="tx2"/>
                </a:solidFill>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smtClean="0">
                <a:ln>
                  <a:noFill/>
                </a:ln>
                <a:solidFill>
                  <a:schemeClr val="hlink"/>
                </a:solidFill>
                <a:effectLst/>
                <a:uLnTx/>
                <a:uFillTx/>
                <a:latin typeface="+mn-ea"/>
                <a:ea typeface="+mn-ea"/>
                <a:cs typeface="+mn-cs"/>
              </a:rPr>
              <a:t>CPLD/FPGA </a:t>
            </a:r>
            <a:r>
              <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rPr>
              <a:t>能做</a:t>
            </a:r>
            <a:endParaRPr kumimoji="0" lang="zh-CN" altLang="en-US" sz="3600" b="1" i="0" u="none" strike="noStrike" kern="1200" cap="none" spc="0" normalizeH="0" baseline="0" noProof="0" dirty="0" smtClean="0">
              <a:ln>
                <a:noFill/>
              </a:ln>
              <a:solidFill>
                <a:schemeClr val="hlink"/>
              </a:solidFill>
              <a:effectLst/>
              <a:uLnTx/>
              <a:uFillTx/>
              <a:latin typeface="+mn-ea"/>
              <a:ea typeface="+mn-ea"/>
              <a:cs typeface="+mn-cs"/>
            </a:endParaRPr>
          </a:p>
        </p:txBody>
      </p:sp>
      <p:sp>
        <p:nvSpPr>
          <p:cNvPr id="71684" name="Line 5"/>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4" name="Rectangle 4"/>
          <p:cNvSpPr>
            <a:spLocks noGrp="1" noRot="1" noChangeArrowheads="1"/>
          </p:cNvSpPr>
          <p:nvPr>
            <p:ph type="title"/>
          </p:nvPr>
        </p:nvSpPr>
        <p:spPr>
          <a:xfrm>
            <a:off x="755650" y="2349500"/>
            <a:ext cx="7489825" cy="2009775"/>
          </a:xfrm>
          <a:solidFill>
            <a:schemeClr val="accent5">
              <a:lumMod val="20000"/>
              <a:lumOff val="80000"/>
            </a:schemeClr>
          </a:solidFill>
          <a:ln w="28575">
            <a:solidFill>
              <a:schemeClr val="folHlink"/>
            </a:solidFill>
            <a:miter lim="800000"/>
          </a:ln>
        </p:spPr>
        <p:txBody>
          <a:bodyPr vert="horz" wrap="square" lIns="91440" tIns="45720" rIns="91440" bIns="45720" numCol="1" rtlCol="0" anchor="ctr" anchorCtr="0" compatLnSpc="1">
            <a:sp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j-cs"/>
              </a:rPr>
              <a:t>   </a:t>
            </a:r>
            <a:r>
              <a:rPr kumimoji="0" lang="zh-CN" altLang="en-US" sz="3600" b="1" i="0" u="none" strike="noStrike" kern="1200" cap="none" spc="0" normalizeH="0" baseline="0" noProof="0" smtClean="0">
                <a:ln>
                  <a:noFill/>
                </a:ln>
                <a:solidFill>
                  <a:srgbClr val="000000"/>
                </a:solidFill>
                <a:effectLst/>
                <a:uLnTx/>
                <a:uFillTx/>
                <a:latin typeface="华文行楷" panose="02010800040101010101" pitchFamily="2" charset="-122"/>
                <a:ea typeface="华文行楷" panose="02010800040101010101" pitchFamily="2" charset="-122"/>
                <a:cs typeface="+mj-cs"/>
              </a:rPr>
              <a:t>使用 </a:t>
            </a:r>
            <a:r>
              <a:rPr kumimoji="0" lang="en-US" altLang="zh-CN" sz="3600" b="1" i="1" u="none" strike="noStrike" kern="1200" cap="none" spc="0" normalizeH="0" baseline="0" noProof="0" smtClean="0">
                <a:ln>
                  <a:noFill/>
                </a:ln>
                <a:solidFill>
                  <a:srgbClr val="000000"/>
                </a:solidFill>
                <a:effectLst/>
                <a:uLnTx/>
                <a:uFillTx/>
                <a:latin typeface="Times New Roman" panose="02020603050405020304" pitchFamily="18" charset="0"/>
                <a:ea typeface="华文行楷" panose="02010800040101010101" pitchFamily="2" charset="-122"/>
                <a:cs typeface="+mj-cs"/>
              </a:rPr>
              <a:t>CPLD/FPGA </a:t>
            </a:r>
            <a:r>
              <a:rPr kumimoji="0" lang="zh-CN" altLang="en-US" sz="3600" b="1" i="0" u="none" strike="noStrike" kern="1200" cap="none" spc="0" normalizeH="0" baseline="0" noProof="0" smtClean="0">
                <a:ln>
                  <a:noFill/>
                </a:ln>
                <a:solidFill>
                  <a:srgbClr val="000000"/>
                </a:solidFill>
                <a:effectLst/>
                <a:uLnTx/>
                <a:uFillTx/>
                <a:latin typeface="华文行楷" panose="02010800040101010101" pitchFamily="2" charset="-122"/>
                <a:ea typeface="华文行楷" panose="02010800040101010101" pitchFamily="2" charset="-122"/>
                <a:cs typeface="+mj-cs"/>
              </a:rPr>
              <a:t>实现数字系统的步骤和要点</a:t>
            </a:r>
            <a:r>
              <a:rPr kumimoji="0" lang="en-US" altLang="zh-CN" sz="3600" b="1" i="0" u="none" strike="noStrike" kern="1200" cap="none" spc="0" normalizeH="0" baseline="0" noProof="0" smtClean="0">
                <a:ln>
                  <a:noFill/>
                </a:ln>
                <a:solidFill>
                  <a:srgbClr val="000000"/>
                </a:solidFill>
                <a:effectLst/>
                <a:uLnTx/>
                <a:uFillTx/>
                <a:latin typeface="Times New Roman" panose="02020603050405020304" pitchFamily="18" charset="0"/>
                <a:ea typeface="华文行楷" panose="02010800040101010101" pitchFamily="2" charset="-122"/>
                <a:cs typeface="+mj-cs"/>
              </a:rPr>
              <a:t>: </a:t>
            </a:r>
            <a:r>
              <a:rPr kumimoji="0" lang="zh-CN" altLang="en-US" sz="3300" b="1" i="0" u="none" strike="noStrike" kern="1200" cap="none" spc="0" normalizeH="0" baseline="0" noProof="0" smtClean="0">
                <a:ln>
                  <a:noFill/>
                </a:ln>
                <a:solidFill>
                  <a:srgbClr val="FF0000"/>
                </a:solidFill>
                <a:effectLst/>
                <a:uLnTx/>
                <a:uFillTx/>
                <a:latin typeface="+mj-lt"/>
                <a:ea typeface="楷体_GB2312" pitchFamily="49" charset="-122"/>
                <a:cs typeface="+mj-cs"/>
              </a:rPr>
              <a:t>设计输入、综合 、适配、仿真、编程。</a:t>
            </a:r>
            <a:endParaRPr kumimoji="0" lang="zh-CN" altLang="en-US" sz="3600" b="1" i="0" u="none" strike="noStrike" kern="1200" cap="none" spc="0" normalizeH="0" baseline="0" noProof="0" smtClean="0">
              <a:ln>
                <a:noFill/>
              </a:ln>
              <a:solidFill>
                <a:schemeClr val="tx1"/>
              </a:solidFill>
              <a:effectLst/>
              <a:uLnTx/>
              <a:uFillTx/>
              <a:latin typeface="华文行楷" panose="02010800040101010101" pitchFamily="2" charset="-122"/>
              <a:ea typeface="华文行楷" panose="02010800040101010101" pitchFamily="2" charset="-122"/>
              <a:cs typeface="+mj-cs"/>
            </a:endParaRPr>
          </a:p>
        </p:txBody>
      </p:sp>
      <p:sp>
        <p:nvSpPr>
          <p:cNvPr id="72707" name="Line 5"/>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63846" name="Rectangle 6"/>
          <p:cNvSpPr>
            <a:spLocks noChangeArrowheads="1"/>
          </p:cNvSpPr>
          <p:nvPr/>
        </p:nvSpPr>
        <p:spPr bwMode="auto">
          <a:xfrm>
            <a:off x="573088" y="495300"/>
            <a:ext cx="6678613"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chemeClr val="hlink"/>
                </a:solidFill>
                <a:effectLst/>
                <a:uLnTx/>
                <a:uFillTx/>
                <a:latin typeface="+mn-ea"/>
                <a:ea typeface="+mn-ea"/>
                <a:cs typeface="+mn-cs"/>
              </a:rPr>
              <a:t>CPLD/FPGA </a:t>
            </a:r>
            <a:r>
              <a:rPr kumimoji="0" lang="zh-CN" altLang="en-US" sz="3600" b="1" i="0" u="none" strike="noStrike" kern="1200" cap="none" spc="0" normalizeH="0" baseline="0" noProof="0" dirty="0">
                <a:ln>
                  <a:noFill/>
                </a:ln>
                <a:solidFill>
                  <a:schemeClr val="hlink"/>
                </a:solidFill>
                <a:effectLst/>
                <a:uLnTx/>
                <a:uFillTx/>
                <a:latin typeface="+mn-ea"/>
                <a:ea typeface="+mn-ea"/>
                <a:cs typeface="+mn-cs"/>
              </a:rPr>
              <a:t>数字系统的实现步骤</a:t>
            </a:r>
            <a:endParaRPr kumimoji="0" lang="zh-CN" altLang="en-US" sz="3600" b="1" i="0" u="none" strike="noStrike" kern="1200" cap="none" spc="0" normalizeH="0" baseline="0" noProof="0" dirty="0">
              <a:ln>
                <a:noFill/>
              </a:ln>
              <a:solidFill>
                <a:schemeClr val="hlink"/>
              </a:solidFill>
              <a:effectLst/>
              <a:uLnTx/>
              <a:uFillTx/>
              <a:latin typeface="+mn-ea"/>
              <a:ea typeface="+mn-ea"/>
              <a:cs typeface="+mn-cs"/>
            </a:endParaRPr>
          </a:p>
        </p:txBody>
      </p:sp>
    </p:spTree>
  </p:cSld>
  <p:clrMapOvr>
    <a:masterClrMapping/>
  </p:clrMapOvr>
  <p:transition spd="slow">
    <p:pull dir="ru"/>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73730" name="Group 20"/>
          <p:cNvGrpSpPr/>
          <p:nvPr/>
        </p:nvGrpSpPr>
        <p:grpSpPr>
          <a:xfrm>
            <a:off x="1689100" y="1844675"/>
            <a:ext cx="5907088" cy="3983038"/>
            <a:chOff x="1065" y="1344"/>
            <a:chExt cx="3721" cy="2509"/>
          </a:xfrm>
        </p:grpSpPr>
        <p:sp>
          <p:nvSpPr>
            <p:cNvPr id="73733" name="Rectangle 4"/>
            <p:cNvSpPr/>
            <p:nvPr/>
          </p:nvSpPr>
          <p:spPr>
            <a:xfrm>
              <a:off x="1065" y="1344"/>
              <a:ext cx="1406" cy="453"/>
            </a:xfrm>
            <a:prstGeom prst="rect">
              <a:avLst/>
            </a:prstGeom>
            <a:solidFill>
              <a:srgbClr val="99CCFF"/>
            </a:solidFill>
            <a:ln w="9525" cap="flat" cmpd="sng">
              <a:prstDash val="solid"/>
              <a:miter/>
              <a:headEnd type="none" w="med" len="med"/>
              <a:tailEnd type="none" w="med" len="med"/>
            </a:ln>
            <a:scene3d>
              <a:camera prst="legacyObliqueTopRight">
                <a:rot lat="0" lon="0" rev="0"/>
              </a:camera>
              <a:lightRig rig="legacyFlat3" dir="b"/>
            </a:scene3d>
            <a:sp3d extrusionH="163500" prstMaterial="legacyMatte">
              <a:bevelT w="13500" h="13500" prst="angle"/>
              <a:bevelB w="13500" h="13500" prst="angle"/>
              <a:extrusionClr>
                <a:schemeClr val="accent2"/>
              </a:extrusionClr>
            </a:sp3d>
          </p:spPr>
          <p:txBody>
            <a:bodyPr wrap="none" anchor="ctr" anchorCtr="0">
              <a:flatTx/>
            </a:bodyPr>
            <a:p>
              <a:pPr algn="ctr" eaLnBrk="1" hangingPunct="1"/>
              <a:r>
                <a:rPr lang="zh-CN" altLang="en-US" sz="2800" b="1" dirty="0">
                  <a:solidFill>
                    <a:srgbClr val="FFFFFF"/>
                  </a:solidFill>
                  <a:latin typeface="Arial" panose="020B0604020202020204" pitchFamily="34" charset="0"/>
                  <a:ea typeface="楷体_GB2312" pitchFamily="49" charset="-122"/>
                </a:rPr>
                <a:t>设计输入</a:t>
              </a:r>
              <a:endParaRPr lang="zh-CN" altLang="en-US" sz="2800" b="1" dirty="0">
                <a:solidFill>
                  <a:srgbClr val="FFFFFF"/>
                </a:solidFill>
                <a:latin typeface="Arial" panose="020B0604020202020204" pitchFamily="34" charset="0"/>
                <a:ea typeface="楷体_GB2312" pitchFamily="49" charset="-122"/>
              </a:endParaRPr>
            </a:p>
          </p:txBody>
        </p:sp>
        <p:sp>
          <p:nvSpPr>
            <p:cNvPr id="73734" name="Rectangle 5"/>
            <p:cNvSpPr/>
            <p:nvPr/>
          </p:nvSpPr>
          <p:spPr>
            <a:xfrm>
              <a:off x="1065" y="2040"/>
              <a:ext cx="1406" cy="453"/>
            </a:xfrm>
            <a:prstGeom prst="rect">
              <a:avLst/>
            </a:prstGeom>
            <a:solidFill>
              <a:srgbClr val="99CCFF"/>
            </a:solidFill>
            <a:ln w="9525" cap="flat" cmpd="sng">
              <a:prstDash val="solid"/>
              <a:miter/>
              <a:headEnd type="none" w="med" len="med"/>
              <a:tailEnd type="none" w="med" len="med"/>
            </a:ln>
            <a:scene3d>
              <a:camera prst="legacyObliqueTopRight">
                <a:rot lat="0" lon="0" rev="0"/>
              </a:camera>
              <a:lightRig rig="legacyFlat3" dir="b"/>
            </a:scene3d>
            <a:sp3d extrusionH="163500" prstMaterial="legacyMatte">
              <a:bevelT w="13500" h="13500" prst="angle"/>
              <a:bevelB w="13500" h="13500" prst="angle"/>
              <a:extrusionClr>
                <a:schemeClr val="accent2"/>
              </a:extrusionClr>
            </a:sp3d>
          </p:spPr>
          <p:txBody>
            <a:bodyPr wrap="none" anchor="ctr" anchorCtr="0">
              <a:flatTx/>
            </a:bodyPr>
            <a:p>
              <a:pPr algn="ctr" eaLnBrk="1" hangingPunct="1"/>
              <a:r>
                <a:rPr lang="zh-CN" altLang="en-US" sz="2800" b="1" dirty="0">
                  <a:solidFill>
                    <a:srgbClr val="FFFFFF"/>
                  </a:solidFill>
                  <a:latin typeface="Arial" panose="020B0604020202020204" pitchFamily="34" charset="0"/>
                  <a:ea typeface="楷体_GB2312" pitchFamily="49" charset="-122"/>
                </a:rPr>
                <a:t>综合</a:t>
              </a:r>
              <a:endParaRPr lang="zh-CN" altLang="en-US" sz="2800" b="1" dirty="0">
                <a:solidFill>
                  <a:srgbClr val="FFFFFF"/>
                </a:solidFill>
                <a:latin typeface="Arial" panose="020B0604020202020204" pitchFamily="34" charset="0"/>
                <a:ea typeface="楷体_GB2312" pitchFamily="49" charset="-122"/>
              </a:endParaRPr>
            </a:p>
          </p:txBody>
        </p:sp>
        <p:sp>
          <p:nvSpPr>
            <p:cNvPr id="73735" name="Rectangle 6"/>
            <p:cNvSpPr/>
            <p:nvPr/>
          </p:nvSpPr>
          <p:spPr>
            <a:xfrm>
              <a:off x="1066" y="2720"/>
              <a:ext cx="1406" cy="453"/>
            </a:xfrm>
            <a:prstGeom prst="rect">
              <a:avLst/>
            </a:prstGeom>
            <a:solidFill>
              <a:srgbClr val="99CCFF"/>
            </a:solidFill>
            <a:ln w="9525" cap="flat" cmpd="sng">
              <a:prstDash val="solid"/>
              <a:miter/>
              <a:headEnd type="none" w="med" len="med"/>
              <a:tailEnd type="none" w="med" len="med"/>
            </a:ln>
            <a:scene3d>
              <a:camera prst="legacyObliqueTopRight">
                <a:rot lat="0" lon="0" rev="0"/>
              </a:camera>
              <a:lightRig rig="legacyFlat3" dir="b"/>
            </a:scene3d>
            <a:sp3d extrusionH="163500" prstMaterial="legacyMatte">
              <a:bevelT w="13500" h="13500" prst="angle"/>
              <a:bevelB w="13500" h="13500" prst="angle"/>
              <a:extrusionClr>
                <a:schemeClr val="accent2"/>
              </a:extrusionClr>
            </a:sp3d>
          </p:spPr>
          <p:txBody>
            <a:bodyPr wrap="none" anchor="ctr" anchorCtr="0">
              <a:flatTx/>
            </a:bodyPr>
            <a:p>
              <a:pPr algn="ctr" eaLnBrk="1" hangingPunct="1">
                <a:lnSpc>
                  <a:spcPct val="80000"/>
                </a:lnSpc>
              </a:pPr>
              <a:r>
                <a:rPr lang="en-US" altLang="zh-CN" sz="2800" b="1" i="1" dirty="0">
                  <a:solidFill>
                    <a:srgbClr val="FFFFFF"/>
                  </a:solidFill>
                  <a:latin typeface="Times New Roman" panose="02020603050405020304" pitchFamily="18" charset="0"/>
                  <a:ea typeface="楷体_GB2312" pitchFamily="49" charset="-122"/>
                </a:rPr>
                <a:t> FPGA/CPLD</a:t>
              </a:r>
              <a:r>
                <a:rPr lang="en-US" altLang="zh-CN" sz="2800" b="1" dirty="0">
                  <a:solidFill>
                    <a:srgbClr val="FFFFFF"/>
                  </a:solidFill>
                  <a:latin typeface="Arial" panose="020B0604020202020204" pitchFamily="34" charset="0"/>
                  <a:ea typeface="楷体_GB2312" pitchFamily="49" charset="-122"/>
                </a:rPr>
                <a:t> </a:t>
              </a:r>
              <a:endParaRPr lang="en-US" altLang="zh-CN" sz="2800" b="1" dirty="0">
                <a:solidFill>
                  <a:srgbClr val="FFFFFF"/>
                </a:solidFill>
                <a:latin typeface="Arial" panose="020B0604020202020204" pitchFamily="34" charset="0"/>
                <a:ea typeface="楷体_GB2312" pitchFamily="49" charset="-122"/>
              </a:endParaRPr>
            </a:p>
            <a:p>
              <a:pPr algn="ctr" eaLnBrk="1" hangingPunct="1">
                <a:lnSpc>
                  <a:spcPct val="80000"/>
                </a:lnSpc>
              </a:pPr>
              <a:r>
                <a:rPr lang="zh-CN" altLang="en-US" sz="2800" b="1" dirty="0">
                  <a:solidFill>
                    <a:srgbClr val="FFFFFF"/>
                  </a:solidFill>
                  <a:latin typeface="Arial" panose="020B0604020202020204" pitchFamily="34" charset="0"/>
                  <a:ea typeface="楷体_GB2312" pitchFamily="49" charset="-122"/>
                </a:rPr>
                <a:t>适配</a:t>
              </a:r>
              <a:endParaRPr lang="zh-CN" altLang="en-US" sz="2800" b="1" dirty="0">
                <a:solidFill>
                  <a:srgbClr val="FFFFFF"/>
                </a:solidFill>
                <a:latin typeface="Arial" panose="020B0604020202020204" pitchFamily="34" charset="0"/>
                <a:ea typeface="楷体_GB2312" pitchFamily="49" charset="-122"/>
              </a:endParaRPr>
            </a:p>
          </p:txBody>
        </p:sp>
        <p:sp>
          <p:nvSpPr>
            <p:cNvPr id="73736" name="Rectangle 7"/>
            <p:cNvSpPr/>
            <p:nvPr/>
          </p:nvSpPr>
          <p:spPr>
            <a:xfrm>
              <a:off x="1065" y="3400"/>
              <a:ext cx="1406" cy="453"/>
            </a:xfrm>
            <a:prstGeom prst="rect">
              <a:avLst/>
            </a:prstGeom>
            <a:solidFill>
              <a:srgbClr val="99CCFF"/>
            </a:solidFill>
            <a:ln w="9525" cap="flat" cmpd="sng">
              <a:prstDash val="solid"/>
              <a:miter/>
              <a:headEnd type="none" w="med" len="med"/>
              <a:tailEnd type="none" w="med" len="med"/>
            </a:ln>
            <a:scene3d>
              <a:camera prst="legacyObliqueTopRight">
                <a:rot lat="0" lon="0" rev="0"/>
              </a:camera>
              <a:lightRig rig="legacyFlat3" dir="b"/>
            </a:scene3d>
            <a:sp3d extrusionH="163500" prstMaterial="legacyMatte">
              <a:bevelT w="13500" h="13500" prst="angle"/>
              <a:bevelB w="13500" h="13500" prst="angle"/>
              <a:extrusionClr>
                <a:schemeClr val="accent2"/>
              </a:extrusionClr>
            </a:sp3d>
          </p:spPr>
          <p:txBody>
            <a:bodyPr wrap="none" anchor="ctr" anchorCtr="0">
              <a:flatTx/>
            </a:bodyPr>
            <a:p>
              <a:pPr algn="ctr" eaLnBrk="1" hangingPunct="1">
                <a:lnSpc>
                  <a:spcPct val="80000"/>
                </a:lnSpc>
              </a:pPr>
              <a:r>
                <a:rPr lang="en-US" altLang="zh-CN" sz="2800" b="1" i="1" dirty="0">
                  <a:solidFill>
                    <a:srgbClr val="FFFFFF"/>
                  </a:solidFill>
                  <a:latin typeface="Times New Roman" panose="02020603050405020304" pitchFamily="18" charset="0"/>
                  <a:ea typeface="楷体_GB2312" pitchFamily="49" charset="-122"/>
                </a:rPr>
                <a:t>FPGA/CPLD</a:t>
              </a:r>
              <a:r>
                <a:rPr lang="en-US" altLang="zh-CN" b="1" dirty="0">
                  <a:solidFill>
                    <a:srgbClr val="FFFFFF"/>
                  </a:solidFill>
                  <a:latin typeface="Arial" panose="020B0604020202020204" pitchFamily="34" charset="0"/>
                </a:rPr>
                <a:t> </a:t>
              </a:r>
              <a:endParaRPr lang="en-US" altLang="zh-CN" b="1" dirty="0">
                <a:solidFill>
                  <a:srgbClr val="FFFFFF"/>
                </a:solidFill>
                <a:latin typeface="Arial" panose="020B0604020202020204" pitchFamily="34" charset="0"/>
              </a:endParaRPr>
            </a:p>
            <a:p>
              <a:pPr algn="ctr" eaLnBrk="1" hangingPunct="1">
                <a:lnSpc>
                  <a:spcPct val="80000"/>
                </a:lnSpc>
              </a:pPr>
              <a:r>
                <a:rPr lang="zh-CN" altLang="en-US" sz="2800" b="1" dirty="0">
                  <a:solidFill>
                    <a:srgbClr val="FFFFFF"/>
                  </a:solidFill>
                  <a:latin typeface="Arial" panose="020B0604020202020204" pitchFamily="34" charset="0"/>
                  <a:ea typeface="楷体_GB2312" pitchFamily="49" charset="-122"/>
                </a:rPr>
                <a:t>编程下载</a:t>
              </a:r>
              <a:endParaRPr lang="zh-CN" altLang="en-US" sz="2800" b="1" dirty="0">
                <a:solidFill>
                  <a:srgbClr val="FFFFFF"/>
                </a:solidFill>
                <a:latin typeface="Arial" panose="020B0604020202020204" pitchFamily="34" charset="0"/>
                <a:ea typeface="楷体_GB2312" pitchFamily="49" charset="-122"/>
              </a:endParaRPr>
            </a:p>
          </p:txBody>
        </p:sp>
        <p:sp>
          <p:nvSpPr>
            <p:cNvPr id="73737" name="AutoShape 8"/>
            <p:cNvSpPr/>
            <p:nvPr/>
          </p:nvSpPr>
          <p:spPr>
            <a:xfrm>
              <a:off x="2563" y="2797"/>
              <a:ext cx="765" cy="306"/>
            </a:xfrm>
            <a:prstGeom prst="leftRigh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73738" name="AutoShape 9"/>
            <p:cNvSpPr/>
            <p:nvPr/>
          </p:nvSpPr>
          <p:spPr>
            <a:xfrm>
              <a:off x="2563" y="2115"/>
              <a:ext cx="765" cy="306"/>
            </a:xfrm>
            <a:prstGeom prst="leftRigh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73739" name="AutoShape 10"/>
            <p:cNvSpPr/>
            <p:nvPr/>
          </p:nvSpPr>
          <p:spPr>
            <a:xfrm>
              <a:off x="2563" y="3455"/>
              <a:ext cx="765" cy="306"/>
            </a:xfrm>
            <a:prstGeom prst="leftRightArrow">
              <a:avLst>
                <a:gd name="adj1" fmla="val 50000"/>
                <a:gd name="adj2" fmla="val 50000"/>
              </a:avLst>
            </a:prstGeom>
            <a:solidFill>
              <a:schemeClr val="accent1"/>
            </a:solidFill>
            <a:ln w="9525" cap="flat" cmpd="sng">
              <a:solidFill>
                <a:schemeClr val="tx1"/>
              </a:solidFill>
              <a:prstDash val="solid"/>
              <a:miter/>
              <a:headEnd type="none" w="med" len="med"/>
              <a:tailEnd type="none" w="med" len="med"/>
            </a:ln>
          </p:spPr>
          <p:txBody>
            <a:bodyPr wrap="none" anchor="ctr" anchorCtr="0"/>
            <a:p>
              <a:pPr eaLnBrk="1" hangingPunct="1"/>
              <a:endParaRPr lang="zh-CN" altLang="en-US" dirty="0">
                <a:latin typeface="Arial" panose="020B0604020202020204" pitchFamily="34" charset="0"/>
              </a:endParaRPr>
            </a:p>
          </p:txBody>
        </p:sp>
        <p:sp>
          <p:nvSpPr>
            <p:cNvPr id="73740" name="Rectangle 12"/>
            <p:cNvSpPr/>
            <p:nvPr/>
          </p:nvSpPr>
          <p:spPr>
            <a:xfrm>
              <a:off x="3380" y="2040"/>
              <a:ext cx="1406" cy="453"/>
            </a:xfrm>
            <a:prstGeom prst="rect">
              <a:avLst/>
            </a:prstGeom>
            <a:solidFill>
              <a:srgbClr val="99CCFF"/>
            </a:solidFill>
            <a:ln w="9525" cap="flat" cmpd="sng">
              <a:prstDash val="solid"/>
              <a:miter/>
              <a:headEnd type="none" w="med" len="med"/>
              <a:tailEnd type="none" w="med" len="med"/>
            </a:ln>
            <a:scene3d>
              <a:camera prst="legacyObliqueTopRight">
                <a:rot lat="0" lon="0" rev="0"/>
              </a:camera>
              <a:lightRig rig="legacyFlat3" dir="b"/>
            </a:scene3d>
            <a:sp3d extrusionH="163500" prstMaterial="legacyMatte">
              <a:bevelT w="13500" h="13500" prst="angle"/>
              <a:bevelB w="13500" h="13500" prst="angle"/>
              <a:extrusionClr>
                <a:schemeClr val="accent2"/>
              </a:extrusionClr>
            </a:sp3d>
          </p:spPr>
          <p:txBody>
            <a:bodyPr wrap="none" anchor="ctr" anchorCtr="0">
              <a:flatTx/>
            </a:bodyPr>
            <a:p>
              <a:pPr algn="ctr" eaLnBrk="1" hangingPunct="1"/>
              <a:r>
                <a:rPr lang="zh-CN" altLang="en-US" sz="2800" b="1" dirty="0">
                  <a:solidFill>
                    <a:srgbClr val="FFFFFF"/>
                  </a:solidFill>
                  <a:latin typeface="Arial" panose="020B0604020202020204" pitchFamily="34" charset="0"/>
                  <a:ea typeface="楷体_GB2312" pitchFamily="49" charset="-122"/>
                </a:rPr>
                <a:t>功能仿真</a:t>
              </a:r>
              <a:endParaRPr lang="zh-CN" altLang="en-US" sz="2800" b="1" dirty="0">
                <a:solidFill>
                  <a:srgbClr val="FFFFFF"/>
                </a:solidFill>
                <a:latin typeface="Arial" panose="020B0604020202020204" pitchFamily="34" charset="0"/>
                <a:ea typeface="楷体_GB2312" pitchFamily="49" charset="-122"/>
              </a:endParaRPr>
            </a:p>
          </p:txBody>
        </p:sp>
        <p:sp>
          <p:nvSpPr>
            <p:cNvPr id="73741" name="Rectangle 13"/>
            <p:cNvSpPr/>
            <p:nvPr/>
          </p:nvSpPr>
          <p:spPr>
            <a:xfrm>
              <a:off x="3380" y="3400"/>
              <a:ext cx="1406" cy="453"/>
            </a:xfrm>
            <a:prstGeom prst="rect">
              <a:avLst/>
            </a:prstGeom>
            <a:solidFill>
              <a:srgbClr val="99CCFF"/>
            </a:solidFill>
            <a:ln w="9525" cap="flat" cmpd="sng">
              <a:prstDash val="solid"/>
              <a:miter/>
              <a:headEnd type="none" w="med" len="med"/>
              <a:tailEnd type="none" w="med" len="med"/>
            </a:ln>
            <a:scene3d>
              <a:camera prst="legacyObliqueTopRight">
                <a:rot lat="0" lon="0" rev="0"/>
              </a:camera>
              <a:lightRig rig="legacyFlat3" dir="b"/>
            </a:scene3d>
            <a:sp3d extrusionH="163500" prstMaterial="legacyMatte">
              <a:bevelT w="13500" h="13500" prst="angle"/>
              <a:bevelB w="13500" h="13500" prst="angle"/>
              <a:extrusionClr>
                <a:schemeClr val="accent2"/>
              </a:extrusionClr>
            </a:sp3d>
          </p:spPr>
          <p:txBody>
            <a:bodyPr wrap="none" anchor="ctr" anchorCtr="0">
              <a:flatTx/>
            </a:bodyPr>
            <a:p>
              <a:pPr algn="ctr" eaLnBrk="1" hangingPunct="1"/>
              <a:r>
                <a:rPr lang="zh-CN" altLang="en-US" sz="2800" b="1" dirty="0">
                  <a:solidFill>
                    <a:srgbClr val="FFFFFF"/>
                  </a:solidFill>
                  <a:latin typeface="Arial" panose="020B0604020202020204" pitchFamily="34" charset="0"/>
                  <a:ea typeface="楷体_GB2312" pitchFamily="49" charset="-122"/>
                </a:rPr>
                <a:t>在线测试</a:t>
              </a:r>
              <a:endParaRPr lang="zh-CN" altLang="en-US" sz="2800" b="1" dirty="0">
                <a:solidFill>
                  <a:srgbClr val="FFFFFF"/>
                </a:solidFill>
                <a:latin typeface="Arial" panose="020B0604020202020204" pitchFamily="34" charset="0"/>
                <a:ea typeface="楷体_GB2312" pitchFamily="49" charset="-122"/>
              </a:endParaRPr>
            </a:p>
          </p:txBody>
        </p:sp>
        <p:sp>
          <p:nvSpPr>
            <p:cNvPr id="73742" name="Rectangle 14"/>
            <p:cNvSpPr/>
            <p:nvPr/>
          </p:nvSpPr>
          <p:spPr>
            <a:xfrm>
              <a:off x="3380" y="2720"/>
              <a:ext cx="1406" cy="453"/>
            </a:xfrm>
            <a:prstGeom prst="rect">
              <a:avLst/>
            </a:prstGeom>
            <a:solidFill>
              <a:srgbClr val="99CCFF"/>
            </a:solidFill>
            <a:ln w="9525" cap="flat" cmpd="sng">
              <a:prstDash val="solid"/>
              <a:miter/>
              <a:headEnd type="none" w="med" len="med"/>
              <a:tailEnd type="none" w="med" len="med"/>
            </a:ln>
            <a:scene3d>
              <a:camera prst="legacyObliqueTopRight">
                <a:rot lat="0" lon="0" rev="0"/>
              </a:camera>
              <a:lightRig rig="legacyFlat3" dir="b"/>
            </a:scene3d>
            <a:sp3d extrusionH="163500" prstMaterial="legacyMatte">
              <a:bevelT w="13500" h="13500" prst="angle"/>
              <a:bevelB w="13500" h="13500" prst="angle"/>
              <a:extrusionClr>
                <a:schemeClr val="accent2"/>
              </a:extrusionClr>
            </a:sp3d>
          </p:spPr>
          <p:txBody>
            <a:bodyPr wrap="none" anchor="ctr" anchorCtr="0">
              <a:flatTx/>
            </a:bodyPr>
            <a:p>
              <a:pPr algn="ctr" eaLnBrk="1" hangingPunct="1"/>
              <a:r>
                <a:rPr lang="zh-CN" altLang="en-US" sz="2800" b="1" dirty="0">
                  <a:solidFill>
                    <a:srgbClr val="FFFFFF"/>
                  </a:solidFill>
                  <a:latin typeface="Arial" panose="020B0604020202020204" pitchFamily="34" charset="0"/>
                  <a:ea typeface="楷体_GB2312" pitchFamily="49" charset="-122"/>
                </a:rPr>
                <a:t>时序仿真</a:t>
              </a:r>
              <a:endParaRPr lang="zh-CN" altLang="en-US" sz="2800" b="1" dirty="0">
                <a:solidFill>
                  <a:srgbClr val="FFFFFF"/>
                </a:solidFill>
                <a:latin typeface="Arial" panose="020B0604020202020204" pitchFamily="34" charset="0"/>
                <a:ea typeface="楷体_GB2312" pitchFamily="49" charset="-122"/>
              </a:endParaRPr>
            </a:p>
          </p:txBody>
        </p:sp>
        <p:sp>
          <p:nvSpPr>
            <p:cNvPr id="73743" name="Line 15"/>
            <p:cNvSpPr/>
            <p:nvPr/>
          </p:nvSpPr>
          <p:spPr>
            <a:xfrm>
              <a:off x="1746" y="1797"/>
              <a:ext cx="0" cy="227"/>
            </a:xfrm>
            <a:prstGeom prst="line">
              <a:avLst/>
            </a:prstGeom>
            <a:ln w="31750" cap="flat" cmpd="sng">
              <a:solidFill>
                <a:schemeClr val="tx1"/>
              </a:solidFill>
              <a:prstDash val="solid"/>
              <a:headEnd type="none" w="med" len="med"/>
              <a:tailEnd type="arrow" w="lg" len="lg"/>
            </a:ln>
          </p:spPr>
        </p:sp>
        <p:sp>
          <p:nvSpPr>
            <p:cNvPr id="73744" name="Line 16"/>
            <p:cNvSpPr/>
            <p:nvPr/>
          </p:nvSpPr>
          <p:spPr>
            <a:xfrm>
              <a:off x="1746" y="2478"/>
              <a:ext cx="0" cy="226"/>
            </a:xfrm>
            <a:prstGeom prst="line">
              <a:avLst/>
            </a:prstGeom>
            <a:ln w="31750" cap="flat" cmpd="sng">
              <a:solidFill>
                <a:schemeClr val="tx1"/>
              </a:solidFill>
              <a:prstDash val="solid"/>
              <a:headEnd type="none" w="med" len="med"/>
              <a:tailEnd type="arrow" w="lg" len="lg"/>
            </a:ln>
          </p:spPr>
        </p:sp>
        <p:sp>
          <p:nvSpPr>
            <p:cNvPr id="73745" name="Line 17"/>
            <p:cNvSpPr/>
            <p:nvPr/>
          </p:nvSpPr>
          <p:spPr>
            <a:xfrm>
              <a:off x="1746" y="3163"/>
              <a:ext cx="0" cy="226"/>
            </a:xfrm>
            <a:prstGeom prst="line">
              <a:avLst/>
            </a:prstGeom>
            <a:ln w="31750" cap="flat" cmpd="sng">
              <a:solidFill>
                <a:schemeClr val="tx1"/>
              </a:solidFill>
              <a:prstDash val="solid"/>
              <a:headEnd type="none" w="med" len="med"/>
              <a:tailEnd type="arrow" w="lg" len="lg"/>
            </a:ln>
          </p:spPr>
        </p:sp>
        <p:sp>
          <p:nvSpPr>
            <p:cNvPr id="73746" name="Line 18"/>
            <p:cNvSpPr/>
            <p:nvPr/>
          </p:nvSpPr>
          <p:spPr>
            <a:xfrm>
              <a:off x="4079" y="2488"/>
              <a:ext cx="0" cy="226"/>
            </a:xfrm>
            <a:prstGeom prst="line">
              <a:avLst/>
            </a:prstGeom>
            <a:ln w="31750" cap="flat" cmpd="sng">
              <a:solidFill>
                <a:schemeClr val="tx1"/>
              </a:solidFill>
              <a:prstDash val="solid"/>
              <a:headEnd type="none" w="med" len="med"/>
              <a:tailEnd type="arrow" w="lg" len="lg"/>
            </a:ln>
          </p:spPr>
        </p:sp>
        <p:sp>
          <p:nvSpPr>
            <p:cNvPr id="73747" name="Line 19"/>
            <p:cNvSpPr/>
            <p:nvPr/>
          </p:nvSpPr>
          <p:spPr>
            <a:xfrm>
              <a:off x="4079" y="3158"/>
              <a:ext cx="0" cy="226"/>
            </a:xfrm>
            <a:prstGeom prst="line">
              <a:avLst/>
            </a:prstGeom>
            <a:ln w="31750" cap="flat" cmpd="sng">
              <a:solidFill>
                <a:schemeClr val="tx1"/>
              </a:solidFill>
              <a:prstDash val="solid"/>
              <a:headEnd type="none" w="med" len="med"/>
              <a:tailEnd type="arrow" w="lg" len="lg"/>
            </a:ln>
          </p:spPr>
        </p:sp>
      </p:grpSp>
      <p:sp>
        <p:nvSpPr>
          <p:cNvPr id="73731" name="Line 21"/>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261142" name="Rectangle 22"/>
          <p:cNvSpPr>
            <a:spLocks noChangeArrowheads="1"/>
          </p:cNvSpPr>
          <p:nvPr/>
        </p:nvSpPr>
        <p:spPr bwMode="auto">
          <a:xfrm>
            <a:off x="477838" y="558800"/>
            <a:ext cx="6881813"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4000" b="1" i="0" u="none" strike="noStrike" kern="1200" cap="none" spc="0" normalizeH="0" baseline="0" noProof="0" dirty="0">
                <a:ln>
                  <a:noFill/>
                </a:ln>
                <a:solidFill>
                  <a:schemeClr val="hlink"/>
                </a:solidFill>
                <a:effectLst/>
                <a:uLnTx/>
                <a:uFillTx/>
                <a:latin typeface="+mn-ea"/>
                <a:ea typeface="+mn-ea"/>
                <a:cs typeface="+mn-cs"/>
              </a:rPr>
              <a:t>CPLD/FPGA </a:t>
            </a:r>
            <a:r>
              <a:rPr kumimoji="0" lang="zh-CN" altLang="en-US" sz="4000" b="1" i="0" u="none" strike="noStrike" kern="1200" cap="none" spc="0" normalizeH="0" baseline="0" noProof="0" dirty="0">
                <a:ln>
                  <a:noFill/>
                </a:ln>
                <a:solidFill>
                  <a:schemeClr val="hlink"/>
                </a:solidFill>
                <a:effectLst/>
                <a:uLnTx/>
                <a:uFillTx/>
                <a:latin typeface="+mn-ea"/>
                <a:ea typeface="+mn-ea"/>
                <a:cs typeface="+mn-cs"/>
              </a:rPr>
              <a:t>数字系统设计流程</a:t>
            </a:r>
            <a:endParaRPr kumimoji="0" lang="zh-CN" altLang="en-US" sz="4000" b="1" i="0" u="none" strike="noStrike" kern="1200" cap="none" spc="0" normalizeH="0" baseline="0" noProof="0" dirty="0">
              <a:ln>
                <a:noFill/>
              </a:ln>
              <a:solidFill>
                <a:schemeClr val="hlink"/>
              </a:solidFill>
              <a:effectLst/>
              <a:uLnTx/>
              <a:uFillTx/>
              <a:latin typeface="+mn-ea"/>
              <a:ea typeface="+mn-ea"/>
              <a:cs typeface="+mn-cs"/>
            </a:endParaRPr>
          </a:p>
        </p:txBody>
      </p:sp>
    </p:spTree>
  </p:cSld>
  <p:clrMapOvr>
    <a:masterClrMapping/>
  </p:clrMapOvr>
  <p:transition spd="slow">
    <p:pull dir="ru"/>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Line 7"/>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61800" name="Rectangle 8"/>
          <p:cNvSpPr>
            <a:spLocks noChangeArrowheads="1"/>
          </p:cNvSpPr>
          <p:nvPr/>
        </p:nvSpPr>
        <p:spPr bwMode="auto">
          <a:xfrm>
            <a:off x="684213" y="1700213"/>
            <a:ext cx="7920038" cy="1400175"/>
          </a:xfrm>
          <a:prstGeom prst="rect">
            <a:avLst/>
          </a:prstGeom>
          <a:solidFill>
            <a:schemeClr val="accent5">
              <a:lumMod val="20000"/>
              <a:lumOff val="80000"/>
            </a:schemeClr>
          </a:solidFill>
          <a:ln w="31750">
            <a:solidFill>
              <a:srgbClr val="808080"/>
            </a:solidFill>
            <a:miter lim="800000"/>
          </a:ln>
          <a:effectLst/>
        </p:spPr>
        <p:txBody>
          <a:bodyPr>
            <a:spAutoFit/>
          </a:bodyPr>
          <a:lstStyle/>
          <a:p>
            <a:pPr marL="0" marR="0" lvl="0" indent="0" algn="l" defTabSz="914400" rtl="0" eaLnBrk="1" fontAlgn="base" latinLnBrk="0" hangingPunct="1">
              <a:lnSpc>
                <a:spcPct val="95000"/>
              </a:lnSpc>
              <a:spcBef>
                <a:spcPct val="0"/>
              </a:spcBef>
              <a:spcAft>
                <a:spcPct val="0"/>
              </a:spcAft>
              <a:buClrTx/>
              <a:buSzTx/>
              <a:buFontTx/>
              <a:buNone/>
              <a:defRPr/>
            </a:pPr>
            <a:r>
              <a:rPr kumimoji="0" lang="en-US" altLang="zh-CN" sz="3200" b="1"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rPr>
              <a:t>       </a:t>
            </a:r>
            <a:r>
              <a:rPr kumimoji="0" lang="zh-CN" altLang="en-US" sz="3200" b="1"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hlinkClick r:id="" action="ppaction://noaction"/>
              </a:rPr>
              <a:t>设计</a:t>
            </a:r>
            <a:r>
              <a:rPr kumimoji="0" lang="zh-CN" altLang="en-US" sz="3200" b="1"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rPr>
              <a:t>输入（</a:t>
            </a:r>
            <a:r>
              <a:rPr kumimoji="0" lang="en-US" altLang="zh-CN" sz="3200" b="1" i="1"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design entry</a:t>
            </a:r>
            <a:r>
              <a:rPr kumimoji="0" lang="zh-CN" altLang="en-US" sz="3200" b="1" i="0" u="none" strike="noStrike" kern="1200" cap="none" spc="0" normalizeH="0" baseline="0" noProof="0" dirty="0">
                <a:ln>
                  <a:noFill/>
                </a:ln>
                <a:solidFill>
                  <a:srgbClr val="FF0000"/>
                </a:solidFill>
                <a:effectLst/>
                <a:uLnTx/>
                <a:uFillTx/>
                <a:latin typeface="Arial" panose="020B0604020202020204" pitchFamily="34" charset="0"/>
                <a:ea typeface="楷体_GB2312" pitchFamily="49" charset="-122"/>
                <a:cs typeface="+mn-cs"/>
              </a:rPr>
              <a:t>）：</a:t>
            </a:r>
            <a:r>
              <a:rPr kumimoji="0" lang="zh-CN" altLang="en-US" sz="28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rPr>
              <a:t>将设计者所设计的电路以开发软件要求的某种形式表达出来，并输入到相应软件中的过程。</a:t>
            </a:r>
            <a:endParaRPr kumimoji="0" lang="zh-CN" altLang="en-US" sz="2800" b="1" i="0" u="none" strike="noStrike" kern="1200" cap="none" spc="0" normalizeH="0" baseline="0" noProof="0" dirty="0">
              <a:ln>
                <a:noFill/>
              </a:ln>
              <a:solidFill>
                <a:schemeClr val="tx2"/>
              </a:solidFill>
              <a:effectLst/>
              <a:uLnTx/>
              <a:uFillTx/>
              <a:latin typeface="Arial" panose="020B0604020202020204" pitchFamily="34" charset="0"/>
              <a:ea typeface="楷体_GB2312" pitchFamily="49" charset="-122"/>
              <a:cs typeface="+mn-cs"/>
            </a:endParaRPr>
          </a:p>
        </p:txBody>
      </p:sp>
      <p:sp>
        <p:nvSpPr>
          <p:cNvPr id="161801" name="Rectangle 9"/>
          <p:cNvSpPr>
            <a:spLocks noChangeArrowheads="1"/>
          </p:cNvSpPr>
          <p:nvPr/>
        </p:nvSpPr>
        <p:spPr bwMode="auto">
          <a:xfrm>
            <a:off x="539750" y="501650"/>
            <a:ext cx="6678613"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chemeClr val="hlink"/>
                </a:solidFill>
                <a:effectLst/>
                <a:uLnTx/>
                <a:uFillTx/>
                <a:latin typeface="+mn-ea"/>
                <a:ea typeface="+mn-ea"/>
                <a:cs typeface="+mn-cs"/>
              </a:rPr>
              <a:t>CPLD/FPGA </a:t>
            </a:r>
            <a:r>
              <a:rPr kumimoji="0" lang="zh-CN" altLang="en-US" sz="3600" b="1" i="0" u="none" strike="noStrike" kern="1200" cap="none" spc="0" normalizeH="0" baseline="0" noProof="0" dirty="0">
                <a:ln>
                  <a:noFill/>
                </a:ln>
                <a:solidFill>
                  <a:schemeClr val="hlink"/>
                </a:solidFill>
                <a:effectLst/>
                <a:uLnTx/>
                <a:uFillTx/>
                <a:latin typeface="+mn-ea"/>
                <a:ea typeface="+mn-ea"/>
                <a:cs typeface="+mn-cs"/>
              </a:rPr>
              <a:t>实现步骤</a:t>
            </a:r>
            <a:r>
              <a:rPr kumimoji="0" lang="en-US" altLang="zh-CN" sz="3600" b="1" i="0" u="none" strike="noStrike" kern="1200" cap="none" spc="0" normalizeH="0" baseline="0" noProof="0" dirty="0">
                <a:ln>
                  <a:noFill/>
                </a:ln>
                <a:solidFill>
                  <a:schemeClr val="hlink"/>
                </a:solidFill>
                <a:effectLst/>
                <a:uLnTx/>
                <a:uFillTx/>
                <a:latin typeface="+mn-ea"/>
                <a:ea typeface="+mn-ea"/>
                <a:cs typeface="+mn-cs"/>
              </a:rPr>
              <a:t>—</a:t>
            </a:r>
            <a:r>
              <a:rPr kumimoji="0" lang="zh-CN" altLang="en-US" sz="3600" b="1" i="0" u="none" strike="noStrike" kern="1200" cap="none" spc="0" normalizeH="0" baseline="0" noProof="0" dirty="0">
                <a:ln>
                  <a:noFill/>
                </a:ln>
                <a:solidFill>
                  <a:schemeClr val="hlink"/>
                </a:solidFill>
                <a:effectLst/>
                <a:uLnTx/>
                <a:uFillTx/>
                <a:latin typeface="+mn-ea"/>
                <a:ea typeface="+mn-ea"/>
                <a:cs typeface="+mn-cs"/>
              </a:rPr>
              <a:t>设计输入</a:t>
            </a:r>
            <a:endParaRPr kumimoji="0" lang="zh-CN" altLang="en-US" sz="3600" b="1" i="0" u="none" strike="noStrike" kern="1200" cap="none" spc="0" normalizeH="0" baseline="0" noProof="0" dirty="0">
              <a:ln>
                <a:noFill/>
              </a:ln>
              <a:solidFill>
                <a:schemeClr val="hlink"/>
              </a:solidFill>
              <a:effectLst/>
              <a:uLnTx/>
              <a:uFillTx/>
              <a:latin typeface="+mn-ea"/>
              <a:ea typeface="+mn-ea"/>
              <a:cs typeface="+mn-cs"/>
            </a:endParaRPr>
          </a:p>
        </p:txBody>
      </p:sp>
      <p:sp>
        <p:nvSpPr>
          <p:cNvPr id="161804" name="Rectangle 12"/>
          <p:cNvSpPr>
            <a:spLocks noChangeArrowheads="1"/>
          </p:cNvSpPr>
          <p:nvPr/>
        </p:nvSpPr>
        <p:spPr bwMode="auto">
          <a:xfrm>
            <a:off x="684213" y="3427413"/>
            <a:ext cx="7920038" cy="1946275"/>
          </a:xfrm>
          <a:prstGeom prst="rect">
            <a:avLst/>
          </a:prstGeom>
          <a:solidFill>
            <a:schemeClr val="accent3">
              <a:lumMod val="20000"/>
              <a:lumOff val="80000"/>
            </a:schemeClr>
          </a:solidFill>
          <a:ln w="28575">
            <a:solidFill>
              <a:srgbClr val="808080"/>
            </a:solidFill>
            <a:miter lim="800000"/>
          </a:ln>
          <a:effectLst/>
        </p:spPr>
        <p:txBody>
          <a:bodyPr>
            <a:spAutoFit/>
          </a:bodyPr>
          <a:lstStyle/>
          <a:p>
            <a:pPr marL="457200" marR="0" lvl="1"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1</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、原理图输入：</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图形化的表达方式，使用元件符号和连线来描述设计。适合描述连接关系和接口关系，而描述逻辑功能比较烦琐。</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a:p>
            <a:pPr marL="457200" marR="0" lvl="1"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2</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a:t>
            </a:r>
            <a:r>
              <a:rPr kumimoji="0" lang="en-US" altLang="zh-CN" sz="2400" b="1" i="1"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HDL</a:t>
            </a:r>
            <a:r>
              <a:rPr kumimoji="0" lang="zh-CN" altLang="en-US" sz="2400" b="1" i="0" u="none" strike="noStrike" kern="1200" cap="none" spc="0" normalizeH="0" baseline="0" noProof="0" dirty="0">
                <a:ln>
                  <a:noFill/>
                </a:ln>
                <a:solidFill>
                  <a:srgbClr val="FF0000"/>
                </a:solidFill>
                <a:effectLst/>
                <a:uLnTx/>
                <a:uFillTx/>
                <a:latin typeface="Times New Roman" panose="02020603050405020304" pitchFamily="18" charset="0"/>
                <a:ea typeface="楷体_GB2312" pitchFamily="49" charset="-122"/>
                <a:cs typeface="+mn-cs"/>
              </a:rPr>
              <a:t>文本输入：</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逻辑描述能力强但描述接口和连接规则不如图形方式直观。</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spd="slow">
    <p:pull dir="r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20" name="Rectangle 4"/>
          <p:cNvSpPr>
            <a:spLocks noGrp="1" noRot="1" noChangeArrowheads="1"/>
          </p:cNvSpPr>
          <p:nvPr>
            <p:ph type="title"/>
          </p:nvPr>
        </p:nvSpPr>
        <p:spPr>
          <a:xfrm>
            <a:off x="539750" y="1566863"/>
            <a:ext cx="8135938" cy="3238500"/>
          </a:xfrm>
          <a:solidFill>
            <a:schemeClr val="accent5">
              <a:lumMod val="20000"/>
              <a:lumOff val="80000"/>
            </a:schemeClr>
          </a:solidFill>
          <a:ln w="28575">
            <a:solidFill>
              <a:srgbClr val="808080"/>
            </a:solidFill>
            <a:miter lim="800000"/>
          </a:ln>
        </p:spPr>
        <p:txBody>
          <a:bodyPr vert="horz" wrap="square" lIns="91440" tIns="45720" rIns="91440" bIns="45720" numCol="1" rtlCol="0" anchor="ctr" anchorCtr="0" compatLnSpc="1">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smtClean="0">
                <a:ln>
                  <a:noFill/>
                </a:ln>
                <a:solidFill>
                  <a:srgbClr val="FF0000"/>
                </a:solidFill>
                <a:effectLst/>
                <a:uLnTx/>
                <a:uFillTx/>
                <a:latin typeface="+mj-lt"/>
                <a:ea typeface="楷体_GB2312" pitchFamily="49" charset="-122"/>
                <a:cs typeface="+mj-cs"/>
              </a:rPr>
              <a:t>      </a:t>
            </a:r>
            <a:r>
              <a:rPr kumimoji="0" lang="zh-CN" altLang="en-US" sz="3600" b="1" i="0" u="none" strike="noStrike" kern="1200" cap="none" spc="0" normalizeH="0" baseline="0" noProof="0" dirty="0" smtClean="0">
                <a:ln>
                  <a:noFill/>
                </a:ln>
                <a:solidFill>
                  <a:srgbClr val="FF0000"/>
                </a:solidFill>
                <a:effectLst/>
                <a:uLnTx/>
                <a:uFillTx/>
                <a:latin typeface="+mj-lt"/>
                <a:ea typeface="楷体_GB2312" pitchFamily="49" charset="-122"/>
                <a:cs typeface="+mj-cs"/>
                <a:hlinkClick r:id="" action="ppaction://noaction"/>
              </a:rPr>
              <a:t>综合</a:t>
            </a:r>
            <a:r>
              <a:rPr kumimoji="0" lang="zh-CN" altLang="en-US" sz="2400" b="1" i="0" u="none" strike="noStrike" kern="1200" cap="none" spc="0" normalizeH="0" baseline="0" noProof="0" dirty="0" smtClean="0">
                <a:ln>
                  <a:noFill/>
                </a:ln>
                <a:solidFill>
                  <a:schemeClr val="hlink"/>
                </a:solidFill>
                <a:effectLst/>
                <a:uLnTx/>
                <a:uFillTx/>
                <a:latin typeface="+mj-lt"/>
                <a:ea typeface="楷体_GB2312" pitchFamily="49" charset="-122"/>
                <a:cs typeface="+mj-cs"/>
              </a:rPr>
              <a:t>：</a:t>
            </a:r>
            <a:r>
              <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将较高层次的设计描述自动转化成较低层次的描述的过程。</a:t>
            </a:r>
            <a:br>
              <a:rPr kumimoji="0" lang="zh-CN" altLang="en-US" sz="2800" b="1" i="0" u="none" strike="noStrike" kern="1200" cap="none" spc="0" normalizeH="0" baseline="0" noProof="0" dirty="0" smtClean="0">
                <a:ln>
                  <a:noFill/>
                </a:ln>
                <a:solidFill>
                  <a:schemeClr val="tx1"/>
                </a:solidFill>
                <a:effectLst/>
                <a:uLnTx/>
                <a:uFillTx/>
                <a:latin typeface="+mj-lt"/>
                <a:ea typeface="+mj-ea"/>
                <a:cs typeface="+mj-cs"/>
              </a:rPr>
            </a:br>
            <a:br>
              <a:rPr kumimoji="0" lang="zh-CN" altLang="en-US" sz="2400" b="1" i="0" u="none" strike="noStrike" kern="1200" cap="none" spc="0" normalizeH="0" baseline="0" noProof="0" dirty="0" smtClean="0">
                <a:ln>
                  <a:noFill/>
                </a:ln>
                <a:solidFill>
                  <a:schemeClr val="tx1"/>
                </a:solidFill>
                <a:effectLst/>
                <a:uLnTx/>
                <a:uFillTx/>
                <a:latin typeface="+mj-lt"/>
                <a:ea typeface="+mj-ea"/>
                <a:cs typeface="+mj-cs"/>
              </a:rPr>
            </a:br>
            <a:br>
              <a:rPr kumimoji="0" lang="zh-CN" altLang="en-US" sz="2400" b="0" i="0" u="none" strike="noStrike" kern="1200" cap="none" spc="0" normalizeH="0" baseline="0" noProof="0" dirty="0" smtClean="0">
                <a:ln>
                  <a:noFill/>
                </a:ln>
                <a:solidFill>
                  <a:schemeClr val="tx1"/>
                </a:solidFill>
                <a:effectLst/>
                <a:uLnTx/>
                <a:uFillTx/>
                <a:latin typeface="+mj-lt"/>
                <a:ea typeface="+mj-ea"/>
                <a:cs typeface="+mj-cs"/>
              </a:rPr>
            </a:br>
            <a:br>
              <a:rPr kumimoji="0" lang="zh-CN" altLang="en-US" sz="2400" b="0" i="0" u="none" strike="noStrike" kern="1200" cap="none" spc="0" normalizeH="0" baseline="0" noProof="0" dirty="0" smtClean="0">
                <a:ln>
                  <a:noFill/>
                </a:ln>
                <a:solidFill>
                  <a:schemeClr val="tx1"/>
                </a:solidFill>
                <a:effectLst/>
                <a:uLnTx/>
                <a:uFillTx/>
                <a:latin typeface="+mj-lt"/>
                <a:ea typeface="+mj-ea"/>
                <a:cs typeface="+mj-cs"/>
              </a:rPr>
            </a:br>
            <a:br>
              <a:rPr kumimoji="0" lang="zh-CN" altLang="en-US" sz="2400" b="0" i="0" u="none" strike="noStrike" kern="1200" cap="none" spc="0" normalizeH="0" baseline="0" noProof="0" dirty="0" smtClean="0">
                <a:ln>
                  <a:noFill/>
                </a:ln>
                <a:solidFill>
                  <a:schemeClr val="tx1"/>
                </a:solidFill>
                <a:effectLst/>
                <a:uLnTx/>
                <a:uFillTx/>
                <a:latin typeface="+mj-lt"/>
                <a:ea typeface="+mj-ea"/>
                <a:cs typeface="+mj-cs"/>
              </a:rPr>
            </a:br>
            <a:br>
              <a:rPr kumimoji="0" lang="zh-CN" altLang="en-US" sz="2400" b="0" i="0" u="none" strike="noStrike" kern="1200" cap="none" spc="0" normalizeH="0" baseline="0" noProof="0" dirty="0" smtClean="0">
                <a:ln>
                  <a:noFill/>
                </a:ln>
                <a:solidFill>
                  <a:schemeClr val="tx1"/>
                </a:solidFill>
                <a:effectLst/>
                <a:uLnTx/>
                <a:uFillTx/>
                <a:latin typeface="+mj-lt"/>
                <a:ea typeface="+mj-ea"/>
                <a:cs typeface="+mj-cs"/>
              </a:rPr>
            </a:br>
            <a:endParaRPr kumimoji="0" lang="zh-CN" altLang="en-US" sz="24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76803" name="Line 6"/>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62823" name="Rectangle 7"/>
          <p:cNvSpPr>
            <a:spLocks noChangeArrowheads="1"/>
          </p:cNvSpPr>
          <p:nvPr/>
        </p:nvSpPr>
        <p:spPr bwMode="auto">
          <a:xfrm>
            <a:off x="477838" y="606425"/>
            <a:ext cx="61007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1200" cap="none" spc="0" normalizeH="0" baseline="0" noProof="0" dirty="0">
                <a:ln>
                  <a:noFill/>
                </a:ln>
                <a:solidFill>
                  <a:srgbClr val="000000"/>
                </a:solidFill>
                <a:effectLst/>
                <a:uLnTx/>
                <a:uFillTx/>
                <a:latin typeface="+mn-ea"/>
                <a:ea typeface="+mn-ea"/>
                <a:cs typeface="+mn-cs"/>
              </a:rPr>
              <a:t> </a:t>
            </a:r>
            <a:r>
              <a:rPr kumimoji="0" lang="en-US" altLang="zh-CN" sz="3600" b="1" i="0" u="none" strike="noStrike" kern="1200" cap="none" spc="0" normalizeH="0" baseline="0" noProof="0" dirty="0">
                <a:ln>
                  <a:noFill/>
                </a:ln>
                <a:solidFill>
                  <a:schemeClr val="hlink"/>
                </a:solidFill>
                <a:effectLst/>
                <a:uLnTx/>
                <a:uFillTx/>
                <a:latin typeface="+mn-ea"/>
                <a:ea typeface="+mn-ea"/>
                <a:cs typeface="+mn-cs"/>
              </a:rPr>
              <a:t>CPLD/FPGA </a:t>
            </a:r>
            <a:r>
              <a:rPr kumimoji="0" lang="zh-CN" altLang="en-US" sz="3600" b="1" i="0" u="none" strike="noStrike" kern="1200" cap="none" spc="0" normalizeH="0" baseline="0" noProof="0" dirty="0">
                <a:ln>
                  <a:noFill/>
                </a:ln>
                <a:solidFill>
                  <a:schemeClr val="hlink"/>
                </a:solidFill>
                <a:effectLst/>
                <a:uLnTx/>
                <a:uFillTx/>
                <a:latin typeface="+mn-ea"/>
                <a:ea typeface="+mn-ea"/>
                <a:cs typeface="+mn-cs"/>
              </a:rPr>
              <a:t>实现步骤</a:t>
            </a:r>
            <a:r>
              <a:rPr kumimoji="0" lang="en-US" altLang="zh-CN" sz="3600" b="1" i="0" u="none" strike="noStrike" kern="1200" cap="none" spc="0" normalizeH="0" baseline="0" noProof="0" dirty="0">
                <a:ln>
                  <a:noFill/>
                </a:ln>
                <a:solidFill>
                  <a:schemeClr val="hlink"/>
                </a:solidFill>
                <a:effectLst/>
                <a:uLnTx/>
                <a:uFillTx/>
                <a:latin typeface="+mn-ea"/>
                <a:ea typeface="+mn-ea"/>
                <a:cs typeface="+mn-cs"/>
              </a:rPr>
              <a:t>—</a:t>
            </a:r>
            <a:r>
              <a:rPr kumimoji="0" lang="zh-CN" altLang="en-US" sz="3600" b="1" i="0" u="none" strike="noStrike" kern="1200" cap="none" spc="0" normalizeH="0" baseline="0" noProof="0" dirty="0">
                <a:ln>
                  <a:noFill/>
                </a:ln>
                <a:solidFill>
                  <a:schemeClr val="hlink"/>
                </a:solidFill>
                <a:effectLst/>
                <a:uLnTx/>
                <a:uFillTx/>
                <a:latin typeface="+mn-ea"/>
                <a:ea typeface="+mn-ea"/>
                <a:cs typeface="+mn-cs"/>
              </a:rPr>
              <a:t>综合</a:t>
            </a:r>
            <a:endParaRPr kumimoji="0" lang="zh-CN" altLang="en-US" sz="3600" b="1" i="0" u="none" strike="noStrike" kern="1200" cap="none" spc="0" normalizeH="0" baseline="0" noProof="0" dirty="0">
              <a:ln>
                <a:noFill/>
              </a:ln>
              <a:solidFill>
                <a:schemeClr val="hlink"/>
              </a:solidFill>
              <a:effectLst/>
              <a:uLnTx/>
              <a:uFillTx/>
              <a:latin typeface="+mn-ea"/>
              <a:ea typeface="+mn-ea"/>
              <a:cs typeface="+mn-cs"/>
            </a:endParaRPr>
          </a:p>
        </p:txBody>
      </p:sp>
      <p:sp>
        <p:nvSpPr>
          <p:cNvPr id="162824" name="Rectangle 8"/>
          <p:cNvSpPr>
            <a:spLocks noChangeArrowheads="1"/>
          </p:cNvSpPr>
          <p:nvPr/>
        </p:nvSpPr>
        <p:spPr bwMode="auto">
          <a:xfrm>
            <a:off x="519113" y="2881313"/>
            <a:ext cx="8156575" cy="2132013"/>
          </a:xfrm>
          <a:prstGeom prst="rect">
            <a:avLst/>
          </a:prstGeom>
          <a:solidFill>
            <a:schemeClr val="accent3">
              <a:lumMod val="40000"/>
              <a:lumOff val="60000"/>
            </a:schemeClr>
          </a:solidFill>
          <a:ln w="28575">
            <a:solidFill>
              <a:srgbClr val="808080"/>
            </a:solidFill>
            <a:miter lim="800000"/>
          </a:ln>
          <a:effectLst/>
        </p:spPr>
        <p:txBody>
          <a:bodyPr>
            <a:spAutoFit/>
          </a:bodyPr>
          <a:lstStyle>
            <a:lvl1pPr>
              <a:spcBef>
                <a:spcPct val="20000"/>
              </a:spcBef>
              <a:buClr>
                <a:schemeClr val="hlink"/>
              </a:buClr>
              <a:buSzPct val="70000"/>
              <a:buFont typeface="Wingdings" panose="05000000000000000000" pitchFamily="2" charset="2"/>
              <a:buChar char="v"/>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5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80000"/>
              <a:buFont typeface="Wingdings" panose="05000000000000000000" pitchFamily="2" charset="2"/>
              <a:buChar char="v"/>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9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hlink"/>
              </a:buClr>
              <a:buSzPct val="85000"/>
              <a:buFont typeface="Wingdings" panose="05000000000000000000" pitchFamily="2" charset="2"/>
              <a:buChar char="v"/>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en-US" altLang="zh-CN"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1</a:t>
            </a:r>
            <a:r>
              <a:rPr kumimoji="0" lang="zh-CN" altLang="en-US"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、行为综合</a:t>
            </a:r>
            <a:r>
              <a:rPr kumimoji="0" lang="zh-CN" altLang="en-US" sz="2400" b="1" i="1" u="sng" strike="noStrike" kern="1200" cap="none" spc="0" normalizeH="0" baseline="0" noProof="0" dirty="0" smtClean="0">
                <a:ln>
                  <a:noFill/>
                </a:ln>
                <a:solidFill>
                  <a:srgbClr val="FF66FF"/>
                </a:solidFill>
                <a:effectLst/>
                <a:uLnTx/>
                <a:uFillTx/>
                <a:latin typeface="Times New Roman" panose="02020603050405020304" pitchFamily="18" charset="0"/>
                <a:ea typeface="楷体_GB2312" pitchFamily="49" charset="-122"/>
                <a:cs typeface="+mn-cs"/>
              </a:rPr>
              <a:t> </a:t>
            </a:r>
            <a:r>
              <a:rPr kumimoji="0" lang="zh-CN" altLang="en-US"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将算法表示、行为描述转换到 </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RTL</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（寄存器传输）级描述。</a:t>
            </a:r>
            <a:endPar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en-US" altLang="zh-CN"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2</a:t>
            </a:r>
            <a:r>
              <a:rPr kumimoji="0" lang="zh-CN" altLang="en-US"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、逻辑综合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将</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RTL</a:t>
            </a:r>
            <a:r>
              <a:rPr kumimoji="0" lang="en-US" altLang="zh-CN"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级描述转换到逻辑门级描述 。</a:t>
            </a:r>
            <a:endPar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0" marR="0" lvl="0" indent="0" algn="l" defTabSz="914400" rtl="0" eaLnBrk="1" fontAlgn="base" latinLnBrk="0" hangingPunct="1">
              <a:lnSpc>
                <a:spcPct val="100000"/>
              </a:lnSpc>
              <a:spcBef>
                <a:spcPct val="0"/>
              </a:spcBef>
              <a:spcAft>
                <a:spcPct val="0"/>
              </a:spcAft>
              <a:buClr>
                <a:schemeClr val="hlink"/>
              </a:buClr>
              <a:buSzPct val="70000"/>
              <a:buFont typeface="Wingdings" panose="05000000000000000000" pitchFamily="2" charset="2"/>
              <a:buNone/>
              <a:defRPr/>
            </a:pPr>
            <a:r>
              <a:rPr kumimoji="0" lang="en-US" altLang="zh-CN"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3</a:t>
            </a:r>
            <a:r>
              <a:rPr kumimoji="0" lang="zh-CN" altLang="en-US" sz="2800" b="1" i="0" u="none" strike="noStrike" kern="1200" cap="none" spc="0" normalizeH="0" baseline="0" noProof="0" dirty="0" smtClean="0">
                <a:ln>
                  <a:noFill/>
                </a:ln>
                <a:solidFill>
                  <a:srgbClr val="990099"/>
                </a:solidFill>
                <a:effectLst/>
                <a:uLnTx/>
                <a:uFillTx/>
                <a:latin typeface="Times New Roman" panose="02020603050405020304" pitchFamily="18" charset="0"/>
                <a:ea typeface="楷体_GB2312" pitchFamily="49" charset="-122"/>
                <a:cs typeface="+mn-cs"/>
              </a:rPr>
              <a:t>、版图综合：</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将逻辑门级表示转换到版图表示，或转换到</a:t>
            </a:r>
            <a:r>
              <a:rPr kumimoji="0" lang="en-US" altLang="zh-CN" sz="2400" b="1" i="1"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PLD</a:t>
            </a:r>
            <a:r>
              <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器件的配置网表表示。</a:t>
            </a:r>
            <a:endParaRPr kumimoji="0" lang="zh-CN" altLang="en-US" sz="24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162826" name="Rectangle 10"/>
          <p:cNvSpPr>
            <a:spLocks noChangeArrowheads="1"/>
          </p:cNvSpPr>
          <p:nvPr/>
        </p:nvSpPr>
        <p:spPr bwMode="auto">
          <a:xfrm>
            <a:off x="468313" y="5229225"/>
            <a:ext cx="8207375" cy="1219200"/>
          </a:xfrm>
          <a:prstGeom prst="rect">
            <a:avLst/>
          </a:prstGeom>
          <a:solidFill>
            <a:schemeClr val="accent3">
              <a:lumMod val="20000"/>
              <a:lumOff val="80000"/>
            </a:schemeClr>
          </a:solidFill>
          <a:ln w="31750">
            <a:solidFill>
              <a:srgbClr val="808080"/>
            </a:solid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         </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综合器是能够自动实现上述转换的软件工具，是能将原理图或</a:t>
            </a:r>
            <a:r>
              <a:rPr kumimoji="0" lang="en-US" altLang="zh-CN" sz="2400" b="1" i="1"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HDL</a:t>
            </a:r>
            <a:r>
              <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rPr>
              <a:t>语言描述的电路功能转化为具体电路结构网表的工具。</a:t>
            </a:r>
            <a:endParaRPr kumimoji="0" lang="zh-CN" altLang="en-US" sz="2400" b="1" i="0" u="none" strike="noStrike" kern="1200" cap="none" spc="0" normalizeH="0" baseline="0" noProof="0" dirty="0">
              <a:ln>
                <a:noFill/>
              </a:ln>
              <a:solidFill>
                <a:srgbClr val="000000"/>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9" presetClass="entr" presetSubtype="0" fill="hold" grpId="0" nodeType="clickEffect">
                                  <p:stCondLst>
                                    <p:cond delay="0"/>
                                  </p:stCondLst>
                                  <p:childTnLst>
                                    <p:set>
                                      <p:cBhvr>
                                        <p:cTn id="6" dur="1" fill="hold">
                                          <p:stCondLst>
                                            <p:cond delay="0"/>
                                          </p:stCondLst>
                                        </p:cTn>
                                        <p:tgtEl>
                                          <p:spTgt spid="162824"/>
                                        </p:tgtEl>
                                        <p:attrNameLst>
                                          <p:attrName>style.visibility</p:attrName>
                                        </p:attrNameLst>
                                      </p:cBhvr>
                                      <p:to>
                                        <p:strVal val="visible"/>
                                      </p:to>
                                    </p:set>
                                    <p:anim calcmode="lin" valueType="num">
                                      <p:cBhvr>
                                        <p:cTn id="7" dur="2000" fill="hold"/>
                                        <p:tgtEl>
                                          <p:spTgt spid="162824"/>
                                        </p:tgtEl>
                                        <p:attrNameLst>
                                          <p:attrName>ppt_x</p:attrName>
                                        </p:attrNameLst>
                                      </p:cBhvr>
                                      <p:tavLst>
                                        <p:tav tm="0">
                                          <p:val>
                                            <p:strVal val="#ppt_x-.2"/>
                                          </p:val>
                                        </p:tav>
                                        <p:tav tm="100000">
                                          <p:val>
                                            <p:strVal val="#ppt_x"/>
                                          </p:val>
                                        </p:tav>
                                      </p:tavLst>
                                    </p:anim>
                                    <p:anim calcmode="lin" valueType="num">
                                      <p:cBhvr>
                                        <p:cTn id="8" dur="2000" fill="hold"/>
                                        <p:tgtEl>
                                          <p:spTgt spid="162824"/>
                                        </p:tgtEl>
                                        <p:attrNameLst>
                                          <p:attrName>ppt_y</p:attrName>
                                        </p:attrNameLst>
                                      </p:cBhvr>
                                      <p:tavLst>
                                        <p:tav tm="0">
                                          <p:val>
                                            <p:strVal val="#ppt_y"/>
                                          </p:val>
                                        </p:tav>
                                        <p:tav tm="100000">
                                          <p:val>
                                            <p:strVal val="#ppt_y"/>
                                          </p:val>
                                        </p:tav>
                                      </p:tavLst>
                                    </p:anim>
                                    <p:animEffect transition="in" filter="wipe(right)" prLst="gradientSize: 0.1">
                                      <p:cBhvr>
                                        <p:cTn id="9" dur="2000"/>
                                        <p:tgtEl>
                                          <p:spTgt spid="162824"/>
                                        </p:tgtEl>
                                      </p:cBhvr>
                                    </p:animEffect>
                                  </p:childTnLst>
                                </p:cTn>
                              </p:par>
                            </p:childTnLst>
                          </p:cTn>
                        </p:par>
                      </p:childTnLst>
                    </p:cTn>
                  </p:par>
                  <p:par>
                    <p:cTn id="10" fill="hold">
                      <p:stCondLst>
                        <p:cond delay="indefinite"/>
                      </p:stCondLst>
                      <p:childTnLst>
                        <p:par>
                          <p:cTn id="11" fill="hold">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62826"/>
                                        </p:tgtEl>
                                        <p:attrNameLst>
                                          <p:attrName>style.visibility</p:attrName>
                                        </p:attrNameLst>
                                      </p:cBhvr>
                                      <p:to>
                                        <p:strVal val="visible"/>
                                      </p:to>
                                    </p:set>
                                    <p:animEffect transition="in" filter="blinds(horizontal)">
                                      <p:cBhvr>
                                        <p:cTn id="14" dur="500"/>
                                        <p:tgtEl>
                                          <p:spTgt spid="1628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824" grpId="0" animBg="1"/>
      <p:bldP spid="162826"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2146" name="AutoShape 2"/>
          <p:cNvSpPr/>
          <p:nvPr/>
        </p:nvSpPr>
        <p:spPr>
          <a:xfrm>
            <a:off x="5810250" y="1773238"/>
            <a:ext cx="2979738" cy="1143000"/>
          </a:xfrm>
          <a:prstGeom prst="flowChartProcess">
            <a:avLst/>
          </a:prstGeom>
          <a:solidFill>
            <a:srgbClr val="CCFF33"/>
          </a:solidFill>
          <a:ln w="9525">
            <a:noFill/>
          </a:ln>
          <a:effectLst>
            <a:outerShdw dist="45791" dir="3378595" algn="ctr" rotWithShape="0">
              <a:srgbClr val="4D4D4D"/>
            </a:outerShdw>
          </a:effectLst>
        </p:spPr>
        <p:txBody>
          <a:bodyPr wrap="none" anchor="ctr" anchorCtr="0"/>
          <a:p>
            <a:pPr algn="ctr" eaLnBrk="1" hangingPunct="1"/>
            <a:r>
              <a:rPr lang="en-US" altLang="zh-CN" sz="2400" b="1" i="1" dirty="0">
                <a:solidFill>
                  <a:schemeClr val="tx2"/>
                </a:solidFill>
                <a:latin typeface="Times New Roman" panose="02020603050405020304" pitchFamily="18" charset="0"/>
                <a:ea typeface="楷体_GB2312" pitchFamily="49" charset="-122"/>
              </a:rPr>
              <a:t>CPU</a:t>
            </a:r>
            <a:r>
              <a:rPr lang="en-US" altLang="zh-CN" sz="2400" b="1" dirty="0">
                <a:solidFill>
                  <a:schemeClr val="tx2"/>
                </a:solidFill>
                <a:latin typeface="Times New Roman" panose="02020603050405020304" pitchFamily="18" charset="0"/>
                <a:ea typeface="楷体_GB2312" pitchFamily="49" charset="-122"/>
              </a:rPr>
              <a:t> </a:t>
            </a:r>
            <a:r>
              <a:rPr lang="zh-CN" altLang="en-US" sz="2400" b="1" dirty="0">
                <a:solidFill>
                  <a:schemeClr val="tx2"/>
                </a:solidFill>
                <a:latin typeface="Times New Roman" panose="02020603050405020304" pitchFamily="18" charset="0"/>
                <a:ea typeface="楷体_GB2312" pitchFamily="49" charset="-122"/>
              </a:rPr>
              <a:t>指令</a:t>
            </a:r>
            <a:r>
              <a:rPr lang="en-US" altLang="zh-CN" sz="2400" b="1" dirty="0">
                <a:solidFill>
                  <a:schemeClr val="tx2"/>
                </a:solidFill>
                <a:latin typeface="Times New Roman" panose="02020603050405020304" pitchFamily="18" charset="0"/>
                <a:ea typeface="楷体_GB2312" pitchFamily="49" charset="-122"/>
              </a:rPr>
              <a:t>/</a:t>
            </a:r>
            <a:r>
              <a:rPr lang="zh-CN" altLang="en-US" sz="2400" b="1" dirty="0">
                <a:solidFill>
                  <a:schemeClr val="tx2"/>
                </a:solidFill>
                <a:latin typeface="Times New Roman" panose="02020603050405020304" pitchFamily="18" charset="0"/>
                <a:ea typeface="楷体_GB2312" pitchFamily="49" charset="-122"/>
              </a:rPr>
              <a:t>数据代码：</a:t>
            </a:r>
            <a:endParaRPr lang="zh-CN" altLang="en-US" sz="2400" b="1" dirty="0">
              <a:solidFill>
                <a:schemeClr val="tx2"/>
              </a:solidFill>
              <a:latin typeface="Times New Roman" panose="02020603050405020304" pitchFamily="18" charset="0"/>
              <a:ea typeface="楷体_GB2312" pitchFamily="49" charset="-122"/>
            </a:endParaRPr>
          </a:p>
          <a:p>
            <a:pPr algn="ctr" eaLnBrk="1" hangingPunct="1"/>
            <a:r>
              <a:rPr lang="en-US" altLang="zh-CN" sz="2400" b="1" dirty="0">
                <a:solidFill>
                  <a:schemeClr val="tx2"/>
                </a:solidFill>
                <a:latin typeface="Times New Roman" panose="02020603050405020304" pitchFamily="18" charset="0"/>
                <a:ea typeface="楷体_GB2312" pitchFamily="49" charset="-122"/>
              </a:rPr>
              <a:t>010010 100010 1100</a:t>
            </a:r>
            <a:endParaRPr lang="en-US" altLang="zh-CN" sz="2400" dirty="0">
              <a:solidFill>
                <a:schemeClr val="tx2"/>
              </a:solidFill>
              <a:latin typeface="Times New Roman" panose="02020603050405020304" pitchFamily="18" charset="0"/>
              <a:ea typeface="楷体_GB2312" pitchFamily="49" charset="-122"/>
            </a:endParaRPr>
          </a:p>
        </p:txBody>
      </p:sp>
      <p:sp>
        <p:nvSpPr>
          <p:cNvPr id="262147" name="AutoShape 3"/>
          <p:cNvSpPr/>
          <p:nvPr/>
        </p:nvSpPr>
        <p:spPr>
          <a:xfrm>
            <a:off x="2786063" y="1917700"/>
            <a:ext cx="2235200" cy="838200"/>
          </a:xfrm>
          <a:prstGeom prst="flowChartAlternateProcess">
            <a:avLst/>
          </a:prstGeom>
          <a:solidFill>
            <a:srgbClr val="FFCCFF"/>
          </a:solidFill>
          <a:ln w="9525">
            <a:noFill/>
          </a:ln>
          <a:effectLst>
            <a:outerShdw dist="45791" dir="3378595" algn="ctr" rotWithShape="0">
              <a:srgbClr val="4D4D4D"/>
            </a:outerShdw>
          </a:effectLst>
        </p:spPr>
        <p:txBody>
          <a:bodyPr wrap="none" anchor="ctr" anchorCtr="0"/>
          <a:p>
            <a:pPr algn="ctr" eaLnBrk="1" hangingPunct="1"/>
            <a:r>
              <a:rPr lang="zh-CN" altLang="en-US" sz="2400" b="1" dirty="0">
                <a:solidFill>
                  <a:schemeClr val="tx2"/>
                </a:solidFill>
                <a:latin typeface="Arial" panose="020B0604020202020204" pitchFamily="34" charset="0"/>
                <a:ea typeface="楷体_GB2312" pitchFamily="49" charset="-122"/>
              </a:rPr>
              <a:t>软件程序编译器</a:t>
            </a:r>
            <a:endParaRPr lang="zh-CN" altLang="en-US" sz="2400" b="1" dirty="0">
              <a:solidFill>
                <a:schemeClr val="tx2"/>
              </a:solidFill>
              <a:latin typeface="Arial" panose="020B0604020202020204" pitchFamily="34" charset="0"/>
              <a:ea typeface="楷体_GB2312" pitchFamily="49" charset="-122"/>
            </a:endParaRPr>
          </a:p>
          <a:p>
            <a:pPr algn="ctr" eaLnBrk="1" hangingPunct="1"/>
            <a:r>
              <a:rPr lang="zh-CN" altLang="en-US" dirty="0">
                <a:solidFill>
                  <a:schemeClr val="tx2"/>
                </a:solidFill>
                <a:latin typeface="Arial" panose="020B0604020202020204" pitchFamily="34" charset="0"/>
              </a:rPr>
              <a:t> </a:t>
            </a:r>
            <a:r>
              <a:rPr lang="en-US" altLang="zh-CN" sz="2400" b="1" i="1" dirty="0">
                <a:solidFill>
                  <a:schemeClr val="tx2"/>
                </a:solidFill>
                <a:latin typeface="Times New Roman" panose="02020603050405020304" pitchFamily="18" charset="0"/>
              </a:rPr>
              <a:t>COMPILER</a:t>
            </a:r>
            <a:endParaRPr lang="en-US" altLang="zh-CN" sz="2400" b="1" i="1" dirty="0">
              <a:solidFill>
                <a:schemeClr val="tx2"/>
              </a:solidFill>
              <a:latin typeface="Times New Roman" panose="02020603050405020304" pitchFamily="18" charset="0"/>
            </a:endParaRPr>
          </a:p>
        </p:txBody>
      </p:sp>
      <p:sp>
        <p:nvSpPr>
          <p:cNvPr id="262148" name="AutoShape 4"/>
          <p:cNvSpPr/>
          <p:nvPr/>
        </p:nvSpPr>
        <p:spPr>
          <a:xfrm>
            <a:off x="395288" y="1922463"/>
            <a:ext cx="1489075" cy="914400"/>
          </a:xfrm>
          <a:prstGeom prst="flowChartAlternateProcess">
            <a:avLst/>
          </a:prstGeom>
          <a:solidFill>
            <a:srgbClr val="FFFFFF"/>
          </a:solidFill>
          <a:ln w="9525">
            <a:noFill/>
          </a:ln>
          <a:effectLst>
            <a:outerShdw dist="45791" dir="3378595" algn="ctr" rotWithShape="0">
              <a:srgbClr val="4D4D4D"/>
            </a:outerShdw>
          </a:effectLst>
        </p:spPr>
        <p:txBody>
          <a:bodyPr wrap="none" anchor="ctr" anchorCtr="0"/>
          <a:p>
            <a:pPr algn="ctr" eaLnBrk="1" hangingPunct="1"/>
            <a:r>
              <a:rPr lang="en-US" altLang="zh-CN" sz="2400" b="1" i="1" dirty="0">
                <a:solidFill>
                  <a:schemeClr val="tx2"/>
                </a:solidFill>
                <a:latin typeface="Times New Roman" panose="02020603050405020304" pitchFamily="18" charset="0"/>
                <a:ea typeface="楷体_GB2312" pitchFamily="49" charset="-122"/>
              </a:rPr>
              <a:t>C</a:t>
            </a:r>
            <a:r>
              <a:rPr lang="zh-CN" altLang="en-US" sz="2400" b="1" i="1" dirty="0">
                <a:solidFill>
                  <a:schemeClr val="tx2"/>
                </a:solidFill>
                <a:latin typeface="Times New Roman" panose="02020603050405020304" pitchFamily="18" charset="0"/>
                <a:ea typeface="楷体_GB2312" pitchFamily="49" charset="-122"/>
              </a:rPr>
              <a:t>、</a:t>
            </a:r>
            <a:r>
              <a:rPr lang="en-US" altLang="zh-CN" sz="2400" b="1" i="1" dirty="0">
                <a:solidFill>
                  <a:schemeClr val="tx2"/>
                </a:solidFill>
                <a:latin typeface="Times New Roman" panose="02020603050405020304" pitchFamily="18" charset="0"/>
                <a:ea typeface="楷体_GB2312" pitchFamily="49" charset="-122"/>
              </a:rPr>
              <a:t>ASM </a:t>
            </a:r>
            <a:r>
              <a:rPr lang="en-US" altLang="zh-CN" sz="2400" b="1" dirty="0">
                <a:solidFill>
                  <a:schemeClr val="tx2"/>
                </a:solidFill>
                <a:latin typeface="Times New Roman" panose="02020603050405020304" pitchFamily="18" charset="0"/>
                <a:ea typeface="楷体_GB2312" pitchFamily="49" charset="-122"/>
              </a:rPr>
              <a:t>...</a:t>
            </a:r>
            <a:endParaRPr lang="en-US" altLang="zh-CN" sz="2400" b="1" dirty="0">
              <a:solidFill>
                <a:schemeClr val="tx2"/>
              </a:solidFill>
              <a:latin typeface="Times New Roman" panose="02020603050405020304" pitchFamily="18" charset="0"/>
              <a:ea typeface="楷体_GB2312" pitchFamily="49" charset="-122"/>
            </a:endParaRPr>
          </a:p>
          <a:p>
            <a:pPr algn="ctr" eaLnBrk="1" hangingPunct="1"/>
            <a:r>
              <a:rPr lang="zh-CN" altLang="en-US" sz="2400" b="1" dirty="0">
                <a:solidFill>
                  <a:schemeClr val="tx2"/>
                </a:solidFill>
                <a:latin typeface="Times New Roman" panose="02020603050405020304" pitchFamily="18" charset="0"/>
                <a:ea typeface="楷体_GB2312" pitchFamily="49" charset="-122"/>
              </a:rPr>
              <a:t>程序</a:t>
            </a:r>
            <a:endParaRPr lang="zh-CN" altLang="en-US" sz="2400" b="1" dirty="0">
              <a:solidFill>
                <a:schemeClr val="tx2"/>
              </a:solidFill>
              <a:latin typeface="Times New Roman" panose="02020603050405020304" pitchFamily="18" charset="0"/>
              <a:ea typeface="楷体_GB2312" pitchFamily="49" charset="-122"/>
            </a:endParaRPr>
          </a:p>
        </p:txBody>
      </p:sp>
      <p:sp>
        <p:nvSpPr>
          <p:cNvPr id="262149" name="Line 5"/>
          <p:cNvSpPr/>
          <p:nvPr/>
        </p:nvSpPr>
        <p:spPr>
          <a:xfrm flipV="1">
            <a:off x="5018088" y="2349500"/>
            <a:ext cx="792162" cy="0"/>
          </a:xfrm>
          <a:prstGeom prst="line">
            <a:avLst/>
          </a:prstGeom>
          <a:ln w="44450" cap="flat" cmpd="sng">
            <a:solidFill>
              <a:srgbClr val="FF0000"/>
            </a:solidFill>
            <a:prstDash val="solid"/>
            <a:headEnd type="none" w="med" len="med"/>
            <a:tailEnd type="triangle" w="med" len="med"/>
          </a:ln>
        </p:spPr>
      </p:sp>
      <p:sp>
        <p:nvSpPr>
          <p:cNvPr id="262150" name="Line 6"/>
          <p:cNvSpPr/>
          <p:nvPr/>
        </p:nvSpPr>
        <p:spPr>
          <a:xfrm flipH="1">
            <a:off x="1885950" y="2357438"/>
            <a:ext cx="900113" cy="0"/>
          </a:xfrm>
          <a:prstGeom prst="line">
            <a:avLst/>
          </a:prstGeom>
          <a:ln w="44450" cap="flat" cmpd="sng">
            <a:solidFill>
              <a:srgbClr val="FF0000"/>
            </a:solidFill>
            <a:prstDash val="solid"/>
            <a:headEnd type="triangle" w="med" len="med"/>
            <a:tailEnd type="none" w="med" len="med"/>
          </a:ln>
        </p:spPr>
      </p:sp>
      <p:sp>
        <p:nvSpPr>
          <p:cNvPr id="262151" name="Text Box 7"/>
          <p:cNvSpPr txBox="1">
            <a:spLocks noChangeArrowheads="1"/>
          </p:cNvSpPr>
          <p:nvPr/>
        </p:nvSpPr>
        <p:spPr bwMode="auto">
          <a:xfrm>
            <a:off x="395288" y="531813"/>
            <a:ext cx="7345363" cy="641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marR="0" defTabSz="914400" eaLnBrk="1" hangingPunct="1">
              <a:buClrTx/>
              <a:buSzTx/>
              <a:buFontTx/>
              <a:buNone/>
              <a:defRPr/>
            </a:pPr>
            <a:r>
              <a:rPr kumimoji="0" lang="zh-CN" altLang="en-US" sz="3600" b="1" kern="1200" cap="none" spc="0" normalizeH="0" baseline="0" noProof="0" dirty="0">
                <a:solidFill>
                  <a:schemeClr val="hlink"/>
                </a:solidFill>
                <a:latin typeface="+mn-ea"/>
                <a:ea typeface="+mn-ea"/>
                <a:cs typeface="+mn-cs"/>
              </a:rPr>
              <a:t>软件编译器和硬件综合器功能比较</a:t>
            </a:r>
            <a:endParaRPr kumimoji="0" lang="zh-CN" altLang="en-US" sz="3600" b="1" kern="1200" cap="none" spc="0" normalizeH="0" baseline="0" noProof="0" dirty="0">
              <a:solidFill>
                <a:schemeClr val="hlink"/>
              </a:solidFill>
              <a:latin typeface="+mn-ea"/>
              <a:ea typeface="+mn-ea"/>
              <a:cs typeface="+mn-cs"/>
            </a:endParaRPr>
          </a:p>
        </p:txBody>
      </p:sp>
      <p:sp>
        <p:nvSpPr>
          <p:cNvPr id="262152" name="AutoShape 8"/>
          <p:cNvSpPr/>
          <p:nvPr/>
        </p:nvSpPr>
        <p:spPr>
          <a:xfrm>
            <a:off x="5867400" y="3505200"/>
            <a:ext cx="2979738" cy="2743200"/>
          </a:xfrm>
          <a:prstGeom prst="flowChartProcess">
            <a:avLst/>
          </a:prstGeom>
          <a:solidFill>
            <a:srgbClr val="CCFF33"/>
          </a:solidFill>
          <a:ln w="9525">
            <a:noFill/>
          </a:ln>
          <a:effectLst>
            <a:outerShdw dist="45791" dir="3378595" algn="ctr" rotWithShape="0">
              <a:srgbClr val="4D4D4D"/>
            </a:outerShdw>
          </a:effectLst>
        </p:spPr>
        <p:txBody>
          <a:bodyPr wrap="none" anchor="ctr" anchorCtr="0"/>
          <a:p>
            <a:pPr eaLnBrk="1" hangingPunct="1"/>
            <a:endParaRPr lang="zh-CN" altLang="en-US" dirty="0">
              <a:latin typeface="Arial" panose="020B0604020202020204" pitchFamily="34" charset="0"/>
            </a:endParaRPr>
          </a:p>
        </p:txBody>
      </p:sp>
      <p:sp>
        <p:nvSpPr>
          <p:cNvPr id="262153" name="AutoShape 9"/>
          <p:cNvSpPr/>
          <p:nvPr/>
        </p:nvSpPr>
        <p:spPr>
          <a:xfrm>
            <a:off x="2743200" y="4191000"/>
            <a:ext cx="2235200" cy="1219200"/>
          </a:xfrm>
          <a:prstGeom prst="flowChartAlternateProcess">
            <a:avLst/>
          </a:prstGeom>
          <a:solidFill>
            <a:srgbClr val="FFCCFF"/>
          </a:solidFill>
          <a:ln w="9525">
            <a:noFill/>
          </a:ln>
          <a:effectLst>
            <a:outerShdw dist="45791" dir="3378595" algn="ctr" rotWithShape="0">
              <a:srgbClr val="4D4D4D"/>
            </a:outerShdw>
          </a:effectLst>
        </p:spPr>
        <p:txBody>
          <a:bodyPr wrap="none" anchor="ctr" anchorCtr="0"/>
          <a:p>
            <a:pPr algn="ctr" eaLnBrk="1" hangingPunct="1"/>
            <a:r>
              <a:rPr lang="zh-CN" altLang="en-US" sz="2400" b="1" dirty="0">
                <a:solidFill>
                  <a:schemeClr val="tx2"/>
                </a:solidFill>
                <a:latin typeface="Times New Roman" panose="02020603050405020304" pitchFamily="18" charset="0"/>
                <a:ea typeface="楷体_GB2312" pitchFamily="49" charset="-122"/>
              </a:rPr>
              <a:t>硬件描述语言</a:t>
            </a:r>
            <a:endParaRPr lang="zh-CN" altLang="en-US" sz="2400" b="1" dirty="0">
              <a:solidFill>
                <a:schemeClr val="tx2"/>
              </a:solidFill>
              <a:latin typeface="Times New Roman" panose="02020603050405020304" pitchFamily="18" charset="0"/>
              <a:ea typeface="楷体_GB2312" pitchFamily="49" charset="-122"/>
            </a:endParaRPr>
          </a:p>
          <a:p>
            <a:pPr algn="ctr" eaLnBrk="1" hangingPunct="1"/>
            <a:r>
              <a:rPr lang="zh-CN" altLang="en-US" sz="2400" b="1" dirty="0">
                <a:solidFill>
                  <a:schemeClr val="tx2"/>
                </a:solidFill>
                <a:latin typeface="Times New Roman" panose="02020603050405020304" pitchFamily="18" charset="0"/>
                <a:ea typeface="楷体_GB2312" pitchFamily="49" charset="-122"/>
              </a:rPr>
              <a:t>   综合器</a:t>
            </a:r>
            <a:endParaRPr lang="zh-CN" altLang="en-US" sz="2400" b="1" dirty="0">
              <a:solidFill>
                <a:schemeClr val="tx2"/>
              </a:solidFill>
              <a:latin typeface="Times New Roman" panose="02020603050405020304" pitchFamily="18" charset="0"/>
              <a:ea typeface="楷体_GB2312" pitchFamily="49" charset="-122"/>
            </a:endParaRPr>
          </a:p>
          <a:p>
            <a:pPr algn="ctr" eaLnBrk="1" hangingPunct="1"/>
            <a:r>
              <a:rPr lang="zh-CN" altLang="en-US" sz="2400" b="1" i="1" dirty="0">
                <a:latin typeface="Times New Roman" panose="02020603050405020304" pitchFamily="18" charset="0"/>
                <a:ea typeface="楷体_GB2312" pitchFamily="49" charset="-122"/>
              </a:rPr>
              <a:t> </a:t>
            </a:r>
            <a:r>
              <a:rPr lang="en-US" altLang="zh-CN" sz="2400" b="1" i="1" dirty="0">
                <a:solidFill>
                  <a:schemeClr val="tx2"/>
                </a:solidFill>
                <a:latin typeface="Times New Roman" panose="02020603050405020304" pitchFamily="18" charset="0"/>
                <a:ea typeface="楷体_GB2312" pitchFamily="49" charset="-122"/>
              </a:rPr>
              <a:t>SYNTHESIZER</a:t>
            </a:r>
            <a:endParaRPr lang="en-US" altLang="zh-CN" sz="2400" b="1" i="1" dirty="0">
              <a:solidFill>
                <a:schemeClr val="tx2"/>
              </a:solidFill>
              <a:latin typeface="Times New Roman" panose="02020603050405020304" pitchFamily="18" charset="0"/>
              <a:ea typeface="楷体_GB2312" pitchFamily="49" charset="-122"/>
            </a:endParaRPr>
          </a:p>
        </p:txBody>
      </p:sp>
      <p:sp>
        <p:nvSpPr>
          <p:cNvPr id="262154" name="AutoShape 10"/>
          <p:cNvSpPr/>
          <p:nvPr/>
        </p:nvSpPr>
        <p:spPr>
          <a:xfrm>
            <a:off x="228600" y="4419600"/>
            <a:ext cx="1963738" cy="838200"/>
          </a:xfrm>
          <a:prstGeom prst="flowChartAlternateProcess">
            <a:avLst/>
          </a:prstGeom>
          <a:solidFill>
            <a:srgbClr val="FFFFFF"/>
          </a:solidFill>
          <a:ln w="9525">
            <a:noFill/>
          </a:ln>
          <a:effectLst>
            <a:outerShdw dist="45791" dir="3378595" algn="ctr" rotWithShape="0">
              <a:srgbClr val="4D4D4D"/>
            </a:outerShdw>
          </a:effectLst>
        </p:spPr>
        <p:txBody>
          <a:bodyPr wrap="none" anchor="ctr" anchorCtr="0"/>
          <a:p>
            <a:pPr algn="ctr" eaLnBrk="1" hangingPunct="1"/>
            <a:r>
              <a:rPr lang="en-US" altLang="zh-CN" sz="2400" b="1" i="1" dirty="0">
                <a:solidFill>
                  <a:schemeClr val="tx2"/>
                </a:solidFill>
                <a:latin typeface="Times New Roman" panose="02020603050405020304" pitchFamily="18" charset="0"/>
                <a:ea typeface="楷体_GB2312" pitchFamily="49" charset="-122"/>
              </a:rPr>
              <a:t>VERILOG</a:t>
            </a:r>
            <a:r>
              <a:rPr lang="en-US" altLang="zh-CN" sz="2400" b="1" dirty="0">
                <a:solidFill>
                  <a:schemeClr val="tx2"/>
                </a:solidFill>
                <a:latin typeface="Times New Roman" panose="02020603050405020304" pitchFamily="18" charset="0"/>
                <a:ea typeface="楷体_GB2312" pitchFamily="49" charset="-122"/>
              </a:rPr>
              <a:t> ...</a:t>
            </a:r>
            <a:endParaRPr lang="en-US" altLang="zh-CN" sz="2400" b="1" dirty="0">
              <a:solidFill>
                <a:schemeClr val="tx2"/>
              </a:solidFill>
              <a:latin typeface="Times New Roman" panose="02020603050405020304" pitchFamily="18" charset="0"/>
              <a:ea typeface="楷体_GB2312" pitchFamily="49" charset="-122"/>
            </a:endParaRPr>
          </a:p>
          <a:p>
            <a:pPr algn="ctr" eaLnBrk="1" hangingPunct="1"/>
            <a:r>
              <a:rPr lang="zh-CN" altLang="en-US" sz="2400" b="1" dirty="0">
                <a:solidFill>
                  <a:schemeClr val="tx2"/>
                </a:solidFill>
                <a:latin typeface="Times New Roman" panose="02020603050405020304" pitchFamily="18" charset="0"/>
                <a:ea typeface="楷体_GB2312" pitchFamily="49" charset="-122"/>
              </a:rPr>
              <a:t>程序</a:t>
            </a:r>
            <a:endParaRPr lang="zh-CN" altLang="en-US" sz="2400" b="1" dirty="0">
              <a:solidFill>
                <a:schemeClr val="tx2"/>
              </a:solidFill>
              <a:latin typeface="Times New Roman" panose="02020603050405020304" pitchFamily="18" charset="0"/>
              <a:ea typeface="楷体_GB2312" pitchFamily="49" charset="-122"/>
            </a:endParaRPr>
          </a:p>
        </p:txBody>
      </p:sp>
      <p:sp>
        <p:nvSpPr>
          <p:cNvPr id="262155" name="Line 11"/>
          <p:cNvSpPr/>
          <p:nvPr/>
        </p:nvSpPr>
        <p:spPr>
          <a:xfrm>
            <a:off x="5003800" y="4797425"/>
            <a:ext cx="863600" cy="0"/>
          </a:xfrm>
          <a:prstGeom prst="line">
            <a:avLst/>
          </a:prstGeom>
          <a:ln w="44450" cap="flat" cmpd="sng">
            <a:solidFill>
              <a:srgbClr val="FF0000"/>
            </a:solidFill>
            <a:prstDash val="solid"/>
            <a:headEnd type="none" w="med" len="med"/>
            <a:tailEnd type="triangle" w="med" len="med"/>
          </a:ln>
        </p:spPr>
      </p:sp>
      <p:sp>
        <p:nvSpPr>
          <p:cNvPr id="262156" name="Line 12"/>
          <p:cNvSpPr/>
          <p:nvPr/>
        </p:nvSpPr>
        <p:spPr>
          <a:xfrm flipH="1">
            <a:off x="2195513" y="4797425"/>
            <a:ext cx="541337" cy="0"/>
          </a:xfrm>
          <a:prstGeom prst="line">
            <a:avLst/>
          </a:prstGeom>
          <a:ln w="44450" cap="flat" cmpd="sng">
            <a:solidFill>
              <a:srgbClr val="FF0000"/>
            </a:solidFill>
            <a:prstDash val="solid"/>
            <a:headEnd type="triangle" w="med" len="med"/>
            <a:tailEnd type="none" w="med" len="med"/>
          </a:ln>
        </p:spPr>
      </p:sp>
      <p:pic>
        <p:nvPicPr>
          <p:cNvPr id="262157" name="Picture 13"/>
          <p:cNvPicPr>
            <a:picLocks noChangeAspect="1"/>
          </p:cNvPicPr>
          <p:nvPr/>
        </p:nvPicPr>
        <p:blipFill>
          <a:blip r:embed="rId1"/>
          <a:stretch>
            <a:fillRect/>
          </a:stretch>
        </p:blipFill>
        <p:spPr>
          <a:xfrm>
            <a:off x="6324600" y="3657600"/>
            <a:ext cx="2074863" cy="1495425"/>
          </a:xfrm>
          <a:prstGeom prst="rect">
            <a:avLst/>
          </a:prstGeom>
          <a:noFill/>
          <a:ln w="9525">
            <a:noFill/>
          </a:ln>
        </p:spPr>
      </p:pic>
      <p:sp>
        <p:nvSpPr>
          <p:cNvPr id="262158" name="Text Box 14"/>
          <p:cNvSpPr txBox="1"/>
          <p:nvPr/>
        </p:nvSpPr>
        <p:spPr>
          <a:xfrm>
            <a:off x="6172200" y="5202238"/>
            <a:ext cx="2563813" cy="822325"/>
          </a:xfrm>
          <a:prstGeom prst="rect">
            <a:avLst/>
          </a:prstGeom>
          <a:noFill/>
          <a:ln w="9525">
            <a:noFill/>
          </a:ln>
        </p:spPr>
        <p:txBody>
          <a:bodyPr wrap="none">
            <a:spAutoFit/>
          </a:bodyPr>
          <a:p>
            <a:pPr eaLnBrk="1" hangingPunct="1"/>
            <a:r>
              <a:rPr lang="zh-CN" altLang="en-US" sz="2400" b="1" dirty="0">
                <a:solidFill>
                  <a:schemeClr val="tx2"/>
                </a:solidFill>
                <a:latin typeface="Times New Roman" panose="02020603050405020304" pitchFamily="18" charset="0"/>
                <a:ea typeface="楷体_GB2312" pitchFamily="49" charset="-122"/>
              </a:rPr>
              <a:t>为 </a:t>
            </a:r>
            <a:r>
              <a:rPr lang="en-US" altLang="zh-CN" sz="2400" b="1" i="1" dirty="0">
                <a:solidFill>
                  <a:schemeClr val="tx2"/>
                </a:solidFill>
                <a:latin typeface="Times New Roman" panose="02020603050405020304" pitchFamily="18" charset="0"/>
                <a:ea typeface="楷体_GB2312" pitchFamily="49" charset="-122"/>
              </a:rPr>
              <a:t>ASIC </a:t>
            </a:r>
            <a:r>
              <a:rPr lang="zh-CN" altLang="en-US" sz="2400" b="1" dirty="0">
                <a:solidFill>
                  <a:schemeClr val="tx2"/>
                </a:solidFill>
                <a:latin typeface="Times New Roman" panose="02020603050405020304" pitchFamily="18" charset="0"/>
                <a:ea typeface="楷体_GB2312" pitchFamily="49" charset="-122"/>
              </a:rPr>
              <a:t>设计提供</a:t>
            </a:r>
            <a:endParaRPr lang="zh-CN" altLang="en-US" sz="2400" b="1" dirty="0">
              <a:solidFill>
                <a:schemeClr val="tx2"/>
              </a:solidFill>
              <a:latin typeface="Times New Roman" panose="02020603050405020304" pitchFamily="18" charset="0"/>
              <a:ea typeface="楷体_GB2312" pitchFamily="49" charset="-122"/>
            </a:endParaRPr>
          </a:p>
          <a:p>
            <a:pPr eaLnBrk="1" hangingPunct="1"/>
            <a:r>
              <a:rPr lang="zh-CN" altLang="en-US" sz="2400" b="1" dirty="0">
                <a:solidFill>
                  <a:schemeClr val="tx2"/>
                </a:solidFill>
                <a:latin typeface="Times New Roman" panose="02020603050405020304" pitchFamily="18" charset="0"/>
                <a:ea typeface="楷体_GB2312" pitchFamily="49" charset="-122"/>
              </a:rPr>
              <a:t>的电路网表文件</a:t>
            </a:r>
            <a:endParaRPr lang="zh-CN" altLang="en-US" sz="2400" b="1" dirty="0">
              <a:solidFill>
                <a:schemeClr val="tx2"/>
              </a:solidFill>
              <a:latin typeface="Times New Roman" panose="02020603050405020304" pitchFamily="18" charset="0"/>
              <a:ea typeface="楷体_GB2312" pitchFamily="49" charset="-122"/>
            </a:endParaRPr>
          </a:p>
        </p:txBody>
      </p:sp>
      <p:sp>
        <p:nvSpPr>
          <p:cNvPr id="262159" name="Text Box 15"/>
          <p:cNvSpPr txBox="1"/>
          <p:nvPr/>
        </p:nvSpPr>
        <p:spPr>
          <a:xfrm>
            <a:off x="1843088" y="3217863"/>
            <a:ext cx="3657600" cy="396875"/>
          </a:xfrm>
          <a:prstGeom prst="rect">
            <a:avLst/>
          </a:prstGeom>
          <a:noFill/>
          <a:ln w="9525">
            <a:noFill/>
          </a:ln>
        </p:spPr>
        <p:txBody>
          <a:bodyPr>
            <a:spAutoFit/>
          </a:bodyPr>
          <a:p>
            <a:pPr eaLnBrk="1" hangingPunct="1">
              <a:spcBef>
                <a:spcPct val="50000"/>
              </a:spcBef>
            </a:pPr>
            <a:r>
              <a:rPr lang="zh-CN" altLang="en-US"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rPr>
              <a:t>a</a:t>
            </a:r>
            <a:r>
              <a:rPr lang="zh-CN" altLang="en-US" sz="2000" b="1" dirty="0">
                <a:solidFill>
                  <a:srgbClr val="000000"/>
                </a:solidFill>
                <a:latin typeface="Times New Roman" panose="02020603050405020304" pitchFamily="18" charset="0"/>
                <a:ea typeface="楷体_GB2312" pitchFamily="49" charset="-122"/>
              </a:rPr>
              <a:t>）软件语言设计目标流程</a:t>
            </a:r>
            <a:endParaRPr lang="zh-CN" altLang="en-US" sz="2000" b="1" dirty="0">
              <a:solidFill>
                <a:srgbClr val="000000"/>
              </a:solidFill>
              <a:latin typeface="Times New Roman" panose="02020603050405020304" pitchFamily="18" charset="0"/>
              <a:ea typeface="楷体_GB2312" pitchFamily="49" charset="-122"/>
            </a:endParaRPr>
          </a:p>
        </p:txBody>
      </p:sp>
      <p:sp>
        <p:nvSpPr>
          <p:cNvPr id="262160" name="Text Box 16"/>
          <p:cNvSpPr txBox="1"/>
          <p:nvPr/>
        </p:nvSpPr>
        <p:spPr>
          <a:xfrm>
            <a:off x="1752600" y="5638800"/>
            <a:ext cx="3657600" cy="396875"/>
          </a:xfrm>
          <a:prstGeom prst="rect">
            <a:avLst/>
          </a:prstGeom>
          <a:noFill/>
          <a:ln w="9525">
            <a:noFill/>
          </a:ln>
        </p:spPr>
        <p:txBody>
          <a:bodyPr>
            <a:spAutoFit/>
          </a:bodyPr>
          <a:p>
            <a:pPr eaLnBrk="1" hangingPunct="1">
              <a:spcBef>
                <a:spcPct val="50000"/>
              </a:spcBef>
            </a:pPr>
            <a:r>
              <a:rPr lang="zh-CN" altLang="en-US" sz="2000" b="1" dirty="0">
                <a:solidFill>
                  <a:srgbClr val="000000"/>
                </a:solidFill>
                <a:latin typeface="Times New Roman" panose="02020603050405020304" pitchFamily="18" charset="0"/>
                <a:ea typeface="楷体_GB2312" pitchFamily="49" charset="-122"/>
              </a:rPr>
              <a:t>（</a:t>
            </a:r>
            <a:r>
              <a:rPr lang="en-US" altLang="zh-CN" sz="2000" b="1" dirty="0">
                <a:solidFill>
                  <a:srgbClr val="000000"/>
                </a:solidFill>
                <a:latin typeface="Times New Roman" panose="02020603050405020304" pitchFamily="18" charset="0"/>
                <a:ea typeface="楷体_GB2312" pitchFamily="49" charset="-122"/>
              </a:rPr>
              <a:t>b</a:t>
            </a:r>
            <a:r>
              <a:rPr lang="zh-CN" altLang="en-US" sz="2000" b="1" dirty="0">
                <a:solidFill>
                  <a:srgbClr val="000000"/>
                </a:solidFill>
                <a:latin typeface="Times New Roman" panose="02020603050405020304" pitchFamily="18" charset="0"/>
                <a:ea typeface="楷体_GB2312" pitchFamily="49" charset="-122"/>
              </a:rPr>
              <a:t>）硬件语言设计目标流程</a:t>
            </a:r>
            <a:endParaRPr lang="zh-CN" altLang="en-US" sz="2000" b="1" dirty="0">
              <a:solidFill>
                <a:srgbClr val="000000"/>
              </a:solidFill>
              <a:latin typeface="Times New Roman" panose="02020603050405020304" pitchFamily="18" charset="0"/>
              <a:ea typeface="楷体_GB2312" pitchFamily="49" charset="-122"/>
            </a:endParaRPr>
          </a:p>
        </p:txBody>
      </p:sp>
      <p:sp>
        <p:nvSpPr>
          <p:cNvPr id="78865" name="Line 17"/>
          <p:cNvSpPr/>
          <p:nvPr/>
        </p:nvSpPr>
        <p:spPr>
          <a:xfrm flipV="1">
            <a:off x="574675"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262146"/>
                                        </p:tgtEl>
                                        <p:attrNameLst>
                                          <p:attrName>style.visibility</p:attrName>
                                        </p:attrNameLst>
                                      </p:cBhvr>
                                      <p:to>
                                        <p:strVal val="visible"/>
                                      </p:to>
                                    </p:set>
                                    <p:anim calcmode="lin" valueType="num">
                                      <p:cBhvr additive="base">
                                        <p:cTn id="7" dur="500" fill="hold"/>
                                        <p:tgtEl>
                                          <p:spTgt spid="262146"/>
                                        </p:tgtEl>
                                        <p:attrNameLst>
                                          <p:attrName>ppt_x</p:attrName>
                                        </p:attrNameLst>
                                      </p:cBhvr>
                                      <p:tavLst>
                                        <p:tav tm="0">
                                          <p:val>
                                            <p:strVal val="#ppt_x"/>
                                          </p:val>
                                        </p:tav>
                                        <p:tav tm="100000">
                                          <p:val>
                                            <p:strVal val="#ppt_x"/>
                                          </p:val>
                                        </p:tav>
                                      </p:tavLst>
                                    </p:anim>
                                    <p:anim calcmode="lin" valueType="num">
                                      <p:cBhvr additive="base">
                                        <p:cTn id="8" dur="500" fill="hold"/>
                                        <p:tgtEl>
                                          <p:spTgt spid="262146"/>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262147"/>
                                        </p:tgtEl>
                                        <p:attrNameLst>
                                          <p:attrName>style.visibility</p:attrName>
                                        </p:attrNameLst>
                                      </p:cBhvr>
                                      <p:to>
                                        <p:strVal val="visible"/>
                                      </p:to>
                                    </p:set>
                                    <p:anim calcmode="lin" valueType="num">
                                      <p:cBhvr additive="base">
                                        <p:cTn id="11" dur="500" fill="hold"/>
                                        <p:tgtEl>
                                          <p:spTgt spid="262147"/>
                                        </p:tgtEl>
                                        <p:attrNameLst>
                                          <p:attrName>ppt_x</p:attrName>
                                        </p:attrNameLst>
                                      </p:cBhvr>
                                      <p:tavLst>
                                        <p:tav tm="0">
                                          <p:val>
                                            <p:strVal val="#ppt_x"/>
                                          </p:val>
                                        </p:tav>
                                        <p:tav tm="100000">
                                          <p:val>
                                            <p:strVal val="#ppt_x"/>
                                          </p:val>
                                        </p:tav>
                                      </p:tavLst>
                                    </p:anim>
                                    <p:anim calcmode="lin" valueType="num">
                                      <p:cBhvr additive="base">
                                        <p:cTn id="12" dur="500" fill="hold"/>
                                        <p:tgtEl>
                                          <p:spTgt spid="262147"/>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p:stCondLst>
                                    <p:cond delay="0"/>
                                  </p:stCondLst>
                                  <p:childTnLst>
                                    <p:set>
                                      <p:cBhvr>
                                        <p:cTn id="14" dur="1" fill="hold">
                                          <p:stCondLst>
                                            <p:cond delay="0"/>
                                          </p:stCondLst>
                                        </p:cTn>
                                        <p:tgtEl>
                                          <p:spTgt spid="262148"/>
                                        </p:tgtEl>
                                        <p:attrNameLst>
                                          <p:attrName>style.visibility</p:attrName>
                                        </p:attrNameLst>
                                      </p:cBhvr>
                                      <p:to>
                                        <p:strVal val="visible"/>
                                      </p:to>
                                    </p:set>
                                    <p:anim calcmode="lin" valueType="num">
                                      <p:cBhvr additive="base">
                                        <p:cTn id="15" dur="500" fill="hold"/>
                                        <p:tgtEl>
                                          <p:spTgt spid="262148"/>
                                        </p:tgtEl>
                                        <p:attrNameLst>
                                          <p:attrName>ppt_x</p:attrName>
                                        </p:attrNameLst>
                                      </p:cBhvr>
                                      <p:tavLst>
                                        <p:tav tm="0">
                                          <p:val>
                                            <p:strVal val="#ppt_x"/>
                                          </p:val>
                                        </p:tav>
                                        <p:tav tm="100000">
                                          <p:val>
                                            <p:strVal val="#ppt_x"/>
                                          </p:val>
                                        </p:tav>
                                      </p:tavLst>
                                    </p:anim>
                                    <p:anim calcmode="lin" valueType="num">
                                      <p:cBhvr additive="base">
                                        <p:cTn id="16" dur="500" fill="hold"/>
                                        <p:tgtEl>
                                          <p:spTgt spid="262148"/>
                                        </p:tgtEl>
                                        <p:attrNameLst>
                                          <p:attrName>ppt_y</p:attrName>
                                        </p:attrNameLst>
                                      </p:cBhvr>
                                      <p:tavLst>
                                        <p:tav tm="0">
                                          <p:val>
                                            <p:strVal val="0-#ppt_h/2"/>
                                          </p:val>
                                        </p:tav>
                                        <p:tav tm="100000">
                                          <p:val>
                                            <p:strVal val="#ppt_y"/>
                                          </p:val>
                                        </p:tav>
                                      </p:tavLst>
                                    </p:anim>
                                  </p:childTnLst>
                                </p:cTn>
                              </p:par>
                              <p:par>
                                <p:cTn id="17" presetID="2" presetClass="entr" presetSubtype="1" fill="hold" nodeType="withEffect">
                                  <p:stCondLst>
                                    <p:cond delay="0"/>
                                  </p:stCondLst>
                                  <p:childTnLst>
                                    <p:set>
                                      <p:cBhvr>
                                        <p:cTn id="18" dur="1" fill="hold">
                                          <p:stCondLst>
                                            <p:cond delay="0"/>
                                          </p:stCondLst>
                                        </p:cTn>
                                        <p:tgtEl>
                                          <p:spTgt spid="262149"/>
                                        </p:tgtEl>
                                        <p:attrNameLst>
                                          <p:attrName>style.visibility</p:attrName>
                                        </p:attrNameLst>
                                      </p:cBhvr>
                                      <p:to>
                                        <p:strVal val="visible"/>
                                      </p:to>
                                    </p:set>
                                    <p:anim calcmode="lin" valueType="num">
                                      <p:cBhvr additive="base">
                                        <p:cTn id="19" dur="500" fill="hold"/>
                                        <p:tgtEl>
                                          <p:spTgt spid="262149"/>
                                        </p:tgtEl>
                                        <p:attrNameLst>
                                          <p:attrName>ppt_x</p:attrName>
                                        </p:attrNameLst>
                                      </p:cBhvr>
                                      <p:tavLst>
                                        <p:tav tm="0">
                                          <p:val>
                                            <p:strVal val="#ppt_x"/>
                                          </p:val>
                                        </p:tav>
                                        <p:tav tm="100000">
                                          <p:val>
                                            <p:strVal val="#ppt_x"/>
                                          </p:val>
                                        </p:tav>
                                      </p:tavLst>
                                    </p:anim>
                                    <p:anim calcmode="lin" valueType="num">
                                      <p:cBhvr additive="base">
                                        <p:cTn id="20" dur="500" fill="hold"/>
                                        <p:tgtEl>
                                          <p:spTgt spid="262149"/>
                                        </p:tgtEl>
                                        <p:attrNameLst>
                                          <p:attrName>ppt_y</p:attrName>
                                        </p:attrNameLst>
                                      </p:cBhvr>
                                      <p:tavLst>
                                        <p:tav tm="0">
                                          <p:val>
                                            <p:strVal val="0-#ppt_h/2"/>
                                          </p:val>
                                        </p:tav>
                                        <p:tav tm="100000">
                                          <p:val>
                                            <p:strVal val="#ppt_y"/>
                                          </p:val>
                                        </p:tav>
                                      </p:tavLst>
                                    </p:anim>
                                  </p:childTnLst>
                                </p:cTn>
                              </p:par>
                              <p:par>
                                <p:cTn id="21" presetID="2" presetClass="entr" presetSubtype="1" fill="hold" nodeType="withEffect">
                                  <p:stCondLst>
                                    <p:cond delay="0"/>
                                  </p:stCondLst>
                                  <p:childTnLst>
                                    <p:set>
                                      <p:cBhvr>
                                        <p:cTn id="22" dur="1" fill="hold">
                                          <p:stCondLst>
                                            <p:cond delay="0"/>
                                          </p:stCondLst>
                                        </p:cTn>
                                        <p:tgtEl>
                                          <p:spTgt spid="262150"/>
                                        </p:tgtEl>
                                        <p:attrNameLst>
                                          <p:attrName>style.visibility</p:attrName>
                                        </p:attrNameLst>
                                      </p:cBhvr>
                                      <p:to>
                                        <p:strVal val="visible"/>
                                      </p:to>
                                    </p:set>
                                    <p:anim calcmode="lin" valueType="num">
                                      <p:cBhvr additive="base">
                                        <p:cTn id="23" dur="500" fill="hold"/>
                                        <p:tgtEl>
                                          <p:spTgt spid="262150"/>
                                        </p:tgtEl>
                                        <p:attrNameLst>
                                          <p:attrName>ppt_x</p:attrName>
                                        </p:attrNameLst>
                                      </p:cBhvr>
                                      <p:tavLst>
                                        <p:tav tm="0">
                                          <p:val>
                                            <p:strVal val="#ppt_x"/>
                                          </p:val>
                                        </p:tav>
                                        <p:tav tm="100000">
                                          <p:val>
                                            <p:strVal val="#ppt_x"/>
                                          </p:val>
                                        </p:tav>
                                      </p:tavLst>
                                    </p:anim>
                                    <p:anim calcmode="lin" valueType="num">
                                      <p:cBhvr additive="base">
                                        <p:cTn id="24" dur="500" fill="hold"/>
                                        <p:tgtEl>
                                          <p:spTgt spid="262150"/>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p:stCondLst>
                                    <p:cond delay="0"/>
                                  </p:stCondLst>
                                  <p:childTnLst>
                                    <p:set>
                                      <p:cBhvr>
                                        <p:cTn id="26" dur="1" fill="hold">
                                          <p:stCondLst>
                                            <p:cond delay="0"/>
                                          </p:stCondLst>
                                        </p:cTn>
                                        <p:tgtEl>
                                          <p:spTgt spid="262159"/>
                                        </p:tgtEl>
                                        <p:attrNameLst>
                                          <p:attrName>style.visibility</p:attrName>
                                        </p:attrNameLst>
                                      </p:cBhvr>
                                      <p:to>
                                        <p:strVal val="visible"/>
                                      </p:to>
                                    </p:set>
                                    <p:anim calcmode="lin" valueType="num">
                                      <p:cBhvr additive="base">
                                        <p:cTn id="27" dur="500" fill="hold"/>
                                        <p:tgtEl>
                                          <p:spTgt spid="262159"/>
                                        </p:tgtEl>
                                        <p:attrNameLst>
                                          <p:attrName>ppt_x</p:attrName>
                                        </p:attrNameLst>
                                      </p:cBhvr>
                                      <p:tavLst>
                                        <p:tav tm="0">
                                          <p:val>
                                            <p:strVal val="#ppt_x"/>
                                          </p:val>
                                        </p:tav>
                                        <p:tav tm="100000">
                                          <p:val>
                                            <p:strVal val="#ppt_x"/>
                                          </p:val>
                                        </p:tav>
                                      </p:tavLst>
                                    </p:anim>
                                    <p:anim calcmode="lin" valueType="num">
                                      <p:cBhvr additive="base">
                                        <p:cTn id="28" dur="500" fill="hold"/>
                                        <p:tgtEl>
                                          <p:spTgt spid="262159"/>
                                        </p:tgtEl>
                                        <p:attrNameLst>
                                          <p:attrName>ppt_y</p:attrName>
                                        </p:attrNameLst>
                                      </p:cBhvr>
                                      <p:tavLst>
                                        <p:tav tm="0">
                                          <p:val>
                                            <p:strVal val="0-#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62152"/>
                                        </p:tgtEl>
                                        <p:attrNameLst>
                                          <p:attrName>style.visibility</p:attrName>
                                        </p:attrNameLst>
                                      </p:cBhvr>
                                      <p:to>
                                        <p:strVal val="visible"/>
                                      </p:to>
                                    </p:set>
                                    <p:anim calcmode="lin" valueType="num">
                                      <p:cBhvr additive="base">
                                        <p:cTn id="33" dur="500" fill="hold"/>
                                        <p:tgtEl>
                                          <p:spTgt spid="262152"/>
                                        </p:tgtEl>
                                        <p:attrNameLst>
                                          <p:attrName>ppt_x</p:attrName>
                                        </p:attrNameLst>
                                      </p:cBhvr>
                                      <p:tavLst>
                                        <p:tav tm="0">
                                          <p:val>
                                            <p:strVal val="#ppt_x"/>
                                          </p:val>
                                        </p:tav>
                                        <p:tav tm="100000">
                                          <p:val>
                                            <p:strVal val="#ppt_x"/>
                                          </p:val>
                                        </p:tav>
                                      </p:tavLst>
                                    </p:anim>
                                    <p:anim calcmode="lin" valueType="num">
                                      <p:cBhvr additive="base">
                                        <p:cTn id="34" dur="500" fill="hold"/>
                                        <p:tgtEl>
                                          <p:spTgt spid="26215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262153"/>
                                        </p:tgtEl>
                                        <p:attrNameLst>
                                          <p:attrName>style.visibility</p:attrName>
                                        </p:attrNameLst>
                                      </p:cBhvr>
                                      <p:to>
                                        <p:strVal val="visible"/>
                                      </p:to>
                                    </p:set>
                                    <p:anim calcmode="lin" valueType="num">
                                      <p:cBhvr additive="base">
                                        <p:cTn id="37" dur="500" fill="hold"/>
                                        <p:tgtEl>
                                          <p:spTgt spid="262153"/>
                                        </p:tgtEl>
                                        <p:attrNameLst>
                                          <p:attrName>ppt_x</p:attrName>
                                        </p:attrNameLst>
                                      </p:cBhvr>
                                      <p:tavLst>
                                        <p:tav tm="0">
                                          <p:val>
                                            <p:strVal val="#ppt_x"/>
                                          </p:val>
                                        </p:tav>
                                        <p:tav tm="100000">
                                          <p:val>
                                            <p:strVal val="#ppt_x"/>
                                          </p:val>
                                        </p:tav>
                                      </p:tavLst>
                                    </p:anim>
                                    <p:anim calcmode="lin" valueType="num">
                                      <p:cBhvr additive="base">
                                        <p:cTn id="38" dur="500" fill="hold"/>
                                        <p:tgtEl>
                                          <p:spTgt spid="262153"/>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262154"/>
                                        </p:tgtEl>
                                        <p:attrNameLst>
                                          <p:attrName>style.visibility</p:attrName>
                                        </p:attrNameLst>
                                      </p:cBhvr>
                                      <p:to>
                                        <p:strVal val="visible"/>
                                      </p:to>
                                    </p:set>
                                    <p:anim calcmode="lin" valueType="num">
                                      <p:cBhvr additive="base">
                                        <p:cTn id="41" dur="500" fill="hold"/>
                                        <p:tgtEl>
                                          <p:spTgt spid="262154"/>
                                        </p:tgtEl>
                                        <p:attrNameLst>
                                          <p:attrName>ppt_x</p:attrName>
                                        </p:attrNameLst>
                                      </p:cBhvr>
                                      <p:tavLst>
                                        <p:tav tm="0">
                                          <p:val>
                                            <p:strVal val="#ppt_x"/>
                                          </p:val>
                                        </p:tav>
                                        <p:tav tm="100000">
                                          <p:val>
                                            <p:strVal val="#ppt_x"/>
                                          </p:val>
                                        </p:tav>
                                      </p:tavLst>
                                    </p:anim>
                                    <p:anim calcmode="lin" valueType="num">
                                      <p:cBhvr additive="base">
                                        <p:cTn id="42" dur="500" fill="hold"/>
                                        <p:tgtEl>
                                          <p:spTgt spid="262154"/>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262155"/>
                                        </p:tgtEl>
                                        <p:attrNameLst>
                                          <p:attrName>style.visibility</p:attrName>
                                        </p:attrNameLst>
                                      </p:cBhvr>
                                      <p:to>
                                        <p:strVal val="visible"/>
                                      </p:to>
                                    </p:set>
                                    <p:anim calcmode="lin" valueType="num">
                                      <p:cBhvr additive="base">
                                        <p:cTn id="45" dur="500" fill="hold"/>
                                        <p:tgtEl>
                                          <p:spTgt spid="262155"/>
                                        </p:tgtEl>
                                        <p:attrNameLst>
                                          <p:attrName>ppt_x</p:attrName>
                                        </p:attrNameLst>
                                      </p:cBhvr>
                                      <p:tavLst>
                                        <p:tav tm="0">
                                          <p:val>
                                            <p:strVal val="#ppt_x"/>
                                          </p:val>
                                        </p:tav>
                                        <p:tav tm="100000">
                                          <p:val>
                                            <p:strVal val="#ppt_x"/>
                                          </p:val>
                                        </p:tav>
                                      </p:tavLst>
                                    </p:anim>
                                    <p:anim calcmode="lin" valueType="num">
                                      <p:cBhvr additive="base">
                                        <p:cTn id="46" dur="500" fill="hold"/>
                                        <p:tgtEl>
                                          <p:spTgt spid="262155"/>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262156"/>
                                        </p:tgtEl>
                                        <p:attrNameLst>
                                          <p:attrName>style.visibility</p:attrName>
                                        </p:attrNameLst>
                                      </p:cBhvr>
                                      <p:to>
                                        <p:strVal val="visible"/>
                                      </p:to>
                                    </p:set>
                                    <p:anim calcmode="lin" valueType="num">
                                      <p:cBhvr additive="base">
                                        <p:cTn id="49" dur="500" fill="hold"/>
                                        <p:tgtEl>
                                          <p:spTgt spid="262156"/>
                                        </p:tgtEl>
                                        <p:attrNameLst>
                                          <p:attrName>ppt_x</p:attrName>
                                        </p:attrNameLst>
                                      </p:cBhvr>
                                      <p:tavLst>
                                        <p:tav tm="0">
                                          <p:val>
                                            <p:strVal val="#ppt_x"/>
                                          </p:val>
                                        </p:tav>
                                        <p:tav tm="100000">
                                          <p:val>
                                            <p:strVal val="#ppt_x"/>
                                          </p:val>
                                        </p:tav>
                                      </p:tavLst>
                                    </p:anim>
                                    <p:anim calcmode="lin" valueType="num">
                                      <p:cBhvr additive="base">
                                        <p:cTn id="50" dur="500" fill="hold"/>
                                        <p:tgtEl>
                                          <p:spTgt spid="262156"/>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262157"/>
                                        </p:tgtEl>
                                        <p:attrNameLst>
                                          <p:attrName>style.visibility</p:attrName>
                                        </p:attrNameLst>
                                      </p:cBhvr>
                                      <p:to>
                                        <p:strVal val="visible"/>
                                      </p:to>
                                    </p:set>
                                    <p:anim calcmode="lin" valueType="num">
                                      <p:cBhvr additive="base">
                                        <p:cTn id="53" dur="500" fill="hold"/>
                                        <p:tgtEl>
                                          <p:spTgt spid="262157"/>
                                        </p:tgtEl>
                                        <p:attrNameLst>
                                          <p:attrName>ppt_x</p:attrName>
                                        </p:attrNameLst>
                                      </p:cBhvr>
                                      <p:tavLst>
                                        <p:tav tm="0">
                                          <p:val>
                                            <p:strVal val="#ppt_x"/>
                                          </p:val>
                                        </p:tav>
                                        <p:tav tm="100000">
                                          <p:val>
                                            <p:strVal val="#ppt_x"/>
                                          </p:val>
                                        </p:tav>
                                      </p:tavLst>
                                    </p:anim>
                                    <p:anim calcmode="lin" valueType="num">
                                      <p:cBhvr additive="base">
                                        <p:cTn id="54" dur="500" fill="hold"/>
                                        <p:tgtEl>
                                          <p:spTgt spid="262157"/>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262158"/>
                                        </p:tgtEl>
                                        <p:attrNameLst>
                                          <p:attrName>style.visibility</p:attrName>
                                        </p:attrNameLst>
                                      </p:cBhvr>
                                      <p:to>
                                        <p:strVal val="visible"/>
                                      </p:to>
                                    </p:set>
                                    <p:anim calcmode="lin" valueType="num">
                                      <p:cBhvr additive="base">
                                        <p:cTn id="57" dur="500" fill="hold"/>
                                        <p:tgtEl>
                                          <p:spTgt spid="262158"/>
                                        </p:tgtEl>
                                        <p:attrNameLst>
                                          <p:attrName>ppt_x</p:attrName>
                                        </p:attrNameLst>
                                      </p:cBhvr>
                                      <p:tavLst>
                                        <p:tav tm="0">
                                          <p:val>
                                            <p:strVal val="#ppt_x"/>
                                          </p:val>
                                        </p:tav>
                                        <p:tav tm="100000">
                                          <p:val>
                                            <p:strVal val="#ppt_x"/>
                                          </p:val>
                                        </p:tav>
                                      </p:tavLst>
                                    </p:anim>
                                    <p:anim calcmode="lin" valueType="num">
                                      <p:cBhvr additive="base">
                                        <p:cTn id="58" dur="500" fill="hold"/>
                                        <p:tgtEl>
                                          <p:spTgt spid="262158"/>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262160"/>
                                        </p:tgtEl>
                                        <p:attrNameLst>
                                          <p:attrName>style.visibility</p:attrName>
                                        </p:attrNameLst>
                                      </p:cBhvr>
                                      <p:to>
                                        <p:strVal val="visible"/>
                                      </p:to>
                                    </p:set>
                                    <p:anim calcmode="lin" valueType="num">
                                      <p:cBhvr additive="base">
                                        <p:cTn id="61" dur="500" fill="hold"/>
                                        <p:tgtEl>
                                          <p:spTgt spid="262160"/>
                                        </p:tgtEl>
                                        <p:attrNameLst>
                                          <p:attrName>ppt_x</p:attrName>
                                        </p:attrNameLst>
                                      </p:cBhvr>
                                      <p:tavLst>
                                        <p:tav tm="0">
                                          <p:val>
                                            <p:strVal val="#ppt_x"/>
                                          </p:val>
                                        </p:tav>
                                        <p:tav tm="100000">
                                          <p:val>
                                            <p:strVal val="#ppt_x"/>
                                          </p:val>
                                        </p:tav>
                                      </p:tavLst>
                                    </p:anim>
                                    <p:anim calcmode="lin" valueType="num">
                                      <p:cBhvr additive="base">
                                        <p:cTn id="62" dur="500" fill="hold"/>
                                        <p:tgtEl>
                                          <p:spTgt spid="26216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2146" grpId="0" animBg="1"/>
      <p:bldP spid="262147" grpId="0" animBg="1"/>
      <p:bldP spid="262148" grpId="0" animBg="1"/>
      <p:bldP spid="262152" grpId="0" animBg="1"/>
      <p:bldP spid="262153" grpId="0" animBg="1"/>
      <p:bldP spid="262154" grpId="0" animBg="1"/>
      <p:bldP spid="262158" grpId="0"/>
      <p:bldP spid="262159" grpId="0"/>
      <p:bldP spid="26216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6" name="Rectangle 2"/>
          <p:cNvSpPr>
            <a:spLocks noGrp="1" noRot="1" noChangeArrowheads="1"/>
          </p:cNvSpPr>
          <p:nvPr>
            <p:ph type="title"/>
          </p:nvPr>
        </p:nvSpPr>
        <p:spPr>
          <a:xfrm>
            <a:off x="484188" y="1293813"/>
            <a:ext cx="8280400" cy="3382963"/>
          </a:xfrm>
          <a:solidFill>
            <a:schemeClr val="accent5">
              <a:lumMod val="20000"/>
              <a:lumOff val="80000"/>
            </a:schemeClr>
          </a:solidFill>
          <a:ln w="28575">
            <a:solidFill>
              <a:srgbClr val="808080"/>
            </a:solidFill>
            <a:miter lim="800000"/>
          </a:ln>
        </p:spPr>
        <p:txBody>
          <a:bodyPr vert="horz" wrap="square" lIns="91440" tIns="45720" rIns="91440" bIns="45720" numCol="1" rtlCol="0" anchor="ctr" anchorCtr="0" compatLnSpc="1">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en-US" altLang="zh-CN" sz="36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j-cs"/>
              </a:rPr>
              <a:t>       </a:t>
            </a:r>
            <a:r>
              <a:rPr kumimoji="0" lang="zh-CN" altLang="en-US" sz="3600" b="1" i="0" u="none" strike="noStrike" kern="1200" cap="none" spc="0" normalizeH="0" baseline="0" noProof="0" dirty="0" smtClean="0">
                <a:ln>
                  <a:noFill/>
                </a:ln>
                <a:solidFill>
                  <a:srgbClr val="FF0000"/>
                </a:solidFill>
                <a:effectLst/>
                <a:uLnTx/>
                <a:uFillTx/>
                <a:latin typeface="Times New Roman" panose="02020603050405020304" pitchFamily="18" charset="0"/>
                <a:ea typeface="楷体_GB2312" pitchFamily="49" charset="-122"/>
                <a:cs typeface="+mj-cs"/>
              </a:rPr>
              <a:t>适配：</a:t>
            </a:r>
            <a:r>
              <a:rPr kumimoji="0" lang="zh-CN" altLang="en-US" sz="28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t>通过适配器（也称结构综合器）将由综合器产生的网表文件配置于指定的目标文件中并最终产生可下载文件。</a:t>
            </a:r>
            <a:br>
              <a:rPr kumimoji="0" lang="zh-CN" altLang="en-US" sz="3300" b="1" i="0" u="none" strike="noStrike" kern="1200" cap="none" spc="0" normalizeH="0" baseline="0" noProof="0" dirty="0" smtClean="0">
                <a:ln>
                  <a:noFill/>
                </a:ln>
                <a:solidFill>
                  <a:schemeClr val="tx1"/>
                </a:solidFill>
                <a:effectLst/>
                <a:uLnTx/>
                <a:uFillTx/>
                <a:latin typeface="Times New Roman" panose="02020603050405020304" pitchFamily="18" charset="0"/>
                <a:ea typeface="楷体_GB2312" pitchFamily="49" charset="-122"/>
                <a:cs typeface="+mj-cs"/>
              </a:rPr>
            </a:br>
            <a:br>
              <a:rPr kumimoji="0" lang="zh-CN" altLang="en-US" sz="3300" b="1" i="0" u="none" strike="noStrike" kern="1200" cap="none" spc="0" normalizeH="0" baseline="0" noProof="0" dirty="0" smtClean="0">
                <a:ln>
                  <a:noFill/>
                </a:ln>
                <a:solidFill>
                  <a:schemeClr val="tx1"/>
                </a:solidFill>
                <a:effectLst/>
                <a:uLnTx/>
                <a:uFillTx/>
                <a:latin typeface="+mj-lt"/>
                <a:ea typeface="+mj-ea"/>
                <a:cs typeface="+mj-cs"/>
              </a:rPr>
            </a:br>
            <a:br>
              <a:rPr kumimoji="0" lang="zh-CN" altLang="en-US" sz="3300" b="1" i="0" u="none" strike="noStrike" kern="1200" cap="none" spc="0" normalizeH="0" baseline="0" noProof="0" dirty="0" smtClean="0">
                <a:ln>
                  <a:noFill/>
                </a:ln>
                <a:solidFill>
                  <a:schemeClr val="tx1"/>
                </a:solidFill>
                <a:effectLst/>
                <a:uLnTx/>
                <a:uFillTx/>
                <a:latin typeface="+mj-lt"/>
                <a:ea typeface="+mj-ea"/>
                <a:cs typeface="+mj-cs"/>
              </a:rPr>
            </a:br>
            <a:endParaRPr kumimoji="0" lang="zh-CN" altLang="en-US" sz="3300" b="0" i="0" u="none" strike="noStrike" kern="1200" cap="none" spc="0" normalizeH="0" baseline="0" noProof="0" dirty="0" smtClean="0">
              <a:ln>
                <a:noFill/>
              </a:ln>
              <a:solidFill>
                <a:schemeClr val="tx1"/>
              </a:solidFill>
              <a:effectLst/>
              <a:uLnTx/>
              <a:uFillTx/>
              <a:latin typeface="+mj-lt"/>
              <a:ea typeface="+mj-ea"/>
              <a:cs typeface="+mj-cs"/>
            </a:endParaRPr>
          </a:p>
        </p:txBody>
      </p:sp>
      <p:sp>
        <p:nvSpPr>
          <p:cNvPr id="164867" name="Rectangle 3"/>
          <p:cNvSpPr>
            <a:spLocks noGrp="1" noRot="1"/>
          </p:cNvSpPr>
          <p:nvPr>
            <p:ph idx="1"/>
          </p:nvPr>
        </p:nvSpPr>
        <p:spPr>
          <a:xfrm>
            <a:off x="412750" y="3268663"/>
            <a:ext cx="8423275" cy="2898775"/>
          </a:xfrm>
          <a:solidFill>
            <a:srgbClr val="FFFF99">
              <a:alpha val="100000"/>
            </a:srgbClr>
          </a:solidFill>
          <a:ln w="28575">
            <a:solidFill>
              <a:srgbClr val="808080">
                <a:alpha val="100000"/>
              </a:srgbClr>
            </a:solidFill>
            <a:miter lim="800000"/>
          </a:ln>
        </p:spPr>
        <p:txBody>
          <a:bodyPr vert="horz" wrap="square" lIns="91440" tIns="45720" rIns="91440" bIns="45720" anchor="t" anchorCtr="0">
            <a:spAutoFit/>
          </a:bodyPr>
          <a:p>
            <a:pPr eaLnBrk="1" hangingPunct="1">
              <a:spcBef>
                <a:spcPct val="10000"/>
              </a:spcBef>
              <a:buFont typeface="Wingdings" panose="05000000000000000000" pitchFamily="2" charset="2"/>
              <a:buNone/>
            </a:pPr>
            <a:r>
              <a:rPr lang="zh-CN" altLang="en-US" sz="2400" b="1" dirty="0">
                <a:solidFill>
                  <a:srgbClr val="000000"/>
                </a:solidFill>
                <a:latin typeface="Times New Roman" panose="02020603050405020304" pitchFamily="18" charset="0"/>
                <a:ea typeface="楷体_GB2312" pitchFamily="49" charset="-122"/>
              </a:rPr>
              <a:t>适配器产生的重要文件：</a:t>
            </a:r>
            <a:endParaRPr lang="zh-CN" altLang="en-US" sz="2400" b="1" dirty="0">
              <a:solidFill>
                <a:srgbClr val="000000"/>
              </a:solidFill>
              <a:latin typeface="Times New Roman" panose="02020603050405020304" pitchFamily="18" charset="0"/>
              <a:ea typeface="楷体_GB2312" pitchFamily="49" charset="-122"/>
            </a:endParaRPr>
          </a:p>
          <a:p>
            <a:pPr lvl="2" eaLnBrk="1" hangingPunct="1">
              <a:spcBef>
                <a:spcPct val="10000"/>
              </a:spcBef>
            </a:pPr>
            <a:r>
              <a:rPr lang="zh-CN" altLang="en-US" sz="2400" b="1" dirty="0">
                <a:solidFill>
                  <a:srgbClr val="000000"/>
                </a:solidFill>
                <a:latin typeface="Times New Roman" panose="02020603050405020304" pitchFamily="18" charset="0"/>
                <a:ea typeface="楷体_GB2312" pitchFamily="49" charset="-122"/>
              </a:rPr>
              <a:t>适配报告（包括内部资源的耗费情况、设计布尔方程等）</a:t>
            </a:r>
            <a:endParaRPr lang="zh-CN" altLang="en-US" sz="2400" b="1" dirty="0">
              <a:solidFill>
                <a:srgbClr val="000000"/>
              </a:solidFill>
              <a:latin typeface="Times New Roman" panose="02020603050405020304" pitchFamily="18" charset="0"/>
              <a:ea typeface="楷体_GB2312" pitchFamily="49" charset="-122"/>
            </a:endParaRPr>
          </a:p>
          <a:p>
            <a:pPr lvl="2" eaLnBrk="1" hangingPunct="1">
              <a:spcBef>
                <a:spcPct val="10000"/>
              </a:spcBef>
            </a:pPr>
            <a:r>
              <a:rPr lang="zh-CN" altLang="en-US" sz="2400" b="1" dirty="0">
                <a:solidFill>
                  <a:srgbClr val="000000"/>
                </a:solidFill>
                <a:latin typeface="Times New Roman" panose="02020603050405020304" pitchFamily="18" charset="0"/>
                <a:ea typeface="楷体_GB2312" pitchFamily="49" charset="-122"/>
              </a:rPr>
              <a:t>输出文件（面向其它</a:t>
            </a:r>
            <a:r>
              <a:rPr lang="en-US" altLang="zh-CN" sz="2400" b="1" i="1" dirty="0">
                <a:solidFill>
                  <a:srgbClr val="000000"/>
                </a:solidFill>
                <a:latin typeface="Times New Roman" panose="02020603050405020304" pitchFamily="18" charset="0"/>
                <a:ea typeface="楷体_GB2312" pitchFamily="49" charset="-122"/>
              </a:rPr>
              <a:t>EDA</a:t>
            </a:r>
            <a:r>
              <a:rPr lang="zh-CN" altLang="en-US" sz="2400" b="1" dirty="0">
                <a:solidFill>
                  <a:srgbClr val="000000"/>
                </a:solidFill>
                <a:latin typeface="Times New Roman" panose="02020603050405020304" pitchFamily="18" charset="0"/>
                <a:ea typeface="楷体_GB2312" pitchFamily="49" charset="-122"/>
              </a:rPr>
              <a:t>工具的输出文件）</a:t>
            </a:r>
            <a:endParaRPr lang="zh-CN" altLang="en-US" sz="2400" b="1" dirty="0">
              <a:solidFill>
                <a:srgbClr val="000000"/>
              </a:solidFill>
              <a:latin typeface="Times New Roman" panose="02020603050405020304" pitchFamily="18" charset="0"/>
              <a:ea typeface="楷体_GB2312" pitchFamily="49" charset="-122"/>
            </a:endParaRPr>
          </a:p>
          <a:p>
            <a:pPr lvl="2" eaLnBrk="1" hangingPunct="1">
              <a:spcBef>
                <a:spcPct val="10000"/>
              </a:spcBef>
            </a:pPr>
            <a:r>
              <a:rPr lang="zh-CN" altLang="en-US" sz="2400" b="1" dirty="0">
                <a:solidFill>
                  <a:srgbClr val="000000"/>
                </a:solidFill>
                <a:latin typeface="Times New Roman" panose="02020603050405020304" pitchFamily="18" charset="0"/>
                <a:ea typeface="楷体_GB2312" pitchFamily="49" charset="-122"/>
              </a:rPr>
              <a:t>适配后的仿真模型，包括延迟信息等，以便进行精确的时序仿真。</a:t>
            </a:r>
            <a:endParaRPr lang="zh-CN" altLang="en-US" sz="2400" b="1" dirty="0">
              <a:solidFill>
                <a:srgbClr val="000000"/>
              </a:solidFill>
              <a:latin typeface="Times New Roman" panose="02020603050405020304" pitchFamily="18" charset="0"/>
              <a:ea typeface="楷体_GB2312" pitchFamily="49" charset="-122"/>
            </a:endParaRPr>
          </a:p>
          <a:p>
            <a:pPr lvl="2" eaLnBrk="1" hangingPunct="1">
              <a:spcBef>
                <a:spcPct val="10000"/>
              </a:spcBef>
            </a:pPr>
            <a:r>
              <a:rPr lang="zh-CN" altLang="en-US" sz="2400" b="1" dirty="0">
                <a:solidFill>
                  <a:srgbClr val="000000"/>
                </a:solidFill>
                <a:latin typeface="Times New Roman" panose="02020603050405020304" pitchFamily="18" charset="0"/>
                <a:ea typeface="楷体_GB2312" pitchFamily="49" charset="-122"/>
              </a:rPr>
              <a:t>器件编程文件（对</a:t>
            </a:r>
            <a:r>
              <a:rPr lang="en-US" altLang="zh-CN" sz="2400" b="1" i="1" dirty="0">
                <a:solidFill>
                  <a:srgbClr val="000000"/>
                </a:solidFill>
                <a:latin typeface="Times New Roman" panose="02020603050405020304" pitchFamily="18" charset="0"/>
                <a:ea typeface="楷体_GB2312" pitchFamily="49" charset="-122"/>
              </a:rPr>
              <a:t>CPLD</a:t>
            </a:r>
            <a:r>
              <a:rPr lang="zh-CN" altLang="en-US" sz="2400" b="1" dirty="0">
                <a:solidFill>
                  <a:srgbClr val="000000"/>
                </a:solidFill>
                <a:latin typeface="Times New Roman" panose="02020603050405020304" pitchFamily="18" charset="0"/>
                <a:ea typeface="楷体_GB2312" pitchFamily="49" charset="-122"/>
              </a:rPr>
              <a:t>器件而言，产生熔丝图文件，即</a:t>
            </a:r>
            <a:r>
              <a:rPr lang="en-US" altLang="zh-CN" sz="2400" b="1" i="1" dirty="0">
                <a:solidFill>
                  <a:srgbClr val="000000"/>
                </a:solidFill>
                <a:latin typeface="Times New Roman" panose="02020603050405020304" pitchFamily="18" charset="0"/>
                <a:ea typeface="楷体_GB2312" pitchFamily="49" charset="-122"/>
              </a:rPr>
              <a:t>JEDEC</a:t>
            </a:r>
            <a:r>
              <a:rPr lang="en-US" altLang="zh-CN" sz="2400" b="1" dirty="0">
                <a:solidFill>
                  <a:srgbClr val="000000"/>
                </a:solidFill>
                <a:latin typeface="Times New Roman" panose="02020603050405020304" pitchFamily="18" charset="0"/>
                <a:ea typeface="楷体_GB2312" pitchFamily="49" charset="-122"/>
              </a:rPr>
              <a:t> </a:t>
            </a:r>
            <a:r>
              <a:rPr lang="zh-CN" altLang="en-US" sz="2400" b="1" dirty="0">
                <a:solidFill>
                  <a:srgbClr val="000000"/>
                </a:solidFill>
                <a:latin typeface="Times New Roman" panose="02020603050405020304" pitchFamily="18" charset="0"/>
                <a:ea typeface="楷体_GB2312" pitchFamily="49" charset="-122"/>
              </a:rPr>
              <a:t>文件；对</a:t>
            </a:r>
            <a:r>
              <a:rPr lang="en-US" altLang="zh-CN" sz="2400" b="1" i="1" dirty="0">
                <a:solidFill>
                  <a:srgbClr val="000000"/>
                </a:solidFill>
                <a:latin typeface="Times New Roman" panose="02020603050405020304" pitchFamily="18" charset="0"/>
                <a:ea typeface="楷体_GB2312" pitchFamily="49" charset="-122"/>
              </a:rPr>
              <a:t>FPGA</a:t>
            </a:r>
            <a:r>
              <a:rPr lang="zh-CN" altLang="en-US" sz="2400" b="1" dirty="0">
                <a:solidFill>
                  <a:srgbClr val="000000"/>
                </a:solidFill>
                <a:latin typeface="Times New Roman" panose="02020603050405020304" pitchFamily="18" charset="0"/>
                <a:ea typeface="楷体_GB2312" pitchFamily="49" charset="-122"/>
              </a:rPr>
              <a:t>器件则产生</a:t>
            </a:r>
            <a:r>
              <a:rPr lang="en-US" altLang="zh-CN" sz="2400" b="1" i="1" dirty="0">
                <a:solidFill>
                  <a:srgbClr val="000000"/>
                </a:solidFill>
                <a:latin typeface="Times New Roman" panose="02020603050405020304" pitchFamily="18" charset="0"/>
                <a:ea typeface="楷体_GB2312" pitchFamily="49" charset="-122"/>
              </a:rPr>
              <a:t>Bitstream</a:t>
            </a:r>
            <a:r>
              <a:rPr lang="zh-CN" altLang="en-US" sz="2400" b="1" dirty="0">
                <a:solidFill>
                  <a:srgbClr val="000000"/>
                </a:solidFill>
                <a:latin typeface="Times New Roman" panose="02020603050405020304" pitchFamily="18" charset="0"/>
                <a:ea typeface="楷体_GB2312" pitchFamily="49" charset="-122"/>
              </a:rPr>
              <a:t>位流数据文件）。</a:t>
            </a:r>
            <a:endParaRPr lang="zh-CN" altLang="en-US" sz="2400" b="1" dirty="0">
              <a:solidFill>
                <a:srgbClr val="000000"/>
              </a:solidFill>
              <a:latin typeface="Times New Roman" panose="02020603050405020304" pitchFamily="18" charset="0"/>
              <a:ea typeface="楷体_GB2312" pitchFamily="49" charset="-122"/>
            </a:endParaRPr>
          </a:p>
        </p:txBody>
      </p:sp>
      <p:sp>
        <p:nvSpPr>
          <p:cNvPr id="79876"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64869" name="Rectangle 5"/>
          <p:cNvSpPr>
            <a:spLocks noChangeArrowheads="1"/>
          </p:cNvSpPr>
          <p:nvPr/>
        </p:nvSpPr>
        <p:spPr bwMode="auto">
          <a:xfrm>
            <a:off x="477838" y="606425"/>
            <a:ext cx="6216650" cy="64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1" u="none" strike="noStrike" kern="1200" cap="none" spc="0" normalizeH="0" baseline="0" noProof="0" dirty="0">
                <a:ln>
                  <a:noFill/>
                </a:ln>
                <a:solidFill>
                  <a:srgbClr val="000000"/>
                </a:solidFill>
                <a:effectLst/>
                <a:uLnTx/>
                <a:uFillTx/>
                <a:latin typeface="+mn-ea"/>
                <a:ea typeface="+mn-ea"/>
                <a:cs typeface="+mn-cs"/>
              </a:rPr>
              <a:t>  </a:t>
            </a:r>
            <a:r>
              <a:rPr kumimoji="0" lang="en-US" altLang="zh-CN" sz="3600" b="1" i="0" u="none" strike="noStrike" kern="1200" cap="none" spc="0" normalizeH="0" baseline="0" noProof="0" dirty="0">
                <a:ln>
                  <a:noFill/>
                </a:ln>
                <a:solidFill>
                  <a:schemeClr val="hlink"/>
                </a:solidFill>
                <a:effectLst/>
                <a:uLnTx/>
                <a:uFillTx/>
                <a:latin typeface="+mn-ea"/>
                <a:ea typeface="+mn-ea"/>
                <a:cs typeface="+mn-cs"/>
              </a:rPr>
              <a:t>CPLD/FPGA </a:t>
            </a:r>
            <a:r>
              <a:rPr kumimoji="0" lang="zh-CN" altLang="en-US" sz="3600" b="1" i="0" u="none" strike="noStrike" kern="1200" cap="none" spc="0" normalizeH="0" baseline="0" noProof="0" dirty="0">
                <a:ln>
                  <a:noFill/>
                </a:ln>
                <a:solidFill>
                  <a:schemeClr val="hlink"/>
                </a:solidFill>
                <a:effectLst/>
                <a:uLnTx/>
                <a:uFillTx/>
                <a:latin typeface="+mn-ea"/>
                <a:ea typeface="+mn-ea"/>
                <a:cs typeface="+mn-cs"/>
              </a:rPr>
              <a:t>实现步骤</a:t>
            </a:r>
            <a:r>
              <a:rPr kumimoji="0" lang="en-US" altLang="zh-CN" sz="3600" b="1" i="0" u="none" strike="noStrike" kern="1200" cap="none" spc="0" normalizeH="0" baseline="0" noProof="0" dirty="0">
                <a:ln>
                  <a:noFill/>
                </a:ln>
                <a:solidFill>
                  <a:schemeClr val="hlink"/>
                </a:solidFill>
                <a:effectLst/>
                <a:uLnTx/>
                <a:uFillTx/>
                <a:latin typeface="+mn-ea"/>
                <a:ea typeface="+mn-ea"/>
                <a:cs typeface="+mn-cs"/>
              </a:rPr>
              <a:t>—</a:t>
            </a:r>
            <a:r>
              <a:rPr kumimoji="0" lang="zh-CN" altLang="en-US" sz="3600" b="1" i="0" u="none" strike="noStrike" kern="1200" cap="none" spc="0" normalizeH="0" baseline="0" noProof="0" dirty="0">
                <a:ln>
                  <a:noFill/>
                </a:ln>
                <a:solidFill>
                  <a:schemeClr val="hlink"/>
                </a:solidFill>
                <a:effectLst/>
                <a:uLnTx/>
                <a:uFillTx/>
                <a:latin typeface="+mn-ea"/>
                <a:ea typeface="+mn-ea"/>
                <a:cs typeface="+mn-cs"/>
              </a:rPr>
              <a:t>适配</a:t>
            </a:r>
            <a:endParaRPr kumimoji="0" lang="zh-CN" altLang="en-US" sz="3600" b="1" i="0" u="none" strike="noStrike" kern="1200" cap="none" spc="0" normalizeH="0" baseline="0" noProof="0" dirty="0">
              <a:ln>
                <a:noFill/>
              </a:ln>
              <a:solidFill>
                <a:schemeClr val="hlink"/>
              </a:solidFill>
              <a:effectLst/>
              <a:uLnTx/>
              <a:uFillTx/>
              <a:latin typeface="+mn-ea"/>
              <a:ea typeface="+mn-ea"/>
              <a:cs typeface="+mn-cs"/>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164867"/>
                                        </p:tgtEl>
                                        <p:attrNameLst>
                                          <p:attrName>style.visibility</p:attrName>
                                        </p:attrNameLst>
                                      </p:cBhvr>
                                      <p:to>
                                        <p:strVal val="visible"/>
                                      </p:to>
                                    </p:set>
                                    <p:animEffect transition="in" filter="barn(inHorizontal)">
                                      <p:cBhvr>
                                        <p:cTn id="7" dur="500"/>
                                        <p:tgtEl>
                                          <p:spTgt spid="164867"/>
                                        </p:tgtEl>
                                      </p:cBhvr>
                                    </p:animEffect>
                                  </p:childTnLst>
                                </p:cTn>
                              </p:par>
                            </p:childTnLst>
                          </p:cTn>
                        </p:par>
                        <p:par>
                          <p:cTn id="8" fill="hold">
                            <p:stCondLst>
                              <p:cond delay="500"/>
                            </p:stCondLst>
                            <p:childTnLst>
                              <p:par>
                                <p:cTn id="9" presetID="16" presetClass="entr" presetSubtype="26" fill="hold" grpId="0" nodeType="afterEffect">
                                  <p:stCondLst>
                                    <p:cond delay="0"/>
                                  </p:stCondLst>
                                  <p:childTnLst>
                                    <p:set>
                                      <p:cBhvr>
                                        <p:cTn id="10" dur="1" fill="hold">
                                          <p:stCondLst>
                                            <p:cond delay="0"/>
                                          </p:stCondLst>
                                        </p:cTn>
                                        <p:tgtEl>
                                          <p:spTgt spid="164867">
                                            <p:txEl>
                                              <p:charRg st="0" end="12"/>
                                            </p:txEl>
                                          </p:spTgt>
                                        </p:tgtEl>
                                        <p:attrNameLst>
                                          <p:attrName>style.visibility</p:attrName>
                                        </p:attrNameLst>
                                      </p:cBhvr>
                                      <p:to>
                                        <p:strVal val="visible"/>
                                      </p:to>
                                    </p:set>
                                    <p:animEffect transition="in" filter="barn(inHorizontal)">
                                      <p:cBhvr>
                                        <p:cTn id="11" dur="500"/>
                                        <p:tgtEl>
                                          <p:spTgt spid="164867">
                                            <p:txEl>
                                              <p:charRg st="0" end="12"/>
                                            </p:txEl>
                                          </p:spTgt>
                                        </p:tgtEl>
                                      </p:cBhvr>
                                    </p:animEffect>
                                  </p:childTnLst>
                                </p:cTn>
                              </p:par>
                              <p:par>
                                <p:cTn id="12" presetID="16" presetClass="entr" presetSubtype="26" fill="hold" grpId="0" nodeType="withEffect">
                                  <p:stCondLst>
                                    <p:cond delay="0"/>
                                  </p:stCondLst>
                                  <p:childTnLst>
                                    <p:set>
                                      <p:cBhvr>
                                        <p:cTn id="13" dur="1" fill="hold">
                                          <p:stCondLst>
                                            <p:cond delay="0"/>
                                          </p:stCondLst>
                                        </p:cTn>
                                        <p:tgtEl>
                                          <p:spTgt spid="164867">
                                            <p:txEl>
                                              <p:charRg st="12" end="38"/>
                                            </p:txEl>
                                          </p:spTgt>
                                        </p:tgtEl>
                                        <p:attrNameLst>
                                          <p:attrName>style.visibility</p:attrName>
                                        </p:attrNameLst>
                                      </p:cBhvr>
                                      <p:to>
                                        <p:strVal val="visible"/>
                                      </p:to>
                                    </p:set>
                                    <p:animEffect transition="in" filter="barn(inHorizontal)">
                                      <p:cBhvr>
                                        <p:cTn id="14" dur="500"/>
                                        <p:tgtEl>
                                          <p:spTgt spid="164867">
                                            <p:txEl>
                                              <p:charRg st="12" end="38"/>
                                            </p:txEl>
                                          </p:spTgt>
                                        </p:tgtEl>
                                      </p:cBhvr>
                                    </p:animEffect>
                                  </p:childTnLst>
                                </p:cTn>
                              </p:par>
                              <p:par>
                                <p:cTn id="15" presetID="16" presetClass="entr" presetSubtype="26" fill="hold" grpId="0" nodeType="withEffect">
                                  <p:stCondLst>
                                    <p:cond delay="0"/>
                                  </p:stCondLst>
                                  <p:childTnLst>
                                    <p:set>
                                      <p:cBhvr>
                                        <p:cTn id="16" dur="1" fill="hold">
                                          <p:stCondLst>
                                            <p:cond delay="0"/>
                                          </p:stCondLst>
                                        </p:cTn>
                                        <p:tgtEl>
                                          <p:spTgt spid="164867">
                                            <p:txEl>
                                              <p:charRg st="38" end="59"/>
                                            </p:txEl>
                                          </p:spTgt>
                                        </p:tgtEl>
                                        <p:attrNameLst>
                                          <p:attrName>style.visibility</p:attrName>
                                        </p:attrNameLst>
                                      </p:cBhvr>
                                      <p:to>
                                        <p:strVal val="visible"/>
                                      </p:to>
                                    </p:set>
                                    <p:animEffect transition="in" filter="barn(inHorizontal)">
                                      <p:cBhvr>
                                        <p:cTn id="17" dur="500"/>
                                        <p:tgtEl>
                                          <p:spTgt spid="164867">
                                            <p:txEl>
                                              <p:charRg st="38" end="59"/>
                                            </p:txEl>
                                          </p:spTgt>
                                        </p:tgtEl>
                                      </p:cBhvr>
                                    </p:animEffect>
                                  </p:childTnLst>
                                </p:cTn>
                              </p:par>
                              <p:par>
                                <p:cTn id="18" presetID="16" presetClass="entr" presetSubtype="26" fill="hold" grpId="0" nodeType="withEffect">
                                  <p:stCondLst>
                                    <p:cond delay="0"/>
                                  </p:stCondLst>
                                  <p:childTnLst>
                                    <p:set>
                                      <p:cBhvr>
                                        <p:cTn id="19" dur="1" fill="hold">
                                          <p:stCondLst>
                                            <p:cond delay="0"/>
                                          </p:stCondLst>
                                        </p:cTn>
                                        <p:tgtEl>
                                          <p:spTgt spid="164867">
                                            <p:txEl>
                                              <p:charRg st="59" end="89"/>
                                            </p:txEl>
                                          </p:spTgt>
                                        </p:tgtEl>
                                        <p:attrNameLst>
                                          <p:attrName>style.visibility</p:attrName>
                                        </p:attrNameLst>
                                      </p:cBhvr>
                                      <p:to>
                                        <p:strVal val="visible"/>
                                      </p:to>
                                    </p:set>
                                    <p:animEffect transition="in" filter="barn(inHorizontal)">
                                      <p:cBhvr>
                                        <p:cTn id="20" dur="500"/>
                                        <p:tgtEl>
                                          <p:spTgt spid="164867">
                                            <p:txEl>
                                              <p:charRg st="59" end="89"/>
                                            </p:txEl>
                                          </p:spTgt>
                                        </p:tgtEl>
                                      </p:cBhvr>
                                    </p:animEffect>
                                  </p:childTnLst>
                                </p:cTn>
                              </p:par>
                              <p:par>
                                <p:cTn id="21" presetID="16" presetClass="entr" presetSubtype="26" fill="hold" grpId="0" nodeType="withEffect">
                                  <p:stCondLst>
                                    <p:cond delay="0"/>
                                  </p:stCondLst>
                                  <p:childTnLst>
                                    <p:set>
                                      <p:cBhvr>
                                        <p:cTn id="22" dur="1" fill="hold">
                                          <p:stCondLst>
                                            <p:cond delay="0"/>
                                          </p:stCondLst>
                                        </p:cTn>
                                        <p:tgtEl>
                                          <p:spTgt spid="164867">
                                            <p:txEl>
                                              <p:charRg st="89" end="152"/>
                                            </p:txEl>
                                          </p:spTgt>
                                        </p:tgtEl>
                                        <p:attrNameLst>
                                          <p:attrName>style.visibility</p:attrName>
                                        </p:attrNameLst>
                                      </p:cBhvr>
                                      <p:to>
                                        <p:strVal val="visible"/>
                                      </p:to>
                                    </p:set>
                                    <p:animEffect transition="in" filter="barn(inHorizontal)">
                                      <p:cBhvr>
                                        <p:cTn id="23" dur="500"/>
                                        <p:tgtEl>
                                          <p:spTgt spid="164867">
                                            <p:txEl>
                                              <p:charRg st="89" end="15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867" grpId="0" animBg="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90" name="Rectangle 2"/>
          <p:cNvSpPr>
            <a:spLocks noGrp="1" noRot="1" noChangeArrowheads="1"/>
          </p:cNvSpPr>
          <p:nvPr>
            <p:ph type="title"/>
          </p:nvPr>
        </p:nvSpPr>
        <p:spPr>
          <a:xfrm>
            <a:off x="323850" y="1412875"/>
            <a:ext cx="8496300" cy="2808288"/>
          </a:xfrm>
          <a:solidFill>
            <a:schemeClr val="accent5">
              <a:lumMod val="20000"/>
              <a:lumOff val="80000"/>
            </a:schemeClr>
          </a:solidFill>
          <a:ln w="28575">
            <a:solidFill>
              <a:srgbClr val="808080"/>
            </a:solidFill>
            <a:miter lim="800000"/>
          </a:ln>
        </p:spPr>
        <p:txBody>
          <a:bodyPr vert="horz" wrap="square" lIns="91440" tIns="45720" rIns="91440" bIns="45720" numCol="1" rtlCol="0" anchor="ctr" anchorCtr="0" compatLnSpc="1">
            <a:norm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4000" b="1" i="0" u="none" strike="noStrike" kern="1200" cap="none" spc="0" normalizeH="0" baseline="0" noProof="0" smtClean="0">
                <a:ln>
                  <a:noFill/>
                </a:ln>
                <a:solidFill>
                  <a:srgbClr val="FF0000"/>
                </a:solidFill>
                <a:effectLst/>
                <a:uLnTx/>
                <a:uFillTx/>
                <a:latin typeface="+mj-lt"/>
                <a:ea typeface="楷体_GB2312" pitchFamily="49" charset="-122"/>
                <a:cs typeface="+mj-cs"/>
              </a:rPr>
              <a:t>仿真与编程：</a:t>
            </a:r>
            <a:br>
              <a:rPr kumimoji="0" lang="zh-CN" altLang="en-US" sz="4000" b="0" i="0" u="none" strike="noStrike" kern="1200" cap="none" spc="0" normalizeH="0" baseline="0" noProof="0" smtClean="0">
                <a:ln>
                  <a:noFill/>
                </a:ln>
                <a:solidFill>
                  <a:srgbClr val="FF0000"/>
                </a:solidFill>
                <a:effectLst/>
                <a:uLnTx/>
                <a:uFillTx/>
                <a:latin typeface="+mj-lt"/>
                <a:ea typeface="楷体_GB2312" pitchFamily="49" charset="-122"/>
                <a:cs typeface="+mj-cs"/>
              </a:rPr>
            </a:br>
            <a:br>
              <a:rPr kumimoji="0" lang="zh-CN" altLang="en-US" sz="3300" b="0" i="0" u="none" strike="noStrike" kern="1200" cap="none" spc="0" normalizeH="0" baseline="0" noProof="0" smtClean="0">
                <a:ln>
                  <a:noFill/>
                </a:ln>
                <a:solidFill>
                  <a:srgbClr val="FF0000"/>
                </a:solidFill>
                <a:effectLst/>
                <a:uLnTx/>
                <a:uFillTx/>
                <a:latin typeface="+mj-lt"/>
                <a:ea typeface="+mj-ea"/>
                <a:cs typeface="+mj-cs"/>
              </a:rPr>
            </a:br>
            <a:br>
              <a:rPr kumimoji="0" lang="zh-CN" altLang="en-US" sz="3300" b="0" i="0" u="none" strike="noStrike" kern="1200" cap="none" spc="0" normalizeH="0" baseline="0" noProof="0" smtClean="0">
                <a:ln>
                  <a:noFill/>
                </a:ln>
                <a:solidFill>
                  <a:srgbClr val="FF0000"/>
                </a:solidFill>
                <a:effectLst/>
                <a:uLnTx/>
                <a:uFillTx/>
                <a:latin typeface="+mj-lt"/>
                <a:ea typeface="+mj-ea"/>
                <a:cs typeface="+mj-cs"/>
              </a:rPr>
            </a:br>
            <a:endParaRPr kumimoji="0" lang="zh-CN" altLang="en-US" sz="3300" b="0" i="0" u="none" strike="noStrike" kern="1200" cap="none" spc="0" normalizeH="0" baseline="0" noProof="0" smtClean="0">
              <a:ln>
                <a:noFill/>
              </a:ln>
              <a:solidFill>
                <a:srgbClr val="FF0000"/>
              </a:solidFill>
              <a:effectLst/>
              <a:uLnTx/>
              <a:uFillTx/>
              <a:latin typeface="+mj-lt"/>
              <a:ea typeface="+mj-ea"/>
              <a:cs typeface="+mj-cs"/>
            </a:endParaRPr>
          </a:p>
        </p:txBody>
      </p:sp>
      <p:sp>
        <p:nvSpPr>
          <p:cNvPr id="165892" name="Rectangle 4"/>
          <p:cNvSpPr/>
          <p:nvPr/>
        </p:nvSpPr>
        <p:spPr>
          <a:xfrm>
            <a:off x="327025" y="2636838"/>
            <a:ext cx="8496300" cy="2430145"/>
          </a:xfrm>
          <a:prstGeom prst="rect">
            <a:avLst/>
          </a:prstGeom>
          <a:solidFill>
            <a:srgbClr val="FFFF99"/>
          </a:solidFill>
          <a:ln w="28575" cap="flat" cmpd="sng">
            <a:solidFill>
              <a:srgbClr val="808080"/>
            </a:solidFill>
            <a:prstDash val="solid"/>
            <a:miter/>
            <a:headEnd type="none" w="med" len="med"/>
            <a:tailEnd type="none" w="med" len="med"/>
          </a:ln>
        </p:spPr>
        <p:txBody>
          <a:bodyPr>
            <a:spAutoFit/>
          </a:bodyPr>
          <a:p>
            <a:pPr eaLnBrk="1" hangingPunct="1"/>
            <a:r>
              <a:rPr lang="en-US" altLang="zh-CN" sz="2800" b="1" dirty="0">
                <a:solidFill>
                  <a:srgbClr val="FF0000"/>
                </a:solidFill>
                <a:latin typeface="Times New Roman" panose="02020603050405020304" pitchFamily="18" charset="0"/>
                <a:ea typeface="楷体_GB2312" pitchFamily="49" charset="-122"/>
              </a:rPr>
              <a:t>1 </a:t>
            </a:r>
            <a:r>
              <a:rPr lang="zh-CN" altLang="en-US" sz="2800" b="1" dirty="0">
                <a:solidFill>
                  <a:srgbClr val="FF0000"/>
                </a:solidFill>
                <a:latin typeface="Times New Roman" panose="02020603050405020304" pitchFamily="18" charset="0"/>
                <a:ea typeface="楷体_GB2312" pitchFamily="49" charset="-122"/>
              </a:rPr>
              <a:t>仿真：</a:t>
            </a:r>
            <a:r>
              <a:rPr lang="zh-CN" altLang="en-US" sz="2400" b="1" dirty="0">
                <a:solidFill>
                  <a:srgbClr val="000000"/>
                </a:solidFill>
                <a:latin typeface="Times New Roman" panose="02020603050405020304" pitchFamily="18" charset="0"/>
                <a:ea typeface="楷体_GB2312" pitchFamily="49" charset="-122"/>
              </a:rPr>
              <a:t>对所设计电路的功能的验证。</a:t>
            </a:r>
            <a:endParaRPr lang="zh-CN" altLang="en-US" sz="2400" b="1" dirty="0">
              <a:solidFill>
                <a:srgbClr val="000000"/>
              </a:solidFill>
              <a:latin typeface="Times New Roman" panose="02020603050405020304" pitchFamily="18" charset="0"/>
              <a:ea typeface="楷体_GB2312" pitchFamily="49" charset="-122"/>
            </a:endParaRPr>
          </a:p>
          <a:p>
            <a:pPr lvl="1" eaLnBrk="1" hangingPunct="1"/>
            <a:r>
              <a:rPr lang="en-US" altLang="zh-CN" sz="2400" b="1" dirty="0">
                <a:solidFill>
                  <a:srgbClr val="000000"/>
                </a:solidFill>
                <a:latin typeface="Times New Roman" panose="02020603050405020304" pitchFamily="18" charset="0"/>
                <a:ea typeface="楷体_GB2312" pitchFamily="49" charset="-122"/>
              </a:rPr>
              <a:t>  </a:t>
            </a:r>
            <a:r>
              <a:rPr lang="zh-CN" altLang="en-US" sz="2400" b="1" dirty="0">
                <a:solidFill>
                  <a:srgbClr val="000000"/>
                </a:solidFill>
                <a:latin typeface="Times New Roman" panose="02020603050405020304" pitchFamily="18" charset="0"/>
                <a:ea typeface="楷体_GB2312" pitchFamily="49" charset="-122"/>
              </a:rPr>
              <a:t>功能仿真：不考虑信号延迟等因素的仿真，又叫前仿真。</a:t>
            </a:r>
            <a:endParaRPr lang="zh-CN" altLang="en-US" sz="2400" b="1" dirty="0">
              <a:solidFill>
                <a:srgbClr val="000000"/>
              </a:solidFill>
              <a:latin typeface="Times New Roman" panose="02020603050405020304" pitchFamily="18" charset="0"/>
              <a:ea typeface="楷体_GB2312" pitchFamily="49" charset="-122"/>
            </a:endParaRPr>
          </a:p>
          <a:p>
            <a:pPr lvl="1" eaLnBrk="1" hangingPunct="1"/>
            <a:r>
              <a:rPr lang="zh-CN" altLang="en-US" sz="2400" b="1" dirty="0">
                <a:solidFill>
                  <a:srgbClr val="000000"/>
                </a:solidFill>
                <a:latin typeface="Times New Roman" panose="02020603050405020304" pitchFamily="18" charset="0"/>
                <a:ea typeface="楷体_GB2312" pitchFamily="49" charset="-122"/>
              </a:rPr>
              <a:t>  时序仿真：在选择了具体的器件并完成了布局布线后进行		    的并包含定时关系的仿真。</a:t>
            </a:r>
            <a:endParaRPr lang="zh-CN" altLang="en-US" sz="2400" b="1" dirty="0">
              <a:solidFill>
                <a:srgbClr val="000000"/>
              </a:solidFill>
              <a:latin typeface="Times New Roman" panose="02020603050405020304" pitchFamily="18" charset="0"/>
              <a:ea typeface="楷体_GB2312" pitchFamily="49" charset="-122"/>
            </a:endParaRPr>
          </a:p>
          <a:p>
            <a:pPr eaLnBrk="1" hangingPunct="1"/>
            <a:r>
              <a:rPr lang="en-US" altLang="zh-CN" sz="2800" b="1" dirty="0">
                <a:solidFill>
                  <a:srgbClr val="FF0000"/>
                </a:solidFill>
                <a:latin typeface="Times New Roman" panose="02020603050405020304" pitchFamily="18" charset="0"/>
                <a:ea typeface="楷体_GB2312" pitchFamily="49" charset="-122"/>
              </a:rPr>
              <a:t>2 </a:t>
            </a:r>
            <a:r>
              <a:rPr lang="zh-CN" altLang="en-US" sz="2800" b="1" dirty="0">
                <a:solidFill>
                  <a:srgbClr val="FF0000"/>
                </a:solidFill>
                <a:latin typeface="Times New Roman" panose="02020603050405020304" pitchFamily="18" charset="0"/>
                <a:ea typeface="楷体_GB2312" pitchFamily="49" charset="-122"/>
              </a:rPr>
              <a:t>编程：</a:t>
            </a:r>
            <a:r>
              <a:rPr lang="zh-CN" altLang="en-US" sz="2400" b="1" dirty="0">
                <a:solidFill>
                  <a:srgbClr val="000000"/>
                </a:solidFill>
                <a:latin typeface="Times New Roman" panose="02020603050405020304" pitchFamily="18" charset="0"/>
                <a:ea typeface="楷体_GB2312" pitchFamily="49" charset="-122"/>
              </a:rPr>
              <a:t>把适配后生成的编程文件装入到</a:t>
            </a:r>
            <a:r>
              <a:rPr lang="en-US" altLang="zh-CN" sz="2400" b="1" i="1" dirty="0">
                <a:solidFill>
                  <a:srgbClr val="000000"/>
                </a:solidFill>
                <a:latin typeface="Times New Roman" panose="02020603050405020304" pitchFamily="18" charset="0"/>
                <a:ea typeface="楷体_GB2312" pitchFamily="49" charset="-122"/>
              </a:rPr>
              <a:t>PLD</a:t>
            </a:r>
            <a:r>
              <a:rPr lang="zh-CN" altLang="en-US" sz="2400" b="1" dirty="0">
                <a:solidFill>
                  <a:srgbClr val="000000"/>
                </a:solidFill>
                <a:latin typeface="Times New Roman" panose="02020603050405020304" pitchFamily="18" charset="0"/>
                <a:ea typeface="楷体_GB2312" pitchFamily="49" charset="-122"/>
              </a:rPr>
              <a:t>器件中的过程。</a:t>
            </a:r>
            <a:endParaRPr lang="zh-CN" altLang="en-US" sz="2400" b="1" dirty="0">
              <a:solidFill>
                <a:srgbClr val="000000"/>
              </a:solidFill>
              <a:latin typeface="Times New Roman" panose="02020603050405020304" pitchFamily="18" charset="0"/>
              <a:ea typeface="楷体_GB2312" pitchFamily="49" charset="-122"/>
            </a:endParaRPr>
          </a:p>
          <a:p>
            <a:pPr lvl="1" eaLnBrk="1" hangingPunct="1"/>
            <a:r>
              <a:rPr lang="en-US" altLang="zh-CN" sz="2400" b="1" dirty="0">
                <a:solidFill>
                  <a:srgbClr val="000000"/>
                </a:solidFill>
                <a:latin typeface="Times New Roman" panose="02020603050405020304" pitchFamily="18" charset="0"/>
                <a:ea typeface="楷体_GB2312" pitchFamily="49" charset="-122"/>
              </a:rPr>
              <a:t> </a:t>
            </a:r>
            <a:r>
              <a:rPr lang="zh-CN" altLang="en-US" sz="2400" b="1" dirty="0">
                <a:solidFill>
                  <a:srgbClr val="000000"/>
                </a:solidFill>
                <a:latin typeface="Times New Roman" panose="02020603050405020304" pitchFamily="18" charset="0"/>
                <a:ea typeface="楷体_GB2312" pitchFamily="49" charset="-122"/>
              </a:rPr>
              <a:t>在系统编程、专用的编程器编程</a:t>
            </a:r>
            <a:endParaRPr lang="zh-CN" altLang="en-US" sz="2400" b="1" dirty="0">
              <a:solidFill>
                <a:srgbClr val="000000"/>
              </a:solidFill>
              <a:latin typeface="Times New Roman" panose="02020603050405020304" pitchFamily="18" charset="0"/>
              <a:ea typeface="楷体_GB2312" pitchFamily="49" charset="-122"/>
            </a:endParaRPr>
          </a:p>
        </p:txBody>
      </p:sp>
      <p:sp>
        <p:nvSpPr>
          <p:cNvPr id="80900" name="Line 5"/>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65894" name="Rectangle 6"/>
          <p:cNvSpPr>
            <a:spLocks noChangeArrowheads="1"/>
          </p:cNvSpPr>
          <p:nvPr/>
        </p:nvSpPr>
        <p:spPr bwMode="auto">
          <a:xfrm>
            <a:off x="477838" y="590550"/>
            <a:ext cx="74088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600" b="1" i="0" u="none" strike="noStrike" kern="1200" cap="none" spc="0" normalizeH="0" baseline="0" noProof="0" dirty="0">
                <a:ln>
                  <a:noFill/>
                </a:ln>
                <a:solidFill>
                  <a:schemeClr val="hlink"/>
                </a:solidFill>
                <a:effectLst/>
                <a:uLnTx/>
                <a:uFillTx/>
                <a:latin typeface="+mn-ea"/>
                <a:ea typeface="+mn-ea"/>
                <a:cs typeface="+mn-cs"/>
              </a:rPr>
              <a:t>CPLD/FPGA </a:t>
            </a:r>
            <a:r>
              <a:rPr kumimoji="0" lang="zh-CN" altLang="en-US" sz="3600" b="1" i="0" u="none" strike="noStrike" kern="1200" cap="none" spc="0" normalizeH="0" baseline="0" noProof="0" dirty="0">
                <a:ln>
                  <a:noFill/>
                </a:ln>
                <a:solidFill>
                  <a:schemeClr val="hlink"/>
                </a:solidFill>
                <a:effectLst/>
                <a:uLnTx/>
                <a:uFillTx/>
                <a:latin typeface="+mn-ea"/>
                <a:ea typeface="+mn-ea"/>
                <a:cs typeface="+mn-cs"/>
              </a:rPr>
              <a:t>实现步骤</a:t>
            </a:r>
            <a:r>
              <a:rPr kumimoji="0" lang="en-US" altLang="zh-CN" sz="3600" b="1" i="0" u="none" strike="noStrike" kern="1200" cap="none" spc="0" normalizeH="0" baseline="0" noProof="0" dirty="0">
                <a:ln>
                  <a:noFill/>
                </a:ln>
                <a:solidFill>
                  <a:schemeClr val="hlink"/>
                </a:solidFill>
                <a:effectLst/>
                <a:uLnTx/>
                <a:uFillTx/>
                <a:latin typeface="+mn-ea"/>
                <a:ea typeface="+mn-ea"/>
                <a:cs typeface="+mn-cs"/>
              </a:rPr>
              <a:t>—</a:t>
            </a:r>
            <a:r>
              <a:rPr kumimoji="0" lang="zh-CN" altLang="en-US" sz="3600" b="1" i="0" u="none" strike="noStrike" kern="1200" cap="none" spc="0" normalizeH="0" baseline="0" noProof="0" dirty="0">
                <a:ln>
                  <a:noFill/>
                </a:ln>
                <a:solidFill>
                  <a:schemeClr val="hlink"/>
                </a:solidFill>
                <a:effectLst/>
                <a:uLnTx/>
                <a:uFillTx/>
                <a:latin typeface="+mn-ea"/>
                <a:ea typeface="+mn-ea"/>
                <a:cs typeface="+mn-cs"/>
              </a:rPr>
              <a:t>仿真与编程</a:t>
            </a:r>
            <a:endParaRPr kumimoji="0" lang="zh-CN" altLang="en-US" sz="3600" b="1" i="0" u="none" strike="noStrike" kern="1200" cap="none" spc="0" normalizeH="0" baseline="0" noProof="0" dirty="0">
              <a:ln>
                <a:noFill/>
              </a:ln>
              <a:solidFill>
                <a:schemeClr val="hlink"/>
              </a:solidFill>
              <a:effectLst/>
              <a:uLnTx/>
              <a:uFillTx/>
              <a:latin typeface="+mn-ea"/>
              <a:ea typeface="+mn-ea"/>
              <a:cs typeface="+mn-cs"/>
            </a:endParaRPr>
          </a:p>
        </p:txBody>
      </p:sp>
      <p:sp>
        <p:nvSpPr>
          <p:cNvPr id="165895" name="Rectangle 7"/>
          <p:cNvSpPr/>
          <p:nvPr/>
        </p:nvSpPr>
        <p:spPr>
          <a:xfrm>
            <a:off x="285750" y="5105400"/>
            <a:ext cx="8534400" cy="1219200"/>
          </a:xfrm>
          <a:prstGeom prst="rect">
            <a:avLst/>
          </a:prstGeom>
          <a:solidFill>
            <a:srgbClr val="FF9900"/>
          </a:solidFill>
          <a:ln w="31750" cap="flat" cmpd="sng">
            <a:solidFill>
              <a:schemeClr val="tx1"/>
            </a:solidFill>
            <a:prstDash val="solid"/>
            <a:miter/>
            <a:headEnd type="none" w="med" len="med"/>
            <a:tailEnd type="none" w="med" len="med"/>
          </a:ln>
        </p:spPr>
        <p:txBody>
          <a:bodyPr>
            <a:spAutoFit/>
          </a:bodyPr>
          <a:p>
            <a:r>
              <a:rPr lang="en-US" altLang="zh-CN" sz="2400" b="1" dirty="0">
                <a:solidFill>
                  <a:srgbClr val="000000"/>
                </a:solidFill>
                <a:latin typeface="Times New Roman" panose="02020603050405020304" pitchFamily="18" charset="0"/>
                <a:ea typeface="楷体_GB2312" pitchFamily="49" charset="-122"/>
              </a:rPr>
              <a:t>	</a:t>
            </a:r>
            <a:r>
              <a:rPr lang="zh-CN" altLang="en-US" sz="2400" b="1" dirty="0">
                <a:solidFill>
                  <a:srgbClr val="000000"/>
                </a:solidFill>
                <a:latin typeface="Times New Roman" panose="02020603050405020304" pitchFamily="18" charset="0"/>
                <a:ea typeface="楷体_GB2312" pitchFamily="49" charset="-122"/>
              </a:rPr>
              <a:t>通常将对基于</a:t>
            </a:r>
            <a:r>
              <a:rPr lang="en-US" altLang="zh-CN" sz="2400" b="1" i="1" dirty="0">
                <a:solidFill>
                  <a:srgbClr val="000000"/>
                </a:solidFill>
                <a:latin typeface="Times New Roman" panose="02020603050405020304" pitchFamily="18" charset="0"/>
                <a:ea typeface="楷体_GB2312" pitchFamily="49" charset="-122"/>
              </a:rPr>
              <a:t>EEPROM</a:t>
            </a:r>
            <a:r>
              <a:rPr lang="zh-CN" altLang="en-US" sz="2400" b="1" dirty="0">
                <a:solidFill>
                  <a:srgbClr val="000000"/>
                </a:solidFill>
                <a:latin typeface="Times New Roman" panose="02020603050405020304" pitchFamily="18" charset="0"/>
                <a:ea typeface="楷体_GB2312" pitchFamily="49" charset="-122"/>
              </a:rPr>
              <a:t>工艺的非易失结构</a:t>
            </a:r>
            <a:r>
              <a:rPr lang="en-US" altLang="zh-CN" sz="2400" b="1" dirty="0">
                <a:solidFill>
                  <a:srgbClr val="000000"/>
                </a:solidFill>
                <a:latin typeface="Times New Roman" panose="02020603050405020304" pitchFamily="18" charset="0"/>
                <a:ea typeface="楷体_GB2312" pitchFamily="49" charset="-122"/>
              </a:rPr>
              <a:t>PLD</a:t>
            </a:r>
            <a:r>
              <a:rPr lang="zh-CN" altLang="en-US" sz="2400" b="1" dirty="0">
                <a:solidFill>
                  <a:srgbClr val="000000"/>
                </a:solidFill>
                <a:latin typeface="Times New Roman" panose="02020603050405020304" pitchFamily="18" charset="0"/>
                <a:ea typeface="楷体_GB2312" pitchFamily="49" charset="-122"/>
              </a:rPr>
              <a:t>器件的下载称为编程（</a:t>
            </a:r>
            <a:r>
              <a:rPr lang="en-US" altLang="zh-CN" sz="2400" b="1" i="1" dirty="0">
                <a:solidFill>
                  <a:srgbClr val="000000"/>
                </a:solidFill>
                <a:latin typeface="Times New Roman" panose="02020603050405020304" pitchFamily="18" charset="0"/>
                <a:ea typeface="楷体_GB2312" pitchFamily="49" charset="-122"/>
              </a:rPr>
              <a:t>Program</a:t>
            </a:r>
            <a:r>
              <a:rPr lang="zh-CN" altLang="en-US" sz="2400" b="1" dirty="0">
                <a:solidFill>
                  <a:srgbClr val="000000"/>
                </a:solidFill>
                <a:latin typeface="Times New Roman" panose="02020603050405020304" pitchFamily="18" charset="0"/>
                <a:ea typeface="楷体_GB2312" pitchFamily="49" charset="-122"/>
              </a:rPr>
              <a:t>），将基于</a:t>
            </a:r>
            <a:r>
              <a:rPr lang="en-US" altLang="zh-CN" sz="2400" b="1" dirty="0">
                <a:solidFill>
                  <a:srgbClr val="000000"/>
                </a:solidFill>
                <a:latin typeface="Times New Roman" panose="02020603050405020304" pitchFamily="18" charset="0"/>
                <a:ea typeface="楷体_GB2312" pitchFamily="49" charset="-122"/>
              </a:rPr>
              <a:t>SRAM</a:t>
            </a:r>
            <a:r>
              <a:rPr lang="zh-CN" altLang="en-US" sz="2400" b="1" dirty="0">
                <a:solidFill>
                  <a:srgbClr val="000000"/>
                </a:solidFill>
                <a:latin typeface="Times New Roman" panose="02020603050405020304" pitchFamily="18" charset="0"/>
                <a:ea typeface="楷体_GB2312" pitchFamily="49" charset="-122"/>
              </a:rPr>
              <a:t>工艺结构的</a:t>
            </a:r>
            <a:r>
              <a:rPr lang="en-US" altLang="zh-CN" sz="2400" b="1" dirty="0">
                <a:solidFill>
                  <a:srgbClr val="000000"/>
                </a:solidFill>
                <a:latin typeface="Times New Roman" panose="02020603050405020304" pitchFamily="18" charset="0"/>
                <a:ea typeface="楷体_GB2312" pitchFamily="49" charset="-122"/>
              </a:rPr>
              <a:t>PLD</a:t>
            </a:r>
            <a:r>
              <a:rPr lang="zh-CN" altLang="en-US" sz="2400" b="1" dirty="0">
                <a:solidFill>
                  <a:srgbClr val="000000"/>
                </a:solidFill>
                <a:latin typeface="Times New Roman" panose="02020603050405020304" pitchFamily="18" charset="0"/>
                <a:ea typeface="楷体_GB2312" pitchFamily="49" charset="-122"/>
              </a:rPr>
              <a:t>器件的下载称为配置（</a:t>
            </a:r>
            <a:r>
              <a:rPr lang="en-US" altLang="zh-CN" sz="2400" b="1" i="1" dirty="0">
                <a:solidFill>
                  <a:srgbClr val="000000"/>
                </a:solidFill>
                <a:latin typeface="Times New Roman" panose="02020603050405020304" pitchFamily="18" charset="0"/>
                <a:ea typeface="楷体_GB2312" pitchFamily="49" charset="-122"/>
              </a:rPr>
              <a:t>Configure</a:t>
            </a:r>
            <a:r>
              <a:rPr lang="zh-CN" altLang="en-US" sz="2400" b="1" dirty="0">
                <a:solidFill>
                  <a:srgbClr val="000000"/>
                </a:solidFill>
                <a:latin typeface="Times New Roman" panose="02020603050405020304" pitchFamily="18" charset="0"/>
                <a:ea typeface="楷体_GB2312" pitchFamily="49" charset="-122"/>
              </a:rPr>
              <a:t>）。</a:t>
            </a:r>
            <a:endParaRPr lang="zh-CN" altLang="en-US" sz="2400" b="1" dirty="0">
              <a:solidFill>
                <a:srgbClr val="000000"/>
              </a:solidFill>
              <a:latin typeface="Times New Roman" panose="02020603050405020304" pitchFamily="18" charset="0"/>
              <a:ea typeface="楷体_GB2312" pitchFamily="49" charset="-122"/>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5892"/>
                                        </p:tgtEl>
                                        <p:attrNameLst>
                                          <p:attrName>style.visibility</p:attrName>
                                        </p:attrNameLst>
                                      </p:cBhvr>
                                      <p:to>
                                        <p:strVal val="visible"/>
                                      </p:to>
                                    </p:set>
                                    <p:animEffect transition="in" filter="checkerboard(across)">
                                      <p:cBhvr>
                                        <p:cTn id="7" dur="500"/>
                                        <p:tgtEl>
                                          <p:spTgt spid="16589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65895"/>
                                        </p:tgtEl>
                                        <p:attrNameLst>
                                          <p:attrName>style.visibility</p:attrName>
                                        </p:attrNameLst>
                                      </p:cBhvr>
                                      <p:to>
                                        <p:strVal val="visible"/>
                                      </p:to>
                                    </p:set>
                                    <p:animEffect transition="in" filter="box(in)">
                                      <p:cBhvr>
                                        <p:cTn id="12" dur="500"/>
                                        <p:tgtEl>
                                          <p:spTgt spid="1658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892" grpId="0" bldLvl="0" animBg="1"/>
      <p:bldP spid="16589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4197" name="Rectangle 5"/>
          <p:cNvSpPr>
            <a:spLocks noGrp="1" noRot="1" noChangeArrowheads="1"/>
          </p:cNvSpPr>
          <p:nvPr>
            <p:ph type="title"/>
          </p:nvPr>
        </p:nvSpPr>
        <p:spPr>
          <a:xfrm>
            <a:off x="436563" y="620713"/>
            <a:ext cx="7632700" cy="576263"/>
          </a:xfrm>
        </p:spPr>
        <p:txBody>
          <a:bodyPr vert="horz" wrap="square" lIns="91440" tIns="45720" rIns="91440" bIns="45720" numCol="1" rtlCol="0" anchor="ctr" anchorCtr="0" compatLnSpc="1">
            <a:noAutofit/>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rPr>
              <a:t>常用的 </a:t>
            </a:r>
            <a:r>
              <a:rPr kumimoji="0" lang="en-US" altLang="zh-CN" sz="4000" b="1" i="0" u="none" strike="noStrike" kern="1200" cap="none" spc="0" normalizeH="0" baseline="0" noProof="0" dirty="0" smtClean="0">
                <a:ln>
                  <a:noFill/>
                </a:ln>
                <a:solidFill>
                  <a:schemeClr val="hlink"/>
                </a:solidFill>
                <a:effectLst/>
                <a:uLnTx/>
                <a:uFillTx/>
                <a:latin typeface="+mn-ea"/>
                <a:ea typeface="+mn-ea"/>
                <a:cs typeface="+mj-cs"/>
              </a:rPr>
              <a:t>EDA </a:t>
            </a:r>
            <a:r>
              <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rPr>
              <a:t>设计工具</a:t>
            </a:r>
            <a:endParaRPr kumimoji="0" lang="zh-CN" altLang="en-US" sz="4000" b="1" i="0" u="none" strike="noStrike" kern="1200" cap="none" spc="0" normalizeH="0" baseline="0" noProof="0" dirty="0" smtClean="0">
              <a:ln>
                <a:noFill/>
              </a:ln>
              <a:solidFill>
                <a:schemeClr val="hlink"/>
              </a:solidFill>
              <a:effectLst/>
              <a:uLnTx/>
              <a:uFillTx/>
              <a:latin typeface="+mn-ea"/>
              <a:ea typeface="+mn-ea"/>
              <a:cs typeface="+mj-cs"/>
            </a:endParaRPr>
          </a:p>
        </p:txBody>
      </p:sp>
      <p:sp>
        <p:nvSpPr>
          <p:cNvPr id="264195" name="Rectangle 3"/>
          <p:cNvSpPr>
            <a:spLocks noGrp="1" noRot="1" noChangeArrowheads="1"/>
          </p:cNvSpPr>
          <p:nvPr>
            <p:ph idx="1"/>
          </p:nvPr>
        </p:nvSpPr>
        <p:spPr>
          <a:xfrm>
            <a:off x="1258888" y="1916113"/>
            <a:ext cx="6427788" cy="1990725"/>
          </a:xfrm>
          <a:solidFill>
            <a:schemeClr val="accent5">
              <a:lumMod val="20000"/>
              <a:lumOff val="80000"/>
            </a:schemeClr>
          </a:solidFill>
          <a:ln w="31750">
            <a:solidFill>
              <a:schemeClr val="tx1"/>
            </a:solidFill>
            <a:miter lim="800000"/>
          </a:ln>
        </p:spPr>
        <p:txBody>
          <a:bodyPr vert="horz" wrap="square" lIns="91440" tIns="45720" rIns="91440" bIns="45720" numCol="1" rtlCol="0" anchor="t" anchorCtr="0" compatLnSpc="1">
            <a:spAutoFit/>
          </a:bodyPr>
          <a:lstStyle/>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集成开发工具</a:t>
            </a:r>
            <a:endParaRPr kumimoji="0"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逻辑综合器</a:t>
            </a:r>
            <a:endParaRPr kumimoji="0"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a:p>
            <a:pPr marL="171450" marR="0" lvl="0" indent="-171450" algn="l" defTabSz="685800" rtl="0" eaLnBrk="1" fontAlgn="auto" latinLnBrk="0" hangingPunct="1">
              <a:lnSpc>
                <a:spcPct val="90000"/>
              </a:lnSpc>
              <a:spcBef>
                <a:spcPts val="750"/>
              </a:spcBef>
              <a:spcAft>
                <a:spcPts val="0"/>
              </a:spcAft>
              <a:buClrTx/>
              <a:buSzTx/>
              <a:buFont typeface="Arial" panose="020B0604020202020204" pitchFamily="34" charset="0"/>
              <a:buChar char="•"/>
              <a:defRPr/>
            </a:pPr>
            <a:r>
              <a:rPr kumimoji="0"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rPr>
              <a:t>仿真工具</a:t>
            </a:r>
            <a:endParaRPr kumimoji="0" lang="zh-CN" altLang="en-US" sz="3600" b="1" i="0" u="none" strike="noStrike" kern="1200" cap="none" spc="0" normalizeH="0" baseline="0" noProof="0" dirty="0" smtClean="0">
              <a:ln>
                <a:noFill/>
              </a:ln>
              <a:solidFill>
                <a:srgbClr val="000000"/>
              </a:solidFill>
              <a:effectLst/>
              <a:uLnTx/>
              <a:uFillTx/>
              <a:latin typeface="Times New Roman" panose="02020603050405020304" pitchFamily="18" charset="0"/>
              <a:ea typeface="楷体_GB2312" pitchFamily="49" charset="-122"/>
              <a:cs typeface="+mn-cs"/>
            </a:endParaRPr>
          </a:p>
        </p:txBody>
      </p:sp>
      <p:sp>
        <p:nvSpPr>
          <p:cNvPr id="82948"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Tree>
  </p:cSld>
  <p:clrMapOvr>
    <a:masterClrMapping/>
  </p:clrMapOvr>
  <p:transition spd="slow">
    <p:pull dir="ru"/>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4" name="Rectangle 2"/>
          <p:cNvSpPr>
            <a:spLocks noGrp="1" noRot="1" noChangeArrowheads="1"/>
          </p:cNvSpPr>
          <p:nvPr>
            <p:ph type="title"/>
          </p:nvPr>
        </p:nvSpPr>
        <p:spPr>
          <a:xfrm>
            <a:off x="436563" y="620713"/>
            <a:ext cx="7632700" cy="576263"/>
          </a:xfrm>
        </p:spPr>
        <p:txBody>
          <a:bodyPr vert="horz" wrap="square" lIns="91440" tIns="45720" rIns="91440" bIns="45720" numCol="1" rtlCol="0" anchor="ctr" anchorCtr="0" compatLnSpc="1">
            <a:normAutofit fontScale="90000"/>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smtClean="0">
                <a:ln>
                  <a:noFill/>
                </a:ln>
                <a:solidFill>
                  <a:schemeClr val="hlink"/>
                </a:solidFill>
                <a:effectLst/>
                <a:uLnTx/>
                <a:uFillTx/>
                <a:latin typeface="Times New Roman" panose="02020603050405020304" pitchFamily="18" charset="0"/>
                <a:ea typeface="华文行楷" panose="02010800040101010101" pitchFamily="2" charset="-122"/>
                <a:cs typeface="+mj-cs"/>
              </a:rPr>
              <a:t>集成</a:t>
            </a:r>
            <a:r>
              <a:rPr kumimoji="0" lang="en-US" altLang="zh-CN" sz="3600" b="1" i="0" u="none" strike="noStrike" kern="1200" cap="none" spc="0" normalizeH="0" baseline="0" noProof="0" smtClean="0">
                <a:ln>
                  <a:noFill/>
                </a:ln>
                <a:solidFill>
                  <a:schemeClr val="hlink"/>
                </a:solidFill>
                <a:effectLst/>
                <a:uLnTx/>
                <a:uFillTx/>
                <a:latin typeface="Comic Sans MS" panose="030F0702030302020204" pitchFamily="66" charset="0"/>
                <a:ea typeface="华文行楷" panose="02010800040101010101" pitchFamily="2" charset="-122"/>
                <a:cs typeface="+mj-cs"/>
              </a:rPr>
              <a:t>CPLD/FPGA </a:t>
            </a:r>
            <a:r>
              <a:rPr kumimoji="0" lang="zh-CN" altLang="en-US" sz="3600" b="1" i="0" u="none" strike="noStrike" kern="1200" cap="none" spc="0" normalizeH="0" baseline="0" noProof="0" smtClean="0">
                <a:ln>
                  <a:noFill/>
                </a:ln>
                <a:solidFill>
                  <a:schemeClr val="hlink"/>
                </a:solidFill>
                <a:effectLst/>
                <a:uLnTx/>
                <a:uFillTx/>
                <a:latin typeface="Comic Sans MS" panose="030F0702030302020204" pitchFamily="66" charset="0"/>
                <a:ea typeface="华文行楷" panose="02010800040101010101" pitchFamily="2" charset="-122"/>
                <a:cs typeface="+mj-cs"/>
              </a:rPr>
              <a:t>开发工具</a:t>
            </a:r>
            <a:endParaRPr kumimoji="0" lang="zh-CN" altLang="en-US" sz="3600" b="1" i="0" u="none" strike="noStrike" kern="1200" cap="none" spc="0" normalizeH="0" baseline="0" noProof="0" smtClean="0">
              <a:ln>
                <a:noFill/>
              </a:ln>
              <a:solidFill>
                <a:schemeClr val="hlink"/>
              </a:solidFill>
              <a:effectLst/>
              <a:uLnTx/>
              <a:uFillTx/>
              <a:latin typeface="Comic Sans MS" panose="030F0702030302020204" pitchFamily="66" charset="0"/>
              <a:ea typeface="华文行楷" panose="02010800040101010101" pitchFamily="2" charset="-122"/>
              <a:cs typeface="+mj-cs"/>
            </a:endParaRPr>
          </a:p>
        </p:txBody>
      </p:sp>
      <p:sp>
        <p:nvSpPr>
          <p:cNvPr id="83971"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pic>
        <p:nvPicPr>
          <p:cNvPr id="83972" name="Picture 6" descr="jg1"/>
          <p:cNvPicPr>
            <a:picLocks noChangeAspect="1"/>
          </p:cNvPicPr>
          <p:nvPr/>
        </p:nvPicPr>
        <p:blipFill>
          <a:blip r:embed="rId1"/>
          <a:stretch>
            <a:fillRect/>
          </a:stretch>
        </p:blipFill>
        <p:spPr>
          <a:xfrm>
            <a:off x="539750" y="1484313"/>
            <a:ext cx="8177213" cy="4891087"/>
          </a:xfrm>
          <a:prstGeom prst="rect">
            <a:avLst/>
          </a:prstGeom>
          <a:noFill/>
          <a:ln w="9525">
            <a:noFill/>
          </a:ln>
        </p:spPr>
      </p:pic>
    </p:spTree>
  </p:cSld>
  <p:clrMapOvr>
    <a:masterClrMapping/>
  </p:clrMapOvr>
  <p:transition spd="slow">
    <p:pull dir="r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sp>
        <p:nvSpPr>
          <p:cNvPr id="167944" name="Rectangle 8"/>
          <p:cNvSpPr>
            <a:spLocks noGrp="1" noRot="1" noChangeArrowheads="1"/>
          </p:cNvSpPr>
          <p:nvPr>
            <p:ph type="title"/>
          </p:nvPr>
        </p:nvSpPr>
        <p:spPr>
          <a:xfrm>
            <a:off x="436563" y="620713"/>
            <a:ext cx="7632700" cy="576263"/>
          </a:xfrm>
        </p:spPr>
        <p:txBody>
          <a:bodyPr vert="horz" wrap="square" lIns="91440" tIns="45720" rIns="91440" bIns="45720" numCol="1" rtlCol="0" anchor="ctr" anchorCtr="0" compatLnSpc="1">
            <a:normAutofit fontScale="90000"/>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smtClean="0">
                <a:ln>
                  <a:noFill/>
                </a:ln>
                <a:solidFill>
                  <a:schemeClr val="hlink"/>
                </a:solidFill>
                <a:effectLst/>
                <a:uLnTx/>
                <a:uFillTx/>
                <a:latin typeface="Times New Roman" panose="02020603050405020304" pitchFamily="18" charset="0"/>
                <a:ea typeface="华文行楷" panose="02010800040101010101" pitchFamily="2" charset="-122"/>
                <a:cs typeface="+mj-cs"/>
              </a:rPr>
              <a:t>逻辑综合器</a:t>
            </a:r>
            <a:endParaRPr kumimoji="0" lang="zh-CN" altLang="en-US" sz="3600" b="1" i="0" u="none" strike="noStrike" kern="1200" cap="none" spc="0" normalizeH="0" baseline="0" noProof="0" smtClean="0">
              <a:ln>
                <a:noFill/>
              </a:ln>
              <a:solidFill>
                <a:schemeClr val="hlink"/>
              </a:solidFill>
              <a:effectLst/>
              <a:uLnTx/>
              <a:uFillTx/>
              <a:latin typeface="Comic Sans MS" panose="030F0702030302020204" pitchFamily="66" charset="0"/>
              <a:ea typeface="华文行楷" panose="02010800040101010101" pitchFamily="2" charset="-122"/>
              <a:cs typeface="+mj-cs"/>
            </a:endParaRPr>
          </a:p>
        </p:txBody>
      </p:sp>
      <p:pic>
        <p:nvPicPr>
          <p:cNvPr id="84996" name="Picture 10" descr="jg2"/>
          <p:cNvPicPr>
            <a:picLocks noChangeAspect="1"/>
          </p:cNvPicPr>
          <p:nvPr/>
        </p:nvPicPr>
        <p:blipFill>
          <a:blip r:embed="rId1"/>
          <a:stretch>
            <a:fillRect/>
          </a:stretch>
        </p:blipFill>
        <p:spPr>
          <a:xfrm>
            <a:off x="179388" y="1412875"/>
            <a:ext cx="8661400" cy="4319588"/>
          </a:xfrm>
          <a:prstGeom prst="rect">
            <a:avLst/>
          </a:prstGeom>
          <a:noFill/>
          <a:ln w="9525">
            <a:noFill/>
          </a:ln>
        </p:spPr>
      </p:pic>
    </p:spTree>
  </p:cSld>
  <p:clrMapOvr>
    <a:masterClrMapping/>
  </p:clrMapOvr>
  <p:transition spd="slow">
    <p:pull dir="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2" name="Rectangle 2"/>
          <p:cNvSpPr>
            <a:spLocks noGrp="1" noRot="1" noChangeArrowheads="1"/>
          </p:cNvSpPr>
          <p:nvPr>
            <p:ph type="title"/>
          </p:nvPr>
        </p:nvSpPr>
        <p:spPr>
          <a:xfrm>
            <a:off x="411163" y="644525"/>
            <a:ext cx="6337300" cy="576263"/>
          </a:xfrm>
        </p:spPr>
        <p:txBody>
          <a:bodyPr vert="horz" wrap="square" lIns="91440" tIns="45720" rIns="91440" bIns="45720" numCol="1" rtlCol="0" anchor="ctr" anchorCtr="0" compatLnSpc="1">
            <a:normAutofit fontScale="90000"/>
          </a:bodyPr>
          <a:lstStyle/>
          <a:p>
            <a:pPr marL="0" marR="0" lvl="0" indent="0" algn="l" defTabSz="685800" rtl="0" eaLnBrk="1" fontAlgn="auto" latinLnBrk="0" hangingPunct="1">
              <a:lnSpc>
                <a:spcPct val="90000"/>
              </a:lnSpc>
              <a:spcBef>
                <a:spcPct val="0"/>
              </a:spcBef>
              <a:spcAft>
                <a:spcPts val="0"/>
              </a:spcAft>
              <a:buClrTx/>
              <a:buSzTx/>
              <a:buFontTx/>
              <a:buNone/>
              <a:defRPr/>
            </a:pPr>
            <a:r>
              <a:rPr kumimoji="0" lang="zh-CN" altLang="en-US" sz="3600" b="1" i="0" u="none" strike="noStrike" kern="1200" cap="none" spc="0" normalizeH="0" baseline="0" noProof="0" smtClean="0">
                <a:ln>
                  <a:noFill/>
                </a:ln>
                <a:solidFill>
                  <a:schemeClr val="hlink"/>
                </a:solidFill>
                <a:effectLst/>
                <a:uLnTx/>
                <a:uFillTx/>
                <a:latin typeface="Times New Roman" panose="02020603050405020304" pitchFamily="18" charset="0"/>
                <a:ea typeface="华文行楷" panose="02010800040101010101" pitchFamily="2" charset="-122"/>
                <a:cs typeface="+mj-cs"/>
              </a:rPr>
              <a:t>仿真</a:t>
            </a:r>
            <a:r>
              <a:rPr kumimoji="0" lang="zh-CN" altLang="en-US" sz="3600" b="1" i="0" u="none" strike="noStrike" kern="1200" cap="none" spc="0" normalizeH="0" baseline="0" noProof="0" smtClean="0">
                <a:ln>
                  <a:noFill/>
                </a:ln>
                <a:solidFill>
                  <a:schemeClr val="hlink"/>
                </a:solidFill>
                <a:effectLst/>
                <a:uLnTx/>
                <a:uFillTx/>
                <a:latin typeface="Comic Sans MS" panose="030F0702030302020204" pitchFamily="66" charset="0"/>
                <a:ea typeface="华文行楷" panose="02010800040101010101" pitchFamily="2" charset="-122"/>
                <a:cs typeface="+mj-cs"/>
              </a:rPr>
              <a:t>工具</a:t>
            </a:r>
            <a:endParaRPr kumimoji="0" lang="zh-CN" altLang="en-US" sz="3600" b="1" i="0" u="none" strike="noStrike" kern="1200" cap="none" spc="0" normalizeH="0" baseline="0" noProof="0" smtClean="0">
              <a:ln>
                <a:noFill/>
              </a:ln>
              <a:solidFill>
                <a:schemeClr val="hlink"/>
              </a:solidFill>
              <a:effectLst/>
              <a:uLnTx/>
              <a:uFillTx/>
              <a:latin typeface="Comic Sans MS" panose="030F0702030302020204" pitchFamily="66" charset="0"/>
              <a:ea typeface="华文行楷" panose="02010800040101010101" pitchFamily="2" charset="-122"/>
              <a:cs typeface="+mj-cs"/>
            </a:endParaRPr>
          </a:p>
        </p:txBody>
      </p:sp>
      <p:sp>
        <p:nvSpPr>
          <p:cNvPr id="86019" name="Line 4"/>
          <p:cNvSpPr/>
          <p:nvPr/>
        </p:nvSpPr>
        <p:spPr>
          <a:xfrm flipV="1">
            <a:off x="609600" y="1125538"/>
            <a:ext cx="8534400" cy="17462"/>
          </a:xfrm>
          <a:prstGeom prst="line">
            <a:avLst/>
          </a:prstGeom>
          <a:ln w="25400" cap="flat" cmpd="sng">
            <a:solidFill>
              <a:srgbClr val="969696"/>
            </a:solidFill>
            <a:prstDash val="solid"/>
            <a:headEnd type="none" w="med" len="med"/>
            <a:tailEnd type="none" w="med" len="med"/>
          </a:ln>
        </p:spPr>
      </p:sp>
      <p:pic>
        <p:nvPicPr>
          <p:cNvPr id="86020" name="Picture 5" descr="jg3"/>
          <p:cNvPicPr>
            <a:picLocks noChangeAspect="1"/>
          </p:cNvPicPr>
          <p:nvPr/>
        </p:nvPicPr>
        <p:blipFill>
          <a:blip r:embed="rId1"/>
          <a:stretch>
            <a:fillRect/>
          </a:stretch>
        </p:blipFill>
        <p:spPr>
          <a:xfrm>
            <a:off x="611188" y="1700213"/>
            <a:ext cx="8189912" cy="4705350"/>
          </a:xfrm>
          <a:prstGeom prst="rect">
            <a:avLst/>
          </a:prstGeom>
          <a:noFill/>
          <a:ln w="9525">
            <a:noFill/>
          </a:ln>
        </p:spPr>
      </p:pic>
    </p:spTree>
  </p:cSld>
  <p:clrMapOvr>
    <a:masterClrMapping/>
  </p:clrMapOvr>
  <p:transition spd="slow">
    <p:pull dir="ru"/>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7828</Words>
  <Application>WPS 演示</Application>
  <PresentationFormat>全屏显示(4:3)</PresentationFormat>
  <Paragraphs>768</Paragraphs>
  <Slides>53</Slides>
  <Notes>29</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53</vt:i4>
      </vt:variant>
    </vt:vector>
  </HeadingPairs>
  <TitlesOfParts>
    <vt:vector size="72" baseType="lpstr">
      <vt:lpstr>Arial</vt:lpstr>
      <vt:lpstr>宋体</vt:lpstr>
      <vt:lpstr>Wingdings</vt:lpstr>
      <vt:lpstr>Calibri Light</vt:lpstr>
      <vt:lpstr>Calibri</vt:lpstr>
      <vt:lpstr>楷体_GB2312</vt:lpstr>
      <vt:lpstr>新宋体</vt:lpstr>
      <vt:lpstr>Comic Sans MS</vt:lpstr>
      <vt:lpstr>Times New Roman</vt:lpstr>
      <vt:lpstr>隶书</vt:lpstr>
      <vt:lpstr>华文新魏</vt:lpstr>
      <vt:lpstr>仿宋_GB2312</vt:lpstr>
      <vt:lpstr>仿宋</vt:lpstr>
      <vt:lpstr>Arial Black</vt:lpstr>
      <vt:lpstr>华文行楷</vt:lpstr>
      <vt:lpstr>黑体</vt:lpstr>
      <vt:lpstr>微软雅黑</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Thinking in c++</dc:title>
  <dc:creator>yhj</dc:creator>
  <cp:lastModifiedBy>wcz</cp:lastModifiedBy>
  <cp:revision>117</cp:revision>
  <dcterms:created xsi:type="dcterms:W3CDTF">2006-12-26T13:21:35Z</dcterms:created>
  <dcterms:modified xsi:type="dcterms:W3CDTF">2025-09-23T08:31:37Z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717E1B0C56A34BB29128C62D7100F396_12</vt:lpwstr>
  </property>
  <property fmtid="{D5CDD505-2E9C-101B-9397-08002B2CF9AE}" pid="3" name="KSOProductBuildVer">
    <vt:lpwstr>2052-12.1.0.21915</vt:lpwstr>
  </property>
</Properties>
</file>