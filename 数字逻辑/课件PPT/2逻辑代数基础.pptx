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419" r:id="rId3"/>
    <p:sldId id="420" r:id="rId4"/>
    <p:sldId id="421" r:id="rId5"/>
    <p:sldId id="422" r:id="rId6"/>
    <p:sldId id="428" r:id="rId7"/>
    <p:sldId id="423" r:id="rId8"/>
    <p:sldId id="424" r:id="rId9"/>
    <p:sldId id="425" r:id="rId10"/>
    <p:sldId id="426" r:id="rId11"/>
    <p:sldId id="427" r:id="rId12"/>
    <p:sldId id="351" r:id="rId13"/>
    <p:sldId id="379" r:id="rId14"/>
    <p:sldId id="380" r:id="rId16"/>
    <p:sldId id="381" r:id="rId17"/>
    <p:sldId id="382" r:id="rId18"/>
    <p:sldId id="383" r:id="rId19"/>
    <p:sldId id="384" r:id="rId20"/>
    <p:sldId id="385" r:id="rId21"/>
    <p:sldId id="386" r:id="rId22"/>
    <p:sldId id="387" r:id="rId23"/>
    <p:sldId id="388" r:id="rId24"/>
    <p:sldId id="389" r:id="rId25"/>
    <p:sldId id="443" r:id="rId26"/>
    <p:sldId id="444" r:id="rId27"/>
    <p:sldId id="390" r:id="rId28"/>
    <p:sldId id="391" r:id="rId29"/>
    <p:sldId id="392" r:id="rId30"/>
    <p:sldId id="336" r:id="rId31"/>
    <p:sldId id="290" r:id="rId32"/>
    <p:sldId id="291" r:id="rId33"/>
    <p:sldId id="292" r:id="rId34"/>
    <p:sldId id="298" r:id="rId35"/>
    <p:sldId id="293" r:id="rId36"/>
    <p:sldId id="294" r:id="rId37"/>
    <p:sldId id="399" r:id="rId38"/>
    <p:sldId id="400" r:id="rId39"/>
    <p:sldId id="401" r:id="rId40"/>
    <p:sldId id="299" r:id="rId41"/>
    <p:sldId id="398" r:id="rId42"/>
    <p:sldId id="300" r:id="rId43"/>
    <p:sldId id="407" r:id="rId44"/>
    <p:sldId id="408" r:id="rId45"/>
    <p:sldId id="409" r:id="rId46"/>
    <p:sldId id="412" r:id="rId47"/>
    <p:sldId id="413" r:id="rId48"/>
    <p:sldId id="418" r:id="rId49"/>
    <p:sldId id="414" r:id="rId50"/>
    <p:sldId id="415" r:id="rId51"/>
    <p:sldId id="416" r:id="rId52"/>
    <p:sldId id="417" r:id="rId53"/>
    <p:sldId id="393" r:id="rId54"/>
    <p:sldId id="402" r:id="rId55"/>
    <p:sldId id="403" r:id="rId56"/>
    <p:sldId id="405" r:id="rId57"/>
    <p:sldId id="406" r:id="rId58"/>
    <p:sldId id="429" r:id="rId59"/>
    <p:sldId id="404" r:id="rId60"/>
    <p:sldId id="310" r:id="rId61"/>
    <p:sldId id="445" r:id="rId62"/>
    <p:sldId id="311" r:id="rId63"/>
    <p:sldId id="350" r:id="rId64"/>
    <p:sldId id="436" r:id="rId65"/>
    <p:sldId id="437" r:id="rId66"/>
    <p:sldId id="438" r:id="rId67"/>
    <p:sldId id="439" r:id="rId68"/>
    <p:sldId id="440" r:id="rId69"/>
    <p:sldId id="441" r:id="rId70"/>
    <p:sldId id="442" r:id="rId71"/>
    <p:sldId id="313" r:id="rId72"/>
    <p:sldId id="314" r:id="rId73"/>
    <p:sldId id="315" r:id="rId74"/>
    <p:sldId id="316" r:id="rId75"/>
    <p:sldId id="317" r:id="rId76"/>
    <p:sldId id="318" r:id="rId77"/>
    <p:sldId id="339" r:id="rId78"/>
    <p:sldId id="319" r:id="rId79"/>
    <p:sldId id="322" r:id="rId80"/>
    <p:sldId id="323" r:id="rId81"/>
    <p:sldId id="334" r:id="rId82"/>
    <p:sldId id="324" r:id="rId83"/>
    <p:sldId id="325" r:id="rId84"/>
    <p:sldId id="326" r:id="rId85"/>
    <p:sldId id="327" r:id="rId86"/>
    <p:sldId id="328" r:id="rId87"/>
    <p:sldId id="337" r:id="rId88"/>
    <p:sldId id="329" r:id="rId89"/>
    <p:sldId id="330" r:id="rId90"/>
    <p:sldId id="340" r:id="rId91"/>
    <p:sldId id="331" r:id="rId92"/>
    <p:sldId id="338" r:id="rId93"/>
    <p:sldId id="396" r:id="rId94"/>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FF0000"/>
    <a:srgbClr val="00FFCC"/>
    <a:srgbClr val="0000CC"/>
    <a:srgbClr val="CC0099"/>
    <a:srgbClr val="FFFFCC"/>
    <a:srgbClr val="990000"/>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p:restoredTop sz="99686"/>
  </p:normalViewPr>
  <p:slideViewPr>
    <p:cSldViewPr showGuides="1">
      <p:cViewPr varScale="1">
        <p:scale>
          <a:sx n="92" d="100"/>
          <a:sy n="92" d="100"/>
        </p:scale>
        <p:origin x="810"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7" Type="http://schemas.openxmlformats.org/officeDocument/2006/relationships/tableStyles" Target="tableStyles.xml"/><Relationship Id="rId96" Type="http://schemas.openxmlformats.org/officeDocument/2006/relationships/viewProps" Target="viewProps.xml"/><Relationship Id="rId95" Type="http://schemas.openxmlformats.org/officeDocument/2006/relationships/presProps" Target="presProps.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notesMaster" Target="notesMasters/notesMaster1.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0.vml.rels><?xml version="1.0" encoding="UTF-8" standalone="yes"?>
<Relationships xmlns="http://schemas.openxmlformats.org/package/2006/relationships"><Relationship Id="rId5" Type="http://schemas.openxmlformats.org/officeDocument/2006/relationships/image" Target="../media/image28.wmf"/><Relationship Id="rId4" Type="http://schemas.openxmlformats.org/officeDocument/2006/relationships/image" Target="../media/image27.wmf"/><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wmf"/></Relationships>
</file>

<file path=ppt/drawings/_rels/vmlDrawing12.vml.rels><?xml version="1.0" encoding="UTF-8" standalone="yes"?>
<Relationships xmlns="http://schemas.openxmlformats.org/package/2006/relationships"><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44.wmf"/><Relationship Id="rId7" Type="http://schemas.openxmlformats.org/officeDocument/2006/relationships/image" Target="../media/image43.wmf"/><Relationship Id="rId6" Type="http://schemas.openxmlformats.org/officeDocument/2006/relationships/image" Target="../media/image42.wmf"/><Relationship Id="rId5" Type="http://schemas.openxmlformats.org/officeDocument/2006/relationships/image" Target="../media/image41.png"/><Relationship Id="rId4" Type="http://schemas.openxmlformats.org/officeDocument/2006/relationships/image" Target="../media/image40.png"/><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image" Target="../media/image37.png"/></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image" Target="../media/image45.png"/></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16.vml.rels><?xml version="1.0" encoding="UTF-8" standalone="yes"?>
<Relationships xmlns="http://schemas.openxmlformats.org/package/2006/relationships"><Relationship Id="rId9" Type="http://schemas.openxmlformats.org/officeDocument/2006/relationships/image" Target="../media/image56.wmf"/><Relationship Id="rId8" Type="http://schemas.openxmlformats.org/officeDocument/2006/relationships/image" Target="../media/image55.wmf"/><Relationship Id="rId7" Type="http://schemas.openxmlformats.org/officeDocument/2006/relationships/image" Target="../media/image54.wmf"/><Relationship Id="rId6" Type="http://schemas.openxmlformats.org/officeDocument/2006/relationships/image" Target="../media/image53.wmf"/><Relationship Id="rId5" Type="http://schemas.openxmlformats.org/officeDocument/2006/relationships/image" Target="../media/image52.wmf"/><Relationship Id="rId4" Type="http://schemas.openxmlformats.org/officeDocument/2006/relationships/image" Target="../media/image51.wmf"/><Relationship Id="rId3" Type="http://schemas.openxmlformats.org/officeDocument/2006/relationships/image" Target="../media/image50.wmf"/><Relationship Id="rId26" Type="http://schemas.openxmlformats.org/officeDocument/2006/relationships/image" Target="../media/image73.wmf"/><Relationship Id="rId25" Type="http://schemas.openxmlformats.org/officeDocument/2006/relationships/image" Target="../media/image72.wmf"/><Relationship Id="rId24" Type="http://schemas.openxmlformats.org/officeDocument/2006/relationships/image" Target="../media/image71.wmf"/><Relationship Id="rId23" Type="http://schemas.openxmlformats.org/officeDocument/2006/relationships/image" Target="../media/image70.wmf"/><Relationship Id="rId22" Type="http://schemas.openxmlformats.org/officeDocument/2006/relationships/image" Target="../media/image69.wmf"/><Relationship Id="rId21" Type="http://schemas.openxmlformats.org/officeDocument/2006/relationships/image" Target="../media/image68.wmf"/><Relationship Id="rId20" Type="http://schemas.openxmlformats.org/officeDocument/2006/relationships/image" Target="../media/image67.wmf"/><Relationship Id="rId2" Type="http://schemas.openxmlformats.org/officeDocument/2006/relationships/image" Target="../media/image49.wmf"/><Relationship Id="rId19" Type="http://schemas.openxmlformats.org/officeDocument/2006/relationships/image" Target="../media/image66.wmf"/><Relationship Id="rId18" Type="http://schemas.openxmlformats.org/officeDocument/2006/relationships/image" Target="../media/image65.wmf"/><Relationship Id="rId17" Type="http://schemas.openxmlformats.org/officeDocument/2006/relationships/image" Target="../media/image64.wmf"/><Relationship Id="rId16" Type="http://schemas.openxmlformats.org/officeDocument/2006/relationships/image" Target="../media/image63.wmf"/><Relationship Id="rId15" Type="http://schemas.openxmlformats.org/officeDocument/2006/relationships/image" Target="../media/image62.wmf"/><Relationship Id="rId14" Type="http://schemas.openxmlformats.org/officeDocument/2006/relationships/image" Target="../media/image61.wmf"/><Relationship Id="rId13" Type="http://schemas.openxmlformats.org/officeDocument/2006/relationships/image" Target="../media/image60.wmf"/><Relationship Id="rId12" Type="http://schemas.openxmlformats.org/officeDocument/2006/relationships/image" Target="../media/image59.wmf"/><Relationship Id="rId11" Type="http://schemas.openxmlformats.org/officeDocument/2006/relationships/image" Target="../media/image58.wmf"/><Relationship Id="rId10" Type="http://schemas.openxmlformats.org/officeDocument/2006/relationships/image" Target="../media/image57.wmf"/><Relationship Id="rId1" Type="http://schemas.openxmlformats.org/officeDocument/2006/relationships/image" Target="../media/image48.wmf"/></Relationships>
</file>

<file path=ppt/drawings/_rels/vmlDrawing17.vml.rels><?xml version="1.0" encoding="UTF-8" standalone="yes"?>
<Relationships xmlns="http://schemas.openxmlformats.org/package/2006/relationships"><Relationship Id="rId9" Type="http://schemas.openxmlformats.org/officeDocument/2006/relationships/image" Target="../media/image82.wmf"/><Relationship Id="rId8" Type="http://schemas.openxmlformats.org/officeDocument/2006/relationships/image" Target="../media/image81.wmf"/><Relationship Id="rId7" Type="http://schemas.openxmlformats.org/officeDocument/2006/relationships/image" Target="../media/image80.wmf"/><Relationship Id="rId6" Type="http://schemas.openxmlformats.org/officeDocument/2006/relationships/image" Target="../media/image79.wmf"/><Relationship Id="rId5" Type="http://schemas.openxmlformats.org/officeDocument/2006/relationships/image" Target="../media/image78.wmf"/><Relationship Id="rId4" Type="http://schemas.openxmlformats.org/officeDocument/2006/relationships/image" Target="../media/image77.wmf"/><Relationship Id="rId3" Type="http://schemas.openxmlformats.org/officeDocument/2006/relationships/image" Target="../media/image76.wmf"/><Relationship Id="rId2" Type="http://schemas.openxmlformats.org/officeDocument/2006/relationships/image" Target="../media/image75.wmf"/><Relationship Id="rId10" Type="http://schemas.openxmlformats.org/officeDocument/2006/relationships/image" Target="../media/image83.wmf"/><Relationship Id="rId1" Type="http://schemas.openxmlformats.org/officeDocument/2006/relationships/image" Target="../media/image74.wmf"/></Relationships>
</file>

<file path=ppt/drawings/_rels/vmlDrawing18.vml.rels><?xml version="1.0" encoding="UTF-8" standalone="yes"?>
<Relationships xmlns="http://schemas.openxmlformats.org/package/2006/relationships"><Relationship Id="rId6" Type="http://schemas.openxmlformats.org/officeDocument/2006/relationships/image" Target="../media/image89.wmf"/><Relationship Id="rId5" Type="http://schemas.openxmlformats.org/officeDocument/2006/relationships/image" Target="../media/image88.wmf"/><Relationship Id="rId4" Type="http://schemas.openxmlformats.org/officeDocument/2006/relationships/image" Target="../media/image87.wmf"/><Relationship Id="rId3" Type="http://schemas.openxmlformats.org/officeDocument/2006/relationships/image" Target="../media/image86.wmf"/><Relationship Id="rId2" Type="http://schemas.openxmlformats.org/officeDocument/2006/relationships/image" Target="../media/image85.wmf"/><Relationship Id="rId1" Type="http://schemas.openxmlformats.org/officeDocument/2006/relationships/image" Target="../media/image84.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97.wmf"/><Relationship Id="rId7" Type="http://schemas.openxmlformats.org/officeDocument/2006/relationships/image" Target="../media/image96.wmf"/><Relationship Id="rId6" Type="http://schemas.openxmlformats.org/officeDocument/2006/relationships/image" Target="../media/image95.wmf"/><Relationship Id="rId5" Type="http://schemas.openxmlformats.org/officeDocument/2006/relationships/image" Target="../media/image94.wmf"/><Relationship Id="rId4" Type="http://schemas.openxmlformats.org/officeDocument/2006/relationships/image" Target="../media/image93.wmf"/><Relationship Id="rId3" Type="http://schemas.openxmlformats.org/officeDocument/2006/relationships/image" Target="../media/image92.wmf"/><Relationship Id="rId2" Type="http://schemas.openxmlformats.org/officeDocument/2006/relationships/image" Target="../media/image91.wmf"/><Relationship Id="rId1" Type="http://schemas.openxmlformats.org/officeDocument/2006/relationships/image" Target="../media/image90.wmf"/></Relationships>
</file>

<file path=ppt/drawings/_rels/vmlDrawing20.vml.rels><?xml version="1.0" encoding="UTF-8" standalone="yes"?>
<Relationships xmlns="http://schemas.openxmlformats.org/package/2006/relationships"><Relationship Id="rId9" Type="http://schemas.openxmlformats.org/officeDocument/2006/relationships/image" Target="../media/image106.png"/><Relationship Id="rId8" Type="http://schemas.openxmlformats.org/officeDocument/2006/relationships/image" Target="../media/image105.png"/><Relationship Id="rId7" Type="http://schemas.openxmlformats.org/officeDocument/2006/relationships/image" Target="../media/image104.png"/><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png"/><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image" Target="../media/image98.png"/></Relationships>
</file>

<file path=ppt/drawings/_rels/vmlDrawing21.vml.rels><?xml version="1.0" encoding="UTF-8" standalone="yes"?>
<Relationships xmlns="http://schemas.openxmlformats.org/package/2006/relationships"><Relationship Id="rId9" Type="http://schemas.openxmlformats.org/officeDocument/2006/relationships/image" Target="../media/image115.wmf"/><Relationship Id="rId8" Type="http://schemas.openxmlformats.org/officeDocument/2006/relationships/image" Target="../media/image114.wmf"/><Relationship Id="rId7" Type="http://schemas.openxmlformats.org/officeDocument/2006/relationships/image" Target="../media/image113.wmf"/><Relationship Id="rId6" Type="http://schemas.openxmlformats.org/officeDocument/2006/relationships/image" Target="../media/image112.wmf"/><Relationship Id="rId5" Type="http://schemas.openxmlformats.org/officeDocument/2006/relationships/image" Target="../media/image111.wmf"/><Relationship Id="rId4" Type="http://schemas.openxmlformats.org/officeDocument/2006/relationships/image" Target="../media/image110.wmf"/><Relationship Id="rId3" Type="http://schemas.openxmlformats.org/officeDocument/2006/relationships/image" Target="../media/image109.wmf"/><Relationship Id="rId2" Type="http://schemas.openxmlformats.org/officeDocument/2006/relationships/image" Target="../media/image108.wmf"/><Relationship Id="rId10" Type="http://schemas.openxmlformats.org/officeDocument/2006/relationships/image" Target="../media/image116.wmf"/><Relationship Id="rId1" Type="http://schemas.openxmlformats.org/officeDocument/2006/relationships/image" Target="../media/image107.wmf"/></Relationships>
</file>

<file path=ppt/drawings/_rels/vmlDrawing22.vml.rels><?xml version="1.0" encoding="UTF-8" standalone="yes"?>
<Relationships xmlns="http://schemas.openxmlformats.org/package/2006/relationships"><Relationship Id="rId9" Type="http://schemas.openxmlformats.org/officeDocument/2006/relationships/image" Target="../media/image125.wmf"/><Relationship Id="rId8" Type="http://schemas.openxmlformats.org/officeDocument/2006/relationships/image" Target="../media/image124.wmf"/><Relationship Id="rId7" Type="http://schemas.openxmlformats.org/officeDocument/2006/relationships/image" Target="../media/image123.wmf"/><Relationship Id="rId6" Type="http://schemas.openxmlformats.org/officeDocument/2006/relationships/image" Target="../media/image122.png"/><Relationship Id="rId5" Type="http://schemas.openxmlformats.org/officeDocument/2006/relationships/image" Target="../media/image121.wmf"/><Relationship Id="rId4" Type="http://schemas.openxmlformats.org/officeDocument/2006/relationships/image" Target="../media/image120.wmf"/><Relationship Id="rId3" Type="http://schemas.openxmlformats.org/officeDocument/2006/relationships/image" Target="../media/image119.wmf"/><Relationship Id="rId2" Type="http://schemas.openxmlformats.org/officeDocument/2006/relationships/image" Target="../media/image118.wmf"/><Relationship Id="rId12" Type="http://schemas.openxmlformats.org/officeDocument/2006/relationships/image" Target="../media/image128.png"/><Relationship Id="rId11" Type="http://schemas.openxmlformats.org/officeDocument/2006/relationships/image" Target="../media/image127.png"/><Relationship Id="rId10" Type="http://schemas.openxmlformats.org/officeDocument/2006/relationships/image" Target="../media/image126.png"/><Relationship Id="rId1" Type="http://schemas.openxmlformats.org/officeDocument/2006/relationships/image" Target="../media/image117.wmf"/></Relationships>
</file>

<file path=ppt/drawings/_rels/vmlDrawing23.vml.rels><?xml version="1.0" encoding="UTF-8" standalone="yes"?>
<Relationships xmlns="http://schemas.openxmlformats.org/package/2006/relationships"><Relationship Id="rId6" Type="http://schemas.openxmlformats.org/officeDocument/2006/relationships/image" Target="../media/image134.wmf"/><Relationship Id="rId5" Type="http://schemas.openxmlformats.org/officeDocument/2006/relationships/image" Target="../media/image133.wmf"/><Relationship Id="rId4" Type="http://schemas.openxmlformats.org/officeDocument/2006/relationships/image" Target="../media/image132.wmf"/><Relationship Id="rId3" Type="http://schemas.openxmlformats.org/officeDocument/2006/relationships/image" Target="../media/image131.wmf"/><Relationship Id="rId2" Type="http://schemas.openxmlformats.org/officeDocument/2006/relationships/image" Target="../media/image130.wmf"/><Relationship Id="rId1" Type="http://schemas.openxmlformats.org/officeDocument/2006/relationships/image" Target="../media/image129.wmf"/></Relationships>
</file>

<file path=ppt/drawings/_rels/vmlDrawing24.vml.rels><?xml version="1.0" encoding="UTF-8" standalone="yes"?>
<Relationships xmlns="http://schemas.openxmlformats.org/package/2006/relationships"><Relationship Id="rId9" Type="http://schemas.openxmlformats.org/officeDocument/2006/relationships/image" Target="../media/image142.wmf"/><Relationship Id="rId8" Type="http://schemas.openxmlformats.org/officeDocument/2006/relationships/image" Target="../media/image132.wmf"/><Relationship Id="rId7" Type="http://schemas.openxmlformats.org/officeDocument/2006/relationships/image" Target="../media/image141.wmf"/><Relationship Id="rId6" Type="http://schemas.openxmlformats.org/officeDocument/2006/relationships/image" Target="../media/image140.wmf"/><Relationship Id="rId5" Type="http://schemas.openxmlformats.org/officeDocument/2006/relationships/image" Target="../media/image139.wmf"/><Relationship Id="rId4" Type="http://schemas.openxmlformats.org/officeDocument/2006/relationships/image" Target="../media/image138.wmf"/><Relationship Id="rId3" Type="http://schemas.openxmlformats.org/officeDocument/2006/relationships/image" Target="../media/image137.png"/><Relationship Id="rId2" Type="http://schemas.openxmlformats.org/officeDocument/2006/relationships/image" Target="../media/image136.png"/><Relationship Id="rId12" Type="http://schemas.openxmlformats.org/officeDocument/2006/relationships/image" Target="../media/image145.png"/><Relationship Id="rId11" Type="http://schemas.openxmlformats.org/officeDocument/2006/relationships/image" Target="../media/image144.wmf"/><Relationship Id="rId10" Type="http://schemas.openxmlformats.org/officeDocument/2006/relationships/image" Target="../media/image143.wmf"/><Relationship Id="rId1" Type="http://schemas.openxmlformats.org/officeDocument/2006/relationships/image" Target="../media/image135.png"/></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147.wmf"/><Relationship Id="rId1" Type="http://schemas.openxmlformats.org/officeDocument/2006/relationships/image" Target="../media/image146.wmf"/></Relationships>
</file>

<file path=ppt/drawings/_rels/vmlDrawing26.vml.rels><?xml version="1.0" encoding="UTF-8" standalone="yes"?>
<Relationships xmlns="http://schemas.openxmlformats.org/package/2006/relationships"><Relationship Id="rId9" Type="http://schemas.openxmlformats.org/officeDocument/2006/relationships/image" Target="../media/image156.wmf"/><Relationship Id="rId8" Type="http://schemas.openxmlformats.org/officeDocument/2006/relationships/image" Target="../media/image155.wmf"/><Relationship Id="rId7" Type="http://schemas.openxmlformats.org/officeDocument/2006/relationships/image" Target="../media/image154.wmf"/><Relationship Id="rId6" Type="http://schemas.openxmlformats.org/officeDocument/2006/relationships/image" Target="../media/image153.wmf"/><Relationship Id="rId5" Type="http://schemas.openxmlformats.org/officeDocument/2006/relationships/image" Target="../media/image152.wmf"/><Relationship Id="rId4" Type="http://schemas.openxmlformats.org/officeDocument/2006/relationships/image" Target="../media/image151.wmf"/><Relationship Id="rId3" Type="http://schemas.openxmlformats.org/officeDocument/2006/relationships/image" Target="../media/image150.wmf"/><Relationship Id="rId2" Type="http://schemas.openxmlformats.org/officeDocument/2006/relationships/image" Target="../media/image149.wmf"/><Relationship Id="rId10" Type="http://schemas.openxmlformats.org/officeDocument/2006/relationships/image" Target="../media/image157.wmf"/><Relationship Id="rId1" Type="http://schemas.openxmlformats.org/officeDocument/2006/relationships/image" Target="../media/image148.wmf"/></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165.wmf"/><Relationship Id="rId7" Type="http://schemas.openxmlformats.org/officeDocument/2006/relationships/image" Target="../media/image164.wmf"/><Relationship Id="rId6" Type="http://schemas.openxmlformats.org/officeDocument/2006/relationships/image" Target="../media/image163.wmf"/><Relationship Id="rId5" Type="http://schemas.openxmlformats.org/officeDocument/2006/relationships/image" Target="../media/image162.wmf"/><Relationship Id="rId4" Type="http://schemas.openxmlformats.org/officeDocument/2006/relationships/image" Target="../media/image161.wmf"/><Relationship Id="rId3" Type="http://schemas.openxmlformats.org/officeDocument/2006/relationships/image" Target="../media/image160.wmf"/><Relationship Id="rId2" Type="http://schemas.openxmlformats.org/officeDocument/2006/relationships/image" Target="../media/image159.wmf"/><Relationship Id="rId1" Type="http://schemas.openxmlformats.org/officeDocument/2006/relationships/image" Target="../media/image158.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167.wmf"/><Relationship Id="rId1" Type="http://schemas.openxmlformats.org/officeDocument/2006/relationships/image" Target="../media/image166.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68.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71.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72.wmf"/></Relationships>
</file>

<file path=ppt/drawings/_rels/vmlDrawing32.vml.rels><?xml version="1.0" encoding="UTF-8" standalone="yes"?>
<Relationships xmlns="http://schemas.openxmlformats.org/package/2006/relationships"><Relationship Id="rId5" Type="http://schemas.openxmlformats.org/officeDocument/2006/relationships/image" Target="../media/image177.wmf"/><Relationship Id="rId4" Type="http://schemas.openxmlformats.org/officeDocument/2006/relationships/image" Target="../media/image176.wmf"/><Relationship Id="rId3" Type="http://schemas.openxmlformats.org/officeDocument/2006/relationships/image" Target="../media/image175.wmf"/><Relationship Id="rId2" Type="http://schemas.openxmlformats.org/officeDocument/2006/relationships/image" Target="../media/image174.wmf"/><Relationship Id="rId1" Type="http://schemas.openxmlformats.org/officeDocument/2006/relationships/image" Target="../media/image173.wmf"/></Relationships>
</file>

<file path=ppt/drawings/_rels/vmlDrawing33.vml.rels><?xml version="1.0" encoding="UTF-8" standalone="yes"?>
<Relationships xmlns="http://schemas.openxmlformats.org/package/2006/relationships"><Relationship Id="rId4" Type="http://schemas.openxmlformats.org/officeDocument/2006/relationships/image" Target="../media/image181.wmf"/><Relationship Id="rId3" Type="http://schemas.openxmlformats.org/officeDocument/2006/relationships/image" Target="../media/image180.wmf"/><Relationship Id="rId2" Type="http://schemas.openxmlformats.org/officeDocument/2006/relationships/image" Target="../media/image179.wmf"/><Relationship Id="rId1" Type="http://schemas.openxmlformats.org/officeDocument/2006/relationships/image" Target="../media/image178.wmf"/></Relationships>
</file>

<file path=ppt/drawings/_rels/vmlDrawing34.vml.rels><?xml version="1.0" encoding="UTF-8" standalone="yes"?>
<Relationships xmlns="http://schemas.openxmlformats.org/package/2006/relationships"><Relationship Id="rId4" Type="http://schemas.openxmlformats.org/officeDocument/2006/relationships/image" Target="../media/image185.wmf"/><Relationship Id="rId3" Type="http://schemas.openxmlformats.org/officeDocument/2006/relationships/image" Target="../media/image184.wmf"/><Relationship Id="rId2" Type="http://schemas.openxmlformats.org/officeDocument/2006/relationships/image" Target="../media/image183.wmf"/><Relationship Id="rId1" Type="http://schemas.openxmlformats.org/officeDocument/2006/relationships/image" Target="../media/image182.wmf"/></Relationships>
</file>

<file path=ppt/drawings/_rels/vmlDrawing35.vml.rels><?xml version="1.0" encoding="UTF-8" standalone="yes"?>
<Relationships xmlns="http://schemas.openxmlformats.org/package/2006/relationships"><Relationship Id="rId4" Type="http://schemas.openxmlformats.org/officeDocument/2006/relationships/image" Target="../media/image174.wmf"/><Relationship Id="rId3" Type="http://schemas.openxmlformats.org/officeDocument/2006/relationships/image" Target="../media/image188.wmf"/><Relationship Id="rId2" Type="http://schemas.openxmlformats.org/officeDocument/2006/relationships/image" Target="../media/image187.wmf"/><Relationship Id="rId1" Type="http://schemas.openxmlformats.org/officeDocument/2006/relationships/image" Target="../media/image186.w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95.emf"/></Relationships>
</file>

<file path=ppt/drawings/_rels/vmlDrawing37.vml.rels><?xml version="1.0" encoding="UTF-8" standalone="yes"?>
<Relationships xmlns="http://schemas.openxmlformats.org/package/2006/relationships"><Relationship Id="rId2" Type="http://schemas.openxmlformats.org/officeDocument/2006/relationships/image" Target="../media/image197.emf"/><Relationship Id="rId1" Type="http://schemas.openxmlformats.org/officeDocument/2006/relationships/image" Target="../media/image196.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98.e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202.e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203.wmf"/></Relationships>
</file>

<file path=ppt/drawings/_rels/vmlDrawing41.vml.rels><?xml version="1.0" encoding="UTF-8" standalone="yes"?>
<Relationships xmlns="http://schemas.openxmlformats.org/package/2006/relationships"><Relationship Id="rId2" Type="http://schemas.openxmlformats.org/officeDocument/2006/relationships/image" Target="../media/image206.emf"/><Relationship Id="rId1" Type="http://schemas.openxmlformats.org/officeDocument/2006/relationships/image" Target="../media/image205.e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210.emf"/><Relationship Id="rId2" Type="http://schemas.openxmlformats.org/officeDocument/2006/relationships/image" Target="../media/image209.emf"/><Relationship Id="rId1" Type="http://schemas.openxmlformats.org/officeDocument/2006/relationships/image" Target="../media/image207.wmf"/></Relationships>
</file>

<file path=ppt/drawings/_rels/vmlDrawing43.vml.rels><?xml version="1.0" encoding="UTF-8" standalone="yes"?>
<Relationships xmlns="http://schemas.openxmlformats.org/package/2006/relationships"><Relationship Id="rId2" Type="http://schemas.openxmlformats.org/officeDocument/2006/relationships/image" Target="../media/image212.emf"/><Relationship Id="rId1" Type="http://schemas.openxmlformats.org/officeDocument/2006/relationships/image" Target="../media/image211.e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213.emf"/></Relationships>
</file>

<file path=ppt/drawings/_rels/vmlDrawing45.vml.rels><?xml version="1.0" encoding="UTF-8" standalone="yes"?>
<Relationships xmlns="http://schemas.openxmlformats.org/package/2006/relationships"><Relationship Id="rId2" Type="http://schemas.openxmlformats.org/officeDocument/2006/relationships/image" Target="../media/image215.emf"/><Relationship Id="rId1" Type="http://schemas.openxmlformats.org/officeDocument/2006/relationships/image" Target="../media/image214.wmf"/></Relationships>
</file>

<file path=ppt/drawings/_rels/vmlDrawing46.vml.rels><?xml version="1.0" encoding="UTF-8" standalone="yes"?>
<Relationships xmlns="http://schemas.openxmlformats.org/package/2006/relationships"><Relationship Id="rId2" Type="http://schemas.openxmlformats.org/officeDocument/2006/relationships/image" Target="../media/image217.wmf"/><Relationship Id="rId1" Type="http://schemas.openxmlformats.org/officeDocument/2006/relationships/image" Target="../media/image216.w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218.emf"/></Relationships>
</file>

<file path=ppt/drawings/_rels/vmlDrawing48.vml.rels><?xml version="1.0" encoding="UTF-8" standalone="yes"?>
<Relationships xmlns="http://schemas.openxmlformats.org/package/2006/relationships"><Relationship Id="rId2" Type="http://schemas.openxmlformats.org/officeDocument/2006/relationships/image" Target="../media/image220.emf"/><Relationship Id="rId1" Type="http://schemas.openxmlformats.org/officeDocument/2006/relationships/image" Target="../media/image21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2595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595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2" name="Rectangle 4"/>
          <p:cNvSpPr>
            <a:spLocks noRo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2595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595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595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B18E2F53-AD58-47CD-A211-CB9C0D641D2D}" type="slidenum">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5363" name="Rectangle 2"/>
          <p:cNvSpPr>
            <a:spLocks noRot="1" noTextEdit="1"/>
          </p:cNvSpPr>
          <p:nvPr>
            <p:ph type="sldImg"/>
          </p:nvPr>
        </p:nvSpPr>
        <p:spPr>
          <a:ln/>
        </p:spPr>
      </p:sp>
      <p:sp>
        <p:nvSpPr>
          <p:cNvPr id="15364" name="Rectangle 3"/>
          <p:cNvSpPr>
            <a:spLocks noGrp="1"/>
          </p:cNvSpPr>
          <p:nvPr>
            <p:ph type="body" idx="1"/>
          </p:nvPr>
        </p:nvSpPr>
        <p:spPr>
          <a:ln/>
        </p:spPr>
        <p:txBody>
          <a:bodyPr wrap="square" lIns="91440" tIns="45720" rIns="91440" bIns="45720" anchor="t" anchorCtr="0"/>
          <a:p>
            <a:pPr lvl="0" eaLnBrk="1" hangingPunct="1"/>
            <a:r>
              <a:rPr lang="zh-CN" altLang="en-US" b="1" dirty="0"/>
              <a:t>英国数学家</a:t>
            </a:r>
            <a:r>
              <a:rPr lang="en-US" altLang="zh-CN" b="1" dirty="0"/>
              <a:t>George Boole</a:t>
            </a:r>
            <a:r>
              <a:rPr lang="zh-CN" altLang="en-US" b="1" dirty="0"/>
              <a:t>于</a:t>
            </a:r>
            <a:r>
              <a:rPr lang="en-US" altLang="zh-CN" b="1" dirty="0"/>
              <a:t>1815</a:t>
            </a:r>
            <a:r>
              <a:rPr lang="zh-CN" altLang="en-US" b="1" dirty="0"/>
              <a:t>年</a:t>
            </a:r>
            <a:r>
              <a:rPr lang="en-US" altLang="zh-CN" b="1" dirty="0"/>
              <a:t>11</a:t>
            </a:r>
            <a:r>
              <a:rPr lang="zh-CN" altLang="en-US" b="1" dirty="0"/>
              <a:t>月生于英格兰的林肯。由于家境贫寒，布尔不得不在协助养家的同时为自己能受教育而奋斗，</a:t>
            </a:r>
            <a:r>
              <a:rPr lang="en-US" altLang="zh-CN" b="1" dirty="0"/>
              <a:t>16</a:t>
            </a:r>
            <a:r>
              <a:rPr lang="zh-CN" altLang="en-US" b="1" dirty="0"/>
              <a:t>岁就开始任教以维持生活，</a:t>
            </a:r>
            <a:r>
              <a:rPr lang="en-US" altLang="zh-CN" b="1" dirty="0"/>
              <a:t>20</a:t>
            </a:r>
            <a:r>
              <a:rPr lang="zh-CN" altLang="en-US" b="1" dirty="0"/>
              <a:t>岁时对数学产生了浓厚的兴趣，开始广泛涉猎著名数学家牛顿、拉普拉斯、拉格朗日等人的数学名著，并写下了大量笔记。</a:t>
            </a:r>
            <a:r>
              <a:rPr lang="en-US" altLang="zh-CN" b="1" dirty="0"/>
              <a:t>1847</a:t>
            </a:r>
            <a:r>
              <a:rPr lang="zh-CN" altLang="en-US" b="1" dirty="0"/>
              <a:t>年，发表了著作</a:t>
            </a:r>
            <a:r>
              <a:rPr lang="en-US" altLang="zh-CN" b="1" dirty="0">
                <a:solidFill>
                  <a:srgbClr val="FF0000"/>
                </a:solidFill>
              </a:rPr>
              <a:t>《The Mathematical Analysis of Logic》</a:t>
            </a:r>
            <a:r>
              <a:rPr lang="zh-CN" altLang="en-US" b="1" dirty="0"/>
              <a:t>，在这本书中，阐述了正式的逻辑学公理，建立了布尔代数（也称逻辑代数）。他的逻辑理论建立在两个逻辑值</a:t>
            </a:r>
            <a:r>
              <a:rPr lang="en-US" altLang="zh-CN" b="1" dirty="0"/>
              <a:t>0</a:t>
            </a:r>
            <a:r>
              <a:rPr lang="zh-CN" altLang="en-US" b="1" dirty="0"/>
              <a:t>、</a:t>
            </a:r>
            <a:r>
              <a:rPr lang="en-US" altLang="zh-CN" b="1" dirty="0"/>
              <a:t>1</a:t>
            </a:r>
            <a:r>
              <a:rPr lang="zh-CN" altLang="en-US" b="1" dirty="0"/>
              <a:t>和三个运算符与、或、非的基础上，这种简化的二值逻辑为计算机的二进制数、开关逻辑元件和逻辑电路的设计铺平了道路，并最终为计算机的发明奠定了数学基础。</a:t>
            </a:r>
            <a:endParaRPr lang="zh-CN" altLang="en-US" b="1" dirty="0"/>
          </a:p>
          <a:p>
            <a:pPr lvl="0" eaLnBrk="1" hangingPunct="1"/>
            <a:r>
              <a:rPr lang="zh-CN" altLang="en-US" b="1" dirty="0"/>
              <a:t>　　</a:t>
            </a:r>
            <a:r>
              <a:rPr lang="en-US" altLang="zh-CN" b="1" dirty="0"/>
              <a:t>1849</a:t>
            </a:r>
            <a:r>
              <a:rPr lang="zh-CN" altLang="en-US" b="1" dirty="0"/>
              <a:t>年，他被任命位于爱尔兰科克的皇后学院的数学教授。</a:t>
            </a:r>
            <a:r>
              <a:rPr lang="en-US" altLang="zh-CN" b="1" dirty="0"/>
              <a:t>1854</a:t>
            </a:r>
            <a:r>
              <a:rPr lang="zh-CN" altLang="en-US" b="1" dirty="0"/>
              <a:t>年</a:t>
            </a:r>
            <a:r>
              <a:rPr lang="en-US" altLang="zh-CN" b="1" dirty="0"/>
              <a:t>,</a:t>
            </a:r>
            <a:r>
              <a:rPr lang="zh-CN" altLang="en-US" b="1" dirty="0"/>
              <a:t>他出版了</a:t>
            </a:r>
            <a:r>
              <a:rPr lang="en-US" altLang="zh-CN" b="1" dirty="0">
                <a:solidFill>
                  <a:srgbClr val="FF0000"/>
                </a:solidFill>
              </a:rPr>
              <a:t>《The Laws of</a:t>
            </a:r>
            <a:r>
              <a:rPr lang="zh-CN" altLang="en-US" b="1" dirty="0">
                <a:solidFill>
                  <a:srgbClr val="FF0000"/>
                </a:solidFill>
              </a:rPr>
              <a:t>　</a:t>
            </a:r>
            <a:r>
              <a:rPr lang="en-US" altLang="zh-CN" b="1" dirty="0">
                <a:solidFill>
                  <a:srgbClr val="FF0000"/>
                </a:solidFill>
              </a:rPr>
              <a:t>Thought》</a:t>
            </a:r>
            <a:r>
              <a:rPr lang="en-US" altLang="zh-CN" b="1" dirty="0"/>
              <a:t>,</a:t>
            </a:r>
            <a:r>
              <a:rPr lang="zh-CN" altLang="en-US" b="1" dirty="0"/>
              <a:t>这是他最著名的著作。在这本书中布尔介绍了现在以他的名字命名的</a:t>
            </a:r>
            <a:r>
              <a:rPr lang="zh-CN" altLang="en-US" b="1" dirty="0">
                <a:solidFill>
                  <a:srgbClr val="FF0000"/>
                </a:solidFill>
              </a:rPr>
              <a:t>布尔代数</a:t>
            </a:r>
            <a:r>
              <a:rPr lang="zh-CN" altLang="en-US" b="1" dirty="0"/>
              <a:t>。布尔撰写了微分方程和差分方程的课本</a:t>
            </a:r>
            <a:r>
              <a:rPr lang="en-US" altLang="zh-CN" b="1" dirty="0"/>
              <a:t>,</a:t>
            </a:r>
            <a:r>
              <a:rPr lang="zh-CN" altLang="en-US" b="1" dirty="0"/>
              <a:t>这些课本在英国一直使用到</a:t>
            </a:r>
            <a:r>
              <a:rPr lang="en-US" altLang="zh-CN" b="1" dirty="0"/>
              <a:t>19</a:t>
            </a:r>
            <a:r>
              <a:rPr lang="zh-CN" altLang="en-US" b="1" dirty="0"/>
              <a:t>世纪末。</a:t>
            </a:r>
            <a:r>
              <a:rPr lang="en-US" altLang="zh-CN" b="1" dirty="0"/>
              <a:t>1864</a:t>
            </a:r>
            <a:r>
              <a:rPr lang="zh-CN" altLang="en-US" b="1" dirty="0"/>
              <a:t>年，布尔死于肺炎。 </a:t>
            </a:r>
            <a:endParaRPr lang="zh-CN" altLang="en-US" b="1"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
        <p:nvSpPr>
          <p:cNvPr id="67587" name="Rectangle 2"/>
          <p:cNvSpPr>
            <a:spLocks noTextEdit="1"/>
          </p:cNvSpPr>
          <p:nvPr>
            <p:ph type="sldImg"/>
          </p:nvPr>
        </p:nvSpPr>
        <p:spPr>
          <a:ln/>
        </p:spPr>
      </p:sp>
      <p:sp>
        <p:nvSpPr>
          <p:cNvPr id="67588" name="Rectangle 3"/>
          <p:cNvSpPr>
            <a:spLocks noGrp="1"/>
          </p:cNvSpPr>
          <p:nvPr>
            <p:ph type="body" idx="1"/>
          </p:nvPr>
        </p:nvSpPr>
        <p:spPr>
          <a:ln/>
        </p:spPr>
        <p:txBody>
          <a:bodyPr wrap="square" lIns="91440" tIns="45720" rIns="91440" bIns="45720" anchor="t" anchorCtr="0"/>
          <a:p>
            <a:pPr lvl="0" eaLnBrk="1" hangingPunct="1"/>
            <a:r>
              <a:rPr lang="en-US" altLang="zh-CN" dirty="0"/>
              <a:t>        </a:t>
            </a:r>
            <a:r>
              <a:rPr lang="zh-CN" altLang="en-US" dirty="0"/>
              <a:t>放大电路存在电抗元件，如电容、电感。因此输入信号的频率不同，电路的输出响应也不同。</a:t>
            </a: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4DD0F89-4C2C-45F7-8794-79F71D0AC0E0}"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4DD0F89-4C2C-45F7-8794-79F71D0AC0E0}"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4DD0F89-4C2C-45F7-8794-79F71D0AC0E0}"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4DD0F89-4C2C-45F7-8794-79F71D0AC0E0}"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4DD0F89-4C2C-45F7-8794-79F71D0AC0E0}"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4DD0F89-4C2C-45F7-8794-79F71D0AC0E0}"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4DD0F89-4C2C-45F7-8794-79F71D0AC0E0}"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4DD0F89-4C2C-45F7-8794-79F71D0AC0E0}"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4DD0F89-4C2C-45F7-8794-79F71D0AC0E0}"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4DD0F89-4C2C-45F7-8794-79F71D0AC0E0}"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4DD0F89-4C2C-45F7-8794-79F71D0AC0E0}"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457200" y="274638"/>
            <a:ext cx="822960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7" name="Rectangle 3"/>
          <p:cNvSpPr>
            <a:spLocks noGrp="1"/>
          </p:cNvSpPr>
          <p:nvPr>
            <p:ph type="body" idx="1"/>
          </p:nvPr>
        </p:nvSpPr>
        <p:spPr>
          <a:xfrm>
            <a:off x="457200" y="1600200"/>
            <a:ext cx="8229600" cy="4525963"/>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4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40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400"/>
            </a:lvl1pPr>
          </a:lstStyle>
          <a:p>
            <a:pPr marL="0" marR="0" lvl="0" indent="0" algn="r" defTabSz="914400" rtl="0" eaLnBrk="1" fontAlgn="base" latinLnBrk="0" hangingPunct="1">
              <a:lnSpc>
                <a:spcPct val="100000"/>
              </a:lnSpc>
              <a:spcBef>
                <a:spcPct val="0"/>
              </a:spcBef>
              <a:spcAft>
                <a:spcPct val="0"/>
              </a:spcAft>
              <a:buClrTx/>
              <a:buSzTx/>
              <a:buFontTx/>
              <a:buNone/>
              <a:defRPr/>
            </a:pPr>
            <a:fld id="{E4DD0F89-4C2C-45F7-8794-79F71D0AC0E0}"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advClick="0"/>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4.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jpeg"/><Relationship Id="rId2" Type="http://schemas.openxmlformats.org/officeDocument/2006/relationships/image" Target="../media/image9.jpeg"/><Relationship Id="rId1" Type="http://schemas.openxmlformats.org/officeDocument/2006/relationships/image" Target="../media/image8.jpeg"/></Relationships>
</file>

<file path=ppt/slides/_rels/slide17.xml.rels><?xml version="1.0" encoding="UTF-8" standalone="yes"?>
<Relationships xmlns="http://schemas.openxmlformats.org/package/2006/relationships"><Relationship Id="rId7" Type="http://schemas.openxmlformats.org/officeDocument/2006/relationships/vmlDrawing" Target="../drawings/vmlDrawing1.vml"/><Relationship Id="rId6" Type="http://schemas.openxmlformats.org/officeDocument/2006/relationships/slideLayout" Target="../slideLayouts/slideLayout1.xml"/><Relationship Id="rId5" Type="http://schemas.openxmlformats.org/officeDocument/2006/relationships/image" Target="../media/image7.jpeg"/><Relationship Id="rId4" Type="http://schemas.openxmlformats.org/officeDocument/2006/relationships/image" Target="../media/image9.jpeg"/><Relationship Id="rId3" Type="http://schemas.openxmlformats.org/officeDocument/2006/relationships/image" Target="../media/image11.jpeg"/><Relationship Id="rId2" Type="http://schemas.openxmlformats.org/officeDocument/2006/relationships/image" Target="../media/image10.wmf"/><Relationship Id="rId1" Type="http://schemas.openxmlformats.org/officeDocument/2006/relationships/oleObject" Target="../embeddings/oleObject1.bin"/></Relationships>
</file>

<file path=ppt/slides/_rels/slide18.xml.rels><?xml version="1.0" encoding="UTF-8" standalone="yes"?>
<Relationships xmlns="http://schemas.openxmlformats.org/package/2006/relationships"><Relationship Id="rId7" Type="http://schemas.openxmlformats.org/officeDocument/2006/relationships/vmlDrawing" Target="../drawings/vmlDrawing2.vml"/><Relationship Id="rId6" Type="http://schemas.openxmlformats.org/officeDocument/2006/relationships/slideLayout" Target="../slideLayouts/slideLayout1.xml"/><Relationship Id="rId5" Type="http://schemas.openxmlformats.org/officeDocument/2006/relationships/image" Target="../media/image7.jpeg"/><Relationship Id="rId4" Type="http://schemas.openxmlformats.org/officeDocument/2006/relationships/image" Target="../media/image9.jpeg"/><Relationship Id="rId3" Type="http://schemas.openxmlformats.org/officeDocument/2006/relationships/image" Target="../media/image13.jpeg"/><Relationship Id="rId2" Type="http://schemas.openxmlformats.org/officeDocument/2006/relationships/image" Target="../media/image12.emf"/><Relationship Id="rId1" Type="http://schemas.openxmlformats.org/officeDocument/2006/relationships/oleObject" Target="../embeddings/oleObject2.bin"/></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4.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4.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4.jpeg"/></Relationships>
</file>

<file path=ppt/slides/_rels/slide22.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1.xml"/><Relationship Id="rId3" Type="http://schemas.openxmlformats.org/officeDocument/2006/relationships/image" Target="../media/image15.emf"/><Relationship Id="rId2" Type="http://schemas.openxmlformats.org/officeDocument/2006/relationships/oleObject" Target="../embeddings/oleObject3.bin"/><Relationship Id="rId1" Type="http://schemas.openxmlformats.org/officeDocument/2006/relationships/image" Target="../media/image14.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1.xml"/><Relationship Id="rId2" Type="http://schemas.openxmlformats.org/officeDocument/2006/relationships/image" Target="../media/image16.wmf"/><Relationship Id="rId1" Type="http://schemas.openxmlformats.org/officeDocument/2006/relationships/oleObject" Target="../embeddings/oleObject4.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1.xml"/><Relationship Id="rId2" Type="http://schemas.openxmlformats.org/officeDocument/2006/relationships/image" Target="../media/image17.wmf"/><Relationship Id="rId1" Type="http://schemas.openxmlformats.org/officeDocument/2006/relationships/oleObject" Target="../embeddings/oleObject5.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1.xml"/><Relationship Id="rId2" Type="http://schemas.openxmlformats.org/officeDocument/2006/relationships/image" Target="../media/image18.wmf"/><Relationship Id="rId1" Type="http://schemas.openxmlformats.org/officeDocument/2006/relationships/oleObject" Target="../embeddings/oleObject6.bin"/></Relationships>
</file>

<file path=ppt/slides/_rels/slide30.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1.xml"/><Relationship Id="rId2" Type="http://schemas.openxmlformats.org/officeDocument/2006/relationships/image" Target="../media/image19.wmf"/><Relationship Id="rId1" Type="http://schemas.openxmlformats.org/officeDocument/2006/relationships/oleObject" Target="../embeddings/oleObject7.bin"/></Relationships>
</file>

<file path=ppt/slides/_rels/slide31.xml.rels><?xml version="1.0" encoding="UTF-8" standalone="yes"?>
<Relationships xmlns="http://schemas.openxmlformats.org/package/2006/relationships"><Relationship Id="rId8" Type="http://schemas.openxmlformats.org/officeDocument/2006/relationships/vmlDrawing" Target="../drawings/vmlDrawing8.vml"/><Relationship Id="rId7" Type="http://schemas.openxmlformats.org/officeDocument/2006/relationships/slideLayout" Target="../slideLayouts/slideLayout1.xml"/><Relationship Id="rId6" Type="http://schemas.openxmlformats.org/officeDocument/2006/relationships/image" Target="../media/image22.wmf"/><Relationship Id="rId5" Type="http://schemas.openxmlformats.org/officeDocument/2006/relationships/oleObject" Target="../embeddings/oleObject10.bin"/><Relationship Id="rId4" Type="http://schemas.openxmlformats.org/officeDocument/2006/relationships/image" Target="../media/image21.wmf"/><Relationship Id="rId3" Type="http://schemas.openxmlformats.org/officeDocument/2006/relationships/oleObject" Target="../embeddings/oleObject9.bin"/><Relationship Id="rId2" Type="http://schemas.openxmlformats.org/officeDocument/2006/relationships/image" Target="../media/image20.wmf"/><Relationship Id="rId1" Type="http://schemas.openxmlformats.org/officeDocument/2006/relationships/oleObject" Target="../embeddings/oleObject8.bin"/></Relationships>
</file>

<file path=ppt/slides/_rels/slide32.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1.xml"/><Relationship Id="rId2" Type="http://schemas.openxmlformats.org/officeDocument/2006/relationships/image" Target="../media/image23.wmf"/><Relationship Id="rId1" Type="http://schemas.openxmlformats.org/officeDocument/2006/relationships/oleObject" Target="../embeddings/oleObject11.bin"/></Relationships>
</file>

<file path=ppt/slides/_rels/slide33.xml.rels><?xml version="1.0" encoding="UTF-8" standalone="yes"?>
<Relationships xmlns="http://schemas.openxmlformats.org/package/2006/relationships"><Relationship Id="rId9" Type="http://schemas.openxmlformats.org/officeDocument/2006/relationships/oleObject" Target="../embeddings/oleObject16.bin"/><Relationship Id="rId8" Type="http://schemas.openxmlformats.org/officeDocument/2006/relationships/image" Target="../media/image27.wmf"/><Relationship Id="rId7" Type="http://schemas.openxmlformats.org/officeDocument/2006/relationships/oleObject" Target="../embeddings/oleObject15.bin"/><Relationship Id="rId6" Type="http://schemas.openxmlformats.org/officeDocument/2006/relationships/image" Target="../media/image26.wmf"/><Relationship Id="rId5" Type="http://schemas.openxmlformats.org/officeDocument/2006/relationships/oleObject" Target="../embeddings/oleObject14.bin"/><Relationship Id="rId4" Type="http://schemas.openxmlformats.org/officeDocument/2006/relationships/image" Target="../media/image25.wmf"/><Relationship Id="rId3" Type="http://schemas.openxmlformats.org/officeDocument/2006/relationships/oleObject" Target="../embeddings/oleObject13.bin"/><Relationship Id="rId2" Type="http://schemas.openxmlformats.org/officeDocument/2006/relationships/image" Target="../media/image24.wmf"/><Relationship Id="rId12" Type="http://schemas.openxmlformats.org/officeDocument/2006/relationships/vmlDrawing" Target="../drawings/vmlDrawing10.vml"/><Relationship Id="rId11" Type="http://schemas.openxmlformats.org/officeDocument/2006/relationships/slideLayout" Target="../slideLayouts/slideLayout1.xml"/><Relationship Id="rId10" Type="http://schemas.openxmlformats.org/officeDocument/2006/relationships/image" Target="../media/image28.wmf"/><Relationship Id="rId1" Type="http://schemas.openxmlformats.org/officeDocument/2006/relationships/oleObject" Target="../embeddings/oleObject12.bin"/></Relationships>
</file>

<file path=ppt/slides/_rels/slide34.xml.rels><?xml version="1.0" encoding="UTF-8" standalone="yes"?>
<Relationships xmlns="http://schemas.openxmlformats.org/package/2006/relationships"><Relationship Id="rId6" Type="http://schemas.openxmlformats.org/officeDocument/2006/relationships/vmlDrawing" Target="../drawings/vmlDrawing11.vml"/><Relationship Id="rId5" Type="http://schemas.openxmlformats.org/officeDocument/2006/relationships/slideLayout" Target="../slideLayouts/slideLayout1.xml"/><Relationship Id="rId4" Type="http://schemas.openxmlformats.org/officeDocument/2006/relationships/image" Target="../media/image30.wmf"/><Relationship Id="rId3" Type="http://schemas.openxmlformats.org/officeDocument/2006/relationships/oleObject" Target="../embeddings/oleObject18.bin"/><Relationship Id="rId2" Type="http://schemas.openxmlformats.org/officeDocument/2006/relationships/image" Target="../media/image29.wmf"/><Relationship Id="rId1" Type="http://schemas.openxmlformats.org/officeDocument/2006/relationships/oleObject" Target="../embeddings/oleObject17.bin"/></Relationships>
</file>

<file path=ppt/slides/_rels/slide35.xml.rels><?xml version="1.0" encoding="UTF-8" standalone="yes"?>
<Relationships xmlns="http://schemas.openxmlformats.org/package/2006/relationships"><Relationship Id="rId9" Type="http://schemas.openxmlformats.org/officeDocument/2006/relationships/oleObject" Target="../embeddings/oleObject23.bin"/><Relationship Id="rId8" Type="http://schemas.openxmlformats.org/officeDocument/2006/relationships/image" Target="../media/image34.png"/><Relationship Id="rId7" Type="http://schemas.openxmlformats.org/officeDocument/2006/relationships/oleObject" Target="../embeddings/oleObject22.bin"/><Relationship Id="rId6" Type="http://schemas.openxmlformats.org/officeDocument/2006/relationships/image" Target="../media/image33.png"/><Relationship Id="rId5" Type="http://schemas.openxmlformats.org/officeDocument/2006/relationships/oleObject" Target="../embeddings/oleObject21.bin"/><Relationship Id="rId4" Type="http://schemas.openxmlformats.org/officeDocument/2006/relationships/image" Target="../media/image32.png"/><Relationship Id="rId3" Type="http://schemas.openxmlformats.org/officeDocument/2006/relationships/oleObject" Target="../embeddings/oleObject20.bin"/><Relationship Id="rId2" Type="http://schemas.openxmlformats.org/officeDocument/2006/relationships/image" Target="../media/image31.png"/><Relationship Id="rId14" Type="http://schemas.openxmlformats.org/officeDocument/2006/relationships/vmlDrawing" Target="../drawings/vmlDrawing12.vml"/><Relationship Id="rId13" Type="http://schemas.openxmlformats.org/officeDocument/2006/relationships/slideLayout" Target="../slideLayouts/slideLayout7.xml"/><Relationship Id="rId12" Type="http://schemas.openxmlformats.org/officeDocument/2006/relationships/image" Target="../media/image36.png"/><Relationship Id="rId11" Type="http://schemas.openxmlformats.org/officeDocument/2006/relationships/oleObject" Target="../embeddings/oleObject24.bin"/><Relationship Id="rId10" Type="http://schemas.openxmlformats.org/officeDocument/2006/relationships/image" Target="../media/image35.png"/><Relationship Id="rId1" Type="http://schemas.openxmlformats.org/officeDocument/2006/relationships/oleObject" Target="../embeddings/oleObject19.bin"/></Relationships>
</file>

<file path=ppt/slides/_rels/slide36.xml.rels><?xml version="1.0" encoding="UTF-8" standalone="yes"?>
<Relationships xmlns="http://schemas.openxmlformats.org/package/2006/relationships"><Relationship Id="rId9" Type="http://schemas.openxmlformats.org/officeDocument/2006/relationships/oleObject" Target="../embeddings/oleObject29.bin"/><Relationship Id="rId8" Type="http://schemas.openxmlformats.org/officeDocument/2006/relationships/image" Target="../media/image40.png"/><Relationship Id="rId7" Type="http://schemas.openxmlformats.org/officeDocument/2006/relationships/oleObject" Target="../embeddings/oleObject28.bin"/><Relationship Id="rId6" Type="http://schemas.openxmlformats.org/officeDocument/2006/relationships/image" Target="../media/image39.png"/><Relationship Id="rId5" Type="http://schemas.openxmlformats.org/officeDocument/2006/relationships/oleObject" Target="../embeddings/oleObject27.bin"/><Relationship Id="rId4" Type="http://schemas.openxmlformats.org/officeDocument/2006/relationships/image" Target="../media/image38.png"/><Relationship Id="rId3" Type="http://schemas.openxmlformats.org/officeDocument/2006/relationships/oleObject" Target="../embeddings/oleObject26.bin"/><Relationship Id="rId2" Type="http://schemas.openxmlformats.org/officeDocument/2006/relationships/image" Target="../media/image37.png"/><Relationship Id="rId18" Type="http://schemas.openxmlformats.org/officeDocument/2006/relationships/vmlDrawing" Target="../drawings/vmlDrawing13.vml"/><Relationship Id="rId17" Type="http://schemas.openxmlformats.org/officeDocument/2006/relationships/slideLayout" Target="../slideLayouts/slideLayout7.xml"/><Relationship Id="rId16" Type="http://schemas.openxmlformats.org/officeDocument/2006/relationships/image" Target="../media/image44.wmf"/><Relationship Id="rId15" Type="http://schemas.openxmlformats.org/officeDocument/2006/relationships/oleObject" Target="../embeddings/oleObject32.bin"/><Relationship Id="rId14" Type="http://schemas.openxmlformats.org/officeDocument/2006/relationships/image" Target="../media/image43.wmf"/><Relationship Id="rId13" Type="http://schemas.openxmlformats.org/officeDocument/2006/relationships/oleObject" Target="../embeddings/oleObject31.bin"/><Relationship Id="rId12" Type="http://schemas.openxmlformats.org/officeDocument/2006/relationships/image" Target="../media/image42.wmf"/><Relationship Id="rId11" Type="http://schemas.openxmlformats.org/officeDocument/2006/relationships/oleObject" Target="../embeddings/oleObject30.bin"/><Relationship Id="rId10" Type="http://schemas.openxmlformats.org/officeDocument/2006/relationships/image" Target="../media/image41.png"/><Relationship Id="rId1" Type="http://schemas.openxmlformats.org/officeDocument/2006/relationships/oleObject" Target="../embeddings/oleObject25.bin"/></Relationships>
</file>

<file path=ppt/slides/_rels/slide37.xml.rels><?xml version="1.0" encoding="UTF-8" standalone="yes"?>
<Relationships xmlns="http://schemas.openxmlformats.org/package/2006/relationships"><Relationship Id="rId6" Type="http://schemas.openxmlformats.org/officeDocument/2006/relationships/vmlDrawing" Target="../drawings/vmlDrawing14.vml"/><Relationship Id="rId5" Type="http://schemas.openxmlformats.org/officeDocument/2006/relationships/slideLayout" Target="../slideLayouts/slideLayout7.xml"/><Relationship Id="rId4" Type="http://schemas.openxmlformats.org/officeDocument/2006/relationships/image" Target="../media/image46.png"/><Relationship Id="rId3" Type="http://schemas.openxmlformats.org/officeDocument/2006/relationships/oleObject" Target="../embeddings/oleObject34.bin"/><Relationship Id="rId2" Type="http://schemas.openxmlformats.org/officeDocument/2006/relationships/image" Target="../media/image45.png"/><Relationship Id="rId1" Type="http://schemas.openxmlformats.org/officeDocument/2006/relationships/oleObject" Target="../embeddings/oleObject33.bin"/></Relationships>
</file>

<file path=ppt/slides/_rels/slide38.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1.xml"/><Relationship Id="rId2" Type="http://schemas.openxmlformats.org/officeDocument/2006/relationships/image" Target="../media/image47.wmf"/><Relationship Id="rId1" Type="http://schemas.openxmlformats.org/officeDocument/2006/relationships/oleObject" Target="../embeddings/oleObject35.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9" Type="http://schemas.openxmlformats.org/officeDocument/2006/relationships/oleObject" Target="../embeddings/oleObject40.bin"/><Relationship Id="rId8" Type="http://schemas.openxmlformats.org/officeDocument/2006/relationships/image" Target="../media/image51.wmf"/><Relationship Id="rId7" Type="http://schemas.openxmlformats.org/officeDocument/2006/relationships/oleObject" Target="../embeddings/oleObject39.bin"/><Relationship Id="rId6" Type="http://schemas.openxmlformats.org/officeDocument/2006/relationships/image" Target="../media/image50.wmf"/><Relationship Id="rId54" Type="http://schemas.openxmlformats.org/officeDocument/2006/relationships/vmlDrawing" Target="../drawings/vmlDrawing16.vml"/><Relationship Id="rId53" Type="http://schemas.openxmlformats.org/officeDocument/2006/relationships/slideLayout" Target="../slideLayouts/slideLayout1.xml"/><Relationship Id="rId52" Type="http://schemas.openxmlformats.org/officeDocument/2006/relationships/image" Target="../media/image73.wmf"/><Relationship Id="rId51" Type="http://schemas.openxmlformats.org/officeDocument/2006/relationships/oleObject" Target="../embeddings/oleObject61.bin"/><Relationship Id="rId50" Type="http://schemas.openxmlformats.org/officeDocument/2006/relationships/image" Target="../media/image72.wmf"/><Relationship Id="rId5" Type="http://schemas.openxmlformats.org/officeDocument/2006/relationships/oleObject" Target="../embeddings/oleObject38.bin"/><Relationship Id="rId49" Type="http://schemas.openxmlformats.org/officeDocument/2006/relationships/oleObject" Target="../embeddings/oleObject60.bin"/><Relationship Id="rId48" Type="http://schemas.openxmlformats.org/officeDocument/2006/relationships/image" Target="../media/image71.wmf"/><Relationship Id="rId47" Type="http://schemas.openxmlformats.org/officeDocument/2006/relationships/oleObject" Target="../embeddings/oleObject59.bin"/><Relationship Id="rId46" Type="http://schemas.openxmlformats.org/officeDocument/2006/relationships/image" Target="../media/image70.wmf"/><Relationship Id="rId45" Type="http://schemas.openxmlformats.org/officeDocument/2006/relationships/oleObject" Target="../embeddings/oleObject58.bin"/><Relationship Id="rId44" Type="http://schemas.openxmlformats.org/officeDocument/2006/relationships/image" Target="../media/image69.wmf"/><Relationship Id="rId43" Type="http://schemas.openxmlformats.org/officeDocument/2006/relationships/oleObject" Target="../embeddings/oleObject57.bin"/><Relationship Id="rId42" Type="http://schemas.openxmlformats.org/officeDocument/2006/relationships/image" Target="../media/image68.wmf"/><Relationship Id="rId41" Type="http://schemas.openxmlformats.org/officeDocument/2006/relationships/oleObject" Target="../embeddings/oleObject56.bin"/><Relationship Id="rId40" Type="http://schemas.openxmlformats.org/officeDocument/2006/relationships/image" Target="../media/image67.wmf"/><Relationship Id="rId4" Type="http://schemas.openxmlformats.org/officeDocument/2006/relationships/image" Target="../media/image49.wmf"/><Relationship Id="rId39" Type="http://schemas.openxmlformats.org/officeDocument/2006/relationships/oleObject" Target="../embeddings/oleObject55.bin"/><Relationship Id="rId38" Type="http://schemas.openxmlformats.org/officeDocument/2006/relationships/image" Target="../media/image66.wmf"/><Relationship Id="rId37" Type="http://schemas.openxmlformats.org/officeDocument/2006/relationships/oleObject" Target="../embeddings/oleObject54.bin"/><Relationship Id="rId36" Type="http://schemas.openxmlformats.org/officeDocument/2006/relationships/image" Target="../media/image65.wmf"/><Relationship Id="rId35" Type="http://schemas.openxmlformats.org/officeDocument/2006/relationships/oleObject" Target="../embeddings/oleObject53.bin"/><Relationship Id="rId34" Type="http://schemas.openxmlformats.org/officeDocument/2006/relationships/image" Target="../media/image64.wmf"/><Relationship Id="rId33" Type="http://schemas.openxmlformats.org/officeDocument/2006/relationships/oleObject" Target="../embeddings/oleObject52.bin"/><Relationship Id="rId32" Type="http://schemas.openxmlformats.org/officeDocument/2006/relationships/image" Target="../media/image63.wmf"/><Relationship Id="rId31" Type="http://schemas.openxmlformats.org/officeDocument/2006/relationships/oleObject" Target="../embeddings/oleObject51.bin"/><Relationship Id="rId30" Type="http://schemas.openxmlformats.org/officeDocument/2006/relationships/image" Target="../media/image62.wmf"/><Relationship Id="rId3" Type="http://schemas.openxmlformats.org/officeDocument/2006/relationships/oleObject" Target="../embeddings/oleObject37.bin"/><Relationship Id="rId29" Type="http://schemas.openxmlformats.org/officeDocument/2006/relationships/oleObject" Target="../embeddings/oleObject50.bin"/><Relationship Id="rId28" Type="http://schemas.openxmlformats.org/officeDocument/2006/relationships/image" Target="../media/image61.wmf"/><Relationship Id="rId27" Type="http://schemas.openxmlformats.org/officeDocument/2006/relationships/oleObject" Target="../embeddings/oleObject49.bin"/><Relationship Id="rId26" Type="http://schemas.openxmlformats.org/officeDocument/2006/relationships/image" Target="../media/image60.wmf"/><Relationship Id="rId25" Type="http://schemas.openxmlformats.org/officeDocument/2006/relationships/oleObject" Target="../embeddings/oleObject48.bin"/><Relationship Id="rId24" Type="http://schemas.openxmlformats.org/officeDocument/2006/relationships/image" Target="../media/image59.wmf"/><Relationship Id="rId23" Type="http://schemas.openxmlformats.org/officeDocument/2006/relationships/oleObject" Target="../embeddings/oleObject47.bin"/><Relationship Id="rId22" Type="http://schemas.openxmlformats.org/officeDocument/2006/relationships/image" Target="../media/image58.wmf"/><Relationship Id="rId21" Type="http://schemas.openxmlformats.org/officeDocument/2006/relationships/oleObject" Target="../embeddings/oleObject46.bin"/><Relationship Id="rId20" Type="http://schemas.openxmlformats.org/officeDocument/2006/relationships/image" Target="../media/image57.wmf"/><Relationship Id="rId2" Type="http://schemas.openxmlformats.org/officeDocument/2006/relationships/image" Target="../media/image48.wmf"/><Relationship Id="rId19" Type="http://schemas.openxmlformats.org/officeDocument/2006/relationships/oleObject" Target="../embeddings/oleObject45.bin"/><Relationship Id="rId18" Type="http://schemas.openxmlformats.org/officeDocument/2006/relationships/image" Target="../media/image56.wmf"/><Relationship Id="rId17" Type="http://schemas.openxmlformats.org/officeDocument/2006/relationships/oleObject" Target="../embeddings/oleObject44.bin"/><Relationship Id="rId16" Type="http://schemas.openxmlformats.org/officeDocument/2006/relationships/image" Target="../media/image55.wmf"/><Relationship Id="rId15" Type="http://schemas.openxmlformats.org/officeDocument/2006/relationships/oleObject" Target="../embeddings/oleObject43.bin"/><Relationship Id="rId14" Type="http://schemas.openxmlformats.org/officeDocument/2006/relationships/image" Target="../media/image54.wmf"/><Relationship Id="rId13" Type="http://schemas.openxmlformats.org/officeDocument/2006/relationships/oleObject" Target="../embeddings/oleObject42.bin"/><Relationship Id="rId12" Type="http://schemas.openxmlformats.org/officeDocument/2006/relationships/image" Target="../media/image53.wmf"/><Relationship Id="rId11" Type="http://schemas.openxmlformats.org/officeDocument/2006/relationships/oleObject" Target="../embeddings/oleObject41.bin"/><Relationship Id="rId10" Type="http://schemas.openxmlformats.org/officeDocument/2006/relationships/image" Target="../media/image52.wmf"/><Relationship Id="rId1" Type="http://schemas.openxmlformats.org/officeDocument/2006/relationships/oleObject" Target="../embeddings/oleObject36.bin"/></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9" Type="http://schemas.openxmlformats.org/officeDocument/2006/relationships/oleObject" Target="../embeddings/oleObject66.bin"/><Relationship Id="rId8" Type="http://schemas.openxmlformats.org/officeDocument/2006/relationships/image" Target="../media/image77.wmf"/><Relationship Id="rId7" Type="http://schemas.openxmlformats.org/officeDocument/2006/relationships/oleObject" Target="../embeddings/oleObject65.bin"/><Relationship Id="rId6" Type="http://schemas.openxmlformats.org/officeDocument/2006/relationships/image" Target="../media/image76.wmf"/><Relationship Id="rId5" Type="http://schemas.openxmlformats.org/officeDocument/2006/relationships/oleObject" Target="../embeddings/oleObject64.bin"/><Relationship Id="rId4" Type="http://schemas.openxmlformats.org/officeDocument/2006/relationships/image" Target="../media/image75.wmf"/><Relationship Id="rId3" Type="http://schemas.openxmlformats.org/officeDocument/2006/relationships/oleObject" Target="../embeddings/oleObject63.bin"/><Relationship Id="rId24" Type="http://schemas.openxmlformats.org/officeDocument/2006/relationships/vmlDrawing" Target="../drawings/vmlDrawing17.vml"/><Relationship Id="rId23" Type="http://schemas.openxmlformats.org/officeDocument/2006/relationships/slideLayout" Target="../slideLayouts/slideLayout7.xml"/><Relationship Id="rId22" Type="http://schemas.openxmlformats.org/officeDocument/2006/relationships/image" Target="../media/image83.wmf"/><Relationship Id="rId21" Type="http://schemas.openxmlformats.org/officeDocument/2006/relationships/oleObject" Target="../embeddings/oleObject73.bin"/><Relationship Id="rId20" Type="http://schemas.openxmlformats.org/officeDocument/2006/relationships/image" Target="../media/image82.wmf"/><Relationship Id="rId2" Type="http://schemas.openxmlformats.org/officeDocument/2006/relationships/image" Target="../media/image74.wmf"/><Relationship Id="rId19" Type="http://schemas.openxmlformats.org/officeDocument/2006/relationships/oleObject" Target="../embeddings/oleObject72.bin"/><Relationship Id="rId18" Type="http://schemas.openxmlformats.org/officeDocument/2006/relationships/image" Target="../media/image81.wmf"/><Relationship Id="rId17" Type="http://schemas.openxmlformats.org/officeDocument/2006/relationships/oleObject" Target="../embeddings/oleObject71.bin"/><Relationship Id="rId16" Type="http://schemas.openxmlformats.org/officeDocument/2006/relationships/image" Target="../media/image80.wmf"/><Relationship Id="rId15" Type="http://schemas.openxmlformats.org/officeDocument/2006/relationships/oleObject" Target="../embeddings/oleObject70.bin"/><Relationship Id="rId14" Type="http://schemas.openxmlformats.org/officeDocument/2006/relationships/image" Target="../media/image79.wmf"/><Relationship Id="rId13" Type="http://schemas.openxmlformats.org/officeDocument/2006/relationships/oleObject" Target="../embeddings/oleObject69.bin"/><Relationship Id="rId12" Type="http://schemas.openxmlformats.org/officeDocument/2006/relationships/oleObject" Target="../embeddings/oleObject68.bin"/><Relationship Id="rId11" Type="http://schemas.openxmlformats.org/officeDocument/2006/relationships/oleObject" Target="../embeddings/oleObject67.bin"/><Relationship Id="rId10" Type="http://schemas.openxmlformats.org/officeDocument/2006/relationships/image" Target="../media/image78.wmf"/><Relationship Id="rId1" Type="http://schemas.openxmlformats.org/officeDocument/2006/relationships/oleObject" Target="../embeddings/oleObject62.bin"/></Relationships>
</file>

<file path=ppt/slides/_rels/slide44.xml.rels><?xml version="1.0" encoding="UTF-8" standalone="yes"?>
<Relationships xmlns="http://schemas.openxmlformats.org/package/2006/relationships"><Relationship Id="rId9" Type="http://schemas.openxmlformats.org/officeDocument/2006/relationships/oleObject" Target="../embeddings/oleObject78.bin"/><Relationship Id="rId8" Type="http://schemas.openxmlformats.org/officeDocument/2006/relationships/image" Target="../media/image87.wmf"/><Relationship Id="rId7" Type="http://schemas.openxmlformats.org/officeDocument/2006/relationships/oleObject" Target="../embeddings/oleObject77.bin"/><Relationship Id="rId6" Type="http://schemas.openxmlformats.org/officeDocument/2006/relationships/image" Target="../media/image86.wmf"/><Relationship Id="rId5" Type="http://schemas.openxmlformats.org/officeDocument/2006/relationships/oleObject" Target="../embeddings/oleObject76.bin"/><Relationship Id="rId4" Type="http://schemas.openxmlformats.org/officeDocument/2006/relationships/image" Target="../media/image85.wmf"/><Relationship Id="rId3" Type="http://schemas.openxmlformats.org/officeDocument/2006/relationships/oleObject" Target="../embeddings/oleObject75.bin"/><Relationship Id="rId2" Type="http://schemas.openxmlformats.org/officeDocument/2006/relationships/image" Target="../media/image84.wmf"/><Relationship Id="rId14" Type="http://schemas.openxmlformats.org/officeDocument/2006/relationships/vmlDrawing" Target="../drawings/vmlDrawing18.vml"/><Relationship Id="rId13" Type="http://schemas.openxmlformats.org/officeDocument/2006/relationships/slideLayout" Target="../slideLayouts/slideLayout2.xml"/><Relationship Id="rId12" Type="http://schemas.openxmlformats.org/officeDocument/2006/relationships/image" Target="../media/image89.wmf"/><Relationship Id="rId11" Type="http://schemas.openxmlformats.org/officeDocument/2006/relationships/oleObject" Target="../embeddings/oleObject79.bin"/><Relationship Id="rId10" Type="http://schemas.openxmlformats.org/officeDocument/2006/relationships/image" Target="../media/image88.wmf"/><Relationship Id="rId1" Type="http://schemas.openxmlformats.org/officeDocument/2006/relationships/oleObject" Target="../embeddings/oleObject74.bin"/></Relationships>
</file>

<file path=ppt/slides/_rels/slide45.xml.rels><?xml version="1.0" encoding="UTF-8" standalone="yes"?>
<Relationships xmlns="http://schemas.openxmlformats.org/package/2006/relationships"><Relationship Id="rId9" Type="http://schemas.openxmlformats.org/officeDocument/2006/relationships/oleObject" Target="../embeddings/oleObject84.bin"/><Relationship Id="rId8" Type="http://schemas.openxmlformats.org/officeDocument/2006/relationships/image" Target="../media/image93.wmf"/><Relationship Id="rId7" Type="http://schemas.openxmlformats.org/officeDocument/2006/relationships/oleObject" Target="../embeddings/oleObject83.bin"/><Relationship Id="rId6" Type="http://schemas.openxmlformats.org/officeDocument/2006/relationships/image" Target="../media/image92.wmf"/><Relationship Id="rId5" Type="http://schemas.openxmlformats.org/officeDocument/2006/relationships/oleObject" Target="../embeddings/oleObject82.bin"/><Relationship Id="rId4" Type="http://schemas.openxmlformats.org/officeDocument/2006/relationships/image" Target="../media/image91.wmf"/><Relationship Id="rId3" Type="http://schemas.openxmlformats.org/officeDocument/2006/relationships/oleObject" Target="../embeddings/oleObject81.bin"/><Relationship Id="rId2" Type="http://schemas.openxmlformats.org/officeDocument/2006/relationships/image" Target="../media/image90.wmf"/><Relationship Id="rId18" Type="http://schemas.openxmlformats.org/officeDocument/2006/relationships/vmlDrawing" Target="../drawings/vmlDrawing19.vml"/><Relationship Id="rId17" Type="http://schemas.openxmlformats.org/officeDocument/2006/relationships/slideLayout" Target="../slideLayouts/slideLayout2.xml"/><Relationship Id="rId16" Type="http://schemas.openxmlformats.org/officeDocument/2006/relationships/image" Target="../media/image97.wmf"/><Relationship Id="rId15" Type="http://schemas.openxmlformats.org/officeDocument/2006/relationships/oleObject" Target="../embeddings/oleObject87.bin"/><Relationship Id="rId14" Type="http://schemas.openxmlformats.org/officeDocument/2006/relationships/image" Target="../media/image96.wmf"/><Relationship Id="rId13" Type="http://schemas.openxmlformats.org/officeDocument/2006/relationships/oleObject" Target="../embeddings/oleObject86.bin"/><Relationship Id="rId12" Type="http://schemas.openxmlformats.org/officeDocument/2006/relationships/image" Target="../media/image95.wmf"/><Relationship Id="rId11" Type="http://schemas.openxmlformats.org/officeDocument/2006/relationships/oleObject" Target="../embeddings/oleObject85.bin"/><Relationship Id="rId10" Type="http://schemas.openxmlformats.org/officeDocument/2006/relationships/image" Target="../media/image94.wmf"/><Relationship Id="rId1" Type="http://schemas.openxmlformats.org/officeDocument/2006/relationships/oleObject" Target="../embeddings/oleObject80.bin"/></Relationships>
</file>

<file path=ppt/slides/_rels/slide46.xml.rels><?xml version="1.0" encoding="UTF-8" standalone="yes"?>
<Relationships xmlns="http://schemas.openxmlformats.org/package/2006/relationships"><Relationship Id="rId9" Type="http://schemas.openxmlformats.org/officeDocument/2006/relationships/oleObject" Target="../embeddings/oleObject92.bin"/><Relationship Id="rId8" Type="http://schemas.openxmlformats.org/officeDocument/2006/relationships/image" Target="../media/image101.png"/><Relationship Id="rId7" Type="http://schemas.openxmlformats.org/officeDocument/2006/relationships/oleObject" Target="../embeddings/oleObject91.bin"/><Relationship Id="rId6" Type="http://schemas.openxmlformats.org/officeDocument/2006/relationships/image" Target="../media/image100.png"/><Relationship Id="rId5" Type="http://schemas.openxmlformats.org/officeDocument/2006/relationships/oleObject" Target="../embeddings/oleObject90.bin"/><Relationship Id="rId4" Type="http://schemas.openxmlformats.org/officeDocument/2006/relationships/image" Target="../media/image99.png"/><Relationship Id="rId3" Type="http://schemas.openxmlformats.org/officeDocument/2006/relationships/oleObject" Target="../embeddings/oleObject89.bin"/><Relationship Id="rId20" Type="http://schemas.openxmlformats.org/officeDocument/2006/relationships/vmlDrawing" Target="../drawings/vmlDrawing20.vml"/><Relationship Id="rId2" Type="http://schemas.openxmlformats.org/officeDocument/2006/relationships/image" Target="../media/image98.png"/><Relationship Id="rId19" Type="http://schemas.openxmlformats.org/officeDocument/2006/relationships/slideLayout" Target="../slideLayouts/slideLayout7.xml"/><Relationship Id="rId18" Type="http://schemas.openxmlformats.org/officeDocument/2006/relationships/image" Target="../media/image106.png"/><Relationship Id="rId17" Type="http://schemas.openxmlformats.org/officeDocument/2006/relationships/oleObject" Target="../embeddings/oleObject96.bin"/><Relationship Id="rId16" Type="http://schemas.openxmlformats.org/officeDocument/2006/relationships/image" Target="../media/image105.png"/><Relationship Id="rId15" Type="http://schemas.openxmlformats.org/officeDocument/2006/relationships/oleObject" Target="../embeddings/oleObject95.bin"/><Relationship Id="rId14" Type="http://schemas.openxmlformats.org/officeDocument/2006/relationships/image" Target="../media/image104.png"/><Relationship Id="rId13" Type="http://schemas.openxmlformats.org/officeDocument/2006/relationships/oleObject" Target="../embeddings/oleObject94.bin"/><Relationship Id="rId12" Type="http://schemas.openxmlformats.org/officeDocument/2006/relationships/image" Target="../media/image103.png"/><Relationship Id="rId11" Type="http://schemas.openxmlformats.org/officeDocument/2006/relationships/oleObject" Target="../embeddings/oleObject93.bin"/><Relationship Id="rId10" Type="http://schemas.openxmlformats.org/officeDocument/2006/relationships/image" Target="../media/image102.png"/><Relationship Id="rId1" Type="http://schemas.openxmlformats.org/officeDocument/2006/relationships/oleObject" Target="../embeddings/oleObject88.bin"/></Relationships>
</file>

<file path=ppt/slides/_rels/slide47.xml.rels><?xml version="1.0" encoding="UTF-8" standalone="yes"?>
<Relationships xmlns="http://schemas.openxmlformats.org/package/2006/relationships"><Relationship Id="rId9" Type="http://schemas.openxmlformats.org/officeDocument/2006/relationships/oleObject" Target="../embeddings/oleObject101.bin"/><Relationship Id="rId8" Type="http://schemas.openxmlformats.org/officeDocument/2006/relationships/image" Target="../media/image110.wmf"/><Relationship Id="rId7" Type="http://schemas.openxmlformats.org/officeDocument/2006/relationships/oleObject" Target="../embeddings/oleObject100.bin"/><Relationship Id="rId6" Type="http://schemas.openxmlformats.org/officeDocument/2006/relationships/image" Target="../media/image109.wmf"/><Relationship Id="rId5" Type="http://schemas.openxmlformats.org/officeDocument/2006/relationships/oleObject" Target="../embeddings/oleObject99.bin"/><Relationship Id="rId4" Type="http://schemas.openxmlformats.org/officeDocument/2006/relationships/image" Target="../media/image108.wmf"/><Relationship Id="rId3" Type="http://schemas.openxmlformats.org/officeDocument/2006/relationships/oleObject" Target="../embeddings/oleObject98.bin"/><Relationship Id="rId22" Type="http://schemas.openxmlformats.org/officeDocument/2006/relationships/vmlDrawing" Target="../drawings/vmlDrawing21.vml"/><Relationship Id="rId21" Type="http://schemas.openxmlformats.org/officeDocument/2006/relationships/slideLayout" Target="../slideLayouts/slideLayout7.xml"/><Relationship Id="rId20" Type="http://schemas.openxmlformats.org/officeDocument/2006/relationships/image" Target="../media/image116.wmf"/><Relationship Id="rId2" Type="http://schemas.openxmlformats.org/officeDocument/2006/relationships/image" Target="../media/image107.wmf"/><Relationship Id="rId19" Type="http://schemas.openxmlformats.org/officeDocument/2006/relationships/oleObject" Target="../embeddings/oleObject106.bin"/><Relationship Id="rId18" Type="http://schemas.openxmlformats.org/officeDocument/2006/relationships/image" Target="../media/image115.wmf"/><Relationship Id="rId17" Type="http://schemas.openxmlformats.org/officeDocument/2006/relationships/oleObject" Target="../embeddings/oleObject105.bin"/><Relationship Id="rId16" Type="http://schemas.openxmlformats.org/officeDocument/2006/relationships/image" Target="../media/image114.wmf"/><Relationship Id="rId15" Type="http://schemas.openxmlformats.org/officeDocument/2006/relationships/oleObject" Target="../embeddings/oleObject104.bin"/><Relationship Id="rId14" Type="http://schemas.openxmlformats.org/officeDocument/2006/relationships/image" Target="../media/image113.wmf"/><Relationship Id="rId13" Type="http://schemas.openxmlformats.org/officeDocument/2006/relationships/oleObject" Target="../embeddings/oleObject103.bin"/><Relationship Id="rId12" Type="http://schemas.openxmlformats.org/officeDocument/2006/relationships/image" Target="../media/image112.wmf"/><Relationship Id="rId11" Type="http://schemas.openxmlformats.org/officeDocument/2006/relationships/oleObject" Target="../embeddings/oleObject102.bin"/><Relationship Id="rId10" Type="http://schemas.openxmlformats.org/officeDocument/2006/relationships/image" Target="../media/image111.wmf"/><Relationship Id="rId1" Type="http://schemas.openxmlformats.org/officeDocument/2006/relationships/oleObject" Target="../embeddings/oleObject97.bin"/></Relationships>
</file>

<file path=ppt/slides/_rels/slide48.xml.rels><?xml version="1.0" encoding="UTF-8" standalone="yes"?>
<Relationships xmlns="http://schemas.openxmlformats.org/package/2006/relationships"><Relationship Id="rId9" Type="http://schemas.openxmlformats.org/officeDocument/2006/relationships/oleObject" Target="../embeddings/oleObject111.bin"/><Relationship Id="rId8" Type="http://schemas.openxmlformats.org/officeDocument/2006/relationships/image" Target="../media/image120.wmf"/><Relationship Id="rId7" Type="http://schemas.openxmlformats.org/officeDocument/2006/relationships/oleObject" Target="../embeddings/oleObject110.bin"/><Relationship Id="rId6" Type="http://schemas.openxmlformats.org/officeDocument/2006/relationships/image" Target="../media/image119.wmf"/><Relationship Id="rId5" Type="http://schemas.openxmlformats.org/officeDocument/2006/relationships/oleObject" Target="../embeddings/oleObject109.bin"/><Relationship Id="rId4" Type="http://schemas.openxmlformats.org/officeDocument/2006/relationships/image" Target="../media/image118.wmf"/><Relationship Id="rId3" Type="http://schemas.openxmlformats.org/officeDocument/2006/relationships/oleObject" Target="../embeddings/oleObject108.bin"/><Relationship Id="rId26" Type="http://schemas.openxmlformats.org/officeDocument/2006/relationships/vmlDrawing" Target="../drawings/vmlDrawing22.vml"/><Relationship Id="rId25" Type="http://schemas.openxmlformats.org/officeDocument/2006/relationships/slideLayout" Target="../slideLayouts/slideLayout7.xml"/><Relationship Id="rId24" Type="http://schemas.openxmlformats.org/officeDocument/2006/relationships/image" Target="../media/image128.png"/><Relationship Id="rId23" Type="http://schemas.openxmlformats.org/officeDocument/2006/relationships/oleObject" Target="../embeddings/oleObject118.bin"/><Relationship Id="rId22" Type="http://schemas.openxmlformats.org/officeDocument/2006/relationships/image" Target="../media/image127.png"/><Relationship Id="rId21" Type="http://schemas.openxmlformats.org/officeDocument/2006/relationships/oleObject" Target="../embeddings/oleObject117.bin"/><Relationship Id="rId20" Type="http://schemas.openxmlformats.org/officeDocument/2006/relationships/image" Target="../media/image126.png"/><Relationship Id="rId2" Type="http://schemas.openxmlformats.org/officeDocument/2006/relationships/image" Target="../media/image117.wmf"/><Relationship Id="rId19" Type="http://schemas.openxmlformats.org/officeDocument/2006/relationships/oleObject" Target="../embeddings/oleObject116.bin"/><Relationship Id="rId18" Type="http://schemas.openxmlformats.org/officeDocument/2006/relationships/image" Target="../media/image125.wmf"/><Relationship Id="rId17" Type="http://schemas.openxmlformats.org/officeDocument/2006/relationships/oleObject" Target="../embeddings/oleObject115.bin"/><Relationship Id="rId16" Type="http://schemas.openxmlformats.org/officeDocument/2006/relationships/image" Target="../media/image124.wmf"/><Relationship Id="rId15" Type="http://schemas.openxmlformats.org/officeDocument/2006/relationships/oleObject" Target="../embeddings/oleObject114.bin"/><Relationship Id="rId14" Type="http://schemas.openxmlformats.org/officeDocument/2006/relationships/image" Target="../media/image123.wmf"/><Relationship Id="rId13" Type="http://schemas.openxmlformats.org/officeDocument/2006/relationships/oleObject" Target="../embeddings/oleObject113.bin"/><Relationship Id="rId12" Type="http://schemas.openxmlformats.org/officeDocument/2006/relationships/image" Target="../media/image122.png"/><Relationship Id="rId11" Type="http://schemas.openxmlformats.org/officeDocument/2006/relationships/oleObject" Target="../embeddings/oleObject112.bin"/><Relationship Id="rId10" Type="http://schemas.openxmlformats.org/officeDocument/2006/relationships/image" Target="../media/image121.wmf"/><Relationship Id="rId1" Type="http://schemas.openxmlformats.org/officeDocument/2006/relationships/oleObject" Target="../embeddings/oleObject107.bin"/></Relationships>
</file>

<file path=ppt/slides/_rels/slide49.xml.rels><?xml version="1.0" encoding="UTF-8" standalone="yes"?>
<Relationships xmlns="http://schemas.openxmlformats.org/package/2006/relationships"><Relationship Id="rId9" Type="http://schemas.openxmlformats.org/officeDocument/2006/relationships/oleObject" Target="../embeddings/oleObject123.bin"/><Relationship Id="rId8" Type="http://schemas.openxmlformats.org/officeDocument/2006/relationships/image" Target="../media/image132.wmf"/><Relationship Id="rId7" Type="http://schemas.openxmlformats.org/officeDocument/2006/relationships/oleObject" Target="../embeddings/oleObject122.bin"/><Relationship Id="rId6" Type="http://schemas.openxmlformats.org/officeDocument/2006/relationships/image" Target="../media/image131.wmf"/><Relationship Id="rId5" Type="http://schemas.openxmlformats.org/officeDocument/2006/relationships/oleObject" Target="../embeddings/oleObject121.bin"/><Relationship Id="rId4" Type="http://schemas.openxmlformats.org/officeDocument/2006/relationships/image" Target="../media/image130.wmf"/><Relationship Id="rId3" Type="http://schemas.openxmlformats.org/officeDocument/2006/relationships/oleObject" Target="../embeddings/oleObject120.bin"/><Relationship Id="rId2" Type="http://schemas.openxmlformats.org/officeDocument/2006/relationships/image" Target="../media/image129.wmf"/><Relationship Id="rId14" Type="http://schemas.openxmlformats.org/officeDocument/2006/relationships/vmlDrawing" Target="../drawings/vmlDrawing23.vml"/><Relationship Id="rId13" Type="http://schemas.openxmlformats.org/officeDocument/2006/relationships/slideLayout" Target="../slideLayouts/slideLayout7.xml"/><Relationship Id="rId12" Type="http://schemas.openxmlformats.org/officeDocument/2006/relationships/image" Target="../media/image134.wmf"/><Relationship Id="rId11" Type="http://schemas.openxmlformats.org/officeDocument/2006/relationships/oleObject" Target="../embeddings/oleObject124.bin"/><Relationship Id="rId10" Type="http://schemas.openxmlformats.org/officeDocument/2006/relationships/image" Target="../media/image133.wmf"/><Relationship Id="rId1" Type="http://schemas.openxmlformats.org/officeDocument/2006/relationships/oleObject" Target="../embeddings/oleObject119.bin"/></Relationships>
</file>

<file path=ppt/slides/_rels/slide50.xml.rels><?xml version="1.0" encoding="UTF-8" standalone="yes"?>
<Relationships xmlns="http://schemas.openxmlformats.org/package/2006/relationships"><Relationship Id="rId9" Type="http://schemas.openxmlformats.org/officeDocument/2006/relationships/oleObject" Target="../embeddings/oleObject129.bin"/><Relationship Id="rId8" Type="http://schemas.openxmlformats.org/officeDocument/2006/relationships/image" Target="../media/image138.wmf"/><Relationship Id="rId7" Type="http://schemas.openxmlformats.org/officeDocument/2006/relationships/oleObject" Target="../embeddings/oleObject128.bin"/><Relationship Id="rId6" Type="http://schemas.openxmlformats.org/officeDocument/2006/relationships/image" Target="../media/image137.png"/><Relationship Id="rId5" Type="http://schemas.openxmlformats.org/officeDocument/2006/relationships/oleObject" Target="../embeddings/oleObject127.bin"/><Relationship Id="rId4" Type="http://schemas.openxmlformats.org/officeDocument/2006/relationships/image" Target="../media/image136.png"/><Relationship Id="rId3" Type="http://schemas.openxmlformats.org/officeDocument/2006/relationships/oleObject" Target="../embeddings/oleObject126.bin"/><Relationship Id="rId26" Type="http://schemas.openxmlformats.org/officeDocument/2006/relationships/vmlDrawing" Target="../drawings/vmlDrawing24.vml"/><Relationship Id="rId25" Type="http://schemas.openxmlformats.org/officeDocument/2006/relationships/slideLayout" Target="../slideLayouts/slideLayout7.xml"/><Relationship Id="rId24" Type="http://schemas.openxmlformats.org/officeDocument/2006/relationships/image" Target="../media/image145.png"/><Relationship Id="rId23" Type="http://schemas.openxmlformats.org/officeDocument/2006/relationships/oleObject" Target="../embeddings/oleObject136.bin"/><Relationship Id="rId22" Type="http://schemas.openxmlformats.org/officeDocument/2006/relationships/image" Target="../media/image144.wmf"/><Relationship Id="rId21" Type="http://schemas.openxmlformats.org/officeDocument/2006/relationships/oleObject" Target="../embeddings/oleObject135.bin"/><Relationship Id="rId20" Type="http://schemas.openxmlformats.org/officeDocument/2006/relationships/image" Target="../media/image143.wmf"/><Relationship Id="rId2" Type="http://schemas.openxmlformats.org/officeDocument/2006/relationships/image" Target="../media/image135.png"/><Relationship Id="rId19" Type="http://schemas.openxmlformats.org/officeDocument/2006/relationships/oleObject" Target="../embeddings/oleObject134.bin"/><Relationship Id="rId18" Type="http://schemas.openxmlformats.org/officeDocument/2006/relationships/image" Target="../media/image142.wmf"/><Relationship Id="rId17" Type="http://schemas.openxmlformats.org/officeDocument/2006/relationships/oleObject" Target="../embeddings/oleObject133.bin"/><Relationship Id="rId16" Type="http://schemas.openxmlformats.org/officeDocument/2006/relationships/image" Target="../media/image132.wmf"/><Relationship Id="rId15" Type="http://schemas.openxmlformats.org/officeDocument/2006/relationships/oleObject" Target="../embeddings/oleObject132.bin"/><Relationship Id="rId14" Type="http://schemas.openxmlformats.org/officeDocument/2006/relationships/image" Target="../media/image141.wmf"/><Relationship Id="rId13" Type="http://schemas.openxmlformats.org/officeDocument/2006/relationships/oleObject" Target="../embeddings/oleObject131.bin"/><Relationship Id="rId12" Type="http://schemas.openxmlformats.org/officeDocument/2006/relationships/image" Target="../media/image140.wmf"/><Relationship Id="rId11" Type="http://schemas.openxmlformats.org/officeDocument/2006/relationships/oleObject" Target="../embeddings/oleObject130.bin"/><Relationship Id="rId10" Type="http://schemas.openxmlformats.org/officeDocument/2006/relationships/image" Target="../media/image139.wmf"/><Relationship Id="rId1" Type="http://schemas.openxmlformats.org/officeDocument/2006/relationships/oleObject" Target="../embeddings/oleObject125.bin"/></Relationships>
</file>

<file path=ppt/slides/_rels/slide51.xml.rels><?xml version="1.0" encoding="UTF-8" standalone="yes"?>
<Relationships xmlns="http://schemas.openxmlformats.org/package/2006/relationships"><Relationship Id="rId6" Type="http://schemas.openxmlformats.org/officeDocument/2006/relationships/vmlDrawing" Target="../drawings/vmlDrawing25.vml"/><Relationship Id="rId5" Type="http://schemas.openxmlformats.org/officeDocument/2006/relationships/slideLayout" Target="../slideLayouts/slideLayout1.xml"/><Relationship Id="rId4" Type="http://schemas.openxmlformats.org/officeDocument/2006/relationships/image" Target="../media/image147.wmf"/><Relationship Id="rId3" Type="http://schemas.openxmlformats.org/officeDocument/2006/relationships/oleObject" Target="../embeddings/oleObject138.bin"/><Relationship Id="rId2" Type="http://schemas.openxmlformats.org/officeDocument/2006/relationships/image" Target="../media/image146.wmf"/><Relationship Id="rId1" Type="http://schemas.openxmlformats.org/officeDocument/2006/relationships/oleObject" Target="../embeddings/oleObject137.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9" Type="http://schemas.openxmlformats.org/officeDocument/2006/relationships/oleObject" Target="../embeddings/oleObject145.bin"/><Relationship Id="rId8" Type="http://schemas.openxmlformats.org/officeDocument/2006/relationships/oleObject" Target="../embeddings/oleObject144.bin"/><Relationship Id="rId7" Type="http://schemas.openxmlformats.org/officeDocument/2006/relationships/oleObject" Target="../embeddings/oleObject143.bin"/><Relationship Id="rId6" Type="http://schemas.openxmlformats.org/officeDocument/2006/relationships/oleObject" Target="../embeddings/oleObject142.bin"/><Relationship Id="rId5" Type="http://schemas.openxmlformats.org/officeDocument/2006/relationships/oleObject" Target="../embeddings/oleObject141.bin"/><Relationship Id="rId4" Type="http://schemas.openxmlformats.org/officeDocument/2006/relationships/image" Target="../media/image149.wmf"/><Relationship Id="rId3" Type="http://schemas.openxmlformats.org/officeDocument/2006/relationships/oleObject" Target="../embeddings/oleObject140.bin"/><Relationship Id="rId27" Type="http://schemas.openxmlformats.org/officeDocument/2006/relationships/vmlDrawing" Target="../drawings/vmlDrawing26.vml"/><Relationship Id="rId26" Type="http://schemas.openxmlformats.org/officeDocument/2006/relationships/slideLayout" Target="../slideLayouts/slideLayout2.xml"/><Relationship Id="rId25" Type="http://schemas.openxmlformats.org/officeDocument/2006/relationships/image" Target="../media/image157.wmf"/><Relationship Id="rId24" Type="http://schemas.openxmlformats.org/officeDocument/2006/relationships/oleObject" Target="../embeddings/oleObject153.bin"/><Relationship Id="rId23" Type="http://schemas.openxmlformats.org/officeDocument/2006/relationships/image" Target="../media/image156.wmf"/><Relationship Id="rId22" Type="http://schemas.openxmlformats.org/officeDocument/2006/relationships/oleObject" Target="../embeddings/oleObject152.bin"/><Relationship Id="rId21" Type="http://schemas.openxmlformats.org/officeDocument/2006/relationships/image" Target="../media/image155.wmf"/><Relationship Id="rId20" Type="http://schemas.openxmlformats.org/officeDocument/2006/relationships/oleObject" Target="../embeddings/oleObject151.bin"/><Relationship Id="rId2" Type="http://schemas.openxmlformats.org/officeDocument/2006/relationships/image" Target="../media/image148.wmf"/><Relationship Id="rId19" Type="http://schemas.openxmlformats.org/officeDocument/2006/relationships/image" Target="../media/image154.wmf"/><Relationship Id="rId18" Type="http://schemas.openxmlformats.org/officeDocument/2006/relationships/oleObject" Target="../embeddings/oleObject150.bin"/><Relationship Id="rId17" Type="http://schemas.openxmlformats.org/officeDocument/2006/relationships/image" Target="../media/image153.wmf"/><Relationship Id="rId16" Type="http://schemas.openxmlformats.org/officeDocument/2006/relationships/oleObject" Target="../embeddings/oleObject149.bin"/><Relationship Id="rId15" Type="http://schemas.openxmlformats.org/officeDocument/2006/relationships/image" Target="../media/image152.wmf"/><Relationship Id="rId14" Type="http://schemas.openxmlformats.org/officeDocument/2006/relationships/oleObject" Target="../embeddings/oleObject148.bin"/><Relationship Id="rId13" Type="http://schemas.openxmlformats.org/officeDocument/2006/relationships/image" Target="../media/image151.wmf"/><Relationship Id="rId12" Type="http://schemas.openxmlformats.org/officeDocument/2006/relationships/oleObject" Target="../embeddings/oleObject147.bin"/><Relationship Id="rId11" Type="http://schemas.openxmlformats.org/officeDocument/2006/relationships/image" Target="../media/image150.wmf"/><Relationship Id="rId10" Type="http://schemas.openxmlformats.org/officeDocument/2006/relationships/oleObject" Target="../embeddings/oleObject146.bin"/><Relationship Id="rId1" Type="http://schemas.openxmlformats.org/officeDocument/2006/relationships/oleObject" Target="../embeddings/oleObject139.bin"/></Relationships>
</file>

<file path=ppt/slides/_rels/slide55.xml.rels><?xml version="1.0" encoding="UTF-8" standalone="yes"?>
<Relationships xmlns="http://schemas.openxmlformats.org/package/2006/relationships"><Relationship Id="rId9" Type="http://schemas.openxmlformats.org/officeDocument/2006/relationships/oleObject" Target="../embeddings/oleObject158.bin"/><Relationship Id="rId8" Type="http://schemas.openxmlformats.org/officeDocument/2006/relationships/image" Target="../media/image161.wmf"/><Relationship Id="rId7" Type="http://schemas.openxmlformats.org/officeDocument/2006/relationships/oleObject" Target="../embeddings/oleObject157.bin"/><Relationship Id="rId6" Type="http://schemas.openxmlformats.org/officeDocument/2006/relationships/image" Target="../media/image160.wmf"/><Relationship Id="rId5" Type="http://schemas.openxmlformats.org/officeDocument/2006/relationships/oleObject" Target="../embeddings/oleObject156.bin"/><Relationship Id="rId4" Type="http://schemas.openxmlformats.org/officeDocument/2006/relationships/image" Target="../media/image159.wmf"/><Relationship Id="rId3" Type="http://schemas.openxmlformats.org/officeDocument/2006/relationships/oleObject" Target="../embeddings/oleObject155.bin"/><Relationship Id="rId2" Type="http://schemas.openxmlformats.org/officeDocument/2006/relationships/image" Target="../media/image158.wmf"/><Relationship Id="rId18" Type="http://schemas.openxmlformats.org/officeDocument/2006/relationships/vmlDrawing" Target="../drawings/vmlDrawing27.vml"/><Relationship Id="rId17" Type="http://schemas.openxmlformats.org/officeDocument/2006/relationships/slideLayout" Target="../slideLayouts/slideLayout7.xml"/><Relationship Id="rId16" Type="http://schemas.openxmlformats.org/officeDocument/2006/relationships/image" Target="../media/image165.wmf"/><Relationship Id="rId15" Type="http://schemas.openxmlformats.org/officeDocument/2006/relationships/oleObject" Target="../embeddings/oleObject161.bin"/><Relationship Id="rId14" Type="http://schemas.openxmlformats.org/officeDocument/2006/relationships/image" Target="../media/image164.wmf"/><Relationship Id="rId13" Type="http://schemas.openxmlformats.org/officeDocument/2006/relationships/oleObject" Target="../embeddings/oleObject160.bin"/><Relationship Id="rId12" Type="http://schemas.openxmlformats.org/officeDocument/2006/relationships/image" Target="../media/image163.wmf"/><Relationship Id="rId11" Type="http://schemas.openxmlformats.org/officeDocument/2006/relationships/oleObject" Target="../embeddings/oleObject159.bin"/><Relationship Id="rId10" Type="http://schemas.openxmlformats.org/officeDocument/2006/relationships/image" Target="../media/image162.wmf"/><Relationship Id="rId1" Type="http://schemas.openxmlformats.org/officeDocument/2006/relationships/oleObject" Target="../embeddings/oleObject154.bin"/></Relationships>
</file>

<file path=ppt/slides/_rels/slide56.xml.rels><?xml version="1.0" encoding="UTF-8" standalone="yes"?>
<Relationships xmlns="http://schemas.openxmlformats.org/package/2006/relationships"><Relationship Id="rId6" Type="http://schemas.openxmlformats.org/officeDocument/2006/relationships/vmlDrawing" Target="../drawings/vmlDrawing28.vml"/><Relationship Id="rId5" Type="http://schemas.openxmlformats.org/officeDocument/2006/relationships/slideLayout" Target="../slideLayouts/slideLayout1.xml"/><Relationship Id="rId4" Type="http://schemas.openxmlformats.org/officeDocument/2006/relationships/image" Target="../media/image167.wmf"/><Relationship Id="rId3" Type="http://schemas.openxmlformats.org/officeDocument/2006/relationships/oleObject" Target="../embeddings/oleObject163.bin"/><Relationship Id="rId2" Type="http://schemas.openxmlformats.org/officeDocument/2006/relationships/image" Target="../media/image166.emf"/><Relationship Id="rId1" Type="http://schemas.openxmlformats.org/officeDocument/2006/relationships/oleObject" Target="../embeddings/oleObject162.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5" Type="http://schemas.openxmlformats.org/officeDocument/2006/relationships/vmlDrawing" Target="../drawings/vmlDrawing29.vml"/><Relationship Id="rId4" Type="http://schemas.openxmlformats.org/officeDocument/2006/relationships/slideLayout" Target="../slideLayouts/slideLayout1.xml"/><Relationship Id="rId3" Type="http://schemas.openxmlformats.org/officeDocument/2006/relationships/image" Target="../media/image169.jpeg"/><Relationship Id="rId2" Type="http://schemas.openxmlformats.org/officeDocument/2006/relationships/image" Target="../media/image168.emf"/><Relationship Id="rId1" Type="http://schemas.openxmlformats.org/officeDocument/2006/relationships/oleObject" Target="../embeddings/oleObject164.bin"/></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0.png"/></Relationships>
</file>

<file path=ppt/slides/_rels/slide60.xml.rels><?xml version="1.0" encoding="UTF-8" standalone="yes"?>
<Relationships xmlns="http://schemas.openxmlformats.org/package/2006/relationships"><Relationship Id="rId4" Type="http://schemas.openxmlformats.org/officeDocument/2006/relationships/vmlDrawing" Target="../drawings/vmlDrawing30.vml"/><Relationship Id="rId3" Type="http://schemas.openxmlformats.org/officeDocument/2006/relationships/slideLayout" Target="../slideLayouts/slideLayout1.xml"/><Relationship Id="rId2" Type="http://schemas.openxmlformats.org/officeDocument/2006/relationships/image" Target="../media/image171.wmf"/><Relationship Id="rId1" Type="http://schemas.openxmlformats.org/officeDocument/2006/relationships/oleObject" Target="../embeddings/oleObject165.bin"/></Relationships>
</file>

<file path=ppt/slides/_rels/slide61.xml.rels><?xml version="1.0" encoding="UTF-8" standalone="yes"?>
<Relationships xmlns="http://schemas.openxmlformats.org/package/2006/relationships"><Relationship Id="rId4" Type="http://schemas.openxmlformats.org/officeDocument/2006/relationships/vmlDrawing" Target="../drawings/vmlDrawing31.vml"/><Relationship Id="rId3" Type="http://schemas.openxmlformats.org/officeDocument/2006/relationships/slideLayout" Target="../slideLayouts/slideLayout1.xml"/><Relationship Id="rId2" Type="http://schemas.openxmlformats.org/officeDocument/2006/relationships/image" Target="../media/image172.wmf"/><Relationship Id="rId1" Type="http://schemas.openxmlformats.org/officeDocument/2006/relationships/oleObject" Target="../embeddings/oleObject166.bin"/></Relationships>
</file>

<file path=ppt/slides/_rels/slide62.xml.rels><?xml version="1.0" encoding="UTF-8" standalone="yes"?>
<Relationships xmlns="http://schemas.openxmlformats.org/package/2006/relationships"><Relationship Id="rId9" Type="http://schemas.openxmlformats.org/officeDocument/2006/relationships/oleObject" Target="../embeddings/oleObject171.bin"/><Relationship Id="rId8" Type="http://schemas.openxmlformats.org/officeDocument/2006/relationships/image" Target="../media/image176.wmf"/><Relationship Id="rId7" Type="http://schemas.openxmlformats.org/officeDocument/2006/relationships/oleObject" Target="../embeddings/oleObject170.bin"/><Relationship Id="rId6" Type="http://schemas.openxmlformats.org/officeDocument/2006/relationships/image" Target="../media/image175.wmf"/><Relationship Id="rId5" Type="http://schemas.openxmlformats.org/officeDocument/2006/relationships/oleObject" Target="../embeddings/oleObject169.bin"/><Relationship Id="rId4" Type="http://schemas.openxmlformats.org/officeDocument/2006/relationships/image" Target="../media/image174.wmf"/><Relationship Id="rId3" Type="http://schemas.openxmlformats.org/officeDocument/2006/relationships/oleObject" Target="../embeddings/oleObject168.bin"/><Relationship Id="rId2" Type="http://schemas.openxmlformats.org/officeDocument/2006/relationships/image" Target="../media/image173.wmf"/><Relationship Id="rId13" Type="http://schemas.openxmlformats.org/officeDocument/2006/relationships/notesSlide" Target="../notesSlides/notesSlide2.xml"/><Relationship Id="rId12" Type="http://schemas.openxmlformats.org/officeDocument/2006/relationships/vmlDrawing" Target="../drawings/vmlDrawing32.vml"/><Relationship Id="rId11" Type="http://schemas.openxmlformats.org/officeDocument/2006/relationships/slideLayout" Target="../slideLayouts/slideLayout7.xml"/><Relationship Id="rId10" Type="http://schemas.openxmlformats.org/officeDocument/2006/relationships/image" Target="../media/image177.wmf"/><Relationship Id="rId1" Type="http://schemas.openxmlformats.org/officeDocument/2006/relationships/oleObject" Target="../embeddings/oleObject167.bin"/></Relationships>
</file>

<file path=ppt/slides/_rels/slide6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81.wmf"/><Relationship Id="rId7" Type="http://schemas.openxmlformats.org/officeDocument/2006/relationships/oleObject" Target="../embeddings/oleObject175.bin"/><Relationship Id="rId6" Type="http://schemas.openxmlformats.org/officeDocument/2006/relationships/image" Target="../media/image180.wmf"/><Relationship Id="rId5" Type="http://schemas.openxmlformats.org/officeDocument/2006/relationships/oleObject" Target="../embeddings/oleObject174.bin"/><Relationship Id="rId4" Type="http://schemas.openxmlformats.org/officeDocument/2006/relationships/image" Target="../media/image179.wmf"/><Relationship Id="rId3" Type="http://schemas.openxmlformats.org/officeDocument/2006/relationships/oleObject" Target="../embeddings/oleObject173.bin"/><Relationship Id="rId2" Type="http://schemas.openxmlformats.org/officeDocument/2006/relationships/image" Target="../media/image178.wmf"/><Relationship Id="rId10" Type="http://schemas.openxmlformats.org/officeDocument/2006/relationships/vmlDrawing" Target="../drawings/vmlDrawing33.vml"/><Relationship Id="rId1" Type="http://schemas.openxmlformats.org/officeDocument/2006/relationships/oleObject" Target="../embeddings/oleObject172.bin"/></Relationships>
</file>

<file path=ppt/slides/_rels/slide6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85.wmf"/><Relationship Id="rId7" Type="http://schemas.openxmlformats.org/officeDocument/2006/relationships/oleObject" Target="../embeddings/oleObject179.bin"/><Relationship Id="rId6" Type="http://schemas.openxmlformats.org/officeDocument/2006/relationships/image" Target="../media/image184.wmf"/><Relationship Id="rId5" Type="http://schemas.openxmlformats.org/officeDocument/2006/relationships/oleObject" Target="../embeddings/oleObject178.bin"/><Relationship Id="rId4" Type="http://schemas.openxmlformats.org/officeDocument/2006/relationships/image" Target="../media/image183.wmf"/><Relationship Id="rId3" Type="http://schemas.openxmlformats.org/officeDocument/2006/relationships/oleObject" Target="../embeddings/oleObject177.bin"/><Relationship Id="rId2" Type="http://schemas.openxmlformats.org/officeDocument/2006/relationships/image" Target="../media/image182.wmf"/><Relationship Id="rId10" Type="http://schemas.openxmlformats.org/officeDocument/2006/relationships/vmlDrawing" Target="../drawings/vmlDrawing34.vml"/><Relationship Id="rId1" Type="http://schemas.openxmlformats.org/officeDocument/2006/relationships/oleObject" Target="../embeddings/oleObject176.bin"/></Relationships>
</file>

<file path=ppt/slides/_rels/slide65.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74.wmf"/><Relationship Id="rId7" Type="http://schemas.openxmlformats.org/officeDocument/2006/relationships/oleObject" Target="../embeddings/oleObject183.bin"/><Relationship Id="rId6" Type="http://schemas.openxmlformats.org/officeDocument/2006/relationships/image" Target="../media/image188.wmf"/><Relationship Id="rId5" Type="http://schemas.openxmlformats.org/officeDocument/2006/relationships/oleObject" Target="../embeddings/oleObject182.bin"/><Relationship Id="rId4" Type="http://schemas.openxmlformats.org/officeDocument/2006/relationships/image" Target="../media/image187.wmf"/><Relationship Id="rId3" Type="http://schemas.openxmlformats.org/officeDocument/2006/relationships/oleObject" Target="../embeddings/oleObject181.bin"/><Relationship Id="rId2" Type="http://schemas.openxmlformats.org/officeDocument/2006/relationships/image" Target="../media/image186.wmf"/><Relationship Id="rId10" Type="http://schemas.openxmlformats.org/officeDocument/2006/relationships/vmlDrawing" Target="../drawings/vmlDrawing35.vml"/><Relationship Id="rId1" Type="http://schemas.openxmlformats.org/officeDocument/2006/relationships/oleObject" Target="../embeddings/oleObject180.bin"/></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9.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0.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92.jpe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93.jpe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94.jpeg"/></Relationships>
</file>

<file path=ppt/slides/_rels/slide73.xml.rels><?xml version="1.0" encoding="UTF-8" standalone="yes"?>
<Relationships xmlns="http://schemas.openxmlformats.org/package/2006/relationships"><Relationship Id="rId4" Type="http://schemas.openxmlformats.org/officeDocument/2006/relationships/vmlDrawing" Target="../drawings/vmlDrawing36.vml"/><Relationship Id="rId3" Type="http://schemas.openxmlformats.org/officeDocument/2006/relationships/slideLayout" Target="../slideLayouts/slideLayout1.xml"/><Relationship Id="rId2" Type="http://schemas.openxmlformats.org/officeDocument/2006/relationships/image" Target="../media/image195.emf"/><Relationship Id="rId1" Type="http://schemas.openxmlformats.org/officeDocument/2006/relationships/oleObject" Target="../embeddings/oleObject184.bin"/></Relationships>
</file>

<file path=ppt/slides/_rels/slide74.xml.rels><?xml version="1.0" encoding="UTF-8" standalone="yes"?>
<Relationships xmlns="http://schemas.openxmlformats.org/package/2006/relationships"><Relationship Id="rId6" Type="http://schemas.openxmlformats.org/officeDocument/2006/relationships/vmlDrawing" Target="../drawings/vmlDrawing37.vml"/><Relationship Id="rId5" Type="http://schemas.openxmlformats.org/officeDocument/2006/relationships/slideLayout" Target="../slideLayouts/slideLayout1.xml"/><Relationship Id="rId4" Type="http://schemas.openxmlformats.org/officeDocument/2006/relationships/image" Target="../media/image197.emf"/><Relationship Id="rId3" Type="http://schemas.openxmlformats.org/officeDocument/2006/relationships/oleObject" Target="../embeddings/oleObject186.bin"/><Relationship Id="rId2" Type="http://schemas.openxmlformats.org/officeDocument/2006/relationships/image" Target="../media/image196.wmf"/><Relationship Id="rId1" Type="http://schemas.openxmlformats.org/officeDocument/2006/relationships/oleObject" Target="../embeddings/oleObject185.bin"/></Relationships>
</file>

<file path=ppt/slides/_rels/slide75.xml.rels><?xml version="1.0" encoding="UTF-8" standalone="yes"?>
<Relationships xmlns="http://schemas.openxmlformats.org/package/2006/relationships"><Relationship Id="rId4" Type="http://schemas.openxmlformats.org/officeDocument/2006/relationships/vmlDrawing" Target="../drawings/vmlDrawing38.vml"/><Relationship Id="rId3" Type="http://schemas.openxmlformats.org/officeDocument/2006/relationships/slideLayout" Target="../slideLayouts/slideLayout1.xml"/><Relationship Id="rId2" Type="http://schemas.openxmlformats.org/officeDocument/2006/relationships/image" Target="../media/image198.emf"/><Relationship Id="rId1" Type="http://schemas.openxmlformats.org/officeDocument/2006/relationships/oleObject" Target="../embeddings/oleObject187.bin"/></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99.jpe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00.jpe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01.jpeg"/></Relationships>
</file>

<file path=ppt/slides/_rels/slide79.xml.rels><?xml version="1.0" encoding="UTF-8" standalone="yes"?>
<Relationships xmlns="http://schemas.openxmlformats.org/package/2006/relationships"><Relationship Id="rId4" Type="http://schemas.openxmlformats.org/officeDocument/2006/relationships/vmlDrawing" Target="../drawings/vmlDrawing39.vml"/><Relationship Id="rId3" Type="http://schemas.openxmlformats.org/officeDocument/2006/relationships/slideLayout" Target="../slideLayouts/slideLayout1.xml"/><Relationship Id="rId2" Type="http://schemas.openxmlformats.org/officeDocument/2006/relationships/image" Target="../media/image202.emf"/><Relationship Id="rId1" Type="http://schemas.openxmlformats.org/officeDocument/2006/relationships/oleObject" Target="../embeddings/oleObject188.bin"/></Relationships>
</file>

<file path=ppt/slides/_rels/slide80.xml.rels><?xml version="1.0" encoding="UTF-8" standalone="yes"?>
<Relationships xmlns="http://schemas.openxmlformats.org/package/2006/relationships"><Relationship Id="rId4" Type="http://schemas.openxmlformats.org/officeDocument/2006/relationships/vmlDrawing" Target="../drawings/vmlDrawing40.vml"/><Relationship Id="rId3" Type="http://schemas.openxmlformats.org/officeDocument/2006/relationships/slideLayout" Target="../slideLayouts/slideLayout1.xml"/><Relationship Id="rId2" Type="http://schemas.openxmlformats.org/officeDocument/2006/relationships/image" Target="../media/image203.wmf"/><Relationship Id="rId1" Type="http://schemas.openxmlformats.org/officeDocument/2006/relationships/oleObject" Target="../embeddings/oleObject189.bin"/></Relationships>
</file>

<file path=ppt/slides/_rels/slide81.xml.rels><?xml version="1.0" encoding="UTF-8" standalone="yes"?>
<Relationships xmlns="http://schemas.openxmlformats.org/package/2006/relationships"><Relationship Id="rId7" Type="http://schemas.openxmlformats.org/officeDocument/2006/relationships/vmlDrawing" Target="../drawings/vmlDrawing41.vml"/><Relationship Id="rId6" Type="http://schemas.openxmlformats.org/officeDocument/2006/relationships/slideLayout" Target="../slideLayouts/slideLayout1.xml"/><Relationship Id="rId5" Type="http://schemas.openxmlformats.org/officeDocument/2006/relationships/image" Target="../media/image206.emf"/><Relationship Id="rId4" Type="http://schemas.openxmlformats.org/officeDocument/2006/relationships/oleObject" Target="../embeddings/oleObject191.bin"/><Relationship Id="rId3" Type="http://schemas.openxmlformats.org/officeDocument/2006/relationships/image" Target="../media/image205.emf"/><Relationship Id="rId2" Type="http://schemas.openxmlformats.org/officeDocument/2006/relationships/oleObject" Target="../embeddings/oleObject190.bin"/><Relationship Id="rId1" Type="http://schemas.openxmlformats.org/officeDocument/2006/relationships/image" Target="../media/image204.jpeg"/></Relationships>
</file>

<file path=ppt/slides/_rels/slide82.xml.rels><?xml version="1.0" encoding="UTF-8" standalone="yes"?>
<Relationships xmlns="http://schemas.openxmlformats.org/package/2006/relationships"><Relationship Id="rId9" Type="http://schemas.openxmlformats.org/officeDocument/2006/relationships/vmlDrawing" Target="../drawings/vmlDrawing42.vml"/><Relationship Id="rId8" Type="http://schemas.openxmlformats.org/officeDocument/2006/relationships/slideLayout" Target="../slideLayouts/slideLayout1.xml"/><Relationship Id="rId7" Type="http://schemas.openxmlformats.org/officeDocument/2006/relationships/image" Target="../media/image210.emf"/><Relationship Id="rId6" Type="http://schemas.openxmlformats.org/officeDocument/2006/relationships/oleObject" Target="../embeddings/oleObject194.bin"/><Relationship Id="rId5" Type="http://schemas.openxmlformats.org/officeDocument/2006/relationships/image" Target="../media/image209.emf"/><Relationship Id="rId4" Type="http://schemas.openxmlformats.org/officeDocument/2006/relationships/oleObject" Target="../embeddings/oleObject193.bin"/><Relationship Id="rId3" Type="http://schemas.openxmlformats.org/officeDocument/2006/relationships/image" Target="../media/image208.jpeg"/><Relationship Id="rId2" Type="http://schemas.openxmlformats.org/officeDocument/2006/relationships/image" Target="../media/image207.wmf"/><Relationship Id="rId1" Type="http://schemas.openxmlformats.org/officeDocument/2006/relationships/oleObject" Target="../embeddings/oleObject192.bin"/></Relationships>
</file>

<file path=ppt/slides/_rels/slide83.xml.rels><?xml version="1.0" encoding="UTF-8" standalone="yes"?>
<Relationships xmlns="http://schemas.openxmlformats.org/package/2006/relationships"><Relationship Id="rId6" Type="http://schemas.openxmlformats.org/officeDocument/2006/relationships/vmlDrawing" Target="../drawings/vmlDrawing43.vml"/><Relationship Id="rId5" Type="http://schemas.openxmlformats.org/officeDocument/2006/relationships/slideLayout" Target="../slideLayouts/slideLayout1.xml"/><Relationship Id="rId4" Type="http://schemas.openxmlformats.org/officeDocument/2006/relationships/image" Target="../media/image212.emf"/><Relationship Id="rId3" Type="http://schemas.openxmlformats.org/officeDocument/2006/relationships/oleObject" Target="../embeddings/oleObject196.bin"/><Relationship Id="rId2" Type="http://schemas.openxmlformats.org/officeDocument/2006/relationships/image" Target="../media/image211.emf"/><Relationship Id="rId1" Type="http://schemas.openxmlformats.org/officeDocument/2006/relationships/oleObject" Target="../embeddings/oleObject195.bin"/></Relationships>
</file>

<file path=ppt/slides/_rels/slide84.xml.rels><?xml version="1.0" encoding="UTF-8" standalone="yes"?>
<Relationships xmlns="http://schemas.openxmlformats.org/package/2006/relationships"><Relationship Id="rId4" Type="http://schemas.openxmlformats.org/officeDocument/2006/relationships/vmlDrawing" Target="../drawings/vmlDrawing44.vml"/><Relationship Id="rId3" Type="http://schemas.openxmlformats.org/officeDocument/2006/relationships/slideLayout" Target="../slideLayouts/slideLayout1.xml"/><Relationship Id="rId2" Type="http://schemas.openxmlformats.org/officeDocument/2006/relationships/image" Target="../media/image213.emf"/><Relationship Id="rId1" Type="http://schemas.openxmlformats.org/officeDocument/2006/relationships/oleObject" Target="../embeddings/oleObject197.bin"/></Relationships>
</file>

<file path=ppt/slides/_rels/slide85.xml.rels><?xml version="1.0" encoding="UTF-8" standalone="yes"?>
<Relationships xmlns="http://schemas.openxmlformats.org/package/2006/relationships"><Relationship Id="rId6" Type="http://schemas.openxmlformats.org/officeDocument/2006/relationships/vmlDrawing" Target="../drawings/vmlDrawing45.vml"/><Relationship Id="rId5" Type="http://schemas.openxmlformats.org/officeDocument/2006/relationships/slideLayout" Target="../slideLayouts/slideLayout1.xml"/><Relationship Id="rId4" Type="http://schemas.openxmlformats.org/officeDocument/2006/relationships/image" Target="../media/image215.emf"/><Relationship Id="rId3" Type="http://schemas.openxmlformats.org/officeDocument/2006/relationships/oleObject" Target="../embeddings/oleObject199.bin"/><Relationship Id="rId2" Type="http://schemas.openxmlformats.org/officeDocument/2006/relationships/image" Target="../media/image214.wmf"/><Relationship Id="rId1" Type="http://schemas.openxmlformats.org/officeDocument/2006/relationships/oleObject" Target="../embeddings/oleObject198.bin"/></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6" Type="http://schemas.openxmlformats.org/officeDocument/2006/relationships/vmlDrawing" Target="../drawings/vmlDrawing46.vml"/><Relationship Id="rId5" Type="http://schemas.openxmlformats.org/officeDocument/2006/relationships/slideLayout" Target="../slideLayouts/slideLayout1.xml"/><Relationship Id="rId4" Type="http://schemas.openxmlformats.org/officeDocument/2006/relationships/image" Target="../media/image217.wmf"/><Relationship Id="rId3" Type="http://schemas.openxmlformats.org/officeDocument/2006/relationships/oleObject" Target="../embeddings/oleObject201.bin"/><Relationship Id="rId2" Type="http://schemas.openxmlformats.org/officeDocument/2006/relationships/image" Target="../media/image216.wmf"/><Relationship Id="rId1" Type="http://schemas.openxmlformats.org/officeDocument/2006/relationships/oleObject" Target="../embeddings/oleObject200.bin"/></Relationships>
</file>

<file path=ppt/slides/_rels/slide88.xml.rels><?xml version="1.0" encoding="UTF-8" standalone="yes"?>
<Relationships xmlns="http://schemas.openxmlformats.org/package/2006/relationships"><Relationship Id="rId4" Type="http://schemas.openxmlformats.org/officeDocument/2006/relationships/vmlDrawing" Target="../drawings/vmlDrawing47.vml"/><Relationship Id="rId3" Type="http://schemas.openxmlformats.org/officeDocument/2006/relationships/slideLayout" Target="../slideLayouts/slideLayout1.xml"/><Relationship Id="rId2" Type="http://schemas.openxmlformats.org/officeDocument/2006/relationships/image" Target="../media/image218.emf"/><Relationship Id="rId1" Type="http://schemas.openxmlformats.org/officeDocument/2006/relationships/oleObject" Target="../embeddings/oleObject202.bin"/></Relationships>
</file>

<file path=ppt/slides/_rels/slide89.xml.rels><?xml version="1.0" encoding="UTF-8" standalone="yes"?>
<Relationships xmlns="http://schemas.openxmlformats.org/package/2006/relationships"><Relationship Id="rId6" Type="http://schemas.openxmlformats.org/officeDocument/2006/relationships/vmlDrawing" Target="../drawings/vmlDrawing48.vml"/><Relationship Id="rId5" Type="http://schemas.openxmlformats.org/officeDocument/2006/relationships/slideLayout" Target="../slideLayouts/slideLayout1.xml"/><Relationship Id="rId4" Type="http://schemas.openxmlformats.org/officeDocument/2006/relationships/image" Target="../media/image220.emf"/><Relationship Id="rId3" Type="http://schemas.openxmlformats.org/officeDocument/2006/relationships/oleObject" Target="../embeddings/oleObject204.bin"/><Relationship Id="rId2" Type="http://schemas.openxmlformats.org/officeDocument/2006/relationships/image" Target="../media/image219.wmf"/><Relationship Id="rId1" Type="http://schemas.openxmlformats.org/officeDocument/2006/relationships/oleObject" Target="../embeddings/oleObject203.bin"/></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矩形 3"/>
          <p:cNvSpPr/>
          <p:nvPr/>
        </p:nvSpPr>
        <p:spPr>
          <a:xfrm>
            <a:off x="755650" y="1700213"/>
            <a:ext cx="7920038" cy="35401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dirty="0"/>
              <a:t>任何一个电路中，信号只能取</a:t>
            </a:r>
            <a:r>
              <a:rPr lang="zh-CN" altLang="en-US" sz="2800" dirty="0">
                <a:solidFill>
                  <a:srgbClr val="FF0000"/>
                </a:solidFill>
              </a:rPr>
              <a:t>有限个分离值</a:t>
            </a:r>
            <a:r>
              <a:rPr lang="zh-CN" altLang="en-US" sz="2800" dirty="0"/>
              <a:t>，这种电路称为</a:t>
            </a:r>
            <a:r>
              <a:rPr lang="zh-CN" altLang="en-US" sz="2800" dirty="0">
                <a:solidFill>
                  <a:srgbClr val="FF0000"/>
                </a:solidFill>
              </a:rPr>
              <a:t>逻辑电路</a:t>
            </a:r>
            <a:r>
              <a:rPr lang="zh-CN" altLang="en-US" sz="2800" dirty="0"/>
              <a:t>。</a:t>
            </a:r>
            <a:endParaRPr lang="en-US" altLang="zh-CN" sz="2800" dirty="0"/>
          </a:p>
          <a:p>
            <a:pPr marL="0" lvl="0" indent="0" eaLnBrk="1" hangingPunct="1">
              <a:spcBef>
                <a:spcPct val="0"/>
              </a:spcBef>
              <a:buNone/>
            </a:pPr>
            <a:endParaRPr lang="en-US" altLang="zh-CN" sz="2800" dirty="0"/>
          </a:p>
          <a:p>
            <a:pPr marL="0" lvl="0" indent="0" eaLnBrk="1" hangingPunct="1">
              <a:spcBef>
                <a:spcPct val="0"/>
              </a:spcBef>
              <a:buNone/>
            </a:pPr>
            <a:r>
              <a:rPr lang="zh-CN" altLang="en-US" sz="2800" dirty="0"/>
              <a:t>在二进制逻辑电路中只用两个值，</a:t>
            </a:r>
            <a:r>
              <a:rPr lang="en-US" altLang="zh-CN" sz="2800" dirty="0"/>
              <a:t>0 </a:t>
            </a:r>
            <a:r>
              <a:rPr lang="zh-CN" altLang="en-US" sz="2800" dirty="0"/>
              <a:t>和 </a:t>
            </a:r>
            <a:r>
              <a:rPr lang="en-US" altLang="zh-CN" sz="2800" dirty="0"/>
              <a:t>1</a:t>
            </a:r>
            <a:r>
              <a:rPr lang="zh-CN" altLang="en-US" sz="2800" dirty="0"/>
              <a:t>。</a:t>
            </a:r>
            <a:endParaRPr lang="en-US" altLang="zh-CN" sz="2800" dirty="0"/>
          </a:p>
          <a:p>
            <a:pPr marL="0" lvl="0" indent="0" eaLnBrk="1" hangingPunct="1">
              <a:spcBef>
                <a:spcPct val="0"/>
              </a:spcBef>
              <a:buNone/>
            </a:pPr>
            <a:endParaRPr lang="en-US" altLang="zh-CN" sz="2800" dirty="0"/>
          </a:p>
          <a:p>
            <a:pPr marL="0" lvl="0" indent="0" eaLnBrk="1" hangingPunct="1">
              <a:spcBef>
                <a:spcPct val="0"/>
              </a:spcBef>
              <a:buNone/>
            </a:pPr>
            <a:r>
              <a:rPr lang="zh-CN" altLang="en-US" sz="2800" dirty="0"/>
              <a:t>在十进制的逻辑电路中用十个值，从 </a:t>
            </a:r>
            <a:r>
              <a:rPr lang="en-US" altLang="zh-CN" sz="2800" dirty="0"/>
              <a:t>0 </a:t>
            </a:r>
            <a:r>
              <a:rPr lang="zh-CN" altLang="en-US" sz="2800" dirty="0"/>
              <a:t>到 </a:t>
            </a:r>
            <a:r>
              <a:rPr lang="en-US" altLang="zh-CN" sz="2800" dirty="0"/>
              <a:t>9</a:t>
            </a:r>
            <a:r>
              <a:rPr lang="zh-CN" altLang="en-US" sz="2800" dirty="0"/>
              <a:t>。因为人们很自然地用数字来表示每个信号值，所以这类逻辑电路也被称作</a:t>
            </a:r>
            <a:r>
              <a:rPr lang="zh-CN" altLang="en-US" sz="2800" dirty="0">
                <a:solidFill>
                  <a:srgbClr val="FF0000"/>
                </a:solidFill>
              </a:rPr>
              <a:t>数字电路</a:t>
            </a:r>
            <a:r>
              <a:rPr lang="zh-CN" altLang="en-US" sz="2800" dirty="0"/>
              <a:t>。</a:t>
            </a:r>
            <a:endParaRPr lang="zh-CN" altLang="en-US" sz="2800" dirty="0"/>
          </a:p>
        </p:txBody>
      </p:sp>
      <p:sp>
        <p:nvSpPr>
          <p:cNvPr id="3075" name="矩形 4"/>
          <p:cNvSpPr/>
          <p:nvPr/>
        </p:nvSpPr>
        <p:spPr>
          <a:xfrm>
            <a:off x="817563" y="569913"/>
            <a:ext cx="2441575" cy="768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4400" dirty="0">
                <a:solidFill>
                  <a:srgbClr val="FF0000"/>
                </a:solidFill>
              </a:rPr>
              <a:t>逻辑电路</a:t>
            </a:r>
            <a:endParaRPr lang="zh-CN" altLang="en-US" sz="4400" dirty="0">
              <a:solidFill>
                <a:srgbClr val="FF0000"/>
              </a:solidFill>
            </a:endParaRPr>
          </a:p>
        </p:txBody>
      </p:sp>
    </p:spTree>
  </p:cSld>
  <p:clrMapOvr>
    <a:masterClrMapping/>
  </p:clrMapOvr>
  <p:transition spd="slow" advClick="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标题 1"/>
          <p:cNvSpPr>
            <a:spLocks noGrp="1"/>
          </p:cNvSpPr>
          <p:nvPr>
            <p:ph type="title"/>
          </p:nvPr>
        </p:nvSpPr>
        <p:spPr>
          <a:xfrm>
            <a:off x="400050" y="41275"/>
            <a:ext cx="8229600" cy="1143000"/>
          </a:xfrm>
          <a:ln/>
        </p:spPr>
        <p:txBody>
          <a:bodyPr vert="horz" wrap="square" lIns="91440" tIns="45720" rIns="91440" bIns="45720" anchor="ctr" anchorCtr="0"/>
          <a:p>
            <a:r>
              <a:rPr lang="zh-CN" altLang="en-US" sz="3600" dirty="0">
                <a:solidFill>
                  <a:srgbClr val="FF0000"/>
                </a:solidFill>
              </a:rPr>
              <a:t>小灯泡的开启和关闭</a:t>
            </a:r>
            <a:endParaRPr lang="zh-CN" altLang="en-US" sz="3600" dirty="0">
              <a:solidFill>
                <a:srgbClr val="FF0000"/>
              </a:solidFill>
            </a:endParaRPr>
          </a:p>
        </p:txBody>
      </p:sp>
      <p:sp>
        <p:nvSpPr>
          <p:cNvPr id="4099" name="内容占位符 2"/>
          <p:cNvSpPr>
            <a:spLocks noGrp="1"/>
          </p:cNvSpPr>
          <p:nvPr>
            <p:ph idx="1"/>
          </p:nvPr>
        </p:nvSpPr>
        <p:spPr>
          <a:xfrm>
            <a:off x="395288" y="1184275"/>
            <a:ext cx="8229600" cy="1684338"/>
          </a:xfrm>
          <a:ln/>
        </p:spPr>
        <p:txBody>
          <a:bodyPr vert="horz" wrap="square" lIns="91440" tIns="45720" rIns="91440" bIns="45720" anchor="t" anchorCtr="0"/>
          <a:p>
            <a:r>
              <a:rPr lang="zh-CN" altLang="en-US" dirty="0"/>
              <a:t>某给定开关是由</a:t>
            </a:r>
            <a:r>
              <a:rPr lang="zh-CN" altLang="en-US" dirty="0">
                <a:solidFill>
                  <a:srgbClr val="FF0000"/>
                </a:solidFill>
              </a:rPr>
              <a:t>输入变量 </a:t>
            </a:r>
            <a:r>
              <a:rPr lang="en-US" altLang="zh-CN" dirty="0">
                <a:solidFill>
                  <a:srgbClr val="FF0000"/>
                </a:solidFill>
              </a:rPr>
              <a:t>x</a:t>
            </a:r>
            <a:r>
              <a:rPr lang="en-US" altLang="zh-CN" dirty="0"/>
              <a:t> </a:t>
            </a:r>
            <a:r>
              <a:rPr lang="zh-CN" altLang="en-US" dirty="0"/>
              <a:t>控制的，则我们说当 </a:t>
            </a:r>
            <a:r>
              <a:rPr lang="en-US" altLang="zh-CN" dirty="0">
                <a:solidFill>
                  <a:srgbClr val="FF0000"/>
                </a:solidFill>
              </a:rPr>
              <a:t>x = 0 </a:t>
            </a:r>
            <a:r>
              <a:rPr lang="zh-CN" altLang="en-US" dirty="0"/>
              <a:t>时开关</a:t>
            </a:r>
            <a:r>
              <a:rPr lang="en-US" altLang="zh-CN" dirty="0"/>
              <a:t>S</a:t>
            </a:r>
            <a:r>
              <a:rPr lang="zh-CN" altLang="en-US" dirty="0"/>
              <a:t>断开，当 </a:t>
            </a:r>
            <a:r>
              <a:rPr lang="en-US" altLang="zh-CN" dirty="0">
                <a:solidFill>
                  <a:srgbClr val="FF0000"/>
                </a:solidFill>
              </a:rPr>
              <a:t>x = 1 </a:t>
            </a:r>
            <a:r>
              <a:rPr lang="zh-CN" altLang="en-US" dirty="0"/>
              <a:t>时开关</a:t>
            </a:r>
            <a:r>
              <a:rPr lang="en-US" altLang="zh-CN" dirty="0"/>
              <a:t>S</a:t>
            </a:r>
            <a:r>
              <a:rPr lang="zh-CN" altLang="en-US" dirty="0"/>
              <a:t>闭合。引起电路行为变化的输入变量是控制开关（断</a:t>
            </a:r>
            <a:r>
              <a:rPr lang="en-US" altLang="zh-CN" dirty="0"/>
              <a:t>/</a:t>
            </a:r>
            <a:r>
              <a:rPr lang="zh-CN" altLang="en-US" dirty="0"/>
              <a:t>合）的变量 </a:t>
            </a:r>
            <a:r>
              <a:rPr lang="en-US" altLang="zh-CN" dirty="0"/>
              <a:t>x</a:t>
            </a:r>
            <a:r>
              <a:rPr lang="zh-CN" altLang="en-US" dirty="0"/>
              <a:t>。</a:t>
            </a:r>
            <a:endParaRPr lang="zh-CN" altLang="en-US" dirty="0"/>
          </a:p>
        </p:txBody>
      </p:sp>
      <p:pic>
        <p:nvPicPr>
          <p:cNvPr id="4100" name="图片 3"/>
          <p:cNvPicPr>
            <a:picLocks noChangeAspect="1"/>
          </p:cNvPicPr>
          <p:nvPr/>
        </p:nvPicPr>
        <p:blipFill>
          <a:blip r:embed="rId1"/>
          <a:stretch>
            <a:fillRect/>
          </a:stretch>
        </p:blipFill>
        <p:spPr>
          <a:xfrm>
            <a:off x="1728788" y="3468688"/>
            <a:ext cx="5562600" cy="3389312"/>
          </a:xfrm>
          <a:prstGeom prst="rect">
            <a:avLst/>
          </a:prstGeom>
          <a:noFill/>
          <a:ln w="9525">
            <a:noFill/>
          </a:ln>
        </p:spPr>
      </p:pic>
    </p:spTree>
  </p:cSld>
  <p:clrMapOvr>
    <a:masterClrMapping/>
  </p:clrMapOvr>
  <p:transition spd="slow" advClick="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23850" y="836613"/>
            <a:ext cx="8712200" cy="540067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0" i="0" u="none" strike="noStrike" kern="0" cap="none" spc="0" normalizeH="0" baseline="0" noProof="0" dirty="0" smtClean="0">
                <a:ln>
                  <a:noFill/>
                </a:ln>
                <a:solidFill>
                  <a:schemeClr val="tx1"/>
                </a:solidFill>
                <a:effectLst/>
                <a:uLnTx/>
                <a:uFillTx/>
                <a:latin typeface="+mn-lt"/>
                <a:ea typeface="+mn-ea"/>
                <a:cs typeface="+mn-cs"/>
              </a:rPr>
              <a:t>输出被定义为</a:t>
            </a:r>
            <a:r>
              <a:rPr kumimoji="0" lang="zh-CN" altLang="en-US" sz="3200" b="0" i="0" u="none" strike="noStrike" kern="0" cap="none" spc="0" normalizeH="0" baseline="0" noProof="0" dirty="0" smtClean="0">
                <a:ln>
                  <a:noFill/>
                </a:ln>
                <a:solidFill>
                  <a:srgbClr val="FF0000"/>
                </a:solidFill>
                <a:effectLst/>
                <a:uLnTx/>
                <a:uFillTx/>
                <a:latin typeface="+mn-lt"/>
                <a:ea typeface="+mn-ea"/>
                <a:cs typeface="+mn-cs"/>
              </a:rPr>
              <a:t>灯泡 </a:t>
            </a:r>
            <a:r>
              <a:rPr kumimoji="0" lang="en-US" altLang="zh-CN" sz="3200" b="0" i="0" u="none" strike="noStrike" kern="0" cap="none" spc="0" normalizeH="0" baseline="0" noProof="0" dirty="0" smtClean="0">
                <a:ln>
                  <a:noFill/>
                </a:ln>
                <a:solidFill>
                  <a:srgbClr val="FF0000"/>
                </a:solidFill>
                <a:effectLst/>
                <a:uLnTx/>
                <a:uFillTx/>
                <a:latin typeface="+mn-lt"/>
                <a:ea typeface="+mn-ea"/>
                <a:cs typeface="+mn-cs"/>
              </a:rPr>
              <a:t>L </a:t>
            </a:r>
            <a:r>
              <a:rPr kumimoji="0" lang="zh-CN" altLang="en-US" sz="3200" b="0" i="0" u="none" strike="noStrike" kern="0" cap="none" spc="0" normalizeH="0" baseline="0" noProof="0" dirty="0" smtClean="0">
                <a:ln>
                  <a:noFill/>
                </a:ln>
                <a:solidFill>
                  <a:srgbClr val="FF0000"/>
                </a:solidFill>
                <a:effectLst/>
                <a:uLnTx/>
                <a:uFillTx/>
                <a:latin typeface="+mn-lt"/>
                <a:ea typeface="+mn-ea"/>
                <a:cs typeface="+mn-cs"/>
              </a:rPr>
              <a:t>的状态</a:t>
            </a:r>
            <a:r>
              <a:rPr kumimoji="0" lang="zh-CN" altLang="en-US" sz="3200" b="0" i="0" u="none" strike="noStrike" kern="0" cap="none" spc="0" normalizeH="0" baseline="0" noProof="0" dirty="0" smtClean="0">
                <a:ln>
                  <a:noFill/>
                </a:ln>
                <a:solidFill>
                  <a:schemeClr val="tx1"/>
                </a:solidFill>
                <a:effectLst/>
                <a:uLnTx/>
                <a:uFillTx/>
                <a:latin typeface="+mn-lt"/>
                <a:ea typeface="+mn-ea"/>
                <a:cs typeface="+mn-cs"/>
              </a:rPr>
              <a:t>。若灯开时</a:t>
            </a:r>
            <a:r>
              <a:rPr kumimoji="0" lang="en-US" altLang="zh-CN" sz="32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en-US" sz="3200" b="0" i="0" u="none" strike="noStrike" kern="0" cap="none" spc="0" normalizeH="0" baseline="0" noProof="0" dirty="0" smtClean="0">
                <a:ln>
                  <a:noFill/>
                </a:ln>
                <a:solidFill>
                  <a:schemeClr val="tx1"/>
                </a:solidFill>
                <a:effectLst/>
                <a:uLnTx/>
                <a:uFillTx/>
                <a:latin typeface="+mn-lt"/>
                <a:ea typeface="+mn-ea"/>
                <a:cs typeface="+mn-cs"/>
              </a:rPr>
              <a:t>则 </a:t>
            </a:r>
            <a:r>
              <a:rPr kumimoji="0" lang="en-US" altLang="zh-CN" sz="3200" b="0" i="0" u="none" strike="noStrike" kern="0" cap="none" spc="0" normalizeH="0" baseline="0" noProof="0" dirty="0" smtClean="0">
                <a:ln>
                  <a:noFill/>
                </a:ln>
                <a:solidFill>
                  <a:schemeClr val="tx1"/>
                </a:solidFill>
                <a:effectLst/>
                <a:uLnTx/>
                <a:uFillTx/>
                <a:latin typeface="+mn-lt"/>
                <a:ea typeface="+mn-ea"/>
                <a:cs typeface="+mn-cs"/>
              </a:rPr>
              <a:t>L = 1</a:t>
            </a:r>
            <a:r>
              <a:rPr kumimoji="0" lang="zh-CN" altLang="en-US" sz="3200" b="0" i="0" u="none" strike="noStrike" kern="0" cap="none" spc="0" normalizeH="0" baseline="0" noProof="0" dirty="0" smtClean="0">
                <a:ln>
                  <a:noFill/>
                </a:ln>
                <a:solidFill>
                  <a:schemeClr val="tx1"/>
                </a:solidFill>
                <a:effectLst/>
                <a:uLnTx/>
                <a:uFillTx/>
                <a:latin typeface="+mn-lt"/>
                <a:ea typeface="+mn-ea"/>
                <a:cs typeface="+mn-cs"/>
              </a:rPr>
              <a:t>。若灯关时，则 </a:t>
            </a:r>
            <a:r>
              <a:rPr kumimoji="0" lang="en-US" altLang="zh-CN" sz="3200" b="0" i="0" u="none" strike="noStrike" kern="0" cap="none" spc="0" normalizeH="0" baseline="0" noProof="0" dirty="0" smtClean="0">
                <a:ln>
                  <a:noFill/>
                </a:ln>
                <a:solidFill>
                  <a:schemeClr val="tx1"/>
                </a:solidFill>
                <a:effectLst/>
                <a:uLnTx/>
                <a:uFillTx/>
                <a:latin typeface="+mn-lt"/>
                <a:ea typeface="+mn-ea"/>
                <a:cs typeface="+mn-cs"/>
              </a:rPr>
              <a:t>L = 0</a:t>
            </a:r>
            <a:r>
              <a:rPr kumimoji="0" lang="zh-CN" altLang="en-US" sz="3200" b="0" i="0" u="none" strike="noStrike" kern="0" cap="none" spc="0" normalizeH="0" baseline="0" noProof="0" dirty="0" smtClean="0">
                <a:ln>
                  <a:noFill/>
                </a:ln>
                <a:solidFill>
                  <a:schemeClr val="tx1"/>
                </a:solidFill>
                <a:effectLst/>
                <a:uLnTx/>
                <a:uFillTx/>
                <a:latin typeface="+mn-lt"/>
                <a:ea typeface="+mn-ea"/>
                <a:cs typeface="+mn-cs"/>
              </a:rPr>
              <a:t>。根据这个约定，我们可以将</a:t>
            </a:r>
            <a:r>
              <a:rPr kumimoji="0" lang="zh-CN" altLang="en-US" sz="3200" b="0" i="0" u="none" strike="noStrike" kern="0" cap="none" spc="0" normalizeH="0" baseline="0" noProof="0" dirty="0" smtClean="0">
                <a:ln>
                  <a:noFill/>
                </a:ln>
                <a:solidFill>
                  <a:srgbClr val="FF0000"/>
                </a:solidFill>
                <a:effectLst/>
                <a:uLnTx/>
                <a:uFillTx/>
                <a:latin typeface="+mn-lt"/>
                <a:ea typeface="+mn-ea"/>
                <a:cs typeface="+mn-cs"/>
              </a:rPr>
              <a:t>灯炮</a:t>
            </a:r>
            <a:r>
              <a:rPr kumimoji="0" lang="en-US" altLang="zh-CN" sz="3200" b="0" i="0" u="none" strike="noStrike" kern="0" cap="none" spc="0" normalizeH="0" baseline="0" noProof="0" dirty="0" smtClean="0">
                <a:ln>
                  <a:noFill/>
                </a:ln>
                <a:solidFill>
                  <a:srgbClr val="FF0000"/>
                </a:solidFill>
                <a:effectLst/>
                <a:uLnTx/>
                <a:uFillTx/>
                <a:latin typeface="+mn-lt"/>
                <a:ea typeface="+mn-ea"/>
                <a:cs typeface="+mn-cs"/>
              </a:rPr>
              <a:t>L </a:t>
            </a:r>
            <a:r>
              <a:rPr kumimoji="0" lang="zh-CN" altLang="en-US" sz="3200" b="0" i="0" u="none" strike="noStrike" kern="0" cap="none" spc="0" normalizeH="0" baseline="0" noProof="0" dirty="0" smtClean="0">
                <a:ln>
                  <a:noFill/>
                </a:ln>
                <a:solidFill>
                  <a:srgbClr val="FF0000"/>
                </a:solidFill>
                <a:effectLst/>
                <a:uLnTx/>
                <a:uFillTx/>
                <a:latin typeface="+mn-lt"/>
                <a:ea typeface="+mn-ea"/>
                <a:cs typeface="+mn-cs"/>
              </a:rPr>
              <a:t>的状态描述成输入变量 </a:t>
            </a:r>
            <a:r>
              <a:rPr kumimoji="0" lang="en-US" altLang="zh-CN" sz="3200" b="0" i="0" u="none" strike="noStrike" kern="0" cap="none" spc="0" normalizeH="0" baseline="0" noProof="0" dirty="0" smtClean="0">
                <a:ln>
                  <a:noFill/>
                </a:ln>
                <a:solidFill>
                  <a:srgbClr val="FF0000"/>
                </a:solidFill>
                <a:effectLst/>
                <a:uLnTx/>
                <a:uFillTx/>
                <a:latin typeface="+mn-lt"/>
                <a:ea typeface="+mn-ea"/>
                <a:cs typeface="+mn-cs"/>
              </a:rPr>
              <a:t>x </a:t>
            </a:r>
            <a:r>
              <a:rPr kumimoji="0" lang="zh-CN" altLang="en-US" sz="3200" b="0" i="0" u="none" strike="noStrike" kern="0" cap="none" spc="0" normalizeH="0" baseline="0" noProof="0" dirty="0" smtClean="0">
                <a:ln>
                  <a:noFill/>
                </a:ln>
                <a:solidFill>
                  <a:srgbClr val="FF0000"/>
                </a:solidFill>
                <a:effectLst/>
                <a:uLnTx/>
                <a:uFillTx/>
                <a:latin typeface="+mn-lt"/>
                <a:ea typeface="+mn-ea"/>
                <a:cs typeface="+mn-cs"/>
              </a:rPr>
              <a:t>的函数</a:t>
            </a:r>
            <a:r>
              <a:rPr kumimoji="0" lang="zh-CN" altLang="en-US" sz="3200" b="0" i="0" u="none" strike="noStrike" kern="0" cap="none" spc="0" normalizeH="0" baseline="0" noProof="0" dirty="0" smtClean="0">
                <a:ln>
                  <a:noFill/>
                </a:ln>
                <a:solidFill>
                  <a:schemeClr val="tx1"/>
                </a:solidFill>
                <a:effectLst/>
                <a:uLnTx/>
                <a:uFillTx/>
                <a:latin typeface="+mn-lt"/>
                <a:ea typeface="+mn-ea"/>
                <a:cs typeface="+mn-cs"/>
              </a:rPr>
              <a:t>。当 </a:t>
            </a:r>
            <a:r>
              <a:rPr kumimoji="0" lang="en-US" altLang="zh-CN" sz="3200" b="0" i="0" u="none" strike="noStrike" kern="0" cap="none" spc="0" normalizeH="0" baseline="0" noProof="0" dirty="0" smtClean="0">
                <a:ln>
                  <a:noFill/>
                </a:ln>
                <a:solidFill>
                  <a:schemeClr val="tx1"/>
                </a:solidFill>
                <a:effectLst/>
                <a:uLnTx/>
                <a:uFillTx/>
                <a:latin typeface="+mn-lt"/>
                <a:ea typeface="+mn-ea"/>
                <a:cs typeface="+mn-cs"/>
              </a:rPr>
              <a:t>x = 1 </a:t>
            </a:r>
            <a:r>
              <a:rPr kumimoji="0" lang="zh-CN" altLang="en-US" sz="3200" b="0" i="0" u="none" strike="noStrike" kern="0" cap="none" spc="0" normalizeH="0" baseline="0" noProof="0" dirty="0" smtClean="0">
                <a:ln>
                  <a:noFill/>
                </a:ln>
                <a:solidFill>
                  <a:schemeClr val="tx1"/>
                </a:solidFill>
                <a:effectLst/>
                <a:uLnTx/>
                <a:uFillTx/>
                <a:latin typeface="+mn-lt"/>
                <a:ea typeface="+mn-ea"/>
                <a:cs typeface="+mn-cs"/>
              </a:rPr>
              <a:t>时，</a:t>
            </a:r>
            <a:r>
              <a:rPr kumimoji="0" lang="en-US" altLang="zh-CN" sz="3200" b="0" i="0" u="none" strike="noStrike" kern="0" cap="none" spc="0" normalizeH="0" baseline="0" noProof="0" dirty="0" smtClean="0">
                <a:ln>
                  <a:noFill/>
                </a:ln>
                <a:solidFill>
                  <a:schemeClr val="tx1"/>
                </a:solidFill>
                <a:effectLst/>
                <a:uLnTx/>
                <a:uFillTx/>
                <a:latin typeface="+mn-lt"/>
                <a:ea typeface="+mn-ea"/>
                <a:cs typeface="+mn-cs"/>
              </a:rPr>
              <a:t>L=1</a:t>
            </a:r>
            <a:r>
              <a:rPr kumimoji="0" lang="zh-CN" altLang="en-US" sz="3200" b="0" i="0" u="none" strike="noStrike" kern="0" cap="none" spc="0" normalizeH="0" baseline="0" noProof="0" dirty="0" smtClean="0">
                <a:ln>
                  <a:noFill/>
                </a:ln>
                <a:solidFill>
                  <a:schemeClr val="tx1"/>
                </a:solidFill>
                <a:effectLst/>
                <a:uLnTx/>
                <a:uFillTx/>
                <a:latin typeface="+mn-lt"/>
                <a:ea typeface="+mn-ea"/>
                <a:cs typeface="+mn-cs"/>
              </a:rPr>
              <a:t>，当 </a:t>
            </a:r>
            <a:r>
              <a:rPr kumimoji="0" lang="en-US" altLang="zh-CN" sz="3200" b="0" i="0" u="none" strike="noStrike" kern="0" cap="none" spc="0" normalizeH="0" baseline="0" noProof="0" dirty="0" smtClean="0">
                <a:ln>
                  <a:noFill/>
                </a:ln>
                <a:solidFill>
                  <a:schemeClr val="tx1"/>
                </a:solidFill>
                <a:effectLst/>
                <a:uLnTx/>
                <a:uFillTx/>
                <a:latin typeface="+mn-lt"/>
                <a:ea typeface="+mn-ea"/>
                <a:cs typeface="+mn-cs"/>
              </a:rPr>
              <a:t>x = 0 </a:t>
            </a:r>
            <a:r>
              <a:rPr kumimoji="0" lang="zh-CN" altLang="en-US" sz="3200" b="0" i="0" u="none" strike="noStrike" kern="0" cap="none" spc="0" normalizeH="0" baseline="0" noProof="0" dirty="0" smtClean="0">
                <a:ln>
                  <a:noFill/>
                </a:ln>
                <a:solidFill>
                  <a:schemeClr val="tx1"/>
                </a:solidFill>
                <a:effectLst/>
                <a:uLnTx/>
                <a:uFillTx/>
                <a:latin typeface="+mn-lt"/>
                <a:ea typeface="+mn-ea"/>
                <a:cs typeface="+mn-cs"/>
              </a:rPr>
              <a:t>时，</a:t>
            </a:r>
            <a:r>
              <a:rPr kumimoji="0" lang="en-US" altLang="zh-CN" sz="3200" b="0" i="0" u="none" strike="noStrike" kern="0" cap="none" spc="0" normalizeH="0" baseline="0" noProof="0" dirty="0" smtClean="0">
                <a:ln>
                  <a:noFill/>
                </a:ln>
                <a:solidFill>
                  <a:schemeClr val="tx1"/>
                </a:solidFill>
                <a:effectLst/>
                <a:uLnTx/>
                <a:uFillTx/>
                <a:latin typeface="+mn-lt"/>
                <a:ea typeface="+mn-ea"/>
                <a:cs typeface="+mn-cs"/>
              </a:rPr>
              <a:t>L= 0</a:t>
            </a:r>
            <a:r>
              <a:rPr kumimoji="0" lang="zh-CN" altLang="en-US" sz="3200" b="0" i="0" u="none" strike="noStrike" kern="0" cap="none" spc="0" normalizeH="0" baseline="0" noProof="0" dirty="0" smtClean="0">
                <a:ln>
                  <a:noFill/>
                </a:ln>
                <a:solidFill>
                  <a:schemeClr val="tx1"/>
                </a:solidFill>
                <a:effectLst/>
                <a:uLnTx/>
                <a:uFillTx/>
                <a:latin typeface="+mn-lt"/>
                <a:ea typeface="+mn-ea"/>
                <a:cs typeface="+mn-cs"/>
              </a:rPr>
              <a:t>，则我们说：</a:t>
            </a:r>
            <a:endParaRPr kumimoji="0" lang="en-US" altLang="zh-CN" sz="32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3200" b="0" i="0" u="none" strike="noStrike" kern="0" cap="none" spc="0" normalizeH="0" baseline="0" noProof="0" dirty="0">
                <a:ln>
                  <a:noFill/>
                </a:ln>
                <a:solidFill>
                  <a:schemeClr val="tx1"/>
                </a:solidFill>
                <a:effectLst/>
                <a:uLnTx/>
                <a:uFillTx/>
                <a:latin typeface="+mn-lt"/>
                <a:ea typeface="+mn-ea"/>
                <a:cs typeface="+mn-cs"/>
              </a:rPr>
              <a:t> </a:t>
            </a:r>
            <a:r>
              <a:rPr kumimoji="0" lang="en-US" altLang="zh-CN" sz="3200" b="0" i="0" u="none" strike="noStrike" kern="0" cap="none" spc="0" normalizeH="0" baseline="0" noProof="0" dirty="0" smtClean="0">
                <a:ln>
                  <a:noFill/>
                </a:ln>
                <a:solidFill>
                  <a:schemeClr val="tx1"/>
                </a:solidFill>
                <a:effectLst/>
                <a:uLnTx/>
                <a:uFillTx/>
                <a:latin typeface="+mn-lt"/>
                <a:ea typeface="+mn-ea"/>
                <a:cs typeface="+mn-cs"/>
              </a:rPr>
              <a:t>                       L(x) = x</a:t>
            </a:r>
            <a:endParaRPr kumimoji="0" lang="en-US" altLang="zh-CN" sz="3200"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0" i="0" u="none" strike="noStrike" kern="0" cap="none" spc="0" normalizeH="0" baseline="0" noProof="0" dirty="0" smtClean="0">
                <a:ln>
                  <a:noFill/>
                </a:ln>
                <a:solidFill>
                  <a:schemeClr val="tx1"/>
                </a:solidFill>
                <a:effectLst/>
                <a:uLnTx/>
                <a:uFillTx/>
                <a:latin typeface="+mn-lt"/>
                <a:ea typeface="+mn-ea"/>
                <a:cs typeface="+mn-cs"/>
              </a:rPr>
              <a:t>简单的逻辑表达式将</a:t>
            </a:r>
            <a:r>
              <a:rPr kumimoji="0" lang="zh-CN" altLang="en-US" sz="3200" b="0" i="0" u="none" strike="noStrike" kern="0" cap="none" spc="0" normalizeH="0" baseline="0" noProof="0" dirty="0" smtClean="0">
                <a:ln>
                  <a:noFill/>
                </a:ln>
                <a:solidFill>
                  <a:srgbClr val="FF0000"/>
                </a:solidFill>
                <a:effectLst/>
                <a:uLnTx/>
                <a:uFillTx/>
                <a:latin typeface="+mn-lt"/>
                <a:ea typeface="+mn-ea"/>
                <a:cs typeface="+mn-cs"/>
              </a:rPr>
              <a:t>输出描述成输入的函数。</a:t>
            </a:r>
            <a:endParaRPr kumimoji="0" lang="en-US" altLang="zh-CN" sz="3200" b="0" i="0" u="none" strike="noStrike" kern="0" cap="none" spc="0" normalizeH="0" baseline="0" noProof="0" dirty="0" smtClean="0">
              <a:ln>
                <a:noFill/>
              </a:ln>
              <a:solidFill>
                <a:srgbClr val="FF0000"/>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0" i="0" u="none" strike="noStrike" kern="0" cap="none" spc="0" normalizeH="0" baseline="0" noProof="0" dirty="0" smtClean="0">
                <a:ln>
                  <a:noFill/>
                </a:ln>
                <a:solidFill>
                  <a:schemeClr val="tx1"/>
                </a:solidFill>
                <a:effectLst/>
                <a:uLnTx/>
                <a:uFillTx/>
                <a:latin typeface="+mn-lt"/>
                <a:ea typeface="+mn-ea"/>
                <a:cs typeface="+mn-cs"/>
              </a:rPr>
              <a:t>我们说 </a:t>
            </a:r>
            <a:r>
              <a:rPr kumimoji="0" lang="en-US" altLang="zh-CN" sz="3200" b="0" i="0" u="none" strike="noStrike" kern="0" cap="none" spc="0" normalizeH="0" baseline="0" noProof="0" dirty="0" smtClean="0">
                <a:ln>
                  <a:noFill/>
                </a:ln>
                <a:solidFill>
                  <a:schemeClr val="tx1"/>
                </a:solidFill>
                <a:effectLst/>
                <a:uLnTx/>
                <a:uFillTx/>
                <a:latin typeface="+mn-lt"/>
                <a:ea typeface="+mn-ea"/>
                <a:cs typeface="+mn-cs"/>
              </a:rPr>
              <a:t>L(x ) = x </a:t>
            </a:r>
            <a:r>
              <a:rPr kumimoji="0" lang="zh-CN" altLang="en-US" sz="3200" b="0" i="0" u="none" strike="noStrike" kern="0" cap="none" spc="0" normalizeH="0" baseline="0" noProof="0" dirty="0" smtClean="0">
                <a:ln>
                  <a:noFill/>
                </a:ln>
                <a:solidFill>
                  <a:schemeClr val="tx1"/>
                </a:solidFill>
                <a:effectLst/>
                <a:uLnTx/>
                <a:uFillTx/>
                <a:latin typeface="+mn-lt"/>
                <a:ea typeface="+mn-ea"/>
                <a:cs typeface="+mn-cs"/>
              </a:rPr>
              <a:t>是个逻辑函数，而 </a:t>
            </a:r>
            <a:r>
              <a:rPr kumimoji="0" lang="en-US" altLang="zh-CN" sz="3200" b="0" i="0" u="none" strike="noStrike" kern="0" cap="none" spc="0" normalizeH="0" baseline="0" noProof="0" dirty="0" smtClean="0">
                <a:ln>
                  <a:noFill/>
                </a:ln>
                <a:solidFill>
                  <a:schemeClr val="tx1"/>
                </a:solidFill>
                <a:effectLst/>
                <a:uLnTx/>
                <a:uFillTx/>
                <a:latin typeface="+mn-lt"/>
                <a:ea typeface="+mn-ea"/>
                <a:cs typeface="+mn-cs"/>
              </a:rPr>
              <a:t>x </a:t>
            </a:r>
            <a:r>
              <a:rPr kumimoji="0" lang="zh-CN" altLang="en-US" sz="3200" b="0" i="0" u="none" strike="noStrike" kern="0" cap="none" spc="0" normalizeH="0" baseline="0" noProof="0" dirty="0" smtClean="0">
                <a:ln>
                  <a:noFill/>
                </a:ln>
                <a:solidFill>
                  <a:schemeClr val="tx1"/>
                </a:solidFill>
                <a:effectLst/>
                <a:uLnTx/>
                <a:uFillTx/>
                <a:latin typeface="+mn-lt"/>
                <a:ea typeface="+mn-ea"/>
                <a:cs typeface="+mn-cs"/>
              </a:rPr>
              <a:t>是输入变量。</a:t>
            </a:r>
            <a:endParaRPr kumimoji="0" lang="en-US" altLang="zh-CN" sz="3200" b="0"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ransition spd="slow" advClick="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内容占位符 2"/>
          <p:cNvSpPr>
            <a:spLocks noGrp="1"/>
          </p:cNvSpPr>
          <p:nvPr>
            <p:ph idx="1"/>
          </p:nvPr>
        </p:nvSpPr>
        <p:spPr>
          <a:xfrm>
            <a:off x="250825" y="1268413"/>
            <a:ext cx="8713788" cy="4525962"/>
          </a:xfrm>
          <a:ln/>
        </p:spPr>
        <p:txBody>
          <a:bodyPr vert="horz" wrap="square" lIns="91440" tIns="45720" rIns="91440" bIns="45720" anchor="t" anchorCtr="0"/>
          <a:p>
            <a:r>
              <a:rPr lang="zh-CN" altLang="en-US" sz="2800" dirty="0"/>
              <a:t>基本逻辑操作有三种</a:t>
            </a:r>
            <a:r>
              <a:rPr lang="en-US" altLang="zh-CN" sz="2800" dirty="0"/>
              <a:t>      </a:t>
            </a:r>
            <a:r>
              <a:rPr lang="zh-CN" altLang="en-US" sz="2800" dirty="0">
                <a:solidFill>
                  <a:srgbClr val="FF0000"/>
                </a:solidFill>
              </a:rPr>
              <a:t>与      或     非</a:t>
            </a:r>
            <a:endParaRPr lang="en-US" altLang="zh-CN" sz="2800" dirty="0"/>
          </a:p>
          <a:p>
            <a:r>
              <a:rPr lang="zh-CN" altLang="en-US" sz="2800" dirty="0"/>
              <a:t>三种基本逻辑操作可以实现</a:t>
            </a:r>
            <a:r>
              <a:rPr lang="zh-CN" altLang="en-US" sz="2800" dirty="0">
                <a:solidFill>
                  <a:srgbClr val="FF0000"/>
                </a:solidFill>
              </a:rPr>
              <a:t>任意复杂</a:t>
            </a:r>
            <a:r>
              <a:rPr lang="zh-CN" altLang="en-US" sz="2800" dirty="0"/>
              <a:t>的逻辑函数。 </a:t>
            </a:r>
            <a:endParaRPr lang="en-US" altLang="zh-CN" sz="2800" dirty="0"/>
          </a:p>
          <a:p>
            <a:r>
              <a:rPr lang="zh-CN" altLang="en-US" sz="2800" dirty="0">
                <a:solidFill>
                  <a:srgbClr val="FF0000"/>
                </a:solidFill>
              </a:rPr>
              <a:t>复杂逻辑函数</a:t>
            </a:r>
            <a:r>
              <a:rPr lang="zh-CN" altLang="en-US" sz="2800" dirty="0"/>
              <a:t>可能需要许多这样的基本操才能实现。 </a:t>
            </a:r>
            <a:endParaRPr lang="en-US" altLang="zh-CN" sz="2800" dirty="0"/>
          </a:p>
          <a:p>
            <a:r>
              <a:rPr lang="zh-CN" altLang="en-US" sz="2800" dirty="0"/>
              <a:t>每个逻辑操作都能用</a:t>
            </a:r>
            <a:r>
              <a:rPr lang="zh-CN" altLang="en-US" sz="2800" dirty="0">
                <a:solidFill>
                  <a:srgbClr val="FF0000"/>
                </a:solidFill>
              </a:rPr>
              <a:t>晶体管</a:t>
            </a:r>
            <a:r>
              <a:rPr lang="zh-CN" altLang="en-US" sz="2800" dirty="0"/>
              <a:t>来实现，实现逻辑操作的电路元件叫做</a:t>
            </a:r>
            <a:r>
              <a:rPr lang="zh-CN" altLang="en-US" sz="2800" dirty="0">
                <a:solidFill>
                  <a:srgbClr val="FF0000"/>
                </a:solidFill>
              </a:rPr>
              <a:t>逻辑门</a:t>
            </a:r>
            <a:r>
              <a:rPr lang="zh-CN" altLang="en-US" sz="2800" dirty="0"/>
              <a:t>。</a:t>
            </a:r>
            <a:endParaRPr lang="en-US" altLang="zh-CN" sz="2800" dirty="0"/>
          </a:p>
          <a:p>
            <a:r>
              <a:rPr lang="zh-CN" altLang="en-US" sz="2800" dirty="0"/>
              <a:t>逻辑门有一个或若干个输入，有一个输出，输出表示为输入的函数。用画电路图的方法来描述逻辑电路通常是很方便的，电路图由表示逻辑门的图形符号组成。</a:t>
            </a:r>
            <a:endParaRPr lang="zh-CN" altLang="en-US" sz="2800" dirty="0"/>
          </a:p>
        </p:txBody>
      </p:sp>
      <p:sp>
        <p:nvSpPr>
          <p:cNvPr id="6147" name="矩形 3"/>
          <p:cNvSpPr/>
          <p:nvPr/>
        </p:nvSpPr>
        <p:spPr>
          <a:xfrm>
            <a:off x="2268538" y="260350"/>
            <a:ext cx="4032250" cy="5857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zh-CN" altLang="en-US" dirty="0">
                <a:solidFill>
                  <a:srgbClr val="FF0000"/>
                </a:solidFill>
              </a:rPr>
              <a:t>逻辑门和网络</a:t>
            </a:r>
            <a:endParaRPr lang="zh-CN" altLang="en-US" dirty="0">
              <a:solidFill>
                <a:srgbClr val="FF0000"/>
              </a:solidFill>
            </a:endParaRPr>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170" name="内容占位符 3"/>
          <p:cNvPicPr>
            <a:picLocks noGrp="1" noChangeAspect="1"/>
          </p:cNvPicPr>
          <p:nvPr>
            <p:ph idx="1"/>
          </p:nvPr>
        </p:nvPicPr>
        <p:blipFill>
          <a:blip r:embed="rId1"/>
          <a:srcRect/>
          <a:stretch>
            <a:fillRect/>
          </a:stretch>
        </p:blipFill>
        <p:spPr>
          <a:xfrm>
            <a:off x="2051050" y="404813"/>
            <a:ext cx="5473700" cy="6119812"/>
          </a:xfrm>
          <a:ln/>
        </p:spPr>
      </p:pic>
    </p:spTree>
  </p:cSld>
  <p:clrMapOvr>
    <a:masterClrMapping/>
  </p:clrMapOvr>
  <p:transition spd="slow" advClick="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34975" y="1417638"/>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0" i="0" u="none" strike="noStrike" kern="0" cap="none" spc="0" normalizeH="0" baseline="0" noProof="0" dirty="0" smtClean="0">
                <a:ln>
                  <a:noFill/>
                </a:ln>
                <a:solidFill>
                  <a:srgbClr val="FF0000"/>
                </a:solidFill>
                <a:effectLst/>
                <a:uLnTx/>
                <a:uFillTx/>
                <a:latin typeface="+mn-lt"/>
                <a:ea typeface="+mn-ea"/>
                <a:cs typeface="+mn-cs"/>
              </a:rPr>
              <a:t>大规模电路</a:t>
            </a: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由</a:t>
            </a:r>
            <a:r>
              <a:rPr kumimoji="0" lang="zh-CN" altLang="en-US" sz="2800" b="0" i="0" u="none" strike="noStrike" kern="0" cap="none" spc="0" normalizeH="0" baseline="0" noProof="0" dirty="0" smtClean="0">
                <a:ln>
                  <a:noFill/>
                </a:ln>
                <a:solidFill>
                  <a:srgbClr val="FF0000"/>
                </a:solidFill>
                <a:effectLst/>
                <a:uLnTx/>
                <a:uFillTx/>
                <a:latin typeface="+mn-lt"/>
                <a:ea typeface="+mn-ea"/>
                <a:cs typeface="+mn-cs"/>
              </a:rPr>
              <a:t>逻辑门</a:t>
            </a: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组成的网络实现。给定网络的复杂程度直接影响电路的制造</a:t>
            </a:r>
            <a:r>
              <a:rPr kumimoji="0" lang="zh-CN" altLang="en-US" sz="2800" b="0" i="0" u="none" strike="noStrike" kern="0" cap="none" spc="0" normalizeH="0" baseline="0" noProof="0" dirty="0" smtClean="0">
                <a:ln>
                  <a:noFill/>
                </a:ln>
                <a:solidFill>
                  <a:srgbClr val="FF0000"/>
                </a:solidFill>
                <a:effectLst/>
                <a:uLnTx/>
                <a:uFillTx/>
                <a:latin typeface="+mn-lt"/>
                <a:ea typeface="+mn-ea"/>
                <a:cs typeface="+mn-cs"/>
              </a:rPr>
              <a:t>成本</a:t>
            </a: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。因为我们总是想要降低制造产品的成本， 所以找到成本尽可能低的逻辑电路实现方案就非常重要。</a:t>
            </a:r>
            <a:endParaRPr kumimoji="0" lang="en-US" altLang="zh-CN" sz="2800"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en-US" altLang="zh-CN" sz="28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0" cap="none" spc="0" normalizeH="0" baseline="0" noProof="0" dirty="0">
              <a:ln>
                <a:noFill/>
              </a:ln>
              <a:solidFill>
                <a:schemeClr val="tx1"/>
              </a:solidFill>
              <a:effectLst/>
              <a:uLnTx/>
              <a:uFillTx/>
              <a:latin typeface="+mn-lt"/>
              <a:ea typeface="+mn-ea"/>
              <a:cs typeface="+mn-cs"/>
            </a:endParaRPr>
          </a:p>
        </p:txBody>
      </p:sp>
      <p:sp>
        <p:nvSpPr>
          <p:cNvPr id="8195" name="标题 3"/>
          <p:cNvSpPr>
            <a:spLocks noGrp="1"/>
          </p:cNvSpPr>
          <p:nvPr>
            <p:ph type="title"/>
          </p:nvPr>
        </p:nvSpPr>
        <p:spPr>
          <a:xfrm>
            <a:off x="457200" y="461963"/>
            <a:ext cx="8229600" cy="768350"/>
          </a:xfrm>
          <a:ln/>
        </p:spPr>
        <p:txBody>
          <a:bodyPr vert="horz" wrap="square" lIns="91440" tIns="45720" rIns="91440" bIns="45720" anchor="ctr" anchorCtr="0">
            <a:spAutoFit/>
          </a:bodyPr>
          <a:p>
            <a:r>
              <a:rPr lang="zh-CN" altLang="en-US" dirty="0">
                <a:solidFill>
                  <a:srgbClr val="FF0000"/>
                </a:solidFill>
              </a:rPr>
              <a:t>逻辑门和网络</a:t>
            </a:r>
            <a:endParaRPr lang="zh-CN" altLang="en-US" dirty="0">
              <a:solidFill>
                <a:srgbClr val="FF0000"/>
              </a:solidFill>
            </a:endParaRPr>
          </a:p>
        </p:txBody>
      </p:sp>
    </p:spTree>
  </p:cSld>
  <p:clrMapOvr>
    <a:masterClrMapping/>
  </p:clrMapOvr>
  <p:transition spd="slow" advClick="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标题 1"/>
          <p:cNvSpPr>
            <a:spLocks noGrp="1"/>
          </p:cNvSpPr>
          <p:nvPr>
            <p:ph type="title"/>
          </p:nvPr>
        </p:nvSpPr>
        <p:spPr>
          <a:xfrm>
            <a:off x="468313" y="620713"/>
            <a:ext cx="8229600" cy="993775"/>
          </a:xfrm>
          <a:ln/>
        </p:spPr>
        <p:txBody>
          <a:bodyPr vert="horz" wrap="square" lIns="91440" tIns="45720" rIns="91440" bIns="45720" anchor="ctr" anchorCtr="0"/>
          <a:p>
            <a:r>
              <a:rPr lang="zh-CN" altLang="en-US" dirty="0">
                <a:solidFill>
                  <a:srgbClr val="FF0000"/>
                </a:solidFill>
              </a:rPr>
              <a:t>逻辑网络的分析</a:t>
            </a:r>
            <a:br>
              <a:rPr lang="zh-CN" altLang="en-US" dirty="0">
                <a:solidFill>
                  <a:srgbClr val="FF0000"/>
                </a:solidFill>
              </a:rPr>
            </a:br>
            <a:endParaRPr lang="zh-CN" altLang="en-US" dirty="0">
              <a:solidFill>
                <a:srgbClr val="FF0000"/>
              </a:solidFill>
            </a:endParaRPr>
          </a:p>
        </p:txBody>
      </p:sp>
      <p:sp>
        <p:nvSpPr>
          <p:cNvPr id="9219" name="内容占位符 2"/>
          <p:cNvSpPr>
            <a:spLocks noGrp="1"/>
          </p:cNvSpPr>
          <p:nvPr>
            <p:ph idx="1"/>
          </p:nvPr>
        </p:nvSpPr>
        <p:spPr>
          <a:xfrm>
            <a:off x="274638" y="1989138"/>
            <a:ext cx="8761412" cy="4525962"/>
          </a:xfrm>
          <a:ln/>
        </p:spPr>
        <p:txBody>
          <a:bodyPr vert="horz" wrap="square" lIns="91440" tIns="45720" rIns="91440" bIns="45720" anchor="t" anchorCtr="0"/>
          <a:p>
            <a:r>
              <a:rPr lang="zh-CN" altLang="en-US" dirty="0"/>
              <a:t>数字系统的设计者会遇到</a:t>
            </a:r>
            <a:r>
              <a:rPr lang="zh-CN" altLang="en-US" dirty="0">
                <a:solidFill>
                  <a:srgbClr val="FF0000"/>
                </a:solidFill>
              </a:rPr>
              <a:t>两个基本问题</a:t>
            </a:r>
            <a:r>
              <a:rPr lang="zh-CN" altLang="en-US" dirty="0"/>
              <a:t>：</a:t>
            </a:r>
            <a:endParaRPr lang="en-US" altLang="zh-CN" dirty="0"/>
          </a:p>
          <a:p>
            <a:r>
              <a:rPr lang="zh-CN" altLang="en-US" dirty="0"/>
              <a:t>第一个问题：对已存在的逻辑网络，一定能够确定所实现的函数，这种任务称为</a:t>
            </a:r>
            <a:r>
              <a:rPr lang="zh-CN" altLang="en-US" dirty="0">
                <a:solidFill>
                  <a:srgbClr val="FF0000"/>
                </a:solidFill>
              </a:rPr>
              <a:t>分析过程</a:t>
            </a:r>
            <a:r>
              <a:rPr lang="zh-CN" altLang="en-US" dirty="0"/>
              <a:t>。 </a:t>
            </a:r>
            <a:endParaRPr lang="en-US" altLang="zh-CN" dirty="0"/>
          </a:p>
          <a:p>
            <a:r>
              <a:rPr lang="zh-CN" altLang="en-US" dirty="0"/>
              <a:t>第二个问题：设计一个实现所需函数功能的新网络，这个过程称为</a:t>
            </a:r>
            <a:r>
              <a:rPr lang="zh-CN" altLang="en-US" dirty="0">
                <a:solidFill>
                  <a:srgbClr val="FF0000"/>
                </a:solidFill>
              </a:rPr>
              <a:t>综合过程</a:t>
            </a:r>
            <a:r>
              <a:rPr lang="zh-CN" altLang="en-US" dirty="0"/>
              <a:t>。</a:t>
            </a:r>
            <a:endParaRPr lang="en-US" altLang="zh-CN" dirty="0"/>
          </a:p>
          <a:p>
            <a:r>
              <a:rPr lang="zh-CN" altLang="en-US" dirty="0"/>
              <a:t>分析过程直观易懂，比综合过程简单得多。</a:t>
            </a:r>
            <a:endParaRPr lang="zh-CN" altLang="en-US" dirty="0"/>
          </a:p>
        </p:txBody>
      </p:sp>
    </p:spTree>
  </p:cSld>
  <p:clrMapOvr>
    <a:masterClrMapping/>
  </p:clrMapOvr>
  <p:transition spd="slow" advClick="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2" name="内容占位符 3"/>
          <p:cNvPicPr>
            <a:picLocks noGrp="1" noChangeAspect="1"/>
          </p:cNvPicPr>
          <p:nvPr>
            <p:ph idx="1"/>
          </p:nvPr>
        </p:nvPicPr>
        <p:blipFill>
          <a:blip r:embed="rId1"/>
          <a:srcRect/>
          <a:stretch>
            <a:fillRect/>
          </a:stretch>
        </p:blipFill>
        <p:spPr>
          <a:xfrm>
            <a:off x="2987675" y="501650"/>
            <a:ext cx="5224463" cy="6264275"/>
          </a:xfrm>
          <a:ln/>
        </p:spPr>
      </p:pic>
      <p:sp>
        <p:nvSpPr>
          <p:cNvPr id="10243" name="矩形 1"/>
          <p:cNvSpPr/>
          <p:nvPr/>
        </p:nvSpPr>
        <p:spPr>
          <a:xfrm>
            <a:off x="250825" y="333375"/>
            <a:ext cx="1801813" cy="368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zh-CN" altLang="en-US" sz="1800" dirty="0">
                <a:solidFill>
                  <a:srgbClr val="FF0000"/>
                </a:solidFill>
              </a:rPr>
              <a:t>功能等价的网络</a:t>
            </a:r>
            <a:endParaRPr lang="zh-CN" altLang="en-US" sz="1800" dirty="0">
              <a:solidFill>
                <a:srgbClr val="FF0000"/>
              </a:solidFill>
            </a:endParaRPr>
          </a:p>
        </p:txBody>
      </p:sp>
    </p:spTree>
  </p:cSld>
  <p:clrMapOvr>
    <a:masterClrMapping/>
  </p:clrMapOvr>
  <p:transition spd="slow" advClick="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1"/>
          <p:cNvSpPr>
            <a:spLocks noGrp="1"/>
          </p:cNvSpPr>
          <p:nvPr>
            <p:ph type="title"/>
          </p:nvPr>
        </p:nvSpPr>
        <p:spPr>
          <a:ln/>
        </p:spPr>
        <p:txBody>
          <a:bodyPr vert="horz" wrap="square" lIns="91440" tIns="45720" rIns="91440" bIns="45720" anchor="ctr" anchorCtr="0"/>
          <a:p>
            <a:r>
              <a:rPr lang="zh-CN" altLang="en-US" dirty="0">
                <a:solidFill>
                  <a:srgbClr val="FF0000"/>
                </a:solidFill>
              </a:rPr>
              <a:t>功能等价的网络</a:t>
            </a:r>
            <a:endParaRPr lang="zh-CN" altLang="en-US" dirty="0">
              <a:solidFill>
                <a:srgbClr val="FF0000"/>
              </a:solidFill>
            </a:endParaRPr>
          </a:p>
        </p:txBody>
      </p:sp>
      <p:sp>
        <p:nvSpPr>
          <p:cNvPr id="3" name="内容占位符 2"/>
          <p:cNvSpPr>
            <a:spLocks noGrp="1"/>
          </p:cNvSpPr>
          <p:nvPr>
            <p:ph idx="1"/>
          </p:nvPr>
        </p:nvSpPr>
        <p:spPr>
          <a:xfrm>
            <a:off x="611188" y="1628775"/>
            <a:ext cx="8353425"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0" i="0" u="none" strike="noStrike" kern="0" cap="none" spc="0" normalizeH="0" baseline="0" noProof="0" dirty="0" smtClean="0">
                <a:ln>
                  <a:noFill/>
                </a:ln>
                <a:solidFill>
                  <a:schemeClr val="tx1"/>
                </a:solidFill>
                <a:effectLst/>
                <a:uLnTx/>
                <a:uFillTx/>
                <a:latin typeface="+mn-lt"/>
                <a:ea typeface="+mn-ea"/>
                <a:cs typeface="+mn-cs"/>
              </a:rPr>
              <a:t>用同样的分析步骤，可以发现输出 </a:t>
            </a:r>
            <a:r>
              <a:rPr kumimoji="0" lang="en-US" altLang="zh-CN" sz="3200" b="0" i="0" u="none" strike="noStrike" kern="0" cap="none" spc="0" normalizeH="0" baseline="0" noProof="0" dirty="0" smtClean="0">
                <a:ln>
                  <a:noFill/>
                </a:ln>
                <a:solidFill>
                  <a:schemeClr val="tx1"/>
                </a:solidFill>
                <a:effectLst/>
                <a:uLnTx/>
                <a:uFillTx/>
                <a:latin typeface="+mn-lt"/>
                <a:ea typeface="+mn-ea"/>
                <a:cs typeface="+mn-cs"/>
              </a:rPr>
              <a:t>g </a:t>
            </a:r>
            <a:r>
              <a:rPr kumimoji="0" lang="zh-CN" altLang="en-US" sz="3200" b="0" i="0" u="none" strike="noStrike" kern="0" cap="none" spc="0" normalizeH="0" baseline="0" noProof="0" dirty="0" smtClean="0">
                <a:ln>
                  <a:noFill/>
                </a:ln>
                <a:solidFill>
                  <a:schemeClr val="tx1"/>
                </a:solidFill>
                <a:effectLst/>
                <a:uLnTx/>
                <a:uFillTx/>
                <a:latin typeface="+mn-lt"/>
                <a:ea typeface="+mn-ea"/>
                <a:cs typeface="+mn-cs"/>
              </a:rPr>
              <a:t>和 输出 </a:t>
            </a:r>
            <a:r>
              <a:rPr kumimoji="0" lang="en-US" altLang="zh-CN" sz="3200" b="0" i="0" u="none" strike="noStrike" kern="0" cap="none" spc="0" normalizeH="0" baseline="0" noProof="0" dirty="0" smtClean="0">
                <a:ln>
                  <a:noFill/>
                </a:ln>
                <a:solidFill>
                  <a:schemeClr val="tx1"/>
                </a:solidFill>
                <a:effectLst/>
                <a:uLnTx/>
                <a:uFillTx/>
                <a:latin typeface="+mn-lt"/>
                <a:ea typeface="+mn-ea"/>
                <a:cs typeface="+mn-cs"/>
              </a:rPr>
              <a:t>f </a:t>
            </a:r>
            <a:r>
              <a:rPr kumimoji="0" lang="zh-CN" altLang="en-US" sz="3200" b="0" i="0" u="none" strike="noStrike" kern="0" cap="none" spc="0" normalizeH="0" baseline="0" noProof="0" dirty="0" smtClean="0">
                <a:ln>
                  <a:noFill/>
                </a:ln>
                <a:solidFill>
                  <a:schemeClr val="tx1"/>
                </a:solidFill>
                <a:effectLst/>
                <a:uLnTx/>
                <a:uFillTx/>
                <a:latin typeface="+mn-lt"/>
                <a:ea typeface="+mn-ea"/>
                <a:cs typeface="+mn-cs"/>
              </a:rPr>
              <a:t>完全相同。因此，</a:t>
            </a:r>
            <a:endParaRPr kumimoji="0" lang="en-US" altLang="zh-CN" sz="32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32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en-US" sz="3200" b="0" i="0" u="none" strike="noStrike" kern="0" cap="none" spc="0" normalizeH="0" baseline="0" noProof="0" dirty="0" smtClean="0">
                <a:ln>
                  <a:noFill/>
                </a:ln>
                <a:solidFill>
                  <a:schemeClr val="tx1"/>
                </a:solidFill>
                <a:effectLst/>
                <a:uLnTx/>
                <a:uFillTx/>
                <a:latin typeface="+mn-lt"/>
                <a:ea typeface="+mn-ea"/>
                <a:cs typeface="+mn-cs"/>
              </a:rPr>
              <a:t>     </a:t>
            </a:r>
            <a:r>
              <a:rPr kumimoji="0" lang="en-US" altLang="zh-CN" sz="3200" b="0" i="0" u="none" strike="noStrike" kern="0" cap="none" spc="0" normalizeH="0" baseline="0" noProof="0" dirty="0" smtClean="0">
                <a:ln>
                  <a:noFill/>
                </a:ln>
                <a:solidFill>
                  <a:srgbClr val="FF0000"/>
                </a:solidFill>
                <a:effectLst/>
                <a:uLnTx/>
                <a:uFillTx/>
                <a:latin typeface="+mn-lt"/>
                <a:ea typeface="+mn-ea"/>
                <a:cs typeface="+mn-cs"/>
              </a:rPr>
              <a:t>g ( x 1 , x 2 ) = f ( x 1  , x 2  ) </a:t>
            </a:r>
            <a:endParaRPr kumimoji="0" lang="en-US" altLang="zh-CN" sz="3200" b="0" i="0" u="none" strike="noStrike" kern="0" cap="none" spc="0" normalizeH="0" baseline="0" noProof="0" dirty="0" smtClean="0">
              <a:ln>
                <a:noFill/>
              </a:ln>
              <a:solidFill>
                <a:srgbClr val="FF0000"/>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3200" b="0" i="0" u="none" strike="noStrike" kern="0" cap="none" spc="0" normalizeH="0" baseline="0" noProof="0" dirty="0" smtClean="0">
                <a:ln>
                  <a:noFill/>
                </a:ln>
                <a:solidFill>
                  <a:schemeClr val="tx1"/>
                </a:solidFill>
                <a:effectLst/>
                <a:uLnTx/>
                <a:uFillTx/>
                <a:latin typeface="+mn-lt"/>
                <a:ea typeface="+mn-ea"/>
                <a:cs typeface="+mn-cs"/>
              </a:rPr>
              <a:t>这也就是说这两个电路等价；既然这两个网络实现相同的功能，那么选用简单的那一个就很有意义了，因为简单的网络实现成本低。</a:t>
            </a:r>
            <a:endParaRPr kumimoji="0" lang="zh-CN" altLang="en-US" sz="32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spd="slow" advClick="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68313" y="908050"/>
            <a:ext cx="8351838"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0" i="0" u="none" strike="noStrike" kern="0" cap="none" spc="0" normalizeH="0" baseline="0" noProof="0" dirty="0" smtClean="0">
                <a:ln>
                  <a:noFill/>
                </a:ln>
                <a:solidFill>
                  <a:schemeClr val="tx1"/>
                </a:solidFill>
                <a:effectLst/>
                <a:uLnTx/>
                <a:uFillTx/>
                <a:latin typeface="+mn-lt"/>
                <a:ea typeface="+mn-ea"/>
                <a:cs typeface="+mn-cs"/>
              </a:rPr>
              <a:t>一般情况下，一个逻辑函数可以用许多种不同的网络来实现，实现电路的成本也可能有所不同。这就产生了一个重要的问题，怎样为给定的逻辑函数寻找最优的实现电路呢？</a:t>
            </a:r>
            <a:endParaRPr kumimoji="0" lang="en-US" altLang="zh-CN" sz="32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endParaRPr kumimoji="0" lang="en-US" altLang="zh-CN" sz="32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3200" b="0" i="0" u="none" strike="noStrike" kern="0" cap="none" spc="0" normalizeH="0" baseline="0" noProof="0" dirty="0" smtClean="0">
                <a:ln>
                  <a:noFill/>
                </a:ln>
                <a:solidFill>
                  <a:schemeClr val="tx1"/>
                </a:solidFill>
                <a:effectLst/>
                <a:uLnTx/>
                <a:uFillTx/>
                <a:latin typeface="+mn-lt"/>
                <a:ea typeface="+mn-ea"/>
                <a:cs typeface="+mn-cs"/>
              </a:rPr>
              <a:t>逻辑函数的数学处理方法</a:t>
            </a:r>
            <a:r>
              <a:rPr kumimoji="0" lang="en-US" altLang="zh-CN" sz="3200" b="0" i="0" u="none" strike="noStrike" kern="0" cap="none" spc="0" normalizeH="0" baseline="0" noProof="0" dirty="0" smtClean="0">
                <a:ln>
                  <a:noFill/>
                </a:ln>
                <a:solidFill>
                  <a:schemeClr val="tx1"/>
                </a:solidFill>
                <a:effectLst/>
                <a:uLnTx/>
                <a:uFillTx/>
                <a:latin typeface="+mn-lt"/>
                <a:ea typeface="+mn-ea"/>
                <a:cs typeface="+mn-cs"/>
              </a:rPr>
              <a:t>----</a:t>
            </a:r>
            <a:r>
              <a:rPr kumimoji="0" lang="zh-CN" altLang="en-US" sz="32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en-US" sz="3200" b="0" i="0" u="none" strike="noStrike" kern="0" cap="none" spc="0" normalizeH="0" baseline="0" noProof="0" dirty="0" smtClean="0">
                <a:ln>
                  <a:noFill/>
                </a:ln>
                <a:solidFill>
                  <a:srgbClr val="FF0000"/>
                </a:solidFill>
                <a:effectLst/>
                <a:uLnTx/>
                <a:uFillTx/>
                <a:latin typeface="+mn-lt"/>
                <a:ea typeface="+mn-ea"/>
                <a:cs typeface="+mn-cs"/>
              </a:rPr>
              <a:t>布尔代数</a:t>
            </a:r>
            <a:endParaRPr kumimoji="0" lang="zh-CN" altLang="en-US" sz="3200" b="0" i="0" u="none" strike="noStrike" kern="0" cap="none" spc="0" normalizeH="0" baseline="0" noProof="0" dirty="0">
              <a:ln>
                <a:noFill/>
              </a:ln>
              <a:solidFill>
                <a:srgbClr val="FF0000"/>
              </a:solidFill>
              <a:effectLst/>
              <a:uLnTx/>
              <a:uFillTx/>
              <a:latin typeface="+mn-lt"/>
              <a:ea typeface="+mn-ea"/>
              <a:cs typeface="+mn-cs"/>
            </a:endParaRPr>
          </a:p>
        </p:txBody>
      </p:sp>
    </p:spTree>
  </p:cSld>
  <p:clrMapOvr>
    <a:masterClrMapping/>
  </p:clrMapOvr>
  <p:transition spd="slow" advClick="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2" name="Text Box 4"/>
          <p:cNvSpPr txBox="1">
            <a:spLocks noChangeArrowheads="1"/>
          </p:cNvSpPr>
          <p:nvPr/>
        </p:nvSpPr>
        <p:spPr bwMode="auto">
          <a:xfrm>
            <a:off x="827088" y="908050"/>
            <a:ext cx="7010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algn="ctr" defTabSz="914400" eaLnBrk="1" hangingPunct="1">
              <a:spcBef>
                <a:spcPct val="50000"/>
              </a:spcBef>
              <a:buClrTx/>
              <a:buSzTx/>
              <a:buFontTx/>
              <a:buNone/>
              <a:defRPr/>
            </a:pPr>
            <a:r>
              <a:rPr kumimoji="1" lang="zh-CN" altLang="en-US" sz="3200" b="1" kern="1200" cap="none" spc="0" normalizeH="0" baseline="0" noProof="0" dirty="0">
                <a:solidFill>
                  <a:srgbClr val="FF3300"/>
                </a:solidFill>
                <a:effectLst>
                  <a:outerShdw blurRad="38100" dist="38100" dir="2700000" algn="tl">
                    <a:srgbClr val="C0C0C0"/>
                  </a:outerShdw>
                </a:effectLst>
                <a:latin typeface="黑体" panose="02010609060101010101" pitchFamily="49" charset="-122"/>
                <a:ea typeface="黑体" panose="02010609060101010101" pitchFamily="49" charset="-122"/>
                <a:cs typeface="+mn-cs"/>
              </a:rPr>
              <a:t>  逻辑代数基础</a:t>
            </a:r>
            <a:endParaRPr kumimoji="1" lang="zh-CN" altLang="en-US" sz="2400" kern="1200" cap="none" spc="0" normalizeH="0" baseline="0" noProof="0" dirty="0">
              <a:effectLst>
                <a:outerShdw blurRad="38100" dist="38100" dir="2700000" algn="tl">
                  <a:srgbClr val="C0C0C0"/>
                </a:outerShdw>
              </a:effectLst>
              <a:latin typeface="黑体" panose="02010609060101010101" pitchFamily="49" charset="-122"/>
              <a:ea typeface="黑体" panose="02010609060101010101" pitchFamily="49" charset="-122"/>
              <a:cs typeface="+mn-cs"/>
            </a:endParaRPr>
          </a:p>
        </p:txBody>
      </p:sp>
      <p:grpSp>
        <p:nvGrpSpPr>
          <p:cNvPr id="13315" name="Group 14"/>
          <p:cNvGrpSpPr/>
          <p:nvPr/>
        </p:nvGrpSpPr>
        <p:grpSpPr>
          <a:xfrm>
            <a:off x="1476375" y="2420938"/>
            <a:ext cx="6048375" cy="576262"/>
            <a:chOff x="930" y="1888"/>
            <a:chExt cx="3810" cy="363"/>
          </a:xfrm>
        </p:grpSpPr>
        <p:sp>
          <p:nvSpPr>
            <p:cNvPr id="13340" name="AutoShape 4"/>
            <p:cNvSpPr/>
            <p:nvPr/>
          </p:nvSpPr>
          <p:spPr>
            <a:xfrm>
              <a:off x="930" y="1888"/>
              <a:ext cx="3810" cy="363"/>
            </a:xfrm>
            <a:prstGeom prst="roundRect">
              <a:avLst>
                <a:gd name="adj" fmla="val 10889"/>
              </a:avLst>
            </a:prstGeom>
            <a:solidFill>
              <a:schemeClr val="accent1"/>
            </a:solidFill>
            <a:ln w="38100" cap="flat" cmpd="sng">
              <a:solidFill>
                <a:schemeClr val="tx1"/>
              </a:solidFill>
              <a:prstDash val="solid"/>
              <a:headEnd type="none" w="med" len="med"/>
              <a:tailEnd type="none" w="med" len="med"/>
            </a:ln>
            <a:effectLst>
              <a:outerShdw dist="135003" dir="2928844" algn="ctr" rotWithShape="0">
                <a:srgbClr val="000000">
                  <a:alpha val="50000"/>
                </a:srgbClr>
              </a:outerShdw>
            </a:effectLst>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en-US" sz="1800" dirty="0"/>
            </a:p>
          </p:txBody>
        </p:sp>
        <p:sp>
          <p:nvSpPr>
            <p:cNvPr id="13341" name="AutoShape 5"/>
            <p:cNvSpPr/>
            <p:nvPr/>
          </p:nvSpPr>
          <p:spPr>
            <a:xfrm>
              <a:off x="1079" y="1892"/>
              <a:ext cx="622" cy="359"/>
            </a:xfrm>
            <a:prstGeom prst="roundRect">
              <a:avLst>
                <a:gd name="adj" fmla="val 11921"/>
              </a:avLst>
            </a:prstGeom>
            <a:gradFill rotWithShape="1">
              <a:gsLst>
                <a:gs pos="0">
                  <a:srgbClr val="0066CC"/>
                </a:gs>
                <a:gs pos="100000">
                  <a:srgbClr val="00478E"/>
                </a:gs>
              </a:gsLst>
              <a:lin ang="5400000" scaled="1"/>
              <a:tileRect/>
            </a:gradFill>
            <a:ln w="381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1800" dirty="0"/>
            </a:p>
          </p:txBody>
        </p:sp>
        <p:sp>
          <p:nvSpPr>
            <p:cNvPr id="7" name="Freeform 6"/>
            <p:cNvSpPr/>
            <p:nvPr/>
          </p:nvSpPr>
          <p:spPr bwMode="gray">
            <a:xfrm>
              <a:off x="1132" y="1919"/>
              <a:ext cx="424" cy="216"/>
            </a:xfrm>
            <a:custGeom>
              <a:avLst/>
              <a:gdLst/>
              <a:ahLst/>
              <a:cxnLst>
                <a:cxn ang="0">
                  <a:pos x="118" y="0"/>
                </a:cxn>
                <a:cxn ang="0">
                  <a:pos x="0" y="118"/>
                </a:cxn>
                <a:cxn ang="0">
                  <a:pos x="0" y="589"/>
                </a:cxn>
                <a:cxn ang="0">
                  <a:pos x="161" y="174"/>
                </a:cxn>
                <a:cxn ang="0">
                  <a:pos x="589" y="0"/>
                </a:cxn>
                <a:cxn ang="0">
                  <a:pos x="118" y="0"/>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rgbClr val="0066CC">
                    <a:gamma/>
                    <a:tint val="54510"/>
                    <a:invGamma/>
                  </a:srgbClr>
                </a:gs>
                <a:gs pos="50000">
                  <a:srgbClr val="0066CC">
                    <a:alpha val="0"/>
                  </a:srgbClr>
                </a:gs>
                <a:gs pos="100000">
                  <a:srgbClr val="0066CC">
                    <a:gamma/>
                    <a:tint val="54510"/>
                    <a:invGamma/>
                  </a:srgbClr>
                </a:gs>
              </a:gsLst>
              <a:lin ang="2700000" scaled="1"/>
            </a:gradFill>
            <a:ln w="0">
              <a:noFill/>
              <a:prstDash val="solid"/>
              <a:round/>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Text Box 7"/>
            <p:cNvSpPr txBox="1">
              <a:spLocks noChangeArrowheads="1"/>
            </p:cNvSpPr>
            <p:nvPr/>
          </p:nvSpPr>
          <p:spPr bwMode="gray">
            <a:xfrm>
              <a:off x="1156" y="1888"/>
              <a:ext cx="45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smtClean="0">
                  <a:ln>
                    <a:noFill/>
                  </a:ln>
                  <a:solidFill>
                    <a:srgbClr val="FFFFFF"/>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a:t>
              </a:r>
              <a:endParaRPr kumimoji="0" lang="en-US" altLang="zh-CN" sz="2800" b="0" i="0" u="none" strike="noStrike" kern="1200" cap="none" spc="0" normalizeH="0" baseline="0" noProof="0" dirty="0" smtClean="0">
                <a:ln>
                  <a:noFill/>
                </a:ln>
                <a:solidFill>
                  <a:srgbClr val="FFFFFF"/>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3346" name="Text Box 8"/>
            <p:cNvSpPr txBox="1"/>
            <p:nvPr/>
          </p:nvSpPr>
          <p:spPr>
            <a:xfrm>
              <a:off x="1806" y="1938"/>
              <a:ext cx="2435" cy="288"/>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zh-CN" altLang="en-US" sz="2400" b="1" dirty="0">
                  <a:solidFill>
                    <a:srgbClr val="00194D"/>
                  </a:solidFill>
                  <a:latin typeface="华文新魏" panose="02010800040101010101" pitchFamily="2" charset="-122"/>
                  <a:ea typeface="华文新魏" panose="02010800040101010101" pitchFamily="2" charset="-122"/>
                </a:rPr>
                <a:t>逻辑代数的基本概念与运算</a:t>
              </a:r>
              <a:endParaRPr lang="zh-CN" altLang="en-US" sz="2400" b="1" dirty="0">
                <a:solidFill>
                  <a:srgbClr val="00194D"/>
                </a:solidFill>
                <a:latin typeface="华文新魏" panose="02010800040101010101" pitchFamily="2" charset="-122"/>
                <a:ea typeface="华文新魏" panose="02010800040101010101" pitchFamily="2" charset="-122"/>
              </a:endParaRPr>
            </a:p>
          </p:txBody>
        </p:sp>
      </p:grpSp>
      <p:grpSp>
        <p:nvGrpSpPr>
          <p:cNvPr id="13316" name="Group 22"/>
          <p:cNvGrpSpPr/>
          <p:nvPr/>
        </p:nvGrpSpPr>
        <p:grpSpPr>
          <a:xfrm>
            <a:off x="1476375" y="3213100"/>
            <a:ext cx="6048375" cy="576263"/>
            <a:chOff x="1383" y="2523"/>
            <a:chExt cx="3810" cy="363"/>
          </a:xfrm>
        </p:grpSpPr>
        <p:sp>
          <p:nvSpPr>
            <p:cNvPr id="13333" name="AutoShape 4"/>
            <p:cNvSpPr/>
            <p:nvPr/>
          </p:nvSpPr>
          <p:spPr>
            <a:xfrm>
              <a:off x="1383" y="2523"/>
              <a:ext cx="3810" cy="363"/>
            </a:xfrm>
            <a:prstGeom prst="roundRect">
              <a:avLst>
                <a:gd name="adj" fmla="val 10889"/>
              </a:avLst>
            </a:prstGeom>
            <a:solidFill>
              <a:schemeClr val="accent1"/>
            </a:solidFill>
            <a:ln w="38100" cap="flat" cmpd="sng">
              <a:solidFill>
                <a:schemeClr val="tx1"/>
              </a:solidFill>
              <a:prstDash val="solid"/>
              <a:headEnd type="none" w="med" len="med"/>
              <a:tailEnd type="none" w="med" len="med"/>
            </a:ln>
            <a:effectLst>
              <a:outerShdw dist="135003" dir="2928844" algn="ctr" rotWithShape="0">
                <a:srgbClr val="000000">
                  <a:alpha val="50000"/>
                </a:srgbClr>
              </a:outerShdw>
            </a:effectLst>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en-US" sz="1800" dirty="0"/>
            </a:p>
          </p:txBody>
        </p:sp>
        <p:sp>
          <p:nvSpPr>
            <p:cNvPr id="13334" name="AutoShape 5"/>
            <p:cNvSpPr/>
            <p:nvPr/>
          </p:nvSpPr>
          <p:spPr>
            <a:xfrm>
              <a:off x="1548" y="2527"/>
              <a:ext cx="587" cy="359"/>
            </a:xfrm>
            <a:prstGeom prst="roundRect">
              <a:avLst>
                <a:gd name="adj" fmla="val 11921"/>
              </a:avLst>
            </a:prstGeom>
            <a:gradFill rotWithShape="1">
              <a:gsLst>
                <a:gs pos="0">
                  <a:srgbClr val="0066CC"/>
                </a:gs>
                <a:gs pos="100000">
                  <a:srgbClr val="00478E"/>
                </a:gs>
              </a:gsLst>
              <a:lin ang="5400000" scaled="1"/>
              <a:tileRect/>
            </a:gradFill>
            <a:ln w="381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1800" dirty="0"/>
            </a:p>
          </p:txBody>
        </p:sp>
        <p:sp>
          <p:nvSpPr>
            <p:cNvPr id="11" name="Freeform 6"/>
            <p:cNvSpPr/>
            <p:nvPr/>
          </p:nvSpPr>
          <p:spPr bwMode="gray">
            <a:xfrm>
              <a:off x="1606" y="2554"/>
              <a:ext cx="470" cy="216"/>
            </a:xfrm>
            <a:custGeom>
              <a:avLst/>
              <a:gdLst/>
              <a:ahLst/>
              <a:cxnLst>
                <a:cxn ang="0">
                  <a:pos x="118" y="0"/>
                </a:cxn>
                <a:cxn ang="0">
                  <a:pos x="0" y="118"/>
                </a:cxn>
                <a:cxn ang="0">
                  <a:pos x="0" y="589"/>
                </a:cxn>
                <a:cxn ang="0">
                  <a:pos x="161" y="174"/>
                </a:cxn>
                <a:cxn ang="0">
                  <a:pos x="589" y="0"/>
                </a:cxn>
                <a:cxn ang="0">
                  <a:pos x="118" y="0"/>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rgbClr val="0066CC">
                    <a:gamma/>
                    <a:tint val="54510"/>
                    <a:invGamma/>
                  </a:srgbClr>
                </a:gs>
                <a:gs pos="50000">
                  <a:srgbClr val="0066CC">
                    <a:alpha val="0"/>
                  </a:srgbClr>
                </a:gs>
                <a:gs pos="100000">
                  <a:srgbClr val="0066CC">
                    <a:gamma/>
                    <a:tint val="54510"/>
                    <a:invGamma/>
                  </a:srgbClr>
                </a:gs>
              </a:gsLst>
              <a:lin ang="2700000" scaled="1"/>
            </a:gradFill>
            <a:ln w="0">
              <a:noFill/>
              <a:prstDash val="solid"/>
              <a:round/>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 name="Text Box 7"/>
            <p:cNvSpPr txBox="1">
              <a:spLocks noChangeArrowheads="1"/>
            </p:cNvSpPr>
            <p:nvPr/>
          </p:nvSpPr>
          <p:spPr bwMode="gray">
            <a:xfrm>
              <a:off x="1584" y="2523"/>
              <a:ext cx="50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smtClean="0">
                  <a:ln>
                    <a:noFill/>
                  </a:ln>
                  <a:solidFill>
                    <a:srgbClr val="FFFFFF"/>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a:t>
              </a:r>
              <a:endParaRPr kumimoji="0" lang="en-US" altLang="zh-CN" sz="2800" b="0" i="0" u="none" strike="noStrike" kern="1200" cap="none" spc="0" normalizeH="0" baseline="0" noProof="0" dirty="0" smtClean="0">
                <a:ln>
                  <a:noFill/>
                </a:ln>
                <a:solidFill>
                  <a:srgbClr val="FFFFFF"/>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3339" name="Text Box 8"/>
            <p:cNvSpPr txBox="1"/>
            <p:nvPr/>
          </p:nvSpPr>
          <p:spPr>
            <a:xfrm>
              <a:off x="2251" y="2573"/>
              <a:ext cx="2171" cy="288"/>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zh-CN" altLang="en-US" sz="2400" b="1" dirty="0">
                  <a:solidFill>
                    <a:srgbClr val="00194D"/>
                  </a:solidFill>
                  <a:latin typeface="华文新魏" panose="02010800040101010101" pitchFamily="2" charset="-122"/>
                  <a:ea typeface="华文新魏" panose="02010800040101010101" pitchFamily="2" charset="-122"/>
                </a:rPr>
                <a:t>逻辑函数的公式化简法</a:t>
              </a:r>
              <a:endParaRPr lang="zh-CN" altLang="en-US" sz="2400" b="1" dirty="0">
                <a:solidFill>
                  <a:srgbClr val="00194D"/>
                </a:solidFill>
                <a:latin typeface="华文新魏" panose="02010800040101010101" pitchFamily="2" charset="-122"/>
                <a:ea typeface="华文新魏" panose="02010800040101010101" pitchFamily="2" charset="-122"/>
              </a:endParaRPr>
            </a:p>
          </p:txBody>
        </p:sp>
      </p:grpSp>
      <p:grpSp>
        <p:nvGrpSpPr>
          <p:cNvPr id="13317" name="Group 30"/>
          <p:cNvGrpSpPr/>
          <p:nvPr/>
        </p:nvGrpSpPr>
        <p:grpSpPr>
          <a:xfrm>
            <a:off x="1476375" y="4005263"/>
            <a:ext cx="6048375" cy="576262"/>
            <a:chOff x="1383" y="3022"/>
            <a:chExt cx="3810" cy="363"/>
          </a:xfrm>
        </p:grpSpPr>
        <p:sp>
          <p:nvSpPr>
            <p:cNvPr id="13326" name="AutoShape 4"/>
            <p:cNvSpPr/>
            <p:nvPr/>
          </p:nvSpPr>
          <p:spPr>
            <a:xfrm>
              <a:off x="1383" y="3022"/>
              <a:ext cx="3810" cy="363"/>
            </a:xfrm>
            <a:prstGeom prst="roundRect">
              <a:avLst>
                <a:gd name="adj" fmla="val 10889"/>
              </a:avLst>
            </a:prstGeom>
            <a:solidFill>
              <a:schemeClr val="accent1"/>
            </a:solidFill>
            <a:ln w="38100" cap="flat" cmpd="sng">
              <a:solidFill>
                <a:schemeClr val="tx1"/>
              </a:solidFill>
              <a:prstDash val="solid"/>
              <a:headEnd type="none" w="med" len="med"/>
              <a:tailEnd type="none" w="med" len="med"/>
            </a:ln>
            <a:effectLst>
              <a:outerShdw dist="135003" dir="2928844" algn="ctr" rotWithShape="0">
                <a:srgbClr val="000000">
                  <a:alpha val="50000"/>
                </a:srgbClr>
              </a:outerShdw>
            </a:effectLst>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en-US" sz="1800" dirty="0"/>
            </a:p>
          </p:txBody>
        </p:sp>
        <p:sp>
          <p:nvSpPr>
            <p:cNvPr id="13327" name="AutoShape 5"/>
            <p:cNvSpPr/>
            <p:nvPr/>
          </p:nvSpPr>
          <p:spPr>
            <a:xfrm>
              <a:off x="1548" y="3026"/>
              <a:ext cx="587" cy="359"/>
            </a:xfrm>
            <a:prstGeom prst="roundRect">
              <a:avLst>
                <a:gd name="adj" fmla="val 11921"/>
              </a:avLst>
            </a:prstGeom>
            <a:gradFill rotWithShape="1">
              <a:gsLst>
                <a:gs pos="0">
                  <a:srgbClr val="0066CC"/>
                </a:gs>
                <a:gs pos="100000">
                  <a:srgbClr val="00478E"/>
                </a:gs>
              </a:gsLst>
              <a:lin ang="5400000" scaled="1"/>
              <a:tileRect/>
            </a:gradFill>
            <a:ln w="381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1800" dirty="0"/>
            </a:p>
          </p:txBody>
        </p:sp>
        <p:sp>
          <p:nvSpPr>
            <p:cNvPr id="15" name="Freeform 6"/>
            <p:cNvSpPr/>
            <p:nvPr/>
          </p:nvSpPr>
          <p:spPr bwMode="gray">
            <a:xfrm>
              <a:off x="1606" y="3053"/>
              <a:ext cx="470" cy="216"/>
            </a:xfrm>
            <a:custGeom>
              <a:avLst/>
              <a:gdLst/>
              <a:ahLst/>
              <a:cxnLst>
                <a:cxn ang="0">
                  <a:pos x="118" y="0"/>
                </a:cxn>
                <a:cxn ang="0">
                  <a:pos x="0" y="118"/>
                </a:cxn>
                <a:cxn ang="0">
                  <a:pos x="0" y="589"/>
                </a:cxn>
                <a:cxn ang="0">
                  <a:pos x="161" y="174"/>
                </a:cxn>
                <a:cxn ang="0">
                  <a:pos x="589" y="0"/>
                </a:cxn>
                <a:cxn ang="0">
                  <a:pos x="118" y="0"/>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rgbClr val="0066CC">
                    <a:gamma/>
                    <a:tint val="54510"/>
                    <a:invGamma/>
                  </a:srgbClr>
                </a:gs>
                <a:gs pos="50000">
                  <a:srgbClr val="0066CC">
                    <a:alpha val="0"/>
                  </a:srgbClr>
                </a:gs>
                <a:gs pos="100000">
                  <a:srgbClr val="0066CC">
                    <a:gamma/>
                    <a:tint val="54510"/>
                    <a:invGamma/>
                  </a:srgbClr>
                </a:gs>
              </a:gsLst>
              <a:lin ang="2700000" scaled="1"/>
            </a:gradFill>
            <a:ln w="0">
              <a:noFill/>
              <a:prstDash val="solid"/>
              <a:round/>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6" name="Text Box 7"/>
            <p:cNvSpPr txBox="1">
              <a:spLocks noChangeArrowheads="1"/>
            </p:cNvSpPr>
            <p:nvPr/>
          </p:nvSpPr>
          <p:spPr bwMode="gray">
            <a:xfrm>
              <a:off x="1584" y="3022"/>
              <a:ext cx="50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smtClean="0">
                  <a:ln>
                    <a:noFill/>
                  </a:ln>
                  <a:solidFill>
                    <a:srgbClr val="FFFFFF"/>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a:t>
              </a:r>
              <a:endParaRPr kumimoji="0" lang="en-US" altLang="zh-CN" sz="2800" b="0" i="0" u="none" strike="noStrike" kern="1200" cap="none" spc="0" normalizeH="0" baseline="0" noProof="0" dirty="0" smtClean="0">
                <a:ln>
                  <a:noFill/>
                </a:ln>
                <a:solidFill>
                  <a:srgbClr val="FFFFFF"/>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3332" name="Text Box 8"/>
            <p:cNvSpPr txBox="1"/>
            <p:nvPr/>
          </p:nvSpPr>
          <p:spPr>
            <a:xfrm>
              <a:off x="2251" y="3072"/>
              <a:ext cx="2307" cy="288"/>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zh-CN" altLang="en-US" sz="2400" b="1" dirty="0">
                  <a:solidFill>
                    <a:srgbClr val="00194D"/>
                  </a:solidFill>
                  <a:latin typeface="华文新魏" panose="02010800040101010101" pitchFamily="2" charset="-122"/>
                  <a:ea typeface="华文新魏" panose="02010800040101010101" pitchFamily="2" charset="-122"/>
                </a:rPr>
                <a:t>逻辑函数的卡诺图化简法</a:t>
              </a:r>
              <a:endParaRPr lang="zh-CN" altLang="en-US" sz="2400" b="1" dirty="0">
                <a:solidFill>
                  <a:srgbClr val="00194D"/>
                </a:solidFill>
                <a:latin typeface="华文新魏" panose="02010800040101010101" pitchFamily="2" charset="-122"/>
                <a:ea typeface="华文新魏" panose="02010800040101010101" pitchFamily="2" charset="-122"/>
              </a:endParaRPr>
            </a:p>
          </p:txBody>
        </p:sp>
      </p:grpSp>
      <p:grpSp>
        <p:nvGrpSpPr>
          <p:cNvPr id="13318" name="Group 38"/>
          <p:cNvGrpSpPr/>
          <p:nvPr/>
        </p:nvGrpSpPr>
        <p:grpSpPr>
          <a:xfrm>
            <a:off x="1476375" y="4797425"/>
            <a:ext cx="6048375" cy="576263"/>
            <a:chOff x="1383" y="3521"/>
            <a:chExt cx="3810" cy="363"/>
          </a:xfrm>
        </p:grpSpPr>
        <p:sp>
          <p:nvSpPr>
            <p:cNvPr id="13319" name="AutoShape 4"/>
            <p:cNvSpPr/>
            <p:nvPr/>
          </p:nvSpPr>
          <p:spPr>
            <a:xfrm>
              <a:off x="1383" y="3521"/>
              <a:ext cx="3810" cy="363"/>
            </a:xfrm>
            <a:prstGeom prst="roundRect">
              <a:avLst>
                <a:gd name="adj" fmla="val 10889"/>
              </a:avLst>
            </a:prstGeom>
            <a:solidFill>
              <a:schemeClr val="accent1"/>
            </a:solidFill>
            <a:ln w="38100" cap="flat" cmpd="sng">
              <a:solidFill>
                <a:schemeClr val="tx1"/>
              </a:solidFill>
              <a:prstDash val="solid"/>
              <a:headEnd type="none" w="med" len="med"/>
              <a:tailEnd type="none" w="med" len="med"/>
            </a:ln>
            <a:effectLst>
              <a:outerShdw dist="135003" dir="2928844" algn="ctr" rotWithShape="0">
                <a:srgbClr val="000000">
                  <a:alpha val="50000"/>
                </a:srgbClr>
              </a:outerShdw>
            </a:effectLst>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en-US" sz="1800" dirty="0"/>
            </a:p>
          </p:txBody>
        </p:sp>
        <p:sp>
          <p:nvSpPr>
            <p:cNvPr id="13320" name="AutoShape 5"/>
            <p:cNvSpPr/>
            <p:nvPr/>
          </p:nvSpPr>
          <p:spPr>
            <a:xfrm>
              <a:off x="1548" y="3525"/>
              <a:ext cx="587" cy="359"/>
            </a:xfrm>
            <a:prstGeom prst="roundRect">
              <a:avLst>
                <a:gd name="adj" fmla="val 11921"/>
              </a:avLst>
            </a:prstGeom>
            <a:gradFill rotWithShape="1">
              <a:gsLst>
                <a:gs pos="0">
                  <a:srgbClr val="0066CC"/>
                </a:gs>
                <a:gs pos="100000">
                  <a:srgbClr val="00478E"/>
                </a:gs>
              </a:gsLst>
              <a:lin ang="5400000" scaled="1"/>
              <a:tileRect/>
            </a:gradFill>
            <a:ln w="381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1800" dirty="0"/>
            </a:p>
          </p:txBody>
        </p:sp>
        <p:sp>
          <p:nvSpPr>
            <p:cNvPr id="27" name="Freeform 6"/>
            <p:cNvSpPr/>
            <p:nvPr/>
          </p:nvSpPr>
          <p:spPr bwMode="gray">
            <a:xfrm>
              <a:off x="1606" y="3552"/>
              <a:ext cx="470" cy="216"/>
            </a:xfrm>
            <a:custGeom>
              <a:avLst/>
              <a:gdLst/>
              <a:ahLst/>
              <a:cxnLst>
                <a:cxn ang="0">
                  <a:pos x="118" y="0"/>
                </a:cxn>
                <a:cxn ang="0">
                  <a:pos x="0" y="118"/>
                </a:cxn>
                <a:cxn ang="0">
                  <a:pos x="0" y="589"/>
                </a:cxn>
                <a:cxn ang="0">
                  <a:pos x="161" y="174"/>
                </a:cxn>
                <a:cxn ang="0">
                  <a:pos x="589" y="0"/>
                </a:cxn>
                <a:cxn ang="0">
                  <a:pos x="118" y="0"/>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rgbClr val="0066CC">
                    <a:gamma/>
                    <a:tint val="54510"/>
                    <a:invGamma/>
                  </a:srgbClr>
                </a:gs>
                <a:gs pos="50000">
                  <a:srgbClr val="0066CC">
                    <a:alpha val="0"/>
                  </a:srgbClr>
                </a:gs>
                <a:gs pos="100000">
                  <a:srgbClr val="0066CC">
                    <a:gamma/>
                    <a:tint val="54510"/>
                    <a:invGamma/>
                  </a:srgbClr>
                </a:gs>
              </a:gsLst>
              <a:lin ang="2700000" scaled="1"/>
            </a:gradFill>
            <a:ln w="0">
              <a:noFill/>
              <a:prstDash val="solid"/>
              <a:round/>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8" name="Text Box 7"/>
            <p:cNvSpPr txBox="1">
              <a:spLocks noChangeArrowheads="1"/>
            </p:cNvSpPr>
            <p:nvPr/>
          </p:nvSpPr>
          <p:spPr bwMode="gray">
            <a:xfrm>
              <a:off x="1584" y="3521"/>
              <a:ext cx="50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smtClean="0">
                  <a:ln>
                    <a:noFill/>
                  </a:ln>
                  <a:solidFill>
                    <a:srgbClr val="FFFFFF"/>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4</a:t>
              </a:r>
              <a:endParaRPr kumimoji="0" lang="en-US" altLang="zh-CN" sz="2800" b="0" i="0" u="none" strike="noStrike" kern="1200" cap="none" spc="0" normalizeH="0" baseline="0" noProof="0" dirty="0" smtClean="0">
                <a:ln>
                  <a:noFill/>
                </a:ln>
                <a:solidFill>
                  <a:srgbClr val="FFFFFF"/>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3325" name="Text Box 8"/>
            <p:cNvSpPr txBox="1"/>
            <p:nvPr/>
          </p:nvSpPr>
          <p:spPr>
            <a:xfrm>
              <a:off x="2251" y="3571"/>
              <a:ext cx="2852" cy="288"/>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zh-CN" altLang="en-US" sz="2400" b="1" dirty="0">
                  <a:solidFill>
                    <a:srgbClr val="00194D"/>
                  </a:solidFill>
                  <a:latin typeface="华文新魏" panose="02010800040101010101" pitchFamily="2" charset="-122"/>
                  <a:ea typeface="华文新魏" panose="02010800040101010101" pitchFamily="2" charset="-122"/>
                </a:rPr>
                <a:t>具有无关项的逻辑函数及其化简</a:t>
              </a:r>
              <a:endParaRPr lang="zh-CN" altLang="en-US" sz="2400" b="1" dirty="0">
                <a:solidFill>
                  <a:srgbClr val="00194D"/>
                </a:solidFill>
                <a:latin typeface="华文新魏" panose="02010800040101010101" pitchFamily="2" charset="-122"/>
                <a:ea typeface="华文新魏" panose="02010800040101010101" pitchFamily="2" charset="-122"/>
              </a:endParaRPr>
            </a:p>
          </p:txBody>
        </p:sp>
      </p:grpSp>
    </p:spTree>
  </p:cSld>
  <p:clrMapOvr>
    <a:masterClrMapping/>
  </p:clrMapOvr>
  <p:transition spd="slow" advClick="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4338" name="Group 4"/>
          <p:cNvGrpSpPr/>
          <p:nvPr/>
        </p:nvGrpSpPr>
        <p:grpSpPr>
          <a:xfrm>
            <a:off x="1547813" y="765175"/>
            <a:ext cx="6337300" cy="576263"/>
            <a:chOff x="975" y="436"/>
            <a:chExt cx="3810" cy="363"/>
          </a:xfrm>
        </p:grpSpPr>
        <p:sp>
          <p:nvSpPr>
            <p:cNvPr id="14344" name="AutoShape 4"/>
            <p:cNvSpPr/>
            <p:nvPr/>
          </p:nvSpPr>
          <p:spPr>
            <a:xfrm>
              <a:off x="975" y="436"/>
              <a:ext cx="3810" cy="363"/>
            </a:xfrm>
            <a:prstGeom prst="roundRect">
              <a:avLst>
                <a:gd name="adj" fmla="val 10889"/>
              </a:avLst>
            </a:prstGeom>
            <a:solidFill>
              <a:schemeClr val="accent1"/>
            </a:solidFill>
            <a:ln w="38100" cap="flat" cmpd="sng">
              <a:solidFill>
                <a:schemeClr val="tx1"/>
              </a:solidFill>
              <a:prstDash val="solid"/>
              <a:headEnd type="none" w="med" len="med"/>
              <a:tailEnd type="none" w="med" len="med"/>
            </a:ln>
            <a:effectLst>
              <a:outerShdw dist="135003" dir="2928844" algn="ctr" rotWithShape="0">
                <a:srgbClr val="000000">
                  <a:alpha val="50000"/>
                </a:srgbClr>
              </a:outerShdw>
            </a:effectLst>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en-US" sz="1800" dirty="0"/>
            </a:p>
          </p:txBody>
        </p:sp>
        <p:sp>
          <p:nvSpPr>
            <p:cNvPr id="14345" name="AutoShape 5"/>
            <p:cNvSpPr/>
            <p:nvPr/>
          </p:nvSpPr>
          <p:spPr>
            <a:xfrm>
              <a:off x="1156" y="436"/>
              <a:ext cx="635" cy="359"/>
            </a:xfrm>
            <a:prstGeom prst="roundRect">
              <a:avLst>
                <a:gd name="adj" fmla="val 11921"/>
              </a:avLst>
            </a:prstGeom>
            <a:gradFill rotWithShape="1">
              <a:gsLst>
                <a:gs pos="0">
                  <a:srgbClr val="0066CC"/>
                </a:gs>
                <a:gs pos="100000">
                  <a:srgbClr val="00478E"/>
                </a:gs>
              </a:gsLst>
              <a:lin ang="5400000" scaled="1"/>
              <a:tileRect/>
            </a:gradFill>
            <a:ln w="381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1800" dirty="0"/>
            </a:p>
          </p:txBody>
        </p:sp>
        <p:sp>
          <p:nvSpPr>
            <p:cNvPr id="27" name="Freeform 6"/>
            <p:cNvSpPr/>
            <p:nvPr/>
          </p:nvSpPr>
          <p:spPr bwMode="gray">
            <a:xfrm>
              <a:off x="1252" y="485"/>
              <a:ext cx="540" cy="216"/>
            </a:xfrm>
            <a:custGeom>
              <a:avLst/>
              <a:gdLst/>
              <a:ahLst/>
              <a:cxnLst>
                <a:cxn ang="0">
                  <a:pos x="118" y="0"/>
                </a:cxn>
                <a:cxn ang="0">
                  <a:pos x="0" y="118"/>
                </a:cxn>
                <a:cxn ang="0">
                  <a:pos x="0" y="589"/>
                </a:cxn>
                <a:cxn ang="0">
                  <a:pos x="161" y="174"/>
                </a:cxn>
                <a:cxn ang="0">
                  <a:pos x="589" y="0"/>
                </a:cxn>
                <a:cxn ang="0">
                  <a:pos x="118" y="0"/>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rgbClr val="0066CC">
                    <a:gamma/>
                    <a:tint val="54510"/>
                    <a:invGamma/>
                  </a:srgbClr>
                </a:gs>
                <a:gs pos="50000">
                  <a:srgbClr val="0066CC">
                    <a:alpha val="0"/>
                  </a:srgbClr>
                </a:gs>
                <a:gs pos="100000">
                  <a:srgbClr val="0066CC">
                    <a:gamma/>
                    <a:tint val="54510"/>
                    <a:invGamma/>
                  </a:srgbClr>
                </a:gs>
              </a:gsLst>
              <a:lin ang="2700000" scaled="1"/>
            </a:gradFill>
            <a:ln w="0">
              <a:noFill/>
              <a:prstDash val="solid"/>
              <a:round/>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8" name="Text Box 7"/>
            <p:cNvSpPr txBox="1">
              <a:spLocks noChangeArrowheads="1"/>
            </p:cNvSpPr>
            <p:nvPr/>
          </p:nvSpPr>
          <p:spPr bwMode="gray">
            <a:xfrm>
              <a:off x="1020" y="436"/>
              <a:ext cx="77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smtClean="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a:t>
              </a:r>
              <a:r>
                <a:rPr kumimoji="0" lang="zh-CN" altLang="en-US" sz="2800" b="0" i="0" u="none" strike="noStrike" kern="1200" cap="none" spc="0" normalizeH="0" baseline="0" noProof="0" dirty="0" smtClean="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r>
              <a:endParaRPr kumimoji="0" lang="en-US" altLang="zh-CN" sz="2800" b="0" i="0" u="none" strike="noStrike" kern="1200" cap="none" spc="0" normalizeH="0" baseline="0" noProof="0" dirty="0" smtClean="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4350" name="Text Box 8"/>
            <p:cNvSpPr txBox="1"/>
            <p:nvPr/>
          </p:nvSpPr>
          <p:spPr>
            <a:xfrm>
              <a:off x="1973" y="486"/>
              <a:ext cx="2721" cy="288"/>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zh-CN" altLang="en-US" sz="2400" b="1" dirty="0">
                  <a:solidFill>
                    <a:srgbClr val="FF0000"/>
                  </a:solidFill>
                  <a:ea typeface="华文新魏" panose="02010800040101010101" pitchFamily="2" charset="-122"/>
                </a:rPr>
                <a:t>逻辑代数的基本概念和运算规则</a:t>
              </a:r>
              <a:endParaRPr lang="zh-CN" altLang="en-US" sz="2400" b="1" dirty="0">
                <a:solidFill>
                  <a:srgbClr val="FF0000"/>
                </a:solidFill>
                <a:ea typeface="华文新魏" panose="02010800040101010101" pitchFamily="2" charset="-122"/>
              </a:endParaRPr>
            </a:p>
          </p:txBody>
        </p:sp>
      </p:grpSp>
      <p:sp>
        <p:nvSpPr>
          <p:cNvPr id="14339" name="Text Box 14"/>
          <p:cNvSpPr txBox="1"/>
          <p:nvPr/>
        </p:nvSpPr>
        <p:spPr>
          <a:xfrm>
            <a:off x="900113" y="1557338"/>
            <a:ext cx="7632700" cy="11874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latin typeface="Times New Roman" panose="02020603050405020304" pitchFamily="18" charset="0"/>
              </a:rPr>
              <a:t>        </a:t>
            </a:r>
            <a:r>
              <a:rPr lang="zh-CN" altLang="en-US" sz="2400" b="1" dirty="0">
                <a:solidFill>
                  <a:schemeClr val="accent2"/>
                </a:solidFill>
                <a:latin typeface="Times New Roman" panose="02020603050405020304" pitchFamily="18" charset="0"/>
              </a:rPr>
              <a:t>逻辑代数</a:t>
            </a:r>
            <a:r>
              <a:rPr lang="zh-CN" altLang="en-US" sz="2400" b="1" dirty="0">
                <a:latin typeface="Times New Roman" panose="02020603050405020304" pitchFamily="18" charset="0"/>
              </a:rPr>
              <a:t>是英国数学家</a:t>
            </a:r>
            <a:r>
              <a:rPr lang="en-US" altLang="zh-CN" sz="2400" b="1" u="sng" dirty="0">
                <a:latin typeface="Times New Roman" panose="02020603050405020304" pitchFamily="18" charset="0"/>
              </a:rPr>
              <a:t>George Boole</a:t>
            </a:r>
            <a:r>
              <a:rPr lang="zh-CN" altLang="en-US" sz="2400" b="1" dirty="0">
                <a:latin typeface="Times New Roman" panose="02020603050405020304" pitchFamily="18" charset="0"/>
              </a:rPr>
              <a:t>于</a:t>
            </a:r>
            <a:r>
              <a:rPr lang="en-US" altLang="zh-CN" sz="2400" b="1" dirty="0">
                <a:latin typeface="Times New Roman" panose="02020603050405020304" pitchFamily="18" charset="0"/>
              </a:rPr>
              <a:t>1847</a:t>
            </a:r>
            <a:r>
              <a:rPr lang="zh-CN" altLang="en-US" sz="2400" b="1" dirty="0">
                <a:latin typeface="Times New Roman" panose="02020603050405020304" pitchFamily="18" charset="0"/>
              </a:rPr>
              <a:t>年提出的，所以又称为</a:t>
            </a:r>
            <a:r>
              <a:rPr lang="zh-CN" altLang="en-US" sz="2400" b="1" dirty="0">
                <a:solidFill>
                  <a:schemeClr val="accent2"/>
                </a:solidFill>
                <a:latin typeface="Times New Roman" panose="02020603050405020304" pitchFamily="18" charset="0"/>
              </a:rPr>
              <a:t>布尔代数</a:t>
            </a:r>
            <a:r>
              <a:rPr lang="zh-CN" altLang="en-US" sz="2400" b="1" dirty="0">
                <a:latin typeface="Times New Roman" panose="02020603050405020304" pitchFamily="18" charset="0"/>
              </a:rPr>
              <a:t>或</a:t>
            </a:r>
            <a:r>
              <a:rPr lang="zh-CN" altLang="en-US" sz="2400" b="1" dirty="0">
                <a:solidFill>
                  <a:schemeClr val="accent2"/>
                </a:solidFill>
                <a:latin typeface="Times New Roman" panose="02020603050405020304" pitchFamily="18" charset="0"/>
              </a:rPr>
              <a:t>开关代数</a:t>
            </a:r>
            <a:r>
              <a:rPr lang="zh-CN" altLang="en-US" sz="2400" b="1" dirty="0">
                <a:latin typeface="Times New Roman" panose="02020603050405020304" pitchFamily="18" charset="0"/>
              </a:rPr>
              <a:t>，它是分析和设计逻辑电路的重要数学工具。</a:t>
            </a:r>
            <a:endParaRPr lang="zh-CN" altLang="en-US" sz="2400" b="1" dirty="0">
              <a:latin typeface="Times New Roman" panose="02020603050405020304" pitchFamily="18" charset="0"/>
            </a:endParaRPr>
          </a:p>
        </p:txBody>
      </p:sp>
      <p:sp>
        <p:nvSpPr>
          <p:cNvPr id="14340" name="Text Box 15"/>
          <p:cNvSpPr txBox="1"/>
          <p:nvPr/>
        </p:nvSpPr>
        <p:spPr>
          <a:xfrm>
            <a:off x="2627313" y="2852738"/>
            <a:ext cx="6265862" cy="3406775"/>
          </a:xfrm>
          <a:prstGeom prst="rect">
            <a:avLst/>
          </a:prstGeom>
          <a:noFill/>
          <a:ln w="2857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1800" b="1" dirty="0">
                <a:solidFill>
                  <a:srgbClr val="000000"/>
                </a:solidFill>
              </a:rPr>
              <a:t>     </a:t>
            </a:r>
            <a:r>
              <a:rPr lang="en-US" altLang="zh-CN" sz="2400" b="1" dirty="0">
                <a:latin typeface="华文行楷" panose="02010800040101010101" pitchFamily="2" charset="-122"/>
                <a:ea typeface="华文行楷" panose="02010800040101010101" pitchFamily="2" charset="-122"/>
              </a:rPr>
              <a:t>◆ </a:t>
            </a:r>
            <a:r>
              <a:rPr lang="zh-CN" altLang="en-US" sz="2400" b="1" dirty="0">
                <a:latin typeface="华文行楷" panose="02010800040101010101" pitchFamily="2" charset="-122"/>
                <a:ea typeface="华文行楷" panose="02010800040101010101" pitchFamily="2" charset="-122"/>
              </a:rPr>
              <a:t>英国数学家</a:t>
            </a:r>
            <a:r>
              <a:rPr lang="en-US" altLang="zh-CN" sz="2400" b="1" dirty="0">
                <a:latin typeface="华文行楷" panose="02010800040101010101" pitchFamily="2" charset="-122"/>
                <a:ea typeface="华文行楷" panose="02010800040101010101" pitchFamily="2" charset="-122"/>
              </a:rPr>
              <a:t>George Boole</a:t>
            </a:r>
            <a:r>
              <a:rPr lang="zh-CN" altLang="en-US" sz="2400" b="1" dirty="0">
                <a:latin typeface="华文行楷" panose="02010800040101010101" pitchFamily="2" charset="-122"/>
                <a:ea typeface="华文行楷" panose="02010800040101010101" pitchFamily="2" charset="-122"/>
              </a:rPr>
              <a:t>于</a:t>
            </a:r>
            <a:r>
              <a:rPr lang="en-US" altLang="zh-CN" sz="2400" b="1" dirty="0">
                <a:latin typeface="华文行楷" panose="02010800040101010101" pitchFamily="2" charset="-122"/>
                <a:ea typeface="华文行楷" panose="02010800040101010101" pitchFamily="2" charset="-122"/>
              </a:rPr>
              <a:t>1815</a:t>
            </a:r>
            <a:r>
              <a:rPr lang="zh-CN" altLang="en-US" sz="2400" b="1" dirty="0">
                <a:latin typeface="华文行楷" panose="02010800040101010101" pitchFamily="2" charset="-122"/>
                <a:ea typeface="华文行楷" panose="02010800040101010101" pitchFamily="2" charset="-122"/>
              </a:rPr>
              <a:t>年</a:t>
            </a:r>
            <a:r>
              <a:rPr lang="en-US" altLang="zh-CN" sz="2400" b="1" dirty="0">
                <a:latin typeface="华文行楷" panose="02010800040101010101" pitchFamily="2" charset="-122"/>
                <a:ea typeface="华文行楷" panose="02010800040101010101" pitchFamily="2" charset="-122"/>
              </a:rPr>
              <a:t>11</a:t>
            </a:r>
            <a:r>
              <a:rPr lang="zh-CN" altLang="en-US" sz="2400" b="1" dirty="0">
                <a:latin typeface="华文行楷" panose="02010800040101010101" pitchFamily="2" charset="-122"/>
                <a:ea typeface="华文行楷" panose="02010800040101010101" pitchFamily="2" charset="-122"/>
              </a:rPr>
              <a:t>月生于英格兰的林肯。</a:t>
            </a:r>
            <a:endParaRPr lang="zh-CN" altLang="en-US" sz="2400" b="1" dirty="0">
              <a:latin typeface="华文行楷" panose="02010800040101010101" pitchFamily="2" charset="-122"/>
              <a:ea typeface="华文行楷" panose="02010800040101010101" pitchFamily="2" charset="-122"/>
            </a:endParaRPr>
          </a:p>
          <a:p>
            <a:pPr marL="0" lvl="0" indent="0" eaLnBrk="1" hangingPunct="1">
              <a:spcBef>
                <a:spcPct val="0"/>
              </a:spcBef>
              <a:buNone/>
            </a:pPr>
            <a:r>
              <a:rPr lang="zh-CN" altLang="en-US" sz="2400" b="1" dirty="0">
                <a:latin typeface="华文行楷" panose="02010800040101010101" pitchFamily="2" charset="-122"/>
                <a:ea typeface="华文行楷" panose="02010800040101010101" pitchFamily="2" charset="-122"/>
              </a:rPr>
              <a:t>   </a:t>
            </a:r>
            <a:r>
              <a:rPr lang="zh-CN" altLang="en-US" sz="2400" dirty="0">
                <a:latin typeface="华文行楷" panose="02010800040101010101" pitchFamily="2" charset="-122"/>
                <a:ea typeface="华文行楷" panose="02010800040101010101" pitchFamily="2" charset="-122"/>
              </a:rPr>
              <a:t> </a:t>
            </a:r>
            <a:r>
              <a:rPr lang="zh-CN" altLang="en-US" sz="2400" b="1" dirty="0">
                <a:latin typeface="华文行楷" panose="02010800040101010101" pitchFamily="2" charset="-122"/>
                <a:ea typeface="华文行楷" panose="02010800040101010101" pitchFamily="2" charset="-122"/>
              </a:rPr>
              <a:t>◆</a:t>
            </a:r>
            <a:r>
              <a:rPr lang="zh-CN" altLang="en-US" sz="2400" dirty="0">
                <a:latin typeface="华文行楷" panose="02010800040101010101" pitchFamily="2" charset="-122"/>
                <a:ea typeface="华文行楷" panose="02010800040101010101" pitchFamily="2" charset="-122"/>
              </a:rPr>
              <a:t> </a:t>
            </a:r>
            <a:r>
              <a:rPr lang="en-US" altLang="zh-CN" sz="2400" b="1" dirty="0">
                <a:latin typeface="华文行楷" panose="02010800040101010101" pitchFamily="2" charset="-122"/>
                <a:ea typeface="华文行楷" panose="02010800040101010101" pitchFamily="2" charset="-122"/>
              </a:rPr>
              <a:t>1847</a:t>
            </a:r>
            <a:r>
              <a:rPr lang="zh-CN" altLang="en-US" sz="2400" b="1" dirty="0">
                <a:latin typeface="华文行楷" panose="02010800040101010101" pitchFamily="2" charset="-122"/>
                <a:ea typeface="华文行楷" panose="02010800040101010101" pitchFamily="2" charset="-122"/>
              </a:rPr>
              <a:t>年，发表了著作</a:t>
            </a:r>
            <a:r>
              <a:rPr lang="en-US" altLang="zh-CN" sz="2400" b="1" dirty="0">
                <a:solidFill>
                  <a:srgbClr val="FF0000"/>
                </a:solidFill>
                <a:latin typeface="华文行楷" panose="02010800040101010101" pitchFamily="2" charset="-122"/>
                <a:ea typeface="华文行楷" panose="02010800040101010101" pitchFamily="2" charset="-122"/>
              </a:rPr>
              <a:t>《</a:t>
            </a:r>
            <a:r>
              <a:rPr lang="en-US" altLang="zh-CN" sz="2000" b="1" dirty="0">
                <a:solidFill>
                  <a:srgbClr val="FF0000"/>
                </a:solidFill>
                <a:latin typeface="Times New Roman" panose="02020603050405020304" pitchFamily="18" charset="0"/>
                <a:ea typeface="华文行楷" panose="02010800040101010101" pitchFamily="2" charset="-122"/>
              </a:rPr>
              <a:t>The Mathematical Analysis of Logic</a:t>
            </a:r>
            <a:r>
              <a:rPr lang="en-US" altLang="zh-CN" sz="2400" b="1" dirty="0">
                <a:solidFill>
                  <a:srgbClr val="FF0000"/>
                </a:solidFill>
                <a:latin typeface="华文行楷" panose="02010800040101010101" pitchFamily="2" charset="-122"/>
                <a:ea typeface="华文行楷" panose="02010800040101010101" pitchFamily="2" charset="-122"/>
              </a:rPr>
              <a:t>》</a:t>
            </a:r>
            <a:r>
              <a:rPr lang="zh-CN" altLang="en-US" sz="2400" b="1" dirty="0">
                <a:latin typeface="华文行楷" panose="02010800040101010101" pitchFamily="2" charset="-122"/>
                <a:ea typeface="华文行楷" panose="02010800040101010101" pitchFamily="2" charset="-122"/>
              </a:rPr>
              <a:t>。　　  </a:t>
            </a:r>
            <a:endParaRPr lang="zh-CN" altLang="en-US" sz="2400" b="1" dirty="0">
              <a:latin typeface="华文行楷" panose="02010800040101010101" pitchFamily="2" charset="-122"/>
              <a:ea typeface="华文行楷" panose="02010800040101010101" pitchFamily="2" charset="-122"/>
            </a:endParaRPr>
          </a:p>
          <a:p>
            <a:pPr marL="0" lvl="0" indent="0" eaLnBrk="1" hangingPunct="1">
              <a:spcBef>
                <a:spcPct val="0"/>
              </a:spcBef>
              <a:buNone/>
            </a:pPr>
            <a:r>
              <a:rPr lang="zh-CN" altLang="en-US" sz="2400" b="1" dirty="0">
                <a:latin typeface="华文行楷" panose="02010800040101010101" pitchFamily="2" charset="-122"/>
                <a:ea typeface="华文行楷" panose="02010800040101010101" pitchFamily="2" charset="-122"/>
              </a:rPr>
              <a:t>   </a:t>
            </a:r>
            <a:r>
              <a:rPr lang="zh-CN" altLang="en-US" sz="2400" dirty="0">
                <a:latin typeface="华文行楷" panose="02010800040101010101" pitchFamily="2" charset="-122"/>
                <a:ea typeface="华文行楷" panose="02010800040101010101" pitchFamily="2" charset="-122"/>
              </a:rPr>
              <a:t> </a:t>
            </a:r>
            <a:r>
              <a:rPr lang="zh-CN" altLang="en-US" sz="2400" b="1" dirty="0">
                <a:latin typeface="华文行楷" panose="02010800040101010101" pitchFamily="2" charset="-122"/>
                <a:ea typeface="华文行楷" panose="02010800040101010101" pitchFamily="2" charset="-122"/>
              </a:rPr>
              <a:t>◆</a:t>
            </a:r>
            <a:r>
              <a:rPr lang="zh-CN" altLang="en-US" sz="2400" dirty="0">
                <a:latin typeface="华文行楷" panose="02010800040101010101" pitchFamily="2" charset="-122"/>
                <a:ea typeface="华文行楷" panose="02010800040101010101" pitchFamily="2" charset="-122"/>
              </a:rPr>
              <a:t> </a:t>
            </a:r>
            <a:r>
              <a:rPr lang="en-US" altLang="zh-CN" sz="2400" b="1" dirty="0">
                <a:latin typeface="华文行楷" panose="02010800040101010101" pitchFamily="2" charset="-122"/>
                <a:ea typeface="华文行楷" panose="02010800040101010101" pitchFamily="2" charset="-122"/>
              </a:rPr>
              <a:t>1849</a:t>
            </a:r>
            <a:r>
              <a:rPr lang="zh-CN" altLang="en-US" sz="2400" b="1" dirty="0">
                <a:latin typeface="华文行楷" panose="02010800040101010101" pitchFamily="2" charset="-122"/>
                <a:ea typeface="华文行楷" panose="02010800040101010101" pitchFamily="2" charset="-122"/>
              </a:rPr>
              <a:t>年，他被任命位于爱尔兰科克的皇后学院的数学教授。</a:t>
            </a:r>
            <a:endParaRPr lang="zh-CN" altLang="en-US" sz="2400" b="1" dirty="0">
              <a:latin typeface="华文行楷" panose="02010800040101010101" pitchFamily="2" charset="-122"/>
              <a:ea typeface="华文行楷" panose="02010800040101010101" pitchFamily="2" charset="-122"/>
            </a:endParaRPr>
          </a:p>
          <a:p>
            <a:pPr marL="0" lvl="0" indent="0" eaLnBrk="1" hangingPunct="1">
              <a:spcBef>
                <a:spcPct val="0"/>
              </a:spcBef>
              <a:buNone/>
            </a:pPr>
            <a:r>
              <a:rPr lang="zh-CN" altLang="en-US" sz="2400" b="1" dirty="0">
                <a:latin typeface="华文行楷" panose="02010800040101010101" pitchFamily="2" charset="-122"/>
                <a:ea typeface="华文行楷" panose="02010800040101010101" pitchFamily="2" charset="-122"/>
              </a:rPr>
              <a:t>   </a:t>
            </a:r>
            <a:r>
              <a:rPr lang="zh-CN" altLang="en-US" sz="2400" dirty="0">
                <a:latin typeface="华文行楷" panose="02010800040101010101" pitchFamily="2" charset="-122"/>
                <a:ea typeface="华文行楷" panose="02010800040101010101" pitchFamily="2" charset="-122"/>
              </a:rPr>
              <a:t> </a:t>
            </a:r>
            <a:r>
              <a:rPr lang="zh-CN" altLang="en-US" sz="2400" b="1" dirty="0">
                <a:latin typeface="华文行楷" panose="02010800040101010101" pitchFamily="2" charset="-122"/>
                <a:ea typeface="华文行楷" panose="02010800040101010101" pitchFamily="2" charset="-122"/>
              </a:rPr>
              <a:t>◆</a:t>
            </a:r>
            <a:r>
              <a:rPr lang="zh-CN" altLang="en-US" sz="2400" dirty="0">
                <a:latin typeface="华文行楷" panose="02010800040101010101" pitchFamily="2" charset="-122"/>
                <a:ea typeface="华文行楷" panose="02010800040101010101" pitchFamily="2" charset="-122"/>
              </a:rPr>
              <a:t> </a:t>
            </a:r>
            <a:r>
              <a:rPr lang="en-US" altLang="zh-CN" sz="2400" b="1" dirty="0">
                <a:latin typeface="华文行楷" panose="02010800040101010101" pitchFamily="2" charset="-122"/>
                <a:ea typeface="华文行楷" panose="02010800040101010101" pitchFamily="2" charset="-122"/>
              </a:rPr>
              <a:t>1854</a:t>
            </a:r>
            <a:r>
              <a:rPr lang="zh-CN" altLang="en-US" sz="2400" b="1" dirty="0">
                <a:latin typeface="华文行楷" panose="02010800040101010101" pitchFamily="2" charset="-122"/>
                <a:ea typeface="华文行楷" panose="02010800040101010101" pitchFamily="2" charset="-122"/>
              </a:rPr>
              <a:t>年</a:t>
            </a:r>
            <a:r>
              <a:rPr lang="en-US" altLang="zh-CN" sz="2400" b="1" dirty="0">
                <a:latin typeface="华文行楷" panose="02010800040101010101" pitchFamily="2" charset="-122"/>
                <a:ea typeface="华文行楷" panose="02010800040101010101" pitchFamily="2" charset="-122"/>
              </a:rPr>
              <a:t>,</a:t>
            </a:r>
            <a:r>
              <a:rPr lang="zh-CN" altLang="en-US" sz="2400" b="1" dirty="0">
                <a:latin typeface="华文行楷" panose="02010800040101010101" pitchFamily="2" charset="-122"/>
                <a:ea typeface="华文行楷" panose="02010800040101010101" pitchFamily="2" charset="-122"/>
              </a:rPr>
              <a:t>他出版了</a:t>
            </a:r>
            <a:r>
              <a:rPr lang="en-US" altLang="zh-CN" sz="2400" b="1" dirty="0">
                <a:solidFill>
                  <a:srgbClr val="FF0000"/>
                </a:solidFill>
                <a:latin typeface="Times New Roman" panose="02020603050405020304" pitchFamily="18" charset="0"/>
                <a:ea typeface="华文行楷" panose="02010800040101010101" pitchFamily="2" charset="-122"/>
              </a:rPr>
              <a:t>《</a:t>
            </a:r>
            <a:r>
              <a:rPr lang="en-US" altLang="zh-CN" sz="2000" b="1" dirty="0">
                <a:solidFill>
                  <a:srgbClr val="FF0000"/>
                </a:solidFill>
                <a:latin typeface="Times New Roman" panose="02020603050405020304" pitchFamily="18" charset="0"/>
                <a:ea typeface="华文行楷" panose="02010800040101010101" pitchFamily="2" charset="-122"/>
              </a:rPr>
              <a:t>The Laws of Thought</a:t>
            </a:r>
            <a:r>
              <a:rPr lang="en-US" altLang="zh-CN" sz="2400" b="1" dirty="0">
                <a:solidFill>
                  <a:srgbClr val="FF0000"/>
                </a:solidFill>
                <a:latin typeface="Times New Roman" panose="02020603050405020304" pitchFamily="18" charset="0"/>
                <a:ea typeface="华文行楷" panose="02010800040101010101" pitchFamily="2" charset="-122"/>
              </a:rPr>
              <a:t>》</a:t>
            </a:r>
            <a:r>
              <a:rPr lang="zh-CN" altLang="en-US" sz="2400" b="1" dirty="0">
                <a:latin typeface="华文行楷" panose="02010800040101010101" pitchFamily="2" charset="-122"/>
                <a:ea typeface="华文行楷" panose="02010800040101010101" pitchFamily="2" charset="-122"/>
              </a:rPr>
              <a:t>。</a:t>
            </a:r>
            <a:endParaRPr lang="zh-CN" altLang="en-US" sz="2400" b="1" dirty="0">
              <a:latin typeface="华文行楷" panose="02010800040101010101" pitchFamily="2" charset="-122"/>
              <a:ea typeface="华文行楷" panose="02010800040101010101" pitchFamily="2" charset="-122"/>
            </a:endParaRPr>
          </a:p>
          <a:p>
            <a:pPr marL="0" lvl="0" indent="0" eaLnBrk="1" hangingPunct="1">
              <a:spcBef>
                <a:spcPct val="0"/>
              </a:spcBef>
              <a:buNone/>
            </a:pPr>
            <a:r>
              <a:rPr lang="zh-CN" altLang="en-US" sz="2400" b="1" dirty="0">
                <a:latin typeface="华文行楷" panose="02010800040101010101" pitchFamily="2" charset="-122"/>
                <a:ea typeface="华文行楷" panose="02010800040101010101" pitchFamily="2" charset="-122"/>
              </a:rPr>
              <a:t>   </a:t>
            </a:r>
            <a:r>
              <a:rPr lang="zh-CN" altLang="en-US" sz="2400" dirty="0">
                <a:latin typeface="华文行楷" panose="02010800040101010101" pitchFamily="2" charset="-122"/>
                <a:ea typeface="华文行楷" panose="02010800040101010101" pitchFamily="2" charset="-122"/>
              </a:rPr>
              <a:t> </a:t>
            </a:r>
            <a:r>
              <a:rPr lang="zh-CN" altLang="en-US" sz="2400" b="1" dirty="0">
                <a:latin typeface="华文行楷" panose="02010800040101010101" pitchFamily="2" charset="-122"/>
                <a:ea typeface="华文行楷" panose="02010800040101010101" pitchFamily="2" charset="-122"/>
              </a:rPr>
              <a:t>◆布尔撰写了</a:t>
            </a:r>
            <a:r>
              <a:rPr lang="zh-CN" altLang="en-US" sz="2400" b="1" dirty="0">
                <a:solidFill>
                  <a:srgbClr val="FF0000"/>
                </a:solidFill>
                <a:latin typeface="华文行楷" panose="02010800040101010101" pitchFamily="2" charset="-122"/>
                <a:ea typeface="华文行楷" panose="02010800040101010101" pitchFamily="2" charset="-122"/>
              </a:rPr>
              <a:t>微分方程</a:t>
            </a:r>
            <a:r>
              <a:rPr lang="zh-CN" altLang="en-US" sz="2400" b="1" dirty="0">
                <a:latin typeface="华文行楷" panose="02010800040101010101" pitchFamily="2" charset="-122"/>
                <a:ea typeface="华文行楷" panose="02010800040101010101" pitchFamily="2" charset="-122"/>
              </a:rPr>
              <a:t>和</a:t>
            </a:r>
            <a:r>
              <a:rPr lang="zh-CN" altLang="en-US" sz="2400" b="1" dirty="0">
                <a:solidFill>
                  <a:srgbClr val="FF0000"/>
                </a:solidFill>
                <a:latin typeface="华文行楷" panose="02010800040101010101" pitchFamily="2" charset="-122"/>
                <a:ea typeface="华文行楷" panose="02010800040101010101" pitchFamily="2" charset="-122"/>
              </a:rPr>
              <a:t>差分方程</a:t>
            </a:r>
            <a:r>
              <a:rPr lang="zh-CN" altLang="en-US" sz="2400" b="1" dirty="0">
                <a:latin typeface="华文行楷" panose="02010800040101010101" pitchFamily="2" charset="-122"/>
                <a:ea typeface="华文行楷" panose="02010800040101010101" pitchFamily="2" charset="-122"/>
              </a:rPr>
              <a:t>的课本。</a:t>
            </a:r>
            <a:endParaRPr lang="zh-CN" altLang="en-US" sz="2400" b="1" dirty="0">
              <a:latin typeface="华文行楷" panose="02010800040101010101" pitchFamily="2" charset="-122"/>
              <a:ea typeface="华文行楷" panose="02010800040101010101" pitchFamily="2" charset="-122"/>
            </a:endParaRPr>
          </a:p>
          <a:p>
            <a:pPr marL="0" lvl="0" indent="0" eaLnBrk="1" hangingPunct="1">
              <a:spcBef>
                <a:spcPct val="0"/>
              </a:spcBef>
              <a:buNone/>
            </a:pPr>
            <a:r>
              <a:rPr lang="zh-CN" altLang="en-US" sz="2400" b="1" dirty="0">
                <a:latin typeface="华文行楷" panose="02010800040101010101" pitchFamily="2" charset="-122"/>
                <a:ea typeface="华文行楷" panose="02010800040101010101" pitchFamily="2" charset="-122"/>
              </a:rPr>
              <a:t>   </a:t>
            </a:r>
            <a:r>
              <a:rPr lang="zh-CN" altLang="en-US" sz="2400" dirty="0">
                <a:latin typeface="华文行楷" panose="02010800040101010101" pitchFamily="2" charset="-122"/>
                <a:ea typeface="华文行楷" panose="02010800040101010101" pitchFamily="2" charset="-122"/>
              </a:rPr>
              <a:t> </a:t>
            </a:r>
            <a:r>
              <a:rPr lang="zh-CN" altLang="en-US" sz="2400" b="1" dirty="0">
                <a:latin typeface="华文行楷" panose="02010800040101010101" pitchFamily="2" charset="-122"/>
                <a:ea typeface="华文行楷" panose="02010800040101010101" pitchFamily="2" charset="-122"/>
              </a:rPr>
              <a:t>◆</a:t>
            </a:r>
            <a:r>
              <a:rPr lang="zh-CN" altLang="en-US" sz="2400" dirty="0">
                <a:latin typeface="华文行楷" panose="02010800040101010101" pitchFamily="2" charset="-122"/>
                <a:ea typeface="华文行楷" panose="02010800040101010101" pitchFamily="2" charset="-122"/>
              </a:rPr>
              <a:t> </a:t>
            </a:r>
            <a:r>
              <a:rPr lang="en-US" altLang="zh-CN" sz="2400" b="1" dirty="0">
                <a:latin typeface="华文行楷" panose="02010800040101010101" pitchFamily="2" charset="-122"/>
                <a:ea typeface="华文行楷" panose="02010800040101010101" pitchFamily="2" charset="-122"/>
              </a:rPr>
              <a:t>1864</a:t>
            </a:r>
            <a:r>
              <a:rPr lang="zh-CN" altLang="en-US" sz="2400" b="1" dirty="0">
                <a:latin typeface="华文行楷" panose="02010800040101010101" pitchFamily="2" charset="-122"/>
                <a:ea typeface="华文行楷" panose="02010800040101010101" pitchFamily="2" charset="-122"/>
              </a:rPr>
              <a:t>年，布尔死于肺炎。 </a:t>
            </a:r>
            <a:endParaRPr lang="zh-CN" altLang="en-US" sz="2400" b="1" dirty="0">
              <a:latin typeface="华文行楷" panose="02010800040101010101" pitchFamily="2" charset="-122"/>
              <a:ea typeface="华文行楷" panose="02010800040101010101" pitchFamily="2" charset="-122"/>
            </a:endParaRPr>
          </a:p>
        </p:txBody>
      </p:sp>
      <p:grpSp>
        <p:nvGrpSpPr>
          <p:cNvPr id="14341" name="Group 16"/>
          <p:cNvGrpSpPr/>
          <p:nvPr/>
        </p:nvGrpSpPr>
        <p:grpSpPr>
          <a:xfrm>
            <a:off x="395288" y="3190875"/>
            <a:ext cx="2044700" cy="2592388"/>
            <a:chOff x="249" y="1570"/>
            <a:chExt cx="1288" cy="1633"/>
          </a:xfrm>
        </p:grpSpPr>
        <p:pic>
          <p:nvPicPr>
            <p:cNvPr id="14342" name="Picture 17" descr="6"/>
            <p:cNvPicPr>
              <a:picLocks noChangeAspect="1"/>
            </p:cNvPicPr>
            <p:nvPr/>
          </p:nvPicPr>
          <p:blipFill>
            <a:blip r:embed="rId1"/>
            <a:stretch>
              <a:fillRect/>
            </a:stretch>
          </p:blipFill>
          <p:spPr>
            <a:xfrm>
              <a:off x="249" y="1570"/>
              <a:ext cx="1288" cy="1633"/>
            </a:xfrm>
            <a:prstGeom prst="rect">
              <a:avLst/>
            </a:prstGeom>
            <a:noFill/>
            <a:ln w="28575">
              <a:noFill/>
            </a:ln>
            <a:effectLst>
              <a:outerShdw dist="107763" dir="2699999" algn="ctr" rotWithShape="0">
                <a:srgbClr val="000000"/>
              </a:outerShdw>
            </a:effectLst>
          </p:spPr>
        </p:pic>
        <p:pic>
          <p:nvPicPr>
            <p:cNvPr id="14343" name="Picture 18" descr="boole"/>
            <p:cNvPicPr>
              <a:picLocks noChangeAspect="1"/>
            </p:cNvPicPr>
            <p:nvPr/>
          </p:nvPicPr>
          <p:blipFill>
            <a:blip r:embed="rId2"/>
            <a:stretch>
              <a:fillRect/>
            </a:stretch>
          </p:blipFill>
          <p:spPr>
            <a:xfrm>
              <a:off x="385" y="1706"/>
              <a:ext cx="1044" cy="1315"/>
            </a:xfrm>
            <a:prstGeom prst="rect">
              <a:avLst/>
            </a:prstGeom>
            <a:noFill/>
            <a:ln w="9525">
              <a:noFill/>
            </a:ln>
          </p:spPr>
        </p:pic>
      </p:grpSp>
    </p:spTree>
  </p:cSld>
  <p:clrMapOvr>
    <a:masterClrMapping/>
  </p:clrMapOvr>
  <p:transition spd="slow" advClick="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AutoShape 6"/>
          <p:cNvSpPr/>
          <p:nvPr/>
        </p:nvSpPr>
        <p:spPr>
          <a:xfrm>
            <a:off x="611188" y="765175"/>
            <a:ext cx="4248150" cy="504825"/>
          </a:xfrm>
          <a:prstGeom prst="roundRect">
            <a:avLst>
              <a:gd name="adj" fmla="val 50000"/>
            </a:avLst>
          </a:prstGeom>
          <a:solidFill>
            <a:schemeClr val="accent1"/>
          </a:solidFill>
          <a:ln w="38100" cap="flat" cmpd="sng">
            <a:solidFill>
              <a:srgbClr val="FFFFFF"/>
            </a:solidFill>
            <a:prstDash val="solid"/>
            <a:headEnd type="none" w="med" len="med"/>
            <a:tailEnd type="none" w="med" len="med"/>
          </a:ln>
          <a:effectLst>
            <a:outerShdw dist="63500" dir="3187806" algn="ctr" rotWithShape="0">
              <a:srgbClr val="001D3A"/>
            </a:outerShdw>
          </a:effectLst>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dirty="0">
                <a:solidFill>
                  <a:srgbClr val="0000CC"/>
                </a:solidFill>
                <a:latin typeface="Times New Roman" panose="02020603050405020304" pitchFamily="18" charset="0"/>
                <a:ea typeface="黑体" panose="02010609060101010101" pitchFamily="49" charset="-122"/>
              </a:rPr>
              <a:t>1.   </a:t>
            </a:r>
            <a:r>
              <a:rPr lang="zh-CN" altLang="en-US" sz="2400" b="1" dirty="0">
                <a:solidFill>
                  <a:srgbClr val="0000CC"/>
                </a:solidFill>
                <a:ea typeface="黑体" panose="02010609060101010101" pitchFamily="49" charset="-122"/>
              </a:rPr>
              <a:t>逻辑变量与逻辑函数</a:t>
            </a:r>
            <a:endParaRPr lang="zh-CN" altLang="en-US" sz="2400" b="1" dirty="0">
              <a:solidFill>
                <a:srgbClr val="0000CC"/>
              </a:solidFill>
              <a:ea typeface="黑体" panose="02010609060101010101" pitchFamily="49" charset="-122"/>
            </a:endParaRPr>
          </a:p>
        </p:txBody>
      </p:sp>
      <p:sp>
        <p:nvSpPr>
          <p:cNvPr id="16387" name="Text Box 7"/>
          <p:cNvSpPr txBox="1"/>
          <p:nvPr/>
        </p:nvSpPr>
        <p:spPr>
          <a:xfrm>
            <a:off x="693738" y="1844675"/>
            <a:ext cx="7756525" cy="17954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ts val="3400"/>
              </a:lnSpc>
              <a:spcBef>
                <a:spcPct val="50000"/>
              </a:spcBef>
              <a:buNone/>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在逻辑代数中的变量称为逻辑变量，通常用字母</a:t>
            </a:r>
            <a:r>
              <a:rPr lang="en-US" altLang="zh-CN" sz="2400" b="1" dirty="0">
                <a:latin typeface="Times New Roman" panose="02020603050405020304" pitchFamily="18" charset="0"/>
              </a:rPr>
              <a:t>A</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B</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C</a:t>
            </a:r>
            <a:r>
              <a:rPr lang="zh-CN" altLang="en-US" sz="2400" b="1" dirty="0">
                <a:latin typeface="Times New Roman" panose="02020603050405020304" pitchFamily="18" charset="0"/>
              </a:rPr>
              <a:t>等表示。逻辑变量的取值只有两种：</a:t>
            </a:r>
            <a:r>
              <a:rPr lang="zh-CN" altLang="en-US" sz="2400" b="1" dirty="0">
                <a:solidFill>
                  <a:schemeClr val="accent2"/>
                </a:solidFill>
                <a:latin typeface="Times New Roman" panose="02020603050405020304" pitchFamily="18" charset="0"/>
              </a:rPr>
              <a:t>真（“</a:t>
            </a:r>
            <a:r>
              <a:rPr lang="en-US" altLang="zh-CN" sz="2400" b="1" dirty="0">
                <a:solidFill>
                  <a:schemeClr val="accent2"/>
                </a:solidFill>
                <a:latin typeface="Times New Roman" panose="02020603050405020304" pitchFamily="18" charset="0"/>
              </a:rPr>
              <a:t>1”</a:t>
            </a:r>
            <a:r>
              <a:rPr lang="zh-CN" altLang="en-US" sz="2400" b="1" dirty="0">
                <a:solidFill>
                  <a:schemeClr val="accent2"/>
                </a:solidFill>
                <a:latin typeface="Times New Roman" panose="02020603050405020304" pitchFamily="18" charset="0"/>
              </a:rPr>
              <a:t>）</a:t>
            </a:r>
            <a:r>
              <a:rPr lang="zh-CN" altLang="en-US" sz="2400" b="1" dirty="0">
                <a:latin typeface="Times New Roman" panose="02020603050405020304" pitchFamily="18" charset="0"/>
              </a:rPr>
              <a:t>和</a:t>
            </a:r>
            <a:r>
              <a:rPr lang="zh-CN" altLang="en-US" sz="2400" b="1" dirty="0">
                <a:solidFill>
                  <a:schemeClr val="accent2"/>
                </a:solidFill>
                <a:latin typeface="Times New Roman" panose="02020603050405020304" pitchFamily="18" charset="0"/>
              </a:rPr>
              <a:t>假（“</a:t>
            </a:r>
            <a:r>
              <a:rPr lang="en-US" altLang="zh-CN" sz="2400" b="1" dirty="0">
                <a:solidFill>
                  <a:schemeClr val="accent2"/>
                </a:solidFill>
                <a:latin typeface="Times New Roman" panose="02020603050405020304" pitchFamily="18" charset="0"/>
              </a:rPr>
              <a:t>0”</a:t>
            </a:r>
            <a:r>
              <a:rPr lang="zh-CN" altLang="en-US" sz="2400" b="1" dirty="0">
                <a:solidFill>
                  <a:schemeClr val="accent2"/>
                </a:solidFill>
                <a:latin typeface="Times New Roman" panose="02020603050405020304" pitchFamily="18" charset="0"/>
              </a:rPr>
              <a:t>）</a:t>
            </a:r>
            <a:r>
              <a:rPr lang="zh-CN" altLang="en-US" sz="2400" b="1" dirty="0">
                <a:latin typeface="Times New Roman" panose="02020603050405020304" pitchFamily="18" charset="0"/>
              </a:rPr>
              <a:t>。这里的“</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和“</a:t>
            </a:r>
            <a:r>
              <a:rPr lang="en-US" altLang="zh-CN" sz="2400" b="1" dirty="0">
                <a:latin typeface="Times New Roman" panose="02020603050405020304" pitchFamily="18" charset="0"/>
              </a:rPr>
              <a:t>0”</a:t>
            </a:r>
            <a:r>
              <a:rPr lang="zh-CN" altLang="en-US" sz="2400" b="1" dirty="0">
                <a:latin typeface="Times New Roman" panose="02020603050405020304" pitchFamily="18" charset="0"/>
              </a:rPr>
              <a:t>并不表示数量的大小，而是表示完全对立的两种状态。</a:t>
            </a:r>
            <a:endParaRPr lang="zh-CN" altLang="en-US" sz="2400" b="1" dirty="0">
              <a:latin typeface="Times New Roman" panose="02020603050405020304" pitchFamily="18" charset="0"/>
            </a:endParaRPr>
          </a:p>
        </p:txBody>
      </p:sp>
      <p:sp>
        <p:nvSpPr>
          <p:cNvPr id="16388" name="Text Box 8"/>
          <p:cNvSpPr txBox="1"/>
          <p:nvPr/>
        </p:nvSpPr>
        <p:spPr>
          <a:xfrm>
            <a:off x="611188" y="4076700"/>
            <a:ext cx="7920037" cy="18351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ts val="3400"/>
              </a:lnSpc>
              <a:spcBef>
                <a:spcPct val="50000"/>
              </a:spcBef>
              <a:buNone/>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若以逻辑变量作为输入，以运算结果作为输出，那么当输入变量的取值确定之后，输出的取值便随之而定。因此，输出与输入之间乃是一种函数关系。这种函数关系被称为逻</a:t>
            </a:r>
            <a:r>
              <a:rPr lang="zh-CN" altLang="en-US" sz="2400" b="1" dirty="0">
                <a:solidFill>
                  <a:schemeClr val="accent2"/>
                </a:solidFill>
                <a:latin typeface="Times New Roman" panose="02020603050405020304" pitchFamily="18" charset="0"/>
              </a:rPr>
              <a:t>辑函数</a:t>
            </a:r>
            <a:r>
              <a:rPr lang="zh-CN" altLang="en-US" sz="2400" b="1" dirty="0">
                <a:latin typeface="Times New Roman" panose="02020603050405020304" pitchFamily="18" charset="0"/>
              </a:rPr>
              <a:t>，写作 </a:t>
            </a:r>
            <a:r>
              <a:rPr lang="en-US" altLang="zh-CN" sz="2400" b="1" dirty="0">
                <a:latin typeface="Times New Roman" panose="02020603050405020304" pitchFamily="18" charset="0"/>
              </a:rPr>
              <a:t>Y=F</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A</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B</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C…)</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p:txBody>
      </p:sp>
    </p:spTree>
  </p:cSld>
  <p:clrMapOvr>
    <a:masterClrMapping/>
  </p:clrMapOvr>
  <p:transition spd="slow" advClick="0"/>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7410" name="Group 6"/>
          <p:cNvGrpSpPr/>
          <p:nvPr/>
        </p:nvGrpSpPr>
        <p:grpSpPr>
          <a:xfrm>
            <a:off x="1476375" y="1592263"/>
            <a:ext cx="6048375" cy="3852862"/>
            <a:chOff x="839" y="1480"/>
            <a:chExt cx="3810" cy="2427"/>
          </a:xfrm>
        </p:grpSpPr>
        <p:pic>
          <p:nvPicPr>
            <p:cNvPr id="17411" name="Picture 7" descr="T1-2-1"/>
            <p:cNvPicPr>
              <a:picLocks noChangeAspect="1"/>
            </p:cNvPicPr>
            <p:nvPr/>
          </p:nvPicPr>
          <p:blipFill>
            <a:blip r:embed="rId1">
              <a:clrChange>
                <a:clrFrom>
                  <a:srgbClr val="FFFFFF"/>
                </a:clrFrom>
                <a:clrTo>
                  <a:srgbClr val="FFFFFF">
                    <a:alpha val="0"/>
                  </a:srgbClr>
                </a:clrTo>
              </a:clrChange>
              <a:lum contrast="6000"/>
            </a:blip>
            <a:stretch>
              <a:fillRect/>
            </a:stretch>
          </p:blipFill>
          <p:spPr>
            <a:xfrm>
              <a:off x="1248" y="1728"/>
              <a:ext cx="3295" cy="1990"/>
            </a:xfrm>
            <a:prstGeom prst="rect">
              <a:avLst/>
            </a:prstGeom>
            <a:noFill/>
            <a:ln w="9525">
              <a:noFill/>
            </a:ln>
          </p:spPr>
        </p:pic>
        <p:sp>
          <p:nvSpPr>
            <p:cNvPr id="17412" name="Text Box 8"/>
            <p:cNvSpPr txBox="1"/>
            <p:nvPr/>
          </p:nvSpPr>
          <p:spPr>
            <a:xfrm>
              <a:off x="1338" y="3657"/>
              <a:ext cx="2817"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zh-CN" altLang="en-US" sz="2000" b="1" dirty="0">
                  <a:latin typeface="楷体_GB2312" pitchFamily="49" charset="-122"/>
                  <a:ea typeface="楷体_GB2312" pitchFamily="49" charset="-122"/>
                </a:rPr>
                <a:t>图</a:t>
              </a:r>
              <a:r>
                <a:rPr lang="en-US" altLang="zh-CN" sz="2000"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举重裁判电路</a:t>
              </a:r>
              <a:endParaRPr lang="zh-CN" altLang="en-US" sz="2000" b="1" dirty="0">
                <a:latin typeface="楷体_GB2312" pitchFamily="49" charset="-122"/>
                <a:ea typeface="楷体_GB2312" pitchFamily="49" charset="-122"/>
              </a:endParaRPr>
            </a:p>
          </p:txBody>
        </p:sp>
        <p:sp>
          <p:nvSpPr>
            <p:cNvPr id="17413" name="Rectangle 9"/>
            <p:cNvSpPr/>
            <p:nvPr/>
          </p:nvSpPr>
          <p:spPr>
            <a:xfrm>
              <a:off x="839" y="1480"/>
              <a:ext cx="3810"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dirty="0">
                  <a:solidFill>
                    <a:srgbClr val="FF0000"/>
                  </a:solidFill>
                  <a:ea typeface="楷体_GB2312" pitchFamily="49" charset="-122"/>
                </a:rPr>
                <a:t>例：</a:t>
              </a:r>
              <a:r>
                <a:rPr lang="zh-CN" altLang="en-US" sz="2400" b="1" dirty="0"/>
                <a:t>一个举重裁判电路</a:t>
              </a:r>
              <a:endParaRPr lang="zh-CN" altLang="en-US" sz="2400" b="1" dirty="0"/>
            </a:p>
          </p:txBody>
        </p:sp>
      </p:grpSp>
    </p:spTree>
  </p:cSld>
  <p:clrMapOvr>
    <a:masterClrMapping/>
  </p:clrMapOvr>
  <p:transition spd="slow" advClick="0"/>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AutoShape 5"/>
          <p:cNvSpPr/>
          <p:nvPr/>
        </p:nvSpPr>
        <p:spPr>
          <a:xfrm>
            <a:off x="611188" y="620713"/>
            <a:ext cx="5400675" cy="504825"/>
          </a:xfrm>
          <a:prstGeom prst="roundRect">
            <a:avLst>
              <a:gd name="adj" fmla="val 50000"/>
            </a:avLst>
          </a:prstGeom>
          <a:solidFill>
            <a:schemeClr val="accent1"/>
          </a:solidFill>
          <a:ln w="38100" cap="flat" cmpd="sng">
            <a:solidFill>
              <a:srgbClr val="FFFFFF"/>
            </a:solidFill>
            <a:prstDash val="solid"/>
            <a:headEnd type="none" w="med" len="med"/>
            <a:tailEnd type="none" w="med" len="med"/>
          </a:ln>
          <a:effectLst>
            <a:outerShdw dist="63500" dir="3187806" algn="ctr" rotWithShape="0">
              <a:srgbClr val="001D3A"/>
            </a:outerShdw>
          </a:effectLst>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dirty="0">
                <a:solidFill>
                  <a:srgbClr val="0000CC"/>
                </a:solidFill>
                <a:latin typeface="Times New Roman" panose="02020603050405020304" pitchFamily="18" charset="0"/>
                <a:ea typeface="黑体" panose="02010609060101010101" pitchFamily="49" charset="-122"/>
              </a:rPr>
              <a:t>2.   </a:t>
            </a:r>
            <a:r>
              <a:rPr lang="zh-CN" altLang="en-US" sz="2400" b="1" dirty="0">
                <a:solidFill>
                  <a:srgbClr val="0000CC"/>
                </a:solidFill>
                <a:ea typeface="黑体" panose="02010609060101010101" pitchFamily="49" charset="-122"/>
              </a:rPr>
              <a:t>逻辑代数中的三种基本运算</a:t>
            </a:r>
            <a:endParaRPr lang="zh-CN" altLang="en-US" sz="2400" b="1" dirty="0">
              <a:solidFill>
                <a:srgbClr val="0000CC"/>
              </a:solidFill>
              <a:ea typeface="黑体" panose="02010609060101010101" pitchFamily="49" charset="-122"/>
            </a:endParaRPr>
          </a:p>
        </p:txBody>
      </p:sp>
      <p:sp>
        <p:nvSpPr>
          <p:cNvPr id="18435" name="Text Box 6"/>
          <p:cNvSpPr txBox="1"/>
          <p:nvPr/>
        </p:nvSpPr>
        <p:spPr>
          <a:xfrm>
            <a:off x="533400" y="1628775"/>
            <a:ext cx="8075613" cy="9239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ts val="3400"/>
              </a:lnSpc>
              <a:spcBef>
                <a:spcPct val="50000"/>
              </a:spcBef>
              <a:buNone/>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逻辑代数的基本运算有</a:t>
            </a:r>
            <a:r>
              <a:rPr lang="zh-CN" altLang="en-US" sz="2400" b="1" dirty="0">
                <a:solidFill>
                  <a:schemeClr val="accent2"/>
                </a:solidFill>
                <a:latin typeface="Times New Roman" panose="02020603050405020304" pitchFamily="18" charset="0"/>
              </a:rPr>
              <a:t>与</a:t>
            </a:r>
            <a:r>
              <a:rPr lang="en-US" altLang="zh-CN" sz="2400" b="1" dirty="0">
                <a:solidFill>
                  <a:schemeClr val="accent2"/>
                </a:solidFill>
                <a:latin typeface="Times New Roman" panose="02020603050405020304" pitchFamily="18" charset="0"/>
              </a:rPr>
              <a:t>(AND)</a:t>
            </a:r>
            <a:r>
              <a:rPr lang="zh-CN" altLang="en-US" sz="2400" b="1" dirty="0">
                <a:solidFill>
                  <a:schemeClr val="accent2"/>
                </a:solidFill>
                <a:latin typeface="Times New Roman" panose="02020603050405020304" pitchFamily="18" charset="0"/>
              </a:rPr>
              <a:t>、或</a:t>
            </a:r>
            <a:r>
              <a:rPr lang="en-US" altLang="zh-CN" sz="2400" b="1" dirty="0">
                <a:solidFill>
                  <a:schemeClr val="accent2"/>
                </a:solidFill>
                <a:latin typeface="Times New Roman" panose="02020603050405020304" pitchFamily="18" charset="0"/>
              </a:rPr>
              <a:t>(OR)</a:t>
            </a:r>
            <a:r>
              <a:rPr lang="zh-CN" altLang="en-US" sz="2400" b="1" dirty="0">
                <a:solidFill>
                  <a:schemeClr val="accent2"/>
                </a:solidFill>
                <a:latin typeface="Times New Roman" panose="02020603050405020304" pitchFamily="18" charset="0"/>
              </a:rPr>
              <a:t>、非</a:t>
            </a:r>
            <a:r>
              <a:rPr lang="en-US" altLang="zh-CN" sz="2400" b="1" dirty="0">
                <a:solidFill>
                  <a:schemeClr val="accent2"/>
                </a:solidFill>
                <a:latin typeface="Times New Roman" panose="02020603050405020304" pitchFamily="18" charset="0"/>
              </a:rPr>
              <a:t>(NOT)</a:t>
            </a:r>
            <a:r>
              <a:rPr lang="zh-CN" altLang="en-US" sz="2400" b="1" dirty="0">
                <a:latin typeface="Times New Roman" panose="02020603050405020304" pitchFamily="18" charset="0"/>
              </a:rPr>
              <a:t>三种。它们各自的含义如图中（</a:t>
            </a:r>
            <a:r>
              <a:rPr lang="en-US" altLang="zh-CN" sz="2400" b="1" dirty="0">
                <a:latin typeface="Times New Roman" panose="02020603050405020304" pitchFamily="18" charset="0"/>
              </a:rPr>
              <a:t>a</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b</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c</a:t>
            </a:r>
            <a:r>
              <a:rPr lang="zh-CN" altLang="en-US" sz="2400" b="1" dirty="0">
                <a:latin typeface="Times New Roman" panose="02020603050405020304" pitchFamily="18" charset="0"/>
              </a:rPr>
              <a:t>）所示。</a:t>
            </a:r>
            <a:endParaRPr lang="zh-CN" altLang="en-US" sz="2400" b="1" dirty="0">
              <a:latin typeface="Times New Roman" panose="02020603050405020304" pitchFamily="18" charset="0"/>
            </a:endParaRPr>
          </a:p>
        </p:txBody>
      </p:sp>
      <p:sp>
        <p:nvSpPr>
          <p:cNvPr id="18436" name="Text Box 7"/>
          <p:cNvSpPr txBox="1"/>
          <p:nvPr/>
        </p:nvSpPr>
        <p:spPr>
          <a:xfrm>
            <a:off x="431800" y="5516563"/>
            <a:ext cx="8280400" cy="965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ts val="3400"/>
              </a:lnSpc>
              <a:spcBef>
                <a:spcPct val="50000"/>
              </a:spcBef>
              <a:buNone/>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若把开关闭合作为条件，把灯亮作为结果，那么图中的三个电路代表了三种不同的因果关系：</a:t>
            </a:r>
            <a:endParaRPr lang="zh-CN" altLang="en-US" sz="2400" b="1" dirty="0">
              <a:latin typeface="Times New Roman" panose="02020603050405020304" pitchFamily="18" charset="0"/>
            </a:endParaRPr>
          </a:p>
        </p:txBody>
      </p:sp>
      <p:pic>
        <p:nvPicPr>
          <p:cNvPr id="18437" name="Picture 8" descr="T1-2-2"/>
          <p:cNvPicPr>
            <a:picLocks noChangeAspect="1"/>
          </p:cNvPicPr>
          <p:nvPr/>
        </p:nvPicPr>
        <p:blipFill>
          <a:blip r:embed="rId1">
            <a:clrChange>
              <a:clrFrom>
                <a:srgbClr val="FFFFFF"/>
              </a:clrFrom>
              <a:clrTo>
                <a:srgbClr val="FFFFFF">
                  <a:alpha val="0"/>
                </a:srgbClr>
              </a:clrTo>
            </a:clrChange>
            <a:lum contrast="6000"/>
          </a:blip>
          <a:stretch>
            <a:fillRect/>
          </a:stretch>
        </p:blipFill>
        <p:spPr>
          <a:xfrm>
            <a:off x="0" y="2624138"/>
            <a:ext cx="8839200" cy="2389187"/>
          </a:xfrm>
          <a:prstGeom prst="rect">
            <a:avLst/>
          </a:prstGeom>
          <a:noFill/>
          <a:ln w="9525">
            <a:noFill/>
          </a:ln>
        </p:spPr>
      </p:pic>
      <p:sp>
        <p:nvSpPr>
          <p:cNvPr id="18438" name="Text Box 9"/>
          <p:cNvSpPr txBox="1"/>
          <p:nvPr/>
        </p:nvSpPr>
        <p:spPr>
          <a:xfrm>
            <a:off x="1892300" y="4889500"/>
            <a:ext cx="51054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zh-CN" altLang="en-US" sz="2000" b="1" dirty="0">
                <a:latin typeface="楷体_GB2312" pitchFamily="49" charset="-122"/>
                <a:ea typeface="楷体_GB2312" pitchFamily="49" charset="-122"/>
              </a:rPr>
              <a:t>图 </a:t>
            </a:r>
            <a:r>
              <a:rPr lang="en-US" altLang="zh-CN" sz="2000"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与、或、非说明电路</a:t>
            </a:r>
            <a:endParaRPr lang="zh-CN" altLang="en-US" sz="2000" b="1" dirty="0">
              <a:latin typeface="楷体_GB2312" pitchFamily="49" charset="-122"/>
              <a:ea typeface="楷体_GB2312" pitchFamily="49" charset="-122"/>
            </a:endParaRPr>
          </a:p>
        </p:txBody>
      </p:sp>
    </p:spTree>
  </p:cSld>
  <p:clrMapOvr>
    <a:masterClrMapping/>
  </p:clrMapOvr>
  <p:transition spd="slow" advClick="0"/>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5"/>
          <p:cNvSpPr/>
          <p:nvPr/>
        </p:nvSpPr>
        <p:spPr>
          <a:xfrm>
            <a:off x="323850" y="620713"/>
            <a:ext cx="8424863" cy="14001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ts val="3400"/>
              </a:lnSpc>
              <a:spcBef>
                <a:spcPct val="0"/>
              </a:spcBef>
              <a:buNone/>
            </a:pPr>
            <a:r>
              <a:rPr lang="zh-CN" altLang="en-US" sz="2400" b="1" dirty="0">
                <a:latin typeface="Times New Roman" panose="02020603050405020304" pitchFamily="18" charset="0"/>
              </a:rPr>
              <a:t>（</a:t>
            </a:r>
            <a:r>
              <a:rPr lang="en-US" altLang="zh-CN" sz="2400" b="1" dirty="0">
                <a:latin typeface="Times New Roman" panose="02020603050405020304" pitchFamily="18" charset="0"/>
              </a:rPr>
              <a:t>a</a:t>
            </a:r>
            <a:r>
              <a:rPr lang="zh-CN" altLang="en-US" sz="2400" b="1" dirty="0">
                <a:latin typeface="Times New Roman" panose="02020603050405020304" pitchFamily="18" charset="0"/>
              </a:rPr>
              <a:t>）</a:t>
            </a:r>
            <a:r>
              <a:rPr lang="zh-CN" altLang="en-US" sz="2400" b="1" dirty="0">
                <a:solidFill>
                  <a:schemeClr val="accent2"/>
                </a:solidFill>
                <a:latin typeface="Times New Roman" panose="02020603050405020304" pitchFamily="18" charset="0"/>
              </a:rPr>
              <a:t>逻辑与，也叫逻辑相乘</a:t>
            </a:r>
            <a:r>
              <a:rPr lang="zh-CN" altLang="en-US" sz="2400" b="1" dirty="0">
                <a:latin typeface="Times New Roman" panose="02020603050405020304" pitchFamily="18" charset="0"/>
              </a:rPr>
              <a:t>：表示只有决定事物结果的全部条件同时具备时，结果才会发生。记作：</a:t>
            </a:r>
            <a:r>
              <a:rPr lang="en-US" altLang="zh-CN" sz="2400" b="1" dirty="0">
                <a:solidFill>
                  <a:srgbClr val="FF0000"/>
                </a:solidFill>
                <a:latin typeface="Times New Roman" panose="02020603050405020304" pitchFamily="18" charset="0"/>
              </a:rPr>
              <a:t>Y=A  </a:t>
            </a:r>
            <a:r>
              <a:rPr lang="en-US" altLang="zh-CN" sz="2400" b="1" dirty="0">
                <a:solidFill>
                  <a:srgbClr val="0000CC"/>
                </a:solidFill>
                <a:latin typeface="Times New Roman" panose="02020603050405020304" pitchFamily="18" charset="0"/>
              </a:rPr>
              <a:t>AND</a:t>
            </a:r>
            <a:r>
              <a:rPr lang="en-US" altLang="zh-CN" sz="2400" b="1" dirty="0">
                <a:solidFill>
                  <a:srgbClr val="FF0000"/>
                </a:solidFill>
                <a:latin typeface="Times New Roman" panose="02020603050405020304" pitchFamily="18" charset="0"/>
              </a:rPr>
              <a:t>  B</a:t>
            </a:r>
            <a:r>
              <a:rPr lang="zh-CN" altLang="en-US" sz="2400" b="1" dirty="0">
                <a:latin typeface="Times New Roman" panose="02020603050405020304" pitchFamily="18" charset="0"/>
              </a:rPr>
              <a:t>或</a:t>
            </a:r>
            <a:r>
              <a:rPr lang="en-US" altLang="zh-CN" sz="2400" b="1" dirty="0">
                <a:solidFill>
                  <a:srgbClr val="FF0000"/>
                </a:solidFill>
                <a:latin typeface="Times New Roman" panose="02020603050405020304" pitchFamily="18" charset="0"/>
              </a:rPr>
              <a:t>Y=A·B</a:t>
            </a:r>
            <a:r>
              <a:rPr lang="zh-CN" altLang="en-US" sz="2400" b="1" dirty="0">
                <a:latin typeface="Times New Roman" panose="02020603050405020304" pitchFamily="18" charset="0"/>
              </a:rPr>
              <a:t>或</a:t>
            </a:r>
            <a:r>
              <a:rPr lang="en-US" altLang="zh-CN" sz="2400" b="1" dirty="0">
                <a:solidFill>
                  <a:srgbClr val="FF0000"/>
                </a:solidFill>
                <a:latin typeface="Times New Roman" panose="02020603050405020304" pitchFamily="18" charset="0"/>
              </a:rPr>
              <a:t>Y=AB</a:t>
            </a:r>
            <a:r>
              <a:rPr lang="zh-CN" altLang="en-US" sz="2400" b="1" dirty="0">
                <a:latin typeface="Times New Roman" panose="02020603050405020304" pitchFamily="18" charset="0"/>
              </a:rPr>
              <a:t>。其逻辑</a:t>
            </a:r>
            <a:r>
              <a:rPr lang="zh-CN" altLang="en-US" sz="2400" b="1" dirty="0">
                <a:solidFill>
                  <a:srgbClr val="FF0000"/>
                </a:solidFill>
                <a:latin typeface="Times New Roman" panose="02020603050405020304" pitchFamily="18" charset="0"/>
              </a:rPr>
              <a:t>真值表</a:t>
            </a:r>
            <a:r>
              <a:rPr lang="zh-CN" altLang="en-US" sz="2400" b="1" dirty="0">
                <a:latin typeface="Times New Roman" panose="02020603050405020304" pitchFamily="18" charset="0"/>
              </a:rPr>
              <a:t>如表。</a:t>
            </a:r>
            <a:endParaRPr lang="zh-CN" altLang="en-US" sz="2400" b="1" dirty="0">
              <a:latin typeface="Times New Roman" panose="02020603050405020304" pitchFamily="18" charset="0"/>
            </a:endParaRPr>
          </a:p>
        </p:txBody>
      </p:sp>
      <p:pic>
        <p:nvPicPr>
          <p:cNvPr id="19459" name="Picture 6" descr="B1-2-1"/>
          <p:cNvPicPr>
            <a:picLocks noChangeAspect="1"/>
          </p:cNvPicPr>
          <p:nvPr/>
        </p:nvPicPr>
        <p:blipFill>
          <a:blip r:embed="rId1">
            <a:clrChange>
              <a:clrFrom>
                <a:srgbClr val="FFFFFF"/>
              </a:clrFrom>
              <a:clrTo>
                <a:srgbClr val="FFFFFF">
                  <a:alpha val="0"/>
                </a:srgbClr>
              </a:clrTo>
            </a:clrChange>
            <a:lum contrast="6000"/>
          </a:blip>
          <a:stretch>
            <a:fillRect/>
          </a:stretch>
        </p:blipFill>
        <p:spPr>
          <a:xfrm>
            <a:off x="3132138" y="2708275"/>
            <a:ext cx="3168650" cy="3160713"/>
          </a:xfrm>
          <a:prstGeom prst="rect">
            <a:avLst/>
          </a:prstGeom>
          <a:noFill/>
          <a:ln w="9525">
            <a:noFill/>
          </a:ln>
        </p:spPr>
      </p:pic>
      <p:pic>
        <p:nvPicPr>
          <p:cNvPr id="135175" name="Picture 7" descr="T1-2-3"/>
          <p:cNvPicPr>
            <a:picLocks noChangeAspect="1"/>
          </p:cNvPicPr>
          <p:nvPr/>
        </p:nvPicPr>
        <p:blipFill>
          <a:blip r:embed="rId2">
            <a:clrChange>
              <a:clrFrom>
                <a:srgbClr val="FFFFFF"/>
              </a:clrFrom>
              <a:clrTo>
                <a:srgbClr val="FFFFFF">
                  <a:alpha val="0"/>
                </a:srgbClr>
              </a:clrTo>
            </a:clrChange>
            <a:lum contrast="6000"/>
          </a:blip>
          <a:srcRect r="67961"/>
          <a:stretch>
            <a:fillRect/>
          </a:stretch>
        </p:blipFill>
        <p:spPr>
          <a:xfrm>
            <a:off x="6227763" y="2492375"/>
            <a:ext cx="2519362" cy="2495550"/>
          </a:xfrm>
          <a:prstGeom prst="rect">
            <a:avLst/>
          </a:prstGeom>
          <a:noFill/>
          <a:ln w="9525">
            <a:noFill/>
          </a:ln>
        </p:spPr>
      </p:pic>
      <p:sp>
        <p:nvSpPr>
          <p:cNvPr id="19461" name="Text Box 8"/>
          <p:cNvSpPr txBox="1"/>
          <p:nvPr/>
        </p:nvSpPr>
        <p:spPr>
          <a:xfrm>
            <a:off x="6084888" y="5373688"/>
            <a:ext cx="2951162"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en-US" altLang="zh-CN" sz="2000" b="1" dirty="0">
                <a:latin typeface="Times New Roman" panose="02020603050405020304" pitchFamily="18" charset="0"/>
                <a:ea typeface="楷体_GB2312" pitchFamily="49" charset="-122"/>
              </a:rPr>
              <a:t>“</a:t>
            </a:r>
            <a:r>
              <a:rPr lang="zh-CN" altLang="en-US" sz="2000" b="1" dirty="0">
                <a:latin typeface="Times New Roman" panose="02020603050405020304" pitchFamily="18" charset="0"/>
                <a:ea typeface="楷体_GB2312" pitchFamily="49" charset="-122"/>
              </a:rPr>
              <a:t>与门”的图形符号</a:t>
            </a:r>
            <a:endParaRPr lang="zh-CN" altLang="en-US" sz="2000" b="1" dirty="0">
              <a:latin typeface="Times New Roman" panose="02020603050405020304" pitchFamily="18" charset="0"/>
              <a:ea typeface="楷体_GB2312" pitchFamily="49" charset="-122"/>
            </a:endParaRPr>
          </a:p>
        </p:txBody>
      </p:sp>
      <p:sp>
        <p:nvSpPr>
          <p:cNvPr id="19462" name="Text Box 9"/>
          <p:cNvSpPr txBox="1"/>
          <p:nvPr/>
        </p:nvSpPr>
        <p:spPr>
          <a:xfrm>
            <a:off x="2124075" y="2276475"/>
            <a:ext cx="51054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en-US" altLang="zh-CN" sz="2000"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与逻辑真值表</a:t>
            </a:r>
            <a:endParaRPr lang="zh-CN" altLang="en-US" sz="2000" b="1" dirty="0">
              <a:latin typeface="楷体_GB2312" pitchFamily="49" charset="-122"/>
              <a:ea typeface="楷体_GB2312" pitchFamily="49" charset="-122"/>
            </a:endParaRPr>
          </a:p>
        </p:txBody>
      </p:sp>
      <p:pic>
        <p:nvPicPr>
          <p:cNvPr id="19463" name="Picture 11" descr="T1-2-2"/>
          <p:cNvPicPr>
            <a:picLocks noChangeAspect="1"/>
          </p:cNvPicPr>
          <p:nvPr/>
        </p:nvPicPr>
        <p:blipFill>
          <a:blip r:embed="rId3">
            <a:clrChange>
              <a:clrFrom>
                <a:srgbClr val="FFFFFF"/>
              </a:clrFrom>
              <a:clrTo>
                <a:srgbClr val="FFFFFF">
                  <a:alpha val="0"/>
                </a:srgbClr>
              </a:clrTo>
            </a:clrChange>
            <a:lum contrast="6000"/>
          </a:blip>
          <a:srcRect r="66612"/>
          <a:stretch>
            <a:fillRect/>
          </a:stretch>
        </p:blipFill>
        <p:spPr>
          <a:xfrm>
            <a:off x="323850" y="2565400"/>
            <a:ext cx="2951163" cy="2389188"/>
          </a:xfrm>
          <a:prstGeom prst="rect">
            <a:avLst/>
          </a:prstGeom>
          <a:noFill/>
          <a:ln w="9525">
            <a:noFill/>
          </a:ln>
        </p:spPr>
      </p:pic>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5175"/>
                                        </p:tgtEl>
                                        <p:attrNameLst>
                                          <p:attrName>style.visibility</p:attrName>
                                        </p:attrNameLst>
                                      </p:cBhvr>
                                      <p:to>
                                        <p:strVal val="visible"/>
                                      </p:to>
                                    </p:set>
                                    <p:animEffect transition="in" filter="blinds(horizontal)">
                                      <p:cBhvr>
                                        <p:cTn id="7" dur="500"/>
                                        <p:tgtEl>
                                          <p:spTgt spid="1351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0482" name="Object 5"/>
          <p:cNvGraphicFramePr>
            <a:graphicFrameLocks noChangeAspect="1"/>
          </p:cNvGraphicFramePr>
          <p:nvPr/>
        </p:nvGraphicFramePr>
        <p:xfrm>
          <a:off x="5954713" y="3321050"/>
          <a:ext cx="114300" cy="215900"/>
        </p:xfrm>
        <a:graphic>
          <a:graphicData uri="http://schemas.openxmlformats.org/presentationml/2006/ole">
            <mc:AlternateContent xmlns:mc="http://schemas.openxmlformats.org/markup-compatibility/2006">
              <mc:Choice xmlns:v="urn:schemas-microsoft-com:vml" Requires="v">
                <p:oleObj spid="_x0000_s3076" name="" r:id="rId1" imgW="114300" imgH="215900" progId="Equation.3">
                  <p:embed/>
                </p:oleObj>
              </mc:Choice>
              <mc:Fallback>
                <p:oleObj name="" r:id="rId1" imgW="114300" imgH="215900" progId="Equation.3">
                  <p:embed/>
                  <p:pic>
                    <p:nvPicPr>
                      <p:cNvPr id="0" name="图片 3075"/>
                      <p:cNvPicPr/>
                      <p:nvPr/>
                    </p:nvPicPr>
                    <p:blipFill>
                      <a:blip r:embed="rId2"/>
                      <a:stretch>
                        <a:fillRect/>
                      </a:stretch>
                    </p:blipFill>
                    <p:spPr>
                      <a:xfrm>
                        <a:off x="5954713" y="3321050"/>
                        <a:ext cx="114300" cy="215900"/>
                      </a:xfrm>
                      <a:prstGeom prst="rect">
                        <a:avLst/>
                      </a:prstGeom>
                      <a:noFill/>
                      <a:ln w="38100">
                        <a:noFill/>
                        <a:miter/>
                      </a:ln>
                    </p:spPr>
                  </p:pic>
                </p:oleObj>
              </mc:Fallback>
            </mc:AlternateContent>
          </a:graphicData>
        </a:graphic>
      </p:graphicFrame>
      <p:sp>
        <p:nvSpPr>
          <p:cNvPr id="20483" name="Rectangle 6"/>
          <p:cNvSpPr/>
          <p:nvPr/>
        </p:nvSpPr>
        <p:spPr>
          <a:xfrm>
            <a:off x="360363" y="620713"/>
            <a:ext cx="8423275" cy="136048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ts val="3400"/>
              </a:lnSpc>
              <a:spcBef>
                <a:spcPct val="0"/>
              </a:spcBef>
              <a:buNone/>
            </a:pPr>
            <a:r>
              <a:rPr lang="zh-CN" altLang="en-US" sz="2400" b="1" dirty="0">
                <a:latin typeface="Times New Roman" panose="02020603050405020304" pitchFamily="18" charset="0"/>
              </a:rPr>
              <a:t>（</a:t>
            </a:r>
            <a:r>
              <a:rPr lang="en-US" altLang="zh-CN" sz="2400" b="1" dirty="0">
                <a:latin typeface="Times New Roman" panose="02020603050405020304" pitchFamily="18" charset="0"/>
              </a:rPr>
              <a:t>b</a:t>
            </a:r>
            <a:r>
              <a:rPr lang="zh-CN" altLang="en-US" sz="2400" b="1" dirty="0">
                <a:latin typeface="Times New Roman" panose="02020603050405020304" pitchFamily="18" charset="0"/>
              </a:rPr>
              <a:t>）</a:t>
            </a:r>
            <a:r>
              <a:rPr lang="zh-CN" altLang="en-US" sz="2400" b="1" dirty="0">
                <a:solidFill>
                  <a:schemeClr val="accent2"/>
                </a:solidFill>
                <a:latin typeface="Times New Roman" panose="02020603050405020304" pitchFamily="18" charset="0"/>
              </a:rPr>
              <a:t>逻辑或，也叫逻辑相加</a:t>
            </a:r>
            <a:r>
              <a:rPr lang="zh-CN" altLang="en-US" sz="2400" b="1" dirty="0">
                <a:latin typeface="Times New Roman" panose="02020603050405020304" pitchFamily="18" charset="0"/>
              </a:rPr>
              <a:t>：表示决定事物结果的条件中只要有任何一个满足，结果就会发生。记作</a:t>
            </a:r>
            <a:r>
              <a:rPr lang="en-US" altLang="zh-CN" sz="2400" b="1" dirty="0">
                <a:latin typeface="Times New Roman" panose="02020603050405020304" pitchFamily="18" charset="0"/>
              </a:rPr>
              <a:t>:</a:t>
            </a:r>
            <a:r>
              <a:rPr lang="en-US" altLang="zh-CN" sz="2400" b="1" dirty="0">
                <a:solidFill>
                  <a:srgbClr val="FF0000"/>
                </a:solidFill>
                <a:latin typeface="Times New Roman" panose="02020603050405020304" pitchFamily="18" charset="0"/>
              </a:rPr>
              <a:t>Y=A OR B</a:t>
            </a:r>
            <a:r>
              <a:rPr lang="zh-CN" altLang="en-US" sz="2400" b="1" dirty="0">
                <a:latin typeface="Times New Roman" panose="02020603050405020304" pitchFamily="18" charset="0"/>
              </a:rPr>
              <a:t>或</a:t>
            </a:r>
            <a:r>
              <a:rPr lang="en-US" altLang="zh-CN" sz="2400" b="1" dirty="0">
                <a:solidFill>
                  <a:srgbClr val="FF0000"/>
                </a:solidFill>
                <a:latin typeface="Times New Roman" panose="02020603050405020304" pitchFamily="18" charset="0"/>
              </a:rPr>
              <a:t>Y=A+B</a:t>
            </a:r>
            <a:r>
              <a:rPr lang="zh-CN" altLang="en-US" sz="2400" b="1" dirty="0">
                <a:latin typeface="Times New Roman" panose="02020603050405020304" pitchFamily="18" charset="0"/>
              </a:rPr>
              <a:t>。其逻辑</a:t>
            </a:r>
            <a:r>
              <a:rPr lang="zh-CN" altLang="en-US" sz="2400" b="1" dirty="0">
                <a:solidFill>
                  <a:srgbClr val="FF0000"/>
                </a:solidFill>
                <a:latin typeface="Times New Roman" panose="02020603050405020304" pitchFamily="18" charset="0"/>
              </a:rPr>
              <a:t>真值表</a:t>
            </a:r>
            <a:r>
              <a:rPr lang="zh-CN" altLang="en-US" sz="2400" b="1" dirty="0">
                <a:latin typeface="Times New Roman" panose="02020603050405020304" pitchFamily="18" charset="0"/>
              </a:rPr>
              <a:t>如表。</a:t>
            </a:r>
            <a:endParaRPr lang="zh-CN" altLang="en-US" sz="2400" b="1" dirty="0">
              <a:latin typeface="Times New Roman" panose="02020603050405020304" pitchFamily="18" charset="0"/>
            </a:endParaRPr>
          </a:p>
        </p:txBody>
      </p:sp>
      <p:pic>
        <p:nvPicPr>
          <p:cNvPr id="20484" name="Picture 7" descr="B1-2-2"/>
          <p:cNvPicPr>
            <a:picLocks noChangeAspect="1"/>
          </p:cNvPicPr>
          <p:nvPr/>
        </p:nvPicPr>
        <p:blipFill>
          <a:blip r:embed="rId3">
            <a:clrChange>
              <a:clrFrom>
                <a:srgbClr val="FFFFFF"/>
              </a:clrFrom>
              <a:clrTo>
                <a:srgbClr val="FFFFFF">
                  <a:alpha val="0"/>
                </a:srgbClr>
              </a:clrTo>
            </a:clrChange>
            <a:lum contrast="6000"/>
          </a:blip>
          <a:stretch>
            <a:fillRect/>
          </a:stretch>
        </p:blipFill>
        <p:spPr>
          <a:xfrm>
            <a:off x="2987675" y="2636838"/>
            <a:ext cx="3297238" cy="3527425"/>
          </a:xfrm>
          <a:prstGeom prst="rect">
            <a:avLst/>
          </a:prstGeom>
          <a:noFill/>
          <a:ln w="9525">
            <a:noFill/>
          </a:ln>
        </p:spPr>
      </p:pic>
      <p:sp>
        <p:nvSpPr>
          <p:cNvPr id="20485" name="Text Box 8"/>
          <p:cNvSpPr txBox="1"/>
          <p:nvPr/>
        </p:nvSpPr>
        <p:spPr>
          <a:xfrm>
            <a:off x="2043113" y="2209800"/>
            <a:ext cx="51054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en-US" altLang="zh-CN" sz="2000"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或逻辑真值表</a:t>
            </a:r>
            <a:endParaRPr lang="zh-CN" altLang="en-US" sz="2000" b="1" dirty="0">
              <a:latin typeface="楷体_GB2312" pitchFamily="49" charset="-122"/>
              <a:ea typeface="楷体_GB2312" pitchFamily="49" charset="-122"/>
            </a:endParaRPr>
          </a:p>
        </p:txBody>
      </p:sp>
      <p:pic>
        <p:nvPicPr>
          <p:cNvPr id="136201" name="Picture 9" descr="T1-2-3"/>
          <p:cNvPicPr>
            <a:picLocks noChangeAspect="1"/>
          </p:cNvPicPr>
          <p:nvPr/>
        </p:nvPicPr>
        <p:blipFill>
          <a:blip r:embed="rId4">
            <a:clrChange>
              <a:clrFrom>
                <a:srgbClr val="FFFFFF"/>
              </a:clrFrom>
              <a:clrTo>
                <a:srgbClr val="FFFFFF">
                  <a:alpha val="0"/>
                </a:srgbClr>
              </a:clrTo>
            </a:clrChange>
            <a:lum contrast="6000"/>
          </a:blip>
          <a:srcRect l="37372" r="35059"/>
          <a:stretch>
            <a:fillRect/>
          </a:stretch>
        </p:blipFill>
        <p:spPr>
          <a:xfrm>
            <a:off x="6227763" y="2420938"/>
            <a:ext cx="2641600" cy="2952750"/>
          </a:xfrm>
          <a:prstGeom prst="rect">
            <a:avLst/>
          </a:prstGeom>
          <a:noFill/>
          <a:ln w="9525">
            <a:noFill/>
          </a:ln>
        </p:spPr>
      </p:pic>
      <p:sp>
        <p:nvSpPr>
          <p:cNvPr id="20487" name="Text Box 10"/>
          <p:cNvSpPr txBox="1"/>
          <p:nvPr/>
        </p:nvSpPr>
        <p:spPr>
          <a:xfrm>
            <a:off x="5867400" y="5516563"/>
            <a:ext cx="2951163"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en-US" altLang="zh-CN" sz="2000" b="1" dirty="0">
                <a:latin typeface="Times New Roman" panose="02020603050405020304" pitchFamily="18" charset="0"/>
                <a:ea typeface="楷体_GB2312" pitchFamily="49" charset="-122"/>
              </a:rPr>
              <a:t>“</a:t>
            </a:r>
            <a:r>
              <a:rPr lang="zh-CN" altLang="en-US" sz="2000" b="1" dirty="0">
                <a:latin typeface="Times New Roman" panose="02020603050405020304" pitchFamily="18" charset="0"/>
                <a:ea typeface="楷体_GB2312" pitchFamily="49" charset="-122"/>
              </a:rPr>
              <a:t>或门”的图形符号</a:t>
            </a:r>
            <a:endParaRPr lang="zh-CN" altLang="en-US" sz="2000" b="1" dirty="0">
              <a:latin typeface="Times New Roman" panose="02020603050405020304" pitchFamily="18" charset="0"/>
              <a:ea typeface="楷体_GB2312" pitchFamily="49" charset="-122"/>
            </a:endParaRPr>
          </a:p>
        </p:txBody>
      </p:sp>
      <p:pic>
        <p:nvPicPr>
          <p:cNvPr id="20488" name="Picture 12" descr="T1-2-2"/>
          <p:cNvPicPr>
            <a:picLocks noChangeAspect="1"/>
          </p:cNvPicPr>
          <p:nvPr/>
        </p:nvPicPr>
        <p:blipFill>
          <a:blip r:embed="rId5">
            <a:clrChange>
              <a:clrFrom>
                <a:srgbClr val="FFFFFF"/>
              </a:clrFrom>
              <a:clrTo>
                <a:srgbClr val="FFFFFF">
                  <a:alpha val="0"/>
                </a:srgbClr>
              </a:clrTo>
            </a:clrChange>
            <a:lum contrast="6000"/>
          </a:blip>
          <a:srcRect l="33388" r="29939"/>
          <a:stretch>
            <a:fillRect/>
          </a:stretch>
        </p:blipFill>
        <p:spPr>
          <a:xfrm>
            <a:off x="106363" y="2636838"/>
            <a:ext cx="3241675" cy="2389187"/>
          </a:xfrm>
          <a:prstGeom prst="rect">
            <a:avLst/>
          </a:prstGeom>
          <a:noFill/>
          <a:ln w="9525">
            <a:noFill/>
          </a:ln>
        </p:spPr>
      </p:pic>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6201"/>
                                        </p:tgtEl>
                                        <p:attrNameLst>
                                          <p:attrName>style.visibility</p:attrName>
                                        </p:attrNameLst>
                                      </p:cBhvr>
                                      <p:to>
                                        <p:strVal val="visible"/>
                                      </p:to>
                                    </p:set>
                                    <p:animEffect transition="in" filter="blinds(horizontal)">
                                      <p:cBhvr>
                                        <p:cTn id="7" dur="500"/>
                                        <p:tgtEl>
                                          <p:spTgt spid="1362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1506" name="Group 5"/>
          <p:cNvGrpSpPr/>
          <p:nvPr/>
        </p:nvGrpSpPr>
        <p:grpSpPr>
          <a:xfrm>
            <a:off x="611188" y="476250"/>
            <a:ext cx="8353425" cy="1400175"/>
            <a:chOff x="612" y="618"/>
            <a:chExt cx="4808" cy="882"/>
          </a:xfrm>
        </p:grpSpPr>
        <p:sp>
          <p:nvSpPr>
            <p:cNvPr id="21512" name="Rectangle 6"/>
            <p:cNvSpPr/>
            <p:nvPr/>
          </p:nvSpPr>
          <p:spPr>
            <a:xfrm>
              <a:off x="612" y="618"/>
              <a:ext cx="4808" cy="88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ts val="3400"/>
                </a:lnSpc>
                <a:spcBef>
                  <a:spcPct val="0"/>
                </a:spcBef>
                <a:buNone/>
              </a:pPr>
              <a:r>
                <a:rPr lang="zh-CN" altLang="en-US" sz="2400" b="1" dirty="0">
                  <a:latin typeface="Times New Roman" panose="02020603050405020304" pitchFamily="18" charset="0"/>
                </a:rPr>
                <a:t>（</a:t>
              </a:r>
              <a:r>
                <a:rPr lang="en-US" altLang="zh-CN" sz="2400" b="1" dirty="0">
                  <a:latin typeface="Times New Roman" panose="02020603050405020304" pitchFamily="18" charset="0"/>
                </a:rPr>
                <a:t>c</a:t>
              </a:r>
              <a:r>
                <a:rPr lang="zh-CN" altLang="en-US" sz="2400" b="1" dirty="0">
                  <a:latin typeface="Times New Roman" panose="02020603050405020304" pitchFamily="18" charset="0"/>
                </a:rPr>
                <a:t>）</a:t>
              </a:r>
              <a:r>
                <a:rPr lang="zh-CN" altLang="en-US" sz="2400" b="1" dirty="0">
                  <a:solidFill>
                    <a:schemeClr val="accent2"/>
                  </a:solidFill>
                  <a:latin typeface="Times New Roman" panose="02020603050405020304" pitchFamily="18" charset="0"/>
                </a:rPr>
                <a:t>逻辑非，也叫逻辑求反</a:t>
              </a:r>
              <a:r>
                <a:rPr lang="zh-CN" altLang="en-US" sz="2400" b="1" dirty="0">
                  <a:latin typeface="Times New Roman" panose="02020603050405020304" pitchFamily="18" charset="0"/>
                </a:rPr>
                <a:t>：表示只要条件具备了，结果就不会发生，否则结果一定发生。记做：            或</a:t>
              </a:r>
              <a:endParaRPr lang="zh-CN" altLang="en-US" sz="2400" b="1" dirty="0">
                <a:latin typeface="Times New Roman" panose="02020603050405020304" pitchFamily="18" charset="0"/>
              </a:endParaRPr>
            </a:p>
            <a:p>
              <a:pPr marL="0" lvl="0" indent="0" eaLnBrk="1" hangingPunct="1">
                <a:lnSpc>
                  <a:spcPts val="3400"/>
                </a:lnSpc>
                <a:spcBef>
                  <a:spcPct val="0"/>
                </a:spcBef>
                <a:buNone/>
              </a:pPr>
              <a:r>
                <a:rPr lang="en-US" altLang="zh-CN" sz="2400" b="1" dirty="0">
                  <a:solidFill>
                    <a:srgbClr val="FF0000"/>
                  </a:solidFill>
                  <a:latin typeface="Times New Roman" panose="02020603050405020304" pitchFamily="18" charset="0"/>
                </a:rPr>
                <a:t>NOT A</a:t>
              </a:r>
              <a:r>
                <a:rPr lang="zh-CN" altLang="en-US" sz="2400" b="1" dirty="0">
                  <a:latin typeface="Times New Roman" panose="02020603050405020304" pitchFamily="18" charset="0"/>
                </a:rPr>
                <a:t>。其逻辑</a:t>
              </a:r>
              <a:r>
                <a:rPr lang="zh-CN" altLang="en-US" sz="2400" b="1" dirty="0">
                  <a:solidFill>
                    <a:srgbClr val="FF0000"/>
                  </a:solidFill>
                  <a:latin typeface="Times New Roman" panose="02020603050405020304" pitchFamily="18" charset="0"/>
                </a:rPr>
                <a:t>真值表</a:t>
              </a:r>
              <a:r>
                <a:rPr lang="zh-CN" altLang="en-US" sz="2400" b="1" dirty="0">
                  <a:latin typeface="Times New Roman" panose="02020603050405020304" pitchFamily="18" charset="0"/>
                </a:rPr>
                <a:t>如表。</a:t>
              </a:r>
              <a:endParaRPr lang="zh-CN" altLang="en-US" sz="2400" b="1" dirty="0">
                <a:latin typeface="Times New Roman" panose="02020603050405020304" pitchFamily="18" charset="0"/>
              </a:endParaRPr>
            </a:p>
          </p:txBody>
        </p:sp>
        <p:graphicFrame>
          <p:nvGraphicFramePr>
            <p:cNvPr id="21513" name="Object 7"/>
            <p:cNvGraphicFramePr>
              <a:graphicFrameLocks noChangeAspect="1"/>
            </p:cNvGraphicFramePr>
            <p:nvPr/>
          </p:nvGraphicFramePr>
          <p:xfrm>
            <a:off x="4377" y="845"/>
            <a:ext cx="656" cy="308"/>
          </p:xfrm>
          <a:graphic>
            <a:graphicData uri="http://schemas.openxmlformats.org/presentationml/2006/ole">
              <mc:AlternateContent xmlns:mc="http://schemas.openxmlformats.org/markup-compatibility/2006">
                <mc:Choice xmlns:v="urn:schemas-microsoft-com:vml" Requires="v">
                  <p:oleObj spid="_x0000_s3077" name="" r:id="rId1" imgW="393700" imgH="101600" progId="Equation.3">
                    <p:embed/>
                  </p:oleObj>
                </mc:Choice>
                <mc:Fallback>
                  <p:oleObj name="" r:id="rId1" imgW="393700" imgH="101600" progId="Equation.3">
                    <p:embed/>
                    <p:pic>
                      <p:nvPicPr>
                        <p:cNvPr id="0" name="图片 3076"/>
                        <p:cNvPicPr/>
                        <p:nvPr/>
                      </p:nvPicPr>
                      <p:blipFill>
                        <a:blip r:embed="rId2">
                          <a:clrChange>
                            <a:clrFrom>
                              <a:srgbClr val="000000"/>
                            </a:clrFrom>
                            <a:clrTo>
                              <a:srgbClr val="FF0000"/>
                            </a:clrTo>
                          </a:clrChange>
                        </a:blip>
                        <a:stretch>
                          <a:fillRect/>
                        </a:stretch>
                      </p:blipFill>
                      <p:spPr>
                        <a:xfrm>
                          <a:off x="4377" y="845"/>
                          <a:ext cx="656" cy="308"/>
                        </a:xfrm>
                        <a:prstGeom prst="rect">
                          <a:avLst/>
                        </a:prstGeom>
                        <a:noFill/>
                        <a:ln w="38100">
                          <a:noFill/>
                          <a:miter/>
                        </a:ln>
                      </p:spPr>
                    </p:pic>
                  </p:oleObj>
                </mc:Fallback>
              </mc:AlternateContent>
            </a:graphicData>
          </a:graphic>
        </p:graphicFrame>
      </p:grpSp>
      <p:pic>
        <p:nvPicPr>
          <p:cNvPr id="21507" name="Picture 8" descr="B1-2-3"/>
          <p:cNvPicPr>
            <a:picLocks noChangeAspect="1"/>
          </p:cNvPicPr>
          <p:nvPr/>
        </p:nvPicPr>
        <p:blipFill>
          <a:blip r:embed="rId3">
            <a:clrChange>
              <a:clrFrom>
                <a:srgbClr val="FFFFFF"/>
              </a:clrFrom>
              <a:clrTo>
                <a:srgbClr val="FFFFFF">
                  <a:alpha val="0"/>
                </a:srgbClr>
              </a:clrTo>
            </a:clrChange>
            <a:lum contrast="6000"/>
          </a:blip>
          <a:stretch>
            <a:fillRect/>
          </a:stretch>
        </p:blipFill>
        <p:spPr>
          <a:xfrm>
            <a:off x="3203575" y="2997200"/>
            <a:ext cx="2808288" cy="2278063"/>
          </a:xfrm>
          <a:prstGeom prst="rect">
            <a:avLst/>
          </a:prstGeom>
          <a:noFill/>
          <a:ln w="9525">
            <a:noFill/>
          </a:ln>
        </p:spPr>
      </p:pic>
      <p:pic>
        <p:nvPicPr>
          <p:cNvPr id="137225" name="Picture 9" descr="T1-2-3"/>
          <p:cNvPicPr>
            <a:picLocks noChangeAspect="1"/>
          </p:cNvPicPr>
          <p:nvPr/>
        </p:nvPicPr>
        <p:blipFill>
          <a:blip r:embed="rId4">
            <a:clrChange>
              <a:clrFrom>
                <a:srgbClr val="FFFFFF"/>
              </a:clrFrom>
              <a:clrTo>
                <a:srgbClr val="FFFFFF">
                  <a:alpha val="0"/>
                </a:srgbClr>
              </a:clrTo>
            </a:clrChange>
            <a:lum contrast="6000"/>
          </a:blip>
          <a:srcRect l="66725"/>
          <a:stretch>
            <a:fillRect/>
          </a:stretch>
        </p:blipFill>
        <p:spPr>
          <a:xfrm>
            <a:off x="5910263" y="2708275"/>
            <a:ext cx="2693987" cy="2495550"/>
          </a:xfrm>
          <a:prstGeom prst="rect">
            <a:avLst/>
          </a:prstGeom>
          <a:noFill/>
          <a:ln w="9525">
            <a:noFill/>
          </a:ln>
        </p:spPr>
      </p:pic>
      <p:sp>
        <p:nvSpPr>
          <p:cNvPr id="21509" name="Text Box 10"/>
          <p:cNvSpPr txBox="1"/>
          <p:nvPr/>
        </p:nvSpPr>
        <p:spPr>
          <a:xfrm>
            <a:off x="4787900" y="5516563"/>
            <a:ext cx="4176713"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en-US" altLang="zh-CN" sz="2000" b="1" dirty="0">
                <a:latin typeface="Times New Roman" panose="02020603050405020304" pitchFamily="18" charset="0"/>
                <a:ea typeface="楷体_GB2312" pitchFamily="49" charset="-122"/>
              </a:rPr>
              <a:t>“</a:t>
            </a:r>
            <a:r>
              <a:rPr lang="zh-CN" altLang="en-US" sz="2000" b="1" dirty="0">
                <a:latin typeface="Times New Roman" panose="02020603050405020304" pitchFamily="18" charset="0"/>
                <a:ea typeface="楷体_GB2312" pitchFamily="49" charset="-122"/>
              </a:rPr>
              <a:t>非门”（或反相器）的图形符号</a:t>
            </a:r>
            <a:endParaRPr lang="zh-CN" altLang="en-US" sz="2000" b="1" dirty="0">
              <a:latin typeface="Times New Roman" panose="02020603050405020304" pitchFamily="18" charset="0"/>
              <a:ea typeface="楷体_GB2312" pitchFamily="49" charset="-122"/>
            </a:endParaRPr>
          </a:p>
        </p:txBody>
      </p:sp>
      <p:sp>
        <p:nvSpPr>
          <p:cNvPr id="21510" name="Text Box 11"/>
          <p:cNvSpPr txBox="1"/>
          <p:nvPr/>
        </p:nvSpPr>
        <p:spPr>
          <a:xfrm>
            <a:off x="2130425" y="2420938"/>
            <a:ext cx="51054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en-US" altLang="zh-CN" sz="2000"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非逻辑真值表</a:t>
            </a:r>
            <a:endParaRPr lang="zh-CN" altLang="en-US" sz="2000" b="1" dirty="0">
              <a:latin typeface="楷体_GB2312" pitchFamily="49" charset="-122"/>
              <a:ea typeface="楷体_GB2312" pitchFamily="49" charset="-122"/>
            </a:endParaRPr>
          </a:p>
        </p:txBody>
      </p:sp>
      <p:pic>
        <p:nvPicPr>
          <p:cNvPr id="21511" name="Picture 13" descr="T1-2-2"/>
          <p:cNvPicPr>
            <a:picLocks noChangeAspect="1"/>
          </p:cNvPicPr>
          <p:nvPr/>
        </p:nvPicPr>
        <p:blipFill>
          <a:blip r:embed="rId5">
            <a:clrChange>
              <a:clrFrom>
                <a:srgbClr val="FFFFFF"/>
              </a:clrFrom>
              <a:clrTo>
                <a:srgbClr val="FFFFFF">
                  <a:alpha val="0"/>
                </a:srgbClr>
              </a:clrTo>
            </a:clrChange>
            <a:lum contrast="6000"/>
          </a:blip>
          <a:srcRect l="70869"/>
          <a:stretch>
            <a:fillRect/>
          </a:stretch>
        </p:blipFill>
        <p:spPr>
          <a:xfrm>
            <a:off x="250825" y="2492375"/>
            <a:ext cx="2952750" cy="2740025"/>
          </a:xfrm>
          <a:prstGeom prst="rect">
            <a:avLst/>
          </a:prstGeom>
          <a:noFill/>
          <a:ln w="9525">
            <a:noFill/>
          </a:ln>
        </p:spPr>
      </p:pic>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7225"/>
                                        </p:tgtEl>
                                        <p:attrNameLst>
                                          <p:attrName>style.visibility</p:attrName>
                                        </p:attrNameLst>
                                      </p:cBhvr>
                                      <p:to>
                                        <p:strVal val="visible"/>
                                      </p:to>
                                    </p:set>
                                    <p:animEffect transition="in" filter="blinds(horizontal)">
                                      <p:cBhvr>
                                        <p:cTn id="7" dur="500"/>
                                        <p:tgtEl>
                                          <p:spTgt spid="1372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5"/>
          <p:cNvSpPr/>
          <p:nvPr/>
        </p:nvSpPr>
        <p:spPr>
          <a:xfrm>
            <a:off x="611188" y="765175"/>
            <a:ext cx="7129462"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Times New Roman" panose="02020603050405020304" pitchFamily="18" charset="0"/>
              </a:rPr>
              <a:t>最常见的</a:t>
            </a:r>
            <a:r>
              <a:rPr lang="zh-CN" altLang="en-US" sz="2400" b="1" dirty="0">
                <a:solidFill>
                  <a:schemeClr val="accent2"/>
                </a:solidFill>
                <a:latin typeface="Times New Roman" panose="02020603050405020304" pitchFamily="18" charset="0"/>
              </a:rPr>
              <a:t>复合逻辑</a:t>
            </a:r>
            <a:r>
              <a:rPr lang="zh-CN" altLang="en-US" sz="2400" b="1" dirty="0">
                <a:latin typeface="Times New Roman" panose="02020603050405020304" pitchFamily="18" charset="0"/>
              </a:rPr>
              <a:t>运算</a:t>
            </a:r>
            <a:r>
              <a:rPr lang="en-US" altLang="zh-CN" sz="2400" b="1" dirty="0">
                <a:solidFill>
                  <a:srgbClr val="FF0000"/>
                </a:solidFill>
                <a:latin typeface="Times New Roman" panose="02020603050405020304" pitchFamily="18" charset="0"/>
              </a:rPr>
              <a:t>——“</a:t>
            </a:r>
            <a:r>
              <a:rPr lang="zh-CN" altLang="en-US" sz="2400" b="1" dirty="0">
                <a:solidFill>
                  <a:srgbClr val="FF0000"/>
                </a:solidFill>
                <a:latin typeface="Times New Roman" panose="02020603050405020304" pitchFamily="18" charset="0"/>
              </a:rPr>
              <a:t>与非”（</a:t>
            </a:r>
            <a:r>
              <a:rPr lang="en-US" altLang="zh-CN" sz="2400" b="1" dirty="0">
                <a:solidFill>
                  <a:srgbClr val="FF0000"/>
                </a:solidFill>
                <a:latin typeface="Times New Roman" panose="02020603050405020304" pitchFamily="18" charset="0"/>
              </a:rPr>
              <a:t>NAND</a:t>
            </a:r>
            <a:r>
              <a:rPr lang="zh-CN" altLang="en-US" sz="2400" b="1" dirty="0">
                <a:solidFill>
                  <a:srgbClr val="FF0000"/>
                </a:solidFill>
                <a:latin typeface="Times New Roman" panose="02020603050405020304" pitchFamily="18" charset="0"/>
              </a:rPr>
              <a:t>）</a:t>
            </a:r>
            <a:endParaRPr lang="zh-CN" altLang="en-US" sz="2400" b="1" dirty="0">
              <a:solidFill>
                <a:srgbClr val="FF0000"/>
              </a:solidFill>
              <a:latin typeface="Times New Roman" panose="02020603050405020304" pitchFamily="18" charset="0"/>
            </a:endParaRPr>
          </a:p>
        </p:txBody>
      </p:sp>
      <p:pic>
        <p:nvPicPr>
          <p:cNvPr id="22531" name="Picture 6" descr="T1-2-4"/>
          <p:cNvPicPr>
            <a:picLocks noChangeAspect="1"/>
          </p:cNvPicPr>
          <p:nvPr/>
        </p:nvPicPr>
        <p:blipFill>
          <a:blip r:embed="rId1">
            <a:clrChange>
              <a:clrFrom>
                <a:srgbClr val="FFFFFF"/>
              </a:clrFrom>
              <a:clrTo>
                <a:srgbClr val="FFFFFF">
                  <a:alpha val="0"/>
                </a:srgbClr>
              </a:clrTo>
            </a:clrChange>
            <a:lum contrast="6000"/>
          </a:blip>
          <a:srcRect r="71161" b="55313"/>
          <a:stretch>
            <a:fillRect/>
          </a:stretch>
        </p:blipFill>
        <p:spPr>
          <a:xfrm>
            <a:off x="611188" y="1700213"/>
            <a:ext cx="3381375" cy="4105275"/>
          </a:xfrm>
          <a:prstGeom prst="rect">
            <a:avLst/>
          </a:prstGeom>
          <a:noFill/>
          <a:ln w="9525">
            <a:noFill/>
          </a:ln>
        </p:spPr>
      </p:pic>
      <p:sp>
        <p:nvSpPr>
          <p:cNvPr id="22532" name="Text Box 7"/>
          <p:cNvSpPr txBox="1"/>
          <p:nvPr/>
        </p:nvSpPr>
        <p:spPr>
          <a:xfrm>
            <a:off x="2051050" y="5949950"/>
            <a:ext cx="6481763"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zh-CN" altLang="en-US" sz="2000" b="1" dirty="0">
                <a:latin typeface="楷体_GB2312" pitchFamily="49" charset="-122"/>
                <a:ea typeface="楷体_GB2312" pitchFamily="49" charset="-122"/>
              </a:rPr>
              <a:t>图 </a:t>
            </a:r>
            <a:r>
              <a:rPr lang="en-US" altLang="zh-CN" sz="2000" b="1" dirty="0">
                <a:latin typeface="Times New Roman" panose="02020603050405020304" pitchFamily="18" charset="0"/>
                <a:ea typeface="楷体_GB2312" pitchFamily="49" charset="-122"/>
              </a:rPr>
              <a:t>“</a:t>
            </a:r>
            <a:r>
              <a:rPr lang="zh-CN" altLang="en-US" sz="2000" b="1" dirty="0">
                <a:latin typeface="楷体_GB2312" pitchFamily="49" charset="-122"/>
                <a:ea typeface="楷体_GB2312" pitchFamily="49" charset="-122"/>
              </a:rPr>
              <a:t>与非</a:t>
            </a:r>
            <a:r>
              <a:rPr lang="zh-CN" altLang="en-US" sz="2000" b="1" dirty="0">
                <a:latin typeface="Times New Roman" panose="02020603050405020304" pitchFamily="18" charset="0"/>
                <a:ea typeface="楷体_GB2312" pitchFamily="49" charset="-122"/>
              </a:rPr>
              <a:t>”</a:t>
            </a:r>
            <a:r>
              <a:rPr lang="zh-CN" altLang="en-US" sz="2000" b="1" dirty="0">
                <a:latin typeface="楷体_GB2312" pitchFamily="49" charset="-122"/>
                <a:ea typeface="楷体_GB2312" pitchFamily="49" charset="-122"/>
              </a:rPr>
              <a:t>复合逻辑的图形符号和运算符号</a:t>
            </a:r>
            <a:endParaRPr lang="zh-CN" altLang="en-US" sz="2000" b="1" dirty="0">
              <a:latin typeface="楷体_GB2312" pitchFamily="49" charset="-122"/>
              <a:ea typeface="楷体_GB2312" pitchFamily="49" charset="-122"/>
            </a:endParaRPr>
          </a:p>
        </p:txBody>
      </p:sp>
      <p:graphicFrame>
        <p:nvGraphicFramePr>
          <p:cNvPr id="138249" name="Group 9"/>
          <p:cNvGraphicFramePr>
            <a:graphicFrameLocks noGrp="1"/>
          </p:cNvGraphicFramePr>
          <p:nvPr/>
        </p:nvGraphicFramePr>
        <p:xfrm>
          <a:off x="4500563" y="2636838"/>
          <a:ext cx="2808288" cy="2665413"/>
        </p:xfrm>
        <a:graphic>
          <a:graphicData uri="http://schemas.openxmlformats.org/drawingml/2006/table">
            <a:tbl>
              <a:tblPr/>
              <a:tblGrid>
                <a:gridCol w="1238250"/>
                <a:gridCol w="1570037"/>
              </a:tblGrid>
              <a:tr h="5286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A     B     </a:t>
                      </a:r>
                      <a:endParaRPr kumimoji="0" lang="en-US" altLang="zh-CN" sz="28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Y</a:t>
                      </a:r>
                      <a:endParaRPr kumimoji="0" lang="en-US" altLang="zh-CN" sz="28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36774">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0      0</a:t>
                      </a:r>
                      <a:endPar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0      1</a:t>
                      </a:r>
                      <a:endPar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1      0</a:t>
                      </a:r>
                      <a:endPar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1      1</a:t>
                      </a:r>
                      <a:endPar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endPar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endPar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endPar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endPar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2542" name="Text Box 22"/>
          <p:cNvSpPr txBox="1"/>
          <p:nvPr/>
        </p:nvSpPr>
        <p:spPr>
          <a:xfrm>
            <a:off x="4500563" y="1916113"/>
            <a:ext cx="2808287"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dirty="0"/>
              <a:t>NAND Truth Table</a:t>
            </a:r>
            <a:endParaRPr lang="en-US" altLang="zh-CN" sz="2400" dirty="0"/>
          </a:p>
        </p:txBody>
      </p:sp>
    </p:spTree>
  </p:cSld>
  <p:clrMapOvr>
    <a:masterClrMapping/>
  </p:clrMapOvr>
  <p:transition spd="slow" advClick="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3554" name="Picture 5" descr="T1-2-4"/>
          <p:cNvPicPr>
            <a:picLocks noChangeAspect="1"/>
          </p:cNvPicPr>
          <p:nvPr/>
        </p:nvPicPr>
        <p:blipFill>
          <a:blip r:embed="rId1">
            <a:clrChange>
              <a:clrFrom>
                <a:srgbClr val="FFFFFF"/>
              </a:clrFrom>
              <a:clrTo>
                <a:srgbClr val="FFFFFF">
                  <a:alpha val="0"/>
                </a:srgbClr>
              </a:clrTo>
            </a:clrChange>
            <a:lum contrast="6000"/>
          </a:blip>
          <a:srcRect l="31927" r="41278" b="55313"/>
          <a:stretch>
            <a:fillRect/>
          </a:stretch>
        </p:blipFill>
        <p:spPr>
          <a:xfrm>
            <a:off x="755650" y="1484313"/>
            <a:ext cx="3140075" cy="4103687"/>
          </a:xfrm>
          <a:prstGeom prst="rect">
            <a:avLst/>
          </a:prstGeom>
          <a:noFill/>
          <a:ln w="9525">
            <a:noFill/>
          </a:ln>
        </p:spPr>
      </p:pic>
      <p:sp>
        <p:nvSpPr>
          <p:cNvPr id="23555" name="Rectangle 7"/>
          <p:cNvSpPr/>
          <p:nvPr/>
        </p:nvSpPr>
        <p:spPr>
          <a:xfrm>
            <a:off x="611188" y="765175"/>
            <a:ext cx="7129462"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Times New Roman" panose="02020603050405020304" pitchFamily="18" charset="0"/>
              </a:rPr>
              <a:t>最常见的</a:t>
            </a:r>
            <a:r>
              <a:rPr lang="zh-CN" altLang="en-US" sz="2400" b="1" dirty="0">
                <a:solidFill>
                  <a:schemeClr val="accent2"/>
                </a:solidFill>
                <a:latin typeface="Times New Roman" panose="02020603050405020304" pitchFamily="18" charset="0"/>
              </a:rPr>
              <a:t>复合逻辑</a:t>
            </a:r>
            <a:r>
              <a:rPr lang="zh-CN" altLang="en-US" sz="2400" b="1" dirty="0">
                <a:latin typeface="Times New Roman" panose="02020603050405020304" pitchFamily="18" charset="0"/>
              </a:rPr>
              <a:t>运算</a:t>
            </a:r>
            <a:r>
              <a:rPr lang="en-US" altLang="zh-CN" sz="2400" b="1" dirty="0">
                <a:solidFill>
                  <a:srgbClr val="FF0000"/>
                </a:solidFill>
                <a:latin typeface="Times New Roman" panose="02020603050405020304" pitchFamily="18" charset="0"/>
              </a:rPr>
              <a:t>——“</a:t>
            </a:r>
            <a:r>
              <a:rPr lang="zh-CN" altLang="en-US" sz="2400" b="1" dirty="0">
                <a:solidFill>
                  <a:srgbClr val="FF0000"/>
                </a:solidFill>
                <a:latin typeface="Times New Roman" panose="02020603050405020304" pitchFamily="18" charset="0"/>
              </a:rPr>
              <a:t>或非”（</a:t>
            </a:r>
            <a:r>
              <a:rPr lang="en-US" altLang="zh-CN" sz="2400" b="1" dirty="0">
                <a:solidFill>
                  <a:srgbClr val="FF0000"/>
                </a:solidFill>
                <a:latin typeface="Times New Roman" panose="02020603050405020304" pitchFamily="18" charset="0"/>
              </a:rPr>
              <a:t>NOR</a:t>
            </a:r>
            <a:r>
              <a:rPr lang="zh-CN" altLang="en-US" sz="2400" b="1" dirty="0">
                <a:solidFill>
                  <a:srgbClr val="FF0000"/>
                </a:solidFill>
                <a:latin typeface="Times New Roman" panose="02020603050405020304" pitchFamily="18" charset="0"/>
              </a:rPr>
              <a:t>）</a:t>
            </a:r>
            <a:endParaRPr lang="zh-CN" altLang="en-US" sz="2400" b="1" dirty="0">
              <a:solidFill>
                <a:srgbClr val="FF0000"/>
              </a:solidFill>
              <a:latin typeface="Times New Roman" panose="02020603050405020304" pitchFamily="18" charset="0"/>
            </a:endParaRPr>
          </a:p>
        </p:txBody>
      </p:sp>
      <p:sp>
        <p:nvSpPr>
          <p:cNvPr id="23556" name="Text Box 8"/>
          <p:cNvSpPr txBox="1"/>
          <p:nvPr/>
        </p:nvSpPr>
        <p:spPr>
          <a:xfrm>
            <a:off x="2051050" y="5949950"/>
            <a:ext cx="6049963" cy="4000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zh-CN" altLang="en-US" sz="2000" b="1" dirty="0">
                <a:latin typeface="楷体_GB2312" pitchFamily="49" charset="-122"/>
                <a:ea typeface="楷体_GB2312" pitchFamily="49" charset="-122"/>
              </a:rPr>
              <a:t>图 </a:t>
            </a:r>
            <a:r>
              <a:rPr lang="en-US" altLang="zh-CN" sz="2000" b="1" dirty="0">
                <a:latin typeface="楷体_GB2312" pitchFamily="49" charset="-122"/>
                <a:ea typeface="楷体_GB2312" pitchFamily="49" charset="-122"/>
              </a:rPr>
              <a:t> </a:t>
            </a:r>
            <a:r>
              <a:rPr lang="en-US" altLang="zh-CN" sz="2000" b="1" dirty="0">
                <a:latin typeface="Times New Roman" panose="02020603050405020304" pitchFamily="18" charset="0"/>
                <a:ea typeface="楷体_GB2312" pitchFamily="49" charset="-122"/>
              </a:rPr>
              <a:t>“</a:t>
            </a:r>
            <a:r>
              <a:rPr lang="zh-CN" altLang="en-US" sz="2000" b="1" dirty="0">
                <a:latin typeface="楷体_GB2312" pitchFamily="49" charset="-122"/>
                <a:ea typeface="楷体_GB2312" pitchFamily="49" charset="-122"/>
              </a:rPr>
              <a:t>或非</a:t>
            </a:r>
            <a:r>
              <a:rPr lang="zh-CN" altLang="en-US" sz="2000" b="1" dirty="0">
                <a:latin typeface="Times New Roman" panose="02020603050405020304" pitchFamily="18" charset="0"/>
                <a:ea typeface="楷体_GB2312" pitchFamily="49" charset="-122"/>
              </a:rPr>
              <a:t>”</a:t>
            </a:r>
            <a:r>
              <a:rPr lang="zh-CN" altLang="en-US" sz="2000" b="1" dirty="0">
                <a:latin typeface="楷体_GB2312" pitchFamily="49" charset="-122"/>
                <a:ea typeface="楷体_GB2312" pitchFamily="49" charset="-122"/>
              </a:rPr>
              <a:t>复合逻辑的图形符号和运算符号</a:t>
            </a:r>
            <a:endParaRPr lang="zh-CN" altLang="en-US" sz="2000" b="1" dirty="0">
              <a:latin typeface="楷体_GB2312" pitchFamily="49" charset="-122"/>
              <a:ea typeface="楷体_GB2312" pitchFamily="49" charset="-122"/>
            </a:endParaRPr>
          </a:p>
        </p:txBody>
      </p:sp>
      <p:sp>
        <p:nvSpPr>
          <p:cNvPr id="23557" name="Text Box 9"/>
          <p:cNvSpPr txBox="1"/>
          <p:nvPr/>
        </p:nvSpPr>
        <p:spPr>
          <a:xfrm>
            <a:off x="4500563" y="1916113"/>
            <a:ext cx="2808287"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dirty="0"/>
              <a:t>N0R Truth Table</a:t>
            </a:r>
            <a:endParaRPr lang="en-US" altLang="zh-CN" sz="2400" dirty="0"/>
          </a:p>
        </p:txBody>
      </p:sp>
      <p:graphicFrame>
        <p:nvGraphicFramePr>
          <p:cNvPr id="139274" name="Group 10"/>
          <p:cNvGraphicFramePr>
            <a:graphicFrameLocks noGrp="1"/>
          </p:cNvGraphicFramePr>
          <p:nvPr/>
        </p:nvGraphicFramePr>
        <p:xfrm>
          <a:off x="4500563" y="2636838"/>
          <a:ext cx="2808288" cy="2665413"/>
        </p:xfrm>
        <a:graphic>
          <a:graphicData uri="http://schemas.openxmlformats.org/drawingml/2006/table">
            <a:tbl>
              <a:tblPr/>
              <a:tblGrid>
                <a:gridCol w="1238250"/>
                <a:gridCol w="1570037"/>
              </a:tblGrid>
              <a:tr h="5286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A     B     </a:t>
                      </a:r>
                      <a:endParaRPr kumimoji="0" lang="en-US" altLang="zh-CN" sz="28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Y</a:t>
                      </a:r>
                      <a:endParaRPr kumimoji="0" lang="en-US" altLang="zh-CN" sz="28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36774">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0      0</a:t>
                      </a:r>
                      <a:endPar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0      1</a:t>
                      </a:r>
                      <a:endPar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1      0</a:t>
                      </a:r>
                      <a:endPar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1      1</a:t>
                      </a:r>
                      <a:endPar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endPar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endPar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endPar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endPar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slow" advClick="0"/>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578" name="Picture 5" descr="T1-2-4"/>
          <p:cNvPicPr>
            <a:picLocks noChangeAspect="1"/>
          </p:cNvPicPr>
          <p:nvPr/>
        </p:nvPicPr>
        <p:blipFill>
          <a:blip r:embed="rId1">
            <a:clrChange>
              <a:clrFrom>
                <a:srgbClr val="FFFFFF"/>
              </a:clrFrom>
              <a:clrTo>
                <a:srgbClr val="FFFFFF">
                  <a:alpha val="0"/>
                </a:srgbClr>
              </a:clrTo>
            </a:clrChange>
            <a:lum contrast="6000"/>
          </a:blip>
          <a:srcRect l="61229" t="17558" r="8289" b="49998"/>
          <a:stretch>
            <a:fillRect/>
          </a:stretch>
        </p:blipFill>
        <p:spPr>
          <a:xfrm>
            <a:off x="827088" y="2133600"/>
            <a:ext cx="3673475" cy="3062288"/>
          </a:xfrm>
          <a:prstGeom prst="rect">
            <a:avLst/>
          </a:prstGeom>
          <a:noFill/>
          <a:ln w="9525">
            <a:noFill/>
          </a:ln>
        </p:spPr>
      </p:pic>
      <p:sp>
        <p:nvSpPr>
          <p:cNvPr id="24579" name="Rectangle 7"/>
          <p:cNvSpPr/>
          <p:nvPr/>
        </p:nvSpPr>
        <p:spPr>
          <a:xfrm>
            <a:off x="684213" y="1125538"/>
            <a:ext cx="7129462"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Times New Roman" panose="02020603050405020304" pitchFamily="18" charset="0"/>
              </a:rPr>
              <a:t>最常见的</a:t>
            </a:r>
            <a:r>
              <a:rPr lang="zh-CN" altLang="en-US" sz="2400" b="1" dirty="0">
                <a:solidFill>
                  <a:schemeClr val="accent2"/>
                </a:solidFill>
                <a:latin typeface="Times New Roman" panose="02020603050405020304" pitchFamily="18" charset="0"/>
              </a:rPr>
              <a:t>复合逻辑</a:t>
            </a:r>
            <a:r>
              <a:rPr lang="zh-CN" altLang="en-US" sz="2400" b="1" dirty="0">
                <a:latin typeface="Times New Roman" panose="02020603050405020304" pitchFamily="18" charset="0"/>
              </a:rPr>
              <a:t>运算</a:t>
            </a:r>
            <a:r>
              <a:rPr lang="en-US" altLang="zh-CN" sz="2400" b="1" dirty="0">
                <a:solidFill>
                  <a:srgbClr val="FF0000"/>
                </a:solidFill>
                <a:latin typeface="Times New Roman" panose="02020603050405020304" pitchFamily="18" charset="0"/>
              </a:rPr>
              <a:t>——“</a:t>
            </a:r>
            <a:r>
              <a:rPr lang="zh-CN" altLang="en-US" sz="2400" b="1" dirty="0">
                <a:solidFill>
                  <a:srgbClr val="FF0000"/>
                </a:solidFill>
                <a:latin typeface="Times New Roman" panose="02020603050405020304" pitchFamily="18" charset="0"/>
              </a:rPr>
              <a:t>与或非”（</a:t>
            </a:r>
            <a:r>
              <a:rPr lang="en-US" altLang="zh-CN" sz="2400" b="1" dirty="0">
                <a:solidFill>
                  <a:srgbClr val="FF0000"/>
                </a:solidFill>
                <a:latin typeface="Times New Roman" panose="02020603050405020304" pitchFamily="18" charset="0"/>
              </a:rPr>
              <a:t>AND-NOR</a:t>
            </a:r>
            <a:r>
              <a:rPr lang="zh-CN" altLang="en-US" sz="2400" b="1" dirty="0">
                <a:solidFill>
                  <a:srgbClr val="FF0000"/>
                </a:solidFill>
                <a:latin typeface="Times New Roman" panose="02020603050405020304" pitchFamily="18" charset="0"/>
              </a:rPr>
              <a:t>）</a:t>
            </a:r>
            <a:endParaRPr lang="zh-CN" altLang="en-US" sz="2400" b="1" dirty="0">
              <a:solidFill>
                <a:srgbClr val="FF0000"/>
              </a:solidFill>
              <a:latin typeface="Times New Roman" panose="02020603050405020304" pitchFamily="18" charset="0"/>
            </a:endParaRPr>
          </a:p>
        </p:txBody>
      </p:sp>
      <p:sp>
        <p:nvSpPr>
          <p:cNvPr id="24580" name="Text Box 8"/>
          <p:cNvSpPr txBox="1"/>
          <p:nvPr/>
        </p:nvSpPr>
        <p:spPr>
          <a:xfrm>
            <a:off x="1476375" y="5734050"/>
            <a:ext cx="65532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zh-CN" altLang="en-US" sz="2000" b="1" dirty="0">
                <a:latin typeface="楷体_GB2312" pitchFamily="49" charset="-122"/>
                <a:ea typeface="楷体_GB2312" pitchFamily="49" charset="-122"/>
              </a:rPr>
              <a:t>图 </a:t>
            </a:r>
            <a:r>
              <a:rPr lang="en-US" altLang="zh-CN" sz="2000" b="1" dirty="0">
                <a:latin typeface="楷体_GB2312" pitchFamily="49" charset="-122"/>
                <a:ea typeface="楷体_GB2312" pitchFamily="49" charset="-122"/>
              </a:rPr>
              <a:t> </a:t>
            </a:r>
            <a:r>
              <a:rPr lang="en-US" altLang="zh-CN" sz="2000" b="1" dirty="0">
                <a:latin typeface="Times New Roman" panose="02020603050405020304" pitchFamily="18" charset="0"/>
                <a:ea typeface="楷体_GB2312" pitchFamily="49" charset="-122"/>
              </a:rPr>
              <a:t>“</a:t>
            </a:r>
            <a:r>
              <a:rPr lang="zh-CN" altLang="en-US" sz="2000" b="1" dirty="0">
                <a:latin typeface="楷体_GB2312" pitchFamily="49" charset="-122"/>
                <a:ea typeface="楷体_GB2312" pitchFamily="49" charset="-122"/>
              </a:rPr>
              <a:t>与或非</a:t>
            </a:r>
            <a:r>
              <a:rPr lang="zh-CN" altLang="en-US" sz="2000" b="1" dirty="0">
                <a:latin typeface="Times New Roman" panose="02020603050405020304" pitchFamily="18" charset="0"/>
                <a:ea typeface="楷体_GB2312" pitchFamily="49" charset="-122"/>
              </a:rPr>
              <a:t>”</a:t>
            </a:r>
            <a:r>
              <a:rPr lang="zh-CN" altLang="en-US" sz="2000" b="1" dirty="0">
                <a:latin typeface="楷体_GB2312" pitchFamily="49" charset="-122"/>
                <a:ea typeface="楷体_GB2312" pitchFamily="49" charset="-122"/>
              </a:rPr>
              <a:t>复合逻辑的图形符号和运算符号</a:t>
            </a:r>
            <a:endParaRPr lang="zh-CN" altLang="en-US" sz="2000" b="1" dirty="0">
              <a:latin typeface="楷体_GB2312" pitchFamily="49" charset="-122"/>
              <a:ea typeface="楷体_GB2312" pitchFamily="49" charset="-122"/>
            </a:endParaRPr>
          </a:p>
        </p:txBody>
      </p:sp>
      <p:pic>
        <p:nvPicPr>
          <p:cNvPr id="24581" name="Picture 9" descr="T1-2-4"/>
          <p:cNvPicPr>
            <a:picLocks noChangeAspect="1"/>
          </p:cNvPicPr>
          <p:nvPr/>
        </p:nvPicPr>
        <p:blipFill>
          <a:blip r:embed="rId1">
            <a:clrChange>
              <a:clrFrom>
                <a:srgbClr val="FFFFFF"/>
              </a:clrFrom>
              <a:clrTo>
                <a:srgbClr val="FFFFFF">
                  <a:alpha val="0"/>
                </a:srgbClr>
              </a:clrTo>
            </a:clrChange>
            <a:lum contrast="6000"/>
          </a:blip>
          <a:srcRect l="61229" t="48904" b="15411"/>
          <a:stretch>
            <a:fillRect/>
          </a:stretch>
        </p:blipFill>
        <p:spPr>
          <a:xfrm>
            <a:off x="4356100" y="2205038"/>
            <a:ext cx="3960813" cy="2854325"/>
          </a:xfrm>
          <a:prstGeom prst="rect">
            <a:avLst/>
          </a:prstGeom>
          <a:noFill/>
          <a:ln w="9525">
            <a:noFill/>
          </a:ln>
        </p:spPr>
      </p:pic>
    </p:spTree>
  </p:cSld>
  <p:clrMapOvr>
    <a:masterClrMapping/>
  </p:clrMapOvr>
  <p:transition spd="slow" advClick="0"/>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5602" name="Picture 5" descr="T1-2-4"/>
          <p:cNvPicPr>
            <a:picLocks noChangeAspect="1"/>
          </p:cNvPicPr>
          <p:nvPr/>
        </p:nvPicPr>
        <p:blipFill>
          <a:blip r:embed="rId1">
            <a:clrChange>
              <a:clrFrom>
                <a:srgbClr val="FFFFFF"/>
              </a:clrFrom>
              <a:clrTo>
                <a:srgbClr val="FFFFFF">
                  <a:alpha val="0"/>
                </a:srgbClr>
              </a:clrTo>
            </a:clrChange>
            <a:lum contrast="6000"/>
          </a:blip>
          <a:srcRect t="51091" r="38771"/>
          <a:stretch>
            <a:fillRect/>
          </a:stretch>
        </p:blipFill>
        <p:spPr>
          <a:xfrm>
            <a:off x="0" y="1773238"/>
            <a:ext cx="4752975" cy="2973387"/>
          </a:xfrm>
          <a:prstGeom prst="rect">
            <a:avLst/>
          </a:prstGeom>
          <a:noFill/>
          <a:ln w="9525">
            <a:noFill/>
          </a:ln>
        </p:spPr>
      </p:pic>
      <p:sp>
        <p:nvSpPr>
          <p:cNvPr id="25603" name="Rectangle 8"/>
          <p:cNvSpPr/>
          <p:nvPr/>
        </p:nvSpPr>
        <p:spPr>
          <a:xfrm>
            <a:off x="611188" y="765175"/>
            <a:ext cx="7921625" cy="8223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Times New Roman" panose="02020603050405020304" pitchFamily="18" charset="0"/>
              </a:rPr>
              <a:t>最常见的</a:t>
            </a:r>
            <a:r>
              <a:rPr lang="zh-CN" altLang="en-US" sz="2400" b="1" dirty="0">
                <a:solidFill>
                  <a:schemeClr val="accent2"/>
                </a:solidFill>
                <a:latin typeface="Times New Roman" panose="02020603050405020304" pitchFamily="18" charset="0"/>
              </a:rPr>
              <a:t>复合逻辑</a:t>
            </a:r>
            <a:r>
              <a:rPr lang="zh-CN" altLang="en-US" sz="2400" b="1" dirty="0">
                <a:latin typeface="Times New Roman" panose="02020603050405020304" pitchFamily="18" charset="0"/>
              </a:rPr>
              <a:t>运算</a:t>
            </a:r>
            <a:r>
              <a:rPr lang="en-US" altLang="zh-CN" sz="2400" b="1" dirty="0">
                <a:solidFill>
                  <a:srgbClr val="FF0000"/>
                </a:solidFill>
                <a:latin typeface="Times New Roman" panose="02020603050405020304" pitchFamily="18" charset="0"/>
              </a:rPr>
              <a:t>——“</a:t>
            </a:r>
            <a:r>
              <a:rPr lang="zh-CN" altLang="en-US" sz="2400" b="1" dirty="0">
                <a:solidFill>
                  <a:srgbClr val="FF0000"/>
                </a:solidFill>
                <a:latin typeface="Times New Roman" panose="02020603050405020304" pitchFamily="18" charset="0"/>
              </a:rPr>
              <a:t>异或”（</a:t>
            </a:r>
            <a:r>
              <a:rPr lang="en-US" altLang="zh-CN" sz="2400" b="1" dirty="0">
                <a:solidFill>
                  <a:srgbClr val="FF0000"/>
                </a:solidFill>
                <a:latin typeface="Times New Roman" panose="02020603050405020304" pitchFamily="18" charset="0"/>
              </a:rPr>
              <a:t>EXCLUSIVE-OR</a:t>
            </a:r>
            <a:r>
              <a:rPr lang="zh-CN" altLang="en-US" sz="2400" b="1" dirty="0">
                <a:solidFill>
                  <a:srgbClr val="FF0000"/>
                </a:solidFill>
                <a:latin typeface="Times New Roman" panose="02020603050405020304" pitchFamily="18" charset="0"/>
              </a:rPr>
              <a:t>）              </a:t>
            </a:r>
            <a:endParaRPr lang="zh-CN" altLang="en-US" sz="2400" b="1" dirty="0">
              <a:solidFill>
                <a:srgbClr val="FF0000"/>
              </a:solidFill>
              <a:latin typeface="Times New Roman" panose="02020603050405020304" pitchFamily="18" charset="0"/>
            </a:endParaRPr>
          </a:p>
          <a:p>
            <a:pPr marL="0" lvl="0" indent="0" eaLnBrk="1" hangingPunct="1">
              <a:spcBef>
                <a:spcPct val="0"/>
              </a:spcBef>
              <a:buNone/>
            </a:pPr>
            <a:r>
              <a:rPr lang="zh-CN" altLang="en-US" sz="2400" b="1" dirty="0">
                <a:solidFill>
                  <a:srgbClr val="FF0000"/>
                </a:solidFill>
                <a:latin typeface="Times New Roman" panose="02020603050405020304" pitchFamily="18" charset="0"/>
              </a:rPr>
              <a:t>                                            </a:t>
            </a:r>
            <a:r>
              <a:rPr lang="zh-CN" altLang="en-US" sz="2400" b="1" dirty="0">
                <a:latin typeface="Times New Roman" panose="02020603050405020304" pitchFamily="18" charset="0"/>
              </a:rPr>
              <a:t>和</a:t>
            </a:r>
            <a:r>
              <a:rPr lang="zh-CN" altLang="en-US" sz="2400" b="1" dirty="0">
                <a:solidFill>
                  <a:srgbClr val="FF0000"/>
                </a:solidFill>
                <a:latin typeface="Times New Roman" panose="02020603050405020304" pitchFamily="18" charset="0"/>
              </a:rPr>
              <a:t>“同或”（</a:t>
            </a:r>
            <a:r>
              <a:rPr lang="en-US" altLang="zh-CN" sz="2400" b="1" dirty="0">
                <a:solidFill>
                  <a:srgbClr val="FF0000"/>
                </a:solidFill>
                <a:latin typeface="Times New Roman" panose="02020603050405020304" pitchFamily="18" charset="0"/>
              </a:rPr>
              <a:t>EXCLUSIVE-NOR</a:t>
            </a:r>
            <a:r>
              <a:rPr lang="zh-CN" altLang="en-US" sz="2400" b="1" dirty="0">
                <a:solidFill>
                  <a:srgbClr val="FF0000"/>
                </a:solidFill>
                <a:latin typeface="Times New Roman" panose="02020603050405020304" pitchFamily="18" charset="0"/>
              </a:rPr>
              <a:t>）</a:t>
            </a:r>
            <a:endParaRPr lang="zh-CN" altLang="en-US" sz="2400" b="1" dirty="0">
              <a:solidFill>
                <a:srgbClr val="FF0000"/>
              </a:solidFill>
              <a:latin typeface="Times New Roman" panose="02020603050405020304" pitchFamily="18" charset="0"/>
            </a:endParaRPr>
          </a:p>
        </p:txBody>
      </p:sp>
      <p:sp>
        <p:nvSpPr>
          <p:cNvPr id="25604" name="Text Box 9"/>
          <p:cNvSpPr txBox="1"/>
          <p:nvPr/>
        </p:nvSpPr>
        <p:spPr>
          <a:xfrm>
            <a:off x="4716463" y="1773238"/>
            <a:ext cx="1223962"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dirty="0"/>
              <a:t>EX-OR</a:t>
            </a:r>
            <a:endParaRPr lang="en-US" altLang="zh-CN" sz="2400" dirty="0"/>
          </a:p>
        </p:txBody>
      </p:sp>
      <p:graphicFrame>
        <p:nvGraphicFramePr>
          <p:cNvPr id="141322" name="Group 10"/>
          <p:cNvGraphicFramePr>
            <a:graphicFrameLocks noGrp="1"/>
          </p:cNvGraphicFramePr>
          <p:nvPr/>
        </p:nvGraphicFramePr>
        <p:xfrm>
          <a:off x="4572000" y="2349500"/>
          <a:ext cx="1728788" cy="2663825"/>
        </p:xfrm>
        <a:graphic>
          <a:graphicData uri="http://schemas.openxmlformats.org/drawingml/2006/table">
            <a:tbl>
              <a:tblPr/>
              <a:tblGrid>
                <a:gridCol w="1339850"/>
                <a:gridCol w="388938"/>
              </a:tblGrid>
              <a:tr h="5286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A     B     </a:t>
                      </a:r>
                      <a:endParaRPr kumimoji="0" lang="en-US" altLang="zh-CN" sz="28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Y</a:t>
                      </a:r>
                      <a:endParaRPr kumimoji="0" lang="en-US" altLang="zh-CN" sz="28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35187">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0      0</a:t>
                      </a:r>
                      <a:endPar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0      1</a:t>
                      </a:r>
                      <a:endPar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1      0</a:t>
                      </a:r>
                      <a:endPar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1      1</a:t>
                      </a:r>
                      <a:endPar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endPar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endPar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endPar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endPar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5614" name="Text Box 23"/>
          <p:cNvSpPr txBox="1"/>
          <p:nvPr/>
        </p:nvSpPr>
        <p:spPr>
          <a:xfrm>
            <a:off x="6877050" y="1773238"/>
            <a:ext cx="1439863"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dirty="0"/>
              <a:t>EX-NOR</a:t>
            </a:r>
            <a:endParaRPr lang="en-US" altLang="zh-CN" sz="2400" dirty="0"/>
          </a:p>
        </p:txBody>
      </p:sp>
      <p:graphicFrame>
        <p:nvGraphicFramePr>
          <p:cNvPr id="141336" name="Group 24"/>
          <p:cNvGraphicFramePr>
            <a:graphicFrameLocks noGrp="1"/>
          </p:cNvGraphicFramePr>
          <p:nvPr/>
        </p:nvGraphicFramePr>
        <p:xfrm>
          <a:off x="6732588" y="2349500"/>
          <a:ext cx="1728788" cy="2663825"/>
        </p:xfrm>
        <a:graphic>
          <a:graphicData uri="http://schemas.openxmlformats.org/drawingml/2006/table">
            <a:tbl>
              <a:tblPr/>
              <a:tblGrid>
                <a:gridCol w="1339850"/>
                <a:gridCol w="388937"/>
              </a:tblGrid>
              <a:tr h="5286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A     B     </a:t>
                      </a:r>
                      <a:endParaRPr kumimoji="0" lang="en-US" altLang="zh-CN" sz="28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Y</a:t>
                      </a:r>
                      <a:endParaRPr kumimoji="0" lang="en-US" altLang="zh-CN" sz="28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35187">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0      0</a:t>
                      </a:r>
                      <a:endPar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0      1</a:t>
                      </a:r>
                      <a:endPar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1      0</a:t>
                      </a:r>
                      <a:endPar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1      1</a:t>
                      </a:r>
                      <a:endPar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endPar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endPar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endPar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endParaRPr kumimoji="0" lang="en-US"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41349" name="Object 37"/>
          <p:cNvGraphicFramePr>
            <a:graphicFrameLocks noChangeAspect="1"/>
          </p:cNvGraphicFramePr>
          <p:nvPr/>
        </p:nvGraphicFramePr>
        <p:xfrm>
          <a:off x="3635375" y="5157788"/>
          <a:ext cx="2751138" cy="668337"/>
        </p:xfrm>
        <a:graphic>
          <a:graphicData uri="http://schemas.openxmlformats.org/presentationml/2006/ole">
            <mc:AlternateContent xmlns:mc="http://schemas.openxmlformats.org/markup-compatibility/2006">
              <mc:Choice xmlns:v="urn:schemas-microsoft-com:vml" Requires="v">
                <p:oleObj spid="_x0000_s3078" name="" r:id="rId2" imgW="1028700" imgH="139700" progId="Equation.3">
                  <p:embed/>
                </p:oleObj>
              </mc:Choice>
              <mc:Fallback>
                <p:oleObj name="" r:id="rId2" imgW="1028700" imgH="139700" progId="Equation.3">
                  <p:embed/>
                  <p:pic>
                    <p:nvPicPr>
                      <p:cNvPr id="0" name="图片 3077"/>
                      <p:cNvPicPr/>
                      <p:nvPr/>
                    </p:nvPicPr>
                    <p:blipFill>
                      <a:blip r:embed="rId3">
                        <a:clrChange>
                          <a:clrFrom>
                            <a:srgbClr val="000000"/>
                          </a:clrFrom>
                          <a:clrTo>
                            <a:srgbClr val="0000CC"/>
                          </a:clrTo>
                        </a:clrChange>
                      </a:blip>
                      <a:stretch>
                        <a:fillRect/>
                      </a:stretch>
                    </p:blipFill>
                    <p:spPr>
                      <a:xfrm>
                        <a:off x="3635375" y="5157788"/>
                        <a:ext cx="2751138" cy="668337"/>
                      </a:xfrm>
                      <a:prstGeom prst="rect">
                        <a:avLst/>
                      </a:prstGeom>
                      <a:noFill/>
                      <a:ln w="38100">
                        <a:noFill/>
                        <a:miter/>
                      </a:ln>
                    </p:spPr>
                  </p:pic>
                </p:oleObj>
              </mc:Fallback>
            </mc:AlternateContent>
          </a:graphicData>
        </a:graphic>
      </p:graphicFrame>
      <p:sp>
        <p:nvSpPr>
          <p:cNvPr id="25625" name="Text Box 39"/>
          <p:cNvSpPr txBox="1"/>
          <p:nvPr/>
        </p:nvSpPr>
        <p:spPr>
          <a:xfrm>
            <a:off x="1187450" y="5949950"/>
            <a:ext cx="7345363"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zh-CN" altLang="en-US" sz="2000" b="1" dirty="0">
                <a:latin typeface="楷体_GB2312" pitchFamily="49" charset="-122"/>
                <a:ea typeface="楷体_GB2312" pitchFamily="49" charset="-122"/>
              </a:rPr>
              <a:t>图 </a:t>
            </a:r>
            <a:r>
              <a:rPr lang="en-US" altLang="zh-CN" sz="2000" b="1" dirty="0">
                <a:latin typeface="Times New Roman" panose="02020603050405020304" pitchFamily="18" charset="0"/>
                <a:ea typeface="楷体_GB2312" pitchFamily="49" charset="-122"/>
              </a:rPr>
              <a:t>“</a:t>
            </a:r>
            <a:r>
              <a:rPr lang="zh-CN" altLang="en-US" sz="2000" b="1" dirty="0">
                <a:latin typeface="楷体_GB2312" pitchFamily="49" charset="-122"/>
                <a:ea typeface="楷体_GB2312" pitchFamily="49" charset="-122"/>
              </a:rPr>
              <a:t>异或</a:t>
            </a:r>
            <a:r>
              <a:rPr lang="zh-CN" altLang="en-US" sz="2000" b="1" dirty="0">
                <a:latin typeface="Times New Roman" panose="02020603050405020304" pitchFamily="18" charset="0"/>
                <a:ea typeface="楷体_GB2312" pitchFamily="49" charset="-122"/>
              </a:rPr>
              <a:t>”“</a:t>
            </a:r>
            <a:r>
              <a:rPr lang="zh-CN" altLang="en-US" sz="2000" b="1" dirty="0">
                <a:latin typeface="楷体_GB2312" pitchFamily="49" charset="-122"/>
                <a:ea typeface="楷体_GB2312" pitchFamily="49" charset="-122"/>
              </a:rPr>
              <a:t>同或</a:t>
            </a:r>
            <a:r>
              <a:rPr lang="zh-CN" altLang="en-US" sz="2000" b="1" dirty="0">
                <a:latin typeface="Times New Roman" panose="02020603050405020304" pitchFamily="18" charset="0"/>
                <a:ea typeface="楷体_GB2312" pitchFamily="49" charset="-122"/>
              </a:rPr>
              <a:t>”</a:t>
            </a:r>
            <a:r>
              <a:rPr lang="zh-CN" altLang="en-US" sz="2000" b="1" dirty="0">
                <a:latin typeface="楷体_GB2312" pitchFamily="49" charset="-122"/>
                <a:ea typeface="楷体_GB2312" pitchFamily="49" charset="-122"/>
              </a:rPr>
              <a:t>复合逻辑的图形符号和运算符号</a:t>
            </a:r>
            <a:endParaRPr lang="zh-CN" altLang="en-US" sz="2000" b="1" dirty="0">
              <a:latin typeface="楷体_GB2312" pitchFamily="49" charset="-122"/>
              <a:ea typeface="楷体_GB2312" pitchFamily="49" charset="-122"/>
            </a:endParaRPr>
          </a:p>
        </p:txBody>
      </p:sp>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1349"/>
                                        </p:tgtEl>
                                        <p:attrNameLst>
                                          <p:attrName>style.visibility</p:attrName>
                                        </p:attrNameLst>
                                      </p:cBhvr>
                                      <p:to>
                                        <p:strVal val="visible"/>
                                      </p:to>
                                    </p:set>
                                    <p:animEffect transition="in" filter="blinds(horizontal)">
                                      <p:cBhvr>
                                        <p:cTn id="7" dur="500"/>
                                        <p:tgtEl>
                                          <p:spTgt spid="1413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1482" name="Group 106"/>
          <p:cNvGrpSpPr/>
          <p:nvPr/>
        </p:nvGrpSpPr>
        <p:grpSpPr>
          <a:xfrm>
            <a:off x="458788" y="1524000"/>
            <a:ext cx="7999412" cy="1049338"/>
            <a:chOff x="192" y="1164"/>
            <a:chExt cx="5039" cy="661"/>
          </a:xfrm>
        </p:grpSpPr>
        <p:sp>
          <p:nvSpPr>
            <p:cNvPr id="26675" name="Rectangle 2"/>
            <p:cNvSpPr/>
            <p:nvPr/>
          </p:nvSpPr>
          <p:spPr>
            <a:xfrm>
              <a:off x="1121" y="1212"/>
              <a:ext cx="347" cy="587"/>
            </a:xfrm>
            <a:prstGeom prst="rect">
              <a:avLst/>
            </a:prstGeom>
            <a:solidFill>
              <a:srgbClr val="FFCC99"/>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endParaRPr lang="zh-CN" altLang="en-US" sz="1800" dirty="0"/>
            </a:p>
          </p:txBody>
        </p:sp>
        <p:sp>
          <p:nvSpPr>
            <p:cNvPr id="26676" name="Line 3"/>
            <p:cNvSpPr/>
            <p:nvPr/>
          </p:nvSpPr>
          <p:spPr>
            <a:xfrm>
              <a:off x="1200" y="1506"/>
              <a:ext cx="189" cy="0"/>
            </a:xfrm>
            <a:prstGeom prst="line">
              <a:avLst/>
            </a:prstGeom>
            <a:ln w="9525" cap="flat" cmpd="sng">
              <a:solidFill>
                <a:schemeClr val="tx1"/>
              </a:solidFill>
              <a:prstDash val="solid"/>
              <a:headEnd type="none" w="med" len="med"/>
              <a:tailEnd type="none" w="med" len="med"/>
            </a:ln>
          </p:spPr>
        </p:sp>
        <p:sp>
          <p:nvSpPr>
            <p:cNvPr id="26677" name="Line 4"/>
            <p:cNvSpPr/>
            <p:nvPr/>
          </p:nvSpPr>
          <p:spPr>
            <a:xfrm rot="-5400000">
              <a:off x="1197" y="1505"/>
              <a:ext cx="195" cy="0"/>
            </a:xfrm>
            <a:prstGeom prst="line">
              <a:avLst/>
            </a:prstGeom>
            <a:ln w="9525" cap="flat" cmpd="sng">
              <a:solidFill>
                <a:schemeClr val="tx1"/>
              </a:solidFill>
              <a:prstDash val="solid"/>
              <a:headEnd type="none" w="med" len="med"/>
              <a:tailEnd type="none" w="med" len="med"/>
            </a:ln>
          </p:spPr>
        </p:sp>
        <p:sp>
          <p:nvSpPr>
            <p:cNvPr id="26678" name="Line 5"/>
            <p:cNvSpPr/>
            <p:nvPr/>
          </p:nvSpPr>
          <p:spPr>
            <a:xfrm>
              <a:off x="1468" y="1505"/>
              <a:ext cx="284" cy="0"/>
            </a:xfrm>
            <a:prstGeom prst="line">
              <a:avLst/>
            </a:prstGeom>
            <a:ln w="9525" cap="flat" cmpd="sng">
              <a:solidFill>
                <a:schemeClr val="tx1"/>
              </a:solidFill>
              <a:prstDash val="solid"/>
              <a:headEnd type="none" w="med" len="med"/>
              <a:tailEnd type="none" w="med" len="med"/>
            </a:ln>
          </p:spPr>
        </p:sp>
        <p:sp>
          <p:nvSpPr>
            <p:cNvPr id="26679" name="Line 6"/>
            <p:cNvSpPr/>
            <p:nvPr/>
          </p:nvSpPr>
          <p:spPr>
            <a:xfrm>
              <a:off x="837" y="1408"/>
              <a:ext cx="284" cy="0"/>
            </a:xfrm>
            <a:prstGeom prst="line">
              <a:avLst/>
            </a:prstGeom>
            <a:ln w="9525" cap="flat" cmpd="sng">
              <a:solidFill>
                <a:schemeClr val="tx1"/>
              </a:solidFill>
              <a:prstDash val="solid"/>
              <a:headEnd type="none" w="med" len="med"/>
              <a:tailEnd type="none" w="med" len="med"/>
            </a:ln>
          </p:spPr>
        </p:sp>
        <p:sp>
          <p:nvSpPr>
            <p:cNvPr id="26680" name="Line 7"/>
            <p:cNvSpPr/>
            <p:nvPr/>
          </p:nvSpPr>
          <p:spPr>
            <a:xfrm>
              <a:off x="837" y="1603"/>
              <a:ext cx="284" cy="0"/>
            </a:xfrm>
            <a:prstGeom prst="line">
              <a:avLst/>
            </a:prstGeom>
            <a:ln w="9525" cap="flat" cmpd="sng">
              <a:solidFill>
                <a:schemeClr val="tx1"/>
              </a:solidFill>
              <a:prstDash val="solid"/>
              <a:headEnd type="none" w="med" len="med"/>
              <a:tailEnd type="none" w="med" len="med"/>
            </a:ln>
          </p:spPr>
        </p:sp>
        <p:sp>
          <p:nvSpPr>
            <p:cNvPr id="26681" name="Text Box 8"/>
            <p:cNvSpPr txBox="1"/>
            <p:nvPr/>
          </p:nvSpPr>
          <p:spPr>
            <a:xfrm>
              <a:off x="679" y="1277"/>
              <a:ext cx="268"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A</a:t>
              </a:r>
              <a:endParaRPr lang="en-US" altLang="zh-CN" sz="1800" dirty="0">
                <a:latin typeface="Times New Roman" panose="02020603050405020304" pitchFamily="18" charset="0"/>
              </a:endParaRPr>
            </a:p>
          </p:txBody>
        </p:sp>
        <p:sp>
          <p:nvSpPr>
            <p:cNvPr id="26682" name="Text Box 9"/>
            <p:cNvSpPr txBox="1"/>
            <p:nvPr/>
          </p:nvSpPr>
          <p:spPr>
            <a:xfrm>
              <a:off x="679" y="1537"/>
              <a:ext cx="268"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B</a:t>
              </a:r>
              <a:endParaRPr lang="en-US" altLang="zh-CN" sz="1800" dirty="0">
                <a:latin typeface="Times New Roman" panose="02020603050405020304" pitchFamily="18" charset="0"/>
              </a:endParaRPr>
            </a:p>
          </p:txBody>
        </p:sp>
        <p:sp>
          <p:nvSpPr>
            <p:cNvPr id="26683" name="Text Box 10"/>
            <p:cNvSpPr txBox="1"/>
            <p:nvPr/>
          </p:nvSpPr>
          <p:spPr>
            <a:xfrm>
              <a:off x="1753" y="1407"/>
              <a:ext cx="236"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Y</a:t>
              </a:r>
              <a:endParaRPr lang="en-US" altLang="zh-CN" sz="1800" dirty="0">
                <a:latin typeface="Times New Roman" panose="02020603050405020304" pitchFamily="18" charset="0"/>
              </a:endParaRPr>
            </a:p>
          </p:txBody>
        </p:sp>
        <p:sp>
          <p:nvSpPr>
            <p:cNvPr id="26684" name="Line 37"/>
            <p:cNvSpPr/>
            <p:nvPr/>
          </p:nvSpPr>
          <p:spPr>
            <a:xfrm>
              <a:off x="3030" y="1471"/>
              <a:ext cx="284" cy="0"/>
            </a:xfrm>
            <a:prstGeom prst="line">
              <a:avLst/>
            </a:prstGeom>
            <a:ln w="9525" cap="flat" cmpd="sng">
              <a:solidFill>
                <a:schemeClr val="tx1"/>
              </a:solidFill>
              <a:prstDash val="solid"/>
              <a:headEnd type="none" w="med" len="med"/>
              <a:tailEnd type="none" w="med" len="med"/>
            </a:ln>
          </p:spPr>
        </p:sp>
        <p:sp>
          <p:nvSpPr>
            <p:cNvPr id="26685" name="Line 38"/>
            <p:cNvSpPr/>
            <p:nvPr/>
          </p:nvSpPr>
          <p:spPr>
            <a:xfrm>
              <a:off x="2380" y="1374"/>
              <a:ext cx="284" cy="0"/>
            </a:xfrm>
            <a:prstGeom prst="line">
              <a:avLst/>
            </a:prstGeom>
            <a:ln w="9525" cap="flat" cmpd="sng">
              <a:solidFill>
                <a:schemeClr val="tx1"/>
              </a:solidFill>
              <a:prstDash val="solid"/>
              <a:headEnd type="none" w="med" len="med"/>
              <a:tailEnd type="none" w="med" len="med"/>
            </a:ln>
          </p:spPr>
        </p:sp>
        <p:sp>
          <p:nvSpPr>
            <p:cNvPr id="26686" name="Line 39"/>
            <p:cNvSpPr/>
            <p:nvPr/>
          </p:nvSpPr>
          <p:spPr>
            <a:xfrm>
              <a:off x="2380" y="1569"/>
              <a:ext cx="284" cy="0"/>
            </a:xfrm>
            <a:prstGeom prst="line">
              <a:avLst/>
            </a:prstGeom>
            <a:ln w="9525" cap="flat" cmpd="sng">
              <a:solidFill>
                <a:schemeClr val="tx1"/>
              </a:solidFill>
              <a:prstDash val="solid"/>
              <a:headEnd type="none" w="med" len="med"/>
              <a:tailEnd type="none" w="med" len="med"/>
            </a:ln>
          </p:spPr>
        </p:sp>
        <p:sp>
          <p:nvSpPr>
            <p:cNvPr id="26687" name="Text Box 40"/>
            <p:cNvSpPr txBox="1"/>
            <p:nvPr/>
          </p:nvSpPr>
          <p:spPr>
            <a:xfrm>
              <a:off x="2160" y="1243"/>
              <a:ext cx="268"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A</a:t>
              </a:r>
              <a:endParaRPr lang="en-US" altLang="zh-CN" sz="1800" dirty="0">
                <a:latin typeface="Times New Roman" panose="02020603050405020304" pitchFamily="18" charset="0"/>
              </a:endParaRPr>
            </a:p>
          </p:txBody>
        </p:sp>
        <p:sp>
          <p:nvSpPr>
            <p:cNvPr id="26688" name="Text Box 41"/>
            <p:cNvSpPr txBox="1"/>
            <p:nvPr/>
          </p:nvSpPr>
          <p:spPr>
            <a:xfrm>
              <a:off x="2160" y="1503"/>
              <a:ext cx="268"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B</a:t>
              </a:r>
              <a:endParaRPr lang="en-US" altLang="zh-CN" sz="1800" dirty="0">
                <a:latin typeface="Times New Roman" panose="02020603050405020304" pitchFamily="18" charset="0"/>
              </a:endParaRPr>
            </a:p>
          </p:txBody>
        </p:sp>
        <p:sp>
          <p:nvSpPr>
            <p:cNvPr id="26689" name="Text Box 42"/>
            <p:cNvSpPr txBox="1"/>
            <p:nvPr/>
          </p:nvSpPr>
          <p:spPr>
            <a:xfrm>
              <a:off x="3315" y="1373"/>
              <a:ext cx="236"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Y</a:t>
              </a:r>
              <a:endParaRPr lang="en-US" altLang="zh-CN" sz="1800" dirty="0">
                <a:latin typeface="Times New Roman" panose="02020603050405020304" pitchFamily="18" charset="0"/>
              </a:endParaRPr>
            </a:p>
          </p:txBody>
        </p:sp>
        <p:sp>
          <p:nvSpPr>
            <p:cNvPr id="26690" name="AutoShape 43"/>
            <p:cNvSpPr/>
            <p:nvPr/>
          </p:nvSpPr>
          <p:spPr>
            <a:xfrm rot="10800000">
              <a:off x="2509" y="1212"/>
              <a:ext cx="521" cy="540"/>
            </a:xfrm>
            <a:prstGeom prst="moon">
              <a:avLst>
                <a:gd name="adj" fmla="val 66750"/>
              </a:avLst>
            </a:prstGeom>
            <a:solidFill>
              <a:srgbClr val="FF99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endParaRPr lang="zh-CN" altLang="en-US" sz="1800" dirty="0"/>
            </a:p>
          </p:txBody>
        </p:sp>
        <p:sp>
          <p:nvSpPr>
            <p:cNvPr id="26691" name="Rectangle 59"/>
            <p:cNvSpPr/>
            <p:nvPr/>
          </p:nvSpPr>
          <p:spPr>
            <a:xfrm>
              <a:off x="4363" y="1178"/>
              <a:ext cx="347" cy="587"/>
            </a:xfrm>
            <a:prstGeom prst="rect">
              <a:avLst/>
            </a:prstGeom>
            <a:solidFill>
              <a:srgbClr val="CC99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endParaRPr lang="zh-CN" altLang="en-US" sz="1800" dirty="0"/>
            </a:p>
          </p:txBody>
        </p:sp>
        <p:sp>
          <p:nvSpPr>
            <p:cNvPr id="26692" name="Line 60"/>
            <p:cNvSpPr/>
            <p:nvPr/>
          </p:nvSpPr>
          <p:spPr>
            <a:xfrm>
              <a:off x="4710" y="1471"/>
              <a:ext cx="284" cy="0"/>
            </a:xfrm>
            <a:prstGeom prst="line">
              <a:avLst/>
            </a:prstGeom>
            <a:ln w="9525" cap="flat" cmpd="sng">
              <a:solidFill>
                <a:schemeClr val="tx1"/>
              </a:solidFill>
              <a:prstDash val="solid"/>
              <a:headEnd type="none" w="med" len="med"/>
              <a:tailEnd type="none" w="med" len="med"/>
            </a:ln>
          </p:spPr>
        </p:sp>
        <p:sp>
          <p:nvSpPr>
            <p:cNvPr id="26693" name="Line 61"/>
            <p:cNvSpPr/>
            <p:nvPr/>
          </p:nvSpPr>
          <p:spPr>
            <a:xfrm>
              <a:off x="4079" y="1374"/>
              <a:ext cx="284" cy="0"/>
            </a:xfrm>
            <a:prstGeom prst="line">
              <a:avLst/>
            </a:prstGeom>
            <a:ln w="9525" cap="flat" cmpd="sng">
              <a:solidFill>
                <a:schemeClr val="tx1"/>
              </a:solidFill>
              <a:prstDash val="solid"/>
              <a:headEnd type="none" w="med" len="med"/>
              <a:tailEnd type="none" w="med" len="med"/>
            </a:ln>
          </p:spPr>
        </p:sp>
        <p:sp>
          <p:nvSpPr>
            <p:cNvPr id="26694" name="Line 62"/>
            <p:cNvSpPr/>
            <p:nvPr/>
          </p:nvSpPr>
          <p:spPr>
            <a:xfrm>
              <a:off x="4079" y="1569"/>
              <a:ext cx="284" cy="0"/>
            </a:xfrm>
            <a:prstGeom prst="line">
              <a:avLst/>
            </a:prstGeom>
            <a:ln w="9525" cap="flat" cmpd="sng">
              <a:solidFill>
                <a:schemeClr val="tx1"/>
              </a:solidFill>
              <a:prstDash val="solid"/>
              <a:headEnd type="none" w="med" len="med"/>
              <a:tailEnd type="none" w="med" len="med"/>
            </a:ln>
          </p:spPr>
        </p:sp>
        <p:sp>
          <p:nvSpPr>
            <p:cNvPr id="26695" name="Text Box 63"/>
            <p:cNvSpPr txBox="1"/>
            <p:nvPr/>
          </p:nvSpPr>
          <p:spPr>
            <a:xfrm>
              <a:off x="3921" y="1243"/>
              <a:ext cx="268"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A</a:t>
              </a:r>
              <a:endParaRPr lang="en-US" altLang="zh-CN" sz="1800" dirty="0">
                <a:latin typeface="Times New Roman" panose="02020603050405020304" pitchFamily="18" charset="0"/>
              </a:endParaRPr>
            </a:p>
          </p:txBody>
        </p:sp>
        <p:sp>
          <p:nvSpPr>
            <p:cNvPr id="26696" name="Text Box 64"/>
            <p:cNvSpPr txBox="1"/>
            <p:nvPr/>
          </p:nvSpPr>
          <p:spPr>
            <a:xfrm>
              <a:off x="3921" y="1503"/>
              <a:ext cx="268"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B</a:t>
              </a:r>
              <a:endParaRPr lang="en-US" altLang="zh-CN" sz="1800" dirty="0">
                <a:latin typeface="Times New Roman" panose="02020603050405020304" pitchFamily="18" charset="0"/>
              </a:endParaRPr>
            </a:p>
          </p:txBody>
        </p:sp>
        <p:sp>
          <p:nvSpPr>
            <p:cNvPr id="26697" name="Text Box 65"/>
            <p:cNvSpPr txBox="1"/>
            <p:nvPr/>
          </p:nvSpPr>
          <p:spPr>
            <a:xfrm>
              <a:off x="4995" y="1373"/>
              <a:ext cx="236"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Y</a:t>
              </a:r>
              <a:endParaRPr lang="en-US" altLang="zh-CN" sz="1800" dirty="0">
                <a:latin typeface="Times New Roman" panose="02020603050405020304" pitchFamily="18" charset="0"/>
              </a:endParaRPr>
            </a:p>
          </p:txBody>
        </p:sp>
        <p:sp>
          <p:nvSpPr>
            <p:cNvPr id="26698" name="Text Box 66"/>
            <p:cNvSpPr txBox="1"/>
            <p:nvPr/>
          </p:nvSpPr>
          <p:spPr>
            <a:xfrm>
              <a:off x="4416" y="1164"/>
              <a:ext cx="360"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zh-CN" altLang="en-US" sz="1800" dirty="0">
                  <a:latin typeface="Times New Roman" panose="02020603050405020304" pitchFamily="18" charset="0"/>
                  <a:sym typeface="Symbol" panose="05050102010706020507" pitchFamily="18" charset="2"/>
                </a:rPr>
                <a:t>1</a:t>
              </a:r>
              <a:endParaRPr lang="zh-CN" altLang="en-US" sz="1800" dirty="0">
                <a:latin typeface="Times New Roman" panose="02020603050405020304" pitchFamily="18" charset="0"/>
              </a:endParaRPr>
            </a:p>
          </p:txBody>
        </p:sp>
        <p:sp>
          <p:nvSpPr>
            <p:cNvPr id="26699" name="Text Box 67"/>
            <p:cNvSpPr txBox="1"/>
            <p:nvPr/>
          </p:nvSpPr>
          <p:spPr>
            <a:xfrm>
              <a:off x="192" y="1408"/>
              <a:ext cx="680"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zh-CN" altLang="en-US" sz="1800" b="1" dirty="0">
                  <a:solidFill>
                    <a:schemeClr val="hlink"/>
                  </a:solidFill>
                  <a:latin typeface="Times New Roman" panose="02020603050405020304" pitchFamily="18" charset="0"/>
                </a:rPr>
                <a:t>或门</a:t>
              </a:r>
              <a:endParaRPr lang="zh-CN" altLang="en-US" sz="1800" b="1" dirty="0">
                <a:solidFill>
                  <a:schemeClr val="hlink"/>
                </a:solidFill>
                <a:latin typeface="Times New Roman" panose="02020603050405020304" pitchFamily="18" charset="0"/>
              </a:endParaRPr>
            </a:p>
          </p:txBody>
        </p:sp>
      </p:grpSp>
      <p:grpSp>
        <p:nvGrpSpPr>
          <p:cNvPr id="101483" name="Group 107"/>
          <p:cNvGrpSpPr/>
          <p:nvPr/>
        </p:nvGrpSpPr>
        <p:grpSpPr>
          <a:xfrm>
            <a:off x="457200" y="2895600"/>
            <a:ext cx="8088313" cy="1096963"/>
            <a:chOff x="136" y="1932"/>
            <a:chExt cx="5095" cy="691"/>
          </a:xfrm>
        </p:grpSpPr>
        <p:sp>
          <p:nvSpPr>
            <p:cNvPr id="26652" name="Rectangle 11"/>
            <p:cNvSpPr/>
            <p:nvPr/>
          </p:nvSpPr>
          <p:spPr>
            <a:xfrm>
              <a:off x="1122" y="1992"/>
              <a:ext cx="347" cy="587"/>
            </a:xfrm>
            <a:prstGeom prst="rect">
              <a:avLst/>
            </a:prstGeom>
            <a:solidFill>
              <a:srgbClr val="00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endParaRPr lang="zh-CN" altLang="en-US" sz="1800" dirty="0"/>
            </a:p>
          </p:txBody>
        </p:sp>
        <p:sp>
          <p:nvSpPr>
            <p:cNvPr id="26653" name="Line 12"/>
            <p:cNvSpPr/>
            <p:nvPr/>
          </p:nvSpPr>
          <p:spPr>
            <a:xfrm>
              <a:off x="1469" y="2285"/>
              <a:ext cx="284" cy="1"/>
            </a:xfrm>
            <a:prstGeom prst="line">
              <a:avLst/>
            </a:prstGeom>
            <a:ln w="9525" cap="flat" cmpd="sng">
              <a:solidFill>
                <a:schemeClr val="tx1"/>
              </a:solidFill>
              <a:prstDash val="solid"/>
              <a:headEnd type="none" w="med" len="med"/>
              <a:tailEnd type="none" w="med" len="med"/>
            </a:ln>
          </p:spPr>
        </p:sp>
        <p:sp>
          <p:nvSpPr>
            <p:cNvPr id="26654" name="Line 13"/>
            <p:cNvSpPr/>
            <p:nvPr/>
          </p:nvSpPr>
          <p:spPr>
            <a:xfrm>
              <a:off x="838" y="2188"/>
              <a:ext cx="284" cy="1"/>
            </a:xfrm>
            <a:prstGeom prst="line">
              <a:avLst/>
            </a:prstGeom>
            <a:ln w="9525" cap="flat" cmpd="sng">
              <a:solidFill>
                <a:schemeClr val="tx1"/>
              </a:solidFill>
              <a:prstDash val="solid"/>
              <a:headEnd type="none" w="med" len="med"/>
              <a:tailEnd type="none" w="med" len="med"/>
            </a:ln>
          </p:spPr>
        </p:sp>
        <p:sp>
          <p:nvSpPr>
            <p:cNvPr id="26655" name="Line 14"/>
            <p:cNvSpPr/>
            <p:nvPr/>
          </p:nvSpPr>
          <p:spPr>
            <a:xfrm>
              <a:off x="838" y="2383"/>
              <a:ext cx="284" cy="1"/>
            </a:xfrm>
            <a:prstGeom prst="line">
              <a:avLst/>
            </a:prstGeom>
            <a:ln w="9525" cap="flat" cmpd="sng">
              <a:solidFill>
                <a:schemeClr val="tx1"/>
              </a:solidFill>
              <a:prstDash val="solid"/>
              <a:headEnd type="none" w="med" len="med"/>
              <a:tailEnd type="none" w="med" len="med"/>
            </a:ln>
          </p:spPr>
        </p:sp>
        <p:sp>
          <p:nvSpPr>
            <p:cNvPr id="26656" name="Text Box 15"/>
            <p:cNvSpPr txBox="1"/>
            <p:nvPr/>
          </p:nvSpPr>
          <p:spPr>
            <a:xfrm>
              <a:off x="680" y="2057"/>
              <a:ext cx="268"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A</a:t>
              </a:r>
              <a:endParaRPr lang="en-US" altLang="zh-CN" sz="1800" dirty="0">
                <a:latin typeface="Times New Roman" panose="02020603050405020304" pitchFamily="18" charset="0"/>
              </a:endParaRPr>
            </a:p>
          </p:txBody>
        </p:sp>
        <p:sp>
          <p:nvSpPr>
            <p:cNvPr id="26657" name="Text Box 16"/>
            <p:cNvSpPr txBox="1"/>
            <p:nvPr/>
          </p:nvSpPr>
          <p:spPr>
            <a:xfrm>
              <a:off x="680" y="2318"/>
              <a:ext cx="268"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B</a:t>
              </a:r>
              <a:endParaRPr lang="en-US" altLang="zh-CN" sz="1800" dirty="0">
                <a:latin typeface="Times New Roman" panose="02020603050405020304" pitchFamily="18" charset="0"/>
              </a:endParaRPr>
            </a:p>
          </p:txBody>
        </p:sp>
        <p:sp>
          <p:nvSpPr>
            <p:cNvPr id="26658" name="Text Box 17"/>
            <p:cNvSpPr txBox="1"/>
            <p:nvPr/>
          </p:nvSpPr>
          <p:spPr>
            <a:xfrm>
              <a:off x="1754" y="2188"/>
              <a:ext cx="236"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Y</a:t>
              </a:r>
              <a:endParaRPr lang="en-US" altLang="zh-CN" sz="1800" dirty="0">
                <a:latin typeface="Times New Roman" panose="02020603050405020304" pitchFamily="18" charset="0"/>
              </a:endParaRPr>
            </a:p>
          </p:txBody>
        </p:sp>
        <p:sp>
          <p:nvSpPr>
            <p:cNvPr id="26659" name="Line 30"/>
            <p:cNvSpPr/>
            <p:nvPr/>
          </p:nvSpPr>
          <p:spPr>
            <a:xfrm>
              <a:off x="3030" y="2302"/>
              <a:ext cx="284" cy="0"/>
            </a:xfrm>
            <a:prstGeom prst="line">
              <a:avLst/>
            </a:prstGeom>
            <a:ln w="9525" cap="flat" cmpd="sng">
              <a:solidFill>
                <a:schemeClr val="tx1"/>
              </a:solidFill>
              <a:prstDash val="solid"/>
              <a:headEnd type="none" w="med" len="med"/>
              <a:tailEnd type="none" w="med" len="med"/>
            </a:ln>
          </p:spPr>
        </p:sp>
        <p:sp>
          <p:nvSpPr>
            <p:cNvPr id="26660" name="Line 31"/>
            <p:cNvSpPr/>
            <p:nvPr/>
          </p:nvSpPr>
          <p:spPr>
            <a:xfrm>
              <a:off x="2399" y="2205"/>
              <a:ext cx="284" cy="0"/>
            </a:xfrm>
            <a:prstGeom prst="line">
              <a:avLst/>
            </a:prstGeom>
            <a:ln w="9525" cap="flat" cmpd="sng">
              <a:solidFill>
                <a:schemeClr val="tx1"/>
              </a:solidFill>
              <a:prstDash val="solid"/>
              <a:headEnd type="none" w="med" len="med"/>
              <a:tailEnd type="none" w="med" len="med"/>
            </a:ln>
          </p:spPr>
        </p:sp>
        <p:sp>
          <p:nvSpPr>
            <p:cNvPr id="26661" name="Line 32"/>
            <p:cNvSpPr/>
            <p:nvPr/>
          </p:nvSpPr>
          <p:spPr>
            <a:xfrm>
              <a:off x="2399" y="2400"/>
              <a:ext cx="284" cy="0"/>
            </a:xfrm>
            <a:prstGeom prst="line">
              <a:avLst/>
            </a:prstGeom>
            <a:ln w="9525" cap="flat" cmpd="sng">
              <a:solidFill>
                <a:schemeClr val="tx1"/>
              </a:solidFill>
              <a:prstDash val="solid"/>
              <a:headEnd type="none" w="med" len="med"/>
              <a:tailEnd type="none" w="med" len="med"/>
            </a:ln>
          </p:spPr>
        </p:sp>
        <p:sp>
          <p:nvSpPr>
            <p:cNvPr id="26662" name="Text Box 33"/>
            <p:cNvSpPr txBox="1"/>
            <p:nvPr/>
          </p:nvSpPr>
          <p:spPr>
            <a:xfrm>
              <a:off x="2180" y="2074"/>
              <a:ext cx="268"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A</a:t>
              </a:r>
              <a:endParaRPr lang="en-US" altLang="zh-CN" sz="1800" dirty="0">
                <a:latin typeface="Times New Roman" panose="02020603050405020304" pitchFamily="18" charset="0"/>
              </a:endParaRPr>
            </a:p>
          </p:txBody>
        </p:sp>
        <p:sp>
          <p:nvSpPr>
            <p:cNvPr id="26663" name="Text Box 34"/>
            <p:cNvSpPr txBox="1"/>
            <p:nvPr/>
          </p:nvSpPr>
          <p:spPr>
            <a:xfrm>
              <a:off x="2180" y="2335"/>
              <a:ext cx="268"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B</a:t>
              </a:r>
              <a:endParaRPr lang="en-US" altLang="zh-CN" sz="1800" dirty="0">
                <a:latin typeface="Times New Roman" panose="02020603050405020304" pitchFamily="18" charset="0"/>
              </a:endParaRPr>
            </a:p>
          </p:txBody>
        </p:sp>
        <p:sp>
          <p:nvSpPr>
            <p:cNvPr id="26664" name="Text Box 35"/>
            <p:cNvSpPr txBox="1"/>
            <p:nvPr/>
          </p:nvSpPr>
          <p:spPr>
            <a:xfrm>
              <a:off x="3315" y="2205"/>
              <a:ext cx="236"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Y</a:t>
              </a:r>
              <a:endParaRPr lang="en-US" altLang="zh-CN" sz="1800" dirty="0">
                <a:latin typeface="Times New Roman" panose="02020603050405020304" pitchFamily="18" charset="0"/>
              </a:endParaRPr>
            </a:p>
          </p:txBody>
        </p:sp>
        <p:sp>
          <p:nvSpPr>
            <p:cNvPr id="26665" name="AutoShape 36"/>
            <p:cNvSpPr/>
            <p:nvPr/>
          </p:nvSpPr>
          <p:spPr>
            <a:xfrm>
              <a:off x="2683" y="2074"/>
              <a:ext cx="347" cy="419"/>
            </a:xfrm>
            <a:prstGeom prst="flowChartDelay">
              <a:avLst/>
            </a:prstGeom>
            <a:solidFill>
              <a:srgbClr val="FFFF99"/>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endParaRPr lang="zh-CN" altLang="en-US" sz="1800" dirty="0"/>
            </a:p>
          </p:txBody>
        </p:sp>
        <p:sp>
          <p:nvSpPr>
            <p:cNvPr id="26666" name="Rectangle 51"/>
            <p:cNvSpPr/>
            <p:nvPr/>
          </p:nvSpPr>
          <p:spPr>
            <a:xfrm>
              <a:off x="4363" y="1933"/>
              <a:ext cx="347" cy="587"/>
            </a:xfrm>
            <a:prstGeom prst="rect">
              <a:avLst/>
            </a:prstGeom>
            <a:solidFill>
              <a:srgbClr val="FF99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endParaRPr lang="zh-CN" altLang="en-US" sz="1800" dirty="0"/>
            </a:p>
          </p:txBody>
        </p:sp>
        <p:sp>
          <p:nvSpPr>
            <p:cNvPr id="26667" name="Line 52"/>
            <p:cNvSpPr/>
            <p:nvPr/>
          </p:nvSpPr>
          <p:spPr>
            <a:xfrm>
              <a:off x="4710" y="2226"/>
              <a:ext cx="284" cy="0"/>
            </a:xfrm>
            <a:prstGeom prst="line">
              <a:avLst/>
            </a:prstGeom>
            <a:ln w="9525" cap="flat" cmpd="sng">
              <a:solidFill>
                <a:schemeClr val="tx1"/>
              </a:solidFill>
              <a:prstDash val="solid"/>
              <a:headEnd type="none" w="med" len="med"/>
              <a:tailEnd type="none" w="med" len="med"/>
            </a:ln>
          </p:spPr>
        </p:sp>
        <p:sp>
          <p:nvSpPr>
            <p:cNvPr id="26668" name="Line 53"/>
            <p:cNvSpPr/>
            <p:nvPr/>
          </p:nvSpPr>
          <p:spPr>
            <a:xfrm>
              <a:off x="4079" y="2129"/>
              <a:ext cx="284" cy="0"/>
            </a:xfrm>
            <a:prstGeom prst="line">
              <a:avLst/>
            </a:prstGeom>
            <a:ln w="9525" cap="flat" cmpd="sng">
              <a:solidFill>
                <a:schemeClr val="tx1"/>
              </a:solidFill>
              <a:prstDash val="solid"/>
              <a:headEnd type="none" w="med" len="med"/>
              <a:tailEnd type="none" w="med" len="med"/>
            </a:ln>
          </p:spPr>
        </p:sp>
        <p:sp>
          <p:nvSpPr>
            <p:cNvPr id="26669" name="Line 54"/>
            <p:cNvSpPr/>
            <p:nvPr/>
          </p:nvSpPr>
          <p:spPr>
            <a:xfrm>
              <a:off x="4079" y="2324"/>
              <a:ext cx="284" cy="0"/>
            </a:xfrm>
            <a:prstGeom prst="line">
              <a:avLst/>
            </a:prstGeom>
            <a:ln w="9525" cap="flat" cmpd="sng">
              <a:solidFill>
                <a:schemeClr val="tx1"/>
              </a:solidFill>
              <a:prstDash val="solid"/>
              <a:headEnd type="none" w="med" len="med"/>
              <a:tailEnd type="none" w="med" len="med"/>
            </a:ln>
          </p:spPr>
        </p:sp>
        <p:sp>
          <p:nvSpPr>
            <p:cNvPr id="26670" name="Text Box 55"/>
            <p:cNvSpPr txBox="1"/>
            <p:nvPr/>
          </p:nvSpPr>
          <p:spPr>
            <a:xfrm>
              <a:off x="3921" y="1998"/>
              <a:ext cx="268"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A</a:t>
              </a:r>
              <a:endParaRPr lang="en-US" altLang="zh-CN" sz="1800" dirty="0">
                <a:latin typeface="Times New Roman" panose="02020603050405020304" pitchFamily="18" charset="0"/>
              </a:endParaRPr>
            </a:p>
          </p:txBody>
        </p:sp>
        <p:sp>
          <p:nvSpPr>
            <p:cNvPr id="26671" name="Text Box 56"/>
            <p:cNvSpPr txBox="1"/>
            <p:nvPr/>
          </p:nvSpPr>
          <p:spPr>
            <a:xfrm>
              <a:off x="3921" y="2259"/>
              <a:ext cx="268"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B</a:t>
              </a:r>
              <a:endParaRPr lang="en-US" altLang="zh-CN" sz="1800" dirty="0">
                <a:latin typeface="Times New Roman" panose="02020603050405020304" pitchFamily="18" charset="0"/>
              </a:endParaRPr>
            </a:p>
          </p:txBody>
        </p:sp>
        <p:sp>
          <p:nvSpPr>
            <p:cNvPr id="26672" name="Text Box 57"/>
            <p:cNvSpPr txBox="1"/>
            <p:nvPr/>
          </p:nvSpPr>
          <p:spPr>
            <a:xfrm>
              <a:off x="4995" y="2129"/>
              <a:ext cx="236"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Y</a:t>
              </a:r>
              <a:endParaRPr lang="en-US" altLang="zh-CN" sz="1800" dirty="0">
                <a:latin typeface="Times New Roman" panose="02020603050405020304" pitchFamily="18" charset="0"/>
              </a:endParaRPr>
            </a:p>
          </p:txBody>
        </p:sp>
        <p:sp>
          <p:nvSpPr>
            <p:cNvPr id="26673" name="Text Box 58"/>
            <p:cNvSpPr txBox="1"/>
            <p:nvPr/>
          </p:nvSpPr>
          <p:spPr>
            <a:xfrm>
              <a:off x="4416" y="1932"/>
              <a:ext cx="268"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zh-CN" altLang="en-US" sz="1800" dirty="0">
                  <a:latin typeface="Times New Roman" panose="02020603050405020304" pitchFamily="18" charset="0"/>
                </a:rPr>
                <a:t>&amp;</a:t>
              </a:r>
              <a:endParaRPr lang="zh-CN" altLang="en-US" sz="1800" dirty="0">
                <a:latin typeface="Times New Roman" panose="02020603050405020304" pitchFamily="18" charset="0"/>
              </a:endParaRPr>
            </a:p>
          </p:txBody>
        </p:sp>
        <p:sp>
          <p:nvSpPr>
            <p:cNvPr id="26674" name="Text Box 68"/>
            <p:cNvSpPr txBox="1"/>
            <p:nvPr/>
          </p:nvSpPr>
          <p:spPr>
            <a:xfrm>
              <a:off x="136" y="2188"/>
              <a:ext cx="680"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zh-CN" altLang="en-US" sz="1800" b="1" dirty="0">
                  <a:solidFill>
                    <a:schemeClr val="hlink"/>
                  </a:solidFill>
                  <a:latin typeface="Times New Roman" panose="02020603050405020304" pitchFamily="18" charset="0"/>
                </a:rPr>
                <a:t>与门</a:t>
              </a:r>
              <a:endParaRPr lang="zh-CN" altLang="en-US" sz="1800" b="1" dirty="0">
                <a:solidFill>
                  <a:schemeClr val="hlink"/>
                </a:solidFill>
                <a:latin typeface="Times New Roman" panose="02020603050405020304" pitchFamily="18" charset="0"/>
              </a:endParaRPr>
            </a:p>
          </p:txBody>
        </p:sp>
      </p:grpSp>
      <p:grpSp>
        <p:nvGrpSpPr>
          <p:cNvPr id="101484" name="Group 108"/>
          <p:cNvGrpSpPr/>
          <p:nvPr/>
        </p:nvGrpSpPr>
        <p:grpSpPr>
          <a:xfrm>
            <a:off x="457200" y="4419600"/>
            <a:ext cx="8175625" cy="1063625"/>
            <a:chOff x="144" y="2690"/>
            <a:chExt cx="5150" cy="670"/>
          </a:xfrm>
        </p:grpSpPr>
        <p:sp>
          <p:nvSpPr>
            <p:cNvPr id="26632" name="Rectangle 18"/>
            <p:cNvSpPr/>
            <p:nvPr/>
          </p:nvSpPr>
          <p:spPr>
            <a:xfrm>
              <a:off x="1090" y="2774"/>
              <a:ext cx="347" cy="586"/>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endParaRPr lang="zh-CN" altLang="en-US" sz="1800" dirty="0"/>
            </a:p>
          </p:txBody>
        </p:sp>
        <p:sp>
          <p:nvSpPr>
            <p:cNvPr id="26633" name="Line 19"/>
            <p:cNvSpPr/>
            <p:nvPr/>
          </p:nvSpPr>
          <p:spPr>
            <a:xfrm>
              <a:off x="1536" y="3067"/>
              <a:ext cx="255" cy="1"/>
            </a:xfrm>
            <a:prstGeom prst="line">
              <a:avLst/>
            </a:prstGeom>
            <a:ln w="9525" cap="flat" cmpd="sng">
              <a:solidFill>
                <a:schemeClr val="tx1"/>
              </a:solidFill>
              <a:prstDash val="solid"/>
              <a:headEnd type="none" w="med" len="med"/>
              <a:tailEnd type="none" w="med" len="med"/>
            </a:ln>
          </p:spPr>
        </p:sp>
        <p:sp>
          <p:nvSpPr>
            <p:cNvPr id="26634" name="Line 20"/>
            <p:cNvSpPr/>
            <p:nvPr/>
          </p:nvSpPr>
          <p:spPr>
            <a:xfrm>
              <a:off x="806" y="3067"/>
              <a:ext cx="284" cy="1"/>
            </a:xfrm>
            <a:prstGeom prst="line">
              <a:avLst/>
            </a:prstGeom>
            <a:ln w="9525" cap="flat" cmpd="sng">
              <a:solidFill>
                <a:schemeClr val="tx1"/>
              </a:solidFill>
              <a:prstDash val="solid"/>
              <a:headEnd type="none" w="med" len="med"/>
              <a:tailEnd type="none" w="med" len="med"/>
            </a:ln>
          </p:spPr>
        </p:sp>
        <p:sp>
          <p:nvSpPr>
            <p:cNvPr id="26635" name="Text Box 21"/>
            <p:cNvSpPr txBox="1"/>
            <p:nvPr/>
          </p:nvSpPr>
          <p:spPr>
            <a:xfrm>
              <a:off x="648" y="2969"/>
              <a:ext cx="268"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A</a:t>
              </a:r>
              <a:endParaRPr lang="en-US" altLang="zh-CN" sz="1800" dirty="0">
                <a:latin typeface="Times New Roman" panose="02020603050405020304" pitchFamily="18" charset="0"/>
              </a:endParaRPr>
            </a:p>
          </p:txBody>
        </p:sp>
        <p:sp>
          <p:nvSpPr>
            <p:cNvPr id="26636" name="Text Box 22"/>
            <p:cNvSpPr txBox="1"/>
            <p:nvPr/>
          </p:nvSpPr>
          <p:spPr>
            <a:xfrm>
              <a:off x="1784" y="2969"/>
              <a:ext cx="23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Y</a:t>
              </a:r>
              <a:endParaRPr lang="en-US" altLang="zh-CN" sz="1800" dirty="0">
                <a:latin typeface="Times New Roman" panose="02020603050405020304" pitchFamily="18" charset="0"/>
              </a:endParaRPr>
            </a:p>
          </p:txBody>
        </p:sp>
        <p:sp>
          <p:nvSpPr>
            <p:cNvPr id="26637" name="Oval 23"/>
            <p:cNvSpPr/>
            <p:nvPr/>
          </p:nvSpPr>
          <p:spPr>
            <a:xfrm>
              <a:off x="1440" y="3028"/>
              <a:ext cx="76" cy="7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endParaRPr lang="zh-CN" altLang="en-US" sz="1800" dirty="0"/>
            </a:p>
          </p:txBody>
        </p:sp>
        <p:sp>
          <p:nvSpPr>
            <p:cNvPr id="26638" name="Line 24"/>
            <p:cNvSpPr/>
            <p:nvPr/>
          </p:nvSpPr>
          <p:spPr>
            <a:xfrm>
              <a:off x="3105" y="3066"/>
              <a:ext cx="255" cy="1"/>
            </a:xfrm>
            <a:prstGeom prst="line">
              <a:avLst/>
            </a:prstGeom>
            <a:ln w="9525" cap="flat" cmpd="sng">
              <a:solidFill>
                <a:schemeClr val="tx1"/>
              </a:solidFill>
              <a:prstDash val="solid"/>
              <a:headEnd type="none" w="med" len="med"/>
              <a:tailEnd type="none" w="med" len="med"/>
            </a:ln>
          </p:spPr>
        </p:sp>
        <p:sp>
          <p:nvSpPr>
            <p:cNvPr id="26639" name="Line 25"/>
            <p:cNvSpPr/>
            <p:nvPr/>
          </p:nvSpPr>
          <p:spPr>
            <a:xfrm>
              <a:off x="2352" y="3066"/>
              <a:ext cx="284" cy="1"/>
            </a:xfrm>
            <a:prstGeom prst="line">
              <a:avLst/>
            </a:prstGeom>
            <a:ln w="9525" cap="flat" cmpd="sng">
              <a:solidFill>
                <a:schemeClr val="tx1"/>
              </a:solidFill>
              <a:prstDash val="solid"/>
              <a:headEnd type="none" w="med" len="med"/>
              <a:tailEnd type="none" w="med" len="med"/>
            </a:ln>
          </p:spPr>
        </p:sp>
        <p:sp>
          <p:nvSpPr>
            <p:cNvPr id="26640" name="Text Box 26"/>
            <p:cNvSpPr txBox="1"/>
            <p:nvPr/>
          </p:nvSpPr>
          <p:spPr>
            <a:xfrm>
              <a:off x="2160" y="2923"/>
              <a:ext cx="268"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A</a:t>
              </a:r>
              <a:endParaRPr lang="en-US" altLang="zh-CN" sz="1800" dirty="0">
                <a:latin typeface="Times New Roman" panose="02020603050405020304" pitchFamily="18" charset="0"/>
              </a:endParaRPr>
            </a:p>
          </p:txBody>
        </p:sp>
        <p:sp>
          <p:nvSpPr>
            <p:cNvPr id="26641" name="Text Box 27"/>
            <p:cNvSpPr txBox="1"/>
            <p:nvPr/>
          </p:nvSpPr>
          <p:spPr>
            <a:xfrm>
              <a:off x="3377" y="2923"/>
              <a:ext cx="23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Y</a:t>
              </a:r>
              <a:endParaRPr lang="en-US" altLang="zh-CN" sz="1800" dirty="0">
                <a:latin typeface="Times New Roman" panose="02020603050405020304" pitchFamily="18" charset="0"/>
              </a:endParaRPr>
            </a:p>
          </p:txBody>
        </p:sp>
        <p:sp>
          <p:nvSpPr>
            <p:cNvPr id="26642" name="Oval 28"/>
            <p:cNvSpPr/>
            <p:nvPr/>
          </p:nvSpPr>
          <p:spPr>
            <a:xfrm>
              <a:off x="3024" y="3028"/>
              <a:ext cx="76" cy="7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endParaRPr lang="zh-CN" altLang="en-US" sz="1800" dirty="0"/>
            </a:p>
          </p:txBody>
        </p:sp>
        <p:sp>
          <p:nvSpPr>
            <p:cNvPr id="26643" name="AutoShape 29"/>
            <p:cNvSpPr/>
            <p:nvPr/>
          </p:nvSpPr>
          <p:spPr>
            <a:xfrm rot="5400000">
              <a:off x="2663" y="2872"/>
              <a:ext cx="333" cy="388"/>
            </a:xfrm>
            <a:prstGeom prst="triangle">
              <a:avLst>
                <a:gd name="adj" fmla="val 50000"/>
              </a:avLst>
            </a:prstGeom>
            <a:solidFill>
              <a:srgbClr val="CCFF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endParaRPr lang="zh-CN" altLang="en-US" sz="1800" dirty="0"/>
            </a:p>
          </p:txBody>
        </p:sp>
        <p:sp>
          <p:nvSpPr>
            <p:cNvPr id="26644" name="Rectangle 44"/>
            <p:cNvSpPr/>
            <p:nvPr/>
          </p:nvSpPr>
          <p:spPr>
            <a:xfrm>
              <a:off x="4363" y="2690"/>
              <a:ext cx="347" cy="586"/>
            </a:xfrm>
            <a:prstGeom prst="rect">
              <a:avLst/>
            </a:prstGeom>
            <a:solidFill>
              <a:srgbClr val="99C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endParaRPr lang="zh-CN" altLang="en-US" sz="1800" dirty="0"/>
            </a:p>
          </p:txBody>
        </p:sp>
        <p:sp>
          <p:nvSpPr>
            <p:cNvPr id="26645" name="Line 45"/>
            <p:cNvSpPr/>
            <p:nvPr/>
          </p:nvSpPr>
          <p:spPr>
            <a:xfrm>
              <a:off x="4800" y="2983"/>
              <a:ext cx="255" cy="1"/>
            </a:xfrm>
            <a:prstGeom prst="line">
              <a:avLst/>
            </a:prstGeom>
            <a:ln w="9525" cap="flat" cmpd="sng">
              <a:solidFill>
                <a:schemeClr val="tx1"/>
              </a:solidFill>
              <a:prstDash val="solid"/>
              <a:headEnd type="none" w="med" len="med"/>
              <a:tailEnd type="none" w="med" len="med"/>
            </a:ln>
          </p:spPr>
        </p:sp>
        <p:sp>
          <p:nvSpPr>
            <p:cNvPr id="26646" name="Line 46"/>
            <p:cNvSpPr/>
            <p:nvPr/>
          </p:nvSpPr>
          <p:spPr>
            <a:xfrm>
              <a:off x="4079" y="2983"/>
              <a:ext cx="284" cy="1"/>
            </a:xfrm>
            <a:prstGeom prst="line">
              <a:avLst/>
            </a:prstGeom>
            <a:ln w="9525" cap="flat" cmpd="sng">
              <a:solidFill>
                <a:schemeClr val="tx1"/>
              </a:solidFill>
              <a:prstDash val="solid"/>
              <a:headEnd type="none" w="med" len="med"/>
              <a:tailEnd type="none" w="med" len="med"/>
            </a:ln>
          </p:spPr>
        </p:sp>
        <p:sp>
          <p:nvSpPr>
            <p:cNvPr id="26647" name="Text Box 47"/>
            <p:cNvSpPr txBox="1"/>
            <p:nvPr/>
          </p:nvSpPr>
          <p:spPr>
            <a:xfrm>
              <a:off x="3921" y="2885"/>
              <a:ext cx="268"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A</a:t>
              </a:r>
              <a:endParaRPr lang="en-US" altLang="zh-CN" sz="1800" dirty="0">
                <a:latin typeface="Times New Roman" panose="02020603050405020304" pitchFamily="18" charset="0"/>
              </a:endParaRPr>
            </a:p>
          </p:txBody>
        </p:sp>
        <p:sp>
          <p:nvSpPr>
            <p:cNvPr id="26648" name="Text Box 48"/>
            <p:cNvSpPr txBox="1"/>
            <p:nvPr/>
          </p:nvSpPr>
          <p:spPr>
            <a:xfrm>
              <a:off x="5057" y="2885"/>
              <a:ext cx="23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Y</a:t>
              </a:r>
              <a:endParaRPr lang="en-US" altLang="zh-CN" sz="1800" dirty="0">
                <a:latin typeface="Times New Roman" panose="02020603050405020304" pitchFamily="18" charset="0"/>
              </a:endParaRPr>
            </a:p>
          </p:txBody>
        </p:sp>
        <p:sp>
          <p:nvSpPr>
            <p:cNvPr id="26649" name="Oval 49"/>
            <p:cNvSpPr/>
            <p:nvPr/>
          </p:nvSpPr>
          <p:spPr>
            <a:xfrm>
              <a:off x="4724" y="2944"/>
              <a:ext cx="76" cy="7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endParaRPr lang="zh-CN" altLang="en-US" sz="1800" dirty="0"/>
            </a:p>
          </p:txBody>
        </p:sp>
        <p:sp>
          <p:nvSpPr>
            <p:cNvPr id="26650" name="Text Box 50"/>
            <p:cNvSpPr txBox="1"/>
            <p:nvPr/>
          </p:nvSpPr>
          <p:spPr>
            <a:xfrm>
              <a:off x="4442" y="2774"/>
              <a:ext cx="189"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zh-CN" altLang="en-US" sz="1800" dirty="0">
                  <a:latin typeface="Times New Roman" panose="02020603050405020304" pitchFamily="18" charset="0"/>
                </a:rPr>
                <a:t>1</a:t>
              </a:r>
              <a:endParaRPr lang="zh-CN" altLang="en-US" sz="1800" dirty="0">
                <a:latin typeface="Times New Roman" panose="02020603050405020304" pitchFamily="18" charset="0"/>
              </a:endParaRPr>
            </a:p>
          </p:txBody>
        </p:sp>
        <p:sp>
          <p:nvSpPr>
            <p:cNvPr id="26651" name="Text Box 69"/>
            <p:cNvSpPr txBox="1"/>
            <p:nvPr/>
          </p:nvSpPr>
          <p:spPr>
            <a:xfrm>
              <a:off x="144" y="2940"/>
              <a:ext cx="680"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zh-CN" altLang="en-US" sz="1800" b="1" dirty="0">
                  <a:solidFill>
                    <a:schemeClr val="hlink"/>
                  </a:solidFill>
                  <a:latin typeface="Times New Roman" panose="02020603050405020304" pitchFamily="18" charset="0"/>
                </a:rPr>
                <a:t>非门</a:t>
              </a:r>
              <a:endParaRPr lang="zh-CN" altLang="en-US" sz="1800" b="1" dirty="0">
                <a:solidFill>
                  <a:schemeClr val="hlink"/>
                </a:solidFill>
                <a:latin typeface="Times New Roman" panose="02020603050405020304" pitchFamily="18" charset="0"/>
              </a:endParaRPr>
            </a:p>
          </p:txBody>
        </p:sp>
      </p:grpSp>
      <p:sp>
        <p:nvSpPr>
          <p:cNvPr id="26629" name="Text Box 70"/>
          <p:cNvSpPr txBox="1"/>
          <p:nvPr/>
        </p:nvSpPr>
        <p:spPr>
          <a:xfrm>
            <a:off x="838200" y="609600"/>
            <a:ext cx="1928813"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zh-CN" altLang="en-US" sz="1800" b="1" dirty="0">
                <a:solidFill>
                  <a:srgbClr val="0000FF"/>
                </a:solidFill>
                <a:latin typeface="宋体" panose="02010600030101010101" pitchFamily="2" charset="-122"/>
              </a:rPr>
              <a:t>(</a:t>
            </a:r>
            <a:r>
              <a:rPr lang="en-US" altLang="zh-CN" sz="1800" b="1" dirty="0">
                <a:solidFill>
                  <a:srgbClr val="0000FF"/>
                </a:solidFill>
                <a:latin typeface="宋体" panose="02010600030101010101" pitchFamily="2" charset="-122"/>
              </a:rPr>
              <a:t>a)</a:t>
            </a:r>
            <a:r>
              <a:rPr lang="zh-CN" altLang="zh-CN" sz="1800" b="1" dirty="0">
                <a:solidFill>
                  <a:srgbClr val="0000FF"/>
                </a:solidFill>
                <a:latin typeface="宋体" panose="02010600030101010101" pitchFamily="2" charset="-122"/>
              </a:rPr>
              <a:t>常用符号</a:t>
            </a:r>
            <a:endParaRPr lang="zh-CN" altLang="en-US" sz="1800" b="1" dirty="0">
              <a:solidFill>
                <a:srgbClr val="0000FF"/>
              </a:solidFill>
              <a:latin typeface="宋体" panose="02010600030101010101" pitchFamily="2" charset="-122"/>
            </a:endParaRPr>
          </a:p>
        </p:txBody>
      </p:sp>
      <p:sp>
        <p:nvSpPr>
          <p:cNvPr id="26630" name="Text Box 71"/>
          <p:cNvSpPr txBox="1"/>
          <p:nvPr/>
        </p:nvSpPr>
        <p:spPr>
          <a:xfrm>
            <a:off x="3200400" y="609600"/>
            <a:ext cx="2871788"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zh-CN" altLang="en-US" sz="1800" b="1" dirty="0">
                <a:solidFill>
                  <a:srgbClr val="0000FF"/>
                </a:solidFill>
                <a:latin typeface="宋体" panose="02010600030101010101" pitchFamily="2" charset="-122"/>
              </a:rPr>
              <a:t>(</a:t>
            </a:r>
            <a:r>
              <a:rPr lang="en-US" altLang="zh-CN" sz="1800" b="1" dirty="0">
                <a:solidFill>
                  <a:srgbClr val="0000FF"/>
                </a:solidFill>
                <a:latin typeface="宋体" panose="02010600030101010101" pitchFamily="2" charset="-122"/>
              </a:rPr>
              <a:t>b)</a:t>
            </a:r>
            <a:r>
              <a:rPr lang="zh-CN" altLang="zh-CN" sz="1800" b="1" dirty="0">
                <a:solidFill>
                  <a:srgbClr val="0000FF"/>
                </a:solidFill>
                <a:latin typeface="宋体" panose="02010600030101010101" pitchFamily="2" charset="-122"/>
              </a:rPr>
              <a:t>美、日常用符号</a:t>
            </a:r>
            <a:endParaRPr lang="zh-CN" altLang="en-US" sz="1800" b="1" dirty="0">
              <a:solidFill>
                <a:srgbClr val="0000FF"/>
              </a:solidFill>
              <a:latin typeface="宋体" panose="02010600030101010101" pitchFamily="2" charset="-122"/>
            </a:endParaRPr>
          </a:p>
        </p:txBody>
      </p:sp>
      <p:sp>
        <p:nvSpPr>
          <p:cNvPr id="26631" name="Text Box 72"/>
          <p:cNvSpPr txBox="1"/>
          <p:nvPr/>
        </p:nvSpPr>
        <p:spPr>
          <a:xfrm>
            <a:off x="6400800" y="609600"/>
            <a:ext cx="1928813"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zh-CN" altLang="en-US" sz="1800" b="1" dirty="0">
                <a:solidFill>
                  <a:srgbClr val="0000FF"/>
                </a:solidFill>
                <a:latin typeface="宋体" panose="02010600030101010101" pitchFamily="2" charset="-122"/>
              </a:rPr>
              <a:t>(</a:t>
            </a:r>
            <a:r>
              <a:rPr lang="en-US" altLang="zh-CN" sz="1800" b="1" dirty="0">
                <a:solidFill>
                  <a:srgbClr val="0000FF"/>
                </a:solidFill>
                <a:latin typeface="宋体" panose="02010600030101010101" pitchFamily="2" charset="-122"/>
              </a:rPr>
              <a:t>c)</a:t>
            </a:r>
            <a:r>
              <a:rPr lang="zh-CN" altLang="zh-CN" sz="1800" b="1" dirty="0">
                <a:solidFill>
                  <a:srgbClr val="0000FF"/>
                </a:solidFill>
                <a:latin typeface="宋体" panose="02010600030101010101" pitchFamily="2" charset="-122"/>
              </a:rPr>
              <a:t>国标符号</a:t>
            </a:r>
            <a:endParaRPr lang="zh-CN" altLang="en-US" sz="1800" b="1" dirty="0">
              <a:solidFill>
                <a:srgbClr val="0000FF"/>
              </a:solidFill>
              <a:latin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1482"/>
                                        </p:tgtEl>
                                        <p:attrNameLst>
                                          <p:attrName>style.visibility</p:attrName>
                                        </p:attrNameLst>
                                      </p:cBhvr>
                                      <p:to>
                                        <p:strVal val="visible"/>
                                      </p:to>
                                    </p:set>
                                    <p:anim calcmode="lin" valueType="num">
                                      <p:cBhvr additive="base">
                                        <p:cTn id="7" dur="500" fill="hold"/>
                                        <p:tgtEl>
                                          <p:spTgt spid="101482"/>
                                        </p:tgtEl>
                                        <p:attrNameLst>
                                          <p:attrName>ppt_x</p:attrName>
                                        </p:attrNameLst>
                                      </p:cBhvr>
                                      <p:tavLst>
                                        <p:tav tm="0">
                                          <p:val>
                                            <p:strVal val="0-#ppt_w/2"/>
                                          </p:val>
                                        </p:tav>
                                        <p:tav tm="100000">
                                          <p:val>
                                            <p:strVal val="#ppt_x"/>
                                          </p:val>
                                        </p:tav>
                                      </p:tavLst>
                                    </p:anim>
                                    <p:anim calcmode="lin" valueType="num">
                                      <p:cBhvr additive="base">
                                        <p:cTn id="8" dur="500" fill="hold"/>
                                        <p:tgtEl>
                                          <p:spTgt spid="10148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01483"/>
                                        </p:tgtEl>
                                        <p:attrNameLst>
                                          <p:attrName>style.visibility</p:attrName>
                                        </p:attrNameLst>
                                      </p:cBhvr>
                                      <p:to>
                                        <p:strVal val="visible"/>
                                      </p:to>
                                    </p:set>
                                    <p:anim calcmode="lin" valueType="num">
                                      <p:cBhvr additive="base">
                                        <p:cTn id="13" dur="500" fill="hold"/>
                                        <p:tgtEl>
                                          <p:spTgt spid="101483"/>
                                        </p:tgtEl>
                                        <p:attrNameLst>
                                          <p:attrName>ppt_x</p:attrName>
                                        </p:attrNameLst>
                                      </p:cBhvr>
                                      <p:tavLst>
                                        <p:tav tm="0">
                                          <p:val>
                                            <p:strVal val="0-#ppt_w/2"/>
                                          </p:val>
                                        </p:tav>
                                        <p:tav tm="100000">
                                          <p:val>
                                            <p:strVal val="#ppt_x"/>
                                          </p:val>
                                        </p:tav>
                                      </p:tavLst>
                                    </p:anim>
                                    <p:anim calcmode="lin" valueType="num">
                                      <p:cBhvr additive="base">
                                        <p:cTn id="14" dur="500" fill="hold"/>
                                        <p:tgtEl>
                                          <p:spTgt spid="10148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01484"/>
                                        </p:tgtEl>
                                        <p:attrNameLst>
                                          <p:attrName>style.visibility</p:attrName>
                                        </p:attrNameLst>
                                      </p:cBhvr>
                                      <p:to>
                                        <p:strVal val="visible"/>
                                      </p:to>
                                    </p:set>
                                    <p:anim calcmode="lin" valueType="num">
                                      <p:cBhvr additive="base">
                                        <p:cTn id="19" dur="500" fill="hold"/>
                                        <p:tgtEl>
                                          <p:spTgt spid="101484"/>
                                        </p:tgtEl>
                                        <p:attrNameLst>
                                          <p:attrName>ppt_x</p:attrName>
                                        </p:attrNameLst>
                                      </p:cBhvr>
                                      <p:tavLst>
                                        <p:tav tm="0">
                                          <p:val>
                                            <p:strVal val="0-#ppt_w/2"/>
                                          </p:val>
                                        </p:tav>
                                        <p:tav tm="100000">
                                          <p:val>
                                            <p:strVal val="#ppt_x"/>
                                          </p:val>
                                        </p:tav>
                                      </p:tavLst>
                                    </p:anim>
                                    <p:anim calcmode="lin" valueType="num">
                                      <p:cBhvr additive="base">
                                        <p:cTn id="20" dur="500" fill="hold"/>
                                        <p:tgtEl>
                                          <p:spTgt spid="1014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Text Box 3"/>
          <p:cNvSpPr txBox="1"/>
          <p:nvPr/>
        </p:nvSpPr>
        <p:spPr>
          <a:xfrm>
            <a:off x="1079500" y="381000"/>
            <a:ext cx="1928813"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zh-CN" altLang="en-US" sz="1800" b="1" dirty="0">
                <a:solidFill>
                  <a:srgbClr val="0000FF"/>
                </a:solidFill>
                <a:latin typeface="宋体" panose="02010600030101010101" pitchFamily="2" charset="-122"/>
              </a:rPr>
              <a:t>(</a:t>
            </a:r>
            <a:r>
              <a:rPr lang="en-US" altLang="zh-CN" sz="1800" b="1" dirty="0">
                <a:solidFill>
                  <a:srgbClr val="0000FF"/>
                </a:solidFill>
                <a:latin typeface="宋体" panose="02010600030101010101" pitchFamily="2" charset="-122"/>
              </a:rPr>
              <a:t>a)</a:t>
            </a:r>
            <a:r>
              <a:rPr lang="zh-CN" altLang="zh-CN" sz="1800" b="1" dirty="0">
                <a:solidFill>
                  <a:srgbClr val="0000FF"/>
                </a:solidFill>
                <a:latin typeface="宋体" panose="02010600030101010101" pitchFamily="2" charset="-122"/>
              </a:rPr>
              <a:t>常用符号</a:t>
            </a:r>
            <a:endParaRPr lang="zh-CN" altLang="en-US" sz="1800" b="1" dirty="0">
              <a:solidFill>
                <a:srgbClr val="0000FF"/>
              </a:solidFill>
              <a:latin typeface="宋体" panose="02010600030101010101" pitchFamily="2" charset="-122"/>
            </a:endParaRPr>
          </a:p>
        </p:txBody>
      </p:sp>
      <p:sp>
        <p:nvSpPr>
          <p:cNvPr id="27651" name="Text Box 4"/>
          <p:cNvSpPr txBox="1"/>
          <p:nvPr/>
        </p:nvSpPr>
        <p:spPr>
          <a:xfrm>
            <a:off x="3289300" y="381000"/>
            <a:ext cx="287337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zh-CN" altLang="en-US" sz="1800" b="1" dirty="0">
                <a:solidFill>
                  <a:srgbClr val="0000FF"/>
                </a:solidFill>
                <a:latin typeface="宋体" panose="02010600030101010101" pitchFamily="2" charset="-122"/>
              </a:rPr>
              <a:t>(</a:t>
            </a:r>
            <a:r>
              <a:rPr lang="en-US" altLang="zh-CN" sz="1800" b="1" dirty="0">
                <a:solidFill>
                  <a:srgbClr val="0000FF"/>
                </a:solidFill>
                <a:latin typeface="宋体" panose="02010600030101010101" pitchFamily="2" charset="-122"/>
              </a:rPr>
              <a:t>b)</a:t>
            </a:r>
            <a:r>
              <a:rPr lang="zh-CN" altLang="zh-CN" sz="1800" b="1" dirty="0">
                <a:solidFill>
                  <a:srgbClr val="0000FF"/>
                </a:solidFill>
                <a:latin typeface="宋体" panose="02010600030101010101" pitchFamily="2" charset="-122"/>
              </a:rPr>
              <a:t>美、日常用符号</a:t>
            </a:r>
            <a:endParaRPr lang="zh-CN" altLang="en-US" sz="1800" b="1" dirty="0">
              <a:solidFill>
                <a:srgbClr val="0000FF"/>
              </a:solidFill>
              <a:latin typeface="宋体" panose="02010600030101010101" pitchFamily="2" charset="-122"/>
            </a:endParaRPr>
          </a:p>
        </p:txBody>
      </p:sp>
      <p:sp>
        <p:nvSpPr>
          <p:cNvPr id="27652" name="Text Box 5"/>
          <p:cNvSpPr txBox="1"/>
          <p:nvPr/>
        </p:nvSpPr>
        <p:spPr>
          <a:xfrm>
            <a:off x="6313488" y="381000"/>
            <a:ext cx="192722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zh-CN" altLang="en-US" sz="1800" b="1" dirty="0">
                <a:solidFill>
                  <a:srgbClr val="0000FF"/>
                </a:solidFill>
                <a:latin typeface="宋体" panose="02010600030101010101" pitchFamily="2" charset="-122"/>
              </a:rPr>
              <a:t>(</a:t>
            </a:r>
            <a:r>
              <a:rPr lang="en-US" altLang="zh-CN" sz="1800" b="1" dirty="0">
                <a:solidFill>
                  <a:srgbClr val="0000FF"/>
                </a:solidFill>
                <a:latin typeface="宋体" panose="02010600030101010101" pitchFamily="2" charset="-122"/>
              </a:rPr>
              <a:t>c)</a:t>
            </a:r>
            <a:r>
              <a:rPr lang="zh-CN" altLang="zh-CN" sz="1800" b="1" dirty="0">
                <a:solidFill>
                  <a:srgbClr val="0000FF"/>
                </a:solidFill>
                <a:latin typeface="宋体" panose="02010600030101010101" pitchFamily="2" charset="-122"/>
              </a:rPr>
              <a:t>国标符号</a:t>
            </a:r>
            <a:endParaRPr lang="zh-CN" altLang="en-US" sz="1800" b="1" dirty="0">
              <a:solidFill>
                <a:srgbClr val="0000FF"/>
              </a:solidFill>
              <a:latin typeface="宋体" panose="02010600030101010101" pitchFamily="2" charset="-122"/>
            </a:endParaRPr>
          </a:p>
        </p:txBody>
      </p:sp>
      <p:grpSp>
        <p:nvGrpSpPr>
          <p:cNvPr id="105585" name="Group 113"/>
          <p:cNvGrpSpPr/>
          <p:nvPr/>
        </p:nvGrpSpPr>
        <p:grpSpPr>
          <a:xfrm>
            <a:off x="382588" y="2332038"/>
            <a:ext cx="8380412" cy="1096962"/>
            <a:chOff x="241" y="1469"/>
            <a:chExt cx="5279" cy="691"/>
          </a:xfrm>
        </p:grpSpPr>
        <p:sp>
          <p:nvSpPr>
            <p:cNvPr id="27737" name="Rectangle 6"/>
            <p:cNvSpPr/>
            <p:nvPr/>
          </p:nvSpPr>
          <p:spPr>
            <a:xfrm>
              <a:off x="1316" y="1529"/>
              <a:ext cx="347" cy="587"/>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endParaRPr lang="zh-CN" altLang="en-US" sz="1800" dirty="0"/>
            </a:p>
          </p:txBody>
        </p:sp>
        <p:sp>
          <p:nvSpPr>
            <p:cNvPr id="27738" name="Line 7"/>
            <p:cNvSpPr/>
            <p:nvPr/>
          </p:nvSpPr>
          <p:spPr>
            <a:xfrm>
              <a:off x="1728" y="1822"/>
              <a:ext cx="262" cy="0"/>
            </a:xfrm>
            <a:prstGeom prst="line">
              <a:avLst/>
            </a:prstGeom>
            <a:ln w="9525" cap="flat" cmpd="sng">
              <a:solidFill>
                <a:schemeClr val="tx1"/>
              </a:solidFill>
              <a:prstDash val="solid"/>
              <a:headEnd type="none" w="med" len="med"/>
              <a:tailEnd type="none" w="med" len="med"/>
            </a:ln>
          </p:spPr>
        </p:sp>
        <p:sp>
          <p:nvSpPr>
            <p:cNvPr id="27739" name="Line 8"/>
            <p:cNvSpPr/>
            <p:nvPr/>
          </p:nvSpPr>
          <p:spPr>
            <a:xfrm>
              <a:off x="1031" y="1725"/>
              <a:ext cx="285" cy="0"/>
            </a:xfrm>
            <a:prstGeom prst="line">
              <a:avLst/>
            </a:prstGeom>
            <a:ln w="9525" cap="flat" cmpd="sng">
              <a:solidFill>
                <a:schemeClr val="tx1"/>
              </a:solidFill>
              <a:prstDash val="solid"/>
              <a:headEnd type="none" w="med" len="med"/>
              <a:tailEnd type="none" w="med" len="med"/>
            </a:ln>
          </p:spPr>
        </p:sp>
        <p:sp>
          <p:nvSpPr>
            <p:cNvPr id="27740" name="Line 9"/>
            <p:cNvSpPr/>
            <p:nvPr/>
          </p:nvSpPr>
          <p:spPr>
            <a:xfrm>
              <a:off x="1031" y="1920"/>
              <a:ext cx="285" cy="0"/>
            </a:xfrm>
            <a:prstGeom prst="line">
              <a:avLst/>
            </a:prstGeom>
            <a:ln w="9525" cap="flat" cmpd="sng">
              <a:solidFill>
                <a:schemeClr val="tx1"/>
              </a:solidFill>
              <a:prstDash val="solid"/>
              <a:headEnd type="none" w="med" len="med"/>
              <a:tailEnd type="none" w="med" len="med"/>
            </a:ln>
          </p:spPr>
        </p:sp>
        <p:sp>
          <p:nvSpPr>
            <p:cNvPr id="27741" name="Text Box 10"/>
            <p:cNvSpPr txBox="1"/>
            <p:nvPr/>
          </p:nvSpPr>
          <p:spPr>
            <a:xfrm>
              <a:off x="874" y="1594"/>
              <a:ext cx="26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A</a:t>
              </a:r>
              <a:endParaRPr lang="en-US" altLang="zh-CN" sz="1800" dirty="0">
                <a:latin typeface="Times New Roman" panose="02020603050405020304" pitchFamily="18" charset="0"/>
              </a:endParaRPr>
            </a:p>
          </p:txBody>
        </p:sp>
        <p:sp>
          <p:nvSpPr>
            <p:cNvPr id="27742" name="Text Box 11"/>
            <p:cNvSpPr txBox="1"/>
            <p:nvPr/>
          </p:nvSpPr>
          <p:spPr>
            <a:xfrm>
              <a:off x="874" y="1855"/>
              <a:ext cx="26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B</a:t>
              </a:r>
              <a:endParaRPr lang="en-US" altLang="zh-CN" sz="1800" dirty="0">
                <a:latin typeface="Times New Roman" panose="02020603050405020304" pitchFamily="18" charset="0"/>
              </a:endParaRPr>
            </a:p>
          </p:txBody>
        </p:sp>
        <p:sp>
          <p:nvSpPr>
            <p:cNvPr id="27743" name="Text Box 12"/>
            <p:cNvSpPr txBox="1"/>
            <p:nvPr/>
          </p:nvSpPr>
          <p:spPr>
            <a:xfrm>
              <a:off x="1947" y="1725"/>
              <a:ext cx="236"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Y</a:t>
              </a:r>
              <a:endParaRPr lang="en-US" altLang="zh-CN" sz="1800" dirty="0">
                <a:latin typeface="Times New Roman" panose="02020603050405020304" pitchFamily="18" charset="0"/>
              </a:endParaRPr>
            </a:p>
          </p:txBody>
        </p:sp>
        <p:sp>
          <p:nvSpPr>
            <p:cNvPr id="27744" name="Line 13"/>
            <p:cNvSpPr/>
            <p:nvPr/>
          </p:nvSpPr>
          <p:spPr>
            <a:xfrm>
              <a:off x="3316" y="1839"/>
              <a:ext cx="284" cy="0"/>
            </a:xfrm>
            <a:prstGeom prst="line">
              <a:avLst/>
            </a:prstGeom>
            <a:ln w="9525" cap="flat" cmpd="sng">
              <a:solidFill>
                <a:schemeClr val="tx1"/>
              </a:solidFill>
              <a:prstDash val="solid"/>
              <a:headEnd type="none" w="med" len="med"/>
              <a:tailEnd type="none" w="med" len="med"/>
            </a:ln>
          </p:spPr>
        </p:sp>
        <p:sp>
          <p:nvSpPr>
            <p:cNvPr id="27745" name="Line 14"/>
            <p:cNvSpPr/>
            <p:nvPr/>
          </p:nvSpPr>
          <p:spPr>
            <a:xfrm>
              <a:off x="2592" y="1742"/>
              <a:ext cx="285" cy="0"/>
            </a:xfrm>
            <a:prstGeom prst="line">
              <a:avLst/>
            </a:prstGeom>
            <a:ln w="9525" cap="flat" cmpd="sng">
              <a:solidFill>
                <a:schemeClr val="tx1"/>
              </a:solidFill>
              <a:prstDash val="solid"/>
              <a:headEnd type="none" w="med" len="med"/>
              <a:tailEnd type="none" w="med" len="med"/>
            </a:ln>
          </p:spPr>
        </p:sp>
        <p:sp>
          <p:nvSpPr>
            <p:cNvPr id="27746" name="Line 15"/>
            <p:cNvSpPr/>
            <p:nvPr/>
          </p:nvSpPr>
          <p:spPr>
            <a:xfrm>
              <a:off x="2592" y="1937"/>
              <a:ext cx="285" cy="0"/>
            </a:xfrm>
            <a:prstGeom prst="line">
              <a:avLst/>
            </a:prstGeom>
            <a:ln w="9525" cap="flat" cmpd="sng">
              <a:solidFill>
                <a:schemeClr val="tx1"/>
              </a:solidFill>
              <a:prstDash val="solid"/>
              <a:headEnd type="none" w="med" len="med"/>
              <a:tailEnd type="none" w="med" len="med"/>
            </a:ln>
          </p:spPr>
        </p:sp>
        <p:sp>
          <p:nvSpPr>
            <p:cNvPr id="27747" name="Text Box 16"/>
            <p:cNvSpPr txBox="1"/>
            <p:nvPr/>
          </p:nvSpPr>
          <p:spPr>
            <a:xfrm>
              <a:off x="2434" y="1611"/>
              <a:ext cx="268"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A</a:t>
              </a:r>
              <a:endParaRPr lang="en-US" altLang="zh-CN" sz="1800" dirty="0">
                <a:latin typeface="Times New Roman" panose="02020603050405020304" pitchFamily="18" charset="0"/>
              </a:endParaRPr>
            </a:p>
          </p:txBody>
        </p:sp>
        <p:sp>
          <p:nvSpPr>
            <p:cNvPr id="27748" name="Text Box 17"/>
            <p:cNvSpPr txBox="1"/>
            <p:nvPr/>
          </p:nvSpPr>
          <p:spPr>
            <a:xfrm>
              <a:off x="2434" y="1872"/>
              <a:ext cx="268"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B</a:t>
              </a:r>
              <a:endParaRPr lang="en-US" altLang="zh-CN" sz="1800" dirty="0">
                <a:latin typeface="Times New Roman" panose="02020603050405020304" pitchFamily="18" charset="0"/>
              </a:endParaRPr>
            </a:p>
          </p:txBody>
        </p:sp>
        <p:sp>
          <p:nvSpPr>
            <p:cNvPr id="27749" name="Text Box 18"/>
            <p:cNvSpPr txBox="1"/>
            <p:nvPr/>
          </p:nvSpPr>
          <p:spPr>
            <a:xfrm>
              <a:off x="3572" y="1680"/>
              <a:ext cx="236"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Y</a:t>
              </a:r>
              <a:endParaRPr lang="en-US" altLang="zh-CN" sz="1800" dirty="0">
                <a:latin typeface="Times New Roman" panose="02020603050405020304" pitchFamily="18" charset="0"/>
              </a:endParaRPr>
            </a:p>
          </p:txBody>
        </p:sp>
        <p:sp>
          <p:nvSpPr>
            <p:cNvPr id="27750" name="AutoShape 19"/>
            <p:cNvSpPr/>
            <p:nvPr/>
          </p:nvSpPr>
          <p:spPr>
            <a:xfrm>
              <a:off x="2877" y="1611"/>
              <a:ext cx="347" cy="419"/>
            </a:xfrm>
            <a:prstGeom prst="flowChartDelay">
              <a:avLst/>
            </a:prstGeom>
            <a:solidFill>
              <a:srgbClr val="FFCC99"/>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endParaRPr lang="zh-CN" altLang="en-US" sz="1800" dirty="0"/>
            </a:p>
          </p:txBody>
        </p:sp>
        <p:sp>
          <p:nvSpPr>
            <p:cNvPr id="27751" name="Rectangle 20"/>
            <p:cNvSpPr/>
            <p:nvPr/>
          </p:nvSpPr>
          <p:spPr>
            <a:xfrm>
              <a:off x="4557" y="1470"/>
              <a:ext cx="347" cy="587"/>
            </a:xfrm>
            <a:prstGeom prst="rect">
              <a:avLst/>
            </a:prstGeom>
            <a:solidFill>
              <a:srgbClr val="FFCC99"/>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endParaRPr lang="zh-CN" altLang="en-US" sz="1800" dirty="0"/>
            </a:p>
          </p:txBody>
        </p:sp>
        <p:sp>
          <p:nvSpPr>
            <p:cNvPr id="27752" name="Line 21"/>
            <p:cNvSpPr/>
            <p:nvPr/>
          </p:nvSpPr>
          <p:spPr>
            <a:xfrm>
              <a:off x="4992" y="1763"/>
              <a:ext cx="285" cy="0"/>
            </a:xfrm>
            <a:prstGeom prst="line">
              <a:avLst/>
            </a:prstGeom>
            <a:ln w="9525" cap="flat" cmpd="sng">
              <a:solidFill>
                <a:schemeClr val="tx1"/>
              </a:solidFill>
              <a:prstDash val="solid"/>
              <a:headEnd type="none" w="med" len="med"/>
              <a:tailEnd type="none" w="med" len="med"/>
            </a:ln>
          </p:spPr>
        </p:sp>
        <p:sp>
          <p:nvSpPr>
            <p:cNvPr id="27753" name="Line 22"/>
            <p:cNvSpPr/>
            <p:nvPr/>
          </p:nvSpPr>
          <p:spPr>
            <a:xfrm>
              <a:off x="4272" y="1666"/>
              <a:ext cx="285" cy="0"/>
            </a:xfrm>
            <a:prstGeom prst="line">
              <a:avLst/>
            </a:prstGeom>
            <a:ln w="9525" cap="flat" cmpd="sng">
              <a:solidFill>
                <a:schemeClr val="tx1"/>
              </a:solidFill>
              <a:prstDash val="solid"/>
              <a:headEnd type="none" w="med" len="med"/>
              <a:tailEnd type="none" w="med" len="med"/>
            </a:ln>
          </p:spPr>
        </p:sp>
        <p:sp>
          <p:nvSpPr>
            <p:cNvPr id="27754" name="Line 23"/>
            <p:cNvSpPr/>
            <p:nvPr/>
          </p:nvSpPr>
          <p:spPr>
            <a:xfrm>
              <a:off x="4272" y="1861"/>
              <a:ext cx="285" cy="0"/>
            </a:xfrm>
            <a:prstGeom prst="line">
              <a:avLst/>
            </a:prstGeom>
            <a:ln w="9525" cap="flat" cmpd="sng">
              <a:solidFill>
                <a:schemeClr val="tx1"/>
              </a:solidFill>
              <a:prstDash val="solid"/>
              <a:headEnd type="none" w="med" len="med"/>
              <a:tailEnd type="none" w="med" len="med"/>
            </a:ln>
          </p:spPr>
        </p:sp>
        <p:sp>
          <p:nvSpPr>
            <p:cNvPr id="27755" name="Text Box 24"/>
            <p:cNvSpPr txBox="1"/>
            <p:nvPr/>
          </p:nvSpPr>
          <p:spPr>
            <a:xfrm>
              <a:off x="4114" y="1535"/>
              <a:ext cx="268"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A</a:t>
              </a:r>
              <a:endParaRPr lang="en-US" altLang="zh-CN" sz="1800" dirty="0">
                <a:latin typeface="Times New Roman" panose="02020603050405020304" pitchFamily="18" charset="0"/>
              </a:endParaRPr>
            </a:p>
          </p:txBody>
        </p:sp>
        <p:sp>
          <p:nvSpPr>
            <p:cNvPr id="27756" name="Text Box 25"/>
            <p:cNvSpPr txBox="1"/>
            <p:nvPr/>
          </p:nvSpPr>
          <p:spPr>
            <a:xfrm>
              <a:off x="4114" y="1796"/>
              <a:ext cx="268"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B</a:t>
              </a:r>
              <a:endParaRPr lang="en-US" altLang="zh-CN" sz="1800" dirty="0">
                <a:latin typeface="Times New Roman" panose="02020603050405020304" pitchFamily="18" charset="0"/>
              </a:endParaRPr>
            </a:p>
          </p:txBody>
        </p:sp>
        <p:sp>
          <p:nvSpPr>
            <p:cNvPr id="27757" name="Text Box 26"/>
            <p:cNvSpPr txBox="1"/>
            <p:nvPr/>
          </p:nvSpPr>
          <p:spPr>
            <a:xfrm>
              <a:off x="5284" y="1666"/>
              <a:ext cx="236"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Y</a:t>
              </a:r>
              <a:endParaRPr lang="en-US" altLang="zh-CN" sz="1800" dirty="0">
                <a:latin typeface="Times New Roman" panose="02020603050405020304" pitchFamily="18" charset="0"/>
              </a:endParaRPr>
            </a:p>
          </p:txBody>
        </p:sp>
        <p:sp>
          <p:nvSpPr>
            <p:cNvPr id="27758" name="Text Box 27"/>
            <p:cNvSpPr txBox="1"/>
            <p:nvPr/>
          </p:nvSpPr>
          <p:spPr>
            <a:xfrm>
              <a:off x="4609" y="1469"/>
              <a:ext cx="268"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zh-CN" altLang="en-US" sz="1800" dirty="0">
                  <a:latin typeface="Times New Roman" panose="02020603050405020304" pitchFamily="18" charset="0"/>
                </a:rPr>
                <a:t>&amp;</a:t>
              </a:r>
              <a:endParaRPr lang="zh-CN" altLang="en-US" sz="1800" dirty="0">
                <a:latin typeface="Times New Roman" panose="02020603050405020304" pitchFamily="18" charset="0"/>
              </a:endParaRPr>
            </a:p>
          </p:txBody>
        </p:sp>
        <p:sp>
          <p:nvSpPr>
            <p:cNvPr id="27759" name="Text Box 28"/>
            <p:cNvSpPr txBox="1"/>
            <p:nvPr/>
          </p:nvSpPr>
          <p:spPr>
            <a:xfrm>
              <a:off x="241" y="1725"/>
              <a:ext cx="813"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zh-CN" altLang="en-US" sz="1800" b="1" dirty="0">
                  <a:solidFill>
                    <a:schemeClr val="hlink"/>
                  </a:solidFill>
                  <a:latin typeface="Times New Roman" panose="02020603050405020304" pitchFamily="18" charset="0"/>
                </a:rPr>
                <a:t>与非门</a:t>
              </a:r>
              <a:endParaRPr lang="zh-CN" altLang="en-US" sz="1800" b="1" dirty="0">
                <a:solidFill>
                  <a:schemeClr val="hlink"/>
                </a:solidFill>
                <a:latin typeface="Times New Roman" panose="02020603050405020304" pitchFamily="18" charset="0"/>
              </a:endParaRPr>
            </a:p>
          </p:txBody>
        </p:sp>
        <p:sp>
          <p:nvSpPr>
            <p:cNvPr id="27760" name="Oval 29"/>
            <p:cNvSpPr/>
            <p:nvPr/>
          </p:nvSpPr>
          <p:spPr>
            <a:xfrm>
              <a:off x="1653" y="1775"/>
              <a:ext cx="75" cy="7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endParaRPr lang="zh-CN" altLang="en-US" sz="1800" dirty="0"/>
            </a:p>
          </p:txBody>
        </p:sp>
        <p:sp>
          <p:nvSpPr>
            <p:cNvPr id="27761" name="Oval 30"/>
            <p:cNvSpPr/>
            <p:nvPr/>
          </p:nvSpPr>
          <p:spPr>
            <a:xfrm>
              <a:off x="3221" y="1805"/>
              <a:ext cx="77" cy="7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endParaRPr lang="zh-CN" altLang="en-US" sz="1800" dirty="0"/>
            </a:p>
          </p:txBody>
        </p:sp>
        <p:sp>
          <p:nvSpPr>
            <p:cNvPr id="27762" name="Oval 31"/>
            <p:cNvSpPr/>
            <p:nvPr/>
          </p:nvSpPr>
          <p:spPr>
            <a:xfrm>
              <a:off x="4896" y="1709"/>
              <a:ext cx="76" cy="7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a:spcBef>
                  <a:spcPct val="0"/>
                </a:spcBef>
                <a:buNone/>
              </a:pPr>
              <a:endParaRPr lang="zh-CN" altLang="en-US" sz="1800" dirty="0">
                <a:latin typeface="Times New Roman" panose="02020603050405020304" pitchFamily="18" charset="0"/>
              </a:endParaRPr>
            </a:p>
          </p:txBody>
        </p:sp>
      </p:grpSp>
      <p:grpSp>
        <p:nvGrpSpPr>
          <p:cNvPr id="105584" name="Group 112"/>
          <p:cNvGrpSpPr/>
          <p:nvPr/>
        </p:nvGrpSpPr>
        <p:grpSpPr>
          <a:xfrm>
            <a:off x="381000" y="1084263"/>
            <a:ext cx="8382000" cy="1049337"/>
            <a:chOff x="240" y="683"/>
            <a:chExt cx="5280" cy="661"/>
          </a:xfrm>
        </p:grpSpPr>
        <p:sp>
          <p:nvSpPr>
            <p:cNvPr id="27709" name="Rectangle 32"/>
            <p:cNvSpPr/>
            <p:nvPr/>
          </p:nvSpPr>
          <p:spPr>
            <a:xfrm>
              <a:off x="1313" y="731"/>
              <a:ext cx="347" cy="587"/>
            </a:xfrm>
            <a:prstGeom prst="rect">
              <a:avLst/>
            </a:prstGeom>
            <a:solidFill>
              <a:srgbClr val="FFCC99"/>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endParaRPr lang="zh-CN" altLang="en-US" sz="1800" dirty="0"/>
            </a:p>
          </p:txBody>
        </p:sp>
        <p:sp>
          <p:nvSpPr>
            <p:cNvPr id="27710" name="Line 33"/>
            <p:cNvSpPr/>
            <p:nvPr/>
          </p:nvSpPr>
          <p:spPr>
            <a:xfrm>
              <a:off x="1392" y="1025"/>
              <a:ext cx="190" cy="0"/>
            </a:xfrm>
            <a:prstGeom prst="line">
              <a:avLst/>
            </a:prstGeom>
            <a:ln w="9525" cap="flat" cmpd="sng">
              <a:solidFill>
                <a:schemeClr val="tx1"/>
              </a:solidFill>
              <a:prstDash val="solid"/>
              <a:headEnd type="none" w="med" len="med"/>
              <a:tailEnd type="none" w="med" len="med"/>
            </a:ln>
          </p:spPr>
        </p:sp>
        <p:sp>
          <p:nvSpPr>
            <p:cNvPr id="27711" name="Line 34"/>
            <p:cNvSpPr/>
            <p:nvPr/>
          </p:nvSpPr>
          <p:spPr>
            <a:xfrm rot="-5400000">
              <a:off x="1389" y="1024"/>
              <a:ext cx="195" cy="0"/>
            </a:xfrm>
            <a:prstGeom prst="line">
              <a:avLst/>
            </a:prstGeom>
            <a:ln w="9525" cap="flat" cmpd="sng">
              <a:solidFill>
                <a:schemeClr val="tx1"/>
              </a:solidFill>
              <a:prstDash val="solid"/>
              <a:headEnd type="none" w="med" len="med"/>
              <a:tailEnd type="none" w="med" len="med"/>
            </a:ln>
          </p:spPr>
        </p:sp>
        <p:sp>
          <p:nvSpPr>
            <p:cNvPr id="27712" name="Line 35"/>
            <p:cNvSpPr/>
            <p:nvPr/>
          </p:nvSpPr>
          <p:spPr>
            <a:xfrm>
              <a:off x="1728" y="1019"/>
              <a:ext cx="285" cy="0"/>
            </a:xfrm>
            <a:prstGeom prst="line">
              <a:avLst/>
            </a:prstGeom>
            <a:ln w="9525" cap="flat" cmpd="sng">
              <a:solidFill>
                <a:schemeClr val="tx1"/>
              </a:solidFill>
              <a:prstDash val="solid"/>
              <a:headEnd type="none" w="med" len="med"/>
              <a:tailEnd type="none" w="med" len="med"/>
            </a:ln>
          </p:spPr>
        </p:sp>
        <p:sp>
          <p:nvSpPr>
            <p:cNvPr id="27713" name="Line 36"/>
            <p:cNvSpPr/>
            <p:nvPr/>
          </p:nvSpPr>
          <p:spPr>
            <a:xfrm>
              <a:off x="1030" y="927"/>
              <a:ext cx="283" cy="0"/>
            </a:xfrm>
            <a:prstGeom prst="line">
              <a:avLst/>
            </a:prstGeom>
            <a:ln w="9525" cap="flat" cmpd="sng">
              <a:solidFill>
                <a:schemeClr val="tx1"/>
              </a:solidFill>
              <a:prstDash val="solid"/>
              <a:headEnd type="none" w="med" len="med"/>
              <a:tailEnd type="none" w="med" len="med"/>
            </a:ln>
          </p:spPr>
        </p:sp>
        <p:sp>
          <p:nvSpPr>
            <p:cNvPr id="27714" name="Line 37"/>
            <p:cNvSpPr/>
            <p:nvPr/>
          </p:nvSpPr>
          <p:spPr>
            <a:xfrm>
              <a:off x="1030" y="1122"/>
              <a:ext cx="283" cy="0"/>
            </a:xfrm>
            <a:prstGeom prst="line">
              <a:avLst/>
            </a:prstGeom>
            <a:ln w="9525" cap="flat" cmpd="sng">
              <a:solidFill>
                <a:schemeClr val="tx1"/>
              </a:solidFill>
              <a:prstDash val="solid"/>
              <a:headEnd type="none" w="med" len="med"/>
              <a:tailEnd type="none" w="med" len="med"/>
            </a:ln>
          </p:spPr>
        </p:sp>
        <p:sp>
          <p:nvSpPr>
            <p:cNvPr id="27715" name="Text Box 38"/>
            <p:cNvSpPr txBox="1"/>
            <p:nvPr/>
          </p:nvSpPr>
          <p:spPr>
            <a:xfrm>
              <a:off x="872" y="796"/>
              <a:ext cx="26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A</a:t>
              </a:r>
              <a:endParaRPr lang="en-US" altLang="zh-CN" sz="1800" dirty="0">
                <a:latin typeface="Times New Roman" panose="02020603050405020304" pitchFamily="18" charset="0"/>
              </a:endParaRPr>
            </a:p>
          </p:txBody>
        </p:sp>
        <p:sp>
          <p:nvSpPr>
            <p:cNvPr id="27716" name="Text Box 39"/>
            <p:cNvSpPr txBox="1"/>
            <p:nvPr/>
          </p:nvSpPr>
          <p:spPr>
            <a:xfrm>
              <a:off x="872" y="1056"/>
              <a:ext cx="26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B</a:t>
              </a:r>
              <a:endParaRPr lang="en-US" altLang="zh-CN" sz="1800" dirty="0">
                <a:latin typeface="Times New Roman" panose="02020603050405020304" pitchFamily="18" charset="0"/>
              </a:endParaRPr>
            </a:p>
          </p:txBody>
        </p:sp>
        <p:sp>
          <p:nvSpPr>
            <p:cNvPr id="27717" name="Text Box 40"/>
            <p:cNvSpPr txBox="1"/>
            <p:nvPr/>
          </p:nvSpPr>
          <p:spPr>
            <a:xfrm>
              <a:off x="2020" y="875"/>
              <a:ext cx="236"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Y</a:t>
              </a:r>
              <a:endParaRPr lang="en-US" altLang="zh-CN" sz="1800" dirty="0">
                <a:latin typeface="Times New Roman" panose="02020603050405020304" pitchFamily="18" charset="0"/>
              </a:endParaRPr>
            </a:p>
          </p:txBody>
        </p:sp>
        <p:sp>
          <p:nvSpPr>
            <p:cNvPr id="27718" name="Line 41"/>
            <p:cNvSpPr/>
            <p:nvPr/>
          </p:nvSpPr>
          <p:spPr>
            <a:xfrm>
              <a:off x="3316" y="971"/>
              <a:ext cx="284" cy="0"/>
            </a:xfrm>
            <a:prstGeom prst="line">
              <a:avLst/>
            </a:prstGeom>
            <a:ln w="9525" cap="flat" cmpd="sng">
              <a:solidFill>
                <a:schemeClr val="tx1"/>
              </a:solidFill>
              <a:prstDash val="solid"/>
              <a:headEnd type="none" w="med" len="med"/>
              <a:tailEnd type="none" w="med" len="med"/>
            </a:ln>
          </p:spPr>
        </p:sp>
        <p:sp>
          <p:nvSpPr>
            <p:cNvPr id="27719" name="Line 42"/>
            <p:cNvSpPr/>
            <p:nvPr/>
          </p:nvSpPr>
          <p:spPr>
            <a:xfrm>
              <a:off x="2569" y="893"/>
              <a:ext cx="285" cy="0"/>
            </a:xfrm>
            <a:prstGeom prst="line">
              <a:avLst/>
            </a:prstGeom>
            <a:ln w="9525" cap="flat" cmpd="sng">
              <a:solidFill>
                <a:schemeClr val="tx1"/>
              </a:solidFill>
              <a:prstDash val="solid"/>
              <a:headEnd type="none" w="med" len="med"/>
              <a:tailEnd type="none" w="med" len="med"/>
            </a:ln>
          </p:spPr>
        </p:sp>
        <p:sp>
          <p:nvSpPr>
            <p:cNvPr id="27720" name="Line 43"/>
            <p:cNvSpPr/>
            <p:nvPr/>
          </p:nvSpPr>
          <p:spPr>
            <a:xfrm>
              <a:off x="2569" y="1088"/>
              <a:ext cx="285" cy="0"/>
            </a:xfrm>
            <a:prstGeom prst="line">
              <a:avLst/>
            </a:prstGeom>
            <a:ln w="9525" cap="flat" cmpd="sng">
              <a:solidFill>
                <a:schemeClr val="tx1"/>
              </a:solidFill>
              <a:prstDash val="solid"/>
              <a:headEnd type="none" w="med" len="med"/>
              <a:tailEnd type="none" w="med" len="med"/>
            </a:ln>
          </p:spPr>
        </p:sp>
        <p:sp>
          <p:nvSpPr>
            <p:cNvPr id="27721" name="Text Box 44"/>
            <p:cNvSpPr txBox="1"/>
            <p:nvPr/>
          </p:nvSpPr>
          <p:spPr>
            <a:xfrm>
              <a:off x="2434" y="762"/>
              <a:ext cx="26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A</a:t>
              </a:r>
              <a:endParaRPr lang="en-US" altLang="zh-CN" sz="1800" dirty="0">
                <a:latin typeface="Times New Roman" panose="02020603050405020304" pitchFamily="18" charset="0"/>
              </a:endParaRPr>
            </a:p>
          </p:txBody>
        </p:sp>
        <p:sp>
          <p:nvSpPr>
            <p:cNvPr id="27722" name="Text Box 45"/>
            <p:cNvSpPr txBox="1"/>
            <p:nvPr/>
          </p:nvSpPr>
          <p:spPr>
            <a:xfrm>
              <a:off x="2434" y="1022"/>
              <a:ext cx="26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B</a:t>
              </a:r>
              <a:endParaRPr lang="en-US" altLang="zh-CN" sz="1800" dirty="0">
                <a:latin typeface="Times New Roman" panose="02020603050405020304" pitchFamily="18" charset="0"/>
              </a:endParaRPr>
            </a:p>
          </p:txBody>
        </p:sp>
        <p:sp>
          <p:nvSpPr>
            <p:cNvPr id="27723" name="Text Box 46"/>
            <p:cNvSpPr txBox="1"/>
            <p:nvPr/>
          </p:nvSpPr>
          <p:spPr>
            <a:xfrm>
              <a:off x="3604" y="827"/>
              <a:ext cx="236"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Y</a:t>
              </a:r>
              <a:endParaRPr lang="en-US" altLang="zh-CN" sz="1800" dirty="0">
                <a:latin typeface="Times New Roman" panose="02020603050405020304" pitchFamily="18" charset="0"/>
              </a:endParaRPr>
            </a:p>
          </p:txBody>
        </p:sp>
        <p:sp>
          <p:nvSpPr>
            <p:cNvPr id="27724" name="AutoShape 47"/>
            <p:cNvSpPr/>
            <p:nvPr/>
          </p:nvSpPr>
          <p:spPr>
            <a:xfrm rot="10800000">
              <a:off x="2701" y="731"/>
              <a:ext cx="522" cy="540"/>
            </a:xfrm>
            <a:prstGeom prst="moon">
              <a:avLst>
                <a:gd name="adj" fmla="val 66750"/>
              </a:avLst>
            </a:prstGeom>
            <a:solidFill>
              <a:srgbClr val="CCFF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endParaRPr lang="zh-CN" altLang="en-US" sz="1800" dirty="0"/>
            </a:p>
          </p:txBody>
        </p:sp>
        <p:sp>
          <p:nvSpPr>
            <p:cNvPr id="27725" name="Rectangle 48"/>
            <p:cNvSpPr/>
            <p:nvPr/>
          </p:nvSpPr>
          <p:spPr>
            <a:xfrm>
              <a:off x="4556" y="697"/>
              <a:ext cx="347" cy="587"/>
            </a:xfrm>
            <a:prstGeom prst="rect">
              <a:avLst/>
            </a:prstGeom>
            <a:solidFill>
              <a:srgbClr val="C0C0C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endParaRPr lang="zh-CN" altLang="en-US" sz="1800" dirty="0"/>
            </a:p>
          </p:txBody>
        </p:sp>
        <p:sp>
          <p:nvSpPr>
            <p:cNvPr id="27726" name="Line 49"/>
            <p:cNvSpPr/>
            <p:nvPr/>
          </p:nvSpPr>
          <p:spPr>
            <a:xfrm>
              <a:off x="4992" y="1019"/>
              <a:ext cx="285" cy="0"/>
            </a:xfrm>
            <a:prstGeom prst="line">
              <a:avLst/>
            </a:prstGeom>
            <a:ln w="9525" cap="flat" cmpd="sng">
              <a:solidFill>
                <a:schemeClr val="tx1"/>
              </a:solidFill>
              <a:prstDash val="solid"/>
              <a:headEnd type="none" w="med" len="med"/>
              <a:tailEnd type="none" w="med" len="med"/>
            </a:ln>
          </p:spPr>
        </p:sp>
        <p:sp>
          <p:nvSpPr>
            <p:cNvPr id="27727" name="Line 50"/>
            <p:cNvSpPr/>
            <p:nvPr/>
          </p:nvSpPr>
          <p:spPr>
            <a:xfrm>
              <a:off x="4271" y="893"/>
              <a:ext cx="285" cy="0"/>
            </a:xfrm>
            <a:prstGeom prst="line">
              <a:avLst/>
            </a:prstGeom>
            <a:ln w="9525" cap="flat" cmpd="sng">
              <a:solidFill>
                <a:schemeClr val="tx1"/>
              </a:solidFill>
              <a:prstDash val="solid"/>
              <a:headEnd type="none" w="med" len="med"/>
              <a:tailEnd type="none" w="med" len="med"/>
            </a:ln>
          </p:spPr>
        </p:sp>
        <p:sp>
          <p:nvSpPr>
            <p:cNvPr id="27728" name="Line 51"/>
            <p:cNvSpPr/>
            <p:nvPr/>
          </p:nvSpPr>
          <p:spPr>
            <a:xfrm>
              <a:off x="4271" y="1088"/>
              <a:ext cx="285" cy="0"/>
            </a:xfrm>
            <a:prstGeom prst="line">
              <a:avLst/>
            </a:prstGeom>
            <a:ln w="9525" cap="flat" cmpd="sng">
              <a:solidFill>
                <a:schemeClr val="tx1"/>
              </a:solidFill>
              <a:prstDash val="solid"/>
              <a:headEnd type="none" w="med" len="med"/>
              <a:tailEnd type="none" w="med" len="med"/>
            </a:ln>
          </p:spPr>
        </p:sp>
        <p:sp>
          <p:nvSpPr>
            <p:cNvPr id="27729" name="Text Box 52"/>
            <p:cNvSpPr txBox="1"/>
            <p:nvPr/>
          </p:nvSpPr>
          <p:spPr>
            <a:xfrm>
              <a:off x="4114" y="762"/>
              <a:ext cx="26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A</a:t>
              </a:r>
              <a:endParaRPr lang="en-US" altLang="zh-CN" sz="1800" dirty="0">
                <a:latin typeface="Times New Roman" panose="02020603050405020304" pitchFamily="18" charset="0"/>
              </a:endParaRPr>
            </a:p>
          </p:txBody>
        </p:sp>
        <p:sp>
          <p:nvSpPr>
            <p:cNvPr id="27730" name="Text Box 53"/>
            <p:cNvSpPr txBox="1"/>
            <p:nvPr/>
          </p:nvSpPr>
          <p:spPr>
            <a:xfrm>
              <a:off x="4114" y="1022"/>
              <a:ext cx="26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B</a:t>
              </a:r>
              <a:endParaRPr lang="en-US" altLang="zh-CN" sz="1800" dirty="0">
                <a:latin typeface="Times New Roman" panose="02020603050405020304" pitchFamily="18" charset="0"/>
              </a:endParaRPr>
            </a:p>
          </p:txBody>
        </p:sp>
        <p:sp>
          <p:nvSpPr>
            <p:cNvPr id="27731" name="Text Box 54"/>
            <p:cNvSpPr txBox="1"/>
            <p:nvPr/>
          </p:nvSpPr>
          <p:spPr>
            <a:xfrm>
              <a:off x="5284" y="892"/>
              <a:ext cx="236"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Y</a:t>
              </a:r>
              <a:endParaRPr lang="en-US" altLang="zh-CN" sz="1800" dirty="0">
                <a:latin typeface="Times New Roman" panose="02020603050405020304" pitchFamily="18" charset="0"/>
              </a:endParaRPr>
            </a:p>
          </p:txBody>
        </p:sp>
        <p:sp>
          <p:nvSpPr>
            <p:cNvPr id="27732" name="Text Box 55"/>
            <p:cNvSpPr txBox="1"/>
            <p:nvPr/>
          </p:nvSpPr>
          <p:spPr>
            <a:xfrm>
              <a:off x="4608" y="683"/>
              <a:ext cx="360"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zh-CN" altLang="en-US" sz="1800" dirty="0">
                  <a:latin typeface="Times New Roman" panose="02020603050405020304" pitchFamily="18" charset="0"/>
                  <a:sym typeface="Symbol" panose="05050102010706020507" pitchFamily="18" charset="2"/>
                </a:rPr>
                <a:t>1</a:t>
              </a:r>
              <a:endParaRPr lang="zh-CN" altLang="en-US" sz="1800" dirty="0">
                <a:latin typeface="Times New Roman" panose="02020603050405020304" pitchFamily="18" charset="0"/>
              </a:endParaRPr>
            </a:p>
          </p:txBody>
        </p:sp>
        <p:sp>
          <p:nvSpPr>
            <p:cNvPr id="27733" name="Text Box 56"/>
            <p:cNvSpPr txBox="1"/>
            <p:nvPr/>
          </p:nvSpPr>
          <p:spPr>
            <a:xfrm>
              <a:off x="240" y="923"/>
              <a:ext cx="898"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zh-CN" altLang="en-US" sz="1800" b="1" dirty="0">
                  <a:solidFill>
                    <a:schemeClr val="hlink"/>
                  </a:solidFill>
                  <a:latin typeface="Times New Roman" panose="02020603050405020304" pitchFamily="18" charset="0"/>
                </a:rPr>
                <a:t>或非门</a:t>
              </a:r>
              <a:endParaRPr lang="zh-CN" altLang="en-US" sz="1800" b="1" dirty="0">
                <a:solidFill>
                  <a:schemeClr val="hlink"/>
                </a:solidFill>
                <a:latin typeface="Times New Roman" panose="02020603050405020304" pitchFamily="18" charset="0"/>
              </a:endParaRPr>
            </a:p>
          </p:txBody>
        </p:sp>
        <p:sp>
          <p:nvSpPr>
            <p:cNvPr id="27734" name="Oval 57"/>
            <p:cNvSpPr/>
            <p:nvPr/>
          </p:nvSpPr>
          <p:spPr>
            <a:xfrm>
              <a:off x="1653" y="971"/>
              <a:ext cx="75" cy="7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endParaRPr lang="zh-CN" altLang="en-US" sz="1800" dirty="0"/>
            </a:p>
          </p:txBody>
        </p:sp>
        <p:sp>
          <p:nvSpPr>
            <p:cNvPr id="27735" name="Oval 58"/>
            <p:cNvSpPr/>
            <p:nvPr/>
          </p:nvSpPr>
          <p:spPr>
            <a:xfrm>
              <a:off x="3237" y="941"/>
              <a:ext cx="75" cy="7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endParaRPr lang="zh-CN" altLang="en-US" sz="1800" dirty="0"/>
            </a:p>
          </p:txBody>
        </p:sp>
        <p:sp>
          <p:nvSpPr>
            <p:cNvPr id="27736" name="Oval 59"/>
            <p:cNvSpPr/>
            <p:nvPr/>
          </p:nvSpPr>
          <p:spPr>
            <a:xfrm>
              <a:off x="4896" y="971"/>
              <a:ext cx="76" cy="7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endParaRPr lang="zh-CN" altLang="en-US" sz="1800" dirty="0"/>
            </a:p>
          </p:txBody>
        </p:sp>
      </p:grpSp>
      <p:grpSp>
        <p:nvGrpSpPr>
          <p:cNvPr id="105586" name="Group 114"/>
          <p:cNvGrpSpPr/>
          <p:nvPr/>
        </p:nvGrpSpPr>
        <p:grpSpPr>
          <a:xfrm>
            <a:off x="339725" y="3675063"/>
            <a:ext cx="8194675" cy="1049337"/>
            <a:chOff x="214" y="2315"/>
            <a:chExt cx="5162" cy="661"/>
          </a:xfrm>
        </p:grpSpPr>
        <p:sp>
          <p:nvSpPr>
            <p:cNvPr id="27684" name="Text Box 2"/>
            <p:cNvSpPr txBox="1"/>
            <p:nvPr/>
          </p:nvSpPr>
          <p:spPr>
            <a:xfrm>
              <a:off x="214" y="2544"/>
              <a:ext cx="698"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zh-CN" altLang="en-US" sz="1800" b="1" dirty="0">
                  <a:solidFill>
                    <a:schemeClr val="hlink"/>
                  </a:solidFill>
                  <a:latin typeface="Times New Roman" panose="02020603050405020304" pitchFamily="18" charset="0"/>
                </a:rPr>
                <a:t>异或门</a:t>
              </a:r>
              <a:endParaRPr lang="zh-CN" altLang="en-US" sz="1800" b="1" dirty="0">
                <a:solidFill>
                  <a:schemeClr val="hlink"/>
                </a:solidFill>
                <a:latin typeface="Times New Roman" panose="02020603050405020304" pitchFamily="18" charset="0"/>
              </a:endParaRPr>
            </a:p>
          </p:txBody>
        </p:sp>
        <p:sp>
          <p:nvSpPr>
            <p:cNvPr id="27685" name="Rectangle 61"/>
            <p:cNvSpPr/>
            <p:nvPr/>
          </p:nvSpPr>
          <p:spPr>
            <a:xfrm>
              <a:off x="1306" y="2363"/>
              <a:ext cx="348" cy="587"/>
            </a:xfrm>
            <a:prstGeom prst="rect">
              <a:avLst/>
            </a:prstGeom>
            <a:solidFill>
              <a:srgbClr val="FF99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endParaRPr lang="zh-CN" altLang="en-US" sz="1800" dirty="0"/>
            </a:p>
          </p:txBody>
        </p:sp>
        <p:sp>
          <p:nvSpPr>
            <p:cNvPr id="27686" name="Line 62"/>
            <p:cNvSpPr/>
            <p:nvPr/>
          </p:nvSpPr>
          <p:spPr>
            <a:xfrm>
              <a:off x="1660" y="2651"/>
              <a:ext cx="284" cy="0"/>
            </a:xfrm>
            <a:prstGeom prst="line">
              <a:avLst/>
            </a:prstGeom>
            <a:ln w="9525" cap="flat" cmpd="sng">
              <a:solidFill>
                <a:schemeClr val="tx1"/>
              </a:solidFill>
              <a:prstDash val="solid"/>
              <a:headEnd type="none" w="med" len="med"/>
              <a:tailEnd type="none" w="med" len="med"/>
            </a:ln>
          </p:spPr>
        </p:sp>
        <p:sp>
          <p:nvSpPr>
            <p:cNvPr id="27687" name="Line 63"/>
            <p:cNvSpPr/>
            <p:nvPr/>
          </p:nvSpPr>
          <p:spPr>
            <a:xfrm>
              <a:off x="1022" y="2559"/>
              <a:ext cx="284" cy="0"/>
            </a:xfrm>
            <a:prstGeom prst="line">
              <a:avLst/>
            </a:prstGeom>
            <a:ln w="9525" cap="flat" cmpd="sng">
              <a:solidFill>
                <a:schemeClr val="tx1"/>
              </a:solidFill>
              <a:prstDash val="solid"/>
              <a:headEnd type="none" w="med" len="med"/>
              <a:tailEnd type="none" w="med" len="med"/>
            </a:ln>
          </p:spPr>
        </p:sp>
        <p:sp>
          <p:nvSpPr>
            <p:cNvPr id="27688" name="Line 64"/>
            <p:cNvSpPr/>
            <p:nvPr/>
          </p:nvSpPr>
          <p:spPr>
            <a:xfrm>
              <a:off x="1022" y="2754"/>
              <a:ext cx="284" cy="0"/>
            </a:xfrm>
            <a:prstGeom prst="line">
              <a:avLst/>
            </a:prstGeom>
            <a:ln w="9525" cap="flat" cmpd="sng">
              <a:solidFill>
                <a:schemeClr val="tx1"/>
              </a:solidFill>
              <a:prstDash val="solid"/>
              <a:headEnd type="none" w="med" len="med"/>
              <a:tailEnd type="none" w="med" len="med"/>
            </a:ln>
          </p:spPr>
        </p:sp>
        <p:sp>
          <p:nvSpPr>
            <p:cNvPr id="27689" name="Text Box 65"/>
            <p:cNvSpPr txBox="1"/>
            <p:nvPr/>
          </p:nvSpPr>
          <p:spPr>
            <a:xfrm>
              <a:off x="864" y="2428"/>
              <a:ext cx="268"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A</a:t>
              </a:r>
              <a:endParaRPr lang="en-US" altLang="zh-CN" sz="1800" dirty="0">
                <a:latin typeface="Times New Roman" panose="02020603050405020304" pitchFamily="18" charset="0"/>
              </a:endParaRPr>
            </a:p>
          </p:txBody>
        </p:sp>
        <p:sp>
          <p:nvSpPr>
            <p:cNvPr id="27690" name="Text Box 66"/>
            <p:cNvSpPr txBox="1"/>
            <p:nvPr/>
          </p:nvSpPr>
          <p:spPr>
            <a:xfrm>
              <a:off x="864" y="2688"/>
              <a:ext cx="268"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B</a:t>
              </a:r>
              <a:endParaRPr lang="en-US" altLang="zh-CN" sz="1800" dirty="0">
                <a:latin typeface="Times New Roman" panose="02020603050405020304" pitchFamily="18" charset="0"/>
              </a:endParaRPr>
            </a:p>
          </p:txBody>
        </p:sp>
        <p:sp>
          <p:nvSpPr>
            <p:cNvPr id="27691" name="Text Box 67"/>
            <p:cNvSpPr txBox="1"/>
            <p:nvPr/>
          </p:nvSpPr>
          <p:spPr>
            <a:xfrm>
              <a:off x="1865" y="2507"/>
              <a:ext cx="236"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Y</a:t>
              </a:r>
              <a:endParaRPr lang="en-US" altLang="zh-CN" sz="1800" dirty="0">
                <a:latin typeface="Times New Roman" panose="02020603050405020304" pitchFamily="18" charset="0"/>
              </a:endParaRPr>
            </a:p>
          </p:txBody>
        </p:sp>
        <p:sp>
          <p:nvSpPr>
            <p:cNvPr id="27692" name="Line 68"/>
            <p:cNvSpPr/>
            <p:nvPr/>
          </p:nvSpPr>
          <p:spPr>
            <a:xfrm>
              <a:off x="3209" y="2603"/>
              <a:ext cx="284" cy="0"/>
            </a:xfrm>
            <a:prstGeom prst="line">
              <a:avLst/>
            </a:prstGeom>
            <a:ln w="9525" cap="flat" cmpd="sng">
              <a:solidFill>
                <a:schemeClr val="tx1"/>
              </a:solidFill>
              <a:prstDash val="solid"/>
              <a:headEnd type="none" w="med" len="med"/>
              <a:tailEnd type="none" w="med" len="med"/>
            </a:ln>
          </p:spPr>
        </p:sp>
        <p:sp>
          <p:nvSpPr>
            <p:cNvPr id="27693" name="Line 69"/>
            <p:cNvSpPr/>
            <p:nvPr/>
          </p:nvSpPr>
          <p:spPr>
            <a:xfrm>
              <a:off x="2441" y="2525"/>
              <a:ext cx="398" cy="0"/>
            </a:xfrm>
            <a:prstGeom prst="line">
              <a:avLst/>
            </a:prstGeom>
            <a:ln w="9525" cap="flat" cmpd="sng">
              <a:solidFill>
                <a:schemeClr val="tx1"/>
              </a:solidFill>
              <a:prstDash val="solid"/>
              <a:headEnd type="none" w="med" len="med"/>
              <a:tailEnd type="none" w="med" len="med"/>
            </a:ln>
          </p:spPr>
        </p:sp>
        <p:sp>
          <p:nvSpPr>
            <p:cNvPr id="27694" name="Line 70"/>
            <p:cNvSpPr/>
            <p:nvPr/>
          </p:nvSpPr>
          <p:spPr>
            <a:xfrm>
              <a:off x="2441" y="2720"/>
              <a:ext cx="398" cy="0"/>
            </a:xfrm>
            <a:prstGeom prst="line">
              <a:avLst/>
            </a:prstGeom>
            <a:ln w="9525" cap="flat" cmpd="sng">
              <a:solidFill>
                <a:schemeClr val="tx1"/>
              </a:solidFill>
              <a:prstDash val="solid"/>
              <a:headEnd type="none" w="med" len="med"/>
              <a:tailEnd type="none" w="med" len="med"/>
            </a:ln>
          </p:spPr>
        </p:sp>
        <p:sp>
          <p:nvSpPr>
            <p:cNvPr id="27695" name="Text Box 71"/>
            <p:cNvSpPr txBox="1"/>
            <p:nvPr/>
          </p:nvSpPr>
          <p:spPr>
            <a:xfrm>
              <a:off x="2249" y="2394"/>
              <a:ext cx="269"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A</a:t>
              </a:r>
              <a:endParaRPr lang="en-US" altLang="zh-CN" sz="1800" dirty="0">
                <a:latin typeface="Times New Roman" panose="02020603050405020304" pitchFamily="18" charset="0"/>
              </a:endParaRPr>
            </a:p>
          </p:txBody>
        </p:sp>
        <p:sp>
          <p:nvSpPr>
            <p:cNvPr id="27696" name="Text Box 72"/>
            <p:cNvSpPr txBox="1"/>
            <p:nvPr/>
          </p:nvSpPr>
          <p:spPr>
            <a:xfrm>
              <a:off x="2249" y="2654"/>
              <a:ext cx="269"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B</a:t>
              </a:r>
              <a:endParaRPr lang="en-US" altLang="zh-CN" sz="1800" dirty="0">
                <a:latin typeface="Times New Roman" panose="02020603050405020304" pitchFamily="18" charset="0"/>
              </a:endParaRPr>
            </a:p>
          </p:txBody>
        </p:sp>
        <p:sp>
          <p:nvSpPr>
            <p:cNvPr id="27697" name="Text Box 73"/>
            <p:cNvSpPr txBox="1"/>
            <p:nvPr/>
          </p:nvSpPr>
          <p:spPr>
            <a:xfrm>
              <a:off x="3497" y="2459"/>
              <a:ext cx="236"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Y</a:t>
              </a:r>
              <a:endParaRPr lang="en-US" altLang="zh-CN" sz="1800" dirty="0">
                <a:latin typeface="Times New Roman" panose="02020603050405020304" pitchFamily="18" charset="0"/>
              </a:endParaRPr>
            </a:p>
          </p:txBody>
        </p:sp>
        <p:sp>
          <p:nvSpPr>
            <p:cNvPr id="27698" name="AutoShape 74"/>
            <p:cNvSpPr/>
            <p:nvPr/>
          </p:nvSpPr>
          <p:spPr>
            <a:xfrm rot="10800000">
              <a:off x="2695" y="2363"/>
              <a:ext cx="520" cy="540"/>
            </a:xfrm>
            <a:prstGeom prst="moon">
              <a:avLst>
                <a:gd name="adj" fmla="val 66750"/>
              </a:avLst>
            </a:prstGeom>
            <a:solidFill>
              <a:srgbClr val="CCFF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endParaRPr lang="zh-CN" altLang="en-US" sz="1800" dirty="0"/>
            </a:p>
          </p:txBody>
        </p:sp>
        <p:sp>
          <p:nvSpPr>
            <p:cNvPr id="27699" name="Rectangle 75"/>
            <p:cNvSpPr/>
            <p:nvPr/>
          </p:nvSpPr>
          <p:spPr>
            <a:xfrm>
              <a:off x="4548" y="2329"/>
              <a:ext cx="347" cy="587"/>
            </a:xfrm>
            <a:prstGeom prst="rect">
              <a:avLst/>
            </a:prstGeom>
            <a:solidFill>
              <a:srgbClr val="FF99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endParaRPr lang="zh-CN" altLang="en-US" sz="1800" dirty="0"/>
            </a:p>
          </p:txBody>
        </p:sp>
        <p:sp>
          <p:nvSpPr>
            <p:cNvPr id="27700" name="Line 76"/>
            <p:cNvSpPr/>
            <p:nvPr/>
          </p:nvSpPr>
          <p:spPr>
            <a:xfrm>
              <a:off x="4889" y="2651"/>
              <a:ext cx="284" cy="0"/>
            </a:xfrm>
            <a:prstGeom prst="line">
              <a:avLst/>
            </a:prstGeom>
            <a:ln w="9525" cap="flat" cmpd="sng">
              <a:solidFill>
                <a:schemeClr val="tx1"/>
              </a:solidFill>
              <a:prstDash val="solid"/>
              <a:headEnd type="none" w="med" len="med"/>
              <a:tailEnd type="none" w="med" len="med"/>
            </a:ln>
          </p:spPr>
        </p:sp>
        <p:sp>
          <p:nvSpPr>
            <p:cNvPr id="27701" name="Line 77"/>
            <p:cNvSpPr/>
            <p:nvPr/>
          </p:nvSpPr>
          <p:spPr>
            <a:xfrm>
              <a:off x="4264" y="2525"/>
              <a:ext cx="284" cy="0"/>
            </a:xfrm>
            <a:prstGeom prst="line">
              <a:avLst/>
            </a:prstGeom>
            <a:ln w="9525" cap="flat" cmpd="sng">
              <a:solidFill>
                <a:schemeClr val="tx1"/>
              </a:solidFill>
              <a:prstDash val="solid"/>
              <a:headEnd type="none" w="med" len="med"/>
              <a:tailEnd type="none" w="med" len="med"/>
            </a:ln>
          </p:spPr>
        </p:sp>
        <p:sp>
          <p:nvSpPr>
            <p:cNvPr id="27702" name="Line 78"/>
            <p:cNvSpPr/>
            <p:nvPr/>
          </p:nvSpPr>
          <p:spPr>
            <a:xfrm>
              <a:off x="4264" y="2720"/>
              <a:ext cx="284" cy="0"/>
            </a:xfrm>
            <a:prstGeom prst="line">
              <a:avLst/>
            </a:prstGeom>
            <a:ln w="9525" cap="flat" cmpd="sng">
              <a:solidFill>
                <a:schemeClr val="tx1"/>
              </a:solidFill>
              <a:prstDash val="solid"/>
              <a:headEnd type="none" w="med" len="med"/>
              <a:tailEnd type="none" w="med" len="med"/>
            </a:ln>
          </p:spPr>
        </p:sp>
        <p:sp>
          <p:nvSpPr>
            <p:cNvPr id="27703" name="Text Box 79"/>
            <p:cNvSpPr txBox="1"/>
            <p:nvPr/>
          </p:nvSpPr>
          <p:spPr>
            <a:xfrm>
              <a:off x="4106" y="2394"/>
              <a:ext cx="269"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A</a:t>
              </a:r>
              <a:endParaRPr lang="en-US" altLang="zh-CN" sz="1800" dirty="0">
                <a:latin typeface="Times New Roman" panose="02020603050405020304" pitchFamily="18" charset="0"/>
              </a:endParaRPr>
            </a:p>
          </p:txBody>
        </p:sp>
        <p:sp>
          <p:nvSpPr>
            <p:cNvPr id="27704" name="Text Box 80"/>
            <p:cNvSpPr txBox="1"/>
            <p:nvPr/>
          </p:nvSpPr>
          <p:spPr>
            <a:xfrm>
              <a:off x="4106" y="2654"/>
              <a:ext cx="269"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B</a:t>
              </a:r>
              <a:endParaRPr lang="en-US" altLang="zh-CN" sz="1800" dirty="0">
                <a:latin typeface="Times New Roman" panose="02020603050405020304" pitchFamily="18" charset="0"/>
              </a:endParaRPr>
            </a:p>
          </p:txBody>
        </p:sp>
        <p:sp>
          <p:nvSpPr>
            <p:cNvPr id="27705" name="Text Box 81"/>
            <p:cNvSpPr txBox="1"/>
            <p:nvPr/>
          </p:nvSpPr>
          <p:spPr>
            <a:xfrm>
              <a:off x="5140" y="2524"/>
              <a:ext cx="236"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Y</a:t>
              </a:r>
              <a:endParaRPr lang="en-US" altLang="zh-CN" sz="1800" dirty="0">
                <a:latin typeface="Times New Roman" panose="02020603050405020304" pitchFamily="18" charset="0"/>
              </a:endParaRPr>
            </a:p>
          </p:txBody>
        </p:sp>
        <p:sp>
          <p:nvSpPr>
            <p:cNvPr id="27706" name="Text Box 82"/>
            <p:cNvSpPr txBox="1"/>
            <p:nvPr/>
          </p:nvSpPr>
          <p:spPr>
            <a:xfrm>
              <a:off x="4601" y="2315"/>
              <a:ext cx="360"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zh-CN" altLang="en-US" sz="1800" dirty="0">
                  <a:latin typeface="Times New Roman" panose="02020603050405020304" pitchFamily="18" charset="0"/>
                  <a:sym typeface="Symbol" panose="05050102010706020507" pitchFamily="18" charset="2"/>
                </a:rPr>
                <a:t>=1</a:t>
              </a:r>
              <a:endParaRPr lang="zh-CN" altLang="en-US" sz="1800" dirty="0">
                <a:latin typeface="Times New Roman" panose="02020603050405020304" pitchFamily="18" charset="0"/>
              </a:endParaRPr>
            </a:p>
          </p:txBody>
        </p:sp>
        <p:sp>
          <p:nvSpPr>
            <p:cNvPr id="27707" name="AutoShape 83"/>
            <p:cNvSpPr/>
            <p:nvPr/>
          </p:nvSpPr>
          <p:spPr>
            <a:xfrm>
              <a:off x="1368" y="2544"/>
              <a:ext cx="209" cy="209"/>
            </a:xfrm>
            <a:prstGeom prst="flowChartOr">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endParaRPr lang="zh-CN" altLang="en-US" sz="1800" dirty="0"/>
            </a:p>
          </p:txBody>
        </p:sp>
        <p:sp>
          <p:nvSpPr>
            <p:cNvPr id="27708" name="Arc 84"/>
            <p:cNvSpPr/>
            <p:nvPr/>
          </p:nvSpPr>
          <p:spPr>
            <a:xfrm rot="-9687876" flipH="1" flipV="1">
              <a:off x="2441" y="2400"/>
              <a:ext cx="269" cy="522"/>
            </a:xfrm>
            <a:custGeom>
              <a:avLst/>
              <a:gdLst/>
              <a:ahLst/>
              <a:cxnLst>
                <a:cxn ang="0">
                  <a:pos x="0" y="0"/>
                </a:cxn>
                <a:cxn ang="0">
                  <a:pos x="0" y="0"/>
                </a:cxn>
                <a:cxn ang="0">
                  <a:pos x="0" y="0"/>
                </a:cxn>
              </a:cxnLst>
              <a:pathLst>
                <a:path w="21600" h="36746" fill="none">
                  <a:moveTo>
                    <a:pt x="486" y="0"/>
                  </a:moveTo>
                  <a:cubicBezTo>
                    <a:pt x="12223" y="265"/>
                    <a:pt x="21600" y="9855"/>
                    <a:pt x="21600" y="21595"/>
                  </a:cubicBezTo>
                  <a:cubicBezTo>
                    <a:pt x="21600" y="27263"/>
                    <a:pt x="19371" y="32705"/>
                    <a:pt x="15395" y="36746"/>
                  </a:cubicBezTo>
                </a:path>
                <a:path w="21600" h="36746" stroke="0">
                  <a:moveTo>
                    <a:pt x="486" y="0"/>
                  </a:moveTo>
                  <a:cubicBezTo>
                    <a:pt x="12223" y="265"/>
                    <a:pt x="21600" y="9855"/>
                    <a:pt x="21600" y="21595"/>
                  </a:cubicBezTo>
                  <a:cubicBezTo>
                    <a:pt x="21600" y="27263"/>
                    <a:pt x="19371" y="32705"/>
                    <a:pt x="15395" y="36746"/>
                  </a:cubicBezTo>
                  <a:lnTo>
                    <a:pt x="0" y="21595"/>
                  </a:lnTo>
                  <a:lnTo>
                    <a:pt x="486" y="0"/>
                  </a:lnTo>
                  <a:close/>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grpSp>
      <p:grpSp>
        <p:nvGrpSpPr>
          <p:cNvPr id="105587" name="Group 115"/>
          <p:cNvGrpSpPr/>
          <p:nvPr/>
        </p:nvGrpSpPr>
        <p:grpSpPr>
          <a:xfrm>
            <a:off x="334963" y="4970463"/>
            <a:ext cx="8351837" cy="1049337"/>
            <a:chOff x="160" y="3131"/>
            <a:chExt cx="5261" cy="661"/>
          </a:xfrm>
        </p:grpSpPr>
        <p:sp>
          <p:nvSpPr>
            <p:cNvPr id="27657" name="Text Box 60"/>
            <p:cNvSpPr txBox="1"/>
            <p:nvPr/>
          </p:nvSpPr>
          <p:spPr>
            <a:xfrm>
              <a:off x="160" y="3360"/>
              <a:ext cx="978"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zh-CN" altLang="en-US" sz="2000" b="1" dirty="0">
                  <a:solidFill>
                    <a:schemeClr val="hlink"/>
                  </a:solidFill>
                  <a:latin typeface="Times New Roman" panose="02020603050405020304" pitchFamily="18" charset="0"/>
                </a:rPr>
                <a:t>异或非门</a:t>
              </a:r>
              <a:endParaRPr lang="zh-CN" altLang="en-US" sz="2000" b="1" dirty="0">
                <a:solidFill>
                  <a:schemeClr val="hlink"/>
                </a:solidFill>
                <a:latin typeface="Times New Roman" panose="02020603050405020304" pitchFamily="18" charset="0"/>
              </a:endParaRPr>
            </a:p>
          </p:txBody>
        </p:sp>
        <p:sp>
          <p:nvSpPr>
            <p:cNvPr id="27658" name="Rectangle 85"/>
            <p:cNvSpPr/>
            <p:nvPr/>
          </p:nvSpPr>
          <p:spPr>
            <a:xfrm>
              <a:off x="1313" y="3179"/>
              <a:ext cx="347" cy="587"/>
            </a:xfrm>
            <a:prstGeom prst="rect">
              <a:avLst/>
            </a:prstGeom>
            <a:solidFill>
              <a:srgbClr val="99C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endParaRPr lang="zh-CN" altLang="en-US" sz="1800" dirty="0"/>
            </a:p>
          </p:txBody>
        </p:sp>
        <p:sp>
          <p:nvSpPr>
            <p:cNvPr id="27659" name="Line 86"/>
            <p:cNvSpPr/>
            <p:nvPr/>
          </p:nvSpPr>
          <p:spPr>
            <a:xfrm>
              <a:off x="1728" y="3467"/>
              <a:ext cx="285" cy="0"/>
            </a:xfrm>
            <a:prstGeom prst="line">
              <a:avLst/>
            </a:prstGeom>
            <a:ln w="9525" cap="flat" cmpd="sng">
              <a:solidFill>
                <a:schemeClr val="tx1"/>
              </a:solidFill>
              <a:prstDash val="solid"/>
              <a:headEnd type="none" w="med" len="med"/>
              <a:tailEnd type="none" w="med" len="med"/>
            </a:ln>
          </p:spPr>
        </p:sp>
        <p:sp>
          <p:nvSpPr>
            <p:cNvPr id="27660" name="Line 87"/>
            <p:cNvSpPr/>
            <p:nvPr/>
          </p:nvSpPr>
          <p:spPr>
            <a:xfrm>
              <a:off x="1030" y="3375"/>
              <a:ext cx="283" cy="0"/>
            </a:xfrm>
            <a:prstGeom prst="line">
              <a:avLst/>
            </a:prstGeom>
            <a:ln w="9525" cap="flat" cmpd="sng">
              <a:solidFill>
                <a:schemeClr val="tx1"/>
              </a:solidFill>
              <a:prstDash val="solid"/>
              <a:headEnd type="none" w="med" len="med"/>
              <a:tailEnd type="none" w="med" len="med"/>
            </a:ln>
          </p:spPr>
        </p:sp>
        <p:sp>
          <p:nvSpPr>
            <p:cNvPr id="27661" name="Line 88"/>
            <p:cNvSpPr/>
            <p:nvPr/>
          </p:nvSpPr>
          <p:spPr>
            <a:xfrm>
              <a:off x="1030" y="3570"/>
              <a:ext cx="283" cy="0"/>
            </a:xfrm>
            <a:prstGeom prst="line">
              <a:avLst/>
            </a:prstGeom>
            <a:ln w="9525" cap="flat" cmpd="sng">
              <a:solidFill>
                <a:schemeClr val="tx1"/>
              </a:solidFill>
              <a:prstDash val="solid"/>
              <a:headEnd type="none" w="med" len="med"/>
              <a:tailEnd type="none" w="med" len="med"/>
            </a:ln>
          </p:spPr>
        </p:sp>
        <p:sp>
          <p:nvSpPr>
            <p:cNvPr id="27662" name="Text Box 89"/>
            <p:cNvSpPr txBox="1"/>
            <p:nvPr/>
          </p:nvSpPr>
          <p:spPr>
            <a:xfrm>
              <a:off x="872" y="3244"/>
              <a:ext cx="26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A</a:t>
              </a:r>
              <a:endParaRPr lang="en-US" altLang="zh-CN" sz="1800" dirty="0">
                <a:latin typeface="Times New Roman" panose="02020603050405020304" pitchFamily="18" charset="0"/>
              </a:endParaRPr>
            </a:p>
          </p:txBody>
        </p:sp>
        <p:sp>
          <p:nvSpPr>
            <p:cNvPr id="27663" name="Text Box 90"/>
            <p:cNvSpPr txBox="1"/>
            <p:nvPr/>
          </p:nvSpPr>
          <p:spPr>
            <a:xfrm>
              <a:off x="872" y="3504"/>
              <a:ext cx="26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B</a:t>
              </a:r>
              <a:endParaRPr lang="en-US" altLang="zh-CN" sz="1800" dirty="0">
                <a:latin typeface="Times New Roman" panose="02020603050405020304" pitchFamily="18" charset="0"/>
              </a:endParaRPr>
            </a:p>
          </p:txBody>
        </p:sp>
        <p:sp>
          <p:nvSpPr>
            <p:cNvPr id="27664" name="Text Box 91"/>
            <p:cNvSpPr txBox="1"/>
            <p:nvPr/>
          </p:nvSpPr>
          <p:spPr>
            <a:xfrm>
              <a:off x="2020" y="3323"/>
              <a:ext cx="236"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Y</a:t>
              </a:r>
              <a:endParaRPr lang="en-US" altLang="zh-CN" sz="1800" dirty="0">
                <a:latin typeface="Times New Roman" panose="02020603050405020304" pitchFamily="18" charset="0"/>
              </a:endParaRPr>
            </a:p>
          </p:txBody>
        </p:sp>
        <p:sp>
          <p:nvSpPr>
            <p:cNvPr id="27665" name="Line 92"/>
            <p:cNvSpPr/>
            <p:nvPr/>
          </p:nvSpPr>
          <p:spPr>
            <a:xfrm>
              <a:off x="3316" y="3419"/>
              <a:ext cx="284" cy="0"/>
            </a:xfrm>
            <a:prstGeom prst="line">
              <a:avLst/>
            </a:prstGeom>
            <a:ln w="9525" cap="flat" cmpd="sng">
              <a:solidFill>
                <a:schemeClr val="tx1"/>
              </a:solidFill>
              <a:prstDash val="solid"/>
              <a:headEnd type="none" w="med" len="med"/>
              <a:tailEnd type="none" w="med" len="med"/>
            </a:ln>
          </p:spPr>
        </p:sp>
        <p:sp>
          <p:nvSpPr>
            <p:cNvPr id="27666" name="Line 93"/>
            <p:cNvSpPr/>
            <p:nvPr/>
          </p:nvSpPr>
          <p:spPr>
            <a:xfrm>
              <a:off x="2448" y="3341"/>
              <a:ext cx="397" cy="0"/>
            </a:xfrm>
            <a:prstGeom prst="line">
              <a:avLst/>
            </a:prstGeom>
            <a:ln w="9525" cap="flat" cmpd="sng">
              <a:solidFill>
                <a:schemeClr val="tx1"/>
              </a:solidFill>
              <a:prstDash val="solid"/>
              <a:headEnd type="none" w="med" len="med"/>
              <a:tailEnd type="none" w="med" len="med"/>
            </a:ln>
          </p:spPr>
        </p:sp>
        <p:sp>
          <p:nvSpPr>
            <p:cNvPr id="27667" name="Line 94"/>
            <p:cNvSpPr/>
            <p:nvPr/>
          </p:nvSpPr>
          <p:spPr>
            <a:xfrm>
              <a:off x="2448" y="3536"/>
              <a:ext cx="397" cy="0"/>
            </a:xfrm>
            <a:prstGeom prst="line">
              <a:avLst/>
            </a:prstGeom>
            <a:ln w="9525" cap="flat" cmpd="sng">
              <a:solidFill>
                <a:schemeClr val="tx1"/>
              </a:solidFill>
              <a:prstDash val="solid"/>
              <a:headEnd type="none" w="med" len="med"/>
              <a:tailEnd type="none" w="med" len="med"/>
            </a:ln>
          </p:spPr>
        </p:sp>
        <p:sp>
          <p:nvSpPr>
            <p:cNvPr id="27668" name="Text Box 95"/>
            <p:cNvSpPr txBox="1"/>
            <p:nvPr/>
          </p:nvSpPr>
          <p:spPr>
            <a:xfrm>
              <a:off x="2256" y="3210"/>
              <a:ext cx="268"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A</a:t>
              </a:r>
              <a:endParaRPr lang="en-US" altLang="zh-CN" sz="1800" dirty="0">
                <a:latin typeface="Times New Roman" panose="02020603050405020304" pitchFamily="18" charset="0"/>
              </a:endParaRPr>
            </a:p>
          </p:txBody>
        </p:sp>
        <p:sp>
          <p:nvSpPr>
            <p:cNvPr id="27669" name="Text Box 96"/>
            <p:cNvSpPr txBox="1"/>
            <p:nvPr/>
          </p:nvSpPr>
          <p:spPr>
            <a:xfrm>
              <a:off x="2256" y="3470"/>
              <a:ext cx="268"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B</a:t>
              </a:r>
              <a:endParaRPr lang="en-US" altLang="zh-CN" sz="1800" dirty="0">
                <a:latin typeface="Times New Roman" panose="02020603050405020304" pitchFamily="18" charset="0"/>
              </a:endParaRPr>
            </a:p>
          </p:txBody>
        </p:sp>
        <p:sp>
          <p:nvSpPr>
            <p:cNvPr id="27670" name="Text Box 97"/>
            <p:cNvSpPr txBox="1"/>
            <p:nvPr/>
          </p:nvSpPr>
          <p:spPr>
            <a:xfrm>
              <a:off x="3604" y="3275"/>
              <a:ext cx="236"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Y</a:t>
              </a:r>
              <a:endParaRPr lang="en-US" altLang="zh-CN" sz="1800" dirty="0">
                <a:latin typeface="Times New Roman" panose="02020603050405020304" pitchFamily="18" charset="0"/>
              </a:endParaRPr>
            </a:p>
          </p:txBody>
        </p:sp>
        <p:sp>
          <p:nvSpPr>
            <p:cNvPr id="27671" name="AutoShape 98"/>
            <p:cNvSpPr/>
            <p:nvPr/>
          </p:nvSpPr>
          <p:spPr>
            <a:xfrm rot="10800000">
              <a:off x="2701" y="3179"/>
              <a:ext cx="522" cy="540"/>
            </a:xfrm>
            <a:prstGeom prst="moon">
              <a:avLst>
                <a:gd name="adj" fmla="val 66750"/>
              </a:avLst>
            </a:prstGeom>
            <a:solidFill>
              <a:srgbClr val="CC99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endParaRPr lang="zh-CN" altLang="en-US" sz="1800" dirty="0"/>
            </a:p>
          </p:txBody>
        </p:sp>
        <p:sp>
          <p:nvSpPr>
            <p:cNvPr id="27672" name="Rectangle 99"/>
            <p:cNvSpPr/>
            <p:nvPr/>
          </p:nvSpPr>
          <p:spPr>
            <a:xfrm>
              <a:off x="4556" y="3145"/>
              <a:ext cx="347" cy="587"/>
            </a:xfrm>
            <a:prstGeom prst="rect">
              <a:avLst/>
            </a:prstGeom>
            <a:solidFill>
              <a:srgbClr val="00C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endParaRPr lang="zh-CN" altLang="en-US" sz="1800" dirty="0"/>
            </a:p>
          </p:txBody>
        </p:sp>
        <p:sp>
          <p:nvSpPr>
            <p:cNvPr id="27673" name="Line 100"/>
            <p:cNvSpPr/>
            <p:nvPr/>
          </p:nvSpPr>
          <p:spPr>
            <a:xfrm>
              <a:off x="4896" y="3467"/>
              <a:ext cx="285" cy="0"/>
            </a:xfrm>
            <a:prstGeom prst="line">
              <a:avLst/>
            </a:prstGeom>
            <a:ln w="9525" cap="flat" cmpd="sng">
              <a:solidFill>
                <a:schemeClr val="tx1"/>
              </a:solidFill>
              <a:prstDash val="solid"/>
              <a:headEnd type="none" w="med" len="med"/>
              <a:tailEnd type="none" w="med" len="med"/>
            </a:ln>
          </p:spPr>
        </p:sp>
        <p:sp>
          <p:nvSpPr>
            <p:cNvPr id="27674" name="Line 101"/>
            <p:cNvSpPr/>
            <p:nvPr/>
          </p:nvSpPr>
          <p:spPr>
            <a:xfrm>
              <a:off x="4271" y="3341"/>
              <a:ext cx="285" cy="0"/>
            </a:xfrm>
            <a:prstGeom prst="line">
              <a:avLst/>
            </a:prstGeom>
            <a:ln w="9525" cap="flat" cmpd="sng">
              <a:solidFill>
                <a:schemeClr val="tx1"/>
              </a:solidFill>
              <a:prstDash val="solid"/>
              <a:headEnd type="none" w="med" len="med"/>
              <a:tailEnd type="none" w="med" len="med"/>
            </a:ln>
          </p:spPr>
        </p:sp>
        <p:sp>
          <p:nvSpPr>
            <p:cNvPr id="27675" name="Line 102"/>
            <p:cNvSpPr/>
            <p:nvPr/>
          </p:nvSpPr>
          <p:spPr>
            <a:xfrm>
              <a:off x="4271" y="3536"/>
              <a:ext cx="285" cy="0"/>
            </a:xfrm>
            <a:prstGeom prst="line">
              <a:avLst/>
            </a:prstGeom>
            <a:ln w="9525" cap="flat" cmpd="sng">
              <a:solidFill>
                <a:schemeClr val="tx1"/>
              </a:solidFill>
              <a:prstDash val="solid"/>
              <a:headEnd type="none" w="med" len="med"/>
              <a:tailEnd type="none" w="med" len="med"/>
            </a:ln>
          </p:spPr>
        </p:sp>
        <p:sp>
          <p:nvSpPr>
            <p:cNvPr id="27676" name="Text Box 103"/>
            <p:cNvSpPr txBox="1"/>
            <p:nvPr/>
          </p:nvSpPr>
          <p:spPr>
            <a:xfrm>
              <a:off x="4114" y="3210"/>
              <a:ext cx="26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A</a:t>
              </a:r>
              <a:endParaRPr lang="en-US" altLang="zh-CN" sz="1800" dirty="0">
                <a:latin typeface="Times New Roman" panose="02020603050405020304" pitchFamily="18" charset="0"/>
              </a:endParaRPr>
            </a:p>
          </p:txBody>
        </p:sp>
        <p:sp>
          <p:nvSpPr>
            <p:cNvPr id="27677" name="Text Box 104"/>
            <p:cNvSpPr txBox="1"/>
            <p:nvPr/>
          </p:nvSpPr>
          <p:spPr>
            <a:xfrm>
              <a:off x="4114" y="3470"/>
              <a:ext cx="26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B</a:t>
              </a:r>
              <a:endParaRPr lang="en-US" altLang="zh-CN" sz="1800" dirty="0">
                <a:latin typeface="Times New Roman" panose="02020603050405020304" pitchFamily="18" charset="0"/>
              </a:endParaRPr>
            </a:p>
          </p:txBody>
        </p:sp>
        <p:sp>
          <p:nvSpPr>
            <p:cNvPr id="27678" name="Text Box 105"/>
            <p:cNvSpPr txBox="1"/>
            <p:nvPr/>
          </p:nvSpPr>
          <p:spPr>
            <a:xfrm>
              <a:off x="5184" y="3340"/>
              <a:ext cx="23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en-US" altLang="zh-CN" sz="1800" dirty="0">
                  <a:latin typeface="Times New Roman" panose="02020603050405020304" pitchFamily="18" charset="0"/>
                </a:rPr>
                <a:t>Y</a:t>
              </a:r>
              <a:endParaRPr lang="en-US" altLang="zh-CN" sz="1800" dirty="0">
                <a:latin typeface="Times New Roman" panose="02020603050405020304" pitchFamily="18" charset="0"/>
              </a:endParaRPr>
            </a:p>
          </p:txBody>
        </p:sp>
        <p:sp>
          <p:nvSpPr>
            <p:cNvPr id="27679" name="Text Box 106"/>
            <p:cNvSpPr txBox="1"/>
            <p:nvPr/>
          </p:nvSpPr>
          <p:spPr>
            <a:xfrm>
              <a:off x="4608" y="3131"/>
              <a:ext cx="360"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50000"/>
                </a:spcBef>
                <a:buNone/>
              </a:pPr>
              <a:r>
                <a:rPr lang="zh-CN" altLang="en-US" sz="1800" dirty="0">
                  <a:latin typeface="Times New Roman" panose="02020603050405020304" pitchFamily="18" charset="0"/>
                  <a:sym typeface="Symbol" panose="05050102010706020507" pitchFamily="18" charset="2"/>
                </a:rPr>
                <a:t>=</a:t>
              </a:r>
              <a:endParaRPr lang="zh-CN" altLang="en-US" sz="1800" dirty="0">
                <a:latin typeface="Times New Roman" panose="02020603050405020304" pitchFamily="18" charset="0"/>
              </a:endParaRPr>
            </a:p>
          </p:txBody>
        </p:sp>
        <p:sp>
          <p:nvSpPr>
            <p:cNvPr id="27680" name="Oval 107"/>
            <p:cNvSpPr/>
            <p:nvPr/>
          </p:nvSpPr>
          <p:spPr>
            <a:xfrm>
              <a:off x="1653" y="3419"/>
              <a:ext cx="75" cy="7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endParaRPr lang="zh-CN" altLang="en-US" sz="1800" dirty="0"/>
            </a:p>
          </p:txBody>
        </p:sp>
        <p:sp>
          <p:nvSpPr>
            <p:cNvPr id="27681" name="Oval 108"/>
            <p:cNvSpPr/>
            <p:nvPr/>
          </p:nvSpPr>
          <p:spPr>
            <a:xfrm>
              <a:off x="3237" y="3389"/>
              <a:ext cx="75" cy="7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endParaRPr lang="zh-CN" altLang="en-US" sz="1800" dirty="0"/>
            </a:p>
          </p:txBody>
        </p:sp>
        <p:sp>
          <p:nvSpPr>
            <p:cNvPr id="27682" name="AutoShape 109"/>
            <p:cNvSpPr/>
            <p:nvPr/>
          </p:nvSpPr>
          <p:spPr>
            <a:xfrm>
              <a:off x="1376" y="3360"/>
              <a:ext cx="208" cy="209"/>
            </a:xfrm>
            <a:prstGeom prst="flowChartOr">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endParaRPr lang="zh-CN" altLang="en-US" sz="1800" dirty="0"/>
            </a:p>
          </p:txBody>
        </p:sp>
        <p:sp>
          <p:nvSpPr>
            <p:cNvPr id="27683" name="Arc 110"/>
            <p:cNvSpPr/>
            <p:nvPr/>
          </p:nvSpPr>
          <p:spPr>
            <a:xfrm rot="-9687876" flipH="1" flipV="1">
              <a:off x="2448" y="3216"/>
              <a:ext cx="268" cy="522"/>
            </a:xfrm>
            <a:custGeom>
              <a:avLst/>
              <a:gdLst/>
              <a:ahLst/>
              <a:cxnLst>
                <a:cxn ang="0">
                  <a:pos x="0" y="0"/>
                </a:cxn>
                <a:cxn ang="0">
                  <a:pos x="0" y="0"/>
                </a:cxn>
                <a:cxn ang="0">
                  <a:pos x="0" y="0"/>
                </a:cxn>
              </a:cxnLst>
              <a:pathLst>
                <a:path w="21600" h="36746" fill="none">
                  <a:moveTo>
                    <a:pt x="486" y="0"/>
                  </a:moveTo>
                  <a:cubicBezTo>
                    <a:pt x="12223" y="265"/>
                    <a:pt x="21600" y="9855"/>
                    <a:pt x="21600" y="21595"/>
                  </a:cubicBezTo>
                  <a:cubicBezTo>
                    <a:pt x="21600" y="27263"/>
                    <a:pt x="19371" y="32705"/>
                    <a:pt x="15395" y="36746"/>
                  </a:cubicBezTo>
                </a:path>
                <a:path w="21600" h="36746" stroke="0">
                  <a:moveTo>
                    <a:pt x="486" y="0"/>
                  </a:moveTo>
                  <a:cubicBezTo>
                    <a:pt x="12223" y="265"/>
                    <a:pt x="21600" y="9855"/>
                    <a:pt x="21600" y="21595"/>
                  </a:cubicBezTo>
                  <a:cubicBezTo>
                    <a:pt x="21600" y="27263"/>
                    <a:pt x="19371" y="32705"/>
                    <a:pt x="15395" y="36746"/>
                  </a:cubicBezTo>
                  <a:lnTo>
                    <a:pt x="0" y="21595"/>
                  </a:lnTo>
                  <a:lnTo>
                    <a:pt x="486" y="0"/>
                  </a:lnTo>
                  <a:close/>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5584"/>
                                        </p:tgtEl>
                                        <p:attrNameLst>
                                          <p:attrName>style.visibility</p:attrName>
                                        </p:attrNameLst>
                                      </p:cBhvr>
                                      <p:to>
                                        <p:strVal val="visible"/>
                                      </p:to>
                                    </p:set>
                                    <p:anim calcmode="lin" valueType="num">
                                      <p:cBhvr additive="base">
                                        <p:cTn id="7" dur="500" fill="hold"/>
                                        <p:tgtEl>
                                          <p:spTgt spid="105584"/>
                                        </p:tgtEl>
                                        <p:attrNameLst>
                                          <p:attrName>ppt_x</p:attrName>
                                        </p:attrNameLst>
                                      </p:cBhvr>
                                      <p:tavLst>
                                        <p:tav tm="0">
                                          <p:val>
                                            <p:strVal val="0-#ppt_w/2"/>
                                          </p:val>
                                        </p:tav>
                                        <p:tav tm="100000">
                                          <p:val>
                                            <p:strVal val="#ppt_x"/>
                                          </p:val>
                                        </p:tav>
                                      </p:tavLst>
                                    </p:anim>
                                    <p:anim calcmode="lin" valueType="num">
                                      <p:cBhvr additive="base">
                                        <p:cTn id="8" dur="500" fill="hold"/>
                                        <p:tgtEl>
                                          <p:spTgt spid="10558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05585"/>
                                        </p:tgtEl>
                                        <p:attrNameLst>
                                          <p:attrName>style.visibility</p:attrName>
                                        </p:attrNameLst>
                                      </p:cBhvr>
                                      <p:to>
                                        <p:strVal val="visible"/>
                                      </p:to>
                                    </p:set>
                                    <p:anim calcmode="lin" valueType="num">
                                      <p:cBhvr additive="base">
                                        <p:cTn id="13" dur="500" fill="hold"/>
                                        <p:tgtEl>
                                          <p:spTgt spid="105585"/>
                                        </p:tgtEl>
                                        <p:attrNameLst>
                                          <p:attrName>ppt_x</p:attrName>
                                        </p:attrNameLst>
                                      </p:cBhvr>
                                      <p:tavLst>
                                        <p:tav tm="0">
                                          <p:val>
                                            <p:strVal val="0-#ppt_w/2"/>
                                          </p:val>
                                        </p:tav>
                                        <p:tav tm="100000">
                                          <p:val>
                                            <p:strVal val="#ppt_x"/>
                                          </p:val>
                                        </p:tav>
                                      </p:tavLst>
                                    </p:anim>
                                    <p:anim calcmode="lin" valueType="num">
                                      <p:cBhvr additive="base">
                                        <p:cTn id="14" dur="500" fill="hold"/>
                                        <p:tgtEl>
                                          <p:spTgt spid="10558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05586"/>
                                        </p:tgtEl>
                                        <p:attrNameLst>
                                          <p:attrName>style.visibility</p:attrName>
                                        </p:attrNameLst>
                                      </p:cBhvr>
                                      <p:to>
                                        <p:strVal val="visible"/>
                                      </p:to>
                                    </p:set>
                                    <p:anim calcmode="lin" valueType="num">
                                      <p:cBhvr additive="base">
                                        <p:cTn id="19" dur="500" fill="hold"/>
                                        <p:tgtEl>
                                          <p:spTgt spid="105586"/>
                                        </p:tgtEl>
                                        <p:attrNameLst>
                                          <p:attrName>ppt_x</p:attrName>
                                        </p:attrNameLst>
                                      </p:cBhvr>
                                      <p:tavLst>
                                        <p:tav tm="0">
                                          <p:val>
                                            <p:strVal val="0-#ppt_w/2"/>
                                          </p:val>
                                        </p:tav>
                                        <p:tav tm="100000">
                                          <p:val>
                                            <p:strVal val="#ppt_x"/>
                                          </p:val>
                                        </p:tav>
                                      </p:tavLst>
                                    </p:anim>
                                    <p:anim calcmode="lin" valueType="num">
                                      <p:cBhvr additive="base">
                                        <p:cTn id="20" dur="500" fill="hold"/>
                                        <p:tgtEl>
                                          <p:spTgt spid="10558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05587"/>
                                        </p:tgtEl>
                                        <p:attrNameLst>
                                          <p:attrName>style.visibility</p:attrName>
                                        </p:attrNameLst>
                                      </p:cBhvr>
                                      <p:to>
                                        <p:strVal val="visible"/>
                                      </p:to>
                                    </p:set>
                                    <p:anim calcmode="lin" valueType="num">
                                      <p:cBhvr additive="base">
                                        <p:cTn id="25" dur="500" fill="hold"/>
                                        <p:tgtEl>
                                          <p:spTgt spid="105587"/>
                                        </p:tgtEl>
                                        <p:attrNameLst>
                                          <p:attrName>ppt_x</p:attrName>
                                        </p:attrNameLst>
                                      </p:cBhvr>
                                      <p:tavLst>
                                        <p:tav tm="0">
                                          <p:val>
                                            <p:strVal val="0-#ppt_w/2"/>
                                          </p:val>
                                        </p:tav>
                                        <p:tav tm="100000">
                                          <p:val>
                                            <p:strVal val="#ppt_x"/>
                                          </p:val>
                                        </p:tav>
                                      </p:tavLst>
                                    </p:anim>
                                    <p:anim calcmode="lin" valueType="num">
                                      <p:cBhvr additive="base">
                                        <p:cTn id="26" dur="500" fill="hold"/>
                                        <p:tgtEl>
                                          <p:spTgt spid="10558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8674" name="Group 5"/>
          <p:cNvGrpSpPr/>
          <p:nvPr/>
        </p:nvGrpSpPr>
        <p:grpSpPr>
          <a:xfrm>
            <a:off x="395288" y="1074738"/>
            <a:ext cx="7848600" cy="2354262"/>
            <a:chOff x="476" y="1071"/>
            <a:chExt cx="4944" cy="1483"/>
          </a:xfrm>
        </p:grpSpPr>
        <p:sp>
          <p:nvSpPr>
            <p:cNvPr id="28677" name="Rectangle 6"/>
            <p:cNvSpPr/>
            <p:nvPr/>
          </p:nvSpPr>
          <p:spPr>
            <a:xfrm>
              <a:off x="476" y="1071"/>
              <a:ext cx="4944" cy="148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ts val="3600"/>
                </a:lnSpc>
                <a:spcBef>
                  <a:spcPct val="0"/>
                </a:spcBef>
                <a:buNone/>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描述逻辑函数的方法有以下六种：</a:t>
              </a:r>
              <a:endParaRPr lang="zh-CN" altLang="en-US" sz="2400" b="1" dirty="0">
                <a:latin typeface="Times New Roman" panose="02020603050405020304" pitchFamily="18" charset="0"/>
              </a:endParaRPr>
            </a:p>
            <a:p>
              <a:pPr marL="0" lvl="0" indent="0" eaLnBrk="1" hangingPunct="1">
                <a:lnSpc>
                  <a:spcPts val="3600"/>
                </a:lnSpc>
                <a:spcBef>
                  <a:spcPct val="0"/>
                </a:spcBef>
                <a:buNone/>
              </a:pPr>
              <a:r>
                <a:rPr lang="zh-CN" altLang="en-US" sz="2400" b="1" dirty="0">
                  <a:latin typeface="黑体" panose="02010609060101010101" pitchFamily="49" charset="-122"/>
                  <a:ea typeface="黑体" panose="02010609060101010101" pitchFamily="49" charset="-122"/>
                </a:rPr>
                <a:t>    </a:t>
              </a:r>
              <a:r>
                <a:rPr lang="zh-CN" altLang="en-US" sz="2400" b="1" dirty="0">
                  <a:solidFill>
                    <a:srgbClr val="990000"/>
                  </a:solidFill>
                  <a:latin typeface="黑体" panose="02010609060101010101" pitchFamily="49" charset="-122"/>
                  <a:ea typeface="黑体" panose="02010609060101010101" pitchFamily="49" charset="-122"/>
                </a:rPr>
                <a:t>一、逻辑表达式（</a:t>
              </a:r>
              <a:r>
                <a:rPr lang="en-US" altLang="zh-CN" sz="2400" b="1" dirty="0">
                  <a:solidFill>
                    <a:srgbClr val="990000"/>
                  </a:solidFill>
                  <a:ea typeface="黑体" panose="02010609060101010101" pitchFamily="49" charset="-122"/>
                </a:rPr>
                <a:t>logic function</a:t>
              </a:r>
              <a:r>
                <a:rPr lang="zh-CN" altLang="en-US" sz="2400" b="1" dirty="0">
                  <a:solidFill>
                    <a:srgbClr val="990000"/>
                  </a:solidFill>
                  <a:latin typeface="黑体" panose="02010609060101010101" pitchFamily="49" charset="-122"/>
                  <a:ea typeface="黑体" panose="02010609060101010101" pitchFamily="49" charset="-122"/>
                </a:rPr>
                <a:t>）</a:t>
              </a:r>
              <a:endParaRPr lang="zh-CN" altLang="en-US" sz="2400" b="1" dirty="0">
                <a:solidFill>
                  <a:srgbClr val="990000"/>
                </a:solidFill>
                <a:latin typeface="黑体" panose="02010609060101010101" pitchFamily="49" charset="-122"/>
                <a:ea typeface="黑体" panose="02010609060101010101" pitchFamily="49" charset="-122"/>
              </a:endParaRPr>
            </a:p>
            <a:p>
              <a:pPr marL="0" lvl="0" indent="0" eaLnBrk="1" hangingPunct="1">
                <a:lnSpc>
                  <a:spcPts val="3600"/>
                </a:lnSpc>
                <a:spcBef>
                  <a:spcPct val="0"/>
                </a:spcBef>
                <a:buNone/>
              </a:pPr>
              <a:r>
                <a:rPr lang="zh-CN" altLang="en-US" sz="2400" b="1" dirty="0">
                  <a:latin typeface="Times New Roman" panose="02020603050405020304" pitchFamily="18" charset="0"/>
                </a:rPr>
                <a:t>        用与、或、非等逻辑运算表示逻辑关系的代数式叫逻辑函数表达式或简称函数式。</a:t>
              </a:r>
              <a:endParaRPr lang="zh-CN" altLang="en-US" sz="2400" b="1" dirty="0">
                <a:latin typeface="Times New Roman" panose="02020603050405020304" pitchFamily="18" charset="0"/>
              </a:endParaRPr>
            </a:p>
            <a:p>
              <a:pPr marL="0" lvl="0" indent="0" eaLnBrk="1" hangingPunct="1">
                <a:lnSpc>
                  <a:spcPts val="3600"/>
                </a:lnSpc>
                <a:spcBef>
                  <a:spcPct val="0"/>
                </a:spcBef>
                <a:buNone/>
              </a:pPr>
              <a:r>
                <a:rPr lang="zh-CN" altLang="en-US" sz="2400" b="1" dirty="0">
                  <a:solidFill>
                    <a:srgbClr val="FF0000"/>
                  </a:solidFill>
                  <a:latin typeface="Times New Roman" panose="02020603050405020304" pitchFamily="18" charset="0"/>
                </a:rPr>
                <a:t>        </a:t>
              </a:r>
              <a:r>
                <a:rPr lang="zh-CN" altLang="en-US" sz="2400" b="1" dirty="0">
                  <a:solidFill>
                    <a:srgbClr val="FF0000"/>
                  </a:solidFill>
                  <a:latin typeface="Times New Roman" panose="02020603050405020304" pitchFamily="18" charset="0"/>
                  <a:ea typeface="楷体_GB2312" pitchFamily="49" charset="-122"/>
                </a:rPr>
                <a:t>例：</a:t>
              </a:r>
              <a:r>
                <a:rPr lang="en-US" altLang="zh-CN" sz="2400" b="1" dirty="0">
                  <a:latin typeface="Times New Roman" panose="02020603050405020304" pitchFamily="18" charset="0"/>
                </a:rPr>
                <a:t>Y=AB+    CD</a:t>
              </a:r>
              <a:endParaRPr lang="en-US" altLang="zh-CN" sz="2400" b="1" dirty="0">
                <a:latin typeface="Times New Roman" panose="02020603050405020304" pitchFamily="18" charset="0"/>
              </a:endParaRPr>
            </a:p>
          </p:txBody>
        </p:sp>
        <p:graphicFrame>
          <p:nvGraphicFramePr>
            <p:cNvPr id="28678" name="Object 7"/>
            <p:cNvGraphicFramePr>
              <a:graphicFrameLocks noChangeAspect="1"/>
            </p:cNvGraphicFramePr>
            <p:nvPr/>
          </p:nvGraphicFramePr>
          <p:xfrm>
            <a:off x="1906" y="2239"/>
            <a:ext cx="238" cy="272"/>
          </p:xfrm>
          <a:graphic>
            <a:graphicData uri="http://schemas.openxmlformats.org/presentationml/2006/ole">
              <mc:AlternateContent xmlns:mc="http://schemas.openxmlformats.org/markup-compatibility/2006">
                <mc:Choice xmlns:v="urn:schemas-microsoft-com:vml" Requires="v">
                  <p:oleObj spid="_x0000_s3091" name="" r:id="rId1" imgW="165100" imgH="190500" progId="Equation.3">
                    <p:embed/>
                  </p:oleObj>
                </mc:Choice>
                <mc:Fallback>
                  <p:oleObj name="" r:id="rId1" imgW="165100" imgH="190500" progId="Equation.3">
                    <p:embed/>
                    <p:pic>
                      <p:nvPicPr>
                        <p:cNvPr id="0" name="图片 3090"/>
                        <p:cNvPicPr/>
                        <p:nvPr/>
                      </p:nvPicPr>
                      <p:blipFill>
                        <a:blip r:embed="rId2"/>
                        <a:stretch>
                          <a:fillRect/>
                        </a:stretch>
                      </p:blipFill>
                      <p:spPr>
                        <a:xfrm>
                          <a:off x="1906" y="2239"/>
                          <a:ext cx="238" cy="272"/>
                        </a:xfrm>
                        <a:prstGeom prst="rect">
                          <a:avLst/>
                        </a:prstGeom>
                        <a:noFill/>
                        <a:ln w="38100">
                          <a:noFill/>
                          <a:miter/>
                        </a:ln>
                      </p:spPr>
                    </p:pic>
                  </p:oleObj>
                </mc:Fallback>
              </mc:AlternateContent>
            </a:graphicData>
          </a:graphic>
        </p:graphicFrame>
      </p:grpSp>
      <p:sp>
        <p:nvSpPr>
          <p:cNvPr id="28675" name="AutoShape 8"/>
          <p:cNvSpPr/>
          <p:nvPr/>
        </p:nvSpPr>
        <p:spPr>
          <a:xfrm>
            <a:off x="323850" y="260350"/>
            <a:ext cx="5761038" cy="504825"/>
          </a:xfrm>
          <a:prstGeom prst="roundRect">
            <a:avLst>
              <a:gd name="adj" fmla="val 50000"/>
            </a:avLst>
          </a:prstGeom>
          <a:solidFill>
            <a:schemeClr val="accent1"/>
          </a:solidFill>
          <a:ln w="38100" cap="flat" cmpd="sng">
            <a:solidFill>
              <a:srgbClr val="FFFFFF"/>
            </a:solidFill>
            <a:prstDash val="solid"/>
            <a:headEnd type="none" w="med" len="med"/>
            <a:tailEnd type="none" w="med" len="med"/>
          </a:ln>
          <a:effectLst>
            <a:outerShdw dist="63500" dir="3187806" algn="ctr" rotWithShape="0">
              <a:srgbClr val="001D3A"/>
            </a:outerShdw>
          </a:effectLst>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dirty="0">
                <a:solidFill>
                  <a:srgbClr val="0000CC"/>
                </a:solidFill>
                <a:latin typeface="Times New Roman" panose="02020603050405020304" pitchFamily="18" charset="0"/>
                <a:ea typeface="黑体" panose="02010609060101010101" pitchFamily="49" charset="-122"/>
              </a:rPr>
              <a:t>3  </a:t>
            </a:r>
            <a:r>
              <a:rPr lang="zh-CN" altLang="en-US" sz="2400" b="1" dirty="0">
                <a:solidFill>
                  <a:srgbClr val="0000CC"/>
                </a:solidFill>
                <a:ea typeface="黑体" panose="02010609060101010101" pitchFamily="49" charset="-122"/>
              </a:rPr>
              <a:t>逻辑函数的描述（即表示方法）</a:t>
            </a:r>
            <a:endParaRPr lang="zh-CN" altLang="en-US" sz="2400" b="1" dirty="0">
              <a:solidFill>
                <a:srgbClr val="0000CC"/>
              </a:solidFill>
              <a:ea typeface="黑体" panose="02010609060101010101" pitchFamily="49" charset="-122"/>
            </a:endParaRPr>
          </a:p>
        </p:txBody>
      </p:sp>
      <p:sp>
        <p:nvSpPr>
          <p:cNvPr id="142345" name="Rectangle 9"/>
          <p:cNvSpPr/>
          <p:nvPr/>
        </p:nvSpPr>
        <p:spPr>
          <a:xfrm>
            <a:off x="395288" y="3433763"/>
            <a:ext cx="8748712" cy="33242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ts val="3600"/>
              </a:lnSpc>
              <a:spcBef>
                <a:spcPct val="0"/>
              </a:spcBef>
              <a:buNone/>
            </a:pPr>
            <a:r>
              <a:rPr lang="en-US" altLang="zh-CN" sz="2400" b="1" dirty="0"/>
              <a:t>       </a:t>
            </a:r>
            <a:r>
              <a:rPr lang="zh-CN" altLang="en-US" sz="2400" b="1" dirty="0">
                <a:solidFill>
                  <a:srgbClr val="990000"/>
                </a:solidFill>
                <a:ea typeface="黑体" panose="02010609060101010101" pitchFamily="49" charset="-122"/>
              </a:rPr>
              <a:t>二、真值表（</a:t>
            </a:r>
            <a:r>
              <a:rPr lang="en-US" altLang="zh-CN" sz="2400" b="1" dirty="0">
                <a:solidFill>
                  <a:srgbClr val="990000"/>
                </a:solidFill>
                <a:ea typeface="黑体" panose="02010609060101010101" pitchFamily="49" charset="-122"/>
              </a:rPr>
              <a:t>truth table</a:t>
            </a:r>
            <a:r>
              <a:rPr lang="zh-CN" altLang="en-US" sz="2400" b="1" dirty="0">
                <a:solidFill>
                  <a:srgbClr val="990000"/>
                </a:solidFill>
                <a:ea typeface="黑体" panose="02010609060101010101" pitchFamily="49" charset="-122"/>
              </a:rPr>
              <a:t>）</a:t>
            </a:r>
            <a:endParaRPr lang="zh-CN" altLang="en-US" sz="2400" b="1" dirty="0">
              <a:solidFill>
                <a:srgbClr val="990000"/>
              </a:solidFill>
              <a:ea typeface="黑体" panose="02010609060101010101" pitchFamily="49" charset="-122"/>
            </a:endParaRPr>
          </a:p>
          <a:p>
            <a:pPr marL="0" lvl="0" indent="0" eaLnBrk="1" hangingPunct="1">
              <a:lnSpc>
                <a:spcPts val="3600"/>
              </a:lnSpc>
              <a:spcBef>
                <a:spcPct val="0"/>
              </a:spcBef>
              <a:buNone/>
            </a:pPr>
            <a:r>
              <a:rPr lang="zh-CN" altLang="en-US" sz="2400" b="1" dirty="0"/>
              <a:t>        </a:t>
            </a:r>
            <a:r>
              <a:rPr lang="zh-CN" altLang="en-US" sz="2400" b="1" u="sng" dirty="0">
                <a:solidFill>
                  <a:schemeClr val="accent2"/>
                </a:solidFill>
                <a:ea typeface="黑体" panose="02010609060101010101" pitchFamily="49" charset="-122"/>
              </a:rPr>
              <a:t>将输入变量</a:t>
            </a:r>
            <a:r>
              <a:rPr lang="zh-CN" altLang="en-US" sz="2400" b="1" u="sng" dirty="0">
                <a:solidFill>
                  <a:srgbClr val="FF0000"/>
                </a:solidFill>
                <a:ea typeface="黑体" panose="02010609060101010101" pitchFamily="49" charset="-122"/>
              </a:rPr>
              <a:t>所有的取值</a:t>
            </a:r>
            <a:r>
              <a:rPr lang="zh-CN" altLang="en-US" sz="2400" b="1" u="sng" dirty="0">
                <a:solidFill>
                  <a:schemeClr val="accent2"/>
                </a:solidFill>
                <a:ea typeface="黑体" panose="02010609060101010101" pitchFamily="49" charset="-122"/>
              </a:rPr>
              <a:t>对应的输出值找出来，列成表格，即可得真值表</a:t>
            </a:r>
            <a:r>
              <a:rPr lang="zh-CN" altLang="en-US" sz="2400" b="1" dirty="0"/>
              <a:t>。列真值表时，需注意以下几点：     </a:t>
            </a:r>
            <a:endParaRPr lang="zh-CN" altLang="en-US" sz="2400" b="1" dirty="0"/>
          </a:p>
          <a:p>
            <a:pPr marL="0" lvl="0" indent="0" eaLnBrk="1" hangingPunct="1">
              <a:lnSpc>
                <a:spcPts val="3600"/>
              </a:lnSpc>
              <a:spcBef>
                <a:spcPct val="0"/>
              </a:spcBef>
              <a:buNone/>
            </a:pPr>
            <a:r>
              <a:rPr lang="zh-CN" altLang="en-US" sz="2400" b="1" dirty="0"/>
              <a:t>         （</a:t>
            </a:r>
            <a:r>
              <a:rPr lang="en-US" altLang="zh-CN" sz="2400" b="1" dirty="0"/>
              <a:t>1</a:t>
            </a:r>
            <a:r>
              <a:rPr lang="zh-CN" altLang="en-US" sz="2400" b="1" dirty="0"/>
              <a:t>）所有的输入的组合不可遗漏，也不可重复；输入组合最好按二进制数递增的顺序排列（</a:t>
            </a:r>
            <a:r>
              <a:rPr lang="zh-CN" altLang="en-US" sz="2400" b="1" dirty="0">
                <a:solidFill>
                  <a:srgbClr val="FF0000"/>
                </a:solidFill>
              </a:rPr>
              <a:t>完整性</a:t>
            </a:r>
            <a:r>
              <a:rPr lang="zh-CN" altLang="en-US" sz="2400" b="1" dirty="0"/>
              <a:t>）。</a:t>
            </a:r>
            <a:endParaRPr lang="zh-CN" altLang="en-US" sz="2400" b="1" dirty="0"/>
          </a:p>
          <a:p>
            <a:pPr marL="0" lvl="0" indent="0" eaLnBrk="1" hangingPunct="1">
              <a:lnSpc>
                <a:spcPts val="3600"/>
              </a:lnSpc>
              <a:spcBef>
                <a:spcPct val="0"/>
              </a:spcBef>
              <a:buNone/>
            </a:pPr>
            <a:r>
              <a:rPr lang="zh-CN" altLang="en-US" sz="2400" b="1" dirty="0"/>
              <a:t>         （</a:t>
            </a:r>
            <a:r>
              <a:rPr lang="en-US" altLang="zh-CN" sz="2400" b="1" dirty="0"/>
              <a:t>2</a:t>
            </a:r>
            <a:r>
              <a:rPr lang="zh-CN" altLang="en-US" sz="2400" b="1" dirty="0"/>
              <a:t>）同一逻辑函数的真值表具有</a:t>
            </a:r>
            <a:r>
              <a:rPr lang="zh-CN" altLang="en-US" sz="2400" b="1" dirty="0">
                <a:solidFill>
                  <a:srgbClr val="FF0000"/>
                </a:solidFill>
              </a:rPr>
              <a:t>唯一性</a:t>
            </a:r>
            <a:r>
              <a:rPr lang="zh-CN" altLang="en-US" sz="2400" b="1" dirty="0"/>
              <a:t>。        </a:t>
            </a:r>
            <a:endParaRPr lang="zh-CN" altLang="en-US" sz="2400" b="1" dirty="0"/>
          </a:p>
          <a:p>
            <a:pPr marL="0" lvl="0" indent="0" eaLnBrk="1" hangingPunct="1">
              <a:lnSpc>
                <a:spcPts val="3600"/>
              </a:lnSpc>
              <a:spcBef>
                <a:spcPct val="0"/>
              </a:spcBef>
              <a:buNone/>
            </a:pPr>
            <a:r>
              <a:rPr lang="zh-CN" altLang="en-US" sz="2400" b="1" dirty="0"/>
              <a:t>        </a:t>
            </a:r>
            <a:r>
              <a:rPr lang="zh-CN" altLang="en-US" sz="2400" b="1" dirty="0">
                <a:solidFill>
                  <a:srgbClr val="FF0000"/>
                </a:solidFill>
                <a:ea typeface="楷体_GB2312" pitchFamily="49" charset="-122"/>
              </a:rPr>
              <a:t>例：</a:t>
            </a:r>
            <a:r>
              <a:rPr lang="zh-CN" altLang="en-US" sz="2400" b="1" dirty="0"/>
              <a:t>请列出举重裁判电路</a:t>
            </a:r>
            <a:r>
              <a:rPr lang="en-US" altLang="zh-CN" sz="2400" b="1" dirty="0"/>
              <a:t>Y=A</a:t>
            </a:r>
            <a:r>
              <a:rPr lang="en-US" altLang="zh-CN" sz="2400" b="1" dirty="0">
                <a:latin typeface="宋体" panose="02010600030101010101" pitchFamily="2" charset="-122"/>
              </a:rPr>
              <a:t>·</a:t>
            </a:r>
            <a:r>
              <a:rPr lang="en-US" altLang="zh-CN" sz="2400" b="1" dirty="0"/>
              <a:t>(B+C)</a:t>
            </a:r>
            <a:r>
              <a:rPr lang="zh-CN" altLang="en-US" sz="2400" b="1" dirty="0"/>
              <a:t>的真值表。</a:t>
            </a:r>
            <a:endParaRPr lang="zh-CN" altLang="en-US" sz="2400" b="1" dirty="0"/>
          </a:p>
        </p:txBody>
      </p:sp>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2345"/>
                                        </p:tgtEl>
                                        <p:attrNameLst>
                                          <p:attrName>style.visibility</p:attrName>
                                        </p:attrNameLst>
                                      </p:cBhvr>
                                      <p:to>
                                        <p:strVal val="visible"/>
                                      </p:to>
                                    </p:set>
                                    <p:animEffect transition="in" filter="blinds(horizontal)">
                                      <p:cBhvr>
                                        <p:cTn id="7" dur="500"/>
                                        <p:tgtEl>
                                          <p:spTgt spid="1423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4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5"/>
          <p:cNvSpPr/>
          <p:nvPr/>
        </p:nvSpPr>
        <p:spPr>
          <a:xfrm>
            <a:off x="468313" y="620713"/>
            <a:ext cx="8496300" cy="46196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solidFill>
                  <a:srgbClr val="FF0000"/>
                </a:solidFill>
                <a:latin typeface="Times New Roman" panose="02020603050405020304" pitchFamily="18" charset="0"/>
                <a:ea typeface="楷体_GB2312" pitchFamily="49" charset="-122"/>
              </a:rPr>
              <a:t>例：</a:t>
            </a:r>
            <a:r>
              <a:rPr lang="zh-CN" altLang="en-US" sz="2400" b="1" dirty="0">
                <a:latin typeface="Times New Roman" panose="02020603050405020304" pitchFamily="18" charset="0"/>
              </a:rPr>
              <a:t>已知某逻辑函数的真值表如下所示，试写出其逻辑函数式。</a:t>
            </a:r>
            <a:endParaRPr lang="zh-CN" altLang="en-US" sz="2400" b="1" dirty="0">
              <a:latin typeface="Times New Roman" panose="02020603050405020304" pitchFamily="18" charset="0"/>
            </a:endParaRPr>
          </a:p>
        </p:txBody>
      </p:sp>
      <p:graphicFrame>
        <p:nvGraphicFramePr>
          <p:cNvPr id="143366" name="Group 6"/>
          <p:cNvGraphicFramePr>
            <a:graphicFrameLocks noGrp="1"/>
          </p:cNvGraphicFramePr>
          <p:nvPr/>
        </p:nvGraphicFramePr>
        <p:xfrm>
          <a:off x="755650" y="2060575"/>
          <a:ext cx="3095625" cy="3352800"/>
        </p:xfrm>
        <a:graphic>
          <a:graphicData uri="http://schemas.openxmlformats.org/drawingml/2006/table">
            <a:tbl>
              <a:tblPr/>
              <a:tblGrid>
                <a:gridCol w="1446213"/>
                <a:gridCol w="1649412"/>
              </a:tblGrid>
              <a:tr h="2889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     B     C</a:t>
                      </a: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Y</a:t>
                      </a: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764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0      0      0</a:t>
                      </a: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0      0      1</a:t>
                      </a:r>
                      <a:endParaRPr kumimoji="0" lang="en-US" altLang="zh-CN" sz="20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0      1      0</a:t>
                      </a:r>
                      <a:endParaRPr kumimoji="0" lang="en-US" altLang="zh-CN" sz="20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0      1      1</a:t>
                      </a: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1      0      0</a:t>
                      </a:r>
                      <a:endParaRPr kumimoji="0" lang="en-US" altLang="zh-CN" sz="20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1      0      1</a:t>
                      </a: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1      1      0</a:t>
                      </a: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1      1      1</a:t>
                      </a:r>
                      <a:endParaRPr kumimoji="0" lang="en-US" altLang="zh-CN" sz="20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43379" name="Text Box 19"/>
          <p:cNvSpPr txBox="1"/>
          <p:nvPr/>
        </p:nvSpPr>
        <p:spPr>
          <a:xfrm>
            <a:off x="4284663" y="1557338"/>
            <a:ext cx="4679950" cy="41084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ts val="2900"/>
              </a:lnSpc>
              <a:spcBef>
                <a:spcPct val="50000"/>
              </a:spcBef>
              <a:buNone/>
            </a:pPr>
            <a:r>
              <a:rPr lang="zh-CN" altLang="en-US" sz="2000" b="1" dirty="0">
                <a:latin typeface="Times New Roman" panose="02020603050405020304" pitchFamily="18" charset="0"/>
              </a:rPr>
              <a:t>从真值表写出</a:t>
            </a:r>
            <a:r>
              <a:rPr lang="zh-CN" altLang="en-US" sz="2000" b="1" dirty="0">
                <a:solidFill>
                  <a:srgbClr val="FF0000"/>
                </a:solidFill>
                <a:latin typeface="Times New Roman" panose="02020603050405020304" pitchFamily="18" charset="0"/>
              </a:rPr>
              <a:t>逻辑函数</a:t>
            </a:r>
            <a:r>
              <a:rPr lang="zh-CN" altLang="en-US" sz="2000" b="1" dirty="0">
                <a:latin typeface="Times New Roman" panose="02020603050405020304" pitchFamily="18" charset="0"/>
              </a:rPr>
              <a:t>的一般方法：</a:t>
            </a:r>
            <a:endParaRPr lang="zh-CN" altLang="en-US" sz="2000" b="1" dirty="0">
              <a:latin typeface="Times New Roman" panose="02020603050405020304" pitchFamily="18" charset="0"/>
            </a:endParaRPr>
          </a:p>
          <a:p>
            <a:pPr marL="0" lvl="0" indent="0" eaLnBrk="1" hangingPunct="1">
              <a:lnSpc>
                <a:spcPts val="2900"/>
              </a:lnSpc>
              <a:spcBef>
                <a:spcPct val="50000"/>
              </a:spcBef>
              <a:buNone/>
            </a:pPr>
            <a:r>
              <a:rPr lang="en-US" altLang="zh-CN" sz="2000" b="1" dirty="0">
                <a:latin typeface="Times New Roman" panose="02020603050405020304" pitchFamily="18" charset="0"/>
              </a:rPr>
              <a:t>1</a:t>
            </a:r>
            <a:r>
              <a:rPr lang="zh-CN" altLang="en-US" sz="2000" b="1" dirty="0">
                <a:latin typeface="Times New Roman" panose="02020603050405020304" pitchFamily="18" charset="0"/>
              </a:rPr>
              <a:t>、找出真值表中使逻辑函数</a:t>
            </a:r>
            <a:r>
              <a:rPr lang="en-US" altLang="zh-CN" sz="2000" b="1" dirty="0">
                <a:solidFill>
                  <a:srgbClr val="FF0000"/>
                </a:solidFill>
                <a:latin typeface="Times New Roman" panose="02020603050405020304" pitchFamily="18" charset="0"/>
              </a:rPr>
              <a:t>Y</a:t>
            </a:r>
            <a:r>
              <a:rPr lang="zh-CN" altLang="en-US" sz="2000" b="1" dirty="0">
                <a:solidFill>
                  <a:srgbClr val="FF0000"/>
                </a:solidFill>
                <a:latin typeface="Times New Roman" panose="02020603050405020304" pitchFamily="18" charset="0"/>
              </a:rPr>
              <a:t>＝</a:t>
            </a:r>
            <a:r>
              <a:rPr lang="en-US" altLang="zh-CN" sz="2000" b="1" dirty="0">
                <a:solidFill>
                  <a:srgbClr val="FF0000"/>
                </a:solidFill>
                <a:latin typeface="Times New Roman" panose="02020603050405020304" pitchFamily="18" charset="0"/>
              </a:rPr>
              <a:t>1</a:t>
            </a:r>
            <a:r>
              <a:rPr lang="zh-CN" altLang="en-US" sz="2000" b="1" dirty="0">
                <a:latin typeface="Times New Roman" panose="02020603050405020304" pitchFamily="18" charset="0"/>
              </a:rPr>
              <a:t>的</a:t>
            </a:r>
            <a:endParaRPr lang="zh-CN" altLang="en-US" sz="2000" b="1" dirty="0">
              <a:latin typeface="Times New Roman" panose="02020603050405020304" pitchFamily="18" charset="0"/>
            </a:endParaRPr>
          </a:p>
          <a:p>
            <a:pPr marL="0" lvl="0" indent="0" eaLnBrk="1" hangingPunct="1">
              <a:lnSpc>
                <a:spcPts val="2900"/>
              </a:lnSpc>
              <a:spcBef>
                <a:spcPct val="50000"/>
              </a:spcBef>
              <a:buNone/>
            </a:pPr>
            <a:r>
              <a:rPr lang="zh-CN" altLang="en-US" sz="2000" b="1" dirty="0">
                <a:latin typeface="Times New Roman" panose="02020603050405020304" pitchFamily="18" charset="0"/>
              </a:rPr>
              <a:t>      那些输入变量取值的组合；</a:t>
            </a:r>
            <a:endParaRPr lang="zh-CN" altLang="en-US" sz="2000" b="1" dirty="0">
              <a:latin typeface="Times New Roman" panose="02020603050405020304" pitchFamily="18" charset="0"/>
            </a:endParaRPr>
          </a:p>
          <a:p>
            <a:pPr marL="0" lvl="0" indent="0" eaLnBrk="1" hangingPunct="1">
              <a:lnSpc>
                <a:spcPts val="2900"/>
              </a:lnSpc>
              <a:spcBef>
                <a:spcPct val="50000"/>
              </a:spcBef>
              <a:buNone/>
            </a:pPr>
            <a:r>
              <a:rPr lang="en-US" altLang="zh-CN" sz="2000" b="1" dirty="0">
                <a:latin typeface="Times New Roman" panose="02020603050405020304" pitchFamily="18" charset="0"/>
              </a:rPr>
              <a:t>2</a:t>
            </a:r>
            <a:r>
              <a:rPr lang="zh-CN" altLang="en-US" sz="2000" b="1" dirty="0">
                <a:latin typeface="Times New Roman" panose="02020603050405020304" pitchFamily="18" charset="0"/>
              </a:rPr>
              <a:t>、每组输入变量取值的组合对应一</a:t>
            </a:r>
            <a:endParaRPr lang="zh-CN" altLang="en-US" sz="2000" b="1" dirty="0">
              <a:latin typeface="Times New Roman" panose="02020603050405020304" pitchFamily="18" charset="0"/>
            </a:endParaRPr>
          </a:p>
          <a:p>
            <a:pPr marL="0" lvl="0" indent="0" eaLnBrk="1" hangingPunct="1">
              <a:lnSpc>
                <a:spcPts val="2900"/>
              </a:lnSpc>
              <a:spcBef>
                <a:spcPct val="50000"/>
              </a:spcBef>
              <a:buNone/>
            </a:pPr>
            <a:r>
              <a:rPr lang="zh-CN" altLang="en-US" sz="2000" b="1" dirty="0">
                <a:latin typeface="Times New Roman" panose="02020603050405020304" pitchFamily="18" charset="0"/>
              </a:rPr>
              <a:t>     个乘积项，其中取值为</a:t>
            </a:r>
            <a:r>
              <a:rPr lang="en-US" altLang="zh-CN" sz="2000" b="1" dirty="0">
                <a:solidFill>
                  <a:srgbClr val="FF0000"/>
                </a:solidFill>
                <a:latin typeface="Times New Roman" panose="02020603050405020304" pitchFamily="18" charset="0"/>
              </a:rPr>
              <a:t>1</a:t>
            </a:r>
            <a:r>
              <a:rPr lang="zh-CN" altLang="en-US" sz="2000" b="1" dirty="0">
                <a:latin typeface="Times New Roman" panose="02020603050405020304" pitchFamily="18" charset="0"/>
              </a:rPr>
              <a:t>的写入</a:t>
            </a:r>
            <a:r>
              <a:rPr lang="zh-CN" altLang="en-US" sz="2000" b="1" dirty="0">
                <a:solidFill>
                  <a:srgbClr val="FF0000"/>
                </a:solidFill>
                <a:latin typeface="Times New Roman" panose="02020603050405020304" pitchFamily="18" charset="0"/>
              </a:rPr>
              <a:t>原</a:t>
            </a:r>
            <a:endParaRPr lang="zh-CN" altLang="en-US" sz="2000" b="1" dirty="0">
              <a:solidFill>
                <a:srgbClr val="FF0000"/>
              </a:solidFill>
              <a:latin typeface="Times New Roman" panose="02020603050405020304" pitchFamily="18" charset="0"/>
            </a:endParaRPr>
          </a:p>
          <a:p>
            <a:pPr marL="0" lvl="0" indent="0" eaLnBrk="1" hangingPunct="1">
              <a:lnSpc>
                <a:spcPts val="2900"/>
              </a:lnSpc>
              <a:spcBef>
                <a:spcPct val="50000"/>
              </a:spcBef>
              <a:buNone/>
            </a:pPr>
            <a:r>
              <a:rPr lang="zh-CN" altLang="en-US" sz="2000" b="1" dirty="0">
                <a:solidFill>
                  <a:srgbClr val="FF0000"/>
                </a:solidFill>
                <a:latin typeface="Times New Roman" panose="02020603050405020304" pitchFamily="18" charset="0"/>
              </a:rPr>
              <a:t>     变量</a:t>
            </a:r>
            <a:r>
              <a:rPr lang="zh-CN" altLang="en-US" sz="2000" b="1" dirty="0">
                <a:latin typeface="Times New Roman" panose="02020603050405020304" pitchFamily="18" charset="0"/>
              </a:rPr>
              <a:t>，取值为</a:t>
            </a:r>
            <a:r>
              <a:rPr lang="en-US" altLang="zh-CN" sz="2000" b="1" dirty="0">
                <a:solidFill>
                  <a:srgbClr val="FF0000"/>
                </a:solidFill>
                <a:latin typeface="Times New Roman" panose="02020603050405020304" pitchFamily="18" charset="0"/>
              </a:rPr>
              <a:t>0</a:t>
            </a:r>
            <a:r>
              <a:rPr lang="zh-CN" altLang="en-US" sz="2000" b="1" dirty="0">
                <a:latin typeface="Times New Roman" panose="02020603050405020304" pitchFamily="18" charset="0"/>
              </a:rPr>
              <a:t>的写入</a:t>
            </a:r>
            <a:r>
              <a:rPr lang="zh-CN" altLang="en-US" sz="2000" b="1" dirty="0">
                <a:solidFill>
                  <a:srgbClr val="FF0000"/>
                </a:solidFill>
                <a:latin typeface="Times New Roman" panose="02020603050405020304" pitchFamily="18" charset="0"/>
              </a:rPr>
              <a:t>反变量</a:t>
            </a:r>
            <a:r>
              <a:rPr lang="zh-CN" altLang="en-US" sz="2000" b="1" dirty="0">
                <a:latin typeface="Times New Roman" panose="02020603050405020304" pitchFamily="18" charset="0"/>
              </a:rPr>
              <a:t>；</a:t>
            </a:r>
            <a:endParaRPr lang="zh-CN" altLang="en-US" sz="2000" b="1" dirty="0">
              <a:latin typeface="Times New Roman" panose="02020603050405020304" pitchFamily="18" charset="0"/>
            </a:endParaRPr>
          </a:p>
          <a:p>
            <a:pPr marL="0" lvl="0" indent="0" eaLnBrk="1" hangingPunct="1">
              <a:lnSpc>
                <a:spcPts val="2900"/>
              </a:lnSpc>
              <a:spcBef>
                <a:spcPct val="50000"/>
              </a:spcBef>
              <a:buNone/>
            </a:pPr>
            <a:r>
              <a:rPr lang="en-US" altLang="zh-CN" sz="2000" b="1" dirty="0">
                <a:latin typeface="Times New Roman" panose="02020603050405020304" pitchFamily="18" charset="0"/>
              </a:rPr>
              <a:t>3</a:t>
            </a:r>
            <a:r>
              <a:rPr lang="zh-CN" altLang="en-US" sz="2000" b="1" dirty="0">
                <a:latin typeface="Times New Roman" panose="02020603050405020304" pitchFamily="18" charset="0"/>
              </a:rPr>
              <a:t>、将这些乘积项相</a:t>
            </a:r>
            <a:r>
              <a:rPr lang="zh-CN" altLang="en-US" sz="2000" b="1" dirty="0">
                <a:solidFill>
                  <a:srgbClr val="FF0000"/>
                </a:solidFill>
                <a:latin typeface="Times New Roman" panose="02020603050405020304" pitchFamily="18" charset="0"/>
              </a:rPr>
              <a:t>或（加）</a:t>
            </a:r>
            <a:r>
              <a:rPr lang="zh-CN" altLang="en-US" sz="2000" b="1" dirty="0">
                <a:latin typeface="Times New Roman" panose="02020603050405020304" pitchFamily="18" charset="0"/>
              </a:rPr>
              <a:t>，即可</a:t>
            </a:r>
            <a:endParaRPr lang="zh-CN" altLang="en-US" sz="2000" b="1" dirty="0">
              <a:latin typeface="Times New Roman" panose="02020603050405020304" pitchFamily="18" charset="0"/>
            </a:endParaRPr>
          </a:p>
          <a:p>
            <a:pPr marL="0" lvl="0" indent="0" eaLnBrk="1" hangingPunct="1">
              <a:lnSpc>
                <a:spcPts val="2900"/>
              </a:lnSpc>
              <a:spcBef>
                <a:spcPct val="50000"/>
              </a:spcBef>
              <a:buNone/>
            </a:pPr>
            <a:r>
              <a:rPr lang="zh-CN" altLang="en-US" sz="2000" b="1" dirty="0">
                <a:latin typeface="Times New Roman" panose="02020603050405020304" pitchFamily="18" charset="0"/>
              </a:rPr>
              <a:t>      得逻辑函数式。</a:t>
            </a:r>
            <a:endParaRPr lang="zh-CN" altLang="en-US" sz="2000" b="1" dirty="0">
              <a:latin typeface="Times New Roman" panose="02020603050405020304" pitchFamily="18" charset="0"/>
            </a:endParaRPr>
          </a:p>
        </p:txBody>
      </p:sp>
      <p:sp>
        <p:nvSpPr>
          <p:cNvPr id="143382" name="Rectangle 22"/>
          <p:cNvSpPr/>
          <p:nvPr/>
        </p:nvSpPr>
        <p:spPr>
          <a:xfrm>
            <a:off x="971550" y="5876925"/>
            <a:ext cx="72009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t>（</a:t>
            </a:r>
            <a:r>
              <a:rPr lang="en-US" altLang="zh-CN" sz="2400" b="1" dirty="0"/>
              <a:t>3</a:t>
            </a:r>
            <a:r>
              <a:rPr lang="zh-CN" altLang="en-US" sz="2400" b="1" dirty="0"/>
              <a:t>）真值表还可作为</a:t>
            </a:r>
            <a:r>
              <a:rPr lang="zh-CN" altLang="en-US" sz="2400" b="1" dirty="0">
                <a:solidFill>
                  <a:srgbClr val="FF0000"/>
                </a:solidFill>
              </a:rPr>
              <a:t>判断两函数是否相等</a:t>
            </a:r>
            <a:r>
              <a:rPr lang="zh-CN" altLang="en-US" sz="2400" b="1" dirty="0"/>
              <a:t>的依据。</a:t>
            </a:r>
            <a:endParaRPr lang="zh-CN" altLang="en-US" sz="2400" b="1" dirty="0"/>
          </a:p>
        </p:txBody>
      </p:sp>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379"/>
                                        </p:tgtEl>
                                        <p:attrNameLst>
                                          <p:attrName>style.visibility</p:attrName>
                                        </p:attrNameLst>
                                      </p:cBhvr>
                                      <p:to>
                                        <p:strVal val="visible"/>
                                      </p:to>
                                    </p:set>
                                    <p:animEffect transition="in" filter="blinds(horizontal)">
                                      <p:cBhvr>
                                        <p:cTn id="7" dur="500"/>
                                        <p:tgtEl>
                                          <p:spTgt spid="14337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3382"/>
                                        </p:tgtEl>
                                        <p:attrNameLst>
                                          <p:attrName>style.visibility</p:attrName>
                                        </p:attrNameLst>
                                      </p:cBhvr>
                                      <p:to>
                                        <p:strVal val="visible"/>
                                      </p:to>
                                    </p:set>
                                    <p:animEffect transition="in" filter="blinds(horizontal)">
                                      <p:cBhvr>
                                        <p:cTn id="12" dur="500"/>
                                        <p:tgtEl>
                                          <p:spTgt spid="1433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79" grpId="0"/>
      <p:bldP spid="14338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0722" name="Group 5"/>
          <p:cNvGrpSpPr/>
          <p:nvPr/>
        </p:nvGrpSpPr>
        <p:grpSpPr>
          <a:xfrm>
            <a:off x="900113" y="1052513"/>
            <a:ext cx="7467600" cy="2292350"/>
            <a:chOff x="567" y="376"/>
            <a:chExt cx="4704" cy="1444"/>
          </a:xfrm>
        </p:grpSpPr>
        <p:sp>
          <p:nvSpPr>
            <p:cNvPr id="30725" name="Rectangle 6"/>
            <p:cNvSpPr/>
            <p:nvPr/>
          </p:nvSpPr>
          <p:spPr>
            <a:xfrm>
              <a:off x="567" y="376"/>
              <a:ext cx="4704" cy="144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ts val="3500"/>
                </a:lnSpc>
                <a:spcBef>
                  <a:spcPct val="0"/>
                </a:spcBef>
                <a:buNone/>
              </a:pPr>
              <a:r>
                <a:rPr lang="zh-CN" altLang="en-US" sz="2400" b="1" dirty="0">
                  <a:solidFill>
                    <a:srgbClr val="990000"/>
                  </a:solidFill>
                  <a:latin typeface="Times New Roman" panose="02020603050405020304" pitchFamily="18" charset="0"/>
                  <a:ea typeface="黑体" panose="02010609060101010101" pitchFamily="49" charset="-122"/>
                </a:rPr>
                <a:t>三、逻辑电路图</a:t>
              </a:r>
              <a:r>
                <a:rPr lang="en-US" altLang="zh-CN" sz="2400" b="1" dirty="0">
                  <a:solidFill>
                    <a:srgbClr val="990000"/>
                  </a:solidFill>
                  <a:latin typeface="Times New Roman" panose="02020603050405020304" pitchFamily="18" charset="0"/>
                  <a:ea typeface="黑体" panose="02010609060101010101" pitchFamily="49" charset="-122"/>
                </a:rPr>
                <a:t>(</a:t>
              </a:r>
              <a:r>
                <a:rPr lang="en-US" altLang="zh-CN" sz="2400" b="1" dirty="0">
                  <a:solidFill>
                    <a:srgbClr val="990000"/>
                  </a:solidFill>
                  <a:ea typeface="黑体" panose="02010609060101010101" pitchFamily="49" charset="-122"/>
                </a:rPr>
                <a:t>logic diagram</a:t>
              </a:r>
              <a:r>
                <a:rPr lang="en-US" altLang="zh-CN" sz="2400" b="1" dirty="0">
                  <a:solidFill>
                    <a:srgbClr val="990000"/>
                  </a:solidFill>
                  <a:latin typeface="Times New Roman" panose="02020603050405020304" pitchFamily="18" charset="0"/>
                  <a:ea typeface="黑体" panose="02010609060101010101" pitchFamily="49" charset="-122"/>
                </a:rPr>
                <a:t>)</a:t>
              </a:r>
              <a:endParaRPr lang="en-US" altLang="zh-CN" sz="2400" b="1" dirty="0">
                <a:solidFill>
                  <a:srgbClr val="990000"/>
                </a:solidFill>
                <a:latin typeface="Times New Roman" panose="02020603050405020304" pitchFamily="18" charset="0"/>
                <a:ea typeface="黑体" panose="02010609060101010101" pitchFamily="49" charset="-122"/>
              </a:endParaRPr>
            </a:p>
            <a:p>
              <a:pPr marL="0" lvl="0" indent="0" eaLnBrk="1" hangingPunct="1">
                <a:lnSpc>
                  <a:spcPts val="3500"/>
                </a:lnSpc>
                <a:spcBef>
                  <a:spcPct val="0"/>
                </a:spcBef>
                <a:buNone/>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用代表逻辑运算的逻辑门符号所构成的逻辑关系图形，叫逻辑电路图，简称逻辑图。</a:t>
              </a:r>
              <a:endParaRPr lang="zh-CN" altLang="en-US" sz="2400" b="1" dirty="0">
                <a:latin typeface="Times New Roman" panose="02020603050405020304" pitchFamily="18" charset="0"/>
              </a:endParaRPr>
            </a:p>
            <a:p>
              <a:pPr marL="0" lvl="0" indent="0" eaLnBrk="1" hangingPunct="1">
                <a:lnSpc>
                  <a:spcPts val="3500"/>
                </a:lnSpc>
                <a:spcBef>
                  <a:spcPct val="0"/>
                </a:spcBef>
                <a:buNone/>
              </a:pPr>
              <a:r>
                <a:rPr lang="zh-CN" altLang="en-US" sz="2400" b="1" dirty="0">
                  <a:solidFill>
                    <a:srgbClr val="FF0000"/>
                  </a:solidFill>
                  <a:latin typeface="Times New Roman" panose="02020603050405020304" pitchFamily="18" charset="0"/>
                </a:rPr>
                <a:t>        </a:t>
              </a:r>
              <a:endParaRPr lang="zh-CN" altLang="en-US" sz="2400" b="1" dirty="0">
                <a:solidFill>
                  <a:srgbClr val="FF0000"/>
                </a:solidFill>
                <a:latin typeface="Times New Roman" panose="02020603050405020304" pitchFamily="18" charset="0"/>
              </a:endParaRPr>
            </a:p>
            <a:p>
              <a:pPr marL="0" lvl="0" indent="0" eaLnBrk="1" hangingPunct="1">
                <a:lnSpc>
                  <a:spcPts val="3500"/>
                </a:lnSpc>
                <a:spcBef>
                  <a:spcPct val="0"/>
                </a:spcBef>
                <a:buNone/>
              </a:pPr>
              <a:r>
                <a:rPr lang="zh-CN" altLang="en-US" sz="2400" b="1" dirty="0">
                  <a:solidFill>
                    <a:srgbClr val="FF0000"/>
                  </a:solidFill>
                  <a:latin typeface="Times New Roman" panose="02020603050405020304" pitchFamily="18" charset="0"/>
                </a:rPr>
                <a:t>        </a:t>
              </a:r>
              <a:r>
                <a:rPr lang="zh-CN" altLang="en-US" sz="2400" b="1" dirty="0">
                  <a:solidFill>
                    <a:srgbClr val="FF0000"/>
                  </a:solidFill>
                  <a:latin typeface="Times New Roman" panose="02020603050405020304" pitchFamily="18" charset="0"/>
                  <a:ea typeface="楷体_GB2312" pitchFamily="49" charset="-122"/>
                </a:rPr>
                <a:t>例：</a:t>
              </a:r>
              <a:r>
                <a:rPr lang="zh-CN" altLang="en-US" sz="2400" b="1" dirty="0">
                  <a:latin typeface="Times New Roman" panose="02020603050405020304" pitchFamily="18" charset="0"/>
                </a:rPr>
                <a:t>请画出                                   的逻辑电路图。</a:t>
              </a:r>
              <a:endParaRPr lang="zh-CN" altLang="en-US" sz="2400" b="1" dirty="0">
                <a:solidFill>
                  <a:srgbClr val="FF0000"/>
                </a:solidFill>
                <a:latin typeface="Times New Roman" panose="02020603050405020304" pitchFamily="18" charset="0"/>
              </a:endParaRPr>
            </a:p>
          </p:txBody>
        </p:sp>
        <p:graphicFrame>
          <p:nvGraphicFramePr>
            <p:cNvPr id="30726" name="Object 7"/>
            <p:cNvGraphicFramePr>
              <a:graphicFrameLocks noChangeAspect="1"/>
            </p:cNvGraphicFramePr>
            <p:nvPr/>
          </p:nvGraphicFramePr>
          <p:xfrm>
            <a:off x="2081" y="1465"/>
            <a:ext cx="1597" cy="323"/>
          </p:xfrm>
          <a:graphic>
            <a:graphicData uri="http://schemas.openxmlformats.org/presentationml/2006/ole">
              <mc:AlternateContent xmlns:mc="http://schemas.openxmlformats.org/markup-compatibility/2006">
                <mc:Choice xmlns:v="urn:schemas-microsoft-com:vml" Requires="v">
                  <p:oleObj spid="_x0000_s3092" name="" r:id="rId1" imgW="1002665" imgH="203200" progId="Equation.3">
                    <p:embed/>
                  </p:oleObj>
                </mc:Choice>
                <mc:Fallback>
                  <p:oleObj name="" r:id="rId1" imgW="1002665" imgH="203200" progId="Equation.3">
                    <p:embed/>
                    <p:pic>
                      <p:nvPicPr>
                        <p:cNvPr id="0" name="图片 3091"/>
                        <p:cNvPicPr/>
                        <p:nvPr/>
                      </p:nvPicPr>
                      <p:blipFill>
                        <a:blip r:embed="rId2"/>
                        <a:stretch>
                          <a:fillRect/>
                        </a:stretch>
                      </p:blipFill>
                      <p:spPr>
                        <a:xfrm>
                          <a:off x="2081" y="1465"/>
                          <a:ext cx="1597" cy="323"/>
                        </a:xfrm>
                        <a:prstGeom prst="rect">
                          <a:avLst/>
                        </a:prstGeom>
                        <a:noFill/>
                        <a:ln w="38100">
                          <a:noFill/>
                          <a:miter/>
                        </a:ln>
                      </p:spPr>
                    </p:pic>
                  </p:oleObj>
                </mc:Fallback>
              </mc:AlternateContent>
            </a:graphicData>
          </a:graphic>
        </p:graphicFrame>
      </p:grpSp>
      <p:sp>
        <p:nvSpPr>
          <p:cNvPr id="144392" name="Rectangle 8"/>
          <p:cNvSpPr/>
          <p:nvPr/>
        </p:nvSpPr>
        <p:spPr>
          <a:xfrm>
            <a:off x="827088" y="3573463"/>
            <a:ext cx="4572000" cy="8223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solidFill>
                  <a:srgbClr val="990000"/>
                </a:solidFill>
                <a:ea typeface="黑体" panose="02010609060101010101" pitchFamily="49" charset="-122"/>
              </a:rPr>
              <a:t>四、卡诺图</a:t>
            </a:r>
            <a:r>
              <a:rPr lang="en-US" altLang="zh-CN" sz="2400" b="1" dirty="0">
                <a:solidFill>
                  <a:srgbClr val="990000"/>
                </a:solidFill>
                <a:ea typeface="黑体" panose="02010609060101010101" pitchFamily="49" charset="-122"/>
              </a:rPr>
              <a:t>(Karnaugh Map</a:t>
            </a:r>
            <a:r>
              <a:rPr lang="en-US" altLang="zh-CN" sz="2400" b="1" dirty="0">
                <a:solidFill>
                  <a:srgbClr val="990000"/>
                </a:solidFill>
                <a:latin typeface="黑体" panose="02010609060101010101" pitchFamily="49" charset="-122"/>
                <a:ea typeface="黑体" panose="02010609060101010101" pitchFamily="49" charset="-122"/>
              </a:rPr>
              <a:t>)</a:t>
            </a:r>
            <a:endParaRPr lang="en-US" altLang="zh-CN" sz="2400" b="1" dirty="0">
              <a:solidFill>
                <a:srgbClr val="990000"/>
              </a:solidFill>
              <a:latin typeface="黑体" panose="02010609060101010101" pitchFamily="49" charset="-122"/>
              <a:ea typeface="黑体" panose="02010609060101010101" pitchFamily="49" charset="-122"/>
            </a:endParaRPr>
          </a:p>
          <a:p>
            <a:pPr marL="0" lvl="0" indent="0" eaLnBrk="1" hangingPunct="1">
              <a:spcBef>
                <a:spcPct val="0"/>
              </a:spcBef>
              <a:buNone/>
            </a:pPr>
            <a:r>
              <a:rPr lang="en-US" altLang="zh-CN" sz="2400" b="1" dirty="0">
                <a:latin typeface="宋体" panose="02010600030101010101" pitchFamily="2" charset="-122"/>
              </a:rPr>
              <a:t>    </a:t>
            </a:r>
            <a:r>
              <a:rPr lang="zh-CN" altLang="en-US" sz="2400" b="1" dirty="0">
                <a:latin typeface="宋体" panose="02010600030101010101" pitchFamily="2" charset="-122"/>
              </a:rPr>
              <a:t>后述。</a:t>
            </a:r>
            <a:endParaRPr lang="zh-CN" altLang="en-US" sz="2400" dirty="0">
              <a:latin typeface="宋体" panose="02010600030101010101" pitchFamily="2" charset="-122"/>
            </a:endParaRPr>
          </a:p>
        </p:txBody>
      </p:sp>
      <p:sp>
        <p:nvSpPr>
          <p:cNvPr id="144393" name="Rectangle 9"/>
          <p:cNvSpPr/>
          <p:nvPr/>
        </p:nvSpPr>
        <p:spPr>
          <a:xfrm>
            <a:off x="466725" y="4652963"/>
            <a:ext cx="8210550" cy="147796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ts val="3600"/>
              </a:lnSpc>
              <a:spcBef>
                <a:spcPct val="0"/>
              </a:spcBef>
              <a:buNone/>
            </a:pPr>
            <a:r>
              <a:rPr lang="en-US" altLang="zh-CN" sz="2400" b="1" dirty="0">
                <a:latin typeface="黑体" panose="02010609060101010101" pitchFamily="49" charset="-122"/>
                <a:ea typeface="黑体" panose="02010609060101010101" pitchFamily="49" charset="-122"/>
              </a:rPr>
              <a:t>  </a:t>
            </a:r>
            <a:r>
              <a:rPr lang="zh-CN" altLang="en-US" sz="2400" b="1" dirty="0">
                <a:solidFill>
                  <a:srgbClr val="990000"/>
                </a:solidFill>
                <a:latin typeface="黑体" panose="02010609060101010101" pitchFamily="49" charset="-122"/>
                <a:ea typeface="黑体" panose="02010609060101010101" pitchFamily="49" charset="-122"/>
              </a:rPr>
              <a:t>五、波形图（时序图）</a:t>
            </a:r>
            <a:r>
              <a:rPr lang="en-US" altLang="zh-CN" sz="2400" b="1" dirty="0">
                <a:solidFill>
                  <a:srgbClr val="990000"/>
                </a:solidFill>
                <a:latin typeface="黑体" panose="02010609060101010101" pitchFamily="49" charset="-122"/>
                <a:ea typeface="黑体" panose="02010609060101010101" pitchFamily="49" charset="-122"/>
              </a:rPr>
              <a:t>(</a:t>
            </a:r>
            <a:r>
              <a:rPr lang="en-US" altLang="zh-CN" sz="2400" b="1" dirty="0">
                <a:solidFill>
                  <a:srgbClr val="990000"/>
                </a:solidFill>
                <a:ea typeface="黑体" panose="02010609060101010101" pitchFamily="49" charset="-122"/>
              </a:rPr>
              <a:t>waveform or timing diagram</a:t>
            </a:r>
            <a:r>
              <a:rPr lang="en-US" altLang="zh-CN" sz="2400" b="1" dirty="0">
                <a:solidFill>
                  <a:srgbClr val="990000"/>
                </a:solidFill>
                <a:latin typeface="黑体" panose="02010609060101010101" pitchFamily="49" charset="-122"/>
                <a:ea typeface="黑体" panose="02010609060101010101" pitchFamily="49" charset="-122"/>
              </a:rPr>
              <a:t>)</a:t>
            </a:r>
            <a:endParaRPr lang="en-US" altLang="zh-CN" sz="2400" b="1" dirty="0">
              <a:solidFill>
                <a:srgbClr val="990000"/>
              </a:solidFill>
              <a:latin typeface="黑体" panose="02010609060101010101" pitchFamily="49" charset="-122"/>
              <a:ea typeface="黑体" panose="02010609060101010101" pitchFamily="49" charset="-122"/>
            </a:endParaRPr>
          </a:p>
          <a:p>
            <a:pPr marL="0" lvl="0" indent="0" eaLnBrk="1" hangingPunct="1">
              <a:lnSpc>
                <a:spcPts val="3600"/>
              </a:lnSpc>
              <a:spcBef>
                <a:spcPct val="0"/>
              </a:spcBef>
              <a:buNone/>
            </a:pPr>
            <a:r>
              <a:rPr lang="en-US" altLang="zh-CN" sz="2400" b="1" dirty="0">
                <a:latin typeface="宋体" panose="02010600030101010101" pitchFamily="2" charset="-122"/>
              </a:rPr>
              <a:t>      </a:t>
            </a:r>
            <a:r>
              <a:rPr lang="zh-CN" altLang="en-US" sz="2400" b="1" dirty="0">
                <a:latin typeface="宋体" panose="02010600030101010101" pitchFamily="2" charset="-122"/>
              </a:rPr>
              <a:t>指各个逻辑变量的逻辑值随时间变化的规律图。</a:t>
            </a:r>
            <a:endParaRPr lang="zh-CN" altLang="en-US" sz="2400" b="1" dirty="0">
              <a:latin typeface="宋体" panose="02010600030101010101" pitchFamily="2" charset="-122"/>
            </a:endParaRPr>
          </a:p>
          <a:p>
            <a:pPr marL="0" lvl="0" indent="0" eaLnBrk="1" hangingPunct="1">
              <a:lnSpc>
                <a:spcPts val="3600"/>
              </a:lnSpc>
              <a:spcBef>
                <a:spcPct val="0"/>
              </a:spcBef>
              <a:buNone/>
            </a:pPr>
            <a:r>
              <a:rPr lang="zh-CN" altLang="en-US" sz="2400" b="1" dirty="0">
                <a:latin typeface="宋体" panose="02010600030101010101" pitchFamily="2" charset="-122"/>
              </a:rPr>
              <a:t>      </a:t>
            </a:r>
            <a:r>
              <a:rPr lang="zh-CN" altLang="en-US" sz="2400" b="1" dirty="0">
                <a:solidFill>
                  <a:srgbClr val="FF0000"/>
                </a:solidFill>
                <a:latin typeface="楷体_GB2312" pitchFamily="49" charset="-122"/>
                <a:ea typeface="楷体_GB2312" pitchFamily="49" charset="-122"/>
              </a:rPr>
              <a:t>例：</a:t>
            </a:r>
            <a:r>
              <a:rPr lang="zh-CN" altLang="en-US" sz="2400" b="1" dirty="0">
                <a:latin typeface="宋体" panose="02010600030101010101" pitchFamily="2" charset="-122"/>
              </a:rPr>
              <a:t>试画出举重裁判电路的波形图。</a:t>
            </a:r>
            <a:endParaRPr lang="zh-CN" altLang="en-US" sz="2400" b="1" dirty="0">
              <a:latin typeface="宋体" panose="02010600030101010101" pitchFamily="2" charset="-122"/>
            </a:endParaRPr>
          </a:p>
        </p:txBody>
      </p:sp>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4392"/>
                                        </p:tgtEl>
                                        <p:attrNameLst>
                                          <p:attrName>style.visibility</p:attrName>
                                        </p:attrNameLst>
                                      </p:cBhvr>
                                      <p:to>
                                        <p:strVal val="visible"/>
                                      </p:to>
                                    </p:set>
                                    <p:animEffect transition="in" filter="blinds(horizontal)">
                                      <p:cBhvr>
                                        <p:cTn id="7" dur="500"/>
                                        <p:tgtEl>
                                          <p:spTgt spid="14439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4393"/>
                                        </p:tgtEl>
                                        <p:attrNameLst>
                                          <p:attrName>style.visibility</p:attrName>
                                        </p:attrNameLst>
                                      </p:cBhvr>
                                      <p:to>
                                        <p:strVal val="visible"/>
                                      </p:to>
                                    </p:set>
                                    <p:animEffect transition="in" filter="blinds(horizontal)">
                                      <p:cBhvr>
                                        <p:cTn id="12" dur="500"/>
                                        <p:tgtEl>
                                          <p:spTgt spid="1443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92" grpId="0"/>
      <p:bldP spid="14439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Line 13"/>
          <p:cNvSpPr/>
          <p:nvPr/>
        </p:nvSpPr>
        <p:spPr>
          <a:xfrm>
            <a:off x="2339975" y="1412875"/>
            <a:ext cx="0" cy="3816350"/>
          </a:xfrm>
          <a:prstGeom prst="line">
            <a:avLst/>
          </a:prstGeom>
          <a:ln w="19050" cap="flat" cmpd="sng">
            <a:solidFill>
              <a:schemeClr val="tx1"/>
            </a:solidFill>
            <a:prstDash val="lgDash"/>
            <a:headEnd type="none" w="med" len="med"/>
            <a:tailEnd type="none" w="med" len="med"/>
          </a:ln>
        </p:spPr>
      </p:sp>
      <p:sp>
        <p:nvSpPr>
          <p:cNvPr id="31747" name="Line 14"/>
          <p:cNvSpPr/>
          <p:nvPr/>
        </p:nvSpPr>
        <p:spPr>
          <a:xfrm>
            <a:off x="2987675" y="1412875"/>
            <a:ext cx="0" cy="3816350"/>
          </a:xfrm>
          <a:prstGeom prst="line">
            <a:avLst/>
          </a:prstGeom>
          <a:ln w="19050" cap="flat" cmpd="sng">
            <a:solidFill>
              <a:schemeClr val="tx1"/>
            </a:solidFill>
            <a:prstDash val="lgDash"/>
            <a:headEnd type="none" w="med" len="med"/>
            <a:tailEnd type="none" w="med" len="med"/>
          </a:ln>
        </p:spPr>
      </p:sp>
      <p:sp>
        <p:nvSpPr>
          <p:cNvPr id="31748" name="Line 15"/>
          <p:cNvSpPr/>
          <p:nvPr/>
        </p:nvSpPr>
        <p:spPr>
          <a:xfrm>
            <a:off x="3635375" y="1412875"/>
            <a:ext cx="0" cy="3816350"/>
          </a:xfrm>
          <a:prstGeom prst="line">
            <a:avLst/>
          </a:prstGeom>
          <a:ln w="19050" cap="flat" cmpd="sng">
            <a:solidFill>
              <a:schemeClr val="tx1"/>
            </a:solidFill>
            <a:prstDash val="lgDash"/>
            <a:headEnd type="none" w="med" len="med"/>
            <a:tailEnd type="none" w="med" len="med"/>
          </a:ln>
        </p:spPr>
      </p:sp>
      <p:sp>
        <p:nvSpPr>
          <p:cNvPr id="31749" name="Line 16"/>
          <p:cNvSpPr/>
          <p:nvPr/>
        </p:nvSpPr>
        <p:spPr>
          <a:xfrm>
            <a:off x="6443663" y="1412875"/>
            <a:ext cx="0" cy="3816350"/>
          </a:xfrm>
          <a:prstGeom prst="line">
            <a:avLst/>
          </a:prstGeom>
          <a:ln w="19050" cap="flat" cmpd="sng">
            <a:solidFill>
              <a:schemeClr val="tx1"/>
            </a:solidFill>
            <a:prstDash val="lgDash"/>
            <a:headEnd type="none" w="med" len="med"/>
            <a:tailEnd type="none" w="med" len="med"/>
          </a:ln>
        </p:spPr>
      </p:sp>
      <p:sp>
        <p:nvSpPr>
          <p:cNvPr id="31750" name="Line 17"/>
          <p:cNvSpPr/>
          <p:nvPr/>
        </p:nvSpPr>
        <p:spPr>
          <a:xfrm>
            <a:off x="4356100" y="1412875"/>
            <a:ext cx="0" cy="3816350"/>
          </a:xfrm>
          <a:prstGeom prst="line">
            <a:avLst/>
          </a:prstGeom>
          <a:ln w="19050" cap="flat" cmpd="sng">
            <a:solidFill>
              <a:schemeClr val="tx1"/>
            </a:solidFill>
            <a:prstDash val="lgDash"/>
            <a:headEnd type="none" w="med" len="med"/>
            <a:tailEnd type="none" w="med" len="med"/>
          </a:ln>
        </p:spPr>
      </p:sp>
      <p:sp>
        <p:nvSpPr>
          <p:cNvPr id="31751" name="Line 18"/>
          <p:cNvSpPr/>
          <p:nvPr/>
        </p:nvSpPr>
        <p:spPr>
          <a:xfrm>
            <a:off x="7164388" y="1412875"/>
            <a:ext cx="0" cy="3816350"/>
          </a:xfrm>
          <a:prstGeom prst="line">
            <a:avLst/>
          </a:prstGeom>
          <a:ln w="19050" cap="flat" cmpd="sng">
            <a:solidFill>
              <a:schemeClr val="tx1"/>
            </a:solidFill>
            <a:prstDash val="lgDash"/>
            <a:headEnd type="none" w="med" len="med"/>
            <a:tailEnd type="none" w="med" len="med"/>
          </a:ln>
        </p:spPr>
      </p:sp>
      <p:sp>
        <p:nvSpPr>
          <p:cNvPr id="31752" name="Line 19"/>
          <p:cNvSpPr/>
          <p:nvPr/>
        </p:nvSpPr>
        <p:spPr>
          <a:xfrm>
            <a:off x="5003800" y="1412875"/>
            <a:ext cx="0" cy="3816350"/>
          </a:xfrm>
          <a:prstGeom prst="line">
            <a:avLst/>
          </a:prstGeom>
          <a:ln w="19050" cap="flat" cmpd="sng">
            <a:solidFill>
              <a:schemeClr val="tx1"/>
            </a:solidFill>
            <a:prstDash val="lgDash"/>
            <a:headEnd type="none" w="med" len="med"/>
            <a:tailEnd type="none" w="med" len="med"/>
          </a:ln>
        </p:spPr>
      </p:sp>
      <p:sp>
        <p:nvSpPr>
          <p:cNvPr id="31753" name="Line 20"/>
          <p:cNvSpPr/>
          <p:nvPr/>
        </p:nvSpPr>
        <p:spPr>
          <a:xfrm>
            <a:off x="5724525" y="1412875"/>
            <a:ext cx="0" cy="3816350"/>
          </a:xfrm>
          <a:prstGeom prst="line">
            <a:avLst/>
          </a:prstGeom>
          <a:ln w="19050" cap="flat" cmpd="sng">
            <a:solidFill>
              <a:schemeClr val="tx1"/>
            </a:solidFill>
            <a:prstDash val="lgDash"/>
            <a:headEnd type="none" w="med" len="med"/>
            <a:tailEnd type="none" w="med" len="med"/>
          </a:ln>
        </p:spPr>
      </p:sp>
      <p:grpSp>
        <p:nvGrpSpPr>
          <p:cNvPr id="84082" name="Group 114"/>
          <p:cNvGrpSpPr/>
          <p:nvPr/>
        </p:nvGrpSpPr>
        <p:grpSpPr>
          <a:xfrm>
            <a:off x="1763713" y="2133600"/>
            <a:ext cx="576262" cy="1727200"/>
            <a:chOff x="703" y="1888"/>
            <a:chExt cx="363" cy="1088"/>
          </a:xfrm>
        </p:grpSpPr>
        <p:sp>
          <p:nvSpPr>
            <p:cNvPr id="31849" name="Line 21"/>
            <p:cNvSpPr/>
            <p:nvPr/>
          </p:nvSpPr>
          <p:spPr>
            <a:xfrm>
              <a:off x="703" y="1888"/>
              <a:ext cx="363" cy="0"/>
            </a:xfrm>
            <a:prstGeom prst="line">
              <a:avLst/>
            </a:prstGeom>
            <a:ln w="28575" cap="flat" cmpd="sng">
              <a:solidFill>
                <a:srgbClr val="0000CC"/>
              </a:solidFill>
              <a:prstDash val="solid"/>
              <a:headEnd type="none" w="med" len="med"/>
              <a:tailEnd type="none" w="med" len="med"/>
            </a:ln>
          </p:spPr>
        </p:sp>
        <p:sp>
          <p:nvSpPr>
            <p:cNvPr id="31850" name="Line 22"/>
            <p:cNvSpPr/>
            <p:nvPr/>
          </p:nvSpPr>
          <p:spPr>
            <a:xfrm>
              <a:off x="703" y="2432"/>
              <a:ext cx="363" cy="0"/>
            </a:xfrm>
            <a:prstGeom prst="line">
              <a:avLst/>
            </a:prstGeom>
            <a:ln w="28575" cap="flat" cmpd="sng">
              <a:solidFill>
                <a:srgbClr val="0000CC"/>
              </a:solidFill>
              <a:prstDash val="solid"/>
              <a:headEnd type="none" w="med" len="med"/>
              <a:tailEnd type="none" w="med" len="med"/>
            </a:ln>
          </p:spPr>
        </p:sp>
        <p:sp>
          <p:nvSpPr>
            <p:cNvPr id="31851" name="Line 23"/>
            <p:cNvSpPr/>
            <p:nvPr/>
          </p:nvSpPr>
          <p:spPr>
            <a:xfrm>
              <a:off x="703" y="2976"/>
              <a:ext cx="363" cy="0"/>
            </a:xfrm>
            <a:prstGeom prst="line">
              <a:avLst/>
            </a:prstGeom>
            <a:ln w="28575" cap="flat" cmpd="sng">
              <a:solidFill>
                <a:srgbClr val="0000CC"/>
              </a:solidFill>
              <a:prstDash val="solid"/>
              <a:headEnd type="none" w="med" len="med"/>
              <a:tailEnd type="none" w="med" len="med"/>
            </a:ln>
          </p:spPr>
        </p:sp>
      </p:grpSp>
      <p:sp>
        <p:nvSpPr>
          <p:cNvPr id="83992" name="Line 24"/>
          <p:cNvSpPr/>
          <p:nvPr/>
        </p:nvSpPr>
        <p:spPr>
          <a:xfrm>
            <a:off x="1763713" y="4797425"/>
            <a:ext cx="576262" cy="0"/>
          </a:xfrm>
          <a:prstGeom prst="line">
            <a:avLst/>
          </a:prstGeom>
          <a:ln w="28575" cap="flat" cmpd="sng">
            <a:solidFill>
              <a:srgbClr val="FF0000"/>
            </a:solidFill>
            <a:prstDash val="solid"/>
            <a:headEnd type="none" w="med" len="med"/>
            <a:tailEnd type="none" w="med" len="med"/>
          </a:ln>
        </p:spPr>
      </p:sp>
      <p:grpSp>
        <p:nvGrpSpPr>
          <p:cNvPr id="84083" name="Group 115"/>
          <p:cNvGrpSpPr/>
          <p:nvPr/>
        </p:nvGrpSpPr>
        <p:grpSpPr>
          <a:xfrm>
            <a:off x="2339975" y="1628775"/>
            <a:ext cx="647700" cy="2232025"/>
            <a:chOff x="1066" y="1570"/>
            <a:chExt cx="408" cy="1406"/>
          </a:xfrm>
        </p:grpSpPr>
        <p:grpSp>
          <p:nvGrpSpPr>
            <p:cNvPr id="31842" name="Group 27"/>
            <p:cNvGrpSpPr/>
            <p:nvPr/>
          </p:nvGrpSpPr>
          <p:grpSpPr>
            <a:xfrm>
              <a:off x="1066" y="1570"/>
              <a:ext cx="408" cy="318"/>
              <a:chOff x="1066" y="1570"/>
              <a:chExt cx="408" cy="318"/>
            </a:xfrm>
          </p:grpSpPr>
          <p:sp>
            <p:nvSpPr>
              <p:cNvPr id="31847" name="Line 25"/>
              <p:cNvSpPr/>
              <p:nvPr/>
            </p:nvSpPr>
            <p:spPr>
              <a:xfrm flipV="1">
                <a:off x="1066" y="1570"/>
                <a:ext cx="0" cy="318"/>
              </a:xfrm>
              <a:prstGeom prst="line">
                <a:avLst/>
              </a:prstGeom>
              <a:ln w="28575" cap="flat" cmpd="sng">
                <a:solidFill>
                  <a:srgbClr val="0000CC"/>
                </a:solidFill>
                <a:prstDash val="solid"/>
                <a:headEnd type="none" w="med" len="med"/>
                <a:tailEnd type="none" w="med" len="med"/>
              </a:ln>
            </p:spPr>
          </p:sp>
          <p:sp>
            <p:nvSpPr>
              <p:cNvPr id="31848" name="Line 26"/>
              <p:cNvSpPr/>
              <p:nvPr/>
            </p:nvSpPr>
            <p:spPr>
              <a:xfrm>
                <a:off x="1066" y="1570"/>
                <a:ext cx="408" cy="0"/>
              </a:xfrm>
              <a:prstGeom prst="line">
                <a:avLst/>
              </a:prstGeom>
              <a:ln w="28575" cap="flat" cmpd="sng">
                <a:solidFill>
                  <a:srgbClr val="0000CC"/>
                </a:solidFill>
                <a:prstDash val="solid"/>
                <a:headEnd type="none" w="med" len="med"/>
                <a:tailEnd type="none" w="med" len="med"/>
              </a:ln>
            </p:spPr>
          </p:sp>
        </p:grpSp>
        <p:grpSp>
          <p:nvGrpSpPr>
            <p:cNvPr id="31843" name="Group 28"/>
            <p:cNvGrpSpPr/>
            <p:nvPr/>
          </p:nvGrpSpPr>
          <p:grpSpPr>
            <a:xfrm>
              <a:off x="1066" y="2114"/>
              <a:ext cx="408" cy="318"/>
              <a:chOff x="1066" y="1570"/>
              <a:chExt cx="408" cy="318"/>
            </a:xfrm>
          </p:grpSpPr>
          <p:sp>
            <p:nvSpPr>
              <p:cNvPr id="31845" name="Line 29"/>
              <p:cNvSpPr/>
              <p:nvPr/>
            </p:nvSpPr>
            <p:spPr>
              <a:xfrm flipV="1">
                <a:off x="1066" y="1570"/>
                <a:ext cx="0" cy="318"/>
              </a:xfrm>
              <a:prstGeom prst="line">
                <a:avLst/>
              </a:prstGeom>
              <a:ln w="28575" cap="flat" cmpd="sng">
                <a:solidFill>
                  <a:srgbClr val="0000CC"/>
                </a:solidFill>
                <a:prstDash val="solid"/>
                <a:headEnd type="none" w="med" len="med"/>
                <a:tailEnd type="none" w="med" len="med"/>
              </a:ln>
            </p:spPr>
          </p:sp>
          <p:sp>
            <p:nvSpPr>
              <p:cNvPr id="31846" name="Line 30"/>
              <p:cNvSpPr/>
              <p:nvPr/>
            </p:nvSpPr>
            <p:spPr>
              <a:xfrm>
                <a:off x="1066" y="1570"/>
                <a:ext cx="408" cy="0"/>
              </a:xfrm>
              <a:prstGeom prst="line">
                <a:avLst/>
              </a:prstGeom>
              <a:ln w="28575" cap="flat" cmpd="sng">
                <a:solidFill>
                  <a:srgbClr val="0000CC"/>
                </a:solidFill>
                <a:prstDash val="solid"/>
                <a:headEnd type="none" w="med" len="med"/>
                <a:tailEnd type="none" w="med" len="med"/>
              </a:ln>
            </p:spPr>
          </p:sp>
        </p:grpSp>
        <p:sp>
          <p:nvSpPr>
            <p:cNvPr id="31844" name="Line 34"/>
            <p:cNvSpPr/>
            <p:nvPr/>
          </p:nvSpPr>
          <p:spPr>
            <a:xfrm>
              <a:off x="1066" y="2976"/>
              <a:ext cx="408" cy="0"/>
            </a:xfrm>
            <a:prstGeom prst="line">
              <a:avLst/>
            </a:prstGeom>
            <a:ln w="28575" cap="flat" cmpd="sng">
              <a:solidFill>
                <a:srgbClr val="0000CC"/>
              </a:solidFill>
              <a:prstDash val="solid"/>
              <a:headEnd type="none" w="med" len="med"/>
              <a:tailEnd type="none" w="med" len="med"/>
            </a:ln>
          </p:spPr>
        </p:sp>
      </p:grpSp>
      <p:grpSp>
        <p:nvGrpSpPr>
          <p:cNvPr id="84003" name="Group 35"/>
          <p:cNvGrpSpPr/>
          <p:nvPr/>
        </p:nvGrpSpPr>
        <p:grpSpPr>
          <a:xfrm>
            <a:off x="2339975" y="4294188"/>
            <a:ext cx="647700" cy="504825"/>
            <a:chOff x="1066" y="1570"/>
            <a:chExt cx="408" cy="318"/>
          </a:xfrm>
        </p:grpSpPr>
        <p:sp>
          <p:nvSpPr>
            <p:cNvPr id="31840" name="Line 36"/>
            <p:cNvSpPr/>
            <p:nvPr/>
          </p:nvSpPr>
          <p:spPr>
            <a:xfrm flipV="1">
              <a:off x="1066" y="1570"/>
              <a:ext cx="0" cy="318"/>
            </a:xfrm>
            <a:prstGeom prst="line">
              <a:avLst/>
            </a:prstGeom>
            <a:ln w="28575" cap="flat" cmpd="sng">
              <a:solidFill>
                <a:srgbClr val="FF0000"/>
              </a:solidFill>
              <a:prstDash val="solid"/>
              <a:headEnd type="none" w="med" len="med"/>
              <a:tailEnd type="none" w="med" len="med"/>
            </a:ln>
          </p:spPr>
        </p:sp>
        <p:sp>
          <p:nvSpPr>
            <p:cNvPr id="31841" name="Line 37"/>
            <p:cNvSpPr/>
            <p:nvPr/>
          </p:nvSpPr>
          <p:spPr>
            <a:xfrm>
              <a:off x="1066" y="1570"/>
              <a:ext cx="408" cy="0"/>
            </a:xfrm>
            <a:prstGeom prst="line">
              <a:avLst/>
            </a:prstGeom>
            <a:ln w="28575" cap="flat" cmpd="sng">
              <a:solidFill>
                <a:srgbClr val="FF0000"/>
              </a:solidFill>
              <a:prstDash val="solid"/>
              <a:headEnd type="none" w="med" len="med"/>
              <a:tailEnd type="none" w="med" len="med"/>
            </a:ln>
          </p:spPr>
        </p:sp>
      </p:grpSp>
      <p:grpSp>
        <p:nvGrpSpPr>
          <p:cNvPr id="84084" name="Group 116"/>
          <p:cNvGrpSpPr/>
          <p:nvPr/>
        </p:nvGrpSpPr>
        <p:grpSpPr>
          <a:xfrm>
            <a:off x="2987675" y="1628775"/>
            <a:ext cx="647700" cy="2233613"/>
            <a:chOff x="1474" y="1570"/>
            <a:chExt cx="408" cy="1407"/>
          </a:xfrm>
        </p:grpSpPr>
        <p:sp>
          <p:nvSpPr>
            <p:cNvPr id="31835" name="Line 41"/>
            <p:cNvSpPr/>
            <p:nvPr/>
          </p:nvSpPr>
          <p:spPr>
            <a:xfrm>
              <a:off x="1474" y="1570"/>
              <a:ext cx="408" cy="0"/>
            </a:xfrm>
            <a:prstGeom prst="line">
              <a:avLst/>
            </a:prstGeom>
            <a:ln w="28575" cap="flat" cmpd="sng">
              <a:solidFill>
                <a:srgbClr val="0000CC"/>
              </a:solidFill>
              <a:prstDash val="solid"/>
              <a:headEnd type="none" w="med" len="med"/>
              <a:tailEnd type="none" w="med" len="med"/>
            </a:ln>
          </p:spPr>
        </p:sp>
        <p:sp>
          <p:nvSpPr>
            <p:cNvPr id="31836" name="Line 42"/>
            <p:cNvSpPr/>
            <p:nvPr/>
          </p:nvSpPr>
          <p:spPr>
            <a:xfrm>
              <a:off x="1474" y="2115"/>
              <a:ext cx="408" cy="0"/>
            </a:xfrm>
            <a:prstGeom prst="line">
              <a:avLst/>
            </a:prstGeom>
            <a:ln w="28575" cap="flat" cmpd="sng">
              <a:solidFill>
                <a:srgbClr val="0000CC"/>
              </a:solidFill>
              <a:prstDash val="solid"/>
              <a:headEnd type="none" w="med" len="med"/>
              <a:tailEnd type="none" w="med" len="med"/>
            </a:ln>
          </p:spPr>
        </p:sp>
        <p:grpSp>
          <p:nvGrpSpPr>
            <p:cNvPr id="31837" name="Group 43"/>
            <p:cNvGrpSpPr/>
            <p:nvPr/>
          </p:nvGrpSpPr>
          <p:grpSpPr>
            <a:xfrm>
              <a:off x="1474" y="2659"/>
              <a:ext cx="408" cy="318"/>
              <a:chOff x="1066" y="1570"/>
              <a:chExt cx="408" cy="318"/>
            </a:xfrm>
          </p:grpSpPr>
          <p:sp>
            <p:nvSpPr>
              <p:cNvPr id="31838" name="Line 44"/>
              <p:cNvSpPr/>
              <p:nvPr/>
            </p:nvSpPr>
            <p:spPr>
              <a:xfrm flipV="1">
                <a:off x="1066" y="1570"/>
                <a:ext cx="0" cy="318"/>
              </a:xfrm>
              <a:prstGeom prst="line">
                <a:avLst/>
              </a:prstGeom>
              <a:ln w="28575" cap="flat" cmpd="sng">
                <a:solidFill>
                  <a:srgbClr val="0000CC"/>
                </a:solidFill>
                <a:prstDash val="solid"/>
                <a:headEnd type="none" w="med" len="med"/>
                <a:tailEnd type="none" w="med" len="med"/>
              </a:ln>
            </p:spPr>
          </p:sp>
          <p:sp>
            <p:nvSpPr>
              <p:cNvPr id="31839" name="Line 45"/>
              <p:cNvSpPr/>
              <p:nvPr/>
            </p:nvSpPr>
            <p:spPr>
              <a:xfrm>
                <a:off x="1066" y="1570"/>
                <a:ext cx="408" cy="0"/>
              </a:xfrm>
              <a:prstGeom prst="line">
                <a:avLst/>
              </a:prstGeom>
              <a:ln w="28575" cap="flat" cmpd="sng">
                <a:solidFill>
                  <a:srgbClr val="0000CC"/>
                </a:solidFill>
                <a:prstDash val="solid"/>
                <a:headEnd type="none" w="med" len="med"/>
                <a:tailEnd type="none" w="med" len="med"/>
              </a:ln>
            </p:spPr>
          </p:sp>
        </p:grpSp>
      </p:grpSp>
      <p:sp>
        <p:nvSpPr>
          <p:cNvPr id="84014" name="Line 46"/>
          <p:cNvSpPr/>
          <p:nvPr/>
        </p:nvSpPr>
        <p:spPr>
          <a:xfrm>
            <a:off x="2987675" y="4294188"/>
            <a:ext cx="647700" cy="0"/>
          </a:xfrm>
          <a:prstGeom prst="line">
            <a:avLst/>
          </a:prstGeom>
          <a:ln w="28575" cap="flat" cmpd="sng">
            <a:solidFill>
              <a:srgbClr val="FF0000"/>
            </a:solidFill>
            <a:prstDash val="solid"/>
            <a:headEnd type="none" w="med" len="med"/>
            <a:tailEnd type="none" w="med" len="med"/>
          </a:ln>
        </p:spPr>
      </p:sp>
      <p:grpSp>
        <p:nvGrpSpPr>
          <p:cNvPr id="84085" name="Group 117"/>
          <p:cNvGrpSpPr/>
          <p:nvPr/>
        </p:nvGrpSpPr>
        <p:grpSpPr>
          <a:xfrm>
            <a:off x="3635375" y="1628775"/>
            <a:ext cx="720725" cy="2233613"/>
            <a:chOff x="1882" y="1570"/>
            <a:chExt cx="454" cy="1407"/>
          </a:xfrm>
        </p:grpSpPr>
        <p:grpSp>
          <p:nvGrpSpPr>
            <p:cNvPr id="31826" name="Group 49"/>
            <p:cNvGrpSpPr/>
            <p:nvPr/>
          </p:nvGrpSpPr>
          <p:grpSpPr>
            <a:xfrm>
              <a:off x="1882" y="1570"/>
              <a:ext cx="454" cy="318"/>
              <a:chOff x="1882" y="1570"/>
              <a:chExt cx="454" cy="318"/>
            </a:xfrm>
          </p:grpSpPr>
          <p:sp>
            <p:nvSpPr>
              <p:cNvPr id="31833" name="Line 47"/>
              <p:cNvSpPr/>
              <p:nvPr/>
            </p:nvSpPr>
            <p:spPr>
              <a:xfrm>
                <a:off x="1882" y="1570"/>
                <a:ext cx="0" cy="318"/>
              </a:xfrm>
              <a:prstGeom prst="line">
                <a:avLst/>
              </a:prstGeom>
              <a:ln w="28575" cap="flat" cmpd="sng">
                <a:solidFill>
                  <a:srgbClr val="0000CC"/>
                </a:solidFill>
                <a:prstDash val="solid"/>
                <a:headEnd type="none" w="med" len="med"/>
                <a:tailEnd type="none" w="med" len="med"/>
              </a:ln>
            </p:spPr>
          </p:sp>
          <p:sp>
            <p:nvSpPr>
              <p:cNvPr id="31834" name="Line 48"/>
              <p:cNvSpPr/>
              <p:nvPr/>
            </p:nvSpPr>
            <p:spPr>
              <a:xfrm>
                <a:off x="1882" y="1888"/>
                <a:ext cx="454" cy="0"/>
              </a:xfrm>
              <a:prstGeom prst="line">
                <a:avLst/>
              </a:prstGeom>
              <a:ln w="28575" cap="flat" cmpd="sng">
                <a:solidFill>
                  <a:srgbClr val="0000CC"/>
                </a:solidFill>
                <a:prstDash val="solid"/>
                <a:headEnd type="none" w="med" len="med"/>
                <a:tailEnd type="none" w="med" len="med"/>
              </a:ln>
            </p:spPr>
          </p:sp>
        </p:grpSp>
        <p:grpSp>
          <p:nvGrpSpPr>
            <p:cNvPr id="31827" name="Group 50"/>
            <p:cNvGrpSpPr/>
            <p:nvPr/>
          </p:nvGrpSpPr>
          <p:grpSpPr>
            <a:xfrm>
              <a:off x="1882" y="2115"/>
              <a:ext cx="454" cy="318"/>
              <a:chOff x="1882" y="1570"/>
              <a:chExt cx="454" cy="318"/>
            </a:xfrm>
          </p:grpSpPr>
          <p:sp>
            <p:nvSpPr>
              <p:cNvPr id="31831" name="Line 51"/>
              <p:cNvSpPr/>
              <p:nvPr/>
            </p:nvSpPr>
            <p:spPr>
              <a:xfrm>
                <a:off x="1882" y="1570"/>
                <a:ext cx="0" cy="318"/>
              </a:xfrm>
              <a:prstGeom prst="line">
                <a:avLst/>
              </a:prstGeom>
              <a:ln w="28575" cap="flat" cmpd="sng">
                <a:solidFill>
                  <a:srgbClr val="0000CC"/>
                </a:solidFill>
                <a:prstDash val="solid"/>
                <a:headEnd type="none" w="med" len="med"/>
                <a:tailEnd type="none" w="med" len="med"/>
              </a:ln>
            </p:spPr>
          </p:sp>
          <p:sp>
            <p:nvSpPr>
              <p:cNvPr id="31832" name="Line 52"/>
              <p:cNvSpPr/>
              <p:nvPr/>
            </p:nvSpPr>
            <p:spPr>
              <a:xfrm>
                <a:off x="1882" y="1888"/>
                <a:ext cx="454" cy="0"/>
              </a:xfrm>
              <a:prstGeom prst="line">
                <a:avLst/>
              </a:prstGeom>
              <a:ln w="28575" cap="flat" cmpd="sng">
                <a:solidFill>
                  <a:srgbClr val="0000CC"/>
                </a:solidFill>
                <a:prstDash val="solid"/>
                <a:headEnd type="none" w="med" len="med"/>
                <a:tailEnd type="none" w="med" len="med"/>
              </a:ln>
            </p:spPr>
          </p:sp>
        </p:grpSp>
        <p:grpSp>
          <p:nvGrpSpPr>
            <p:cNvPr id="31828" name="Group 53"/>
            <p:cNvGrpSpPr/>
            <p:nvPr/>
          </p:nvGrpSpPr>
          <p:grpSpPr>
            <a:xfrm>
              <a:off x="1882" y="2659"/>
              <a:ext cx="454" cy="318"/>
              <a:chOff x="1882" y="1570"/>
              <a:chExt cx="454" cy="318"/>
            </a:xfrm>
          </p:grpSpPr>
          <p:sp>
            <p:nvSpPr>
              <p:cNvPr id="31829" name="Line 54"/>
              <p:cNvSpPr/>
              <p:nvPr/>
            </p:nvSpPr>
            <p:spPr>
              <a:xfrm>
                <a:off x="1882" y="1570"/>
                <a:ext cx="0" cy="318"/>
              </a:xfrm>
              <a:prstGeom prst="line">
                <a:avLst/>
              </a:prstGeom>
              <a:ln w="28575" cap="flat" cmpd="sng">
                <a:solidFill>
                  <a:srgbClr val="0000CC"/>
                </a:solidFill>
                <a:prstDash val="solid"/>
                <a:headEnd type="none" w="med" len="med"/>
                <a:tailEnd type="none" w="med" len="med"/>
              </a:ln>
            </p:spPr>
          </p:sp>
          <p:sp>
            <p:nvSpPr>
              <p:cNvPr id="31830" name="Line 55"/>
              <p:cNvSpPr/>
              <p:nvPr/>
            </p:nvSpPr>
            <p:spPr>
              <a:xfrm>
                <a:off x="1882" y="1888"/>
                <a:ext cx="454" cy="0"/>
              </a:xfrm>
              <a:prstGeom prst="line">
                <a:avLst/>
              </a:prstGeom>
              <a:ln w="28575" cap="flat" cmpd="sng">
                <a:solidFill>
                  <a:srgbClr val="0000CC"/>
                </a:solidFill>
                <a:prstDash val="solid"/>
                <a:headEnd type="none" w="med" len="med"/>
                <a:tailEnd type="none" w="med" len="med"/>
              </a:ln>
            </p:spPr>
          </p:sp>
        </p:grpSp>
      </p:grpSp>
      <p:grpSp>
        <p:nvGrpSpPr>
          <p:cNvPr id="84026" name="Group 58"/>
          <p:cNvGrpSpPr/>
          <p:nvPr/>
        </p:nvGrpSpPr>
        <p:grpSpPr>
          <a:xfrm>
            <a:off x="3635375" y="4294188"/>
            <a:ext cx="720725" cy="504825"/>
            <a:chOff x="1882" y="1570"/>
            <a:chExt cx="454" cy="318"/>
          </a:xfrm>
        </p:grpSpPr>
        <p:sp>
          <p:nvSpPr>
            <p:cNvPr id="31824" name="Line 59"/>
            <p:cNvSpPr/>
            <p:nvPr/>
          </p:nvSpPr>
          <p:spPr>
            <a:xfrm>
              <a:off x="1882" y="1570"/>
              <a:ext cx="0" cy="318"/>
            </a:xfrm>
            <a:prstGeom prst="line">
              <a:avLst/>
            </a:prstGeom>
            <a:ln w="28575" cap="flat" cmpd="sng">
              <a:solidFill>
                <a:srgbClr val="FF0000"/>
              </a:solidFill>
              <a:prstDash val="solid"/>
              <a:headEnd type="none" w="med" len="med"/>
              <a:tailEnd type="none" w="med" len="med"/>
            </a:ln>
          </p:spPr>
        </p:sp>
        <p:sp>
          <p:nvSpPr>
            <p:cNvPr id="31825" name="Line 60"/>
            <p:cNvSpPr/>
            <p:nvPr/>
          </p:nvSpPr>
          <p:spPr>
            <a:xfrm>
              <a:off x="1882" y="1888"/>
              <a:ext cx="454" cy="0"/>
            </a:xfrm>
            <a:prstGeom prst="line">
              <a:avLst/>
            </a:prstGeom>
            <a:ln w="28575" cap="flat" cmpd="sng">
              <a:solidFill>
                <a:srgbClr val="FF0000"/>
              </a:solidFill>
              <a:prstDash val="solid"/>
              <a:headEnd type="none" w="med" len="med"/>
              <a:tailEnd type="none" w="med" len="med"/>
            </a:ln>
          </p:spPr>
        </p:sp>
      </p:grpSp>
      <p:grpSp>
        <p:nvGrpSpPr>
          <p:cNvPr id="84086" name="Group 118"/>
          <p:cNvGrpSpPr/>
          <p:nvPr/>
        </p:nvGrpSpPr>
        <p:grpSpPr>
          <a:xfrm>
            <a:off x="4356100" y="1628775"/>
            <a:ext cx="647700" cy="2162175"/>
            <a:chOff x="2336" y="1570"/>
            <a:chExt cx="408" cy="1362"/>
          </a:xfrm>
        </p:grpSpPr>
        <p:grpSp>
          <p:nvGrpSpPr>
            <p:cNvPr id="31815" name="Group 64"/>
            <p:cNvGrpSpPr/>
            <p:nvPr/>
          </p:nvGrpSpPr>
          <p:grpSpPr>
            <a:xfrm>
              <a:off x="2336" y="1570"/>
              <a:ext cx="408" cy="318"/>
              <a:chOff x="1066" y="1570"/>
              <a:chExt cx="408" cy="318"/>
            </a:xfrm>
          </p:grpSpPr>
          <p:sp>
            <p:nvSpPr>
              <p:cNvPr id="31822" name="Line 65"/>
              <p:cNvSpPr/>
              <p:nvPr/>
            </p:nvSpPr>
            <p:spPr>
              <a:xfrm flipV="1">
                <a:off x="1066" y="1570"/>
                <a:ext cx="0" cy="318"/>
              </a:xfrm>
              <a:prstGeom prst="line">
                <a:avLst/>
              </a:prstGeom>
              <a:ln w="28575" cap="flat" cmpd="sng">
                <a:solidFill>
                  <a:srgbClr val="0000CC"/>
                </a:solidFill>
                <a:prstDash val="solid"/>
                <a:headEnd type="none" w="med" len="med"/>
                <a:tailEnd type="none" w="med" len="med"/>
              </a:ln>
            </p:spPr>
          </p:sp>
          <p:sp>
            <p:nvSpPr>
              <p:cNvPr id="31823" name="Line 66"/>
              <p:cNvSpPr/>
              <p:nvPr/>
            </p:nvSpPr>
            <p:spPr>
              <a:xfrm>
                <a:off x="1066" y="1570"/>
                <a:ext cx="408" cy="0"/>
              </a:xfrm>
              <a:prstGeom prst="line">
                <a:avLst/>
              </a:prstGeom>
              <a:ln w="28575" cap="flat" cmpd="sng">
                <a:solidFill>
                  <a:srgbClr val="0000CC"/>
                </a:solidFill>
                <a:prstDash val="solid"/>
                <a:headEnd type="none" w="med" len="med"/>
                <a:tailEnd type="none" w="med" len="med"/>
              </a:ln>
            </p:spPr>
          </p:sp>
        </p:grpSp>
        <p:grpSp>
          <p:nvGrpSpPr>
            <p:cNvPr id="31816" name="Group 67"/>
            <p:cNvGrpSpPr/>
            <p:nvPr/>
          </p:nvGrpSpPr>
          <p:grpSpPr>
            <a:xfrm>
              <a:off x="2336" y="2115"/>
              <a:ext cx="408" cy="318"/>
              <a:chOff x="1066" y="1570"/>
              <a:chExt cx="408" cy="318"/>
            </a:xfrm>
          </p:grpSpPr>
          <p:sp>
            <p:nvSpPr>
              <p:cNvPr id="31820" name="Line 68"/>
              <p:cNvSpPr/>
              <p:nvPr/>
            </p:nvSpPr>
            <p:spPr>
              <a:xfrm flipV="1">
                <a:off x="1066" y="1570"/>
                <a:ext cx="0" cy="318"/>
              </a:xfrm>
              <a:prstGeom prst="line">
                <a:avLst/>
              </a:prstGeom>
              <a:ln w="28575" cap="flat" cmpd="sng">
                <a:solidFill>
                  <a:srgbClr val="0000CC"/>
                </a:solidFill>
                <a:prstDash val="solid"/>
                <a:headEnd type="none" w="med" len="med"/>
                <a:tailEnd type="none" w="med" len="med"/>
              </a:ln>
            </p:spPr>
          </p:sp>
          <p:sp>
            <p:nvSpPr>
              <p:cNvPr id="31821" name="Line 69"/>
              <p:cNvSpPr/>
              <p:nvPr/>
            </p:nvSpPr>
            <p:spPr>
              <a:xfrm>
                <a:off x="1066" y="1570"/>
                <a:ext cx="408" cy="0"/>
              </a:xfrm>
              <a:prstGeom prst="line">
                <a:avLst/>
              </a:prstGeom>
              <a:ln w="28575" cap="flat" cmpd="sng">
                <a:solidFill>
                  <a:srgbClr val="0000CC"/>
                </a:solidFill>
                <a:prstDash val="solid"/>
                <a:headEnd type="none" w="med" len="med"/>
                <a:tailEnd type="none" w="med" len="med"/>
              </a:ln>
            </p:spPr>
          </p:sp>
        </p:grpSp>
        <p:grpSp>
          <p:nvGrpSpPr>
            <p:cNvPr id="31817" name="Group 70"/>
            <p:cNvGrpSpPr/>
            <p:nvPr/>
          </p:nvGrpSpPr>
          <p:grpSpPr>
            <a:xfrm>
              <a:off x="2336" y="2614"/>
              <a:ext cx="408" cy="318"/>
              <a:chOff x="1066" y="1570"/>
              <a:chExt cx="408" cy="318"/>
            </a:xfrm>
          </p:grpSpPr>
          <p:sp>
            <p:nvSpPr>
              <p:cNvPr id="31818" name="Line 71"/>
              <p:cNvSpPr/>
              <p:nvPr/>
            </p:nvSpPr>
            <p:spPr>
              <a:xfrm flipV="1">
                <a:off x="1066" y="1570"/>
                <a:ext cx="0" cy="318"/>
              </a:xfrm>
              <a:prstGeom prst="line">
                <a:avLst/>
              </a:prstGeom>
              <a:ln w="28575" cap="flat" cmpd="sng">
                <a:solidFill>
                  <a:srgbClr val="0000CC"/>
                </a:solidFill>
                <a:prstDash val="solid"/>
                <a:headEnd type="none" w="med" len="med"/>
                <a:tailEnd type="none" w="med" len="med"/>
              </a:ln>
            </p:spPr>
          </p:sp>
          <p:sp>
            <p:nvSpPr>
              <p:cNvPr id="31819" name="Line 72"/>
              <p:cNvSpPr/>
              <p:nvPr/>
            </p:nvSpPr>
            <p:spPr>
              <a:xfrm>
                <a:off x="1066" y="1570"/>
                <a:ext cx="408" cy="0"/>
              </a:xfrm>
              <a:prstGeom prst="line">
                <a:avLst/>
              </a:prstGeom>
              <a:ln w="28575" cap="flat" cmpd="sng">
                <a:solidFill>
                  <a:srgbClr val="0000CC"/>
                </a:solidFill>
                <a:prstDash val="solid"/>
                <a:headEnd type="none" w="med" len="med"/>
                <a:tailEnd type="none" w="med" len="med"/>
              </a:ln>
            </p:spPr>
          </p:sp>
        </p:grpSp>
      </p:grpSp>
      <p:grpSp>
        <p:nvGrpSpPr>
          <p:cNvPr id="84041" name="Group 73"/>
          <p:cNvGrpSpPr/>
          <p:nvPr/>
        </p:nvGrpSpPr>
        <p:grpSpPr>
          <a:xfrm>
            <a:off x="4356100" y="4294188"/>
            <a:ext cx="647700" cy="504825"/>
            <a:chOff x="1066" y="1570"/>
            <a:chExt cx="408" cy="318"/>
          </a:xfrm>
        </p:grpSpPr>
        <p:sp>
          <p:nvSpPr>
            <p:cNvPr id="31813" name="Line 74"/>
            <p:cNvSpPr/>
            <p:nvPr/>
          </p:nvSpPr>
          <p:spPr>
            <a:xfrm flipV="1">
              <a:off x="1066" y="1570"/>
              <a:ext cx="0" cy="318"/>
            </a:xfrm>
            <a:prstGeom prst="line">
              <a:avLst/>
            </a:prstGeom>
            <a:ln w="28575" cap="flat" cmpd="sng">
              <a:solidFill>
                <a:srgbClr val="FF0000"/>
              </a:solidFill>
              <a:prstDash val="solid"/>
              <a:headEnd type="none" w="med" len="med"/>
              <a:tailEnd type="none" w="med" len="med"/>
            </a:ln>
          </p:spPr>
        </p:sp>
        <p:sp>
          <p:nvSpPr>
            <p:cNvPr id="31814" name="Line 75"/>
            <p:cNvSpPr/>
            <p:nvPr/>
          </p:nvSpPr>
          <p:spPr>
            <a:xfrm>
              <a:off x="1066" y="1570"/>
              <a:ext cx="408" cy="0"/>
            </a:xfrm>
            <a:prstGeom prst="line">
              <a:avLst/>
            </a:prstGeom>
            <a:ln w="28575" cap="flat" cmpd="sng">
              <a:solidFill>
                <a:srgbClr val="FF0000"/>
              </a:solidFill>
              <a:prstDash val="solid"/>
              <a:headEnd type="none" w="med" len="med"/>
              <a:tailEnd type="none" w="med" len="med"/>
            </a:ln>
          </p:spPr>
        </p:sp>
      </p:grpSp>
      <p:grpSp>
        <p:nvGrpSpPr>
          <p:cNvPr id="84087" name="Group 119"/>
          <p:cNvGrpSpPr/>
          <p:nvPr/>
        </p:nvGrpSpPr>
        <p:grpSpPr>
          <a:xfrm>
            <a:off x="5003800" y="1628775"/>
            <a:ext cx="720725" cy="1657350"/>
            <a:chOff x="2744" y="1570"/>
            <a:chExt cx="454" cy="1044"/>
          </a:xfrm>
        </p:grpSpPr>
        <p:grpSp>
          <p:nvGrpSpPr>
            <p:cNvPr id="31808" name="Group 61"/>
            <p:cNvGrpSpPr/>
            <p:nvPr/>
          </p:nvGrpSpPr>
          <p:grpSpPr>
            <a:xfrm>
              <a:off x="2744" y="1570"/>
              <a:ext cx="454" cy="318"/>
              <a:chOff x="1882" y="1570"/>
              <a:chExt cx="454" cy="318"/>
            </a:xfrm>
          </p:grpSpPr>
          <p:sp>
            <p:nvSpPr>
              <p:cNvPr id="31811" name="Line 62"/>
              <p:cNvSpPr/>
              <p:nvPr/>
            </p:nvSpPr>
            <p:spPr>
              <a:xfrm>
                <a:off x="1882" y="1570"/>
                <a:ext cx="0" cy="318"/>
              </a:xfrm>
              <a:prstGeom prst="line">
                <a:avLst/>
              </a:prstGeom>
              <a:ln w="28575" cap="flat" cmpd="sng">
                <a:solidFill>
                  <a:srgbClr val="0000CC"/>
                </a:solidFill>
                <a:prstDash val="solid"/>
                <a:headEnd type="none" w="med" len="med"/>
                <a:tailEnd type="none" w="med" len="med"/>
              </a:ln>
            </p:spPr>
          </p:sp>
          <p:sp>
            <p:nvSpPr>
              <p:cNvPr id="31812" name="Line 63"/>
              <p:cNvSpPr/>
              <p:nvPr/>
            </p:nvSpPr>
            <p:spPr>
              <a:xfrm>
                <a:off x="1882" y="1888"/>
                <a:ext cx="454" cy="0"/>
              </a:xfrm>
              <a:prstGeom prst="line">
                <a:avLst/>
              </a:prstGeom>
              <a:ln w="28575" cap="flat" cmpd="sng">
                <a:solidFill>
                  <a:srgbClr val="0000CC"/>
                </a:solidFill>
                <a:prstDash val="solid"/>
                <a:headEnd type="none" w="med" len="med"/>
                <a:tailEnd type="none" w="med" len="med"/>
              </a:ln>
            </p:spPr>
          </p:sp>
        </p:grpSp>
        <p:sp>
          <p:nvSpPr>
            <p:cNvPr id="31809" name="Line 79"/>
            <p:cNvSpPr/>
            <p:nvPr/>
          </p:nvSpPr>
          <p:spPr>
            <a:xfrm>
              <a:off x="2744" y="2115"/>
              <a:ext cx="454" cy="0"/>
            </a:xfrm>
            <a:prstGeom prst="line">
              <a:avLst/>
            </a:prstGeom>
            <a:ln w="28575" cap="flat" cmpd="sng">
              <a:solidFill>
                <a:srgbClr val="0000CC"/>
              </a:solidFill>
              <a:prstDash val="solid"/>
              <a:headEnd type="none" w="med" len="med"/>
              <a:tailEnd type="none" w="med" len="med"/>
            </a:ln>
          </p:spPr>
        </p:sp>
        <p:sp>
          <p:nvSpPr>
            <p:cNvPr id="31810" name="Line 80"/>
            <p:cNvSpPr/>
            <p:nvPr/>
          </p:nvSpPr>
          <p:spPr>
            <a:xfrm>
              <a:off x="2744" y="2614"/>
              <a:ext cx="454" cy="0"/>
            </a:xfrm>
            <a:prstGeom prst="line">
              <a:avLst/>
            </a:prstGeom>
            <a:ln w="28575" cap="flat" cmpd="sng">
              <a:solidFill>
                <a:srgbClr val="0000CC"/>
              </a:solidFill>
              <a:prstDash val="solid"/>
              <a:headEnd type="none" w="med" len="med"/>
              <a:tailEnd type="none" w="med" len="med"/>
            </a:ln>
          </p:spPr>
        </p:sp>
      </p:grpSp>
      <p:grpSp>
        <p:nvGrpSpPr>
          <p:cNvPr id="84049" name="Group 81"/>
          <p:cNvGrpSpPr/>
          <p:nvPr/>
        </p:nvGrpSpPr>
        <p:grpSpPr>
          <a:xfrm>
            <a:off x="5003800" y="4294188"/>
            <a:ext cx="720725" cy="504825"/>
            <a:chOff x="1882" y="1570"/>
            <a:chExt cx="454" cy="318"/>
          </a:xfrm>
        </p:grpSpPr>
        <p:sp>
          <p:nvSpPr>
            <p:cNvPr id="31806" name="Line 82"/>
            <p:cNvSpPr/>
            <p:nvPr/>
          </p:nvSpPr>
          <p:spPr>
            <a:xfrm>
              <a:off x="1882" y="1570"/>
              <a:ext cx="0" cy="318"/>
            </a:xfrm>
            <a:prstGeom prst="line">
              <a:avLst/>
            </a:prstGeom>
            <a:ln w="28575" cap="flat" cmpd="sng">
              <a:solidFill>
                <a:srgbClr val="FF0000"/>
              </a:solidFill>
              <a:prstDash val="solid"/>
              <a:headEnd type="none" w="med" len="med"/>
              <a:tailEnd type="none" w="med" len="med"/>
            </a:ln>
          </p:spPr>
        </p:sp>
        <p:sp>
          <p:nvSpPr>
            <p:cNvPr id="31807" name="Line 83"/>
            <p:cNvSpPr/>
            <p:nvPr/>
          </p:nvSpPr>
          <p:spPr>
            <a:xfrm>
              <a:off x="1882" y="1888"/>
              <a:ext cx="454" cy="0"/>
            </a:xfrm>
            <a:prstGeom prst="line">
              <a:avLst/>
            </a:prstGeom>
            <a:ln w="28575" cap="flat" cmpd="sng">
              <a:solidFill>
                <a:srgbClr val="FF0000"/>
              </a:solidFill>
              <a:prstDash val="solid"/>
              <a:headEnd type="none" w="med" len="med"/>
              <a:tailEnd type="none" w="med" len="med"/>
            </a:ln>
          </p:spPr>
        </p:sp>
      </p:grpSp>
      <p:grpSp>
        <p:nvGrpSpPr>
          <p:cNvPr id="84088" name="Group 120"/>
          <p:cNvGrpSpPr/>
          <p:nvPr/>
        </p:nvGrpSpPr>
        <p:grpSpPr>
          <a:xfrm>
            <a:off x="5724525" y="2133600"/>
            <a:ext cx="720725" cy="1152525"/>
            <a:chOff x="3198" y="1888"/>
            <a:chExt cx="454" cy="726"/>
          </a:xfrm>
        </p:grpSpPr>
        <p:sp>
          <p:nvSpPr>
            <p:cNvPr id="31801" name="Line 84"/>
            <p:cNvSpPr/>
            <p:nvPr/>
          </p:nvSpPr>
          <p:spPr>
            <a:xfrm>
              <a:off x="3198" y="1888"/>
              <a:ext cx="453" cy="0"/>
            </a:xfrm>
            <a:prstGeom prst="line">
              <a:avLst/>
            </a:prstGeom>
            <a:ln w="28575" cap="flat" cmpd="sng">
              <a:solidFill>
                <a:srgbClr val="0000CC"/>
              </a:solidFill>
              <a:prstDash val="solid"/>
              <a:headEnd type="none" w="med" len="med"/>
              <a:tailEnd type="none" w="med" len="med"/>
            </a:ln>
          </p:spPr>
        </p:sp>
        <p:grpSp>
          <p:nvGrpSpPr>
            <p:cNvPr id="31802" name="Group 85"/>
            <p:cNvGrpSpPr/>
            <p:nvPr/>
          </p:nvGrpSpPr>
          <p:grpSpPr>
            <a:xfrm>
              <a:off x="3198" y="2115"/>
              <a:ext cx="454" cy="318"/>
              <a:chOff x="1882" y="1570"/>
              <a:chExt cx="454" cy="318"/>
            </a:xfrm>
          </p:grpSpPr>
          <p:sp>
            <p:nvSpPr>
              <p:cNvPr id="31804" name="Line 86"/>
              <p:cNvSpPr/>
              <p:nvPr/>
            </p:nvSpPr>
            <p:spPr>
              <a:xfrm>
                <a:off x="1882" y="1570"/>
                <a:ext cx="0" cy="318"/>
              </a:xfrm>
              <a:prstGeom prst="line">
                <a:avLst/>
              </a:prstGeom>
              <a:ln w="28575" cap="flat" cmpd="sng">
                <a:solidFill>
                  <a:srgbClr val="0000CC"/>
                </a:solidFill>
                <a:prstDash val="solid"/>
                <a:headEnd type="none" w="med" len="med"/>
                <a:tailEnd type="none" w="med" len="med"/>
              </a:ln>
            </p:spPr>
          </p:sp>
          <p:sp>
            <p:nvSpPr>
              <p:cNvPr id="31805" name="Line 87"/>
              <p:cNvSpPr/>
              <p:nvPr/>
            </p:nvSpPr>
            <p:spPr>
              <a:xfrm>
                <a:off x="1882" y="1888"/>
                <a:ext cx="454" cy="0"/>
              </a:xfrm>
              <a:prstGeom prst="line">
                <a:avLst/>
              </a:prstGeom>
              <a:ln w="28575" cap="flat" cmpd="sng">
                <a:solidFill>
                  <a:srgbClr val="0000CC"/>
                </a:solidFill>
                <a:prstDash val="solid"/>
                <a:headEnd type="none" w="med" len="med"/>
                <a:tailEnd type="none" w="med" len="med"/>
              </a:ln>
            </p:spPr>
          </p:sp>
        </p:grpSp>
        <p:sp>
          <p:nvSpPr>
            <p:cNvPr id="31803" name="Line 88"/>
            <p:cNvSpPr/>
            <p:nvPr/>
          </p:nvSpPr>
          <p:spPr>
            <a:xfrm>
              <a:off x="3198" y="2614"/>
              <a:ext cx="454" cy="0"/>
            </a:xfrm>
            <a:prstGeom prst="line">
              <a:avLst/>
            </a:prstGeom>
            <a:ln w="28575" cap="flat" cmpd="sng">
              <a:solidFill>
                <a:srgbClr val="0000CC"/>
              </a:solidFill>
              <a:prstDash val="solid"/>
              <a:headEnd type="none" w="med" len="med"/>
              <a:tailEnd type="none" w="med" len="med"/>
            </a:ln>
          </p:spPr>
        </p:sp>
      </p:grpSp>
      <p:sp>
        <p:nvSpPr>
          <p:cNvPr id="84057" name="Line 89"/>
          <p:cNvSpPr/>
          <p:nvPr/>
        </p:nvSpPr>
        <p:spPr>
          <a:xfrm>
            <a:off x="5724525" y="4797425"/>
            <a:ext cx="719138" cy="0"/>
          </a:xfrm>
          <a:prstGeom prst="line">
            <a:avLst/>
          </a:prstGeom>
          <a:ln w="28575" cap="flat" cmpd="sng">
            <a:solidFill>
              <a:srgbClr val="FF0000"/>
            </a:solidFill>
            <a:prstDash val="solid"/>
            <a:headEnd type="none" w="med" len="med"/>
            <a:tailEnd type="none" w="med" len="med"/>
          </a:ln>
        </p:spPr>
      </p:sp>
      <p:grpSp>
        <p:nvGrpSpPr>
          <p:cNvPr id="84089" name="Group 121"/>
          <p:cNvGrpSpPr/>
          <p:nvPr/>
        </p:nvGrpSpPr>
        <p:grpSpPr>
          <a:xfrm>
            <a:off x="6443663" y="1628775"/>
            <a:ext cx="720725" cy="2162175"/>
            <a:chOff x="3651" y="1570"/>
            <a:chExt cx="454" cy="1362"/>
          </a:xfrm>
        </p:grpSpPr>
        <p:grpSp>
          <p:nvGrpSpPr>
            <p:cNvPr id="31792" name="Group 90"/>
            <p:cNvGrpSpPr/>
            <p:nvPr/>
          </p:nvGrpSpPr>
          <p:grpSpPr>
            <a:xfrm>
              <a:off x="3651" y="1570"/>
              <a:ext cx="454" cy="318"/>
              <a:chOff x="1066" y="1570"/>
              <a:chExt cx="408" cy="318"/>
            </a:xfrm>
          </p:grpSpPr>
          <p:sp>
            <p:nvSpPr>
              <p:cNvPr id="31799" name="Line 91"/>
              <p:cNvSpPr/>
              <p:nvPr/>
            </p:nvSpPr>
            <p:spPr>
              <a:xfrm flipV="1">
                <a:off x="1066" y="1570"/>
                <a:ext cx="0" cy="318"/>
              </a:xfrm>
              <a:prstGeom prst="line">
                <a:avLst/>
              </a:prstGeom>
              <a:ln w="28575" cap="flat" cmpd="sng">
                <a:solidFill>
                  <a:srgbClr val="0000CC"/>
                </a:solidFill>
                <a:prstDash val="solid"/>
                <a:headEnd type="none" w="med" len="med"/>
                <a:tailEnd type="none" w="med" len="med"/>
              </a:ln>
            </p:spPr>
          </p:sp>
          <p:sp>
            <p:nvSpPr>
              <p:cNvPr id="31800" name="Line 92"/>
              <p:cNvSpPr/>
              <p:nvPr/>
            </p:nvSpPr>
            <p:spPr>
              <a:xfrm>
                <a:off x="1066" y="1570"/>
                <a:ext cx="408" cy="0"/>
              </a:xfrm>
              <a:prstGeom prst="line">
                <a:avLst/>
              </a:prstGeom>
              <a:ln w="28575" cap="flat" cmpd="sng">
                <a:solidFill>
                  <a:srgbClr val="0000CC"/>
                </a:solidFill>
                <a:prstDash val="solid"/>
                <a:headEnd type="none" w="med" len="med"/>
                <a:tailEnd type="none" w="med" len="med"/>
              </a:ln>
            </p:spPr>
          </p:sp>
        </p:grpSp>
        <p:grpSp>
          <p:nvGrpSpPr>
            <p:cNvPr id="31793" name="Group 93"/>
            <p:cNvGrpSpPr/>
            <p:nvPr/>
          </p:nvGrpSpPr>
          <p:grpSpPr>
            <a:xfrm>
              <a:off x="3651" y="2069"/>
              <a:ext cx="454" cy="318"/>
              <a:chOff x="1066" y="1570"/>
              <a:chExt cx="408" cy="318"/>
            </a:xfrm>
          </p:grpSpPr>
          <p:sp>
            <p:nvSpPr>
              <p:cNvPr id="31797" name="Line 94"/>
              <p:cNvSpPr/>
              <p:nvPr/>
            </p:nvSpPr>
            <p:spPr>
              <a:xfrm flipV="1">
                <a:off x="1066" y="1570"/>
                <a:ext cx="0" cy="318"/>
              </a:xfrm>
              <a:prstGeom prst="line">
                <a:avLst/>
              </a:prstGeom>
              <a:ln w="28575" cap="flat" cmpd="sng">
                <a:solidFill>
                  <a:srgbClr val="0000CC"/>
                </a:solidFill>
                <a:prstDash val="solid"/>
                <a:headEnd type="none" w="med" len="med"/>
                <a:tailEnd type="none" w="med" len="med"/>
              </a:ln>
            </p:spPr>
          </p:sp>
          <p:sp>
            <p:nvSpPr>
              <p:cNvPr id="31798" name="Line 95"/>
              <p:cNvSpPr/>
              <p:nvPr/>
            </p:nvSpPr>
            <p:spPr>
              <a:xfrm>
                <a:off x="1066" y="1570"/>
                <a:ext cx="408" cy="0"/>
              </a:xfrm>
              <a:prstGeom prst="line">
                <a:avLst/>
              </a:prstGeom>
              <a:ln w="28575" cap="flat" cmpd="sng">
                <a:solidFill>
                  <a:srgbClr val="0000CC"/>
                </a:solidFill>
                <a:prstDash val="solid"/>
                <a:headEnd type="none" w="med" len="med"/>
                <a:tailEnd type="none" w="med" len="med"/>
              </a:ln>
            </p:spPr>
          </p:sp>
        </p:grpSp>
        <p:grpSp>
          <p:nvGrpSpPr>
            <p:cNvPr id="31794" name="Group 96"/>
            <p:cNvGrpSpPr/>
            <p:nvPr/>
          </p:nvGrpSpPr>
          <p:grpSpPr>
            <a:xfrm>
              <a:off x="3651" y="2614"/>
              <a:ext cx="454" cy="318"/>
              <a:chOff x="1882" y="1570"/>
              <a:chExt cx="454" cy="318"/>
            </a:xfrm>
          </p:grpSpPr>
          <p:sp>
            <p:nvSpPr>
              <p:cNvPr id="31795" name="Line 97"/>
              <p:cNvSpPr/>
              <p:nvPr/>
            </p:nvSpPr>
            <p:spPr>
              <a:xfrm>
                <a:off x="1882" y="1570"/>
                <a:ext cx="0" cy="318"/>
              </a:xfrm>
              <a:prstGeom prst="line">
                <a:avLst/>
              </a:prstGeom>
              <a:ln w="28575" cap="flat" cmpd="sng">
                <a:solidFill>
                  <a:srgbClr val="0000CC"/>
                </a:solidFill>
                <a:prstDash val="solid"/>
                <a:headEnd type="none" w="med" len="med"/>
                <a:tailEnd type="none" w="med" len="med"/>
              </a:ln>
            </p:spPr>
          </p:sp>
          <p:sp>
            <p:nvSpPr>
              <p:cNvPr id="31796" name="Line 98"/>
              <p:cNvSpPr/>
              <p:nvPr/>
            </p:nvSpPr>
            <p:spPr>
              <a:xfrm>
                <a:off x="1882" y="1888"/>
                <a:ext cx="454" cy="0"/>
              </a:xfrm>
              <a:prstGeom prst="line">
                <a:avLst/>
              </a:prstGeom>
              <a:ln w="28575" cap="flat" cmpd="sng">
                <a:solidFill>
                  <a:srgbClr val="0000CC"/>
                </a:solidFill>
                <a:prstDash val="solid"/>
                <a:headEnd type="none" w="med" len="med"/>
                <a:tailEnd type="none" w="med" len="med"/>
              </a:ln>
            </p:spPr>
          </p:sp>
        </p:grpSp>
      </p:grpSp>
      <p:grpSp>
        <p:nvGrpSpPr>
          <p:cNvPr id="84067" name="Group 99"/>
          <p:cNvGrpSpPr/>
          <p:nvPr/>
        </p:nvGrpSpPr>
        <p:grpSpPr>
          <a:xfrm>
            <a:off x="6443663" y="4294188"/>
            <a:ext cx="720725" cy="504825"/>
            <a:chOff x="1066" y="1570"/>
            <a:chExt cx="408" cy="318"/>
          </a:xfrm>
        </p:grpSpPr>
        <p:sp>
          <p:nvSpPr>
            <p:cNvPr id="31790" name="Line 100"/>
            <p:cNvSpPr/>
            <p:nvPr/>
          </p:nvSpPr>
          <p:spPr>
            <a:xfrm flipV="1">
              <a:off x="1066" y="1570"/>
              <a:ext cx="0" cy="318"/>
            </a:xfrm>
            <a:prstGeom prst="line">
              <a:avLst/>
            </a:prstGeom>
            <a:ln w="28575" cap="flat" cmpd="sng">
              <a:solidFill>
                <a:srgbClr val="FF0000"/>
              </a:solidFill>
              <a:prstDash val="solid"/>
              <a:headEnd type="none" w="med" len="med"/>
              <a:tailEnd type="none" w="med" len="med"/>
            </a:ln>
          </p:spPr>
        </p:sp>
        <p:sp>
          <p:nvSpPr>
            <p:cNvPr id="31791" name="Line 101"/>
            <p:cNvSpPr/>
            <p:nvPr/>
          </p:nvSpPr>
          <p:spPr>
            <a:xfrm>
              <a:off x="1066" y="1570"/>
              <a:ext cx="408" cy="0"/>
            </a:xfrm>
            <a:prstGeom prst="line">
              <a:avLst/>
            </a:prstGeom>
            <a:ln w="28575" cap="flat" cmpd="sng">
              <a:solidFill>
                <a:srgbClr val="FF0000"/>
              </a:solidFill>
              <a:prstDash val="solid"/>
              <a:headEnd type="none" w="med" len="med"/>
              <a:tailEnd type="none" w="med" len="med"/>
            </a:ln>
          </p:spPr>
        </p:sp>
      </p:grpSp>
      <p:grpSp>
        <p:nvGrpSpPr>
          <p:cNvPr id="84090" name="Group 122"/>
          <p:cNvGrpSpPr/>
          <p:nvPr/>
        </p:nvGrpSpPr>
        <p:grpSpPr>
          <a:xfrm>
            <a:off x="7164388" y="1628775"/>
            <a:ext cx="720725" cy="2162175"/>
            <a:chOff x="4105" y="1570"/>
            <a:chExt cx="454" cy="1362"/>
          </a:xfrm>
        </p:grpSpPr>
        <p:grpSp>
          <p:nvGrpSpPr>
            <p:cNvPr id="31781" name="Group 102"/>
            <p:cNvGrpSpPr/>
            <p:nvPr/>
          </p:nvGrpSpPr>
          <p:grpSpPr>
            <a:xfrm>
              <a:off x="4105" y="1570"/>
              <a:ext cx="454" cy="318"/>
              <a:chOff x="1882" y="1570"/>
              <a:chExt cx="454" cy="318"/>
            </a:xfrm>
          </p:grpSpPr>
          <p:sp>
            <p:nvSpPr>
              <p:cNvPr id="31788" name="Line 103"/>
              <p:cNvSpPr/>
              <p:nvPr/>
            </p:nvSpPr>
            <p:spPr>
              <a:xfrm>
                <a:off x="1882" y="1570"/>
                <a:ext cx="0" cy="318"/>
              </a:xfrm>
              <a:prstGeom prst="line">
                <a:avLst/>
              </a:prstGeom>
              <a:ln w="28575" cap="flat" cmpd="sng">
                <a:solidFill>
                  <a:srgbClr val="0000CC"/>
                </a:solidFill>
                <a:prstDash val="solid"/>
                <a:headEnd type="none" w="med" len="med"/>
                <a:tailEnd type="none" w="med" len="med"/>
              </a:ln>
            </p:spPr>
          </p:sp>
          <p:sp>
            <p:nvSpPr>
              <p:cNvPr id="31789" name="Line 104"/>
              <p:cNvSpPr/>
              <p:nvPr/>
            </p:nvSpPr>
            <p:spPr>
              <a:xfrm>
                <a:off x="1882" y="1888"/>
                <a:ext cx="454" cy="0"/>
              </a:xfrm>
              <a:prstGeom prst="line">
                <a:avLst/>
              </a:prstGeom>
              <a:ln w="28575" cap="flat" cmpd="sng">
                <a:solidFill>
                  <a:srgbClr val="0000CC"/>
                </a:solidFill>
                <a:prstDash val="solid"/>
                <a:headEnd type="none" w="med" len="med"/>
                <a:tailEnd type="none" w="med" len="med"/>
              </a:ln>
            </p:spPr>
          </p:sp>
        </p:grpSp>
        <p:grpSp>
          <p:nvGrpSpPr>
            <p:cNvPr id="31782" name="Group 105"/>
            <p:cNvGrpSpPr/>
            <p:nvPr/>
          </p:nvGrpSpPr>
          <p:grpSpPr>
            <a:xfrm>
              <a:off x="4105" y="2069"/>
              <a:ext cx="454" cy="318"/>
              <a:chOff x="1882" y="1570"/>
              <a:chExt cx="454" cy="318"/>
            </a:xfrm>
          </p:grpSpPr>
          <p:sp>
            <p:nvSpPr>
              <p:cNvPr id="31786" name="Line 106"/>
              <p:cNvSpPr/>
              <p:nvPr/>
            </p:nvSpPr>
            <p:spPr>
              <a:xfrm>
                <a:off x="1882" y="1570"/>
                <a:ext cx="0" cy="318"/>
              </a:xfrm>
              <a:prstGeom prst="line">
                <a:avLst/>
              </a:prstGeom>
              <a:ln w="28575" cap="flat" cmpd="sng">
                <a:solidFill>
                  <a:srgbClr val="0000CC"/>
                </a:solidFill>
                <a:prstDash val="solid"/>
                <a:headEnd type="none" w="med" len="med"/>
                <a:tailEnd type="none" w="med" len="med"/>
              </a:ln>
            </p:spPr>
          </p:sp>
          <p:sp>
            <p:nvSpPr>
              <p:cNvPr id="31787" name="Line 107"/>
              <p:cNvSpPr/>
              <p:nvPr/>
            </p:nvSpPr>
            <p:spPr>
              <a:xfrm>
                <a:off x="1882" y="1888"/>
                <a:ext cx="454" cy="0"/>
              </a:xfrm>
              <a:prstGeom prst="line">
                <a:avLst/>
              </a:prstGeom>
              <a:ln w="28575" cap="flat" cmpd="sng">
                <a:solidFill>
                  <a:srgbClr val="0000CC"/>
                </a:solidFill>
                <a:prstDash val="solid"/>
                <a:headEnd type="none" w="med" len="med"/>
                <a:tailEnd type="none" w="med" len="med"/>
              </a:ln>
            </p:spPr>
          </p:sp>
        </p:grpSp>
        <p:grpSp>
          <p:nvGrpSpPr>
            <p:cNvPr id="31783" name="Group 108"/>
            <p:cNvGrpSpPr/>
            <p:nvPr/>
          </p:nvGrpSpPr>
          <p:grpSpPr>
            <a:xfrm>
              <a:off x="4105" y="2614"/>
              <a:ext cx="453" cy="318"/>
              <a:chOff x="1066" y="1570"/>
              <a:chExt cx="408" cy="318"/>
            </a:xfrm>
          </p:grpSpPr>
          <p:sp>
            <p:nvSpPr>
              <p:cNvPr id="31784" name="Line 109"/>
              <p:cNvSpPr/>
              <p:nvPr/>
            </p:nvSpPr>
            <p:spPr>
              <a:xfrm flipV="1">
                <a:off x="1066" y="1570"/>
                <a:ext cx="0" cy="318"/>
              </a:xfrm>
              <a:prstGeom prst="line">
                <a:avLst/>
              </a:prstGeom>
              <a:ln w="28575" cap="flat" cmpd="sng">
                <a:solidFill>
                  <a:srgbClr val="0000CC"/>
                </a:solidFill>
                <a:prstDash val="solid"/>
                <a:headEnd type="none" w="med" len="med"/>
                <a:tailEnd type="none" w="med" len="med"/>
              </a:ln>
            </p:spPr>
          </p:sp>
          <p:sp>
            <p:nvSpPr>
              <p:cNvPr id="31785" name="Line 110"/>
              <p:cNvSpPr/>
              <p:nvPr/>
            </p:nvSpPr>
            <p:spPr>
              <a:xfrm>
                <a:off x="1066" y="1570"/>
                <a:ext cx="408" cy="0"/>
              </a:xfrm>
              <a:prstGeom prst="line">
                <a:avLst/>
              </a:prstGeom>
              <a:ln w="28575" cap="flat" cmpd="sng">
                <a:solidFill>
                  <a:srgbClr val="0000CC"/>
                </a:solidFill>
                <a:prstDash val="solid"/>
                <a:headEnd type="none" w="med" len="med"/>
                <a:tailEnd type="none" w="med" len="med"/>
              </a:ln>
            </p:spPr>
          </p:sp>
        </p:grpSp>
      </p:grpSp>
      <p:grpSp>
        <p:nvGrpSpPr>
          <p:cNvPr id="84079" name="Group 111"/>
          <p:cNvGrpSpPr/>
          <p:nvPr/>
        </p:nvGrpSpPr>
        <p:grpSpPr>
          <a:xfrm>
            <a:off x="7164388" y="4294188"/>
            <a:ext cx="720725" cy="504825"/>
            <a:chOff x="1882" y="1570"/>
            <a:chExt cx="454" cy="318"/>
          </a:xfrm>
        </p:grpSpPr>
        <p:sp>
          <p:nvSpPr>
            <p:cNvPr id="31779" name="Line 112"/>
            <p:cNvSpPr/>
            <p:nvPr/>
          </p:nvSpPr>
          <p:spPr>
            <a:xfrm>
              <a:off x="1882" y="1570"/>
              <a:ext cx="0" cy="318"/>
            </a:xfrm>
            <a:prstGeom prst="line">
              <a:avLst/>
            </a:prstGeom>
            <a:ln w="28575" cap="flat" cmpd="sng">
              <a:solidFill>
                <a:srgbClr val="FF0000"/>
              </a:solidFill>
              <a:prstDash val="solid"/>
              <a:headEnd type="none" w="med" len="med"/>
              <a:tailEnd type="none" w="med" len="med"/>
            </a:ln>
          </p:spPr>
        </p:sp>
        <p:sp>
          <p:nvSpPr>
            <p:cNvPr id="31780" name="Line 113"/>
            <p:cNvSpPr/>
            <p:nvPr/>
          </p:nvSpPr>
          <p:spPr>
            <a:xfrm>
              <a:off x="1882" y="1888"/>
              <a:ext cx="454" cy="0"/>
            </a:xfrm>
            <a:prstGeom prst="line">
              <a:avLst/>
            </a:prstGeom>
            <a:ln w="28575" cap="flat" cmpd="sng">
              <a:solidFill>
                <a:srgbClr val="FF0000"/>
              </a:solidFill>
              <a:prstDash val="solid"/>
              <a:headEnd type="none" w="med" len="med"/>
              <a:tailEnd type="none" w="med" len="med"/>
            </a:ln>
          </p:spPr>
        </p:sp>
      </p:grpSp>
      <p:sp>
        <p:nvSpPr>
          <p:cNvPr id="31772" name="Text Box 123"/>
          <p:cNvSpPr txBox="1"/>
          <p:nvPr/>
        </p:nvSpPr>
        <p:spPr>
          <a:xfrm>
            <a:off x="1116013" y="1701800"/>
            <a:ext cx="4318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dirty="0"/>
              <a:t>A</a:t>
            </a:r>
            <a:endParaRPr lang="en-US" altLang="zh-CN" sz="2400" dirty="0"/>
          </a:p>
        </p:txBody>
      </p:sp>
      <p:sp>
        <p:nvSpPr>
          <p:cNvPr id="31773" name="Text Box 124"/>
          <p:cNvSpPr txBox="1"/>
          <p:nvPr/>
        </p:nvSpPr>
        <p:spPr>
          <a:xfrm>
            <a:off x="1116013" y="2565400"/>
            <a:ext cx="4318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dirty="0"/>
              <a:t>B</a:t>
            </a:r>
            <a:endParaRPr lang="en-US" altLang="zh-CN" sz="2400" dirty="0"/>
          </a:p>
        </p:txBody>
      </p:sp>
      <p:sp>
        <p:nvSpPr>
          <p:cNvPr id="31774" name="Text Box 125"/>
          <p:cNvSpPr txBox="1"/>
          <p:nvPr/>
        </p:nvSpPr>
        <p:spPr>
          <a:xfrm>
            <a:off x="1116013" y="3429000"/>
            <a:ext cx="4318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dirty="0"/>
              <a:t>C</a:t>
            </a:r>
            <a:endParaRPr lang="en-US" altLang="zh-CN" sz="2400" dirty="0"/>
          </a:p>
        </p:txBody>
      </p:sp>
      <p:sp>
        <p:nvSpPr>
          <p:cNvPr id="31775" name="Text Box 126"/>
          <p:cNvSpPr txBox="1"/>
          <p:nvPr/>
        </p:nvSpPr>
        <p:spPr>
          <a:xfrm>
            <a:off x="1116013" y="4340225"/>
            <a:ext cx="4318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dirty="0"/>
              <a:t>Y</a:t>
            </a:r>
            <a:endParaRPr lang="en-US" altLang="zh-CN" sz="2400" dirty="0"/>
          </a:p>
        </p:txBody>
      </p:sp>
      <p:sp>
        <p:nvSpPr>
          <p:cNvPr id="31776" name="Rectangle 128"/>
          <p:cNvSpPr/>
          <p:nvPr/>
        </p:nvSpPr>
        <p:spPr>
          <a:xfrm>
            <a:off x="468313" y="765175"/>
            <a:ext cx="7848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dirty="0">
                <a:latin typeface="宋体" panose="02010600030101010101" pitchFamily="2" charset="-122"/>
              </a:rPr>
              <a:t>     </a:t>
            </a:r>
            <a:r>
              <a:rPr lang="zh-CN" altLang="en-US" sz="2400" b="1" dirty="0">
                <a:solidFill>
                  <a:srgbClr val="FF0000"/>
                </a:solidFill>
                <a:latin typeface="楷体_GB2312" pitchFamily="49" charset="-122"/>
                <a:ea typeface="楷体_GB2312" pitchFamily="49" charset="-122"/>
              </a:rPr>
              <a:t>例：</a:t>
            </a:r>
            <a:r>
              <a:rPr lang="zh-CN" altLang="en-US" sz="2400" b="1" dirty="0">
                <a:latin typeface="宋体" panose="02010600030101010101" pitchFamily="2" charset="-122"/>
              </a:rPr>
              <a:t>试画出举重裁判电路的波形图。</a:t>
            </a:r>
            <a:endParaRPr lang="zh-CN" altLang="en-US" sz="2400" b="1" dirty="0">
              <a:latin typeface="宋体" panose="02010600030101010101" pitchFamily="2" charset="-122"/>
            </a:endParaRPr>
          </a:p>
        </p:txBody>
      </p:sp>
      <p:sp>
        <p:nvSpPr>
          <p:cNvPr id="84097" name="Rectangle 129"/>
          <p:cNvSpPr/>
          <p:nvPr/>
        </p:nvSpPr>
        <p:spPr>
          <a:xfrm>
            <a:off x="1116013" y="5300663"/>
            <a:ext cx="3097212"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solidFill>
                  <a:srgbClr val="990000"/>
                </a:solidFill>
                <a:latin typeface="宋体" panose="02010600030101010101" pitchFamily="2" charset="-122"/>
              </a:rPr>
              <a:t>六、文字描述</a:t>
            </a:r>
            <a:endParaRPr lang="zh-CN" altLang="en-US" sz="1800" dirty="0"/>
          </a:p>
        </p:txBody>
      </p:sp>
      <p:sp>
        <p:nvSpPr>
          <p:cNvPr id="84098" name="Rectangle 130"/>
          <p:cNvSpPr/>
          <p:nvPr/>
        </p:nvSpPr>
        <p:spPr>
          <a:xfrm>
            <a:off x="1116013" y="5876925"/>
            <a:ext cx="648017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t>逻辑函数的各种表示方法</a:t>
            </a:r>
            <a:r>
              <a:rPr lang="zh-CN" altLang="en-US" sz="2400" b="1" dirty="0">
                <a:solidFill>
                  <a:srgbClr val="FF0000"/>
                </a:solidFill>
              </a:rPr>
              <a:t>可以相互转换</a:t>
            </a:r>
            <a:r>
              <a:rPr lang="zh-CN" altLang="en-US" sz="2400" b="1" dirty="0"/>
              <a:t>。</a:t>
            </a:r>
            <a:endParaRPr lang="zh-CN" altLang="en-US" sz="2400" b="1" dirty="0"/>
          </a:p>
        </p:txBody>
      </p:sp>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4082"/>
                                        </p:tgtEl>
                                        <p:attrNameLst>
                                          <p:attrName>style.visibility</p:attrName>
                                        </p:attrNameLst>
                                      </p:cBhvr>
                                      <p:to>
                                        <p:strVal val="visible"/>
                                      </p:to>
                                    </p:set>
                                    <p:animEffect transition="in" filter="blinds(horizontal)">
                                      <p:cBhvr>
                                        <p:cTn id="7" dur="500"/>
                                        <p:tgtEl>
                                          <p:spTgt spid="8408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3992"/>
                                        </p:tgtEl>
                                        <p:attrNameLst>
                                          <p:attrName>style.visibility</p:attrName>
                                        </p:attrNameLst>
                                      </p:cBhvr>
                                      <p:to>
                                        <p:strVal val="visible"/>
                                      </p:to>
                                    </p:set>
                                    <p:animEffect transition="in" filter="blinds(horizontal)">
                                      <p:cBhvr>
                                        <p:cTn id="12" dur="500"/>
                                        <p:tgtEl>
                                          <p:spTgt spid="8399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4083"/>
                                        </p:tgtEl>
                                        <p:attrNameLst>
                                          <p:attrName>style.visibility</p:attrName>
                                        </p:attrNameLst>
                                      </p:cBhvr>
                                      <p:to>
                                        <p:strVal val="visible"/>
                                      </p:to>
                                    </p:set>
                                    <p:animEffect transition="in" filter="blinds(horizontal)">
                                      <p:cBhvr>
                                        <p:cTn id="17" dur="500"/>
                                        <p:tgtEl>
                                          <p:spTgt spid="8408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4003"/>
                                        </p:tgtEl>
                                        <p:attrNameLst>
                                          <p:attrName>style.visibility</p:attrName>
                                        </p:attrNameLst>
                                      </p:cBhvr>
                                      <p:to>
                                        <p:strVal val="visible"/>
                                      </p:to>
                                    </p:set>
                                    <p:animEffect transition="in" filter="blinds(horizontal)">
                                      <p:cBhvr>
                                        <p:cTn id="22" dur="500"/>
                                        <p:tgtEl>
                                          <p:spTgt spid="8400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84084"/>
                                        </p:tgtEl>
                                        <p:attrNameLst>
                                          <p:attrName>style.visibility</p:attrName>
                                        </p:attrNameLst>
                                      </p:cBhvr>
                                      <p:to>
                                        <p:strVal val="visible"/>
                                      </p:to>
                                    </p:set>
                                    <p:animEffect transition="in" filter="blinds(horizontal)">
                                      <p:cBhvr>
                                        <p:cTn id="27" dur="500"/>
                                        <p:tgtEl>
                                          <p:spTgt spid="8408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84014"/>
                                        </p:tgtEl>
                                        <p:attrNameLst>
                                          <p:attrName>style.visibility</p:attrName>
                                        </p:attrNameLst>
                                      </p:cBhvr>
                                      <p:to>
                                        <p:strVal val="visible"/>
                                      </p:to>
                                    </p:set>
                                    <p:animEffect transition="in" filter="blinds(horizontal)">
                                      <p:cBhvr>
                                        <p:cTn id="32" dur="500"/>
                                        <p:tgtEl>
                                          <p:spTgt spid="8401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84085"/>
                                        </p:tgtEl>
                                        <p:attrNameLst>
                                          <p:attrName>style.visibility</p:attrName>
                                        </p:attrNameLst>
                                      </p:cBhvr>
                                      <p:to>
                                        <p:strVal val="visible"/>
                                      </p:to>
                                    </p:set>
                                    <p:animEffect transition="in" filter="blinds(horizontal)">
                                      <p:cBhvr>
                                        <p:cTn id="37" dur="500"/>
                                        <p:tgtEl>
                                          <p:spTgt spid="84085"/>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84026"/>
                                        </p:tgtEl>
                                        <p:attrNameLst>
                                          <p:attrName>style.visibility</p:attrName>
                                        </p:attrNameLst>
                                      </p:cBhvr>
                                      <p:to>
                                        <p:strVal val="visible"/>
                                      </p:to>
                                    </p:set>
                                    <p:animEffect transition="in" filter="blinds(horizontal)">
                                      <p:cBhvr>
                                        <p:cTn id="42" dur="500"/>
                                        <p:tgtEl>
                                          <p:spTgt spid="84026"/>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84086"/>
                                        </p:tgtEl>
                                        <p:attrNameLst>
                                          <p:attrName>style.visibility</p:attrName>
                                        </p:attrNameLst>
                                      </p:cBhvr>
                                      <p:to>
                                        <p:strVal val="visible"/>
                                      </p:to>
                                    </p:set>
                                    <p:animEffect transition="in" filter="blinds(horizontal)">
                                      <p:cBhvr>
                                        <p:cTn id="47" dur="500"/>
                                        <p:tgtEl>
                                          <p:spTgt spid="84086"/>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84041"/>
                                        </p:tgtEl>
                                        <p:attrNameLst>
                                          <p:attrName>style.visibility</p:attrName>
                                        </p:attrNameLst>
                                      </p:cBhvr>
                                      <p:to>
                                        <p:strVal val="visible"/>
                                      </p:to>
                                    </p:set>
                                    <p:animEffect transition="in" filter="blinds(horizontal)">
                                      <p:cBhvr>
                                        <p:cTn id="52" dur="500"/>
                                        <p:tgtEl>
                                          <p:spTgt spid="84041"/>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84087"/>
                                        </p:tgtEl>
                                        <p:attrNameLst>
                                          <p:attrName>style.visibility</p:attrName>
                                        </p:attrNameLst>
                                      </p:cBhvr>
                                      <p:to>
                                        <p:strVal val="visible"/>
                                      </p:to>
                                    </p:set>
                                    <p:animEffect transition="in" filter="blinds(horizontal)">
                                      <p:cBhvr>
                                        <p:cTn id="57" dur="500"/>
                                        <p:tgtEl>
                                          <p:spTgt spid="84087"/>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84049"/>
                                        </p:tgtEl>
                                        <p:attrNameLst>
                                          <p:attrName>style.visibility</p:attrName>
                                        </p:attrNameLst>
                                      </p:cBhvr>
                                      <p:to>
                                        <p:strVal val="visible"/>
                                      </p:to>
                                    </p:set>
                                    <p:animEffect transition="in" filter="blinds(horizontal)">
                                      <p:cBhvr>
                                        <p:cTn id="62" dur="500"/>
                                        <p:tgtEl>
                                          <p:spTgt spid="84049"/>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84088"/>
                                        </p:tgtEl>
                                        <p:attrNameLst>
                                          <p:attrName>style.visibility</p:attrName>
                                        </p:attrNameLst>
                                      </p:cBhvr>
                                      <p:to>
                                        <p:strVal val="visible"/>
                                      </p:to>
                                    </p:set>
                                    <p:animEffect transition="in" filter="blinds(horizontal)">
                                      <p:cBhvr>
                                        <p:cTn id="67" dur="500"/>
                                        <p:tgtEl>
                                          <p:spTgt spid="84088"/>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84057"/>
                                        </p:tgtEl>
                                        <p:attrNameLst>
                                          <p:attrName>style.visibility</p:attrName>
                                        </p:attrNameLst>
                                      </p:cBhvr>
                                      <p:to>
                                        <p:strVal val="visible"/>
                                      </p:to>
                                    </p:set>
                                    <p:animEffect transition="in" filter="blinds(horizontal)">
                                      <p:cBhvr>
                                        <p:cTn id="72" dur="500"/>
                                        <p:tgtEl>
                                          <p:spTgt spid="84057"/>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84089"/>
                                        </p:tgtEl>
                                        <p:attrNameLst>
                                          <p:attrName>style.visibility</p:attrName>
                                        </p:attrNameLst>
                                      </p:cBhvr>
                                      <p:to>
                                        <p:strVal val="visible"/>
                                      </p:to>
                                    </p:set>
                                    <p:animEffect transition="in" filter="blinds(horizontal)">
                                      <p:cBhvr>
                                        <p:cTn id="77" dur="500"/>
                                        <p:tgtEl>
                                          <p:spTgt spid="84089"/>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84067"/>
                                        </p:tgtEl>
                                        <p:attrNameLst>
                                          <p:attrName>style.visibility</p:attrName>
                                        </p:attrNameLst>
                                      </p:cBhvr>
                                      <p:to>
                                        <p:strVal val="visible"/>
                                      </p:to>
                                    </p:set>
                                    <p:animEffect transition="in" filter="blinds(horizontal)">
                                      <p:cBhvr>
                                        <p:cTn id="82" dur="500"/>
                                        <p:tgtEl>
                                          <p:spTgt spid="84067"/>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nodeType="clickEffect">
                                  <p:stCondLst>
                                    <p:cond delay="0"/>
                                  </p:stCondLst>
                                  <p:childTnLst>
                                    <p:set>
                                      <p:cBhvr>
                                        <p:cTn id="86" dur="1" fill="hold">
                                          <p:stCondLst>
                                            <p:cond delay="0"/>
                                          </p:stCondLst>
                                        </p:cTn>
                                        <p:tgtEl>
                                          <p:spTgt spid="84090"/>
                                        </p:tgtEl>
                                        <p:attrNameLst>
                                          <p:attrName>style.visibility</p:attrName>
                                        </p:attrNameLst>
                                      </p:cBhvr>
                                      <p:to>
                                        <p:strVal val="visible"/>
                                      </p:to>
                                    </p:set>
                                    <p:animEffect transition="in" filter="blinds(horizontal)">
                                      <p:cBhvr>
                                        <p:cTn id="87" dur="500"/>
                                        <p:tgtEl>
                                          <p:spTgt spid="84090"/>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nodeType="clickEffect">
                                  <p:stCondLst>
                                    <p:cond delay="0"/>
                                  </p:stCondLst>
                                  <p:childTnLst>
                                    <p:set>
                                      <p:cBhvr>
                                        <p:cTn id="91" dur="1" fill="hold">
                                          <p:stCondLst>
                                            <p:cond delay="0"/>
                                          </p:stCondLst>
                                        </p:cTn>
                                        <p:tgtEl>
                                          <p:spTgt spid="84079"/>
                                        </p:tgtEl>
                                        <p:attrNameLst>
                                          <p:attrName>style.visibility</p:attrName>
                                        </p:attrNameLst>
                                      </p:cBhvr>
                                      <p:to>
                                        <p:strVal val="visible"/>
                                      </p:to>
                                    </p:set>
                                    <p:animEffect transition="in" filter="blinds(horizontal)">
                                      <p:cBhvr>
                                        <p:cTn id="92" dur="500"/>
                                        <p:tgtEl>
                                          <p:spTgt spid="84079"/>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grpId="0" nodeType="clickEffect">
                                  <p:stCondLst>
                                    <p:cond delay="0"/>
                                  </p:stCondLst>
                                  <p:childTnLst>
                                    <p:set>
                                      <p:cBhvr>
                                        <p:cTn id="96" dur="1" fill="hold">
                                          <p:stCondLst>
                                            <p:cond delay="0"/>
                                          </p:stCondLst>
                                        </p:cTn>
                                        <p:tgtEl>
                                          <p:spTgt spid="84097"/>
                                        </p:tgtEl>
                                        <p:attrNameLst>
                                          <p:attrName>style.visibility</p:attrName>
                                        </p:attrNameLst>
                                      </p:cBhvr>
                                      <p:to>
                                        <p:strVal val="visible"/>
                                      </p:to>
                                    </p:set>
                                    <p:animEffect transition="in" filter="blinds(horizontal)">
                                      <p:cBhvr>
                                        <p:cTn id="97" dur="500"/>
                                        <p:tgtEl>
                                          <p:spTgt spid="84097"/>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grpId="0" nodeType="clickEffect">
                                  <p:stCondLst>
                                    <p:cond delay="0"/>
                                  </p:stCondLst>
                                  <p:childTnLst>
                                    <p:set>
                                      <p:cBhvr>
                                        <p:cTn id="101" dur="1" fill="hold">
                                          <p:stCondLst>
                                            <p:cond delay="0"/>
                                          </p:stCondLst>
                                        </p:cTn>
                                        <p:tgtEl>
                                          <p:spTgt spid="84098"/>
                                        </p:tgtEl>
                                        <p:attrNameLst>
                                          <p:attrName>style.visibility</p:attrName>
                                        </p:attrNameLst>
                                      </p:cBhvr>
                                      <p:to>
                                        <p:strVal val="visible"/>
                                      </p:to>
                                    </p:set>
                                    <p:animEffect transition="in" filter="blinds(horizontal)">
                                      <p:cBhvr>
                                        <p:cTn id="102" dur="500"/>
                                        <p:tgtEl>
                                          <p:spTgt spid="8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097" grpId="0"/>
      <p:bldP spid="8409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AutoShape 6"/>
          <p:cNvSpPr/>
          <p:nvPr/>
        </p:nvSpPr>
        <p:spPr>
          <a:xfrm>
            <a:off x="539750" y="763588"/>
            <a:ext cx="6192838" cy="504825"/>
          </a:xfrm>
          <a:prstGeom prst="roundRect">
            <a:avLst>
              <a:gd name="adj" fmla="val 50000"/>
            </a:avLst>
          </a:prstGeom>
          <a:solidFill>
            <a:schemeClr val="accent1"/>
          </a:solidFill>
          <a:ln w="38100" cap="flat" cmpd="sng">
            <a:solidFill>
              <a:srgbClr val="FFFFFF"/>
            </a:solidFill>
            <a:prstDash val="solid"/>
            <a:headEnd type="none" w="med" len="med"/>
            <a:tailEnd type="none" w="med" len="med"/>
          </a:ln>
          <a:effectLst>
            <a:outerShdw dist="63500" dir="3187806" algn="ctr" rotWithShape="0">
              <a:srgbClr val="001D3A"/>
            </a:outerShdw>
          </a:effectLst>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dirty="0">
                <a:solidFill>
                  <a:srgbClr val="0000CC"/>
                </a:solidFill>
                <a:latin typeface="Times New Roman" panose="02020603050405020304" pitchFamily="18" charset="0"/>
                <a:ea typeface="黑体" panose="02010609060101010101" pitchFamily="49" charset="-122"/>
              </a:rPr>
              <a:t>4   </a:t>
            </a:r>
            <a:r>
              <a:rPr lang="zh-CN" altLang="en-US" sz="2400" b="1" dirty="0">
                <a:solidFill>
                  <a:srgbClr val="0000CC"/>
                </a:solidFill>
                <a:ea typeface="黑体" panose="02010609060101010101" pitchFamily="49" charset="-122"/>
              </a:rPr>
              <a:t>逻辑代数的基本公式和常用公式</a:t>
            </a:r>
            <a:endParaRPr lang="zh-CN" altLang="en-US" sz="2400" b="1" dirty="0">
              <a:solidFill>
                <a:srgbClr val="0000CC"/>
              </a:solidFill>
              <a:ea typeface="黑体" panose="02010609060101010101" pitchFamily="49" charset="-122"/>
            </a:endParaRPr>
          </a:p>
        </p:txBody>
      </p:sp>
      <p:sp>
        <p:nvSpPr>
          <p:cNvPr id="32771" name="Text Box 7"/>
          <p:cNvSpPr txBox="1"/>
          <p:nvPr/>
        </p:nvSpPr>
        <p:spPr>
          <a:xfrm>
            <a:off x="900113" y="1498600"/>
            <a:ext cx="7086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dirty="0">
                <a:solidFill>
                  <a:srgbClr val="FF0000"/>
                </a:solidFill>
                <a:latin typeface="Times New Roman" panose="02020603050405020304" pitchFamily="18" charset="0"/>
              </a:rPr>
              <a:t>一、逻辑代数的公理（基本假设）</a:t>
            </a:r>
            <a:endParaRPr lang="zh-CN" altLang="en-US" sz="2400" b="1" dirty="0">
              <a:solidFill>
                <a:srgbClr val="FF0000"/>
              </a:solidFill>
              <a:latin typeface="Times New Roman" panose="02020603050405020304" pitchFamily="18" charset="0"/>
            </a:endParaRPr>
          </a:p>
        </p:txBody>
      </p:sp>
      <p:graphicFrame>
        <p:nvGraphicFramePr>
          <p:cNvPr id="32772" name="Object 8"/>
          <p:cNvGraphicFramePr>
            <a:graphicFrameLocks noChangeAspect="1"/>
          </p:cNvGraphicFramePr>
          <p:nvPr/>
        </p:nvGraphicFramePr>
        <p:xfrm>
          <a:off x="755650" y="2349500"/>
          <a:ext cx="7519988" cy="3743325"/>
        </p:xfrm>
        <a:graphic>
          <a:graphicData uri="http://schemas.openxmlformats.org/presentationml/2006/ole">
            <mc:AlternateContent xmlns:mc="http://schemas.openxmlformats.org/markup-compatibility/2006">
              <mc:Choice xmlns:v="urn:schemas-microsoft-com:vml" Requires="v">
                <p:oleObj spid="_x0000_s3090" name="" r:id="rId1" imgW="2171700" imgH="1155700" progId="Equation.3">
                  <p:embed/>
                </p:oleObj>
              </mc:Choice>
              <mc:Fallback>
                <p:oleObj name="" r:id="rId1" imgW="2171700" imgH="1155700" progId="Equation.3">
                  <p:embed/>
                  <p:pic>
                    <p:nvPicPr>
                      <p:cNvPr id="0" name="图片 3089"/>
                      <p:cNvPicPr/>
                      <p:nvPr/>
                    </p:nvPicPr>
                    <p:blipFill>
                      <a:blip r:embed="rId2"/>
                      <a:stretch>
                        <a:fillRect/>
                      </a:stretch>
                    </p:blipFill>
                    <p:spPr>
                      <a:xfrm>
                        <a:off x="755650" y="2349500"/>
                        <a:ext cx="7519988" cy="3743325"/>
                      </a:xfrm>
                      <a:prstGeom prst="rect">
                        <a:avLst/>
                      </a:prstGeom>
                      <a:noFill/>
                      <a:ln w="38100">
                        <a:noFill/>
                        <a:miter/>
                      </a:ln>
                    </p:spPr>
                  </p:pic>
                </p:oleObj>
              </mc:Fallback>
            </mc:AlternateContent>
          </a:graphicData>
        </a:graphic>
      </p:graphicFrame>
    </p:spTree>
  </p:cSld>
  <p:clrMapOvr>
    <a:masterClrMapping/>
  </p:clrMapOvr>
  <p:transition spd="slow" advClick="0"/>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3794" name="Group 6"/>
          <p:cNvGrpSpPr/>
          <p:nvPr/>
        </p:nvGrpSpPr>
        <p:grpSpPr>
          <a:xfrm>
            <a:off x="1066800" y="658813"/>
            <a:ext cx="7086600" cy="5649912"/>
            <a:chOff x="672" y="336"/>
            <a:chExt cx="4464" cy="3559"/>
          </a:xfrm>
        </p:grpSpPr>
        <p:sp>
          <p:nvSpPr>
            <p:cNvPr id="33795" name="Text Box 7"/>
            <p:cNvSpPr txBox="1"/>
            <p:nvPr/>
          </p:nvSpPr>
          <p:spPr>
            <a:xfrm>
              <a:off x="672" y="336"/>
              <a:ext cx="4464" cy="3559"/>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dirty="0">
                  <a:solidFill>
                    <a:srgbClr val="FF0000"/>
                  </a:solidFill>
                  <a:latin typeface="Times New Roman" panose="02020603050405020304" pitchFamily="18" charset="0"/>
                </a:rPr>
                <a:t>二、逻辑代数的基本公式（性质）</a:t>
              </a:r>
              <a:endParaRPr lang="zh-CN" altLang="en-US" sz="2800" b="1" dirty="0">
                <a:solidFill>
                  <a:srgbClr val="FF0000"/>
                </a:solidFill>
                <a:latin typeface="Times New Roman" panose="02020603050405020304" pitchFamily="18" charset="0"/>
              </a:endParaRPr>
            </a:p>
            <a:p>
              <a:pPr marL="0" lvl="0" indent="0" eaLnBrk="1" hangingPunct="1">
                <a:spcBef>
                  <a:spcPct val="50000"/>
                </a:spcBef>
                <a:buNone/>
              </a:pPr>
              <a:r>
                <a:rPr lang="zh-CN" altLang="en-US" sz="2800" b="1" dirty="0">
                  <a:latin typeface="Times New Roman" panose="02020603050405020304" pitchFamily="18" charset="0"/>
                </a:rPr>
                <a:t>（</a:t>
              </a:r>
              <a:r>
                <a:rPr lang="en-US" altLang="zh-CN" sz="2800" b="1" dirty="0">
                  <a:latin typeface="Times New Roman" panose="02020603050405020304" pitchFamily="18" charset="0"/>
                </a:rPr>
                <a:t>1</a:t>
              </a:r>
              <a:r>
                <a:rPr lang="zh-CN" altLang="en-US" sz="2800" b="1" dirty="0">
                  <a:latin typeface="Times New Roman" panose="02020603050405020304" pitchFamily="18" charset="0"/>
                </a:rPr>
                <a:t>）交换律：</a:t>
              </a:r>
              <a:r>
                <a:rPr lang="en-US" altLang="zh-CN" sz="2800" b="1" dirty="0">
                  <a:latin typeface="Times New Roman" panose="02020603050405020304" pitchFamily="18" charset="0"/>
                </a:rPr>
                <a:t>A·B=B·A</a:t>
              </a:r>
              <a:r>
                <a:rPr lang="zh-CN" altLang="en-US" sz="2800" b="1" dirty="0">
                  <a:latin typeface="Times New Roman" panose="02020603050405020304" pitchFamily="18" charset="0"/>
                </a:rPr>
                <a:t>；</a:t>
              </a:r>
              <a:r>
                <a:rPr lang="en-US" altLang="zh-CN" sz="2800" b="1" dirty="0">
                  <a:latin typeface="Times New Roman" panose="02020603050405020304" pitchFamily="18" charset="0"/>
                </a:rPr>
                <a:t>A+B=B+A</a:t>
              </a:r>
              <a:endParaRPr lang="en-US" altLang="zh-CN" sz="2800" b="1" dirty="0">
                <a:latin typeface="Times New Roman" panose="02020603050405020304" pitchFamily="18" charset="0"/>
              </a:endParaRPr>
            </a:p>
            <a:p>
              <a:pPr marL="0" lvl="0" indent="0" eaLnBrk="1" hangingPunct="1">
                <a:spcBef>
                  <a:spcPct val="50000"/>
                </a:spcBef>
                <a:buNone/>
              </a:pPr>
              <a:r>
                <a:rPr lang="zh-CN" altLang="en-US" sz="2800" b="1" dirty="0">
                  <a:latin typeface="Times New Roman" panose="02020603050405020304" pitchFamily="18" charset="0"/>
                </a:rPr>
                <a:t>（</a:t>
              </a:r>
              <a:r>
                <a:rPr lang="en-US" altLang="zh-CN" sz="2800" b="1" dirty="0">
                  <a:latin typeface="Times New Roman" panose="02020603050405020304" pitchFamily="18" charset="0"/>
                </a:rPr>
                <a:t>2</a:t>
              </a:r>
              <a:r>
                <a:rPr lang="zh-CN" altLang="en-US" sz="2800" b="1" dirty="0">
                  <a:latin typeface="Times New Roman" panose="02020603050405020304" pitchFamily="18" charset="0"/>
                </a:rPr>
                <a:t>）结合律：</a:t>
              </a:r>
              <a:r>
                <a:rPr lang="en-US" altLang="zh-CN" sz="2800" b="1" dirty="0">
                  <a:latin typeface="Times New Roman" panose="02020603050405020304" pitchFamily="18" charset="0"/>
                </a:rPr>
                <a:t>A·</a:t>
              </a:r>
              <a:r>
                <a:rPr lang="zh-CN" altLang="en-US" sz="2800" b="1" dirty="0">
                  <a:latin typeface="Times New Roman" panose="02020603050405020304" pitchFamily="18" charset="0"/>
                </a:rPr>
                <a:t>（</a:t>
              </a:r>
              <a:r>
                <a:rPr lang="en-US" altLang="zh-CN" sz="2800" b="1" dirty="0">
                  <a:latin typeface="Times New Roman" panose="02020603050405020304" pitchFamily="18" charset="0"/>
                </a:rPr>
                <a:t>B ·C</a:t>
              </a:r>
              <a:r>
                <a:rPr lang="zh-CN" altLang="en-US" sz="2800" b="1" dirty="0">
                  <a:latin typeface="Times New Roman" panose="02020603050405020304" pitchFamily="18" charset="0"/>
                </a:rPr>
                <a:t>）</a:t>
              </a:r>
              <a:r>
                <a:rPr lang="en-US" altLang="zh-CN" sz="2800" b="1" dirty="0">
                  <a:latin typeface="Times New Roman" panose="02020603050405020304" pitchFamily="18" charset="0"/>
                </a:rPr>
                <a:t>=</a:t>
              </a:r>
              <a:r>
                <a:rPr lang="zh-CN" altLang="en-US" sz="2800" b="1" dirty="0">
                  <a:latin typeface="Times New Roman" panose="02020603050405020304" pitchFamily="18" charset="0"/>
                </a:rPr>
                <a:t>（</a:t>
              </a:r>
              <a:r>
                <a:rPr lang="en-US" altLang="zh-CN" sz="2800" b="1" dirty="0">
                  <a:latin typeface="Times New Roman" panose="02020603050405020304" pitchFamily="18" charset="0"/>
                </a:rPr>
                <a:t>A ·B</a:t>
              </a:r>
              <a:r>
                <a:rPr lang="zh-CN" altLang="en-US" sz="2800" b="1" dirty="0">
                  <a:latin typeface="Times New Roman" panose="02020603050405020304" pitchFamily="18" charset="0"/>
                </a:rPr>
                <a:t>）</a:t>
              </a:r>
              <a:r>
                <a:rPr lang="en-US" altLang="zh-CN" sz="2800" b="1" dirty="0">
                  <a:latin typeface="Times New Roman" panose="02020603050405020304" pitchFamily="18" charset="0"/>
                </a:rPr>
                <a:t>·C</a:t>
              </a:r>
              <a:r>
                <a:rPr lang="zh-CN" altLang="en-US" sz="2800" b="1" dirty="0">
                  <a:latin typeface="Times New Roman" panose="02020603050405020304" pitchFamily="18" charset="0"/>
                </a:rPr>
                <a:t>；</a:t>
              </a:r>
              <a:endParaRPr lang="zh-CN" altLang="en-US" sz="2800" b="1" dirty="0">
                <a:latin typeface="Times New Roman" panose="02020603050405020304" pitchFamily="18" charset="0"/>
              </a:endParaRPr>
            </a:p>
            <a:p>
              <a:pPr marL="0" lvl="0" indent="0" eaLnBrk="1" hangingPunct="1">
                <a:spcBef>
                  <a:spcPct val="50000"/>
                </a:spcBef>
                <a:buNone/>
              </a:pPr>
              <a:r>
                <a:rPr lang="zh-CN" altLang="en-US" sz="2800" b="1" dirty="0">
                  <a:latin typeface="Times New Roman" panose="02020603050405020304" pitchFamily="18" charset="0"/>
                </a:rPr>
                <a:t>                           </a:t>
              </a:r>
              <a:r>
                <a:rPr lang="en-US" altLang="zh-CN" sz="2800" b="1" dirty="0">
                  <a:latin typeface="Times New Roman" panose="02020603050405020304" pitchFamily="18" charset="0"/>
                </a:rPr>
                <a:t>A+</a:t>
              </a:r>
              <a:r>
                <a:rPr lang="zh-CN" altLang="en-US" sz="2800" b="1" dirty="0">
                  <a:latin typeface="Times New Roman" panose="02020603050405020304" pitchFamily="18" charset="0"/>
                </a:rPr>
                <a:t>（</a:t>
              </a:r>
              <a:r>
                <a:rPr lang="en-US" altLang="zh-CN" sz="2800" b="1" dirty="0">
                  <a:latin typeface="Times New Roman" panose="02020603050405020304" pitchFamily="18" charset="0"/>
                </a:rPr>
                <a:t>B+C</a:t>
              </a:r>
              <a:r>
                <a:rPr lang="zh-CN" altLang="en-US" sz="2800" b="1" dirty="0">
                  <a:latin typeface="Times New Roman" panose="02020603050405020304" pitchFamily="18" charset="0"/>
                </a:rPr>
                <a:t>）</a:t>
              </a:r>
              <a:r>
                <a:rPr lang="en-US" altLang="zh-CN" sz="2800" b="1" dirty="0">
                  <a:latin typeface="Times New Roman" panose="02020603050405020304" pitchFamily="18" charset="0"/>
                </a:rPr>
                <a:t>=</a:t>
              </a:r>
              <a:r>
                <a:rPr lang="zh-CN" altLang="en-US" sz="2800" b="1" dirty="0">
                  <a:latin typeface="Times New Roman" panose="02020603050405020304" pitchFamily="18" charset="0"/>
                </a:rPr>
                <a:t>（</a:t>
              </a:r>
              <a:r>
                <a:rPr lang="en-US" altLang="zh-CN" sz="2800" b="1" dirty="0">
                  <a:latin typeface="Times New Roman" panose="02020603050405020304" pitchFamily="18" charset="0"/>
                </a:rPr>
                <a:t>A+B</a:t>
              </a:r>
              <a:r>
                <a:rPr lang="zh-CN" altLang="en-US" sz="2800" b="1" dirty="0">
                  <a:latin typeface="Times New Roman" panose="02020603050405020304" pitchFamily="18" charset="0"/>
                </a:rPr>
                <a:t>）</a:t>
              </a:r>
              <a:r>
                <a:rPr lang="en-US" altLang="zh-CN" sz="2800" b="1" dirty="0">
                  <a:latin typeface="Times New Roman" panose="02020603050405020304" pitchFamily="18" charset="0"/>
                </a:rPr>
                <a:t>+C</a:t>
              </a:r>
              <a:endParaRPr lang="en-US" altLang="zh-CN" sz="2800" b="1" dirty="0">
                <a:latin typeface="Times New Roman" panose="02020603050405020304" pitchFamily="18" charset="0"/>
              </a:endParaRPr>
            </a:p>
            <a:p>
              <a:pPr marL="0" lvl="0" indent="0" eaLnBrk="1" hangingPunct="1">
                <a:spcBef>
                  <a:spcPct val="50000"/>
                </a:spcBef>
                <a:buNone/>
              </a:pPr>
              <a:r>
                <a:rPr lang="zh-CN" altLang="en-US" sz="2800" b="1" dirty="0">
                  <a:latin typeface="Times New Roman" panose="02020603050405020304" pitchFamily="18" charset="0"/>
                </a:rPr>
                <a:t>（</a:t>
              </a:r>
              <a:r>
                <a:rPr lang="en-US" altLang="zh-CN" sz="2800" b="1" dirty="0">
                  <a:latin typeface="Times New Roman" panose="02020603050405020304" pitchFamily="18" charset="0"/>
                </a:rPr>
                <a:t>3</a:t>
              </a:r>
              <a:r>
                <a:rPr lang="zh-CN" altLang="en-US" sz="2800" b="1" dirty="0">
                  <a:latin typeface="Times New Roman" panose="02020603050405020304" pitchFamily="18" charset="0"/>
                </a:rPr>
                <a:t>）分配律：</a:t>
              </a:r>
              <a:r>
                <a:rPr lang="en-US" altLang="zh-CN" sz="2800" b="1" dirty="0">
                  <a:latin typeface="Times New Roman" panose="02020603050405020304" pitchFamily="18" charset="0"/>
                </a:rPr>
                <a:t>A ·</a:t>
              </a:r>
              <a:r>
                <a:rPr lang="zh-CN" altLang="en-US" sz="2800" b="1" dirty="0">
                  <a:latin typeface="Times New Roman" panose="02020603050405020304" pitchFamily="18" charset="0"/>
                </a:rPr>
                <a:t>（</a:t>
              </a:r>
              <a:r>
                <a:rPr lang="en-US" altLang="zh-CN" sz="2800" b="1" dirty="0">
                  <a:latin typeface="Times New Roman" panose="02020603050405020304" pitchFamily="18" charset="0"/>
                </a:rPr>
                <a:t>B+C</a:t>
              </a:r>
              <a:r>
                <a:rPr lang="zh-CN" altLang="en-US" sz="2800" b="1" dirty="0">
                  <a:latin typeface="Times New Roman" panose="02020603050405020304" pitchFamily="18" charset="0"/>
                </a:rPr>
                <a:t>）</a:t>
              </a:r>
              <a:r>
                <a:rPr lang="en-US" altLang="zh-CN" sz="2800" b="1" dirty="0">
                  <a:latin typeface="Times New Roman" panose="02020603050405020304" pitchFamily="18" charset="0"/>
                </a:rPr>
                <a:t>=A ·B+A ·C</a:t>
              </a:r>
              <a:r>
                <a:rPr lang="zh-CN" altLang="en-US" sz="2800" b="1" dirty="0">
                  <a:latin typeface="Times New Roman" panose="02020603050405020304" pitchFamily="18" charset="0"/>
                </a:rPr>
                <a:t>；</a:t>
              </a:r>
              <a:endParaRPr lang="zh-CN" altLang="en-US" sz="2800" b="1" dirty="0">
                <a:latin typeface="Times New Roman" panose="02020603050405020304" pitchFamily="18" charset="0"/>
              </a:endParaRPr>
            </a:p>
            <a:p>
              <a:pPr marL="0" lvl="0" indent="0" eaLnBrk="1" hangingPunct="1">
                <a:spcBef>
                  <a:spcPct val="50000"/>
                </a:spcBef>
                <a:buNone/>
              </a:pPr>
              <a:r>
                <a:rPr lang="zh-CN" altLang="en-US" sz="2800" b="1" dirty="0">
                  <a:latin typeface="Times New Roman" panose="02020603050405020304" pitchFamily="18" charset="0"/>
                </a:rPr>
                <a:t>                           </a:t>
              </a:r>
              <a:r>
                <a:rPr lang="en-US" altLang="zh-CN" sz="2800" b="1" dirty="0">
                  <a:latin typeface="Times New Roman" panose="02020603050405020304" pitchFamily="18" charset="0"/>
                </a:rPr>
                <a:t>A+B ·C=</a:t>
              </a:r>
              <a:r>
                <a:rPr lang="zh-CN" altLang="en-US" sz="2800" b="1" dirty="0">
                  <a:latin typeface="Times New Roman" panose="02020603050405020304" pitchFamily="18" charset="0"/>
                </a:rPr>
                <a:t>（</a:t>
              </a:r>
              <a:r>
                <a:rPr lang="en-US" altLang="zh-CN" sz="2800" b="1" dirty="0">
                  <a:latin typeface="Times New Roman" panose="02020603050405020304" pitchFamily="18" charset="0"/>
                </a:rPr>
                <a:t>A+B</a:t>
              </a:r>
              <a:r>
                <a:rPr lang="zh-CN" altLang="en-US" sz="2800" b="1" dirty="0">
                  <a:latin typeface="Times New Roman" panose="02020603050405020304" pitchFamily="18" charset="0"/>
                </a:rPr>
                <a:t>） </a:t>
              </a:r>
              <a:r>
                <a:rPr lang="en-US" altLang="zh-CN" sz="2800" b="1" dirty="0">
                  <a:latin typeface="Times New Roman" panose="02020603050405020304" pitchFamily="18" charset="0"/>
                </a:rPr>
                <a:t>· </a:t>
              </a:r>
              <a:r>
                <a:rPr lang="zh-CN" altLang="en-US" sz="2800" b="1" dirty="0">
                  <a:latin typeface="Times New Roman" panose="02020603050405020304" pitchFamily="18" charset="0"/>
                </a:rPr>
                <a:t>（</a:t>
              </a:r>
              <a:r>
                <a:rPr lang="en-US" altLang="zh-CN" sz="2800" b="1" dirty="0">
                  <a:latin typeface="Times New Roman" panose="02020603050405020304" pitchFamily="18" charset="0"/>
                </a:rPr>
                <a:t>A+C</a:t>
              </a:r>
              <a:r>
                <a:rPr lang="zh-CN" altLang="en-US" sz="2800" b="1" dirty="0">
                  <a:latin typeface="Times New Roman" panose="02020603050405020304" pitchFamily="18" charset="0"/>
                </a:rPr>
                <a:t>）</a:t>
              </a:r>
              <a:endParaRPr lang="zh-CN" altLang="en-US" sz="2800" b="1" dirty="0">
                <a:latin typeface="Times New Roman" panose="02020603050405020304" pitchFamily="18" charset="0"/>
              </a:endParaRPr>
            </a:p>
            <a:p>
              <a:pPr marL="0" lvl="0" indent="0" eaLnBrk="1" hangingPunct="1">
                <a:spcBef>
                  <a:spcPct val="50000"/>
                </a:spcBef>
                <a:buNone/>
              </a:pPr>
              <a:r>
                <a:rPr lang="zh-CN" altLang="en-US" sz="2800" b="1" dirty="0">
                  <a:latin typeface="Times New Roman" panose="02020603050405020304" pitchFamily="18" charset="0"/>
                </a:rPr>
                <a:t>（</a:t>
              </a:r>
              <a:r>
                <a:rPr lang="en-US" altLang="zh-CN" sz="2800" b="1" dirty="0">
                  <a:latin typeface="Times New Roman" panose="02020603050405020304" pitchFamily="18" charset="0"/>
                </a:rPr>
                <a:t>4</a:t>
              </a:r>
              <a:r>
                <a:rPr lang="zh-CN" altLang="en-US" sz="2800" b="1" dirty="0">
                  <a:latin typeface="Times New Roman" panose="02020603050405020304" pitchFamily="18" charset="0"/>
                </a:rPr>
                <a:t>）</a:t>
              </a:r>
              <a:r>
                <a:rPr lang="en-US" altLang="zh-CN" sz="2800" b="1" dirty="0">
                  <a:latin typeface="Times New Roman" panose="02020603050405020304" pitchFamily="18" charset="0"/>
                </a:rPr>
                <a:t>01</a:t>
              </a:r>
              <a:r>
                <a:rPr lang="zh-CN" altLang="en-US" sz="2800" b="1" dirty="0">
                  <a:latin typeface="Times New Roman" panose="02020603050405020304" pitchFamily="18" charset="0"/>
                </a:rPr>
                <a:t>定律：</a:t>
              </a:r>
              <a:r>
                <a:rPr lang="en-US" altLang="zh-CN" sz="2800" b="1" dirty="0">
                  <a:latin typeface="Times New Roman" panose="02020603050405020304" pitchFamily="18" charset="0"/>
                </a:rPr>
                <a:t>1 ·A=A</a:t>
              </a:r>
              <a:r>
                <a:rPr lang="zh-CN" altLang="en-US" sz="2800" b="1" dirty="0">
                  <a:latin typeface="Times New Roman" panose="02020603050405020304" pitchFamily="18" charset="0"/>
                </a:rPr>
                <a:t>；</a:t>
              </a:r>
              <a:r>
                <a:rPr lang="en-US" altLang="zh-CN" sz="2800" b="1" dirty="0">
                  <a:latin typeface="Times New Roman" panose="02020603050405020304" pitchFamily="18" charset="0"/>
                </a:rPr>
                <a:t>0+A=A</a:t>
              </a:r>
              <a:endParaRPr lang="en-US" altLang="zh-CN" sz="2800" b="1" dirty="0">
                <a:latin typeface="Times New Roman" panose="02020603050405020304" pitchFamily="18" charset="0"/>
              </a:endParaRPr>
            </a:p>
            <a:p>
              <a:pPr marL="0" lvl="0" indent="0" eaLnBrk="1" hangingPunct="1">
                <a:spcBef>
                  <a:spcPct val="50000"/>
                </a:spcBef>
                <a:buNone/>
              </a:pPr>
              <a:r>
                <a:rPr lang="en-US" altLang="zh-CN" sz="2800" b="1" dirty="0">
                  <a:latin typeface="Times New Roman" panose="02020603050405020304" pitchFamily="18" charset="0"/>
                </a:rPr>
                <a:t>                          0 ·A=0</a:t>
              </a:r>
              <a:r>
                <a:rPr lang="zh-CN" altLang="en-US" sz="2800" b="1" dirty="0">
                  <a:latin typeface="Times New Roman" panose="02020603050405020304" pitchFamily="18" charset="0"/>
                </a:rPr>
                <a:t>； </a:t>
              </a:r>
              <a:r>
                <a:rPr lang="en-US" altLang="zh-CN" sz="2800" b="1" dirty="0">
                  <a:latin typeface="Times New Roman" panose="02020603050405020304" pitchFamily="18" charset="0"/>
                </a:rPr>
                <a:t>1+A=1</a:t>
              </a:r>
              <a:endParaRPr lang="en-US" altLang="zh-CN" sz="2800" b="1" dirty="0">
                <a:latin typeface="Times New Roman" panose="02020603050405020304" pitchFamily="18" charset="0"/>
              </a:endParaRPr>
            </a:p>
            <a:p>
              <a:pPr marL="0" lvl="0" indent="0" eaLnBrk="1" hangingPunct="1">
                <a:spcBef>
                  <a:spcPct val="50000"/>
                </a:spcBef>
                <a:buNone/>
              </a:pPr>
              <a:r>
                <a:rPr lang="zh-CN" altLang="en-US" sz="2800" b="1" dirty="0">
                  <a:latin typeface="Times New Roman" panose="02020603050405020304" pitchFamily="18" charset="0"/>
                </a:rPr>
                <a:t>（</a:t>
              </a:r>
              <a:r>
                <a:rPr lang="en-US" altLang="zh-CN" sz="2800" b="1" dirty="0">
                  <a:latin typeface="Times New Roman" panose="02020603050405020304" pitchFamily="18" charset="0"/>
                </a:rPr>
                <a:t>5</a:t>
              </a:r>
              <a:r>
                <a:rPr lang="zh-CN" altLang="en-US" sz="2800" b="1" dirty="0">
                  <a:latin typeface="Times New Roman" panose="02020603050405020304" pitchFamily="18" charset="0"/>
                </a:rPr>
                <a:t>）互补律：</a:t>
              </a:r>
              <a:endParaRPr lang="zh-CN" altLang="en-US" sz="2800" b="1" dirty="0">
                <a:latin typeface="Times New Roman" panose="02020603050405020304" pitchFamily="18" charset="0"/>
              </a:endParaRPr>
            </a:p>
          </p:txBody>
        </p:sp>
        <p:graphicFrame>
          <p:nvGraphicFramePr>
            <p:cNvPr id="33796" name="Object 8"/>
            <p:cNvGraphicFramePr>
              <a:graphicFrameLocks noChangeAspect="1"/>
            </p:cNvGraphicFramePr>
            <p:nvPr/>
          </p:nvGraphicFramePr>
          <p:xfrm>
            <a:off x="2235" y="3552"/>
            <a:ext cx="1674" cy="327"/>
          </p:xfrm>
          <a:graphic>
            <a:graphicData uri="http://schemas.openxmlformats.org/presentationml/2006/ole">
              <mc:AlternateContent xmlns:mc="http://schemas.openxmlformats.org/markup-compatibility/2006">
                <mc:Choice xmlns:v="urn:schemas-microsoft-com:vml" Requires="v">
                  <p:oleObj spid="_x0000_s3080" name="" r:id="rId1" imgW="1168400" imgH="228600" progId="Equation.3">
                    <p:embed/>
                  </p:oleObj>
                </mc:Choice>
                <mc:Fallback>
                  <p:oleObj name="" r:id="rId1" imgW="1168400" imgH="228600" progId="Equation.3">
                    <p:embed/>
                    <p:pic>
                      <p:nvPicPr>
                        <p:cNvPr id="0" name="图片 3079"/>
                        <p:cNvPicPr/>
                        <p:nvPr/>
                      </p:nvPicPr>
                      <p:blipFill>
                        <a:blip r:embed="rId2"/>
                        <a:stretch>
                          <a:fillRect/>
                        </a:stretch>
                      </p:blipFill>
                      <p:spPr>
                        <a:xfrm>
                          <a:off x="2235" y="3552"/>
                          <a:ext cx="1674" cy="327"/>
                        </a:xfrm>
                        <a:prstGeom prst="rect">
                          <a:avLst/>
                        </a:prstGeom>
                        <a:noFill/>
                        <a:ln w="38100">
                          <a:noFill/>
                          <a:miter/>
                        </a:ln>
                      </p:spPr>
                    </p:pic>
                  </p:oleObj>
                </mc:Fallback>
              </mc:AlternateContent>
            </a:graphicData>
          </a:graphic>
        </p:graphicFrame>
      </p:grpSp>
    </p:spTree>
  </p:cSld>
  <p:clrMapOvr>
    <a:masterClrMapping/>
  </p:clrMapOvr>
  <p:transition spd="slow" advClick="0"/>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4818" name="Group 6"/>
          <p:cNvGrpSpPr/>
          <p:nvPr/>
        </p:nvGrpSpPr>
        <p:grpSpPr>
          <a:xfrm>
            <a:off x="990600" y="685800"/>
            <a:ext cx="7086600" cy="2471738"/>
            <a:chOff x="624" y="528"/>
            <a:chExt cx="4464" cy="1557"/>
          </a:xfrm>
        </p:grpSpPr>
        <p:sp>
          <p:nvSpPr>
            <p:cNvPr id="34822" name="Text Box 7"/>
            <p:cNvSpPr txBox="1"/>
            <p:nvPr/>
          </p:nvSpPr>
          <p:spPr>
            <a:xfrm>
              <a:off x="624" y="528"/>
              <a:ext cx="4464" cy="1539"/>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dirty="0">
                  <a:latin typeface="Times New Roman" panose="02020603050405020304" pitchFamily="18" charset="0"/>
                </a:rPr>
                <a:t>（</a:t>
              </a:r>
              <a:r>
                <a:rPr lang="en-US" altLang="zh-CN" sz="2800" b="1" dirty="0">
                  <a:latin typeface="Times New Roman" panose="02020603050405020304" pitchFamily="18" charset="0"/>
                </a:rPr>
                <a:t>6</a:t>
              </a:r>
              <a:r>
                <a:rPr lang="zh-CN" altLang="en-US" sz="2800" b="1" dirty="0">
                  <a:latin typeface="Times New Roman" panose="02020603050405020304" pitchFamily="18" charset="0"/>
                </a:rPr>
                <a:t>）重叠律：</a:t>
              </a:r>
              <a:r>
                <a:rPr lang="en-US" altLang="zh-CN" sz="2800" b="1" dirty="0">
                  <a:latin typeface="Times New Roman" panose="02020603050405020304" pitchFamily="18" charset="0"/>
                </a:rPr>
                <a:t>A·A=A</a:t>
              </a:r>
              <a:r>
                <a:rPr lang="zh-CN" altLang="en-US" sz="2800" b="1" dirty="0">
                  <a:latin typeface="Times New Roman" panose="02020603050405020304" pitchFamily="18" charset="0"/>
                </a:rPr>
                <a:t>；</a:t>
              </a:r>
              <a:r>
                <a:rPr lang="en-US" altLang="zh-CN" sz="2800" b="1" dirty="0">
                  <a:latin typeface="Times New Roman" panose="02020603050405020304" pitchFamily="18" charset="0"/>
                </a:rPr>
                <a:t>A+A=A</a:t>
              </a:r>
              <a:endParaRPr lang="en-US" altLang="zh-CN" sz="2800" b="1" dirty="0">
                <a:latin typeface="Times New Roman" panose="02020603050405020304" pitchFamily="18" charset="0"/>
              </a:endParaRPr>
            </a:p>
            <a:p>
              <a:pPr marL="0" lvl="0" indent="0" eaLnBrk="1" hangingPunct="1">
                <a:spcBef>
                  <a:spcPct val="50000"/>
                </a:spcBef>
                <a:buNone/>
              </a:pPr>
              <a:r>
                <a:rPr lang="zh-CN" altLang="en-US" sz="2800" b="1" dirty="0">
                  <a:latin typeface="Times New Roman" panose="02020603050405020304" pitchFamily="18" charset="0"/>
                </a:rPr>
                <a:t>（</a:t>
              </a:r>
              <a:r>
                <a:rPr lang="en-US" altLang="zh-CN" sz="2800" b="1" dirty="0">
                  <a:latin typeface="Times New Roman" panose="02020603050405020304" pitchFamily="18" charset="0"/>
                </a:rPr>
                <a:t>7</a:t>
              </a:r>
              <a:r>
                <a:rPr lang="zh-CN" altLang="en-US" sz="2800" b="1" dirty="0">
                  <a:latin typeface="Times New Roman" panose="02020603050405020304" pitchFamily="18" charset="0"/>
                </a:rPr>
                <a:t>）反演律（</a:t>
              </a:r>
              <a:r>
                <a:rPr lang="en-US" altLang="zh-CN" sz="2800" b="1" dirty="0">
                  <a:latin typeface="Times New Roman" panose="02020603050405020304" pitchFamily="18" charset="0"/>
                </a:rPr>
                <a:t>De. Morgan</a:t>
              </a:r>
              <a:r>
                <a:rPr lang="zh-CN" altLang="en-US" sz="2800" b="1" dirty="0">
                  <a:latin typeface="Times New Roman" panose="02020603050405020304" pitchFamily="18" charset="0"/>
                </a:rPr>
                <a:t>定理</a:t>
              </a:r>
              <a:r>
                <a:rPr lang="en-US" altLang="zh-CN" sz="2800" b="1" dirty="0">
                  <a:latin typeface="Times New Roman" panose="02020603050405020304" pitchFamily="18" charset="0"/>
                </a:rPr>
                <a:t>)</a:t>
              </a:r>
              <a:r>
                <a:rPr lang="zh-CN" altLang="en-US" sz="2800" b="1" dirty="0">
                  <a:latin typeface="Times New Roman" panose="02020603050405020304" pitchFamily="18" charset="0"/>
                </a:rPr>
                <a:t>：</a:t>
              </a:r>
              <a:endParaRPr lang="zh-CN" altLang="en-US" sz="2800" b="1" dirty="0">
                <a:latin typeface="Times New Roman" panose="02020603050405020304" pitchFamily="18" charset="0"/>
              </a:endParaRPr>
            </a:p>
            <a:p>
              <a:pPr marL="0" lvl="0" indent="0" eaLnBrk="1" hangingPunct="1">
                <a:spcBef>
                  <a:spcPct val="50000"/>
                </a:spcBef>
                <a:buNone/>
              </a:pPr>
              <a:r>
                <a:rPr lang="zh-CN" altLang="en-US" sz="2800" b="1" dirty="0">
                  <a:latin typeface="Times New Roman" panose="02020603050405020304" pitchFamily="18" charset="0"/>
                </a:rPr>
                <a:t>          </a:t>
              </a:r>
              <a:endParaRPr lang="zh-CN" altLang="en-US" sz="2800" b="1" dirty="0">
                <a:latin typeface="Times New Roman" panose="02020603050405020304" pitchFamily="18" charset="0"/>
              </a:endParaRPr>
            </a:p>
            <a:p>
              <a:pPr marL="0" lvl="0" indent="0" eaLnBrk="1" hangingPunct="1">
                <a:spcBef>
                  <a:spcPct val="50000"/>
                </a:spcBef>
                <a:buNone/>
              </a:pPr>
              <a:r>
                <a:rPr lang="zh-CN" altLang="en-US" sz="2800" b="1" dirty="0">
                  <a:latin typeface="Times New Roman" panose="02020603050405020304" pitchFamily="18" charset="0"/>
                </a:rPr>
                <a:t>（</a:t>
              </a:r>
              <a:r>
                <a:rPr lang="en-US" altLang="zh-CN" sz="2800" b="1" dirty="0">
                  <a:latin typeface="Times New Roman" panose="02020603050405020304" pitchFamily="18" charset="0"/>
                </a:rPr>
                <a:t>8</a:t>
              </a:r>
              <a:r>
                <a:rPr lang="zh-CN" altLang="en-US" sz="2800" b="1" dirty="0">
                  <a:latin typeface="Times New Roman" panose="02020603050405020304" pitchFamily="18" charset="0"/>
                </a:rPr>
                <a:t>）还原律：</a:t>
              </a:r>
              <a:endParaRPr lang="zh-CN" altLang="en-US" sz="2800" b="1" dirty="0">
                <a:latin typeface="Times New Roman" panose="02020603050405020304" pitchFamily="18" charset="0"/>
              </a:endParaRPr>
            </a:p>
          </p:txBody>
        </p:sp>
        <p:graphicFrame>
          <p:nvGraphicFramePr>
            <p:cNvPr id="34823" name="Object 8"/>
            <p:cNvGraphicFramePr>
              <a:graphicFrameLocks noChangeAspect="1"/>
            </p:cNvGraphicFramePr>
            <p:nvPr/>
          </p:nvGraphicFramePr>
          <p:xfrm>
            <a:off x="1411" y="1248"/>
            <a:ext cx="2938" cy="423"/>
          </p:xfrm>
          <a:graphic>
            <a:graphicData uri="http://schemas.openxmlformats.org/presentationml/2006/ole">
              <mc:AlternateContent xmlns:mc="http://schemas.openxmlformats.org/markup-compatibility/2006">
                <mc:Choice xmlns:v="urn:schemas-microsoft-com:vml" Requires="v">
                  <p:oleObj spid="_x0000_s3085" name="" r:id="rId1" imgW="1676400" imgH="241300" progId="Equation.3">
                    <p:embed/>
                  </p:oleObj>
                </mc:Choice>
                <mc:Fallback>
                  <p:oleObj name="" r:id="rId1" imgW="1676400" imgH="241300" progId="Equation.3">
                    <p:embed/>
                    <p:pic>
                      <p:nvPicPr>
                        <p:cNvPr id="0" name="图片 3084"/>
                        <p:cNvPicPr/>
                        <p:nvPr/>
                      </p:nvPicPr>
                      <p:blipFill>
                        <a:blip r:embed="rId2"/>
                        <a:stretch>
                          <a:fillRect/>
                        </a:stretch>
                      </p:blipFill>
                      <p:spPr>
                        <a:xfrm>
                          <a:off x="1411" y="1248"/>
                          <a:ext cx="2938" cy="423"/>
                        </a:xfrm>
                        <a:prstGeom prst="rect">
                          <a:avLst/>
                        </a:prstGeom>
                        <a:noFill/>
                        <a:ln w="38100">
                          <a:noFill/>
                          <a:miter/>
                        </a:ln>
                      </p:spPr>
                    </p:pic>
                  </p:oleObj>
                </mc:Fallback>
              </mc:AlternateContent>
            </a:graphicData>
          </a:graphic>
        </p:graphicFrame>
        <p:graphicFrame>
          <p:nvGraphicFramePr>
            <p:cNvPr id="34824" name="Object 9"/>
            <p:cNvGraphicFramePr>
              <a:graphicFrameLocks noChangeAspect="1"/>
            </p:cNvGraphicFramePr>
            <p:nvPr/>
          </p:nvGraphicFramePr>
          <p:xfrm>
            <a:off x="2112" y="1680"/>
            <a:ext cx="720" cy="405"/>
          </p:xfrm>
          <a:graphic>
            <a:graphicData uri="http://schemas.openxmlformats.org/presentationml/2006/ole">
              <mc:AlternateContent xmlns:mc="http://schemas.openxmlformats.org/markup-compatibility/2006">
                <mc:Choice xmlns:v="urn:schemas-microsoft-com:vml" Requires="v">
                  <p:oleObj spid="_x0000_s3084" name="" r:id="rId3" imgW="406400" imgH="228600" progId="Equation.3">
                    <p:embed/>
                  </p:oleObj>
                </mc:Choice>
                <mc:Fallback>
                  <p:oleObj name="" r:id="rId3" imgW="406400" imgH="228600" progId="Equation.3">
                    <p:embed/>
                    <p:pic>
                      <p:nvPicPr>
                        <p:cNvPr id="0" name="图片 3083"/>
                        <p:cNvPicPr/>
                        <p:nvPr/>
                      </p:nvPicPr>
                      <p:blipFill>
                        <a:blip r:embed="rId4"/>
                        <a:stretch>
                          <a:fillRect/>
                        </a:stretch>
                      </p:blipFill>
                      <p:spPr>
                        <a:xfrm>
                          <a:off x="2112" y="1680"/>
                          <a:ext cx="720" cy="405"/>
                        </a:xfrm>
                        <a:prstGeom prst="rect">
                          <a:avLst/>
                        </a:prstGeom>
                        <a:noFill/>
                        <a:ln w="38100">
                          <a:noFill/>
                          <a:miter/>
                        </a:ln>
                      </p:spPr>
                    </p:pic>
                  </p:oleObj>
                </mc:Fallback>
              </mc:AlternateContent>
            </a:graphicData>
          </a:graphic>
        </p:graphicFrame>
      </p:grpSp>
      <p:grpSp>
        <p:nvGrpSpPr>
          <p:cNvPr id="34819" name="Group 10"/>
          <p:cNvGrpSpPr/>
          <p:nvPr/>
        </p:nvGrpSpPr>
        <p:grpSpPr>
          <a:xfrm>
            <a:off x="1143000" y="3429000"/>
            <a:ext cx="7086600" cy="2882900"/>
            <a:chOff x="720" y="2160"/>
            <a:chExt cx="4464" cy="1816"/>
          </a:xfrm>
        </p:grpSpPr>
        <p:sp>
          <p:nvSpPr>
            <p:cNvPr id="34820" name="Text Box 11"/>
            <p:cNvSpPr txBox="1"/>
            <p:nvPr/>
          </p:nvSpPr>
          <p:spPr>
            <a:xfrm>
              <a:off x="720" y="2160"/>
              <a:ext cx="4464" cy="14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dirty="0">
                  <a:latin typeface="Times New Roman" panose="02020603050405020304" pitchFamily="18" charset="0"/>
                </a:rPr>
                <a:t>注：</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a:t>
              </a:r>
              <a:r>
                <a:rPr lang="zh-CN" altLang="en-US" sz="2400" b="1" dirty="0">
                  <a:solidFill>
                    <a:srgbClr val="FF0000"/>
                  </a:solidFill>
                  <a:latin typeface="Times New Roman" panose="02020603050405020304" pitchFamily="18" charset="0"/>
                </a:rPr>
                <a:t>若两个逻辑函数具有完全相同的真值表，则这两个逻辑函数相等。</a:t>
              </a:r>
              <a:r>
                <a:rPr lang="zh-CN" altLang="en-US" sz="2400" b="1" dirty="0">
                  <a:latin typeface="Times New Roman" panose="02020603050405020304" pitchFamily="18" charset="0"/>
                </a:rPr>
                <a:t>证明以上定律的基本方法均采用真值表法。</a:t>
              </a:r>
              <a:endParaRPr lang="zh-CN" altLang="en-US" sz="2400" b="1" dirty="0">
                <a:latin typeface="Times New Roman" panose="02020603050405020304" pitchFamily="18" charset="0"/>
              </a:endParaRPr>
            </a:p>
            <a:p>
              <a:pPr marL="0" lvl="0" indent="0" eaLnBrk="1" hangingPunct="1">
                <a:spcBef>
                  <a:spcPct val="50000"/>
                </a:spcBef>
                <a:buNone/>
              </a:pPr>
              <a:r>
                <a:rPr lang="zh-CN" altLang="en-US" sz="2400" b="1" dirty="0">
                  <a:latin typeface="Times New Roman" panose="02020603050405020304" pitchFamily="18" charset="0"/>
                </a:rPr>
                <a:t>        </a:t>
              </a:r>
              <a:r>
                <a:rPr lang="en-US" altLang="zh-CN" sz="2400" b="1" dirty="0">
                  <a:latin typeface="Times New Roman" panose="02020603050405020304" pitchFamily="18" charset="0"/>
                </a:rPr>
                <a:t>2</a:t>
              </a:r>
              <a:r>
                <a:rPr lang="zh-CN" altLang="en-US" sz="2400" b="1" dirty="0">
                  <a:latin typeface="Times New Roman" panose="02020603050405020304" pitchFamily="18" charset="0"/>
                </a:rPr>
                <a:t>、</a:t>
              </a:r>
              <a:r>
                <a:rPr lang="zh-CN" altLang="en-US" sz="2400" b="1" dirty="0">
                  <a:solidFill>
                    <a:schemeClr val="accent2"/>
                  </a:solidFill>
                  <a:latin typeface="Times New Roman" panose="02020603050405020304" pitchFamily="18" charset="0"/>
                </a:rPr>
                <a:t>逻辑代数</a:t>
              </a:r>
              <a:r>
                <a:rPr lang="zh-CN" altLang="en-US" sz="2400" b="1" dirty="0">
                  <a:latin typeface="Times New Roman" panose="02020603050405020304" pitchFamily="18" charset="0"/>
                </a:rPr>
                <a:t>与</a:t>
              </a:r>
              <a:r>
                <a:rPr lang="zh-CN" altLang="en-US" sz="2400" b="1" dirty="0">
                  <a:solidFill>
                    <a:schemeClr val="accent2"/>
                  </a:solidFill>
                  <a:latin typeface="Times New Roman" panose="02020603050405020304" pitchFamily="18" charset="0"/>
                </a:rPr>
                <a:t>普通代数</a:t>
              </a:r>
              <a:r>
                <a:rPr lang="zh-CN" altLang="en-US" sz="2400" b="1" dirty="0">
                  <a:latin typeface="Times New Roman" panose="02020603050405020304" pitchFamily="18" charset="0"/>
                </a:rPr>
                <a:t>是不同的。</a:t>
              </a:r>
              <a:endParaRPr lang="zh-CN" altLang="en-US" sz="2400" b="1" dirty="0">
                <a:latin typeface="Times New Roman" panose="02020603050405020304" pitchFamily="18" charset="0"/>
              </a:endParaRPr>
            </a:p>
            <a:p>
              <a:pPr marL="0" lvl="0" indent="0" eaLnBrk="1" hangingPunct="1">
                <a:spcBef>
                  <a:spcPct val="50000"/>
                </a:spcBef>
                <a:buNone/>
              </a:pPr>
              <a:r>
                <a:rPr lang="zh-CN" altLang="en-US" sz="2400" b="1" dirty="0">
                  <a:latin typeface="Times New Roman" panose="02020603050405020304" pitchFamily="18" charset="0"/>
                </a:rPr>
                <a:t>        </a:t>
              </a:r>
              <a:r>
                <a:rPr lang="zh-CN" altLang="en-US" sz="2400" b="1" dirty="0">
                  <a:solidFill>
                    <a:srgbClr val="FF0000"/>
                  </a:solidFill>
                  <a:latin typeface="Times New Roman" panose="02020603050405020304" pitchFamily="18" charset="0"/>
                </a:rPr>
                <a:t>例：</a:t>
              </a:r>
              <a:endParaRPr lang="zh-CN" altLang="en-US" sz="2400" b="1" dirty="0">
                <a:solidFill>
                  <a:srgbClr val="FF0000"/>
                </a:solidFill>
                <a:latin typeface="Times New Roman" panose="02020603050405020304" pitchFamily="18" charset="0"/>
              </a:endParaRPr>
            </a:p>
          </p:txBody>
        </p:sp>
        <p:graphicFrame>
          <p:nvGraphicFramePr>
            <p:cNvPr id="34821" name="Object 12"/>
            <p:cNvGraphicFramePr>
              <a:graphicFrameLocks noChangeAspect="1"/>
            </p:cNvGraphicFramePr>
            <p:nvPr/>
          </p:nvGraphicFramePr>
          <p:xfrm>
            <a:off x="1536" y="3264"/>
            <a:ext cx="2828" cy="712"/>
          </p:xfrm>
          <a:graphic>
            <a:graphicData uri="http://schemas.openxmlformats.org/presentationml/2006/ole">
              <mc:AlternateContent xmlns:mc="http://schemas.openxmlformats.org/markup-compatibility/2006">
                <mc:Choice xmlns:v="urn:schemas-microsoft-com:vml" Requires="v">
                  <p:oleObj spid="_x0000_s3079" name="" r:id="rId5" imgW="1816100" imgH="457200" progId="Equation.3">
                    <p:embed/>
                  </p:oleObj>
                </mc:Choice>
                <mc:Fallback>
                  <p:oleObj name="" r:id="rId5" imgW="1816100" imgH="457200" progId="Equation.3">
                    <p:embed/>
                    <p:pic>
                      <p:nvPicPr>
                        <p:cNvPr id="0" name="图片 3078"/>
                        <p:cNvPicPr/>
                        <p:nvPr/>
                      </p:nvPicPr>
                      <p:blipFill>
                        <a:blip r:embed="rId6"/>
                        <a:stretch>
                          <a:fillRect/>
                        </a:stretch>
                      </p:blipFill>
                      <p:spPr>
                        <a:xfrm>
                          <a:off x="1536" y="3264"/>
                          <a:ext cx="2828" cy="712"/>
                        </a:xfrm>
                        <a:prstGeom prst="rect">
                          <a:avLst/>
                        </a:prstGeom>
                        <a:noFill/>
                        <a:ln w="38100">
                          <a:noFill/>
                          <a:miter/>
                        </a:ln>
                      </p:spPr>
                    </p:pic>
                  </p:oleObj>
                </mc:Fallback>
              </mc:AlternateContent>
            </a:graphicData>
          </a:graphic>
        </p:graphicFrame>
      </p:grpSp>
    </p:spTree>
  </p:cSld>
  <p:clrMapOvr>
    <a:masterClrMapping/>
  </p:clrMapOvr>
  <p:transition spd="slow" advClick="0"/>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Text Box 6"/>
          <p:cNvSpPr txBox="1"/>
          <p:nvPr/>
        </p:nvSpPr>
        <p:spPr>
          <a:xfrm>
            <a:off x="914400" y="661988"/>
            <a:ext cx="72390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dirty="0">
                <a:solidFill>
                  <a:srgbClr val="FF0000"/>
                </a:solidFill>
                <a:latin typeface="Times New Roman" panose="02020603050405020304" pitchFamily="18" charset="0"/>
              </a:rPr>
              <a:t>三、逻辑代数的常用公式（吸收律）</a:t>
            </a:r>
            <a:endParaRPr lang="zh-CN" altLang="en-US" sz="2400" dirty="0">
              <a:solidFill>
                <a:srgbClr val="FF0000"/>
              </a:solidFill>
              <a:latin typeface="Times New Roman" panose="02020603050405020304" pitchFamily="18" charset="0"/>
            </a:endParaRPr>
          </a:p>
        </p:txBody>
      </p:sp>
      <p:graphicFrame>
        <p:nvGraphicFramePr>
          <p:cNvPr id="35843" name="Object 7"/>
          <p:cNvGraphicFramePr>
            <a:graphicFrameLocks noChangeAspect="1"/>
          </p:cNvGraphicFramePr>
          <p:nvPr/>
        </p:nvGraphicFramePr>
        <p:xfrm>
          <a:off x="876300" y="1385888"/>
          <a:ext cx="7697788" cy="4365625"/>
        </p:xfrm>
        <a:graphic>
          <a:graphicData uri="http://schemas.openxmlformats.org/presentationml/2006/ole">
            <mc:AlternateContent xmlns:mc="http://schemas.openxmlformats.org/markup-compatibility/2006">
              <mc:Choice xmlns:v="urn:schemas-microsoft-com:vml" Requires="v">
                <p:oleObj spid="_x0000_s3088" name="" r:id="rId1" imgW="2552700" imgH="1447800" progId="Equation.3">
                  <p:embed/>
                </p:oleObj>
              </mc:Choice>
              <mc:Fallback>
                <p:oleObj name="" r:id="rId1" imgW="2552700" imgH="1447800" progId="Equation.3">
                  <p:embed/>
                  <p:pic>
                    <p:nvPicPr>
                      <p:cNvPr id="0" name="图片 3087"/>
                      <p:cNvPicPr/>
                      <p:nvPr/>
                    </p:nvPicPr>
                    <p:blipFill>
                      <a:blip r:embed="rId2"/>
                      <a:stretch>
                        <a:fillRect/>
                      </a:stretch>
                    </p:blipFill>
                    <p:spPr>
                      <a:xfrm>
                        <a:off x="876300" y="1385888"/>
                        <a:ext cx="7697788" cy="4365625"/>
                      </a:xfrm>
                      <a:prstGeom prst="rect">
                        <a:avLst/>
                      </a:prstGeom>
                      <a:noFill/>
                      <a:ln w="38100">
                        <a:noFill/>
                        <a:miter/>
                      </a:ln>
                    </p:spPr>
                  </p:pic>
                </p:oleObj>
              </mc:Fallback>
            </mc:AlternateContent>
          </a:graphicData>
        </a:graphic>
      </p:graphicFrame>
    </p:spTree>
  </p:cSld>
  <p:clrMapOvr>
    <a:masterClrMapping/>
  </p:clrMapOvr>
  <p:transition spd="slow" advClick="0"/>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Text Box 6"/>
          <p:cNvSpPr txBox="1"/>
          <p:nvPr/>
        </p:nvSpPr>
        <p:spPr>
          <a:xfrm>
            <a:off x="827088" y="549275"/>
            <a:ext cx="7239000" cy="10668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dirty="0">
                <a:solidFill>
                  <a:srgbClr val="FF0000"/>
                </a:solidFill>
                <a:latin typeface="Times New Roman" panose="02020603050405020304" pitchFamily="18" charset="0"/>
              </a:rPr>
              <a:t>四、异或运算</a:t>
            </a:r>
            <a:endParaRPr lang="zh-CN" altLang="en-US" sz="2800" b="1" dirty="0">
              <a:solidFill>
                <a:srgbClr val="FF0000"/>
              </a:solidFill>
              <a:latin typeface="Times New Roman" panose="02020603050405020304" pitchFamily="18" charset="0"/>
            </a:endParaRPr>
          </a:p>
          <a:p>
            <a:pPr marL="0" lvl="0" indent="0" eaLnBrk="1" hangingPunct="1">
              <a:spcBef>
                <a:spcPct val="50000"/>
              </a:spcBef>
              <a:buNone/>
            </a:pPr>
            <a:r>
              <a:rPr lang="zh-CN" altLang="en-US" sz="2400" b="1" dirty="0">
                <a:latin typeface="Times New Roman" panose="02020603050405020304" pitchFamily="18" charset="0"/>
              </a:rPr>
              <a:t>       </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、异或定义：</a:t>
            </a:r>
            <a:endParaRPr lang="zh-CN" altLang="en-US" sz="2400" b="1" dirty="0">
              <a:latin typeface="Times New Roman" panose="02020603050405020304" pitchFamily="18" charset="0"/>
            </a:endParaRPr>
          </a:p>
        </p:txBody>
      </p:sp>
      <p:graphicFrame>
        <p:nvGraphicFramePr>
          <p:cNvPr id="36867" name="Object 7"/>
          <p:cNvGraphicFramePr>
            <a:graphicFrameLocks noChangeAspect="1"/>
          </p:cNvGraphicFramePr>
          <p:nvPr/>
        </p:nvGraphicFramePr>
        <p:xfrm>
          <a:off x="1476375" y="1557338"/>
          <a:ext cx="6840538" cy="546100"/>
        </p:xfrm>
        <a:graphic>
          <a:graphicData uri="http://schemas.openxmlformats.org/presentationml/2006/ole">
            <mc:AlternateContent xmlns:mc="http://schemas.openxmlformats.org/markup-compatibility/2006">
              <mc:Choice xmlns:v="urn:schemas-microsoft-com:vml" Requires="v">
                <p:oleObj spid="_x0000_s3081" name="" r:id="rId1" imgW="2870200" imgH="228600" progId="Equation.3">
                  <p:embed/>
                </p:oleObj>
              </mc:Choice>
              <mc:Fallback>
                <p:oleObj name="" r:id="rId1" imgW="2870200" imgH="228600" progId="Equation.3">
                  <p:embed/>
                  <p:pic>
                    <p:nvPicPr>
                      <p:cNvPr id="0" name="图片 3080"/>
                      <p:cNvPicPr/>
                      <p:nvPr/>
                    </p:nvPicPr>
                    <p:blipFill>
                      <a:blip r:embed="rId2"/>
                      <a:stretch>
                        <a:fillRect/>
                      </a:stretch>
                    </p:blipFill>
                    <p:spPr>
                      <a:xfrm>
                        <a:off x="1476375" y="1557338"/>
                        <a:ext cx="6840538" cy="546100"/>
                      </a:xfrm>
                      <a:prstGeom prst="rect">
                        <a:avLst/>
                      </a:prstGeom>
                      <a:noFill/>
                      <a:ln w="38100">
                        <a:noFill/>
                        <a:miter/>
                      </a:ln>
                    </p:spPr>
                  </p:pic>
                </p:oleObj>
              </mc:Fallback>
            </mc:AlternateContent>
          </a:graphicData>
        </a:graphic>
      </p:graphicFrame>
      <p:sp>
        <p:nvSpPr>
          <p:cNvPr id="36868" name="Text Box 8"/>
          <p:cNvSpPr txBox="1"/>
          <p:nvPr/>
        </p:nvSpPr>
        <p:spPr>
          <a:xfrm>
            <a:off x="1403350" y="2060575"/>
            <a:ext cx="12954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800" b="1" dirty="0">
                <a:latin typeface="Times New Roman" panose="02020603050405020304" pitchFamily="18" charset="0"/>
              </a:rPr>
              <a:t>A⊙B=</a:t>
            </a:r>
            <a:endParaRPr lang="en-US" altLang="zh-CN" sz="2800" b="1" dirty="0">
              <a:latin typeface="Times New Roman" panose="02020603050405020304" pitchFamily="18" charset="0"/>
            </a:endParaRPr>
          </a:p>
        </p:txBody>
      </p:sp>
      <p:graphicFrame>
        <p:nvGraphicFramePr>
          <p:cNvPr id="36869" name="Object 9"/>
          <p:cNvGraphicFramePr>
            <a:graphicFrameLocks noChangeAspect="1"/>
          </p:cNvGraphicFramePr>
          <p:nvPr/>
        </p:nvGraphicFramePr>
        <p:xfrm>
          <a:off x="2700338" y="2016125"/>
          <a:ext cx="5616575" cy="549275"/>
        </p:xfrm>
        <a:graphic>
          <a:graphicData uri="http://schemas.openxmlformats.org/presentationml/2006/ole">
            <mc:AlternateContent xmlns:mc="http://schemas.openxmlformats.org/markup-compatibility/2006">
              <mc:Choice xmlns:v="urn:schemas-microsoft-com:vml" Requires="v">
                <p:oleObj spid="_x0000_s3082" name="" r:id="rId3" imgW="2349500" imgH="228600" progId="Equation.3">
                  <p:embed/>
                </p:oleObj>
              </mc:Choice>
              <mc:Fallback>
                <p:oleObj name="" r:id="rId3" imgW="2349500" imgH="228600" progId="Equation.3">
                  <p:embed/>
                  <p:pic>
                    <p:nvPicPr>
                      <p:cNvPr id="0" name="图片 3081"/>
                      <p:cNvPicPr/>
                      <p:nvPr/>
                    </p:nvPicPr>
                    <p:blipFill>
                      <a:blip r:embed="rId4"/>
                      <a:stretch>
                        <a:fillRect/>
                      </a:stretch>
                    </p:blipFill>
                    <p:spPr>
                      <a:xfrm>
                        <a:off x="2700338" y="2016125"/>
                        <a:ext cx="5616575" cy="549275"/>
                      </a:xfrm>
                      <a:prstGeom prst="rect">
                        <a:avLst/>
                      </a:prstGeom>
                      <a:noFill/>
                      <a:ln w="38100">
                        <a:noFill/>
                        <a:miter/>
                      </a:ln>
                    </p:spPr>
                  </p:pic>
                </p:oleObj>
              </mc:Fallback>
            </mc:AlternateContent>
          </a:graphicData>
        </a:graphic>
      </p:graphicFrame>
      <p:sp>
        <p:nvSpPr>
          <p:cNvPr id="36870" name="Text Box 10"/>
          <p:cNvSpPr txBox="1"/>
          <p:nvPr/>
        </p:nvSpPr>
        <p:spPr>
          <a:xfrm>
            <a:off x="1331913" y="2636838"/>
            <a:ext cx="24384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dirty="0">
                <a:latin typeface="Times New Roman" panose="02020603050405020304" pitchFamily="18" charset="0"/>
              </a:rPr>
              <a:t>可见：</a:t>
            </a:r>
            <a:r>
              <a:rPr lang="en-US" altLang="zh-CN" sz="2800" b="1" dirty="0">
                <a:latin typeface="Times New Roman" panose="02020603050405020304" pitchFamily="18" charset="0"/>
              </a:rPr>
              <a:t>A⊙B=</a:t>
            </a:r>
            <a:endParaRPr lang="en-US" altLang="zh-CN" sz="2800" b="1" dirty="0">
              <a:latin typeface="Times New Roman" panose="02020603050405020304" pitchFamily="18" charset="0"/>
            </a:endParaRPr>
          </a:p>
        </p:txBody>
      </p:sp>
      <p:graphicFrame>
        <p:nvGraphicFramePr>
          <p:cNvPr id="36871" name="Object 11"/>
          <p:cNvGraphicFramePr>
            <a:graphicFrameLocks noChangeAspect="1"/>
          </p:cNvGraphicFramePr>
          <p:nvPr/>
        </p:nvGraphicFramePr>
        <p:xfrm>
          <a:off x="3563938" y="2636838"/>
          <a:ext cx="936625" cy="482600"/>
        </p:xfrm>
        <a:graphic>
          <a:graphicData uri="http://schemas.openxmlformats.org/presentationml/2006/ole">
            <mc:AlternateContent xmlns:mc="http://schemas.openxmlformats.org/markup-compatibility/2006">
              <mc:Choice xmlns:v="urn:schemas-microsoft-com:vml" Requires="v">
                <p:oleObj spid="_x0000_s3083" name="" r:id="rId5" imgW="419100" imgH="215900" progId="Equation.3">
                  <p:embed/>
                </p:oleObj>
              </mc:Choice>
              <mc:Fallback>
                <p:oleObj name="" r:id="rId5" imgW="419100" imgH="215900" progId="Equation.3">
                  <p:embed/>
                  <p:pic>
                    <p:nvPicPr>
                      <p:cNvPr id="0" name="图片 3082"/>
                      <p:cNvPicPr/>
                      <p:nvPr/>
                    </p:nvPicPr>
                    <p:blipFill>
                      <a:blip r:embed="rId6"/>
                      <a:stretch>
                        <a:fillRect/>
                      </a:stretch>
                    </p:blipFill>
                    <p:spPr>
                      <a:xfrm>
                        <a:off x="3563938" y="2636838"/>
                        <a:ext cx="936625" cy="482600"/>
                      </a:xfrm>
                      <a:prstGeom prst="rect">
                        <a:avLst/>
                      </a:prstGeom>
                      <a:noFill/>
                      <a:ln w="38100">
                        <a:noFill/>
                        <a:miter/>
                      </a:ln>
                    </p:spPr>
                  </p:pic>
                </p:oleObj>
              </mc:Fallback>
            </mc:AlternateContent>
          </a:graphicData>
        </a:graphic>
      </p:graphicFrame>
      <p:grpSp>
        <p:nvGrpSpPr>
          <p:cNvPr id="39948" name="Group 12"/>
          <p:cNvGrpSpPr/>
          <p:nvPr/>
        </p:nvGrpSpPr>
        <p:grpSpPr>
          <a:xfrm>
            <a:off x="971550" y="4076700"/>
            <a:ext cx="7162800" cy="2198688"/>
            <a:chOff x="624" y="2448"/>
            <a:chExt cx="4512" cy="1385"/>
          </a:xfrm>
        </p:grpSpPr>
        <p:sp>
          <p:nvSpPr>
            <p:cNvPr id="36875" name="Text Box 13"/>
            <p:cNvSpPr txBox="1"/>
            <p:nvPr/>
          </p:nvSpPr>
          <p:spPr>
            <a:xfrm>
              <a:off x="624" y="2448"/>
              <a:ext cx="2256" cy="132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latin typeface="Times New Roman" panose="02020603050405020304" pitchFamily="18" charset="0"/>
                </a:rPr>
                <a:t>      2</a:t>
              </a:r>
              <a:r>
                <a:rPr lang="zh-CN" altLang="en-US" sz="2400" b="1" dirty="0">
                  <a:latin typeface="Times New Roman" panose="02020603050405020304" pitchFamily="18" charset="0"/>
                </a:rPr>
                <a:t>、异或运算的性质：</a:t>
              </a:r>
              <a:endParaRPr lang="zh-CN" altLang="en-US" sz="2400" b="1" dirty="0">
                <a:latin typeface="Times New Roman" panose="02020603050405020304" pitchFamily="18" charset="0"/>
              </a:endParaRPr>
            </a:p>
            <a:p>
              <a:pPr marL="0" lvl="0" indent="0" eaLnBrk="1" hangingPunct="1">
                <a:spcBef>
                  <a:spcPct val="50000"/>
                </a:spcBef>
                <a:buNone/>
              </a:pPr>
              <a:r>
                <a:rPr lang="zh-CN" altLang="en-US" sz="2400" b="1" dirty="0">
                  <a:latin typeface="Times New Roman" panose="02020603050405020304" pitchFamily="18" charset="0"/>
                </a:rPr>
                <a:t>   （</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）交换律：</a:t>
              </a:r>
              <a:endParaRPr lang="zh-CN" altLang="en-US" sz="2400" b="1" dirty="0">
                <a:latin typeface="Times New Roman" panose="02020603050405020304" pitchFamily="18" charset="0"/>
              </a:endParaRPr>
            </a:p>
            <a:p>
              <a:pPr marL="0" lvl="0" indent="0" eaLnBrk="1" hangingPunct="1">
                <a:spcBef>
                  <a:spcPct val="50000"/>
                </a:spcBef>
                <a:buNone/>
              </a:pPr>
              <a:r>
                <a:rPr lang="zh-CN" altLang="en-US" sz="2400" b="1" dirty="0">
                  <a:latin typeface="Times New Roman" panose="02020603050405020304" pitchFamily="18" charset="0"/>
                </a:rPr>
                <a:t>   （</a:t>
              </a:r>
              <a:r>
                <a:rPr lang="en-US" altLang="zh-CN" sz="2400" b="1" dirty="0">
                  <a:latin typeface="Times New Roman" panose="02020603050405020304" pitchFamily="18" charset="0"/>
                </a:rPr>
                <a:t>2</a:t>
              </a:r>
              <a:r>
                <a:rPr lang="zh-CN" altLang="en-US" sz="2400" b="1" dirty="0">
                  <a:latin typeface="Times New Roman" panose="02020603050405020304" pitchFamily="18" charset="0"/>
                </a:rPr>
                <a:t>）结合律：</a:t>
              </a:r>
              <a:endParaRPr lang="zh-CN" altLang="en-US" sz="2400" b="1" dirty="0">
                <a:latin typeface="Times New Roman" panose="02020603050405020304" pitchFamily="18" charset="0"/>
              </a:endParaRPr>
            </a:p>
            <a:p>
              <a:pPr marL="0" lvl="0" indent="0" eaLnBrk="1" hangingPunct="1">
                <a:spcBef>
                  <a:spcPct val="50000"/>
                </a:spcBef>
                <a:buNone/>
              </a:pPr>
              <a:r>
                <a:rPr lang="zh-CN" altLang="en-US" sz="2400" b="1" dirty="0">
                  <a:latin typeface="Times New Roman" panose="02020603050405020304" pitchFamily="18" charset="0"/>
                </a:rPr>
                <a:t>   （</a:t>
              </a:r>
              <a:r>
                <a:rPr lang="en-US" altLang="zh-CN" sz="2400" b="1" dirty="0">
                  <a:latin typeface="Times New Roman" panose="02020603050405020304" pitchFamily="18" charset="0"/>
                </a:rPr>
                <a:t>3</a:t>
              </a:r>
              <a:r>
                <a:rPr lang="zh-CN" altLang="en-US" sz="2400" b="1" dirty="0">
                  <a:latin typeface="Times New Roman" panose="02020603050405020304" pitchFamily="18" charset="0"/>
                </a:rPr>
                <a:t>）分配律：</a:t>
              </a:r>
              <a:endParaRPr lang="zh-CN" altLang="en-US" sz="2400" b="1" dirty="0">
                <a:latin typeface="Times New Roman" panose="02020603050405020304" pitchFamily="18" charset="0"/>
              </a:endParaRPr>
            </a:p>
          </p:txBody>
        </p:sp>
        <p:graphicFrame>
          <p:nvGraphicFramePr>
            <p:cNvPr id="36876" name="Object 14"/>
            <p:cNvGraphicFramePr>
              <a:graphicFrameLocks noChangeAspect="1"/>
            </p:cNvGraphicFramePr>
            <p:nvPr/>
          </p:nvGraphicFramePr>
          <p:xfrm>
            <a:off x="2064" y="2704"/>
            <a:ext cx="3072" cy="1129"/>
          </p:xfrm>
          <a:graphic>
            <a:graphicData uri="http://schemas.openxmlformats.org/presentationml/2006/ole">
              <mc:AlternateContent xmlns:mc="http://schemas.openxmlformats.org/markup-compatibility/2006">
                <mc:Choice xmlns:v="urn:schemas-microsoft-com:vml" Requires="v">
                  <p:oleObj spid="_x0000_s3086" name="" r:id="rId7" imgW="1726565" imgH="635000" progId="Equation.3">
                    <p:embed/>
                  </p:oleObj>
                </mc:Choice>
                <mc:Fallback>
                  <p:oleObj name="" r:id="rId7" imgW="1726565" imgH="635000" progId="Equation.3">
                    <p:embed/>
                    <p:pic>
                      <p:nvPicPr>
                        <p:cNvPr id="0" name="图片 3085"/>
                        <p:cNvPicPr/>
                        <p:nvPr/>
                      </p:nvPicPr>
                      <p:blipFill>
                        <a:blip r:embed="rId8"/>
                        <a:stretch>
                          <a:fillRect/>
                        </a:stretch>
                      </p:blipFill>
                      <p:spPr>
                        <a:xfrm>
                          <a:off x="2064" y="2704"/>
                          <a:ext cx="3072" cy="1129"/>
                        </a:xfrm>
                        <a:prstGeom prst="rect">
                          <a:avLst/>
                        </a:prstGeom>
                        <a:noFill/>
                        <a:ln w="38100">
                          <a:noFill/>
                          <a:miter/>
                        </a:ln>
                      </p:spPr>
                    </p:pic>
                  </p:oleObj>
                </mc:Fallback>
              </mc:AlternateContent>
            </a:graphicData>
          </a:graphic>
        </p:graphicFrame>
      </p:grpSp>
      <p:sp>
        <p:nvSpPr>
          <p:cNvPr id="36873" name="Rectangle 15"/>
          <p:cNvSpPr/>
          <p:nvPr/>
        </p:nvSpPr>
        <p:spPr>
          <a:xfrm>
            <a:off x="1403350" y="3284538"/>
            <a:ext cx="3313113" cy="5191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dirty="0">
                <a:solidFill>
                  <a:srgbClr val="FF0000"/>
                </a:solidFill>
                <a:latin typeface="Times New Roman" panose="02020603050405020304" pitchFamily="18" charset="0"/>
              </a:rPr>
              <a:t>思考：</a:t>
            </a:r>
            <a:r>
              <a:rPr lang="zh-CN" altLang="en-US" sz="2800" b="1" dirty="0">
                <a:latin typeface="Times New Roman" panose="02020603050405020304" pitchFamily="18" charset="0"/>
              </a:rPr>
              <a:t> </a:t>
            </a:r>
            <a:r>
              <a:rPr lang="en-US" altLang="zh-CN" sz="2800" b="1" dirty="0">
                <a:latin typeface="Times New Roman" panose="02020603050405020304" pitchFamily="18" charset="0"/>
              </a:rPr>
              <a:t>A⊙B ⊙ C</a:t>
            </a:r>
            <a:r>
              <a:rPr lang="en-US" altLang="zh-CN" sz="2800" dirty="0">
                <a:latin typeface="Times New Roman" panose="02020603050405020304" pitchFamily="18" charset="0"/>
              </a:rPr>
              <a:t>   ?</a:t>
            </a:r>
            <a:endParaRPr lang="en-US" altLang="zh-CN" sz="2800" b="1" dirty="0">
              <a:latin typeface="Times New Roman" panose="02020603050405020304" pitchFamily="18" charset="0"/>
            </a:endParaRPr>
          </a:p>
        </p:txBody>
      </p:sp>
      <p:graphicFrame>
        <p:nvGraphicFramePr>
          <p:cNvPr id="36874" name="Object 16"/>
          <p:cNvGraphicFramePr>
            <a:graphicFrameLocks noChangeAspect="1"/>
          </p:cNvGraphicFramePr>
          <p:nvPr/>
        </p:nvGraphicFramePr>
        <p:xfrm>
          <a:off x="4787900" y="3305175"/>
          <a:ext cx="1584325" cy="411163"/>
        </p:xfrm>
        <a:graphic>
          <a:graphicData uri="http://schemas.openxmlformats.org/presentationml/2006/ole">
            <mc:AlternateContent xmlns:mc="http://schemas.openxmlformats.org/markup-compatibility/2006">
              <mc:Choice xmlns:v="urn:schemas-microsoft-com:vml" Requires="v">
                <p:oleObj spid="_x0000_s3087" name="" r:id="rId9" imgW="685800" imgH="177800" progId="Equation.3">
                  <p:embed/>
                </p:oleObj>
              </mc:Choice>
              <mc:Fallback>
                <p:oleObj name="" r:id="rId9" imgW="685800" imgH="177800" progId="Equation.3">
                  <p:embed/>
                  <p:pic>
                    <p:nvPicPr>
                      <p:cNvPr id="0" name="图片 3086"/>
                      <p:cNvPicPr/>
                      <p:nvPr/>
                    </p:nvPicPr>
                    <p:blipFill>
                      <a:blip r:embed="rId10"/>
                      <a:stretch>
                        <a:fillRect/>
                      </a:stretch>
                    </p:blipFill>
                    <p:spPr>
                      <a:xfrm>
                        <a:off x="4787900" y="3305175"/>
                        <a:ext cx="1584325" cy="411163"/>
                      </a:xfrm>
                      <a:prstGeom prst="rect">
                        <a:avLst/>
                      </a:prstGeom>
                      <a:noFill/>
                      <a:ln w="38100">
                        <a:noFill/>
                        <a:miter/>
                      </a:ln>
                    </p:spPr>
                  </p:pic>
                </p:oleObj>
              </mc:Fallback>
            </mc:AlternateContent>
          </a:graphicData>
        </a:graphic>
      </p:graphicFrame>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9948"/>
                                        </p:tgtEl>
                                        <p:attrNameLst>
                                          <p:attrName>style.visibility</p:attrName>
                                        </p:attrNameLst>
                                      </p:cBhvr>
                                      <p:to>
                                        <p:strVal val="visible"/>
                                      </p:to>
                                    </p:set>
                                    <p:animEffect transition="in" filter="blinds(horizontal)">
                                      <p:cBhvr>
                                        <p:cTn id="7" dur="500"/>
                                        <p:tgtEl>
                                          <p:spTgt spid="399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7890" name="Object 6"/>
          <p:cNvGraphicFramePr>
            <a:graphicFrameLocks noChangeAspect="1"/>
          </p:cNvGraphicFramePr>
          <p:nvPr/>
        </p:nvGraphicFramePr>
        <p:xfrm>
          <a:off x="1127125" y="700088"/>
          <a:ext cx="6913563" cy="3568700"/>
        </p:xfrm>
        <a:graphic>
          <a:graphicData uri="http://schemas.openxmlformats.org/presentationml/2006/ole">
            <mc:AlternateContent xmlns:mc="http://schemas.openxmlformats.org/markup-compatibility/2006">
              <mc:Choice xmlns:v="urn:schemas-microsoft-com:vml" Requires="v">
                <p:oleObj spid="_x0000_s3089" name="" r:id="rId1" imgW="2755900" imgH="1663700" progId="Equation.3">
                  <p:embed/>
                </p:oleObj>
              </mc:Choice>
              <mc:Fallback>
                <p:oleObj name="" r:id="rId1" imgW="2755900" imgH="1663700" progId="Equation.3">
                  <p:embed/>
                  <p:pic>
                    <p:nvPicPr>
                      <p:cNvPr id="0" name="图片 3088"/>
                      <p:cNvPicPr/>
                      <p:nvPr/>
                    </p:nvPicPr>
                    <p:blipFill>
                      <a:blip r:embed="rId2"/>
                      <a:stretch>
                        <a:fillRect/>
                      </a:stretch>
                    </p:blipFill>
                    <p:spPr>
                      <a:xfrm>
                        <a:off x="1127125" y="700088"/>
                        <a:ext cx="6913563" cy="3568700"/>
                      </a:xfrm>
                      <a:prstGeom prst="rect">
                        <a:avLst/>
                      </a:prstGeom>
                      <a:noFill/>
                      <a:ln w="38100">
                        <a:noFill/>
                        <a:miter/>
                      </a:ln>
                    </p:spPr>
                  </p:pic>
                </p:oleObj>
              </mc:Fallback>
            </mc:AlternateContent>
          </a:graphicData>
        </a:graphic>
      </p:graphicFrame>
      <p:grpSp>
        <p:nvGrpSpPr>
          <p:cNvPr id="40967" name="Group 7"/>
          <p:cNvGrpSpPr/>
          <p:nvPr/>
        </p:nvGrpSpPr>
        <p:grpSpPr>
          <a:xfrm>
            <a:off x="839788" y="4300538"/>
            <a:ext cx="7620000" cy="2008187"/>
            <a:chOff x="567" y="2523"/>
            <a:chExt cx="4800" cy="1265"/>
          </a:xfrm>
        </p:grpSpPr>
        <p:sp>
          <p:nvSpPr>
            <p:cNvPr id="37892" name="Text Box 8"/>
            <p:cNvSpPr txBox="1"/>
            <p:nvPr/>
          </p:nvSpPr>
          <p:spPr>
            <a:xfrm>
              <a:off x="567" y="2523"/>
              <a:ext cx="4800" cy="74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dirty="0">
                  <a:latin typeface="Times New Roman" panose="02020603050405020304" pitchFamily="18" charset="0"/>
                </a:rPr>
                <a:t>        </a:t>
              </a:r>
              <a:r>
                <a:rPr lang="zh-CN" altLang="en-US" sz="2400" b="1" dirty="0">
                  <a:latin typeface="Times New Roman" panose="02020603050405020304" pitchFamily="18" charset="0"/>
                </a:rPr>
                <a:t>在多变量异或运算中，若变量为</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的个数为</a:t>
              </a:r>
              <a:r>
                <a:rPr lang="zh-CN" altLang="en-US" sz="2400" b="1" dirty="0">
                  <a:solidFill>
                    <a:srgbClr val="FF0000"/>
                  </a:solidFill>
                  <a:latin typeface="Times New Roman" panose="02020603050405020304" pitchFamily="18" charset="0"/>
                </a:rPr>
                <a:t>奇数</a:t>
              </a:r>
              <a:r>
                <a:rPr lang="zh-CN" altLang="en-US" sz="2400" b="1" dirty="0">
                  <a:latin typeface="Times New Roman" panose="02020603050405020304" pitchFamily="18" charset="0"/>
                </a:rPr>
                <a:t>，异或运算</a:t>
              </a:r>
              <a:r>
                <a:rPr lang="zh-CN" altLang="en-US" sz="2400" b="1" dirty="0">
                  <a:solidFill>
                    <a:srgbClr val="FF0000"/>
                  </a:solidFill>
                  <a:latin typeface="Times New Roman" panose="02020603050405020304" pitchFamily="18" charset="0"/>
                </a:rPr>
                <a:t>结果为</a:t>
              </a:r>
              <a:r>
                <a:rPr lang="en-US" altLang="zh-CN" sz="2400" b="1" dirty="0">
                  <a:solidFill>
                    <a:srgbClr val="FF0000"/>
                  </a:solidFill>
                  <a:latin typeface="Times New Roman" panose="02020603050405020304" pitchFamily="18" charset="0"/>
                </a:rPr>
                <a:t>1</a:t>
              </a:r>
              <a:r>
                <a:rPr lang="zh-CN" altLang="en-US" sz="2400" b="1" dirty="0">
                  <a:latin typeface="Times New Roman" panose="02020603050405020304" pitchFamily="18" charset="0"/>
                </a:rPr>
                <a:t>，若变量为</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的个数为</a:t>
              </a:r>
              <a:r>
                <a:rPr lang="zh-CN" altLang="en-US" sz="2400" b="1" dirty="0">
                  <a:solidFill>
                    <a:srgbClr val="FF0000"/>
                  </a:solidFill>
                  <a:latin typeface="Times New Roman" panose="02020603050405020304" pitchFamily="18" charset="0"/>
                </a:rPr>
                <a:t>偶数</a:t>
              </a:r>
              <a:r>
                <a:rPr lang="zh-CN" altLang="en-US" sz="2400" b="1" dirty="0">
                  <a:latin typeface="Times New Roman" panose="02020603050405020304" pitchFamily="18" charset="0"/>
                </a:rPr>
                <a:t>，异或运算</a:t>
              </a:r>
              <a:r>
                <a:rPr lang="zh-CN" altLang="en-US" sz="2400" b="1" dirty="0">
                  <a:solidFill>
                    <a:srgbClr val="FF0000"/>
                  </a:solidFill>
                  <a:latin typeface="Times New Roman" panose="02020603050405020304" pitchFamily="18" charset="0"/>
                </a:rPr>
                <a:t>结果为</a:t>
              </a:r>
              <a:r>
                <a:rPr lang="en-US" altLang="zh-CN" sz="2400" b="1" dirty="0">
                  <a:solidFill>
                    <a:srgbClr val="FF0000"/>
                  </a:solidFill>
                  <a:latin typeface="Times New Roman" panose="02020603050405020304" pitchFamily="18" charset="0"/>
                </a:rPr>
                <a:t>0</a:t>
              </a:r>
              <a:r>
                <a:rPr lang="zh-CN" altLang="en-US" sz="2400" b="1" dirty="0">
                  <a:latin typeface="Times New Roman" panose="02020603050405020304" pitchFamily="18" charset="0"/>
                </a:rPr>
                <a:t>，</a:t>
              </a:r>
              <a:r>
                <a:rPr lang="zh-CN" altLang="en-US" sz="2400" b="1" dirty="0">
                  <a:solidFill>
                    <a:srgbClr val="FF0000"/>
                  </a:solidFill>
                  <a:latin typeface="Times New Roman" panose="02020603050405020304" pitchFamily="18" charset="0"/>
                </a:rPr>
                <a:t>与变量为</a:t>
              </a:r>
              <a:r>
                <a:rPr lang="en-US" altLang="zh-CN" sz="2400" b="1" dirty="0">
                  <a:solidFill>
                    <a:srgbClr val="FF0000"/>
                  </a:solidFill>
                  <a:latin typeface="Times New Roman" panose="02020603050405020304" pitchFamily="18" charset="0"/>
                </a:rPr>
                <a:t>0 </a:t>
              </a:r>
              <a:r>
                <a:rPr lang="zh-CN" altLang="en-US" sz="2400" b="1" dirty="0">
                  <a:solidFill>
                    <a:srgbClr val="FF0000"/>
                  </a:solidFill>
                  <a:latin typeface="Times New Roman" panose="02020603050405020304" pitchFamily="18" charset="0"/>
                </a:rPr>
                <a:t>的个数无关</a:t>
              </a:r>
              <a:r>
                <a:rPr lang="zh-CN" altLang="en-US" sz="2400" b="1" dirty="0">
                  <a:latin typeface="Times New Roman" panose="02020603050405020304" pitchFamily="18" charset="0"/>
                </a:rPr>
                <a:t>。即</a:t>
              </a:r>
              <a:r>
                <a:rPr lang="en-US" altLang="zh-CN" sz="2400" b="1" dirty="0">
                  <a:latin typeface="Times New Roman" panose="02020603050405020304" pitchFamily="18" charset="0"/>
                </a:rPr>
                <a:t>:</a:t>
              </a:r>
              <a:endParaRPr lang="en-US" altLang="zh-CN" sz="2400" b="1" dirty="0">
                <a:latin typeface="Times New Roman" panose="02020603050405020304" pitchFamily="18" charset="0"/>
              </a:endParaRPr>
            </a:p>
          </p:txBody>
        </p:sp>
        <p:graphicFrame>
          <p:nvGraphicFramePr>
            <p:cNvPr id="37893" name="Object 9"/>
            <p:cNvGraphicFramePr>
              <a:graphicFrameLocks noChangeAspect="1"/>
            </p:cNvGraphicFramePr>
            <p:nvPr/>
          </p:nvGraphicFramePr>
          <p:xfrm>
            <a:off x="568" y="3294"/>
            <a:ext cx="4669" cy="494"/>
          </p:xfrm>
          <a:graphic>
            <a:graphicData uri="http://schemas.openxmlformats.org/presentationml/2006/ole">
              <mc:AlternateContent xmlns:mc="http://schemas.openxmlformats.org/markup-compatibility/2006">
                <mc:Choice xmlns:v="urn:schemas-microsoft-com:vml" Requires="v">
                  <p:oleObj spid="_x0000_s3120" name="" r:id="rId3" imgW="3365500" imgH="355600" progId="Equation.3">
                    <p:embed/>
                  </p:oleObj>
                </mc:Choice>
                <mc:Fallback>
                  <p:oleObj name="" r:id="rId3" imgW="3365500" imgH="355600" progId="Equation.3">
                    <p:embed/>
                    <p:pic>
                      <p:nvPicPr>
                        <p:cNvPr id="0" name="图片 3119"/>
                        <p:cNvPicPr/>
                        <p:nvPr/>
                      </p:nvPicPr>
                      <p:blipFill>
                        <a:blip r:embed="rId4"/>
                        <a:stretch>
                          <a:fillRect/>
                        </a:stretch>
                      </p:blipFill>
                      <p:spPr>
                        <a:xfrm>
                          <a:off x="568" y="3294"/>
                          <a:ext cx="4669" cy="494"/>
                        </a:xfrm>
                        <a:prstGeom prst="rect">
                          <a:avLst/>
                        </a:prstGeom>
                        <a:noFill/>
                        <a:ln w="38100">
                          <a:noFill/>
                          <a:miter/>
                        </a:ln>
                      </p:spPr>
                    </p:pic>
                  </p:oleObj>
                </mc:Fallback>
              </mc:AlternateContent>
            </a:graphicData>
          </a:graphic>
        </p:graphicFrame>
      </p:grpSp>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0967"/>
                                        </p:tgtEl>
                                        <p:attrNameLst>
                                          <p:attrName>style.visibility</p:attrName>
                                        </p:attrNameLst>
                                      </p:cBhvr>
                                      <p:to>
                                        <p:strVal val="visible"/>
                                      </p:to>
                                    </p:set>
                                    <p:animEffect transition="in" filter="blinds(horizontal)">
                                      <p:cBhvr>
                                        <p:cTn id="7" dur="500"/>
                                        <p:tgtEl>
                                          <p:spTgt spid="409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9" name="Text Box 3"/>
          <p:cNvSpPr txBox="1"/>
          <p:nvPr/>
        </p:nvSpPr>
        <p:spPr>
          <a:xfrm>
            <a:off x="79375" y="1600200"/>
            <a:ext cx="3325813" cy="5794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fontAlgn="t" hangingPunct="1">
              <a:spcBef>
                <a:spcPct val="50000"/>
              </a:spcBef>
              <a:buNone/>
            </a:pPr>
            <a:r>
              <a:rPr lang="en-US" altLang="zh-CN" b="1" dirty="0">
                <a:solidFill>
                  <a:srgbClr val="0033CC"/>
                </a:solidFill>
                <a:latin typeface="宋体" panose="02010600030101010101" pitchFamily="2" charset="-122"/>
              </a:rPr>
              <a:t> (</a:t>
            </a:r>
            <a:r>
              <a:rPr lang="zh-CN" altLang="en-US" b="1" dirty="0">
                <a:solidFill>
                  <a:srgbClr val="0033CC"/>
                </a:solidFill>
                <a:latin typeface="宋体" panose="02010600030101010101" pitchFamily="2" charset="-122"/>
              </a:rPr>
              <a:t>一</a:t>
            </a:r>
            <a:r>
              <a:rPr lang="en-US" altLang="zh-CN" b="1" dirty="0">
                <a:solidFill>
                  <a:srgbClr val="0033CC"/>
                </a:solidFill>
                <a:latin typeface="宋体" panose="02010600030101010101" pitchFamily="2" charset="-122"/>
              </a:rPr>
              <a:t>)</a:t>
            </a:r>
            <a:r>
              <a:rPr lang="en-US" altLang="zh-CN" b="1" dirty="0">
                <a:solidFill>
                  <a:srgbClr val="0033CC"/>
                </a:solidFill>
                <a:latin typeface="Times New Roman" panose="02020603050405020304" pitchFamily="18" charset="0"/>
              </a:rPr>
              <a:t>  </a:t>
            </a:r>
            <a:r>
              <a:rPr lang="zh-CN" altLang="en-US" b="1" dirty="0">
                <a:solidFill>
                  <a:srgbClr val="0033CC"/>
                </a:solidFill>
                <a:latin typeface="宋体" panose="02010600030101010101" pitchFamily="2" charset="-122"/>
              </a:rPr>
              <a:t>代入规则 </a:t>
            </a:r>
            <a:endParaRPr lang="zh-CN" altLang="en-US" b="1" dirty="0">
              <a:solidFill>
                <a:srgbClr val="0033CC"/>
              </a:solidFill>
              <a:latin typeface="宋体" panose="02010600030101010101" pitchFamily="2" charset="-122"/>
            </a:endParaRPr>
          </a:p>
        </p:txBody>
      </p:sp>
      <p:graphicFrame>
        <p:nvGraphicFramePr>
          <p:cNvPr id="126982" name="Object 6"/>
          <p:cNvGraphicFramePr>
            <a:graphicFrameLocks noChangeAspect="1"/>
          </p:cNvGraphicFramePr>
          <p:nvPr/>
        </p:nvGraphicFramePr>
        <p:xfrm>
          <a:off x="1898650" y="2801938"/>
          <a:ext cx="1751013" cy="336550"/>
        </p:xfrm>
        <a:graphic>
          <a:graphicData uri="http://schemas.openxmlformats.org/presentationml/2006/ole">
            <mc:AlternateContent xmlns:mc="http://schemas.openxmlformats.org/markup-compatibility/2006">
              <mc:Choice xmlns:v="urn:schemas-microsoft-com:vml" Requires="v">
                <p:oleObj spid="_x0000_s3117" name="" r:id="rId1" imgW="1666875" imgH="342900" progId="Paint.Picture">
                  <p:embed/>
                </p:oleObj>
              </mc:Choice>
              <mc:Fallback>
                <p:oleObj name="" r:id="rId1" imgW="1666875" imgH="342900" progId="Paint.Picture">
                  <p:embed/>
                  <p:pic>
                    <p:nvPicPr>
                      <p:cNvPr id="0" name="图片 3116"/>
                      <p:cNvPicPr/>
                      <p:nvPr/>
                    </p:nvPicPr>
                    <p:blipFill>
                      <a:blip r:embed="rId2"/>
                      <a:stretch>
                        <a:fillRect/>
                      </a:stretch>
                    </p:blipFill>
                    <p:spPr>
                      <a:xfrm>
                        <a:off x="1898650" y="2801938"/>
                        <a:ext cx="1751013" cy="336550"/>
                      </a:xfrm>
                      <a:prstGeom prst="rect">
                        <a:avLst/>
                      </a:prstGeom>
                      <a:noFill/>
                      <a:ln w="38100">
                        <a:noFill/>
                        <a:miter/>
                      </a:ln>
                    </p:spPr>
                  </p:pic>
                </p:oleObj>
              </mc:Fallback>
            </mc:AlternateContent>
          </a:graphicData>
        </a:graphic>
      </p:graphicFrame>
      <p:sp>
        <p:nvSpPr>
          <p:cNvPr id="126983" name="Text Box 7"/>
          <p:cNvSpPr txBox="1"/>
          <p:nvPr/>
        </p:nvSpPr>
        <p:spPr>
          <a:xfrm>
            <a:off x="1936750" y="2736850"/>
            <a:ext cx="161925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i="1" dirty="0">
                <a:solidFill>
                  <a:srgbClr val="FF3300"/>
                </a:solidFill>
                <a:latin typeface="Times New Roman" panose="02020603050405020304" pitchFamily="18" charset="0"/>
              </a:rPr>
              <a:t>A </a:t>
            </a:r>
            <a:r>
              <a:rPr lang="en-US" altLang="zh-CN" sz="2400" b="1" i="1" baseline="-25000" dirty="0">
                <a:solidFill>
                  <a:srgbClr val="FF3300"/>
                </a:solidFill>
                <a:latin typeface="Times New Roman" panose="02020603050405020304" pitchFamily="18" charset="0"/>
              </a:rPr>
              <a:t>  </a:t>
            </a:r>
            <a:r>
              <a:rPr lang="en-US" altLang="zh-CN" sz="2400" b="1" i="1" dirty="0">
                <a:solidFill>
                  <a:srgbClr val="FF3300"/>
                </a:solidFill>
                <a:latin typeface="Times New Roman" panose="02020603050405020304" pitchFamily="18" charset="0"/>
              </a:rPr>
              <a:t>A    </a:t>
            </a:r>
            <a:r>
              <a:rPr lang="en-US" altLang="zh-CN" sz="2400" b="1" i="1" baseline="-25000" dirty="0">
                <a:solidFill>
                  <a:srgbClr val="FF3300"/>
                </a:solidFill>
                <a:latin typeface="Times New Roman" panose="02020603050405020304" pitchFamily="18" charset="0"/>
              </a:rPr>
              <a:t>  </a:t>
            </a:r>
            <a:r>
              <a:rPr lang="en-US" altLang="zh-CN" sz="2400" b="1" i="1" dirty="0">
                <a:solidFill>
                  <a:srgbClr val="FF3300"/>
                </a:solidFill>
                <a:latin typeface="Times New Roman" panose="02020603050405020304" pitchFamily="18" charset="0"/>
              </a:rPr>
              <a:t>A</a:t>
            </a:r>
            <a:r>
              <a:rPr lang="en-US" altLang="zh-CN" sz="2400" b="1" dirty="0">
                <a:latin typeface="Times New Roman" panose="02020603050405020304" pitchFamily="18" charset="0"/>
              </a:rPr>
              <a:t>       </a:t>
            </a:r>
            <a:endParaRPr lang="en-US" altLang="zh-CN" sz="2400" b="1" dirty="0">
              <a:latin typeface="Times New Roman" panose="02020603050405020304" pitchFamily="18" charset="0"/>
            </a:endParaRPr>
          </a:p>
        </p:txBody>
      </p:sp>
      <p:grpSp>
        <p:nvGrpSpPr>
          <p:cNvPr id="126995" name="Group 19"/>
          <p:cNvGrpSpPr/>
          <p:nvPr/>
        </p:nvGrpSpPr>
        <p:grpSpPr>
          <a:xfrm>
            <a:off x="2305050" y="3351213"/>
            <a:ext cx="4019550" cy="457200"/>
            <a:chOff x="1596" y="1706"/>
            <a:chExt cx="2532" cy="288"/>
          </a:xfrm>
        </p:grpSpPr>
        <p:graphicFrame>
          <p:nvGraphicFramePr>
            <p:cNvPr id="38931" name="Object 9"/>
            <p:cNvGraphicFramePr>
              <a:graphicFrameLocks noChangeAspect="1"/>
            </p:cNvGraphicFramePr>
            <p:nvPr/>
          </p:nvGraphicFramePr>
          <p:xfrm>
            <a:off x="2136" y="1733"/>
            <a:ext cx="144" cy="246"/>
          </p:xfrm>
          <a:graphic>
            <a:graphicData uri="http://schemas.openxmlformats.org/presentationml/2006/ole">
              <mc:AlternateContent xmlns:mc="http://schemas.openxmlformats.org/markup-compatibility/2006">
                <mc:Choice xmlns:v="urn:schemas-microsoft-com:vml" Requires="v">
                  <p:oleObj spid="_x0000_s3121" name="" r:id="rId3" imgW="228600" imgH="390525" progId="Paint.Picture">
                    <p:embed/>
                  </p:oleObj>
                </mc:Choice>
                <mc:Fallback>
                  <p:oleObj name="" r:id="rId3" imgW="228600" imgH="390525" progId="Paint.Picture">
                    <p:embed/>
                    <p:pic>
                      <p:nvPicPr>
                        <p:cNvPr id="0" name="图片 3120"/>
                        <p:cNvPicPr/>
                        <p:nvPr/>
                      </p:nvPicPr>
                      <p:blipFill>
                        <a:blip r:embed="rId4"/>
                        <a:stretch>
                          <a:fillRect/>
                        </a:stretch>
                      </p:blipFill>
                      <p:spPr>
                        <a:xfrm>
                          <a:off x="2136" y="1733"/>
                          <a:ext cx="144" cy="246"/>
                        </a:xfrm>
                        <a:prstGeom prst="rect">
                          <a:avLst/>
                        </a:prstGeom>
                        <a:noFill/>
                        <a:ln w="38100">
                          <a:noFill/>
                          <a:miter/>
                        </a:ln>
                      </p:spPr>
                    </p:pic>
                  </p:oleObj>
                </mc:Fallback>
              </mc:AlternateContent>
            </a:graphicData>
          </a:graphic>
        </p:graphicFrame>
        <p:sp>
          <p:nvSpPr>
            <p:cNvPr id="38932" name="Text Box 8"/>
            <p:cNvSpPr txBox="1"/>
            <p:nvPr/>
          </p:nvSpPr>
          <p:spPr>
            <a:xfrm>
              <a:off x="1596" y="1706"/>
              <a:ext cx="1141"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i="1" dirty="0">
                  <a:latin typeface="Times New Roman" panose="02020603050405020304" pitchFamily="18" charset="0"/>
                </a:rPr>
                <a:t>A</a:t>
              </a:r>
              <a:r>
                <a:rPr lang="zh-CN" altLang="en-US" sz="2400" b="1" dirty="0">
                  <a:latin typeface="Times New Roman" panose="02020603050405020304" pitchFamily="18" charset="0"/>
                </a:rPr>
                <a:t>均用  代替</a:t>
              </a:r>
              <a:endParaRPr lang="zh-CN" altLang="en-US" sz="2400" b="1" dirty="0">
                <a:latin typeface="Times New Roman" panose="02020603050405020304" pitchFamily="18" charset="0"/>
              </a:endParaRPr>
            </a:p>
          </p:txBody>
        </p:sp>
        <p:graphicFrame>
          <p:nvGraphicFramePr>
            <p:cNvPr id="38933" name="Object 11"/>
            <p:cNvGraphicFramePr>
              <a:graphicFrameLocks noChangeAspect="1"/>
            </p:cNvGraphicFramePr>
            <p:nvPr/>
          </p:nvGraphicFramePr>
          <p:xfrm>
            <a:off x="3054" y="1719"/>
            <a:ext cx="1074" cy="252"/>
          </p:xfrm>
          <a:graphic>
            <a:graphicData uri="http://schemas.openxmlformats.org/presentationml/2006/ole">
              <mc:AlternateContent xmlns:mc="http://schemas.openxmlformats.org/markup-compatibility/2006">
                <mc:Choice xmlns:v="urn:schemas-microsoft-com:vml" Requires="v">
                  <p:oleObj spid="_x0000_s3124" name="" r:id="rId5" imgW="1704975" imgH="400050" progId="Paint.Picture">
                    <p:embed/>
                  </p:oleObj>
                </mc:Choice>
                <mc:Fallback>
                  <p:oleObj name="" r:id="rId5" imgW="1704975" imgH="400050" progId="Paint.Picture">
                    <p:embed/>
                    <p:pic>
                      <p:nvPicPr>
                        <p:cNvPr id="0" name="图片 3123"/>
                        <p:cNvPicPr/>
                        <p:nvPr/>
                      </p:nvPicPr>
                      <p:blipFill>
                        <a:blip r:embed="rId6"/>
                        <a:stretch>
                          <a:fillRect/>
                        </a:stretch>
                      </p:blipFill>
                      <p:spPr>
                        <a:xfrm>
                          <a:off x="3054" y="1719"/>
                          <a:ext cx="1074" cy="252"/>
                        </a:xfrm>
                        <a:prstGeom prst="rect">
                          <a:avLst/>
                        </a:prstGeom>
                        <a:noFill/>
                        <a:ln w="38100">
                          <a:noFill/>
                          <a:miter/>
                        </a:ln>
                      </p:spPr>
                    </p:pic>
                  </p:oleObj>
                </mc:Fallback>
              </mc:AlternateContent>
            </a:graphicData>
          </a:graphic>
        </p:graphicFrame>
        <p:sp>
          <p:nvSpPr>
            <p:cNvPr id="38934" name="AutoShape 12"/>
            <p:cNvSpPr/>
            <p:nvPr/>
          </p:nvSpPr>
          <p:spPr>
            <a:xfrm>
              <a:off x="2771" y="1814"/>
              <a:ext cx="250" cy="87"/>
            </a:xfrm>
            <a:prstGeom prst="notchedRightArrow">
              <a:avLst>
                <a:gd name="adj1" fmla="val 50000"/>
                <a:gd name="adj2" fmla="val 71839"/>
              </a:avLst>
            </a:prstGeom>
            <a:solidFill>
              <a:srgbClr val="99CCFF"/>
            </a:solidFill>
            <a:ln w="9525" cap="flat" cmpd="sng">
              <a:solidFill>
                <a:schemeClr val="tx1"/>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grpSp>
      <p:grpSp>
        <p:nvGrpSpPr>
          <p:cNvPr id="126997" name="Group 21"/>
          <p:cNvGrpSpPr/>
          <p:nvPr/>
        </p:nvGrpSpPr>
        <p:grpSpPr>
          <a:xfrm>
            <a:off x="2287588" y="3973513"/>
            <a:ext cx="6211887" cy="457200"/>
            <a:chOff x="1593" y="2154"/>
            <a:chExt cx="3913" cy="288"/>
          </a:xfrm>
        </p:grpSpPr>
        <p:sp>
          <p:nvSpPr>
            <p:cNvPr id="38927" name="Text Box 15"/>
            <p:cNvSpPr txBox="1"/>
            <p:nvPr/>
          </p:nvSpPr>
          <p:spPr>
            <a:xfrm>
              <a:off x="1593" y="2154"/>
              <a:ext cx="2163"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i="1" dirty="0">
                  <a:latin typeface="Times New Roman" panose="02020603050405020304" pitchFamily="18" charset="0"/>
                </a:rPr>
                <a:t>A</a:t>
              </a:r>
              <a:r>
                <a:rPr lang="zh-CN" altLang="en-US" sz="2400" b="1" dirty="0">
                  <a:latin typeface="Times New Roman" panose="02020603050405020304" pitchFamily="18" charset="0"/>
                </a:rPr>
                <a:t>均用          代替</a:t>
              </a:r>
              <a:endParaRPr lang="zh-CN" altLang="en-US" sz="2400" b="1" dirty="0">
                <a:latin typeface="Times New Roman" panose="02020603050405020304" pitchFamily="18" charset="0"/>
              </a:endParaRPr>
            </a:p>
          </p:txBody>
        </p:sp>
        <p:graphicFrame>
          <p:nvGraphicFramePr>
            <p:cNvPr id="38928" name="Object 16"/>
            <p:cNvGraphicFramePr>
              <a:graphicFrameLocks noChangeAspect="1"/>
            </p:cNvGraphicFramePr>
            <p:nvPr/>
          </p:nvGraphicFramePr>
          <p:xfrm>
            <a:off x="2174" y="2216"/>
            <a:ext cx="456" cy="150"/>
          </p:xfrm>
          <a:graphic>
            <a:graphicData uri="http://schemas.openxmlformats.org/presentationml/2006/ole">
              <mc:AlternateContent xmlns:mc="http://schemas.openxmlformats.org/markup-compatibility/2006">
                <mc:Choice xmlns:v="urn:schemas-microsoft-com:vml" Requires="v">
                  <p:oleObj spid="_x0000_s3118" name="" r:id="rId7" imgW="723900" imgH="238125" progId="Paint.Picture">
                    <p:embed/>
                  </p:oleObj>
                </mc:Choice>
                <mc:Fallback>
                  <p:oleObj name="" r:id="rId7" imgW="723900" imgH="238125" progId="Paint.Picture">
                    <p:embed/>
                    <p:pic>
                      <p:nvPicPr>
                        <p:cNvPr id="0" name="图片 3117"/>
                        <p:cNvPicPr/>
                        <p:nvPr/>
                      </p:nvPicPr>
                      <p:blipFill>
                        <a:blip r:embed="rId8"/>
                        <a:stretch>
                          <a:fillRect/>
                        </a:stretch>
                      </p:blipFill>
                      <p:spPr>
                        <a:xfrm>
                          <a:off x="2174" y="2216"/>
                          <a:ext cx="456" cy="150"/>
                        </a:xfrm>
                        <a:prstGeom prst="rect">
                          <a:avLst/>
                        </a:prstGeom>
                        <a:noFill/>
                        <a:ln w="38100">
                          <a:noFill/>
                          <a:miter/>
                        </a:ln>
                      </p:spPr>
                    </p:pic>
                  </p:oleObj>
                </mc:Fallback>
              </mc:AlternateContent>
            </a:graphicData>
          </a:graphic>
        </p:graphicFrame>
        <p:sp>
          <p:nvSpPr>
            <p:cNvPr id="38929" name="AutoShape 17"/>
            <p:cNvSpPr/>
            <p:nvPr/>
          </p:nvSpPr>
          <p:spPr>
            <a:xfrm>
              <a:off x="3127" y="2245"/>
              <a:ext cx="250" cy="87"/>
            </a:xfrm>
            <a:prstGeom prst="notchedRightArrow">
              <a:avLst>
                <a:gd name="adj1" fmla="val 50000"/>
                <a:gd name="adj2" fmla="val 71839"/>
              </a:avLst>
            </a:prstGeom>
            <a:solidFill>
              <a:srgbClr val="99CCFF"/>
            </a:solidFill>
            <a:ln w="9525" cap="flat" cmpd="sng">
              <a:solidFill>
                <a:schemeClr val="tx1"/>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graphicFrame>
          <p:nvGraphicFramePr>
            <p:cNvPr id="38930" name="Object 18"/>
            <p:cNvGraphicFramePr>
              <a:graphicFrameLocks noChangeAspect="1"/>
            </p:cNvGraphicFramePr>
            <p:nvPr/>
          </p:nvGraphicFramePr>
          <p:xfrm>
            <a:off x="3448" y="2188"/>
            <a:ext cx="2058" cy="228"/>
          </p:xfrm>
          <a:graphic>
            <a:graphicData uri="http://schemas.openxmlformats.org/presentationml/2006/ole">
              <mc:AlternateContent xmlns:mc="http://schemas.openxmlformats.org/markup-compatibility/2006">
                <mc:Choice xmlns:v="urn:schemas-microsoft-com:vml" Requires="v">
                  <p:oleObj spid="_x0000_s3119" name="" r:id="rId9" imgW="3267075" imgH="361950" progId="Paint.Picture">
                    <p:embed/>
                  </p:oleObj>
                </mc:Choice>
                <mc:Fallback>
                  <p:oleObj name="" r:id="rId9" imgW="3267075" imgH="361950" progId="Paint.Picture">
                    <p:embed/>
                    <p:pic>
                      <p:nvPicPr>
                        <p:cNvPr id="0" name="图片 3118"/>
                        <p:cNvPicPr/>
                        <p:nvPr/>
                      </p:nvPicPr>
                      <p:blipFill>
                        <a:blip r:embed="rId10"/>
                        <a:stretch>
                          <a:fillRect/>
                        </a:stretch>
                      </p:blipFill>
                      <p:spPr>
                        <a:xfrm>
                          <a:off x="3448" y="2188"/>
                          <a:ext cx="2058" cy="228"/>
                        </a:xfrm>
                        <a:prstGeom prst="rect">
                          <a:avLst/>
                        </a:prstGeom>
                        <a:noFill/>
                        <a:ln w="38100">
                          <a:noFill/>
                          <a:miter/>
                        </a:ln>
                      </p:spPr>
                    </p:pic>
                  </p:oleObj>
                </mc:Fallback>
              </mc:AlternateContent>
            </a:graphicData>
          </a:graphic>
        </p:graphicFrame>
      </p:grpSp>
      <p:grpSp>
        <p:nvGrpSpPr>
          <p:cNvPr id="127000" name="Group 24"/>
          <p:cNvGrpSpPr/>
          <p:nvPr/>
        </p:nvGrpSpPr>
        <p:grpSpPr>
          <a:xfrm>
            <a:off x="2270125" y="4530725"/>
            <a:ext cx="3933825" cy="457200"/>
            <a:chOff x="1590" y="2690"/>
            <a:chExt cx="2479" cy="288"/>
          </a:xfrm>
        </p:grpSpPr>
        <p:sp>
          <p:nvSpPr>
            <p:cNvPr id="38924" name="AutoShape 14"/>
            <p:cNvSpPr/>
            <p:nvPr/>
          </p:nvSpPr>
          <p:spPr>
            <a:xfrm>
              <a:off x="2770" y="2790"/>
              <a:ext cx="250" cy="87"/>
            </a:xfrm>
            <a:prstGeom prst="notchedRightArrow">
              <a:avLst>
                <a:gd name="adj1" fmla="val 50000"/>
                <a:gd name="adj2" fmla="val 71839"/>
              </a:avLst>
            </a:prstGeom>
            <a:solidFill>
              <a:srgbClr val="99CCFF"/>
            </a:solidFill>
            <a:ln w="9525" cap="flat" cmpd="sng">
              <a:solidFill>
                <a:schemeClr val="tx1"/>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38925" name="Text Box 20"/>
            <p:cNvSpPr txBox="1"/>
            <p:nvPr/>
          </p:nvSpPr>
          <p:spPr>
            <a:xfrm>
              <a:off x="1590" y="2690"/>
              <a:ext cx="121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i="1" dirty="0">
                  <a:latin typeface="Times New Roman" panose="02020603050405020304" pitchFamily="18" charset="0"/>
                </a:rPr>
                <a:t>B</a:t>
              </a:r>
              <a:r>
                <a:rPr lang="zh-CN" altLang="en-US" sz="2400" b="1" dirty="0">
                  <a:latin typeface="Times New Roman" panose="02020603050405020304" pitchFamily="18" charset="0"/>
                </a:rPr>
                <a:t>均用</a:t>
              </a:r>
              <a:r>
                <a:rPr lang="en-US" altLang="zh-CN" sz="2400" b="1" i="1" dirty="0">
                  <a:latin typeface="Times New Roman" panose="02020603050405020304" pitchFamily="18" charset="0"/>
                </a:rPr>
                <a:t>C</a:t>
              </a:r>
              <a:r>
                <a:rPr lang="zh-CN" altLang="en-US" sz="2400" b="1" dirty="0">
                  <a:latin typeface="Times New Roman" panose="02020603050405020304" pitchFamily="18" charset="0"/>
                </a:rPr>
                <a:t>代替</a:t>
              </a:r>
              <a:endParaRPr lang="zh-CN" altLang="en-US" sz="2400" b="1" dirty="0">
                <a:latin typeface="Times New Roman" panose="02020603050405020304" pitchFamily="18" charset="0"/>
              </a:endParaRPr>
            </a:p>
          </p:txBody>
        </p:sp>
        <p:graphicFrame>
          <p:nvGraphicFramePr>
            <p:cNvPr id="38926" name="Object 23"/>
            <p:cNvGraphicFramePr>
              <a:graphicFrameLocks noChangeAspect="1"/>
            </p:cNvGraphicFramePr>
            <p:nvPr/>
          </p:nvGraphicFramePr>
          <p:xfrm>
            <a:off x="3037" y="2698"/>
            <a:ext cx="1032" cy="228"/>
          </p:xfrm>
          <a:graphic>
            <a:graphicData uri="http://schemas.openxmlformats.org/presentationml/2006/ole">
              <mc:AlternateContent xmlns:mc="http://schemas.openxmlformats.org/markup-compatibility/2006">
                <mc:Choice xmlns:v="urn:schemas-microsoft-com:vml" Requires="v">
                  <p:oleObj spid="_x0000_s3115" name="" r:id="rId11" imgW="1638300" imgH="361950" progId="Paint.Picture">
                    <p:embed/>
                  </p:oleObj>
                </mc:Choice>
                <mc:Fallback>
                  <p:oleObj name="" r:id="rId11" imgW="1638300" imgH="361950" progId="Paint.Picture">
                    <p:embed/>
                    <p:pic>
                      <p:nvPicPr>
                        <p:cNvPr id="0" name="图片 3114"/>
                        <p:cNvPicPr/>
                        <p:nvPr/>
                      </p:nvPicPr>
                      <p:blipFill>
                        <a:blip r:embed="rId12"/>
                        <a:stretch>
                          <a:fillRect/>
                        </a:stretch>
                      </p:blipFill>
                      <p:spPr>
                        <a:xfrm>
                          <a:off x="3037" y="2698"/>
                          <a:ext cx="1032" cy="228"/>
                        </a:xfrm>
                        <a:prstGeom prst="rect">
                          <a:avLst/>
                        </a:prstGeom>
                        <a:noFill/>
                        <a:ln w="38100">
                          <a:noFill/>
                          <a:miter/>
                        </a:ln>
                      </p:spPr>
                    </p:pic>
                  </p:oleObj>
                </mc:Fallback>
              </mc:AlternateContent>
            </a:graphicData>
          </a:graphic>
        </p:graphicFrame>
      </p:grpSp>
      <p:sp>
        <p:nvSpPr>
          <p:cNvPr id="127006" name="Rectangle 30"/>
          <p:cNvSpPr/>
          <p:nvPr/>
        </p:nvSpPr>
        <p:spPr>
          <a:xfrm>
            <a:off x="1373188" y="5308600"/>
            <a:ext cx="5405437" cy="457200"/>
          </a:xfrm>
          <a:prstGeom prst="rect">
            <a:avLst/>
          </a:prstGeom>
          <a:solidFill>
            <a:srgbClr val="99CCFF">
              <a:alpha val="50195"/>
            </a:srgbClr>
          </a:solid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Times New Roman" panose="02020603050405020304" pitchFamily="18" charset="0"/>
              </a:rPr>
              <a:t>利用代入规则能扩展基本定律的应用。</a:t>
            </a:r>
            <a:r>
              <a:rPr lang="zh-CN" altLang="en-US" sz="2400" dirty="0">
                <a:latin typeface="Times New Roman" panose="02020603050405020304" pitchFamily="18" charset="0"/>
              </a:rPr>
              <a:t> </a:t>
            </a:r>
            <a:endParaRPr lang="zh-CN" altLang="en-US" sz="2400" dirty="0">
              <a:latin typeface="Times New Roman" panose="02020603050405020304" pitchFamily="18" charset="0"/>
            </a:endParaRPr>
          </a:p>
        </p:txBody>
      </p:sp>
      <p:sp>
        <p:nvSpPr>
          <p:cNvPr id="127010" name="AutoShape 34"/>
          <p:cNvSpPr/>
          <p:nvPr/>
        </p:nvSpPr>
        <p:spPr>
          <a:xfrm>
            <a:off x="1370013" y="2851150"/>
            <a:ext cx="228600" cy="228600"/>
          </a:xfrm>
          <a:prstGeom prst="sun">
            <a:avLst>
              <a:gd name="adj" fmla="val 25000"/>
            </a:avLst>
          </a:prstGeom>
          <a:solidFill>
            <a:schemeClr val="tx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127054" name="Rectangle 78"/>
          <p:cNvSpPr/>
          <p:nvPr/>
        </p:nvSpPr>
        <p:spPr>
          <a:xfrm>
            <a:off x="3108325" y="1690688"/>
            <a:ext cx="5675313" cy="895350"/>
          </a:xfrm>
          <a:prstGeom prst="rect">
            <a:avLst/>
          </a:prstGeom>
          <a:solidFill>
            <a:srgbClr val="99CCFF">
              <a:alpha val="50195"/>
            </a:srgbClr>
          </a:solid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10000"/>
              </a:lnSpc>
              <a:spcBef>
                <a:spcPct val="0"/>
              </a:spcBef>
              <a:buNone/>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将逻辑等式两边的某一变量均用同一个逻辑函数替代，等式仍然成立。</a:t>
            </a:r>
            <a:endParaRPr lang="zh-CN" altLang="en-US" sz="2400" b="1" dirty="0">
              <a:latin typeface="Times New Roman" panose="02020603050405020304" pitchFamily="18" charset="0"/>
            </a:endParaRPr>
          </a:p>
        </p:txBody>
      </p:sp>
      <p:sp>
        <p:nvSpPr>
          <p:cNvPr id="38923" name="AutoShape 6"/>
          <p:cNvSpPr/>
          <p:nvPr/>
        </p:nvSpPr>
        <p:spPr>
          <a:xfrm>
            <a:off x="539750" y="476250"/>
            <a:ext cx="5400675" cy="504825"/>
          </a:xfrm>
          <a:prstGeom prst="roundRect">
            <a:avLst>
              <a:gd name="adj" fmla="val 50000"/>
            </a:avLst>
          </a:prstGeom>
          <a:solidFill>
            <a:schemeClr val="accent1"/>
          </a:solidFill>
          <a:ln w="38100" cap="flat" cmpd="sng">
            <a:solidFill>
              <a:srgbClr val="FFFFFF"/>
            </a:solidFill>
            <a:prstDash val="solid"/>
            <a:headEnd type="none" w="med" len="med"/>
            <a:tailEnd type="none" w="med" len="med"/>
          </a:ln>
          <a:effectLst>
            <a:outerShdw dist="63500" dir="3187806" algn="ctr" rotWithShape="0">
              <a:srgbClr val="001D3A"/>
            </a:outerShdw>
          </a:effectLst>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dirty="0">
                <a:solidFill>
                  <a:srgbClr val="0000CC"/>
                </a:solidFill>
                <a:latin typeface="Times New Roman" panose="02020603050405020304" pitchFamily="18" charset="0"/>
                <a:ea typeface="黑体" panose="02010609060101010101" pitchFamily="49" charset="-122"/>
              </a:rPr>
              <a:t>5    </a:t>
            </a:r>
            <a:r>
              <a:rPr lang="zh-CN" altLang="en-US" sz="2400" b="1" dirty="0">
                <a:solidFill>
                  <a:srgbClr val="0000CC"/>
                </a:solidFill>
                <a:ea typeface="黑体" panose="02010609060101010101" pitchFamily="49" charset="-122"/>
              </a:rPr>
              <a:t>逻辑代数的三个基本定律</a:t>
            </a:r>
            <a:endParaRPr lang="zh-CN" altLang="en-US" sz="2400" b="1" dirty="0">
              <a:solidFill>
                <a:srgbClr val="0000CC"/>
              </a:solidFill>
              <a:ea typeface="黑体" panose="02010609060101010101" pitchFamily="49" charset="-122"/>
            </a:endParaRPr>
          </a:p>
        </p:txBody>
      </p:sp>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6979"/>
                                        </p:tgtEl>
                                        <p:attrNameLst>
                                          <p:attrName>style.visibility</p:attrName>
                                        </p:attrNameLst>
                                      </p:cBhvr>
                                      <p:to>
                                        <p:strVal val="visible"/>
                                      </p:to>
                                    </p:set>
                                    <p:animEffect transition="in" filter="dissolve">
                                      <p:cBhvr>
                                        <p:cTn id="7" dur="500"/>
                                        <p:tgtEl>
                                          <p:spTgt spid="12697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27054"/>
                                        </p:tgtEl>
                                        <p:attrNameLst>
                                          <p:attrName>style.visibility</p:attrName>
                                        </p:attrNameLst>
                                      </p:cBhvr>
                                      <p:to>
                                        <p:strVal val="visible"/>
                                      </p:to>
                                    </p:set>
                                    <p:animEffect transition="in" filter="wipe(left)">
                                      <p:cBhvr>
                                        <p:cTn id="11" dur="500"/>
                                        <p:tgtEl>
                                          <p:spTgt spid="127054"/>
                                        </p:tgtEl>
                                      </p:cBhvr>
                                    </p:animEffect>
                                  </p:childTnLst>
                                </p:cTn>
                              </p:par>
                            </p:childTnLst>
                          </p:cTn>
                        </p:par>
                      </p:childTnLst>
                    </p:cTn>
                  </p:par>
                  <p:par>
                    <p:cTn id="12" fill="hold">
                      <p:stCondLst>
                        <p:cond delay="indefinite"/>
                      </p:stCondLst>
                      <p:childTnLst>
                        <p:par>
                          <p:cTn id="13" fill="hold">
                            <p:stCondLst>
                              <p:cond delay="0"/>
                            </p:stCondLst>
                            <p:childTnLst>
                              <p:par>
                                <p:cTn id="14" presetID="15" presetClass="entr" presetSubtype="0" fill="hold" grpId="0" nodeType="clickEffect">
                                  <p:stCondLst>
                                    <p:cond delay="0"/>
                                  </p:stCondLst>
                                  <p:childTnLst>
                                    <p:set>
                                      <p:cBhvr>
                                        <p:cTn id="15" dur="1" fill="hold">
                                          <p:stCondLst>
                                            <p:cond delay="0"/>
                                          </p:stCondLst>
                                        </p:cTn>
                                        <p:tgtEl>
                                          <p:spTgt spid="127010"/>
                                        </p:tgtEl>
                                        <p:attrNameLst>
                                          <p:attrName>style.visibility</p:attrName>
                                        </p:attrNameLst>
                                      </p:cBhvr>
                                      <p:to>
                                        <p:strVal val="visible"/>
                                      </p:to>
                                    </p:set>
                                    <p:anim calcmode="lin" valueType="num">
                                      <p:cBhvr>
                                        <p:cTn id="16" dur="1000" fill="hold"/>
                                        <p:tgtEl>
                                          <p:spTgt spid="127010"/>
                                        </p:tgtEl>
                                        <p:attrNameLst>
                                          <p:attrName>ppt_w</p:attrName>
                                        </p:attrNameLst>
                                      </p:cBhvr>
                                      <p:tavLst>
                                        <p:tav tm="0">
                                          <p:val>
                                            <p:fltVal val="0.000000"/>
                                          </p:val>
                                        </p:tav>
                                        <p:tav tm="100000">
                                          <p:val>
                                            <p:strVal val="#ppt_w"/>
                                          </p:val>
                                        </p:tav>
                                      </p:tavLst>
                                    </p:anim>
                                    <p:anim calcmode="lin" valueType="num">
                                      <p:cBhvr>
                                        <p:cTn id="17" dur="1000" fill="hold"/>
                                        <p:tgtEl>
                                          <p:spTgt spid="127010"/>
                                        </p:tgtEl>
                                        <p:attrNameLst>
                                          <p:attrName>ppt_h</p:attrName>
                                        </p:attrNameLst>
                                      </p:cBhvr>
                                      <p:tavLst>
                                        <p:tav tm="0">
                                          <p:val>
                                            <p:fltVal val="0.000000"/>
                                          </p:val>
                                        </p:tav>
                                        <p:tav tm="100000">
                                          <p:val>
                                            <p:strVal val="#ppt_h"/>
                                          </p:val>
                                        </p:tav>
                                      </p:tavLst>
                                    </p:anim>
                                    <p:anim calcmode="lin" valueType="num">
                                      <p:cBhvr>
                                        <p:cTn id="18" dur="1000" fill="hold"/>
                                        <p:tgtEl>
                                          <p:spTgt spid="127010"/>
                                        </p:tgtEl>
                                        <p:attrNameLst>
                                          <p:attrName>ppt_x</p:attrName>
                                        </p:attrNameLst>
                                      </p:cBhvr>
                                      <p:tavLst>
                                        <p:tav tm="0" fmla="#ppt_x+(cos(-2*pi*(1-$))*-#ppt_x-sin(-2*pi*(1-$))*(1-#ppt_y))*(1-$)">
                                          <p:val>
                                            <p:fltVal val="0.000000"/>
                                          </p:val>
                                        </p:tav>
                                        <p:tav tm="100000">
                                          <p:val>
                                            <p:fltVal val="1.000000"/>
                                          </p:val>
                                        </p:tav>
                                      </p:tavLst>
                                    </p:anim>
                                    <p:anim calcmode="lin" valueType="num">
                                      <p:cBhvr>
                                        <p:cTn id="19" dur="1000" fill="hold"/>
                                        <p:tgtEl>
                                          <p:spTgt spid="127010"/>
                                        </p:tgtEl>
                                        <p:attrNameLst>
                                          <p:attrName>ppt_y</p:attrName>
                                        </p:attrNameLst>
                                      </p:cBhvr>
                                      <p:tavLst>
                                        <p:tav tm="0" fmla="#ppt_y+(sin(-2*pi*(1-$))*-#ppt_x+cos(-2*pi*(1-$))*(1-#ppt_y))*(1-$)">
                                          <p:val>
                                            <p:fltVal val="0.000000"/>
                                          </p:val>
                                        </p:tav>
                                        <p:tav tm="100000">
                                          <p:val>
                                            <p:fltVal val="1.000000"/>
                                          </p:val>
                                        </p:tav>
                                      </p:tavLst>
                                    </p:anim>
                                  </p:childTnLst>
                                </p:cTn>
                              </p:par>
                            </p:childTnLst>
                          </p:cTn>
                        </p:par>
                        <p:par>
                          <p:cTn id="20" fill="hold">
                            <p:stCondLst>
                              <p:cond delay="1000"/>
                            </p:stCondLst>
                            <p:childTnLst>
                              <p:par>
                                <p:cTn id="21" presetID="22" presetClass="entr" presetSubtype="8" fill="hold" nodeType="afterEffect">
                                  <p:stCondLst>
                                    <p:cond delay="0"/>
                                  </p:stCondLst>
                                  <p:childTnLst>
                                    <p:set>
                                      <p:cBhvr>
                                        <p:cTn id="22" dur="1" fill="hold">
                                          <p:stCondLst>
                                            <p:cond delay="0"/>
                                          </p:stCondLst>
                                        </p:cTn>
                                        <p:tgtEl>
                                          <p:spTgt spid="126982"/>
                                        </p:tgtEl>
                                        <p:attrNameLst>
                                          <p:attrName>style.visibility</p:attrName>
                                        </p:attrNameLst>
                                      </p:cBhvr>
                                      <p:to>
                                        <p:strVal val="visible"/>
                                      </p:to>
                                    </p:set>
                                    <p:animEffect transition="in" filter="wipe(left)">
                                      <p:cBhvr>
                                        <p:cTn id="23" dur="500"/>
                                        <p:tgtEl>
                                          <p:spTgt spid="126982"/>
                                        </p:tgtEl>
                                      </p:cBhvr>
                                    </p:animEffect>
                                  </p:childTnLst>
                                </p:cTn>
                              </p:par>
                            </p:childTnLst>
                          </p:cTn>
                        </p:par>
                        <p:par>
                          <p:cTn id="24" fill="hold">
                            <p:stCondLst>
                              <p:cond delay="1500"/>
                            </p:stCondLst>
                            <p:childTnLst>
                              <p:par>
                                <p:cTn id="25" presetID="22" presetClass="entr" presetSubtype="8" fill="hold" grpId="0" nodeType="afterEffect">
                                  <p:stCondLst>
                                    <p:cond delay="0"/>
                                  </p:stCondLst>
                                  <p:childTnLst>
                                    <p:set>
                                      <p:cBhvr>
                                        <p:cTn id="26" dur="1" fill="hold">
                                          <p:stCondLst>
                                            <p:cond delay="0"/>
                                          </p:stCondLst>
                                        </p:cTn>
                                        <p:tgtEl>
                                          <p:spTgt spid="126983"/>
                                        </p:tgtEl>
                                        <p:attrNameLst>
                                          <p:attrName>style.visibility</p:attrName>
                                        </p:attrNameLst>
                                      </p:cBhvr>
                                      <p:to>
                                        <p:strVal val="visible"/>
                                      </p:to>
                                    </p:set>
                                    <p:animEffect transition="in" filter="wipe(left)">
                                      <p:cBhvr>
                                        <p:cTn id="27" dur="500"/>
                                        <p:tgtEl>
                                          <p:spTgt spid="12698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26995"/>
                                        </p:tgtEl>
                                        <p:attrNameLst>
                                          <p:attrName>style.visibility</p:attrName>
                                        </p:attrNameLst>
                                      </p:cBhvr>
                                      <p:to>
                                        <p:strVal val="visible"/>
                                      </p:to>
                                    </p:set>
                                    <p:animEffect transition="in" filter="wipe(left)">
                                      <p:cBhvr>
                                        <p:cTn id="32" dur="500"/>
                                        <p:tgtEl>
                                          <p:spTgt spid="12699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26997"/>
                                        </p:tgtEl>
                                        <p:attrNameLst>
                                          <p:attrName>style.visibility</p:attrName>
                                        </p:attrNameLst>
                                      </p:cBhvr>
                                      <p:to>
                                        <p:strVal val="visible"/>
                                      </p:to>
                                    </p:set>
                                    <p:animEffect transition="in" filter="wipe(left)">
                                      <p:cBhvr>
                                        <p:cTn id="37" dur="500"/>
                                        <p:tgtEl>
                                          <p:spTgt spid="12699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27000"/>
                                        </p:tgtEl>
                                        <p:attrNameLst>
                                          <p:attrName>style.visibility</p:attrName>
                                        </p:attrNameLst>
                                      </p:cBhvr>
                                      <p:to>
                                        <p:strVal val="visible"/>
                                      </p:to>
                                    </p:set>
                                    <p:animEffect transition="in" filter="wipe(left)">
                                      <p:cBhvr>
                                        <p:cTn id="42" dur="500"/>
                                        <p:tgtEl>
                                          <p:spTgt spid="12700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27006"/>
                                        </p:tgtEl>
                                        <p:attrNameLst>
                                          <p:attrName>style.visibility</p:attrName>
                                        </p:attrNameLst>
                                      </p:cBhvr>
                                      <p:to>
                                        <p:strVal val="visible"/>
                                      </p:to>
                                    </p:set>
                                    <p:animEffect transition="in" filter="wipe(left)">
                                      <p:cBhvr>
                                        <p:cTn id="47" dur="500"/>
                                        <p:tgtEl>
                                          <p:spTgt spid="127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9" grpId="0"/>
      <p:bldP spid="126983" grpId="0"/>
      <p:bldP spid="127006" grpId="0" animBg="1"/>
      <p:bldP spid="127010" grpId="0" animBg="1"/>
      <p:bldP spid="12705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94562" name="Object 2"/>
          <p:cNvGraphicFramePr>
            <a:graphicFrameLocks noChangeAspect="1"/>
          </p:cNvGraphicFramePr>
          <p:nvPr/>
        </p:nvGraphicFramePr>
        <p:xfrm>
          <a:off x="5300663" y="4279900"/>
          <a:ext cx="1908175" cy="355600"/>
        </p:xfrm>
        <a:graphic>
          <a:graphicData uri="http://schemas.openxmlformats.org/presentationml/2006/ole">
            <mc:AlternateContent xmlns:mc="http://schemas.openxmlformats.org/markup-compatibility/2006">
              <mc:Choice xmlns:v="urn:schemas-microsoft-com:vml" Requires="v">
                <p:oleObj spid="_x0000_s3116" name="" r:id="rId1" imgW="1743075" imgH="304800" progId="Paint.Picture">
                  <p:embed/>
                </p:oleObj>
              </mc:Choice>
              <mc:Fallback>
                <p:oleObj name="" r:id="rId1" imgW="1743075" imgH="304800" progId="Paint.Picture">
                  <p:embed/>
                  <p:pic>
                    <p:nvPicPr>
                      <p:cNvPr id="0" name="图片 3115"/>
                      <p:cNvPicPr/>
                      <p:nvPr/>
                    </p:nvPicPr>
                    <p:blipFill>
                      <a:blip r:embed="rId2"/>
                      <a:stretch>
                        <a:fillRect/>
                      </a:stretch>
                    </p:blipFill>
                    <p:spPr>
                      <a:xfrm>
                        <a:off x="5300663" y="4279900"/>
                        <a:ext cx="1908175" cy="355600"/>
                      </a:xfrm>
                      <a:prstGeom prst="rect">
                        <a:avLst/>
                      </a:prstGeom>
                      <a:noFill/>
                      <a:ln w="38100">
                        <a:noFill/>
                        <a:miter/>
                      </a:ln>
                    </p:spPr>
                  </p:pic>
                </p:oleObj>
              </mc:Fallback>
            </mc:AlternateContent>
          </a:graphicData>
        </a:graphic>
      </p:graphicFrame>
      <p:sp>
        <p:nvSpPr>
          <p:cNvPr id="194563" name="AutoShape 3"/>
          <p:cNvSpPr/>
          <p:nvPr/>
        </p:nvSpPr>
        <p:spPr>
          <a:xfrm rot="5400000">
            <a:off x="2984500" y="4337050"/>
            <a:ext cx="88900" cy="447675"/>
          </a:xfrm>
          <a:prstGeom prst="rightBracket">
            <a:avLst>
              <a:gd name="adj" fmla="val 41964"/>
            </a:avLst>
          </a:prstGeom>
          <a:noFill/>
          <a:ln w="28575" cap="flat" cmpd="sng">
            <a:solidFill>
              <a:srgbClr val="FF3300"/>
            </a:solidFill>
            <a:prstDash val="solid"/>
            <a:headEnd type="none" w="med" len="med"/>
            <a:tailEnd type="none" w="med" len="med"/>
          </a:ln>
        </p:spPr>
        <p:txBody>
          <a:bodyPr wrap="none" anchor="ctr" anchorCtr="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194564" name="AutoShape 4"/>
          <p:cNvSpPr/>
          <p:nvPr/>
        </p:nvSpPr>
        <p:spPr>
          <a:xfrm rot="5400000">
            <a:off x="2817813" y="4213225"/>
            <a:ext cx="144462" cy="844550"/>
          </a:xfrm>
          <a:prstGeom prst="rightBracket">
            <a:avLst>
              <a:gd name="adj" fmla="val 44955"/>
            </a:avLst>
          </a:prstGeom>
          <a:noFill/>
          <a:ln w="28575" cap="flat" cmpd="sng">
            <a:solidFill>
              <a:srgbClr val="0033CC"/>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194565" name="AutoShape 5"/>
          <p:cNvSpPr/>
          <p:nvPr/>
        </p:nvSpPr>
        <p:spPr>
          <a:xfrm rot="5400000">
            <a:off x="3619500" y="4502150"/>
            <a:ext cx="71438" cy="342900"/>
          </a:xfrm>
          <a:prstGeom prst="rightBracket">
            <a:avLst>
              <a:gd name="adj" fmla="val 39999"/>
            </a:avLst>
          </a:prstGeom>
          <a:noFill/>
          <a:ln w="28575" cap="flat" cmpd="sng">
            <a:solidFill>
              <a:srgbClr val="0033CC"/>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194566" name="AutoShape 6"/>
          <p:cNvSpPr/>
          <p:nvPr/>
        </p:nvSpPr>
        <p:spPr>
          <a:xfrm rot="5400000">
            <a:off x="3103563" y="4060825"/>
            <a:ext cx="90487" cy="1450975"/>
          </a:xfrm>
          <a:prstGeom prst="rightBracket">
            <a:avLst>
              <a:gd name="adj" fmla="val 120338"/>
            </a:avLst>
          </a:prstGeom>
          <a:noFill/>
          <a:ln w="28575" cap="flat" cmpd="sng">
            <a:solidFill>
              <a:srgbClr val="FF66FF"/>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194571" name="Rectangle 11"/>
          <p:cNvSpPr/>
          <p:nvPr/>
        </p:nvSpPr>
        <p:spPr>
          <a:xfrm>
            <a:off x="1122363" y="2276475"/>
            <a:ext cx="6897687" cy="1477963"/>
          </a:xfrm>
          <a:prstGeom prst="rect">
            <a:avLst/>
          </a:prstGeom>
          <a:solidFill>
            <a:srgbClr val="CCCC00">
              <a:alpha val="50195"/>
            </a:srgbClr>
          </a:solidFill>
          <a:ln w="9525">
            <a:noFill/>
          </a:ln>
        </p:spPr>
        <p:txBody>
          <a:bodyPr lIns="90000" tIns="0" rIns="90000" bIns="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Times New Roman" panose="02020603050405020304" pitchFamily="18" charset="0"/>
              </a:rPr>
              <a:t>变换时注意：</a:t>
            </a:r>
            <a:endParaRPr lang="zh-CN" altLang="en-US" sz="2400" b="1" dirty="0">
              <a:latin typeface="Times New Roman" panose="02020603050405020304" pitchFamily="18" charset="0"/>
            </a:endParaRPr>
          </a:p>
          <a:p>
            <a:pPr marL="0" lvl="0" indent="0" eaLnBrk="1" hangingPunct="1">
              <a:spcBef>
                <a:spcPct val="0"/>
              </a:spcBef>
              <a:buNone/>
            </a:pPr>
            <a:r>
              <a:rPr lang="en-US" altLang="zh-CN" sz="2400" b="1" dirty="0">
                <a:latin typeface="宋体" panose="02010600030101010101" pitchFamily="2" charset="-122"/>
              </a:rPr>
              <a:t>(</a:t>
            </a:r>
            <a:r>
              <a:rPr lang="en-US" altLang="zh-CN" sz="2400" b="1" dirty="0">
                <a:latin typeface="Times New Roman" panose="02020603050405020304" pitchFamily="18" charset="0"/>
              </a:rPr>
              <a:t>1</a:t>
            </a:r>
            <a:r>
              <a:rPr lang="en-US" altLang="zh-CN" sz="2400" b="1" dirty="0">
                <a:latin typeface="宋体" panose="02010600030101010101" pitchFamily="2" charset="-122"/>
              </a:rPr>
              <a:t>)</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不能改变原来的运算顺序。</a:t>
            </a:r>
            <a:r>
              <a:rPr lang="zh-CN" altLang="en-US" sz="2400" b="1" dirty="0">
                <a:solidFill>
                  <a:srgbClr val="FF0000"/>
                </a:solidFill>
                <a:latin typeface="Times New Roman" panose="02020603050405020304" pitchFamily="18" charset="0"/>
              </a:rPr>
              <a:t>非、与、或</a:t>
            </a:r>
            <a:endParaRPr lang="zh-CN" altLang="en-US" sz="2400" b="1" dirty="0">
              <a:solidFill>
                <a:srgbClr val="FF0000"/>
              </a:solidFill>
              <a:latin typeface="Times New Roman" panose="02020603050405020304" pitchFamily="18" charset="0"/>
            </a:endParaRPr>
          </a:p>
          <a:p>
            <a:pPr marL="0" lvl="0" indent="0" eaLnBrk="1" hangingPunct="1">
              <a:spcBef>
                <a:spcPct val="0"/>
              </a:spcBef>
              <a:buNone/>
            </a:pPr>
            <a:r>
              <a:rPr lang="en-US" altLang="zh-CN" sz="2400" b="1" dirty="0">
                <a:latin typeface="宋体" panose="02010600030101010101" pitchFamily="2" charset="-122"/>
              </a:rPr>
              <a:t>(</a:t>
            </a:r>
            <a:r>
              <a:rPr lang="en-US" altLang="zh-CN" sz="2400" b="1" dirty="0">
                <a:latin typeface="Times New Roman" panose="02020603050405020304" pitchFamily="18" charset="0"/>
              </a:rPr>
              <a:t>2</a:t>
            </a:r>
            <a:r>
              <a:rPr lang="en-US" altLang="zh-CN" sz="2400" b="1" dirty="0">
                <a:latin typeface="宋体" panose="02010600030101010101" pitchFamily="2" charset="-122"/>
              </a:rPr>
              <a:t>)</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反变量换成原变量只对单个变量有效，而长非</a:t>
            </a:r>
            <a:br>
              <a:rPr lang="zh-CN" altLang="en-US" sz="2400" b="1" dirty="0">
                <a:latin typeface="Times New Roman" panose="02020603050405020304" pitchFamily="18" charset="0"/>
              </a:rPr>
            </a:br>
            <a:r>
              <a:rPr lang="zh-CN" altLang="en-US" sz="2400" b="1" dirty="0">
                <a:latin typeface="Times New Roman" panose="02020603050405020304" pitchFamily="18" charset="0"/>
              </a:rPr>
              <a:t>     号保持不变。 </a:t>
            </a:r>
            <a:endParaRPr lang="zh-CN" altLang="en-US" sz="2400" b="1" dirty="0">
              <a:latin typeface="Times New Roman" panose="02020603050405020304" pitchFamily="18" charset="0"/>
            </a:endParaRPr>
          </a:p>
        </p:txBody>
      </p:sp>
      <p:sp>
        <p:nvSpPr>
          <p:cNvPr id="194572" name="Rectangle 12"/>
          <p:cNvSpPr/>
          <p:nvPr/>
        </p:nvSpPr>
        <p:spPr>
          <a:xfrm>
            <a:off x="468313" y="6086475"/>
            <a:ext cx="8023225" cy="738188"/>
          </a:xfrm>
          <a:prstGeom prst="rect">
            <a:avLst/>
          </a:prstGeom>
          <a:solidFill>
            <a:srgbClr val="99CCFF">
              <a:alpha val="50195"/>
            </a:srgbClr>
          </a:solidFill>
          <a:ln w="9525">
            <a:noFill/>
          </a:ln>
        </p:spPr>
        <p:txBody>
          <a:bodyPr lIns="0" tIns="0" rIns="0" bIns="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可见，求逻辑函数的反函数有两种方法：利用反演规则或摩根定律。 </a:t>
            </a:r>
            <a:endParaRPr lang="zh-CN" altLang="en-US" sz="2400" b="1" dirty="0">
              <a:latin typeface="Times New Roman" panose="02020603050405020304" pitchFamily="18" charset="0"/>
            </a:endParaRPr>
          </a:p>
        </p:txBody>
      </p:sp>
      <p:sp>
        <p:nvSpPr>
          <p:cNvPr id="194573" name="AutoShape 13"/>
          <p:cNvSpPr/>
          <p:nvPr/>
        </p:nvSpPr>
        <p:spPr>
          <a:xfrm>
            <a:off x="1563688" y="4279900"/>
            <a:ext cx="228600" cy="228600"/>
          </a:xfrm>
          <a:prstGeom prst="sun">
            <a:avLst>
              <a:gd name="adj" fmla="val 25000"/>
            </a:avLst>
          </a:prstGeom>
          <a:solidFill>
            <a:schemeClr val="tx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graphicFrame>
        <p:nvGraphicFramePr>
          <p:cNvPr id="194574" name="Object 14"/>
          <p:cNvGraphicFramePr>
            <a:graphicFrameLocks noChangeAspect="1"/>
          </p:cNvGraphicFramePr>
          <p:nvPr/>
        </p:nvGraphicFramePr>
        <p:xfrm>
          <a:off x="4837113" y="4194175"/>
          <a:ext cx="409575" cy="466725"/>
        </p:xfrm>
        <a:graphic>
          <a:graphicData uri="http://schemas.openxmlformats.org/presentationml/2006/ole">
            <mc:AlternateContent xmlns:mc="http://schemas.openxmlformats.org/markup-compatibility/2006">
              <mc:Choice xmlns:v="urn:schemas-microsoft-com:vml" Requires="v">
                <p:oleObj spid="_x0000_s3130" name="" r:id="rId3" imgW="409575" imgH="466725" progId="Paint.Picture">
                  <p:embed/>
                </p:oleObj>
              </mc:Choice>
              <mc:Fallback>
                <p:oleObj name="" r:id="rId3" imgW="409575" imgH="466725" progId="Paint.Picture">
                  <p:embed/>
                  <p:pic>
                    <p:nvPicPr>
                      <p:cNvPr id="0" name="图片 3129"/>
                      <p:cNvPicPr/>
                      <p:nvPr/>
                    </p:nvPicPr>
                    <p:blipFill>
                      <a:blip r:embed="rId4"/>
                      <a:stretch>
                        <a:fillRect/>
                      </a:stretch>
                    </p:blipFill>
                    <p:spPr>
                      <a:xfrm>
                        <a:off x="4837113" y="4194175"/>
                        <a:ext cx="409575" cy="466725"/>
                      </a:xfrm>
                      <a:prstGeom prst="rect">
                        <a:avLst/>
                      </a:prstGeom>
                      <a:noFill/>
                      <a:ln w="38100">
                        <a:noFill/>
                        <a:miter/>
                      </a:ln>
                    </p:spPr>
                  </p:pic>
                </p:oleObj>
              </mc:Fallback>
            </mc:AlternateContent>
          </a:graphicData>
        </a:graphic>
      </p:graphicFrame>
      <p:graphicFrame>
        <p:nvGraphicFramePr>
          <p:cNvPr id="194575" name="Object 15"/>
          <p:cNvGraphicFramePr>
            <a:graphicFrameLocks noChangeAspect="1"/>
          </p:cNvGraphicFramePr>
          <p:nvPr/>
        </p:nvGraphicFramePr>
        <p:xfrm>
          <a:off x="6380163" y="4421188"/>
          <a:ext cx="95250" cy="104775"/>
        </p:xfrm>
        <a:graphic>
          <a:graphicData uri="http://schemas.openxmlformats.org/presentationml/2006/ole">
            <mc:AlternateContent xmlns:mc="http://schemas.openxmlformats.org/markup-compatibility/2006">
              <mc:Choice xmlns:v="urn:schemas-microsoft-com:vml" Requires="v">
                <p:oleObj spid="_x0000_s3125" name="" r:id="rId5" imgW="95250" imgH="104775" progId="Paint.Picture">
                  <p:embed/>
                </p:oleObj>
              </mc:Choice>
              <mc:Fallback>
                <p:oleObj name="" r:id="rId5" imgW="95250" imgH="104775" progId="Paint.Picture">
                  <p:embed/>
                  <p:pic>
                    <p:nvPicPr>
                      <p:cNvPr id="0" name="图片 3124"/>
                      <p:cNvPicPr/>
                      <p:nvPr/>
                    </p:nvPicPr>
                    <p:blipFill>
                      <a:blip r:embed="rId6"/>
                      <a:stretch>
                        <a:fillRect/>
                      </a:stretch>
                    </p:blipFill>
                    <p:spPr>
                      <a:xfrm>
                        <a:off x="6380163" y="4421188"/>
                        <a:ext cx="95250" cy="104775"/>
                      </a:xfrm>
                      <a:prstGeom prst="rect">
                        <a:avLst/>
                      </a:prstGeom>
                      <a:noFill/>
                      <a:ln w="38100">
                        <a:noFill/>
                        <a:miter/>
                      </a:ln>
                    </p:spPr>
                  </p:pic>
                </p:oleObj>
              </mc:Fallback>
            </mc:AlternateContent>
          </a:graphicData>
        </a:graphic>
      </p:graphicFrame>
      <p:graphicFrame>
        <p:nvGraphicFramePr>
          <p:cNvPr id="194576" name="Object 16"/>
          <p:cNvGraphicFramePr>
            <a:graphicFrameLocks noChangeAspect="1"/>
          </p:cNvGraphicFramePr>
          <p:nvPr/>
        </p:nvGraphicFramePr>
        <p:xfrm>
          <a:off x="2108200" y="4178300"/>
          <a:ext cx="1800225" cy="379413"/>
        </p:xfrm>
        <a:graphic>
          <a:graphicData uri="http://schemas.openxmlformats.org/presentationml/2006/ole">
            <mc:AlternateContent xmlns:mc="http://schemas.openxmlformats.org/markup-compatibility/2006">
              <mc:Choice xmlns:v="urn:schemas-microsoft-com:vml" Requires="v">
                <p:oleObj spid="_x0000_s3126" name="" r:id="rId7" imgW="1609725" imgH="304800" progId="Paint.Picture">
                  <p:embed/>
                </p:oleObj>
              </mc:Choice>
              <mc:Fallback>
                <p:oleObj name="" r:id="rId7" imgW="1609725" imgH="304800" progId="Paint.Picture">
                  <p:embed/>
                  <p:pic>
                    <p:nvPicPr>
                      <p:cNvPr id="0" name="图片 3125"/>
                      <p:cNvPicPr/>
                      <p:nvPr/>
                    </p:nvPicPr>
                    <p:blipFill>
                      <a:blip r:embed="rId8"/>
                      <a:stretch>
                        <a:fillRect/>
                      </a:stretch>
                    </p:blipFill>
                    <p:spPr>
                      <a:xfrm>
                        <a:off x="2108200" y="4178300"/>
                        <a:ext cx="1800225" cy="379413"/>
                      </a:xfrm>
                      <a:prstGeom prst="rect">
                        <a:avLst/>
                      </a:prstGeom>
                      <a:noFill/>
                      <a:ln w="38100">
                        <a:noFill/>
                        <a:miter/>
                      </a:ln>
                    </p:spPr>
                  </p:pic>
                </p:oleObj>
              </mc:Fallback>
            </mc:AlternateContent>
          </a:graphicData>
        </a:graphic>
      </p:graphicFrame>
      <p:graphicFrame>
        <p:nvGraphicFramePr>
          <p:cNvPr id="194577" name="Object 17"/>
          <p:cNvGraphicFramePr>
            <a:graphicFrameLocks noChangeAspect="1"/>
          </p:cNvGraphicFramePr>
          <p:nvPr/>
        </p:nvGraphicFramePr>
        <p:xfrm>
          <a:off x="5795963" y="4202113"/>
          <a:ext cx="446087" cy="396875"/>
        </p:xfrm>
        <a:graphic>
          <a:graphicData uri="http://schemas.openxmlformats.org/presentationml/2006/ole">
            <mc:AlternateContent xmlns:mc="http://schemas.openxmlformats.org/markup-compatibility/2006">
              <mc:Choice xmlns:v="urn:schemas-microsoft-com:vml" Requires="v">
                <p:oleObj spid="_x0000_s3132" name="" r:id="rId9" imgW="447675" imgH="333375" progId="Paint.Picture">
                  <p:embed/>
                </p:oleObj>
              </mc:Choice>
              <mc:Fallback>
                <p:oleObj name="" r:id="rId9" imgW="447675" imgH="333375" progId="Paint.Picture">
                  <p:embed/>
                  <p:pic>
                    <p:nvPicPr>
                      <p:cNvPr id="0" name="图片 3131"/>
                      <p:cNvPicPr/>
                      <p:nvPr/>
                    </p:nvPicPr>
                    <p:blipFill>
                      <a:blip r:embed="rId10"/>
                      <a:stretch>
                        <a:fillRect/>
                      </a:stretch>
                    </p:blipFill>
                    <p:spPr>
                      <a:xfrm>
                        <a:off x="5795963" y="4202113"/>
                        <a:ext cx="446087" cy="396875"/>
                      </a:xfrm>
                      <a:prstGeom prst="rect">
                        <a:avLst/>
                      </a:prstGeom>
                      <a:noFill/>
                      <a:ln w="38100">
                        <a:noFill/>
                        <a:miter/>
                      </a:ln>
                    </p:spPr>
                  </p:pic>
                </p:oleObj>
              </mc:Fallback>
            </mc:AlternateContent>
          </a:graphicData>
        </a:graphic>
      </p:graphicFrame>
      <p:sp>
        <p:nvSpPr>
          <p:cNvPr id="194578" name="AutoShape 18"/>
          <p:cNvSpPr/>
          <p:nvPr/>
        </p:nvSpPr>
        <p:spPr>
          <a:xfrm>
            <a:off x="2163763" y="4972050"/>
            <a:ext cx="2049462" cy="403225"/>
          </a:xfrm>
          <a:prstGeom prst="wedgeRectCallout">
            <a:avLst>
              <a:gd name="adj1" fmla="val 9412"/>
              <a:gd name="adj2" fmla="val -79134"/>
            </a:avLst>
          </a:prstGeom>
          <a:solidFill>
            <a:srgbClr val="33CC33">
              <a:alpha val="50195"/>
            </a:srgbClr>
          </a:solidFill>
          <a:ln w="9525" cap="flat" cmpd="sng">
            <a:solidFill>
              <a:schemeClr val="tx1"/>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2400" b="1" dirty="0">
                <a:latin typeface="Times New Roman" panose="02020603050405020304" pitchFamily="18" charset="0"/>
              </a:rPr>
              <a:t>原运算次序为</a:t>
            </a:r>
            <a:endParaRPr lang="zh-CN" altLang="en-US" sz="2400" b="1" dirty="0">
              <a:latin typeface="Times New Roman" panose="02020603050405020304" pitchFamily="18" charset="0"/>
            </a:endParaRPr>
          </a:p>
        </p:txBody>
      </p:sp>
      <p:sp>
        <p:nvSpPr>
          <p:cNvPr id="194589" name="Text Box 29"/>
          <p:cNvSpPr txBox="1"/>
          <p:nvPr/>
        </p:nvSpPr>
        <p:spPr>
          <a:xfrm>
            <a:off x="-14287" y="188913"/>
            <a:ext cx="3325812" cy="57943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fontAlgn="t" hangingPunct="1">
              <a:spcBef>
                <a:spcPct val="50000"/>
              </a:spcBef>
              <a:buNone/>
            </a:pPr>
            <a:r>
              <a:rPr lang="en-US" altLang="zh-CN" b="1" dirty="0">
                <a:solidFill>
                  <a:srgbClr val="0033CC"/>
                </a:solidFill>
                <a:latin typeface="宋体" panose="02010600030101010101" pitchFamily="2" charset="-122"/>
              </a:rPr>
              <a:t> (</a:t>
            </a:r>
            <a:r>
              <a:rPr lang="zh-CN" altLang="en-US" b="1" dirty="0">
                <a:solidFill>
                  <a:srgbClr val="0033CC"/>
                </a:solidFill>
                <a:latin typeface="宋体" panose="02010600030101010101" pitchFamily="2" charset="-122"/>
              </a:rPr>
              <a:t>二</a:t>
            </a:r>
            <a:r>
              <a:rPr lang="en-US" altLang="zh-CN" b="1" dirty="0">
                <a:solidFill>
                  <a:srgbClr val="0033CC"/>
                </a:solidFill>
                <a:latin typeface="宋体" panose="02010600030101010101" pitchFamily="2" charset="-122"/>
              </a:rPr>
              <a:t>)</a:t>
            </a:r>
            <a:r>
              <a:rPr lang="en-US" altLang="zh-CN" b="1" dirty="0">
                <a:solidFill>
                  <a:srgbClr val="0033CC"/>
                </a:solidFill>
                <a:latin typeface="Times New Roman" panose="02020603050405020304" pitchFamily="18" charset="0"/>
              </a:rPr>
              <a:t> </a:t>
            </a:r>
            <a:r>
              <a:rPr lang="zh-CN" altLang="en-US" b="1" dirty="0">
                <a:solidFill>
                  <a:srgbClr val="0033CC"/>
                </a:solidFill>
                <a:latin typeface="宋体" panose="02010600030101010101" pitchFamily="2" charset="-122"/>
              </a:rPr>
              <a:t>反演规则 </a:t>
            </a:r>
            <a:endParaRPr lang="zh-CN" altLang="en-US" b="1" dirty="0">
              <a:solidFill>
                <a:srgbClr val="0033CC"/>
              </a:solidFill>
              <a:latin typeface="宋体" panose="02010600030101010101" pitchFamily="2" charset="-122"/>
            </a:endParaRPr>
          </a:p>
        </p:txBody>
      </p:sp>
      <p:grpSp>
        <p:nvGrpSpPr>
          <p:cNvPr id="194597" name="Group 37"/>
          <p:cNvGrpSpPr/>
          <p:nvPr/>
        </p:nvGrpSpPr>
        <p:grpSpPr>
          <a:xfrm>
            <a:off x="2786063" y="695325"/>
            <a:ext cx="6057900" cy="1460500"/>
            <a:chOff x="1863" y="438"/>
            <a:chExt cx="3816" cy="920"/>
          </a:xfrm>
        </p:grpSpPr>
        <p:sp>
          <p:nvSpPr>
            <p:cNvPr id="39957" name="Rectangle 19"/>
            <p:cNvSpPr/>
            <p:nvPr/>
          </p:nvSpPr>
          <p:spPr>
            <a:xfrm>
              <a:off x="1863" y="438"/>
              <a:ext cx="3816" cy="920"/>
            </a:xfrm>
            <a:prstGeom prst="rect">
              <a:avLst/>
            </a:prstGeom>
            <a:solidFill>
              <a:srgbClr val="99CCFF">
                <a:alpha val="50195"/>
              </a:srgbClr>
            </a:solidFill>
            <a:ln w="9525">
              <a:noFill/>
            </a:ln>
          </p:spPr>
          <p:txBody>
            <a:bodyPr wrap="none"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dirty="0">
                  <a:latin typeface="宋体" panose="02010600030101010101" pitchFamily="2" charset="-122"/>
                </a:rPr>
                <a:t>    </a:t>
              </a:r>
              <a:r>
                <a:rPr lang="zh-CN" altLang="en-US" sz="2400" b="1" dirty="0">
                  <a:latin typeface="宋体" panose="02010600030101010101" pitchFamily="2" charset="-122"/>
                </a:rPr>
                <a:t>对任一个逻辑函数式</a:t>
              </a:r>
              <a:r>
                <a:rPr lang="zh-CN" altLang="en-US" sz="2400" b="1" dirty="0">
                  <a:latin typeface="Times New Roman" panose="02020603050405020304" pitchFamily="18" charset="0"/>
                </a:rPr>
                <a:t> </a:t>
              </a:r>
              <a:r>
                <a:rPr lang="en-US" altLang="zh-CN" sz="2400" b="1" i="1" dirty="0">
                  <a:latin typeface="Times New Roman" panose="02020603050405020304" pitchFamily="18" charset="0"/>
                </a:rPr>
                <a:t>Y</a:t>
              </a:r>
              <a:r>
                <a:rPr lang="zh-CN" altLang="en-US" sz="2400" b="1" dirty="0">
                  <a:latin typeface="宋体" panose="02010600030101010101" pitchFamily="2" charset="-122"/>
                </a:rPr>
                <a:t>，将“</a:t>
              </a:r>
              <a:r>
                <a:rPr lang="en-US" altLang="zh-CN" sz="2400" b="1" dirty="0">
                  <a:latin typeface="Times New Roman" panose="02020603050405020304" pitchFamily="18" charset="0"/>
                </a:rPr>
                <a:t>·</a:t>
              </a:r>
              <a:r>
                <a:rPr lang="en-US" altLang="zh-CN" sz="2400" b="1" dirty="0">
                  <a:latin typeface="宋体" panose="02010600030101010101" pitchFamily="2" charset="-122"/>
                </a:rPr>
                <a:t>”</a:t>
              </a:r>
              <a:r>
                <a:rPr lang="zh-CN" altLang="en-US" sz="2400" b="1" dirty="0">
                  <a:latin typeface="宋体" panose="02010600030101010101" pitchFamily="2" charset="-122"/>
                </a:rPr>
                <a:t>换成</a:t>
              </a:r>
              <a:endParaRPr lang="zh-CN" altLang="en-US" sz="2400" b="1" dirty="0">
                <a:latin typeface="宋体" panose="02010600030101010101" pitchFamily="2" charset="-122"/>
              </a:endParaRPr>
            </a:p>
            <a:p>
              <a:pPr marL="0" lvl="0" indent="0" eaLnBrk="1" hangingPunct="1">
                <a:spcBef>
                  <a:spcPct val="0"/>
                </a:spcBef>
                <a:buNone/>
              </a:pPr>
              <a:r>
                <a:rPr lang="zh-CN" altLang="en-US" sz="2400" b="1" dirty="0">
                  <a:latin typeface="宋体" panose="02010600030101010101" pitchFamily="2" charset="-122"/>
                </a:rPr>
                <a:t>“</a:t>
              </a:r>
              <a:r>
                <a:rPr lang="en-US" altLang="zh-CN" sz="2400" b="1" dirty="0">
                  <a:latin typeface="宋体" panose="02010600030101010101" pitchFamily="2" charset="-122"/>
                </a:rPr>
                <a:t>+”</a:t>
              </a:r>
              <a:r>
                <a:rPr lang="zh-CN" altLang="en-US" sz="2400" b="1" dirty="0">
                  <a:latin typeface="宋体" panose="02010600030101010101" pitchFamily="2" charset="-122"/>
                </a:rPr>
                <a:t>，“</a:t>
              </a:r>
              <a:r>
                <a:rPr lang="en-US" altLang="zh-CN" sz="2400" b="1" dirty="0">
                  <a:latin typeface="Times New Roman" panose="02020603050405020304" pitchFamily="18" charset="0"/>
                </a:rPr>
                <a:t>+</a:t>
              </a:r>
              <a:r>
                <a:rPr lang="en-US" altLang="zh-CN" sz="2400" b="1" dirty="0">
                  <a:latin typeface="宋体" panose="02010600030101010101" pitchFamily="2" charset="-122"/>
                </a:rPr>
                <a:t>”</a:t>
              </a:r>
              <a:r>
                <a:rPr lang="zh-CN" altLang="en-US" sz="2400" b="1" dirty="0">
                  <a:latin typeface="宋体" panose="02010600030101010101" pitchFamily="2" charset="-122"/>
                </a:rPr>
                <a:t>换成“</a:t>
              </a:r>
              <a:r>
                <a:rPr lang="en-US" altLang="zh-CN" sz="2400" b="1" dirty="0">
                  <a:latin typeface="Times New Roman" panose="02020603050405020304" pitchFamily="18" charset="0"/>
                </a:rPr>
                <a:t>·</a:t>
              </a:r>
              <a:r>
                <a:rPr lang="en-US" altLang="zh-CN" sz="2400" b="1" dirty="0">
                  <a:latin typeface="宋体" panose="02010600030101010101" pitchFamily="2" charset="-122"/>
                </a:rPr>
                <a:t>”</a:t>
              </a:r>
              <a:r>
                <a:rPr lang="zh-CN" altLang="en-US" sz="2400" b="1" dirty="0">
                  <a:latin typeface="宋体" panose="02010600030101010101" pitchFamily="2" charset="-122"/>
                </a:rPr>
                <a:t>，“</a:t>
              </a:r>
              <a:r>
                <a:rPr lang="en-US" altLang="zh-CN" sz="2400" b="1" dirty="0">
                  <a:latin typeface="Times New Roman" panose="02020603050405020304" pitchFamily="18" charset="0"/>
                </a:rPr>
                <a:t>0</a:t>
              </a:r>
              <a:r>
                <a:rPr lang="en-US" altLang="zh-CN" sz="2400" b="1" dirty="0">
                  <a:latin typeface="宋体" panose="02010600030101010101" pitchFamily="2" charset="-122"/>
                </a:rPr>
                <a:t>”</a:t>
              </a:r>
              <a:r>
                <a:rPr lang="zh-CN" altLang="en-US" sz="2400" b="1" dirty="0">
                  <a:latin typeface="宋体" panose="02010600030101010101" pitchFamily="2" charset="-122"/>
                </a:rPr>
                <a:t>换成“</a:t>
              </a:r>
              <a:r>
                <a:rPr lang="en-US" altLang="zh-CN" sz="2400" b="1" dirty="0">
                  <a:latin typeface="Times New Roman" panose="02020603050405020304" pitchFamily="18" charset="0"/>
                </a:rPr>
                <a:t>1</a:t>
              </a:r>
              <a:r>
                <a:rPr lang="en-US" altLang="zh-CN" sz="2400" b="1" dirty="0">
                  <a:latin typeface="宋体" panose="02010600030101010101" pitchFamily="2" charset="-122"/>
                </a:rPr>
                <a:t>”</a:t>
              </a:r>
              <a:r>
                <a:rPr lang="zh-CN" altLang="en-US" sz="2400" b="1" dirty="0">
                  <a:latin typeface="宋体" panose="02010600030101010101" pitchFamily="2" charset="-122"/>
                </a:rPr>
                <a:t>，</a:t>
              </a:r>
              <a:endParaRPr lang="zh-CN" altLang="en-US" sz="2400" b="1" dirty="0">
                <a:latin typeface="宋体" panose="02010600030101010101" pitchFamily="2" charset="-122"/>
              </a:endParaRPr>
            </a:p>
            <a:p>
              <a:pPr marL="0" lvl="0" indent="0" eaLnBrk="1" hangingPunct="1">
                <a:spcBef>
                  <a:spcPct val="0"/>
                </a:spcBef>
                <a:buNone/>
              </a:pPr>
              <a:r>
                <a:rPr lang="zh-CN" altLang="en-US" sz="2400" b="1" dirty="0">
                  <a:latin typeface="宋体" panose="02010600030101010101" pitchFamily="2" charset="-122"/>
                </a:rPr>
                <a:t>“</a:t>
              </a:r>
              <a:r>
                <a:rPr lang="en-US" altLang="zh-CN" sz="2400" b="1" dirty="0">
                  <a:latin typeface="Times New Roman" panose="02020603050405020304" pitchFamily="18" charset="0"/>
                </a:rPr>
                <a:t>1</a:t>
              </a:r>
              <a:r>
                <a:rPr lang="en-US" altLang="zh-CN" sz="2400" b="1" dirty="0">
                  <a:latin typeface="宋体" panose="02010600030101010101" pitchFamily="2" charset="-122"/>
                </a:rPr>
                <a:t>”</a:t>
              </a:r>
              <a:r>
                <a:rPr lang="zh-CN" altLang="en-US" sz="2400" b="1" dirty="0">
                  <a:latin typeface="宋体" panose="02010600030101010101" pitchFamily="2" charset="-122"/>
                </a:rPr>
                <a:t>换成“</a:t>
              </a:r>
              <a:r>
                <a:rPr lang="en-US" altLang="zh-CN" sz="2400" b="1" dirty="0">
                  <a:latin typeface="Times New Roman" panose="02020603050405020304" pitchFamily="18" charset="0"/>
                </a:rPr>
                <a:t>0</a:t>
              </a:r>
              <a:r>
                <a:rPr lang="en-US" altLang="zh-CN" sz="2400" b="1" dirty="0">
                  <a:latin typeface="宋体" panose="02010600030101010101" pitchFamily="2" charset="-122"/>
                </a:rPr>
                <a:t>”</a:t>
              </a:r>
              <a:r>
                <a:rPr lang="zh-CN" altLang="en-US" sz="2400" b="1" dirty="0">
                  <a:latin typeface="宋体" panose="02010600030101010101" pitchFamily="2" charset="-122"/>
                </a:rPr>
                <a:t>，原变量换成反变量，反变量</a:t>
              </a:r>
              <a:endParaRPr lang="zh-CN" altLang="en-US" sz="2400" b="1" dirty="0">
                <a:latin typeface="宋体" panose="02010600030101010101" pitchFamily="2" charset="-122"/>
              </a:endParaRPr>
            </a:p>
            <a:p>
              <a:pPr marL="0" lvl="0" indent="0" eaLnBrk="1" hangingPunct="1">
                <a:spcBef>
                  <a:spcPct val="0"/>
                </a:spcBef>
                <a:buNone/>
              </a:pPr>
              <a:r>
                <a:rPr lang="zh-CN" altLang="en-US" sz="2400" b="1" dirty="0">
                  <a:latin typeface="宋体" panose="02010600030101010101" pitchFamily="2" charset="-122"/>
                </a:rPr>
                <a:t>换成原变量，则得到原逻辑函数的反函数　</a:t>
              </a:r>
              <a:r>
                <a:rPr lang="zh-CN" altLang="en-US" sz="2400" b="1" i="1" dirty="0">
                  <a:latin typeface="宋体" panose="02010600030101010101" pitchFamily="2" charset="-122"/>
                </a:rPr>
                <a:t>。</a:t>
              </a:r>
              <a:endParaRPr lang="zh-CN" altLang="en-US" sz="2400" b="1" i="1" dirty="0">
                <a:latin typeface="宋体" panose="02010600030101010101" pitchFamily="2" charset="-122"/>
              </a:endParaRPr>
            </a:p>
          </p:txBody>
        </p:sp>
        <p:graphicFrame>
          <p:nvGraphicFramePr>
            <p:cNvPr id="39958" name="Object 36"/>
            <p:cNvGraphicFramePr>
              <a:graphicFrameLocks noChangeAspect="1"/>
            </p:cNvGraphicFramePr>
            <p:nvPr/>
          </p:nvGraphicFramePr>
          <p:xfrm>
            <a:off x="5378" y="1151"/>
            <a:ext cx="152" cy="200"/>
          </p:xfrm>
          <a:graphic>
            <a:graphicData uri="http://schemas.openxmlformats.org/presentationml/2006/ole">
              <mc:AlternateContent xmlns:mc="http://schemas.openxmlformats.org/markup-compatibility/2006">
                <mc:Choice xmlns:v="urn:schemas-microsoft-com:vml" Requires="v">
                  <p:oleObj spid="_x0000_s3131" name="" r:id="rId11" imgW="241300" imgH="317500" progId="Equation.3">
                    <p:embed/>
                  </p:oleObj>
                </mc:Choice>
                <mc:Fallback>
                  <p:oleObj name="" r:id="rId11" imgW="241300" imgH="317500" progId="Equation.3">
                    <p:embed/>
                    <p:pic>
                      <p:nvPicPr>
                        <p:cNvPr id="0" name="图片 3130"/>
                        <p:cNvPicPr/>
                        <p:nvPr/>
                      </p:nvPicPr>
                      <p:blipFill>
                        <a:blip r:embed="rId12"/>
                        <a:stretch>
                          <a:fillRect/>
                        </a:stretch>
                      </p:blipFill>
                      <p:spPr>
                        <a:xfrm>
                          <a:off x="5378" y="1151"/>
                          <a:ext cx="152" cy="200"/>
                        </a:xfrm>
                        <a:prstGeom prst="rect">
                          <a:avLst/>
                        </a:prstGeom>
                        <a:noFill/>
                        <a:ln w="38100">
                          <a:noFill/>
                          <a:miter/>
                        </a:ln>
                      </p:spPr>
                    </p:pic>
                  </p:oleObj>
                </mc:Fallback>
              </mc:AlternateContent>
            </a:graphicData>
          </a:graphic>
        </p:graphicFrame>
      </p:grpSp>
      <p:grpSp>
        <p:nvGrpSpPr>
          <p:cNvPr id="20" name="Group 24"/>
          <p:cNvGrpSpPr/>
          <p:nvPr/>
        </p:nvGrpSpPr>
        <p:grpSpPr>
          <a:xfrm>
            <a:off x="971550" y="5445125"/>
            <a:ext cx="5976938" cy="528638"/>
            <a:chOff x="839" y="3113"/>
            <a:chExt cx="3765" cy="333"/>
          </a:xfrm>
        </p:grpSpPr>
        <p:sp>
          <p:nvSpPr>
            <p:cNvPr id="39954" name="Rectangle 20"/>
            <p:cNvSpPr/>
            <p:nvPr/>
          </p:nvSpPr>
          <p:spPr>
            <a:xfrm>
              <a:off x="839" y="3158"/>
              <a:ext cx="3765"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dirty="0">
                  <a:solidFill>
                    <a:srgbClr val="FF0000"/>
                  </a:solidFill>
                  <a:latin typeface="楷体_GB2312" pitchFamily="49" charset="-122"/>
                  <a:ea typeface="楷体_GB2312" pitchFamily="49" charset="-122"/>
                </a:rPr>
                <a:t>例：</a:t>
              </a:r>
              <a:r>
                <a:rPr lang="zh-CN" altLang="en-US" sz="2400" b="1" dirty="0">
                  <a:latin typeface="楷体_GB2312" pitchFamily="49" charset="-122"/>
                  <a:ea typeface="楷体_GB2312" pitchFamily="49" charset="-122"/>
                </a:rPr>
                <a:t>已知                  ，求   。</a:t>
              </a:r>
              <a:endParaRPr lang="zh-CN" altLang="en-US" sz="2400" b="1" dirty="0">
                <a:latin typeface="楷体_GB2312" pitchFamily="49" charset="-122"/>
                <a:ea typeface="楷体_GB2312" pitchFamily="49" charset="-122"/>
              </a:endParaRPr>
            </a:p>
          </p:txBody>
        </p:sp>
        <p:graphicFrame>
          <p:nvGraphicFramePr>
            <p:cNvPr id="39955" name="Object 21"/>
            <p:cNvGraphicFramePr>
              <a:graphicFrameLocks noChangeAspect="1"/>
            </p:cNvGraphicFramePr>
            <p:nvPr/>
          </p:nvGraphicFramePr>
          <p:xfrm>
            <a:off x="3923" y="3113"/>
            <a:ext cx="219" cy="318"/>
          </p:xfrm>
          <a:graphic>
            <a:graphicData uri="http://schemas.openxmlformats.org/presentationml/2006/ole">
              <mc:AlternateContent xmlns:mc="http://schemas.openxmlformats.org/markup-compatibility/2006">
                <mc:Choice xmlns:v="urn:schemas-microsoft-com:vml" Requires="v">
                  <p:oleObj spid="_x0000_s3129" name="" r:id="rId13" imgW="139700" imgH="203200" progId="Equation.3">
                    <p:embed/>
                  </p:oleObj>
                </mc:Choice>
                <mc:Fallback>
                  <p:oleObj name="" r:id="rId13" imgW="139700" imgH="203200" progId="Equation.3">
                    <p:embed/>
                    <p:pic>
                      <p:nvPicPr>
                        <p:cNvPr id="0" name="图片 3128"/>
                        <p:cNvPicPr/>
                        <p:nvPr/>
                      </p:nvPicPr>
                      <p:blipFill>
                        <a:blip r:embed="rId14"/>
                        <a:stretch>
                          <a:fillRect/>
                        </a:stretch>
                      </p:blipFill>
                      <p:spPr>
                        <a:xfrm>
                          <a:off x="3923" y="3113"/>
                          <a:ext cx="219" cy="318"/>
                        </a:xfrm>
                        <a:prstGeom prst="rect">
                          <a:avLst/>
                        </a:prstGeom>
                        <a:noFill/>
                        <a:ln w="38100">
                          <a:noFill/>
                          <a:miter/>
                        </a:ln>
                      </p:spPr>
                    </p:pic>
                  </p:oleObj>
                </mc:Fallback>
              </mc:AlternateContent>
            </a:graphicData>
          </a:graphic>
        </p:graphicFrame>
        <p:graphicFrame>
          <p:nvGraphicFramePr>
            <p:cNvPr id="39956" name="Object 23"/>
            <p:cNvGraphicFramePr>
              <a:graphicFrameLocks noChangeAspect="1"/>
            </p:cNvGraphicFramePr>
            <p:nvPr/>
          </p:nvGraphicFramePr>
          <p:xfrm>
            <a:off x="1838" y="3113"/>
            <a:ext cx="1632" cy="330"/>
          </p:xfrm>
          <a:graphic>
            <a:graphicData uri="http://schemas.openxmlformats.org/presentationml/2006/ole">
              <mc:AlternateContent xmlns:mc="http://schemas.openxmlformats.org/markup-compatibility/2006">
                <mc:Choice xmlns:v="urn:schemas-microsoft-com:vml" Requires="v">
                  <p:oleObj spid="_x0000_s3128" name="" r:id="rId15" imgW="1256665" imgH="254000" progId="Equation.3">
                    <p:embed/>
                  </p:oleObj>
                </mc:Choice>
                <mc:Fallback>
                  <p:oleObj name="" r:id="rId15" imgW="1256665" imgH="254000" progId="Equation.3">
                    <p:embed/>
                    <p:pic>
                      <p:nvPicPr>
                        <p:cNvPr id="0" name="图片 3127"/>
                        <p:cNvPicPr/>
                        <p:nvPr/>
                      </p:nvPicPr>
                      <p:blipFill>
                        <a:blip r:embed="rId16"/>
                        <a:stretch>
                          <a:fillRect/>
                        </a:stretch>
                      </p:blipFill>
                      <p:spPr>
                        <a:xfrm>
                          <a:off x="1838" y="3113"/>
                          <a:ext cx="1632" cy="330"/>
                        </a:xfrm>
                        <a:prstGeom prst="rect">
                          <a:avLst/>
                        </a:prstGeom>
                        <a:noFill/>
                        <a:ln w="38100">
                          <a:noFill/>
                          <a:miter/>
                        </a:ln>
                      </p:spPr>
                    </p:pic>
                  </p:oleObj>
                </mc:Fallback>
              </mc:AlternateContent>
            </a:graphicData>
          </a:graphic>
        </p:graphicFrame>
      </p:grpSp>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94589"/>
                                        </p:tgtEl>
                                        <p:attrNameLst>
                                          <p:attrName>style.visibility</p:attrName>
                                        </p:attrNameLst>
                                      </p:cBhvr>
                                      <p:to>
                                        <p:strVal val="visible"/>
                                      </p:to>
                                    </p:set>
                                    <p:animEffect transition="in" filter="dissolve">
                                      <p:cBhvr>
                                        <p:cTn id="7" dur="500"/>
                                        <p:tgtEl>
                                          <p:spTgt spid="19458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94597"/>
                                        </p:tgtEl>
                                        <p:attrNameLst>
                                          <p:attrName>style.visibility</p:attrName>
                                        </p:attrNameLst>
                                      </p:cBhvr>
                                      <p:to>
                                        <p:strVal val="visible"/>
                                      </p:to>
                                    </p:set>
                                    <p:animEffect transition="in" filter="dissolve">
                                      <p:cBhvr>
                                        <p:cTn id="12" dur="500"/>
                                        <p:tgtEl>
                                          <p:spTgt spid="19459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94571"/>
                                        </p:tgtEl>
                                        <p:attrNameLst>
                                          <p:attrName>style.visibility</p:attrName>
                                        </p:attrNameLst>
                                      </p:cBhvr>
                                      <p:to>
                                        <p:strVal val="visible"/>
                                      </p:to>
                                    </p:set>
                                    <p:animEffect transition="in" filter="wipe(up)">
                                      <p:cBhvr>
                                        <p:cTn id="17" dur="500"/>
                                        <p:tgtEl>
                                          <p:spTgt spid="194571"/>
                                        </p:tgtEl>
                                      </p:cBhvr>
                                    </p:animEffect>
                                  </p:childTnLst>
                                </p:cTn>
                              </p:par>
                            </p:childTnLst>
                          </p:cTn>
                        </p:par>
                      </p:childTnLst>
                    </p:cTn>
                  </p:par>
                  <p:par>
                    <p:cTn id="18" fill="hold">
                      <p:stCondLst>
                        <p:cond delay="indefinite"/>
                      </p:stCondLst>
                      <p:childTnLst>
                        <p:par>
                          <p:cTn id="19" fill="hold">
                            <p:stCondLst>
                              <p:cond delay="0"/>
                            </p:stCondLst>
                            <p:childTnLst>
                              <p:par>
                                <p:cTn id="20" presetID="15" presetClass="entr" presetSubtype="0" fill="hold" grpId="0" nodeType="clickEffect">
                                  <p:stCondLst>
                                    <p:cond delay="0"/>
                                  </p:stCondLst>
                                  <p:childTnLst>
                                    <p:set>
                                      <p:cBhvr>
                                        <p:cTn id="21" dur="1" fill="hold">
                                          <p:stCondLst>
                                            <p:cond delay="0"/>
                                          </p:stCondLst>
                                        </p:cTn>
                                        <p:tgtEl>
                                          <p:spTgt spid="194573"/>
                                        </p:tgtEl>
                                        <p:attrNameLst>
                                          <p:attrName>style.visibility</p:attrName>
                                        </p:attrNameLst>
                                      </p:cBhvr>
                                      <p:to>
                                        <p:strVal val="visible"/>
                                      </p:to>
                                    </p:set>
                                    <p:anim calcmode="lin" valueType="num">
                                      <p:cBhvr>
                                        <p:cTn id="22" dur="1000" fill="hold"/>
                                        <p:tgtEl>
                                          <p:spTgt spid="194573"/>
                                        </p:tgtEl>
                                        <p:attrNameLst>
                                          <p:attrName>ppt_w</p:attrName>
                                        </p:attrNameLst>
                                      </p:cBhvr>
                                      <p:tavLst>
                                        <p:tav tm="0">
                                          <p:val>
                                            <p:fltVal val="0.000000"/>
                                          </p:val>
                                        </p:tav>
                                        <p:tav tm="100000">
                                          <p:val>
                                            <p:strVal val="#ppt_w"/>
                                          </p:val>
                                        </p:tav>
                                      </p:tavLst>
                                    </p:anim>
                                    <p:anim calcmode="lin" valueType="num">
                                      <p:cBhvr>
                                        <p:cTn id="23" dur="1000" fill="hold"/>
                                        <p:tgtEl>
                                          <p:spTgt spid="194573"/>
                                        </p:tgtEl>
                                        <p:attrNameLst>
                                          <p:attrName>ppt_h</p:attrName>
                                        </p:attrNameLst>
                                      </p:cBhvr>
                                      <p:tavLst>
                                        <p:tav tm="0">
                                          <p:val>
                                            <p:fltVal val="0.000000"/>
                                          </p:val>
                                        </p:tav>
                                        <p:tav tm="100000">
                                          <p:val>
                                            <p:strVal val="#ppt_h"/>
                                          </p:val>
                                        </p:tav>
                                      </p:tavLst>
                                    </p:anim>
                                    <p:anim calcmode="lin" valueType="num">
                                      <p:cBhvr>
                                        <p:cTn id="24" dur="1000" fill="hold"/>
                                        <p:tgtEl>
                                          <p:spTgt spid="194573"/>
                                        </p:tgtEl>
                                        <p:attrNameLst>
                                          <p:attrName>ppt_x</p:attrName>
                                        </p:attrNameLst>
                                      </p:cBhvr>
                                      <p:tavLst>
                                        <p:tav tm="0" fmla="#ppt_x+(cos(-2*pi*(1-$))*-#ppt_x-sin(-2*pi*(1-$))*(1-#ppt_y))*(1-$)">
                                          <p:val>
                                            <p:fltVal val="0.000000"/>
                                          </p:val>
                                        </p:tav>
                                        <p:tav tm="100000">
                                          <p:val>
                                            <p:fltVal val="1.000000"/>
                                          </p:val>
                                        </p:tav>
                                      </p:tavLst>
                                    </p:anim>
                                    <p:anim calcmode="lin" valueType="num">
                                      <p:cBhvr>
                                        <p:cTn id="25" dur="1000" fill="hold"/>
                                        <p:tgtEl>
                                          <p:spTgt spid="194573"/>
                                        </p:tgtEl>
                                        <p:attrNameLst>
                                          <p:attrName>ppt_y</p:attrName>
                                        </p:attrNameLst>
                                      </p:cBhvr>
                                      <p:tavLst>
                                        <p:tav tm="0" fmla="#ppt_y+(sin(-2*pi*(1-$))*-#ppt_x+cos(-2*pi*(1-$))*(1-#ppt_y))*(1-$)">
                                          <p:val>
                                            <p:fltVal val="0.000000"/>
                                          </p:val>
                                        </p:tav>
                                        <p:tav tm="100000">
                                          <p:val>
                                            <p:fltVal val="1.000000"/>
                                          </p:val>
                                        </p:tav>
                                      </p:tavLst>
                                    </p:anim>
                                  </p:childTnLst>
                                </p:cTn>
                              </p:par>
                            </p:childTnLst>
                          </p:cTn>
                        </p:par>
                        <p:par>
                          <p:cTn id="26" fill="hold">
                            <p:stCondLst>
                              <p:cond delay="1000"/>
                            </p:stCondLst>
                            <p:childTnLst>
                              <p:par>
                                <p:cTn id="27" presetID="22" presetClass="entr" presetSubtype="8" fill="hold" nodeType="afterEffect">
                                  <p:stCondLst>
                                    <p:cond delay="0"/>
                                  </p:stCondLst>
                                  <p:childTnLst>
                                    <p:set>
                                      <p:cBhvr>
                                        <p:cTn id="28" dur="1" fill="hold">
                                          <p:stCondLst>
                                            <p:cond delay="0"/>
                                          </p:stCondLst>
                                        </p:cTn>
                                        <p:tgtEl>
                                          <p:spTgt spid="194576"/>
                                        </p:tgtEl>
                                        <p:attrNameLst>
                                          <p:attrName>style.visibility</p:attrName>
                                        </p:attrNameLst>
                                      </p:cBhvr>
                                      <p:to>
                                        <p:strVal val="visible"/>
                                      </p:to>
                                    </p:set>
                                    <p:animEffect transition="in" filter="wipe(left)">
                                      <p:cBhvr>
                                        <p:cTn id="29" dur="500"/>
                                        <p:tgtEl>
                                          <p:spTgt spid="194576"/>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194578"/>
                                        </p:tgtEl>
                                        <p:attrNameLst>
                                          <p:attrName>style.visibility</p:attrName>
                                        </p:attrNameLst>
                                      </p:cBhvr>
                                      <p:to>
                                        <p:strVal val="visible"/>
                                      </p:to>
                                    </p:set>
                                    <p:anim calcmode="lin" valueType="num">
                                      <p:cBhvr additive="base">
                                        <p:cTn id="34" dur="500" fill="hold"/>
                                        <p:tgtEl>
                                          <p:spTgt spid="194578"/>
                                        </p:tgtEl>
                                        <p:attrNameLst>
                                          <p:attrName>ppt_x</p:attrName>
                                        </p:attrNameLst>
                                      </p:cBhvr>
                                      <p:tavLst>
                                        <p:tav tm="0">
                                          <p:val>
                                            <p:strVal val="0-#ppt_w/2"/>
                                          </p:val>
                                        </p:tav>
                                        <p:tav tm="100000">
                                          <p:val>
                                            <p:strVal val="#ppt_x"/>
                                          </p:val>
                                        </p:tav>
                                      </p:tavLst>
                                    </p:anim>
                                    <p:anim calcmode="lin" valueType="num">
                                      <p:cBhvr additive="base">
                                        <p:cTn id="35" dur="500" fill="hold"/>
                                        <p:tgtEl>
                                          <p:spTgt spid="194578"/>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94578"/>
                                        </p:tgtEl>
                                        <p:attrNameLst>
                                          <p:attrName>style.visibility</p:attrName>
                                        </p:attrNameLst>
                                      </p:cBhvr>
                                      <p:to>
                                        <p:strVal val="hidden"/>
                                      </p:to>
                                    </p:set>
                                  </p:sub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499"/>
                                          </p:stCondLst>
                                        </p:cTn>
                                        <p:tgtEl>
                                          <p:spTgt spid="194563"/>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499"/>
                                          </p:stCondLst>
                                        </p:cTn>
                                        <p:tgtEl>
                                          <p:spTgt spid="194564"/>
                                        </p:tgtEl>
                                        <p:attrNameLst>
                                          <p:attrName>style.visibility</p:attrName>
                                        </p:attrNameLst>
                                      </p:cBhvr>
                                      <p:to>
                                        <p:strVal val="visible"/>
                                      </p:to>
                                    </p:set>
                                  </p:childTnLst>
                                </p:cTn>
                              </p:par>
                            </p:childTnLst>
                          </p:cTn>
                        </p:par>
                        <p:par>
                          <p:cTn id="44" fill="hold">
                            <p:stCondLst>
                              <p:cond delay="500"/>
                            </p:stCondLst>
                            <p:childTnLst>
                              <p:par>
                                <p:cTn id="45" presetID="1" presetClass="entr" presetSubtype="0" fill="hold" grpId="0" nodeType="afterEffect">
                                  <p:stCondLst>
                                    <p:cond delay="0"/>
                                  </p:stCondLst>
                                  <p:childTnLst>
                                    <p:set>
                                      <p:cBhvr>
                                        <p:cTn id="46" dur="1" fill="hold">
                                          <p:stCondLst>
                                            <p:cond delay="499"/>
                                          </p:stCondLst>
                                        </p:cTn>
                                        <p:tgtEl>
                                          <p:spTgt spid="19456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19456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499"/>
                                          </p:stCondLst>
                                        </p:cTn>
                                        <p:tgtEl>
                                          <p:spTgt spid="19457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499"/>
                                          </p:stCondLst>
                                        </p:cTn>
                                        <p:tgtEl>
                                          <p:spTgt spid="19457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499"/>
                                          </p:stCondLst>
                                        </p:cTn>
                                        <p:tgtEl>
                                          <p:spTgt spid="19456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9" presetClass="entr" presetSubtype="10" fill="hold" nodeType="clickEffect">
                                  <p:stCondLst>
                                    <p:cond delay="0"/>
                                  </p:stCondLst>
                                  <p:childTnLst>
                                    <p:set>
                                      <p:cBhvr>
                                        <p:cTn id="66" dur="1" fill="hold">
                                          <p:stCondLst>
                                            <p:cond delay="0"/>
                                          </p:stCondLst>
                                        </p:cTn>
                                        <p:tgtEl>
                                          <p:spTgt spid="194575"/>
                                        </p:tgtEl>
                                        <p:attrNameLst>
                                          <p:attrName>style.visibility</p:attrName>
                                        </p:attrNameLst>
                                      </p:cBhvr>
                                      <p:to>
                                        <p:strVal val="visible"/>
                                      </p:to>
                                    </p:set>
                                    <p:anim calcmode="lin" valueType="num">
                                      <p:cBhvr>
                                        <p:cTn id="67" dur="5000" fill="hold"/>
                                        <p:tgtEl>
                                          <p:spTgt spid="194575"/>
                                        </p:tgtEl>
                                        <p:attrNameLst>
                                          <p:attrName>ppt_w</p:attrName>
                                        </p:attrNameLst>
                                      </p:cBhvr>
                                      <p:tavLst>
                                        <p:tav tm="0" fmla="#ppt_w*sin(2.5*pi*$)">
                                          <p:val>
                                            <p:fltVal val="0.000000"/>
                                          </p:val>
                                        </p:tav>
                                        <p:tav tm="100000">
                                          <p:val>
                                            <p:fltVal val="1.000000"/>
                                          </p:val>
                                        </p:tav>
                                      </p:tavLst>
                                    </p:anim>
                                    <p:anim calcmode="lin" valueType="num">
                                      <p:cBhvr>
                                        <p:cTn id="68" dur="5000" fill="hold"/>
                                        <p:tgtEl>
                                          <p:spTgt spid="194575"/>
                                        </p:tgtEl>
                                        <p:attrNameLst>
                                          <p:attrName>ppt_h</p:attrName>
                                        </p:attrNameLst>
                                      </p:cBhvr>
                                      <p:tavLst>
                                        <p:tav tm="0">
                                          <p:val>
                                            <p:strVal val="#ppt_h"/>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194572"/>
                                        </p:tgtEl>
                                        <p:attrNameLst>
                                          <p:attrName>style.visibility</p:attrName>
                                        </p:attrNameLst>
                                      </p:cBhvr>
                                      <p:to>
                                        <p:strVal val="visible"/>
                                      </p:to>
                                    </p:set>
                                    <p:animEffect transition="in" filter="wipe(left)">
                                      <p:cBhvr>
                                        <p:cTn id="73" dur="500"/>
                                        <p:tgtEl>
                                          <p:spTgt spid="194572"/>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nodeType="click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blinds(horizontal)">
                                      <p:cBhvr>
                                        <p:cTn id="7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3" grpId="0" animBg="1"/>
      <p:bldP spid="194564" grpId="0" animBg="1"/>
      <p:bldP spid="194565" grpId="0" animBg="1"/>
      <p:bldP spid="194566" grpId="0" animBg="1"/>
      <p:bldP spid="194571" grpId="0" animBg="1"/>
      <p:bldP spid="194572" grpId="0" animBg="1"/>
      <p:bldP spid="194573" grpId="0" animBg="1"/>
      <p:bldP spid="194578" grpId="0" animBg="1"/>
      <p:bldP spid="19458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Text Box 2"/>
          <p:cNvSpPr txBox="1"/>
          <p:nvPr/>
        </p:nvSpPr>
        <p:spPr>
          <a:xfrm>
            <a:off x="14288" y="649288"/>
            <a:ext cx="3460750" cy="57943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fontAlgn="t" hangingPunct="1">
              <a:spcBef>
                <a:spcPct val="50000"/>
              </a:spcBef>
              <a:buNone/>
            </a:pPr>
            <a:r>
              <a:rPr lang="en-US" altLang="zh-CN" b="1" dirty="0">
                <a:solidFill>
                  <a:srgbClr val="0033CC"/>
                </a:solidFill>
                <a:latin typeface="Times New Roman" panose="02020603050405020304" pitchFamily="18" charset="0"/>
              </a:rPr>
              <a:t>  </a:t>
            </a:r>
            <a:r>
              <a:rPr lang="en-US" altLang="zh-CN" b="1" dirty="0">
                <a:solidFill>
                  <a:srgbClr val="0033CC"/>
                </a:solidFill>
                <a:latin typeface="宋体" panose="02010600030101010101" pitchFamily="2" charset="-122"/>
              </a:rPr>
              <a:t>(</a:t>
            </a:r>
            <a:r>
              <a:rPr lang="zh-CN" altLang="en-US" b="1" dirty="0">
                <a:solidFill>
                  <a:srgbClr val="0033CC"/>
                </a:solidFill>
                <a:latin typeface="宋体" panose="02010600030101010101" pitchFamily="2" charset="-122"/>
              </a:rPr>
              <a:t>三</a:t>
            </a:r>
            <a:r>
              <a:rPr lang="en-US" altLang="zh-CN" b="1" dirty="0">
                <a:solidFill>
                  <a:srgbClr val="0033CC"/>
                </a:solidFill>
                <a:latin typeface="宋体" panose="02010600030101010101" pitchFamily="2" charset="-122"/>
              </a:rPr>
              <a:t>)</a:t>
            </a:r>
            <a:r>
              <a:rPr lang="en-US" altLang="zh-CN" b="1" dirty="0">
                <a:solidFill>
                  <a:srgbClr val="0033CC"/>
                </a:solidFill>
                <a:latin typeface="Times New Roman" panose="02020603050405020304" pitchFamily="18" charset="0"/>
              </a:rPr>
              <a:t> </a:t>
            </a:r>
            <a:r>
              <a:rPr lang="zh-CN" altLang="en-US" b="1" dirty="0">
                <a:solidFill>
                  <a:srgbClr val="0033CC"/>
                </a:solidFill>
                <a:latin typeface="宋体" panose="02010600030101010101" pitchFamily="2" charset="-122"/>
              </a:rPr>
              <a:t>对偶规则 </a:t>
            </a:r>
            <a:endParaRPr lang="zh-CN" altLang="en-US" b="1" dirty="0">
              <a:solidFill>
                <a:srgbClr val="0033CC"/>
              </a:solidFill>
              <a:latin typeface="宋体" panose="02010600030101010101" pitchFamily="2" charset="-122"/>
            </a:endParaRPr>
          </a:p>
        </p:txBody>
      </p:sp>
      <p:sp>
        <p:nvSpPr>
          <p:cNvPr id="128004" name="Rectangle 4"/>
          <p:cNvSpPr/>
          <p:nvPr/>
        </p:nvSpPr>
        <p:spPr>
          <a:xfrm>
            <a:off x="3251200" y="700088"/>
            <a:ext cx="5516563" cy="1552575"/>
          </a:xfrm>
          <a:prstGeom prst="rect">
            <a:avLst/>
          </a:prstGeom>
          <a:solidFill>
            <a:srgbClr val="99CCFF">
              <a:alpha val="50195"/>
            </a:srgbClr>
          </a:solid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宋体" panose="02010600030101010101" pitchFamily="2" charset="-122"/>
              </a:rPr>
              <a:t>对任一个逻辑函数式</a:t>
            </a:r>
            <a:r>
              <a:rPr lang="zh-CN" altLang="en-US" sz="2400" b="1" dirty="0">
                <a:latin typeface="Times New Roman" panose="02020603050405020304" pitchFamily="18" charset="0"/>
              </a:rPr>
              <a:t> </a:t>
            </a:r>
            <a:r>
              <a:rPr lang="en-US" altLang="zh-CN" sz="2400" b="1" i="1" dirty="0">
                <a:latin typeface="Times New Roman" panose="02020603050405020304" pitchFamily="18" charset="0"/>
              </a:rPr>
              <a:t>Y</a:t>
            </a:r>
            <a:r>
              <a:rPr lang="zh-CN" altLang="en-US" sz="2400" b="1" dirty="0">
                <a:latin typeface="宋体" panose="02010600030101010101" pitchFamily="2" charset="-122"/>
              </a:rPr>
              <a:t>，将“</a:t>
            </a:r>
            <a:r>
              <a:rPr lang="en-US" altLang="zh-CN" sz="2400" b="1" dirty="0">
                <a:latin typeface="Times New Roman" panose="02020603050405020304" pitchFamily="18" charset="0"/>
              </a:rPr>
              <a:t>·</a:t>
            </a:r>
            <a:r>
              <a:rPr lang="en-US" altLang="zh-CN" sz="2400" b="1" dirty="0">
                <a:latin typeface="宋体" panose="02010600030101010101" pitchFamily="2" charset="-122"/>
              </a:rPr>
              <a:t>”</a:t>
            </a:r>
            <a:r>
              <a:rPr lang="zh-CN" altLang="en-US" sz="2400" b="1" dirty="0">
                <a:latin typeface="宋体" panose="02010600030101010101" pitchFamily="2" charset="-122"/>
              </a:rPr>
              <a:t>换成“</a:t>
            </a:r>
            <a:r>
              <a:rPr lang="en-US" altLang="zh-CN" sz="2400" b="1" dirty="0">
                <a:latin typeface="宋体" panose="02010600030101010101" pitchFamily="2" charset="-122"/>
              </a:rPr>
              <a:t>+”</a:t>
            </a:r>
            <a:r>
              <a:rPr lang="zh-CN" altLang="en-US" sz="2400" b="1" dirty="0">
                <a:latin typeface="宋体" panose="02010600030101010101" pitchFamily="2" charset="-122"/>
              </a:rPr>
              <a:t>，“</a:t>
            </a:r>
            <a:r>
              <a:rPr lang="en-US" altLang="zh-CN" sz="2400" b="1" dirty="0">
                <a:latin typeface="宋体" panose="02010600030101010101" pitchFamily="2" charset="-122"/>
              </a:rPr>
              <a:t>+”</a:t>
            </a:r>
            <a:r>
              <a:rPr lang="zh-CN" altLang="en-US" sz="2400" b="1" dirty="0">
                <a:latin typeface="宋体" panose="02010600030101010101" pitchFamily="2" charset="-122"/>
              </a:rPr>
              <a:t>换成“</a:t>
            </a:r>
            <a:r>
              <a:rPr lang="en-US" altLang="zh-CN" sz="2400" b="1" dirty="0">
                <a:latin typeface="Times New Roman" panose="02020603050405020304" pitchFamily="18" charset="0"/>
              </a:rPr>
              <a:t>·</a:t>
            </a:r>
            <a:r>
              <a:rPr lang="en-US" altLang="zh-CN" sz="2400" b="1" dirty="0">
                <a:latin typeface="宋体" panose="02010600030101010101" pitchFamily="2" charset="-122"/>
              </a:rPr>
              <a:t>”</a:t>
            </a:r>
            <a:r>
              <a:rPr lang="zh-CN" altLang="en-US" sz="2400" b="1" dirty="0">
                <a:latin typeface="宋体" panose="02010600030101010101" pitchFamily="2" charset="-122"/>
              </a:rPr>
              <a:t>，“</a:t>
            </a:r>
            <a:r>
              <a:rPr lang="en-US" altLang="zh-CN" sz="2400" b="1" dirty="0">
                <a:latin typeface="Times New Roman" panose="02020603050405020304" pitchFamily="18" charset="0"/>
              </a:rPr>
              <a:t>0</a:t>
            </a:r>
            <a:r>
              <a:rPr lang="en-US" altLang="zh-CN" sz="2400" b="1" dirty="0">
                <a:latin typeface="宋体" panose="02010600030101010101" pitchFamily="2" charset="-122"/>
              </a:rPr>
              <a:t>”</a:t>
            </a:r>
            <a:r>
              <a:rPr lang="zh-CN" altLang="en-US" sz="2400" b="1" dirty="0">
                <a:latin typeface="宋体" panose="02010600030101010101" pitchFamily="2" charset="-122"/>
              </a:rPr>
              <a:t>换成“</a:t>
            </a:r>
            <a:r>
              <a:rPr lang="en-US" altLang="zh-CN" sz="2400" b="1" dirty="0">
                <a:latin typeface="Times New Roman" panose="02020603050405020304" pitchFamily="18" charset="0"/>
              </a:rPr>
              <a:t>1</a:t>
            </a:r>
            <a:r>
              <a:rPr lang="en-US" altLang="zh-CN" sz="2400" b="1" dirty="0">
                <a:latin typeface="宋体" panose="02010600030101010101" pitchFamily="2" charset="-122"/>
              </a:rPr>
              <a:t>”</a:t>
            </a:r>
            <a:r>
              <a:rPr lang="zh-CN" altLang="en-US" sz="2400" b="1" dirty="0">
                <a:latin typeface="宋体" panose="02010600030101010101" pitchFamily="2" charset="-122"/>
              </a:rPr>
              <a:t>，“</a:t>
            </a:r>
            <a:r>
              <a:rPr lang="en-US" altLang="zh-CN" sz="2400" b="1" dirty="0">
                <a:latin typeface="Times New Roman" panose="02020603050405020304" pitchFamily="18" charset="0"/>
              </a:rPr>
              <a:t>1</a:t>
            </a:r>
            <a:r>
              <a:rPr lang="en-US" altLang="zh-CN" sz="2400" b="1" dirty="0">
                <a:latin typeface="宋体" panose="02010600030101010101" pitchFamily="2" charset="-122"/>
              </a:rPr>
              <a:t>”</a:t>
            </a:r>
            <a:r>
              <a:rPr lang="zh-CN" altLang="en-US" sz="2400" b="1" dirty="0">
                <a:latin typeface="宋体" panose="02010600030101010101" pitchFamily="2" charset="-122"/>
              </a:rPr>
              <a:t>换成“</a:t>
            </a:r>
            <a:r>
              <a:rPr lang="en-US" altLang="zh-CN" sz="2400" b="1" dirty="0">
                <a:latin typeface="Times New Roman" panose="02020603050405020304" pitchFamily="18" charset="0"/>
              </a:rPr>
              <a:t>0</a:t>
            </a:r>
            <a:r>
              <a:rPr lang="en-US" altLang="zh-CN" sz="2400" b="1" dirty="0">
                <a:latin typeface="宋体" panose="02010600030101010101" pitchFamily="2" charset="-122"/>
              </a:rPr>
              <a:t>”</a:t>
            </a:r>
            <a:r>
              <a:rPr lang="zh-CN" altLang="en-US" sz="2400" b="1" dirty="0">
                <a:latin typeface="宋体" panose="02010600030101010101" pitchFamily="2" charset="-122"/>
              </a:rPr>
              <a:t>，则得到原逻</a:t>
            </a:r>
            <a:endParaRPr lang="zh-CN" altLang="en-US" sz="2400" b="1" dirty="0">
              <a:latin typeface="宋体" panose="02010600030101010101" pitchFamily="2" charset="-122"/>
            </a:endParaRPr>
          </a:p>
          <a:p>
            <a:pPr marL="0" lvl="0" indent="0" eaLnBrk="1" hangingPunct="1">
              <a:spcBef>
                <a:spcPct val="0"/>
              </a:spcBef>
              <a:buNone/>
            </a:pPr>
            <a:r>
              <a:rPr lang="zh-CN" altLang="en-US" sz="2400" b="1" dirty="0">
                <a:latin typeface="宋体" panose="02010600030101010101" pitchFamily="2" charset="-122"/>
              </a:rPr>
              <a:t>辑函数式的对偶式</a:t>
            </a:r>
            <a:r>
              <a:rPr lang="zh-CN" altLang="en-US" sz="2400" b="1" dirty="0">
                <a:latin typeface="Times New Roman" panose="02020603050405020304" pitchFamily="18" charset="0"/>
              </a:rPr>
              <a:t> </a:t>
            </a:r>
            <a:r>
              <a:rPr lang="en-US" altLang="zh-CN" sz="2400" b="1" i="1" dirty="0">
                <a:latin typeface="Times New Roman" panose="02020603050405020304" pitchFamily="18" charset="0"/>
              </a:rPr>
              <a:t>Y </a:t>
            </a:r>
            <a:r>
              <a:rPr lang="en-US" altLang="zh-CN" sz="2400" b="1" dirty="0">
                <a:latin typeface="Times New Roman" panose="02020603050405020304" pitchFamily="18" charset="0"/>
                <a:sym typeface="Symbol" panose="05050102010706020507" pitchFamily="18" charset="2"/>
              </a:rPr>
              <a:t></a:t>
            </a:r>
            <a:r>
              <a:rPr lang="zh-CN" altLang="en-US" sz="2400" b="1" dirty="0">
                <a:latin typeface="宋体" panose="02010600030101010101" pitchFamily="2" charset="-122"/>
              </a:rPr>
              <a:t>。</a:t>
            </a:r>
            <a:r>
              <a:rPr lang="zh-CN" altLang="en-US" sz="2400" b="1" i="1" dirty="0">
                <a:latin typeface="宋体" panose="02010600030101010101" pitchFamily="2" charset="-122"/>
              </a:rPr>
              <a:t> </a:t>
            </a:r>
            <a:endParaRPr lang="zh-CN" altLang="en-US" sz="2400" b="1" i="1" dirty="0">
              <a:latin typeface="宋体" panose="02010600030101010101" pitchFamily="2" charset="-122"/>
            </a:endParaRPr>
          </a:p>
        </p:txBody>
      </p:sp>
      <p:sp>
        <p:nvSpPr>
          <p:cNvPr id="128006" name="Rectangle 6"/>
          <p:cNvSpPr/>
          <p:nvPr/>
        </p:nvSpPr>
        <p:spPr>
          <a:xfrm>
            <a:off x="1257300" y="2460625"/>
            <a:ext cx="7729538" cy="457200"/>
          </a:xfrm>
          <a:prstGeom prst="rect">
            <a:avLst/>
          </a:prstGeom>
          <a:solidFill>
            <a:srgbClr val="99CCFF">
              <a:alpha val="50195"/>
            </a:srgbClr>
          </a:solid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Times New Roman" panose="02020603050405020304" pitchFamily="18" charset="0"/>
              </a:rPr>
              <a:t>对偶规则：两个函数式相等，则它们的对偶式也相等。</a:t>
            </a:r>
            <a:r>
              <a:rPr lang="zh-CN" altLang="en-US" sz="2400" b="1" i="1" dirty="0">
                <a:latin typeface="宋体" panose="02010600030101010101" pitchFamily="2" charset="-122"/>
              </a:rPr>
              <a:t> </a:t>
            </a:r>
            <a:endParaRPr lang="zh-CN" altLang="en-US" sz="2400" b="1" i="1" dirty="0">
              <a:latin typeface="宋体" panose="02010600030101010101" pitchFamily="2" charset="-122"/>
            </a:endParaRPr>
          </a:p>
        </p:txBody>
      </p:sp>
      <p:sp>
        <p:nvSpPr>
          <p:cNvPr id="128008" name="Rectangle 8"/>
          <p:cNvSpPr/>
          <p:nvPr/>
        </p:nvSpPr>
        <p:spPr>
          <a:xfrm>
            <a:off x="1416050" y="6086475"/>
            <a:ext cx="5553075" cy="365125"/>
          </a:xfrm>
          <a:prstGeom prst="rect">
            <a:avLst/>
          </a:prstGeom>
          <a:solidFill>
            <a:srgbClr val="99CCFF">
              <a:alpha val="50195"/>
            </a:srgbClr>
          </a:solidFill>
          <a:ln w="9525">
            <a:noFill/>
          </a:ln>
        </p:spPr>
        <p:txBody>
          <a:bodyPr lIns="0" tIns="0" rIns="0" bIns="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Times New Roman" panose="02020603050405020304" pitchFamily="18" charset="0"/>
              </a:rPr>
              <a:t>应用对偶规则可将基本公式和定律扩展。 </a:t>
            </a:r>
            <a:endParaRPr lang="zh-CN" altLang="en-US" sz="2400" b="1" dirty="0">
              <a:latin typeface="Times New Roman" panose="02020603050405020304" pitchFamily="18" charset="0"/>
            </a:endParaRPr>
          </a:p>
        </p:txBody>
      </p:sp>
      <p:grpSp>
        <p:nvGrpSpPr>
          <p:cNvPr id="128044" name="Group 44"/>
          <p:cNvGrpSpPr/>
          <p:nvPr/>
        </p:nvGrpSpPr>
        <p:grpSpPr>
          <a:xfrm>
            <a:off x="1335088" y="3160713"/>
            <a:ext cx="6334125" cy="2617787"/>
            <a:chOff x="841" y="1991"/>
            <a:chExt cx="3990" cy="1649"/>
          </a:xfrm>
        </p:grpSpPr>
        <p:sp>
          <p:nvSpPr>
            <p:cNvPr id="40967" name="Rectangle 7"/>
            <p:cNvSpPr/>
            <p:nvPr/>
          </p:nvSpPr>
          <p:spPr>
            <a:xfrm>
              <a:off x="865" y="1991"/>
              <a:ext cx="3966" cy="460"/>
            </a:xfrm>
            <a:prstGeom prst="rect">
              <a:avLst/>
            </a:prstGeom>
            <a:solidFill>
              <a:srgbClr val="CCCC00">
                <a:alpha val="50195"/>
              </a:srgbClr>
            </a:solidFill>
            <a:ln w="9525">
              <a:noFill/>
            </a:ln>
          </p:spPr>
          <p:txBody>
            <a:bodyPr lIns="0" tIns="0" rIns="0" bIns="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Times New Roman" panose="02020603050405020304" pitchFamily="18" charset="0"/>
                </a:rPr>
                <a:t>变换时注意：</a:t>
              </a:r>
              <a:r>
                <a:rPr lang="en-US" altLang="zh-CN" sz="2400" b="1" dirty="0">
                  <a:latin typeface="宋体" panose="02010600030101010101" pitchFamily="2" charset="-122"/>
                  <a:sym typeface="Wingdings" panose="05000000000000000000" pitchFamily="2" charset="2"/>
                </a:rPr>
                <a:t>(</a:t>
              </a:r>
              <a:r>
                <a:rPr lang="en-US" altLang="zh-CN" sz="2400" b="1" dirty="0">
                  <a:latin typeface="Times New Roman" panose="02020603050405020304" pitchFamily="18" charset="0"/>
                  <a:sym typeface="Wingdings" panose="05000000000000000000" pitchFamily="2" charset="2"/>
                </a:rPr>
                <a:t>1</a:t>
              </a:r>
              <a:r>
                <a:rPr lang="en-US" altLang="zh-CN" sz="2400" b="1" dirty="0">
                  <a:latin typeface="宋体" panose="02010600030101010101" pitchFamily="2" charset="-122"/>
                  <a:sym typeface="Wingdings" panose="05000000000000000000" pitchFamily="2" charset="2"/>
                </a:rPr>
                <a:t>)</a:t>
              </a:r>
              <a:r>
                <a:rPr lang="en-US" altLang="zh-CN" sz="2400" b="1" dirty="0">
                  <a:latin typeface="Times New Roman" panose="02020603050405020304" pitchFamily="18" charset="0"/>
                  <a:sym typeface="Wingdings" panose="05000000000000000000" pitchFamily="2" charset="2"/>
                </a:rPr>
                <a:t> </a:t>
              </a:r>
              <a:r>
                <a:rPr lang="zh-CN" altLang="en-US" sz="2400" b="1" dirty="0">
                  <a:latin typeface="Times New Roman" panose="02020603050405020304" pitchFamily="18" charset="0"/>
                </a:rPr>
                <a:t>变量不改变</a:t>
              </a:r>
              <a:endParaRPr lang="zh-CN" altLang="en-US" sz="2400" b="1" dirty="0">
                <a:latin typeface="Times New Roman" panose="02020603050405020304" pitchFamily="18" charset="0"/>
              </a:endParaRPr>
            </a:p>
            <a:p>
              <a:pPr marL="0" lvl="0" indent="0" eaLnBrk="1" hangingPunct="1">
                <a:spcBef>
                  <a:spcPct val="0"/>
                </a:spcBef>
                <a:buNone/>
              </a:pPr>
              <a:r>
                <a:rPr lang="zh-CN" altLang="en-US" sz="2400" b="1" dirty="0">
                  <a:latin typeface="Times New Roman" panose="02020603050405020304" pitchFamily="18" charset="0"/>
                </a:rPr>
                <a:t>                   </a:t>
              </a:r>
              <a:r>
                <a:rPr lang="zh-CN" altLang="en-US" sz="2400" b="1" baseline="-25000" dirty="0">
                  <a:latin typeface="Times New Roman" panose="02020603050405020304" pitchFamily="18" charset="0"/>
                </a:rPr>
                <a:t>        </a:t>
              </a:r>
              <a:r>
                <a:rPr lang="en-US" altLang="zh-CN" sz="2400" b="1" dirty="0">
                  <a:latin typeface="宋体" panose="02010600030101010101" pitchFamily="2" charset="-122"/>
                </a:rPr>
                <a:t>(</a:t>
              </a:r>
              <a:r>
                <a:rPr lang="en-US" altLang="zh-CN" sz="2400" b="1" dirty="0">
                  <a:latin typeface="Times New Roman" panose="02020603050405020304" pitchFamily="18" charset="0"/>
                </a:rPr>
                <a:t>2</a:t>
              </a:r>
              <a:r>
                <a:rPr lang="en-US" altLang="zh-CN" sz="2400" b="1" dirty="0">
                  <a:latin typeface="宋体" panose="02010600030101010101" pitchFamily="2" charset="-122"/>
                </a:rPr>
                <a:t>)</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不能改变原来的运算顺序</a:t>
              </a:r>
              <a:endParaRPr lang="zh-CN" altLang="en-US" sz="2400" b="1" dirty="0">
                <a:latin typeface="Times New Roman" panose="02020603050405020304" pitchFamily="18" charset="0"/>
              </a:endParaRPr>
            </a:p>
          </p:txBody>
        </p:sp>
        <p:sp>
          <p:nvSpPr>
            <p:cNvPr id="40968" name="Text Box 17"/>
            <p:cNvSpPr txBox="1"/>
            <p:nvPr/>
          </p:nvSpPr>
          <p:spPr>
            <a:xfrm>
              <a:off x="1191" y="2499"/>
              <a:ext cx="1122"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i="1" dirty="0">
                  <a:latin typeface="Times New Roman" panose="02020603050405020304" pitchFamily="18" charset="0"/>
                </a:rPr>
                <a:t>A </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AB </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A </a:t>
              </a:r>
              <a:endParaRPr lang="en-US" altLang="zh-CN" sz="2400" b="1" dirty="0">
                <a:latin typeface="Times New Roman" panose="02020603050405020304" pitchFamily="18" charset="0"/>
              </a:endParaRPr>
            </a:p>
          </p:txBody>
        </p:sp>
        <p:sp>
          <p:nvSpPr>
            <p:cNvPr id="40969" name="AutoShape 22"/>
            <p:cNvSpPr/>
            <p:nvPr/>
          </p:nvSpPr>
          <p:spPr>
            <a:xfrm>
              <a:off x="2223" y="2613"/>
              <a:ext cx="250" cy="111"/>
            </a:xfrm>
            <a:prstGeom prst="notchedRightArrow">
              <a:avLst>
                <a:gd name="adj1" fmla="val 50000"/>
                <a:gd name="adj2" fmla="val 56306"/>
              </a:avLst>
            </a:prstGeom>
            <a:solidFill>
              <a:srgbClr val="99CCFF"/>
            </a:solidFill>
            <a:ln w="9525" cap="flat" cmpd="sng">
              <a:solidFill>
                <a:schemeClr val="tx1"/>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40970" name="Text Box 33"/>
            <p:cNvSpPr txBox="1"/>
            <p:nvPr/>
          </p:nvSpPr>
          <p:spPr>
            <a:xfrm>
              <a:off x="2528" y="2507"/>
              <a:ext cx="136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i="1" dirty="0">
                  <a:latin typeface="Times New Roman" panose="02020603050405020304" pitchFamily="18" charset="0"/>
                </a:rPr>
                <a:t>A </a:t>
              </a:r>
              <a:r>
                <a:rPr lang="en-US" altLang="zh-CN" sz="2400" b="1" i="1" dirty="0">
                  <a:latin typeface="Times New Roman" panose="02020603050405020304" pitchFamily="18" charset="0"/>
                </a:rPr>
                <a:t>· </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A </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B</a:t>
              </a:r>
              <a:r>
                <a:rPr lang="en-US" altLang="zh-CN" sz="2400" b="1" dirty="0">
                  <a:latin typeface="Times New Roman" panose="02020603050405020304" pitchFamily="18" charset="0"/>
                </a:rPr>
                <a:t>) = </a:t>
              </a:r>
              <a:r>
                <a:rPr lang="en-US" altLang="zh-CN" sz="2400" b="1" i="1" dirty="0">
                  <a:latin typeface="Times New Roman" panose="02020603050405020304" pitchFamily="18" charset="0"/>
                </a:rPr>
                <a:t>A</a:t>
              </a:r>
              <a:r>
                <a:rPr lang="en-US" altLang="zh-CN" sz="2400" b="1" dirty="0">
                  <a:latin typeface="Times New Roman" panose="02020603050405020304" pitchFamily="18" charset="0"/>
                </a:rPr>
                <a:t>       </a:t>
              </a:r>
              <a:endParaRPr lang="en-US" altLang="zh-CN" sz="2400" b="1" dirty="0">
                <a:latin typeface="Times New Roman" panose="02020603050405020304" pitchFamily="18" charset="0"/>
              </a:endParaRPr>
            </a:p>
          </p:txBody>
        </p:sp>
        <p:graphicFrame>
          <p:nvGraphicFramePr>
            <p:cNvPr id="40971" name="Object 34"/>
            <p:cNvGraphicFramePr>
              <a:graphicFrameLocks noChangeAspect="1"/>
            </p:cNvGraphicFramePr>
            <p:nvPr/>
          </p:nvGraphicFramePr>
          <p:xfrm>
            <a:off x="1170" y="2893"/>
            <a:ext cx="1830" cy="222"/>
          </p:xfrm>
          <a:graphic>
            <a:graphicData uri="http://schemas.openxmlformats.org/presentationml/2006/ole">
              <mc:AlternateContent xmlns:mc="http://schemas.openxmlformats.org/markup-compatibility/2006">
                <mc:Choice xmlns:v="urn:schemas-microsoft-com:vml" Requires="v">
                  <p:oleObj spid="_x0000_s3133" name="" r:id="rId1" imgW="2905125" imgH="352425" progId="Paint.Picture">
                    <p:embed/>
                  </p:oleObj>
                </mc:Choice>
                <mc:Fallback>
                  <p:oleObj name="" r:id="rId1" imgW="2905125" imgH="352425" progId="Paint.Picture">
                    <p:embed/>
                    <p:pic>
                      <p:nvPicPr>
                        <p:cNvPr id="0" name="图片 3132"/>
                        <p:cNvPicPr/>
                        <p:nvPr/>
                      </p:nvPicPr>
                      <p:blipFill>
                        <a:blip r:embed="rId2"/>
                        <a:stretch>
                          <a:fillRect/>
                        </a:stretch>
                      </p:blipFill>
                      <p:spPr>
                        <a:xfrm>
                          <a:off x="1170" y="2893"/>
                          <a:ext cx="1830" cy="222"/>
                        </a:xfrm>
                        <a:prstGeom prst="rect">
                          <a:avLst/>
                        </a:prstGeom>
                        <a:noFill/>
                        <a:ln w="38100">
                          <a:noFill/>
                          <a:miter/>
                        </a:ln>
                      </p:spPr>
                    </p:pic>
                  </p:oleObj>
                </mc:Fallback>
              </mc:AlternateContent>
            </a:graphicData>
          </a:graphic>
        </p:graphicFrame>
        <p:graphicFrame>
          <p:nvGraphicFramePr>
            <p:cNvPr id="40972" name="Object 35"/>
            <p:cNvGraphicFramePr>
              <a:graphicFrameLocks noChangeAspect="1"/>
            </p:cNvGraphicFramePr>
            <p:nvPr/>
          </p:nvGraphicFramePr>
          <p:xfrm>
            <a:off x="841" y="3424"/>
            <a:ext cx="2622" cy="216"/>
          </p:xfrm>
          <a:graphic>
            <a:graphicData uri="http://schemas.openxmlformats.org/presentationml/2006/ole">
              <mc:AlternateContent xmlns:mc="http://schemas.openxmlformats.org/markup-compatibility/2006">
                <mc:Choice xmlns:v="urn:schemas-microsoft-com:vml" Requires="v">
                  <p:oleObj spid="_x0000_s3127" name="" r:id="rId3" imgW="4162425" imgH="342900" progId="Paint.Picture">
                    <p:embed/>
                  </p:oleObj>
                </mc:Choice>
                <mc:Fallback>
                  <p:oleObj name="" r:id="rId3" imgW="4162425" imgH="342900" progId="Paint.Picture">
                    <p:embed/>
                    <p:pic>
                      <p:nvPicPr>
                        <p:cNvPr id="0" name="图片 3126"/>
                        <p:cNvPicPr/>
                        <p:nvPr/>
                      </p:nvPicPr>
                      <p:blipFill>
                        <a:blip r:embed="rId4"/>
                        <a:stretch>
                          <a:fillRect/>
                        </a:stretch>
                      </p:blipFill>
                      <p:spPr>
                        <a:xfrm>
                          <a:off x="841" y="3424"/>
                          <a:ext cx="2622" cy="216"/>
                        </a:xfrm>
                        <a:prstGeom prst="rect">
                          <a:avLst/>
                        </a:prstGeom>
                        <a:noFill/>
                        <a:ln w="38100">
                          <a:noFill/>
                          <a:miter/>
                        </a:ln>
                      </p:spPr>
                    </p:pic>
                  </p:oleObj>
                </mc:Fallback>
              </mc:AlternateContent>
            </a:graphicData>
          </a:graphic>
        </p:graphicFrame>
        <p:sp>
          <p:nvSpPr>
            <p:cNvPr id="40973" name="AutoShape 37"/>
            <p:cNvSpPr/>
            <p:nvPr/>
          </p:nvSpPr>
          <p:spPr>
            <a:xfrm rot="5400000">
              <a:off x="1952" y="3220"/>
              <a:ext cx="218" cy="103"/>
            </a:xfrm>
            <a:prstGeom prst="notchedRightArrow">
              <a:avLst>
                <a:gd name="adj1" fmla="val 50000"/>
                <a:gd name="adj2" fmla="val 52912"/>
              </a:avLst>
            </a:prstGeom>
            <a:solidFill>
              <a:srgbClr val="99CCFF"/>
            </a:solidFill>
            <a:ln w="9525" cap="flat" cmpd="sng">
              <a:solidFill>
                <a:schemeClr val="tx1"/>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40974" name="AutoShape 38"/>
            <p:cNvSpPr/>
            <p:nvPr/>
          </p:nvSpPr>
          <p:spPr>
            <a:xfrm>
              <a:off x="863" y="2594"/>
              <a:ext cx="144" cy="144"/>
            </a:xfrm>
            <a:prstGeom prst="sun">
              <a:avLst>
                <a:gd name="adj" fmla="val 25000"/>
              </a:avLst>
            </a:prstGeom>
            <a:solidFill>
              <a:schemeClr val="tx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40975" name="AutoShape 39"/>
            <p:cNvSpPr/>
            <p:nvPr/>
          </p:nvSpPr>
          <p:spPr>
            <a:xfrm>
              <a:off x="871" y="2941"/>
              <a:ext cx="144" cy="144"/>
            </a:xfrm>
            <a:prstGeom prst="sun">
              <a:avLst>
                <a:gd name="adj" fmla="val 25000"/>
              </a:avLst>
            </a:prstGeom>
            <a:solidFill>
              <a:schemeClr val="tx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grpSp>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28002"/>
                                        </p:tgtEl>
                                        <p:attrNameLst>
                                          <p:attrName>style.visibility</p:attrName>
                                        </p:attrNameLst>
                                      </p:cBhvr>
                                      <p:to>
                                        <p:strVal val="visible"/>
                                      </p:to>
                                    </p:set>
                                    <p:animEffect transition="in" filter="dissolve">
                                      <p:cBhvr>
                                        <p:cTn id="7" dur="500"/>
                                        <p:tgtEl>
                                          <p:spTgt spid="128002"/>
                                        </p:tgtEl>
                                      </p:cBhvr>
                                    </p:animEffect>
                                  </p:childTnLst>
                                </p:cTn>
                              </p:par>
                            </p:childTnLst>
                          </p:cTn>
                        </p:par>
                        <p:par>
                          <p:cTn id="8" fill="hold">
                            <p:stCondLst>
                              <p:cond delay="500"/>
                            </p:stCondLst>
                            <p:childTnLst>
                              <p:par>
                                <p:cTn id="9" presetID="23" presetClass="entr" presetSubtype="16" fill="hold" grpId="0" nodeType="afterEffect">
                                  <p:stCondLst>
                                    <p:cond delay="0"/>
                                  </p:stCondLst>
                                  <p:childTnLst>
                                    <p:set>
                                      <p:cBhvr>
                                        <p:cTn id="10" dur="1" fill="hold">
                                          <p:stCondLst>
                                            <p:cond delay="0"/>
                                          </p:stCondLst>
                                        </p:cTn>
                                        <p:tgtEl>
                                          <p:spTgt spid="128004"/>
                                        </p:tgtEl>
                                        <p:attrNameLst>
                                          <p:attrName>style.visibility</p:attrName>
                                        </p:attrNameLst>
                                      </p:cBhvr>
                                      <p:to>
                                        <p:strVal val="visible"/>
                                      </p:to>
                                    </p:set>
                                    <p:anim calcmode="lin" valueType="num">
                                      <p:cBhvr>
                                        <p:cTn id="11" dur="500" fill="hold"/>
                                        <p:tgtEl>
                                          <p:spTgt spid="128004"/>
                                        </p:tgtEl>
                                        <p:attrNameLst>
                                          <p:attrName>ppt_w</p:attrName>
                                        </p:attrNameLst>
                                      </p:cBhvr>
                                      <p:tavLst>
                                        <p:tav tm="0">
                                          <p:val>
                                            <p:fltVal val="0.000000"/>
                                          </p:val>
                                        </p:tav>
                                        <p:tav tm="100000">
                                          <p:val>
                                            <p:strVal val="#ppt_w"/>
                                          </p:val>
                                        </p:tav>
                                      </p:tavLst>
                                    </p:anim>
                                    <p:anim calcmode="lin" valueType="num">
                                      <p:cBhvr>
                                        <p:cTn id="12" dur="500" fill="hold"/>
                                        <p:tgtEl>
                                          <p:spTgt spid="128004"/>
                                        </p:tgtEl>
                                        <p:attrNameLst>
                                          <p:attrName>ppt_h</p:attrName>
                                        </p:attrNameLst>
                                      </p:cBhvr>
                                      <p:tavLst>
                                        <p:tav tm="0">
                                          <p:val>
                                            <p:fltVal val="0.000000"/>
                                          </p:val>
                                        </p:tav>
                                        <p:tav tm="100000">
                                          <p:val>
                                            <p:strVal val="#ppt_h"/>
                                          </p:val>
                                        </p:tav>
                                      </p:tavLst>
                                    </p:anim>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128006"/>
                                        </p:tgtEl>
                                        <p:attrNameLst>
                                          <p:attrName>style.visibility</p:attrName>
                                        </p:attrNameLst>
                                      </p:cBhvr>
                                      <p:to>
                                        <p:strVal val="visible"/>
                                      </p:to>
                                    </p:set>
                                    <p:animEffect transition="in" filter="wipe(left)">
                                      <p:cBhvr>
                                        <p:cTn id="16" dur="500"/>
                                        <p:tgtEl>
                                          <p:spTgt spid="128006"/>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128044"/>
                                        </p:tgtEl>
                                        <p:attrNameLst>
                                          <p:attrName>style.visibility</p:attrName>
                                        </p:attrNameLst>
                                      </p:cBhvr>
                                      <p:to>
                                        <p:strVal val="visible"/>
                                      </p:to>
                                    </p:set>
                                    <p:animEffect transition="in" filter="dissolve">
                                      <p:cBhvr>
                                        <p:cTn id="21" dur="500"/>
                                        <p:tgtEl>
                                          <p:spTgt spid="128044"/>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128008"/>
                                        </p:tgtEl>
                                        <p:attrNameLst>
                                          <p:attrName>style.visibility</p:attrName>
                                        </p:attrNameLst>
                                      </p:cBhvr>
                                      <p:to>
                                        <p:strVal val="visible"/>
                                      </p:to>
                                    </p:set>
                                    <p:anim calcmode="lin" valueType="num">
                                      <p:cBhvr additive="base">
                                        <p:cTn id="26" dur="500" fill="hold"/>
                                        <p:tgtEl>
                                          <p:spTgt spid="128008"/>
                                        </p:tgtEl>
                                        <p:attrNameLst>
                                          <p:attrName>ppt_x</p:attrName>
                                        </p:attrNameLst>
                                      </p:cBhvr>
                                      <p:tavLst>
                                        <p:tav tm="0">
                                          <p:val>
                                            <p:strVal val="#ppt_x"/>
                                          </p:val>
                                        </p:tav>
                                        <p:tav tm="100000">
                                          <p:val>
                                            <p:strVal val="#ppt_x"/>
                                          </p:val>
                                        </p:tav>
                                      </p:tavLst>
                                    </p:anim>
                                    <p:anim calcmode="lin" valueType="num">
                                      <p:cBhvr additive="base">
                                        <p:cTn id="27" dur="500" fill="hold"/>
                                        <p:tgtEl>
                                          <p:spTgt spid="1280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2" grpId="0"/>
      <p:bldP spid="128004" grpId="0" animBg="1"/>
      <p:bldP spid="128006" grpId="0" animBg="1"/>
      <p:bldP spid="12800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6094" name="Group 14"/>
          <p:cNvGrpSpPr/>
          <p:nvPr/>
        </p:nvGrpSpPr>
        <p:grpSpPr>
          <a:xfrm>
            <a:off x="755650" y="2276475"/>
            <a:ext cx="5948363" cy="1812925"/>
            <a:chOff x="521" y="1743"/>
            <a:chExt cx="3747" cy="1142"/>
          </a:xfrm>
        </p:grpSpPr>
        <p:graphicFrame>
          <p:nvGraphicFramePr>
            <p:cNvPr id="41989" name="Object 10"/>
            <p:cNvGraphicFramePr>
              <a:graphicFrameLocks noChangeAspect="1"/>
            </p:cNvGraphicFramePr>
            <p:nvPr/>
          </p:nvGraphicFramePr>
          <p:xfrm>
            <a:off x="1292" y="2160"/>
            <a:ext cx="2976" cy="725"/>
          </p:xfrm>
          <a:graphic>
            <a:graphicData uri="http://schemas.openxmlformats.org/presentationml/2006/ole">
              <mc:AlternateContent xmlns:mc="http://schemas.openxmlformats.org/markup-compatibility/2006">
                <mc:Choice xmlns:v="urn:schemas-microsoft-com:vml" Requires="v">
                  <p:oleObj spid="_x0000_s3135" name="" r:id="rId1" imgW="1981200" imgH="482600" progId="Equation.3">
                    <p:embed/>
                  </p:oleObj>
                </mc:Choice>
                <mc:Fallback>
                  <p:oleObj name="" r:id="rId1" imgW="1981200" imgH="482600" progId="Equation.3">
                    <p:embed/>
                    <p:pic>
                      <p:nvPicPr>
                        <p:cNvPr id="0" name="图片 3134"/>
                        <p:cNvPicPr/>
                        <p:nvPr/>
                      </p:nvPicPr>
                      <p:blipFill>
                        <a:blip r:embed="rId2"/>
                        <a:stretch>
                          <a:fillRect/>
                        </a:stretch>
                      </p:blipFill>
                      <p:spPr>
                        <a:xfrm>
                          <a:off x="1292" y="2160"/>
                          <a:ext cx="2976" cy="725"/>
                        </a:xfrm>
                        <a:prstGeom prst="rect">
                          <a:avLst/>
                        </a:prstGeom>
                        <a:noFill/>
                        <a:ln w="38100">
                          <a:noFill/>
                          <a:miter/>
                        </a:ln>
                      </p:spPr>
                    </p:pic>
                  </p:oleObj>
                </mc:Fallback>
              </mc:AlternateContent>
            </a:graphicData>
          </a:graphic>
        </p:graphicFrame>
        <p:sp>
          <p:nvSpPr>
            <p:cNvPr id="41990" name="Rectangle 12"/>
            <p:cNvSpPr/>
            <p:nvPr/>
          </p:nvSpPr>
          <p:spPr>
            <a:xfrm>
              <a:off x="521" y="1743"/>
              <a:ext cx="643" cy="29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1800" dirty="0"/>
                <a:t> </a:t>
              </a:r>
              <a:r>
                <a:rPr lang="zh-CN" altLang="en-US" sz="2400" b="1" dirty="0">
                  <a:solidFill>
                    <a:srgbClr val="FF0000"/>
                  </a:solidFill>
                  <a:latin typeface="楷体_GB2312" pitchFamily="49" charset="-122"/>
                  <a:ea typeface="楷体_GB2312" pitchFamily="49" charset="-122"/>
                </a:rPr>
                <a:t>例：</a:t>
              </a:r>
              <a:r>
                <a:rPr lang="zh-CN" altLang="en-US" sz="2400" dirty="0">
                  <a:latin typeface="楷体_GB2312" pitchFamily="49" charset="-122"/>
                  <a:ea typeface="楷体_GB2312" pitchFamily="49" charset="-122"/>
                </a:rPr>
                <a:t> </a:t>
              </a:r>
              <a:endParaRPr lang="zh-CN" altLang="en-US" sz="2400" dirty="0">
                <a:latin typeface="楷体_GB2312" pitchFamily="49" charset="-122"/>
                <a:ea typeface="楷体_GB2312" pitchFamily="49" charset="-122"/>
              </a:endParaRPr>
            </a:p>
          </p:txBody>
        </p:sp>
      </p:grpSp>
      <p:sp>
        <p:nvSpPr>
          <p:cNvPr id="41987" name="Text Box 15"/>
          <p:cNvSpPr txBox="1"/>
          <p:nvPr/>
        </p:nvSpPr>
        <p:spPr>
          <a:xfrm>
            <a:off x="684213" y="404813"/>
            <a:ext cx="7777162" cy="173513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50000"/>
              </a:lnSpc>
              <a:spcBef>
                <a:spcPct val="50000"/>
              </a:spcBef>
              <a:buNone/>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证明两个逻辑式相等，有时可通过证明它们的对偶式相等来完成，因为有些情况下证明其对偶式相等更加容易。</a:t>
            </a:r>
            <a:endParaRPr lang="zh-CN" altLang="en-US" sz="2400" b="1" dirty="0">
              <a:latin typeface="Times New Roman" panose="02020603050405020304" pitchFamily="18" charset="0"/>
            </a:endParaRPr>
          </a:p>
        </p:txBody>
      </p:sp>
      <p:sp>
        <p:nvSpPr>
          <p:cNvPr id="41988" name="矩形 1"/>
          <p:cNvSpPr/>
          <p:nvPr/>
        </p:nvSpPr>
        <p:spPr>
          <a:xfrm>
            <a:off x="611188" y="5013325"/>
            <a:ext cx="8289925" cy="1200150"/>
          </a:xfrm>
          <a:prstGeom prst="rect">
            <a:avLst/>
          </a:prstGeom>
          <a:noFill/>
          <a:ln w="9525">
            <a:noFill/>
          </a:ln>
        </p:spPr>
        <p:txBody>
          <a:bodyPr>
            <a:spAutoFit/>
          </a:bodyPr>
          <a:p>
            <a:r>
              <a:rPr lang="zh-CN" altLang="en-US" sz="2400" b="1" dirty="0">
                <a:latin typeface="Times New Roman" panose="02020603050405020304" pitchFamily="18" charset="0"/>
              </a:rPr>
              <a:t>        </a:t>
            </a:r>
            <a:r>
              <a:rPr lang="zh-CN" altLang="en-US" sz="2400" b="1" dirty="0">
                <a:solidFill>
                  <a:srgbClr val="FF0000"/>
                </a:solidFill>
                <a:latin typeface="Times New Roman" panose="02020603050405020304" pitchFamily="18" charset="0"/>
              </a:rPr>
              <a:t>对偶性</a:t>
            </a:r>
            <a:r>
              <a:rPr lang="zh-CN" altLang="en-US" sz="2400" b="1" dirty="0">
                <a:latin typeface="Times New Roman" panose="02020603050405020304" pitchFamily="18" charset="0"/>
              </a:rPr>
              <a:t>意味着每个逻辑函数至少可以用</a:t>
            </a:r>
            <a:r>
              <a:rPr lang="zh-CN" altLang="en-US" sz="2400" b="1" dirty="0">
                <a:solidFill>
                  <a:srgbClr val="FF0000"/>
                </a:solidFill>
                <a:latin typeface="Times New Roman" panose="02020603050405020304" pitchFamily="18" charset="0"/>
              </a:rPr>
              <a:t>两种不同</a:t>
            </a:r>
            <a:r>
              <a:rPr lang="zh-CN" altLang="en-US" sz="2400" b="1" dirty="0">
                <a:latin typeface="Times New Roman" panose="02020603050405020304" pitchFamily="18" charset="0"/>
              </a:rPr>
              <a:t>的布尔代数表达式表示。其中一种表达式比另一种表达式的物理实现更简单，因而更被认可。</a:t>
            </a:r>
            <a:endParaRPr lang="zh-CN" altLang="en-US" sz="2400" b="1" dirty="0">
              <a:latin typeface="Times New Roman" panose="02020603050405020304" pitchFamily="18" charset="0"/>
            </a:endParaRPr>
          </a:p>
        </p:txBody>
      </p:sp>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6094"/>
                                        </p:tgtEl>
                                        <p:attrNameLst>
                                          <p:attrName>style.visibility</p:attrName>
                                        </p:attrNameLst>
                                      </p:cBhvr>
                                      <p:to>
                                        <p:strVal val="visible"/>
                                      </p:to>
                                    </p:set>
                                    <p:animEffect transition="in" filter="blinds(horizontal)">
                                      <p:cBhvr>
                                        <p:cTn id="7" dur="500"/>
                                        <p:tgtEl>
                                          <p:spTgt spid="460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Grp="1"/>
          </p:cNvSpPr>
          <p:nvPr>
            <p:ph type="title"/>
          </p:nvPr>
        </p:nvSpPr>
        <p:spPr>
          <a:xfrm>
            <a:off x="250825" y="28575"/>
            <a:ext cx="8229600" cy="1143000"/>
          </a:xfrm>
          <a:ln/>
        </p:spPr>
        <p:txBody>
          <a:bodyPr vert="horz" wrap="square" lIns="91440" tIns="45720" rIns="91440" bIns="45720" anchor="ctr" anchorCtr="0"/>
          <a:p>
            <a:pPr algn="l" eaLnBrk="1" hangingPunct="1"/>
            <a:r>
              <a:rPr lang="en-US" altLang="zh-CN" dirty="0"/>
              <a:t>3</a:t>
            </a:r>
            <a:r>
              <a:rPr lang="zh-CN" altLang="en-US" dirty="0"/>
              <a:t>个</a:t>
            </a:r>
            <a:r>
              <a:rPr lang="zh-CN" altLang="en-US" sz="3200" dirty="0"/>
              <a:t>规则</a:t>
            </a:r>
            <a:r>
              <a:rPr lang="zh-CN" altLang="en-US" dirty="0"/>
              <a:t> </a:t>
            </a:r>
            <a:endParaRPr lang="zh-CN" altLang="en-US" dirty="0"/>
          </a:p>
        </p:txBody>
      </p:sp>
      <p:sp>
        <p:nvSpPr>
          <p:cNvPr id="43011" name="Rectangle 3"/>
          <p:cNvSpPr>
            <a:spLocks noGrp="1"/>
          </p:cNvSpPr>
          <p:nvPr>
            <p:ph idx="1"/>
          </p:nvPr>
        </p:nvSpPr>
        <p:spPr>
          <a:xfrm>
            <a:off x="179388" y="990600"/>
            <a:ext cx="8785225" cy="4876800"/>
          </a:xfrm>
          <a:ln/>
        </p:spPr>
        <p:txBody>
          <a:bodyPr vert="horz" wrap="square" lIns="91440" tIns="45720" rIns="91440" bIns="45720" anchor="t" anchorCtr="0"/>
          <a:p>
            <a:pPr marL="457200" indent="-457200" eaLnBrk="1" hangingPunct="1">
              <a:lnSpc>
                <a:spcPts val="3200"/>
              </a:lnSpc>
              <a:buFontTx/>
              <a:buAutoNum type="arabicPeriod"/>
            </a:pPr>
            <a:r>
              <a:rPr lang="zh-CN" altLang="en-US" sz="2400" dirty="0">
                <a:solidFill>
                  <a:srgbClr val="FF0000"/>
                </a:solidFill>
              </a:rPr>
              <a:t>代入规则</a:t>
            </a:r>
            <a:r>
              <a:rPr lang="zh-CN" altLang="en-US" sz="2400" dirty="0"/>
              <a:t>：对任何一个含有原变量</a:t>
            </a:r>
            <a:r>
              <a:rPr lang="en-US" altLang="zh-CN" sz="2400" i="1" dirty="0"/>
              <a:t>A</a:t>
            </a:r>
            <a:r>
              <a:rPr lang="zh-CN" altLang="en-US" sz="2400" dirty="0"/>
              <a:t>的逻辑等式，如果在所有出现原变量</a:t>
            </a:r>
            <a:r>
              <a:rPr lang="en-US" altLang="zh-CN" sz="2400" i="1" dirty="0"/>
              <a:t>A</a:t>
            </a:r>
            <a:r>
              <a:rPr lang="zh-CN" altLang="en-US" sz="2400" dirty="0"/>
              <a:t>的位置处都代入一个逻辑函数</a:t>
            </a:r>
            <a:r>
              <a:rPr lang="en-US" altLang="zh-CN" sz="2400" i="1" dirty="0"/>
              <a:t>F</a:t>
            </a:r>
            <a:r>
              <a:rPr lang="zh-CN" altLang="en-US" sz="2400" dirty="0"/>
              <a:t>，则原逻辑等式仍然成立。 </a:t>
            </a:r>
            <a:endParaRPr lang="zh-CN" altLang="en-US" sz="2400" dirty="0"/>
          </a:p>
          <a:p>
            <a:pPr marL="457200" indent="-457200" eaLnBrk="1" hangingPunct="1">
              <a:lnSpc>
                <a:spcPts val="3200"/>
              </a:lnSpc>
              <a:buFontTx/>
              <a:buAutoNum type="arabicPeriod"/>
            </a:pPr>
            <a:r>
              <a:rPr lang="zh-CN" altLang="en-US" sz="2400" dirty="0">
                <a:solidFill>
                  <a:srgbClr val="FF0000"/>
                </a:solidFill>
              </a:rPr>
              <a:t>反演规则</a:t>
            </a:r>
            <a:r>
              <a:rPr lang="zh-CN" altLang="en-US" sz="2400" dirty="0"/>
              <a:t>：在一个逻辑函数中，若将函数中所有原来的“与”运算变成“或”运算，所有原来的“或”运算变成“与”运算，</a:t>
            </a:r>
            <a:r>
              <a:rPr lang="zh-CN" altLang="en-US" sz="2400" dirty="0">
                <a:solidFill>
                  <a:srgbClr val="FF0000"/>
                </a:solidFill>
              </a:rPr>
              <a:t>原变量变成反变量，反变量变成原变量</a:t>
            </a:r>
            <a:r>
              <a:rPr lang="zh-CN" altLang="en-US" sz="2400" dirty="0"/>
              <a:t>，同时函数中的所有“</a:t>
            </a:r>
            <a:r>
              <a:rPr lang="en-US" altLang="zh-CN" sz="2400" dirty="0"/>
              <a:t>1”</a:t>
            </a:r>
            <a:r>
              <a:rPr lang="zh-CN" altLang="en-US" sz="2400" dirty="0"/>
              <a:t>变成“</a:t>
            </a:r>
            <a:r>
              <a:rPr lang="en-US" altLang="zh-CN" sz="2400" dirty="0"/>
              <a:t>0”</a:t>
            </a:r>
            <a:r>
              <a:rPr lang="zh-CN" altLang="en-US" sz="2400" dirty="0"/>
              <a:t>，且“</a:t>
            </a:r>
            <a:r>
              <a:rPr lang="en-US" altLang="zh-CN" sz="2400" dirty="0"/>
              <a:t>0”</a:t>
            </a:r>
            <a:r>
              <a:rPr lang="zh-CN" altLang="en-US" sz="2400" dirty="0"/>
              <a:t>变成“</a:t>
            </a:r>
            <a:r>
              <a:rPr lang="en-US" altLang="zh-CN" sz="2400" dirty="0"/>
              <a:t>1”</a:t>
            </a:r>
            <a:r>
              <a:rPr lang="zh-CN" altLang="en-US" sz="2400" dirty="0"/>
              <a:t>，这样所得到的一个新函数就称为原函数的反函数。 </a:t>
            </a:r>
            <a:endParaRPr lang="zh-CN" altLang="en-US" sz="2400" dirty="0"/>
          </a:p>
          <a:p>
            <a:pPr marL="457200" indent="-457200" eaLnBrk="1" hangingPunct="1">
              <a:lnSpc>
                <a:spcPts val="3200"/>
              </a:lnSpc>
              <a:buFontTx/>
              <a:buAutoNum type="arabicPeriod"/>
            </a:pPr>
            <a:r>
              <a:rPr lang="zh-CN" altLang="en-US" sz="2400" dirty="0">
                <a:solidFill>
                  <a:srgbClr val="FF0000"/>
                </a:solidFill>
              </a:rPr>
              <a:t>对偶规则</a:t>
            </a:r>
            <a:r>
              <a:rPr lang="zh-CN" altLang="en-US" sz="2400" dirty="0"/>
              <a:t>：在一个逻辑函数中，若将函数中所有原来的“与”运算变成“或”运算，所有原来的“或”运算变成“与”运算，函数中的所有“</a:t>
            </a:r>
            <a:r>
              <a:rPr lang="en-US" altLang="zh-CN" sz="2400" dirty="0"/>
              <a:t>1”</a:t>
            </a:r>
            <a:r>
              <a:rPr lang="zh-CN" altLang="en-US" sz="2400" dirty="0"/>
              <a:t>变成“</a:t>
            </a:r>
            <a:r>
              <a:rPr lang="en-US" altLang="zh-CN" sz="2400" dirty="0"/>
              <a:t>0”</a:t>
            </a:r>
            <a:r>
              <a:rPr lang="zh-CN" altLang="en-US" sz="2400" dirty="0"/>
              <a:t>，且“</a:t>
            </a:r>
            <a:r>
              <a:rPr lang="en-US" altLang="zh-CN" sz="2400" dirty="0"/>
              <a:t>0”</a:t>
            </a:r>
            <a:r>
              <a:rPr lang="zh-CN" altLang="en-US" sz="2400" dirty="0"/>
              <a:t>变成“</a:t>
            </a:r>
            <a:r>
              <a:rPr lang="en-US" altLang="zh-CN" sz="2400" dirty="0"/>
              <a:t>1”</a:t>
            </a:r>
            <a:r>
              <a:rPr lang="zh-CN" altLang="en-US" sz="2400" dirty="0"/>
              <a:t>，但</a:t>
            </a:r>
            <a:r>
              <a:rPr lang="zh-CN" altLang="en-US" sz="2400" dirty="0">
                <a:solidFill>
                  <a:srgbClr val="FF0000"/>
                </a:solidFill>
              </a:rPr>
              <a:t>逻辑变量保持不变</a:t>
            </a:r>
            <a:r>
              <a:rPr lang="zh-CN" altLang="en-US" sz="2400" dirty="0"/>
              <a:t>，这样所得到的一个新函数就称为原函数的对偶函数，用</a:t>
            </a:r>
            <a:r>
              <a:rPr lang="en-US" altLang="zh-CN" sz="2400" i="1" dirty="0"/>
              <a:t>F</a:t>
            </a:r>
            <a:r>
              <a:rPr lang="en-US" altLang="zh-CN" sz="2400" dirty="0"/>
              <a:t>’</a:t>
            </a:r>
            <a:r>
              <a:rPr lang="zh-CN" altLang="en-US" sz="2400" dirty="0"/>
              <a:t>表示。 </a:t>
            </a:r>
            <a:endParaRPr lang="zh-CN" altLang="en-US" sz="2400" dirty="0"/>
          </a:p>
        </p:txBody>
      </p:sp>
    </p:spTree>
  </p:cSld>
  <p:clrMapOvr>
    <a:masterClrMapping/>
  </p:clrMapOvr>
  <p:transition spd="slow" advClick="0"/>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Text Box 68"/>
          <p:cNvSpPr txBox="1"/>
          <p:nvPr/>
        </p:nvSpPr>
        <p:spPr>
          <a:xfrm>
            <a:off x="2843213" y="590550"/>
            <a:ext cx="367347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zh-CN" altLang="en-US" sz="2400" b="1" dirty="0">
                <a:solidFill>
                  <a:srgbClr val="FF3300"/>
                </a:solidFill>
                <a:latin typeface="Times New Roman" panose="02020603050405020304" pitchFamily="18" charset="0"/>
                <a:ea typeface="楷体_GB2312" pitchFamily="49" charset="-122"/>
              </a:rPr>
              <a:t>逻辑代数基本定律总结表</a:t>
            </a:r>
            <a:endParaRPr lang="zh-CN" altLang="en-US" sz="2400" b="1" dirty="0">
              <a:solidFill>
                <a:srgbClr val="FF3300"/>
              </a:solidFill>
              <a:latin typeface="Times New Roman" panose="02020603050405020304" pitchFamily="18" charset="0"/>
              <a:ea typeface="楷体_GB2312" pitchFamily="49" charset="-122"/>
            </a:endParaRPr>
          </a:p>
        </p:txBody>
      </p:sp>
      <p:graphicFrame>
        <p:nvGraphicFramePr>
          <p:cNvPr id="47173" name="Group 69"/>
          <p:cNvGraphicFramePr>
            <a:graphicFrameLocks noGrp="1"/>
          </p:cNvGraphicFramePr>
          <p:nvPr/>
        </p:nvGraphicFramePr>
        <p:xfrm>
          <a:off x="611188" y="1093788"/>
          <a:ext cx="7920038" cy="5221288"/>
        </p:xfrm>
        <a:graphic>
          <a:graphicData uri="http://schemas.openxmlformats.org/drawingml/2006/table">
            <a:tbl>
              <a:tblPr/>
              <a:tblGrid>
                <a:gridCol w="1800225"/>
                <a:gridCol w="2951162"/>
                <a:gridCol w="3168650"/>
              </a:tblGrid>
              <a:tr h="365734">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dirty="0" smtClean="0">
                          <a:ln>
                            <a:noFill/>
                          </a:ln>
                          <a:solidFill>
                            <a:schemeClr val="tx1"/>
                          </a:solidFill>
                          <a:effectLst/>
                          <a:latin typeface="楷体_GB2312" pitchFamily="49" charset="-122"/>
                          <a:ea typeface="楷体_GB2312" pitchFamily="49" charset="-122"/>
                        </a:rPr>
                        <a:t>定律名称</a:t>
                      </a:r>
                      <a:endParaRPr kumimoji="0" lang="zh-CN" altLang="en-US" sz="1800" b="1" i="0" u="none" strike="noStrike" cap="none" normalizeH="0" baseline="0" dirty="0" smtClean="0">
                        <a:ln>
                          <a:noFill/>
                        </a:ln>
                        <a:solidFill>
                          <a:schemeClr val="tx1"/>
                        </a:solidFill>
                        <a:effectLst/>
                        <a:latin typeface="楷体_GB2312" pitchFamily="49" charset="-122"/>
                        <a:ea typeface="楷体_GB2312" pitchFamily="49" charset="-122"/>
                      </a:endParaRPr>
                    </a:p>
                  </a:txBody>
                  <a:tcPr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smtClean="0">
                          <a:ln>
                            <a:noFill/>
                          </a:ln>
                          <a:solidFill>
                            <a:schemeClr val="tx1"/>
                          </a:solidFill>
                          <a:effectLst/>
                          <a:latin typeface="楷体_GB2312" pitchFamily="49" charset="-122"/>
                          <a:ea typeface="楷体_GB2312" pitchFamily="49" charset="-122"/>
                        </a:rPr>
                        <a:t>公         式</a:t>
                      </a:r>
                      <a:endParaRPr kumimoji="0" lang="zh-CN" altLang="en-US" sz="1800" b="1" i="0" u="none" strike="noStrike" cap="none" normalizeH="0" baseline="0" smtClean="0">
                        <a:ln>
                          <a:noFill/>
                        </a:ln>
                        <a:solidFill>
                          <a:schemeClr val="tx1"/>
                        </a:solidFill>
                        <a:effectLst/>
                        <a:latin typeface="楷体_GB2312" pitchFamily="49" charset="-122"/>
                        <a:ea typeface="楷体_GB2312" pitchFamily="49" charset="-122"/>
                      </a:endParaRPr>
                    </a:p>
                  </a:txBody>
                  <a:tcPr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65734">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楷体_GB2312" pitchFamily="49" charset="-122"/>
                          <a:ea typeface="楷体_GB2312" pitchFamily="49" charset="-122"/>
                        </a:rPr>
                        <a:t>0</a:t>
                      </a:r>
                      <a:r>
                        <a:rPr kumimoji="0" lang="zh-CN" altLang="en-US" sz="1800" b="1" i="0" u="none" strike="noStrike" cap="none" normalizeH="0" baseline="0" smtClean="0">
                          <a:ln>
                            <a:noFill/>
                          </a:ln>
                          <a:solidFill>
                            <a:schemeClr val="tx1"/>
                          </a:solidFill>
                          <a:effectLst/>
                          <a:latin typeface="楷体_GB2312" pitchFamily="49" charset="-122"/>
                          <a:ea typeface="楷体_GB2312" pitchFamily="49" charset="-122"/>
                        </a:rPr>
                        <a:t>－</a:t>
                      </a:r>
                      <a:r>
                        <a:rPr kumimoji="0" lang="en-US" altLang="zh-CN" sz="1800" b="1" i="0" u="none" strike="noStrike" cap="none" normalizeH="0" baseline="0" smtClean="0">
                          <a:ln>
                            <a:noFill/>
                          </a:ln>
                          <a:solidFill>
                            <a:schemeClr val="tx1"/>
                          </a:solidFill>
                          <a:effectLst/>
                          <a:latin typeface="楷体_GB2312" pitchFamily="49" charset="-122"/>
                          <a:ea typeface="楷体_GB2312" pitchFamily="49" charset="-122"/>
                        </a:rPr>
                        <a:t>1</a:t>
                      </a:r>
                      <a:r>
                        <a:rPr kumimoji="0" lang="zh-CN" altLang="en-US" sz="1800" b="1" i="0" u="none" strike="noStrike" cap="none" normalizeH="0" baseline="0" smtClean="0">
                          <a:ln>
                            <a:noFill/>
                          </a:ln>
                          <a:solidFill>
                            <a:schemeClr val="tx1"/>
                          </a:solidFill>
                          <a:effectLst/>
                          <a:latin typeface="楷体_GB2312" pitchFamily="49" charset="-122"/>
                          <a:ea typeface="楷体_GB2312" pitchFamily="49" charset="-122"/>
                        </a:rPr>
                        <a:t>律</a:t>
                      </a:r>
                      <a:endParaRPr kumimoji="0" lang="zh-CN" altLang="en-US" sz="1800" b="1" i="0" u="none" strike="noStrike" cap="none" normalizeH="0" baseline="0" smtClean="0">
                        <a:ln>
                          <a:noFill/>
                        </a:ln>
                        <a:solidFill>
                          <a:schemeClr val="tx1"/>
                        </a:solidFill>
                        <a:effectLst/>
                        <a:latin typeface="楷体_GB2312" pitchFamily="49" charset="-122"/>
                        <a:ea typeface="楷体_GB2312" pitchFamily="49" charset="-122"/>
                      </a:endParaRPr>
                    </a:p>
                  </a:txBody>
                  <a:tcPr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FF"/>
                    </a:solidFill>
                  </a:tcPr>
                </a:tc>
              </a:tr>
              <a:tr h="420566">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smtClean="0">
                          <a:ln>
                            <a:noFill/>
                          </a:ln>
                          <a:solidFill>
                            <a:schemeClr val="tx1"/>
                          </a:solidFill>
                          <a:effectLst/>
                          <a:latin typeface="楷体_GB2312" pitchFamily="49" charset="-122"/>
                          <a:ea typeface="楷体_GB2312" pitchFamily="49" charset="-122"/>
                        </a:rPr>
                        <a:t>自等律</a:t>
                      </a:r>
                      <a:endParaRPr kumimoji="0" lang="zh-CN" altLang="en-US" sz="1800" b="1" i="0" u="none" strike="noStrike" cap="none" normalizeH="0" baseline="0" smtClean="0">
                        <a:ln>
                          <a:noFill/>
                        </a:ln>
                        <a:solidFill>
                          <a:schemeClr val="tx1"/>
                        </a:solidFill>
                        <a:effectLst/>
                        <a:latin typeface="楷体_GB2312" pitchFamily="49" charset="-122"/>
                        <a:ea typeface="楷体_GB2312" pitchFamily="49" charset="-122"/>
                      </a:endParaRPr>
                    </a:p>
                  </a:txBody>
                  <a:tcPr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FF"/>
                    </a:solidFill>
                  </a:tcPr>
                </a:tc>
              </a:tr>
              <a:tr h="365734">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smtClean="0">
                          <a:ln>
                            <a:noFill/>
                          </a:ln>
                          <a:solidFill>
                            <a:schemeClr val="tx1"/>
                          </a:solidFill>
                          <a:effectLst/>
                          <a:latin typeface="楷体_GB2312" pitchFamily="49" charset="-122"/>
                          <a:ea typeface="楷体_GB2312" pitchFamily="49" charset="-122"/>
                        </a:rPr>
                        <a:t>重叠律</a:t>
                      </a:r>
                      <a:endParaRPr kumimoji="0" lang="zh-CN" altLang="en-US" sz="1800" b="1" i="0" u="none" strike="noStrike" cap="none" normalizeH="0" baseline="0" smtClean="0">
                        <a:ln>
                          <a:noFill/>
                        </a:ln>
                        <a:solidFill>
                          <a:schemeClr val="tx1"/>
                        </a:solidFill>
                        <a:effectLst/>
                        <a:latin typeface="楷体_GB2312" pitchFamily="49" charset="-122"/>
                        <a:ea typeface="楷体_GB2312" pitchFamily="49" charset="-122"/>
                      </a:endParaRPr>
                    </a:p>
                  </a:txBody>
                  <a:tcPr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FF"/>
                    </a:solidFill>
                  </a:tcPr>
                </a:tc>
              </a:tr>
              <a:tr h="365734">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smtClean="0">
                          <a:ln>
                            <a:noFill/>
                          </a:ln>
                          <a:solidFill>
                            <a:schemeClr val="tx1"/>
                          </a:solidFill>
                          <a:effectLst/>
                          <a:latin typeface="楷体_GB2312" pitchFamily="49" charset="-122"/>
                          <a:ea typeface="楷体_GB2312" pitchFamily="49" charset="-122"/>
                        </a:rPr>
                        <a:t>互补律</a:t>
                      </a:r>
                      <a:endParaRPr kumimoji="0" lang="zh-CN" altLang="en-US" sz="1800" b="1" i="0" u="none" strike="noStrike" cap="none" normalizeH="0" baseline="0" smtClean="0">
                        <a:ln>
                          <a:noFill/>
                        </a:ln>
                        <a:solidFill>
                          <a:schemeClr val="tx1"/>
                        </a:solidFill>
                        <a:effectLst/>
                        <a:latin typeface="楷体_GB2312" pitchFamily="49" charset="-122"/>
                        <a:ea typeface="楷体_GB2312" pitchFamily="49" charset="-122"/>
                      </a:endParaRPr>
                    </a:p>
                  </a:txBody>
                  <a:tcPr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FF"/>
                    </a:solidFill>
                  </a:tcPr>
                </a:tc>
              </a:tr>
              <a:tr h="365734">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smtClean="0">
                          <a:ln>
                            <a:noFill/>
                          </a:ln>
                          <a:solidFill>
                            <a:schemeClr val="tx1"/>
                          </a:solidFill>
                          <a:effectLst/>
                          <a:latin typeface="楷体_GB2312" pitchFamily="49" charset="-122"/>
                          <a:ea typeface="楷体_GB2312" pitchFamily="49" charset="-122"/>
                        </a:rPr>
                        <a:t>交换律</a:t>
                      </a:r>
                      <a:endParaRPr kumimoji="0" lang="zh-CN" altLang="en-US" sz="1800" b="1" i="0" u="none" strike="noStrike" cap="none" normalizeH="0" baseline="0" smtClean="0">
                        <a:ln>
                          <a:noFill/>
                        </a:ln>
                        <a:solidFill>
                          <a:schemeClr val="tx1"/>
                        </a:solidFill>
                        <a:effectLst/>
                        <a:latin typeface="楷体_GB2312" pitchFamily="49" charset="-122"/>
                        <a:ea typeface="楷体_GB2312" pitchFamily="49" charset="-122"/>
                      </a:endParaRPr>
                    </a:p>
                  </a:txBody>
                  <a:tcPr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FF"/>
                    </a:solidFill>
                  </a:tcPr>
                </a:tc>
              </a:tr>
              <a:tr h="365734">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smtClean="0">
                          <a:ln>
                            <a:noFill/>
                          </a:ln>
                          <a:solidFill>
                            <a:schemeClr val="tx1"/>
                          </a:solidFill>
                          <a:effectLst/>
                          <a:latin typeface="楷体_GB2312" pitchFamily="49" charset="-122"/>
                          <a:ea typeface="楷体_GB2312" pitchFamily="49" charset="-122"/>
                        </a:rPr>
                        <a:t>结合律</a:t>
                      </a:r>
                      <a:endParaRPr kumimoji="0" lang="zh-CN" altLang="en-US" sz="1800" b="1" i="0" u="none" strike="noStrike" cap="none" normalizeH="0" baseline="0" smtClean="0">
                        <a:ln>
                          <a:noFill/>
                        </a:ln>
                        <a:solidFill>
                          <a:schemeClr val="tx1"/>
                        </a:solidFill>
                        <a:effectLst/>
                        <a:latin typeface="楷体_GB2312" pitchFamily="49" charset="-122"/>
                        <a:ea typeface="楷体_GB2312" pitchFamily="49" charset="-122"/>
                      </a:endParaRPr>
                    </a:p>
                  </a:txBody>
                  <a:tcPr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FF"/>
                    </a:solidFill>
                  </a:tcPr>
                </a:tc>
              </a:tr>
              <a:tr h="365734">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smtClean="0">
                          <a:ln>
                            <a:noFill/>
                          </a:ln>
                          <a:solidFill>
                            <a:schemeClr val="tx1"/>
                          </a:solidFill>
                          <a:effectLst/>
                          <a:latin typeface="楷体_GB2312" pitchFamily="49" charset="-122"/>
                          <a:ea typeface="楷体_GB2312" pitchFamily="49" charset="-122"/>
                        </a:rPr>
                        <a:t>分配律</a:t>
                      </a:r>
                      <a:endParaRPr kumimoji="0" lang="zh-CN" altLang="en-US" sz="1800" b="1" i="0" u="none" strike="noStrike" cap="none" normalizeH="0" baseline="0" smtClean="0">
                        <a:ln>
                          <a:noFill/>
                        </a:ln>
                        <a:solidFill>
                          <a:schemeClr val="tx1"/>
                        </a:solidFill>
                        <a:effectLst/>
                        <a:latin typeface="楷体_GB2312" pitchFamily="49" charset="-122"/>
                        <a:ea typeface="楷体_GB2312" pitchFamily="49" charset="-122"/>
                      </a:endParaRPr>
                    </a:p>
                  </a:txBody>
                  <a:tcPr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FF"/>
                    </a:solidFill>
                  </a:tcPr>
                </a:tc>
              </a:tr>
              <a:tr h="365734">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smtClean="0">
                          <a:ln>
                            <a:noFill/>
                          </a:ln>
                          <a:solidFill>
                            <a:schemeClr val="tx1"/>
                          </a:solidFill>
                          <a:effectLst/>
                          <a:latin typeface="楷体_GB2312" pitchFamily="49" charset="-122"/>
                          <a:ea typeface="楷体_GB2312" pitchFamily="49" charset="-122"/>
                        </a:rPr>
                        <a:t>还原律</a:t>
                      </a:r>
                      <a:endParaRPr kumimoji="0" lang="zh-CN" altLang="en-US" sz="1800" b="1" i="0" u="none" strike="noStrike" cap="none" normalizeH="0" baseline="0" smtClean="0">
                        <a:ln>
                          <a:noFill/>
                        </a:ln>
                        <a:solidFill>
                          <a:schemeClr val="tx1"/>
                        </a:solidFill>
                        <a:effectLst/>
                        <a:latin typeface="楷体_GB2312" pitchFamily="49" charset="-122"/>
                        <a:ea typeface="楷体_GB2312" pitchFamily="49" charset="-122"/>
                      </a:endParaRPr>
                    </a:p>
                  </a:txBody>
                  <a:tcPr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734">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smtClean="0">
                          <a:ln>
                            <a:noFill/>
                          </a:ln>
                          <a:solidFill>
                            <a:schemeClr val="tx1"/>
                          </a:solidFill>
                          <a:effectLst/>
                          <a:latin typeface="楷体_GB2312" pitchFamily="49" charset="-122"/>
                          <a:ea typeface="楷体_GB2312" pitchFamily="49" charset="-122"/>
                        </a:rPr>
                        <a:t>反演律</a:t>
                      </a:r>
                      <a:endParaRPr kumimoji="0" lang="zh-CN" altLang="en-US" sz="1800" b="1" i="0" u="none" strike="noStrike" cap="none" normalizeH="0" baseline="0" smtClean="0">
                        <a:ln>
                          <a:noFill/>
                        </a:ln>
                        <a:solidFill>
                          <a:schemeClr val="tx1"/>
                        </a:solidFill>
                        <a:effectLst/>
                        <a:latin typeface="楷体_GB2312" pitchFamily="49" charset="-122"/>
                        <a:ea typeface="楷体_GB2312" pitchFamily="49" charset="-122"/>
                      </a:endParaRPr>
                    </a:p>
                  </a:txBody>
                  <a:tcPr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76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smtClean="0">
                          <a:ln>
                            <a:noFill/>
                          </a:ln>
                          <a:solidFill>
                            <a:schemeClr val="tx1"/>
                          </a:solidFill>
                          <a:effectLst/>
                          <a:latin typeface="楷体_GB2312" pitchFamily="49" charset="-122"/>
                          <a:ea typeface="楷体_GB2312" pitchFamily="49" charset="-122"/>
                        </a:rPr>
                        <a:t>吸收律（一）</a:t>
                      </a:r>
                      <a:endParaRPr kumimoji="0" lang="zh-CN" altLang="en-US" sz="1800" b="1" i="0" u="none" strike="noStrike" cap="none" normalizeH="0" baseline="0" smtClean="0">
                        <a:ln>
                          <a:noFill/>
                        </a:ln>
                        <a:solidFill>
                          <a:schemeClr val="tx1"/>
                        </a:solidFill>
                        <a:effectLst/>
                        <a:latin typeface="楷体_GB2312" pitchFamily="49" charset="-122"/>
                        <a:ea typeface="楷体_GB2312" pitchFamily="49" charset="-122"/>
                      </a:endParaRPr>
                    </a:p>
                  </a:txBody>
                  <a:tcPr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FF"/>
                    </a:solidFill>
                  </a:tcPr>
                </a:tc>
              </a:tr>
              <a:tr h="365734">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smtClean="0">
                          <a:ln>
                            <a:noFill/>
                          </a:ln>
                          <a:solidFill>
                            <a:schemeClr val="tx1"/>
                          </a:solidFill>
                          <a:effectLst/>
                          <a:latin typeface="楷体_GB2312" pitchFamily="49" charset="-122"/>
                          <a:ea typeface="楷体_GB2312" pitchFamily="49" charset="-122"/>
                        </a:rPr>
                        <a:t>吸收率（二）</a:t>
                      </a:r>
                      <a:endParaRPr kumimoji="0" lang="zh-CN" altLang="en-US" sz="1800" b="1" i="0" u="none" strike="noStrike" cap="none" normalizeH="0" baseline="0" smtClean="0">
                        <a:ln>
                          <a:noFill/>
                        </a:ln>
                        <a:solidFill>
                          <a:schemeClr val="tx1"/>
                        </a:solidFill>
                        <a:effectLst/>
                        <a:latin typeface="楷体_GB2312" pitchFamily="49" charset="-122"/>
                        <a:ea typeface="楷体_GB2312" pitchFamily="49" charset="-122"/>
                      </a:endParaRPr>
                    </a:p>
                  </a:txBody>
                  <a:tcPr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FF"/>
                    </a:solidFill>
                  </a:tcPr>
                </a:tc>
              </a:tr>
              <a:tr h="365734">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smtClean="0">
                          <a:ln>
                            <a:noFill/>
                          </a:ln>
                          <a:solidFill>
                            <a:schemeClr val="tx1"/>
                          </a:solidFill>
                          <a:effectLst/>
                          <a:latin typeface="楷体_GB2312" pitchFamily="49" charset="-122"/>
                          <a:ea typeface="楷体_GB2312" pitchFamily="49" charset="-122"/>
                        </a:rPr>
                        <a:t>吸收率（三）</a:t>
                      </a:r>
                      <a:endParaRPr kumimoji="0" lang="zh-CN" altLang="en-US" sz="1800" b="1" i="0" u="none" strike="noStrike" cap="none" normalizeH="0" baseline="0" smtClean="0">
                        <a:ln>
                          <a:noFill/>
                        </a:ln>
                        <a:solidFill>
                          <a:schemeClr val="tx1"/>
                        </a:solidFill>
                        <a:effectLst/>
                        <a:latin typeface="楷体_GB2312" pitchFamily="49" charset="-122"/>
                        <a:ea typeface="楷体_GB2312" pitchFamily="49" charset="-122"/>
                      </a:endParaRPr>
                    </a:p>
                  </a:txBody>
                  <a:tcPr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FF"/>
                    </a:solidFill>
                  </a:tcPr>
                </a:tc>
              </a:tr>
              <a:tr h="380891">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smtClean="0">
                          <a:ln>
                            <a:noFill/>
                          </a:ln>
                          <a:solidFill>
                            <a:schemeClr val="tx1"/>
                          </a:solidFill>
                          <a:effectLst/>
                          <a:latin typeface="楷体_GB2312" pitchFamily="49" charset="-122"/>
                          <a:ea typeface="楷体_GB2312" pitchFamily="49" charset="-122"/>
                        </a:rPr>
                        <a:t>吸收率（四）</a:t>
                      </a:r>
                      <a:endParaRPr kumimoji="0" lang="zh-CN" altLang="en-US" sz="1800" b="1" i="0" u="none" strike="noStrike" cap="none" normalizeH="0" baseline="0" smtClean="0">
                        <a:ln>
                          <a:noFill/>
                        </a:ln>
                        <a:solidFill>
                          <a:schemeClr val="tx1"/>
                        </a:solidFill>
                        <a:effectLst/>
                        <a:latin typeface="楷体_GB2312" pitchFamily="49" charset="-122"/>
                        <a:ea typeface="楷体_GB2312" pitchFamily="49" charset="-122"/>
                      </a:endParaRPr>
                    </a:p>
                  </a:txBody>
                  <a:tcPr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FFFF"/>
                    </a:solidFill>
                  </a:tcPr>
                </a:tc>
              </a:tr>
            </a:tbl>
          </a:graphicData>
        </a:graphic>
      </p:graphicFrame>
      <p:graphicFrame>
        <p:nvGraphicFramePr>
          <p:cNvPr id="44096" name="Object 130"/>
          <p:cNvGraphicFramePr>
            <a:graphicFrameLocks noChangeAspect="1"/>
          </p:cNvGraphicFramePr>
          <p:nvPr/>
        </p:nvGraphicFramePr>
        <p:xfrm>
          <a:off x="3562350" y="1452563"/>
          <a:ext cx="865188" cy="295275"/>
        </p:xfrm>
        <a:graphic>
          <a:graphicData uri="http://schemas.openxmlformats.org/presentationml/2006/ole">
            <mc:AlternateContent xmlns:mc="http://schemas.openxmlformats.org/markup-compatibility/2006">
              <mc:Choice xmlns:v="urn:schemas-microsoft-com:vml" Requires="v">
                <p:oleObj spid="_x0000_s3149" name="" r:id="rId1" imgW="520065" imgH="177800" progId="Equation.3">
                  <p:embed/>
                </p:oleObj>
              </mc:Choice>
              <mc:Fallback>
                <p:oleObj name="" r:id="rId1" imgW="520065" imgH="177800" progId="Equation.3">
                  <p:embed/>
                  <p:pic>
                    <p:nvPicPr>
                      <p:cNvPr id="0" name="图片 3148"/>
                      <p:cNvPicPr/>
                      <p:nvPr/>
                    </p:nvPicPr>
                    <p:blipFill>
                      <a:blip r:embed="rId2"/>
                      <a:stretch>
                        <a:fillRect/>
                      </a:stretch>
                    </p:blipFill>
                    <p:spPr>
                      <a:xfrm>
                        <a:off x="3562350" y="1452563"/>
                        <a:ext cx="865188" cy="295275"/>
                      </a:xfrm>
                      <a:prstGeom prst="rect">
                        <a:avLst/>
                      </a:prstGeom>
                      <a:noFill/>
                      <a:ln w="38100">
                        <a:noFill/>
                        <a:miter/>
                      </a:ln>
                    </p:spPr>
                  </p:pic>
                </p:oleObj>
              </mc:Fallback>
            </mc:AlternateContent>
          </a:graphicData>
        </a:graphic>
      </p:graphicFrame>
      <p:graphicFrame>
        <p:nvGraphicFramePr>
          <p:cNvPr id="44097" name="Object 131"/>
          <p:cNvGraphicFramePr>
            <a:graphicFrameLocks noChangeAspect="1"/>
          </p:cNvGraphicFramePr>
          <p:nvPr/>
        </p:nvGraphicFramePr>
        <p:xfrm>
          <a:off x="6289675" y="1462088"/>
          <a:ext cx="885825" cy="274637"/>
        </p:xfrm>
        <a:graphic>
          <a:graphicData uri="http://schemas.openxmlformats.org/presentationml/2006/ole">
            <mc:AlternateContent xmlns:mc="http://schemas.openxmlformats.org/markup-compatibility/2006">
              <mc:Choice xmlns:v="urn:schemas-microsoft-com:vml" Requires="v">
                <p:oleObj spid="_x0000_s3134" name="" r:id="rId3" imgW="532765" imgH="165100" progId="Equation.3">
                  <p:embed/>
                </p:oleObj>
              </mc:Choice>
              <mc:Fallback>
                <p:oleObj name="" r:id="rId3" imgW="532765" imgH="165100" progId="Equation.3">
                  <p:embed/>
                  <p:pic>
                    <p:nvPicPr>
                      <p:cNvPr id="0" name="图片 3133"/>
                      <p:cNvPicPr/>
                      <p:nvPr/>
                    </p:nvPicPr>
                    <p:blipFill>
                      <a:blip r:embed="rId4"/>
                      <a:stretch>
                        <a:fillRect/>
                      </a:stretch>
                    </p:blipFill>
                    <p:spPr>
                      <a:xfrm>
                        <a:off x="6289675" y="1462088"/>
                        <a:ext cx="885825" cy="274637"/>
                      </a:xfrm>
                      <a:prstGeom prst="rect">
                        <a:avLst/>
                      </a:prstGeom>
                      <a:noFill/>
                      <a:ln w="38100">
                        <a:noFill/>
                        <a:miter/>
                      </a:ln>
                    </p:spPr>
                  </p:pic>
                </p:oleObj>
              </mc:Fallback>
            </mc:AlternateContent>
          </a:graphicData>
        </a:graphic>
      </p:graphicFrame>
      <p:graphicFrame>
        <p:nvGraphicFramePr>
          <p:cNvPr id="44098" name="Object 132"/>
          <p:cNvGraphicFramePr>
            <a:graphicFrameLocks noChangeAspect="1"/>
          </p:cNvGraphicFramePr>
          <p:nvPr/>
        </p:nvGraphicFramePr>
        <p:xfrm>
          <a:off x="3562350" y="1895475"/>
          <a:ext cx="865188" cy="273050"/>
        </p:xfrm>
        <a:graphic>
          <a:graphicData uri="http://schemas.openxmlformats.org/presentationml/2006/ole">
            <mc:AlternateContent xmlns:mc="http://schemas.openxmlformats.org/markup-compatibility/2006">
              <mc:Choice xmlns:v="urn:schemas-microsoft-com:vml" Requires="v">
                <p:oleObj spid="_x0000_s3146" name="" r:id="rId5" imgW="520700" imgH="165100" progId="Equation.3">
                  <p:embed/>
                </p:oleObj>
              </mc:Choice>
              <mc:Fallback>
                <p:oleObj name="" r:id="rId5" imgW="520700" imgH="165100" progId="Equation.3">
                  <p:embed/>
                  <p:pic>
                    <p:nvPicPr>
                      <p:cNvPr id="0" name="图片 3145"/>
                      <p:cNvPicPr/>
                      <p:nvPr/>
                    </p:nvPicPr>
                    <p:blipFill>
                      <a:blip r:embed="rId6"/>
                      <a:stretch>
                        <a:fillRect/>
                      </a:stretch>
                    </p:blipFill>
                    <p:spPr>
                      <a:xfrm>
                        <a:off x="3562350" y="1895475"/>
                        <a:ext cx="865188" cy="273050"/>
                      </a:xfrm>
                      <a:prstGeom prst="rect">
                        <a:avLst/>
                      </a:prstGeom>
                      <a:noFill/>
                      <a:ln w="38100">
                        <a:noFill/>
                        <a:miter/>
                      </a:ln>
                    </p:spPr>
                  </p:pic>
                </p:oleObj>
              </mc:Fallback>
            </mc:AlternateContent>
          </a:graphicData>
        </a:graphic>
      </p:graphicFrame>
      <p:graphicFrame>
        <p:nvGraphicFramePr>
          <p:cNvPr id="44099" name="Object 133"/>
          <p:cNvGraphicFramePr>
            <a:graphicFrameLocks noChangeAspect="1"/>
          </p:cNvGraphicFramePr>
          <p:nvPr/>
        </p:nvGraphicFramePr>
        <p:xfrm>
          <a:off x="6227763" y="1882775"/>
          <a:ext cx="1012825" cy="296863"/>
        </p:xfrm>
        <a:graphic>
          <a:graphicData uri="http://schemas.openxmlformats.org/presentationml/2006/ole">
            <mc:AlternateContent xmlns:mc="http://schemas.openxmlformats.org/markup-compatibility/2006">
              <mc:Choice xmlns:v="urn:schemas-microsoft-com:vml" Requires="v">
                <p:oleObj spid="_x0000_s3136" name="" r:id="rId7" imgW="609600" imgH="177800" progId="Equation.3">
                  <p:embed/>
                </p:oleObj>
              </mc:Choice>
              <mc:Fallback>
                <p:oleObj name="" r:id="rId7" imgW="609600" imgH="177800" progId="Equation.3">
                  <p:embed/>
                  <p:pic>
                    <p:nvPicPr>
                      <p:cNvPr id="0" name="图片 3135"/>
                      <p:cNvPicPr/>
                      <p:nvPr/>
                    </p:nvPicPr>
                    <p:blipFill>
                      <a:blip r:embed="rId8"/>
                      <a:stretch>
                        <a:fillRect/>
                      </a:stretch>
                    </p:blipFill>
                    <p:spPr>
                      <a:xfrm>
                        <a:off x="6227763" y="1882775"/>
                        <a:ext cx="1012825" cy="296863"/>
                      </a:xfrm>
                      <a:prstGeom prst="rect">
                        <a:avLst/>
                      </a:prstGeom>
                      <a:noFill/>
                      <a:ln w="38100">
                        <a:noFill/>
                        <a:miter/>
                      </a:ln>
                    </p:spPr>
                  </p:pic>
                </p:oleObj>
              </mc:Fallback>
            </mc:AlternateContent>
          </a:graphicData>
        </a:graphic>
      </p:graphicFrame>
      <p:graphicFrame>
        <p:nvGraphicFramePr>
          <p:cNvPr id="44100" name="Object 134"/>
          <p:cNvGraphicFramePr>
            <a:graphicFrameLocks noChangeAspect="1"/>
          </p:cNvGraphicFramePr>
          <p:nvPr/>
        </p:nvGraphicFramePr>
        <p:xfrm>
          <a:off x="3527425" y="2327275"/>
          <a:ext cx="971550" cy="274638"/>
        </p:xfrm>
        <a:graphic>
          <a:graphicData uri="http://schemas.openxmlformats.org/presentationml/2006/ole">
            <mc:AlternateContent xmlns:mc="http://schemas.openxmlformats.org/markup-compatibility/2006">
              <mc:Choice xmlns:v="urn:schemas-microsoft-com:vml" Requires="v">
                <p:oleObj spid="_x0000_s3141" name="" r:id="rId9" imgW="583565" imgH="165100" progId="Equation.3">
                  <p:embed/>
                </p:oleObj>
              </mc:Choice>
              <mc:Fallback>
                <p:oleObj name="" r:id="rId9" imgW="583565" imgH="165100" progId="Equation.3">
                  <p:embed/>
                  <p:pic>
                    <p:nvPicPr>
                      <p:cNvPr id="0" name="图片 3140"/>
                      <p:cNvPicPr/>
                      <p:nvPr/>
                    </p:nvPicPr>
                    <p:blipFill>
                      <a:blip r:embed="rId10"/>
                      <a:stretch>
                        <a:fillRect/>
                      </a:stretch>
                    </p:blipFill>
                    <p:spPr>
                      <a:xfrm>
                        <a:off x="3527425" y="2327275"/>
                        <a:ext cx="971550" cy="274638"/>
                      </a:xfrm>
                      <a:prstGeom prst="rect">
                        <a:avLst/>
                      </a:prstGeom>
                      <a:noFill/>
                      <a:ln w="38100">
                        <a:noFill/>
                        <a:miter/>
                      </a:ln>
                    </p:spPr>
                  </p:pic>
                </p:oleObj>
              </mc:Fallback>
            </mc:AlternateContent>
          </a:graphicData>
        </a:graphic>
      </p:graphicFrame>
      <p:graphicFrame>
        <p:nvGraphicFramePr>
          <p:cNvPr id="44101" name="Object 135"/>
          <p:cNvGraphicFramePr>
            <a:graphicFrameLocks noChangeAspect="1"/>
          </p:cNvGraphicFramePr>
          <p:nvPr/>
        </p:nvGraphicFramePr>
        <p:xfrm>
          <a:off x="6232525" y="2327275"/>
          <a:ext cx="1074738" cy="274638"/>
        </p:xfrm>
        <a:graphic>
          <a:graphicData uri="http://schemas.openxmlformats.org/presentationml/2006/ole">
            <mc:AlternateContent xmlns:mc="http://schemas.openxmlformats.org/markup-compatibility/2006">
              <mc:Choice xmlns:v="urn:schemas-microsoft-com:vml" Requires="v">
                <p:oleObj spid="_x0000_s3139" name="" r:id="rId11" imgW="647700" imgH="165100" progId="Equation.3">
                  <p:embed/>
                </p:oleObj>
              </mc:Choice>
              <mc:Fallback>
                <p:oleObj name="" r:id="rId11" imgW="647700" imgH="165100" progId="Equation.3">
                  <p:embed/>
                  <p:pic>
                    <p:nvPicPr>
                      <p:cNvPr id="0" name="图片 3138"/>
                      <p:cNvPicPr/>
                      <p:nvPr/>
                    </p:nvPicPr>
                    <p:blipFill>
                      <a:blip r:embed="rId12"/>
                      <a:stretch>
                        <a:fillRect/>
                      </a:stretch>
                    </p:blipFill>
                    <p:spPr>
                      <a:xfrm>
                        <a:off x="6232525" y="2327275"/>
                        <a:ext cx="1074738" cy="274638"/>
                      </a:xfrm>
                      <a:prstGeom prst="rect">
                        <a:avLst/>
                      </a:prstGeom>
                      <a:noFill/>
                      <a:ln w="38100">
                        <a:noFill/>
                        <a:miter/>
                      </a:ln>
                    </p:spPr>
                  </p:pic>
                </p:oleObj>
              </mc:Fallback>
            </mc:AlternateContent>
          </a:graphicData>
        </a:graphic>
      </p:graphicFrame>
      <p:graphicFrame>
        <p:nvGraphicFramePr>
          <p:cNvPr id="44102" name="Object 136"/>
          <p:cNvGraphicFramePr>
            <a:graphicFrameLocks noChangeAspect="1"/>
          </p:cNvGraphicFramePr>
          <p:nvPr/>
        </p:nvGraphicFramePr>
        <p:xfrm>
          <a:off x="3541713" y="2646363"/>
          <a:ext cx="906462" cy="357187"/>
        </p:xfrm>
        <a:graphic>
          <a:graphicData uri="http://schemas.openxmlformats.org/presentationml/2006/ole">
            <mc:AlternateContent xmlns:mc="http://schemas.openxmlformats.org/markup-compatibility/2006">
              <mc:Choice xmlns:v="urn:schemas-microsoft-com:vml" Requires="v">
                <p:oleObj spid="_x0000_s3137" name="" r:id="rId13" imgW="545465" imgH="215900" progId="Equation.3">
                  <p:embed/>
                </p:oleObj>
              </mc:Choice>
              <mc:Fallback>
                <p:oleObj name="" r:id="rId13" imgW="545465" imgH="215900" progId="Equation.3">
                  <p:embed/>
                  <p:pic>
                    <p:nvPicPr>
                      <p:cNvPr id="0" name="图片 3136"/>
                      <p:cNvPicPr/>
                      <p:nvPr/>
                    </p:nvPicPr>
                    <p:blipFill>
                      <a:blip r:embed="rId14"/>
                      <a:stretch>
                        <a:fillRect/>
                      </a:stretch>
                    </p:blipFill>
                    <p:spPr>
                      <a:xfrm>
                        <a:off x="3541713" y="2646363"/>
                        <a:ext cx="906462" cy="357187"/>
                      </a:xfrm>
                      <a:prstGeom prst="rect">
                        <a:avLst/>
                      </a:prstGeom>
                      <a:noFill/>
                      <a:ln w="38100">
                        <a:noFill/>
                        <a:miter/>
                      </a:ln>
                    </p:spPr>
                  </p:pic>
                </p:oleObj>
              </mc:Fallback>
            </mc:AlternateContent>
          </a:graphicData>
        </a:graphic>
      </p:graphicFrame>
      <p:graphicFrame>
        <p:nvGraphicFramePr>
          <p:cNvPr id="44103" name="Object 137"/>
          <p:cNvGraphicFramePr>
            <a:graphicFrameLocks noChangeAspect="1"/>
          </p:cNvGraphicFramePr>
          <p:nvPr/>
        </p:nvGraphicFramePr>
        <p:xfrm>
          <a:off x="6248400" y="2654300"/>
          <a:ext cx="969963" cy="338138"/>
        </p:xfrm>
        <a:graphic>
          <a:graphicData uri="http://schemas.openxmlformats.org/presentationml/2006/ole">
            <mc:AlternateContent xmlns:mc="http://schemas.openxmlformats.org/markup-compatibility/2006">
              <mc:Choice xmlns:v="urn:schemas-microsoft-com:vml" Requires="v">
                <p:oleObj spid="_x0000_s3140" name="" r:id="rId15" imgW="584200" imgH="203200" progId="Equation.3">
                  <p:embed/>
                </p:oleObj>
              </mc:Choice>
              <mc:Fallback>
                <p:oleObj name="" r:id="rId15" imgW="584200" imgH="203200" progId="Equation.3">
                  <p:embed/>
                  <p:pic>
                    <p:nvPicPr>
                      <p:cNvPr id="0" name="图片 3139"/>
                      <p:cNvPicPr/>
                      <p:nvPr/>
                    </p:nvPicPr>
                    <p:blipFill>
                      <a:blip r:embed="rId16"/>
                      <a:stretch>
                        <a:fillRect/>
                      </a:stretch>
                    </p:blipFill>
                    <p:spPr>
                      <a:xfrm>
                        <a:off x="6248400" y="2654300"/>
                        <a:ext cx="969963" cy="338138"/>
                      </a:xfrm>
                      <a:prstGeom prst="rect">
                        <a:avLst/>
                      </a:prstGeom>
                      <a:noFill/>
                      <a:ln w="38100">
                        <a:noFill/>
                        <a:miter/>
                      </a:ln>
                    </p:spPr>
                  </p:pic>
                </p:oleObj>
              </mc:Fallback>
            </mc:AlternateContent>
          </a:graphicData>
        </a:graphic>
      </p:graphicFrame>
      <p:graphicFrame>
        <p:nvGraphicFramePr>
          <p:cNvPr id="44104" name="Object 138"/>
          <p:cNvGraphicFramePr>
            <a:graphicFrameLocks noChangeAspect="1"/>
          </p:cNvGraphicFramePr>
          <p:nvPr/>
        </p:nvGraphicFramePr>
        <p:xfrm>
          <a:off x="3362325" y="3046413"/>
          <a:ext cx="1266825" cy="274637"/>
        </p:xfrm>
        <a:graphic>
          <a:graphicData uri="http://schemas.openxmlformats.org/presentationml/2006/ole">
            <mc:AlternateContent xmlns:mc="http://schemas.openxmlformats.org/markup-compatibility/2006">
              <mc:Choice xmlns:v="urn:schemas-microsoft-com:vml" Requires="v">
                <p:oleObj spid="_x0000_s3142" name="" r:id="rId17" imgW="761365" imgH="165100" progId="Equation.3">
                  <p:embed/>
                </p:oleObj>
              </mc:Choice>
              <mc:Fallback>
                <p:oleObj name="" r:id="rId17" imgW="761365" imgH="165100" progId="Equation.3">
                  <p:embed/>
                  <p:pic>
                    <p:nvPicPr>
                      <p:cNvPr id="0" name="图片 3141"/>
                      <p:cNvPicPr/>
                      <p:nvPr/>
                    </p:nvPicPr>
                    <p:blipFill>
                      <a:blip r:embed="rId18"/>
                      <a:stretch>
                        <a:fillRect/>
                      </a:stretch>
                    </p:blipFill>
                    <p:spPr>
                      <a:xfrm>
                        <a:off x="3362325" y="3046413"/>
                        <a:ext cx="1266825" cy="274637"/>
                      </a:xfrm>
                      <a:prstGeom prst="rect">
                        <a:avLst/>
                      </a:prstGeom>
                      <a:noFill/>
                      <a:ln w="38100">
                        <a:noFill/>
                        <a:miter/>
                      </a:ln>
                    </p:spPr>
                  </p:pic>
                </p:oleObj>
              </mc:Fallback>
            </mc:AlternateContent>
          </a:graphicData>
        </a:graphic>
      </p:graphicFrame>
      <p:graphicFrame>
        <p:nvGraphicFramePr>
          <p:cNvPr id="44105" name="Object 139"/>
          <p:cNvGraphicFramePr>
            <a:graphicFrameLocks noChangeAspect="1"/>
          </p:cNvGraphicFramePr>
          <p:nvPr/>
        </p:nvGraphicFramePr>
        <p:xfrm>
          <a:off x="6005513" y="3046413"/>
          <a:ext cx="1454150" cy="274637"/>
        </p:xfrm>
        <a:graphic>
          <a:graphicData uri="http://schemas.openxmlformats.org/presentationml/2006/ole">
            <mc:AlternateContent xmlns:mc="http://schemas.openxmlformats.org/markup-compatibility/2006">
              <mc:Choice xmlns:v="urn:schemas-microsoft-com:vml" Requires="v">
                <p:oleObj spid="_x0000_s3143" name="" r:id="rId19" imgW="875665" imgH="165100" progId="Equation.3">
                  <p:embed/>
                </p:oleObj>
              </mc:Choice>
              <mc:Fallback>
                <p:oleObj name="" r:id="rId19" imgW="875665" imgH="165100" progId="Equation.3">
                  <p:embed/>
                  <p:pic>
                    <p:nvPicPr>
                      <p:cNvPr id="0" name="图片 3142"/>
                      <p:cNvPicPr/>
                      <p:nvPr/>
                    </p:nvPicPr>
                    <p:blipFill>
                      <a:blip r:embed="rId20"/>
                      <a:stretch>
                        <a:fillRect/>
                      </a:stretch>
                    </p:blipFill>
                    <p:spPr>
                      <a:xfrm>
                        <a:off x="6005513" y="3046413"/>
                        <a:ext cx="1454150" cy="274637"/>
                      </a:xfrm>
                      <a:prstGeom prst="rect">
                        <a:avLst/>
                      </a:prstGeom>
                      <a:noFill/>
                      <a:ln w="38100">
                        <a:noFill/>
                        <a:miter/>
                      </a:ln>
                    </p:spPr>
                  </p:pic>
                </p:oleObj>
              </mc:Fallback>
            </mc:AlternateContent>
          </a:graphicData>
        </a:graphic>
      </p:graphicFrame>
      <p:graphicFrame>
        <p:nvGraphicFramePr>
          <p:cNvPr id="44106" name="Object 140"/>
          <p:cNvGraphicFramePr>
            <a:graphicFrameLocks noChangeAspect="1"/>
          </p:cNvGraphicFramePr>
          <p:nvPr/>
        </p:nvGraphicFramePr>
        <p:xfrm>
          <a:off x="2887663" y="3376613"/>
          <a:ext cx="2214562" cy="336550"/>
        </p:xfrm>
        <a:graphic>
          <a:graphicData uri="http://schemas.openxmlformats.org/presentationml/2006/ole">
            <mc:AlternateContent xmlns:mc="http://schemas.openxmlformats.org/markup-compatibility/2006">
              <mc:Choice xmlns:v="urn:schemas-microsoft-com:vml" Requires="v">
                <p:oleObj spid="_x0000_s3148" name="" r:id="rId21" imgW="1333500" imgH="203200" progId="Equation.3">
                  <p:embed/>
                </p:oleObj>
              </mc:Choice>
              <mc:Fallback>
                <p:oleObj name="" r:id="rId21" imgW="1333500" imgH="203200" progId="Equation.3">
                  <p:embed/>
                  <p:pic>
                    <p:nvPicPr>
                      <p:cNvPr id="0" name="图片 3147"/>
                      <p:cNvPicPr/>
                      <p:nvPr/>
                    </p:nvPicPr>
                    <p:blipFill>
                      <a:blip r:embed="rId22"/>
                      <a:stretch>
                        <a:fillRect/>
                      </a:stretch>
                    </p:blipFill>
                    <p:spPr>
                      <a:xfrm>
                        <a:off x="2887663" y="3376613"/>
                        <a:ext cx="2214562" cy="336550"/>
                      </a:xfrm>
                      <a:prstGeom prst="rect">
                        <a:avLst/>
                      </a:prstGeom>
                      <a:noFill/>
                      <a:ln w="38100">
                        <a:noFill/>
                        <a:miter/>
                      </a:ln>
                    </p:spPr>
                  </p:pic>
                </p:oleObj>
              </mc:Fallback>
            </mc:AlternateContent>
          </a:graphicData>
        </a:graphic>
      </p:graphicFrame>
      <p:graphicFrame>
        <p:nvGraphicFramePr>
          <p:cNvPr id="44107" name="Object 141"/>
          <p:cNvGraphicFramePr>
            <a:graphicFrameLocks noChangeAspect="1"/>
          </p:cNvGraphicFramePr>
          <p:nvPr/>
        </p:nvGraphicFramePr>
        <p:xfrm>
          <a:off x="5424488" y="3375025"/>
          <a:ext cx="2616200" cy="338138"/>
        </p:xfrm>
        <a:graphic>
          <a:graphicData uri="http://schemas.openxmlformats.org/presentationml/2006/ole">
            <mc:AlternateContent xmlns:mc="http://schemas.openxmlformats.org/markup-compatibility/2006">
              <mc:Choice xmlns:v="urn:schemas-microsoft-com:vml" Requires="v">
                <p:oleObj spid="_x0000_s3144" name="" r:id="rId23" imgW="1574800" imgH="203200" progId="Equation.3">
                  <p:embed/>
                </p:oleObj>
              </mc:Choice>
              <mc:Fallback>
                <p:oleObj name="" r:id="rId23" imgW="1574800" imgH="203200" progId="Equation.3">
                  <p:embed/>
                  <p:pic>
                    <p:nvPicPr>
                      <p:cNvPr id="0" name="图片 3143"/>
                      <p:cNvPicPr/>
                      <p:nvPr/>
                    </p:nvPicPr>
                    <p:blipFill>
                      <a:blip r:embed="rId24"/>
                      <a:stretch>
                        <a:fillRect/>
                      </a:stretch>
                    </p:blipFill>
                    <p:spPr>
                      <a:xfrm>
                        <a:off x="5424488" y="3375025"/>
                        <a:ext cx="2616200" cy="338138"/>
                      </a:xfrm>
                      <a:prstGeom prst="rect">
                        <a:avLst/>
                      </a:prstGeom>
                      <a:noFill/>
                      <a:ln w="38100">
                        <a:noFill/>
                        <a:miter/>
                      </a:ln>
                    </p:spPr>
                  </p:pic>
                </p:oleObj>
              </mc:Fallback>
            </mc:AlternateContent>
          </a:graphicData>
        </a:graphic>
      </p:graphicFrame>
      <p:graphicFrame>
        <p:nvGraphicFramePr>
          <p:cNvPr id="44108" name="Object 142"/>
          <p:cNvGraphicFramePr>
            <a:graphicFrameLocks noChangeAspect="1"/>
          </p:cNvGraphicFramePr>
          <p:nvPr/>
        </p:nvGraphicFramePr>
        <p:xfrm>
          <a:off x="2832100" y="3736975"/>
          <a:ext cx="2300288" cy="338138"/>
        </p:xfrm>
        <a:graphic>
          <a:graphicData uri="http://schemas.openxmlformats.org/presentationml/2006/ole">
            <mc:AlternateContent xmlns:mc="http://schemas.openxmlformats.org/markup-compatibility/2006">
              <mc:Choice xmlns:v="urn:schemas-microsoft-com:vml" Requires="v">
                <p:oleObj spid="_x0000_s3145" name="" r:id="rId25" imgW="1384300" imgH="203200" progId="Equation.3">
                  <p:embed/>
                </p:oleObj>
              </mc:Choice>
              <mc:Fallback>
                <p:oleObj name="" r:id="rId25" imgW="1384300" imgH="203200" progId="Equation.3">
                  <p:embed/>
                  <p:pic>
                    <p:nvPicPr>
                      <p:cNvPr id="0" name="图片 3144"/>
                      <p:cNvPicPr/>
                      <p:nvPr/>
                    </p:nvPicPr>
                    <p:blipFill>
                      <a:blip r:embed="rId26"/>
                      <a:stretch>
                        <a:fillRect/>
                      </a:stretch>
                    </p:blipFill>
                    <p:spPr>
                      <a:xfrm>
                        <a:off x="2832100" y="3736975"/>
                        <a:ext cx="2300288" cy="338138"/>
                      </a:xfrm>
                      <a:prstGeom prst="rect">
                        <a:avLst/>
                      </a:prstGeom>
                      <a:noFill/>
                      <a:ln w="38100">
                        <a:noFill/>
                        <a:miter/>
                      </a:ln>
                    </p:spPr>
                  </p:pic>
                </p:oleObj>
              </mc:Fallback>
            </mc:AlternateContent>
          </a:graphicData>
        </a:graphic>
      </p:graphicFrame>
      <p:graphicFrame>
        <p:nvGraphicFramePr>
          <p:cNvPr id="44109" name="Object 143"/>
          <p:cNvGraphicFramePr>
            <a:graphicFrameLocks noChangeAspect="1"/>
          </p:cNvGraphicFramePr>
          <p:nvPr/>
        </p:nvGraphicFramePr>
        <p:xfrm>
          <a:off x="5445125" y="3735388"/>
          <a:ext cx="2551113" cy="338137"/>
        </p:xfrm>
        <a:graphic>
          <a:graphicData uri="http://schemas.openxmlformats.org/presentationml/2006/ole">
            <mc:AlternateContent xmlns:mc="http://schemas.openxmlformats.org/markup-compatibility/2006">
              <mc:Choice xmlns:v="urn:schemas-microsoft-com:vml" Requires="v">
                <p:oleObj spid="_x0000_s3147" name="" r:id="rId27" imgW="1536065" imgH="203200" progId="Equation.3">
                  <p:embed/>
                </p:oleObj>
              </mc:Choice>
              <mc:Fallback>
                <p:oleObj name="" r:id="rId27" imgW="1536065" imgH="203200" progId="Equation.3">
                  <p:embed/>
                  <p:pic>
                    <p:nvPicPr>
                      <p:cNvPr id="0" name="图片 3146"/>
                      <p:cNvPicPr/>
                      <p:nvPr/>
                    </p:nvPicPr>
                    <p:blipFill>
                      <a:blip r:embed="rId28"/>
                      <a:stretch>
                        <a:fillRect/>
                      </a:stretch>
                    </p:blipFill>
                    <p:spPr>
                      <a:xfrm>
                        <a:off x="5445125" y="3735388"/>
                        <a:ext cx="2551113" cy="338137"/>
                      </a:xfrm>
                      <a:prstGeom prst="rect">
                        <a:avLst/>
                      </a:prstGeom>
                      <a:noFill/>
                      <a:ln w="38100">
                        <a:noFill/>
                        <a:miter/>
                      </a:ln>
                    </p:spPr>
                  </p:pic>
                </p:oleObj>
              </mc:Fallback>
            </mc:AlternateContent>
          </a:graphicData>
        </a:graphic>
      </p:graphicFrame>
      <p:graphicFrame>
        <p:nvGraphicFramePr>
          <p:cNvPr id="44110" name="Object 144"/>
          <p:cNvGraphicFramePr>
            <a:graphicFrameLocks noChangeAspect="1"/>
          </p:cNvGraphicFramePr>
          <p:nvPr/>
        </p:nvGraphicFramePr>
        <p:xfrm>
          <a:off x="3644900" y="4076700"/>
          <a:ext cx="674688" cy="379413"/>
        </p:xfrm>
        <a:graphic>
          <a:graphicData uri="http://schemas.openxmlformats.org/presentationml/2006/ole">
            <mc:AlternateContent xmlns:mc="http://schemas.openxmlformats.org/markup-compatibility/2006">
              <mc:Choice xmlns:v="urn:schemas-microsoft-com:vml" Requires="v">
                <p:oleObj spid="_x0000_s3157" name="" r:id="rId29" imgW="406400" imgH="228600" progId="Equation.3">
                  <p:embed/>
                </p:oleObj>
              </mc:Choice>
              <mc:Fallback>
                <p:oleObj name="" r:id="rId29" imgW="406400" imgH="228600" progId="Equation.3">
                  <p:embed/>
                  <p:pic>
                    <p:nvPicPr>
                      <p:cNvPr id="0" name="图片 3156"/>
                      <p:cNvPicPr/>
                      <p:nvPr/>
                    </p:nvPicPr>
                    <p:blipFill>
                      <a:blip r:embed="rId30"/>
                      <a:stretch>
                        <a:fillRect/>
                      </a:stretch>
                    </p:blipFill>
                    <p:spPr>
                      <a:xfrm>
                        <a:off x="3644900" y="4076700"/>
                        <a:ext cx="674688" cy="379413"/>
                      </a:xfrm>
                      <a:prstGeom prst="rect">
                        <a:avLst/>
                      </a:prstGeom>
                      <a:noFill/>
                      <a:ln w="38100">
                        <a:noFill/>
                        <a:miter/>
                      </a:ln>
                    </p:spPr>
                  </p:pic>
                </p:oleObj>
              </mc:Fallback>
            </mc:AlternateContent>
          </a:graphicData>
        </a:graphic>
      </p:graphicFrame>
      <p:graphicFrame>
        <p:nvGraphicFramePr>
          <p:cNvPr id="44111" name="Object 145"/>
          <p:cNvGraphicFramePr>
            <a:graphicFrameLocks noChangeAspect="1"/>
          </p:cNvGraphicFramePr>
          <p:nvPr/>
        </p:nvGraphicFramePr>
        <p:xfrm>
          <a:off x="3248025" y="4456113"/>
          <a:ext cx="1350963" cy="336550"/>
        </p:xfrm>
        <a:graphic>
          <a:graphicData uri="http://schemas.openxmlformats.org/presentationml/2006/ole">
            <mc:AlternateContent xmlns:mc="http://schemas.openxmlformats.org/markup-compatibility/2006">
              <mc:Choice xmlns:v="urn:schemas-microsoft-com:vml" Requires="v">
                <p:oleObj spid="_x0000_s3156" name="" r:id="rId31" imgW="812165" imgH="203200" progId="Equation.3">
                  <p:embed/>
                </p:oleObj>
              </mc:Choice>
              <mc:Fallback>
                <p:oleObj name="" r:id="rId31" imgW="812165" imgH="203200" progId="Equation.3">
                  <p:embed/>
                  <p:pic>
                    <p:nvPicPr>
                      <p:cNvPr id="0" name="图片 3155"/>
                      <p:cNvPicPr/>
                      <p:nvPr/>
                    </p:nvPicPr>
                    <p:blipFill>
                      <a:blip r:embed="rId32"/>
                      <a:stretch>
                        <a:fillRect/>
                      </a:stretch>
                    </p:blipFill>
                    <p:spPr>
                      <a:xfrm>
                        <a:off x="3248025" y="4456113"/>
                        <a:ext cx="1350963" cy="336550"/>
                      </a:xfrm>
                      <a:prstGeom prst="rect">
                        <a:avLst/>
                      </a:prstGeom>
                      <a:noFill/>
                      <a:ln w="38100">
                        <a:noFill/>
                        <a:miter/>
                      </a:ln>
                    </p:spPr>
                  </p:pic>
                </p:oleObj>
              </mc:Fallback>
            </mc:AlternateContent>
          </a:graphicData>
        </a:graphic>
      </p:graphicFrame>
      <p:graphicFrame>
        <p:nvGraphicFramePr>
          <p:cNvPr id="44112" name="Object 146"/>
          <p:cNvGraphicFramePr>
            <a:graphicFrameLocks noChangeAspect="1"/>
          </p:cNvGraphicFramePr>
          <p:nvPr/>
        </p:nvGraphicFramePr>
        <p:xfrm>
          <a:off x="5986463" y="4454525"/>
          <a:ext cx="1349375" cy="338138"/>
        </p:xfrm>
        <a:graphic>
          <a:graphicData uri="http://schemas.openxmlformats.org/presentationml/2006/ole">
            <mc:AlternateContent xmlns:mc="http://schemas.openxmlformats.org/markup-compatibility/2006">
              <mc:Choice xmlns:v="urn:schemas-microsoft-com:vml" Requires="v">
                <p:oleObj spid="_x0000_s3154" name="" r:id="rId33" imgW="812165" imgH="203200" progId="Equation.3">
                  <p:embed/>
                </p:oleObj>
              </mc:Choice>
              <mc:Fallback>
                <p:oleObj name="" r:id="rId33" imgW="812165" imgH="203200" progId="Equation.3">
                  <p:embed/>
                  <p:pic>
                    <p:nvPicPr>
                      <p:cNvPr id="0" name="图片 3153"/>
                      <p:cNvPicPr/>
                      <p:nvPr/>
                    </p:nvPicPr>
                    <p:blipFill>
                      <a:blip r:embed="rId34"/>
                      <a:stretch>
                        <a:fillRect/>
                      </a:stretch>
                    </p:blipFill>
                    <p:spPr>
                      <a:xfrm>
                        <a:off x="5986463" y="4454525"/>
                        <a:ext cx="1349375" cy="338138"/>
                      </a:xfrm>
                      <a:prstGeom prst="rect">
                        <a:avLst/>
                      </a:prstGeom>
                      <a:noFill/>
                      <a:ln w="38100">
                        <a:noFill/>
                        <a:miter/>
                      </a:ln>
                    </p:spPr>
                  </p:pic>
                </p:oleObj>
              </mc:Fallback>
            </mc:AlternateContent>
          </a:graphicData>
        </a:graphic>
      </p:graphicFrame>
      <p:graphicFrame>
        <p:nvGraphicFramePr>
          <p:cNvPr id="44113" name="Object 147"/>
          <p:cNvGraphicFramePr>
            <a:graphicFrameLocks noChangeAspect="1"/>
          </p:cNvGraphicFramePr>
          <p:nvPr/>
        </p:nvGraphicFramePr>
        <p:xfrm>
          <a:off x="6191250" y="4044950"/>
          <a:ext cx="1033463" cy="379413"/>
        </p:xfrm>
        <a:graphic>
          <a:graphicData uri="http://schemas.openxmlformats.org/presentationml/2006/ole">
            <mc:AlternateContent xmlns:mc="http://schemas.openxmlformats.org/markup-compatibility/2006">
              <mc:Choice xmlns:v="urn:schemas-microsoft-com:vml" Requires="v">
                <p:oleObj spid="_x0000_s3153" name="" r:id="rId35" imgW="622300" imgH="228600" progId="Equation.3">
                  <p:embed/>
                </p:oleObj>
              </mc:Choice>
              <mc:Fallback>
                <p:oleObj name="" r:id="rId35" imgW="622300" imgH="228600" progId="Equation.3">
                  <p:embed/>
                  <p:pic>
                    <p:nvPicPr>
                      <p:cNvPr id="0" name="图片 3152"/>
                      <p:cNvPicPr/>
                      <p:nvPr/>
                    </p:nvPicPr>
                    <p:blipFill>
                      <a:blip r:embed="rId36"/>
                      <a:stretch>
                        <a:fillRect/>
                      </a:stretch>
                    </p:blipFill>
                    <p:spPr>
                      <a:xfrm>
                        <a:off x="6191250" y="4044950"/>
                        <a:ext cx="1033463" cy="379413"/>
                      </a:xfrm>
                      <a:prstGeom prst="rect">
                        <a:avLst/>
                      </a:prstGeom>
                      <a:noFill/>
                      <a:ln w="38100">
                        <a:noFill/>
                        <a:miter/>
                      </a:ln>
                    </p:spPr>
                  </p:pic>
                </p:oleObj>
              </mc:Fallback>
            </mc:AlternateContent>
          </a:graphicData>
        </a:graphic>
      </p:graphicFrame>
      <p:graphicFrame>
        <p:nvGraphicFramePr>
          <p:cNvPr id="44114" name="Object 148"/>
          <p:cNvGraphicFramePr>
            <a:graphicFrameLocks noChangeAspect="1"/>
          </p:cNvGraphicFramePr>
          <p:nvPr/>
        </p:nvGraphicFramePr>
        <p:xfrm>
          <a:off x="3278188" y="4805363"/>
          <a:ext cx="1414462" cy="338137"/>
        </p:xfrm>
        <a:graphic>
          <a:graphicData uri="http://schemas.openxmlformats.org/presentationml/2006/ole">
            <mc:AlternateContent xmlns:mc="http://schemas.openxmlformats.org/markup-compatibility/2006">
              <mc:Choice xmlns:v="urn:schemas-microsoft-com:vml" Requires="v">
                <p:oleObj spid="_x0000_s3150" name="" r:id="rId37" imgW="850265" imgH="203200" progId="Equation.3">
                  <p:embed/>
                </p:oleObj>
              </mc:Choice>
              <mc:Fallback>
                <p:oleObj name="" r:id="rId37" imgW="850265" imgH="203200" progId="Equation.3">
                  <p:embed/>
                  <p:pic>
                    <p:nvPicPr>
                      <p:cNvPr id="0" name="图片 3149"/>
                      <p:cNvPicPr/>
                      <p:nvPr/>
                    </p:nvPicPr>
                    <p:blipFill>
                      <a:blip r:embed="rId38"/>
                      <a:stretch>
                        <a:fillRect/>
                      </a:stretch>
                    </p:blipFill>
                    <p:spPr>
                      <a:xfrm>
                        <a:off x="3278188" y="4805363"/>
                        <a:ext cx="1414462" cy="338137"/>
                      </a:xfrm>
                      <a:prstGeom prst="rect">
                        <a:avLst/>
                      </a:prstGeom>
                      <a:noFill/>
                      <a:ln w="38100">
                        <a:noFill/>
                        <a:miter/>
                      </a:ln>
                    </p:spPr>
                  </p:pic>
                </p:oleObj>
              </mc:Fallback>
            </mc:AlternateContent>
          </a:graphicData>
        </a:graphic>
      </p:graphicFrame>
      <p:graphicFrame>
        <p:nvGraphicFramePr>
          <p:cNvPr id="44115" name="Object 149"/>
          <p:cNvGraphicFramePr>
            <a:graphicFrameLocks noChangeAspect="1"/>
          </p:cNvGraphicFramePr>
          <p:nvPr/>
        </p:nvGraphicFramePr>
        <p:xfrm>
          <a:off x="3298825" y="5229225"/>
          <a:ext cx="1223963" cy="274638"/>
        </p:xfrm>
        <a:graphic>
          <a:graphicData uri="http://schemas.openxmlformats.org/presentationml/2006/ole">
            <mc:AlternateContent xmlns:mc="http://schemas.openxmlformats.org/markup-compatibility/2006">
              <mc:Choice xmlns:v="urn:schemas-microsoft-com:vml" Requires="v">
                <p:oleObj spid="_x0000_s3151" name="" r:id="rId39" imgW="735965" imgH="165100" progId="Equation.3">
                  <p:embed/>
                </p:oleObj>
              </mc:Choice>
              <mc:Fallback>
                <p:oleObj name="" r:id="rId39" imgW="735965" imgH="165100" progId="Equation.3">
                  <p:embed/>
                  <p:pic>
                    <p:nvPicPr>
                      <p:cNvPr id="0" name="图片 3150"/>
                      <p:cNvPicPr/>
                      <p:nvPr/>
                    </p:nvPicPr>
                    <p:blipFill>
                      <a:blip r:embed="rId40"/>
                      <a:stretch>
                        <a:fillRect/>
                      </a:stretch>
                    </p:blipFill>
                    <p:spPr>
                      <a:xfrm>
                        <a:off x="3298825" y="5229225"/>
                        <a:ext cx="1223963" cy="274638"/>
                      </a:xfrm>
                      <a:prstGeom prst="rect">
                        <a:avLst/>
                      </a:prstGeom>
                      <a:noFill/>
                      <a:ln w="38100">
                        <a:noFill/>
                        <a:miter/>
                      </a:ln>
                    </p:spPr>
                  </p:pic>
                </p:oleObj>
              </mc:Fallback>
            </mc:AlternateContent>
          </a:graphicData>
        </a:graphic>
      </p:graphicFrame>
      <p:graphicFrame>
        <p:nvGraphicFramePr>
          <p:cNvPr id="44116" name="Object 150"/>
          <p:cNvGraphicFramePr>
            <a:graphicFrameLocks noChangeAspect="1"/>
          </p:cNvGraphicFramePr>
          <p:nvPr/>
        </p:nvGraphicFramePr>
        <p:xfrm>
          <a:off x="3074988" y="5581650"/>
          <a:ext cx="1624012" cy="336550"/>
        </p:xfrm>
        <a:graphic>
          <a:graphicData uri="http://schemas.openxmlformats.org/presentationml/2006/ole">
            <mc:AlternateContent xmlns:mc="http://schemas.openxmlformats.org/markup-compatibility/2006">
              <mc:Choice xmlns:v="urn:schemas-microsoft-com:vml" Requires="v">
                <p:oleObj spid="_x0000_s3161" name="" r:id="rId41" imgW="977265" imgH="203200" progId="Equation.3">
                  <p:embed/>
                </p:oleObj>
              </mc:Choice>
              <mc:Fallback>
                <p:oleObj name="" r:id="rId41" imgW="977265" imgH="203200" progId="Equation.3">
                  <p:embed/>
                  <p:pic>
                    <p:nvPicPr>
                      <p:cNvPr id="0" name="图片 3160"/>
                      <p:cNvPicPr/>
                      <p:nvPr/>
                    </p:nvPicPr>
                    <p:blipFill>
                      <a:blip r:embed="rId42"/>
                      <a:stretch>
                        <a:fillRect/>
                      </a:stretch>
                    </p:blipFill>
                    <p:spPr>
                      <a:xfrm>
                        <a:off x="3074988" y="5581650"/>
                        <a:ext cx="1624012" cy="336550"/>
                      </a:xfrm>
                      <a:prstGeom prst="rect">
                        <a:avLst/>
                      </a:prstGeom>
                      <a:noFill/>
                      <a:ln w="38100">
                        <a:noFill/>
                        <a:miter/>
                      </a:ln>
                    </p:spPr>
                  </p:pic>
                </p:oleObj>
              </mc:Fallback>
            </mc:AlternateContent>
          </a:graphicData>
        </a:graphic>
      </p:graphicFrame>
      <p:graphicFrame>
        <p:nvGraphicFramePr>
          <p:cNvPr id="44117" name="Object 151"/>
          <p:cNvGraphicFramePr>
            <a:graphicFrameLocks noChangeAspect="1"/>
          </p:cNvGraphicFramePr>
          <p:nvPr/>
        </p:nvGraphicFramePr>
        <p:xfrm>
          <a:off x="2522538" y="5918200"/>
          <a:ext cx="2698750" cy="358775"/>
        </p:xfrm>
        <a:graphic>
          <a:graphicData uri="http://schemas.openxmlformats.org/presentationml/2006/ole">
            <mc:AlternateContent xmlns:mc="http://schemas.openxmlformats.org/markup-compatibility/2006">
              <mc:Choice xmlns:v="urn:schemas-microsoft-com:vml" Requires="v">
                <p:oleObj spid="_x0000_s3152" name="" r:id="rId43" imgW="1624965" imgH="215900" progId="Equation.3">
                  <p:embed/>
                </p:oleObj>
              </mc:Choice>
              <mc:Fallback>
                <p:oleObj name="" r:id="rId43" imgW="1624965" imgH="215900" progId="Equation.3">
                  <p:embed/>
                  <p:pic>
                    <p:nvPicPr>
                      <p:cNvPr id="0" name="图片 3151"/>
                      <p:cNvPicPr/>
                      <p:nvPr/>
                    </p:nvPicPr>
                    <p:blipFill>
                      <a:blip r:embed="rId44"/>
                      <a:stretch>
                        <a:fillRect/>
                      </a:stretch>
                    </p:blipFill>
                    <p:spPr>
                      <a:xfrm>
                        <a:off x="2522538" y="5918200"/>
                        <a:ext cx="2698750" cy="358775"/>
                      </a:xfrm>
                      <a:prstGeom prst="rect">
                        <a:avLst/>
                      </a:prstGeom>
                      <a:noFill/>
                      <a:ln w="38100">
                        <a:noFill/>
                        <a:miter/>
                      </a:ln>
                    </p:spPr>
                  </p:pic>
                </p:oleObj>
              </mc:Fallback>
            </mc:AlternateContent>
          </a:graphicData>
        </a:graphic>
      </p:graphicFrame>
      <p:graphicFrame>
        <p:nvGraphicFramePr>
          <p:cNvPr id="44118" name="Object 152"/>
          <p:cNvGraphicFramePr>
            <a:graphicFrameLocks noChangeAspect="1"/>
          </p:cNvGraphicFramePr>
          <p:nvPr/>
        </p:nvGraphicFramePr>
        <p:xfrm>
          <a:off x="5686425" y="4799013"/>
          <a:ext cx="1981200" cy="398462"/>
        </p:xfrm>
        <a:graphic>
          <a:graphicData uri="http://schemas.openxmlformats.org/presentationml/2006/ole">
            <mc:AlternateContent xmlns:mc="http://schemas.openxmlformats.org/markup-compatibility/2006">
              <mc:Choice xmlns:v="urn:schemas-microsoft-com:vml" Requires="v">
                <p:oleObj spid="_x0000_s3162" name="" r:id="rId45" imgW="1193800" imgH="241300" progId="Equation.3">
                  <p:embed/>
                </p:oleObj>
              </mc:Choice>
              <mc:Fallback>
                <p:oleObj name="" r:id="rId45" imgW="1193800" imgH="241300" progId="Equation.3">
                  <p:embed/>
                  <p:pic>
                    <p:nvPicPr>
                      <p:cNvPr id="0" name="图片 3161"/>
                      <p:cNvPicPr/>
                      <p:nvPr/>
                    </p:nvPicPr>
                    <p:blipFill>
                      <a:blip r:embed="rId46"/>
                      <a:stretch>
                        <a:fillRect/>
                      </a:stretch>
                    </p:blipFill>
                    <p:spPr>
                      <a:xfrm>
                        <a:off x="5686425" y="4799013"/>
                        <a:ext cx="1981200" cy="398462"/>
                      </a:xfrm>
                      <a:prstGeom prst="rect">
                        <a:avLst/>
                      </a:prstGeom>
                      <a:noFill/>
                      <a:ln w="38100">
                        <a:noFill/>
                        <a:miter/>
                      </a:ln>
                    </p:spPr>
                  </p:pic>
                </p:oleObj>
              </mc:Fallback>
            </mc:AlternateContent>
          </a:graphicData>
        </a:graphic>
      </p:graphicFrame>
      <p:graphicFrame>
        <p:nvGraphicFramePr>
          <p:cNvPr id="44119" name="Object 153"/>
          <p:cNvGraphicFramePr>
            <a:graphicFrameLocks noChangeAspect="1"/>
          </p:cNvGraphicFramePr>
          <p:nvPr/>
        </p:nvGraphicFramePr>
        <p:xfrm>
          <a:off x="5910263" y="5221288"/>
          <a:ext cx="1538287" cy="336550"/>
        </p:xfrm>
        <a:graphic>
          <a:graphicData uri="http://schemas.openxmlformats.org/presentationml/2006/ole">
            <mc:AlternateContent xmlns:mc="http://schemas.openxmlformats.org/markup-compatibility/2006">
              <mc:Choice xmlns:v="urn:schemas-microsoft-com:vml" Requires="v">
                <p:oleObj spid="_x0000_s3163" name="" r:id="rId47" imgW="926465" imgH="203200" progId="Equation.3">
                  <p:embed/>
                </p:oleObj>
              </mc:Choice>
              <mc:Fallback>
                <p:oleObj name="" r:id="rId47" imgW="926465" imgH="203200" progId="Equation.3">
                  <p:embed/>
                  <p:pic>
                    <p:nvPicPr>
                      <p:cNvPr id="0" name="图片 3162"/>
                      <p:cNvPicPr/>
                      <p:nvPr/>
                    </p:nvPicPr>
                    <p:blipFill>
                      <a:blip r:embed="rId48"/>
                      <a:stretch>
                        <a:fillRect/>
                      </a:stretch>
                    </p:blipFill>
                    <p:spPr>
                      <a:xfrm>
                        <a:off x="5910263" y="5221288"/>
                        <a:ext cx="1538287" cy="336550"/>
                      </a:xfrm>
                      <a:prstGeom prst="rect">
                        <a:avLst/>
                      </a:prstGeom>
                      <a:noFill/>
                      <a:ln w="38100">
                        <a:noFill/>
                        <a:miter/>
                      </a:ln>
                    </p:spPr>
                  </p:pic>
                </p:oleObj>
              </mc:Fallback>
            </mc:AlternateContent>
          </a:graphicData>
        </a:graphic>
      </p:graphicFrame>
      <p:graphicFrame>
        <p:nvGraphicFramePr>
          <p:cNvPr id="44120" name="Object 154"/>
          <p:cNvGraphicFramePr>
            <a:graphicFrameLocks noChangeAspect="1"/>
          </p:cNvGraphicFramePr>
          <p:nvPr/>
        </p:nvGraphicFramePr>
        <p:xfrm>
          <a:off x="5824538" y="5589588"/>
          <a:ext cx="1709737" cy="400050"/>
        </p:xfrm>
        <a:graphic>
          <a:graphicData uri="http://schemas.openxmlformats.org/presentationml/2006/ole">
            <mc:AlternateContent xmlns:mc="http://schemas.openxmlformats.org/markup-compatibility/2006">
              <mc:Choice xmlns:v="urn:schemas-microsoft-com:vml" Requires="v">
                <p:oleObj spid="_x0000_s3160" name="" r:id="rId49" imgW="1028065" imgH="241300" progId="Equation.3">
                  <p:embed/>
                </p:oleObj>
              </mc:Choice>
              <mc:Fallback>
                <p:oleObj name="" r:id="rId49" imgW="1028065" imgH="241300" progId="Equation.3">
                  <p:embed/>
                  <p:pic>
                    <p:nvPicPr>
                      <p:cNvPr id="0" name="图片 3159"/>
                      <p:cNvPicPr/>
                      <p:nvPr/>
                    </p:nvPicPr>
                    <p:blipFill>
                      <a:blip r:embed="rId50"/>
                      <a:stretch>
                        <a:fillRect/>
                      </a:stretch>
                    </p:blipFill>
                    <p:spPr>
                      <a:xfrm>
                        <a:off x="5824538" y="5589588"/>
                        <a:ext cx="1709737" cy="400050"/>
                      </a:xfrm>
                      <a:prstGeom prst="rect">
                        <a:avLst/>
                      </a:prstGeom>
                      <a:noFill/>
                      <a:ln w="38100">
                        <a:noFill/>
                        <a:miter/>
                      </a:ln>
                    </p:spPr>
                  </p:pic>
                </p:oleObj>
              </mc:Fallback>
            </mc:AlternateContent>
          </a:graphicData>
        </a:graphic>
      </p:graphicFrame>
      <p:graphicFrame>
        <p:nvGraphicFramePr>
          <p:cNvPr id="44121" name="Object 155"/>
          <p:cNvGraphicFramePr>
            <a:graphicFrameLocks noChangeAspect="1"/>
          </p:cNvGraphicFramePr>
          <p:nvPr/>
        </p:nvGraphicFramePr>
        <p:xfrm>
          <a:off x="5394325" y="5973763"/>
          <a:ext cx="3065463" cy="303212"/>
        </p:xfrm>
        <a:graphic>
          <a:graphicData uri="http://schemas.openxmlformats.org/presentationml/2006/ole">
            <mc:AlternateContent xmlns:mc="http://schemas.openxmlformats.org/markup-compatibility/2006">
              <mc:Choice xmlns:v="urn:schemas-microsoft-com:vml" Requires="v">
                <p:oleObj spid="_x0000_s3155" name="" r:id="rId51" imgW="2438400" imgH="241300" progId="Equation.3">
                  <p:embed/>
                </p:oleObj>
              </mc:Choice>
              <mc:Fallback>
                <p:oleObj name="" r:id="rId51" imgW="2438400" imgH="241300" progId="Equation.3">
                  <p:embed/>
                  <p:pic>
                    <p:nvPicPr>
                      <p:cNvPr id="0" name="图片 3154"/>
                      <p:cNvPicPr/>
                      <p:nvPr/>
                    </p:nvPicPr>
                    <p:blipFill>
                      <a:blip r:embed="rId52"/>
                      <a:stretch>
                        <a:fillRect/>
                      </a:stretch>
                    </p:blipFill>
                    <p:spPr>
                      <a:xfrm>
                        <a:off x="5394325" y="5973763"/>
                        <a:ext cx="3065463" cy="303212"/>
                      </a:xfrm>
                      <a:prstGeom prst="rect">
                        <a:avLst/>
                      </a:prstGeom>
                      <a:noFill/>
                      <a:ln w="38100">
                        <a:noFill/>
                        <a:miter/>
                      </a:ln>
                    </p:spPr>
                  </p:pic>
                </p:oleObj>
              </mc:Fallback>
            </mc:AlternateContent>
          </a:graphicData>
        </a:graphic>
      </p:graphicFrame>
    </p:spTree>
  </p:cSld>
  <p:clrMapOvr>
    <a:masterClrMapping/>
  </p:clrMapOvr>
  <p:transition spd="slow" advClick="0"/>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3" name="Rectangle 3"/>
          <p:cNvSpPr>
            <a:spLocks noGrp="1"/>
          </p:cNvSpPr>
          <p:nvPr>
            <p:ph type="title" idx="4294967295"/>
          </p:nvPr>
        </p:nvSpPr>
        <p:spPr>
          <a:xfrm>
            <a:off x="250825" y="1125538"/>
            <a:ext cx="7772400" cy="608012"/>
          </a:xfrm>
          <a:ln/>
        </p:spPr>
        <p:txBody>
          <a:bodyPr vert="horz" wrap="square" lIns="91440" tIns="45720" rIns="91440" bIns="45720" anchor="ctr" anchorCtr="0"/>
          <a:p>
            <a:pPr algn="l" eaLnBrk="1" hangingPunct="1"/>
            <a:r>
              <a:rPr lang="zh-CN" altLang="en-US" sz="2400" b="1" dirty="0">
                <a:solidFill>
                  <a:srgbClr val="FF3300"/>
                </a:solidFill>
                <a:ea typeface="楷体_GB2312" pitchFamily="49" charset="-122"/>
              </a:rPr>
              <a:t>逻辑函数式化简的意义与标准</a:t>
            </a:r>
            <a:r>
              <a:rPr lang="zh-CN" altLang="en-US" sz="2400" dirty="0"/>
              <a:t> </a:t>
            </a:r>
            <a:endParaRPr lang="zh-CN" altLang="en-US" sz="2400" dirty="0"/>
          </a:p>
        </p:txBody>
      </p:sp>
      <p:sp>
        <p:nvSpPr>
          <p:cNvPr id="133124" name="Rectangle 4"/>
          <p:cNvSpPr/>
          <p:nvPr/>
        </p:nvSpPr>
        <p:spPr>
          <a:xfrm>
            <a:off x="839788" y="2057400"/>
            <a:ext cx="503237" cy="1460500"/>
          </a:xfrm>
          <a:prstGeom prst="rect">
            <a:avLst/>
          </a:prstGeom>
          <a:solidFill>
            <a:srgbClr val="CC99FF">
              <a:alpha val="50195"/>
            </a:srgbClr>
          </a:solidFill>
          <a:ln w="9525">
            <a:noFill/>
          </a:ln>
        </p:spPr>
        <p:txBody>
          <a:bodyPr lIns="0" tIns="0" rIns="0" bIns="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2400" b="1" dirty="0">
                <a:latin typeface="Times New Roman" panose="02020603050405020304" pitchFamily="18" charset="0"/>
              </a:rPr>
              <a:t>化简意义</a:t>
            </a:r>
            <a:endParaRPr lang="zh-CN" altLang="en-US" sz="2400" b="1" dirty="0">
              <a:solidFill>
                <a:srgbClr val="000000"/>
              </a:solidFill>
              <a:latin typeface="Times New Roman" panose="02020603050405020304" pitchFamily="18" charset="0"/>
            </a:endParaRPr>
          </a:p>
        </p:txBody>
      </p:sp>
      <p:sp>
        <p:nvSpPr>
          <p:cNvPr id="133125" name="Rectangle 5"/>
          <p:cNvSpPr/>
          <p:nvPr/>
        </p:nvSpPr>
        <p:spPr>
          <a:xfrm>
            <a:off x="1419225" y="2073275"/>
            <a:ext cx="7339013" cy="1443038"/>
          </a:xfrm>
          <a:prstGeom prst="rect">
            <a:avLst/>
          </a:prstGeom>
          <a:solidFill>
            <a:srgbClr val="99CCFF">
              <a:alpha val="50195"/>
            </a:srgbClr>
          </a:solid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30000"/>
              </a:spcBef>
              <a:buNone/>
            </a:pPr>
            <a:r>
              <a:rPr lang="zh-CN" altLang="en-US" sz="2400" b="1" dirty="0">
                <a:latin typeface="Times New Roman" panose="02020603050405020304" pitchFamily="18" charset="0"/>
              </a:rPr>
              <a:t>　　使逻辑式最简，以便设计出最简的逻辑电路，</a:t>
            </a:r>
            <a:endParaRPr lang="zh-CN" altLang="en-US" sz="2400" b="1" dirty="0">
              <a:latin typeface="Times New Roman" panose="02020603050405020304" pitchFamily="18" charset="0"/>
            </a:endParaRPr>
          </a:p>
          <a:p>
            <a:pPr marL="0" lvl="0" indent="0" eaLnBrk="1" hangingPunct="1">
              <a:spcBef>
                <a:spcPct val="30000"/>
              </a:spcBef>
              <a:buNone/>
            </a:pPr>
            <a:r>
              <a:rPr lang="zh-CN" altLang="en-US" sz="2400" b="1" dirty="0">
                <a:latin typeface="Times New Roman" panose="02020603050405020304" pitchFamily="18" charset="0"/>
              </a:rPr>
              <a:t>从而节省元器件、优化生产工艺、降低成本和提</a:t>
            </a:r>
            <a:endParaRPr lang="zh-CN" altLang="en-US" sz="2400" b="1" dirty="0">
              <a:latin typeface="Times New Roman" panose="02020603050405020304" pitchFamily="18" charset="0"/>
            </a:endParaRPr>
          </a:p>
          <a:p>
            <a:pPr marL="0" lvl="0" indent="0" eaLnBrk="1" hangingPunct="1">
              <a:spcBef>
                <a:spcPct val="40000"/>
              </a:spcBef>
              <a:buNone/>
            </a:pPr>
            <a:r>
              <a:rPr lang="zh-CN" altLang="en-US" sz="2400" b="1" dirty="0">
                <a:latin typeface="Times New Roman" panose="02020603050405020304" pitchFamily="18" charset="0"/>
              </a:rPr>
              <a:t>高系统可靠性。 </a:t>
            </a:r>
            <a:endParaRPr lang="zh-CN" altLang="en-US" sz="2400" b="1" dirty="0">
              <a:latin typeface="Times New Roman" panose="02020603050405020304" pitchFamily="18" charset="0"/>
            </a:endParaRPr>
          </a:p>
        </p:txBody>
      </p:sp>
      <p:sp>
        <p:nvSpPr>
          <p:cNvPr id="133127" name="Rectangle 7"/>
          <p:cNvSpPr/>
          <p:nvPr/>
        </p:nvSpPr>
        <p:spPr>
          <a:xfrm>
            <a:off x="1373188" y="4057650"/>
            <a:ext cx="7172325" cy="941388"/>
          </a:xfrm>
          <a:prstGeom prst="rect">
            <a:avLst/>
          </a:prstGeom>
          <a:solidFill>
            <a:srgbClr val="99CCFF">
              <a:alpha val="50195"/>
            </a:srgbClr>
          </a:solid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30000"/>
              </a:spcBef>
              <a:buNone/>
            </a:pPr>
            <a:r>
              <a:rPr lang="zh-CN" altLang="en-US" sz="2400" b="1" dirty="0">
                <a:latin typeface="Times New Roman" panose="02020603050405020304" pitchFamily="18" charset="0"/>
              </a:rPr>
              <a:t>　　不同形式逻辑式有不同的最简式，一般先求取</a:t>
            </a:r>
            <a:endParaRPr lang="zh-CN" altLang="en-US" sz="2400" b="1" dirty="0">
              <a:latin typeface="Times New Roman" panose="02020603050405020304" pitchFamily="18" charset="0"/>
            </a:endParaRPr>
          </a:p>
          <a:p>
            <a:pPr marL="0" lvl="0" indent="0" eaLnBrk="1" hangingPunct="1">
              <a:spcBef>
                <a:spcPct val="30000"/>
              </a:spcBef>
              <a:buNone/>
            </a:pPr>
            <a:r>
              <a:rPr lang="zh-CN" altLang="en-US" sz="2400" b="1" dirty="0">
                <a:latin typeface="Times New Roman" panose="02020603050405020304" pitchFamily="18" charset="0"/>
              </a:rPr>
              <a:t>最简</a:t>
            </a:r>
            <a:r>
              <a:rPr lang="zh-CN" altLang="en-US" sz="2400" b="1" dirty="0">
                <a:solidFill>
                  <a:srgbClr val="FF0000"/>
                </a:solidFill>
                <a:latin typeface="Times New Roman" panose="02020603050405020304" pitchFamily="18" charset="0"/>
              </a:rPr>
              <a:t>与 </a:t>
            </a:r>
            <a:r>
              <a:rPr lang="en-US" altLang="zh-CN" sz="2400" b="1" dirty="0">
                <a:solidFill>
                  <a:srgbClr val="FF0000"/>
                </a:solidFill>
                <a:latin typeface="宋体" panose="02010600030101010101" pitchFamily="2" charset="-122"/>
              </a:rPr>
              <a:t>-</a:t>
            </a:r>
            <a:r>
              <a:rPr lang="en-US" altLang="zh-CN" sz="2400" b="1" dirty="0">
                <a:solidFill>
                  <a:srgbClr val="FF0000"/>
                </a:solidFill>
                <a:latin typeface="Times New Roman" panose="02020603050405020304" pitchFamily="18" charset="0"/>
              </a:rPr>
              <a:t> </a:t>
            </a:r>
            <a:r>
              <a:rPr lang="zh-CN" altLang="en-US" sz="2400" b="1" dirty="0">
                <a:solidFill>
                  <a:srgbClr val="FF0000"/>
                </a:solidFill>
                <a:latin typeface="Times New Roman" panose="02020603050405020304" pitchFamily="18" charset="0"/>
              </a:rPr>
              <a:t>或</a:t>
            </a:r>
            <a:r>
              <a:rPr lang="zh-CN" altLang="en-US" sz="2400" b="1" dirty="0">
                <a:latin typeface="Times New Roman" panose="02020603050405020304" pitchFamily="18" charset="0"/>
              </a:rPr>
              <a:t>式，然后通过变换得到所需最简式。 </a:t>
            </a:r>
            <a:endParaRPr lang="zh-CN" altLang="en-US" sz="2400" b="1" dirty="0">
              <a:latin typeface="Times New Roman" panose="02020603050405020304" pitchFamily="18" charset="0"/>
            </a:endParaRPr>
          </a:p>
        </p:txBody>
      </p:sp>
      <p:grpSp>
        <p:nvGrpSpPr>
          <p:cNvPr id="45062" name="Group 6"/>
          <p:cNvGrpSpPr/>
          <p:nvPr/>
        </p:nvGrpSpPr>
        <p:grpSpPr>
          <a:xfrm>
            <a:off x="755650" y="188913"/>
            <a:ext cx="5329238" cy="576262"/>
            <a:chOff x="975" y="436"/>
            <a:chExt cx="3810" cy="363"/>
          </a:xfrm>
        </p:grpSpPr>
        <p:sp>
          <p:nvSpPr>
            <p:cNvPr id="45063" name="AutoShape 4"/>
            <p:cNvSpPr/>
            <p:nvPr/>
          </p:nvSpPr>
          <p:spPr>
            <a:xfrm>
              <a:off x="975" y="436"/>
              <a:ext cx="3810" cy="363"/>
            </a:xfrm>
            <a:prstGeom prst="roundRect">
              <a:avLst>
                <a:gd name="adj" fmla="val 10889"/>
              </a:avLst>
            </a:prstGeom>
            <a:solidFill>
              <a:schemeClr val="accent1"/>
            </a:solidFill>
            <a:ln w="38100" cap="flat" cmpd="sng">
              <a:solidFill>
                <a:schemeClr val="tx1"/>
              </a:solidFill>
              <a:prstDash val="solid"/>
              <a:headEnd type="none" w="med" len="med"/>
              <a:tailEnd type="none" w="med" len="med"/>
            </a:ln>
            <a:effectLst>
              <a:outerShdw dist="135003" dir="2928844" algn="ctr" rotWithShape="0">
                <a:srgbClr val="000000">
                  <a:alpha val="50000"/>
                </a:srgbClr>
              </a:outerShdw>
            </a:effectLst>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en-US" sz="1800" dirty="0"/>
            </a:p>
          </p:txBody>
        </p:sp>
        <p:sp>
          <p:nvSpPr>
            <p:cNvPr id="45064" name="AutoShape 5"/>
            <p:cNvSpPr/>
            <p:nvPr/>
          </p:nvSpPr>
          <p:spPr>
            <a:xfrm>
              <a:off x="1156" y="436"/>
              <a:ext cx="635" cy="359"/>
            </a:xfrm>
            <a:prstGeom prst="roundRect">
              <a:avLst>
                <a:gd name="adj" fmla="val 11921"/>
              </a:avLst>
            </a:prstGeom>
            <a:gradFill rotWithShape="1">
              <a:gsLst>
                <a:gs pos="0">
                  <a:srgbClr val="0066CC"/>
                </a:gs>
                <a:gs pos="100000">
                  <a:srgbClr val="00478E"/>
                </a:gs>
              </a:gsLst>
              <a:lin ang="5400000" scaled="1"/>
              <a:tileRect/>
            </a:gradFill>
            <a:ln w="381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1800" dirty="0"/>
            </a:p>
          </p:txBody>
        </p:sp>
        <p:sp>
          <p:nvSpPr>
            <p:cNvPr id="9" name="Freeform 6"/>
            <p:cNvSpPr/>
            <p:nvPr/>
          </p:nvSpPr>
          <p:spPr bwMode="gray">
            <a:xfrm>
              <a:off x="1252" y="485"/>
              <a:ext cx="540" cy="216"/>
            </a:xfrm>
            <a:custGeom>
              <a:avLst/>
              <a:gdLst/>
              <a:ahLst/>
              <a:cxnLst>
                <a:cxn ang="0">
                  <a:pos x="118" y="0"/>
                </a:cxn>
                <a:cxn ang="0">
                  <a:pos x="0" y="118"/>
                </a:cxn>
                <a:cxn ang="0">
                  <a:pos x="0" y="589"/>
                </a:cxn>
                <a:cxn ang="0">
                  <a:pos x="161" y="174"/>
                </a:cxn>
                <a:cxn ang="0">
                  <a:pos x="589" y="0"/>
                </a:cxn>
                <a:cxn ang="0">
                  <a:pos x="118" y="0"/>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rgbClr val="0066CC">
                    <a:gamma/>
                    <a:tint val="54510"/>
                    <a:invGamma/>
                  </a:srgbClr>
                </a:gs>
                <a:gs pos="50000">
                  <a:srgbClr val="0066CC">
                    <a:alpha val="0"/>
                  </a:srgbClr>
                </a:gs>
                <a:gs pos="100000">
                  <a:srgbClr val="0066CC">
                    <a:gamma/>
                    <a:tint val="54510"/>
                    <a:invGamma/>
                  </a:srgbClr>
                </a:gs>
              </a:gsLst>
              <a:lin ang="2700000" scaled="1"/>
            </a:gradFill>
            <a:ln w="0">
              <a:noFill/>
              <a:prstDash val="solid"/>
              <a:round/>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 name="Text Box 7"/>
            <p:cNvSpPr txBox="1">
              <a:spLocks noChangeArrowheads="1"/>
            </p:cNvSpPr>
            <p:nvPr/>
          </p:nvSpPr>
          <p:spPr bwMode="gray">
            <a:xfrm>
              <a:off x="1020" y="436"/>
              <a:ext cx="77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smtClean="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6</a:t>
              </a:r>
              <a:endParaRPr kumimoji="0" lang="en-US" altLang="zh-CN" sz="2800" b="0" i="0" u="none" strike="noStrike" kern="1200" cap="none" spc="0" normalizeH="0" baseline="0" noProof="0" dirty="0" smtClean="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5069" name="Text Box 8"/>
            <p:cNvSpPr txBox="1"/>
            <p:nvPr/>
          </p:nvSpPr>
          <p:spPr>
            <a:xfrm>
              <a:off x="1973" y="486"/>
              <a:ext cx="2721" cy="288"/>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zh-CN" altLang="en-US" sz="2400" b="1" dirty="0">
                  <a:solidFill>
                    <a:srgbClr val="FF0000"/>
                  </a:solidFill>
                  <a:ea typeface="华文新魏" panose="02010800040101010101" pitchFamily="2" charset="-122"/>
                </a:rPr>
                <a:t>逻辑函数的公式化简法</a:t>
              </a:r>
              <a:endParaRPr lang="zh-CN" altLang="en-US" sz="2400" b="1" dirty="0">
                <a:solidFill>
                  <a:srgbClr val="FF0000"/>
                </a:solidFill>
                <a:ea typeface="华文新魏" panose="02010800040101010101" pitchFamily="2" charset="-122"/>
              </a:endParaRPr>
            </a:p>
          </p:txBody>
        </p:sp>
      </p:grpSp>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3123"/>
                                        </p:tgtEl>
                                        <p:attrNameLst>
                                          <p:attrName>style.visibility</p:attrName>
                                        </p:attrNameLst>
                                      </p:cBhvr>
                                      <p:to>
                                        <p:strVal val="visible"/>
                                      </p:to>
                                    </p:set>
                                    <p:animEffect transition="in" filter="wipe(left)">
                                      <p:cBhvr>
                                        <p:cTn id="7" dur="500"/>
                                        <p:tgtEl>
                                          <p:spTgt spid="1331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3124"/>
                                        </p:tgtEl>
                                        <p:attrNameLst>
                                          <p:attrName>style.visibility</p:attrName>
                                        </p:attrNameLst>
                                      </p:cBhvr>
                                      <p:to>
                                        <p:strVal val="visible"/>
                                      </p:to>
                                    </p:set>
                                    <p:animEffect transition="in" filter="wipe(left)">
                                      <p:cBhvr>
                                        <p:cTn id="12" dur="500"/>
                                        <p:tgtEl>
                                          <p:spTgt spid="133124"/>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33125"/>
                                        </p:tgtEl>
                                        <p:attrNameLst>
                                          <p:attrName>style.visibility</p:attrName>
                                        </p:attrNameLst>
                                      </p:cBhvr>
                                      <p:to>
                                        <p:strVal val="visible"/>
                                      </p:to>
                                    </p:set>
                                    <p:animEffect transition="in" filter="wipe(left)">
                                      <p:cBhvr>
                                        <p:cTn id="16" dur="500"/>
                                        <p:tgtEl>
                                          <p:spTgt spid="13312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33127"/>
                                        </p:tgtEl>
                                        <p:attrNameLst>
                                          <p:attrName>style.visibility</p:attrName>
                                        </p:attrNameLst>
                                      </p:cBhvr>
                                      <p:to>
                                        <p:strVal val="visible"/>
                                      </p:to>
                                    </p:set>
                                    <p:animEffect transition="in" filter="wipe(left)">
                                      <p:cBhvr>
                                        <p:cTn id="21" dur="500"/>
                                        <p:tgtEl>
                                          <p:spTgt spid="133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3" grpId="0"/>
      <p:bldP spid="133124" grpId="0" animBg="1"/>
      <p:bldP spid="133125" grpId="0" animBg="1"/>
      <p:bldP spid="13312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5590" name="Rectangle 6"/>
          <p:cNvSpPr>
            <a:spLocks noChangeArrowheads="1"/>
          </p:cNvSpPr>
          <p:nvPr/>
        </p:nvSpPr>
        <p:spPr bwMode="auto">
          <a:xfrm>
            <a:off x="1373188" y="1068388"/>
            <a:ext cx="2651125" cy="369888"/>
          </a:xfrm>
          <a:prstGeom prst="rect">
            <a:avLst/>
          </a:prstGeom>
        </p:spPr>
        <p:style>
          <a:lnRef idx="2">
            <a:schemeClr val="dk1"/>
          </a:lnRef>
          <a:fillRef idx="1">
            <a:schemeClr val="lt1"/>
          </a:fillRef>
          <a:effectRef idx="0">
            <a:schemeClr val="dk1"/>
          </a:effectRef>
          <a:fontRef idx="minor">
            <a:schemeClr val="dk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rPr>
              <a:t>最简</a:t>
            </a:r>
            <a:r>
              <a:rPr kumimoji="1" lang="zh-CN" altLang="en-US" sz="2400" b="1" i="0" u="none" strike="noStrike" kern="1200" cap="none" spc="0" normalizeH="0" baseline="0" noProof="0" dirty="0" smtClean="0">
                <a:ln>
                  <a:noFill/>
                </a:ln>
                <a:solidFill>
                  <a:srgbClr val="FF0000"/>
                </a:solidFill>
                <a:effectLst/>
                <a:uLnTx/>
                <a:uFillTx/>
                <a:latin typeface="Times New Roman" panose="02020603050405020304" pitchFamily="18" charset="0"/>
                <a:ea typeface="宋体" panose="02010600030101010101" pitchFamily="2" charset="-122"/>
                <a:cs typeface="+mn-cs"/>
              </a:rPr>
              <a:t>与 </a:t>
            </a:r>
            <a:r>
              <a:rPr kumimoji="1" lang="en-US" altLang="zh-CN" sz="2400" b="1" i="0" u="none" strike="noStrike" kern="120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cs typeface="+mn-cs"/>
              </a:rPr>
              <a:t>-</a:t>
            </a:r>
            <a:r>
              <a:rPr kumimoji="1" lang="en-US" altLang="zh-CN" sz="2400" b="1" i="0" u="none" strike="noStrike" kern="1200" cap="none" spc="0" normalizeH="0" baseline="0" noProof="0" dirty="0" smtClean="0">
                <a:ln>
                  <a:noFill/>
                </a:ln>
                <a:solidFill>
                  <a:srgbClr val="FF0000"/>
                </a:solidFill>
                <a:effectLst/>
                <a:uLnTx/>
                <a:uFillTx/>
                <a:latin typeface="Times New Roman" panose="02020603050405020304" pitchFamily="18" charset="0"/>
                <a:ea typeface="宋体" panose="02010600030101010101" pitchFamily="2" charset="-122"/>
                <a:cs typeface="+mn-cs"/>
              </a:rPr>
              <a:t> </a:t>
            </a:r>
            <a:r>
              <a:rPr kumimoji="1" lang="zh-CN" altLang="en-US" sz="2400" b="1" i="0" u="none" strike="noStrike" kern="1200" cap="none" spc="0" normalizeH="0" baseline="0" noProof="0" dirty="0" smtClean="0">
                <a:ln>
                  <a:noFill/>
                </a:ln>
                <a:solidFill>
                  <a:srgbClr val="FF0000"/>
                </a:solidFill>
                <a:effectLst/>
                <a:uLnTx/>
                <a:uFillTx/>
                <a:latin typeface="Times New Roman" panose="02020603050405020304" pitchFamily="18" charset="0"/>
                <a:ea typeface="宋体" panose="02010600030101010101" pitchFamily="2" charset="-122"/>
                <a:cs typeface="+mn-cs"/>
              </a:rPr>
              <a:t>或</a:t>
            </a:r>
            <a:r>
              <a:rPr kumimoji="1"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rPr>
              <a:t>式标准 </a:t>
            </a:r>
            <a:endParaRPr kumimoji="1"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5591" name="Rectangle 7"/>
          <p:cNvSpPr/>
          <p:nvPr/>
        </p:nvSpPr>
        <p:spPr>
          <a:xfrm>
            <a:off x="712788" y="1744663"/>
            <a:ext cx="4837112" cy="968375"/>
          </a:xfrm>
          <a:prstGeom prst="rect">
            <a:avLst/>
          </a:prstGeom>
          <a:solidFill>
            <a:srgbClr val="99CCFF">
              <a:alpha val="50195"/>
            </a:srgbClr>
          </a:solid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20000"/>
              </a:lnSpc>
              <a:spcBef>
                <a:spcPct val="0"/>
              </a:spcBef>
              <a:buNone/>
            </a:pPr>
            <a:r>
              <a:rPr lang="en-US" altLang="zh-CN" sz="2400" b="1" dirty="0">
                <a:latin typeface="宋体" panose="02010600030101010101" pitchFamily="2" charset="-122"/>
              </a:rPr>
              <a:t>(</a:t>
            </a:r>
            <a:r>
              <a:rPr lang="en-US" altLang="zh-CN" sz="2400" b="1" dirty="0">
                <a:latin typeface="Times New Roman" panose="02020603050405020304" pitchFamily="18" charset="0"/>
              </a:rPr>
              <a:t>1</a:t>
            </a:r>
            <a:r>
              <a:rPr lang="en-US" altLang="zh-CN" sz="2400" b="1" dirty="0">
                <a:latin typeface="宋体" panose="02010600030101010101" pitchFamily="2" charset="-122"/>
              </a:rPr>
              <a:t>)</a:t>
            </a:r>
            <a:r>
              <a:rPr lang="zh-CN" altLang="en-US" sz="2400" b="1" dirty="0">
                <a:latin typeface="宋体" panose="02010600030101010101" pitchFamily="2" charset="-122"/>
              </a:rPr>
              <a:t>乘积项</a:t>
            </a:r>
            <a:r>
              <a:rPr lang="en-US" altLang="zh-CN" sz="2400" b="1" dirty="0">
                <a:latin typeface="宋体" panose="02010600030101010101" pitchFamily="2" charset="-122"/>
              </a:rPr>
              <a:t>(</a:t>
            </a:r>
            <a:r>
              <a:rPr lang="zh-CN" altLang="en-US" sz="2400" b="1" dirty="0">
                <a:latin typeface="宋体" panose="02010600030101010101" pitchFamily="2" charset="-122"/>
              </a:rPr>
              <a:t>即与项</a:t>
            </a:r>
            <a:r>
              <a:rPr lang="en-US" altLang="zh-CN" sz="2400" b="1" dirty="0">
                <a:latin typeface="宋体" panose="02010600030101010101" pitchFamily="2" charset="-122"/>
              </a:rPr>
              <a:t>)</a:t>
            </a:r>
            <a:r>
              <a:rPr lang="zh-CN" altLang="en-US" sz="2400" b="1" dirty="0">
                <a:latin typeface="宋体" panose="02010600030101010101" pitchFamily="2" charset="-122"/>
              </a:rPr>
              <a:t>的个数最少</a:t>
            </a:r>
            <a:endParaRPr lang="zh-CN" altLang="en-US" sz="2400" b="1" dirty="0">
              <a:latin typeface="宋体" panose="02010600030101010101" pitchFamily="2" charset="-122"/>
            </a:endParaRPr>
          </a:p>
          <a:p>
            <a:pPr marL="0" lvl="0" indent="0" eaLnBrk="1" hangingPunct="1">
              <a:lnSpc>
                <a:spcPct val="120000"/>
              </a:lnSpc>
              <a:spcBef>
                <a:spcPct val="0"/>
              </a:spcBef>
              <a:buNone/>
            </a:pPr>
            <a:r>
              <a:rPr lang="en-US" altLang="zh-CN" sz="2400" b="1" dirty="0">
                <a:latin typeface="宋体" panose="02010600030101010101" pitchFamily="2" charset="-122"/>
              </a:rPr>
              <a:t>(</a:t>
            </a:r>
            <a:r>
              <a:rPr lang="en-US" altLang="zh-CN" sz="2400" b="1" dirty="0">
                <a:latin typeface="Times New Roman" panose="02020603050405020304" pitchFamily="18" charset="0"/>
              </a:rPr>
              <a:t>2</a:t>
            </a:r>
            <a:r>
              <a:rPr lang="en-US" altLang="zh-CN" sz="2400" b="1" dirty="0">
                <a:latin typeface="宋体" panose="02010600030101010101" pitchFamily="2" charset="-122"/>
              </a:rPr>
              <a:t>)</a:t>
            </a:r>
            <a:r>
              <a:rPr lang="zh-CN" altLang="en-US" sz="2400" b="1" dirty="0">
                <a:latin typeface="宋体" panose="02010600030101010101" pitchFamily="2" charset="-122"/>
              </a:rPr>
              <a:t>每个乘积项中的变量数最少 </a:t>
            </a:r>
            <a:endParaRPr lang="zh-CN" altLang="en-US" sz="2400" b="1" dirty="0">
              <a:latin typeface="宋体" panose="02010600030101010101" pitchFamily="2" charset="-122"/>
            </a:endParaRPr>
          </a:p>
        </p:txBody>
      </p:sp>
      <p:sp>
        <p:nvSpPr>
          <p:cNvPr id="195592" name="AutoShape 8"/>
          <p:cNvSpPr/>
          <p:nvPr/>
        </p:nvSpPr>
        <p:spPr>
          <a:xfrm>
            <a:off x="5813425" y="1739900"/>
            <a:ext cx="2944813" cy="771525"/>
          </a:xfrm>
          <a:prstGeom prst="wedgeRectCallout">
            <a:avLst>
              <a:gd name="adj1" fmla="val -60079"/>
              <a:gd name="adj2" fmla="val -4319"/>
            </a:avLst>
          </a:prstGeom>
          <a:solidFill>
            <a:srgbClr val="CCFFFF">
              <a:alpha val="50195"/>
            </a:srgbClr>
          </a:solidFill>
          <a:ln w="9525" cap="flat" cmpd="sng">
            <a:solidFill>
              <a:schemeClr val="tx1"/>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just" eaLnBrk="1" hangingPunct="1">
              <a:spcBef>
                <a:spcPct val="0"/>
              </a:spcBef>
              <a:buNone/>
            </a:pPr>
            <a:r>
              <a:rPr lang="zh-CN" altLang="en-US" sz="2400" b="1" dirty="0">
                <a:latin typeface="Times New Roman" panose="02020603050405020304" pitchFamily="18" charset="0"/>
              </a:rPr>
              <a:t>用与门个数最少</a:t>
            </a:r>
            <a:endParaRPr lang="zh-CN" altLang="en-US" sz="2400" b="1" dirty="0">
              <a:latin typeface="宋体" panose="02010600030101010101" pitchFamily="2" charset="-122"/>
            </a:endParaRPr>
          </a:p>
          <a:p>
            <a:pPr marL="0" lvl="0" indent="0" eaLnBrk="1" hangingPunct="1">
              <a:spcBef>
                <a:spcPct val="0"/>
              </a:spcBef>
              <a:buNone/>
            </a:pPr>
            <a:r>
              <a:rPr lang="zh-CN" altLang="en-US" sz="2400" b="1" dirty="0">
                <a:latin typeface="Times New Roman" panose="02020603050405020304" pitchFamily="18" charset="0"/>
              </a:rPr>
              <a:t>与门的输入端数最少</a:t>
            </a:r>
            <a:r>
              <a:rPr lang="zh-CN" altLang="en-US" sz="2400" b="1" dirty="0">
                <a:latin typeface="宋体" panose="02010600030101010101" pitchFamily="2" charset="-122"/>
              </a:rPr>
              <a:t> </a:t>
            </a:r>
            <a:endParaRPr lang="zh-CN" altLang="en-US" sz="2400" b="1" dirty="0">
              <a:latin typeface="宋体" panose="02010600030101010101" pitchFamily="2" charset="-122"/>
            </a:endParaRPr>
          </a:p>
        </p:txBody>
      </p:sp>
      <p:sp>
        <p:nvSpPr>
          <p:cNvPr id="195593" name="Rectangle 9"/>
          <p:cNvSpPr>
            <a:spLocks noChangeArrowheads="1"/>
          </p:cNvSpPr>
          <p:nvPr/>
        </p:nvSpPr>
        <p:spPr bwMode="auto">
          <a:xfrm>
            <a:off x="1370013" y="3451225"/>
            <a:ext cx="2413000" cy="369888"/>
          </a:xfrm>
          <a:prstGeom prst="rect">
            <a:avLst/>
          </a:prstGeom>
        </p:spPr>
        <p:style>
          <a:lnRef idx="2">
            <a:schemeClr val="dk1"/>
          </a:lnRef>
          <a:fillRef idx="1">
            <a:schemeClr val="lt1"/>
          </a:fillRef>
          <a:effectRef idx="0">
            <a:schemeClr val="dk1"/>
          </a:effectRef>
          <a:fontRef idx="minor">
            <a:schemeClr val="dk1"/>
          </a:fontRef>
        </p:style>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rPr>
              <a:t>最简</a:t>
            </a:r>
            <a:r>
              <a:rPr kumimoji="1" lang="zh-CN" altLang="en-US" sz="2400" b="1" i="0" u="none" strike="noStrike" kern="1200" cap="none" spc="0" normalizeH="0" baseline="0" noProof="0" dirty="0" smtClean="0">
                <a:ln>
                  <a:noFill/>
                </a:ln>
                <a:solidFill>
                  <a:srgbClr val="FF0000"/>
                </a:solidFill>
                <a:effectLst/>
                <a:uLnTx/>
                <a:uFillTx/>
                <a:latin typeface="Times New Roman" panose="02020603050405020304" pitchFamily="18" charset="0"/>
                <a:ea typeface="宋体" panose="02010600030101010101" pitchFamily="2" charset="-122"/>
                <a:cs typeface="+mn-cs"/>
              </a:rPr>
              <a:t>与非</a:t>
            </a:r>
            <a:r>
              <a:rPr kumimoji="1"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rPr>
              <a:t>式标准</a:t>
            </a:r>
            <a:endParaRPr kumimoji="1"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5594" name="Rectangle 10"/>
          <p:cNvSpPr/>
          <p:nvPr/>
        </p:nvSpPr>
        <p:spPr>
          <a:xfrm>
            <a:off x="714375" y="4081463"/>
            <a:ext cx="4067175" cy="968375"/>
          </a:xfrm>
          <a:prstGeom prst="rect">
            <a:avLst/>
          </a:prstGeom>
          <a:solidFill>
            <a:srgbClr val="99CCFF">
              <a:alpha val="50195"/>
            </a:srgbClr>
          </a:solid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457200" lvl="0" indent="-457200" eaLnBrk="1" hangingPunct="1">
              <a:lnSpc>
                <a:spcPct val="120000"/>
              </a:lnSpc>
              <a:spcBef>
                <a:spcPct val="0"/>
              </a:spcBef>
              <a:buNone/>
            </a:pPr>
            <a:r>
              <a:rPr lang="en-US" altLang="zh-CN" sz="2400" b="1" dirty="0">
                <a:latin typeface="宋体" panose="02010600030101010101" pitchFamily="2" charset="-122"/>
              </a:rPr>
              <a:t>(</a:t>
            </a:r>
            <a:r>
              <a:rPr lang="en-US" altLang="zh-CN" sz="2400" b="1" dirty="0">
                <a:latin typeface="Times New Roman" panose="02020603050405020304" pitchFamily="18" charset="0"/>
              </a:rPr>
              <a:t>1</a:t>
            </a:r>
            <a:r>
              <a:rPr lang="en-US" altLang="zh-CN" sz="2400" b="1" dirty="0">
                <a:latin typeface="宋体" panose="02010600030101010101" pitchFamily="2" charset="-122"/>
              </a:rPr>
              <a:t>)</a:t>
            </a:r>
            <a:r>
              <a:rPr lang="zh-CN" altLang="en-US" sz="2400" b="1" dirty="0">
                <a:latin typeface="宋体" panose="02010600030101010101" pitchFamily="2" charset="-122"/>
              </a:rPr>
              <a:t>非号个数最少</a:t>
            </a:r>
            <a:endParaRPr lang="zh-CN" altLang="en-US" sz="2400" b="1" dirty="0">
              <a:latin typeface="宋体" panose="02010600030101010101" pitchFamily="2" charset="-122"/>
            </a:endParaRPr>
          </a:p>
          <a:p>
            <a:pPr marL="457200" lvl="0" indent="-457200" eaLnBrk="1" hangingPunct="1">
              <a:lnSpc>
                <a:spcPct val="120000"/>
              </a:lnSpc>
              <a:spcBef>
                <a:spcPct val="0"/>
              </a:spcBef>
              <a:buNone/>
            </a:pPr>
            <a:r>
              <a:rPr lang="en-US" altLang="zh-CN" sz="2400" b="1" dirty="0">
                <a:latin typeface="宋体" panose="02010600030101010101" pitchFamily="2" charset="-122"/>
              </a:rPr>
              <a:t>(</a:t>
            </a:r>
            <a:r>
              <a:rPr lang="en-US" altLang="zh-CN" sz="2400" b="1" dirty="0">
                <a:latin typeface="Times New Roman" panose="02020603050405020304" pitchFamily="18" charset="0"/>
              </a:rPr>
              <a:t>2</a:t>
            </a:r>
            <a:r>
              <a:rPr lang="en-US" altLang="zh-CN" sz="2400" b="1" dirty="0">
                <a:latin typeface="宋体" panose="02010600030101010101" pitchFamily="2" charset="-122"/>
              </a:rPr>
              <a:t>)</a:t>
            </a:r>
            <a:r>
              <a:rPr lang="zh-CN" altLang="en-US" sz="2400" b="1" dirty="0">
                <a:latin typeface="宋体" panose="02010600030101010101" pitchFamily="2" charset="-122"/>
              </a:rPr>
              <a:t>每个非号中的变量数最少 </a:t>
            </a:r>
            <a:endParaRPr lang="zh-CN" altLang="en-US" sz="2400" b="1" dirty="0">
              <a:latin typeface="宋体" panose="02010600030101010101" pitchFamily="2" charset="-122"/>
            </a:endParaRPr>
          </a:p>
        </p:txBody>
      </p:sp>
      <p:sp>
        <p:nvSpPr>
          <p:cNvPr id="195595" name="AutoShape 11"/>
          <p:cNvSpPr/>
          <p:nvPr/>
        </p:nvSpPr>
        <p:spPr>
          <a:xfrm>
            <a:off x="5421313" y="4054475"/>
            <a:ext cx="3228975" cy="819150"/>
          </a:xfrm>
          <a:prstGeom prst="wedgeRectCallout">
            <a:avLst>
              <a:gd name="adj1" fmla="val -61801"/>
              <a:gd name="adj2" fmla="val 7944"/>
            </a:avLst>
          </a:prstGeom>
          <a:solidFill>
            <a:srgbClr val="CCFFFF">
              <a:alpha val="50195"/>
            </a:srgbClr>
          </a:solidFill>
          <a:ln w="9525" cap="flat" cmpd="sng">
            <a:solidFill>
              <a:schemeClr val="tx1"/>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just" eaLnBrk="1" hangingPunct="1">
              <a:spcBef>
                <a:spcPct val="0"/>
              </a:spcBef>
              <a:buNone/>
            </a:pPr>
            <a:r>
              <a:rPr lang="zh-CN" altLang="en-US" sz="2400" b="1" dirty="0">
                <a:solidFill>
                  <a:srgbClr val="000000"/>
                </a:solidFill>
                <a:latin typeface="Times New Roman" panose="02020603050405020304" pitchFamily="18" charset="0"/>
              </a:rPr>
              <a:t>用与非门个数最少</a:t>
            </a:r>
            <a:endParaRPr lang="zh-CN" altLang="en-US" sz="2400" b="1" dirty="0">
              <a:latin typeface="宋体" panose="02010600030101010101" pitchFamily="2" charset="-122"/>
            </a:endParaRPr>
          </a:p>
          <a:p>
            <a:pPr marL="0" lvl="0" indent="0" algn="just" eaLnBrk="1" hangingPunct="1">
              <a:spcBef>
                <a:spcPct val="0"/>
              </a:spcBef>
              <a:buNone/>
            </a:pPr>
            <a:r>
              <a:rPr lang="zh-CN" altLang="en-US" sz="2400" b="1" dirty="0">
                <a:solidFill>
                  <a:srgbClr val="000000"/>
                </a:solidFill>
                <a:latin typeface="Times New Roman" panose="02020603050405020304" pitchFamily="18" charset="0"/>
              </a:rPr>
              <a:t>与非门的输入端数最少</a:t>
            </a:r>
            <a:r>
              <a:rPr lang="zh-CN" altLang="en-US" sz="2400" b="1" dirty="0">
                <a:latin typeface="宋体" panose="02010600030101010101" pitchFamily="2" charset="-122"/>
              </a:rPr>
              <a:t> </a:t>
            </a:r>
            <a:endParaRPr lang="zh-CN" altLang="en-US" sz="2400" b="1" dirty="0">
              <a:latin typeface="宋体" panose="02010600030101010101" pitchFamily="2" charset="-122"/>
            </a:endParaRPr>
          </a:p>
        </p:txBody>
      </p:sp>
      <p:sp>
        <p:nvSpPr>
          <p:cNvPr id="46088" name="矩形 1"/>
          <p:cNvSpPr/>
          <p:nvPr/>
        </p:nvSpPr>
        <p:spPr>
          <a:xfrm>
            <a:off x="566738" y="5564188"/>
            <a:ext cx="8191500" cy="8318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zh-CN" altLang="en-US" sz="2400" dirty="0"/>
              <a:t>评价逻辑电路</a:t>
            </a:r>
            <a:r>
              <a:rPr lang="zh-CN" altLang="en-US" sz="2400" dirty="0">
                <a:solidFill>
                  <a:srgbClr val="FF0000"/>
                </a:solidFill>
              </a:rPr>
              <a:t>成本</a:t>
            </a:r>
            <a:r>
              <a:rPr lang="zh-CN" altLang="en-US" sz="2400" dirty="0"/>
              <a:t>高低的一个重要指标是统计电路中</a:t>
            </a:r>
            <a:r>
              <a:rPr lang="zh-CN" altLang="en-US" sz="2400" dirty="0">
                <a:solidFill>
                  <a:srgbClr val="FF0000"/>
                </a:solidFill>
              </a:rPr>
              <a:t>逻辑门</a:t>
            </a:r>
            <a:r>
              <a:rPr lang="zh-CN" altLang="en-US" sz="2400" dirty="0"/>
              <a:t>的总数加上各个门的</a:t>
            </a:r>
            <a:r>
              <a:rPr lang="zh-CN" altLang="en-US" sz="2400" dirty="0">
                <a:solidFill>
                  <a:srgbClr val="FF0000"/>
                </a:solidFill>
              </a:rPr>
              <a:t>输入端</a:t>
            </a:r>
            <a:r>
              <a:rPr lang="zh-CN" altLang="en-US" sz="2400" dirty="0"/>
              <a:t>的总数。</a:t>
            </a:r>
            <a:endParaRPr lang="zh-CN" altLang="en-US" sz="2400" dirty="0"/>
          </a:p>
        </p:txBody>
      </p:sp>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95590"/>
                                        </p:tgtEl>
                                        <p:attrNameLst>
                                          <p:attrName>style.visibility</p:attrName>
                                        </p:attrNameLst>
                                      </p:cBhvr>
                                      <p:to>
                                        <p:strVal val="visible"/>
                                      </p:to>
                                    </p:set>
                                    <p:animEffect transition="in" filter="wipe(left)">
                                      <p:cBhvr>
                                        <p:cTn id="7" dur="500"/>
                                        <p:tgtEl>
                                          <p:spTgt spid="19559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5591"/>
                                        </p:tgtEl>
                                        <p:attrNameLst>
                                          <p:attrName>style.visibility</p:attrName>
                                        </p:attrNameLst>
                                      </p:cBhvr>
                                      <p:to>
                                        <p:strVal val="visible"/>
                                      </p:to>
                                    </p:set>
                                    <p:animEffect transition="in" filter="wipe(left)">
                                      <p:cBhvr>
                                        <p:cTn id="12" dur="500"/>
                                        <p:tgtEl>
                                          <p:spTgt spid="195591"/>
                                        </p:tgtEl>
                                      </p:cBhvr>
                                    </p:animEffect>
                                  </p:childTnLst>
                                </p:cTn>
                              </p:par>
                            </p:childTnLst>
                          </p:cTn>
                        </p:par>
                        <p:par>
                          <p:cTn id="13" fill="hold">
                            <p:stCondLst>
                              <p:cond delay="500"/>
                            </p:stCondLst>
                            <p:childTnLst>
                              <p:par>
                                <p:cTn id="14" presetID="2" presetClass="entr" presetSubtype="2" fill="hold" grpId="0" nodeType="afterEffect">
                                  <p:stCondLst>
                                    <p:cond delay="0"/>
                                  </p:stCondLst>
                                  <p:childTnLst>
                                    <p:set>
                                      <p:cBhvr>
                                        <p:cTn id="15" dur="1" fill="hold">
                                          <p:stCondLst>
                                            <p:cond delay="0"/>
                                          </p:stCondLst>
                                        </p:cTn>
                                        <p:tgtEl>
                                          <p:spTgt spid="195592"/>
                                        </p:tgtEl>
                                        <p:attrNameLst>
                                          <p:attrName>style.visibility</p:attrName>
                                        </p:attrNameLst>
                                      </p:cBhvr>
                                      <p:to>
                                        <p:strVal val="visible"/>
                                      </p:to>
                                    </p:set>
                                    <p:anim calcmode="lin" valueType="num">
                                      <p:cBhvr additive="base">
                                        <p:cTn id="16" dur="500" fill="hold"/>
                                        <p:tgtEl>
                                          <p:spTgt spid="195592"/>
                                        </p:tgtEl>
                                        <p:attrNameLst>
                                          <p:attrName>ppt_x</p:attrName>
                                        </p:attrNameLst>
                                      </p:cBhvr>
                                      <p:tavLst>
                                        <p:tav tm="0">
                                          <p:val>
                                            <p:strVal val="1+#ppt_w/2"/>
                                          </p:val>
                                        </p:tav>
                                        <p:tav tm="100000">
                                          <p:val>
                                            <p:strVal val="#ppt_x"/>
                                          </p:val>
                                        </p:tav>
                                      </p:tavLst>
                                    </p:anim>
                                    <p:anim calcmode="lin" valueType="num">
                                      <p:cBhvr additive="base">
                                        <p:cTn id="17" dur="500" fill="hold"/>
                                        <p:tgtEl>
                                          <p:spTgt spid="195592"/>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5593"/>
                                        </p:tgtEl>
                                        <p:attrNameLst>
                                          <p:attrName>style.visibility</p:attrName>
                                        </p:attrNameLst>
                                      </p:cBhvr>
                                      <p:to>
                                        <p:strVal val="visible"/>
                                      </p:to>
                                    </p:set>
                                    <p:animEffect transition="in" filter="wipe(left)">
                                      <p:cBhvr>
                                        <p:cTn id="22" dur="500"/>
                                        <p:tgtEl>
                                          <p:spTgt spid="19559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95594"/>
                                        </p:tgtEl>
                                        <p:attrNameLst>
                                          <p:attrName>style.visibility</p:attrName>
                                        </p:attrNameLst>
                                      </p:cBhvr>
                                      <p:to>
                                        <p:strVal val="visible"/>
                                      </p:to>
                                    </p:set>
                                    <p:animEffect transition="in" filter="wipe(left)">
                                      <p:cBhvr>
                                        <p:cTn id="27" dur="500"/>
                                        <p:tgtEl>
                                          <p:spTgt spid="195594"/>
                                        </p:tgtEl>
                                      </p:cBhvr>
                                    </p:animEffect>
                                  </p:childTnLst>
                                </p:cTn>
                              </p:par>
                            </p:childTnLst>
                          </p:cTn>
                        </p:par>
                        <p:par>
                          <p:cTn id="28" fill="hold">
                            <p:stCondLst>
                              <p:cond delay="500"/>
                            </p:stCondLst>
                            <p:childTnLst>
                              <p:par>
                                <p:cTn id="29" presetID="2" presetClass="entr" presetSubtype="2" fill="hold" grpId="0" nodeType="afterEffect">
                                  <p:stCondLst>
                                    <p:cond delay="0"/>
                                  </p:stCondLst>
                                  <p:childTnLst>
                                    <p:set>
                                      <p:cBhvr>
                                        <p:cTn id="30" dur="1" fill="hold">
                                          <p:stCondLst>
                                            <p:cond delay="0"/>
                                          </p:stCondLst>
                                        </p:cTn>
                                        <p:tgtEl>
                                          <p:spTgt spid="195595"/>
                                        </p:tgtEl>
                                        <p:attrNameLst>
                                          <p:attrName>style.visibility</p:attrName>
                                        </p:attrNameLst>
                                      </p:cBhvr>
                                      <p:to>
                                        <p:strVal val="visible"/>
                                      </p:to>
                                    </p:set>
                                    <p:anim calcmode="lin" valueType="num">
                                      <p:cBhvr additive="base">
                                        <p:cTn id="31" dur="500" fill="hold"/>
                                        <p:tgtEl>
                                          <p:spTgt spid="195595"/>
                                        </p:tgtEl>
                                        <p:attrNameLst>
                                          <p:attrName>ppt_x</p:attrName>
                                        </p:attrNameLst>
                                      </p:cBhvr>
                                      <p:tavLst>
                                        <p:tav tm="0">
                                          <p:val>
                                            <p:strVal val="1+#ppt_w/2"/>
                                          </p:val>
                                        </p:tav>
                                        <p:tav tm="100000">
                                          <p:val>
                                            <p:strVal val="#ppt_x"/>
                                          </p:val>
                                        </p:tav>
                                      </p:tavLst>
                                    </p:anim>
                                    <p:anim calcmode="lin" valueType="num">
                                      <p:cBhvr additive="base">
                                        <p:cTn id="32" dur="500" fill="hold"/>
                                        <p:tgtEl>
                                          <p:spTgt spid="1955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90" grpId="0" animBg="1"/>
      <p:bldP spid="195591" grpId="0" animBg="1"/>
      <p:bldP spid="195592" grpId="0" animBg="1"/>
      <p:bldP spid="195593" grpId="0" animBg="1"/>
      <p:bldP spid="195594" grpId="0" animBg="1"/>
      <p:bldP spid="195595"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154" name="AutoShape 58"/>
          <p:cNvSpPr/>
          <p:nvPr/>
        </p:nvSpPr>
        <p:spPr>
          <a:xfrm>
            <a:off x="2084388" y="1912938"/>
            <a:ext cx="5588000" cy="771525"/>
          </a:xfrm>
          <a:prstGeom prst="wedgeRectCallout">
            <a:avLst>
              <a:gd name="adj1" fmla="val -907"/>
              <a:gd name="adj2" fmla="val -130657"/>
            </a:avLst>
          </a:prstGeom>
          <a:solidFill>
            <a:srgbClr val="99CCFF">
              <a:alpha val="50195"/>
            </a:srgbClr>
          </a:solidFill>
          <a:ln w="9525" cap="flat" cmpd="sng">
            <a:solidFill>
              <a:schemeClr val="tx1"/>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dirty="0">
                <a:latin typeface="宋体" panose="02010600030101010101" pitchFamily="2" charset="-122"/>
              </a:rPr>
              <a:t>    </a:t>
            </a:r>
            <a:r>
              <a:rPr lang="zh-CN" altLang="en-US" sz="2400" b="1" dirty="0">
                <a:latin typeface="宋体" panose="02010600030101010101" pitchFamily="2" charset="-122"/>
              </a:rPr>
              <a:t>逻辑式有多种形式，采用何种形式视需要而定。各种形式间可以相互变换。 </a:t>
            </a:r>
            <a:endParaRPr lang="zh-CN" altLang="en-US" sz="2400" b="1" dirty="0">
              <a:latin typeface="宋体" panose="02010600030101010101" pitchFamily="2" charset="-122"/>
            </a:endParaRPr>
          </a:p>
        </p:txBody>
      </p:sp>
      <p:sp>
        <p:nvSpPr>
          <p:cNvPr id="132155" name="Text Box 59"/>
          <p:cNvSpPr txBox="1"/>
          <p:nvPr/>
        </p:nvSpPr>
        <p:spPr>
          <a:xfrm>
            <a:off x="1763713" y="1081088"/>
            <a:ext cx="6427787" cy="1709737"/>
          </a:xfrm>
          <a:prstGeom prst="rect">
            <a:avLst/>
          </a:prstGeom>
          <a:solidFill>
            <a:schemeClr val="bg1"/>
          </a:solidFill>
          <a:ln w="9525">
            <a:noFill/>
          </a:ln>
        </p:spPr>
        <p:txBody>
          <a:bodyPr lIns="0" tIns="0" rIns="0" bIns="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endParaRPr lang="en-US" altLang="zh-CN" sz="2800" b="1" dirty="0">
              <a:latin typeface="Times New Roman" panose="02020603050405020304" pitchFamily="18" charset="0"/>
            </a:endParaRPr>
          </a:p>
          <a:p>
            <a:pPr marL="0" lvl="0" indent="0" eaLnBrk="1" hangingPunct="1">
              <a:spcBef>
                <a:spcPct val="50000"/>
              </a:spcBef>
              <a:buNone/>
            </a:pPr>
            <a:endParaRPr lang="en-US" altLang="zh-CN" sz="2800" b="1" dirty="0">
              <a:latin typeface="Times New Roman" panose="02020603050405020304" pitchFamily="18" charset="0"/>
            </a:endParaRPr>
          </a:p>
          <a:p>
            <a:pPr marL="0" lvl="0" indent="0" eaLnBrk="1" hangingPunct="1">
              <a:spcBef>
                <a:spcPct val="50000"/>
              </a:spcBef>
              <a:buNone/>
            </a:pPr>
            <a:endParaRPr lang="en-US" altLang="zh-CN" sz="2800" b="1" dirty="0">
              <a:latin typeface="Times New Roman" panose="02020603050405020304" pitchFamily="18" charset="0"/>
            </a:endParaRPr>
          </a:p>
        </p:txBody>
      </p:sp>
      <p:sp>
        <p:nvSpPr>
          <p:cNvPr id="132099" name="Rectangle 3"/>
          <p:cNvSpPr>
            <a:spLocks noGrp="1"/>
          </p:cNvSpPr>
          <p:nvPr>
            <p:ph type="title" idx="4294967295"/>
          </p:nvPr>
        </p:nvSpPr>
        <p:spPr>
          <a:xfrm>
            <a:off x="250825" y="333375"/>
            <a:ext cx="8323263" cy="711200"/>
          </a:xfrm>
          <a:ln/>
        </p:spPr>
        <p:txBody>
          <a:bodyPr vert="horz" wrap="square" lIns="91440" tIns="45720" rIns="91440" bIns="45720" anchor="ctr" anchorCtr="0"/>
          <a:p>
            <a:pPr algn="l" eaLnBrk="1" hangingPunct="1"/>
            <a:r>
              <a:rPr lang="zh-CN" altLang="en-US" sz="2800" b="1" dirty="0">
                <a:solidFill>
                  <a:srgbClr val="FF3300"/>
                </a:solidFill>
                <a:ea typeface="楷体_GB2312" pitchFamily="49" charset="-122"/>
              </a:rPr>
              <a:t>逻辑函数式的几种常见形式和变换</a:t>
            </a:r>
            <a:r>
              <a:rPr lang="zh-CN" altLang="en-US" sz="2800" b="1" dirty="0">
                <a:solidFill>
                  <a:srgbClr val="FF0000"/>
                </a:solidFill>
                <a:ea typeface="楷体_GB2312" pitchFamily="49" charset="-122"/>
              </a:rPr>
              <a:t> </a:t>
            </a:r>
            <a:endParaRPr lang="zh-CN" altLang="en-US" sz="2800" b="1" dirty="0">
              <a:solidFill>
                <a:srgbClr val="FF0000"/>
              </a:solidFill>
              <a:ea typeface="楷体_GB2312" pitchFamily="49" charset="-122"/>
            </a:endParaRPr>
          </a:p>
        </p:txBody>
      </p:sp>
      <p:sp>
        <p:nvSpPr>
          <p:cNvPr id="132102" name="Rectangle 6"/>
          <p:cNvSpPr/>
          <p:nvPr/>
        </p:nvSpPr>
        <p:spPr>
          <a:xfrm>
            <a:off x="1282700" y="1193800"/>
            <a:ext cx="1163638"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宋体" panose="02010600030101010101" pitchFamily="2" charset="-122"/>
              </a:rPr>
              <a:t>例如 </a:t>
            </a:r>
            <a:endParaRPr lang="zh-CN" altLang="en-US" sz="2400" b="1" dirty="0">
              <a:latin typeface="宋体" panose="02010600030101010101" pitchFamily="2" charset="-122"/>
            </a:endParaRPr>
          </a:p>
        </p:txBody>
      </p:sp>
      <p:graphicFrame>
        <p:nvGraphicFramePr>
          <p:cNvPr id="132112" name="Object 16"/>
          <p:cNvGraphicFramePr>
            <a:graphicFrameLocks noChangeAspect="1"/>
          </p:cNvGraphicFramePr>
          <p:nvPr/>
        </p:nvGraphicFramePr>
        <p:xfrm>
          <a:off x="2251075" y="1279525"/>
          <a:ext cx="1752600" cy="330200"/>
        </p:xfrm>
        <a:graphic>
          <a:graphicData uri="http://schemas.openxmlformats.org/presentationml/2006/ole">
            <mc:AlternateContent xmlns:mc="http://schemas.openxmlformats.org/markup-compatibility/2006">
              <mc:Choice xmlns:v="urn:schemas-microsoft-com:vml" Requires="v">
                <p:oleObj spid="_x0000_s3166" name="" r:id="rId1" imgW="1752600" imgH="330200" progId="Equation.3">
                  <p:embed/>
                </p:oleObj>
              </mc:Choice>
              <mc:Fallback>
                <p:oleObj name="" r:id="rId1" imgW="1752600" imgH="330200" progId="Equation.3">
                  <p:embed/>
                  <p:pic>
                    <p:nvPicPr>
                      <p:cNvPr id="0" name="图片 3165"/>
                      <p:cNvPicPr/>
                      <p:nvPr/>
                    </p:nvPicPr>
                    <p:blipFill>
                      <a:blip r:embed="rId2"/>
                      <a:stretch>
                        <a:fillRect/>
                      </a:stretch>
                    </p:blipFill>
                    <p:spPr>
                      <a:xfrm>
                        <a:off x="2251075" y="1279525"/>
                        <a:ext cx="1752600" cy="330200"/>
                      </a:xfrm>
                      <a:prstGeom prst="rect">
                        <a:avLst/>
                      </a:prstGeom>
                      <a:noFill/>
                      <a:ln w="38100">
                        <a:noFill/>
                        <a:miter/>
                      </a:ln>
                    </p:spPr>
                  </p:pic>
                </p:oleObj>
              </mc:Fallback>
            </mc:AlternateContent>
          </a:graphicData>
        </a:graphic>
      </p:graphicFrame>
      <p:graphicFrame>
        <p:nvGraphicFramePr>
          <p:cNvPr id="132113" name="Object 17"/>
          <p:cNvGraphicFramePr>
            <a:graphicFrameLocks noChangeAspect="1"/>
          </p:cNvGraphicFramePr>
          <p:nvPr/>
        </p:nvGraphicFramePr>
        <p:xfrm>
          <a:off x="1701800" y="2074863"/>
          <a:ext cx="2674938" cy="461962"/>
        </p:xfrm>
        <a:graphic>
          <a:graphicData uri="http://schemas.openxmlformats.org/presentationml/2006/ole">
            <mc:AlternateContent xmlns:mc="http://schemas.openxmlformats.org/markup-compatibility/2006">
              <mc:Choice xmlns:v="urn:schemas-microsoft-com:vml" Requires="v">
                <p:oleObj spid="_x0000_s3164" name="" r:id="rId3" imgW="1396365" imgH="241300" progId="Equation.3">
                  <p:embed/>
                </p:oleObj>
              </mc:Choice>
              <mc:Fallback>
                <p:oleObj name="" r:id="rId3" imgW="1396365" imgH="241300" progId="Equation.3">
                  <p:embed/>
                  <p:pic>
                    <p:nvPicPr>
                      <p:cNvPr id="0" name="图片 3163"/>
                      <p:cNvPicPr/>
                      <p:nvPr/>
                    </p:nvPicPr>
                    <p:blipFill>
                      <a:blip r:embed="rId4"/>
                      <a:stretch>
                        <a:fillRect/>
                      </a:stretch>
                    </p:blipFill>
                    <p:spPr>
                      <a:xfrm>
                        <a:off x="1701800" y="2074863"/>
                        <a:ext cx="2674938" cy="461962"/>
                      </a:xfrm>
                      <a:prstGeom prst="rect">
                        <a:avLst/>
                      </a:prstGeom>
                      <a:noFill/>
                      <a:ln w="38100">
                        <a:noFill/>
                        <a:miter/>
                      </a:ln>
                    </p:spPr>
                  </p:pic>
                </p:oleObj>
              </mc:Fallback>
            </mc:AlternateContent>
          </a:graphicData>
        </a:graphic>
      </p:graphicFrame>
      <p:graphicFrame>
        <p:nvGraphicFramePr>
          <p:cNvPr id="132114" name="Object 18"/>
          <p:cNvGraphicFramePr>
            <a:graphicFrameLocks noChangeAspect="1"/>
          </p:cNvGraphicFramePr>
          <p:nvPr/>
        </p:nvGraphicFramePr>
        <p:xfrm>
          <a:off x="2519363" y="1665288"/>
          <a:ext cx="1346200" cy="393700"/>
        </p:xfrm>
        <a:graphic>
          <a:graphicData uri="http://schemas.openxmlformats.org/presentationml/2006/ole">
            <mc:AlternateContent xmlns:mc="http://schemas.openxmlformats.org/markup-compatibility/2006">
              <mc:Choice xmlns:v="urn:schemas-microsoft-com:vml" Requires="v">
                <p:oleObj spid="_x0000_s3165" name="" r:id="rId5" imgW="1345565" imgH="393700" progId="Equation.3">
                  <p:embed/>
                </p:oleObj>
              </mc:Choice>
              <mc:Fallback>
                <p:oleObj name="" r:id="rId5" imgW="1345565" imgH="393700" progId="Equation.3">
                  <p:embed/>
                  <p:pic>
                    <p:nvPicPr>
                      <p:cNvPr id="0" name="图片 3164"/>
                      <p:cNvPicPr/>
                      <p:nvPr/>
                    </p:nvPicPr>
                    <p:blipFill>
                      <a:blip r:embed="rId6"/>
                      <a:stretch>
                        <a:fillRect/>
                      </a:stretch>
                    </p:blipFill>
                    <p:spPr>
                      <a:xfrm>
                        <a:off x="2519363" y="1665288"/>
                        <a:ext cx="1346200" cy="393700"/>
                      </a:xfrm>
                      <a:prstGeom prst="rect">
                        <a:avLst/>
                      </a:prstGeom>
                      <a:noFill/>
                      <a:ln w="38100">
                        <a:noFill/>
                        <a:miter/>
                      </a:ln>
                    </p:spPr>
                  </p:pic>
                </p:oleObj>
              </mc:Fallback>
            </mc:AlternateContent>
          </a:graphicData>
        </a:graphic>
      </p:graphicFrame>
      <p:graphicFrame>
        <p:nvGraphicFramePr>
          <p:cNvPr id="132115" name="Object 19"/>
          <p:cNvGraphicFramePr>
            <a:graphicFrameLocks noChangeAspect="1"/>
          </p:cNvGraphicFramePr>
          <p:nvPr/>
        </p:nvGraphicFramePr>
        <p:xfrm>
          <a:off x="2547938" y="2644775"/>
          <a:ext cx="2019300" cy="393700"/>
        </p:xfrm>
        <a:graphic>
          <a:graphicData uri="http://schemas.openxmlformats.org/presentationml/2006/ole">
            <mc:AlternateContent xmlns:mc="http://schemas.openxmlformats.org/markup-compatibility/2006">
              <mc:Choice xmlns:v="urn:schemas-microsoft-com:vml" Requires="v">
                <p:oleObj spid="_x0000_s3170" name="" r:id="rId7" imgW="2019300" imgH="393700" progId="Equation.3">
                  <p:embed/>
                </p:oleObj>
              </mc:Choice>
              <mc:Fallback>
                <p:oleObj name="" r:id="rId7" imgW="2019300" imgH="393700" progId="Equation.3">
                  <p:embed/>
                  <p:pic>
                    <p:nvPicPr>
                      <p:cNvPr id="0" name="图片 3169"/>
                      <p:cNvPicPr/>
                      <p:nvPr/>
                    </p:nvPicPr>
                    <p:blipFill>
                      <a:blip r:embed="rId8"/>
                      <a:stretch>
                        <a:fillRect/>
                      </a:stretch>
                    </p:blipFill>
                    <p:spPr>
                      <a:xfrm>
                        <a:off x="2547938" y="2644775"/>
                        <a:ext cx="2019300" cy="393700"/>
                      </a:xfrm>
                      <a:prstGeom prst="rect">
                        <a:avLst/>
                      </a:prstGeom>
                      <a:noFill/>
                      <a:ln w="38100">
                        <a:noFill/>
                        <a:miter/>
                      </a:ln>
                    </p:spPr>
                  </p:pic>
                </p:oleObj>
              </mc:Fallback>
            </mc:AlternateContent>
          </a:graphicData>
        </a:graphic>
      </p:graphicFrame>
      <p:graphicFrame>
        <p:nvGraphicFramePr>
          <p:cNvPr id="132116" name="Object 20"/>
          <p:cNvGraphicFramePr>
            <a:graphicFrameLocks noChangeAspect="1"/>
          </p:cNvGraphicFramePr>
          <p:nvPr/>
        </p:nvGraphicFramePr>
        <p:xfrm>
          <a:off x="2557463" y="3181350"/>
          <a:ext cx="1612900" cy="374650"/>
        </p:xfrm>
        <a:graphic>
          <a:graphicData uri="http://schemas.openxmlformats.org/presentationml/2006/ole">
            <mc:AlternateContent xmlns:mc="http://schemas.openxmlformats.org/markup-compatibility/2006">
              <mc:Choice xmlns:v="urn:schemas-microsoft-com:vml" Requires="v">
                <p:oleObj spid="_x0000_s3168" name="" r:id="rId9" imgW="1473200" imgH="368300" progId="Equation.3">
                  <p:embed/>
                </p:oleObj>
              </mc:Choice>
              <mc:Fallback>
                <p:oleObj name="" r:id="rId9" imgW="1473200" imgH="368300" progId="Equation.3">
                  <p:embed/>
                  <p:pic>
                    <p:nvPicPr>
                      <p:cNvPr id="0" name="图片 3167"/>
                      <p:cNvPicPr/>
                      <p:nvPr/>
                    </p:nvPicPr>
                    <p:blipFill>
                      <a:blip r:embed="rId10"/>
                      <a:stretch>
                        <a:fillRect/>
                      </a:stretch>
                    </p:blipFill>
                    <p:spPr>
                      <a:xfrm>
                        <a:off x="2557463" y="3181350"/>
                        <a:ext cx="1612900" cy="374650"/>
                      </a:xfrm>
                      <a:prstGeom prst="rect">
                        <a:avLst/>
                      </a:prstGeom>
                      <a:noFill/>
                      <a:ln w="38100">
                        <a:noFill/>
                        <a:miter/>
                      </a:ln>
                    </p:spPr>
                  </p:pic>
                </p:oleObj>
              </mc:Fallback>
            </mc:AlternateContent>
          </a:graphicData>
        </a:graphic>
      </p:graphicFrame>
      <p:sp>
        <p:nvSpPr>
          <p:cNvPr id="132119" name="Rectangle 23"/>
          <p:cNvSpPr/>
          <p:nvPr/>
        </p:nvSpPr>
        <p:spPr>
          <a:xfrm>
            <a:off x="4837113" y="1244600"/>
            <a:ext cx="1655762" cy="365125"/>
          </a:xfrm>
          <a:prstGeom prst="rect">
            <a:avLst/>
          </a:prstGeom>
          <a:solidFill>
            <a:srgbClr val="00FFCC">
              <a:alpha val="50195"/>
            </a:srgbClr>
          </a:solidFill>
          <a:ln w="9525">
            <a:noFill/>
          </a:ln>
        </p:spPr>
        <p:txBody>
          <a:bodyPr lIns="0" tIns="0" rIns="0" bIns="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2400" b="1" dirty="0">
                <a:solidFill>
                  <a:srgbClr val="000000"/>
                </a:solidFill>
                <a:latin typeface="Times New Roman" panose="02020603050405020304" pitchFamily="18" charset="0"/>
              </a:rPr>
              <a:t>与或表达式</a:t>
            </a:r>
            <a:r>
              <a:rPr lang="zh-CN" altLang="en-US" sz="2400" b="1" dirty="0">
                <a:latin typeface="宋体" panose="02010600030101010101" pitchFamily="2" charset="-122"/>
              </a:rPr>
              <a:t>  </a:t>
            </a:r>
            <a:endParaRPr lang="zh-CN" altLang="en-US" sz="2400" b="1" dirty="0">
              <a:latin typeface="宋体" panose="02010600030101010101" pitchFamily="2" charset="-122"/>
            </a:endParaRPr>
          </a:p>
        </p:txBody>
      </p:sp>
      <p:sp>
        <p:nvSpPr>
          <p:cNvPr id="132121" name="Rectangle 25"/>
          <p:cNvSpPr/>
          <p:nvPr/>
        </p:nvSpPr>
        <p:spPr>
          <a:xfrm>
            <a:off x="4827588" y="2144713"/>
            <a:ext cx="1724025" cy="365125"/>
          </a:xfrm>
          <a:prstGeom prst="rect">
            <a:avLst/>
          </a:prstGeom>
          <a:solidFill>
            <a:srgbClr val="00FFCC">
              <a:alpha val="50195"/>
            </a:srgbClr>
          </a:solidFill>
          <a:ln w="9525">
            <a:noFill/>
          </a:ln>
        </p:spPr>
        <p:txBody>
          <a:bodyPr lIns="0" tIns="0" rIns="0" bIns="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2400" b="1" dirty="0">
                <a:solidFill>
                  <a:srgbClr val="000000"/>
                </a:solidFill>
                <a:latin typeface="Times New Roman" panose="02020603050405020304" pitchFamily="18" charset="0"/>
              </a:rPr>
              <a:t>或与表达式 </a:t>
            </a:r>
            <a:endParaRPr lang="zh-CN" altLang="en-US" sz="2400" b="1" dirty="0">
              <a:solidFill>
                <a:srgbClr val="000000"/>
              </a:solidFill>
              <a:latin typeface="Times New Roman" panose="02020603050405020304" pitchFamily="18" charset="0"/>
            </a:endParaRPr>
          </a:p>
        </p:txBody>
      </p:sp>
      <p:sp>
        <p:nvSpPr>
          <p:cNvPr id="132122" name="Rectangle 26"/>
          <p:cNvSpPr/>
          <p:nvPr/>
        </p:nvSpPr>
        <p:spPr>
          <a:xfrm>
            <a:off x="4829175" y="1647825"/>
            <a:ext cx="2700338" cy="427038"/>
          </a:xfrm>
          <a:prstGeom prst="rect">
            <a:avLst/>
          </a:prstGeom>
          <a:solidFill>
            <a:srgbClr val="00FFCC">
              <a:alpha val="50195"/>
            </a:srgbClr>
          </a:solidFill>
          <a:ln w="9525">
            <a:noFill/>
          </a:ln>
        </p:spPr>
        <p:txBody>
          <a:bodyPr lIns="0" tIns="0" rIns="0" bIns="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2400" b="1" dirty="0">
                <a:solidFill>
                  <a:srgbClr val="000000"/>
                </a:solidFill>
                <a:latin typeface="Times New Roman" panose="02020603050405020304" pitchFamily="18" charset="0"/>
              </a:rPr>
              <a:t>与非 </a:t>
            </a:r>
            <a:r>
              <a:rPr lang="en-US" altLang="zh-CN" sz="2800" b="1" dirty="0">
                <a:latin typeface="宋体" panose="02010600030101010101" pitchFamily="2" charset="-122"/>
              </a:rPr>
              <a:t>-</a:t>
            </a:r>
            <a:r>
              <a:rPr lang="en-US" altLang="zh-CN" sz="2800" b="1" dirty="0">
                <a:latin typeface="Times New Roman" panose="02020603050405020304" pitchFamily="18" charset="0"/>
              </a:rPr>
              <a:t> </a:t>
            </a:r>
            <a:r>
              <a:rPr lang="zh-CN" altLang="en-US" sz="2400" b="1" dirty="0">
                <a:solidFill>
                  <a:srgbClr val="000000"/>
                </a:solidFill>
                <a:latin typeface="Times New Roman" panose="02020603050405020304" pitchFamily="18" charset="0"/>
              </a:rPr>
              <a:t>与非表达式 </a:t>
            </a:r>
            <a:endParaRPr lang="zh-CN" altLang="en-US" sz="2400" b="1" dirty="0">
              <a:solidFill>
                <a:srgbClr val="000000"/>
              </a:solidFill>
              <a:latin typeface="Times New Roman" panose="02020603050405020304" pitchFamily="18" charset="0"/>
            </a:endParaRPr>
          </a:p>
        </p:txBody>
      </p:sp>
      <p:sp>
        <p:nvSpPr>
          <p:cNvPr id="132123" name="Rectangle 27"/>
          <p:cNvSpPr/>
          <p:nvPr/>
        </p:nvSpPr>
        <p:spPr>
          <a:xfrm>
            <a:off x="4870450" y="2627313"/>
            <a:ext cx="2711450" cy="427037"/>
          </a:xfrm>
          <a:prstGeom prst="rect">
            <a:avLst/>
          </a:prstGeom>
          <a:solidFill>
            <a:srgbClr val="00FFCC">
              <a:alpha val="50195"/>
            </a:srgbClr>
          </a:solidFill>
          <a:ln w="9525">
            <a:noFill/>
          </a:ln>
        </p:spPr>
        <p:txBody>
          <a:bodyPr lIns="0" tIns="0" rIns="0" bIns="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2400" b="1" dirty="0">
                <a:solidFill>
                  <a:srgbClr val="000000"/>
                </a:solidFill>
                <a:latin typeface="Times New Roman" panose="02020603050405020304" pitchFamily="18" charset="0"/>
              </a:rPr>
              <a:t>或非 </a:t>
            </a:r>
            <a:r>
              <a:rPr lang="en-US" altLang="zh-CN" sz="2800" b="1" dirty="0">
                <a:latin typeface="宋体" panose="02010600030101010101" pitchFamily="2" charset="-122"/>
              </a:rPr>
              <a:t>-</a:t>
            </a:r>
            <a:r>
              <a:rPr lang="en-US" altLang="zh-CN" sz="2800" b="1" dirty="0">
                <a:latin typeface="Times New Roman" panose="02020603050405020304" pitchFamily="18" charset="0"/>
              </a:rPr>
              <a:t> </a:t>
            </a:r>
            <a:r>
              <a:rPr lang="zh-CN" altLang="en-US" sz="2400" b="1" dirty="0">
                <a:solidFill>
                  <a:srgbClr val="000000"/>
                </a:solidFill>
                <a:latin typeface="Times New Roman" panose="02020603050405020304" pitchFamily="18" charset="0"/>
              </a:rPr>
              <a:t>或非表达式 </a:t>
            </a:r>
            <a:endParaRPr lang="zh-CN" altLang="en-US" sz="2400" b="1" dirty="0">
              <a:solidFill>
                <a:srgbClr val="000000"/>
              </a:solidFill>
              <a:latin typeface="Times New Roman" panose="02020603050405020304" pitchFamily="18" charset="0"/>
            </a:endParaRPr>
          </a:p>
        </p:txBody>
      </p:sp>
      <p:sp>
        <p:nvSpPr>
          <p:cNvPr id="132124" name="Rectangle 28"/>
          <p:cNvSpPr/>
          <p:nvPr/>
        </p:nvSpPr>
        <p:spPr>
          <a:xfrm>
            <a:off x="4870450" y="3146425"/>
            <a:ext cx="1965325" cy="365125"/>
          </a:xfrm>
          <a:prstGeom prst="rect">
            <a:avLst/>
          </a:prstGeom>
          <a:solidFill>
            <a:srgbClr val="00FFCC">
              <a:alpha val="50195"/>
            </a:srgbClr>
          </a:solidFill>
          <a:ln w="9525">
            <a:noFill/>
          </a:ln>
        </p:spPr>
        <p:txBody>
          <a:bodyPr lIns="0" tIns="0" rIns="0" bIns="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2400" b="1" dirty="0">
                <a:solidFill>
                  <a:srgbClr val="000000"/>
                </a:solidFill>
                <a:latin typeface="Times New Roman" panose="02020603050405020304" pitchFamily="18" charset="0"/>
              </a:rPr>
              <a:t>与或非表达式 </a:t>
            </a:r>
            <a:endParaRPr lang="zh-CN" altLang="en-US" sz="2400" b="1" dirty="0">
              <a:solidFill>
                <a:srgbClr val="000000"/>
              </a:solidFill>
              <a:latin typeface="Times New Roman" panose="02020603050405020304" pitchFamily="18" charset="0"/>
            </a:endParaRPr>
          </a:p>
        </p:txBody>
      </p:sp>
      <p:sp>
        <p:nvSpPr>
          <p:cNvPr id="132125" name="Rectangle 29"/>
          <p:cNvSpPr/>
          <p:nvPr/>
        </p:nvSpPr>
        <p:spPr>
          <a:xfrm>
            <a:off x="1300163" y="3606800"/>
            <a:ext cx="232092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Times New Roman" panose="02020603050405020304" pitchFamily="18" charset="0"/>
              </a:rPr>
              <a:t>转换方法举例</a:t>
            </a:r>
            <a:r>
              <a:rPr lang="zh-CN" altLang="en-US" sz="2400" b="1" dirty="0">
                <a:latin typeface="宋体" panose="02010600030101010101" pitchFamily="2" charset="-122"/>
              </a:rPr>
              <a:t>  </a:t>
            </a:r>
            <a:endParaRPr lang="zh-CN" altLang="en-US" sz="2400" b="1" dirty="0">
              <a:latin typeface="宋体" panose="02010600030101010101" pitchFamily="2" charset="-122"/>
            </a:endParaRPr>
          </a:p>
        </p:txBody>
      </p:sp>
      <p:grpSp>
        <p:nvGrpSpPr>
          <p:cNvPr id="132150" name="Group 54"/>
          <p:cNvGrpSpPr/>
          <p:nvPr/>
        </p:nvGrpSpPr>
        <p:grpSpPr>
          <a:xfrm>
            <a:off x="309563" y="4125913"/>
            <a:ext cx="3562350" cy="2090737"/>
            <a:chOff x="140" y="2599"/>
            <a:chExt cx="2244" cy="1317"/>
          </a:xfrm>
        </p:grpSpPr>
        <p:sp>
          <p:nvSpPr>
            <p:cNvPr id="47135" name="Rectangle 30"/>
            <p:cNvSpPr/>
            <p:nvPr/>
          </p:nvSpPr>
          <p:spPr>
            <a:xfrm>
              <a:off x="140" y="2599"/>
              <a:ext cx="1614" cy="288"/>
            </a:xfrm>
            <a:prstGeom prst="rect">
              <a:avLst/>
            </a:prstGeom>
            <a:solidFill>
              <a:srgbClr val="CCECFF"/>
            </a:solid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Times New Roman" panose="02020603050405020304" pitchFamily="18" charset="0"/>
                </a:rPr>
                <a:t>与或式      与非式</a:t>
              </a:r>
              <a:r>
                <a:rPr lang="zh-CN" altLang="en-US" sz="2400" b="1" dirty="0">
                  <a:latin typeface="宋体" panose="02010600030101010101" pitchFamily="2" charset="-122"/>
                </a:rPr>
                <a:t>  </a:t>
              </a:r>
              <a:endParaRPr lang="zh-CN" altLang="en-US" sz="2400" b="1" dirty="0">
                <a:latin typeface="宋体" panose="02010600030101010101" pitchFamily="2" charset="-122"/>
              </a:endParaRPr>
            </a:p>
          </p:txBody>
        </p:sp>
        <p:sp>
          <p:nvSpPr>
            <p:cNvPr id="47136" name="Rectangle 32"/>
            <p:cNvSpPr/>
            <p:nvPr/>
          </p:nvSpPr>
          <p:spPr>
            <a:xfrm>
              <a:off x="1363" y="3236"/>
              <a:ext cx="963" cy="294"/>
            </a:xfrm>
            <a:prstGeom prst="rect">
              <a:avLst/>
            </a:prstGeom>
            <a:solidFill>
              <a:srgbClr val="00FFCC">
                <a:alpha val="50195"/>
              </a:srgbClr>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Times New Roman" panose="02020603050405020304" pitchFamily="18" charset="0"/>
                </a:rPr>
                <a:t>用还原律</a:t>
              </a:r>
              <a:r>
                <a:rPr lang="zh-CN" altLang="en-US" sz="2400" b="1" dirty="0">
                  <a:latin typeface="宋体" panose="02010600030101010101" pitchFamily="2" charset="-122"/>
                </a:rPr>
                <a:t>  </a:t>
              </a:r>
              <a:endParaRPr lang="zh-CN" altLang="en-US" sz="2400" b="1" dirty="0">
                <a:latin typeface="宋体" panose="02010600030101010101" pitchFamily="2" charset="-122"/>
              </a:endParaRPr>
            </a:p>
          </p:txBody>
        </p:sp>
        <p:sp>
          <p:nvSpPr>
            <p:cNvPr id="47137" name="Rectangle 33"/>
            <p:cNvSpPr/>
            <p:nvPr/>
          </p:nvSpPr>
          <p:spPr>
            <a:xfrm>
              <a:off x="1266" y="3622"/>
              <a:ext cx="1118" cy="294"/>
            </a:xfrm>
            <a:prstGeom prst="rect">
              <a:avLst/>
            </a:prstGeom>
            <a:solidFill>
              <a:srgbClr val="00FFCC">
                <a:alpha val="50195"/>
              </a:srgbClr>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Times New Roman" panose="02020603050405020304" pitchFamily="18" charset="0"/>
                </a:rPr>
                <a:t>用摩根定律</a:t>
              </a:r>
              <a:r>
                <a:rPr lang="zh-CN" altLang="en-US" sz="2400" b="1" dirty="0">
                  <a:latin typeface="宋体" panose="02010600030101010101" pitchFamily="2" charset="-122"/>
                </a:rPr>
                <a:t>  </a:t>
              </a:r>
              <a:endParaRPr lang="zh-CN" altLang="en-US" sz="2400" b="1" dirty="0">
                <a:latin typeface="宋体" panose="02010600030101010101" pitchFamily="2" charset="-122"/>
              </a:endParaRPr>
            </a:p>
          </p:txBody>
        </p:sp>
        <p:sp>
          <p:nvSpPr>
            <p:cNvPr id="47138" name="AutoShape 34"/>
            <p:cNvSpPr/>
            <p:nvPr/>
          </p:nvSpPr>
          <p:spPr>
            <a:xfrm>
              <a:off x="800" y="2691"/>
              <a:ext cx="250" cy="87"/>
            </a:xfrm>
            <a:prstGeom prst="notchedRightArrow">
              <a:avLst>
                <a:gd name="adj1" fmla="val 50000"/>
                <a:gd name="adj2" fmla="val 71839"/>
              </a:avLst>
            </a:prstGeom>
            <a:solidFill>
              <a:schemeClr val="tx2"/>
            </a:solidFill>
            <a:ln w="9525" cap="flat" cmpd="sng">
              <a:solidFill>
                <a:schemeClr val="tx1"/>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graphicFrame>
          <p:nvGraphicFramePr>
            <p:cNvPr id="47139" name="Object 37"/>
            <p:cNvGraphicFramePr>
              <a:graphicFrameLocks noChangeAspect="1"/>
            </p:cNvGraphicFramePr>
            <p:nvPr/>
          </p:nvGraphicFramePr>
          <p:xfrm>
            <a:off x="188" y="2945"/>
            <a:ext cx="1104" cy="208"/>
          </p:xfrm>
          <a:graphic>
            <a:graphicData uri="http://schemas.openxmlformats.org/presentationml/2006/ole">
              <mc:AlternateContent xmlns:mc="http://schemas.openxmlformats.org/markup-compatibility/2006">
                <mc:Choice xmlns:v="urn:schemas-microsoft-com:vml" Requires="v">
                  <p:oleObj spid="_x0000_s3167" name="" r:id="rId11" imgW="1752600" imgH="330200" progId="Equation.3">
                    <p:embed/>
                  </p:oleObj>
                </mc:Choice>
                <mc:Fallback>
                  <p:oleObj name="" r:id="rId11" imgW="1752600" imgH="330200" progId="Equation.3">
                    <p:embed/>
                    <p:pic>
                      <p:nvPicPr>
                        <p:cNvPr id="0" name="图片 3166"/>
                        <p:cNvPicPr/>
                        <p:nvPr/>
                      </p:nvPicPr>
                      <p:blipFill>
                        <a:blip r:embed="rId2"/>
                        <a:stretch>
                          <a:fillRect/>
                        </a:stretch>
                      </p:blipFill>
                      <p:spPr>
                        <a:xfrm>
                          <a:off x="188" y="2945"/>
                          <a:ext cx="1104" cy="208"/>
                        </a:xfrm>
                        <a:prstGeom prst="rect">
                          <a:avLst/>
                        </a:prstGeom>
                        <a:noFill/>
                        <a:ln w="38100">
                          <a:noFill/>
                          <a:miter/>
                        </a:ln>
                      </p:spPr>
                    </p:pic>
                  </p:oleObj>
                </mc:Fallback>
              </mc:AlternateContent>
            </a:graphicData>
          </a:graphic>
        </p:graphicFrame>
        <p:graphicFrame>
          <p:nvGraphicFramePr>
            <p:cNvPr id="47140" name="Object 38"/>
            <p:cNvGraphicFramePr>
              <a:graphicFrameLocks noChangeAspect="1"/>
            </p:cNvGraphicFramePr>
            <p:nvPr/>
          </p:nvGraphicFramePr>
          <p:xfrm>
            <a:off x="376" y="3598"/>
            <a:ext cx="848" cy="248"/>
          </p:xfrm>
          <a:graphic>
            <a:graphicData uri="http://schemas.openxmlformats.org/presentationml/2006/ole">
              <mc:AlternateContent xmlns:mc="http://schemas.openxmlformats.org/markup-compatibility/2006">
                <mc:Choice xmlns:v="urn:schemas-microsoft-com:vml" Requires="v">
                  <p:oleObj spid="_x0000_s3169" name="" r:id="rId12" imgW="1345565" imgH="393700" progId="Equation.3">
                    <p:embed/>
                  </p:oleObj>
                </mc:Choice>
                <mc:Fallback>
                  <p:oleObj name="" r:id="rId12" imgW="1345565" imgH="393700" progId="Equation.3">
                    <p:embed/>
                    <p:pic>
                      <p:nvPicPr>
                        <p:cNvPr id="0" name="图片 3168"/>
                        <p:cNvPicPr/>
                        <p:nvPr/>
                      </p:nvPicPr>
                      <p:blipFill>
                        <a:blip r:embed="rId6"/>
                        <a:stretch>
                          <a:fillRect/>
                        </a:stretch>
                      </p:blipFill>
                      <p:spPr>
                        <a:xfrm>
                          <a:off x="376" y="3598"/>
                          <a:ext cx="848" cy="248"/>
                        </a:xfrm>
                        <a:prstGeom prst="rect">
                          <a:avLst/>
                        </a:prstGeom>
                        <a:noFill/>
                        <a:ln w="38100">
                          <a:noFill/>
                          <a:miter/>
                        </a:ln>
                      </p:spPr>
                    </p:pic>
                  </p:oleObj>
                </mc:Fallback>
              </mc:AlternateContent>
            </a:graphicData>
          </a:graphic>
        </p:graphicFrame>
        <p:graphicFrame>
          <p:nvGraphicFramePr>
            <p:cNvPr id="47141" name="Object 40"/>
            <p:cNvGraphicFramePr>
              <a:graphicFrameLocks noChangeAspect="1"/>
            </p:cNvGraphicFramePr>
            <p:nvPr/>
          </p:nvGraphicFramePr>
          <p:xfrm>
            <a:off x="381" y="3306"/>
            <a:ext cx="928" cy="208"/>
          </p:xfrm>
          <a:graphic>
            <a:graphicData uri="http://schemas.openxmlformats.org/presentationml/2006/ole">
              <mc:AlternateContent xmlns:mc="http://schemas.openxmlformats.org/markup-compatibility/2006">
                <mc:Choice xmlns:v="urn:schemas-microsoft-com:vml" Requires="v">
                  <p:oleObj spid="_x0000_s3171" name="" r:id="rId13" imgW="1473200" imgH="330200" progId="Equation.3">
                    <p:embed/>
                  </p:oleObj>
                </mc:Choice>
                <mc:Fallback>
                  <p:oleObj name="" r:id="rId13" imgW="1473200" imgH="330200" progId="Equation.3">
                    <p:embed/>
                    <p:pic>
                      <p:nvPicPr>
                        <p:cNvPr id="0" name="图片 3170"/>
                        <p:cNvPicPr/>
                        <p:nvPr/>
                      </p:nvPicPr>
                      <p:blipFill>
                        <a:blip r:embed="rId14"/>
                        <a:stretch>
                          <a:fillRect/>
                        </a:stretch>
                      </p:blipFill>
                      <p:spPr>
                        <a:xfrm>
                          <a:off x="381" y="3306"/>
                          <a:ext cx="928" cy="208"/>
                        </a:xfrm>
                        <a:prstGeom prst="rect">
                          <a:avLst/>
                        </a:prstGeom>
                        <a:noFill/>
                        <a:ln w="38100">
                          <a:noFill/>
                          <a:miter/>
                        </a:ln>
                      </p:spPr>
                    </p:pic>
                  </p:oleObj>
                </mc:Fallback>
              </mc:AlternateContent>
            </a:graphicData>
          </a:graphic>
        </p:graphicFrame>
        <p:sp>
          <p:nvSpPr>
            <p:cNvPr id="47142" name="Line 41"/>
            <p:cNvSpPr/>
            <p:nvPr/>
          </p:nvSpPr>
          <p:spPr>
            <a:xfrm>
              <a:off x="541" y="3282"/>
              <a:ext cx="761" cy="0"/>
            </a:xfrm>
            <a:prstGeom prst="line">
              <a:avLst/>
            </a:prstGeom>
            <a:ln w="28575" cap="flat" cmpd="sng">
              <a:solidFill>
                <a:schemeClr val="accent1"/>
              </a:solidFill>
              <a:prstDash val="solid"/>
              <a:headEnd type="none" w="med" len="med"/>
              <a:tailEnd type="none" w="med" len="med"/>
            </a:ln>
          </p:spPr>
        </p:sp>
        <p:sp>
          <p:nvSpPr>
            <p:cNvPr id="47143" name="Line 42"/>
            <p:cNvSpPr/>
            <p:nvPr/>
          </p:nvSpPr>
          <p:spPr>
            <a:xfrm>
              <a:off x="538" y="3246"/>
              <a:ext cx="761" cy="0"/>
            </a:xfrm>
            <a:prstGeom prst="line">
              <a:avLst/>
            </a:prstGeom>
            <a:ln w="28575" cap="flat" cmpd="sng">
              <a:solidFill>
                <a:schemeClr val="accent1"/>
              </a:solidFill>
              <a:prstDash val="solid"/>
              <a:headEnd type="none" w="med" len="med"/>
              <a:tailEnd type="none" w="med" len="med"/>
            </a:ln>
          </p:spPr>
        </p:sp>
      </p:grpSp>
      <p:grpSp>
        <p:nvGrpSpPr>
          <p:cNvPr id="132153" name="Group 57"/>
          <p:cNvGrpSpPr/>
          <p:nvPr/>
        </p:nvGrpSpPr>
        <p:grpSpPr>
          <a:xfrm>
            <a:off x="3687763" y="4119563"/>
            <a:ext cx="4289425" cy="2443162"/>
            <a:chOff x="2322" y="2595"/>
            <a:chExt cx="2703" cy="1539"/>
          </a:xfrm>
        </p:grpSpPr>
        <p:sp>
          <p:nvSpPr>
            <p:cNvPr id="47123" name="Rectangle 31"/>
            <p:cNvSpPr/>
            <p:nvPr/>
          </p:nvSpPr>
          <p:spPr>
            <a:xfrm>
              <a:off x="2322" y="2595"/>
              <a:ext cx="2655" cy="288"/>
            </a:xfrm>
            <a:prstGeom prst="rect">
              <a:avLst/>
            </a:prstGeom>
            <a:solidFill>
              <a:srgbClr val="CCECFF"/>
            </a:solid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Times New Roman" panose="02020603050405020304" pitchFamily="18" charset="0"/>
                </a:rPr>
                <a:t>或与式      或非式      与或非式</a:t>
              </a:r>
              <a:r>
                <a:rPr lang="zh-CN" altLang="en-US" sz="2400" b="1" dirty="0">
                  <a:latin typeface="宋体" panose="02010600030101010101" pitchFamily="2" charset="-122"/>
                </a:rPr>
                <a:t> </a:t>
              </a:r>
              <a:endParaRPr lang="zh-CN" altLang="en-US" sz="2400" b="1" dirty="0">
                <a:latin typeface="宋体" panose="02010600030101010101" pitchFamily="2" charset="-122"/>
              </a:endParaRPr>
            </a:p>
          </p:txBody>
        </p:sp>
        <p:sp>
          <p:nvSpPr>
            <p:cNvPr id="47124" name="AutoShape 35"/>
            <p:cNvSpPr/>
            <p:nvPr/>
          </p:nvSpPr>
          <p:spPr>
            <a:xfrm>
              <a:off x="2983" y="2700"/>
              <a:ext cx="250" cy="87"/>
            </a:xfrm>
            <a:prstGeom prst="notchedRightArrow">
              <a:avLst>
                <a:gd name="adj1" fmla="val 50000"/>
                <a:gd name="adj2" fmla="val 71839"/>
              </a:avLst>
            </a:prstGeom>
            <a:solidFill>
              <a:schemeClr val="tx2"/>
            </a:solidFill>
            <a:ln w="9525" cap="flat" cmpd="sng">
              <a:solidFill>
                <a:schemeClr val="tx1"/>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47125" name="AutoShape 36"/>
            <p:cNvSpPr/>
            <p:nvPr/>
          </p:nvSpPr>
          <p:spPr>
            <a:xfrm>
              <a:off x="3873" y="2698"/>
              <a:ext cx="250" cy="87"/>
            </a:xfrm>
            <a:prstGeom prst="notchedRightArrow">
              <a:avLst>
                <a:gd name="adj1" fmla="val 50000"/>
                <a:gd name="adj2" fmla="val 71839"/>
              </a:avLst>
            </a:prstGeom>
            <a:solidFill>
              <a:schemeClr val="tx2"/>
            </a:solidFill>
            <a:ln w="9525" cap="flat" cmpd="sng">
              <a:solidFill>
                <a:schemeClr val="tx1"/>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47126" name="Rectangle 44"/>
            <p:cNvSpPr/>
            <p:nvPr/>
          </p:nvSpPr>
          <p:spPr>
            <a:xfrm>
              <a:off x="4049" y="3169"/>
              <a:ext cx="963" cy="294"/>
            </a:xfrm>
            <a:prstGeom prst="rect">
              <a:avLst/>
            </a:prstGeom>
            <a:solidFill>
              <a:srgbClr val="00FFCC">
                <a:alpha val="50195"/>
              </a:srgbClr>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Times New Roman" panose="02020603050405020304" pitchFamily="18" charset="0"/>
                </a:rPr>
                <a:t>用还原律</a:t>
              </a:r>
              <a:r>
                <a:rPr lang="zh-CN" altLang="en-US" sz="2400" b="1" dirty="0">
                  <a:latin typeface="宋体" panose="02010600030101010101" pitchFamily="2" charset="-122"/>
                </a:rPr>
                <a:t>  </a:t>
              </a:r>
              <a:endParaRPr lang="zh-CN" altLang="en-US" sz="2400" b="1" dirty="0">
                <a:latin typeface="宋体" panose="02010600030101010101" pitchFamily="2" charset="-122"/>
              </a:endParaRPr>
            </a:p>
          </p:txBody>
        </p:sp>
        <p:sp>
          <p:nvSpPr>
            <p:cNvPr id="47127" name="Rectangle 45"/>
            <p:cNvSpPr/>
            <p:nvPr/>
          </p:nvSpPr>
          <p:spPr>
            <a:xfrm>
              <a:off x="3646" y="3840"/>
              <a:ext cx="1108" cy="294"/>
            </a:xfrm>
            <a:prstGeom prst="rect">
              <a:avLst/>
            </a:prstGeom>
            <a:solidFill>
              <a:srgbClr val="00FFCC">
                <a:alpha val="50195"/>
              </a:srgbClr>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Times New Roman" panose="02020603050405020304" pitchFamily="18" charset="0"/>
                </a:rPr>
                <a:t>用摩根定律</a:t>
              </a:r>
              <a:r>
                <a:rPr lang="zh-CN" altLang="en-US" sz="2400" b="1" dirty="0">
                  <a:latin typeface="宋体" panose="02010600030101010101" pitchFamily="2" charset="-122"/>
                </a:rPr>
                <a:t>  </a:t>
              </a:r>
              <a:endParaRPr lang="zh-CN" altLang="en-US" sz="2400" b="1" dirty="0">
                <a:latin typeface="宋体" panose="02010600030101010101" pitchFamily="2" charset="-122"/>
              </a:endParaRPr>
            </a:p>
          </p:txBody>
        </p:sp>
        <p:sp>
          <p:nvSpPr>
            <p:cNvPr id="47128" name="Rectangle 46"/>
            <p:cNvSpPr/>
            <p:nvPr/>
          </p:nvSpPr>
          <p:spPr>
            <a:xfrm>
              <a:off x="3863" y="3511"/>
              <a:ext cx="1162" cy="294"/>
            </a:xfrm>
            <a:prstGeom prst="rect">
              <a:avLst/>
            </a:prstGeom>
            <a:solidFill>
              <a:srgbClr val="00FFCC">
                <a:alpha val="50195"/>
              </a:srgbClr>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Times New Roman" panose="02020603050405020304" pitchFamily="18" charset="0"/>
                </a:rPr>
                <a:t>用摩根定律</a:t>
              </a:r>
              <a:r>
                <a:rPr lang="zh-CN" altLang="en-US" sz="2400" b="1" dirty="0">
                  <a:latin typeface="宋体" panose="02010600030101010101" pitchFamily="2" charset="-122"/>
                </a:rPr>
                <a:t>  </a:t>
              </a:r>
              <a:endParaRPr lang="zh-CN" altLang="en-US" sz="2400" b="1" dirty="0">
                <a:latin typeface="宋体" panose="02010600030101010101" pitchFamily="2" charset="-122"/>
              </a:endParaRPr>
            </a:p>
          </p:txBody>
        </p:sp>
        <p:sp>
          <p:nvSpPr>
            <p:cNvPr id="47129" name="Line 47"/>
            <p:cNvSpPr/>
            <p:nvPr/>
          </p:nvSpPr>
          <p:spPr>
            <a:xfrm>
              <a:off x="2770" y="3205"/>
              <a:ext cx="1109" cy="0"/>
            </a:xfrm>
            <a:prstGeom prst="line">
              <a:avLst/>
            </a:prstGeom>
            <a:ln w="28575" cap="flat" cmpd="sng">
              <a:solidFill>
                <a:schemeClr val="accent1"/>
              </a:solidFill>
              <a:prstDash val="solid"/>
              <a:headEnd type="none" w="med" len="med"/>
              <a:tailEnd type="none" w="med" len="med"/>
            </a:ln>
          </p:spPr>
        </p:sp>
        <p:graphicFrame>
          <p:nvGraphicFramePr>
            <p:cNvPr id="47130" name="Object 49"/>
            <p:cNvGraphicFramePr>
              <a:graphicFrameLocks noChangeAspect="1"/>
            </p:cNvGraphicFramePr>
            <p:nvPr/>
          </p:nvGraphicFramePr>
          <p:xfrm>
            <a:off x="2363" y="2882"/>
            <a:ext cx="1544" cy="248"/>
          </p:xfrm>
          <a:graphic>
            <a:graphicData uri="http://schemas.openxmlformats.org/presentationml/2006/ole">
              <mc:AlternateContent xmlns:mc="http://schemas.openxmlformats.org/markup-compatibility/2006">
                <mc:Choice xmlns:v="urn:schemas-microsoft-com:vml" Requires="v">
                  <p:oleObj spid="_x0000_s3101" name="" r:id="rId15" imgW="2451100" imgH="393700" progId="Equation.3">
                    <p:embed/>
                  </p:oleObj>
                </mc:Choice>
                <mc:Fallback>
                  <p:oleObj name="" r:id="rId15" imgW="2451100" imgH="393700" progId="Equation.3">
                    <p:embed/>
                    <p:pic>
                      <p:nvPicPr>
                        <p:cNvPr id="0" name="图片 3100"/>
                        <p:cNvPicPr/>
                        <p:nvPr/>
                      </p:nvPicPr>
                      <p:blipFill>
                        <a:blip r:embed="rId16"/>
                        <a:stretch>
                          <a:fillRect/>
                        </a:stretch>
                      </p:blipFill>
                      <p:spPr>
                        <a:xfrm>
                          <a:off x="2363" y="2882"/>
                          <a:ext cx="1544" cy="248"/>
                        </a:xfrm>
                        <a:prstGeom prst="rect">
                          <a:avLst/>
                        </a:prstGeom>
                        <a:noFill/>
                        <a:ln w="38100">
                          <a:noFill/>
                          <a:miter/>
                        </a:ln>
                      </p:spPr>
                    </p:pic>
                  </p:oleObj>
                </mc:Fallback>
              </mc:AlternateContent>
            </a:graphicData>
          </a:graphic>
        </p:graphicFrame>
        <p:graphicFrame>
          <p:nvGraphicFramePr>
            <p:cNvPr id="47131" name="Object 50"/>
            <p:cNvGraphicFramePr>
              <a:graphicFrameLocks noChangeAspect="1"/>
            </p:cNvGraphicFramePr>
            <p:nvPr/>
          </p:nvGraphicFramePr>
          <p:xfrm>
            <a:off x="2558" y="3220"/>
            <a:ext cx="1368" cy="248"/>
          </p:xfrm>
          <a:graphic>
            <a:graphicData uri="http://schemas.openxmlformats.org/presentationml/2006/ole">
              <mc:AlternateContent xmlns:mc="http://schemas.openxmlformats.org/markup-compatibility/2006">
                <mc:Choice xmlns:v="urn:schemas-microsoft-com:vml" Requires="v">
                  <p:oleObj spid="_x0000_s3102" name="" r:id="rId17" imgW="2171700" imgH="393700" progId="Equation.3">
                    <p:embed/>
                  </p:oleObj>
                </mc:Choice>
                <mc:Fallback>
                  <p:oleObj name="" r:id="rId17" imgW="2171700" imgH="393700" progId="Equation.3">
                    <p:embed/>
                    <p:pic>
                      <p:nvPicPr>
                        <p:cNvPr id="0" name="图片 3101"/>
                        <p:cNvPicPr/>
                        <p:nvPr/>
                      </p:nvPicPr>
                      <p:blipFill>
                        <a:blip r:embed="rId18"/>
                        <a:stretch>
                          <a:fillRect/>
                        </a:stretch>
                      </p:blipFill>
                      <p:spPr>
                        <a:xfrm>
                          <a:off x="2558" y="3220"/>
                          <a:ext cx="1368" cy="248"/>
                        </a:xfrm>
                        <a:prstGeom prst="rect">
                          <a:avLst/>
                        </a:prstGeom>
                        <a:noFill/>
                        <a:ln w="38100">
                          <a:noFill/>
                          <a:miter/>
                        </a:ln>
                      </p:spPr>
                    </p:pic>
                  </p:oleObj>
                </mc:Fallback>
              </mc:AlternateContent>
            </a:graphicData>
          </a:graphic>
        </p:graphicFrame>
        <p:graphicFrame>
          <p:nvGraphicFramePr>
            <p:cNvPr id="47132" name="Object 51"/>
            <p:cNvGraphicFramePr>
              <a:graphicFrameLocks noChangeAspect="1"/>
            </p:cNvGraphicFramePr>
            <p:nvPr/>
          </p:nvGraphicFramePr>
          <p:xfrm>
            <a:off x="2564" y="3514"/>
            <a:ext cx="1272" cy="248"/>
          </p:xfrm>
          <a:graphic>
            <a:graphicData uri="http://schemas.openxmlformats.org/presentationml/2006/ole">
              <mc:AlternateContent xmlns:mc="http://schemas.openxmlformats.org/markup-compatibility/2006">
                <mc:Choice xmlns:v="urn:schemas-microsoft-com:vml" Requires="v">
                  <p:oleObj spid="_x0000_s3098" name="" r:id="rId19" imgW="2019300" imgH="393700" progId="Equation.3">
                    <p:embed/>
                  </p:oleObj>
                </mc:Choice>
                <mc:Fallback>
                  <p:oleObj name="" r:id="rId19" imgW="2019300" imgH="393700" progId="Equation.3">
                    <p:embed/>
                    <p:pic>
                      <p:nvPicPr>
                        <p:cNvPr id="0" name="图片 3097"/>
                        <p:cNvPicPr/>
                        <p:nvPr/>
                      </p:nvPicPr>
                      <p:blipFill>
                        <a:blip r:embed="rId20"/>
                        <a:stretch>
                          <a:fillRect/>
                        </a:stretch>
                      </p:blipFill>
                      <p:spPr>
                        <a:xfrm>
                          <a:off x="2564" y="3514"/>
                          <a:ext cx="1272" cy="248"/>
                        </a:xfrm>
                        <a:prstGeom prst="rect">
                          <a:avLst/>
                        </a:prstGeom>
                        <a:noFill/>
                        <a:ln w="38100">
                          <a:noFill/>
                          <a:miter/>
                        </a:ln>
                      </p:spPr>
                    </p:pic>
                  </p:oleObj>
                </mc:Fallback>
              </mc:AlternateContent>
            </a:graphicData>
          </a:graphic>
        </p:graphicFrame>
        <p:graphicFrame>
          <p:nvGraphicFramePr>
            <p:cNvPr id="47133" name="Object 52"/>
            <p:cNvGraphicFramePr>
              <a:graphicFrameLocks noChangeAspect="1"/>
            </p:cNvGraphicFramePr>
            <p:nvPr/>
          </p:nvGraphicFramePr>
          <p:xfrm>
            <a:off x="2559" y="3816"/>
            <a:ext cx="1012" cy="253"/>
          </p:xfrm>
          <a:graphic>
            <a:graphicData uri="http://schemas.openxmlformats.org/presentationml/2006/ole">
              <mc:AlternateContent xmlns:mc="http://schemas.openxmlformats.org/markup-compatibility/2006">
                <mc:Choice xmlns:v="urn:schemas-microsoft-com:vml" Requires="v">
                  <p:oleObj spid="_x0000_s3095" name="" r:id="rId21" imgW="1473200" imgH="368300" progId="Equation.3">
                    <p:embed/>
                  </p:oleObj>
                </mc:Choice>
                <mc:Fallback>
                  <p:oleObj name="" r:id="rId21" imgW="1473200" imgH="368300" progId="Equation.3">
                    <p:embed/>
                    <p:pic>
                      <p:nvPicPr>
                        <p:cNvPr id="0" name="图片 3094"/>
                        <p:cNvPicPr/>
                        <p:nvPr/>
                      </p:nvPicPr>
                      <p:blipFill>
                        <a:blip r:embed="rId22"/>
                        <a:stretch>
                          <a:fillRect/>
                        </a:stretch>
                      </p:blipFill>
                      <p:spPr>
                        <a:xfrm>
                          <a:off x="2559" y="3816"/>
                          <a:ext cx="1012" cy="253"/>
                        </a:xfrm>
                        <a:prstGeom prst="rect">
                          <a:avLst/>
                        </a:prstGeom>
                        <a:noFill/>
                        <a:ln w="38100">
                          <a:noFill/>
                          <a:miter/>
                        </a:ln>
                      </p:spPr>
                    </p:pic>
                  </p:oleObj>
                </mc:Fallback>
              </mc:AlternateContent>
            </a:graphicData>
          </a:graphic>
        </p:graphicFrame>
        <p:sp>
          <p:nvSpPr>
            <p:cNvPr id="47134" name="Line 53"/>
            <p:cNvSpPr/>
            <p:nvPr/>
          </p:nvSpPr>
          <p:spPr>
            <a:xfrm>
              <a:off x="2767" y="3169"/>
              <a:ext cx="1109" cy="0"/>
            </a:xfrm>
            <a:prstGeom prst="line">
              <a:avLst/>
            </a:prstGeom>
            <a:ln w="28575" cap="flat" cmpd="sng">
              <a:solidFill>
                <a:schemeClr val="accent1"/>
              </a:solidFill>
              <a:prstDash val="solid"/>
              <a:headEnd type="none" w="med" len="med"/>
              <a:tailEnd type="none" w="med" len="med"/>
            </a:ln>
          </p:spPr>
        </p:sp>
      </p:grpSp>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132155"/>
                                        </p:tgtEl>
                                        <p:attrNameLst>
                                          <p:attrName>style.visibility</p:attrName>
                                        </p:attrNameLst>
                                      </p:cBhvr>
                                      <p:to>
                                        <p:strVal val="visible"/>
                                      </p:to>
                                    </p:set>
                                  </p:childTnLst>
                                  <p:subTnLst>
                                    <p:set>
                                      <p:cBhvr override="childStyle">
                                        <p:cTn dur="1" fill="hold" display="0" masterRel="nextClick" afterEffect="1"/>
                                        <p:tgtEl>
                                          <p:spTgt spid="132155"/>
                                        </p:tgtEl>
                                        <p:attrNameLst>
                                          <p:attrName>style.visibility</p:attrName>
                                        </p:attrNameLst>
                                      </p:cBhvr>
                                      <p:to>
                                        <p:strVal val="hidden"/>
                                      </p:to>
                                    </p:set>
                                  </p:subTnLst>
                                </p:cTn>
                              </p:par>
                            </p:childTnLst>
                          </p:cTn>
                        </p:par>
                        <p:par>
                          <p:cTn id="7" fill="hold">
                            <p:stCondLst>
                              <p:cond delay="500"/>
                            </p:stCondLst>
                            <p:childTnLst>
                              <p:par>
                                <p:cTn id="8" presetID="22" presetClass="entr" presetSubtype="8" fill="hold" grpId="0" nodeType="afterEffect">
                                  <p:stCondLst>
                                    <p:cond delay="0"/>
                                  </p:stCondLst>
                                  <p:childTnLst>
                                    <p:set>
                                      <p:cBhvr>
                                        <p:cTn id="9" dur="1" fill="hold">
                                          <p:stCondLst>
                                            <p:cond delay="0"/>
                                          </p:stCondLst>
                                        </p:cTn>
                                        <p:tgtEl>
                                          <p:spTgt spid="132099"/>
                                        </p:tgtEl>
                                        <p:attrNameLst>
                                          <p:attrName>style.visibility</p:attrName>
                                        </p:attrNameLst>
                                      </p:cBhvr>
                                      <p:to>
                                        <p:strVal val="visible"/>
                                      </p:to>
                                    </p:set>
                                    <p:animEffect transition="in" filter="wipe(left)">
                                      <p:cBhvr>
                                        <p:cTn id="10" dur="500"/>
                                        <p:tgtEl>
                                          <p:spTgt spid="132099"/>
                                        </p:tgtEl>
                                      </p:cBhvr>
                                    </p:animEffect>
                                  </p:childTnLst>
                                </p:cTn>
                              </p:par>
                            </p:childTnLst>
                          </p:cTn>
                        </p:par>
                        <p:par>
                          <p:cTn id="11" fill="hold">
                            <p:stCondLst>
                              <p:cond delay="1000"/>
                            </p:stCondLst>
                            <p:childTnLst>
                              <p:par>
                                <p:cTn id="12" presetID="2" presetClass="entr" presetSubtype="2" fill="hold" grpId="0" nodeType="afterEffect">
                                  <p:stCondLst>
                                    <p:cond delay="0"/>
                                  </p:stCondLst>
                                  <p:childTnLst>
                                    <p:set>
                                      <p:cBhvr>
                                        <p:cTn id="13" dur="1" fill="hold">
                                          <p:stCondLst>
                                            <p:cond delay="0"/>
                                          </p:stCondLst>
                                        </p:cTn>
                                        <p:tgtEl>
                                          <p:spTgt spid="132154"/>
                                        </p:tgtEl>
                                        <p:attrNameLst>
                                          <p:attrName>style.visibility</p:attrName>
                                        </p:attrNameLst>
                                      </p:cBhvr>
                                      <p:to>
                                        <p:strVal val="visible"/>
                                      </p:to>
                                    </p:set>
                                    <p:anim calcmode="lin" valueType="num">
                                      <p:cBhvr additive="base">
                                        <p:cTn id="14" dur="500" fill="hold"/>
                                        <p:tgtEl>
                                          <p:spTgt spid="132154"/>
                                        </p:tgtEl>
                                        <p:attrNameLst>
                                          <p:attrName>ppt_x</p:attrName>
                                        </p:attrNameLst>
                                      </p:cBhvr>
                                      <p:tavLst>
                                        <p:tav tm="0">
                                          <p:val>
                                            <p:strVal val="1+#ppt_w/2"/>
                                          </p:val>
                                        </p:tav>
                                        <p:tav tm="100000">
                                          <p:val>
                                            <p:strVal val="#ppt_x"/>
                                          </p:val>
                                        </p:tav>
                                      </p:tavLst>
                                    </p:anim>
                                    <p:anim calcmode="lin" valueType="num">
                                      <p:cBhvr additive="base">
                                        <p:cTn id="15" dur="500" fill="hold"/>
                                        <p:tgtEl>
                                          <p:spTgt spid="132154"/>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32154"/>
                                        </p:tgtEl>
                                        <p:attrNameLst>
                                          <p:attrName>style.visibility</p:attrName>
                                        </p:attrNameLst>
                                      </p:cBhvr>
                                      <p:to>
                                        <p:strVal val="hidden"/>
                                      </p:to>
                                    </p:set>
                                  </p:sub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32102"/>
                                        </p:tgtEl>
                                        <p:attrNameLst>
                                          <p:attrName>style.visibility</p:attrName>
                                        </p:attrNameLst>
                                      </p:cBhvr>
                                      <p:to>
                                        <p:strVal val="visible"/>
                                      </p:to>
                                    </p:set>
                                    <p:animEffect transition="in" filter="wipe(left)">
                                      <p:cBhvr>
                                        <p:cTn id="20" dur="500"/>
                                        <p:tgtEl>
                                          <p:spTgt spid="132102"/>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132112"/>
                                        </p:tgtEl>
                                        <p:attrNameLst>
                                          <p:attrName>style.visibility</p:attrName>
                                        </p:attrNameLst>
                                      </p:cBhvr>
                                      <p:to>
                                        <p:strVal val="visible"/>
                                      </p:to>
                                    </p:set>
                                    <p:animEffect transition="in" filter="wipe(left)">
                                      <p:cBhvr>
                                        <p:cTn id="24" dur="500"/>
                                        <p:tgtEl>
                                          <p:spTgt spid="132112"/>
                                        </p:tgtEl>
                                      </p:cBhvr>
                                    </p:animEffect>
                                  </p:childTnLst>
                                </p:cTn>
                              </p:par>
                            </p:childTnLst>
                          </p:cTn>
                        </p:par>
                        <p:par>
                          <p:cTn id="25" fill="hold">
                            <p:stCondLst>
                              <p:cond delay="1000"/>
                            </p:stCondLst>
                            <p:childTnLst>
                              <p:par>
                                <p:cTn id="26" presetID="22" presetClass="entr" presetSubtype="8" fill="hold" grpId="0" nodeType="afterEffect">
                                  <p:stCondLst>
                                    <p:cond delay="0"/>
                                  </p:stCondLst>
                                  <p:childTnLst>
                                    <p:set>
                                      <p:cBhvr>
                                        <p:cTn id="27" dur="1" fill="hold">
                                          <p:stCondLst>
                                            <p:cond delay="0"/>
                                          </p:stCondLst>
                                        </p:cTn>
                                        <p:tgtEl>
                                          <p:spTgt spid="132119"/>
                                        </p:tgtEl>
                                        <p:attrNameLst>
                                          <p:attrName>style.visibility</p:attrName>
                                        </p:attrNameLst>
                                      </p:cBhvr>
                                      <p:to>
                                        <p:strVal val="visible"/>
                                      </p:to>
                                    </p:set>
                                    <p:animEffect transition="in" filter="wipe(left)">
                                      <p:cBhvr>
                                        <p:cTn id="28" dur="500"/>
                                        <p:tgtEl>
                                          <p:spTgt spid="13211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32113"/>
                                        </p:tgtEl>
                                        <p:attrNameLst>
                                          <p:attrName>style.visibility</p:attrName>
                                        </p:attrNameLst>
                                      </p:cBhvr>
                                      <p:to>
                                        <p:strVal val="visible"/>
                                      </p:to>
                                    </p:set>
                                    <p:animEffect transition="in" filter="wipe(left)">
                                      <p:cBhvr>
                                        <p:cTn id="33" dur="500"/>
                                        <p:tgtEl>
                                          <p:spTgt spid="132113"/>
                                        </p:tgtEl>
                                      </p:cBhvr>
                                    </p:animEffect>
                                  </p:childTnLst>
                                </p:cTn>
                              </p:par>
                            </p:childTnLst>
                          </p:cTn>
                        </p:par>
                        <p:par>
                          <p:cTn id="34" fill="hold">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132121"/>
                                        </p:tgtEl>
                                        <p:attrNameLst>
                                          <p:attrName>style.visibility</p:attrName>
                                        </p:attrNameLst>
                                      </p:cBhvr>
                                      <p:to>
                                        <p:strVal val="visible"/>
                                      </p:to>
                                    </p:set>
                                    <p:animEffect transition="in" filter="wipe(left)">
                                      <p:cBhvr>
                                        <p:cTn id="37" dur="500"/>
                                        <p:tgtEl>
                                          <p:spTgt spid="13212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32114"/>
                                        </p:tgtEl>
                                        <p:attrNameLst>
                                          <p:attrName>style.visibility</p:attrName>
                                        </p:attrNameLst>
                                      </p:cBhvr>
                                      <p:to>
                                        <p:strVal val="visible"/>
                                      </p:to>
                                    </p:set>
                                    <p:animEffect transition="in" filter="wipe(left)">
                                      <p:cBhvr>
                                        <p:cTn id="42" dur="500"/>
                                        <p:tgtEl>
                                          <p:spTgt spid="132114"/>
                                        </p:tgtEl>
                                      </p:cBhvr>
                                    </p:animEffect>
                                  </p:childTnLst>
                                </p:cTn>
                              </p:par>
                            </p:childTnLst>
                          </p:cTn>
                        </p:par>
                        <p:par>
                          <p:cTn id="43" fill="hold">
                            <p:stCondLst>
                              <p:cond delay="500"/>
                            </p:stCondLst>
                            <p:childTnLst>
                              <p:par>
                                <p:cTn id="44" presetID="22" presetClass="entr" presetSubtype="8" fill="hold" grpId="0" nodeType="afterEffect">
                                  <p:stCondLst>
                                    <p:cond delay="0"/>
                                  </p:stCondLst>
                                  <p:childTnLst>
                                    <p:set>
                                      <p:cBhvr>
                                        <p:cTn id="45" dur="1" fill="hold">
                                          <p:stCondLst>
                                            <p:cond delay="0"/>
                                          </p:stCondLst>
                                        </p:cTn>
                                        <p:tgtEl>
                                          <p:spTgt spid="132122"/>
                                        </p:tgtEl>
                                        <p:attrNameLst>
                                          <p:attrName>style.visibility</p:attrName>
                                        </p:attrNameLst>
                                      </p:cBhvr>
                                      <p:to>
                                        <p:strVal val="visible"/>
                                      </p:to>
                                    </p:set>
                                    <p:animEffect transition="in" filter="wipe(left)">
                                      <p:cBhvr>
                                        <p:cTn id="46" dur="500"/>
                                        <p:tgtEl>
                                          <p:spTgt spid="13212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32115"/>
                                        </p:tgtEl>
                                        <p:attrNameLst>
                                          <p:attrName>style.visibility</p:attrName>
                                        </p:attrNameLst>
                                      </p:cBhvr>
                                      <p:to>
                                        <p:strVal val="visible"/>
                                      </p:to>
                                    </p:set>
                                    <p:animEffect transition="in" filter="wipe(left)">
                                      <p:cBhvr>
                                        <p:cTn id="51" dur="500"/>
                                        <p:tgtEl>
                                          <p:spTgt spid="132115"/>
                                        </p:tgtEl>
                                      </p:cBhvr>
                                    </p:animEffect>
                                  </p:childTnLst>
                                </p:cTn>
                              </p:par>
                            </p:childTnLst>
                          </p:cTn>
                        </p:par>
                        <p:par>
                          <p:cTn id="52" fill="hold">
                            <p:stCondLst>
                              <p:cond delay="500"/>
                            </p:stCondLst>
                            <p:childTnLst>
                              <p:par>
                                <p:cTn id="53" presetID="22" presetClass="entr" presetSubtype="8" fill="hold" grpId="0" nodeType="afterEffect">
                                  <p:stCondLst>
                                    <p:cond delay="0"/>
                                  </p:stCondLst>
                                  <p:childTnLst>
                                    <p:set>
                                      <p:cBhvr>
                                        <p:cTn id="54" dur="1" fill="hold">
                                          <p:stCondLst>
                                            <p:cond delay="0"/>
                                          </p:stCondLst>
                                        </p:cTn>
                                        <p:tgtEl>
                                          <p:spTgt spid="132123"/>
                                        </p:tgtEl>
                                        <p:attrNameLst>
                                          <p:attrName>style.visibility</p:attrName>
                                        </p:attrNameLst>
                                      </p:cBhvr>
                                      <p:to>
                                        <p:strVal val="visible"/>
                                      </p:to>
                                    </p:set>
                                    <p:animEffect transition="in" filter="wipe(left)">
                                      <p:cBhvr>
                                        <p:cTn id="55" dur="500"/>
                                        <p:tgtEl>
                                          <p:spTgt spid="132123"/>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132116"/>
                                        </p:tgtEl>
                                        <p:attrNameLst>
                                          <p:attrName>style.visibility</p:attrName>
                                        </p:attrNameLst>
                                      </p:cBhvr>
                                      <p:to>
                                        <p:strVal val="visible"/>
                                      </p:to>
                                    </p:set>
                                    <p:animEffect transition="in" filter="wipe(left)">
                                      <p:cBhvr>
                                        <p:cTn id="60" dur="500"/>
                                        <p:tgtEl>
                                          <p:spTgt spid="132116"/>
                                        </p:tgtEl>
                                      </p:cBhvr>
                                    </p:animEffect>
                                  </p:childTnLst>
                                </p:cTn>
                              </p:par>
                            </p:childTnLst>
                          </p:cTn>
                        </p:par>
                        <p:par>
                          <p:cTn id="61" fill="hold">
                            <p:stCondLst>
                              <p:cond delay="500"/>
                            </p:stCondLst>
                            <p:childTnLst>
                              <p:par>
                                <p:cTn id="62" presetID="22" presetClass="entr" presetSubtype="8" fill="hold" grpId="0" nodeType="afterEffect">
                                  <p:stCondLst>
                                    <p:cond delay="0"/>
                                  </p:stCondLst>
                                  <p:childTnLst>
                                    <p:set>
                                      <p:cBhvr>
                                        <p:cTn id="63" dur="1" fill="hold">
                                          <p:stCondLst>
                                            <p:cond delay="0"/>
                                          </p:stCondLst>
                                        </p:cTn>
                                        <p:tgtEl>
                                          <p:spTgt spid="132124"/>
                                        </p:tgtEl>
                                        <p:attrNameLst>
                                          <p:attrName>style.visibility</p:attrName>
                                        </p:attrNameLst>
                                      </p:cBhvr>
                                      <p:to>
                                        <p:strVal val="visible"/>
                                      </p:to>
                                    </p:set>
                                    <p:animEffect transition="in" filter="wipe(left)">
                                      <p:cBhvr>
                                        <p:cTn id="64" dur="500"/>
                                        <p:tgtEl>
                                          <p:spTgt spid="132124"/>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132125"/>
                                        </p:tgtEl>
                                        <p:attrNameLst>
                                          <p:attrName>style.visibility</p:attrName>
                                        </p:attrNameLst>
                                      </p:cBhvr>
                                      <p:to>
                                        <p:strVal val="visible"/>
                                      </p:to>
                                    </p:set>
                                    <p:animEffect transition="in" filter="wipe(left)">
                                      <p:cBhvr>
                                        <p:cTn id="69" dur="500"/>
                                        <p:tgtEl>
                                          <p:spTgt spid="132125"/>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nodeType="clickEffect">
                                  <p:stCondLst>
                                    <p:cond delay="0"/>
                                  </p:stCondLst>
                                  <p:childTnLst>
                                    <p:set>
                                      <p:cBhvr>
                                        <p:cTn id="73" dur="1" fill="hold">
                                          <p:stCondLst>
                                            <p:cond delay="0"/>
                                          </p:stCondLst>
                                        </p:cTn>
                                        <p:tgtEl>
                                          <p:spTgt spid="132150"/>
                                        </p:tgtEl>
                                        <p:attrNameLst>
                                          <p:attrName>style.visibility</p:attrName>
                                        </p:attrNameLst>
                                      </p:cBhvr>
                                      <p:to>
                                        <p:strVal val="visible"/>
                                      </p:to>
                                    </p:set>
                                    <p:animEffect transition="in" filter="wipe(up)">
                                      <p:cBhvr>
                                        <p:cTn id="74" dur="500"/>
                                        <p:tgtEl>
                                          <p:spTgt spid="132150"/>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1" fill="hold" nodeType="clickEffect">
                                  <p:stCondLst>
                                    <p:cond delay="0"/>
                                  </p:stCondLst>
                                  <p:childTnLst>
                                    <p:set>
                                      <p:cBhvr>
                                        <p:cTn id="78" dur="1" fill="hold">
                                          <p:stCondLst>
                                            <p:cond delay="0"/>
                                          </p:stCondLst>
                                        </p:cTn>
                                        <p:tgtEl>
                                          <p:spTgt spid="132153"/>
                                        </p:tgtEl>
                                        <p:attrNameLst>
                                          <p:attrName>style.visibility</p:attrName>
                                        </p:attrNameLst>
                                      </p:cBhvr>
                                      <p:to>
                                        <p:strVal val="visible"/>
                                      </p:to>
                                    </p:set>
                                    <p:animEffect transition="in" filter="wipe(up)">
                                      <p:cBhvr>
                                        <p:cTn id="79" dur="500"/>
                                        <p:tgtEl>
                                          <p:spTgt spid="132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54" grpId="0" animBg="1"/>
      <p:bldP spid="132155" grpId="0" animBg="1"/>
      <p:bldP spid="132099" grpId="0"/>
      <p:bldP spid="132102" grpId="0"/>
      <p:bldP spid="132119" grpId="0" animBg="1"/>
      <p:bldP spid="132121" grpId="0" animBg="1"/>
      <p:bldP spid="132122" grpId="0" animBg="1"/>
      <p:bldP spid="132123" grpId="0" animBg="1"/>
      <p:bldP spid="132124" grpId="0" animBg="1"/>
      <p:bldP spid="13212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8" name="Oval 4"/>
          <p:cNvSpPr>
            <a:spLocks noChangeArrowheads="1"/>
          </p:cNvSpPr>
          <p:nvPr/>
        </p:nvSpPr>
        <p:spPr bwMode="auto">
          <a:xfrm>
            <a:off x="687388" y="3062288"/>
            <a:ext cx="304800" cy="304800"/>
          </a:xfrm>
          <a:prstGeom prst="ellipse">
            <a:avLst/>
          </a:prstGeom>
          <a:gradFill rotWithShape="0">
            <a:gsLst>
              <a:gs pos="0">
                <a:schemeClr val="accent2">
                  <a:gamma/>
                  <a:shade val="46275"/>
                  <a:invGamma/>
                </a:schemeClr>
              </a:gs>
              <a:gs pos="100000">
                <a:schemeClr val="accent2"/>
              </a:gs>
            </a:gsLst>
            <a:lin ang="5400000" scaled="1"/>
          </a:gradFill>
          <a:ln>
            <a:noFill/>
          </a:ln>
          <a:effectLst>
            <a:outerShdw sy="50000" kx="2453608" rotWithShape="0">
              <a:srgbClr val="808080"/>
            </a:outerShdw>
          </a:effectLst>
          <a:extLst>
            <a:ext uri="{91240B29-F687-4F45-9708-019B960494DF}">
              <a14:hiddenLine xmlns:a14="http://schemas.microsoft.com/office/drawing/2010/main" w="12700">
                <a:solidFill>
                  <a:schemeClr val="tx1"/>
                </a:solidFill>
                <a:round/>
                <a:headEnd type="none" w="sm" len="sm"/>
                <a:tailEnd type="none" w="sm" len="sm"/>
              </a14:hiddenLine>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149" name="Rectangle 5"/>
          <p:cNvSpPr/>
          <p:nvPr/>
        </p:nvSpPr>
        <p:spPr>
          <a:xfrm>
            <a:off x="714375" y="1173163"/>
            <a:ext cx="7989888" cy="1406525"/>
          </a:xfrm>
          <a:prstGeom prst="rect">
            <a:avLst/>
          </a:prstGeom>
          <a:solidFill>
            <a:srgbClr val="99CCFF">
              <a:alpha val="50195"/>
            </a:srgbClr>
          </a:solid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20000"/>
              </a:lnSpc>
              <a:spcBef>
                <a:spcPct val="0"/>
              </a:spcBef>
              <a:buNone/>
            </a:pPr>
            <a:r>
              <a:rPr lang="zh-CN" altLang="en-US" sz="2400" b="1" dirty="0">
                <a:latin typeface="Times New Roman" panose="02020603050405020304" pitchFamily="18" charset="0"/>
              </a:rPr>
              <a:t>　　运用逻辑代数的基本定律和常用公式对逻辑式进行化简，消去函数中多余的乘积项和乘积项中的多余变量，使逻辑函数成为最简</a:t>
            </a:r>
            <a:r>
              <a:rPr lang="zh-CN" altLang="en-US" sz="2400" b="1" dirty="0">
                <a:solidFill>
                  <a:srgbClr val="3333FF"/>
                </a:solidFill>
                <a:latin typeface="Times New Roman" panose="02020603050405020304" pitchFamily="18" charset="0"/>
              </a:rPr>
              <a:t>与</a:t>
            </a:r>
            <a:r>
              <a:rPr lang="en-US" altLang="zh-CN" sz="2400" b="1" dirty="0">
                <a:solidFill>
                  <a:srgbClr val="3333FF"/>
                </a:solidFill>
                <a:latin typeface="Times New Roman" panose="02020603050405020304" pitchFamily="18" charset="0"/>
              </a:rPr>
              <a:t>-</a:t>
            </a:r>
            <a:r>
              <a:rPr lang="zh-CN" altLang="en-US" sz="2400" b="1" dirty="0">
                <a:solidFill>
                  <a:srgbClr val="3333FF"/>
                </a:solidFill>
                <a:latin typeface="Times New Roman" panose="02020603050405020304" pitchFamily="18" charset="0"/>
              </a:rPr>
              <a:t>或</a:t>
            </a:r>
            <a:r>
              <a:rPr lang="zh-CN" altLang="en-US" sz="2400" b="1" dirty="0">
                <a:latin typeface="Times New Roman" panose="02020603050405020304" pitchFamily="18" charset="0"/>
              </a:rPr>
              <a:t>式。 </a:t>
            </a:r>
            <a:endParaRPr lang="zh-CN" altLang="en-US" sz="2400" b="1" dirty="0">
              <a:latin typeface="Times New Roman" panose="02020603050405020304" pitchFamily="18" charset="0"/>
            </a:endParaRPr>
          </a:p>
        </p:txBody>
      </p:sp>
      <p:sp>
        <p:nvSpPr>
          <p:cNvPr id="134150" name="Rectangle 6"/>
          <p:cNvSpPr/>
          <p:nvPr/>
        </p:nvSpPr>
        <p:spPr>
          <a:xfrm>
            <a:off x="1252538" y="2963863"/>
            <a:ext cx="1514475" cy="400050"/>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dirty="0">
                <a:solidFill>
                  <a:srgbClr val="FF0000"/>
                </a:solidFill>
                <a:latin typeface="Times New Roman" panose="02020603050405020304" pitchFamily="18" charset="0"/>
              </a:rPr>
              <a:t>并项法</a:t>
            </a:r>
            <a:r>
              <a:rPr lang="zh-CN" altLang="en-US" sz="3600" b="1" dirty="0">
                <a:solidFill>
                  <a:srgbClr val="FF0000"/>
                </a:solidFill>
                <a:latin typeface="Times New Roman" panose="02020603050405020304" pitchFamily="18" charset="0"/>
                <a:ea typeface="楷体_GB2312" pitchFamily="49" charset="-122"/>
              </a:rPr>
              <a:t> </a:t>
            </a:r>
            <a:endParaRPr lang="zh-CN" altLang="en-US" sz="3600" b="1" dirty="0">
              <a:solidFill>
                <a:srgbClr val="FF0000"/>
              </a:solidFill>
              <a:latin typeface="Times New Roman" panose="02020603050405020304" pitchFamily="18" charset="0"/>
              <a:ea typeface="楷体_GB2312" pitchFamily="49" charset="-122"/>
            </a:endParaRPr>
          </a:p>
        </p:txBody>
      </p:sp>
      <p:grpSp>
        <p:nvGrpSpPr>
          <p:cNvPr id="134203" name="Group 59"/>
          <p:cNvGrpSpPr/>
          <p:nvPr/>
        </p:nvGrpSpPr>
        <p:grpSpPr>
          <a:xfrm>
            <a:off x="2676525" y="2938463"/>
            <a:ext cx="6008688" cy="747712"/>
            <a:chOff x="1700" y="918"/>
            <a:chExt cx="3474" cy="471"/>
          </a:xfrm>
        </p:grpSpPr>
        <p:sp>
          <p:nvSpPr>
            <p:cNvPr id="48144" name="Rectangle 7"/>
            <p:cNvSpPr/>
            <p:nvPr/>
          </p:nvSpPr>
          <p:spPr>
            <a:xfrm>
              <a:off x="1700" y="929"/>
              <a:ext cx="3474" cy="460"/>
            </a:xfrm>
            <a:prstGeom prst="rect">
              <a:avLst/>
            </a:prstGeom>
            <a:solidFill>
              <a:srgbClr val="99CCFF">
                <a:alpha val="50195"/>
              </a:srgbClr>
            </a:solidFill>
            <a:ln w="9525">
              <a:noFill/>
            </a:ln>
          </p:spPr>
          <p:txBody>
            <a:bodyPr lIns="0" tIns="0" rIns="0" bIns="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Times New Roman" panose="02020603050405020304" pitchFamily="18" charset="0"/>
                </a:rPr>
                <a:t>运用                       ，</a:t>
              </a:r>
              <a:endParaRPr lang="zh-CN" altLang="en-US" sz="2400" b="1" dirty="0">
                <a:latin typeface="Times New Roman" panose="02020603050405020304" pitchFamily="18" charset="0"/>
              </a:endParaRPr>
            </a:p>
            <a:p>
              <a:pPr marL="0" lvl="0" indent="0" eaLnBrk="1" hangingPunct="1">
                <a:spcBef>
                  <a:spcPct val="0"/>
                </a:spcBef>
                <a:buNone/>
              </a:pPr>
              <a:r>
                <a:rPr lang="zh-CN" altLang="en-US" sz="2400" b="1" dirty="0">
                  <a:latin typeface="Times New Roman" panose="02020603050405020304" pitchFamily="18" charset="0"/>
                </a:rPr>
                <a:t>将两项合并为一项，并消去一个互补的变量 </a:t>
              </a:r>
              <a:endParaRPr lang="zh-CN" altLang="en-US" sz="2400" b="1" dirty="0">
                <a:latin typeface="Times New Roman" panose="02020603050405020304" pitchFamily="18" charset="0"/>
              </a:endParaRPr>
            </a:p>
          </p:txBody>
        </p:sp>
        <p:graphicFrame>
          <p:nvGraphicFramePr>
            <p:cNvPr id="48145" name="Object 9"/>
            <p:cNvGraphicFramePr>
              <a:graphicFrameLocks noChangeAspect="1"/>
            </p:cNvGraphicFramePr>
            <p:nvPr/>
          </p:nvGraphicFramePr>
          <p:xfrm>
            <a:off x="2091" y="918"/>
            <a:ext cx="1104" cy="200"/>
          </p:xfrm>
          <a:graphic>
            <a:graphicData uri="http://schemas.openxmlformats.org/presentationml/2006/ole">
              <mc:AlternateContent xmlns:mc="http://schemas.openxmlformats.org/markup-compatibility/2006">
                <mc:Choice xmlns:v="urn:schemas-microsoft-com:vml" Requires="v">
                  <p:oleObj spid="_x0000_s3096" name="" r:id="rId1" imgW="1751965" imgH="317500" progId="Equation.3">
                    <p:embed/>
                  </p:oleObj>
                </mc:Choice>
                <mc:Fallback>
                  <p:oleObj name="" r:id="rId1" imgW="1751965" imgH="317500" progId="Equation.3">
                    <p:embed/>
                    <p:pic>
                      <p:nvPicPr>
                        <p:cNvPr id="0" name="图片 3095"/>
                        <p:cNvPicPr/>
                        <p:nvPr/>
                      </p:nvPicPr>
                      <p:blipFill>
                        <a:blip r:embed="rId2"/>
                        <a:stretch>
                          <a:fillRect/>
                        </a:stretch>
                      </p:blipFill>
                      <p:spPr>
                        <a:xfrm>
                          <a:off x="2091" y="918"/>
                          <a:ext cx="1104" cy="200"/>
                        </a:xfrm>
                        <a:prstGeom prst="rect">
                          <a:avLst/>
                        </a:prstGeom>
                        <a:noFill/>
                        <a:ln w="38100">
                          <a:noFill/>
                          <a:miter/>
                        </a:ln>
                      </p:spPr>
                    </p:pic>
                  </p:oleObj>
                </mc:Fallback>
              </mc:AlternateContent>
            </a:graphicData>
          </a:graphic>
        </p:graphicFrame>
      </p:grpSp>
      <p:sp>
        <p:nvSpPr>
          <p:cNvPr id="134155" name="AutoShape 11"/>
          <p:cNvSpPr/>
          <p:nvPr/>
        </p:nvSpPr>
        <p:spPr>
          <a:xfrm>
            <a:off x="1344613" y="4237038"/>
            <a:ext cx="228600" cy="228600"/>
          </a:xfrm>
          <a:prstGeom prst="sun">
            <a:avLst>
              <a:gd name="adj" fmla="val 25000"/>
            </a:avLst>
          </a:prstGeom>
          <a:solidFill>
            <a:schemeClr val="tx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graphicFrame>
        <p:nvGraphicFramePr>
          <p:cNvPr id="134157" name="Object 13"/>
          <p:cNvGraphicFramePr>
            <a:graphicFrameLocks noChangeAspect="1"/>
          </p:cNvGraphicFramePr>
          <p:nvPr/>
        </p:nvGraphicFramePr>
        <p:xfrm>
          <a:off x="1849438" y="4084638"/>
          <a:ext cx="3241675" cy="506412"/>
        </p:xfrm>
        <a:graphic>
          <a:graphicData uri="http://schemas.openxmlformats.org/presentationml/2006/ole">
            <mc:AlternateContent xmlns:mc="http://schemas.openxmlformats.org/markup-compatibility/2006">
              <mc:Choice xmlns:v="urn:schemas-microsoft-com:vml" Requires="v">
                <p:oleObj spid="_x0000_s3093" name="" r:id="rId3" imgW="1383665" imgH="215900" progId="Equation.3">
                  <p:embed/>
                </p:oleObj>
              </mc:Choice>
              <mc:Fallback>
                <p:oleObj name="" r:id="rId3" imgW="1383665" imgH="215900" progId="Equation.3">
                  <p:embed/>
                  <p:pic>
                    <p:nvPicPr>
                      <p:cNvPr id="0" name="图片 3092"/>
                      <p:cNvPicPr/>
                      <p:nvPr/>
                    </p:nvPicPr>
                    <p:blipFill>
                      <a:blip r:embed="rId4"/>
                      <a:stretch>
                        <a:fillRect/>
                      </a:stretch>
                    </p:blipFill>
                    <p:spPr>
                      <a:xfrm>
                        <a:off x="1849438" y="4084638"/>
                        <a:ext cx="3241675" cy="506412"/>
                      </a:xfrm>
                      <a:prstGeom prst="rect">
                        <a:avLst/>
                      </a:prstGeom>
                      <a:noFill/>
                      <a:ln w="38100">
                        <a:noFill/>
                        <a:miter/>
                      </a:ln>
                    </p:spPr>
                  </p:pic>
                </p:oleObj>
              </mc:Fallback>
            </mc:AlternateContent>
          </a:graphicData>
        </a:graphic>
      </p:graphicFrame>
      <p:graphicFrame>
        <p:nvGraphicFramePr>
          <p:cNvPr id="134159" name="Object 15"/>
          <p:cNvGraphicFramePr>
            <a:graphicFrameLocks noChangeAspect="1"/>
          </p:cNvGraphicFramePr>
          <p:nvPr/>
        </p:nvGraphicFramePr>
        <p:xfrm>
          <a:off x="5281613" y="4065588"/>
          <a:ext cx="844550" cy="527050"/>
        </p:xfrm>
        <a:graphic>
          <a:graphicData uri="http://schemas.openxmlformats.org/presentationml/2006/ole">
            <mc:AlternateContent xmlns:mc="http://schemas.openxmlformats.org/markup-compatibility/2006">
              <mc:Choice xmlns:v="urn:schemas-microsoft-com:vml" Requires="v">
                <p:oleObj spid="_x0000_s3094" name="" r:id="rId5" imgW="266065" imgH="165100" progId="Equation.3">
                  <p:embed/>
                </p:oleObj>
              </mc:Choice>
              <mc:Fallback>
                <p:oleObj name="" r:id="rId5" imgW="266065" imgH="165100" progId="Equation.3">
                  <p:embed/>
                  <p:pic>
                    <p:nvPicPr>
                      <p:cNvPr id="0" name="图片 3093"/>
                      <p:cNvPicPr/>
                      <p:nvPr/>
                    </p:nvPicPr>
                    <p:blipFill>
                      <a:blip r:embed="rId6"/>
                      <a:stretch>
                        <a:fillRect/>
                      </a:stretch>
                    </p:blipFill>
                    <p:spPr>
                      <a:xfrm>
                        <a:off x="5281613" y="4065588"/>
                        <a:ext cx="844550" cy="527050"/>
                      </a:xfrm>
                      <a:prstGeom prst="rect">
                        <a:avLst/>
                      </a:prstGeom>
                      <a:noFill/>
                      <a:ln w="38100">
                        <a:noFill/>
                        <a:miter/>
                      </a:ln>
                    </p:spPr>
                  </p:pic>
                </p:oleObj>
              </mc:Fallback>
            </mc:AlternateContent>
          </a:graphicData>
        </a:graphic>
      </p:graphicFrame>
      <p:graphicFrame>
        <p:nvGraphicFramePr>
          <p:cNvPr id="134160" name="Object 16"/>
          <p:cNvGraphicFramePr>
            <a:graphicFrameLocks noChangeAspect="1"/>
          </p:cNvGraphicFramePr>
          <p:nvPr/>
        </p:nvGraphicFramePr>
        <p:xfrm>
          <a:off x="1824038" y="4965700"/>
          <a:ext cx="4064000" cy="393700"/>
        </p:xfrm>
        <a:graphic>
          <a:graphicData uri="http://schemas.openxmlformats.org/presentationml/2006/ole">
            <mc:AlternateContent xmlns:mc="http://schemas.openxmlformats.org/markup-compatibility/2006">
              <mc:Choice xmlns:v="urn:schemas-microsoft-com:vml" Requires="v">
                <p:oleObj spid="_x0000_s3099" name="" r:id="rId7" imgW="4064000" imgH="393700" progId="Equation.3">
                  <p:embed/>
                </p:oleObj>
              </mc:Choice>
              <mc:Fallback>
                <p:oleObj name="" r:id="rId7" imgW="4064000" imgH="393700" progId="Equation.3">
                  <p:embed/>
                  <p:pic>
                    <p:nvPicPr>
                      <p:cNvPr id="0" name="图片 3098"/>
                      <p:cNvPicPr/>
                      <p:nvPr/>
                    </p:nvPicPr>
                    <p:blipFill>
                      <a:blip r:embed="rId8"/>
                      <a:stretch>
                        <a:fillRect/>
                      </a:stretch>
                    </p:blipFill>
                    <p:spPr>
                      <a:xfrm>
                        <a:off x="1824038" y="4965700"/>
                        <a:ext cx="4064000" cy="393700"/>
                      </a:xfrm>
                      <a:prstGeom prst="rect">
                        <a:avLst/>
                      </a:prstGeom>
                      <a:noFill/>
                      <a:ln w="38100">
                        <a:noFill/>
                        <a:miter/>
                      </a:ln>
                    </p:spPr>
                  </p:pic>
                </p:oleObj>
              </mc:Fallback>
            </mc:AlternateContent>
          </a:graphicData>
        </a:graphic>
      </p:graphicFrame>
      <p:graphicFrame>
        <p:nvGraphicFramePr>
          <p:cNvPr id="134161" name="Object 17"/>
          <p:cNvGraphicFramePr>
            <a:graphicFrameLocks noChangeAspect="1"/>
          </p:cNvGraphicFramePr>
          <p:nvPr/>
        </p:nvGraphicFramePr>
        <p:xfrm>
          <a:off x="2074863" y="5626100"/>
          <a:ext cx="2806700" cy="393700"/>
        </p:xfrm>
        <a:graphic>
          <a:graphicData uri="http://schemas.openxmlformats.org/presentationml/2006/ole">
            <mc:AlternateContent xmlns:mc="http://schemas.openxmlformats.org/markup-compatibility/2006">
              <mc:Choice xmlns:v="urn:schemas-microsoft-com:vml" Requires="v">
                <p:oleObj spid="_x0000_s3100" name="" r:id="rId9" imgW="2806700" imgH="393700" progId="Equation.3">
                  <p:embed/>
                </p:oleObj>
              </mc:Choice>
              <mc:Fallback>
                <p:oleObj name="" r:id="rId9" imgW="2806700" imgH="393700" progId="Equation.3">
                  <p:embed/>
                  <p:pic>
                    <p:nvPicPr>
                      <p:cNvPr id="0" name="图片 3099"/>
                      <p:cNvPicPr/>
                      <p:nvPr/>
                    </p:nvPicPr>
                    <p:blipFill>
                      <a:blip r:embed="rId10"/>
                      <a:stretch>
                        <a:fillRect/>
                      </a:stretch>
                    </p:blipFill>
                    <p:spPr>
                      <a:xfrm>
                        <a:off x="2074863" y="5626100"/>
                        <a:ext cx="2806700" cy="393700"/>
                      </a:xfrm>
                      <a:prstGeom prst="rect">
                        <a:avLst/>
                      </a:prstGeom>
                      <a:noFill/>
                      <a:ln w="38100">
                        <a:noFill/>
                        <a:miter/>
                      </a:ln>
                    </p:spPr>
                  </p:pic>
                </p:oleObj>
              </mc:Fallback>
            </mc:AlternateContent>
          </a:graphicData>
        </a:graphic>
      </p:graphicFrame>
      <p:graphicFrame>
        <p:nvGraphicFramePr>
          <p:cNvPr id="134162" name="Object 18"/>
          <p:cNvGraphicFramePr>
            <a:graphicFrameLocks noChangeAspect="1"/>
          </p:cNvGraphicFramePr>
          <p:nvPr/>
        </p:nvGraphicFramePr>
        <p:xfrm>
          <a:off x="4965700" y="5680075"/>
          <a:ext cx="512763" cy="263525"/>
        </p:xfrm>
        <a:graphic>
          <a:graphicData uri="http://schemas.openxmlformats.org/presentationml/2006/ole">
            <mc:AlternateContent xmlns:mc="http://schemas.openxmlformats.org/markup-compatibility/2006">
              <mc:Choice xmlns:v="urn:schemas-microsoft-com:vml" Requires="v">
                <p:oleObj spid="_x0000_s3097" name="" r:id="rId11" imgW="508000" imgH="266700" progId="Equation.3">
                  <p:embed/>
                </p:oleObj>
              </mc:Choice>
              <mc:Fallback>
                <p:oleObj name="" r:id="rId11" imgW="508000" imgH="266700" progId="Equation.3">
                  <p:embed/>
                  <p:pic>
                    <p:nvPicPr>
                      <p:cNvPr id="0" name="图片 3096"/>
                      <p:cNvPicPr/>
                      <p:nvPr/>
                    </p:nvPicPr>
                    <p:blipFill>
                      <a:blip r:embed="rId12"/>
                      <a:stretch>
                        <a:fillRect/>
                      </a:stretch>
                    </p:blipFill>
                    <p:spPr>
                      <a:xfrm>
                        <a:off x="4965700" y="5680075"/>
                        <a:ext cx="512763" cy="263525"/>
                      </a:xfrm>
                      <a:prstGeom prst="rect">
                        <a:avLst/>
                      </a:prstGeom>
                      <a:noFill/>
                      <a:ln w="38100">
                        <a:noFill/>
                        <a:miter/>
                      </a:ln>
                    </p:spPr>
                  </p:pic>
                </p:oleObj>
              </mc:Fallback>
            </mc:AlternateContent>
          </a:graphicData>
        </a:graphic>
      </p:graphicFrame>
      <p:sp>
        <p:nvSpPr>
          <p:cNvPr id="134167" name="Line 23"/>
          <p:cNvSpPr/>
          <p:nvPr/>
        </p:nvSpPr>
        <p:spPr>
          <a:xfrm>
            <a:off x="2697163" y="5322888"/>
            <a:ext cx="1154112" cy="0"/>
          </a:xfrm>
          <a:prstGeom prst="line">
            <a:avLst/>
          </a:prstGeom>
          <a:ln w="28575" cap="flat" cmpd="sng">
            <a:solidFill>
              <a:schemeClr val="accent1"/>
            </a:solidFill>
            <a:prstDash val="solid"/>
            <a:headEnd type="none" w="med" len="med"/>
            <a:tailEnd type="none" w="med" len="med"/>
          </a:ln>
        </p:spPr>
      </p:sp>
      <p:sp>
        <p:nvSpPr>
          <p:cNvPr id="134168" name="Line 24"/>
          <p:cNvSpPr/>
          <p:nvPr/>
        </p:nvSpPr>
        <p:spPr>
          <a:xfrm>
            <a:off x="4611688" y="5322888"/>
            <a:ext cx="1157287" cy="0"/>
          </a:xfrm>
          <a:prstGeom prst="line">
            <a:avLst/>
          </a:prstGeom>
          <a:ln w="28575" cap="flat" cmpd="sng">
            <a:solidFill>
              <a:schemeClr val="accent1"/>
            </a:solidFill>
            <a:prstDash val="solid"/>
            <a:headEnd type="none" w="med" len="med"/>
            <a:tailEnd type="none" w="med" len="med"/>
          </a:ln>
        </p:spPr>
      </p:sp>
      <p:sp>
        <p:nvSpPr>
          <p:cNvPr id="134177" name="AutoShape 33"/>
          <p:cNvSpPr/>
          <p:nvPr/>
        </p:nvSpPr>
        <p:spPr>
          <a:xfrm>
            <a:off x="1339850" y="5033963"/>
            <a:ext cx="228600" cy="228600"/>
          </a:xfrm>
          <a:prstGeom prst="sun">
            <a:avLst>
              <a:gd name="adj" fmla="val 25000"/>
            </a:avLst>
          </a:prstGeom>
          <a:solidFill>
            <a:schemeClr val="tx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48143" name="Text Box 13"/>
          <p:cNvSpPr txBox="1"/>
          <p:nvPr/>
        </p:nvSpPr>
        <p:spPr>
          <a:xfrm>
            <a:off x="584200" y="476250"/>
            <a:ext cx="3960813"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dirty="0">
                <a:solidFill>
                  <a:srgbClr val="FF0000"/>
                </a:solidFill>
                <a:latin typeface="Times New Roman" panose="02020603050405020304" pitchFamily="18" charset="0"/>
              </a:rPr>
              <a:t>二、常用的公式化简方法</a:t>
            </a:r>
            <a:endParaRPr lang="zh-CN" altLang="en-US" sz="2400" b="1" dirty="0">
              <a:solidFill>
                <a:srgbClr val="FF0000"/>
              </a:solidFill>
              <a:latin typeface="Times New Roman" panose="02020603050405020304" pitchFamily="18" charset="0"/>
            </a:endParaRPr>
          </a:p>
        </p:txBody>
      </p:sp>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4149"/>
                                        </p:tgtEl>
                                        <p:attrNameLst>
                                          <p:attrName>style.visibility</p:attrName>
                                        </p:attrNameLst>
                                      </p:cBhvr>
                                      <p:to>
                                        <p:strVal val="visible"/>
                                      </p:to>
                                    </p:set>
                                    <p:animEffect transition="in" filter="wipe(left)">
                                      <p:cBhvr>
                                        <p:cTn id="7" dur="500"/>
                                        <p:tgtEl>
                                          <p:spTgt spid="13414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34148"/>
                                        </p:tgtEl>
                                        <p:attrNameLst>
                                          <p:attrName>style.visibility</p:attrName>
                                        </p:attrNameLst>
                                      </p:cBhvr>
                                      <p:to>
                                        <p:strVal val="visible"/>
                                      </p:to>
                                    </p:set>
                                    <p:anim calcmode="lin" valueType="num">
                                      <p:cBhvr additive="base">
                                        <p:cTn id="12" dur="500" fill="hold"/>
                                        <p:tgtEl>
                                          <p:spTgt spid="134148"/>
                                        </p:tgtEl>
                                        <p:attrNameLst>
                                          <p:attrName>ppt_x</p:attrName>
                                        </p:attrNameLst>
                                      </p:cBhvr>
                                      <p:tavLst>
                                        <p:tav tm="0">
                                          <p:val>
                                            <p:strVal val="0-#ppt_w/2"/>
                                          </p:val>
                                        </p:tav>
                                        <p:tav tm="100000">
                                          <p:val>
                                            <p:strVal val="#ppt_x"/>
                                          </p:val>
                                        </p:tav>
                                      </p:tavLst>
                                    </p:anim>
                                    <p:anim calcmode="lin" valueType="num">
                                      <p:cBhvr additive="base">
                                        <p:cTn id="13" dur="500" fill="hold"/>
                                        <p:tgtEl>
                                          <p:spTgt spid="134148"/>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22" presetClass="entr" presetSubtype="8" fill="hold" grpId="0" nodeType="afterEffect">
                                  <p:stCondLst>
                                    <p:cond delay="0"/>
                                  </p:stCondLst>
                                  <p:childTnLst>
                                    <p:set>
                                      <p:cBhvr>
                                        <p:cTn id="16" dur="1" fill="hold">
                                          <p:stCondLst>
                                            <p:cond delay="0"/>
                                          </p:stCondLst>
                                        </p:cTn>
                                        <p:tgtEl>
                                          <p:spTgt spid="134150"/>
                                        </p:tgtEl>
                                        <p:attrNameLst>
                                          <p:attrName>style.visibility</p:attrName>
                                        </p:attrNameLst>
                                      </p:cBhvr>
                                      <p:to>
                                        <p:strVal val="visible"/>
                                      </p:to>
                                    </p:set>
                                    <p:animEffect transition="in" filter="wipe(left)">
                                      <p:cBhvr>
                                        <p:cTn id="17" dur="500"/>
                                        <p:tgtEl>
                                          <p:spTgt spid="134150"/>
                                        </p:tgtEl>
                                      </p:cBhvr>
                                    </p:animEffect>
                                  </p:childTnLst>
                                </p:cTn>
                              </p:par>
                            </p:childTnLst>
                          </p:cTn>
                        </p:par>
                        <p:par>
                          <p:cTn id="18" fill="hold">
                            <p:stCondLst>
                              <p:cond delay="1000"/>
                            </p:stCondLst>
                            <p:childTnLst>
                              <p:par>
                                <p:cTn id="19" presetID="22" presetClass="entr" presetSubtype="8" fill="hold" nodeType="afterEffect">
                                  <p:stCondLst>
                                    <p:cond delay="0"/>
                                  </p:stCondLst>
                                  <p:childTnLst>
                                    <p:set>
                                      <p:cBhvr>
                                        <p:cTn id="20" dur="1" fill="hold">
                                          <p:stCondLst>
                                            <p:cond delay="0"/>
                                          </p:stCondLst>
                                        </p:cTn>
                                        <p:tgtEl>
                                          <p:spTgt spid="134203"/>
                                        </p:tgtEl>
                                        <p:attrNameLst>
                                          <p:attrName>style.visibility</p:attrName>
                                        </p:attrNameLst>
                                      </p:cBhvr>
                                      <p:to>
                                        <p:strVal val="visible"/>
                                      </p:to>
                                    </p:set>
                                    <p:animEffect transition="in" filter="wipe(left)">
                                      <p:cBhvr>
                                        <p:cTn id="21" dur="500"/>
                                        <p:tgtEl>
                                          <p:spTgt spid="134203"/>
                                        </p:tgtEl>
                                      </p:cBhvr>
                                    </p:animEffect>
                                  </p:childTnLst>
                                </p:cTn>
                              </p:par>
                            </p:childTnLst>
                          </p:cTn>
                        </p:par>
                      </p:childTnLst>
                    </p:cTn>
                  </p:par>
                  <p:par>
                    <p:cTn id="22" fill="hold">
                      <p:stCondLst>
                        <p:cond delay="indefinite"/>
                      </p:stCondLst>
                      <p:childTnLst>
                        <p:par>
                          <p:cTn id="23" fill="hold">
                            <p:stCondLst>
                              <p:cond delay="0"/>
                            </p:stCondLst>
                            <p:childTnLst>
                              <p:par>
                                <p:cTn id="24" presetID="15" presetClass="entr" presetSubtype="0" fill="hold" grpId="0" nodeType="clickEffect">
                                  <p:stCondLst>
                                    <p:cond delay="0"/>
                                  </p:stCondLst>
                                  <p:childTnLst>
                                    <p:set>
                                      <p:cBhvr>
                                        <p:cTn id="25" dur="1" fill="hold">
                                          <p:stCondLst>
                                            <p:cond delay="0"/>
                                          </p:stCondLst>
                                        </p:cTn>
                                        <p:tgtEl>
                                          <p:spTgt spid="134155"/>
                                        </p:tgtEl>
                                        <p:attrNameLst>
                                          <p:attrName>style.visibility</p:attrName>
                                        </p:attrNameLst>
                                      </p:cBhvr>
                                      <p:to>
                                        <p:strVal val="visible"/>
                                      </p:to>
                                    </p:set>
                                    <p:anim calcmode="lin" valueType="num">
                                      <p:cBhvr>
                                        <p:cTn id="26" dur="1000" fill="hold"/>
                                        <p:tgtEl>
                                          <p:spTgt spid="134155"/>
                                        </p:tgtEl>
                                        <p:attrNameLst>
                                          <p:attrName>ppt_w</p:attrName>
                                        </p:attrNameLst>
                                      </p:cBhvr>
                                      <p:tavLst>
                                        <p:tav tm="0">
                                          <p:val>
                                            <p:fltVal val="0.000000"/>
                                          </p:val>
                                        </p:tav>
                                        <p:tav tm="100000">
                                          <p:val>
                                            <p:strVal val="#ppt_w"/>
                                          </p:val>
                                        </p:tav>
                                      </p:tavLst>
                                    </p:anim>
                                    <p:anim calcmode="lin" valueType="num">
                                      <p:cBhvr>
                                        <p:cTn id="27" dur="1000" fill="hold"/>
                                        <p:tgtEl>
                                          <p:spTgt spid="134155"/>
                                        </p:tgtEl>
                                        <p:attrNameLst>
                                          <p:attrName>ppt_h</p:attrName>
                                        </p:attrNameLst>
                                      </p:cBhvr>
                                      <p:tavLst>
                                        <p:tav tm="0">
                                          <p:val>
                                            <p:fltVal val="0.000000"/>
                                          </p:val>
                                        </p:tav>
                                        <p:tav tm="100000">
                                          <p:val>
                                            <p:strVal val="#ppt_h"/>
                                          </p:val>
                                        </p:tav>
                                      </p:tavLst>
                                    </p:anim>
                                    <p:anim calcmode="lin" valueType="num">
                                      <p:cBhvr>
                                        <p:cTn id="28" dur="1000" fill="hold"/>
                                        <p:tgtEl>
                                          <p:spTgt spid="134155"/>
                                        </p:tgtEl>
                                        <p:attrNameLst>
                                          <p:attrName>ppt_x</p:attrName>
                                        </p:attrNameLst>
                                      </p:cBhvr>
                                      <p:tavLst>
                                        <p:tav tm="0" fmla="#ppt_x+(cos(-2*pi*(1-$))*-#ppt_x-sin(-2*pi*(1-$))*(1-#ppt_y))*(1-$)">
                                          <p:val>
                                            <p:fltVal val="0.000000"/>
                                          </p:val>
                                        </p:tav>
                                        <p:tav tm="100000">
                                          <p:val>
                                            <p:fltVal val="1.000000"/>
                                          </p:val>
                                        </p:tav>
                                      </p:tavLst>
                                    </p:anim>
                                    <p:anim calcmode="lin" valueType="num">
                                      <p:cBhvr>
                                        <p:cTn id="29" dur="1000" fill="hold"/>
                                        <p:tgtEl>
                                          <p:spTgt spid="134155"/>
                                        </p:tgtEl>
                                        <p:attrNameLst>
                                          <p:attrName>ppt_y</p:attrName>
                                        </p:attrNameLst>
                                      </p:cBhvr>
                                      <p:tavLst>
                                        <p:tav tm="0" fmla="#ppt_y+(sin(-2*pi*(1-$))*-#ppt_x+cos(-2*pi*(1-$))*(1-#ppt_y))*(1-$)">
                                          <p:val>
                                            <p:fltVal val="0.000000"/>
                                          </p:val>
                                        </p:tav>
                                        <p:tav tm="100000">
                                          <p:val>
                                            <p:fltVal val="1.000000"/>
                                          </p:val>
                                        </p:tav>
                                      </p:tavLst>
                                    </p:anim>
                                  </p:childTnLst>
                                </p:cTn>
                              </p:par>
                            </p:childTnLst>
                          </p:cTn>
                        </p:par>
                        <p:par>
                          <p:cTn id="30" fill="hold">
                            <p:stCondLst>
                              <p:cond delay="1000"/>
                            </p:stCondLst>
                            <p:childTnLst>
                              <p:par>
                                <p:cTn id="31" presetID="22" presetClass="entr" presetSubtype="8" fill="hold" nodeType="afterEffect">
                                  <p:stCondLst>
                                    <p:cond delay="0"/>
                                  </p:stCondLst>
                                  <p:childTnLst>
                                    <p:set>
                                      <p:cBhvr>
                                        <p:cTn id="32" dur="1" fill="hold">
                                          <p:stCondLst>
                                            <p:cond delay="0"/>
                                          </p:stCondLst>
                                        </p:cTn>
                                        <p:tgtEl>
                                          <p:spTgt spid="134157"/>
                                        </p:tgtEl>
                                        <p:attrNameLst>
                                          <p:attrName>style.visibility</p:attrName>
                                        </p:attrNameLst>
                                      </p:cBhvr>
                                      <p:to>
                                        <p:strVal val="visible"/>
                                      </p:to>
                                    </p:set>
                                    <p:animEffect transition="in" filter="wipe(left)">
                                      <p:cBhvr>
                                        <p:cTn id="33" dur="500"/>
                                        <p:tgtEl>
                                          <p:spTgt spid="13415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34159"/>
                                        </p:tgtEl>
                                        <p:attrNameLst>
                                          <p:attrName>style.visibility</p:attrName>
                                        </p:attrNameLst>
                                      </p:cBhvr>
                                      <p:to>
                                        <p:strVal val="visible"/>
                                      </p:to>
                                    </p:set>
                                    <p:animEffect transition="in" filter="wipe(left)">
                                      <p:cBhvr>
                                        <p:cTn id="38" dur="500"/>
                                        <p:tgtEl>
                                          <p:spTgt spid="134159"/>
                                        </p:tgtEl>
                                      </p:cBhvr>
                                    </p:animEffect>
                                  </p:childTnLst>
                                </p:cTn>
                              </p:par>
                            </p:childTnLst>
                          </p:cTn>
                        </p:par>
                      </p:childTnLst>
                    </p:cTn>
                  </p:par>
                  <p:par>
                    <p:cTn id="39" fill="hold">
                      <p:stCondLst>
                        <p:cond delay="indefinite"/>
                      </p:stCondLst>
                      <p:childTnLst>
                        <p:par>
                          <p:cTn id="40" fill="hold">
                            <p:stCondLst>
                              <p:cond delay="0"/>
                            </p:stCondLst>
                            <p:childTnLst>
                              <p:par>
                                <p:cTn id="41" presetID="15" presetClass="entr" presetSubtype="0" fill="hold" grpId="0" nodeType="clickEffect">
                                  <p:stCondLst>
                                    <p:cond delay="0"/>
                                  </p:stCondLst>
                                  <p:childTnLst>
                                    <p:set>
                                      <p:cBhvr>
                                        <p:cTn id="42" dur="1" fill="hold">
                                          <p:stCondLst>
                                            <p:cond delay="0"/>
                                          </p:stCondLst>
                                        </p:cTn>
                                        <p:tgtEl>
                                          <p:spTgt spid="134177"/>
                                        </p:tgtEl>
                                        <p:attrNameLst>
                                          <p:attrName>style.visibility</p:attrName>
                                        </p:attrNameLst>
                                      </p:cBhvr>
                                      <p:to>
                                        <p:strVal val="visible"/>
                                      </p:to>
                                    </p:set>
                                    <p:anim calcmode="lin" valueType="num">
                                      <p:cBhvr>
                                        <p:cTn id="43" dur="1000" fill="hold"/>
                                        <p:tgtEl>
                                          <p:spTgt spid="134177"/>
                                        </p:tgtEl>
                                        <p:attrNameLst>
                                          <p:attrName>ppt_w</p:attrName>
                                        </p:attrNameLst>
                                      </p:cBhvr>
                                      <p:tavLst>
                                        <p:tav tm="0">
                                          <p:val>
                                            <p:fltVal val="0.000000"/>
                                          </p:val>
                                        </p:tav>
                                        <p:tav tm="100000">
                                          <p:val>
                                            <p:strVal val="#ppt_w"/>
                                          </p:val>
                                        </p:tav>
                                      </p:tavLst>
                                    </p:anim>
                                    <p:anim calcmode="lin" valueType="num">
                                      <p:cBhvr>
                                        <p:cTn id="44" dur="1000" fill="hold"/>
                                        <p:tgtEl>
                                          <p:spTgt spid="134177"/>
                                        </p:tgtEl>
                                        <p:attrNameLst>
                                          <p:attrName>ppt_h</p:attrName>
                                        </p:attrNameLst>
                                      </p:cBhvr>
                                      <p:tavLst>
                                        <p:tav tm="0">
                                          <p:val>
                                            <p:fltVal val="0.000000"/>
                                          </p:val>
                                        </p:tav>
                                        <p:tav tm="100000">
                                          <p:val>
                                            <p:strVal val="#ppt_h"/>
                                          </p:val>
                                        </p:tav>
                                      </p:tavLst>
                                    </p:anim>
                                    <p:anim calcmode="lin" valueType="num">
                                      <p:cBhvr>
                                        <p:cTn id="45" dur="1000" fill="hold"/>
                                        <p:tgtEl>
                                          <p:spTgt spid="134177"/>
                                        </p:tgtEl>
                                        <p:attrNameLst>
                                          <p:attrName>ppt_x</p:attrName>
                                        </p:attrNameLst>
                                      </p:cBhvr>
                                      <p:tavLst>
                                        <p:tav tm="0" fmla="#ppt_x+(cos(-2*pi*(1-$))*-#ppt_x-sin(-2*pi*(1-$))*(1-#ppt_y))*(1-$)">
                                          <p:val>
                                            <p:fltVal val="0.000000"/>
                                          </p:val>
                                        </p:tav>
                                        <p:tav tm="100000">
                                          <p:val>
                                            <p:fltVal val="1.000000"/>
                                          </p:val>
                                        </p:tav>
                                      </p:tavLst>
                                    </p:anim>
                                    <p:anim calcmode="lin" valueType="num">
                                      <p:cBhvr>
                                        <p:cTn id="46" dur="1000" fill="hold"/>
                                        <p:tgtEl>
                                          <p:spTgt spid="134177"/>
                                        </p:tgtEl>
                                        <p:attrNameLst>
                                          <p:attrName>ppt_y</p:attrName>
                                        </p:attrNameLst>
                                      </p:cBhvr>
                                      <p:tavLst>
                                        <p:tav tm="0" fmla="#ppt_y+(sin(-2*pi*(1-$))*-#ppt_x+cos(-2*pi*(1-$))*(1-#ppt_y))*(1-$)">
                                          <p:val>
                                            <p:fltVal val="0.000000"/>
                                          </p:val>
                                        </p:tav>
                                        <p:tav tm="100000">
                                          <p:val>
                                            <p:fltVal val="1.000000"/>
                                          </p:val>
                                        </p:tav>
                                      </p:tavLst>
                                    </p:anim>
                                  </p:childTnLst>
                                </p:cTn>
                              </p:par>
                            </p:childTnLst>
                          </p:cTn>
                        </p:par>
                        <p:par>
                          <p:cTn id="47" fill="hold">
                            <p:stCondLst>
                              <p:cond delay="1000"/>
                            </p:stCondLst>
                            <p:childTnLst>
                              <p:par>
                                <p:cTn id="48" presetID="22" presetClass="entr" presetSubtype="8" fill="hold" nodeType="afterEffect">
                                  <p:stCondLst>
                                    <p:cond delay="0"/>
                                  </p:stCondLst>
                                  <p:childTnLst>
                                    <p:set>
                                      <p:cBhvr>
                                        <p:cTn id="49" dur="1" fill="hold">
                                          <p:stCondLst>
                                            <p:cond delay="0"/>
                                          </p:stCondLst>
                                        </p:cTn>
                                        <p:tgtEl>
                                          <p:spTgt spid="134160"/>
                                        </p:tgtEl>
                                        <p:attrNameLst>
                                          <p:attrName>style.visibility</p:attrName>
                                        </p:attrNameLst>
                                      </p:cBhvr>
                                      <p:to>
                                        <p:strVal val="visible"/>
                                      </p:to>
                                    </p:set>
                                    <p:animEffect transition="in" filter="wipe(left)">
                                      <p:cBhvr>
                                        <p:cTn id="50" dur="500"/>
                                        <p:tgtEl>
                                          <p:spTgt spid="134160"/>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134167"/>
                                        </p:tgtEl>
                                        <p:attrNameLst>
                                          <p:attrName>style.visibility</p:attrName>
                                        </p:attrNameLst>
                                      </p:cBhvr>
                                      <p:to>
                                        <p:strVal val="visible"/>
                                      </p:to>
                                    </p:set>
                                    <p:animEffect transition="in" filter="wipe(left)">
                                      <p:cBhvr>
                                        <p:cTn id="55" dur="500"/>
                                        <p:tgtEl>
                                          <p:spTgt spid="134167"/>
                                        </p:tgtEl>
                                      </p:cBhvr>
                                    </p:animEffect>
                                  </p:childTnLst>
                                </p:cTn>
                              </p:par>
                            </p:childTnLst>
                          </p:cTn>
                        </p:par>
                        <p:par>
                          <p:cTn id="56" fill="hold">
                            <p:stCondLst>
                              <p:cond delay="500"/>
                            </p:stCondLst>
                            <p:childTnLst>
                              <p:par>
                                <p:cTn id="57" presetID="22" presetClass="entr" presetSubtype="8" fill="hold" nodeType="afterEffect">
                                  <p:stCondLst>
                                    <p:cond delay="0"/>
                                  </p:stCondLst>
                                  <p:childTnLst>
                                    <p:set>
                                      <p:cBhvr>
                                        <p:cTn id="58" dur="1" fill="hold">
                                          <p:stCondLst>
                                            <p:cond delay="0"/>
                                          </p:stCondLst>
                                        </p:cTn>
                                        <p:tgtEl>
                                          <p:spTgt spid="134168"/>
                                        </p:tgtEl>
                                        <p:attrNameLst>
                                          <p:attrName>style.visibility</p:attrName>
                                        </p:attrNameLst>
                                      </p:cBhvr>
                                      <p:to>
                                        <p:strVal val="visible"/>
                                      </p:to>
                                    </p:set>
                                    <p:animEffect transition="in" filter="wipe(left)">
                                      <p:cBhvr>
                                        <p:cTn id="59" dur="500"/>
                                        <p:tgtEl>
                                          <p:spTgt spid="134168"/>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134161"/>
                                        </p:tgtEl>
                                        <p:attrNameLst>
                                          <p:attrName>style.visibility</p:attrName>
                                        </p:attrNameLst>
                                      </p:cBhvr>
                                      <p:to>
                                        <p:strVal val="visible"/>
                                      </p:to>
                                    </p:set>
                                    <p:animEffect transition="in" filter="wipe(left)">
                                      <p:cBhvr>
                                        <p:cTn id="64" dur="500"/>
                                        <p:tgtEl>
                                          <p:spTgt spid="134161"/>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134162"/>
                                        </p:tgtEl>
                                        <p:attrNameLst>
                                          <p:attrName>style.visibility</p:attrName>
                                        </p:attrNameLst>
                                      </p:cBhvr>
                                      <p:to>
                                        <p:strVal val="visible"/>
                                      </p:to>
                                    </p:set>
                                    <p:animEffect transition="in" filter="wipe(left)">
                                      <p:cBhvr>
                                        <p:cTn id="69" dur="500"/>
                                        <p:tgtEl>
                                          <p:spTgt spid="134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8" grpId="0" animBg="1"/>
      <p:bldP spid="134149" grpId="0" animBg="1"/>
      <p:bldP spid="134150" grpId="0"/>
      <p:bldP spid="134155" grpId="0" animBg="1"/>
      <p:bldP spid="134177"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96623" name="Object 15"/>
          <p:cNvGraphicFramePr>
            <a:graphicFrameLocks noChangeAspect="1"/>
          </p:cNvGraphicFramePr>
          <p:nvPr/>
        </p:nvGraphicFramePr>
        <p:xfrm>
          <a:off x="2478088" y="2198688"/>
          <a:ext cx="2717800" cy="342900"/>
        </p:xfrm>
        <a:graphic>
          <a:graphicData uri="http://schemas.openxmlformats.org/presentationml/2006/ole">
            <mc:AlternateContent xmlns:mc="http://schemas.openxmlformats.org/markup-compatibility/2006">
              <mc:Choice xmlns:v="urn:schemas-microsoft-com:vml" Requires="v">
                <p:oleObj spid="_x0000_s3107" name="" r:id="rId1" imgW="2717800" imgH="342900" progId="Equation.3">
                  <p:embed/>
                </p:oleObj>
              </mc:Choice>
              <mc:Fallback>
                <p:oleObj name="" r:id="rId1" imgW="2717800" imgH="342900" progId="Equation.3">
                  <p:embed/>
                  <p:pic>
                    <p:nvPicPr>
                      <p:cNvPr id="0" name="图片 3106"/>
                      <p:cNvPicPr/>
                      <p:nvPr/>
                    </p:nvPicPr>
                    <p:blipFill>
                      <a:blip r:embed="rId2"/>
                      <a:stretch>
                        <a:fillRect/>
                      </a:stretch>
                    </p:blipFill>
                    <p:spPr>
                      <a:xfrm>
                        <a:off x="2478088" y="2198688"/>
                        <a:ext cx="2717800" cy="342900"/>
                      </a:xfrm>
                      <a:prstGeom prst="rect">
                        <a:avLst/>
                      </a:prstGeom>
                      <a:noFill/>
                      <a:ln w="38100">
                        <a:noFill/>
                        <a:miter/>
                      </a:ln>
                    </p:spPr>
                  </p:pic>
                </p:oleObj>
              </mc:Fallback>
            </mc:AlternateContent>
          </a:graphicData>
        </a:graphic>
      </p:graphicFrame>
      <p:graphicFrame>
        <p:nvGraphicFramePr>
          <p:cNvPr id="196624" name="Object 16"/>
          <p:cNvGraphicFramePr>
            <a:graphicFrameLocks noChangeAspect="1"/>
          </p:cNvGraphicFramePr>
          <p:nvPr/>
        </p:nvGraphicFramePr>
        <p:xfrm>
          <a:off x="5303838" y="2184400"/>
          <a:ext cx="723900" cy="266700"/>
        </p:xfrm>
        <a:graphic>
          <a:graphicData uri="http://schemas.openxmlformats.org/presentationml/2006/ole">
            <mc:AlternateContent xmlns:mc="http://schemas.openxmlformats.org/markup-compatibility/2006">
              <mc:Choice xmlns:v="urn:schemas-microsoft-com:vml" Requires="v">
                <p:oleObj spid="_x0000_s3112" name="" r:id="rId3" imgW="723900" imgH="266700" progId="Equation.3">
                  <p:embed/>
                </p:oleObj>
              </mc:Choice>
              <mc:Fallback>
                <p:oleObj name="" r:id="rId3" imgW="723900" imgH="266700" progId="Equation.3">
                  <p:embed/>
                  <p:pic>
                    <p:nvPicPr>
                      <p:cNvPr id="0" name="图片 3111"/>
                      <p:cNvPicPr/>
                      <p:nvPr/>
                    </p:nvPicPr>
                    <p:blipFill>
                      <a:blip r:embed="rId4"/>
                      <a:stretch>
                        <a:fillRect/>
                      </a:stretch>
                    </p:blipFill>
                    <p:spPr>
                      <a:xfrm>
                        <a:off x="5303838" y="2184400"/>
                        <a:ext cx="723900" cy="266700"/>
                      </a:xfrm>
                      <a:prstGeom prst="rect">
                        <a:avLst/>
                      </a:prstGeom>
                      <a:noFill/>
                      <a:ln w="38100">
                        <a:noFill/>
                        <a:miter/>
                      </a:ln>
                    </p:spPr>
                  </p:pic>
                </p:oleObj>
              </mc:Fallback>
            </mc:AlternateContent>
          </a:graphicData>
        </a:graphic>
      </p:graphicFrame>
      <p:sp>
        <p:nvSpPr>
          <p:cNvPr id="196629" name="Oval 21"/>
          <p:cNvSpPr>
            <a:spLocks noChangeArrowheads="1"/>
          </p:cNvSpPr>
          <p:nvPr/>
        </p:nvSpPr>
        <p:spPr bwMode="auto">
          <a:xfrm>
            <a:off x="784225" y="1089025"/>
            <a:ext cx="304800" cy="304800"/>
          </a:xfrm>
          <a:prstGeom prst="ellipse">
            <a:avLst/>
          </a:prstGeom>
          <a:gradFill rotWithShape="0">
            <a:gsLst>
              <a:gs pos="0">
                <a:schemeClr val="accent2">
                  <a:gamma/>
                  <a:shade val="46275"/>
                  <a:invGamma/>
                </a:schemeClr>
              </a:gs>
              <a:gs pos="100000">
                <a:schemeClr val="accent2"/>
              </a:gs>
            </a:gsLst>
            <a:lin ang="5400000" scaled="1"/>
          </a:gradFill>
          <a:ln>
            <a:noFill/>
          </a:ln>
          <a:effectLst>
            <a:outerShdw sy="50000" kx="2453608" rotWithShape="0">
              <a:srgbClr val="808080"/>
            </a:outerShdw>
          </a:effectLst>
          <a:extLst>
            <a:ext uri="{91240B29-F687-4F45-9708-019B960494DF}">
              <a14:hiddenLine xmlns:a14="http://schemas.microsoft.com/office/drawing/2010/main" w="12700">
                <a:solidFill>
                  <a:schemeClr val="tx1"/>
                </a:solidFill>
                <a:round/>
                <a:headEnd type="none" w="sm" len="sm"/>
                <a:tailEnd type="none" w="sm" len="sm"/>
              </a14:hiddenLine>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6630" name="Rectangle 22"/>
          <p:cNvSpPr/>
          <p:nvPr/>
        </p:nvSpPr>
        <p:spPr>
          <a:xfrm>
            <a:off x="1373188" y="1030288"/>
            <a:ext cx="1487487" cy="400050"/>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solidFill>
                  <a:srgbClr val="FF0000"/>
                </a:solidFill>
                <a:latin typeface="Times New Roman" panose="02020603050405020304" pitchFamily="18" charset="0"/>
              </a:rPr>
              <a:t>吸收法</a:t>
            </a:r>
            <a:r>
              <a:rPr lang="zh-CN" altLang="en-US" sz="2000" b="1" dirty="0">
                <a:solidFill>
                  <a:srgbClr val="FF0000"/>
                </a:solidFill>
                <a:latin typeface="Times New Roman" panose="02020603050405020304" pitchFamily="18" charset="0"/>
              </a:rPr>
              <a:t> </a:t>
            </a:r>
            <a:endParaRPr lang="zh-CN" altLang="en-US" sz="2000" b="1" dirty="0">
              <a:solidFill>
                <a:srgbClr val="FF0000"/>
              </a:solidFill>
              <a:latin typeface="Times New Roman" panose="02020603050405020304" pitchFamily="18" charset="0"/>
            </a:endParaRPr>
          </a:p>
        </p:txBody>
      </p:sp>
      <p:grpSp>
        <p:nvGrpSpPr>
          <p:cNvPr id="196662" name="Group 54"/>
          <p:cNvGrpSpPr/>
          <p:nvPr/>
        </p:nvGrpSpPr>
        <p:grpSpPr>
          <a:xfrm>
            <a:off x="2767013" y="1036638"/>
            <a:ext cx="6038850" cy="730250"/>
            <a:chOff x="1743" y="653"/>
            <a:chExt cx="3804" cy="460"/>
          </a:xfrm>
        </p:grpSpPr>
        <p:sp>
          <p:nvSpPr>
            <p:cNvPr id="49175" name="Rectangle 24"/>
            <p:cNvSpPr/>
            <p:nvPr/>
          </p:nvSpPr>
          <p:spPr>
            <a:xfrm>
              <a:off x="1743" y="653"/>
              <a:ext cx="3804" cy="460"/>
            </a:xfrm>
            <a:prstGeom prst="rect">
              <a:avLst/>
            </a:prstGeom>
            <a:solidFill>
              <a:srgbClr val="99CCFF">
                <a:alpha val="50195"/>
              </a:srgbClr>
            </a:solidFill>
            <a:ln w="9525">
              <a:noFill/>
            </a:ln>
          </p:spPr>
          <p:txBody>
            <a:bodyPr lIns="0" tIns="0" rIns="0" bIns="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Times New Roman" panose="02020603050405020304" pitchFamily="18" charset="0"/>
                </a:rPr>
                <a:t>运用</a:t>
              </a:r>
              <a:r>
                <a:rPr lang="en-US" altLang="zh-CN" sz="2400" b="1" i="1" dirty="0">
                  <a:latin typeface="Times New Roman" panose="02020603050405020304" pitchFamily="18" charset="0"/>
                </a:rPr>
                <a:t>A</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AB</a:t>
              </a:r>
              <a:r>
                <a:rPr lang="en-US" altLang="zh-CN" sz="2400" b="1" i="1" baseline="-25000" dirty="0">
                  <a:latin typeface="Times New Roman" panose="02020603050405020304" pitchFamily="18" charset="0"/>
                </a:rPr>
                <a:t> </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A </a:t>
              </a:r>
              <a:r>
                <a:rPr lang="zh-CN" altLang="en-US" sz="2400" b="1" dirty="0">
                  <a:latin typeface="Times New Roman" panose="02020603050405020304" pitchFamily="18" charset="0"/>
                </a:rPr>
                <a:t>和                                              ，消去多余的与项。 </a:t>
              </a:r>
              <a:endParaRPr lang="zh-CN" altLang="en-US" sz="2400" b="1" dirty="0">
                <a:latin typeface="Times New Roman" panose="02020603050405020304" pitchFamily="18" charset="0"/>
              </a:endParaRPr>
            </a:p>
          </p:txBody>
        </p:sp>
        <p:graphicFrame>
          <p:nvGraphicFramePr>
            <p:cNvPr id="49176" name="Object 25"/>
            <p:cNvGraphicFramePr>
              <a:graphicFrameLocks noChangeAspect="1"/>
            </p:cNvGraphicFramePr>
            <p:nvPr/>
          </p:nvGraphicFramePr>
          <p:xfrm>
            <a:off x="3243" y="708"/>
            <a:ext cx="2137" cy="208"/>
          </p:xfrm>
          <a:graphic>
            <a:graphicData uri="http://schemas.openxmlformats.org/presentationml/2006/ole">
              <mc:AlternateContent xmlns:mc="http://schemas.openxmlformats.org/markup-compatibility/2006">
                <mc:Choice xmlns:v="urn:schemas-microsoft-com:vml" Requires="v">
                  <p:oleObj spid="_x0000_s3106" name="" r:id="rId5" imgW="3390900" imgH="330200" progId="Equation.3">
                    <p:embed/>
                  </p:oleObj>
                </mc:Choice>
                <mc:Fallback>
                  <p:oleObj name="" r:id="rId5" imgW="3390900" imgH="330200" progId="Equation.3">
                    <p:embed/>
                    <p:pic>
                      <p:nvPicPr>
                        <p:cNvPr id="0" name="图片 3105"/>
                        <p:cNvPicPr/>
                        <p:nvPr/>
                      </p:nvPicPr>
                      <p:blipFill>
                        <a:blip r:embed="rId6"/>
                        <a:stretch>
                          <a:fillRect/>
                        </a:stretch>
                      </p:blipFill>
                      <p:spPr>
                        <a:xfrm>
                          <a:off x="3243" y="708"/>
                          <a:ext cx="2137" cy="208"/>
                        </a:xfrm>
                        <a:prstGeom prst="rect">
                          <a:avLst/>
                        </a:prstGeom>
                        <a:noFill/>
                        <a:ln w="38100">
                          <a:noFill/>
                          <a:miter/>
                        </a:ln>
                      </p:spPr>
                    </p:pic>
                  </p:oleObj>
                </mc:Fallback>
              </mc:AlternateContent>
            </a:graphicData>
          </a:graphic>
        </p:graphicFrame>
      </p:grpSp>
      <p:sp>
        <p:nvSpPr>
          <p:cNvPr id="196635" name="AutoShape 27"/>
          <p:cNvSpPr/>
          <p:nvPr/>
        </p:nvSpPr>
        <p:spPr>
          <a:xfrm>
            <a:off x="1985963" y="2216150"/>
            <a:ext cx="228600" cy="228600"/>
          </a:xfrm>
          <a:prstGeom prst="sun">
            <a:avLst>
              <a:gd name="adj" fmla="val 25000"/>
            </a:avLst>
          </a:prstGeom>
          <a:solidFill>
            <a:schemeClr val="tx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196636" name="AutoShape 28"/>
          <p:cNvSpPr/>
          <p:nvPr/>
        </p:nvSpPr>
        <p:spPr>
          <a:xfrm>
            <a:off x="1998663" y="2973388"/>
            <a:ext cx="228600" cy="228600"/>
          </a:xfrm>
          <a:prstGeom prst="sun">
            <a:avLst>
              <a:gd name="adj" fmla="val 25000"/>
            </a:avLst>
          </a:prstGeom>
          <a:solidFill>
            <a:schemeClr val="tx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graphicFrame>
        <p:nvGraphicFramePr>
          <p:cNvPr id="196637" name="Object 29"/>
          <p:cNvGraphicFramePr>
            <a:graphicFrameLocks noChangeAspect="1"/>
          </p:cNvGraphicFramePr>
          <p:nvPr/>
        </p:nvGraphicFramePr>
        <p:xfrm>
          <a:off x="2473325" y="2916238"/>
          <a:ext cx="3403600" cy="330200"/>
        </p:xfrm>
        <a:graphic>
          <a:graphicData uri="http://schemas.openxmlformats.org/presentationml/2006/ole">
            <mc:AlternateContent xmlns:mc="http://schemas.openxmlformats.org/markup-compatibility/2006">
              <mc:Choice xmlns:v="urn:schemas-microsoft-com:vml" Requires="v">
                <p:oleObj spid="_x0000_s3111" name="" r:id="rId7" imgW="3403600" imgH="330200" progId="Equation.3">
                  <p:embed/>
                </p:oleObj>
              </mc:Choice>
              <mc:Fallback>
                <p:oleObj name="" r:id="rId7" imgW="3403600" imgH="330200" progId="Equation.3">
                  <p:embed/>
                  <p:pic>
                    <p:nvPicPr>
                      <p:cNvPr id="0" name="图片 3110"/>
                      <p:cNvPicPr/>
                      <p:nvPr/>
                    </p:nvPicPr>
                    <p:blipFill>
                      <a:blip r:embed="rId8"/>
                      <a:stretch>
                        <a:fillRect/>
                      </a:stretch>
                    </p:blipFill>
                    <p:spPr>
                      <a:xfrm>
                        <a:off x="2473325" y="2916238"/>
                        <a:ext cx="3403600" cy="330200"/>
                      </a:xfrm>
                      <a:prstGeom prst="rect">
                        <a:avLst/>
                      </a:prstGeom>
                      <a:noFill/>
                      <a:ln w="38100">
                        <a:noFill/>
                        <a:miter/>
                      </a:ln>
                    </p:spPr>
                  </p:pic>
                </p:oleObj>
              </mc:Fallback>
            </mc:AlternateContent>
          </a:graphicData>
        </a:graphic>
      </p:graphicFrame>
      <p:graphicFrame>
        <p:nvGraphicFramePr>
          <p:cNvPr id="196638" name="Object 30"/>
          <p:cNvGraphicFramePr>
            <a:graphicFrameLocks noChangeAspect="1"/>
          </p:cNvGraphicFramePr>
          <p:nvPr/>
        </p:nvGraphicFramePr>
        <p:xfrm>
          <a:off x="2778125" y="3578225"/>
          <a:ext cx="3149600" cy="393700"/>
        </p:xfrm>
        <a:graphic>
          <a:graphicData uri="http://schemas.openxmlformats.org/presentationml/2006/ole">
            <mc:AlternateContent xmlns:mc="http://schemas.openxmlformats.org/markup-compatibility/2006">
              <mc:Choice xmlns:v="urn:schemas-microsoft-com:vml" Requires="v">
                <p:oleObj spid="_x0000_s3113" name="" r:id="rId9" imgW="3149600" imgH="393700" progId="Equation.3">
                  <p:embed/>
                </p:oleObj>
              </mc:Choice>
              <mc:Fallback>
                <p:oleObj name="" r:id="rId9" imgW="3149600" imgH="393700" progId="Equation.3">
                  <p:embed/>
                  <p:pic>
                    <p:nvPicPr>
                      <p:cNvPr id="0" name="图片 3112"/>
                      <p:cNvPicPr/>
                      <p:nvPr/>
                    </p:nvPicPr>
                    <p:blipFill>
                      <a:blip r:embed="rId10"/>
                      <a:stretch>
                        <a:fillRect/>
                      </a:stretch>
                    </p:blipFill>
                    <p:spPr>
                      <a:xfrm>
                        <a:off x="2778125" y="3578225"/>
                        <a:ext cx="3149600" cy="393700"/>
                      </a:xfrm>
                      <a:prstGeom prst="rect">
                        <a:avLst/>
                      </a:prstGeom>
                      <a:noFill/>
                      <a:ln w="38100">
                        <a:noFill/>
                        <a:miter/>
                      </a:ln>
                    </p:spPr>
                  </p:pic>
                </p:oleObj>
              </mc:Fallback>
            </mc:AlternateContent>
          </a:graphicData>
        </a:graphic>
      </p:graphicFrame>
      <p:graphicFrame>
        <p:nvGraphicFramePr>
          <p:cNvPr id="196639" name="Object 31"/>
          <p:cNvGraphicFramePr>
            <a:graphicFrameLocks noChangeAspect="1"/>
          </p:cNvGraphicFramePr>
          <p:nvPr/>
        </p:nvGraphicFramePr>
        <p:xfrm>
          <a:off x="2782888" y="4203700"/>
          <a:ext cx="2794000" cy="349250"/>
        </p:xfrm>
        <a:graphic>
          <a:graphicData uri="http://schemas.openxmlformats.org/presentationml/2006/ole">
            <mc:AlternateContent xmlns:mc="http://schemas.openxmlformats.org/markup-compatibility/2006">
              <mc:Choice xmlns:v="urn:schemas-microsoft-com:vml" Requires="v">
                <p:oleObj spid="_x0000_s3109" name="" r:id="rId11" imgW="2794000" imgH="330200" progId="Equation.3">
                  <p:embed/>
                </p:oleObj>
              </mc:Choice>
              <mc:Fallback>
                <p:oleObj name="" r:id="rId11" imgW="2794000" imgH="330200" progId="Equation.3">
                  <p:embed/>
                  <p:pic>
                    <p:nvPicPr>
                      <p:cNvPr id="0" name="图片 3108"/>
                      <p:cNvPicPr/>
                      <p:nvPr/>
                    </p:nvPicPr>
                    <p:blipFill>
                      <a:blip r:embed="rId12"/>
                      <a:stretch>
                        <a:fillRect/>
                      </a:stretch>
                    </p:blipFill>
                    <p:spPr>
                      <a:xfrm>
                        <a:off x="2782888" y="4203700"/>
                        <a:ext cx="2794000" cy="349250"/>
                      </a:xfrm>
                      <a:prstGeom prst="rect">
                        <a:avLst/>
                      </a:prstGeom>
                      <a:noFill/>
                      <a:ln w="38100">
                        <a:noFill/>
                        <a:miter/>
                      </a:ln>
                    </p:spPr>
                  </p:pic>
                </p:oleObj>
              </mc:Fallback>
            </mc:AlternateContent>
          </a:graphicData>
        </a:graphic>
      </p:graphicFrame>
      <p:graphicFrame>
        <p:nvGraphicFramePr>
          <p:cNvPr id="196640" name="Object 32"/>
          <p:cNvGraphicFramePr>
            <a:graphicFrameLocks noChangeAspect="1"/>
          </p:cNvGraphicFramePr>
          <p:nvPr/>
        </p:nvGraphicFramePr>
        <p:xfrm>
          <a:off x="2778125" y="4946650"/>
          <a:ext cx="1905000" cy="349250"/>
        </p:xfrm>
        <a:graphic>
          <a:graphicData uri="http://schemas.openxmlformats.org/presentationml/2006/ole">
            <mc:AlternateContent xmlns:mc="http://schemas.openxmlformats.org/markup-compatibility/2006">
              <mc:Choice xmlns:v="urn:schemas-microsoft-com:vml" Requires="v">
                <p:oleObj spid="_x0000_s3114" name="" r:id="rId13" imgW="1905000" imgH="330200" progId="Equation.3">
                  <p:embed/>
                </p:oleObj>
              </mc:Choice>
              <mc:Fallback>
                <p:oleObj name="" r:id="rId13" imgW="1905000" imgH="330200" progId="Equation.3">
                  <p:embed/>
                  <p:pic>
                    <p:nvPicPr>
                      <p:cNvPr id="0" name="图片 3113"/>
                      <p:cNvPicPr/>
                      <p:nvPr/>
                    </p:nvPicPr>
                    <p:blipFill>
                      <a:blip r:embed="rId14"/>
                      <a:stretch>
                        <a:fillRect/>
                      </a:stretch>
                    </p:blipFill>
                    <p:spPr>
                      <a:xfrm>
                        <a:off x="2778125" y="4946650"/>
                        <a:ext cx="1905000" cy="349250"/>
                      </a:xfrm>
                      <a:prstGeom prst="rect">
                        <a:avLst/>
                      </a:prstGeom>
                      <a:noFill/>
                      <a:ln w="38100">
                        <a:noFill/>
                        <a:miter/>
                      </a:ln>
                    </p:spPr>
                  </p:pic>
                </p:oleObj>
              </mc:Fallback>
            </mc:AlternateContent>
          </a:graphicData>
        </a:graphic>
      </p:graphicFrame>
      <p:graphicFrame>
        <p:nvGraphicFramePr>
          <p:cNvPr id="196641" name="Object 33"/>
          <p:cNvGraphicFramePr>
            <a:graphicFrameLocks noChangeAspect="1"/>
          </p:cNvGraphicFramePr>
          <p:nvPr/>
        </p:nvGraphicFramePr>
        <p:xfrm>
          <a:off x="2786063" y="5619750"/>
          <a:ext cx="2413000" cy="349250"/>
        </p:xfrm>
        <a:graphic>
          <a:graphicData uri="http://schemas.openxmlformats.org/presentationml/2006/ole">
            <mc:AlternateContent xmlns:mc="http://schemas.openxmlformats.org/markup-compatibility/2006">
              <mc:Choice xmlns:v="urn:schemas-microsoft-com:vml" Requires="v">
                <p:oleObj spid="_x0000_s3108" name="" r:id="rId15" imgW="2413000" imgH="330200" progId="Equation.3">
                  <p:embed/>
                </p:oleObj>
              </mc:Choice>
              <mc:Fallback>
                <p:oleObj name="" r:id="rId15" imgW="2413000" imgH="330200" progId="Equation.3">
                  <p:embed/>
                  <p:pic>
                    <p:nvPicPr>
                      <p:cNvPr id="0" name="图片 3107"/>
                      <p:cNvPicPr/>
                      <p:nvPr/>
                    </p:nvPicPr>
                    <p:blipFill>
                      <a:blip r:embed="rId16"/>
                      <a:stretch>
                        <a:fillRect/>
                      </a:stretch>
                    </p:blipFill>
                    <p:spPr>
                      <a:xfrm>
                        <a:off x="2786063" y="5619750"/>
                        <a:ext cx="2413000" cy="349250"/>
                      </a:xfrm>
                      <a:prstGeom prst="rect">
                        <a:avLst/>
                      </a:prstGeom>
                      <a:noFill/>
                      <a:ln w="38100">
                        <a:noFill/>
                        <a:miter/>
                      </a:ln>
                    </p:spPr>
                  </p:pic>
                </p:oleObj>
              </mc:Fallback>
            </mc:AlternateContent>
          </a:graphicData>
        </a:graphic>
      </p:graphicFrame>
      <p:sp>
        <p:nvSpPr>
          <p:cNvPr id="196642" name="Line 34"/>
          <p:cNvSpPr/>
          <p:nvPr/>
        </p:nvSpPr>
        <p:spPr>
          <a:xfrm>
            <a:off x="3017838" y="4567238"/>
            <a:ext cx="412750" cy="0"/>
          </a:xfrm>
          <a:prstGeom prst="line">
            <a:avLst/>
          </a:prstGeom>
          <a:ln w="28575" cap="flat" cmpd="sng">
            <a:solidFill>
              <a:srgbClr val="0033CC"/>
            </a:solidFill>
            <a:prstDash val="solid"/>
            <a:headEnd type="none" w="med" len="med"/>
            <a:tailEnd type="none" w="med" len="med"/>
          </a:ln>
        </p:spPr>
      </p:sp>
      <p:sp>
        <p:nvSpPr>
          <p:cNvPr id="196643" name="Line 35"/>
          <p:cNvSpPr/>
          <p:nvPr/>
        </p:nvSpPr>
        <p:spPr>
          <a:xfrm>
            <a:off x="3962400" y="4564063"/>
            <a:ext cx="449263" cy="0"/>
          </a:xfrm>
          <a:prstGeom prst="line">
            <a:avLst/>
          </a:prstGeom>
          <a:ln w="28575" cap="flat" cmpd="sng">
            <a:solidFill>
              <a:srgbClr val="0033CC"/>
            </a:solidFill>
            <a:prstDash val="solid"/>
            <a:headEnd type="none" w="med" len="med"/>
            <a:tailEnd type="none" w="med" len="med"/>
          </a:ln>
        </p:spPr>
      </p:sp>
      <p:sp>
        <p:nvSpPr>
          <p:cNvPr id="196644" name="Line 36"/>
          <p:cNvSpPr/>
          <p:nvPr/>
        </p:nvSpPr>
        <p:spPr>
          <a:xfrm>
            <a:off x="5081588" y="4562475"/>
            <a:ext cx="450850" cy="0"/>
          </a:xfrm>
          <a:prstGeom prst="line">
            <a:avLst/>
          </a:prstGeom>
          <a:ln w="28575" cap="flat" cmpd="sng">
            <a:solidFill>
              <a:schemeClr val="accent1"/>
            </a:solidFill>
            <a:prstDash val="solid"/>
            <a:headEnd type="none" w="med" len="med"/>
            <a:tailEnd type="none" w="med" len="med"/>
          </a:ln>
        </p:spPr>
      </p:sp>
      <p:sp>
        <p:nvSpPr>
          <p:cNvPr id="196645" name="Line 37"/>
          <p:cNvSpPr/>
          <p:nvPr/>
        </p:nvSpPr>
        <p:spPr>
          <a:xfrm>
            <a:off x="4579938" y="4560888"/>
            <a:ext cx="223837" cy="0"/>
          </a:xfrm>
          <a:prstGeom prst="line">
            <a:avLst/>
          </a:prstGeom>
          <a:ln w="28575" cap="flat" cmpd="sng">
            <a:solidFill>
              <a:schemeClr val="accent1"/>
            </a:solidFill>
            <a:prstDash val="solid"/>
            <a:headEnd type="none" w="med" len="med"/>
            <a:tailEnd type="none" w="med" len="med"/>
          </a:ln>
        </p:spPr>
      </p:sp>
      <p:sp>
        <p:nvSpPr>
          <p:cNvPr id="196646" name="Line 38"/>
          <p:cNvSpPr/>
          <p:nvPr/>
        </p:nvSpPr>
        <p:spPr>
          <a:xfrm>
            <a:off x="3471863" y="4570413"/>
            <a:ext cx="225425" cy="0"/>
          </a:xfrm>
          <a:prstGeom prst="line">
            <a:avLst/>
          </a:prstGeom>
          <a:ln w="28575" cap="flat" cmpd="sng">
            <a:solidFill>
              <a:schemeClr val="accent1"/>
            </a:solidFill>
            <a:prstDash val="solid"/>
            <a:headEnd type="none" w="med" len="med"/>
            <a:tailEnd type="none" w="med" len="med"/>
          </a:ln>
        </p:spPr>
      </p:sp>
      <p:sp>
        <p:nvSpPr>
          <p:cNvPr id="196649" name="Line 41"/>
          <p:cNvSpPr/>
          <p:nvPr/>
        </p:nvSpPr>
        <p:spPr>
          <a:xfrm>
            <a:off x="3030538" y="2497138"/>
            <a:ext cx="414337" cy="0"/>
          </a:xfrm>
          <a:prstGeom prst="line">
            <a:avLst/>
          </a:prstGeom>
          <a:ln w="28575" cap="flat" cmpd="sng">
            <a:solidFill>
              <a:schemeClr val="accent1"/>
            </a:solidFill>
            <a:prstDash val="solid"/>
            <a:headEnd type="none" w="med" len="med"/>
            <a:tailEnd type="none" w="med" len="med"/>
          </a:ln>
        </p:spPr>
      </p:sp>
      <p:sp>
        <p:nvSpPr>
          <p:cNvPr id="196650" name="Line 42"/>
          <p:cNvSpPr/>
          <p:nvPr/>
        </p:nvSpPr>
        <p:spPr>
          <a:xfrm>
            <a:off x="3767138" y="2497138"/>
            <a:ext cx="412750" cy="0"/>
          </a:xfrm>
          <a:prstGeom prst="line">
            <a:avLst/>
          </a:prstGeom>
          <a:ln w="28575" cap="flat" cmpd="sng">
            <a:solidFill>
              <a:schemeClr val="accent1"/>
            </a:solidFill>
            <a:prstDash val="solid"/>
            <a:headEnd type="none" w="med" len="med"/>
            <a:tailEnd type="none" w="med" len="med"/>
          </a:ln>
        </p:spPr>
      </p:sp>
      <p:sp>
        <p:nvSpPr>
          <p:cNvPr id="196652" name="Line 44"/>
          <p:cNvSpPr/>
          <p:nvPr/>
        </p:nvSpPr>
        <p:spPr>
          <a:xfrm>
            <a:off x="3951288" y="5311775"/>
            <a:ext cx="487362" cy="0"/>
          </a:xfrm>
          <a:prstGeom prst="line">
            <a:avLst/>
          </a:prstGeom>
          <a:ln w="28575" cap="flat" cmpd="sng">
            <a:solidFill>
              <a:schemeClr val="accent1"/>
            </a:solidFill>
            <a:prstDash val="solid"/>
            <a:headEnd type="none" w="med" len="med"/>
            <a:tailEnd type="none" w="med" len="med"/>
          </a:ln>
        </p:spPr>
      </p:sp>
      <p:sp>
        <p:nvSpPr>
          <p:cNvPr id="196653" name="Line 45"/>
          <p:cNvSpPr/>
          <p:nvPr/>
        </p:nvSpPr>
        <p:spPr>
          <a:xfrm>
            <a:off x="4016375" y="3262313"/>
            <a:ext cx="1073150" cy="0"/>
          </a:xfrm>
          <a:prstGeom prst="line">
            <a:avLst/>
          </a:prstGeom>
          <a:ln w="28575" cap="flat" cmpd="sng">
            <a:solidFill>
              <a:schemeClr val="accent1"/>
            </a:solidFill>
            <a:prstDash val="solid"/>
            <a:headEnd type="none" w="med" len="med"/>
            <a:tailEnd type="none" w="med" len="med"/>
          </a:ln>
        </p:spPr>
      </p:sp>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96629"/>
                                        </p:tgtEl>
                                        <p:attrNameLst>
                                          <p:attrName>style.visibility</p:attrName>
                                        </p:attrNameLst>
                                      </p:cBhvr>
                                      <p:to>
                                        <p:strVal val="visible"/>
                                      </p:to>
                                    </p:set>
                                    <p:anim calcmode="lin" valueType="num">
                                      <p:cBhvr additive="base">
                                        <p:cTn id="7" dur="500" fill="hold"/>
                                        <p:tgtEl>
                                          <p:spTgt spid="196629"/>
                                        </p:tgtEl>
                                        <p:attrNameLst>
                                          <p:attrName>ppt_x</p:attrName>
                                        </p:attrNameLst>
                                      </p:cBhvr>
                                      <p:tavLst>
                                        <p:tav tm="0">
                                          <p:val>
                                            <p:strVal val="0-#ppt_w/2"/>
                                          </p:val>
                                        </p:tav>
                                        <p:tav tm="100000">
                                          <p:val>
                                            <p:strVal val="#ppt_x"/>
                                          </p:val>
                                        </p:tav>
                                      </p:tavLst>
                                    </p:anim>
                                    <p:anim calcmode="lin" valueType="num">
                                      <p:cBhvr additive="base">
                                        <p:cTn id="8" dur="500" fill="hold"/>
                                        <p:tgtEl>
                                          <p:spTgt spid="19662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196630"/>
                                        </p:tgtEl>
                                        <p:attrNameLst>
                                          <p:attrName>style.visibility</p:attrName>
                                        </p:attrNameLst>
                                      </p:cBhvr>
                                      <p:to>
                                        <p:strVal val="visible"/>
                                      </p:to>
                                    </p:set>
                                    <p:animEffect transition="in" filter="wipe(left)">
                                      <p:cBhvr>
                                        <p:cTn id="12" dur="500"/>
                                        <p:tgtEl>
                                          <p:spTgt spid="196630"/>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196662"/>
                                        </p:tgtEl>
                                        <p:attrNameLst>
                                          <p:attrName>style.visibility</p:attrName>
                                        </p:attrNameLst>
                                      </p:cBhvr>
                                      <p:to>
                                        <p:strVal val="visible"/>
                                      </p:to>
                                    </p:set>
                                    <p:animEffect transition="in" filter="wipe(left)">
                                      <p:cBhvr>
                                        <p:cTn id="16" dur="500"/>
                                        <p:tgtEl>
                                          <p:spTgt spid="196662"/>
                                        </p:tgtEl>
                                      </p:cBhvr>
                                    </p:animEffect>
                                  </p:childTnLst>
                                </p:cTn>
                              </p:par>
                            </p:childTnLst>
                          </p:cTn>
                        </p:par>
                      </p:childTnLst>
                    </p:cTn>
                  </p:par>
                  <p:par>
                    <p:cTn id="17" fill="hold">
                      <p:stCondLst>
                        <p:cond delay="indefinite"/>
                      </p:stCondLst>
                      <p:childTnLst>
                        <p:par>
                          <p:cTn id="18" fill="hold">
                            <p:stCondLst>
                              <p:cond delay="0"/>
                            </p:stCondLst>
                            <p:childTnLst>
                              <p:par>
                                <p:cTn id="19" presetID="15" presetClass="entr" presetSubtype="0" fill="hold" grpId="0" nodeType="clickEffect">
                                  <p:stCondLst>
                                    <p:cond delay="0"/>
                                  </p:stCondLst>
                                  <p:childTnLst>
                                    <p:set>
                                      <p:cBhvr>
                                        <p:cTn id="20" dur="1" fill="hold">
                                          <p:stCondLst>
                                            <p:cond delay="0"/>
                                          </p:stCondLst>
                                        </p:cTn>
                                        <p:tgtEl>
                                          <p:spTgt spid="196635"/>
                                        </p:tgtEl>
                                        <p:attrNameLst>
                                          <p:attrName>style.visibility</p:attrName>
                                        </p:attrNameLst>
                                      </p:cBhvr>
                                      <p:to>
                                        <p:strVal val="visible"/>
                                      </p:to>
                                    </p:set>
                                    <p:anim calcmode="lin" valueType="num">
                                      <p:cBhvr>
                                        <p:cTn id="21" dur="1000" fill="hold"/>
                                        <p:tgtEl>
                                          <p:spTgt spid="196635"/>
                                        </p:tgtEl>
                                        <p:attrNameLst>
                                          <p:attrName>ppt_w</p:attrName>
                                        </p:attrNameLst>
                                      </p:cBhvr>
                                      <p:tavLst>
                                        <p:tav tm="0">
                                          <p:val>
                                            <p:fltVal val="0.000000"/>
                                          </p:val>
                                        </p:tav>
                                        <p:tav tm="100000">
                                          <p:val>
                                            <p:strVal val="#ppt_w"/>
                                          </p:val>
                                        </p:tav>
                                      </p:tavLst>
                                    </p:anim>
                                    <p:anim calcmode="lin" valueType="num">
                                      <p:cBhvr>
                                        <p:cTn id="22" dur="1000" fill="hold"/>
                                        <p:tgtEl>
                                          <p:spTgt spid="196635"/>
                                        </p:tgtEl>
                                        <p:attrNameLst>
                                          <p:attrName>ppt_h</p:attrName>
                                        </p:attrNameLst>
                                      </p:cBhvr>
                                      <p:tavLst>
                                        <p:tav tm="0">
                                          <p:val>
                                            <p:fltVal val="0.000000"/>
                                          </p:val>
                                        </p:tav>
                                        <p:tav tm="100000">
                                          <p:val>
                                            <p:strVal val="#ppt_h"/>
                                          </p:val>
                                        </p:tav>
                                      </p:tavLst>
                                    </p:anim>
                                    <p:anim calcmode="lin" valueType="num">
                                      <p:cBhvr>
                                        <p:cTn id="23" dur="1000" fill="hold"/>
                                        <p:tgtEl>
                                          <p:spTgt spid="196635"/>
                                        </p:tgtEl>
                                        <p:attrNameLst>
                                          <p:attrName>ppt_x</p:attrName>
                                        </p:attrNameLst>
                                      </p:cBhvr>
                                      <p:tavLst>
                                        <p:tav tm="0" fmla="#ppt_x+(cos(-2*pi*(1-$))*-#ppt_x-sin(-2*pi*(1-$))*(1-#ppt_y))*(1-$)">
                                          <p:val>
                                            <p:fltVal val="0.000000"/>
                                          </p:val>
                                        </p:tav>
                                        <p:tav tm="100000">
                                          <p:val>
                                            <p:fltVal val="1.000000"/>
                                          </p:val>
                                        </p:tav>
                                      </p:tavLst>
                                    </p:anim>
                                    <p:anim calcmode="lin" valueType="num">
                                      <p:cBhvr>
                                        <p:cTn id="24" dur="1000" fill="hold"/>
                                        <p:tgtEl>
                                          <p:spTgt spid="196635"/>
                                        </p:tgtEl>
                                        <p:attrNameLst>
                                          <p:attrName>ppt_y</p:attrName>
                                        </p:attrNameLst>
                                      </p:cBhvr>
                                      <p:tavLst>
                                        <p:tav tm="0" fmla="#ppt_y+(sin(-2*pi*(1-$))*-#ppt_x+cos(-2*pi*(1-$))*(1-#ppt_y))*(1-$)">
                                          <p:val>
                                            <p:fltVal val="0.000000"/>
                                          </p:val>
                                        </p:tav>
                                        <p:tav tm="100000">
                                          <p:val>
                                            <p:fltVal val="1.000000"/>
                                          </p:val>
                                        </p:tav>
                                      </p:tavLst>
                                    </p:anim>
                                  </p:childTnLst>
                                </p:cTn>
                              </p:par>
                            </p:childTnLst>
                          </p:cTn>
                        </p:par>
                        <p:par>
                          <p:cTn id="25" fill="hold">
                            <p:stCondLst>
                              <p:cond delay="1000"/>
                            </p:stCondLst>
                            <p:childTnLst>
                              <p:par>
                                <p:cTn id="26" presetID="22" presetClass="entr" presetSubtype="8" fill="hold" nodeType="afterEffect">
                                  <p:stCondLst>
                                    <p:cond delay="0"/>
                                  </p:stCondLst>
                                  <p:childTnLst>
                                    <p:set>
                                      <p:cBhvr>
                                        <p:cTn id="27" dur="1" fill="hold">
                                          <p:stCondLst>
                                            <p:cond delay="0"/>
                                          </p:stCondLst>
                                        </p:cTn>
                                        <p:tgtEl>
                                          <p:spTgt spid="196623"/>
                                        </p:tgtEl>
                                        <p:attrNameLst>
                                          <p:attrName>style.visibility</p:attrName>
                                        </p:attrNameLst>
                                      </p:cBhvr>
                                      <p:to>
                                        <p:strVal val="visible"/>
                                      </p:to>
                                    </p:set>
                                    <p:animEffect transition="in" filter="wipe(left)">
                                      <p:cBhvr>
                                        <p:cTn id="28" dur="500"/>
                                        <p:tgtEl>
                                          <p:spTgt spid="19662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96649"/>
                                        </p:tgtEl>
                                        <p:attrNameLst>
                                          <p:attrName>style.visibility</p:attrName>
                                        </p:attrNameLst>
                                      </p:cBhvr>
                                      <p:to>
                                        <p:strVal val="visible"/>
                                      </p:to>
                                    </p:set>
                                    <p:animEffect transition="in" filter="wipe(left)">
                                      <p:cBhvr>
                                        <p:cTn id="33" dur="500"/>
                                        <p:tgtEl>
                                          <p:spTgt spid="196649"/>
                                        </p:tgtEl>
                                      </p:cBhvr>
                                    </p:animEffect>
                                  </p:childTnLst>
                                </p:cTn>
                              </p:par>
                            </p:childTnLst>
                          </p:cTn>
                        </p:par>
                        <p:par>
                          <p:cTn id="34" fill="hold">
                            <p:stCondLst>
                              <p:cond delay="500"/>
                            </p:stCondLst>
                            <p:childTnLst>
                              <p:par>
                                <p:cTn id="35" presetID="22" presetClass="entr" presetSubtype="8" fill="hold" nodeType="afterEffect">
                                  <p:stCondLst>
                                    <p:cond delay="0"/>
                                  </p:stCondLst>
                                  <p:childTnLst>
                                    <p:set>
                                      <p:cBhvr>
                                        <p:cTn id="36" dur="1" fill="hold">
                                          <p:stCondLst>
                                            <p:cond delay="0"/>
                                          </p:stCondLst>
                                        </p:cTn>
                                        <p:tgtEl>
                                          <p:spTgt spid="196650"/>
                                        </p:tgtEl>
                                        <p:attrNameLst>
                                          <p:attrName>style.visibility</p:attrName>
                                        </p:attrNameLst>
                                      </p:cBhvr>
                                      <p:to>
                                        <p:strVal val="visible"/>
                                      </p:to>
                                    </p:set>
                                    <p:animEffect transition="in" filter="wipe(left)">
                                      <p:cBhvr>
                                        <p:cTn id="37" dur="500"/>
                                        <p:tgtEl>
                                          <p:spTgt spid="19665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96624"/>
                                        </p:tgtEl>
                                        <p:attrNameLst>
                                          <p:attrName>style.visibility</p:attrName>
                                        </p:attrNameLst>
                                      </p:cBhvr>
                                      <p:to>
                                        <p:strVal val="visible"/>
                                      </p:to>
                                    </p:set>
                                    <p:animEffect transition="in" filter="wipe(left)">
                                      <p:cBhvr>
                                        <p:cTn id="42" dur="500"/>
                                        <p:tgtEl>
                                          <p:spTgt spid="196624"/>
                                        </p:tgtEl>
                                      </p:cBhvr>
                                    </p:animEffect>
                                  </p:childTnLst>
                                </p:cTn>
                              </p:par>
                            </p:childTnLst>
                          </p:cTn>
                        </p:par>
                      </p:childTnLst>
                    </p:cTn>
                  </p:par>
                  <p:par>
                    <p:cTn id="43" fill="hold">
                      <p:stCondLst>
                        <p:cond delay="indefinite"/>
                      </p:stCondLst>
                      <p:childTnLst>
                        <p:par>
                          <p:cTn id="44" fill="hold">
                            <p:stCondLst>
                              <p:cond delay="0"/>
                            </p:stCondLst>
                            <p:childTnLst>
                              <p:par>
                                <p:cTn id="45" presetID="15" presetClass="entr" presetSubtype="0" fill="hold" grpId="0" nodeType="clickEffect">
                                  <p:stCondLst>
                                    <p:cond delay="0"/>
                                  </p:stCondLst>
                                  <p:childTnLst>
                                    <p:set>
                                      <p:cBhvr>
                                        <p:cTn id="46" dur="1" fill="hold">
                                          <p:stCondLst>
                                            <p:cond delay="0"/>
                                          </p:stCondLst>
                                        </p:cTn>
                                        <p:tgtEl>
                                          <p:spTgt spid="196636"/>
                                        </p:tgtEl>
                                        <p:attrNameLst>
                                          <p:attrName>style.visibility</p:attrName>
                                        </p:attrNameLst>
                                      </p:cBhvr>
                                      <p:to>
                                        <p:strVal val="visible"/>
                                      </p:to>
                                    </p:set>
                                    <p:anim calcmode="lin" valueType="num">
                                      <p:cBhvr>
                                        <p:cTn id="47" dur="1000" fill="hold"/>
                                        <p:tgtEl>
                                          <p:spTgt spid="196636"/>
                                        </p:tgtEl>
                                        <p:attrNameLst>
                                          <p:attrName>ppt_w</p:attrName>
                                        </p:attrNameLst>
                                      </p:cBhvr>
                                      <p:tavLst>
                                        <p:tav tm="0">
                                          <p:val>
                                            <p:fltVal val="0.000000"/>
                                          </p:val>
                                        </p:tav>
                                        <p:tav tm="100000">
                                          <p:val>
                                            <p:strVal val="#ppt_w"/>
                                          </p:val>
                                        </p:tav>
                                      </p:tavLst>
                                    </p:anim>
                                    <p:anim calcmode="lin" valueType="num">
                                      <p:cBhvr>
                                        <p:cTn id="48" dur="1000" fill="hold"/>
                                        <p:tgtEl>
                                          <p:spTgt spid="196636"/>
                                        </p:tgtEl>
                                        <p:attrNameLst>
                                          <p:attrName>ppt_h</p:attrName>
                                        </p:attrNameLst>
                                      </p:cBhvr>
                                      <p:tavLst>
                                        <p:tav tm="0">
                                          <p:val>
                                            <p:fltVal val="0.000000"/>
                                          </p:val>
                                        </p:tav>
                                        <p:tav tm="100000">
                                          <p:val>
                                            <p:strVal val="#ppt_h"/>
                                          </p:val>
                                        </p:tav>
                                      </p:tavLst>
                                    </p:anim>
                                    <p:anim calcmode="lin" valueType="num">
                                      <p:cBhvr>
                                        <p:cTn id="49" dur="1000" fill="hold"/>
                                        <p:tgtEl>
                                          <p:spTgt spid="196636"/>
                                        </p:tgtEl>
                                        <p:attrNameLst>
                                          <p:attrName>ppt_x</p:attrName>
                                        </p:attrNameLst>
                                      </p:cBhvr>
                                      <p:tavLst>
                                        <p:tav tm="0" fmla="#ppt_x+(cos(-2*pi*(1-$))*-#ppt_x-sin(-2*pi*(1-$))*(1-#ppt_y))*(1-$)">
                                          <p:val>
                                            <p:fltVal val="0.000000"/>
                                          </p:val>
                                        </p:tav>
                                        <p:tav tm="100000">
                                          <p:val>
                                            <p:fltVal val="1.000000"/>
                                          </p:val>
                                        </p:tav>
                                      </p:tavLst>
                                    </p:anim>
                                    <p:anim calcmode="lin" valueType="num">
                                      <p:cBhvr>
                                        <p:cTn id="50" dur="1000" fill="hold"/>
                                        <p:tgtEl>
                                          <p:spTgt spid="196636"/>
                                        </p:tgtEl>
                                        <p:attrNameLst>
                                          <p:attrName>ppt_y</p:attrName>
                                        </p:attrNameLst>
                                      </p:cBhvr>
                                      <p:tavLst>
                                        <p:tav tm="0" fmla="#ppt_y+(sin(-2*pi*(1-$))*-#ppt_x+cos(-2*pi*(1-$))*(1-#ppt_y))*(1-$)">
                                          <p:val>
                                            <p:fltVal val="0.000000"/>
                                          </p:val>
                                        </p:tav>
                                        <p:tav tm="100000">
                                          <p:val>
                                            <p:fltVal val="1.000000"/>
                                          </p:val>
                                        </p:tav>
                                      </p:tavLst>
                                    </p:anim>
                                  </p:childTnLst>
                                </p:cTn>
                              </p:par>
                            </p:childTnLst>
                          </p:cTn>
                        </p:par>
                        <p:par>
                          <p:cTn id="51" fill="hold">
                            <p:stCondLst>
                              <p:cond delay="1000"/>
                            </p:stCondLst>
                            <p:childTnLst>
                              <p:par>
                                <p:cTn id="52" presetID="22" presetClass="entr" presetSubtype="8" fill="hold" nodeType="afterEffect">
                                  <p:stCondLst>
                                    <p:cond delay="0"/>
                                  </p:stCondLst>
                                  <p:childTnLst>
                                    <p:set>
                                      <p:cBhvr>
                                        <p:cTn id="53" dur="1" fill="hold">
                                          <p:stCondLst>
                                            <p:cond delay="0"/>
                                          </p:stCondLst>
                                        </p:cTn>
                                        <p:tgtEl>
                                          <p:spTgt spid="196637"/>
                                        </p:tgtEl>
                                        <p:attrNameLst>
                                          <p:attrName>style.visibility</p:attrName>
                                        </p:attrNameLst>
                                      </p:cBhvr>
                                      <p:to>
                                        <p:strVal val="visible"/>
                                      </p:to>
                                    </p:set>
                                    <p:animEffect transition="in" filter="wipe(left)">
                                      <p:cBhvr>
                                        <p:cTn id="54" dur="500"/>
                                        <p:tgtEl>
                                          <p:spTgt spid="196637"/>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196653"/>
                                        </p:tgtEl>
                                        <p:attrNameLst>
                                          <p:attrName>style.visibility</p:attrName>
                                        </p:attrNameLst>
                                      </p:cBhvr>
                                      <p:to>
                                        <p:strVal val="visible"/>
                                      </p:to>
                                    </p:set>
                                    <p:animEffect transition="in" filter="wipe(left)">
                                      <p:cBhvr>
                                        <p:cTn id="59" dur="500"/>
                                        <p:tgtEl>
                                          <p:spTgt spid="196653"/>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196638"/>
                                        </p:tgtEl>
                                        <p:attrNameLst>
                                          <p:attrName>style.visibility</p:attrName>
                                        </p:attrNameLst>
                                      </p:cBhvr>
                                      <p:to>
                                        <p:strVal val="visible"/>
                                      </p:to>
                                    </p:set>
                                    <p:animEffect transition="in" filter="wipe(left)">
                                      <p:cBhvr>
                                        <p:cTn id="64" dur="500"/>
                                        <p:tgtEl>
                                          <p:spTgt spid="196638"/>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196639"/>
                                        </p:tgtEl>
                                        <p:attrNameLst>
                                          <p:attrName>style.visibility</p:attrName>
                                        </p:attrNameLst>
                                      </p:cBhvr>
                                      <p:to>
                                        <p:strVal val="visible"/>
                                      </p:to>
                                    </p:set>
                                    <p:animEffect transition="in" filter="wipe(left)">
                                      <p:cBhvr>
                                        <p:cTn id="69" dur="500"/>
                                        <p:tgtEl>
                                          <p:spTgt spid="196639"/>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196642"/>
                                        </p:tgtEl>
                                        <p:attrNameLst>
                                          <p:attrName>style.visibility</p:attrName>
                                        </p:attrNameLst>
                                      </p:cBhvr>
                                      <p:to>
                                        <p:strVal val="visible"/>
                                      </p:to>
                                    </p:set>
                                    <p:animEffect transition="in" filter="wipe(left)">
                                      <p:cBhvr>
                                        <p:cTn id="74" dur="500"/>
                                        <p:tgtEl>
                                          <p:spTgt spid="196642"/>
                                        </p:tgtEl>
                                      </p:cBhvr>
                                    </p:animEffect>
                                  </p:childTnLst>
                                </p:cTn>
                              </p:par>
                            </p:childTnLst>
                          </p:cTn>
                        </p:par>
                        <p:par>
                          <p:cTn id="75" fill="hold">
                            <p:stCondLst>
                              <p:cond delay="500"/>
                            </p:stCondLst>
                            <p:childTnLst>
                              <p:par>
                                <p:cTn id="76" presetID="22" presetClass="entr" presetSubtype="8" fill="hold" nodeType="afterEffect">
                                  <p:stCondLst>
                                    <p:cond delay="0"/>
                                  </p:stCondLst>
                                  <p:childTnLst>
                                    <p:set>
                                      <p:cBhvr>
                                        <p:cTn id="77" dur="1" fill="hold">
                                          <p:stCondLst>
                                            <p:cond delay="0"/>
                                          </p:stCondLst>
                                        </p:cTn>
                                        <p:tgtEl>
                                          <p:spTgt spid="196643"/>
                                        </p:tgtEl>
                                        <p:attrNameLst>
                                          <p:attrName>style.visibility</p:attrName>
                                        </p:attrNameLst>
                                      </p:cBhvr>
                                      <p:to>
                                        <p:strVal val="visible"/>
                                      </p:to>
                                    </p:set>
                                    <p:animEffect transition="in" filter="wipe(left)">
                                      <p:cBhvr>
                                        <p:cTn id="78" dur="500"/>
                                        <p:tgtEl>
                                          <p:spTgt spid="196643"/>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196646"/>
                                        </p:tgtEl>
                                        <p:attrNameLst>
                                          <p:attrName>style.visibility</p:attrName>
                                        </p:attrNameLst>
                                      </p:cBhvr>
                                      <p:to>
                                        <p:strVal val="visible"/>
                                      </p:to>
                                    </p:set>
                                    <p:animEffect transition="in" filter="wipe(left)">
                                      <p:cBhvr>
                                        <p:cTn id="83" dur="500"/>
                                        <p:tgtEl>
                                          <p:spTgt spid="196646"/>
                                        </p:tgtEl>
                                      </p:cBhvr>
                                    </p:animEffect>
                                  </p:childTnLst>
                                </p:cTn>
                              </p:par>
                            </p:childTnLst>
                          </p:cTn>
                        </p:par>
                        <p:par>
                          <p:cTn id="84" fill="hold">
                            <p:stCondLst>
                              <p:cond delay="500"/>
                            </p:stCondLst>
                            <p:childTnLst>
                              <p:par>
                                <p:cTn id="85" presetID="22" presetClass="entr" presetSubtype="8" fill="hold" nodeType="afterEffect">
                                  <p:stCondLst>
                                    <p:cond delay="0"/>
                                  </p:stCondLst>
                                  <p:childTnLst>
                                    <p:set>
                                      <p:cBhvr>
                                        <p:cTn id="86" dur="1" fill="hold">
                                          <p:stCondLst>
                                            <p:cond delay="0"/>
                                          </p:stCondLst>
                                        </p:cTn>
                                        <p:tgtEl>
                                          <p:spTgt spid="196645"/>
                                        </p:tgtEl>
                                        <p:attrNameLst>
                                          <p:attrName>style.visibility</p:attrName>
                                        </p:attrNameLst>
                                      </p:cBhvr>
                                      <p:to>
                                        <p:strVal val="visible"/>
                                      </p:to>
                                    </p:set>
                                    <p:animEffect transition="in" filter="wipe(left)">
                                      <p:cBhvr>
                                        <p:cTn id="87" dur="500"/>
                                        <p:tgtEl>
                                          <p:spTgt spid="196645"/>
                                        </p:tgtEl>
                                      </p:cBhvr>
                                    </p:animEffect>
                                  </p:childTnLst>
                                </p:cTn>
                              </p:par>
                            </p:childTnLst>
                          </p:cTn>
                        </p:par>
                        <p:par>
                          <p:cTn id="88" fill="hold">
                            <p:stCondLst>
                              <p:cond delay="1000"/>
                            </p:stCondLst>
                            <p:childTnLst>
                              <p:par>
                                <p:cTn id="89" presetID="22" presetClass="entr" presetSubtype="8" fill="hold" nodeType="afterEffect">
                                  <p:stCondLst>
                                    <p:cond delay="0"/>
                                  </p:stCondLst>
                                  <p:childTnLst>
                                    <p:set>
                                      <p:cBhvr>
                                        <p:cTn id="90" dur="1" fill="hold">
                                          <p:stCondLst>
                                            <p:cond delay="0"/>
                                          </p:stCondLst>
                                        </p:cTn>
                                        <p:tgtEl>
                                          <p:spTgt spid="196644"/>
                                        </p:tgtEl>
                                        <p:attrNameLst>
                                          <p:attrName>style.visibility</p:attrName>
                                        </p:attrNameLst>
                                      </p:cBhvr>
                                      <p:to>
                                        <p:strVal val="visible"/>
                                      </p:to>
                                    </p:set>
                                    <p:animEffect transition="in" filter="wipe(left)">
                                      <p:cBhvr>
                                        <p:cTn id="91" dur="500"/>
                                        <p:tgtEl>
                                          <p:spTgt spid="196644"/>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nodeType="clickEffect">
                                  <p:stCondLst>
                                    <p:cond delay="0"/>
                                  </p:stCondLst>
                                  <p:childTnLst>
                                    <p:set>
                                      <p:cBhvr>
                                        <p:cTn id="95" dur="1" fill="hold">
                                          <p:stCondLst>
                                            <p:cond delay="0"/>
                                          </p:stCondLst>
                                        </p:cTn>
                                        <p:tgtEl>
                                          <p:spTgt spid="196640"/>
                                        </p:tgtEl>
                                        <p:attrNameLst>
                                          <p:attrName>style.visibility</p:attrName>
                                        </p:attrNameLst>
                                      </p:cBhvr>
                                      <p:to>
                                        <p:strVal val="visible"/>
                                      </p:to>
                                    </p:set>
                                    <p:animEffect transition="in" filter="wipe(left)">
                                      <p:cBhvr>
                                        <p:cTn id="96" dur="500"/>
                                        <p:tgtEl>
                                          <p:spTgt spid="196640"/>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nodeType="clickEffect">
                                  <p:stCondLst>
                                    <p:cond delay="0"/>
                                  </p:stCondLst>
                                  <p:childTnLst>
                                    <p:set>
                                      <p:cBhvr>
                                        <p:cTn id="100" dur="1" fill="hold">
                                          <p:stCondLst>
                                            <p:cond delay="0"/>
                                          </p:stCondLst>
                                        </p:cTn>
                                        <p:tgtEl>
                                          <p:spTgt spid="196652"/>
                                        </p:tgtEl>
                                        <p:attrNameLst>
                                          <p:attrName>style.visibility</p:attrName>
                                        </p:attrNameLst>
                                      </p:cBhvr>
                                      <p:to>
                                        <p:strVal val="visible"/>
                                      </p:to>
                                    </p:set>
                                    <p:animEffect transition="in" filter="wipe(left)">
                                      <p:cBhvr>
                                        <p:cTn id="101" dur="500"/>
                                        <p:tgtEl>
                                          <p:spTgt spid="196652"/>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nodeType="clickEffect">
                                  <p:stCondLst>
                                    <p:cond delay="0"/>
                                  </p:stCondLst>
                                  <p:childTnLst>
                                    <p:set>
                                      <p:cBhvr>
                                        <p:cTn id="105" dur="1" fill="hold">
                                          <p:stCondLst>
                                            <p:cond delay="0"/>
                                          </p:stCondLst>
                                        </p:cTn>
                                        <p:tgtEl>
                                          <p:spTgt spid="196641"/>
                                        </p:tgtEl>
                                        <p:attrNameLst>
                                          <p:attrName>style.visibility</p:attrName>
                                        </p:attrNameLst>
                                      </p:cBhvr>
                                      <p:to>
                                        <p:strVal val="visible"/>
                                      </p:to>
                                    </p:set>
                                    <p:animEffect transition="in" filter="wipe(left)">
                                      <p:cBhvr>
                                        <p:cTn id="106" dur="500"/>
                                        <p:tgtEl>
                                          <p:spTgt spid="1966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29" grpId="0" animBg="1"/>
      <p:bldP spid="196630" grpId="0"/>
      <p:bldP spid="196635" grpId="0" animBg="1"/>
      <p:bldP spid="19663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26012" name="Group 60"/>
          <p:cNvGrpSpPr/>
          <p:nvPr/>
        </p:nvGrpSpPr>
        <p:grpSpPr>
          <a:xfrm>
            <a:off x="542925" y="2662238"/>
            <a:ext cx="2636838" cy="392112"/>
            <a:chOff x="3657" y="2999"/>
            <a:chExt cx="1661" cy="247"/>
          </a:xfrm>
        </p:grpSpPr>
        <p:sp>
          <p:nvSpPr>
            <p:cNvPr id="50197" name="AutoShape 14"/>
            <p:cNvSpPr/>
            <p:nvPr/>
          </p:nvSpPr>
          <p:spPr>
            <a:xfrm>
              <a:off x="3657" y="2999"/>
              <a:ext cx="1661" cy="247"/>
            </a:xfrm>
            <a:prstGeom prst="wedgeRectCallout">
              <a:avLst>
                <a:gd name="adj1" fmla="val 5991"/>
                <a:gd name="adj2" fmla="val -108704"/>
              </a:avLst>
            </a:prstGeom>
            <a:solidFill>
              <a:srgbClr val="CCFFFF">
                <a:alpha val="50195"/>
              </a:srgbClr>
            </a:solidFill>
            <a:ln w="9525" cap="flat" cmpd="sng">
              <a:solidFill>
                <a:schemeClr val="tx1"/>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i="1" dirty="0">
                  <a:latin typeface="Times New Roman" panose="02020603050405020304" pitchFamily="18" charset="0"/>
                </a:rPr>
                <a:t> </a:t>
              </a:r>
              <a:endParaRPr lang="en-US" altLang="zh-CN" sz="2400" b="1" i="1" dirty="0">
                <a:latin typeface="Times New Roman" panose="02020603050405020304" pitchFamily="18" charset="0"/>
              </a:endParaRPr>
            </a:p>
          </p:txBody>
        </p:sp>
        <p:graphicFrame>
          <p:nvGraphicFramePr>
            <p:cNvPr id="50198" name="Object 59"/>
            <p:cNvGraphicFramePr>
              <a:graphicFrameLocks noChangeAspect="1"/>
            </p:cNvGraphicFramePr>
            <p:nvPr/>
          </p:nvGraphicFramePr>
          <p:xfrm>
            <a:off x="3796" y="3027"/>
            <a:ext cx="1368" cy="186"/>
          </p:xfrm>
          <a:graphic>
            <a:graphicData uri="http://schemas.openxmlformats.org/presentationml/2006/ole">
              <mc:AlternateContent xmlns:mc="http://schemas.openxmlformats.org/markup-compatibility/2006">
                <mc:Choice xmlns:v="urn:schemas-microsoft-com:vml" Requires="v">
                  <p:oleObj spid="_x0000_s3103" name="" r:id="rId1" imgW="2171700" imgH="295275" progId="Paint.Picture">
                    <p:embed/>
                  </p:oleObj>
                </mc:Choice>
                <mc:Fallback>
                  <p:oleObj name="" r:id="rId1" imgW="2171700" imgH="295275" progId="Paint.Picture">
                    <p:embed/>
                    <p:pic>
                      <p:nvPicPr>
                        <p:cNvPr id="0" name="图片 3102"/>
                        <p:cNvPicPr/>
                        <p:nvPr/>
                      </p:nvPicPr>
                      <p:blipFill>
                        <a:blip r:embed="rId2"/>
                        <a:stretch>
                          <a:fillRect/>
                        </a:stretch>
                      </p:blipFill>
                      <p:spPr>
                        <a:xfrm>
                          <a:off x="3796" y="3027"/>
                          <a:ext cx="1368" cy="186"/>
                        </a:xfrm>
                        <a:prstGeom prst="rect">
                          <a:avLst/>
                        </a:prstGeom>
                        <a:noFill/>
                        <a:ln w="38100">
                          <a:noFill/>
                          <a:miter/>
                        </a:ln>
                      </p:spPr>
                    </p:pic>
                  </p:oleObj>
                </mc:Fallback>
              </mc:AlternateContent>
            </a:graphicData>
          </a:graphic>
        </p:graphicFrame>
      </p:grpSp>
      <p:graphicFrame>
        <p:nvGraphicFramePr>
          <p:cNvPr id="125959" name="Object 7"/>
          <p:cNvGraphicFramePr>
            <a:graphicFrameLocks noChangeAspect="1"/>
          </p:cNvGraphicFramePr>
          <p:nvPr/>
        </p:nvGraphicFramePr>
        <p:xfrm>
          <a:off x="1370013" y="2005013"/>
          <a:ext cx="1438275" cy="409575"/>
        </p:xfrm>
        <a:graphic>
          <a:graphicData uri="http://schemas.openxmlformats.org/presentationml/2006/ole">
            <mc:AlternateContent xmlns:mc="http://schemas.openxmlformats.org/markup-compatibility/2006">
              <mc:Choice xmlns:v="urn:schemas-microsoft-com:vml" Requires="v">
                <p:oleObj spid="_x0000_s3104" name="" r:id="rId3" imgW="1438275" imgH="409575" progId="Paint.Picture">
                  <p:embed/>
                </p:oleObj>
              </mc:Choice>
              <mc:Fallback>
                <p:oleObj name="" r:id="rId3" imgW="1438275" imgH="409575" progId="Paint.Picture">
                  <p:embed/>
                  <p:pic>
                    <p:nvPicPr>
                      <p:cNvPr id="0" name="图片 3103"/>
                      <p:cNvPicPr/>
                      <p:nvPr/>
                    </p:nvPicPr>
                    <p:blipFill>
                      <a:blip r:embed="rId4"/>
                      <a:stretch>
                        <a:fillRect/>
                      </a:stretch>
                    </p:blipFill>
                    <p:spPr>
                      <a:xfrm>
                        <a:off x="1370013" y="2005013"/>
                        <a:ext cx="1438275" cy="409575"/>
                      </a:xfrm>
                      <a:prstGeom prst="rect">
                        <a:avLst/>
                      </a:prstGeom>
                      <a:noFill/>
                      <a:ln w="38100">
                        <a:noFill/>
                        <a:miter/>
                      </a:ln>
                    </p:spPr>
                  </p:pic>
                </p:oleObj>
              </mc:Fallback>
            </mc:AlternateContent>
          </a:graphicData>
        </a:graphic>
      </p:graphicFrame>
      <p:sp>
        <p:nvSpPr>
          <p:cNvPr id="125960" name="Text Box 8"/>
          <p:cNvSpPr txBox="1"/>
          <p:nvPr/>
        </p:nvSpPr>
        <p:spPr>
          <a:xfrm>
            <a:off x="3613150" y="1985963"/>
            <a:ext cx="180975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i="1" dirty="0">
                <a:latin typeface="Times New Roman" panose="02020603050405020304" pitchFamily="18" charset="0"/>
              </a:rPr>
              <a:t>A </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A</a:t>
            </a:r>
            <a:r>
              <a:rPr lang="en-US" altLang="zh-CN" sz="2400" b="1" i="1" dirty="0">
                <a:solidFill>
                  <a:srgbClr val="FF3300"/>
                </a:solidFill>
                <a:latin typeface="Times New Roman" panose="02020603050405020304" pitchFamily="18" charset="0"/>
              </a:rPr>
              <a:t>B </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A</a:t>
            </a:r>
            <a:r>
              <a:rPr lang="en-US" altLang="zh-CN" sz="2400" b="1" dirty="0">
                <a:latin typeface="Times New Roman" panose="02020603050405020304" pitchFamily="18" charset="0"/>
              </a:rPr>
              <a:t> </a:t>
            </a:r>
            <a:endParaRPr lang="en-US" altLang="zh-CN" sz="2400" b="1" dirty="0">
              <a:latin typeface="Times New Roman" panose="02020603050405020304" pitchFamily="18" charset="0"/>
            </a:endParaRPr>
          </a:p>
        </p:txBody>
      </p:sp>
      <p:graphicFrame>
        <p:nvGraphicFramePr>
          <p:cNvPr id="125962" name="Object 10"/>
          <p:cNvGraphicFramePr>
            <a:graphicFrameLocks noChangeAspect="1"/>
          </p:cNvGraphicFramePr>
          <p:nvPr/>
        </p:nvGraphicFramePr>
        <p:xfrm>
          <a:off x="5716588" y="2028825"/>
          <a:ext cx="1657350" cy="361950"/>
        </p:xfrm>
        <a:graphic>
          <a:graphicData uri="http://schemas.openxmlformats.org/presentationml/2006/ole">
            <mc:AlternateContent xmlns:mc="http://schemas.openxmlformats.org/markup-compatibility/2006">
              <mc:Choice xmlns:v="urn:schemas-microsoft-com:vml" Requires="v">
                <p:oleObj spid="_x0000_s3122" name="" r:id="rId5" imgW="1657350" imgH="361950" progId="Paint.Picture">
                  <p:embed/>
                </p:oleObj>
              </mc:Choice>
              <mc:Fallback>
                <p:oleObj name="" r:id="rId5" imgW="1657350" imgH="361950" progId="Paint.Picture">
                  <p:embed/>
                  <p:pic>
                    <p:nvPicPr>
                      <p:cNvPr id="0" name="图片 3121"/>
                      <p:cNvPicPr/>
                      <p:nvPr/>
                    </p:nvPicPr>
                    <p:blipFill>
                      <a:blip r:embed="rId6"/>
                      <a:stretch>
                        <a:fillRect/>
                      </a:stretch>
                    </p:blipFill>
                    <p:spPr>
                      <a:xfrm>
                        <a:off x="5716588" y="2028825"/>
                        <a:ext cx="1657350" cy="361950"/>
                      </a:xfrm>
                      <a:prstGeom prst="rect">
                        <a:avLst/>
                      </a:prstGeom>
                      <a:noFill/>
                      <a:ln w="38100">
                        <a:noFill/>
                        <a:miter/>
                      </a:ln>
                    </p:spPr>
                  </p:pic>
                </p:oleObj>
              </mc:Fallback>
            </mc:AlternateContent>
          </a:graphicData>
        </a:graphic>
      </p:graphicFrame>
      <p:sp>
        <p:nvSpPr>
          <p:cNvPr id="125965" name="AutoShape 13"/>
          <p:cNvSpPr/>
          <p:nvPr/>
        </p:nvSpPr>
        <p:spPr>
          <a:xfrm>
            <a:off x="4406900" y="3608388"/>
            <a:ext cx="3297238" cy="392112"/>
          </a:xfrm>
          <a:prstGeom prst="wedgeRectCallout">
            <a:avLst>
              <a:gd name="adj1" fmla="val -50481"/>
              <a:gd name="adj2" fmla="val -353241"/>
            </a:avLst>
          </a:prstGeom>
          <a:solidFill>
            <a:srgbClr val="CCFFFF">
              <a:alpha val="50195"/>
            </a:srgbClr>
          </a:solidFill>
          <a:ln w="9525" cap="flat" cmpd="sng">
            <a:solidFill>
              <a:schemeClr val="tx1"/>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i="1" dirty="0">
                <a:latin typeface="Times New Roman" panose="02020603050405020304" pitchFamily="18" charset="0"/>
              </a:rPr>
              <a:t> A </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A</a:t>
            </a:r>
            <a:r>
              <a:rPr lang="en-US" altLang="zh-CN" sz="2400" b="1" i="1" dirty="0">
                <a:solidFill>
                  <a:srgbClr val="FF3300"/>
                </a:solidFill>
                <a:latin typeface="Times New Roman" panose="02020603050405020304" pitchFamily="18" charset="0"/>
              </a:rPr>
              <a:t>B </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A </a:t>
            </a:r>
            <a:r>
              <a:rPr lang="en-US" altLang="zh-CN" sz="2400" b="1" dirty="0">
                <a:solidFill>
                  <a:srgbClr val="FF3300"/>
                </a:solidFill>
                <a:latin typeface="Times New Roman" panose="02020603050405020304" pitchFamily="18" charset="0"/>
              </a:rPr>
              <a:t>(1 + </a:t>
            </a:r>
            <a:r>
              <a:rPr lang="en-US" altLang="zh-CN" sz="2400" b="1" i="1" dirty="0">
                <a:solidFill>
                  <a:srgbClr val="FF3300"/>
                </a:solidFill>
                <a:latin typeface="Times New Roman" panose="02020603050405020304" pitchFamily="18" charset="0"/>
              </a:rPr>
              <a:t>B</a:t>
            </a:r>
            <a:r>
              <a:rPr lang="en-US" altLang="zh-CN" sz="2400" b="1" dirty="0">
                <a:solidFill>
                  <a:srgbClr val="FF3300"/>
                </a:solidFill>
                <a:latin typeface="Times New Roman" panose="02020603050405020304" pitchFamily="18" charset="0"/>
              </a:rPr>
              <a:t>) </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A</a:t>
            </a:r>
            <a:endParaRPr lang="en-US" altLang="zh-CN" sz="2400" b="1" i="1" dirty="0">
              <a:latin typeface="Times New Roman" panose="02020603050405020304" pitchFamily="18" charset="0"/>
            </a:endParaRPr>
          </a:p>
        </p:txBody>
      </p:sp>
      <p:grpSp>
        <p:nvGrpSpPr>
          <p:cNvPr id="125972" name="Group 20"/>
          <p:cNvGrpSpPr/>
          <p:nvPr/>
        </p:nvGrpSpPr>
        <p:grpSpPr>
          <a:xfrm>
            <a:off x="5651500" y="2665413"/>
            <a:ext cx="2689225" cy="806450"/>
            <a:chOff x="3665" y="1751"/>
            <a:chExt cx="1694" cy="508"/>
          </a:xfrm>
        </p:grpSpPr>
        <p:sp>
          <p:nvSpPr>
            <p:cNvPr id="50195" name="AutoShape 17"/>
            <p:cNvSpPr/>
            <p:nvPr/>
          </p:nvSpPr>
          <p:spPr>
            <a:xfrm>
              <a:off x="3665" y="1751"/>
              <a:ext cx="1694" cy="508"/>
            </a:xfrm>
            <a:prstGeom prst="wedgeRectCallout">
              <a:avLst>
                <a:gd name="adj1" fmla="val -27097"/>
                <a:gd name="adj2" fmla="val -80708"/>
              </a:avLst>
            </a:prstGeom>
            <a:solidFill>
              <a:srgbClr val="CCFFFF">
                <a:alpha val="50195"/>
              </a:srgbClr>
            </a:solidFill>
            <a:ln w="9525" cap="flat" cmpd="sng">
              <a:solidFill>
                <a:schemeClr val="tx1"/>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zh-CN" sz="2400" b="1" dirty="0">
                <a:latin typeface="Times New Roman" panose="02020603050405020304" pitchFamily="18" charset="0"/>
              </a:endParaRPr>
            </a:p>
          </p:txBody>
        </p:sp>
        <p:graphicFrame>
          <p:nvGraphicFramePr>
            <p:cNvPr id="50196" name="Object 18"/>
            <p:cNvGraphicFramePr>
              <a:graphicFrameLocks noChangeAspect="1"/>
            </p:cNvGraphicFramePr>
            <p:nvPr/>
          </p:nvGraphicFramePr>
          <p:xfrm>
            <a:off x="3673" y="1808"/>
            <a:ext cx="1674" cy="420"/>
          </p:xfrm>
          <a:graphic>
            <a:graphicData uri="http://schemas.openxmlformats.org/presentationml/2006/ole">
              <mc:AlternateContent xmlns:mc="http://schemas.openxmlformats.org/markup-compatibility/2006">
                <mc:Choice xmlns:v="urn:schemas-microsoft-com:vml" Requires="v">
                  <p:oleObj spid="_x0000_s3158" name="" r:id="rId7" imgW="2657475" imgH="666750" progId="Paint.Picture">
                    <p:embed/>
                  </p:oleObj>
                </mc:Choice>
                <mc:Fallback>
                  <p:oleObj name="" r:id="rId7" imgW="2657475" imgH="666750" progId="Paint.Picture">
                    <p:embed/>
                    <p:pic>
                      <p:nvPicPr>
                        <p:cNvPr id="0" name="图片 3157"/>
                        <p:cNvPicPr/>
                        <p:nvPr/>
                      </p:nvPicPr>
                      <p:blipFill>
                        <a:blip r:embed="rId8"/>
                        <a:stretch>
                          <a:fillRect/>
                        </a:stretch>
                      </p:blipFill>
                      <p:spPr>
                        <a:xfrm>
                          <a:off x="3673" y="1808"/>
                          <a:ext cx="1674" cy="420"/>
                        </a:xfrm>
                        <a:prstGeom prst="rect">
                          <a:avLst/>
                        </a:prstGeom>
                        <a:solidFill>
                          <a:srgbClr val="CCFFFF"/>
                        </a:solidFill>
                        <a:ln w="38100">
                          <a:noFill/>
                          <a:miter/>
                        </a:ln>
                      </p:spPr>
                    </p:pic>
                  </p:oleObj>
                </mc:Fallback>
              </mc:AlternateContent>
            </a:graphicData>
          </a:graphic>
        </p:graphicFrame>
      </p:grpSp>
      <p:graphicFrame>
        <p:nvGraphicFramePr>
          <p:cNvPr id="125964" name="Object 12"/>
          <p:cNvGraphicFramePr>
            <a:graphicFrameLocks noChangeAspect="1"/>
          </p:cNvGraphicFramePr>
          <p:nvPr/>
        </p:nvGraphicFramePr>
        <p:xfrm>
          <a:off x="1373188" y="3235325"/>
          <a:ext cx="2867025" cy="333375"/>
        </p:xfrm>
        <a:graphic>
          <a:graphicData uri="http://schemas.openxmlformats.org/presentationml/2006/ole">
            <mc:AlternateContent xmlns:mc="http://schemas.openxmlformats.org/markup-compatibility/2006">
              <mc:Choice xmlns:v="urn:schemas-microsoft-com:vml" Requires="v">
                <p:oleObj spid="_x0000_s3105" name="" r:id="rId9" imgW="2867025" imgH="333375" progId="Paint.Picture">
                  <p:embed/>
                </p:oleObj>
              </mc:Choice>
              <mc:Fallback>
                <p:oleObj name="" r:id="rId9" imgW="2867025" imgH="333375" progId="Paint.Picture">
                  <p:embed/>
                  <p:pic>
                    <p:nvPicPr>
                      <p:cNvPr id="0" name="图片 3104"/>
                      <p:cNvPicPr/>
                      <p:nvPr/>
                    </p:nvPicPr>
                    <p:blipFill>
                      <a:blip r:embed="rId10"/>
                      <a:stretch>
                        <a:fillRect/>
                      </a:stretch>
                    </p:blipFill>
                    <p:spPr>
                      <a:xfrm>
                        <a:off x="1373188" y="3235325"/>
                        <a:ext cx="2867025" cy="333375"/>
                      </a:xfrm>
                      <a:prstGeom prst="rect">
                        <a:avLst/>
                      </a:prstGeom>
                      <a:noFill/>
                      <a:ln w="38100">
                        <a:noFill/>
                        <a:miter/>
                      </a:ln>
                    </p:spPr>
                  </p:pic>
                </p:oleObj>
              </mc:Fallback>
            </mc:AlternateContent>
          </a:graphicData>
        </a:graphic>
      </p:graphicFrame>
      <p:sp>
        <p:nvSpPr>
          <p:cNvPr id="125973" name="AutoShape 21"/>
          <p:cNvSpPr/>
          <p:nvPr/>
        </p:nvSpPr>
        <p:spPr>
          <a:xfrm>
            <a:off x="1309688" y="4181475"/>
            <a:ext cx="4559300" cy="1444625"/>
          </a:xfrm>
          <a:prstGeom prst="wedgeRectCallout">
            <a:avLst>
              <a:gd name="adj1" fmla="val -18491"/>
              <a:gd name="adj2" fmla="val -71870"/>
            </a:avLst>
          </a:prstGeom>
          <a:solidFill>
            <a:srgbClr val="CCFFFF">
              <a:alpha val="50195"/>
            </a:srgbClr>
          </a:solidFill>
          <a:ln w="9525" cap="flat" cmpd="sng">
            <a:solidFill>
              <a:schemeClr val="tx1"/>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i="1" dirty="0">
                <a:latin typeface="Times New Roman" panose="02020603050405020304" pitchFamily="18" charset="0"/>
              </a:rPr>
              <a:t> </a:t>
            </a:r>
            <a:endParaRPr lang="en-US" altLang="zh-CN" sz="2400" b="1" i="1" dirty="0">
              <a:latin typeface="Times New Roman" panose="02020603050405020304" pitchFamily="18" charset="0"/>
            </a:endParaRPr>
          </a:p>
        </p:txBody>
      </p:sp>
      <p:graphicFrame>
        <p:nvGraphicFramePr>
          <p:cNvPr id="125975" name="Object 23"/>
          <p:cNvGraphicFramePr>
            <a:graphicFrameLocks noChangeAspect="1"/>
          </p:cNvGraphicFramePr>
          <p:nvPr/>
        </p:nvGraphicFramePr>
        <p:xfrm>
          <a:off x="1360488" y="4213225"/>
          <a:ext cx="4181475" cy="371475"/>
        </p:xfrm>
        <a:graphic>
          <a:graphicData uri="http://schemas.openxmlformats.org/presentationml/2006/ole">
            <mc:AlternateContent xmlns:mc="http://schemas.openxmlformats.org/markup-compatibility/2006">
              <mc:Choice xmlns:v="urn:schemas-microsoft-com:vml" Requires="v">
                <p:oleObj spid="_x0000_s3110" name="" r:id="rId11" imgW="4181475" imgH="371475" progId="Paint.Picture">
                  <p:embed/>
                </p:oleObj>
              </mc:Choice>
              <mc:Fallback>
                <p:oleObj name="" r:id="rId11" imgW="4181475" imgH="371475" progId="Paint.Picture">
                  <p:embed/>
                  <p:pic>
                    <p:nvPicPr>
                      <p:cNvPr id="0" name="图片 3109"/>
                      <p:cNvPicPr/>
                      <p:nvPr/>
                    </p:nvPicPr>
                    <p:blipFill>
                      <a:blip r:embed="rId12"/>
                      <a:stretch>
                        <a:fillRect/>
                      </a:stretch>
                    </p:blipFill>
                    <p:spPr>
                      <a:xfrm>
                        <a:off x="1360488" y="4213225"/>
                        <a:ext cx="4181475" cy="371475"/>
                      </a:xfrm>
                      <a:prstGeom prst="rect">
                        <a:avLst/>
                      </a:prstGeom>
                      <a:noFill/>
                      <a:ln w="38100">
                        <a:noFill/>
                        <a:miter/>
                      </a:ln>
                    </p:spPr>
                  </p:pic>
                </p:oleObj>
              </mc:Fallback>
            </mc:AlternateContent>
          </a:graphicData>
        </a:graphic>
      </p:graphicFrame>
      <p:graphicFrame>
        <p:nvGraphicFramePr>
          <p:cNvPr id="125977" name="Object 25"/>
          <p:cNvGraphicFramePr>
            <a:graphicFrameLocks noChangeAspect="1"/>
          </p:cNvGraphicFramePr>
          <p:nvPr/>
        </p:nvGraphicFramePr>
        <p:xfrm>
          <a:off x="2986088" y="4613275"/>
          <a:ext cx="2857500" cy="285750"/>
        </p:xfrm>
        <a:graphic>
          <a:graphicData uri="http://schemas.openxmlformats.org/presentationml/2006/ole">
            <mc:AlternateContent xmlns:mc="http://schemas.openxmlformats.org/markup-compatibility/2006">
              <mc:Choice xmlns:v="urn:schemas-microsoft-com:vml" Requires="v">
                <p:oleObj spid="_x0000_s3159" name="" r:id="rId13" imgW="2857500" imgH="285750" progId="Paint.Picture">
                  <p:embed/>
                </p:oleObj>
              </mc:Choice>
              <mc:Fallback>
                <p:oleObj name="" r:id="rId13" imgW="2857500" imgH="285750" progId="Paint.Picture">
                  <p:embed/>
                  <p:pic>
                    <p:nvPicPr>
                      <p:cNvPr id="0" name="图片 3158"/>
                      <p:cNvPicPr/>
                      <p:nvPr/>
                    </p:nvPicPr>
                    <p:blipFill>
                      <a:blip r:embed="rId14"/>
                      <a:stretch>
                        <a:fillRect/>
                      </a:stretch>
                    </p:blipFill>
                    <p:spPr>
                      <a:xfrm>
                        <a:off x="2986088" y="4613275"/>
                        <a:ext cx="2857500" cy="285750"/>
                      </a:xfrm>
                      <a:prstGeom prst="rect">
                        <a:avLst/>
                      </a:prstGeom>
                      <a:noFill/>
                      <a:ln w="38100">
                        <a:noFill/>
                        <a:miter/>
                      </a:ln>
                    </p:spPr>
                  </p:pic>
                </p:oleObj>
              </mc:Fallback>
            </mc:AlternateContent>
          </a:graphicData>
        </a:graphic>
      </p:graphicFrame>
      <p:graphicFrame>
        <p:nvGraphicFramePr>
          <p:cNvPr id="125979" name="Object 27"/>
          <p:cNvGraphicFramePr>
            <a:graphicFrameLocks noChangeAspect="1"/>
          </p:cNvGraphicFramePr>
          <p:nvPr/>
        </p:nvGraphicFramePr>
        <p:xfrm>
          <a:off x="3001963" y="4989513"/>
          <a:ext cx="2657475" cy="352425"/>
        </p:xfrm>
        <a:graphic>
          <a:graphicData uri="http://schemas.openxmlformats.org/presentationml/2006/ole">
            <mc:AlternateContent xmlns:mc="http://schemas.openxmlformats.org/markup-compatibility/2006">
              <mc:Choice xmlns:v="urn:schemas-microsoft-com:vml" Requires="v">
                <p:oleObj spid="_x0000_s3123" name="" r:id="rId15" imgW="2657475" imgH="352425" progId="Paint.Picture">
                  <p:embed/>
                </p:oleObj>
              </mc:Choice>
              <mc:Fallback>
                <p:oleObj name="" r:id="rId15" imgW="2657475" imgH="352425" progId="Paint.Picture">
                  <p:embed/>
                  <p:pic>
                    <p:nvPicPr>
                      <p:cNvPr id="0" name="图片 3122"/>
                      <p:cNvPicPr/>
                      <p:nvPr/>
                    </p:nvPicPr>
                    <p:blipFill>
                      <a:blip r:embed="rId16"/>
                      <a:stretch>
                        <a:fillRect/>
                      </a:stretch>
                    </p:blipFill>
                    <p:spPr>
                      <a:xfrm>
                        <a:off x="3001963" y="4989513"/>
                        <a:ext cx="2657475" cy="352425"/>
                      </a:xfrm>
                      <a:prstGeom prst="rect">
                        <a:avLst/>
                      </a:prstGeom>
                      <a:noFill/>
                      <a:ln w="38100">
                        <a:noFill/>
                        <a:miter/>
                      </a:ln>
                    </p:spPr>
                  </p:pic>
                </p:oleObj>
              </mc:Fallback>
            </mc:AlternateContent>
          </a:graphicData>
        </a:graphic>
      </p:graphicFrame>
      <p:graphicFrame>
        <p:nvGraphicFramePr>
          <p:cNvPr id="125980" name="Object 28"/>
          <p:cNvGraphicFramePr>
            <a:graphicFrameLocks noChangeAspect="1"/>
          </p:cNvGraphicFramePr>
          <p:nvPr/>
        </p:nvGraphicFramePr>
        <p:xfrm>
          <a:off x="3006725" y="5307013"/>
          <a:ext cx="1228725" cy="304800"/>
        </p:xfrm>
        <a:graphic>
          <a:graphicData uri="http://schemas.openxmlformats.org/presentationml/2006/ole">
            <mc:AlternateContent xmlns:mc="http://schemas.openxmlformats.org/markup-compatibility/2006">
              <mc:Choice xmlns:v="urn:schemas-microsoft-com:vml" Requires="v">
                <p:oleObj spid="_x0000_s3138" name="" r:id="rId17" imgW="1228725" imgH="304800" progId="Paint.Picture">
                  <p:embed/>
                </p:oleObj>
              </mc:Choice>
              <mc:Fallback>
                <p:oleObj name="" r:id="rId17" imgW="1228725" imgH="304800" progId="Paint.Picture">
                  <p:embed/>
                  <p:pic>
                    <p:nvPicPr>
                      <p:cNvPr id="0" name="图片 3137"/>
                      <p:cNvPicPr/>
                      <p:nvPr/>
                    </p:nvPicPr>
                    <p:blipFill>
                      <a:blip r:embed="rId18"/>
                      <a:stretch>
                        <a:fillRect/>
                      </a:stretch>
                    </p:blipFill>
                    <p:spPr>
                      <a:xfrm>
                        <a:off x="3006725" y="5307013"/>
                        <a:ext cx="1228725" cy="304800"/>
                      </a:xfrm>
                      <a:prstGeom prst="rect">
                        <a:avLst/>
                      </a:prstGeom>
                      <a:noFill/>
                      <a:ln w="38100">
                        <a:noFill/>
                        <a:miter/>
                      </a:ln>
                    </p:spPr>
                  </p:pic>
                </p:oleObj>
              </mc:Fallback>
            </mc:AlternateContent>
          </a:graphicData>
        </a:graphic>
      </p:graphicFrame>
      <p:sp>
        <p:nvSpPr>
          <p:cNvPr id="126004" name="Line 52"/>
          <p:cNvSpPr/>
          <p:nvPr/>
        </p:nvSpPr>
        <p:spPr>
          <a:xfrm>
            <a:off x="4319588" y="4562475"/>
            <a:ext cx="1181100" cy="0"/>
          </a:xfrm>
          <a:prstGeom prst="line">
            <a:avLst/>
          </a:prstGeom>
          <a:ln w="28575" cap="flat" cmpd="sng">
            <a:solidFill>
              <a:schemeClr val="accent1"/>
            </a:solidFill>
            <a:prstDash val="solid"/>
            <a:headEnd type="none" w="med" len="med"/>
            <a:tailEnd type="none" w="med" len="med"/>
          </a:ln>
        </p:spPr>
      </p:sp>
      <p:sp>
        <p:nvSpPr>
          <p:cNvPr id="126005" name="Line 53"/>
          <p:cNvSpPr/>
          <p:nvPr/>
        </p:nvSpPr>
        <p:spPr>
          <a:xfrm>
            <a:off x="3163888" y="4943475"/>
            <a:ext cx="406400" cy="0"/>
          </a:xfrm>
          <a:prstGeom prst="line">
            <a:avLst/>
          </a:prstGeom>
          <a:ln w="28575" cap="flat" cmpd="sng">
            <a:solidFill>
              <a:schemeClr val="accent1"/>
            </a:solidFill>
            <a:prstDash val="solid"/>
            <a:headEnd type="none" w="med" len="med"/>
            <a:tailEnd type="none" w="med" len="med"/>
          </a:ln>
        </p:spPr>
      </p:sp>
      <p:sp>
        <p:nvSpPr>
          <p:cNvPr id="126006" name="Line 54"/>
          <p:cNvSpPr/>
          <p:nvPr/>
        </p:nvSpPr>
        <p:spPr>
          <a:xfrm>
            <a:off x="4344988" y="4943475"/>
            <a:ext cx="635000" cy="0"/>
          </a:xfrm>
          <a:prstGeom prst="line">
            <a:avLst/>
          </a:prstGeom>
          <a:ln w="28575" cap="flat" cmpd="sng">
            <a:solidFill>
              <a:schemeClr val="accent1"/>
            </a:solidFill>
            <a:prstDash val="solid"/>
            <a:headEnd type="none" w="med" len="med"/>
            <a:tailEnd type="none" w="med" len="med"/>
          </a:ln>
        </p:spPr>
      </p:sp>
      <p:sp>
        <p:nvSpPr>
          <p:cNvPr id="126007" name="Line 55"/>
          <p:cNvSpPr/>
          <p:nvPr/>
        </p:nvSpPr>
        <p:spPr>
          <a:xfrm>
            <a:off x="3748088" y="4943475"/>
            <a:ext cx="482600" cy="0"/>
          </a:xfrm>
          <a:prstGeom prst="line">
            <a:avLst/>
          </a:prstGeom>
          <a:ln w="28575" cap="flat" cmpd="sng">
            <a:solidFill>
              <a:srgbClr val="0033CC"/>
            </a:solidFill>
            <a:prstDash val="solid"/>
            <a:headEnd type="none" w="med" len="med"/>
            <a:tailEnd type="none" w="med" len="med"/>
          </a:ln>
        </p:spPr>
      </p:sp>
      <p:sp>
        <p:nvSpPr>
          <p:cNvPr id="126008" name="Line 56"/>
          <p:cNvSpPr/>
          <p:nvPr/>
        </p:nvSpPr>
        <p:spPr>
          <a:xfrm>
            <a:off x="5068888" y="4943475"/>
            <a:ext cx="723900" cy="0"/>
          </a:xfrm>
          <a:prstGeom prst="line">
            <a:avLst/>
          </a:prstGeom>
          <a:ln w="28575" cap="flat" cmpd="sng">
            <a:solidFill>
              <a:srgbClr val="0033CC"/>
            </a:solidFill>
            <a:prstDash val="solid"/>
            <a:headEnd type="none" w="med" len="med"/>
            <a:tailEnd type="none" w="med" len="med"/>
          </a:ln>
        </p:spPr>
      </p:sp>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5959"/>
                                        </p:tgtEl>
                                        <p:attrNameLst>
                                          <p:attrName>style.visibility</p:attrName>
                                        </p:attrNameLst>
                                      </p:cBhvr>
                                      <p:to>
                                        <p:strVal val="visible"/>
                                      </p:to>
                                    </p:set>
                                    <p:animEffect transition="in" filter="wipe(left)">
                                      <p:cBhvr>
                                        <p:cTn id="7" dur="500"/>
                                        <p:tgtEl>
                                          <p:spTgt spid="125959"/>
                                        </p:tgtEl>
                                      </p:cBhvr>
                                    </p:animEffect>
                                  </p:childTnLst>
                                </p:cTn>
                              </p:par>
                            </p:childTnLst>
                          </p:cTn>
                        </p:par>
                        <p:par>
                          <p:cTn id="8" fill="hold">
                            <p:stCondLst>
                              <p:cond delay="500"/>
                            </p:stCondLst>
                            <p:childTnLst>
                              <p:par>
                                <p:cTn id="9" presetID="2" presetClass="entr" presetSubtype="8" fill="hold" nodeType="afterEffect">
                                  <p:stCondLst>
                                    <p:cond delay="0"/>
                                  </p:stCondLst>
                                  <p:childTnLst>
                                    <p:set>
                                      <p:cBhvr>
                                        <p:cTn id="10" dur="1" fill="hold">
                                          <p:stCondLst>
                                            <p:cond delay="0"/>
                                          </p:stCondLst>
                                        </p:cTn>
                                        <p:tgtEl>
                                          <p:spTgt spid="126012"/>
                                        </p:tgtEl>
                                        <p:attrNameLst>
                                          <p:attrName>style.visibility</p:attrName>
                                        </p:attrNameLst>
                                      </p:cBhvr>
                                      <p:to>
                                        <p:strVal val="visible"/>
                                      </p:to>
                                    </p:set>
                                    <p:anim calcmode="lin" valueType="num">
                                      <p:cBhvr additive="base">
                                        <p:cTn id="11" dur="500" fill="hold"/>
                                        <p:tgtEl>
                                          <p:spTgt spid="126012"/>
                                        </p:tgtEl>
                                        <p:attrNameLst>
                                          <p:attrName>ppt_x</p:attrName>
                                        </p:attrNameLst>
                                      </p:cBhvr>
                                      <p:tavLst>
                                        <p:tav tm="0">
                                          <p:val>
                                            <p:strVal val="0-#ppt_w/2"/>
                                          </p:val>
                                        </p:tav>
                                        <p:tav tm="100000">
                                          <p:val>
                                            <p:strVal val="#ppt_x"/>
                                          </p:val>
                                        </p:tav>
                                      </p:tavLst>
                                    </p:anim>
                                    <p:anim calcmode="lin" valueType="num">
                                      <p:cBhvr additive="base">
                                        <p:cTn id="12" dur="500" fill="hold"/>
                                        <p:tgtEl>
                                          <p:spTgt spid="126012"/>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26012"/>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5960"/>
                                        </p:tgtEl>
                                        <p:attrNameLst>
                                          <p:attrName>style.visibility</p:attrName>
                                        </p:attrNameLst>
                                      </p:cBhvr>
                                      <p:to>
                                        <p:strVal val="visible"/>
                                      </p:to>
                                    </p:set>
                                    <p:animEffect transition="in" filter="wipe(left)">
                                      <p:cBhvr>
                                        <p:cTn id="17" dur="500"/>
                                        <p:tgtEl>
                                          <p:spTgt spid="125960"/>
                                        </p:tgtEl>
                                      </p:cBhvr>
                                    </p:animEffect>
                                  </p:childTnLst>
                                </p:cTn>
                              </p:par>
                            </p:childTnLst>
                          </p:cTn>
                        </p:par>
                        <p:par>
                          <p:cTn id="18" fill="hold">
                            <p:stCondLst>
                              <p:cond delay="500"/>
                            </p:stCondLst>
                            <p:childTnLst>
                              <p:par>
                                <p:cTn id="19" presetID="2" presetClass="entr" presetSubtype="2" fill="hold" grpId="0" nodeType="afterEffect">
                                  <p:stCondLst>
                                    <p:cond delay="0"/>
                                  </p:stCondLst>
                                  <p:childTnLst>
                                    <p:set>
                                      <p:cBhvr>
                                        <p:cTn id="20" dur="1" fill="hold">
                                          <p:stCondLst>
                                            <p:cond delay="0"/>
                                          </p:stCondLst>
                                        </p:cTn>
                                        <p:tgtEl>
                                          <p:spTgt spid="125965"/>
                                        </p:tgtEl>
                                        <p:attrNameLst>
                                          <p:attrName>style.visibility</p:attrName>
                                        </p:attrNameLst>
                                      </p:cBhvr>
                                      <p:to>
                                        <p:strVal val="visible"/>
                                      </p:to>
                                    </p:set>
                                    <p:anim calcmode="lin" valueType="num">
                                      <p:cBhvr additive="base">
                                        <p:cTn id="21" dur="500" fill="hold"/>
                                        <p:tgtEl>
                                          <p:spTgt spid="125965"/>
                                        </p:tgtEl>
                                        <p:attrNameLst>
                                          <p:attrName>ppt_x</p:attrName>
                                        </p:attrNameLst>
                                      </p:cBhvr>
                                      <p:tavLst>
                                        <p:tav tm="0">
                                          <p:val>
                                            <p:strVal val="1+#ppt_w/2"/>
                                          </p:val>
                                        </p:tav>
                                        <p:tav tm="100000">
                                          <p:val>
                                            <p:strVal val="#ppt_x"/>
                                          </p:val>
                                        </p:tav>
                                      </p:tavLst>
                                    </p:anim>
                                    <p:anim calcmode="lin" valueType="num">
                                      <p:cBhvr additive="base">
                                        <p:cTn id="22" dur="500" fill="hold"/>
                                        <p:tgtEl>
                                          <p:spTgt spid="125965"/>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25965"/>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25962"/>
                                        </p:tgtEl>
                                        <p:attrNameLst>
                                          <p:attrName>style.visibility</p:attrName>
                                        </p:attrNameLst>
                                      </p:cBhvr>
                                      <p:to>
                                        <p:strVal val="visible"/>
                                      </p:to>
                                    </p:set>
                                    <p:animEffect transition="in" filter="wipe(left)">
                                      <p:cBhvr>
                                        <p:cTn id="27" dur="500"/>
                                        <p:tgtEl>
                                          <p:spTgt spid="125962"/>
                                        </p:tgtEl>
                                      </p:cBhvr>
                                    </p:animEffect>
                                  </p:childTnLst>
                                </p:cTn>
                              </p:par>
                            </p:childTnLst>
                          </p:cTn>
                        </p:par>
                        <p:par>
                          <p:cTn id="28" fill="hold">
                            <p:stCondLst>
                              <p:cond delay="500"/>
                            </p:stCondLst>
                            <p:childTnLst>
                              <p:par>
                                <p:cTn id="29" presetID="2" presetClass="entr" presetSubtype="2" fill="hold" nodeType="afterEffect">
                                  <p:stCondLst>
                                    <p:cond delay="0"/>
                                  </p:stCondLst>
                                  <p:childTnLst>
                                    <p:set>
                                      <p:cBhvr>
                                        <p:cTn id="30" dur="1" fill="hold">
                                          <p:stCondLst>
                                            <p:cond delay="0"/>
                                          </p:stCondLst>
                                        </p:cTn>
                                        <p:tgtEl>
                                          <p:spTgt spid="125972"/>
                                        </p:tgtEl>
                                        <p:attrNameLst>
                                          <p:attrName>style.visibility</p:attrName>
                                        </p:attrNameLst>
                                      </p:cBhvr>
                                      <p:to>
                                        <p:strVal val="visible"/>
                                      </p:to>
                                    </p:set>
                                    <p:anim calcmode="lin" valueType="num">
                                      <p:cBhvr additive="base">
                                        <p:cTn id="31" dur="500" fill="hold"/>
                                        <p:tgtEl>
                                          <p:spTgt spid="125972"/>
                                        </p:tgtEl>
                                        <p:attrNameLst>
                                          <p:attrName>ppt_x</p:attrName>
                                        </p:attrNameLst>
                                      </p:cBhvr>
                                      <p:tavLst>
                                        <p:tav tm="0">
                                          <p:val>
                                            <p:strVal val="1+#ppt_w/2"/>
                                          </p:val>
                                        </p:tav>
                                        <p:tav tm="100000">
                                          <p:val>
                                            <p:strVal val="#ppt_x"/>
                                          </p:val>
                                        </p:tav>
                                      </p:tavLst>
                                    </p:anim>
                                    <p:anim calcmode="lin" valueType="num">
                                      <p:cBhvr additive="base">
                                        <p:cTn id="32" dur="500" fill="hold"/>
                                        <p:tgtEl>
                                          <p:spTgt spid="125972"/>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25972"/>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25964"/>
                                        </p:tgtEl>
                                        <p:attrNameLst>
                                          <p:attrName>style.visibility</p:attrName>
                                        </p:attrNameLst>
                                      </p:cBhvr>
                                      <p:to>
                                        <p:strVal val="visible"/>
                                      </p:to>
                                    </p:set>
                                    <p:animEffect transition="in" filter="wipe(left)">
                                      <p:cBhvr>
                                        <p:cTn id="37" dur="500"/>
                                        <p:tgtEl>
                                          <p:spTgt spid="125964"/>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12" fill="hold" grpId="0" nodeType="clickEffect">
                                  <p:stCondLst>
                                    <p:cond delay="0"/>
                                  </p:stCondLst>
                                  <p:childTnLst>
                                    <p:set>
                                      <p:cBhvr>
                                        <p:cTn id="41" dur="1" fill="hold">
                                          <p:stCondLst>
                                            <p:cond delay="0"/>
                                          </p:stCondLst>
                                        </p:cTn>
                                        <p:tgtEl>
                                          <p:spTgt spid="125973"/>
                                        </p:tgtEl>
                                        <p:attrNameLst>
                                          <p:attrName>style.visibility</p:attrName>
                                        </p:attrNameLst>
                                      </p:cBhvr>
                                      <p:to>
                                        <p:strVal val="visible"/>
                                      </p:to>
                                    </p:set>
                                    <p:anim calcmode="lin" valueType="num">
                                      <p:cBhvr additive="base">
                                        <p:cTn id="42" dur="500" fill="hold"/>
                                        <p:tgtEl>
                                          <p:spTgt spid="125973"/>
                                        </p:tgtEl>
                                        <p:attrNameLst>
                                          <p:attrName>ppt_x</p:attrName>
                                        </p:attrNameLst>
                                      </p:cBhvr>
                                      <p:tavLst>
                                        <p:tav tm="0">
                                          <p:val>
                                            <p:strVal val="0-#ppt_w/2"/>
                                          </p:val>
                                        </p:tav>
                                        <p:tav tm="100000">
                                          <p:val>
                                            <p:strVal val="#ppt_x"/>
                                          </p:val>
                                        </p:tav>
                                      </p:tavLst>
                                    </p:anim>
                                    <p:anim calcmode="lin" valueType="num">
                                      <p:cBhvr additive="base">
                                        <p:cTn id="43" dur="500" fill="hold"/>
                                        <p:tgtEl>
                                          <p:spTgt spid="125973"/>
                                        </p:tgtEl>
                                        <p:attrNameLst>
                                          <p:attrName>ppt_y</p:attrName>
                                        </p:attrNameLst>
                                      </p:cBhvr>
                                      <p:tavLst>
                                        <p:tav tm="0">
                                          <p:val>
                                            <p:strVal val="1+#ppt_h/2"/>
                                          </p:val>
                                        </p:tav>
                                        <p:tav tm="100000">
                                          <p:val>
                                            <p:strVal val="#ppt_y"/>
                                          </p:val>
                                        </p:tav>
                                      </p:tavLst>
                                    </p:anim>
                                  </p:childTnLst>
                                </p:cTn>
                              </p:par>
                            </p:childTnLst>
                          </p:cTn>
                        </p:par>
                        <p:par>
                          <p:cTn id="44" fill="hold">
                            <p:stCondLst>
                              <p:cond delay="500"/>
                            </p:stCondLst>
                            <p:childTnLst>
                              <p:par>
                                <p:cTn id="45" presetID="22" presetClass="entr" presetSubtype="8" fill="hold" nodeType="afterEffect">
                                  <p:stCondLst>
                                    <p:cond delay="0"/>
                                  </p:stCondLst>
                                  <p:childTnLst>
                                    <p:set>
                                      <p:cBhvr>
                                        <p:cTn id="46" dur="1" fill="hold">
                                          <p:stCondLst>
                                            <p:cond delay="0"/>
                                          </p:stCondLst>
                                        </p:cTn>
                                        <p:tgtEl>
                                          <p:spTgt spid="125975"/>
                                        </p:tgtEl>
                                        <p:attrNameLst>
                                          <p:attrName>style.visibility</p:attrName>
                                        </p:attrNameLst>
                                      </p:cBhvr>
                                      <p:to>
                                        <p:strVal val="visible"/>
                                      </p:to>
                                    </p:set>
                                    <p:animEffect transition="in" filter="wipe(left)">
                                      <p:cBhvr>
                                        <p:cTn id="47" dur="500"/>
                                        <p:tgtEl>
                                          <p:spTgt spid="12597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26004"/>
                                        </p:tgtEl>
                                        <p:attrNameLst>
                                          <p:attrName>style.visibility</p:attrName>
                                        </p:attrNameLst>
                                      </p:cBhvr>
                                      <p:to>
                                        <p:strVal val="visible"/>
                                      </p:to>
                                    </p:set>
                                    <p:animEffect transition="in" filter="wipe(left)">
                                      <p:cBhvr>
                                        <p:cTn id="52" dur="500"/>
                                        <p:tgtEl>
                                          <p:spTgt spid="12600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25977"/>
                                        </p:tgtEl>
                                        <p:attrNameLst>
                                          <p:attrName>style.visibility</p:attrName>
                                        </p:attrNameLst>
                                      </p:cBhvr>
                                      <p:to>
                                        <p:strVal val="visible"/>
                                      </p:to>
                                    </p:set>
                                    <p:animEffect transition="in" filter="wipe(left)">
                                      <p:cBhvr>
                                        <p:cTn id="57" dur="500"/>
                                        <p:tgtEl>
                                          <p:spTgt spid="12597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26005"/>
                                        </p:tgtEl>
                                        <p:attrNameLst>
                                          <p:attrName>style.visibility</p:attrName>
                                        </p:attrNameLst>
                                      </p:cBhvr>
                                      <p:to>
                                        <p:strVal val="visible"/>
                                      </p:to>
                                    </p:set>
                                    <p:animEffect transition="in" filter="wipe(left)">
                                      <p:cBhvr>
                                        <p:cTn id="62" dur="500"/>
                                        <p:tgtEl>
                                          <p:spTgt spid="126005"/>
                                        </p:tgtEl>
                                      </p:cBhvr>
                                    </p:animEffect>
                                  </p:childTnLst>
                                </p:cTn>
                              </p:par>
                            </p:childTnLst>
                          </p:cTn>
                        </p:par>
                        <p:par>
                          <p:cTn id="63" fill="hold">
                            <p:stCondLst>
                              <p:cond delay="500"/>
                            </p:stCondLst>
                            <p:childTnLst>
                              <p:par>
                                <p:cTn id="64" presetID="22" presetClass="entr" presetSubtype="8" fill="hold" nodeType="afterEffect">
                                  <p:stCondLst>
                                    <p:cond delay="0"/>
                                  </p:stCondLst>
                                  <p:childTnLst>
                                    <p:set>
                                      <p:cBhvr>
                                        <p:cTn id="65" dur="1" fill="hold">
                                          <p:stCondLst>
                                            <p:cond delay="0"/>
                                          </p:stCondLst>
                                        </p:cTn>
                                        <p:tgtEl>
                                          <p:spTgt spid="126006"/>
                                        </p:tgtEl>
                                        <p:attrNameLst>
                                          <p:attrName>style.visibility</p:attrName>
                                        </p:attrNameLst>
                                      </p:cBhvr>
                                      <p:to>
                                        <p:strVal val="visible"/>
                                      </p:to>
                                    </p:set>
                                    <p:animEffect transition="in" filter="wipe(left)">
                                      <p:cBhvr>
                                        <p:cTn id="66" dur="500"/>
                                        <p:tgtEl>
                                          <p:spTgt spid="126006"/>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126007"/>
                                        </p:tgtEl>
                                        <p:attrNameLst>
                                          <p:attrName>style.visibility</p:attrName>
                                        </p:attrNameLst>
                                      </p:cBhvr>
                                      <p:to>
                                        <p:strVal val="visible"/>
                                      </p:to>
                                    </p:set>
                                    <p:animEffect transition="in" filter="wipe(left)">
                                      <p:cBhvr>
                                        <p:cTn id="71" dur="500"/>
                                        <p:tgtEl>
                                          <p:spTgt spid="126007"/>
                                        </p:tgtEl>
                                      </p:cBhvr>
                                    </p:animEffect>
                                  </p:childTnLst>
                                </p:cTn>
                              </p:par>
                            </p:childTnLst>
                          </p:cTn>
                        </p:par>
                        <p:par>
                          <p:cTn id="72" fill="hold">
                            <p:stCondLst>
                              <p:cond delay="500"/>
                            </p:stCondLst>
                            <p:childTnLst>
                              <p:par>
                                <p:cTn id="73" presetID="22" presetClass="entr" presetSubtype="8" fill="hold" nodeType="afterEffect">
                                  <p:stCondLst>
                                    <p:cond delay="0"/>
                                  </p:stCondLst>
                                  <p:childTnLst>
                                    <p:set>
                                      <p:cBhvr>
                                        <p:cTn id="74" dur="1" fill="hold">
                                          <p:stCondLst>
                                            <p:cond delay="0"/>
                                          </p:stCondLst>
                                        </p:cTn>
                                        <p:tgtEl>
                                          <p:spTgt spid="126008"/>
                                        </p:tgtEl>
                                        <p:attrNameLst>
                                          <p:attrName>style.visibility</p:attrName>
                                        </p:attrNameLst>
                                      </p:cBhvr>
                                      <p:to>
                                        <p:strVal val="visible"/>
                                      </p:to>
                                    </p:set>
                                    <p:animEffect transition="in" filter="wipe(left)">
                                      <p:cBhvr>
                                        <p:cTn id="75" dur="500"/>
                                        <p:tgtEl>
                                          <p:spTgt spid="126008"/>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125979"/>
                                        </p:tgtEl>
                                        <p:attrNameLst>
                                          <p:attrName>style.visibility</p:attrName>
                                        </p:attrNameLst>
                                      </p:cBhvr>
                                      <p:to>
                                        <p:strVal val="visible"/>
                                      </p:to>
                                    </p:set>
                                    <p:animEffect transition="in" filter="wipe(left)">
                                      <p:cBhvr>
                                        <p:cTn id="80" dur="500"/>
                                        <p:tgtEl>
                                          <p:spTgt spid="125979"/>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125980"/>
                                        </p:tgtEl>
                                        <p:attrNameLst>
                                          <p:attrName>style.visibility</p:attrName>
                                        </p:attrNameLst>
                                      </p:cBhvr>
                                      <p:to>
                                        <p:strVal val="visible"/>
                                      </p:to>
                                    </p:set>
                                    <p:animEffect transition="in" filter="wipe(left)">
                                      <p:cBhvr>
                                        <p:cTn id="85" dur="500"/>
                                        <p:tgtEl>
                                          <p:spTgt spid="1259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60" grpId="0"/>
      <p:bldP spid="125965" grpId="0" animBg="1"/>
      <p:bldP spid="125973"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7634" name="Oval 2"/>
          <p:cNvSpPr>
            <a:spLocks noChangeArrowheads="1"/>
          </p:cNvSpPr>
          <p:nvPr/>
        </p:nvSpPr>
        <p:spPr bwMode="auto">
          <a:xfrm>
            <a:off x="730250" y="996950"/>
            <a:ext cx="304800" cy="304800"/>
          </a:xfrm>
          <a:prstGeom prst="ellipse">
            <a:avLst/>
          </a:prstGeom>
          <a:gradFill rotWithShape="0">
            <a:gsLst>
              <a:gs pos="0">
                <a:schemeClr val="accent2">
                  <a:gamma/>
                  <a:shade val="46275"/>
                  <a:invGamma/>
                </a:schemeClr>
              </a:gs>
              <a:gs pos="100000">
                <a:schemeClr val="accent2"/>
              </a:gs>
            </a:gsLst>
            <a:lin ang="5400000" scaled="1"/>
          </a:gradFill>
          <a:ln>
            <a:noFill/>
          </a:ln>
          <a:effectLst>
            <a:outerShdw sy="50000" kx="2453608" rotWithShape="0">
              <a:srgbClr val="808080"/>
            </a:outerShdw>
          </a:effectLst>
          <a:extLst>
            <a:ext uri="{91240B29-F687-4F45-9708-019B960494DF}">
              <a14:hiddenLine xmlns:a14="http://schemas.microsoft.com/office/drawing/2010/main" w="12700">
                <a:solidFill>
                  <a:schemeClr val="tx1"/>
                </a:solidFill>
                <a:round/>
                <a:headEnd type="none" w="sm" len="sm"/>
                <a:tailEnd type="none" w="sm" len="sm"/>
              </a14:hiddenLine>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7635" name="Rectangle 3"/>
          <p:cNvSpPr/>
          <p:nvPr/>
        </p:nvSpPr>
        <p:spPr>
          <a:xfrm>
            <a:off x="1295400" y="950913"/>
            <a:ext cx="1541463" cy="400050"/>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dirty="0">
                <a:solidFill>
                  <a:srgbClr val="FF0000"/>
                </a:solidFill>
                <a:latin typeface="Times New Roman" panose="02020603050405020304" pitchFamily="18" charset="0"/>
              </a:rPr>
              <a:t>消去法</a:t>
            </a:r>
            <a:r>
              <a:rPr lang="zh-CN" altLang="en-US" sz="2400" b="1" dirty="0">
                <a:solidFill>
                  <a:srgbClr val="FF0000"/>
                </a:solidFill>
                <a:latin typeface="Times New Roman" panose="02020603050405020304" pitchFamily="18" charset="0"/>
              </a:rPr>
              <a:t> </a:t>
            </a:r>
            <a:endParaRPr lang="zh-CN" altLang="en-US" sz="2400" b="1" dirty="0">
              <a:solidFill>
                <a:srgbClr val="FF0000"/>
              </a:solidFill>
              <a:latin typeface="Times New Roman" panose="02020603050405020304" pitchFamily="18" charset="0"/>
            </a:endParaRPr>
          </a:p>
        </p:txBody>
      </p:sp>
      <p:grpSp>
        <p:nvGrpSpPr>
          <p:cNvPr id="197695" name="Group 63"/>
          <p:cNvGrpSpPr/>
          <p:nvPr/>
        </p:nvGrpSpPr>
        <p:grpSpPr>
          <a:xfrm>
            <a:off x="2698750" y="981075"/>
            <a:ext cx="6445250" cy="371475"/>
            <a:chOff x="1700" y="618"/>
            <a:chExt cx="4060" cy="234"/>
          </a:xfrm>
        </p:grpSpPr>
        <p:sp>
          <p:nvSpPr>
            <p:cNvPr id="51224" name="Rectangle 7"/>
            <p:cNvSpPr/>
            <p:nvPr/>
          </p:nvSpPr>
          <p:spPr>
            <a:xfrm>
              <a:off x="1700" y="622"/>
              <a:ext cx="4060" cy="230"/>
            </a:xfrm>
            <a:prstGeom prst="rect">
              <a:avLst/>
            </a:prstGeom>
            <a:solidFill>
              <a:srgbClr val="99CCFF">
                <a:alpha val="50195"/>
              </a:srgbClr>
            </a:solidFill>
            <a:ln w="9525">
              <a:noFill/>
            </a:ln>
          </p:spPr>
          <p:txBody>
            <a:bodyPr lIns="0" tIns="0" rIns="0" bIns="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Times New Roman" panose="02020603050405020304" pitchFamily="18" charset="0"/>
                </a:rPr>
                <a:t>运用吸收律                           </a:t>
              </a:r>
              <a:r>
                <a:rPr lang="zh-CN" altLang="en-US" sz="2400" b="1" baseline="-25000" dirty="0">
                  <a:latin typeface="Times New Roman" panose="02020603050405020304" pitchFamily="18" charset="0"/>
                </a:rPr>
                <a:t>     </a:t>
              </a:r>
              <a:r>
                <a:rPr lang="zh-CN" altLang="en-US" sz="2400" b="1" dirty="0">
                  <a:latin typeface="Times New Roman" panose="02020603050405020304" pitchFamily="18" charset="0"/>
                </a:rPr>
                <a:t>，消去多余因子。</a:t>
              </a:r>
              <a:endParaRPr lang="zh-CN" altLang="en-US" sz="2400" b="1" dirty="0">
                <a:latin typeface="Times New Roman" panose="02020603050405020304" pitchFamily="18" charset="0"/>
              </a:endParaRPr>
            </a:p>
          </p:txBody>
        </p:sp>
        <p:graphicFrame>
          <p:nvGraphicFramePr>
            <p:cNvPr id="51225" name="Object 8"/>
            <p:cNvGraphicFramePr>
              <a:graphicFrameLocks noChangeAspect="1"/>
            </p:cNvGraphicFramePr>
            <p:nvPr/>
          </p:nvGraphicFramePr>
          <p:xfrm>
            <a:off x="2679" y="618"/>
            <a:ext cx="1424" cy="200"/>
          </p:xfrm>
          <a:graphic>
            <a:graphicData uri="http://schemas.openxmlformats.org/presentationml/2006/ole">
              <mc:AlternateContent xmlns:mc="http://schemas.openxmlformats.org/markup-compatibility/2006">
                <mc:Choice xmlns:v="urn:schemas-microsoft-com:vml" Requires="v">
                  <p:oleObj spid="_x0000_s3172" name="" r:id="rId1" imgW="2019300" imgH="317500" progId="Equation.3">
                    <p:embed/>
                  </p:oleObj>
                </mc:Choice>
                <mc:Fallback>
                  <p:oleObj name="" r:id="rId1" imgW="2019300" imgH="317500" progId="Equation.3">
                    <p:embed/>
                    <p:pic>
                      <p:nvPicPr>
                        <p:cNvPr id="0" name="图片 3171"/>
                        <p:cNvPicPr/>
                        <p:nvPr/>
                      </p:nvPicPr>
                      <p:blipFill>
                        <a:blip r:embed="rId2"/>
                        <a:stretch>
                          <a:fillRect/>
                        </a:stretch>
                      </p:blipFill>
                      <p:spPr>
                        <a:xfrm>
                          <a:off x="2679" y="618"/>
                          <a:ext cx="1424" cy="200"/>
                        </a:xfrm>
                        <a:prstGeom prst="rect">
                          <a:avLst/>
                        </a:prstGeom>
                        <a:noFill/>
                        <a:ln w="38100">
                          <a:noFill/>
                          <a:miter/>
                        </a:ln>
                      </p:spPr>
                    </p:pic>
                  </p:oleObj>
                </mc:Fallback>
              </mc:AlternateContent>
            </a:graphicData>
          </a:graphic>
        </p:graphicFrame>
      </p:grpSp>
      <p:graphicFrame>
        <p:nvGraphicFramePr>
          <p:cNvPr id="197645" name="Object 13"/>
          <p:cNvGraphicFramePr>
            <a:graphicFrameLocks noChangeAspect="1"/>
          </p:cNvGraphicFramePr>
          <p:nvPr/>
        </p:nvGraphicFramePr>
        <p:xfrm>
          <a:off x="1895475" y="1819275"/>
          <a:ext cx="2390775" cy="325438"/>
        </p:xfrm>
        <a:graphic>
          <a:graphicData uri="http://schemas.openxmlformats.org/presentationml/2006/ole">
            <mc:AlternateContent xmlns:mc="http://schemas.openxmlformats.org/markup-compatibility/2006">
              <mc:Choice xmlns:v="urn:schemas-microsoft-com:vml" Requires="v">
                <p:oleObj spid="_x0000_s3177" name="" r:id="rId3" imgW="2425700" imgH="330200" progId="Equation.3">
                  <p:embed/>
                </p:oleObj>
              </mc:Choice>
              <mc:Fallback>
                <p:oleObj name="" r:id="rId3" imgW="2425700" imgH="330200" progId="Equation.3">
                  <p:embed/>
                  <p:pic>
                    <p:nvPicPr>
                      <p:cNvPr id="0" name="图片 3176"/>
                      <p:cNvPicPr/>
                      <p:nvPr/>
                    </p:nvPicPr>
                    <p:blipFill>
                      <a:blip r:embed="rId4"/>
                      <a:stretch>
                        <a:fillRect/>
                      </a:stretch>
                    </p:blipFill>
                    <p:spPr>
                      <a:xfrm>
                        <a:off x="1895475" y="1819275"/>
                        <a:ext cx="2390775" cy="325438"/>
                      </a:xfrm>
                      <a:prstGeom prst="rect">
                        <a:avLst/>
                      </a:prstGeom>
                      <a:noFill/>
                      <a:ln w="38100">
                        <a:noFill/>
                        <a:miter/>
                      </a:ln>
                    </p:spPr>
                  </p:pic>
                </p:oleObj>
              </mc:Fallback>
            </mc:AlternateContent>
          </a:graphicData>
        </a:graphic>
      </p:graphicFrame>
      <p:graphicFrame>
        <p:nvGraphicFramePr>
          <p:cNvPr id="197646" name="Object 14"/>
          <p:cNvGraphicFramePr>
            <a:graphicFrameLocks noChangeAspect="1"/>
          </p:cNvGraphicFramePr>
          <p:nvPr/>
        </p:nvGraphicFramePr>
        <p:xfrm>
          <a:off x="2166938" y="2428875"/>
          <a:ext cx="2162175" cy="392113"/>
        </p:xfrm>
        <a:graphic>
          <a:graphicData uri="http://schemas.openxmlformats.org/presentationml/2006/ole">
            <mc:AlternateContent xmlns:mc="http://schemas.openxmlformats.org/markup-compatibility/2006">
              <mc:Choice xmlns:v="urn:schemas-microsoft-com:vml" Requires="v">
                <p:oleObj spid="_x0000_s3178" name="" r:id="rId5" imgW="2171700" imgH="393700" progId="Equation.3">
                  <p:embed/>
                </p:oleObj>
              </mc:Choice>
              <mc:Fallback>
                <p:oleObj name="" r:id="rId5" imgW="2171700" imgH="393700" progId="Equation.3">
                  <p:embed/>
                  <p:pic>
                    <p:nvPicPr>
                      <p:cNvPr id="0" name="图片 3177"/>
                      <p:cNvPicPr/>
                      <p:nvPr/>
                    </p:nvPicPr>
                    <p:blipFill>
                      <a:blip r:embed="rId6"/>
                      <a:stretch>
                        <a:fillRect/>
                      </a:stretch>
                    </p:blipFill>
                    <p:spPr>
                      <a:xfrm>
                        <a:off x="2166938" y="2428875"/>
                        <a:ext cx="2162175" cy="392113"/>
                      </a:xfrm>
                      <a:prstGeom prst="rect">
                        <a:avLst/>
                      </a:prstGeom>
                      <a:noFill/>
                      <a:ln w="38100">
                        <a:noFill/>
                        <a:miter/>
                      </a:ln>
                    </p:spPr>
                  </p:pic>
                </p:oleObj>
              </mc:Fallback>
            </mc:AlternateContent>
          </a:graphicData>
        </a:graphic>
      </p:graphicFrame>
      <p:graphicFrame>
        <p:nvGraphicFramePr>
          <p:cNvPr id="197647" name="Object 15"/>
          <p:cNvGraphicFramePr>
            <a:graphicFrameLocks noChangeAspect="1"/>
          </p:cNvGraphicFramePr>
          <p:nvPr/>
        </p:nvGraphicFramePr>
        <p:xfrm>
          <a:off x="4410075" y="2422525"/>
          <a:ext cx="1611313" cy="322263"/>
        </p:xfrm>
        <a:graphic>
          <a:graphicData uri="http://schemas.openxmlformats.org/presentationml/2006/ole">
            <mc:AlternateContent xmlns:mc="http://schemas.openxmlformats.org/markup-compatibility/2006">
              <mc:Choice xmlns:v="urn:schemas-microsoft-com:vml" Requires="v">
                <p:oleObj spid="_x0000_s3179" name="" r:id="rId7" imgW="1651000" imgH="330200" progId="Equation.3">
                  <p:embed/>
                </p:oleObj>
              </mc:Choice>
              <mc:Fallback>
                <p:oleObj name="" r:id="rId7" imgW="1651000" imgH="330200" progId="Equation.3">
                  <p:embed/>
                  <p:pic>
                    <p:nvPicPr>
                      <p:cNvPr id="0" name="图片 3178"/>
                      <p:cNvPicPr/>
                      <p:nvPr/>
                    </p:nvPicPr>
                    <p:blipFill>
                      <a:blip r:embed="rId8"/>
                      <a:stretch>
                        <a:fillRect/>
                      </a:stretch>
                    </p:blipFill>
                    <p:spPr>
                      <a:xfrm>
                        <a:off x="4410075" y="2422525"/>
                        <a:ext cx="1611313" cy="322263"/>
                      </a:xfrm>
                      <a:prstGeom prst="rect">
                        <a:avLst/>
                      </a:prstGeom>
                      <a:noFill/>
                      <a:ln w="38100">
                        <a:noFill/>
                        <a:miter/>
                      </a:ln>
                    </p:spPr>
                  </p:pic>
                </p:oleObj>
              </mc:Fallback>
            </mc:AlternateContent>
          </a:graphicData>
        </a:graphic>
      </p:graphicFrame>
      <p:graphicFrame>
        <p:nvGraphicFramePr>
          <p:cNvPr id="197648" name="Object 16"/>
          <p:cNvGraphicFramePr>
            <a:graphicFrameLocks noChangeAspect="1"/>
          </p:cNvGraphicFramePr>
          <p:nvPr/>
        </p:nvGraphicFramePr>
        <p:xfrm>
          <a:off x="6121400" y="2463800"/>
          <a:ext cx="1182688" cy="268288"/>
        </p:xfrm>
        <a:graphic>
          <a:graphicData uri="http://schemas.openxmlformats.org/presentationml/2006/ole">
            <mc:AlternateContent xmlns:mc="http://schemas.openxmlformats.org/markup-compatibility/2006">
              <mc:Choice xmlns:v="urn:schemas-microsoft-com:vml" Requires="v">
                <p:oleObj spid="_x0000_s3175" name="" r:id="rId9" imgW="1231265" imgH="279400" progId="Equation.3">
                  <p:embed/>
                </p:oleObj>
              </mc:Choice>
              <mc:Fallback>
                <p:oleObj name="" r:id="rId9" imgW="1231265" imgH="279400" progId="Equation.3">
                  <p:embed/>
                  <p:pic>
                    <p:nvPicPr>
                      <p:cNvPr id="0" name="图片 3174"/>
                      <p:cNvPicPr/>
                      <p:nvPr/>
                    </p:nvPicPr>
                    <p:blipFill>
                      <a:blip r:embed="rId10"/>
                      <a:stretch>
                        <a:fillRect/>
                      </a:stretch>
                    </p:blipFill>
                    <p:spPr>
                      <a:xfrm>
                        <a:off x="6121400" y="2463800"/>
                        <a:ext cx="1182688" cy="268288"/>
                      </a:xfrm>
                      <a:prstGeom prst="rect">
                        <a:avLst/>
                      </a:prstGeom>
                      <a:noFill/>
                      <a:ln w="38100">
                        <a:noFill/>
                        <a:miter/>
                      </a:ln>
                    </p:spPr>
                  </p:pic>
                </p:oleObj>
              </mc:Fallback>
            </mc:AlternateContent>
          </a:graphicData>
        </a:graphic>
      </p:graphicFrame>
      <p:graphicFrame>
        <p:nvGraphicFramePr>
          <p:cNvPr id="197649" name="Object 17"/>
          <p:cNvGraphicFramePr>
            <a:graphicFrameLocks noChangeAspect="1"/>
          </p:cNvGraphicFramePr>
          <p:nvPr/>
        </p:nvGraphicFramePr>
        <p:xfrm>
          <a:off x="1919288" y="3251200"/>
          <a:ext cx="3771900" cy="323850"/>
        </p:xfrm>
        <a:graphic>
          <a:graphicData uri="http://schemas.openxmlformats.org/presentationml/2006/ole">
            <mc:AlternateContent xmlns:mc="http://schemas.openxmlformats.org/markup-compatibility/2006">
              <mc:Choice xmlns:v="urn:schemas-microsoft-com:vml" Requires="v">
                <p:oleObj spid="_x0000_s3176" name="" r:id="rId11" imgW="4013200" imgH="330200" progId="Equation.3">
                  <p:embed/>
                </p:oleObj>
              </mc:Choice>
              <mc:Fallback>
                <p:oleObj name="" r:id="rId11" imgW="4013200" imgH="330200" progId="Equation.3">
                  <p:embed/>
                  <p:pic>
                    <p:nvPicPr>
                      <p:cNvPr id="0" name="图片 3175"/>
                      <p:cNvPicPr/>
                      <p:nvPr/>
                    </p:nvPicPr>
                    <p:blipFill>
                      <a:blip r:embed="rId12"/>
                      <a:stretch>
                        <a:fillRect/>
                      </a:stretch>
                    </p:blipFill>
                    <p:spPr>
                      <a:xfrm>
                        <a:off x="1919288" y="3251200"/>
                        <a:ext cx="3771900" cy="323850"/>
                      </a:xfrm>
                      <a:prstGeom prst="rect">
                        <a:avLst/>
                      </a:prstGeom>
                      <a:noFill/>
                      <a:ln w="38100">
                        <a:noFill/>
                        <a:miter/>
                      </a:ln>
                    </p:spPr>
                  </p:pic>
                </p:oleObj>
              </mc:Fallback>
            </mc:AlternateContent>
          </a:graphicData>
        </a:graphic>
      </p:graphicFrame>
      <p:graphicFrame>
        <p:nvGraphicFramePr>
          <p:cNvPr id="197650" name="Object 18"/>
          <p:cNvGraphicFramePr>
            <a:graphicFrameLocks noChangeAspect="1"/>
          </p:cNvGraphicFramePr>
          <p:nvPr/>
        </p:nvGraphicFramePr>
        <p:xfrm>
          <a:off x="2178050" y="3868738"/>
          <a:ext cx="3481388" cy="361950"/>
        </p:xfrm>
        <a:graphic>
          <a:graphicData uri="http://schemas.openxmlformats.org/presentationml/2006/ole">
            <mc:AlternateContent xmlns:mc="http://schemas.openxmlformats.org/markup-compatibility/2006">
              <mc:Choice xmlns:v="urn:schemas-microsoft-com:vml" Requires="v">
                <p:oleObj spid="_x0000_s3173" name="" r:id="rId13" imgW="3543300" imgH="393700" progId="Equation.3">
                  <p:embed/>
                </p:oleObj>
              </mc:Choice>
              <mc:Fallback>
                <p:oleObj name="" r:id="rId13" imgW="3543300" imgH="393700" progId="Equation.3">
                  <p:embed/>
                  <p:pic>
                    <p:nvPicPr>
                      <p:cNvPr id="0" name="图片 3172"/>
                      <p:cNvPicPr/>
                      <p:nvPr/>
                    </p:nvPicPr>
                    <p:blipFill>
                      <a:blip r:embed="rId14"/>
                      <a:stretch>
                        <a:fillRect/>
                      </a:stretch>
                    </p:blipFill>
                    <p:spPr>
                      <a:xfrm>
                        <a:off x="2178050" y="3868738"/>
                        <a:ext cx="3481388" cy="361950"/>
                      </a:xfrm>
                      <a:prstGeom prst="rect">
                        <a:avLst/>
                      </a:prstGeom>
                      <a:noFill/>
                      <a:ln w="38100">
                        <a:noFill/>
                        <a:miter/>
                      </a:ln>
                    </p:spPr>
                  </p:pic>
                </p:oleObj>
              </mc:Fallback>
            </mc:AlternateContent>
          </a:graphicData>
        </a:graphic>
      </p:graphicFrame>
      <p:graphicFrame>
        <p:nvGraphicFramePr>
          <p:cNvPr id="197651" name="Object 19"/>
          <p:cNvGraphicFramePr>
            <a:graphicFrameLocks noChangeAspect="1"/>
          </p:cNvGraphicFramePr>
          <p:nvPr/>
        </p:nvGraphicFramePr>
        <p:xfrm>
          <a:off x="2176463" y="4518025"/>
          <a:ext cx="2492375" cy="320675"/>
        </p:xfrm>
        <a:graphic>
          <a:graphicData uri="http://schemas.openxmlformats.org/presentationml/2006/ole">
            <mc:AlternateContent xmlns:mc="http://schemas.openxmlformats.org/markup-compatibility/2006">
              <mc:Choice xmlns:v="urn:schemas-microsoft-com:vml" Requires="v">
                <p:oleObj spid="_x0000_s3174" name="" r:id="rId15" imgW="2717800" imgH="330200" progId="Equation.3">
                  <p:embed/>
                </p:oleObj>
              </mc:Choice>
              <mc:Fallback>
                <p:oleObj name="" r:id="rId15" imgW="2717800" imgH="330200" progId="Equation.3">
                  <p:embed/>
                  <p:pic>
                    <p:nvPicPr>
                      <p:cNvPr id="0" name="图片 3173"/>
                      <p:cNvPicPr/>
                      <p:nvPr/>
                    </p:nvPicPr>
                    <p:blipFill>
                      <a:blip r:embed="rId16"/>
                      <a:stretch>
                        <a:fillRect/>
                      </a:stretch>
                    </p:blipFill>
                    <p:spPr>
                      <a:xfrm>
                        <a:off x="2176463" y="4518025"/>
                        <a:ext cx="2492375" cy="320675"/>
                      </a:xfrm>
                      <a:prstGeom prst="rect">
                        <a:avLst/>
                      </a:prstGeom>
                      <a:noFill/>
                      <a:ln w="38100">
                        <a:noFill/>
                        <a:miter/>
                      </a:ln>
                    </p:spPr>
                  </p:pic>
                </p:oleObj>
              </mc:Fallback>
            </mc:AlternateContent>
          </a:graphicData>
        </a:graphic>
      </p:graphicFrame>
      <p:graphicFrame>
        <p:nvGraphicFramePr>
          <p:cNvPr id="197652" name="Object 20"/>
          <p:cNvGraphicFramePr>
            <a:graphicFrameLocks noChangeAspect="1"/>
          </p:cNvGraphicFramePr>
          <p:nvPr/>
        </p:nvGraphicFramePr>
        <p:xfrm>
          <a:off x="2179638" y="5200650"/>
          <a:ext cx="1768475" cy="277813"/>
        </p:xfrm>
        <a:graphic>
          <a:graphicData uri="http://schemas.openxmlformats.org/presentationml/2006/ole">
            <mc:AlternateContent xmlns:mc="http://schemas.openxmlformats.org/markup-compatibility/2006">
              <mc:Choice xmlns:v="urn:schemas-microsoft-com:vml" Requires="v">
                <p:oleObj spid="_x0000_s3180" name="" r:id="rId17" imgW="1778000" imgH="279400" progId="Equation.3">
                  <p:embed/>
                </p:oleObj>
              </mc:Choice>
              <mc:Fallback>
                <p:oleObj name="" r:id="rId17" imgW="1778000" imgH="279400" progId="Equation.3">
                  <p:embed/>
                  <p:pic>
                    <p:nvPicPr>
                      <p:cNvPr id="0" name="图片 3179"/>
                      <p:cNvPicPr/>
                      <p:nvPr/>
                    </p:nvPicPr>
                    <p:blipFill>
                      <a:blip r:embed="rId18"/>
                      <a:stretch>
                        <a:fillRect/>
                      </a:stretch>
                    </p:blipFill>
                    <p:spPr>
                      <a:xfrm>
                        <a:off x="2179638" y="5200650"/>
                        <a:ext cx="1768475" cy="277813"/>
                      </a:xfrm>
                      <a:prstGeom prst="rect">
                        <a:avLst/>
                      </a:prstGeom>
                      <a:noFill/>
                      <a:ln w="38100">
                        <a:noFill/>
                        <a:miter/>
                      </a:ln>
                    </p:spPr>
                  </p:pic>
                </p:oleObj>
              </mc:Fallback>
            </mc:AlternateContent>
          </a:graphicData>
        </a:graphic>
      </p:graphicFrame>
      <p:graphicFrame>
        <p:nvGraphicFramePr>
          <p:cNvPr id="197653" name="Object 21"/>
          <p:cNvGraphicFramePr>
            <a:graphicFrameLocks noChangeAspect="1"/>
          </p:cNvGraphicFramePr>
          <p:nvPr/>
        </p:nvGraphicFramePr>
        <p:xfrm>
          <a:off x="2195513" y="5745163"/>
          <a:ext cx="2111375" cy="320675"/>
        </p:xfrm>
        <a:graphic>
          <a:graphicData uri="http://schemas.openxmlformats.org/presentationml/2006/ole">
            <mc:AlternateContent xmlns:mc="http://schemas.openxmlformats.org/markup-compatibility/2006">
              <mc:Choice xmlns:v="urn:schemas-microsoft-com:vml" Requires="v">
                <p:oleObj spid="_x0000_s3181" name="" r:id="rId19" imgW="2159000" imgH="330200" progId="Equation.3">
                  <p:embed/>
                </p:oleObj>
              </mc:Choice>
              <mc:Fallback>
                <p:oleObj name="" r:id="rId19" imgW="2159000" imgH="330200" progId="Equation.3">
                  <p:embed/>
                  <p:pic>
                    <p:nvPicPr>
                      <p:cNvPr id="0" name="图片 3180"/>
                      <p:cNvPicPr/>
                      <p:nvPr/>
                    </p:nvPicPr>
                    <p:blipFill>
                      <a:blip r:embed="rId20"/>
                      <a:stretch>
                        <a:fillRect/>
                      </a:stretch>
                    </p:blipFill>
                    <p:spPr>
                      <a:xfrm>
                        <a:off x="2195513" y="5745163"/>
                        <a:ext cx="2111375" cy="320675"/>
                      </a:xfrm>
                      <a:prstGeom prst="rect">
                        <a:avLst/>
                      </a:prstGeom>
                      <a:noFill/>
                      <a:ln w="38100">
                        <a:noFill/>
                        <a:miter/>
                      </a:ln>
                    </p:spPr>
                  </p:pic>
                </p:oleObj>
              </mc:Fallback>
            </mc:AlternateContent>
          </a:graphicData>
        </a:graphic>
      </p:graphicFrame>
      <p:sp>
        <p:nvSpPr>
          <p:cNvPr id="197654" name="Line 22"/>
          <p:cNvSpPr/>
          <p:nvPr/>
        </p:nvSpPr>
        <p:spPr>
          <a:xfrm>
            <a:off x="3346450" y="2170113"/>
            <a:ext cx="215900" cy="0"/>
          </a:xfrm>
          <a:prstGeom prst="line">
            <a:avLst/>
          </a:prstGeom>
          <a:ln w="28575" cap="flat" cmpd="sng">
            <a:solidFill>
              <a:schemeClr val="accent1"/>
            </a:solidFill>
            <a:prstDash val="solid"/>
            <a:headEnd type="none" w="med" len="med"/>
            <a:tailEnd type="none" w="med" len="med"/>
          </a:ln>
        </p:spPr>
      </p:sp>
      <p:sp>
        <p:nvSpPr>
          <p:cNvPr id="197655" name="AutoShape 23"/>
          <p:cNvSpPr/>
          <p:nvPr/>
        </p:nvSpPr>
        <p:spPr>
          <a:xfrm>
            <a:off x="1387475" y="1890713"/>
            <a:ext cx="228600" cy="228600"/>
          </a:xfrm>
          <a:prstGeom prst="sun">
            <a:avLst>
              <a:gd name="adj" fmla="val 25000"/>
            </a:avLst>
          </a:prstGeom>
          <a:solidFill>
            <a:schemeClr val="tx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197656" name="AutoShape 24"/>
          <p:cNvSpPr/>
          <p:nvPr/>
        </p:nvSpPr>
        <p:spPr>
          <a:xfrm>
            <a:off x="1401763" y="3308350"/>
            <a:ext cx="228600" cy="228600"/>
          </a:xfrm>
          <a:prstGeom prst="sun">
            <a:avLst>
              <a:gd name="adj" fmla="val 25000"/>
            </a:avLst>
          </a:prstGeom>
          <a:solidFill>
            <a:schemeClr val="tx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197657" name="Line 25"/>
          <p:cNvSpPr/>
          <p:nvPr/>
        </p:nvSpPr>
        <p:spPr>
          <a:xfrm>
            <a:off x="4224338" y="3595688"/>
            <a:ext cx="455612" cy="0"/>
          </a:xfrm>
          <a:prstGeom prst="line">
            <a:avLst/>
          </a:prstGeom>
          <a:ln w="28575" cap="flat" cmpd="sng">
            <a:solidFill>
              <a:schemeClr val="accent1"/>
            </a:solidFill>
            <a:prstDash val="solid"/>
            <a:headEnd type="none" w="med" len="med"/>
            <a:tailEnd type="none" w="med" len="med"/>
          </a:ln>
        </p:spPr>
      </p:sp>
      <p:sp>
        <p:nvSpPr>
          <p:cNvPr id="197658" name="Line 26"/>
          <p:cNvSpPr/>
          <p:nvPr/>
        </p:nvSpPr>
        <p:spPr>
          <a:xfrm>
            <a:off x="2424113" y="4229100"/>
            <a:ext cx="1208087" cy="0"/>
          </a:xfrm>
          <a:prstGeom prst="line">
            <a:avLst/>
          </a:prstGeom>
          <a:ln w="28575" cap="flat" cmpd="sng">
            <a:solidFill>
              <a:schemeClr val="accent1"/>
            </a:solidFill>
            <a:prstDash val="solid"/>
            <a:headEnd type="none" w="med" len="med"/>
            <a:tailEnd type="none" w="med" len="med"/>
          </a:ln>
        </p:spPr>
      </p:sp>
      <p:sp>
        <p:nvSpPr>
          <p:cNvPr id="197659" name="Line 27"/>
          <p:cNvSpPr/>
          <p:nvPr/>
        </p:nvSpPr>
        <p:spPr>
          <a:xfrm>
            <a:off x="4360863" y="4224338"/>
            <a:ext cx="1208087" cy="0"/>
          </a:xfrm>
          <a:prstGeom prst="line">
            <a:avLst/>
          </a:prstGeom>
          <a:ln w="28575" cap="flat" cmpd="sng">
            <a:solidFill>
              <a:srgbClr val="0033CC"/>
            </a:solidFill>
            <a:prstDash val="solid"/>
            <a:headEnd type="none" w="med" len="med"/>
            <a:tailEnd type="none" w="med" len="med"/>
          </a:ln>
        </p:spPr>
      </p:sp>
      <p:sp>
        <p:nvSpPr>
          <p:cNvPr id="197682" name="Line 50"/>
          <p:cNvSpPr/>
          <p:nvPr/>
        </p:nvSpPr>
        <p:spPr>
          <a:xfrm>
            <a:off x="4043363" y="2170113"/>
            <a:ext cx="217487" cy="0"/>
          </a:xfrm>
          <a:prstGeom prst="line">
            <a:avLst/>
          </a:prstGeom>
          <a:ln w="28575" cap="flat" cmpd="sng">
            <a:solidFill>
              <a:schemeClr val="accent1"/>
            </a:solidFill>
            <a:prstDash val="solid"/>
            <a:headEnd type="none" w="med" len="med"/>
            <a:tailEnd type="none" w="med" len="med"/>
          </a:ln>
        </p:spPr>
      </p:sp>
      <p:sp>
        <p:nvSpPr>
          <p:cNvPr id="197684" name="Line 52"/>
          <p:cNvSpPr/>
          <p:nvPr/>
        </p:nvSpPr>
        <p:spPr>
          <a:xfrm>
            <a:off x="5240338" y="3595688"/>
            <a:ext cx="455612" cy="0"/>
          </a:xfrm>
          <a:prstGeom prst="line">
            <a:avLst/>
          </a:prstGeom>
          <a:ln w="28575" cap="flat" cmpd="sng">
            <a:solidFill>
              <a:schemeClr val="accent1"/>
            </a:solidFill>
            <a:prstDash val="solid"/>
            <a:headEnd type="none" w="med" len="med"/>
            <a:tailEnd type="none" w="med" len="med"/>
          </a:ln>
        </p:spPr>
      </p:sp>
      <p:sp>
        <p:nvSpPr>
          <p:cNvPr id="197691" name="Line 59"/>
          <p:cNvSpPr/>
          <p:nvPr/>
        </p:nvSpPr>
        <p:spPr>
          <a:xfrm>
            <a:off x="4679950" y="2800350"/>
            <a:ext cx="444500" cy="0"/>
          </a:xfrm>
          <a:prstGeom prst="line">
            <a:avLst/>
          </a:prstGeom>
          <a:ln w="28575" cap="flat" cmpd="sng">
            <a:solidFill>
              <a:schemeClr val="accent1"/>
            </a:solidFill>
            <a:prstDash val="solid"/>
            <a:headEnd type="none" w="med" len="med"/>
            <a:tailEnd type="none" w="med" len="med"/>
          </a:ln>
        </p:spPr>
      </p:sp>
      <p:sp>
        <p:nvSpPr>
          <p:cNvPr id="197692" name="Line 60"/>
          <p:cNvSpPr/>
          <p:nvPr/>
        </p:nvSpPr>
        <p:spPr>
          <a:xfrm>
            <a:off x="5389563" y="2800350"/>
            <a:ext cx="446087" cy="0"/>
          </a:xfrm>
          <a:prstGeom prst="line">
            <a:avLst/>
          </a:prstGeom>
          <a:ln w="28575" cap="flat" cmpd="sng">
            <a:solidFill>
              <a:schemeClr val="accent1"/>
            </a:solidFill>
            <a:prstDash val="solid"/>
            <a:headEnd type="none" w="med" len="med"/>
            <a:tailEnd type="none" w="med" len="med"/>
          </a:ln>
        </p:spPr>
      </p:sp>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97634"/>
                                        </p:tgtEl>
                                        <p:attrNameLst>
                                          <p:attrName>style.visibility</p:attrName>
                                        </p:attrNameLst>
                                      </p:cBhvr>
                                      <p:to>
                                        <p:strVal val="visible"/>
                                      </p:to>
                                    </p:set>
                                    <p:anim calcmode="lin" valueType="num">
                                      <p:cBhvr additive="base">
                                        <p:cTn id="7" dur="500" fill="hold"/>
                                        <p:tgtEl>
                                          <p:spTgt spid="197634"/>
                                        </p:tgtEl>
                                        <p:attrNameLst>
                                          <p:attrName>ppt_x</p:attrName>
                                        </p:attrNameLst>
                                      </p:cBhvr>
                                      <p:tavLst>
                                        <p:tav tm="0">
                                          <p:val>
                                            <p:strVal val="0-#ppt_w/2"/>
                                          </p:val>
                                        </p:tav>
                                        <p:tav tm="100000">
                                          <p:val>
                                            <p:strVal val="#ppt_x"/>
                                          </p:val>
                                        </p:tav>
                                      </p:tavLst>
                                    </p:anim>
                                    <p:anim calcmode="lin" valueType="num">
                                      <p:cBhvr additive="base">
                                        <p:cTn id="8" dur="500" fill="hold"/>
                                        <p:tgtEl>
                                          <p:spTgt spid="19763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197635"/>
                                        </p:tgtEl>
                                        <p:attrNameLst>
                                          <p:attrName>style.visibility</p:attrName>
                                        </p:attrNameLst>
                                      </p:cBhvr>
                                      <p:to>
                                        <p:strVal val="visible"/>
                                      </p:to>
                                    </p:set>
                                    <p:animEffect transition="in" filter="wipe(left)">
                                      <p:cBhvr>
                                        <p:cTn id="12" dur="500"/>
                                        <p:tgtEl>
                                          <p:spTgt spid="19763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97695"/>
                                        </p:tgtEl>
                                        <p:attrNameLst>
                                          <p:attrName>style.visibility</p:attrName>
                                        </p:attrNameLst>
                                      </p:cBhvr>
                                      <p:to>
                                        <p:strVal val="visible"/>
                                      </p:to>
                                    </p:set>
                                    <p:anim calcmode="lin" valueType="num">
                                      <p:cBhvr additive="base">
                                        <p:cTn id="17" dur="500" fill="hold"/>
                                        <p:tgtEl>
                                          <p:spTgt spid="197695"/>
                                        </p:tgtEl>
                                        <p:attrNameLst>
                                          <p:attrName>ppt_x</p:attrName>
                                        </p:attrNameLst>
                                      </p:cBhvr>
                                      <p:tavLst>
                                        <p:tav tm="0">
                                          <p:val>
                                            <p:strVal val="0-#ppt_w/2"/>
                                          </p:val>
                                        </p:tav>
                                        <p:tav tm="100000">
                                          <p:val>
                                            <p:strVal val="#ppt_x"/>
                                          </p:val>
                                        </p:tav>
                                      </p:tavLst>
                                    </p:anim>
                                    <p:anim calcmode="lin" valueType="num">
                                      <p:cBhvr additive="base">
                                        <p:cTn id="18" dur="500" fill="hold"/>
                                        <p:tgtEl>
                                          <p:spTgt spid="197695"/>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197655"/>
                                        </p:tgtEl>
                                        <p:attrNameLst>
                                          <p:attrName>style.visibility</p:attrName>
                                        </p:attrNameLst>
                                      </p:cBhvr>
                                      <p:to>
                                        <p:strVal val="visible"/>
                                      </p:to>
                                    </p:set>
                                    <p:anim calcmode="lin" valueType="num">
                                      <p:cBhvr>
                                        <p:cTn id="23" dur="1000" fill="hold"/>
                                        <p:tgtEl>
                                          <p:spTgt spid="197655"/>
                                        </p:tgtEl>
                                        <p:attrNameLst>
                                          <p:attrName>ppt_w</p:attrName>
                                        </p:attrNameLst>
                                      </p:cBhvr>
                                      <p:tavLst>
                                        <p:tav tm="0">
                                          <p:val>
                                            <p:fltVal val="0.000000"/>
                                          </p:val>
                                        </p:tav>
                                        <p:tav tm="100000">
                                          <p:val>
                                            <p:strVal val="#ppt_w"/>
                                          </p:val>
                                        </p:tav>
                                      </p:tavLst>
                                    </p:anim>
                                    <p:anim calcmode="lin" valueType="num">
                                      <p:cBhvr>
                                        <p:cTn id="24" dur="1000" fill="hold"/>
                                        <p:tgtEl>
                                          <p:spTgt spid="197655"/>
                                        </p:tgtEl>
                                        <p:attrNameLst>
                                          <p:attrName>ppt_h</p:attrName>
                                        </p:attrNameLst>
                                      </p:cBhvr>
                                      <p:tavLst>
                                        <p:tav tm="0">
                                          <p:val>
                                            <p:fltVal val="0.000000"/>
                                          </p:val>
                                        </p:tav>
                                        <p:tav tm="100000">
                                          <p:val>
                                            <p:strVal val="#ppt_h"/>
                                          </p:val>
                                        </p:tav>
                                      </p:tavLst>
                                    </p:anim>
                                    <p:anim calcmode="lin" valueType="num">
                                      <p:cBhvr>
                                        <p:cTn id="25" dur="1000" fill="hold"/>
                                        <p:tgtEl>
                                          <p:spTgt spid="197655"/>
                                        </p:tgtEl>
                                        <p:attrNameLst>
                                          <p:attrName>ppt_x</p:attrName>
                                        </p:attrNameLst>
                                      </p:cBhvr>
                                      <p:tavLst>
                                        <p:tav tm="0" fmla="#ppt_x+(cos(-2*pi*(1-$))*-#ppt_x-sin(-2*pi*(1-$))*(1-#ppt_y))*(1-$)">
                                          <p:val>
                                            <p:fltVal val="0.000000"/>
                                          </p:val>
                                        </p:tav>
                                        <p:tav tm="100000">
                                          <p:val>
                                            <p:fltVal val="1.000000"/>
                                          </p:val>
                                        </p:tav>
                                      </p:tavLst>
                                    </p:anim>
                                    <p:anim calcmode="lin" valueType="num">
                                      <p:cBhvr>
                                        <p:cTn id="26" dur="1000" fill="hold"/>
                                        <p:tgtEl>
                                          <p:spTgt spid="197655"/>
                                        </p:tgtEl>
                                        <p:attrNameLst>
                                          <p:attrName>ppt_y</p:attrName>
                                        </p:attrNameLst>
                                      </p:cBhvr>
                                      <p:tavLst>
                                        <p:tav tm="0" fmla="#ppt_y+(sin(-2*pi*(1-$))*-#ppt_x+cos(-2*pi*(1-$))*(1-#ppt_y))*(1-$)">
                                          <p:val>
                                            <p:fltVal val="0.000000"/>
                                          </p:val>
                                        </p:tav>
                                        <p:tav tm="100000">
                                          <p:val>
                                            <p:fltVal val="1.000000"/>
                                          </p:val>
                                        </p:tav>
                                      </p:tavLst>
                                    </p:anim>
                                  </p:childTnLst>
                                </p:cTn>
                              </p:par>
                            </p:childTnLst>
                          </p:cTn>
                        </p:par>
                        <p:par>
                          <p:cTn id="27" fill="hold">
                            <p:stCondLst>
                              <p:cond delay="1000"/>
                            </p:stCondLst>
                            <p:childTnLst>
                              <p:par>
                                <p:cTn id="28" presetID="22" presetClass="entr" presetSubtype="8" fill="hold" nodeType="afterEffect">
                                  <p:stCondLst>
                                    <p:cond delay="0"/>
                                  </p:stCondLst>
                                  <p:childTnLst>
                                    <p:set>
                                      <p:cBhvr>
                                        <p:cTn id="29" dur="1" fill="hold">
                                          <p:stCondLst>
                                            <p:cond delay="0"/>
                                          </p:stCondLst>
                                        </p:cTn>
                                        <p:tgtEl>
                                          <p:spTgt spid="197645"/>
                                        </p:tgtEl>
                                        <p:attrNameLst>
                                          <p:attrName>style.visibility</p:attrName>
                                        </p:attrNameLst>
                                      </p:cBhvr>
                                      <p:to>
                                        <p:strVal val="visible"/>
                                      </p:to>
                                    </p:set>
                                    <p:animEffect transition="in" filter="wipe(left)">
                                      <p:cBhvr>
                                        <p:cTn id="30" dur="500"/>
                                        <p:tgtEl>
                                          <p:spTgt spid="19764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97654"/>
                                        </p:tgtEl>
                                        <p:attrNameLst>
                                          <p:attrName>style.visibility</p:attrName>
                                        </p:attrNameLst>
                                      </p:cBhvr>
                                      <p:to>
                                        <p:strVal val="visible"/>
                                      </p:to>
                                    </p:set>
                                    <p:animEffect transition="in" filter="wipe(left)">
                                      <p:cBhvr>
                                        <p:cTn id="35" dur="500"/>
                                        <p:tgtEl>
                                          <p:spTgt spid="197654"/>
                                        </p:tgtEl>
                                      </p:cBhvr>
                                    </p:animEffec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197682"/>
                                        </p:tgtEl>
                                        <p:attrNameLst>
                                          <p:attrName>style.visibility</p:attrName>
                                        </p:attrNameLst>
                                      </p:cBhvr>
                                      <p:to>
                                        <p:strVal val="visible"/>
                                      </p:to>
                                    </p:set>
                                    <p:animEffect transition="in" filter="wipe(left)">
                                      <p:cBhvr>
                                        <p:cTn id="39" dur="500"/>
                                        <p:tgtEl>
                                          <p:spTgt spid="19768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197646"/>
                                        </p:tgtEl>
                                        <p:attrNameLst>
                                          <p:attrName>style.visibility</p:attrName>
                                        </p:attrNameLst>
                                      </p:cBhvr>
                                      <p:to>
                                        <p:strVal val="visible"/>
                                      </p:to>
                                    </p:set>
                                    <p:animEffect transition="in" filter="wipe(left)">
                                      <p:cBhvr>
                                        <p:cTn id="44" dur="500"/>
                                        <p:tgtEl>
                                          <p:spTgt spid="197646"/>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197647"/>
                                        </p:tgtEl>
                                        <p:attrNameLst>
                                          <p:attrName>style.visibility</p:attrName>
                                        </p:attrNameLst>
                                      </p:cBhvr>
                                      <p:to>
                                        <p:strVal val="visible"/>
                                      </p:to>
                                    </p:set>
                                    <p:animEffect transition="in" filter="wipe(left)">
                                      <p:cBhvr>
                                        <p:cTn id="49" dur="500"/>
                                        <p:tgtEl>
                                          <p:spTgt spid="197647"/>
                                        </p:tgtEl>
                                      </p:cBhvr>
                                    </p:animEffect>
                                  </p:childTnLst>
                                </p:cTn>
                              </p:par>
                            </p:childTnLst>
                          </p:cTn>
                        </p:par>
                        <p:par>
                          <p:cTn id="50" fill="hold">
                            <p:stCondLst>
                              <p:cond delay="500"/>
                            </p:stCondLst>
                            <p:childTnLst>
                              <p:par>
                                <p:cTn id="51" presetID="22" presetClass="entr" presetSubtype="8" fill="hold" nodeType="afterEffect">
                                  <p:stCondLst>
                                    <p:cond delay="0"/>
                                  </p:stCondLst>
                                  <p:childTnLst>
                                    <p:set>
                                      <p:cBhvr>
                                        <p:cTn id="52" dur="1" fill="hold">
                                          <p:stCondLst>
                                            <p:cond delay="0"/>
                                          </p:stCondLst>
                                        </p:cTn>
                                        <p:tgtEl>
                                          <p:spTgt spid="197691"/>
                                        </p:tgtEl>
                                        <p:attrNameLst>
                                          <p:attrName>style.visibility</p:attrName>
                                        </p:attrNameLst>
                                      </p:cBhvr>
                                      <p:to>
                                        <p:strVal val="visible"/>
                                      </p:to>
                                    </p:set>
                                    <p:animEffect transition="in" filter="wipe(left)">
                                      <p:cBhvr>
                                        <p:cTn id="53" dur="500"/>
                                        <p:tgtEl>
                                          <p:spTgt spid="197691"/>
                                        </p:tgtEl>
                                      </p:cBhvr>
                                    </p:animEffect>
                                  </p:childTnLst>
                                </p:cTn>
                              </p:par>
                            </p:childTnLst>
                          </p:cTn>
                        </p:par>
                        <p:par>
                          <p:cTn id="54" fill="hold">
                            <p:stCondLst>
                              <p:cond delay="1000"/>
                            </p:stCondLst>
                            <p:childTnLst>
                              <p:par>
                                <p:cTn id="55" presetID="22" presetClass="entr" presetSubtype="8" fill="hold" nodeType="afterEffect">
                                  <p:stCondLst>
                                    <p:cond delay="0"/>
                                  </p:stCondLst>
                                  <p:childTnLst>
                                    <p:set>
                                      <p:cBhvr>
                                        <p:cTn id="56" dur="1" fill="hold">
                                          <p:stCondLst>
                                            <p:cond delay="0"/>
                                          </p:stCondLst>
                                        </p:cTn>
                                        <p:tgtEl>
                                          <p:spTgt spid="197692"/>
                                        </p:tgtEl>
                                        <p:attrNameLst>
                                          <p:attrName>style.visibility</p:attrName>
                                        </p:attrNameLst>
                                      </p:cBhvr>
                                      <p:to>
                                        <p:strVal val="visible"/>
                                      </p:to>
                                    </p:set>
                                    <p:animEffect transition="in" filter="wipe(left)">
                                      <p:cBhvr>
                                        <p:cTn id="57" dur="500"/>
                                        <p:tgtEl>
                                          <p:spTgt spid="19769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97648"/>
                                        </p:tgtEl>
                                        <p:attrNameLst>
                                          <p:attrName>style.visibility</p:attrName>
                                        </p:attrNameLst>
                                      </p:cBhvr>
                                      <p:to>
                                        <p:strVal val="visible"/>
                                      </p:to>
                                    </p:set>
                                    <p:animEffect transition="in" filter="wipe(left)">
                                      <p:cBhvr>
                                        <p:cTn id="62" dur="500"/>
                                        <p:tgtEl>
                                          <p:spTgt spid="197648"/>
                                        </p:tgtEl>
                                      </p:cBhvr>
                                    </p:animEffect>
                                  </p:childTnLst>
                                </p:cTn>
                              </p:par>
                            </p:childTnLst>
                          </p:cTn>
                        </p:par>
                      </p:childTnLst>
                    </p:cTn>
                  </p:par>
                  <p:par>
                    <p:cTn id="63" fill="hold">
                      <p:stCondLst>
                        <p:cond delay="indefinite"/>
                      </p:stCondLst>
                      <p:childTnLst>
                        <p:par>
                          <p:cTn id="64" fill="hold">
                            <p:stCondLst>
                              <p:cond delay="0"/>
                            </p:stCondLst>
                            <p:childTnLst>
                              <p:par>
                                <p:cTn id="65" presetID="15" presetClass="entr" presetSubtype="0" fill="hold" grpId="0" nodeType="clickEffect">
                                  <p:stCondLst>
                                    <p:cond delay="0"/>
                                  </p:stCondLst>
                                  <p:childTnLst>
                                    <p:set>
                                      <p:cBhvr>
                                        <p:cTn id="66" dur="1" fill="hold">
                                          <p:stCondLst>
                                            <p:cond delay="0"/>
                                          </p:stCondLst>
                                        </p:cTn>
                                        <p:tgtEl>
                                          <p:spTgt spid="197656"/>
                                        </p:tgtEl>
                                        <p:attrNameLst>
                                          <p:attrName>style.visibility</p:attrName>
                                        </p:attrNameLst>
                                      </p:cBhvr>
                                      <p:to>
                                        <p:strVal val="visible"/>
                                      </p:to>
                                    </p:set>
                                    <p:anim calcmode="lin" valueType="num">
                                      <p:cBhvr>
                                        <p:cTn id="67" dur="1000" fill="hold"/>
                                        <p:tgtEl>
                                          <p:spTgt spid="197656"/>
                                        </p:tgtEl>
                                        <p:attrNameLst>
                                          <p:attrName>ppt_w</p:attrName>
                                        </p:attrNameLst>
                                      </p:cBhvr>
                                      <p:tavLst>
                                        <p:tav tm="0">
                                          <p:val>
                                            <p:fltVal val="0.000000"/>
                                          </p:val>
                                        </p:tav>
                                        <p:tav tm="100000">
                                          <p:val>
                                            <p:strVal val="#ppt_w"/>
                                          </p:val>
                                        </p:tav>
                                      </p:tavLst>
                                    </p:anim>
                                    <p:anim calcmode="lin" valueType="num">
                                      <p:cBhvr>
                                        <p:cTn id="68" dur="1000" fill="hold"/>
                                        <p:tgtEl>
                                          <p:spTgt spid="197656"/>
                                        </p:tgtEl>
                                        <p:attrNameLst>
                                          <p:attrName>ppt_h</p:attrName>
                                        </p:attrNameLst>
                                      </p:cBhvr>
                                      <p:tavLst>
                                        <p:tav tm="0">
                                          <p:val>
                                            <p:fltVal val="0.000000"/>
                                          </p:val>
                                        </p:tav>
                                        <p:tav tm="100000">
                                          <p:val>
                                            <p:strVal val="#ppt_h"/>
                                          </p:val>
                                        </p:tav>
                                      </p:tavLst>
                                    </p:anim>
                                    <p:anim calcmode="lin" valueType="num">
                                      <p:cBhvr>
                                        <p:cTn id="69" dur="1000" fill="hold"/>
                                        <p:tgtEl>
                                          <p:spTgt spid="197656"/>
                                        </p:tgtEl>
                                        <p:attrNameLst>
                                          <p:attrName>ppt_x</p:attrName>
                                        </p:attrNameLst>
                                      </p:cBhvr>
                                      <p:tavLst>
                                        <p:tav tm="0" fmla="#ppt_x+(cos(-2*pi*(1-$))*-#ppt_x-sin(-2*pi*(1-$))*(1-#ppt_y))*(1-$)">
                                          <p:val>
                                            <p:fltVal val="0.000000"/>
                                          </p:val>
                                        </p:tav>
                                        <p:tav tm="100000">
                                          <p:val>
                                            <p:fltVal val="1.000000"/>
                                          </p:val>
                                        </p:tav>
                                      </p:tavLst>
                                    </p:anim>
                                    <p:anim calcmode="lin" valueType="num">
                                      <p:cBhvr>
                                        <p:cTn id="70" dur="1000" fill="hold"/>
                                        <p:tgtEl>
                                          <p:spTgt spid="197656"/>
                                        </p:tgtEl>
                                        <p:attrNameLst>
                                          <p:attrName>ppt_y</p:attrName>
                                        </p:attrNameLst>
                                      </p:cBhvr>
                                      <p:tavLst>
                                        <p:tav tm="0" fmla="#ppt_y+(sin(-2*pi*(1-$))*-#ppt_x+cos(-2*pi*(1-$))*(1-#ppt_y))*(1-$)">
                                          <p:val>
                                            <p:fltVal val="0.000000"/>
                                          </p:val>
                                        </p:tav>
                                        <p:tav tm="100000">
                                          <p:val>
                                            <p:fltVal val="1.000000"/>
                                          </p:val>
                                        </p:tav>
                                      </p:tavLst>
                                    </p:anim>
                                  </p:childTnLst>
                                </p:cTn>
                              </p:par>
                            </p:childTnLst>
                          </p:cTn>
                        </p:par>
                        <p:par>
                          <p:cTn id="71" fill="hold">
                            <p:stCondLst>
                              <p:cond delay="1000"/>
                            </p:stCondLst>
                            <p:childTnLst>
                              <p:par>
                                <p:cTn id="72" presetID="22" presetClass="entr" presetSubtype="8" fill="hold" nodeType="afterEffect">
                                  <p:stCondLst>
                                    <p:cond delay="0"/>
                                  </p:stCondLst>
                                  <p:childTnLst>
                                    <p:set>
                                      <p:cBhvr>
                                        <p:cTn id="73" dur="1" fill="hold">
                                          <p:stCondLst>
                                            <p:cond delay="0"/>
                                          </p:stCondLst>
                                        </p:cTn>
                                        <p:tgtEl>
                                          <p:spTgt spid="197649"/>
                                        </p:tgtEl>
                                        <p:attrNameLst>
                                          <p:attrName>style.visibility</p:attrName>
                                        </p:attrNameLst>
                                      </p:cBhvr>
                                      <p:to>
                                        <p:strVal val="visible"/>
                                      </p:to>
                                    </p:set>
                                    <p:animEffect transition="in" filter="wipe(left)">
                                      <p:cBhvr>
                                        <p:cTn id="74" dur="500"/>
                                        <p:tgtEl>
                                          <p:spTgt spid="197649"/>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197657"/>
                                        </p:tgtEl>
                                        <p:attrNameLst>
                                          <p:attrName>style.visibility</p:attrName>
                                        </p:attrNameLst>
                                      </p:cBhvr>
                                      <p:to>
                                        <p:strVal val="visible"/>
                                      </p:to>
                                    </p:set>
                                    <p:animEffect transition="in" filter="wipe(left)">
                                      <p:cBhvr>
                                        <p:cTn id="79" dur="500"/>
                                        <p:tgtEl>
                                          <p:spTgt spid="197657"/>
                                        </p:tgtEl>
                                      </p:cBhvr>
                                    </p:animEffect>
                                  </p:childTnLst>
                                </p:cTn>
                              </p:par>
                            </p:childTnLst>
                          </p:cTn>
                        </p:par>
                        <p:par>
                          <p:cTn id="80" fill="hold">
                            <p:stCondLst>
                              <p:cond delay="500"/>
                            </p:stCondLst>
                            <p:childTnLst>
                              <p:par>
                                <p:cTn id="81" presetID="22" presetClass="entr" presetSubtype="8" fill="hold" nodeType="afterEffect">
                                  <p:stCondLst>
                                    <p:cond delay="0"/>
                                  </p:stCondLst>
                                  <p:childTnLst>
                                    <p:set>
                                      <p:cBhvr>
                                        <p:cTn id="82" dur="1" fill="hold">
                                          <p:stCondLst>
                                            <p:cond delay="0"/>
                                          </p:stCondLst>
                                        </p:cTn>
                                        <p:tgtEl>
                                          <p:spTgt spid="197684"/>
                                        </p:tgtEl>
                                        <p:attrNameLst>
                                          <p:attrName>style.visibility</p:attrName>
                                        </p:attrNameLst>
                                      </p:cBhvr>
                                      <p:to>
                                        <p:strVal val="visible"/>
                                      </p:to>
                                    </p:set>
                                    <p:animEffect transition="in" filter="wipe(left)">
                                      <p:cBhvr>
                                        <p:cTn id="83" dur="500"/>
                                        <p:tgtEl>
                                          <p:spTgt spid="197684"/>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197650"/>
                                        </p:tgtEl>
                                        <p:attrNameLst>
                                          <p:attrName>style.visibility</p:attrName>
                                        </p:attrNameLst>
                                      </p:cBhvr>
                                      <p:to>
                                        <p:strVal val="visible"/>
                                      </p:to>
                                    </p:set>
                                    <p:animEffect transition="in" filter="wipe(left)">
                                      <p:cBhvr>
                                        <p:cTn id="88" dur="500"/>
                                        <p:tgtEl>
                                          <p:spTgt spid="197650"/>
                                        </p:tgtEl>
                                      </p:cBhvr>
                                    </p:animEffect>
                                  </p:childTnLst>
                                </p:cTn>
                              </p:par>
                            </p:childTnLst>
                          </p:cTn>
                        </p:par>
                        <p:par>
                          <p:cTn id="89" fill="hold">
                            <p:stCondLst>
                              <p:cond delay="500"/>
                            </p:stCondLst>
                            <p:childTnLst>
                              <p:par>
                                <p:cTn id="90" presetID="22" presetClass="entr" presetSubtype="8" fill="hold" nodeType="afterEffect">
                                  <p:stCondLst>
                                    <p:cond delay="0"/>
                                  </p:stCondLst>
                                  <p:childTnLst>
                                    <p:set>
                                      <p:cBhvr>
                                        <p:cTn id="91" dur="1" fill="hold">
                                          <p:stCondLst>
                                            <p:cond delay="0"/>
                                          </p:stCondLst>
                                        </p:cTn>
                                        <p:tgtEl>
                                          <p:spTgt spid="197658"/>
                                        </p:tgtEl>
                                        <p:attrNameLst>
                                          <p:attrName>style.visibility</p:attrName>
                                        </p:attrNameLst>
                                      </p:cBhvr>
                                      <p:to>
                                        <p:strVal val="visible"/>
                                      </p:to>
                                    </p:set>
                                    <p:animEffect transition="in" filter="wipe(left)">
                                      <p:cBhvr>
                                        <p:cTn id="92" dur="500"/>
                                        <p:tgtEl>
                                          <p:spTgt spid="197658"/>
                                        </p:tgtEl>
                                      </p:cBhvr>
                                    </p:animEffect>
                                  </p:childTnLst>
                                </p:cTn>
                              </p:par>
                            </p:childTnLst>
                          </p:cTn>
                        </p:par>
                        <p:par>
                          <p:cTn id="93" fill="hold">
                            <p:stCondLst>
                              <p:cond delay="1000"/>
                            </p:stCondLst>
                            <p:childTnLst>
                              <p:par>
                                <p:cTn id="94" presetID="22" presetClass="entr" presetSubtype="8" fill="hold" nodeType="afterEffect">
                                  <p:stCondLst>
                                    <p:cond delay="0"/>
                                  </p:stCondLst>
                                  <p:childTnLst>
                                    <p:set>
                                      <p:cBhvr>
                                        <p:cTn id="95" dur="1" fill="hold">
                                          <p:stCondLst>
                                            <p:cond delay="0"/>
                                          </p:stCondLst>
                                        </p:cTn>
                                        <p:tgtEl>
                                          <p:spTgt spid="197659"/>
                                        </p:tgtEl>
                                        <p:attrNameLst>
                                          <p:attrName>style.visibility</p:attrName>
                                        </p:attrNameLst>
                                      </p:cBhvr>
                                      <p:to>
                                        <p:strVal val="visible"/>
                                      </p:to>
                                    </p:set>
                                    <p:animEffect transition="in" filter="wipe(left)">
                                      <p:cBhvr>
                                        <p:cTn id="96" dur="500"/>
                                        <p:tgtEl>
                                          <p:spTgt spid="197659"/>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nodeType="clickEffect">
                                  <p:stCondLst>
                                    <p:cond delay="0"/>
                                  </p:stCondLst>
                                  <p:childTnLst>
                                    <p:set>
                                      <p:cBhvr>
                                        <p:cTn id="100" dur="1" fill="hold">
                                          <p:stCondLst>
                                            <p:cond delay="0"/>
                                          </p:stCondLst>
                                        </p:cTn>
                                        <p:tgtEl>
                                          <p:spTgt spid="197651"/>
                                        </p:tgtEl>
                                        <p:attrNameLst>
                                          <p:attrName>style.visibility</p:attrName>
                                        </p:attrNameLst>
                                      </p:cBhvr>
                                      <p:to>
                                        <p:strVal val="visible"/>
                                      </p:to>
                                    </p:set>
                                    <p:animEffect transition="in" filter="wipe(left)">
                                      <p:cBhvr>
                                        <p:cTn id="101" dur="500"/>
                                        <p:tgtEl>
                                          <p:spTgt spid="197651"/>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nodeType="clickEffect">
                                  <p:stCondLst>
                                    <p:cond delay="0"/>
                                  </p:stCondLst>
                                  <p:childTnLst>
                                    <p:set>
                                      <p:cBhvr>
                                        <p:cTn id="105" dur="1" fill="hold">
                                          <p:stCondLst>
                                            <p:cond delay="0"/>
                                          </p:stCondLst>
                                        </p:cTn>
                                        <p:tgtEl>
                                          <p:spTgt spid="197652"/>
                                        </p:tgtEl>
                                        <p:attrNameLst>
                                          <p:attrName>style.visibility</p:attrName>
                                        </p:attrNameLst>
                                      </p:cBhvr>
                                      <p:to>
                                        <p:strVal val="visible"/>
                                      </p:to>
                                    </p:set>
                                    <p:animEffect transition="in" filter="wipe(left)">
                                      <p:cBhvr>
                                        <p:cTn id="106" dur="500"/>
                                        <p:tgtEl>
                                          <p:spTgt spid="197652"/>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nodeType="clickEffect">
                                  <p:stCondLst>
                                    <p:cond delay="0"/>
                                  </p:stCondLst>
                                  <p:childTnLst>
                                    <p:set>
                                      <p:cBhvr>
                                        <p:cTn id="110" dur="1" fill="hold">
                                          <p:stCondLst>
                                            <p:cond delay="0"/>
                                          </p:stCondLst>
                                        </p:cTn>
                                        <p:tgtEl>
                                          <p:spTgt spid="197653"/>
                                        </p:tgtEl>
                                        <p:attrNameLst>
                                          <p:attrName>style.visibility</p:attrName>
                                        </p:attrNameLst>
                                      </p:cBhvr>
                                      <p:to>
                                        <p:strVal val="visible"/>
                                      </p:to>
                                    </p:set>
                                    <p:animEffect transition="in" filter="wipe(left)">
                                      <p:cBhvr>
                                        <p:cTn id="111" dur="500"/>
                                        <p:tgtEl>
                                          <p:spTgt spid="197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4" grpId="0" animBg="1"/>
      <p:bldP spid="197635" grpId="0"/>
      <p:bldP spid="197655" grpId="0" animBg="1"/>
      <p:bldP spid="19765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75" name="Oval 7"/>
          <p:cNvSpPr>
            <a:spLocks noChangeArrowheads="1"/>
          </p:cNvSpPr>
          <p:nvPr/>
        </p:nvSpPr>
        <p:spPr bwMode="auto">
          <a:xfrm>
            <a:off x="736600" y="890588"/>
            <a:ext cx="304800" cy="304800"/>
          </a:xfrm>
          <a:prstGeom prst="ellipse">
            <a:avLst/>
          </a:prstGeom>
          <a:gradFill rotWithShape="0">
            <a:gsLst>
              <a:gs pos="0">
                <a:schemeClr val="accent2">
                  <a:gamma/>
                  <a:shade val="46275"/>
                  <a:invGamma/>
                </a:schemeClr>
              </a:gs>
              <a:gs pos="100000">
                <a:schemeClr val="accent2"/>
              </a:gs>
            </a:gsLst>
            <a:lin ang="5400000" scaled="1"/>
          </a:gradFill>
          <a:ln>
            <a:noFill/>
          </a:ln>
          <a:effectLst>
            <a:outerShdw sy="50000" kx="2453608" rotWithShape="0">
              <a:srgbClr val="808080"/>
            </a:outerShdw>
          </a:effectLst>
          <a:extLst>
            <a:ext uri="{91240B29-F687-4F45-9708-019B960494DF}">
              <a14:hiddenLine xmlns:a14="http://schemas.microsoft.com/office/drawing/2010/main" w="12700">
                <a:solidFill>
                  <a:schemeClr val="tx1"/>
                </a:solidFill>
                <a:round/>
                <a:headEnd type="none" w="sm" len="sm"/>
                <a:tailEnd type="none" w="sm" len="sm"/>
              </a14:hiddenLine>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176" name="Rectangle 8"/>
          <p:cNvSpPr/>
          <p:nvPr/>
        </p:nvSpPr>
        <p:spPr>
          <a:xfrm>
            <a:off x="1300163" y="862013"/>
            <a:ext cx="1595437" cy="406400"/>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dirty="0">
                <a:solidFill>
                  <a:srgbClr val="FF0000"/>
                </a:solidFill>
                <a:latin typeface="Times New Roman" panose="02020603050405020304" pitchFamily="18" charset="0"/>
              </a:rPr>
              <a:t>配项法 </a:t>
            </a:r>
            <a:endParaRPr lang="zh-CN" altLang="en-US" sz="2800" b="1" dirty="0">
              <a:solidFill>
                <a:srgbClr val="FF0000"/>
              </a:solidFill>
              <a:latin typeface="Times New Roman" panose="02020603050405020304" pitchFamily="18" charset="0"/>
            </a:endParaRPr>
          </a:p>
        </p:txBody>
      </p:sp>
      <p:grpSp>
        <p:nvGrpSpPr>
          <p:cNvPr id="135183" name="Group 15"/>
          <p:cNvGrpSpPr/>
          <p:nvPr/>
        </p:nvGrpSpPr>
        <p:grpSpPr>
          <a:xfrm>
            <a:off x="2703513" y="825500"/>
            <a:ext cx="5341937" cy="750888"/>
            <a:chOff x="1703" y="2625"/>
            <a:chExt cx="3366" cy="473"/>
          </a:xfrm>
        </p:grpSpPr>
        <p:sp>
          <p:nvSpPr>
            <p:cNvPr id="52248" name="Rectangle 9"/>
            <p:cNvSpPr/>
            <p:nvPr/>
          </p:nvSpPr>
          <p:spPr>
            <a:xfrm>
              <a:off x="1703" y="2638"/>
              <a:ext cx="3366" cy="460"/>
            </a:xfrm>
            <a:prstGeom prst="rect">
              <a:avLst/>
            </a:prstGeom>
            <a:solidFill>
              <a:srgbClr val="99CCFF">
                <a:alpha val="50195"/>
              </a:srgbClr>
            </a:solidFill>
            <a:ln w="9525">
              <a:noFill/>
            </a:ln>
          </p:spPr>
          <p:txBody>
            <a:bodyPr lIns="0" tIns="0" rIns="0" bIns="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Times New Roman" panose="02020603050405020304" pitchFamily="18" charset="0"/>
                </a:rPr>
                <a:t>通过乘                 或加入零项                </a:t>
              </a:r>
              <a:endParaRPr lang="zh-CN" altLang="en-US" sz="2400" b="1" dirty="0">
                <a:latin typeface="Times New Roman" panose="02020603050405020304" pitchFamily="18" charset="0"/>
              </a:endParaRPr>
            </a:p>
            <a:p>
              <a:pPr marL="0" lvl="0" indent="0" eaLnBrk="1" hangingPunct="1">
                <a:spcBef>
                  <a:spcPct val="0"/>
                </a:spcBef>
                <a:buNone/>
              </a:pPr>
              <a:r>
                <a:rPr lang="zh-CN" altLang="en-US" sz="2400" b="1" dirty="0">
                  <a:latin typeface="Times New Roman" panose="02020603050405020304" pitchFamily="18" charset="0"/>
                </a:rPr>
                <a:t>进行配项，然后再化简。</a:t>
              </a:r>
              <a:endParaRPr lang="zh-CN" altLang="en-US" sz="2400" b="1" i="1" dirty="0">
                <a:solidFill>
                  <a:srgbClr val="FF3300"/>
                </a:solidFill>
                <a:latin typeface="Times New Roman" panose="02020603050405020304" pitchFamily="18" charset="0"/>
              </a:endParaRPr>
            </a:p>
          </p:txBody>
        </p:sp>
        <p:graphicFrame>
          <p:nvGraphicFramePr>
            <p:cNvPr id="52249" name="Object 12"/>
            <p:cNvGraphicFramePr>
              <a:graphicFrameLocks noChangeAspect="1"/>
            </p:cNvGraphicFramePr>
            <p:nvPr/>
          </p:nvGraphicFramePr>
          <p:xfrm>
            <a:off x="2315" y="2625"/>
            <a:ext cx="760" cy="200"/>
          </p:xfrm>
          <a:graphic>
            <a:graphicData uri="http://schemas.openxmlformats.org/presentationml/2006/ole">
              <mc:AlternateContent xmlns:mc="http://schemas.openxmlformats.org/markup-compatibility/2006">
                <mc:Choice xmlns:v="urn:schemas-microsoft-com:vml" Requires="v">
                  <p:oleObj spid="_x0000_s3189" name="" r:id="rId1" imgW="1205865" imgH="317500" progId="Equation.3">
                    <p:embed/>
                  </p:oleObj>
                </mc:Choice>
                <mc:Fallback>
                  <p:oleObj name="" r:id="rId1" imgW="1205865" imgH="317500" progId="Equation.3">
                    <p:embed/>
                    <p:pic>
                      <p:nvPicPr>
                        <p:cNvPr id="0" name="图片 3188"/>
                        <p:cNvPicPr/>
                        <p:nvPr/>
                      </p:nvPicPr>
                      <p:blipFill>
                        <a:blip r:embed="rId2"/>
                        <a:stretch>
                          <a:fillRect/>
                        </a:stretch>
                      </p:blipFill>
                      <p:spPr>
                        <a:xfrm>
                          <a:off x="2315" y="2625"/>
                          <a:ext cx="760" cy="200"/>
                        </a:xfrm>
                        <a:prstGeom prst="rect">
                          <a:avLst/>
                        </a:prstGeom>
                        <a:noFill/>
                        <a:ln w="38100">
                          <a:noFill/>
                          <a:miter/>
                        </a:ln>
                      </p:spPr>
                    </p:pic>
                  </p:oleObj>
                </mc:Fallback>
              </mc:AlternateContent>
            </a:graphicData>
          </a:graphic>
        </p:graphicFrame>
        <p:graphicFrame>
          <p:nvGraphicFramePr>
            <p:cNvPr id="52250" name="Object 13"/>
            <p:cNvGraphicFramePr>
              <a:graphicFrameLocks noChangeAspect="1"/>
            </p:cNvGraphicFramePr>
            <p:nvPr/>
          </p:nvGraphicFramePr>
          <p:xfrm>
            <a:off x="4121" y="2642"/>
            <a:ext cx="696" cy="208"/>
          </p:xfrm>
          <a:graphic>
            <a:graphicData uri="http://schemas.openxmlformats.org/presentationml/2006/ole">
              <mc:AlternateContent xmlns:mc="http://schemas.openxmlformats.org/markup-compatibility/2006">
                <mc:Choice xmlns:v="urn:schemas-microsoft-com:vml" Requires="v">
                  <p:oleObj spid="_x0000_s3192" name="" r:id="rId3" imgW="1104900" imgH="330200" progId="Equation.3">
                    <p:embed/>
                  </p:oleObj>
                </mc:Choice>
                <mc:Fallback>
                  <p:oleObj name="" r:id="rId3" imgW="1104900" imgH="330200" progId="Equation.3">
                    <p:embed/>
                    <p:pic>
                      <p:nvPicPr>
                        <p:cNvPr id="0" name="图片 3191"/>
                        <p:cNvPicPr/>
                        <p:nvPr/>
                      </p:nvPicPr>
                      <p:blipFill>
                        <a:blip r:embed="rId4"/>
                        <a:stretch>
                          <a:fillRect/>
                        </a:stretch>
                      </p:blipFill>
                      <p:spPr>
                        <a:xfrm>
                          <a:off x="4121" y="2642"/>
                          <a:ext cx="696" cy="208"/>
                        </a:xfrm>
                        <a:prstGeom prst="rect">
                          <a:avLst/>
                        </a:prstGeom>
                        <a:noFill/>
                        <a:ln w="38100">
                          <a:noFill/>
                          <a:miter/>
                        </a:ln>
                      </p:spPr>
                    </p:pic>
                  </p:oleObj>
                </mc:Fallback>
              </mc:AlternateContent>
            </a:graphicData>
          </a:graphic>
        </p:graphicFrame>
      </p:grpSp>
      <p:sp>
        <p:nvSpPr>
          <p:cNvPr id="135199" name="AutoShape 31"/>
          <p:cNvSpPr/>
          <p:nvPr/>
        </p:nvSpPr>
        <p:spPr>
          <a:xfrm>
            <a:off x="1397000" y="1912938"/>
            <a:ext cx="228600" cy="228600"/>
          </a:xfrm>
          <a:prstGeom prst="sun">
            <a:avLst>
              <a:gd name="adj" fmla="val 25000"/>
            </a:avLst>
          </a:prstGeom>
          <a:solidFill>
            <a:schemeClr val="tx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graphicFrame>
        <p:nvGraphicFramePr>
          <p:cNvPr id="135204" name="Object 36"/>
          <p:cNvGraphicFramePr>
            <a:graphicFrameLocks noChangeAspect="1"/>
          </p:cNvGraphicFramePr>
          <p:nvPr/>
        </p:nvGraphicFramePr>
        <p:xfrm>
          <a:off x="2193925" y="2365375"/>
          <a:ext cx="3662363" cy="325438"/>
        </p:xfrm>
        <a:graphic>
          <a:graphicData uri="http://schemas.openxmlformats.org/presentationml/2006/ole">
            <mc:AlternateContent xmlns:mc="http://schemas.openxmlformats.org/markup-compatibility/2006">
              <mc:Choice xmlns:v="urn:schemas-microsoft-com:vml" Requires="v">
                <p:oleObj spid="_x0000_s3187" name="" r:id="rId5" imgW="3822700" imgH="330200" progId="Equation.3">
                  <p:embed/>
                </p:oleObj>
              </mc:Choice>
              <mc:Fallback>
                <p:oleObj name="" r:id="rId5" imgW="3822700" imgH="330200" progId="Equation.3">
                  <p:embed/>
                  <p:pic>
                    <p:nvPicPr>
                      <p:cNvPr id="0" name="图片 3186"/>
                      <p:cNvPicPr/>
                      <p:nvPr/>
                    </p:nvPicPr>
                    <p:blipFill>
                      <a:blip r:embed="rId6"/>
                      <a:stretch>
                        <a:fillRect/>
                      </a:stretch>
                    </p:blipFill>
                    <p:spPr>
                      <a:xfrm>
                        <a:off x="2193925" y="2365375"/>
                        <a:ext cx="3662363" cy="325438"/>
                      </a:xfrm>
                      <a:prstGeom prst="rect">
                        <a:avLst/>
                      </a:prstGeom>
                      <a:noFill/>
                      <a:ln w="38100">
                        <a:noFill/>
                        <a:miter/>
                      </a:ln>
                    </p:spPr>
                  </p:pic>
                </p:oleObj>
              </mc:Fallback>
            </mc:AlternateContent>
          </a:graphicData>
        </a:graphic>
      </p:graphicFrame>
      <p:graphicFrame>
        <p:nvGraphicFramePr>
          <p:cNvPr id="135211" name="Object 43"/>
          <p:cNvGraphicFramePr>
            <a:graphicFrameLocks noChangeAspect="1"/>
          </p:cNvGraphicFramePr>
          <p:nvPr/>
        </p:nvGraphicFramePr>
        <p:xfrm>
          <a:off x="2206625" y="2917825"/>
          <a:ext cx="1341438" cy="320675"/>
        </p:xfrm>
        <a:graphic>
          <a:graphicData uri="http://schemas.openxmlformats.org/presentationml/2006/ole">
            <mc:AlternateContent xmlns:mc="http://schemas.openxmlformats.org/markup-compatibility/2006">
              <mc:Choice xmlns:v="urn:schemas-microsoft-com:vml" Requires="v">
                <p:oleObj spid="_x0000_s3193" name="" r:id="rId7" imgW="1459865" imgH="330200" progId="Equation.3">
                  <p:embed/>
                </p:oleObj>
              </mc:Choice>
              <mc:Fallback>
                <p:oleObj name="" r:id="rId7" imgW="1459865" imgH="330200" progId="Equation.3">
                  <p:embed/>
                  <p:pic>
                    <p:nvPicPr>
                      <p:cNvPr id="0" name="图片 3192"/>
                      <p:cNvPicPr/>
                      <p:nvPr/>
                    </p:nvPicPr>
                    <p:blipFill>
                      <a:blip r:embed="rId8"/>
                      <a:stretch>
                        <a:fillRect/>
                      </a:stretch>
                    </p:blipFill>
                    <p:spPr>
                      <a:xfrm>
                        <a:off x="2206625" y="2917825"/>
                        <a:ext cx="1341438" cy="320675"/>
                      </a:xfrm>
                      <a:prstGeom prst="rect">
                        <a:avLst/>
                      </a:prstGeom>
                      <a:noFill/>
                      <a:ln w="38100">
                        <a:noFill/>
                        <a:miter/>
                      </a:ln>
                    </p:spPr>
                  </p:pic>
                </p:oleObj>
              </mc:Fallback>
            </mc:AlternateContent>
          </a:graphicData>
        </a:graphic>
      </p:graphicFrame>
      <p:sp>
        <p:nvSpPr>
          <p:cNvPr id="135212" name="Line 44"/>
          <p:cNvSpPr/>
          <p:nvPr/>
        </p:nvSpPr>
        <p:spPr>
          <a:xfrm>
            <a:off x="2430463" y="2722563"/>
            <a:ext cx="482600" cy="0"/>
          </a:xfrm>
          <a:prstGeom prst="line">
            <a:avLst/>
          </a:prstGeom>
          <a:ln w="28575" cap="flat" cmpd="sng">
            <a:solidFill>
              <a:schemeClr val="accent1"/>
            </a:solidFill>
            <a:prstDash val="solid"/>
            <a:headEnd type="none" w="med" len="med"/>
            <a:tailEnd type="none" w="med" len="med"/>
          </a:ln>
        </p:spPr>
      </p:sp>
      <p:sp>
        <p:nvSpPr>
          <p:cNvPr id="135213" name="Line 45"/>
          <p:cNvSpPr/>
          <p:nvPr/>
        </p:nvSpPr>
        <p:spPr>
          <a:xfrm>
            <a:off x="3824288" y="2711450"/>
            <a:ext cx="469900" cy="0"/>
          </a:xfrm>
          <a:prstGeom prst="line">
            <a:avLst/>
          </a:prstGeom>
          <a:ln w="28575" cap="flat" cmpd="sng">
            <a:solidFill>
              <a:schemeClr val="accent1"/>
            </a:solidFill>
            <a:prstDash val="solid"/>
            <a:headEnd type="none" w="med" len="med"/>
            <a:tailEnd type="none" w="med" len="med"/>
          </a:ln>
        </p:spPr>
      </p:sp>
      <p:sp>
        <p:nvSpPr>
          <p:cNvPr id="135214" name="Line 46"/>
          <p:cNvSpPr/>
          <p:nvPr/>
        </p:nvSpPr>
        <p:spPr>
          <a:xfrm>
            <a:off x="3135313" y="2717800"/>
            <a:ext cx="395287" cy="0"/>
          </a:xfrm>
          <a:prstGeom prst="line">
            <a:avLst/>
          </a:prstGeom>
          <a:ln w="28575" cap="flat" cmpd="sng">
            <a:solidFill>
              <a:srgbClr val="0033CC"/>
            </a:solidFill>
            <a:prstDash val="solid"/>
            <a:headEnd type="none" w="med" len="med"/>
            <a:tailEnd type="none" w="med" len="med"/>
          </a:ln>
        </p:spPr>
      </p:sp>
      <p:sp>
        <p:nvSpPr>
          <p:cNvPr id="135215" name="Line 47"/>
          <p:cNvSpPr/>
          <p:nvPr/>
        </p:nvSpPr>
        <p:spPr>
          <a:xfrm>
            <a:off x="5180013" y="2719388"/>
            <a:ext cx="444500" cy="0"/>
          </a:xfrm>
          <a:prstGeom prst="line">
            <a:avLst/>
          </a:prstGeom>
          <a:ln w="28575" cap="flat" cmpd="sng">
            <a:solidFill>
              <a:srgbClr val="0033CC"/>
            </a:solidFill>
            <a:prstDash val="solid"/>
            <a:headEnd type="none" w="med" len="med"/>
            <a:tailEnd type="none" w="med" len="med"/>
          </a:ln>
        </p:spPr>
      </p:sp>
      <p:sp>
        <p:nvSpPr>
          <p:cNvPr id="135216" name="AutoShape 48"/>
          <p:cNvSpPr/>
          <p:nvPr/>
        </p:nvSpPr>
        <p:spPr>
          <a:xfrm>
            <a:off x="1409700" y="3705225"/>
            <a:ext cx="228600" cy="228600"/>
          </a:xfrm>
          <a:prstGeom prst="sun">
            <a:avLst>
              <a:gd name="adj" fmla="val 25000"/>
            </a:avLst>
          </a:prstGeom>
          <a:solidFill>
            <a:schemeClr val="tx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graphicFrame>
        <p:nvGraphicFramePr>
          <p:cNvPr id="135218" name="Object 50"/>
          <p:cNvGraphicFramePr>
            <a:graphicFrameLocks noChangeAspect="1"/>
          </p:cNvGraphicFramePr>
          <p:nvPr/>
        </p:nvGraphicFramePr>
        <p:xfrm>
          <a:off x="2216150" y="4160838"/>
          <a:ext cx="2503488" cy="349250"/>
        </p:xfrm>
        <a:graphic>
          <a:graphicData uri="http://schemas.openxmlformats.org/presentationml/2006/ole">
            <mc:AlternateContent xmlns:mc="http://schemas.openxmlformats.org/markup-compatibility/2006">
              <mc:Choice xmlns:v="urn:schemas-microsoft-com:vml" Requires="v">
                <p:oleObj spid="_x0000_s3185" name="" r:id="rId9" imgW="2501900" imgH="330200" progId="Equation.3">
                  <p:embed/>
                </p:oleObj>
              </mc:Choice>
              <mc:Fallback>
                <p:oleObj name="" r:id="rId9" imgW="2501900" imgH="330200" progId="Equation.3">
                  <p:embed/>
                  <p:pic>
                    <p:nvPicPr>
                      <p:cNvPr id="0" name="图片 3184"/>
                      <p:cNvPicPr/>
                      <p:nvPr/>
                    </p:nvPicPr>
                    <p:blipFill>
                      <a:blip r:embed="rId10"/>
                      <a:stretch>
                        <a:fillRect/>
                      </a:stretch>
                    </p:blipFill>
                    <p:spPr>
                      <a:xfrm>
                        <a:off x="2216150" y="4160838"/>
                        <a:ext cx="2503488" cy="349250"/>
                      </a:xfrm>
                      <a:prstGeom prst="rect">
                        <a:avLst/>
                      </a:prstGeom>
                      <a:noFill/>
                      <a:ln w="38100">
                        <a:noFill/>
                        <a:miter/>
                      </a:ln>
                    </p:spPr>
                  </p:pic>
                </p:oleObj>
              </mc:Fallback>
            </mc:AlternateContent>
          </a:graphicData>
        </a:graphic>
      </p:graphicFrame>
      <p:graphicFrame>
        <p:nvGraphicFramePr>
          <p:cNvPr id="135219" name="Object 51"/>
          <p:cNvGraphicFramePr>
            <a:graphicFrameLocks noChangeAspect="1"/>
          </p:cNvGraphicFramePr>
          <p:nvPr/>
        </p:nvGraphicFramePr>
        <p:xfrm>
          <a:off x="4781550" y="4176713"/>
          <a:ext cx="1095375" cy="304800"/>
        </p:xfrm>
        <a:graphic>
          <a:graphicData uri="http://schemas.openxmlformats.org/presentationml/2006/ole">
            <mc:AlternateContent xmlns:mc="http://schemas.openxmlformats.org/markup-compatibility/2006">
              <mc:Choice xmlns:v="urn:schemas-microsoft-com:vml" Requires="v">
                <p:oleObj spid="_x0000_s3191" name="" r:id="rId11" imgW="1095375" imgH="304800" progId="Paint.Picture">
                  <p:embed/>
                </p:oleObj>
              </mc:Choice>
              <mc:Fallback>
                <p:oleObj name="" r:id="rId11" imgW="1095375" imgH="304800" progId="Paint.Picture">
                  <p:embed/>
                  <p:pic>
                    <p:nvPicPr>
                      <p:cNvPr id="0" name="图片 3190"/>
                      <p:cNvPicPr/>
                      <p:nvPr/>
                    </p:nvPicPr>
                    <p:blipFill>
                      <a:blip r:embed="rId12"/>
                      <a:stretch>
                        <a:fillRect/>
                      </a:stretch>
                    </p:blipFill>
                    <p:spPr>
                      <a:xfrm>
                        <a:off x="4781550" y="4176713"/>
                        <a:ext cx="1095375" cy="304800"/>
                      </a:xfrm>
                      <a:prstGeom prst="rect">
                        <a:avLst/>
                      </a:prstGeom>
                      <a:noFill/>
                      <a:ln w="38100">
                        <a:noFill/>
                        <a:miter/>
                      </a:ln>
                    </p:spPr>
                  </p:pic>
                </p:oleObj>
              </mc:Fallback>
            </mc:AlternateContent>
          </a:graphicData>
        </a:graphic>
      </p:graphicFrame>
      <p:sp>
        <p:nvSpPr>
          <p:cNvPr id="135220" name="Line 52"/>
          <p:cNvSpPr/>
          <p:nvPr/>
        </p:nvSpPr>
        <p:spPr>
          <a:xfrm>
            <a:off x="2473325" y="4538663"/>
            <a:ext cx="454025" cy="0"/>
          </a:xfrm>
          <a:prstGeom prst="line">
            <a:avLst/>
          </a:prstGeom>
          <a:ln w="28575" cap="flat" cmpd="sng">
            <a:solidFill>
              <a:schemeClr val="accent1"/>
            </a:solidFill>
            <a:prstDash val="solid"/>
            <a:headEnd type="none" w="med" len="med"/>
            <a:tailEnd type="none" w="med" len="med"/>
          </a:ln>
        </p:spPr>
      </p:sp>
      <p:sp>
        <p:nvSpPr>
          <p:cNvPr id="135221" name="Line 53"/>
          <p:cNvSpPr/>
          <p:nvPr/>
        </p:nvSpPr>
        <p:spPr>
          <a:xfrm>
            <a:off x="4930775" y="4538663"/>
            <a:ext cx="428625" cy="0"/>
          </a:xfrm>
          <a:prstGeom prst="line">
            <a:avLst/>
          </a:prstGeom>
          <a:ln w="28575" cap="flat" cmpd="sng">
            <a:solidFill>
              <a:schemeClr val="accent1"/>
            </a:solidFill>
            <a:prstDash val="solid"/>
            <a:headEnd type="none" w="med" len="med"/>
            <a:tailEnd type="none" w="med" len="med"/>
          </a:ln>
        </p:spPr>
      </p:sp>
      <p:graphicFrame>
        <p:nvGraphicFramePr>
          <p:cNvPr id="135222" name="Object 54"/>
          <p:cNvGraphicFramePr>
            <a:graphicFrameLocks noChangeAspect="1"/>
          </p:cNvGraphicFramePr>
          <p:nvPr/>
        </p:nvGraphicFramePr>
        <p:xfrm>
          <a:off x="2232025" y="4745038"/>
          <a:ext cx="3441700" cy="393700"/>
        </p:xfrm>
        <a:graphic>
          <a:graphicData uri="http://schemas.openxmlformats.org/presentationml/2006/ole">
            <mc:AlternateContent xmlns:mc="http://schemas.openxmlformats.org/markup-compatibility/2006">
              <mc:Choice xmlns:v="urn:schemas-microsoft-com:vml" Requires="v">
                <p:oleObj spid="_x0000_s3188" name="" r:id="rId13" imgW="3441700" imgH="393700" progId="Equation.3">
                  <p:embed/>
                </p:oleObj>
              </mc:Choice>
              <mc:Fallback>
                <p:oleObj name="" r:id="rId13" imgW="3441700" imgH="393700" progId="Equation.3">
                  <p:embed/>
                  <p:pic>
                    <p:nvPicPr>
                      <p:cNvPr id="0" name="图片 3187"/>
                      <p:cNvPicPr/>
                      <p:nvPr/>
                    </p:nvPicPr>
                    <p:blipFill>
                      <a:blip r:embed="rId14"/>
                      <a:stretch>
                        <a:fillRect/>
                      </a:stretch>
                    </p:blipFill>
                    <p:spPr>
                      <a:xfrm>
                        <a:off x="2232025" y="4745038"/>
                        <a:ext cx="3441700" cy="393700"/>
                      </a:xfrm>
                      <a:prstGeom prst="rect">
                        <a:avLst/>
                      </a:prstGeom>
                      <a:noFill/>
                      <a:ln w="38100">
                        <a:noFill/>
                        <a:miter/>
                      </a:ln>
                    </p:spPr>
                  </p:pic>
                </p:oleObj>
              </mc:Fallback>
            </mc:AlternateContent>
          </a:graphicData>
        </a:graphic>
      </p:graphicFrame>
      <p:graphicFrame>
        <p:nvGraphicFramePr>
          <p:cNvPr id="135223" name="Object 55"/>
          <p:cNvGraphicFramePr>
            <a:graphicFrameLocks noChangeAspect="1"/>
          </p:cNvGraphicFramePr>
          <p:nvPr/>
        </p:nvGraphicFramePr>
        <p:xfrm>
          <a:off x="2230438" y="5395913"/>
          <a:ext cx="3098800" cy="330200"/>
        </p:xfrm>
        <a:graphic>
          <a:graphicData uri="http://schemas.openxmlformats.org/presentationml/2006/ole">
            <mc:AlternateContent xmlns:mc="http://schemas.openxmlformats.org/markup-compatibility/2006">
              <mc:Choice xmlns:v="urn:schemas-microsoft-com:vml" Requires="v">
                <p:oleObj spid="_x0000_s3182" name="" r:id="rId15" imgW="3098800" imgH="330200" progId="Equation.3">
                  <p:embed/>
                </p:oleObj>
              </mc:Choice>
              <mc:Fallback>
                <p:oleObj name="" r:id="rId15" imgW="3098800" imgH="330200" progId="Equation.3">
                  <p:embed/>
                  <p:pic>
                    <p:nvPicPr>
                      <p:cNvPr id="0" name="图片 3181"/>
                      <p:cNvPicPr/>
                      <p:nvPr/>
                    </p:nvPicPr>
                    <p:blipFill>
                      <a:blip r:embed="rId16"/>
                      <a:stretch>
                        <a:fillRect/>
                      </a:stretch>
                    </p:blipFill>
                    <p:spPr>
                      <a:xfrm>
                        <a:off x="2230438" y="5395913"/>
                        <a:ext cx="3098800" cy="330200"/>
                      </a:xfrm>
                      <a:prstGeom prst="rect">
                        <a:avLst/>
                      </a:prstGeom>
                      <a:noFill/>
                      <a:ln w="38100">
                        <a:noFill/>
                        <a:miter/>
                      </a:ln>
                    </p:spPr>
                  </p:pic>
                </p:oleObj>
              </mc:Fallback>
            </mc:AlternateContent>
          </a:graphicData>
        </a:graphic>
      </p:graphicFrame>
      <p:graphicFrame>
        <p:nvGraphicFramePr>
          <p:cNvPr id="135224" name="Object 56"/>
          <p:cNvGraphicFramePr>
            <a:graphicFrameLocks noChangeAspect="1"/>
          </p:cNvGraphicFramePr>
          <p:nvPr/>
        </p:nvGraphicFramePr>
        <p:xfrm>
          <a:off x="2252663" y="6110288"/>
          <a:ext cx="2501900" cy="330200"/>
        </p:xfrm>
        <a:graphic>
          <a:graphicData uri="http://schemas.openxmlformats.org/presentationml/2006/ole">
            <mc:AlternateContent xmlns:mc="http://schemas.openxmlformats.org/markup-compatibility/2006">
              <mc:Choice xmlns:v="urn:schemas-microsoft-com:vml" Requires="v">
                <p:oleObj spid="_x0000_s3183" name="" r:id="rId17" imgW="2501900" imgH="330200" progId="Equation.3">
                  <p:embed/>
                </p:oleObj>
              </mc:Choice>
              <mc:Fallback>
                <p:oleObj name="" r:id="rId17" imgW="2501900" imgH="330200" progId="Equation.3">
                  <p:embed/>
                  <p:pic>
                    <p:nvPicPr>
                      <p:cNvPr id="0" name="图片 3182"/>
                      <p:cNvPicPr/>
                      <p:nvPr/>
                    </p:nvPicPr>
                    <p:blipFill>
                      <a:blip r:embed="rId18"/>
                      <a:stretch>
                        <a:fillRect/>
                      </a:stretch>
                    </p:blipFill>
                    <p:spPr>
                      <a:xfrm>
                        <a:off x="2252663" y="6110288"/>
                        <a:ext cx="2501900" cy="330200"/>
                      </a:xfrm>
                      <a:prstGeom prst="rect">
                        <a:avLst/>
                      </a:prstGeom>
                      <a:noFill/>
                      <a:ln w="38100">
                        <a:noFill/>
                        <a:miter/>
                      </a:ln>
                    </p:spPr>
                  </p:pic>
                </p:oleObj>
              </mc:Fallback>
            </mc:AlternateContent>
          </a:graphicData>
        </a:graphic>
      </p:graphicFrame>
      <p:graphicFrame>
        <p:nvGraphicFramePr>
          <p:cNvPr id="135233" name="Object 65"/>
          <p:cNvGraphicFramePr>
            <a:graphicFrameLocks noChangeAspect="1"/>
          </p:cNvGraphicFramePr>
          <p:nvPr/>
        </p:nvGraphicFramePr>
        <p:xfrm>
          <a:off x="1912938" y="1900238"/>
          <a:ext cx="2789237" cy="285750"/>
        </p:xfrm>
        <a:graphic>
          <a:graphicData uri="http://schemas.openxmlformats.org/presentationml/2006/ole">
            <mc:AlternateContent xmlns:mc="http://schemas.openxmlformats.org/markup-compatibility/2006">
              <mc:Choice xmlns:v="urn:schemas-microsoft-com:vml" Requires="v">
                <p:oleObj spid="_x0000_s3186" name="" r:id="rId19" imgW="2266950" imgH="238125" progId="Paint.Picture">
                  <p:embed/>
                </p:oleObj>
              </mc:Choice>
              <mc:Fallback>
                <p:oleObj name="" r:id="rId19" imgW="2266950" imgH="238125" progId="Paint.Picture">
                  <p:embed/>
                  <p:pic>
                    <p:nvPicPr>
                      <p:cNvPr id="0" name="图片 3185"/>
                      <p:cNvPicPr/>
                      <p:nvPr/>
                    </p:nvPicPr>
                    <p:blipFill>
                      <a:blip r:embed="rId20"/>
                      <a:stretch>
                        <a:fillRect/>
                      </a:stretch>
                    </p:blipFill>
                    <p:spPr>
                      <a:xfrm>
                        <a:off x="1912938" y="1900238"/>
                        <a:ext cx="2789237" cy="285750"/>
                      </a:xfrm>
                      <a:prstGeom prst="rect">
                        <a:avLst/>
                      </a:prstGeom>
                      <a:noFill/>
                      <a:ln w="38100">
                        <a:noFill/>
                        <a:miter/>
                      </a:ln>
                    </p:spPr>
                  </p:pic>
                </p:oleObj>
              </mc:Fallback>
            </mc:AlternateContent>
          </a:graphicData>
        </a:graphic>
      </p:graphicFrame>
      <p:graphicFrame>
        <p:nvGraphicFramePr>
          <p:cNvPr id="135234" name="Object 66"/>
          <p:cNvGraphicFramePr>
            <a:graphicFrameLocks noChangeAspect="1"/>
          </p:cNvGraphicFramePr>
          <p:nvPr/>
        </p:nvGraphicFramePr>
        <p:xfrm>
          <a:off x="4749800" y="1874838"/>
          <a:ext cx="3276600" cy="365125"/>
        </p:xfrm>
        <a:graphic>
          <a:graphicData uri="http://schemas.openxmlformats.org/presentationml/2006/ole">
            <mc:AlternateContent xmlns:mc="http://schemas.openxmlformats.org/markup-compatibility/2006">
              <mc:Choice xmlns:v="urn:schemas-microsoft-com:vml" Requires="v">
                <p:oleObj spid="_x0000_s3190" name="" r:id="rId21" imgW="2895600" imgH="314325" progId="Paint.Picture">
                  <p:embed/>
                </p:oleObj>
              </mc:Choice>
              <mc:Fallback>
                <p:oleObj name="" r:id="rId21" imgW="2895600" imgH="314325" progId="Paint.Picture">
                  <p:embed/>
                  <p:pic>
                    <p:nvPicPr>
                      <p:cNvPr id="0" name="图片 3189"/>
                      <p:cNvPicPr/>
                      <p:nvPr/>
                    </p:nvPicPr>
                    <p:blipFill>
                      <a:blip r:embed="rId22"/>
                      <a:stretch>
                        <a:fillRect/>
                      </a:stretch>
                    </p:blipFill>
                    <p:spPr>
                      <a:xfrm>
                        <a:off x="4749800" y="1874838"/>
                        <a:ext cx="3276600" cy="365125"/>
                      </a:xfrm>
                      <a:prstGeom prst="rect">
                        <a:avLst/>
                      </a:prstGeom>
                      <a:noFill/>
                      <a:ln w="38100">
                        <a:noFill/>
                        <a:miter/>
                      </a:ln>
                    </p:spPr>
                  </p:pic>
                </p:oleObj>
              </mc:Fallback>
            </mc:AlternateContent>
          </a:graphicData>
        </a:graphic>
      </p:graphicFrame>
      <p:sp>
        <p:nvSpPr>
          <p:cNvPr id="135232" name="Line 64"/>
          <p:cNvSpPr/>
          <p:nvPr/>
        </p:nvSpPr>
        <p:spPr>
          <a:xfrm>
            <a:off x="6453188" y="2216150"/>
            <a:ext cx="1536700" cy="0"/>
          </a:xfrm>
          <a:prstGeom prst="line">
            <a:avLst/>
          </a:prstGeom>
          <a:ln w="28575" cap="flat" cmpd="sng">
            <a:solidFill>
              <a:schemeClr val="accent1"/>
            </a:solidFill>
            <a:prstDash val="solid"/>
            <a:headEnd type="none" w="med" len="med"/>
            <a:tailEnd type="none" w="med" len="med"/>
          </a:ln>
        </p:spPr>
      </p:sp>
      <p:graphicFrame>
        <p:nvGraphicFramePr>
          <p:cNvPr id="135238" name="Object 70"/>
          <p:cNvGraphicFramePr>
            <a:graphicFrameLocks noChangeAspect="1"/>
          </p:cNvGraphicFramePr>
          <p:nvPr/>
        </p:nvGraphicFramePr>
        <p:xfrm>
          <a:off x="1943100" y="3644900"/>
          <a:ext cx="2794000" cy="342900"/>
        </p:xfrm>
        <a:graphic>
          <a:graphicData uri="http://schemas.openxmlformats.org/presentationml/2006/ole">
            <mc:AlternateContent xmlns:mc="http://schemas.openxmlformats.org/markup-compatibility/2006">
              <mc:Choice xmlns:v="urn:schemas-microsoft-com:vml" Requires="v">
                <p:oleObj spid="_x0000_s3184" name="" r:id="rId23" imgW="2362200" imgH="304800" progId="Paint.Picture">
                  <p:embed/>
                </p:oleObj>
              </mc:Choice>
              <mc:Fallback>
                <p:oleObj name="" r:id="rId23" imgW="2362200" imgH="304800" progId="Paint.Picture">
                  <p:embed/>
                  <p:pic>
                    <p:nvPicPr>
                      <p:cNvPr id="0" name="图片 3183"/>
                      <p:cNvPicPr/>
                      <p:nvPr/>
                    </p:nvPicPr>
                    <p:blipFill>
                      <a:blip r:embed="rId24"/>
                      <a:stretch>
                        <a:fillRect/>
                      </a:stretch>
                    </p:blipFill>
                    <p:spPr>
                      <a:xfrm>
                        <a:off x="1943100" y="3644900"/>
                        <a:ext cx="2794000" cy="342900"/>
                      </a:xfrm>
                      <a:prstGeom prst="rect">
                        <a:avLst/>
                      </a:prstGeom>
                      <a:noFill/>
                      <a:ln w="38100">
                        <a:noFill/>
                        <a:miter/>
                      </a:ln>
                    </p:spPr>
                  </p:pic>
                </p:oleObj>
              </mc:Fallback>
            </mc:AlternateContent>
          </a:graphicData>
        </a:graphic>
      </p:graphicFrame>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35175"/>
                                        </p:tgtEl>
                                        <p:attrNameLst>
                                          <p:attrName>style.visibility</p:attrName>
                                        </p:attrNameLst>
                                      </p:cBhvr>
                                      <p:to>
                                        <p:strVal val="visible"/>
                                      </p:to>
                                    </p:set>
                                    <p:anim calcmode="lin" valueType="num">
                                      <p:cBhvr additive="base">
                                        <p:cTn id="7" dur="500" fill="hold"/>
                                        <p:tgtEl>
                                          <p:spTgt spid="135175"/>
                                        </p:tgtEl>
                                        <p:attrNameLst>
                                          <p:attrName>ppt_x</p:attrName>
                                        </p:attrNameLst>
                                      </p:cBhvr>
                                      <p:tavLst>
                                        <p:tav tm="0">
                                          <p:val>
                                            <p:strVal val="0-#ppt_w/2"/>
                                          </p:val>
                                        </p:tav>
                                        <p:tav tm="100000">
                                          <p:val>
                                            <p:strVal val="#ppt_x"/>
                                          </p:val>
                                        </p:tav>
                                      </p:tavLst>
                                    </p:anim>
                                    <p:anim calcmode="lin" valueType="num">
                                      <p:cBhvr additive="base">
                                        <p:cTn id="8" dur="500" fill="hold"/>
                                        <p:tgtEl>
                                          <p:spTgt spid="13517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135176"/>
                                        </p:tgtEl>
                                        <p:attrNameLst>
                                          <p:attrName>style.visibility</p:attrName>
                                        </p:attrNameLst>
                                      </p:cBhvr>
                                      <p:to>
                                        <p:strVal val="visible"/>
                                      </p:to>
                                    </p:set>
                                    <p:animEffect transition="in" filter="wipe(left)">
                                      <p:cBhvr>
                                        <p:cTn id="12" dur="500"/>
                                        <p:tgtEl>
                                          <p:spTgt spid="135176"/>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135183"/>
                                        </p:tgtEl>
                                        <p:attrNameLst>
                                          <p:attrName>style.visibility</p:attrName>
                                        </p:attrNameLst>
                                      </p:cBhvr>
                                      <p:to>
                                        <p:strVal val="visible"/>
                                      </p:to>
                                    </p:set>
                                    <p:animEffect transition="in" filter="wipe(left)">
                                      <p:cBhvr>
                                        <p:cTn id="16" dur="500"/>
                                        <p:tgtEl>
                                          <p:spTgt spid="135183"/>
                                        </p:tgtEl>
                                      </p:cBhvr>
                                    </p:animEffect>
                                  </p:childTnLst>
                                </p:cTn>
                              </p:par>
                            </p:childTnLst>
                          </p:cTn>
                        </p:par>
                      </p:childTnLst>
                    </p:cTn>
                  </p:par>
                  <p:par>
                    <p:cTn id="17" fill="hold">
                      <p:stCondLst>
                        <p:cond delay="indefinite"/>
                      </p:stCondLst>
                      <p:childTnLst>
                        <p:par>
                          <p:cTn id="18" fill="hold">
                            <p:stCondLst>
                              <p:cond delay="0"/>
                            </p:stCondLst>
                            <p:childTnLst>
                              <p:par>
                                <p:cTn id="19" presetID="15" presetClass="entr" presetSubtype="0" fill="hold" grpId="0" nodeType="clickEffect">
                                  <p:stCondLst>
                                    <p:cond delay="0"/>
                                  </p:stCondLst>
                                  <p:childTnLst>
                                    <p:set>
                                      <p:cBhvr>
                                        <p:cTn id="20" dur="1" fill="hold">
                                          <p:stCondLst>
                                            <p:cond delay="0"/>
                                          </p:stCondLst>
                                        </p:cTn>
                                        <p:tgtEl>
                                          <p:spTgt spid="135199"/>
                                        </p:tgtEl>
                                        <p:attrNameLst>
                                          <p:attrName>style.visibility</p:attrName>
                                        </p:attrNameLst>
                                      </p:cBhvr>
                                      <p:to>
                                        <p:strVal val="visible"/>
                                      </p:to>
                                    </p:set>
                                    <p:anim calcmode="lin" valueType="num">
                                      <p:cBhvr>
                                        <p:cTn id="21" dur="1000" fill="hold"/>
                                        <p:tgtEl>
                                          <p:spTgt spid="135199"/>
                                        </p:tgtEl>
                                        <p:attrNameLst>
                                          <p:attrName>ppt_w</p:attrName>
                                        </p:attrNameLst>
                                      </p:cBhvr>
                                      <p:tavLst>
                                        <p:tav tm="0">
                                          <p:val>
                                            <p:fltVal val="0.000000"/>
                                          </p:val>
                                        </p:tav>
                                        <p:tav tm="100000">
                                          <p:val>
                                            <p:strVal val="#ppt_w"/>
                                          </p:val>
                                        </p:tav>
                                      </p:tavLst>
                                    </p:anim>
                                    <p:anim calcmode="lin" valueType="num">
                                      <p:cBhvr>
                                        <p:cTn id="22" dur="1000" fill="hold"/>
                                        <p:tgtEl>
                                          <p:spTgt spid="135199"/>
                                        </p:tgtEl>
                                        <p:attrNameLst>
                                          <p:attrName>ppt_h</p:attrName>
                                        </p:attrNameLst>
                                      </p:cBhvr>
                                      <p:tavLst>
                                        <p:tav tm="0">
                                          <p:val>
                                            <p:fltVal val="0.000000"/>
                                          </p:val>
                                        </p:tav>
                                        <p:tav tm="100000">
                                          <p:val>
                                            <p:strVal val="#ppt_h"/>
                                          </p:val>
                                        </p:tav>
                                      </p:tavLst>
                                    </p:anim>
                                    <p:anim calcmode="lin" valueType="num">
                                      <p:cBhvr>
                                        <p:cTn id="23" dur="1000" fill="hold"/>
                                        <p:tgtEl>
                                          <p:spTgt spid="135199"/>
                                        </p:tgtEl>
                                        <p:attrNameLst>
                                          <p:attrName>ppt_x</p:attrName>
                                        </p:attrNameLst>
                                      </p:cBhvr>
                                      <p:tavLst>
                                        <p:tav tm="0" fmla="#ppt_x+(cos(-2*pi*(1-$))*-#ppt_x-sin(-2*pi*(1-$))*(1-#ppt_y))*(1-$)">
                                          <p:val>
                                            <p:fltVal val="0.000000"/>
                                          </p:val>
                                        </p:tav>
                                        <p:tav tm="100000">
                                          <p:val>
                                            <p:fltVal val="1.000000"/>
                                          </p:val>
                                        </p:tav>
                                      </p:tavLst>
                                    </p:anim>
                                    <p:anim calcmode="lin" valueType="num">
                                      <p:cBhvr>
                                        <p:cTn id="24" dur="1000" fill="hold"/>
                                        <p:tgtEl>
                                          <p:spTgt spid="135199"/>
                                        </p:tgtEl>
                                        <p:attrNameLst>
                                          <p:attrName>ppt_y</p:attrName>
                                        </p:attrNameLst>
                                      </p:cBhvr>
                                      <p:tavLst>
                                        <p:tav tm="0" fmla="#ppt_y+(sin(-2*pi*(1-$))*-#ppt_x+cos(-2*pi*(1-$))*(1-#ppt_y))*(1-$)">
                                          <p:val>
                                            <p:fltVal val="0.000000"/>
                                          </p:val>
                                        </p:tav>
                                        <p:tav tm="100000">
                                          <p:val>
                                            <p:fltVal val="1.000000"/>
                                          </p:val>
                                        </p:tav>
                                      </p:tavLst>
                                    </p:anim>
                                  </p:childTnLst>
                                </p:cTn>
                              </p:par>
                            </p:childTnLst>
                          </p:cTn>
                        </p:par>
                        <p:par>
                          <p:cTn id="25" fill="hold">
                            <p:stCondLst>
                              <p:cond delay="1000"/>
                            </p:stCondLst>
                            <p:childTnLst>
                              <p:par>
                                <p:cTn id="26" presetID="22" presetClass="entr" presetSubtype="8" fill="hold" nodeType="afterEffect">
                                  <p:stCondLst>
                                    <p:cond delay="0"/>
                                  </p:stCondLst>
                                  <p:childTnLst>
                                    <p:set>
                                      <p:cBhvr>
                                        <p:cTn id="27" dur="1" fill="hold">
                                          <p:stCondLst>
                                            <p:cond delay="0"/>
                                          </p:stCondLst>
                                        </p:cTn>
                                        <p:tgtEl>
                                          <p:spTgt spid="135233"/>
                                        </p:tgtEl>
                                        <p:attrNameLst>
                                          <p:attrName>style.visibility</p:attrName>
                                        </p:attrNameLst>
                                      </p:cBhvr>
                                      <p:to>
                                        <p:strVal val="visible"/>
                                      </p:to>
                                    </p:set>
                                    <p:animEffect transition="in" filter="wipe(left)">
                                      <p:cBhvr>
                                        <p:cTn id="28" dur="500"/>
                                        <p:tgtEl>
                                          <p:spTgt spid="13523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35234"/>
                                        </p:tgtEl>
                                        <p:attrNameLst>
                                          <p:attrName>style.visibility</p:attrName>
                                        </p:attrNameLst>
                                      </p:cBhvr>
                                      <p:to>
                                        <p:strVal val="visible"/>
                                      </p:to>
                                    </p:set>
                                    <p:animEffect transition="in" filter="wipe(left)">
                                      <p:cBhvr>
                                        <p:cTn id="33" dur="500"/>
                                        <p:tgtEl>
                                          <p:spTgt spid="135234"/>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35232"/>
                                        </p:tgtEl>
                                        <p:attrNameLst>
                                          <p:attrName>style.visibility</p:attrName>
                                        </p:attrNameLst>
                                      </p:cBhvr>
                                      <p:to>
                                        <p:strVal val="visible"/>
                                      </p:to>
                                    </p:set>
                                    <p:animEffect transition="in" filter="wipe(left)">
                                      <p:cBhvr>
                                        <p:cTn id="38" dur="500"/>
                                        <p:tgtEl>
                                          <p:spTgt spid="13523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35204"/>
                                        </p:tgtEl>
                                        <p:attrNameLst>
                                          <p:attrName>style.visibility</p:attrName>
                                        </p:attrNameLst>
                                      </p:cBhvr>
                                      <p:to>
                                        <p:strVal val="visible"/>
                                      </p:to>
                                    </p:set>
                                    <p:animEffect transition="in" filter="wipe(left)">
                                      <p:cBhvr>
                                        <p:cTn id="43" dur="500"/>
                                        <p:tgtEl>
                                          <p:spTgt spid="135204"/>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35212"/>
                                        </p:tgtEl>
                                        <p:attrNameLst>
                                          <p:attrName>style.visibility</p:attrName>
                                        </p:attrNameLst>
                                      </p:cBhvr>
                                      <p:to>
                                        <p:strVal val="visible"/>
                                      </p:to>
                                    </p:set>
                                    <p:animEffect transition="in" filter="wipe(left)">
                                      <p:cBhvr>
                                        <p:cTn id="48" dur="500"/>
                                        <p:tgtEl>
                                          <p:spTgt spid="135212"/>
                                        </p:tgtEl>
                                      </p:cBhvr>
                                    </p:animEffect>
                                  </p:childTnLst>
                                </p:cTn>
                              </p:par>
                            </p:childTnLst>
                          </p:cTn>
                        </p:par>
                        <p:par>
                          <p:cTn id="49" fill="hold">
                            <p:stCondLst>
                              <p:cond delay="500"/>
                            </p:stCondLst>
                            <p:childTnLst>
                              <p:par>
                                <p:cTn id="50" presetID="22" presetClass="entr" presetSubtype="8" fill="hold" nodeType="afterEffect">
                                  <p:stCondLst>
                                    <p:cond delay="0"/>
                                  </p:stCondLst>
                                  <p:childTnLst>
                                    <p:set>
                                      <p:cBhvr>
                                        <p:cTn id="51" dur="1" fill="hold">
                                          <p:stCondLst>
                                            <p:cond delay="0"/>
                                          </p:stCondLst>
                                        </p:cTn>
                                        <p:tgtEl>
                                          <p:spTgt spid="135213"/>
                                        </p:tgtEl>
                                        <p:attrNameLst>
                                          <p:attrName>style.visibility</p:attrName>
                                        </p:attrNameLst>
                                      </p:cBhvr>
                                      <p:to>
                                        <p:strVal val="visible"/>
                                      </p:to>
                                    </p:set>
                                    <p:animEffect transition="in" filter="wipe(left)">
                                      <p:cBhvr>
                                        <p:cTn id="52" dur="500"/>
                                        <p:tgtEl>
                                          <p:spTgt spid="13521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35214"/>
                                        </p:tgtEl>
                                        <p:attrNameLst>
                                          <p:attrName>style.visibility</p:attrName>
                                        </p:attrNameLst>
                                      </p:cBhvr>
                                      <p:to>
                                        <p:strVal val="visible"/>
                                      </p:to>
                                    </p:set>
                                    <p:animEffect transition="in" filter="wipe(left)">
                                      <p:cBhvr>
                                        <p:cTn id="57" dur="500"/>
                                        <p:tgtEl>
                                          <p:spTgt spid="135214"/>
                                        </p:tgtEl>
                                      </p:cBhvr>
                                    </p:animEffect>
                                  </p:childTnLst>
                                </p:cTn>
                              </p:par>
                            </p:childTnLst>
                          </p:cTn>
                        </p:par>
                        <p:par>
                          <p:cTn id="58" fill="hold">
                            <p:stCondLst>
                              <p:cond delay="500"/>
                            </p:stCondLst>
                            <p:childTnLst>
                              <p:par>
                                <p:cTn id="59" presetID="22" presetClass="entr" presetSubtype="8" fill="hold" nodeType="afterEffect">
                                  <p:stCondLst>
                                    <p:cond delay="0"/>
                                  </p:stCondLst>
                                  <p:childTnLst>
                                    <p:set>
                                      <p:cBhvr>
                                        <p:cTn id="60" dur="1" fill="hold">
                                          <p:stCondLst>
                                            <p:cond delay="0"/>
                                          </p:stCondLst>
                                        </p:cTn>
                                        <p:tgtEl>
                                          <p:spTgt spid="135215"/>
                                        </p:tgtEl>
                                        <p:attrNameLst>
                                          <p:attrName>style.visibility</p:attrName>
                                        </p:attrNameLst>
                                      </p:cBhvr>
                                      <p:to>
                                        <p:strVal val="visible"/>
                                      </p:to>
                                    </p:set>
                                    <p:animEffect transition="in" filter="wipe(left)">
                                      <p:cBhvr>
                                        <p:cTn id="61" dur="500"/>
                                        <p:tgtEl>
                                          <p:spTgt spid="135215"/>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135211"/>
                                        </p:tgtEl>
                                        <p:attrNameLst>
                                          <p:attrName>style.visibility</p:attrName>
                                        </p:attrNameLst>
                                      </p:cBhvr>
                                      <p:to>
                                        <p:strVal val="visible"/>
                                      </p:to>
                                    </p:set>
                                    <p:animEffect transition="in" filter="wipe(left)">
                                      <p:cBhvr>
                                        <p:cTn id="66" dur="500"/>
                                        <p:tgtEl>
                                          <p:spTgt spid="135211"/>
                                        </p:tgtEl>
                                      </p:cBhvr>
                                    </p:animEffect>
                                  </p:childTnLst>
                                </p:cTn>
                              </p:par>
                            </p:childTnLst>
                          </p:cTn>
                        </p:par>
                      </p:childTnLst>
                    </p:cTn>
                  </p:par>
                  <p:par>
                    <p:cTn id="67" fill="hold">
                      <p:stCondLst>
                        <p:cond delay="indefinite"/>
                      </p:stCondLst>
                      <p:childTnLst>
                        <p:par>
                          <p:cTn id="68" fill="hold">
                            <p:stCondLst>
                              <p:cond delay="0"/>
                            </p:stCondLst>
                            <p:childTnLst>
                              <p:par>
                                <p:cTn id="69" presetID="15" presetClass="entr" presetSubtype="0" fill="hold" grpId="0" nodeType="clickEffect">
                                  <p:stCondLst>
                                    <p:cond delay="0"/>
                                  </p:stCondLst>
                                  <p:childTnLst>
                                    <p:set>
                                      <p:cBhvr>
                                        <p:cTn id="70" dur="1" fill="hold">
                                          <p:stCondLst>
                                            <p:cond delay="0"/>
                                          </p:stCondLst>
                                        </p:cTn>
                                        <p:tgtEl>
                                          <p:spTgt spid="135216"/>
                                        </p:tgtEl>
                                        <p:attrNameLst>
                                          <p:attrName>style.visibility</p:attrName>
                                        </p:attrNameLst>
                                      </p:cBhvr>
                                      <p:to>
                                        <p:strVal val="visible"/>
                                      </p:to>
                                    </p:set>
                                    <p:anim calcmode="lin" valueType="num">
                                      <p:cBhvr>
                                        <p:cTn id="71" dur="1000" fill="hold"/>
                                        <p:tgtEl>
                                          <p:spTgt spid="135216"/>
                                        </p:tgtEl>
                                        <p:attrNameLst>
                                          <p:attrName>ppt_w</p:attrName>
                                        </p:attrNameLst>
                                      </p:cBhvr>
                                      <p:tavLst>
                                        <p:tav tm="0">
                                          <p:val>
                                            <p:fltVal val="0.000000"/>
                                          </p:val>
                                        </p:tav>
                                        <p:tav tm="100000">
                                          <p:val>
                                            <p:strVal val="#ppt_w"/>
                                          </p:val>
                                        </p:tav>
                                      </p:tavLst>
                                    </p:anim>
                                    <p:anim calcmode="lin" valueType="num">
                                      <p:cBhvr>
                                        <p:cTn id="72" dur="1000" fill="hold"/>
                                        <p:tgtEl>
                                          <p:spTgt spid="135216"/>
                                        </p:tgtEl>
                                        <p:attrNameLst>
                                          <p:attrName>ppt_h</p:attrName>
                                        </p:attrNameLst>
                                      </p:cBhvr>
                                      <p:tavLst>
                                        <p:tav tm="0">
                                          <p:val>
                                            <p:fltVal val="0.000000"/>
                                          </p:val>
                                        </p:tav>
                                        <p:tav tm="100000">
                                          <p:val>
                                            <p:strVal val="#ppt_h"/>
                                          </p:val>
                                        </p:tav>
                                      </p:tavLst>
                                    </p:anim>
                                    <p:anim calcmode="lin" valueType="num">
                                      <p:cBhvr>
                                        <p:cTn id="73" dur="1000" fill="hold"/>
                                        <p:tgtEl>
                                          <p:spTgt spid="135216"/>
                                        </p:tgtEl>
                                        <p:attrNameLst>
                                          <p:attrName>ppt_x</p:attrName>
                                        </p:attrNameLst>
                                      </p:cBhvr>
                                      <p:tavLst>
                                        <p:tav tm="0" fmla="#ppt_x+(cos(-2*pi*(1-$))*-#ppt_x-sin(-2*pi*(1-$))*(1-#ppt_y))*(1-$)">
                                          <p:val>
                                            <p:fltVal val="0.000000"/>
                                          </p:val>
                                        </p:tav>
                                        <p:tav tm="100000">
                                          <p:val>
                                            <p:fltVal val="1.000000"/>
                                          </p:val>
                                        </p:tav>
                                      </p:tavLst>
                                    </p:anim>
                                    <p:anim calcmode="lin" valueType="num">
                                      <p:cBhvr>
                                        <p:cTn id="74" dur="1000" fill="hold"/>
                                        <p:tgtEl>
                                          <p:spTgt spid="135216"/>
                                        </p:tgtEl>
                                        <p:attrNameLst>
                                          <p:attrName>ppt_y</p:attrName>
                                        </p:attrNameLst>
                                      </p:cBhvr>
                                      <p:tavLst>
                                        <p:tav tm="0" fmla="#ppt_y+(sin(-2*pi*(1-$))*-#ppt_x+cos(-2*pi*(1-$))*(1-#ppt_y))*(1-$)">
                                          <p:val>
                                            <p:fltVal val="0.000000"/>
                                          </p:val>
                                        </p:tav>
                                        <p:tav tm="100000">
                                          <p:val>
                                            <p:fltVal val="1.000000"/>
                                          </p:val>
                                        </p:tav>
                                      </p:tavLst>
                                    </p:anim>
                                  </p:childTnLst>
                                </p:cTn>
                              </p:par>
                            </p:childTnLst>
                          </p:cTn>
                        </p:par>
                        <p:par>
                          <p:cTn id="75" fill="hold">
                            <p:stCondLst>
                              <p:cond delay="1000"/>
                            </p:stCondLst>
                            <p:childTnLst>
                              <p:par>
                                <p:cTn id="76" presetID="22" presetClass="entr" presetSubtype="8" fill="hold" nodeType="afterEffect">
                                  <p:stCondLst>
                                    <p:cond delay="0"/>
                                  </p:stCondLst>
                                  <p:childTnLst>
                                    <p:set>
                                      <p:cBhvr>
                                        <p:cTn id="77" dur="1" fill="hold">
                                          <p:stCondLst>
                                            <p:cond delay="0"/>
                                          </p:stCondLst>
                                        </p:cTn>
                                        <p:tgtEl>
                                          <p:spTgt spid="135238"/>
                                        </p:tgtEl>
                                        <p:attrNameLst>
                                          <p:attrName>style.visibility</p:attrName>
                                        </p:attrNameLst>
                                      </p:cBhvr>
                                      <p:to>
                                        <p:strVal val="visible"/>
                                      </p:to>
                                    </p:set>
                                    <p:animEffect transition="in" filter="wipe(left)">
                                      <p:cBhvr>
                                        <p:cTn id="78" dur="500"/>
                                        <p:tgtEl>
                                          <p:spTgt spid="135238"/>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135218"/>
                                        </p:tgtEl>
                                        <p:attrNameLst>
                                          <p:attrName>style.visibility</p:attrName>
                                        </p:attrNameLst>
                                      </p:cBhvr>
                                      <p:to>
                                        <p:strVal val="visible"/>
                                      </p:to>
                                    </p:set>
                                    <p:animEffect transition="in" filter="wipe(left)">
                                      <p:cBhvr>
                                        <p:cTn id="83" dur="500"/>
                                        <p:tgtEl>
                                          <p:spTgt spid="135218"/>
                                        </p:tgtEl>
                                      </p:cBhvr>
                                    </p:animEffect>
                                  </p:childTnLst>
                                </p:cTn>
                              </p:par>
                            </p:childTnLst>
                          </p:cTn>
                        </p:par>
                        <p:par>
                          <p:cTn id="84" fill="hold">
                            <p:stCondLst>
                              <p:cond delay="500"/>
                            </p:stCondLst>
                            <p:childTnLst>
                              <p:par>
                                <p:cTn id="85" presetID="22" presetClass="entr" presetSubtype="8" fill="hold" nodeType="afterEffect">
                                  <p:stCondLst>
                                    <p:cond delay="0"/>
                                  </p:stCondLst>
                                  <p:childTnLst>
                                    <p:set>
                                      <p:cBhvr>
                                        <p:cTn id="86" dur="1" fill="hold">
                                          <p:stCondLst>
                                            <p:cond delay="0"/>
                                          </p:stCondLst>
                                        </p:cTn>
                                        <p:tgtEl>
                                          <p:spTgt spid="135219"/>
                                        </p:tgtEl>
                                        <p:attrNameLst>
                                          <p:attrName>style.visibility</p:attrName>
                                        </p:attrNameLst>
                                      </p:cBhvr>
                                      <p:to>
                                        <p:strVal val="visible"/>
                                      </p:to>
                                    </p:set>
                                    <p:animEffect transition="in" filter="wipe(left)">
                                      <p:cBhvr>
                                        <p:cTn id="87" dur="500"/>
                                        <p:tgtEl>
                                          <p:spTgt spid="135219"/>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135220"/>
                                        </p:tgtEl>
                                        <p:attrNameLst>
                                          <p:attrName>style.visibility</p:attrName>
                                        </p:attrNameLst>
                                      </p:cBhvr>
                                      <p:to>
                                        <p:strVal val="visible"/>
                                      </p:to>
                                    </p:set>
                                    <p:animEffect transition="in" filter="wipe(left)">
                                      <p:cBhvr>
                                        <p:cTn id="92" dur="500"/>
                                        <p:tgtEl>
                                          <p:spTgt spid="135220"/>
                                        </p:tgtEl>
                                      </p:cBhvr>
                                    </p:animEffect>
                                  </p:childTnLst>
                                </p:cTn>
                              </p:par>
                            </p:childTnLst>
                          </p:cTn>
                        </p:par>
                        <p:par>
                          <p:cTn id="93" fill="hold">
                            <p:stCondLst>
                              <p:cond delay="500"/>
                            </p:stCondLst>
                            <p:childTnLst>
                              <p:par>
                                <p:cTn id="94" presetID="22" presetClass="entr" presetSubtype="8" fill="hold" nodeType="afterEffect">
                                  <p:stCondLst>
                                    <p:cond delay="0"/>
                                  </p:stCondLst>
                                  <p:childTnLst>
                                    <p:set>
                                      <p:cBhvr>
                                        <p:cTn id="95" dur="1" fill="hold">
                                          <p:stCondLst>
                                            <p:cond delay="0"/>
                                          </p:stCondLst>
                                        </p:cTn>
                                        <p:tgtEl>
                                          <p:spTgt spid="135221"/>
                                        </p:tgtEl>
                                        <p:attrNameLst>
                                          <p:attrName>style.visibility</p:attrName>
                                        </p:attrNameLst>
                                      </p:cBhvr>
                                      <p:to>
                                        <p:strVal val="visible"/>
                                      </p:to>
                                    </p:set>
                                    <p:animEffect transition="in" filter="wipe(left)">
                                      <p:cBhvr>
                                        <p:cTn id="96" dur="500"/>
                                        <p:tgtEl>
                                          <p:spTgt spid="135221"/>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nodeType="clickEffect">
                                  <p:stCondLst>
                                    <p:cond delay="0"/>
                                  </p:stCondLst>
                                  <p:childTnLst>
                                    <p:set>
                                      <p:cBhvr>
                                        <p:cTn id="100" dur="1" fill="hold">
                                          <p:stCondLst>
                                            <p:cond delay="0"/>
                                          </p:stCondLst>
                                        </p:cTn>
                                        <p:tgtEl>
                                          <p:spTgt spid="135222"/>
                                        </p:tgtEl>
                                        <p:attrNameLst>
                                          <p:attrName>style.visibility</p:attrName>
                                        </p:attrNameLst>
                                      </p:cBhvr>
                                      <p:to>
                                        <p:strVal val="visible"/>
                                      </p:to>
                                    </p:set>
                                    <p:animEffect transition="in" filter="wipe(left)">
                                      <p:cBhvr>
                                        <p:cTn id="101" dur="500"/>
                                        <p:tgtEl>
                                          <p:spTgt spid="135222"/>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nodeType="clickEffect">
                                  <p:stCondLst>
                                    <p:cond delay="0"/>
                                  </p:stCondLst>
                                  <p:childTnLst>
                                    <p:set>
                                      <p:cBhvr>
                                        <p:cTn id="105" dur="1" fill="hold">
                                          <p:stCondLst>
                                            <p:cond delay="0"/>
                                          </p:stCondLst>
                                        </p:cTn>
                                        <p:tgtEl>
                                          <p:spTgt spid="135223"/>
                                        </p:tgtEl>
                                        <p:attrNameLst>
                                          <p:attrName>style.visibility</p:attrName>
                                        </p:attrNameLst>
                                      </p:cBhvr>
                                      <p:to>
                                        <p:strVal val="visible"/>
                                      </p:to>
                                    </p:set>
                                    <p:animEffect transition="in" filter="wipe(left)">
                                      <p:cBhvr>
                                        <p:cTn id="106" dur="500"/>
                                        <p:tgtEl>
                                          <p:spTgt spid="135223"/>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nodeType="clickEffect">
                                  <p:stCondLst>
                                    <p:cond delay="0"/>
                                  </p:stCondLst>
                                  <p:childTnLst>
                                    <p:set>
                                      <p:cBhvr>
                                        <p:cTn id="110" dur="1" fill="hold">
                                          <p:stCondLst>
                                            <p:cond delay="0"/>
                                          </p:stCondLst>
                                        </p:cTn>
                                        <p:tgtEl>
                                          <p:spTgt spid="135224"/>
                                        </p:tgtEl>
                                        <p:attrNameLst>
                                          <p:attrName>style.visibility</p:attrName>
                                        </p:attrNameLst>
                                      </p:cBhvr>
                                      <p:to>
                                        <p:strVal val="visible"/>
                                      </p:to>
                                    </p:set>
                                    <p:animEffect transition="in" filter="wipe(left)">
                                      <p:cBhvr>
                                        <p:cTn id="111" dur="500"/>
                                        <p:tgtEl>
                                          <p:spTgt spid="1352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5" grpId="0" animBg="1"/>
      <p:bldP spid="135176" grpId="0"/>
      <p:bldP spid="135199" grpId="0" animBg="1"/>
      <p:bldP spid="13521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8661" name="Rectangle 5"/>
          <p:cNvSpPr/>
          <p:nvPr/>
        </p:nvSpPr>
        <p:spPr>
          <a:xfrm>
            <a:off x="1319213" y="804863"/>
            <a:ext cx="3827462" cy="427037"/>
          </a:xfrm>
          <a:prstGeom prst="rect">
            <a:avLst/>
          </a:prstGeom>
          <a:solidFill>
            <a:srgbClr val="99CCFF">
              <a:alpha val="50195"/>
            </a:srgbClr>
          </a:solidFill>
          <a:ln w="9525">
            <a:noFill/>
          </a:ln>
        </p:spPr>
        <p:txBody>
          <a:bodyPr lIns="0" tIns="0" rIns="0" bIns="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2800" b="1" dirty="0">
                <a:solidFill>
                  <a:srgbClr val="FF0000"/>
                </a:solidFill>
                <a:latin typeface="Times New Roman" panose="02020603050405020304" pitchFamily="18" charset="0"/>
              </a:rPr>
              <a:t>综合灵活运用上述方法</a:t>
            </a:r>
            <a:r>
              <a:rPr lang="zh-CN" altLang="en-US" sz="2400" b="1" dirty="0">
                <a:solidFill>
                  <a:srgbClr val="FF0000"/>
                </a:solidFill>
                <a:latin typeface="Times New Roman" panose="02020603050405020304" pitchFamily="18" charset="0"/>
              </a:rPr>
              <a:t> </a:t>
            </a:r>
            <a:endParaRPr lang="zh-CN" altLang="en-US" sz="2400" b="1" dirty="0">
              <a:solidFill>
                <a:srgbClr val="FF0000"/>
              </a:solidFill>
              <a:latin typeface="Times New Roman" panose="02020603050405020304" pitchFamily="18" charset="0"/>
            </a:endParaRPr>
          </a:p>
        </p:txBody>
      </p:sp>
      <p:sp>
        <p:nvSpPr>
          <p:cNvPr id="198662" name="Oval 6"/>
          <p:cNvSpPr>
            <a:spLocks noChangeArrowheads="1"/>
          </p:cNvSpPr>
          <p:nvPr/>
        </p:nvSpPr>
        <p:spPr bwMode="auto">
          <a:xfrm>
            <a:off x="769938" y="862013"/>
            <a:ext cx="304800" cy="304800"/>
          </a:xfrm>
          <a:prstGeom prst="ellipse">
            <a:avLst/>
          </a:prstGeom>
          <a:gradFill rotWithShape="0">
            <a:gsLst>
              <a:gs pos="0">
                <a:schemeClr val="accent2">
                  <a:gamma/>
                  <a:shade val="46275"/>
                  <a:invGamma/>
                </a:schemeClr>
              </a:gs>
              <a:gs pos="100000">
                <a:schemeClr val="accent2"/>
              </a:gs>
            </a:gsLst>
            <a:lin ang="5400000" scaled="1"/>
          </a:gradFill>
          <a:ln>
            <a:noFill/>
          </a:ln>
          <a:effectLst>
            <a:outerShdw sy="50000" kx="2453608" rotWithShape="0">
              <a:srgbClr val="808080"/>
            </a:outerShdw>
          </a:effectLst>
          <a:extLst>
            <a:ext uri="{91240B29-F687-4F45-9708-019B960494DF}">
              <a14:hiddenLine xmlns:a14="http://schemas.microsoft.com/office/drawing/2010/main" w="12700">
                <a:solidFill>
                  <a:schemeClr val="tx1"/>
                </a:solidFill>
                <a:round/>
                <a:headEnd type="none" w="sm" len="sm"/>
                <a:tailEnd type="none" w="sm" len="sm"/>
              </a14:hiddenLine>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nvGrpSpPr>
          <p:cNvPr id="198663" name="Group 7"/>
          <p:cNvGrpSpPr/>
          <p:nvPr/>
        </p:nvGrpSpPr>
        <p:grpSpPr>
          <a:xfrm>
            <a:off x="457200" y="1630363"/>
            <a:ext cx="7621588" cy="365125"/>
            <a:chOff x="288" y="794"/>
            <a:chExt cx="4801" cy="230"/>
          </a:xfrm>
        </p:grpSpPr>
        <p:sp>
          <p:nvSpPr>
            <p:cNvPr id="53266" name="Rectangle 8"/>
            <p:cNvSpPr/>
            <p:nvPr/>
          </p:nvSpPr>
          <p:spPr>
            <a:xfrm>
              <a:off x="288" y="794"/>
              <a:ext cx="1626" cy="23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dirty="0">
                  <a:latin typeface="宋体" panose="02010600030101010101" pitchFamily="2" charset="-122"/>
                </a:rPr>
                <a:t>[</a:t>
              </a:r>
              <a:r>
                <a:rPr lang="zh-CN" altLang="en-US" sz="2400" b="1" dirty="0">
                  <a:latin typeface="宋体" panose="02010600030101010101" pitchFamily="2" charset="-122"/>
                </a:rPr>
                <a:t>例</a:t>
              </a:r>
              <a:r>
                <a:rPr lang="en-US" altLang="zh-CN" sz="2400" b="1" dirty="0">
                  <a:latin typeface="宋体" panose="02010600030101010101" pitchFamily="2" charset="-122"/>
                </a:rPr>
                <a:t>]  </a:t>
              </a:r>
              <a:r>
                <a:rPr lang="zh-CN" altLang="en-US" sz="2400" b="1" dirty="0">
                  <a:latin typeface="宋体" panose="02010600030101010101" pitchFamily="2" charset="-122"/>
                </a:rPr>
                <a:t>化简逻辑式</a:t>
              </a:r>
              <a:endParaRPr lang="zh-CN" altLang="en-US" sz="2400" b="1" dirty="0">
                <a:latin typeface="宋体" panose="02010600030101010101" pitchFamily="2" charset="-122"/>
              </a:endParaRPr>
            </a:p>
          </p:txBody>
        </p:sp>
        <p:graphicFrame>
          <p:nvGraphicFramePr>
            <p:cNvPr id="53267" name="Object 9"/>
            <p:cNvGraphicFramePr>
              <a:graphicFrameLocks noChangeAspect="1"/>
            </p:cNvGraphicFramePr>
            <p:nvPr/>
          </p:nvGraphicFramePr>
          <p:xfrm>
            <a:off x="1873" y="806"/>
            <a:ext cx="3216" cy="208"/>
          </p:xfrm>
          <a:graphic>
            <a:graphicData uri="http://schemas.openxmlformats.org/presentationml/2006/ole">
              <mc:AlternateContent xmlns:mc="http://schemas.openxmlformats.org/markup-compatibility/2006">
                <mc:Choice xmlns:v="urn:schemas-microsoft-com:vml" Requires="v">
                  <p:oleObj spid="_x0000_s3201" name="" r:id="rId1" imgW="5105400" imgH="330200" progId="Equation.3">
                    <p:embed/>
                  </p:oleObj>
                </mc:Choice>
                <mc:Fallback>
                  <p:oleObj name="" r:id="rId1" imgW="5105400" imgH="330200" progId="Equation.3">
                    <p:embed/>
                    <p:pic>
                      <p:nvPicPr>
                        <p:cNvPr id="0" name="图片 3200"/>
                        <p:cNvPicPr/>
                        <p:nvPr/>
                      </p:nvPicPr>
                      <p:blipFill>
                        <a:blip r:embed="rId2"/>
                        <a:stretch>
                          <a:fillRect/>
                        </a:stretch>
                      </p:blipFill>
                      <p:spPr>
                        <a:xfrm>
                          <a:off x="1873" y="806"/>
                          <a:ext cx="3216" cy="208"/>
                        </a:xfrm>
                        <a:prstGeom prst="rect">
                          <a:avLst/>
                        </a:prstGeom>
                        <a:noFill/>
                        <a:ln w="38100">
                          <a:noFill/>
                          <a:miter/>
                        </a:ln>
                      </p:spPr>
                    </p:pic>
                  </p:oleObj>
                </mc:Fallback>
              </mc:AlternateContent>
            </a:graphicData>
          </a:graphic>
        </p:graphicFrame>
      </p:grpSp>
      <p:sp>
        <p:nvSpPr>
          <p:cNvPr id="198669" name="Line 13"/>
          <p:cNvSpPr/>
          <p:nvPr/>
        </p:nvSpPr>
        <p:spPr>
          <a:xfrm>
            <a:off x="3502025" y="2012950"/>
            <a:ext cx="1208088" cy="0"/>
          </a:xfrm>
          <a:prstGeom prst="line">
            <a:avLst/>
          </a:prstGeom>
          <a:ln w="28575" cap="flat" cmpd="sng">
            <a:solidFill>
              <a:schemeClr val="accent1"/>
            </a:solidFill>
            <a:prstDash val="solid"/>
            <a:headEnd type="none" w="med" len="med"/>
            <a:tailEnd type="none" w="med" len="med"/>
          </a:ln>
        </p:spPr>
      </p:sp>
      <p:sp>
        <p:nvSpPr>
          <p:cNvPr id="198670" name="Rectangle 14"/>
          <p:cNvSpPr/>
          <p:nvPr/>
        </p:nvSpPr>
        <p:spPr>
          <a:xfrm>
            <a:off x="655638" y="2147888"/>
            <a:ext cx="1408112" cy="400050"/>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Times New Roman" panose="02020603050405020304" pitchFamily="18" charset="0"/>
              </a:rPr>
              <a:t>解：</a:t>
            </a:r>
            <a:r>
              <a:rPr lang="zh-CN" altLang="en-US" sz="2800" b="1" dirty="0">
                <a:latin typeface="Times New Roman" panose="02020603050405020304" pitchFamily="18" charset="0"/>
              </a:rPr>
              <a:t> </a:t>
            </a:r>
            <a:endParaRPr lang="zh-CN" altLang="en-US" sz="2800" b="1" dirty="0">
              <a:latin typeface="Times New Roman" panose="02020603050405020304" pitchFamily="18" charset="0"/>
            </a:endParaRPr>
          </a:p>
        </p:txBody>
      </p:sp>
      <p:graphicFrame>
        <p:nvGraphicFramePr>
          <p:cNvPr id="198671" name="Object 15"/>
          <p:cNvGraphicFramePr>
            <a:graphicFrameLocks noChangeAspect="1"/>
          </p:cNvGraphicFramePr>
          <p:nvPr/>
        </p:nvGraphicFramePr>
        <p:xfrm>
          <a:off x="1397000" y="2187575"/>
          <a:ext cx="4127500" cy="330200"/>
        </p:xfrm>
        <a:graphic>
          <a:graphicData uri="http://schemas.openxmlformats.org/presentationml/2006/ole">
            <mc:AlternateContent xmlns:mc="http://schemas.openxmlformats.org/markup-compatibility/2006">
              <mc:Choice xmlns:v="urn:schemas-microsoft-com:vml" Requires="v">
                <p:oleObj spid="_x0000_s3199" name="" r:id="rId3" imgW="4127500" imgH="330200" progId="Equation.3">
                  <p:embed/>
                </p:oleObj>
              </mc:Choice>
              <mc:Fallback>
                <p:oleObj name="" r:id="rId3" imgW="4127500" imgH="330200" progId="Equation.3">
                  <p:embed/>
                  <p:pic>
                    <p:nvPicPr>
                      <p:cNvPr id="0" name="图片 3198"/>
                      <p:cNvPicPr/>
                      <p:nvPr/>
                    </p:nvPicPr>
                    <p:blipFill>
                      <a:blip r:embed="rId4"/>
                      <a:stretch>
                        <a:fillRect/>
                      </a:stretch>
                    </p:blipFill>
                    <p:spPr>
                      <a:xfrm>
                        <a:off x="1397000" y="2187575"/>
                        <a:ext cx="4127500" cy="330200"/>
                      </a:xfrm>
                      <a:prstGeom prst="rect">
                        <a:avLst/>
                      </a:prstGeom>
                      <a:noFill/>
                      <a:ln w="38100">
                        <a:noFill/>
                        <a:miter/>
                      </a:ln>
                    </p:spPr>
                  </p:pic>
                </p:oleObj>
              </mc:Fallback>
            </mc:AlternateContent>
          </a:graphicData>
        </a:graphic>
      </p:graphicFrame>
      <p:sp>
        <p:nvSpPr>
          <p:cNvPr id="198672" name="Line 16"/>
          <p:cNvSpPr/>
          <p:nvPr/>
        </p:nvSpPr>
        <p:spPr>
          <a:xfrm>
            <a:off x="1941513" y="2519363"/>
            <a:ext cx="931862" cy="0"/>
          </a:xfrm>
          <a:prstGeom prst="line">
            <a:avLst/>
          </a:prstGeom>
          <a:ln w="28575" cap="flat" cmpd="sng">
            <a:solidFill>
              <a:schemeClr val="accent1"/>
            </a:solidFill>
            <a:prstDash val="solid"/>
            <a:headEnd type="none" w="med" len="med"/>
            <a:tailEnd type="none" w="med" len="med"/>
          </a:ln>
        </p:spPr>
      </p:sp>
      <p:sp>
        <p:nvSpPr>
          <p:cNvPr id="198673" name="Line 17"/>
          <p:cNvSpPr/>
          <p:nvPr/>
        </p:nvSpPr>
        <p:spPr>
          <a:xfrm>
            <a:off x="4608513" y="2527300"/>
            <a:ext cx="931862" cy="0"/>
          </a:xfrm>
          <a:prstGeom prst="line">
            <a:avLst/>
          </a:prstGeom>
          <a:ln w="28575" cap="flat" cmpd="sng">
            <a:solidFill>
              <a:schemeClr val="accent1"/>
            </a:solidFill>
            <a:prstDash val="solid"/>
            <a:headEnd type="none" w="med" len="med"/>
            <a:tailEnd type="none" w="med" len="med"/>
          </a:ln>
        </p:spPr>
      </p:sp>
      <p:graphicFrame>
        <p:nvGraphicFramePr>
          <p:cNvPr id="198674" name="Object 18"/>
          <p:cNvGraphicFramePr>
            <a:graphicFrameLocks noChangeAspect="1"/>
          </p:cNvGraphicFramePr>
          <p:nvPr/>
        </p:nvGraphicFramePr>
        <p:xfrm>
          <a:off x="1684338" y="2794000"/>
          <a:ext cx="1943100" cy="349250"/>
        </p:xfrm>
        <a:graphic>
          <a:graphicData uri="http://schemas.openxmlformats.org/presentationml/2006/ole">
            <mc:AlternateContent xmlns:mc="http://schemas.openxmlformats.org/markup-compatibility/2006">
              <mc:Choice xmlns:v="urn:schemas-microsoft-com:vml" Requires="v">
                <p:oleObj spid="_x0000_s3195" name="" r:id="rId5" imgW="1943100" imgH="330200" progId="Equation.3">
                  <p:embed/>
                </p:oleObj>
              </mc:Choice>
              <mc:Fallback>
                <p:oleObj name="" r:id="rId5" imgW="1943100" imgH="330200" progId="Equation.3">
                  <p:embed/>
                  <p:pic>
                    <p:nvPicPr>
                      <p:cNvPr id="0" name="图片 3194"/>
                      <p:cNvPicPr/>
                      <p:nvPr/>
                    </p:nvPicPr>
                    <p:blipFill>
                      <a:blip r:embed="rId6"/>
                      <a:stretch>
                        <a:fillRect/>
                      </a:stretch>
                    </p:blipFill>
                    <p:spPr>
                      <a:xfrm>
                        <a:off x="1684338" y="2794000"/>
                        <a:ext cx="1943100" cy="349250"/>
                      </a:xfrm>
                      <a:prstGeom prst="rect">
                        <a:avLst/>
                      </a:prstGeom>
                      <a:noFill/>
                      <a:ln w="38100">
                        <a:noFill/>
                        <a:miter/>
                      </a:ln>
                    </p:spPr>
                  </p:pic>
                </p:oleObj>
              </mc:Fallback>
            </mc:AlternateContent>
          </a:graphicData>
        </a:graphic>
      </p:graphicFrame>
      <p:sp>
        <p:nvSpPr>
          <p:cNvPr id="198675" name="Line 19"/>
          <p:cNvSpPr/>
          <p:nvPr/>
        </p:nvSpPr>
        <p:spPr>
          <a:xfrm>
            <a:off x="1924050" y="3149600"/>
            <a:ext cx="931863" cy="0"/>
          </a:xfrm>
          <a:prstGeom prst="line">
            <a:avLst/>
          </a:prstGeom>
          <a:ln w="28575" cap="flat" cmpd="sng">
            <a:solidFill>
              <a:schemeClr val="accent1"/>
            </a:solidFill>
            <a:prstDash val="solid"/>
            <a:headEnd type="none" w="med" len="med"/>
            <a:tailEnd type="none" w="med" len="med"/>
          </a:ln>
        </p:spPr>
      </p:sp>
      <p:grpSp>
        <p:nvGrpSpPr>
          <p:cNvPr id="198676" name="Group 20"/>
          <p:cNvGrpSpPr/>
          <p:nvPr/>
        </p:nvGrpSpPr>
        <p:grpSpPr>
          <a:xfrm>
            <a:off x="4140200" y="2781300"/>
            <a:ext cx="2738438" cy="466725"/>
            <a:chOff x="1734" y="1716"/>
            <a:chExt cx="1725" cy="294"/>
          </a:xfrm>
        </p:grpSpPr>
        <p:sp>
          <p:nvSpPr>
            <p:cNvPr id="53264" name="Rectangle 21"/>
            <p:cNvSpPr/>
            <p:nvPr/>
          </p:nvSpPr>
          <p:spPr>
            <a:xfrm>
              <a:off x="1734" y="1716"/>
              <a:ext cx="1725" cy="294"/>
            </a:xfrm>
            <a:prstGeom prst="rect">
              <a:avLst/>
            </a:prstGeom>
            <a:solidFill>
              <a:srgbClr val="CCFFFF">
                <a:alpha val="50195"/>
              </a:srgbClr>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dirty="0">
                  <a:solidFill>
                    <a:srgbClr val="000000"/>
                  </a:solidFill>
                  <a:latin typeface="Times New Roman" panose="02020603050405020304" pitchFamily="18" charset="0"/>
                </a:rPr>
                <a:t>应用</a:t>
              </a:r>
              <a:endParaRPr lang="zh-CN" altLang="en-US" sz="2400" b="1" i="1" dirty="0">
                <a:solidFill>
                  <a:srgbClr val="000000"/>
                </a:solidFill>
                <a:latin typeface="Times New Roman" panose="02020603050405020304" pitchFamily="18" charset="0"/>
              </a:endParaRPr>
            </a:p>
          </p:txBody>
        </p:sp>
        <p:graphicFrame>
          <p:nvGraphicFramePr>
            <p:cNvPr id="53265" name="Object 22"/>
            <p:cNvGraphicFramePr>
              <a:graphicFrameLocks noChangeAspect="1"/>
            </p:cNvGraphicFramePr>
            <p:nvPr/>
          </p:nvGraphicFramePr>
          <p:xfrm>
            <a:off x="2158" y="1755"/>
            <a:ext cx="1272" cy="200"/>
          </p:xfrm>
          <a:graphic>
            <a:graphicData uri="http://schemas.openxmlformats.org/presentationml/2006/ole">
              <mc:AlternateContent xmlns:mc="http://schemas.openxmlformats.org/markup-compatibility/2006">
                <mc:Choice xmlns:v="urn:schemas-microsoft-com:vml" Requires="v">
                  <p:oleObj spid="_x0000_s3202" name="" r:id="rId7" imgW="2019300" imgH="317500" progId="Equation.3">
                    <p:embed/>
                  </p:oleObj>
                </mc:Choice>
                <mc:Fallback>
                  <p:oleObj name="" r:id="rId7" imgW="2019300" imgH="317500" progId="Equation.3">
                    <p:embed/>
                    <p:pic>
                      <p:nvPicPr>
                        <p:cNvPr id="0" name="图片 3201"/>
                        <p:cNvPicPr/>
                        <p:nvPr/>
                      </p:nvPicPr>
                      <p:blipFill>
                        <a:blip r:embed="rId8"/>
                        <a:stretch>
                          <a:fillRect/>
                        </a:stretch>
                      </p:blipFill>
                      <p:spPr>
                        <a:xfrm>
                          <a:off x="2158" y="1755"/>
                          <a:ext cx="1272" cy="200"/>
                        </a:xfrm>
                        <a:prstGeom prst="rect">
                          <a:avLst/>
                        </a:prstGeom>
                        <a:noFill/>
                        <a:ln w="38100">
                          <a:noFill/>
                          <a:miter/>
                        </a:ln>
                      </p:spPr>
                    </p:pic>
                  </p:oleObj>
                </mc:Fallback>
              </mc:AlternateContent>
            </a:graphicData>
          </a:graphic>
        </p:graphicFrame>
      </p:grpSp>
      <p:graphicFrame>
        <p:nvGraphicFramePr>
          <p:cNvPr id="198679" name="Object 23"/>
          <p:cNvGraphicFramePr>
            <a:graphicFrameLocks noChangeAspect="1"/>
          </p:cNvGraphicFramePr>
          <p:nvPr/>
        </p:nvGraphicFramePr>
        <p:xfrm>
          <a:off x="1682750" y="3422650"/>
          <a:ext cx="1739900" cy="349250"/>
        </p:xfrm>
        <a:graphic>
          <a:graphicData uri="http://schemas.openxmlformats.org/presentationml/2006/ole">
            <mc:AlternateContent xmlns:mc="http://schemas.openxmlformats.org/markup-compatibility/2006">
              <mc:Choice xmlns:v="urn:schemas-microsoft-com:vml" Requires="v">
                <p:oleObj spid="_x0000_s3203" name="" r:id="rId9" imgW="1739900" imgH="330200" progId="Equation.3">
                  <p:embed/>
                </p:oleObj>
              </mc:Choice>
              <mc:Fallback>
                <p:oleObj name="" r:id="rId9" imgW="1739900" imgH="330200" progId="Equation.3">
                  <p:embed/>
                  <p:pic>
                    <p:nvPicPr>
                      <p:cNvPr id="0" name="图片 3202"/>
                      <p:cNvPicPr/>
                      <p:nvPr/>
                    </p:nvPicPr>
                    <p:blipFill>
                      <a:blip r:embed="rId10"/>
                      <a:stretch>
                        <a:fillRect/>
                      </a:stretch>
                    </p:blipFill>
                    <p:spPr>
                      <a:xfrm>
                        <a:off x="1682750" y="3422650"/>
                        <a:ext cx="1739900" cy="349250"/>
                      </a:xfrm>
                      <a:prstGeom prst="rect">
                        <a:avLst/>
                      </a:prstGeom>
                      <a:noFill/>
                      <a:ln w="38100">
                        <a:noFill/>
                        <a:miter/>
                      </a:ln>
                    </p:spPr>
                  </p:pic>
                </p:oleObj>
              </mc:Fallback>
            </mc:AlternateContent>
          </a:graphicData>
        </a:graphic>
      </p:graphicFrame>
      <p:graphicFrame>
        <p:nvGraphicFramePr>
          <p:cNvPr id="198681" name="Object 25"/>
          <p:cNvGraphicFramePr>
            <a:graphicFrameLocks noChangeAspect="1"/>
          </p:cNvGraphicFramePr>
          <p:nvPr/>
        </p:nvGraphicFramePr>
        <p:xfrm>
          <a:off x="3494088" y="3457575"/>
          <a:ext cx="1536700" cy="279400"/>
        </p:xfrm>
        <a:graphic>
          <a:graphicData uri="http://schemas.openxmlformats.org/presentationml/2006/ole">
            <mc:AlternateContent xmlns:mc="http://schemas.openxmlformats.org/markup-compatibility/2006">
              <mc:Choice xmlns:v="urn:schemas-microsoft-com:vml" Requires="v">
                <p:oleObj spid="_x0000_s3204" name="" r:id="rId11" imgW="1536700" imgH="279400" progId="Equation.3">
                  <p:embed/>
                </p:oleObj>
              </mc:Choice>
              <mc:Fallback>
                <p:oleObj name="" r:id="rId11" imgW="1536700" imgH="279400" progId="Equation.3">
                  <p:embed/>
                  <p:pic>
                    <p:nvPicPr>
                      <p:cNvPr id="0" name="图片 3203"/>
                      <p:cNvPicPr/>
                      <p:nvPr/>
                    </p:nvPicPr>
                    <p:blipFill>
                      <a:blip r:embed="rId12"/>
                      <a:stretch>
                        <a:fillRect/>
                      </a:stretch>
                    </p:blipFill>
                    <p:spPr>
                      <a:xfrm>
                        <a:off x="3494088" y="3457575"/>
                        <a:ext cx="1536700" cy="279400"/>
                      </a:xfrm>
                      <a:prstGeom prst="rect">
                        <a:avLst/>
                      </a:prstGeom>
                      <a:noFill/>
                      <a:ln w="38100">
                        <a:noFill/>
                        <a:miter/>
                      </a:ln>
                    </p:spPr>
                  </p:pic>
                </p:oleObj>
              </mc:Fallback>
            </mc:AlternateContent>
          </a:graphicData>
        </a:graphic>
      </p:graphicFrame>
      <p:sp>
        <p:nvSpPr>
          <p:cNvPr id="198726" name="Line 70"/>
          <p:cNvSpPr/>
          <p:nvPr/>
        </p:nvSpPr>
        <p:spPr>
          <a:xfrm>
            <a:off x="2468563" y="3805238"/>
            <a:ext cx="931862" cy="0"/>
          </a:xfrm>
          <a:prstGeom prst="line">
            <a:avLst/>
          </a:prstGeom>
          <a:ln w="28575" cap="flat" cmpd="sng">
            <a:solidFill>
              <a:schemeClr val="accent1"/>
            </a:solidFill>
            <a:prstDash val="solid"/>
            <a:headEnd type="none" w="med" len="med"/>
            <a:tailEnd type="none" w="med" len="med"/>
          </a:ln>
        </p:spPr>
      </p:sp>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98662"/>
                                        </p:tgtEl>
                                        <p:attrNameLst>
                                          <p:attrName>style.visibility</p:attrName>
                                        </p:attrNameLst>
                                      </p:cBhvr>
                                      <p:to>
                                        <p:strVal val="visible"/>
                                      </p:to>
                                    </p:set>
                                    <p:anim calcmode="lin" valueType="num">
                                      <p:cBhvr additive="base">
                                        <p:cTn id="7" dur="500" fill="hold"/>
                                        <p:tgtEl>
                                          <p:spTgt spid="198662"/>
                                        </p:tgtEl>
                                        <p:attrNameLst>
                                          <p:attrName>ppt_x</p:attrName>
                                        </p:attrNameLst>
                                      </p:cBhvr>
                                      <p:tavLst>
                                        <p:tav tm="0">
                                          <p:val>
                                            <p:strVal val="0-#ppt_w/2"/>
                                          </p:val>
                                        </p:tav>
                                        <p:tav tm="100000">
                                          <p:val>
                                            <p:strVal val="#ppt_x"/>
                                          </p:val>
                                        </p:tav>
                                      </p:tavLst>
                                    </p:anim>
                                    <p:anim calcmode="lin" valueType="num">
                                      <p:cBhvr additive="base">
                                        <p:cTn id="8" dur="500" fill="hold"/>
                                        <p:tgtEl>
                                          <p:spTgt spid="19866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198661"/>
                                        </p:tgtEl>
                                        <p:attrNameLst>
                                          <p:attrName>style.visibility</p:attrName>
                                        </p:attrNameLst>
                                      </p:cBhvr>
                                      <p:to>
                                        <p:strVal val="visible"/>
                                      </p:to>
                                    </p:set>
                                    <p:animEffect transition="in" filter="wipe(left)">
                                      <p:cBhvr>
                                        <p:cTn id="12" dur="500"/>
                                        <p:tgtEl>
                                          <p:spTgt spid="19866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98663"/>
                                        </p:tgtEl>
                                        <p:attrNameLst>
                                          <p:attrName>style.visibility</p:attrName>
                                        </p:attrNameLst>
                                      </p:cBhvr>
                                      <p:to>
                                        <p:strVal val="visible"/>
                                      </p:to>
                                    </p:set>
                                    <p:animEffect transition="in" filter="wipe(left)">
                                      <p:cBhvr>
                                        <p:cTn id="17" dur="500"/>
                                        <p:tgtEl>
                                          <p:spTgt spid="19866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8670"/>
                                        </p:tgtEl>
                                        <p:attrNameLst>
                                          <p:attrName>style.visibility</p:attrName>
                                        </p:attrNameLst>
                                      </p:cBhvr>
                                      <p:to>
                                        <p:strVal val="visible"/>
                                      </p:to>
                                    </p:set>
                                    <p:animEffect transition="in" filter="wipe(left)">
                                      <p:cBhvr>
                                        <p:cTn id="22" dur="500"/>
                                        <p:tgtEl>
                                          <p:spTgt spid="198670"/>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198669"/>
                                        </p:tgtEl>
                                        <p:attrNameLst>
                                          <p:attrName>style.visibility</p:attrName>
                                        </p:attrNameLst>
                                      </p:cBhvr>
                                      <p:to>
                                        <p:strVal val="visible"/>
                                      </p:to>
                                    </p:set>
                                    <p:animEffect transition="in" filter="wipe(left)">
                                      <p:cBhvr>
                                        <p:cTn id="26" dur="500"/>
                                        <p:tgtEl>
                                          <p:spTgt spid="19866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98671"/>
                                        </p:tgtEl>
                                        <p:attrNameLst>
                                          <p:attrName>style.visibility</p:attrName>
                                        </p:attrNameLst>
                                      </p:cBhvr>
                                      <p:to>
                                        <p:strVal val="visible"/>
                                      </p:to>
                                    </p:set>
                                    <p:animEffect transition="in" filter="wipe(left)">
                                      <p:cBhvr>
                                        <p:cTn id="31" dur="500"/>
                                        <p:tgtEl>
                                          <p:spTgt spid="19867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98672"/>
                                        </p:tgtEl>
                                        <p:attrNameLst>
                                          <p:attrName>style.visibility</p:attrName>
                                        </p:attrNameLst>
                                      </p:cBhvr>
                                      <p:to>
                                        <p:strVal val="visible"/>
                                      </p:to>
                                    </p:set>
                                    <p:animEffect transition="in" filter="wipe(left)">
                                      <p:cBhvr>
                                        <p:cTn id="36" dur="500"/>
                                        <p:tgtEl>
                                          <p:spTgt spid="198672"/>
                                        </p:tgtEl>
                                      </p:cBhvr>
                                    </p:animEffect>
                                  </p:childTnLst>
                                </p:cTn>
                              </p:par>
                            </p:childTnLst>
                          </p:cTn>
                        </p:par>
                        <p:par>
                          <p:cTn id="37" fill="hold">
                            <p:stCondLst>
                              <p:cond delay="500"/>
                            </p:stCondLst>
                            <p:childTnLst>
                              <p:par>
                                <p:cTn id="38" presetID="22" presetClass="entr" presetSubtype="8" fill="hold" nodeType="afterEffect">
                                  <p:stCondLst>
                                    <p:cond delay="0"/>
                                  </p:stCondLst>
                                  <p:childTnLst>
                                    <p:set>
                                      <p:cBhvr>
                                        <p:cTn id="39" dur="1" fill="hold">
                                          <p:stCondLst>
                                            <p:cond delay="0"/>
                                          </p:stCondLst>
                                        </p:cTn>
                                        <p:tgtEl>
                                          <p:spTgt spid="198673"/>
                                        </p:tgtEl>
                                        <p:attrNameLst>
                                          <p:attrName>style.visibility</p:attrName>
                                        </p:attrNameLst>
                                      </p:cBhvr>
                                      <p:to>
                                        <p:strVal val="visible"/>
                                      </p:to>
                                    </p:set>
                                    <p:animEffect transition="in" filter="wipe(left)">
                                      <p:cBhvr>
                                        <p:cTn id="40" dur="500"/>
                                        <p:tgtEl>
                                          <p:spTgt spid="198673"/>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98674"/>
                                        </p:tgtEl>
                                        <p:attrNameLst>
                                          <p:attrName>style.visibility</p:attrName>
                                        </p:attrNameLst>
                                      </p:cBhvr>
                                      <p:to>
                                        <p:strVal val="visible"/>
                                      </p:to>
                                    </p:set>
                                    <p:animEffect transition="in" filter="wipe(left)">
                                      <p:cBhvr>
                                        <p:cTn id="45" dur="500"/>
                                        <p:tgtEl>
                                          <p:spTgt spid="198674"/>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98675"/>
                                        </p:tgtEl>
                                        <p:attrNameLst>
                                          <p:attrName>style.visibility</p:attrName>
                                        </p:attrNameLst>
                                      </p:cBhvr>
                                      <p:to>
                                        <p:strVal val="visible"/>
                                      </p:to>
                                    </p:set>
                                    <p:animEffect transition="in" filter="wipe(left)">
                                      <p:cBhvr>
                                        <p:cTn id="50" dur="500"/>
                                        <p:tgtEl>
                                          <p:spTgt spid="198675"/>
                                        </p:tgtEl>
                                      </p:cBhvr>
                                    </p:animEffect>
                                  </p:childTnLst>
                                </p:cTn>
                              </p:par>
                            </p:childTnLst>
                          </p:cTn>
                        </p:par>
                        <p:par>
                          <p:cTn id="51" fill="hold">
                            <p:stCondLst>
                              <p:cond delay="500"/>
                            </p:stCondLst>
                            <p:childTnLst>
                              <p:par>
                                <p:cTn id="52" presetID="3" presetClass="entr" presetSubtype="10" fill="hold" nodeType="afterEffect">
                                  <p:stCondLst>
                                    <p:cond delay="0"/>
                                  </p:stCondLst>
                                  <p:childTnLst>
                                    <p:set>
                                      <p:cBhvr>
                                        <p:cTn id="53" dur="1" fill="hold">
                                          <p:stCondLst>
                                            <p:cond delay="0"/>
                                          </p:stCondLst>
                                        </p:cTn>
                                        <p:tgtEl>
                                          <p:spTgt spid="198676"/>
                                        </p:tgtEl>
                                        <p:attrNameLst>
                                          <p:attrName>style.visibility</p:attrName>
                                        </p:attrNameLst>
                                      </p:cBhvr>
                                      <p:to>
                                        <p:strVal val="visible"/>
                                      </p:to>
                                    </p:set>
                                    <p:animEffect transition="in" filter="blinds(horizontal)">
                                      <p:cBhvr>
                                        <p:cTn id="54" dur="500"/>
                                        <p:tgtEl>
                                          <p:spTgt spid="198676"/>
                                        </p:tgtEl>
                                      </p:cBhvr>
                                    </p:animEffect>
                                  </p:childTnLst>
                                  <p:subTnLst>
                                    <p:set>
                                      <p:cBhvr override="childStyle">
                                        <p:cTn dur="1" fill="hold" display="0" masterRel="nextClick" afterEffect="1"/>
                                        <p:tgtEl>
                                          <p:spTgt spid="198676"/>
                                        </p:tgtEl>
                                        <p:attrNameLst>
                                          <p:attrName>style.visibility</p:attrName>
                                        </p:attrNameLst>
                                      </p:cBhvr>
                                      <p:to>
                                        <p:strVal val="hidden"/>
                                      </p:to>
                                    </p:set>
                                  </p:sub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198679"/>
                                        </p:tgtEl>
                                        <p:attrNameLst>
                                          <p:attrName>style.visibility</p:attrName>
                                        </p:attrNameLst>
                                      </p:cBhvr>
                                      <p:to>
                                        <p:strVal val="visible"/>
                                      </p:to>
                                    </p:set>
                                    <p:animEffect transition="in" filter="wipe(left)">
                                      <p:cBhvr>
                                        <p:cTn id="59" dur="500"/>
                                        <p:tgtEl>
                                          <p:spTgt spid="198679"/>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198726"/>
                                        </p:tgtEl>
                                        <p:attrNameLst>
                                          <p:attrName>style.visibility</p:attrName>
                                        </p:attrNameLst>
                                      </p:cBhvr>
                                      <p:to>
                                        <p:strVal val="visible"/>
                                      </p:to>
                                    </p:set>
                                    <p:animEffect transition="in" filter="wipe(left)">
                                      <p:cBhvr>
                                        <p:cTn id="64" dur="500"/>
                                        <p:tgtEl>
                                          <p:spTgt spid="198726"/>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198681"/>
                                        </p:tgtEl>
                                        <p:attrNameLst>
                                          <p:attrName>style.visibility</p:attrName>
                                        </p:attrNameLst>
                                      </p:cBhvr>
                                      <p:to>
                                        <p:strVal val="visible"/>
                                      </p:to>
                                    </p:set>
                                    <p:animEffect transition="in" filter="wipe(left)">
                                      <p:cBhvr>
                                        <p:cTn id="69" dur="500"/>
                                        <p:tgtEl>
                                          <p:spTgt spid="1986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61" grpId="0" animBg="1"/>
      <p:bldP spid="198662" grpId="0" animBg="1"/>
      <p:bldP spid="198670"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36282" name="Object 90"/>
          <p:cNvGraphicFramePr>
            <a:graphicFrameLocks noChangeAspect="1"/>
          </p:cNvGraphicFramePr>
          <p:nvPr/>
        </p:nvGraphicFramePr>
        <p:xfrm>
          <a:off x="4000500" y="2706688"/>
          <a:ext cx="787400" cy="411162"/>
        </p:xfrm>
        <a:graphic>
          <a:graphicData uri="http://schemas.openxmlformats.org/presentationml/2006/ole">
            <mc:AlternateContent xmlns:mc="http://schemas.openxmlformats.org/markup-compatibility/2006">
              <mc:Choice xmlns:v="urn:schemas-microsoft-com:vml" Requires="v">
                <p:oleObj spid="_x0000_s3197" name="" r:id="rId1" imgW="657225" imgH="342900" progId="Paint.Picture">
                  <p:embed/>
                </p:oleObj>
              </mc:Choice>
              <mc:Fallback>
                <p:oleObj name="" r:id="rId1" imgW="657225" imgH="342900" progId="Paint.Picture">
                  <p:embed/>
                  <p:pic>
                    <p:nvPicPr>
                      <p:cNvPr id="0" name="图片 3196"/>
                      <p:cNvPicPr/>
                      <p:nvPr/>
                    </p:nvPicPr>
                    <p:blipFill>
                      <a:blip r:embed="rId2"/>
                      <a:stretch>
                        <a:fillRect/>
                      </a:stretch>
                    </p:blipFill>
                    <p:spPr>
                      <a:xfrm>
                        <a:off x="4000500" y="2706688"/>
                        <a:ext cx="787400" cy="411162"/>
                      </a:xfrm>
                      <a:prstGeom prst="rect">
                        <a:avLst/>
                      </a:prstGeom>
                      <a:noFill/>
                      <a:ln w="38100">
                        <a:noFill/>
                        <a:miter/>
                      </a:ln>
                    </p:spPr>
                  </p:pic>
                </p:oleObj>
              </mc:Fallback>
            </mc:AlternateContent>
          </a:graphicData>
        </a:graphic>
      </p:graphicFrame>
      <p:graphicFrame>
        <p:nvGraphicFramePr>
          <p:cNvPr id="136281" name="Object 89"/>
          <p:cNvGraphicFramePr>
            <a:graphicFrameLocks noChangeAspect="1"/>
          </p:cNvGraphicFramePr>
          <p:nvPr/>
        </p:nvGraphicFramePr>
        <p:xfrm>
          <a:off x="3086100" y="2773363"/>
          <a:ext cx="949325" cy="334962"/>
        </p:xfrm>
        <a:graphic>
          <a:graphicData uri="http://schemas.openxmlformats.org/presentationml/2006/ole">
            <mc:AlternateContent xmlns:mc="http://schemas.openxmlformats.org/markup-compatibility/2006">
              <mc:Choice xmlns:v="urn:schemas-microsoft-com:vml" Requires="v">
                <p:oleObj spid="_x0000_s3196" name="" r:id="rId3" imgW="809625" imgH="285750" progId="Paint.Picture">
                  <p:embed/>
                </p:oleObj>
              </mc:Choice>
              <mc:Fallback>
                <p:oleObj name="" r:id="rId3" imgW="809625" imgH="285750" progId="Paint.Picture">
                  <p:embed/>
                  <p:pic>
                    <p:nvPicPr>
                      <p:cNvPr id="0" name="图片 3195"/>
                      <p:cNvPicPr/>
                      <p:nvPr/>
                    </p:nvPicPr>
                    <p:blipFill>
                      <a:blip r:embed="rId4"/>
                      <a:stretch>
                        <a:fillRect/>
                      </a:stretch>
                    </p:blipFill>
                    <p:spPr>
                      <a:xfrm>
                        <a:off x="3086100" y="2773363"/>
                        <a:ext cx="949325" cy="334962"/>
                      </a:xfrm>
                      <a:prstGeom prst="rect">
                        <a:avLst/>
                      </a:prstGeom>
                      <a:noFill/>
                      <a:ln w="38100">
                        <a:noFill/>
                        <a:miter/>
                      </a:ln>
                    </p:spPr>
                  </p:pic>
                </p:oleObj>
              </mc:Fallback>
            </mc:AlternateContent>
          </a:graphicData>
        </a:graphic>
      </p:graphicFrame>
      <p:graphicFrame>
        <p:nvGraphicFramePr>
          <p:cNvPr id="136280" name="Object 88"/>
          <p:cNvGraphicFramePr>
            <a:graphicFrameLocks noChangeAspect="1"/>
          </p:cNvGraphicFramePr>
          <p:nvPr/>
        </p:nvGraphicFramePr>
        <p:xfrm>
          <a:off x="2297113" y="2803525"/>
          <a:ext cx="812800" cy="417513"/>
        </p:xfrm>
        <a:graphic>
          <a:graphicData uri="http://schemas.openxmlformats.org/presentationml/2006/ole">
            <mc:AlternateContent xmlns:mc="http://schemas.openxmlformats.org/markup-compatibility/2006">
              <mc:Choice xmlns:v="urn:schemas-microsoft-com:vml" Requires="v">
                <p:oleObj spid="_x0000_s3198" name="" r:id="rId5" imgW="685800" imgH="352425" progId="Paint.Picture">
                  <p:embed/>
                </p:oleObj>
              </mc:Choice>
              <mc:Fallback>
                <p:oleObj name="" r:id="rId5" imgW="685800" imgH="352425" progId="Paint.Picture">
                  <p:embed/>
                  <p:pic>
                    <p:nvPicPr>
                      <p:cNvPr id="0" name="图片 3197"/>
                      <p:cNvPicPr/>
                      <p:nvPr/>
                    </p:nvPicPr>
                    <p:blipFill>
                      <a:blip r:embed="rId6"/>
                      <a:stretch>
                        <a:fillRect/>
                      </a:stretch>
                    </p:blipFill>
                    <p:spPr>
                      <a:xfrm>
                        <a:off x="2297113" y="2803525"/>
                        <a:ext cx="812800" cy="417513"/>
                      </a:xfrm>
                      <a:prstGeom prst="rect">
                        <a:avLst/>
                      </a:prstGeom>
                      <a:noFill/>
                      <a:ln w="38100">
                        <a:noFill/>
                        <a:miter/>
                      </a:ln>
                    </p:spPr>
                  </p:pic>
                </p:oleObj>
              </mc:Fallback>
            </mc:AlternateContent>
          </a:graphicData>
        </a:graphic>
      </p:graphicFrame>
      <p:grpSp>
        <p:nvGrpSpPr>
          <p:cNvPr id="136241" name="Group 49"/>
          <p:cNvGrpSpPr/>
          <p:nvPr/>
        </p:nvGrpSpPr>
        <p:grpSpPr>
          <a:xfrm>
            <a:off x="911225" y="1117600"/>
            <a:ext cx="5262563" cy="379413"/>
            <a:chOff x="293" y="2836"/>
            <a:chExt cx="3315" cy="239"/>
          </a:xfrm>
        </p:grpSpPr>
        <p:sp>
          <p:nvSpPr>
            <p:cNvPr id="54296" name="Rectangle 46"/>
            <p:cNvSpPr/>
            <p:nvPr/>
          </p:nvSpPr>
          <p:spPr>
            <a:xfrm>
              <a:off x="293" y="2845"/>
              <a:ext cx="1626" cy="23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dirty="0">
                  <a:latin typeface="宋体" panose="02010600030101010101" pitchFamily="2" charset="-122"/>
                </a:rPr>
                <a:t>[</a:t>
              </a:r>
              <a:r>
                <a:rPr lang="zh-CN" altLang="en-US" sz="2400" b="1" dirty="0">
                  <a:latin typeface="宋体" panose="02010600030101010101" pitchFamily="2" charset="-122"/>
                </a:rPr>
                <a:t>例</a:t>
              </a:r>
              <a:r>
                <a:rPr lang="en-US" altLang="zh-CN" sz="2400" b="1" dirty="0">
                  <a:latin typeface="宋体" panose="02010600030101010101" pitchFamily="2" charset="-122"/>
                </a:rPr>
                <a:t>]  </a:t>
              </a:r>
              <a:r>
                <a:rPr lang="zh-CN" altLang="en-US" sz="2400" b="1" dirty="0">
                  <a:latin typeface="宋体" panose="02010600030101010101" pitchFamily="2" charset="-122"/>
                </a:rPr>
                <a:t>化简逻辑式</a:t>
              </a:r>
              <a:endParaRPr lang="zh-CN" altLang="en-US" sz="2400" b="1" dirty="0">
                <a:latin typeface="宋体" panose="02010600030101010101" pitchFamily="2" charset="-122"/>
              </a:endParaRPr>
            </a:p>
          </p:txBody>
        </p:sp>
        <p:graphicFrame>
          <p:nvGraphicFramePr>
            <p:cNvPr id="54297" name="Object 48"/>
            <p:cNvGraphicFramePr>
              <a:graphicFrameLocks noChangeAspect="1"/>
            </p:cNvGraphicFramePr>
            <p:nvPr/>
          </p:nvGraphicFramePr>
          <p:xfrm>
            <a:off x="1888" y="2836"/>
            <a:ext cx="1720" cy="232"/>
          </p:xfrm>
          <a:graphic>
            <a:graphicData uri="http://schemas.openxmlformats.org/presentationml/2006/ole">
              <mc:AlternateContent xmlns:mc="http://schemas.openxmlformats.org/markup-compatibility/2006">
                <mc:Choice xmlns:v="urn:schemas-microsoft-com:vml" Requires="v">
                  <p:oleObj spid="_x0000_s3205" name="" r:id="rId7" imgW="2730500" imgH="368300" progId="Equation.3">
                    <p:embed/>
                  </p:oleObj>
                </mc:Choice>
                <mc:Fallback>
                  <p:oleObj name="" r:id="rId7" imgW="2730500" imgH="368300" progId="Equation.3">
                    <p:embed/>
                    <p:pic>
                      <p:nvPicPr>
                        <p:cNvPr id="0" name="图片 3204"/>
                        <p:cNvPicPr/>
                        <p:nvPr/>
                      </p:nvPicPr>
                      <p:blipFill>
                        <a:blip r:embed="rId8"/>
                        <a:stretch>
                          <a:fillRect/>
                        </a:stretch>
                      </p:blipFill>
                      <p:spPr>
                        <a:xfrm>
                          <a:off x="1888" y="2836"/>
                          <a:ext cx="1720" cy="232"/>
                        </a:xfrm>
                        <a:prstGeom prst="rect">
                          <a:avLst/>
                        </a:prstGeom>
                        <a:noFill/>
                        <a:ln w="38100">
                          <a:noFill/>
                          <a:miter/>
                        </a:ln>
                      </p:spPr>
                    </p:pic>
                  </p:oleObj>
                </mc:Fallback>
              </mc:AlternateContent>
            </a:graphicData>
          </a:graphic>
        </p:graphicFrame>
      </p:grpSp>
      <p:grpSp>
        <p:nvGrpSpPr>
          <p:cNvPr id="136244" name="Group 52"/>
          <p:cNvGrpSpPr/>
          <p:nvPr/>
        </p:nvGrpSpPr>
        <p:grpSpPr>
          <a:xfrm>
            <a:off x="1044575" y="2078038"/>
            <a:ext cx="1408113" cy="400050"/>
            <a:chOff x="419" y="3158"/>
            <a:chExt cx="886" cy="252"/>
          </a:xfrm>
        </p:grpSpPr>
        <p:sp>
          <p:nvSpPr>
            <p:cNvPr id="54294" name="Rectangle 50"/>
            <p:cNvSpPr/>
            <p:nvPr/>
          </p:nvSpPr>
          <p:spPr>
            <a:xfrm>
              <a:off x="419" y="3158"/>
              <a:ext cx="886" cy="252"/>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Times New Roman" panose="02020603050405020304" pitchFamily="18" charset="0"/>
                </a:rPr>
                <a:t>解：</a:t>
              </a:r>
              <a:r>
                <a:rPr lang="zh-CN" altLang="en-US" sz="2800" b="1" dirty="0">
                  <a:latin typeface="Times New Roman" panose="02020603050405020304" pitchFamily="18" charset="0"/>
                </a:rPr>
                <a:t> </a:t>
              </a:r>
              <a:endParaRPr lang="zh-CN" altLang="en-US" sz="2800" b="1" dirty="0">
                <a:latin typeface="Times New Roman" panose="02020603050405020304" pitchFamily="18" charset="0"/>
              </a:endParaRPr>
            </a:p>
          </p:txBody>
        </p:sp>
        <p:graphicFrame>
          <p:nvGraphicFramePr>
            <p:cNvPr id="54295" name="Object 51"/>
            <p:cNvGraphicFramePr>
              <a:graphicFrameLocks noChangeAspect="1"/>
            </p:cNvGraphicFramePr>
            <p:nvPr/>
          </p:nvGraphicFramePr>
          <p:xfrm>
            <a:off x="901" y="3179"/>
            <a:ext cx="312" cy="200"/>
          </p:xfrm>
          <a:graphic>
            <a:graphicData uri="http://schemas.openxmlformats.org/presentationml/2006/ole">
              <mc:AlternateContent xmlns:mc="http://schemas.openxmlformats.org/markup-compatibility/2006">
                <mc:Choice xmlns:v="urn:schemas-microsoft-com:vml" Requires="v">
                  <p:oleObj spid="_x0000_s3200" name="" r:id="rId9" imgW="494665" imgH="317500" progId="Equation.3">
                    <p:embed/>
                  </p:oleObj>
                </mc:Choice>
                <mc:Fallback>
                  <p:oleObj name="" r:id="rId9" imgW="494665" imgH="317500" progId="Equation.3">
                    <p:embed/>
                    <p:pic>
                      <p:nvPicPr>
                        <p:cNvPr id="0" name="图片 3199"/>
                        <p:cNvPicPr/>
                        <p:nvPr/>
                      </p:nvPicPr>
                      <p:blipFill>
                        <a:blip r:embed="rId10"/>
                        <a:stretch>
                          <a:fillRect/>
                        </a:stretch>
                      </p:blipFill>
                      <p:spPr>
                        <a:xfrm>
                          <a:off x="901" y="3179"/>
                          <a:ext cx="312" cy="200"/>
                        </a:xfrm>
                        <a:prstGeom prst="rect">
                          <a:avLst/>
                        </a:prstGeom>
                        <a:noFill/>
                        <a:ln w="38100">
                          <a:noFill/>
                          <a:miter/>
                        </a:ln>
                      </p:spPr>
                    </p:pic>
                  </p:oleObj>
                </mc:Fallback>
              </mc:AlternateContent>
            </a:graphicData>
          </a:graphic>
        </p:graphicFrame>
      </p:grpSp>
      <p:graphicFrame>
        <p:nvGraphicFramePr>
          <p:cNvPr id="136253" name="Object 61"/>
          <p:cNvGraphicFramePr>
            <a:graphicFrameLocks noChangeAspect="1"/>
          </p:cNvGraphicFramePr>
          <p:nvPr/>
        </p:nvGraphicFramePr>
        <p:xfrm>
          <a:off x="2359025" y="2065338"/>
          <a:ext cx="2197100" cy="393700"/>
        </p:xfrm>
        <a:graphic>
          <a:graphicData uri="http://schemas.openxmlformats.org/presentationml/2006/ole">
            <mc:AlternateContent xmlns:mc="http://schemas.openxmlformats.org/markup-compatibility/2006">
              <mc:Choice xmlns:v="urn:schemas-microsoft-com:vml" Requires="v">
                <p:oleObj spid="_x0000_s3194" name="" r:id="rId11" imgW="2197100" imgH="393700" progId="Equation.3">
                  <p:embed/>
                </p:oleObj>
              </mc:Choice>
              <mc:Fallback>
                <p:oleObj name="" r:id="rId11" imgW="2197100" imgH="393700" progId="Equation.3">
                  <p:embed/>
                  <p:pic>
                    <p:nvPicPr>
                      <p:cNvPr id="0" name="图片 3193"/>
                      <p:cNvPicPr/>
                      <p:nvPr/>
                    </p:nvPicPr>
                    <p:blipFill>
                      <a:blip r:embed="rId12"/>
                      <a:stretch>
                        <a:fillRect/>
                      </a:stretch>
                    </p:blipFill>
                    <p:spPr>
                      <a:xfrm>
                        <a:off x="2359025" y="2065338"/>
                        <a:ext cx="2197100" cy="393700"/>
                      </a:xfrm>
                      <a:prstGeom prst="rect">
                        <a:avLst/>
                      </a:prstGeom>
                      <a:noFill/>
                      <a:ln w="38100">
                        <a:noFill/>
                        <a:miter/>
                      </a:ln>
                    </p:spPr>
                  </p:pic>
                </p:oleObj>
              </mc:Fallback>
            </mc:AlternateContent>
          </a:graphicData>
        </a:graphic>
      </p:graphicFrame>
      <p:sp>
        <p:nvSpPr>
          <p:cNvPr id="136259" name="Line 67"/>
          <p:cNvSpPr/>
          <p:nvPr/>
        </p:nvSpPr>
        <p:spPr>
          <a:xfrm>
            <a:off x="2320925" y="3127375"/>
            <a:ext cx="276225" cy="0"/>
          </a:xfrm>
          <a:prstGeom prst="line">
            <a:avLst/>
          </a:prstGeom>
          <a:ln w="28575" cap="flat" cmpd="sng">
            <a:solidFill>
              <a:schemeClr val="accent1"/>
            </a:solidFill>
            <a:prstDash val="solid"/>
            <a:headEnd type="none" w="med" len="med"/>
            <a:tailEnd type="none" w="med" len="med"/>
          </a:ln>
        </p:spPr>
      </p:sp>
      <p:sp>
        <p:nvSpPr>
          <p:cNvPr id="136260" name="Line 68"/>
          <p:cNvSpPr/>
          <p:nvPr/>
        </p:nvSpPr>
        <p:spPr>
          <a:xfrm>
            <a:off x="3343275" y="3136900"/>
            <a:ext cx="255588" cy="0"/>
          </a:xfrm>
          <a:prstGeom prst="line">
            <a:avLst/>
          </a:prstGeom>
          <a:ln w="28575" cap="flat" cmpd="sng">
            <a:solidFill>
              <a:schemeClr val="accent1"/>
            </a:solidFill>
            <a:prstDash val="solid"/>
            <a:headEnd type="none" w="med" len="med"/>
            <a:tailEnd type="none" w="med" len="med"/>
          </a:ln>
        </p:spPr>
      </p:sp>
      <p:graphicFrame>
        <p:nvGraphicFramePr>
          <p:cNvPr id="136261" name="Object 69"/>
          <p:cNvGraphicFramePr>
            <a:graphicFrameLocks noChangeAspect="1"/>
          </p:cNvGraphicFramePr>
          <p:nvPr/>
        </p:nvGraphicFramePr>
        <p:xfrm>
          <a:off x="2082800" y="3425825"/>
          <a:ext cx="1752600" cy="330200"/>
        </p:xfrm>
        <a:graphic>
          <a:graphicData uri="http://schemas.openxmlformats.org/presentationml/2006/ole">
            <mc:AlternateContent xmlns:mc="http://schemas.openxmlformats.org/markup-compatibility/2006">
              <mc:Choice xmlns:v="urn:schemas-microsoft-com:vml" Requires="v">
                <p:oleObj spid="_x0000_s3208" name="" r:id="rId13" imgW="1752600" imgH="330200" progId="Equation.3">
                  <p:embed/>
                </p:oleObj>
              </mc:Choice>
              <mc:Fallback>
                <p:oleObj name="" r:id="rId13" imgW="1752600" imgH="330200" progId="Equation.3">
                  <p:embed/>
                  <p:pic>
                    <p:nvPicPr>
                      <p:cNvPr id="0" name="图片 3207"/>
                      <p:cNvPicPr/>
                      <p:nvPr/>
                    </p:nvPicPr>
                    <p:blipFill>
                      <a:blip r:embed="rId14"/>
                      <a:stretch>
                        <a:fillRect/>
                      </a:stretch>
                    </p:blipFill>
                    <p:spPr>
                      <a:xfrm>
                        <a:off x="2082800" y="3425825"/>
                        <a:ext cx="1752600" cy="330200"/>
                      </a:xfrm>
                      <a:prstGeom prst="rect">
                        <a:avLst/>
                      </a:prstGeom>
                      <a:noFill/>
                      <a:ln w="38100">
                        <a:noFill/>
                        <a:miter/>
                      </a:ln>
                    </p:spPr>
                  </p:pic>
                </p:oleObj>
              </mc:Fallback>
            </mc:AlternateContent>
          </a:graphicData>
        </a:graphic>
      </p:graphicFrame>
      <p:grpSp>
        <p:nvGrpSpPr>
          <p:cNvPr id="136262" name="Group 70"/>
          <p:cNvGrpSpPr/>
          <p:nvPr/>
        </p:nvGrpSpPr>
        <p:grpSpPr>
          <a:xfrm>
            <a:off x="4232275" y="3379788"/>
            <a:ext cx="2738438" cy="466725"/>
            <a:chOff x="1734" y="1716"/>
            <a:chExt cx="1725" cy="294"/>
          </a:xfrm>
        </p:grpSpPr>
        <p:sp>
          <p:nvSpPr>
            <p:cNvPr id="54292" name="Rectangle 71"/>
            <p:cNvSpPr/>
            <p:nvPr/>
          </p:nvSpPr>
          <p:spPr>
            <a:xfrm>
              <a:off x="1734" y="1716"/>
              <a:ext cx="1725" cy="294"/>
            </a:xfrm>
            <a:prstGeom prst="rect">
              <a:avLst/>
            </a:prstGeom>
            <a:solidFill>
              <a:srgbClr val="CCFFFF">
                <a:alpha val="50195"/>
              </a:srgbClr>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dirty="0">
                  <a:solidFill>
                    <a:srgbClr val="000000"/>
                  </a:solidFill>
                  <a:latin typeface="Times New Roman" panose="02020603050405020304" pitchFamily="18" charset="0"/>
                </a:rPr>
                <a:t>应用</a:t>
              </a:r>
              <a:endParaRPr lang="zh-CN" altLang="en-US" sz="2400" b="1" i="1" dirty="0">
                <a:solidFill>
                  <a:srgbClr val="000000"/>
                </a:solidFill>
                <a:latin typeface="Times New Roman" panose="02020603050405020304" pitchFamily="18" charset="0"/>
              </a:endParaRPr>
            </a:p>
          </p:txBody>
        </p:sp>
        <p:graphicFrame>
          <p:nvGraphicFramePr>
            <p:cNvPr id="54293" name="Object 72"/>
            <p:cNvGraphicFramePr>
              <a:graphicFrameLocks noChangeAspect="1"/>
            </p:cNvGraphicFramePr>
            <p:nvPr/>
          </p:nvGraphicFramePr>
          <p:xfrm>
            <a:off x="2158" y="1755"/>
            <a:ext cx="1272" cy="200"/>
          </p:xfrm>
          <a:graphic>
            <a:graphicData uri="http://schemas.openxmlformats.org/presentationml/2006/ole">
              <mc:AlternateContent xmlns:mc="http://schemas.openxmlformats.org/markup-compatibility/2006">
                <mc:Choice xmlns:v="urn:schemas-microsoft-com:vml" Requires="v">
                  <p:oleObj spid="_x0000_s3212" name="" r:id="rId15" imgW="2019300" imgH="317500" progId="Equation.3">
                    <p:embed/>
                  </p:oleObj>
                </mc:Choice>
                <mc:Fallback>
                  <p:oleObj name="" r:id="rId15" imgW="2019300" imgH="317500" progId="Equation.3">
                    <p:embed/>
                    <p:pic>
                      <p:nvPicPr>
                        <p:cNvPr id="0" name="图片 3211"/>
                        <p:cNvPicPr/>
                        <p:nvPr/>
                      </p:nvPicPr>
                      <p:blipFill>
                        <a:blip r:embed="rId16"/>
                        <a:stretch>
                          <a:fillRect/>
                        </a:stretch>
                      </p:blipFill>
                      <p:spPr>
                        <a:xfrm>
                          <a:off x="2158" y="1755"/>
                          <a:ext cx="1272" cy="200"/>
                        </a:xfrm>
                        <a:prstGeom prst="rect">
                          <a:avLst/>
                        </a:prstGeom>
                        <a:noFill/>
                        <a:ln w="38100">
                          <a:noFill/>
                          <a:miter/>
                        </a:ln>
                      </p:spPr>
                    </p:pic>
                  </p:oleObj>
                </mc:Fallback>
              </mc:AlternateContent>
            </a:graphicData>
          </a:graphic>
        </p:graphicFrame>
      </p:grpSp>
      <p:sp>
        <p:nvSpPr>
          <p:cNvPr id="136265" name="Line 73"/>
          <p:cNvSpPr/>
          <p:nvPr/>
        </p:nvSpPr>
        <p:spPr>
          <a:xfrm>
            <a:off x="3333750" y="3789363"/>
            <a:ext cx="482600" cy="0"/>
          </a:xfrm>
          <a:prstGeom prst="line">
            <a:avLst/>
          </a:prstGeom>
          <a:ln w="28575" cap="flat" cmpd="sng">
            <a:solidFill>
              <a:schemeClr val="accent1"/>
            </a:solidFill>
            <a:prstDash val="solid"/>
            <a:headEnd type="none" w="med" len="med"/>
            <a:tailEnd type="none" w="med" len="med"/>
          </a:ln>
        </p:spPr>
      </p:sp>
      <p:sp>
        <p:nvSpPr>
          <p:cNvPr id="136266" name="Line 74"/>
          <p:cNvSpPr/>
          <p:nvPr/>
        </p:nvSpPr>
        <p:spPr>
          <a:xfrm>
            <a:off x="2320925" y="3779838"/>
            <a:ext cx="276225" cy="0"/>
          </a:xfrm>
          <a:prstGeom prst="line">
            <a:avLst/>
          </a:prstGeom>
          <a:ln w="28575" cap="flat" cmpd="sng">
            <a:solidFill>
              <a:schemeClr val="accent1"/>
            </a:solidFill>
            <a:prstDash val="solid"/>
            <a:headEnd type="none" w="med" len="med"/>
            <a:tailEnd type="none" w="med" len="med"/>
          </a:ln>
        </p:spPr>
      </p:sp>
      <p:graphicFrame>
        <p:nvGraphicFramePr>
          <p:cNvPr id="136267" name="Object 75"/>
          <p:cNvGraphicFramePr>
            <a:graphicFrameLocks noChangeAspect="1"/>
          </p:cNvGraphicFramePr>
          <p:nvPr/>
        </p:nvGraphicFramePr>
        <p:xfrm>
          <a:off x="2082800" y="4111625"/>
          <a:ext cx="1524000" cy="330200"/>
        </p:xfrm>
        <a:graphic>
          <a:graphicData uri="http://schemas.openxmlformats.org/presentationml/2006/ole">
            <mc:AlternateContent xmlns:mc="http://schemas.openxmlformats.org/markup-compatibility/2006">
              <mc:Choice xmlns:v="urn:schemas-microsoft-com:vml" Requires="v">
                <p:oleObj spid="_x0000_s3213" name="" r:id="rId17" imgW="1524000" imgH="330200" progId="Equation.3">
                  <p:embed/>
                </p:oleObj>
              </mc:Choice>
              <mc:Fallback>
                <p:oleObj name="" r:id="rId17" imgW="1524000" imgH="330200" progId="Equation.3">
                  <p:embed/>
                  <p:pic>
                    <p:nvPicPr>
                      <p:cNvPr id="0" name="图片 3212"/>
                      <p:cNvPicPr/>
                      <p:nvPr/>
                    </p:nvPicPr>
                    <p:blipFill>
                      <a:blip r:embed="rId18"/>
                      <a:stretch>
                        <a:fillRect/>
                      </a:stretch>
                    </p:blipFill>
                    <p:spPr>
                      <a:xfrm>
                        <a:off x="2082800" y="4111625"/>
                        <a:ext cx="1524000" cy="330200"/>
                      </a:xfrm>
                      <a:prstGeom prst="rect">
                        <a:avLst/>
                      </a:prstGeom>
                      <a:noFill/>
                      <a:ln w="38100">
                        <a:noFill/>
                        <a:miter/>
                      </a:ln>
                    </p:spPr>
                  </p:pic>
                </p:oleObj>
              </mc:Fallback>
            </mc:AlternateContent>
          </a:graphicData>
        </a:graphic>
      </p:graphicFrame>
      <p:graphicFrame>
        <p:nvGraphicFramePr>
          <p:cNvPr id="136268" name="Object 76"/>
          <p:cNvGraphicFramePr>
            <a:graphicFrameLocks noChangeAspect="1"/>
          </p:cNvGraphicFramePr>
          <p:nvPr/>
        </p:nvGraphicFramePr>
        <p:xfrm>
          <a:off x="2979738" y="4964113"/>
          <a:ext cx="1790700" cy="368300"/>
        </p:xfrm>
        <a:graphic>
          <a:graphicData uri="http://schemas.openxmlformats.org/presentationml/2006/ole">
            <mc:AlternateContent xmlns:mc="http://schemas.openxmlformats.org/markup-compatibility/2006">
              <mc:Choice xmlns:v="urn:schemas-microsoft-com:vml" Requires="v">
                <p:oleObj spid="_x0000_s3206" name="" r:id="rId19" imgW="1790700" imgH="368300" progId="Equation.3">
                  <p:embed/>
                </p:oleObj>
              </mc:Choice>
              <mc:Fallback>
                <p:oleObj name="" r:id="rId19" imgW="1790700" imgH="368300" progId="Equation.3">
                  <p:embed/>
                  <p:pic>
                    <p:nvPicPr>
                      <p:cNvPr id="0" name="图片 3205"/>
                      <p:cNvPicPr/>
                      <p:nvPr/>
                    </p:nvPicPr>
                    <p:blipFill>
                      <a:blip r:embed="rId20"/>
                      <a:stretch>
                        <a:fillRect/>
                      </a:stretch>
                    </p:blipFill>
                    <p:spPr>
                      <a:xfrm>
                        <a:off x="2979738" y="4964113"/>
                        <a:ext cx="1790700" cy="368300"/>
                      </a:xfrm>
                      <a:prstGeom prst="rect">
                        <a:avLst/>
                      </a:prstGeom>
                      <a:noFill/>
                      <a:ln w="38100">
                        <a:noFill/>
                        <a:miter/>
                      </a:ln>
                    </p:spPr>
                  </p:pic>
                </p:oleObj>
              </mc:Fallback>
            </mc:AlternateContent>
          </a:graphicData>
        </a:graphic>
      </p:graphicFrame>
      <p:graphicFrame>
        <p:nvGraphicFramePr>
          <p:cNvPr id="136269" name="Object 77"/>
          <p:cNvGraphicFramePr>
            <a:graphicFrameLocks noChangeAspect="1"/>
          </p:cNvGraphicFramePr>
          <p:nvPr/>
        </p:nvGraphicFramePr>
        <p:xfrm>
          <a:off x="4846638" y="4991100"/>
          <a:ext cx="939800" cy="330200"/>
        </p:xfrm>
        <a:graphic>
          <a:graphicData uri="http://schemas.openxmlformats.org/presentationml/2006/ole">
            <mc:AlternateContent xmlns:mc="http://schemas.openxmlformats.org/markup-compatibility/2006">
              <mc:Choice xmlns:v="urn:schemas-microsoft-com:vml" Requires="v">
                <p:oleObj spid="_x0000_s3211" name="" r:id="rId21" imgW="939165" imgH="330200" progId="Equation.3">
                  <p:embed/>
                </p:oleObj>
              </mc:Choice>
              <mc:Fallback>
                <p:oleObj name="" r:id="rId21" imgW="939165" imgH="330200" progId="Equation.3">
                  <p:embed/>
                  <p:pic>
                    <p:nvPicPr>
                      <p:cNvPr id="0" name="图片 3210"/>
                      <p:cNvPicPr/>
                      <p:nvPr/>
                    </p:nvPicPr>
                    <p:blipFill>
                      <a:blip r:embed="rId22"/>
                      <a:stretch>
                        <a:fillRect/>
                      </a:stretch>
                    </p:blipFill>
                    <p:spPr>
                      <a:xfrm>
                        <a:off x="4846638" y="4991100"/>
                        <a:ext cx="939800" cy="330200"/>
                      </a:xfrm>
                      <a:prstGeom prst="rect">
                        <a:avLst/>
                      </a:prstGeom>
                      <a:noFill/>
                      <a:ln w="38100">
                        <a:noFill/>
                        <a:miter/>
                      </a:ln>
                    </p:spPr>
                  </p:pic>
                </p:oleObj>
              </mc:Fallback>
            </mc:AlternateContent>
          </a:graphicData>
        </a:graphic>
      </p:graphicFrame>
      <p:sp>
        <p:nvSpPr>
          <p:cNvPr id="136270" name="AutoShape 78"/>
          <p:cNvSpPr/>
          <p:nvPr/>
        </p:nvSpPr>
        <p:spPr>
          <a:xfrm>
            <a:off x="1863725" y="5083175"/>
            <a:ext cx="860425" cy="241300"/>
          </a:xfrm>
          <a:custGeom>
            <a:avLst/>
            <a:gdLst>
              <a:gd name="txL" fmla="*/ 3375 w 21600"/>
              <a:gd name="txT" fmla="*/ 5400 h 21600"/>
              <a:gd name="txR" fmla="*/ 18900 w 21600"/>
              <a:gd name="txB" fmla="*/ 16200 h 21600"/>
            </a:gdLst>
            <a:ahLst/>
            <a:cxnLst>
              <a:cxn ang="17694720">
                <a:pos x="2147483646" y="0"/>
              </a:cxn>
              <a:cxn ang="11796480">
                <a:pos x="0" y="2147483646"/>
              </a:cxn>
              <a:cxn ang="5898240">
                <a:pos x="2147483646" y="2147483646"/>
              </a:cxn>
              <a:cxn ang="0">
                <a:pos x="2147483646" y="2147483646"/>
              </a:cxn>
            </a:cxnLst>
            <a:rect l="txL" t="txT" r="txR" b="txB"/>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CC99FF">
              <a:alpha val="100000"/>
            </a:srgbClr>
          </a:solidFill>
          <a:ln w="9525"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36272" name="Rectangle 80"/>
          <p:cNvSpPr/>
          <p:nvPr/>
        </p:nvSpPr>
        <p:spPr>
          <a:xfrm>
            <a:off x="4902200" y="2041525"/>
            <a:ext cx="1862138" cy="466725"/>
          </a:xfrm>
          <a:prstGeom prst="rect">
            <a:avLst/>
          </a:prstGeom>
          <a:solidFill>
            <a:srgbClr val="CCFFFF">
              <a:alpha val="50195"/>
            </a:srgbClr>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zh-CN" altLang="en-US" sz="2400" b="1" dirty="0">
                <a:latin typeface="Times New Roman" panose="02020603050405020304" pitchFamily="18" charset="0"/>
              </a:rPr>
              <a:t>用摩根定律</a:t>
            </a:r>
            <a:endParaRPr lang="zh-CN" altLang="en-US" sz="2400" b="1" dirty="0">
              <a:latin typeface="Times New Roman" panose="02020603050405020304" pitchFamily="18" charset="0"/>
            </a:endParaRPr>
          </a:p>
        </p:txBody>
      </p:sp>
      <p:graphicFrame>
        <p:nvGraphicFramePr>
          <p:cNvPr id="136279" name="Object 87"/>
          <p:cNvGraphicFramePr>
            <a:graphicFrameLocks noChangeAspect="1"/>
          </p:cNvGraphicFramePr>
          <p:nvPr/>
        </p:nvGraphicFramePr>
        <p:xfrm>
          <a:off x="2019300" y="2825750"/>
          <a:ext cx="309563" cy="244475"/>
        </p:xfrm>
        <a:graphic>
          <a:graphicData uri="http://schemas.openxmlformats.org/presentationml/2006/ole">
            <mc:AlternateContent xmlns:mc="http://schemas.openxmlformats.org/markup-compatibility/2006">
              <mc:Choice xmlns:v="urn:schemas-microsoft-com:vml" Requires="v">
                <p:oleObj spid="_x0000_s3207" name="" r:id="rId23" imgW="228600" imgH="180975" progId="Paint.Picture">
                  <p:embed/>
                </p:oleObj>
              </mc:Choice>
              <mc:Fallback>
                <p:oleObj name="" r:id="rId23" imgW="228600" imgH="180975" progId="Paint.Picture">
                  <p:embed/>
                  <p:pic>
                    <p:nvPicPr>
                      <p:cNvPr id="0" name="图片 3206"/>
                      <p:cNvPicPr/>
                      <p:nvPr/>
                    </p:nvPicPr>
                    <p:blipFill>
                      <a:blip r:embed="rId24"/>
                      <a:stretch>
                        <a:fillRect/>
                      </a:stretch>
                    </p:blipFill>
                    <p:spPr>
                      <a:xfrm>
                        <a:off x="2019300" y="2825750"/>
                        <a:ext cx="309563" cy="244475"/>
                      </a:xfrm>
                      <a:prstGeom prst="rect">
                        <a:avLst/>
                      </a:prstGeom>
                      <a:noFill/>
                      <a:ln w="38100">
                        <a:noFill/>
                        <a:miter/>
                      </a:ln>
                    </p:spPr>
                  </p:pic>
                </p:oleObj>
              </mc:Fallback>
            </mc:AlternateContent>
          </a:graphicData>
        </a:graphic>
      </p:graphicFrame>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36241"/>
                                        </p:tgtEl>
                                        <p:attrNameLst>
                                          <p:attrName>style.visibility</p:attrName>
                                        </p:attrNameLst>
                                      </p:cBhvr>
                                      <p:to>
                                        <p:strVal val="visible"/>
                                      </p:to>
                                    </p:set>
                                    <p:animEffect transition="in" filter="wipe(left)">
                                      <p:cBhvr>
                                        <p:cTn id="7" dur="500"/>
                                        <p:tgtEl>
                                          <p:spTgt spid="13624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6244"/>
                                        </p:tgtEl>
                                        <p:attrNameLst>
                                          <p:attrName>style.visibility</p:attrName>
                                        </p:attrNameLst>
                                      </p:cBhvr>
                                      <p:to>
                                        <p:strVal val="visible"/>
                                      </p:to>
                                    </p:set>
                                    <p:animEffect transition="in" filter="wipe(left)">
                                      <p:cBhvr>
                                        <p:cTn id="12" dur="500"/>
                                        <p:tgtEl>
                                          <p:spTgt spid="13624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6253"/>
                                        </p:tgtEl>
                                        <p:attrNameLst>
                                          <p:attrName>style.visibility</p:attrName>
                                        </p:attrNameLst>
                                      </p:cBhvr>
                                      <p:to>
                                        <p:strVal val="visible"/>
                                      </p:to>
                                    </p:set>
                                    <p:animEffect transition="in" filter="wipe(left)">
                                      <p:cBhvr>
                                        <p:cTn id="17" dur="500"/>
                                        <p:tgtEl>
                                          <p:spTgt spid="136253"/>
                                        </p:tgtEl>
                                      </p:cBhvr>
                                    </p:animEffect>
                                  </p:childTnLst>
                                </p:cTn>
                              </p:par>
                            </p:childTnLst>
                          </p:cTn>
                        </p:par>
                        <p:par>
                          <p:cTn id="18" fill="hold">
                            <p:stCondLst>
                              <p:cond delay="500"/>
                            </p:stCondLst>
                            <p:childTnLst>
                              <p:par>
                                <p:cTn id="19" presetID="3" presetClass="entr" presetSubtype="10" fill="hold" grpId="0" nodeType="afterEffect">
                                  <p:stCondLst>
                                    <p:cond delay="0"/>
                                  </p:stCondLst>
                                  <p:childTnLst>
                                    <p:set>
                                      <p:cBhvr>
                                        <p:cTn id="20" dur="1" fill="hold">
                                          <p:stCondLst>
                                            <p:cond delay="0"/>
                                          </p:stCondLst>
                                        </p:cTn>
                                        <p:tgtEl>
                                          <p:spTgt spid="136272"/>
                                        </p:tgtEl>
                                        <p:attrNameLst>
                                          <p:attrName>style.visibility</p:attrName>
                                        </p:attrNameLst>
                                      </p:cBhvr>
                                      <p:to>
                                        <p:strVal val="visible"/>
                                      </p:to>
                                    </p:set>
                                    <p:animEffect transition="in" filter="blinds(horizontal)">
                                      <p:cBhvr>
                                        <p:cTn id="21" dur="500"/>
                                        <p:tgtEl>
                                          <p:spTgt spid="136272"/>
                                        </p:tgtEl>
                                      </p:cBhvr>
                                    </p:animEffect>
                                  </p:childTnLst>
                                  <p:subTnLst>
                                    <p:set>
                                      <p:cBhvr override="childStyle">
                                        <p:cTn dur="1" fill="hold" display="0" masterRel="nextClick" afterEffect="1"/>
                                        <p:tgtEl>
                                          <p:spTgt spid="136272"/>
                                        </p:tgtEl>
                                        <p:attrNameLst>
                                          <p:attrName>style.visibility</p:attrName>
                                        </p:attrNameLst>
                                      </p:cBhvr>
                                      <p:to>
                                        <p:strVal val="hidden"/>
                                      </p:to>
                                    </p:set>
                                  </p:sub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36279"/>
                                        </p:tgtEl>
                                        <p:attrNameLst>
                                          <p:attrName>style.visibility</p:attrName>
                                        </p:attrNameLst>
                                      </p:cBhvr>
                                      <p:to>
                                        <p:strVal val="visible"/>
                                      </p:to>
                                    </p:set>
                                    <p:animEffect transition="in" filter="wipe(left)">
                                      <p:cBhvr>
                                        <p:cTn id="26" dur="500"/>
                                        <p:tgtEl>
                                          <p:spTgt spid="136279"/>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136280"/>
                                        </p:tgtEl>
                                        <p:attrNameLst>
                                          <p:attrName>style.visibility</p:attrName>
                                        </p:attrNameLst>
                                      </p:cBhvr>
                                      <p:to>
                                        <p:strVal val="visible"/>
                                      </p:to>
                                    </p:set>
                                    <p:animEffect transition="in" filter="wipe(left)">
                                      <p:cBhvr>
                                        <p:cTn id="30" dur="500"/>
                                        <p:tgtEl>
                                          <p:spTgt spid="13628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36281"/>
                                        </p:tgtEl>
                                        <p:attrNameLst>
                                          <p:attrName>style.visibility</p:attrName>
                                        </p:attrNameLst>
                                      </p:cBhvr>
                                      <p:to>
                                        <p:strVal val="visible"/>
                                      </p:to>
                                    </p:set>
                                    <p:animEffect transition="in" filter="wipe(left)">
                                      <p:cBhvr>
                                        <p:cTn id="35" dur="500"/>
                                        <p:tgtEl>
                                          <p:spTgt spid="13628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36282"/>
                                        </p:tgtEl>
                                        <p:attrNameLst>
                                          <p:attrName>style.visibility</p:attrName>
                                        </p:attrNameLst>
                                      </p:cBhvr>
                                      <p:to>
                                        <p:strVal val="visible"/>
                                      </p:to>
                                    </p:set>
                                    <p:animEffect transition="in" filter="wipe(left)">
                                      <p:cBhvr>
                                        <p:cTn id="40" dur="500"/>
                                        <p:tgtEl>
                                          <p:spTgt spid="136282"/>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36259"/>
                                        </p:tgtEl>
                                        <p:attrNameLst>
                                          <p:attrName>style.visibility</p:attrName>
                                        </p:attrNameLst>
                                      </p:cBhvr>
                                      <p:to>
                                        <p:strVal val="visible"/>
                                      </p:to>
                                    </p:set>
                                    <p:animEffect transition="in" filter="wipe(left)">
                                      <p:cBhvr>
                                        <p:cTn id="45" dur="500"/>
                                        <p:tgtEl>
                                          <p:spTgt spid="136259"/>
                                        </p:tgtEl>
                                      </p:cBhvr>
                                    </p:animEffect>
                                  </p:childTnLst>
                                </p:cTn>
                              </p:par>
                            </p:childTnLst>
                          </p:cTn>
                        </p:par>
                        <p:par>
                          <p:cTn id="46" fill="hold">
                            <p:stCondLst>
                              <p:cond delay="500"/>
                            </p:stCondLst>
                            <p:childTnLst>
                              <p:par>
                                <p:cTn id="47" presetID="22" presetClass="entr" presetSubtype="8" fill="hold" nodeType="afterEffect">
                                  <p:stCondLst>
                                    <p:cond delay="0"/>
                                  </p:stCondLst>
                                  <p:childTnLst>
                                    <p:set>
                                      <p:cBhvr>
                                        <p:cTn id="48" dur="1" fill="hold">
                                          <p:stCondLst>
                                            <p:cond delay="0"/>
                                          </p:stCondLst>
                                        </p:cTn>
                                        <p:tgtEl>
                                          <p:spTgt spid="136260"/>
                                        </p:tgtEl>
                                        <p:attrNameLst>
                                          <p:attrName>style.visibility</p:attrName>
                                        </p:attrNameLst>
                                      </p:cBhvr>
                                      <p:to>
                                        <p:strVal val="visible"/>
                                      </p:to>
                                    </p:set>
                                    <p:animEffect transition="in" filter="wipe(left)">
                                      <p:cBhvr>
                                        <p:cTn id="49" dur="500"/>
                                        <p:tgtEl>
                                          <p:spTgt spid="136260"/>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136261"/>
                                        </p:tgtEl>
                                        <p:attrNameLst>
                                          <p:attrName>style.visibility</p:attrName>
                                        </p:attrNameLst>
                                      </p:cBhvr>
                                      <p:to>
                                        <p:strVal val="visible"/>
                                      </p:to>
                                    </p:set>
                                    <p:animEffect transition="in" filter="wipe(left)">
                                      <p:cBhvr>
                                        <p:cTn id="54" dur="500"/>
                                        <p:tgtEl>
                                          <p:spTgt spid="136261"/>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136266"/>
                                        </p:tgtEl>
                                        <p:attrNameLst>
                                          <p:attrName>style.visibility</p:attrName>
                                        </p:attrNameLst>
                                      </p:cBhvr>
                                      <p:to>
                                        <p:strVal val="visible"/>
                                      </p:to>
                                    </p:set>
                                    <p:animEffect transition="in" filter="wipe(left)">
                                      <p:cBhvr>
                                        <p:cTn id="59" dur="500"/>
                                        <p:tgtEl>
                                          <p:spTgt spid="136266"/>
                                        </p:tgtEl>
                                      </p:cBhvr>
                                    </p:animEffect>
                                  </p:childTnLst>
                                </p:cTn>
                              </p:par>
                            </p:childTnLst>
                          </p:cTn>
                        </p:par>
                        <p:par>
                          <p:cTn id="60" fill="hold">
                            <p:stCondLst>
                              <p:cond delay="500"/>
                            </p:stCondLst>
                            <p:childTnLst>
                              <p:par>
                                <p:cTn id="61" presetID="22" presetClass="entr" presetSubtype="8" fill="hold" nodeType="afterEffect">
                                  <p:stCondLst>
                                    <p:cond delay="0"/>
                                  </p:stCondLst>
                                  <p:childTnLst>
                                    <p:set>
                                      <p:cBhvr>
                                        <p:cTn id="62" dur="1" fill="hold">
                                          <p:stCondLst>
                                            <p:cond delay="0"/>
                                          </p:stCondLst>
                                        </p:cTn>
                                        <p:tgtEl>
                                          <p:spTgt spid="136265"/>
                                        </p:tgtEl>
                                        <p:attrNameLst>
                                          <p:attrName>style.visibility</p:attrName>
                                        </p:attrNameLst>
                                      </p:cBhvr>
                                      <p:to>
                                        <p:strVal val="visible"/>
                                      </p:to>
                                    </p:set>
                                    <p:animEffect transition="in" filter="wipe(left)">
                                      <p:cBhvr>
                                        <p:cTn id="63" dur="500"/>
                                        <p:tgtEl>
                                          <p:spTgt spid="136265"/>
                                        </p:tgtEl>
                                      </p:cBhvr>
                                    </p:animEffect>
                                  </p:childTnLst>
                                </p:cTn>
                              </p:par>
                            </p:childTnLst>
                          </p:cTn>
                        </p:par>
                        <p:par>
                          <p:cTn id="64" fill="hold">
                            <p:stCondLst>
                              <p:cond delay="1000"/>
                            </p:stCondLst>
                            <p:childTnLst>
                              <p:par>
                                <p:cTn id="65" presetID="3" presetClass="entr" presetSubtype="10" fill="hold" nodeType="afterEffect">
                                  <p:stCondLst>
                                    <p:cond delay="0"/>
                                  </p:stCondLst>
                                  <p:childTnLst>
                                    <p:set>
                                      <p:cBhvr>
                                        <p:cTn id="66" dur="1" fill="hold">
                                          <p:stCondLst>
                                            <p:cond delay="0"/>
                                          </p:stCondLst>
                                        </p:cTn>
                                        <p:tgtEl>
                                          <p:spTgt spid="136262"/>
                                        </p:tgtEl>
                                        <p:attrNameLst>
                                          <p:attrName>style.visibility</p:attrName>
                                        </p:attrNameLst>
                                      </p:cBhvr>
                                      <p:to>
                                        <p:strVal val="visible"/>
                                      </p:to>
                                    </p:set>
                                    <p:animEffect transition="in" filter="blinds(horizontal)">
                                      <p:cBhvr>
                                        <p:cTn id="67" dur="500"/>
                                        <p:tgtEl>
                                          <p:spTgt spid="136262"/>
                                        </p:tgtEl>
                                      </p:cBhvr>
                                    </p:animEffect>
                                  </p:childTnLst>
                                  <p:subTnLst>
                                    <p:set>
                                      <p:cBhvr override="childStyle">
                                        <p:cTn dur="1" fill="hold" display="0" masterRel="nextClick" afterEffect="1"/>
                                        <p:tgtEl>
                                          <p:spTgt spid="136262"/>
                                        </p:tgtEl>
                                        <p:attrNameLst>
                                          <p:attrName>style.visibility</p:attrName>
                                        </p:attrNameLst>
                                      </p:cBhvr>
                                      <p:to>
                                        <p:strVal val="hidden"/>
                                      </p:to>
                                    </p:set>
                                  </p:sub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36267"/>
                                        </p:tgtEl>
                                        <p:attrNameLst>
                                          <p:attrName>style.visibility</p:attrName>
                                        </p:attrNameLst>
                                      </p:cBhvr>
                                      <p:to>
                                        <p:strVal val="visible"/>
                                      </p:to>
                                    </p:set>
                                    <p:animEffect transition="in" filter="wipe(left)">
                                      <p:cBhvr>
                                        <p:cTn id="72" dur="500"/>
                                        <p:tgtEl>
                                          <p:spTgt spid="136267"/>
                                        </p:tgtEl>
                                      </p:cBhvr>
                                    </p:animEffect>
                                  </p:childTnLst>
                                </p:cTn>
                              </p:par>
                            </p:childTnLst>
                          </p:cTn>
                        </p:par>
                      </p:childTnLst>
                    </p:cTn>
                  </p:par>
                  <p:par>
                    <p:cTn id="73" fill="hold">
                      <p:stCondLst>
                        <p:cond delay="indefinite"/>
                      </p:stCondLst>
                      <p:childTnLst>
                        <p:par>
                          <p:cTn id="74" fill="hold">
                            <p:stCondLst>
                              <p:cond delay="0"/>
                            </p:stCondLst>
                            <p:childTnLst>
                              <p:par>
                                <p:cTn id="75" presetID="2" presetClass="entr" presetSubtype="8" fill="hold" nodeType="clickEffect">
                                  <p:stCondLst>
                                    <p:cond delay="0"/>
                                  </p:stCondLst>
                                  <p:childTnLst>
                                    <p:set>
                                      <p:cBhvr>
                                        <p:cTn id="76" dur="1" fill="hold">
                                          <p:stCondLst>
                                            <p:cond delay="0"/>
                                          </p:stCondLst>
                                        </p:cTn>
                                        <p:tgtEl>
                                          <p:spTgt spid="136270"/>
                                        </p:tgtEl>
                                        <p:attrNameLst>
                                          <p:attrName>style.visibility</p:attrName>
                                        </p:attrNameLst>
                                      </p:cBhvr>
                                      <p:to>
                                        <p:strVal val="visible"/>
                                      </p:to>
                                    </p:set>
                                    <p:anim calcmode="lin" valueType="num">
                                      <p:cBhvr additive="base">
                                        <p:cTn id="77" dur="500" fill="hold"/>
                                        <p:tgtEl>
                                          <p:spTgt spid="136270"/>
                                        </p:tgtEl>
                                        <p:attrNameLst>
                                          <p:attrName>ppt_x</p:attrName>
                                        </p:attrNameLst>
                                      </p:cBhvr>
                                      <p:tavLst>
                                        <p:tav tm="0">
                                          <p:val>
                                            <p:strVal val="0-#ppt_w/2"/>
                                          </p:val>
                                        </p:tav>
                                        <p:tav tm="100000">
                                          <p:val>
                                            <p:strVal val="#ppt_x"/>
                                          </p:val>
                                        </p:tav>
                                      </p:tavLst>
                                    </p:anim>
                                    <p:anim calcmode="lin" valueType="num">
                                      <p:cBhvr additive="base">
                                        <p:cTn id="78" dur="500" fill="hold"/>
                                        <p:tgtEl>
                                          <p:spTgt spid="136270"/>
                                        </p:tgtEl>
                                        <p:attrNameLst>
                                          <p:attrName>ppt_y</p:attrName>
                                        </p:attrNameLst>
                                      </p:cBhvr>
                                      <p:tavLst>
                                        <p:tav tm="0">
                                          <p:val>
                                            <p:strVal val="#ppt_y"/>
                                          </p:val>
                                        </p:tav>
                                        <p:tav tm="100000">
                                          <p:val>
                                            <p:strVal val="#ppt_y"/>
                                          </p:val>
                                        </p:tav>
                                      </p:tavLst>
                                    </p:anim>
                                  </p:childTnLst>
                                </p:cTn>
                              </p:par>
                            </p:childTnLst>
                          </p:cTn>
                        </p:par>
                        <p:par>
                          <p:cTn id="79" fill="hold">
                            <p:stCondLst>
                              <p:cond delay="500"/>
                            </p:stCondLst>
                            <p:childTnLst>
                              <p:par>
                                <p:cTn id="80" presetID="22" presetClass="entr" presetSubtype="8" fill="hold" nodeType="afterEffect">
                                  <p:stCondLst>
                                    <p:cond delay="0"/>
                                  </p:stCondLst>
                                  <p:childTnLst>
                                    <p:set>
                                      <p:cBhvr>
                                        <p:cTn id="81" dur="1" fill="hold">
                                          <p:stCondLst>
                                            <p:cond delay="0"/>
                                          </p:stCondLst>
                                        </p:cTn>
                                        <p:tgtEl>
                                          <p:spTgt spid="136268"/>
                                        </p:tgtEl>
                                        <p:attrNameLst>
                                          <p:attrName>style.visibility</p:attrName>
                                        </p:attrNameLst>
                                      </p:cBhvr>
                                      <p:to>
                                        <p:strVal val="visible"/>
                                      </p:to>
                                    </p:set>
                                    <p:animEffect transition="in" filter="wipe(left)">
                                      <p:cBhvr>
                                        <p:cTn id="82" dur="500"/>
                                        <p:tgtEl>
                                          <p:spTgt spid="136268"/>
                                        </p:tgtEl>
                                      </p:cBhvr>
                                    </p:animEffect>
                                  </p:childTnLst>
                                </p:cTn>
                              </p:par>
                            </p:childTnLst>
                          </p:cTn>
                        </p:par>
                        <p:par>
                          <p:cTn id="83" fill="hold">
                            <p:stCondLst>
                              <p:cond delay="1000"/>
                            </p:stCondLst>
                            <p:childTnLst>
                              <p:par>
                                <p:cTn id="84" presetID="22" presetClass="entr" presetSubtype="8" fill="hold" nodeType="afterEffect">
                                  <p:stCondLst>
                                    <p:cond delay="0"/>
                                  </p:stCondLst>
                                  <p:childTnLst>
                                    <p:set>
                                      <p:cBhvr>
                                        <p:cTn id="85" dur="1" fill="hold">
                                          <p:stCondLst>
                                            <p:cond delay="0"/>
                                          </p:stCondLst>
                                        </p:cTn>
                                        <p:tgtEl>
                                          <p:spTgt spid="136269"/>
                                        </p:tgtEl>
                                        <p:attrNameLst>
                                          <p:attrName>style.visibility</p:attrName>
                                        </p:attrNameLst>
                                      </p:cBhvr>
                                      <p:to>
                                        <p:strVal val="visible"/>
                                      </p:to>
                                    </p:set>
                                    <p:animEffect transition="in" filter="wipe(left)">
                                      <p:cBhvr>
                                        <p:cTn id="86" dur="500"/>
                                        <p:tgtEl>
                                          <p:spTgt spid="1362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272"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Text Box 6"/>
          <p:cNvSpPr txBox="1"/>
          <p:nvPr/>
        </p:nvSpPr>
        <p:spPr>
          <a:xfrm>
            <a:off x="269875" y="1484313"/>
            <a:ext cx="8604250" cy="307816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ts val="3400"/>
              </a:lnSpc>
              <a:spcBef>
                <a:spcPct val="50000"/>
              </a:spcBef>
              <a:buNone/>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用门电路实现逻辑函数时，需要使用与门、或门、非门、与或非门等器件，究竟将函数式变换成什么形式，要视所用门电路的功能而定。</a:t>
            </a:r>
            <a:endParaRPr lang="zh-CN" altLang="en-US" sz="2400" b="1" dirty="0">
              <a:latin typeface="Times New Roman" panose="02020603050405020304" pitchFamily="18" charset="0"/>
            </a:endParaRPr>
          </a:p>
          <a:p>
            <a:pPr marL="0" lvl="0" indent="0" eaLnBrk="1" hangingPunct="1">
              <a:lnSpc>
                <a:spcPts val="3400"/>
              </a:lnSpc>
              <a:spcBef>
                <a:spcPct val="50000"/>
              </a:spcBef>
              <a:buNone/>
            </a:pPr>
            <a:r>
              <a:rPr lang="zh-CN" altLang="en-US" sz="2400" b="1" dirty="0">
                <a:latin typeface="Times New Roman" panose="02020603050405020304" pitchFamily="18" charset="0"/>
              </a:rPr>
              <a:t>        </a:t>
            </a:r>
            <a:r>
              <a:rPr lang="zh-CN" altLang="en-US" sz="2400" b="1" dirty="0">
                <a:solidFill>
                  <a:srgbClr val="FF0000"/>
                </a:solidFill>
                <a:latin typeface="Times New Roman" panose="02020603050405020304" pitchFamily="18" charset="0"/>
                <a:ea typeface="楷体_GB2312" pitchFamily="49" charset="-122"/>
              </a:rPr>
              <a:t>例</a:t>
            </a:r>
            <a:r>
              <a:rPr lang="en-US" altLang="zh-CN" sz="2400" b="1" dirty="0">
                <a:solidFill>
                  <a:srgbClr val="FF0000"/>
                </a:solidFill>
                <a:latin typeface="Times New Roman" panose="02020603050405020304" pitchFamily="18" charset="0"/>
                <a:ea typeface="楷体_GB2312" pitchFamily="49" charset="-122"/>
              </a:rPr>
              <a:t>1</a:t>
            </a:r>
            <a:r>
              <a:rPr lang="zh-CN" altLang="en-US" sz="2400" b="1" dirty="0">
                <a:solidFill>
                  <a:srgbClr val="FF0000"/>
                </a:solidFill>
                <a:latin typeface="Times New Roman" panose="02020603050405020304" pitchFamily="18" charset="0"/>
                <a:ea typeface="楷体_GB2312" pitchFamily="49" charset="-122"/>
              </a:rPr>
              <a:t>：</a:t>
            </a:r>
            <a:r>
              <a:rPr lang="zh-CN" altLang="en-US" sz="2400" b="1" dirty="0">
                <a:latin typeface="Times New Roman" panose="02020603050405020304" pitchFamily="18" charset="0"/>
              </a:rPr>
              <a:t>将逻辑函数                                          化为与非－与非形式。</a:t>
            </a:r>
            <a:endParaRPr lang="zh-CN" altLang="en-US" sz="2400" b="1" dirty="0">
              <a:latin typeface="Times New Roman" panose="02020603050405020304" pitchFamily="18" charset="0"/>
            </a:endParaRPr>
          </a:p>
          <a:p>
            <a:pPr marL="0" lvl="0" indent="0" eaLnBrk="1" hangingPunct="1">
              <a:lnSpc>
                <a:spcPts val="3400"/>
              </a:lnSpc>
              <a:spcBef>
                <a:spcPct val="50000"/>
              </a:spcBef>
              <a:buNone/>
            </a:pPr>
            <a:r>
              <a:rPr lang="zh-CN" altLang="en-US" sz="2400" b="1" dirty="0">
                <a:solidFill>
                  <a:srgbClr val="FF0000"/>
                </a:solidFill>
                <a:latin typeface="Times New Roman" panose="02020603050405020304" pitchFamily="18" charset="0"/>
              </a:rPr>
              <a:t>        </a:t>
            </a:r>
            <a:r>
              <a:rPr lang="zh-CN" altLang="en-US" sz="2400" b="1" dirty="0">
                <a:solidFill>
                  <a:srgbClr val="FF0000"/>
                </a:solidFill>
                <a:latin typeface="Times New Roman" panose="02020603050405020304" pitchFamily="18" charset="0"/>
                <a:ea typeface="楷体_GB2312" pitchFamily="49" charset="-122"/>
              </a:rPr>
              <a:t>例</a:t>
            </a:r>
            <a:r>
              <a:rPr lang="en-US" altLang="zh-CN" sz="2400" b="1" dirty="0">
                <a:solidFill>
                  <a:srgbClr val="FF0000"/>
                </a:solidFill>
                <a:latin typeface="Times New Roman" panose="02020603050405020304" pitchFamily="18" charset="0"/>
                <a:ea typeface="楷体_GB2312" pitchFamily="49" charset="-122"/>
              </a:rPr>
              <a:t>2</a:t>
            </a:r>
            <a:r>
              <a:rPr lang="zh-CN" altLang="en-US" sz="2400" b="1" dirty="0">
                <a:solidFill>
                  <a:srgbClr val="FF0000"/>
                </a:solidFill>
                <a:latin typeface="Times New Roman" panose="02020603050405020304" pitchFamily="18" charset="0"/>
                <a:ea typeface="楷体_GB2312" pitchFamily="49" charset="-122"/>
              </a:rPr>
              <a:t>：</a:t>
            </a:r>
            <a:r>
              <a:rPr lang="zh-CN" altLang="en-US" sz="2400" b="1" dirty="0">
                <a:latin typeface="Times New Roman" panose="02020603050405020304" pitchFamily="18" charset="0"/>
              </a:rPr>
              <a:t>试用或非门画出函数                         的逻辑图。</a:t>
            </a:r>
            <a:endParaRPr lang="zh-CN" altLang="en-US" sz="2400" b="1" dirty="0">
              <a:latin typeface="Times New Roman" panose="02020603050405020304" pitchFamily="18" charset="0"/>
            </a:endParaRPr>
          </a:p>
        </p:txBody>
      </p:sp>
      <p:graphicFrame>
        <p:nvGraphicFramePr>
          <p:cNvPr id="55299" name="Object 7"/>
          <p:cNvGraphicFramePr>
            <a:graphicFrameLocks noChangeAspect="1"/>
          </p:cNvGraphicFramePr>
          <p:nvPr/>
        </p:nvGraphicFramePr>
        <p:xfrm>
          <a:off x="3419475" y="2924175"/>
          <a:ext cx="3073400" cy="504825"/>
        </p:xfrm>
        <a:graphic>
          <a:graphicData uri="http://schemas.openxmlformats.org/presentationml/2006/ole">
            <mc:AlternateContent xmlns:mc="http://schemas.openxmlformats.org/markup-compatibility/2006">
              <mc:Choice xmlns:v="urn:schemas-microsoft-com:vml" Requires="v">
                <p:oleObj spid="_x0000_s3209" name="" r:id="rId1" imgW="1422400" imgH="241300" progId="Equation.3">
                  <p:embed/>
                </p:oleObj>
              </mc:Choice>
              <mc:Fallback>
                <p:oleObj name="" r:id="rId1" imgW="1422400" imgH="241300" progId="Equation.3">
                  <p:embed/>
                  <p:pic>
                    <p:nvPicPr>
                      <p:cNvPr id="0" name="图片 3208"/>
                      <p:cNvPicPr/>
                      <p:nvPr/>
                    </p:nvPicPr>
                    <p:blipFill>
                      <a:blip r:embed="rId2"/>
                      <a:stretch>
                        <a:fillRect/>
                      </a:stretch>
                    </p:blipFill>
                    <p:spPr>
                      <a:xfrm>
                        <a:off x="3419475" y="2924175"/>
                        <a:ext cx="3073400" cy="504825"/>
                      </a:xfrm>
                      <a:prstGeom prst="rect">
                        <a:avLst/>
                      </a:prstGeom>
                      <a:noFill/>
                      <a:ln w="38100">
                        <a:noFill/>
                        <a:miter/>
                      </a:ln>
                    </p:spPr>
                  </p:pic>
                </p:oleObj>
              </mc:Fallback>
            </mc:AlternateContent>
          </a:graphicData>
        </a:graphic>
      </p:graphicFrame>
      <p:sp>
        <p:nvSpPr>
          <p:cNvPr id="55300" name="Text Box 8"/>
          <p:cNvSpPr txBox="1"/>
          <p:nvPr/>
        </p:nvSpPr>
        <p:spPr>
          <a:xfrm>
            <a:off x="468313" y="836613"/>
            <a:ext cx="583247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dirty="0">
                <a:latin typeface="Times New Roman" panose="02020603050405020304" pitchFamily="18" charset="0"/>
              </a:rPr>
              <a:t>三、指定器件的逻辑函数化简（</a:t>
            </a:r>
            <a:r>
              <a:rPr lang="zh-CN" altLang="en-US" sz="2400" b="1" dirty="0">
                <a:solidFill>
                  <a:srgbClr val="FF0000"/>
                </a:solidFill>
                <a:latin typeface="Times New Roman" panose="02020603050405020304" pitchFamily="18" charset="0"/>
              </a:rPr>
              <a:t>*</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p:txBody>
      </p:sp>
      <p:sp>
        <p:nvSpPr>
          <p:cNvPr id="145417" name="Rectangle 9"/>
          <p:cNvSpPr/>
          <p:nvPr/>
        </p:nvSpPr>
        <p:spPr>
          <a:xfrm>
            <a:off x="269875" y="4941888"/>
            <a:ext cx="8604250" cy="83026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t>      </a:t>
            </a:r>
            <a:r>
              <a:rPr lang="zh-CN" altLang="en-US" sz="2400" b="1" dirty="0">
                <a:solidFill>
                  <a:srgbClr val="FF0000"/>
                </a:solidFill>
                <a:ea typeface="楷体_GB2312" pitchFamily="49" charset="-122"/>
              </a:rPr>
              <a:t>注：</a:t>
            </a:r>
            <a:r>
              <a:rPr lang="zh-CN" altLang="en-US" sz="2400" b="1" dirty="0"/>
              <a:t>将最简与－或式直接变换为其他类型的逻辑式时，得到的结果不一定是最简的。</a:t>
            </a:r>
            <a:endParaRPr lang="zh-CN" altLang="en-US" sz="2400" b="1" dirty="0"/>
          </a:p>
        </p:txBody>
      </p:sp>
      <p:graphicFrame>
        <p:nvGraphicFramePr>
          <p:cNvPr id="55302" name="Object 11"/>
          <p:cNvGraphicFramePr>
            <a:graphicFrameLocks noChangeAspect="1"/>
          </p:cNvGraphicFramePr>
          <p:nvPr/>
        </p:nvGraphicFramePr>
        <p:xfrm>
          <a:off x="4581525" y="4005263"/>
          <a:ext cx="1700213" cy="488950"/>
        </p:xfrm>
        <a:graphic>
          <a:graphicData uri="http://schemas.openxmlformats.org/presentationml/2006/ole">
            <mc:AlternateContent xmlns:mc="http://schemas.openxmlformats.org/markup-compatibility/2006">
              <mc:Choice xmlns:v="urn:schemas-microsoft-com:vml" Requires="v">
                <p:oleObj spid="_x0000_s3210" name="" r:id="rId3" imgW="748665" imgH="215900" progId="Equation.3">
                  <p:embed/>
                </p:oleObj>
              </mc:Choice>
              <mc:Fallback>
                <p:oleObj name="" r:id="rId3" imgW="748665" imgH="215900" progId="Equation.3">
                  <p:embed/>
                  <p:pic>
                    <p:nvPicPr>
                      <p:cNvPr id="0" name="图片 3209"/>
                      <p:cNvPicPr/>
                      <p:nvPr/>
                    </p:nvPicPr>
                    <p:blipFill>
                      <a:blip r:embed="rId4"/>
                      <a:stretch>
                        <a:fillRect/>
                      </a:stretch>
                    </p:blipFill>
                    <p:spPr>
                      <a:xfrm>
                        <a:off x="4581525" y="4005263"/>
                        <a:ext cx="1700213" cy="488950"/>
                      </a:xfrm>
                      <a:prstGeom prst="rect">
                        <a:avLst/>
                      </a:prstGeom>
                      <a:noFill/>
                      <a:ln w="38100">
                        <a:noFill/>
                        <a:miter/>
                      </a:ln>
                    </p:spPr>
                  </p:pic>
                </p:oleObj>
              </mc:Fallback>
            </mc:AlternateContent>
          </a:graphicData>
        </a:graphic>
      </p:graphicFrame>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5417"/>
                                        </p:tgtEl>
                                        <p:attrNameLst>
                                          <p:attrName>style.visibility</p:attrName>
                                        </p:attrNameLst>
                                      </p:cBhvr>
                                      <p:to>
                                        <p:strVal val="visible"/>
                                      </p:to>
                                    </p:set>
                                    <p:animEffect transition="in" filter="blinds(horizontal)">
                                      <p:cBhvr>
                                        <p:cTn id="7" dur="500"/>
                                        <p:tgtEl>
                                          <p:spTgt spid="1454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7571" name="Rectangle 3"/>
          <p:cNvSpPr/>
          <p:nvPr/>
        </p:nvSpPr>
        <p:spPr>
          <a:xfrm>
            <a:off x="566738" y="3789363"/>
            <a:ext cx="8010525" cy="1941512"/>
          </a:xfrm>
          <a:prstGeom prst="rect">
            <a:avLst/>
          </a:prstGeom>
          <a:solidFill>
            <a:srgbClr val="99CCFF">
              <a:alpha val="50195"/>
            </a:srgbClr>
          </a:solidFill>
          <a:ln w="9525">
            <a:noFill/>
          </a:ln>
        </p:spPr>
        <p:txBody>
          <a:bodyPr lIns="90000" tIns="46800" rIns="90000" bIns="4680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i="1" dirty="0">
                <a:latin typeface="Times New Roman" panose="02020603050405020304" pitchFamily="18" charset="0"/>
              </a:rPr>
              <a:t>　　 </a:t>
            </a:r>
            <a:r>
              <a:rPr lang="en-US" altLang="zh-CN" sz="2400" b="1" i="1" dirty="0">
                <a:latin typeface="Times New Roman" panose="02020603050405020304" pitchFamily="18" charset="0"/>
              </a:rPr>
              <a:t>n </a:t>
            </a:r>
            <a:r>
              <a:rPr lang="zh-CN" altLang="en-US" sz="2400" b="1" dirty="0">
                <a:latin typeface="Times New Roman" panose="02020603050405020304" pitchFamily="18" charset="0"/>
              </a:rPr>
              <a:t>个变量有 </a:t>
            </a:r>
            <a:r>
              <a:rPr lang="en-US" altLang="zh-CN" sz="2400" b="1" dirty="0">
                <a:latin typeface="Times New Roman" panose="02020603050405020304" pitchFamily="18" charset="0"/>
              </a:rPr>
              <a:t>2</a:t>
            </a:r>
            <a:r>
              <a:rPr lang="en-US" altLang="zh-CN" sz="2400" b="1" i="1" baseline="30000" dirty="0">
                <a:latin typeface="Times New Roman" panose="02020603050405020304" pitchFamily="18" charset="0"/>
              </a:rPr>
              <a:t>n </a:t>
            </a:r>
            <a:r>
              <a:rPr lang="zh-CN" altLang="en-US" sz="2400" b="1" dirty="0">
                <a:latin typeface="Times New Roman" panose="02020603050405020304" pitchFamily="18" charset="0"/>
              </a:rPr>
              <a:t>种组合，可对应写出 </a:t>
            </a:r>
            <a:r>
              <a:rPr lang="en-US" altLang="zh-CN" sz="2400" b="1" dirty="0">
                <a:latin typeface="Times New Roman" panose="02020603050405020304" pitchFamily="18" charset="0"/>
              </a:rPr>
              <a:t>2</a:t>
            </a:r>
            <a:r>
              <a:rPr lang="en-US" altLang="zh-CN" sz="2400" b="1" i="1" baseline="30000" dirty="0">
                <a:latin typeface="Times New Roman" panose="02020603050405020304" pitchFamily="18" charset="0"/>
              </a:rPr>
              <a:t>n </a:t>
            </a:r>
            <a:r>
              <a:rPr lang="zh-CN" altLang="en-US" sz="2400" b="1" dirty="0">
                <a:latin typeface="Times New Roman" panose="02020603050405020304" pitchFamily="18" charset="0"/>
              </a:rPr>
              <a:t>个乘积项，这些乘积项均具有下列</a:t>
            </a:r>
            <a:r>
              <a:rPr lang="zh-CN" altLang="en-US" sz="2400" b="1" dirty="0">
                <a:solidFill>
                  <a:srgbClr val="000000"/>
                </a:solidFill>
                <a:latin typeface="Times New Roman" panose="02020603050405020304" pitchFamily="18" charset="0"/>
              </a:rPr>
              <a:t>特点：</a:t>
            </a:r>
            <a:r>
              <a:rPr lang="zh-CN" altLang="en-US" sz="2400" b="1" dirty="0">
                <a:solidFill>
                  <a:srgbClr val="FF0000"/>
                </a:solidFill>
                <a:latin typeface="Times New Roman" panose="02020603050405020304" pitchFamily="18" charset="0"/>
              </a:rPr>
              <a:t>包含全部变量，且每个变量在该乘积项中 </a:t>
            </a:r>
            <a:r>
              <a:rPr lang="en-US" altLang="zh-CN" sz="2400" b="1" dirty="0">
                <a:solidFill>
                  <a:srgbClr val="FF0000"/>
                </a:solidFill>
                <a:latin typeface="宋体" panose="02010600030101010101" pitchFamily="2" charset="-122"/>
              </a:rPr>
              <a:t>(</a:t>
            </a:r>
            <a:r>
              <a:rPr lang="zh-CN" altLang="en-US" sz="2400" b="1" dirty="0">
                <a:solidFill>
                  <a:srgbClr val="FF0000"/>
                </a:solidFill>
                <a:latin typeface="宋体" panose="02010600030101010101" pitchFamily="2" charset="-122"/>
              </a:rPr>
              <a:t>以原变量或反变量</a:t>
            </a:r>
            <a:r>
              <a:rPr lang="en-US" altLang="zh-CN" sz="2400" b="1" dirty="0">
                <a:solidFill>
                  <a:srgbClr val="FF0000"/>
                </a:solidFill>
                <a:latin typeface="宋体" panose="02010600030101010101" pitchFamily="2" charset="-122"/>
              </a:rPr>
              <a:t>)</a:t>
            </a:r>
            <a:r>
              <a:rPr lang="zh-CN" altLang="en-US" sz="2400" b="1" dirty="0">
                <a:solidFill>
                  <a:srgbClr val="FF0000"/>
                </a:solidFill>
                <a:latin typeface="宋体" panose="02010600030101010101" pitchFamily="2" charset="-122"/>
              </a:rPr>
              <a:t>只</a:t>
            </a:r>
            <a:r>
              <a:rPr lang="zh-CN" altLang="en-US" sz="2400" b="1" dirty="0">
                <a:solidFill>
                  <a:srgbClr val="FF0000"/>
                </a:solidFill>
                <a:latin typeface="Times New Roman" panose="02020603050405020304" pitchFamily="18" charset="0"/>
              </a:rPr>
              <a:t>出现一次。</a:t>
            </a:r>
            <a:r>
              <a:rPr lang="zh-CN" altLang="en-US" sz="2400" b="1" dirty="0">
                <a:latin typeface="Times New Roman" panose="02020603050405020304" pitchFamily="18" charset="0"/>
              </a:rPr>
              <a:t>这样的乘积项称为这 </a:t>
            </a:r>
            <a:r>
              <a:rPr lang="en-US" altLang="zh-CN" sz="2400" b="1" i="1" dirty="0">
                <a:latin typeface="Times New Roman" panose="02020603050405020304" pitchFamily="18" charset="0"/>
              </a:rPr>
              <a:t>n </a:t>
            </a:r>
            <a:r>
              <a:rPr lang="zh-CN" altLang="en-US" sz="2400" b="1" dirty="0">
                <a:latin typeface="Times New Roman" panose="02020603050405020304" pitchFamily="18" charset="0"/>
              </a:rPr>
              <a:t>个变量的最小项，也称为 </a:t>
            </a:r>
            <a:r>
              <a:rPr lang="en-US" altLang="zh-CN" sz="2400" b="1" i="1" dirty="0">
                <a:latin typeface="Times New Roman" panose="02020603050405020304" pitchFamily="18" charset="0"/>
              </a:rPr>
              <a:t>n </a:t>
            </a:r>
            <a:r>
              <a:rPr lang="zh-CN" altLang="en-US" sz="2400" b="1" dirty="0">
                <a:latin typeface="Times New Roman" panose="02020603050405020304" pitchFamily="18" charset="0"/>
              </a:rPr>
              <a:t>变量逻辑函数的最小项。</a:t>
            </a:r>
            <a:endParaRPr lang="zh-CN" altLang="en-US" sz="2400" b="1" dirty="0">
              <a:latin typeface="Times New Roman" panose="02020603050405020304" pitchFamily="18" charset="0"/>
            </a:endParaRPr>
          </a:p>
        </p:txBody>
      </p:sp>
      <p:sp>
        <p:nvSpPr>
          <p:cNvPr id="237572" name="Rectangle 4"/>
          <p:cNvSpPr/>
          <p:nvPr/>
        </p:nvSpPr>
        <p:spPr>
          <a:xfrm>
            <a:off x="755650" y="3200400"/>
            <a:ext cx="4170363"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dirty="0">
                <a:latin typeface="Times New Roman" panose="02020603050405020304" pitchFamily="18" charset="0"/>
              </a:rPr>
              <a:t>1.</a:t>
            </a:r>
            <a:r>
              <a:rPr lang="en-US" altLang="zh-CN" sz="2400" b="1" dirty="0">
                <a:latin typeface="宋体" panose="02010600030101010101" pitchFamily="2" charset="-122"/>
              </a:rPr>
              <a:t> </a:t>
            </a:r>
            <a:r>
              <a:rPr lang="zh-CN" altLang="en-US" sz="2400" b="1" dirty="0">
                <a:latin typeface="宋体" panose="02010600030101010101" pitchFamily="2" charset="-122"/>
              </a:rPr>
              <a:t>最小项的定义和编号</a:t>
            </a:r>
            <a:r>
              <a:rPr lang="zh-CN" altLang="en-US" sz="1100" b="1" dirty="0">
                <a:latin typeface="Times New Roman" panose="02020603050405020304" pitchFamily="18" charset="0"/>
              </a:rPr>
              <a:t> </a:t>
            </a:r>
            <a:endParaRPr lang="zh-CN" altLang="en-US" sz="2400" dirty="0">
              <a:latin typeface="Times New Roman" panose="02020603050405020304" pitchFamily="18" charset="0"/>
            </a:endParaRPr>
          </a:p>
        </p:txBody>
      </p:sp>
      <p:sp>
        <p:nvSpPr>
          <p:cNvPr id="237573" name="Rectangle 5"/>
          <p:cNvSpPr/>
          <p:nvPr/>
        </p:nvSpPr>
        <p:spPr>
          <a:xfrm>
            <a:off x="179388" y="2060575"/>
            <a:ext cx="5667375" cy="5794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b="1" dirty="0">
                <a:solidFill>
                  <a:srgbClr val="0033CC"/>
                </a:solidFill>
                <a:latin typeface="宋体" panose="02010600030101010101" pitchFamily="2" charset="-122"/>
              </a:rPr>
              <a:t>  </a:t>
            </a:r>
            <a:r>
              <a:rPr lang="zh-CN" altLang="en-US" b="1" dirty="0">
                <a:solidFill>
                  <a:srgbClr val="0033CC"/>
                </a:solidFill>
                <a:latin typeface="Times New Roman" panose="02020603050405020304" pitchFamily="18" charset="0"/>
              </a:rPr>
              <a:t>最小项的概念与性质</a:t>
            </a:r>
            <a:endParaRPr lang="zh-CN" altLang="en-US" sz="2400" dirty="0">
              <a:latin typeface="Times New Roman" panose="02020603050405020304" pitchFamily="18" charset="0"/>
            </a:endParaRPr>
          </a:p>
        </p:txBody>
      </p:sp>
      <p:grpSp>
        <p:nvGrpSpPr>
          <p:cNvPr id="56325" name="Group 6"/>
          <p:cNvGrpSpPr/>
          <p:nvPr/>
        </p:nvGrpSpPr>
        <p:grpSpPr>
          <a:xfrm>
            <a:off x="1331913" y="549275"/>
            <a:ext cx="5329237" cy="576263"/>
            <a:chOff x="975" y="436"/>
            <a:chExt cx="3810" cy="363"/>
          </a:xfrm>
        </p:grpSpPr>
        <p:sp>
          <p:nvSpPr>
            <p:cNvPr id="56326" name="AutoShape 4"/>
            <p:cNvSpPr/>
            <p:nvPr/>
          </p:nvSpPr>
          <p:spPr>
            <a:xfrm>
              <a:off x="975" y="436"/>
              <a:ext cx="3810" cy="363"/>
            </a:xfrm>
            <a:prstGeom prst="roundRect">
              <a:avLst>
                <a:gd name="adj" fmla="val 10889"/>
              </a:avLst>
            </a:prstGeom>
            <a:solidFill>
              <a:schemeClr val="accent1"/>
            </a:solidFill>
            <a:ln w="38100" cap="flat" cmpd="sng">
              <a:solidFill>
                <a:schemeClr val="tx1"/>
              </a:solidFill>
              <a:prstDash val="solid"/>
              <a:headEnd type="none" w="med" len="med"/>
              <a:tailEnd type="none" w="med" len="med"/>
            </a:ln>
            <a:effectLst>
              <a:outerShdw dist="135003" dir="2928844" algn="ctr" rotWithShape="0">
                <a:srgbClr val="000000">
                  <a:alpha val="50000"/>
                </a:srgbClr>
              </a:outerShdw>
            </a:effectLst>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en-US" sz="1800" dirty="0"/>
            </a:p>
          </p:txBody>
        </p:sp>
        <p:sp>
          <p:nvSpPr>
            <p:cNvPr id="56327" name="AutoShape 5"/>
            <p:cNvSpPr/>
            <p:nvPr/>
          </p:nvSpPr>
          <p:spPr>
            <a:xfrm>
              <a:off x="1156" y="436"/>
              <a:ext cx="635" cy="359"/>
            </a:xfrm>
            <a:prstGeom prst="roundRect">
              <a:avLst>
                <a:gd name="adj" fmla="val 11921"/>
              </a:avLst>
            </a:prstGeom>
            <a:gradFill rotWithShape="1">
              <a:gsLst>
                <a:gs pos="0">
                  <a:srgbClr val="0066CC"/>
                </a:gs>
                <a:gs pos="100000">
                  <a:srgbClr val="00478E"/>
                </a:gs>
              </a:gsLst>
              <a:lin ang="5400000" scaled="1"/>
              <a:tileRect/>
            </a:gradFill>
            <a:ln w="381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1800" dirty="0"/>
            </a:p>
          </p:txBody>
        </p:sp>
        <p:sp>
          <p:nvSpPr>
            <p:cNvPr id="9" name="Freeform 6"/>
            <p:cNvSpPr/>
            <p:nvPr/>
          </p:nvSpPr>
          <p:spPr bwMode="gray">
            <a:xfrm>
              <a:off x="1252" y="485"/>
              <a:ext cx="540" cy="216"/>
            </a:xfrm>
            <a:custGeom>
              <a:avLst/>
              <a:gdLst/>
              <a:ahLst/>
              <a:cxnLst>
                <a:cxn ang="0">
                  <a:pos x="118" y="0"/>
                </a:cxn>
                <a:cxn ang="0">
                  <a:pos x="0" y="118"/>
                </a:cxn>
                <a:cxn ang="0">
                  <a:pos x="0" y="589"/>
                </a:cxn>
                <a:cxn ang="0">
                  <a:pos x="161" y="174"/>
                </a:cxn>
                <a:cxn ang="0">
                  <a:pos x="589" y="0"/>
                </a:cxn>
                <a:cxn ang="0">
                  <a:pos x="118" y="0"/>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rgbClr val="0066CC">
                    <a:gamma/>
                    <a:tint val="54510"/>
                    <a:invGamma/>
                  </a:srgbClr>
                </a:gs>
                <a:gs pos="50000">
                  <a:srgbClr val="0066CC">
                    <a:alpha val="0"/>
                  </a:srgbClr>
                </a:gs>
                <a:gs pos="100000">
                  <a:srgbClr val="0066CC">
                    <a:gamma/>
                    <a:tint val="54510"/>
                    <a:invGamma/>
                  </a:srgbClr>
                </a:gs>
              </a:gsLst>
              <a:lin ang="2700000" scaled="1"/>
            </a:gradFill>
            <a:ln w="0">
              <a:noFill/>
              <a:prstDash val="solid"/>
              <a:round/>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 name="Text Box 7"/>
            <p:cNvSpPr txBox="1">
              <a:spLocks noChangeArrowheads="1"/>
            </p:cNvSpPr>
            <p:nvPr/>
          </p:nvSpPr>
          <p:spPr bwMode="gray">
            <a:xfrm>
              <a:off x="1020" y="436"/>
              <a:ext cx="77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smtClean="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7</a:t>
              </a:r>
              <a:endParaRPr kumimoji="0" lang="en-US" altLang="zh-CN" sz="2800" b="0" i="0" u="none" strike="noStrike" kern="1200" cap="none" spc="0" normalizeH="0" baseline="0" noProof="0" dirty="0" smtClean="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6332" name="Text Box 8"/>
            <p:cNvSpPr txBox="1"/>
            <p:nvPr/>
          </p:nvSpPr>
          <p:spPr>
            <a:xfrm>
              <a:off x="1973" y="486"/>
              <a:ext cx="2721" cy="288"/>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zh-CN" altLang="en-US" sz="2400" b="1" dirty="0">
                  <a:solidFill>
                    <a:srgbClr val="FF0000"/>
                  </a:solidFill>
                  <a:ea typeface="黑体" panose="02010609060101010101" pitchFamily="49" charset="-122"/>
                </a:rPr>
                <a:t>逻辑函数的两种标准形式</a:t>
              </a:r>
              <a:endParaRPr lang="zh-CN" altLang="en-US" sz="2400" b="1" dirty="0">
                <a:solidFill>
                  <a:srgbClr val="FF0000"/>
                </a:solidFill>
                <a:ea typeface="华文新魏" panose="02010800040101010101" pitchFamily="2" charset="-122"/>
              </a:endParaRPr>
            </a:p>
          </p:txBody>
        </p:sp>
      </p:grpSp>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37573"/>
                                        </p:tgtEl>
                                        <p:attrNameLst>
                                          <p:attrName>style.visibility</p:attrName>
                                        </p:attrNameLst>
                                      </p:cBhvr>
                                      <p:to>
                                        <p:strVal val="visible"/>
                                      </p:to>
                                    </p:set>
                                    <p:animEffect transition="in" filter="checkerboard(across)">
                                      <p:cBhvr>
                                        <p:cTn id="7" dur="500"/>
                                        <p:tgtEl>
                                          <p:spTgt spid="237573"/>
                                        </p:tgtEl>
                                      </p:cBhvr>
                                    </p:animEffect>
                                  </p:childTnLst>
                                </p:cTn>
                              </p:par>
                            </p:childTnLst>
                          </p:cTn>
                        </p:par>
                        <p:par>
                          <p:cTn id="8" fill="hold">
                            <p:stCondLst>
                              <p:cond delay="500"/>
                            </p:stCondLst>
                            <p:childTnLst>
                              <p:par>
                                <p:cTn id="9" presetID="5" presetClass="entr" presetSubtype="10" fill="hold" grpId="0" nodeType="afterEffect">
                                  <p:stCondLst>
                                    <p:cond delay="1500"/>
                                  </p:stCondLst>
                                  <p:childTnLst>
                                    <p:set>
                                      <p:cBhvr>
                                        <p:cTn id="10" dur="1" fill="hold">
                                          <p:stCondLst>
                                            <p:cond delay="0"/>
                                          </p:stCondLst>
                                        </p:cTn>
                                        <p:tgtEl>
                                          <p:spTgt spid="237572"/>
                                        </p:tgtEl>
                                        <p:attrNameLst>
                                          <p:attrName>style.visibility</p:attrName>
                                        </p:attrNameLst>
                                      </p:cBhvr>
                                      <p:to>
                                        <p:strVal val="visible"/>
                                      </p:to>
                                    </p:set>
                                    <p:animEffect transition="in" filter="checkerboard(across)">
                                      <p:cBhvr>
                                        <p:cTn id="11" dur="500"/>
                                        <p:tgtEl>
                                          <p:spTgt spid="23757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iterate type="wd">
                                    <p:tmPct val="100000"/>
                                  </p:iterate>
                                  <p:childTnLst>
                                    <p:set>
                                      <p:cBhvr>
                                        <p:cTn id="15" dur="1" fill="hold">
                                          <p:stCondLst>
                                            <p:cond delay="0"/>
                                          </p:stCondLst>
                                        </p:cTn>
                                        <p:tgtEl>
                                          <p:spTgt spid="237571"/>
                                        </p:tgtEl>
                                        <p:attrNameLst>
                                          <p:attrName>style.visibility</p:attrName>
                                        </p:attrNameLst>
                                      </p:cBhvr>
                                      <p:to>
                                        <p:strVal val="visible"/>
                                      </p:to>
                                    </p:set>
                                    <p:animEffect transition="in" filter="wipe(left)">
                                      <p:cBhvr>
                                        <p:cTn id="16" dur="300"/>
                                        <p:tgtEl>
                                          <p:spTgt spid="2375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571" grpId="0" animBg="1"/>
      <p:bldP spid="237572" grpId="0"/>
      <p:bldP spid="23757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2"/>
          <p:cNvSpPr>
            <a:spLocks noGrp="1"/>
          </p:cNvSpPr>
          <p:nvPr>
            <p:ph idx="1"/>
          </p:nvPr>
        </p:nvSpPr>
        <p:spPr>
          <a:xfrm>
            <a:off x="179388" y="908050"/>
            <a:ext cx="8555037" cy="5492750"/>
          </a:xfrm>
          <a:ln/>
        </p:spPr>
        <p:txBody>
          <a:bodyPr vert="horz" wrap="square" lIns="91440" tIns="45720" rIns="91440" bIns="45720" anchor="t" anchorCtr="0"/>
          <a:p>
            <a:pPr eaLnBrk="1" hangingPunct="1">
              <a:lnSpc>
                <a:spcPts val="3500"/>
              </a:lnSpc>
            </a:pPr>
            <a:r>
              <a:rPr lang="zh-CN" altLang="en-US" sz="2400" dirty="0">
                <a:solidFill>
                  <a:srgbClr val="0000FF"/>
                </a:solidFill>
              </a:rPr>
              <a:t>最小项定义</a:t>
            </a:r>
            <a:endParaRPr lang="zh-CN" altLang="en-US" sz="2400" dirty="0">
              <a:solidFill>
                <a:srgbClr val="0000FF"/>
              </a:solidFill>
            </a:endParaRPr>
          </a:p>
          <a:p>
            <a:pPr eaLnBrk="1" hangingPunct="1">
              <a:lnSpc>
                <a:spcPts val="3500"/>
              </a:lnSpc>
              <a:buFont typeface="Wingdings" panose="05000000000000000000" pitchFamily="2" charset="2"/>
              <a:buNone/>
            </a:pPr>
            <a:r>
              <a:rPr lang="zh-CN" altLang="en-US" sz="2400" dirty="0"/>
              <a:t>    逻辑函数中，如果一个</a:t>
            </a:r>
            <a:r>
              <a:rPr lang="zh-CN" altLang="en-US" sz="2400" dirty="0">
                <a:solidFill>
                  <a:srgbClr val="FF0000"/>
                </a:solidFill>
              </a:rPr>
              <a:t>与项</a:t>
            </a:r>
            <a:r>
              <a:rPr lang="zh-CN" altLang="en-US" sz="2400" dirty="0"/>
              <a:t>（乘积项）包含该逻辑函数的全部变量，且每个变量或以原变量或以反变量只出现一次，则该与项称为最小项。对于</a:t>
            </a:r>
            <a:r>
              <a:rPr lang="en-US" altLang="zh-CN" sz="2400" dirty="0"/>
              <a:t>n</a:t>
            </a:r>
            <a:r>
              <a:rPr lang="zh-CN" altLang="en-US" sz="2400" dirty="0"/>
              <a:t>个变量的逻辑函数共有</a:t>
            </a:r>
            <a:r>
              <a:rPr lang="en-US" altLang="zh-CN" sz="2400" dirty="0">
                <a:solidFill>
                  <a:srgbClr val="FF3300"/>
                </a:solidFill>
              </a:rPr>
              <a:t>2</a:t>
            </a:r>
            <a:r>
              <a:rPr lang="en-US" altLang="zh-CN" sz="2400" baseline="30000" dirty="0">
                <a:solidFill>
                  <a:srgbClr val="FF3300"/>
                </a:solidFill>
              </a:rPr>
              <a:t>n</a:t>
            </a:r>
            <a:r>
              <a:rPr lang="zh-CN" altLang="en-US" sz="2400" dirty="0"/>
              <a:t>个最小项。</a:t>
            </a:r>
            <a:endParaRPr lang="zh-CN" altLang="en-US" sz="2400" dirty="0"/>
          </a:p>
          <a:p>
            <a:pPr eaLnBrk="1" hangingPunct="1">
              <a:lnSpc>
                <a:spcPts val="3500"/>
              </a:lnSpc>
            </a:pPr>
            <a:r>
              <a:rPr lang="zh-CN" altLang="en-US" sz="2400" dirty="0">
                <a:solidFill>
                  <a:srgbClr val="0000FF"/>
                </a:solidFill>
              </a:rPr>
              <a:t>最小项的表示</a:t>
            </a:r>
            <a:endParaRPr lang="zh-CN" altLang="en-US" sz="2400" dirty="0">
              <a:solidFill>
                <a:srgbClr val="0000FF"/>
              </a:solidFill>
            </a:endParaRPr>
          </a:p>
          <a:p>
            <a:pPr eaLnBrk="1" hangingPunct="1">
              <a:lnSpc>
                <a:spcPts val="3500"/>
              </a:lnSpc>
              <a:buFont typeface="Wingdings" panose="05000000000000000000" pitchFamily="2" charset="2"/>
              <a:buNone/>
            </a:pPr>
            <a:r>
              <a:rPr lang="zh-CN" altLang="en-US" sz="2400" dirty="0"/>
              <a:t>    </a:t>
            </a:r>
            <a:r>
              <a:rPr lang="zh-CN" altLang="en-US" sz="2400" dirty="0">
                <a:solidFill>
                  <a:srgbClr val="FF0000"/>
                </a:solidFill>
              </a:rPr>
              <a:t>最小项用</a:t>
            </a:r>
            <a:r>
              <a:rPr lang="en-US" altLang="zh-CN" sz="2400" dirty="0">
                <a:solidFill>
                  <a:srgbClr val="FF0000"/>
                </a:solidFill>
              </a:rPr>
              <a:t>m</a:t>
            </a:r>
            <a:r>
              <a:rPr lang="zh-CN" altLang="en-US" sz="2400" dirty="0">
                <a:solidFill>
                  <a:srgbClr val="FF0000"/>
                </a:solidFill>
              </a:rPr>
              <a:t>表示</a:t>
            </a:r>
            <a:r>
              <a:rPr lang="zh-CN" altLang="en-US" sz="2400" dirty="0"/>
              <a:t>，通常用十进制数作最小项编号。把最小项中的</a:t>
            </a:r>
            <a:r>
              <a:rPr lang="zh-CN" altLang="en-US" sz="2400" dirty="0">
                <a:solidFill>
                  <a:srgbClr val="FF0000"/>
                </a:solidFill>
              </a:rPr>
              <a:t>原变量当作</a:t>
            </a:r>
            <a:r>
              <a:rPr lang="en-US" altLang="zh-CN" sz="2400" dirty="0">
                <a:solidFill>
                  <a:srgbClr val="FF0000"/>
                </a:solidFill>
              </a:rPr>
              <a:t>1</a:t>
            </a:r>
            <a:r>
              <a:rPr lang="zh-CN" altLang="en-US" sz="2400" dirty="0"/>
              <a:t>，</a:t>
            </a:r>
            <a:r>
              <a:rPr lang="zh-CN" altLang="en-US" sz="2400" dirty="0">
                <a:solidFill>
                  <a:srgbClr val="FF0000"/>
                </a:solidFill>
              </a:rPr>
              <a:t>反变量当作</a:t>
            </a:r>
            <a:r>
              <a:rPr lang="en-US" altLang="zh-CN" sz="2400" dirty="0">
                <a:solidFill>
                  <a:srgbClr val="FF0000"/>
                </a:solidFill>
              </a:rPr>
              <a:t>0</a:t>
            </a:r>
            <a:r>
              <a:rPr lang="zh-CN" altLang="en-US" sz="2400" dirty="0"/>
              <a:t>，所得的二进制数所对应的十进制数即为最小项的编号。</a:t>
            </a:r>
            <a:endParaRPr lang="zh-CN" altLang="en-US" sz="2400" dirty="0"/>
          </a:p>
          <a:p>
            <a:pPr eaLnBrk="1" hangingPunct="1">
              <a:lnSpc>
                <a:spcPts val="3500"/>
              </a:lnSpc>
            </a:pPr>
            <a:r>
              <a:rPr lang="zh-CN" altLang="en-US" sz="2400" dirty="0">
                <a:solidFill>
                  <a:srgbClr val="0000FF"/>
                </a:solidFill>
              </a:rPr>
              <a:t>若干最小项之和构成</a:t>
            </a:r>
            <a:r>
              <a:rPr lang="zh-CN" altLang="en-US" sz="2400" dirty="0">
                <a:solidFill>
                  <a:srgbClr val="FF0000"/>
                </a:solidFill>
              </a:rPr>
              <a:t>最小项表达式</a:t>
            </a:r>
            <a:r>
              <a:rPr lang="zh-CN" altLang="en-US" sz="2400" dirty="0">
                <a:solidFill>
                  <a:srgbClr val="0000FF"/>
                </a:solidFill>
              </a:rPr>
              <a:t>（也叫标准</a:t>
            </a:r>
            <a:r>
              <a:rPr lang="zh-CN" altLang="en-US" sz="2400" dirty="0">
                <a:solidFill>
                  <a:srgbClr val="FF0000"/>
                </a:solidFill>
              </a:rPr>
              <a:t>与</a:t>
            </a:r>
            <a:r>
              <a:rPr lang="en-US" altLang="zh-CN" sz="2400" dirty="0">
                <a:solidFill>
                  <a:srgbClr val="FF0000"/>
                </a:solidFill>
              </a:rPr>
              <a:t>-</a:t>
            </a:r>
            <a:r>
              <a:rPr lang="zh-CN" altLang="en-US" sz="2400" dirty="0">
                <a:solidFill>
                  <a:srgbClr val="FF0000"/>
                </a:solidFill>
              </a:rPr>
              <a:t>或</a:t>
            </a:r>
            <a:r>
              <a:rPr lang="zh-CN" altLang="en-US" sz="2400" dirty="0">
                <a:solidFill>
                  <a:srgbClr val="0000FF"/>
                </a:solidFill>
              </a:rPr>
              <a:t>表达式）：</a:t>
            </a:r>
            <a:endParaRPr lang="zh-CN" altLang="en-US" sz="2400" dirty="0">
              <a:solidFill>
                <a:srgbClr val="0000FF"/>
              </a:solidFill>
            </a:endParaRPr>
          </a:p>
        </p:txBody>
      </p:sp>
    </p:spTree>
  </p:cSld>
  <p:clrMapOvr>
    <a:masterClrMapping/>
  </p:clrMapOvr>
  <p:transition spd="slow" advClick="0"/>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0642" name="AutoShape 2"/>
          <p:cNvSpPr/>
          <p:nvPr/>
        </p:nvSpPr>
        <p:spPr>
          <a:xfrm flipH="1">
            <a:off x="5872163" y="3400425"/>
            <a:ext cx="860425" cy="241300"/>
          </a:xfrm>
          <a:custGeom>
            <a:avLst/>
            <a:gdLst>
              <a:gd name="txL" fmla="*/ 3375 w 21600"/>
              <a:gd name="txT" fmla="*/ 5400 h 21600"/>
              <a:gd name="txR" fmla="*/ 18900 w 21600"/>
              <a:gd name="txB" fmla="*/ 16200 h 21600"/>
            </a:gdLst>
            <a:ahLst/>
            <a:cxnLst>
              <a:cxn ang="17694720">
                <a:pos x="2147483646" y="0"/>
              </a:cxn>
              <a:cxn ang="11796480">
                <a:pos x="0" y="2147483646"/>
              </a:cxn>
              <a:cxn ang="5898240">
                <a:pos x="2147483646" y="2147483646"/>
              </a:cxn>
              <a:cxn ang="0">
                <a:pos x="2147483646" y="2147483646"/>
              </a:cxn>
            </a:cxnLst>
            <a:rect l="txL" t="txT" r="txR" b="txB"/>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CC99FF">
              <a:alpha val="100000"/>
            </a:srgbClr>
          </a:solidFill>
          <a:ln w="9525" cap="flat" cmpd="sng">
            <a:solidFill>
              <a:schemeClr val="tx1">
                <a:alpha val="100000"/>
              </a:schemeClr>
            </a:solidFill>
            <a:prstDash val="solid"/>
            <a:miter lim="800000"/>
            <a:headEnd type="none" w="med" len="med"/>
            <a:tailEnd type="none" w="med" len="med"/>
          </a:ln>
        </p:spPr>
        <p:txBody>
          <a:bodyPr/>
          <a:p>
            <a:endParaRPr lang="zh-CN" altLang="en-US"/>
          </a:p>
        </p:txBody>
      </p:sp>
      <p:sp>
        <p:nvSpPr>
          <p:cNvPr id="240643" name="AutoShape 3"/>
          <p:cNvSpPr/>
          <p:nvPr/>
        </p:nvSpPr>
        <p:spPr>
          <a:xfrm>
            <a:off x="5849938" y="3368675"/>
            <a:ext cx="2284412" cy="2081213"/>
          </a:xfrm>
          <a:prstGeom prst="irregularSeal1">
            <a:avLst/>
          </a:prstGeom>
          <a:solidFill>
            <a:srgbClr val="FF3300">
              <a:alpha val="50195"/>
            </a:srgbClr>
          </a:solidFill>
          <a:ln w="9525" cap="flat" cmpd="sng">
            <a:solidFill>
              <a:schemeClr val="tx1"/>
            </a:solidFill>
            <a:prstDash val="solid"/>
            <a:miter/>
            <a:headEnd type="none" w="med" len="med"/>
            <a:tailEnd type="none" w="med" len="med"/>
          </a:ln>
        </p:spPr>
        <p:txBody>
          <a:bodyPr lIns="0" tIns="0" rIns="0" bIns="0" anchor="ctr" anchorCtr="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Times New Roman" panose="02020603050405020304" pitchFamily="18" charset="0"/>
              </a:rPr>
              <a:t>如何编号？</a:t>
            </a:r>
            <a:endParaRPr lang="zh-CN" altLang="en-US" sz="2400" b="1" dirty="0">
              <a:latin typeface="Times New Roman" panose="02020603050405020304" pitchFamily="18" charset="0"/>
            </a:endParaRPr>
          </a:p>
        </p:txBody>
      </p:sp>
      <p:sp>
        <p:nvSpPr>
          <p:cNvPr id="240644" name="Text Box 4"/>
          <p:cNvSpPr txBox="1"/>
          <p:nvPr/>
        </p:nvSpPr>
        <p:spPr>
          <a:xfrm>
            <a:off x="5194300" y="3708400"/>
            <a:ext cx="2974975" cy="1709738"/>
          </a:xfrm>
          <a:prstGeom prst="rect">
            <a:avLst/>
          </a:prstGeom>
          <a:solidFill>
            <a:schemeClr val="bg1"/>
          </a:solidFill>
          <a:ln w="9525">
            <a:noFill/>
          </a:ln>
        </p:spPr>
        <p:txBody>
          <a:bodyPr lIns="0" tIns="0" rIns="0" bIns="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endParaRPr lang="en-US" altLang="zh-CN" sz="2800" b="1" dirty="0">
              <a:latin typeface="Times New Roman" panose="02020603050405020304" pitchFamily="18" charset="0"/>
            </a:endParaRPr>
          </a:p>
          <a:p>
            <a:pPr marL="0" lvl="0" indent="0" eaLnBrk="1" hangingPunct="1">
              <a:spcBef>
                <a:spcPct val="50000"/>
              </a:spcBef>
              <a:buNone/>
            </a:pPr>
            <a:endParaRPr lang="en-US" altLang="zh-CN" sz="2800" b="1" dirty="0">
              <a:latin typeface="Times New Roman" panose="02020603050405020304" pitchFamily="18" charset="0"/>
            </a:endParaRPr>
          </a:p>
          <a:p>
            <a:pPr marL="0" lvl="0" indent="0" eaLnBrk="1" hangingPunct="1">
              <a:spcBef>
                <a:spcPct val="50000"/>
              </a:spcBef>
              <a:buNone/>
            </a:pPr>
            <a:endParaRPr lang="en-US" altLang="zh-CN" sz="2800" b="1" dirty="0">
              <a:latin typeface="Times New Roman" panose="02020603050405020304" pitchFamily="18" charset="0"/>
            </a:endParaRPr>
          </a:p>
        </p:txBody>
      </p:sp>
      <p:sp>
        <p:nvSpPr>
          <p:cNvPr id="240645" name="AutoShape 5" descr="大纸屑"/>
          <p:cNvSpPr/>
          <p:nvPr/>
        </p:nvSpPr>
        <p:spPr>
          <a:xfrm>
            <a:off x="4406900" y="2260600"/>
            <a:ext cx="4114800" cy="1054100"/>
          </a:xfrm>
          <a:prstGeom prst="wedgeEllipseCallout">
            <a:avLst>
              <a:gd name="adj1" fmla="val -56519"/>
              <a:gd name="adj2" fmla="val -96537"/>
            </a:avLst>
          </a:prstGeom>
          <a:pattFill prst="lgConfetti">
            <a:fgClr>
              <a:srgbClr val="99CCFF">
                <a:alpha val="50195"/>
              </a:srgbClr>
            </a:fgClr>
            <a:bgClr>
              <a:srgbClr val="FFFFFF"/>
            </a:bgClr>
          </a:patt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solidFill>
                  <a:srgbClr val="FF3300"/>
                </a:solidFill>
                <a:latin typeface="Times New Roman" panose="02020603050405020304" pitchFamily="18" charset="0"/>
              </a:rPr>
              <a:t>如何根据输入变量组</a:t>
            </a:r>
            <a:endParaRPr lang="zh-CN" altLang="en-US" sz="2400" b="1" dirty="0">
              <a:solidFill>
                <a:srgbClr val="FF3300"/>
              </a:solidFill>
              <a:latin typeface="Times New Roman" panose="02020603050405020304" pitchFamily="18" charset="0"/>
            </a:endParaRPr>
          </a:p>
          <a:p>
            <a:pPr marL="0" lvl="0" indent="0" eaLnBrk="1" hangingPunct="1">
              <a:spcBef>
                <a:spcPct val="0"/>
              </a:spcBef>
              <a:buNone/>
            </a:pPr>
            <a:r>
              <a:rPr lang="zh-CN" altLang="en-US" sz="2400" b="1" dirty="0">
                <a:solidFill>
                  <a:srgbClr val="FF3300"/>
                </a:solidFill>
                <a:latin typeface="Times New Roman" panose="02020603050405020304" pitchFamily="18" charset="0"/>
              </a:rPr>
              <a:t>合写出相应最小项？</a:t>
            </a:r>
            <a:endParaRPr lang="zh-CN" altLang="en-US" sz="2400" b="1" dirty="0">
              <a:solidFill>
                <a:srgbClr val="FF3300"/>
              </a:solidFill>
              <a:latin typeface="Times New Roman" panose="02020603050405020304" pitchFamily="18" charset="0"/>
            </a:endParaRPr>
          </a:p>
        </p:txBody>
      </p:sp>
      <p:sp>
        <p:nvSpPr>
          <p:cNvPr id="240646" name="Text Box 6"/>
          <p:cNvSpPr txBox="1"/>
          <p:nvPr/>
        </p:nvSpPr>
        <p:spPr>
          <a:xfrm>
            <a:off x="3379788" y="1484313"/>
            <a:ext cx="5176837" cy="3257550"/>
          </a:xfrm>
          <a:prstGeom prst="rect">
            <a:avLst/>
          </a:prstGeom>
          <a:solidFill>
            <a:schemeClr val="bg1"/>
          </a:solidFill>
          <a:ln w="9525">
            <a:noFill/>
          </a:ln>
        </p:spPr>
        <p:txBody>
          <a:bodyPr lIns="0" tIns="0" rIns="0" bIns="154800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endParaRPr lang="en-US" altLang="zh-CN" sz="2800" b="1" dirty="0">
              <a:latin typeface="Times New Roman" panose="02020603050405020304" pitchFamily="18" charset="0"/>
            </a:endParaRPr>
          </a:p>
          <a:p>
            <a:pPr marL="0" lvl="0" indent="0" eaLnBrk="1" hangingPunct="1">
              <a:spcBef>
                <a:spcPct val="50000"/>
              </a:spcBef>
              <a:buNone/>
            </a:pPr>
            <a:endParaRPr lang="en-US" altLang="zh-CN" sz="2800" b="1" dirty="0">
              <a:latin typeface="Times New Roman" panose="02020603050405020304" pitchFamily="18" charset="0"/>
            </a:endParaRPr>
          </a:p>
          <a:p>
            <a:pPr marL="0" lvl="0" indent="0" eaLnBrk="1" hangingPunct="1">
              <a:spcBef>
                <a:spcPct val="50000"/>
              </a:spcBef>
              <a:buNone/>
            </a:pPr>
            <a:endParaRPr lang="en-US" altLang="zh-CN" sz="2800" b="1" dirty="0">
              <a:latin typeface="Times New Roman" panose="02020603050405020304" pitchFamily="18" charset="0"/>
            </a:endParaRPr>
          </a:p>
        </p:txBody>
      </p:sp>
      <p:sp>
        <p:nvSpPr>
          <p:cNvPr id="240647" name="Rectangle 7"/>
          <p:cNvSpPr/>
          <p:nvPr/>
        </p:nvSpPr>
        <p:spPr>
          <a:xfrm>
            <a:off x="1296988" y="598488"/>
            <a:ext cx="8890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Times New Roman" panose="02020603050405020304" pitchFamily="18" charset="0"/>
              </a:rPr>
              <a:t>例如</a:t>
            </a:r>
            <a:r>
              <a:rPr lang="zh-CN" altLang="en-US" sz="1100" dirty="0">
                <a:latin typeface="宋体" panose="02010600030101010101" pitchFamily="2" charset="-122"/>
              </a:rPr>
              <a:t> </a:t>
            </a:r>
            <a:endParaRPr lang="zh-CN" altLang="en-US" sz="2400" dirty="0">
              <a:latin typeface="Times New Roman" panose="02020603050405020304" pitchFamily="18" charset="0"/>
            </a:endParaRPr>
          </a:p>
        </p:txBody>
      </p:sp>
      <p:sp>
        <p:nvSpPr>
          <p:cNvPr id="240648" name="AutoShape 8"/>
          <p:cNvSpPr/>
          <p:nvPr/>
        </p:nvSpPr>
        <p:spPr>
          <a:xfrm>
            <a:off x="2743200" y="663575"/>
            <a:ext cx="5008563" cy="369888"/>
          </a:xfrm>
          <a:prstGeom prst="wedgeRectCallout">
            <a:avLst>
              <a:gd name="adj1" fmla="val -24389"/>
              <a:gd name="adj2" fmla="val 115236"/>
            </a:avLst>
          </a:prstGeom>
          <a:solidFill>
            <a:srgbClr val="99CCFF">
              <a:alpha val="50195"/>
            </a:srgbClr>
          </a:solidFill>
          <a:ln w="9525" cap="flat" cmpd="sng">
            <a:solidFill>
              <a:schemeClr val="tx1"/>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3 </a:t>
            </a:r>
            <a:r>
              <a:rPr lang="zh-CN" altLang="en-US" sz="2400" b="1" dirty="0">
                <a:latin typeface="宋体" panose="02010600030101010101" pitchFamily="2" charset="-122"/>
              </a:rPr>
              <a:t>变量逻辑函数的最小项有</a:t>
            </a:r>
            <a:r>
              <a:rPr lang="zh-CN" altLang="en-US" sz="2400" b="1" dirty="0">
                <a:latin typeface="Times New Roman" panose="02020603050405020304" pitchFamily="18" charset="0"/>
              </a:rPr>
              <a:t> </a:t>
            </a:r>
            <a:r>
              <a:rPr lang="en-US" altLang="zh-CN" sz="2400" b="1" dirty="0">
                <a:latin typeface="Times New Roman" panose="02020603050405020304" pitchFamily="18" charset="0"/>
              </a:rPr>
              <a:t>2</a:t>
            </a:r>
            <a:r>
              <a:rPr lang="en-US" altLang="zh-CN" sz="2400" b="1" baseline="30000" dirty="0">
                <a:latin typeface="Times New Roman" panose="02020603050405020304" pitchFamily="18" charset="0"/>
              </a:rPr>
              <a:t>3 </a:t>
            </a:r>
            <a:r>
              <a:rPr lang="en-US" altLang="zh-CN" sz="2400" b="1" dirty="0">
                <a:latin typeface="Times New Roman" panose="02020603050405020304" pitchFamily="18" charset="0"/>
              </a:rPr>
              <a:t>= 8 </a:t>
            </a:r>
            <a:r>
              <a:rPr lang="zh-CN" altLang="en-US" sz="2400" b="1" dirty="0">
                <a:latin typeface="宋体" panose="02010600030101010101" pitchFamily="2" charset="-122"/>
              </a:rPr>
              <a:t>个</a:t>
            </a:r>
            <a:endParaRPr lang="zh-CN" altLang="en-US" sz="2400" b="1" dirty="0">
              <a:latin typeface="宋体" panose="02010600030101010101" pitchFamily="2" charset="-122"/>
            </a:endParaRPr>
          </a:p>
        </p:txBody>
      </p:sp>
      <p:sp>
        <p:nvSpPr>
          <p:cNvPr id="240649" name="Rectangle 9"/>
          <p:cNvSpPr/>
          <p:nvPr/>
        </p:nvSpPr>
        <p:spPr>
          <a:xfrm>
            <a:off x="179388" y="2151063"/>
            <a:ext cx="1793875" cy="2586037"/>
          </a:xfrm>
          <a:prstGeom prst="rect">
            <a:avLst/>
          </a:prstGeom>
          <a:solidFill>
            <a:srgbClr val="CCCC00">
              <a:alpha val="50195"/>
            </a:srgbClr>
          </a:solidFill>
          <a:ln w="9525">
            <a:noFill/>
          </a:ln>
        </p:spPr>
        <p:txBody>
          <a:bodyPr lIns="0" tIns="0" rIns="0" bIns="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dirty="0">
                <a:latin typeface="Times New Roman" panose="02020603050405020304" pitchFamily="18" charset="0"/>
              </a:rPr>
              <a:t>        </a:t>
            </a:r>
            <a:r>
              <a:rPr lang="zh-CN" altLang="en-US" sz="2400" dirty="0">
                <a:latin typeface="Times New Roman" panose="02020603050405020304" pitchFamily="18" charset="0"/>
              </a:rPr>
              <a:t>将输入变量取值为 </a:t>
            </a:r>
            <a:r>
              <a:rPr lang="en-US" altLang="zh-CN" sz="2400" dirty="0">
                <a:latin typeface="Times New Roman" panose="02020603050405020304" pitchFamily="18" charset="0"/>
              </a:rPr>
              <a:t>1 </a:t>
            </a:r>
            <a:r>
              <a:rPr lang="zh-CN" altLang="en-US" sz="2400" dirty="0">
                <a:latin typeface="Times New Roman" panose="02020603050405020304" pitchFamily="18" charset="0"/>
              </a:rPr>
              <a:t>的代以原变量，取值为 </a:t>
            </a:r>
            <a:r>
              <a:rPr lang="en-US" altLang="zh-CN" sz="2400" dirty="0">
                <a:latin typeface="Times New Roman" panose="02020603050405020304" pitchFamily="18" charset="0"/>
              </a:rPr>
              <a:t>0 </a:t>
            </a:r>
            <a:r>
              <a:rPr lang="zh-CN" altLang="en-US" sz="2400" dirty="0">
                <a:latin typeface="Times New Roman" panose="02020603050405020304" pitchFamily="18" charset="0"/>
              </a:rPr>
              <a:t>的代以反变量，则得相应最小项。</a:t>
            </a:r>
            <a:r>
              <a:rPr lang="zh-CN" altLang="en-US" sz="1100" dirty="0">
                <a:latin typeface="宋体" panose="02010600030101010101" pitchFamily="2" charset="-122"/>
              </a:rPr>
              <a:t> </a:t>
            </a:r>
            <a:endParaRPr lang="zh-CN" altLang="en-US" sz="2400" dirty="0">
              <a:latin typeface="Times New Roman" panose="02020603050405020304" pitchFamily="18" charset="0"/>
            </a:endParaRPr>
          </a:p>
        </p:txBody>
      </p:sp>
      <p:sp>
        <p:nvSpPr>
          <p:cNvPr id="240650" name="Rectangle 10"/>
          <p:cNvSpPr/>
          <p:nvPr/>
        </p:nvSpPr>
        <p:spPr>
          <a:xfrm>
            <a:off x="4643438" y="1262063"/>
            <a:ext cx="140970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Times New Roman" panose="02020603050405020304" pitchFamily="18" charset="0"/>
              </a:rPr>
              <a:t>简记符号</a:t>
            </a:r>
            <a:endParaRPr lang="zh-CN" altLang="en-US" sz="2400" b="1" dirty="0">
              <a:latin typeface="Times New Roman" panose="02020603050405020304" pitchFamily="18" charset="0"/>
            </a:endParaRPr>
          </a:p>
        </p:txBody>
      </p:sp>
      <p:sp>
        <p:nvSpPr>
          <p:cNvPr id="240651" name="Rectangle 11"/>
          <p:cNvSpPr/>
          <p:nvPr/>
        </p:nvSpPr>
        <p:spPr>
          <a:xfrm>
            <a:off x="1398588" y="5683250"/>
            <a:ext cx="720725" cy="365125"/>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Times New Roman" panose="02020603050405020304" pitchFamily="18" charset="0"/>
              </a:rPr>
              <a:t>例如</a:t>
            </a:r>
            <a:r>
              <a:rPr lang="zh-CN" altLang="en-US" sz="1100" dirty="0">
                <a:latin typeface="宋体" panose="02010600030101010101" pitchFamily="2" charset="-122"/>
              </a:rPr>
              <a:t> </a:t>
            </a:r>
            <a:endParaRPr lang="zh-CN" altLang="en-US" sz="2400" dirty="0">
              <a:latin typeface="Times New Roman" panose="02020603050405020304" pitchFamily="18" charset="0"/>
            </a:endParaRPr>
          </a:p>
        </p:txBody>
      </p:sp>
      <p:grpSp>
        <p:nvGrpSpPr>
          <p:cNvPr id="240652" name="Group 12"/>
          <p:cNvGrpSpPr/>
          <p:nvPr/>
        </p:nvGrpSpPr>
        <p:grpSpPr>
          <a:xfrm>
            <a:off x="2255838" y="5686425"/>
            <a:ext cx="3451225" cy="403225"/>
            <a:chOff x="1421" y="3582"/>
            <a:chExt cx="2174" cy="254"/>
          </a:xfrm>
        </p:grpSpPr>
        <p:graphicFrame>
          <p:nvGraphicFramePr>
            <p:cNvPr id="58468" name="Object 13"/>
            <p:cNvGraphicFramePr>
              <a:graphicFrameLocks noChangeAspect="1"/>
            </p:cNvGraphicFramePr>
            <p:nvPr/>
          </p:nvGraphicFramePr>
          <p:xfrm>
            <a:off x="1421" y="3604"/>
            <a:ext cx="440" cy="208"/>
          </p:xfrm>
          <a:graphic>
            <a:graphicData uri="http://schemas.openxmlformats.org/presentationml/2006/ole">
              <mc:AlternateContent xmlns:mc="http://schemas.openxmlformats.org/markup-compatibility/2006">
                <mc:Choice xmlns:v="urn:schemas-microsoft-com:vml" Requires="v">
                  <p:oleObj spid="_x0000_s3217" name="" r:id="rId1" imgW="698500" imgH="330200" progId="Equation.3">
                    <p:embed/>
                  </p:oleObj>
                </mc:Choice>
                <mc:Fallback>
                  <p:oleObj name="" r:id="rId1" imgW="698500" imgH="330200" progId="Equation.3">
                    <p:embed/>
                    <p:pic>
                      <p:nvPicPr>
                        <p:cNvPr id="0" name="图片 3216"/>
                        <p:cNvPicPr/>
                        <p:nvPr/>
                      </p:nvPicPr>
                      <p:blipFill>
                        <a:blip r:embed="rId2"/>
                        <a:stretch>
                          <a:fillRect/>
                        </a:stretch>
                      </p:blipFill>
                      <p:spPr>
                        <a:xfrm>
                          <a:off x="1421" y="3604"/>
                          <a:ext cx="440" cy="208"/>
                        </a:xfrm>
                        <a:prstGeom prst="rect">
                          <a:avLst/>
                        </a:prstGeom>
                        <a:noFill/>
                        <a:ln w="38100">
                          <a:noFill/>
                          <a:miter/>
                        </a:ln>
                      </p:spPr>
                    </p:pic>
                  </p:oleObj>
                </mc:Fallback>
              </mc:AlternateContent>
            </a:graphicData>
          </a:graphic>
        </p:graphicFrame>
        <p:graphicFrame>
          <p:nvGraphicFramePr>
            <p:cNvPr id="58469" name="Object 14"/>
            <p:cNvGraphicFramePr>
              <a:graphicFrameLocks noChangeAspect="1"/>
            </p:cNvGraphicFramePr>
            <p:nvPr/>
          </p:nvGraphicFramePr>
          <p:xfrm>
            <a:off x="1903" y="3676"/>
            <a:ext cx="216" cy="136"/>
          </p:xfrm>
          <a:graphic>
            <a:graphicData uri="http://schemas.openxmlformats.org/presentationml/2006/ole">
              <mc:AlternateContent xmlns:mc="http://schemas.openxmlformats.org/markup-compatibility/2006">
                <mc:Choice xmlns:v="urn:schemas-microsoft-com:vml" Requires="v">
                  <p:oleObj spid="_x0000_s3216" name="" r:id="rId3" imgW="342900" imgH="215900" progId="Equation.3">
                    <p:embed/>
                  </p:oleObj>
                </mc:Choice>
                <mc:Fallback>
                  <p:oleObj name="" r:id="rId3" imgW="342900" imgH="215900" progId="Equation.3">
                    <p:embed/>
                    <p:pic>
                      <p:nvPicPr>
                        <p:cNvPr id="0" name="图片 3215"/>
                        <p:cNvPicPr/>
                        <p:nvPr/>
                      </p:nvPicPr>
                      <p:blipFill>
                        <a:blip r:embed="rId4"/>
                        <a:stretch>
                          <a:fillRect/>
                        </a:stretch>
                      </p:blipFill>
                      <p:spPr>
                        <a:xfrm>
                          <a:off x="1903" y="3676"/>
                          <a:ext cx="216" cy="136"/>
                        </a:xfrm>
                        <a:prstGeom prst="rect">
                          <a:avLst/>
                        </a:prstGeom>
                        <a:noFill/>
                        <a:ln w="38100">
                          <a:noFill/>
                          <a:miter/>
                        </a:ln>
                      </p:spPr>
                    </p:pic>
                  </p:oleObj>
                </mc:Fallback>
              </mc:AlternateContent>
            </a:graphicData>
          </a:graphic>
        </p:graphicFrame>
        <p:sp>
          <p:nvSpPr>
            <p:cNvPr id="58470" name="Rectangle 15"/>
            <p:cNvSpPr/>
            <p:nvPr/>
          </p:nvSpPr>
          <p:spPr>
            <a:xfrm>
              <a:off x="2193" y="3604"/>
              <a:ext cx="315" cy="23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dirty="0">
                  <a:latin typeface="Times New Roman" panose="02020603050405020304" pitchFamily="18" charset="0"/>
                </a:rPr>
                <a:t>101</a:t>
              </a:r>
              <a:endParaRPr lang="en-US" altLang="zh-CN" sz="2400" dirty="0">
                <a:latin typeface="Times New Roman" panose="02020603050405020304" pitchFamily="18" charset="0"/>
              </a:endParaRPr>
            </a:p>
          </p:txBody>
        </p:sp>
        <p:graphicFrame>
          <p:nvGraphicFramePr>
            <p:cNvPr id="58471" name="Object 16"/>
            <p:cNvGraphicFramePr>
              <a:graphicFrameLocks noChangeAspect="1"/>
            </p:cNvGraphicFramePr>
            <p:nvPr/>
          </p:nvGraphicFramePr>
          <p:xfrm>
            <a:off x="2560" y="3676"/>
            <a:ext cx="216" cy="136"/>
          </p:xfrm>
          <a:graphic>
            <a:graphicData uri="http://schemas.openxmlformats.org/presentationml/2006/ole">
              <mc:AlternateContent xmlns:mc="http://schemas.openxmlformats.org/markup-compatibility/2006">
                <mc:Choice xmlns:v="urn:schemas-microsoft-com:vml" Requires="v">
                  <p:oleObj spid="_x0000_s3214" name="" r:id="rId5" imgW="342900" imgH="215900" progId="Equation.3">
                    <p:embed/>
                  </p:oleObj>
                </mc:Choice>
                <mc:Fallback>
                  <p:oleObj name="" r:id="rId5" imgW="342900" imgH="215900" progId="Equation.3">
                    <p:embed/>
                    <p:pic>
                      <p:nvPicPr>
                        <p:cNvPr id="0" name="图片 3213"/>
                        <p:cNvPicPr/>
                        <p:nvPr/>
                      </p:nvPicPr>
                      <p:blipFill>
                        <a:blip r:embed="rId4"/>
                        <a:stretch>
                          <a:fillRect/>
                        </a:stretch>
                      </p:blipFill>
                      <p:spPr>
                        <a:xfrm>
                          <a:off x="2560" y="3676"/>
                          <a:ext cx="216" cy="136"/>
                        </a:xfrm>
                        <a:prstGeom prst="rect">
                          <a:avLst/>
                        </a:prstGeom>
                        <a:noFill/>
                        <a:ln w="38100">
                          <a:noFill/>
                          <a:miter/>
                        </a:ln>
                      </p:spPr>
                    </p:pic>
                  </p:oleObj>
                </mc:Fallback>
              </mc:AlternateContent>
            </a:graphicData>
          </a:graphic>
        </p:graphicFrame>
        <p:graphicFrame>
          <p:nvGraphicFramePr>
            <p:cNvPr id="58472" name="Object 17"/>
            <p:cNvGraphicFramePr>
              <a:graphicFrameLocks noChangeAspect="1"/>
            </p:cNvGraphicFramePr>
            <p:nvPr/>
          </p:nvGraphicFramePr>
          <p:xfrm>
            <a:off x="3016" y="3676"/>
            <a:ext cx="216" cy="136"/>
          </p:xfrm>
          <a:graphic>
            <a:graphicData uri="http://schemas.openxmlformats.org/presentationml/2006/ole">
              <mc:AlternateContent xmlns:mc="http://schemas.openxmlformats.org/markup-compatibility/2006">
                <mc:Choice xmlns:v="urn:schemas-microsoft-com:vml" Requires="v">
                  <p:oleObj spid="_x0000_s3215" name="" r:id="rId6" imgW="342900" imgH="215900" progId="Equation.3">
                    <p:embed/>
                  </p:oleObj>
                </mc:Choice>
                <mc:Fallback>
                  <p:oleObj name="" r:id="rId6" imgW="342900" imgH="215900" progId="Equation.3">
                    <p:embed/>
                    <p:pic>
                      <p:nvPicPr>
                        <p:cNvPr id="0" name="图片 3214"/>
                        <p:cNvPicPr/>
                        <p:nvPr/>
                      </p:nvPicPr>
                      <p:blipFill>
                        <a:blip r:embed="rId4"/>
                        <a:stretch>
                          <a:fillRect/>
                        </a:stretch>
                      </p:blipFill>
                      <p:spPr>
                        <a:xfrm>
                          <a:off x="3016" y="3676"/>
                          <a:ext cx="216" cy="136"/>
                        </a:xfrm>
                        <a:prstGeom prst="rect">
                          <a:avLst/>
                        </a:prstGeom>
                        <a:noFill/>
                        <a:ln w="38100">
                          <a:noFill/>
                          <a:miter/>
                        </a:ln>
                      </p:spPr>
                    </p:pic>
                  </p:oleObj>
                </mc:Fallback>
              </mc:AlternateContent>
            </a:graphicData>
          </a:graphic>
        </p:graphicFrame>
        <p:sp>
          <p:nvSpPr>
            <p:cNvPr id="58473" name="Rectangle 18"/>
            <p:cNvSpPr/>
            <p:nvPr/>
          </p:nvSpPr>
          <p:spPr>
            <a:xfrm>
              <a:off x="2842" y="3606"/>
              <a:ext cx="213" cy="23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dirty="0">
                  <a:latin typeface="Times New Roman" panose="02020603050405020304" pitchFamily="18" charset="0"/>
                </a:rPr>
                <a:t>5</a:t>
              </a:r>
              <a:endParaRPr lang="en-US" altLang="zh-CN" sz="2400" dirty="0">
                <a:latin typeface="Times New Roman" panose="02020603050405020304" pitchFamily="18" charset="0"/>
              </a:endParaRPr>
            </a:p>
          </p:txBody>
        </p:sp>
        <p:sp>
          <p:nvSpPr>
            <p:cNvPr id="58474" name="Rectangle 19"/>
            <p:cNvSpPr/>
            <p:nvPr/>
          </p:nvSpPr>
          <p:spPr>
            <a:xfrm>
              <a:off x="3293" y="3582"/>
              <a:ext cx="302" cy="23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i="1" dirty="0">
                  <a:latin typeface="Times New Roman" panose="02020603050405020304" pitchFamily="18" charset="0"/>
                </a:rPr>
                <a:t>m</a:t>
              </a:r>
              <a:r>
                <a:rPr lang="en-US" altLang="zh-CN" sz="2400" b="1" baseline="-25000" dirty="0">
                  <a:latin typeface="Times New Roman" panose="02020603050405020304" pitchFamily="18" charset="0"/>
                </a:rPr>
                <a:t>5</a:t>
              </a:r>
              <a:endParaRPr lang="en-US" altLang="zh-CN" sz="2400" baseline="-25000" dirty="0">
                <a:latin typeface="Times New Roman" panose="02020603050405020304" pitchFamily="18" charset="0"/>
              </a:endParaRPr>
            </a:p>
          </p:txBody>
        </p:sp>
      </p:grpSp>
      <p:grpSp>
        <p:nvGrpSpPr>
          <p:cNvPr id="240660" name="Group 20"/>
          <p:cNvGrpSpPr/>
          <p:nvPr/>
        </p:nvGrpSpPr>
        <p:grpSpPr>
          <a:xfrm>
            <a:off x="2339975" y="6200775"/>
            <a:ext cx="3208338" cy="406400"/>
            <a:chOff x="1474" y="3906"/>
            <a:chExt cx="2021" cy="256"/>
          </a:xfrm>
        </p:grpSpPr>
        <p:sp>
          <p:nvSpPr>
            <p:cNvPr id="58461" name="Rectangle 21"/>
            <p:cNvSpPr/>
            <p:nvPr/>
          </p:nvSpPr>
          <p:spPr>
            <a:xfrm>
              <a:off x="1474" y="3906"/>
              <a:ext cx="300" cy="23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i="1" dirty="0">
                  <a:latin typeface="Times New Roman" panose="02020603050405020304" pitchFamily="18" charset="0"/>
                </a:rPr>
                <a:t>m</a:t>
              </a:r>
              <a:r>
                <a:rPr lang="en-US" altLang="zh-CN" sz="2400" b="1" baseline="-25000" dirty="0">
                  <a:latin typeface="Times New Roman" panose="02020603050405020304" pitchFamily="18" charset="0"/>
                </a:rPr>
                <a:t>4</a:t>
              </a:r>
              <a:endParaRPr lang="en-US" altLang="zh-CN" sz="2400" baseline="-25000" dirty="0">
                <a:latin typeface="Times New Roman" panose="02020603050405020304" pitchFamily="18" charset="0"/>
              </a:endParaRPr>
            </a:p>
          </p:txBody>
        </p:sp>
        <p:graphicFrame>
          <p:nvGraphicFramePr>
            <p:cNvPr id="58462" name="Object 22"/>
            <p:cNvGraphicFramePr>
              <a:graphicFrameLocks noChangeAspect="1"/>
            </p:cNvGraphicFramePr>
            <p:nvPr/>
          </p:nvGraphicFramePr>
          <p:xfrm>
            <a:off x="1768" y="3988"/>
            <a:ext cx="216" cy="136"/>
          </p:xfrm>
          <a:graphic>
            <a:graphicData uri="http://schemas.openxmlformats.org/presentationml/2006/ole">
              <mc:AlternateContent xmlns:mc="http://schemas.openxmlformats.org/markup-compatibility/2006">
                <mc:Choice xmlns:v="urn:schemas-microsoft-com:vml" Requires="v">
                  <p:oleObj spid="_x0000_s3220" name="" r:id="rId7" imgW="342900" imgH="215900" progId="Equation.3">
                    <p:embed/>
                  </p:oleObj>
                </mc:Choice>
                <mc:Fallback>
                  <p:oleObj name="" r:id="rId7" imgW="342900" imgH="215900" progId="Equation.3">
                    <p:embed/>
                    <p:pic>
                      <p:nvPicPr>
                        <p:cNvPr id="0" name="图片 3219"/>
                        <p:cNvPicPr/>
                        <p:nvPr/>
                      </p:nvPicPr>
                      <p:blipFill>
                        <a:blip r:embed="rId4"/>
                        <a:stretch>
                          <a:fillRect/>
                        </a:stretch>
                      </p:blipFill>
                      <p:spPr>
                        <a:xfrm>
                          <a:off x="1768" y="3988"/>
                          <a:ext cx="216" cy="136"/>
                        </a:xfrm>
                        <a:prstGeom prst="rect">
                          <a:avLst/>
                        </a:prstGeom>
                        <a:noFill/>
                        <a:ln w="38100">
                          <a:noFill/>
                          <a:miter/>
                        </a:ln>
                      </p:spPr>
                    </p:pic>
                  </p:oleObj>
                </mc:Fallback>
              </mc:AlternateContent>
            </a:graphicData>
          </a:graphic>
        </p:graphicFrame>
        <p:sp>
          <p:nvSpPr>
            <p:cNvPr id="58463" name="Rectangle 23"/>
            <p:cNvSpPr/>
            <p:nvPr/>
          </p:nvSpPr>
          <p:spPr>
            <a:xfrm>
              <a:off x="2042" y="3918"/>
              <a:ext cx="213" cy="23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dirty="0">
                  <a:latin typeface="Times New Roman" panose="02020603050405020304" pitchFamily="18" charset="0"/>
                </a:rPr>
                <a:t>4</a:t>
              </a:r>
              <a:endParaRPr lang="en-US" altLang="zh-CN" sz="2400" dirty="0">
                <a:latin typeface="Times New Roman" panose="02020603050405020304" pitchFamily="18" charset="0"/>
              </a:endParaRPr>
            </a:p>
          </p:txBody>
        </p:sp>
        <p:graphicFrame>
          <p:nvGraphicFramePr>
            <p:cNvPr id="58464" name="Object 24"/>
            <p:cNvGraphicFramePr>
              <a:graphicFrameLocks noChangeAspect="1"/>
            </p:cNvGraphicFramePr>
            <p:nvPr/>
          </p:nvGraphicFramePr>
          <p:xfrm>
            <a:off x="2176" y="3988"/>
            <a:ext cx="216" cy="136"/>
          </p:xfrm>
          <a:graphic>
            <a:graphicData uri="http://schemas.openxmlformats.org/presentationml/2006/ole">
              <mc:AlternateContent xmlns:mc="http://schemas.openxmlformats.org/markup-compatibility/2006">
                <mc:Choice xmlns:v="urn:schemas-microsoft-com:vml" Requires="v">
                  <p:oleObj spid="_x0000_s3218" name="" r:id="rId8" imgW="342900" imgH="215900" progId="Equation.3">
                    <p:embed/>
                  </p:oleObj>
                </mc:Choice>
                <mc:Fallback>
                  <p:oleObj name="" r:id="rId8" imgW="342900" imgH="215900" progId="Equation.3">
                    <p:embed/>
                    <p:pic>
                      <p:nvPicPr>
                        <p:cNvPr id="0" name="图片 3217"/>
                        <p:cNvPicPr/>
                        <p:nvPr/>
                      </p:nvPicPr>
                      <p:blipFill>
                        <a:blip r:embed="rId4"/>
                        <a:stretch>
                          <a:fillRect/>
                        </a:stretch>
                      </p:blipFill>
                      <p:spPr>
                        <a:xfrm>
                          <a:off x="2176" y="3988"/>
                          <a:ext cx="216" cy="136"/>
                        </a:xfrm>
                        <a:prstGeom prst="rect">
                          <a:avLst/>
                        </a:prstGeom>
                        <a:noFill/>
                        <a:ln w="38100">
                          <a:noFill/>
                          <a:miter/>
                        </a:ln>
                      </p:spPr>
                    </p:pic>
                  </p:oleObj>
                </mc:Fallback>
              </mc:AlternateContent>
            </a:graphicData>
          </a:graphic>
        </p:graphicFrame>
        <p:sp>
          <p:nvSpPr>
            <p:cNvPr id="58465" name="Rectangle 25"/>
            <p:cNvSpPr/>
            <p:nvPr/>
          </p:nvSpPr>
          <p:spPr>
            <a:xfrm>
              <a:off x="2465" y="3932"/>
              <a:ext cx="315" cy="23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dirty="0">
                  <a:latin typeface="Times New Roman" panose="02020603050405020304" pitchFamily="18" charset="0"/>
                </a:rPr>
                <a:t>100</a:t>
              </a:r>
              <a:endParaRPr lang="en-US" altLang="zh-CN" sz="2400" dirty="0">
                <a:latin typeface="Times New Roman" panose="02020603050405020304" pitchFamily="18" charset="0"/>
              </a:endParaRPr>
            </a:p>
          </p:txBody>
        </p:sp>
        <p:graphicFrame>
          <p:nvGraphicFramePr>
            <p:cNvPr id="58466" name="Object 26"/>
            <p:cNvGraphicFramePr>
              <a:graphicFrameLocks noChangeAspect="1"/>
            </p:cNvGraphicFramePr>
            <p:nvPr/>
          </p:nvGraphicFramePr>
          <p:xfrm>
            <a:off x="2784" y="3988"/>
            <a:ext cx="216" cy="136"/>
          </p:xfrm>
          <a:graphic>
            <a:graphicData uri="http://schemas.openxmlformats.org/presentationml/2006/ole">
              <mc:AlternateContent xmlns:mc="http://schemas.openxmlformats.org/markup-compatibility/2006">
                <mc:Choice xmlns:v="urn:schemas-microsoft-com:vml" Requires="v">
                  <p:oleObj spid="_x0000_s3219" name="" r:id="rId9" imgW="342900" imgH="215900" progId="Equation.3">
                    <p:embed/>
                  </p:oleObj>
                </mc:Choice>
                <mc:Fallback>
                  <p:oleObj name="" r:id="rId9" imgW="342900" imgH="215900" progId="Equation.3">
                    <p:embed/>
                    <p:pic>
                      <p:nvPicPr>
                        <p:cNvPr id="0" name="图片 3218"/>
                        <p:cNvPicPr/>
                        <p:nvPr/>
                      </p:nvPicPr>
                      <p:blipFill>
                        <a:blip r:embed="rId4"/>
                        <a:stretch>
                          <a:fillRect/>
                        </a:stretch>
                      </p:blipFill>
                      <p:spPr>
                        <a:xfrm>
                          <a:off x="2784" y="3988"/>
                          <a:ext cx="216" cy="136"/>
                        </a:xfrm>
                        <a:prstGeom prst="rect">
                          <a:avLst/>
                        </a:prstGeom>
                        <a:noFill/>
                        <a:ln w="38100">
                          <a:noFill/>
                          <a:miter/>
                        </a:ln>
                      </p:spPr>
                    </p:pic>
                  </p:oleObj>
                </mc:Fallback>
              </mc:AlternateContent>
            </a:graphicData>
          </a:graphic>
        </p:graphicFrame>
        <p:graphicFrame>
          <p:nvGraphicFramePr>
            <p:cNvPr id="58467" name="Object 27"/>
            <p:cNvGraphicFramePr>
              <a:graphicFrameLocks noChangeAspect="1"/>
            </p:cNvGraphicFramePr>
            <p:nvPr/>
          </p:nvGraphicFramePr>
          <p:xfrm>
            <a:off x="3039" y="3928"/>
            <a:ext cx="456" cy="208"/>
          </p:xfrm>
          <a:graphic>
            <a:graphicData uri="http://schemas.openxmlformats.org/presentationml/2006/ole">
              <mc:AlternateContent xmlns:mc="http://schemas.openxmlformats.org/markup-compatibility/2006">
                <mc:Choice xmlns:v="urn:schemas-microsoft-com:vml" Requires="v">
                  <p:oleObj spid="_x0000_s3221" name="" r:id="rId10" imgW="723900" imgH="330200" progId="Equation.3">
                    <p:embed/>
                  </p:oleObj>
                </mc:Choice>
                <mc:Fallback>
                  <p:oleObj name="" r:id="rId10" imgW="723900" imgH="330200" progId="Equation.3">
                    <p:embed/>
                    <p:pic>
                      <p:nvPicPr>
                        <p:cNvPr id="0" name="图片 3220"/>
                        <p:cNvPicPr/>
                        <p:nvPr/>
                      </p:nvPicPr>
                      <p:blipFill>
                        <a:blip r:embed="rId11"/>
                        <a:stretch>
                          <a:fillRect/>
                        </a:stretch>
                      </p:blipFill>
                      <p:spPr>
                        <a:xfrm>
                          <a:off x="3039" y="3928"/>
                          <a:ext cx="456" cy="208"/>
                        </a:xfrm>
                        <a:prstGeom prst="rect">
                          <a:avLst/>
                        </a:prstGeom>
                        <a:noFill/>
                        <a:ln w="38100">
                          <a:noFill/>
                          <a:miter/>
                        </a:ln>
                      </p:spPr>
                    </p:pic>
                  </p:oleObj>
                </mc:Fallback>
              </mc:AlternateContent>
            </a:graphicData>
          </a:graphic>
        </p:graphicFrame>
      </p:grpSp>
      <p:grpSp>
        <p:nvGrpSpPr>
          <p:cNvPr id="240668" name="Group 28"/>
          <p:cNvGrpSpPr/>
          <p:nvPr/>
        </p:nvGrpSpPr>
        <p:grpSpPr>
          <a:xfrm>
            <a:off x="2247900" y="1143000"/>
            <a:ext cx="6096000" cy="4387850"/>
            <a:chOff x="1120" y="720"/>
            <a:chExt cx="3840" cy="2764"/>
          </a:xfrm>
        </p:grpSpPr>
        <p:sp>
          <p:nvSpPr>
            <p:cNvPr id="58403" name="Rectangle 29"/>
            <p:cNvSpPr/>
            <p:nvPr/>
          </p:nvSpPr>
          <p:spPr>
            <a:xfrm>
              <a:off x="3472" y="3254"/>
              <a:ext cx="1488" cy="230"/>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2400" b="1" dirty="0">
                <a:latin typeface="Times New Roman" panose="02020603050405020304" pitchFamily="18" charset="0"/>
              </a:endParaRPr>
            </a:p>
          </p:txBody>
        </p:sp>
        <p:sp>
          <p:nvSpPr>
            <p:cNvPr id="58404" name="Rectangle 30"/>
            <p:cNvSpPr/>
            <p:nvPr/>
          </p:nvSpPr>
          <p:spPr>
            <a:xfrm>
              <a:off x="2656" y="3254"/>
              <a:ext cx="816" cy="230"/>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2400" b="1" dirty="0">
                <a:latin typeface="Times New Roman" panose="02020603050405020304" pitchFamily="18" charset="0"/>
              </a:endParaRPr>
            </a:p>
          </p:txBody>
        </p:sp>
        <p:sp>
          <p:nvSpPr>
            <p:cNvPr id="58405" name="Rectangle 31"/>
            <p:cNvSpPr/>
            <p:nvPr/>
          </p:nvSpPr>
          <p:spPr>
            <a:xfrm>
              <a:off x="2032" y="3254"/>
              <a:ext cx="624" cy="230"/>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i="1" dirty="0">
                  <a:latin typeface="Times New Roman" panose="02020603050405020304" pitchFamily="18" charset="0"/>
                </a:rPr>
                <a:t>ABC</a:t>
              </a:r>
              <a:endParaRPr lang="en-US" altLang="zh-CN" sz="2400" b="1" i="1" dirty="0">
                <a:latin typeface="Times New Roman" panose="02020603050405020304" pitchFamily="18" charset="0"/>
              </a:endParaRPr>
            </a:p>
          </p:txBody>
        </p:sp>
        <p:sp>
          <p:nvSpPr>
            <p:cNvPr id="58406" name="Rectangle 32"/>
            <p:cNvSpPr/>
            <p:nvPr/>
          </p:nvSpPr>
          <p:spPr>
            <a:xfrm>
              <a:off x="1120" y="3254"/>
              <a:ext cx="912" cy="230"/>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1    1    1</a:t>
              </a:r>
              <a:endParaRPr lang="en-US" altLang="zh-CN" sz="2400" b="1" dirty="0">
                <a:latin typeface="Times New Roman" panose="02020603050405020304" pitchFamily="18" charset="0"/>
              </a:endParaRPr>
            </a:p>
          </p:txBody>
        </p:sp>
        <p:sp>
          <p:nvSpPr>
            <p:cNvPr id="58407" name="Rectangle 33"/>
            <p:cNvSpPr/>
            <p:nvPr/>
          </p:nvSpPr>
          <p:spPr>
            <a:xfrm>
              <a:off x="3472" y="2969"/>
              <a:ext cx="1488" cy="285"/>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2400" b="1" dirty="0">
                <a:latin typeface="Times New Roman" panose="02020603050405020304" pitchFamily="18" charset="0"/>
              </a:endParaRPr>
            </a:p>
          </p:txBody>
        </p:sp>
        <p:sp>
          <p:nvSpPr>
            <p:cNvPr id="58408" name="Rectangle 34"/>
            <p:cNvSpPr/>
            <p:nvPr/>
          </p:nvSpPr>
          <p:spPr>
            <a:xfrm>
              <a:off x="2656" y="2969"/>
              <a:ext cx="816" cy="285"/>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2400" b="1" dirty="0">
                <a:latin typeface="Times New Roman" panose="02020603050405020304" pitchFamily="18" charset="0"/>
              </a:endParaRPr>
            </a:p>
          </p:txBody>
        </p:sp>
        <p:sp>
          <p:nvSpPr>
            <p:cNvPr id="58409" name="Rectangle 35"/>
            <p:cNvSpPr/>
            <p:nvPr/>
          </p:nvSpPr>
          <p:spPr>
            <a:xfrm>
              <a:off x="2032" y="2969"/>
              <a:ext cx="624" cy="285"/>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2400" b="1" dirty="0">
                <a:latin typeface="Times New Roman" panose="02020603050405020304" pitchFamily="18" charset="0"/>
              </a:endParaRPr>
            </a:p>
          </p:txBody>
        </p:sp>
        <p:sp>
          <p:nvSpPr>
            <p:cNvPr id="58410" name="Rectangle 36"/>
            <p:cNvSpPr/>
            <p:nvPr/>
          </p:nvSpPr>
          <p:spPr>
            <a:xfrm>
              <a:off x="1120" y="2969"/>
              <a:ext cx="912" cy="285"/>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1    1    0</a:t>
              </a:r>
              <a:endParaRPr lang="en-US" altLang="zh-CN" sz="2400" b="1" dirty="0">
                <a:latin typeface="Times New Roman" panose="02020603050405020304" pitchFamily="18" charset="0"/>
              </a:endParaRPr>
            </a:p>
          </p:txBody>
        </p:sp>
        <p:sp>
          <p:nvSpPr>
            <p:cNvPr id="58411" name="Rectangle 37"/>
            <p:cNvSpPr/>
            <p:nvPr/>
          </p:nvSpPr>
          <p:spPr>
            <a:xfrm>
              <a:off x="3472" y="2685"/>
              <a:ext cx="1488" cy="284"/>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2400" b="1" dirty="0">
                <a:latin typeface="Times New Roman" panose="02020603050405020304" pitchFamily="18" charset="0"/>
              </a:endParaRPr>
            </a:p>
          </p:txBody>
        </p:sp>
        <p:sp>
          <p:nvSpPr>
            <p:cNvPr id="58412" name="Rectangle 38"/>
            <p:cNvSpPr/>
            <p:nvPr/>
          </p:nvSpPr>
          <p:spPr>
            <a:xfrm>
              <a:off x="2656" y="2685"/>
              <a:ext cx="816" cy="284"/>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2400" b="1" dirty="0">
                <a:latin typeface="Times New Roman" panose="02020603050405020304" pitchFamily="18" charset="0"/>
              </a:endParaRPr>
            </a:p>
          </p:txBody>
        </p:sp>
        <p:sp>
          <p:nvSpPr>
            <p:cNvPr id="58413" name="Rectangle 39"/>
            <p:cNvSpPr/>
            <p:nvPr/>
          </p:nvSpPr>
          <p:spPr>
            <a:xfrm>
              <a:off x="2032" y="2685"/>
              <a:ext cx="624" cy="284"/>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2400" b="1" dirty="0">
                <a:latin typeface="Times New Roman" panose="02020603050405020304" pitchFamily="18" charset="0"/>
              </a:endParaRPr>
            </a:p>
          </p:txBody>
        </p:sp>
        <p:sp>
          <p:nvSpPr>
            <p:cNvPr id="58414" name="Rectangle 40"/>
            <p:cNvSpPr/>
            <p:nvPr/>
          </p:nvSpPr>
          <p:spPr>
            <a:xfrm>
              <a:off x="1120" y="2685"/>
              <a:ext cx="912" cy="284"/>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1    0    1</a:t>
              </a:r>
              <a:endParaRPr lang="en-US" altLang="zh-CN" sz="2400" b="1" dirty="0">
                <a:latin typeface="Times New Roman" panose="02020603050405020304" pitchFamily="18" charset="0"/>
              </a:endParaRPr>
            </a:p>
          </p:txBody>
        </p:sp>
        <p:sp>
          <p:nvSpPr>
            <p:cNvPr id="58415" name="Rectangle 41"/>
            <p:cNvSpPr/>
            <p:nvPr/>
          </p:nvSpPr>
          <p:spPr>
            <a:xfrm>
              <a:off x="3472" y="2357"/>
              <a:ext cx="1488" cy="328"/>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2400" b="1" dirty="0">
                <a:latin typeface="Times New Roman" panose="02020603050405020304" pitchFamily="18" charset="0"/>
              </a:endParaRPr>
            </a:p>
          </p:txBody>
        </p:sp>
        <p:sp>
          <p:nvSpPr>
            <p:cNvPr id="58416" name="Rectangle 42"/>
            <p:cNvSpPr/>
            <p:nvPr/>
          </p:nvSpPr>
          <p:spPr>
            <a:xfrm>
              <a:off x="2656" y="2357"/>
              <a:ext cx="816" cy="328"/>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2400" b="1" dirty="0">
                <a:latin typeface="Times New Roman" panose="02020603050405020304" pitchFamily="18" charset="0"/>
              </a:endParaRPr>
            </a:p>
          </p:txBody>
        </p:sp>
        <p:sp>
          <p:nvSpPr>
            <p:cNvPr id="58417" name="Rectangle 43"/>
            <p:cNvSpPr/>
            <p:nvPr/>
          </p:nvSpPr>
          <p:spPr>
            <a:xfrm>
              <a:off x="2032" y="2357"/>
              <a:ext cx="624" cy="328"/>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2400" b="1" dirty="0">
                <a:latin typeface="Times New Roman" panose="02020603050405020304" pitchFamily="18" charset="0"/>
              </a:endParaRPr>
            </a:p>
          </p:txBody>
        </p:sp>
        <p:sp>
          <p:nvSpPr>
            <p:cNvPr id="58418" name="Rectangle 44"/>
            <p:cNvSpPr/>
            <p:nvPr/>
          </p:nvSpPr>
          <p:spPr>
            <a:xfrm>
              <a:off x="1120" y="2357"/>
              <a:ext cx="912" cy="328"/>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1    0    0</a:t>
              </a:r>
              <a:endParaRPr lang="en-US" altLang="zh-CN" sz="2400" b="1" dirty="0">
                <a:latin typeface="Times New Roman" panose="02020603050405020304" pitchFamily="18" charset="0"/>
              </a:endParaRPr>
            </a:p>
          </p:txBody>
        </p:sp>
        <p:sp>
          <p:nvSpPr>
            <p:cNvPr id="58419" name="Rectangle 45"/>
            <p:cNvSpPr/>
            <p:nvPr/>
          </p:nvSpPr>
          <p:spPr>
            <a:xfrm>
              <a:off x="3472" y="2073"/>
              <a:ext cx="1488" cy="284"/>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2400" b="1" dirty="0">
                <a:latin typeface="Times New Roman" panose="02020603050405020304" pitchFamily="18" charset="0"/>
              </a:endParaRPr>
            </a:p>
          </p:txBody>
        </p:sp>
        <p:sp>
          <p:nvSpPr>
            <p:cNvPr id="58420" name="Rectangle 46"/>
            <p:cNvSpPr/>
            <p:nvPr/>
          </p:nvSpPr>
          <p:spPr>
            <a:xfrm>
              <a:off x="2656" y="2073"/>
              <a:ext cx="816" cy="284"/>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2400" b="1" dirty="0">
                <a:latin typeface="Times New Roman" panose="02020603050405020304" pitchFamily="18" charset="0"/>
              </a:endParaRPr>
            </a:p>
          </p:txBody>
        </p:sp>
        <p:sp>
          <p:nvSpPr>
            <p:cNvPr id="58421" name="Rectangle 47"/>
            <p:cNvSpPr/>
            <p:nvPr/>
          </p:nvSpPr>
          <p:spPr>
            <a:xfrm>
              <a:off x="2032" y="2073"/>
              <a:ext cx="624" cy="284"/>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2400" b="1" dirty="0">
                <a:latin typeface="Times New Roman" panose="02020603050405020304" pitchFamily="18" charset="0"/>
              </a:endParaRPr>
            </a:p>
          </p:txBody>
        </p:sp>
        <p:sp>
          <p:nvSpPr>
            <p:cNvPr id="58422" name="Rectangle 48"/>
            <p:cNvSpPr/>
            <p:nvPr/>
          </p:nvSpPr>
          <p:spPr>
            <a:xfrm>
              <a:off x="1120" y="2073"/>
              <a:ext cx="912" cy="284"/>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0    1    1</a:t>
              </a:r>
              <a:endParaRPr lang="en-US" altLang="zh-CN" sz="2400" b="1" dirty="0">
                <a:latin typeface="Times New Roman" panose="02020603050405020304" pitchFamily="18" charset="0"/>
              </a:endParaRPr>
            </a:p>
          </p:txBody>
        </p:sp>
        <p:sp>
          <p:nvSpPr>
            <p:cNvPr id="58423" name="Rectangle 49"/>
            <p:cNvSpPr/>
            <p:nvPr/>
          </p:nvSpPr>
          <p:spPr>
            <a:xfrm>
              <a:off x="3472" y="1788"/>
              <a:ext cx="1488" cy="285"/>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2400" b="1" dirty="0">
                <a:latin typeface="Times New Roman" panose="02020603050405020304" pitchFamily="18" charset="0"/>
              </a:endParaRPr>
            </a:p>
          </p:txBody>
        </p:sp>
        <p:sp>
          <p:nvSpPr>
            <p:cNvPr id="58424" name="Rectangle 50"/>
            <p:cNvSpPr/>
            <p:nvPr/>
          </p:nvSpPr>
          <p:spPr>
            <a:xfrm>
              <a:off x="2656" y="1788"/>
              <a:ext cx="816" cy="285"/>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2400" b="1" dirty="0">
                <a:latin typeface="Times New Roman" panose="02020603050405020304" pitchFamily="18" charset="0"/>
              </a:endParaRPr>
            </a:p>
          </p:txBody>
        </p:sp>
        <p:sp>
          <p:nvSpPr>
            <p:cNvPr id="58425" name="Rectangle 51"/>
            <p:cNvSpPr/>
            <p:nvPr/>
          </p:nvSpPr>
          <p:spPr>
            <a:xfrm>
              <a:off x="2032" y="1788"/>
              <a:ext cx="624" cy="285"/>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2400" b="1" dirty="0">
                <a:latin typeface="Times New Roman" panose="02020603050405020304" pitchFamily="18" charset="0"/>
              </a:endParaRPr>
            </a:p>
          </p:txBody>
        </p:sp>
        <p:sp>
          <p:nvSpPr>
            <p:cNvPr id="58426" name="Rectangle 52"/>
            <p:cNvSpPr/>
            <p:nvPr/>
          </p:nvSpPr>
          <p:spPr>
            <a:xfrm>
              <a:off x="1120" y="1788"/>
              <a:ext cx="912" cy="285"/>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0    1    0</a:t>
              </a:r>
              <a:endParaRPr lang="en-US" altLang="zh-CN" sz="2400" b="1" dirty="0">
                <a:latin typeface="Times New Roman" panose="02020603050405020304" pitchFamily="18" charset="0"/>
              </a:endParaRPr>
            </a:p>
          </p:txBody>
        </p:sp>
        <p:sp>
          <p:nvSpPr>
            <p:cNvPr id="58427" name="Rectangle 53"/>
            <p:cNvSpPr/>
            <p:nvPr/>
          </p:nvSpPr>
          <p:spPr>
            <a:xfrm>
              <a:off x="3472" y="1504"/>
              <a:ext cx="1488" cy="284"/>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2400" b="1" dirty="0">
                <a:latin typeface="Times New Roman" panose="02020603050405020304" pitchFamily="18" charset="0"/>
              </a:endParaRPr>
            </a:p>
          </p:txBody>
        </p:sp>
        <p:sp>
          <p:nvSpPr>
            <p:cNvPr id="58428" name="Rectangle 54"/>
            <p:cNvSpPr/>
            <p:nvPr/>
          </p:nvSpPr>
          <p:spPr>
            <a:xfrm>
              <a:off x="2656" y="1504"/>
              <a:ext cx="816" cy="284"/>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2400" b="1" dirty="0">
                <a:latin typeface="Times New Roman" panose="02020603050405020304" pitchFamily="18" charset="0"/>
              </a:endParaRPr>
            </a:p>
          </p:txBody>
        </p:sp>
        <p:sp>
          <p:nvSpPr>
            <p:cNvPr id="58429" name="Rectangle 55"/>
            <p:cNvSpPr/>
            <p:nvPr/>
          </p:nvSpPr>
          <p:spPr>
            <a:xfrm>
              <a:off x="2032" y="1504"/>
              <a:ext cx="624" cy="284"/>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2400" b="1" dirty="0">
                <a:latin typeface="Times New Roman" panose="02020603050405020304" pitchFamily="18" charset="0"/>
              </a:endParaRPr>
            </a:p>
          </p:txBody>
        </p:sp>
        <p:sp>
          <p:nvSpPr>
            <p:cNvPr id="58430" name="Rectangle 56"/>
            <p:cNvSpPr/>
            <p:nvPr/>
          </p:nvSpPr>
          <p:spPr>
            <a:xfrm>
              <a:off x="1120" y="1504"/>
              <a:ext cx="912" cy="284"/>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0    0    1</a:t>
              </a:r>
              <a:endParaRPr lang="en-US" altLang="zh-CN" sz="2400" b="1" dirty="0">
                <a:latin typeface="Times New Roman" panose="02020603050405020304" pitchFamily="18" charset="0"/>
              </a:endParaRPr>
            </a:p>
          </p:txBody>
        </p:sp>
        <p:sp>
          <p:nvSpPr>
            <p:cNvPr id="58431" name="Rectangle 57"/>
            <p:cNvSpPr/>
            <p:nvPr/>
          </p:nvSpPr>
          <p:spPr>
            <a:xfrm>
              <a:off x="3472" y="1226"/>
              <a:ext cx="1488" cy="278"/>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2400" b="1" dirty="0">
                <a:latin typeface="Times New Roman" panose="02020603050405020304" pitchFamily="18" charset="0"/>
              </a:endParaRPr>
            </a:p>
          </p:txBody>
        </p:sp>
        <p:sp>
          <p:nvSpPr>
            <p:cNvPr id="58432" name="Rectangle 58"/>
            <p:cNvSpPr/>
            <p:nvPr/>
          </p:nvSpPr>
          <p:spPr>
            <a:xfrm>
              <a:off x="2656" y="1226"/>
              <a:ext cx="816" cy="278"/>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2400" b="1" dirty="0">
                <a:latin typeface="Times New Roman" panose="02020603050405020304" pitchFamily="18" charset="0"/>
              </a:endParaRPr>
            </a:p>
          </p:txBody>
        </p:sp>
        <p:sp>
          <p:nvSpPr>
            <p:cNvPr id="58433" name="Rectangle 59"/>
            <p:cNvSpPr/>
            <p:nvPr/>
          </p:nvSpPr>
          <p:spPr>
            <a:xfrm>
              <a:off x="2032" y="1226"/>
              <a:ext cx="624" cy="278"/>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2400" b="1" dirty="0">
                <a:latin typeface="Times New Roman" panose="02020603050405020304" pitchFamily="18" charset="0"/>
              </a:endParaRPr>
            </a:p>
          </p:txBody>
        </p:sp>
        <p:sp>
          <p:nvSpPr>
            <p:cNvPr id="58434" name="Rectangle 60"/>
            <p:cNvSpPr/>
            <p:nvPr/>
          </p:nvSpPr>
          <p:spPr>
            <a:xfrm>
              <a:off x="1120" y="1226"/>
              <a:ext cx="912" cy="278"/>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0    0    0</a:t>
              </a:r>
              <a:endParaRPr lang="en-US" altLang="zh-CN" sz="2400" b="1" dirty="0">
                <a:latin typeface="Times New Roman" panose="02020603050405020304" pitchFamily="18" charset="0"/>
              </a:endParaRPr>
            </a:p>
          </p:txBody>
        </p:sp>
        <p:sp>
          <p:nvSpPr>
            <p:cNvPr id="58435" name="Rectangle 61"/>
            <p:cNvSpPr/>
            <p:nvPr/>
          </p:nvSpPr>
          <p:spPr>
            <a:xfrm>
              <a:off x="3472" y="720"/>
              <a:ext cx="1488" cy="506"/>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en-US" altLang="zh-CN" sz="2400" b="1" dirty="0">
                <a:latin typeface="Times New Roman" panose="02020603050405020304" pitchFamily="18" charset="0"/>
              </a:endParaRPr>
            </a:p>
            <a:p>
              <a:pPr marL="0" lvl="0" indent="0" algn="ctr" eaLnBrk="1" hangingPunct="1">
                <a:spcBef>
                  <a:spcPct val="0"/>
                </a:spcBef>
                <a:buNone/>
              </a:pPr>
              <a:endParaRPr lang="en-US" altLang="zh-CN" sz="2400" b="1" dirty="0">
                <a:latin typeface="Times New Roman" panose="02020603050405020304" pitchFamily="18" charset="0"/>
              </a:endParaRPr>
            </a:p>
          </p:txBody>
        </p:sp>
        <p:sp>
          <p:nvSpPr>
            <p:cNvPr id="58436" name="Rectangle 62"/>
            <p:cNvSpPr/>
            <p:nvPr/>
          </p:nvSpPr>
          <p:spPr>
            <a:xfrm>
              <a:off x="2656" y="720"/>
              <a:ext cx="816" cy="506"/>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2400" b="1" dirty="0">
                <a:latin typeface="Times New Roman" panose="02020603050405020304" pitchFamily="18" charset="0"/>
              </a:endParaRPr>
            </a:p>
          </p:txBody>
        </p:sp>
        <p:sp>
          <p:nvSpPr>
            <p:cNvPr id="58437" name="Rectangle 63"/>
            <p:cNvSpPr/>
            <p:nvPr/>
          </p:nvSpPr>
          <p:spPr>
            <a:xfrm>
              <a:off x="2032" y="720"/>
              <a:ext cx="624" cy="506"/>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lnSpc>
                  <a:spcPct val="150000"/>
                </a:lnSpc>
                <a:spcBef>
                  <a:spcPct val="0"/>
                </a:spcBef>
                <a:buNone/>
              </a:pPr>
              <a:r>
                <a:rPr lang="zh-CN" altLang="en-US" sz="2400" b="1" dirty="0">
                  <a:latin typeface="Times New Roman" panose="02020603050405020304" pitchFamily="18" charset="0"/>
                </a:rPr>
                <a:t>最小项</a:t>
              </a:r>
              <a:endParaRPr lang="zh-CN" altLang="en-US" sz="2400" b="1" dirty="0">
                <a:latin typeface="Times New Roman" panose="02020603050405020304" pitchFamily="18" charset="0"/>
              </a:endParaRPr>
            </a:p>
          </p:txBody>
        </p:sp>
        <p:sp>
          <p:nvSpPr>
            <p:cNvPr id="58438" name="Rectangle 64"/>
            <p:cNvSpPr/>
            <p:nvPr/>
          </p:nvSpPr>
          <p:spPr>
            <a:xfrm>
              <a:off x="1120" y="720"/>
              <a:ext cx="912" cy="506"/>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lnSpc>
                  <a:spcPct val="150000"/>
                </a:lnSpc>
                <a:spcBef>
                  <a:spcPct val="0"/>
                </a:spcBef>
                <a:buNone/>
              </a:pPr>
              <a:r>
                <a:rPr lang="en-US" altLang="zh-CN" sz="2400" b="1" i="1" dirty="0">
                  <a:latin typeface="Times New Roman" panose="02020603050405020304" pitchFamily="18" charset="0"/>
                </a:rPr>
                <a:t>A   B   C</a:t>
              </a:r>
              <a:endParaRPr lang="en-US" altLang="zh-CN" sz="2400" b="1" i="1" dirty="0">
                <a:latin typeface="Times New Roman" panose="02020603050405020304" pitchFamily="18" charset="0"/>
              </a:endParaRPr>
            </a:p>
          </p:txBody>
        </p:sp>
        <p:sp>
          <p:nvSpPr>
            <p:cNvPr id="58439" name="Line 65"/>
            <p:cNvSpPr/>
            <p:nvPr/>
          </p:nvSpPr>
          <p:spPr>
            <a:xfrm>
              <a:off x="1120" y="720"/>
              <a:ext cx="3840" cy="0"/>
            </a:xfrm>
            <a:prstGeom prst="line">
              <a:avLst/>
            </a:prstGeom>
            <a:ln w="28575" cap="sq" cmpd="sng">
              <a:solidFill>
                <a:schemeClr val="tx1"/>
              </a:solidFill>
              <a:prstDash val="solid"/>
              <a:headEnd type="none" w="med" len="med"/>
              <a:tailEnd type="none" w="med" len="med"/>
            </a:ln>
          </p:spPr>
        </p:sp>
        <p:sp>
          <p:nvSpPr>
            <p:cNvPr id="58440" name="Line 66"/>
            <p:cNvSpPr/>
            <p:nvPr/>
          </p:nvSpPr>
          <p:spPr>
            <a:xfrm>
              <a:off x="1120" y="1226"/>
              <a:ext cx="3840" cy="0"/>
            </a:xfrm>
            <a:prstGeom prst="line">
              <a:avLst/>
            </a:prstGeom>
            <a:ln w="12700" cap="flat" cmpd="sng">
              <a:solidFill>
                <a:schemeClr val="tx1"/>
              </a:solidFill>
              <a:prstDash val="solid"/>
              <a:headEnd type="none" w="med" len="med"/>
              <a:tailEnd type="none" w="med" len="med"/>
            </a:ln>
          </p:spPr>
        </p:sp>
        <p:sp>
          <p:nvSpPr>
            <p:cNvPr id="58441" name="Line 67"/>
            <p:cNvSpPr/>
            <p:nvPr/>
          </p:nvSpPr>
          <p:spPr>
            <a:xfrm>
              <a:off x="1120" y="1504"/>
              <a:ext cx="3840" cy="0"/>
            </a:xfrm>
            <a:prstGeom prst="line">
              <a:avLst/>
            </a:prstGeom>
            <a:ln w="12700" cap="flat" cmpd="sng">
              <a:solidFill>
                <a:schemeClr val="tx1"/>
              </a:solidFill>
              <a:prstDash val="solid"/>
              <a:headEnd type="none" w="med" len="med"/>
              <a:tailEnd type="none" w="med" len="med"/>
            </a:ln>
          </p:spPr>
        </p:sp>
        <p:sp>
          <p:nvSpPr>
            <p:cNvPr id="58442" name="Line 68"/>
            <p:cNvSpPr/>
            <p:nvPr/>
          </p:nvSpPr>
          <p:spPr>
            <a:xfrm>
              <a:off x="1120" y="1788"/>
              <a:ext cx="3840" cy="0"/>
            </a:xfrm>
            <a:prstGeom prst="line">
              <a:avLst/>
            </a:prstGeom>
            <a:ln w="12700" cap="flat" cmpd="sng">
              <a:solidFill>
                <a:schemeClr val="tx1"/>
              </a:solidFill>
              <a:prstDash val="solid"/>
              <a:headEnd type="none" w="med" len="med"/>
              <a:tailEnd type="none" w="med" len="med"/>
            </a:ln>
          </p:spPr>
        </p:sp>
        <p:sp>
          <p:nvSpPr>
            <p:cNvPr id="58443" name="Line 69"/>
            <p:cNvSpPr/>
            <p:nvPr/>
          </p:nvSpPr>
          <p:spPr>
            <a:xfrm>
              <a:off x="1120" y="2073"/>
              <a:ext cx="3840" cy="0"/>
            </a:xfrm>
            <a:prstGeom prst="line">
              <a:avLst/>
            </a:prstGeom>
            <a:ln w="12700" cap="flat" cmpd="sng">
              <a:solidFill>
                <a:schemeClr val="tx1"/>
              </a:solidFill>
              <a:prstDash val="solid"/>
              <a:headEnd type="none" w="med" len="med"/>
              <a:tailEnd type="none" w="med" len="med"/>
            </a:ln>
          </p:spPr>
        </p:sp>
        <p:sp>
          <p:nvSpPr>
            <p:cNvPr id="58444" name="Line 70"/>
            <p:cNvSpPr/>
            <p:nvPr/>
          </p:nvSpPr>
          <p:spPr>
            <a:xfrm>
              <a:off x="1120" y="2357"/>
              <a:ext cx="3840" cy="0"/>
            </a:xfrm>
            <a:prstGeom prst="line">
              <a:avLst/>
            </a:prstGeom>
            <a:ln w="12700" cap="flat" cmpd="sng">
              <a:solidFill>
                <a:schemeClr val="tx1"/>
              </a:solidFill>
              <a:prstDash val="solid"/>
              <a:headEnd type="none" w="med" len="med"/>
              <a:tailEnd type="none" w="med" len="med"/>
            </a:ln>
          </p:spPr>
        </p:sp>
        <p:sp>
          <p:nvSpPr>
            <p:cNvPr id="58445" name="Line 71"/>
            <p:cNvSpPr/>
            <p:nvPr/>
          </p:nvSpPr>
          <p:spPr>
            <a:xfrm>
              <a:off x="1120" y="2685"/>
              <a:ext cx="3840" cy="0"/>
            </a:xfrm>
            <a:prstGeom prst="line">
              <a:avLst/>
            </a:prstGeom>
            <a:ln w="12700" cap="flat" cmpd="sng">
              <a:solidFill>
                <a:schemeClr val="tx1"/>
              </a:solidFill>
              <a:prstDash val="solid"/>
              <a:headEnd type="none" w="med" len="med"/>
              <a:tailEnd type="none" w="med" len="med"/>
            </a:ln>
          </p:spPr>
        </p:sp>
        <p:sp>
          <p:nvSpPr>
            <p:cNvPr id="58446" name="Line 72"/>
            <p:cNvSpPr/>
            <p:nvPr/>
          </p:nvSpPr>
          <p:spPr>
            <a:xfrm>
              <a:off x="1120" y="2969"/>
              <a:ext cx="3840" cy="0"/>
            </a:xfrm>
            <a:prstGeom prst="line">
              <a:avLst/>
            </a:prstGeom>
            <a:ln w="12700" cap="flat" cmpd="sng">
              <a:solidFill>
                <a:schemeClr val="tx1"/>
              </a:solidFill>
              <a:prstDash val="solid"/>
              <a:headEnd type="none" w="med" len="med"/>
              <a:tailEnd type="none" w="med" len="med"/>
            </a:ln>
          </p:spPr>
        </p:sp>
        <p:sp>
          <p:nvSpPr>
            <p:cNvPr id="58447" name="Line 73"/>
            <p:cNvSpPr/>
            <p:nvPr/>
          </p:nvSpPr>
          <p:spPr>
            <a:xfrm>
              <a:off x="1120" y="3254"/>
              <a:ext cx="3840" cy="0"/>
            </a:xfrm>
            <a:prstGeom prst="line">
              <a:avLst/>
            </a:prstGeom>
            <a:ln w="12700" cap="flat" cmpd="sng">
              <a:solidFill>
                <a:schemeClr val="tx1"/>
              </a:solidFill>
              <a:prstDash val="solid"/>
              <a:headEnd type="none" w="med" len="med"/>
              <a:tailEnd type="none" w="med" len="med"/>
            </a:ln>
          </p:spPr>
        </p:sp>
        <p:sp>
          <p:nvSpPr>
            <p:cNvPr id="58448" name="Line 74"/>
            <p:cNvSpPr/>
            <p:nvPr/>
          </p:nvSpPr>
          <p:spPr>
            <a:xfrm>
              <a:off x="1120" y="3484"/>
              <a:ext cx="3840" cy="0"/>
            </a:xfrm>
            <a:prstGeom prst="line">
              <a:avLst/>
            </a:prstGeom>
            <a:ln w="28575" cap="sq" cmpd="sng">
              <a:solidFill>
                <a:schemeClr val="tx1"/>
              </a:solidFill>
              <a:prstDash val="solid"/>
              <a:headEnd type="none" w="med" len="med"/>
              <a:tailEnd type="none" w="med" len="med"/>
            </a:ln>
          </p:spPr>
        </p:sp>
        <p:sp>
          <p:nvSpPr>
            <p:cNvPr id="58449" name="Line 75"/>
            <p:cNvSpPr/>
            <p:nvPr/>
          </p:nvSpPr>
          <p:spPr>
            <a:xfrm>
              <a:off x="1120" y="720"/>
              <a:ext cx="0" cy="2764"/>
            </a:xfrm>
            <a:prstGeom prst="line">
              <a:avLst/>
            </a:prstGeom>
            <a:ln w="28575" cap="sq" cmpd="sng">
              <a:solidFill>
                <a:schemeClr val="tx1"/>
              </a:solidFill>
              <a:prstDash val="solid"/>
              <a:headEnd type="none" w="med" len="med"/>
              <a:tailEnd type="none" w="med" len="med"/>
            </a:ln>
          </p:spPr>
        </p:sp>
        <p:sp>
          <p:nvSpPr>
            <p:cNvPr id="58450" name="Line 76"/>
            <p:cNvSpPr/>
            <p:nvPr/>
          </p:nvSpPr>
          <p:spPr>
            <a:xfrm>
              <a:off x="2032" y="720"/>
              <a:ext cx="0" cy="2764"/>
            </a:xfrm>
            <a:prstGeom prst="line">
              <a:avLst/>
            </a:prstGeom>
            <a:ln w="12700" cap="flat" cmpd="sng">
              <a:solidFill>
                <a:schemeClr val="tx1"/>
              </a:solidFill>
              <a:prstDash val="solid"/>
              <a:headEnd type="none" w="med" len="med"/>
              <a:tailEnd type="none" w="med" len="med"/>
            </a:ln>
          </p:spPr>
        </p:sp>
        <p:sp>
          <p:nvSpPr>
            <p:cNvPr id="58451" name="Line 77"/>
            <p:cNvSpPr/>
            <p:nvPr/>
          </p:nvSpPr>
          <p:spPr>
            <a:xfrm>
              <a:off x="2656" y="720"/>
              <a:ext cx="0" cy="2764"/>
            </a:xfrm>
            <a:prstGeom prst="line">
              <a:avLst/>
            </a:prstGeom>
            <a:ln w="12700" cap="flat" cmpd="sng">
              <a:solidFill>
                <a:schemeClr val="tx1"/>
              </a:solidFill>
              <a:prstDash val="solid"/>
              <a:headEnd type="none" w="med" len="med"/>
              <a:tailEnd type="none" w="med" len="med"/>
            </a:ln>
          </p:spPr>
        </p:sp>
        <p:sp>
          <p:nvSpPr>
            <p:cNvPr id="58452" name="Line 78"/>
            <p:cNvSpPr/>
            <p:nvPr/>
          </p:nvSpPr>
          <p:spPr>
            <a:xfrm>
              <a:off x="3472" y="720"/>
              <a:ext cx="0" cy="2764"/>
            </a:xfrm>
            <a:prstGeom prst="line">
              <a:avLst/>
            </a:prstGeom>
            <a:ln w="12700" cap="flat" cmpd="sng">
              <a:solidFill>
                <a:schemeClr val="tx1"/>
              </a:solidFill>
              <a:prstDash val="solid"/>
              <a:headEnd type="none" w="med" len="med"/>
              <a:tailEnd type="none" w="med" len="med"/>
            </a:ln>
          </p:spPr>
        </p:sp>
        <p:sp>
          <p:nvSpPr>
            <p:cNvPr id="58453" name="Line 79"/>
            <p:cNvSpPr/>
            <p:nvPr/>
          </p:nvSpPr>
          <p:spPr>
            <a:xfrm>
              <a:off x="4960" y="720"/>
              <a:ext cx="0" cy="2764"/>
            </a:xfrm>
            <a:prstGeom prst="line">
              <a:avLst/>
            </a:prstGeom>
            <a:ln w="28575" cap="sq" cmpd="sng">
              <a:solidFill>
                <a:schemeClr val="tx1"/>
              </a:solidFill>
              <a:prstDash val="solid"/>
              <a:headEnd type="none" w="med" len="med"/>
              <a:tailEnd type="none" w="med" len="med"/>
            </a:ln>
          </p:spPr>
        </p:sp>
        <p:graphicFrame>
          <p:nvGraphicFramePr>
            <p:cNvPr id="58454" name="Object 80"/>
            <p:cNvGraphicFramePr>
              <a:graphicFrameLocks noChangeAspect="1"/>
            </p:cNvGraphicFramePr>
            <p:nvPr/>
          </p:nvGraphicFramePr>
          <p:xfrm>
            <a:off x="2128" y="1248"/>
            <a:ext cx="456" cy="208"/>
          </p:xfrm>
          <a:graphic>
            <a:graphicData uri="http://schemas.openxmlformats.org/presentationml/2006/ole">
              <mc:AlternateContent xmlns:mc="http://schemas.openxmlformats.org/markup-compatibility/2006">
                <mc:Choice xmlns:v="urn:schemas-microsoft-com:vml" Requires="v">
                  <p:oleObj spid="_x0000_s3223" name="" r:id="rId12" imgW="723900" imgH="330200" progId="Equation.3">
                    <p:embed/>
                  </p:oleObj>
                </mc:Choice>
                <mc:Fallback>
                  <p:oleObj name="" r:id="rId12" imgW="723900" imgH="330200" progId="Equation.3">
                    <p:embed/>
                    <p:pic>
                      <p:nvPicPr>
                        <p:cNvPr id="0" name="图片 3222"/>
                        <p:cNvPicPr/>
                        <p:nvPr/>
                      </p:nvPicPr>
                      <p:blipFill>
                        <a:blip r:embed="rId13"/>
                        <a:stretch>
                          <a:fillRect/>
                        </a:stretch>
                      </p:blipFill>
                      <p:spPr>
                        <a:xfrm>
                          <a:off x="2128" y="1248"/>
                          <a:ext cx="456" cy="208"/>
                        </a:xfrm>
                        <a:prstGeom prst="rect">
                          <a:avLst/>
                        </a:prstGeom>
                        <a:noFill/>
                        <a:ln w="38100">
                          <a:noFill/>
                          <a:miter/>
                        </a:ln>
                      </p:spPr>
                    </p:pic>
                  </p:oleObj>
                </mc:Fallback>
              </mc:AlternateContent>
            </a:graphicData>
          </a:graphic>
        </p:graphicFrame>
        <p:graphicFrame>
          <p:nvGraphicFramePr>
            <p:cNvPr id="58455" name="Object 81"/>
            <p:cNvGraphicFramePr>
              <a:graphicFrameLocks noChangeAspect="1"/>
            </p:cNvGraphicFramePr>
            <p:nvPr/>
          </p:nvGraphicFramePr>
          <p:xfrm>
            <a:off x="2128" y="1536"/>
            <a:ext cx="440" cy="208"/>
          </p:xfrm>
          <a:graphic>
            <a:graphicData uri="http://schemas.openxmlformats.org/presentationml/2006/ole">
              <mc:AlternateContent xmlns:mc="http://schemas.openxmlformats.org/markup-compatibility/2006">
                <mc:Choice xmlns:v="urn:schemas-microsoft-com:vml" Requires="v">
                  <p:oleObj spid="_x0000_s3225" name="" r:id="rId14" imgW="698500" imgH="330200" progId="Equation.3">
                    <p:embed/>
                  </p:oleObj>
                </mc:Choice>
                <mc:Fallback>
                  <p:oleObj name="" r:id="rId14" imgW="698500" imgH="330200" progId="Equation.3">
                    <p:embed/>
                    <p:pic>
                      <p:nvPicPr>
                        <p:cNvPr id="0" name="图片 3224"/>
                        <p:cNvPicPr/>
                        <p:nvPr/>
                      </p:nvPicPr>
                      <p:blipFill>
                        <a:blip r:embed="rId15"/>
                        <a:stretch>
                          <a:fillRect/>
                        </a:stretch>
                      </p:blipFill>
                      <p:spPr>
                        <a:xfrm>
                          <a:off x="2128" y="1536"/>
                          <a:ext cx="440" cy="208"/>
                        </a:xfrm>
                        <a:prstGeom prst="rect">
                          <a:avLst/>
                        </a:prstGeom>
                        <a:noFill/>
                        <a:ln w="38100">
                          <a:noFill/>
                          <a:miter/>
                        </a:ln>
                      </p:spPr>
                    </p:pic>
                  </p:oleObj>
                </mc:Fallback>
              </mc:AlternateContent>
            </a:graphicData>
          </a:graphic>
        </p:graphicFrame>
        <p:graphicFrame>
          <p:nvGraphicFramePr>
            <p:cNvPr id="58456" name="Object 82"/>
            <p:cNvGraphicFramePr>
              <a:graphicFrameLocks noChangeAspect="1"/>
            </p:cNvGraphicFramePr>
            <p:nvPr/>
          </p:nvGraphicFramePr>
          <p:xfrm>
            <a:off x="2128" y="1824"/>
            <a:ext cx="440" cy="208"/>
          </p:xfrm>
          <a:graphic>
            <a:graphicData uri="http://schemas.openxmlformats.org/presentationml/2006/ole">
              <mc:AlternateContent xmlns:mc="http://schemas.openxmlformats.org/markup-compatibility/2006">
                <mc:Choice xmlns:v="urn:schemas-microsoft-com:vml" Requires="v">
                  <p:oleObj spid="_x0000_s3222" name="" r:id="rId16" imgW="698500" imgH="330200" progId="Equation.3">
                    <p:embed/>
                  </p:oleObj>
                </mc:Choice>
                <mc:Fallback>
                  <p:oleObj name="" r:id="rId16" imgW="698500" imgH="330200" progId="Equation.3">
                    <p:embed/>
                    <p:pic>
                      <p:nvPicPr>
                        <p:cNvPr id="0" name="图片 3221"/>
                        <p:cNvPicPr/>
                        <p:nvPr/>
                      </p:nvPicPr>
                      <p:blipFill>
                        <a:blip r:embed="rId17"/>
                        <a:stretch>
                          <a:fillRect/>
                        </a:stretch>
                      </p:blipFill>
                      <p:spPr>
                        <a:xfrm>
                          <a:off x="2128" y="1824"/>
                          <a:ext cx="440" cy="208"/>
                        </a:xfrm>
                        <a:prstGeom prst="rect">
                          <a:avLst/>
                        </a:prstGeom>
                        <a:noFill/>
                        <a:ln w="38100">
                          <a:noFill/>
                          <a:miter/>
                        </a:ln>
                      </p:spPr>
                    </p:pic>
                  </p:oleObj>
                </mc:Fallback>
              </mc:AlternateContent>
            </a:graphicData>
          </a:graphic>
        </p:graphicFrame>
        <p:graphicFrame>
          <p:nvGraphicFramePr>
            <p:cNvPr id="58457" name="Object 83"/>
            <p:cNvGraphicFramePr>
              <a:graphicFrameLocks noChangeAspect="1"/>
            </p:cNvGraphicFramePr>
            <p:nvPr/>
          </p:nvGraphicFramePr>
          <p:xfrm>
            <a:off x="2128" y="2112"/>
            <a:ext cx="432" cy="208"/>
          </p:xfrm>
          <a:graphic>
            <a:graphicData uri="http://schemas.openxmlformats.org/presentationml/2006/ole">
              <mc:AlternateContent xmlns:mc="http://schemas.openxmlformats.org/markup-compatibility/2006">
                <mc:Choice xmlns:v="urn:schemas-microsoft-com:vml" Requires="v">
                  <p:oleObj spid="_x0000_s3226" name="" r:id="rId18" imgW="685800" imgH="330200" progId="Equation.3">
                    <p:embed/>
                  </p:oleObj>
                </mc:Choice>
                <mc:Fallback>
                  <p:oleObj name="" r:id="rId18" imgW="685800" imgH="330200" progId="Equation.3">
                    <p:embed/>
                    <p:pic>
                      <p:nvPicPr>
                        <p:cNvPr id="0" name="图片 3225"/>
                        <p:cNvPicPr/>
                        <p:nvPr/>
                      </p:nvPicPr>
                      <p:blipFill>
                        <a:blip r:embed="rId19"/>
                        <a:stretch>
                          <a:fillRect/>
                        </a:stretch>
                      </p:blipFill>
                      <p:spPr>
                        <a:xfrm>
                          <a:off x="2128" y="2112"/>
                          <a:ext cx="432" cy="208"/>
                        </a:xfrm>
                        <a:prstGeom prst="rect">
                          <a:avLst/>
                        </a:prstGeom>
                        <a:noFill/>
                        <a:ln w="38100">
                          <a:noFill/>
                          <a:miter/>
                        </a:ln>
                      </p:spPr>
                    </p:pic>
                  </p:oleObj>
                </mc:Fallback>
              </mc:AlternateContent>
            </a:graphicData>
          </a:graphic>
        </p:graphicFrame>
        <p:graphicFrame>
          <p:nvGraphicFramePr>
            <p:cNvPr id="58458" name="Object 84"/>
            <p:cNvGraphicFramePr>
              <a:graphicFrameLocks noChangeAspect="1"/>
            </p:cNvGraphicFramePr>
            <p:nvPr/>
          </p:nvGraphicFramePr>
          <p:xfrm>
            <a:off x="2128" y="2448"/>
            <a:ext cx="456" cy="208"/>
          </p:xfrm>
          <a:graphic>
            <a:graphicData uri="http://schemas.openxmlformats.org/presentationml/2006/ole">
              <mc:AlternateContent xmlns:mc="http://schemas.openxmlformats.org/markup-compatibility/2006">
                <mc:Choice xmlns:v="urn:schemas-microsoft-com:vml" Requires="v">
                  <p:oleObj spid="_x0000_s3224" name="" r:id="rId20" imgW="723900" imgH="330200" progId="Equation.3">
                    <p:embed/>
                  </p:oleObj>
                </mc:Choice>
                <mc:Fallback>
                  <p:oleObj name="" r:id="rId20" imgW="723900" imgH="330200" progId="Equation.3">
                    <p:embed/>
                    <p:pic>
                      <p:nvPicPr>
                        <p:cNvPr id="0" name="图片 3223"/>
                        <p:cNvPicPr/>
                        <p:nvPr/>
                      </p:nvPicPr>
                      <p:blipFill>
                        <a:blip r:embed="rId21"/>
                        <a:stretch>
                          <a:fillRect/>
                        </a:stretch>
                      </p:blipFill>
                      <p:spPr>
                        <a:xfrm>
                          <a:off x="2128" y="2448"/>
                          <a:ext cx="456" cy="208"/>
                        </a:xfrm>
                        <a:prstGeom prst="rect">
                          <a:avLst/>
                        </a:prstGeom>
                        <a:noFill/>
                        <a:ln w="38100">
                          <a:noFill/>
                          <a:miter/>
                        </a:ln>
                      </p:spPr>
                    </p:pic>
                  </p:oleObj>
                </mc:Fallback>
              </mc:AlternateContent>
            </a:graphicData>
          </a:graphic>
        </p:graphicFrame>
        <p:graphicFrame>
          <p:nvGraphicFramePr>
            <p:cNvPr id="58459" name="Object 85"/>
            <p:cNvGraphicFramePr>
              <a:graphicFrameLocks noChangeAspect="1"/>
            </p:cNvGraphicFramePr>
            <p:nvPr/>
          </p:nvGraphicFramePr>
          <p:xfrm>
            <a:off x="2128" y="2736"/>
            <a:ext cx="440" cy="208"/>
          </p:xfrm>
          <a:graphic>
            <a:graphicData uri="http://schemas.openxmlformats.org/presentationml/2006/ole">
              <mc:AlternateContent xmlns:mc="http://schemas.openxmlformats.org/markup-compatibility/2006">
                <mc:Choice xmlns:v="urn:schemas-microsoft-com:vml" Requires="v">
                  <p:oleObj spid="_x0000_s3227" name="" r:id="rId22" imgW="698500" imgH="330200" progId="Equation.3">
                    <p:embed/>
                  </p:oleObj>
                </mc:Choice>
                <mc:Fallback>
                  <p:oleObj name="" r:id="rId22" imgW="698500" imgH="330200" progId="Equation.3">
                    <p:embed/>
                    <p:pic>
                      <p:nvPicPr>
                        <p:cNvPr id="0" name="图片 3226"/>
                        <p:cNvPicPr/>
                        <p:nvPr/>
                      </p:nvPicPr>
                      <p:blipFill>
                        <a:blip r:embed="rId23"/>
                        <a:stretch>
                          <a:fillRect/>
                        </a:stretch>
                      </p:blipFill>
                      <p:spPr>
                        <a:xfrm>
                          <a:off x="2128" y="2736"/>
                          <a:ext cx="440" cy="208"/>
                        </a:xfrm>
                        <a:prstGeom prst="rect">
                          <a:avLst/>
                        </a:prstGeom>
                        <a:noFill/>
                        <a:ln w="38100">
                          <a:noFill/>
                          <a:miter/>
                        </a:ln>
                      </p:spPr>
                    </p:pic>
                  </p:oleObj>
                </mc:Fallback>
              </mc:AlternateContent>
            </a:graphicData>
          </a:graphic>
        </p:graphicFrame>
        <p:graphicFrame>
          <p:nvGraphicFramePr>
            <p:cNvPr id="58460" name="Object 86"/>
            <p:cNvGraphicFramePr>
              <a:graphicFrameLocks noChangeAspect="1"/>
            </p:cNvGraphicFramePr>
            <p:nvPr/>
          </p:nvGraphicFramePr>
          <p:xfrm>
            <a:off x="2128" y="3024"/>
            <a:ext cx="448" cy="208"/>
          </p:xfrm>
          <a:graphic>
            <a:graphicData uri="http://schemas.openxmlformats.org/presentationml/2006/ole">
              <mc:AlternateContent xmlns:mc="http://schemas.openxmlformats.org/markup-compatibility/2006">
                <mc:Choice xmlns:v="urn:schemas-microsoft-com:vml" Requires="v">
                  <p:oleObj spid="_x0000_s3228" name="" r:id="rId24" imgW="711200" imgH="330200" progId="Equation.3">
                    <p:embed/>
                  </p:oleObj>
                </mc:Choice>
                <mc:Fallback>
                  <p:oleObj name="" r:id="rId24" imgW="711200" imgH="330200" progId="Equation.3">
                    <p:embed/>
                    <p:pic>
                      <p:nvPicPr>
                        <p:cNvPr id="0" name="图片 3227"/>
                        <p:cNvPicPr/>
                        <p:nvPr/>
                      </p:nvPicPr>
                      <p:blipFill>
                        <a:blip r:embed="rId25"/>
                        <a:stretch>
                          <a:fillRect/>
                        </a:stretch>
                      </p:blipFill>
                      <p:spPr>
                        <a:xfrm>
                          <a:off x="2128" y="3024"/>
                          <a:ext cx="448" cy="208"/>
                        </a:xfrm>
                        <a:prstGeom prst="rect">
                          <a:avLst/>
                        </a:prstGeom>
                        <a:noFill/>
                        <a:ln w="38100">
                          <a:noFill/>
                          <a:miter/>
                        </a:ln>
                      </p:spPr>
                    </p:pic>
                  </p:oleObj>
                </mc:Fallback>
              </mc:AlternateContent>
            </a:graphicData>
          </a:graphic>
        </p:graphicFrame>
      </p:grpSp>
      <p:grpSp>
        <p:nvGrpSpPr>
          <p:cNvPr id="240727" name="Group 87"/>
          <p:cNvGrpSpPr/>
          <p:nvPr/>
        </p:nvGrpSpPr>
        <p:grpSpPr>
          <a:xfrm>
            <a:off x="4686300" y="1946275"/>
            <a:ext cx="1295400" cy="3584575"/>
            <a:chOff x="2880" y="1370"/>
            <a:chExt cx="816" cy="2258"/>
          </a:xfrm>
        </p:grpSpPr>
        <p:sp>
          <p:nvSpPr>
            <p:cNvPr id="58395" name="Rectangle 88"/>
            <p:cNvSpPr/>
            <p:nvPr/>
          </p:nvSpPr>
          <p:spPr>
            <a:xfrm>
              <a:off x="2880" y="3398"/>
              <a:ext cx="816" cy="230"/>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i="1" dirty="0">
                  <a:latin typeface="Times New Roman" panose="02020603050405020304" pitchFamily="18" charset="0"/>
                </a:rPr>
                <a:t>m</a:t>
              </a:r>
              <a:r>
                <a:rPr lang="en-US" altLang="zh-CN" sz="2400" b="1" baseline="-25000" dirty="0">
                  <a:latin typeface="Times New Roman" panose="02020603050405020304" pitchFamily="18" charset="0"/>
                </a:rPr>
                <a:t>7</a:t>
              </a:r>
              <a:endParaRPr lang="en-US" altLang="zh-CN" sz="2400" b="1" baseline="-25000" dirty="0">
                <a:latin typeface="Times New Roman" panose="02020603050405020304" pitchFamily="18" charset="0"/>
              </a:endParaRPr>
            </a:p>
          </p:txBody>
        </p:sp>
        <p:sp>
          <p:nvSpPr>
            <p:cNvPr id="58396" name="Rectangle 89"/>
            <p:cNvSpPr/>
            <p:nvPr/>
          </p:nvSpPr>
          <p:spPr>
            <a:xfrm>
              <a:off x="2880" y="3113"/>
              <a:ext cx="816" cy="285"/>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i="1" dirty="0">
                  <a:latin typeface="Times New Roman" panose="02020603050405020304" pitchFamily="18" charset="0"/>
                </a:rPr>
                <a:t>m</a:t>
              </a:r>
              <a:r>
                <a:rPr lang="en-US" altLang="zh-CN" sz="2400" b="1" baseline="-25000" dirty="0">
                  <a:latin typeface="Times New Roman" panose="02020603050405020304" pitchFamily="18" charset="0"/>
                </a:rPr>
                <a:t>6</a:t>
              </a:r>
              <a:endParaRPr lang="en-US" altLang="zh-CN" sz="2400" b="1" baseline="-25000" dirty="0">
                <a:latin typeface="Times New Roman" panose="02020603050405020304" pitchFamily="18" charset="0"/>
              </a:endParaRPr>
            </a:p>
          </p:txBody>
        </p:sp>
        <p:sp>
          <p:nvSpPr>
            <p:cNvPr id="58397" name="Rectangle 90"/>
            <p:cNvSpPr/>
            <p:nvPr/>
          </p:nvSpPr>
          <p:spPr>
            <a:xfrm>
              <a:off x="2880" y="2829"/>
              <a:ext cx="816" cy="284"/>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i="1" dirty="0">
                  <a:latin typeface="Times New Roman" panose="02020603050405020304" pitchFamily="18" charset="0"/>
                </a:rPr>
                <a:t>m</a:t>
              </a:r>
              <a:r>
                <a:rPr lang="en-US" altLang="zh-CN" sz="2400" b="1" baseline="-25000" dirty="0">
                  <a:latin typeface="Times New Roman" panose="02020603050405020304" pitchFamily="18" charset="0"/>
                </a:rPr>
                <a:t>5</a:t>
              </a:r>
              <a:endParaRPr lang="en-US" altLang="zh-CN" sz="2400" b="1" baseline="-25000" dirty="0">
                <a:latin typeface="Times New Roman" panose="02020603050405020304" pitchFamily="18" charset="0"/>
              </a:endParaRPr>
            </a:p>
          </p:txBody>
        </p:sp>
        <p:sp>
          <p:nvSpPr>
            <p:cNvPr id="58398" name="Rectangle 91"/>
            <p:cNvSpPr/>
            <p:nvPr/>
          </p:nvSpPr>
          <p:spPr>
            <a:xfrm>
              <a:off x="2880" y="2501"/>
              <a:ext cx="816" cy="328"/>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i="1" dirty="0">
                  <a:latin typeface="Times New Roman" panose="02020603050405020304" pitchFamily="18" charset="0"/>
                </a:rPr>
                <a:t>m</a:t>
              </a:r>
              <a:r>
                <a:rPr lang="en-US" altLang="zh-CN" sz="2400" b="1" baseline="-25000" dirty="0">
                  <a:latin typeface="Times New Roman" panose="02020603050405020304" pitchFamily="18" charset="0"/>
                </a:rPr>
                <a:t>4</a:t>
              </a:r>
              <a:endParaRPr lang="en-US" altLang="zh-CN" sz="2400" b="1" baseline="-25000" dirty="0">
                <a:latin typeface="Times New Roman" panose="02020603050405020304" pitchFamily="18" charset="0"/>
              </a:endParaRPr>
            </a:p>
          </p:txBody>
        </p:sp>
        <p:sp>
          <p:nvSpPr>
            <p:cNvPr id="58399" name="Rectangle 92"/>
            <p:cNvSpPr/>
            <p:nvPr/>
          </p:nvSpPr>
          <p:spPr>
            <a:xfrm>
              <a:off x="2880" y="2217"/>
              <a:ext cx="816" cy="284"/>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i="1" dirty="0">
                  <a:latin typeface="Times New Roman" panose="02020603050405020304" pitchFamily="18" charset="0"/>
                </a:rPr>
                <a:t>m</a:t>
              </a:r>
              <a:r>
                <a:rPr lang="en-US" altLang="zh-CN" sz="2400" b="1" baseline="-25000" dirty="0">
                  <a:latin typeface="Times New Roman" panose="02020603050405020304" pitchFamily="18" charset="0"/>
                </a:rPr>
                <a:t>3</a:t>
              </a:r>
              <a:endParaRPr lang="en-US" altLang="zh-CN" sz="2400" b="1" baseline="-25000" dirty="0">
                <a:latin typeface="Times New Roman" panose="02020603050405020304" pitchFamily="18" charset="0"/>
              </a:endParaRPr>
            </a:p>
          </p:txBody>
        </p:sp>
        <p:sp>
          <p:nvSpPr>
            <p:cNvPr id="58400" name="Rectangle 93"/>
            <p:cNvSpPr/>
            <p:nvPr/>
          </p:nvSpPr>
          <p:spPr>
            <a:xfrm>
              <a:off x="2880" y="1932"/>
              <a:ext cx="816" cy="285"/>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i="1" dirty="0">
                  <a:latin typeface="Times New Roman" panose="02020603050405020304" pitchFamily="18" charset="0"/>
                </a:rPr>
                <a:t>m</a:t>
              </a:r>
              <a:r>
                <a:rPr lang="en-US" altLang="zh-CN" sz="2400" b="1" baseline="-25000" dirty="0">
                  <a:latin typeface="Times New Roman" panose="02020603050405020304" pitchFamily="18" charset="0"/>
                </a:rPr>
                <a:t>2</a:t>
              </a:r>
              <a:endParaRPr lang="en-US" altLang="zh-CN" sz="2400" b="1" baseline="-25000" dirty="0">
                <a:latin typeface="Times New Roman" panose="02020603050405020304" pitchFamily="18" charset="0"/>
              </a:endParaRPr>
            </a:p>
          </p:txBody>
        </p:sp>
        <p:sp>
          <p:nvSpPr>
            <p:cNvPr id="58401" name="Rectangle 94"/>
            <p:cNvSpPr/>
            <p:nvPr/>
          </p:nvSpPr>
          <p:spPr>
            <a:xfrm>
              <a:off x="2880" y="1648"/>
              <a:ext cx="816" cy="284"/>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i="1" dirty="0">
                  <a:latin typeface="Times New Roman" panose="02020603050405020304" pitchFamily="18" charset="0"/>
                </a:rPr>
                <a:t>m</a:t>
              </a:r>
              <a:r>
                <a:rPr lang="en-US" altLang="zh-CN" sz="2400" b="1" baseline="-25000" dirty="0">
                  <a:latin typeface="Times New Roman" panose="02020603050405020304" pitchFamily="18" charset="0"/>
                </a:rPr>
                <a:t>1</a:t>
              </a:r>
              <a:endParaRPr lang="en-US" altLang="zh-CN" sz="2400" b="1" baseline="-25000" dirty="0">
                <a:latin typeface="Times New Roman" panose="02020603050405020304" pitchFamily="18" charset="0"/>
              </a:endParaRPr>
            </a:p>
          </p:txBody>
        </p:sp>
        <p:sp>
          <p:nvSpPr>
            <p:cNvPr id="58402" name="Rectangle 95"/>
            <p:cNvSpPr/>
            <p:nvPr/>
          </p:nvSpPr>
          <p:spPr>
            <a:xfrm>
              <a:off x="2880" y="1370"/>
              <a:ext cx="816" cy="278"/>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i="1" dirty="0">
                  <a:latin typeface="Times New Roman" panose="02020603050405020304" pitchFamily="18" charset="0"/>
                </a:rPr>
                <a:t>m</a:t>
              </a:r>
              <a:r>
                <a:rPr lang="en-US" altLang="zh-CN" sz="2400" b="1" baseline="-25000" dirty="0">
                  <a:latin typeface="Times New Roman" panose="02020603050405020304" pitchFamily="18" charset="0"/>
                </a:rPr>
                <a:t>0</a:t>
              </a:r>
              <a:endParaRPr lang="en-US" altLang="zh-CN" sz="2400" b="1" baseline="-25000" dirty="0">
                <a:latin typeface="Times New Roman" panose="02020603050405020304" pitchFamily="18" charset="0"/>
              </a:endParaRPr>
            </a:p>
          </p:txBody>
        </p:sp>
      </p:grpSp>
      <p:grpSp>
        <p:nvGrpSpPr>
          <p:cNvPr id="240736" name="Group 96"/>
          <p:cNvGrpSpPr/>
          <p:nvPr/>
        </p:nvGrpSpPr>
        <p:grpSpPr>
          <a:xfrm>
            <a:off x="5981700" y="1143000"/>
            <a:ext cx="2362200" cy="4387850"/>
            <a:chOff x="3696" y="864"/>
            <a:chExt cx="1488" cy="2764"/>
          </a:xfrm>
        </p:grpSpPr>
        <p:sp>
          <p:nvSpPr>
            <p:cNvPr id="58385" name="Rectangle 97"/>
            <p:cNvSpPr/>
            <p:nvPr/>
          </p:nvSpPr>
          <p:spPr>
            <a:xfrm>
              <a:off x="3811" y="864"/>
              <a:ext cx="1274" cy="51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zh-CN" altLang="en-US" sz="2400" b="1" dirty="0">
                  <a:latin typeface="Times New Roman" panose="02020603050405020304" pitchFamily="18" charset="0"/>
                </a:rPr>
                <a:t>输入组合对应</a:t>
              </a:r>
              <a:endParaRPr lang="zh-CN" altLang="en-US" sz="2400" b="1" dirty="0">
                <a:latin typeface="Times New Roman" panose="02020603050405020304" pitchFamily="18" charset="0"/>
              </a:endParaRPr>
            </a:p>
            <a:p>
              <a:pPr marL="0" lvl="0" indent="0" algn="ctr" eaLnBrk="1" hangingPunct="1">
                <a:spcBef>
                  <a:spcPct val="0"/>
                </a:spcBef>
                <a:buNone/>
              </a:pPr>
              <a:r>
                <a:rPr lang="zh-CN" altLang="en-US" sz="2400" b="1" dirty="0">
                  <a:latin typeface="Times New Roman" panose="02020603050405020304" pitchFamily="18" charset="0"/>
                </a:rPr>
                <a:t>的十进制数</a:t>
              </a:r>
              <a:endParaRPr lang="zh-CN" altLang="en-US" sz="2400" b="1" dirty="0">
                <a:latin typeface="Times New Roman" panose="02020603050405020304" pitchFamily="18" charset="0"/>
              </a:endParaRPr>
            </a:p>
          </p:txBody>
        </p:sp>
        <p:sp>
          <p:nvSpPr>
            <p:cNvPr id="58386" name="Rectangle 98"/>
            <p:cNvSpPr/>
            <p:nvPr/>
          </p:nvSpPr>
          <p:spPr>
            <a:xfrm>
              <a:off x="3696" y="3398"/>
              <a:ext cx="1488" cy="230"/>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7</a:t>
              </a:r>
              <a:endParaRPr lang="en-US" altLang="zh-CN" sz="2400" b="1" dirty="0">
                <a:latin typeface="Times New Roman" panose="02020603050405020304" pitchFamily="18" charset="0"/>
              </a:endParaRPr>
            </a:p>
          </p:txBody>
        </p:sp>
        <p:sp>
          <p:nvSpPr>
            <p:cNvPr id="58387" name="Rectangle 99"/>
            <p:cNvSpPr/>
            <p:nvPr/>
          </p:nvSpPr>
          <p:spPr>
            <a:xfrm>
              <a:off x="3696" y="3113"/>
              <a:ext cx="1488" cy="285"/>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6</a:t>
              </a:r>
              <a:endParaRPr lang="en-US" altLang="zh-CN" sz="2400" b="1" dirty="0">
                <a:latin typeface="Times New Roman" panose="02020603050405020304" pitchFamily="18" charset="0"/>
              </a:endParaRPr>
            </a:p>
          </p:txBody>
        </p:sp>
        <p:sp>
          <p:nvSpPr>
            <p:cNvPr id="58388" name="Rectangle 100"/>
            <p:cNvSpPr/>
            <p:nvPr/>
          </p:nvSpPr>
          <p:spPr>
            <a:xfrm>
              <a:off x="3696" y="2829"/>
              <a:ext cx="1488" cy="284"/>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5</a:t>
              </a:r>
              <a:endParaRPr lang="en-US" altLang="zh-CN" sz="2400" b="1" dirty="0">
                <a:latin typeface="Times New Roman" panose="02020603050405020304" pitchFamily="18" charset="0"/>
              </a:endParaRPr>
            </a:p>
          </p:txBody>
        </p:sp>
        <p:sp>
          <p:nvSpPr>
            <p:cNvPr id="58389" name="Rectangle 101"/>
            <p:cNvSpPr/>
            <p:nvPr/>
          </p:nvSpPr>
          <p:spPr>
            <a:xfrm>
              <a:off x="3696" y="2501"/>
              <a:ext cx="1488" cy="328"/>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4</a:t>
              </a:r>
              <a:endParaRPr lang="en-US" altLang="zh-CN" sz="2400" b="1" dirty="0">
                <a:latin typeface="Times New Roman" panose="02020603050405020304" pitchFamily="18" charset="0"/>
              </a:endParaRPr>
            </a:p>
          </p:txBody>
        </p:sp>
        <p:sp>
          <p:nvSpPr>
            <p:cNvPr id="58390" name="Rectangle 102"/>
            <p:cNvSpPr/>
            <p:nvPr/>
          </p:nvSpPr>
          <p:spPr>
            <a:xfrm>
              <a:off x="3696" y="2217"/>
              <a:ext cx="1488" cy="284"/>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3</a:t>
              </a:r>
              <a:endParaRPr lang="en-US" altLang="zh-CN" sz="2400" b="1" dirty="0">
                <a:latin typeface="Times New Roman" panose="02020603050405020304" pitchFamily="18" charset="0"/>
              </a:endParaRPr>
            </a:p>
          </p:txBody>
        </p:sp>
        <p:sp>
          <p:nvSpPr>
            <p:cNvPr id="58391" name="Rectangle 103"/>
            <p:cNvSpPr/>
            <p:nvPr/>
          </p:nvSpPr>
          <p:spPr>
            <a:xfrm>
              <a:off x="3696" y="1932"/>
              <a:ext cx="1488" cy="285"/>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2</a:t>
              </a:r>
              <a:endParaRPr lang="en-US" altLang="zh-CN" sz="2400" b="1" dirty="0">
                <a:latin typeface="Times New Roman" panose="02020603050405020304" pitchFamily="18" charset="0"/>
              </a:endParaRPr>
            </a:p>
          </p:txBody>
        </p:sp>
        <p:sp>
          <p:nvSpPr>
            <p:cNvPr id="58392" name="Rectangle 104"/>
            <p:cNvSpPr/>
            <p:nvPr/>
          </p:nvSpPr>
          <p:spPr>
            <a:xfrm>
              <a:off x="3696" y="1648"/>
              <a:ext cx="1488" cy="284"/>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1</a:t>
              </a:r>
              <a:endParaRPr lang="en-US" altLang="zh-CN" sz="2400" b="1" dirty="0">
                <a:latin typeface="Times New Roman" panose="02020603050405020304" pitchFamily="18" charset="0"/>
              </a:endParaRPr>
            </a:p>
          </p:txBody>
        </p:sp>
        <p:sp>
          <p:nvSpPr>
            <p:cNvPr id="58393" name="Rectangle 105"/>
            <p:cNvSpPr/>
            <p:nvPr/>
          </p:nvSpPr>
          <p:spPr>
            <a:xfrm>
              <a:off x="3696" y="864"/>
              <a:ext cx="1488" cy="506"/>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en-US" altLang="zh-CN" sz="2400" b="1" dirty="0">
                <a:latin typeface="Times New Roman" panose="02020603050405020304" pitchFamily="18" charset="0"/>
              </a:endParaRPr>
            </a:p>
            <a:p>
              <a:pPr marL="0" lvl="0" indent="0" algn="ctr" eaLnBrk="1" hangingPunct="1">
                <a:spcBef>
                  <a:spcPct val="0"/>
                </a:spcBef>
                <a:buNone/>
              </a:pPr>
              <a:endParaRPr lang="en-US" altLang="zh-CN" sz="2400" b="1" dirty="0">
                <a:latin typeface="Times New Roman" panose="02020603050405020304" pitchFamily="18" charset="0"/>
              </a:endParaRPr>
            </a:p>
          </p:txBody>
        </p:sp>
        <p:sp>
          <p:nvSpPr>
            <p:cNvPr id="58394" name="Rectangle 106"/>
            <p:cNvSpPr/>
            <p:nvPr/>
          </p:nvSpPr>
          <p:spPr>
            <a:xfrm>
              <a:off x="3696" y="1370"/>
              <a:ext cx="1488" cy="278"/>
            </a:xfrm>
            <a:prstGeom prst="rect">
              <a:avLst/>
            </a:prstGeom>
            <a:no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grpSp>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240644"/>
                                        </p:tgtEl>
                                        <p:attrNameLst>
                                          <p:attrName>style.visibility</p:attrName>
                                        </p:attrNameLst>
                                      </p:cBhvr>
                                      <p:to>
                                        <p:strVal val="visible"/>
                                      </p:to>
                                    </p:set>
                                  </p:childTnLst>
                                  <p:subTnLst>
                                    <p:set>
                                      <p:cBhvr override="childStyle">
                                        <p:cTn dur="1" fill="hold" display="0" masterRel="nextClick" afterEffect="1"/>
                                        <p:tgtEl>
                                          <p:spTgt spid="240644"/>
                                        </p:tgtEl>
                                        <p:attrNameLst>
                                          <p:attrName>style.visibility</p:attrName>
                                        </p:attrNameLst>
                                      </p:cBhvr>
                                      <p:to>
                                        <p:strVal val="hidden"/>
                                      </p:to>
                                    </p:set>
                                  </p:sub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240646"/>
                                        </p:tgtEl>
                                        <p:attrNameLst>
                                          <p:attrName>style.visibility</p:attrName>
                                        </p:attrNameLst>
                                      </p:cBhvr>
                                      <p:to>
                                        <p:strVal val="visible"/>
                                      </p:to>
                                    </p:set>
                                  </p:childTnLst>
                                  <p:subTnLst>
                                    <p:set>
                                      <p:cBhvr override="childStyle">
                                        <p:cTn dur="1" fill="hold" display="0" masterRel="nextClick" afterEffect="1"/>
                                        <p:tgtEl>
                                          <p:spTgt spid="240646"/>
                                        </p:tgtEl>
                                        <p:attrNameLst>
                                          <p:attrName>style.visibility</p:attrName>
                                        </p:attrNameLst>
                                      </p:cBhvr>
                                      <p:to>
                                        <p:strVal val="hidden"/>
                                      </p:to>
                                    </p:set>
                                  </p:subTnLst>
                                </p:cTn>
                              </p:par>
                            </p:childTnLst>
                          </p:cTn>
                        </p:par>
                        <p:par>
                          <p:cTn id="10" fill="hold">
                            <p:stCondLst>
                              <p:cond delay="1000"/>
                            </p:stCondLst>
                            <p:childTnLst>
                              <p:par>
                                <p:cTn id="11" presetID="2" presetClass="entr" presetSubtype="8" fill="hold" grpId="0" nodeType="afterEffect">
                                  <p:stCondLst>
                                    <p:cond delay="0"/>
                                  </p:stCondLst>
                                  <p:childTnLst>
                                    <p:set>
                                      <p:cBhvr>
                                        <p:cTn id="12" dur="1" fill="hold">
                                          <p:stCondLst>
                                            <p:cond delay="0"/>
                                          </p:stCondLst>
                                        </p:cTn>
                                        <p:tgtEl>
                                          <p:spTgt spid="240647"/>
                                        </p:tgtEl>
                                        <p:attrNameLst>
                                          <p:attrName>style.visibility</p:attrName>
                                        </p:attrNameLst>
                                      </p:cBhvr>
                                      <p:to>
                                        <p:strVal val="visible"/>
                                      </p:to>
                                    </p:set>
                                    <p:anim calcmode="lin" valueType="num">
                                      <p:cBhvr additive="base">
                                        <p:cTn id="13" dur="500" fill="hold"/>
                                        <p:tgtEl>
                                          <p:spTgt spid="240647"/>
                                        </p:tgtEl>
                                        <p:attrNameLst>
                                          <p:attrName>ppt_x</p:attrName>
                                        </p:attrNameLst>
                                      </p:cBhvr>
                                      <p:tavLst>
                                        <p:tav tm="0">
                                          <p:val>
                                            <p:strVal val="0-#ppt_w/2"/>
                                          </p:val>
                                        </p:tav>
                                        <p:tav tm="100000">
                                          <p:val>
                                            <p:strVal val="#ppt_x"/>
                                          </p:val>
                                        </p:tav>
                                      </p:tavLst>
                                    </p:anim>
                                    <p:anim calcmode="lin" valueType="num">
                                      <p:cBhvr additive="base">
                                        <p:cTn id="14" dur="500" fill="hold"/>
                                        <p:tgtEl>
                                          <p:spTgt spid="240647"/>
                                        </p:tgtEl>
                                        <p:attrNameLst>
                                          <p:attrName>ppt_y</p:attrName>
                                        </p:attrNameLst>
                                      </p:cBhvr>
                                      <p:tavLst>
                                        <p:tav tm="0">
                                          <p:val>
                                            <p:strVal val="#ppt_y"/>
                                          </p:val>
                                        </p:tav>
                                        <p:tav tm="100000">
                                          <p:val>
                                            <p:strVal val="#ppt_y"/>
                                          </p:val>
                                        </p:tav>
                                      </p:tavLst>
                                    </p:anim>
                                  </p:childTnLst>
                                </p:cTn>
                              </p:par>
                            </p:childTnLst>
                          </p:cTn>
                        </p:par>
                        <p:par>
                          <p:cTn id="15" fill="hold">
                            <p:stCondLst>
                              <p:cond delay="1500"/>
                            </p:stCondLst>
                            <p:childTnLst>
                              <p:par>
                                <p:cTn id="16" presetID="22" presetClass="entr" presetSubtype="1" fill="hold" nodeType="afterEffect">
                                  <p:stCondLst>
                                    <p:cond delay="0"/>
                                  </p:stCondLst>
                                  <p:childTnLst>
                                    <p:set>
                                      <p:cBhvr>
                                        <p:cTn id="17" dur="1" fill="hold">
                                          <p:stCondLst>
                                            <p:cond delay="0"/>
                                          </p:stCondLst>
                                        </p:cTn>
                                        <p:tgtEl>
                                          <p:spTgt spid="240668"/>
                                        </p:tgtEl>
                                        <p:attrNameLst>
                                          <p:attrName>style.visibility</p:attrName>
                                        </p:attrNameLst>
                                      </p:cBhvr>
                                      <p:to>
                                        <p:strVal val="visible"/>
                                      </p:to>
                                    </p:set>
                                    <p:animEffect transition="in" filter="wipe(up)">
                                      <p:cBhvr>
                                        <p:cTn id="18" dur="500"/>
                                        <p:tgtEl>
                                          <p:spTgt spid="240668"/>
                                        </p:tgtEl>
                                      </p:cBhvr>
                                    </p:animEffect>
                                  </p:childTnLst>
                                </p:cTn>
                              </p:par>
                            </p:childTnLst>
                          </p:cTn>
                        </p:par>
                        <p:par>
                          <p:cTn id="19" fill="hold">
                            <p:stCondLst>
                              <p:cond delay="2000"/>
                            </p:stCondLst>
                            <p:childTnLst>
                              <p:par>
                                <p:cTn id="20" presetID="2" presetClass="entr" presetSubtype="2" fill="hold" grpId="0" nodeType="afterEffect">
                                  <p:stCondLst>
                                    <p:cond delay="0"/>
                                  </p:stCondLst>
                                  <p:childTnLst>
                                    <p:set>
                                      <p:cBhvr>
                                        <p:cTn id="21" dur="1" fill="hold">
                                          <p:stCondLst>
                                            <p:cond delay="0"/>
                                          </p:stCondLst>
                                        </p:cTn>
                                        <p:tgtEl>
                                          <p:spTgt spid="240648"/>
                                        </p:tgtEl>
                                        <p:attrNameLst>
                                          <p:attrName>style.visibility</p:attrName>
                                        </p:attrNameLst>
                                      </p:cBhvr>
                                      <p:to>
                                        <p:strVal val="visible"/>
                                      </p:to>
                                    </p:set>
                                    <p:anim calcmode="lin" valueType="num">
                                      <p:cBhvr additive="base">
                                        <p:cTn id="22" dur="500" fill="hold"/>
                                        <p:tgtEl>
                                          <p:spTgt spid="240648"/>
                                        </p:tgtEl>
                                        <p:attrNameLst>
                                          <p:attrName>ppt_x</p:attrName>
                                        </p:attrNameLst>
                                      </p:cBhvr>
                                      <p:tavLst>
                                        <p:tav tm="0">
                                          <p:val>
                                            <p:strVal val="1+#ppt_w/2"/>
                                          </p:val>
                                        </p:tav>
                                        <p:tav tm="100000">
                                          <p:val>
                                            <p:strVal val="#ppt_x"/>
                                          </p:val>
                                        </p:tav>
                                      </p:tavLst>
                                    </p:anim>
                                    <p:anim calcmode="lin" valueType="num">
                                      <p:cBhvr additive="base">
                                        <p:cTn id="23" dur="500" fill="hold"/>
                                        <p:tgtEl>
                                          <p:spTgt spid="240648"/>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240648"/>
                                        </p:tgtEl>
                                        <p:attrNameLst>
                                          <p:attrName>style.visibility</p:attrName>
                                        </p:attrNameLst>
                                      </p:cBhvr>
                                      <p:to>
                                        <p:strVal val="hidden"/>
                                      </p:to>
                                    </p:set>
                                  </p:subTnLst>
                                </p:cTn>
                              </p:par>
                            </p:childTnLst>
                          </p:cTn>
                        </p:par>
                      </p:childTnLst>
                    </p:cTn>
                  </p:par>
                  <p:par>
                    <p:cTn id="24" fill="hold">
                      <p:stCondLst>
                        <p:cond delay="indefinite"/>
                      </p:stCondLst>
                      <p:childTnLst>
                        <p:par>
                          <p:cTn id="25" fill="hold">
                            <p:stCondLst>
                              <p:cond delay="0"/>
                            </p:stCondLst>
                            <p:childTnLst>
                              <p:par>
                                <p:cTn id="26" presetID="2" presetClass="entr" presetSubtype="2" fill="hold" grpId="0" nodeType="clickEffect">
                                  <p:stCondLst>
                                    <p:cond delay="0"/>
                                  </p:stCondLst>
                                  <p:childTnLst>
                                    <p:set>
                                      <p:cBhvr>
                                        <p:cTn id="27" dur="1" fill="hold">
                                          <p:stCondLst>
                                            <p:cond delay="0"/>
                                          </p:stCondLst>
                                        </p:cTn>
                                        <p:tgtEl>
                                          <p:spTgt spid="240645"/>
                                        </p:tgtEl>
                                        <p:attrNameLst>
                                          <p:attrName>style.visibility</p:attrName>
                                        </p:attrNameLst>
                                      </p:cBhvr>
                                      <p:to>
                                        <p:strVal val="visible"/>
                                      </p:to>
                                    </p:set>
                                    <p:anim calcmode="lin" valueType="num">
                                      <p:cBhvr additive="base">
                                        <p:cTn id="28" dur="500" fill="hold"/>
                                        <p:tgtEl>
                                          <p:spTgt spid="240645"/>
                                        </p:tgtEl>
                                        <p:attrNameLst>
                                          <p:attrName>ppt_x</p:attrName>
                                        </p:attrNameLst>
                                      </p:cBhvr>
                                      <p:tavLst>
                                        <p:tav tm="0">
                                          <p:val>
                                            <p:strVal val="1+#ppt_w/2"/>
                                          </p:val>
                                        </p:tav>
                                        <p:tav tm="100000">
                                          <p:val>
                                            <p:strVal val="#ppt_x"/>
                                          </p:val>
                                        </p:tav>
                                      </p:tavLst>
                                    </p:anim>
                                    <p:anim calcmode="lin" valueType="num">
                                      <p:cBhvr additive="base">
                                        <p:cTn id="29" dur="500" fill="hold"/>
                                        <p:tgtEl>
                                          <p:spTgt spid="240645"/>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240645"/>
                                        </p:tgtEl>
                                        <p:attrNameLst>
                                          <p:attrName>style.visibility</p:attrName>
                                        </p:attrNameLst>
                                      </p:cBhvr>
                                      <p:to>
                                        <p:strVal val="hidden"/>
                                      </p:to>
                                    </p:set>
                                  </p:sub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240649"/>
                                        </p:tgtEl>
                                        <p:attrNameLst>
                                          <p:attrName>style.visibility</p:attrName>
                                        </p:attrNameLst>
                                      </p:cBhvr>
                                      <p:to>
                                        <p:strVal val="visible"/>
                                      </p:to>
                                    </p:set>
                                    <p:animEffect transition="in" filter="wipe(up)">
                                      <p:cBhvr>
                                        <p:cTn id="34" dur="500"/>
                                        <p:tgtEl>
                                          <p:spTgt spid="24064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40650"/>
                                        </p:tgtEl>
                                        <p:attrNameLst>
                                          <p:attrName>style.visibility</p:attrName>
                                        </p:attrNameLst>
                                      </p:cBhvr>
                                      <p:to>
                                        <p:strVal val="visible"/>
                                      </p:to>
                                    </p:set>
                                    <p:animEffect transition="in" filter="wipe(left)">
                                      <p:cBhvr>
                                        <p:cTn id="39" dur="500"/>
                                        <p:tgtEl>
                                          <p:spTgt spid="240650"/>
                                        </p:tgtEl>
                                      </p:cBhvr>
                                    </p:animEffect>
                                  </p:childTnLst>
                                </p:cTn>
                              </p:par>
                            </p:childTnLst>
                          </p:cTn>
                        </p:par>
                        <p:par>
                          <p:cTn id="40" fill="hold">
                            <p:stCondLst>
                              <p:cond delay="500"/>
                            </p:stCondLst>
                            <p:childTnLst>
                              <p:par>
                                <p:cTn id="41" presetID="22" presetClass="entr" presetSubtype="1" fill="hold" nodeType="afterEffect">
                                  <p:stCondLst>
                                    <p:cond delay="0"/>
                                  </p:stCondLst>
                                  <p:childTnLst>
                                    <p:set>
                                      <p:cBhvr>
                                        <p:cTn id="42" dur="1" fill="hold">
                                          <p:stCondLst>
                                            <p:cond delay="0"/>
                                          </p:stCondLst>
                                        </p:cTn>
                                        <p:tgtEl>
                                          <p:spTgt spid="240727"/>
                                        </p:tgtEl>
                                        <p:attrNameLst>
                                          <p:attrName>style.visibility</p:attrName>
                                        </p:attrNameLst>
                                      </p:cBhvr>
                                      <p:to>
                                        <p:strVal val="visible"/>
                                      </p:to>
                                    </p:set>
                                    <p:animEffect transition="in" filter="wipe(up)">
                                      <p:cBhvr>
                                        <p:cTn id="43" dur="500"/>
                                        <p:tgtEl>
                                          <p:spTgt spid="240727"/>
                                        </p:tgtEl>
                                      </p:cBhvr>
                                    </p:animEffect>
                                  </p:childTnLst>
                                </p:cTn>
                              </p:par>
                            </p:childTnLst>
                          </p:cTn>
                        </p:par>
                      </p:childTnLst>
                    </p:cTn>
                  </p:par>
                  <p:par>
                    <p:cTn id="44" fill="hold">
                      <p:stCondLst>
                        <p:cond delay="indefinite"/>
                      </p:stCondLst>
                      <p:childTnLst>
                        <p:par>
                          <p:cTn id="45" fill="hold">
                            <p:stCondLst>
                              <p:cond delay="0"/>
                            </p:stCondLst>
                            <p:childTnLst>
                              <p:par>
                                <p:cTn id="46" presetID="15" presetClass="entr" presetSubtype="0" fill="hold" grpId="0" nodeType="clickEffect">
                                  <p:stCondLst>
                                    <p:cond delay="0"/>
                                  </p:stCondLst>
                                  <p:childTnLst>
                                    <p:set>
                                      <p:cBhvr>
                                        <p:cTn id="47" dur="1" fill="hold">
                                          <p:stCondLst>
                                            <p:cond delay="0"/>
                                          </p:stCondLst>
                                        </p:cTn>
                                        <p:tgtEl>
                                          <p:spTgt spid="240643"/>
                                        </p:tgtEl>
                                        <p:attrNameLst>
                                          <p:attrName>style.visibility</p:attrName>
                                        </p:attrNameLst>
                                      </p:cBhvr>
                                      <p:to>
                                        <p:strVal val="visible"/>
                                      </p:to>
                                    </p:set>
                                    <p:anim calcmode="lin" valueType="num">
                                      <p:cBhvr>
                                        <p:cTn id="48" dur="1000" fill="hold"/>
                                        <p:tgtEl>
                                          <p:spTgt spid="240643"/>
                                        </p:tgtEl>
                                        <p:attrNameLst>
                                          <p:attrName>ppt_w</p:attrName>
                                        </p:attrNameLst>
                                      </p:cBhvr>
                                      <p:tavLst>
                                        <p:tav tm="0">
                                          <p:val>
                                            <p:fltVal val="0.000000"/>
                                          </p:val>
                                        </p:tav>
                                        <p:tav tm="100000">
                                          <p:val>
                                            <p:strVal val="#ppt_w"/>
                                          </p:val>
                                        </p:tav>
                                      </p:tavLst>
                                    </p:anim>
                                    <p:anim calcmode="lin" valueType="num">
                                      <p:cBhvr>
                                        <p:cTn id="49" dur="1000" fill="hold"/>
                                        <p:tgtEl>
                                          <p:spTgt spid="240643"/>
                                        </p:tgtEl>
                                        <p:attrNameLst>
                                          <p:attrName>ppt_h</p:attrName>
                                        </p:attrNameLst>
                                      </p:cBhvr>
                                      <p:tavLst>
                                        <p:tav tm="0">
                                          <p:val>
                                            <p:fltVal val="0.000000"/>
                                          </p:val>
                                        </p:tav>
                                        <p:tav tm="100000">
                                          <p:val>
                                            <p:strVal val="#ppt_h"/>
                                          </p:val>
                                        </p:tav>
                                      </p:tavLst>
                                    </p:anim>
                                    <p:anim calcmode="lin" valueType="num">
                                      <p:cBhvr>
                                        <p:cTn id="50" dur="1000" fill="hold"/>
                                        <p:tgtEl>
                                          <p:spTgt spid="240643"/>
                                        </p:tgtEl>
                                        <p:attrNameLst>
                                          <p:attrName>ppt_x</p:attrName>
                                        </p:attrNameLst>
                                      </p:cBhvr>
                                      <p:tavLst>
                                        <p:tav tm="0" fmla="#ppt_x+(cos(-2*pi*(1-$))*-#ppt_x-sin(-2*pi*(1-$))*(1-#ppt_y))*(1-$)">
                                          <p:val>
                                            <p:fltVal val="0.000000"/>
                                          </p:val>
                                        </p:tav>
                                        <p:tav tm="100000">
                                          <p:val>
                                            <p:fltVal val="1.000000"/>
                                          </p:val>
                                        </p:tav>
                                      </p:tavLst>
                                    </p:anim>
                                    <p:anim calcmode="lin" valueType="num">
                                      <p:cBhvr>
                                        <p:cTn id="51" dur="1000" fill="hold"/>
                                        <p:tgtEl>
                                          <p:spTgt spid="240643"/>
                                        </p:tgtEl>
                                        <p:attrNameLst>
                                          <p:attrName>ppt_y</p:attrName>
                                        </p:attrNameLst>
                                      </p:cBhvr>
                                      <p:tavLst>
                                        <p:tav tm="0" fmla="#ppt_y+(sin(-2*pi*(1-$))*-#ppt_x+cos(-2*pi*(1-$))*(1-#ppt_y))*(1-$)">
                                          <p:val>
                                            <p:fltVal val="0.000000"/>
                                          </p:val>
                                        </p:tav>
                                        <p:tav tm="100000">
                                          <p:val>
                                            <p:fltVal val="1.000000"/>
                                          </p:val>
                                        </p:tav>
                                      </p:tavLst>
                                    </p:anim>
                                  </p:childTnLst>
                                  <p:subTnLst>
                                    <p:set>
                                      <p:cBhvr override="childStyle">
                                        <p:cTn dur="1" fill="hold" display="0" masterRel="nextClick" afterEffect="1"/>
                                        <p:tgtEl>
                                          <p:spTgt spid="240643"/>
                                        </p:tgtEl>
                                        <p:attrNameLst>
                                          <p:attrName>style.visibility</p:attrName>
                                        </p:attrNameLst>
                                      </p:cBhvr>
                                      <p:to>
                                        <p:strVal val="hidden"/>
                                      </p:to>
                                    </p:set>
                                  </p:subTnLst>
                                </p:cTn>
                              </p:par>
                            </p:childTnLst>
                          </p:cTn>
                        </p:par>
                      </p:childTnLst>
                    </p:cTn>
                  </p:par>
                  <p:par>
                    <p:cTn id="52" fill="hold">
                      <p:stCondLst>
                        <p:cond delay="indefinite"/>
                      </p:stCondLst>
                      <p:childTnLst>
                        <p:par>
                          <p:cTn id="53" fill="hold">
                            <p:stCondLst>
                              <p:cond delay="0"/>
                            </p:stCondLst>
                            <p:childTnLst>
                              <p:par>
                                <p:cTn id="54" presetID="22" presetClass="entr" presetSubtype="1" fill="hold" nodeType="clickEffect">
                                  <p:stCondLst>
                                    <p:cond delay="0"/>
                                  </p:stCondLst>
                                  <p:childTnLst>
                                    <p:set>
                                      <p:cBhvr>
                                        <p:cTn id="55" dur="1" fill="hold">
                                          <p:stCondLst>
                                            <p:cond delay="0"/>
                                          </p:stCondLst>
                                        </p:cTn>
                                        <p:tgtEl>
                                          <p:spTgt spid="240736"/>
                                        </p:tgtEl>
                                        <p:attrNameLst>
                                          <p:attrName>style.visibility</p:attrName>
                                        </p:attrNameLst>
                                      </p:cBhvr>
                                      <p:to>
                                        <p:strVal val="visible"/>
                                      </p:to>
                                    </p:set>
                                    <p:animEffect transition="in" filter="wipe(up)">
                                      <p:cBhvr>
                                        <p:cTn id="56" dur="500"/>
                                        <p:tgtEl>
                                          <p:spTgt spid="240736"/>
                                        </p:tgtEl>
                                      </p:cBhvr>
                                    </p:animEffect>
                                  </p:childTnLst>
                                </p:cTn>
                              </p:par>
                            </p:childTnLst>
                          </p:cTn>
                        </p:par>
                        <p:par>
                          <p:cTn id="57" fill="hold">
                            <p:stCondLst>
                              <p:cond delay="500"/>
                            </p:stCondLst>
                            <p:childTnLst>
                              <p:par>
                                <p:cTn id="58" presetID="22" presetClass="entr" presetSubtype="2" fill="hold" nodeType="afterEffect">
                                  <p:stCondLst>
                                    <p:cond delay="0"/>
                                  </p:stCondLst>
                                  <p:childTnLst>
                                    <p:set>
                                      <p:cBhvr>
                                        <p:cTn id="59" dur="1" fill="hold">
                                          <p:stCondLst>
                                            <p:cond delay="0"/>
                                          </p:stCondLst>
                                        </p:cTn>
                                        <p:tgtEl>
                                          <p:spTgt spid="240642"/>
                                        </p:tgtEl>
                                        <p:attrNameLst>
                                          <p:attrName>style.visibility</p:attrName>
                                        </p:attrNameLst>
                                      </p:cBhvr>
                                      <p:to>
                                        <p:strVal val="visible"/>
                                      </p:to>
                                    </p:set>
                                    <p:animEffect transition="in" filter="wipe(right)">
                                      <p:cBhvr>
                                        <p:cTn id="60" dur="500"/>
                                        <p:tgtEl>
                                          <p:spTgt spid="240642"/>
                                        </p:tgtEl>
                                      </p:cBhvr>
                                    </p:animEffect>
                                  </p:childTnLst>
                                  <p:subTnLst>
                                    <p:set>
                                      <p:cBhvr override="childStyle">
                                        <p:cTn dur="1" fill="hold" display="0" masterRel="nextClick" afterEffect="1"/>
                                        <p:tgtEl>
                                          <p:spTgt spid="240642"/>
                                        </p:tgtEl>
                                        <p:attrNameLst>
                                          <p:attrName>style.visibility</p:attrName>
                                        </p:attrNameLst>
                                      </p:cBhvr>
                                      <p:to>
                                        <p:strVal val="hidden"/>
                                      </p:to>
                                    </p:set>
                                  </p:subTnLst>
                                </p:cTn>
                              </p:par>
                            </p:childTnLst>
                          </p:cTn>
                        </p:par>
                      </p:childTnLst>
                    </p:cTn>
                  </p:par>
                  <p:par>
                    <p:cTn id="61" fill="hold">
                      <p:stCondLst>
                        <p:cond delay="indefinite"/>
                      </p:stCondLst>
                      <p:childTnLst>
                        <p:par>
                          <p:cTn id="62" fill="hold">
                            <p:stCondLst>
                              <p:cond delay="0"/>
                            </p:stCondLst>
                            <p:childTnLst>
                              <p:par>
                                <p:cTn id="63" presetID="2" presetClass="entr" presetSubtype="8" fill="hold" grpId="0" nodeType="clickEffect">
                                  <p:stCondLst>
                                    <p:cond delay="0"/>
                                  </p:stCondLst>
                                  <p:childTnLst>
                                    <p:set>
                                      <p:cBhvr>
                                        <p:cTn id="64" dur="1" fill="hold">
                                          <p:stCondLst>
                                            <p:cond delay="0"/>
                                          </p:stCondLst>
                                        </p:cTn>
                                        <p:tgtEl>
                                          <p:spTgt spid="240651"/>
                                        </p:tgtEl>
                                        <p:attrNameLst>
                                          <p:attrName>style.visibility</p:attrName>
                                        </p:attrNameLst>
                                      </p:cBhvr>
                                      <p:to>
                                        <p:strVal val="visible"/>
                                      </p:to>
                                    </p:set>
                                    <p:anim calcmode="lin" valueType="num">
                                      <p:cBhvr additive="base">
                                        <p:cTn id="65" dur="500" fill="hold"/>
                                        <p:tgtEl>
                                          <p:spTgt spid="240651"/>
                                        </p:tgtEl>
                                        <p:attrNameLst>
                                          <p:attrName>ppt_x</p:attrName>
                                        </p:attrNameLst>
                                      </p:cBhvr>
                                      <p:tavLst>
                                        <p:tav tm="0">
                                          <p:val>
                                            <p:strVal val="0-#ppt_w/2"/>
                                          </p:val>
                                        </p:tav>
                                        <p:tav tm="100000">
                                          <p:val>
                                            <p:strVal val="#ppt_x"/>
                                          </p:val>
                                        </p:tav>
                                      </p:tavLst>
                                    </p:anim>
                                    <p:anim calcmode="lin" valueType="num">
                                      <p:cBhvr additive="base">
                                        <p:cTn id="66" dur="500" fill="hold"/>
                                        <p:tgtEl>
                                          <p:spTgt spid="240651"/>
                                        </p:tgtEl>
                                        <p:attrNameLst>
                                          <p:attrName>ppt_y</p:attrName>
                                        </p:attrNameLst>
                                      </p:cBhvr>
                                      <p:tavLst>
                                        <p:tav tm="0">
                                          <p:val>
                                            <p:strVal val="#ppt_y"/>
                                          </p:val>
                                        </p:tav>
                                        <p:tav tm="100000">
                                          <p:val>
                                            <p:strVal val="#ppt_y"/>
                                          </p:val>
                                        </p:tav>
                                      </p:tavLst>
                                    </p:anim>
                                  </p:childTnLst>
                                </p:cTn>
                              </p:par>
                            </p:childTnLst>
                          </p:cTn>
                        </p:par>
                        <p:par>
                          <p:cTn id="67" fill="hold">
                            <p:stCondLst>
                              <p:cond delay="500"/>
                            </p:stCondLst>
                            <p:childTnLst>
                              <p:par>
                                <p:cTn id="68" presetID="22" presetClass="entr" presetSubtype="8" fill="hold" nodeType="afterEffect">
                                  <p:stCondLst>
                                    <p:cond delay="0"/>
                                  </p:stCondLst>
                                  <p:childTnLst>
                                    <p:set>
                                      <p:cBhvr>
                                        <p:cTn id="69" dur="1" fill="hold">
                                          <p:stCondLst>
                                            <p:cond delay="0"/>
                                          </p:stCondLst>
                                        </p:cTn>
                                        <p:tgtEl>
                                          <p:spTgt spid="240652"/>
                                        </p:tgtEl>
                                        <p:attrNameLst>
                                          <p:attrName>style.visibility</p:attrName>
                                        </p:attrNameLst>
                                      </p:cBhvr>
                                      <p:to>
                                        <p:strVal val="visible"/>
                                      </p:to>
                                    </p:set>
                                    <p:animEffect transition="in" filter="wipe(left)">
                                      <p:cBhvr>
                                        <p:cTn id="70" dur="500"/>
                                        <p:tgtEl>
                                          <p:spTgt spid="240652"/>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240660"/>
                                        </p:tgtEl>
                                        <p:attrNameLst>
                                          <p:attrName>style.visibility</p:attrName>
                                        </p:attrNameLst>
                                      </p:cBhvr>
                                      <p:to>
                                        <p:strVal val="visible"/>
                                      </p:to>
                                    </p:set>
                                    <p:animEffect transition="in" filter="wipe(left)">
                                      <p:cBhvr>
                                        <p:cTn id="75" dur="500"/>
                                        <p:tgtEl>
                                          <p:spTgt spid="2406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643" grpId="0" animBg="1"/>
      <p:bldP spid="240644" grpId="0" animBg="1"/>
      <p:bldP spid="240645" grpId="0" animBg="1"/>
      <p:bldP spid="240646" grpId="0" animBg="1"/>
      <p:bldP spid="240647" grpId="0"/>
      <p:bldP spid="240648" grpId="0" animBg="1"/>
      <p:bldP spid="240649" grpId="0" animBg="1"/>
      <p:bldP spid="240650" grpId="0"/>
      <p:bldP spid="240651"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1666" name="Rectangle 2"/>
          <p:cNvSpPr/>
          <p:nvPr/>
        </p:nvSpPr>
        <p:spPr>
          <a:xfrm>
            <a:off x="890588" y="584200"/>
            <a:ext cx="4170362"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dirty="0">
                <a:latin typeface="Times New Roman" panose="02020603050405020304" pitchFamily="18" charset="0"/>
              </a:rPr>
              <a:t>2.</a:t>
            </a:r>
            <a:r>
              <a:rPr lang="en-US" altLang="zh-CN" sz="2400" b="1" dirty="0">
                <a:latin typeface="宋体" panose="02010600030101010101" pitchFamily="2" charset="-122"/>
              </a:rPr>
              <a:t>  </a:t>
            </a:r>
            <a:r>
              <a:rPr lang="zh-CN" altLang="en-US" sz="2400" b="1" dirty="0">
                <a:latin typeface="宋体" panose="02010600030101010101" pitchFamily="2" charset="-122"/>
              </a:rPr>
              <a:t>最小项的基本性质</a:t>
            </a:r>
            <a:r>
              <a:rPr lang="zh-CN" altLang="en-US" sz="2400" b="1" dirty="0">
                <a:latin typeface="Times New Roman" panose="02020603050405020304" pitchFamily="18" charset="0"/>
              </a:rPr>
              <a:t> </a:t>
            </a:r>
            <a:endParaRPr lang="zh-CN" altLang="en-US" sz="2400" b="1" dirty="0">
              <a:latin typeface="Times New Roman" panose="02020603050405020304" pitchFamily="18" charset="0"/>
            </a:endParaRPr>
          </a:p>
        </p:txBody>
      </p:sp>
      <p:grpSp>
        <p:nvGrpSpPr>
          <p:cNvPr id="241667" name="Group 3"/>
          <p:cNvGrpSpPr/>
          <p:nvPr/>
        </p:nvGrpSpPr>
        <p:grpSpPr>
          <a:xfrm>
            <a:off x="461963" y="1143000"/>
            <a:ext cx="8339137" cy="5584825"/>
            <a:chOff x="291" y="720"/>
            <a:chExt cx="5253" cy="3518"/>
          </a:xfrm>
        </p:grpSpPr>
        <p:sp>
          <p:nvSpPr>
            <p:cNvPr id="59399" name="Rectangle 4"/>
            <p:cNvSpPr/>
            <p:nvPr/>
          </p:nvSpPr>
          <p:spPr>
            <a:xfrm>
              <a:off x="451" y="720"/>
              <a:ext cx="5093" cy="460"/>
            </a:xfrm>
            <a:prstGeom prst="rect">
              <a:avLst/>
            </a:prstGeom>
            <a:solidFill>
              <a:srgbClr val="99CCFF">
                <a:alpha val="50195"/>
              </a:srgbClr>
            </a:solidFill>
            <a:ln w="9525">
              <a:noFill/>
            </a:ln>
          </p:spPr>
          <p:txBody>
            <a:bodyPr lIns="0" tIns="0" rIns="0" bIns="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130175" eaLnBrk="1" hangingPunct="1">
                <a:spcBef>
                  <a:spcPct val="0"/>
                </a:spcBef>
                <a:buNone/>
              </a:pPr>
              <a:r>
                <a:rPr lang="en-US" altLang="zh-CN" sz="2400" b="1" dirty="0">
                  <a:latin typeface="宋体" panose="02010600030101010101" pitchFamily="2" charset="-122"/>
                </a:rPr>
                <a:t>(</a:t>
              </a:r>
              <a:r>
                <a:rPr lang="en-US" altLang="zh-CN" sz="2400" b="1" dirty="0">
                  <a:latin typeface="Times New Roman" panose="02020603050405020304" pitchFamily="18" charset="0"/>
                </a:rPr>
                <a:t>1</a:t>
              </a:r>
              <a:r>
                <a:rPr lang="en-US" altLang="zh-CN" sz="2400" b="1" dirty="0">
                  <a:latin typeface="宋体" panose="02010600030101010101" pitchFamily="2" charset="-122"/>
                </a:rPr>
                <a:t>)</a:t>
              </a:r>
              <a:r>
                <a:rPr lang="en-US" altLang="zh-CN" sz="2400" b="1" dirty="0">
                  <a:latin typeface="Times New Roman" panose="02020603050405020304" pitchFamily="18" charset="0"/>
                </a:rPr>
                <a:t>  </a:t>
              </a:r>
              <a:r>
                <a:rPr lang="zh-CN" altLang="en-US" sz="2400" b="1" dirty="0">
                  <a:latin typeface="宋体" panose="02010600030101010101" pitchFamily="2" charset="-122"/>
                </a:rPr>
                <a:t>对任意一最小项，只有一组变量取值使它的值为</a:t>
              </a:r>
              <a:r>
                <a:rPr lang="zh-CN" altLang="en-US" sz="2400" b="1" dirty="0">
                  <a:latin typeface="Times New Roman" panose="02020603050405020304" pitchFamily="18" charset="0"/>
                </a:rPr>
                <a:t> </a:t>
              </a:r>
              <a:r>
                <a:rPr lang="en-US" altLang="zh-CN" sz="2400" b="1" dirty="0">
                  <a:latin typeface="Times New Roman" panose="02020603050405020304" pitchFamily="18" charset="0"/>
                </a:rPr>
                <a:t>1</a:t>
              </a:r>
              <a:r>
                <a:rPr lang="zh-CN" altLang="en-US" sz="2400" b="1" dirty="0">
                  <a:latin typeface="宋体" panose="02010600030101010101" pitchFamily="2" charset="-122"/>
                </a:rPr>
                <a:t>，</a:t>
              </a:r>
              <a:br>
                <a:rPr lang="zh-CN" altLang="en-US" sz="2400" b="1" dirty="0">
                  <a:latin typeface="宋体" panose="02010600030101010101" pitchFamily="2" charset="-122"/>
                </a:rPr>
              </a:br>
              <a:r>
                <a:rPr lang="zh-CN" altLang="en-US" sz="2400" b="1" dirty="0">
                  <a:latin typeface="宋体" panose="02010600030101010101" pitchFamily="2" charset="-122"/>
                </a:rPr>
                <a:t>     而其余各种变量取值均使其值为</a:t>
              </a:r>
              <a:r>
                <a:rPr lang="zh-CN" altLang="en-US" sz="2400" b="1" dirty="0">
                  <a:latin typeface="Times New Roman" panose="02020603050405020304" pitchFamily="18" charset="0"/>
                </a:rPr>
                <a:t> </a:t>
              </a:r>
              <a:r>
                <a:rPr lang="en-US" altLang="zh-CN" sz="2400" b="1" dirty="0">
                  <a:latin typeface="Times New Roman" panose="02020603050405020304" pitchFamily="18" charset="0"/>
                </a:rPr>
                <a:t>0</a:t>
              </a:r>
              <a:r>
                <a:rPr lang="zh-CN" altLang="en-US" sz="2400" b="1" dirty="0">
                  <a:latin typeface="宋体" panose="02010600030101010101" pitchFamily="2" charset="-122"/>
                </a:rPr>
                <a:t>。</a:t>
              </a:r>
              <a:endParaRPr lang="zh-CN" altLang="en-US" sz="2400" b="1" dirty="0">
                <a:latin typeface="宋体" panose="02010600030101010101" pitchFamily="2" charset="-122"/>
              </a:endParaRPr>
            </a:p>
          </p:txBody>
        </p:sp>
        <p:sp>
          <p:nvSpPr>
            <p:cNvPr id="59400" name="Text Box 5" descr="窄竖线"/>
            <p:cNvSpPr txBox="1"/>
            <p:nvPr/>
          </p:nvSpPr>
          <p:spPr>
            <a:xfrm>
              <a:off x="291" y="2083"/>
              <a:ext cx="301" cy="1929"/>
            </a:xfrm>
            <a:prstGeom prst="rect">
              <a:avLst/>
            </a:prstGeom>
            <a:pattFill prst="narVert">
              <a:fgClr>
                <a:srgbClr val="00CC00"/>
              </a:fgClr>
              <a:bgClr>
                <a:srgbClr val="FFFFFF"/>
              </a:bgClr>
            </a:pattFill>
            <a:ln w="9525">
              <a:noFill/>
            </a:ln>
          </p:spPr>
          <p:txBody>
            <a:bodyPr lIns="36000" tIns="36000" rIns="36000" bIns="3600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dirty="0">
                  <a:latin typeface="Times New Roman" panose="02020603050405020304" pitchFamily="18" charset="0"/>
                </a:rPr>
                <a:t>三</a:t>
              </a:r>
              <a:endParaRPr lang="zh-CN" altLang="en-US" sz="2800" b="1" dirty="0">
                <a:latin typeface="Times New Roman" panose="02020603050405020304" pitchFamily="18" charset="0"/>
              </a:endParaRPr>
            </a:p>
            <a:p>
              <a:pPr marL="0" lvl="0" indent="0" eaLnBrk="1" hangingPunct="1">
                <a:spcBef>
                  <a:spcPct val="0"/>
                </a:spcBef>
                <a:buNone/>
              </a:pPr>
              <a:r>
                <a:rPr lang="zh-CN" altLang="en-US" sz="2800" b="1" dirty="0">
                  <a:latin typeface="Times New Roman" panose="02020603050405020304" pitchFamily="18" charset="0"/>
                </a:rPr>
                <a:t>变</a:t>
              </a:r>
              <a:endParaRPr lang="zh-CN" altLang="en-US" sz="2800" b="1" dirty="0">
                <a:latin typeface="Times New Roman" panose="02020603050405020304" pitchFamily="18" charset="0"/>
              </a:endParaRPr>
            </a:p>
            <a:p>
              <a:pPr marL="0" lvl="0" indent="0" eaLnBrk="1" hangingPunct="1">
                <a:spcBef>
                  <a:spcPct val="0"/>
                </a:spcBef>
                <a:buNone/>
              </a:pPr>
              <a:r>
                <a:rPr lang="zh-CN" altLang="en-US" sz="2800" b="1" dirty="0">
                  <a:latin typeface="Times New Roman" panose="02020603050405020304" pitchFamily="18" charset="0"/>
                </a:rPr>
                <a:t>量</a:t>
              </a:r>
              <a:endParaRPr lang="zh-CN" altLang="en-US" sz="2800" b="1" dirty="0">
                <a:latin typeface="Times New Roman" panose="02020603050405020304" pitchFamily="18" charset="0"/>
              </a:endParaRPr>
            </a:p>
            <a:p>
              <a:pPr marL="0" lvl="0" indent="0" eaLnBrk="1" hangingPunct="1">
                <a:spcBef>
                  <a:spcPct val="0"/>
                </a:spcBef>
                <a:buNone/>
              </a:pPr>
              <a:r>
                <a:rPr lang="zh-CN" altLang="en-US" sz="2800" b="1" dirty="0">
                  <a:latin typeface="Times New Roman" panose="02020603050405020304" pitchFamily="18" charset="0"/>
                </a:rPr>
                <a:t>最</a:t>
              </a:r>
              <a:endParaRPr lang="zh-CN" altLang="en-US" sz="2800" b="1" dirty="0">
                <a:latin typeface="Times New Roman" panose="02020603050405020304" pitchFamily="18" charset="0"/>
              </a:endParaRPr>
            </a:p>
            <a:p>
              <a:pPr marL="0" lvl="0" indent="0" eaLnBrk="1" hangingPunct="1">
                <a:spcBef>
                  <a:spcPct val="0"/>
                </a:spcBef>
                <a:buNone/>
              </a:pPr>
              <a:r>
                <a:rPr lang="zh-CN" altLang="en-US" sz="2800" b="1" dirty="0">
                  <a:latin typeface="Times New Roman" panose="02020603050405020304" pitchFamily="18" charset="0"/>
                </a:rPr>
                <a:t>小</a:t>
              </a:r>
              <a:endParaRPr lang="zh-CN" altLang="en-US" sz="2800" b="1" dirty="0">
                <a:latin typeface="Times New Roman" panose="02020603050405020304" pitchFamily="18" charset="0"/>
              </a:endParaRPr>
            </a:p>
            <a:p>
              <a:pPr marL="0" lvl="0" indent="0" eaLnBrk="1" hangingPunct="1">
                <a:spcBef>
                  <a:spcPct val="0"/>
                </a:spcBef>
                <a:buNone/>
              </a:pPr>
              <a:r>
                <a:rPr lang="zh-CN" altLang="en-US" sz="2800" b="1" dirty="0">
                  <a:latin typeface="Times New Roman" panose="02020603050405020304" pitchFamily="18" charset="0"/>
                </a:rPr>
                <a:t>项</a:t>
              </a:r>
              <a:endParaRPr lang="zh-CN" altLang="en-US" sz="2800" b="1" dirty="0">
                <a:latin typeface="Times New Roman" panose="02020603050405020304" pitchFamily="18" charset="0"/>
              </a:endParaRPr>
            </a:p>
            <a:p>
              <a:pPr marL="0" lvl="0" indent="0" eaLnBrk="1" hangingPunct="1">
                <a:spcBef>
                  <a:spcPct val="0"/>
                </a:spcBef>
                <a:buNone/>
              </a:pPr>
              <a:r>
                <a:rPr lang="zh-CN" altLang="en-US" sz="2800" b="1" dirty="0">
                  <a:latin typeface="Times New Roman" panose="02020603050405020304" pitchFamily="18" charset="0"/>
                </a:rPr>
                <a:t>表</a:t>
              </a:r>
              <a:endParaRPr lang="zh-CN" altLang="en-US" sz="2800" b="1" dirty="0">
                <a:latin typeface="Times New Roman" panose="02020603050405020304" pitchFamily="18" charset="0"/>
              </a:endParaRPr>
            </a:p>
          </p:txBody>
        </p:sp>
        <p:grpSp>
          <p:nvGrpSpPr>
            <p:cNvPr id="59401" name="Group 6"/>
            <p:cNvGrpSpPr/>
            <p:nvPr/>
          </p:nvGrpSpPr>
          <p:grpSpPr>
            <a:xfrm>
              <a:off x="635" y="1858"/>
              <a:ext cx="4890" cy="2380"/>
              <a:chOff x="194" y="1714"/>
              <a:chExt cx="4891" cy="2380"/>
            </a:xfrm>
          </p:grpSpPr>
          <p:sp>
            <p:nvSpPr>
              <p:cNvPr id="59402" name="Rectangle 7"/>
              <p:cNvSpPr/>
              <p:nvPr/>
            </p:nvSpPr>
            <p:spPr>
              <a:xfrm>
                <a:off x="4245" y="3824"/>
                <a:ext cx="829"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solidFill>
                      <a:srgbClr val="0066FF"/>
                    </a:solidFill>
                    <a:latin typeface="Times New Roman" panose="02020603050405020304" pitchFamily="18" charset="0"/>
                  </a:rPr>
                  <a:t>1</a:t>
                </a:r>
                <a:endParaRPr lang="en-US" altLang="zh-CN" sz="2400" b="1" dirty="0">
                  <a:solidFill>
                    <a:srgbClr val="0066FF"/>
                  </a:solidFill>
                  <a:latin typeface="Times New Roman" panose="02020603050405020304" pitchFamily="18" charset="0"/>
                </a:endParaRPr>
              </a:p>
            </p:txBody>
          </p:sp>
          <p:sp>
            <p:nvSpPr>
              <p:cNvPr id="59403" name="Rectangle 8"/>
              <p:cNvSpPr/>
              <p:nvPr/>
            </p:nvSpPr>
            <p:spPr>
              <a:xfrm>
                <a:off x="3819" y="3824"/>
                <a:ext cx="426"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solidFill>
                      <a:srgbClr val="0066FF"/>
                    </a:solidFill>
                    <a:latin typeface="Times New Roman" panose="02020603050405020304" pitchFamily="18" charset="0"/>
                  </a:rPr>
                  <a:t>1</a:t>
                </a:r>
                <a:endParaRPr lang="en-US" altLang="zh-CN" sz="2400" b="1" dirty="0">
                  <a:solidFill>
                    <a:srgbClr val="0066FF"/>
                  </a:solidFill>
                  <a:latin typeface="Times New Roman" panose="02020603050405020304" pitchFamily="18" charset="0"/>
                </a:endParaRPr>
              </a:p>
            </p:txBody>
          </p:sp>
          <p:sp>
            <p:nvSpPr>
              <p:cNvPr id="59404" name="Rectangle 9"/>
              <p:cNvSpPr/>
              <p:nvPr/>
            </p:nvSpPr>
            <p:spPr>
              <a:xfrm>
                <a:off x="3385" y="3824"/>
                <a:ext cx="434"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05" name="Rectangle 10"/>
              <p:cNvSpPr/>
              <p:nvPr/>
            </p:nvSpPr>
            <p:spPr>
              <a:xfrm>
                <a:off x="2959" y="3824"/>
                <a:ext cx="426"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06" name="Rectangle 11"/>
              <p:cNvSpPr/>
              <p:nvPr/>
            </p:nvSpPr>
            <p:spPr>
              <a:xfrm>
                <a:off x="2509" y="3824"/>
                <a:ext cx="450"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07" name="Rectangle 12"/>
              <p:cNvSpPr/>
              <p:nvPr/>
            </p:nvSpPr>
            <p:spPr>
              <a:xfrm>
                <a:off x="2091" y="3824"/>
                <a:ext cx="418"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08" name="Rectangle 13"/>
              <p:cNvSpPr/>
              <p:nvPr/>
            </p:nvSpPr>
            <p:spPr>
              <a:xfrm>
                <a:off x="1665" y="3824"/>
                <a:ext cx="426"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09" name="Rectangle 14"/>
              <p:cNvSpPr/>
              <p:nvPr/>
            </p:nvSpPr>
            <p:spPr>
              <a:xfrm>
                <a:off x="1247" y="3824"/>
                <a:ext cx="418"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10" name="Rectangle 15"/>
              <p:cNvSpPr/>
              <p:nvPr/>
            </p:nvSpPr>
            <p:spPr>
              <a:xfrm>
                <a:off x="805" y="3824"/>
                <a:ext cx="442"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11" name="Rectangle 16"/>
              <p:cNvSpPr/>
              <p:nvPr/>
            </p:nvSpPr>
            <p:spPr>
              <a:xfrm>
                <a:off x="194" y="3824"/>
                <a:ext cx="611"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1   1   1</a:t>
                </a:r>
                <a:endParaRPr lang="en-US" altLang="zh-CN" sz="2400" b="1" dirty="0">
                  <a:latin typeface="Times New Roman" panose="02020603050405020304" pitchFamily="18" charset="0"/>
                </a:endParaRPr>
              </a:p>
            </p:txBody>
          </p:sp>
          <p:sp>
            <p:nvSpPr>
              <p:cNvPr id="59412" name="Rectangle 17"/>
              <p:cNvSpPr/>
              <p:nvPr/>
            </p:nvSpPr>
            <p:spPr>
              <a:xfrm>
                <a:off x="4245" y="3600"/>
                <a:ext cx="829"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solidFill>
                      <a:srgbClr val="0066FF"/>
                    </a:solidFill>
                    <a:latin typeface="Times New Roman" panose="02020603050405020304" pitchFamily="18" charset="0"/>
                  </a:rPr>
                  <a:t>1</a:t>
                </a:r>
                <a:endParaRPr lang="en-US" altLang="zh-CN" sz="2400" b="1" dirty="0">
                  <a:solidFill>
                    <a:srgbClr val="0066FF"/>
                  </a:solidFill>
                  <a:latin typeface="Times New Roman" panose="02020603050405020304" pitchFamily="18" charset="0"/>
                </a:endParaRPr>
              </a:p>
            </p:txBody>
          </p:sp>
          <p:sp>
            <p:nvSpPr>
              <p:cNvPr id="59413" name="Rectangle 18"/>
              <p:cNvSpPr/>
              <p:nvPr/>
            </p:nvSpPr>
            <p:spPr>
              <a:xfrm>
                <a:off x="3819" y="3600"/>
                <a:ext cx="426"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14" name="Rectangle 19"/>
              <p:cNvSpPr/>
              <p:nvPr/>
            </p:nvSpPr>
            <p:spPr>
              <a:xfrm>
                <a:off x="3385" y="3600"/>
                <a:ext cx="434"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solidFill>
                      <a:srgbClr val="0066FF"/>
                    </a:solidFill>
                    <a:latin typeface="Times New Roman" panose="02020603050405020304" pitchFamily="18" charset="0"/>
                  </a:rPr>
                  <a:t>1</a:t>
                </a:r>
                <a:endParaRPr lang="en-US" altLang="zh-CN" sz="2400" b="1" dirty="0">
                  <a:solidFill>
                    <a:srgbClr val="0066FF"/>
                  </a:solidFill>
                  <a:latin typeface="Times New Roman" panose="02020603050405020304" pitchFamily="18" charset="0"/>
                </a:endParaRPr>
              </a:p>
            </p:txBody>
          </p:sp>
          <p:sp>
            <p:nvSpPr>
              <p:cNvPr id="59415" name="Rectangle 20"/>
              <p:cNvSpPr/>
              <p:nvPr/>
            </p:nvSpPr>
            <p:spPr>
              <a:xfrm>
                <a:off x="2959" y="3600"/>
                <a:ext cx="426"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16" name="Rectangle 21"/>
              <p:cNvSpPr/>
              <p:nvPr/>
            </p:nvSpPr>
            <p:spPr>
              <a:xfrm>
                <a:off x="2509" y="3600"/>
                <a:ext cx="450"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17" name="Rectangle 22"/>
              <p:cNvSpPr/>
              <p:nvPr/>
            </p:nvSpPr>
            <p:spPr>
              <a:xfrm>
                <a:off x="2091" y="3600"/>
                <a:ext cx="418"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18" name="Rectangle 23"/>
              <p:cNvSpPr/>
              <p:nvPr/>
            </p:nvSpPr>
            <p:spPr>
              <a:xfrm>
                <a:off x="1665" y="3600"/>
                <a:ext cx="426"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19" name="Rectangle 24"/>
              <p:cNvSpPr/>
              <p:nvPr/>
            </p:nvSpPr>
            <p:spPr>
              <a:xfrm>
                <a:off x="1247" y="3600"/>
                <a:ext cx="418"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20" name="Rectangle 25"/>
              <p:cNvSpPr/>
              <p:nvPr/>
            </p:nvSpPr>
            <p:spPr>
              <a:xfrm>
                <a:off x="805" y="3600"/>
                <a:ext cx="442"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21" name="Rectangle 26"/>
              <p:cNvSpPr/>
              <p:nvPr/>
            </p:nvSpPr>
            <p:spPr>
              <a:xfrm>
                <a:off x="194" y="3600"/>
                <a:ext cx="611"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1   1   0</a:t>
                </a:r>
                <a:endParaRPr lang="en-US" altLang="zh-CN" sz="2400" b="1" dirty="0">
                  <a:latin typeface="Times New Roman" panose="02020603050405020304" pitchFamily="18" charset="0"/>
                </a:endParaRPr>
              </a:p>
            </p:txBody>
          </p:sp>
          <p:sp>
            <p:nvSpPr>
              <p:cNvPr id="59422" name="Rectangle 27"/>
              <p:cNvSpPr/>
              <p:nvPr/>
            </p:nvSpPr>
            <p:spPr>
              <a:xfrm>
                <a:off x="4245" y="3376"/>
                <a:ext cx="829"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solidFill>
                      <a:srgbClr val="0066FF"/>
                    </a:solidFill>
                    <a:latin typeface="Times New Roman" panose="02020603050405020304" pitchFamily="18" charset="0"/>
                  </a:rPr>
                  <a:t>1</a:t>
                </a:r>
                <a:endParaRPr lang="en-US" altLang="zh-CN" sz="2400" b="1" dirty="0">
                  <a:solidFill>
                    <a:srgbClr val="0066FF"/>
                  </a:solidFill>
                  <a:latin typeface="Times New Roman" panose="02020603050405020304" pitchFamily="18" charset="0"/>
                </a:endParaRPr>
              </a:p>
            </p:txBody>
          </p:sp>
          <p:sp>
            <p:nvSpPr>
              <p:cNvPr id="59423" name="Rectangle 28"/>
              <p:cNvSpPr/>
              <p:nvPr/>
            </p:nvSpPr>
            <p:spPr>
              <a:xfrm>
                <a:off x="3819" y="3376"/>
                <a:ext cx="426"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24" name="Rectangle 29"/>
              <p:cNvSpPr/>
              <p:nvPr/>
            </p:nvSpPr>
            <p:spPr>
              <a:xfrm>
                <a:off x="3385" y="3376"/>
                <a:ext cx="434"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25" name="Rectangle 30"/>
              <p:cNvSpPr/>
              <p:nvPr/>
            </p:nvSpPr>
            <p:spPr>
              <a:xfrm>
                <a:off x="2959" y="3376"/>
                <a:ext cx="426"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solidFill>
                      <a:srgbClr val="0066FF"/>
                    </a:solidFill>
                    <a:latin typeface="Times New Roman" panose="02020603050405020304" pitchFamily="18" charset="0"/>
                  </a:rPr>
                  <a:t>1</a:t>
                </a:r>
                <a:endParaRPr lang="en-US" altLang="zh-CN" sz="2400" b="1" dirty="0">
                  <a:solidFill>
                    <a:srgbClr val="0066FF"/>
                  </a:solidFill>
                  <a:latin typeface="Times New Roman" panose="02020603050405020304" pitchFamily="18" charset="0"/>
                </a:endParaRPr>
              </a:p>
            </p:txBody>
          </p:sp>
          <p:sp>
            <p:nvSpPr>
              <p:cNvPr id="59426" name="Rectangle 31"/>
              <p:cNvSpPr/>
              <p:nvPr/>
            </p:nvSpPr>
            <p:spPr>
              <a:xfrm>
                <a:off x="2509" y="3376"/>
                <a:ext cx="450"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27" name="Rectangle 32"/>
              <p:cNvSpPr/>
              <p:nvPr/>
            </p:nvSpPr>
            <p:spPr>
              <a:xfrm>
                <a:off x="2091" y="3376"/>
                <a:ext cx="418"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28" name="Rectangle 33"/>
              <p:cNvSpPr/>
              <p:nvPr/>
            </p:nvSpPr>
            <p:spPr>
              <a:xfrm>
                <a:off x="1665" y="3376"/>
                <a:ext cx="426"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29" name="Rectangle 34"/>
              <p:cNvSpPr/>
              <p:nvPr/>
            </p:nvSpPr>
            <p:spPr>
              <a:xfrm>
                <a:off x="1247" y="3376"/>
                <a:ext cx="418"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30" name="Rectangle 35"/>
              <p:cNvSpPr/>
              <p:nvPr/>
            </p:nvSpPr>
            <p:spPr>
              <a:xfrm>
                <a:off x="805" y="3376"/>
                <a:ext cx="442"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31" name="Rectangle 36"/>
              <p:cNvSpPr/>
              <p:nvPr/>
            </p:nvSpPr>
            <p:spPr>
              <a:xfrm>
                <a:off x="194" y="3376"/>
                <a:ext cx="611"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1   0   1</a:t>
                </a:r>
                <a:endParaRPr lang="en-US" altLang="zh-CN" sz="2400" b="1" dirty="0">
                  <a:latin typeface="Times New Roman" panose="02020603050405020304" pitchFamily="18" charset="0"/>
                </a:endParaRPr>
              </a:p>
            </p:txBody>
          </p:sp>
          <p:sp>
            <p:nvSpPr>
              <p:cNvPr id="59432" name="Rectangle 37"/>
              <p:cNvSpPr/>
              <p:nvPr/>
            </p:nvSpPr>
            <p:spPr>
              <a:xfrm>
                <a:off x="4245" y="3152"/>
                <a:ext cx="829"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solidFill>
                      <a:srgbClr val="0066FF"/>
                    </a:solidFill>
                    <a:latin typeface="Times New Roman" panose="02020603050405020304" pitchFamily="18" charset="0"/>
                  </a:rPr>
                  <a:t>1</a:t>
                </a:r>
                <a:endParaRPr lang="en-US" altLang="zh-CN" sz="2400" b="1" dirty="0">
                  <a:solidFill>
                    <a:srgbClr val="0066FF"/>
                  </a:solidFill>
                  <a:latin typeface="Times New Roman" panose="02020603050405020304" pitchFamily="18" charset="0"/>
                </a:endParaRPr>
              </a:p>
            </p:txBody>
          </p:sp>
          <p:sp>
            <p:nvSpPr>
              <p:cNvPr id="59433" name="Rectangle 38"/>
              <p:cNvSpPr/>
              <p:nvPr/>
            </p:nvSpPr>
            <p:spPr>
              <a:xfrm>
                <a:off x="3819" y="3152"/>
                <a:ext cx="426"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34" name="Rectangle 39"/>
              <p:cNvSpPr/>
              <p:nvPr/>
            </p:nvSpPr>
            <p:spPr>
              <a:xfrm>
                <a:off x="3385" y="3152"/>
                <a:ext cx="434"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35" name="Rectangle 40"/>
              <p:cNvSpPr/>
              <p:nvPr/>
            </p:nvSpPr>
            <p:spPr>
              <a:xfrm>
                <a:off x="2959" y="3152"/>
                <a:ext cx="426"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36" name="Rectangle 41"/>
              <p:cNvSpPr/>
              <p:nvPr/>
            </p:nvSpPr>
            <p:spPr>
              <a:xfrm>
                <a:off x="2509" y="3152"/>
                <a:ext cx="450"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solidFill>
                      <a:srgbClr val="0066FF"/>
                    </a:solidFill>
                    <a:latin typeface="Times New Roman" panose="02020603050405020304" pitchFamily="18" charset="0"/>
                  </a:rPr>
                  <a:t>1</a:t>
                </a:r>
                <a:endParaRPr lang="en-US" altLang="zh-CN" sz="2400" b="1" dirty="0">
                  <a:solidFill>
                    <a:srgbClr val="0066FF"/>
                  </a:solidFill>
                  <a:latin typeface="Times New Roman" panose="02020603050405020304" pitchFamily="18" charset="0"/>
                </a:endParaRPr>
              </a:p>
            </p:txBody>
          </p:sp>
          <p:sp>
            <p:nvSpPr>
              <p:cNvPr id="59437" name="Rectangle 42"/>
              <p:cNvSpPr/>
              <p:nvPr/>
            </p:nvSpPr>
            <p:spPr>
              <a:xfrm>
                <a:off x="2091" y="3152"/>
                <a:ext cx="418"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38" name="Rectangle 43"/>
              <p:cNvSpPr/>
              <p:nvPr/>
            </p:nvSpPr>
            <p:spPr>
              <a:xfrm>
                <a:off x="1665" y="3152"/>
                <a:ext cx="426"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39" name="Rectangle 44"/>
              <p:cNvSpPr/>
              <p:nvPr/>
            </p:nvSpPr>
            <p:spPr>
              <a:xfrm>
                <a:off x="1247" y="3152"/>
                <a:ext cx="418"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40" name="Rectangle 45"/>
              <p:cNvSpPr/>
              <p:nvPr/>
            </p:nvSpPr>
            <p:spPr>
              <a:xfrm>
                <a:off x="805" y="3152"/>
                <a:ext cx="442"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41" name="Rectangle 46"/>
              <p:cNvSpPr/>
              <p:nvPr/>
            </p:nvSpPr>
            <p:spPr>
              <a:xfrm>
                <a:off x="194" y="3152"/>
                <a:ext cx="611"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1   0   0</a:t>
                </a:r>
                <a:endParaRPr lang="en-US" altLang="zh-CN" sz="2400" b="1" dirty="0">
                  <a:latin typeface="Times New Roman" panose="02020603050405020304" pitchFamily="18" charset="0"/>
                </a:endParaRPr>
              </a:p>
            </p:txBody>
          </p:sp>
          <p:sp>
            <p:nvSpPr>
              <p:cNvPr id="59442" name="Rectangle 47"/>
              <p:cNvSpPr/>
              <p:nvPr/>
            </p:nvSpPr>
            <p:spPr>
              <a:xfrm>
                <a:off x="4245" y="2928"/>
                <a:ext cx="829"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solidFill>
                      <a:srgbClr val="0066FF"/>
                    </a:solidFill>
                    <a:latin typeface="Times New Roman" panose="02020603050405020304" pitchFamily="18" charset="0"/>
                  </a:rPr>
                  <a:t>1</a:t>
                </a:r>
                <a:endParaRPr lang="en-US" altLang="zh-CN" sz="2400" b="1" dirty="0">
                  <a:solidFill>
                    <a:srgbClr val="0066FF"/>
                  </a:solidFill>
                  <a:latin typeface="Times New Roman" panose="02020603050405020304" pitchFamily="18" charset="0"/>
                </a:endParaRPr>
              </a:p>
            </p:txBody>
          </p:sp>
          <p:sp>
            <p:nvSpPr>
              <p:cNvPr id="59443" name="Rectangle 48"/>
              <p:cNvSpPr/>
              <p:nvPr/>
            </p:nvSpPr>
            <p:spPr>
              <a:xfrm>
                <a:off x="3819" y="2928"/>
                <a:ext cx="426"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44" name="Rectangle 49"/>
              <p:cNvSpPr/>
              <p:nvPr/>
            </p:nvSpPr>
            <p:spPr>
              <a:xfrm>
                <a:off x="3385" y="2928"/>
                <a:ext cx="434"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45" name="Rectangle 50"/>
              <p:cNvSpPr/>
              <p:nvPr/>
            </p:nvSpPr>
            <p:spPr>
              <a:xfrm>
                <a:off x="2959" y="2928"/>
                <a:ext cx="426"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46" name="Rectangle 51"/>
              <p:cNvSpPr/>
              <p:nvPr/>
            </p:nvSpPr>
            <p:spPr>
              <a:xfrm>
                <a:off x="2509" y="2928"/>
                <a:ext cx="450"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47" name="Rectangle 52"/>
              <p:cNvSpPr/>
              <p:nvPr/>
            </p:nvSpPr>
            <p:spPr>
              <a:xfrm>
                <a:off x="2091" y="2928"/>
                <a:ext cx="418"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solidFill>
                      <a:srgbClr val="0066FF"/>
                    </a:solidFill>
                    <a:latin typeface="Times New Roman" panose="02020603050405020304" pitchFamily="18" charset="0"/>
                  </a:rPr>
                  <a:t>1</a:t>
                </a:r>
                <a:endParaRPr lang="en-US" altLang="zh-CN" sz="2400" b="1" dirty="0">
                  <a:solidFill>
                    <a:srgbClr val="0066FF"/>
                  </a:solidFill>
                  <a:latin typeface="Times New Roman" panose="02020603050405020304" pitchFamily="18" charset="0"/>
                </a:endParaRPr>
              </a:p>
            </p:txBody>
          </p:sp>
          <p:sp>
            <p:nvSpPr>
              <p:cNvPr id="59448" name="Rectangle 53"/>
              <p:cNvSpPr/>
              <p:nvPr/>
            </p:nvSpPr>
            <p:spPr>
              <a:xfrm>
                <a:off x="1665" y="2928"/>
                <a:ext cx="426"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49" name="Rectangle 54"/>
              <p:cNvSpPr/>
              <p:nvPr/>
            </p:nvSpPr>
            <p:spPr>
              <a:xfrm>
                <a:off x="1247" y="2928"/>
                <a:ext cx="418"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50" name="Rectangle 55"/>
              <p:cNvSpPr/>
              <p:nvPr/>
            </p:nvSpPr>
            <p:spPr>
              <a:xfrm>
                <a:off x="805" y="2928"/>
                <a:ext cx="442"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51" name="Rectangle 56"/>
              <p:cNvSpPr/>
              <p:nvPr/>
            </p:nvSpPr>
            <p:spPr>
              <a:xfrm>
                <a:off x="194" y="2928"/>
                <a:ext cx="611"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0   1   1</a:t>
                </a:r>
                <a:endParaRPr lang="en-US" altLang="zh-CN" sz="2400" b="1" dirty="0">
                  <a:latin typeface="Times New Roman" panose="02020603050405020304" pitchFamily="18" charset="0"/>
                </a:endParaRPr>
              </a:p>
            </p:txBody>
          </p:sp>
          <p:sp>
            <p:nvSpPr>
              <p:cNvPr id="59452" name="Rectangle 57"/>
              <p:cNvSpPr/>
              <p:nvPr/>
            </p:nvSpPr>
            <p:spPr>
              <a:xfrm>
                <a:off x="4245" y="2704"/>
                <a:ext cx="829"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solidFill>
                      <a:srgbClr val="0066FF"/>
                    </a:solidFill>
                    <a:latin typeface="Times New Roman" panose="02020603050405020304" pitchFamily="18" charset="0"/>
                  </a:rPr>
                  <a:t>1</a:t>
                </a:r>
                <a:endParaRPr lang="en-US" altLang="zh-CN" sz="2400" b="1" dirty="0">
                  <a:solidFill>
                    <a:srgbClr val="0066FF"/>
                  </a:solidFill>
                  <a:latin typeface="Times New Roman" panose="02020603050405020304" pitchFamily="18" charset="0"/>
                </a:endParaRPr>
              </a:p>
            </p:txBody>
          </p:sp>
          <p:sp>
            <p:nvSpPr>
              <p:cNvPr id="59453" name="Rectangle 58"/>
              <p:cNvSpPr/>
              <p:nvPr/>
            </p:nvSpPr>
            <p:spPr>
              <a:xfrm>
                <a:off x="3819" y="2704"/>
                <a:ext cx="426"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54" name="Rectangle 59"/>
              <p:cNvSpPr/>
              <p:nvPr/>
            </p:nvSpPr>
            <p:spPr>
              <a:xfrm>
                <a:off x="3385" y="2704"/>
                <a:ext cx="434"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55" name="Rectangle 60"/>
              <p:cNvSpPr/>
              <p:nvPr/>
            </p:nvSpPr>
            <p:spPr>
              <a:xfrm>
                <a:off x="2959" y="2704"/>
                <a:ext cx="426"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56" name="Rectangle 61"/>
              <p:cNvSpPr/>
              <p:nvPr/>
            </p:nvSpPr>
            <p:spPr>
              <a:xfrm>
                <a:off x="2509" y="2704"/>
                <a:ext cx="450"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57" name="Rectangle 62"/>
              <p:cNvSpPr/>
              <p:nvPr/>
            </p:nvSpPr>
            <p:spPr>
              <a:xfrm>
                <a:off x="2091" y="2704"/>
                <a:ext cx="418"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58" name="Rectangle 63"/>
              <p:cNvSpPr/>
              <p:nvPr/>
            </p:nvSpPr>
            <p:spPr>
              <a:xfrm>
                <a:off x="1665" y="2704"/>
                <a:ext cx="426"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solidFill>
                      <a:srgbClr val="0066FF"/>
                    </a:solidFill>
                    <a:latin typeface="Times New Roman" panose="02020603050405020304" pitchFamily="18" charset="0"/>
                  </a:rPr>
                  <a:t>1</a:t>
                </a:r>
                <a:endParaRPr lang="en-US" altLang="zh-CN" sz="2400" b="1" dirty="0">
                  <a:solidFill>
                    <a:srgbClr val="0066FF"/>
                  </a:solidFill>
                  <a:latin typeface="Times New Roman" panose="02020603050405020304" pitchFamily="18" charset="0"/>
                </a:endParaRPr>
              </a:p>
            </p:txBody>
          </p:sp>
          <p:sp>
            <p:nvSpPr>
              <p:cNvPr id="59459" name="Rectangle 64"/>
              <p:cNvSpPr/>
              <p:nvPr/>
            </p:nvSpPr>
            <p:spPr>
              <a:xfrm>
                <a:off x="1247" y="2704"/>
                <a:ext cx="418"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60" name="Rectangle 65"/>
              <p:cNvSpPr/>
              <p:nvPr/>
            </p:nvSpPr>
            <p:spPr>
              <a:xfrm>
                <a:off x="805" y="2704"/>
                <a:ext cx="442"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61" name="Rectangle 66"/>
              <p:cNvSpPr/>
              <p:nvPr/>
            </p:nvSpPr>
            <p:spPr>
              <a:xfrm>
                <a:off x="194" y="2704"/>
                <a:ext cx="611"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0   1   0</a:t>
                </a:r>
                <a:endParaRPr lang="en-US" altLang="zh-CN" sz="2400" b="1" dirty="0">
                  <a:latin typeface="Times New Roman" panose="02020603050405020304" pitchFamily="18" charset="0"/>
                </a:endParaRPr>
              </a:p>
            </p:txBody>
          </p:sp>
          <p:sp>
            <p:nvSpPr>
              <p:cNvPr id="59462" name="Rectangle 67"/>
              <p:cNvSpPr/>
              <p:nvPr/>
            </p:nvSpPr>
            <p:spPr>
              <a:xfrm>
                <a:off x="4245" y="2480"/>
                <a:ext cx="829"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solidFill>
                      <a:srgbClr val="0066FF"/>
                    </a:solidFill>
                    <a:latin typeface="Times New Roman" panose="02020603050405020304" pitchFamily="18" charset="0"/>
                  </a:rPr>
                  <a:t>1</a:t>
                </a:r>
                <a:endParaRPr lang="en-US" altLang="zh-CN" sz="2400" b="1" dirty="0">
                  <a:solidFill>
                    <a:srgbClr val="0066FF"/>
                  </a:solidFill>
                  <a:latin typeface="Times New Roman" panose="02020603050405020304" pitchFamily="18" charset="0"/>
                </a:endParaRPr>
              </a:p>
            </p:txBody>
          </p:sp>
          <p:sp>
            <p:nvSpPr>
              <p:cNvPr id="59463" name="Rectangle 68"/>
              <p:cNvSpPr/>
              <p:nvPr/>
            </p:nvSpPr>
            <p:spPr>
              <a:xfrm>
                <a:off x="3819" y="2480"/>
                <a:ext cx="426"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64" name="Rectangle 69"/>
              <p:cNvSpPr/>
              <p:nvPr/>
            </p:nvSpPr>
            <p:spPr>
              <a:xfrm>
                <a:off x="3385" y="2480"/>
                <a:ext cx="434"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65" name="Rectangle 70"/>
              <p:cNvSpPr/>
              <p:nvPr/>
            </p:nvSpPr>
            <p:spPr>
              <a:xfrm>
                <a:off x="2959" y="2480"/>
                <a:ext cx="426"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66" name="Rectangle 71"/>
              <p:cNvSpPr/>
              <p:nvPr/>
            </p:nvSpPr>
            <p:spPr>
              <a:xfrm>
                <a:off x="2509" y="2480"/>
                <a:ext cx="450"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67" name="Rectangle 72"/>
              <p:cNvSpPr/>
              <p:nvPr/>
            </p:nvSpPr>
            <p:spPr>
              <a:xfrm>
                <a:off x="2091" y="2480"/>
                <a:ext cx="418"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68" name="Rectangle 73"/>
              <p:cNvSpPr/>
              <p:nvPr/>
            </p:nvSpPr>
            <p:spPr>
              <a:xfrm>
                <a:off x="1665" y="2480"/>
                <a:ext cx="426"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69" name="Rectangle 74"/>
              <p:cNvSpPr/>
              <p:nvPr/>
            </p:nvSpPr>
            <p:spPr>
              <a:xfrm>
                <a:off x="1247" y="2480"/>
                <a:ext cx="418"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solidFill>
                      <a:srgbClr val="0066FF"/>
                    </a:solidFill>
                    <a:latin typeface="Times New Roman" panose="02020603050405020304" pitchFamily="18" charset="0"/>
                  </a:rPr>
                  <a:t>1</a:t>
                </a:r>
                <a:endParaRPr lang="en-US" altLang="zh-CN" sz="2400" b="1" dirty="0">
                  <a:solidFill>
                    <a:srgbClr val="0066FF"/>
                  </a:solidFill>
                  <a:latin typeface="Times New Roman" panose="02020603050405020304" pitchFamily="18" charset="0"/>
                </a:endParaRPr>
              </a:p>
            </p:txBody>
          </p:sp>
          <p:sp>
            <p:nvSpPr>
              <p:cNvPr id="59470" name="Rectangle 75"/>
              <p:cNvSpPr/>
              <p:nvPr/>
            </p:nvSpPr>
            <p:spPr>
              <a:xfrm>
                <a:off x="805" y="2480"/>
                <a:ext cx="442"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71" name="Rectangle 76"/>
              <p:cNvSpPr/>
              <p:nvPr/>
            </p:nvSpPr>
            <p:spPr>
              <a:xfrm>
                <a:off x="194" y="2480"/>
                <a:ext cx="611"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0   0   1</a:t>
                </a:r>
                <a:endParaRPr lang="en-US" altLang="zh-CN" sz="2400" b="1" dirty="0">
                  <a:latin typeface="Times New Roman" panose="02020603050405020304" pitchFamily="18" charset="0"/>
                </a:endParaRPr>
              </a:p>
            </p:txBody>
          </p:sp>
          <p:sp>
            <p:nvSpPr>
              <p:cNvPr id="59472" name="Rectangle 77"/>
              <p:cNvSpPr/>
              <p:nvPr/>
            </p:nvSpPr>
            <p:spPr>
              <a:xfrm>
                <a:off x="4245" y="2232"/>
                <a:ext cx="829"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solidFill>
                      <a:srgbClr val="0066FF"/>
                    </a:solidFill>
                    <a:latin typeface="Times New Roman" panose="02020603050405020304" pitchFamily="18" charset="0"/>
                  </a:rPr>
                  <a:t>1</a:t>
                </a:r>
                <a:endParaRPr lang="en-US" altLang="zh-CN" sz="2400" b="1" dirty="0">
                  <a:solidFill>
                    <a:srgbClr val="0066FF"/>
                  </a:solidFill>
                  <a:latin typeface="Times New Roman" panose="02020603050405020304" pitchFamily="18" charset="0"/>
                </a:endParaRPr>
              </a:p>
            </p:txBody>
          </p:sp>
          <p:sp>
            <p:nvSpPr>
              <p:cNvPr id="59473" name="Rectangle 78"/>
              <p:cNvSpPr/>
              <p:nvPr/>
            </p:nvSpPr>
            <p:spPr>
              <a:xfrm>
                <a:off x="3819" y="2232"/>
                <a:ext cx="426"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74" name="Rectangle 79"/>
              <p:cNvSpPr/>
              <p:nvPr/>
            </p:nvSpPr>
            <p:spPr>
              <a:xfrm>
                <a:off x="3385" y="2232"/>
                <a:ext cx="434"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75" name="Rectangle 80"/>
              <p:cNvSpPr/>
              <p:nvPr/>
            </p:nvSpPr>
            <p:spPr>
              <a:xfrm>
                <a:off x="2959" y="2224"/>
                <a:ext cx="426"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76" name="Rectangle 81"/>
              <p:cNvSpPr/>
              <p:nvPr/>
            </p:nvSpPr>
            <p:spPr>
              <a:xfrm>
                <a:off x="2509" y="2224"/>
                <a:ext cx="450"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77" name="Rectangle 82"/>
              <p:cNvSpPr/>
              <p:nvPr/>
            </p:nvSpPr>
            <p:spPr>
              <a:xfrm>
                <a:off x="2091" y="2232"/>
                <a:ext cx="418"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78" name="Rectangle 83"/>
              <p:cNvSpPr/>
              <p:nvPr/>
            </p:nvSpPr>
            <p:spPr>
              <a:xfrm>
                <a:off x="1665" y="2232"/>
                <a:ext cx="426"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79" name="Rectangle 84"/>
              <p:cNvSpPr/>
              <p:nvPr/>
            </p:nvSpPr>
            <p:spPr>
              <a:xfrm>
                <a:off x="1247" y="2232"/>
                <a:ext cx="418"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59480" name="Rectangle 85"/>
              <p:cNvSpPr/>
              <p:nvPr/>
            </p:nvSpPr>
            <p:spPr>
              <a:xfrm>
                <a:off x="805" y="2232"/>
                <a:ext cx="442"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solidFill>
                      <a:srgbClr val="0066FF"/>
                    </a:solidFill>
                    <a:latin typeface="Times New Roman" panose="02020603050405020304" pitchFamily="18" charset="0"/>
                  </a:rPr>
                  <a:t>1</a:t>
                </a:r>
                <a:endParaRPr lang="en-US" altLang="zh-CN" sz="2400" b="1" dirty="0">
                  <a:solidFill>
                    <a:srgbClr val="0066FF"/>
                  </a:solidFill>
                  <a:latin typeface="Times New Roman" panose="02020603050405020304" pitchFamily="18" charset="0"/>
                </a:endParaRPr>
              </a:p>
            </p:txBody>
          </p:sp>
          <p:sp>
            <p:nvSpPr>
              <p:cNvPr id="59481" name="Rectangle 86"/>
              <p:cNvSpPr/>
              <p:nvPr/>
            </p:nvSpPr>
            <p:spPr>
              <a:xfrm>
                <a:off x="194" y="2232"/>
                <a:ext cx="611"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0   0   0</a:t>
                </a:r>
                <a:endParaRPr lang="en-US" altLang="zh-CN" sz="2400" b="1" dirty="0">
                  <a:latin typeface="Times New Roman" panose="02020603050405020304" pitchFamily="18" charset="0"/>
                </a:endParaRPr>
              </a:p>
            </p:txBody>
          </p:sp>
          <p:sp>
            <p:nvSpPr>
              <p:cNvPr id="59482" name="Rectangle 87"/>
              <p:cNvSpPr/>
              <p:nvPr/>
            </p:nvSpPr>
            <p:spPr>
              <a:xfrm>
                <a:off x="3819" y="1976"/>
                <a:ext cx="426"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lnSpc>
                    <a:spcPct val="120000"/>
                  </a:lnSpc>
                  <a:spcBef>
                    <a:spcPct val="0"/>
                  </a:spcBef>
                  <a:buNone/>
                </a:pPr>
                <a:r>
                  <a:rPr lang="en-US" altLang="zh-CN" sz="2400" b="1" i="1" dirty="0">
                    <a:latin typeface="Times New Roman" panose="02020603050405020304" pitchFamily="18" charset="0"/>
                  </a:rPr>
                  <a:t>ABC</a:t>
                </a:r>
                <a:endParaRPr lang="en-US" altLang="zh-CN" sz="2400" b="1" i="1" dirty="0">
                  <a:latin typeface="Times New Roman" panose="02020603050405020304" pitchFamily="18" charset="0"/>
                </a:endParaRPr>
              </a:p>
            </p:txBody>
          </p:sp>
          <p:sp>
            <p:nvSpPr>
              <p:cNvPr id="59483" name="Rectangle 88"/>
              <p:cNvSpPr/>
              <p:nvPr/>
            </p:nvSpPr>
            <p:spPr>
              <a:xfrm>
                <a:off x="3385" y="1976"/>
                <a:ext cx="434"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2400" b="1" dirty="0">
                  <a:latin typeface="Times New Roman" panose="02020603050405020304" pitchFamily="18" charset="0"/>
                </a:endParaRPr>
              </a:p>
            </p:txBody>
          </p:sp>
          <p:sp>
            <p:nvSpPr>
              <p:cNvPr id="59484" name="Rectangle 89"/>
              <p:cNvSpPr/>
              <p:nvPr/>
            </p:nvSpPr>
            <p:spPr>
              <a:xfrm>
                <a:off x="2959" y="1976"/>
                <a:ext cx="426"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2400" b="1" dirty="0">
                  <a:latin typeface="Times New Roman" panose="02020603050405020304" pitchFamily="18" charset="0"/>
                </a:endParaRPr>
              </a:p>
            </p:txBody>
          </p:sp>
          <p:sp>
            <p:nvSpPr>
              <p:cNvPr id="59485" name="Rectangle 90"/>
              <p:cNvSpPr/>
              <p:nvPr/>
            </p:nvSpPr>
            <p:spPr>
              <a:xfrm>
                <a:off x="2509" y="1976"/>
                <a:ext cx="450"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2400" b="1" dirty="0">
                  <a:latin typeface="Times New Roman" panose="02020603050405020304" pitchFamily="18" charset="0"/>
                </a:endParaRPr>
              </a:p>
            </p:txBody>
          </p:sp>
          <p:sp>
            <p:nvSpPr>
              <p:cNvPr id="59486" name="Rectangle 91"/>
              <p:cNvSpPr/>
              <p:nvPr/>
            </p:nvSpPr>
            <p:spPr>
              <a:xfrm>
                <a:off x="2091" y="1976"/>
                <a:ext cx="418"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2400" b="1" dirty="0">
                  <a:latin typeface="Times New Roman" panose="02020603050405020304" pitchFamily="18" charset="0"/>
                </a:endParaRPr>
              </a:p>
            </p:txBody>
          </p:sp>
          <p:sp>
            <p:nvSpPr>
              <p:cNvPr id="59487" name="Rectangle 92"/>
              <p:cNvSpPr/>
              <p:nvPr/>
            </p:nvSpPr>
            <p:spPr>
              <a:xfrm>
                <a:off x="1665" y="1976"/>
                <a:ext cx="426"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2400" b="1" dirty="0">
                  <a:latin typeface="Times New Roman" panose="02020603050405020304" pitchFamily="18" charset="0"/>
                </a:endParaRPr>
              </a:p>
            </p:txBody>
          </p:sp>
          <p:sp>
            <p:nvSpPr>
              <p:cNvPr id="59488" name="Rectangle 93"/>
              <p:cNvSpPr/>
              <p:nvPr/>
            </p:nvSpPr>
            <p:spPr>
              <a:xfrm>
                <a:off x="1247" y="1976"/>
                <a:ext cx="418"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2400" b="1" dirty="0">
                  <a:latin typeface="Times New Roman" panose="02020603050405020304" pitchFamily="18" charset="0"/>
                </a:endParaRPr>
              </a:p>
            </p:txBody>
          </p:sp>
          <p:sp>
            <p:nvSpPr>
              <p:cNvPr id="59489" name="Rectangle 94"/>
              <p:cNvSpPr/>
              <p:nvPr/>
            </p:nvSpPr>
            <p:spPr>
              <a:xfrm>
                <a:off x="805" y="1976"/>
                <a:ext cx="442" cy="25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2400" b="1" dirty="0">
                  <a:latin typeface="Times New Roman" panose="02020603050405020304" pitchFamily="18" charset="0"/>
                </a:endParaRPr>
              </a:p>
            </p:txBody>
          </p:sp>
          <p:sp>
            <p:nvSpPr>
              <p:cNvPr id="59490" name="Rectangle 95"/>
              <p:cNvSpPr/>
              <p:nvPr/>
            </p:nvSpPr>
            <p:spPr>
              <a:xfrm>
                <a:off x="4245" y="1746"/>
                <a:ext cx="829" cy="48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2400" b="1" dirty="0">
                  <a:latin typeface="Times New Roman" panose="02020603050405020304" pitchFamily="18" charset="0"/>
                </a:endParaRPr>
              </a:p>
            </p:txBody>
          </p:sp>
          <p:sp>
            <p:nvSpPr>
              <p:cNvPr id="59491" name="Rectangle 96"/>
              <p:cNvSpPr/>
              <p:nvPr/>
            </p:nvSpPr>
            <p:spPr>
              <a:xfrm>
                <a:off x="3819" y="1746"/>
                <a:ext cx="426" cy="230"/>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i="1" dirty="0">
                    <a:latin typeface="Times New Roman" panose="02020603050405020304" pitchFamily="18" charset="0"/>
                  </a:rPr>
                  <a:t>m</a:t>
                </a:r>
                <a:r>
                  <a:rPr lang="en-US" altLang="zh-CN" sz="2400" b="1" baseline="-25000" dirty="0">
                    <a:latin typeface="Times New Roman" panose="02020603050405020304" pitchFamily="18" charset="0"/>
                  </a:rPr>
                  <a:t>7</a:t>
                </a:r>
                <a:endParaRPr lang="en-US" altLang="zh-CN" sz="2400" b="1" baseline="-25000" dirty="0">
                  <a:latin typeface="Times New Roman" panose="02020603050405020304" pitchFamily="18" charset="0"/>
                </a:endParaRPr>
              </a:p>
            </p:txBody>
          </p:sp>
          <p:sp>
            <p:nvSpPr>
              <p:cNvPr id="59492" name="Rectangle 97"/>
              <p:cNvSpPr/>
              <p:nvPr/>
            </p:nvSpPr>
            <p:spPr>
              <a:xfrm>
                <a:off x="3385" y="1746"/>
                <a:ext cx="434" cy="230"/>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i="1" dirty="0">
                    <a:latin typeface="Times New Roman" panose="02020603050405020304" pitchFamily="18" charset="0"/>
                  </a:rPr>
                  <a:t>m</a:t>
                </a:r>
                <a:r>
                  <a:rPr lang="en-US" altLang="zh-CN" sz="2400" b="1" baseline="-25000" dirty="0">
                    <a:latin typeface="Times New Roman" panose="02020603050405020304" pitchFamily="18" charset="0"/>
                  </a:rPr>
                  <a:t>6</a:t>
                </a:r>
                <a:endParaRPr lang="en-US" altLang="zh-CN" sz="2400" b="1" baseline="-25000" dirty="0">
                  <a:latin typeface="Times New Roman" panose="02020603050405020304" pitchFamily="18" charset="0"/>
                </a:endParaRPr>
              </a:p>
            </p:txBody>
          </p:sp>
          <p:sp>
            <p:nvSpPr>
              <p:cNvPr id="59493" name="Rectangle 98"/>
              <p:cNvSpPr/>
              <p:nvPr/>
            </p:nvSpPr>
            <p:spPr>
              <a:xfrm>
                <a:off x="2959" y="1746"/>
                <a:ext cx="426" cy="230"/>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i="1" dirty="0">
                    <a:latin typeface="Times New Roman" panose="02020603050405020304" pitchFamily="18" charset="0"/>
                  </a:rPr>
                  <a:t>m</a:t>
                </a:r>
                <a:r>
                  <a:rPr lang="en-US" altLang="zh-CN" sz="2400" b="1" baseline="-25000" dirty="0">
                    <a:latin typeface="Times New Roman" panose="02020603050405020304" pitchFamily="18" charset="0"/>
                  </a:rPr>
                  <a:t>5</a:t>
                </a:r>
                <a:endParaRPr lang="en-US" altLang="zh-CN" sz="2400" b="1" baseline="-25000" dirty="0">
                  <a:latin typeface="Times New Roman" panose="02020603050405020304" pitchFamily="18" charset="0"/>
                </a:endParaRPr>
              </a:p>
            </p:txBody>
          </p:sp>
          <p:sp>
            <p:nvSpPr>
              <p:cNvPr id="59494" name="Rectangle 99"/>
              <p:cNvSpPr/>
              <p:nvPr/>
            </p:nvSpPr>
            <p:spPr>
              <a:xfrm>
                <a:off x="2509" y="1746"/>
                <a:ext cx="450" cy="230"/>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i="1" dirty="0">
                    <a:latin typeface="Times New Roman" panose="02020603050405020304" pitchFamily="18" charset="0"/>
                  </a:rPr>
                  <a:t>m</a:t>
                </a:r>
                <a:r>
                  <a:rPr lang="en-US" altLang="zh-CN" sz="2400" b="1" baseline="-25000" dirty="0">
                    <a:latin typeface="Times New Roman" panose="02020603050405020304" pitchFamily="18" charset="0"/>
                  </a:rPr>
                  <a:t>4</a:t>
                </a:r>
                <a:endParaRPr lang="en-US" altLang="zh-CN" sz="2400" b="1" baseline="-25000" dirty="0">
                  <a:latin typeface="Times New Roman" panose="02020603050405020304" pitchFamily="18" charset="0"/>
                </a:endParaRPr>
              </a:p>
            </p:txBody>
          </p:sp>
          <p:sp>
            <p:nvSpPr>
              <p:cNvPr id="59495" name="Rectangle 100"/>
              <p:cNvSpPr/>
              <p:nvPr/>
            </p:nvSpPr>
            <p:spPr>
              <a:xfrm>
                <a:off x="2091" y="1746"/>
                <a:ext cx="418" cy="230"/>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i="1" dirty="0">
                    <a:latin typeface="Times New Roman" panose="02020603050405020304" pitchFamily="18" charset="0"/>
                  </a:rPr>
                  <a:t>m</a:t>
                </a:r>
                <a:r>
                  <a:rPr lang="en-US" altLang="zh-CN" sz="2400" b="1" baseline="-25000" dirty="0">
                    <a:latin typeface="Times New Roman" panose="02020603050405020304" pitchFamily="18" charset="0"/>
                  </a:rPr>
                  <a:t>3</a:t>
                </a:r>
                <a:endParaRPr lang="en-US" altLang="zh-CN" sz="2400" b="1" baseline="-25000" dirty="0">
                  <a:latin typeface="Times New Roman" panose="02020603050405020304" pitchFamily="18" charset="0"/>
                </a:endParaRPr>
              </a:p>
            </p:txBody>
          </p:sp>
          <p:sp>
            <p:nvSpPr>
              <p:cNvPr id="59496" name="Rectangle 101"/>
              <p:cNvSpPr/>
              <p:nvPr/>
            </p:nvSpPr>
            <p:spPr>
              <a:xfrm>
                <a:off x="1665" y="1746"/>
                <a:ext cx="426" cy="230"/>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i="1" dirty="0">
                    <a:latin typeface="Times New Roman" panose="02020603050405020304" pitchFamily="18" charset="0"/>
                  </a:rPr>
                  <a:t>m</a:t>
                </a:r>
                <a:r>
                  <a:rPr lang="en-US" altLang="zh-CN" sz="2400" b="1" baseline="-25000" dirty="0">
                    <a:latin typeface="Times New Roman" panose="02020603050405020304" pitchFamily="18" charset="0"/>
                  </a:rPr>
                  <a:t>2</a:t>
                </a:r>
                <a:endParaRPr lang="en-US" altLang="zh-CN" sz="2400" b="1" baseline="-25000" dirty="0">
                  <a:latin typeface="Times New Roman" panose="02020603050405020304" pitchFamily="18" charset="0"/>
                </a:endParaRPr>
              </a:p>
            </p:txBody>
          </p:sp>
          <p:sp>
            <p:nvSpPr>
              <p:cNvPr id="59497" name="Rectangle 102"/>
              <p:cNvSpPr/>
              <p:nvPr/>
            </p:nvSpPr>
            <p:spPr>
              <a:xfrm>
                <a:off x="1247" y="1746"/>
                <a:ext cx="418" cy="230"/>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i="1" dirty="0">
                    <a:latin typeface="Times New Roman" panose="02020603050405020304" pitchFamily="18" charset="0"/>
                  </a:rPr>
                  <a:t>m</a:t>
                </a:r>
                <a:r>
                  <a:rPr lang="en-US" altLang="zh-CN" sz="2400" b="1" baseline="-25000" dirty="0">
                    <a:latin typeface="Times New Roman" panose="02020603050405020304" pitchFamily="18" charset="0"/>
                  </a:rPr>
                  <a:t>1</a:t>
                </a:r>
                <a:endParaRPr lang="en-US" altLang="zh-CN" sz="2400" b="1" baseline="-25000" dirty="0">
                  <a:latin typeface="Times New Roman" panose="02020603050405020304" pitchFamily="18" charset="0"/>
                </a:endParaRPr>
              </a:p>
            </p:txBody>
          </p:sp>
          <p:sp>
            <p:nvSpPr>
              <p:cNvPr id="59498" name="Rectangle 103"/>
              <p:cNvSpPr/>
              <p:nvPr/>
            </p:nvSpPr>
            <p:spPr>
              <a:xfrm>
                <a:off x="805" y="1746"/>
                <a:ext cx="442" cy="230"/>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i="1" dirty="0">
                    <a:latin typeface="Times New Roman" panose="02020603050405020304" pitchFamily="18" charset="0"/>
                  </a:rPr>
                  <a:t>m</a:t>
                </a:r>
                <a:r>
                  <a:rPr lang="en-US" altLang="zh-CN" sz="2400" b="1" baseline="-25000" dirty="0">
                    <a:latin typeface="Times New Roman" panose="02020603050405020304" pitchFamily="18" charset="0"/>
                  </a:rPr>
                  <a:t>0</a:t>
                </a:r>
                <a:endParaRPr lang="en-US" altLang="zh-CN" sz="2400" b="1" baseline="-25000" dirty="0">
                  <a:latin typeface="Times New Roman" panose="02020603050405020304" pitchFamily="18" charset="0"/>
                </a:endParaRPr>
              </a:p>
            </p:txBody>
          </p:sp>
          <p:sp>
            <p:nvSpPr>
              <p:cNvPr id="59499" name="Rectangle 104"/>
              <p:cNvSpPr/>
              <p:nvPr/>
            </p:nvSpPr>
            <p:spPr>
              <a:xfrm>
                <a:off x="194" y="1746"/>
                <a:ext cx="611" cy="486"/>
              </a:xfrm>
              <a:prstGeom prst="rect">
                <a:avLst/>
              </a:prstGeom>
              <a:solidFill>
                <a:srgbClr val="CCFFCC">
                  <a:alpha val="50195"/>
                </a:srgbClr>
              </a:solidFill>
              <a:ln w="9525">
                <a:noFill/>
              </a:ln>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lnSpc>
                    <a:spcPct val="175000"/>
                  </a:lnSpc>
                  <a:spcBef>
                    <a:spcPct val="0"/>
                  </a:spcBef>
                  <a:buNone/>
                </a:pPr>
                <a:r>
                  <a:rPr lang="en-US" altLang="zh-CN" sz="2400" b="1" i="1" dirty="0">
                    <a:latin typeface="Times New Roman" panose="02020603050405020304" pitchFamily="18" charset="0"/>
                  </a:rPr>
                  <a:t>A  B  C</a:t>
                </a:r>
                <a:endParaRPr lang="en-US" altLang="zh-CN" sz="2400" b="1" i="1" dirty="0">
                  <a:latin typeface="Times New Roman" panose="02020603050405020304" pitchFamily="18" charset="0"/>
                </a:endParaRPr>
              </a:p>
            </p:txBody>
          </p:sp>
          <p:sp>
            <p:nvSpPr>
              <p:cNvPr id="59500" name="Line 105"/>
              <p:cNvSpPr/>
              <p:nvPr/>
            </p:nvSpPr>
            <p:spPr>
              <a:xfrm>
                <a:off x="194" y="2232"/>
                <a:ext cx="4880" cy="0"/>
              </a:xfrm>
              <a:prstGeom prst="line">
                <a:avLst/>
              </a:prstGeom>
              <a:ln w="12700" cap="flat" cmpd="sng">
                <a:solidFill>
                  <a:schemeClr val="tx1"/>
                </a:solidFill>
                <a:prstDash val="solid"/>
                <a:headEnd type="none" w="med" len="med"/>
                <a:tailEnd type="none" w="med" len="med"/>
              </a:ln>
            </p:spPr>
          </p:sp>
          <p:sp>
            <p:nvSpPr>
              <p:cNvPr id="59501" name="Line 106"/>
              <p:cNvSpPr/>
              <p:nvPr/>
            </p:nvSpPr>
            <p:spPr>
              <a:xfrm>
                <a:off x="194" y="4080"/>
                <a:ext cx="4880" cy="0"/>
              </a:xfrm>
              <a:prstGeom prst="line">
                <a:avLst/>
              </a:prstGeom>
              <a:ln w="28575" cap="sq" cmpd="sng">
                <a:solidFill>
                  <a:schemeClr val="tx1"/>
                </a:solidFill>
                <a:prstDash val="solid"/>
                <a:headEnd type="none" w="med" len="med"/>
                <a:tailEnd type="none" w="med" len="med"/>
              </a:ln>
            </p:spPr>
          </p:sp>
          <p:sp>
            <p:nvSpPr>
              <p:cNvPr id="59502" name="Line 107"/>
              <p:cNvSpPr/>
              <p:nvPr/>
            </p:nvSpPr>
            <p:spPr>
              <a:xfrm>
                <a:off x="194" y="1746"/>
                <a:ext cx="0" cy="2342"/>
              </a:xfrm>
              <a:prstGeom prst="line">
                <a:avLst/>
              </a:prstGeom>
              <a:ln w="28575" cap="sq" cmpd="sng">
                <a:solidFill>
                  <a:schemeClr val="tx1"/>
                </a:solidFill>
                <a:prstDash val="solid"/>
                <a:headEnd type="none" w="med" len="med"/>
                <a:tailEnd type="none" w="med" len="med"/>
              </a:ln>
            </p:spPr>
          </p:sp>
          <p:sp>
            <p:nvSpPr>
              <p:cNvPr id="59503" name="Line 108"/>
              <p:cNvSpPr/>
              <p:nvPr/>
            </p:nvSpPr>
            <p:spPr>
              <a:xfrm>
                <a:off x="805" y="1746"/>
                <a:ext cx="0" cy="2330"/>
              </a:xfrm>
              <a:prstGeom prst="line">
                <a:avLst/>
              </a:prstGeom>
              <a:ln w="12700" cap="flat" cmpd="sng">
                <a:solidFill>
                  <a:schemeClr val="tx1"/>
                </a:solidFill>
                <a:prstDash val="solid"/>
                <a:headEnd type="none" w="med" len="med"/>
                <a:tailEnd type="none" w="med" len="med"/>
              </a:ln>
            </p:spPr>
          </p:sp>
          <p:sp>
            <p:nvSpPr>
              <p:cNvPr id="59504" name="Line 109"/>
              <p:cNvSpPr/>
              <p:nvPr/>
            </p:nvSpPr>
            <p:spPr>
              <a:xfrm>
                <a:off x="1247" y="1746"/>
                <a:ext cx="0" cy="2342"/>
              </a:xfrm>
              <a:prstGeom prst="line">
                <a:avLst/>
              </a:prstGeom>
              <a:ln w="12700" cap="flat" cmpd="sng">
                <a:solidFill>
                  <a:schemeClr val="tx1"/>
                </a:solidFill>
                <a:prstDash val="solid"/>
                <a:headEnd type="none" w="med" len="med"/>
                <a:tailEnd type="none" w="med" len="med"/>
              </a:ln>
            </p:spPr>
          </p:sp>
          <p:sp>
            <p:nvSpPr>
              <p:cNvPr id="59505" name="Line 110"/>
              <p:cNvSpPr/>
              <p:nvPr/>
            </p:nvSpPr>
            <p:spPr>
              <a:xfrm>
                <a:off x="1665" y="1746"/>
                <a:ext cx="0" cy="2348"/>
              </a:xfrm>
              <a:prstGeom prst="line">
                <a:avLst/>
              </a:prstGeom>
              <a:ln w="12700" cap="flat" cmpd="sng">
                <a:solidFill>
                  <a:schemeClr val="tx1"/>
                </a:solidFill>
                <a:prstDash val="solid"/>
                <a:headEnd type="none" w="med" len="med"/>
                <a:tailEnd type="none" w="med" len="med"/>
              </a:ln>
            </p:spPr>
          </p:sp>
          <p:sp>
            <p:nvSpPr>
              <p:cNvPr id="59506" name="Line 111"/>
              <p:cNvSpPr/>
              <p:nvPr/>
            </p:nvSpPr>
            <p:spPr>
              <a:xfrm>
                <a:off x="2091" y="1746"/>
                <a:ext cx="0" cy="2348"/>
              </a:xfrm>
              <a:prstGeom prst="line">
                <a:avLst/>
              </a:prstGeom>
              <a:ln w="12700" cap="flat" cmpd="sng">
                <a:solidFill>
                  <a:schemeClr val="tx1"/>
                </a:solidFill>
                <a:prstDash val="solid"/>
                <a:headEnd type="none" w="med" len="med"/>
                <a:tailEnd type="none" w="med" len="med"/>
              </a:ln>
            </p:spPr>
          </p:sp>
          <p:sp>
            <p:nvSpPr>
              <p:cNvPr id="59507" name="Line 112"/>
              <p:cNvSpPr/>
              <p:nvPr/>
            </p:nvSpPr>
            <p:spPr>
              <a:xfrm>
                <a:off x="2509" y="1746"/>
                <a:ext cx="0" cy="2336"/>
              </a:xfrm>
              <a:prstGeom prst="line">
                <a:avLst/>
              </a:prstGeom>
              <a:ln w="12700" cap="flat" cmpd="sng">
                <a:solidFill>
                  <a:schemeClr val="tx1"/>
                </a:solidFill>
                <a:prstDash val="solid"/>
                <a:headEnd type="none" w="med" len="med"/>
                <a:tailEnd type="none" w="med" len="med"/>
              </a:ln>
            </p:spPr>
          </p:sp>
          <p:sp>
            <p:nvSpPr>
              <p:cNvPr id="59508" name="Line 113"/>
              <p:cNvSpPr/>
              <p:nvPr/>
            </p:nvSpPr>
            <p:spPr>
              <a:xfrm>
                <a:off x="2959" y="1746"/>
                <a:ext cx="0" cy="2342"/>
              </a:xfrm>
              <a:prstGeom prst="line">
                <a:avLst/>
              </a:prstGeom>
              <a:ln w="12700" cap="flat" cmpd="sng">
                <a:solidFill>
                  <a:schemeClr val="tx1"/>
                </a:solidFill>
                <a:prstDash val="solid"/>
                <a:headEnd type="none" w="med" len="med"/>
                <a:tailEnd type="none" w="med" len="med"/>
              </a:ln>
            </p:spPr>
          </p:sp>
          <p:sp>
            <p:nvSpPr>
              <p:cNvPr id="59509" name="Line 114"/>
              <p:cNvSpPr/>
              <p:nvPr/>
            </p:nvSpPr>
            <p:spPr>
              <a:xfrm>
                <a:off x="3385" y="1746"/>
                <a:ext cx="0" cy="2342"/>
              </a:xfrm>
              <a:prstGeom prst="line">
                <a:avLst/>
              </a:prstGeom>
              <a:ln w="12700" cap="flat" cmpd="sng">
                <a:solidFill>
                  <a:schemeClr val="tx1"/>
                </a:solidFill>
                <a:prstDash val="solid"/>
                <a:headEnd type="none" w="med" len="med"/>
                <a:tailEnd type="none" w="med" len="med"/>
              </a:ln>
            </p:spPr>
          </p:sp>
          <p:sp>
            <p:nvSpPr>
              <p:cNvPr id="59510" name="Line 115"/>
              <p:cNvSpPr/>
              <p:nvPr/>
            </p:nvSpPr>
            <p:spPr>
              <a:xfrm>
                <a:off x="3819" y="1746"/>
                <a:ext cx="0" cy="2336"/>
              </a:xfrm>
              <a:prstGeom prst="line">
                <a:avLst/>
              </a:prstGeom>
              <a:ln w="12700" cap="flat" cmpd="sng">
                <a:solidFill>
                  <a:schemeClr val="tx1"/>
                </a:solidFill>
                <a:prstDash val="solid"/>
                <a:headEnd type="none" w="med" len="med"/>
                <a:tailEnd type="none" w="med" len="med"/>
              </a:ln>
            </p:spPr>
          </p:sp>
          <p:sp>
            <p:nvSpPr>
              <p:cNvPr id="59511" name="Line 116"/>
              <p:cNvSpPr/>
              <p:nvPr/>
            </p:nvSpPr>
            <p:spPr>
              <a:xfrm>
                <a:off x="4245" y="1746"/>
                <a:ext cx="0" cy="2330"/>
              </a:xfrm>
              <a:prstGeom prst="line">
                <a:avLst/>
              </a:prstGeom>
              <a:ln w="12700" cap="flat" cmpd="sng">
                <a:solidFill>
                  <a:schemeClr val="tx1"/>
                </a:solidFill>
                <a:prstDash val="solid"/>
                <a:headEnd type="none" w="med" len="med"/>
                <a:tailEnd type="none" w="med" len="med"/>
              </a:ln>
            </p:spPr>
          </p:sp>
          <p:sp>
            <p:nvSpPr>
              <p:cNvPr id="59512" name="Line 117"/>
              <p:cNvSpPr/>
              <p:nvPr/>
            </p:nvSpPr>
            <p:spPr>
              <a:xfrm>
                <a:off x="5074" y="1746"/>
                <a:ext cx="0" cy="2336"/>
              </a:xfrm>
              <a:prstGeom prst="line">
                <a:avLst/>
              </a:prstGeom>
              <a:ln w="28575" cap="sq" cmpd="sng">
                <a:solidFill>
                  <a:schemeClr val="tx1"/>
                </a:solidFill>
                <a:prstDash val="solid"/>
                <a:headEnd type="none" w="med" len="med"/>
                <a:tailEnd type="none" w="med" len="med"/>
              </a:ln>
            </p:spPr>
          </p:sp>
          <p:sp>
            <p:nvSpPr>
              <p:cNvPr id="59513" name="Line 118"/>
              <p:cNvSpPr/>
              <p:nvPr/>
            </p:nvSpPr>
            <p:spPr>
              <a:xfrm>
                <a:off x="805" y="1976"/>
                <a:ext cx="3440" cy="0"/>
              </a:xfrm>
              <a:prstGeom prst="line">
                <a:avLst/>
              </a:prstGeom>
              <a:ln w="12700" cap="flat" cmpd="sng">
                <a:solidFill>
                  <a:schemeClr val="tx1"/>
                </a:solidFill>
                <a:prstDash val="solid"/>
                <a:headEnd type="none" w="med" len="med"/>
                <a:tailEnd type="none" w="med" len="med"/>
              </a:ln>
            </p:spPr>
          </p:sp>
          <p:sp>
            <p:nvSpPr>
              <p:cNvPr id="59514" name="Line 119"/>
              <p:cNvSpPr/>
              <p:nvPr/>
            </p:nvSpPr>
            <p:spPr>
              <a:xfrm>
                <a:off x="194" y="1746"/>
                <a:ext cx="4880" cy="0"/>
              </a:xfrm>
              <a:prstGeom prst="line">
                <a:avLst/>
              </a:prstGeom>
              <a:ln w="28575" cap="sq" cmpd="sng">
                <a:solidFill>
                  <a:schemeClr val="tx1"/>
                </a:solidFill>
                <a:prstDash val="solid"/>
                <a:headEnd type="none" w="med" len="med"/>
                <a:tailEnd type="none" w="med" len="med"/>
              </a:ln>
            </p:spPr>
          </p:sp>
          <p:graphicFrame>
            <p:nvGraphicFramePr>
              <p:cNvPr id="59515" name="Object 120"/>
              <p:cNvGraphicFramePr>
                <a:graphicFrameLocks noChangeAspect="1"/>
              </p:cNvGraphicFramePr>
              <p:nvPr/>
            </p:nvGraphicFramePr>
            <p:xfrm>
              <a:off x="4253" y="1714"/>
              <a:ext cx="832" cy="544"/>
            </p:xfrm>
            <a:graphic>
              <a:graphicData uri="http://schemas.openxmlformats.org/presentationml/2006/ole">
                <mc:AlternateContent xmlns:mc="http://schemas.openxmlformats.org/markup-compatibility/2006">
                  <mc:Choice xmlns:v="urn:schemas-microsoft-com:vml" Requires="v">
                    <p:oleObj spid="_x0000_s3229" name="" r:id="rId1" imgW="1320165" imgH="862965" progId="Equation.3">
                      <p:embed/>
                    </p:oleObj>
                  </mc:Choice>
                  <mc:Fallback>
                    <p:oleObj name="" r:id="rId1" imgW="1320165" imgH="862965" progId="Equation.3">
                      <p:embed/>
                      <p:pic>
                        <p:nvPicPr>
                          <p:cNvPr id="0" name="图片 3228"/>
                          <p:cNvPicPr/>
                          <p:nvPr/>
                        </p:nvPicPr>
                        <p:blipFill>
                          <a:blip r:embed="rId2"/>
                          <a:stretch>
                            <a:fillRect/>
                          </a:stretch>
                        </p:blipFill>
                        <p:spPr>
                          <a:xfrm>
                            <a:off x="4253" y="1714"/>
                            <a:ext cx="832" cy="544"/>
                          </a:xfrm>
                          <a:prstGeom prst="rect">
                            <a:avLst/>
                          </a:prstGeom>
                          <a:noFill/>
                          <a:ln w="38100">
                            <a:noFill/>
                            <a:miter/>
                          </a:ln>
                        </p:spPr>
                      </p:pic>
                    </p:oleObj>
                  </mc:Fallback>
                </mc:AlternateContent>
              </a:graphicData>
            </a:graphic>
          </p:graphicFrame>
          <p:graphicFrame>
            <p:nvGraphicFramePr>
              <p:cNvPr id="59516" name="Object 121"/>
              <p:cNvGraphicFramePr>
                <a:graphicFrameLocks noChangeAspect="1"/>
              </p:cNvGraphicFramePr>
              <p:nvPr/>
            </p:nvGraphicFramePr>
            <p:xfrm>
              <a:off x="793" y="2000"/>
              <a:ext cx="456" cy="208"/>
            </p:xfrm>
            <a:graphic>
              <a:graphicData uri="http://schemas.openxmlformats.org/presentationml/2006/ole">
                <mc:AlternateContent xmlns:mc="http://schemas.openxmlformats.org/markup-compatibility/2006">
                  <mc:Choice xmlns:v="urn:schemas-microsoft-com:vml" Requires="v">
                    <p:oleObj spid="_x0000_s3232" name="" r:id="rId3" imgW="723900" imgH="330200" progId="Equation.3">
                      <p:embed/>
                    </p:oleObj>
                  </mc:Choice>
                  <mc:Fallback>
                    <p:oleObj name="" r:id="rId3" imgW="723900" imgH="330200" progId="Equation.3">
                      <p:embed/>
                      <p:pic>
                        <p:nvPicPr>
                          <p:cNvPr id="0" name="图片 3231"/>
                          <p:cNvPicPr/>
                          <p:nvPr/>
                        </p:nvPicPr>
                        <p:blipFill>
                          <a:blip r:embed="rId4"/>
                          <a:stretch>
                            <a:fillRect/>
                          </a:stretch>
                        </p:blipFill>
                        <p:spPr>
                          <a:xfrm>
                            <a:off x="793" y="2000"/>
                            <a:ext cx="456" cy="208"/>
                          </a:xfrm>
                          <a:prstGeom prst="rect">
                            <a:avLst/>
                          </a:prstGeom>
                          <a:noFill/>
                          <a:ln w="38100">
                            <a:noFill/>
                            <a:miter/>
                          </a:ln>
                        </p:spPr>
                      </p:pic>
                    </p:oleObj>
                  </mc:Fallback>
                </mc:AlternateContent>
              </a:graphicData>
            </a:graphic>
          </p:graphicFrame>
          <p:graphicFrame>
            <p:nvGraphicFramePr>
              <p:cNvPr id="59517" name="Object 122"/>
              <p:cNvGraphicFramePr>
                <a:graphicFrameLocks noChangeAspect="1"/>
              </p:cNvGraphicFramePr>
              <p:nvPr/>
            </p:nvGraphicFramePr>
            <p:xfrm>
              <a:off x="1232" y="2000"/>
              <a:ext cx="440" cy="208"/>
            </p:xfrm>
            <a:graphic>
              <a:graphicData uri="http://schemas.openxmlformats.org/presentationml/2006/ole">
                <mc:AlternateContent xmlns:mc="http://schemas.openxmlformats.org/markup-compatibility/2006">
                  <mc:Choice xmlns:v="urn:schemas-microsoft-com:vml" Requires="v">
                    <p:oleObj spid="_x0000_s3236" name="" r:id="rId5" imgW="698500" imgH="330200" progId="Equation.3">
                      <p:embed/>
                    </p:oleObj>
                  </mc:Choice>
                  <mc:Fallback>
                    <p:oleObj name="" r:id="rId5" imgW="698500" imgH="330200" progId="Equation.3">
                      <p:embed/>
                      <p:pic>
                        <p:nvPicPr>
                          <p:cNvPr id="0" name="图片 3235"/>
                          <p:cNvPicPr/>
                          <p:nvPr/>
                        </p:nvPicPr>
                        <p:blipFill>
                          <a:blip r:embed="rId6"/>
                          <a:stretch>
                            <a:fillRect/>
                          </a:stretch>
                        </p:blipFill>
                        <p:spPr>
                          <a:xfrm>
                            <a:off x="1232" y="2000"/>
                            <a:ext cx="440" cy="208"/>
                          </a:xfrm>
                          <a:prstGeom prst="rect">
                            <a:avLst/>
                          </a:prstGeom>
                          <a:noFill/>
                          <a:ln w="38100">
                            <a:noFill/>
                            <a:miter/>
                          </a:ln>
                        </p:spPr>
                      </p:pic>
                    </p:oleObj>
                  </mc:Fallback>
                </mc:AlternateContent>
              </a:graphicData>
            </a:graphic>
          </p:graphicFrame>
          <p:graphicFrame>
            <p:nvGraphicFramePr>
              <p:cNvPr id="59518" name="Object 123"/>
              <p:cNvGraphicFramePr>
                <a:graphicFrameLocks noChangeAspect="1"/>
              </p:cNvGraphicFramePr>
              <p:nvPr/>
            </p:nvGraphicFramePr>
            <p:xfrm>
              <a:off x="1657" y="2000"/>
              <a:ext cx="440" cy="208"/>
            </p:xfrm>
            <a:graphic>
              <a:graphicData uri="http://schemas.openxmlformats.org/presentationml/2006/ole">
                <mc:AlternateContent xmlns:mc="http://schemas.openxmlformats.org/markup-compatibility/2006">
                  <mc:Choice xmlns:v="urn:schemas-microsoft-com:vml" Requires="v">
                    <p:oleObj spid="_x0000_s3233" name="" r:id="rId7" imgW="698500" imgH="330200" progId="Equation.3">
                      <p:embed/>
                    </p:oleObj>
                  </mc:Choice>
                  <mc:Fallback>
                    <p:oleObj name="" r:id="rId7" imgW="698500" imgH="330200" progId="Equation.3">
                      <p:embed/>
                      <p:pic>
                        <p:nvPicPr>
                          <p:cNvPr id="0" name="图片 3232"/>
                          <p:cNvPicPr/>
                          <p:nvPr/>
                        </p:nvPicPr>
                        <p:blipFill>
                          <a:blip r:embed="rId8"/>
                          <a:stretch>
                            <a:fillRect/>
                          </a:stretch>
                        </p:blipFill>
                        <p:spPr>
                          <a:xfrm>
                            <a:off x="1657" y="2000"/>
                            <a:ext cx="440" cy="208"/>
                          </a:xfrm>
                          <a:prstGeom prst="rect">
                            <a:avLst/>
                          </a:prstGeom>
                          <a:noFill/>
                          <a:ln w="38100">
                            <a:noFill/>
                            <a:miter/>
                          </a:ln>
                        </p:spPr>
                      </p:pic>
                    </p:oleObj>
                  </mc:Fallback>
                </mc:AlternateContent>
              </a:graphicData>
            </a:graphic>
          </p:graphicFrame>
          <p:graphicFrame>
            <p:nvGraphicFramePr>
              <p:cNvPr id="59519" name="Object 124"/>
              <p:cNvGraphicFramePr>
                <a:graphicFrameLocks noChangeAspect="1"/>
              </p:cNvGraphicFramePr>
              <p:nvPr/>
            </p:nvGraphicFramePr>
            <p:xfrm>
              <a:off x="2080" y="2000"/>
              <a:ext cx="432" cy="208"/>
            </p:xfrm>
            <a:graphic>
              <a:graphicData uri="http://schemas.openxmlformats.org/presentationml/2006/ole">
                <mc:AlternateContent xmlns:mc="http://schemas.openxmlformats.org/markup-compatibility/2006">
                  <mc:Choice xmlns:v="urn:schemas-microsoft-com:vml" Requires="v">
                    <p:oleObj spid="_x0000_s3235" name="" r:id="rId9" imgW="685800" imgH="330200" progId="Equation.3">
                      <p:embed/>
                    </p:oleObj>
                  </mc:Choice>
                  <mc:Fallback>
                    <p:oleObj name="" r:id="rId9" imgW="685800" imgH="330200" progId="Equation.3">
                      <p:embed/>
                      <p:pic>
                        <p:nvPicPr>
                          <p:cNvPr id="0" name="图片 3234"/>
                          <p:cNvPicPr/>
                          <p:nvPr/>
                        </p:nvPicPr>
                        <p:blipFill>
                          <a:blip r:embed="rId10"/>
                          <a:stretch>
                            <a:fillRect/>
                          </a:stretch>
                        </p:blipFill>
                        <p:spPr>
                          <a:xfrm>
                            <a:off x="2080" y="2000"/>
                            <a:ext cx="432" cy="208"/>
                          </a:xfrm>
                          <a:prstGeom prst="rect">
                            <a:avLst/>
                          </a:prstGeom>
                          <a:noFill/>
                          <a:ln w="38100">
                            <a:noFill/>
                            <a:miter/>
                          </a:ln>
                        </p:spPr>
                      </p:pic>
                    </p:oleObj>
                  </mc:Fallback>
                </mc:AlternateContent>
              </a:graphicData>
            </a:graphic>
          </p:graphicFrame>
          <p:graphicFrame>
            <p:nvGraphicFramePr>
              <p:cNvPr id="59520" name="Object 125"/>
              <p:cNvGraphicFramePr>
                <a:graphicFrameLocks noChangeAspect="1"/>
              </p:cNvGraphicFramePr>
              <p:nvPr/>
            </p:nvGraphicFramePr>
            <p:xfrm>
              <a:off x="2500" y="2008"/>
              <a:ext cx="456" cy="208"/>
            </p:xfrm>
            <a:graphic>
              <a:graphicData uri="http://schemas.openxmlformats.org/presentationml/2006/ole">
                <mc:AlternateContent xmlns:mc="http://schemas.openxmlformats.org/markup-compatibility/2006">
                  <mc:Choice xmlns:v="urn:schemas-microsoft-com:vml" Requires="v">
                    <p:oleObj spid="_x0000_s3230" name="" r:id="rId11" imgW="723900" imgH="330200" progId="Equation.3">
                      <p:embed/>
                    </p:oleObj>
                  </mc:Choice>
                  <mc:Fallback>
                    <p:oleObj name="" r:id="rId11" imgW="723900" imgH="330200" progId="Equation.3">
                      <p:embed/>
                      <p:pic>
                        <p:nvPicPr>
                          <p:cNvPr id="0" name="图片 3229"/>
                          <p:cNvPicPr/>
                          <p:nvPr/>
                        </p:nvPicPr>
                        <p:blipFill>
                          <a:blip r:embed="rId12"/>
                          <a:stretch>
                            <a:fillRect/>
                          </a:stretch>
                        </p:blipFill>
                        <p:spPr>
                          <a:xfrm>
                            <a:off x="2500" y="2008"/>
                            <a:ext cx="456" cy="208"/>
                          </a:xfrm>
                          <a:prstGeom prst="rect">
                            <a:avLst/>
                          </a:prstGeom>
                          <a:noFill/>
                          <a:ln w="38100">
                            <a:noFill/>
                            <a:miter/>
                          </a:ln>
                        </p:spPr>
                      </p:pic>
                    </p:oleObj>
                  </mc:Fallback>
                </mc:AlternateContent>
              </a:graphicData>
            </a:graphic>
          </p:graphicFrame>
          <p:graphicFrame>
            <p:nvGraphicFramePr>
              <p:cNvPr id="59521" name="Object 126"/>
              <p:cNvGraphicFramePr>
                <a:graphicFrameLocks noChangeAspect="1"/>
              </p:cNvGraphicFramePr>
              <p:nvPr/>
            </p:nvGraphicFramePr>
            <p:xfrm>
              <a:off x="2948" y="2000"/>
              <a:ext cx="440" cy="208"/>
            </p:xfrm>
            <a:graphic>
              <a:graphicData uri="http://schemas.openxmlformats.org/presentationml/2006/ole">
                <mc:AlternateContent xmlns:mc="http://schemas.openxmlformats.org/markup-compatibility/2006">
                  <mc:Choice xmlns:v="urn:schemas-microsoft-com:vml" Requires="v">
                    <p:oleObj spid="_x0000_s3231" name="" r:id="rId13" imgW="698500" imgH="330200" progId="Equation.3">
                      <p:embed/>
                    </p:oleObj>
                  </mc:Choice>
                  <mc:Fallback>
                    <p:oleObj name="" r:id="rId13" imgW="698500" imgH="330200" progId="Equation.3">
                      <p:embed/>
                      <p:pic>
                        <p:nvPicPr>
                          <p:cNvPr id="0" name="图片 3230"/>
                          <p:cNvPicPr/>
                          <p:nvPr/>
                        </p:nvPicPr>
                        <p:blipFill>
                          <a:blip r:embed="rId14"/>
                          <a:stretch>
                            <a:fillRect/>
                          </a:stretch>
                        </p:blipFill>
                        <p:spPr>
                          <a:xfrm>
                            <a:off x="2948" y="2000"/>
                            <a:ext cx="440" cy="208"/>
                          </a:xfrm>
                          <a:prstGeom prst="rect">
                            <a:avLst/>
                          </a:prstGeom>
                          <a:noFill/>
                          <a:ln w="38100">
                            <a:noFill/>
                            <a:miter/>
                          </a:ln>
                        </p:spPr>
                      </p:pic>
                    </p:oleObj>
                  </mc:Fallback>
                </mc:AlternateContent>
              </a:graphicData>
            </a:graphic>
          </p:graphicFrame>
          <p:graphicFrame>
            <p:nvGraphicFramePr>
              <p:cNvPr id="59522" name="Object 127"/>
              <p:cNvGraphicFramePr>
                <a:graphicFrameLocks noChangeAspect="1"/>
              </p:cNvGraphicFramePr>
              <p:nvPr/>
            </p:nvGraphicFramePr>
            <p:xfrm>
              <a:off x="3374" y="2001"/>
              <a:ext cx="448" cy="208"/>
            </p:xfrm>
            <a:graphic>
              <a:graphicData uri="http://schemas.openxmlformats.org/presentationml/2006/ole">
                <mc:AlternateContent xmlns:mc="http://schemas.openxmlformats.org/markup-compatibility/2006">
                  <mc:Choice xmlns:v="urn:schemas-microsoft-com:vml" Requires="v">
                    <p:oleObj spid="_x0000_s3238" name="" r:id="rId15" imgW="711200" imgH="330200" progId="Equation.3">
                      <p:embed/>
                    </p:oleObj>
                  </mc:Choice>
                  <mc:Fallback>
                    <p:oleObj name="" r:id="rId15" imgW="711200" imgH="330200" progId="Equation.3">
                      <p:embed/>
                      <p:pic>
                        <p:nvPicPr>
                          <p:cNvPr id="0" name="图片 3237"/>
                          <p:cNvPicPr/>
                          <p:nvPr/>
                        </p:nvPicPr>
                        <p:blipFill>
                          <a:blip r:embed="rId16"/>
                          <a:stretch>
                            <a:fillRect/>
                          </a:stretch>
                        </p:blipFill>
                        <p:spPr>
                          <a:xfrm>
                            <a:off x="3374" y="2001"/>
                            <a:ext cx="448" cy="208"/>
                          </a:xfrm>
                          <a:prstGeom prst="rect">
                            <a:avLst/>
                          </a:prstGeom>
                          <a:noFill/>
                          <a:ln w="38100">
                            <a:noFill/>
                            <a:miter/>
                          </a:ln>
                        </p:spPr>
                      </p:pic>
                    </p:oleObj>
                  </mc:Fallback>
                </mc:AlternateContent>
              </a:graphicData>
            </a:graphic>
          </p:graphicFrame>
        </p:grpSp>
      </p:grpSp>
      <p:sp>
        <p:nvSpPr>
          <p:cNvPr id="241792" name="Rectangle 128"/>
          <p:cNvSpPr/>
          <p:nvPr/>
        </p:nvSpPr>
        <p:spPr>
          <a:xfrm>
            <a:off x="704850" y="1862138"/>
            <a:ext cx="8099425" cy="365125"/>
          </a:xfrm>
          <a:prstGeom prst="rect">
            <a:avLst/>
          </a:prstGeom>
          <a:solidFill>
            <a:srgbClr val="99CCFF">
              <a:alpha val="50195"/>
            </a:srgbClr>
          </a:solidFill>
          <a:ln w="9525">
            <a:noFill/>
          </a:ln>
        </p:spPr>
        <p:txBody>
          <a:bodyPr lIns="0" tIns="0" rIns="0" bIns="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130175" eaLnBrk="1" hangingPunct="1">
              <a:spcBef>
                <a:spcPct val="0"/>
              </a:spcBef>
              <a:buNone/>
            </a:pPr>
            <a:r>
              <a:rPr lang="en-US" altLang="zh-CN" sz="2400" b="1" dirty="0">
                <a:latin typeface="宋体" panose="02010600030101010101" pitchFamily="2" charset="-122"/>
              </a:rPr>
              <a:t>(</a:t>
            </a:r>
            <a:r>
              <a:rPr lang="en-US" altLang="zh-CN" sz="2400" b="1" dirty="0">
                <a:latin typeface="Times New Roman" panose="02020603050405020304" pitchFamily="18" charset="0"/>
              </a:rPr>
              <a:t>2</a:t>
            </a:r>
            <a:r>
              <a:rPr lang="en-US" altLang="zh-CN" sz="2400" b="1" dirty="0">
                <a:latin typeface="宋体" panose="02010600030101010101" pitchFamily="2" charset="-122"/>
              </a:rPr>
              <a:t>)</a:t>
            </a:r>
            <a:r>
              <a:rPr lang="en-US" altLang="zh-CN" sz="2400" b="1" dirty="0">
                <a:latin typeface="Times New Roman" panose="02020603050405020304" pitchFamily="18" charset="0"/>
              </a:rPr>
              <a:t>  </a:t>
            </a:r>
            <a:r>
              <a:rPr lang="zh-CN" altLang="en-US" sz="2400" b="1" dirty="0">
                <a:latin typeface="宋体" panose="02010600030101010101" pitchFamily="2" charset="-122"/>
              </a:rPr>
              <a:t>不同的最小项，使其值为</a:t>
            </a:r>
            <a:r>
              <a:rPr lang="zh-CN" altLang="en-US" sz="2400" b="1" dirty="0">
                <a:latin typeface="Times New Roman" panose="02020603050405020304" pitchFamily="18" charset="0"/>
              </a:rPr>
              <a:t> </a:t>
            </a:r>
            <a:r>
              <a:rPr lang="en-US" altLang="zh-CN" sz="2400" b="1" dirty="0">
                <a:latin typeface="Times New Roman" panose="02020603050405020304" pitchFamily="18" charset="0"/>
              </a:rPr>
              <a:t>1 </a:t>
            </a:r>
            <a:r>
              <a:rPr lang="zh-CN" altLang="en-US" sz="2400" b="1" dirty="0">
                <a:latin typeface="宋体" panose="02010600030101010101" pitchFamily="2" charset="-122"/>
              </a:rPr>
              <a:t>的那组变量取值也不同。</a:t>
            </a:r>
            <a:endParaRPr lang="zh-CN" altLang="en-US" sz="2400" b="1" dirty="0">
              <a:latin typeface="宋体" panose="02010600030101010101" pitchFamily="2" charset="-122"/>
            </a:endParaRPr>
          </a:p>
        </p:txBody>
      </p:sp>
      <p:sp>
        <p:nvSpPr>
          <p:cNvPr id="241793" name="Rectangle 129"/>
          <p:cNvSpPr/>
          <p:nvPr/>
        </p:nvSpPr>
        <p:spPr>
          <a:xfrm>
            <a:off x="704850" y="2217738"/>
            <a:ext cx="8099425" cy="365125"/>
          </a:xfrm>
          <a:prstGeom prst="rect">
            <a:avLst/>
          </a:prstGeom>
          <a:solidFill>
            <a:srgbClr val="99CCFF">
              <a:alpha val="50195"/>
            </a:srgbClr>
          </a:solidFill>
          <a:ln w="9525">
            <a:noFill/>
          </a:ln>
        </p:spPr>
        <p:txBody>
          <a:bodyPr lIns="0" tIns="0" rIns="0" bIns="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130175" eaLnBrk="1" hangingPunct="1">
              <a:spcBef>
                <a:spcPct val="0"/>
              </a:spcBef>
              <a:buNone/>
            </a:pPr>
            <a:r>
              <a:rPr lang="en-US" altLang="zh-CN" sz="2400" b="1" dirty="0">
                <a:latin typeface="宋体" panose="02010600030101010101" pitchFamily="2" charset="-122"/>
              </a:rPr>
              <a:t>(</a:t>
            </a:r>
            <a:r>
              <a:rPr lang="en-US" altLang="zh-CN" sz="2400" b="1" dirty="0">
                <a:latin typeface="Times New Roman" panose="02020603050405020304" pitchFamily="18" charset="0"/>
              </a:rPr>
              <a:t>3</a:t>
            </a:r>
            <a:r>
              <a:rPr lang="en-US" altLang="zh-CN" sz="2400" b="1" dirty="0">
                <a:latin typeface="宋体" panose="02010600030101010101" pitchFamily="2" charset="-122"/>
              </a:rPr>
              <a:t>)</a:t>
            </a:r>
            <a:r>
              <a:rPr lang="en-US" altLang="zh-CN" sz="2400" b="1" dirty="0">
                <a:latin typeface="Times New Roman" panose="02020603050405020304" pitchFamily="18" charset="0"/>
              </a:rPr>
              <a:t>   </a:t>
            </a:r>
            <a:r>
              <a:rPr lang="zh-CN" altLang="en-US" sz="2400" b="1" dirty="0">
                <a:latin typeface="宋体" panose="02010600030101010101" pitchFamily="2" charset="-122"/>
              </a:rPr>
              <a:t>对于变量的任一组取值，任意两个最小项的乘积为</a:t>
            </a:r>
            <a:r>
              <a:rPr lang="zh-CN" altLang="en-US" sz="2400" b="1" dirty="0">
                <a:latin typeface="Times New Roman" panose="02020603050405020304" pitchFamily="18" charset="0"/>
              </a:rPr>
              <a:t> </a:t>
            </a:r>
            <a:r>
              <a:rPr lang="en-US" altLang="zh-CN" sz="2400" b="1" dirty="0">
                <a:latin typeface="Times New Roman" panose="02020603050405020304" pitchFamily="18" charset="0"/>
              </a:rPr>
              <a:t>0</a:t>
            </a:r>
            <a:r>
              <a:rPr lang="zh-CN" altLang="en-US" sz="2400" b="1" dirty="0">
                <a:latin typeface="宋体" panose="02010600030101010101" pitchFamily="2" charset="-122"/>
              </a:rPr>
              <a:t>。</a:t>
            </a:r>
            <a:endParaRPr lang="zh-CN" altLang="en-US" sz="2400" b="1" dirty="0">
              <a:latin typeface="宋体" panose="02010600030101010101" pitchFamily="2" charset="-122"/>
            </a:endParaRPr>
          </a:p>
        </p:txBody>
      </p:sp>
      <p:sp>
        <p:nvSpPr>
          <p:cNvPr id="241794" name="Rectangle 130"/>
          <p:cNvSpPr/>
          <p:nvPr/>
        </p:nvSpPr>
        <p:spPr>
          <a:xfrm>
            <a:off x="704850" y="2573338"/>
            <a:ext cx="8099425" cy="365125"/>
          </a:xfrm>
          <a:prstGeom prst="rect">
            <a:avLst/>
          </a:prstGeom>
          <a:solidFill>
            <a:srgbClr val="99CCFF">
              <a:alpha val="50195"/>
            </a:srgbClr>
          </a:solidFill>
          <a:ln w="9525">
            <a:noFill/>
          </a:ln>
        </p:spPr>
        <p:txBody>
          <a:bodyPr lIns="0" tIns="0" rIns="0" bIns="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130175" eaLnBrk="1" hangingPunct="1">
              <a:spcBef>
                <a:spcPct val="0"/>
              </a:spcBef>
              <a:buNone/>
            </a:pPr>
            <a:r>
              <a:rPr lang="en-US" altLang="zh-CN" sz="2400" b="1" dirty="0">
                <a:latin typeface="宋体" panose="02010600030101010101" pitchFamily="2" charset="-122"/>
              </a:rPr>
              <a:t>(</a:t>
            </a:r>
            <a:r>
              <a:rPr lang="en-US" altLang="zh-CN" sz="2400" b="1" dirty="0">
                <a:latin typeface="Times New Roman" panose="02020603050405020304" pitchFamily="18" charset="0"/>
              </a:rPr>
              <a:t>4</a:t>
            </a:r>
            <a:r>
              <a:rPr lang="en-US" altLang="zh-CN" sz="2400" b="1" dirty="0">
                <a:latin typeface="宋体" panose="02010600030101010101" pitchFamily="2" charset="-122"/>
              </a:rPr>
              <a:t>)</a:t>
            </a:r>
            <a:r>
              <a:rPr lang="en-US" altLang="zh-CN" sz="2400" b="1" dirty="0">
                <a:latin typeface="Times New Roman" panose="02020603050405020304" pitchFamily="18" charset="0"/>
              </a:rPr>
              <a:t>   </a:t>
            </a:r>
            <a:r>
              <a:rPr lang="zh-CN" altLang="en-US" sz="2400" b="1" dirty="0">
                <a:latin typeface="宋体" panose="02010600030101010101" pitchFamily="2" charset="-122"/>
              </a:rPr>
              <a:t>对于变量的任一组取值，全体最小项的和为</a:t>
            </a:r>
            <a:r>
              <a:rPr lang="zh-CN" altLang="en-US" sz="2400" b="1" dirty="0">
                <a:latin typeface="Times New Roman" panose="02020603050405020304" pitchFamily="18" charset="0"/>
              </a:rPr>
              <a:t> </a:t>
            </a:r>
            <a:r>
              <a:rPr lang="en-US" altLang="zh-CN" sz="2400" b="1" dirty="0">
                <a:latin typeface="Times New Roman" panose="02020603050405020304" pitchFamily="18" charset="0"/>
              </a:rPr>
              <a:t>1</a:t>
            </a:r>
            <a:r>
              <a:rPr lang="zh-CN" altLang="en-US" sz="2400" b="1" dirty="0">
                <a:latin typeface="宋体" panose="02010600030101010101" pitchFamily="2" charset="-122"/>
              </a:rPr>
              <a:t>。 </a:t>
            </a:r>
            <a:endParaRPr lang="zh-CN" altLang="en-US" sz="2400" b="1" dirty="0">
              <a:latin typeface="宋体" panose="02010600030101010101" pitchFamily="2" charset="-122"/>
            </a:endParaRPr>
          </a:p>
        </p:txBody>
      </p:sp>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41666"/>
                                        </p:tgtEl>
                                        <p:attrNameLst>
                                          <p:attrName>style.visibility</p:attrName>
                                        </p:attrNameLst>
                                      </p:cBhvr>
                                      <p:to>
                                        <p:strVal val="visible"/>
                                      </p:to>
                                    </p:set>
                                    <p:animEffect transition="in" filter="wipe(left)">
                                      <p:cBhvr>
                                        <p:cTn id="7" dur="500"/>
                                        <p:tgtEl>
                                          <p:spTgt spid="24166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41667"/>
                                        </p:tgtEl>
                                        <p:attrNameLst>
                                          <p:attrName>style.visibility</p:attrName>
                                        </p:attrNameLst>
                                      </p:cBhvr>
                                      <p:to>
                                        <p:strVal val="visible"/>
                                      </p:to>
                                    </p:set>
                                    <p:animEffect transition="in" filter="blinds(horizontal)">
                                      <p:cBhvr>
                                        <p:cTn id="12" dur="500"/>
                                        <p:tgtEl>
                                          <p:spTgt spid="24166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1792"/>
                                        </p:tgtEl>
                                        <p:attrNameLst>
                                          <p:attrName>style.visibility</p:attrName>
                                        </p:attrNameLst>
                                      </p:cBhvr>
                                      <p:to>
                                        <p:strVal val="visible"/>
                                      </p:to>
                                    </p:set>
                                    <p:animEffect transition="in" filter="wipe(left)">
                                      <p:cBhvr>
                                        <p:cTn id="17" dur="500"/>
                                        <p:tgtEl>
                                          <p:spTgt spid="24179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41793"/>
                                        </p:tgtEl>
                                        <p:attrNameLst>
                                          <p:attrName>style.visibility</p:attrName>
                                        </p:attrNameLst>
                                      </p:cBhvr>
                                      <p:to>
                                        <p:strVal val="visible"/>
                                      </p:to>
                                    </p:set>
                                    <p:animEffect transition="in" filter="wipe(left)">
                                      <p:cBhvr>
                                        <p:cTn id="22" dur="500"/>
                                        <p:tgtEl>
                                          <p:spTgt spid="24179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41794"/>
                                        </p:tgtEl>
                                        <p:attrNameLst>
                                          <p:attrName>style.visibility</p:attrName>
                                        </p:attrNameLst>
                                      </p:cBhvr>
                                      <p:to>
                                        <p:strVal val="visible"/>
                                      </p:to>
                                    </p:set>
                                    <p:animEffect transition="in" filter="wipe(left)">
                                      <p:cBhvr>
                                        <p:cTn id="27" dur="500"/>
                                        <p:tgtEl>
                                          <p:spTgt spid="2417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66" grpId="0"/>
      <p:bldP spid="241792" grpId="0" animBg="1"/>
      <p:bldP spid="241793" grpId="0" animBg="1"/>
      <p:bldP spid="241794"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0418" name="Group 11"/>
          <p:cNvGrpSpPr/>
          <p:nvPr/>
        </p:nvGrpSpPr>
        <p:grpSpPr>
          <a:xfrm>
            <a:off x="565150" y="333375"/>
            <a:ext cx="7921625" cy="4340225"/>
            <a:chOff x="385" y="754"/>
            <a:chExt cx="4990" cy="2734"/>
          </a:xfrm>
        </p:grpSpPr>
        <p:sp>
          <p:nvSpPr>
            <p:cNvPr id="60421" name="Text Box 7"/>
            <p:cNvSpPr txBox="1"/>
            <p:nvPr/>
          </p:nvSpPr>
          <p:spPr>
            <a:xfrm>
              <a:off x="385" y="754"/>
              <a:ext cx="4990" cy="273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50000"/>
                </a:lnSpc>
                <a:spcBef>
                  <a:spcPct val="50000"/>
                </a:spcBef>
                <a:buNone/>
              </a:pPr>
              <a:r>
                <a:rPr lang="zh-CN" altLang="en-US" sz="2400" b="1" dirty="0">
                  <a:latin typeface="Times New Roman" panose="02020603050405020304" pitchFamily="18" charset="0"/>
                </a:rPr>
                <a:t>二、逻辑函数的“</a:t>
              </a:r>
              <a:r>
                <a:rPr lang="zh-CN" altLang="en-US" sz="2400" b="1" dirty="0">
                  <a:latin typeface="Times New Roman" panose="02020603050405020304" pitchFamily="18" charset="0"/>
                  <a:ea typeface="黑体" panose="02010609060101010101" pitchFamily="49" charset="-122"/>
                </a:rPr>
                <a:t>最小项之和</a:t>
              </a:r>
              <a:r>
                <a:rPr lang="zh-CN" altLang="en-US" sz="2400" b="1" dirty="0">
                  <a:latin typeface="Times New Roman" panose="02020603050405020304" pitchFamily="18" charset="0"/>
                </a:rPr>
                <a:t>”形式</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标准“与或”表达式（</a:t>
              </a:r>
              <a:r>
                <a:rPr lang="zh-CN" altLang="en-US" sz="2400" b="1" dirty="0">
                  <a:solidFill>
                    <a:srgbClr val="FF0000"/>
                  </a:solidFill>
                  <a:latin typeface="Times New Roman" panose="02020603050405020304" pitchFamily="18" charset="0"/>
                </a:rPr>
                <a:t>积之和 </a:t>
              </a:r>
              <a:r>
                <a:rPr lang="zh-CN" altLang="en-US" sz="2400" b="1" dirty="0">
                  <a:latin typeface="Times New Roman" panose="02020603050405020304" pitchFamily="18" charset="0"/>
                </a:rPr>
                <a:t>形式）（</a:t>
              </a:r>
              <a:r>
                <a:rPr lang="en-US" altLang="zh-CN" sz="2400" b="1" dirty="0">
                  <a:solidFill>
                    <a:srgbClr val="FF0000"/>
                  </a:solidFill>
                  <a:latin typeface="Times New Roman" panose="02020603050405020304" pitchFamily="18" charset="0"/>
                </a:rPr>
                <a:t>SOP</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a:p>
              <a:pPr marL="0" lvl="0" indent="0" eaLnBrk="1" hangingPunct="1">
                <a:lnSpc>
                  <a:spcPct val="150000"/>
                </a:lnSpc>
                <a:spcBef>
                  <a:spcPct val="50000"/>
                </a:spcBef>
                <a:buNone/>
              </a:pPr>
              <a:r>
                <a:rPr lang="zh-CN" altLang="en-US" sz="2400" b="1" dirty="0">
                  <a:latin typeface="Times New Roman" panose="02020603050405020304" pitchFamily="18" charset="0"/>
                </a:rPr>
                <a:t>         利用基本公式                           ，可将任何一个逻辑函数化为</a:t>
              </a:r>
              <a:r>
                <a:rPr lang="zh-CN" altLang="en-US" sz="2400" b="1" dirty="0">
                  <a:solidFill>
                    <a:srgbClr val="FF0000"/>
                  </a:solidFill>
                  <a:latin typeface="Times New Roman" panose="02020603050405020304" pitchFamily="18" charset="0"/>
                </a:rPr>
                <a:t>最小项之和</a:t>
              </a:r>
              <a:r>
                <a:rPr lang="zh-CN" altLang="en-US" sz="2400" b="1" dirty="0">
                  <a:latin typeface="Times New Roman" panose="02020603050405020304" pitchFamily="18" charset="0"/>
                </a:rPr>
                <a:t>的标准形式。这种标准形式在逻辑函数的化简以及计算机辅助分析和设计中得到了广泛的应用。</a:t>
              </a:r>
              <a:endParaRPr lang="zh-CN" altLang="en-US" sz="2400" b="1" dirty="0">
                <a:latin typeface="Times New Roman" panose="02020603050405020304" pitchFamily="18" charset="0"/>
              </a:endParaRPr>
            </a:p>
            <a:p>
              <a:pPr marL="0" lvl="0" indent="0" eaLnBrk="1" hangingPunct="1">
                <a:lnSpc>
                  <a:spcPct val="150000"/>
                </a:lnSpc>
                <a:spcBef>
                  <a:spcPct val="50000"/>
                </a:spcBef>
                <a:buNone/>
              </a:pPr>
              <a:r>
                <a:rPr lang="zh-CN" altLang="en-US" sz="2400" b="1" dirty="0">
                  <a:latin typeface="Times New Roman" panose="02020603050405020304" pitchFamily="18" charset="0"/>
                </a:rPr>
                <a:t>         </a:t>
              </a:r>
              <a:r>
                <a:rPr lang="zh-CN" altLang="en-US" sz="2400" b="1" dirty="0">
                  <a:solidFill>
                    <a:srgbClr val="FF0000"/>
                  </a:solidFill>
                  <a:latin typeface="楷体_GB2312" pitchFamily="49" charset="-122"/>
                  <a:ea typeface="楷体_GB2312" pitchFamily="49" charset="-122"/>
                </a:rPr>
                <a:t>例：</a:t>
              </a:r>
              <a:r>
                <a:rPr lang="zh-CN" altLang="en-US" sz="2400" b="1" dirty="0">
                  <a:latin typeface="楷体_GB2312" pitchFamily="49" charset="-122"/>
                  <a:ea typeface="楷体_GB2312" pitchFamily="49" charset="-122"/>
                </a:rPr>
                <a:t>试将逻辑函数                                   展为</a:t>
              </a:r>
              <a:r>
                <a:rPr lang="zh-CN" altLang="en-US" sz="2400" b="1" dirty="0">
                  <a:solidFill>
                    <a:srgbClr val="FF0000"/>
                  </a:solidFill>
                  <a:latin typeface="楷体_GB2312" pitchFamily="49" charset="-122"/>
                  <a:ea typeface="楷体_GB2312" pitchFamily="49" charset="-122"/>
                </a:rPr>
                <a:t>最小项之和</a:t>
              </a:r>
              <a:r>
                <a:rPr lang="zh-CN" altLang="en-US" sz="2400" b="1" dirty="0">
                  <a:latin typeface="楷体_GB2312" pitchFamily="49" charset="-122"/>
                  <a:ea typeface="楷体_GB2312" pitchFamily="49" charset="-122"/>
                </a:rPr>
                <a:t>的形式。</a:t>
              </a:r>
              <a:endParaRPr lang="zh-CN" altLang="en-US" sz="2400" b="1" dirty="0">
                <a:latin typeface="楷体_GB2312" pitchFamily="49" charset="-122"/>
                <a:ea typeface="楷体_GB2312" pitchFamily="49" charset="-122"/>
              </a:endParaRPr>
            </a:p>
          </p:txBody>
        </p:sp>
        <p:graphicFrame>
          <p:nvGraphicFramePr>
            <p:cNvPr id="60422" name="Object 8"/>
            <p:cNvGraphicFramePr>
              <a:graphicFrameLocks noChangeAspect="1"/>
            </p:cNvGraphicFramePr>
            <p:nvPr/>
          </p:nvGraphicFramePr>
          <p:xfrm>
            <a:off x="2154" y="1535"/>
            <a:ext cx="1144" cy="398"/>
          </p:xfrm>
          <a:graphic>
            <a:graphicData uri="http://schemas.openxmlformats.org/presentationml/2006/ole">
              <mc:AlternateContent xmlns:mc="http://schemas.openxmlformats.org/markup-compatibility/2006">
                <mc:Choice xmlns:v="urn:schemas-microsoft-com:vml" Requires="v">
                  <p:oleObj spid="_x0000_s3234" name="" r:id="rId1" imgW="622300" imgH="114300" progId="Equation.3">
                    <p:embed/>
                  </p:oleObj>
                </mc:Choice>
                <mc:Fallback>
                  <p:oleObj name="" r:id="rId1" imgW="622300" imgH="114300" progId="Equation.3">
                    <p:embed/>
                    <p:pic>
                      <p:nvPicPr>
                        <p:cNvPr id="0" name="图片 3233"/>
                        <p:cNvPicPr/>
                        <p:nvPr/>
                      </p:nvPicPr>
                      <p:blipFill>
                        <a:blip r:embed="rId2">
                          <a:clrChange>
                            <a:clrFrom>
                              <a:srgbClr val="000000"/>
                            </a:clrFrom>
                            <a:clrTo>
                              <a:srgbClr val="FF0000"/>
                            </a:clrTo>
                          </a:clrChange>
                        </a:blip>
                        <a:stretch>
                          <a:fillRect/>
                        </a:stretch>
                      </p:blipFill>
                      <p:spPr>
                        <a:xfrm>
                          <a:off x="2154" y="1535"/>
                          <a:ext cx="1144" cy="398"/>
                        </a:xfrm>
                        <a:prstGeom prst="rect">
                          <a:avLst/>
                        </a:prstGeom>
                        <a:noFill/>
                        <a:ln w="28575" cap="flat" cmpd="sng">
                          <a:solidFill>
                            <a:schemeClr val="tx1"/>
                          </a:solidFill>
                          <a:prstDash val="solid"/>
                          <a:miter/>
                          <a:headEnd type="none" w="med" len="med"/>
                          <a:tailEnd type="none" w="med" len="med"/>
                        </a:ln>
                      </p:spPr>
                    </p:pic>
                  </p:oleObj>
                </mc:Fallback>
              </mc:AlternateContent>
            </a:graphicData>
          </a:graphic>
        </p:graphicFrame>
        <p:graphicFrame>
          <p:nvGraphicFramePr>
            <p:cNvPr id="60423" name="Object 9"/>
            <p:cNvGraphicFramePr>
              <a:graphicFrameLocks noChangeAspect="1"/>
            </p:cNvGraphicFramePr>
            <p:nvPr/>
          </p:nvGraphicFramePr>
          <p:xfrm>
            <a:off x="2562" y="2749"/>
            <a:ext cx="2448" cy="347"/>
          </p:xfrm>
          <a:graphic>
            <a:graphicData uri="http://schemas.openxmlformats.org/presentationml/2006/ole">
              <mc:AlternateContent xmlns:mc="http://schemas.openxmlformats.org/markup-compatibility/2006">
                <mc:Choice xmlns:v="urn:schemas-microsoft-com:vml" Requires="v">
                  <p:oleObj spid="_x0000_s3237" name="" r:id="rId3" imgW="1523365" imgH="215900" progId="Equation.3">
                    <p:embed/>
                  </p:oleObj>
                </mc:Choice>
                <mc:Fallback>
                  <p:oleObj name="" r:id="rId3" imgW="1523365" imgH="215900" progId="Equation.3">
                    <p:embed/>
                    <p:pic>
                      <p:nvPicPr>
                        <p:cNvPr id="0" name="图片 3236"/>
                        <p:cNvPicPr/>
                        <p:nvPr/>
                      </p:nvPicPr>
                      <p:blipFill>
                        <a:blip r:embed="rId4"/>
                        <a:stretch>
                          <a:fillRect/>
                        </a:stretch>
                      </p:blipFill>
                      <p:spPr>
                        <a:xfrm>
                          <a:off x="2562" y="2749"/>
                          <a:ext cx="2448" cy="347"/>
                        </a:xfrm>
                        <a:prstGeom prst="rect">
                          <a:avLst/>
                        </a:prstGeom>
                        <a:noFill/>
                        <a:ln w="38100">
                          <a:noFill/>
                          <a:miter/>
                        </a:ln>
                      </p:spPr>
                    </p:pic>
                  </p:oleObj>
                </mc:Fallback>
              </mc:AlternateContent>
            </a:graphicData>
          </a:graphic>
        </p:graphicFrame>
      </p:grpSp>
      <p:sp>
        <p:nvSpPr>
          <p:cNvPr id="60419" name="矩形 1"/>
          <p:cNvSpPr/>
          <p:nvPr/>
        </p:nvSpPr>
        <p:spPr>
          <a:xfrm>
            <a:off x="565150" y="4656138"/>
            <a:ext cx="8443913" cy="83026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zh-CN" altLang="en-US" sz="2400" dirty="0"/>
              <a:t>任何函数 </a:t>
            </a:r>
            <a:r>
              <a:rPr lang="en-US" altLang="zh-CN" sz="2400" dirty="0"/>
              <a:t>f </a:t>
            </a:r>
            <a:r>
              <a:rPr lang="zh-CN" altLang="en-US" sz="2400" dirty="0"/>
              <a:t>都可以用</a:t>
            </a:r>
            <a:r>
              <a:rPr lang="zh-CN" altLang="en-US" sz="2400" dirty="0">
                <a:solidFill>
                  <a:srgbClr val="FF0000"/>
                </a:solidFill>
              </a:rPr>
              <a:t>真值表</a:t>
            </a:r>
            <a:r>
              <a:rPr lang="zh-CN" altLang="en-US" sz="2400" dirty="0"/>
              <a:t>中使 </a:t>
            </a:r>
            <a:r>
              <a:rPr lang="en-US" altLang="zh-CN" sz="2400" dirty="0"/>
              <a:t>f  =1  </a:t>
            </a:r>
            <a:r>
              <a:rPr lang="zh-CN" altLang="en-US" sz="2400" dirty="0"/>
              <a:t>的各行所对应的最小项的</a:t>
            </a:r>
            <a:r>
              <a:rPr lang="zh-CN" altLang="en-US" sz="2400" dirty="0">
                <a:solidFill>
                  <a:srgbClr val="FF0000"/>
                </a:solidFill>
              </a:rPr>
              <a:t>逻辑和</a:t>
            </a:r>
            <a:r>
              <a:rPr lang="zh-CN" altLang="en-US" sz="2400" dirty="0"/>
              <a:t>来表示。</a:t>
            </a:r>
            <a:endParaRPr lang="zh-CN" altLang="en-US" sz="2400" dirty="0"/>
          </a:p>
        </p:txBody>
      </p:sp>
      <p:sp>
        <p:nvSpPr>
          <p:cNvPr id="60420" name="矩形 2"/>
          <p:cNvSpPr/>
          <p:nvPr/>
        </p:nvSpPr>
        <p:spPr>
          <a:xfrm>
            <a:off x="471488" y="5600700"/>
            <a:ext cx="8523287" cy="12001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zh-CN" altLang="en-US" sz="2400" dirty="0"/>
              <a:t>若逻辑表达式由乘积项（与）的逻辑和（或）的组成，则该逻辑表达式被称为</a:t>
            </a:r>
            <a:r>
              <a:rPr lang="zh-CN" altLang="en-US" sz="2400" dirty="0">
                <a:solidFill>
                  <a:srgbClr val="FF0000"/>
                </a:solidFill>
              </a:rPr>
              <a:t>积之和</a:t>
            </a:r>
            <a:r>
              <a:rPr lang="zh-CN" altLang="en-US" sz="2400" dirty="0"/>
              <a:t>形式。若每个乘积项都为最小项，则该式被称为函数 </a:t>
            </a:r>
            <a:r>
              <a:rPr lang="en-US" altLang="zh-CN" sz="2400" dirty="0"/>
              <a:t>f </a:t>
            </a:r>
            <a:r>
              <a:rPr lang="zh-CN" altLang="en-US" sz="2400" dirty="0"/>
              <a:t>的</a:t>
            </a:r>
            <a:r>
              <a:rPr lang="zh-CN" altLang="en-US" sz="2400" dirty="0">
                <a:solidFill>
                  <a:srgbClr val="FF0000"/>
                </a:solidFill>
              </a:rPr>
              <a:t>正则积之和</a:t>
            </a:r>
            <a:r>
              <a:rPr lang="zh-CN" altLang="en-US" sz="2400" dirty="0"/>
              <a:t>表达式。</a:t>
            </a:r>
            <a:endParaRPr lang="zh-CN" altLang="en-US" sz="2400" dirty="0"/>
          </a:p>
        </p:txBody>
      </p:sp>
    </p:spTree>
  </p:cSld>
  <p:clrMapOvr>
    <a:masterClrMapping/>
  </p:clrMapOvr>
  <p:transition spd="slow" advClick="0"/>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2"/>
          <p:cNvSpPr>
            <a:spLocks noGrp="1"/>
          </p:cNvSpPr>
          <p:nvPr>
            <p:ph idx="1"/>
          </p:nvPr>
        </p:nvSpPr>
        <p:spPr>
          <a:xfrm>
            <a:off x="352425" y="558800"/>
            <a:ext cx="8555038" cy="6016625"/>
          </a:xfrm>
          <a:ln/>
        </p:spPr>
        <p:txBody>
          <a:bodyPr vert="horz" wrap="square" lIns="91440" tIns="45720" rIns="91440" bIns="45720" anchor="t" anchorCtr="0"/>
          <a:p>
            <a:pPr eaLnBrk="1" hangingPunct="1">
              <a:lnSpc>
                <a:spcPts val="3600"/>
              </a:lnSpc>
            </a:pPr>
            <a:r>
              <a:rPr lang="zh-CN" altLang="en-US" sz="2400" dirty="0">
                <a:solidFill>
                  <a:srgbClr val="0000FF"/>
                </a:solidFill>
              </a:rPr>
              <a:t>最大项定义</a:t>
            </a:r>
            <a:endParaRPr lang="zh-CN" altLang="en-US" sz="2400" dirty="0">
              <a:solidFill>
                <a:srgbClr val="0000FF"/>
              </a:solidFill>
            </a:endParaRPr>
          </a:p>
          <a:p>
            <a:pPr eaLnBrk="1" hangingPunct="1">
              <a:lnSpc>
                <a:spcPts val="3600"/>
              </a:lnSpc>
              <a:buFont typeface="Wingdings" panose="05000000000000000000" pitchFamily="2" charset="2"/>
              <a:buNone/>
            </a:pPr>
            <a:r>
              <a:rPr lang="zh-CN" altLang="en-US" sz="2400" dirty="0"/>
              <a:t>        逻辑函数中，如果一个</a:t>
            </a:r>
            <a:r>
              <a:rPr lang="zh-CN" altLang="en-US" sz="2400" dirty="0">
                <a:solidFill>
                  <a:srgbClr val="FF0000"/>
                </a:solidFill>
              </a:rPr>
              <a:t>或项</a:t>
            </a:r>
            <a:r>
              <a:rPr lang="zh-CN" altLang="en-US" sz="2400" dirty="0"/>
              <a:t>（和项）包含该逻辑函数的全部变量，且每个变量或以原变量或以反变量只出现一次，则该或项称为最大项。对于</a:t>
            </a:r>
            <a:r>
              <a:rPr lang="en-US" altLang="zh-CN" sz="2400" dirty="0"/>
              <a:t>n</a:t>
            </a:r>
            <a:r>
              <a:rPr lang="zh-CN" altLang="en-US" sz="2400" dirty="0"/>
              <a:t>个变量的逻辑函数共有</a:t>
            </a:r>
            <a:r>
              <a:rPr lang="en-US" altLang="zh-CN" sz="2400" dirty="0"/>
              <a:t>2</a:t>
            </a:r>
            <a:r>
              <a:rPr lang="en-US" altLang="zh-CN" sz="2400" baseline="30000" dirty="0"/>
              <a:t>n</a:t>
            </a:r>
            <a:r>
              <a:rPr lang="zh-CN" altLang="en-US" sz="2400" dirty="0"/>
              <a:t>个最大项。</a:t>
            </a:r>
            <a:endParaRPr lang="zh-CN" altLang="en-US" sz="2400" dirty="0"/>
          </a:p>
          <a:p>
            <a:pPr eaLnBrk="1" hangingPunct="1">
              <a:lnSpc>
                <a:spcPts val="3600"/>
              </a:lnSpc>
            </a:pPr>
            <a:r>
              <a:rPr lang="zh-CN" altLang="en-US" sz="2400" dirty="0">
                <a:solidFill>
                  <a:srgbClr val="0000FF"/>
                </a:solidFill>
              </a:rPr>
              <a:t>最大项的表示</a:t>
            </a:r>
            <a:endParaRPr lang="zh-CN" altLang="en-US" sz="2400" dirty="0">
              <a:solidFill>
                <a:srgbClr val="0000FF"/>
              </a:solidFill>
            </a:endParaRPr>
          </a:p>
          <a:p>
            <a:pPr eaLnBrk="1" hangingPunct="1">
              <a:lnSpc>
                <a:spcPts val="3600"/>
              </a:lnSpc>
              <a:buFont typeface="Wingdings" panose="05000000000000000000" pitchFamily="2" charset="2"/>
              <a:buNone/>
            </a:pPr>
            <a:r>
              <a:rPr lang="zh-CN" altLang="en-US" sz="2400" dirty="0"/>
              <a:t>        </a:t>
            </a:r>
            <a:r>
              <a:rPr lang="zh-CN" altLang="en-US" sz="2400" dirty="0">
                <a:solidFill>
                  <a:srgbClr val="FF0000"/>
                </a:solidFill>
              </a:rPr>
              <a:t>最大项用</a:t>
            </a:r>
            <a:r>
              <a:rPr lang="en-US" altLang="zh-CN" sz="2400" dirty="0">
                <a:solidFill>
                  <a:srgbClr val="FF0000"/>
                </a:solidFill>
              </a:rPr>
              <a:t>M</a:t>
            </a:r>
            <a:r>
              <a:rPr lang="zh-CN" altLang="en-US" sz="2400" dirty="0">
                <a:solidFill>
                  <a:srgbClr val="FF0000"/>
                </a:solidFill>
              </a:rPr>
              <a:t>表示</a:t>
            </a:r>
            <a:r>
              <a:rPr lang="zh-CN" altLang="en-US" sz="2400" dirty="0"/>
              <a:t>，通常用十进制数作最大项编号。把最大项中的</a:t>
            </a:r>
            <a:r>
              <a:rPr lang="zh-CN" altLang="en-US" sz="2400" dirty="0">
                <a:solidFill>
                  <a:srgbClr val="FF0000"/>
                </a:solidFill>
              </a:rPr>
              <a:t>原变量当作</a:t>
            </a:r>
            <a:r>
              <a:rPr lang="en-US" altLang="zh-CN" sz="2400" dirty="0">
                <a:solidFill>
                  <a:srgbClr val="FF0000"/>
                </a:solidFill>
              </a:rPr>
              <a:t>0</a:t>
            </a:r>
            <a:r>
              <a:rPr lang="zh-CN" altLang="en-US" sz="2400" dirty="0"/>
              <a:t>，</a:t>
            </a:r>
            <a:r>
              <a:rPr lang="zh-CN" altLang="en-US" sz="2400" dirty="0">
                <a:solidFill>
                  <a:srgbClr val="FF0000"/>
                </a:solidFill>
              </a:rPr>
              <a:t>反变量当作</a:t>
            </a:r>
            <a:r>
              <a:rPr lang="en-US" altLang="zh-CN" sz="2400" dirty="0">
                <a:solidFill>
                  <a:srgbClr val="FF0000"/>
                </a:solidFill>
              </a:rPr>
              <a:t>1</a:t>
            </a:r>
            <a:r>
              <a:rPr lang="zh-CN" altLang="en-US" sz="2400" dirty="0"/>
              <a:t>，所得的二进制数所对应的十进制数即为最大项的编号。</a:t>
            </a:r>
            <a:endParaRPr lang="zh-CN" altLang="en-US" sz="2400" dirty="0"/>
          </a:p>
          <a:p>
            <a:pPr eaLnBrk="1" hangingPunct="1">
              <a:lnSpc>
                <a:spcPts val="3600"/>
              </a:lnSpc>
            </a:pPr>
            <a:r>
              <a:rPr lang="zh-CN" altLang="en-US" sz="2400" dirty="0"/>
              <a:t>若干最大项之</a:t>
            </a:r>
            <a:r>
              <a:rPr lang="zh-CN" altLang="en-US" sz="2400" b="1" dirty="0">
                <a:latin typeface="Times New Roman" panose="02020603050405020304" pitchFamily="18" charset="0"/>
              </a:rPr>
              <a:t>积</a:t>
            </a:r>
            <a:r>
              <a:rPr lang="zh-CN" altLang="en-US" sz="2400" dirty="0"/>
              <a:t>构成</a:t>
            </a:r>
            <a:r>
              <a:rPr lang="zh-CN" altLang="en-US" sz="2400" dirty="0">
                <a:solidFill>
                  <a:srgbClr val="FF0000"/>
                </a:solidFill>
              </a:rPr>
              <a:t>最大项表达式</a:t>
            </a:r>
            <a:r>
              <a:rPr lang="zh-CN" altLang="en-US" sz="2400" dirty="0">
                <a:solidFill>
                  <a:srgbClr val="0000FF"/>
                </a:solidFill>
              </a:rPr>
              <a:t>（也叫标准</a:t>
            </a:r>
            <a:r>
              <a:rPr lang="zh-CN" altLang="en-US" sz="2400" dirty="0">
                <a:solidFill>
                  <a:srgbClr val="FF0000"/>
                </a:solidFill>
              </a:rPr>
              <a:t>或</a:t>
            </a:r>
            <a:r>
              <a:rPr lang="en-US" altLang="zh-CN" sz="2400" dirty="0">
                <a:solidFill>
                  <a:srgbClr val="FF0000"/>
                </a:solidFill>
              </a:rPr>
              <a:t>-</a:t>
            </a:r>
            <a:r>
              <a:rPr lang="zh-CN" altLang="en-US" sz="2400" dirty="0">
                <a:solidFill>
                  <a:srgbClr val="FF0000"/>
                </a:solidFill>
              </a:rPr>
              <a:t>与</a:t>
            </a:r>
            <a:r>
              <a:rPr lang="zh-CN" altLang="en-US" sz="2400" dirty="0">
                <a:solidFill>
                  <a:srgbClr val="0000FF"/>
                </a:solidFill>
              </a:rPr>
              <a:t>表达式）：</a:t>
            </a:r>
            <a:endParaRPr lang="zh-CN" altLang="en-US" sz="2400" dirty="0">
              <a:solidFill>
                <a:srgbClr val="0000FF"/>
              </a:solidFill>
            </a:endParaRPr>
          </a:p>
          <a:p>
            <a:pPr eaLnBrk="1" hangingPunct="1">
              <a:lnSpc>
                <a:spcPts val="3600"/>
              </a:lnSpc>
            </a:pPr>
            <a:r>
              <a:rPr lang="zh-CN" altLang="en-US" sz="2400" dirty="0"/>
              <a:t>变量数相同时，下标编号相同的最大项和最小项应为</a:t>
            </a:r>
            <a:r>
              <a:rPr lang="zh-CN" altLang="en-US" sz="2400" dirty="0">
                <a:solidFill>
                  <a:srgbClr val="FF0000"/>
                </a:solidFill>
              </a:rPr>
              <a:t>互补</a:t>
            </a:r>
            <a:r>
              <a:rPr lang="zh-CN" altLang="en-US" sz="2400" dirty="0"/>
              <a:t>。</a:t>
            </a:r>
            <a:endParaRPr lang="zh-CN" altLang="en-US" sz="2400" dirty="0"/>
          </a:p>
        </p:txBody>
      </p:sp>
    </p:spTree>
  </p:cSld>
  <p:clrMapOvr>
    <a:masterClrMapping/>
  </p:clrMapOvr>
  <p:transition spd="slow" advClick="0"/>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Text Box 8"/>
          <p:cNvSpPr txBox="1"/>
          <p:nvPr/>
        </p:nvSpPr>
        <p:spPr>
          <a:xfrm>
            <a:off x="1619250" y="765175"/>
            <a:ext cx="54102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en-US" altLang="zh-CN"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三变量最大项编号表</a:t>
            </a:r>
            <a:endParaRPr lang="zh-CN" altLang="en-US" sz="2400" b="1" dirty="0">
              <a:latin typeface="楷体_GB2312" pitchFamily="49" charset="-122"/>
              <a:ea typeface="楷体_GB2312" pitchFamily="49" charset="-122"/>
            </a:endParaRPr>
          </a:p>
        </p:txBody>
      </p:sp>
      <p:sp>
        <p:nvSpPr>
          <p:cNvPr id="62467" name="Rectangle 9"/>
          <p:cNvSpPr/>
          <p:nvPr/>
        </p:nvSpPr>
        <p:spPr>
          <a:xfrm>
            <a:off x="468313" y="5084763"/>
            <a:ext cx="6840537"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solidFill>
                  <a:srgbClr val="FF0000"/>
                </a:solidFill>
                <a:latin typeface="Times New Roman" panose="02020603050405020304" pitchFamily="18" charset="0"/>
              </a:rPr>
              <a:t>思考：</a:t>
            </a:r>
            <a:r>
              <a:rPr lang="zh-CN" altLang="en-US" sz="2400" b="1" dirty="0">
                <a:latin typeface="Times New Roman" panose="02020603050405020304" pitchFamily="18" charset="0"/>
              </a:rPr>
              <a:t>最大项与最小项之间存在什么关系？</a:t>
            </a:r>
            <a:endParaRPr lang="zh-CN" altLang="en-US" sz="2400" b="1" dirty="0">
              <a:latin typeface="Times New Roman" panose="02020603050405020304" pitchFamily="18" charset="0"/>
            </a:endParaRPr>
          </a:p>
        </p:txBody>
      </p:sp>
      <p:graphicFrame>
        <p:nvGraphicFramePr>
          <p:cNvPr id="57354" name="Object 10"/>
          <p:cNvGraphicFramePr>
            <a:graphicFrameLocks noChangeAspect="1"/>
          </p:cNvGraphicFramePr>
          <p:nvPr/>
        </p:nvGraphicFramePr>
        <p:xfrm>
          <a:off x="2916238" y="5516563"/>
          <a:ext cx="3600450" cy="836612"/>
        </p:xfrm>
        <a:graphic>
          <a:graphicData uri="http://schemas.openxmlformats.org/presentationml/2006/ole">
            <mc:AlternateContent xmlns:mc="http://schemas.openxmlformats.org/markup-compatibility/2006">
              <mc:Choice xmlns:v="urn:schemas-microsoft-com:vml" Requires="v">
                <p:oleObj spid="_x0000_s3245" name="" r:id="rId1" imgW="1308100" imgH="177800" progId="Equation.3">
                  <p:embed/>
                </p:oleObj>
              </mc:Choice>
              <mc:Fallback>
                <p:oleObj name="" r:id="rId1" imgW="1308100" imgH="177800" progId="Equation.3">
                  <p:embed/>
                  <p:pic>
                    <p:nvPicPr>
                      <p:cNvPr id="0" name="图片 3244"/>
                      <p:cNvPicPr/>
                      <p:nvPr/>
                    </p:nvPicPr>
                    <p:blipFill>
                      <a:blip r:embed="rId2">
                        <a:clrChange>
                          <a:clrFrom>
                            <a:srgbClr val="000000"/>
                          </a:clrFrom>
                          <a:clrTo>
                            <a:srgbClr val="FF0000"/>
                          </a:clrTo>
                        </a:clrChange>
                      </a:blip>
                      <a:stretch>
                        <a:fillRect/>
                      </a:stretch>
                    </p:blipFill>
                    <p:spPr>
                      <a:xfrm>
                        <a:off x="2916238" y="5516563"/>
                        <a:ext cx="3600450" cy="836612"/>
                      </a:xfrm>
                      <a:prstGeom prst="rect">
                        <a:avLst/>
                      </a:prstGeom>
                      <a:noFill/>
                      <a:ln w="38100">
                        <a:noFill/>
                        <a:miter/>
                      </a:ln>
                    </p:spPr>
                  </p:pic>
                </p:oleObj>
              </mc:Fallback>
            </mc:AlternateContent>
          </a:graphicData>
        </a:graphic>
      </p:graphicFrame>
      <p:pic>
        <p:nvPicPr>
          <p:cNvPr id="62469" name="Picture 11" descr="B1-2-5"/>
          <p:cNvPicPr>
            <a:picLocks noChangeAspect="1"/>
          </p:cNvPicPr>
          <p:nvPr/>
        </p:nvPicPr>
        <p:blipFill>
          <a:blip r:embed="rId3">
            <a:clrChange>
              <a:clrFrom>
                <a:srgbClr val="FFFFFF"/>
              </a:clrFrom>
              <a:clrTo>
                <a:srgbClr val="FFFFFF">
                  <a:alpha val="0"/>
                </a:srgbClr>
              </a:clrTo>
            </a:clrChange>
            <a:lum contrast="6000"/>
          </a:blip>
          <a:stretch>
            <a:fillRect/>
          </a:stretch>
        </p:blipFill>
        <p:spPr>
          <a:xfrm>
            <a:off x="250825" y="1268413"/>
            <a:ext cx="8675688" cy="3781425"/>
          </a:xfrm>
          <a:prstGeom prst="rect">
            <a:avLst/>
          </a:prstGeom>
          <a:noFill/>
          <a:ln w="9525">
            <a:noFill/>
          </a:ln>
        </p:spPr>
      </p:pic>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7354"/>
                                        </p:tgtEl>
                                        <p:attrNameLst>
                                          <p:attrName>style.visibility</p:attrName>
                                        </p:attrNameLst>
                                      </p:cBhvr>
                                      <p:to>
                                        <p:strVal val="visible"/>
                                      </p:to>
                                    </p:set>
                                    <p:animEffect transition="in" filter="blinds(horizontal)">
                                      <p:cBhvr>
                                        <p:cTn id="7" dur="500"/>
                                        <p:tgtEl>
                                          <p:spTgt spid="573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3490" name="内容占位符 3"/>
          <p:cNvPicPr>
            <a:picLocks noGrp="1" noChangeAspect="1"/>
          </p:cNvPicPr>
          <p:nvPr>
            <p:ph idx="1"/>
          </p:nvPr>
        </p:nvPicPr>
        <p:blipFill>
          <a:blip r:embed="rId1"/>
          <a:stretch>
            <a:fillRect/>
          </a:stretch>
        </p:blipFill>
        <p:spPr>
          <a:xfrm>
            <a:off x="684213" y="1916113"/>
            <a:ext cx="7920037" cy="3889375"/>
          </a:xfrm>
          <a:ln/>
        </p:spPr>
      </p:pic>
    </p:spTree>
  </p:cSld>
  <p:clrMapOvr>
    <a:masterClrMapping/>
  </p:clrMapOvr>
  <p:transition spd="slow" advClick="0"/>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4514" name="Group 6"/>
          <p:cNvGrpSpPr/>
          <p:nvPr/>
        </p:nvGrpSpPr>
        <p:grpSpPr>
          <a:xfrm>
            <a:off x="395288" y="908050"/>
            <a:ext cx="8353425" cy="5006975"/>
            <a:chOff x="249" y="436"/>
            <a:chExt cx="5262" cy="3154"/>
          </a:xfrm>
        </p:grpSpPr>
        <p:sp>
          <p:nvSpPr>
            <p:cNvPr id="64515" name="Text Box 7"/>
            <p:cNvSpPr txBox="1"/>
            <p:nvPr/>
          </p:nvSpPr>
          <p:spPr>
            <a:xfrm>
              <a:off x="249" y="436"/>
              <a:ext cx="5262" cy="315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800" b="1" dirty="0">
                  <a:latin typeface="Times New Roman" panose="02020603050405020304" pitchFamily="18" charset="0"/>
                </a:rPr>
                <a:t>       </a:t>
              </a:r>
              <a:r>
                <a:rPr lang="zh-CN" altLang="en-US" sz="2800" b="1" dirty="0">
                  <a:latin typeface="Times New Roman" panose="02020603050405020304" pitchFamily="18" charset="0"/>
                </a:rPr>
                <a:t>从最大项的定义出发可以证明它具有如下的重要性质：</a:t>
              </a:r>
              <a:endParaRPr lang="zh-CN" altLang="en-US" sz="2800" b="1" dirty="0">
                <a:latin typeface="Times New Roman" panose="02020603050405020304" pitchFamily="18" charset="0"/>
              </a:endParaRPr>
            </a:p>
            <a:p>
              <a:pPr marL="0" lvl="0" indent="0" eaLnBrk="1" hangingPunct="1">
                <a:spcBef>
                  <a:spcPct val="50000"/>
                </a:spcBef>
                <a:buNone/>
              </a:pPr>
              <a:r>
                <a:rPr lang="zh-CN" altLang="en-US" sz="2800" b="1" dirty="0">
                  <a:latin typeface="Times New Roman" panose="02020603050405020304" pitchFamily="18" charset="0"/>
                </a:rPr>
                <a:t>     （</a:t>
              </a:r>
              <a:r>
                <a:rPr lang="en-US" altLang="zh-CN" sz="2800" b="1" dirty="0">
                  <a:latin typeface="Times New Roman" panose="02020603050405020304" pitchFamily="18" charset="0"/>
                </a:rPr>
                <a:t>1</a:t>
              </a:r>
              <a:r>
                <a:rPr lang="zh-CN" altLang="en-US" sz="2800" b="1" dirty="0">
                  <a:latin typeface="Times New Roman" panose="02020603050405020304" pitchFamily="18" charset="0"/>
                </a:rPr>
                <a:t>）在输入变量的任何取值下</a:t>
              </a:r>
              <a:r>
                <a:rPr lang="zh-CN" altLang="en-US" sz="2800" b="1" dirty="0">
                  <a:solidFill>
                    <a:schemeClr val="accent2"/>
                  </a:solidFill>
                  <a:latin typeface="Times New Roman" panose="02020603050405020304" pitchFamily="18" charset="0"/>
                </a:rPr>
                <a:t>必有一个且仅有一个</a:t>
              </a:r>
              <a:r>
                <a:rPr lang="zh-CN" altLang="en-US" sz="2800" b="1" dirty="0">
                  <a:latin typeface="Times New Roman" panose="02020603050405020304" pitchFamily="18" charset="0"/>
                </a:rPr>
                <a:t>最大项的值为</a:t>
              </a:r>
              <a:r>
                <a:rPr lang="en-US" altLang="zh-CN" sz="2800" b="1" dirty="0">
                  <a:latin typeface="Times New Roman" panose="02020603050405020304" pitchFamily="18" charset="0"/>
                </a:rPr>
                <a:t>0</a:t>
              </a:r>
              <a:r>
                <a:rPr lang="zh-CN" altLang="en-US" sz="2800" b="1" dirty="0">
                  <a:latin typeface="Times New Roman" panose="02020603050405020304" pitchFamily="18" charset="0"/>
                </a:rPr>
                <a:t>；</a:t>
              </a:r>
              <a:endParaRPr lang="zh-CN" altLang="en-US" sz="2800" b="1" dirty="0">
                <a:latin typeface="Times New Roman" panose="02020603050405020304" pitchFamily="18" charset="0"/>
              </a:endParaRPr>
            </a:p>
            <a:p>
              <a:pPr marL="0" lvl="0" indent="0" eaLnBrk="1" hangingPunct="1">
                <a:spcBef>
                  <a:spcPct val="50000"/>
                </a:spcBef>
                <a:buNone/>
              </a:pPr>
              <a:r>
                <a:rPr lang="zh-CN" altLang="en-US" sz="2800" b="1" dirty="0">
                  <a:latin typeface="Times New Roman" panose="02020603050405020304" pitchFamily="18" charset="0"/>
                </a:rPr>
                <a:t>     （</a:t>
              </a:r>
              <a:r>
                <a:rPr lang="en-US" altLang="zh-CN" sz="2800" b="1" dirty="0">
                  <a:latin typeface="Times New Roman" panose="02020603050405020304" pitchFamily="18" charset="0"/>
                </a:rPr>
                <a:t>2</a:t>
              </a:r>
              <a:r>
                <a:rPr lang="zh-CN" altLang="en-US" sz="2800" b="1" dirty="0">
                  <a:latin typeface="Times New Roman" panose="02020603050405020304" pitchFamily="18" charset="0"/>
                </a:rPr>
                <a:t>）</a:t>
              </a:r>
              <a:r>
                <a:rPr lang="zh-CN" altLang="en-US" sz="2800" b="1" dirty="0">
                  <a:solidFill>
                    <a:schemeClr val="accent2"/>
                  </a:solidFill>
                  <a:latin typeface="Times New Roman" panose="02020603050405020304" pitchFamily="18" charset="0"/>
                </a:rPr>
                <a:t>全体最大项之积为</a:t>
              </a:r>
              <a:r>
                <a:rPr lang="en-US" altLang="zh-CN" sz="2800" b="1" dirty="0">
                  <a:solidFill>
                    <a:schemeClr val="accent2"/>
                  </a:solidFill>
                  <a:latin typeface="Times New Roman" panose="02020603050405020304" pitchFamily="18" charset="0"/>
                </a:rPr>
                <a:t>0</a:t>
              </a:r>
              <a:r>
                <a:rPr lang="zh-CN" altLang="en-US" sz="2800" b="1" dirty="0">
                  <a:latin typeface="Times New Roman" panose="02020603050405020304" pitchFamily="18" charset="0"/>
                </a:rPr>
                <a:t>；</a:t>
              </a:r>
              <a:endParaRPr lang="zh-CN" altLang="en-US" sz="2800" b="1" dirty="0">
                <a:latin typeface="Times New Roman" panose="02020603050405020304" pitchFamily="18" charset="0"/>
              </a:endParaRPr>
            </a:p>
            <a:p>
              <a:pPr marL="0" lvl="0" indent="0" eaLnBrk="1" hangingPunct="1">
                <a:spcBef>
                  <a:spcPct val="50000"/>
                </a:spcBef>
                <a:buNone/>
              </a:pPr>
              <a:r>
                <a:rPr lang="zh-CN" altLang="en-US" sz="2800" b="1" dirty="0">
                  <a:latin typeface="Times New Roman" panose="02020603050405020304" pitchFamily="18" charset="0"/>
                </a:rPr>
                <a:t>     （</a:t>
              </a:r>
              <a:r>
                <a:rPr lang="en-US" altLang="zh-CN" sz="2800" b="1" dirty="0">
                  <a:latin typeface="Times New Roman" panose="02020603050405020304" pitchFamily="18" charset="0"/>
                </a:rPr>
                <a:t>3</a:t>
              </a:r>
              <a:r>
                <a:rPr lang="zh-CN" altLang="en-US" sz="2800" b="1" dirty="0">
                  <a:latin typeface="Times New Roman" panose="02020603050405020304" pitchFamily="18" charset="0"/>
                </a:rPr>
                <a:t>）</a:t>
              </a:r>
              <a:r>
                <a:rPr lang="zh-CN" altLang="en-US" sz="2800" b="1" dirty="0">
                  <a:solidFill>
                    <a:schemeClr val="accent2"/>
                  </a:solidFill>
                  <a:latin typeface="Times New Roman" panose="02020603050405020304" pitchFamily="18" charset="0"/>
                </a:rPr>
                <a:t>某一最大项若不包含在</a:t>
              </a:r>
              <a:r>
                <a:rPr lang="en-US" altLang="zh-CN" sz="2800" b="1" dirty="0">
                  <a:solidFill>
                    <a:schemeClr val="accent2"/>
                  </a:solidFill>
                  <a:latin typeface="Times New Roman" panose="02020603050405020304" pitchFamily="18" charset="0"/>
                </a:rPr>
                <a:t>F</a:t>
              </a:r>
              <a:r>
                <a:rPr lang="zh-CN" altLang="en-US" sz="2800" b="1" dirty="0">
                  <a:solidFill>
                    <a:schemeClr val="accent2"/>
                  </a:solidFill>
                  <a:latin typeface="Times New Roman" panose="02020603050405020304" pitchFamily="18" charset="0"/>
                </a:rPr>
                <a:t>中，则必在     中</a:t>
              </a:r>
              <a:r>
                <a:rPr lang="zh-CN" altLang="en-US" sz="2800" b="1" dirty="0">
                  <a:latin typeface="Times New Roman" panose="02020603050405020304" pitchFamily="18" charset="0"/>
                </a:rPr>
                <a:t>；</a:t>
              </a:r>
              <a:endParaRPr lang="zh-CN" altLang="en-US" sz="2800" b="1" dirty="0">
                <a:latin typeface="Times New Roman" panose="02020603050405020304" pitchFamily="18" charset="0"/>
              </a:endParaRPr>
            </a:p>
            <a:p>
              <a:pPr marL="0" lvl="0" indent="0" eaLnBrk="1" hangingPunct="1">
                <a:spcBef>
                  <a:spcPct val="50000"/>
                </a:spcBef>
                <a:buNone/>
              </a:pPr>
              <a:r>
                <a:rPr lang="zh-CN" altLang="en-US" sz="2800" b="1" dirty="0">
                  <a:latin typeface="Times New Roman" panose="02020603050405020304" pitchFamily="18" charset="0"/>
                </a:rPr>
                <a:t>     （</a:t>
              </a:r>
              <a:r>
                <a:rPr lang="en-US" altLang="zh-CN" sz="2800" b="1" dirty="0">
                  <a:latin typeface="Times New Roman" panose="02020603050405020304" pitchFamily="18" charset="0"/>
                </a:rPr>
                <a:t>4</a:t>
              </a:r>
              <a:r>
                <a:rPr lang="zh-CN" altLang="en-US" sz="2800" b="1" dirty="0">
                  <a:latin typeface="Times New Roman" panose="02020603050405020304" pitchFamily="18" charset="0"/>
                </a:rPr>
                <a:t>）</a:t>
              </a:r>
              <a:r>
                <a:rPr lang="zh-CN" altLang="en-US" sz="2800" b="1" dirty="0">
                  <a:solidFill>
                    <a:schemeClr val="accent2"/>
                  </a:solidFill>
                  <a:latin typeface="Times New Roman" panose="02020603050405020304" pitchFamily="18" charset="0"/>
                </a:rPr>
                <a:t>任意两个最大项之和为</a:t>
              </a:r>
              <a:r>
                <a:rPr lang="en-US" altLang="zh-CN" sz="2800" b="1" dirty="0">
                  <a:solidFill>
                    <a:schemeClr val="accent2"/>
                  </a:solidFill>
                  <a:latin typeface="Times New Roman" panose="02020603050405020304" pitchFamily="18" charset="0"/>
                </a:rPr>
                <a:t>1</a:t>
              </a:r>
              <a:r>
                <a:rPr lang="zh-CN" altLang="en-US" sz="2800" b="1" dirty="0">
                  <a:latin typeface="Times New Roman" panose="02020603050405020304" pitchFamily="18" charset="0"/>
                </a:rPr>
                <a:t>；</a:t>
              </a:r>
              <a:endParaRPr lang="zh-CN" altLang="en-US" sz="2800" b="1" dirty="0">
                <a:latin typeface="Times New Roman" panose="02020603050405020304" pitchFamily="18" charset="0"/>
              </a:endParaRPr>
            </a:p>
            <a:p>
              <a:pPr marL="0" lvl="0" indent="0" eaLnBrk="1" hangingPunct="1">
                <a:spcBef>
                  <a:spcPct val="50000"/>
                </a:spcBef>
                <a:buNone/>
              </a:pPr>
              <a:r>
                <a:rPr lang="zh-CN" altLang="en-US" sz="2800" b="1" dirty="0">
                  <a:latin typeface="Times New Roman" panose="02020603050405020304" pitchFamily="18" charset="0"/>
                </a:rPr>
                <a:t>     （</a:t>
              </a:r>
              <a:r>
                <a:rPr lang="en-US" altLang="zh-CN" sz="2800" b="1" dirty="0">
                  <a:latin typeface="Times New Roman" panose="02020603050405020304" pitchFamily="18" charset="0"/>
                </a:rPr>
                <a:t>5</a:t>
              </a:r>
              <a:r>
                <a:rPr lang="zh-CN" altLang="en-US" sz="2800" b="1" dirty="0">
                  <a:latin typeface="Times New Roman" panose="02020603050405020304" pitchFamily="18" charset="0"/>
                </a:rPr>
                <a:t>）只有一个变量不同的两个最大项的乘积等于</a:t>
              </a:r>
              <a:r>
                <a:rPr lang="zh-CN" altLang="en-US" sz="2800" b="1" dirty="0">
                  <a:solidFill>
                    <a:schemeClr val="accent2"/>
                  </a:solidFill>
                  <a:latin typeface="Times New Roman" panose="02020603050405020304" pitchFamily="18" charset="0"/>
                </a:rPr>
                <a:t>各相同变量之和</a:t>
              </a:r>
              <a:r>
                <a:rPr lang="zh-CN" altLang="en-US" sz="2800" b="1" dirty="0">
                  <a:latin typeface="Times New Roman" panose="02020603050405020304" pitchFamily="18" charset="0"/>
                </a:rPr>
                <a:t>。</a:t>
              </a:r>
              <a:endParaRPr lang="zh-CN" altLang="en-US" sz="2800" b="1" dirty="0">
                <a:latin typeface="Times New Roman" panose="02020603050405020304" pitchFamily="18" charset="0"/>
              </a:endParaRPr>
            </a:p>
          </p:txBody>
        </p:sp>
        <p:graphicFrame>
          <p:nvGraphicFramePr>
            <p:cNvPr id="64516" name="Object 8"/>
            <p:cNvGraphicFramePr>
              <a:graphicFrameLocks noChangeAspect="1"/>
            </p:cNvGraphicFramePr>
            <p:nvPr/>
          </p:nvGraphicFramePr>
          <p:xfrm>
            <a:off x="4649" y="2160"/>
            <a:ext cx="294" cy="363"/>
          </p:xfrm>
          <a:graphic>
            <a:graphicData uri="http://schemas.openxmlformats.org/presentationml/2006/ole">
              <mc:AlternateContent xmlns:mc="http://schemas.openxmlformats.org/markup-compatibility/2006">
                <mc:Choice xmlns:v="urn:schemas-microsoft-com:vml" Requires="v">
                  <p:oleObj spid="_x0000_s3246" name="" r:id="rId1" imgW="165100" imgH="203200" progId="Equation.3">
                    <p:embed/>
                  </p:oleObj>
                </mc:Choice>
                <mc:Fallback>
                  <p:oleObj name="" r:id="rId1" imgW="165100" imgH="203200" progId="Equation.3">
                    <p:embed/>
                    <p:pic>
                      <p:nvPicPr>
                        <p:cNvPr id="0" name="图片 3245"/>
                        <p:cNvPicPr/>
                        <p:nvPr/>
                      </p:nvPicPr>
                      <p:blipFill>
                        <a:blip r:embed="rId2"/>
                        <a:stretch>
                          <a:fillRect/>
                        </a:stretch>
                      </p:blipFill>
                      <p:spPr>
                        <a:xfrm>
                          <a:off x="4649" y="2160"/>
                          <a:ext cx="294" cy="363"/>
                        </a:xfrm>
                        <a:prstGeom prst="rect">
                          <a:avLst/>
                        </a:prstGeom>
                        <a:noFill/>
                        <a:ln w="38100">
                          <a:noFill/>
                          <a:miter/>
                        </a:ln>
                      </p:spPr>
                    </p:pic>
                  </p:oleObj>
                </mc:Fallback>
              </mc:AlternateContent>
            </a:graphicData>
          </a:graphic>
        </p:graphicFrame>
      </p:grpSp>
    </p:spTree>
  </p:cSld>
  <p:clrMapOvr>
    <a:masterClrMapping/>
  </p:clrMapOvr>
  <p:transition spd="slow" advClick="0"/>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5538" name="Group 11"/>
          <p:cNvGrpSpPr/>
          <p:nvPr/>
        </p:nvGrpSpPr>
        <p:grpSpPr>
          <a:xfrm>
            <a:off x="468313" y="333375"/>
            <a:ext cx="7924800" cy="3970338"/>
            <a:chOff x="386" y="437"/>
            <a:chExt cx="4992" cy="2501"/>
          </a:xfrm>
        </p:grpSpPr>
        <p:sp>
          <p:nvSpPr>
            <p:cNvPr id="65541" name="Text Box 7"/>
            <p:cNvSpPr txBox="1"/>
            <p:nvPr/>
          </p:nvSpPr>
          <p:spPr>
            <a:xfrm>
              <a:off x="386" y="437"/>
              <a:ext cx="4992" cy="250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50000"/>
                </a:lnSpc>
                <a:spcBef>
                  <a:spcPct val="50000"/>
                </a:spcBef>
                <a:buNone/>
              </a:pPr>
              <a:r>
                <a:rPr lang="zh-CN" altLang="en-US" sz="2400" b="1" dirty="0">
                  <a:latin typeface="Times New Roman" panose="02020603050405020304" pitchFamily="18" charset="0"/>
                </a:rPr>
                <a:t>三、逻辑函数的“</a:t>
              </a:r>
              <a:r>
                <a:rPr lang="zh-CN" altLang="en-US" sz="2400" b="1" dirty="0">
                  <a:solidFill>
                    <a:srgbClr val="FF0000"/>
                  </a:solidFill>
                  <a:latin typeface="Times New Roman" panose="02020603050405020304" pitchFamily="18" charset="0"/>
                  <a:ea typeface="黑体" panose="02010609060101010101" pitchFamily="49" charset="-122"/>
                </a:rPr>
                <a:t>最大项之积</a:t>
              </a:r>
              <a:r>
                <a:rPr lang="zh-CN" altLang="en-US" sz="2400" b="1" dirty="0">
                  <a:latin typeface="Times New Roman" panose="02020603050405020304" pitchFamily="18" charset="0"/>
                </a:rPr>
                <a:t>”形式</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标准“或与”表达式（</a:t>
              </a:r>
              <a:r>
                <a:rPr lang="zh-CN" altLang="en-US" sz="2400" b="1" dirty="0">
                  <a:solidFill>
                    <a:srgbClr val="FF0000"/>
                  </a:solidFill>
                  <a:latin typeface="Times New Roman" panose="02020603050405020304" pitchFamily="18" charset="0"/>
                </a:rPr>
                <a:t>和之积</a:t>
              </a:r>
              <a:r>
                <a:rPr lang="zh-CN" altLang="en-US" sz="2400" b="1" dirty="0">
                  <a:latin typeface="Times New Roman" panose="02020603050405020304" pitchFamily="18" charset="0"/>
                </a:rPr>
                <a:t>形式</a:t>
              </a:r>
              <a:r>
                <a:rPr lang="en-US" altLang="zh-CN" sz="2400" b="1" dirty="0">
                  <a:solidFill>
                    <a:srgbClr val="FF0000"/>
                  </a:solidFill>
                  <a:latin typeface="Times New Roman" panose="02020603050405020304" pitchFamily="18" charset="0"/>
                </a:rPr>
                <a:t>POS </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a:p>
              <a:pPr marL="0" lvl="0" indent="0" eaLnBrk="1" hangingPunct="1">
                <a:lnSpc>
                  <a:spcPct val="150000"/>
                </a:lnSpc>
                <a:spcBef>
                  <a:spcPct val="50000"/>
                </a:spcBef>
                <a:buNone/>
              </a:pPr>
              <a:r>
                <a:rPr lang="zh-CN" altLang="en-US" sz="2400" b="1" dirty="0">
                  <a:solidFill>
                    <a:srgbClr val="FF0000"/>
                  </a:solidFill>
                  <a:latin typeface="Times New Roman" panose="02020603050405020304" pitchFamily="18" charset="0"/>
                </a:rPr>
                <a:t>        </a:t>
              </a:r>
              <a:r>
                <a:rPr lang="zh-CN" altLang="en-US" sz="2400" b="1" dirty="0">
                  <a:solidFill>
                    <a:srgbClr val="FF0000"/>
                  </a:solidFill>
                  <a:latin typeface="Times New Roman" panose="02020603050405020304" pitchFamily="18" charset="0"/>
                  <a:ea typeface="黑体" panose="02010609060101010101" pitchFamily="49" charset="-122"/>
                </a:rPr>
                <a:t>证明：</a:t>
              </a:r>
              <a:r>
                <a:rPr lang="zh-CN" altLang="en-US" sz="2400" b="1" dirty="0">
                  <a:latin typeface="Times New Roman" panose="02020603050405020304" pitchFamily="18" charset="0"/>
                  <a:ea typeface="黑体" panose="02010609060101010101" pitchFamily="49" charset="-122"/>
                </a:rPr>
                <a:t>任何一个逻辑函数都可以化成最大项之积的标准形式。</a:t>
              </a:r>
              <a:endParaRPr lang="zh-CN" altLang="en-US" sz="2400" b="1" dirty="0">
                <a:latin typeface="Times New Roman" panose="02020603050405020304" pitchFamily="18" charset="0"/>
                <a:ea typeface="黑体" panose="02010609060101010101" pitchFamily="49" charset="-122"/>
              </a:endParaRPr>
            </a:p>
            <a:p>
              <a:pPr marL="0" lvl="0" indent="0" eaLnBrk="1" hangingPunct="1">
                <a:lnSpc>
                  <a:spcPct val="150000"/>
                </a:lnSpc>
                <a:spcBef>
                  <a:spcPct val="50000"/>
                </a:spcBef>
                <a:buNone/>
              </a:pPr>
              <a:r>
                <a:rPr lang="zh-CN" altLang="en-US" sz="2400" b="1" dirty="0">
                  <a:latin typeface="Times New Roman" panose="02020603050405020304" pitchFamily="18" charset="0"/>
                </a:rPr>
                <a:t>        </a:t>
              </a:r>
              <a:r>
                <a:rPr lang="zh-CN" altLang="en-US" sz="2400" b="1" dirty="0">
                  <a:solidFill>
                    <a:srgbClr val="FF0000"/>
                  </a:solidFill>
                  <a:latin typeface="楷体_GB2312" pitchFamily="49" charset="-122"/>
                  <a:ea typeface="楷体_GB2312" pitchFamily="49" charset="-122"/>
                </a:rPr>
                <a:t>例：</a:t>
              </a:r>
              <a:r>
                <a:rPr lang="zh-CN" altLang="en-US" sz="2400" b="1" dirty="0">
                  <a:latin typeface="楷体_GB2312" pitchFamily="49" charset="-122"/>
                  <a:ea typeface="楷体_GB2312" pitchFamily="49" charset="-122"/>
                </a:rPr>
                <a:t>试将逻辑函数</a:t>
              </a:r>
              <a:endParaRPr lang="zh-CN" altLang="en-US" sz="2400" b="1" dirty="0">
                <a:latin typeface="楷体_GB2312" pitchFamily="49" charset="-122"/>
                <a:ea typeface="楷体_GB2312" pitchFamily="49" charset="-122"/>
              </a:endParaRPr>
            </a:p>
            <a:p>
              <a:pPr marL="0" lvl="0" indent="0" eaLnBrk="1" hangingPunct="1">
                <a:lnSpc>
                  <a:spcPct val="150000"/>
                </a:lnSpc>
                <a:spcBef>
                  <a:spcPct val="50000"/>
                </a:spcBef>
                <a:buNone/>
              </a:pPr>
              <a:r>
                <a:rPr lang="zh-CN" altLang="en-US" sz="2400" b="1" dirty="0">
                  <a:latin typeface="楷体_GB2312" pitchFamily="49" charset="-122"/>
                  <a:ea typeface="楷体_GB2312" pitchFamily="49" charset="-122"/>
                </a:rPr>
                <a:t>        化为最大项之积的标准形式。</a:t>
              </a:r>
              <a:endParaRPr lang="zh-CN" altLang="en-US" sz="2400" b="1" dirty="0">
                <a:latin typeface="楷体_GB2312" pitchFamily="49" charset="-122"/>
                <a:ea typeface="楷体_GB2312" pitchFamily="49" charset="-122"/>
              </a:endParaRPr>
            </a:p>
          </p:txBody>
        </p:sp>
        <p:graphicFrame>
          <p:nvGraphicFramePr>
            <p:cNvPr id="65542" name="Object 10"/>
            <p:cNvGraphicFramePr>
              <a:graphicFrameLocks noChangeAspect="1"/>
            </p:cNvGraphicFramePr>
            <p:nvPr/>
          </p:nvGraphicFramePr>
          <p:xfrm>
            <a:off x="2608" y="2069"/>
            <a:ext cx="1596" cy="362"/>
          </p:xfrm>
          <a:graphic>
            <a:graphicData uri="http://schemas.openxmlformats.org/presentationml/2006/ole">
              <mc:AlternateContent xmlns:mc="http://schemas.openxmlformats.org/markup-compatibility/2006">
                <mc:Choice xmlns:v="urn:schemas-microsoft-com:vml" Requires="v">
                  <p:oleObj spid="_x0000_s3239" name="" r:id="rId1" imgW="951865" imgH="215900" progId="Equation.3">
                    <p:embed/>
                  </p:oleObj>
                </mc:Choice>
                <mc:Fallback>
                  <p:oleObj name="" r:id="rId1" imgW="951865" imgH="215900" progId="Equation.3">
                    <p:embed/>
                    <p:pic>
                      <p:nvPicPr>
                        <p:cNvPr id="0" name="图片 3238"/>
                        <p:cNvPicPr/>
                        <p:nvPr/>
                      </p:nvPicPr>
                      <p:blipFill>
                        <a:blip r:embed="rId2"/>
                        <a:stretch>
                          <a:fillRect/>
                        </a:stretch>
                      </p:blipFill>
                      <p:spPr>
                        <a:xfrm>
                          <a:off x="2608" y="2069"/>
                          <a:ext cx="1596" cy="362"/>
                        </a:xfrm>
                        <a:prstGeom prst="rect">
                          <a:avLst/>
                        </a:prstGeom>
                        <a:noFill/>
                        <a:ln w="38100">
                          <a:noFill/>
                          <a:miter/>
                        </a:ln>
                      </p:spPr>
                    </p:pic>
                  </p:oleObj>
                </mc:Fallback>
              </mc:AlternateContent>
            </a:graphicData>
          </a:graphic>
        </p:graphicFrame>
      </p:grpSp>
      <p:sp>
        <p:nvSpPr>
          <p:cNvPr id="65539" name="矩形 1"/>
          <p:cNvSpPr/>
          <p:nvPr/>
        </p:nvSpPr>
        <p:spPr>
          <a:xfrm>
            <a:off x="250825" y="4437063"/>
            <a:ext cx="8675688" cy="8318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zh-CN" altLang="en-US" sz="2400" dirty="0">
                <a:solidFill>
                  <a:srgbClr val="FF0000"/>
                </a:solidFill>
              </a:rPr>
              <a:t>对偶原理</a:t>
            </a:r>
            <a:r>
              <a:rPr lang="zh-CN" altLang="en-US" sz="2400" dirty="0"/>
              <a:t>指出：若考虑真值表中使 </a:t>
            </a:r>
            <a:r>
              <a:rPr lang="en-US" altLang="zh-CN" sz="2400" dirty="0"/>
              <a:t>f = 1 </a:t>
            </a:r>
            <a:r>
              <a:rPr lang="zh-CN" altLang="en-US" sz="2400" dirty="0"/>
              <a:t>的各行可以综合出一个函数 </a:t>
            </a:r>
            <a:r>
              <a:rPr lang="en-US" altLang="zh-CN" sz="2400" dirty="0"/>
              <a:t>f  </a:t>
            </a:r>
            <a:r>
              <a:rPr lang="zh-CN" altLang="en-US" sz="2400" dirty="0"/>
              <a:t>，则考虑使 </a:t>
            </a:r>
            <a:r>
              <a:rPr lang="en-US" altLang="zh-CN" sz="2400" dirty="0">
                <a:solidFill>
                  <a:srgbClr val="FF0000"/>
                </a:solidFill>
              </a:rPr>
              <a:t>f = 0  </a:t>
            </a:r>
            <a:r>
              <a:rPr lang="zh-CN" altLang="en-US" sz="2400" dirty="0"/>
              <a:t>的各行也可以综合出函数 </a:t>
            </a:r>
            <a:r>
              <a:rPr lang="en-US" altLang="zh-CN" sz="2400" dirty="0"/>
              <a:t>f</a:t>
            </a:r>
            <a:endParaRPr lang="zh-CN" altLang="en-US" sz="2400" dirty="0"/>
          </a:p>
        </p:txBody>
      </p:sp>
      <p:sp>
        <p:nvSpPr>
          <p:cNvPr id="65540" name="矩形 1"/>
          <p:cNvSpPr/>
          <p:nvPr/>
        </p:nvSpPr>
        <p:spPr>
          <a:xfrm>
            <a:off x="360363" y="5402263"/>
            <a:ext cx="8458200" cy="1200150"/>
          </a:xfrm>
          <a:prstGeom prst="rect">
            <a:avLst/>
          </a:prstGeom>
          <a:noFill/>
          <a:ln w="9525">
            <a:noFill/>
          </a:ln>
        </p:spPr>
        <p:txBody>
          <a:bodyPr>
            <a:spAutoFit/>
          </a:bodyPr>
          <a:p>
            <a:r>
              <a:rPr lang="zh-CN" altLang="en-US" sz="2400" dirty="0">
                <a:latin typeface="Arial" panose="020B0604020202020204" pitchFamily="34" charset="0"/>
              </a:rPr>
              <a:t>      任何函数 </a:t>
            </a:r>
            <a:r>
              <a:rPr lang="en-US" altLang="zh-CN" sz="2400" dirty="0">
                <a:latin typeface="Arial" panose="020B0604020202020204" pitchFamily="34" charset="0"/>
              </a:rPr>
              <a:t>f  </a:t>
            </a:r>
            <a:r>
              <a:rPr lang="zh-CN" altLang="en-US" sz="2400" dirty="0">
                <a:latin typeface="Arial" panose="020B0604020202020204" pitchFamily="34" charset="0"/>
              </a:rPr>
              <a:t>可以通过找到它的</a:t>
            </a:r>
            <a:r>
              <a:rPr lang="zh-CN" altLang="en-US" sz="2400" dirty="0">
                <a:solidFill>
                  <a:srgbClr val="FF0000"/>
                </a:solidFill>
                <a:latin typeface="Arial" panose="020B0604020202020204" pitchFamily="34" charset="0"/>
              </a:rPr>
              <a:t>正则和之积</a:t>
            </a:r>
            <a:r>
              <a:rPr lang="zh-CN" altLang="en-US" sz="2400" dirty="0">
                <a:latin typeface="Arial" panose="020B0604020202020204" pitchFamily="34" charset="0"/>
              </a:rPr>
              <a:t>来实现综合，即从真值表中的每一行中取出使 </a:t>
            </a:r>
            <a:r>
              <a:rPr lang="en-US" altLang="zh-CN" sz="2400" dirty="0">
                <a:latin typeface="Arial" panose="020B0604020202020204" pitchFamily="34" charset="0"/>
              </a:rPr>
              <a:t>f  </a:t>
            </a:r>
            <a:r>
              <a:rPr lang="zh-CN" altLang="en-US" sz="2400" dirty="0">
                <a:latin typeface="Arial" panose="020B0604020202020204" pitchFamily="34" charset="0"/>
              </a:rPr>
              <a:t>＝ </a:t>
            </a:r>
            <a:r>
              <a:rPr lang="en-US" altLang="zh-CN" sz="2400" dirty="0">
                <a:latin typeface="Arial" panose="020B0604020202020204" pitchFamily="34" charset="0"/>
              </a:rPr>
              <a:t>0  </a:t>
            </a:r>
            <a:r>
              <a:rPr lang="zh-CN" altLang="en-US" sz="2400" dirty="0">
                <a:latin typeface="Arial" panose="020B0604020202020204" pitchFamily="34" charset="0"/>
              </a:rPr>
              <a:t>的最大项，把这些最大项组成乘积。</a:t>
            </a:r>
            <a:endParaRPr lang="zh-CN" altLang="en-US" sz="2400" dirty="0">
              <a:latin typeface="Arial" panose="020B0604020202020204" pitchFamily="34" charset="0"/>
            </a:endParaRPr>
          </a:p>
        </p:txBody>
      </p:sp>
    </p:spTree>
  </p:cSld>
  <p:clrMapOvr>
    <a:masterClrMapping/>
  </p:clrMapOvr>
  <p:transition spd="slow" advClick="0"/>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5045" name="Rectangle 21"/>
          <p:cNvSpPr/>
          <p:nvPr/>
        </p:nvSpPr>
        <p:spPr>
          <a:xfrm>
            <a:off x="395288" y="3500438"/>
            <a:ext cx="5329237"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dirty="0">
                <a:solidFill>
                  <a:srgbClr val="000066"/>
                </a:solidFill>
                <a:latin typeface="Times New Roman" panose="02020603050405020304" pitchFamily="18" charset="0"/>
                <a:ea typeface="楷体_GB2312" pitchFamily="49" charset="-122"/>
              </a:rPr>
              <a:t>1</a:t>
            </a:r>
            <a:r>
              <a:rPr lang="zh-CN" altLang="en-US" sz="2400" b="1" dirty="0">
                <a:solidFill>
                  <a:srgbClr val="000066"/>
                </a:solidFill>
                <a:latin typeface="Times New Roman" panose="02020603050405020304" pitchFamily="18" charset="0"/>
                <a:ea typeface="楷体_GB2312" pitchFamily="49" charset="-122"/>
              </a:rPr>
              <a:t>、  基本逻辑门电路的等效符号</a:t>
            </a:r>
            <a:endParaRPr lang="zh-CN" altLang="en-US" sz="2400" b="1" dirty="0">
              <a:solidFill>
                <a:srgbClr val="000066"/>
              </a:solidFill>
              <a:latin typeface="Times New Roman" panose="02020603050405020304" pitchFamily="18" charset="0"/>
              <a:ea typeface="楷体_GB2312" pitchFamily="49" charset="-122"/>
            </a:endParaRPr>
          </a:p>
        </p:txBody>
      </p:sp>
      <p:graphicFrame>
        <p:nvGraphicFramePr>
          <p:cNvPr id="385046" name="Object 22"/>
          <p:cNvGraphicFramePr>
            <a:graphicFrameLocks noChangeAspect="1"/>
          </p:cNvGraphicFramePr>
          <p:nvPr/>
        </p:nvGraphicFramePr>
        <p:xfrm>
          <a:off x="5219700" y="3427413"/>
          <a:ext cx="1296988" cy="531812"/>
        </p:xfrm>
        <a:graphic>
          <a:graphicData uri="http://schemas.openxmlformats.org/presentationml/2006/ole">
            <mc:AlternateContent xmlns:mc="http://schemas.openxmlformats.org/markup-compatibility/2006">
              <mc:Choice xmlns:v="urn:schemas-microsoft-com:vml" Requires="v">
                <p:oleObj spid="_x0000_s3240" name="" r:id="rId1" imgW="457200" imgH="190500" progId="Equation.3">
                  <p:embed/>
                </p:oleObj>
              </mc:Choice>
              <mc:Fallback>
                <p:oleObj name="" r:id="rId1" imgW="457200" imgH="190500" progId="Equation.3">
                  <p:embed/>
                  <p:pic>
                    <p:nvPicPr>
                      <p:cNvPr id="0" name="图片 3239"/>
                      <p:cNvPicPr/>
                      <p:nvPr/>
                    </p:nvPicPr>
                    <p:blipFill>
                      <a:blip r:embed="rId2"/>
                      <a:stretch>
                        <a:fillRect/>
                      </a:stretch>
                    </p:blipFill>
                    <p:spPr>
                      <a:xfrm>
                        <a:off x="5219700" y="3427413"/>
                        <a:ext cx="1296988" cy="531812"/>
                      </a:xfrm>
                      <a:prstGeom prst="rect">
                        <a:avLst/>
                      </a:prstGeom>
                      <a:noFill/>
                      <a:ln w="38100">
                        <a:noFill/>
                        <a:miter/>
                      </a:ln>
                    </p:spPr>
                  </p:pic>
                </p:oleObj>
              </mc:Fallback>
            </mc:AlternateContent>
          </a:graphicData>
        </a:graphic>
      </p:graphicFrame>
      <p:graphicFrame>
        <p:nvGraphicFramePr>
          <p:cNvPr id="385047" name="Object 23"/>
          <p:cNvGraphicFramePr>
            <a:graphicFrameLocks noChangeAspect="1"/>
          </p:cNvGraphicFramePr>
          <p:nvPr/>
        </p:nvGraphicFramePr>
        <p:xfrm>
          <a:off x="1116013" y="4508500"/>
          <a:ext cx="3308350" cy="1417638"/>
        </p:xfrm>
        <a:graphic>
          <a:graphicData uri="http://schemas.openxmlformats.org/presentationml/2006/ole">
            <mc:AlternateContent xmlns:mc="http://schemas.openxmlformats.org/markup-compatibility/2006">
              <mc:Choice xmlns:v="urn:schemas-microsoft-com:vml" Requires="v">
                <p:oleObj spid="_x0000_s3241" name="" r:id="rId3" imgW="1215390" imgH="485775" progId="Word.Picture.8">
                  <p:embed/>
                </p:oleObj>
              </mc:Choice>
              <mc:Fallback>
                <p:oleObj name="" r:id="rId3" imgW="1215390" imgH="485775" progId="Word.Picture.8">
                  <p:embed/>
                  <p:pic>
                    <p:nvPicPr>
                      <p:cNvPr id="0" name="图片 3240"/>
                      <p:cNvPicPr/>
                      <p:nvPr/>
                    </p:nvPicPr>
                    <p:blipFill>
                      <a:blip r:embed="rId4"/>
                      <a:stretch>
                        <a:fillRect/>
                      </a:stretch>
                    </p:blipFill>
                    <p:spPr>
                      <a:xfrm>
                        <a:off x="1116013" y="4508500"/>
                        <a:ext cx="3308350" cy="1417638"/>
                      </a:xfrm>
                      <a:prstGeom prst="rect">
                        <a:avLst/>
                      </a:prstGeom>
                      <a:noFill/>
                      <a:ln w="38100">
                        <a:noFill/>
                        <a:miter/>
                      </a:ln>
                    </p:spPr>
                  </p:pic>
                </p:oleObj>
              </mc:Fallback>
            </mc:AlternateContent>
          </a:graphicData>
        </a:graphic>
      </p:graphicFrame>
      <p:sp>
        <p:nvSpPr>
          <p:cNvPr id="385048" name="Rectangle 24"/>
          <p:cNvSpPr/>
          <p:nvPr/>
        </p:nvSpPr>
        <p:spPr>
          <a:xfrm>
            <a:off x="2484438" y="5876925"/>
            <a:ext cx="3240087" cy="457200"/>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266700" eaLnBrk="1" hangingPunct="1">
              <a:spcBef>
                <a:spcPct val="0"/>
              </a:spcBef>
              <a:buNone/>
            </a:pPr>
            <a:r>
              <a:rPr lang="zh-CN" altLang="en-US" sz="2400" b="1" dirty="0">
                <a:solidFill>
                  <a:srgbClr val="000066"/>
                </a:solidFill>
                <a:latin typeface="Times New Roman" panose="02020603050405020304" pitchFamily="18" charset="0"/>
                <a:ea typeface="楷体_GB2312" pitchFamily="49" charset="-122"/>
              </a:rPr>
              <a:t>与非门及其等效符号</a:t>
            </a:r>
            <a:endParaRPr lang="zh-CN" altLang="en-US" sz="2400" b="1" dirty="0">
              <a:solidFill>
                <a:srgbClr val="000066"/>
              </a:solidFill>
              <a:latin typeface="Times New Roman" panose="02020603050405020304" pitchFamily="18" charset="0"/>
              <a:ea typeface="楷体_GB2312" pitchFamily="49" charset="-122"/>
            </a:endParaRPr>
          </a:p>
        </p:txBody>
      </p:sp>
      <p:graphicFrame>
        <p:nvGraphicFramePr>
          <p:cNvPr id="385049" name="Object 25"/>
          <p:cNvGraphicFramePr>
            <a:graphicFrameLocks noChangeAspect="1"/>
          </p:cNvGraphicFramePr>
          <p:nvPr/>
        </p:nvGraphicFramePr>
        <p:xfrm>
          <a:off x="4284663" y="5156200"/>
          <a:ext cx="827087" cy="368300"/>
        </p:xfrm>
        <a:graphic>
          <a:graphicData uri="http://schemas.openxmlformats.org/presentationml/2006/ole">
            <mc:AlternateContent xmlns:mc="http://schemas.openxmlformats.org/markup-compatibility/2006">
              <mc:Choice xmlns:v="urn:schemas-microsoft-com:vml" Requires="v">
                <p:oleObj spid="_x0000_s3242" name="" r:id="rId5" imgW="303530" imgH="126365" progId="Word.Picture.8">
                  <p:embed/>
                </p:oleObj>
              </mc:Choice>
              <mc:Fallback>
                <p:oleObj name="" r:id="rId5" imgW="303530" imgH="126365" progId="Word.Picture.8">
                  <p:embed/>
                  <p:pic>
                    <p:nvPicPr>
                      <p:cNvPr id="0" name="图片 3241"/>
                      <p:cNvPicPr/>
                      <p:nvPr/>
                    </p:nvPicPr>
                    <p:blipFill>
                      <a:blip r:embed="rId6"/>
                      <a:stretch>
                        <a:fillRect/>
                      </a:stretch>
                    </p:blipFill>
                    <p:spPr>
                      <a:xfrm>
                        <a:off x="4284663" y="5156200"/>
                        <a:ext cx="827087" cy="368300"/>
                      </a:xfrm>
                      <a:prstGeom prst="rect">
                        <a:avLst/>
                      </a:prstGeom>
                      <a:noFill/>
                      <a:ln w="38100">
                        <a:noFill/>
                        <a:miter/>
                      </a:ln>
                    </p:spPr>
                  </p:pic>
                </p:oleObj>
              </mc:Fallback>
            </mc:AlternateContent>
          </a:graphicData>
        </a:graphic>
      </p:graphicFrame>
      <p:graphicFrame>
        <p:nvGraphicFramePr>
          <p:cNvPr id="385050" name="Object 26"/>
          <p:cNvGraphicFramePr>
            <a:graphicFrameLocks noChangeAspect="1"/>
          </p:cNvGraphicFramePr>
          <p:nvPr/>
        </p:nvGraphicFramePr>
        <p:xfrm>
          <a:off x="5364163" y="4408488"/>
          <a:ext cx="3003550" cy="1395412"/>
        </p:xfrm>
        <a:graphic>
          <a:graphicData uri="http://schemas.openxmlformats.org/presentationml/2006/ole">
            <mc:AlternateContent xmlns:mc="http://schemas.openxmlformats.org/markup-compatibility/2006">
              <mc:Choice xmlns:v="urn:schemas-microsoft-com:vml" Requires="v">
                <p:oleObj spid="_x0000_s3243" name="" r:id="rId7" imgW="1102995" imgH="476885" progId="Word.Picture.8">
                  <p:embed/>
                </p:oleObj>
              </mc:Choice>
              <mc:Fallback>
                <p:oleObj name="" r:id="rId7" imgW="1102995" imgH="476885" progId="Word.Picture.8">
                  <p:embed/>
                  <p:pic>
                    <p:nvPicPr>
                      <p:cNvPr id="0" name="图片 3242"/>
                      <p:cNvPicPr/>
                      <p:nvPr/>
                    </p:nvPicPr>
                    <p:blipFill>
                      <a:blip r:embed="rId8"/>
                      <a:stretch>
                        <a:fillRect/>
                      </a:stretch>
                    </p:blipFill>
                    <p:spPr>
                      <a:xfrm>
                        <a:off x="5364163" y="4408488"/>
                        <a:ext cx="3003550" cy="1395412"/>
                      </a:xfrm>
                      <a:prstGeom prst="rect">
                        <a:avLst/>
                      </a:prstGeom>
                      <a:noFill/>
                      <a:ln w="38100">
                        <a:noFill/>
                        <a:miter/>
                      </a:ln>
                    </p:spPr>
                  </p:pic>
                </p:oleObj>
              </mc:Fallback>
            </mc:AlternateContent>
          </a:graphicData>
        </a:graphic>
      </p:graphicFrame>
      <p:sp>
        <p:nvSpPr>
          <p:cNvPr id="385051" name="Rectangle 27"/>
          <p:cNvSpPr/>
          <p:nvPr/>
        </p:nvSpPr>
        <p:spPr>
          <a:xfrm>
            <a:off x="250825" y="1484313"/>
            <a:ext cx="8569325" cy="457200"/>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solidFill>
                  <a:srgbClr val="000066"/>
                </a:solidFill>
                <a:latin typeface="Verdana" panose="020B0604030504040204" pitchFamily="34" charset="0"/>
                <a:ea typeface="楷体_GB2312" pitchFamily="49" charset="-122"/>
              </a:rPr>
              <a:t>系统输入信号中，有的是高电平有效，有的是低电平有效。</a:t>
            </a:r>
            <a:endParaRPr lang="zh-CN" altLang="en-US" sz="2400" b="1" dirty="0">
              <a:solidFill>
                <a:srgbClr val="000066"/>
              </a:solidFill>
              <a:latin typeface="Verdana" panose="020B0604030504040204" pitchFamily="34" charset="0"/>
              <a:ea typeface="楷体_GB2312" pitchFamily="49" charset="-122"/>
            </a:endParaRPr>
          </a:p>
        </p:txBody>
      </p:sp>
      <p:sp>
        <p:nvSpPr>
          <p:cNvPr id="385052" name="Rectangle 28"/>
          <p:cNvSpPr/>
          <p:nvPr/>
        </p:nvSpPr>
        <p:spPr>
          <a:xfrm>
            <a:off x="36513" y="2203450"/>
            <a:ext cx="8856662" cy="82232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266700" eaLnBrk="1" hangingPunct="1">
              <a:spcBef>
                <a:spcPct val="0"/>
              </a:spcBef>
              <a:buNone/>
            </a:pPr>
            <a:r>
              <a:rPr lang="zh-CN" altLang="en-US" sz="2400" b="1" dirty="0">
                <a:solidFill>
                  <a:srgbClr val="000066"/>
                </a:solidFill>
                <a:latin typeface="Times New Roman" panose="02020603050405020304" pitchFamily="18" charset="0"/>
                <a:ea typeface="楷体_GB2312" pitchFamily="49" charset="-122"/>
              </a:rPr>
              <a:t>低电平有效，输入端加小圆圈；高电平有效，输入端不加</a:t>
            </a:r>
            <a:endParaRPr lang="zh-CN" altLang="en-US" sz="2400" b="1" dirty="0">
              <a:solidFill>
                <a:srgbClr val="000066"/>
              </a:solidFill>
              <a:latin typeface="Times New Roman" panose="02020603050405020304" pitchFamily="18" charset="0"/>
              <a:ea typeface="楷体_GB2312" pitchFamily="49" charset="-122"/>
            </a:endParaRPr>
          </a:p>
          <a:p>
            <a:pPr marL="0" lvl="0" indent="266700" eaLnBrk="1" hangingPunct="1">
              <a:spcBef>
                <a:spcPct val="0"/>
              </a:spcBef>
              <a:buNone/>
            </a:pPr>
            <a:r>
              <a:rPr lang="zh-CN" altLang="en-US" sz="2400" b="1" dirty="0">
                <a:solidFill>
                  <a:srgbClr val="000066"/>
                </a:solidFill>
                <a:latin typeface="Times New Roman" panose="02020603050405020304" pitchFamily="18" charset="0"/>
                <a:ea typeface="楷体_GB2312" pitchFamily="49" charset="-122"/>
              </a:rPr>
              <a:t>小圆圈。</a:t>
            </a:r>
            <a:endParaRPr lang="zh-CN" altLang="en-US" sz="2400" b="1" dirty="0">
              <a:solidFill>
                <a:srgbClr val="000066"/>
              </a:solidFill>
              <a:latin typeface="Times New Roman" panose="02020603050405020304" pitchFamily="18" charset="0"/>
              <a:ea typeface="楷体_GB2312" pitchFamily="49" charset="-122"/>
            </a:endParaRPr>
          </a:p>
        </p:txBody>
      </p:sp>
      <p:graphicFrame>
        <p:nvGraphicFramePr>
          <p:cNvPr id="385053" name="Object 29"/>
          <p:cNvGraphicFramePr>
            <a:graphicFrameLocks noChangeAspect="1"/>
          </p:cNvGraphicFramePr>
          <p:nvPr/>
        </p:nvGraphicFramePr>
        <p:xfrm>
          <a:off x="6588125" y="3427413"/>
          <a:ext cx="1298575" cy="531812"/>
        </p:xfrm>
        <a:graphic>
          <a:graphicData uri="http://schemas.openxmlformats.org/presentationml/2006/ole">
            <mc:AlternateContent xmlns:mc="http://schemas.openxmlformats.org/markup-compatibility/2006">
              <mc:Choice xmlns:v="urn:schemas-microsoft-com:vml" Requires="v">
                <p:oleObj spid="_x0000_s3244" name="" r:id="rId9" imgW="457200" imgH="190500" progId="Equation.3">
                  <p:embed/>
                </p:oleObj>
              </mc:Choice>
              <mc:Fallback>
                <p:oleObj name="" r:id="rId9" imgW="457200" imgH="190500" progId="Equation.3">
                  <p:embed/>
                  <p:pic>
                    <p:nvPicPr>
                      <p:cNvPr id="0" name="图片 3243"/>
                      <p:cNvPicPr/>
                      <p:nvPr/>
                    </p:nvPicPr>
                    <p:blipFill>
                      <a:blip r:embed="rId10"/>
                      <a:stretch>
                        <a:fillRect/>
                      </a:stretch>
                    </p:blipFill>
                    <p:spPr>
                      <a:xfrm>
                        <a:off x="6588125" y="3427413"/>
                        <a:ext cx="1298575" cy="531812"/>
                      </a:xfrm>
                      <a:prstGeom prst="rect">
                        <a:avLst/>
                      </a:prstGeom>
                      <a:noFill/>
                      <a:ln w="38100">
                        <a:noFill/>
                        <a:miter/>
                      </a:ln>
                    </p:spPr>
                  </p:pic>
                </p:oleObj>
              </mc:Fallback>
            </mc:AlternateContent>
          </a:graphicData>
        </a:graphic>
      </p:graphicFrame>
      <p:sp>
        <p:nvSpPr>
          <p:cNvPr id="12" name="标题 1"/>
          <p:cNvSpPr txBox="1"/>
          <p:nvPr/>
        </p:nvSpPr>
        <p:spPr>
          <a:xfrm>
            <a:off x="457200" y="274638"/>
            <a:ext cx="8229600" cy="11430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400" b="0" i="0" u="none" strike="noStrike" kern="0" cap="none" spc="0" normalizeH="0" baseline="0" noProof="0" smtClean="0">
                <a:ln>
                  <a:noFill/>
                </a:ln>
                <a:solidFill>
                  <a:srgbClr val="FF0000"/>
                </a:solidFill>
                <a:effectLst/>
                <a:uLnTx/>
                <a:uFillTx/>
                <a:latin typeface="+mj-lt"/>
                <a:ea typeface="+mj-ea"/>
                <a:cs typeface="+mj-cs"/>
              </a:rPr>
              <a:t>与非和或非逻辑网络</a:t>
            </a:r>
            <a:endParaRPr kumimoji="0" lang="zh-CN" altLang="en-US" sz="4400" b="0" i="0" u="none" strike="noStrike" kern="0" cap="none" spc="0" normalizeH="0" baseline="0" noProof="0" dirty="0" smtClean="0">
              <a:ln>
                <a:noFill/>
              </a:ln>
              <a:solidFill>
                <a:srgbClr val="FF0000"/>
              </a:solidFill>
              <a:effectLst/>
              <a:uLnTx/>
              <a:uFillTx/>
              <a:latin typeface="+mj-lt"/>
              <a:ea typeface="+mj-ea"/>
              <a:cs typeface="+mj-cs"/>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385051"/>
                                        </p:tgtEl>
                                        <p:attrNameLst>
                                          <p:attrName>style.visibility</p:attrName>
                                        </p:attrNameLst>
                                      </p:cBhvr>
                                      <p:to>
                                        <p:strVal val="visible"/>
                                      </p:to>
                                    </p:set>
                                    <p:animEffect transition="in" filter="strips(downRight)">
                                      <p:cBhvr>
                                        <p:cTn id="7" dur="500"/>
                                        <p:tgtEl>
                                          <p:spTgt spid="385051"/>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385052"/>
                                        </p:tgtEl>
                                        <p:attrNameLst>
                                          <p:attrName>style.visibility</p:attrName>
                                        </p:attrNameLst>
                                      </p:cBhvr>
                                      <p:to>
                                        <p:strVal val="visible"/>
                                      </p:to>
                                    </p:set>
                                    <p:animEffect transition="in" filter="strips(downRight)">
                                      <p:cBhvr>
                                        <p:cTn id="12" dur="500"/>
                                        <p:tgtEl>
                                          <p:spTgt spid="38505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85045"/>
                                        </p:tgtEl>
                                        <p:attrNameLst>
                                          <p:attrName>style.visibility</p:attrName>
                                        </p:attrNameLst>
                                      </p:cBhvr>
                                      <p:to>
                                        <p:strVal val="visible"/>
                                      </p:to>
                                    </p:set>
                                    <p:animEffect transition="in" filter="wipe(up)">
                                      <p:cBhvr>
                                        <p:cTn id="17" dur="500"/>
                                        <p:tgtEl>
                                          <p:spTgt spid="385045"/>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385046"/>
                                        </p:tgtEl>
                                        <p:attrNameLst>
                                          <p:attrName>style.visibility</p:attrName>
                                        </p:attrNameLst>
                                      </p:cBhvr>
                                      <p:to>
                                        <p:strVal val="visible"/>
                                      </p:to>
                                    </p:set>
                                    <p:animEffect transition="in" filter="strips(downRight)">
                                      <p:cBhvr>
                                        <p:cTn id="22" dur="500"/>
                                        <p:tgtEl>
                                          <p:spTgt spid="38504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85047"/>
                                        </p:tgtEl>
                                        <p:attrNameLst>
                                          <p:attrName>style.visibility</p:attrName>
                                        </p:attrNameLst>
                                      </p:cBhvr>
                                      <p:to>
                                        <p:strVal val="visible"/>
                                      </p:to>
                                    </p:set>
                                    <p:animEffect transition="in" filter="wipe(left)">
                                      <p:cBhvr>
                                        <p:cTn id="27" dur="500"/>
                                        <p:tgtEl>
                                          <p:spTgt spid="385047"/>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nodeType="clickEffect">
                                  <p:stCondLst>
                                    <p:cond delay="0"/>
                                  </p:stCondLst>
                                  <p:childTnLst>
                                    <p:set>
                                      <p:cBhvr>
                                        <p:cTn id="31" dur="1" fill="hold">
                                          <p:stCondLst>
                                            <p:cond delay="0"/>
                                          </p:stCondLst>
                                        </p:cTn>
                                        <p:tgtEl>
                                          <p:spTgt spid="385053"/>
                                        </p:tgtEl>
                                        <p:attrNameLst>
                                          <p:attrName>style.visibility</p:attrName>
                                        </p:attrNameLst>
                                      </p:cBhvr>
                                      <p:to>
                                        <p:strVal val="visible"/>
                                      </p:to>
                                    </p:set>
                                    <p:animEffect transition="in" filter="strips(downRight)">
                                      <p:cBhvr>
                                        <p:cTn id="32" dur="500"/>
                                        <p:tgtEl>
                                          <p:spTgt spid="385053"/>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385048"/>
                                        </p:tgtEl>
                                        <p:attrNameLst>
                                          <p:attrName>style.visibility</p:attrName>
                                        </p:attrNameLst>
                                      </p:cBhvr>
                                      <p:to>
                                        <p:strVal val="visible"/>
                                      </p:to>
                                    </p:set>
                                    <p:animEffect transition="in" filter="strips(downRight)">
                                      <p:cBhvr>
                                        <p:cTn id="37" dur="500"/>
                                        <p:tgtEl>
                                          <p:spTgt spid="38504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85049"/>
                                        </p:tgtEl>
                                        <p:attrNameLst>
                                          <p:attrName>style.visibility</p:attrName>
                                        </p:attrNameLst>
                                      </p:cBhvr>
                                      <p:to>
                                        <p:strVal val="visible"/>
                                      </p:to>
                                    </p:set>
                                    <p:animEffect transition="in" filter="wipe(left)">
                                      <p:cBhvr>
                                        <p:cTn id="42" dur="500"/>
                                        <p:tgtEl>
                                          <p:spTgt spid="38504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85050"/>
                                        </p:tgtEl>
                                        <p:attrNameLst>
                                          <p:attrName>style.visibility</p:attrName>
                                        </p:attrNameLst>
                                      </p:cBhvr>
                                      <p:to>
                                        <p:strVal val="visible"/>
                                      </p:to>
                                    </p:set>
                                    <p:animEffect transition="in" filter="wipe(left)">
                                      <p:cBhvr>
                                        <p:cTn id="47" dur="500"/>
                                        <p:tgtEl>
                                          <p:spTgt spid="385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5045" grpId="0"/>
      <p:bldP spid="385048" grpId="0"/>
      <p:bldP spid="385051" grpId="0"/>
      <p:bldP spid="385052"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87103" name="Object 31"/>
          <p:cNvGraphicFramePr>
            <a:graphicFrameLocks noChangeAspect="1"/>
          </p:cNvGraphicFramePr>
          <p:nvPr/>
        </p:nvGraphicFramePr>
        <p:xfrm>
          <a:off x="1835150" y="1989138"/>
          <a:ext cx="2830513" cy="549275"/>
        </p:xfrm>
        <a:graphic>
          <a:graphicData uri="http://schemas.openxmlformats.org/presentationml/2006/ole">
            <mc:AlternateContent xmlns:mc="http://schemas.openxmlformats.org/markup-compatibility/2006">
              <mc:Choice xmlns:v="urn:schemas-microsoft-com:vml" Requires="v">
                <p:oleObj spid="_x0000_s3253" name="" r:id="rId1" imgW="965200" imgH="190500" progId="Equation.3">
                  <p:embed/>
                </p:oleObj>
              </mc:Choice>
              <mc:Fallback>
                <p:oleObj name="" r:id="rId1" imgW="965200" imgH="190500" progId="Equation.3">
                  <p:embed/>
                  <p:pic>
                    <p:nvPicPr>
                      <p:cNvPr id="0" name="图片 3252"/>
                      <p:cNvPicPr/>
                      <p:nvPr/>
                    </p:nvPicPr>
                    <p:blipFill>
                      <a:blip r:embed="rId2"/>
                      <a:stretch>
                        <a:fillRect/>
                      </a:stretch>
                    </p:blipFill>
                    <p:spPr>
                      <a:xfrm>
                        <a:off x="1835150" y="1989138"/>
                        <a:ext cx="2830513" cy="549275"/>
                      </a:xfrm>
                      <a:prstGeom prst="rect">
                        <a:avLst/>
                      </a:prstGeom>
                      <a:noFill/>
                      <a:ln w="38100">
                        <a:noFill/>
                        <a:miter/>
                      </a:ln>
                    </p:spPr>
                  </p:pic>
                </p:oleObj>
              </mc:Fallback>
            </mc:AlternateContent>
          </a:graphicData>
        </a:graphic>
      </p:graphicFrame>
      <p:graphicFrame>
        <p:nvGraphicFramePr>
          <p:cNvPr id="387104" name="Object 32"/>
          <p:cNvGraphicFramePr>
            <a:graphicFrameLocks noChangeAspect="1"/>
          </p:cNvGraphicFramePr>
          <p:nvPr/>
        </p:nvGraphicFramePr>
        <p:xfrm>
          <a:off x="971550" y="3716338"/>
          <a:ext cx="2936875" cy="1243012"/>
        </p:xfrm>
        <a:graphic>
          <a:graphicData uri="http://schemas.openxmlformats.org/presentationml/2006/ole">
            <mc:AlternateContent xmlns:mc="http://schemas.openxmlformats.org/markup-compatibility/2006">
              <mc:Choice xmlns:v="urn:schemas-microsoft-com:vml" Requires="v">
                <p:oleObj spid="_x0000_s3256" name="" r:id="rId3" imgW="1166495" imgH="485775" progId="Word.Picture.8">
                  <p:embed/>
                </p:oleObj>
              </mc:Choice>
              <mc:Fallback>
                <p:oleObj name="" r:id="rId3" imgW="1166495" imgH="485775" progId="Word.Picture.8">
                  <p:embed/>
                  <p:pic>
                    <p:nvPicPr>
                      <p:cNvPr id="0" name="图片 3255"/>
                      <p:cNvPicPr/>
                      <p:nvPr/>
                    </p:nvPicPr>
                    <p:blipFill>
                      <a:blip r:embed="rId4"/>
                      <a:stretch>
                        <a:fillRect/>
                      </a:stretch>
                    </p:blipFill>
                    <p:spPr>
                      <a:xfrm>
                        <a:off x="971550" y="3716338"/>
                        <a:ext cx="2936875" cy="1243012"/>
                      </a:xfrm>
                      <a:prstGeom prst="rect">
                        <a:avLst/>
                      </a:prstGeom>
                      <a:noFill/>
                      <a:ln w="38100">
                        <a:noFill/>
                        <a:miter/>
                      </a:ln>
                    </p:spPr>
                  </p:pic>
                </p:oleObj>
              </mc:Fallback>
            </mc:AlternateContent>
          </a:graphicData>
        </a:graphic>
      </p:graphicFrame>
      <p:sp>
        <p:nvSpPr>
          <p:cNvPr id="387105" name="Rectangle 33"/>
          <p:cNvSpPr/>
          <p:nvPr/>
        </p:nvSpPr>
        <p:spPr>
          <a:xfrm>
            <a:off x="1763713" y="2924175"/>
            <a:ext cx="2927350" cy="4572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solidFill>
                  <a:srgbClr val="000066"/>
                </a:solidFill>
                <a:latin typeface="Times New Roman" panose="02020603050405020304" pitchFamily="18" charset="0"/>
                <a:ea typeface="楷体_GB2312" pitchFamily="49" charset="-122"/>
              </a:rPr>
              <a:t>或非门及其等效符号</a:t>
            </a:r>
            <a:endParaRPr lang="zh-CN" altLang="en-US" sz="2400" b="1" dirty="0">
              <a:solidFill>
                <a:srgbClr val="000066"/>
              </a:solidFill>
              <a:latin typeface="Times New Roman" panose="02020603050405020304" pitchFamily="18" charset="0"/>
              <a:ea typeface="楷体_GB2312" pitchFamily="49" charset="-122"/>
            </a:endParaRPr>
          </a:p>
        </p:txBody>
      </p:sp>
      <p:graphicFrame>
        <p:nvGraphicFramePr>
          <p:cNvPr id="387106" name="Object 34"/>
          <p:cNvGraphicFramePr>
            <a:graphicFrameLocks noChangeAspect="1"/>
          </p:cNvGraphicFramePr>
          <p:nvPr/>
        </p:nvGraphicFramePr>
        <p:xfrm>
          <a:off x="4859338" y="3716338"/>
          <a:ext cx="2822575" cy="1241425"/>
        </p:xfrm>
        <a:graphic>
          <a:graphicData uri="http://schemas.openxmlformats.org/presentationml/2006/ole">
            <mc:AlternateContent xmlns:mc="http://schemas.openxmlformats.org/markup-compatibility/2006">
              <mc:Choice xmlns:v="urn:schemas-microsoft-com:vml" Requires="v">
                <p:oleObj spid="_x0000_s3255" name="" r:id="rId5" imgW="1120775" imgH="485775" progId="Word.Picture.8">
                  <p:embed/>
                </p:oleObj>
              </mc:Choice>
              <mc:Fallback>
                <p:oleObj name="" r:id="rId5" imgW="1120775" imgH="485775" progId="Word.Picture.8">
                  <p:embed/>
                  <p:pic>
                    <p:nvPicPr>
                      <p:cNvPr id="0" name="图片 3254"/>
                      <p:cNvPicPr/>
                      <p:nvPr/>
                    </p:nvPicPr>
                    <p:blipFill>
                      <a:blip r:embed="rId6"/>
                      <a:stretch>
                        <a:fillRect/>
                      </a:stretch>
                    </p:blipFill>
                    <p:spPr>
                      <a:xfrm>
                        <a:off x="4859338" y="3716338"/>
                        <a:ext cx="2822575" cy="1241425"/>
                      </a:xfrm>
                      <a:prstGeom prst="rect">
                        <a:avLst/>
                      </a:prstGeom>
                      <a:noFill/>
                      <a:ln w="38100">
                        <a:noFill/>
                        <a:miter/>
                      </a:ln>
                    </p:spPr>
                  </p:pic>
                </p:oleObj>
              </mc:Fallback>
            </mc:AlternateContent>
          </a:graphicData>
        </a:graphic>
      </p:graphicFrame>
      <p:graphicFrame>
        <p:nvGraphicFramePr>
          <p:cNvPr id="387107" name="Object 35"/>
          <p:cNvGraphicFramePr>
            <a:graphicFrameLocks noChangeAspect="1"/>
          </p:cNvGraphicFramePr>
          <p:nvPr/>
        </p:nvGraphicFramePr>
        <p:xfrm>
          <a:off x="3924300" y="4149725"/>
          <a:ext cx="765175" cy="322263"/>
        </p:xfrm>
        <a:graphic>
          <a:graphicData uri="http://schemas.openxmlformats.org/presentationml/2006/ole">
            <mc:AlternateContent xmlns:mc="http://schemas.openxmlformats.org/markup-compatibility/2006">
              <mc:Choice xmlns:v="urn:schemas-microsoft-com:vml" Requires="v">
                <p:oleObj spid="_x0000_s3254" name="" r:id="rId7" imgW="303530" imgH="126365" progId="Word.Picture.8">
                  <p:embed/>
                </p:oleObj>
              </mc:Choice>
              <mc:Fallback>
                <p:oleObj name="" r:id="rId7" imgW="303530" imgH="126365" progId="Word.Picture.8">
                  <p:embed/>
                  <p:pic>
                    <p:nvPicPr>
                      <p:cNvPr id="0" name="图片 3253"/>
                      <p:cNvPicPr/>
                      <p:nvPr/>
                    </p:nvPicPr>
                    <p:blipFill>
                      <a:blip r:embed="rId8"/>
                      <a:stretch>
                        <a:fillRect/>
                      </a:stretch>
                    </p:blipFill>
                    <p:spPr>
                      <a:xfrm>
                        <a:off x="3924300" y="4149725"/>
                        <a:ext cx="765175" cy="322263"/>
                      </a:xfrm>
                      <a:prstGeom prst="rect">
                        <a:avLst/>
                      </a:prstGeom>
                      <a:noFill/>
                      <a:ln w="38100">
                        <a:noFill/>
                        <a:miter/>
                      </a:ln>
                    </p:spPr>
                  </p:pic>
                </p:oleObj>
              </mc:Fallback>
            </mc:AlternateContent>
          </a:graphicData>
        </a:graphic>
      </p:graphicFrame>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387103"/>
                                        </p:tgtEl>
                                        <p:attrNameLst>
                                          <p:attrName>style.visibility</p:attrName>
                                        </p:attrNameLst>
                                      </p:cBhvr>
                                      <p:to>
                                        <p:strVal val="visible"/>
                                      </p:to>
                                    </p:set>
                                    <p:animEffect transition="in" filter="wipe(up)">
                                      <p:cBhvr>
                                        <p:cTn id="7" dur="500"/>
                                        <p:tgtEl>
                                          <p:spTgt spid="387103"/>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87105"/>
                                        </p:tgtEl>
                                        <p:attrNameLst>
                                          <p:attrName>style.visibility</p:attrName>
                                        </p:attrNameLst>
                                      </p:cBhvr>
                                      <p:to>
                                        <p:strVal val="visible"/>
                                      </p:to>
                                    </p:set>
                                    <p:animEffect transition="in" filter="wipe(up)">
                                      <p:cBhvr>
                                        <p:cTn id="10" dur="500"/>
                                        <p:tgtEl>
                                          <p:spTgt spid="38710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387104"/>
                                        </p:tgtEl>
                                        <p:attrNameLst>
                                          <p:attrName>style.visibility</p:attrName>
                                        </p:attrNameLst>
                                      </p:cBhvr>
                                      <p:to>
                                        <p:strVal val="visible"/>
                                      </p:to>
                                    </p:set>
                                    <p:animEffect transition="in" filter="wipe(left)">
                                      <p:cBhvr>
                                        <p:cTn id="15" dur="500"/>
                                        <p:tgtEl>
                                          <p:spTgt spid="38710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387107"/>
                                        </p:tgtEl>
                                        <p:attrNameLst>
                                          <p:attrName>style.visibility</p:attrName>
                                        </p:attrNameLst>
                                      </p:cBhvr>
                                      <p:to>
                                        <p:strVal val="visible"/>
                                      </p:to>
                                    </p:set>
                                    <p:animEffect transition="in" filter="wipe(left)">
                                      <p:cBhvr>
                                        <p:cTn id="20" dur="500"/>
                                        <p:tgtEl>
                                          <p:spTgt spid="38710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387106"/>
                                        </p:tgtEl>
                                        <p:attrNameLst>
                                          <p:attrName>style.visibility</p:attrName>
                                        </p:attrNameLst>
                                      </p:cBhvr>
                                      <p:to>
                                        <p:strVal val="visible"/>
                                      </p:to>
                                    </p:set>
                                    <p:animEffect transition="in" filter="wipe(left)">
                                      <p:cBhvr>
                                        <p:cTn id="25" dur="500"/>
                                        <p:tgtEl>
                                          <p:spTgt spid="387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7105"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88117" name="Object 21"/>
          <p:cNvGraphicFramePr>
            <a:graphicFrameLocks noChangeAspect="1"/>
          </p:cNvGraphicFramePr>
          <p:nvPr/>
        </p:nvGraphicFramePr>
        <p:xfrm>
          <a:off x="539750" y="2276475"/>
          <a:ext cx="7691438" cy="1309688"/>
        </p:xfrm>
        <a:graphic>
          <a:graphicData uri="http://schemas.openxmlformats.org/presentationml/2006/ole">
            <mc:AlternateContent xmlns:mc="http://schemas.openxmlformats.org/markup-compatibility/2006">
              <mc:Choice xmlns:v="urn:schemas-microsoft-com:vml" Requires="v">
                <p:oleObj spid="_x0000_s3251" name="" r:id="rId1" imgW="2914650" imgH="485775" progId="Word.Picture.8">
                  <p:embed/>
                </p:oleObj>
              </mc:Choice>
              <mc:Fallback>
                <p:oleObj name="" r:id="rId1" imgW="2914650" imgH="485775" progId="Word.Picture.8">
                  <p:embed/>
                  <p:pic>
                    <p:nvPicPr>
                      <p:cNvPr id="0" name="图片 3250"/>
                      <p:cNvPicPr/>
                      <p:nvPr/>
                    </p:nvPicPr>
                    <p:blipFill>
                      <a:blip r:embed="rId2"/>
                      <a:stretch>
                        <a:fillRect/>
                      </a:stretch>
                    </p:blipFill>
                    <p:spPr>
                      <a:xfrm>
                        <a:off x="539750" y="2276475"/>
                        <a:ext cx="7691438" cy="1309688"/>
                      </a:xfrm>
                      <a:prstGeom prst="rect">
                        <a:avLst/>
                      </a:prstGeom>
                      <a:noFill/>
                      <a:ln w="38100">
                        <a:noFill/>
                        <a:miter/>
                      </a:ln>
                    </p:spPr>
                  </p:pic>
                </p:oleObj>
              </mc:Fallback>
            </mc:AlternateContent>
          </a:graphicData>
        </a:graphic>
      </p:graphicFrame>
      <p:graphicFrame>
        <p:nvGraphicFramePr>
          <p:cNvPr id="388118" name="Object 22"/>
          <p:cNvGraphicFramePr>
            <a:graphicFrameLocks noChangeAspect="1"/>
          </p:cNvGraphicFramePr>
          <p:nvPr/>
        </p:nvGraphicFramePr>
        <p:xfrm>
          <a:off x="358775" y="4797425"/>
          <a:ext cx="8785225" cy="1400175"/>
        </p:xfrm>
        <a:graphic>
          <a:graphicData uri="http://schemas.openxmlformats.org/presentationml/2006/ole">
            <mc:AlternateContent xmlns:mc="http://schemas.openxmlformats.org/markup-compatibility/2006">
              <mc:Choice xmlns:v="urn:schemas-microsoft-com:vml" Requires="v">
                <p:oleObj spid="_x0000_s3252" name="" r:id="rId3" imgW="3114675" imgH="485775" progId="Word.Picture.8">
                  <p:embed/>
                </p:oleObj>
              </mc:Choice>
              <mc:Fallback>
                <p:oleObj name="" r:id="rId3" imgW="3114675" imgH="485775" progId="Word.Picture.8">
                  <p:embed/>
                  <p:pic>
                    <p:nvPicPr>
                      <p:cNvPr id="0" name="图片 3251"/>
                      <p:cNvPicPr/>
                      <p:nvPr/>
                    </p:nvPicPr>
                    <p:blipFill>
                      <a:blip r:embed="rId4"/>
                      <a:stretch>
                        <a:fillRect/>
                      </a:stretch>
                    </p:blipFill>
                    <p:spPr>
                      <a:xfrm>
                        <a:off x="358775" y="4797425"/>
                        <a:ext cx="8785225" cy="1400175"/>
                      </a:xfrm>
                      <a:prstGeom prst="rect">
                        <a:avLst/>
                      </a:prstGeom>
                      <a:noFill/>
                      <a:ln w="38100">
                        <a:noFill/>
                        <a:miter/>
                      </a:ln>
                    </p:spPr>
                  </p:pic>
                </p:oleObj>
              </mc:Fallback>
            </mc:AlternateContent>
          </a:graphicData>
        </a:graphic>
      </p:graphicFrame>
      <p:sp>
        <p:nvSpPr>
          <p:cNvPr id="69636" name="Rectangle 23"/>
          <p:cNvSpPr/>
          <p:nvPr/>
        </p:nvSpPr>
        <p:spPr>
          <a:xfrm>
            <a:off x="0" y="2720975"/>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266700" eaLnBrk="1" hangingPunct="1">
              <a:spcBef>
                <a:spcPct val="0"/>
              </a:spcBef>
              <a:buNone/>
            </a:pPr>
            <a:endParaRPr lang="zh-CN" altLang="zh-CN" sz="1800" dirty="0"/>
          </a:p>
        </p:txBody>
      </p:sp>
      <p:graphicFrame>
        <p:nvGraphicFramePr>
          <p:cNvPr id="388120" name="Object 24"/>
          <p:cNvGraphicFramePr>
            <a:graphicFrameLocks noChangeAspect="1"/>
          </p:cNvGraphicFramePr>
          <p:nvPr/>
        </p:nvGraphicFramePr>
        <p:xfrm>
          <a:off x="827088" y="1268413"/>
          <a:ext cx="2736850" cy="663575"/>
        </p:xfrm>
        <a:graphic>
          <a:graphicData uri="http://schemas.openxmlformats.org/presentationml/2006/ole">
            <mc:AlternateContent xmlns:mc="http://schemas.openxmlformats.org/markup-compatibility/2006">
              <mc:Choice xmlns:v="urn:schemas-microsoft-com:vml" Requires="v">
                <p:oleObj spid="_x0000_s3257" name="" r:id="rId5" imgW="888365" imgH="215900" progId="Equation.3">
                  <p:embed/>
                </p:oleObj>
              </mc:Choice>
              <mc:Fallback>
                <p:oleObj name="" r:id="rId5" imgW="888365" imgH="215900" progId="Equation.3">
                  <p:embed/>
                  <p:pic>
                    <p:nvPicPr>
                      <p:cNvPr id="0" name="图片 3256"/>
                      <p:cNvPicPr/>
                      <p:nvPr/>
                    </p:nvPicPr>
                    <p:blipFill>
                      <a:blip r:embed="rId6"/>
                      <a:stretch>
                        <a:fillRect/>
                      </a:stretch>
                    </p:blipFill>
                    <p:spPr>
                      <a:xfrm>
                        <a:off x="827088" y="1268413"/>
                        <a:ext cx="2736850" cy="663575"/>
                      </a:xfrm>
                      <a:prstGeom prst="rect">
                        <a:avLst/>
                      </a:prstGeom>
                      <a:noFill/>
                      <a:ln w="38100">
                        <a:noFill/>
                        <a:miter/>
                      </a:ln>
                    </p:spPr>
                  </p:pic>
                </p:oleObj>
              </mc:Fallback>
            </mc:AlternateContent>
          </a:graphicData>
        </a:graphic>
      </p:graphicFrame>
      <p:graphicFrame>
        <p:nvGraphicFramePr>
          <p:cNvPr id="388121" name="Object 25"/>
          <p:cNvGraphicFramePr>
            <a:graphicFrameLocks noChangeAspect="1"/>
          </p:cNvGraphicFramePr>
          <p:nvPr/>
        </p:nvGraphicFramePr>
        <p:xfrm>
          <a:off x="684213" y="3860800"/>
          <a:ext cx="2971800" cy="663575"/>
        </p:xfrm>
        <a:graphic>
          <a:graphicData uri="http://schemas.openxmlformats.org/presentationml/2006/ole">
            <mc:AlternateContent xmlns:mc="http://schemas.openxmlformats.org/markup-compatibility/2006">
              <mc:Choice xmlns:v="urn:schemas-microsoft-com:vml" Requires="v">
                <p:oleObj spid="_x0000_s3249" name="" r:id="rId7" imgW="964565" imgH="215900" progId="Equation.3">
                  <p:embed/>
                </p:oleObj>
              </mc:Choice>
              <mc:Fallback>
                <p:oleObj name="" r:id="rId7" imgW="964565" imgH="215900" progId="Equation.3">
                  <p:embed/>
                  <p:pic>
                    <p:nvPicPr>
                      <p:cNvPr id="0" name="图片 3248"/>
                      <p:cNvPicPr/>
                      <p:nvPr/>
                    </p:nvPicPr>
                    <p:blipFill>
                      <a:blip r:embed="rId8"/>
                      <a:stretch>
                        <a:fillRect/>
                      </a:stretch>
                    </p:blipFill>
                    <p:spPr>
                      <a:xfrm>
                        <a:off x="684213" y="3860800"/>
                        <a:ext cx="2971800" cy="663575"/>
                      </a:xfrm>
                      <a:prstGeom prst="rect">
                        <a:avLst/>
                      </a:prstGeom>
                      <a:noFill/>
                      <a:ln w="38100">
                        <a:noFill/>
                        <a:miter/>
                      </a:ln>
                    </p:spPr>
                  </p:pic>
                </p:oleObj>
              </mc:Fallback>
            </mc:AlternateContent>
          </a:graphicData>
        </a:graphic>
      </p:graphicFrame>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388120"/>
                                        </p:tgtEl>
                                        <p:attrNameLst>
                                          <p:attrName>style.visibility</p:attrName>
                                        </p:attrNameLst>
                                      </p:cBhvr>
                                      <p:to>
                                        <p:strVal val="visible"/>
                                      </p:to>
                                    </p:set>
                                    <p:animEffect transition="in" filter="strips(downRight)">
                                      <p:cBhvr>
                                        <p:cTn id="7" dur="500"/>
                                        <p:tgtEl>
                                          <p:spTgt spid="3881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88117"/>
                                        </p:tgtEl>
                                        <p:attrNameLst>
                                          <p:attrName>style.visibility</p:attrName>
                                        </p:attrNameLst>
                                      </p:cBhvr>
                                      <p:to>
                                        <p:strVal val="visible"/>
                                      </p:to>
                                    </p:set>
                                    <p:animEffect transition="in" filter="wipe(left)">
                                      <p:cBhvr>
                                        <p:cTn id="12" dur="500"/>
                                        <p:tgtEl>
                                          <p:spTgt spid="388117"/>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388121"/>
                                        </p:tgtEl>
                                        <p:attrNameLst>
                                          <p:attrName>style.visibility</p:attrName>
                                        </p:attrNameLst>
                                      </p:cBhvr>
                                      <p:to>
                                        <p:strVal val="visible"/>
                                      </p:to>
                                    </p:set>
                                    <p:animEffect transition="in" filter="strips(downRight)">
                                      <p:cBhvr>
                                        <p:cTn id="17" dur="500"/>
                                        <p:tgtEl>
                                          <p:spTgt spid="38812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88118"/>
                                        </p:tgtEl>
                                        <p:attrNameLst>
                                          <p:attrName>style.visibility</p:attrName>
                                        </p:attrNameLst>
                                      </p:cBhvr>
                                      <p:to>
                                        <p:strVal val="visible"/>
                                      </p:to>
                                    </p:set>
                                    <p:animEffect transition="in" filter="wipe(left)">
                                      <p:cBhvr>
                                        <p:cTn id="22" dur="500"/>
                                        <p:tgtEl>
                                          <p:spTgt spid="388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4" name="Oval 24"/>
          <p:cNvSpPr/>
          <p:nvPr/>
        </p:nvSpPr>
        <p:spPr>
          <a:xfrm>
            <a:off x="7092950" y="2060575"/>
            <a:ext cx="1366838" cy="1800225"/>
          </a:xfrm>
          <a:prstGeom prst="ellipse">
            <a:avLst/>
          </a:prstGeom>
          <a:solidFill>
            <a:schemeClr val="bg1"/>
          </a:solidFill>
          <a:ln w="28575" cap="flat" cmpd="sng">
            <a:solidFill>
              <a:schemeClr val="accent2"/>
            </a:solidFill>
            <a:prstDash val="dash"/>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b="1" dirty="0">
              <a:latin typeface="Arial Narrow" panose="020B0606020202030204" pitchFamily="34" charset="0"/>
            </a:endParaRPr>
          </a:p>
        </p:txBody>
      </p:sp>
      <p:graphicFrame>
        <p:nvGraphicFramePr>
          <p:cNvPr id="389145" name="Object 25"/>
          <p:cNvGraphicFramePr>
            <a:graphicFrameLocks noChangeAspect="1"/>
          </p:cNvGraphicFramePr>
          <p:nvPr/>
        </p:nvGraphicFramePr>
        <p:xfrm>
          <a:off x="1763713" y="2276475"/>
          <a:ext cx="2879725" cy="1843088"/>
        </p:xfrm>
        <a:graphic>
          <a:graphicData uri="http://schemas.openxmlformats.org/presentationml/2006/ole">
            <mc:AlternateContent xmlns:mc="http://schemas.openxmlformats.org/markup-compatibility/2006">
              <mc:Choice xmlns:v="urn:schemas-microsoft-com:vml" Requires="v">
                <p:oleObj spid="_x0000_s3247" name="" r:id="rId1" imgW="1438910" imgH="908050" progId="Word.Picture.8">
                  <p:embed/>
                </p:oleObj>
              </mc:Choice>
              <mc:Fallback>
                <p:oleObj name="" r:id="rId1" imgW="1438910" imgH="908050" progId="Word.Picture.8">
                  <p:embed/>
                  <p:pic>
                    <p:nvPicPr>
                      <p:cNvPr id="0" name="图片 3246"/>
                      <p:cNvPicPr/>
                      <p:nvPr/>
                    </p:nvPicPr>
                    <p:blipFill>
                      <a:blip r:embed="rId2"/>
                      <a:stretch>
                        <a:fillRect/>
                      </a:stretch>
                    </p:blipFill>
                    <p:spPr>
                      <a:xfrm>
                        <a:off x="1763713" y="2276475"/>
                        <a:ext cx="2879725" cy="1843088"/>
                      </a:xfrm>
                      <a:prstGeom prst="rect">
                        <a:avLst/>
                      </a:prstGeom>
                      <a:noFill/>
                      <a:ln w="38100">
                        <a:noFill/>
                        <a:miter/>
                      </a:ln>
                    </p:spPr>
                  </p:pic>
                </p:oleObj>
              </mc:Fallback>
            </mc:AlternateContent>
          </a:graphicData>
        </a:graphic>
      </p:graphicFrame>
      <p:graphicFrame>
        <p:nvGraphicFramePr>
          <p:cNvPr id="389146" name="Object 26"/>
          <p:cNvGraphicFramePr>
            <a:graphicFrameLocks noChangeAspect="1"/>
          </p:cNvGraphicFramePr>
          <p:nvPr/>
        </p:nvGraphicFramePr>
        <p:xfrm>
          <a:off x="5292725" y="2060575"/>
          <a:ext cx="3025775" cy="1898650"/>
        </p:xfrm>
        <a:graphic>
          <a:graphicData uri="http://schemas.openxmlformats.org/presentationml/2006/ole">
            <mc:AlternateContent xmlns:mc="http://schemas.openxmlformats.org/markup-compatibility/2006">
              <mc:Choice xmlns:v="urn:schemas-microsoft-com:vml" Requires="v">
                <p:oleObj spid="_x0000_s3248" name="" r:id="rId3" imgW="1466215" imgH="908050" progId="Word.Picture.8">
                  <p:embed/>
                </p:oleObj>
              </mc:Choice>
              <mc:Fallback>
                <p:oleObj name="" r:id="rId3" imgW="1466215" imgH="908050" progId="Word.Picture.8">
                  <p:embed/>
                  <p:pic>
                    <p:nvPicPr>
                      <p:cNvPr id="0" name="图片 3247"/>
                      <p:cNvPicPr/>
                      <p:nvPr/>
                    </p:nvPicPr>
                    <p:blipFill>
                      <a:blip r:embed="rId4"/>
                      <a:stretch>
                        <a:fillRect/>
                      </a:stretch>
                    </p:blipFill>
                    <p:spPr>
                      <a:xfrm>
                        <a:off x="5292725" y="2060575"/>
                        <a:ext cx="3025775" cy="1898650"/>
                      </a:xfrm>
                      <a:prstGeom prst="rect">
                        <a:avLst/>
                      </a:prstGeom>
                      <a:noFill/>
                      <a:ln w="38100">
                        <a:noFill/>
                        <a:miter/>
                      </a:ln>
                    </p:spPr>
                  </p:pic>
                </p:oleObj>
              </mc:Fallback>
            </mc:AlternateContent>
          </a:graphicData>
        </a:graphic>
      </p:graphicFrame>
      <p:graphicFrame>
        <p:nvGraphicFramePr>
          <p:cNvPr id="389147" name="Object 27"/>
          <p:cNvGraphicFramePr>
            <a:graphicFrameLocks noChangeAspect="1"/>
          </p:cNvGraphicFramePr>
          <p:nvPr/>
        </p:nvGraphicFramePr>
        <p:xfrm>
          <a:off x="1763713" y="4437063"/>
          <a:ext cx="3241675" cy="2074862"/>
        </p:xfrm>
        <a:graphic>
          <a:graphicData uri="http://schemas.openxmlformats.org/presentationml/2006/ole">
            <mc:AlternateContent xmlns:mc="http://schemas.openxmlformats.org/markup-compatibility/2006">
              <mc:Choice xmlns:v="urn:schemas-microsoft-com:vml" Requires="v">
                <p:oleObj spid="_x0000_s3250" name="" r:id="rId5" imgW="1438910" imgH="908050" progId="Word.Picture.8">
                  <p:embed/>
                </p:oleObj>
              </mc:Choice>
              <mc:Fallback>
                <p:oleObj name="" r:id="rId5" imgW="1438910" imgH="908050" progId="Word.Picture.8">
                  <p:embed/>
                  <p:pic>
                    <p:nvPicPr>
                      <p:cNvPr id="0" name="图片 3249"/>
                      <p:cNvPicPr/>
                      <p:nvPr/>
                    </p:nvPicPr>
                    <p:blipFill>
                      <a:blip r:embed="rId6"/>
                      <a:stretch>
                        <a:fillRect/>
                      </a:stretch>
                    </p:blipFill>
                    <p:spPr>
                      <a:xfrm>
                        <a:off x="1763713" y="4437063"/>
                        <a:ext cx="3241675" cy="2074862"/>
                      </a:xfrm>
                      <a:prstGeom prst="rect">
                        <a:avLst/>
                      </a:prstGeom>
                      <a:noFill/>
                      <a:ln w="38100">
                        <a:noFill/>
                        <a:miter/>
                      </a:ln>
                    </p:spPr>
                  </p:pic>
                </p:oleObj>
              </mc:Fallback>
            </mc:AlternateContent>
          </a:graphicData>
        </a:graphic>
      </p:graphicFrame>
      <p:sp>
        <p:nvSpPr>
          <p:cNvPr id="70662" name="Rectangle 28"/>
          <p:cNvSpPr/>
          <p:nvPr/>
        </p:nvSpPr>
        <p:spPr>
          <a:xfrm>
            <a:off x="0" y="1662113"/>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266700" eaLnBrk="1" hangingPunct="1">
              <a:spcBef>
                <a:spcPct val="0"/>
              </a:spcBef>
              <a:buNone/>
            </a:pPr>
            <a:endParaRPr lang="zh-CN" altLang="zh-CN" sz="1800" dirty="0"/>
          </a:p>
        </p:txBody>
      </p:sp>
      <p:sp>
        <p:nvSpPr>
          <p:cNvPr id="70663" name="Rectangle 29"/>
          <p:cNvSpPr/>
          <p:nvPr/>
        </p:nvSpPr>
        <p:spPr>
          <a:xfrm>
            <a:off x="4267200" y="2509838"/>
            <a:ext cx="609600" cy="244475"/>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1000" dirty="0">
                <a:latin typeface="Times New Roman" panose="02020603050405020304" pitchFamily="18" charset="0"/>
                <a:ea typeface="华康简宋" charset="-122"/>
              </a:rPr>
              <a:t>     </a:t>
            </a:r>
            <a:endParaRPr lang="en-US" altLang="zh-CN" sz="1800" dirty="0">
              <a:ea typeface="华康简宋" charset="-122"/>
            </a:endParaRPr>
          </a:p>
        </p:txBody>
      </p:sp>
      <p:sp>
        <p:nvSpPr>
          <p:cNvPr id="70664" name="Rectangle 30"/>
          <p:cNvSpPr/>
          <p:nvPr/>
        </p:nvSpPr>
        <p:spPr>
          <a:xfrm>
            <a:off x="4267200" y="3602038"/>
            <a:ext cx="609600" cy="244475"/>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1000" dirty="0">
                <a:latin typeface="Times New Roman" panose="02020603050405020304" pitchFamily="18" charset="0"/>
                <a:ea typeface="华康简宋" charset="-122"/>
              </a:rPr>
              <a:t>     </a:t>
            </a:r>
            <a:endParaRPr lang="en-US" altLang="zh-CN" sz="1800" dirty="0">
              <a:ea typeface="华康简宋" charset="-122"/>
            </a:endParaRPr>
          </a:p>
        </p:txBody>
      </p:sp>
      <p:sp>
        <p:nvSpPr>
          <p:cNvPr id="70665" name="Rectangle 31"/>
          <p:cNvSpPr/>
          <p:nvPr/>
        </p:nvSpPr>
        <p:spPr>
          <a:xfrm>
            <a:off x="755650" y="620713"/>
            <a:ext cx="3476625" cy="4572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228600" algn="ctr" eaLnBrk="1" hangingPunct="1">
              <a:spcBef>
                <a:spcPct val="0"/>
              </a:spcBef>
              <a:buNone/>
            </a:pPr>
            <a:r>
              <a:rPr lang="zh-CN" altLang="en-US" sz="2400" b="1" dirty="0">
                <a:solidFill>
                  <a:srgbClr val="000066"/>
                </a:solidFill>
                <a:ea typeface="楷体_GB2312" pitchFamily="49" charset="-122"/>
              </a:rPr>
              <a:t>逻辑门等效符号的应用</a:t>
            </a:r>
            <a:endParaRPr lang="zh-CN" altLang="en-US" sz="2400" b="1" dirty="0">
              <a:solidFill>
                <a:srgbClr val="000066"/>
              </a:solidFill>
              <a:ea typeface="楷体_GB2312" pitchFamily="49" charset="-122"/>
            </a:endParaRPr>
          </a:p>
        </p:txBody>
      </p:sp>
      <p:sp>
        <p:nvSpPr>
          <p:cNvPr id="389152" name="AutoShape 32"/>
          <p:cNvSpPr/>
          <p:nvPr/>
        </p:nvSpPr>
        <p:spPr>
          <a:xfrm>
            <a:off x="3860800" y="3644900"/>
            <a:ext cx="711200" cy="1344613"/>
          </a:xfrm>
          <a:prstGeom prst="downArrow">
            <a:avLst>
              <a:gd name="adj1" fmla="val 50000"/>
              <a:gd name="adj2" fmla="val 47265"/>
            </a:avLst>
          </a:prstGeom>
          <a:solidFill>
            <a:srgbClr val="78CEEC"/>
          </a:solid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en-US" altLang="zh-CN" sz="2400" b="1" dirty="0">
              <a:solidFill>
                <a:srgbClr val="000066"/>
              </a:solidFill>
              <a:ea typeface="楷体_GB2312" pitchFamily="49" charset="-122"/>
            </a:endParaRPr>
          </a:p>
          <a:p>
            <a:pPr marL="0" lvl="0" indent="0" eaLnBrk="1" hangingPunct="1">
              <a:spcBef>
                <a:spcPct val="0"/>
              </a:spcBef>
              <a:buNone/>
            </a:pPr>
            <a:endParaRPr lang="en-US" altLang="zh-CN" sz="2400" b="1" dirty="0">
              <a:solidFill>
                <a:srgbClr val="000066"/>
              </a:solidFill>
              <a:ea typeface="楷体_GB2312" pitchFamily="49" charset="-122"/>
            </a:endParaRPr>
          </a:p>
          <a:p>
            <a:pPr marL="0" lvl="0" indent="0" eaLnBrk="1" hangingPunct="1">
              <a:spcBef>
                <a:spcPct val="0"/>
              </a:spcBef>
              <a:buNone/>
            </a:pPr>
            <a:endParaRPr lang="en-US" altLang="zh-CN" sz="2400" b="1" dirty="0">
              <a:solidFill>
                <a:srgbClr val="000066"/>
              </a:solidFill>
              <a:ea typeface="楷体_GB2312" pitchFamily="49" charset="-122"/>
            </a:endParaRPr>
          </a:p>
        </p:txBody>
      </p:sp>
      <p:sp>
        <p:nvSpPr>
          <p:cNvPr id="389153" name="Rectangle 33"/>
          <p:cNvSpPr/>
          <p:nvPr/>
        </p:nvSpPr>
        <p:spPr>
          <a:xfrm>
            <a:off x="755650" y="1196975"/>
            <a:ext cx="7497763" cy="8223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solidFill>
                  <a:srgbClr val="000066"/>
                </a:solidFill>
                <a:latin typeface="Verdana" panose="020B0604030504040204" pitchFamily="34" charset="0"/>
                <a:ea typeface="楷体_GB2312" pitchFamily="49" charset="-122"/>
              </a:rPr>
              <a:t>利用逻辑门等效符号，可实现对逻辑电路进行变换，</a:t>
            </a:r>
            <a:endParaRPr lang="zh-CN" altLang="en-US" sz="2400" b="1" dirty="0">
              <a:solidFill>
                <a:srgbClr val="000066"/>
              </a:solidFill>
              <a:latin typeface="Verdana" panose="020B0604030504040204" pitchFamily="34" charset="0"/>
              <a:ea typeface="楷体_GB2312" pitchFamily="49" charset="-122"/>
            </a:endParaRPr>
          </a:p>
          <a:p>
            <a:pPr marL="0" lvl="0" indent="0" eaLnBrk="1" hangingPunct="1">
              <a:spcBef>
                <a:spcPct val="0"/>
              </a:spcBef>
              <a:buNone/>
            </a:pPr>
            <a:r>
              <a:rPr lang="zh-CN" altLang="en-US" sz="2400" b="1" dirty="0">
                <a:solidFill>
                  <a:srgbClr val="000066"/>
                </a:solidFill>
                <a:latin typeface="Verdana" panose="020B0604030504040204" pitchFamily="34" charset="0"/>
                <a:ea typeface="楷体_GB2312" pitchFamily="49" charset="-122"/>
              </a:rPr>
              <a:t>以简化电路，能减少实现电路的门的种类。</a:t>
            </a:r>
            <a:endParaRPr lang="zh-CN" altLang="en-US" sz="2400" b="1" dirty="0">
              <a:solidFill>
                <a:srgbClr val="000066"/>
              </a:solidFill>
              <a:latin typeface="Verdana" panose="020B0604030504040204" pitchFamily="34" charset="0"/>
              <a:ea typeface="楷体_GB2312" pitchFamily="49" charset="-122"/>
            </a:endParaRPr>
          </a:p>
        </p:txBody>
      </p:sp>
      <p:sp>
        <p:nvSpPr>
          <p:cNvPr id="389154" name="AutoShape 34"/>
          <p:cNvSpPr/>
          <p:nvPr/>
        </p:nvSpPr>
        <p:spPr>
          <a:xfrm>
            <a:off x="7451725" y="3860800"/>
            <a:ext cx="711200" cy="1344613"/>
          </a:xfrm>
          <a:prstGeom prst="downArrow">
            <a:avLst>
              <a:gd name="adj1" fmla="val 50000"/>
              <a:gd name="adj2" fmla="val 47265"/>
            </a:avLst>
          </a:prstGeom>
          <a:solidFill>
            <a:srgbClr val="78CEEC"/>
          </a:solid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en-US" altLang="zh-CN" sz="2400" b="1" dirty="0">
              <a:solidFill>
                <a:srgbClr val="000066"/>
              </a:solidFill>
              <a:ea typeface="楷体_GB2312" pitchFamily="49" charset="-122"/>
            </a:endParaRPr>
          </a:p>
          <a:p>
            <a:pPr marL="0" lvl="0" indent="0" eaLnBrk="1" hangingPunct="1">
              <a:spcBef>
                <a:spcPct val="0"/>
              </a:spcBef>
              <a:buNone/>
            </a:pPr>
            <a:endParaRPr lang="en-US" altLang="zh-CN" sz="2400" b="1" dirty="0">
              <a:solidFill>
                <a:srgbClr val="000066"/>
              </a:solidFill>
              <a:ea typeface="楷体_GB2312" pitchFamily="49" charset="-122"/>
            </a:endParaRPr>
          </a:p>
          <a:p>
            <a:pPr marL="0" lvl="0" indent="0" eaLnBrk="1" hangingPunct="1">
              <a:spcBef>
                <a:spcPct val="0"/>
              </a:spcBef>
              <a:buNone/>
            </a:pPr>
            <a:endParaRPr lang="en-US" altLang="zh-CN" sz="2400" b="1" dirty="0">
              <a:solidFill>
                <a:srgbClr val="000066"/>
              </a:solidFill>
              <a:ea typeface="楷体_GB2312" pitchFamily="49" charset="-122"/>
            </a:endParaRPr>
          </a:p>
        </p:txBody>
      </p:sp>
      <p:graphicFrame>
        <p:nvGraphicFramePr>
          <p:cNvPr id="389155" name="Object 35"/>
          <p:cNvGraphicFramePr>
            <a:graphicFrameLocks noChangeAspect="1"/>
          </p:cNvGraphicFramePr>
          <p:nvPr/>
        </p:nvGraphicFramePr>
        <p:xfrm>
          <a:off x="6516688" y="5013325"/>
          <a:ext cx="2843212" cy="1306513"/>
        </p:xfrm>
        <a:graphic>
          <a:graphicData uri="http://schemas.openxmlformats.org/presentationml/2006/ole">
            <mc:AlternateContent xmlns:mc="http://schemas.openxmlformats.org/markup-compatibility/2006">
              <mc:Choice xmlns:v="urn:schemas-microsoft-com:vml" Requires="v">
                <p:oleObj spid="_x0000_s3261" name="" r:id="rId7" imgW="1215390" imgH="485775" progId="Word.Picture.8">
                  <p:embed/>
                </p:oleObj>
              </mc:Choice>
              <mc:Fallback>
                <p:oleObj name="" r:id="rId7" imgW="1215390" imgH="485775" progId="Word.Picture.8">
                  <p:embed/>
                  <p:pic>
                    <p:nvPicPr>
                      <p:cNvPr id="0" name="图片 3260"/>
                      <p:cNvPicPr/>
                      <p:nvPr/>
                    </p:nvPicPr>
                    <p:blipFill>
                      <a:blip r:embed="rId8"/>
                      <a:stretch>
                        <a:fillRect/>
                      </a:stretch>
                    </p:blipFill>
                    <p:spPr>
                      <a:xfrm>
                        <a:off x="6516688" y="5013325"/>
                        <a:ext cx="2843212" cy="1306513"/>
                      </a:xfrm>
                      <a:prstGeom prst="rect">
                        <a:avLst/>
                      </a:prstGeom>
                      <a:noFill/>
                      <a:ln w="38100">
                        <a:noFill/>
                        <a:miter/>
                      </a:ln>
                    </p:spPr>
                  </p:pic>
                </p:oleObj>
              </mc:Fallback>
            </mc:AlternateContent>
          </a:graphicData>
        </a:graphic>
      </p:graphicFrame>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89153"/>
                                        </p:tgtEl>
                                        <p:attrNameLst>
                                          <p:attrName>style.visibility</p:attrName>
                                        </p:attrNameLst>
                                      </p:cBhvr>
                                      <p:to>
                                        <p:strVal val="visible"/>
                                      </p:to>
                                    </p:set>
                                    <p:animEffect transition="in" filter="wipe(up)">
                                      <p:cBhvr>
                                        <p:cTn id="7" dur="500"/>
                                        <p:tgtEl>
                                          <p:spTgt spid="38915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89145"/>
                                        </p:tgtEl>
                                        <p:attrNameLst>
                                          <p:attrName>style.visibility</p:attrName>
                                        </p:attrNameLst>
                                      </p:cBhvr>
                                      <p:to>
                                        <p:strVal val="visible"/>
                                      </p:to>
                                    </p:set>
                                    <p:animEffect transition="in" filter="box(in)">
                                      <p:cBhvr>
                                        <p:cTn id="12" dur="500"/>
                                        <p:tgtEl>
                                          <p:spTgt spid="38914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89146"/>
                                        </p:tgtEl>
                                        <p:attrNameLst>
                                          <p:attrName>style.visibility</p:attrName>
                                        </p:attrNameLst>
                                      </p:cBhvr>
                                      <p:to>
                                        <p:strVal val="visible"/>
                                      </p:to>
                                    </p:set>
                                    <p:animEffect transition="in" filter="box(in)">
                                      <p:cBhvr>
                                        <p:cTn id="17" dur="500"/>
                                        <p:tgtEl>
                                          <p:spTgt spid="389146"/>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89144"/>
                                        </p:tgtEl>
                                        <p:attrNameLst>
                                          <p:attrName>style.visibility</p:attrName>
                                        </p:attrNameLst>
                                      </p:cBhvr>
                                      <p:to>
                                        <p:strVal val="visible"/>
                                      </p:to>
                                    </p:set>
                                    <p:animEffect transition="in" filter="box(in)">
                                      <p:cBhvr>
                                        <p:cTn id="22" dur="500"/>
                                        <p:tgtEl>
                                          <p:spTgt spid="38914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89154"/>
                                        </p:tgtEl>
                                        <p:attrNameLst>
                                          <p:attrName>style.visibility</p:attrName>
                                        </p:attrNameLst>
                                      </p:cBhvr>
                                      <p:to>
                                        <p:strVal val="visible"/>
                                      </p:to>
                                    </p:set>
                                    <p:animEffect transition="in" filter="wipe(up)">
                                      <p:cBhvr>
                                        <p:cTn id="27" dur="500"/>
                                        <p:tgtEl>
                                          <p:spTgt spid="389154"/>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389155"/>
                                        </p:tgtEl>
                                        <p:attrNameLst>
                                          <p:attrName>style.visibility</p:attrName>
                                        </p:attrNameLst>
                                      </p:cBhvr>
                                      <p:to>
                                        <p:strVal val="visible"/>
                                      </p:to>
                                    </p:set>
                                    <p:animEffect transition="in" filter="box(in)">
                                      <p:cBhvr>
                                        <p:cTn id="32" dur="500"/>
                                        <p:tgtEl>
                                          <p:spTgt spid="38915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389152"/>
                                        </p:tgtEl>
                                        <p:attrNameLst>
                                          <p:attrName>style.visibility</p:attrName>
                                        </p:attrNameLst>
                                      </p:cBhvr>
                                      <p:to>
                                        <p:strVal val="visible"/>
                                      </p:to>
                                    </p:set>
                                    <p:animEffect transition="in" filter="wipe(up)">
                                      <p:cBhvr>
                                        <p:cTn id="37" dur="500"/>
                                        <p:tgtEl>
                                          <p:spTgt spid="389152"/>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389147"/>
                                        </p:tgtEl>
                                        <p:attrNameLst>
                                          <p:attrName>style.visibility</p:attrName>
                                        </p:attrNameLst>
                                      </p:cBhvr>
                                      <p:to>
                                        <p:strVal val="visible"/>
                                      </p:to>
                                    </p:set>
                                    <p:animEffect transition="in" filter="box(in)">
                                      <p:cBhvr>
                                        <p:cTn id="42" dur="500"/>
                                        <p:tgtEl>
                                          <p:spTgt spid="389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44" grpId="0" animBg="1"/>
      <p:bldP spid="389152" grpId="0" animBg="1"/>
      <p:bldP spid="389153" grpId="0"/>
      <p:bldP spid="389154"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标题 1"/>
          <p:cNvSpPr>
            <a:spLocks noGrp="1"/>
          </p:cNvSpPr>
          <p:nvPr>
            <p:ph type="title"/>
          </p:nvPr>
        </p:nvSpPr>
        <p:spPr>
          <a:ln/>
        </p:spPr>
        <p:txBody>
          <a:bodyPr vert="horz" wrap="square" lIns="91440" tIns="45720" rIns="91440" bIns="45720" anchor="ctr" anchorCtr="0"/>
          <a:p>
            <a:r>
              <a:rPr lang="zh-CN" altLang="en-US" dirty="0">
                <a:solidFill>
                  <a:srgbClr val="FF0000"/>
                </a:solidFill>
              </a:rPr>
              <a:t>与非和或非逻辑网络</a:t>
            </a:r>
            <a:endParaRPr lang="zh-CN" altLang="en-US" dirty="0">
              <a:solidFill>
                <a:srgbClr val="FF0000"/>
              </a:solidFill>
            </a:endParaRPr>
          </a:p>
        </p:txBody>
      </p:sp>
      <p:pic>
        <p:nvPicPr>
          <p:cNvPr id="71683" name="内容占位符 3"/>
          <p:cNvPicPr>
            <a:picLocks noGrp="1" noChangeAspect="1"/>
          </p:cNvPicPr>
          <p:nvPr>
            <p:ph idx="1"/>
          </p:nvPr>
        </p:nvPicPr>
        <p:blipFill>
          <a:blip r:embed="rId1"/>
          <a:srcRect/>
          <a:stretch>
            <a:fillRect/>
          </a:stretch>
        </p:blipFill>
        <p:spPr>
          <a:xfrm>
            <a:off x="1285875" y="2201863"/>
            <a:ext cx="6572250" cy="3322637"/>
          </a:xfrm>
          <a:ln/>
        </p:spPr>
      </p:pic>
      <p:sp>
        <p:nvSpPr>
          <p:cNvPr id="71684" name="矩形 4"/>
          <p:cNvSpPr/>
          <p:nvPr/>
        </p:nvSpPr>
        <p:spPr>
          <a:xfrm>
            <a:off x="2124075" y="5732463"/>
            <a:ext cx="4391025" cy="3698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zh-CN" altLang="en-US" sz="1800" dirty="0"/>
              <a:t>逻辑门项中的德摩根（ </a:t>
            </a:r>
            <a:r>
              <a:rPr lang="en-US" altLang="zh-CN" sz="1800" dirty="0"/>
              <a:t>DeMorgan </a:t>
            </a:r>
            <a:r>
              <a:rPr lang="zh-CN" altLang="en-US" sz="1800" dirty="0"/>
              <a:t>）定理</a:t>
            </a:r>
            <a:endParaRPr lang="zh-CN" altLang="en-US" sz="1800" dirty="0"/>
          </a:p>
        </p:txBody>
      </p:sp>
    </p:spTree>
  </p:cSld>
  <p:clrMapOvr>
    <a:masterClrMapping/>
  </p:clrMapOvr>
  <p:transition spd="slow" advClick="0"/>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标题 1"/>
          <p:cNvSpPr>
            <a:spLocks noGrp="1"/>
          </p:cNvSpPr>
          <p:nvPr>
            <p:ph type="title"/>
          </p:nvPr>
        </p:nvSpPr>
        <p:spPr>
          <a:ln/>
        </p:spPr>
        <p:txBody>
          <a:bodyPr vert="horz" wrap="square" lIns="91440" tIns="45720" rIns="91440" bIns="45720" anchor="ctr" anchorCtr="0"/>
          <a:p>
            <a:r>
              <a:rPr lang="zh-CN" altLang="en-US" dirty="0">
                <a:solidFill>
                  <a:schemeClr val="tx1"/>
                </a:solidFill>
              </a:rPr>
              <a:t>使用</a:t>
            </a:r>
            <a:r>
              <a:rPr lang="zh-CN" altLang="en-US" dirty="0">
                <a:solidFill>
                  <a:srgbClr val="FF0000"/>
                </a:solidFill>
              </a:rPr>
              <a:t>与非门</a:t>
            </a:r>
            <a:r>
              <a:rPr lang="zh-CN" altLang="en-US" dirty="0">
                <a:solidFill>
                  <a:schemeClr val="tx1"/>
                </a:solidFill>
              </a:rPr>
              <a:t>实现</a:t>
            </a:r>
            <a:r>
              <a:rPr lang="zh-CN" altLang="en-US" dirty="0">
                <a:solidFill>
                  <a:srgbClr val="FF0000"/>
                </a:solidFill>
              </a:rPr>
              <a:t>积之和</a:t>
            </a:r>
            <a:r>
              <a:rPr lang="zh-CN" altLang="en-US" dirty="0">
                <a:solidFill>
                  <a:schemeClr val="tx1"/>
                </a:solidFill>
              </a:rPr>
              <a:t>形式</a:t>
            </a:r>
            <a:endParaRPr lang="zh-CN" altLang="en-US" dirty="0">
              <a:solidFill>
                <a:schemeClr val="tx1"/>
              </a:solidFill>
            </a:endParaRPr>
          </a:p>
        </p:txBody>
      </p:sp>
      <p:pic>
        <p:nvPicPr>
          <p:cNvPr id="72707" name="内容占位符 3"/>
          <p:cNvPicPr>
            <a:picLocks noGrp="1" noChangeAspect="1"/>
          </p:cNvPicPr>
          <p:nvPr>
            <p:ph idx="1"/>
          </p:nvPr>
        </p:nvPicPr>
        <p:blipFill>
          <a:blip r:embed="rId1"/>
          <a:srcRect/>
          <a:stretch>
            <a:fillRect/>
          </a:stretch>
        </p:blipFill>
        <p:spPr>
          <a:xfrm>
            <a:off x="1643063" y="2101850"/>
            <a:ext cx="5857875" cy="3522663"/>
          </a:xfrm>
          <a:ln/>
        </p:spPr>
      </p:pic>
      <p:sp>
        <p:nvSpPr>
          <p:cNvPr id="72708" name="矩形 4"/>
          <p:cNvSpPr/>
          <p:nvPr/>
        </p:nvSpPr>
        <p:spPr>
          <a:xfrm>
            <a:off x="228600" y="5732463"/>
            <a:ext cx="8686800" cy="8318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zh-CN" altLang="en-US" sz="2400" dirty="0"/>
              <a:t>结论就是任何</a:t>
            </a:r>
            <a:r>
              <a:rPr lang="zh-CN" altLang="en-US" sz="2400" dirty="0">
                <a:solidFill>
                  <a:srgbClr val="FF0000"/>
                </a:solidFill>
              </a:rPr>
              <a:t>与</a:t>
            </a:r>
            <a:r>
              <a:rPr lang="en-US" altLang="zh-CN" sz="2400" dirty="0">
                <a:solidFill>
                  <a:srgbClr val="FF0000"/>
                </a:solidFill>
              </a:rPr>
              <a:t>-</a:t>
            </a:r>
            <a:r>
              <a:rPr lang="zh-CN" altLang="en-US" sz="2400" dirty="0">
                <a:solidFill>
                  <a:srgbClr val="FF0000"/>
                </a:solidFill>
              </a:rPr>
              <a:t>或</a:t>
            </a:r>
            <a:r>
              <a:rPr lang="en-US" altLang="zh-CN" sz="2400" dirty="0">
                <a:solidFill>
                  <a:srgbClr val="FF0000"/>
                </a:solidFill>
              </a:rPr>
              <a:t> </a:t>
            </a:r>
            <a:r>
              <a:rPr lang="zh-CN" altLang="en-US" sz="2400" dirty="0"/>
              <a:t>网络都可以用同样拓扑结构的</a:t>
            </a:r>
            <a:r>
              <a:rPr lang="zh-CN" altLang="en-US" sz="2400" dirty="0">
                <a:solidFill>
                  <a:srgbClr val="FF0000"/>
                </a:solidFill>
              </a:rPr>
              <a:t>与非 </a:t>
            </a:r>
            <a:r>
              <a:rPr lang="en-US" altLang="zh-CN" sz="2400" dirty="0">
                <a:solidFill>
                  <a:srgbClr val="FF0000"/>
                </a:solidFill>
              </a:rPr>
              <a:t>-</a:t>
            </a:r>
            <a:r>
              <a:rPr lang="zh-CN" altLang="en-US" sz="2400" dirty="0">
                <a:solidFill>
                  <a:srgbClr val="FF0000"/>
                </a:solidFill>
              </a:rPr>
              <a:t>与非</a:t>
            </a:r>
            <a:r>
              <a:rPr lang="zh-CN" altLang="en-US" sz="2400" dirty="0"/>
              <a:t>网络实现。</a:t>
            </a:r>
            <a:endParaRPr lang="zh-CN" altLang="en-US" sz="2400" dirty="0"/>
          </a:p>
        </p:txBody>
      </p:sp>
    </p:spTree>
  </p:cSld>
  <p:clrMapOvr>
    <a:masterClrMapping/>
  </p:clrMapOvr>
  <p:transition spd="slow" advClick="0"/>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标题 1"/>
          <p:cNvSpPr>
            <a:spLocks noGrp="1"/>
          </p:cNvSpPr>
          <p:nvPr>
            <p:ph type="title"/>
          </p:nvPr>
        </p:nvSpPr>
        <p:spPr>
          <a:ln/>
        </p:spPr>
        <p:txBody>
          <a:bodyPr vert="horz" wrap="square" lIns="91440" tIns="45720" rIns="91440" bIns="45720" anchor="ctr" anchorCtr="0"/>
          <a:p>
            <a:r>
              <a:rPr lang="zh-CN" altLang="en-US" dirty="0">
                <a:solidFill>
                  <a:schemeClr val="tx1"/>
                </a:solidFill>
              </a:rPr>
              <a:t>使用</a:t>
            </a:r>
            <a:r>
              <a:rPr lang="zh-CN" altLang="en-US" dirty="0">
                <a:solidFill>
                  <a:srgbClr val="FF0000"/>
                </a:solidFill>
              </a:rPr>
              <a:t>或非门</a:t>
            </a:r>
            <a:r>
              <a:rPr lang="zh-CN" altLang="en-US" dirty="0">
                <a:solidFill>
                  <a:schemeClr val="tx1"/>
                </a:solidFill>
              </a:rPr>
              <a:t>实现</a:t>
            </a:r>
            <a:r>
              <a:rPr lang="zh-CN" altLang="en-US" dirty="0">
                <a:solidFill>
                  <a:srgbClr val="FF0000"/>
                </a:solidFill>
              </a:rPr>
              <a:t>和之积</a:t>
            </a:r>
            <a:r>
              <a:rPr lang="zh-CN" altLang="en-US" dirty="0">
                <a:solidFill>
                  <a:schemeClr val="tx1"/>
                </a:solidFill>
              </a:rPr>
              <a:t>形式</a:t>
            </a:r>
            <a:endParaRPr lang="zh-CN" altLang="en-US" dirty="0">
              <a:solidFill>
                <a:schemeClr val="tx1"/>
              </a:solidFill>
            </a:endParaRPr>
          </a:p>
        </p:txBody>
      </p:sp>
      <p:pic>
        <p:nvPicPr>
          <p:cNvPr id="73731" name="内容占位符 3"/>
          <p:cNvPicPr>
            <a:picLocks noGrp="1" noChangeAspect="1"/>
          </p:cNvPicPr>
          <p:nvPr>
            <p:ph idx="1"/>
          </p:nvPr>
        </p:nvPicPr>
        <p:blipFill>
          <a:blip r:embed="rId1"/>
          <a:srcRect/>
          <a:stretch>
            <a:fillRect/>
          </a:stretch>
        </p:blipFill>
        <p:spPr>
          <a:xfrm>
            <a:off x="1403350" y="1484313"/>
            <a:ext cx="6472238" cy="3916362"/>
          </a:xfrm>
          <a:ln/>
        </p:spPr>
      </p:pic>
      <p:sp>
        <p:nvSpPr>
          <p:cNvPr id="73732" name="矩形 4"/>
          <p:cNvSpPr/>
          <p:nvPr/>
        </p:nvSpPr>
        <p:spPr>
          <a:xfrm>
            <a:off x="228600" y="5732463"/>
            <a:ext cx="8686800" cy="8318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zh-CN" altLang="en-US" sz="2400" dirty="0"/>
              <a:t>结论就是任何</a:t>
            </a:r>
            <a:r>
              <a:rPr lang="zh-CN" altLang="en-US" sz="2400" dirty="0">
                <a:solidFill>
                  <a:srgbClr val="FF0000"/>
                </a:solidFill>
              </a:rPr>
              <a:t>或 </a:t>
            </a:r>
            <a:r>
              <a:rPr lang="en-US" altLang="zh-CN" sz="2400" dirty="0">
                <a:solidFill>
                  <a:srgbClr val="FF0000"/>
                </a:solidFill>
              </a:rPr>
              <a:t>- </a:t>
            </a:r>
            <a:r>
              <a:rPr lang="zh-CN" altLang="en-US" sz="2400" dirty="0">
                <a:solidFill>
                  <a:srgbClr val="FF0000"/>
                </a:solidFill>
              </a:rPr>
              <a:t>与</a:t>
            </a:r>
            <a:r>
              <a:rPr lang="zh-CN" altLang="en-US" sz="2400" dirty="0"/>
              <a:t>网络都可以用同样拓扑结构的</a:t>
            </a:r>
            <a:r>
              <a:rPr lang="zh-CN" altLang="en-US" sz="2400" dirty="0">
                <a:solidFill>
                  <a:srgbClr val="FF0000"/>
                </a:solidFill>
              </a:rPr>
              <a:t>或非 </a:t>
            </a:r>
            <a:r>
              <a:rPr lang="en-US" altLang="zh-CN" sz="2400" dirty="0">
                <a:solidFill>
                  <a:srgbClr val="FF0000"/>
                </a:solidFill>
              </a:rPr>
              <a:t>- </a:t>
            </a:r>
            <a:r>
              <a:rPr lang="zh-CN" altLang="en-US" sz="2400" dirty="0">
                <a:solidFill>
                  <a:srgbClr val="FF0000"/>
                </a:solidFill>
              </a:rPr>
              <a:t>或非</a:t>
            </a:r>
            <a:r>
              <a:rPr lang="zh-CN" altLang="en-US" sz="2400" dirty="0"/>
              <a:t>网络实现。</a:t>
            </a:r>
            <a:endParaRPr lang="zh-CN" altLang="en-US" sz="2400" dirty="0"/>
          </a:p>
        </p:txBody>
      </p:sp>
    </p:spTree>
  </p:cSld>
  <p:clrMapOvr>
    <a:masterClrMapping/>
  </p:clrMapOvr>
  <p:transition spd="slow" advClick="0"/>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Text Box 6"/>
          <p:cNvSpPr txBox="1"/>
          <p:nvPr/>
        </p:nvSpPr>
        <p:spPr>
          <a:xfrm>
            <a:off x="914400" y="1700213"/>
            <a:ext cx="7315200" cy="37338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ts val="3700"/>
              </a:lnSpc>
              <a:spcBef>
                <a:spcPct val="50000"/>
              </a:spcBef>
              <a:buNone/>
            </a:pPr>
            <a:r>
              <a:rPr lang="zh-CN" altLang="en-US" sz="2400" b="1" dirty="0">
                <a:solidFill>
                  <a:srgbClr val="990000"/>
                </a:solidFill>
                <a:latin typeface="Times New Roman" panose="02020603050405020304" pitchFamily="18" charset="0"/>
                <a:ea typeface="黑体" panose="02010609060101010101" pitchFamily="49" charset="-122"/>
              </a:rPr>
              <a:t>一、逻辑函数的卡诺图表示法</a:t>
            </a:r>
            <a:endParaRPr lang="zh-CN" altLang="en-US" sz="2400" b="1" dirty="0">
              <a:solidFill>
                <a:srgbClr val="990000"/>
              </a:solidFill>
              <a:latin typeface="Times New Roman" panose="02020603050405020304" pitchFamily="18" charset="0"/>
              <a:ea typeface="黑体" panose="02010609060101010101" pitchFamily="49" charset="-122"/>
            </a:endParaRPr>
          </a:p>
          <a:p>
            <a:pPr marL="0" lvl="0" indent="0" eaLnBrk="1" hangingPunct="1">
              <a:lnSpc>
                <a:spcPts val="3700"/>
              </a:lnSpc>
              <a:spcBef>
                <a:spcPct val="50000"/>
              </a:spcBef>
              <a:buNone/>
            </a:pPr>
            <a:r>
              <a:rPr lang="zh-CN" altLang="en-US" sz="2400" b="1" dirty="0">
                <a:latin typeface="Times New Roman" panose="02020603050405020304" pitchFamily="18" charset="0"/>
              </a:rPr>
              <a:t>     （一）卡诺图（</a:t>
            </a:r>
            <a:r>
              <a:rPr lang="en-US" altLang="zh-CN" sz="2400" b="1" dirty="0">
                <a:latin typeface="Times New Roman" panose="02020603050405020304" pitchFamily="18" charset="0"/>
              </a:rPr>
              <a:t>Karnaugh  Diagram)</a:t>
            </a:r>
            <a:endParaRPr lang="en-US" altLang="zh-CN" sz="2400" b="1" dirty="0">
              <a:latin typeface="Times New Roman" panose="02020603050405020304" pitchFamily="18" charset="0"/>
            </a:endParaRPr>
          </a:p>
          <a:p>
            <a:pPr marL="0" lvl="0" indent="0" eaLnBrk="1" hangingPunct="1">
              <a:lnSpc>
                <a:spcPts val="3700"/>
              </a:lnSpc>
              <a:spcBef>
                <a:spcPct val="50000"/>
              </a:spcBef>
              <a:buNone/>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卡诺图是由美国工程师卡诺首先提出的一种用来描述逻辑函数的特殊方格图。在这个方格图中，每个小方格代表逻辑函数的一个</a:t>
            </a:r>
            <a:r>
              <a:rPr lang="zh-CN" altLang="en-US" sz="2400" b="1" dirty="0">
                <a:solidFill>
                  <a:srgbClr val="FF0000"/>
                </a:solidFill>
                <a:latin typeface="Times New Roman" panose="02020603050405020304" pitchFamily="18" charset="0"/>
              </a:rPr>
              <a:t>最小项</a:t>
            </a:r>
            <a:r>
              <a:rPr lang="zh-CN" altLang="en-US" sz="2400" b="1" dirty="0">
                <a:latin typeface="Times New Roman" panose="02020603050405020304" pitchFamily="18" charset="0"/>
              </a:rPr>
              <a:t>，而且</a:t>
            </a:r>
            <a:r>
              <a:rPr lang="zh-CN" altLang="en-US" sz="2400" b="1" dirty="0">
                <a:solidFill>
                  <a:schemeClr val="accent2"/>
                </a:solidFill>
                <a:latin typeface="Times New Roman" panose="02020603050405020304" pitchFamily="18" charset="0"/>
              </a:rPr>
              <a:t>几何相邻的小方格具有</a:t>
            </a:r>
            <a:r>
              <a:rPr lang="zh-CN" altLang="en-US" sz="2400" b="1" dirty="0">
                <a:solidFill>
                  <a:srgbClr val="FF0000"/>
                </a:solidFill>
                <a:latin typeface="Times New Roman" panose="02020603050405020304" pitchFamily="18" charset="0"/>
              </a:rPr>
              <a:t>逻辑相邻性</a:t>
            </a:r>
            <a:r>
              <a:rPr lang="zh-CN" altLang="en-US" sz="2400" b="1" dirty="0">
                <a:latin typeface="Times New Roman" panose="02020603050405020304" pitchFamily="18" charset="0"/>
              </a:rPr>
              <a:t>，</a:t>
            </a:r>
            <a:r>
              <a:rPr lang="zh-CN" altLang="en-US" sz="2400" b="1" u="sng" dirty="0">
                <a:solidFill>
                  <a:schemeClr val="accent2"/>
                </a:solidFill>
                <a:latin typeface="Times New Roman" panose="02020603050405020304" pitchFamily="18" charset="0"/>
              </a:rPr>
              <a:t>即两相邻小方格所代表的最小项只有一个变量取值不同</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p:txBody>
      </p:sp>
      <p:sp>
        <p:nvSpPr>
          <p:cNvPr id="74755" name="Text Box 7"/>
          <p:cNvSpPr txBox="1"/>
          <p:nvPr/>
        </p:nvSpPr>
        <p:spPr>
          <a:xfrm>
            <a:off x="1258888" y="5589588"/>
            <a:ext cx="6324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dirty="0">
                <a:latin typeface="Times New Roman" panose="02020603050405020304" pitchFamily="18" charset="0"/>
              </a:rPr>
              <a:t>二、三、四、五变量卡诺图为：</a:t>
            </a:r>
            <a:endParaRPr lang="zh-CN" altLang="en-US" sz="2400" b="1" dirty="0">
              <a:latin typeface="Times New Roman" panose="02020603050405020304" pitchFamily="18" charset="0"/>
            </a:endParaRPr>
          </a:p>
        </p:txBody>
      </p:sp>
      <p:sp>
        <p:nvSpPr>
          <p:cNvPr id="74756" name="AutoShape 8"/>
          <p:cNvSpPr/>
          <p:nvPr/>
        </p:nvSpPr>
        <p:spPr>
          <a:xfrm>
            <a:off x="827088" y="765175"/>
            <a:ext cx="4967287" cy="504825"/>
          </a:xfrm>
          <a:prstGeom prst="roundRect">
            <a:avLst>
              <a:gd name="adj" fmla="val 50000"/>
            </a:avLst>
          </a:prstGeom>
          <a:solidFill>
            <a:schemeClr val="accent1"/>
          </a:solidFill>
          <a:ln w="38100" cap="flat" cmpd="sng">
            <a:solidFill>
              <a:srgbClr val="FFFFFF"/>
            </a:solidFill>
            <a:prstDash val="solid"/>
            <a:headEnd type="none" w="med" len="med"/>
            <a:tailEnd type="none" w="med" len="med"/>
          </a:ln>
          <a:effectLst>
            <a:outerShdw dist="63500" dir="3187806" algn="ctr" rotWithShape="0">
              <a:srgbClr val="001D3A"/>
            </a:outerShdw>
          </a:effectLst>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dirty="0">
                <a:solidFill>
                  <a:srgbClr val="0000CC"/>
                </a:solidFill>
                <a:latin typeface="Times New Roman" panose="02020603050405020304" pitchFamily="18" charset="0"/>
                <a:ea typeface="黑体" panose="02010609060101010101" pitchFamily="49" charset="-122"/>
              </a:rPr>
              <a:t>8   </a:t>
            </a:r>
            <a:r>
              <a:rPr lang="zh-CN" altLang="en-US" sz="2400" b="1" dirty="0">
                <a:solidFill>
                  <a:srgbClr val="0000CC"/>
                </a:solidFill>
                <a:ea typeface="黑体" panose="02010609060101010101" pitchFamily="49" charset="-122"/>
              </a:rPr>
              <a:t>逻辑函数的卡诺图化简</a:t>
            </a:r>
            <a:endParaRPr lang="zh-CN" altLang="en-US" sz="2400" b="1" dirty="0">
              <a:solidFill>
                <a:srgbClr val="0000CC"/>
              </a:solidFill>
              <a:ea typeface="黑体" panose="02010609060101010101" pitchFamily="49" charset="-122"/>
            </a:endParaRPr>
          </a:p>
        </p:txBody>
      </p:sp>
    </p:spTree>
  </p:cSld>
  <p:clrMapOvr>
    <a:masterClrMapping/>
  </p:clrMapOvr>
  <p:transition spd="slow" advClick="0"/>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5778" name="Picture 6" descr="T1-2-6"/>
          <p:cNvPicPr>
            <a:picLocks noChangeAspect="1"/>
          </p:cNvPicPr>
          <p:nvPr/>
        </p:nvPicPr>
        <p:blipFill>
          <a:blip r:embed="rId1">
            <a:clrChange>
              <a:clrFrom>
                <a:srgbClr val="FFFFFF"/>
              </a:clrFrom>
              <a:clrTo>
                <a:srgbClr val="FFFFFF">
                  <a:alpha val="0"/>
                </a:srgbClr>
              </a:clrTo>
            </a:clrChange>
            <a:lum contrast="6000"/>
          </a:blip>
          <a:srcRect b="18091"/>
          <a:stretch>
            <a:fillRect/>
          </a:stretch>
        </p:blipFill>
        <p:spPr>
          <a:xfrm>
            <a:off x="539750" y="1366838"/>
            <a:ext cx="8015288" cy="3214687"/>
          </a:xfrm>
          <a:prstGeom prst="rect">
            <a:avLst/>
          </a:prstGeom>
          <a:noFill/>
          <a:ln w="9525">
            <a:noFill/>
          </a:ln>
        </p:spPr>
      </p:pic>
      <p:sp>
        <p:nvSpPr>
          <p:cNvPr id="75779" name="Text Box 7"/>
          <p:cNvSpPr txBox="1"/>
          <p:nvPr/>
        </p:nvSpPr>
        <p:spPr>
          <a:xfrm>
            <a:off x="533400" y="4903788"/>
            <a:ext cx="31242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zh-CN" altLang="en-US" sz="2000" b="1" dirty="0">
                <a:latin typeface="Times New Roman" panose="02020603050405020304" pitchFamily="18" charset="0"/>
              </a:rPr>
              <a:t>二变量卡诺图</a:t>
            </a:r>
            <a:endParaRPr lang="zh-CN" altLang="en-US" sz="2000" b="1" dirty="0">
              <a:latin typeface="Times New Roman" panose="02020603050405020304" pitchFamily="18" charset="0"/>
            </a:endParaRPr>
          </a:p>
        </p:txBody>
      </p:sp>
      <p:sp>
        <p:nvSpPr>
          <p:cNvPr id="75780" name="Text Box 8"/>
          <p:cNvSpPr txBox="1"/>
          <p:nvPr/>
        </p:nvSpPr>
        <p:spPr>
          <a:xfrm>
            <a:off x="5105400" y="4903788"/>
            <a:ext cx="31242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zh-CN" altLang="en-US" sz="2000" b="1" dirty="0">
                <a:latin typeface="Times New Roman" panose="02020603050405020304" pitchFamily="18" charset="0"/>
              </a:rPr>
              <a:t>三变量卡诺图</a:t>
            </a:r>
            <a:endParaRPr lang="zh-CN" altLang="en-US" sz="2000" b="1" dirty="0">
              <a:latin typeface="Times New Roman" panose="02020603050405020304" pitchFamily="18" charset="0"/>
            </a:endParaRPr>
          </a:p>
        </p:txBody>
      </p:sp>
    </p:spTree>
  </p:cSld>
  <p:clrMapOvr>
    <a:masterClrMapping/>
  </p:clrMapOvr>
  <p:transition spd="slow" advClick="0"/>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6802" name="Picture 6" descr="T1-2-7"/>
          <p:cNvPicPr>
            <a:picLocks noChangeAspect="1"/>
          </p:cNvPicPr>
          <p:nvPr/>
        </p:nvPicPr>
        <p:blipFill>
          <a:blip r:embed="rId1">
            <a:clrChange>
              <a:clrFrom>
                <a:srgbClr val="FFFFFF"/>
              </a:clrFrom>
              <a:clrTo>
                <a:srgbClr val="FFFFFF">
                  <a:alpha val="0"/>
                </a:srgbClr>
              </a:clrTo>
            </a:clrChange>
            <a:lum contrast="6000"/>
          </a:blip>
          <a:srcRect b="13522"/>
          <a:stretch>
            <a:fillRect/>
          </a:stretch>
        </p:blipFill>
        <p:spPr>
          <a:xfrm>
            <a:off x="1979613" y="798513"/>
            <a:ext cx="4791075" cy="4679950"/>
          </a:xfrm>
          <a:prstGeom prst="rect">
            <a:avLst/>
          </a:prstGeom>
          <a:noFill/>
          <a:ln w="9525">
            <a:noFill/>
          </a:ln>
        </p:spPr>
      </p:pic>
      <p:sp>
        <p:nvSpPr>
          <p:cNvPr id="76803" name="Text Box 7"/>
          <p:cNvSpPr txBox="1"/>
          <p:nvPr/>
        </p:nvSpPr>
        <p:spPr>
          <a:xfrm>
            <a:off x="3132138" y="5480050"/>
            <a:ext cx="31242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zh-CN" altLang="en-US" sz="2000" b="1" dirty="0">
                <a:latin typeface="Times New Roman" panose="02020603050405020304" pitchFamily="18" charset="0"/>
              </a:rPr>
              <a:t>四变量卡诺图</a:t>
            </a:r>
            <a:endParaRPr lang="zh-CN" altLang="en-US" sz="2000" b="1" dirty="0">
              <a:latin typeface="Times New Roman" panose="02020603050405020304" pitchFamily="18" charset="0"/>
            </a:endParaRPr>
          </a:p>
        </p:txBody>
      </p:sp>
    </p:spTree>
  </p:cSld>
  <p:clrMapOvr>
    <a:masterClrMapping/>
  </p:clrMapOvr>
  <p:transition spd="slow" advClick="0"/>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7826" name="Picture 6" descr="T1-2-8"/>
          <p:cNvPicPr>
            <a:picLocks noChangeAspect="1"/>
          </p:cNvPicPr>
          <p:nvPr/>
        </p:nvPicPr>
        <p:blipFill>
          <a:blip r:embed="rId1">
            <a:clrChange>
              <a:clrFrom>
                <a:srgbClr val="FFFFFF"/>
              </a:clrFrom>
              <a:clrTo>
                <a:srgbClr val="FFFFFF">
                  <a:alpha val="0"/>
                </a:srgbClr>
              </a:clrTo>
            </a:clrChange>
            <a:lum contrast="6000"/>
          </a:blip>
          <a:srcRect b="9756"/>
          <a:stretch>
            <a:fillRect/>
          </a:stretch>
        </p:blipFill>
        <p:spPr>
          <a:xfrm>
            <a:off x="539750" y="944563"/>
            <a:ext cx="8027988" cy="4464050"/>
          </a:xfrm>
          <a:prstGeom prst="rect">
            <a:avLst/>
          </a:prstGeom>
          <a:noFill/>
          <a:ln w="9525">
            <a:noFill/>
          </a:ln>
        </p:spPr>
      </p:pic>
      <p:sp>
        <p:nvSpPr>
          <p:cNvPr id="77827" name="Text Box 7"/>
          <p:cNvSpPr txBox="1"/>
          <p:nvPr/>
        </p:nvSpPr>
        <p:spPr>
          <a:xfrm>
            <a:off x="3284538" y="5408613"/>
            <a:ext cx="31242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zh-CN" altLang="en-US" sz="2000" b="1" dirty="0">
                <a:latin typeface="Times New Roman" panose="02020603050405020304" pitchFamily="18" charset="0"/>
              </a:rPr>
              <a:t>五变量卡诺图</a:t>
            </a:r>
            <a:endParaRPr lang="zh-CN" altLang="en-US" sz="2000" b="1" dirty="0">
              <a:latin typeface="Times New Roman" panose="02020603050405020304" pitchFamily="18" charset="0"/>
            </a:endParaRPr>
          </a:p>
        </p:txBody>
      </p:sp>
    </p:spTree>
  </p:cSld>
  <p:clrMapOvr>
    <a:masterClrMapping/>
  </p:clrMapOvr>
  <p:transition spd="slow" advClick="0"/>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8850" name="Group 6"/>
          <p:cNvGrpSpPr/>
          <p:nvPr/>
        </p:nvGrpSpPr>
        <p:grpSpPr>
          <a:xfrm>
            <a:off x="755650" y="1077913"/>
            <a:ext cx="7618413" cy="1370012"/>
            <a:chOff x="476" y="679"/>
            <a:chExt cx="4799" cy="863"/>
          </a:xfrm>
        </p:grpSpPr>
        <p:sp>
          <p:nvSpPr>
            <p:cNvPr id="78853" name="Text Box 7"/>
            <p:cNvSpPr txBox="1"/>
            <p:nvPr/>
          </p:nvSpPr>
          <p:spPr>
            <a:xfrm>
              <a:off x="476" y="679"/>
              <a:ext cx="4799" cy="8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（二）卡诺图的特点：</a:t>
              </a:r>
              <a:endParaRPr lang="zh-CN" altLang="en-US" sz="2400" b="1" dirty="0">
                <a:latin typeface="Times New Roman" panose="02020603050405020304" pitchFamily="18" charset="0"/>
              </a:endParaRPr>
            </a:p>
            <a:p>
              <a:pPr marL="0" lvl="0" indent="0" eaLnBrk="1" hangingPunct="1">
                <a:spcBef>
                  <a:spcPct val="50000"/>
                </a:spcBef>
                <a:buNone/>
              </a:pPr>
              <a:r>
                <a:rPr lang="zh-CN" altLang="en-US" sz="2400" b="1" dirty="0">
                  <a:latin typeface="Times New Roman" panose="02020603050405020304" pitchFamily="18" charset="0"/>
                </a:rPr>
                <a:t>        </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、卡诺图中的</a:t>
              </a:r>
              <a:r>
                <a:rPr lang="zh-CN" altLang="en-US" sz="2400" b="1" dirty="0">
                  <a:solidFill>
                    <a:schemeClr val="accent2"/>
                  </a:solidFill>
                  <a:latin typeface="Times New Roman" panose="02020603050405020304" pitchFamily="18" charset="0"/>
                </a:rPr>
                <a:t>小方格数等于最小项总数</a:t>
              </a:r>
              <a:r>
                <a:rPr lang="zh-CN" altLang="en-US" sz="2400" b="1" dirty="0">
                  <a:latin typeface="Times New Roman" panose="02020603050405020304" pitchFamily="18" charset="0"/>
                </a:rPr>
                <a:t>，若逻辑函数的变量数为 </a:t>
              </a:r>
              <a:r>
                <a:rPr lang="en-US" altLang="zh-CN" sz="2400" b="1" dirty="0">
                  <a:latin typeface="Times New Roman" panose="02020603050405020304" pitchFamily="18" charset="0"/>
                </a:rPr>
                <a:t>n</a:t>
              </a:r>
              <a:r>
                <a:rPr lang="zh-CN" altLang="en-US" sz="2400" b="1" dirty="0">
                  <a:latin typeface="Times New Roman" panose="02020603050405020304" pitchFamily="18" charset="0"/>
                </a:rPr>
                <a:t>，则小方格数为       个。</a:t>
              </a:r>
              <a:endParaRPr lang="zh-CN" altLang="en-US" sz="2400" b="1" dirty="0">
                <a:latin typeface="Times New Roman" panose="02020603050405020304" pitchFamily="18" charset="0"/>
              </a:endParaRPr>
            </a:p>
          </p:txBody>
        </p:sp>
        <p:graphicFrame>
          <p:nvGraphicFramePr>
            <p:cNvPr id="78854" name="Object 8"/>
            <p:cNvGraphicFramePr>
              <a:graphicFrameLocks noChangeAspect="1"/>
            </p:cNvGraphicFramePr>
            <p:nvPr/>
          </p:nvGraphicFramePr>
          <p:xfrm>
            <a:off x="3383" y="1237"/>
            <a:ext cx="268" cy="288"/>
          </p:xfrm>
          <a:graphic>
            <a:graphicData uri="http://schemas.openxmlformats.org/presentationml/2006/ole">
              <mc:AlternateContent xmlns:mc="http://schemas.openxmlformats.org/markup-compatibility/2006">
                <mc:Choice xmlns:v="urn:schemas-microsoft-com:vml" Requires="v">
                  <p:oleObj spid="_x0000_s3262" name="" r:id="rId1" imgW="88900" imgH="101600" progId="Equation.3">
                    <p:embed/>
                  </p:oleObj>
                </mc:Choice>
                <mc:Fallback>
                  <p:oleObj name="" r:id="rId1" imgW="88900" imgH="101600" progId="Equation.3">
                    <p:embed/>
                    <p:pic>
                      <p:nvPicPr>
                        <p:cNvPr id="0" name="图片 3261"/>
                        <p:cNvPicPr/>
                        <p:nvPr/>
                      </p:nvPicPr>
                      <p:blipFill>
                        <a:blip r:embed="rId2">
                          <a:clrChange>
                            <a:clrFrom>
                              <a:srgbClr val="000000"/>
                            </a:clrFrom>
                            <a:clrTo>
                              <a:srgbClr val="FF0000"/>
                            </a:clrTo>
                          </a:clrChange>
                        </a:blip>
                        <a:stretch>
                          <a:fillRect/>
                        </a:stretch>
                      </p:blipFill>
                      <p:spPr>
                        <a:xfrm>
                          <a:off x="3383" y="1237"/>
                          <a:ext cx="268" cy="288"/>
                        </a:xfrm>
                        <a:prstGeom prst="rect">
                          <a:avLst/>
                        </a:prstGeom>
                        <a:noFill/>
                        <a:ln w="38100">
                          <a:noFill/>
                          <a:miter/>
                        </a:ln>
                      </p:spPr>
                    </p:pic>
                  </p:oleObj>
                </mc:Fallback>
              </mc:AlternateContent>
            </a:graphicData>
          </a:graphic>
        </p:graphicFrame>
      </p:grpSp>
      <p:sp>
        <p:nvSpPr>
          <p:cNvPr id="64521" name="Rectangle 9"/>
          <p:cNvSpPr/>
          <p:nvPr/>
        </p:nvSpPr>
        <p:spPr>
          <a:xfrm>
            <a:off x="827088" y="2636838"/>
            <a:ext cx="7632700" cy="19177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dirty="0"/>
              <a:t>      2</a:t>
            </a:r>
            <a:r>
              <a:rPr lang="zh-CN" altLang="en-US" sz="2400" b="1" dirty="0"/>
              <a:t>、卡诺图行列两侧标注的</a:t>
            </a:r>
            <a:r>
              <a:rPr lang="en-US" altLang="zh-CN" sz="2400" b="1" dirty="0"/>
              <a:t>0</a:t>
            </a:r>
            <a:r>
              <a:rPr lang="zh-CN" altLang="en-US" sz="2400" b="1" dirty="0"/>
              <a:t>和</a:t>
            </a:r>
            <a:r>
              <a:rPr lang="en-US" altLang="zh-CN" sz="2400" b="1" dirty="0"/>
              <a:t>1</a:t>
            </a:r>
            <a:r>
              <a:rPr lang="zh-CN" altLang="en-US" sz="2400" b="1" dirty="0"/>
              <a:t>表示使对应方格内最小项为</a:t>
            </a:r>
            <a:r>
              <a:rPr lang="en-US" altLang="zh-CN" sz="2400" b="1" dirty="0"/>
              <a:t>1</a:t>
            </a:r>
            <a:r>
              <a:rPr lang="zh-CN" altLang="en-US" sz="2400" b="1" dirty="0"/>
              <a:t>的变量取值。同时，这些</a:t>
            </a:r>
            <a:r>
              <a:rPr lang="en-US" altLang="zh-CN" sz="2400" b="1" dirty="0">
                <a:solidFill>
                  <a:schemeClr val="tx2"/>
                </a:solidFill>
              </a:rPr>
              <a:t>0</a:t>
            </a:r>
            <a:r>
              <a:rPr lang="zh-CN" altLang="en-US" sz="2400" b="1" dirty="0">
                <a:solidFill>
                  <a:schemeClr val="tx2"/>
                </a:solidFill>
              </a:rPr>
              <a:t>和</a:t>
            </a:r>
            <a:r>
              <a:rPr lang="en-US" altLang="zh-CN" sz="2400" b="1" dirty="0">
                <a:solidFill>
                  <a:schemeClr val="tx2"/>
                </a:solidFill>
              </a:rPr>
              <a:t>1</a:t>
            </a:r>
            <a:r>
              <a:rPr lang="zh-CN" altLang="en-US" sz="2400" b="1" dirty="0">
                <a:solidFill>
                  <a:schemeClr val="tx2"/>
                </a:solidFill>
              </a:rPr>
              <a:t>组成的二进制数大小就是对应</a:t>
            </a:r>
            <a:r>
              <a:rPr lang="zh-CN" altLang="en-US" sz="2400" b="1" dirty="0">
                <a:solidFill>
                  <a:schemeClr val="accent2"/>
                </a:solidFill>
              </a:rPr>
              <a:t>最小项的编号</a:t>
            </a:r>
            <a:r>
              <a:rPr lang="zh-CN" altLang="en-US" sz="2400" b="1" dirty="0"/>
              <a:t>。此外，在卡诺图中，</a:t>
            </a:r>
            <a:r>
              <a:rPr lang="zh-CN" altLang="en-US" sz="2400" b="1" dirty="0">
                <a:solidFill>
                  <a:schemeClr val="accent2"/>
                </a:solidFill>
              </a:rPr>
              <a:t>几何相邻</a:t>
            </a:r>
            <a:r>
              <a:rPr lang="zh-CN" altLang="en-US" sz="2400" b="1" dirty="0">
                <a:solidFill>
                  <a:schemeClr val="tx2"/>
                </a:solidFill>
              </a:rPr>
              <a:t>的最小项具有</a:t>
            </a:r>
            <a:r>
              <a:rPr lang="zh-CN" altLang="en-US" sz="2400" b="1" dirty="0">
                <a:solidFill>
                  <a:schemeClr val="accent2"/>
                </a:solidFill>
              </a:rPr>
              <a:t>逻辑相邻性</a:t>
            </a:r>
            <a:r>
              <a:rPr lang="zh-CN" altLang="en-US" sz="2400" b="1" dirty="0"/>
              <a:t>，因此，变量的取值不能按照二进制数的顺序排列，必须</a:t>
            </a:r>
            <a:r>
              <a:rPr lang="zh-CN" altLang="en-US" sz="2400" b="1" dirty="0">
                <a:solidFill>
                  <a:schemeClr val="accent2"/>
                </a:solidFill>
              </a:rPr>
              <a:t>按</a:t>
            </a:r>
            <a:r>
              <a:rPr lang="zh-CN" altLang="en-US" sz="2400" b="1" dirty="0">
                <a:solidFill>
                  <a:srgbClr val="FF0000"/>
                </a:solidFill>
                <a:hlinkClick r:id="" action="ppaction://noaction"/>
              </a:rPr>
              <a:t>循环码</a:t>
            </a:r>
            <a:r>
              <a:rPr lang="zh-CN" altLang="en-US" sz="2400" b="1" dirty="0">
                <a:solidFill>
                  <a:schemeClr val="tx2"/>
                </a:solidFill>
              </a:rPr>
              <a:t>排列</a:t>
            </a:r>
            <a:r>
              <a:rPr lang="zh-CN" altLang="en-US" sz="2400" b="1" dirty="0"/>
              <a:t>。</a:t>
            </a:r>
            <a:endParaRPr lang="zh-CN" altLang="en-US" sz="2400" b="1" dirty="0"/>
          </a:p>
        </p:txBody>
      </p:sp>
      <p:sp>
        <p:nvSpPr>
          <p:cNvPr id="64522" name="Rectangle 10"/>
          <p:cNvSpPr/>
          <p:nvPr/>
        </p:nvSpPr>
        <p:spPr>
          <a:xfrm>
            <a:off x="971550" y="4724400"/>
            <a:ext cx="7345363" cy="11874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dirty="0"/>
              <a:t>     3</a:t>
            </a:r>
            <a:r>
              <a:rPr lang="zh-CN" altLang="en-US" sz="2400" b="1" dirty="0"/>
              <a:t>、卡诺图是一个</a:t>
            </a:r>
            <a:r>
              <a:rPr lang="zh-CN" altLang="en-US" sz="2400" b="1" dirty="0">
                <a:solidFill>
                  <a:schemeClr val="accent2"/>
                </a:solidFill>
              </a:rPr>
              <a:t>上下</a:t>
            </a:r>
            <a:r>
              <a:rPr lang="zh-CN" altLang="en-US" sz="2400" b="1" dirty="0"/>
              <a:t>、</a:t>
            </a:r>
            <a:r>
              <a:rPr lang="zh-CN" altLang="en-US" sz="2400" b="1" dirty="0">
                <a:solidFill>
                  <a:schemeClr val="accent2"/>
                </a:solidFill>
              </a:rPr>
              <a:t>左右闭合</a:t>
            </a:r>
            <a:r>
              <a:rPr lang="zh-CN" altLang="en-US" sz="2400" b="1" dirty="0"/>
              <a:t>的图形，即不但紧挨着的方格是相邻的，而且上下、左右相对应的方格也是相邻的。</a:t>
            </a:r>
            <a:endParaRPr lang="zh-CN" altLang="en-US" sz="2400" b="1" dirty="0"/>
          </a:p>
        </p:txBody>
      </p:sp>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4521"/>
                                        </p:tgtEl>
                                        <p:attrNameLst>
                                          <p:attrName>style.visibility</p:attrName>
                                        </p:attrNameLst>
                                      </p:cBhvr>
                                      <p:to>
                                        <p:strVal val="visible"/>
                                      </p:to>
                                    </p:set>
                                    <p:animEffect transition="in" filter="blinds(horizontal)">
                                      <p:cBhvr>
                                        <p:cTn id="7" dur="500"/>
                                        <p:tgtEl>
                                          <p:spTgt spid="6452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4522"/>
                                        </p:tgtEl>
                                        <p:attrNameLst>
                                          <p:attrName>style.visibility</p:attrName>
                                        </p:attrNameLst>
                                      </p:cBhvr>
                                      <p:to>
                                        <p:strVal val="visible"/>
                                      </p:to>
                                    </p:set>
                                    <p:animEffect transition="in" filter="blinds(horizontal)">
                                      <p:cBhvr>
                                        <p:cTn id="12" dur="500"/>
                                        <p:tgtEl>
                                          <p:spTgt spid="645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21" grpId="0"/>
      <p:bldP spid="64522"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7"/>
          <p:cNvSpPr/>
          <p:nvPr/>
        </p:nvSpPr>
        <p:spPr>
          <a:xfrm>
            <a:off x="900113" y="1341438"/>
            <a:ext cx="7812087" cy="8223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dirty="0">
                <a:latin typeface="Times New Roman" panose="02020603050405020304" pitchFamily="18" charset="0"/>
              </a:rPr>
              <a:t>1</a:t>
            </a:r>
            <a:r>
              <a:rPr lang="zh-CN" altLang="en-US" sz="2400" b="1" dirty="0">
                <a:latin typeface="Times New Roman" panose="02020603050405020304" pitchFamily="18" charset="0"/>
              </a:rPr>
              <a:t>、已知函数式             化成最小项之和形式                 </a:t>
            </a:r>
            <a:endParaRPr lang="zh-CN" altLang="en-US" sz="2400" b="1" dirty="0">
              <a:latin typeface="Times New Roman" panose="02020603050405020304" pitchFamily="18" charset="0"/>
            </a:endParaRPr>
          </a:p>
          <a:p>
            <a:pPr marL="0" lvl="0" indent="0" eaLnBrk="1" hangingPunct="1">
              <a:spcBef>
                <a:spcPct val="0"/>
              </a:spcBef>
              <a:buNone/>
            </a:pPr>
            <a:r>
              <a:rPr lang="zh-CN" altLang="en-US" sz="2400" b="1" dirty="0">
                <a:latin typeface="Times New Roman" panose="02020603050405020304" pitchFamily="18" charset="0"/>
              </a:rPr>
              <a:t>       卡诺图中对应最小项格填入“</a:t>
            </a:r>
            <a:r>
              <a:rPr lang="en-US" altLang="zh-CN" sz="2400" b="1" dirty="0">
                <a:latin typeface="Times New Roman" panose="02020603050405020304" pitchFamily="18" charset="0"/>
              </a:rPr>
              <a:t>1”            </a:t>
            </a:r>
            <a:r>
              <a:rPr lang="zh-CN" altLang="en-US" sz="2400" b="1" dirty="0">
                <a:latin typeface="Times New Roman" panose="02020603050405020304" pitchFamily="18" charset="0"/>
              </a:rPr>
              <a:t>得到卡诺图。</a:t>
            </a:r>
            <a:endParaRPr lang="zh-CN" altLang="en-US" sz="2400" b="1" dirty="0">
              <a:latin typeface="Times New Roman" panose="02020603050405020304" pitchFamily="18" charset="0"/>
            </a:endParaRPr>
          </a:p>
        </p:txBody>
      </p:sp>
      <p:sp>
        <p:nvSpPr>
          <p:cNvPr id="79875" name="Text Box 11"/>
          <p:cNvSpPr txBox="1"/>
          <p:nvPr/>
        </p:nvSpPr>
        <p:spPr>
          <a:xfrm>
            <a:off x="539750" y="836613"/>
            <a:ext cx="7758113"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（三）用卡诺图表示逻辑函数</a:t>
            </a:r>
            <a:endParaRPr lang="zh-CN" altLang="en-US" sz="2400" b="1" dirty="0">
              <a:latin typeface="Times New Roman" panose="02020603050405020304" pitchFamily="18" charset="0"/>
            </a:endParaRPr>
          </a:p>
        </p:txBody>
      </p:sp>
      <p:sp>
        <p:nvSpPr>
          <p:cNvPr id="79876" name="Line 12"/>
          <p:cNvSpPr/>
          <p:nvPr/>
        </p:nvSpPr>
        <p:spPr>
          <a:xfrm>
            <a:off x="3113088" y="1603375"/>
            <a:ext cx="762000" cy="0"/>
          </a:xfrm>
          <a:prstGeom prst="line">
            <a:avLst/>
          </a:prstGeom>
          <a:ln w="28575" cap="flat" cmpd="sng">
            <a:solidFill>
              <a:schemeClr val="tx1"/>
            </a:solidFill>
            <a:prstDash val="solid"/>
            <a:headEnd type="none" w="med" len="med"/>
            <a:tailEnd type="triangle" w="med" len="med"/>
          </a:ln>
        </p:spPr>
      </p:sp>
      <p:sp>
        <p:nvSpPr>
          <p:cNvPr id="79877" name="Line 13"/>
          <p:cNvSpPr/>
          <p:nvPr/>
        </p:nvSpPr>
        <p:spPr>
          <a:xfrm>
            <a:off x="5705475" y="1963738"/>
            <a:ext cx="762000" cy="0"/>
          </a:xfrm>
          <a:prstGeom prst="line">
            <a:avLst/>
          </a:prstGeom>
          <a:ln w="28575" cap="flat" cmpd="sng">
            <a:solidFill>
              <a:schemeClr val="tx1"/>
            </a:solidFill>
            <a:prstDash val="solid"/>
            <a:headEnd type="none" w="med" len="med"/>
            <a:tailEnd type="triangle" w="med" len="med"/>
          </a:ln>
        </p:spPr>
      </p:sp>
      <p:sp>
        <p:nvSpPr>
          <p:cNvPr id="79878" name="Line 14"/>
          <p:cNvSpPr/>
          <p:nvPr/>
        </p:nvSpPr>
        <p:spPr>
          <a:xfrm>
            <a:off x="6784975" y="1603375"/>
            <a:ext cx="762000" cy="0"/>
          </a:xfrm>
          <a:prstGeom prst="line">
            <a:avLst/>
          </a:prstGeom>
          <a:ln w="28575" cap="flat" cmpd="sng">
            <a:solidFill>
              <a:schemeClr val="tx1"/>
            </a:solidFill>
            <a:prstDash val="solid"/>
            <a:headEnd type="none" w="med" len="med"/>
            <a:tailEnd type="triangle" w="med" len="med"/>
          </a:ln>
        </p:spPr>
      </p:sp>
      <p:graphicFrame>
        <p:nvGraphicFramePr>
          <p:cNvPr id="79879" name="Object 18"/>
          <p:cNvGraphicFramePr>
            <a:graphicFrameLocks noChangeAspect="1"/>
          </p:cNvGraphicFramePr>
          <p:nvPr/>
        </p:nvGraphicFramePr>
        <p:xfrm>
          <a:off x="2555875" y="2708275"/>
          <a:ext cx="4321175" cy="474663"/>
        </p:xfrm>
        <a:graphic>
          <a:graphicData uri="http://schemas.openxmlformats.org/presentationml/2006/ole">
            <mc:AlternateContent xmlns:mc="http://schemas.openxmlformats.org/markup-compatibility/2006">
              <mc:Choice xmlns:v="urn:schemas-microsoft-com:vml" Requires="v">
                <p:oleObj spid="_x0000_s3263" name="" r:id="rId1" imgW="1968500" imgH="215900" progId="Equation.3">
                  <p:embed/>
                </p:oleObj>
              </mc:Choice>
              <mc:Fallback>
                <p:oleObj name="" r:id="rId1" imgW="1968500" imgH="215900" progId="Equation.3">
                  <p:embed/>
                  <p:pic>
                    <p:nvPicPr>
                      <p:cNvPr id="0" name="图片 3262"/>
                      <p:cNvPicPr/>
                      <p:nvPr/>
                    </p:nvPicPr>
                    <p:blipFill>
                      <a:blip r:embed="rId2"/>
                      <a:stretch>
                        <a:fillRect/>
                      </a:stretch>
                    </p:blipFill>
                    <p:spPr>
                      <a:xfrm>
                        <a:off x="2555875" y="2708275"/>
                        <a:ext cx="4321175" cy="474663"/>
                      </a:xfrm>
                      <a:prstGeom prst="rect">
                        <a:avLst/>
                      </a:prstGeom>
                      <a:noFill/>
                      <a:ln w="38100">
                        <a:noFill/>
                        <a:miter/>
                      </a:ln>
                    </p:spPr>
                  </p:pic>
                </p:oleObj>
              </mc:Fallback>
            </mc:AlternateContent>
          </a:graphicData>
        </a:graphic>
      </p:graphicFrame>
      <p:sp>
        <p:nvSpPr>
          <p:cNvPr id="79880" name="Rectangle 19"/>
          <p:cNvSpPr/>
          <p:nvPr/>
        </p:nvSpPr>
        <p:spPr>
          <a:xfrm>
            <a:off x="1476375" y="2205038"/>
            <a:ext cx="41465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dirty="0">
                <a:solidFill>
                  <a:srgbClr val="FF0000"/>
                </a:solidFill>
                <a:latin typeface="Times New Roman" panose="02020603050405020304" pitchFamily="18" charset="0"/>
                <a:ea typeface="楷体_GB2312" pitchFamily="49" charset="-122"/>
              </a:rPr>
              <a:t>例：</a:t>
            </a:r>
            <a:r>
              <a:rPr lang="zh-CN" altLang="en-US" sz="2400" b="1" dirty="0">
                <a:latin typeface="Times New Roman" panose="02020603050405020304" pitchFamily="18" charset="0"/>
              </a:rPr>
              <a:t>试用卡诺图表示逻辑函数</a:t>
            </a:r>
            <a:endParaRPr lang="zh-CN" altLang="en-US" sz="2400" b="1" dirty="0">
              <a:latin typeface="Times New Roman" panose="02020603050405020304" pitchFamily="18" charset="0"/>
            </a:endParaRPr>
          </a:p>
        </p:txBody>
      </p:sp>
      <p:graphicFrame>
        <p:nvGraphicFramePr>
          <p:cNvPr id="79881" name="Object 22"/>
          <p:cNvGraphicFramePr>
            <a:graphicFrameLocks noChangeAspect="1"/>
          </p:cNvGraphicFramePr>
          <p:nvPr/>
        </p:nvGraphicFramePr>
        <p:xfrm>
          <a:off x="2843213" y="3284538"/>
          <a:ext cx="3095625" cy="2900362"/>
        </p:xfrm>
        <a:graphic>
          <a:graphicData uri="http://schemas.openxmlformats.org/presentationml/2006/ole">
            <mc:AlternateContent xmlns:mc="http://schemas.openxmlformats.org/markup-compatibility/2006">
              <mc:Choice xmlns:v="urn:schemas-microsoft-com:vml" Requires="v">
                <p:oleObj spid="_x0000_s3264" name="" r:id="rId3" imgW="1811655" imgH="1701800" progId="Visio.Drawing.11">
                  <p:embed/>
                </p:oleObj>
              </mc:Choice>
              <mc:Fallback>
                <p:oleObj name="" r:id="rId3" imgW="1811655" imgH="1701800" progId="Visio.Drawing.11">
                  <p:embed/>
                  <p:pic>
                    <p:nvPicPr>
                      <p:cNvPr id="0" name="图片 3263"/>
                      <p:cNvPicPr/>
                      <p:nvPr/>
                    </p:nvPicPr>
                    <p:blipFill>
                      <a:blip r:embed="rId4"/>
                      <a:stretch>
                        <a:fillRect/>
                      </a:stretch>
                    </p:blipFill>
                    <p:spPr>
                      <a:xfrm>
                        <a:off x="2843213" y="3284538"/>
                        <a:ext cx="3095625" cy="2900362"/>
                      </a:xfrm>
                      <a:prstGeom prst="rect">
                        <a:avLst/>
                      </a:prstGeom>
                      <a:noFill/>
                      <a:ln w="38100">
                        <a:noFill/>
                        <a:miter/>
                      </a:ln>
                    </p:spPr>
                  </p:pic>
                </p:oleObj>
              </mc:Fallback>
            </mc:AlternateContent>
          </a:graphicData>
        </a:graphic>
      </p:graphicFrame>
      <p:grpSp>
        <p:nvGrpSpPr>
          <p:cNvPr id="65567" name="Group 31"/>
          <p:cNvGrpSpPr/>
          <p:nvPr/>
        </p:nvGrpSpPr>
        <p:grpSpPr>
          <a:xfrm>
            <a:off x="3779838" y="4003675"/>
            <a:ext cx="2016125" cy="2114550"/>
            <a:chOff x="2381" y="2568"/>
            <a:chExt cx="1270" cy="1332"/>
          </a:xfrm>
        </p:grpSpPr>
        <p:sp>
          <p:nvSpPr>
            <p:cNvPr id="79883" name="Text Box 23"/>
            <p:cNvSpPr txBox="1"/>
            <p:nvPr/>
          </p:nvSpPr>
          <p:spPr>
            <a:xfrm>
              <a:off x="2744" y="2568"/>
              <a:ext cx="22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solidFill>
                    <a:srgbClr val="FF0000"/>
                  </a:solidFill>
                </a:rPr>
                <a:t>1</a:t>
              </a:r>
              <a:endParaRPr lang="en-US" altLang="zh-CN" sz="2400" b="1" dirty="0">
                <a:solidFill>
                  <a:srgbClr val="FF0000"/>
                </a:solidFill>
              </a:endParaRPr>
            </a:p>
          </p:txBody>
        </p:sp>
        <p:sp>
          <p:nvSpPr>
            <p:cNvPr id="79884" name="Text Box 24"/>
            <p:cNvSpPr txBox="1"/>
            <p:nvPr/>
          </p:nvSpPr>
          <p:spPr>
            <a:xfrm>
              <a:off x="2381" y="2931"/>
              <a:ext cx="22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solidFill>
                    <a:srgbClr val="FF0000"/>
                  </a:solidFill>
                </a:rPr>
                <a:t>1</a:t>
              </a:r>
              <a:endParaRPr lang="en-US" altLang="zh-CN" sz="2400" b="1" dirty="0">
                <a:solidFill>
                  <a:srgbClr val="FF0000"/>
                </a:solidFill>
              </a:endParaRPr>
            </a:p>
          </p:txBody>
        </p:sp>
        <p:sp>
          <p:nvSpPr>
            <p:cNvPr id="79885" name="Text Box 25"/>
            <p:cNvSpPr txBox="1"/>
            <p:nvPr/>
          </p:nvSpPr>
          <p:spPr>
            <a:xfrm>
              <a:off x="3424" y="2931"/>
              <a:ext cx="22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solidFill>
                    <a:srgbClr val="FF0000"/>
                  </a:solidFill>
                </a:rPr>
                <a:t>1</a:t>
              </a:r>
              <a:endParaRPr lang="en-US" altLang="zh-CN" sz="2400" b="1" dirty="0">
                <a:solidFill>
                  <a:srgbClr val="FF0000"/>
                </a:solidFill>
              </a:endParaRPr>
            </a:p>
          </p:txBody>
        </p:sp>
        <p:sp>
          <p:nvSpPr>
            <p:cNvPr id="79886" name="Text Box 26"/>
            <p:cNvSpPr txBox="1"/>
            <p:nvPr/>
          </p:nvSpPr>
          <p:spPr>
            <a:xfrm>
              <a:off x="3061" y="3612"/>
              <a:ext cx="22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solidFill>
                    <a:srgbClr val="FF0000"/>
                  </a:solidFill>
                </a:rPr>
                <a:t>1</a:t>
              </a:r>
              <a:endParaRPr lang="en-US" altLang="zh-CN" sz="2400" b="1" dirty="0">
                <a:solidFill>
                  <a:srgbClr val="FF0000"/>
                </a:solidFill>
              </a:endParaRPr>
            </a:p>
          </p:txBody>
        </p:sp>
        <p:sp>
          <p:nvSpPr>
            <p:cNvPr id="79887" name="Text Box 27"/>
            <p:cNvSpPr txBox="1"/>
            <p:nvPr/>
          </p:nvSpPr>
          <p:spPr>
            <a:xfrm>
              <a:off x="3061" y="3249"/>
              <a:ext cx="22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solidFill>
                    <a:srgbClr val="FF0000"/>
                  </a:solidFill>
                </a:rPr>
                <a:t>1</a:t>
              </a:r>
              <a:endParaRPr lang="en-US" altLang="zh-CN" sz="2400" b="1" dirty="0">
                <a:solidFill>
                  <a:srgbClr val="FF0000"/>
                </a:solidFill>
              </a:endParaRPr>
            </a:p>
          </p:txBody>
        </p:sp>
        <p:sp>
          <p:nvSpPr>
            <p:cNvPr id="79888" name="Text Box 28"/>
            <p:cNvSpPr txBox="1"/>
            <p:nvPr/>
          </p:nvSpPr>
          <p:spPr>
            <a:xfrm>
              <a:off x="2381" y="3612"/>
              <a:ext cx="22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solidFill>
                    <a:srgbClr val="FF0000"/>
                  </a:solidFill>
                </a:rPr>
                <a:t>1</a:t>
              </a:r>
              <a:endParaRPr lang="en-US" altLang="zh-CN" sz="2400" b="1" dirty="0">
                <a:solidFill>
                  <a:srgbClr val="FF0000"/>
                </a:solidFill>
              </a:endParaRPr>
            </a:p>
          </p:txBody>
        </p:sp>
        <p:sp>
          <p:nvSpPr>
            <p:cNvPr id="79889" name="Text Box 29"/>
            <p:cNvSpPr txBox="1"/>
            <p:nvPr/>
          </p:nvSpPr>
          <p:spPr>
            <a:xfrm>
              <a:off x="2744" y="3612"/>
              <a:ext cx="22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solidFill>
                    <a:srgbClr val="FF0000"/>
                  </a:solidFill>
                </a:rPr>
                <a:t>1</a:t>
              </a:r>
              <a:endParaRPr lang="en-US" altLang="zh-CN" sz="2400" b="1" dirty="0">
                <a:solidFill>
                  <a:srgbClr val="FF0000"/>
                </a:solidFill>
              </a:endParaRPr>
            </a:p>
          </p:txBody>
        </p:sp>
        <p:sp>
          <p:nvSpPr>
            <p:cNvPr id="79890" name="Text Box 30"/>
            <p:cNvSpPr txBox="1"/>
            <p:nvPr/>
          </p:nvSpPr>
          <p:spPr>
            <a:xfrm>
              <a:off x="3424" y="3596"/>
              <a:ext cx="22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solidFill>
                    <a:srgbClr val="FF0000"/>
                  </a:solidFill>
                </a:rPr>
                <a:t>1</a:t>
              </a:r>
              <a:endParaRPr lang="en-US" altLang="zh-CN" sz="2400" b="1" dirty="0">
                <a:solidFill>
                  <a:srgbClr val="FF0000"/>
                </a:solidFill>
              </a:endParaRPr>
            </a:p>
          </p:txBody>
        </p:sp>
      </p:grpSp>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5567"/>
                                        </p:tgtEl>
                                        <p:attrNameLst>
                                          <p:attrName>style.visibility</p:attrName>
                                        </p:attrNameLst>
                                      </p:cBhvr>
                                      <p:to>
                                        <p:strVal val="visible"/>
                                      </p:to>
                                    </p:set>
                                    <p:animEffect transition="in" filter="blinds(horizontal)">
                                      <p:cBhvr>
                                        <p:cTn id="7" dur="500"/>
                                        <p:tgtEl>
                                          <p:spTgt spid="655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Rectangle 8"/>
          <p:cNvSpPr/>
          <p:nvPr/>
        </p:nvSpPr>
        <p:spPr>
          <a:xfrm>
            <a:off x="755650" y="1196975"/>
            <a:ext cx="7200900" cy="11874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dirty="0">
                <a:latin typeface="Times New Roman" panose="02020603050405020304" pitchFamily="18" charset="0"/>
              </a:rPr>
              <a:t>2</a:t>
            </a:r>
            <a:r>
              <a:rPr lang="zh-CN" altLang="en-US" sz="2400" b="1" dirty="0">
                <a:latin typeface="Times New Roman" panose="02020603050405020304" pitchFamily="18" charset="0"/>
              </a:rPr>
              <a:t>、已知真值表             每组变量（即最小项）所对应  </a:t>
            </a:r>
            <a:endParaRPr lang="zh-CN" altLang="en-US" sz="2400" b="1" dirty="0">
              <a:latin typeface="Times New Roman" panose="02020603050405020304" pitchFamily="18" charset="0"/>
            </a:endParaRPr>
          </a:p>
          <a:p>
            <a:pPr marL="0" lvl="0" indent="0" eaLnBrk="1" hangingPunct="1">
              <a:spcBef>
                <a:spcPct val="0"/>
              </a:spcBef>
              <a:buNone/>
            </a:pPr>
            <a:r>
              <a:rPr lang="zh-CN" altLang="en-US" sz="2400" b="1" dirty="0">
                <a:latin typeface="Times New Roman" panose="02020603050405020304" pitchFamily="18" charset="0"/>
              </a:rPr>
              <a:t>      的函数值              填入卡诺图中相应方格                </a:t>
            </a:r>
            <a:endParaRPr lang="zh-CN" altLang="en-US" sz="2400" b="1" dirty="0">
              <a:latin typeface="Times New Roman" panose="02020603050405020304" pitchFamily="18" charset="0"/>
            </a:endParaRPr>
          </a:p>
          <a:p>
            <a:pPr marL="0" lvl="0" indent="0" eaLnBrk="1" hangingPunct="1">
              <a:spcBef>
                <a:spcPct val="0"/>
              </a:spcBef>
              <a:buNone/>
            </a:pPr>
            <a:r>
              <a:rPr lang="zh-CN" altLang="en-US" sz="2400" b="1" dirty="0">
                <a:latin typeface="Times New Roman" panose="02020603050405020304" pitchFamily="18" charset="0"/>
              </a:rPr>
              <a:t>      化简得到函数式。</a:t>
            </a:r>
            <a:endParaRPr lang="zh-CN" altLang="en-US" sz="2400" b="1" dirty="0">
              <a:latin typeface="Times New Roman" panose="02020603050405020304" pitchFamily="18" charset="0"/>
            </a:endParaRPr>
          </a:p>
        </p:txBody>
      </p:sp>
      <p:sp>
        <p:nvSpPr>
          <p:cNvPr id="80899" name="Line 13"/>
          <p:cNvSpPr/>
          <p:nvPr/>
        </p:nvSpPr>
        <p:spPr>
          <a:xfrm>
            <a:off x="2987675" y="1412875"/>
            <a:ext cx="762000" cy="0"/>
          </a:xfrm>
          <a:prstGeom prst="line">
            <a:avLst/>
          </a:prstGeom>
          <a:ln w="28575" cap="flat" cmpd="sng">
            <a:solidFill>
              <a:schemeClr val="tx1"/>
            </a:solidFill>
            <a:prstDash val="solid"/>
            <a:headEnd type="none" w="med" len="med"/>
            <a:tailEnd type="triangle" w="med" len="med"/>
          </a:ln>
        </p:spPr>
      </p:sp>
      <p:sp>
        <p:nvSpPr>
          <p:cNvPr id="80900" name="Line 14"/>
          <p:cNvSpPr/>
          <p:nvPr/>
        </p:nvSpPr>
        <p:spPr>
          <a:xfrm>
            <a:off x="6804025" y="1773238"/>
            <a:ext cx="762000" cy="0"/>
          </a:xfrm>
          <a:prstGeom prst="line">
            <a:avLst/>
          </a:prstGeom>
          <a:ln w="28575" cap="flat" cmpd="sng">
            <a:solidFill>
              <a:schemeClr val="tx1"/>
            </a:solidFill>
            <a:prstDash val="solid"/>
            <a:headEnd type="none" w="med" len="med"/>
            <a:tailEnd type="triangle" w="med" len="med"/>
          </a:ln>
        </p:spPr>
      </p:sp>
      <p:sp>
        <p:nvSpPr>
          <p:cNvPr id="80901" name="Line 15"/>
          <p:cNvSpPr/>
          <p:nvPr/>
        </p:nvSpPr>
        <p:spPr>
          <a:xfrm>
            <a:off x="2627313" y="1773238"/>
            <a:ext cx="762000" cy="0"/>
          </a:xfrm>
          <a:prstGeom prst="line">
            <a:avLst/>
          </a:prstGeom>
          <a:ln w="28575" cap="flat" cmpd="sng">
            <a:solidFill>
              <a:schemeClr val="tx1"/>
            </a:solidFill>
            <a:prstDash val="solid"/>
            <a:headEnd type="none" w="med" len="med"/>
            <a:tailEnd type="triangle" w="med" len="med"/>
          </a:ln>
        </p:spPr>
      </p:sp>
      <p:sp>
        <p:nvSpPr>
          <p:cNvPr id="80902" name="Rectangle 18"/>
          <p:cNvSpPr/>
          <p:nvPr/>
        </p:nvSpPr>
        <p:spPr>
          <a:xfrm>
            <a:off x="755650" y="2420938"/>
            <a:ext cx="7200900" cy="8223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dirty="0">
                <a:latin typeface="Times New Roman" panose="02020603050405020304" pitchFamily="18" charset="0"/>
                <a:ea typeface="楷体_GB2312" pitchFamily="49" charset="-122"/>
              </a:rPr>
              <a:t>3</a:t>
            </a:r>
            <a:r>
              <a:rPr lang="zh-CN" altLang="en-US" sz="2400" b="1" dirty="0">
                <a:latin typeface="Times New Roman" panose="02020603050405020304" pitchFamily="18" charset="0"/>
                <a:ea typeface="楷体_GB2312" pitchFamily="49" charset="-122"/>
              </a:rPr>
              <a:t>、</a:t>
            </a:r>
            <a:r>
              <a:rPr lang="zh-CN" altLang="en-US" sz="2400" b="1" dirty="0">
                <a:latin typeface="Times New Roman" panose="02020603050405020304" pitchFamily="18" charset="0"/>
              </a:rPr>
              <a:t>已知逻辑函数的卡诺图           该函数的真值表</a:t>
            </a:r>
            <a:endParaRPr lang="zh-CN" altLang="en-US" sz="2400" b="1" dirty="0">
              <a:latin typeface="Times New Roman" panose="02020603050405020304" pitchFamily="18" charset="0"/>
            </a:endParaRPr>
          </a:p>
          <a:p>
            <a:pPr marL="0" lvl="0" indent="0" eaLnBrk="1" hangingPunct="1">
              <a:spcBef>
                <a:spcPct val="0"/>
              </a:spcBef>
              <a:buNone/>
            </a:pPr>
            <a:r>
              <a:rPr lang="zh-CN" altLang="en-US" sz="2400" b="1" dirty="0">
                <a:latin typeface="Times New Roman" panose="02020603050405020304" pitchFamily="18" charset="0"/>
              </a:rPr>
              <a:t>      写出该函数的逻辑函数式。</a:t>
            </a:r>
            <a:endParaRPr lang="zh-CN" altLang="en-US" sz="2400" b="1" dirty="0">
              <a:latin typeface="Times New Roman" panose="02020603050405020304" pitchFamily="18" charset="0"/>
            </a:endParaRPr>
          </a:p>
        </p:txBody>
      </p:sp>
      <p:graphicFrame>
        <p:nvGraphicFramePr>
          <p:cNvPr id="80903" name="Object 19"/>
          <p:cNvGraphicFramePr>
            <a:graphicFrameLocks noChangeAspect="1"/>
          </p:cNvGraphicFramePr>
          <p:nvPr/>
        </p:nvGraphicFramePr>
        <p:xfrm>
          <a:off x="2195513" y="3429000"/>
          <a:ext cx="3960812" cy="2489200"/>
        </p:xfrm>
        <a:graphic>
          <a:graphicData uri="http://schemas.openxmlformats.org/presentationml/2006/ole">
            <mc:AlternateContent xmlns:mc="http://schemas.openxmlformats.org/markup-compatibility/2006">
              <mc:Choice xmlns:v="urn:schemas-microsoft-com:vml" Requires="v">
                <p:oleObj spid="_x0000_s3265" name="" r:id="rId1" imgW="1731010" imgH="1092200" progId="Visio.Drawing.11">
                  <p:embed/>
                </p:oleObj>
              </mc:Choice>
              <mc:Fallback>
                <p:oleObj name="" r:id="rId1" imgW="1731010" imgH="1092200" progId="Visio.Drawing.11">
                  <p:embed/>
                  <p:pic>
                    <p:nvPicPr>
                      <p:cNvPr id="0" name="图片 3264"/>
                      <p:cNvPicPr/>
                      <p:nvPr/>
                    </p:nvPicPr>
                    <p:blipFill>
                      <a:blip r:embed="rId2"/>
                      <a:stretch>
                        <a:fillRect/>
                      </a:stretch>
                    </p:blipFill>
                    <p:spPr>
                      <a:xfrm>
                        <a:off x="2195513" y="3429000"/>
                        <a:ext cx="3960812" cy="2489200"/>
                      </a:xfrm>
                      <a:prstGeom prst="rect">
                        <a:avLst/>
                      </a:prstGeom>
                      <a:noFill/>
                      <a:ln w="38100">
                        <a:noFill/>
                        <a:miter/>
                      </a:ln>
                    </p:spPr>
                  </p:pic>
                </p:oleObj>
              </mc:Fallback>
            </mc:AlternateContent>
          </a:graphicData>
        </a:graphic>
      </p:graphicFrame>
      <p:grpSp>
        <p:nvGrpSpPr>
          <p:cNvPr id="87060" name="Group 20"/>
          <p:cNvGrpSpPr/>
          <p:nvPr/>
        </p:nvGrpSpPr>
        <p:grpSpPr>
          <a:xfrm>
            <a:off x="3132138" y="4437063"/>
            <a:ext cx="2806700" cy="1295400"/>
            <a:chOff x="1973" y="1117"/>
            <a:chExt cx="1768" cy="816"/>
          </a:xfrm>
        </p:grpSpPr>
        <p:sp>
          <p:nvSpPr>
            <p:cNvPr id="80907" name="Oval 21"/>
            <p:cNvSpPr/>
            <p:nvPr/>
          </p:nvSpPr>
          <p:spPr>
            <a:xfrm>
              <a:off x="1973" y="1616"/>
              <a:ext cx="317" cy="317"/>
            </a:xfrm>
            <a:prstGeom prst="ellipse">
              <a:avLst/>
            </a:prstGeom>
            <a:noFill/>
            <a:ln w="28575" cap="flat" cmpd="sng">
              <a:solidFill>
                <a:srgbClr val="FF0000"/>
              </a:solidFill>
              <a:prstDash val="dash"/>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1800" dirty="0">
                <a:solidFill>
                  <a:srgbClr val="FF0000"/>
                </a:solidFill>
              </a:endParaRPr>
            </a:p>
          </p:txBody>
        </p:sp>
        <p:sp>
          <p:nvSpPr>
            <p:cNvPr id="80908" name="Oval 22"/>
            <p:cNvSpPr/>
            <p:nvPr/>
          </p:nvSpPr>
          <p:spPr>
            <a:xfrm>
              <a:off x="2472" y="1117"/>
              <a:ext cx="317" cy="317"/>
            </a:xfrm>
            <a:prstGeom prst="ellipse">
              <a:avLst/>
            </a:prstGeom>
            <a:noFill/>
            <a:ln w="28575" cap="flat" cmpd="sng">
              <a:solidFill>
                <a:srgbClr val="FF0000"/>
              </a:solidFill>
              <a:prstDash val="dash"/>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1800" dirty="0">
                <a:solidFill>
                  <a:srgbClr val="FF0000"/>
                </a:solidFill>
              </a:endParaRPr>
            </a:p>
          </p:txBody>
        </p:sp>
        <p:sp>
          <p:nvSpPr>
            <p:cNvPr id="80909" name="Oval 23"/>
            <p:cNvSpPr/>
            <p:nvPr/>
          </p:nvSpPr>
          <p:spPr>
            <a:xfrm>
              <a:off x="3424" y="1117"/>
              <a:ext cx="317" cy="317"/>
            </a:xfrm>
            <a:prstGeom prst="ellipse">
              <a:avLst/>
            </a:prstGeom>
            <a:noFill/>
            <a:ln w="28575" cap="flat" cmpd="sng">
              <a:solidFill>
                <a:srgbClr val="FF0000"/>
              </a:solidFill>
              <a:prstDash val="dash"/>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1800" dirty="0">
                <a:solidFill>
                  <a:srgbClr val="FF0000"/>
                </a:solidFill>
              </a:endParaRPr>
            </a:p>
          </p:txBody>
        </p:sp>
        <p:sp>
          <p:nvSpPr>
            <p:cNvPr id="80910" name="Oval 24"/>
            <p:cNvSpPr/>
            <p:nvPr/>
          </p:nvSpPr>
          <p:spPr>
            <a:xfrm>
              <a:off x="2925" y="1616"/>
              <a:ext cx="317" cy="317"/>
            </a:xfrm>
            <a:prstGeom prst="ellipse">
              <a:avLst/>
            </a:prstGeom>
            <a:noFill/>
            <a:ln w="28575" cap="flat" cmpd="sng">
              <a:solidFill>
                <a:srgbClr val="FF0000"/>
              </a:solidFill>
              <a:prstDash val="dash"/>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1800" dirty="0">
                <a:solidFill>
                  <a:srgbClr val="FF0000"/>
                </a:solidFill>
              </a:endParaRPr>
            </a:p>
          </p:txBody>
        </p:sp>
      </p:grpSp>
      <p:sp>
        <p:nvSpPr>
          <p:cNvPr id="80905" name="Line 25"/>
          <p:cNvSpPr/>
          <p:nvPr/>
        </p:nvSpPr>
        <p:spPr>
          <a:xfrm>
            <a:off x="4427538" y="2636838"/>
            <a:ext cx="762000" cy="0"/>
          </a:xfrm>
          <a:prstGeom prst="line">
            <a:avLst/>
          </a:prstGeom>
          <a:ln w="28575" cap="flat" cmpd="sng">
            <a:solidFill>
              <a:schemeClr val="tx1"/>
            </a:solidFill>
            <a:prstDash val="solid"/>
            <a:headEnd type="none" w="med" len="med"/>
            <a:tailEnd type="triangle" w="med" len="med"/>
          </a:ln>
        </p:spPr>
      </p:sp>
      <p:sp>
        <p:nvSpPr>
          <p:cNvPr id="80906" name="Line 26"/>
          <p:cNvSpPr/>
          <p:nvPr/>
        </p:nvSpPr>
        <p:spPr>
          <a:xfrm>
            <a:off x="7380288" y="2636838"/>
            <a:ext cx="762000" cy="0"/>
          </a:xfrm>
          <a:prstGeom prst="line">
            <a:avLst/>
          </a:prstGeom>
          <a:ln w="28575" cap="flat" cmpd="sng">
            <a:solidFill>
              <a:schemeClr val="tx1"/>
            </a:solidFill>
            <a:prstDash val="solid"/>
            <a:headEnd type="none" w="med" len="med"/>
            <a:tailEnd type="triangle" w="med" len="med"/>
          </a:ln>
        </p:spPr>
      </p:sp>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7060"/>
                                        </p:tgtEl>
                                        <p:attrNameLst>
                                          <p:attrName>style.visibility</p:attrName>
                                        </p:attrNameLst>
                                      </p:cBhvr>
                                      <p:to>
                                        <p:strVal val="visible"/>
                                      </p:to>
                                    </p:set>
                                    <p:animEffect transition="in" filter="blinds(horizontal)">
                                      <p:cBhvr>
                                        <p:cTn id="7" dur="500"/>
                                        <p:tgtEl>
                                          <p:spTgt spid="87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Text Box 6"/>
          <p:cNvSpPr txBox="1"/>
          <p:nvPr/>
        </p:nvSpPr>
        <p:spPr>
          <a:xfrm>
            <a:off x="565150" y="620713"/>
            <a:ext cx="7391400" cy="15525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dirty="0">
                <a:solidFill>
                  <a:srgbClr val="990000"/>
                </a:solidFill>
                <a:latin typeface="Times New Roman" panose="02020603050405020304" pitchFamily="18" charset="0"/>
                <a:ea typeface="黑体" panose="02010609060101010101" pitchFamily="49" charset="-122"/>
              </a:rPr>
              <a:t>二、用卡诺图化简逻辑函数</a:t>
            </a:r>
            <a:endParaRPr lang="zh-CN" altLang="en-US" sz="2400" b="1" dirty="0">
              <a:solidFill>
                <a:srgbClr val="990000"/>
              </a:solidFill>
              <a:latin typeface="Times New Roman" panose="02020603050405020304" pitchFamily="18" charset="0"/>
              <a:ea typeface="黑体" panose="02010609060101010101" pitchFamily="49" charset="-122"/>
            </a:endParaRPr>
          </a:p>
          <a:p>
            <a:pPr marL="0" lvl="0" indent="0" eaLnBrk="1" hangingPunct="1">
              <a:spcBef>
                <a:spcPct val="50000"/>
              </a:spcBef>
              <a:buNone/>
            </a:pPr>
            <a:r>
              <a:rPr lang="zh-CN" altLang="en-US" sz="2400" b="1" dirty="0">
                <a:latin typeface="Times New Roman" panose="02020603050405020304" pitchFamily="18" charset="0"/>
              </a:rPr>
              <a:t>（一）用卡诺图化简逻辑函数的依据（基本性质）</a:t>
            </a:r>
            <a:endParaRPr lang="zh-CN" altLang="en-US" sz="2400" b="1" dirty="0">
              <a:latin typeface="Times New Roman" panose="02020603050405020304" pitchFamily="18" charset="0"/>
            </a:endParaRPr>
          </a:p>
          <a:p>
            <a:pPr marL="0" lvl="0" indent="0" eaLnBrk="1" hangingPunct="1">
              <a:spcBef>
                <a:spcPct val="50000"/>
              </a:spcBef>
              <a:buNone/>
            </a:pPr>
            <a:r>
              <a:rPr lang="zh-CN" altLang="en-US" sz="2400" b="1" dirty="0">
                <a:latin typeface="Times New Roman" panose="02020603050405020304" pitchFamily="18" charset="0"/>
              </a:rPr>
              <a:t>            基本原理：各</a:t>
            </a:r>
            <a:r>
              <a:rPr lang="zh-CN" altLang="en-US" sz="2400" b="1" dirty="0">
                <a:solidFill>
                  <a:srgbClr val="FF0000"/>
                </a:solidFill>
                <a:latin typeface="Times New Roman" panose="02020603050405020304" pitchFamily="18" charset="0"/>
              </a:rPr>
              <a:t>几何相邻方格的逻辑相邻性</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p:txBody>
      </p:sp>
      <p:grpSp>
        <p:nvGrpSpPr>
          <p:cNvPr id="66609" name="Group 49"/>
          <p:cNvGrpSpPr/>
          <p:nvPr/>
        </p:nvGrpSpPr>
        <p:grpSpPr>
          <a:xfrm>
            <a:off x="20638" y="2205038"/>
            <a:ext cx="8943975" cy="4216400"/>
            <a:chOff x="13" y="1389"/>
            <a:chExt cx="5634" cy="2656"/>
          </a:xfrm>
        </p:grpSpPr>
        <p:sp>
          <p:nvSpPr>
            <p:cNvPr id="81924" name="Rectangle 45"/>
            <p:cNvSpPr/>
            <p:nvPr/>
          </p:nvSpPr>
          <p:spPr>
            <a:xfrm>
              <a:off x="748" y="1888"/>
              <a:ext cx="548"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dirty="0">
                  <a:solidFill>
                    <a:srgbClr val="FF0000"/>
                  </a:solidFill>
                  <a:latin typeface="Times New Roman" panose="02020603050405020304" pitchFamily="18" charset="0"/>
                </a:rPr>
                <a:t> </a:t>
              </a:r>
              <a:r>
                <a:rPr lang="zh-CN" altLang="en-US" sz="2400" b="1" dirty="0">
                  <a:solidFill>
                    <a:srgbClr val="FF0000"/>
                  </a:solidFill>
                  <a:latin typeface="Times New Roman" panose="02020603050405020304" pitchFamily="18" charset="0"/>
                  <a:ea typeface="楷体_GB2312" pitchFamily="49" charset="-122"/>
                </a:rPr>
                <a:t>例：</a:t>
              </a:r>
              <a:endParaRPr lang="zh-CN" altLang="en-US" sz="2400" b="1" dirty="0">
                <a:solidFill>
                  <a:srgbClr val="FF0000"/>
                </a:solidFill>
                <a:latin typeface="Times New Roman" panose="02020603050405020304" pitchFamily="18" charset="0"/>
                <a:ea typeface="楷体_GB2312" pitchFamily="49" charset="-122"/>
              </a:endParaRPr>
            </a:p>
          </p:txBody>
        </p:sp>
        <p:grpSp>
          <p:nvGrpSpPr>
            <p:cNvPr id="81925" name="Group 48"/>
            <p:cNvGrpSpPr/>
            <p:nvPr/>
          </p:nvGrpSpPr>
          <p:grpSpPr>
            <a:xfrm>
              <a:off x="13" y="1389"/>
              <a:ext cx="5634" cy="2656"/>
              <a:chOff x="13" y="1389"/>
              <a:chExt cx="5634" cy="2656"/>
            </a:xfrm>
          </p:grpSpPr>
          <p:pic>
            <p:nvPicPr>
              <p:cNvPr id="81926" name="Picture 46" descr="T1-2-9"/>
              <p:cNvPicPr>
                <a:picLocks noChangeAspect="1"/>
              </p:cNvPicPr>
              <p:nvPr/>
            </p:nvPicPr>
            <p:blipFill>
              <a:blip r:embed="rId1">
                <a:clrChange>
                  <a:clrFrom>
                    <a:srgbClr val="FFFFFF"/>
                  </a:clrFrom>
                  <a:clrTo>
                    <a:srgbClr val="FFFFFF">
                      <a:alpha val="0"/>
                    </a:srgbClr>
                  </a:clrTo>
                </a:clrChange>
                <a:lum contrast="6000"/>
              </a:blip>
              <a:stretch>
                <a:fillRect/>
              </a:stretch>
            </p:blipFill>
            <p:spPr>
              <a:xfrm>
                <a:off x="13" y="1933"/>
                <a:ext cx="5634" cy="2112"/>
              </a:xfrm>
              <a:prstGeom prst="rect">
                <a:avLst/>
              </a:prstGeom>
              <a:noFill/>
              <a:ln w="9525">
                <a:noFill/>
              </a:ln>
            </p:spPr>
          </p:pic>
          <p:sp>
            <p:nvSpPr>
              <p:cNvPr id="81927" name="Rectangle 47"/>
              <p:cNvSpPr/>
              <p:nvPr/>
            </p:nvSpPr>
            <p:spPr>
              <a:xfrm>
                <a:off x="567" y="1389"/>
                <a:ext cx="4808" cy="51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dirty="0"/>
                  <a:t>       </a:t>
                </a:r>
                <a:r>
                  <a:rPr lang="zh-CN" altLang="en-US" sz="2400" b="1" dirty="0">
                    <a:solidFill>
                      <a:srgbClr val="0000CC"/>
                    </a:solidFill>
                  </a:rPr>
                  <a:t>性质</a:t>
                </a:r>
                <a:r>
                  <a:rPr lang="en-US" altLang="zh-CN" sz="2400" b="1" dirty="0">
                    <a:solidFill>
                      <a:srgbClr val="0000CC"/>
                    </a:solidFill>
                  </a:rPr>
                  <a:t>1</a:t>
                </a:r>
                <a:r>
                  <a:rPr lang="zh-CN" altLang="en-US" sz="2400" b="1" dirty="0"/>
                  <a:t>：卡诺图中</a:t>
                </a:r>
                <a:r>
                  <a:rPr lang="zh-CN" altLang="en-US" sz="2400" b="1" dirty="0">
                    <a:solidFill>
                      <a:srgbClr val="FF0000"/>
                    </a:solidFill>
                  </a:rPr>
                  <a:t>两个相邻“</a:t>
                </a:r>
                <a:r>
                  <a:rPr lang="en-US" altLang="zh-CN" sz="2400" b="1" dirty="0">
                    <a:solidFill>
                      <a:srgbClr val="FF0000"/>
                    </a:solidFill>
                  </a:rPr>
                  <a:t>1”</a:t>
                </a:r>
                <a:r>
                  <a:rPr lang="zh-CN" altLang="en-US" sz="2400" b="1" dirty="0">
                    <a:solidFill>
                      <a:srgbClr val="FF0000"/>
                    </a:solidFill>
                  </a:rPr>
                  <a:t>格</a:t>
                </a:r>
                <a:r>
                  <a:rPr lang="zh-CN" altLang="en-US" sz="2400" b="1" dirty="0"/>
                  <a:t>的最小项可以合并成一个与项，并消去</a:t>
                </a:r>
                <a:r>
                  <a:rPr lang="zh-CN" altLang="en-US" sz="2400" b="1" dirty="0">
                    <a:solidFill>
                      <a:srgbClr val="FF0000"/>
                    </a:solidFill>
                  </a:rPr>
                  <a:t>一个</a:t>
                </a:r>
                <a:r>
                  <a:rPr lang="zh-CN" altLang="en-US" sz="2400" b="1" dirty="0"/>
                  <a:t>变量。</a:t>
                </a:r>
                <a:endParaRPr lang="zh-CN" altLang="en-US" sz="2400" b="1" dirty="0"/>
              </a:p>
            </p:txBody>
          </p:sp>
        </p:grpSp>
      </p:grpSp>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6609"/>
                                        </p:tgtEl>
                                        <p:attrNameLst>
                                          <p:attrName>style.visibility</p:attrName>
                                        </p:attrNameLst>
                                      </p:cBhvr>
                                      <p:to>
                                        <p:strVal val="visible"/>
                                      </p:to>
                                    </p:set>
                                    <p:animEffect transition="in" filter="blinds(horizontal)">
                                      <p:cBhvr>
                                        <p:cTn id="7" dur="500"/>
                                        <p:tgtEl>
                                          <p:spTgt spid="666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Text Box 21"/>
          <p:cNvSpPr txBox="1"/>
          <p:nvPr/>
        </p:nvSpPr>
        <p:spPr>
          <a:xfrm>
            <a:off x="914400" y="914400"/>
            <a:ext cx="7391400" cy="13700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latin typeface="Times New Roman" panose="02020603050405020304" pitchFamily="18" charset="0"/>
              </a:rPr>
              <a:t>        </a:t>
            </a:r>
            <a:r>
              <a:rPr lang="zh-CN" altLang="en-US" sz="2400" b="1" dirty="0">
                <a:solidFill>
                  <a:srgbClr val="0000CC"/>
                </a:solidFill>
                <a:latin typeface="Times New Roman" panose="02020603050405020304" pitchFamily="18" charset="0"/>
              </a:rPr>
              <a:t>性质</a:t>
            </a:r>
            <a:r>
              <a:rPr lang="en-US" altLang="zh-CN" sz="2400" b="1" dirty="0">
                <a:solidFill>
                  <a:srgbClr val="0000CC"/>
                </a:solidFill>
                <a:latin typeface="Times New Roman" panose="02020603050405020304" pitchFamily="18" charset="0"/>
              </a:rPr>
              <a:t>2</a:t>
            </a:r>
            <a:r>
              <a:rPr lang="zh-CN" altLang="en-US" sz="2400" b="1" dirty="0">
                <a:latin typeface="Times New Roman" panose="02020603050405020304" pitchFamily="18" charset="0"/>
              </a:rPr>
              <a:t>：卡诺图中</a:t>
            </a:r>
            <a:r>
              <a:rPr lang="zh-CN" altLang="en-US" sz="2400" b="1" dirty="0">
                <a:solidFill>
                  <a:srgbClr val="FF0000"/>
                </a:solidFill>
                <a:latin typeface="Times New Roman" panose="02020603050405020304" pitchFamily="18" charset="0"/>
              </a:rPr>
              <a:t>四个相邻“</a:t>
            </a:r>
            <a:r>
              <a:rPr lang="en-US" altLang="zh-CN" sz="2400" b="1" dirty="0">
                <a:solidFill>
                  <a:srgbClr val="FF0000"/>
                </a:solidFill>
                <a:latin typeface="Times New Roman" panose="02020603050405020304" pitchFamily="18" charset="0"/>
              </a:rPr>
              <a:t>1”</a:t>
            </a:r>
            <a:r>
              <a:rPr lang="zh-CN" altLang="en-US" sz="2400" b="1" dirty="0">
                <a:solidFill>
                  <a:srgbClr val="FF0000"/>
                </a:solidFill>
                <a:latin typeface="Times New Roman" panose="02020603050405020304" pitchFamily="18" charset="0"/>
              </a:rPr>
              <a:t>格</a:t>
            </a:r>
            <a:r>
              <a:rPr lang="zh-CN" altLang="en-US" sz="2400" b="1" dirty="0">
                <a:latin typeface="Times New Roman" panose="02020603050405020304" pitchFamily="18" charset="0"/>
              </a:rPr>
              <a:t>的最小项可以合并成一个与项，并消去</a:t>
            </a:r>
            <a:r>
              <a:rPr lang="zh-CN" altLang="en-US" sz="2400" b="1" dirty="0">
                <a:solidFill>
                  <a:srgbClr val="FF0000"/>
                </a:solidFill>
                <a:latin typeface="Times New Roman" panose="02020603050405020304" pitchFamily="18" charset="0"/>
              </a:rPr>
              <a:t>两个</a:t>
            </a:r>
            <a:r>
              <a:rPr lang="zh-CN" altLang="en-US" sz="2400" b="1" dirty="0">
                <a:latin typeface="Times New Roman" panose="02020603050405020304" pitchFamily="18" charset="0"/>
              </a:rPr>
              <a:t>变量。 </a:t>
            </a:r>
            <a:endParaRPr lang="zh-CN" altLang="en-US" sz="2400" b="1" dirty="0">
              <a:latin typeface="Times New Roman" panose="02020603050405020304" pitchFamily="18" charset="0"/>
            </a:endParaRPr>
          </a:p>
          <a:p>
            <a:pPr marL="0" lvl="0" indent="0" eaLnBrk="1" hangingPunct="1">
              <a:spcBef>
                <a:spcPct val="50000"/>
              </a:spcBef>
              <a:buNone/>
            </a:pPr>
            <a:r>
              <a:rPr lang="zh-CN" altLang="en-US" sz="2400" b="1" dirty="0">
                <a:solidFill>
                  <a:srgbClr val="FF0000"/>
                </a:solidFill>
                <a:latin typeface="Times New Roman" panose="02020603050405020304" pitchFamily="18" charset="0"/>
              </a:rPr>
              <a:t>         </a:t>
            </a:r>
            <a:r>
              <a:rPr lang="zh-CN" altLang="en-US" sz="2400" b="1" dirty="0">
                <a:solidFill>
                  <a:srgbClr val="FF0000"/>
                </a:solidFill>
                <a:latin typeface="Times New Roman" panose="02020603050405020304" pitchFamily="18" charset="0"/>
                <a:ea typeface="楷体_GB2312" pitchFamily="49" charset="-122"/>
              </a:rPr>
              <a:t>例：</a:t>
            </a:r>
            <a:endParaRPr lang="zh-CN" altLang="en-US" sz="2400" b="1" dirty="0">
              <a:solidFill>
                <a:srgbClr val="FF0000"/>
              </a:solidFill>
              <a:latin typeface="Times New Roman" panose="02020603050405020304" pitchFamily="18" charset="0"/>
              <a:ea typeface="楷体_GB2312" pitchFamily="49" charset="-122"/>
            </a:endParaRPr>
          </a:p>
        </p:txBody>
      </p:sp>
      <p:pic>
        <p:nvPicPr>
          <p:cNvPr id="69654" name="Picture 22" descr="T1-2-10"/>
          <p:cNvPicPr>
            <a:picLocks noChangeAspect="1"/>
          </p:cNvPicPr>
          <p:nvPr/>
        </p:nvPicPr>
        <p:blipFill>
          <a:blip r:embed="rId1">
            <a:clrChange>
              <a:clrFrom>
                <a:srgbClr val="FFFFFF"/>
              </a:clrFrom>
              <a:clrTo>
                <a:srgbClr val="FFFFFF">
                  <a:alpha val="0"/>
                </a:srgbClr>
              </a:clrTo>
            </a:clrChange>
            <a:lum contrast="6000"/>
          </a:blip>
          <a:stretch>
            <a:fillRect/>
          </a:stretch>
        </p:blipFill>
        <p:spPr>
          <a:xfrm>
            <a:off x="0" y="2362200"/>
            <a:ext cx="9001125" cy="3440113"/>
          </a:xfrm>
          <a:prstGeom prst="rect">
            <a:avLst/>
          </a:prstGeom>
          <a:noFill/>
          <a:ln w="9525">
            <a:noFill/>
          </a:ln>
        </p:spPr>
      </p:pic>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9654"/>
                                        </p:tgtEl>
                                        <p:attrNameLst>
                                          <p:attrName>style.visibility</p:attrName>
                                        </p:attrNameLst>
                                      </p:cBhvr>
                                      <p:to>
                                        <p:strVal val="visible"/>
                                      </p:to>
                                    </p:set>
                                    <p:animEffect transition="in" filter="blinds(horizontal)">
                                      <p:cBhvr>
                                        <p:cTn id="7" dur="500"/>
                                        <p:tgtEl>
                                          <p:spTgt spid="696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Text Box 6"/>
          <p:cNvSpPr txBox="1"/>
          <p:nvPr/>
        </p:nvSpPr>
        <p:spPr>
          <a:xfrm>
            <a:off x="755650" y="1196975"/>
            <a:ext cx="7391400" cy="13700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latin typeface="Times New Roman" panose="02020603050405020304" pitchFamily="18" charset="0"/>
              </a:rPr>
              <a:t>        </a:t>
            </a:r>
            <a:r>
              <a:rPr lang="zh-CN" altLang="en-US" sz="2400" b="1" dirty="0">
                <a:solidFill>
                  <a:srgbClr val="0000CC"/>
                </a:solidFill>
                <a:latin typeface="Times New Roman" panose="02020603050405020304" pitchFamily="18" charset="0"/>
              </a:rPr>
              <a:t>性质</a:t>
            </a:r>
            <a:r>
              <a:rPr lang="en-US" altLang="zh-CN" sz="2400" b="1" dirty="0">
                <a:solidFill>
                  <a:srgbClr val="0000CC"/>
                </a:solidFill>
                <a:latin typeface="Times New Roman" panose="02020603050405020304" pitchFamily="18" charset="0"/>
              </a:rPr>
              <a:t>3</a:t>
            </a:r>
            <a:r>
              <a:rPr lang="zh-CN" altLang="en-US" sz="2400" b="1" dirty="0">
                <a:latin typeface="Times New Roman" panose="02020603050405020304" pitchFamily="18" charset="0"/>
              </a:rPr>
              <a:t>：卡诺图中</a:t>
            </a:r>
            <a:r>
              <a:rPr lang="zh-CN" altLang="en-US" sz="2400" b="1" dirty="0">
                <a:solidFill>
                  <a:srgbClr val="FF0000"/>
                </a:solidFill>
                <a:latin typeface="Times New Roman" panose="02020603050405020304" pitchFamily="18" charset="0"/>
              </a:rPr>
              <a:t>八个相邻“</a:t>
            </a:r>
            <a:r>
              <a:rPr lang="en-US" altLang="zh-CN" sz="2400" b="1" dirty="0">
                <a:solidFill>
                  <a:srgbClr val="FF0000"/>
                </a:solidFill>
                <a:latin typeface="Times New Roman" panose="02020603050405020304" pitchFamily="18" charset="0"/>
              </a:rPr>
              <a:t>1”</a:t>
            </a:r>
            <a:r>
              <a:rPr lang="zh-CN" altLang="en-US" sz="2400" b="1" dirty="0">
                <a:solidFill>
                  <a:srgbClr val="FF0000"/>
                </a:solidFill>
                <a:latin typeface="Times New Roman" panose="02020603050405020304" pitchFamily="18" charset="0"/>
              </a:rPr>
              <a:t>格</a:t>
            </a:r>
            <a:r>
              <a:rPr lang="zh-CN" altLang="en-US" sz="2400" b="1" dirty="0">
                <a:latin typeface="Times New Roman" panose="02020603050405020304" pitchFamily="18" charset="0"/>
              </a:rPr>
              <a:t>的最小项可以合并成一个与项，并消去</a:t>
            </a:r>
            <a:r>
              <a:rPr lang="zh-CN" altLang="en-US" sz="2400" b="1" dirty="0">
                <a:solidFill>
                  <a:srgbClr val="FF0000"/>
                </a:solidFill>
                <a:latin typeface="Times New Roman" panose="02020603050405020304" pitchFamily="18" charset="0"/>
              </a:rPr>
              <a:t>三个</a:t>
            </a:r>
            <a:r>
              <a:rPr lang="zh-CN" altLang="en-US" sz="2400" b="1" dirty="0">
                <a:latin typeface="Times New Roman" panose="02020603050405020304" pitchFamily="18" charset="0"/>
              </a:rPr>
              <a:t>变量。 </a:t>
            </a:r>
            <a:endParaRPr lang="zh-CN" altLang="en-US" sz="2400" b="1" dirty="0">
              <a:latin typeface="Times New Roman" panose="02020603050405020304" pitchFamily="18" charset="0"/>
            </a:endParaRPr>
          </a:p>
          <a:p>
            <a:pPr marL="0" lvl="0" indent="0" eaLnBrk="1" hangingPunct="1">
              <a:spcBef>
                <a:spcPct val="50000"/>
              </a:spcBef>
              <a:buNone/>
            </a:pPr>
            <a:r>
              <a:rPr lang="zh-CN" altLang="en-US" sz="2400" b="1" dirty="0">
                <a:solidFill>
                  <a:srgbClr val="FF0000"/>
                </a:solidFill>
                <a:latin typeface="Times New Roman" panose="02020603050405020304" pitchFamily="18" charset="0"/>
              </a:rPr>
              <a:t>         </a:t>
            </a:r>
            <a:r>
              <a:rPr lang="zh-CN" altLang="en-US" sz="2400" b="1" dirty="0">
                <a:solidFill>
                  <a:srgbClr val="FF0000"/>
                </a:solidFill>
                <a:latin typeface="Times New Roman" panose="02020603050405020304" pitchFamily="18" charset="0"/>
                <a:ea typeface="楷体_GB2312" pitchFamily="49" charset="-122"/>
              </a:rPr>
              <a:t>例：</a:t>
            </a:r>
            <a:endParaRPr lang="zh-CN" altLang="en-US" sz="2400" b="1" dirty="0">
              <a:solidFill>
                <a:srgbClr val="FF0000"/>
              </a:solidFill>
              <a:latin typeface="Times New Roman" panose="02020603050405020304" pitchFamily="18" charset="0"/>
              <a:ea typeface="楷体_GB2312" pitchFamily="49" charset="-122"/>
            </a:endParaRPr>
          </a:p>
        </p:txBody>
      </p:sp>
      <p:grpSp>
        <p:nvGrpSpPr>
          <p:cNvPr id="70666" name="Group 10"/>
          <p:cNvGrpSpPr/>
          <p:nvPr/>
        </p:nvGrpSpPr>
        <p:grpSpPr>
          <a:xfrm>
            <a:off x="468313" y="2781300"/>
            <a:ext cx="8439150" cy="2860675"/>
            <a:chOff x="336" y="754"/>
            <a:chExt cx="5316" cy="1802"/>
          </a:xfrm>
        </p:grpSpPr>
        <p:pic>
          <p:nvPicPr>
            <p:cNvPr id="83972" name="Picture 11" descr="T1-2-11"/>
            <p:cNvPicPr>
              <a:picLocks noChangeAspect="1"/>
            </p:cNvPicPr>
            <p:nvPr/>
          </p:nvPicPr>
          <p:blipFill>
            <a:blip r:embed="rId1">
              <a:clrChange>
                <a:clrFrom>
                  <a:srgbClr val="FFFFFF"/>
                </a:clrFrom>
                <a:clrTo>
                  <a:srgbClr val="FFFFFF">
                    <a:alpha val="0"/>
                  </a:srgbClr>
                </a:clrTo>
              </a:clrChange>
              <a:lum contrast="6000"/>
            </a:blip>
            <a:stretch>
              <a:fillRect/>
            </a:stretch>
          </p:blipFill>
          <p:spPr>
            <a:xfrm>
              <a:off x="336" y="754"/>
              <a:ext cx="5316" cy="1802"/>
            </a:xfrm>
            <a:prstGeom prst="rect">
              <a:avLst/>
            </a:prstGeom>
            <a:noFill/>
            <a:ln w="9525">
              <a:noFill/>
            </a:ln>
          </p:spPr>
        </p:pic>
        <p:sp>
          <p:nvSpPr>
            <p:cNvPr id="83973" name="Arc 12"/>
            <p:cNvSpPr/>
            <p:nvPr/>
          </p:nvSpPr>
          <p:spPr>
            <a:xfrm flipH="1">
              <a:off x="3559" y="1253"/>
              <a:ext cx="139" cy="906"/>
            </a:xfrm>
            <a:custGeom>
              <a:avLst/>
              <a:gdLst/>
              <a:ahLst/>
              <a:cxnLst>
                <a:cxn ang="0">
                  <a:pos x="0" y="0"/>
                </a:cxn>
                <a:cxn ang="0">
                  <a:pos x="0" y="0"/>
                </a:cxn>
                <a:cxn ang="0">
                  <a:pos x="0" y="0"/>
                </a:cxn>
              </a:cxnLst>
              <a:pathLst>
                <a:path w="22050" h="43200" fill="none">
                  <a:moveTo>
                    <a:pt x="449" y="0"/>
                  </a:moveTo>
                  <a:cubicBezTo>
                    <a:pt x="12379" y="0"/>
                    <a:pt x="22050" y="9670"/>
                    <a:pt x="22050" y="21600"/>
                  </a:cubicBezTo>
                  <a:cubicBezTo>
                    <a:pt x="22050" y="33529"/>
                    <a:pt x="12379" y="43200"/>
                    <a:pt x="450" y="43200"/>
                  </a:cubicBezTo>
                  <a:cubicBezTo>
                    <a:pt x="299" y="43200"/>
                    <a:pt x="149" y="43198"/>
                    <a:pt x="-1" y="43195"/>
                  </a:cubicBezTo>
                </a:path>
                <a:path w="22050" h="43200" stroke="0">
                  <a:moveTo>
                    <a:pt x="449" y="0"/>
                  </a:moveTo>
                  <a:cubicBezTo>
                    <a:pt x="12379" y="0"/>
                    <a:pt x="22050" y="9670"/>
                    <a:pt x="22050" y="21600"/>
                  </a:cubicBezTo>
                  <a:cubicBezTo>
                    <a:pt x="22050" y="33529"/>
                    <a:pt x="12379" y="43200"/>
                    <a:pt x="450" y="43200"/>
                  </a:cubicBezTo>
                  <a:cubicBezTo>
                    <a:pt x="299" y="43200"/>
                    <a:pt x="149" y="43198"/>
                    <a:pt x="-1" y="43195"/>
                  </a:cubicBezTo>
                  <a:lnTo>
                    <a:pt x="450" y="21600"/>
                  </a:lnTo>
                  <a:lnTo>
                    <a:pt x="449" y="0"/>
                  </a:lnTo>
                  <a:close/>
                </a:path>
              </a:pathLst>
            </a:custGeom>
            <a:noFill/>
            <a:ln w="28575" cap="flat" cmpd="sng">
              <a:solidFill>
                <a:srgbClr val="FF0000">
                  <a:alpha val="100000"/>
                </a:srgbClr>
              </a:solidFill>
              <a:prstDash val="sysDot"/>
              <a:round/>
              <a:headEnd type="none" w="med" len="med"/>
              <a:tailEnd type="none" w="med" len="med"/>
            </a:ln>
          </p:spPr>
          <p:txBody>
            <a:bodyPr/>
            <a:p>
              <a:endParaRPr lang="zh-CN" altLang="en-US"/>
            </a:p>
          </p:txBody>
        </p:sp>
        <p:sp>
          <p:nvSpPr>
            <p:cNvPr id="83974" name="Arc 13"/>
            <p:cNvSpPr/>
            <p:nvPr/>
          </p:nvSpPr>
          <p:spPr>
            <a:xfrm>
              <a:off x="4740" y="1254"/>
              <a:ext cx="136" cy="971"/>
            </a:xfrm>
            <a:custGeom>
              <a:avLst/>
              <a:gdLst/>
              <a:ahLst/>
              <a:cxnLst>
                <a:cxn ang="0">
                  <a:pos x="0" y="0"/>
                </a:cxn>
                <a:cxn ang="0">
                  <a:pos x="0" y="0"/>
                </a:cxn>
                <a:cxn ang="0">
                  <a:pos x="0" y="0"/>
                </a:cxn>
              </a:cxnLst>
              <a:pathLst>
                <a:path w="21600" h="42034" fill="none">
                  <a:moveTo>
                    <a:pt x="-1" y="0"/>
                  </a:moveTo>
                  <a:cubicBezTo>
                    <a:pt x="11929" y="0"/>
                    <a:pt x="21600" y="9670"/>
                    <a:pt x="21600" y="21600"/>
                  </a:cubicBezTo>
                  <a:cubicBezTo>
                    <a:pt x="21600" y="30831"/>
                    <a:pt x="15733" y="39041"/>
                    <a:pt x="7000" y="42033"/>
                  </a:cubicBezTo>
                </a:path>
                <a:path w="21600" h="42034" stroke="0">
                  <a:moveTo>
                    <a:pt x="-1" y="0"/>
                  </a:moveTo>
                  <a:cubicBezTo>
                    <a:pt x="11929" y="0"/>
                    <a:pt x="21600" y="9670"/>
                    <a:pt x="21600" y="21600"/>
                  </a:cubicBezTo>
                  <a:cubicBezTo>
                    <a:pt x="21600" y="30831"/>
                    <a:pt x="15733" y="39041"/>
                    <a:pt x="7000" y="42033"/>
                  </a:cubicBezTo>
                  <a:lnTo>
                    <a:pt x="0" y="21600"/>
                  </a:lnTo>
                  <a:lnTo>
                    <a:pt x="-1" y="0"/>
                  </a:lnTo>
                  <a:close/>
                </a:path>
              </a:pathLst>
            </a:custGeom>
            <a:noFill/>
            <a:ln w="28575" cap="flat" cmpd="sng">
              <a:solidFill>
                <a:srgbClr val="FF0000">
                  <a:alpha val="100000"/>
                </a:srgbClr>
              </a:solidFill>
              <a:prstDash val="sysDot"/>
              <a:round/>
              <a:headEnd type="none" w="med" len="med"/>
              <a:tailEnd type="none" w="med" len="med"/>
            </a:ln>
          </p:spPr>
          <p:txBody>
            <a:bodyPr/>
            <a:p>
              <a:endParaRPr lang="zh-CN" altLang="en-US"/>
            </a:p>
          </p:txBody>
        </p:sp>
      </p:grpSp>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0666"/>
                                        </p:tgtEl>
                                        <p:attrNameLst>
                                          <p:attrName>style.visibility</p:attrName>
                                        </p:attrNameLst>
                                      </p:cBhvr>
                                      <p:to>
                                        <p:strVal val="visible"/>
                                      </p:to>
                                    </p:set>
                                    <p:animEffect transition="in" filter="blinds(horizontal)">
                                      <p:cBhvr>
                                        <p:cTn id="7" dur="500"/>
                                        <p:tgtEl>
                                          <p:spTgt spid="706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84994" name="Group 7"/>
          <p:cNvGrpSpPr/>
          <p:nvPr/>
        </p:nvGrpSpPr>
        <p:grpSpPr>
          <a:xfrm>
            <a:off x="900113" y="1916113"/>
            <a:ext cx="7391400" cy="1993900"/>
            <a:chOff x="576" y="2592"/>
            <a:chExt cx="4656" cy="1256"/>
          </a:xfrm>
        </p:grpSpPr>
        <p:sp>
          <p:nvSpPr>
            <p:cNvPr id="84995" name="Text Box 8"/>
            <p:cNvSpPr txBox="1"/>
            <p:nvPr/>
          </p:nvSpPr>
          <p:spPr>
            <a:xfrm>
              <a:off x="576" y="2640"/>
              <a:ext cx="4656" cy="120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latin typeface="Times New Roman" panose="02020603050405020304" pitchFamily="18" charset="0"/>
                </a:rPr>
                <a:t>        </a:t>
              </a:r>
              <a:r>
                <a:rPr lang="zh-CN" altLang="en-US" sz="2400" b="1" dirty="0">
                  <a:solidFill>
                    <a:schemeClr val="accent2"/>
                  </a:solidFill>
                  <a:latin typeface="Times New Roman" panose="02020603050405020304" pitchFamily="18" charset="0"/>
                  <a:ea typeface="黑体" panose="02010609060101010101" pitchFamily="49" charset="-122"/>
                </a:rPr>
                <a:t>推论：</a:t>
              </a:r>
              <a:r>
                <a:rPr lang="zh-CN" altLang="en-US" sz="2400" b="1" dirty="0">
                  <a:latin typeface="Times New Roman" panose="02020603050405020304" pitchFamily="18" charset="0"/>
                </a:rPr>
                <a:t>在</a:t>
              </a:r>
              <a:r>
                <a:rPr lang="en-US" altLang="zh-CN" sz="2400" b="1" dirty="0">
                  <a:latin typeface="Times New Roman" panose="02020603050405020304" pitchFamily="18" charset="0"/>
                </a:rPr>
                <a:t>n</a:t>
              </a:r>
              <a:r>
                <a:rPr lang="zh-CN" altLang="en-US" sz="2400" b="1" dirty="0">
                  <a:latin typeface="Times New Roman" panose="02020603050405020304" pitchFamily="18" charset="0"/>
                </a:rPr>
                <a:t>个变量的卡诺图中，若有      个“</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格相邻（</a:t>
              </a:r>
              <a:r>
                <a:rPr lang="en-US" altLang="zh-CN" sz="2400" b="1" dirty="0">
                  <a:latin typeface="Times New Roman" panose="02020603050405020304" pitchFamily="18" charset="0"/>
                </a:rPr>
                <a:t>k=0</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2</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3</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n</a:t>
              </a:r>
              <a:r>
                <a:rPr lang="zh-CN" altLang="en-US" sz="2400" b="1" dirty="0">
                  <a:latin typeface="Times New Roman" panose="02020603050405020304" pitchFamily="18" charset="0"/>
                </a:rPr>
                <a:t>），它们可以圈在一起加以合并，合并时可以消去</a:t>
              </a:r>
              <a:r>
                <a:rPr lang="en-US" altLang="zh-CN" sz="2400" b="1" dirty="0">
                  <a:solidFill>
                    <a:srgbClr val="FF0000"/>
                  </a:solidFill>
                  <a:latin typeface="Times New Roman" panose="02020603050405020304" pitchFamily="18" charset="0"/>
                </a:rPr>
                <a:t>k</a:t>
              </a:r>
              <a:r>
                <a:rPr lang="zh-CN" altLang="en-US" sz="2400" b="1" dirty="0">
                  <a:solidFill>
                    <a:srgbClr val="FF0000"/>
                  </a:solidFill>
                  <a:latin typeface="Times New Roman" panose="02020603050405020304" pitchFamily="18" charset="0"/>
                </a:rPr>
                <a:t>个</a:t>
              </a:r>
              <a:r>
                <a:rPr lang="zh-CN" altLang="en-US" sz="2400" b="1" dirty="0">
                  <a:latin typeface="Times New Roman" panose="02020603050405020304" pitchFamily="18" charset="0"/>
                </a:rPr>
                <a:t>不同的变量，简化为一个具有</a:t>
              </a:r>
              <a:r>
                <a:rPr lang="zh-CN" altLang="en-US" sz="2400" b="1" dirty="0">
                  <a:solidFill>
                    <a:srgbClr val="FF0000"/>
                  </a:solidFill>
                  <a:latin typeface="Times New Roman" panose="02020603050405020304" pitchFamily="18" charset="0"/>
                </a:rPr>
                <a:t>（</a:t>
              </a:r>
              <a:r>
                <a:rPr lang="en-US" altLang="zh-CN" sz="2400" b="1" dirty="0">
                  <a:solidFill>
                    <a:srgbClr val="FF0000"/>
                  </a:solidFill>
                  <a:latin typeface="Times New Roman" panose="02020603050405020304" pitchFamily="18" charset="0"/>
                </a:rPr>
                <a:t>n-k</a:t>
              </a:r>
              <a:r>
                <a:rPr lang="zh-CN" altLang="en-US" sz="2400" b="1" dirty="0">
                  <a:solidFill>
                    <a:srgbClr val="FF0000"/>
                  </a:solidFill>
                  <a:latin typeface="Times New Roman" panose="02020603050405020304" pitchFamily="18" charset="0"/>
                </a:rPr>
                <a:t>）个变量</a:t>
              </a:r>
              <a:r>
                <a:rPr lang="zh-CN" altLang="en-US" sz="2400" b="1" dirty="0">
                  <a:latin typeface="Times New Roman" panose="02020603050405020304" pitchFamily="18" charset="0"/>
                </a:rPr>
                <a:t>的与项。</a:t>
              </a:r>
              <a:r>
                <a:rPr lang="zh-CN" altLang="en-US" sz="2400" b="1" dirty="0">
                  <a:solidFill>
                    <a:srgbClr val="FF0000"/>
                  </a:solidFill>
                  <a:latin typeface="Times New Roman" panose="02020603050405020304" pitchFamily="18" charset="0"/>
                </a:rPr>
                <a:t>若</a:t>
              </a:r>
              <a:r>
                <a:rPr lang="en-US" altLang="zh-CN" sz="2400" b="1" dirty="0">
                  <a:solidFill>
                    <a:srgbClr val="FF0000"/>
                  </a:solidFill>
                  <a:latin typeface="Times New Roman" panose="02020603050405020304" pitchFamily="18" charset="0"/>
                </a:rPr>
                <a:t>k=n</a:t>
              </a:r>
              <a:r>
                <a:rPr lang="zh-CN" altLang="en-US" sz="2400" b="1" dirty="0">
                  <a:latin typeface="Times New Roman" panose="02020603050405020304" pitchFamily="18" charset="0"/>
                </a:rPr>
                <a:t>，则合并时可消去全部变量，</a:t>
              </a:r>
              <a:r>
                <a:rPr lang="zh-CN" altLang="en-US" sz="2400" b="1" dirty="0">
                  <a:solidFill>
                    <a:srgbClr val="FF0000"/>
                  </a:solidFill>
                  <a:latin typeface="Times New Roman" panose="02020603050405020304" pitchFamily="18" charset="0"/>
                </a:rPr>
                <a:t>结果为</a:t>
              </a:r>
              <a:r>
                <a:rPr lang="en-US" altLang="zh-CN" sz="2400" b="1" dirty="0">
                  <a:solidFill>
                    <a:srgbClr val="FF0000"/>
                  </a:solidFill>
                  <a:latin typeface="Times New Roman" panose="02020603050405020304" pitchFamily="18" charset="0"/>
                </a:rPr>
                <a:t>1</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p:txBody>
        </p:sp>
        <p:graphicFrame>
          <p:nvGraphicFramePr>
            <p:cNvPr id="84996" name="Object 9"/>
            <p:cNvGraphicFramePr>
              <a:graphicFrameLocks noChangeAspect="1"/>
            </p:cNvGraphicFramePr>
            <p:nvPr/>
          </p:nvGraphicFramePr>
          <p:xfrm>
            <a:off x="3984" y="2592"/>
            <a:ext cx="280" cy="300"/>
          </p:xfrm>
          <a:graphic>
            <a:graphicData uri="http://schemas.openxmlformats.org/presentationml/2006/ole">
              <mc:AlternateContent xmlns:mc="http://schemas.openxmlformats.org/markup-compatibility/2006">
                <mc:Choice xmlns:v="urn:schemas-microsoft-com:vml" Requires="v">
                  <p:oleObj spid="_x0000_s3271" name="" r:id="rId1" imgW="88900" imgH="101600" progId="Equation.3">
                    <p:embed/>
                  </p:oleObj>
                </mc:Choice>
                <mc:Fallback>
                  <p:oleObj name="" r:id="rId1" imgW="88900" imgH="101600" progId="Equation.3">
                    <p:embed/>
                    <p:pic>
                      <p:nvPicPr>
                        <p:cNvPr id="0" name="图片 3270"/>
                        <p:cNvPicPr/>
                        <p:nvPr/>
                      </p:nvPicPr>
                      <p:blipFill>
                        <a:blip r:embed="rId2">
                          <a:clrChange>
                            <a:clrFrom>
                              <a:srgbClr val="000000"/>
                            </a:clrFrom>
                            <a:clrTo>
                              <a:srgbClr val="FF0000"/>
                            </a:clrTo>
                          </a:clrChange>
                        </a:blip>
                        <a:stretch>
                          <a:fillRect/>
                        </a:stretch>
                      </p:blipFill>
                      <p:spPr>
                        <a:xfrm>
                          <a:off x="3984" y="2592"/>
                          <a:ext cx="280" cy="300"/>
                        </a:xfrm>
                        <a:prstGeom prst="rect">
                          <a:avLst/>
                        </a:prstGeom>
                        <a:noFill/>
                        <a:ln w="38100">
                          <a:noFill/>
                          <a:miter/>
                        </a:ln>
                      </p:spPr>
                    </p:pic>
                  </p:oleObj>
                </mc:Fallback>
              </mc:AlternateContent>
            </a:graphicData>
          </a:graphic>
        </p:graphicFrame>
      </p:grpSp>
    </p:spTree>
  </p:cSld>
  <p:clrMapOvr>
    <a:masterClrMapping/>
  </p:clrMapOvr>
  <p:transition spd="slow" advClick="0"/>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Text Box 6"/>
          <p:cNvSpPr txBox="1"/>
          <p:nvPr/>
        </p:nvSpPr>
        <p:spPr>
          <a:xfrm>
            <a:off x="250825" y="893763"/>
            <a:ext cx="8278813"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dirty="0">
                <a:latin typeface="Times New Roman" panose="02020603050405020304" pitchFamily="18" charset="0"/>
              </a:rPr>
              <a:t>（二）用卡诺图求最简与或表达式</a:t>
            </a:r>
            <a:endParaRPr lang="zh-CN" altLang="en-US" sz="2400" b="1" dirty="0">
              <a:solidFill>
                <a:schemeClr val="accent2"/>
              </a:solidFill>
              <a:latin typeface="Times New Roman" panose="02020603050405020304" pitchFamily="18" charset="0"/>
            </a:endParaRPr>
          </a:p>
        </p:txBody>
      </p:sp>
      <p:sp>
        <p:nvSpPr>
          <p:cNvPr id="71687" name="Rectangle 7"/>
          <p:cNvSpPr/>
          <p:nvPr/>
        </p:nvSpPr>
        <p:spPr>
          <a:xfrm>
            <a:off x="609600" y="2957513"/>
            <a:ext cx="7921625" cy="19177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Times New Roman" panose="02020603050405020304" pitchFamily="18" charset="0"/>
              </a:rPr>
              <a:t>步骤：</a:t>
            </a:r>
            <a:endParaRPr lang="zh-CN" altLang="en-US" sz="2400" b="1" dirty="0">
              <a:latin typeface="Times New Roman" panose="02020603050405020304" pitchFamily="18" charset="0"/>
            </a:endParaRPr>
          </a:p>
          <a:p>
            <a:pPr marL="0" lvl="0" indent="0" eaLnBrk="1" hangingPunct="1">
              <a:spcBef>
                <a:spcPct val="0"/>
              </a:spcBef>
              <a:buNone/>
            </a:pPr>
            <a:r>
              <a:rPr lang="zh-CN" altLang="en-US" sz="2400" b="1" dirty="0">
                <a:latin typeface="Times New Roman" panose="02020603050405020304" pitchFamily="18" charset="0"/>
              </a:rPr>
              <a:t>         </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、得到函数的</a:t>
            </a:r>
            <a:r>
              <a:rPr lang="zh-CN" altLang="en-US" sz="2400" b="1" dirty="0">
                <a:solidFill>
                  <a:srgbClr val="FF0000"/>
                </a:solidFill>
                <a:latin typeface="Times New Roman" panose="02020603050405020304" pitchFamily="18" charset="0"/>
              </a:rPr>
              <a:t>真值表</a:t>
            </a:r>
            <a:r>
              <a:rPr lang="zh-CN" altLang="en-US" sz="2400" b="1" dirty="0">
                <a:latin typeface="Times New Roman" panose="02020603050405020304" pitchFamily="18" charset="0"/>
              </a:rPr>
              <a:t>或将函数化为</a:t>
            </a:r>
            <a:r>
              <a:rPr lang="zh-CN" altLang="en-US" sz="2400" b="1" dirty="0">
                <a:solidFill>
                  <a:srgbClr val="FF0000"/>
                </a:solidFill>
                <a:latin typeface="Times New Roman" panose="02020603050405020304" pitchFamily="18" charset="0"/>
              </a:rPr>
              <a:t>最小项之和</a:t>
            </a:r>
            <a:r>
              <a:rPr lang="zh-CN" altLang="en-US" sz="2400" b="1" dirty="0">
                <a:latin typeface="Times New Roman" panose="02020603050405020304" pitchFamily="18" charset="0"/>
              </a:rPr>
              <a:t>的标准形式；</a:t>
            </a:r>
            <a:endParaRPr lang="zh-CN" altLang="en-US" sz="2400" b="1" dirty="0">
              <a:latin typeface="Times New Roman" panose="02020603050405020304" pitchFamily="18" charset="0"/>
            </a:endParaRPr>
          </a:p>
          <a:p>
            <a:pPr marL="0" lvl="0" indent="0" eaLnBrk="1" hangingPunct="1">
              <a:spcBef>
                <a:spcPct val="0"/>
              </a:spcBef>
              <a:buNone/>
            </a:pPr>
            <a:r>
              <a:rPr lang="zh-CN" altLang="en-US" sz="2400" b="1" dirty="0">
                <a:latin typeface="Times New Roman" panose="02020603050405020304" pitchFamily="18" charset="0"/>
              </a:rPr>
              <a:t>         </a:t>
            </a:r>
            <a:r>
              <a:rPr lang="en-US" altLang="zh-CN" sz="2400" b="1" dirty="0">
                <a:latin typeface="Times New Roman" panose="02020603050405020304" pitchFamily="18" charset="0"/>
              </a:rPr>
              <a:t>2</a:t>
            </a:r>
            <a:r>
              <a:rPr lang="zh-CN" altLang="en-US" sz="2400" b="1" dirty="0">
                <a:latin typeface="Times New Roman" panose="02020603050405020304" pitchFamily="18" charset="0"/>
              </a:rPr>
              <a:t>、画出函数的卡诺图；</a:t>
            </a:r>
            <a:endParaRPr lang="zh-CN" altLang="en-US" sz="2400" b="1" dirty="0">
              <a:latin typeface="Times New Roman" panose="02020603050405020304" pitchFamily="18" charset="0"/>
            </a:endParaRPr>
          </a:p>
          <a:p>
            <a:pPr marL="0" lvl="0" indent="0" eaLnBrk="1" hangingPunct="1">
              <a:spcBef>
                <a:spcPct val="0"/>
              </a:spcBef>
              <a:buNone/>
            </a:pPr>
            <a:r>
              <a:rPr lang="zh-CN" altLang="en-US" sz="2400" b="1" dirty="0">
                <a:latin typeface="Times New Roman" panose="02020603050405020304" pitchFamily="18" charset="0"/>
              </a:rPr>
              <a:t>         </a:t>
            </a:r>
            <a:endParaRPr lang="zh-CN" altLang="en-US" sz="2400" b="1" dirty="0">
              <a:solidFill>
                <a:schemeClr val="accent2"/>
              </a:solidFill>
              <a:latin typeface="Times New Roman" panose="02020603050405020304" pitchFamily="18" charset="0"/>
            </a:endParaRPr>
          </a:p>
        </p:txBody>
      </p:sp>
      <p:grpSp>
        <p:nvGrpSpPr>
          <p:cNvPr id="86020" name="Group 8"/>
          <p:cNvGrpSpPr/>
          <p:nvPr/>
        </p:nvGrpSpPr>
        <p:grpSpPr>
          <a:xfrm>
            <a:off x="609600" y="1641475"/>
            <a:ext cx="6040438" cy="1020763"/>
            <a:chOff x="753" y="1616"/>
            <a:chExt cx="3805" cy="643"/>
          </a:xfrm>
        </p:grpSpPr>
        <p:graphicFrame>
          <p:nvGraphicFramePr>
            <p:cNvPr id="86022" name="Object 9"/>
            <p:cNvGraphicFramePr>
              <a:graphicFrameLocks noChangeAspect="1"/>
            </p:cNvGraphicFramePr>
            <p:nvPr/>
          </p:nvGraphicFramePr>
          <p:xfrm>
            <a:off x="1246" y="1920"/>
            <a:ext cx="3312" cy="339"/>
          </p:xfrm>
          <a:graphic>
            <a:graphicData uri="http://schemas.openxmlformats.org/presentationml/2006/ole">
              <mc:AlternateContent xmlns:mc="http://schemas.openxmlformats.org/markup-compatibility/2006">
                <mc:Choice xmlns:v="urn:schemas-microsoft-com:vml" Requires="v">
                  <p:oleObj spid="_x0000_s3272" name="" r:id="rId1" imgW="2108200" imgH="215900" progId="Equation.3">
                    <p:embed/>
                  </p:oleObj>
                </mc:Choice>
                <mc:Fallback>
                  <p:oleObj name="" r:id="rId1" imgW="2108200" imgH="215900" progId="Equation.3">
                    <p:embed/>
                    <p:pic>
                      <p:nvPicPr>
                        <p:cNvPr id="0" name="图片 3271"/>
                        <p:cNvPicPr/>
                        <p:nvPr/>
                      </p:nvPicPr>
                      <p:blipFill>
                        <a:blip r:embed="rId2"/>
                        <a:stretch>
                          <a:fillRect/>
                        </a:stretch>
                      </p:blipFill>
                      <p:spPr>
                        <a:xfrm>
                          <a:off x="1246" y="1920"/>
                          <a:ext cx="3312" cy="339"/>
                        </a:xfrm>
                        <a:prstGeom prst="rect">
                          <a:avLst/>
                        </a:prstGeom>
                        <a:noFill/>
                        <a:ln w="38100">
                          <a:noFill/>
                          <a:miter/>
                        </a:ln>
                      </p:spPr>
                    </p:pic>
                  </p:oleObj>
                </mc:Fallback>
              </mc:AlternateContent>
            </a:graphicData>
          </a:graphic>
        </p:graphicFrame>
        <p:sp>
          <p:nvSpPr>
            <p:cNvPr id="86023" name="Rectangle 10"/>
            <p:cNvSpPr/>
            <p:nvPr/>
          </p:nvSpPr>
          <p:spPr>
            <a:xfrm>
              <a:off x="753" y="1616"/>
              <a:ext cx="2143"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dirty="0">
                  <a:solidFill>
                    <a:srgbClr val="FF0000"/>
                  </a:solidFill>
                  <a:latin typeface="楷体_GB2312" pitchFamily="49" charset="-122"/>
                  <a:ea typeface="楷体_GB2312" pitchFamily="49" charset="-122"/>
                </a:rPr>
                <a:t>例</a:t>
              </a:r>
              <a:r>
                <a:rPr lang="en-US" altLang="zh-CN" sz="2400" b="1" dirty="0">
                  <a:solidFill>
                    <a:srgbClr val="FF0000"/>
                  </a:solidFill>
                  <a:latin typeface="楷体_GB2312" pitchFamily="49" charset="-122"/>
                  <a:ea typeface="楷体_GB2312" pitchFamily="49" charset="-122"/>
                </a:rPr>
                <a:t>1</a:t>
              </a:r>
              <a:r>
                <a:rPr lang="zh-CN" altLang="en-US" sz="2400" b="1" dirty="0">
                  <a:solidFill>
                    <a:srgbClr val="FF0000"/>
                  </a:solidFill>
                  <a:latin typeface="楷体_GB2312" pitchFamily="49" charset="-122"/>
                  <a:ea typeface="楷体_GB2312" pitchFamily="49" charset="-122"/>
                </a:rPr>
                <a:t>：</a:t>
              </a:r>
              <a:r>
                <a:rPr lang="zh-CN" altLang="en-US" sz="2400" b="1" dirty="0">
                  <a:latin typeface="楷体_GB2312" pitchFamily="49" charset="-122"/>
                  <a:ea typeface="楷体_GB2312" pitchFamily="49" charset="-122"/>
                </a:rPr>
                <a:t>用卡诺图化简函数</a:t>
              </a:r>
              <a:endParaRPr lang="zh-CN" altLang="en-US" sz="2400" b="1" dirty="0">
                <a:latin typeface="楷体_GB2312" pitchFamily="49" charset="-122"/>
                <a:ea typeface="楷体_GB2312" pitchFamily="49" charset="-122"/>
              </a:endParaRPr>
            </a:p>
          </p:txBody>
        </p:sp>
      </p:grpSp>
      <p:sp>
        <p:nvSpPr>
          <p:cNvPr id="71691" name="Rectangle 11"/>
          <p:cNvSpPr/>
          <p:nvPr/>
        </p:nvSpPr>
        <p:spPr>
          <a:xfrm>
            <a:off x="1257300" y="4613275"/>
            <a:ext cx="7632700" cy="15525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dirty="0">
                <a:latin typeface="Times New Roman" panose="02020603050405020304" pitchFamily="18" charset="0"/>
              </a:rPr>
              <a:t>3</a:t>
            </a:r>
            <a:r>
              <a:rPr lang="zh-CN" altLang="en-US" sz="2400" b="1" dirty="0">
                <a:latin typeface="Times New Roman" panose="02020603050405020304" pitchFamily="18" charset="0"/>
              </a:rPr>
              <a:t>、合并最小项（即“画圈”）；</a:t>
            </a:r>
            <a:endParaRPr lang="zh-CN" altLang="en-US" sz="2400" b="1" dirty="0">
              <a:latin typeface="Times New Roman" panose="02020603050405020304" pitchFamily="18" charset="0"/>
            </a:endParaRPr>
          </a:p>
          <a:p>
            <a:pPr marL="0" lvl="0" indent="0" eaLnBrk="1" hangingPunct="1">
              <a:spcBef>
                <a:spcPct val="0"/>
              </a:spcBef>
              <a:buNone/>
            </a:pPr>
            <a:r>
              <a:rPr lang="zh-CN" altLang="en-US" sz="2400" b="1" dirty="0">
                <a:latin typeface="Times New Roman" panose="02020603050405020304" pitchFamily="18" charset="0"/>
              </a:rPr>
              <a:t>      </a:t>
            </a:r>
            <a:r>
              <a:rPr lang="zh-CN" altLang="en-US" sz="2400" b="1" dirty="0">
                <a:solidFill>
                  <a:srgbClr val="FF0000"/>
                </a:solidFill>
                <a:latin typeface="Times New Roman" panose="02020603050405020304" pitchFamily="18" charset="0"/>
              </a:rPr>
              <a:t>“画圈”时应注意的问题</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a:p>
            <a:pPr marL="0" lvl="0" indent="0" eaLnBrk="1" hangingPunct="1">
              <a:spcBef>
                <a:spcPct val="0"/>
              </a:spcBef>
              <a:buNone/>
            </a:pPr>
            <a:r>
              <a:rPr lang="zh-CN" altLang="en-US" sz="2400" b="1" dirty="0">
                <a:latin typeface="Times New Roman" panose="02020603050405020304" pitchFamily="18" charset="0"/>
              </a:rPr>
              <a:t>       </a:t>
            </a:r>
            <a:r>
              <a:rPr lang="zh-CN" altLang="en-US" sz="2400" b="1" dirty="0">
                <a:solidFill>
                  <a:schemeClr val="accent2"/>
                </a:solidFill>
                <a:latin typeface="Times New Roman" panose="02020603050405020304" pitchFamily="18" charset="0"/>
              </a:rPr>
              <a:t>①“</a:t>
            </a:r>
            <a:r>
              <a:rPr lang="en-US" altLang="zh-CN" sz="2400" b="1" dirty="0">
                <a:solidFill>
                  <a:schemeClr val="accent2"/>
                </a:solidFill>
                <a:latin typeface="Times New Roman" panose="02020603050405020304" pitchFamily="18" charset="0"/>
              </a:rPr>
              <a:t>1”</a:t>
            </a:r>
            <a:r>
              <a:rPr lang="zh-CN" altLang="en-US" sz="2400" b="1" dirty="0">
                <a:solidFill>
                  <a:schemeClr val="accent2"/>
                </a:solidFill>
                <a:latin typeface="Times New Roman" panose="02020603050405020304" pitchFamily="18" charset="0"/>
              </a:rPr>
              <a:t>格一个也不能漏，否则表达式与函数不等</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a:p>
            <a:pPr marL="0" lvl="0" indent="0" eaLnBrk="1" hangingPunct="1">
              <a:spcBef>
                <a:spcPct val="0"/>
              </a:spcBef>
              <a:buNone/>
            </a:pPr>
            <a:r>
              <a:rPr lang="zh-CN" altLang="en-US" sz="2400" b="1" dirty="0">
                <a:latin typeface="Times New Roman" panose="02020603050405020304" pitchFamily="18" charset="0"/>
              </a:rPr>
              <a:t>       </a:t>
            </a:r>
            <a:r>
              <a:rPr lang="zh-CN" altLang="en-US" sz="2400" b="1" dirty="0">
                <a:solidFill>
                  <a:schemeClr val="accent2"/>
                </a:solidFill>
                <a:latin typeface="Times New Roman" panose="02020603050405020304" pitchFamily="18" charset="0"/>
              </a:rPr>
              <a:t>② “</a:t>
            </a:r>
            <a:r>
              <a:rPr lang="en-US" altLang="zh-CN" sz="2400" b="1" dirty="0">
                <a:solidFill>
                  <a:schemeClr val="accent2"/>
                </a:solidFill>
                <a:latin typeface="Times New Roman" panose="02020603050405020304" pitchFamily="18" charset="0"/>
              </a:rPr>
              <a:t>1”</a:t>
            </a:r>
            <a:r>
              <a:rPr lang="zh-CN" altLang="en-US" sz="2400" b="1" dirty="0">
                <a:solidFill>
                  <a:schemeClr val="accent2"/>
                </a:solidFill>
                <a:latin typeface="Times New Roman" panose="02020603050405020304" pitchFamily="18" charset="0"/>
              </a:rPr>
              <a:t>格允许被一个以上的圈包围，因为</a:t>
            </a:r>
            <a:r>
              <a:rPr lang="en-US" altLang="zh-CN" sz="2400" b="1" dirty="0">
                <a:solidFill>
                  <a:schemeClr val="accent2"/>
                </a:solidFill>
                <a:latin typeface="Times New Roman" panose="02020603050405020304" pitchFamily="18" charset="0"/>
              </a:rPr>
              <a:t>A+A=A</a:t>
            </a:r>
            <a:r>
              <a:rPr lang="zh-CN" altLang="en-US" sz="2400" b="1" dirty="0">
                <a:solidFill>
                  <a:schemeClr val="accent2"/>
                </a:solidFill>
                <a:latin typeface="Times New Roman" panose="02020603050405020304" pitchFamily="18" charset="0"/>
              </a:rPr>
              <a:t>；</a:t>
            </a:r>
            <a:endParaRPr lang="zh-CN" altLang="en-US" sz="2400" b="1" dirty="0">
              <a:solidFill>
                <a:schemeClr val="accent2"/>
              </a:solidFill>
              <a:latin typeface="Times New Roman" panose="02020603050405020304" pitchFamily="18" charset="0"/>
            </a:endParaRPr>
          </a:p>
        </p:txBody>
      </p:sp>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687"/>
                                        </p:tgtEl>
                                        <p:attrNameLst>
                                          <p:attrName>style.visibility</p:attrName>
                                        </p:attrNameLst>
                                      </p:cBhvr>
                                      <p:to>
                                        <p:strVal val="visible"/>
                                      </p:to>
                                    </p:set>
                                    <p:animEffect transition="in" filter="blinds(horizontal)">
                                      <p:cBhvr>
                                        <p:cTn id="7" dur="500"/>
                                        <p:tgtEl>
                                          <p:spTgt spid="7168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1691"/>
                                        </p:tgtEl>
                                        <p:attrNameLst>
                                          <p:attrName>style.visibility</p:attrName>
                                        </p:attrNameLst>
                                      </p:cBhvr>
                                      <p:to>
                                        <p:strVal val="visible"/>
                                      </p:to>
                                    </p:set>
                                    <p:animEffect transition="in" filter="blinds(horizontal)">
                                      <p:cBhvr>
                                        <p:cTn id="12" dur="500"/>
                                        <p:tgtEl>
                                          <p:spTgt spid="716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7" grpId="0"/>
      <p:bldP spid="71691"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Text Box 6"/>
          <p:cNvSpPr txBox="1"/>
          <p:nvPr/>
        </p:nvSpPr>
        <p:spPr>
          <a:xfrm>
            <a:off x="1042988" y="692150"/>
            <a:ext cx="7345362" cy="15525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457200" lvl="0" indent="-457200" eaLnBrk="1" hangingPunct="1">
              <a:spcBef>
                <a:spcPct val="50000"/>
              </a:spcBef>
              <a:buAutoNum type="circleNumDbPlain" startAt="3"/>
            </a:pPr>
            <a:r>
              <a:rPr lang="zh-CN" altLang="en-US" sz="2400" b="1" dirty="0">
                <a:solidFill>
                  <a:schemeClr val="accent2"/>
                </a:solidFill>
                <a:latin typeface="Times New Roman" panose="02020603050405020304" pitchFamily="18" charset="0"/>
              </a:rPr>
              <a:t>圈的个数应尽可能少，因为一个圈对应一个与</a:t>
            </a:r>
            <a:endParaRPr lang="zh-CN" altLang="en-US" sz="2400" b="1" dirty="0">
              <a:solidFill>
                <a:schemeClr val="accent2"/>
              </a:solidFill>
              <a:latin typeface="Times New Roman" panose="02020603050405020304" pitchFamily="18" charset="0"/>
            </a:endParaRPr>
          </a:p>
          <a:p>
            <a:pPr marL="457200" lvl="0" indent="-457200" eaLnBrk="1" hangingPunct="1">
              <a:spcBef>
                <a:spcPct val="50000"/>
              </a:spcBef>
              <a:buNone/>
            </a:pPr>
            <a:r>
              <a:rPr lang="zh-CN" altLang="en-US" sz="2400" b="1" dirty="0">
                <a:solidFill>
                  <a:schemeClr val="accent2"/>
                </a:solidFill>
                <a:latin typeface="Times New Roman" panose="02020603050405020304" pitchFamily="18" charset="0"/>
              </a:rPr>
              <a:t>      项，即与项最少；</a:t>
            </a:r>
            <a:endParaRPr lang="zh-CN" altLang="en-US" sz="2400" b="1" dirty="0">
              <a:solidFill>
                <a:schemeClr val="accent2"/>
              </a:solidFill>
              <a:latin typeface="Times New Roman" panose="02020603050405020304" pitchFamily="18" charset="0"/>
            </a:endParaRPr>
          </a:p>
          <a:p>
            <a:pPr marL="457200" lvl="0" indent="-457200" eaLnBrk="1" hangingPunct="1">
              <a:spcBef>
                <a:spcPct val="50000"/>
              </a:spcBef>
              <a:buNone/>
            </a:pPr>
            <a:r>
              <a:rPr lang="zh-CN" altLang="en-US" sz="2400" b="1" dirty="0">
                <a:solidFill>
                  <a:srgbClr val="FF0000"/>
                </a:solidFill>
                <a:latin typeface="楷体_GB2312" pitchFamily="49" charset="-122"/>
                <a:ea typeface="楷体_GB2312" pitchFamily="49" charset="-122"/>
              </a:rPr>
              <a:t>   例：</a:t>
            </a:r>
            <a:endParaRPr lang="zh-CN" altLang="en-US" sz="2400" b="1" dirty="0">
              <a:solidFill>
                <a:srgbClr val="FF0000"/>
              </a:solidFill>
              <a:latin typeface="楷体_GB2312" pitchFamily="49" charset="-122"/>
              <a:ea typeface="楷体_GB2312" pitchFamily="49" charset="-122"/>
            </a:endParaRPr>
          </a:p>
        </p:txBody>
      </p:sp>
      <p:pic>
        <p:nvPicPr>
          <p:cNvPr id="72713" name="Picture 9" descr="T1-2-12"/>
          <p:cNvPicPr>
            <a:picLocks noChangeAspect="1"/>
          </p:cNvPicPr>
          <p:nvPr/>
        </p:nvPicPr>
        <p:blipFill>
          <a:blip r:embed="rId1">
            <a:clrChange>
              <a:clrFrom>
                <a:srgbClr val="FFFFFF"/>
              </a:clrFrom>
              <a:clrTo>
                <a:srgbClr val="FFFFFF">
                  <a:alpha val="0"/>
                </a:srgbClr>
              </a:clrTo>
            </a:clrChange>
            <a:lum contrast="6000"/>
          </a:blip>
          <a:srcRect t="86469" r="55893" b="-85"/>
          <a:stretch>
            <a:fillRect/>
          </a:stretch>
        </p:blipFill>
        <p:spPr>
          <a:xfrm>
            <a:off x="900113" y="5589588"/>
            <a:ext cx="3671887" cy="503237"/>
          </a:xfrm>
          <a:prstGeom prst="rect">
            <a:avLst/>
          </a:prstGeom>
          <a:noFill/>
          <a:ln w="9525">
            <a:noFill/>
          </a:ln>
        </p:spPr>
      </p:pic>
      <p:graphicFrame>
        <p:nvGraphicFramePr>
          <p:cNvPr id="87044" name="Object 14"/>
          <p:cNvGraphicFramePr>
            <a:graphicFrameLocks noChangeAspect="1"/>
          </p:cNvGraphicFramePr>
          <p:nvPr/>
        </p:nvGraphicFramePr>
        <p:xfrm>
          <a:off x="1331913" y="2420938"/>
          <a:ext cx="2970212" cy="3024187"/>
        </p:xfrm>
        <a:graphic>
          <a:graphicData uri="http://schemas.openxmlformats.org/presentationml/2006/ole">
            <mc:AlternateContent xmlns:mc="http://schemas.openxmlformats.org/markup-compatibility/2006">
              <mc:Choice xmlns:v="urn:schemas-microsoft-com:vml" Requires="v">
                <p:oleObj spid="_x0000_s3266" name="" r:id="rId2" imgW="1837690" imgH="1837690" progId="Visio.Drawing.11">
                  <p:embed/>
                </p:oleObj>
              </mc:Choice>
              <mc:Fallback>
                <p:oleObj name="" r:id="rId2" imgW="1837690" imgH="1837690" progId="Visio.Drawing.11">
                  <p:embed/>
                  <p:pic>
                    <p:nvPicPr>
                      <p:cNvPr id="0" name="图片 3265"/>
                      <p:cNvPicPr/>
                      <p:nvPr/>
                    </p:nvPicPr>
                    <p:blipFill>
                      <a:blip r:embed="rId3"/>
                      <a:stretch>
                        <a:fillRect/>
                      </a:stretch>
                    </p:blipFill>
                    <p:spPr>
                      <a:xfrm>
                        <a:off x="1331913" y="2420938"/>
                        <a:ext cx="2970212" cy="3024187"/>
                      </a:xfrm>
                      <a:prstGeom prst="rect">
                        <a:avLst/>
                      </a:prstGeom>
                      <a:noFill/>
                      <a:ln w="38100">
                        <a:noFill/>
                        <a:miter/>
                      </a:ln>
                    </p:spPr>
                  </p:pic>
                </p:oleObj>
              </mc:Fallback>
            </mc:AlternateContent>
          </a:graphicData>
        </a:graphic>
      </p:graphicFrame>
      <p:graphicFrame>
        <p:nvGraphicFramePr>
          <p:cNvPr id="87045" name="Object 15"/>
          <p:cNvGraphicFramePr>
            <a:graphicFrameLocks noChangeAspect="1"/>
          </p:cNvGraphicFramePr>
          <p:nvPr/>
        </p:nvGraphicFramePr>
        <p:xfrm>
          <a:off x="4859338" y="2349500"/>
          <a:ext cx="2970212" cy="3024188"/>
        </p:xfrm>
        <a:graphic>
          <a:graphicData uri="http://schemas.openxmlformats.org/presentationml/2006/ole">
            <mc:AlternateContent xmlns:mc="http://schemas.openxmlformats.org/markup-compatibility/2006">
              <mc:Choice xmlns:v="urn:schemas-microsoft-com:vml" Requires="v">
                <p:oleObj spid="_x0000_s3268" name="" r:id="rId4" imgW="1837690" imgH="1837690" progId="Visio.Drawing.11">
                  <p:embed/>
                </p:oleObj>
              </mc:Choice>
              <mc:Fallback>
                <p:oleObj name="" r:id="rId4" imgW="1837690" imgH="1837690" progId="Visio.Drawing.11">
                  <p:embed/>
                  <p:pic>
                    <p:nvPicPr>
                      <p:cNvPr id="0" name="图片 3267"/>
                      <p:cNvPicPr/>
                      <p:nvPr/>
                    </p:nvPicPr>
                    <p:blipFill>
                      <a:blip r:embed="rId5"/>
                      <a:stretch>
                        <a:fillRect/>
                      </a:stretch>
                    </p:blipFill>
                    <p:spPr>
                      <a:xfrm>
                        <a:off x="4859338" y="2349500"/>
                        <a:ext cx="2970212" cy="3024188"/>
                      </a:xfrm>
                      <a:prstGeom prst="rect">
                        <a:avLst/>
                      </a:prstGeom>
                      <a:noFill/>
                      <a:ln w="38100">
                        <a:noFill/>
                        <a:miter/>
                      </a:ln>
                    </p:spPr>
                  </p:pic>
                </p:oleObj>
              </mc:Fallback>
            </mc:AlternateContent>
          </a:graphicData>
        </a:graphic>
      </p:graphicFrame>
      <p:sp>
        <p:nvSpPr>
          <p:cNvPr id="87046" name="AutoShape 16"/>
          <p:cNvSpPr/>
          <p:nvPr/>
        </p:nvSpPr>
        <p:spPr>
          <a:xfrm>
            <a:off x="2052638" y="3213100"/>
            <a:ext cx="935037" cy="360363"/>
          </a:xfrm>
          <a:prstGeom prst="roundRect">
            <a:avLst>
              <a:gd name="adj" fmla="val 16667"/>
            </a:avLst>
          </a:prstGeom>
          <a:noFill/>
          <a:ln w="2857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87047" name="AutoShape 17"/>
          <p:cNvSpPr/>
          <p:nvPr/>
        </p:nvSpPr>
        <p:spPr>
          <a:xfrm>
            <a:off x="2628900" y="3789363"/>
            <a:ext cx="935038" cy="360362"/>
          </a:xfrm>
          <a:prstGeom prst="roundRect">
            <a:avLst>
              <a:gd name="adj" fmla="val 16667"/>
            </a:avLst>
          </a:prstGeom>
          <a:noFill/>
          <a:ln w="2857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87048" name="AutoShape 18"/>
          <p:cNvSpPr/>
          <p:nvPr/>
        </p:nvSpPr>
        <p:spPr>
          <a:xfrm rot="5400000">
            <a:off x="3492500" y="3429000"/>
            <a:ext cx="935038" cy="360363"/>
          </a:xfrm>
          <a:prstGeom prst="roundRect">
            <a:avLst>
              <a:gd name="adj" fmla="val 16667"/>
            </a:avLst>
          </a:prstGeom>
          <a:noFill/>
          <a:ln w="2857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87049" name="AutoShape 19"/>
          <p:cNvSpPr/>
          <p:nvPr/>
        </p:nvSpPr>
        <p:spPr>
          <a:xfrm>
            <a:off x="3203575" y="3716338"/>
            <a:ext cx="1008063" cy="1008062"/>
          </a:xfrm>
          <a:prstGeom prst="roundRect">
            <a:avLst>
              <a:gd name="adj" fmla="val 16667"/>
            </a:avLst>
          </a:prstGeom>
          <a:noFill/>
          <a:ln w="2857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72724" name="AutoShape 20"/>
          <p:cNvSpPr/>
          <p:nvPr/>
        </p:nvSpPr>
        <p:spPr>
          <a:xfrm>
            <a:off x="6804025" y="3716338"/>
            <a:ext cx="936625" cy="1008062"/>
          </a:xfrm>
          <a:prstGeom prst="roundRect">
            <a:avLst>
              <a:gd name="adj" fmla="val 16667"/>
            </a:avLst>
          </a:prstGeom>
          <a:noFill/>
          <a:ln w="2857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72725" name="AutoShape 21"/>
          <p:cNvSpPr/>
          <p:nvPr/>
        </p:nvSpPr>
        <p:spPr>
          <a:xfrm rot="5400000">
            <a:off x="5940425" y="3500438"/>
            <a:ext cx="935038" cy="360362"/>
          </a:xfrm>
          <a:prstGeom prst="roundRect">
            <a:avLst>
              <a:gd name="adj" fmla="val 16667"/>
            </a:avLst>
          </a:prstGeom>
          <a:noFill/>
          <a:ln w="2857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grpSp>
        <p:nvGrpSpPr>
          <p:cNvPr id="72728" name="Group 24"/>
          <p:cNvGrpSpPr/>
          <p:nvPr/>
        </p:nvGrpSpPr>
        <p:grpSpPr>
          <a:xfrm>
            <a:off x="5435600" y="3141663"/>
            <a:ext cx="2520950" cy="504825"/>
            <a:chOff x="3787" y="1979"/>
            <a:chExt cx="1588" cy="318"/>
          </a:xfrm>
        </p:grpSpPr>
        <p:sp>
          <p:nvSpPr>
            <p:cNvPr id="87054" name="AutoShape 22"/>
            <p:cNvSpPr/>
            <p:nvPr/>
          </p:nvSpPr>
          <p:spPr>
            <a:xfrm>
              <a:off x="3787" y="1979"/>
              <a:ext cx="318" cy="318"/>
            </a:xfrm>
            <a:prstGeom prst="rightBracket">
              <a:avLst>
                <a:gd name="adj" fmla="val 8333"/>
              </a:avLst>
            </a:prstGeom>
            <a:noFill/>
            <a:ln w="2857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87055" name="AutoShape 23"/>
            <p:cNvSpPr/>
            <p:nvPr/>
          </p:nvSpPr>
          <p:spPr>
            <a:xfrm rot="10800000">
              <a:off x="5057" y="1979"/>
              <a:ext cx="318" cy="318"/>
            </a:xfrm>
            <a:prstGeom prst="rightBracket">
              <a:avLst>
                <a:gd name="adj" fmla="val 8333"/>
              </a:avLst>
            </a:prstGeom>
            <a:noFill/>
            <a:ln w="2857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grpSp>
      <p:pic>
        <p:nvPicPr>
          <p:cNvPr id="72729" name="Picture 25" descr="T1-2-12"/>
          <p:cNvPicPr>
            <a:picLocks noChangeAspect="1"/>
          </p:cNvPicPr>
          <p:nvPr/>
        </p:nvPicPr>
        <p:blipFill>
          <a:blip r:embed="rId1">
            <a:clrChange>
              <a:clrFrom>
                <a:srgbClr val="FFFFFF"/>
              </a:clrFrom>
              <a:clrTo>
                <a:srgbClr val="FFFFFF">
                  <a:alpha val="0"/>
                </a:srgbClr>
              </a:clrTo>
            </a:clrChange>
            <a:lum contrast="6000"/>
          </a:blip>
          <a:srcRect l="63139" t="90335"/>
          <a:stretch>
            <a:fillRect/>
          </a:stretch>
        </p:blipFill>
        <p:spPr>
          <a:xfrm>
            <a:off x="5219700" y="5734050"/>
            <a:ext cx="3068638" cy="357188"/>
          </a:xfrm>
          <a:prstGeom prst="rect">
            <a:avLst/>
          </a:prstGeom>
          <a:noFill/>
          <a:ln w="9525">
            <a:noFill/>
          </a:ln>
        </p:spPr>
      </p:pic>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2713"/>
                                        </p:tgtEl>
                                        <p:attrNameLst>
                                          <p:attrName>style.visibility</p:attrName>
                                        </p:attrNameLst>
                                      </p:cBhvr>
                                      <p:to>
                                        <p:strVal val="visible"/>
                                      </p:to>
                                    </p:set>
                                    <p:animEffect transition="in" filter="blinds(horizontal)">
                                      <p:cBhvr>
                                        <p:cTn id="7" dur="500"/>
                                        <p:tgtEl>
                                          <p:spTgt spid="7271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2724"/>
                                        </p:tgtEl>
                                        <p:attrNameLst>
                                          <p:attrName>style.visibility</p:attrName>
                                        </p:attrNameLst>
                                      </p:cBhvr>
                                      <p:to>
                                        <p:strVal val="visible"/>
                                      </p:to>
                                    </p:set>
                                    <p:animEffect transition="in" filter="blinds(horizontal)">
                                      <p:cBhvr>
                                        <p:cTn id="12" dur="500"/>
                                        <p:tgtEl>
                                          <p:spTgt spid="7272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2725"/>
                                        </p:tgtEl>
                                        <p:attrNameLst>
                                          <p:attrName>style.visibility</p:attrName>
                                        </p:attrNameLst>
                                      </p:cBhvr>
                                      <p:to>
                                        <p:strVal val="visible"/>
                                      </p:to>
                                    </p:set>
                                    <p:animEffect transition="in" filter="blinds(horizontal)">
                                      <p:cBhvr>
                                        <p:cTn id="17" dur="500"/>
                                        <p:tgtEl>
                                          <p:spTgt spid="7272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2728"/>
                                        </p:tgtEl>
                                        <p:attrNameLst>
                                          <p:attrName>style.visibility</p:attrName>
                                        </p:attrNameLst>
                                      </p:cBhvr>
                                      <p:to>
                                        <p:strVal val="visible"/>
                                      </p:to>
                                    </p:set>
                                    <p:animEffect transition="in" filter="blinds(horizontal)">
                                      <p:cBhvr>
                                        <p:cTn id="22" dur="500"/>
                                        <p:tgtEl>
                                          <p:spTgt spid="7272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2729"/>
                                        </p:tgtEl>
                                        <p:attrNameLst>
                                          <p:attrName>style.visibility</p:attrName>
                                        </p:attrNameLst>
                                      </p:cBhvr>
                                      <p:to>
                                        <p:strVal val="visible"/>
                                      </p:to>
                                    </p:set>
                                    <p:animEffect transition="in" filter="blinds(horizontal)">
                                      <p:cBhvr>
                                        <p:cTn id="27" dur="500"/>
                                        <p:tgtEl>
                                          <p:spTgt spid="727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24" grpId="0" animBg="1"/>
      <p:bldP spid="72725"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88066" name="Group 6"/>
          <p:cNvGrpSpPr/>
          <p:nvPr/>
        </p:nvGrpSpPr>
        <p:grpSpPr>
          <a:xfrm>
            <a:off x="739775" y="620713"/>
            <a:ext cx="7010400" cy="1811337"/>
            <a:chOff x="528" y="288"/>
            <a:chExt cx="4416" cy="1141"/>
          </a:xfrm>
        </p:grpSpPr>
        <p:sp>
          <p:nvSpPr>
            <p:cNvPr id="88077" name="Text Box 7"/>
            <p:cNvSpPr txBox="1"/>
            <p:nvPr/>
          </p:nvSpPr>
          <p:spPr>
            <a:xfrm>
              <a:off x="528" y="336"/>
              <a:ext cx="4416" cy="109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457200" lvl="0" indent="-457200" eaLnBrk="1" hangingPunct="1">
                <a:spcBef>
                  <a:spcPct val="50000"/>
                </a:spcBef>
                <a:buNone/>
              </a:pPr>
              <a:r>
                <a:rPr lang="en-US" altLang="zh-CN" sz="2400" b="1" dirty="0">
                  <a:solidFill>
                    <a:schemeClr val="accent2"/>
                  </a:solidFill>
                  <a:latin typeface="Times New Roman" panose="02020603050405020304" pitchFamily="18" charset="0"/>
                </a:rPr>
                <a:t>④</a:t>
              </a:r>
              <a:r>
                <a:rPr lang="en-US" altLang="zh-CN" sz="2400" b="1" dirty="0">
                  <a:latin typeface="Times New Roman" panose="02020603050405020304" pitchFamily="18" charset="0"/>
                </a:rPr>
                <a:t>  </a:t>
              </a:r>
              <a:r>
                <a:rPr lang="zh-CN" altLang="en-US" sz="2400" b="1" dirty="0">
                  <a:solidFill>
                    <a:schemeClr val="accent2"/>
                  </a:solidFill>
                  <a:latin typeface="Times New Roman" panose="02020603050405020304" pitchFamily="18" charset="0"/>
                </a:rPr>
                <a:t>圈的面积越大越好，但必须为       个方格。这是因为圈越大，消去的变量就越多，与项中的变量数就越少。</a:t>
              </a:r>
              <a:endParaRPr lang="zh-CN" altLang="en-US" sz="2400" b="1" dirty="0">
                <a:solidFill>
                  <a:schemeClr val="accent2"/>
                </a:solidFill>
                <a:latin typeface="Times New Roman" panose="02020603050405020304" pitchFamily="18" charset="0"/>
              </a:endParaRPr>
            </a:p>
            <a:p>
              <a:pPr marL="457200" lvl="0" indent="-457200" eaLnBrk="1" hangingPunct="1">
                <a:spcBef>
                  <a:spcPct val="50000"/>
                </a:spcBef>
                <a:buNone/>
              </a:pPr>
              <a:r>
                <a:rPr lang="zh-CN" altLang="en-US" sz="2400" b="1" dirty="0">
                  <a:solidFill>
                    <a:srgbClr val="FF0000"/>
                  </a:solidFill>
                  <a:latin typeface="Times New Roman" panose="02020603050405020304" pitchFamily="18" charset="0"/>
                </a:rPr>
                <a:t>      </a:t>
              </a:r>
              <a:r>
                <a:rPr lang="zh-CN" altLang="en-US" sz="2400" b="1" dirty="0">
                  <a:solidFill>
                    <a:srgbClr val="FF0000"/>
                  </a:solidFill>
                  <a:latin typeface="Times New Roman" panose="02020603050405020304" pitchFamily="18" charset="0"/>
                  <a:ea typeface="楷体_GB2312" pitchFamily="49" charset="-122"/>
                </a:rPr>
                <a:t>例：</a:t>
              </a:r>
              <a:endParaRPr lang="zh-CN" altLang="en-US" sz="2400" b="1" dirty="0">
                <a:solidFill>
                  <a:srgbClr val="FF0000"/>
                </a:solidFill>
                <a:latin typeface="Times New Roman" panose="02020603050405020304" pitchFamily="18" charset="0"/>
                <a:ea typeface="楷体_GB2312" pitchFamily="49" charset="-122"/>
              </a:endParaRPr>
            </a:p>
          </p:txBody>
        </p:sp>
        <p:graphicFrame>
          <p:nvGraphicFramePr>
            <p:cNvPr id="88078" name="Object 8"/>
            <p:cNvGraphicFramePr>
              <a:graphicFrameLocks noChangeAspect="1"/>
            </p:cNvGraphicFramePr>
            <p:nvPr/>
          </p:nvGraphicFramePr>
          <p:xfrm>
            <a:off x="3408" y="288"/>
            <a:ext cx="280" cy="300"/>
          </p:xfrm>
          <a:graphic>
            <a:graphicData uri="http://schemas.openxmlformats.org/presentationml/2006/ole">
              <mc:AlternateContent xmlns:mc="http://schemas.openxmlformats.org/markup-compatibility/2006">
                <mc:Choice xmlns:v="urn:schemas-microsoft-com:vml" Requires="v">
                  <p:oleObj spid="_x0000_s3267" name="" r:id="rId1" imgW="177800" imgH="190500" progId="Equation.3">
                    <p:embed/>
                  </p:oleObj>
                </mc:Choice>
                <mc:Fallback>
                  <p:oleObj name="" r:id="rId1" imgW="177800" imgH="190500" progId="Equation.3">
                    <p:embed/>
                    <p:pic>
                      <p:nvPicPr>
                        <p:cNvPr id="0" name="图片 3266"/>
                        <p:cNvPicPr/>
                        <p:nvPr/>
                      </p:nvPicPr>
                      <p:blipFill>
                        <a:blip r:embed="rId2"/>
                        <a:stretch>
                          <a:fillRect/>
                        </a:stretch>
                      </p:blipFill>
                      <p:spPr>
                        <a:xfrm>
                          <a:off x="3408" y="288"/>
                          <a:ext cx="280" cy="300"/>
                        </a:xfrm>
                        <a:prstGeom prst="rect">
                          <a:avLst/>
                        </a:prstGeom>
                        <a:solidFill>
                          <a:srgbClr val="FF66FF"/>
                        </a:solidFill>
                        <a:ln w="38100">
                          <a:noFill/>
                          <a:miter/>
                        </a:ln>
                      </p:spPr>
                    </p:pic>
                  </p:oleObj>
                </mc:Fallback>
              </mc:AlternateContent>
            </a:graphicData>
          </a:graphic>
        </p:graphicFrame>
      </p:grpSp>
      <p:pic>
        <p:nvPicPr>
          <p:cNvPr id="73740" name="Picture 12" descr="T1-2-13"/>
          <p:cNvPicPr>
            <a:picLocks noChangeAspect="1"/>
          </p:cNvPicPr>
          <p:nvPr/>
        </p:nvPicPr>
        <p:blipFill>
          <a:blip r:embed="rId3">
            <a:clrChange>
              <a:clrFrom>
                <a:srgbClr val="FFFFFF"/>
              </a:clrFrom>
              <a:clrTo>
                <a:srgbClr val="FFFFFF">
                  <a:alpha val="0"/>
                </a:srgbClr>
              </a:clrTo>
            </a:clrChange>
            <a:lum contrast="6000"/>
          </a:blip>
          <a:srcRect l="21390" t="88518" r="55801" b="1276"/>
          <a:stretch>
            <a:fillRect/>
          </a:stretch>
        </p:blipFill>
        <p:spPr>
          <a:xfrm>
            <a:off x="2339975" y="5661025"/>
            <a:ext cx="2016125" cy="431800"/>
          </a:xfrm>
          <a:prstGeom prst="rect">
            <a:avLst/>
          </a:prstGeom>
          <a:noFill/>
          <a:ln w="9525">
            <a:noFill/>
          </a:ln>
        </p:spPr>
      </p:pic>
      <p:graphicFrame>
        <p:nvGraphicFramePr>
          <p:cNvPr id="88068" name="Object 18"/>
          <p:cNvGraphicFramePr>
            <a:graphicFrameLocks noChangeAspect="1"/>
          </p:cNvGraphicFramePr>
          <p:nvPr/>
        </p:nvGraphicFramePr>
        <p:xfrm>
          <a:off x="1619250" y="2492375"/>
          <a:ext cx="2900363" cy="2952750"/>
        </p:xfrm>
        <a:graphic>
          <a:graphicData uri="http://schemas.openxmlformats.org/presentationml/2006/ole">
            <mc:AlternateContent xmlns:mc="http://schemas.openxmlformats.org/markup-compatibility/2006">
              <mc:Choice xmlns:v="urn:schemas-microsoft-com:vml" Requires="v">
                <p:oleObj spid="_x0000_s3269" name="" r:id="rId4" imgW="1837690" imgH="1837690" progId="Visio.Drawing.11">
                  <p:embed/>
                </p:oleObj>
              </mc:Choice>
              <mc:Fallback>
                <p:oleObj name="" r:id="rId4" imgW="1837690" imgH="1837690" progId="Visio.Drawing.11">
                  <p:embed/>
                  <p:pic>
                    <p:nvPicPr>
                      <p:cNvPr id="0" name="图片 3268"/>
                      <p:cNvPicPr/>
                      <p:nvPr/>
                    </p:nvPicPr>
                    <p:blipFill>
                      <a:blip r:embed="rId5"/>
                      <a:stretch>
                        <a:fillRect/>
                      </a:stretch>
                    </p:blipFill>
                    <p:spPr>
                      <a:xfrm>
                        <a:off x="1619250" y="2492375"/>
                        <a:ext cx="2900363" cy="2952750"/>
                      </a:xfrm>
                      <a:prstGeom prst="rect">
                        <a:avLst/>
                      </a:prstGeom>
                      <a:noFill/>
                      <a:ln w="38100">
                        <a:noFill/>
                        <a:miter/>
                      </a:ln>
                    </p:spPr>
                  </p:pic>
                </p:oleObj>
              </mc:Fallback>
            </mc:AlternateContent>
          </a:graphicData>
        </a:graphic>
      </p:graphicFrame>
      <p:graphicFrame>
        <p:nvGraphicFramePr>
          <p:cNvPr id="88069" name="Object 19"/>
          <p:cNvGraphicFramePr>
            <a:graphicFrameLocks noChangeAspect="1"/>
          </p:cNvGraphicFramePr>
          <p:nvPr/>
        </p:nvGraphicFramePr>
        <p:xfrm>
          <a:off x="5076825" y="2492375"/>
          <a:ext cx="2900363" cy="2952750"/>
        </p:xfrm>
        <a:graphic>
          <a:graphicData uri="http://schemas.openxmlformats.org/presentationml/2006/ole">
            <mc:AlternateContent xmlns:mc="http://schemas.openxmlformats.org/markup-compatibility/2006">
              <mc:Choice xmlns:v="urn:schemas-microsoft-com:vml" Requires="v">
                <p:oleObj spid="_x0000_s3270" name="" r:id="rId6" imgW="1837690" imgH="1837690" progId="Visio.Drawing.11">
                  <p:embed/>
                </p:oleObj>
              </mc:Choice>
              <mc:Fallback>
                <p:oleObj name="" r:id="rId6" imgW="1837690" imgH="1837690" progId="Visio.Drawing.11">
                  <p:embed/>
                  <p:pic>
                    <p:nvPicPr>
                      <p:cNvPr id="0" name="图片 3269"/>
                      <p:cNvPicPr/>
                      <p:nvPr/>
                    </p:nvPicPr>
                    <p:blipFill>
                      <a:blip r:embed="rId7"/>
                      <a:stretch>
                        <a:fillRect/>
                      </a:stretch>
                    </p:blipFill>
                    <p:spPr>
                      <a:xfrm>
                        <a:off x="5076825" y="2492375"/>
                        <a:ext cx="2900363" cy="2952750"/>
                      </a:xfrm>
                      <a:prstGeom prst="rect">
                        <a:avLst/>
                      </a:prstGeom>
                      <a:noFill/>
                      <a:ln w="38100">
                        <a:noFill/>
                        <a:miter/>
                      </a:ln>
                    </p:spPr>
                  </p:pic>
                </p:oleObj>
              </mc:Fallback>
            </mc:AlternateContent>
          </a:graphicData>
        </a:graphic>
      </p:graphicFrame>
      <p:pic>
        <p:nvPicPr>
          <p:cNvPr id="73748" name="Picture 20" descr="T1-2-13"/>
          <p:cNvPicPr>
            <a:picLocks noChangeAspect="1"/>
          </p:cNvPicPr>
          <p:nvPr/>
        </p:nvPicPr>
        <p:blipFill>
          <a:blip r:embed="rId3">
            <a:clrChange>
              <a:clrFrom>
                <a:srgbClr val="FFFFFF"/>
              </a:clrFrom>
              <a:clrTo>
                <a:srgbClr val="FFFFFF">
                  <a:alpha val="0"/>
                </a:srgbClr>
              </a:clrTo>
            </a:clrChange>
            <a:lum contrast="6000"/>
          </a:blip>
          <a:srcRect l="62733" t="86830" r="16901"/>
          <a:stretch>
            <a:fillRect/>
          </a:stretch>
        </p:blipFill>
        <p:spPr>
          <a:xfrm>
            <a:off x="5867400" y="5589588"/>
            <a:ext cx="1800225" cy="557212"/>
          </a:xfrm>
          <a:prstGeom prst="rect">
            <a:avLst/>
          </a:prstGeom>
          <a:noFill/>
          <a:ln w="9525">
            <a:noFill/>
          </a:ln>
        </p:spPr>
      </p:pic>
      <p:sp>
        <p:nvSpPr>
          <p:cNvPr id="88071" name="AutoShape 21"/>
          <p:cNvSpPr/>
          <p:nvPr/>
        </p:nvSpPr>
        <p:spPr>
          <a:xfrm>
            <a:off x="2339975" y="3213100"/>
            <a:ext cx="2016125" cy="936625"/>
          </a:xfrm>
          <a:prstGeom prst="roundRect">
            <a:avLst>
              <a:gd name="adj" fmla="val 16667"/>
            </a:avLst>
          </a:prstGeom>
          <a:noFill/>
          <a:ln w="2857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73750" name="AutoShape 22"/>
          <p:cNvSpPr/>
          <p:nvPr/>
        </p:nvSpPr>
        <p:spPr>
          <a:xfrm>
            <a:off x="5795963" y="3213100"/>
            <a:ext cx="2016125" cy="936625"/>
          </a:xfrm>
          <a:prstGeom prst="roundRect">
            <a:avLst>
              <a:gd name="adj" fmla="val 16667"/>
            </a:avLst>
          </a:prstGeom>
          <a:noFill/>
          <a:ln w="2857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88073" name="AutoShape 23"/>
          <p:cNvSpPr/>
          <p:nvPr/>
        </p:nvSpPr>
        <p:spPr>
          <a:xfrm>
            <a:off x="3419475" y="4941888"/>
            <a:ext cx="936625" cy="358775"/>
          </a:xfrm>
          <a:prstGeom prst="roundRect">
            <a:avLst>
              <a:gd name="adj" fmla="val 16667"/>
            </a:avLst>
          </a:prstGeom>
          <a:noFill/>
          <a:ln w="28575" cap="flat" cmpd="sng">
            <a:solidFill>
              <a:srgbClr val="0000CC"/>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grpSp>
        <p:nvGrpSpPr>
          <p:cNvPr id="73755" name="Group 27"/>
          <p:cNvGrpSpPr/>
          <p:nvPr/>
        </p:nvGrpSpPr>
        <p:grpSpPr>
          <a:xfrm>
            <a:off x="6948488" y="2997200"/>
            <a:ext cx="863600" cy="2520950"/>
            <a:chOff x="4377" y="1888"/>
            <a:chExt cx="544" cy="1588"/>
          </a:xfrm>
        </p:grpSpPr>
        <p:sp>
          <p:nvSpPr>
            <p:cNvPr id="88075" name="AutoShape 25"/>
            <p:cNvSpPr/>
            <p:nvPr/>
          </p:nvSpPr>
          <p:spPr>
            <a:xfrm rot="5400000">
              <a:off x="4467" y="1797"/>
              <a:ext cx="363" cy="544"/>
            </a:xfrm>
            <a:prstGeom prst="rightBracket">
              <a:avLst>
                <a:gd name="adj" fmla="val 12488"/>
              </a:avLst>
            </a:prstGeom>
            <a:noFill/>
            <a:ln w="2857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88076" name="AutoShape 26"/>
            <p:cNvSpPr/>
            <p:nvPr/>
          </p:nvSpPr>
          <p:spPr>
            <a:xfrm rot="-5400000">
              <a:off x="4467" y="3022"/>
              <a:ext cx="363" cy="544"/>
            </a:xfrm>
            <a:prstGeom prst="rightBracket">
              <a:avLst>
                <a:gd name="adj" fmla="val 12488"/>
              </a:avLst>
            </a:prstGeom>
            <a:noFill/>
            <a:ln w="2857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grpSp>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3740"/>
                                        </p:tgtEl>
                                        <p:attrNameLst>
                                          <p:attrName>style.visibility</p:attrName>
                                        </p:attrNameLst>
                                      </p:cBhvr>
                                      <p:to>
                                        <p:strVal val="visible"/>
                                      </p:to>
                                    </p:set>
                                    <p:animEffect transition="in" filter="blinds(horizontal)">
                                      <p:cBhvr>
                                        <p:cTn id="7" dur="500"/>
                                        <p:tgtEl>
                                          <p:spTgt spid="7374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3750"/>
                                        </p:tgtEl>
                                        <p:attrNameLst>
                                          <p:attrName>style.visibility</p:attrName>
                                        </p:attrNameLst>
                                      </p:cBhvr>
                                      <p:to>
                                        <p:strVal val="visible"/>
                                      </p:to>
                                    </p:set>
                                    <p:animEffect transition="in" filter="blinds(horizontal)">
                                      <p:cBhvr>
                                        <p:cTn id="12" dur="500"/>
                                        <p:tgtEl>
                                          <p:spTgt spid="7375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3755"/>
                                        </p:tgtEl>
                                        <p:attrNameLst>
                                          <p:attrName>style.visibility</p:attrName>
                                        </p:attrNameLst>
                                      </p:cBhvr>
                                      <p:to>
                                        <p:strVal val="visible"/>
                                      </p:to>
                                    </p:set>
                                    <p:animEffect transition="in" filter="blinds(horizontal)">
                                      <p:cBhvr>
                                        <p:cTn id="17" dur="500"/>
                                        <p:tgtEl>
                                          <p:spTgt spid="7375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3748"/>
                                        </p:tgtEl>
                                        <p:attrNameLst>
                                          <p:attrName>style.visibility</p:attrName>
                                        </p:attrNameLst>
                                      </p:cBhvr>
                                      <p:to>
                                        <p:strVal val="visible"/>
                                      </p:to>
                                    </p:set>
                                    <p:animEffect transition="in" filter="blinds(horizontal)">
                                      <p:cBhvr>
                                        <p:cTn id="22" dur="500"/>
                                        <p:tgtEl>
                                          <p:spTgt spid="737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50"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Text Box 6"/>
          <p:cNvSpPr txBox="1"/>
          <p:nvPr/>
        </p:nvSpPr>
        <p:spPr>
          <a:xfrm>
            <a:off x="1042988" y="765175"/>
            <a:ext cx="7010400" cy="13700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457200" lvl="0" indent="-457200" eaLnBrk="1" hangingPunct="1">
              <a:spcBef>
                <a:spcPct val="50000"/>
              </a:spcBef>
              <a:buNone/>
            </a:pPr>
            <a:r>
              <a:rPr lang="en-US" altLang="zh-CN" sz="2400" b="1" dirty="0">
                <a:solidFill>
                  <a:schemeClr val="accent2"/>
                </a:solidFill>
                <a:latin typeface="Times New Roman" panose="02020603050405020304" pitchFamily="18" charset="0"/>
              </a:rPr>
              <a:t>⑤  </a:t>
            </a:r>
            <a:r>
              <a:rPr lang="zh-CN" altLang="en-US" sz="2400" b="1" dirty="0">
                <a:solidFill>
                  <a:schemeClr val="accent2"/>
                </a:solidFill>
                <a:latin typeface="Times New Roman" panose="02020603050405020304" pitchFamily="18" charset="0"/>
              </a:rPr>
              <a:t>每个圈至少应包含一个新的“</a:t>
            </a:r>
            <a:r>
              <a:rPr lang="en-US" altLang="zh-CN" sz="2400" b="1" dirty="0">
                <a:solidFill>
                  <a:schemeClr val="accent2"/>
                </a:solidFill>
                <a:latin typeface="Times New Roman" panose="02020603050405020304" pitchFamily="18" charset="0"/>
              </a:rPr>
              <a:t>1”</a:t>
            </a:r>
            <a:r>
              <a:rPr lang="zh-CN" altLang="en-US" sz="2400" b="1" dirty="0">
                <a:solidFill>
                  <a:schemeClr val="accent2"/>
                </a:solidFill>
                <a:latin typeface="Times New Roman" panose="02020603050405020304" pitchFamily="18" charset="0"/>
              </a:rPr>
              <a:t>格，否则这个圈是多余的，即增加了冗余项；</a:t>
            </a:r>
            <a:endParaRPr lang="zh-CN" altLang="en-US" sz="2400" b="1" dirty="0">
              <a:solidFill>
                <a:schemeClr val="accent2"/>
              </a:solidFill>
              <a:latin typeface="Times New Roman" panose="02020603050405020304" pitchFamily="18" charset="0"/>
            </a:endParaRPr>
          </a:p>
          <a:p>
            <a:pPr marL="457200" lvl="0" indent="-457200" eaLnBrk="1" hangingPunct="1">
              <a:spcBef>
                <a:spcPct val="50000"/>
              </a:spcBef>
              <a:buNone/>
            </a:pPr>
            <a:r>
              <a:rPr lang="zh-CN" altLang="en-US" sz="2400" b="1" dirty="0">
                <a:solidFill>
                  <a:srgbClr val="FF0000"/>
                </a:solidFill>
                <a:latin typeface="楷体_GB2312" pitchFamily="49" charset="-122"/>
                <a:ea typeface="楷体_GB2312" pitchFamily="49" charset="-122"/>
              </a:rPr>
              <a:t>      例：</a:t>
            </a:r>
            <a:endParaRPr lang="zh-CN" altLang="en-US" sz="2400" b="1" dirty="0">
              <a:solidFill>
                <a:srgbClr val="FF0000"/>
              </a:solidFill>
              <a:latin typeface="楷体_GB2312" pitchFamily="49" charset="-122"/>
              <a:ea typeface="楷体_GB2312" pitchFamily="49" charset="-122"/>
            </a:endParaRPr>
          </a:p>
        </p:txBody>
      </p:sp>
      <p:sp>
        <p:nvSpPr>
          <p:cNvPr id="74768" name="Text Box 16"/>
          <p:cNvSpPr txBox="1"/>
          <p:nvPr/>
        </p:nvSpPr>
        <p:spPr>
          <a:xfrm>
            <a:off x="827088" y="5300663"/>
            <a:ext cx="7605712" cy="8223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457200" lvl="0" indent="-457200" eaLnBrk="1" hangingPunct="1">
              <a:spcBef>
                <a:spcPct val="50000"/>
              </a:spcBef>
              <a:buNone/>
            </a:pPr>
            <a:r>
              <a:rPr lang="en-US" altLang="zh-CN" sz="2400" b="1" dirty="0">
                <a:solidFill>
                  <a:schemeClr val="accent2"/>
                </a:solidFill>
                <a:latin typeface="Times New Roman" panose="02020603050405020304" pitchFamily="18" charset="0"/>
              </a:rPr>
              <a:t>      </a:t>
            </a:r>
            <a:r>
              <a:rPr lang="zh-CN" altLang="en-US" sz="2400" b="1" u="sng" dirty="0">
                <a:solidFill>
                  <a:schemeClr val="accent2"/>
                </a:solidFill>
                <a:latin typeface="黑体" panose="02010609060101010101" pitchFamily="49" charset="-122"/>
                <a:ea typeface="黑体" panose="02010609060101010101" pitchFamily="49" charset="-122"/>
              </a:rPr>
              <a:t>总之，即</a:t>
            </a:r>
            <a:r>
              <a:rPr lang="zh-CN" altLang="en-US" sz="2400" b="1" u="sng" dirty="0">
                <a:solidFill>
                  <a:srgbClr val="FF3300"/>
                </a:solidFill>
                <a:latin typeface="Times New Roman" panose="02020603050405020304" pitchFamily="18" charset="0"/>
                <a:ea typeface="黑体" panose="02010609060101010101" pitchFamily="49" charset="-122"/>
              </a:rPr>
              <a:t>“</a:t>
            </a:r>
            <a:r>
              <a:rPr lang="zh-CN" altLang="en-US" sz="2400" b="1" u="sng" dirty="0">
                <a:solidFill>
                  <a:srgbClr val="FF3300"/>
                </a:solidFill>
                <a:latin typeface="黑体" panose="02010609060101010101" pitchFamily="49" charset="-122"/>
                <a:ea typeface="黑体" panose="02010609060101010101" pitchFamily="49" charset="-122"/>
              </a:rPr>
              <a:t>可以重画，不能漏画，圈数要少，圈面要大，每个圈必有一个新</a:t>
            </a:r>
            <a:r>
              <a:rPr lang="zh-CN" altLang="en-US" sz="2400" b="1" u="sng" dirty="0">
                <a:solidFill>
                  <a:srgbClr val="FF3300"/>
                </a:solidFill>
                <a:latin typeface="Times New Roman" panose="02020603050405020304" pitchFamily="18" charset="0"/>
                <a:ea typeface="黑体" panose="02010609060101010101" pitchFamily="49" charset="-122"/>
              </a:rPr>
              <a:t>‘</a:t>
            </a:r>
            <a:r>
              <a:rPr lang="en-US" altLang="zh-CN" sz="2400" b="1" u="sng" dirty="0">
                <a:solidFill>
                  <a:srgbClr val="FF3300"/>
                </a:solidFill>
                <a:latin typeface="黑体" panose="02010609060101010101" pitchFamily="49" charset="-122"/>
                <a:ea typeface="黑体" panose="02010609060101010101" pitchFamily="49" charset="-122"/>
              </a:rPr>
              <a:t>1</a:t>
            </a:r>
            <a:r>
              <a:rPr lang="en-US" altLang="zh-CN" sz="2400" b="1" u="sng" dirty="0">
                <a:solidFill>
                  <a:srgbClr val="FF3300"/>
                </a:solidFill>
                <a:latin typeface="Times New Roman" panose="02020603050405020304" pitchFamily="18" charset="0"/>
                <a:ea typeface="黑体" panose="02010609060101010101" pitchFamily="49" charset="-122"/>
              </a:rPr>
              <a:t>’”</a:t>
            </a:r>
            <a:r>
              <a:rPr lang="zh-CN" altLang="en-US" sz="2400" b="1" u="sng" dirty="0">
                <a:solidFill>
                  <a:srgbClr val="FF3300"/>
                </a:solidFill>
                <a:latin typeface="黑体" panose="02010609060101010101" pitchFamily="49" charset="-122"/>
                <a:ea typeface="黑体" panose="02010609060101010101" pitchFamily="49" charset="-122"/>
              </a:rPr>
              <a:t>。</a:t>
            </a:r>
            <a:endParaRPr lang="zh-CN" altLang="en-US" sz="2400" b="1" u="sng" dirty="0">
              <a:solidFill>
                <a:srgbClr val="FF3300"/>
              </a:solidFill>
              <a:latin typeface="黑体" panose="02010609060101010101" pitchFamily="49" charset="-122"/>
              <a:ea typeface="黑体" panose="02010609060101010101" pitchFamily="49" charset="-122"/>
            </a:endParaRPr>
          </a:p>
        </p:txBody>
      </p:sp>
      <p:graphicFrame>
        <p:nvGraphicFramePr>
          <p:cNvPr id="89092" name="Object 17"/>
          <p:cNvGraphicFramePr>
            <a:graphicFrameLocks noChangeAspect="1"/>
          </p:cNvGraphicFramePr>
          <p:nvPr/>
        </p:nvGraphicFramePr>
        <p:xfrm>
          <a:off x="1258888" y="2133600"/>
          <a:ext cx="2897187" cy="2951163"/>
        </p:xfrm>
        <a:graphic>
          <a:graphicData uri="http://schemas.openxmlformats.org/presentationml/2006/ole">
            <mc:AlternateContent xmlns:mc="http://schemas.openxmlformats.org/markup-compatibility/2006">
              <mc:Choice xmlns:v="urn:schemas-microsoft-com:vml" Requires="v">
                <p:oleObj spid="_x0000_s3275" name="" r:id="rId1" imgW="1837690" imgH="1837690" progId="Visio.Drawing.11">
                  <p:embed/>
                </p:oleObj>
              </mc:Choice>
              <mc:Fallback>
                <p:oleObj name="" r:id="rId1" imgW="1837690" imgH="1837690" progId="Visio.Drawing.11">
                  <p:embed/>
                  <p:pic>
                    <p:nvPicPr>
                      <p:cNvPr id="0" name="图片 3274"/>
                      <p:cNvPicPr/>
                      <p:nvPr/>
                    </p:nvPicPr>
                    <p:blipFill>
                      <a:blip r:embed="rId2"/>
                      <a:stretch>
                        <a:fillRect/>
                      </a:stretch>
                    </p:blipFill>
                    <p:spPr>
                      <a:xfrm>
                        <a:off x="1258888" y="2133600"/>
                        <a:ext cx="2897187" cy="2951163"/>
                      </a:xfrm>
                      <a:prstGeom prst="rect">
                        <a:avLst/>
                      </a:prstGeom>
                      <a:noFill/>
                      <a:ln w="38100">
                        <a:noFill/>
                        <a:miter/>
                      </a:ln>
                    </p:spPr>
                  </p:pic>
                </p:oleObj>
              </mc:Fallback>
            </mc:AlternateContent>
          </a:graphicData>
        </a:graphic>
      </p:graphicFrame>
      <p:graphicFrame>
        <p:nvGraphicFramePr>
          <p:cNvPr id="89093" name="Object 18"/>
          <p:cNvGraphicFramePr>
            <a:graphicFrameLocks noChangeAspect="1"/>
          </p:cNvGraphicFramePr>
          <p:nvPr/>
        </p:nvGraphicFramePr>
        <p:xfrm>
          <a:off x="4643438" y="2133600"/>
          <a:ext cx="2897187" cy="2951163"/>
        </p:xfrm>
        <a:graphic>
          <a:graphicData uri="http://schemas.openxmlformats.org/presentationml/2006/ole">
            <mc:AlternateContent xmlns:mc="http://schemas.openxmlformats.org/markup-compatibility/2006">
              <mc:Choice xmlns:v="urn:schemas-microsoft-com:vml" Requires="v">
                <p:oleObj spid="_x0000_s3274" name="" r:id="rId3" imgW="1837690" imgH="1837690" progId="Visio.Drawing.11">
                  <p:embed/>
                </p:oleObj>
              </mc:Choice>
              <mc:Fallback>
                <p:oleObj name="" r:id="rId3" imgW="1837690" imgH="1837690" progId="Visio.Drawing.11">
                  <p:embed/>
                  <p:pic>
                    <p:nvPicPr>
                      <p:cNvPr id="0" name="图片 3273"/>
                      <p:cNvPicPr/>
                      <p:nvPr/>
                    </p:nvPicPr>
                    <p:blipFill>
                      <a:blip r:embed="rId4"/>
                      <a:stretch>
                        <a:fillRect/>
                      </a:stretch>
                    </p:blipFill>
                    <p:spPr>
                      <a:xfrm>
                        <a:off x="4643438" y="2133600"/>
                        <a:ext cx="2897187" cy="2951163"/>
                      </a:xfrm>
                      <a:prstGeom prst="rect">
                        <a:avLst/>
                      </a:prstGeom>
                      <a:noFill/>
                      <a:ln w="38100">
                        <a:noFill/>
                        <a:miter/>
                      </a:ln>
                    </p:spPr>
                  </p:pic>
                </p:oleObj>
              </mc:Fallback>
            </mc:AlternateContent>
          </a:graphicData>
        </a:graphic>
      </p:graphicFrame>
      <p:sp>
        <p:nvSpPr>
          <p:cNvPr id="89094" name="AutoShape 19"/>
          <p:cNvSpPr/>
          <p:nvPr/>
        </p:nvSpPr>
        <p:spPr>
          <a:xfrm rot="5400000">
            <a:off x="2268538" y="3140075"/>
            <a:ext cx="935037" cy="360363"/>
          </a:xfrm>
          <a:prstGeom prst="roundRect">
            <a:avLst>
              <a:gd name="adj" fmla="val 16667"/>
            </a:avLst>
          </a:prstGeom>
          <a:noFill/>
          <a:ln w="2857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89095" name="AutoShape 20"/>
          <p:cNvSpPr/>
          <p:nvPr/>
        </p:nvSpPr>
        <p:spPr>
          <a:xfrm rot="5400000">
            <a:off x="2771775" y="4292600"/>
            <a:ext cx="935038" cy="360363"/>
          </a:xfrm>
          <a:prstGeom prst="roundRect">
            <a:avLst>
              <a:gd name="adj" fmla="val 16667"/>
            </a:avLst>
          </a:prstGeom>
          <a:noFill/>
          <a:ln w="2857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89096" name="AutoShape 21"/>
          <p:cNvSpPr/>
          <p:nvPr/>
        </p:nvSpPr>
        <p:spPr>
          <a:xfrm>
            <a:off x="1979613" y="4005263"/>
            <a:ext cx="935037" cy="360362"/>
          </a:xfrm>
          <a:prstGeom prst="roundRect">
            <a:avLst>
              <a:gd name="adj" fmla="val 16667"/>
            </a:avLst>
          </a:prstGeom>
          <a:noFill/>
          <a:ln w="2857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89097" name="AutoShape 22"/>
          <p:cNvSpPr/>
          <p:nvPr/>
        </p:nvSpPr>
        <p:spPr>
          <a:xfrm>
            <a:off x="3059113" y="3429000"/>
            <a:ext cx="935037" cy="360363"/>
          </a:xfrm>
          <a:prstGeom prst="roundRect">
            <a:avLst>
              <a:gd name="adj" fmla="val 16667"/>
            </a:avLst>
          </a:prstGeom>
          <a:noFill/>
          <a:ln w="2857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89098" name="AutoShape 23"/>
          <p:cNvSpPr/>
          <p:nvPr/>
        </p:nvSpPr>
        <p:spPr>
          <a:xfrm rot="5400000">
            <a:off x="5653088" y="3140075"/>
            <a:ext cx="935037" cy="360363"/>
          </a:xfrm>
          <a:prstGeom prst="roundRect">
            <a:avLst>
              <a:gd name="adj" fmla="val 16667"/>
            </a:avLst>
          </a:prstGeom>
          <a:noFill/>
          <a:ln w="2857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89099" name="AutoShape 24"/>
          <p:cNvSpPr/>
          <p:nvPr/>
        </p:nvSpPr>
        <p:spPr>
          <a:xfrm rot="5400000">
            <a:off x="6156325" y="4292600"/>
            <a:ext cx="935038" cy="360363"/>
          </a:xfrm>
          <a:prstGeom prst="roundRect">
            <a:avLst>
              <a:gd name="adj" fmla="val 16667"/>
            </a:avLst>
          </a:prstGeom>
          <a:noFill/>
          <a:ln w="2857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89100" name="AutoShape 25"/>
          <p:cNvSpPr/>
          <p:nvPr/>
        </p:nvSpPr>
        <p:spPr>
          <a:xfrm>
            <a:off x="5364163" y="4005263"/>
            <a:ext cx="935037" cy="360362"/>
          </a:xfrm>
          <a:prstGeom prst="roundRect">
            <a:avLst>
              <a:gd name="adj" fmla="val 16667"/>
            </a:avLst>
          </a:prstGeom>
          <a:noFill/>
          <a:ln w="2857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89101" name="AutoShape 26"/>
          <p:cNvSpPr/>
          <p:nvPr/>
        </p:nvSpPr>
        <p:spPr>
          <a:xfrm>
            <a:off x="6443663" y="3429000"/>
            <a:ext cx="935037" cy="360363"/>
          </a:xfrm>
          <a:prstGeom prst="roundRect">
            <a:avLst>
              <a:gd name="adj" fmla="val 16667"/>
            </a:avLst>
          </a:prstGeom>
          <a:noFill/>
          <a:ln w="2857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89102" name="AutoShape 27"/>
          <p:cNvSpPr/>
          <p:nvPr/>
        </p:nvSpPr>
        <p:spPr>
          <a:xfrm>
            <a:off x="2555875" y="3429000"/>
            <a:ext cx="936625" cy="1008063"/>
          </a:xfrm>
          <a:prstGeom prst="roundRect">
            <a:avLst>
              <a:gd name="adj" fmla="val 16667"/>
            </a:avLst>
          </a:prstGeom>
          <a:noFill/>
          <a:ln w="28575" cap="flat" cmpd="sng">
            <a:solidFill>
              <a:srgbClr val="0000CC"/>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4768"/>
                                        </p:tgtEl>
                                        <p:attrNameLst>
                                          <p:attrName>style.visibility</p:attrName>
                                        </p:attrNameLst>
                                      </p:cBhvr>
                                      <p:to>
                                        <p:strVal val="visible"/>
                                      </p:to>
                                    </p:set>
                                    <p:animEffect transition="in" filter="blinds(horizontal)">
                                      <p:cBhvr>
                                        <p:cTn id="7" dur="500"/>
                                        <p:tgtEl>
                                          <p:spTgt spid="747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68"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Text Box 6"/>
          <p:cNvSpPr txBox="1"/>
          <p:nvPr/>
        </p:nvSpPr>
        <p:spPr>
          <a:xfrm>
            <a:off x="1042988" y="804863"/>
            <a:ext cx="7467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latin typeface="Times New Roman" panose="02020603050405020304" pitchFamily="18" charset="0"/>
              </a:rPr>
              <a:t>4</a:t>
            </a:r>
            <a:r>
              <a:rPr lang="zh-CN" altLang="en-US" sz="2400" b="1" dirty="0">
                <a:latin typeface="Times New Roman" panose="02020603050405020304" pitchFamily="18" charset="0"/>
              </a:rPr>
              <a:t>、写出最简“与</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或”表达式。</a:t>
            </a:r>
            <a:endParaRPr lang="zh-CN" altLang="en-US" sz="2400" b="1" dirty="0">
              <a:latin typeface="Times New Roman" panose="02020603050405020304" pitchFamily="18" charset="0"/>
            </a:endParaRPr>
          </a:p>
        </p:txBody>
      </p:sp>
      <p:sp>
        <p:nvSpPr>
          <p:cNvPr id="75784" name="Rectangle 8"/>
          <p:cNvSpPr/>
          <p:nvPr/>
        </p:nvSpPr>
        <p:spPr>
          <a:xfrm>
            <a:off x="1042988" y="1484313"/>
            <a:ext cx="7127875" cy="11874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dirty="0">
                <a:solidFill>
                  <a:srgbClr val="FF0000"/>
                </a:solidFill>
                <a:latin typeface="楷体_GB2312" pitchFamily="49" charset="-122"/>
                <a:ea typeface="楷体_GB2312" pitchFamily="49" charset="-122"/>
              </a:rPr>
              <a:t>例</a:t>
            </a:r>
            <a:r>
              <a:rPr lang="en-US" altLang="zh-CN" sz="2400" b="1" dirty="0">
                <a:solidFill>
                  <a:srgbClr val="FF0000"/>
                </a:solidFill>
                <a:latin typeface="楷体_GB2312" pitchFamily="49" charset="-122"/>
                <a:ea typeface="楷体_GB2312" pitchFamily="49" charset="-122"/>
              </a:rPr>
              <a:t>2</a:t>
            </a:r>
            <a:r>
              <a:rPr lang="zh-CN" altLang="en-US" sz="2400" b="1" dirty="0">
                <a:solidFill>
                  <a:srgbClr val="FF0000"/>
                </a:solidFill>
                <a:latin typeface="楷体_GB2312" pitchFamily="49" charset="-122"/>
                <a:ea typeface="楷体_GB2312" pitchFamily="49" charset="-122"/>
              </a:rPr>
              <a:t>：</a:t>
            </a:r>
            <a:r>
              <a:rPr lang="zh-CN" altLang="en-US" sz="2400" b="1" dirty="0">
                <a:latin typeface="楷体_GB2312" pitchFamily="49" charset="-122"/>
                <a:ea typeface="楷体_GB2312" pitchFamily="49" charset="-122"/>
              </a:rPr>
              <a:t>试用图形化简法求逻辑函数</a:t>
            </a:r>
            <a:r>
              <a:rPr lang="en-US" altLang="zh-CN" sz="2400" b="1" dirty="0">
                <a:latin typeface="楷体_GB2312" pitchFamily="49" charset="-122"/>
                <a:ea typeface="楷体_GB2312" pitchFamily="49" charset="-122"/>
              </a:rPr>
              <a:t>F</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A</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B</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C</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D</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=∑m (1</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2</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4</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9</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10</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11</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13</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15</a:t>
            </a:r>
            <a:r>
              <a:rPr lang="zh-CN" altLang="en-US" sz="2400" b="1" dirty="0">
                <a:latin typeface="楷体_GB2312" pitchFamily="49" charset="-122"/>
                <a:ea typeface="楷体_GB2312" pitchFamily="49" charset="-122"/>
              </a:rPr>
              <a:t>）的最简与或表达式。</a:t>
            </a:r>
            <a:endParaRPr lang="zh-CN" altLang="en-US" sz="2400" b="1" dirty="0">
              <a:latin typeface="楷体_GB2312" pitchFamily="49" charset="-122"/>
              <a:ea typeface="楷体_GB2312" pitchFamily="49" charset="-122"/>
            </a:endParaRPr>
          </a:p>
        </p:txBody>
      </p:sp>
      <p:graphicFrame>
        <p:nvGraphicFramePr>
          <p:cNvPr id="75787" name="Object 11"/>
          <p:cNvGraphicFramePr>
            <a:graphicFrameLocks noChangeAspect="1"/>
          </p:cNvGraphicFramePr>
          <p:nvPr/>
        </p:nvGraphicFramePr>
        <p:xfrm>
          <a:off x="2771775" y="2781300"/>
          <a:ext cx="3463925" cy="3244850"/>
        </p:xfrm>
        <a:graphic>
          <a:graphicData uri="http://schemas.openxmlformats.org/presentationml/2006/ole">
            <mc:AlternateContent xmlns:mc="http://schemas.openxmlformats.org/markup-compatibility/2006">
              <mc:Choice xmlns:v="urn:schemas-microsoft-com:vml" Requires="v">
                <p:oleObj spid="_x0000_s3273" name="" r:id="rId1" imgW="1811655" imgH="1701800" progId="Visio.Drawing.11">
                  <p:embed/>
                </p:oleObj>
              </mc:Choice>
              <mc:Fallback>
                <p:oleObj name="" r:id="rId1" imgW="1811655" imgH="1701800" progId="Visio.Drawing.11">
                  <p:embed/>
                  <p:pic>
                    <p:nvPicPr>
                      <p:cNvPr id="0" name="图片 3272"/>
                      <p:cNvPicPr/>
                      <p:nvPr/>
                    </p:nvPicPr>
                    <p:blipFill>
                      <a:blip r:embed="rId2"/>
                      <a:stretch>
                        <a:fillRect/>
                      </a:stretch>
                    </p:blipFill>
                    <p:spPr>
                      <a:xfrm>
                        <a:off x="2771775" y="2781300"/>
                        <a:ext cx="3463925" cy="3244850"/>
                      </a:xfrm>
                      <a:prstGeom prst="rect">
                        <a:avLst/>
                      </a:prstGeom>
                      <a:noFill/>
                      <a:ln w="38100">
                        <a:noFill/>
                        <a:miter/>
                      </a:ln>
                    </p:spPr>
                  </p:pic>
                </p:oleObj>
              </mc:Fallback>
            </mc:AlternateContent>
          </a:graphicData>
        </a:graphic>
      </p:graphicFrame>
      <p:grpSp>
        <p:nvGrpSpPr>
          <p:cNvPr id="75797" name="Group 21"/>
          <p:cNvGrpSpPr/>
          <p:nvPr/>
        </p:nvGrpSpPr>
        <p:grpSpPr>
          <a:xfrm>
            <a:off x="3851275" y="3644900"/>
            <a:ext cx="2233613" cy="2257425"/>
            <a:chOff x="2426" y="2296"/>
            <a:chExt cx="1407" cy="1422"/>
          </a:xfrm>
        </p:grpSpPr>
        <p:sp>
          <p:nvSpPr>
            <p:cNvPr id="90118" name="Text Box 12"/>
            <p:cNvSpPr txBox="1"/>
            <p:nvPr/>
          </p:nvSpPr>
          <p:spPr>
            <a:xfrm>
              <a:off x="3606" y="2296"/>
              <a:ext cx="22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t>1</a:t>
              </a:r>
              <a:endParaRPr lang="en-US" altLang="zh-CN" sz="2400" b="1" dirty="0"/>
            </a:p>
          </p:txBody>
        </p:sp>
        <p:sp>
          <p:nvSpPr>
            <p:cNvPr id="90119" name="Text Box 13"/>
            <p:cNvSpPr txBox="1"/>
            <p:nvPr/>
          </p:nvSpPr>
          <p:spPr>
            <a:xfrm>
              <a:off x="2835" y="2296"/>
              <a:ext cx="22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t>1</a:t>
              </a:r>
              <a:endParaRPr lang="en-US" altLang="zh-CN" sz="2400" b="1" dirty="0"/>
            </a:p>
          </p:txBody>
        </p:sp>
        <p:sp>
          <p:nvSpPr>
            <p:cNvPr id="90120" name="Text Box 14"/>
            <p:cNvSpPr txBox="1"/>
            <p:nvPr/>
          </p:nvSpPr>
          <p:spPr>
            <a:xfrm>
              <a:off x="2426" y="2659"/>
              <a:ext cx="22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t>1</a:t>
              </a:r>
              <a:endParaRPr lang="en-US" altLang="zh-CN" sz="2400" b="1" dirty="0"/>
            </a:p>
          </p:txBody>
        </p:sp>
        <p:sp>
          <p:nvSpPr>
            <p:cNvPr id="90121" name="Text Box 15"/>
            <p:cNvSpPr txBox="1"/>
            <p:nvPr/>
          </p:nvSpPr>
          <p:spPr>
            <a:xfrm>
              <a:off x="2835" y="3430"/>
              <a:ext cx="22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t>1</a:t>
              </a:r>
              <a:endParaRPr lang="en-US" altLang="zh-CN" sz="2400" b="1" dirty="0"/>
            </a:p>
          </p:txBody>
        </p:sp>
        <p:sp>
          <p:nvSpPr>
            <p:cNvPr id="90122" name="Text Box 16"/>
            <p:cNvSpPr txBox="1"/>
            <p:nvPr/>
          </p:nvSpPr>
          <p:spPr>
            <a:xfrm>
              <a:off x="3606" y="3430"/>
              <a:ext cx="22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t>1</a:t>
              </a:r>
              <a:endParaRPr lang="en-US" altLang="zh-CN" sz="2400" b="1" dirty="0"/>
            </a:p>
          </p:txBody>
        </p:sp>
        <p:sp>
          <p:nvSpPr>
            <p:cNvPr id="90123" name="Text Box 17"/>
            <p:cNvSpPr txBox="1"/>
            <p:nvPr/>
          </p:nvSpPr>
          <p:spPr>
            <a:xfrm>
              <a:off x="3198" y="3430"/>
              <a:ext cx="22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t>1</a:t>
              </a:r>
              <a:endParaRPr lang="en-US" altLang="zh-CN" sz="2400" b="1" dirty="0"/>
            </a:p>
          </p:txBody>
        </p:sp>
        <p:sp>
          <p:nvSpPr>
            <p:cNvPr id="90124" name="Text Box 18"/>
            <p:cNvSpPr txBox="1"/>
            <p:nvPr/>
          </p:nvSpPr>
          <p:spPr>
            <a:xfrm>
              <a:off x="2834" y="3067"/>
              <a:ext cx="22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t>1</a:t>
              </a:r>
              <a:endParaRPr lang="en-US" altLang="zh-CN" sz="2400" b="1" dirty="0"/>
            </a:p>
          </p:txBody>
        </p:sp>
        <p:sp>
          <p:nvSpPr>
            <p:cNvPr id="90125" name="Text Box 19"/>
            <p:cNvSpPr txBox="1"/>
            <p:nvPr/>
          </p:nvSpPr>
          <p:spPr>
            <a:xfrm>
              <a:off x="3198" y="3067"/>
              <a:ext cx="22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t>1</a:t>
              </a:r>
              <a:endParaRPr lang="en-US" altLang="zh-CN" sz="2400" b="1" dirty="0"/>
            </a:p>
          </p:txBody>
        </p:sp>
      </p:grpSp>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5784"/>
                                        </p:tgtEl>
                                        <p:attrNameLst>
                                          <p:attrName>style.visibility</p:attrName>
                                        </p:attrNameLst>
                                      </p:cBhvr>
                                      <p:to>
                                        <p:strVal val="visible"/>
                                      </p:to>
                                    </p:set>
                                    <p:animEffect transition="in" filter="blinds(horizontal)">
                                      <p:cBhvr>
                                        <p:cTn id="7" dur="500"/>
                                        <p:tgtEl>
                                          <p:spTgt spid="7578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5787"/>
                                        </p:tgtEl>
                                        <p:attrNameLst>
                                          <p:attrName>style.visibility</p:attrName>
                                        </p:attrNameLst>
                                      </p:cBhvr>
                                      <p:to>
                                        <p:strVal val="visible"/>
                                      </p:to>
                                    </p:set>
                                    <p:animEffect transition="in" filter="blinds(horizontal)">
                                      <p:cBhvr>
                                        <p:cTn id="12" dur="500"/>
                                        <p:tgtEl>
                                          <p:spTgt spid="7578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5797"/>
                                        </p:tgtEl>
                                        <p:attrNameLst>
                                          <p:attrName>style.visibility</p:attrName>
                                        </p:attrNameLst>
                                      </p:cBhvr>
                                      <p:to>
                                        <p:strVal val="visible"/>
                                      </p:to>
                                    </p:set>
                                    <p:animEffect transition="in" filter="blinds(horizontal)">
                                      <p:cBhvr>
                                        <p:cTn id="17" dur="500"/>
                                        <p:tgtEl>
                                          <p:spTgt spid="757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4"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Text Box 7"/>
          <p:cNvSpPr txBox="1"/>
          <p:nvPr/>
        </p:nvSpPr>
        <p:spPr>
          <a:xfrm>
            <a:off x="755650" y="836613"/>
            <a:ext cx="7543800" cy="100488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dirty="0">
                <a:solidFill>
                  <a:srgbClr val="FF0000"/>
                </a:solidFill>
                <a:latin typeface="楷体_GB2312" pitchFamily="49" charset="-122"/>
                <a:ea typeface="楷体_GB2312" pitchFamily="49" charset="-122"/>
              </a:rPr>
              <a:t>例</a:t>
            </a:r>
            <a:r>
              <a:rPr lang="en-US" altLang="zh-CN" sz="2400" b="1" dirty="0">
                <a:solidFill>
                  <a:srgbClr val="FF0000"/>
                </a:solidFill>
                <a:latin typeface="楷体_GB2312" pitchFamily="49" charset="-122"/>
                <a:ea typeface="楷体_GB2312" pitchFamily="49" charset="-122"/>
              </a:rPr>
              <a:t>3</a:t>
            </a:r>
            <a:r>
              <a:rPr lang="zh-CN" altLang="en-US" sz="2400" b="1" dirty="0">
                <a:solidFill>
                  <a:srgbClr val="FF0000"/>
                </a:solidFill>
                <a:latin typeface="楷体_GB2312" pitchFamily="49" charset="-122"/>
                <a:ea typeface="楷体_GB2312" pitchFamily="49" charset="-122"/>
              </a:rPr>
              <a:t>：</a:t>
            </a:r>
            <a:r>
              <a:rPr lang="zh-CN" altLang="en-US" sz="2400" b="1" dirty="0">
                <a:latin typeface="楷体_GB2312" pitchFamily="49" charset="-122"/>
                <a:ea typeface="楷体_GB2312" pitchFamily="49" charset="-122"/>
              </a:rPr>
              <a:t>用卡诺图化简函数</a:t>
            </a:r>
            <a:endParaRPr lang="zh-CN" altLang="en-US" sz="2400" b="1" dirty="0">
              <a:latin typeface="楷体_GB2312" pitchFamily="49" charset="-122"/>
              <a:ea typeface="楷体_GB2312" pitchFamily="49" charset="-122"/>
            </a:endParaRPr>
          </a:p>
          <a:p>
            <a:pPr marL="0" lvl="0" indent="0" eaLnBrk="1" hangingPunct="1">
              <a:spcBef>
                <a:spcPct val="50000"/>
              </a:spcBef>
              <a:buNone/>
            </a:pPr>
            <a:r>
              <a:rPr lang="zh-CN" altLang="en-US" sz="2400" b="1" dirty="0">
                <a:latin typeface="Times New Roman" panose="02020603050405020304" pitchFamily="18" charset="0"/>
              </a:rPr>
              <a:t>                 </a:t>
            </a:r>
            <a:r>
              <a:rPr lang="en-US" altLang="zh-CN" sz="2400" b="1" dirty="0">
                <a:latin typeface="楷体_GB2312" pitchFamily="49" charset="-122"/>
                <a:ea typeface="楷体_GB2312" pitchFamily="49" charset="-122"/>
              </a:rPr>
              <a:t>Y= ∑m (1</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3</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6</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7</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14</a:t>
            </a:r>
            <a:r>
              <a:rPr lang="zh-CN" altLang="en-US" sz="2400" b="1" dirty="0">
                <a:latin typeface="楷体_GB2312" pitchFamily="49" charset="-122"/>
                <a:ea typeface="楷体_GB2312" pitchFamily="49" charset="-122"/>
              </a:rPr>
              <a:t>）</a:t>
            </a:r>
            <a:endParaRPr lang="zh-CN" altLang="en-US" sz="2400" b="1" dirty="0">
              <a:latin typeface="楷体_GB2312" pitchFamily="49" charset="-122"/>
              <a:ea typeface="楷体_GB2312" pitchFamily="49" charset="-122"/>
            </a:endParaRPr>
          </a:p>
        </p:txBody>
      </p:sp>
      <p:sp>
        <p:nvSpPr>
          <p:cNvPr id="85001" name="Rectangle 9"/>
          <p:cNvSpPr/>
          <p:nvPr/>
        </p:nvSpPr>
        <p:spPr>
          <a:xfrm>
            <a:off x="1163638" y="5780088"/>
            <a:ext cx="65849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dirty="0">
                <a:solidFill>
                  <a:schemeClr val="accent2"/>
                </a:solidFill>
                <a:latin typeface="Times New Roman" panose="02020603050405020304" pitchFamily="18" charset="0"/>
                <a:ea typeface="黑体" panose="02010609060101010101" pitchFamily="49" charset="-122"/>
              </a:rPr>
              <a:t>注：卡诺图化简得到的最简与或式不一定唯一。</a:t>
            </a:r>
            <a:endParaRPr lang="zh-CN" altLang="en-US" sz="2400" b="1" dirty="0">
              <a:solidFill>
                <a:schemeClr val="accent2"/>
              </a:solidFill>
              <a:latin typeface="Times New Roman" panose="02020603050405020304" pitchFamily="18" charset="0"/>
              <a:ea typeface="黑体" panose="02010609060101010101" pitchFamily="49" charset="-122"/>
            </a:endParaRPr>
          </a:p>
        </p:txBody>
      </p:sp>
      <p:graphicFrame>
        <p:nvGraphicFramePr>
          <p:cNvPr id="85002" name="Object 10"/>
          <p:cNvGraphicFramePr>
            <a:graphicFrameLocks noChangeAspect="1"/>
          </p:cNvGraphicFramePr>
          <p:nvPr/>
        </p:nvGraphicFramePr>
        <p:xfrm>
          <a:off x="2051050" y="5229225"/>
          <a:ext cx="3624263" cy="517525"/>
        </p:xfrm>
        <a:graphic>
          <a:graphicData uri="http://schemas.openxmlformats.org/presentationml/2006/ole">
            <mc:AlternateContent xmlns:mc="http://schemas.openxmlformats.org/markup-compatibility/2006">
              <mc:Choice xmlns:v="urn:schemas-microsoft-com:vml" Requires="v">
                <p:oleObj spid="_x0000_s3277" name="" r:id="rId1" imgW="1511300" imgH="215900" progId="Equation.3">
                  <p:embed/>
                </p:oleObj>
              </mc:Choice>
              <mc:Fallback>
                <p:oleObj name="" r:id="rId1" imgW="1511300" imgH="215900" progId="Equation.3">
                  <p:embed/>
                  <p:pic>
                    <p:nvPicPr>
                      <p:cNvPr id="0" name="图片 3276"/>
                      <p:cNvPicPr/>
                      <p:nvPr/>
                    </p:nvPicPr>
                    <p:blipFill>
                      <a:blip r:embed="rId2"/>
                      <a:stretch>
                        <a:fillRect/>
                      </a:stretch>
                    </p:blipFill>
                    <p:spPr>
                      <a:xfrm>
                        <a:off x="2051050" y="5229225"/>
                        <a:ext cx="3624263" cy="517525"/>
                      </a:xfrm>
                      <a:prstGeom prst="rect">
                        <a:avLst/>
                      </a:prstGeom>
                      <a:noFill/>
                      <a:ln w="38100">
                        <a:noFill/>
                        <a:miter/>
                      </a:ln>
                    </p:spPr>
                  </p:pic>
                </p:oleObj>
              </mc:Fallback>
            </mc:AlternateContent>
          </a:graphicData>
        </a:graphic>
      </p:graphicFrame>
      <p:graphicFrame>
        <p:nvGraphicFramePr>
          <p:cNvPr id="91141" name="Object 11"/>
          <p:cNvGraphicFramePr>
            <a:graphicFrameLocks noChangeAspect="1"/>
          </p:cNvGraphicFramePr>
          <p:nvPr/>
        </p:nvGraphicFramePr>
        <p:xfrm>
          <a:off x="2339975" y="1773238"/>
          <a:ext cx="3311525" cy="3103562"/>
        </p:xfrm>
        <a:graphic>
          <a:graphicData uri="http://schemas.openxmlformats.org/presentationml/2006/ole">
            <mc:AlternateContent xmlns:mc="http://schemas.openxmlformats.org/markup-compatibility/2006">
              <mc:Choice xmlns:v="urn:schemas-microsoft-com:vml" Requires="v">
                <p:oleObj spid="_x0000_s3278" name="" r:id="rId3" imgW="1811655" imgH="1701800" progId="Visio.Drawing.11">
                  <p:embed/>
                </p:oleObj>
              </mc:Choice>
              <mc:Fallback>
                <p:oleObj name="" r:id="rId3" imgW="1811655" imgH="1701800" progId="Visio.Drawing.11">
                  <p:embed/>
                  <p:pic>
                    <p:nvPicPr>
                      <p:cNvPr id="0" name="图片 3277"/>
                      <p:cNvPicPr/>
                      <p:nvPr/>
                    </p:nvPicPr>
                    <p:blipFill>
                      <a:blip r:embed="rId4"/>
                      <a:stretch>
                        <a:fillRect/>
                      </a:stretch>
                    </p:blipFill>
                    <p:spPr>
                      <a:xfrm>
                        <a:off x="2339975" y="1773238"/>
                        <a:ext cx="3311525" cy="3103562"/>
                      </a:xfrm>
                      <a:prstGeom prst="rect">
                        <a:avLst/>
                      </a:prstGeom>
                      <a:noFill/>
                      <a:ln w="38100">
                        <a:noFill/>
                        <a:miter/>
                      </a:ln>
                    </p:spPr>
                  </p:pic>
                </p:oleObj>
              </mc:Fallback>
            </mc:AlternateContent>
          </a:graphicData>
        </a:graphic>
      </p:graphicFrame>
      <p:grpSp>
        <p:nvGrpSpPr>
          <p:cNvPr id="85013" name="Group 21"/>
          <p:cNvGrpSpPr/>
          <p:nvPr/>
        </p:nvGrpSpPr>
        <p:grpSpPr>
          <a:xfrm>
            <a:off x="3924300" y="2565400"/>
            <a:ext cx="1584325" cy="1681163"/>
            <a:chOff x="2472" y="1616"/>
            <a:chExt cx="998" cy="1059"/>
          </a:xfrm>
        </p:grpSpPr>
        <p:sp>
          <p:nvSpPr>
            <p:cNvPr id="91147" name="Text Box 13"/>
            <p:cNvSpPr txBox="1"/>
            <p:nvPr/>
          </p:nvSpPr>
          <p:spPr>
            <a:xfrm>
              <a:off x="3243" y="2387"/>
              <a:ext cx="22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t>1</a:t>
              </a:r>
              <a:endParaRPr lang="en-US" altLang="zh-CN" sz="2400" b="1" dirty="0"/>
            </a:p>
          </p:txBody>
        </p:sp>
        <p:sp>
          <p:nvSpPr>
            <p:cNvPr id="91148" name="Text Box 14"/>
            <p:cNvSpPr txBox="1"/>
            <p:nvPr/>
          </p:nvSpPr>
          <p:spPr>
            <a:xfrm>
              <a:off x="2472" y="1616"/>
              <a:ext cx="22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t>1</a:t>
              </a:r>
              <a:endParaRPr lang="en-US" altLang="zh-CN" sz="2400" b="1" dirty="0"/>
            </a:p>
          </p:txBody>
        </p:sp>
        <p:sp>
          <p:nvSpPr>
            <p:cNvPr id="91149" name="Text Box 15"/>
            <p:cNvSpPr txBox="1"/>
            <p:nvPr/>
          </p:nvSpPr>
          <p:spPr>
            <a:xfrm>
              <a:off x="2880" y="1616"/>
              <a:ext cx="22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t>1</a:t>
              </a:r>
              <a:endParaRPr lang="en-US" altLang="zh-CN" sz="2400" b="1" dirty="0"/>
            </a:p>
          </p:txBody>
        </p:sp>
        <p:sp>
          <p:nvSpPr>
            <p:cNvPr id="91150" name="Text Box 19"/>
            <p:cNvSpPr txBox="1"/>
            <p:nvPr/>
          </p:nvSpPr>
          <p:spPr>
            <a:xfrm>
              <a:off x="3243" y="1979"/>
              <a:ext cx="22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t>1</a:t>
              </a:r>
              <a:endParaRPr lang="en-US" altLang="zh-CN" sz="2400" b="1" dirty="0"/>
            </a:p>
          </p:txBody>
        </p:sp>
        <p:sp>
          <p:nvSpPr>
            <p:cNvPr id="91151" name="Text Box 20"/>
            <p:cNvSpPr txBox="1"/>
            <p:nvPr/>
          </p:nvSpPr>
          <p:spPr>
            <a:xfrm>
              <a:off x="2880" y="1979"/>
              <a:ext cx="22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t>1</a:t>
              </a:r>
              <a:endParaRPr lang="en-US" altLang="zh-CN" sz="2400" b="1" dirty="0"/>
            </a:p>
          </p:txBody>
        </p:sp>
      </p:grpSp>
      <p:sp>
        <p:nvSpPr>
          <p:cNvPr id="85015" name="AutoShape 23"/>
          <p:cNvSpPr/>
          <p:nvPr/>
        </p:nvSpPr>
        <p:spPr>
          <a:xfrm>
            <a:off x="3924300" y="2565400"/>
            <a:ext cx="1008063" cy="431800"/>
          </a:xfrm>
          <a:prstGeom prst="roundRect">
            <a:avLst>
              <a:gd name="adj" fmla="val 16667"/>
            </a:avLst>
          </a:prstGeom>
          <a:noFill/>
          <a:ln w="2857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85016" name="AutoShape 24"/>
          <p:cNvSpPr/>
          <p:nvPr/>
        </p:nvSpPr>
        <p:spPr>
          <a:xfrm>
            <a:off x="4500563" y="3141663"/>
            <a:ext cx="1008062" cy="431800"/>
          </a:xfrm>
          <a:prstGeom prst="roundRect">
            <a:avLst>
              <a:gd name="adj" fmla="val 16667"/>
            </a:avLst>
          </a:prstGeom>
          <a:noFill/>
          <a:ln w="2857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85017" name="AutoShape 25"/>
          <p:cNvSpPr/>
          <p:nvPr/>
        </p:nvSpPr>
        <p:spPr>
          <a:xfrm rot="-5400000">
            <a:off x="4859338" y="3500438"/>
            <a:ext cx="1008062" cy="431800"/>
          </a:xfrm>
          <a:prstGeom prst="roundRect">
            <a:avLst>
              <a:gd name="adj" fmla="val 16667"/>
            </a:avLst>
          </a:prstGeom>
          <a:noFill/>
          <a:ln w="2857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85018" name="AutoShape 26"/>
          <p:cNvSpPr/>
          <p:nvPr/>
        </p:nvSpPr>
        <p:spPr>
          <a:xfrm rot="-5400000">
            <a:off x="4211638" y="2924175"/>
            <a:ext cx="1008062" cy="431800"/>
          </a:xfrm>
          <a:prstGeom prst="roundRect">
            <a:avLst>
              <a:gd name="adj" fmla="val 16667"/>
            </a:avLst>
          </a:prstGeom>
          <a:noFill/>
          <a:ln w="28575" cap="flat" cmpd="sng">
            <a:solidFill>
              <a:srgbClr val="0000CC"/>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5013"/>
                                        </p:tgtEl>
                                        <p:attrNameLst>
                                          <p:attrName>style.visibility</p:attrName>
                                        </p:attrNameLst>
                                      </p:cBhvr>
                                      <p:to>
                                        <p:strVal val="visible"/>
                                      </p:to>
                                    </p:set>
                                    <p:animEffect transition="in" filter="blinds(horizontal)">
                                      <p:cBhvr>
                                        <p:cTn id="7" dur="500"/>
                                        <p:tgtEl>
                                          <p:spTgt spid="8501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5015"/>
                                        </p:tgtEl>
                                        <p:attrNameLst>
                                          <p:attrName>style.visibility</p:attrName>
                                        </p:attrNameLst>
                                      </p:cBhvr>
                                      <p:to>
                                        <p:strVal val="visible"/>
                                      </p:to>
                                    </p:set>
                                    <p:animEffect transition="in" filter="blinds(horizontal)">
                                      <p:cBhvr>
                                        <p:cTn id="12" dur="500"/>
                                        <p:tgtEl>
                                          <p:spTgt spid="8501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5016"/>
                                        </p:tgtEl>
                                        <p:attrNameLst>
                                          <p:attrName>style.visibility</p:attrName>
                                        </p:attrNameLst>
                                      </p:cBhvr>
                                      <p:to>
                                        <p:strVal val="visible"/>
                                      </p:to>
                                    </p:set>
                                    <p:animEffect transition="in" filter="blinds(horizontal)">
                                      <p:cBhvr>
                                        <p:cTn id="17" dur="500"/>
                                        <p:tgtEl>
                                          <p:spTgt spid="8501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5017"/>
                                        </p:tgtEl>
                                        <p:attrNameLst>
                                          <p:attrName>style.visibility</p:attrName>
                                        </p:attrNameLst>
                                      </p:cBhvr>
                                      <p:to>
                                        <p:strVal val="visible"/>
                                      </p:to>
                                    </p:set>
                                    <p:animEffect transition="in" filter="blinds(horizontal)">
                                      <p:cBhvr>
                                        <p:cTn id="22" dur="500"/>
                                        <p:tgtEl>
                                          <p:spTgt spid="8501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xit" presetSubtype="10" fill="hold" grpId="1" nodeType="clickEffect">
                                  <p:stCondLst>
                                    <p:cond delay="0"/>
                                  </p:stCondLst>
                                  <p:childTnLst>
                                    <p:animEffect transition="out" filter="blinds(horizontal)">
                                      <p:cBhvr>
                                        <p:cTn id="26" dur="500"/>
                                        <p:tgtEl>
                                          <p:spTgt spid="85016"/>
                                        </p:tgtEl>
                                      </p:cBhvr>
                                    </p:animEffect>
                                    <p:set>
                                      <p:cBhvr>
                                        <p:cTn id="27" dur="1" fill="hold">
                                          <p:stCondLst>
                                            <p:cond delay="499"/>
                                          </p:stCondLst>
                                        </p:cTn>
                                        <p:tgtEl>
                                          <p:spTgt spid="85016"/>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85018"/>
                                        </p:tgtEl>
                                        <p:attrNameLst>
                                          <p:attrName>style.visibility</p:attrName>
                                        </p:attrNameLst>
                                      </p:cBhvr>
                                      <p:to>
                                        <p:strVal val="visible"/>
                                      </p:to>
                                    </p:set>
                                    <p:animEffect transition="in" filter="blinds(horizontal)">
                                      <p:cBhvr>
                                        <p:cTn id="32" dur="500"/>
                                        <p:tgtEl>
                                          <p:spTgt spid="8501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85002"/>
                                        </p:tgtEl>
                                        <p:attrNameLst>
                                          <p:attrName>style.visibility</p:attrName>
                                        </p:attrNameLst>
                                      </p:cBhvr>
                                      <p:to>
                                        <p:strVal val="visible"/>
                                      </p:to>
                                    </p:set>
                                    <p:animEffect transition="in" filter="blinds(horizontal)">
                                      <p:cBhvr>
                                        <p:cTn id="37" dur="500"/>
                                        <p:tgtEl>
                                          <p:spTgt spid="85002"/>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85001"/>
                                        </p:tgtEl>
                                        <p:attrNameLst>
                                          <p:attrName>style.visibility</p:attrName>
                                        </p:attrNameLst>
                                      </p:cBhvr>
                                      <p:to>
                                        <p:strVal val="visible"/>
                                      </p:to>
                                    </p:set>
                                    <p:animEffect transition="in" filter="blinds(horizontal)">
                                      <p:cBhvr>
                                        <p:cTn id="42" dur="500"/>
                                        <p:tgtEl>
                                          <p:spTgt spid="850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01" grpId="0"/>
      <p:bldP spid="85015" grpId="0" animBg="1"/>
      <p:bldP spid="85016" grpId="0" animBg="1"/>
      <p:bldP spid="85016" grpId="1" animBg="1"/>
      <p:bldP spid="85017" grpId="0" animBg="1"/>
      <p:bldP spid="85018"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Text Box 7"/>
          <p:cNvSpPr txBox="1"/>
          <p:nvPr/>
        </p:nvSpPr>
        <p:spPr>
          <a:xfrm>
            <a:off x="762000" y="1360488"/>
            <a:ext cx="7848600" cy="502126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dirty="0">
                <a:latin typeface="Times New Roman" panose="02020603050405020304" pitchFamily="18" charset="0"/>
              </a:rPr>
              <a:t>一、约束项、任意项和逻辑函数式中的无关项</a:t>
            </a:r>
            <a:endParaRPr lang="zh-CN" altLang="en-US" sz="2400" b="1" dirty="0">
              <a:latin typeface="Times New Roman" panose="02020603050405020304" pitchFamily="18" charset="0"/>
            </a:endParaRPr>
          </a:p>
          <a:p>
            <a:pPr marL="0" lvl="0" indent="0" eaLnBrk="1" hangingPunct="1">
              <a:spcBef>
                <a:spcPct val="50000"/>
              </a:spcBef>
              <a:buNone/>
            </a:pPr>
            <a:r>
              <a:rPr lang="zh-CN" altLang="en-US" sz="2400" b="1" dirty="0">
                <a:latin typeface="Times New Roman" panose="02020603050405020304" pitchFamily="18" charset="0"/>
              </a:rPr>
              <a:t>        </a:t>
            </a:r>
            <a:r>
              <a:rPr lang="zh-CN" altLang="en-US" sz="2400" b="1" dirty="0">
                <a:solidFill>
                  <a:schemeClr val="accent2"/>
                </a:solidFill>
                <a:latin typeface="Times New Roman" panose="02020603050405020304" pitchFamily="18" charset="0"/>
              </a:rPr>
              <a:t>约束项</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在某些情况下，输入变量的取值不是任意的。当限制某些输入变量的取值不能出现时，可以用它们对应的最小项恒等于</a:t>
            </a:r>
            <a:r>
              <a:rPr lang="en-US" altLang="zh-CN" sz="2400" b="1" dirty="0">
                <a:latin typeface="Times New Roman" panose="02020603050405020304" pitchFamily="18" charset="0"/>
              </a:rPr>
              <a:t>0</a:t>
            </a:r>
            <a:r>
              <a:rPr lang="zh-CN" altLang="en-US" sz="2400" b="1" dirty="0">
                <a:latin typeface="Times New Roman" panose="02020603050405020304" pitchFamily="18" charset="0"/>
              </a:rPr>
              <a:t>来表示。这些</a:t>
            </a:r>
            <a:r>
              <a:rPr lang="zh-CN" altLang="en-US" sz="2400" b="1" dirty="0">
                <a:solidFill>
                  <a:srgbClr val="FF0000"/>
                </a:solidFill>
                <a:latin typeface="Times New Roman" panose="02020603050405020304" pitchFamily="18" charset="0"/>
              </a:rPr>
              <a:t>恒等于</a:t>
            </a:r>
            <a:r>
              <a:rPr lang="en-US" altLang="zh-CN" sz="2400" b="1" dirty="0">
                <a:solidFill>
                  <a:srgbClr val="FF0000"/>
                </a:solidFill>
                <a:latin typeface="Times New Roman" panose="02020603050405020304" pitchFamily="18" charset="0"/>
              </a:rPr>
              <a:t>0</a:t>
            </a:r>
            <a:r>
              <a:rPr lang="zh-CN" altLang="en-US" sz="2400" b="1" dirty="0">
                <a:solidFill>
                  <a:srgbClr val="FF0000"/>
                </a:solidFill>
                <a:latin typeface="Times New Roman" panose="02020603050405020304" pitchFamily="18" charset="0"/>
              </a:rPr>
              <a:t>的最小项叫约束项</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a:p>
            <a:pPr marL="0" lvl="0" indent="0" eaLnBrk="1" hangingPunct="1">
              <a:spcBef>
                <a:spcPct val="50000"/>
              </a:spcBef>
              <a:buNone/>
            </a:pPr>
            <a:r>
              <a:rPr lang="zh-CN" altLang="en-US" sz="2400" b="1" dirty="0">
                <a:latin typeface="Times New Roman" panose="02020603050405020304" pitchFamily="18" charset="0"/>
              </a:rPr>
              <a:t>        </a:t>
            </a:r>
            <a:r>
              <a:rPr lang="zh-CN" altLang="en-US" sz="2400" b="1" dirty="0">
                <a:solidFill>
                  <a:schemeClr val="accent2"/>
                </a:solidFill>
                <a:latin typeface="Times New Roman" panose="02020603050405020304" pitchFamily="18" charset="0"/>
              </a:rPr>
              <a:t>任意项</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有时输入变量的某些取值是</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还是</a:t>
            </a:r>
            <a:r>
              <a:rPr lang="en-US" altLang="zh-CN" sz="2400" b="1" dirty="0">
                <a:latin typeface="Times New Roman" panose="02020603050405020304" pitchFamily="18" charset="0"/>
              </a:rPr>
              <a:t>0</a:t>
            </a:r>
            <a:r>
              <a:rPr lang="zh-CN" altLang="en-US" sz="2400" b="1" dirty="0">
                <a:latin typeface="Times New Roman" panose="02020603050405020304" pitchFamily="18" charset="0"/>
              </a:rPr>
              <a:t>皆可，并不影响电路的功能。</a:t>
            </a:r>
            <a:r>
              <a:rPr lang="zh-CN" altLang="en-US" sz="2400" b="1" dirty="0">
                <a:solidFill>
                  <a:srgbClr val="FF0000"/>
                </a:solidFill>
                <a:latin typeface="Times New Roman" panose="02020603050405020304" pitchFamily="18" charset="0"/>
              </a:rPr>
              <a:t>在这些变量取值下，其值等于</a:t>
            </a:r>
            <a:r>
              <a:rPr lang="en-US" altLang="zh-CN" sz="2400" b="1" dirty="0">
                <a:solidFill>
                  <a:srgbClr val="FF0000"/>
                </a:solidFill>
                <a:latin typeface="Times New Roman" panose="02020603050405020304" pitchFamily="18" charset="0"/>
              </a:rPr>
              <a:t>1</a:t>
            </a:r>
            <a:r>
              <a:rPr lang="zh-CN" altLang="en-US" sz="2400" b="1" dirty="0">
                <a:solidFill>
                  <a:srgbClr val="FF0000"/>
                </a:solidFill>
                <a:latin typeface="Times New Roman" panose="02020603050405020304" pitchFamily="18" charset="0"/>
              </a:rPr>
              <a:t>的那些最小项称为任意项</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a:p>
            <a:pPr marL="0" lvl="0" indent="0" eaLnBrk="1" hangingPunct="1">
              <a:spcBef>
                <a:spcPct val="50000"/>
              </a:spcBef>
              <a:buNone/>
            </a:pPr>
            <a:r>
              <a:rPr lang="zh-CN" altLang="en-US" sz="2400" b="1" dirty="0">
                <a:latin typeface="Times New Roman" panose="02020603050405020304" pitchFamily="18" charset="0"/>
              </a:rPr>
              <a:t>        </a:t>
            </a:r>
            <a:r>
              <a:rPr lang="zh-CN" altLang="en-US" sz="2400" b="1" dirty="0">
                <a:solidFill>
                  <a:schemeClr val="accent2"/>
                </a:solidFill>
                <a:latin typeface="Times New Roman" panose="02020603050405020304" pitchFamily="18" charset="0"/>
              </a:rPr>
              <a:t>无关项</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约束项和任意项统称为逻辑函数中的无关项。“无关”指是否将这些最小项写入逻辑函数式无关紧要，在卡诺图中用</a:t>
            </a:r>
            <a:r>
              <a:rPr lang="zh-CN" altLang="en-US" sz="2400" b="1" dirty="0">
                <a:solidFill>
                  <a:srgbClr val="FF0000"/>
                </a:solidFill>
                <a:latin typeface="Times New Roman" panose="02020603050405020304" pitchFamily="18" charset="0"/>
              </a:rPr>
              <a:t>“</a:t>
            </a:r>
            <a:r>
              <a:rPr lang="en-US" altLang="zh-CN" sz="2400" b="1" dirty="0">
                <a:solidFill>
                  <a:srgbClr val="FF0000"/>
                </a:solidFill>
                <a:latin typeface="Times New Roman" panose="02020603050405020304" pitchFamily="18" charset="0"/>
              </a:rPr>
              <a:t>×”</a:t>
            </a:r>
            <a:r>
              <a:rPr lang="zh-CN" altLang="en-US" sz="2400" b="1" dirty="0">
                <a:latin typeface="Times New Roman" panose="02020603050405020304" pitchFamily="18" charset="0"/>
              </a:rPr>
              <a:t>表示无关项。</a:t>
            </a:r>
            <a:r>
              <a:rPr lang="zh-CN" altLang="en-US" sz="2400" b="1" dirty="0">
                <a:solidFill>
                  <a:srgbClr val="FF0000"/>
                </a:solidFill>
                <a:latin typeface="Times New Roman" panose="02020603050405020304" pitchFamily="18" charset="0"/>
              </a:rPr>
              <a:t>在化简逻辑函数时，可认为它是</a:t>
            </a:r>
            <a:r>
              <a:rPr lang="en-US" altLang="zh-CN" sz="2400" b="1" dirty="0">
                <a:solidFill>
                  <a:srgbClr val="FF0000"/>
                </a:solidFill>
                <a:latin typeface="Times New Roman" panose="02020603050405020304" pitchFamily="18" charset="0"/>
              </a:rPr>
              <a:t>1</a:t>
            </a:r>
            <a:r>
              <a:rPr lang="zh-CN" altLang="en-US" sz="2400" b="1" dirty="0">
                <a:solidFill>
                  <a:srgbClr val="FF0000"/>
                </a:solidFill>
                <a:latin typeface="Times New Roman" panose="02020603050405020304" pitchFamily="18" charset="0"/>
              </a:rPr>
              <a:t>，也可认为它是</a:t>
            </a:r>
            <a:r>
              <a:rPr lang="en-US" altLang="zh-CN" sz="2400" b="1" dirty="0">
                <a:solidFill>
                  <a:srgbClr val="FF0000"/>
                </a:solidFill>
                <a:latin typeface="Times New Roman" panose="02020603050405020304" pitchFamily="18" charset="0"/>
              </a:rPr>
              <a:t>0</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p:txBody>
      </p:sp>
      <p:grpSp>
        <p:nvGrpSpPr>
          <p:cNvPr id="92163" name="Group 8"/>
          <p:cNvGrpSpPr/>
          <p:nvPr/>
        </p:nvGrpSpPr>
        <p:grpSpPr>
          <a:xfrm>
            <a:off x="684213" y="260350"/>
            <a:ext cx="6408737" cy="576263"/>
            <a:chOff x="975" y="436"/>
            <a:chExt cx="3810" cy="363"/>
          </a:xfrm>
        </p:grpSpPr>
        <p:sp>
          <p:nvSpPr>
            <p:cNvPr id="92164" name="AutoShape 4"/>
            <p:cNvSpPr/>
            <p:nvPr/>
          </p:nvSpPr>
          <p:spPr>
            <a:xfrm>
              <a:off x="975" y="436"/>
              <a:ext cx="3810" cy="363"/>
            </a:xfrm>
            <a:prstGeom prst="roundRect">
              <a:avLst>
                <a:gd name="adj" fmla="val 10889"/>
              </a:avLst>
            </a:prstGeom>
            <a:solidFill>
              <a:schemeClr val="accent1"/>
            </a:solidFill>
            <a:ln w="38100" cap="flat" cmpd="sng">
              <a:solidFill>
                <a:schemeClr val="tx1"/>
              </a:solidFill>
              <a:prstDash val="solid"/>
              <a:headEnd type="none" w="med" len="med"/>
              <a:tailEnd type="none" w="med" len="med"/>
            </a:ln>
            <a:effectLst>
              <a:outerShdw dist="135003" dir="2928844" algn="ctr" rotWithShape="0">
                <a:srgbClr val="000000">
                  <a:alpha val="50000"/>
                </a:srgbClr>
              </a:outerShdw>
            </a:effectLst>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en-US" sz="1800" dirty="0"/>
            </a:p>
          </p:txBody>
        </p:sp>
        <p:sp>
          <p:nvSpPr>
            <p:cNvPr id="92165" name="AutoShape 5"/>
            <p:cNvSpPr/>
            <p:nvPr/>
          </p:nvSpPr>
          <p:spPr>
            <a:xfrm>
              <a:off x="1156" y="436"/>
              <a:ext cx="635" cy="359"/>
            </a:xfrm>
            <a:prstGeom prst="roundRect">
              <a:avLst>
                <a:gd name="adj" fmla="val 11921"/>
              </a:avLst>
            </a:prstGeom>
            <a:gradFill rotWithShape="1">
              <a:gsLst>
                <a:gs pos="0">
                  <a:srgbClr val="0066CC"/>
                </a:gs>
                <a:gs pos="100000">
                  <a:srgbClr val="00478E"/>
                </a:gs>
              </a:gsLst>
              <a:lin ang="5400000" scaled="1"/>
              <a:tileRect/>
            </a:gradFill>
            <a:ln w="381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1800" dirty="0"/>
            </a:p>
          </p:txBody>
        </p:sp>
        <p:sp>
          <p:nvSpPr>
            <p:cNvPr id="27" name="Freeform 6"/>
            <p:cNvSpPr/>
            <p:nvPr/>
          </p:nvSpPr>
          <p:spPr bwMode="gray">
            <a:xfrm>
              <a:off x="1252" y="485"/>
              <a:ext cx="540" cy="216"/>
            </a:xfrm>
            <a:custGeom>
              <a:avLst/>
              <a:gdLst/>
              <a:ahLst/>
              <a:cxnLst>
                <a:cxn ang="0">
                  <a:pos x="118" y="0"/>
                </a:cxn>
                <a:cxn ang="0">
                  <a:pos x="0" y="118"/>
                </a:cxn>
                <a:cxn ang="0">
                  <a:pos x="0" y="589"/>
                </a:cxn>
                <a:cxn ang="0">
                  <a:pos x="161" y="174"/>
                </a:cxn>
                <a:cxn ang="0">
                  <a:pos x="589" y="0"/>
                </a:cxn>
                <a:cxn ang="0">
                  <a:pos x="118" y="0"/>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rgbClr val="0066CC">
                    <a:gamma/>
                    <a:tint val="54510"/>
                    <a:invGamma/>
                  </a:srgbClr>
                </a:gs>
                <a:gs pos="50000">
                  <a:srgbClr val="0066CC">
                    <a:alpha val="0"/>
                  </a:srgbClr>
                </a:gs>
                <a:gs pos="100000">
                  <a:srgbClr val="0066CC">
                    <a:gamma/>
                    <a:tint val="54510"/>
                    <a:invGamma/>
                  </a:srgbClr>
                </a:gs>
              </a:gsLst>
              <a:lin ang="2700000" scaled="1"/>
            </a:gradFill>
            <a:ln w="0">
              <a:noFill/>
              <a:prstDash val="solid"/>
              <a:round/>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8" name="Text Box 7"/>
            <p:cNvSpPr txBox="1">
              <a:spLocks noChangeArrowheads="1"/>
            </p:cNvSpPr>
            <p:nvPr/>
          </p:nvSpPr>
          <p:spPr bwMode="gray">
            <a:xfrm>
              <a:off x="1020" y="436"/>
              <a:ext cx="77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smtClean="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9</a:t>
              </a:r>
              <a:endParaRPr kumimoji="0" lang="en-US" altLang="zh-CN" sz="2800" b="0" i="0" u="none" strike="noStrike" kern="1200" cap="none" spc="0" normalizeH="0" baseline="0" noProof="0" dirty="0" smtClean="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2170" name="Text Box 8"/>
            <p:cNvSpPr txBox="1"/>
            <p:nvPr/>
          </p:nvSpPr>
          <p:spPr>
            <a:xfrm>
              <a:off x="1973" y="486"/>
              <a:ext cx="2721" cy="288"/>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zh-CN" altLang="en-US" sz="2400" b="1" dirty="0">
                  <a:solidFill>
                    <a:srgbClr val="FF0000"/>
                  </a:solidFill>
                  <a:ea typeface="华文新魏" panose="02010800040101010101" pitchFamily="2" charset="-122"/>
                </a:rPr>
                <a:t>具有无关项的逻辑函数及其化简</a:t>
              </a:r>
              <a:endParaRPr lang="zh-CN" altLang="en-US" sz="2400" b="1" dirty="0">
                <a:solidFill>
                  <a:srgbClr val="FF0000"/>
                </a:solidFill>
                <a:ea typeface="华文新魏" panose="02010800040101010101" pitchFamily="2" charset="-122"/>
              </a:endParaRPr>
            </a:p>
          </p:txBody>
        </p:sp>
      </p:grpSp>
    </p:spTree>
  </p:cSld>
  <p:clrMapOvr>
    <a:masterClrMapping/>
  </p:clrMapOvr>
  <p:transition spd="slow" advClick="0"/>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Text Box 6"/>
          <p:cNvSpPr txBox="1"/>
          <p:nvPr/>
        </p:nvSpPr>
        <p:spPr>
          <a:xfrm>
            <a:off x="762000" y="909638"/>
            <a:ext cx="7239000" cy="319563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dirty="0">
                <a:latin typeface="Times New Roman" panose="02020603050405020304" pitchFamily="18" charset="0"/>
              </a:rPr>
              <a:t>二、无关项在化简逻辑函数中的应用</a:t>
            </a:r>
            <a:endParaRPr lang="zh-CN" altLang="en-US" sz="2400" b="1" dirty="0">
              <a:latin typeface="Times New Roman" panose="02020603050405020304" pitchFamily="18" charset="0"/>
            </a:endParaRPr>
          </a:p>
          <a:p>
            <a:pPr marL="0" lvl="0" indent="0" eaLnBrk="1" hangingPunct="1">
              <a:spcBef>
                <a:spcPct val="50000"/>
              </a:spcBef>
              <a:buNone/>
            </a:pPr>
            <a:r>
              <a:rPr lang="zh-CN" altLang="en-US" sz="2400" b="1" dirty="0">
                <a:latin typeface="Times New Roman" panose="02020603050405020304" pitchFamily="18" charset="0"/>
              </a:rPr>
              <a:t>        化简具有无关项的逻辑函数时，如果能合理利用这些无关项，一般都可以得到更加简单的化简结果。</a:t>
            </a:r>
            <a:endParaRPr lang="zh-CN" altLang="en-US" sz="2400" b="1" dirty="0">
              <a:latin typeface="Times New Roman" panose="02020603050405020304" pitchFamily="18" charset="0"/>
            </a:endParaRPr>
          </a:p>
          <a:p>
            <a:pPr marL="0" lvl="0" indent="0" eaLnBrk="1" hangingPunct="1">
              <a:spcBef>
                <a:spcPct val="50000"/>
              </a:spcBef>
              <a:buNone/>
            </a:pPr>
            <a:r>
              <a:rPr lang="zh-CN" altLang="en-US" sz="2400" b="1" dirty="0">
                <a:latin typeface="Times New Roman" panose="02020603050405020304" pitchFamily="18" charset="0"/>
              </a:rPr>
              <a:t>         合并最小项时，究竟把卡诺图上的“</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作为</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还是</a:t>
            </a:r>
            <a:r>
              <a:rPr lang="en-US" altLang="zh-CN" sz="2400" b="1" dirty="0">
                <a:latin typeface="Times New Roman" panose="02020603050405020304" pitchFamily="18" charset="0"/>
              </a:rPr>
              <a:t>0</a:t>
            </a:r>
            <a:r>
              <a:rPr lang="zh-CN" altLang="en-US" sz="2400" b="1" dirty="0">
                <a:latin typeface="Times New Roman" panose="02020603050405020304" pitchFamily="18" charset="0"/>
              </a:rPr>
              <a:t>，应以得到的</a:t>
            </a:r>
            <a:r>
              <a:rPr lang="zh-CN" altLang="en-US" sz="2400" b="1" dirty="0">
                <a:solidFill>
                  <a:schemeClr val="accent2"/>
                </a:solidFill>
                <a:latin typeface="Times New Roman" panose="02020603050405020304" pitchFamily="18" charset="0"/>
              </a:rPr>
              <a:t>相邻最小项矩形组合最大</a:t>
            </a:r>
            <a:r>
              <a:rPr lang="zh-CN" altLang="en-US" sz="2400" b="1" dirty="0">
                <a:latin typeface="Times New Roman" panose="02020603050405020304" pitchFamily="18" charset="0"/>
              </a:rPr>
              <a:t>，</a:t>
            </a:r>
            <a:r>
              <a:rPr lang="zh-CN" altLang="en-US" sz="2400" b="1" dirty="0">
                <a:solidFill>
                  <a:schemeClr val="accent2"/>
                </a:solidFill>
                <a:latin typeface="Times New Roman" panose="02020603050405020304" pitchFamily="18" charset="0"/>
              </a:rPr>
              <a:t>而且矩形组合数目最小</a:t>
            </a:r>
            <a:r>
              <a:rPr lang="zh-CN" altLang="en-US" sz="2400" b="1" dirty="0">
                <a:latin typeface="Times New Roman" panose="02020603050405020304" pitchFamily="18" charset="0"/>
              </a:rPr>
              <a:t>为原则。</a:t>
            </a:r>
            <a:endParaRPr lang="zh-CN" altLang="en-US" sz="2400" b="1" dirty="0">
              <a:latin typeface="Times New Roman" panose="02020603050405020304" pitchFamily="18" charset="0"/>
            </a:endParaRPr>
          </a:p>
          <a:p>
            <a:pPr marL="0" lvl="0" indent="0" eaLnBrk="1" hangingPunct="1">
              <a:spcBef>
                <a:spcPct val="50000"/>
              </a:spcBef>
              <a:buNone/>
            </a:pPr>
            <a:r>
              <a:rPr lang="zh-CN" altLang="en-US" sz="2400" b="1" dirty="0">
                <a:latin typeface="Times New Roman" panose="02020603050405020304" pitchFamily="18" charset="0"/>
              </a:rPr>
              <a:t>         </a:t>
            </a:r>
            <a:r>
              <a:rPr lang="zh-CN" altLang="en-US" sz="2400" b="1" dirty="0">
                <a:solidFill>
                  <a:srgbClr val="FF0000"/>
                </a:solidFill>
                <a:latin typeface="Times New Roman" panose="02020603050405020304" pitchFamily="18" charset="0"/>
                <a:ea typeface="楷体_GB2312" pitchFamily="49" charset="-122"/>
              </a:rPr>
              <a:t>例：</a:t>
            </a:r>
            <a:r>
              <a:rPr lang="zh-CN" altLang="en-US" sz="2400" b="1" dirty="0">
                <a:latin typeface="Times New Roman" panose="02020603050405020304" pitchFamily="18" charset="0"/>
                <a:ea typeface="楷体_GB2312" pitchFamily="49" charset="-122"/>
              </a:rPr>
              <a:t>试化简逻辑函数</a:t>
            </a:r>
            <a:endParaRPr lang="zh-CN" altLang="en-US" sz="2400" b="1" dirty="0">
              <a:latin typeface="Times New Roman" panose="02020603050405020304" pitchFamily="18" charset="0"/>
              <a:ea typeface="楷体_GB2312" pitchFamily="49" charset="-122"/>
            </a:endParaRPr>
          </a:p>
        </p:txBody>
      </p:sp>
      <p:graphicFrame>
        <p:nvGraphicFramePr>
          <p:cNvPr id="93187" name="Object 7"/>
          <p:cNvGraphicFramePr>
            <a:graphicFrameLocks noChangeAspect="1"/>
          </p:cNvGraphicFramePr>
          <p:nvPr/>
        </p:nvGraphicFramePr>
        <p:xfrm>
          <a:off x="2627313" y="4292600"/>
          <a:ext cx="3889375" cy="477838"/>
        </p:xfrm>
        <a:graphic>
          <a:graphicData uri="http://schemas.openxmlformats.org/presentationml/2006/ole">
            <mc:AlternateContent xmlns:mc="http://schemas.openxmlformats.org/markup-compatibility/2006">
              <mc:Choice xmlns:v="urn:schemas-microsoft-com:vml" Requires="v">
                <p:oleObj spid="_x0000_s3276" name="" r:id="rId1" imgW="1752600" imgH="215900" progId="Equation.3">
                  <p:embed/>
                </p:oleObj>
              </mc:Choice>
              <mc:Fallback>
                <p:oleObj name="" r:id="rId1" imgW="1752600" imgH="215900" progId="Equation.3">
                  <p:embed/>
                  <p:pic>
                    <p:nvPicPr>
                      <p:cNvPr id="0" name="图片 3275"/>
                      <p:cNvPicPr/>
                      <p:nvPr/>
                    </p:nvPicPr>
                    <p:blipFill>
                      <a:blip r:embed="rId2"/>
                      <a:stretch>
                        <a:fillRect/>
                      </a:stretch>
                    </p:blipFill>
                    <p:spPr>
                      <a:xfrm>
                        <a:off x="2627313" y="4292600"/>
                        <a:ext cx="3889375" cy="477838"/>
                      </a:xfrm>
                      <a:prstGeom prst="rect">
                        <a:avLst/>
                      </a:prstGeom>
                      <a:noFill/>
                      <a:ln w="38100">
                        <a:noFill/>
                        <a:miter/>
                      </a:ln>
                    </p:spPr>
                  </p:pic>
                </p:oleObj>
              </mc:Fallback>
            </mc:AlternateContent>
          </a:graphicData>
        </a:graphic>
      </p:graphicFrame>
      <p:graphicFrame>
        <p:nvGraphicFramePr>
          <p:cNvPr id="93188" name="Object 8"/>
          <p:cNvGraphicFramePr>
            <a:graphicFrameLocks noChangeAspect="1"/>
          </p:cNvGraphicFramePr>
          <p:nvPr/>
        </p:nvGraphicFramePr>
        <p:xfrm>
          <a:off x="827088" y="5589588"/>
          <a:ext cx="7615237" cy="469900"/>
        </p:xfrm>
        <a:graphic>
          <a:graphicData uri="http://schemas.openxmlformats.org/presentationml/2006/ole">
            <mc:AlternateContent xmlns:mc="http://schemas.openxmlformats.org/markup-compatibility/2006">
              <mc:Choice xmlns:v="urn:schemas-microsoft-com:vml" Requires="v">
                <p:oleObj spid="_x0000_s3279" name="" r:id="rId3" imgW="3492500" imgH="215900" progId="Equation.3">
                  <p:embed/>
                </p:oleObj>
              </mc:Choice>
              <mc:Fallback>
                <p:oleObj name="" r:id="rId3" imgW="3492500" imgH="215900" progId="Equation.3">
                  <p:embed/>
                  <p:pic>
                    <p:nvPicPr>
                      <p:cNvPr id="0" name="图片 3278"/>
                      <p:cNvPicPr/>
                      <p:nvPr/>
                    </p:nvPicPr>
                    <p:blipFill>
                      <a:blip r:embed="rId4"/>
                      <a:stretch>
                        <a:fillRect/>
                      </a:stretch>
                    </p:blipFill>
                    <p:spPr>
                      <a:xfrm>
                        <a:off x="827088" y="5589588"/>
                        <a:ext cx="7615237" cy="469900"/>
                      </a:xfrm>
                      <a:prstGeom prst="rect">
                        <a:avLst/>
                      </a:prstGeom>
                      <a:noFill/>
                      <a:ln w="38100">
                        <a:noFill/>
                        <a:miter/>
                      </a:ln>
                    </p:spPr>
                  </p:pic>
                </p:oleObj>
              </mc:Fallback>
            </mc:AlternateContent>
          </a:graphicData>
        </a:graphic>
      </p:graphicFrame>
      <p:sp>
        <p:nvSpPr>
          <p:cNvPr id="93189" name="Rectangle 9"/>
          <p:cNvSpPr/>
          <p:nvPr/>
        </p:nvSpPr>
        <p:spPr>
          <a:xfrm>
            <a:off x="2124075" y="5013325"/>
            <a:ext cx="26352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dirty="0">
                <a:ea typeface="楷体_GB2312" pitchFamily="49" charset="-122"/>
              </a:rPr>
              <a:t>已知约束条件为：</a:t>
            </a:r>
            <a:endParaRPr lang="zh-CN" altLang="en-US" sz="2400" b="1" dirty="0">
              <a:ea typeface="楷体_GB2312" pitchFamily="49" charset="-122"/>
            </a:endParaRPr>
          </a:p>
        </p:txBody>
      </p:sp>
    </p:spTree>
  </p:cSld>
  <p:clrMapOvr>
    <a:masterClrMapping/>
  </p:clrMapOvr>
  <p:transition spd="slow" advClick="0"/>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94210" name="Object 10"/>
          <p:cNvGraphicFramePr>
            <a:graphicFrameLocks noChangeAspect="1"/>
          </p:cNvGraphicFramePr>
          <p:nvPr/>
        </p:nvGraphicFramePr>
        <p:xfrm>
          <a:off x="1979613" y="1125538"/>
          <a:ext cx="4392612" cy="4114800"/>
        </p:xfrm>
        <a:graphic>
          <a:graphicData uri="http://schemas.openxmlformats.org/presentationml/2006/ole">
            <mc:AlternateContent xmlns:mc="http://schemas.openxmlformats.org/markup-compatibility/2006">
              <mc:Choice xmlns:v="urn:schemas-microsoft-com:vml" Requires="v">
                <p:oleObj spid="_x0000_s3260" name="" r:id="rId1" imgW="1811655" imgH="1701800" progId="Visio.Drawing.11">
                  <p:embed/>
                </p:oleObj>
              </mc:Choice>
              <mc:Fallback>
                <p:oleObj name="" r:id="rId1" imgW="1811655" imgH="1701800" progId="Visio.Drawing.11">
                  <p:embed/>
                  <p:pic>
                    <p:nvPicPr>
                      <p:cNvPr id="0" name="图片 3259"/>
                      <p:cNvPicPr/>
                      <p:nvPr/>
                    </p:nvPicPr>
                    <p:blipFill>
                      <a:blip r:embed="rId2"/>
                      <a:stretch>
                        <a:fillRect/>
                      </a:stretch>
                    </p:blipFill>
                    <p:spPr>
                      <a:xfrm>
                        <a:off x="1979613" y="1125538"/>
                        <a:ext cx="4392612" cy="4114800"/>
                      </a:xfrm>
                      <a:prstGeom prst="rect">
                        <a:avLst/>
                      </a:prstGeom>
                      <a:noFill/>
                      <a:ln w="38100">
                        <a:noFill/>
                        <a:miter/>
                      </a:ln>
                    </p:spPr>
                  </p:pic>
                </p:oleObj>
              </mc:Fallback>
            </mc:AlternateContent>
          </a:graphicData>
        </a:graphic>
      </p:graphicFrame>
      <p:grpSp>
        <p:nvGrpSpPr>
          <p:cNvPr id="88079" name="Group 15"/>
          <p:cNvGrpSpPr/>
          <p:nvPr/>
        </p:nvGrpSpPr>
        <p:grpSpPr>
          <a:xfrm>
            <a:off x="3419475" y="2276475"/>
            <a:ext cx="2665413" cy="2762250"/>
            <a:chOff x="2154" y="1434"/>
            <a:chExt cx="1679" cy="1740"/>
          </a:xfrm>
        </p:grpSpPr>
        <p:sp>
          <p:nvSpPr>
            <p:cNvPr id="94225" name="Text Box 11"/>
            <p:cNvSpPr txBox="1"/>
            <p:nvPr/>
          </p:nvSpPr>
          <p:spPr>
            <a:xfrm>
              <a:off x="3606" y="1434"/>
              <a:ext cx="22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t>1</a:t>
              </a:r>
              <a:endParaRPr lang="en-US" altLang="zh-CN" sz="2400" b="1" dirty="0"/>
            </a:p>
          </p:txBody>
        </p:sp>
        <p:sp>
          <p:nvSpPr>
            <p:cNvPr id="94226" name="Text Box 12"/>
            <p:cNvSpPr txBox="1"/>
            <p:nvPr/>
          </p:nvSpPr>
          <p:spPr>
            <a:xfrm>
              <a:off x="2154" y="1933"/>
              <a:ext cx="22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t>1</a:t>
              </a:r>
              <a:endParaRPr lang="en-US" altLang="zh-CN" sz="2400" b="1" dirty="0"/>
            </a:p>
          </p:txBody>
        </p:sp>
        <p:sp>
          <p:nvSpPr>
            <p:cNvPr id="94227" name="Text Box 13"/>
            <p:cNvSpPr txBox="1"/>
            <p:nvPr/>
          </p:nvSpPr>
          <p:spPr>
            <a:xfrm>
              <a:off x="3606" y="1933"/>
              <a:ext cx="22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t>1</a:t>
              </a:r>
              <a:endParaRPr lang="en-US" altLang="zh-CN" sz="2400" b="1" dirty="0"/>
            </a:p>
          </p:txBody>
        </p:sp>
        <p:sp>
          <p:nvSpPr>
            <p:cNvPr id="94228" name="Text Box 14"/>
            <p:cNvSpPr txBox="1"/>
            <p:nvPr/>
          </p:nvSpPr>
          <p:spPr>
            <a:xfrm>
              <a:off x="2154" y="2886"/>
              <a:ext cx="22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t>1</a:t>
              </a:r>
              <a:endParaRPr lang="en-US" altLang="zh-CN" sz="2400" b="1" dirty="0"/>
            </a:p>
          </p:txBody>
        </p:sp>
      </p:grpSp>
      <p:grpSp>
        <p:nvGrpSpPr>
          <p:cNvPr id="88086" name="Group 22"/>
          <p:cNvGrpSpPr/>
          <p:nvPr/>
        </p:nvGrpSpPr>
        <p:grpSpPr>
          <a:xfrm>
            <a:off x="3419475" y="3789363"/>
            <a:ext cx="2665413" cy="1249362"/>
            <a:chOff x="2154" y="2387"/>
            <a:chExt cx="1679" cy="787"/>
          </a:xfrm>
        </p:grpSpPr>
        <p:sp>
          <p:nvSpPr>
            <p:cNvPr id="94219" name="Text Box 16"/>
            <p:cNvSpPr txBox="1"/>
            <p:nvPr/>
          </p:nvSpPr>
          <p:spPr>
            <a:xfrm>
              <a:off x="3606" y="2886"/>
              <a:ext cx="22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solidFill>
                    <a:srgbClr val="0000CC"/>
                  </a:solidFill>
                </a:rPr>
                <a:t>x</a:t>
              </a:r>
              <a:endParaRPr lang="en-US" altLang="zh-CN" sz="2400" b="1" dirty="0">
                <a:solidFill>
                  <a:srgbClr val="0000CC"/>
                </a:solidFill>
              </a:endParaRPr>
            </a:p>
          </p:txBody>
        </p:sp>
        <p:sp>
          <p:nvSpPr>
            <p:cNvPr id="94220" name="Text Box 17"/>
            <p:cNvSpPr txBox="1"/>
            <p:nvPr/>
          </p:nvSpPr>
          <p:spPr>
            <a:xfrm>
              <a:off x="3152" y="2886"/>
              <a:ext cx="22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solidFill>
                    <a:srgbClr val="0000CC"/>
                  </a:solidFill>
                </a:rPr>
                <a:t>x</a:t>
              </a:r>
              <a:endParaRPr lang="en-US" altLang="zh-CN" sz="2400" b="1" dirty="0">
                <a:solidFill>
                  <a:srgbClr val="0000CC"/>
                </a:solidFill>
              </a:endParaRPr>
            </a:p>
          </p:txBody>
        </p:sp>
        <p:sp>
          <p:nvSpPr>
            <p:cNvPr id="94221" name="Text Box 18"/>
            <p:cNvSpPr txBox="1"/>
            <p:nvPr/>
          </p:nvSpPr>
          <p:spPr>
            <a:xfrm>
              <a:off x="2154" y="2387"/>
              <a:ext cx="22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solidFill>
                    <a:srgbClr val="0000CC"/>
                  </a:solidFill>
                </a:rPr>
                <a:t>x</a:t>
              </a:r>
              <a:endParaRPr lang="en-US" altLang="zh-CN" sz="2400" b="1" dirty="0">
                <a:solidFill>
                  <a:srgbClr val="0000CC"/>
                </a:solidFill>
              </a:endParaRPr>
            </a:p>
          </p:txBody>
        </p:sp>
        <p:sp>
          <p:nvSpPr>
            <p:cNvPr id="94222" name="Text Box 19"/>
            <p:cNvSpPr txBox="1"/>
            <p:nvPr/>
          </p:nvSpPr>
          <p:spPr>
            <a:xfrm>
              <a:off x="2653" y="2387"/>
              <a:ext cx="22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solidFill>
                    <a:srgbClr val="0000CC"/>
                  </a:solidFill>
                </a:rPr>
                <a:t>x</a:t>
              </a:r>
              <a:endParaRPr lang="en-US" altLang="zh-CN" sz="2400" b="1" dirty="0">
                <a:solidFill>
                  <a:srgbClr val="0000CC"/>
                </a:solidFill>
              </a:endParaRPr>
            </a:p>
          </p:txBody>
        </p:sp>
        <p:sp>
          <p:nvSpPr>
            <p:cNvPr id="94223" name="Text Box 20"/>
            <p:cNvSpPr txBox="1"/>
            <p:nvPr/>
          </p:nvSpPr>
          <p:spPr>
            <a:xfrm>
              <a:off x="3606" y="2387"/>
              <a:ext cx="22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solidFill>
                    <a:srgbClr val="0000CC"/>
                  </a:solidFill>
                </a:rPr>
                <a:t>x</a:t>
              </a:r>
              <a:endParaRPr lang="en-US" altLang="zh-CN" sz="2400" b="1" dirty="0">
                <a:solidFill>
                  <a:srgbClr val="0000CC"/>
                </a:solidFill>
              </a:endParaRPr>
            </a:p>
          </p:txBody>
        </p:sp>
        <p:sp>
          <p:nvSpPr>
            <p:cNvPr id="94224" name="Text Box 21"/>
            <p:cNvSpPr txBox="1"/>
            <p:nvPr/>
          </p:nvSpPr>
          <p:spPr>
            <a:xfrm>
              <a:off x="3152" y="2387"/>
              <a:ext cx="22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solidFill>
                    <a:srgbClr val="0000CC"/>
                  </a:solidFill>
                </a:rPr>
                <a:t>x</a:t>
              </a:r>
              <a:endParaRPr lang="en-US" altLang="zh-CN" sz="2400" b="1" dirty="0">
                <a:solidFill>
                  <a:srgbClr val="0000CC"/>
                </a:solidFill>
              </a:endParaRPr>
            </a:p>
          </p:txBody>
        </p:sp>
      </p:grpSp>
      <p:grpSp>
        <p:nvGrpSpPr>
          <p:cNvPr id="88092" name="Group 28"/>
          <p:cNvGrpSpPr/>
          <p:nvPr/>
        </p:nvGrpSpPr>
        <p:grpSpPr>
          <a:xfrm>
            <a:off x="2987675" y="2133600"/>
            <a:ext cx="3600450" cy="2951163"/>
            <a:chOff x="1882" y="1344"/>
            <a:chExt cx="2268" cy="1859"/>
          </a:xfrm>
        </p:grpSpPr>
        <p:sp>
          <p:nvSpPr>
            <p:cNvPr id="94214" name="AutoShape 23"/>
            <p:cNvSpPr/>
            <p:nvPr/>
          </p:nvSpPr>
          <p:spPr>
            <a:xfrm>
              <a:off x="3560" y="1344"/>
              <a:ext cx="318" cy="1859"/>
            </a:xfrm>
            <a:prstGeom prst="roundRect">
              <a:avLst>
                <a:gd name="adj" fmla="val 16667"/>
              </a:avLst>
            </a:prstGeom>
            <a:noFill/>
            <a:ln w="2857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94215" name="AutoShape 24"/>
            <p:cNvSpPr/>
            <p:nvPr/>
          </p:nvSpPr>
          <p:spPr>
            <a:xfrm>
              <a:off x="3606" y="1933"/>
              <a:ext cx="499" cy="771"/>
            </a:xfrm>
            <a:prstGeom prst="leftBracket">
              <a:avLst>
                <a:gd name="adj" fmla="val 12875"/>
              </a:avLst>
            </a:prstGeom>
            <a:noFill/>
            <a:ln w="28575" cap="flat" cmpd="sng">
              <a:solidFill>
                <a:srgbClr val="0000CC"/>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94216" name="AutoShape 25"/>
            <p:cNvSpPr/>
            <p:nvPr/>
          </p:nvSpPr>
          <p:spPr>
            <a:xfrm>
              <a:off x="3651" y="2387"/>
              <a:ext cx="499" cy="771"/>
            </a:xfrm>
            <a:prstGeom prst="leftBracket">
              <a:avLst>
                <a:gd name="adj" fmla="val 12875"/>
              </a:avLst>
            </a:prstGeom>
            <a:noFill/>
            <a:ln w="28575" cap="flat" cmpd="sng">
              <a:solidFill>
                <a:srgbClr val="CC0099"/>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94217" name="AutoShape 26"/>
            <p:cNvSpPr/>
            <p:nvPr/>
          </p:nvSpPr>
          <p:spPr>
            <a:xfrm rot="10800000">
              <a:off x="1927" y="1933"/>
              <a:ext cx="499" cy="771"/>
            </a:xfrm>
            <a:prstGeom prst="leftBracket">
              <a:avLst>
                <a:gd name="adj" fmla="val 12875"/>
              </a:avLst>
            </a:prstGeom>
            <a:noFill/>
            <a:ln w="28575" cap="flat" cmpd="sng">
              <a:solidFill>
                <a:srgbClr val="0000CC"/>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94218" name="AutoShape 27"/>
            <p:cNvSpPr/>
            <p:nvPr/>
          </p:nvSpPr>
          <p:spPr>
            <a:xfrm rot="10800000">
              <a:off x="1882" y="2432"/>
              <a:ext cx="499" cy="771"/>
            </a:xfrm>
            <a:prstGeom prst="leftBracket">
              <a:avLst>
                <a:gd name="adj" fmla="val 12875"/>
              </a:avLst>
            </a:prstGeom>
            <a:noFill/>
            <a:ln w="28575" cap="flat" cmpd="sng">
              <a:solidFill>
                <a:srgbClr val="CC0099"/>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grpSp>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8079"/>
                                        </p:tgtEl>
                                        <p:attrNameLst>
                                          <p:attrName>style.visibility</p:attrName>
                                        </p:attrNameLst>
                                      </p:cBhvr>
                                      <p:to>
                                        <p:strVal val="visible"/>
                                      </p:to>
                                    </p:set>
                                    <p:animEffect transition="in" filter="blinds(horizontal)">
                                      <p:cBhvr>
                                        <p:cTn id="7" dur="500"/>
                                        <p:tgtEl>
                                          <p:spTgt spid="8807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8086"/>
                                        </p:tgtEl>
                                        <p:attrNameLst>
                                          <p:attrName>style.visibility</p:attrName>
                                        </p:attrNameLst>
                                      </p:cBhvr>
                                      <p:to>
                                        <p:strVal val="visible"/>
                                      </p:to>
                                    </p:set>
                                    <p:animEffect transition="in" filter="blinds(horizontal)">
                                      <p:cBhvr>
                                        <p:cTn id="12" dur="500"/>
                                        <p:tgtEl>
                                          <p:spTgt spid="8808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8092"/>
                                        </p:tgtEl>
                                        <p:attrNameLst>
                                          <p:attrName>style.visibility</p:attrName>
                                        </p:attrNameLst>
                                      </p:cBhvr>
                                      <p:to>
                                        <p:strVal val="visible"/>
                                      </p:to>
                                    </p:set>
                                    <p:animEffect transition="in" filter="blinds(horizontal)">
                                      <p:cBhvr>
                                        <p:cTn id="17" dur="500"/>
                                        <p:tgtEl>
                                          <p:spTgt spid="880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Text Box 6"/>
          <p:cNvSpPr txBox="1"/>
          <p:nvPr/>
        </p:nvSpPr>
        <p:spPr>
          <a:xfrm>
            <a:off x="900113" y="836613"/>
            <a:ext cx="66294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dirty="0">
                <a:solidFill>
                  <a:srgbClr val="FF0000"/>
                </a:solidFill>
                <a:latin typeface="Times New Roman" panose="02020603050405020304" pitchFamily="18" charset="0"/>
              </a:rPr>
              <a:t>例：</a:t>
            </a:r>
            <a:r>
              <a:rPr lang="zh-CN" altLang="en-US" sz="2400" b="1" dirty="0">
                <a:latin typeface="Times New Roman" panose="02020603050405020304" pitchFamily="18" charset="0"/>
              </a:rPr>
              <a:t>试用卡诺图化简逻辑函数</a:t>
            </a:r>
            <a:endParaRPr lang="zh-CN" altLang="en-US" sz="2400" dirty="0">
              <a:latin typeface="Times New Roman" panose="02020603050405020304" pitchFamily="18" charset="0"/>
            </a:endParaRPr>
          </a:p>
        </p:txBody>
      </p:sp>
      <p:graphicFrame>
        <p:nvGraphicFramePr>
          <p:cNvPr id="95235" name="Object 9"/>
          <p:cNvGraphicFramePr>
            <a:graphicFrameLocks noChangeAspect="1"/>
          </p:cNvGraphicFramePr>
          <p:nvPr/>
        </p:nvGraphicFramePr>
        <p:xfrm>
          <a:off x="900113" y="1412875"/>
          <a:ext cx="7623175" cy="587375"/>
        </p:xfrm>
        <a:graphic>
          <a:graphicData uri="http://schemas.openxmlformats.org/presentationml/2006/ole">
            <mc:AlternateContent xmlns:mc="http://schemas.openxmlformats.org/markup-compatibility/2006">
              <mc:Choice xmlns:v="urn:schemas-microsoft-com:vml" Requires="v">
                <p:oleObj spid="_x0000_s3258" name="" r:id="rId1" imgW="3124200" imgH="266700" progId="Equation.3">
                  <p:embed/>
                </p:oleObj>
              </mc:Choice>
              <mc:Fallback>
                <p:oleObj name="" r:id="rId1" imgW="3124200" imgH="266700" progId="Equation.3">
                  <p:embed/>
                  <p:pic>
                    <p:nvPicPr>
                      <p:cNvPr id="0" name="图片 3257"/>
                      <p:cNvPicPr/>
                      <p:nvPr/>
                    </p:nvPicPr>
                    <p:blipFill>
                      <a:blip r:embed="rId2"/>
                      <a:stretch>
                        <a:fillRect/>
                      </a:stretch>
                    </p:blipFill>
                    <p:spPr>
                      <a:xfrm>
                        <a:off x="900113" y="1412875"/>
                        <a:ext cx="7623175" cy="587375"/>
                      </a:xfrm>
                      <a:prstGeom prst="rect">
                        <a:avLst/>
                      </a:prstGeom>
                      <a:noFill/>
                      <a:ln w="38100">
                        <a:noFill/>
                        <a:miter/>
                      </a:ln>
                    </p:spPr>
                  </p:pic>
                </p:oleObj>
              </mc:Fallback>
            </mc:AlternateContent>
          </a:graphicData>
        </a:graphic>
      </p:graphicFrame>
      <p:graphicFrame>
        <p:nvGraphicFramePr>
          <p:cNvPr id="95236" name="Object 10"/>
          <p:cNvGraphicFramePr>
            <a:graphicFrameLocks noChangeAspect="1"/>
          </p:cNvGraphicFramePr>
          <p:nvPr/>
        </p:nvGraphicFramePr>
        <p:xfrm>
          <a:off x="2268538" y="2205038"/>
          <a:ext cx="3744912" cy="3421062"/>
        </p:xfrm>
        <a:graphic>
          <a:graphicData uri="http://schemas.openxmlformats.org/presentationml/2006/ole">
            <mc:AlternateContent xmlns:mc="http://schemas.openxmlformats.org/markup-compatibility/2006">
              <mc:Choice xmlns:v="urn:schemas-microsoft-com:vml" Requires="v">
                <p:oleObj spid="_x0000_s3259" name="" r:id="rId3" imgW="1862455" imgH="1701800" progId="Visio.Drawing.11">
                  <p:embed/>
                </p:oleObj>
              </mc:Choice>
              <mc:Fallback>
                <p:oleObj name="" r:id="rId3" imgW="1862455" imgH="1701800" progId="Visio.Drawing.11">
                  <p:embed/>
                  <p:pic>
                    <p:nvPicPr>
                      <p:cNvPr id="0" name="图片 3258"/>
                      <p:cNvPicPr/>
                      <p:nvPr/>
                    </p:nvPicPr>
                    <p:blipFill>
                      <a:blip r:embed="rId4"/>
                      <a:stretch>
                        <a:fillRect/>
                      </a:stretch>
                    </p:blipFill>
                    <p:spPr>
                      <a:xfrm>
                        <a:off x="2268538" y="2205038"/>
                        <a:ext cx="3744912" cy="3421062"/>
                      </a:xfrm>
                      <a:prstGeom prst="rect">
                        <a:avLst/>
                      </a:prstGeom>
                      <a:noFill/>
                      <a:ln w="38100">
                        <a:noFill/>
                        <a:miter/>
                      </a:ln>
                    </p:spPr>
                  </p:pic>
                </p:oleObj>
              </mc:Fallback>
            </mc:AlternateContent>
          </a:graphicData>
        </a:graphic>
      </p:graphicFrame>
      <p:sp>
        <p:nvSpPr>
          <p:cNvPr id="78859" name="AutoShape 11"/>
          <p:cNvSpPr/>
          <p:nvPr/>
        </p:nvSpPr>
        <p:spPr>
          <a:xfrm>
            <a:off x="3492500" y="3068638"/>
            <a:ext cx="2374900" cy="504825"/>
          </a:xfrm>
          <a:prstGeom prst="roundRect">
            <a:avLst>
              <a:gd name="adj" fmla="val 16667"/>
            </a:avLst>
          </a:prstGeom>
          <a:noFill/>
          <a:ln w="2857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78860" name="AutoShape 12"/>
          <p:cNvSpPr/>
          <p:nvPr/>
        </p:nvSpPr>
        <p:spPr>
          <a:xfrm rot="-5400000">
            <a:off x="3852863" y="4076700"/>
            <a:ext cx="2374900" cy="504825"/>
          </a:xfrm>
          <a:prstGeom prst="roundRect">
            <a:avLst>
              <a:gd name="adj" fmla="val 16667"/>
            </a:avLst>
          </a:prstGeom>
          <a:noFill/>
          <a:ln w="2857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78861" name="AutoShape 13"/>
          <p:cNvSpPr/>
          <p:nvPr/>
        </p:nvSpPr>
        <p:spPr>
          <a:xfrm>
            <a:off x="4140200" y="3141663"/>
            <a:ext cx="1008063" cy="1008062"/>
          </a:xfrm>
          <a:prstGeom prst="roundRect">
            <a:avLst>
              <a:gd name="adj" fmla="val 16667"/>
            </a:avLst>
          </a:prstGeom>
          <a:noFill/>
          <a:ln w="28575" cap="flat" cmpd="sng">
            <a:solidFill>
              <a:srgbClr val="0000CC"/>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8859"/>
                                        </p:tgtEl>
                                        <p:attrNameLst>
                                          <p:attrName>style.visibility</p:attrName>
                                        </p:attrNameLst>
                                      </p:cBhvr>
                                      <p:to>
                                        <p:strVal val="visible"/>
                                      </p:to>
                                    </p:set>
                                    <p:animEffect transition="in" filter="blinds(horizontal)">
                                      <p:cBhvr>
                                        <p:cTn id="7" dur="500"/>
                                        <p:tgtEl>
                                          <p:spTgt spid="7885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8860"/>
                                        </p:tgtEl>
                                        <p:attrNameLst>
                                          <p:attrName>style.visibility</p:attrName>
                                        </p:attrNameLst>
                                      </p:cBhvr>
                                      <p:to>
                                        <p:strVal val="visible"/>
                                      </p:to>
                                    </p:set>
                                    <p:animEffect transition="in" filter="blinds(horizontal)">
                                      <p:cBhvr>
                                        <p:cTn id="12" dur="500"/>
                                        <p:tgtEl>
                                          <p:spTgt spid="7886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8861"/>
                                        </p:tgtEl>
                                        <p:attrNameLst>
                                          <p:attrName>style.visibility</p:attrName>
                                        </p:attrNameLst>
                                      </p:cBhvr>
                                      <p:to>
                                        <p:strVal val="visible"/>
                                      </p:to>
                                    </p:set>
                                    <p:animEffect transition="in" filter="blinds(horizontal)">
                                      <p:cBhvr>
                                        <p:cTn id="17" dur="500"/>
                                        <p:tgtEl>
                                          <p:spTgt spid="788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9" grpId="0" animBg="1"/>
      <p:bldP spid="78860" grpId="0" animBg="1"/>
      <p:bldP spid="78861"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24" name="Text Box 8"/>
          <p:cNvSpPr txBox="1"/>
          <p:nvPr/>
        </p:nvSpPr>
        <p:spPr>
          <a:xfrm>
            <a:off x="1187450" y="3068638"/>
            <a:ext cx="6624638" cy="15525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solidFill>
                  <a:schemeClr val="accent2"/>
                </a:solidFill>
                <a:latin typeface="Times New Roman" panose="02020603050405020304" pitchFamily="18" charset="0"/>
              </a:rPr>
              <a:t>         </a:t>
            </a:r>
            <a:r>
              <a:rPr lang="zh-CN" altLang="en-US" sz="2400" b="1" dirty="0">
                <a:solidFill>
                  <a:schemeClr val="accent2"/>
                </a:solidFill>
                <a:latin typeface="Times New Roman" panose="02020603050405020304" pitchFamily="18" charset="0"/>
              </a:rPr>
              <a:t>解答：</a:t>
            </a:r>
            <a:r>
              <a:rPr lang="zh-CN" altLang="en-US" sz="2400" b="1" dirty="0">
                <a:latin typeface="Times New Roman" panose="02020603050405020304" pitchFamily="18" charset="0"/>
              </a:rPr>
              <a:t>此例有两种解法，从原理而言，两种解法均正确，但就“最简”原则而言，只有一种解法最简单、最可取。因此，</a:t>
            </a:r>
            <a:r>
              <a:rPr lang="zh-CN" altLang="en-US" sz="2400" b="1" dirty="0">
                <a:solidFill>
                  <a:srgbClr val="FF0000"/>
                </a:solidFill>
                <a:latin typeface="Times New Roman" panose="02020603050405020304" pitchFamily="18" charset="0"/>
                <a:ea typeface="黑体" panose="02010609060101010101" pitchFamily="49" charset="-122"/>
              </a:rPr>
              <a:t>在考虑卡诺图化简不唯一性的同时，还应考虑“最简”原则</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p:txBody>
      </p:sp>
      <p:sp>
        <p:nvSpPr>
          <p:cNvPr id="96259" name="Text Box 10"/>
          <p:cNvSpPr txBox="1"/>
          <p:nvPr/>
        </p:nvSpPr>
        <p:spPr>
          <a:xfrm>
            <a:off x="1258888" y="1844675"/>
            <a:ext cx="5976937"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dirty="0">
                <a:solidFill>
                  <a:srgbClr val="0000CC"/>
                </a:solidFill>
                <a:latin typeface="Times New Roman" panose="02020603050405020304" pitchFamily="18" charset="0"/>
              </a:rPr>
              <a:t>思考：</a:t>
            </a:r>
            <a:r>
              <a:rPr lang="zh-CN" altLang="en-US" sz="2400" b="1" dirty="0">
                <a:latin typeface="Times New Roman" panose="02020603050405020304" pitchFamily="18" charset="0"/>
              </a:rPr>
              <a:t>由上例可得出什么结论和启示？</a:t>
            </a:r>
            <a:endParaRPr lang="zh-CN" altLang="en-US" sz="2400" b="1" dirty="0">
              <a:latin typeface="Times New Roman" panose="02020603050405020304" pitchFamily="18" charset="0"/>
            </a:endParaRPr>
          </a:p>
        </p:txBody>
      </p:sp>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6024"/>
                                        </p:tgtEl>
                                        <p:attrNameLst>
                                          <p:attrName>style.visibility</p:attrName>
                                        </p:attrNameLst>
                                      </p:cBhvr>
                                      <p:to>
                                        <p:strVal val="visible"/>
                                      </p:to>
                                    </p:set>
                                    <p:animEffect transition="in" filter="blinds(horizontal)">
                                      <p:cBhvr>
                                        <p:cTn id="7" dur="500"/>
                                        <p:tgtEl>
                                          <p:spTgt spid="860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4"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Text Box 6"/>
          <p:cNvSpPr txBox="1"/>
          <p:nvPr/>
        </p:nvSpPr>
        <p:spPr>
          <a:xfrm>
            <a:off x="611188" y="981075"/>
            <a:ext cx="7056437"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dirty="0">
                <a:solidFill>
                  <a:srgbClr val="0000CC"/>
                </a:solidFill>
                <a:latin typeface="Times New Roman" panose="02020603050405020304" pitchFamily="18" charset="0"/>
              </a:rPr>
              <a:t>思考</a:t>
            </a:r>
            <a:r>
              <a:rPr lang="en-US" altLang="zh-CN" sz="2400" b="1" dirty="0">
                <a:solidFill>
                  <a:srgbClr val="0000CC"/>
                </a:solidFill>
                <a:latin typeface="Times New Roman" panose="02020603050405020304" pitchFamily="18" charset="0"/>
              </a:rPr>
              <a:t>1</a:t>
            </a:r>
            <a:r>
              <a:rPr lang="zh-CN" altLang="en-US" sz="2400" b="1" dirty="0">
                <a:solidFill>
                  <a:srgbClr val="0000CC"/>
                </a:solidFill>
                <a:latin typeface="Times New Roman" panose="02020603050405020304" pitchFamily="18" charset="0"/>
              </a:rPr>
              <a:t>：</a:t>
            </a:r>
            <a:r>
              <a:rPr lang="zh-CN" altLang="en-US" sz="2400" b="1" dirty="0">
                <a:latin typeface="Times New Roman" panose="02020603050405020304" pitchFamily="18" charset="0"/>
              </a:rPr>
              <a:t>公式化简和卡诺图化简各有何优缺？</a:t>
            </a:r>
            <a:endParaRPr lang="zh-CN" altLang="en-US" sz="2400" b="1" dirty="0">
              <a:latin typeface="Times New Roman" panose="02020603050405020304" pitchFamily="18" charset="0"/>
            </a:endParaRPr>
          </a:p>
        </p:txBody>
      </p:sp>
      <p:graphicFrame>
        <p:nvGraphicFramePr>
          <p:cNvPr id="148487" name="Group 7"/>
          <p:cNvGraphicFramePr>
            <a:graphicFrameLocks noGrp="1"/>
          </p:cNvGraphicFramePr>
          <p:nvPr/>
        </p:nvGraphicFramePr>
        <p:xfrm>
          <a:off x="468313" y="1916113"/>
          <a:ext cx="8135938" cy="3744913"/>
        </p:xfrm>
        <a:graphic>
          <a:graphicData uri="http://schemas.openxmlformats.org/drawingml/2006/table">
            <a:tbl>
              <a:tblPr/>
              <a:tblGrid>
                <a:gridCol w="1446212"/>
                <a:gridCol w="2757488"/>
                <a:gridCol w="3932237"/>
              </a:tblGrid>
              <a:tr h="5048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dirty="0" smtClean="0">
                          <a:ln>
                            <a:noFill/>
                          </a:ln>
                          <a:solidFill>
                            <a:schemeClr val="tx1"/>
                          </a:solidFill>
                          <a:effectLst/>
                          <a:latin typeface="Arial" panose="020B0604020202020204" pitchFamily="34" charset="0"/>
                          <a:ea typeface="黑体" panose="02010609060101010101" pitchFamily="49" charset="-122"/>
                        </a:rPr>
                        <a:t>化简法</a:t>
                      </a:r>
                      <a:endParaRPr kumimoji="0" lang="zh-CN" altLang="en-US" sz="2400" b="1" i="0" u="none" strike="noStrike" cap="none" normalizeH="0" baseline="0" dirty="0" smtClean="0">
                        <a:ln>
                          <a:noFill/>
                        </a:ln>
                        <a:solidFill>
                          <a:schemeClr val="tx1"/>
                        </a:solidFill>
                        <a:effectLst/>
                        <a:latin typeface="Arial" panose="020B0604020202020204" pitchFamily="34" charset="0"/>
                        <a:ea typeface="黑体" panose="02010609060101010101" pitchFamily="49"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chemeClr val="tx1"/>
                          </a:solidFill>
                          <a:effectLst/>
                          <a:latin typeface="Arial" panose="020B0604020202020204" pitchFamily="34" charset="0"/>
                          <a:ea typeface="黑体" panose="02010609060101010101" pitchFamily="49" charset="-122"/>
                        </a:rPr>
                        <a:t>优点</a:t>
                      </a:r>
                      <a:endParaRPr kumimoji="0" lang="zh-CN" altLang="en-US" sz="2400" b="1" i="0" u="none" strike="noStrike" cap="none" normalizeH="0" baseline="0" smtClean="0">
                        <a:ln>
                          <a:noFill/>
                        </a:ln>
                        <a:solidFill>
                          <a:schemeClr val="tx1"/>
                        </a:solidFill>
                        <a:effectLst/>
                        <a:latin typeface="Arial" panose="020B0604020202020204" pitchFamily="34" charset="0"/>
                        <a:ea typeface="黑体"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chemeClr val="tx1"/>
                          </a:solidFill>
                          <a:effectLst/>
                          <a:latin typeface="Arial" panose="020B0604020202020204" pitchFamily="34" charset="0"/>
                          <a:ea typeface="黑体" panose="02010609060101010101" pitchFamily="49" charset="-122"/>
                        </a:rPr>
                        <a:t>缺点</a:t>
                      </a:r>
                      <a:endParaRPr kumimoji="0" lang="zh-CN" altLang="en-US" sz="2400" b="1" i="0" u="none" strike="noStrike" cap="none" normalizeH="0" baseline="0" smtClean="0">
                        <a:ln>
                          <a:noFill/>
                        </a:ln>
                        <a:solidFill>
                          <a:schemeClr val="tx1"/>
                        </a:solidFill>
                        <a:effectLst/>
                        <a:latin typeface="Arial" panose="020B0604020202020204" pitchFamily="34" charset="0"/>
                        <a:ea typeface="黑体"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r>
              <a:tr h="13557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chemeClr val="tx1"/>
                          </a:solidFill>
                          <a:effectLst/>
                          <a:latin typeface="Arial" panose="020B0604020202020204" pitchFamily="34" charset="0"/>
                          <a:ea typeface="黑体" panose="02010609060101010101" pitchFamily="49" charset="-122"/>
                        </a:rPr>
                        <a:t>公式法</a:t>
                      </a:r>
                      <a:endParaRPr kumimoji="0" lang="zh-CN" altLang="en-US" sz="2400" b="1" i="0" u="none" strike="noStrike" cap="none" normalizeH="0" baseline="0" smtClean="0">
                        <a:ln>
                          <a:noFill/>
                        </a:ln>
                        <a:solidFill>
                          <a:schemeClr val="tx1"/>
                        </a:solidFill>
                        <a:effectLst/>
                        <a:latin typeface="Arial" panose="020B0604020202020204" pitchFamily="34" charset="0"/>
                        <a:ea typeface="黑体" panose="02010609060101010101" pitchFamily="49"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rPr>
                        <a:t>化简不受输入变量数目的影响。</a:t>
                      </a:r>
                      <a:endParaRPr kumimoji="0" lang="zh-CN" altLang="en-US" sz="2400" b="1"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chemeClr val="tx1"/>
                          </a:solidFill>
                          <a:effectLst/>
                          <a:latin typeface="楷体" panose="02010609060101010101" pitchFamily="49" charset="-122"/>
                          <a:ea typeface="楷体" panose="02010609060101010101" pitchFamily="49" charset="-122"/>
                        </a:rPr>
                        <a:t>化简过程没有固定的、通用的步骤可循，不适用于计算机辅助化简。</a:t>
                      </a:r>
                      <a:endParaRPr kumimoji="0" lang="zh-CN" altLang="en-US" sz="2400" b="1" i="0" u="none" strike="noStrike" cap="none" normalizeH="0" baseline="0" smtClean="0">
                        <a:ln>
                          <a:noFill/>
                        </a:ln>
                        <a:solidFill>
                          <a:schemeClr val="tx1"/>
                        </a:solidFill>
                        <a:effectLst/>
                        <a:latin typeface="楷体" panose="02010609060101010101" pitchFamily="49" charset="-122"/>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r>
              <a:tr h="188436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chemeClr val="tx1"/>
                          </a:solidFill>
                          <a:effectLst/>
                          <a:latin typeface="Arial" panose="020B0604020202020204" pitchFamily="34" charset="0"/>
                          <a:ea typeface="黑体" panose="02010609060101010101" pitchFamily="49" charset="-122"/>
                        </a:rPr>
                        <a:t>卡诺图法</a:t>
                      </a:r>
                      <a:endParaRPr kumimoji="0" lang="zh-CN" altLang="en-US" sz="2400" b="1" i="0" u="none" strike="noStrike" cap="none" normalizeH="0" baseline="0" smtClean="0">
                        <a:ln>
                          <a:noFill/>
                        </a:ln>
                        <a:solidFill>
                          <a:schemeClr val="tx1"/>
                        </a:solidFill>
                        <a:effectLst/>
                        <a:latin typeface="Arial" panose="020B0604020202020204" pitchFamily="34" charset="0"/>
                        <a:ea typeface="黑体" panose="02010609060101010101" pitchFamily="49"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chemeClr val="tx1"/>
                          </a:solidFill>
                          <a:effectLst/>
                          <a:latin typeface="楷体" panose="02010609060101010101" pitchFamily="49" charset="-122"/>
                          <a:ea typeface="楷体" panose="02010609060101010101" pitchFamily="49" charset="-122"/>
                        </a:rPr>
                        <a:t>直观、简单</a:t>
                      </a:r>
                      <a:endParaRPr kumimoji="0" lang="zh-CN" altLang="en-US" sz="2400" b="1" i="0" u="none" strike="noStrike" cap="none" normalizeH="0" baseline="0" smtClean="0">
                        <a:ln>
                          <a:noFill/>
                        </a:ln>
                        <a:solidFill>
                          <a:schemeClr val="tx1"/>
                        </a:solidFill>
                        <a:effectLst/>
                        <a:latin typeface="楷体" panose="02010609060101010101" pitchFamily="49" charset="-122"/>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chemeClr val="tx1"/>
                          </a:solidFill>
                          <a:effectLst/>
                          <a:latin typeface="楷体" panose="02010609060101010101" pitchFamily="49" charset="-122"/>
                          <a:ea typeface="楷体" panose="02010609060101010101" pitchFamily="49" charset="-122"/>
                        </a:rPr>
                        <a:t>输入变量数目较多时（例如</a:t>
                      </a:r>
                      <a:r>
                        <a:rPr kumimoji="0" lang="en-US" altLang="zh-CN" sz="2400" b="1" i="0" u="none" strike="noStrike" cap="none" normalizeH="0" baseline="0" smtClean="0">
                          <a:ln>
                            <a:noFill/>
                          </a:ln>
                          <a:solidFill>
                            <a:schemeClr val="tx1"/>
                          </a:solidFill>
                          <a:effectLst/>
                          <a:latin typeface="楷体" panose="02010609060101010101" pitchFamily="49" charset="-122"/>
                          <a:ea typeface="楷体" panose="02010609060101010101" pitchFamily="49" charset="-122"/>
                        </a:rPr>
                        <a:t>&gt;5</a:t>
                      </a:r>
                      <a:r>
                        <a:rPr kumimoji="0" lang="zh-CN" altLang="en-US" sz="2400" b="1" i="0" u="none" strike="noStrike" cap="none" normalizeH="0" baseline="0" smtClean="0">
                          <a:ln>
                            <a:noFill/>
                          </a:ln>
                          <a:solidFill>
                            <a:schemeClr val="tx1"/>
                          </a:solidFill>
                          <a:effectLst/>
                          <a:latin typeface="楷体" panose="02010609060101010101" pitchFamily="49" charset="-122"/>
                          <a:ea typeface="楷体" panose="02010609060101010101" pitchFamily="49" charset="-122"/>
                        </a:rPr>
                        <a:t>），不再直观，且化简需凭设计者的经验，不便于利用计算机完成化简工作。</a:t>
                      </a:r>
                      <a:endParaRPr kumimoji="0" lang="zh-CN" altLang="en-US" sz="2400" b="1" i="0" u="none" strike="noStrike" cap="none" normalizeH="0" baseline="0" smtClean="0">
                        <a:ln>
                          <a:noFill/>
                        </a:ln>
                        <a:solidFill>
                          <a:schemeClr val="tx1"/>
                        </a:solidFill>
                        <a:effectLst/>
                        <a:latin typeface="楷体" panose="02010609060101010101" pitchFamily="49" charset="-122"/>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r>
            </a:tbl>
          </a:graphicData>
        </a:graphic>
      </p:graphicFrame>
    </p:spTree>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8487"/>
                                        </p:tgtEl>
                                        <p:attrNameLst>
                                          <p:attrName>style.visibility</p:attrName>
                                        </p:attrNameLst>
                                      </p:cBhvr>
                                      <p:to>
                                        <p:strVal val="visible"/>
                                      </p:to>
                                    </p:set>
                                    <p:animEffect transition="in" filter="blinds(horizontal)">
                                      <p:cBhvr>
                                        <p:cTn id="7" dur="500"/>
                                        <p:tgtEl>
                                          <p:spTgt spid="1484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10963</Words>
  <Application>WPS 演示</Application>
  <PresentationFormat>全屏显示(4:3)</PresentationFormat>
  <Paragraphs>1266</Paragraphs>
  <Slides>91</Slides>
  <Notes>2</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204</vt:i4>
      </vt:variant>
      <vt:variant>
        <vt:lpstr>幻灯片标题</vt:lpstr>
      </vt:variant>
      <vt:variant>
        <vt:i4>91</vt:i4>
      </vt:variant>
    </vt:vector>
  </HeadingPairs>
  <TitlesOfParts>
    <vt:vector size="314" baseType="lpstr">
      <vt:lpstr>Arial</vt:lpstr>
      <vt:lpstr>宋体</vt:lpstr>
      <vt:lpstr>Wingdings</vt:lpstr>
      <vt:lpstr>黑体</vt:lpstr>
      <vt:lpstr>华文新魏</vt:lpstr>
      <vt:lpstr>Times New Roman</vt:lpstr>
      <vt:lpstr>华文行楷</vt:lpstr>
      <vt:lpstr>楷体_GB2312</vt:lpstr>
      <vt:lpstr>新宋体</vt:lpstr>
      <vt:lpstr>Symbol</vt:lpstr>
      <vt:lpstr>Verdana</vt:lpstr>
      <vt:lpstr>Arial Narrow</vt:lpstr>
      <vt:lpstr>华康简宋</vt:lpstr>
      <vt:lpstr>楷体</vt:lpstr>
      <vt:lpstr>微软雅黑</vt:lpstr>
      <vt:lpstr>Arial Unicode MS</vt:lpstr>
      <vt:lpstr>方正仿宋_GB2312</vt:lpstr>
      <vt:lpstr>华文中宋</vt:lpstr>
      <vt:lpstr>默认设计模板</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Paint.Picture</vt:lpstr>
      <vt:lpstr>Equation.3</vt:lpstr>
      <vt:lpstr>Equation.3</vt:lpstr>
      <vt:lpstr>Equation.3</vt:lpstr>
      <vt:lpstr>Paint.Picture</vt:lpstr>
      <vt:lpstr>Paint.Picture</vt:lpstr>
      <vt:lpstr>Paint.Picture</vt:lpstr>
      <vt:lpstr>Equation.3</vt:lpstr>
      <vt:lpstr>Equation.3</vt:lpstr>
      <vt:lpstr>Equation.3</vt:lpstr>
      <vt:lpstr>Equation.3</vt:lpstr>
      <vt:lpstr>Equation.3</vt:lpstr>
      <vt:lpstr>Equation.3</vt:lpstr>
      <vt:lpstr>Equation.3</vt:lpstr>
      <vt:lpstr>Paint.Picture</vt:lpstr>
      <vt:lpstr>Paint.Picture</vt:lpstr>
      <vt:lpstr>Paint.Picture</vt:lpstr>
      <vt:lpstr>Equation.3</vt:lpstr>
      <vt:lpstr>Equation.3</vt:lpstr>
      <vt:lpstr>Equation.3</vt:lpstr>
      <vt:lpstr>Equation.3</vt:lpstr>
      <vt:lpstr>Equation.3</vt:lpstr>
      <vt:lpstr>Equation.3</vt:lpstr>
      <vt:lpstr>Equation.3</vt:lpstr>
      <vt:lpstr>Equation.3</vt:lpstr>
      <vt:lpstr>Equation.3</vt:lpstr>
      <vt:lpstr>Paint.Picture</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Word.Picture.8</vt:lpstr>
      <vt:lpstr>Word.Picture.8</vt:lpstr>
      <vt:lpstr>Equation.3</vt:lpstr>
      <vt:lpstr>Word.Picture.8</vt:lpstr>
      <vt:lpstr>Equation.3</vt:lpstr>
      <vt:lpstr>Equation.3</vt:lpstr>
      <vt:lpstr>Word.Picture.8</vt:lpstr>
      <vt:lpstr>Word.Picture.8</vt:lpstr>
      <vt:lpstr>Word.Picture.8</vt:lpstr>
      <vt:lpstr>Word.Picture.8</vt:lpstr>
      <vt:lpstr>Word.Picture.8</vt:lpstr>
      <vt:lpstr>Equation.3</vt:lpstr>
      <vt:lpstr>Equation.3</vt:lpstr>
      <vt:lpstr>Equation.3</vt:lpstr>
      <vt:lpstr>Word.Picture.8</vt:lpstr>
      <vt:lpstr>Word.Picture.8</vt:lpstr>
      <vt:lpstr>Word.Picture.8</vt:lpstr>
      <vt:lpstr>Word.Picture.8</vt:lpstr>
      <vt:lpstr>Equation.3</vt:lpstr>
      <vt:lpstr>Equation.3</vt:lpstr>
      <vt:lpstr>Visio.Drawing.11</vt:lpstr>
      <vt:lpstr>Visio.Drawing.11</vt:lpstr>
      <vt:lpstr>Equation.3</vt:lpstr>
      <vt:lpstr>Equation.3</vt:lpstr>
      <vt:lpstr>Paint.Picture</vt:lpstr>
      <vt:lpstr>Visio.Drawing.11</vt:lpstr>
      <vt:lpstr>Visio.Drawing.11</vt:lpstr>
      <vt:lpstr>Equation.3</vt:lpstr>
      <vt:lpstr>Visio.Drawing.11</vt:lpstr>
      <vt:lpstr>Visio.Drawing.11</vt:lpstr>
      <vt:lpstr>Visio.Drawing.11</vt:lpstr>
      <vt:lpstr>Visio.Drawing.11</vt:lpstr>
      <vt:lpstr>Visio.Drawing.11</vt:lpstr>
      <vt:lpstr>Equation.3</vt:lpstr>
      <vt:lpstr>Visio.Drawing.11</vt:lpstr>
      <vt:lpstr>Equation.3</vt:lpstr>
      <vt:lpstr>Paint.Picture</vt:lpstr>
      <vt:lpstr>Equation.3</vt:lpstr>
      <vt:lpstr>Equation.3</vt:lpstr>
      <vt:lpstr>Visio.Drawing.11</vt:lpstr>
      <vt:lpstr>Equation.3</vt:lpstr>
      <vt:lpstr>Visio.Drawing.11</vt:lpstr>
      <vt:lpstr>Paint.Picture</vt:lpstr>
      <vt:lpstr>Paint.Picture</vt:lpstr>
      <vt:lpstr>Paint.Picture</vt:lpstr>
      <vt:lpstr>Paint.Picture</vt:lpstr>
      <vt:lpstr>Paint.Picture</vt:lpstr>
      <vt:lpstr>Paint.Picture</vt:lpstr>
      <vt:lpstr>Paint.Picture</vt:lpstr>
      <vt:lpstr>Paint.Picture</vt:lpstr>
      <vt:lpstr>Paint.Picture</vt:lpstr>
      <vt:lpstr>Equation.3</vt:lpstr>
      <vt:lpstr>Equation.3</vt:lpstr>
      <vt:lpstr>Equation.3</vt:lpstr>
      <vt:lpstr>Equation.3</vt:lpstr>
      <vt:lpstr>Paint.Picture</vt:lpstr>
      <vt:lpstr>Paint.Picture</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Paint.Picture</vt:lpstr>
      <vt:lpstr>Paint.Picture</vt:lpstr>
      <vt:lpstr>Equation.3</vt:lpstr>
      <vt:lpstr>Paint.Picture</vt:lpstr>
      <vt:lpstr>Paint.Picture</vt:lpstr>
      <vt:lpstr>Paint.Picture</vt:lpstr>
      <vt:lpstr>Paint.Picture</vt:lpstr>
      <vt:lpstr>Paint.Picture</vt:lpstr>
      <vt:lpstr>Paint.Picture</vt:lpstr>
      <vt:lpstr>Paint.Picture</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MC SYSTEM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MC SYSTEM(其他)</dc:creator>
  <cp:lastModifiedBy>wcz</cp:lastModifiedBy>
  <cp:revision>308</cp:revision>
  <dcterms:created xsi:type="dcterms:W3CDTF">2009-08-22T13:55:43Z</dcterms:created>
  <dcterms:modified xsi:type="dcterms:W3CDTF">2025-09-23T08:24:22Z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01638CECBF24492DBF16FA6DCE391483_12</vt:lpwstr>
  </property>
  <property fmtid="{D5CDD505-2E9C-101B-9397-08002B2CF9AE}" pid="3" name="KSOProductBuildVer">
    <vt:lpwstr>2052-12.1.0.21915</vt:lpwstr>
  </property>
</Properties>
</file>