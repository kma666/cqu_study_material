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80" r:id="rId2"/>
    <p:sldId id="608" r:id="rId3"/>
    <p:sldId id="598" r:id="rId4"/>
    <p:sldId id="535" r:id="rId5"/>
    <p:sldId id="591" r:id="rId6"/>
    <p:sldId id="590" r:id="rId7"/>
    <p:sldId id="567" r:id="rId8"/>
    <p:sldId id="569" r:id="rId9"/>
    <p:sldId id="571" r:id="rId10"/>
    <p:sldId id="536" r:id="rId11"/>
    <p:sldId id="575" r:id="rId12"/>
    <p:sldId id="538" r:id="rId13"/>
    <p:sldId id="577" r:id="rId14"/>
    <p:sldId id="582" r:id="rId15"/>
    <p:sldId id="617" r:id="rId16"/>
    <p:sldId id="580" r:id="rId17"/>
    <p:sldId id="579" r:id="rId18"/>
    <p:sldId id="584" r:id="rId19"/>
    <p:sldId id="618" r:id="rId20"/>
    <p:sldId id="611" r:id="rId21"/>
    <p:sldId id="587" r:id="rId22"/>
    <p:sldId id="589" r:id="rId23"/>
    <p:sldId id="609" r:id="rId24"/>
    <p:sldId id="592" r:id="rId25"/>
    <p:sldId id="610" r:id="rId26"/>
    <p:sldId id="622" r:id="rId27"/>
    <p:sldId id="586" r:id="rId28"/>
    <p:sldId id="585" r:id="rId29"/>
    <p:sldId id="613" r:id="rId30"/>
    <p:sldId id="614" r:id="rId31"/>
    <p:sldId id="615" r:id="rId32"/>
    <p:sldId id="621" r:id="rId33"/>
    <p:sldId id="574" r:id="rId34"/>
    <p:sldId id="583" r:id="rId35"/>
    <p:sldId id="616" r:id="rId36"/>
    <p:sldId id="601" r:id="rId37"/>
    <p:sldId id="620" r:id="rId38"/>
    <p:sldId id="602" r:id="rId39"/>
    <p:sldId id="603" r:id="rId40"/>
    <p:sldId id="604" r:id="rId41"/>
    <p:sldId id="606" r:id="rId42"/>
    <p:sldId id="619" r:id="rId43"/>
    <p:sldId id="599" r:id="rId44"/>
    <p:sldId id="600" r:id="rId45"/>
    <p:sldId id="612" r:id="rId46"/>
  </p:sldIdLst>
  <p:sldSz cx="12192000" cy="6858000"/>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ce" initials="A" lastIdx="1" clrIdx="0">
    <p:extLst>
      <p:ext uri="{19B8F6BF-5375-455C-9EA6-DF929625EA0E}">
        <p15:presenceInfo xmlns:p15="http://schemas.microsoft.com/office/powerpoint/2012/main" userId="Ali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32" autoAdjust="0"/>
    <p:restoredTop sz="90998" autoAdjust="0"/>
  </p:normalViewPr>
  <p:slideViewPr>
    <p:cSldViewPr>
      <p:cViewPr varScale="1">
        <p:scale>
          <a:sx n="77" d="100"/>
          <a:sy n="77" d="100"/>
        </p:scale>
        <p:origin x="1243"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3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3.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54.wmf"/><Relationship Id="rId2" Type="http://schemas.openxmlformats.org/officeDocument/2006/relationships/image" Target="../media/image153.wmf"/><Relationship Id="rId1" Type="http://schemas.openxmlformats.org/officeDocument/2006/relationships/image" Target="../media/image152.wmf"/><Relationship Id="rId4" Type="http://schemas.openxmlformats.org/officeDocument/2006/relationships/image" Target="../media/image15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7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5FC195D2-6B5F-4FE3-A9D3-66A4E69E9822}" type="datetimeFigureOut">
              <a:rPr lang="zh-CN" altLang="en-US"/>
              <a:pPr>
                <a:defRPr/>
              </a:pPr>
              <a:t>2025/9/15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2215B7F-D253-4CC3-B145-FF4ED3467F0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717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CA04D71-D96A-406A-9E9E-68978B8BA7B9}" type="slidenum">
              <a:rPr lang="zh-CN" altLang="en-US" sz="1200" smtClean="0"/>
              <a:pPr/>
              <a:t>4</a:t>
            </a:fld>
            <a:endParaRPr lang="zh-CN"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82215B7F-D253-4CC3-B145-FF4ED3467F02}" type="slidenum">
              <a:rPr lang="zh-CN" altLang="en-US" smtClean="0"/>
              <a:pPr>
                <a:defRPr/>
              </a:pPr>
              <a:t>5</a:t>
            </a:fld>
            <a:endParaRPr lang="zh-CN" altLang="en-US"/>
          </a:p>
        </p:txBody>
      </p:sp>
    </p:spTree>
    <p:extLst>
      <p:ext uri="{BB962C8B-B14F-4D97-AF65-F5344CB8AC3E}">
        <p14:creationId xmlns:p14="http://schemas.microsoft.com/office/powerpoint/2010/main" val="292018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可选取初始值（</a:t>
            </a:r>
            <a:r>
              <a:rPr lang="en-US" altLang="zh-CN"/>
              <a:t>0</a:t>
            </a:r>
            <a:r>
              <a:rPr lang="zh-CN" altLang="en-US"/>
              <a:t>，</a:t>
            </a:r>
            <a:r>
              <a:rPr lang="en-US" altLang="zh-CN"/>
              <a:t>0</a:t>
            </a:r>
            <a:r>
              <a:rPr lang="zh-CN" altLang="en-US"/>
              <a:t>，。。。。</a:t>
            </a:r>
            <a:r>
              <a:rPr lang="en-US" altLang="zh-CN"/>
              <a:t>0</a:t>
            </a:r>
            <a:r>
              <a:rPr lang="zh-CN" altLang="en-US"/>
              <a:t>）代入</a:t>
            </a:r>
          </a:p>
        </p:txBody>
      </p:sp>
      <p:sp>
        <p:nvSpPr>
          <p:cNvPr id="1126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B785C497-9DCA-433B-9965-38932F4277A6}" type="slidenum">
              <a:rPr lang="zh-CN" altLang="en-US" sz="1200" smtClean="0"/>
              <a:pPr/>
              <a:t>7</a:t>
            </a:fld>
            <a:endParaRPr lang="zh-CN"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Jacobi</a:t>
            </a:r>
            <a:r>
              <a:rPr lang="zh-CN" altLang="en-US"/>
              <a:t>主对角线为</a:t>
            </a:r>
            <a:r>
              <a:rPr lang="en-US" altLang="zh-CN"/>
              <a:t>0   </a:t>
            </a:r>
            <a:r>
              <a:rPr lang="zh-CN" altLang="en-US"/>
              <a:t>值为一阶偏导</a:t>
            </a:r>
          </a:p>
        </p:txBody>
      </p:sp>
      <p:sp>
        <p:nvSpPr>
          <p:cNvPr id="1434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AC2D4F6-6616-4698-ADF4-E86896677426}" type="slidenum">
              <a:rPr lang="zh-CN" altLang="en-US" sz="1200" smtClean="0"/>
              <a:pPr/>
              <a:t>9</a:t>
            </a:fld>
            <a:endParaRPr lang="zh-CN"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GS</a:t>
            </a:r>
            <a:r>
              <a:rPr lang="zh-CN" altLang="en-US"/>
              <a:t>第一列为</a:t>
            </a:r>
            <a:r>
              <a:rPr lang="en-US" altLang="zh-CN"/>
              <a:t>0</a:t>
            </a:r>
            <a:endParaRPr lang="zh-CN" altLang="en-US"/>
          </a:p>
        </p:txBody>
      </p:sp>
      <p:sp>
        <p:nvSpPr>
          <p:cNvPr id="163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CBF55748-EB52-4527-B051-5E2E2E0E0FE0}" type="slidenum">
              <a:rPr lang="zh-CN" altLang="en-US" sz="1200" smtClean="0"/>
              <a:pPr/>
              <a:t>10</a:t>
            </a:fld>
            <a:endParaRPr lang="zh-CN"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都收敛时，</a:t>
            </a:r>
            <a:r>
              <a:rPr lang="en-US" altLang="zh-CN"/>
              <a:t>GS</a:t>
            </a:r>
            <a:r>
              <a:rPr lang="zh-CN" altLang="en-US"/>
              <a:t>要比</a:t>
            </a:r>
            <a:r>
              <a:rPr lang="en-US" altLang="zh-CN"/>
              <a:t>Jacobia</a:t>
            </a:r>
            <a:r>
              <a:rPr lang="zh-CN" altLang="en-US"/>
              <a:t>好</a:t>
            </a:r>
          </a:p>
        </p:txBody>
      </p:sp>
      <p:sp>
        <p:nvSpPr>
          <p:cNvPr id="1843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AE4E6BA-8D79-49C7-9BA3-3EF2E33EF2FD}" type="slidenum">
              <a:rPr lang="zh-CN" altLang="en-US" sz="1200" smtClean="0"/>
              <a:pPr/>
              <a:t>11</a:t>
            </a:fld>
            <a:endParaRPr lang="zh-CN" alt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t>G-Seidel</a:t>
            </a:r>
            <a:r>
              <a:rPr lang="zh-CN" altLang="en-US" dirty="0"/>
              <a:t>的推广，提高迭代收敛速度</a:t>
            </a:r>
          </a:p>
        </p:txBody>
      </p:sp>
      <p:sp>
        <p:nvSpPr>
          <p:cNvPr id="2048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DA675A48-9FC0-49B1-B1D7-5F68A8B39DFE}" type="slidenum">
              <a:rPr lang="zh-CN" altLang="en-US" sz="1200" smtClean="0"/>
              <a:pPr/>
              <a:t>12</a:t>
            </a:fld>
            <a:endParaRPr lang="zh-CN"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加权平均</a:t>
            </a:r>
          </a:p>
        </p:txBody>
      </p:sp>
      <p:sp>
        <p:nvSpPr>
          <p:cNvPr id="2253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2D03E282-3BFF-4E42-A608-FE9835B14128}" type="slidenum">
              <a:rPr lang="zh-CN" altLang="en-US" sz="1200" smtClean="0"/>
              <a:pPr/>
              <a:t>13</a:t>
            </a:fld>
            <a:endParaRPr lang="zh-CN"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引入向量范数的原因：若存在舍入误差，则精确值与近似值如何衡量？如何对方程组进行误差分析？讨论</a:t>
            </a:r>
            <a:r>
              <a:rPr lang="en-US" altLang="zh-CN" dirty="0"/>
              <a:t>B</a:t>
            </a:r>
            <a:r>
              <a:rPr lang="zh-CN" altLang="en-US" dirty="0"/>
              <a:t>满足什么条件收敛   范数是向量模的推广</a:t>
            </a:r>
          </a:p>
        </p:txBody>
      </p:sp>
      <p:sp>
        <p:nvSpPr>
          <p:cNvPr id="2458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68F73F3C-E278-411C-AE60-71F0F3B9946B}" type="slidenum">
              <a:rPr lang="zh-CN" altLang="en-US" sz="1200" smtClean="0"/>
              <a:pPr/>
              <a:t>14</a:t>
            </a:fld>
            <a:endParaRPr lang="zh-CN" alt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矩阵的范数是向量范数的推广</a:t>
            </a:r>
          </a:p>
        </p:txBody>
      </p:sp>
      <p:sp>
        <p:nvSpPr>
          <p:cNvPr id="4" name="灯片编号占位符 3"/>
          <p:cNvSpPr>
            <a:spLocks noGrp="1"/>
          </p:cNvSpPr>
          <p:nvPr>
            <p:ph type="sldNum" sz="quarter" idx="10"/>
          </p:nvPr>
        </p:nvSpPr>
        <p:spPr/>
        <p:txBody>
          <a:bodyPr/>
          <a:lstStyle/>
          <a:p>
            <a:pPr>
              <a:defRPr/>
            </a:pPr>
            <a:fld id="{82215B7F-D253-4CC3-B145-FF4ED3467F02}" type="slidenum">
              <a:rPr lang="zh-CN" altLang="en-US" smtClean="0"/>
              <a:pPr>
                <a:defRPr/>
              </a:pPr>
              <a:t>17</a:t>
            </a:fld>
            <a:endParaRPr lang="zh-CN" altLang="en-US"/>
          </a:p>
        </p:txBody>
      </p:sp>
    </p:spTree>
    <p:extLst>
      <p:ext uri="{BB962C8B-B14F-4D97-AF65-F5344CB8AC3E}">
        <p14:creationId xmlns:p14="http://schemas.microsoft.com/office/powerpoint/2010/main" val="3469203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6CD0105-5527-45DF-AB76-72A01EEF3A10}" type="slidenum">
              <a:rPr lang="zh-CN" altLang="en-US" sz="1200" smtClean="0"/>
              <a:pPr/>
              <a:t>22</a:t>
            </a:fld>
            <a:endParaRPr lang="zh-CN"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072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46CD0105-5527-45DF-AB76-72A01EEF3A10}" type="slidenum">
              <a:rPr lang="zh-CN" altLang="en-US" sz="1200" smtClean="0"/>
              <a:pPr/>
              <a:t>23</a:t>
            </a:fld>
            <a:endParaRPr lang="zh-CN" altLang="en-US" sz="1200"/>
          </a:p>
        </p:txBody>
      </p:sp>
    </p:spTree>
    <p:extLst>
      <p:ext uri="{BB962C8B-B14F-4D97-AF65-F5344CB8AC3E}">
        <p14:creationId xmlns:p14="http://schemas.microsoft.com/office/powerpoint/2010/main" val="40978950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对角占优矩阵指矩阵的对角元素大于它所在的行或列其他元素模的和。所有行都成立，则严格占优</a:t>
            </a:r>
          </a:p>
        </p:txBody>
      </p:sp>
      <p:sp>
        <p:nvSpPr>
          <p:cNvPr id="35844"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90357A2F-6DAF-4B0F-B931-B48656523071}" type="slidenum">
              <a:rPr lang="zh-CN" altLang="en-US" sz="1200" smtClean="0"/>
              <a:pPr/>
              <a:t>27</a:t>
            </a:fld>
            <a:endParaRPr lang="zh-CN"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zh-CN" altLang="en-US"/>
          </a:p>
        </p:txBody>
      </p:sp>
      <p:sp>
        <p:nvSpPr>
          <p:cNvPr id="378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58473DD-7341-49F3-B66C-9545106AB21D}" type="slidenum">
              <a:rPr lang="zh-CN" altLang="en-US" sz="1200" smtClean="0"/>
              <a:pPr/>
              <a:t>28</a:t>
            </a:fld>
            <a:endParaRPr lang="zh-CN"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楷体_GB2312" pitchFamily="49" charset="-122"/>
                <a:ea typeface="楷体_GB2312" pitchFamily="49" charset="-122"/>
              </a:rPr>
              <a:t> </a:t>
            </a:r>
            <a:r>
              <a:rPr lang="zh-CN" altLang="en-US" sz="1200" dirty="0">
                <a:latin typeface="楷体_GB2312" pitchFamily="49" charset="-122"/>
                <a:ea typeface="楷体_GB2312" pitchFamily="49" charset="-122"/>
              </a:rPr>
              <a:t>除了满足</a:t>
            </a:r>
            <a:r>
              <a:rPr lang="en-US" altLang="zh-CN" sz="1200" dirty="0">
                <a:latin typeface="楷体_GB2312" pitchFamily="49" charset="-122"/>
                <a:ea typeface="楷体_GB2312" pitchFamily="49" charset="-122"/>
              </a:rPr>
              <a:t>GS</a:t>
            </a:r>
            <a:r>
              <a:rPr lang="zh-CN" altLang="en-US" sz="1200" dirty="0">
                <a:latin typeface="楷体_GB2312" pitchFamily="49" charset="-122"/>
                <a:ea typeface="楷体_GB2312" pitchFamily="49" charset="-122"/>
              </a:rPr>
              <a:t>的收敛条件外，</a:t>
            </a:r>
            <a:r>
              <a:rPr lang="en-US" altLang="zh-CN" sz="1200" dirty="0" err="1">
                <a:latin typeface="楷体_GB2312" pitchFamily="49" charset="-122"/>
                <a:ea typeface="楷体_GB2312" pitchFamily="49" charset="-122"/>
              </a:rPr>
              <a:t>omga</a:t>
            </a:r>
            <a:r>
              <a:rPr lang="zh-CN" altLang="en-US" sz="1200" dirty="0">
                <a:latin typeface="楷体_GB2312" pitchFamily="49" charset="-122"/>
                <a:ea typeface="楷体_GB2312" pitchFamily="49" charset="-122"/>
              </a:rPr>
              <a:t>也要满足一定条件。</a:t>
            </a:r>
            <a:r>
              <a:rPr lang="zh-CN" altLang="en-US" sz="1200" b="0" i="0" kern="1200" dirty="0">
                <a:solidFill>
                  <a:schemeClr val="tx1"/>
                </a:solidFill>
                <a:effectLst/>
                <a:latin typeface="+mn-lt"/>
                <a:ea typeface="+mn-ea"/>
                <a:cs typeface="+mn-cs"/>
              </a:rPr>
              <a:t>对称：矩阵元素 </a:t>
            </a:r>
            <a:r>
              <a:rPr lang="en-US" altLang="zh-CN" sz="1200" b="0" i="0" kern="1200" dirty="0" err="1">
                <a:solidFill>
                  <a:schemeClr val="tx1"/>
                </a:solidFill>
                <a:effectLst/>
                <a:latin typeface="+mn-lt"/>
                <a:ea typeface="+mn-ea"/>
                <a:cs typeface="+mn-cs"/>
              </a:rPr>
              <a:t>Aij</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Aji</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。正定：矩阵的所有特征值都为正。</a:t>
            </a:r>
          </a:p>
          <a:p>
            <a:endParaRPr lang="zh-CN" altLang="en-US" dirty="0"/>
          </a:p>
        </p:txBody>
      </p:sp>
      <p:sp>
        <p:nvSpPr>
          <p:cNvPr id="4" name="灯片编号占位符 3"/>
          <p:cNvSpPr>
            <a:spLocks noGrp="1"/>
          </p:cNvSpPr>
          <p:nvPr>
            <p:ph type="sldNum" sz="quarter" idx="10"/>
          </p:nvPr>
        </p:nvSpPr>
        <p:spPr/>
        <p:txBody>
          <a:bodyPr/>
          <a:lstStyle/>
          <a:p>
            <a:pPr>
              <a:defRPr/>
            </a:pPr>
            <a:fld id="{82215B7F-D253-4CC3-B145-FF4ED3467F02}" type="slidenum">
              <a:rPr lang="zh-CN" altLang="en-US" smtClean="0"/>
              <a:pPr>
                <a:defRPr/>
              </a:pPr>
              <a:t>33</a:t>
            </a:fld>
            <a:endParaRPr lang="zh-CN" altLang="en-US"/>
          </a:p>
        </p:txBody>
      </p:sp>
    </p:spTree>
    <p:extLst>
      <p:ext uri="{BB962C8B-B14F-4D97-AF65-F5344CB8AC3E}">
        <p14:creationId xmlns:p14="http://schemas.microsoft.com/office/powerpoint/2010/main" val="2917836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一个小的扰动，完全可能产生大的误差</a:t>
            </a:r>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67BE0D-B45B-4947-97C5-B612BAA2D9D1}" type="slidenum">
              <a:rPr lang="zh-CN" altLang="en-US" sz="1200" smtClean="0"/>
              <a:pPr/>
              <a:t>36</a:t>
            </a:fld>
            <a:endParaRPr lang="zh-CN"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输入计算机时完全可能产生了误差</a:t>
            </a:r>
          </a:p>
        </p:txBody>
      </p:sp>
      <p:sp>
        <p:nvSpPr>
          <p:cNvPr id="4198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5F67BE0D-B45B-4947-97C5-B612BAA2D9D1}" type="slidenum">
              <a:rPr lang="zh-CN" altLang="en-US" sz="1200" smtClean="0"/>
              <a:pPr/>
              <a:t>37</a:t>
            </a:fld>
            <a:endParaRPr lang="zh-CN" altLang="en-US" sz="1200"/>
          </a:p>
        </p:txBody>
      </p:sp>
    </p:spTree>
    <p:extLst>
      <p:ext uri="{BB962C8B-B14F-4D97-AF65-F5344CB8AC3E}">
        <p14:creationId xmlns:p14="http://schemas.microsoft.com/office/powerpoint/2010/main" val="14222493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解对系数敏感是线性方程组本身的问题</a:t>
            </a:r>
          </a:p>
        </p:txBody>
      </p:sp>
      <p:sp>
        <p:nvSpPr>
          <p:cNvPr id="45060"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fld id="{E0EF155E-2A37-4191-8EEC-7863BBC40041}" type="slidenum">
              <a:rPr lang="zh-CN" altLang="en-US" sz="1200" smtClean="0"/>
              <a:pPr/>
              <a:t>39</a:t>
            </a:fld>
            <a:endParaRPr lang="zh-CN" alt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FB7677BA-8AE8-4057-A54D-0684728A7A18}" type="slidenum">
              <a:rPr lang="en-US" altLang="zh-CN" smtClean="0">
                <a:latin typeface="Arial" panose="020B0604020202020204" pitchFamily="34" charset="0"/>
              </a:rPr>
              <a:pPr>
                <a:spcBef>
                  <a:spcPct val="0"/>
                </a:spcBef>
              </a:pPr>
              <a:t>41</a:t>
            </a:fld>
            <a:endParaRPr lang="en-US" altLang="zh-CN">
              <a:latin typeface="Arial" panose="020B0604020202020204" pitchFamily="34" charset="0"/>
            </a:endParaRPr>
          </a:p>
        </p:txBody>
      </p:sp>
      <p:sp>
        <p:nvSpPr>
          <p:cNvPr id="491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DF1E40E-1721-4FF0-8E85-B925295C8065}" type="slidenum">
              <a:rPr lang="en-US" altLang="zh-CN"/>
              <a:pPr>
                <a:defRPr/>
              </a:pPr>
              <a:t>‹#›</a:t>
            </a:fld>
            <a:endParaRPr lang="en-US" altLang="zh-CN"/>
          </a:p>
        </p:txBody>
      </p:sp>
    </p:spTree>
    <p:extLst>
      <p:ext uri="{BB962C8B-B14F-4D97-AF65-F5344CB8AC3E}">
        <p14:creationId xmlns:p14="http://schemas.microsoft.com/office/powerpoint/2010/main" val="3487546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405D2A2-692E-414C-B4EC-378314DD2144}" type="slidenum">
              <a:rPr lang="en-US" altLang="zh-CN"/>
              <a:pPr>
                <a:defRPr/>
              </a:pPr>
              <a:t>‹#›</a:t>
            </a:fld>
            <a:endParaRPr lang="en-US" altLang="zh-CN"/>
          </a:p>
        </p:txBody>
      </p:sp>
    </p:spTree>
    <p:extLst>
      <p:ext uri="{BB962C8B-B14F-4D97-AF65-F5344CB8AC3E}">
        <p14:creationId xmlns:p14="http://schemas.microsoft.com/office/powerpoint/2010/main" val="1222112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3DE9DE5-37D5-4A04-AE6B-AF7AA11096D8}" type="slidenum">
              <a:rPr lang="en-US" altLang="zh-CN"/>
              <a:pPr>
                <a:defRPr/>
              </a:pPr>
              <a:t>‹#›</a:t>
            </a:fld>
            <a:endParaRPr lang="en-US" altLang="zh-CN"/>
          </a:p>
        </p:txBody>
      </p:sp>
    </p:spTree>
    <p:extLst>
      <p:ext uri="{BB962C8B-B14F-4D97-AF65-F5344CB8AC3E}">
        <p14:creationId xmlns:p14="http://schemas.microsoft.com/office/powerpoint/2010/main" val="37783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8663D3D-282C-4B2A-B7D1-39D4173D23E2}" type="slidenum">
              <a:rPr lang="en-US" altLang="zh-CN"/>
              <a:pPr>
                <a:defRPr/>
              </a:pPr>
              <a:t>‹#›</a:t>
            </a:fld>
            <a:endParaRPr lang="en-US" altLang="zh-CN"/>
          </a:p>
        </p:txBody>
      </p:sp>
    </p:spTree>
    <p:extLst>
      <p:ext uri="{BB962C8B-B14F-4D97-AF65-F5344CB8AC3E}">
        <p14:creationId xmlns:p14="http://schemas.microsoft.com/office/powerpoint/2010/main" val="670592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98C14A0-65B7-4332-B096-74F2DFCB9D99}" type="slidenum">
              <a:rPr lang="en-US" altLang="zh-CN"/>
              <a:pPr>
                <a:defRPr/>
              </a:pPr>
              <a:t>‹#›</a:t>
            </a:fld>
            <a:endParaRPr lang="en-US" altLang="zh-CN"/>
          </a:p>
        </p:txBody>
      </p:sp>
    </p:spTree>
    <p:extLst>
      <p:ext uri="{BB962C8B-B14F-4D97-AF65-F5344CB8AC3E}">
        <p14:creationId xmlns:p14="http://schemas.microsoft.com/office/powerpoint/2010/main" val="3535966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B44951-5406-45A3-97AC-F01BC633A300}" type="slidenum">
              <a:rPr lang="en-US" altLang="zh-CN"/>
              <a:pPr>
                <a:defRPr/>
              </a:pPr>
              <a:t>‹#›</a:t>
            </a:fld>
            <a:endParaRPr lang="en-US" altLang="zh-CN"/>
          </a:p>
        </p:txBody>
      </p:sp>
    </p:spTree>
    <p:extLst>
      <p:ext uri="{BB962C8B-B14F-4D97-AF65-F5344CB8AC3E}">
        <p14:creationId xmlns:p14="http://schemas.microsoft.com/office/powerpoint/2010/main" val="3959597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3A51D01-AEDE-49FE-8A49-2D6E5AC67954}" type="slidenum">
              <a:rPr lang="en-US" altLang="zh-CN"/>
              <a:pPr>
                <a:defRPr/>
              </a:pPr>
              <a:t>‹#›</a:t>
            </a:fld>
            <a:endParaRPr lang="en-US" altLang="zh-CN"/>
          </a:p>
        </p:txBody>
      </p:sp>
    </p:spTree>
    <p:extLst>
      <p:ext uri="{BB962C8B-B14F-4D97-AF65-F5344CB8AC3E}">
        <p14:creationId xmlns:p14="http://schemas.microsoft.com/office/powerpoint/2010/main" val="2741435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EF2A3D2-BCAF-4B13-928F-E02155C407D6}" type="slidenum">
              <a:rPr lang="en-US" altLang="zh-CN"/>
              <a:pPr>
                <a:defRPr/>
              </a:pPr>
              <a:t>‹#›</a:t>
            </a:fld>
            <a:endParaRPr lang="en-US" altLang="zh-CN"/>
          </a:p>
        </p:txBody>
      </p:sp>
    </p:spTree>
    <p:extLst>
      <p:ext uri="{BB962C8B-B14F-4D97-AF65-F5344CB8AC3E}">
        <p14:creationId xmlns:p14="http://schemas.microsoft.com/office/powerpoint/2010/main" val="484412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210BA92D-0020-43C0-9DBB-94645BE3EA64}" type="slidenum">
              <a:rPr lang="en-US" altLang="zh-CN"/>
              <a:pPr>
                <a:defRPr/>
              </a:pPr>
              <a:t>‹#›</a:t>
            </a:fld>
            <a:endParaRPr lang="en-US" altLang="zh-CN"/>
          </a:p>
        </p:txBody>
      </p:sp>
    </p:spTree>
    <p:extLst>
      <p:ext uri="{BB962C8B-B14F-4D97-AF65-F5344CB8AC3E}">
        <p14:creationId xmlns:p14="http://schemas.microsoft.com/office/powerpoint/2010/main" val="77907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490B417-7765-4CBA-B16B-4D0AA6D64012}" type="slidenum">
              <a:rPr lang="en-US" altLang="zh-CN"/>
              <a:pPr>
                <a:defRPr/>
              </a:pPr>
              <a:t>‹#›</a:t>
            </a:fld>
            <a:endParaRPr lang="en-US" altLang="zh-CN"/>
          </a:p>
        </p:txBody>
      </p:sp>
    </p:spTree>
    <p:extLst>
      <p:ext uri="{BB962C8B-B14F-4D97-AF65-F5344CB8AC3E}">
        <p14:creationId xmlns:p14="http://schemas.microsoft.com/office/powerpoint/2010/main" val="92151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4251C38-B9ED-4F2E-960F-5C67D4455AD0}" type="slidenum">
              <a:rPr lang="en-US" altLang="zh-CN"/>
              <a:pPr>
                <a:defRPr/>
              </a:pPr>
              <a:t>‹#›</a:t>
            </a:fld>
            <a:endParaRPr lang="en-US" altLang="zh-CN"/>
          </a:p>
        </p:txBody>
      </p:sp>
    </p:spTree>
    <p:extLst>
      <p:ext uri="{BB962C8B-B14F-4D97-AF65-F5344CB8AC3E}">
        <p14:creationId xmlns:p14="http://schemas.microsoft.com/office/powerpoint/2010/main" val="4026110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914400" y="609600"/>
            <a:ext cx="103632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CFD5F909-001B-4C80-9911-50BBD5D7FDB8}" type="slidenum">
              <a:rPr lang="en-US" altLang="zh-CN"/>
              <a:pPr>
                <a:defRPr/>
              </a:pPr>
              <a:t>‹#›</a:t>
            </a:fld>
            <a:endParaRPr lang="en-US" altLang="zh-CN"/>
          </a:p>
        </p:txBody>
      </p:sp>
    </p:spTree>
    <p:extLst>
      <p:ext uri="{BB962C8B-B14F-4D97-AF65-F5344CB8AC3E}">
        <p14:creationId xmlns:p14="http://schemas.microsoft.com/office/powerpoint/2010/main" val="4741206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914400" y="609600"/>
            <a:ext cx="10363200" cy="1143000"/>
          </a:xfrm>
        </p:spPr>
        <p:txBody>
          <a:bodyPr/>
          <a:lstStyle/>
          <a:p>
            <a:r>
              <a:rPr lang="zh-CN" altLang="en-US"/>
              <a:t>单击此处编辑母版标题样式</a:t>
            </a:r>
          </a:p>
        </p:txBody>
      </p:sp>
      <p:sp>
        <p:nvSpPr>
          <p:cNvPr id="3" name="内容占位符 2"/>
          <p:cNvSpPr>
            <a:spLocks noGrp="1"/>
          </p:cNvSpPr>
          <p:nvPr>
            <p:ph sz="quarter" idx="1"/>
          </p:nvPr>
        </p:nvSpPr>
        <p:spPr>
          <a:xfrm>
            <a:off x="914400" y="19812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914400" y="41148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41148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B35B9206-082E-4A9F-A046-0176644CF935}" type="slidenum">
              <a:rPr lang="en-US" altLang="zh-CN"/>
              <a:pPr>
                <a:defRPr/>
              </a:pPr>
              <a:t>‹#›</a:t>
            </a:fld>
            <a:endParaRPr lang="en-US" altLang="zh-CN"/>
          </a:p>
        </p:txBody>
      </p:sp>
    </p:spTree>
    <p:extLst>
      <p:ext uri="{BB962C8B-B14F-4D97-AF65-F5344CB8AC3E}">
        <p14:creationId xmlns:p14="http://schemas.microsoft.com/office/powerpoint/2010/main" val="5369840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F6580ECF-4157-45E7-8CCD-72D8DDA4128B}"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image" Target="../media/image29.png"/><Relationship Id="rId3" Type="http://schemas.openxmlformats.org/officeDocument/2006/relationships/image" Target="../media/image25.png"/><Relationship Id="rId7" Type="http://schemas.openxmlformats.org/officeDocument/2006/relationships/oleObject" Target="../embeddings/oleObject2.bin"/><Relationship Id="rId12"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2.emf"/><Relationship Id="rId11" Type="http://schemas.openxmlformats.org/officeDocument/2006/relationships/image" Target="../media/image27.png"/><Relationship Id="rId5" Type="http://schemas.openxmlformats.org/officeDocument/2006/relationships/oleObject" Target="../embeddings/oleObject1.bin"/><Relationship Id="rId10" Type="http://schemas.openxmlformats.org/officeDocument/2006/relationships/image" Target="../media/image24.emf"/><Relationship Id="rId4" Type="http://schemas.openxmlformats.org/officeDocument/2006/relationships/image" Target="../media/image26.png"/><Relationship Id="rId9" Type="http://schemas.openxmlformats.org/officeDocument/2006/relationships/oleObject" Target="../embeddings/oleObject3.bin"/><Relationship Id="rId1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35.png"/><Relationship Id="rId5" Type="http://schemas.openxmlformats.org/officeDocument/2006/relationships/image" Target="../media/image34.wmf"/><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6.xml"/><Relationship Id="rId7" Type="http://schemas.openxmlformats.org/officeDocument/2006/relationships/image" Target="../media/image39.png"/><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24.emf"/></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2.png"/><Relationship Id="rId10" Type="http://schemas.openxmlformats.org/officeDocument/2006/relationships/image" Target="../media/image420.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8" Type="http://schemas.openxmlformats.org/officeDocument/2006/relationships/image" Target="../media/image43.emf"/><Relationship Id="rId3" Type="http://schemas.openxmlformats.org/officeDocument/2006/relationships/notesSlide" Target="../notesSlides/notesSlide8.xml"/><Relationship Id="rId21" Type="http://schemas.openxmlformats.org/officeDocument/2006/relationships/image" Target="../media/image52.png"/><Relationship Id="rId7" Type="http://schemas.openxmlformats.org/officeDocument/2006/relationships/oleObject" Target="../embeddings/oleObject6.bin"/><Relationship Id="rId12" Type="http://schemas.openxmlformats.org/officeDocument/2006/relationships/image" Target="../media/image50.png"/><Relationship Id="rId2" Type="http://schemas.openxmlformats.org/officeDocument/2006/relationships/slideLayout" Target="../slideLayouts/slideLayout2.xml"/><Relationship Id="rId20" Type="http://schemas.openxmlformats.org/officeDocument/2006/relationships/image" Target="../media/image51.png"/><Relationship Id="rId1" Type="http://schemas.openxmlformats.org/officeDocument/2006/relationships/vmlDrawing" Target="../drawings/vmlDrawing4.vml"/><Relationship Id="rId6" Type="http://schemas.openxmlformats.org/officeDocument/2006/relationships/image" Target="../media/image46.png"/><Relationship Id="rId11" Type="http://schemas.openxmlformats.org/officeDocument/2006/relationships/image" Target="../media/image49.png"/><Relationship Id="rId5" Type="http://schemas.openxmlformats.org/officeDocument/2006/relationships/image" Target="../media/image45.png"/><Relationship Id="rId10" Type="http://schemas.openxmlformats.org/officeDocument/2006/relationships/image" Target="../media/image48.png"/><Relationship Id="rId4" Type="http://schemas.openxmlformats.org/officeDocument/2006/relationships/image" Target="../media/image44.png"/><Relationship Id="rId9" Type="http://schemas.openxmlformats.org/officeDocument/2006/relationships/image" Target="../media/image47.png"/><Relationship Id="rId22"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60.png"/></Relationships>
</file>

<file path=ppt/slides/_rels/slide15.xml.rels><?xml version="1.0" encoding="UTF-8" standalone="yes"?>
<Relationships xmlns="http://schemas.openxmlformats.org/package/2006/relationships"><Relationship Id="rId2" Type="http://schemas.openxmlformats.org/officeDocument/2006/relationships/image" Target="../media/image57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2.png"/><Relationship Id="rId12" Type="http://schemas.openxmlformats.org/officeDocument/2006/relationships/image" Target="../media/image630.png"/><Relationship Id="rId2" Type="http://schemas.openxmlformats.org/officeDocument/2006/relationships/image" Target="../media/image61.png"/><Relationship Id="rId1" Type="http://schemas.openxmlformats.org/officeDocument/2006/relationships/slideLayout" Target="../slideLayouts/slideLayout2.xml"/><Relationship Id="rId11" Type="http://schemas.openxmlformats.org/officeDocument/2006/relationships/image" Target="../media/image620.png"/><Relationship Id="rId5" Type="http://schemas.openxmlformats.org/officeDocument/2006/relationships/image" Target="../media/image64.png"/><Relationship Id="rId4" Type="http://schemas.openxmlformats.org/officeDocument/2006/relationships/image" Target="../media/image63.png"/></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18.xml.rels><?xml version="1.0" encoding="UTF-8" standalone="yes"?>
<Relationships xmlns="http://schemas.openxmlformats.org/package/2006/relationships"><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780.png"/></Relationships>
</file>

<file path=ppt/slides/_rels/slide2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s>
</file>

<file path=ppt/slides/_rels/slide2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png"/></Relationships>
</file>

<file path=ppt/slides/_rels/slide23.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24.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6.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15.png"/><Relationship Id="rId5" Type="http://schemas.openxmlformats.org/officeDocument/2006/relationships/image" Target="../media/image113.emf"/><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8" Type="http://schemas.openxmlformats.org/officeDocument/2006/relationships/image" Target="../media/image123.pn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image" Target="../media/image117.png"/><Relationship Id="rId1" Type="http://schemas.openxmlformats.org/officeDocument/2006/relationships/slideLayout" Target="../slideLayouts/slideLayout2.xml"/><Relationship Id="rId6" Type="http://schemas.openxmlformats.org/officeDocument/2006/relationships/image" Target="../media/image121.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26.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7.png"/><Relationship Id="rId7" Type="http://schemas.openxmlformats.org/officeDocument/2006/relationships/image" Target="../media/image131.png"/><Relationship Id="rId12" Type="http://schemas.openxmlformats.org/officeDocument/2006/relationships/image" Target="../media/image136.png"/><Relationship Id="rId2" Type="http://schemas.openxmlformats.org/officeDocument/2006/relationships/image" Target="../media/image126.png"/><Relationship Id="rId1" Type="http://schemas.openxmlformats.org/officeDocument/2006/relationships/slideLayout" Target="../slideLayouts/slideLayout2.xml"/><Relationship Id="rId6" Type="http://schemas.openxmlformats.org/officeDocument/2006/relationships/image" Target="../media/image130.png"/><Relationship Id="rId11" Type="http://schemas.openxmlformats.org/officeDocument/2006/relationships/image" Target="../media/image135.png"/><Relationship Id="rId5" Type="http://schemas.openxmlformats.org/officeDocument/2006/relationships/image" Target="../media/image129.png"/><Relationship Id="rId10" Type="http://schemas.openxmlformats.org/officeDocument/2006/relationships/image" Target="../media/image134.png"/><Relationship Id="rId4" Type="http://schemas.openxmlformats.org/officeDocument/2006/relationships/image" Target="../media/image128.png"/><Relationship Id="rId9" Type="http://schemas.openxmlformats.org/officeDocument/2006/relationships/image" Target="../media/image133.png"/></Relationships>
</file>

<file path=ppt/slides/_rels/slide27.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9.png"/><Relationship Id="rId10" Type="http://schemas.openxmlformats.org/officeDocument/2006/relationships/image" Target="../media/image144.png"/><Relationship Id="rId4" Type="http://schemas.openxmlformats.org/officeDocument/2006/relationships/image" Target="../media/image138.png"/><Relationship Id="rId9" Type="http://schemas.openxmlformats.org/officeDocument/2006/relationships/image" Target="../media/image143.png"/></Relationships>
</file>

<file path=ppt/slides/_rels/slide28.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8.png"/><Relationship Id="rId5" Type="http://schemas.openxmlformats.org/officeDocument/2006/relationships/image" Target="../media/image147.png"/><Relationship Id="rId4" Type="http://schemas.openxmlformats.org/officeDocument/2006/relationships/image" Target="../media/image146.png"/></Relationships>
</file>

<file path=ppt/slides/_rels/slide29.xml.rels><?xml version="1.0" encoding="UTF-8" standalone="yes"?>
<Relationships xmlns="http://schemas.openxmlformats.org/package/2006/relationships"><Relationship Id="rId3" Type="http://schemas.openxmlformats.org/officeDocument/2006/relationships/image" Target="../media/image151.png"/><Relationship Id="rId7" Type="http://schemas.openxmlformats.org/officeDocument/2006/relationships/image" Target="../media/image15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9.bin"/><Relationship Id="rId5" Type="http://schemas.openxmlformats.org/officeDocument/2006/relationships/image" Target="../media/image149.w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8" Type="http://schemas.openxmlformats.org/officeDocument/2006/relationships/image" Target="../media/image154.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53.wmf"/><Relationship Id="rId5" Type="http://schemas.openxmlformats.org/officeDocument/2006/relationships/oleObject" Target="../embeddings/oleObject11.bin"/><Relationship Id="rId10" Type="http://schemas.openxmlformats.org/officeDocument/2006/relationships/image" Target="../media/image155.wmf"/><Relationship Id="rId4" Type="http://schemas.openxmlformats.org/officeDocument/2006/relationships/image" Target="../media/image152.wmf"/><Relationship Id="rId9" Type="http://schemas.openxmlformats.org/officeDocument/2006/relationships/oleObject" Target="../embeddings/oleObject13.bin"/></Relationships>
</file>

<file path=ppt/slides/_rels/slide3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5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7" Type="http://schemas.openxmlformats.org/officeDocument/2006/relationships/image" Target="../media/image1340.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60.png"/><Relationship Id="rId2" Type="http://schemas.openxmlformats.org/officeDocument/2006/relationships/image" Target="../media/image1350.png"/><Relationship Id="rId1" Type="http://schemas.openxmlformats.org/officeDocument/2006/relationships/slideLayout" Target="../slideLayouts/slideLayout2.xml"/><Relationship Id="rId6" Type="http://schemas.openxmlformats.org/officeDocument/2006/relationships/image" Target="../media/image1390.png"/><Relationship Id="rId5" Type="http://schemas.openxmlformats.org/officeDocument/2006/relationships/image" Target="../media/image1380.png"/><Relationship Id="rId4" Type="http://schemas.openxmlformats.org/officeDocument/2006/relationships/image" Target="../media/image1370.png"/></Relationships>
</file>

<file path=ppt/slides/_rels/slide3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7.xml"/><Relationship Id="rId6" Type="http://schemas.openxmlformats.org/officeDocument/2006/relationships/image" Target="../media/image165.png"/><Relationship Id="rId5" Type="http://schemas.openxmlformats.org/officeDocument/2006/relationships/image" Target="../media/image164.png"/><Relationship Id="rId4" Type="http://schemas.openxmlformats.org/officeDocument/2006/relationships/image" Target="../media/image16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image" Target="../media/image166.pn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69.png"/><Relationship Id="rId4" Type="http://schemas.openxmlformats.org/officeDocument/2006/relationships/image" Target="../media/image168.png"/></Relationships>
</file>

<file path=ppt/slides/_rels/slide41.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73.emf"/><Relationship Id="rId4" Type="http://schemas.openxmlformats.org/officeDocument/2006/relationships/oleObject" Target="../embeddings/oleObject14.bin"/></Relationships>
</file>

<file path=ppt/slides/_rels/slide45.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027"/>
          <p:cNvSpPr>
            <a:spLocks noChangeArrowheads="1"/>
          </p:cNvSpPr>
          <p:nvPr/>
        </p:nvSpPr>
        <p:spPr bwMode="auto">
          <a:xfrm>
            <a:off x="2640013" y="476250"/>
            <a:ext cx="691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b="1">
                <a:solidFill>
                  <a:srgbClr val="CC3300"/>
                </a:solidFill>
              </a:rPr>
              <a:t>第二章  线性代数方程组的解法</a:t>
            </a:r>
          </a:p>
        </p:txBody>
      </p:sp>
      <p:sp>
        <p:nvSpPr>
          <p:cNvPr id="3075" name="Text Box 1028"/>
          <p:cNvSpPr txBox="1">
            <a:spLocks noChangeArrowheads="1"/>
          </p:cNvSpPr>
          <p:nvPr/>
        </p:nvSpPr>
        <p:spPr bwMode="auto">
          <a:xfrm>
            <a:off x="2927350" y="1196975"/>
            <a:ext cx="7993186" cy="3862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5000"/>
              </a:lnSpc>
              <a:spcBef>
                <a:spcPct val="0"/>
              </a:spcBef>
              <a:buFontTx/>
              <a:buNone/>
            </a:pPr>
            <a:r>
              <a:rPr lang="en-US" altLang="zh-CN" sz="2800" b="1" dirty="0"/>
              <a:t>2. 1  </a:t>
            </a:r>
            <a:r>
              <a:rPr lang="zh-CN" altLang="en-US" sz="2800" b="1" dirty="0">
                <a:latin typeface="宋体" panose="02010600030101010101" pitchFamily="2" charset="-122"/>
              </a:rPr>
              <a:t>高斯消元法</a:t>
            </a:r>
          </a:p>
          <a:p>
            <a:pPr eaLnBrk="1" hangingPunct="1">
              <a:lnSpc>
                <a:spcPct val="125000"/>
              </a:lnSpc>
              <a:spcBef>
                <a:spcPct val="0"/>
              </a:spcBef>
              <a:buFontTx/>
              <a:buNone/>
            </a:pPr>
            <a:r>
              <a:rPr lang="en-US" altLang="zh-CN" sz="2800" b="1" dirty="0"/>
              <a:t>2. 2  </a:t>
            </a:r>
            <a:r>
              <a:rPr lang="zh-CN" altLang="en-US" sz="2800" b="1" dirty="0">
                <a:latin typeface="宋体" panose="02010600030101010101" pitchFamily="2" charset="-122"/>
              </a:rPr>
              <a:t>矩阵的</a:t>
            </a:r>
            <a:r>
              <a:rPr lang="en-US" altLang="zh-CN" sz="2800" b="1" dirty="0">
                <a:latin typeface="宋体" panose="02010600030101010101" pitchFamily="2" charset="-122"/>
              </a:rPr>
              <a:t>LU</a:t>
            </a:r>
            <a:r>
              <a:rPr lang="zh-CN" altLang="en-US" sz="2800" b="1" dirty="0">
                <a:latin typeface="宋体" panose="02010600030101010101" pitchFamily="2" charset="-122"/>
              </a:rPr>
              <a:t>分解</a:t>
            </a:r>
          </a:p>
          <a:p>
            <a:pPr eaLnBrk="1" hangingPunct="1">
              <a:lnSpc>
                <a:spcPct val="125000"/>
              </a:lnSpc>
              <a:spcBef>
                <a:spcPct val="0"/>
              </a:spcBef>
              <a:buFontTx/>
              <a:buNone/>
            </a:pPr>
            <a:r>
              <a:rPr lang="en-US" altLang="zh-CN" sz="2800" b="1" dirty="0"/>
              <a:t>2. 3  </a:t>
            </a:r>
            <a:r>
              <a:rPr lang="zh-CN" altLang="en-US" sz="2800" b="1" dirty="0">
                <a:solidFill>
                  <a:srgbClr val="7030A0"/>
                </a:solidFill>
                <a:latin typeface="宋体" panose="02010600030101010101" pitchFamily="2" charset="-122"/>
              </a:rPr>
              <a:t>雅可比迭代</a:t>
            </a:r>
          </a:p>
          <a:p>
            <a:pPr eaLnBrk="1" hangingPunct="1">
              <a:lnSpc>
                <a:spcPct val="125000"/>
              </a:lnSpc>
              <a:spcBef>
                <a:spcPct val="0"/>
              </a:spcBef>
              <a:buFontTx/>
              <a:buNone/>
            </a:pPr>
            <a:r>
              <a:rPr lang="en-US" altLang="zh-CN" sz="2800" b="1" dirty="0">
                <a:solidFill>
                  <a:srgbClr val="7030A0"/>
                </a:solidFill>
              </a:rPr>
              <a:t>2. 4  </a:t>
            </a:r>
            <a:r>
              <a:rPr lang="zh-CN" altLang="en-US" sz="2800" b="1" dirty="0">
                <a:solidFill>
                  <a:srgbClr val="7030A0"/>
                </a:solidFill>
                <a:latin typeface="宋体" panose="02010600030101010101" pitchFamily="2" charset="-122"/>
              </a:rPr>
              <a:t>高斯</a:t>
            </a:r>
            <a:r>
              <a:rPr lang="en-US" altLang="zh-CN" sz="2800" b="1" dirty="0">
                <a:solidFill>
                  <a:srgbClr val="7030A0"/>
                </a:solidFill>
                <a:latin typeface="宋体" panose="02010600030101010101" pitchFamily="2" charset="-122"/>
              </a:rPr>
              <a:t>-</a:t>
            </a:r>
            <a:r>
              <a:rPr lang="zh-CN" altLang="en-US" sz="2800" b="1" dirty="0">
                <a:solidFill>
                  <a:srgbClr val="7030A0"/>
                </a:solidFill>
                <a:latin typeface="宋体" panose="02010600030101010101" pitchFamily="2" charset="-122"/>
              </a:rPr>
              <a:t>塞德尔迭代</a:t>
            </a:r>
            <a:endParaRPr lang="en-US" altLang="zh-CN" sz="2800" b="1" dirty="0">
              <a:solidFill>
                <a:srgbClr val="7030A0"/>
              </a:solidFill>
              <a:latin typeface="宋体" panose="02010600030101010101" pitchFamily="2" charset="-122"/>
            </a:endParaRPr>
          </a:p>
          <a:p>
            <a:pPr eaLnBrk="1" hangingPunct="1">
              <a:lnSpc>
                <a:spcPct val="125000"/>
              </a:lnSpc>
              <a:spcBef>
                <a:spcPct val="0"/>
              </a:spcBef>
              <a:buFontTx/>
              <a:buNone/>
            </a:pPr>
            <a:r>
              <a:rPr lang="en-US" altLang="zh-CN" sz="2800" b="1" dirty="0">
                <a:solidFill>
                  <a:srgbClr val="7030A0"/>
                </a:solidFill>
              </a:rPr>
              <a:t>2. 5  </a:t>
            </a:r>
            <a:r>
              <a:rPr lang="zh-CN" altLang="en-US" sz="2800" b="1" dirty="0">
                <a:solidFill>
                  <a:srgbClr val="7030A0"/>
                </a:solidFill>
                <a:latin typeface="宋体" panose="02010600030101010101" pitchFamily="2" charset="-122"/>
              </a:rPr>
              <a:t>逐次超松弛迭代法</a:t>
            </a:r>
            <a:endParaRPr lang="en-US" altLang="zh-CN" sz="2800" b="1" dirty="0">
              <a:solidFill>
                <a:srgbClr val="7030A0"/>
              </a:solidFill>
              <a:latin typeface="宋体" panose="02010600030101010101" pitchFamily="2" charset="-122"/>
            </a:endParaRPr>
          </a:p>
          <a:p>
            <a:pPr eaLnBrk="1" hangingPunct="1">
              <a:lnSpc>
                <a:spcPct val="125000"/>
              </a:lnSpc>
              <a:spcBef>
                <a:spcPct val="0"/>
              </a:spcBef>
              <a:buFontTx/>
              <a:buNone/>
            </a:pPr>
            <a:r>
              <a:rPr lang="en-US" altLang="zh-CN" sz="2800" b="1" dirty="0">
                <a:solidFill>
                  <a:srgbClr val="7030A0"/>
                </a:solidFill>
              </a:rPr>
              <a:t>2. 6  </a:t>
            </a:r>
            <a:r>
              <a:rPr lang="zh-CN" altLang="en-US" sz="2800" b="1" dirty="0">
                <a:solidFill>
                  <a:srgbClr val="7030A0"/>
                </a:solidFill>
                <a:latin typeface="宋体" panose="02010600030101010101" pitchFamily="2" charset="-122"/>
              </a:rPr>
              <a:t>收敛性定理</a:t>
            </a:r>
            <a:r>
              <a:rPr lang="en-US" altLang="zh-CN" sz="2800" b="1" dirty="0">
                <a:solidFill>
                  <a:srgbClr val="7030A0"/>
                </a:solidFill>
                <a:latin typeface="宋体" panose="02010600030101010101" pitchFamily="2" charset="-122"/>
              </a:rPr>
              <a:t>(</a:t>
            </a:r>
            <a:r>
              <a:rPr lang="zh-CN" altLang="en-US" sz="2800" b="1" dirty="0">
                <a:solidFill>
                  <a:srgbClr val="7030A0"/>
                </a:solidFill>
                <a:latin typeface="宋体" panose="02010600030101010101" pitchFamily="2" charset="-122"/>
              </a:rPr>
              <a:t>可简单地判定收敛或发散）</a:t>
            </a:r>
            <a:endParaRPr lang="en-US" altLang="zh-CN" sz="2800" b="1" dirty="0">
              <a:solidFill>
                <a:srgbClr val="7030A0"/>
              </a:solidFill>
              <a:latin typeface="宋体" panose="02010600030101010101" pitchFamily="2" charset="-122"/>
            </a:endParaRPr>
          </a:p>
          <a:p>
            <a:pPr eaLnBrk="1" hangingPunct="1">
              <a:lnSpc>
                <a:spcPct val="125000"/>
              </a:lnSpc>
              <a:spcBef>
                <a:spcPct val="0"/>
              </a:spcBef>
              <a:buNone/>
            </a:pPr>
            <a:r>
              <a:rPr lang="en-US" altLang="zh-CN" sz="2800" b="1" dirty="0">
                <a:solidFill>
                  <a:srgbClr val="7030A0"/>
                </a:solidFill>
              </a:rPr>
              <a:t>2. 7</a:t>
            </a:r>
            <a:r>
              <a:rPr lang="zh-CN" altLang="en-US" sz="2800" b="1" dirty="0">
                <a:solidFill>
                  <a:srgbClr val="7030A0"/>
                </a:solidFill>
                <a:latin typeface="宋体" panose="02010600030101010101" pitchFamily="2" charset="-122"/>
              </a:rPr>
              <a:t>条件数与病态方程组（了解条件数）</a:t>
            </a:r>
            <a:endParaRPr lang="en-US" altLang="zh-CN" sz="2800" b="1" dirty="0">
              <a:solidFill>
                <a:srgbClr val="7030A0"/>
              </a:solidFill>
              <a:latin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83432" y="1700808"/>
            <a:ext cx="9865096" cy="2754600"/>
          </a:xfrm>
          <a:prstGeom prst="rect">
            <a:avLst/>
          </a:prstGeom>
          <a:noFill/>
        </p:spPr>
        <p:txBody>
          <a:bodyPr wrap="square" rtlCol="0">
            <a:spAutoFit/>
          </a:bodyPr>
          <a:lstStyle/>
          <a:p>
            <a:pPr>
              <a:lnSpc>
                <a:spcPct val="150000"/>
              </a:lnSpc>
              <a:spcBef>
                <a:spcPts val="600"/>
              </a:spcBef>
            </a:pPr>
            <a:r>
              <a:rPr lang="zh-CN" altLang="en-US" sz="2800" dirty="0"/>
              <a:t>       高斯消去法简单，其计算量为</a:t>
            </a:r>
            <a:r>
              <a:rPr lang="en-US" altLang="zh-CN" sz="2800" dirty="0"/>
              <a:t>O(n</a:t>
            </a:r>
            <a:r>
              <a:rPr lang="en-US" altLang="zh-CN" sz="2800" baseline="30000" dirty="0"/>
              <a:t>3</a:t>
            </a:r>
            <a:r>
              <a:rPr lang="en-US" altLang="zh-CN" sz="2800" dirty="0"/>
              <a:t>)</a:t>
            </a:r>
            <a:r>
              <a:rPr lang="zh-CN" altLang="en-US" sz="2800" dirty="0"/>
              <a:t>，当</a:t>
            </a:r>
            <a:r>
              <a:rPr lang="en-US" altLang="zh-CN" sz="2800" dirty="0"/>
              <a:t>n</a:t>
            </a:r>
            <a:r>
              <a:rPr lang="zh-CN" altLang="en-US" sz="2800" dirty="0"/>
              <a:t>很大时，将不适合。</a:t>
            </a:r>
            <a:endParaRPr lang="en-US" altLang="zh-CN" sz="2800" dirty="0"/>
          </a:p>
          <a:p>
            <a:pPr>
              <a:lnSpc>
                <a:spcPct val="150000"/>
              </a:lnSpc>
              <a:spcBef>
                <a:spcPts val="600"/>
              </a:spcBef>
            </a:pPr>
            <a:r>
              <a:rPr lang="zh-CN" altLang="en-US" sz="2800" dirty="0"/>
              <a:t>     但在实际工程问题中，会存在大规模的线性代数方程组或非线性方程组，则该方法将不适合求解这种问题。</a:t>
            </a:r>
          </a:p>
        </p:txBody>
      </p:sp>
    </p:spTree>
    <p:extLst>
      <p:ext uri="{BB962C8B-B14F-4D97-AF65-F5344CB8AC3E}">
        <p14:creationId xmlns:p14="http://schemas.microsoft.com/office/powerpoint/2010/main" val="2335720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1"/>
          <p:cNvSpPr txBox="1">
            <a:spLocks noChangeArrowheads="1"/>
          </p:cNvSpPr>
          <p:nvPr/>
        </p:nvSpPr>
        <p:spPr bwMode="auto">
          <a:xfrm>
            <a:off x="4800600" y="2349500"/>
            <a:ext cx="2954338"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5400"/>
              <a:t>迭  代  法</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3"/>
          <p:cNvGrpSpPr>
            <a:grpSpLocks/>
          </p:cNvGrpSpPr>
          <p:nvPr/>
        </p:nvGrpSpPr>
        <p:grpSpPr bwMode="auto">
          <a:xfrm>
            <a:off x="2166938" y="44450"/>
            <a:ext cx="3152775" cy="1271588"/>
            <a:chOff x="642938" y="44450"/>
            <a:chExt cx="3152775" cy="1271588"/>
          </a:xfrm>
        </p:grpSpPr>
        <p:sp>
          <p:nvSpPr>
            <p:cNvPr id="4" name="矩形 4"/>
            <p:cNvSpPr>
              <a:spLocks noChangeArrowheads="1"/>
            </p:cNvSpPr>
            <p:nvPr/>
          </p:nvSpPr>
          <p:spPr bwMode="auto">
            <a:xfrm>
              <a:off x="642938" y="44450"/>
              <a:ext cx="3067050" cy="738188"/>
            </a:xfrm>
            <a:prstGeom prst="rect">
              <a:avLst/>
            </a:prstGeom>
            <a:noFill/>
            <a:ln w="9525">
              <a:noFill/>
              <a:miter lim="800000"/>
              <a:headEnd/>
              <a:tailEnd/>
            </a:ln>
          </p:spPr>
          <p:txBody>
            <a:bodyPr wrap="none">
              <a:spAutoFit/>
            </a:bodyPr>
            <a:lstStyle/>
            <a:p>
              <a:pPr eaLnBrk="1" hangingPunct="1">
                <a:lnSpc>
                  <a:spcPct val="150000"/>
                </a:lnSpc>
                <a:defRPr/>
              </a:pPr>
              <a:r>
                <a:rPr lang="en-US" altLang="zh-CN" sz="2800" b="1" dirty="0">
                  <a:solidFill>
                    <a:schemeClr val="tx2"/>
                  </a:solidFill>
                </a:rPr>
                <a:t>§</a:t>
              </a:r>
              <a:r>
                <a:rPr lang="en-US" altLang="zh-CN" sz="2800" b="1" dirty="0">
                  <a:latin typeface="+mn-lt"/>
                  <a:ea typeface="+mn-ea"/>
                </a:rPr>
                <a:t>2. 3  </a:t>
              </a:r>
              <a:r>
                <a:rPr lang="zh-CN" altLang="en-US" sz="2800" b="1" dirty="0">
                  <a:solidFill>
                    <a:schemeClr val="accent2"/>
                  </a:solidFill>
                  <a:latin typeface="+mn-lt"/>
                  <a:ea typeface="+mn-ea"/>
                </a:rPr>
                <a:t>雅可比迭代</a:t>
              </a:r>
            </a:p>
          </p:txBody>
        </p:sp>
        <p:sp>
          <p:nvSpPr>
            <p:cNvPr id="6158" name="矩形 9"/>
            <p:cNvSpPr>
              <a:spLocks noChangeArrowheads="1"/>
            </p:cNvSpPr>
            <p:nvPr/>
          </p:nvSpPr>
          <p:spPr bwMode="auto">
            <a:xfrm>
              <a:off x="684213" y="854075"/>
              <a:ext cx="3111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t>1</a:t>
              </a:r>
              <a:r>
                <a:rPr lang="en-US" altLang="zh-CN" sz="2400" dirty="0">
                  <a:latin typeface="宋体" panose="02010600030101010101" pitchFamily="2" charset="-122"/>
                </a:rPr>
                <a:t>. </a:t>
              </a:r>
              <a:r>
                <a:rPr lang="zh-CN" altLang="en-US" sz="2400" b="1" dirty="0">
                  <a:latin typeface="宋体" panose="02010600030101010101" pitchFamily="2" charset="-122"/>
                </a:rPr>
                <a:t>简单迭代法的构造</a:t>
              </a:r>
            </a:p>
          </p:txBody>
        </p:sp>
      </p:grpSp>
      <p:sp>
        <p:nvSpPr>
          <p:cNvPr id="11" name="Rectangle 3"/>
          <p:cNvSpPr>
            <a:spLocks noChangeArrowheads="1"/>
          </p:cNvSpPr>
          <p:nvPr/>
        </p:nvSpPr>
        <p:spPr bwMode="auto">
          <a:xfrm>
            <a:off x="2495550" y="1393825"/>
            <a:ext cx="32400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latin typeface="宋体" panose="02010600030101010101" pitchFamily="2" charset="-122"/>
              </a:rPr>
              <a:t>迭代法的一般格式为</a:t>
            </a:r>
          </a:p>
        </p:txBody>
      </p:sp>
      <mc:AlternateContent xmlns:mc="http://schemas.openxmlformats.org/markup-compatibility/2006">
        <mc:Choice xmlns:a14="http://schemas.microsoft.com/office/drawing/2010/main" Requires="a14">
          <p:sp>
            <p:nvSpPr>
              <p:cNvPr id="12" name="Object 4"/>
              <p:cNvSpPr txBox="1"/>
              <p:nvPr/>
            </p:nvSpPr>
            <p:spPr bwMode="auto">
              <a:xfrm>
                <a:off x="2855913" y="1993900"/>
                <a:ext cx="6264275" cy="576263"/>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𝑘</m:t>
                          </m:r>
                        </m:sub>
                      </m:sSub>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𝑚</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m:t>
                      </m:r>
                    </m:oMath>
                  </m:oMathPara>
                </a14:m>
                <a:endParaRPr lang="zh-CN" altLang="en-US"/>
              </a:p>
            </p:txBody>
          </p:sp>
        </mc:Choice>
        <mc:Fallback>
          <p:sp>
            <p:nvSpPr>
              <p:cNvPr id="12" name="Object 4"/>
              <p:cNvSpPr txBox="1">
                <a:spLocks noRot="1" noChangeAspect="1" noMove="1" noResize="1" noEditPoints="1" noAdjustHandles="1" noChangeArrowheads="1" noChangeShapeType="1" noTextEdit="1"/>
              </p:cNvSpPr>
              <p:nvPr/>
            </p:nvSpPr>
            <p:spPr bwMode="auto">
              <a:xfrm>
                <a:off x="2855913" y="1993900"/>
                <a:ext cx="6264275" cy="576263"/>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27657" name="Rectangle 7"/>
          <p:cNvSpPr>
            <a:spLocks noChangeArrowheads="1"/>
          </p:cNvSpPr>
          <p:nvPr/>
        </p:nvSpPr>
        <p:spPr bwMode="auto">
          <a:xfrm>
            <a:off x="2855913" y="2724150"/>
            <a:ext cx="4249737"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a:t>若</a:t>
            </a:r>
            <a:r>
              <a:rPr lang="zh-CN" altLang="en-US" sz="2800"/>
              <a:t> </a:t>
            </a:r>
            <a:r>
              <a:rPr lang="en-US" altLang="zh-CN" sz="2400" i="1"/>
              <a:t>m &gt; </a:t>
            </a:r>
            <a:r>
              <a:rPr lang="en-US" altLang="zh-CN" sz="2400"/>
              <a:t>0</a:t>
            </a:r>
            <a:r>
              <a:rPr lang="zh-CN" altLang="en-US" sz="2400"/>
              <a:t>，称为多步迭代法；</a:t>
            </a:r>
            <a:endParaRPr lang="en-US" altLang="zh-CN" sz="2400"/>
          </a:p>
          <a:p>
            <a:pPr eaLnBrk="1" hangingPunct="1">
              <a:lnSpc>
                <a:spcPct val="150000"/>
              </a:lnSpc>
              <a:spcBef>
                <a:spcPct val="0"/>
              </a:spcBef>
              <a:buFontTx/>
              <a:buNone/>
            </a:pPr>
            <a:r>
              <a:rPr lang="zh-CN" altLang="en-US" sz="2400"/>
              <a:t>若 </a:t>
            </a:r>
            <a:r>
              <a:rPr lang="en-US" altLang="zh-CN" sz="2400" i="1"/>
              <a:t>m </a:t>
            </a:r>
            <a:r>
              <a:rPr lang="en-US" altLang="zh-CN" sz="2400"/>
              <a:t>= 0</a:t>
            </a:r>
            <a:r>
              <a:rPr lang="zh-CN" altLang="en-US" sz="2400"/>
              <a:t>，称为单步迭代法。</a:t>
            </a:r>
          </a:p>
        </p:txBody>
      </p:sp>
      <p:grpSp>
        <p:nvGrpSpPr>
          <p:cNvPr id="3" name="组合 12"/>
          <p:cNvGrpSpPr>
            <a:grpSpLocks/>
          </p:cNvGrpSpPr>
          <p:nvPr/>
        </p:nvGrpSpPr>
        <p:grpSpPr bwMode="auto">
          <a:xfrm>
            <a:off x="2160588" y="3948113"/>
            <a:ext cx="8388350" cy="1292225"/>
            <a:chOff x="539750" y="4195763"/>
            <a:chExt cx="8388350" cy="1292878"/>
          </a:xfrm>
        </p:grpSpPr>
        <mc:AlternateContent xmlns:mc="http://schemas.openxmlformats.org/markup-compatibility/2006">
          <mc:Choice xmlns:a14="http://schemas.microsoft.com/office/drawing/2010/main" Requires="a14">
            <p:sp>
              <p:nvSpPr>
                <p:cNvPr id="6154" name="Object 13"/>
                <p:cNvSpPr txBox="1"/>
                <p:nvPr/>
              </p:nvSpPr>
              <p:spPr bwMode="auto">
                <a:xfrm>
                  <a:off x="4071938" y="4340225"/>
                  <a:ext cx="4603750" cy="55880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𝑘</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𝑘</m:t>
                            </m:r>
                          </m:sub>
                        </m:sSub>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=0,1,2,...</m:t>
                        </m:r>
                      </m:oMath>
                    </m:oMathPara>
                  </a14:m>
                  <a:endParaRPr lang="zh-CN" altLang="en-US"/>
                </a:p>
              </p:txBody>
            </p:sp>
          </mc:Choice>
          <mc:Fallback>
            <p:sp>
              <p:nvSpPr>
                <p:cNvPr id="6154" name="Object 13"/>
                <p:cNvSpPr txBox="1">
                  <a:spLocks noRot="1" noChangeAspect="1" noMove="1" noResize="1" noEditPoints="1" noAdjustHandles="1" noChangeArrowheads="1" noChangeShapeType="1" noTextEdit="1"/>
                </p:cNvSpPr>
                <p:nvPr/>
              </p:nvSpPr>
              <p:spPr bwMode="auto">
                <a:xfrm>
                  <a:off x="4071938" y="4340225"/>
                  <a:ext cx="4603750" cy="558800"/>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6155" name="Rectangle 16"/>
            <p:cNvSpPr>
              <a:spLocks noChangeArrowheads="1"/>
            </p:cNvSpPr>
            <p:nvPr/>
          </p:nvSpPr>
          <p:spPr bwMode="auto">
            <a:xfrm>
              <a:off x="539750" y="4195763"/>
              <a:ext cx="8388350" cy="1292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800"/>
                <a:t>　　</a:t>
              </a:r>
              <a:r>
                <a:rPr lang="zh-CN" altLang="en-US" sz="2400"/>
                <a:t>若  　为线性的，即                  　　　　　　　                称为单步线性迭代法， </a:t>
              </a:r>
              <a:r>
                <a:rPr lang="en-US" altLang="zh-CN" sz="2400" i="1"/>
                <a:t>B</a:t>
              </a:r>
              <a:r>
                <a:rPr lang="en-US" altLang="zh-CN" sz="2400" i="1" baseline="-25000"/>
                <a:t>k</a:t>
              </a:r>
              <a:r>
                <a:rPr lang="zh-CN" altLang="en-US" sz="2400"/>
                <a:t> 称为迭代矩阵。</a:t>
              </a:r>
            </a:p>
          </p:txBody>
        </p:sp>
        <mc:AlternateContent xmlns:mc="http://schemas.openxmlformats.org/markup-compatibility/2006">
          <mc:Choice xmlns:a14="http://schemas.microsoft.com/office/drawing/2010/main" Requires="a14">
            <p:sp>
              <p:nvSpPr>
                <p:cNvPr id="6156" name="Object 17"/>
                <p:cNvSpPr txBox="1"/>
                <p:nvPr/>
              </p:nvSpPr>
              <p:spPr bwMode="auto">
                <a:xfrm>
                  <a:off x="1682750" y="4324350"/>
                  <a:ext cx="422275" cy="5207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𝑓</m:t>
                            </m:r>
                          </m:e>
                          <m:sub>
                            <m:r>
                              <a:rPr lang="zh-CN" altLang="en-US" i="1">
                                <a:solidFill>
                                  <a:srgbClr val="000000"/>
                                </a:solidFill>
                                <a:latin typeface="Cambria Math" panose="02040503050406030204" pitchFamily="18" charset="0"/>
                              </a:rPr>
                              <m:t>𝑘</m:t>
                            </m:r>
                          </m:sub>
                        </m:sSub>
                      </m:oMath>
                    </m:oMathPara>
                  </a14:m>
                  <a:endParaRPr lang="zh-CN" altLang="en-US"/>
                </a:p>
              </p:txBody>
            </p:sp>
          </mc:Choice>
          <mc:Fallback>
            <p:sp>
              <p:nvSpPr>
                <p:cNvPr id="6156" name="Object 17"/>
                <p:cNvSpPr txBox="1">
                  <a:spLocks noRot="1" noChangeAspect="1" noMove="1" noResize="1" noEditPoints="1" noAdjustHandles="1" noChangeArrowheads="1" noChangeShapeType="1" noTextEdit="1"/>
                </p:cNvSpPr>
                <p:nvPr/>
              </p:nvSpPr>
              <p:spPr bwMode="auto">
                <a:xfrm>
                  <a:off x="1682750" y="4324350"/>
                  <a:ext cx="422275" cy="520700"/>
                </a:xfrm>
                <a:prstGeom prst="rect">
                  <a:avLst/>
                </a:prstGeom>
                <a:blipFill>
                  <a:blip r:embed="rId5"/>
                  <a:stretch>
                    <a:fillRect l="-13043" b="-5882"/>
                  </a:stretch>
                </a:blipFill>
                <a:ln>
                  <a:noFill/>
                </a:ln>
                <a:extLst/>
              </p:spPr>
              <p:txBody>
                <a:bodyPr/>
                <a:lstStyle/>
                <a:p>
                  <a:r>
                    <a:rPr lang="zh-CN" altLang="en-US">
                      <a:noFill/>
                    </a:rPr>
                    <a:t> </a:t>
                  </a:r>
                </a:p>
              </p:txBody>
            </p:sp>
          </mc:Fallback>
        </mc:AlternateContent>
      </p:grpSp>
      <p:grpSp>
        <p:nvGrpSpPr>
          <p:cNvPr id="5" name="组合 13"/>
          <p:cNvGrpSpPr>
            <a:grpSpLocks/>
          </p:cNvGrpSpPr>
          <p:nvPr/>
        </p:nvGrpSpPr>
        <p:grpSpPr bwMode="auto">
          <a:xfrm>
            <a:off x="2855913" y="5100638"/>
            <a:ext cx="7796212" cy="1200150"/>
            <a:chOff x="1097322" y="5338763"/>
            <a:chExt cx="7795853" cy="1200735"/>
          </a:xfrm>
        </p:grpSpPr>
        <p:sp>
          <p:nvSpPr>
            <p:cNvPr id="6152" name="Rectangle 23"/>
            <p:cNvSpPr>
              <a:spLocks noChangeArrowheads="1"/>
            </p:cNvSpPr>
            <p:nvPr/>
          </p:nvSpPr>
          <p:spPr bwMode="auto">
            <a:xfrm>
              <a:off x="1097322" y="5338763"/>
              <a:ext cx="7795853" cy="120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a:latin typeface="楷体_GB2312" pitchFamily="49" charset="-122"/>
                  <a:ea typeface="楷体_GB2312" pitchFamily="49" charset="-122"/>
                </a:rPr>
                <a:t>若</a:t>
              </a:r>
              <a:r>
                <a:rPr lang="en-US" altLang="zh-CN" sz="2400" i="1"/>
                <a:t>B</a:t>
              </a:r>
              <a:r>
                <a:rPr lang="en-US" altLang="zh-CN" sz="2400" i="1" baseline="-25000"/>
                <a:t>k</a:t>
              </a:r>
              <a:r>
                <a:rPr lang="zh-CN" altLang="en-US" sz="2400"/>
                <a:t> </a:t>
              </a:r>
              <a:r>
                <a:rPr lang="zh-CN" altLang="en-US" sz="2400">
                  <a:latin typeface="楷体_GB2312" pitchFamily="49" charset="-122"/>
                  <a:ea typeface="楷体_GB2312" pitchFamily="49" charset="-122"/>
                </a:rPr>
                <a:t>，</a:t>
              </a:r>
              <a:r>
                <a:rPr lang="en-US" altLang="zh-CN" sz="2400" i="1"/>
                <a:t>g</a:t>
              </a:r>
              <a:r>
                <a:rPr lang="en-US" altLang="zh-CN" sz="2400" i="1" baseline="-25000"/>
                <a:t>k </a:t>
              </a:r>
              <a:r>
                <a:rPr lang="zh-CN" altLang="en-US" sz="2400">
                  <a:latin typeface="楷体_GB2312" pitchFamily="49" charset="-122"/>
                  <a:ea typeface="楷体_GB2312" pitchFamily="49" charset="-122"/>
                </a:rPr>
                <a:t>与 </a:t>
              </a:r>
              <a:r>
                <a:rPr lang="en-US" altLang="zh-CN" sz="2400" i="1">
                  <a:ea typeface="楷体_GB2312" pitchFamily="49" charset="-122"/>
                </a:rPr>
                <a:t>k </a:t>
              </a:r>
              <a:r>
                <a:rPr lang="zh-CN" altLang="en-US" sz="2400">
                  <a:latin typeface="楷体_GB2312" pitchFamily="49" charset="-122"/>
                  <a:ea typeface="楷体_GB2312" pitchFamily="49" charset="-122"/>
                </a:rPr>
                <a:t>无关，即            </a:t>
              </a:r>
            </a:p>
            <a:p>
              <a:pPr eaLnBrk="1" hangingPunct="1">
                <a:lnSpc>
                  <a:spcPct val="150000"/>
                </a:lnSpc>
                <a:spcBef>
                  <a:spcPct val="0"/>
                </a:spcBef>
                <a:buFontTx/>
                <a:buNone/>
              </a:pPr>
              <a:r>
                <a:rPr lang="zh-CN" altLang="en-US" sz="2400">
                  <a:latin typeface="楷体_GB2312" pitchFamily="49" charset="-122"/>
                  <a:ea typeface="楷体_GB2312" pitchFamily="49" charset="-122"/>
                </a:rPr>
                <a:t>称为</a:t>
              </a:r>
              <a:r>
                <a:rPr lang="zh-CN" altLang="en-US" sz="2400" b="1">
                  <a:solidFill>
                    <a:srgbClr val="7030A0"/>
                  </a:solidFill>
                  <a:latin typeface="楷体_GB2312" pitchFamily="49" charset="-122"/>
                  <a:ea typeface="楷体_GB2312" pitchFamily="49" charset="-122"/>
                </a:rPr>
                <a:t>单步</a:t>
              </a:r>
              <a:r>
                <a:rPr lang="zh-CN" altLang="en-US" sz="2400" b="1">
                  <a:solidFill>
                    <a:srgbClr val="FF0000"/>
                  </a:solidFill>
                  <a:latin typeface="楷体_GB2312" pitchFamily="49" charset="-122"/>
                  <a:ea typeface="楷体_GB2312" pitchFamily="49" charset="-122"/>
                </a:rPr>
                <a:t>定常</a:t>
              </a:r>
              <a:r>
                <a:rPr lang="zh-CN" altLang="en-US" sz="2400" b="1">
                  <a:solidFill>
                    <a:srgbClr val="7030A0"/>
                  </a:solidFill>
                  <a:latin typeface="楷体_GB2312" pitchFamily="49" charset="-122"/>
                  <a:ea typeface="楷体_GB2312" pitchFamily="49" charset="-122"/>
                </a:rPr>
                <a:t>线性迭代法</a:t>
              </a:r>
              <a:r>
                <a:rPr lang="zh-CN" altLang="en-US" sz="2400">
                  <a:latin typeface="楷体_GB2312" pitchFamily="49" charset="-122"/>
                  <a:ea typeface="楷体_GB2312" pitchFamily="49" charset="-122"/>
                </a:rPr>
                <a:t>，或者叫</a:t>
              </a:r>
              <a:r>
                <a:rPr lang="zh-CN" altLang="en-US" sz="2400" b="1">
                  <a:solidFill>
                    <a:srgbClr val="7030A0"/>
                  </a:solidFill>
                  <a:latin typeface="楷体_GB2312" pitchFamily="49" charset="-122"/>
                  <a:ea typeface="楷体_GB2312" pitchFamily="49" charset="-122"/>
                </a:rPr>
                <a:t>简单迭代法</a:t>
              </a:r>
              <a:r>
                <a:rPr lang="zh-CN" altLang="en-US" sz="2400">
                  <a:latin typeface="楷体_GB2312" pitchFamily="49" charset="-122"/>
                  <a:ea typeface="楷体_GB2312" pitchFamily="49" charset="-122"/>
                </a:rPr>
                <a:t>。</a:t>
              </a:r>
            </a:p>
          </p:txBody>
        </p:sp>
        <mc:AlternateContent xmlns:mc="http://schemas.openxmlformats.org/markup-compatibility/2006">
          <mc:Choice xmlns:a14="http://schemas.microsoft.com/office/drawing/2010/main" Requires="a14">
            <p:sp>
              <p:nvSpPr>
                <p:cNvPr id="6153" name="Object 21"/>
                <p:cNvSpPr txBox="1"/>
                <p:nvPr/>
              </p:nvSpPr>
              <p:spPr bwMode="auto">
                <a:xfrm>
                  <a:off x="4337682" y="5401777"/>
                  <a:ext cx="4330700" cy="528638"/>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=0,1,2,...</m:t>
                        </m:r>
                      </m:oMath>
                    </m:oMathPara>
                  </a14:m>
                  <a:endParaRPr lang="zh-CN" altLang="en-US"/>
                </a:p>
              </p:txBody>
            </p:sp>
          </mc:Choice>
          <mc:Fallback>
            <p:sp>
              <p:nvSpPr>
                <p:cNvPr id="6153" name="Object 21"/>
                <p:cNvSpPr txBox="1">
                  <a:spLocks noRot="1" noChangeAspect="1" noMove="1" noResize="1" noEditPoints="1" noAdjustHandles="1" noChangeArrowheads="1" noChangeShapeType="1" noTextEdit="1"/>
                </p:cNvSpPr>
                <p:nvPr/>
              </p:nvSpPr>
              <p:spPr bwMode="auto">
                <a:xfrm>
                  <a:off x="4337682" y="5401777"/>
                  <a:ext cx="4330700" cy="528638"/>
                </a:xfrm>
                <a:prstGeom prst="rect">
                  <a:avLst/>
                </a:prstGeom>
                <a:blipFill>
                  <a:blip r:embed="rId6"/>
                  <a:stretch>
                    <a:fillRect/>
                  </a:stretch>
                </a:blipFill>
                <a:ln>
                  <a:noFill/>
                </a:ln>
                <a:extLst/>
              </p:spPr>
              <p:txBody>
                <a:bodyPr/>
                <a:lstStyle/>
                <a:p>
                  <a:r>
                    <a:rPr lang="zh-CN" altLang="en-US">
                      <a:noFill/>
                    </a:rPr>
                    <a:t> </a:t>
                  </a:r>
                </a:p>
              </p:txBody>
            </p:sp>
          </mc:Fallback>
        </mc:AlternateContent>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657"/>
                                        </p:tgtEl>
                                        <p:attrNameLst>
                                          <p:attrName>style.visibility</p:attrName>
                                        </p:attrNameLst>
                                      </p:cBhvr>
                                      <p:to>
                                        <p:strVal val="visible"/>
                                      </p:to>
                                    </p:set>
                                    <p:animEffect transition="in" filter="wipe(up)">
                                      <p:cBhvr>
                                        <p:cTn id="7" dur="500"/>
                                        <p:tgtEl>
                                          <p:spTgt spid="276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1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2135188" y="260350"/>
            <a:ext cx="8208962" cy="646113"/>
            <a:chOff x="204" y="1344"/>
            <a:chExt cx="4944" cy="407"/>
          </a:xfrm>
        </p:grpSpPr>
        <p:sp>
          <p:nvSpPr>
            <p:cNvPr id="8209" name="Rectangle 15"/>
            <p:cNvSpPr>
              <a:spLocks noChangeArrowheads="1"/>
            </p:cNvSpPr>
            <p:nvPr/>
          </p:nvSpPr>
          <p:spPr bwMode="auto">
            <a:xfrm>
              <a:off x="204" y="1344"/>
              <a:ext cx="494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FontTx/>
                <a:buNone/>
              </a:pPr>
              <a:r>
                <a:rPr lang="zh-CN" altLang="en-US" sz="2400">
                  <a:latin typeface="Arial" panose="020B0604020202020204" pitchFamily="34" charset="0"/>
                </a:rPr>
                <a:t>设线性方程组为            ，其中 </a:t>
              </a:r>
              <a:r>
                <a:rPr lang="en-US" altLang="zh-CN" sz="2400" i="1"/>
                <a:t>A</a:t>
              </a:r>
              <a:r>
                <a:rPr lang="en-US" altLang="zh-CN" sz="2400">
                  <a:latin typeface="Arial" panose="020B0604020202020204" pitchFamily="34" charset="0"/>
                </a:rPr>
                <a:t> </a:t>
              </a:r>
              <a:r>
                <a:rPr lang="zh-CN" altLang="en-US" sz="2400">
                  <a:latin typeface="Arial" panose="020B0604020202020204" pitchFamily="34" charset="0"/>
                </a:rPr>
                <a:t>为非奇异矩阵，</a:t>
              </a:r>
              <a:r>
                <a:rPr lang="en-US" altLang="zh-CN" sz="2400" i="1"/>
                <a:t>b</a:t>
              </a:r>
              <a:r>
                <a:rPr lang="zh-CN" altLang="en-US" sz="2400">
                  <a:latin typeface="Arial" panose="020B0604020202020204" pitchFamily="34" charset="0"/>
                </a:rPr>
                <a:t> 为向量。</a:t>
              </a:r>
            </a:p>
          </p:txBody>
        </p:sp>
        <mc:AlternateContent xmlns:mc="http://schemas.openxmlformats.org/markup-compatibility/2006">
          <mc:Choice xmlns:a14="http://schemas.microsoft.com/office/drawing/2010/main" Requires="a14">
            <p:sp>
              <p:nvSpPr>
                <p:cNvPr id="8210" name="Object 16"/>
                <p:cNvSpPr txBox="1"/>
                <p:nvPr/>
              </p:nvSpPr>
              <p:spPr bwMode="auto">
                <a:xfrm>
                  <a:off x="1493" y="1420"/>
                  <a:ext cx="696" cy="272"/>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oMath>
                    </m:oMathPara>
                  </a14:m>
                  <a:endParaRPr lang="zh-CN" altLang="en-US"/>
                </a:p>
              </p:txBody>
            </p:sp>
          </mc:Choice>
          <mc:Fallback>
            <p:sp>
              <p:nvSpPr>
                <p:cNvPr id="8210" name="Object 16"/>
                <p:cNvSpPr txBox="1">
                  <a:spLocks noRot="1" noChangeAspect="1" noMove="1" noResize="1" noEditPoints="1" noAdjustHandles="1" noChangeArrowheads="1" noChangeShapeType="1" noTextEdit="1"/>
                </p:cNvSpPr>
                <p:nvPr/>
              </p:nvSpPr>
              <p:spPr bwMode="auto">
                <a:xfrm>
                  <a:off x="1493" y="1420"/>
                  <a:ext cx="696" cy="272"/>
                </a:xfrm>
                <a:prstGeom prst="rect">
                  <a:avLst/>
                </a:prstGeom>
                <a:blipFill>
                  <a:blip r:embed="rId3"/>
                  <a:stretch>
                    <a:fillRect/>
                  </a:stretch>
                </a:blipFill>
                <a:ln>
                  <a:noFill/>
                </a:ln>
                <a:extLst/>
              </p:spPr>
              <p:txBody>
                <a:bodyPr/>
                <a:lstStyle/>
                <a:p>
                  <a:r>
                    <a:rPr lang="zh-CN" altLang="en-US">
                      <a:noFill/>
                    </a:rPr>
                    <a:t> </a:t>
                  </a:r>
                </a:p>
              </p:txBody>
            </p:sp>
          </mc:Fallback>
        </mc:AlternateContent>
      </p:grpSp>
      <p:grpSp>
        <p:nvGrpSpPr>
          <p:cNvPr id="3" name="组合 16"/>
          <p:cNvGrpSpPr>
            <a:grpSpLocks/>
          </p:cNvGrpSpPr>
          <p:nvPr/>
        </p:nvGrpSpPr>
        <p:grpSpPr bwMode="auto">
          <a:xfrm>
            <a:off x="1487488" y="981075"/>
            <a:ext cx="8712200" cy="3508375"/>
            <a:chOff x="-36512" y="981075"/>
            <a:chExt cx="8712200" cy="3508617"/>
          </a:xfrm>
        </p:grpSpPr>
        <p:sp>
          <p:nvSpPr>
            <p:cNvPr id="8202" name="Rectangle 3"/>
            <p:cNvSpPr>
              <a:spLocks noChangeArrowheads="1"/>
            </p:cNvSpPr>
            <p:nvPr/>
          </p:nvSpPr>
          <p:spPr bwMode="auto">
            <a:xfrm>
              <a:off x="-36512" y="981075"/>
              <a:ext cx="8712200" cy="350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dirty="0">
                  <a:latin typeface="Arial" panose="020B0604020202020204" pitchFamily="34" charset="0"/>
                </a:rPr>
                <a:t>        将该方程组等价变形为 </a:t>
              </a:r>
              <a:endParaRPr lang="en-US" altLang="zh-CN" sz="2400" dirty="0">
                <a:latin typeface="Arial" panose="020B0604020202020204" pitchFamily="34" charset="0"/>
              </a:endParaRPr>
            </a:p>
            <a:p>
              <a:pPr eaLnBrk="1" hangingPunct="1">
                <a:lnSpc>
                  <a:spcPct val="150000"/>
                </a:lnSpc>
                <a:spcBef>
                  <a:spcPct val="0"/>
                </a:spcBef>
                <a:buFontTx/>
                <a:buNone/>
              </a:pPr>
              <a:endParaRPr lang="en-US" altLang="zh-CN" sz="2000" dirty="0">
                <a:latin typeface="Arial" panose="020B0604020202020204" pitchFamily="34" charset="0"/>
              </a:endParaRPr>
            </a:p>
            <a:p>
              <a:pPr eaLnBrk="1" hangingPunct="1">
                <a:lnSpc>
                  <a:spcPct val="150000"/>
                </a:lnSpc>
                <a:spcBef>
                  <a:spcPct val="0"/>
                </a:spcBef>
                <a:buFontTx/>
                <a:buNone/>
              </a:pPr>
              <a:endParaRPr lang="en-US" altLang="zh-CN" sz="800" dirty="0">
                <a:latin typeface="Arial" panose="020B0604020202020204" pitchFamily="34" charset="0"/>
              </a:endParaRPr>
            </a:p>
            <a:p>
              <a:pPr eaLnBrk="1" hangingPunct="1">
                <a:lnSpc>
                  <a:spcPct val="150000"/>
                </a:lnSpc>
                <a:spcBef>
                  <a:spcPct val="0"/>
                </a:spcBef>
                <a:buFontTx/>
                <a:buNone/>
              </a:pPr>
              <a:r>
                <a:rPr lang="zh-CN" altLang="en-US" sz="2400" dirty="0">
                  <a:latin typeface="Arial" panose="020B0604020202020204" pitchFamily="34" charset="0"/>
                </a:rPr>
                <a:t>构造简单迭代格式   </a:t>
              </a:r>
              <a:endParaRPr lang="en-US" altLang="zh-CN" sz="2400" dirty="0">
                <a:latin typeface="Arial" panose="020B0604020202020204" pitchFamily="34" charset="0"/>
              </a:endParaRPr>
            </a:p>
            <a:p>
              <a:pPr eaLnBrk="1" hangingPunct="1">
                <a:lnSpc>
                  <a:spcPct val="150000"/>
                </a:lnSpc>
                <a:spcBef>
                  <a:spcPct val="0"/>
                </a:spcBef>
                <a:buFontTx/>
                <a:buNone/>
              </a:pPr>
              <a:endParaRPr lang="en-US" altLang="zh-CN" sz="2400" dirty="0">
                <a:latin typeface="Arial" panose="020B0604020202020204" pitchFamily="34" charset="0"/>
              </a:endParaRPr>
            </a:p>
            <a:p>
              <a:pPr eaLnBrk="1" hangingPunct="1">
                <a:lnSpc>
                  <a:spcPct val="150000"/>
                </a:lnSpc>
                <a:spcBef>
                  <a:spcPct val="0"/>
                </a:spcBef>
                <a:buFontTx/>
                <a:buNone/>
              </a:pPr>
              <a:r>
                <a:rPr lang="zh-CN" altLang="en-US" sz="2400" dirty="0">
                  <a:latin typeface="Arial" panose="020B0604020202020204" pitchFamily="34" charset="0"/>
                </a:rPr>
                <a:t>若          收敛于确定的向量     ，则      就是方程组的解</a:t>
              </a:r>
              <a:r>
                <a:rPr lang="en-US" altLang="zh-CN" sz="2400" dirty="0">
                  <a:latin typeface="Arial" panose="020B0604020202020204" pitchFamily="34" charset="0"/>
                </a:rPr>
                <a:t>,</a:t>
              </a:r>
              <a:r>
                <a:rPr lang="zh-CN" altLang="en-US" sz="2400" dirty="0">
                  <a:latin typeface="Arial" panose="020B0604020202020204" pitchFamily="34" charset="0"/>
                </a:rPr>
                <a:t>即此时称</a:t>
              </a:r>
              <a:r>
                <a:rPr lang="zh-CN" altLang="en-US" sz="2400" dirty="0">
                  <a:solidFill>
                    <a:srgbClr val="FF0000"/>
                  </a:solidFill>
                  <a:latin typeface="Arial" panose="020B0604020202020204" pitchFamily="34" charset="0"/>
                </a:rPr>
                <a:t>简单迭代法</a:t>
              </a:r>
              <a:r>
                <a:rPr lang="zh-CN" altLang="en-US" sz="2400" dirty="0">
                  <a:latin typeface="Arial" panose="020B0604020202020204" pitchFamily="34" charset="0"/>
                </a:rPr>
                <a:t>关于初始向量       收敛。</a:t>
              </a:r>
            </a:p>
          </p:txBody>
        </p:sp>
        <mc:AlternateContent xmlns:mc="http://schemas.openxmlformats.org/markup-compatibility/2006">
          <mc:Choice xmlns:a14="http://schemas.microsoft.com/office/drawing/2010/main" Requires="a14">
            <p:sp>
              <p:nvSpPr>
                <p:cNvPr id="8203" name="Object 4"/>
                <p:cNvSpPr txBox="1"/>
                <p:nvPr/>
              </p:nvSpPr>
              <p:spPr bwMode="auto">
                <a:xfrm>
                  <a:off x="4643438" y="1589130"/>
                  <a:ext cx="1546225" cy="457232"/>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oMath>
                    </m:oMathPara>
                  </a14:m>
                  <a:endParaRPr lang="zh-CN" altLang="en-US" dirty="0"/>
                </a:p>
              </p:txBody>
            </p:sp>
          </mc:Choice>
          <mc:Fallback>
            <p:sp>
              <p:nvSpPr>
                <p:cNvPr id="8203" name="Object 4"/>
                <p:cNvSpPr txBox="1">
                  <a:spLocks noRot="1" noChangeAspect="1" noMove="1" noResize="1" noEditPoints="1" noAdjustHandles="1" noChangeArrowheads="1" noChangeShapeType="1" noTextEdit="1"/>
                </p:cNvSpPr>
                <p:nvPr/>
              </p:nvSpPr>
              <p:spPr bwMode="auto">
                <a:xfrm>
                  <a:off x="4643438" y="1589130"/>
                  <a:ext cx="1546225" cy="457232"/>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4" name="Object 5"/>
                <p:cNvSpPr txBox="1"/>
                <p:nvPr/>
              </p:nvSpPr>
              <p:spPr bwMode="auto">
                <a:xfrm>
                  <a:off x="434699" y="3337755"/>
                  <a:ext cx="709613" cy="515937"/>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oMath>
                    </m:oMathPara>
                  </a14:m>
                  <a:endParaRPr lang="zh-CN" altLang="en-US"/>
                </a:p>
              </p:txBody>
            </p:sp>
          </mc:Choice>
          <mc:Fallback>
            <p:sp>
              <p:nvSpPr>
                <p:cNvPr id="8204" name="Object 5"/>
                <p:cNvSpPr txBox="1">
                  <a:spLocks noRot="1" noChangeAspect="1" noMove="1" noResize="1" noEditPoints="1" noAdjustHandles="1" noChangeArrowheads="1" noChangeShapeType="1" noTextEdit="1"/>
                </p:cNvSpPr>
                <p:nvPr/>
              </p:nvSpPr>
              <p:spPr bwMode="auto">
                <a:xfrm>
                  <a:off x="434699" y="3337755"/>
                  <a:ext cx="709613" cy="515937"/>
                </a:xfrm>
                <a:prstGeom prst="rect">
                  <a:avLst/>
                </a:prstGeom>
                <a:blipFill>
                  <a:blip r:embed="rId5"/>
                  <a:stretch>
                    <a:fillRect r="-855"/>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5" name="Object 7"/>
                <p:cNvSpPr txBox="1"/>
                <p:nvPr/>
              </p:nvSpPr>
              <p:spPr bwMode="auto">
                <a:xfrm>
                  <a:off x="3559175" y="2525713"/>
                  <a:ext cx="4037013" cy="52705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m:t>
                        </m:r>
                      </m:oMath>
                    </m:oMathPara>
                  </a14:m>
                  <a:endParaRPr lang="zh-CN" altLang="en-US"/>
                </a:p>
              </p:txBody>
            </p:sp>
          </mc:Choice>
          <mc:Fallback>
            <p:sp>
              <p:nvSpPr>
                <p:cNvPr id="8205" name="Object 7"/>
                <p:cNvSpPr txBox="1">
                  <a:spLocks noRot="1" noChangeAspect="1" noMove="1" noResize="1" noEditPoints="1" noAdjustHandles="1" noChangeArrowheads="1" noChangeShapeType="1" noTextEdit="1"/>
                </p:cNvSpPr>
                <p:nvPr/>
              </p:nvSpPr>
              <p:spPr bwMode="auto">
                <a:xfrm>
                  <a:off x="3559175" y="2525713"/>
                  <a:ext cx="4037013" cy="52705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6" name="Object 8"/>
                <p:cNvSpPr txBox="1"/>
                <p:nvPr/>
              </p:nvSpPr>
              <p:spPr bwMode="auto">
                <a:xfrm>
                  <a:off x="3683794" y="3303514"/>
                  <a:ext cx="384175" cy="45720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p:sp>
              <p:nvSpPr>
                <p:cNvPr id="8206" name="Object 8"/>
                <p:cNvSpPr txBox="1">
                  <a:spLocks noRot="1" noChangeAspect="1" noMove="1" noResize="1" noEditPoints="1" noAdjustHandles="1" noChangeArrowheads="1" noChangeShapeType="1" noTextEdit="1"/>
                </p:cNvSpPr>
                <p:nvPr/>
              </p:nvSpPr>
              <p:spPr bwMode="auto">
                <a:xfrm>
                  <a:off x="3683794" y="3303514"/>
                  <a:ext cx="384175" cy="457200"/>
                </a:xfrm>
                <a:prstGeom prst="rect">
                  <a:avLst/>
                </a:prstGeom>
                <a:blipFill>
                  <a:blip r:embed="rId7"/>
                  <a:stretch>
                    <a:fillRect r="-6349"/>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7" name="Object 12"/>
                <p:cNvSpPr txBox="1"/>
                <p:nvPr/>
              </p:nvSpPr>
              <p:spPr bwMode="auto">
                <a:xfrm>
                  <a:off x="3797749" y="3932339"/>
                  <a:ext cx="506412" cy="414338"/>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8207" name="Object 12"/>
                <p:cNvSpPr txBox="1">
                  <a:spLocks noRot="1" noChangeAspect="1" noMove="1" noResize="1" noEditPoints="1" noAdjustHandles="1" noChangeArrowheads="1" noChangeShapeType="1" noTextEdit="1"/>
                </p:cNvSpPr>
                <p:nvPr/>
              </p:nvSpPr>
              <p:spPr bwMode="auto">
                <a:xfrm>
                  <a:off x="3797749" y="3932339"/>
                  <a:ext cx="506412" cy="414338"/>
                </a:xfrm>
                <a:prstGeom prst="rect">
                  <a:avLst/>
                </a:prstGeom>
                <a:blipFill>
                  <a:blip r:embed="rId8"/>
                  <a:stretch>
                    <a:fillRect r="-18072"/>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8" name="Object 15"/>
                <p:cNvSpPr txBox="1"/>
                <p:nvPr/>
              </p:nvSpPr>
              <p:spPr bwMode="auto">
                <a:xfrm>
                  <a:off x="4715737" y="3348376"/>
                  <a:ext cx="384175" cy="457200"/>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p:sp>
              <p:nvSpPr>
                <p:cNvPr id="8208" name="Object 15"/>
                <p:cNvSpPr txBox="1">
                  <a:spLocks noRot="1" noChangeAspect="1" noMove="1" noResize="1" noEditPoints="1" noAdjustHandles="1" noChangeArrowheads="1" noChangeShapeType="1" noTextEdit="1"/>
                </p:cNvSpPr>
                <p:nvPr/>
              </p:nvSpPr>
              <p:spPr bwMode="auto">
                <a:xfrm>
                  <a:off x="4715737" y="3348376"/>
                  <a:ext cx="384175" cy="457200"/>
                </a:xfrm>
                <a:prstGeom prst="rect">
                  <a:avLst/>
                </a:prstGeom>
                <a:blipFill>
                  <a:blip r:embed="rId9"/>
                  <a:stretch>
                    <a:fillRect r="-4762"/>
                  </a:stretch>
                </a:blipFill>
                <a:ln>
                  <a:noFill/>
                </a:ln>
                <a:extLst/>
              </p:spPr>
              <p:txBody>
                <a:bodyPr/>
                <a:lstStyle/>
                <a:p>
                  <a:r>
                    <a:rPr lang="zh-CN" altLang="en-US">
                      <a:noFill/>
                    </a:rPr>
                    <a:t> </a:t>
                  </a:r>
                </a:p>
              </p:txBody>
            </p:sp>
          </mc:Fallback>
        </mc:AlternateContent>
      </p:grpSp>
      <p:grpSp>
        <p:nvGrpSpPr>
          <p:cNvPr id="4" name="组合 18"/>
          <p:cNvGrpSpPr>
            <a:grpSpLocks/>
          </p:cNvGrpSpPr>
          <p:nvPr/>
        </p:nvGrpSpPr>
        <p:grpSpPr bwMode="auto">
          <a:xfrm>
            <a:off x="2136775" y="4652963"/>
            <a:ext cx="8207375" cy="1927225"/>
            <a:chOff x="612775" y="4652963"/>
            <a:chExt cx="8207375" cy="1927225"/>
          </a:xfrm>
        </p:grpSpPr>
        <p:sp>
          <p:nvSpPr>
            <p:cNvPr id="8197" name="Rectangle 14"/>
            <p:cNvSpPr>
              <a:spLocks noChangeArrowheads="1"/>
            </p:cNvSpPr>
            <p:nvPr/>
          </p:nvSpPr>
          <p:spPr bwMode="auto">
            <a:xfrm>
              <a:off x="612775" y="4652963"/>
              <a:ext cx="82073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1">
                  <a:solidFill>
                    <a:srgbClr val="CC0000"/>
                  </a:solidFill>
                  <a:ea typeface="楷体_GB2312" pitchFamily="49" charset="-122"/>
                </a:rPr>
                <a:t>注</a:t>
              </a:r>
              <a:r>
                <a:rPr lang="zh-CN" altLang="en-US" sz="2400">
                  <a:ea typeface="楷体_GB2312" pitchFamily="49" charset="-122"/>
                </a:rPr>
                <a:t>：同一个简单迭代法可以关于某一个        收敛，而关于另外         不收敛。一般谈及收敛，是指对任意       ，均有 </a:t>
              </a:r>
            </a:p>
            <a:p>
              <a:pPr eaLnBrk="1" hangingPunct="1">
                <a:lnSpc>
                  <a:spcPct val="150000"/>
                </a:lnSpc>
                <a:spcBef>
                  <a:spcPct val="0"/>
                </a:spcBef>
                <a:buFontTx/>
                <a:buNone/>
              </a:pPr>
              <a:endParaRPr lang="zh-CN" altLang="en-US" sz="2400">
                <a:latin typeface="楷体_GB2312" pitchFamily="49" charset="-122"/>
                <a:ea typeface="楷体_GB2312" pitchFamily="49" charset="-122"/>
              </a:endParaRPr>
            </a:p>
          </p:txBody>
        </p:sp>
        <mc:AlternateContent xmlns:mc="http://schemas.openxmlformats.org/markup-compatibility/2006">
          <mc:Choice xmlns:a14="http://schemas.microsoft.com/office/drawing/2010/main" Requires="a14">
            <p:sp>
              <p:nvSpPr>
                <p:cNvPr id="8198" name="Object 20"/>
                <p:cNvSpPr txBox="1"/>
                <p:nvPr/>
              </p:nvSpPr>
              <p:spPr bwMode="auto">
                <a:xfrm>
                  <a:off x="5940425" y="4754563"/>
                  <a:ext cx="530225" cy="414337"/>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8198" name="Object 20"/>
                <p:cNvSpPr txBox="1">
                  <a:spLocks noRot="1" noChangeAspect="1" noMove="1" noResize="1" noEditPoints="1" noAdjustHandles="1" noChangeArrowheads="1" noChangeShapeType="1" noTextEdit="1"/>
                </p:cNvSpPr>
                <p:nvPr/>
              </p:nvSpPr>
              <p:spPr bwMode="auto">
                <a:xfrm>
                  <a:off x="5940425" y="4754563"/>
                  <a:ext cx="530225" cy="414337"/>
                </a:xfrm>
                <a:prstGeom prst="rect">
                  <a:avLst/>
                </a:prstGeom>
                <a:blipFill>
                  <a:blip r:embed="rId10"/>
                  <a:stretch>
                    <a:fillRect r="-12644"/>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99" name="Object 21"/>
                <p:cNvSpPr txBox="1"/>
                <p:nvPr/>
              </p:nvSpPr>
              <p:spPr bwMode="auto">
                <a:xfrm>
                  <a:off x="1116013" y="5295900"/>
                  <a:ext cx="530225" cy="414338"/>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8199" name="Object 21"/>
                <p:cNvSpPr txBox="1">
                  <a:spLocks noRot="1" noChangeAspect="1" noMove="1" noResize="1" noEditPoints="1" noAdjustHandles="1" noChangeArrowheads="1" noChangeShapeType="1" noTextEdit="1"/>
                </p:cNvSpPr>
                <p:nvPr/>
              </p:nvSpPr>
              <p:spPr bwMode="auto">
                <a:xfrm>
                  <a:off x="1116013" y="5295900"/>
                  <a:ext cx="530225" cy="414338"/>
                </a:xfrm>
                <a:prstGeom prst="rect">
                  <a:avLst/>
                </a:prstGeom>
                <a:blipFill>
                  <a:blip r:embed="rId11"/>
                  <a:stretch>
                    <a:fillRect r="-12644"/>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0" name="Object 27"/>
                <p:cNvSpPr txBox="1"/>
                <p:nvPr/>
              </p:nvSpPr>
              <p:spPr bwMode="auto">
                <a:xfrm>
                  <a:off x="3575050" y="5910263"/>
                  <a:ext cx="1573213" cy="66992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lim>
                            </m:limLow>
                          </m:fName>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func>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oMath>
                    </m:oMathPara>
                  </a14:m>
                  <a:endParaRPr lang="zh-CN" altLang="en-US"/>
                </a:p>
              </p:txBody>
            </p:sp>
          </mc:Choice>
          <mc:Fallback>
            <p:sp>
              <p:nvSpPr>
                <p:cNvPr id="8200" name="Object 27"/>
                <p:cNvSpPr txBox="1">
                  <a:spLocks noRot="1" noChangeAspect="1" noMove="1" noResize="1" noEditPoints="1" noAdjustHandles="1" noChangeArrowheads="1" noChangeShapeType="1" noTextEdit="1"/>
                </p:cNvSpPr>
                <p:nvPr/>
              </p:nvSpPr>
              <p:spPr bwMode="auto">
                <a:xfrm>
                  <a:off x="3575050" y="5910263"/>
                  <a:ext cx="1573213" cy="669925"/>
                </a:xfrm>
                <a:prstGeom prst="rect">
                  <a:avLst/>
                </a:prstGeom>
                <a:blipFill>
                  <a:blip r:embed="rId12"/>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01" name="Object 11"/>
                <p:cNvSpPr txBox="1"/>
                <p:nvPr/>
              </p:nvSpPr>
              <p:spPr bwMode="auto">
                <a:xfrm>
                  <a:off x="6575910" y="5294023"/>
                  <a:ext cx="530225" cy="414337"/>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8201" name="Object 11"/>
                <p:cNvSpPr txBox="1">
                  <a:spLocks noRot="1" noChangeAspect="1" noMove="1" noResize="1" noEditPoints="1" noAdjustHandles="1" noChangeArrowheads="1" noChangeShapeType="1" noTextEdit="1"/>
                </p:cNvSpPr>
                <p:nvPr/>
              </p:nvSpPr>
              <p:spPr bwMode="auto">
                <a:xfrm>
                  <a:off x="6575910" y="5294023"/>
                  <a:ext cx="530225" cy="414337"/>
                </a:xfrm>
                <a:prstGeom prst="rect">
                  <a:avLst/>
                </a:prstGeom>
                <a:blipFill>
                  <a:blip r:embed="rId13"/>
                  <a:stretch>
                    <a:fillRect r="-12644"/>
                  </a:stretch>
                </a:blipFill>
                <a:ln>
                  <a:noFill/>
                </a:ln>
                <a:ex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9" name="Object 15">
                <a:extLst>
                  <a:ext uri="{FF2B5EF4-FFF2-40B4-BE49-F238E27FC236}">
                    <a16:creationId xmlns:a16="http://schemas.microsoft.com/office/drawing/2014/main" id="{77DE2448-5E2D-4D88-95C5-2BED6E3D71A8}"/>
                  </a:ext>
                </a:extLst>
              </p:cNvPr>
              <p:cNvSpPr txBox="1"/>
              <p:nvPr/>
            </p:nvSpPr>
            <p:spPr bwMode="auto">
              <a:xfrm>
                <a:off x="9658125" y="3348181"/>
                <a:ext cx="2327275" cy="4572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en-US" altLang="zh-CN" b="0"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oMath>
                  </m:oMathPara>
                </a14:m>
                <a:endParaRPr lang="zh-CN" altLang="en-US" dirty="0"/>
              </a:p>
            </p:txBody>
          </p:sp>
        </mc:Choice>
        <mc:Fallback>
          <p:sp>
            <p:nvSpPr>
              <p:cNvPr id="19" name="Object 15">
                <a:extLst>
                  <a:ext uri="{FF2B5EF4-FFF2-40B4-BE49-F238E27FC236}">
                    <a16:creationId xmlns:a16="http://schemas.microsoft.com/office/drawing/2014/main" id="{77DE2448-5E2D-4D88-95C5-2BED6E3D71A8}"/>
                  </a:ext>
                </a:extLst>
              </p:cNvPr>
              <p:cNvSpPr txBox="1">
                <a:spLocks noRot="1" noChangeAspect="1" noMove="1" noResize="1" noEditPoints="1" noAdjustHandles="1" noChangeArrowheads="1" noChangeShapeType="1" noTextEdit="1"/>
              </p:cNvSpPr>
              <p:nvPr/>
            </p:nvSpPr>
            <p:spPr bwMode="auto">
              <a:xfrm>
                <a:off x="9658125" y="3348181"/>
                <a:ext cx="2327275" cy="457200"/>
              </a:xfrm>
              <a:prstGeom prst="rect">
                <a:avLst/>
              </a:prstGeom>
              <a:blipFill>
                <a:blip r:embed="rId14"/>
                <a:stretch>
                  <a:fillRect b="-13333"/>
                </a:stretch>
              </a:blipFill>
              <a:ln>
                <a:noFill/>
              </a:ln>
              <a:extLst/>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
          <p:cNvGrpSpPr>
            <a:grpSpLocks/>
          </p:cNvGrpSpPr>
          <p:nvPr/>
        </p:nvGrpSpPr>
        <p:grpSpPr bwMode="auto">
          <a:xfrm>
            <a:off x="2135188" y="5922963"/>
            <a:ext cx="7840662" cy="515937"/>
            <a:chOff x="611188" y="5922963"/>
            <a:chExt cx="7840662" cy="515938"/>
          </a:xfrm>
        </p:grpSpPr>
        <p:sp>
          <p:nvSpPr>
            <p:cNvPr id="9225" name="Rectangle 7"/>
            <p:cNvSpPr>
              <a:spLocks noChangeArrowheads="1"/>
            </p:cNvSpPr>
            <p:nvPr/>
          </p:nvSpPr>
          <p:spPr bwMode="auto">
            <a:xfrm>
              <a:off x="611188" y="5922963"/>
              <a:ext cx="6481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a:cs typeface="Times New Roman" panose="02020603050405020304" pitchFamily="18" charset="0"/>
                </a:rPr>
                <a:t> </a:t>
              </a:r>
              <a:r>
                <a:rPr lang="zh-CN" altLang="en-US" sz="2400">
                  <a:cs typeface="Times New Roman" panose="02020603050405020304" pitchFamily="18" charset="0"/>
                </a:rPr>
                <a:t>其中系数矩阵非奇异（可逆），且 </a:t>
              </a:r>
              <a:endParaRPr lang="en-US" altLang="zh-CN" sz="2800" i="1">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226" name="Object 8"/>
                <p:cNvSpPr txBox="1"/>
                <p:nvPr/>
              </p:nvSpPr>
              <p:spPr bwMode="auto">
                <a:xfrm>
                  <a:off x="5734050" y="5922963"/>
                  <a:ext cx="2717800" cy="515938"/>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r>
                          <a:rPr lang="zh-CN" altLang="en-US" i="1">
                            <a:solidFill>
                              <a:srgbClr val="000000"/>
                            </a:solidFill>
                            <a:latin typeface="Cambria Math" panose="02040503050406030204" pitchFamily="18" charset="0"/>
                          </a:rPr>
                          <m:t>≠0,</m:t>
                        </m:r>
                        <m:r>
                          <a:rPr lang="zh-CN" altLang="en-US" i="0">
                            <a:solidFill>
                              <a:srgbClr val="000000"/>
                            </a:solidFill>
                            <a:latin typeface="Cambria Math" panose="02040503050406030204" pitchFamily="18" charset="0"/>
                          </a:rPr>
                          <m:t> </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e>
                        </m:d>
                      </m:oMath>
                    </m:oMathPara>
                  </a14:m>
                  <a:endParaRPr lang="zh-CN" altLang="en-US"/>
                </a:p>
              </p:txBody>
            </p:sp>
          </mc:Choice>
          <mc:Fallback>
            <p:sp>
              <p:nvSpPr>
                <p:cNvPr id="9226" name="Object 8"/>
                <p:cNvSpPr txBox="1">
                  <a:spLocks noRot="1" noChangeAspect="1" noMove="1" noResize="1" noEditPoints="1" noAdjustHandles="1" noChangeArrowheads="1" noChangeShapeType="1" noTextEdit="1"/>
                </p:cNvSpPr>
                <p:nvPr/>
              </p:nvSpPr>
              <p:spPr bwMode="auto">
                <a:xfrm>
                  <a:off x="5734050" y="5922963"/>
                  <a:ext cx="2717800" cy="515938"/>
                </a:xfrm>
                <a:prstGeom prst="rect">
                  <a:avLst/>
                </a:prstGeom>
                <a:blipFill>
                  <a:blip r:embed="rId2"/>
                  <a:stretch>
                    <a:fillRect/>
                  </a:stretch>
                </a:blipFill>
                <a:ln>
                  <a:noFill/>
                </a:ln>
                <a:extLst/>
              </p:spPr>
              <p:txBody>
                <a:bodyPr/>
                <a:lstStyle/>
                <a:p>
                  <a:r>
                    <a:rPr lang="zh-CN" altLang="en-US">
                      <a:noFill/>
                    </a:rPr>
                    <a:t> </a:t>
                  </a:r>
                </a:p>
              </p:txBody>
            </p:sp>
          </mc:Fallback>
        </mc:AlternateContent>
      </p:grpSp>
      <p:grpSp>
        <p:nvGrpSpPr>
          <p:cNvPr id="3" name="组合 9"/>
          <p:cNvGrpSpPr>
            <a:grpSpLocks/>
          </p:cNvGrpSpPr>
          <p:nvPr/>
        </p:nvGrpSpPr>
        <p:grpSpPr bwMode="auto">
          <a:xfrm>
            <a:off x="1343025" y="614363"/>
            <a:ext cx="8639175" cy="1812925"/>
            <a:chOff x="-180529" y="679445"/>
            <a:chExt cx="8638729" cy="1813451"/>
          </a:xfrm>
        </p:grpSpPr>
        <p:sp>
          <p:nvSpPr>
            <p:cNvPr id="9223" name="Rectangle 3"/>
            <p:cNvSpPr txBox="1">
              <a:spLocks noChangeArrowheads="1"/>
            </p:cNvSpPr>
            <p:nvPr/>
          </p:nvSpPr>
          <p:spPr bwMode="auto">
            <a:xfrm>
              <a:off x="684213" y="1197121"/>
              <a:ext cx="7773987" cy="1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60000"/>
                </a:lnSpc>
                <a:buFontTx/>
                <a:buNone/>
              </a:pPr>
              <a:r>
                <a:rPr lang="zh-CN" altLang="en-US" sz="2400"/>
                <a:t>        雅可比（</a:t>
              </a:r>
              <a:r>
                <a:rPr lang="en-US" altLang="zh-CN" sz="2400"/>
                <a:t>Jacobi）</a:t>
              </a:r>
              <a:r>
                <a:rPr lang="zh-CN" altLang="en-US" sz="2400"/>
                <a:t>迭代(以下统称为</a:t>
              </a:r>
              <a:r>
                <a:rPr lang="en-US" altLang="zh-CN" sz="2400"/>
                <a:t>Jacobi</a:t>
              </a:r>
              <a:r>
                <a:rPr lang="zh-CN" altLang="en-US" sz="2400"/>
                <a:t>迭代)是一种求解线性代数方程组的迭代方法。</a:t>
              </a:r>
            </a:p>
          </p:txBody>
        </p:sp>
        <p:sp>
          <p:nvSpPr>
            <p:cNvPr id="8" name="矩形 7"/>
            <p:cNvSpPr/>
            <p:nvPr/>
          </p:nvSpPr>
          <p:spPr>
            <a:xfrm>
              <a:off x="-180529" y="679445"/>
              <a:ext cx="4065378" cy="524027"/>
            </a:xfrm>
            <a:prstGeom prst="rect">
              <a:avLst/>
            </a:prstGeom>
          </p:spPr>
          <p:txBody>
            <a:bodyPr wrap="none">
              <a:spAutoFit/>
            </a:bodyPr>
            <a:lstStyle/>
            <a:p>
              <a:pPr eaLnBrk="1" hangingPunct="1">
                <a:defRPr/>
              </a:pPr>
              <a:r>
                <a:rPr lang="en-US" altLang="zh-CN" sz="2800" b="1" kern="0" dirty="0">
                  <a:solidFill>
                    <a:srgbClr val="CC0000"/>
                  </a:solidFill>
                </a:rPr>
                <a:t>2. </a:t>
              </a:r>
              <a:r>
                <a:rPr lang="zh-CN" altLang="en-US" sz="2800" b="1" kern="0" dirty="0">
                  <a:solidFill>
                    <a:srgbClr val="CC0000"/>
                  </a:solidFill>
                </a:rPr>
                <a:t>雅可比（</a:t>
              </a:r>
              <a:r>
                <a:rPr lang="en-US" altLang="zh-CN" sz="2800" b="1" kern="0" dirty="0">
                  <a:solidFill>
                    <a:srgbClr val="CC0000"/>
                  </a:solidFill>
                </a:rPr>
                <a:t>Jacobi）</a:t>
              </a:r>
              <a:r>
                <a:rPr lang="zh-CN" altLang="en-US" sz="2800" b="1" kern="0" dirty="0">
                  <a:solidFill>
                    <a:srgbClr val="CC0000"/>
                  </a:solidFill>
                </a:rPr>
                <a:t>迭代</a:t>
              </a:r>
              <a:endParaRPr lang="zh-CN" altLang="en-US" sz="2800" b="1" dirty="0">
                <a:solidFill>
                  <a:srgbClr val="CC0000"/>
                </a:solidFill>
              </a:endParaRPr>
            </a:p>
          </p:txBody>
        </p:sp>
      </p:grpSp>
      <p:grpSp>
        <p:nvGrpSpPr>
          <p:cNvPr id="5" name="组合 10"/>
          <p:cNvGrpSpPr>
            <a:grpSpLocks/>
          </p:cNvGrpSpPr>
          <p:nvPr/>
        </p:nvGrpSpPr>
        <p:grpSpPr bwMode="auto">
          <a:xfrm>
            <a:off x="2208213" y="2492375"/>
            <a:ext cx="7773987" cy="2954338"/>
            <a:chOff x="683568" y="2492896"/>
            <a:chExt cx="7773987" cy="2953817"/>
          </a:xfrm>
        </p:grpSpPr>
        <mc:AlternateContent xmlns:mc="http://schemas.openxmlformats.org/markup-compatibility/2006">
          <mc:Choice xmlns:a14="http://schemas.microsoft.com/office/drawing/2010/main" Requires="a14">
            <p:sp>
              <p:nvSpPr>
                <p:cNvPr id="9221" name="Object 5"/>
                <p:cNvSpPr txBox="1"/>
                <p:nvPr/>
              </p:nvSpPr>
              <p:spPr bwMode="auto">
                <a:xfrm>
                  <a:off x="2051050" y="3284538"/>
                  <a:ext cx="4321175" cy="216217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1</m:t>
                                    </m:r>
                                  </m:sub>
                                </m:sSub>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2</m:t>
                                    </m:r>
                                  </m:sub>
                                </m:sSub>
                              </m:e>
                              <m:e>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e>
                            </m:eqArr>
                          </m:e>
                        </m:d>
                      </m:oMath>
                    </m:oMathPara>
                  </a14:m>
                  <a:endParaRPr lang="zh-CN" altLang="en-US"/>
                </a:p>
              </p:txBody>
            </p:sp>
          </mc:Choice>
          <mc:Fallback>
            <p:sp>
              <p:nvSpPr>
                <p:cNvPr id="9221" name="Object 5"/>
                <p:cNvSpPr txBox="1">
                  <a:spLocks noRot="1" noChangeAspect="1" noMove="1" noResize="1" noEditPoints="1" noAdjustHandles="1" noChangeArrowheads="1" noChangeShapeType="1" noTextEdit="1"/>
                </p:cNvSpPr>
                <p:nvPr/>
              </p:nvSpPr>
              <p:spPr bwMode="auto">
                <a:xfrm>
                  <a:off x="2051050" y="3284538"/>
                  <a:ext cx="4321175" cy="216217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9222" name="Rectangle 3"/>
            <p:cNvSpPr txBox="1">
              <a:spLocks noChangeArrowheads="1"/>
            </p:cNvSpPr>
            <p:nvPr/>
          </p:nvSpPr>
          <p:spPr bwMode="auto">
            <a:xfrm>
              <a:off x="683568" y="2492896"/>
              <a:ext cx="7773987" cy="1944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60000"/>
                </a:lnSpc>
                <a:buFontTx/>
                <a:buNone/>
              </a:pPr>
              <a:r>
                <a:rPr lang="zh-CN" altLang="en-US" sz="2400"/>
                <a:t>设有</a:t>
              </a:r>
              <a:r>
                <a:rPr lang="en-US" altLang="zh-CN" sz="2400" i="1"/>
                <a:t>n</a:t>
              </a:r>
              <a:r>
                <a:rPr lang="en-US" altLang="zh-CN" sz="2400"/>
                <a:t> </a:t>
              </a:r>
              <a:r>
                <a:rPr lang="zh-CN" altLang="en-US" sz="2400"/>
                <a:t>阶方程组</a:t>
              </a:r>
            </a:p>
            <a:p>
              <a:pPr algn="just">
                <a:lnSpc>
                  <a:spcPct val="160000"/>
                </a:lnSpc>
                <a:buFontTx/>
                <a:buNone/>
              </a:pPr>
              <a:endParaRPr lang="en-US" altLang="zh-CN" sz="2400"/>
            </a:p>
            <a:p>
              <a:pPr algn="just">
                <a:lnSpc>
                  <a:spcPct val="160000"/>
                </a:lnSpc>
                <a:buFontTx/>
                <a:buNone/>
              </a:pPr>
              <a:endParaRPr lang="zh-CN"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1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1000"/>
                                        <p:tgtEl>
                                          <p:spTgt spid="5"/>
                                        </p:tgtEl>
                                      </p:cBhvr>
                                    </p:animEffect>
                                  </p:childTnLst>
                                </p:cTn>
                              </p:par>
                            </p:childTnLst>
                          </p:cTn>
                        </p:par>
                        <p:par>
                          <p:cTn id="13" fill="hold" nodeType="afterGroup">
                            <p:stCondLst>
                              <p:cond delay="1000"/>
                            </p:stCondLst>
                            <p:childTnLst>
                              <p:par>
                                <p:cTn id="14" presetID="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组合 6"/>
          <p:cNvGrpSpPr>
            <a:grpSpLocks/>
          </p:cNvGrpSpPr>
          <p:nvPr/>
        </p:nvGrpSpPr>
        <p:grpSpPr bwMode="auto">
          <a:xfrm>
            <a:off x="1718179" y="25127"/>
            <a:ext cx="6946800" cy="2575570"/>
            <a:chOff x="468313" y="260350"/>
            <a:chExt cx="7488237" cy="2917825"/>
          </a:xfrm>
        </p:grpSpPr>
        <p:sp>
          <p:nvSpPr>
            <p:cNvPr id="10248" name="Rectangle 9"/>
            <p:cNvSpPr>
              <a:spLocks noChangeArrowheads="1"/>
            </p:cNvSpPr>
            <p:nvPr/>
          </p:nvSpPr>
          <p:spPr bwMode="auto">
            <a:xfrm>
              <a:off x="468313" y="260350"/>
              <a:ext cx="2362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t>将上式变形为</a:t>
              </a:r>
            </a:p>
          </p:txBody>
        </p:sp>
        <mc:AlternateContent xmlns:mc="http://schemas.openxmlformats.org/markup-compatibility/2006">
          <mc:Choice xmlns:a14="http://schemas.microsoft.com/office/drawing/2010/main" Requires="a14">
            <p:sp>
              <p:nvSpPr>
                <p:cNvPr id="10249" name="Object 10"/>
                <p:cNvSpPr txBox="1"/>
                <p:nvPr/>
              </p:nvSpPr>
              <p:spPr bwMode="auto">
                <a:xfrm>
                  <a:off x="2843213" y="260350"/>
                  <a:ext cx="5113337" cy="2917825"/>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11</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13</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22</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23</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𝑛</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𝑛𝑛</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e>
                            </m:eqArr>
                          </m:e>
                        </m:d>
                      </m:oMath>
                    </m:oMathPara>
                  </a14:m>
                  <a:endParaRPr lang="zh-CN" altLang="en-US"/>
                </a:p>
              </p:txBody>
            </p:sp>
          </mc:Choice>
          <mc:Fallback>
            <p:sp>
              <p:nvSpPr>
                <p:cNvPr id="10249" name="Object 10"/>
                <p:cNvSpPr txBox="1">
                  <a:spLocks noRot="1" noChangeAspect="1" noMove="1" noResize="1" noEditPoints="1" noAdjustHandles="1" noChangeArrowheads="1" noChangeShapeType="1" noTextEdit="1"/>
                </p:cNvSpPr>
                <p:nvPr/>
              </p:nvSpPr>
              <p:spPr bwMode="auto">
                <a:xfrm>
                  <a:off x="2843213" y="260350"/>
                  <a:ext cx="5113337" cy="2917825"/>
                </a:xfrm>
                <a:prstGeom prst="rect">
                  <a:avLst/>
                </a:prstGeom>
                <a:blipFill>
                  <a:blip r:embed="rId3"/>
                  <a:stretch>
                    <a:fillRect/>
                  </a:stretch>
                </a:blipFill>
                <a:ln>
                  <a:noFill/>
                </a:ln>
                <a:extLst/>
              </p:spPr>
              <p:txBody>
                <a:bodyPr/>
                <a:lstStyle/>
                <a:p>
                  <a:r>
                    <a:rPr lang="zh-CN" altLang="en-US">
                      <a:noFill/>
                    </a:rPr>
                    <a:t> </a:t>
                  </a:r>
                </a:p>
              </p:txBody>
            </p:sp>
          </mc:Fallback>
        </mc:AlternateContent>
      </p:grpSp>
      <p:grpSp>
        <p:nvGrpSpPr>
          <p:cNvPr id="3" name="组合 8"/>
          <p:cNvGrpSpPr>
            <a:grpSpLocks/>
          </p:cNvGrpSpPr>
          <p:nvPr/>
        </p:nvGrpSpPr>
        <p:grpSpPr bwMode="auto">
          <a:xfrm>
            <a:off x="1745258" y="2542058"/>
            <a:ext cx="7839471" cy="2553816"/>
            <a:chOff x="188845" y="2820193"/>
            <a:chExt cx="8555038" cy="2879202"/>
          </a:xfrm>
        </p:grpSpPr>
        <mc:AlternateContent xmlns:mc="http://schemas.openxmlformats.org/markup-compatibility/2006">
          <mc:Choice xmlns:a14="http://schemas.microsoft.com/office/drawing/2010/main" Requires="a14">
            <p:sp>
              <p:nvSpPr>
                <p:cNvPr id="10246" name="Object 4"/>
                <p:cNvSpPr txBox="1"/>
                <p:nvPr/>
              </p:nvSpPr>
              <p:spPr bwMode="auto">
                <a:xfrm>
                  <a:off x="2551045" y="3029220"/>
                  <a:ext cx="6192838" cy="267017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11</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13</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𝑛</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22</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23</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𝑛</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𝑛𝑛</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e>
                            </m:eqArr>
                          </m:e>
                        </m:d>
                      </m:oMath>
                    </m:oMathPara>
                  </a14:m>
                  <a:endParaRPr lang="zh-CN" altLang="en-US"/>
                </a:p>
              </p:txBody>
            </p:sp>
          </mc:Choice>
          <mc:Fallback>
            <p:sp>
              <p:nvSpPr>
                <p:cNvPr id="10246" name="Object 4"/>
                <p:cNvSpPr txBox="1">
                  <a:spLocks noRot="1" noChangeAspect="1" noMove="1" noResize="1" noEditPoints="1" noAdjustHandles="1" noChangeArrowheads="1" noChangeShapeType="1" noTextEdit="1"/>
                </p:cNvSpPr>
                <p:nvPr/>
              </p:nvSpPr>
              <p:spPr bwMode="auto">
                <a:xfrm>
                  <a:off x="2551045" y="3029220"/>
                  <a:ext cx="6192838" cy="2670175"/>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30727" name="Rectangle 9"/>
            <p:cNvSpPr>
              <a:spLocks noChangeArrowheads="1"/>
            </p:cNvSpPr>
            <p:nvPr/>
          </p:nvSpPr>
          <p:spPr bwMode="auto">
            <a:xfrm>
              <a:off x="188845" y="2820193"/>
              <a:ext cx="2362200" cy="461879"/>
            </a:xfrm>
            <a:prstGeom prst="rect">
              <a:avLst/>
            </a:prstGeom>
            <a:noFill/>
            <a:ln w="9525">
              <a:noFill/>
              <a:miter lim="800000"/>
              <a:headEnd/>
              <a:tailEnd/>
            </a:ln>
          </p:spPr>
          <p:txBody>
            <a:bodyPr>
              <a:spAutoFit/>
            </a:bodyPr>
            <a:lstStyle/>
            <a:p>
              <a:pPr algn="just" eaLnBrk="1" hangingPunct="1">
                <a:defRPr/>
              </a:pPr>
              <a:r>
                <a:rPr lang="zh-CN" altLang="en-US" kern="0" dirty="0">
                  <a:latin typeface="+mn-lt"/>
                  <a:ea typeface="+mn-ea"/>
                </a:rPr>
                <a:t>建立迭代公式：</a:t>
              </a:r>
            </a:p>
          </p:txBody>
        </p:sp>
      </p:grpSp>
      <p:sp>
        <p:nvSpPr>
          <p:cNvPr id="30726" name="矩形 8"/>
          <p:cNvSpPr>
            <a:spLocks noChangeArrowheads="1"/>
          </p:cNvSpPr>
          <p:nvPr/>
        </p:nvSpPr>
        <p:spPr bwMode="auto">
          <a:xfrm>
            <a:off x="1415480" y="5561438"/>
            <a:ext cx="380340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t>此迭代式称为</a:t>
            </a:r>
            <a:r>
              <a:rPr lang="zh-CN" altLang="en-US" sz="2400" b="1" dirty="0">
                <a:solidFill>
                  <a:srgbClr val="0000FF"/>
                </a:solidFill>
                <a:cs typeface="Times New Roman" panose="02020603050405020304" pitchFamily="18" charset="0"/>
              </a:rPr>
              <a:t>雅可比（</a:t>
            </a:r>
            <a:r>
              <a:rPr lang="en-US" altLang="zh-CN" sz="2400" b="1" dirty="0">
                <a:solidFill>
                  <a:srgbClr val="0000FF"/>
                </a:solidFill>
                <a:cs typeface="Times New Roman" panose="02020603050405020304" pitchFamily="18" charset="0"/>
              </a:rPr>
              <a:t>Jacobi</a:t>
            </a:r>
            <a:r>
              <a:rPr lang="zh-CN" altLang="en-US" sz="2400" b="1" dirty="0">
                <a:solidFill>
                  <a:srgbClr val="0000FF"/>
                </a:solidFill>
                <a:cs typeface="Times New Roman" panose="02020603050405020304" pitchFamily="18" charset="0"/>
              </a:rPr>
              <a:t>）迭代格式</a:t>
            </a:r>
            <a:r>
              <a:rPr lang="zh-CN" altLang="en-US" sz="2400" dirty="0">
                <a:cs typeface="Times New Roman" panose="02020603050405020304" pitchFamily="18" charset="0"/>
              </a:rPr>
              <a:t>。即：</a:t>
            </a:r>
          </a:p>
        </p:txBody>
      </p:sp>
      <p:pic>
        <p:nvPicPr>
          <p:cNvPr id="10259" name="Picture 19" descr="https://img-blog.csdnimg.cn/07c0351826994e44acf6e2fbce2221f8.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91944" y="5095874"/>
            <a:ext cx="5429250" cy="17621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4)">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 calcmode="lin" valueType="num">
                                      <p:cBhvr additive="base">
                                        <p:cTn id="12" dur="500" fill="hold"/>
                                        <p:tgtEl>
                                          <p:spTgt spid="30726"/>
                                        </p:tgtEl>
                                        <p:attrNameLst>
                                          <p:attrName>ppt_x</p:attrName>
                                        </p:attrNameLst>
                                      </p:cBhvr>
                                      <p:tavLst>
                                        <p:tav tm="0">
                                          <p:val>
                                            <p:strVal val="#ppt_x"/>
                                          </p:val>
                                        </p:tav>
                                        <p:tav tm="100000">
                                          <p:val>
                                            <p:strVal val="#ppt_x"/>
                                          </p:val>
                                        </p:tav>
                                      </p:tavLst>
                                    </p:anim>
                                    <p:anim calcmode="lin" valueType="num">
                                      <p:cBhvr additive="base">
                                        <p:cTn id="13" dur="500" fill="hold"/>
                                        <p:tgtEl>
                                          <p:spTgt spid="3072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02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p:cNvSpPr>
            <a:spLocks noChangeArrowheads="1"/>
          </p:cNvSpPr>
          <p:nvPr/>
        </p:nvSpPr>
        <p:spPr bwMode="auto">
          <a:xfrm>
            <a:off x="2478088" y="188913"/>
            <a:ext cx="6248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pitchFamily="49" charset="-122"/>
              </a:rPr>
              <a:t>用矩阵形式来表示方程组的迭代格式</a:t>
            </a:r>
            <a:r>
              <a:rPr lang="zh-CN" altLang="en-US" sz="2400">
                <a:solidFill>
                  <a:srgbClr val="0000FF"/>
                </a:solidFill>
              </a:rPr>
              <a:t> </a:t>
            </a:r>
            <a:r>
              <a:rPr lang="zh-CN" altLang="en-US" sz="2400">
                <a:solidFill>
                  <a:srgbClr val="0000FF"/>
                </a:solidFill>
                <a:cs typeface="Times New Roman" panose="02020603050405020304" pitchFamily="18" charset="0"/>
              </a:rPr>
              <a:t> </a:t>
            </a:r>
          </a:p>
        </p:txBody>
      </p:sp>
      <p:grpSp>
        <p:nvGrpSpPr>
          <p:cNvPr id="2" name="Group 7"/>
          <p:cNvGrpSpPr>
            <a:grpSpLocks/>
          </p:cNvGrpSpPr>
          <p:nvPr/>
        </p:nvGrpSpPr>
        <p:grpSpPr bwMode="auto">
          <a:xfrm>
            <a:off x="1866900" y="692150"/>
            <a:ext cx="3886200" cy="504825"/>
            <a:chOff x="144" y="2140"/>
            <a:chExt cx="2448" cy="318"/>
          </a:xfrm>
        </p:grpSpPr>
        <p:sp>
          <p:nvSpPr>
            <p:cNvPr id="12306" name="Rectangle 8"/>
            <p:cNvSpPr>
              <a:spLocks noChangeArrowheads="1"/>
            </p:cNvSpPr>
            <p:nvPr/>
          </p:nvSpPr>
          <p:spPr bwMode="auto">
            <a:xfrm>
              <a:off x="144" y="2140"/>
              <a:ext cx="244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latin typeface="宋体" panose="02010600030101010101" pitchFamily="2" charset="-122"/>
                </a:rPr>
                <a:t>设</a:t>
              </a:r>
              <a:r>
                <a:rPr lang="en-US" altLang="zh-CN" sz="2400">
                  <a:cs typeface="Times New Roman" panose="02020603050405020304" pitchFamily="18" charset="0"/>
                </a:rPr>
                <a:t>                      </a:t>
              </a:r>
              <a:r>
                <a:rPr lang="zh-CN" altLang="en-US" sz="2400">
                  <a:latin typeface="宋体" panose="02010600030101010101" pitchFamily="2" charset="-122"/>
                </a:rPr>
                <a:t>，且</a:t>
              </a:r>
              <a:endParaRPr lang="zh-CN" altLang="en-US" sz="2400"/>
            </a:p>
          </p:txBody>
        </p:sp>
        <mc:AlternateContent xmlns:mc="http://schemas.openxmlformats.org/markup-compatibility/2006">
          <mc:Choice xmlns:a14="http://schemas.microsoft.com/office/drawing/2010/main" Requires="a14">
            <p:sp>
              <p:nvSpPr>
                <p:cNvPr id="12307" name="Object 9"/>
                <p:cNvSpPr txBox="1"/>
                <p:nvPr/>
              </p:nvSpPr>
              <p:spPr bwMode="auto">
                <a:xfrm>
                  <a:off x="449" y="2172"/>
                  <a:ext cx="918" cy="286"/>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det</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)≠0</m:t>
                        </m:r>
                      </m:oMath>
                    </m:oMathPara>
                  </a14:m>
                  <a:endParaRPr lang="zh-CN" altLang="en-US"/>
                </a:p>
              </p:txBody>
            </p:sp>
          </mc:Choice>
          <mc:Fallback>
            <p:sp>
              <p:nvSpPr>
                <p:cNvPr id="12307" name="Object 9"/>
                <p:cNvSpPr txBox="1">
                  <a:spLocks noRot="1" noChangeAspect="1" noMove="1" noResize="1" noEditPoints="1" noAdjustHandles="1" noChangeArrowheads="1" noChangeShapeType="1" noTextEdit="1"/>
                </p:cNvSpPr>
                <p:nvPr/>
              </p:nvSpPr>
              <p:spPr bwMode="auto">
                <a:xfrm>
                  <a:off x="449" y="2172"/>
                  <a:ext cx="918" cy="286"/>
                </a:xfrm>
                <a:prstGeom prst="rect">
                  <a:avLst/>
                </a:prstGeom>
                <a:blipFill>
                  <a:blip r:embed="rId3"/>
                  <a:stretch>
                    <a:fillRect b="-2703"/>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308" name="Object 15"/>
                <p:cNvSpPr txBox="1"/>
                <p:nvPr/>
              </p:nvSpPr>
              <p:spPr bwMode="auto">
                <a:xfrm>
                  <a:off x="1896" y="2156"/>
                  <a:ext cx="528" cy="291"/>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r>
                          <a:rPr lang="zh-CN" altLang="en-US" i="1">
                            <a:solidFill>
                              <a:srgbClr val="000000"/>
                            </a:solidFill>
                            <a:latin typeface="Cambria Math" panose="02040503050406030204" pitchFamily="18" charset="0"/>
                          </a:rPr>
                          <m:t>≠0</m:t>
                        </m:r>
                      </m:oMath>
                    </m:oMathPara>
                  </a14:m>
                  <a:endParaRPr lang="zh-CN" altLang="en-US"/>
                </a:p>
              </p:txBody>
            </p:sp>
          </mc:Choice>
          <mc:Fallback>
            <p:sp>
              <p:nvSpPr>
                <p:cNvPr id="12308" name="Object 15"/>
                <p:cNvSpPr txBox="1">
                  <a:spLocks noRot="1" noChangeAspect="1" noMove="1" noResize="1" noEditPoints="1" noAdjustHandles="1" noChangeArrowheads="1" noChangeShapeType="1" noTextEdit="1"/>
                </p:cNvSpPr>
                <p:nvPr/>
              </p:nvSpPr>
              <p:spPr bwMode="auto">
                <a:xfrm>
                  <a:off x="1896" y="2156"/>
                  <a:ext cx="528" cy="291"/>
                </a:xfrm>
                <a:prstGeom prst="rect">
                  <a:avLst/>
                </a:prstGeom>
                <a:blipFill>
                  <a:blip r:embed="rId4"/>
                  <a:stretch>
                    <a:fillRect/>
                  </a:stretch>
                </a:blipFill>
                <a:ln>
                  <a:noFill/>
                </a:ln>
                <a:extLst/>
              </p:spPr>
              <p:txBody>
                <a:bodyPr/>
                <a:lstStyle/>
                <a:p>
                  <a:r>
                    <a:rPr lang="zh-CN" altLang="en-US">
                      <a:noFill/>
                    </a:rPr>
                    <a:t> </a:t>
                  </a:r>
                </a:p>
              </p:txBody>
            </p:sp>
          </mc:Fallback>
        </mc:AlternateContent>
      </p:grpSp>
      <p:graphicFrame>
        <p:nvGraphicFramePr>
          <p:cNvPr id="9" name="Object 11"/>
          <p:cNvGraphicFramePr>
            <a:graphicFrameLocks noChangeAspect="1"/>
          </p:cNvGraphicFramePr>
          <p:nvPr/>
        </p:nvGraphicFramePr>
        <p:xfrm>
          <a:off x="1992313" y="1196975"/>
          <a:ext cx="8372475" cy="1798638"/>
        </p:xfrm>
        <a:graphic>
          <a:graphicData uri="http://schemas.openxmlformats.org/presentationml/2006/ole">
            <mc:AlternateContent xmlns:mc="http://schemas.openxmlformats.org/markup-compatibility/2006">
              <mc:Choice xmlns:v="urn:schemas-microsoft-com:vml" Requires="v">
                <p:oleObj spid="_x0000_s12667" name="公式" r:id="rId5" imgW="4008049" imgH="738967" progId="Equation.3">
                  <p:embed/>
                </p:oleObj>
              </mc:Choice>
              <mc:Fallback>
                <p:oleObj name="公式" r:id="rId5" imgW="4008049" imgH="738967"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2313" y="1196975"/>
                        <a:ext cx="8372475"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9"/>
          <p:cNvSpPr>
            <a:spLocks noChangeArrowheads="1"/>
          </p:cNvSpPr>
          <p:nvPr/>
        </p:nvSpPr>
        <p:spPr bwMode="auto">
          <a:xfrm>
            <a:off x="1911350" y="3378200"/>
            <a:ext cx="492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pitchFamily="49" charset="-122"/>
              </a:rPr>
              <a:t>则</a:t>
            </a:r>
          </a:p>
        </p:txBody>
      </p:sp>
      <p:graphicFrame>
        <p:nvGraphicFramePr>
          <p:cNvPr id="16" name="Object 17"/>
          <p:cNvGraphicFramePr>
            <a:graphicFrameLocks noChangeAspect="1"/>
          </p:cNvGraphicFramePr>
          <p:nvPr/>
        </p:nvGraphicFramePr>
        <p:xfrm>
          <a:off x="2398713" y="3338513"/>
          <a:ext cx="6407150" cy="433387"/>
        </p:xfrm>
        <a:graphic>
          <a:graphicData uri="http://schemas.openxmlformats.org/presentationml/2006/ole">
            <mc:AlternateContent xmlns:mc="http://schemas.openxmlformats.org/markup-compatibility/2006">
              <mc:Choice xmlns:v="urn:schemas-microsoft-com:vml" Requires="v">
                <p:oleObj spid="_x0000_s12668" name="Equation" r:id="rId7" imgW="2011680" imgH="53450" progId="Equation.DSMT4">
                  <p:embed/>
                </p:oleObj>
              </mc:Choice>
              <mc:Fallback>
                <p:oleObj name="Equation" r:id="rId7" imgW="2011680" imgH="53450" progId="Equation.DSMT4">
                  <p:embed/>
                  <p:pic>
                    <p:nvPicPr>
                      <p:cNvPr id="0"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8713" y="3338513"/>
                        <a:ext cx="64071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Rectangle 19"/>
          <p:cNvSpPr>
            <a:spLocks noChangeArrowheads="1"/>
          </p:cNvSpPr>
          <p:nvPr/>
        </p:nvSpPr>
        <p:spPr bwMode="auto">
          <a:xfrm>
            <a:off x="1903413" y="2824163"/>
            <a:ext cx="24384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pitchFamily="49" charset="-122"/>
              </a:rPr>
              <a:t>记  </a:t>
            </a:r>
            <a:r>
              <a:rPr lang="en-US" altLang="zh-CN" sz="2400" i="1">
                <a:cs typeface="Times New Roman" panose="02020603050405020304" pitchFamily="18" charset="0"/>
              </a:rPr>
              <a:t>A=D+L+U</a:t>
            </a:r>
            <a:r>
              <a:rPr lang="en-US" altLang="zh-CN" sz="2400" i="1"/>
              <a:t> </a:t>
            </a:r>
          </a:p>
        </p:txBody>
      </p:sp>
      <p:grpSp>
        <p:nvGrpSpPr>
          <p:cNvPr id="7" name="组合 6"/>
          <p:cNvGrpSpPr>
            <a:grpSpLocks/>
          </p:cNvGrpSpPr>
          <p:nvPr/>
        </p:nvGrpSpPr>
        <p:grpSpPr bwMode="auto">
          <a:xfrm>
            <a:off x="3287713" y="3698875"/>
            <a:ext cx="3638550" cy="1585913"/>
            <a:chOff x="1763688" y="3699463"/>
            <a:chExt cx="3638550" cy="1585500"/>
          </a:xfrm>
        </p:grpSpPr>
        <p:graphicFrame>
          <p:nvGraphicFramePr>
            <p:cNvPr id="12304" name="Object 4"/>
            <p:cNvGraphicFramePr>
              <a:graphicFrameLocks noChangeAspect="1"/>
            </p:cNvGraphicFramePr>
            <p:nvPr/>
          </p:nvGraphicFramePr>
          <p:xfrm>
            <a:off x="1763688" y="3699463"/>
            <a:ext cx="3638550" cy="504825"/>
          </p:xfrm>
          <a:graphic>
            <a:graphicData uri="http://schemas.openxmlformats.org/presentationml/2006/ole">
              <mc:AlternateContent xmlns:mc="http://schemas.openxmlformats.org/markup-compatibility/2006">
                <mc:Choice xmlns:v="urn:schemas-microsoft-com:vml" Requires="v">
                  <p:oleObj spid="_x0000_s12669" name="Equation" r:id="rId9" imgW="1143213" imgH="83993" progId="Equation.DSMT4">
                    <p:embed/>
                  </p:oleObj>
                </mc:Choice>
                <mc:Fallback>
                  <p:oleObj name="Equation" r:id="rId9" imgW="1143213" imgH="83993"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688" y="3699463"/>
                          <a:ext cx="36385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305" name="文本框 2"/>
            <p:cNvSpPr txBox="1">
              <a:spLocks noChangeArrowheads="1"/>
            </p:cNvSpPr>
            <p:nvPr/>
          </p:nvSpPr>
          <p:spPr bwMode="auto">
            <a:xfrm>
              <a:off x="2313215" y="4084634"/>
              <a:ext cx="2893741"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dirty="0"/>
                <a:t>=-D</a:t>
              </a:r>
              <a:r>
                <a:rPr lang="en-US" altLang="zh-CN" sz="2400" baseline="30000" dirty="0"/>
                <a:t>-1</a:t>
              </a:r>
              <a:r>
                <a:rPr lang="zh-CN" altLang="en-US" sz="2400" dirty="0"/>
                <a:t>（</a:t>
              </a:r>
              <a:r>
                <a:rPr lang="en-US" altLang="zh-CN" sz="2400" dirty="0"/>
                <a:t>A-D</a:t>
              </a:r>
              <a:r>
                <a:rPr lang="zh-CN" altLang="en-US" sz="2400" dirty="0"/>
                <a:t>）</a:t>
              </a:r>
              <a:r>
                <a:rPr lang="en-US" altLang="zh-CN" sz="2400" dirty="0"/>
                <a:t>x+D</a:t>
              </a:r>
              <a:r>
                <a:rPr lang="en-US" altLang="zh-CN" sz="2400" baseline="30000" dirty="0"/>
                <a:t>-1</a:t>
              </a:r>
              <a:r>
                <a:rPr lang="en-US" altLang="zh-CN" sz="2400" dirty="0"/>
                <a:t>b</a:t>
              </a:r>
            </a:p>
            <a:p>
              <a:pPr>
                <a:spcBef>
                  <a:spcPct val="0"/>
                </a:spcBef>
                <a:buFontTx/>
                <a:buNone/>
              </a:pPr>
              <a:r>
                <a:rPr lang="en-US" altLang="zh-CN" sz="2400" dirty="0"/>
                <a:t>=(I-D</a:t>
              </a:r>
              <a:r>
                <a:rPr lang="en-US" altLang="zh-CN" sz="2400" baseline="30000" dirty="0"/>
                <a:t>-1</a:t>
              </a:r>
              <a:r>
                <a:rPr lang="en-US" altLang="zh-CN" sz="2400" dirty="0"/>
                <a:t>A</a:t>
              </a:r>
              <a:r>
                <a:rPr lang="zh-CN" altLang="en-US" sz="2400" dirty="0"/>
                <a:t>）</a:t>
              </a:r>
              <a:r>
                <a:rPr lang="en-US" altLang="zh-CN" sz="2400" dirty="0"/>
                <a:t>x+D</a:t>
              </a:r>
              <a:r>
                <a:rPr lang="en-US" altLang="zh-CN" sz="2400" baseline="30000" dirty="0"/>
                <a:t>-1</a:t>
              </a:r>
              <a:r>
                <a:rPr lang="en-US" altLang="zh-CN" sz="2400" dirty="0"/>
                <a:t>b</a:t>
              </a:r>
            </a:p>
            <a:p>
              <a:pPr>
                <a:spcBef>
                  <a:spcPct val="0"/>
                </a:spcBef>
                <a:buFontTx/>
                <a:buNone/>
              </a:pPr>
              <a:endParaRPr lang="zh-CN" altLang="en-US" sz="2400" dirty="0"/>
            </a:p>
          </p:txBody>
        </p:sp>
      </p:grpSp>
      <p:grpSp>
        <p:nvGrpSpPr>
          <p:cNvPr id="8" name="组合 7"/>
          <p:cNvGrpSpPr>
            <a:grpSpLocks/>
          </p:cNvGrpSpPr>
          <p:nvPr/>
        </p:nvGrpSpPr>
        <p:grpSpPr bwMode="auto">
          <a:xfrm>
            <a:off x="2817174" y="4876652"/>
            <a:ext cx="3662052" cy="934830"/>
            <a:chOff x="1167831" y="4977316"/>
            <a:chExt cx="3662363" cy="934863"/>
          </a:xfrm>
        </p:grpSpPr>
        <p:sp>
          <p:nvSpPr>
            <p:cNvPr id="12302" name="Rectangle 5"/>
            <p:cNvSpPr>
              <a:spLocks noChangeArrowheads="1"/>
            </p:cNvSpPr>
            <p:nvPr/>
          </p:nvSpPr>
          <p:spPr bwMode="auto">
            <a:xfrm>
              <a:off x="1167831" y="4977316"/>
              <a:ext cx="36623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ea typeface="楷体_GB2312" pitchFamily="49" charset="-122"/>
                </a:rPr>
                <a:t>雅可比迭代式成为：</a:t>
              </a:r>
            </a:p>
          </p:txBody>
        </p:sp>
        <p:sp>
          <p:nvSpPr>
            <p:cNvPr id="5" name="文本框 4"/>
            <p:cNvSpPr txBox="1">
              <a:spLocks noRot="1" noChangeAspect="1" noMove="1" noResize="1" noEditPoints="1" noAdjustHandles="1" noChangeArrowheads="1" noChangeShapeType="1" noTextEdit="1"/>
            </p:cNvSpPr>
            <p:nvPr/>
          </p:nvSpPr>
          <p:spPr>
            <a:xfrm>
              <a:off x="2035333" y="5493090"/>
              <a:ext cx="2727542" cy="419089"/>
            </a:xfrm>
            <a:prstGeom prst="rect">
              <a:avLst/>
            </a:prstGeom>
            <a:blipFill>
              <a:blip r:embed="rId11"/>
              <a:stretch>
                <a:fillRect t="-4348"/>
              </a:stretch>
            </a:blipFill>
          </p:spPr>
          <p:txBody>
            <a:bodyPr/>
            <a:lstStyle/>
            <a:p>
              <a:pPr>
                <a:defRPr/>
              </a:pPr>
              <a:r>
                <a:rPr lang="zh-CN" altLang="en-US">
                  <a:noFill/>
                </a:rPr>
                <a:t> </a:t>
              </a:r>
            </a:p>
          </p:txBody>
        </p:sp>
      </p:grpSp>
      <p:grpSp>
        <p:nvGrpSpPr>
          <p:cNvPr id="10" name="组合 9"/>
          <p:cNvGrpSpPr>
            <a:grpSpLocks/>
          </p:cNvGrpSpPr>
          <p:nvPr/>
        </p:nvGrpSpPr>
        <p:grpSpPr bwMode="auto">
          <a:xfrm>
            <a:off x="2759075" y="6049963"/>
            <a:ext cx="4532313" cy="504825"/>
            <a:chOff x="1235233" y="6049690"/>
            <a:chExt cx="4531384" cy="505098"/>
          </a:xfrm>
        </p:grpSpPr>
        <p:sp>
          <p:nvSpPr>
            <p:cNvPr id="12299" name="Rectangle 12"/>
            <p:cNvSpPr>
              <a:spLocks noChangeArrowheads="1"/>
            </p:cNvSpPr>
            <p:nvPr/>
          </p:nvSpPr>
          <p:spPr bwMode="auto">
            <a:xfrm>
              <a:off x="1235233" y="6049690"/>
              <a:ext cx="8001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ea typeface="楷体_GB2312" pitchFamily="49" charset="-122"/>
                </a:rPr>
                <a:t>其中</a:t>
              </a:r>
            </a:p>
          </p:txBody>
        </p:sp>
        <p:sp>
          <p:nvSpPr>
            <p:cNvPr id="6" name="文本框 5"/>
            <p:cNvSpPr txBox="1">
              <a:spLocks noRot="1" noChangeAspect="1" noMove="1" noResize="1" noEditPoints="1" noAdjustHandles="1" noChangeArrowheads="1" noChangeShapeType="1" noTextEdit="1"/>
            </p:cNvSpPr>
            <p:nvPr/>
          </p:nvSpPr>
          <p:spPr>
            <a:xfrm>
              <a:off x="2081587" y="6152883"/>
              <a:ext cx="1996700" cy="401905"/>
            </a:xfrm>
            <a:prstGeom prst="rect">
              <a:avLst/>
            </a:prstGeom>
            <a:blipFill>
              <a:blip r:embed="rId12"/>
              <a:stretch>
                <a:fillRect l="-5183" t="-21212" r="-8537" b="-39394"/>
              </a:stretch>
            </a:blipFill>
          </p:spPr>
          <p:txBody>
            <a:bodyPr/>
            <a:lstStyle/>
            <a:p>
              <a:pPr>
                <a:defRPr/>
              </a:pPr>
              <a:r>
                <a:rPr lang="zh-CN" altLang="en-US">
                  <a:noFill/>
                </a:rPr>
                <a:t> </a:t>
              </a:r>
            </a:p>
          </p:txBody>
        </p:sp>
        <p:sp>
          <p:nvSpPr>
            <p:cNvPr id="22" name="文本框 21"/>
            <p:cNvSpPr txBox="1">
              <a:spLocks noRot="1" noChangeAspect="1" noMove="1" noResize="1" noEditPoints="1" noAdjustHandles="1" noChangeArrowheads="1" noChangeShapeType="1" noTextEdit="1"/>
            </p:cNvSpPr>
            <p:nvPr/>
          </p:nvSpPr>
          <p:spPr>
            <a:xfrm>
              <a:off x="4283968" y="6152883"/>
              <a:ext cx="1482649" cy="401905"/>
            </a:xfrm>
            <a:prstGeom prst="rect">
              <a:avLst/>
            </a:prstGeom>
            <a:blipFill>
              <a:blip r:embed="rId13"/>
              <a:stretch>
                <a:fillRect l="-4527" r="-4115" b="-24242"/>
              </a:stretch>
            </a:blipFill>
          </p:spPr>
          <p:txBody>
            <a:bodyPr/>
            <a:lstStyle/>
            <a:p>
              <a:pPr>
                <a:defRPr/>
              </a:pPr>
              <a:r>
                <a:rPr lang="zh-CN" altLang="en-US">
                  <a:noFill/>
                </a:rPr>
                <a:t> </a:t>
              </a:r>
            </a:p>
          </p:txBody>
        </p:sp>
      </p:grpSp>
      <p:sp>
        <p:nvSpPr>
          <p:cNvPr id="3" name="云形标注 2"/>
          <p:cNvSpPr/>
          <p:nvPr/>
        </p:nvSpPr>
        <p:spPr bwMode="auto">
          <a:xfrm>
            <a:off x="-168695" y="4884383"/>
            <a:ext cx="3168352" cy="1627294"/>
          </a:xfrm>
          <a:prstGeom prst="cloudCallout">
            <a:avLst>
              <a:gd name="adj1" fmla="val 69377"/>
              <a:gd name="adj2" fmla="val 28074"/>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kumimoji="1" lang="en-US" altLang="zh-CN" sz="2000" b="0" i="0" u="none" strike="noStrike" cap="none" normalizeH="0" baseline="0" dirty="0">
                <a:ln>
                  <a:noFill/>
                </a:ln>
                <a:solidFill>
                  <a:schemeClr val="tx1"/>
                </a:solidFill>
                <a:effectLst/>
                <a:latin typeface="Times New Roman" pitchFamily="18" charset="0"/>
                <a:ea typeface="宋体" pitchFamily="2" charset="-122"/>
              </a:rPr>
              <a:t>Jacobian</a:t>
            </a: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矩阵：</a:t>
            </a:r>
            <a:r>
              <a:rPr lang="zh-CN" altLang="en-US" sz="2000" dirty="0"/>
              <a:t>一阶偏导数以一定方式排列成的矩阵</a:t>
            </a:r>
            <a:endParaRPr kumimoji="1" lang="zh-CN" altLang="en-US" sz="2000" b="0" i="0" u="none" strike="noStrike" cap="none" normalizeH="0" baseline="0" dirty="0">
              <a:ln>
                <a:noFill/>
              </a:ln>
              <a:solidFill>
                <a:schemeClr val="tx1"/>
              </a:solidFill>
              <a:effectLst/>
              <a:latin typeface="Times New Roman" pitchFamily="18" charset="0"/>
              <a:ea typeface="宋体" pitchFamily="2" charset="-122"/>
            </a:endParaRPr>
          </a:p>
        </p:txBody>
      </p:sp>
      <p:sp>
        <p:nvSpPr>
          <p:cNvPr id="4" name="文本框 3"/>
          <p:cNvSpPr txBox="1"/>
          <p:nvPr/>
        </p:nvSpPr>
        <p:spPr>
          <a:xfrm>
            <a:off x="4772752" y="2906582"/>
            <a:ext cx="3916457" cy="461665"/>
          </a:xfrm>
          <a:prstGeom prst="rect">
            <a:avLst/>
          </a:prstGeom>
          <a:noFill/>
        </p:spPr>
        <p:txBody>
          <a:bodyPr wrap="none" rtlCol="0">
            <a:spAutoFit/>
          </a:bodyPr>
          <a:lstStyle/>
          <a:p>
            <a:r>
              <a:rPr lang="zh-CN" altLang="en-US" dirty="0"/>
              <a:t>对角阵</a:t>
            </a:r>
            <a:r>
              <a:rPr lang="en-US" altLang="zh-CN" dirty="0"/>
              <a:t>+</a:t>
            </a:r>
            <a:r>
              <a:rPr lang="zh-CN" altLang="en-US" dirty="0"/>
              <a:t>下三角阵</a:t>
            </a:r>
            <a:r>
              <a:rPr lang="en-US" altLang="zh-CN" dirty="0"/>
              <a:t>+</a:t>
            </a:r>
            <a:r>
              <a:rPr lang="zh-CN" altLang="en-US" dirty="0"/>
              <a:t>上三角阵</a:t>
            </a:r>
          </a:p>
        </p:txBody>
      </p:sp>
      <p:sp>
        <p:nvSpPr>
          <p:cNvPr id="11" name="文本框 10"/>
          <p:cNvSpPr txBox="1"/>
          <p:nvPr/>
        </p:nvSpPr>
        <p:spPr>
          <a:xfrm>
            <a:off x="8815523" y="5194805"/>
            <a:ext cx="2393341" cy="1200329"/>
          </a:xfrm>
          <a:prstGeom prst="rect">
            <a:avLst/>
          </a:prstGeom>
          <a:noFill/>
          <a:ln w="25400">
            <a:solidFill>
              <a:srgbClr val="FF0000"/>
            </a:solidFill>
          </a:ln>
        </p:spPr>
        <p:txBody>
          <a:bodyPr wrap="square" rtlCol="0">
            <a:spAutoFit/>
          </a:bodyPr>
          <a:lstStyle/>
          <a:p>
            <a:r>
              <a:rPr lang="zh-CN" altLang="en-US" dirty="0"/>
              <a:t>对角阵的逆矩阵为对角非零元素值的倒数</a:t>
            </a:r>
          </a:p>
        </p:txBody>
      </p:sp>
      <p:pic>
        <p:nvPicPr>
          <p:cNvPr id="24" name="Picture 19" descr="https://img-blog.csdnimg.cn/07c0351826994e44acf6e2fbce2221f8.png">
            <a:extLst>
              <a:ext uri="{FF2B5EF4-FFF2-40B4-BE49-F238E27FC236}">
                <a16:creationId xmlns:a16="http://schemas.microsoft.com/office/drawing/2014/main" id="{F2F951B1-977F-4A8F-AFD1-3F6E2602474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53674" y="3785984"/>
            <a:ext cx="3317038" cy="10765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fltVal val="0"/>
                                          </p:val>
                                        </p:tav>
                                        <p:tav tm="100000">
                                          <p:val>
                                            <p:strVal val="#ppt_h"/>
                                          </p:val>
                                        </p:tav>
                                      </p:tavLst>
                                    </p:anim>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nodeType="after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0-#ppt_w/2"/>
                                          </p:val>
                                        </p:tav>
                                        <p:tav tm="100000">
                                          <p:val>
                                            <p:strVal val="#ppt_x"/>
                                          </p:val>
                                        </p:tav>
                                      </p:tavLst>
                                    </p:anim>
                                    <p:anim calcmode="lin" valueType="num">
                                      <p:cBhvr additive="base">
                                        <p:cTn id="22" dur="500" fill="hold"/>
                                        <p:tgtEl>
                                          <p:spTgt spid="14"/>
                                        </p:tgtEl>
                                        <p:attrNameLst>
                                          <p:attrName>ppt_y</p:attrName>
                                        </p:attrNameLst>
                                      </p:cBhvr>
                                      <p:tavLst>
                                        <p:tav tm="0">
                                          <p:val>
                                            <p:strVal val="#ppt_y"/>
                                          </p:val>
                                        </p:tav>
                                        <p:tav tm="100000">
                                          <p:val>
                                            <p:strVal val="#ppt_y"/>
                                          </p:val>
                                        </p:tav>
                                      </p:tavLst>
                                    </p:anim>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utoUpdateAnimBg="0"/>
      <p:bldP spid="18" grpId="0" autoUpdateAnimBg="0"/>
      <p:bldP spid="3" grpId="0" animBg="1"/>
      <p:bldP spid="4" grpId="0"/>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2208213" y="260350"/>
            <a:ext cx="633571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buFontTx/>
              <a:buNone/>
            </a:pPr>
            <a:r>
              <a:rPr lang="zh-CN" altLang="en-US" sz="2400" b="1">
                <a:solidFill>
                  <a:srgbClr val="0000FF"/>
                </a:solidFill>
              </a:rPr>
              <a:t>［例</a:t>
            </a:r>
            <a:r>
              <a:rPr lang="en-US" altLang="zh-CN" sz="2400" b="1">
                <a:solidFill>
                  <a:srgbClr val="0000FF"/>
                </a:solidFill>
              </a:rPr>
              <a:t>4</a:t>
            </a:r>
            <a:r>
              <a:rPr lang="zh-CN" altLang="en-US" sz="2400" b="1">
                <a:solidFill>
                  <a:srgbClr val="0000FF"/>
                </a:solidFill>
              </a:rPr>
              <a:t>］ </a:t>
            </a:r>
            <a:r>
              <a:rPr lang="zh-CN" altLang="en-US" sz="2400">
                <a:solidFill>
                  <a:srgbClr val="000000"/>
                </a:solidFill>
              </a:rPr>
              <a:t>利用</a:t>
            </a:r>
            <a:r>
              <a:rPr lang="en-US" altLang="zh-CN" sz="2400">
                <a:solidFill>
                  <a:srgbClr val="000000"/>
                </a:solidFill>
              </a:rPr>
              <a:t>Jacobi</a:t>
            </a:r>
            <a:r>
              <a:rPr lang="zh-CN" altLang="en-US" sz="2400">
                <a:solidFill>
                  <a:srgbClr val="000000"/>
                </a:solidFill>
              </a:rPr>
              <a:t>迭代法求解下列方程组</a:t>
            </a:r>
            <a:endParaRPr lang="en-US" altLang="zh-CN" sz="2400">
              <a:solidFill>
                <a:srgbClr val="000000"/>
              </a:solidFill>
            </a:endParaRPr>
          </a:p>
        </p:txBody>
      </p:sp>
      <mc:AlternateContent xmlns:mc="http://schemas.openxmlformats.org/markup-compatibility/2006">
        <mc:Choice xmlns:a14="http://schemas.microsoft.com/office/drawing/2010/main" Requires="a14">
          <p:sp>
            <p:nvSpPr>
              <p:cNvPr id="678922" name="Object 10"/>
              <p:cNvSpPr txBox="1"/>
              <p:nvPr/>
            </p:nvSpPr>
            <p:spPr bwMode="auto">
              <a:xfrm>
                <a:off x="4151313" y="908050"/>
                <a:ext cx="1508125" cy="89535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m:t>
                              </m:r>
                            </m:e>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=5</m:t>
                              </m:r>
                            </m:e>
                          </m:eqArr>
                        </m:e>
                      </m:d>
                    </m:oMath>
                  </m:oMathPara>
                </a14:m>
                <a:endParaRPr lang="zh-CN" altLang="en-US"/>
              </a:p>
            </p:txBody>
          </p:sp>
        </mc:Choice>
        <mc:Fallback>
          <p:sp>
            <p:nvSpPr>
              <p:cNvPr id="678922" name="Object 10"/>
              <p:cNvSpPr txBox="1">
                <a:spLocks noRot="1" noChangeAspect="1" noMove="1" noResize="1" noEditPoints="1" noAdjustHandles="1" noChangeArrowheads="1" noChangeShapeType="1" noTextEdit="1"/>
              </p:cNvSpPr>
              <p:nvPr/>
            </p:nvSpPr>
            <p:spPr bwMode="auto">
              <a:xfrm>
                <a:off x="4151313" y="908050"/>
                <a:ext cx="1508125" cy="89535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Object 4"/>
              <p:cNvSpPr txBox="1"/>
              <p:nvPr/>
            </p:nvSpPr>
            <p:spPr bwMode="auto">
              <a:xfrm>
                <a:off x="3735388" y="2636838"/>
                <a:ext cx="2262187" cy="155257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den>
                              </m:f>
                              <m:r>
                                <a:rPr lang="zh-CN" altLang="en-US" i="1">
                                  <a:solidFill>
                                    <a:srgbClr val="000000"/>
                                  </a:solidFill>
                                  <a:latin typeface="Cambria Math" panose="02040503050406030204" pitchFamily="18" charset="0"/>
                                </a:rPr>
                                <m:t>(1−</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4</m:t>
                                  </m:r>
                                </m:den>
                              </m:f>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−5)</m:t>
                              </m:r>
                            </m:e>
                          </m:eqArr>
                        </m:e>
                      </m:d>
                    </m:oMath>
                  </m:oMathPara>
                </a14:m>
                <a:endParaRPr lang="zh-CN" altLang="en-US"/>
              </a:p>
            </p:txBody>
          </p:sp>
        </mc:Choice>
        <mc:Fallback>
          <p:sp>
            <p:nvSpPr>
              <p:cNvPr id="5" name="Object 4"/>
              <p:cNvSpPr txBox="1">
                <a:spLocks noRot="1" noChangeAspect="1" noMove="1" noResize="1" noEditPoints="1" noAdjustHandles="1" noChangeArrowheads="1" noChangeShapeType="1" noTextEdit="1"/>
              </p:cNvSpPr>
              <p:nvPr/>
            </p:nvSpPr>
            <p:spPr bwMode="auto">
              <a:xfrm>
                <a:off x="3735388" y="2636838"/>
                <a:ext cx="2262187" cy="1552575"/>
              </a:xfrm>
              <a:prstGeom prst="rect">
                <a:avLst/>
              </a:prstGeom>
              <a:blipFill>
                <a:blip r:embed="rId4"/>
                <a:stretch>
                  <a:fillRect/>
                </a:stretch>
              </a:blipFill>
              <a:ln>
                <a:noFill/>
              </a:ln>
              <a:extLst/>
            </p:spPr>
            <p:txBody>
              <a:bodyPr/>
              <a:lstStyle/>
              <a:p>
                <a:r>
                  <a:rPr lang="zh-CN" altLang="en-US">
                    <a:noFill/>
                  </a:rPr>
                  <a:t> </a:t>
                </a:r>
              </a:p>
            </p:txBody>
          </p:sp>
        </mc:Fallback>
      </mc:AlternateContent>
      <p:graphicFrame>
        <p:nvGraphicFramePr>
          <p:cNvPr id="6" name="表格 5"/>
          <p:cNvGraphicFramePr>
            <a:graphicFrameLocks noGrp="1"/>
          </p:cNvGraphicFramePr>
          <p:nvPr/>
        </p:nvGraphicFramePr>
        <p:xfrm>
          <a:off x="1703388" y="4941888"/>
          <a:ext cx="8712199" cy="1512888"/>
        </p:xfrm>
        <a:graphic>
          <a:graphicData uri="http://schemas.openxmlformats.org/drawingml/2006/table">
            <a:tbl>
              <a:tblPr firstRow="1" bandRow="1">
                <a:tableStyleId>{5C22544A-7EE6-4342-B048-85BDC9FD1C3A}</a:tableStyleId>
              </a:tblPr>
              <a:tblGrid>
                <a:gridCol w="732538">
                  <a:extLst>
                    <a:ext uri="{9D8B030D-6E8A-4147-A177-3AD203B41FA5}">
                      <a16:colId xmlns:a16="http://schemas.microsoft.com/office/drawing/2014/main" val="20000"/>
                    </a:ext>
                  </a:extLst>
                </a:gridCol>
                <a:gridCol w="851498">
                  <a:extLst>
                    <a:ext uri="{9D8B030D-6E8A-4147-A177-3AD203B41FA5}">
                      <a16:colId xmlns:a16="http://schemas.microsoft.com/office/drawing/2014/main" val="20001"/>
                    </a:ext>
                  </a:extLst>
                </a:gridCol>
                <a:gridCol w="1080025">
                  <a:extLst>
                    <a:ext uri="{9D8B030D-6E8A-4147-A177-3AD203B41FA5}">
                      <a16:colId xmlns:a16="http://schemas.microsoft.com/office/drawing/2014/main" val="20002"/>
                    </a:ext>
                  </a:extLst>
                </a:gridCol>
                <a:gridCol w="1224028">
                  <a:extLst>
                    <a:ext uri="{9D8B030D-6E8A-4147-A177-3AD203B41FA5}">
                      <a16:colId xmlns:a16="http://schemas.microsoft.com/office/drawing/2014/main" val="20003"/>
                    </a:ext>
                  </a:extLst>
                </a:gridCol>
                <a:gridCol w="1224028">
                  <a:extLst>
                    <a:ext uri="{9D8B030D-6E8A-4147-A177-3AD203B41FA5}">
                      <a16:colId xmlns:a16="http://schemas.microsoft.com/office/drawing/2014/main" val="20004"/>
                    </a:ext>
                  </a:extLst>
                </a:gridCol>
                <a:gridCol w="1224028">
                  <a:extLst>
                    <a:ext uri="{9D8B030D-6E8A-4147-A177-3AD203B41FA5}">
                      <a16:colId xmlns:a16="http://schemas.microsoft.com/office/drawing/2014/main" val="20005"/>
                    </a:ext>
                  </a:extLst>
                </a:gridCol>
                <a:gridCol w="1224028">
                  <a:extLst>
                    <a:ext uri="{9D8B030D-6E8A-4147-A177-3AD203B41FA5}">
                      <a16:colId xmlns:a16="http://schemas.microsoft.com/office/drawing/2014/main" val="20006"/>
                    </a:ext>
                  </a:extLst>
                </a:gridCol>
                <a:gridCol w="1152026">
                  <a:extLst>
                    <a:ext uri="{9D8B030D-6E8A-4147-A177-3AD203B41FA5}">
                      <a16:colId xmlns:a16="http://schemas.microsoft.com/office/drawing/2014/main" val="20007"/>
                    </a:ext>
                  </a:extLst>
                </a:gridCol>
              </a:tblGrid>
              <a:tr h="504296">
                <a:tc>
                  <a:txBody>
                    <a:bodyPr/>
                    <a:lstStyle/>
                    <a:p>
                      <a:pPr algn="ctr"/>
                      <a:r>
                        <a:rPr lang="en-US" altLang="zh-CN" sz="2000" i="1" dirty="0"/>
                        <a:t>k</a:t>
                      </a:r>
                      <a:endParaRPr lang="zh-CN" altLang="en-US" sz="2000" i="1" dirty="0"/>
                    </a:p>
                  </a:txBody>
                  <a:tcPr marL="91432" marR="91432" marT="45742" marB="45742"/>
                </a:tc>
                <a:tc>
                  <a:txBody>
                    <a:bodyPr/>
                    <a:lstStyle/>
                    <a:p>
                      <a:pPr algn="ctr"/>
                      <a:r>
                        <a:rPr lang="en-US" altLang="zh-CN" sz="2000" dirty="0"/>
                        <a:t>1</a:t>
                      </a:r>
                      <a:endParaRPr lang="zh-CN" altLang="en-US" sz="2000" dirty="0"/>
                    </a:p>
                  </a:txBody>
                  <a:tcPr marL="91432" marR="91432" marT="45742" marB="45742"/>
                </a:tc>
                <a:tc>
                  <a:txBody>
                    <a:bodyPr/>
                    <a:lstStyle/>
                    <a:p>
                      <a:pPr algn="ctr"/>
                      <a:r>
                        <a:rPr lang="en-US" altLang="zh-CN" sz="2000" dirty="0"/>
                        <a:t>2</a:t>
                      </a:r>
                      <a:endParaRPr lang="zh-CN" altLang="en-US" sz="2000" dirty="0"/>
                    </a:p>
                  </a:txBody>
                  <a:tcPr marL="91432" marR="91432" marT="45742" marB="45742"/>
                </a:tc>
                <a:tc>
                  <a:txBody>
                    <a:bodyPr/>
                    <a:lstStyle/>
                    <a:p>
                      <a:pPr algn="ctr"/>
                      <a:r>
                        <a:rPr lang="en-US" altLang="zh-CN" sz="2000" dirty="0"/>
                        <a:t>3</a:t>
                      </a:r>
                      <a:endParaRPr lang="zh-CN" altLang="en-US" sz="2000" dirty="0"/>
                    </a:p>
                  </a:txBody>
                  <a:tcPr marL="91432" marR="91432" marT="45742" marB="45742"/>
                </a:tc>
                <a:tc>
                  <a:txBody>
                    <a:bodyPr/>
                    <a:lstStyle/>
                    <a:p>
                      <a:pPr algn="ctr"/>
                      <a:r>
                        <a:rPr lang="en-US" altLang="zh-CN" sz="2000" dirty="0"/>
                        <a:t>4</a:t>
                      </a:r>
                      <a:endParaRPr lang="zh-CN" altLang="en-US" sz="2000" dirty="0"/>
                    </a:p>
                  </a:txBody>
                  <a:tcPr marL="91432" marR="91432" marT="45742" marB="45742"/>
                </a:tc>
                <a:tc>
                  <a:txBody>
                    <a:bodyPr/>
                    <a:lstStyle/>
                    <a:p>
                      <a:pPr algn="ctr"/>
                      <a:r>
                        <a:rPr lang="en-US" altLang="zh-CN" sz="2000" dirty="0"/>
                        <a:t>5</a:t>
                      </a:r>
                      <a:endParaRPr lang="zh-CN" altLang="en-US" sz="2000" dirty="0"/>
                    </a:p>
                  </a:txBody>
                  <a:tcPr marL="91432" marR="91432" marT="45742" marB="45742"/>
                </a:tc>
                <a:tc>
                  <a:txBody>
                    <a:bodyPr/>
                    <a:lstStyle/>
                    <a:p>
                      <a:pPr algn="ctr"/>
                      <a:r>
                        <a:rPr lang="en-US" altLang="zh-CN" sz="2000" dirty="0"/>
                        <a:t>6</a:t>
                      </a:r>
                      <a:endParaRPr lang="zh-CN" altLang="en-US" sz="2000" dirty="0"/>
                    </a:p>
                  </a:txBody>
                  <a:tcPr marL="91432" marR="91432" marT="45742" marB="45742"/>
                </a:tc>
                <a:tc>
                  <a:txBody>
                    <a:bodyPr/>
                    <a:lstStyle/>
                    <a:p>
                      <a:pPr algn="ctr"/>
                      <a:r>
                        <a:rPr lang="en-US" altLang="zh-CN" sz="2000" dirty="0"/>
                        <a:t>7</a:t>
                      </a:r>
                      <a:endParaRPr lang="zh-CN" altLang="en-US" sz="2000" dirty="0"/>
                    </a:p>
                  </a:txBody>
                  <a:tcPr marL="91432" marR="91432" marT="45742" marB="45742"/>
                </a:tc>
                <a:extLst>
                  <a:ext uri="{0D108BD9-81ED-4DB2-BD59-A6C34878D82A}">
                    <a16:rowId xmlns:a16="http://schemas.microsoft.com/office/drawing/2014/main" val="10000"/>
                  </a:ext>
                </a:extLst>
              </a:tr>
              <a:tr h="504296">
                <a:tc>
                  <a:txBody>
                    <a:bodyPr/>
                    <a:lstStyle/>
                    <a:p>
                      <a:pPr algn="ctr"/>
                      <a:r>
                        <a:rPr lang="en-US" altLang="zh-CN" sz="2000" i="1" dirty="0"/>
                        <a:t>x</a:t>
                      </a:r>
                      <a:r>
                        <a:rPr lang="en-US" altLang="zh-CN" sz="2000" baseline="-25000" dirty="0"/>
                        <a:t>1</a:t>
                      </a:r>
                      <a:r>
                        <a:rPr lang="en-US" altLang="zh-CN" sz="2000" baseline="30000" dirty="0"/>
                        <a:t>(</a:t>
                      </a:r>
                      <a:r>
                        <a:rPr lang="en-US" altLang="zh-CN" sz="2000" i="1" baseline="30000" dirty="0"/>
                        <a:t>k</a:t>
                      </a:r>
                      <a:r>
                        <a:rPr lang="en-US" altLang="zh-CN" sz="2000" baseline="30000" dirty="0"/>
                        <a:t>)</a:t>
                      </a:r>
                      <a:endParaRPr lang="zh-CN" altLang="en-US" sz="2000" baseline="30000" dirty="0"/>
                    </a:p>
                  </a:txBody>
                  <a:tcPr marL="91432" marR="91432" marT="45742" marB="45742"/>
                </a:tc>
                <a:tc>
                  <a:txBody>
                    <a:bodyPr/>
                    <a:lstStyle/>
                    <a:p>
                      <a:pPr algn="r"/>
                      <a:r>
                        <a:rPr lang="en-US" altLang="zh-CN" sz="2000" dirty="0"/>
                        <a:t>0.500</a:t>
                      </a:r>
                      <a:endParaRPr lang="zh-CN" altLang="en-US" sz="2000" dirty="0"/>
                    </a:p>
                  </a:txBody>
                  <a:tcPr marL="91432" marR="91432" marT="45742" marB="45742"/>
                </a:tc>
                <a:tc>
                  <a:txBody>
                    <a:bodyPr/>
                    <a:lstStyle/>
                    <a:p>
                      <a:pPr algn="r"/>
                      <a:r>
                        <a:rPr lang="en-US" altLang="zh-CN" sz="2000" dirty="0"/>
                        <a:t>1.1250</a:t>
                      </a:r>
                      <a:endParaRPr lang="zh-CN" altLang="en-US" sz="2000" dirty="0"/>
                    </a:p>
                  </a:txBody>
                  <a:tcPr marL="91432" marR="91432" marT="45742" marB="45742"/>
                </a:tc>
                <a:tc>
                  <a:txBody>
                    <a:bodyPr/>
                    <a:lstStyle/>
                    <a:p>
                      <a:pPr algn="r"/>
                      <a:r>
                        <a:rPr lang="en-US" altLang="zh-CN" sz="2000" dirty="0"/>
                        <a:t>1.06250</a:t>
                      </a:r>
                      <a:endParaRPr lang="zh-CN" altLang="en-US" sz="2000" dirty="0"/>
                    </a:p>
                  </a:txBody>
                  <a:tcPr marL="91432" marR="91432" marT="45742" marB="45742"/>
                </a:tc>
                <a:tc>
                  <a:txBody>
                    <a:bodyPr/>
                    <a:lstStyle/>
                    <a:p>
                      <a:pPr algn="r"/>
                      <a:r>
                        <a:rPr lang="zh-CN" altLang="en-US" sz="2000" dirty="0"/>
                        <a:t> </a:t>
                      </a:r>
                      <a:r>
                        <a:rPr lang="en-US" altLang="zh-CN" sz="2000" dirty="0"/>
                        <a:t>0.98438</a:t>
                      </a:r>
                      <a:endParaRPr lang="zh-CN" altLang="en-US" sz="2000" dirty="0"/>
                    </a:p>
                  </a:txBody>
                  <a:tcPr marL="91432" marR="91432" marT="45742" marB="45742"/>
                </a:tc>
                <a:tc>
                  <a:txBody>
                    <a:bodyPr/>
                    <a:lstStyle/>
                    <a:p>
                      <a:pPr algn="r"/>
                      <a:r>
                        <a:rPr lang="en-US" altLang="zh-CN" sz="2000" dirty="0"/>
                        <a:t>0.99219</a:t>
                      </a:r>
                      <a:endParaRPr lang="zh-CN" altLang="en-US" sz="2000" dirty="0"/>
                    </a:p>
                  </a:txBody>
                  <a:tcPr marL="91432" marR="91432" marT="45742" marB="45742"/>
                </a:tc>
                <a:tc>
                  <a:txBody>
                    <a:bodyPr/>
                    <a:lstStyle/>
                    <a:p>
                      <a:pPr algn="r"/>
                      <a:r>
                        <a:rPr lang="zh-CN" altLang="en-US" sz="2000" dirty="0"/>
                        <a:t> </a:t>
                      </a:r>
                      <a:r>
                        <a:rPr lang="en-US" altLang="zh-CN" sz="2000" dirty="0"/>
                        <a:t>1.00195</a:t>
                      </a:r>
                      <a:endParaRPr lang="zh-CN" altLang="en-US" sz="2000" dirty="0"/>
                    </a:p>
                  </a:txBody>
                  <a:tcPr marL="91432" marR="91432" marT="45742" marB="45742"/>
                </a:tc>
                <a:tc>
                  <a:txBody>
                    <a:bodyPr/>
                    <a:lstStyle/>
                    <a:p>
                      <a:pPr algn="r"/>
                      <a:r>
                        <a:rPr lang="zh-CN" altLang="en-US" sz="2000" dirty="0"/>
                        <a:t> </a:t>
                      </a:r>
                      <a:r>
                        <a:rPr lang="en-US" altLang="zh-CN" sz="2000" dirty="0"/>
                        <a:t>1.00097</a:t>
                      </a:r>
                      <a:endParaRPr lang="zh-CN" altLang="en-US" sz="2000" dirty="0"/>
                    </a:p>
                  </a:txBody>
                  <a:tcPr marL="91432" marR="91432" marT="45742" marB="45742"/>
                </a:tc>
                <a:extLst>
                  <a:ext uri="{0D108BD9-81ED-4DB2-BD59-A6C34878D82A}">
                    <a16:rowId xmlns:a16="http://schemas.microsoft.com/office/drawing/2014/main" val="10001"/>
                  </a:ext>
                </a:extLst>
              </a:tr>
              <a:tr h="5042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i="1" dirty="0"/>
                        <a:t>x</a:t>
                      </a:r>
                      <a:r>
                        <a:rPr lang="en-US" altLang="zh-CN" sz="2000" baseline="-25000" dirty="0"/>
                        <a:t>2</a:t>
                      </a:r>
                      <a:r>
                        <a:rPr lang="en-US" altLang="zh-CN" sz="2000" baseline="30000" dirty="0"/>
                        <a:t>(</a:t>
                      </a:r>
                      <a:r>
                        <a:rPr lang="en-US" altLang="zh-CN" sz="2000" i="1" baseline="30000" dirty="0"/>
                        <a:t>k</a:t>
                      </a:r>
                      <a:r>
                        <a:rPr lang="en-US" altLang="zh-CN" sz="2000" baseline="30000" dirty="0"/>
                        <a:t>)</a:t>
                      </a:r>
                      <a:endParaRPr lang="zh-CN" altLang="en-US" sz="2000" baseline="-25000" dirty="0"/>
                    </a:p>
                  </a:txBody>
                  <a:tcPr marL="91432" marR="91432" marT="45742" marB="45742"/>
                </a:tc>
                <a:tc>
                  <a:txBody>
                    <a:bodyPr/>
                    <a:lstStyle/>
                    <a:p>
                      <a:pPr algn="r"/>
                      <a:r>
                        <a:rPr lang="en-US" altLang="zh-CN" sz="2000" dirty="0"/>
                        <a:t>-1.250</a:t>
                      </a:r>
                      <a:endParaRPr lang="zh-CN" altLang="en-US" sz="2000" dirty="0"/>
                    </a:p>
                  </a:txBody>
                  <a:tcPr marL="91432" marR="91432" marT="45742" marB="45742"/>
                </a:tc>
                <a:tc>
                  <a:txBody>
                    <a:bodyPr/>
                    <a:lstStyle/>
                    <a:p>
                      <a:pPr algn="r"/>
                      <a:r>
                        <a:rPr lang="en-US" altLang="zh-CN" sz="2000" dirty="0"/>
                        <a:t> -1.1250</a:t>
                      </a:r>
                      <a:endParaRPr lang="zh-CN" altLang="en-US" sz="2000" dirty="0"/>
                    </a:p>
                  </a:txBody>
                  <a:tcPr marL="91432" marR="91432" marT="45742" marB="45742"/>
                </a:tc>
                <a:tc>
                  <a:txBody>
                    <a:bodyPr/>
                    <a:lstStyle/>
                    <a:p>
                      <a:pPr algn="r"/>
                      <a:r>
                        <a:rPr lang="en-US" altLang="zh-CN" sz="2000" dirty="0"/>
                        <a:t>-0.96875</a:t>
                      </a:r>
                      <a:endParaRPr lang="zh-CN" altLang="en-US" sz="2000" dirty="0"/>
                    </a:p>
                  </a:txBody>
                  <a:tcPr marL="91432" marR="91432" marT="45742" marB="45742"/>
                </a:tc>
                <a:tc>
                  <a:txBody>
                    <a:bodyPr/>
                    <a:lstStyle/>
                    <a:p>
                      <a:pPr algn="r"/>
                      <a:r>
                        <a:rPr lang="zh-CN" altLang="en-US" sz="2000" dirty="0"/>
                        <a:t> </a:t>
                      </a:r>
                      <a:r>
                        <a:rPr lang="en-US" altLang="zh-CN" sz="2000" dirty="0"/>
                        <a:t>-0.98438</a:t>
                      </a:r>
                      <a:endParaRPr lang="zh-CN" altLang="en-US" sz="2000" dirty="0"/>
                    </a:p>
                  </a:txBody>
                  <a:tcPr marL="91432" marR="91432" marT="45742" marB="45742"/>
                </a:tc>
                <a:tc>
                  <a:txBody>
                    <a:bodyPr/>
                    <a:lstStyle/>
                    <a:p>
                      <a:pPr algn="r"/>
                      <a:r>
                        <a:rPr lang="zh-CN" altLang="en-US" sz="2000" dirty="0"/>
                        <a:t> </a:t>
                      </a:r>
                      <a:r>
                        <a:rPr lang="en-US" altLang="zh-CN" sz="2000" dirty="0"/>
                        <a:t>-1.00390</a:t>
                      </a:r>
                      <a:endParaRPr lang="zh-CN" altLang="en-US" sz="2000" dirty="0"/>
                    </a:p>
                  </a:txBody>
                  <a:tcPr marL="91432" marR="91432" marT="45742" marB="45742"/>
                </a:tc>
                <a:tc>
                  <a:txBody>
                    <a:bodyPr/>
                    <a:lstStyle/>
                    <a:p>
                      <a:pPr algn="r"/>
                      <a:r>
                        <a:rPr lang="zh-CN" altLang="en-US" sz="2000" dirty="0"/>
                        <a:t> </a:t>
                      </a:r>
                      <a:r>
                        <a:rPr lang="en-US" altLang="zh-CN" sz="2000" dirty="0"/>
                        <a:t>-1.00195</a:t>
                      </a:r>
                      <a:endParaRPr lang="zh-CN" altLang="en-US" sz="2000" dirty="0"/>
                    </a:p>
                  </a:txBody>
                  <a:tcPr marL="91432" marR="91432" marT="45742" marB="45742"/>
                </a:tc>
                <a:tc>
                  <a:txBody>
                    <a:bodyPr/>
                    <a:lstStyle/>
                    <a:p>
                      <a:pPr algn="r"/>
                      <a:r>
                        <a:rPr lang="zh-CN" altLang="en-US" sz="2000" dirty="0"/>
                        <a:t> </a:t>
                      </a:r>
                      <a:r>
                        <a:rPr lang="en-US" altLang="zh-CN" sz="2000" dirty="0"/>
                        <a:t>-0.9995</a:t>
                      </a:r>
                      <a:endParaRPr lang="zh-CN" altLang="en-US" sz="2000" dirty="0"/>
                    </a:p>
                  </a:txBody>
                  <a:tcPr marL="91432" marR="91432" marT="45742" marB="45742"/>
                </a:tc>
                <a:extLst>
                  <a:ext uri="{0D108BD9-81ED-4DB2-BD59-A6C34878D82A}">
                    <a16:rowId xmlns:a16="http://schemas.microsoft.com/office/drawing/2014/main" val="10002"/>
                  </a:ext>
                </a:extLst>
              </a:tr>
            </a:tbl>
          </a:graphicData>
        </a:graphic>
      </p:graphicFrame>
      <mc:AlternateContent xmlns:mc="http://schemas.openxmlformats.org/markup-compatibility/2006">
        <mc:Choice xmlns:a14="http://schemas.microsoft.com/office/drawing/2010/main" Requires="a14">
          <p:sp>
            <p:nvSpPr>
              <p:cNvPr id="2" name="Object 5"/>
              <p:cNvSpPr txBox="1"/>
              <p:nvPr/>
            </p:nvSpPr>
            <p:spPr bwMode="auto">
              <a:xfrm>
                <a:off x="5989638" y="4233863"/>
                <a:ext cx="1649412" cy="423862"/>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m:t>
                      </m:r>
                      <m: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m:t>
                      </m:r>
                    </m:oMath>
                  </m:oMathPara>
                </a14:m>
                <a:endParaRPr lang="zh-CN" altLang="en-US"/>
              </a:p>
            </p:txBody>
          </p:sp>
        </mc:Choice>
        <mc:Fallback>
          <p:sp>
            <p:nvSpPr>
              <p:cNvPr id="2" name="Object 5"/>
              <p:cNvSpPr txBox="1">
                <a:spLocks noRot="1" noChangeAspect="1" noMove="1" noResize="1" noEditPoints="1" noAdjustHandles="1" noChangeArrowheads="1" noChangeShapeType="1" noTextEdit="1"/>
              </p:cNvSpPr>
              <p:nvPr/>
            </p:nvSpPr>
            <p:spPr bwMode="auto">
              <a:xfrm>
                <a:off x="5989638" y="4233863"/>
                <a:ext cx="1649412" cy="423862"/>
              </a:xfrm>
              <a:prstGeom prst="rect">
                <a:avLst/>
              </a:prstGeom>
              <a:blipFill>
                <a:blip r:embed="rId5"/>
                <a:stretch>
                  <a:fillRect/>
                </a:stretch>
              </a:blipFill>
              <a:ln>
                <a:noFill/>
              </a:ln>
              <a:extLst/>
            </p:spPr>
            <p:txBody>
              <a:bodyPr/>
              <a:lstStyle/>
              <a:p>
                <a:r>
                  <a:rPr lang="zh-CN" altLang="en-US">
                    <a:noFill/>
                  </a:rPr>
                  <a:t> </a:t>
                </a:r>
              </a:p>
            </p:txBody>
          </p:sp>
        </mc:Fallback>
      </mc:AlternateContent>
      <p:sp>
        <p:nvSpPr>
          <p:cNvPr id="7" name="矩形 6"/>
          <p:cNvSpPr/>
          <p:nvPr/>
        </p:nvSpPr>
        <p:spPr>
          <a:xfrm>
            <a:off x="1992313" y="2060575"/>
            <a:ext cx="6907212" cy="461963"/>
          </a:xfrm>
          <a:prstGeom prst="rect">
            <a:avLst/>
          </a:prstGeom>
        </p:spPr>
        <p:txBody>
          <a:bodyPr>
            <a:spAutoFit/>
          </a:bodyPr>
          <a:lstStyle/>
          <a:p>
            <a:pPr marL="342900" indent="-342900" algn="just">
              <a:spcBef>
                <a:spcPct val="20000"/>
              </a:spcBef>
              <a:defRPr/>
            </a:pPr>
            <a:r>
              <a:rPr lang="zh-CN" altLang="en-US" b="1" kern="0" dirty="0">
                <a:solidFill>
                  <a:srgbClr val="000000"/>
                </a:solidFill>
                <a:latin typeface="宋体" pitchFamily="2" charset="-122"/>
                <a:ea typeface="楷体_GB2312" pitchFamily="49" charset="-122"/>
                <a:cs typeface="Times New Roman" pitchFamily="18" charset="0"/>
              </a:rPr>
              <a:t>解</a:t>
            </a:r>
            <a:r>
              <a:rPr lang="zh-CN" altLang="en-US" kern="0" dirty="0">
                <a:solidFill>
                  <a:srgbClr val="000000"/>
                </a:solidFill>
                <a:latin typeface="宋体" pitchFamily="2" charset="-122"/>
                <a:ea typeface="楷体_GB2312" pitchFamily="49" charset="-122"/>
                <a:cs typeface="Times New Roman" pitchFamily="18" charset="0"/>
              </a:rPr>
              <a:t>：</a:t>
            </a:r>
            <a:r>
              <a:rPr lang="en-US" altLang="zh-CN" dirty="0">
                <a:solidFill>
                  <a:srgbClr val="000000"/>
                </a:solidFill>
                <a:latin typeface="楷体_GB2312" pitchFamily="49" charset="-122"/>
                <a:ea typeface="楷体_GB2312" pitchFamily="49" charset="-122"/>
                <a:cs typeface="Times New Roman" pitchFamily="18" charset="0"/>
              </a:rPr>
              <a:t> </a:t>
            </a:r>
            <a:r>
              <a:rPr lang="zh-CN" altLang="en-US" kern="0" dirty="0">
                <a:solidFill>
                  <a:srgbClr val="000000"/>
                </a:solidFill>
                <a:latin typeface="Times New Roman"/>
                <a:ea typeface="宋体"/>
              </a:rPr>
              <a:t>由</a:t>
            </a:r>
            <a:r>
              <a:rPr lang="en-US" altLang="zh-CN" kern="0" dirty="0">
                <a:solidFill>
                  <a:srgbClr val="000000"/>
                </a:solidFill>
                <a:latin typeface="Times New Roman"/>
                <a:ea typeface="宋体"/>
              </a:rPr>
              <a:t>Jacobi</a:t>
            </a:r>
            <a:r>
              <a:rPr lang="zh-CN" altLang="en-US" kern="0" dirty="0">
                <a:solidFill>
                  <a:srgbClr val="000000"/>
                </a:solidFill>
                <a:latin typeface="Times New Roman"/>
                <a:ea typeface="宋体"/>
              </a:rPr>
              <a:t>迭代法公式，可得</a:t>
            </a:r>
            <a:r>
              <a:rPr lang="en-US" altLang="zh-CN" kern="0" dirty="0">
                <a:solidFill>
                  <a:srgbClr val="000000"/>
                </a:solidFill>
                <a:latin typeface="Times New Roman"/>
                <a:ea typeface="宋体"/>
              </a:rPr>
              <a:t>Jacobi</a:t>
            </a:r>
            <a:r>
              <a:rPr lang="zh-CN" altLang="en-US" kern="0" dirty="0">
                <a:solidFill>
                  <a:srgbClr val="000000"/>
                </a:solidFill>
                <a:latin typeface="Times New Roman"/>
                <a:ea typeface="宋体"/>
              </a:rPr>
              <a:t>迭代公式</a:t>
            </a:r>
          </a:p>
        </p:txBody>
      </p:sp>
      <p:sp>
        <p:nvSpPr>
          <p:cNvPr id="8" name="矩形 7"/>
          <p:cNvSpPr>
            <a:spLocks noChangeArrowheads="1"/>
          </p:cNvSpPr>
          <p:nvPr/>
        </p:nvSpPr>
        <p:spPr bwMode="auto">
          <a:xfrm>
            <a:off x="2063750" y="4221163"/>
            <a:ext cx="7127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solidFill>
                  <a:srgbClr val="000000"/>
                </a:solidFill>
              </a:rPr>
              <a:t> 其计算结果如下表（</a:t>
            </a:r>
            <a:r>
              <a:rPr lang="zh-CN" altLang="en-US" sz="2400">
                <a:solidFill>
                  <a:srgbClr val="0000FF"/>
                </a:solidFill>
              </a:rPr>
              <a:t>精确解                       </a:t>
            </a:r>
            <a:r>
              <a:rPr lang="zh-CN" altLang="en-US" sz="2400">
                <a:solidFill>
                  <a:srgbClr val="000000"/>
                </a:solidFill>
              </a:rPr>
              <a:t> ）：</a:t>
            </a:r>
            <a:endParaRPr lang="zh-CN" altLang="en-US" sz="2400"/>
          </a:p>
        </p:txBody>
      </p:sp>
      <p:grpSp>
        <p:nvGrpSpPr>
          <p:cNvPr id="12" name="组合 11"/>
          <p:cNvGrpSpPr/>
          <p:nvPr/>
        </p:nvGrpSpPr>
        <p:grpSpPr>
          <a:xfrm>
            <a:off x="4325329" y="2401490"/>
            <a:ext cx="5899592" cy="1832373"/>
            <a:chOff x="4325329" y="2401490"/>
            <a:chExt cx="5899592" cy="1832373"/>
          </a:xfrm>
        </p:grpSpPr>
        <p:sp>
          <p:nvSpPr>
            <p:cNvPr id="10" name="文本框 9"/>
            <p:cNvSpPr txBox="1">
              <a:spLocks noRot="1" noChangeAspect="1" noMove="1" noResize="1" noEditPoints="1" noAdjustHandles="1" noChangeArrowheads="1" noChangeShapeType="1" noTextEdit="1"/>
            </p:cNvSpPr>
            <p:nvPr/>
          </p:nvSpPr>
          <p:spPr>
            <a:xfrm>
              <a:off x="8158330" y="2831011"/>
              <a:ext cx="2066591" cy="1164229"/>
            </a:xfrm>
            <a:prstGeom prst="rect">
              <a:avLst/>
            </a:prstGeom>
            <a:blipFill>
              <a:blip r:embed="rId6"/>
              <a:stretch>
                <a:fillRect l="-4106" t="-5181"/>
              </a:stretch>
            </a:blipFill>
            <a:ln>
              <a:solidFill>
                <a:srgbClr val="002060"/>
              </a:solidFill>
            </a:ln>
          </p:spPr>
          <p:txBody>
            <a:bodyPr/>
            <a:lstStyle/>
            <a:p>
              <a:pPr>
                <a:defRPr/>
              </a:pPr>
              <a:r>
                <a:rPr lang="zh-CN" altLang="en-US">
                  <a:noFill/>
                </a:rPr>
                <a:t> </a:t>
              </a:r>
            </a:p>
          </p:txBody>
        </p:sp>
        <p:sp>
          <p:nvSpPr>
            <p:cNvPr id="3" name="椭圆 2"/>
            <p:cNvSpPr/>
            <p:nvPr/>
          </p:nvSpPr>
          <p:spPr bwMode="auto">
            <a:xfrm>
              <a:off x="4325329" y="2401490"/>
              <a:ext cx="2130711" cy="1832373"/>
            </a:xfrm>
            <a:prstGeom prst="ellipse">
              <a:avLst/>
            </a:prstGeom>
            <a:noFill/>
            <a:ln w="9525" cap="flat" cmpd="sng" algn="ctr">
              <a:solidFill>
                <a:srgbClr val="00206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
          <p:nvSpPr>
            <p:cNvPr id="9" name="文本框 8"/>
            <p:cNvSpPr txBox="1"/>
            <p:nvPr/>
          </p:nvSpPr>
          <p:spPr>
            <a:xfrm>
              <a:off x="6456040" y="2910185"/>
              <a:ext cx="1723549" cy="461665"/>
            </a:xfrm>
            <a:prstGeom prst="rect">
              <a:avLst/>
            </a:prstGeom>
            <a:noFill/>
          </p:spPr>
          <p:txBody>
            <a:bodyPr wrap="none" rtlCol="0">
              <a:spAutoFit/>
            </a:bodyPr>
            <a:lstStyle/>
            <a:p>
              <a:r>
                <a:rPr lang="zh-CN" altLang="en-US" dirty="0"/>
                <a:t>求一阶偏导</a:t>
              </a:r>
            </a:p>
          </p:txBody>
        </p:sp>
        <p:sp>
          <p:nvSpPr>
            <p:cNvPr id="11" name="右箭头 10"/>
            <p:cNvSpPr/>
            <p:nvPr/>
          </p:nvSpPr>
          <p:spPr bwMode="auto">
            <a:xfrm>
              <a:off x="6456292" y="3385876"/>
              <a:ext cx="1536623" cy="254894"/>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wd">
                                    <p:tmAbs val="200"/>
                                  </p:iterate>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ox(in)">
                                      <p:cBhvr>
                                        <p:cTn id="16" dur="10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left)">
                                      <p:cBhvr>
                                        <p:cTn id="2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type="body" idx="1"/>
          </p:nvPr>
        </p:nvSpPr>
        <p:spPr>
          <a:xfrm>
            <a:off x="1703388" y="827088"/>
            <a:ext cx="7993062" cy="1809750"/>
          </a:xfrm>
        </p:spPr>
        <p:txBody>
          <a:bodyPr/>
          <a:lstStyle/>
          <a:p>
            <a:pPr algn="just">
              <a:lnSpc>
                <a:spcPct val="150000"/>
              </a:lnSpc>
              <a:buFontTx/>
              <a:buNone/>
            </a:pPr>
            <a:r>
              <a:rPr lang="zh-CN" altLang="en-US" sz="2400"/>
              <a:t>           高斯-塞德尔（</a:t>
            </a:r>
            <a:r>
              <a:rPr lang="en-US" altLang="zh-CN" sz="2400"/>
              <a:t>Gauss-Seidel）</a:t>
            </a:r>
            <a:r>
              <a:rPr lang="zh-CN" altLang="en-US" sz="2400"/>
              <a:t>迭代(以下统称为</a:t>
            </a:r>
            <a:r>
              <a:rPr lang="en-US" altLang="zh-CN" sz="2400"/>
              <a:t>Gauss-Seidel</a:t>
            </a:r>
            <a:r>
              <a:rPr lang="zh-CN" altLang="en-US" sz="2400"/>
              <a:t>迭代，</a:t>
            </a:r>
            <a:r>
              <a:rPr lang="en-US" altLang="zh-CN" sz="2400">
                <a:solidFill>
                  <a:srgbClr val="FF0000"/>
                </a:solidFill>
              </a:rPr>
              <a:t>GS</a:t>
            </a:r>
            <a:r>
              <a:rPr lang="zh-CN" altLang="en-US" sz="2400"/>
              <a:t>迭代)是对</a:t>
            </a:r>
            <a:r>
              <a:rPr lang="en-US" altLang="zh-CN" sz="2400"/>
              <a:t>Jacobi</a:t>
            </a:r>
            <a:r>
              <a:rPr lang="zh-CN" altLang="en-US" sz="2400"/>
              <a:t>迭代的一种改进。我们仍用例4为例，但迭代格式改为：</a:t>
            </a:r>
          </a:p>
        </p:txBody>
      </p:sp>
      <p:graphicFrame>
        <p:nvGraphicFramePr>
          <p:cNvPr id="33794" name="Object 2"/>
          <p:cNvGraphicFramePr>
            <a:graphicFrameLocks noChangeAspect="1"/>
          </p:cNvGraphicFramePr>
          <p:nvPr/>
        </p:nvGraphicFramePr>
        <p:xfrm>
          <a:off x="3275013" y="2673350"/>
          <a:ext cx="2795587" cy="1079500"/>
        </p:xfrm>
        <a:graphic>
          <a:graphicData uri="http://schemas.openxmlformats.org/presentationml/2006/ole">
            <mc:AlternateContent xmlns:mc="http://schemas.openxmlformats.org/markup-compatibility/2006">
              <mc:Choice xmlns:v="urn:schemas-microsoft-com:vml" Requires="v">
                <p:oleObj spid="_x0000_s15483" name="Equation" r:id="rId4" imgW="21507450" imgH="8334375" progId="Equation.DSMT4">
                  <p:embed/>
                </p:oleObj>
              </mc:Choice>
              <mc:Fallback>
                <p:oleObj name="Equation" r:id="rId4" imgW="21507450" imgH="8334375"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5013" y="2673350"/>
                        <a:ext cx="2795587"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4" name="矩形 4"/>
          <p:cNvSpPr>
            <a:spLocks noChangeArrowheads="1"/>
          </p:cNvSpPr>
          <p:nvPr/>
        </p:nvSpPr>
        <p:spPr bwMode="auto">
          <a:xfrm>
            <a:off x="2166938" y="14288"/>
            <a:ext cx="39084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800" b="1" dirty="0">
                <a:solidFill>
                  <a:schemeClr val="tx2"/>
                </a:solidFill>
              </a:rPr>
              <a:t>§</a:t>
            </a:r>
            <a:r>
              <a:rPr lang="en-US" altLang="zh-CN" sz="2800" b="1" dirty="0"/>
              <a:t>2. 4  </a:t>
            </a:r>
            <a:r>
              <a:rPr lang="zh-CN" altLang="en-US" sz="2800" b="1" dirty="0">
                <a:solidFill>
                  <a:schemeClr val="accent2"/>
                </a:solidFill>
              </a:rPr>
              <a:t>高斯-塞德尔迭代</a:t>
            </a:r>
          </a:p>
        </p:txBody>
      </p:sp>
      <p:sp>
        <p:nvSpPr>
          <p:cNvPr id="33797" name="矩形 6"/>
          <p:cNvSpPr>
            <a:spLocks noChangeArrowheads="1"/>
          </p:cNvSpPr>
          <p:nvPr/>
        </p:nvSpPr>
        <p:spPr bwMode="auto">
          <a:xfrm>
            <a:off x="2063750" y="4149725"/>
            <a:ext cx="72723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t>设初值不变，迭代的结果如下表：</a:t>
            </a:r>
            <a:endParaRPr lang="zh-CN" altLang="en-US" sz="2400">
              <a:latin typeface="宋体" panose="02010600030101010101" pitchFamily="2" charset="-122"/>
            </a:endParaRPr>
          </a:p>
        </p:txBody>
      </p:sp>
      <p:graphicFrame>
        <p:nvGraphicFramePr>
          <p:cNvPr id="8" name="表格 7"/>
          <p:cNvGraphicFramePr>
            <a:graphicFrameLocks noGrp="1"/>
          </p:cNvGraphicFramePr>
          <p:nvPr/>
        </p:nvGraphicFramePr>
        <p:xfrm>
          <a:off x="1703388" y="4868863"/>
          <a:ext cx="8785227" cy="1512888"/>
        </p:xfrm>
        <a:graphic>
          <a:graphicData uri="http://schemas.openxmlformats.org/drawingml/2006/table">
            <a:tbl>
              <a:tblPr firstRow="1" bandRow="1">
                <a:tableStyleId>{5C22544A-7EE6-4342-B048-85BDC9FD1C3A}</a:tableStyleId>
              </a:tblPr>
              <a:tblGrid>
                <a:gridCol w="732624">
                  <a:extLst>
                    <a:ext uri="{9D8B030D-6E8A-4147-A177-3AD203B41FA5}">
                      <a16:colId xmlns:a16="http://schemas.microsoft.com/office/drawing/2014/main" val="20000"/>
                    </a:ext>
                  </a:extLst>
                </a:gridCol>
                <a:gridCol w="851597">
                  <a:extLst>
                    <a:ext uri="{9D8B030D-6E8A-4147-A177-3AD203B41FA5}">
                      <a16:colId xmlns:a16="http://schemas.microsoft.com/office/drawing/2014/main" val="20001"/>
                    </a:ext>
                  </a:extLst>
                </a:gridCol>
                <a:gridCol w="1080151">
                  <a:extLst>
                    <a:ext uri="{9D8B030D-6E8A-4147-A177-3AD203B41FA5}">
                      <a16:colId xmlns:a16="http://schemas.microsoft.com/office/drawing/2014/main" val="20002"/>
                    </a:ext>
                  </a:extLst>
                </a:gridCol>
                <a:gridCol w="1224171">
                  <a:extLst>
                    <a:ext uri="{9D8B030D-6E8A-4147-A177-3AD203B41FA5}">
                      <a16:colId xmlns:a16="http://schemas.microsoft.com/office/drawing/2014/main" val="20003"/>
                    </a:ext>
                  </a:extLst>
                </a:gridCol>
                <a:gridCol w="1224171">
                  <a:extLst>
                    <a:ext uri="{9D8B030D-6E8A-4147-A177-3AD203B41FA5}">
                      <a16:colId xmlns:a16="http://schemas.microsoft.com/office/drawing/2014/main" val="20004"/>
                    </a:ext>
                  </a:extLst>
                </a:gridCol>
                <a:gridCol w="1224171">
                  <a:extLst>
                    <a:ext uri="{9D8B030D-6E8A-4147-A177-3AD203B41FA5}">
                      <a16:colId xmlns:a16="http://schemas.microsoft.com/office/drawing/2014/main" val="20005"/>
                    </a:ext>
                  </a:extLst>
                </a:gridCol>
                <a:gridCol w="1224171">
                  <a:extLst>
                    <a:ext uri="{9D8B030D-6E8A-4147-A177-3AD203B41FA5}">
                      <a16:colId xmlns:a16="http://schemas.microsoft.com/office/drawing/2014/main" val="20006"/>
                    </a:ext>
                  </a:extLst>
                </a:gridCol>
                <a:gridCol w="1224171">
                  <a:extLst>
                    <a:ext uri="{9D8B030D-6E8A-4147-A177-3AD203B41FA5}">
                      <a16:colId xmlns:a16="http://schemas.microsoft.com/office/drawing/2014/main" val="20007"/>
                    </a:ext>
                  </a:extLst>
                </a:gridCol>
              </a:tblGrid>
              <a:tr h="504296">
                <a:tc>
                  <a:txBody>
                    <a:bodyPr/>
                    <a:lstStyle/>
                    <a:p>
                      <a:pPr algn="ctr"/>
                      <a:r>
                        <a:rPr lang="en-US" altLang="zh-CN" sz="2000" i="1" dirty="0"/>
                        <a:t>k</a:t>
                      </a:r>
                      <a:endParaRPr lang="zh-CN" altLang="en-US" sz="2000" i="1" dirty="0"/>
                    </a:p>
                  </a:txBody>
                  <a:tcPr marL="91443" marR="91443" marT="45742" marB="45742"/>
                </a:tc>
                <a:tc>
                  <a:txBody>
                    <a:bodyPr/>
                    <a:lstStyle/>
                    <a:p>
                      <a:pPr algn="ctr"/>
                      <a:r>
                        <a:rPr lang="en-US" altLang="zh-CN" sz="2000" dirty="0"/>
                        <a:t>1</a:t>
                      </a:r>
                      <a:endParaRPr lang="zh-CN" altLang="en-US" sz="2000" dirty="0"/>
                    </a:p>
                  </a:txBody>
                  <a:tcPr marL="91443" marR="91443" marT="45742" marB="45742"/>
                </a:tc>
                <a:tc>
                  <a:txBody>
                    <a:bodyPr/>
                    <a:lstStyle/>
                    <a:p>
                      <a:pPr algn="ctr"/>
                      <a:r>
                        <a:rPr lang="en-US" altLang="zh-CN" sz="2000" dirty="0"/>
                        <a:t>2</a:t>
                      </a:r>
                      <a:endParaRPr lang="zh-CN" altLang="en-US" sz="2000" dirty="0"/>
                    </a:p>
                  </a:txBody>
                  <a:tcPr marL="91443" marR="91443" marT="45742" marB="45742"/>
                </a:tc>
                <a:tc>
                  <a:txBody>
                    <a:bodyPr/>
                    <a:lstStyle/>
                    <a:p>
                      <a:pPr algn="ctr"/>
                      <a:r>
                        <a:rPr lang="en-US" altLang="zh-CN" sz="2000" dirty="0"/>
                        <a:t>3</a:t>
                      </a:r>
                      <a:endParaRPr lang="zh-CN" altLang="en-US" sz="2000" dirty="0"/>
                    </a:p>
                  </a:txBody>
                  <a:tcPr marL="91443" marR="91443" marT="45742" marB="45742"/>
                </a:tc>
                <a:tc>
                  <a:txBody>
                    <a:bodyPr/>
                    <a:lstStyle/>
                    <a:p>
                      <a:pPr algn="ctr"/>
                      <a:r>
                        <a:rPr lang="en-US" altLang="zh-CN" sz="2000" dirty="0"/>
                        <a:t>4</a:t>
                      </a:r>
                      <a:endParaRPr lang="zh-CN" altLang="en-US" sz="2000" dirty="0"/>
                    </a:p>
                  </a:txBody>
                  <a:tcPr marL="91443" marR="91443" marT="45742" marB="45742"/>
                </a:tc>
                <a:tc>
                  <a:txBody>
                    <a:bodyPr/>
                    <a:lstStyle/>
                    <a:p>
                      <a:pPr algn="ctr"/>
                      <a:r>
                        <a:rPr lang="en-US" altLang="zh-CN" sz="2000" dirty="0"/>
                        <a:t>5</a:t>
                      </a:r>
                      <a:endParaRPr lang="zh-CN" altLang="en-US" sz="2000" dirty="0"/>
                    </a:p>
                  </a:txBody>
                  <a:tcPr marL="91443" marR="91443" marT="45742" marB="45742"/>
                </a:tc>
                <a:tc>
                  <a:txBody>
                    <a:bodyPr/>
                    <a:lstStyle/>
                    <a:p>
                      <a:pPr algn="ctr"/>
                      <a:r>
                        <a:rPr lang="en-US" altLang="zh-CN" sz="2000" dirty="0"/>
                        <a:t>6</a:t>
                      </a:r>
                      <a:endParaRPr lang="zh-CN" altLang="en-US" sz="2000" dirty="0"/>
                    </a:p>
                  </a:txBody>
                  <a:tcPr marL="91443" marR="91443" marT="45742" marB="45742"/>
                </a:tc>
                <a:tc>
                  <a:txBody>
                    <a:bodyPr/>
                    <a:lstStyle/>
                    <a:p>
                      <a:pPr algn="ctr"/>
                      <a:r>
                        <a:rPr lang="en-US" altLang="zh-CN" sz="2000" dirty="0"/>
                        <a:t>7</a:t>
                      </a:r>
                      <a:endParaRPr lang="zh-CN" altLang="en-US" sz="2000" dirty="0"/>
                    </a:p>
                  </a:txBody>
                  <a:tcPr marL="91443" marR="91443" marT="45742" marB="45742"/>
                </a:tc>
                <a:extLst>
                  <a:ext uri="{0D108BD9-81ED-4DB2-BD59-A6C34878D82A}">
                    <a16:rowId xmlns:a16="http://schemas.microsoft.com/office/drawing/2014/main" val="10000"/>
                  </a:ext>
                </a:extLst>
              </a:tr>
              <a:tr h="504296">
                <a:tc>
                  <a:txBody>
                    <a:bodyPr/>
                    <a:lstStyle/>
                    <a:p>
                      <a:pPr algn="ctr"/>
                      <a:r>
                        <a:rPr lang="en-US" altLang="zh-CN" sz="2000" i="1" dirty="0"/>
                        <a:t>x</a:t>
                      </a:r>
                      <a:r>
                        <a:rPr lang="en-US" altLang="zh-CN" sz="2000" baseline="-25000" dirty="0"/>
                        <a:t>1</a:t>
                      </a:r>
                      <a:endParaRPr lang="zh-CN" altLang="en-US" sz="2000" baseline="-25000" dirty="0"/>
                    </a:p>
                  </a:txBody>
                  <a:tcPr marL="91443" marR="91443" marT="45742" marB="45742"/>
                </a:tc>
                <a:tc>
                  <a:txBody>
                    <a:bodyPr/>
                    <a:lstStyle/>
                    <a:p>
                      <a:pPr algn="r"/>
                      <a:r>
                        <a:rPr lang="en-US" altLang="zh-CN" sz="2000" dirty="0"/>
                        <a:t>0.500</a:t>
                      </a:r>
                      <a:endParaRPr lang="zh-CN" altLang="en-US" sz="2000" dirty="0"/>
                    </a:p>
                  </a:txBody>
                  <a:tcPr marL="91443" marR="91443" marT="45742" marB="45742"/>
                </a:tc>
                <a:tc>
                  <a:txBody>
                    <a:bodyPr/>
                    <a:lstStyle/>
                    <a:p>
                      <a:pPr algn="r"/>
                      <a:r>
                        <a:rPr lang="en-US" altLang="zh-CN" sz="2000" dirty="0"/>
                        <a:t> 1.0625</a:t>
                      </a:r>
                      <a:endParaRPr lang="zh-CN" altLang="en-US" sz="2000" dirty="0"/>
                    </a:p>
                  </a:txBody>
                  <a:tcPr marL="91443" marR="91443" marT="45742" marB="45742"/>
                </a:tc>
                <a:tc>
                  <a:txBody>
                    <a:bodyPr/>
                    <a:lstStyle/>
                    <a:p>
                      <a:pPr algn="r"/>
                      <a:r>
                        <a:rPr lang="en-US" altLang="zh-CN" sz="2000" dirty="0"/>
                        <a:t> 0.99218</a:t>
                      </a:r>
                      <a:endParaRPr lang="zh-CN" altLang="en-US" sz="2000" dirty="0"/>
                    </a:p>
                  </a:txBody>
                  <a:tcPr marL="91443" marR="91443" marT="45742" marB="45742"/>
                </a:tc>
                <a:tc>
                  <a:txBody>
                    <a:bodyPr/>
                    <a:lstStyle/>
                    <a:p>
                      <a:pPr algn="r"/>
                      <a:r>
                        <a:rPr lang="zh-CN" altLang="en-US" sz="2000" dirty="0"/>
                        <a:t> </a:t>
                      </a:r>
                      <a:r>
                        <a:rPr lang="en-US" altLang="zh-CN" sz="2000" dirty="0"/>
                        <a:t>1.00097</a:t>
                      </a:r>
                      <a:endParaRPr lang="zh-CN" altLang="en-US" sz="2000" dirty="0"/>
                    </a:p>
                  </a:txBody>
                  <a:tcPr marL="91443" marR="91443" marT="45742" marB="45742"/>
                </a:tc>
                <a:tc>
                  <a:txBody>
                    <a:bodyPr/>
                    <a:lstStyle/>
                    <a:p>
                      <a:pPr algn="r"/>
                      <a:r>
                        <a:rPr lang="en-US" altLang="zh-CN" sz="2000" dirty="0"/>
                        <a:t>0.99987</a:t>
                      </a:r>
                      <a:endParaRPr lang="zh-CN" altLang="en-US" sz="2000" dirty="0"/>
                    </a:p>
                  </a:txBody>
                  <a:tcPr marL="91443" marR="91443" marT="45742" marB="45742"/>
                </a:tc>
                <a:tc>
                  <a:txBody>
                    <a:bodyPr/>
                    <a:lstStyle/>
                    <a:p>
                      <a:pPr algn="r"/>
                      <a:r>
                        <a:rPr lang="zh-CN" altLang="en-US" sz="2000" dirty="0"/>
                        <a:t> </a:t>
                      </a:r>
                      <a:r>
                        <a:rPr lang="en-US" altLang="zh-CN" sz="2000" dirty="0"/>
                        <a:t>1.000015</a:t>
                      </a:r>
                      <a:endParaRPr lang="zh-CN" altLang="en-US" sz="2000" dirty="0"/>
                    </a:p>
                  </a:txBody>
                  <a:tcPr marL="91443" marR="91443" marT="45742" marB="45742"/>
                </a:tc>
                <a:tc>
                  <a:txBody>
                    <a:bodyPr/>
                    <a:lstStyle/>
                    <a:p>
                      <a:pPr algn="r"/>
                      <a:r>
                        <a:rPr lang="zh-CN" altLang="en-US" sz="2000" dirty="0"/>
                        <a:t> </a:t>
                      </a:r>
                      <a:r>
                        <a:rPr lang="en-US" altLang="zh-CN" sz="2000" dirty="0"/>
                        <a:t>0.999998</a:t>
                      </a:r>
                      <a:endParaRPr lang="zh-CN" altLang="en-US" sz="2000" dirty="0"/>
                    </a:p>
                  </a:txBody>
                  <a:tcPr marL="91443" marR="91443" marT="45742" marB="45742"/>
                </a:tc>
                <a:extLst>
                  <a:ext uri="{0D108BD9-81ED-4DB2-BD59-A6C34878D82A}">
                    <a16:rowId xmlns:a16="http://schemas.microsoft.com/office/drawing/2014/main" val="10001"/>
                  </a:ext>
                </a:extLst>
              </a:tr>
              <a:tr h="504296">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i="1" dirty="0"/>
                        <a:t>x</a:t>
                      </a:r>
                      <a:r>
                        <a:rPr lang="en-US" altLang="zh-CN" sz="2000" baseline="-25000" dirty="0"/>
                        <a:t>2</a:t>
                      </a:r>
                      <a:endParaRPr lang="zh-CN" altLang="en-US" sz="2000" baseline="-25000" dirty="0"/>
                    </a:p>
                  </a:txBody>
                  <a:tcPr marL="91443" marR="91443" marT="45742" marB="45742"/>
                </a:tc>
                <a:tc>
                  <a:txBody>
                    <a:bodyPr/>
                    <a:lstStyle/>
                    <a:p>
                      <a:pPr algn="r"/>
                      <a:r>
                        <a:rPr lang="en-US" altLang="zh-CN" sz="2000" dirty="0"/>
                        <a:t>-1.125</a:t>
                      </a:r>
                      <a:endParaRPr lang="zh-CN" altLang="en-US" sz="2000" dirty="0"/>
                    </a:p>
                  </a:txBody>
                  <a:tcPr marL="91443" marR="91443" marT="45742" marB="45742"/>
                </a:tc>
                <a:tc>
                  <a:txBody>
                    <a:bodyPr/>
                    <a:lstStyle/>
                    <a:p>
                      <a:pPr algn="r"/>
                      <a:r>
                        <a:rPr lang="en-US" altLang="zh-CN" sz="2000" dirty="0"/>
                        <a:t> -0.9844</a:t>
                      </a:r>
                      <a:endParaRPr lang="zh-CN" altLang="en-US" sz="2000" dirty="0"/>
                    </a:p>
                  </a:txBody>
                  <a:tcPr marL="91443" marR="91443" marT="45742" marB="45742"/>
                </a:tc>
                <a:tc>
                  <a:txBody>
                    <a:bodyPr/>
                    <a:lstStyle/>
                    <a:p>
                      <a:pPr algn="r"/>
                      <a:r>
                        <a:rPr lang="en-US" altLang="zh-CN" sz="2000" dirty="0"/>
                        <a:t> -1.00195</a:t>
                      </a:r>
                      <a:endParaRPr lang="zh-CN" altLang="en-US" sz="2000" dirty="0"/>
                    </a:p>
                  </a:txBody>
                  <a:tcPr marL="91443" marR="91443" marT="45742" marB="45742"/>
                </a:tc>
                <a:tc>
                  <a:txBody>
                    <a:bodyPr/>
                    <a:lstStyle/>
                    <a:p>
                      <a:pPr algn="r"/>
                      <a:r>
                        <a:rPr lang="en-US" altLang="zh-CN" sz="2000" dirty="0"/>
                        <a:t>-0.999755</a:t>
                      </a:r>
                      <a:endParaRPr lang="zh-CN" altLang="en-US" sz="2000" dirty="0"/>
                    </a:p>
                  </a:txBody>
                  <a:tcPr marL="91443" marR="91443" marT="45742" marB="45742"/>
                </a:tc>
                <a:tc>
                  <a:txBody>
                    <a:bodyPr/>
                    <a:lstStyle/>
                    <a:p>
                      <a:pPr algn="r"/>
                      <a:r>
                        <a:rPr lang="zh-CN" altLang="en-US" sz="2000" dirty="0"/>
                        <a:t> </a:t>
                      </a:r>
                      <a:r>
                        <a:rPr lang="en-US" altLang="zh-CN" sz="2000" dirty="0"/>
                        <a:t>-1.00003</a:t>
                      </a:r>
                      <a:endParaRPr lang="zh-CN" altLang="en-US" sz="2000" dirty="0"/>
                    </a:p>
                  </a:txBody>
                  <a:tcPr marL="91443" marR="91443" marT="45742" marB="45742"/>
                </a:tc>
                <a:tc>
                  <a:txBody>
                    <a:bodyPr/>
                    <a:lstStyle/>
                    <a:p>
                      <a:pPr algn="r"/>
                      <a:r>
                        <a:rPr lang="zh-CN" altLang="en-US" sz="2000" dirty="0"/>
                        <a:t> </a:t>
                      </a:r>
                      <a:r>
                        <a:rPr lang="en-US" altLang="zh-CN" sz="2000" dirty="0"/>
                        <a:t>-0.99999</a:t>
                      </a:r>
                      <a:endParaRPr lang="zh-CN" altLang="en-US" sz="2000" dirty="0"/>
                    </a:p>
                  </a:txBody>
                  <a:tcPr marL="91443" marR="91443" marT="45742" marB="45742"/>
                </a:tc>
                <a:tc>
                  <a:txBody>
                    <a:bodyPr/>
                    <a:lstStyle/>
                    <a:p>
                      <a:pPr algn="r"/>
                      <a:r>
                        <a:rPr lang="en-US" altLang="zh-CN" sz="2000" dirty="0"/>
                        <a:t>-1.000000</a:t>
                      </a:r>
                      <a:endParaRPr lang="zh-CN" altLang="en-US" sz="2000" dirty="0"/>
                    </a:p>
                  </a:txBody>
                  <a:tcPr marL="91443" marR="91443" marT="45742" marB="45742"/>
                </a:tc>
                <a:extLst>
                  <a:ext uri="{0D108BD9-81ED-4DB2-BD59-A6C34878D82A}">
                    <a16:rowId xmlns:a16="http://schemas.microsoft.com/office/drawing/2014/main" val="10002"/>
                  </a:ext>
                </a:extLst>
              </a:tr>
            </a:tbl>
          </a:graphicData>
        </a:graphic>
      </p:graphicFrame>
      <p:sp>
        <p:nvSpPr>
          <p:cNvPr id="7" name="文本框 6"/>
          <p:cNvSpPr txBox="1">
            <a:spLocks noRot="1" noChangeAspect="1" noMove="1" noResize="1" noEditPoints="1" noAdjustHandles="1" noChangeArrowheads="1" noChangeShapeType="1" noTextEdit="1"/>
          </p:cNvSpPr>
          <p:nvPr/>
        </p:nvSpPr>
        <p:spPr>
          <a:xfrm>
            <a:off x="8158330" y="2831011"/>
            <a:ext cx="1895071" cy="1164229"/>
          </a:xfrm>
          <a:prstGeom prst="rect">
            <a:avLst/>
          </a:prstGeom>
          <a:blipFill>
            <a:blip r:embed="rId6"/>
            <a:stretch>
              <a:fillRect l="-4473" t="-5181" r="-3834"/>
            </a:stretch>
          </a:blipFill>
          <a:ln>
            <a:solidFill>
              <a:srgbClr val="002060"/>
            </a:solidFill>
          </a:ln>
        </p:spPr>
        <p:txBody>
          <a:bodyPr/>
          <a:lstStyle/>
          <a:p>
            <a:pPr>
              <a:defRPr/>
            </a:pPr>
            <a:r>
              <a:rPr lang="zh-CN" altLang="en-US">
                <a:noFill/>
              </a:rPr>
              <a:t> </a:t>
            </a:r>
          </a:p>
        </p:txBody>
      </p:sp>
      <p:cxnSp>
        <p:nvCxnSpPr>
          <p:cNvPr id="3" name="直接箭头连接符 2"/>
          <p:cNvCxnSpPr/>
          <p:nvPr/>
        </p:nvCxnSpPr>
        <p:spPr bwMode="auto">
          <a:xfrm>
            <a:off x="3863975" y="3068638"/>
            <a:ext cx="792163" cy="215900"/>
          </a:xfrm>
          <a:prstGeom prst="straightConnector1">
            <a:avLst/>
          </a:prstGeom>
          <a:ln w="34925">
            <a:headEnd type="none" w="med" len="med"/>
            <a:tailEnd type="triangle"/>
          </a:ln>
        </p:spPr>
        <p:style>
          <a:lnRef idx="1">
            <a:schemeClr val="accent6"/>
          </a:lnRef>
          <a:fillRef idx="0">
            <a:schemeClr val="accent6"/>
          </a:fillRef>
          <a:effectRef idx="0">
            <a:schemeClr val="accent6"/>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wipe(up)">
                                      <p:cBhvr>
                                        <p:cTn id="7" dur="500"/>
                                        <p:tgtEl>
                                          <p:spTgt spid="33795">
                                            <p:txEl>
                                              <p:pRg st="0" end="0"/>
                                            </p:txEl>
                                          </p:spTgt>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33794"/>
                                        </p:tgtEl>
                                        <p:attrNameLst>
                                          <p:attrName>style.visibility</p:attrName>
                                        </p:attrNameLst>
                                      </p:cBhvr>
                                      <p:to>
                                        <p:strVal val="visible"/>
                                      </p:to>
                                    </p:set>
                                    <p:animEffect transition="in" filter="box(in)">
                                      <p:cBhvr>
                                        <p:cTn id="11" dur="1000"/>
                                        <p:tgtEl>
                                          <p:spTgt spid="3379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up)">
                                      <p:cBhvr>
                                        <p:cTn id="16" dur="500"/>
                                        <p:tgtEl>
                                          <p:spTgt spid="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3797"/>
                                        </p:tgtEl>
                                        <p:attrNameLst>
                                          <p:attrName>style.visibility</p:attrName>
                                        </p:attrNameLst>
                                      </p:cBhvr>
                                      <p:to>
                                        <p:strVal val="visible"/>
                                      </p:to>
                                    </p:set>
                                    <p:animEffect transition="in" filter="wipe(left)">
                                      <p:cBhvr>
                                        <p:cTn id="25" dur="1000"/>
                                        <p:tgtEl>
                                          <p:spTgt spid="33797"/>
                                        </p:tgtEl>
                                      </p:cBhvr>
                                    </p:animEffect>
                                  </p:childTnLst>
                                </p:cTn>
                              </p:par>
                            </p:childTnLst>
                          </p:cTn>
                        </p:par>
                        <p:par>
                          <p:cTn id="26" fill="hold" nodeType="afterGroup">
                            <p:stCondLst>
                              <p:cond delay="1000"/>
                            </p:stCondLst>
                            <p:childTnLst>
                              <p:par>
                                <p:cTn id="27" presetID="12" presetClass="entr" presetSubtype="4"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slide(fromBottom)">
                                      <p:cBhvr>
                                        <p:cTn id="2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build="p"/>
      <p:bldP spid="3379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Object 4"/>
              <p:cNvSpPr txBox="1"/>
              <p:nvPr/>
            </p:nvSpPr>
            <p:spPr bwMode="auto">
              <a:xfrm>
                <a:off x="2531939" y="462936"/>
                <a:ext cx="6648450" cy="267017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11</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13</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𝑛</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22</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23</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𝑛</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e>
                            <m:e>
                              <m:r>
                                <a:rPr lang="zh-CN" altLang="en-US" i="1">
                                  <a:solidFill>
                                    <a:srgbClr val="000000"/>
                                  </a:solidFill>
                                  <a:latin typeface="Cambria Math" panose="02040503050406030204" pitchFamily="18" charset="0"/>
                                </a:rPr>
                                <m:t>⋯</m:t>
                              </m:r>
                            </m:e>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𝑛𝑛</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2</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𝑛</m:t>
                                  </m:r>
                                </m:sub>
                              </m:sSub>
                              <m:r>
                                <a:rPr lang="zh-CN" altLang="en-US" i="1">
                                  <a:solidFill>
                                    <a:srgbClr val="000000"/>
                                  </a:solidFill>
                                  <a:latin typeface="Cambria Math" panose="02040503050406030204" pitchFamily="18" charset="0"/>
                                </a:rPr>
                                <m:t>)</m:t>
                              </m:r>
                            </m:e>
                          </m:eqArr>
                        </m:e>
                      </m:d>
                    </m:oMath>
                  </m:oMathPara>
                </a14:m>
                <a:endParaRPr lang="zh-CN" altLang="en-US"/>
              </a:p>
            </p:txBody>
          </p:sp>
        </mc:Choice>
        <mc:Fallback>
          <p:sp>
            <p:nvSpPr>
              <p:cNvPr id="4" name="Object 4"/>
              <p:cNvSpPr txBox="1">
                <a:spLocks noRot="1" noChangeAspect="1" noMove="1" noResize="1" noEditPoints="1" noAdjustHandles="1" noChangeArrowheads="1" noChangeShapeType="1" noTextEdit="1"/>
              </p:cNvSpPr>
              <p:nvPr/>
            </p:nvSpPr>
            <p:spPr bwMode="auto">
              <a:xfrm>
                <a:off x="2531939" y="462936"/>
                <a:ext cx="6648450" cy="2670175"/>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5" name="Rectangle 9"/>
          <p:cNvSpPr>
            <a:spLocks noChangeArrowheads="1"/>
          </p:cNvSpPr>
          <p:nvPr/>
        </p:nvSpPr>
        <p:spPr bwMode="auto">
          <a:xfrm>
            <a:off x="443707" y="133350"/>
            <a:ext cx="39608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b="1" dirty="0">
                <a:solidFill>
                  <a:schemeClr val="accent2"/>
                </a:solidFill>
              </a:rPr>
              <a:t>高斯-塞德尔迭代</a:t>
            </a:r>
            <a:r>
              <a:rPr lang="zh-CN" altLang="en-US" sz="2400" dirty="0">
                <a:ea typeface="楷体_GB2312" pitchFamily="49" charset="-122"/>
              </a:rPr>
              <a:t>的一般公式：</a:t>
            </a:r>
          </a:p>
        </p:txBody>
      </p:sp>
      <p:sp>
        <p:nvSpPr>
          <p:cNvPr id="6" name="Rectangle 9"/>
          <p:cNvSpPr>
            <a:spLocks noChangeArrowheads="1"/>
          </p:cNvSpPr>
          <p:nvPr/>
        </p:nvSpPr>
        <p:spPr bwMode="auto">
          <a:xfrm>
            <a:off x="971273" y="4475909"/>
            <a:ext cx="2520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dirty="0">
                <a:solidFill>
                  <a:srgbClr val="000000"/>
                </a:solidFill>
              </a:rPr>
              <a:t>或写成矩阵形式</a:t>
            </a:r>
            <a:r>
              <a:rPr lang="zh-CN" altLang="en-US" sz="2400" dirty="0">
                <a:latin typeface="宋体" panose="02010600030101010101" pitchFamily="2" charset="-122"/>
                <a:ea typeface="楷体_GB2312" pitchFamily="49" charset="-122"/>
              </a:rPr>
              <a:t>：</a:t>
            </a:r>
            <a:endParaRPr lang="en-US" altLang="zh-CN" sz="2400" dirty="0">
              <a:latin typeface="宋体" panose="02010600030101010101" pitchFamily="2" charset="-122"/>
              <a:ea typeface="楷体_GB2312" pitchFamily="49" charset="-122"/>
            </a:endParaRPr>
          </a:p>
        </p:txBody>
      </p:sp>
      <mc:AlternateContent xmlns:mc="http://schemas.openxmlformats.org/markup-compatibility/2006">
        <mc:Choice xmlns:a14="http://schemas.microsoft.com/office/drawing/2010/main" Requires="a14">
          <p:sp>
            <p:nvSpPr>
              <p:cNvPr id="11" name="Object 3"/>
              <p:cNvSpPr txBox="1"/>
              <p:nvPr/>
            </p:nvSpPr>
            <p:spPr bwMode="auto">
              <a:xfrm>
                <a:off x="3437743" y="4930013"/>
                <a:ext cx="4098571" cy="567233"/>
              </a:xfrm>
              <a:prstGeom prst="rect">
                <a:avLst/>
              </a:prstGeom>
              <a:noFill/>
              <a:ln>
                <a:noFill/>
              </a:ln>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−1</m:t>
                          </m:r>
                        </m:sup>
                      </m:sSup>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𝑈</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11" name="Object 3"/>
              <p:cNvSpPr txBox="1">
                <a:spLocks noRot="1" noChangeAspect="1" noMove="1" noResize="1" noEditPoints="1" noAdjustHandles="1" noChangeArrowheads="1" noChangeShapeType="1" noTextEdit="1"/>
              </p:cNvSpPr>
              <p:nvPr/>
            </p:nvSpPr>
            <p:spPr bwMode="auto">
              <a:xfrm>
                <a:off x="3437743" y="4930013"/>
                <a:ext cx="4098571" cy="567233"/>
              </a:xfrm>
              <a:prstGeom prst="rect">
                <a:avLst/>
              </a:prstGeom>
              <a:blipFill>
                <a:blip r:embed="rId5"/>
                <a:stretch>
                  <a:fillRect/>
                </a:stretch>
              </a:blipFill>
              <a:ln>
                <a:noFill/>
              </a:ln>
            </p:spPr>
            <p:txBody>
              <a:bodyPr/>
              <a:lstStyle/>
              <a:p>
                <a:r>
                  <a:rPr lang="zh-CN" altLang="en-US">
                    <a:noFill/>
                  </a:rPr>
                  <a:t> </a:t>
                </a:r>
              </a:p>
            </p:txBody>
          </p:sp>
        </mc:Fallback>
      </mc:AlternateContent>
      <p:sp>
        <p:nvSpPr>
          <p:cNvPr id="34822" name="矩形 7"/>
          <p:cNvSpPr>
            <a:spLocks noChangeArrowheads="1"/>
          </p:cNvSpPr>
          <p:nvPr/>
        </p:nvSpPr>
        <p:spPr bwMode="auto">
          <a:xfrm>
            <a:off x="9552384" y="4345008"/>
            <a:ext cx="2227609" cy="2400657"/>
          </a:xfrm>
          <a:prstGeom prst="rect">
            <a:avLst/>
          </a:prstGeom>
          <a:noFill/>
          <a:ln w="952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000" b="1">
                <a:solidFill>
                  <a:srgbClr val="008000"/>
                </a:solidFill>
              </a:rPr>
              <a:t>注</a:t>
            </a:r>
            <a:r>
              <a:rPr lang="zh-CN" altLang="en-US" sz="2000"/>
              <a:t>：</a:t>
            </a:r>
            <a:r>
              <a:rPr lang="zh-CN" altLang="en-US" sz="2000">
                <a:solidFill>
                  <a:srgbClr val="000000"/>
                </a:solidFill>
              </a:rPr>
              <a:t>与雅可比迭代相比，高斯-塞德尔迭代收敛性不一定好，但能节省存储、简化计算。</a:t>
            </a:r>
          </a:p>
        </p:txBody>
      </p:sp>
      <p:pic>
        <p:nvPicPr>
          <p:cNvPr id="2" name="图片 1"/>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359696" y="5394325"/>
            <a:ext cx="4475162"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5" name="Picture 17" descr="https://img-blog.csdnimg.cn/243fa062eb774d8ab227076e2529c0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75520" y="3282879"/>
            <a:ext cx="6696744" cy="120129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9"/>
          <p:cNvSpPr>
            <a:spLocks noChangeArrowheads="1"/>
          </p:cNvSpPr>
          <p:nvPr/>
        </p:nvSpPr>
        <p:spPr bwMode="auto">
          <a:xfrm>
            <a:off x="947763" y="3601907"/>
            <a:ext cx="25209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dirty="0">
                <a:latin typeface="宋体" panose="02010600030101010101" pitchFamily="2" charset="-122"/>
                <a:ea typeface="楷体_GB2312" pitchFamily="49" charset="-122"/>
              </a:rPr>
              <a:t>即：</a:t>
            </a:r>
            <a:endParaRPr lang="en-US" altLang="zh-CN" sz="2400" dirty="0">
              <a:latin typeface="宋体" panose="02010600030101010101" pitchFamily="2" charset="-122"/>
              <a:ea typeface="楷体_GB2312" pitchFamily="49" charset="-122"/>
            </a:endParaRPr>
          </a:p>
        </p:txBody>
      </p:sp>
      <p:grpSp>
        <p:nvGrpSpPr>
          <p:cNvPr id="7" name="组合 6"/>
          <p:cNvGrpSpPr/>
          <p:nvPr/>
        </p:nvGrpSpPr>
        <p:grpSpPr>
          <a:xfrm>
            <a:off x="3923377" y="4471760"/>
            <a:ext cx="4274711" cy="466112"/>
            <a:chOff x="3923377" y="4471760"/>
            <a:chExt cx="4274711" cy="466112"/>
          </a:xfrm>
        </p:grpSpPr>
        <p:graphicFrame>
          <p:nvGraphicFramePr>
            <p:cNvPr id="10" name="Object 4"/>
            <p:cNvGraphicFramePr>
              <a:graphicFrameLocks noChangeAspect="1"/>
            </p:cNvGraphicFramePr>
            <p:nvPr>
              <p:extLst>
                <p:ext uri="{D42A27DB-BD31-4B8C-83A1-F6EECF244321}">
                  <p14:modId xmlns:p14="http://schemas.microsoft.com/office/powerpoint/2010/main" val="122707109"/>
                </p:ext>
              </p:extLst>
            </p:nvPr>
          </p:nvGraphicFramePr>
          <p:xfrm>
            <a:off x="4987219" y="4471760"/>
            <a:ext cx="3210869" cy="445603"/>
          </p:xfrm>
          <a:graphic>
            <a:graphicData uri="http://schemas.openxmlformats.org/presentationml/2006/ole">
              <mc:AlternateContent xmlns:mc="http://schemas.openxmlformats.org/markup-compatibility/2006">
                <mc:Choice xmlns:v="urn:schemas-microsoft-com:vml" Requires="v">
                  <p:oleObj spid="_x0000_s17599" name="Equation" r:id="rId8" imgW="1143213" imgH="83993" progId="Equation.DSMT4">
                    <p:embed/>
                  </p:oleObj>
                </mc:Choice>
                <mc:Fallback>
                  <p:oleObj name="Equation" r:id="rId8" imgW="1143213" imgH="83993" progId="Equation.DSMT4">
                    <p:embed/>
                    <p:pic>
                      <p:nvPicPr>
                        <p:cNvPr id="12304"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87219" y="4471760"/>
                          <a:ext cx="3210869" cy="445603"/>
                        </a:xfrm>
                        <a:prstGeom prst="rect">
                          <a:avLst/>
                        </a:prstGeom>
                        <a:noFill/>
                        <a:ln>
                          <a:noFill/>
                        </a:ln>
                        <a:extLst/>
                      </p:spPr>
                    </p:pic>
                  </p:oleObj>
                </mc:Fallback>
              </mc:AlternateContent>
            </a:graphicData>
          </a:graphic>
        </p:graphicFrame>
        <p:sp>
          <p:nvSpPr>
            <p:cNvPr id="3" name="文本框 2"/>
            <p:cNvSpPr txBox="1"/>
            <p:nvPr/>
          </p:nvSpPr>
          <p:spPr>
            <a:xfrm>
              <a:off x="3923377" y="4476207"/>
              <a:ext cx="1191352" cy="461665"/>
            </a:xfrm>
            <a:prstGeom prst="rect">
              <a:avLst/>
            </a:prstGeom>
            <a:noFill/>
          </p:spPr>
          <p:txBody>
            <a:bodyPr wrap="none" rtlCol="0">
              <a:spAutoFit/>
            </a:bodyPr>
            <a:lstStyle/>
            <a:p>
              <a:r>
                <a:rPr lang="en-US" altLang="zh-CN" dirty="0" err="1"/>
                <a:t>Jacobia</a:t>
              </a:r>
              <a:r>
                <a:rPr lang="en-US" altLang="zh-CN" dirty="0"/>
                <a:t>:</a:t>
              </a:r>
              <a:endParaRPr lang="zh-CN" altLang="en-US" dirty="0"/>
            </a:p>
          </p:txBody>
        </p:sp>
      </p:grpSp>
      <p:sp>
        <p:nvSpPr>
          <p:cNvPr id="8" name="矩形 7"/>
          <p:cNvSpPr/>
          <p:nvPr/>
        </p:nvSpPr>
        <p:spPr bwMode="auto">
          <a:xfrm>
            <a:off x="4295800" y="6521047"/>
            <a:ext cx="1440160" cy="292329"/>
          </a:xfrm>
          <a:prstGeom prst="rect">
            <a:avLst/>
          </a:prstGeom>
          <a:noFill/>
          <a:ln w="222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0-#ppt_w/2"/>
                                          </p:val>
                                        </p:tav>
                                        <p:tav tm="100000">
                                          <p:val>
                                            <p:strVal val="#ppt_x"/>
                                          </p:val>
                                        </p:tav>
                                      </p:tavLst>
                                    </p:anim>
                                    <p:anim calcmode="lin" valueType="num">
                                      <p:cBhvr additive="base">
                                        <p:cTn id="1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4822"/>
                                        </p:tgtEl>
                                        <p:attrNameLst>
                                          <p:attrName>style.visibility</p:attrName>
                                        </p:attrNameLst>
                                      </p:cBhvr>
                                      <p:to>
                                        <p:strVal val="visible"/>
                                      </p:to>
                                    </p:set>
                                    <p:animEffect transition="in" filter="wipe(up)">
                                      <p:cBhvr>
                                        <p:cTn id="27" dur="500"/>
                                        <p:tgtEl>
                                          <p:spTgt spid="3482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34822" grpId="0" animBg="1" autoUpdateAnimBg="0"/>
      <p:bldP spid="9" grpId="0"/>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矩形 6"/>
          <p:cNvSpPr>
            <a:spLocks noChangeArrowheads="1"/>
          </p:cNvSpPr>
          <p:nvPr/>
        </p:nvSpPr>
        <p:spPr bwMode="auto">
          <a:xfrm>
            <a:off x="2135188" y="260350"/>
            <a:ext cx="5233987"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800" b="1">
                <a:solidFill>
                  <a:schemeClr val="tx2"/>
                </a:solidFill>
              </a:rPr>
              <a:t>§</a:t>
            </a:r>
            <a:r>
              <a:rPr lang="en-US" altLang="zh-CN" sz="2800" b="1"/>
              <a:t>2. 5  </a:t>
            </a:r>
            <a:r>
              <a:rPr lang="zh-CN" altLang="en-US" sz="2800" b="1">
                <a:solidFill>
                  <a:schemeClr val="accent2"/>
                </a:solidFill>
                <a:latin typeface="宋体" panose="02010600030101010101" pitchFamily="2" charset="-122"/>
              </a:rPr>
              <a:t>逐次超松弛迭代法（</a:t>
            </a:r>
            <a:r>
              <a:rPr lang="en-US" altLang="zh-CN" sz="2800" b="1">
                <a:solidFill>
                  <a:schemeClr val="accent2"/>
                </a:solidFill>
                <a:latin typeface="宋体" panose="02010600030101010101" pitchFamily="2" charset="-122"/>
              </a:rPr>
              <a:t>SOR)</a:t>
            </a:r>
          </a:p>
        </p:txBody>
      </p:sp>
      <p:sp>
        <p:nvSpPr>
          <p:cNvPr id="8" name="Rectangle 3"/>
          <p:cNvSpPr>
            <a:spLocks noChangeArrowheads="1"/>
          </p:cNvSpPr>
          <p:nvPr/>
        </p:nvSpPr>
        <p:spPr bwMode="auto">
          <a:xfrm>
            <a:off x="2351088" y="1125538"/>
            <a:ext cx="5976937"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028700" algn="l"/>
              </a:tabLst>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tabLst>
                <a:tab pos="1028700"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10287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1028700" algn="l"/>
              </a:tabLst>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dirty="0">
                <a:cs typeface="Times New Roman" panose="02020603050405020304" pitchFamily="18" charset="0"/>
              </a:rPr>
              <a:t>1.</a:t>
            </a:r>
            <a:r>
              <a:rPr lang="zh-CN" altLang="en-US" sz="2400" b="1" dirty="0">
                <a:cs typeface="Times New Roman" panose="02020603050405020304" pitchFamily="18" charset="0"/>
              </a:rPr>
              <a:t> 迭代公式</a:t>
            </a:r>
            <a:endParaRPr lang="en-US" altLang="zh-CN" sz="2400" b="1" dirty="0">
              <a:cs typeface="Times New Roman" panose="02020603050405020304" pitchFamily="18" charset="0"/>
            </a:endParaRPr>
          </a:p>
          <a:p>
            <a:pPr algn="just" eaLnBrk="1" hangingPunct="1">
              <a:spcBef>
                <a:spcPts val="1200"/>
              </a:spcBef>
              <a:buFontTx/>
              <a:buNone/>
            </a:pPr>
            <a:r>
              <a:rPr lang="zh-CN" altLang="en-US" sz="2400" dirty="0">
                <a:latin typeface="宋体" panose="02010600030101010101" pitchFamily="2" charset="-122"/>
              </a:rPr>
              <a:t>将高斯-塞德尔迭代格式</a:t>
            </a:r>
          </a:p>
          <a:p>
            <a:pPr algn="just" eaLnBrk="1" hangingPunct="1">
              <a:spcBef>
                <a:spcPct val="0"/>
              </a:spcBef>
              <a:buFontTx/>
              <a:buNone/>
            </a:pPr>
            <a:endParaRPr lang="zh-CN" altLang="en-US" sz="2400" b="1" dirty="0">
              <a:latin typeface="楷体_GB2312" pitchFamily="49" charset="-122"/>
              <a:ea typeface="楷体_GB2312"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0" name="Object 5"/>
              <p:cNvSpPr txBox="1"/>
              <p:nvPr/>
            </p:nvSpPr>
            <p:spPr bwMode="auto">
              <a:xfrm>
                <a:off x="3287713" y="2133600"/>
                <a:ext cx="6848475" cy="935038"/>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nary>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e>
                      </m:nary>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oMath>
                  </m:oMathPara>
                </a14:m>
                <a:endParaRPr lang="zh-CN" altLang="en-US"/>
              </a:p>
            </p:txBody>
          </p:sp>
        </mc:Choice>
        <mc:Fallback>
          <p:sp>
            <p:nvSpPr>
              <p:cNvPr id="10" name="Object 5"/>
              <p:cNvSpPr txBox="1">
                <a:spLocks noRot="1" noChangeAspect="1" noMove="1" noResize="1" noEditPoints="1" noAdjustHandles="1" noChangeArrowheads="1" noChangeShapeType="1" noTextEdit="1"/>
              </p:cNvSpPr>
              <p:nvPr/>
            </p:nvSpPr>
            <p:spPr bwMode="auto">
              <a:xfrm>
                <a:off x="3287713" y="2133600"/>
                <a:ext cx="6848475" cy="935038"/>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13" name="Rectangle 8"/>
          <p:cNvSpPr>
            <a:spLocks noChangeArrowheads="1"/>
          </p:cNvSpPr>
          <p:nvPr/>
        </p:nvSpPr>
        <p:spPr bwMode="auto">
          <a:xfrm>
            <a:off x="2351088" y="3068638"/>
            <a:ext cx="410495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latin typeface="宋体" panose="02010600030101010101" pitchFamily="2" charset="-122"/>
              </a:rPr>
              <a:t>换个形式看成： </a:t>
            </a:r>
          </a:p>
        </p:txBody>
      </p:sp>
      <p:sp>
        <p:nvSpPr>
          <p:cNvPr id="15" name="Rectangle 10"/>
          <p:cNvSpPr>
            <a:spLocks noChangeArrowheads="1"/>
          </p:cNvSpPr>
          <p:nvPr/>
        </p:nvSpPr>
        <p:spPr bwMode="auto">
          <a:xfrm>
            <a:off x="2108200" y="4572000"/>
            <a:ext cx="990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宋体" panose="02010600030101010101" pitchFamily="2" charset="-122"/>
              </a:rPr>
              <a:t>并记 </a:t>
            </a:r>
          </a:p>
        </p:txBody>
      </p:sp>
      <mc:AlternateContent xmlns:mc="http://schemas.openxmlformats.org/markup-compatibility/2006">
        <mc:Choice xmlns:a14="http://schemas.microsoft.com/office/drawing/2010/main" Requires="a14">
          <p:sp>
            <p:nvSpPr>
              <p:cNvPr id="16" name="Object 11"/>
              <p:cNvSpPr txBox="1"/>
              <p:nvPr/>
            </p:nvSpPr>
            <p:spPr bwMode="auto">
              <a:xfrm>
                <a:off x="3189288" y="5006975"/>
                <a:ext cx="5570537" cy="88900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nary>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m:rPr>
                              <m:nor/>
                            </m:rPr>
                            <a:rPr lang="zh-CN" altLang="en-US" i="0">
                              <a:solidFill>
                                <a:srgbClr val="000000"/>
                              </a:solidFill>
                              <a:latin typeface="Cambria Math" panose="02040503050406030204" pitchFamily="18" charset="0"/>
                            </a:rPr>
                            <m:t>   </m:t>
                          </m:r>
                        </m:e>
                      </m:nary>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oMath>
                  </m:oMathPara>
                </a14:m>
                <a:endParaRPr lang="zh-CN" altLang="en-US"/>
              </a:p>
            </p:txBody>
          </p:sp>
        </mc:Choice>
        <mc:Fallback>
          <p:sp>
            <p:nvSpPr>
              <p:cNvPr id="16" name="Object 11"/>
              <p:cNvSpPr txBox="1">
                <a:spLocks noRot="1" noChangeAspect="1" noMove="1" noResize="1" noEditPoints="1" noAdjustHandles="1" noChangeArrowheads="1" noChangeShapeType="1" noTextEdit="1"/>
              </p:cNvSpPr>
              <p:nvPr/>
            </p:nvSpPr>
            <p:spPr bwMode="auto">
              <a:xfrm>
                <a:off x="3189288" y="5006975"/>
                <a:ext cx="5570537" cy="889000"/>
              </a:xfrm>
              <a:prstGeom prst="rect">
                <a:avLst/>
              </a:prstGeom>
              <a:blipFill>
                <a:blip r:embed="rId4"/>
                <a:stretch>
                  <a:fillRect/>
                </a:stretch>
              </a:blipFill>
              <a:ln>
                <a:noFill/>
              </a:ln>
              <a:extLst/>
            </p:spPr>
            <p:txBody>
              <a:bodyPr/>
              <a:lstStyle/>
              <a:p>
                <a:r>
                  <a:rPr lang="zh-CN" altLang="en-US">
                    <a:noFill/>
                  </a:rPr>
                  <a:t> </a:t>
                </a:r>
              </a:p>
            </p:txBody>
          </p:sp>
        </mc:Fallback>
      </mc:AlternateContent>
      <p:grpSp>
        <p:nvGrpSpPr>
          <p:cNvPr id="2" name="Group 12"/>
          <p:cNvGrpSpPr>
            <a:grpSpLocks/>
          </p:cNvGrpSpPr>
          <p:nvPr/>
        </p:nvGrpSpPr>
        <p:grpSpPr bwMode="auto">
          <a:xfrm>
            <a:off x="2133600" y="6005513"/>
            <a:ext cx="7467600" cy="519112"/>
            <a:chOff x="384" y="3696"/>
            <a:chExt cx="4704" cy="327"/>
          </a:xfrm>
        </p:grpSpPr>
        <p:sp>
          <p:nvSpPr>
            <p:cNvPr id="19466" name="Rectangle 13"/>
            <p:cNvSpPr>
              <a:spLocks noChangeArrowheads="1"/>
            </p:cNvSpPr>
            <p:nvPr/>
          </p:nvSpPr>
          <p:spPr bwMode="auto">
            <a:xfrm>
              <a:off x="384" y="3696"/>
              <a:ext cx="470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a:ea typeface="楷体_GB2312" pitchFamily="49" charset="-122"/>
                </a:rPr>
                <a:t>一般地，</a:t>
              </a:r>
              <a:r>
                <a:rPr lang="zh-CN" altLang="en-US" sz="2400" b="1">
                  <a:solidFill>
                    <a:srgbClr val="008000"/>
                  </a:solidFill>
                  <a:ea typeface="楷体_GB2312" pitchFamily="49" charset="-122"/>
                </a:rPr>
                <a:t>残量</a:t>
              </a:r>
              <a:r>
                <a:rPr lang="en-US" altLang="zh-CN" sz="2400" b="1">
                  <a:solidFill>
                    <a:srgbClr val="008000"/>
                  </a:solidFill>
                  <a:ea typeface="楷体_GB2312" pitchFamily="49" charset="-122"/>
                </a:rPr>
                <a:t>(</a:t>
              </a:r>
              <a:r>
                <a:rPr lang="zh-CN" altLang="en-US" sz="2400" b="1">
                  <a:solidFill>
                    <a:srgbClr val="008000"/>
                  </a:solidFill>
                  <a:ea typeface="楷体_GB2312" pitchFamily="49" charset="-122"/>
                </a:rPr>
                <a:t>余量</a:t>
              </a:r>
              <a:r>
                <a:rPr lang="en-US" altLang="zh-CN" sz="2400" b="1">
                  <a:solidFill>
                    <a:srgbClr val="008000"/>
                  </a:solidFill>
                  <a:ea typeface="楷体_GB2312" pitchFamily="49" charset="-122"/>
                </a:rPr>
                <a:t>)</a:t>
              </a:r>
              <a:r>
                <a:rPr lang="en-US" altLang="zh-CN" sz="2400" b="1">
                  <a:solidFill>
                    <a:srgbClr val="008000"/>
                  </a:solidFill>
                </a:rPr>
                <a:t>                  </a:t>
              </a:r>
              <a:r>
                <a:rPr lang="zh-CN" altLang="en-US" sz="2800"/>
                <a:t>。  </a:t>
              </a:r>
            </a:p>
          </p:txBody>
        </p:sp>
        <mc:AlternateContent xmlns:mc="http://schemas.openxmlformats.org/markup-compatibility/2006">
          <mc:Choice xmlns:a14="http://schemas.microsoft.com/office/drawing/2010/main" Requires="a14">
            <p:sp>
              <p:nvSpPr>
                <p:cNvPr id="19467" name="Object 14"/>
                <p:cNvSpPr txBox="1"/>
                <p:nvPr/>
              </p:nvSpPr>
              <p:spPr bwMode="auto">
                <a:xfrm>
                  <a:off x="2245" y="3716"/>
                  <a:ext cx="728" cy="304"/>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𝑟</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≠0</m:t>
                        </m:r>
                      </m:oMath>
                    </m:oMathPara>
                  </a14:m>
                  <a:endParaRPr lang="zh-CN" altLang="en-US"/>
                </a:p>
              </p:txBody>
            </p:sp>
          </mc:Choice>
          <mc:Fallback>
            <p:sp>
              <p:nvSpPr>
                <p:cNvPr id="19467" name="Object 14"/>
                <p:cNvSpPr txBox="1">
                  <a:spLocks noRot="1" noChangeAspect="1" noMove="1" noResize="1" noEditPoints="1" noAdjustHandles="1" noChangeArrowheads="1" noChangeShapeType="1" noTextEdit="1"/>
                </p:cNvSpPr>
                <p:nvPr/>
              </p:nvSpPr>
              <p:spPr bwMode="auto">
                <a:xfrm>
                  <a:off x="2245" y="3716"/>
                  <a:ext cx="728" cy="304"/>
                </a:xfrm>
                <a:prstGeom prst="rect">
                  <a:avLst/>
                </a:prstGeom>
                <a:blipFill>
                  <a:blip r:embed="rId5"/>
                  <a:stretch>
                    <a:fillRect/>
                  </a:stretch>
                </a:blipFill>
                <a:ln>
                  <a:noFill/>
                </a:ln>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 name="文本框 3"/>
              <p:cNvSpPr txBox="1"/>
              <p:nvPr/>
            </p:nvSpPr>
            <p:spPr>
              <a:xfrm>
                <a:off x="3475231" y="3638045"/>
                <a:ext cx="2418226" cy="82445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𝑖</m:t>
                          </m:r>
                        </m:sub>
                        <m:sup>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Sup>
                        <m:sSubSupPr>
                          <m:ctrlPr>
                            <a:rPr lang="en-US" altLang="zh-CN" i="1" smtClean="0">
                              <a:solidFill>
                                <a:srgbClr val="FF0000"/>
                              </a:solidFill>
                              <a:latin typeface="Cambria Math" panose="02040503050406030204" pitchFamily="18" charset="0"/>
                            </a:rPr>
                          </m:ctrlPr>
                        </m:sSubSupPr>
                        <m:e>
                          <m:r>
                            <a:rPr lang="en-US" altLang="zh-CN" i="1">
                              <a:solidFill>
                                <a:srgbClr val="FF0000"/>
                              </a:solidFill>
                              <a:latin typeface="Cambria Math" panose="02040503050406030204" pitchFamily="18" charset="0"/>
                            </a:rPr>
                            <m:t>𝑥</m:t>
                          </m:r>
                        </m:e>
                        <m:sub>
                          <m:r>
                            <a:rPr lang="en-US" altLang="zh-CN" i="1">
                              <a:solidFill>
                                <a:srgbClr val="FF0000"/>
                              </a:solidFill>
                              <a:latin typeface="Cambria Math" panose="02040503050406030204" pitchFamily="18" charset="0"/>
                            </a:rPr>
                            <m:t>𝑖</m:t>
                          </m:r>
                        </m:sub>
                        <m:sup>
                          <m:r>
                            <a:rPr lang="en-US" altLang="zh-CN" i="1">
                              <a:solidFill>
                                <a:srgbClr val="FF0000"/>
                              </a:solidFill>
                              <a:latin typeface="Cambria Math" panose="02040503050406030204" pitchFamily="18" charset="0"/>
                            </a:rPr>
                            <m:t>𝑘</m:t>
                          </m:r>
                        </m:sup>
                      </m:sSubSup>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sSubSup>
                            <m:sSubSupPr>
                              <m:ctrlPr>
                                <a:rPr lang="en-US" altLang="zh-CN" i="1" smtClean="0">
                                  <a:solidFill>
                                    <a:srgbClr val="7030A0"/>
                                  </a:solidFill>
                                  <a:latin typeface="Cambria Math" panose="02040503050406030204" pitchFamily="18" charset="0"/>
                                </a:rPr>
                              </m:ctrlPr>
                            </m:sSubSupPr>
                            <m:e>
                              <m:r>
                                <a:rPr lang="en-US" altLang="zh-CN" b="0" i="1" smtClean="0">
                                  <a:solidFill>
                                    <a:srgbClr val="7030A0"/>
                                  </a:solidFill>
                                  <a:latin typeface="Cambria Math" panose="02040503050406030204" pitchFamily="18" charset="0"/>
                                </a:rPr>
                                <m:t>𝑟</m:t>
                              </m:r>
                            </m:e>
                            <m:sub>
                              <m:r>
                                <a:rPr lang="en-US" altLang="zh-CN" i="1">
                                  <a:solidFill>
                                    <a:srgbClr val="7030A0"/>
                                  </a:solidFill>
                                  <a:latin typeface="Cambria Math" panose="02040503050406030204" pitchFamily="18" charset="0"/>
                                </a:rPr>
                                <m:t>𝑖</m:t>
                              </m:r>
                            </m:sub>
                            <m:sup>
                              <m:r>
                                <a:rPr lang="en-US" altLang="zh-CN" i="1">
                                  <a:solidFill>
                                    <a:srgbClr val="7030A0"/>
                                  </a:solidFill>
                                  <a:latin typeface="Cambria Math" panose="02040503050406030204" pitchFamily="18" charset="0"/>
                                </a:rPr>
                                <m:t>𝑘</m:t>
                              </m:r>
                              <m:r>
                                <a:rPr lang="en-US" altLang="zh-CN" i="1">
                                  <a:solidFill>
                                    <a:srgbClr val="7030A0"/>
                                  </a:solidFill>
                                  <a:latin typeface="Cambria Math" panose="02040503050406030204" pitchFamily="18" charset="0"/>
                                </a:rPr>
                                <m:t>+1</m:t>
                              </m:r>
                            </m:sup>
                          </m:sSubSup>
                        </m:num>
                        <m:den>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𝑖𝑖</m:t>
                              </m:r>
                            </m:sub>
                          </m:sSub>
                        </m:den>
                      </m:f>
                    </m:oMath>
                  </m:oMathPara>
                </a14:m>
                <a:endParaRPr lang="zh-CN" altLang="en-US" dirty="0"/>
              </a:p>
            </p:txBody>
          </p:sp>
        </mc:Choice>
        <mc:Fallback xmlns="">
          <p:sp>
            <p:nvSpPr>
              <p:cNvPr id="4" name="文本框 3"/>
              <p:cNvSpPr txBox="1">
                <a:spLocks noRot="1" noChangeAspect="1" noMove="1" noResize="1" noEditPoints="1" noAdjustHandles="1" noChangeArrowheads="1" noChangeShapeType="1" noTextEdit="1"/>
              </p:cNvSpPr>
              <p:nvPr/>
            </p:nvSpPr>
            <p:spPr>
              <a:xfrm>
                <a:off x="3475231" y="3638045"/>
                <a:ext cx="2418226" cy="824456"/>
              </a:xfrm>
              <a:prstGeom prst="rect">
                <a:avLst/>
              </a:prstGeom>
              <a:blipFill>
                <a:blip r:embed="rId10"/>
                <a:stretch>
                  <a:fillRect/>
                </a:stretch>
              </a:blipFill>
            </p:spPr>
            <p:txBody>
              <a:bodyPr/>
              <a:lstStyle/>
              <a:p>
                <a:r>
                  <a:rPr lang="zh-CN" alt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0-#ppt_w/2"/>
                                          </p:val>
                                        </p:tav>
                                        <p:tav tm="100000">
                                          <p:val>
                                            <p:strVal val="#ppt_x"/>
                                          </p:val>
                                        </p:tav>
                                      </p:tavLst>
                                    </p:anim>
                                    <p:anim calcmode="lin" valueType="num">
                                      <p:cBhvr additive="base">
                                        <p:cTn id="14"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additive="base">
                                        <p:cTn id="19" dur="500" fill="hold"/>
                                        <p:tgtEl>
                                          <p:spTgt spid="15"/>
                                        </p:tgtEl>
                                        <p:attrNameLst>
                                          <p:attrName>ppt_x</p:attrName>
                                        </p:attrNameLst>
                                      </p:cBhvr>
                                      <p:tavLst>
                                        <p:tav tm="0">
                                          <p:val>
                                            <p:strVal val="0-#ppt_w/2"/>
                                          </p:val>
                                        </p:tav>
                                        <p:tav tm="100000">
                                          <p:val>
                                            <p:strVal val="#ppt_x"/>
                                          </p:val>
                                        </p:tav>
                                      </p:tavLst>
                                    </p:anim>
                                    <p:anim calcmode="lin" valueType="num">
                                      <p:cBhvr additive="base">
                                        <p:cTn id="20"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0-#ppt_w/2"/>
                                          </p:val>
                                        </p:tav>
                                        <p:tav tm="100000">
                                          <p:val>
                                            <p:strVal val="#ppt_x"/>
                                          </p:val>
                                        </p:tav>
                                      </p:tavLst>
                                    </p:anim>
                                    <p:anim calcmode="lin" valueType="num">
                                      <p:cBhvr additive="base">
                                        <p:cTn id="26"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3" grpId="0" autoUpdateAnimBg="0"/>
      <p:bldP spid="15"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6866" name="Object 3"/>
              <p:cNvSpPr txBox="1"/>
              <p:nvPr/>
            </p:nvSpPr>
            <p:spPr bwMode="auto">
              <a:xfrm>
                <a:off x="2379911" y="999575"/>
                <a:ext cx="6962775" cy="88900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nary>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𝑛</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e>
                      </m:nary>
                      <m:r>
                        <a:rPr lang="zh-CN" altLang="en-US" i="1">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oMath>
                  </m:oMathPara>
                </a14:m>
                <a:endParaRPr lang="zh-CN" altLang="en-US"/>
              </a:p>
            </p:txBody>
          </p:sp>
        </mc:Choice>
        <mc:Fallback>
          <p:sp>
            <p:nvSpPr>
              <p:cNvPr id="36866" name="Object 3"/>
              <p:cNvSpPr txBox="1">
                <a:spLocks noRot="1" noChangeAspect="1" noMove="1" noResize="1" noEditPoints="1" noAdjustHandles="1" noChangeArrowheads="1" noChangeShapeType="1" noTextEdit="1"/>
              </p:cNvSpPr>
              <p:nvPr/>
            </p:nvSpPr>
            <p:spPr bwMode="auto">
              <a:xfrm>
                <a:off x="2379911" y="999575"/>
                <a:ext cx="6962775" cy="889000"/>
              </a:xfrm>
              <a:prstGeom prst="rect">
                <a:avLst/>
              </a:prstGeom>
              <a:blipFill>
                <a:blip r:embed="rId4"/>
                <a:stretch>
                  <a:fillRect/>
                </a:stretch>
              </a:blipFill>
              <a:ln>
                <a:noFill/>
              </a:ln>
              <a:extLst/>
            </p:spPr>
            <p:txBody>
              <a:bodyPr/>
              <a:lstStyle/>
              <a:p>
                <a:r>
                  <a:rPr lang="zh-CN" altLang="en-US">
                    <a:noFill/>
                  </a:rPr>
                  <a:t> </a:t>
                </a:r>
              </a:p>
            </p:txBody>
          </p:sp>
        </mc:Fallback>
      </mc:AlternateContent>
      <p:grpSp>
        <p:nvGrpSpPr>
          <p:cNvPr id="2" name="Group 6"/>
          <p:cNvGrpSpPr>
            <a:grpSpLocks/>
          </p:cNvGrpSpPr>
          <p:nvPr/>
        </p:nvGrpSpPr>
        <p:grpSpPr bwMode="auto">
          <a:xfrm>
            <a:off x="2764631" y="3485137"/>
            <a:ext cx="6292850" cy="889000"/>
            <a:chOff x="627" y="1781"/>
            <a:chExt cx="3964" cy="560"/>
          </a:xfrm>
        </p:grpSpPr>
        <mc:AlternateContent xmlns:mc="http://schemas.openxmlformats.org/markup-compatibility/2006">
          <mc:Choice xmlns:a14="http://schemas.microsoft.com/office/drawing/2010/main" Requires="a14">
            <p:sp>
              <p:nvSpPr>
                <p:cNvPr id="21519" name="Object 7"/>
                <p:cNvSpPr txBox="1"/>
                <p:nvPr/>
              </p:nvSpPr>
              <p:spPr bwMode="auto">
                <a:xfrm>
                  <a:off x="627" y="1893"/>
                  <a:ext cx="1576" cy="304"/>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1519" name="Object 7"/>
                <p:cNvSpPr txBox="1">
                  <a:spLocks noRot="1" noChangeAspect="1" noMove="1" noResize="1" noEditPoints="1" noAdjustHandles="1" noChangeArrowheads="1" noChangeShapeType="1" noTextEdit="1"/>
                </p:cNvSpPr>
                <p:nvPr/>
              </p:nvSpPr>
              <p:spPr bwMode="auto">
                <a:xfrm>
                  <a:off x="627" y="1893"/>
                  <a:ext cx="1576" cy="304"/>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20" name="Object 8"/>
                <p:cNvSpPr txBox="1"/>
                <p:nvPr/>
              </p:nvSpPr>
              <p:spPr bwMode="auto">
                <a:xfrm>
                  <a:off x="2154" y="1781"/>
                  <a:ext cx="1109" cy="56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𝜔</m:t>
                            </m:r>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den>
                        </m:f>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nary>
                      </m:oMath>
                    </m:oMathPara>
                  </a14:m>
                  <a:endParaRPr lang="zh-CN" altLang="en-US"/>
                </a:p>
              </p:txBody>
            </p:sp>
          </mc:Choice>
          <mc:Fallback>
            <p:sp>
              <p:nvSpPr>
                <p:cNvPr id="21520" name="Object 8"/>
                <p:cNvSpPr txBox="1">
                  <a:spLocks noRot="1" noChangeAspect="1" noMove="1" noResize="1" noEditPoints="1" noAdjustHandles="1" noChangeArrowheads="1" noChangeShapeType="1" noTextEdit="1"/>
                </p:cNvSpPr>
                <p:nvPr/>
              </p:nvSpPr>
              <p:spPr bwMode="auto">
                <a:xfrm>
                  <a:off x="2154" y="1781"/>
                  <a:ext cx="1109" cy="56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graphicFrame>
              <p:nvGraphicFramePr>
                <p:cNvPr id="21521" name="Object 9"/>
                <p:cNvGraphicFramePr>
                  <a:graphicFrameLocks noChangeAspect="1"/>
                </p:cNvGraphicFramePr>
                <p:nvPr/>
              </p:nvGraphicFramePr>
              <p:xfrm>
                <a:off x="3190" y="1781"/>
                <a:ext cx="1401" cy="560"/>
              </p:xfrm>
              <a:graphic>
                <a:graphicData uri="http://schemas.openxmlformats.org/presentationml/2006/ole">
                  <mc:AlternateContent>
                    <mc:Choice xmlns:v="urn:schemas-microsoft-com:vml" Requires="v">
                      <p:oleObj spid="_x0000_s22007" name="Equation" r:id="rId7" imgW="700898" imgH="228647" progId="Equation.DSMT4">
                        <p:embed/>
                      </p:oleObj>
                    </mc:Choice>
                    <mc:Fallback>
                      <p:oleObj name="Equation" r:id="rId7" imgW="700898" imgH="228647" progId="Equation.DSMT4">
                        <p:embed/>
                        <p:pic>
                          <p:nvPicPr>
                            <p:cNvPr id="0" name="Object 9"/>
                            <p:cNvPicPr>
                              <a:picLocks noChangeAspect="1" noChangeArrowheads="1"/>
                            </p:cNvPicPr>
                            <p:nvPr/>
                          </p:nvPicPr>
                          <p:blipFill>
                            <a:blip r:embed="rId8">
                              <a:extLst>
                                <a:ext uri="{28A0092B-C50C-407E-A947-70E740481C1C}">
                                  <a14:useLocalDpi val="0"/>
                                </a:ext>
                              </a:extLst>
                            </a:blip>
                            <a:srcRect/>
                            <a:stretch>
                              <a:fillRect/>
                            </a:stretch>
                          </p:blipFill>
                          <p:spPr bwMode="auto">
                            <a:xfrm>
                              <a:off x="3190" y="1781"/>
                              <a:ext cx="1401" cy="56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p:graphicFrame>
              <p:nvGraphicFramePr>
                <p:cNvPr id="21521" name="Object 9"/>
                <p:cNvGraphicFramePr>
                  <a:graphicFrameLocks noChangeAspect="1"/>
                </p:cNvGraphicFramePr>
                <p:nvPr/>
              </p:nvGraphicFramePr>
              <p:xfrm>
                <a:off x="3190" y="1781"/>
                <a:ext cx="1401" cy="560"/>
              </p:xfrm>
              <a:graphic>
                <a:graphicData uri="http://schemas.openxmlformats.org/presentationml/2006/ole">
                  <mc:AlternateContent>
                    <mc:Choice xmlns:v="urn:schemas-microsoft-com:vml" Requires="v">
                      <p:oleObj spid="_x0000_s22007" name="Equation" r:id="rId7" imgW="700898" imgH="228647" progId="Equation.DSMT4">
                        <p:embed/>
                      </p:oleObj>
                    </mc:Choice>
                    <mc:Fallback>
                      <p:oleObj name="Equation" r:id="rId7" imgW="700898" imgH="228647"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0" y="1781"/>
                              <a:ext cx="1401" cy="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grpSp>
      <p:grpSp>
        <p:nvGrpSpPr>
          <p:cNvPr id="3" name="Group 10"/>
          <p:cNvGrpSpPr>
            <a:grpSpLocks/>
          </p:cNvGrpSpPr>
          <p:nvPr/>
        </p:nvGrpSpPr>
        <p:grpSpPr bwMode="auto">
          <a:xfrm>
            <a:off x="1919536" y="2140987"/>
            <a:ext cx="8070850" cy="461963"/>
            <a:chOff x="192" y="1086"/>
            <a:chExt cx="5568" cy="291"/>
          </a:xfrm>
        </p:grpSpPr>
        <p:sp>
          <p:nvSpPr>
            <p:cNvPr id="21517" name="Rectangle 11"/>
            <p:cNvSpPr>
              <a:spLocks noChangeArrowheads="1"/>
            </p:cNvSpPr>
            <p:nvPr/>
          </p:nvSpPr>
          <p:spPr bwMode="auto">
            <a:xfrm>
              <a:off x="192" y="1086"/>
              <a:ext cx="5568"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667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zh-CN" altLang="en-US" sz="2400" dirty="0">
                  <a:ea typeface="楷体_GB2312" pitchFamily="49" charset="-122"/>
                </a:rPr>
                <a:t>这就是</a:t>
              </a:r>
              <a:r>
                <a:rPr lang="zh-CN" altLang="en-US" sz="2400" b="1" dirty="0">
                  <a:solidFill>
                    <a:srgbClr val="008000"/>
                  </a:solidFill>
                  <a:ea typeface="楷体_GB2312" pitchFamily="49" charset="-122"/>
                </a:rPr>
                <a:t>逐次超松驰迭代法（</a:t>
              </a:r>
              <a:r>
                <a:rPr lang="en-US" altLang="zh-CN" sz="2400" b="1" dirty="0">
                  <a:solidFill>
                    <a:srgbClr val="008000"/>
                  </a:solidFill>
                  <a:cs typeface="Times New Roman" panose="02020603050405020304" pitchFamily="18" charset="0"/>
                </a:rPr>
                <a:t>SOR</a:t>
              </a:r>
              <a:r>
                <a:rPr lang="zh-CN" altLang="en-US" sz="2400" b="1" dirty="0">
                  <a:solidFill>
                    <a:srgbClr val="008000"/>
                  </a:solidFill>
                  <a:ea typeface="楷体_GB2312" pitchFamily="49" charset="-122"/>
                </a:rPr>
                <a:t>方法</a:t>
              </a:r>
              <a:r>
                <a:rPr lang="en-US" altLang="zh-CN" sz="2400" b="1" dirty="0">
                  <a:solidFill>
                    <a:srgbClr val="008000"/>
                  </a:solidFill>
                  <a:ea typeface="楷体_GB2312" pitchFamily="49" charset="-122"/>
                </a:rPr>
                <a:t>)</a:t>
              </a:r>
              <a:r>
                <a:rPr lang="zh-CN" altLang="en-US" sz="2400" dirty="0">
                  <a:solidFill>
                    <a:srgbClr val="7BEB96"/>
                  </a:solidFill>
                  <a:ea typeface="楷体_GB2312" pitchFamily="49" charset="-122"/>
                </a:rPr>
                <a:t>，  </a:t>
              </a:r>
              <a:r>
                <a:rPr lang="zh-CN" altLang="en-US" sz="2400" dirty="0">
                  <a:ea typeface="楷体_GB2312" pitchFamily="49" charset="-122"/>
                </a:rPr>
                <a:t> 称为</a:t>
              </a:r>
              <a:r>
                <a:rPr lang="zh-CN" altLang="en-US" sz="2400" b="1" dirty="0">
                  <a:solidFill>
                    <a:srgbClr val="008000"/>
                  </a:solidFill>
                  <a:ea typeface="楷体_GB2312" pitchFamily="49" charset="-122"/>
                </a:rPr>
                <a:t>松驰因子。</a:t>
              </a:r>
            </a:p>
          </p:txBody>
        </p:sp>
        <mc:AlternateContent xmlns:mc="http://schemas.openxmlformats.org/markup-compatibility/2006">
          <mc:Choice xmlns:a14="http://schemas.microsoft.com/office/drawing/2010/main" Requires="a14">
            <p:sp>
              <p:nvSpPr>
                <p:cNvPr id="21518" name="Object 12"/>
                <p:cNvSpPr txBox="1"/>
                <p:nvPr/>
              </p:nvSpPr>
              <p:spPr bwMode="auto">
                <a:xfrm>
                  <a:off x="4129" y="1165"/>
                  <a:ext cx="204" cy="176"/>
                </a:xfrm>
                <a:prstGeom prst="rect">
                  <a:avLst/>
                </a:prstGeom>
                <a:noFill/>
                <a:ln>
                  <a:noFill/>
                </a:ln>
                <a:extLst/>
              </p:spPr>
              <p:txBody>
                <a:bodyPr>
                  <a:normAutofit fontScale="4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𝜔</m:t>
                        </m:r>
                      </m:oMath>
                    </m:oMathPara>
                  </a14:m>
                  <a:endParaRPr lang="zh-CN" altLang="en-US"/>
                </a:p>
              </p:txBody>
            </p:sp>
          </mc:Choice>
          <mc:Fallback>
            <p:sp>
              <p:nvSpPr>
                <p:cNvPr id="21518" name="Object 12"/>
                <p:cNvSpPr txBox="1">
                  <a:spLocks noRot="1" noChangeAspect="1" noMove="1" noResize="1" noEditPoints="1" noAdjustHandles="1" noChangeArrowheads="1" noChangeShapeType="1" noTextEdit="1"/>
                </p:cNvSpPr>
                <p:nvPr/>
              </p:nvSpPr>
              <p:spPr bwMode="auto">
                <a:xfrm>
                  <a:off x="4129" y="1165"/>
                  <a:ext cx="204" cy="176"/>
                </a:xfrm>
                <a:prstGeom prst="rect">
                  <a:avLst/>
                </a:prstGeom>
                <a:blipFill>
                  <a:blip r:embed="rId9"/>
                  <a:stretch>
                    <a:fillRect/>
                  </a:stretch>
                </a:blipFill>
                <a:ln>
                  <a:noFill/>
                </a:ln>
                <a:extLst/>
              </p:spPr>
              <p:txBody>
                <a:bodyPr/>
                <a:lstStyle/>
                <a:p>
                  <a:r>
                    <a:rPr lang="zh-CN" altLang="en-US">
                      <a:noFill/>
                    </a:rPr>
                    <a:t> </a:t>
                  </a:r>
                </a:p>
              </p:txBody>
            </p:sp>
          </mc:Fallback>
        </mc:AlternateContent>
      </p:grpSp>
      <p:sp>
        <p:nvSpPr>
          <p:cNvPr id="15" name="Rectangle 13"/>
          <p:cNvSpPr>
            <a:spLocks noChangeArrowheads="1"/>
          </p:cNvSpPr>
          <p:nvPr/>
        </p:nvSpPr>
        <p:spPr bwMode="auto">
          <a:xfrm>
            <a:off x="2191544" y="2780287"/>
            <a:ext cx="43449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solidFill>
                  <a:srgbClr val="008000"/>
                </a:solidFill>
                <a:latin typeface="楷体_GB2312" pitchFamily="49" charset="-122"/>
                <a:ea typeface="楷体_GB2312" pitchFamily="49" charset="-122"/>
                <a:cs typeface="Times New Roman" panose="02020603050405020304" pitchFamily="18" charset="0"/>
              </a:rPr>
              <a:t>SOR</a:t>
            </a:r>
            <a:r>
              <a:rPr lang="zh-CN" altLang="en-US" sz="2400" dirty="0">
                <a:latin typeface="宋体" panose="02010600030101010101" pitchFamily="2" charset="-122"/>
                <a:ea typeface="楷体_GB2312" pitchFamily="49" charset="-122"/>
                <a:cs typeface="Times New Roman" panose="02020603050405020304" pitchFamily="18" charset="0"/>
              </a:rPr>
              <a:t>方法的计算公式也常写为：</a:t>
            </a:r>
          </a:p>
        </p:txBody>
      </p:sp>
      <p:grpSp>
        <p:nvGrpSpPr>
          <p:cNvPr id="4" name="Group 15"/>
          <p:cNvGrpSpPr>
            <a:grpSpLocks/>
          </p:cNvGrpSpPr>
          <p:nvPr/>
        </p:nvGrpSpPr>
        <p:grpSpPr bwMode="auto">
          <a:xfrm>
            <a:off x="2129761" y="4551937"/>
            <a:ext cx="7772400" cy="1200150"/>
            <a:chOff x="336" y="2380"/>
            <a:chExt cx="4896" cy="756"/>
          </a:xfrm>
        </p:grpSpPr>
        <p:sp>
          <p:nvSpPr>
            <p:cNvPr id="21514" name="Text Box 16"/>
            <p:cNvSpPr txBox="1">
              <a:spLocks noChangeArrowheads="1"/>
            </p:cNvSpPr>
            <p:nvPr/>
          </p:nvSpPr>
          <p:spPr bwMode="auto">
            <a:xfrm>
              <a:off x="336" y="2380"/>
              <a:ext cx="4896"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b="1" dirty="0">
                  <a:solidFill>
                    <a:srgbClr val="660066"/>
                  </a:solidFill>
                  <a:latin typeface="Tahoma" panose="020B0604030504040204" pitchFamily="34" charset="0"/>
                </a:rPr>
                <a:t>注</a:t>
              </a:r>
              <a:r>
                <a:rPr lang="zh-CN" altLang="en-US" sz="2400" dirty="0">
                  <a:solidFill>
                    <a:srgbClr val="7BEB96"/>
                  </a:solidFill>
                  <a:latin typeface="Tahoma" panose="020B0604030504040204" pitchFamily="34" charset="0"/>
                </a:rPr>
                <a:t>：</a:t>
              </a:r>
              <a:r>
                <a:rPr lang="zh-CN" altLang="en-US" sz="2400" dirty="0">
                  <a:latin typeface="Tahoma" panose="020B0604030504040204" pitchFamily="34" charset="0"/>
                </a:rPr>
                <a:t>可见，</a:t>
              </a:r>
              <a:r>
                <a:rPr lang="en-US" altLang="zh-CN" sz="2400" dirty="0">
                  <a:solidFill>
                    <a:srgbClr val="008000"/>
                  </a:solidFill>
                </a:rPr>
                <a:t>SOR</a:t>
              </a:r>
              <a:r>
                <a:rPr lang="zh-CN" altLang="en-US" sz="2400" dirty="0"/>
                <a:t>方法的得到的         可以看成是</a:t>
              </a:r>
              <a:r>
                <a:rPr lang="zh-CN" altLang="en-US" sz="2400" dirty="0">
                  <a:latin typeface="宋体" panose="02010600030101010101" pitchFamily="2" charset="-122"/>
                </a:rPr>
                <a:t>高斯-塞德尔</a:t>
              </a:r>
              <a:r>
                <a:rPr lang="zh-CN" altLang="en-US" sz="2400" dirty="0"/>
                <a:t>方法的结果与       的加权平均。</a:t>
              </a:r>
            </a:p>
          </p:txBody>
        </p:sp>
        <mc:AlternateContent xmlns:mc="http://schemas.openxmlformats.org/markup-compatibility/2006">
          <mc:Choice xmlns:a14="http://schemas.microsoft.com/office/drawing/2010/main" Requires="a14">
            <p:sp>
              <p:nvSpPr>
                <p:cNvPr id="21515" name="Object 17"/>
                <p:cNvSpPr txBox="1"/>
                <p:nvPr/>
              </p:nvSpPr>
              <p:spPr bwMode="auto">
                <a:xfrm>
                  <a:off x="2876" y="2445"/>
                  <a:ext cx="432" cy="304"/>
                </a:xfrm>
                <a:prstGeom prst="rect">
                  <a:avLst/>
                </a:prstGeom>
                <a:noFill/>
                <a:ln>
                  <a:noFill/>
                </a:ln>
                <a:effectLst/>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oMath>
                    </m:oMathPara>
                  </a14:m>
                  <a:endParaRPr lang="zh-CN" altLang="en-US"/>
                </a:p>
              </p:txBody>
            </p:sp>
          </mc:Choice>
          <mc:Fallback>
            <p:sp>
              <p:nvSpPr>
                <p:cNvPr id="21515" name="Object 17"/>
                <p:cNvSpPr txBox="1">
                  <a:spLocks noRot="1" noChangeAspect="1" noMove="1" noResize="1" noEditPoints="1" noAdjustHandles="1" noChangeArrowheads="1" noChangeShapeType="1" noTextEdit="1"/>
                </p:cNvSpPr>
                <p:nvPr/>
              </p:nvSpPr>
              <p:spPr bwMode="auto">
                <a:xfrm>
                  <a:off x="2876" y="2445"/>
                  <a:ext cx="432" cy="304"/>
                </a:xfrm>
                <a:prstGeom prst="rect">
                  <a:avLst/>
                </a:prstGeom>
                <a:blipFill>
                  <a:blip r:embed="rId10"/>
                  <a:stretch>
                    <a:fillRect r="-7143"/>
                  </a:stretch>
                </a:blipFill>
                <a:ln>
                  <a:noFill/>
                </a:ln>
                <a:effectLs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516" name="Object 18"/>
                <p:cNvSpPr txBox="1"/>
                <p:nvPr/>
              </p:nvSpPr>
              <p:spPr bwMode="auto">
                <a:xfrm>
                  <a:off x="1740" y="2808"/>
                  <a:ext cx="320" cy="304"/>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p:sp>
              <p:nvSpPr>
                <p:cNvPr id="21516" name="Object 18"/>
                <p:cNvSpPr txBox="1">
                  <a:spLocks noRot="1" noChangeAspect="1" noMove="1" noResize="1" noEditPoints="1" noAdjustHandles="1" noChangeArrowheads="1" noChangeShapeType="1" noTextEdit="1"/>
                </p:cNvSpPr>
                <p:nvPr/>
              </p:nvSpPr>
              <p:spPr bwMode="auto">
                <a:xfrm>
                  <a:off x="1740" y="2808"/>
                  <a:ext cx="320" cy="304"/>
                </a:xfrm>
                <a:prstGeom prst="rect">
                  <a:avLst/>
                </a:prstGeom>
                <a:blipFill>
                  <a:blip r:embed="rId11"/>
                  <a:stretch>
                    <a:fillRect r="-19277" b="-5063"/>
                  </a:stretch>
                </a:blipFill>
                <a:ln>
                  <a:noFill/>
                </a:ln>
                <a:effectLst/>
                <a:extLst/>
              </p:spPr>
              <p:txBody>
                <a:bodyPr/>
                <a:lstStyle/>
                <a:p>
                  <a:r>
                    <a:rPr lang="zh-CN" altLang="en-US">
                      <a:noFill/>
                    </a:rPr>
                    <a:t> </a:t>
                  </a:r>
                </a:p>
              </p:txBody>
            </p:sp>
          </mc:Fallback>
        </mc:AlternateContent>
      </p:grpSp>
      <p:grpSp>
        <p:nvGrpSpPr>
          <p:cNvPr id="5" name="Group 19"/>
          <p:cNvGrpSpPr>
            <a:grpSpLocks/>
          </p:cNvGrpSpPr>
          <p:nvPr/>
        </p:nvGrpSpPr>
        <p:grpSpPr bwMode="auto">
          <a:xfrm>
            <a:off x="1925886" y="350287"/>
            <a:ext cx="8424863" cy="482600"/>
            <a:chOff x="384" y="672"/>
            <a:chExt cx="4992" cy="304"/>
          </a:xfrm>
        </p:grpSpPr>
        <p:sp>
          <p:nvSpPr>
            <p:cNvPr id="21512" name="Text Box 20"/>
            <p:cNvSpPr txBox="1">
              <a:spLocks noChangeArrowheads="1"/>
            </p:cNvSpPr>
            <p:nvPr/>
          </p:nvSpPr>
          <p:spPr bwMode="auto">
            <a:xfrm>
              <a:off x="384" y="672"/>
              <a:ext cx="49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latin typeface="宋体" panose="02010600030101010101" pitchFamily="2" charset="-122"/>
                </a:rPr>
                <a:t>将残量乘以一个修正量加到    上，作为新的结果</a:t>
              </a:r>
            </a:p>
          </p:txBody>
        </p:sp>
        <mc:AlternateContent xmlns:mc="http://schemas.openxmlformats.org/markup-compatibility/2006">
          <mc:Choice xmlns:a14="http://schemas.microsoft.com/office/drawing/2010/main" Requires="a14">
            <p:sp>
              <p:nvSpPr>
                <p:cNvPr id="21513" name="Object 21"/>
                <p:cNvSpPr txBox="1"/>
                <p:nvPr/>
              </p:nvSpPr>
              <p:spPr bwMode="auto">
                <a:xfrm>
                  <a:off x="2645" y="672"/>
                  <a:ext cx="325" cy="304"/>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bSup>
                      </m:oMath>
                    </m:oMathPara>
                  </a14:m>
                  <a:endParaRPr lang="zh-CN" altLang="en-US"/>
                </a:p>
              </p:txBody>
            </p:sp>
          </mc:Choice>
          <mc:Fallback>
            <p:sp>
              <p:nvSpPr>
                <p:cNvPr id="21513" name="Object 21"/>
                <p:cNvSpPr txBox="1">
                  <a:spLocks noRot="1" noChangeAspect="1" noMove="1" noResize="1" noEditPoints="1" noAdjustHandles="1" noChangeArrowheads="1" noChangeShapeType="1" noTextEdit="1"/>
                </p:cNvSpPr>
                <p:nvPr/>
              </p:nvSpPr>
              <p:spPr bwMode="auto">
                <a:xfrm>
                  <a:off x="2645" y="672"/>
                  <a:ext cx="325" cy="304"/>
                </a:xfrm>
                <a:prstGeom prst="rect">
                  <a:avLst/>
                </a:prstGeom>
                <a:blipFill>
                  <a:blip r:embed="rId12"/>
                  <a:stretch>
                    <a:fillRect r="-10000" b="-3750"/>
                  </a:stretch>
                </a:blipFill>
                <a:ln>
                  <a:noFill/>
                </a:ln>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6" name="文本框 5"/>
              <p:cNvSpPr txBox="1"/>
              <p:nvPr/>
            </p:nvSpPr>
            <p:spPr>
              <a:xfrm>
                <a:off x="9666720" y="2821432"/>
                <a:ext cx="2070823" cy="1025281"/>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altLang="zh-CN" i="1" smtClean="0">
                              <a:latin typeface="Cambria Math" panose="02040503050406030204" pitchFamily="18" charset="0"/>
                            </a:rPr>
                          </m:ctrlPr>
                        </m:mPr>
                        <m:mr>
                          <m:e>
                            <m:r>
                              <m:rPr>
                                <m:brk m:alnAt="7"/>
                              </m:rPr>
                              <a:rPr lang="zh-CN" altLang="en-US" i="1" smtClean="0">
                                <a:latin typeface="Cambria Math" panose="02040503050406030204" pitchFamily="18" charset="0"/>
                              </a:rPr>
                              <m:t>𝜔</m:t>
                            </m:r>
                            <m:r>
                              <a:rPr lang="en-US" altLang="zh-CN" b="0" i="1" smtClean="0">
                                <a:latin typeface="Cambria Math" panose="02040503050406030204" pitchFamily="18" charset="0"/>
                              </a:rPr>
                              <m:t>=1            </m:t>
                            </m:r>
                            <m:r>
                              <a:rPr lang="en-US" altLang="zh-CN" b="0" i="1" smtClean="0">
                                <a:latin typeface="Cambria Math" panose="02040503050406030204" pitchFamily="18" charset="0"/>
                              </a:rPr>
                              <m:t>𝐺𝑆</m:t>
                            </m:r>
                          </m:e>
                        </m:mr>
                        <m:mr>
                          <m:e>
                            <m:r>
                              <a:rPr lang="zh-CN" altLang="en-US" i="1" smtClean="0">
                                <a:latin typeface="Cambria Math" panose="02040503050406030204" pitchFamily="18" charset="0"/>
                              </a:rPr>
                              <m:t>𝜔</m:t>
                            </m:r>
                            <m:r>
                              <a:rPr lang="en-US" altLang="zh-CN" b="0" i="1" smtClean="0">
                                <a:latin typeface="Cambria Math" panose="02040503050406030204" pitchFamily="18" charset="0"/>
                              </a:rPr>
                              <m:t>&lt;1  </m:t>
                            </m:r>
                            <m:r>
                              <a:rPr lang="zh-CN" altLang="en-US" i="1">
                                <a:latin typeface="Cambria Math" panose="02040503050406030204" pitchFamily="18" charset="0"/>
                              </a:rPr>
                              <m:t>低</m:t>
                            </m:r>
                            <m:r>
                              <a:rPr lang="zh-CN" altLang="en-US" i="1" smtClean="0">
                                <a:latin typeface="Cambria Math" panose="02040503050406030204" pitchFamily="18" charset="0"/>
                              </a:rPr>
                              <m:t>松弛</m:t>
                            </m:r>
                            <m:r>
                              <a:rPr lang="en-US" altLang="zh-CN" b="0" i="1" smtClean="0">
                                <a:latin typeface="Cambria Math" panose="02040503050406030204" pitchFamily="18" charset="0"/>
                              </a:rPr>
                              <m:t>  </m:t>
                            </m:r>
                          </m:e>
                        </m:mr>
                        <m:mr>
                          <m:e>
                            <m:r>
                              <a:rPr lang="zh-CN" altLang="en-US" i="1" smtClean="0">
                                <a:latin typeface="Cambria Math" panose="02040503050406030204" pitchFamily="18" charset="0"/>
                              </a:rPr>
                              <m:t>𝜔</m:t>
                            </m:r>
                            <m:r>
                              <a:rPr lang="en-US" altLang="zh-CN" b="0" i="1" smtClean="0">
                                <a:latin typeface="Cambria Math" panose="02040503050406030204" pitchFamily="18" charset="0"/>
                              </a:rPr>
                              <m:t>&gt;1   </m:t>
                            </m:r>
                            <m:r>
                              <a:rPr lang="zh-CN" altLang="en-US" i="1">
                                <a:latin typeface="Cambria Math" panose="02040503050406030204" pitchFamily="18" charset="0"/>
                              </a:rPr>
                              <m:t>超</m:t>
                            </m:r>
                            <m:r>
                              <a:rPr lang="zh-CN" altLang="en-US" i="1" smtClean="0">
                                <a:latin typeface="Cambria Math" panose="02040503050406030204" pitchFamily="18" charset="0"/>
                              </a:rPr>
                              <m:t>松弛</m:t>
                            </m:r>
                          </m:e>
                        </m:mr>
                      </m:m>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9666720" y="2821432"/>
                <a:ext cx="2070823" cy="1025281"/>
              </a:xfrm>
              <a:prstGeom prst="rect">
                <a:avLst/>
              </a:prstGeom>
              <a:blipFill>
                <a:blip r:embed="rId20"/>
                <a:stretch>
                  <a:fillRect/>
                </a:stretch>
              </a:blipFill>
              <a:ln>
                <a:solidFill>
                  <a:schemeClr val="tx1"/>
                </a:solidFill>
              </a:ln>
            </p:spPr>
            <p:txBody>
              <a:bodyPr/>
              <a:lstStyle/>
              <a:p>
                <a:r>
                  <a:rPr lang="zh-CN" altLang="en-US">
                    <a:noFill/>
                  </a:rPr>
                  <a:t> </a:t>
                </a:r>
              </a:p>
            </p:txBody>
          </p:sp>
        </mc:Fallback>
      </mc:AlternateContent>
      <p:sp>
        <p:nvSpPr>
          <p:cNvPr id="7" name="文本框 6"/>
          <p:cNvSpPr txBox="1"/>
          <p:nvPr/>
        </p:nvSpPr>
        <p:spPr>
          <a:xfrm>
            <a:off x="1415480" y="5949280"/>
            <a:ext cx="2339102" cy="461665"/>
          </a:xfrm>
          <a:prstGeom prst="rect">
            <a:avLst/>
          </a:prstGeom>
          <a:noFill/>
        </p:spPr>
        <p:txBody>
          <a:bodyPr wrap="none" rtlCol="0">
            <a:spAutoFit/>
          </a:bodyPr>
          <a:lstStyle/>
          <a:p>
            <a:r>
              <a:rPr lang="zh-CN" altLang="en-US" dirty="0"/>
              <a:t>写成矩阵形式：</a:t>
            </a:r>
          </a:p>
        </p:txBody>
      </p:sp>
      <mc:AlternateContent xmlns:mc="http://schemas.openxmlformats.org/markup-compatibility/2006" xmlns:a14="http://schemas.microsoft.com/office/drawing/2010/main">
        <mc:Choice Requires="a14">
          <p:sp>
            <p:nvSpPr>
              <p:cNvPr id="9" name="文本框 8"/>
              <p:cNvSpPr txBox="1"/>
              <p:nvPr/>
            </p:nvSpPr>
            <p:spPr>
              <a:xfrm>
                <a:off x="3919165" y="5995446"/>
                <a:ext cx="7616444" cy="4166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i="1" smtClean="0">
                              <a:latin typeface="Cambria Math" panose="02040503050406030204" pitchFamily="18" charset="0"/>
                            </a:rPr>
                          </m:ctrlPr>
                        </m:sSubSupPr>
                        <m:e>
                          <m:r>
                            <a:rPr lang="en-US" altLang="zh-CN" i="1">
                              <a:latin typeface="Cambria Math" panose="02040503050406030204" pitchFamily="18" charset="0"/>
                            </a:rPr>
                            <m:t>𝑥</m:t>
                          </m:r>
                        </m:e>
                        <m:sub/>
                        <m:sup>
                          <m:r>
                            <a:rPr lang="en-US" altLang="zh-CN" i="1">
                              <a:latin typeface="Cambria Math" panose="02040503050406030204" pitchFamily="18" charset="0"/>
                            </a:rPr>
                            <m:t>𝑘</m:t>
                          </m:r>
                          <m:r>
                            <a:rPr lang="en-US" altLang="zh-CN" i="1">
                              <a:latin typeface="Cambria Math" panose="02040503050406030204" pitchFamily="18" charset="0"/>
                            </a:rPr>
                            <m:t>+1</m:t>
                          </m:r>
                        </m:sup>
                      </m:sSubSup>
                      <m:r>
                        <a:rPr lang="en-US" altLang="zh-CN" i="1">
                          <a:latin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0" smtClean="0">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D</m:t>
                          </m:r>
                          <m:r>
                            <a:rPr lang="en-US" altLang="zh-CN">
                              <a:latin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𝐿</m:t>
                          </m:r>
                          <m:r>
                            <a:rPr lang="en-US" altLang="zh-CN" i="1">
                              <a:latin typeface="Cambria Math" panose="02040503050406030204" pitchFamily="18" charset="0"/>
                              <a:ea typeface="Cambria Math" panose="02040503050406030204" pitchFamily="18" charset="0"/>
                            </a:rPr>
                            <m:t>)</m:t>
                          </m:r>
                        </m:e>
                        <m:sup>
                          <m:r>
                            <a:rPr lang="en-US" altLang="zh-CN" b="0" i="1" smtClean="0">
                              <a:latin typeface="Cambria Math" panose="02040503050406030204" pitchFamily="18" charset="0"/>
                              <a:ea typeface="Cambria Math" panose="02040503050406030204" pitchFamily="18" charset="0"/>
                            </a:rPr>
                            <m:t>−1</m:t>
                          </m:r>
                        </m:sup>
                      </m:sSup>
                      <m:d>
                        <m:dPr>
                          <m:begChr m:val="["/>
                          <m:endChr m:val="]"/>
                          <m:ctrlPr>
                            <a:rPr lang="en-US" altLang="zh-CN" b="0" i="1" smtClean="0">
                              <a:latin typeface="Cambria Math" panose="02040503050406030204" pitchFamily="18" charset="0"/>
                              <a:ea typeface="Cambria Math" panose="02040503050406030204" pitchFamily="18" charset="0"/>
                            </a:rPr>
                          </m:ctrlPr>
                        </m:dPr>
                        <m:e>
                          <m:d>
                            <m:dPr>
                              <m:ctrlPr>
                                <a:rPr lang="en-US" altLang="zh-CN" b="0" i="1" smtClean="0">
                                  <a:latin typeface="Cambria Math" panose="02040503050406030204" pitchFamily="18" charset="0"/>
                                  <a:ea typeface="Cambria Math" panose="02040503050406030204" pitchFamily="18" charset="0"/>
                                </a:rPr>
                              </m:ctrlPr>
                            </m:dPr>
                            <m:e>
                              <m:r>
                                <a:rPr lang="en-US" altLang="zh-CN" b="0" i="1" smtClean="0">
                                  <a:latin typeface="Cambria Math" panose="02040503050406030204" pitchFamily="18" charset="0"/>
                                  <a:ea typeface="Cambria Math" panose="02040503050406030204" pitchFamily="18" charset="0"/>
                                </a:rPr>
                                <m:t>1−</m:t>
                              </m:r>
                              <m:r>
                                <a:rPr lang="zh-CN" altLang="en-US" b="0" i="1" smtClean="0">
                                  <a:latin typeface="Cambria Math" panose="02040503050406030204" pitchFamily="18" charset="0"/>
                                  <a:ea typeface="Cambria Math" panose="02040503050406030204" pitchFamily="18" charset="0"/>
                                </a:rPr>
                                <m:t>𝜔</m:t>
                              </m:r>
                            </m:e>
                          </m:d>
                          <m:r>
                            <a:rPr lang="en-US" altLang="zh-CN" b="0" i="1" smtClean="0">
                              <a:latin typeface="Cambria Math" panose="02040503050406030204" pitchFamily="18" charset="0"/>
                              <a:ea typeface="Cambria Math" panose="02040503050406030204" pitchFamily="18" charset="0"/>
                            </a:rPr>
                            <m:t>𝐷</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𝑈</m:t>
                          </m:r>
                        </m:e>
                      </m:d>
                      <m:sSubSup>
                        <m:sSubSupPr>
                          <m:ctrlPr>
                            <a:rPr lang="en-US" altLang="zh-CN" i="1">
                              <a:latin typeface="Cambria Math" panose="02040503050406030204" pitchFamily="18" charset="0"/>
                            </a:rPr>
                          </m:ctrlPr>
                        </m:sSubSupPr>
                        <m:e>
                          <m:r>
                            <a:rPr lang="en-US" altLang="zh-CN" i="1">
                              <a:latin typeface="Cambria Math" panose="02040503050406030204" pitchFamily="18" charset="0"/>
                            </a:rPr>
                            <m:t>𝑥</m:t>
                          </m:r>
                        </m:e>
                        <m:sub/>
                        <m:sup>
                          <m:r>
                            <a:rPr lang="en-US" altLang="zh-CN" i="1">
                              <a:latin typeface="Cambria Math" panose="02040503050406030204" pitchFamily="18" charset="0"/>
                            </a:rPr>
                            <m:t>𝑘</m:t>
                          </m:r>
                        </m:sup>
                      </m:sSubSup>
                      <m:r>
                        <a:rPr lang="en-US" altLang="zh-CN" b="0" i="1" smtClean="0">
                          <a:latin typeface="Cambria Math" panose="02040503050406030204" pitchFamily="18" charset="0"/>
                        </a:rPr>
                        <m:t>+</m:t>
                      </m:r>
                      <m:sSup>
                        <m:sSupPr>
                          <m:ctrlPr>
                            <a:rPr lang="en-US" altLang="zh-CN" i="1">
                              <a:latin typeface="Cambria Math" panose="02040503050406030204" pitchFamily="18" charset="0"/>
                              <a:ea typeface="Cambria Math" panose="02040503050406030204" pitchFamily="18" charset="0"/>
                            </a:rPr>
                          </m:ctrlPr>
                        </m:sSupPr>
                        <m:e>
                          <m:r>
                            <a:rPr lang="en-US" altLang="zh-CN">
                              <a:latin typeface="Cambria Math" panose="02040503050406030204" pitchFamily="18" charset="0"/>
                              <a:ea typeface="Cambria Math" panose="02040503050406030204" pitchFamily="18" charset="0"/>
                            </a:rPr>
                            <m:t>(</m:t>
                          </m:r>
                          <m:r>
                            <m:rPr>
                              <m:sty m:val="p"/>
                            </m:rPr>
                            <a:rPr lang="en-US" altLang="zh-CN">
                              <a:latin typeface="Cambria Math" panose="02040503050406030204" pitchFamily="18" charset="0"/>
                            </a:rPr>
                            <m:t>D</m:t>
                          </m:r>
                          <m:r>
                            <a:rPr lang="en-US" altLang="zh-CN">
                              <a:latin typeface="Cambria Math" panose="02040503050406030204" pitchFamily="18" charset="0"/>
                            </a:rPr>
                            <m:t>+</m:t>
                          </m:r>
                          <m:r>
                            <m:rPr>
                              <m:sty m:val="p"/>
                            </m:rPr>
                            <a:rPr lang="el-GR" altLang="zh-CN" i="1">
                              <a:latin typeface="Cambria Math" panose="02040503050406030204" pitchFamily="18" charset="0"/>
                              <a:ea typeface="Cambria Math" panose="02040503050406030204" pitchFamily="18" charset="0"/>
                            </a:rPr>
                            <m:t>ω</m:t>
                          </m:r>
                          <m:r>
                            <a:rPr lang="en-US" altLang="zh-CN" i="1">
                              <a:latin typeface="Cambria Math" panose="02040503050406030204" pitchFamily="18" charset="0"/>
                              <a:ea typeface="Cambria Math" panose="02040503050406030204" pitchFamily="18" charset="0"/>
                            </a:rPr>
                            <m:t>𝐿</m:t>
                          </m:r>
                          <m:r>
                            <a:rPr lang="en-US" altLang="zh-CN" i="1">
                              <a:latin typeface="Cambria Math" panose="02040503050406030204" pitchFamily="18" charset="0"/>
                              <a:ea typeface="Cambria Math" panose="02040503050406030204" pitchFamily="18" charset="0"/>
                            </a:rPr>
                            <m:t>)</m:t>
                          </m:r>
                        </m:e>
                        <m:sup>
                          <m:r>
                            <a:rPr lang="en-US" altLang="zh-CN" i="1">
                              <a:latin typeface="Cambria Math" panose="02040503050406030204" pitchFamily="18" charset="0"/>
                              <a:ea typeface="Cambria Math" panose="02040503050406030204" pitchFamily="18" charset="0"/>
                            </a:rPr>
                            <m:t>−1</m:t>
                          </m:r>
                        </m:sup>
                      </m:sSup>
                      <m:r>
                        <a:rPr lang="zh-CN" altLang="en-US" i="1" smtClean="0">
                          <a:latin typeface="Cambria Math" panose="02040503050406030204" pitchFamily="18" charset="0"/>
                          <a:ea typeface="Cambria Math" panose="02040503050406030204" pitchFamily="18" charset="0"/>
                        </a:rPr>
                        <m:t>𝜔</m:t>
                      </m:r>
                      <m:r>
                        <a:rPr lang="en-US" altLang="zh-CN" b="0" i="1" smtClean="0">
                          <a:latin typeface="Cambria Math" panose="02040503050406030204" pitchFamily="18" charset="0"/>
                          <a:ea typeface="Cambria Math" panose="02040503050406030204" pitchFamily="18" charset="0"/>
                        </a:rPr>
                        <m:t>𝑏</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3919165" y="5995446"/>
                <a:ext cx="7616444" cy="416653"/>
              </a:xfrm>
              <a:prstGeom prst="rect">
                <a:avLst/>
              </a:prstGeom>
              <a:blipFill>
                <a:blip r:embed="rId21"/>
                <a:stretch>
                  <a:fillRect/>
                </a:stretch>
              </a:blipFill>
            </p:spPr>
            <p:txBody>
              <a:bodyPr/>
              <a:lstStyle/>
              <a:p>
                <a:r>
                  <a:rPr lang="zh-CN" altLang="en-US">
                    <a:noFill/>
                  </a:rPr>
                  <a:t> </a:t>
                </a:r>
              </a:p>
            </p:txBody>
          </p:sp>
        </mc:Fallback>
      </mc:AlternateContent>
      <p:grpSp>
        <p:nvGrpSpPr>
          <p:cNvPr id="12" name="组合 11"/>
          <p:cNvGrpSpPr/>
          <p:nvPr/>
        </p:nvGrpSpPr>
        <p:grpSpPr>
          <a:xfrm>
            <a:off x="5015881" y="5543761"/>
            <a:ext cx="3816424" cy="913350"/>
            <a:chOff x="5015881" y="5543761"/>
            <a:chExt cx="3816424" cy="913350"/>
          </a:xfrm>
        </p:grpSpPr>
        <p:sp>
          <p:nvSpPr>
            <p:cNvPr id="10" name="矩形 9"/>
            <p:cNvSpPr/>
            <p:nvPr/>
          </p:nvSpPr>
          <p:spPr bwMode="auto">
            <a:xfrm>
              <a:off x="5015881" y="5995446"/>
              <a:ext cx="3816424" cy="461665"/>
            </a:xfrm>
            <a:prstGeom prst="rect">
              <a:avLst/>
            </a:prstGeom>
            <a:noFill/>
            <a:ln w="222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dirty="0">
                <a:ln>
                  <a:noFill/>
                </a:ln>
                <a:solidFill>
                  <a:schemeClr val="tx1"/>
                </a:solidFill>
                <a:effectLst/>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11" name="文本框 10"/>
                <p:cNvSpPr txBox="1"/>
                <p:nvPr/>
              </p:nvSpPr>
              <p:spPr>
                <a:xfrm>
                  <a:off x="6949282" y="5543761"/>
                  <a:ext cx="6496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solidFill>
                                  <a:srgbClr val="C00000"/>
                                </a:solidFill>
                                <a:latin typeface="Cambria Math" panose="02040503050406030204" pitchFamily="18" charset="0"/>
                              </a:rPr>
                            </m:ctrlPr>
                          </m:sSubPr>
                          <m:e>
                            <m:r>
                              <m:rPr>
                                <m:sty m:val="p"/>
                              </m:rPr>
                              <a:rPr lang="en-US" altLang="zh-CN" i="1" dirty="0">
                                <a:solidFill>
                                  <a:srgbClr val="C00000"/>
                                </a:solidFill>
                                <a:latin typeface="Cambria Math" panose="02040503050406030204" pitchFamily="18" charset="0"/>
                              </a:rPr>
                              <m:t>B</m:t>
                            </m:r>
                          </m:e>
                          <m:sub>
                            <m:r>
                              <a:rPr lang="zh-CN" altLang="en-US" i="1" dirty="0" smtClean="0">
                                <a:solidFill>
                                  <a:srgbClr val="C00000"/>
                                </a:solidFill>
                                <a:latin typeface="Cambria Math" panose="02040503050406030204" pitchFamily="18" charset="0"/>
                              </a:rPr>
                              <m:t>𝜔</m:t>
                            </m:r>
                          </m:sub>
                        </m:sSub>
                      </m:oMath>
                    </m:oMathPara>
                  </a14:m>
                  <a:endParaRPr lang="zh-CN" altLang="en-US" dirty="0">
                    <a:solidFill>
                      <a:srgbClr val="C00000"/>
                    </a:solidFill>
                  </a:endParaRPr>
                </a:p>
              </p:txBody>
            </p:sp>
          </mc:Choice>
          <mc:Fallback xmlns="">
            <p:sp>
              <p:nvSpPr>
                <p:cNvPr id="11" name="文本框 10"/>
                <p:cNvSpPr txBox="1">
                  <a:spLocks noRot="1" noChangeAspect="1" noMove="1" noResize="1" noEditPoints="1" noAdjustHandles="1" noChangeArrowheads="1" noChangeShapeType="1" noTextEdit="1"/>
                </p:cNvSpPr>
                <p:nvPr/>
              </p:nvSpPr>
              <p:spPr>
                <a:xfrm>
                  <a:off x="6949282" y="5543761"/>
                  <a:ext cx="649600" cy="461665"/>
                </a:xfrm>
                <a:prstGeom prst="rect">
                  <a:avLst/>
                </a:prstGeom>
                <a:blipFill>
                  <a:blip r:embed="rId22"/>
                  <a:stretch>
                    <a:fillRect/>
                  </a:stretch>
                </a:blipFill>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randombar(horizontal)">
                                      <p:cBhvr>
                                        <p:cTn id="13" dur="500"/>
                                        <p:tgtEl>
                                          <p:spTgt spid="15"/>
                                        </p:tgtEl>
                                      </p:cBhvr>
                                    </p:animEffect>
                                  </p:childTnLst>
                                </p:cTn>
                              </p:par>
                            </p:childTnLst>
                          </p:cTn>
                        </p:par>
                        <p:par>
                          <p:cTn id="14" fill="hold" nodeType="afterGroup">
                            <p:stCondLst>
                              <p:cond delay="500"/>
                            </p:stCondLst>
                            <p:childTnLst>
                              <p:par>
                                <p:cTn id="15" presetID="9"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0-#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utoUpdateAnimBg="0"/>
      <p:bldP spid="6" grpId="0" animBg="1"/>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a:spLocks noChangeArrowheads="1"/>
          </p:cNvSpPr>
          <p:nvPr/>
        </p:nvSpPr>
        <p:spPr bwMode="auto">
          <a:xfrm>
            <a:off x="2147888" y="260350"/>
            <a:ext cx="30670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800" b="1">
                <a:solidFill>
                  <a:schemeClr val="tx2"/>
                </a:solidFill>
              </a:rPr>
              <a:t>§</a:t>
            </a:r>
            <a:r>
              <a:rPr lang="en-US" altLang="zh-CN" sz="2800" b="1"/>
              <a:t>2. 6  </a:t>
            </a:r>
            <a:r>
              <a:rPr lang="zh-CN" altLang="en-US" sz="2800" b="1">
                <a:solidFill>
                  <a:schemeClr val="accent2"/>
                </a:solidFill>
              </a:rPr>
              <a:t>收敛性定理</a:t>
            </a:r>
          </a:p>
        </p:txBody>
      </p:sp>
      <p:sp>
        <p:nvSpPr>
          <p:cNvPr id="37898" name="Text Box 3"/>
          <p:cNvSpPr txBox="1">
            <a:spLocks noChangeArrowheads="1"/>
          </p:cNvSpPr>
          <p:nvPr/>
        </p:nvSpPr>
        <p:spPr bwMode="auto">
          <a:xfrm>
            <a:off x="2279650" y="1679575"/>
            <a:ext cx="281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rgbClr val="C00000"/>
                </a:solidFill>
                <a:latin typeface="楷体_GB2312" pitchFamily="49" charset="-122"/>
                <a:ea typeface="楷体_GB2312" pitchFamily="49" charset="-122"/>
              </a:rPr>
              <a:t>A</a:t>
            </a:r>
            <a:r>
              <a:rPr lang="zh-CN" altLang="en-US" sz="2400">
                <a:solidFill>
                  <a:srgbClr val="C00000"/>
                </a:solidFill>
                <a:latin typeface="楷体_GB2312" pitchFamily="49" charset="-122"/>
                <a:ea typeface="楷体_GB2312" pitchFamily="49" charset="-122"/>
              </a:rPr>
              <a:t>．向量的范数</a:t>
            </a:r>
          </a:p>
        </p:txBody>
      </p:sp>
      <p:sp>
        <p:nvSpPr>
          <p:cNvPr id="6" name="Rectangle 22"/>
          <p:cNvSpPr>
            <a:spLocks noChangeArrowheads="1"/>
          </p:cNvSpPr>
          <p:nvPr/>
        </p:nvSpPr>
        <p:spPr bwMode="auto">
          <a:xfrm>
            <a:off x="2206625" y="1125538"/>
            <a:ext cx="31686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chemeClr val="tx2"/>
                </a:solidFill>
                <a:latin typeface="宋体" panose="02010600030101010101" pitchFamily="2" charset="-122"/>
              </a:rPr>
              <a:t>1. </a:t>
            </a:r>
            <a:r>
              <a:rPr lang="zh-CN" altLang="en-US" sz="2400" b="1">
                <a:solidFill>
                  <a:schemeClr val="tx2"/>
                </a:solidFill>
                <a:latin typeface="宋体" panose="02010600030101010101" pitchFamily="2" charset="-122"/>
              </a:rPr>
              <a:t>向量和矩阵的范数</a:t>
            </a:r>
            <a:r>
              <a:rPr lang="zh-CN" altLang="en-US" sz="2400" b="1">
                <a:latin typeface="宋体" panose="02010600030101010101" pitchFamily="2" charset="-122"/>
              </a:rPr>
              <a:t> </a:t>
            </a:r>
            <a:endParaRPr lang="en-US" altLang="zh-CN" sz="2400" b="1">
              <a:latin typeface="宋体" panose="02010600030101010101" pitchFamily="2" charset="-122"/>
            </a:endParaRPr>
          </a:p>
        </p:txBody>
      </p:sp>
      <p:grpSp>
        <p:nvGrpSpPr>
          <p:cNvPr id="2" name="Group 44"/>
          <p:cNvGrpSpPr>
            <a:grpSpLocks/>
          </p:cNvGrpSpPr>
          <p:nvPr/>
        </p:nvGrpSpPr>
        <p:grpSpPr bwMode="auto">
          <a:xfrm>
            <a:off x="2171700" y="4373563"/>
            <a:ext cx="5868988" cy="568325"/>
            <a:chOff x="0" y="2315"/>
            <a:chExt cx="3697" cy="358"/>
          </a:xfrm>
        </p:grpSpPr>
        <p:sp>
          <p:nvSpPr>
            <p:cNvPr id="23572" name="Rectangle 25"/>
            <p:cNvSpPr>
              <a:spLocks noChangeArrowheads="1"/>
            </p:cNvSpPr>
            <p:nvPr/>
          </p:nvSpPr>
          <p:spPr bwMode="auto">
            <a:xfrm>
              <a:off x="0" y="2315"/>
              <a:ext cx="170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ea typeface="楷体_GB2312" pitchFamily="49" charset="-122"/>
                </a:rPr>
                <a:t> </a:t>
              </a:r>
              <a:r>
                <a:rPr lang="en-US" altLang="zh-CN" sz="2400"/>
                <a:t>(2) </a:t>
              </a:r>
              <a:r>
                <a:rPr lang="zh-CN" altLang="en-US" sz="2400"/>
                <a:t>齐次性：</a:t>
              </a:r>
            </a:p>
          </p:txBody>
        </p:sp>
        <mc:AlternateContent xmlns:mc="http://schemas.openxmlformats.org/markup-compatibility/2006">
          <mc:Choice xmlns:a14="http://schemas.microsoft.com/office/drawing/2010/main" Requires="a14">
            <p:sp>
              <p:nvSpPr>
                <p:cNvPr id="23573" name="Object 24"/>
                <p:cNvSpPr txBox="1"/>
                <p:nvPr/>
              </p:nvSpPr>
              <p:spPr bwMode="auto">
                <a:xfrm>
                  <a:off x="1323" y="2345"/>
                  <a:ext cx="2374" cy="328"/>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𝑥</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𝛼</m:t>
                            </m:r>
                          </m:e>
                        </m:d>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p:sp>
              <p:nvSpPr>
                <p:cNvPr id="23573" name="Object 24"/>
                <p:cNvSpPr txBox="1">
                  <a:spLocks noRot="1" noChangeAspect="1" noMove="1" noResize="1" noEditPoints="1" noAdjustHandles="1" noChangeArrowheads="1" noChangeShapeType="1" noTextEdit="1"/>
                </p:cNvSpPr>
                <p:nvPr/>
              </p:nvSpPr>
              <p:spPr bwMode="auto">
                <a:xfrm>
                  <a:off x="1323" y="2345"/>
                  <a:ext cx="2374" cy="328"/>
                </a:xfrm>
                <a:prstGeom prst="rect">
                  <a:avLst/>
                </a:prstGeom>
                <a:blipFill>
                  <a:blip r:embed="rId3"/>
                  <a:stretch>
                    <a:fillRect/>
                  </a:stretch>
                </a:blipFill>
                <a:ln>
                  <a:noFill/>
                </a:ln>
                <a:extLst/>
              </p:spPr>
              <p:txBody>
                <a:bodyPr/>
                <a:lstStyle/>
                <a:p>
                  <a:r>
                    <a:rPr lang="zh-CN" altLang="en-US">
                      <a:noFill/>
                    </a:rPr>
                    <a:t> </a:t>
                  </a:r>
                </a:p>
              </p:txBody>
            </p:sp>
          </mc:Fallback>
        </mc:AlternateContent>
      </p:grpSp>
      <p:grpSp>
        <p:nvGrpSpPr>
          <p:cNvPr id="3" name="Group 32"/>
          <p:cNvGrpSpPr>
            <a:grpSpLocks/>
          </p:cNvGrpSpPr>
          <p:nvPr/>
        </p:nvGrpSpPr>
        <p:grpSpPr bwMode="auto">
          <a:xfrm>
            <a:off x="2241550" y="5165725"/>
            <a:ext cx="6375400" cy="528638"/>
            <a:chOff x="134" y="2614"/>
            <a:chExt cx="4016" cy="333"/>
          </a:xfrm>
        </p:grpSpPr>
        <p:sp>
          <p:nvSpPr>
            <p:cNvPr id="37908" name="Rectangle 30"/>
            <p:cNvSpPr>
              <a:spLocks noChangeArrowheads="1"/>
            </p:cNvSpPr>
            <p:nvPr/>
          </p:nvSpPr>
          <p:spPr bwMode="auto">
            <a:xfrm>
              <a:off x="134" y="2632"/>
              <a:ext cx="1554" cy="291"/>
            </a:xfrm>
            <a:prstGeom prst="rect">
              <a:avLst/>
            </a:prstGeom>
            <a:noFill/>
            <a:ln w="9525">
              <a:noFill/>
              <a:miter lim="800000"/>
              <a:headEnd/>
              <a:tailEnd/>
            </a:ln>
          </p:spPr>
          <p:txBody>
            <a:bodyPr wrap="none" anchor="ctr">
              <a:spAutoFit/>
            </a:bodyPr>
            <a:lstStyle/>
            <a:p>
              <a:pPr eaLnBrk="1" hangingPunct="1">
                <a:defRPr/>
              </a:pPr>
              <a:r>
                <a:rPr lang="en-US" altLang="zh-CN" dirty="0">
                  <a:latin typeface="+mn-lt"/>
                  <a:ea typeface="+mn-ea"/>
                </a:rPr>
                <a:t>(3) </a:t>
              </a:r>
              <a:r>
                <a:rPr lang="zh-CN" altLang="en-US" dirty="0">
                  <a:latin typeface="+mn-lt"/>
                  <a:ea typeface="+mn-ea"/>
                </a:rPr>
                <a:t>三角不等式：</a:t>
              </a:r>
            </a:p>
          </p:txBody>
        </p:sp>
        <mc:AlternateContent xmlns:mc="http://schemas.openxmlformats.org/markup-compatibility/2006">
          <mc:Choice xmlns:a14="http://schemas.microsoft.com/office/drawing/2010/main" Requires="a14">
            <p:sp>
              <p:nvSpPr>
                <p:cNvPr id="23571" name="Object 29"/>
                <p:cNvSpPr txBox="1"/>
                <p:nvPr/>
              </p:nvSpPr>
              <p:spPr bwMode="auto">
                <a:xfrm>
                  <a:off x="1746" y="2614"/>
                  <a:ext cx="2404" cy="333"/>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𝑦</m:t>
                            </m:r>
                          </m:e>
                        </m:d>
                        <m:r>
                          <a:rPr lang="zh-CN" altLang="en-US" i="1">
                            <a:solidFill>
                              <a:srgbClr val="000000"/>
                            </a:solidFill>
                            <a:latin typeface="Cambria Math" panose="02040503050406030204" pitchFamily="18" charset="0"/>
                          </a:rPr>
                          <m:t>, </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3571" name="Object 29"/>
                <p:cNvSpPr txBox="1">
                  <a:spLocks noRot="1" noChangeAspect="1" noMove="1" noResize="1" noEditPoints="1" noAdjustHandles="1" noChangeArrowheads="1" noChangeShapeType="1" noTextEdit="1"/>
                </p:cNvSpPr>
                <p:nvPr/>
              </p:nvSpPr>
              <p:spPr bwMode="auto">
                <a:xfrm>
                  <a:off x="1746" y="2614"/>
                  <a:ext cx="2404" cy="333"/>
                </a:xfrm>
                <a:prstGeom prst="rect">
                  <a:avLst/>
                </a:prstGeom>
                <a:blipFill>
                  <a:blip r:embed="rId4"/>
                  <a:stretch>
                    <a:fillRect/>
                  </a:stretch>
                </a:blipFill>
                <a:ln>
                  <a:noFill/>
                </a:ln>
                <a:extLst/>
              </p:spPr>
              <p:txBody>
                <a:bodyPr/>
                <a:lstStyle/>
                <a:p>
                  <a:r>
                    <a:rPr lang="zh-CN" altLang="en-US">
                      <a:noFill/>
                    </a:rPr>
                    <a:t> </a:t>
                  </a:r>
                </a:p>
              </p:txBody>
            </p:sp>
          </mc:Fallback>
        </mc:AlternateContent>
      </p:grpSp>
      <p:grpSp>
        <p:nvGrpSpPr>
          <p:cNvPr id="5" name="组合 21"/>
          <p:cNvGrpSpPr>
            <a:grpSpLocks/>
          </p:cNvGrpSpPr>
          <p:nvPr/>
        </p:nvGrpSpPr>
        <p:grpSpPr bwMode="auto">
          <a:xfrm>
            <a:off x="2206625" y="5876925"/>
            <a:ext cx="7273925" cy="500063"/>
            <a:chOff x="682625" y="5876925"/>
            <a:chExt cx="7273925" cy="499914"/>
          </a:xfrm>
        </p:grpSpPr>
        <p:sp>
          <p:nvSpPr>
            <p:cNvPr id="23568" name="Rectangle 35"/>
            <p:cNvSpPr>
              <a:spLocks noChangeArrowheads="1"/>
            </p:cNvSpPr>
            <p:nvPr/>
          </p:nvSpPr>
          <p:spPr bwMode="auto">
            <a:xfrm>
              <a:off x="682625" y="5915014"/>
              <a:ext cx="7273925" cy="46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则称实值函数       为向量空间 </a:t>
              </a:r>
              <a:r>
                <a:rPr lang="en-US" altLang="zh-CN" sz="2400" i="1"/>
                <a:t>R</a:t>
              </a:r>
              <a:r>
                <a:rPr lang="en-US" altLang="zh-CN" sz="2400" i="1" baseline="30000"/>
                <a:t>n</a:t>
              </a:r>
              <a:r>
                <a:rPr lang="zh-CN" altLang="en-US" sz="2400"/>
                <a:t>上的一种</a:t>
              </a:r>
              <a:r>
                <a:rPr lang="zh-CN" altLang="en-US" sz="2400">
                  <a:solidFill>
                    <a:srgbClr val="C00000"/>
                  </a:solidFill>
                  <a:ea typeface="楷体_GB2312" pitchFamily="49" charset="-122"/>
                </a:rPr>
                <a:t>向量范数</a:t>
              </a:r>
              <a:r>
                <a:rPr lang="zh-CN" altLang="en-US" sz="2400">
                  <a:ea typeface="楷体_GB2312" pitchFamily="49" charset="-122"/>
                </a:rPr>
                <a:t>。</a:t>
              </a:r>
            </a:p>
          </p:txBody>
        </p:sp>
        <mc:AlternateContent xmlns:mc="http://schemas.openxmlformats.org/markup-compatibility/2006">
          <mc:Choice xmlns:a14="http://schemas.microsoft.com/office/drawing/2010/main" Requires="a14">
            <p:sp>
              <p:nvSpPr>
                <p:cNvPr id="23569" name="Object 34"/>
                <p:cNvSpPr txBox="1"/>
                <p:nvPr/>
              </p:nvSpPr>
              <p:spPr bwMode="auto">
                <a:xfrm>
                  <a:off x="2700338" y="5876925"/>
                  <a:ext cx="358775" cy="47942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23569" name="Object 34"/>
                <p:cNvSpPr txBox="1">
                  <a:spLocks noRot="1" noChangeAspect="1" noMove="1" noResize="1" noEditPoints="1" noAdjustHandles="1" noChangeArrowheads="1" noChangeShapeType="1" noTextEdit="1"/>
                </p:cNvSpPr>
                <p:nvPr/>
              </p:nvSpPr>
              <p:spPr bwMode="auto">
                <a:xfrm>
                  <a:off x="2700338" y="5876925"/>
                  <a:ext cx="358775" cy="479425"/>
                </a:xfrm>
                <a:prstGeom prst="rect">
                  <a:avLst/>
                </a:prstGeom>
                <a:blipFill>
                  <a:blip r:embed="rId5"/>
                  <a:stretch>
                    <a:fillRect/>
                  </a:stretch>
                </a:blipFill>
                <a:ln>
                  <a:noFill/>
                </a:ln>
                <a:extLst/>
              </p:spPr>
              <p:txBody>
                <a:bodyPr/>
                <a:lstStyle/>
                <a:p>
                  <a:r>
                    <a:rPr lang="zh-CN" altLang="en-US">
                      <a:noFill/>
                    </a:rPr>
                    <a:t> </a:t>
                  </a:r>
                </a:p>
              </p:txBody>
            </p:sp>
          </mc:Fallback>
        </mc:AlternateContent>
      </p:grpSp>
      <p:grpSp>
        <p:nvGrpSpPr>
          <p:cNvPr id="7" name="组合 20"/>
          <p:cNvGrpSpPr>
            <a:grpSpLocks/>
          </p:cNvGrpSpPr>
          <p:nvPr/>
        </p:nvGrpSpPr>
        <p:grpSpPr bwMode="auto">
          <a:xfrm>
            <a:off x="2063750" y="2133600"/>
            <a:ext cx="8424863" cy="2016125"/>
            <a:chOff x="539750" y="2133600"/>
            <a:chExt cx="8424863" cy="2016125"/>
          </a:xfrm>
        </p:grpSpPr>
        <p:grpSp>
          <p:nvGrpSpPr>
            <p:cNvPr id="23561" name="组合 33"/>
            <p:cNvGrpSpPr>
              <a:grpSpLocks/>
            </p:cNvGrpSpPr>
            <p:nvPr/>
          </p:nvGrpSpPr>
          <p:grpSpPr bwMode="auto">
            <a:xfrm>
              <a:off x="682625" y="3554413"/>
              <a:ext cx="8150225" cy="595312"/>
              <a:chOff x="682302" y="3555202"/>
              <a:chExt cx="8150527" cy="594524"/>
            </a:xfrm>
          </p:grpSpPr>
          <p:sp>
            <p:nvSpPr>
              <p:cNvPr id="23564" name="Rectangle 18"/>
              <p:cNvSpPr>
                <a:spLocks noChangeArrowheads="1"/>
              </p:cNvSpPr>
              <p:nvPr/>
            </p:nvSpPr>
            <p:spPr bwMode="auto">
              <a:xfrm>
                <a:off x="682302" y="3610690"/>
                <a:ext cx="7561543" cy="46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(1) </a:t>
                </a:r>
                <a:r>
                  <a:rPr lang="zh-CN" altLang="en-US" sz="2400">
                    <a:latin typeface="宋体" panose="02010600030101010101" pitchFamily="2" charset="-122"/>
                  </a:rPr>
                  <a:t>正定性</a:t>
                </a:r>
                <a:r>
                  <a:rPr lang="zh-CN" altLang="en-US" sz="2400"/>
                  <a:t>：                                 ，当且仅当           时</a:t>
                </a:r>
              </a:p>
            </p:txBody>
          </p:sp>
          <mc:AlternateContent xmlns:mc="http://schemas.openxmlformats.org/markup-compatibility/2006">
            <mc:Choice xmlns:a14="http://schemas.microsoft.com/office/drawing/2010/main" Requires="a14">
              <p:sp>
                <p:nvSpPr>
                  <p:cNvPr id="23565" name="Object 17"/>
                  <p:cNvSpPr txBox="1"/>
                  <p:nvPr/>
                </p:nvSpPr>
                <p:spPr bwMode="auto">
                  <a:xfrm>
                    <a:off x="2731587" y="3633788"/>
                    <a:ext cx="2311272" cy="515938"/>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r>
                            <a:rPr lang="zh-CN" altLang="en-US" i="1">
                              <a:solidFill>
                                <a:srgbClr val="000000"/>
                              </a:solidFill>
                              <a:latin typeface="Cambria Math" panose="02040503050406030204" pitchFamily="18" charset="0"/>
                            </a:rPr>
                            <m:t>≥0 ( ∀</m:t>
                          </m:r>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3565" name="Object 17"/>
                  <p:cNvSpPr txBox="1">
                    <a:spLocks noRot="1" noChangeAspect="1" noMove="1" noResize="1" noEditPoints="1" noAdjustHandles="1" noChangeArrowheads="1" noChangeShapeType="1" noTextEdit="1"/>
                  </p:cNvSpPr>
                  <p:nvPr/>
                </p:nvSpPr>
                <p:spPr bwMode="auto">
                  <a:xfrm>
                    <a:off x="2731587" y="3633788"/>
                    <a:ext cx="2311272" cy="515938"/>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566" name="Object 16"/>
                  <p:cNvSpPr txBox="1"/>
                  <p:nvPr/>
                </p:nvSpPr>
                <p:spPr bwMode="auto">
                  <a:xfrm>
                    <a:off x="6736933" y="3616325"/>
                    <a:ext cx="715241" cy="43815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=0</m:t>
                          </m:r>
                        </m:oMath>
                      </m:oMathPara>
                    </a14:m>
                    <a:endParaRPr lang="zh-CN" altLang="en-US"/>
                  </a:p>
                </p:txBody>
              </p:sp>
            </mc:Choice>
            <mc:Fallback>
              <p:sp>
                <p:nvSpPr>
                  <p:cNvPr id="23566" name="Object 16"/>
                  <p:cNvSpPr txBox="1">
                    <a:spLocks noRot="1" noChangeAspect="1" noMove="1" noResize="1" noEditPoints="1" noAdjustHandles="1" noChangeArrowheads="1" noChangeShapeType="1" noTextEdit="1"/>
                  </p:cNvSpPr>
                  <p:nvPr/>
                </p:nvSpPr>
                <p:spPr bwMode="auto">
                  <a:xfrm>
                    <a:off x="6736933" y="3616325"/>
                    <a:ext cx="715241" cy="43815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3567" name="Object 15"/>
                  <p:cNvSpPr txBox="1"/>
                  <p:nvPr/>
                </p:nvSpPr>
                <p:spPr bwMode="auto">
                  <a:xfrm>
                    <a:off x="7824562" y="3555202"/>
                    <a:ext cx="1008267" cy="519736"/>
                  </a:xfrm>
                  <a:prstGeom prst="rect">
                    <a:avLst/>
                  </a:prstGeom>
                  <a:noFill/>
                  <a:ln>
                    <a:noFill/>
                  </a:ln>
                  <a:extLst/>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r>
                            <a:rPr lang="zh-CN" altLang="en-US" i="1">
                              <a:solidFill>
                                <a:srgbClr val="000000"/>
                              </a:solidFill>
                              <a:latin typeface="Cambria Math" panose="02040503050406030204" pitchFamily="18" charset="0"/>
                            </a:rPr>
                            <m:t>=0</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p:sp>
                <p:nvSpPr>
                  <p:cNvPr id="23567" name="Object 15"/>
                  <p:cNvSpPr txBox="1">
                    <a:spLocks noRot="1" noChangeAspect="1" noMove="1" noResize="1" noEditPoints="1" noAdjustHandles="1" noChangeArrowheads="1" noChangeShapeType="1" noTextEdit="1"/>
                  </p:cNvSpPr>
                  <p:nvPr/>
                </p:nvSpPr>
                <p:spPr bwMode="auto">
                  <a:xfrm>
                    <a:off x="7824562" y="3555202"/>
                    <a:ext cx="1008267" cy="519736"/>
                  </a:xfrm>
                  <a:prstGeom prst="rect">
                    <a:avLst/>
                  </a:prstGeom>
                  <a:blipFill>
                    <a:blip r:embed="rId8"/>
                    <a:stretch>
                      <a:fillRect/>
                    </a:stretch>
                  </a:blipFill>
                  <a:ln>
                    <a:noFill/>
                  </a:ln>
                  <a:extLst/>
                </p:spPr>
                <p:txBody>
                  <a:bodyPr/>
                  <a:lstStyle/>
                  <a:p>
                    <a:r>
                      <a:rPr lang="zh-CN" altLang="en-US">
                        <a:noFill/>
                      </a:rPr>
                      <a:t> </a:t>
                    </a:r>
                  </a:p>
                </p:txBody>
              </p:sp>
            </mc:Fallback>
          </mc:AlternateContent>
        </p:grpSp>
        <p:sp>
          <p:nvSpPr>
            <p:cNvPr id="23562" name="Text Box 4"/>
            <p:cNvSpPr txBox="1">
              <a:spLocks noChangeArrowheads="1"/>
            </p:cNvSpPr>
            <p:nvPr/>
          </p:nvSpPr>
          <p:spPr bwMode="auto">
            <a:xfrm>
              <a:off x="539750" y="2133600"/>
              <a:ext cx="8424863" cy="1222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1" dirty="0">
                  <a:solidFill>
                    <a:schemeClr val="tx2"/>
                  </a:solidFill>
                </a:rPr>
                <a:t>定义</a:t>
              </a:r>
              <a:r>
                <a:rPr lang="en-US" altLang="zh-CN" sz="2400" b="1" dirty="0">
                  <a:solidFill>
                    <a:schemeClr val="tx2"/>
                  </a:solidFill>
                </a:rPr>
                <a:t>1</a:t>
              </a:r>
              <a:r>
                <a:rPr lang="zh-CN" altLang="en-US" sz="2400" dirty="0"/>
                <a:t>：设定义在 </a:t>
              </a:r>
              <a:r>
                <a:rPr lang="en-US" altLang="zh-CN" sz="2800" i="1" dirty="0"/>
                <a:t>n</a:t>
              </a:r>
              <a:r>
                <a:rPr lang="zh-CN" altLang="en-US" sz="2400" dirty="0"/>
                <a:t> 维向量空间 </a:t>
              </a:r>
              <a:r>
                <a:rPr lang="en-US" altLang="zh-CN" sz="2400" i="1" dirty="0"/>
                <a:t>R</a:t>
              </a:r>
              <a:r>
                <a:rPr lang="en-US" altLang="zh-CN" sz="2400" i="1" baseline="30000" dirty="0"/>
                <a:t>n</a:t>
              </a:r>
              <a:r>
                <a:rPr lang="zh-CN" altLang="en-US" sz="2400" dirty="0"/>
                <a:t> 上的</a:t>
              </a:r>
              <a:r>
                <a:rPr lang="zh-CN" altLang="en-US" sz="2400" dirty="0">
                  <a:solidFill>
                    <a:srgbClr val="FF0000"/>
                  </a:solidFill>
                </a:rPr>
                <a:t>非负实值函数</a:t>
              </a:r>
              <a:endParaRPr lang="en-US" altLang="zh-CN" sz="2400" dirty="0">
                <a:solidFill>
                  <a:srgbClr val="FF0000"/>
                </a:solidFill>
              </a:endParaRPr>
            </a:p>
            <a:p>
              <a:pPr eaLnBrk="1" hangingPunct="1">
                <a:lnSpc>
                  <a:spcPct val="150000"/>
                </a:lnSpc>
                <a:spcBef>
                  <a:spcPct val="0"/>
                </a:spcBef>
                <a:buFontTx/>
                <a:buNone/>
              </a:pPr>
              <a:r>
                <a:rPr lang="en-US" altLang="zh-CN" sz="2400" dirty="0"/>
                <a:t>        </a:t>
              </a:r>
              <a:r>
                <a:rPr lang="zh-CN" altLang="en-US" sz="2400" dirty="0"/>
                <a:t>满足 ：</a:t>
              </a:r>
              <a:endParaRPr lang="en-US" altLang="zh-CN" sz="2400" dirty="0"/>
            </a:p>
          </p:txBody>
        </p:sp>
        <mc:AlternateContent xmlns:mc="http://schemas.openxmlformats.org/markup-compatibility/2006">
          <mc:Choice xmlns:a14="http://schemas.microsoft.com/office/drawing/2010/main" Requires="a14">
            <p:sp>
              <p:nvSpPr>
                <p:cNvPr id="23563" name="Object 13"/>
                <p:cNvSpPr txBox="1"/>
                <p:nvPr/>
              </p:nvSpPr>
              <p:spPr bwMode="auto">
                <a:xfrm>
                  <a:off x="7740352" y="2276872"/>
                  <a:ext cx="366712" cy="43180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23563" name="Object 13"/>
                <p:cNvSpPr txBox="1">
                  <a:spLocks noRot="1" noChangeAspect="1" noMove="1" noResize="1" noEditPoints="1" noAdjustHandles="1" noChangeArrowheads="1" noChangeShapeType="1" noTextEdit="1"/>
                </p:cNvSpPr>
                <p:nvPr/>
              </p:nvSpPr>
              <p:spPr bwMode="auto">
                <a:xfrm>
                  <a:off x="7740352" y="2276872"/>
                  <a:ext cx="366712" cy="431800"/>
                </a:xfrm>
                <a:prstGeom prst="rect">
                  <a:avLst/>
                </a:prstGeom>
                <a:blipFill>
                  <a:blip r:embed="rId9"/>
                  <a:stretch>
                    <a:fillRect/>
                  </a:stretch>
                </a:blipFill>
                <a:ln>
                  <a:noFill/>
                </a:ln>
                <a:extLst/>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par>
                          <p:cTn id="8" fill="hold" nodeType="afterGroup">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1000"/>
                                        <p:tgtEl>
                                          <p:spTgt spid="6"/>
                                        </p:tgtEl>
                                      </p:cBhvr>
                                    </p:animEffect>
                                  </p:childTnLst>
                                </p:cTn>
                              </p:par>
                            </p:childTnLst>
                          </p:cTn>
                        </p:par>
                        <p:par>
                          <p:cTn id="12" fill="hold" nodeType="afterGroup">
                            <p:stCondLst>
                              <p:cond delay="2000"/>
                            </p:stCondLst>
                            <p:childTnLst>
                              <p:par>
                                <p:cTn id="13" presetID="22" presetClass="entr" presetSubtype="1" fill="hold" grpId="0" nodeType="afterEffect">
                                  <p:stCondLst>
                                    <p:cond delay="0"/>
                                  </p:stCondLst>
                                  <p:childTnLst>
                                    <p:set>
                                      <p:cBhvr>
                                        <p:cTn id="14" dur="1" fill="hold">
                                          <p:stCondLst>
                                            <p:cond delay="0"/>
                                          </p:stCondLst>
                                        </p:cTn>
                                        <p:tgtEl>
                                          <p:spTgt spid="37898"/>
                                        </p:tgtEl>
                                        <p:attrNameLst>
                                          <p:attrName>style.visibility</p:attrName>
                                        </p:attrNameLst>
                                      </p:cBhvr>
                                      <p:to>
                                        <p:strVal val="visible"/>
                                      </p:to>
                                    </p:set>
                                    <p:animEffect transition="in" filter="wipe(up)">
                                      <p:cBhvr>
                                        <p:cTn id="15" dur="1000"/>
                                        <p:tgtEl>
                                          <p:spTgt spid="3789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1"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10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6"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strips(downRight)">
                                      <p:cBhvr>
                                        <p:cTn id="25" dur="1000"/>
                                        <p:tgtEl>
                                          <p:spTgt spid="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4"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slide(fromBottom)">
                                      <p:cBhvr>
                                        <p:cTn id="30" dur="500"/>
                                        <p:tgtEl>
                                          <p:spTgt spid="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7898"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911424" y="764704"/>
                <a:ext cx="10772886" cy="4355038"/>
              </a:xfrm>
              <a:prstGeom prst="rect">
                <a:avLst/>
              </a:prstGeom>
              <a:noFill/>
            </p:spPr>
            <p:txBody>
              <a:bodyPr wrap="none" rtlCol="0">
                <a:spAutoFit/>
              </a:bodyPr>
              <a:lstStyle/>
              <a:p>
                <a:pPr>
                  <a:lnSpc>
                    <a:spcPct val="150000"/>
                  </a:lnSpc>
                  <a:spcBef>
                    <a:spcPts val="600"/>
                  </a:spcBef>
                </a:pPr>
                <a:r>
                  <a:rPr lang="zh-CN" altLang="en-US" sz="2800" dirty="0"/>
                  <a:t>例：对任给</a:t>
                </a:r>
                <a14:m>
                  <m:oMath xmlns:m="http://schemas.openxmlformats.org/officeDocument/2006/math">
                    <m:r>
                      <a:rPr lang="en-US" altLang="zh-CN" sz="2800" b="0" i="1" smtClean="0">
                        <a:latin typeface="Cambria Math" panose="02040503050406030204" pitchFamily="18" charset="0"/>
                      </a:rPr>
                      <m:t>𝑥</m:t>
                    </m:r>
                    <m:r>
                      <a:rPr lang="en-US" altLang="zh-CN" sz="2800" b="0" i="1" smtClean="0">
                        <a:latin typeface="Cambria Math" panose="02040503050406030204" pitchFamily="18" charset="0"/>
                      </a:rPr>
                      <m:t>=</m:t>
                    </m:r>
                    <m:sSup>
                      <m:sSupPr>
                        <m:ctrlPr>
                          <a:rPr lang="en-US" altLang="zh-CN" sz="2800" b="0" i="1" smtClean="0">
                            <a:latin typeface="Cambria Math" panose="02040503050406030204" pitchFamily="18" charset="0"/>
                          </a:rPr>
                        </m:ctrlPr>
                      </m:sSupPr>
                      <m:e>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m:t>
                            </m:r>
                          </m:sub>
                        </m:sSub>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3</m:t>
                            </m:r>
                          </m:sub>
                        </m:sSub>
                        <m:r>
                          <a:rPr lang="en-US" altLang="zh-CN" sz="2800" b="0" i="1" smtClean="0">
                            <a:latin typeface="Cambria Math" panose="02040503050406030204" pitchFamily="18" charset="0"/>
                          </a:rPr>
                          <m:t>)</m:t>
                        </m:r>
                      </m:e>
                      <m:sup>
                        <m:r>
                          <a:rPr lang="en-US" altLang="zh-CN" sz="2800" b="0" i="1" smtClean="0">
                            <a:latin typeface="Cambria Math" panose="02040503050406030204" pitchFamily="18" charset="0"/>
                          </a:rPr>
                          <m:t>𝑇</m:t>
                        </m:r>
                      </m:sup>
                    </m:sSup>
                    <m:r>
                      <a:rPr lang="en-US" altLang="zh-CN" sz="2800" b="0" i="1" smtClean="0">
                        <a:latin typeface="Cambria Math" panose="02040503050406030204" pitchFamily="18" charset="0"/>
                        <a:ea typeface="Cambria Math" panose="02040503050406030204" pitchFamily="18" charset="0"/>
                      </a:rPr>
                      <m:t>∈</m:t>
                    </m:r>
                    <m:sSup>
                      <m:sSupPr>
                        <m:ctrlPr>
                          <a:rPr lang="en-US" altLang="zh-CN" sz="2800" b="0" i="1" smtClean="0">
                            <a:latin typeface="Cambria Math" panose="02040503050406030204" pitchFamily="18" charset="0"/>
                            <a:ea typeface="Cambria Math" panose="02040503050406030204" pitchFamily="18" charset="0"/>
                          </a:rPr>
                        </m:ctrlPr>
                      </m:sSupPr>
                      <m:e>
                        <m:r>
                          <a:rPr lang="en-US" altLang="zh-CN" sz="2800" b="0" i="1" smtClean="0">
                            <a:latin typeface="Cambria Math" panose="02040503050406030204" pitchFamily="18" charset="0"/>
                            <a:ea typeface="Cambria Math" panose="02040503050406030204" pitchFamily="18" charset="0"/>
                          </a:rPr>
                          <m:t>𝑅</m:t>
                        </m:r>
                      </m:e>
                      <m:sup>
                        <m:r>
                          <a:rPr lang="en-US" altLang="zh-CN" sz="2800" b="0" i="1" smtClean="0">
                            <a:latin typeface="Cambria Math" panose="02040503050406030204" pitchFamily="18" charset="0"/>
                            <a:ea typeface="Cambria Math" panose="02040503050406030204" pitchFamily="18" charset="0"/>
                          </a:rPr>
                          <m:t>3</m:t>
                        </m:r>
                      </m:sup>
                    </m:sSup>
                  </m:oMath>
                </a14:m>
                <a:r>
                  <a:rPr lang="en-US" altLang="zh-CN" sz="2800" dirty="0"/>
                  <a:t>,</a:t>
                </a:r>
                <a:r>
                  <a:rPr lang="zh-CN" altLang="en-US" sz="2800" dirty="0"/>
                  <a:t>试问下列函数是否构成向量范数？</a:t>
                </a:r>
                <a:endParaRPr lang="en-US" altLang="zh-CN" sz="2800" dirty="0"/>
              </a:p>
              <a:p>
                <a:pPr>
                  <a:lnSpc>
                    <a:spcPct val="150000"/>
                  </a:lnSpc>
                  <a:spcBef>
                    <a:spcPts val="600"/>
                  </a:spcBef>
                </a:pPr>
                <a:r>
                  <a:rPr lang="en-US" altLang="zh-CN" sz="2800" dirty="0"/>
                  <a:t>1</a:t>
                </a:r>
                <a:r>
                  <a:rPr lang="zh-CN" altLang="en-US" sz="2800" dirty="0"/>
                  <a:t>）</a:t>
                </a:r>
                <a14:m>
                  <m:oMath xmlns:m="http://schemas.openxmlformats.org/officeDocument/2006/math">
                    <m:d>
                      <m:dPr>
                        <m:begChr m:val="|"/>
                        <m:endChr m:val="|"/>
                        <m:ctrlPr>
                          <a:rPr lang="en-US" altLang="zh-CN" sz="2800" b="0" i="1" smtClean="0">
                            <a:latin typeface="Cambria Math" panose="02040503050406030204" pitchFamily="18" charset="0"/>
                          </a:rPr>
                        </m:ctrlPr>
                      </m:dPr>
                      <m:e>
                        <m:sSub>
                          <m:sSubPr>
                            <m:ctrlPr>
                              <a:rPr lang="en-US" altLang="zh-CN" sz="2800" b="0" i="1" smtClean="0">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e>
                    </m:d>
                    <m:r>
                      <a:rPr lang="en-US" altLang="zh-CN" sz="2800" b="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2</m:t>
                            </m:r>
                          </m:sub>
                        </m:sSub>
                      </m:e>
                    </m:d>
                    <m:r>
                      <a:rPr lang="en-US" altLang="zh-CN" sz="2800" b="0" i="1" smtClean="0">
                        <a:latin typeface="Cambria Math" panose="02040503050406030204" pitchFamily="18" charset="0"/>
                      </a:rPr>
                      <m:t>−2|</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3</m:t>
                        </m:r>
                      </m:sub>
                    </m:sSub>
                    <m:r>
                      <a:rPr lang="en-US" altLang="zh-CN" sz="2800" b="0" i="1" smtClean="0">
                        <a:latin typeface="Cambria Math" panose="02040503050406030204" pitchFamily="18" charset="0"/>
                      </a:rPr>
                      <m:t>|</m:t>
                    </m:r>
                  </m:oMath>
                </a14:m>
                <a:endParaRPr lang="en-US" altLang="zh-CN" sz="2800" dirty="0"/>
              </a:p>
              <a:p>
                <a:pPr>
                  <a:lnSpc>
                    <a:spcPct val="150000"/>
                  </a:lnSpc>
                  <a:spcBef>
                    <a:spcPts val="600"/>
                  </a:spcBef>
                </a:pPr>
                <a:r>
                  <a:rPr lang="en-US" altLang="zh-CN" sz="2800" dirty="0"/>
                  <a:t>2) </a:t>
                </a:r>
                <a14:m>
                  <m:oMath xmlns:m="http://schemas.openxmlformats.org/officeDocument/2006/math">
                    <m:d>
                      <m:dPr>
                        <m:begChr m:val="|"/>
                        <m:endChr m:val="|"/>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e>
                    </m:d>
                    <m:r>
                      <a:rPr lang="en-US" altLang="zh-CN" sz="2800" i="1">
                        <a:latin typeface="Cambria Math" panose="02040503050406030204" pitchFamily="18" charset="0"/>
                      </a:rPr>
                      <m:t>+</m:t>
                    </m:r>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b="0" i="1" smtClean="0">
                        <a:latin typeface="Cambria Math" panose="02040503050406030204" pitchFamily="18" charset="0"/>
                      </a:rPr>
                      <m:t>+2</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b="0" i="1" smtClean="0">
                            <a:latin typeface="Cambria Math" panose="02040503050406030204" pitchFamily="18" charset="0"/>
                          </a:rPr>
                          <m:t>3</m:t>
                        </m:r>
                      </m:sub>
                    </m:sSub>
                    <m:r>
                      <a:rPr lang="en-US" altLang="zh-CN" sz="2800" i="1">
                        <a:latin typeface="Cambria Math" panose="02040503050406030204" pitchFamily="18" charset="0"/>
                      </a:rPr>
                      <m:t>|</m:t>
                    </m:r>
                  </m:oMath>
                </a14:m>
                <a:endParaRPr lang="en-US" altLang="zh-CN" sz="2800" dirty="0"/>
              </a:p>
              <a:p>
                <a:pPr>
                  <a:lnSpc>
                    <a:spcPct val="150000"/>
                  </a:lnSpc>
                  <a:spcBef>
                    <a:spcPts val="600"/>
                  </a:spcBef>
                </a:pPr>
                <a:r>
                  <a:rPr lang="en-US" altLang="zh-CN" sz="2800" dirty="0"/>
                  <a:t>3) </a:t>
                </a:r>
                <a14:m>
                  <m:oMath xmlns:m="http://schemas.openxmlformats.org/officeDocument/2006/math">
                    <m:sSup>
                      <m:sSupPr>
                        <m:ctrlPr>
                          <a:rPr lang="en-US" altLang="zh-CN" sz="2800" i="1" smtClean="0">
                            <a:latin typeface="Cambria Math" panose="02040503050406030204" pitchFamily="18" charset="0"/>
                          </a:rPr>
                        </m:ctrlPr>
                      </m:sSupPr>
                      <m:e>
                        <m:d>
                          <m:dPr>
                            <m:begChr m:val="|"/>
                            <m:endChr m:val="|"/>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e>
                        </m:d>
                      </m:e>
                      <m:sup>
                        <m:r>
                          <a:rPr lang="en-US" altLang="zh-CN" sz="2800" b="0" i="1" smtClean="0">
                            <a:latin typeface="Cambria Math" panose="02040503050406030204" pitchFamily="18" charset="0"/>
                          </a:rPr>
                          <m:t>4</m:t>
                        </m:r>
                      </m:sup>
                    </m:sSup>
                    <m:r>
                      <a:rPr lang="en-US" altLang="zh-CN" sz="2800" i="1">
                        <a:latin typeface="Cambria Math" panose="02040503050406030204" pitchFamily="18" charset="0"/>
                      </a:rPr>
                      <m:t>+</m:t>
                    </m:r>
                    <m:sSup>
                      <m:sSupPr>
                        <m:ctrlPr>
                          <a:rPr lang="en-US" altLang="zh-CN" sz="2800" i="1">
                            <a:latin typeface="Cambria Math" panose="02040503050406030204" pitchFamily="18" charset="0"/>
                          </a:rPr>
                        </m:ctrlPr>
                      </m:sSupPr>
                      <m:e>
                        <m:d>
                          <m:dPr>
                            <m:begChr m:val="|"/>
                            <m:endChr m:val="|"/>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e>
                        </m:d>
                      </m:e>
                      <m:sup>
                        <m:r>
                          <a:rPr lang="en-US" altLang="zh-CN" sz="2800" i="1">
                            <a:latin typeface="Cambria Math" panose="02040503050406030204" pitchFamily="18" charset="0"/>
                          </a:rPr>
                          <m:t>4</m:t>
                        </m:r>
                      </m:sup>
                    </m:sSup>
                    <m:r>
                      <a:rPr lang="en-US" altLang="zh-CN" sz="2800" b="0" i="1" smtClean="0">
                        <a:latin typeface="Cambria Math" panose="02040503050406030204" pitchFamily="18" charset="0"/>
                      </a:rPr>
                      <m:t>+</m:t>
                    </m:r>
                    <m:sSup>
                      <m:sSupPr>
                        <m:ctrlPr>
                          <a:rPr lang="en-US" altLang="zh-CN" sz="2800" i="1">
                            <a:latin typeface="Cambria Math" panose="02040503050406030204" pitchFamily="18" charset="0"/>
                          </a:rPr>
                        </m:ctrlPr>
                      </m:sSupPr>
                      <m:e>
                        <m:d>
                          <m:dPr>
                            <m:begChr m:val="|"/>
                            <m:endChr m:val="|"/>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3</m:t>
                                </m:r>
                              </m:sub>
                            </m:sSub>
                          </m:e>
                        </m:d>
                      </m:e>
                      <m:sup>
                        <m:r>
                          <a:rPr lang="en-US" altLang="zh-CN" sz="2800" i="1">
                            <a:latin typeface="Cambria Math" panose="02040503050406030204" pitchFamily="18" charset="0"/>
                          </a:rPr>
                          <m:t>4</m:t>
                        </m:r>
                      </m:sup>
                    </m:sSup>
                  </m:oMath>
                </a14:m>
                <a:endParaRPr lang="en-US" altLang="zh-CN" sz="2800" dirty="0"/>
              </a:p>
              <a:p>
                <a:pPr>
                  <a:lnSpc>
                    <a:spcPct val="150000"/>
                  </a:lnSpc>
                  <a:spcBef>
                    <a:spcPts val="600"/>
                  </a:spcBef>
                </a:pPr>
                <a:r>
                  <a:rPr lang="en-US" altLang="zh-CN" sz="2800" dirty="0"/>
                  <a:t>4)</a:t>
                </a:r>
                <a14:m>
                  <m:oMath xmlns:m="http://schemas.openxmlformats.org/officeDocument/2006/math">
                    <m:d>
                      <m:dPr>
                        <m:begChr m:val="|"/>
                        <m:endChr m:val="|"/>
                        <m:ctrlPr>
                          <a:rPr lang="en-US" altLang="zh-CN" sz="2800" i="1">
                            <a:latin typeface="Cambria Math" panose="02040503050406030204" pitchFamily="18" charset="0"/>
                          </a:rPr>
                        </m:ctrlPr>
                      </m:dPr>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1</m:t>
                            </m:r>
                          </m:sub>
                        </m:sSub>
                      </m:e>
                    </m:d>
                    <m:r>
                      <a:rPr lang="en-US" altLang="zh-CN" sz="2800" i="1">
                        <a:latin typeface="Cambria Math" panose="02040503050406030204" pitchFamily="18" charset="0"/>
                      </a:rPr>
                      <m:t>+</m:t>
                    </m:r>
                    <m:r>
                      <a:rPr lang="en-US" altLang="zh-CN" sz="2800" b="0" i="1" smtClean="0">
                        <a:latin typeface="Cambria Math" panose="02040503050406030204" pitchFamily="18" charset="0"/>
                      </a:rPr>
                      <m:t>3</m:t>
                    </m:r>
                    <m:r>
                      <a:rPr lang="en-US" altLang="zh-CN" sz="2800" i="1">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2</m:t>
                        </m:r>
                      </m:sub>
                    </m:sSub>
                    <m:r>
                      <a:rPr lang="en-US" altLang="zh-CN" sz="2800" b="0" i="1" smtClean="0">
                        <a:latin typeface="Cambria Math" panose="02040503050406030204" pitchFamily="18" charset="0"/>
                      </a:rPr>
                      <m:t>|</m:t>
                    </m:r>
                    <m:r>
                      <a:rPr lang="en-US" altLang="zh-CN" sz="2800" i="1">
                        <a:latin typeface="Cambria Math" panose="02040503050406030204" pitchFamily="18" charset="0"/>
                      </a:rPr>
                      <m:t>+2</m:t>
                    </m:r>
                    <m:r>
                      <a:rPr lang="en-US" altLang="zh-CN" sz="2800" b="0" i="1" smtClean="0">
                        <a:latin typeface="Cambria Math" panose="02040503050406030204" pitchFamily="18" charset="0"/>
                      </a:rPr>
                      <m:t>|</m:t>
                    </m:r>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𝑥</m:t>
                        </m:r>
                      </m:e>
                      <m:sub>
                        <m:r>
                          <a:rPr lang="en-US" altLang="zh-CN" sz="2800" i="1">
                            <a:latin typeface="Cambria Math" panose="02040503050406030204" pitchFamily="18" charset="0"/>
                          </a:rPr>
                          <m:t>3</m:t>
                        </m:r>
                      </m:sub>
                    </m:sSub>
                    <m:r>
                      <a:rPr lang="en-US" altLang="zh-CN" sz="2800" i="1">
                        <a:latin typeface="Cambria Math" panose="02040503050406030204" pitchFamily="18" charset="0"/>
                      </a:rPr>
                      <m:t>|</m:t>
                    </m:r>
                  </m:oMath>
                </a14:m>
                <a:endParaRPr lang="en-US" altLang="zh-CN" sz="2800" dirty="0"/>
              </a:p>
              <a:p>
                <a:pPr>
                  <a:lnSpc>
                    <a:spcPct val="150000"/>
                  </a:lnSpc>
                  <a:spcBef>
                    <a:spcPts val="600"/>
                  </a:spcBef>
                </a:pPr>
                <a:endParaRPr lang="en-US" altLang="zh-CN" sz="2800" dirty="0"/>
              </a:p>
            </p:txBody>
          </p:sp>
        </mc:Choice>
        <mc:Fallback xmlns="">
          <p:sp>
            <p:nvSpPr>
              <p:cNvPr id="4" name="文本框 3"/>
              <p:cNvSpPr txBox="1">
                <a:spLocks noRot="1" noChangeAspect="1" noMove="1" noResize="1" noEditPoints="1" noAdjustHandles="1" noChangeArrowheads="1" noChangeShapeType="1" noTextEdit="1"/>
              </p:cNvSpPr>
              <p:nvPr/>
            </p:nvSpPr>
            <p:spPr>
              <a:xfrm>
                <a:off x="911424" y="764704"/>
                <a:ext cx="10772886" cy="4355038"/>
              </a:xfrm>
              <a:prstGeom prst="rect">
                <a:avLst/>
              </a:prstGeom>
              <a:blipFill>
                <a:blip r:embed="rId2"/>
                <a:stretch>
                  <a:fillRect l="-1188"/>
                </a:stretch>
              </a:blipFill>
            </p:spPr>
            <p:txBody>
              <a:bodyPr/>
              <a:lstStyle/>
              <a:p>
                <a:r>
                  <a:rPr lang="zh-CN" altLang="en-US">
                    <a:noFill/>
                  </a:rPr>
                  <a:t> </a:t>
                </a:r>
              </a:p>
            </p:txBody>
          </p:sp>
        </mc:Fallback>
      </mc:AlternateContent>
      <p:sp>
        <p:nvSpPr>
          <p:cNvPr id="5" name="文本框 4"/>
          <p:cNvSpPr txBox="1"/>
          <p:nvPr/>
        </p:nvSpPr>
        <p:spPr>
          <a:xfrm>
            <a:off x="5591944" y="1556792"/>
            <a:ext cx="5511445" cy="2908489"/>
          </a:xfrm>
          <a:prstGeom prst="rect">
            <a:avLst/>
          </a:prstGeom>
          <a:noFill/>
        </p:spPr>
        <p:txBody>
          <a:bodyPr wrap="none" rtlCol="0">
            <a:spAutoFit/>
          </a:bodyPr>
          <a:lstStyle/>
          <a:p>
            <a:pPr>
              <a:lnSpc>
                <a:spcPct val="150000"/>
              </a:lnSpc>
              <a:spcBef>
                <a:spcPts val="600"/>
              </a:spcBef>
            </a:pPr>
            <a:r>
              <a:rPr lang="zh-CN" altLang="en-US" sz="2800" dirty="0">
                <a:solidFill>
                  <a:srgbClr val="7030A0"/>
                </a:solidFill>
              </a:rPr>
              <a:t>不满足非负性</a:t>
            </a:r>
            <a:endParaRPr lang="en-US" altLang="zh-CN" sz="2800" dirty="0">
              <a:solidFill>
                <a:srgbClr val="7030A0"/>
              </a:solidFill>
            </a:endParaRPr>
          </a:p>
          <a:p>
            <a:pPr>
              <a:lnSpc>
                <a:spcPct val="150000"/>
              </a:lnSpc>
              <a:spcBef>
                <a:spcPts val="600"/>
              </a:spcBef>
            </a:pPr>
            <a:r>
              <a:rPr lang="zh-CN" altLang="en-US" sz="2800" dirty="0">
                <a:solidFill>
                  <a:srgbClr val="7030A0"/>
                </a:solidFill>
              </a:rPr>
              <a:t>不满足非负性，例如（</a:t>
            </a:r>
            <a:r>
              <a:rPr lang="en-US" altLang="zh-CN" sz="2800" dirty="0">
                <a:solidFill>
                  <a:srgbClr val="7030A0"/>
                </a:solidFill>
              </a:rPr>
              <a:t>0</a:t>
            </a:r>
            <a:r>
              <a:rPr lang="zh-CN" altLang="en-US" sz="2800" dirty="0">
                <a:solidFill>
                  <a:srgbClr val="7030A0"/>
                </a:solidFill>
              </a:rPr>
              <a:t>，</a:t>
            </a:r>
            <a:r>
              <a:rPr lang="en-US" altLang="zh-CN" sz="2800" dirty="0">
                <a:solidFill>
                  <a:srgbClr val="7030A0"/>
                </a:solidFill>
              </a:rPr>
              <a:t>2</a:t>
            </a:r>
            <a:r>
              <a:rPr lang="zh-CN" altLang="en-US" sz="2800" dirty="0">
                <a:solidFill>
                  <a:srgbClr val="7030A0"/>
                </a:solidFill>
              </a:rPr>
              <a:t>，</a:t>
            </a:r>
            <a:r>
              <a:rPr lang="en-US" altLang="zh-CN" sz="2800" dirty="0">
                <a:solidFill>
                  <a:srgbClr val="7030A0"/>
                </a:solidFill>
              </a:rPr>
              <a:t>-1</a:t>
            </a:r>
            <a:r>
              <a:rPr lang="zh-CN" altLang="en-US" sz="2800" dirty="0">
                <a:solidFill>
                  <a:srgbClr val="7030A0"/>
                </a:solidFill>
              </a:rPr>
              <a:t>）</a:t>
            </a:r>
            <a:endParaRPr lang="en-US" altLang="zh-CN" sz="2800" dirty="0">
              <a:solidFill>
                <a:srgbClr val="7030A0"/>
              </a:solidFill>
            </a:endParaRPr>
          </a:p>
          <a:p>
            <a:pPr>
              <a:lnSpc>
                <a:spcPct val="150000"/>
              </a:lnSpc>
              <a:spcBef>
                <a:spcPts val="600"/>
              </a:spcBef>
            </a:pPr>
            <a:r>
              <a:rPr lang="zh-CN" altLang="en-US" sz="2800" dirty="0">
                <a:solidFill>
                  <a:srgbClr val="7030A0"/>
                </a:solidFill>
              </a:rPr>
              <a:t>不满足齐次性</a:t>
            </a:r>
            <a:endParaRPr lang="en-US" altLang="zh-CN" sz="2800" dirty="0">
              <a:solidFill>
                <a:srgbClr val="7030A0"/>
              </a:solidFill>
            </a:endParaRPr>
          </a:p>
          <a:p>
            <a:pPr>
              <a:lnSpc>
                <a:spcPct val="150000"/>
              </a:lnSpc>
              <a:spcBef>
                <a:spcPts val="600"/>
              </a:spcBef>
            </a:pPr>
            <a:r>
              <a:rPr lang="zh-CN" altLang="en-US" sz="2800" dirty="0">
                <a:solidFill>
                  <a:srgbClr val="7030A0"/>
                </a:solidFill>
              </a:rPr>
              <a:t>可构成向量范数</a:t>
            </a:r>
          </a:p>
        </p:txBody>
      </p:sp>
    </p:spTree>
    <p:extLst>
      <p:ext uri="{BB962C8B-B14F-4D97-AF65-F5344CB8AC3E}">
        <p14:creationId xmlns:p14="http://schemas.microsoft.com/office/powerpoint/2010/main" val="145565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6" name="Text Box 2"/>
          <p:cNvSpPr txBox="1">
            <a:spLocks noChangeArrowheads="1"/>
          </p:cNvSpPr>
          <p:nvPr/>
        </p:nvSpPr>
        <p:spPr bwMode="auto">
          <a:xfrm>
            <a:off x="1703512" y="1011238"/>
            <a:ext cx="7993062" cy="343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800" dirty="0">
                <a:latin typeface="楷体_GB2312" pitchFamily="49" charset="-122"/>
                <a:ea typeface="楷体_GB2312" pitchFamily="49" charset="-122"/>
              </a:rPr>
              <a:t>    </a:t>
            </a:r>
            <a:r>
              <a:rPr lang="zh-CN" altLang="en-US" sz="2400" dirty="0"/>
              <a:t>对任意向量                                          ，定义：</a:t>
            </a:r>
            <a:endParaRPr lang="en-US" altLang="zh-CN" sz="2400" dirty="0"/>
          </a:p>
          <a:p>
            <a:pPr eaLnBrk="1" hangingPunct="1">
              <a:lnSpc>
                <a:spcPct val="150000"/>
              </a:lnSpc>
              <a:spcBef>
                <a:spcPct val="0"/>
              </a:spcBef>
              <a:buFontTx/>
              <a:buNone/>
            </a:pPr>
            <a:r>
              <a:rPr lang="zh-CN" altLang="en-US" sz="2800" dirty="0">
                <a:latin typeface="楷体_GB2312" pitchFamily="49" charset="-122"/>
                <a:ea typeface="楷体_GB2312" pitchFamily="49" charset="-122"/>
              </a:rPr>
              <a:t>  </a:t>
            </a:r>
            <a:r>
              <a:rPr lang="zh-CN" altLang="en-US" sz="2400" dirty="0">
                <a:ea typeface="楷体_GB2312" pitchFamily="49" charset="-122"/>
              </a:rPr>
              <a:t>（</a:t>
            </a:r>
            <a:r>
              <a:rPr lang="en-US" altLang="zh-CN" sz="2400" dirty="0">
                <a:ea typeface="楷体_GB2312" pitchFamily="49" charset="-122"/>
              </a:rPr>
              <a:t>1</a:t>
            </a:r>
            <a:r>
              <a:rPr lang="zh-CN" altLang="en-US" sz="2400" dirty="0">
                <a:ea typeface="楷体_GB2312" pitchFamily="49" charset="-122"/>
              </a:rPr>
              <a:t>）</a:t>
            </a:r>
            <a:endParaRPr lang="en-US" altLang="zh-CN" sz="2400" dirty="0">
              <a:ea typeface="楷体_GB2312" pitchFamily="49" charset="-122"/>
            </a:endParaRPr>
          </a:p>
          <a:p>
            <a:pPr eaLnBrk="1" hangingPunct="1">
              <a:lnSpc>
                <a:spcPct val="150000"/>
              </a:lnSpc>
              <a:spcBef>
                <a:spcPct val="0"/>
              </a:spcBef>
              <a:buFontTx/>
              <a:buNone/>
            </a:pPr>
            <a:endParaRPr lang="en-US" altLang="zh-CN" sz="2400" dirty="0">
              <a:latin typeface="楷体_GB2312" pitchFamily="49" charset="-122"/>
              <a:ea typeface="楷体_GB2312" pitchFamily="49" charset="-122"/>
            </a:endParaRPr>
          </a:p>
          <a:p>
            <a:pPr eaLnBrk="1" hangingPunct="1">
              <a:lnSpc>
                <a:spcPct val="150000"/>
              </a:lnSpc>
              <a:spcBef>
                <a:spcPct val="0"/>
              </a:spcBef>
              <a:buFontTx/>
              <a:buNone/>
            </a:pPr>
            <a:r>
              <a:rPr lang="zh-CN" altLang="en-US" sz="2400" dirty="0">
                <a:latin typeface="楷体_GB2312" pitchFamily="49" charset="-122"/>
                <a:ea typeface="楷体_GB2312" pitchFamily="49" charset="-122"/>
              </a:rPr>
              <a:t>  </a:t>
            </a:r>
            <a:r>
              <a:rPr lang="zh-CN" altLang="en-US" sz="2400" dirty="0">
                <a:ea typeface="楷体_GB2312" pitchFamily="49" charset="-122"/>
              </a:rPr>
              <a:t>（</a:t>
            </a:r>
            <a:r>
              <a:rPr lang="en-US" altLang="zh-CN" sz="2400" dirty="0">
                <a:ea typeface="楷体_GB2312" pitchFamily="49" charset="-122"/>
              </a:rPr>
              <a:t>2</a:t>
            </a:r>
            <a:r>
              <a:rPr lang="zh-CN" altLang="en-US" sz="2400" dirty="0">
                <a:ea typeface="楷体_GB2312" pitchFamily="49" charset="-122"/>
              </a:rPr>
              <a:t>）</a:t>
            </a:r>
            <a:endParaRPr lang="en-US" altLang="zh-CN" sz="2400" dirty="0">
              <a:ea typeface="楷体_GB2312" pitchFamily="49" charset="-122"/>
            </a:endParaRPr>
          </a:p>
          <a:p>
            <a:pPr eaLnBrk="1" hangingPunct="1">
              <a:lnSpc>
                <a:spcPct val="150000"/>
              </a:lnSpc>
              <a:spcBef>
                <a:spcPct val="0"/>
              </a:spcBef>
              <a:buFontTx/>
              <a:buNone/>
            </a:pPr>
            <a:endParaRPr lang="en-US" altLang="zh-CN" sz="2000" dirty="0">
              <a:latin typeface="楷体_GB2312" pitchFamily="49" charset="-122"/>
              <a:ea typeface="楷体_GB2312" pitchFamily="49" charset="-122"/>
            </a:endParaRPr>
          </a:p>
          <a:p>
            <a:pPr eaLnBrk="1" hangingPunct="1">
              <a:lnSpc>
                <a:spcPct val="150000"/>
              </a:lnSpc>
              <a:spcBef>
                <a:spcPct val="0"/>
              </a:spcBef>
              <a:buFontTx/>
              <a:buNone/>
            </a:pPr>
            <a:r>
              <a:rPr lang="zh-CN" altLang="en-US" sz="2400" dirty="0">
                <a:latin typeface="楷体_GB2312" pitchFamily="49" charset="-122"/>
                <a:ea typeface="楷体_GB2312" pitchFamily="49" charset="-122"/>
              </a:rPr>
              <a:t>  </a:t>
            </a:r>
            <a:r>
              <a:rPr lang="zh-CN" altLang="en-US" sz="2400" dirty="0">
                <a:ea typeface="楷体_GB2312" pitchFamily="49" charset="-122"/>
              </a:rPr>
              <a:t>（</a:t>
            </a:r>
            <a:r>
              <a:rPr lang="en-US" altLang="zh-CN" sz="2400" dirty="0">
                <a:ea typeface="楷体_GB2312" pitchFamily="49" charset="-122"/>
              </a:rPr>
              <a:t>3</a:t>
            </a:r>
            <a:r>
              <a:rPr lang="zh-CN" altLang="en-US" sz="2400" dirty="0">
                <a:ea typeface="楷体_GB2312" pitchFamily="49" charset="-122"/>
              </a:rPr>
              <a:t>）</a:t>
            </a:r>
          </a:p>
        </p:txBody>
      </p:sp>
      <mc:AlternateContent xmlns:mc="http://schemas.openxmlformats.org/markup-compatibility/2006">
        <mc:Choice xmlns:a14="http://schemas.microsoft.com/office/drawing/2010/main" Requires="a14">
          <p:sp>
            <p:nvSpPr>
              <p:cNvPr id="25602" name="Object 4"/>
              <p:cNvSpPr txBox="1"/>
              <p:nvPr/>
            </p:nvSpPr>
            <p:spPr bwMode="auto">
              <a:xfrm>
                <a:off x="3402304" y="1684291"/>
                <a:ext cx="4070350" cy="792162"/>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d>
                        </m:e>
                      </m:nary>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e>
                      </m:d>
                    </m:oMath>
                  </m:oMathPara>
                </a14:m>
                <a:endParaRPr lang="zh-CN" altLang="en-US"/>
              </a:p>
            </p:txBody>
          </p:sp>
        </mc:Choice>
        <mc:Fallback>
          <p:sp>
            <p:nvSpPr>
              <p:cNvPr id="25602" name="Object 4"/>
              <p:cNvSpPr txBox="1">
                <a:spLocks noRot="1" noChangeAspect="1" noMove="1" noResize="1" noEditPoints="1" noAdjustHandles="1" noChangeArrowheads="1" noChangeShapeType="1" noTextEdit="1"/>
              </p:cNvSpPr>
              <p:nvPr/>
            </p:nvSpPr>
            <p:spPr bwMode="auto">
              <a:xfrm>
                <a:off x="3402304" y="1684291"/>
                <a:ext cx="4070350" cy="792162"/>
              </a:xfrm>
              <a:prstGeom prst="rect">
                <a:avLst/>
              </a:prstGeom>
              <a:blipFill>
                <a:blip r:embed="rId2"/>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603" name="Object 7"/>
              <p:cNvSpPr txBox="1"/>
              <p:nvPr/>
            </p:nvSpPr>
            <p:spPr bwMode="auto">
              <a:xfrm>
                <a:off x="3399129" y="2620916"/>
                <a:ext cx="5922962" cy="1150937"/>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𝑇</m:t>
                              </m:r>
                            </m:sup>
                          </m:sSup>
                          <m:r>
                            <a:rPr lang="zh-CN" altLang="en-US" i="1">
                              <a:solidFill>
                                <a:srgbClr val="000000"/>
                              </a:solidFill>
                              <a:latin typeface="Cambria Math" panose="02040503050406030204" pitchFamily="18" charset="0"/>
                            </a:rPr>
                            <m:t>𝑥</m:t>
                          </m:r>
                        </m:e>
                      </m:ra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2</m:t>
                                      </m:r>
                                    </m:sup>
                                  </m:sSubSup>
                                </m:e>
                              </m:d>
                            </m:e>
                          </m:nary>
                        </m:e>
                      </m:rad>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up>
                              <m:r>
                                <a:rPr lang="zh-CN" altLang="en-US" i="1">
                                  <a:solidFill>
                                    <a:srgbClr val="000000"/>
                                  </a:solidFill>
                                  <a:latin typeface="Cambria Math" panose="02040503050406030204" pitchFamily="18" charset="0"/>
                                </a:rPr>
                                <m:t>2</m:t>
                              </m:r>
                            </m:sup>
                          </m:sSubSup>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up>
                              <m:r>
                                <a:rPr lang="zh-CN" altLang="en-US" i="1">
                                  <a:solidFill>
                                    <a:srgbClr val="000000"/>
                                  </a:solidFill>
                                  <a:latin typeface="Cambria Math" panose="02040503050406030204" pitchFamily="18" charset="0"/>
                                </a:rPr>
                                <m:t>2</m:t>
                              </m:r>
                            </m:sup>
                          </m:sSubSup>
                        </m:e>
                      </m:rad>
                    </m:oMath>
                  </m:oMathPara>
                </a14:m>
                <a:endParaRPr lang="zh-CN" altLang="en-US"/>
              </a:p>
            </p:txBody>
          </p:sp>
        </mc:Choice>
        <mc:Fallback>
          <p:sp>
            <p:nvSpPr>
              <p:cNvPr id="25603" name="Object 7"/>
              <p:cNvSpPr txBox="1">
                <a:spLocks noRot="1" noChangeAspect="1" noMove="1" noResize="1" noEditPoints="1" noAdjustHandles="1" noChangeArrowheads="1" noChangeShapeType="1" noTextEdit="1"/>
              </p:cNvSpPr>
              <p:nvPr/>
            </p:nvSpPr>
            <p:spPr bwMode="auto">
              <a:xfrm>
                <a:off x="3399129" y="2620916"/>
                <a:ext cx="5922962" cy="1150937"/>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604" name="Object 10"/>
              <p:cNvSpPr txBox="1"/>
              <p:nvPr/>
            </p:nvSpPr>
            <p:spPr bwMode="auto">
              <a:xfrm>
                <a:off x="3367379" y="3987753"/>
                <a:ext cx="2011362" cy="576263"/>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e>
                        <m: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e>
                      </m:d>
                    </m:oMath>
                  </m:oMathPara>
                </a14:m>
                <a:endParaRPr lang="zh-CN" altLang="en-US"/>
              </a:p>
            </p:txBody>
          </p:sp>
        </mc:Choice>
        <mc:Fallback>
          <p:sp>
            <p:nvSpPr>
              <p:cNvPr id="25604" name="Object 10"/>
              <p:cNvSpPr txBox="1">
                <a:spLocks noRot="1" noChangeAspect="1" noMove="1" noResize="1" noEditPoints="1" noAdjustHandles="1" noChangeArrowheads="1" noChangeShapeType="1" noTextEdit="1"/>
              </p:cNvSpPr>
              <p:nvPr/>
            </p:nvSpPr>
            <p:spPr bwMode="auto">
              <a:xfrm>
                <a:off x="3367379" y="3987753"/>
                <a:ext cx="2011362" cy="576263"/>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25605" name="Text Box 12"/>
          <p:cNvSpPr txBox="1">
            <a:spLocks noChangeArrowheads="1"/>
          </p:cNvSpPr>
          <p:nvPr/>
        </p:nvSpPr>
        <p:spPr bwMode="auto">
          <a:xfrm>
            <a:off x="2566988" y="549275"/>
            <a:ext cx="4824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ea typeface="楷体_GB2312" pitchFamily="49" charset="-122"/>
              </a:rPr>
              <a:t>三个常用的向量范数</a:t>
            </a:r>
            <a:r>
              <a:rPr lang="zh-CN" altLang="en-US" sz="2400">
                <a:ea typeface="楷体_GB2312" pitchFamily="49" charset="-122"/>
              </a:rPr>
              <a:t>：</a:t>
            </a:r>
          </a:p>
        </p:txBody>
      </p:sp>
      <mc:AlternateContent xmlns:mc="http://schemas.openxmlformats.org/markup-compatibility/2006">
        <mc:Choice xmlns:a14="http://schemas.microsoft.com/office/drawing/2010/main" Requires="a14">
          <p:sp>
            <p:nvSpPr>
              <p:cNvPr id="25607" name="Object 13"/>
              <p:cNvSpPr txBox="1"/>
              <p:nvPr/>
            </p:nvSpPr>
            <p:spPr bwMode="auto">
              <a:xfrm>
                <a:off x="4373060" y="1137468"/>
                <a:ext cx="3005137" cy="574675"/>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𝑛</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𝑇</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sup>
                      </m:sSup>
                    </m:oMath>
                  </m:oMathPara>
                </a14:m>
                <a:endParaRPr lang="zh-CN" altLang="en-US"/>
              </a:p>
            </p:txBody>
          </p:sp>
        </mc:Choice>
        <mc:Fallback>
          <p:sp>
            <p:nvSpPr>
              <p:cNvPr id="25607" name="Object 13"/>
              <p:cNvSpPr txBox="1">
                <a:spLocks noRot="1" noChangeAspect="1" noMove="1" noResize="1" noEditPoints="1" noAdjustHandles="1" noChangeArrowheads="1" noChangeShapeType="1" noTextEdit="1"/>
              </p:cNvSpPr>
              <p:nvPr/>
            </p:nvSpPr>
            <p:spPr bwMode="auto">
              <a:xfrm>
                <a:off x="4373060" y="1137468"/>
                <a:ext cx="3005137" cy="574675"/>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2063552" y="4849156"/>
                <a:ext cx="6404830" cy="468205"/>
              </a:xfrm>
              <a:prstGeom prst="rect">
                <a:avLst/>
              </a:prstGeom>
              <a:noFill/>
            </p:spPr>
            <p:txBody>
              <a:bodyPr wrap="none" rtlCol="0">
                <a:spAutoFit/>
              </a:bodyPr>
              <a:lstStyle/>
              <a:p>
                <a:r>
                  <a:rPr lang="zh-CN" altLang="en-US" dirty="0"/>
                  <a:t>例：求向量</a:t>
                </a:r>
                <a14:m>
                  <m:oMath xmlns:m="http://schemas.openxmlformats.org/officeDocument/2006/math">
                    <m:sSup>
                      <m:sSupPr>
                        <m:ctrlPr>
                          <a:rPr lang="en-US" altLang="zh-CN" i="1" dirty="0" smtClean="0">
                            <a:latin typeface="Cambria Math" panose="02040503050406030204" pitchFamily="18" charset="0"/>
                          </a:rPr>
                        </m:ctrlPr>
                      </m:sSupPr>
                      <m:e>
                        <m:r>
                          <a:rPr lang="zh-CN" altLang="en-US" i="1" dirty="0">
                            <a:latin typeface="Cambria Math" panose="02040503050406030204" pitchFamily="18" charset="0"/>
                          </a:rPr>
                          <m:t>（</m:t>
                        </m:r>
                        <m:r>
                          <a:rPr lang="en-US" altLang="zh-CN" b="0" i="1" dirty="0" smtClean="0">
                            <a:latin typeface="Cambria Math" panose="02040503050406030204" pitchFamily="18" charset="0"/>
                          </a:rPr>
                          <m:t>1</m:t>
                        </m:r>
                        <m:r>
                          <a:rPr lang="zh-CN" altLang="en-US" i="1" dirty="0">
                            <a:latin typeface="Cambria Math" panose="02040503050406030204" pitchFamily="18" charset="0"/>
                          </a:rPr>
                          <m:t>，</m:t>
                        </m:r>
                        <m:r>
                          <a:rPr lang="en-US" altLang="zh-CN" b="0" i="1" dirty="0" smtClean="0">
                            <a:latin typeface="Cambria Math" panose="02040503050406030204" pitchFamily="18" charset="0"/>
                          </a:rPr>
                          <m:t>2</m:t>
                        </m:r>
                        <m:r>
                          <a:rPr lang="zh-CN" altLang="en-US" i="1" dirty="0">
                            <a:latin typeface="Cambria Math" panose="02040503050406030204" pitchFamily="18" charset="0"/>
                          </a:rPr>
                          <m:t>，</m:t>
                        </m:r>
                        <m:r>
                          <a:rPr lang="en-US" altLang="zh-CN" b="0" i="1" dirty="0" smtClean="0">
                            <a:latin typeface="Cambria Math" panose="02040503050406030204" pitchFamily="18" charset="0"/>
                          </a:rPr>
                          <m:t>−3</m:t>
                        </m:r>
                        <m:r>
                          <a:rPr lang="zh-CN" altLang="en-US" i="1" dirty="0">
                            <a:latin typeface="Cambria Math" panose="02040503050406030204" pitchFamily="18" charset="0"/>
                          </a:rPr>
                          <m:t>）</m:t>
                        </m:r>
                      </m:e>
                      <m:sup>
                        <m:r>
                          <m:rPr>
                            <m:sty m:val="p"/>
                          </m:rPr>
                          <a:rPr lang="en-US" altLang="zh-CN" i="1" dirty="0">
                            <a:latin typeface="Cambria Math" panose="02040503050406030204" pitchFamily="18" charset="0"/>
                          </a:rPr>
                          <m:t>T</m:t>
                        </m:r>
                      </m:sup>
                    </m:sSup>
                  </m:oMath>
                </a14:m>
                <a:r>
                  <a:rPr lang="zh-CN" altLang="en-US" dirty="0"/>
                  <a:t>的</a:t>
                </a:r>
                <a:r>
                  <a:rPr lang="en-US" altLang="zh-CN" dirty="0"/>
                  <a:t>1</a:t>
                </a:r>
                <a:r>
                  <a:rPr lang="zh-CN" altLang="en-US" dirty="0"/>
                  <a:t>，</a:t>
                </a:r>
                <a:r>
                  <a:rPr lang="en-US" altLang="zh-CN" dirty="0"/>
                  <a:t>2</a:t>
                </a:r>
                <a:r>
                  <a:rPr lang="zh-CN" altLang="en-US" dirty="0"/>
                  <a:t>，</a:t>
                </a:r>
                <a14:m>
                  <m:oMath xmlns:m="http://schemas.openxmlformats.org/officeDocument/2006/math">
                    <m:r>
                      <a:rPr lang="zh-CN" altLang="en-US" i="1" smtClean="0">
                        <a:latin typeface="Cambria Math" panose="02040503050406030204" pitchFamily="18" charset="0"/>
                      </a:rPr>
                      <m:t>∞</m:t>
                    </m:r>
                    <m:r>
                      <a:rPr lang="zh-CN" altLang="en-US" i="1">
                        <a:latin typeface="Cambria Math" panose="02040503050406030204" pitchFamily="18" charset="0"/>
                      </a:rPr>
                      <m:t>范数</m:t>
                    </m:r>
                  </m:oMath>
                </a14:m>
                <a:r>
                  <a:rPr lang="zh-CN" altLang="en-US" dirty="0"/>
                  <a:t>。</a:t>
                </a:r>
              </a:p>
            </p:txBody>
          </p:sp>
        </mc:Choice>
        <mc:Fallback xmlns="">
          <p:sp>
            <p:nvSpPr>
              <p:cNvPr id="2" name="文本框 1"/>
              <p:cNvSpPr txBox="1">
                <a:spLocks noRot="1" noChangeAspect="1" noMove="1" noResize="1" noEditPoints="1" noAdjustHandles="1" noChangeArrowheads="1" noChangeShapeType="1" noTextEdit="1"/>
              </p:cNvSpPr>
              <p:nvPr/>
            </p:nvSpPr>
            <p:spPr>
              <a:xfrm>
                <a:off x="2063552" y="4849156"/>
                <a:ext cx="6404830" cy="468205"/>
              </a:xfrm>
              <a:prstGeom prst="rect">
                <a:avLst/>
              </a:prstGeom>
              <a:blipFill>
                <a:blip r:embed="rId11"/>
                <a:stretch>
                  <a:fillRect l="-1524" t="-12987" r="-476" b="-29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390634" y="5332318"/>
                <a:ext cx="2804101" cy="497637"/>
              </a:xfrm>
              <a:prstGeom prst="rect">
                <a:avLst/>
              </a:prstGeom>
              <a:noFill/>
            </p:spPr>
            <p:txBody>
              <a:bodyPr wrap="none" rtlCol="0">
                <a:spAutoFit/>
              </a:bodyPr>
              <a:lstStyle/>
              <a:p>
                <a:r>
                  <a:rPr lang="en-US" altLang="zh-CN" dirty="0">
                    <a:solidFill>
                      <a:srgbClr val="7030A0"/>
                    </a:solidFill>
                  </a:rPr>
                  <a:t>0            </a:t>
                </a:r>
                <a14:m>
                  <m:oMath xmlns:m="http://schemas.openxmlformats.org/officeDocument/2006/math">
                    <m:rad>
                      <m:radPr>
                        <m:degHide m:val="on"/>
                        <m:ctrlPr>
                          <a:rPr lang="en-US" altLang="zh-CN" i="1" smtClean="0">
                            <a:solidFill>
                              <a:srgbClr val="7030A0"/>
                            </a:solidFill>
                            <a:latin typeface="Cambria Math" panose="02040503050406030204" pitchFamily="18" charset="0"/>
                          </a:rPr>
                        </m:ctrlPr>
                      </m:radPr>
                      <m:deg/>
                      <m:e>
                        <m:r>
                          <a:rPr lang="en-US" altLang="zh-CN" b="0" i="1" smtClean="0">
                            <a:solidFill>
                              <a:srgbClr val="7030A0"/>
                            </a:solidFill>
                            <a:latin typeface="Cambria Math" panose="02040503050406030204" pitchFamily="18" charset="0"/>
                          </a:rPr>
                          <m:t>14</m:t>
                        </m:r>
                      </m:e>
                    </m:rad>
                  </m:oMath>
                </a14:m>
                <a:r>
                  <a:rPr lang="en-US" altLang="zh-CN" dirty="0">
                    <a:solidFill>
                      <a:srgbClr val="7030A0"/>
                    </a:solidFill>
                  </a:rPr>
                  <a:t>        3   </a:t>
                </a:r>
                <a:endParaRPr lang="zh-CN" altLang="en-US" dirty="0">
                  <a:solidFill>
                    <a:srgbClr val="7030A0"/>
                  </a:solidFill>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3390634" y="5332318"/>
                <a:ext cx="2804101" cy="497637"/>
              </a:xfrm>
              <a:prstGeom prst="rect">
                <a:avLst/>
              </a:prstGeom>
              <a:blipFill>
                <a:blip r:embed="rId12"/>
                <a:stretch>
                  <a:fillRect l="-3261" t="-2469" r="-2391" b="-28395"/>
                </a:stretch>
              </a:blipFill>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5"/>
          <p:cNvSpPr txBox="1">
            <a:spLocks noChangeArrowheads="1"/>
          </p:cNvSpPr>
          <p:nvPr/>
        </p:nvSpPr>
        <p:spPr bwMode="auto">
          <a:xfrm>
            <a:off x="2208213" y="476250"/>
            <a:ext cx="311943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solidFill>
                  <a:srgbClr val="C00000"/>
                </a:solidFill>
                <a:latin typeface="楷体_GB2312" pitchFamily="49" charset="-122"/>
                <a:ea typeface="楷体_GB2312" pitchFamily="49" charset="-122"/>
              </a:rPr>
              <a:t>B</a:t>
            </a:r>
            <a:r>
              <a:rPr lang="zh-CN" altLang="en-US" sz="2400">
                <a:solidFill>
                  <a:srgbClr val="C00000"/>
                </a:solidFill>
                <a:latin typeface="楷体_GB2312" pitchFamily="49" charset="-122"/>
                <a:ea typeface="楷体_GB2312" pitchFamily="49" charset="-122"/>
              </a:rPr>
              <a:t>．矩阵的范数</a:t>
            </a:r>
          </a:p>
        </p:txBody>
      </p:sp>
      <p:grpSp>
        <p:nvGrpSpPr>
          <p:cNvPr id="2" name="Group 72"/>
          <p:cNvGrpSpPr>
            <a:grpSpLocks/>
          </p:cNvGrpSpPr>
          <p:nvPr/>
        </p:nvGrpSpPr>
        <p:grpSpPr bwMode="auto">
          <a:xfrm>
            <a:off x="2189163" y="4652963"/>
            <a:ext cx="6570662" cy="576262"/>
            <a:chOff x="385" y="3294"/>
            <a:chExt cx="4139" cy="363"/>
          </a:xfrm>
        </p:grpSpPr>
        <p:sp>
          <p:nvSpPr>
            <p:cNvPr id="39963" name="Rectangle 70"/>
            <p:cNvSpPr>
              <a:spLocks noChangeArrowheads="1"/>
            </p:cNvSpPr>
            <p:nvPr/>
          </p:nvSpPr>
          <p:spPr bwMode="auto">
            <a:xfrm>
              <a:off x="385" y="3312"/>
              <a:ext cx="1473" cy="291"/>
            </a:xfrm>
            <a:prstGeom prst="rect">
              <a:avLst/>
            </a:prstGeom>
            <a:noFill/>
            <a:ln w="9525">
              <a:noFill/>
              <a:miter lim="800000"/>
              <a:headEnd/>
              <a:tailEnd/>
            </a:ln>
          </p:spPr>
          <p:txBody>
            <a:bodyPr wrap="none" anchor="ctr">
              <a:spAutoFit/>
            </a:bodyPr>
            <a:lstStyle/>
            <a:p>
              <a:pPr eaLnBrk="1" hangingPunct="1">
                <a:defRPr/>
              </a:pPr>
              <a:r>
                <a:rPr lang="en-US" altLang="zh-CN" dirty="0">
                  <a:latin typeface="+mn-ea"/>
                  <a:ea typeface="+mn-ea"/>
                </a:rPr>
                <a:t>(4) </a:t>
              </a:r>
              <a:r>
                <a:rPr lang="zh-CN" altLang="en-US" dirty="0">
                  <a:latin typeface="+mn-ea"/>
                  <a:ea typeface="+mn-ea"/>
                </a:rPr>
                <a:t>自相容性：</a:t>
              </a:r>
            </a:p>
          </p:txBody>
        </p:sp>
        <mc:AlternateContent xmlns:mc="http://schemas.openxmlformats.org/markup-compatibility/2006">
          <mc:Choice xmlns:a14="http://schemas.microsoft.com/office/drawing/2010/main" Requires="a14">
            <p:sp>
              <p:nvSpPr>
                <p:cNvPr id="26651" name="Object 71"/>
                <p:cNvSpPr txBox="1"/>
                <p:nvPr/>
              </p:nvSpPr>
              <p:spPr bwMode="auto">
                <a:xfrm>
                  <a:off x="1982" y="3294"/>
                  <a:ext cx="2542" cy="363"/>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𝐴𝐵</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6651" name="Object 71"/>
                <p:cNvSpPr txBox="1">
                  <a:spLocks noRot="1" noChangeAspect="1" noMove="1" noResize="1" noEditPoints="1" noAdjustHandles="1" noChangeArrowheads="1" noChangeShapeType="1" noTextEdit="1"/>
                </p:cNvSpPr>
                <p:nvPr/>
              </p:nvSpPr>
              <p:spPr bwMode="auto">
                <a:xfrm>
                  <a:off x="1982" y="3294"/>
                  <a:ext cx="2542" cy="363"/>
                </a:xfrm>
                <a:prstGeom prst="rect">
                  <a:avLst/>
                </a:prstGeom>
                <a:blipFill>
                  <a:blip r:embed="rId3"/>
                  <a:stretch>
                    <a:fillRect/>
                  </a:stretch>
                </a:blipFill>
                <a:ln>
                  <a:noFill/>
                </a:ln>
                <a:extLst/>
              </p:spPr>
              <p:txBody>
                <a:bodyPr/>
                <a:lstStyle/>
                <a:p>
                  <a:r>
                    <a:rPr lang="zh-CN" altLang="en-US">
                      <a:noFill/>
                    </a:rPr>
                    <a:t> </a:t>
                  </a:r>
                </a:p>
              </p:txBody>
            </p:sp>
          </mc:Fallback>
        </mc:AlternateContent>
      </p:grpSp>
      <p:grpSp>
        <p:nvGrpSpPr>
          <p:cNvPr id="3" name="Group 79"/>
          <p:cNvGrpSpPr>
            <a:grpSpLocks/>
          </p:cNvGrpSpPr>
          <p:nvPr/>
        </p:nvGrpSpPr>
        <p:grpSpPr bwMode="auto">
          <a:xfrm>
            <a:off x="2279650" y="5445125"/>
            <a:ext cx="5194300" cy="574675"/>
            <a:chOff x="787" y="3826"/>
            <a:chExt cx="3272" cy="362"/>
          </a:xfrm>
        </p:grpSpPr>
        <p:sp>
          <p:nvSpPr>
            <p:cNvPr id="26645" name="Rectangle 74"/>
            <p:cNvSpPr>
              <a:spLocks noChangeArrowheads="1"/>
            </p:cNvSpPr>
            <p:nvPr/>
          </p:nvSpPr>
          <p:spPr bwMode="auto">
            <a:xfrm>
              <a:off x="787" y="3846"/>
              <a:ext cx="50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宋体" panose="02010600030101010101" pitchFamily="2" charset="-122"/>
                </a:rPr>
                <a:t>则称</a:t>
              </a:r>
            </a:p>
          </p:txBody>
        </p:sp>
        <mc:AlternateContent xmlns:mc="http://schemas.openxmlformats.org/markup-compatibility/2006">
          <mc:Choice xmlns:a14="http://schemas.microsoft.com/office/drawing/2010/main" Requires="a14">
            <p:sp>
              <p:nvSpPr>
                <p:cNvPr id="26646" name="Object 75"/>
                <p:cNvSpPr txBox="1"/>
                <p:nvPr/>
              </p:nvSpPr>
              <p:spPr bwMode="auto">
                <a:xfrm>
                  <a:off x="1338" y="3826"/>
                  <a:ext cx="272" cy="362"/>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26646" name="Object 75"/>
                <p:cNvSpPr txBox="1">
                  <a:spLocks noRot="1" noChangeAspect="1" noMove="1" noResize="1" noEditPoints="1" noAdjustHandles="1" noChangeArrowheads="1" noChangeShapeType="1" noTextEdit="1"/>
                </p:cNvSpPr>
                <p:nvPr/>
              </p:nvSpPr>
              <p:spPr bwMode="auto">
                <a:xfrm>
                  <a:off x="1338" y="3826"/>
                  <a:ext cx="272" cy="362"/>
                </a:xfrm>
                <a:prstGeom prst="rect">
                  <a:avLst/>
                </a:prstGeom>
                <a:blipFill>
                  <a:blip r:embed="rId4"/>
                  <a:stretch>
                    <a:fillRect/>
                  </a:stretch>
                </a:blipFill>
                <a:ln>
                  <a:noFill/>
                </a:ln>
                <a:extLst/>
              </p:spPr>
              <p:txBody>
                <a:bodyPr/>
                <a:lstStyle/>
                <a:p>
                  <a:r>
                    <a:rPr lang="zh-CN" altLang="en-US">
                      <a:noFill/>
                    </a:rPr>
                    <a:t> </a:t>
                  </a:r>
                </a:p>
              </p:txBody>
            </p:sp>
          </mc:Fallback>
        </mc:AlternateContent>
        <p:sp>
          <p:nvSpPr>
            <p:cNvPr id="39961" name="Rectangle 76"/>
            <p:cNvSpPr>
              <a:spLocks noChangeArrowheads="1"/>
            </p:cNvSpPr>
            <p:nvPr/>
          </p:nvSpPr>
          <p:spPr bwMode="auto">
            <a:xfrm>
              <a:off x="1610" y="3856"/>
              <a:ext cx="310" cy="291"/>
            </a:xfrm>
            <a:prstGeom prst="rect">
              <a:avLst/>
            </a:prstGeom>
            <a:noFill/>
            <a:ln w="9525">
              <a:noFill/>
              <a:miter lim="800000"/>
              <a:headEnd/>
              <a:tailEnd/>
            </a:ln>
          </p:spPr>
          <p:txBody>
            <a:bodyPr wrap="none" anchor="ctr">
              <a:spAutoFit/>
            </a:bodyPr>
            <a:lstStyle/>
            <a:p>
              <a:pPr eaLnBrk="1" hangingPunct="1">
                <a:defRPr/>
              </a:pPr>
              <a:r>
                <a:rPr lang="zh-CN" altLang="en-US" dirty="0">
                  <a:latin typeface="+mn-ea"/>
                  <a:ea typeface="+mn-ea"/>
                </a:rPr>
                <a:t>为</a:t>
              </a:r>
            </a:p>
          </p:txBody>
        </p:sp>
        <p:sp>
          <p:nvSpPr>
            <p:cNvPr id="26648" name="Rectangle 77"/>
            <p:cNvSpPr>
              <a:spLocks noChangeArrowheads="1"/>
            </p:cNvSpPr>
            <p:nvPr/>
          </p:nvSpPr>
          <p:spPr bwMode="auto">
            <a:xfrm>
              <a:off x="2290" y="3847"/>
              <a:ext cx="176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宋体" panose="02010600030101010101" pitchFamily="2" charset="-122"/>
                </a:rPr>
                <a:t>上的矩阵范数．</a:t>
              </a:r>
            </a:p>
          </p:txBody>
        </p:sp>
        <mc:AlternateContent xmlns:mc="http://schemas.openxmlformats.org/markup-compatibility/2006">
          <mc:Choice xmlns:a14="http://schemas.microsoft.com/office/drawing/2010/main" Requires="a14">
            <p:sp>
              <p:nvSpPr>
                <p:cNvPr id="26649" name="Object 78"/>
                <p:cNvSpPr txBox="1"/>
                <p:nvPr/>
              </p:nvSpPr>
              <p:spPr bwMode="auto">
                <a:xfrm>
                  <a:off x="1936" y="3838"/>
                  <a:ext cx="456" cy="296"/>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oMath>
                    </m:oMathPara>
                  </a14:m>
                  <a:endParaRPr lang="zh-CN" altLang="en-US"/>
                </a:p>
              </p:txBody>
            </p:sp>
          </mc:Choice>
          <mc:Fallback>
            <p:sp>
              <p:nvSpPr>
                <p:cNvPr id="26649" name="Object 78"/>
                <p:cNvSpPr txBox="1">
                  <a:spLocks noRot="1" noChangeAspect="1" noMove="1" noResize="1" noEditPoints="1" noAdjustHandles="1" noChangeArrowheads="1" noChangeShapeType="1" noTextEdit="1"/>
                </p:cNvSpPr>
                <p:nvPr/>
              </p:nvSpPr>
              <p:spPr bwMode="auto">
                <a:xfrm>
                  <a:off x="1936" y="3838"/>
                  <a:ext cx="456" cy="296"/>
                </a:xfrm>
                <a:prstGeom prst="rect">
                  <a:avLst/>
                </a:prstGeom>
                <a:blipFill>
                  <a:blip r:embed="rId5"/>
                  <a:stretch>
                    <a:fillRect l="-840" r="-3361"/>
                  </a:stretch>
                </a:blipFill>
                <a:ln>
                  <a:noFill/>
                </a:ln>
                <a:extLst/>
              </p:spPr>
              <p:txBody>
                <a:bodyPr/>
                <a:lstStyle/>
                <a:p>
                  <a:r>
                    <a:rPr lang="zh-CN" altLang="en-US">
                      <a:noFill/>
                    </a:rPr>
                    <a:t> </a:t>
                  </a:r>
                </a:p>
              </p:txBody>
            </p:sp>
          </mc:Fallback>
        </mc:AlternateContent>
      </p:grpSp>
      <p:grpSp>
        <p:nvGrpSpPr>
          <p:cNvPr id="5" name="组合 26"/>
          <p:cNvGrpSpPr>
            <a:grpSpLocks/>
          </p:cNvGrpSpPr>
          <p:nvPr/>
        </p:nvGrpSpPr>
        <p:grpSpPr bwMode="auto">
          <a:xfrm>
            <a:off x="1844675" y="1196975"/>
            <a:ext cx="8499475" cy="1754188"/>
            <a:chOff x="320675" y="1196975"/>
            <a:chExt cx="8499475" cy="1754326"/>
          </a:xfrm>
        </p:grpSpPr>
        <p:sp>
          <p:nvSpPr>
            <p:cNvPr id="26636" name="Text Box 32"/>
            <p:cNvSpPr txBox="1">
              <a:spLocks noChangeArrowheads="1"/>
            </p:cNvSpPr>
            <p:nvPr/>
          </p:nvSpPr>
          <p:spPr bwMode="auto">
            <a:xfrm>
              <a:off x="320675" y="1196975"/>
              <a:ext cx="8424863"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1">
                  <a:latin typeface="宋体" panose="02010600030101010101" pitchFamily="2" charset="-122"/>
                </a:rPr>
                <a:t>定义</a:t>
              </a:r>
              <a:r>
                <a:rPr lang="en-US" altLang="zh-CN" sz="2400" b="1">
                  <a:latin typeface="宋体" panose="02010600030101010101" pitchFamily="2" charset="-122"/>
                </a:rPr>
                <a:t>2</a:t>
              </a:r>
              <a:r>
                <a:rPr lang="zh-CN" altLang="en-US" sz="2400">
                  <a:latin typeface="宋体" panose="02010600030101010101" pitchFamily="2" charset="-122"/>
                </a:rPr>
                <a:t>：设定义在  阶实矩阵空间     上的非负实值函数       满足 ：</a:t>
              </a:r>
            </a:p>
            <a:p>
              <a:pPr eaLnBrk="1" hangingPunct="1">
                <a:lnSpc>
                  <a:spcPct val="150000"/>
                </a:lnSpc>
                <a:spcBef>
                  <a:spcPct val="0"/>
                </a:spcBef>
                <a:buFontTx/>
                <a:buNone/>
              </a:pPr>
              <a:endParaRPr lang="zh-CN" altLang="en-US" sz="2400">
                <a:ea typeface="楷体_GB2312" pitchFamily="49" charset="-122"/>
              </a:endParaRPr>
            </a:p>
          </p:txBody>
        </p:sp>
        <mc:AlternateContent xmlns:mc="http://schemas.openxmlformats.org/markup-compatibility/2006">
          <mc:Choice xmlns:a14="http://schemas.microsoft.com/office/drawing/2010/main" Requires="a14">
            <p:sp>
              <p:nvSpPr>
                <p:cNvPr id="26637" name="Object 33"/>
                <p:cNvSpPr txBox="1"/>
                <p:nvPr/>
              </p:nvSpPr>
              <p:spPr bwMode="auto">
                <a:xfrm>
                  <a:off x="2700338" y="1412875"/>
                  <a:ext cx="287337" cy="331788"/>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𝑛</m:t>
                        </m:r>
                      </m:oMath>
                    </m:oMathPara>
                  </a14:m>
                  <a:endParaRPr lang="zh-CN" altLang="en-US"/>
                </a:p>
              </p:txBody>
            </p:sp>
          </mc:Choice>
          <mc:Fallback>
            <p:sp>
              <p:nvSpPr>
                <p:cNvPr id="26637" name="Object 33"/>
                <p:cNvSpPr txBox="1">
                  <a:spLocks noRot="1" noChangeAspect="1" noMove="1" noResize="1" noEditPoints="1" noAdjustHandles="1" noChangeArrowheads="1" noChangeShapeType="1" noTextEdit="1"/>
                </p:cNvSpPr>
                <p:nvPr/>
              </p:nvSpPr>
              <p:spPr bwMode="auto">
                <a:xfrm>
                  <a:off x="2700338" y="1412875"/>
                  <a:ext cx="287337" cy="331788"/>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8" name="Object 34"/>
                <p:cNvSpPr txBox="1"/>
                <p:nvPr/>
              </p:nvSpPr>
              <p:spPr bwMode="auto">
                <a:xfrm>
                  <a:off x="8092132" y="1268413"/>
                  <a:ext cx="368300" cy="43180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26638" name="Object 34"/>
                <p:cNvSpPr txBox="1">
                  <a:spLocks noRot="1" noChangeAspect="1" noMove="1" noResize="1" noEditPoints="1" noAdjustHandles="1" noChangeArrowheads="1" noChangeShapeType="1" noTextEdit="1"/>
                </p:cNvSpPr>
                <p:nvPr/>
              </p:nvSpPr>
              <p:spPr bwMode="auto">
                <a:xfrm>
                  <a:off x="8092132" y="1268413"/>
                  <a:ext cx="368300" cy="431800"/>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39" name="Object 35"/>
                <p:cNvSpPr txBox="1"/>
                <p:nvPr/>
              </p:nvSpPr>
              <p:spPr bwMode="auto">
                <a:xfrm>
                  <a:off x="4872038" y="1341438"/>
                  <a:ext cx="622300" cy="404812"/>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oMath>
                    </m:oMathPara>
                  </a14:m>
                  <a:endParaRPr lang="zh-CN" altLang="en-US"/>
                </a:p>
              </p:txBody>
            </p:sp>
          </mc:Choice>
          <mc:Fallback>
            <p:sp>
              <p:nvSpPr>
                <p:cNvPr id="26639" name="Object 35"/>
                <p:cNvSpPr txBox="1">
                  <a:spLocks noRot="1" noChangeAspect="1" noMove="1" noResize="1" noEditPoints="1" noAdjustHandles="1" noChangeArrowheads="1" noChangeShapeType="1" noTextEdit="1"/>
                </p:cNvSpPr>
                <p:nvPr/>
              </p:nvSpPr>
              <p:spPr bwMode="auto">
                <a:xfrm>
                  <a:off x="4872038" y="1341438"/>
                  <a:ext cx="622300" cy="404812"/>
                </a:xfrm>
                <a:prstGeom prst="rect">
                  <a:avLst/>
                </a:prstGeom>
                <a:blipFill>
                  <a:blip r:embed="rId8"/>
                  <a:stretch>
                    <a:fillRect r="-6863"/>
                  </a:stretch>
                </a:blipFill>
                <a:ln>
                  <a:noFill/>
                </a:ln>
                <a:extLst/>
              </p:spPr>
              <p:txBody>
                <a:bodyPr/>
                <a:lstStyle/>
                <a:p>
                  <a:r>
                    <a:rPr lang="zh-CN" altLang="en-US">
                      <a:noFill/>
                    </a:rPr>
                    <a:t> </a:t>
                  </a:r>
                </a:p>
              </p:txBody>
            </p:sp>
          </mc:Fallback>
        </mc:AlternateContent>
        <p:grpSp>
          <p:nvGrpSpPr>
            <p:cNvPr id="26640" name="组合 49"/>
            <p:cNvGrpSpPr>
              <a:grpSpLocks/>
            </p:cNvGrpSpPr>
            <p:nvPr/>
          </p:nvGrpSpPr>
          <p:grpSpPr bwMode="auto">
            <a:xfrm>
              <a:off x="682625" y="2311400"/>
              <a:ext cx="8137525" cy="577852"/>
              <a:chOff x="682302" y="3572605"/>
              <a:chExt cx="8138169" cy="577742"/>
            </a:xfrm>
          </p:grpSpPr>
          <p:sp>
            <p:nvSpPr>
              <p:cNvPr id="26641" name="Rectangle 18"/>
              <p:cNvSpPr>
                <a:spLocks noChangeArrowheads="1"/>
              </p:cNvSpPr>
              <p:nvPr/>
            </p:nvSpPr>
            <p:spPr bwMode="auto">
              <a:xfrm>
                <a:off x="682302" y="3610789"/>
                <a:ext cx="7561861" cy="4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(1) </a:t>
                </a:r>
                <a:r>
                  <a:rPr lang="zh-CN" altLang="en-US" sz="2400">
                    <a:latin typeface="宋体" panose="02010600030101010101" pitchFamily="2" charset="-122"/>
                  </a:rPr>
                  <a:t>正定性：                 ，当且仅当     时      </a:t>
                </a:r>
              </a:p>
            </p:txBody>
          </p:sp>
          <mc:AlternateContent xmlns:mc="http://schemas.openxmlformats.org/markup-compatibility/2006">
            <mc:Choice xmlns:a14="http://schemas.microsoft.com/office/drawing/2010/main" Requires="a14">
              <p:sp>
                <p:nvSpPr>
                  <p:cNvPr id="26642" name="Object 17"/>
                  <p:cNvSpPr txBox="1"/>
                  <p:nvPr/>
                </p:nvSpPr>
                <p:spPr bwMode="auto">
                  <a:xfrm>
                    <a:off x="2601913" y="3634410"/>
                    <a:ext cx="2571750" cy="515937"/>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≥0 ( ∀</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6642" name="Object 17"/>
                  <p:cNvSpPr txBox="1">
                    <a:spLocks noRot="1" noChangeAspect="1" noMove="1" noResize="1" noEditPoints="1" noAdjustHandles="1" noChangeArrowheads="1" noChangeShapeType="1" noTextEdit="1"/>
                  </p:cNvSpPr>
                  <p:nvPr/>
                </p:nvSpPr>
                <p:spPr bwMode="auto">
                  <a:xfrm>
                    <a:off x="2601913" y="3634410"/>
                    <a:ext cx="2571750" cy="515937"/>
                  </a:xfrm>
                  <a:prstGeom prst="rect">
                    <a:avLst/>
                  </a:prstGeom>
                  <a:blipFill>
                    <a:blip r:embed="rId9"/>
                    <a:stretch>
                      <a:fillRect r="-237"/>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43" name="Object 16"/>
                  <p:cNvSpPr txBox="1"/>
                  <p:nvPr/>
                </p:nvSpPr>
                <p:spPr bwMode="auto">
                  <a:xfrm>
                    <a:off x="6711950" y="3616945"/>
                    <a:ext cx="765175" cy="43815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=0</m:t>
                          </m:r>
                        </m:oMath>
                      </m:oMathPara>
                    </a14:m>
                    <a:endParaRPr lang="zh-CN" altLang="en-US"/>
                  </a:p>
                </p:txBody>
              </p:sp>
            </mc:Choice>
            <mc:Fallback>
              <p:sp>
                <p:nvSpPr>
                  <p:cNvPr id="26643" name="Object 16"/>
                  <p:cNvSpPr txBox="1">
                    <a:spLocks noRot="1" noChangeAspect="1" noMove="1" noResize="1" noEditPoints="1" noAdjustHandles="1" noChangeArrowheads="1" noChangeShapeType="1" noTextEdit="1"/>
                  </p:cNvSpPr>
                  <p:nvPr/>
                </p:nvSpPr>
                <p:spPr bwMode="auto">
                  <a:xfrm>
                    <a:off x="6711950" y="3616945"/>
                    <a:ext cx="765175" cy="438150"/>
                  </a:xfrm>
                  <a:prstGeom prst="rect">
                    <a:avLst/>
                  </a:prstGeom>
                  <a:blipFill>
                    <a:blip r:embed="rId10"/>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6644" name="Object 15"/>
                  <p:cNvSpPr txBox="1"/>
                  <p:nvPr/>
                </p:nvSpPr>
                <p:spPr bwMode="auto">
                  <a:xfrm>
                    <a:off x="7789862" y="3572605"/>
                    <a:ext cx="1030609" cy="504716"/>
                  </a:xfrm>
                  <a:prstGeom prst="rect">
                    <a:avLst/>
                  </a:prstGeom>
                  <a:noFill/>
                  <a:ln>
                    <a:noFill/>
                  </a:ln>
                  <a:extLst/>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=0</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p:sp>
                <p:nvSpPr>
                  <p:cNvPr id="26644" name="Object 15"/>
                  <p:cNvSpPr txBox="1">
                    <a:spLocks noRot="1" noChangeAspect="1" noMove="1" noResize="1" noEditPoints="1" noAdjustHandles="1" noChangeArrowheads="1" noChangeShapeType="1" noTextEdit="1"/>
                  </p:cNvSpPr>
                  <p:nvPr/>
                </p:nvSpPr>
                <p:spPr bwMode="auto">
                  <a:xfrm>
                    <a:off x="7789862" y="3572605"/>
                    <a:ext cx="1030609" cy="504716"/>
                  </a:xfrm>
                  <a:prstGeom prst="rect">
                    <a:avLst/>
                  </a:prstGeom>
                  <a:blipFill>
                    <a:blip r:embed="rId11"/>
                    <a:stretch>
                      <a:fillRect/>
                    </a:stretch>
                  </a:blipFill>
                  <a:ln>
                    <a:noFill/>
                  </a:ln>
                  <a:extLst/>
                </p:spPr>
                <p:txBody>
                  <a:bodyPr/>
                  <a:lstStyle/>
                  <a:p>
                    <a:r>
                      <a:rPr lang="zh-CN" altLang="en-US">
                        <a:noFill/>
                      </a:rPr>
                      <a:t> </a:t>
                    </a:r>
                  </a:p>
                </p:txBody>
              </p:sp>
            </mc:Fallback>
          </mc:AlternateContent>
        </p:grpSp>
      </p:grpSp>
      <p:grpSp>
        <p:nvGrpSpPr>
          <p:cNvPr id="7" name="Group 44"/>
          <p:cNvGrpSpPr>
            <a:grpSpLocks/>
          </p:cNvGrpSpPr>
          <p:nvPr/>
        </p:nvGrpSpPr>
        <p:grpSpPr bwMode="auto">
          <a:xfrm>
            <a:off x="2074863" y="3113088"/>
            <a:ext cx="6037262" cy="568325"/>
            <a:chOff x="0" y="2315"/>
            <a:chExt cx="3803" cy="358"/>
          </a:xfrm>
        </p:grpSpPr>
        <p:sp>
          <p:nvSpPr>
            <p:cNvPr id="26634" name="Rectangle 25"/>
            <p:cNvSpPr>
              <a:spLocks noChangeArrowheads="1"/>
            </p:cNvSpPr>
            <p:nvPr/>
          </p:nvSpPr>
          <p:spPr bwMode="auto">
            <a:xfrm>
              <a:off x="0" y="2315"/>
              <a:ext cx="170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latin typeface="楷体_GB2312" pitchFamily="49" charset="-122"/>
                  <a:ea typeface="楷体_GB2312" pitchFamily="49" charset="-122"/>
                </a:rPr>
                <a:t> </a:t>
              </a:r>
              <a:r>
                <a:rPr lang="en-US" altLang="zh-CN" sz="2400">
                  <a:latin typeface="宋体" panose="02010600030101010101" pitchFamily="2" charset="-122"/>
                </a:rPr>
                <a:t>(2) </a:t>
              </a:r>
              <a:r>
                <a:rPr lang="zh-CN" altLang="en-US" sz="2400">
                  <a:latin typeface="宋体" panose="02010600030101010101" pitchFamily="2" charset="-122"/>
                </a:rPr>
                <a:t>齐次性：</a:t>
              </a:r>
            </a:p>
          </p:txBody>
        </p:sp>
        <mc:AlternateContent xmlns:mc="http://schemas.openxmlformats.org/markup-compatibility/2006">
          <mc:Choice xmlns:a14="http://schemas.microsoft.com/office/drawing/2010/main" Requires="a14">
            <p:sp>
              <p:nvSpPr>
                <p:cNvPr id="26635" name="Object 24"/>
                <p:cNvSpPr txBox="1"/>
                <p:nvPr/>
              </p:nvSpPr>
              <p:spPr bwMode="auto">
                <a:xfrm>
                  <a:off x="1218" y="2345"/>
                  <a:ext cx="2585" cy="328"/>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𝛼</m:t>
                            </m:r>
                          </m:e>
                        </m:d>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𝛼</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𝑅</m:t>
                        </m:r>
                        <m:func>
                          <m:funcPr>
                            <m:ctrlPr>
                              <a:rPr lang="zh-CN" altLang="en-US" i="1">
                                <a:solidFill>
                                  <a:srgbClr val="000000"/>
                                </a:solidFill>
                                <a:latin typeface="Cambria Math" panose="02040503050406030204" pitchFamily="18" charset="0"/>
                              </a:rPr>
                            </m:ctrlPr>
                          </m:funcPr>
                          <m:fName>
                            <m:r>
                              <a:rPr lang="zh-CN" altLang="en-US" i="0">
                                <a:solidFill>
                                  <a:srgbClr val="000000"/>
                                </a:solidFill>
                                <a:latin typeface="Cambria Math" panose="02040503050406030204" pitchFamily="18" charset="0"/>
                              </a:rPr>
                              <m:t>;</m:t>
                            </m:r>
                          </m:fName>
                          <m:e/>
                        </m:func>
                      </m:oMath>
                    </m:oMathPara>
                  </a14:m>
                  <a:endParaRPr lang="zh-CN" altLang="en-US"/>
                </a:p>
              </p:txBody>
            </p:sp>
          </mc:Choice>
          <mc:Fallback>
            <p:sp>
              <p:nvSpPr>
                <p:cNvPr id="26635" name="Object 24"/>
                <p:cNvSpPr txBox="1">
                  <a:spLocks noRot="1" noChangeAspect="1" noMove="1" noResize="1" noEditPoints="1" noAdjustHandles="1" noChangeArrowheads="1" noChangeShapeType="1" noTextEdit="1"/>
                </p:cNvSpPr>
                <p:nvPr/>
              </p:nvSpPr>
              <p:spPr bwMode="auto">
                <a:xfrm>
                  <a:off x="1218" y="2345"/>
                  <a:ext cx="2585" cy="328"/>
                </a:xfrm>
                <a:prstGeom prst="rect">
                  <a:avLst/>
                </a:prstGeom>
                <a:blipFill>
                  <a:blip r:embed="rId12"/>
                  <a:stretch>
                    <a:fillRect/>
                  </a:stretch>
                </a:blipFill>
                <a:ln>
                  <a:noFill/>
                </a:ln>
                <a:extLst/>
              </p:spPr>
              <p:txBody>
                <a:bodyPr/>
                <a:lstStyle/>
                <a:p>
                  <a:r>
                    <a:rPr lang="zh-CN" altLang="en-US">
                      <a:noFill/>
                    </a:rPr>
                    <a:t> </a:t>
                  </a:r>
                </a:p>
              </p:txBody>
            </p:sp>
          </mc:Fallback>
        </mc:AlternateContent>
      </p:grpSp>
      <p:grpSp>
        <p:nvGrpSpPr>
          <p:cNvPr id="8" name="Group 32"/>
          <p:cNvGrpSpPr>
            <a:grpSpLocks/>
          </p:cNvGrpSpPr>
          <p:nvPr/>
        </p:nvGrpSpPr>
        <p:grpSpPr bwMode="auto">
          <a:xfrm>
            <a:off x="2168525" y="3933825"/>
            <a:ext cx="6723063" cy="528638"/>
            <a:chOff x="134" y="2632"/>
            <a:chExt cx="4235" cy="333"/>
          </a:xfrm>
        </p:grpSpPr>
        <p:sp>
          <p:nvSpPr>
            <p:cNvPr id="39955" name="Rectangle 30"/>
            <p:cNvSpPr>
              <a:spLocks noChangeArrowheads="1"/>
            </p:cNvSpPr>
            <p:nvPr/>
          </p:nvSpPr>
          <p:spPr bwMode="auto">
            <a:xfrm>
              <a:off x="134" y="2632"/>
              <a:ext cx="1667" cy="291"/>
            </a:xfrm>
            <a:prstGeom prst="rect">
              <a:avLst/>
            </a:prstGeom>
            <a:noFill/>
            <a:ln w="9525">
              <a:noFill/>
              <a:miter lim="800000"/>
              <a:headEnd/>
              <a:tailEnd/>
            </a:ln>
          </p:spPr>
          <p:txBody>
            <a:bodyPr wrap="none" anchor="ctr">
              <a:spAutoFit/>
            </a:bodyPr>
            <a:lstStyle/>
            <a:p>
              <a:pPr eaLnBrk="1" hangingPunct="1">
                <a:defRPr/>
              </a:pPr>
              <a:r>
                <a:rPr lang="en-US" altLang="zh-CN" dirty="0">
                  <a:latin typeface="+mn-ea"/>
                  <a:ea typeface="+mn-ea"/>
                </a:rPr>
                <a:t>(3) </a:t>
              </a:r>
              <a:r>
                <a:rPr lang="zh-CN" altLang="en-US" dirty="0">
                  <a:latin typeface="+mn-ea"/>
                  <a:ea typeface="+mn-ea"/>
                </a:rPr>
                <a:t>三角不等式：</a:t>
              </a:r>
            </a:p>
          </p:txBody>
        </p:sp>
        <mc:AlternateContent xmlns:mc="http://schemas.openxmlformats.org/markup-compatibility/2006">
          <mc:Choice xmlns:a14="http://schemas.microsoft.com/office/drawing/2010/main" Requires="a14">
            <p:sp>
              <p:nvSpPr>
                <p:cNvPr id="26633" name="Object 29"/>
                <p:cNvSpPr txBox="1"/>
                <p:nvPr/>
              </p:nvSpPr>
              <p:spPr bwMode="auto">
                <a:xfrm>
                  <a:off x="1701" y="2632"/>
                  <a:ext cx="2668" cy="333"/>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r>
                          <a:rPr lang="zh-CN" altLang="en-US" i="1">
                            <a:solidFill>
                              <a:srgbClr val="000000"/>
                            </a:solidFill>
                            <a:latin typeface="Cambria Math" panose="02040503050406030204" pitchFamily="18" charset="0"/>
                          </a:rPr>
                          <m:t>, </m:t>
                        </m:r>
                        <m: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𝑅</m:t>
                            </m:r>
                          </m:e>
                          <m:sup>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p>
                        </m:sSup>
                        <m:r>
                          <a:rPr lang="zh-CN" altLang="en-US" i="1">
                            <a:solidFill>
                              <a:srgbClr val="000000"/>
                            </a:solidFill>
                            <a:latin typeface="Cambria Math" panose="02040503050406030204" pitchFamily="18" charset="0"/>
                          </a:rPr>
                          <m:t>.</m:t>
                        </m:r>
                      </m:oMath>
                    </m:oMathPara>
                  </a14:m>
                  <a:endParaRPr lang="zh-CN" altLang="en-US"/>
                </a:p>
              </p:txBody>
            </p:sp>
          </mc:Choice>
          <mc:Fallback>
            <p:sp>
              <p:nvSpPr>
                <p:cNvPr id="26633" name="Object 29"/>
                <p:cNvSpPr txBox="1">
                  <a:spLocks noRot="1" noChangeAspect="1" noMove="1" noResize="1" noEditPoints="1" noAdjustHandles="1" noChangeArrowheads="1" noChangeShapeType="1" noTextEdit="1"/>
                </p:cNvSpPr>
                <p:nvPr/>
              </p:nvSpPr>
              <p:spPr bwMode="auto">
                <a:xfrm>
                  <a:off x="1701" y="2632"/>
                  <a:ext cx="2668" cy="333"/>
                </a:xfrm>
                <a:prstGeom prst="rect">
                  <a:avLst/>
                </a:prstGeom>
                <a:blipFill>
                  <a:blip r:embed="rId13"/>
                  <a:stretch>
                    <a:fillRect/>
                  </a:stretch>
                </a:blipFill>
                <a:ln>
                  <a:noFill/>
                </a:ln>
                <a:extLst/>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1"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1000"/>
                                        <p:tgtEl>
                                          <p:spTgt spid="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8" presetClass="entr" presetSubtype="12"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trips(downLeft)">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lide(fromBottom)">
                                      <p:cBhvr>
                                        <p:cTn id="21" dur="500"/>
                                        <p:tgtEl>
                                          <p:spTgt spid="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500"/>
                                        <p:tgtEl>
                                          <p:spTgt spid="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checkerboard(across)">
                                      <p:cBhvr>
                                        <p:cTn id="3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11"/>
          <p:cNvSpPr txBox="1">
            <a:spLocks noChangeArrowheads="1"/>
          </p:cNvSpPr>
          <p:nvPr/>
        </p:nvSpPr>
        <p:spPr bwMode="auto">
          <a:xfrm>
            <a:off x="1919288" y="260350"/>
            <a:ext cx="48244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宋体" panose="02010600030101010101" pitchFamily="2" charset="-122"/>
              </a:rPr>
              <a:t>常用的矩阵范数：</a:t>
            </a:r>
          </a:p>
        </p:txBody>
      </p:sp>
      <p:grpSp>
        <p:nvGrpSpPr>
          <p:cNvPr id="27651" name="组合 36"/>
          <p:cNvGrpSpPr>
            <a:grpSpLocks/>
          </p:cNvGrpSpPr>
          <p:nvPr/>
        </p:nvGrpSpPr>
        <p:grpSpPr bwMode="auto">
          <a:xfrm>
            <a:off x="2351088" y="769938"/>
            <a:ext cx="6270625" cy="860425"/>
            <a:chOff x="827089" y="908720"/>
            <a:chExt cx="6271244" cy="859409"/>
          </a:xfrm>
        </p:grpSpPr>
        <mc:AlternateContent xmlns:mc="http://schemas.openxmlformats.org/markup-compatibility/2006">
          <mc:Choice xmlns:a14="http://schemas.microsoft.com/office/drawing/2010/main" Requires="a14">
            <p:sp>
              <p:nvSpPr>
                <p:cNvPr id="27671" name="Object 16"/>
                <p:cNvSpPr txBox="1"/>
                <p:nvPr/>
              </p:nvSpPr>
              <p:spPr bwMode="auto">
                <a:xfrm>
                  <a:off x="1979714" y="908720"/>
                  <a:ext cx="2520279" cy="859409"/>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d>
                          </m:e>
                        </m:nary>
                      </m:oMath>
                    </m:oMathPara>
                  </a14:m>
                  <a:endParaRPr lang="zh-CN" altLang="en-US"/>
                </a:p>
              </p:txBody>
            </p:sp>
          </mc:Choice>
          <mc:Fallback>
            <p:sp>
              <p:nvSpPr>
                <p:cNvPr id="27671" name="Object 16"/>
                <p:cNvSpPr txBox="1">
                  <a:spLocks noRot="1" noChangeAspect="1" noMove="1" noResize="1" noEditPoints="1" noAdjustHandles="1" noChangeArrowheads="1" noChangeShapeType="1" noTextEdit="1"/>
                </p:cNvSpPr>
                <p:nvPr/>
              </p:nvSpPr>
              <p:spPr bwMode="auto">
                <a:xfrm>
                  <a:off x="1979714" y="908720"/>
                  <a:ext cx="2520279" cy="859409"/>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40984" name="Text Box 17"/>
            <p:cNvSpPr txBox="1">
              <a:spLocks noChangeArrowheads="1"/>
            </p:cNvSpPr>
            <p:nvPr/>
          </p:nvSpPr>
          <p:spPr bwMode="auto">
            <a:xfrm>
              <a:off x="827089" y="1065696"/>
              <a:ext cx="954181" cy="461418"/>
            </a:xfrm>
            <a:prstGeom prst="rect">
              <a:avLst/>
            </a:prstGeom>
            <a:noFill/>
            <a:ln w="9525">
              <a:noFill/>
              <a:miter lim="800000"/>
              <a:headEnd/>
              <a:tailEnd/>
            </a:ln>
          </p:spPr>
          <p:txBody>
            <a:bodyPr wrap="none">
              <a:spAutoFit/>
            </a:bodyPr>
            <a:lstStyle/>
            <a:p>
              <a:pPr eaLnBrk="1" hangingPunct="1">
                <a:spcBef>
                  <a:spcPct val="50000"/>
                </a:spcBef>
                <a:defRPr/>
              </a:pPr>
              <a:r>
                <a:rPr lang="zh-CN" altLang="en-US" dirty="0">
                  <a:latin typeface="+mn-ea"/>
                  <a:ea typeface="+mn-ea"/>
                </a:rPr>
                <a:t>（</a:t>
              </a:r>
              <a:r>
                <a:rPr lang="en-US" altLang="zh-CN" dirty="0">
                  <a:latin typeface="+mn-ea"/>
                  <a:ea typeface="+mn-ea"/>
                </a:rPr>
                <a:t>1</a:t>
              </a:r>
              <a:r>
                <a:rPr lang="zh-CN" altLang="en-US" dirty="0">
                  <a:latin typeface="+mn-ea"/>
                  <a:ea typeface="+mn-ea"/>
                </a:rPr>
                <a:t>）</a:t>
              </a:r>
            </a:p>
          </p:txBody>
        </p:sp>
        <p:sp>
          <p:nvSpPr>
            <p:cNvPr id="40985" name="Text Box 28"/>
            <p:cNvSpPr txBox="1">
              <a:spLocks noChangeArrowheads="1"/>
            </p:cNvSpPr>
            <p:nvPr/>
          </p:nvSpPr>
          <p:spPr bwMode="auto">
            <a:xfrm>
              <a:off x="5651977" y="1046669"/>
              <a:ext cx="1446356" cy="461418"/>
            </a:xfrm>
            <a:prstGeom prst="rect">
              <a:avLst/>
            </a:prstGeom>
            <a:noFill/>
            <a:ln w="9525">
              <a:noFill/>
              <a:miter lim="800000"/>
              <a:headEnd/>
              <a:tailEnd/>
            </a:ln>
          </p:spPr>
          <p:txBody>
            <a:bodyPr>
              <a:spAutoFit/>
            </a:bodyPr>
            <a:lstStyle/>
            <a:p>
              <a:pPr eaLnBrk="1" hangingPunct="1">
                <a:spcBef>
                  <a:spcPct val="50000"/>
                </a:spcBef>
                <a:defRPr/>
              </a:pPr>
              <a:r>
                <a:rPr lang="zh-CN" altLang="en-US" dirty="0">
                  <a:solidFill>
                    <a:srgbClr val="7030A0"/>
                  </a:solidFill>
                  <a:latin typeface="+mn-ea"/>
                  <a:ea typeface="+mn-ea"/>
                </a:rPr>
                <a:t>列</a:t>
              </a:r>
              <a:r>
                <a:rPr lang="zh-CN" altLang="en-US" dirty="0">
                  <a:latin typeface="+mn-ea"/>
                  <a:ea typeface="+mn-ea"/>
                </a:rPr>
                <a:t>和范数</a:t>
              </a:r>
            </a:p>
          </p:txBody>
        </p:sp>
      </p:grpSp>
      <p:grpSp>
        <p:nvGrpSpPr>
          <p:cNvPr id="3" name="Group 33"/>
          <p:cNvGrpSpPr>
            <a:grpSpLocks/>
          </p:cNvGrpSpPr>
          <p:nvPr/>
        </p:nvGrpSpPr>
        <p:grpSpPr bwMode="auto">
          <a:xfrm>
            <a:off x="2279650" y="1706563"/>
            <a:ext cx="6432550" cy="746125"/>
            <a:chOff x="483" y="1694"/>
            <a:chExt cx="4187" cy="535"/>
          </a:xfrm>
        </p:grpSpPr>
        <p:grpSp>
          <p:nvGrpSpPr>
            <p:cNvPr id="27667" name="Group 18"/>
            <p:cNvGrpSpPr>
              <a:grpSpLocks/>
            </p:cNvGrpSpPr>
            <p:nvPr/>
          </p:nvGrpSpPr>
          <p:grpSpPr bwMode="auto">
            <a:xfrm>
              <a:off x="483" y="1694"/>
              <a:ext cx="2531" cy="535"/>
              <a:chOff x="437" y="2749"/>
              <a:chExt cx="2287" cy="535"/>
            </a:xfrm>
          </p:grpSpPr>
          <mc:AlternateContent xmlns:mc="http://schemas.openxmlformats.org/markup-compatibility/2006">
            <mc:Choice xmlns:a14="http://schemas.microsoft.com/office/drawing/2010/main" Requires="a14">
              <p:sp>
                <p:nvSpPr>
                  <p:cNvPr id="27669" name="Object 19"/>
                  <p:cNvSpPr txBox="1"/>
                  <p:nvPr/>
                </p:nvSpPr>
                <p:spPr bwMode="auto">
                  <a:xfrm>
                    <a:off x="1157" y="2749"/>
                    <a:ext cx="1567" cy="535"/>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d>
                            </m:e>
                          </m:nary>
                        </m:oMath>
                      </m:oMathPara>
                    </a14:m>
                    <a:endParaRPr lang="zh-CN" altLang="en-US"/>
                  </a:p>
                </p:txBody>
              </p:sp>
            </mc:Choice>
            <mc:Fallback>
              <p:sp>
                <p:nvSpPr>
                  <p:cNvPr id="27669" name="Object 19"/>
                  <p:cNvSpPr txBox="1">
                    <a:spLocks noRot="1" noChangeAspect="1" noMove="1" noResize="1" noEditPoints="1" noAdjustHandles="1" noChangeArrowheads="1" noChangeShapeType="1" noTextEdit="1"/>
                  </p:cNvSpPr>
                  <p:nvPr/>
                </p:nvSpPr>
                <p:spPr bwMode="auto">
                  <a:xfrm>
                    <a:off x="1157" y="2749"/>
                    <a:ext cx="1567" cy="53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40983" name="Text Box 20"/>
              <p:cNvSpPr txBox="1">
                <a:spLocks noChangeArrowheads="1"/>
              </p:cNvSpPr>
              <p:nvPr/>
            </p:nvSpPr>
            <p:spPr bwMode="auto">
              <a:xfrm>
                <a:off x="437" y="2853"/>
                <a:ext cx="561" cy="331"/>
              </a:xfrm>
              <a:prstGeom prst="rect">
                <a:avLst/>
              </a:prstGeom>
              <a:noFill/>
              <a:ln w="9525">
                <a:noFill/>
                <a:miter lim="800000"/>
                <a:headEnd/>
                <a:tailEnd/>
              </a:ln>
            </p:spPr>
            <p:txBody>
              <a:bodyPr wrap="none">
                <a:spAutoFit/>
              </a:bodyPr>
              <a:lstStyle/>
              <a:p>
                <a:pPr eaLnBrk="1" hangingPunct="1">
                  <a:spcBef>
                    <a:spcPct val="50000"/>
                  </a:spcBef>
                  <a:defRPr/>
                </a:pPr>
                <a:r>
                  <a:rPr lang="zh-CN" altLang="en-US" dirty="0">
                    <a:latin typeface="+mn-ea"/>
                    <a:ea typeface="+mn-ea"/>
                  </a:rPr>
                  <a:t>（</a:t>
                </a:r>
                <a:r>
                  <a:rPr lang="en-US" altLang="zh-CN" dirty="0">
                    <a:latin typeface="+mn-ea"/>
                    <a:ea typeface="+mn-ea"/>
                  </a:rPr>
                  <a:t>2</a:t>
                </a:r>
                <a:r>
                  <a:rPr lang="zh-CN" altLang="en-US" dirty="0">
                    <a:latin typeface="+mn-ea"/>
                    <a:ea typeface="+mn-ea"/>
                  </a:rPr>
                  <a:t>）</a:t>
                </a:r>
              </a:p>
            </p:txBody>
          </p:sp>
        </p:grpSp>
        <p:sp>
          <p:nvSpPr>
            <p:cNvPr id="40982" name="Text Box 29"/>
            <p:cNvSpPr txBox="1">
              <a:spLocks noChangeArrowheads="1"/>
            </p:cNvSpPr>
            <p:nvPr/>
          </p:nvSpPr>
          <p:spPr bwMode="auto">
            <a:xfrm>
              <a:off x="3717" y="1793"/>
              <a:ext cx="953" cy="331"/>
            </a:xfrm>
            <a:prstGeom prst="rect">
              <a:avLst/>
            </a:prstGeom>
            <a:noFill/>
            <a:ln w="9525">
              <a:noFill/>
              <a:miter lim="800000"/>
              <a:headEnd/>
              <a:tailEnd/>
            </a:ln>
          </p:spPr>
          <p:txBody>
            <a:bodyPr>
              <a:spAutoFit/>
            </a:bodyPr>
            <a:lstStyle/>
            <a:p>
              <a:pPr eaLnBrk="1" hangingPunct="1">
                <a:spcBef>
                  <a:spcPct val="50000"/>
                </a:spcBef>
                <a:defRPr/>
              </a:pPr>
              <a:r>
                <a:rPr lang="zh-CN" altLang="en-US" dirty="0">
                  <a:solidFill>
                    <a:srgbClr val="7030A0"/>
                  </a:solidFill>
                  <a:latin typeface="+mn-ea"/>
                  <a:ea typeface="+mn-ea"/>
                </a:rPr>
                <a:t>行</a:t>
              </a:r>
              <a:r>
                <a:rPr lang="zh-CN" altLang="en-US" dirty="0">
                  <a:latin typeface="+mn-ea"/>
                  <a:ea typeface="+mn-ea"/>
                </a:rPr>
                <a:t>和范数</a:t>
              </a:r>
            </a:p>
          </p:txBody>
        </p:sp>
      </p:grpSp>
      <p:grpSp>
        <p:nvGrpSpPr>
          <p:cNvPr id="5" name="Group 34"/>
          <p:cNvGrpSpPr>
            <a:grpSpLocks/>
          </p:cNvGrpSpPr>
          <p:nvPr/>
        </p:nvGrpSpPr>
        <p:grpSpPr bwMode="auto">
          <a:xfrm>
            <a:off x="2312988" y="2771775"/>
            <a:ext cx="6448425" cy="652463"/>
            <a:chOff x="497" y="2501"/>
            <a:chExt cx="4062" cy="492"/>
          </a:xfrm>
        </p:grpSpPr>
        <p:grpSp>
          <p:nvGrpSpPr>
            <p:cNvPr id="27663" name="Group 25"/>
            <p:cNvGrpSpPr>
              <a:grpSpLocks/>
            </p:cNvGrpSpPr>
            <p:nvPr/>
          </p:nvGrpSpPr>
          <p:grpSpPr bwMode="auto">
            <a:xfrm>
              <a:off x="497" y="2501"/>
              <a:ext cx="2564" cy="492"/>
              <a:chOff x="567" y="2523"/>
              <a:chExt cx="2564" cy="492"/>
            </a:xfrm>
          </p:grpSpPr>
          <p:sp>
            <p:nvSpPr>
              <p:cNvPr id="40980" name="Text Box 7"/>
              <p:cNvSpPr txBox="1">
                <a:spLocks noChangeArrowheads="1"/>
              </p:cNvSpPr>
              <p:nvPr/>
            </p:nvSpPr>
            <p:spPr bwMode="auto">
              <a:xfrm>
                <a:off x="567" y="2614"/>
                <a:ext cx="601" cy="348"/>
              </a:xfrm>
              <a:prstGeom prst="rect">
                <a:avLst/>
              </a:prstGeom>
              <a:noFill/>
              <a:ln w="9525" algn="ctr">
                <a:noFill/>
                <a:miter lim="800000"/>
                <a:headEnd/>
                <a:tailEnd/>
              </a:ln>
            </p:spPr>
            <p:txBody>
              <a:bodyPr wrap="none">
                <a:spAutoFit/>
              </a:bodyPr>
              <a:lstStyle/>
              <a:p>
                <a:pPr eaLnBrk="1" hangingPunct="1">
                  <a:spcBef>
                    <a:spcPct val="50000"/>
                  </a:spcBef>
                  <a:defRPr/>
                </a:pPr>
                <a:r>
                  <a:rPr lang="zh-CN" altLang="en-US" dirty="0">
                    <a:latin typeface="+mn-ea"/>
                    <a:ea typeface="+mn-ea"/>
                  </a:rPr>
                  <a:t>（</a:t>
                </a:r>
                <a:r>
                  <a:rPr lang="en-US" altLang="zh-CN" dirty="0">
                    <a:latin typeface="+mn-ea"/>
                    <a:ea typeface="+mn-ea"/>
                  </a:rPr>
                  <a:t>3</a:t>
                </a:r>
                <a:r>
                  <a:rPr lang="zh-CN" altLang="en-US" dirty="0">
                    <a:latin typeface="+mn-ea"/>
                    <a:ea typeface="+mn-ea"/>
                  </a:rPr>
                  <a:t>）</a:t>
                </a:r>
              </a:p>
            </p:txBody>
          </p:sp>
          <mc:AlternateContent xmlns:mc="http://schemas.openxmlformats.org/markup-compatibility/2006">
            <mc:Choice xmlns:a14="http://schemas.microsoft.com/office/drawing/2010/main" Requires="a14">
              <p:sp>
                <p:nvSpPr>
                  <p:cNvPr id="27666" name="Object 21"/>
                  <p:cNvSpPr txBox="1"/>
                  <p:nvPr/>
                </p:nvSpPr>
                <p:spPr bwMode="auto">
                  <a:xfrm>
                    <a:off x="1317" y="2523"/>
                    <a:ext cx="1814" cy="492"/>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𝜆</m:t>
                                  </m:r>
                                </m:e>
                                <m:sub>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max</m:t>
                                      </m:r>
                                    </m:fName>
                                    <m:e/>
                                  </m:func>
                                </m:sub>
                              </m:sSub>
                              <m:d>
                                <m:dPr>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𝑇</m:t>
                                      </m:r>
                                    </m:sup>
                                  </m:sSup>
                                  <m:r>
                                    <a:rPr lang="zh-CN" altLang="en-US" i="1">
                                      <a:solidFill>
                                        <a:srgbClr val="000000"/>
                                      </a:solidFill>
                                      <a:latin typeface="Cambria Math" panose="02040503050406030204" pitchFamily="18" charset="0"/>
                                    </a:rPr>
                                    <m:t>𝐴</m:t>
                                  </m:r>
                                </m:e>
                              </m:d>
                            </m:e>
                          </m:rad>
                        </m:oMath>
                      </m:oMathPara>
                    </a14:m>
                    <a:endParaRPr lang="zh-CN" altLang="en-US"/>
                  </a:p>
                </p:txBody>
              </p:sp>
            </mc:Choice>
            <mc:Fallback>
              <p:sp>
                <p:nvSpPr>
                  <p:cNvPr id="27666" name="Object 21"/>
                  <p:cNvSpPr txBox="1">
                    <a:spLocks noRot="1" noChangeAspect="1" noMove="1" noResize="1" noEditPoints="1" noAdjustHandles="1" noChangeArrowheads="1" noChangeShapeType="1" noTextEdit="1"/>
                  </p:cNvSpPr>
                  <p:nvPr/>
                </p:nvSpPr>
                <p:spPr bwMode="auto">
                  <a:xfrm>
                    <a:off x="1317" y="2523"/>
                    <a:ext cx="1814" cy="492"/>
                  </a:xfrm>
                  <a:prstGeom prst="rect">
                    <a:avLst/>
                  </a:prstGeom>
                  <a:blipFill>
                    <a:blip r:embed="rId4"/>
                    <a:stretch>
                      <a:fillRect/>
                    </a:stretch>
                  </a:blipFill>
                  <a:ln>
                    <a:noFill/>
                  </a:ln>
                  <a:extLst/>
                </p:spPr>
                <p:txBody>
                  <a:bodyPr/>
                  <a:lstStyle/>
                  <a:p>
                    <a:r>
                      <a:rPr lang="zh-CN" altLang="en-US">
                        <a:noFill/>
                      </a:rPr>
                      <a:t> </a:t>
                    </a:r>
                  </a:p>
                </p:txBody>
              </p:sp>
            </mc:Fallback>
          </mc:AlternateContent>
        </p:grpSp>
        <p:sp>
          <p:nvSpPr>
            <p:cNvPr id="27664" name="Text Box 30"/>
            <p:cNvSpPr txBox="1">
              <a:spLocks noChangeArrowheads="1"/>
            </p:cNvSpPr>
            <p:nvPr/>
          </p:nvSpPr>
          <p:spPr bwMode="auto">
            <a:xfrm>
              <a:off x="3606" y="2614"/>
              <a:ext cx="953"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rgbClr val="7030A0"/>
                  </a:solidFill>
                  <a:latin typeface="宋体" panose="02010600030101010101" pitchFamily="2" charset="-122"/>
                </a:rPr>
                <a:t>谱</a:t>
              </a:r>
              <a:r>
                <a:rPr lang="zh-CN" altLang="en-US" sz="2400" dirty="0">
                  <a:latin typeface="宋体" panose="02010600030101010101" pitchFamily="2" charset="-122"/>
                </a:rPr>
                <a:t>范数</a:t>
              </a:r>
            </a:p>
          </p:txBody>
        </p:sp>
      </p:grpSp>
      <p:grpSp>
        <p:nvGrpSpPr>
          <p:cNvPr id="7" name="Group 35"/>
          <p:cNvGrpSpPr>
            <a:grpSpLocks/>
          </p:cNvGrpSpPr>
          <p:nvPr/>
        </p:nvGrpSpPr>
        <p:grpSpPr bwMode="auto">
          <a:xfrm>
            <a:off x="2351088" y="3717925"/>
            <a:ext cx="6553200" cy="885825"/>
            <a:chOff x="522" y="3203"/>
            <a:chExt cx="4128" cy="637"/>
          </a:xfrm>
        </p:grpSpPr>
        <p:grpSp>
          <p:nvGrpSpPr>
            <p:cNvPr id="27659" name="Group 26"/>
            <p:cNvGrpSpPr>
              <a:grpSpLocks/>
            </p:cNvGrpSpPr>
            <p:nvPr/>
          </p:nvGrpSpPr>
          <p:grpSpPr bwMode="auto">
            <a:xfrm>
              <a:off x="522" y="3203"/>
              <a:ext cx="2404" cy="637"/>
              <a:chOff x="567" y="3294"/>
              <a:chExt cx="2404" cy="637"/>
            </a:xfrm>
          </p:grpSpPr>
          <p:sp>
            <p:nvSpPr>
              <p:cNvPr id="40977" name="Text Box 4"/>
              <p:cNvSpPr txBox="1">
                <a:spLocks noChangeArrowheads="1"/>
              </p:cNvSpPr>
              <p:nvPr/>
            </p:nvSpPr>
            <p:spPr bwMode="auto">
              <a:xfrm>
                <a:off x="567" y="3430"/>
                <a:ext cx="712" cy="332"/>
              </a:xfrm>
              <a:prstGeom prst="rect">
                <a:avLst/>
              </a:prstGeom>
              <a:noFill/>
              <a:ln w="9525" algn="ctr">
                <a:noFill/>
                <a:miter lim="800000"/>
                <a:headEnd/>
                <a:tailEnd/>
              </a:ln>
            </p:spPr>
            <p:txBody>
              <a:bodyPr>
                <a:spAutoFit/>
              </a:bodyPr>
              <a:lstStyle/>
              <a:p>
                <a:pPr eaLnBrk="1" hangingPunct="1">
                  <a:spcBef>
                    <a:spcPct val="50000"/>
                  </a:spcBef>
                  <a:defRPr/>
                </a:pPr>
                <a:r>
                  <a:rPr lang="zh-CN" altLang="en-US" dirty="0">
                    <a:latin typeface="+mn-ea"/>
                    <a:ea typeface="+mn-ea"/>
                  </a:rPr>
                  <a:t>（</a:t>
                </a:r>
                <a:r>
                  <a:rPr lang="en-US" altLang="zh-CN" dirty="0">
                    <a:latin typeface="+mn-ea"/>
                    <a:ea typeface="+mn-ea"/>
                  </a:rPr>
                  <a:t>4</a:t>
                </a:r>
                <a:r>
                  <a:rPr lang="zh-CN" altLang="en-US" dirty="0">
                    <a:latin typeface="+mn-ea"/>
                    <a:ea typeface="+mn-ea"/>
                  </a:rPr>
                  <a:t>）</a:t>
                </a:r>
              </a:p>
            </p:txBody>
          </p:sp>
          <mc:AlternateContent xmlns:mc="http://schemas.openxmlformats.org/markup-compatibility/2006">
            <mc:Choice xmlns:a14="http://schemas.microsoft.com/office/drawing/2010/main" Requires="a14">
              <p:sp>
                <p:nvSpPr>
                  <p:cNvPr id="27662" name="Object 23"/>
                  <p:cNvSpPr txBox="1"/>
                  <p:nvPr/>
                </p:nvSpPr>
                <p:spPr bwMode="auto">
                  <a:xfrm>
                    <a:off x="1256" y="3294"/>
                    <a:ext cx="1715" cy="637"/>
                  </a:xfrm>
                  <a:prstGeom prst="rect">
                    <a:avLst/>
                  </a:prstGeom>
                  <a:noFill/>
                  <a:ln>
                    <a:noFill/>
                  </a:ln>
                  <a:extLst/>
                </p:spPr>
                <p:txBody>
                  <a:bodyPr>
                    <a:normAutofit fontScale="550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𝐹</m:t>
                              </m:r>
                            </m:sub>
                          </m:sSub>
                          <m:r>
                            <a:rPr lang="zh-CN" altLang="en-US" i="1">
                              <a:solidFill>
                                <a:srgbClr val="000000"/>
                              </a:solidFill>
                              <a:latin typeface="Cambria Math" panose="02040503050406030204" pitchFamily="18" charset="0"/>
                            </a:rPr>
                            <m:t>=</m:t>
                          </m:r>
                          <m:rad>
                            <m:radPr>
                              <m:degHide m:val="on"/>
                              <m:ctrlPr>
                                <a:rPr lang="zh-CN" altLang="en-US" i="1">
                                  <a:solidFill>
                                    <a:srgbClr val="000000"/>
                                  </a:solidFill>
                                  <a:latin typeface="Cambria Math" panose="02040503050406030204" pitchFamily="18" charset="0"/>
                                </a:rPr>
                              </m:ctrlPr>
                            </m:radPr>
                            <m:deg/>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2</m:t>
                                          </m:r>
                                        </m:sup>
                                      </m:sSubSup>
                                    </m:e>
                                  </m:nary>
                                </m:e>
                              </m:nary>
                            </m:e>
                          </m:rad>
                        </m:oMath>
                      </m:oMathPara>
                    </a14:m>
                    <a:endParaRPr lang="zh-CN" altLang="en-US"/>
                  </a:p>
                </p:txBody>
              </p:sp>
            </mc:Choice>
            <mc:Fallback>
              <p:sp>
                <p:nvSpPr>
                  <p:cNvPr id="27662" name="Object 23"/>
                  <p:cNvSpPr txBox="1">
                    <a:spLocks noRot="1" noChangeAspect="1" noMove="1" noResize="1" noEditPoints="1" noAdjustHandles="1" noChangeArrowheads="1" noChangeShapeType="1" noTextEdit="1"/>
                  </p:cNvSpPr>
                  <p:nvPr/>
                </p:nvSpPr>
                <p:spPr bwMode="auto">
                  <a:xfrm>
                    <a:off x="1256" y="3294"/>
                    <a:ext cx="1715" cy="637"/>
                  </a:xfrm>
                  <a:prstGeom prst="rect">
                    <a:avLst/>
                  </a:prstGeom>
                  <a:blipFill>
                    <a:blip r:embed="rId5"/>
                    <a:stretch>
                      <a:fillRect/>
                    </a:stretch>
                  </a:blipFill>
                  <a:ln>
                    <a:noFill/>
                  </a:ln>
                  <a:extLst/>
                </p:spPr>
                <p:txBody>
                  <a:bodyPr/>
                  <a:lstStyle/>
                  <a:p>
                    <a:r>
                      <a:rPr lang="zh-CN" altLang="en-US">
                        <a:noFill/>
                      </a:rPr>
                      <a:t> </a:t>
                    </a:r>
                  </a:p>
                </p:txBody>
              </p:sp>
            </mc:Fallback>
          </mc:AlternateContent>
        </p:grpSp>
        <p:sp>
          <p:nvSpPr>
            <p:cNvPr id="40976" name="Text Box 31"/>
            <p:cNvSpPr txBox="1">
              <a:spLocks noChangeArrowheads="1"/>
            </p:cNvSpPr>
            <p:nvPr/>
          </p:nvSpPr>
          <p:spPr bwMode="auto">
            <a:xfrm>
              <a:off x="3697" y="3339"/>
              <a:ext cx="953" cy="332"/>
            </a:xfrm>
            <a:prstGeom prst="rect">
              <a:avLst/>
            </a:prstGeom>
            <a:noFill/>
            <a:ln w="9525">
              <a:noFill/>
              <a:miter lim="800000"/>
              <a:headEnd/>
              <a:tailEnd/>
            </a:ln>
          </p:spPr>
          <p:txBody>
            <a:bodyPr>
              <a:spAutoFit/>
            </a:bodyPr>
            <a:lstStyle/>
            <a:p>
              <a:pPr eaLnBrk="1" hangingPunct="1">
                <a:spcBef>
                  <a:spcPct val="50000"/>
                </a:spcBef>
                <a:defRPr/>
              </a:pPr>
              <a:r>
                <a:rPr lang="en-US" altLang="zh-CN" dirty="0">
                  <a:solidFill>
                    <a:srgbClr val="7030A0"/>
                  </a:solidFill>
                  <a:latin typeface="+mn-ea"/>
                  <a:ea typeface="+mn-ea"/>
                </a:rPr>
                <a:t>F</a:t>
              </a:r>
              <a:r>
                <a:rPr lang="zh-CN" altLang="en-US" dirty="0">
                  <a:latin typeface="+mn-ea"/>
                  <a:ea typeface="+mn-ea"/>
                </a:rPr>
                <a:t>范数</a:t>
              </a:r>
            </a:p>
          </p:txBody>
        </p:sp>
      </p:grpSp>
      <p:grpSp>
        <p:nvGrpSpPr>
          <p:cNvPr id="9" name="组合 24"/>
          <p:cNvGrpSpPr>
            <a:grpSpLocks/>
          </p:cNvGrpSpPr>
          <p:nvPr/>
        </p:nvGrpSpPr>
        <p:grpSpPr bwMode="auto">
          <a:xfrm>
            <a:off x="1919288" y="4652964"/>
            <a:ext cx="8208962" cy="1598135"/>
            <a:chOff x="395536" y="4652962"/>
            <a:chExt cx="8208714" cy="1598266"/>
          </a:xfrm>
        </p:grpSpPr>
        <p:sp>
          <p:nvSpPr>
            <p:cNvPr id="27656" name="Text Box 37"/>
            <p:cNvSpPr txBox="1">
              <a:spLocks noChangeArrowheads="1"/>
            </p:cNvSpPr>
            <p:nvPr/>
          </p:nvSpPr>
          <p:spPr bwMode="auto">
            <a:xfrm>
              <a:off x="755887" y="4652962"/>
              <a:ext cx="7848363" cy="1508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80000"/>
                </a:lnSpc>
                <a:spcBef>
                  <a:spcPct val="50000"/>
                </a:spcBef>
                <a:buFontTx/>
                <a:buNone/>
              </a:pPr>
              <a:r>
                <a:rPr lang="zh-CN" altLang="en-US" sz="2400" dirty="0">
                  <a:latin typeface="宋体" panose="02010600030101010101" pitchFamily="2" charset="-122"/>
                </a:rPr>
                <a:t>定义</a:t>
              </a:r>
              <a:r>
                <a:rPr lang="en-US" altLang="zh-CN" sz="2400" dirty="0">
                  <a:latin typeface="宋体" panose="02010600030101010101" pitchFamily="2" charset="-122"/>
                </a:rPr>
                <a:t>3</a:t>
              </a:r>
              <a:r>
                <a:rPr lang="zh-CN" altLang="en-US" sz="2400" dirty="0">
                  <a:latin typeface="宋体" panose="02010600030101010101" pitchFamily="2" charset="-122"/>
                </a:rPr>
                <a:t>：设 </a:t>
              </a:r>
              <a:r>
                <a:rPr lang="en-US" altLang="zh-CN" sz="2400" i="1" dirty="0" err="1"/>
                <a:t>n</a:t>
              </a:r>
              <a:r>
                <a:rPr lang="en-US" altLang="zh-CN" sz="2400" dirty="0" err="1"/>
                <a:t>×</a:t>
              </a:r>
              <a:r>
                <a:rPr lang="en-US" altLang="zh-CN" sz="2400" i="1" dirty="0" err="1"/>
                <a:t>n</a:t>
              </a:r>
              <a:r>
                <a:rPr lang="zh-CN" altLang="en-US" sz="2400" dirty="0">
                  <a:latin typeface="宋体" panose="02010600030101010101" pitchFamily="2" charset="-122"/>
                </a:rPr>
                <a:t> 阶矩阵</a:t>
              </a:r>
              <a:r>
                <a:rPr lang="en-US" altLang="zh-CN" sz="2400" i="1" dirty="0"/>
                <a:t>G</a:t>
              </a:r>
              <a:r>
                <a:rPr lang="zh-CN" altLang="en-US" sz="2400" dirty="0">
                  <a:latin typeface="宋体" panose="02010600030101010101" pitchFamily="2" charset="-122"/>
                </a:rPr>
                <a:t> </a:t>
              </a:r>
              <a:r>
                <a:rPr lang="zh-CN" altLang="en-US" sz="2400" dirty="0">
                  <a:solidFill>
                    <a:srgbClr val="FF0000"/>
                  </a:solidFill>
                  <a:latin typeface="宋体" panose="02010600030101010101" pitchFamily="2" charset="-122"/>
                </a:rPr>
                <a:t>在复数范围内</a:t>
              </a:r>
              <a:r>
                <a:rPr lang="zh-CN" altLang="en-US" sz="2400" dirty="0">
                  <a:latin typeface="宋体" panose="02010600030101010101" pitchFamily="2" charset="-122"/>
                </a:rPr>
                <a:t>的诸特征值为</a:t>
              </a:r>
              <a:endParaRPr lang="en-US" altLang="zh-CN" sz="2400" dirty="0">
                <a:latin typeface="宋体" panose="02010600030101010101" pitchFamily="2" charset="-122"/>
              </a:endParaRPr>
            </a:p>
            <a:p>
              <a:pPr eaLnBrk="1" hangingPunct="1">
                <a:lnSpc>
                  <a:spcPct val="180000"/>
                </a:lnSpc>
                <a:spcBef>
                  <a:spcPct val="50000"/>
                </a:spcBef>
                <a:buFontTx/>
                <a:buNone/>
              </a:pPr>
              <a:r>
                <a:rPr lang="zh-CN" altLang="en-US" sz="2400" dirty="0">
                  <a:latin typeface="宋体" panose="02010600030101010101" pitchFamily="2" charset="-122"/>
                </a:rPr>
                <a:t>            ，则称               为矩阵</a:t>
              </a:r>
              <a:r>
                <a:rPr lang="zh-CN" altLang="en-US" sz="800" dirty="0">
                  <a:latin typeface="宋体" panose="02010600030101010101" pitchFamily="2" charset="-122"/>
                </a:rPr>
                <a:t> </a:t>
              </a:r>
              <a:r>
                <a:rPr lang="en-US" altLang="zh-CN" sz="2400" i="1" dirty="0"/>
                <a:t>G</a:t>
              </a:r>
              <a:r>
                <a:rPr lang="zh-CN" altLang="en-US" sz="800" dirty="0">
                  <a:latin typeface="宋体" panose="02010600030101010101" pitchFamily="2" charset="-122"/>
                </a:rPr>
                <a:t> </a:t>
              </a:r>
              <a:r>
                <a:rPr lang="zh-CN" altLang="en-US" sz="2400" dirty="0">
                  <a:latin typeface="宋体" panose="02010600030101010101" pitchFamily="2" charset="-122"/>
                </a:rPr>
                <a:t>的</a:t>
              </a:r>
              <a:r>
                <a:rPr lang="zh-CN" altLang="en-US" sz="2400" dirty="0">
                  <a:solidFill>
                    <a:srgbClr val="FF0000"/>
                  </a:solidFill>
                </a:rPr>
                <a:t>谱半径</a:t>
              </a:r>
              <a:r>
                <a:rPr lang="zh-CN" altLang="en-US" sz="2400" dirty="0"/>
                <a:t>。</a:t>
              </a:r>
            </a:p>
          </p:txBody>
        </p:sp>
        <mc:AlternateContent xmlns:mc="http://schemas.openxmlformats.org/markup-compatibility/2006">
          <mc:Choice xmlns:a14="http://schemas.microsoft.com/office/drawing/2010/main" Requires="a14">
            <p:sp>
              <p:nvSpPr>
                <p:cNvPr id="27657" name="Object 39"/>
                <p:cNvSpPr txBox="1"/>
                <p:nvPr/>
              </p:nvSpPr>
              <p:spPr bwMode="auto">
                <a:xfrm>
                  <a:off x="395536" y="5647779"/>
                  <a:ext cx="2220912" cy="51752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𝜆</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oMath>
                    </m:oMathPara>
                  </a14:m>
                  <a:endParaRPr lang="zh-CN" altLang="en-US"/>
                </a:p>
              </p:txBody>
            </p:sp>
          </mc:Choice>
          <mc:Fallback>
            <p:sp>
              <p:nvSpPr>
                <p:cNvPr id="27657" name="Object 39"/>
                <p:cNvSpPr txBox="1">
                  <a:spLocks noRot="1" noChangeAspect="1" noMove="1" noResize="1" noEditPoints="1" noAdjustHandles="1" noChangeArrowheads="1" noChangeShapeType="1" noTextEdit="1"/>
                </p:cNvSpPr>
                <p:nvPr/>
              </p:nvSpPr>
              <p:spPr bwMode="auto">
                <a:xfrm>
                  <a:off x="395536" y="5647779"/>
                  <a:ext cx="2220912" cy="517525"/>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658" name="Object 45"/>
                <p:cNvSpPr txBox="1"/>
                <p:nvPr/>
              </p:nvSpPr>
              <p:spPr bwMode="auto">
                <a:xfrm>
                  <a:off x="3682240" y="5589240"/>
                  <a:ext cx="2185987" cy="661988"/>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𝐺</m:t>
                        </m:r>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𝜆</m:t>
                                </m:r>
                              </m:e>
                              <m:sub>
                                <m:r>
                                  <a:rPr lang="zh-CN" altLang="en-US" i="1">
                                    <a:solidFill>
                                      <a:srgbClr val="000000"/>
                                    </a:solidFill>
                                    <a:latin typeface="Cambria Math" panose="02040503050406030204" pitchFamily="18" charset="0"/>
                                  </a:rPr>
                                  <m:t>𝑖</m:t>
                                </m:r>
                              </m:sub>
                            </m:sSub>
                          </m:e>
                        </m:d>
                      </m:oMath>
                    </m:oMathPara>
                  </a14:m>
                  <a:endParaRPr lang="zh-CN" altLang="en-US"/>
                </a:p>
              </p:txBody>
            </p:sp>
          </mc:Choice>
          <mc:Fallback>
            <p:sp>
              <p:nvSpPr>
                <p:cNvPr id="27658" name="Object 45"/>
                <p:cNvSpPr txBox="1">
                  <a:spLocks noRot="1" noChangeAspect="1" noMove="1" noResize="1" noEditPoints="1" noAdjustHandles="1" noChangeArrowheads="1" noChangeShapeType="1" noTextEdit="1"/>
                </p:cNvSpPr>
                <p:nvPr/>
              </p:nvSpPr>
              <p:spPr bwMode="auto">
                <a:xfrm>
                  <a:off x="3682240" y="5589240"/>
                  <a:ext cx="2185987" cy="661988"/>
                </a:xfrm>
                <a:prstGeom prst="rect">
                  <a:avLst/>
                </a:prstGeom>
                <a:blipFill>
                  <a:blip r:embed="rId7"/>
                  <a:stretch>
                    <a:fillRect/>
                  </a:stretch>
                </a:blipFill>
                <a:ln>
                  <a:noFill/>
                </a:ln>
                <a:extLst/>
              </p:spPr>
              <p:txBody>
                <a:bodyPr/>
                <a:lstStyle/>
                <a:p>
                  <a:r>
                    <a:rPr lang="zh-CN" altLang="en-US">
                      <a:noFill/>
                    </a:rPr>
                    <a:t> </a:t>
                  </a:r>
                </a:p>
              </p:txBody>
            </p:sp>
          </mc:Fallback>
        </mc:AlternateContent>
      </p:grpSp>
      <p:sp>
        <p:nvSpPr>
          <p:cNvPr id="2" name="矩形 1"/>
          <p:cNvSpPr/>
          <p:nvPr/>
        </p:nvSpPr>
        <p:spPr>
          <a:xfrm>
            <a:off x="2194766" y="6257357"/>
            <a:ext cx="9097868" cy="461665"/>
          </a:xfrm>
          <a:prstGeom prst="rect">
            <a:avLst/>
          </a:prstGeom>
          <a:ln>
            <a:solidFill>
              <a:schemeClr val="accent1"/>
            </a:solidFill>
          </a:ln>
        </p:spPr>
        <p:txBody>
          <a:bodyPr wrap="square">
            <a:spAutoFit/>
          </a:bodyPr>
          <a:lstStyle/>
          <a:p>
            <a:r>
              <a:rPr lang="zh-CN" altLang="en-US" dirty="0">
                <a:solidFill>
                  <a:srgbClr val="333333"/>
                </a:solidFill>
              </a:rPr>
              <a:t>注：若特征值为复数，则谱半径为实部与虚部的平方和的开方。</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10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2639616" y="764704"/>
                <a:ext cx="6062685" cy="708143"/>
              </a:xfrm>
              <a:prstGeom prst="rect">
                <a:avLst/>
              </a:prstGeom>
              <a:noFill/>
            </p:spPr>
            <p:txBody>
              <a:bodyPr wrap="none" rtlCol="0">
                <a:spAutoFit/>
              </a:bodyPr>
              <a:lstStyle/>
              <a:p>
                <a:r>
                  <a:rPr lang="zh-CN" altLang="en-US" dirty="0"/>
                  <a:t>例：求矩阵</a:t>
                </a:r>
                <a14:m>
                  <m:oMath xmlns:m="http://schemas.openxmlformats.org/officeDocument/2006/math">
                    <m:r>
                      <m:rPr>
                        <m:sty m:val="p"/>
                      </m:rPr>
                      <a:rPr lang="en-US" altLang="zh-CN" i="1" dirty="0">
                        <a:latin typeface="Cambria Math" panose="02040503050406030204" pitchFamily="18" charset="0"/>
                      </a:rPr>
                      <m:t>A</m:t>
                    </m:r>
                    <m:r>
                      <a:rPr lang="en-US" altLang="zh-CN" b="0" i="0" dirty="0" smtClean="0">
                        <a:latin typeface="Cambria Math" panose="02040503050406030204" pitchFamily="18" charset="0"/>
                      </a:rPr>
                      <m:t>=</m:t>
                    </m:r>
                    <m:d>
                      <m:dPr>
                        <m:begChr m:val="["/>
                        <m:endChr m:val="]"/>
                        <m:ctrlPr>
                          <a:rPr lang="en-US" altLang="zh-CN" b="0" i="1" dirty="0" smtClean="0">
                            <a:latin typeface="Cambria Math" panose="02040503050406030204" pitchFamily="18" charset="0"/>
                          </a:rPr>
                        </m:ctrlPr>
                      </m:dPr>
                      <m:e>
                        <m:m>
                          <m:mPr>
                            <m:mcs>
                              <m:mc>
                                <m:mcPr>
                                  <m:count m:val="2"/>
                                  <m:mcJc m:val="center"/>
                                </m:mcPr>
                              </m:mc>
                            </m:mcs>
                            <m:ctrlPr>
                              <a:rPr lang="en-US" altLang="zh-CN" b="0" i="1" dirty="0" smtClean="0">
                                <a:latin typeface="Cambria Math" panose="02040503050406030204" pitchFamily="18" charset="0"/>
                              </a:rPr>
                            </m:ctrlPr>
                          </m:mPr>
                          <m:mr>
                            <m:e>
                              <m:r>
                                <m:rPr>
                                  <m:brk m:alnAt="7"/>
                                </m:rPr>
                                <a:rPr lang="en-US" altLang="zh-CN" b="0" i="1" dirty="0" smtClean="0">
                                  <a:latin typeface="Cambria Math" panose="02040503050406030204" pitchFamily="18" charset="0"/>
                                </a:rPr>
                                <m:t>1</m:t>
                              </m:r>
                            </m:e>
                            <m:e>
                              <m:r>
                                <a:rPr lang="en-US" altLang="zh-CN" b="0" i="1" dirty="0" smtClean="0">
                                  <a:latin typeface="Cambria Math" panose="02040503050406030204" pitchFamily="18" charset="0"/>
                                </a:rPr>
                                <m:t>−2</m:t>
                              </m:r>
                            </m:e>
                          </m:mr>
                          <m:mr>
                            <m:e>
                              <m:r>
                                <a:rPr lang="en-US" altLang="zh-CN" b="0" i="1" dirty="0" smtClean="0">
                                  <a:latin typeface="Cambria Math" panose="02040503050406030204" pitchFamily="18" charset="0"/>
                                </a:rPr>
                                <m:t>−3</m:t>
                              </m:r>
                            </m:e>
                            <m:e>
                              <m:r>
                                <a:rPr lang="en-US" altLang="zh-CN" b="0" i="1" dirty="0" smtClean="0">
                                  <a:latin typeface="Cambria Math" panose="02040503050406030204" pitchFamily="18" charset="0"/>
                                </a:rPr>
                                <m:t>4</m:t>
                              </m:r>
                            </m:e>
                          </m:mr>
                        </m:m>
                      </m:e>
                    </m:d>
                  </m:oMath>
                </a14:m>
                <a:r>
                  <a:rPr lang="zh-CN" altLang="en-US" dirty="0"/>
                  <a:t>的</a:t>
                </a:r>
                <a:r>
                  <a:rPr lang="en-US" altLang="zh-CN" dirty="0"/>
                  <a:t>1</a:t>
                </a:r>
                <a:r>
                  <a:rPr lang="zh-CN" altLang="en-US" dirty="0"/>
                  <a:t>，</a:t>
                </a:r>
                <a:r>
                  <a:rPr lang="en-US" altLang="zh-CN" dirty="0"/>
                  <a:t>2</a:t>
                </a:r>
                <a:r>
                  <a:rPr lang="zh-CN" altLang="en-US" dirty="0"/>
                  <a:t>，</a:t>
                </a:r>
                <a14:m>
                  <m:oMath xmlns:m="http://schemas.openxmlformats.org/officeDocument/2006/math">
                    <m:r>
                      <a:rPr lang="zh-CN" altLang="en-US" i="1" smtClean="0">
                        <a:latin typeface="Cambria Math" panose="02040503050406030204" pitchFamily="18" charset="0"/>
                      </a:rPr>
                      <m:t>∞</m:t>
                    </m:r>
                  </m:oMath>
                </a14:m>
                <a:r>
                  <a:rPr lang="zh-CN" altLang="en-US" dirty="0"/>
                  <a:t>范式。</a:t>
                </a:r>
              </a:p>
            </p:txBody>
          </p:sp>
        </mc:Choice>
        <mc:Fallback xmlns="">
          <p:sp>
            <p:nvSpPr>
              <p:cNvPr id="4" name="文本框 3"/>
              <p:cNvSpPr txBox="1">
                <a:spLocks noRot="1" noChangeAspect="1" noMove="1" noResize="1" noEditPoints="1" noAdjustHandles="1" noChangeArrowheads="1" noChangeShapeType="1" noTextEdit="1"/>
              </p:cNvSpPr>
              <p:nvPr/>
            </p:nvSpPr>
            <p:spPr>
              <a:xfrm>
                <a:off x="2639616" y="764704"/>
                <a:ext cx="6062685" cy="708143"/>
              </a:xfrm>
              <a:prstGeom prst="rect">
                <a:avLst/>
              </a:prstGeom>
              <a:blipFill>
                <a:blip r:embed="rId2"/>
                <a:stretch>
                  <a:fillRect l="-1508" r="-503" b="-8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3719736" y="1772816"/>
                <a:ext cx="3789884" cy="369332"/>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d>
                          <m:dPr>
                            <m:begChr m:val="‖"/>
                            <m:endChr m:val="‖"/>
                            <m:ctrlPr>
                              <a:rPr lang="en-US" altLang="zh-CN" i="1" smtClean="0">
                                <a:latin typeface="Cambria Math" panose="02040503050406030204" pitchFamily="18" charset="0"/>
                              </a:rPr>
                            </m:ctrlPr>
                          </m:dPr>
                          <m:e>
                            <m:r>
                              <m:rPr>
                                <m:sty m:val="p"/>
                              </m:rPr>
                              <a:rPr lang="en-US" altLang="zh-CN" i="1">
                                <a:latin typeface="Cambria Math" panose="02040503050406030204" pitchFamily="18" charset="0"/>
                              </a:rPr>
                              <m:t>A</m:t>
                            </m:r>
                          </m:e>
                        </m:d>
                      </m:e>
                      <m:sub>
                        <m:r>
                          <a:rPr lang="en-US" altLang="zh-CN" b="0" i="1" smtClean="0">
                            <a:latin typeface="Cambria Math" panose="02040503050406030204" pitchFamily="18" charset="0"/>
                          </a:rPr>
                          <m:t>1</m:t>
                        </m:r>
                      </m:sub>
                    </m:sSub>
                    <m:r>
                      <a:rPr lang="en-US" altLang="zh-CN" b="0" i="0" smtClean="0">
                        <a:latin typeface="Cambria Math" panose="02040503050406030204" pitchFamily="18" charset="0"/>
                      </a:rPr>
                      <m:t>=</m:t>
                    </m:r>
                    <m:r>
                      <m:rPr>
                        <m:sty m:val="p"/>
                      </m:rPr>
                      <a:rPr lang="en-US" altLang="zh-CN" b="0" i="0" smtClean="0">
                        <a:latin typeface="Cambria Math" panose="02040503050406030204" pitchFamily="18" charset="0"/>
                      </a:rPr>
                      <m:t>max</m:t>
                    </m:r>
                    <m:r>
                      <a:rPr lang="en-US" altLang="zh-CN" b="0" i="0" smtClean="0">
                        <a:latin typeface="Cambria Math" panose="02040503050406030204" pitchFamily="18" charset="0"/>
                      </a:rPr>
                      <m:t>{1+3,2+4}=</m:t>
                    </m:r>
                  </m:oMath>
                </a14:m>
                <a:r>
                  <a:rPr lang="en-US" altLang="zh-CN" dirty="0"/>
                  <a:t>6</a:t>
                </a:r>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3719736" y="1772816"/>
                <a:ext cx="3789884" cy="369332"/>
              </a:xfrm>
              <a:prstGeom prst="rect">
                <a:avLst/>
              </a:prstGeom>
              <a:blipFill>
                <a:blip r:embed="rId3"/>
                <a:stretch>
                  <a:fillRect t="-26667" r="-4019"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nvSpPr>
            <p:spPr>
              <a:xfrm>
                <a:off x="3709925" y="4627629"/>
                <a:ext cx="2786276" cy="7515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d>
                            <m:dPr>
                              <m:begChr m:val="‖"/>
                              <m:endChr m:val="‖"/>
                              <m:ctrlPr>
                                <a:rPr lang="en-US" altLang="zh-CN" i="1" smtClean="0">
                                  <a:latin typeface="Cambria Math" panose="02040503050406030204" pitchFamily="18" charset="0"/>
                                </a:rPr>
                              </m:ctrlPr>
                            </m:dPr>
                            <m:e>
                              <m:r>
                                <m:rPr>
                                  <m:sty m:val="p"/>
                                </m:rPr>
                                <a:rPr lang="en-US" altLang="zh-CN" i="1">
                                  <a:latin typeface="Cambria Math" panose="02040503050406030204" pitchFamily="18" charset="0"/>
                                </a:rPr>
                                <m:t>A</m:t>
                              </m:r>
                            </m:e>
                          </m:d>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i="1">
                              <a:latin typeface="Cambria Math" panose="02040503050406030204" pitchFamily="18" charset="0"/>
                            </a:rPr>
                            <m:t>15</m:t>
                          </m:r>
                          <m:r>
                            <a:rPr lang="en-US" altLang="zh-CN" b="0" i="1" smtClean="0">
                              <a:latin typeface="Cambria Math" panose="02040503050406030204" pitchFamily="18" charset="0"/>
                            </a:rPr>
                            <m:t>+</m:t>
                          </m:r>
                          <m:rad>
                            <m:radPr>
                              <m:degHide m:val="on"/>
                              <m:ctrlPr>
                                <a:rPr lang="en-US" altLang="zh-CN" i="1">
                                  <a:latin typeface="Cambria Math" panose="02040503050406030204" pitchFamily="18" charset="0"/>
                                  <a:ea typeface="Cambria Math" panose="02040503050406030204" pitchFamily="18" charset="0"/>
                                </a:rPr>
                              </m:ctrlPr>
                            </m:radPr>
                            <m:deg/>
                            <m:e>
                              <m:r>
                                <a:rPr lang="en-US" altLang="zh-CN" i="1">
                                  <a:latin typeface="Cambria Math" panose="02040503050406030204" pitchFamily="18" charset="0"/>
                                  <a:ea typeface="Cambria Math" panose="02040503050406030204" pitchFamily="18" charset="0"/>
                                </a:rPr>
                                <m:t>221</m:t>
                              </m:r>
                            </m:e>
                          </m:rad>
                        </m:e>
                      </m:ra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3709925" y="4627629"/>
                <a:ext cx="2786276" cy="751552"/>
              </a:xfrm>
              <a:prstGeom prst="rect">
                <a:avLst/>
              </a:prstGeom>
              <a:blipFill>
                <a:blip r:embed="rId4"/>
                <a:stretch>
                  <a:fillRect b="-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3715794" y="2501320"/>
                <a:ext cx="3100208" cy="369332"/>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d>
                          <m:dPr>
                            <m:begChr m:val="‖"/>
                            <m:endChr m:val="‖"/>
                            <m:ctrlPr>
                              <a:rPr lang="en-US" altLang="zh-CN" i="1" smtClean="0">
                                <a:latin typeface="Cambria Math" panose="02040503050406030204" pitchFamily="18" charset="0"/>
                              </a:rPr>
                            </m:ctrlPr>
                          </m:dPr>
                          <m:e>
                            <m:r>
                              <m:rPr>
                                <m:sty m:val="p"/>
                              </m:rPr>
                              <a:rPr lang="en-US" altLang="zh-CN" i="1">
                                <a:latin typeface="Cambria Math" panose="02040503050406030204" pitchFamily="18" charset="0"/>
                              </a:rPr>
                              <m:t>A</m:t>
                            </m:r>
                          </m:e>
                        </m:d>
                      </m:e>
                      <m:sub>
                        <m:r>
                          <a:rPr lang="en-US" altLang="zh-CN" b="0" i="1" smtClean="0">
                            <a:latin typeface="Cambria Math" panose="02040503050406030204" pitchFamily="18" charset="0"/>
                            <a:ea typeface="Cambria Math" panose="02040503050406030204" pitchFamily="18" charset="0"/>
                          </a:rPr>
                          <m:t>∞</m:t>
                        </m:r>
                      </m:sub>
                    </m:sSub>
                  </m:oMath>
                </a14:m>
                <a:r>
                  <a:rPr lang="en-US" altLang="zh-CN" dirty="0"/>
                  <a:t>=max{1+2,3+4}=7</a:t>
                </a:r>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3715794" y="2501320"/>
                <a:ext cx="3100208" cy="369332"/>
              </a:xfrm>
              <a:prstGeom prst="rect">
                <a:avLst/>
              </a:prstGeom>
              <a:blipFill>
                <a:blip r:embed="rId5"/>
                <a:stretch>
                  <a:fillRect t="-24590" r="-4528" b="-491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3715766" y="3229824"/>
                <a:ext cx="2696379"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𝐴</m:t>
                          </m:r>
                        </m:e>
                        <m:sup>
                          <m:r>
                            <a:rPr lang="en-US" altLang="zh-CN" b="0" i="1" smtClean="0">
                              <a:latin typeface="Cambria Math" panose="02040503050406030204" pitchFamily="18" charset="0"/>
                            </a:rPr>
                            <m:t>𝑇</m:t>
                          </m:r>
                        </m:sup>
                      </m:sSup>
                      <m:r>
                        <a:rPr lang="en-US" altLang="zh-CN" b="0" i="1" smtClean="0">
                          <a:latin typeface="Cambria Math" panose="02040503050406030204" pitchFamily="18" charset="0"/>
                        </a:rPr>
                        <m:t>𝐴</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2"/>
                                    <m:mcJc m:val="center"/>
                                  </m:mcPr>
                                </m:mc>
                              </m:mcs>
                              <m:ctrlPr>
                                <a:rPr lang="en-US" altLang="zh-CN" b="0" i="1" smtClean="0">
                                  <a:latin typeface="Cambria Math" panose="02040503050406030204" pitchFamily="18" charset="0"/>
                                </a:rPr>
                              </m:ctrlPr>
                            </m:mPr>
                            <m:mr>
                              <m:e>
                                <m:r>
                                  <m:rPr>
                                    <m:brk m:alnAt="7"/>
                                  </m:rPr>
                                  <a:rPr lang="en-US" altLang="zh-CN" b="0" i="1" smtClean="0">
                                    <a:latin typeface="Cambria Math" panose="02040503050406030204" pitchFamily="18" charset="0"/>
                                  </a:rPr>
                                  <m:t>1</m:t>
                                </m:r>
                                <m:r>
                                  <a:rPr lang="en-US" altLang="zh-CN" b="0" i="1" smtClean="0">
                                    <a:latin typeface="Cambria Math" panose="02040503050406030204" pitchFamily="18" charset="0"/>
                                  </a:rPr>
                                  <m:t>0</m:t>
                                </m:r>
                              </m:e>
                              <m:e>
                                <m:r>
                                  <a:rPr lang="en-US" altLang="zh-CN" b="0" i="1" smtClean="0">
                                    <a:latin typeface="Cambria Math" panose="02040503050406030204" pitchFamily="18" charset="0"/>
                                  </a:rPr>
                                  <m:t>−14</m:t>
                                </m:r>
                              </m:e>
                            </m:mr>
                            <m:mr>
                              <m:e>
                                <m:r>
                                  <a:rPr lang="en-US" altLang="zh-CN" b="0" i="1" smtClean="0">
                                    <a:latin typeface="Cambria Math" panose="02040503050406030204" pitchFamily="18" charset="0"/>
                                  </a:rPr>
                                  <m:t>−14</m:t>
                                </m:r>
                              </m:e>
                              <m:e>
                                <m:r>
                                  <a:rPr lang="en-US" altLang="zh-CN" b="0" i="1" smtClean="0">
                                    <a:latin typeface="Cambria Math" panose="02040503050406030204" pitchFamily="18" charset="0"/>
                                  </a:rPr>
                                  <m:t>20</m:t>
                                </m:r>
                              </m:e>
                            </m:mr>
                          </m:m>
                        </m:e>
                      </m:d>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3715766" y="3229824"/>
                <a:ext cx="2696379" cy="613438"/>
              </a:xfrm>
              <a:prstGeom prst="rect">
                <a:avLst/>
              </a:prstGeom>
              <a:blipFill>
                <a:blip r:embed="rId6"/>
                <a:stretch>
                  <a:fillRect b="-1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3709925" y="3918821"/>
                <a:ext cx="2744534" cy="5280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𝜆</m:t>
                          </m:r>
                        </m:e>
                        <m:sub>
                          <m:sSup>
                            <m:sSupPr>
                              <m:ctrlPr>
                                <a:rPr lang="en-US" altLang="zh-CN" i="1">
                                  <a:latin typeface="Cambria Math" panose="02040503050406030204" pitchFamily="18" charset="0"/>
                                </a:rPr>
                              </m:ctrlPr>
                            </m:sSupPr>
                            <m:e>
                              <m:r>
                                <a:rPr lang="en-US" altLang="zh-CN" i="1">
                                  <a:latin typeface="Cambria Math" panose="02040503050406030204" pitchFamily="18" charset="0"/>
                                </a:rPr>
                                <m:t>𝐴</m:t>
                              </m:r>
                            </m:e>
                            <m:sup>
                              <m:r>
                                <a:rPr lang="en-US" altLang="zh-CN" i="1">
                                  <a:latin typeface="Cambria Math" panose="02040503050406030204" pitchFamily="18" charset="0"/>
                                </a:rPr>
                                <m:t>𝑇</m:t>
                              </m:r>
                            </m:sup>
                          </m:sSup>
                          <m:r>
                            <a:rPr lang="en-US" altLang="zh-CN" i="1">
                              <a:latin typeface="Cambria Math" panose="02040503050406030204" pitchFamily="18" charset="0"/>
                            </a:rPr>
                            <m:t>𝐴</m:t>
                          </m:r>
                          <m:r>
                            <m:rPr>
                              <m:nor/>
                            </m:rPr>
                            <a:rPr lang="zh-CN" altLang="en-US" dirty="0"/>
                            <m:t> </m:t>
                          </m:r>
                        </m:sub>
                      </m:sSub>
                      <m:r>
                        <a:rPr lang="en-US" altLang="zh-CN" b="0" i="1" smtClean="0">
                          <a:latin typeface="Cambria Math" panose="02040503050406030204" pitchFamily="18" charset="0"/>
                        </a:rPr>
                        <m:t>=15</m:t>
                      </m:r>
                      <m:r>
                        <a:rPr lang="en-US" altLang="zh-CN" b="0" i="1" smtClean="0">
                          <a:latin typeface="Cambria Math" panose="02040503050406030204" pitchFamily="18" charset="0"/>
                          <a:ea typeface="Cambria Math" panose="02040503050406030204" pitchFamily="18" charset="0"/>
                        </a:rPr>
                        <m:t>±</m:t>
                      </m:r>
                      <m:rad>
                        <m:radPr>
                          <m:degHide m:val="on"/>
                          <m:ctrlPr>
                            <a:rPr lang="en-US" altLang="zh-CN" b="0" i="1" smtClean="0">
                              <a:latin typeface="Cambria Math" panose="02040503050406030204" pitchFamily="18" charset="0"/>
                              <a:ea typeface="Cambria Math" panose="02040503050406030204" pitchFamily="18" charset="0"/>
                            </a:rPr>
                          </m:ctrlPr>
                        </m:radPr>
                        <m:deg/>
                        <m:e>
                          <m:r>
                            <a:rPr lang="en-US" altLang="zh-CN" b="0" i="1" smtClean="0">
                              <a:latin typeface="Cambria Math" panose="02040503050406030204" pitchFamily="18" charset="0"/>
                              <a:ea typeface="Cambria Math" panose="02040503050406030204" pitchFamily="18" charset="0"/>
                            </a:rPr>
                            <m:t>221</m:t>
                          </m:r>
                        </m:e>
                      </m:rad>
                    </m:oMath>
                  </m:oMathPara>
                </a14:m>
                <a:endParaRPr lang="zh-CN" altLang="en-US" dirty="0"/>
              </a:p>
            </p:txBody>
          </p:sp>
        </mc:Choice>
        <mc:Fallback xmlns="">
          <p:sp>
            <p:nvSpPr>
              <p:cNvPr id="9" name="矩形 8"/>
              <p:cNvSpPr>
                <a:spLocks noRot="1" noChangeAspect="1" noMove="1" noResize="1" noEditPoints="1" noAdjustHandles="1" noChangeArrowheads="1" noChangeShapeType="1" noTextEdit="1"/>
              </p:cNvSpPr>
              <p:nvPr/>
            </p:nvSpPr>
            <p:spPr>
              <a:xfrm>
                <a:off x="3709925" y="3918821"/>
                <a:ext cx="2744534" cy="528093"/>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873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159051" y="634386"/>
            <a:ext cx="7366119" cy="2246769"/>
          </a:xfrm>
          <a:prstGeom prst="rect">
            <a:avLst/>
          </a:prstGeom>
          <a:noFill/>
        </p:spPr>
        <p:txBody>
          <a:bodyPr wrap="none" rtlCol="0">
            <a:spAutoFit/>
          </a:bodyPr>
          <a:lstStyle/>
          <a:p>
            <a:pPr marL="457200" indent="-457200">
              <a:buFont typeface="Arial" panose="020B0604020202020204" pitchFamily="34" charset="0"/>
              <a:buChar char="•"/>
            </a:pPr>
            <a:r>
              <a:rPr lang="zh-CN" altLang="en-US" sz="2800" dirty="0">
                <a:solidFill>
                  <a:srgbClr val="7030A0"/>
                </a:solidFill>
              </a:rPr>
              <a:t>定理</a:t>
            </a:r>
            <a:r>
              <a:rPr lang="zh-CN" altLang="en-US" sz="2800" dirty="0"/>
              <a:t>：对于任何</a:t>
            </a:r>
            <a:r>
              <a:rPr lang="en-US" altLang="zh-CN" sz="2800" dirty="0"/>
              <a:t>n</a:t>
            </a:r>
            <a:r>
              <a:rPr lang="zh-CN" altLang="en-US" sz="2800" dirty="0"/>
              <a:t>阶方阵</a:t>
            </a:r>
            <a:r>
              <a:rPr lang="en-US" altLang="zh-CN" sz="2800" dirty="0"/>
              <a:t>A</a:t>
            </a:r>
            <a:r>
              <a:rPr lang="zh-CN" altLang="en-US" sz="2800" dirty="0"/>
              <a:t>，均有：</a:t>
            </a:r>
            <a:endParaRPr lang="en-US" altLang="zh-CN" sz="2800" dirty="0"/>
          </a:p>
          <a:p>
            <a:endParaRPr lang="en-US" altLang="zh-CN" sz="2800" dirty="0"/>
          </a:p>
          <a:p>
            <a:endParaRPr lang="en-US" altLang="zh-CN" sz="2800" dirty="0"/>
          </a:p>
          <a:p>
            <a:endParaRPr lang="en-US" altLang="zh-CN" sz="2800" dirty="0"/>
          </a:p>
          <a:p>
            <a:r>
              <a:rPr lang="zh-CN" altLang="en-US" sz="2800" dirty="0"/>
              <a:t>即：方阵的谱半径小于其任意一种矩阵范数。</a:t>
            </a:r>
          </a:p>
        </p:txBody>
      </p:sp>
      <p:pic>
        <p:nvPicPr>
          <p:cNvPr id="4" name="图片 3"/>
          <p:cNvPicPr>
            <a:picLocks noChangeAspect="1"/>
          </p:cNvPicPr>
          <p:nvPr/>
        </p:nvPicPr>
        <p:blipFill rotWithShape="1">
          <a:blip r:embed="rId2"/>
          <a:srcRect l="70478" t="32392" b="52818"/>
          <a:stretch/>
        </p:blipFill>
        <p:spPr>
          <a:xfrm>
            <a:off x="4568114" y="1477470"/>
            <a:ext cx="2319974" cy="430772"/>
          </a:xfrm>
          <a:prstGeom prst="rect">
            <a:avLst/>
          </a:prstGeom>
        </p:spPr>
      </p:pic>
      <p:sp>
        <p:nvSpPr>
          <p:cNvPr id="6" name="矩形 5"/>
          <p:cNvSpPr/>
          <p:nvPr/>
        </p:nvSpPr>
        <p:spPr>
          <a:xfrm>
            <a:off x="1186774" y="3573016"/>
            <a:ext cx="6096000" cy="523220"/>
          </a:xfrm>
          <a:prstGeom prst="rect">
            <a:avLst/>
          </a:prstGeom>
        </p:spPr>
        <p:txBody>
          <a:bodyPr>
            <a:spAutoFit/>
          </a:bodyPr>
          <a:lstStyle/>
          <a:p>
            <a:pPr marL="457200" indent="-457200">
              <a:buFont typeface="Arial" panose="020B0604020202020204" pitchFamily="34" charset="0"/>
              <a:buChar char="•"/>
            </a:pPr>
            <a:r>
              <a:rPr lang="zh-CN" altLang="en-US" sz="2800" dirty="0">
                <a:solidFill>
                  <a:srgbClr val="7030A0"/>
                </a:solidFill>
              </a:rPr>
              <a:t>定理 </a:t>
            </a:r>
            <a:r>
              <a:rPr lang="zh-CN" altLang="en-US" sz="2800" dirty="0"/>
              <a:t>若 A  为实对称矩阵，则：</a:t>
            </a:r>
          </a:p>
        </p:txBody>
      </p:sp>
      <p:pic>
        <p:nvPicPr>
          <p:cNvPr id="7" name="图片 6"/>
          <p:cNvPicPr>
            <a:picLocks noChangeAspect="1"/>
          </p:cNvPicPr>
          <p:nvPr/>
        </p:nvPicPr>
        <p:blipFill>
          <a:blip r:embed="rId3"/>
          <a:stretch>
            <a:fillRect/>
          </a:stretch>
        </p:blipFill>
        <p:spPr>
          <a:xfrm>
            <a:off x="4727848" y="4399442"/>
            <a:ext cx="2334590" cy="613733"/>
          </a:xfrm>
          <a:prstGeom prst="rect">
            <a:avLst/>
          </a:prstGeom>
        </p:spPr>
      </p:pic>
    </p:spTree>
    <p:extLst>
      <p:ext uri="{BB962C8B-B14F-4D97-AF65-F5344CB8AC3E}">
        <p14:creationId xmlns:p14="http://schemas.microsoft.com/office/powerpoint/2010/main" val="21759495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2"/>
          <p:cNvSpPr>
            <a:spLocks noChangeArrowheads="1"/>
          </p:cNvSpPr>
          <p:nvPr/>
        </p:nvSpPr>
        <p:spPr bwMode="auto">
          <a:xfrm>
            <a:off x="2424113" y="620713"/>
            <a:ext cx="4465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C00000"/>
                </a:solidFill>
                <a:latin typeface="宋体" panose="02010600030101010101" pitchFamily="2" charset="-122"/>
              </a:rPr>
              <a:t>2.</a:t>
            </a:r>
            <a:r>
              <a:rPr lang="zh-CN" altLang="en-US" sz="2400" b="1">
                <a:solidFill>
                  <a:srgbClr val="C00000"/>
                </a:solidFill>
                <a:latin typeface="宋体" panose="02010600030101010101" pitchFamily="2" charset="-122"/>
              </a:rPr>
              <a:t>简单迭代</a:t>
            </a:r>
            <a:r>
              <a:rPr lang="zh-CN" altLang="en-US" sz="2400" b="1">
                <a:solidFill>
                  <a:srgbClr val="C00000"/>
                </a:solidFill>
              </a:rPr>
              <a:t>法的收敛性</a:t>
            </a:r>
            <a:endParaRPr lang="en-US" altLang="zh-CN" sz="2400" b="1">
              <a:solidFill>
                <a:srgbClr val="C00000"/>
              </a:solidFill>
              <a:latin typeface="宋体" panose="02010600030101010101" pitchFamily="2" charset="-122"/>
            </a:endParaRPr>
          </a:p>
        </p:txBody>
      </p:sp>
      <p:grpSp>
        <p:nvGrpSpPr>
          <p:cNvPr id="2" name="Group 3"/>
          <p:cNvGrpSpPr>
            <a:grpSpLocks/>
          </p:cNvGrpSpPr>
          <p:nvPr/>
        </p:nvGrpSpPr>
        <p:grpSpPr bwMode="auto">
          <a:xfrm>
            <a:off x="2574925" y="2547938"/>
            <a:ext cx="5494016" cy="923925"/>
            <a:chOff x="155" y="3241"/>
            <a:chExt cx="2882" cy="582"/>
          </a:xfrm>
        </p:grpSpPr>
        <mc:AlternateContent xmlns:mc="http://schemas.openxmlformats.org/markup-compatibility/2006">
          <mc:Choice xmlns:a14="http://schemas.microsoft.com/office/drawing/2010/main" Requires="a14">
            <p:sp>
              <p:nvSpPr>
                <p:cNvPr id="28689" name="Object 4"/>
                <p:cNvSpPr txBox="1"/>
                <p:nvPr/>
              </p:nvSpPr>
              <p:spPr bwMode="auto">
                <a:xfrm>
                  <a:off x="457" y="3569"/>
                  <a:ext cx="1607" cy="254"/>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)&lt;1</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m:t>
                        </m:r>
                      </m:oMath>
                    </m:oMathPara>
                  </a14:m>
                  <a:endParaRPr lang="zh-CN" altLang="en-US"/>
                </a:p>
              </p:txBody>
            </p:sp>
          </mc:Choice>
          <mc:Fallback>
            <p:sp>
              <p:nvSpPr>
                <p:cNvPr id="28689" name="Object 4"/>
                <p:cNvSpPr txBox="1">
                  <a:spLocks noRot="1" noChangeAspect="1" noMove="1" noResize="1" noEditPoints="1" noAdjustHandles="1" noChangeArrowheads="1" noChangeShapeType="1" noTextEdit="1"/>
                </p:cNvSpPr>
                <p:nvPr/>
              </p:nvSpPr>
              <p:spPr bwMode="auto">
                <a:xfrm>
                  <a:off x="457" y="3569"/>
                  <a:ext cx="1607" cy="254"/>
                </a:xfrm>
                <a:prstGeom prst="rect">
                  <a:avLst/>
                </a:prstGeom>
                <a:blipFill>
                  <a:blip r:embed="rId2"/>
                  <a:stretch>
                    <a:fillRect b="-14925"/>
                  </a:stretch>
                </a:blipFill>
                <a:ln>
                  <a:noFill/>
                </a:ln>
                <a:extLst/>
              </p:spPr>
              <p:txBody>
                <a:bodyPr/>
                <a:lstStyle/>
                <a:p>
                  <a:r>
                    <a:rPr lang="zh-CN" altLang="en-US">
                      <a:noFill/>
                    </a:rPr>
                    <a:t> </a:t>
                  </a:r>
                </a:p>
              </p:txBody>
            </p:sp>
          </mc:Fallback>
        </mc:AlternateContent>
        <p:sp>
          <p:nvSpPr>
            <p:cNvPr id="28690" name="Rectangle 5"/>
            <p:cNvSpPr>
              <a:spLocks noChangeArrowheads="1"/>
            </p:cNvSpPr>
            <p:nvPr/>
          </p:nvSpPr>
          <p:spPr bwMode="auto">
            <a:xfrm>
              <a:off x="155" y="3241"/>
              <a:ext cx="288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latin typeface="宋体" panose="02010600030101010101" pitchFamily="2" charset="-122"/>
                </a:rPr>
                <a:t>迭代矩阵的谱半径（</a:t>
              </a:r>
              <a:r>
                <a:rPr lang="zh-CN" altLang="en-US" sz="1800" dirty="0"/>
                <a:t>矩阵的最大特征值的模</a:t>
              </a:r>
              <a:r>
                <a:rPr lang="zh-CN" altLang="en-US" sz="1800" dirty="0">
                  <a:latin typeface="宋体" panose="02010600030101010101" pitchFamily="2" charset="-122"/>
                </a:rPr>
                <a:t>）</a:t>
              </a:r>
            </a:p>
          </p:txBody>
        </p:sp>
      </p:grpSp>
      <p:grpSp>
        <p:nvGrpSpPr>
          <p:cNvPr id="3" name="Group 18"/>
          <p:cNvGrpSpPr>
            <a:grpSpLocks/>
          </p:cNvGrpSpPr>
          <p:nvPr/>
        </p:nvGrpSpPr>
        <p:grpSpPr bwMode="auto">
          <a:xfrm>
            <a:off x="2135188" y="5013325"/>
            <a:ext cx="7561262" cy="1077913"/>
            <a:chOff x="336" y="2832"/>
            <a:chExt cx="4763" cy="679"/>
          </a:xfrm>
        </p:grpSpPr>
        <p:sp>
          <p:nvSpPr>
            <p:cNvPr id="28686" name="Rectangle 19"/>
            <p:cNvSpPr>
              <a:spLocks noChangeArrowheads="1"/>
            </p:cNvSpPr>
            <p:nvPr/>
          </p:nvSpPr>
          <p:spPr bwMode="auto">
            <a:xfrm>
              <a:off x="336" y="2832"/>
              <a:ext cx="4763" cy="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AutoNum type="circleNumDbPlain" startAt="2"/>
              </a:pPr>
              <a:r>
                <a:rPr lang="en-US" altLang="zh-CN" sz="2800">
                  <a:latin typeface="宋体" panose="02010600030101010101" pitchFamily="2" charset="-122"/>
                </a:rPr>
                <a:t>       </a:t>
              </a:r>
              <a:r>
                <a:rPr lang="zh-CN" altLang="en-US" sz="2400">
                  <a:latin typeface="宋体" panose="02010600030101010101" pitchFamily="2" charset="-122"/>
                </a:rPr>
                <a:t>时，有可能存在某个初始向量   使简</a:t>
              </a:r>
            </a:p>
            <a:p>
              <a:pPr eaLnBrk="1" hangingPunct="1">
                <a:spcBef>
                  <a:spcPct val="50000"/>
                </a:spcBef>
                <a:buFontTx/>
                <a:buNone/>
              </a:pPr>
              <a:r>
                <a:rPr lang="zh-CN" altLang="en-US" sz="2400">
                  <a:latin typeface="宋体" panose="02010600030101010101" pitchFamily="2" charset="-122"/>
                </a:rPr>
                <a:t>  单迭代法收敛。（该向量不好找）</a:t>
              </a:r>
            </a:p>
          </p:txBody>
        </p:sp>
        <mc:AlternateContent xmlns:mc="http://schemas.openxmlformats.org/markup-compatibility/2006">
          <mc:Choice xmlns:a14="http://schemas.microsoft.com/office/drawing/2010/main" Requires="a14">
            <p:sp>
              <p:nvSpPr>
                <p:cNvPr id="28687" name="Object 20"/>
                <p:cNvSpPr txBox="1"/>
                <p:nvPr/>
              </p:nvSpPr>
              <p:spPr bwMode="auto">
                <a:xfrm>
                  <a:off x="733" y="2891"/>
                  <a:ext cx="737" cy="258"/>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)≥1</m:t>
                        </m:r>
                      </m:oMath>
                    </m:oMathPara>
                  </a14:m>
                  <a:endParaRPr lang="zh-CN" altLang="en-US"/>
                </a:p>
              </p:txBody>
            </p:sp>
          </mc:Choice>
          <mc:Fallback>
            <p:sp>
              <p:nvSpPr>
                <p:cNvPr id="28687" name="Object 20"/>
                <p:cNvSpPr txBox="1">
                  <a:spLocks noRot="1" noChangeAspect="1" noMove="1" noResize="1" noEditPoints="1" noAdjustHandles="1" noChangeArrowheads="1" noChangeShapeType="1" noTextEdit="1"/>
                </p:cNvSpPr>
                <p:nvPr/>
              </p:nvSpPr>
              <p:spPr bwMode="auto">
                <a:xfrm>
                  <a:off x="733" y="2891"/>
                  <a:ext cx="737" cy="258"/>
                </a:xfrm>
                <a:prstGeom prst="rect">
                  <a:avLst/>
                </a:prstGeom>
                <a:blipFill>
                  <a:blip r:embed="rId3"/>
                  <a:stretch>
                    <a:fillRect b="-8955"/>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688" name="Object 21"/>
                <p:cNvSpPr txBox="1"/>
                <p:nvPr/>
              </p:nvSpPr>
              <p:spPr bwMode="auto">
                <a:xfrm>
                  <a:off x="3957" y="2862"/>
                  <a:ext cx="325" cy="287"/>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28688" name="Object 21"/>
                <p:cNvSpPr txBox="1">
                  <a:spLocks noRot="1" noChangeAspect="1" noMove="1" noResize="1" noEditPoints="1" noAdjustHandles="1" noChangeArrowheads="1" noChangeShapeType="1" noTextEdit="1"/>
                </p:cNvSpPr>
                <p:nvPr/>
              </p:nvSpPr>
              <p:spPr bwMode="auto">
                <a:xfrm>
                  <a:off x="3957" y="2862"/>
                  <a:ext cx="325" cy="287"/>
                </a:xfrm>
                <a:prstGeom prst="rect">
                  <a:avLst/>
                </a:prstGeom>
                <a:blipFill>
                  <a:blip r:embed="rId4"/>
                  <a:stretch>
                    <a:fillRect r="-16471"/>
                  </a:stretch>
                </a:blipFill>
                <a:ln>
                  <a:noFill/>
                </a:ln>
                <a:extLst/>
              </p:spPr>
              <p:txBody>
                <a:bodyPr/>
                <a:lstStyle/>
                <a:p>
                  <a:r>
                    <a:rPr lang="zh-CN" altLang="en-US">
                      <a:noFill/>
                    </a:rPr>
                    <a:t> </a:t>
                  </a:r>
                </a:p>
              </p:txBody>
            </p:sp>
          </mc:Fallback>
        </mc:AlternateContent>
      </p:grpSp>
      <p:grpSp>
        <p:nvGrpSpPr>
          <p:cNvPr id="5" name="组合 17"/>
          <p:cNvGrpSpPr>
            <a:grpSpLocks/>
          </p:cNvGrpSpPr>
          <p:nvPr/>
        </p:nvGrpSpPr>
        <p:grpSpPr bwMode="auto">
          <a:xfrm>
            <a:off x="2135188" y="3500438"/>
            <a:ext cx="7223125" cy="1258887"/>
            <a:chOff x="611188" y="3500438"/>
            <a:chExt cx="7223125" cy="1258887"/>
          </a:xfrm>
        </p:grpSpPr>
        <p:grpSp>
          <p:nvGrpSpPr>
            <p:cNvPr id="28682" name="组合 7"/>
            <p:cNvGrpSpPr>
              <a:grpSpLocks/>
            </p:cNvGrpSpPr>
            <p:nvPr/>
          </p:nvGrpSpPr>
          <p:grpSpPr bwMode="auto">
            <a:xfrm>
              <a:off x="684213" y="4221163"/>
              <a:ext cx="7150100" cy="538162"/>
              <a:chOff x="684213" y="4221163"/>
              <a:chExt cx="7149714" cy="538355"/>
            </a:xfrm>
          </p:grpSpPr>
          <p:sp>
            <p:nvSpPr>
              <p:cNvPr id="28684" name="Rectangle 16"/>
              <p:cNvSpPr>
                <a:spLocks noChangeArrowheads="1"/>
              </p:cNvSpPr>
              <p:nvPr/>
            </p:nvSpPr>
            <p:spPr bwMode="auto">
              <a:xfrm>
                <a:off x="684213" y="4221163"/>
                <a:ext cx="71497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latin typeface="宋体" panose="02010600030101010101" pitchFamily="2" charset="-122"/>
                  </a:rPr>
                  <a:t>① </a:t>
                </a:r>
                <a:r>
                  <a:rPr lang="en-US" altLang="zh-CN" sz="2800">
                    <a:latin typeface="宋体" panose="02010600030101010101" pitchFamily="2" charset="-122"/>
                  </a:rPr>
                  <a:t>       </a:t>
                </a:r>
                <a:r>
                  <a:rPr lang="zh-CN" altLang="en-US" sz="2400">
                    <a:latin typeface="宋体" panose="02010600030101010101" pitchFamily="2" charset="-122"/>
                  </a:rPr>
                  <a:t>是</a:t>
                </a:r>
                <a:r>
                  <a:rPr lang="zh-CN" altLang="en-US" sz="2400" b="1">
                    <a:solidFill>
                      <a:srgbClr val="7030A0"/>
                    </a:solidFill>
                    <a:latin typeface="宋体" panose="02010600030101010101" pitchFamily="2" charset="-122"/>
                  </a:rPr>
                  <a:t>判定收敛的根本法则</a:t>
                </a:r>
                <a:r>
                  <a:rPr lang="zh-CN" altLang="en-US" sz="2400">
                    <a:latin typeface="宋体" panose="02010600030101010101" pitchFamily="2" charset="-122"/>
                  </a:rPr>
                  <a:t>。（判定较繁）</a:t>
                </a:r>
              </a:p>
            </p:txBody>
          </p:sp>
          <mc:AlternateContent xmlns:mc="http://schemas.openxmlformats.org/markup-compatibility/2006">
            <mc:Choice xmlns:a14="http://schemas.microsoft.com/office/drawing/2010/main" Requires="a14">
              <p:sp>
                <p:nvSpPr>
                  <p:cNvPr id="28685" name="Object 17"/>
                  <p:cNvSpPr txBox="1"/>
                  <p:nvPr/>
                </p:nvSpPr>
                <p:spPr bwMode="auto">
                  <a:xfrm>
                    <a:off x="1262217" y="4353118"/>
                    <a:ext cx="1158875" cy="406400"/>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r>
                            <a:rPr lang="zh-CN" altLang="en-US" i="1">
                              <a:solidFill>
                                <a:srgbClr val="000000"/>
                              </a:solidFill>
                              <a:latin typeface="Cambria Math" panose="02040503050406030204" pitchFamily="18" charset="0"/>
                            </a:rPr>
                            <m:t>)&lt;1</m:t>
                          </m:r>
                        </m:oMath>
                      </m:oMathPara>
                    </a14:m>
                    <a:endParaRPr lang="zh-CN" altLang="en-US"/>
                  </a:p>
                </p:txBody>
              </p:sp>
            </mc:Choice>
            <mc:Fallback>
              <p:sp>
                <p:nvSpPr>
                  <p:cNvPr id="28685" name="Object 17"/>
                  <p:cNvSpPr txBox="1">
                    <a:spLocks noRot="1" noChangeAspect="1" noMove="1" noResize="1" noEditPoints="1" noAdjustHandles="1" noChangeArrowheads="1" noChangeShapeType="1" noTextEdit="1"/>
                  </p:cNvSpPr>
                  <p:nvPr/>
                </p:nvSpPr>
                <p:spPr bwMode="auto">
                  <a:xfrm>
                    <a:off x="1262217" y="4353118"/>
                    <a:ext cx="1158875" cy="406400"/>
                  </a:xfrm>
                  <a:prstGeom prst="rect">
                    <a:avLst/>
                  </a:prstGeom>
                  <a:blipFill>
                    <a:blip r:embed="rId5"/>
                    <a:stretch>
                      <a:fillRect b="-10448"/>
                    </a:stretch>
                  </a:blipFill>
                  <a:ln>
                    <a:noFill/>
                  </a:ln>
                  <a:extLst/>
                </p:spPr>
                <p:txBody>
                  <a:bodyPr/>
                  <a:lstStyle/>
                  <a:p>
                    <a:r>
                      <a:rPr lang="zh-CN" altLang="en-US">
                        <a:noFill/>
                      </a:rPr>
                      <a:t> </a:t>
                    </a:r>
                  </a:p>
                </p:txBody>
              </p:sp>
            </mc:Fallback>
          </mc:AlternateContent>
        </p:grpSp>
        <p:sp>
          <p:nvSpPr>
            <p:cNvPr id="28683" name="Text Box 22"/>
            <p:cNvSpPr txBox="1">
              <a:spLocks noChangeArrowheads="1"/>
            </p:cNvSpPr>
            <p:nvPr/>
          </p:nvSpPr>
          <p:spPr bwMode="auto">
            <a:xfrm>
              <a:off x="611188" y="3500438"/>
              <a:ext cx="9366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rgbClr val="0000FF"/>
                  </a:solidFill>
                  <a:latin typeface="楷体_GB2312" pitchFamily="49" charset="-122"/>
                  <a:ea typeface="楷体_GB2312" pitchFamily="49" charset="-122"/>
                </a:rPr>
                <a:t>注：</a:t>
              </a:r>
            </a:p>
          </p:txBody>
        </p:sp>
      </p:grpSp>
      <p:grpSp>
        <p:nvGrpSpPr>
          <p:cNvPr id="7" name="组合 15"/>
          <p:cNvGrpSpPr>
            <a:grpSpLocks/>
          </p:cNvGrpSpPr>
          <p:nvPr/>
        </p:nvGrpSpPr>
        <p:grpSpPr bwMode="auto">
          <a:xfrm>
            <a:off x="2063750" y="1200150"/>
            <a:ext cx="7993063" cy="1200150"/>
            <a:chOff x="539552" y="1200234"/>
            <a:chExt cx="7992888" cy="1199798"/>
          </a:xfrm>
        </p:grpSpPr>
        <p:sp>
          <p:nvSpPr>
            <p:cNvPr id="28679" name="Rectangle 8"/>
            <p:cNvSpPr>
              <a:spLocks noChangeArrowheads="1"/>
            </p:cNvSpPr>
            <p:nvPr/>
          </p:nvSpPr>
          <p:spPr bwMode="auto">
            <a:xfrm>
              <a:off x="539552" y="1200234"/>
              <a:ext cx="7992888" cy="1199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1">
                  <a:solidFill>
                    <a:srgbClr val="CC0000"/>
                  </a:solidFill>
                  <a:latin typeface="宋体" panose="02010600030101010101" pitchFamily="2" charset="-122"/>
                </a:rPr>
                <a:t>定理</a:t>
              </a:r>
              <a:r>
                <a:rPr lang="en-US" altLang="zh-CN" sz="2400" b="1">
                  <a:solidFill>
                    <a:srgbClr val="CC0000"/>
                  </a:solidFill>
                  <a:latin typeface="宋体" panose="02010600030101010101" pitchFamily="2" charset="-122"/>
                </a:rPr>
                <a:t>3: </a:t>
              </a:r>
              <a:r>
                <a:rPr lang="zh-CN" altLang="en-US" sz="2400">
                  <a:latin typeface="宋体" panose="02010600030101010101" pitchFamily="2" charset="-122"/>
                </a:rPr>
                <a:t>简单迭代法                对任意初始向量   都收敛的</a:t>
              </a:r>
              <a:r>
                <a:rPr lang="zh-CN" altLang="en-US" sz="2400">
                  <a:solidFill>
                    <a:srgbClr val="002060"/>
                  </a:solidFill>
                  <a:latin typeface="宋体" panose="02010600030101010101" pitchFamily="2" charset="-122"/>
                </a:rPr>
                <a:t>充要</a:t>
              </a:r>
              <a:r>
                <a:rPr lang="zh-CN" altLang="en-US" sz="2400">
                  <a:latin typeface="宋体" panose="02010600030101010101" pitchFamily="2" charset="-122"/>
                </a:rPr>
                <a:t>条件是：</a:t>
              </a:r>
            </a:p>
          </p:txBody>
        </p:sp>
        <mc:AlternateContent xmlns:mc="http://schemas.openxmlformats.org/markup-compatibility/2006">
          <mc:Choice xmlns:a14="http://schemas.microsoft.com/office/drawing/2010/main" Requires="a14">
            <p:sp>
              <p:nvSpPr>
                <p:cNvPr id="28680" name="Object 10"/>
                <p:cNvSpPr txBox="1"/>
                <p:nvPr/>
              </p:nvSpPr>
              <p:spPr bwMode="auto">
                <a:xfrm>
                  <a:off x="3419872" y="1340768"/>
                  <a:ext cx="2111375" cy="457200"/>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oMath>
                    </m:oMathPara>
                  </a14:m>
                  <a:endParaRPr lang="zh-CN" altLang="en-US"/>
                </a:p>
              </p:txBody>
            </p:sp>
          </mc:Choice>
          <mc:Fallback>
            <p:sp>
              <p:nvSpPr>
                <p:cNvPr id="28680" name="Object 10"/>
                <p:cNvSpPr txBox="1">
                  <a:spLocks noRot="1" noChangeAspect="1" noMove="1" noResize="1" noEditPoints="1" noAdjustHandles="1" noChangeArrowheads="1" noChangeShapeType="1" noTextEdit="1"/>
                </p:cNvSpPr>
                <p:nvPr/>
              </p:nvSpPr>
              <p:spPr bwMode="auto">
                <a:xfrm>
                  <a:off x="3419872" y="1340768"/>
                  <a:ext cx="2111375" cy="457200"/>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681" name="Object 9"/>
                <p:cNvSpPr txBox="1"/>
                <p:nvPr/>
              </p:nvSpPr>
              <p:spPr bwMode="auto">
                <a:xfrm>
                  <a:off x="7884368" y="1340768"/>
                  <a:ext cx="468312" cy="395288"/>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28681" name="Object 9"/>
                <p:cNvSpPr txBox="1">
                  <a:spLocks noRot="1" noChangeAspect="1" noMove="1" noResize="1" noEditPoints="1" noAdjustHandles="1" noChangeArrowheads="1" noChangeShapeType="1" noTextEdit="1"/>
                </p:cNvSpPr>
                <p:nvPr/>
              </p:nvSpPr>
              <p:spPr bwMode="auto">
                <a:xfrm>
                  <a:off x="7884368" y="1340768"/>
                  <a:ext cx="468312" cy="395288"/>
                </a:xfrm>
                <a:prstGeom prst="rect">
                  <a:avLst/>
                </a:prstGeom>
                <a:blipFill>
                  <a:blip r:embed="rId7"/>
                  <a:stretch>
                    <a:fillRect r="-20779"/>
                  </a:stretch>
                </a:blipFill>
                <a:ln>
                  <a:noFill/>
                </a:ln>
                <a:extLst/>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0-#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1000" fill="hold"/>
                                        <p:tgtEl>
                                          <p:spTgt spid="3"/>
                                        </p:tgtEl>
                                        <p:attrNameLst>
                                          <p:attrName>ppt_x</p:attrName>
                                        </p:attrNameLst>
                                      </p:cBhvr>
                                      <p:tavLst>
                                        <p:tav tm="0">
                                          <p:val>
                                            <p:strVal val="0-#ppt_w/2"/>
                                          </p:val>
                                        </p:tav>
                                        <p:tav tm="100000">
                                          <p:val>
                                            <p:strVal val="#ppt_x"/>
                                          </p:val>
                                        </p:tav>
                                      </p:tavLst>
                                    </p:anim>
                                    <p:anim calcmode="lin" valueType="num">
                                      <p:cBhvr additive="base">
                                        <p:cTn id="25"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1"/>
          <p:cNvGrpSpPr>
            <a:grpSpLocks/>
          </p:cNvGrpSpPr>
          <p:nvPr/>
        </p:nvGrpSpPr>
        <p:grpSpPr bwMode="auto">
          <a:xfrm>
            <a:off x="2279650" y="476250"/>
            <a:ext cx="8207376" cy="3176252"/>
            <a:chOff x="756345" y="476672"/>
            <a:chExt cx="8207452" cy="3174832"/>
          </a:xfrm>
        </p:grpSpPr>
        <p:sp>
          <p:nvSpPr>
            <p:cNvPr id="29708" name="Rectangle 10"/>
            <p:cNvSpPr>
              <a:spLocks noChangeArrowheads="1"/>
            </p:cNvSpPr>
            <p:nvPr/>
          </p:nvSpPr>
          <p:spPr bwMode="auto">
            <a:xfrm>
              <a:off x="756345" y="2636295"/>
              <a:ext cx="8207452" cy="1015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t>则简单迭代格式关于任意初始向量       和    收敛。   </a:t>
              </a:r>
              <a:endParaRPr lang="en-US" altLang="zh-CN" sz="2400" dirty="0"/>
            </a:p>
            <a:p>
              <a:pPr eaLnBrk="1" hangingPunct="1">
                <a:spcBef>
                  <a:spcPct val="50000"/>
                </a:spcBef>
                <a:buFontTx/>
                <a:buNone/>
              </a:pPr>
              <a:r>
                <a:rPr lang="zh-CN" altLang="en-US" sz="2400" dirty="0"/>
                <a:t>且有误差估计式   </a:t>
              </a:r>
              <a:r>
                <a:rPr lang="en-US" altLang="zh-CN" sz="2400" dirty="0"/>
                <a:t>:</a:t>
              </a:r>
              <a:endParaRPr lang="zh-CN" altLang="en-US" sz="2400" dirty="0"/>
            </a:p>
          </p:txBody>
        </p:sp>
        <mc:AlternateContent xmlns:mc="http://schemas.openxmlformats.org/markup-compatibility/2006">
          <mc:Choice xmlns:a14="http://schemas.microsoft.com/office/drawing/2010/main" Requires="a14">
            <p:sp>
              <p:nvSpPr>
                <p:cNvPr id="29709" name="Object 11"/>
                <p:cNvSpPr txBox="1"/>
                <p:nvPr/>
              </p:nvSpPr>
              <p:spPr bwMode="auto">
                <a:xfrm>
                  <a:off x="5379229" y="2628310"/>
                  <a:ext cx="618175" cy="44670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dirty="0"/>
                </a:p>
              </p:txBody>
            </p:sp>
          </mc:Choice>
          <mc:Fallback>
            <p:sp>
              <p:nvSpPr>
                <p:cNvPr id="29709" name="Object 11"/>
                <p:cNvSpPr txBox="1">
                  <a:spLocks noRot="1" noChangeAspect="1" noMove="1" noResize="1" noEditPoints="1" noAdjustHandles="1" noChangeArrowheads="1" noChangeShapeType="1" noTextEdit="1"/>
                </p:cNvSpPr>
                <p:nvPr/>
              </p:nvSpPr>
              <p:spPr bwMode="auto">
                <a:xfrm>
                  <a:off x="5379229" y="2628310"/>
                  <a:ext cx="618175" cy="446705"/>
                </a:xfrm>
                <a:prstGeom prst="rect">
                  <a:avLst/>
                </a:prstGeom>
                <a:blipFill>
                  <a:blip r:embed="rId3"/>
                  <a:stretch>
                    <a:fillRect r="-4902"/>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0" name="Object 12"/>
                <p:cNvSpPr txBox="1"/>
                <p:nvPr/>
              </p:nvSpPr>
              <p:spPr bwMode="auto">
                <a:xfrm>
                  <a:off x="6300570" y="2589017"/>
                  <a:ext cx="360043" cy="44670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𝑔</m:t>
                        </m:r>
                      </m:oMath>
                    </m:oMathPara>
                  </a14:m>
                  <a:endParaRPr lang="zh-CN" altLang="en-US" dirty="0"/>
                </a:p>
              </p:txBody>
            </p:sp>
          </mc:Choice>
          <mc:Fallback>
            <p:sp>
              <p:nvSpPr>
                <p:cNvPr id="29710" name="Object 12"/>
                <p:cNvSpPr txBox="1">
                  <a:spLocks noRot="1" noChangeAspect="1" noMove="1" noResize="1" noEditPoints="1" noAdjustHandles="1" noChangeArrowheads="1" noChangeShapeType="1" noTextEdit="1"/>
                </p:cNvSpPr>
                <p:nvPr/>
              </p:nvSpPr>
              <p:spPr bwMode="auto">
                <a:xfrm>
                  <a:off x="6300570" y="2589017"/>
                  <a:ext cx="360043" cy="446705"/>
                </a:xfrm>
                <a:prstGeom prst="rect">
                  <a:avLst/>
                </a:prstGeom>
                <a:blipFill>
                  <a:blip r:embed="rId4"/>
                  <a:stretch>
                    <a:fillRect l="-1695" r="-1695" b="-6849"/>
                  </a:stretch>
                </a:blipFill>
                <a:ln>
                  <a:noFill/>
                </a:ln>
                <a:extLst/>
              </p:spPr>
              <p:txBody>
                <a:bodyPr/>
                <a:lstStyle/>
                <a:p>
                  <a:r>
                    <a:rPr lang="zh-CN" altLang="en-US">
                      <a:noFill/>
                    </a:rPr>
                    <a:t> </a:t>
                  </a:r>
                </a:p>
              </p:txBody>
            </p:sp>
          </mc:Fallback>
        </mc:AlternateContent>
        <p:sp>
          <p:nvSpPr>
            <p:cNvPr id="29711" name="Rectangle 5"/>
            <p:cNvSpPr>
              <a:spLocks noChangeArrowheads="1"/>
            </p:cNvSpPr>
            <p:nvPr/>
          </p:nvSpPr>
          <p:spPr bwMode="auto">
            <a:xfrm>
              <a:off x="1115123" y="1988884"/>
              <a:ext cx="5472163" cy="461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若                                       或                     </a:t>
              </a:r>
            </a:p>
          </p:txBody>
        </p:sp>
        <mc:AlternateContent xmlns:mc="http://schemas.openxmlformats.org/markup-compatibility/2006">
          <mc:Choice xmlns:a14="http://schemas.microsoft.com/office/drawing/2010/main" Requires="a14">
            <p:sp>
              <p:nvSpPr>
                <p:cNvPr id="29712" name="Object 6"/>
                <p:cNvSpPr txBox="1"/>
                <p:nvPr/>
              </p:nvSpPr>
              <p:spPr bwMode="auto">
                <a:xfrm>
                  <a:off x="2411760" y="1196752"/>
                  <a:ext cx="4465247" cy="576064"/>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r>
                          <a:rPr lang="zh-CN" altLang="en-US" i="1">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=0,1,2,⋯)</m:t>
                        </m:r>
                      </m:oMath>
                    </m:oMathPara>
                  </a14:m>
                  <a:endParaRPr lang="zh-CN" altLang="en-US" dirty="0"/>
                </a:p>
              </p:txBody>
            </p:sp>
          </mc:Choice>
          <mc:Fallback>
            <p:sp>
              <p:nvSpPr>
                <p:cNvPr id="29712" name="Object 6"/>
                <p:cNvSpPr txBox="1">
                  <a:spLocks noRot="1" noChangeAspect="1" noMove="1" noResize="1" noEditPoints="1" noAdjustHandles="1" noChangeArrowheads="1" noChangeShapeType="1" noTextEdit="1"/>
                </p:cNvSpPr>
                <p:nvPr/>
              </p:nvSpPr>
              <p:spPr bwMode="auto">
                <a:xfrm>
                  <a:off x="2411760" y="1196752"/>
                  <a:ext cx="4465247" cy="576064"/>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3" name="Object 7"/>
                <p:cNvSpPr txBox="1"/>
                <p:nvPr/>
              </p:nvSpPr>
              <p:spPr bwMode="auto">
                <a:xfrm>
                  <a:off x="1484065" y="1772816"/>
                  <a:ext cx="3024364" cy="979984"/>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𝑖𝑗</m:t>
                                    </m:r>
                                  </m:sub>
                                </m:sSub>
                              </m:e>
                            </m:d>
                          </m:e>
                        </m:nary>
                        <m:r>
                          <a:rPr lang="zh-CN" altLang="en-US" i="1">
                            <a:solidFill>
                              <a:srgbClr val="000000"/>
                            </a:solidFill>
                            <a:latin typeface="Cambria Math" panose="02040503050406030204" pitchFamily="18" charset="0"/>
                          </a:rPr>
                          <m:t>&lt;1</m:t>
                        </m:r>
                      </m:oMath>
                    </m:oMathPara>
                  </a14:m>
                  <a:endParaRPr lang="zh-CN" altLang="en-US" dirty="0"/>
                </a:p>
              </p:txBody>
            </p:sp>
          </mc:Choice>
          <mc:Fallback>
            <p:sp>
              <p:nvSpPr>
                <p:cNvPr id="29713" name="Object 7"/>
                <p:cNvSpPr txBox="1">
                  <a:spLocks noRot="1" noChangeAspect="1" noMove="1" noResize="1" noEditPoints="1" noAdjustHandles="1" noChangeArrowheads="1" noChangeShapeType="1" noTextEdit="1"/>
                </p:cNvSpPr>
                <p:nvPr/>
              </p:nvSpPr>
              <p:spPr bwMode="auto">
                <a:xfrm>
                  <a:off x="1484065" y="1772816"/>
                  <a:ext cx="3024364" cy="979984"/>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14" name="Object 8"/>
                <p:cNvSpPr txBox="1"/>
                <p:nvPr/>
              </p:nvSpPr>
              <p:spPr bwMode="auto">
                <a:xfrm>
                  <a:off x="5076056" y="1772816"/>
                  <a:ext cx="3169116" cy="979984"/>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𝑏</m:t>
                                    </m:r>
                                  </m:e>
                                  <m:sub>
                                    <m:r>
                                      <a:rPr lang="zh-CN" altLang="en-US" i="1">
                                        <a:solidFill>
                                          <a:srgbClr val="000000"/>
                                        </a:solidFill>
                                        <a:latin typeface="Cambria Math" panose="02040503050406030204" pitchFamily="18" charset="0"/>
                                      </a:rPr>
                                      <m:t>𝑖𝑗</m:t>
                                    </m:r>
                                  </m:sub>
                                </m:sSub>
                              </m:e>
                            </m:d>
                          </m:e>
                        </m:nary>
                        <m:r>
                          <a:rPr lang="zh-CN" altLang="en-US" i="1">
                            <a:solidFill>
                              <a:srgbClr val="000000"/>
                            </a:solidFill>
                            <a:latin typeface="Cambria Math" panose="02040503050406030204" pitchFamily="18" charset="0"/>
                          </a:rPr>
                          <m:t>&lt;1</m:t>
                        </m:r>
                      </m:oMath>
                    </m:oMathPara>
                  </a14:m>
                  <a:endParaRPr lang="zh-CN" altLang="en-US" dirty="0"/>
                </a:p>
              </p:txBody>
            </p:sp>
          </mc:Choice>
          <mc:Fallback>
            <p:sp>
              <p:nvSpPr>
                <p:cNvPr id="29714" name="Object 8"/>
                <p:cNvSpPr txBox="1">
                  <a:spLocks noRot="1" noChangeAspect="1" noMove="1" noResize="1" noEditPoints="1" noAdjustHandles="1" noChangeArrowheads="1" noChangeShapeType="1" noTextEdit="1"/>
                </p:cNvSpPr>
                <p:nvPr/>
              </p:nvSpPr>
              <p:spPr bwMode="auto">
                <a:xfrm>
                  <a:off x="5076056" y="1772816"/>
                  <a:ext cx="3169116" cy="979984"/>
                </a:xfrm>
                <a:prstGeom prst="rect">
                  <a:avLst/>
                </a:prstGeom>
                <a:blipFill>
                  <a:blip r:embed="rId7"/>
                  <a:stretch>
                    <a:fillRect/>
                  </a:stretch>
                </a:blipFill>
                <a:ln>
                  <a:noFill/>
                </a:ln>
                <a:extLst/>
              </p:spPr>
              <p:txBody>
                <a:bodyPr/>
                <a:lstStyle/>
                <a:p>
                  <a:r>
                    <a:rPr lang="zh-CN" altLang="en-US">
                      <a:noFill/>
                    </a:rPr>
                    <a:t> </a:t>
                  </a:r>
                </a:p>
              </p:txBody>
            </p:sp>
          </mc:Fallback>
        </mc:AlternateContent>
        <p:sp>
          <p:nvSpPr>
            <p:cNvPr id="29715" name="Text Box 28"/>
            <p:cNvSpPr txBox="1">
              <a:spLocks noChangeArrowheads="1"/>
            </p:cNvSpPr>
            <p:nvPr/>
          </p:nvSpPr>
          <p:spPr bwMode="auto">
            <a:xfrm>
              <a:off x="756345" y="476672"/>
              <a:ext cx="7920111" cy="46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solidFill>
                    <a:srgbClr val="FF0000"/>
                  </a:solidFill>
                  <a:ea typeface="楷体_GB2312" pitchFamily="49" charset="-122"/>
                </a:rPr>
                <a:t>定理</a:t>
              </a:r>
              <a:r>
                <a:rPr lang="en-US" altLang="zh-CN" sz="2400">
                  <a:solidFill>
                    <a:srgbClr val="FF0000"/>
                  </a:solidFill>
                  <a:ea typeface="楷体_GB2312" pitchFamily="49" charset="-122"/>
                </a:rPr>
                <a:t>4</a:t>
              </a:r>
              <a:r>
                <a:rPr lang="zh-CN" altLang="en-US" sz="2400"/>
                <a:t>（收敛的充分条件）：设简单迭代公式为</a:t>
              </a:r>
            </a:p>
          </p:txBody>
        </p:sp>
      </p:grpSp>
      <mc:AlternateContent xmlns:mc="http://schemas.openxmlformats.org/markup-compatibility/2006">
        <mc:Choice xmlns:a14="http://schemas.microsoft.com/office/drawing/2010/main" Requires="a14">
          <p:sp>
            <p:nvSpPr>
              <p:cNvPr id="20" name="Object 8"/>
              <p:cNvSpPr txBox="1"/>
              <p:nvPr/>
            </p:nvSpPr>
            <p:spPr bwMode="auto">
              <a:xfrm>
                <a:off x="3447254" y="3566743"/>
                <a:ext cx="5218113" cy="108902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num>
                        <m:den>
                          <m:r>
                            <a:rPr lang="zh-CN" altLang="en-US" i="1">
                              <a:solidFill>
                                <a:srgbClr val="000000"/>
                              </a:solidFill>
                              <a:latin typeface="Cambria Math" panose="02040503050406030204" pitchFamily="18" charset="0"/>
                            </a:rPr>
                            <m:t>1−</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en>
                      </m:f>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m:oMathPara>
                </a14:m>
                <a:endParaRPr lang="zh-CN" altLang="en-US" dirty="0"/>
              </a:p>
            </p:txBody>
          </p:sp>
        </mc:Choice>
        <mc:Fallback>
          <p:sp>
            <p:nvSpPr>
              <p:cNvPr id="20" name="Object 8"/>
              <p:cNvSpPr txBox="1">
                <a:spLocks noRot="1" noChangeAspect="1" noMove="1" noResize="1" noEditPoints="1" noAdjustHandles="1" noChangeArrowheads="1" noChangeShapeType="1" noTextEdit="1"/>
              </p:cNvSpPr>
              <p:nvPr/>
            </p:nvSpPr>
            <p:spPr bwMode="auto">
              <a:xfrm>
                <a:off x="3447254" y="3566743"/>
                <a:ext cx="5218113" cy="1089025"/>
              </a:xfrm>
              <a:prstGeom prst="rect">
                <a:avLst/>
              </a:prstGeom>
              <a:blipFill>
                <a:blip r:embed="rId8"/>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1" name="Object 10"/>
              <p:cNvSpPr txBox="1"/>
              <p:nvPr/>
            </p:nvSpPr>
            <p:spPr bwMode="auto">
              <a:xfrm>
                <a:off x="3455004" y="4359332"/>
                <a:ext cx="5051425" cy="119697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p>
                            <m:sSupPr>
                              <m:ctrlPr>
                                <a:rPr lang="zh-CN" altLang="en-US" i="1">
                                  <a:solidFill>
                                    <a:srgbClr val="000000"/>
                                  </a:solidFill>
                                  <a:latin typeface="Cambria Math" panose="02040503050406030204" pitchFamily="18" charset="0"/>
                                </a:rPr>
                              </m:ctrlPr>
                            </m:sSupPr>
                            <m:e>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e>
                            <m:sup>
                              <m:r>
                                <a:rPr lang="zh-CN" altLang="en-US" i="1">
                                  <a:solidFill>
                                    <a:srgbClr val="000000"/>
                                  </a:solidFill>
                                  <a:latin typeface="Cambria Math" panose="02040503050406030204" pitchFamily="18" charset="0"/>
                                </a:rPr>
                                <m:t>𝑘</m:t>
                              </m:r>
                            </m:sup>
                          </m:sSup>
                        </m:num>
                        <m:den>
                          <m:r>
                            <a:rPr lang="zh-CN" altLang="en-US" i="1">
                              <a:solidFill>
                                <a:srgbClr val="000000"/>
                              </a:solidFill>
                              <a:latin typeface="Cambria Math" panose="02040503050406030204" pitchFamily="18" charset="0"/>
                            </a:rPr>
                            <m:t>1−</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en>
                      </m:f>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e>
                      </m:d>
                    </m:oMath>
                  </m:oMathPara>
                </a14:m>
                <a:endParaRPr lang="zh-CN" altLang="en-US" dirty="0"/>
              </a:p>
            </p:txBody>
          </p:sp>
        </mc:Choice>
        <mc:Fallback>
          <p:sp>
            <p:nvSpPr>
              <p:cNvPr id="21" name="Object 10"/>
              <p:cNvSpPr txBox="1">
                <a:spLocks noRot="1" noChangeAspect="1" noMove="1" noResize="1" noEditPoints="1" noAdjustHandles="1" noChangeArrowheads="1" noChangeShapeType="1" noTextEdit="1"/>
              </p:cNvSpPr>
              <p:nvPr/>
            </p:nvSpPr>
            <p:spPr bwMode="auto">
              <a:xfrm>
                <a:off x="3455004" y="4359332"/>
                <a:ext cx="5051425" cy="1196975"/>
              </a:xfrm>
              <a:prstGeom prst="rect">
                <a:avLst/>
              </a:prstGeom>
              <a:blipFill>
                <a:blip r:embed="rId9"/>
                <a:stretch>
                  <a:fillRect/>
                </a:stretch>
              </a:blipFill>
              <a:ln>
                <a:noFill/>
              </a:ln>
              <a:extLst/>
            </p:spPr>
            <p:txBody>
              <a:bodyPr/>
              <a:lstStyle/>
              <a:p>
                <a:r>
                  <a:rPr lang="zh-CN" altLang="en-US">
                    <a:noFill/>
                  </a:rPr>
                  <a:t> </a:t>
                </a:r>
              </a:p>
            </p:txBody>
          </p:sp>
        </mc:Fallback>
      </mc:AlternateContent>
      <p:sp>
        <p:nvSpPr>
          <p:cNvPr id="22" name="Text Box 11"/>
          <p:cNvSpPr txBox="1">
            <a:spLocks noChangeArrowheads="1"/>
          </p:cNvSpPr>
          <p:nvPr/>
        </p:nvSpPr>
        <p:spPr bwMode="auto">
          <a:xfrm>
            <a:off x="3007363" y="4600747"/>
            <a:ext cx="12954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zh-CN" b="1" dirty="0">
                <a:latin typeface="宋体" panose="02010600030101010101" pitchFamily="2" charset="-122"/>
                <a:ea typeface="黑体" panose="02010609060101010101" pitchFamily="49" charset="-122"/>
              </a:rPr>
              <a:t>及 </a:t>
            </a:r>
          </a:p>
        </p:txBody>
      </p:sp>
      <p:grpSp>
        <p:nvGrpSpPr>
          <p:cNvPr id="18" name="组合 17">
            <a:extLst>
              <a:ext uri="{FF2B5EF4-FFF2-40B4-BE49-F238E27FC236}">
                <a16:creationId xmlns:a16="http://schemas.microsoft.com/office/drawing/2014/main" id="{749BF880-C708-4933-9212-C12A4E2097C8}"/>
              </a:ext>
            </a:extLst>
          </p:cNvPr>
          <p:cNvGrpSpPr/>
          <p:nvPr/>
        </p:nvGrpSpPr>
        <p:grpSpPr>
          <a:xfrm>
            <a:off x="1404814" y="5520494"/>
            <a:ext cx="9803753" cy="1113766"/>
            <a:chOff x="1404814" y="5520494"/>
            <a:chExt cx="9803753" cy="1113766"/>
          </a:xfrm>
        </p:grpSpPr>
        <p:sp>
          <p:nvSpPr>
            <p:cNvPr id="17" name="矩形 16">
              <a:extLst>
                <a:ext uri="{FF2B5EF4-FFF2-40B4-BE49-F238E27FC236}">
                  <a16:creationId xmlns:a16="http://schemas.microsoft.com/office/drawing/2014/main" id="{B31AA8D8-0DE7-4C65-9B8A-BF30A69960AB}"/>
                </a:ext>
              </a:extLst>
            </p:cNvPr>
            <p:cNvSpPr/>
            <p:nvPr/>
          </p:nvSpPr>
          <p:spPr>
            <a:xfrm>
              <a:off x="1404814" y="5520494"/>
              <a:ext cx="9803753" cy="1113766"/>
            </a:xfrm>
            <a:prstGeom prst="rect">
              <a:avLst/>
            </a:prstGeom>
          </p:spPr>
          <p:txBody>
            <a:bodyPr wrap="square">
              <a:spAutoFit/>
            </a:bodyPr>
            <a:lstStyle/>
            <a:p>
              <a:pPr algn="just">
                <a:lnSpc>
                  <a:spcPct val="150000"/>
                </a:lnSpc>
                <a:spcBef>
                  <a:spcPts val="600"/>
                </a:spcBef>
                <a:buClr>
                  <a:srgbClr val="27305F"/>
                </a:buClr>
              </a:pPr>
              <a:r>
                <a:rPr lang="zh-CN" altLang="en-US" b="1" dirty="0">
                  <a:solidFill>
                    <a:srgbClr val="7030A0"/>
                  </a:solidFill>
                  <a:latin typeface="+mn-ea"/>
                </a:rPr>
                <a:t>证明</a:t>
              </a:r>
              <a:r>
                <a:rPr lang="zh-CN" altLang="en-US" dirty="0">
                  <a:latin typeface="+mn-ea"/>
                </a:rPr>
                <a:t>：</a:t>
              </a:r>
              <a:r>
                <a:rPr lang="en-US" altLang="zh-CN" dirty="0">
                  <a:latin typeface="+mn-ea"/>
                </a:rPr>
                <a:t>1</a:t>
              </a:r>
              <a:r>
                <a:rPr lang="zh-CN" altLang="en-US" dirty="0">
                  <a:latin typeface="+mn-ea"/>
                </a:rPr>
                <a:t>）证明唯一解：因为         , 则det (I-</a:t>
              </a:r>
              <a:r>
                <a:rPr lang="en-US" altLang="zh-CN" dirty="0">
                  <a:latin typeface="+mn-ea"/>
                </a:rPr>
                <a:t>B</a:t>
              </a:r>
              <a:r>
                <a:rPr lang="zh-CN" altLang="en-US" dirty="0">
                  <a:latin typeface="+mn-ea"/>
                </a:rPr>
                <a:t> )≠0, I-</a:t>
              </a:r>
              <a:r>
                <a:rPr lang="en-US" altLang="zh-CN" dirty="0">
                  <a:latin typeface="+mn-ea"/>
                </a:rPr>
                <a:t>B</a:t>
              </a:r>
              <a:r>
                <a:rPr lang="zh-CN" altLang="en-US" dirty="0">
                  <a:latin typeface="+mn-ea"/>
                </a:rPr>
                <a:t>为非奇异矩阵,故x＝</a:t>
              </a:r>
              <a:r>
                <a:rPr lang="en-US" altLang="zh-CN" dirty="0">
                  <a:latin typeface="+mn-ea"/>
                </a:rPr>
                <a:t>B</a:t>
              </a:r>
              <a:r>
                <a:rPr lang="zh-CN" altLang="en-US" dirty="0">
                  <a:latin typeface="+mn-ea"/>
                </a:rPr>
                <a:t>x＋</a:t>
              </a:r>
              <a:r>
                <a:rPr lang="en-US" altLang="zh-CN" dirty="0">
                  <a:latin typeface="+mn-ea"/>
                </a:rPr>
                <a:t>g</a:t>
              </a:r>
              <a:r>
                <a:rPr lang="zh-CN" altLang="en-US" dirty="0">
                  <a:latin typeface="+mn-ea"/>
                </a:rPr>
                <a:t>有唯一解, 即</a:t>
              </a:r>
            </a:p>
          </p:txBody>
        </p:sp>
        <mc:AlternateContent xmlns:mc="http://schemas.openxmlformats.org/markup-compatibility/2006">
          <mc:Choice xmlns:a14="http://schemas.microsoft.com/office/drawing/2010/main" Requires="a14">
            <p:sp>
              <p:nvSpPr>
                <p:cNvPr id="29" name="Object 4">
                  <a:extLst>
                    <a:ext uri="{FF2B5EF4-FFF2-40B4-BE49-F238E27FC236}">
                      <a16:creationId xmlns:a16="http://schemas.microsoft.com/office/drawing/2014/main" id="{A1453216-B293-441A-8543-C76139D23177}"/>
                    </a:ext>
                  </a:extLst>
                </p:cNvPr>
                <p:cNvSpPr txBox="1"/>
                <p:nvPr/>
              </p:nvSpPr>
              <p:spPr bwMode="auto">
                <a:xfrm>
                  <a:off x="5301110" y="5657056"/>
                  <a:ext cx="1510403" cy="525463"/>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r>
                          <a:rPr lang="zh-CN" altLang="en-US" i="1">
                            <a:solidFill>
                              <a:srgbClr val="000000"/>
                            </a:solidFill>
                            <a:latin typeface="Cambria Math" panose="02040503050406030204" pitchFamily="18" charset="0"/>
                          </a:rPr>
                          <m:t>&lt;1</m:t>
                        </m:r>
                      </m:oMath>
                    </m:oMathPara>
                  </a14:m>
                  <a:endParaRPr lang="zh-CN" altLang="en-US" dirty="0"/>
                </a:p>
              </p:txBody>
            </p:sp>
          </mc:Choice>
          <mc:Fallback>
            <p:sp>
              <p:nvSpPr>
                <p:cNvPr id="29" name="Object 4">
                  <a:extLst>
                    <a:ext uri="{FF2B5EF4-FFF2-40B4-BE49-F238E27FC236}">
                      <a16:creationId xmlns:a16="http://schemas.microsoft.com/office/drawing/2014/main" id="{A1453216-B293-441A-8543-C76139D23177}"/>
                    </a:ext>
                  </a:extLst>
                </p:cNvPr>
                <p:cNvSpPr txBox="1">
                  <a:spLocks noRot="1" noChangeAspect="1" noMove="1" noResize="1" noEditPoints="1" noAdjustHandles="1" noChangeArrowheads="1" noChangeShapeType="1" noTextEdit="1"/>
                </p:cNvSpPr>
                <p:nvPr/>
              </p:nvSpPr>
              <p:spPr bwMode="auto">
                <a:xfrm>
                  <a:off x="5301110" y="5657056"/>
                  <a:ext cx="1510403" cy="525463"/>
                </a:xfrm>
                <a:prstGeom prst="rect">
                  <a:avLst/>
                </a:prstGeom>
                <a:blipFill>
                  <a:blip r:embed="rId10"/>
                  <a:stretch>
                    <a:fillRect/>
                  </a:stretch>
                </a:blipFill>
                <a:ln>
                  <a:noFill/>
                </a:ln>
                <a:extLst/>
              </p:spPr>
              <p:txBody>
                <a:bodyPr/>
                <a:lstStyle/>
                <a:p>
                  <a:r>
                    <a:rPr lang="zh-CN" altLang="en-US">
                      <a:noFill/>
                    </a:rPr>
                    <a:t> </a:t>
                  </a:r>
                </a:p>
              </p:txBody>
            </p:sp>
          </mc:Fallback>
        </mc:AlternateContent>
      </p:grpSp>
      <p:sp>
        <p:nvSpPr>
          <p:cNvPr id="31" name="文本框 30">
            <a:extLst>
              <a:ext uri="{FF2B5EF4-FFF2-40B4-BE49-F238E27FC236}">
                <a16:creationId xmlns:a16="http://schemas.microsoft.com/office/drawing/2014/main" id="{CFC017B2-3FC9-4064-973B-7973C25FB87E}"/>
              </a:ext>
            </a:extLst>
          </p:cNvPr>
          <p:cNvSpPr txBox="1"/>
          <p:nvPr/>
        </p:nvSpPr>
        <p:spPr>
          <a:xfrm>
            <a:off x="2063552" y="5207219"/>
            <a:ext cx="7571303" cy="461665"/>
          </a:xfrm>
          <a:prstGeom prst="rect">
            <a:avLst/>
          </a:prstGeom>
          <a:noFill/>
        </p:spPr>
        <p:txBody>
          <a:bodyPr wrap="none" rtlCol="0">
            <a:spAutoFit/>
          </a:bodyPr>
          <a:lstStyle/>
          <a:p>
            <a:r>
              <a:rPr lang="zh-CN" altLang="en-US" dirty="0">
                <a:solidFill>
                  <a:srgbClr val="7030A0"/>
                </a:solidFill>
              </a:rPr>
              <a:t>适用场景：已知要求的误差，则可求出迭代停止条件。</a:t>
            </a:r>
          </a:p>
        </p:txBody>
      </p:sp>
      <p:sp>
        <p:nvSpPr>
          <p:cNvPr id="19" name="文本框 18">
            <a:extLst>
              <a:ext uri="{FF2B5EF4-FFF2-40B4-BE49-F238E27FC236}">
                <a16:creationId xmlns:a16="http://schemas.microsoft.com/office/drawing/2014/main" id="{60F6E05E-3375-487E-BF02-05550AD51B28}"/>
              </a:ext>
            </a:extLst>
          </p:cNvPr>
          <p:cNvSpPr txBox="1"/>
          <p:nvPr/>
        </p:nvSpPr>
        <p:spPr>
          <a:xfrm>
            <a:off x="8776812" y="3761882"/>
            <a:ext cx="1723549" cy="461665"/>
          </a:xfrm>
          <a:prstGeom prst="rect">
            <a:avLst/>
          </a:prstGeom>
          <a:noFill/>
        </p:spPr>
        <p:txBody>
          <a:bodyPr wrap="none" rtlCol="0">
            <a:spAutoFit/>
          </a:bodyPr>
          <a:lstStyle/>
          <a:p>
            <a:r>
              <a:rPr lang="zh-CN" altLang="en-US" b="1" dirty="0">
                <a:solidFill>
                  <a:srgbClr val="C00000"/>
                </a:solidFill>
              </a:rPr>
              <a:t>后验估计式</a:t>
            </a:r>
          </a:p>
        </p:txBody>
      </p:sp>
      <p:sp>
        <p:nvSpPr>
          <p:cNvPr id="33" name="文本框 32">
            <a:extLst>
              <a:ext uri="{FF2B5EF4-FFF2-40B4-BE49-F238E27FC236}">
                <a16:creationId xmlns:a16="http://schemas.microsoft.com/office/drawing/2014/main" id="{D714F63C-72A6-4D3A-B2E0-315C83501FB4}"/>
              </a:ext>
            </a:extLst>
          </p:cNvPr>
          <p:cNvSpPr txBox="1"/>
          <p:nvPr/>
        </p:nvSpPr>
        <p:spPr>
          <a:xfrm>
            <a:off x="8753525" y="4629494"/>
            <a:ext cx="1723549" cy="461665"/>
          </a:xfrm>
          <a:prstGeom prst="rect">
            <a:avLst/>
          </a:prstGeom>
          <a:noFill/>
        </p:spPr>
        <p:txBody>
          <a:bodyPr wrap="none" rtlCol="0">
            <a:spAutoFit/>
          </a:bodyPr>
          <a:lstStyle/>
          <a:p>
            <a:r>
              <a:rPr lang="zh-CN" altLang="en-US" b="1" dirty="0">
                <a:solidFill>
                  <a:srgbClr val="C00000"/>
                </a:solidFill>
              </a:rPr>
              <a:t>先验估计式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1" grpId="0"/>
      <p:bldP spid="3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Text Box 13"/>
          <p:cNvSpPr txBox="1">
            <a:spLocks noChangeArrowheads="1"/>
          </p:cNvSpPr>
          <p:nvPr/>
        </p:nvSpPr>
        <p:spPr bwMode="auto">
          <a:xfrm>
            <a:off x="1653977" y="590181"/>
            <a:ext cx="35283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dirty="0">
                <a:solidFill>
                  <a:srgbClr val="0000FF"/>
                </a:solidFill>
                <a:ea typeface="楷体_GB2312" pitchFamily="49" charset="-122"/>
              </a:rPr>
              <a:t>证明</a:t>
            </a:r>
            <a:r>
              <a:rPr lang="zh-CN" altLang="en-US" sz="2800" b="1" dirty="0">
                <a:solidFill>
                  <a:srgbClr val="0000FF"/>
                </a:solidFill>
                <a:ea typeface="楷体_GB2312" pitchFamily="49" charset="-122"/>
              </a:rPr>
              <a:t>：</a:t>
            </a:r>
            <a:r>
              <a:rPr lang="en-US" altLang="zh-CN" sz="2400" b="1" dirty="0">
                <a:solidFill>
                  <a:srgbClr val="0000FF"/>
                </a:solidFill>
                <a:ea typeface="楷体_GB2312" pitchFamily="49" charset="-122"/>
              </a:rPr>
              <a:t>2</a:t>
            </a:r>
            <a:r>
              <a:rPr lang="zh-CN" altLang="en-US" sz="2400" b="1" dirty="0">
                <a:solidFill>
                  <a:srgbClr val="0000FF"/>
                </a:solidFill>
                <a:ea typeface="楷体_GB2312" pitchFamily="49" charset="-122"/>
              </a:rPr>
              <a:t>）收敛性证明</a:t>
            </a:r>
            <a:endParaRPr lang="zh-CN" altLang="en-US" sz="2800" b="1" dirty="0">
              <a:solidFill>
                <a:srgbClr val="0000FF"/>
              </a:solidFill>
              <a:ea typeface="楷体_GB2312" pitchFamily="49" charset="-122"/>
            </a:endParaRPr>
          </a:p>
        </p:txBody>
      </p:sp>
      <p:grpSp>
        <p:nvGrpSpPr>
          <p:cNvPr id="4" name="组合 39"/>
          <p:cNvGrpSpPr>
            <a:grpSpLocks/>
          </p:cNvGrpSpPr>
          <p:nvPr/>
        </p:nvGrpSpPr>
        <p:grpSpPr bwMode="auto">
          <a:xfrm>
            <a:off x="1918631" y="1128215"/>
            <a:ext cx="8354737" cy="1130305"/>
            <a:chOff x="1091643" y="4166674"/>
            <a:chExt cx="8354379" cy="1130588"/>
          </a:xfrm>
        </p:grpSpPr>
        <mc:AlternateContent xmlns:mc="http://schemas.openxmlformats.org/markup-compatibility/2006">
          <mc:Choice xmlns:a14="http://schemas.microsoft.com/office/drawing/2010/main" Requires="a14">
            <p:sp>
              <p:nvSpPr>
                <p:cNvPr id="29702" name="Text Box 18"/>
                <p:cNvSpPr txBox="1">
                  <a:spLocks noChangeArrowheads="1"/>
                </p:cNvSpPr>
                <p:nvPr/>
              </p:nvSpPr>
              <p:spPr bwMode="auto">
                <a:xfrm>
                  <a:off x="1091643" y="4166674"/>
                  <a:ext cx="8354379" cy="11305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dirty="0"/>
                    <a:t>方法一：设 </a:t>
                  </a:r>
                  <a14:m>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𝑥</m:t>
                          </m:r>
                        </m:e>
                        <m:sup>
                          <m:r>
                            <a:rPr lang="zh-CN" altLang="en-US" sz="2400" i="1">
                              <a:solidFill>
                                <a:srgbClr val="000000"/>
                              </a:solidFill>
                              <a:latin typeface="Cambria Math" panose="02040503050406030204" pitchFamily="18" charset="0"/>
                            </a:rPr>
                            <m:t>∗</m:t>
                          </m:r>
                        </m:sup>
                      </m:sSup>
                    </m:oMath>
                  </a14:m>
                  <a:r>
                    <a:rPr lang="zh-CN" altLang="en-US" sz="2400" dirty="0"/>
                    <a:t>是 </a:t>
                  </a:r>
                  <a:r>
                    <a:rPr lang="en-US" altLang="zh-CN" sz="2400" i="1" dirty="0"/>
                    <a:t>n </a:t>
                  </a:r>
                  <a:r>
                    <a:rPr lang="zh-CN" altLang="en-US" sz="2400" dirty="0"/>
                    <a:t>阶非奇次线性方程组                的唯一解，即           	       。</a:t>
                  </a:r>
                </a:p>
              </p:txBody>
            </p:sp>
          </mc:Choice>
          <mc:Fallback>
            <p:sp>
              <p:nvSpPr>
                <p:cNvPr id="29702" name="Text Box 18"/>
                <p:cNvSpPr txBox="1">
                  <a:spLocks noRot="1" noChangeAspect="1" noMove="1" noResize="1" noEditPoints="1" noAdjustHandles="1" noChangeArrowheads="1" noChangeShapeType="1" noTextEdit="1"/>
                </p:cNvSpPr>
                <p:nvPr/>
              </p:nvSpPr>
              <p:spPr bwMode="auto">
                <a:xfrm>
                  <a:off x="1091643" y="4166674"/>
                  <a:ext cx="8354379" cy="1130529"/>
                </a:xfrm>
                <a:prstGeom prst="rect">
                  <a:avLst/>
                </a:prstGeom>
                <a:blipFill>
                  <a:blip r:embed="rId3"/>
                  <a:stretch>
                    <a:fillRect l="-1168" b="-102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03" name="Object 19"/>
                <p:cNvSpPr txBox="1"/>
                <p:nvPr/>
              </p:nvSpPr>
              <p:spPr bwMode="auto">
                <a:xfrm>
                  <a:off x="6404392" y="4289660"/>
                  <a:ext cx="1168598" cy="449750"/>
                </a:xfrm>
                <a:prstGeom prst="rect">
                  <a:avLst/>
                </a:prstGeom>
                <a:noFill/>
                <a:ln>
                  <a:noFill/>
                </a:ln>
                <a:effectLst/>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𝐴𝑥</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𝑏</m:t>
                        </m:r>
                      </m:oMath>
                    </m:oMathPara>
                  </a14:m>
                  <a:endParaRPr lang="zh-CN" altLang="en-US" dirty="0"/>
                </a:p>
              </p:txBody>
            </p:sp>
          </mc:Choice>
          <mc:Fallback>
            <p:sp>
              <p:nvSpPr>
                <p:cNvPr id="29703" name="Object 19"/>
                <p:cNvSpPr txBox="1">
                  <a:spLocks noRot="1" noChangeAspect="1" noMove="1" noResize="1" noEditPoints="1" noAdjustHandles="1" noChangeArrowheads="1" noChangeShapeType="1" noTextEdit="1"/>
                </p:cNvSpPr>
                <p:nvPr/>
              </p:nvSpPr>
              <p:spPr bwMode="auto">
                <a:xfrm>
                  <a:off x="6404392" y="4289660"/>
                  <a:ext cx="1168598" cy="449750"/>
                </a:xfrm>
                <a:prstGeom prst="rect">
                  <a:avLst/>
                </a:prstGeom>
                <a:blipFill>
                  <a:blip r:embed="rId4"/>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704" name="Object 21"/>
                <p:cNvSpPr txBox="1"/>
                <p:nvPr/>
              </p:nvSpPr>
              <p:spPr bwMode="auto">
                <a:xfrm>
                  <a:off x="1685793" y="4829106"/>
                  <a:ext cx="1713541" cy="468156"/>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oMath>
                    </m:oMathPara>
                  </a14:m>
                  <a:endParaRPr lang="zh-CN" altLang="en-US" dirty="0"/>
                </a:p>
              </p:txBody>
            </p:sp>
          </mc:Choice>
          <mc:Fallback>
            <p:sp>
              <p:nvSpPr>
                <p:cNvPr id="29704" name="Object 21"/>
                <p:cNvSpPr txBox="1">
                  <a:spLocks noRot="1" noChangeAspect="1" noMove="1" noResize="1" noEditPoints="1" noAdjustHandles="1" noChangeArrowheads="1" noChangeShapeType="1" noTextEdit="1"/>
                </p:cNvSpPr>
                <p:nvPr/>
              </p:nvSpPr>
              <p:spPr bwMode="auto">
                <a:xfrm>
                  <a:off x="1685793" y="4829106"/>
                  <a:ext cx="1713541" cy="468156"/>
                </a:xfrm>
                <a:prstGeom prst="rect">
                  <a:avLst/>
                </a:prstGeom>
                <a:blipFill>
                  <a:blip r:embed="rId5"/>
                  <a:stretch>
                    <a:fillRect/>
                  </a:stretch>
                </a:blipFill>
                <a:ln>
                  <a:noFill/>
                </a:ln>
                <a:effectLst/>
                <a:extLst/>
              </p:spPr>
              <p:txBody>
                <a:bodyPr/>
                <a:lstStyle/>
                <a:p>
                  <a:r>
                    <a:rPr lang="zh-CN" altLang="en-US">
                      <a:noFill/>
                    </a:rPr>
                    <a:t> </a:t>
                  </a:r>
                </a:p>
              </p:txBody>
            </p:sp>
          </mc:Fallback>
        </mc:AlternateContent>
      </p:grpSp>
      <p:grpSp>
        <p:nvGrpSpPr>
          <p:cNvPr id="20" name="Group 23"/>
          <p:cNvGrpSpPr>
            <a:grpSpLocks/>
          </p:cNvGrpSpPr>
          <p:nvPr/>
        </p:nvGrpSpPr>
        <p:grpSpPr bwMode="auto">
          <a:xfrm>
            <a:off x="2351584" y="2846899"/>
            <a:ext cx="6519859" cy="1166813"/>
            <a:chOff x="-328" y="3199"/>
            <a:chExt cx="4107" cy="735"/>
          </a:xfrm>
        </p:grpSpPr>
        <p:sp>
          <p:nvSpPr>
            <p:cNvPr id="21" name="Rectangle 24"/>
            <p:cNvSpPr>
              <a:spLocks noChangeArrowheads="1"/>
            </p:cNvSpPr>
            <p:nvPr/>
          </p:nvSpPr>
          <p:spPr bwMode="auto">
            <a:xfrm>
              <a:off x="-328" y="3372"/>
              <a:ext cx="4107"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latin typeface="宋体" panose="02010600030101010101" pitchFamily="2" charset="-122"/>
                </a:rPr>
                <a:t> </a:t>
              </a:r>
              <a:r>
                <a:rPr lang="zh-CN" altLang="en-US" sz="2400" dirty="0">
                  <a:latin typeface="宋体" panose="02010600030101010101" pitchFamily="2" charset="-122"/>
                </a:rPr>
                <a:t>由                 的分量形式</a:t>
              </a:r>
              <a:r>
                <a:rPr lang="en-US" altLang="zh-CN" sz="2400" dirty="0">
                  <a:latin typeface="宋体" panose="02010600030101010101" pitchFamily="2" charset="-122"/>
                </a:rPr>
                <a:t>,</a:t>
              </a:r>
              <a:r>
                <a:rPr lang="zh-CN" altLang="en-US" sz="2400" dirty="0">
                  <a:latin typeface="宋体" panose="02010600030101010101" pitchFamily="2" charset="-122"/>
                </a:rPr>
                <a:t>两式相减得</a:t>
              </a:r>
              <a:endParaRPr lang="zh-CN" altLang="en-US" sz="2400" dirty="0"/>
            </a:p>
            <a:p>
              <a:pPr eaLnBrk="1" hangingPunct="1">
                <a:spcBef>
                  <a:spcPct val="0"/>
                </a:spcBef>
                <a:buFontTx/>
                <a:buNone/>
              </a:pPr>
              <a:endParaRPr lang="zh-CN" altLang="en-US" sz="2400" dirty="0">
                <a:latin typeface="宋体" panose="02010600030101010101" pitchFamily="2" charset="-122"/>
              </a:endParaRPr>
            </a:p>
          </p:txBody>
        </p:sp>
        <mc:AlternateContent xmlns:mc="http://schemas.openxmlformats.org/markup-compatibility/2006">
          <mc:Choice xmlns:a14="http://schemas.microsoft.com/office/drawing/2010/main" Requires="a14">
            <p:sp>
              <p:nvSpPr>
                <p:cNvPr id="22" name="Object 25"/>
                <p:cNvSpPr txBox="1"/>
                <p:nvPr/>
              </p:nvSpPr>
              <p:spPr bwMode="auto">
                <a:xfrm>
                  <a:off x="67" y="3199"/>
                  <a:ext cx="1572" cy="626"/>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eqArr>
                              <m:eqArrPr>
                                <m:ctrlPr>
                                  <a:rPr lang="zh-CN" altLang="en-US" i="1">
                                    <a:solidFill>
                                      <a:srgbClr val="000000"/>
                                    </a:solidFill>
                                    <a:latin typeface="Cambria Math" panose="02040503050406030204" pitchFamily="18" charset="0"/>
                                  </a:rPr>
                                </m:ctrlPr>
                              </m:eqArr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e>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𝐵</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𝑔</m:t>
                                </m:r>
                              </m:e>
                            </m:eqArr>
                          </m:e>
                        </m:d>
                      </m:oMath>
                    </m:oMathPara>
                  </a14:m>
                  <a:endParaRPr lang="zh-CN" altLang="en-US" dirty="0"/>
                </a:p>
              </p:txBody>
            </p:sp>
          </mc:Choice>
          <mc:Fallback>
            <p:sp>
              <p:nvSpPr>
                <p:cNvPr id="22" name="Object 25"/>
                <p:cNvSpPr txBox="1">
                  <a:spLocks noRot="1" noChangeAspect="1" noMove="1" noResize="1" noEditPoints="1" noAdjustHandles="1" noChangeArrowheads="1" noChangeShapeType="1" noTextEdit="1"/>
                </p:cNvSpPr>
                <p:nvPr/>
              </p:nvSpPr>
              <p:spPr bwMode="auto">
                <a:xfrm>
                  <a:off x="67" y="3199"/>
                  <a:ext cx="1572" cy="626"/>
                </a:xfrm>
                <a:prstGeom prst="rect">
                  <a:avLst/>
                </a:prstGeom>
                <a:blipFill>
                  <a:blip r:embed="rId6"/>
                  <a:stretch>
                    <a:fillRect/>
                  </a:stretch>
                </a:blipFill>
                <a:ln>
                  <a:noFill/>
                </a:ln>
                <a:ex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9" name="Object 13"/>
              <p:cNvSpPr txBox="1"/>
              <p:nvPr/>
            </p:nvSpPr>
            <p:spPr bwMode="auto">
              <a:xfrm>
                <a:off x="2617862" y="4712803"/>
                <a:ext cx="4337050" cy="68262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smtClean="0">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𝑘</m:t>
                              </m:r>
                            </m:sup>
                          </m:sSup>
                        </m:e>
                      </m:d>
                    </m:oMath>
                  </m:oMathPara>
                </a14:m>
                <a:endParaRPr lang="zh-CN" altLang="en-US" dirty="0"/>
              </a:p>
            </p:txBody>
          </p:sp>
        </mc:Choice>
        <mc:Fallback>
          <p:sp>
            <p:nvSpPr>
              <p:cNvPr id="29" name="Object 13"/>
              <p:cNvSpPr txBox="1">
                <a:spLocks noRot="1" noChangeAspect="1" noMove="1" noResize="1" noEditPoints="1" noAdjustHandles="1" noChangeArrowheads="1" noChangeShapeType="1" noTextEdit="1"/>
              </p:cNvSpPr>
              <p:nvPr/>
            </p:nvSpPr>
            <p:spPr bwMode="auto">
              <a:xfrm>
                <a:off x="2617862" y="4712803"/>
                <a:ext cx="4337050" cy="682625"/>
              </a:xfrm>
              <a:prstGeom prst="rect">
                <a:avLst/>
              </a:prstGeom>
              <a:blipFill>
                <a:blip r:embed="rId7"/>
                <a:stretch>
                  <a:fillRect t="-114286" r="-15028" b="-136607"/>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p:cNvSpPr txBox="1"/>
              <p:nvPr/>
            </p:nvSpPr>
            <p:spPr>
              <a:xfrm>
                <a:off x="3215416" y="2252277"/>
                <a:ext cx="3982052"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a:latin typeface="Cambria Math" panose="02040503050406030204" pitchFamily="18" charset="0"/>
                            </a:rPr>
                            <m:t>记</m:t>
                          </m:r>
                          <m:r>
                            <a:rPr lang="zh-CN" altLang="en-US" i="1" smtClean="0">
                              <a:latin typeface="Cambria Math" panose="02040503050406030204" pitchFamily="18" charset="0"/>
                            </a:rPr>
                            <m:t>：</m:t>
                          </m:r>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𝑘</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sSup>
                            <m:sSupPr>
                              <m:ctrlPr>
                                <a:rPr lang="en-US" altLang="zh-CN" i="1">
                                  <a:latin typeface="Cambria Math" panose="02040503050406030204" pitchFamily="18" charset="0"/>
                                </a:rPr>
                              </m:ctrlPr>
                            </m:sSupPr>
                            <m:e>
                              <m:r>
                                <a:rPr lang="en-US" altLang="zh-CN" i="1">
                                  <a:latin typeface="Cambria Math" panose="02040503050406030204" pitchFamily="18" charset="0"/>
                                </a:rPr>
                                <m:t>𝑥</m:t>
                              </m:r>
                            </m:e>
                            <m:sup>
                              <m:r>
                                <a:rPr lang="en-US" altLang="zh-CN" i="1">
                                  <a:latin typeface="Cambria Math" panose="02040503050406030204" pitchFamily="18" charset="0"/>
                                </a:rPr>
                                <m:t>𝑘</m:t>
                              </m:r>
                            </m:sup>
                          </m:sSup>
                          <m:r>
                            <a:rPr lang="en-US" altLang="zh-CN" i="1">
                              <a:latin typeface="Cambria Math" panose="02040503050406030204" pitchFamily="18" charset="0"/>
                            </a:rPr>
                            <m:t>−</m:t>
                          </m:r>
                          <m:r>
                            <a:rPr lang="en-US" altLang="zh-CN" i="1">
                              <a:latin typeface="Cambria Math" panose="02040503050406030204" pitchFamily="18" charset="0"/>
                            </a:rPr>
                            <m:t>𝑥</m:t>
                          </m:r>
                        </m:e>
                      </m:d>
                      <m:r>
                        <a:rPr lang="en-US" altLang="zh-CN" b="0" i="1" smtClean="0">
                          <a:latin typeface="Cambria Math" panose="02040503050406030204" pitchFamily="18" charset="0"/>
                        </a:rPr>
                        <m:t>, </m:t>
                      </m:r>
                      <m:r>
                        <a:rPr lang="en-US" altLang="zh-CN" b="0" i="1" smtClean="0">
                          <a:latin typeface="Cambria Math" panose="02040503050406030204" pitchFamily="18" charset="0"/>
                        </a:rPr>
                        <m:t>𝑘</m:t>
                      </m:r>
                      <m:r>
                        <a:rPr lang="en-US" altLang="zh-CN" b="0" i="1" smtClean="0">
                          <a:latin typeface="Cambria Math" panose="02040503050406030204" pitchFamily="18" charset="0"/>
                        </a:rPr>
                        <m:t>=1,2…</m:t>
                      </m:r>
                    </m:oMath>
                  </m:oMathPara>
                </a14:m>
                <a:endParaRPr lang="zh-CN" altLang="en-US" dirty="0"/>
              </a:p>
            </p:txBody>
          </p:sp>
        </mc:Choice>
        <mc:Fallback>
          <p:sp>
            <p:nvSpPr>
              <p:cNvPr id="5" name="文本框 4"/>
              <p:cNvSpPr txBox="1">
                <a:spLocks noRot="1" noChangeAspect="1" noMove="1" noResize="1" noEditPoints="1" noAdjustHandles="1" noChangeArrowheads="1" noChangeShapeType="1" noTextEdit="1"/>
              </p:cNvSpPr>
              <p:nvPr/>
            </p:nvSpPr>
            <p:spPr>
              <a:xfrm>
                <a:off x="3215416" y="2252277"/>
                <a:ext cx="3982052" cy="41684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2617862" y="5282236"/>
                <a:ext cx="2062616"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b="0" i="1" smtClean="0">
                              <a:latin typeface="Cambria Math" panose="02040503050406030204" pitchFamily="18" charset="0"/>
                            </a:rPr>
                            <m:t>𝛿</m:t>
                          </m:r>
                        </m:e>
                        <m:sub>
                          <m:r>
                            <a:rPr lang="en-US" altLang="zh-CN" b="0" i="1" smtClean="0">
                              <a:latin typeface="Cambria Math" panose="02040503050406030204" pitchFamily="18" charset="0"/>
                            </a:rPr>
                            <m:t>𝑘</m:t>
                          </m:r>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e>
                      </m:d>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 </m:t>
                          </m:r>
                          <m:r>
                            <a:rPr lang="zh-CN" altLang="en-US" i="1" smtClean="0">
                              <a:latin typeface="Cambria Math" panose="02040503050406030204" pitchFamily="18" charset="0"/>
                            </a:rPr>
                            <m:t>𝛿</m:t>
                          </m:r>
                        </m:e>
                        <m:sub>
                          <m:r>
                            <a:rPr lang="en-US" altLang="zh-CN" i="1">
                              <a:latin typeface="Cambria Math" panose="02040503050406030204" pitchFamily="18" charset="0"/>
                            </a:rPr>
                            <m:t>𝑘</m:t>
                          </m:r>
                        </m:sub>
                      </m:sSub>
                    </m:oMath>
                  </m:oMathPara>
                </a14:m>
                <a:endParaRPr lang="zh-CN" altLang="en-US" dirty="0"/>
              </a:p>
            </p:txBody>
          </p:sp>
        </mc:Choice>
        <mc:Fallback>
          <p:sp>
            <p:nvSpPr>
              <p:cNvPr id="32" name="文本框 31"/>
              <p:cNvSpPr txBox="1">
                <a:spLocks noRot="1" noChangeAspect="1" noMove="1" noResize="1" noEditPoints="1" noAdjustHandles="1" noChangeArrowheads="1" noChangeShapeType="1" noTextEdit="1"/>
              </p:cNvSpPr>
              <p:nvPr/>
            </p:nvSpPr>
            <p:spPr>
              <a:xfrm>
                <a:off x="2617862" y="5282236"/>
                <a:ext cx="2062616" cy="416845"/>
              </a:xfrm>
              <a:prstGeom prst="rect">
                <a:avLst/>
              </a:prstGeom>
              <a:blipFill>
                <a:blip r:embed="rId9"/>
                <a:stretch>
                  <a:fillRect/>
                </a:stretch>
              </a:blipFill>
            </p:spPr>
            <p:txBody>
              <a:bodyPr/>
              <a:lstStyle/>
              <a:p>
                <a:r>
                  <a:rPr lang="zh-CN" altLang="en-US">
                    <a:noFill/>
                  </a:rPr>
                  <a:t> </a:t>
                </a:r>
              </a:p>
            </p:txBody>
          </p:sp>
        </mc:Fallback>
      </mc:AlternateContent>
      <p:sp>
        <p:nvSpPr>
          <p:cNvPr id="34" name="Rectangle 10"/>
          <p:cNvSpPr>
            <a:spLocks noChangeArrowheads="1"/>
          </p:cNvSpPr>
          <p:nvPr/>
        </p:nvSpPr>
        <p:spPr bwMode="auto">
          <a:xfrm>
            <a:off x="1182106" y="5774400"/>
            <a:ext cx="700188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dirty="0">
                <a:latin typeface="宋体" panose="02010600030101010101" pitchFamily="2" charset="-122"/>
              </a:rPr>
              <a:t>以行范数为例，由此递推可得 </a:t>
            </a:r>
          </a:p>
        </p:txBody>
      </p:sp>
      <p:grpSp>
        <p:nvGrpSpPr>
          <p:cNvPr id="26" name="组合 25">
            <a:extLst>
              <a:ext uri="{FF2B5EF4-FFF2-40B4-BE49-F238E27FC236}">
                <a16:creationId xmlns:a16="http://schemas.microsoft.com/office/drawing/2014/main" id="{D2D7817C-0DE1-4B0D-A4EB-C7739D6AFE1B}"/>
              </a:ext>
            </a:extLst>
          </p:cNvPr>
          <p:cNvGrpSpPr/>
          <p:nvPr/>
        </p:nvGrpSpPr>
        <p:grpSpPr>
          <a:xfrm>
            <a:off x="4325326" y="6158764"/>
            <a:ext cx="6811234" cy="760696"/>
            <a:chOff x="4325326" y="6158764"/>
            <a:chExt cx="5000426" cy="558800"/>
          </a:xfrm>
        </p:grpSpPr>
        <mc:AlternateContent xmlns:mc="http://schemas.openxmlformats.org/markup-compatibility/2006">
          <mc:Choice xmlns:a14="http://schemas.microsoft.com/office/drawing/2010/main" Requires="a14">
            <p:sp>
              <p:nvSpPr>
                <p:cNvPr id="35" name="Object 11"/>
                <p:cNvSpPr txBox="1"/>
                <p:nvPr/>
              </p:nvSpPr>
              <p:spPr bwMode="auto">
                <a:xfrm>
                  <a:off x="4325326" y="6183619"/>
                  <a:ext cx="1687512" cy="5080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𝛿</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r>
                              <a:rPr lang="zh-CN" altLang="en-US" i="1">
                                <a:solidFill>
                                  <a:srgbClr val="000000"/>
                                </a:solidFill>
                                <a:latin typeface="Cambria Math" panose="02040503050406030204" pitchFamily="18" charset="0"/>
                              </a:rPr>
                              <m:t>∞</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𝛿</m:t>
                            </m:r>
                          </m:e>
                          <m:sub>
                            <m:r>
                              <a:rPr lang="zh-CN" altLang="en-US" i="1">
                                <a:solidFill>
                                  <a:srgbClr val="000000"/>
                                </a:solidFill>
                                <a:latin typeface="Cambria Math" panose="02040503050406030204" pitchFamily="18" charset="0"/>
                              </a:rPr>
                              <m:t>𝑘</m:t>
                            </m:r>
                          </m:sub>
                        </m:sSub>
                      </m:oMath>
                    </m:oMathPara>
                  </a14:m>
                  <a:endParaRPr lang="zh-CN" altLang="en-US" dirty="0"/>
                </a:p>
              </p:txBody>
            </p:sp>
          </mc:Choice>
          <mc:Fallback>
            <p:sp>
              <p:nvSpPr>
                <p:cNvPr id="35" name="Object 11"/>
                <p:cNvSpPr txBox="1">
                  <a:spLocks noRot="1" noChangeAspect="1" noMove="1" noResize="1" noEditPoints="1" noAdjustHandles="1" noChangeArrowheads="1" noChangeShapeType="1" noTextEdit="1"/>
                </p:cNvSpPr>
                <p:nvPr/>
              </p:nvSpPr>
              <p:spPr bwMode="auto">
                <a:xfrm>
                  <a:off x="4325326" y="6183619"/>
                  <a:ext cx="1687512" cy="508000"/>
                </a:xfrm>
                <a:prstGeom prst="rect">
                  <a:avLst/>
                </a:prstGeom>
                <a:blipFill>
                  <a:blip r:embed="rId10"/>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 name="Object 16"/>
                <p:cNvSpPr txBox="1"/>
                <p:nvPr/>
              </p:nvSpPr>
              <p:spPr bwMode="auto">
                <a:xfrm>
                  <a:off x="6085665" y="6158764"/>
                  <a:ext cx="1335087" cy="5588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2</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𝛿</m:t>
                            </m:r>
                          </m:e>
                          <m:sub>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b>
                        </m:sSub>
                      </m:oMath>
                    </m:oMathPara>
                  </a14:m>
                  <a:endParaRPr lang="zh-CN" altLang="en-US" dirty="0"/>
                </a:p>
              </p:txBody>
            </p:sp>
          </mc:Choice>
          <mc:Fallback>
            <p:sp>
              <p:nvSpPr>
                <p:cNvPr id="36" name="Object 16"/>
                <p:cNvSpPr txBox="1">
                  <a:spLocks noRot="1" noChangeAspect="1" noMove="1" noResize="1" noEditPoints="1" noAdjustHandles="1" noChangeArrowheads="1" noChangeShapeType="1" noTextEdit="1"/>
                </p:cNvSpPr>
                <p:nvPr/>
              </p:nvSpPr>
              <p:spPr bwMode="auto">
                <a:xfrm>
                  <a:off x="6085665" y="6158764"/>
                  <a:ext cx="1335087" cy="558800"/>
                </a:xfrm>
                <a:prstGeom prst="rect">
                  <a:avLst/>
                </a:prstGeom>
                <a:blipFill>
                  <a:blip r:embed="rId11"/>
                  <a:stretch>
                    <a:fillRect l="-1007"/>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Object 17"/>
                <p:cNvSpPr txBox="1"/>
                <p:nvPr/>
              </p:nvSpPr>
              <p:spPr bwMode="auto">
                <a:xfrm>
                  <a:off x="7487427" y="6158764"/>
                  <a:ext cx="1838325" cy="558800"/>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sSubSup>
                          <m:sSubSupPr>
                            <m:ctrlPr>
                              <a:rPr lang="zh-CN" altLang="en-US" i="1">
                                <a:solidFill>
                                  <a:srgbClr val="000000"/>
                                </a:solidFill>
                                <a:latin typeface="Cambria Math" panose="02040503050406030204" pitchFamily="18" charset="0"/>
                              </a:rPr>
                            </m:ctrlPr>
                          </m:sSubSup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𝛿</m:t>
                            </m:r>
                          </m:e>
                          <m:sub>
                            <m:r>
                              <a:rPr lang="zh-CN" altLang="en-US" i="1">
                                <a:solidFill>
                                  <a:srgbClr val="000000"/>
                                </a:solidFill>
                                <a:latin typeface="Cambria Math" panose="02040503050406030204" pitchFamily="18" charset="0"/>
                              </a:rPr>
                              <m:t>0</m:t>
                            </m:r>
                          </m:sub>
                        </m:sSub>
                      </m:oMath>
                    </m:oMathPara>
                  </a14:m>
                  <a:endParaRPr lang="zh-CN" altLang="en-US" dirty="0"/>
                </a:p>
              </p:txBody>
            </p:sp>
          </mc:Choice>
          <mc:Fallback>
            <p:sp>
              <p:nvSpPr>
                <p:cNvPr id="37" name="Object 17"/>
                <p:cNvSpPr txBox="1">
                  <a:spLocks noRot="1" noChangeAspect="1" noMove="1" noResize="1" noEditPoints="1" noAdjustHandles="1" noChangeArrowheads="1" noChangeShapeType="1" noTextEdit="1"/>
                </p:cNvSpPr>
                <p:nvPr/>
              </p:nvSpPr>
              <p:spPr bwMode="auto">
                <a:xfrm>
                  <a:off x="7487427" y="6158764"/>
                  <a:ext cx="1838325" cy="558800"/>
                </a:xfrm>
                <a:prstGeom prst="rect">
                  <a:avLst/>
                </a:prstGeom>
                <a:blipFill>
                  <a:blip r:embed="rId12"/>
                  <a:stretch>
                    <a:fillRect/>
                  </a:stretch>
                </a:blipFill>
                <a:ln>
                  <a:noFill/>
                </a:ln>
                <a:extLst/>
              </p:spPr>
              <p:txBody>
                <a:bodyPr/>
                <a:lstStyle/>
                <a:p>
                  <a:r>
                    <a:rPr lang="zh-CN" altLang="en-US">
                      <a:noFill/>
                    </a:rPr>
                    <a:t> </a:t>
                  </a:r>
                </a:p>
              </p:txBody>
            </p:sp>
          </mc:Fallback>
        </mc:AlternateContent>
      </p:grpSp>
      <p:sp>
        <p:nvSpPr>
          <p:cNvPr id="3" name="文本框 2">
            <a:extLst>
              <a:ext uri="{FF2B5EF4-FFF2-40B4-BE49-F238E27FC236}">
                <a16:creationId xmlns:a16="http://schemas.microsoft.com/office/drawing/2014/main" id="{FAC8D444-FA02-41ED-AECD-CA0786CBD92F}"/>
              </a:ext>
            </a:extLst>
          </p:cNvPr>
          <p:cNvSpPr txBox="1"/>
          <p:nvPr/>
        </p:nvSpPr>
        <p:spPr>
          <a:xfrm>
            <a:off x="1946533" y="4257249"/>
            <a:ext cx="4185761" cy="461665"/>
          </a:xfrm>
          <a:prstGeom prst="rect">
            <a:avLst/>
          </a:prstGeom>
          <a:noFill/>
        </p:spPr>
        <p:txBody>
          <a:bodyPr wrap="none" rtlCol="0">
            <a:spAutoFit/>
          </a:bodyPr>
          <a:lstStyle/>
          <a:p>
            <a:r>
              <a:rPr lang="zh-CN" altLang="en-US" dirty="0"/>
              <a:t>根据范式定义中的三角不等性</a:t>
            </a:r>
          </a:p>
        </p:txBody>
      </p:sp>
      <mc:AlternateContent xmlns:mc="http://schemas.openxmlformats.org/markup-compatibility/2006">
        <mc:Choice xmlns:a14="http://schemas.microsoft.com/office/drawing/2010/main" Requires="a14">
          <p:sp>
            <p:nvSpPr>
              <p:cNvPr id="19" name="Object 13">
                <a:extLst>
                  <a:ext uri="{FF2B5EF4-FFF2-40B4-BE49-F238E27FC236}">
                    <a16:creationId xmlns:a16="http://schemas.microsoft.com/office/drawing/2014/main" id="{DB599230-6B04-4FFD-B6AB-9E8F3BC1CB14}"/>
                  </a:ext>
                </a:extLst>
              </p:cNvPr>
              <p:cNvSpPr txBox="1"/>
              <p:nvPr/>
            </p:nvSpPr>
            <p:spPr bwMode="auto">
              <a:xfrm>
                <a:off x="2737121" y="3771591"/>
                <a:ext cx="4337050" cy="682625"/>
              </a:xfrm>
              <a:prstGeom prst="rect">
                <a:avLst/>
              </a:prstGeom>
              <a:noFill/>
              <a:ln>
                <a:noFill/>
              </a:ln>
              <a:extLst/>
            </p:spPr>
            <p:txBody>
              <a:bodyPr>
                <a:normAutofit/>
              </a:bodyPr>
              <a:lstStyle/>
              <a:p>
                <a:pPr/>
                <a14:m>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oMath>
                </a14:m>
                <a:r>
                  <a:rPr lang="en-US" altLang="zh-CN" dirty="0"/>
                  <a:t>=</a:t>
                </a:r>
                <a:r>
                  <a:rPr lang="zh-CN" altLang="en-US" dirty="0">
                    <a:solidFill>
                      <a:srgbClr val="000000"/>
                    </a:solidFill>
                  </a:rPr>
                  <a:t> </a:t>
                </a:r>
                <a14:m>
                  <m:oMath xmlns:m="http://schemas.openxmlformats.org/officeDocument/2006/math">
                    <m:r>
                      <m:rPr>
                        <m:sty m:val="p"/>
                      </m:rPr>
                      <a:rPr lang="zh-CN" altLang="en-US">
                        <a:solidFill>
                          <a:srgbClr val="000000"/>
                        </a:solidFill>
                        <a:latin typeface="Cambria Math" panose="02040503050406030204" pitchFamily="18" charset="0"/>
                      </a:rPr>
                      <m:t>B</m:t>
                    </m:r>
                  </m:oMath>
                </a14:m>
                <a:r>
                  <a:rPr lang="en-US" altLang="zh-CN" dirty="0"/>
                  <a:t>(</a:t>
                </a:r>
                <a14:m>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en-US" altLang="zh-CN" b="0" i="1" smtClean="0">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𝑘</m:t>
                        </m:r>
                      </m:sup>
                    </m:sSup>
                  </m:oMath>
                </a14:m>
                <a:r>
                  <a:rPr lang="en-US" altLang="zh-CN" dirty="0"/>
                  <a:t>)</a:t>
                </a:r>
                <a:endParaRPr lang="zh-CN" altLang="en-US" dirty="0"/>
              </a:p>
            </p:txBody>
          </p:sp>
        </mc:Choice>
        <mc:Fallback>
          <p:sp>
            <p:nvSpPr>
              <p:cNvPr id="19" name="Object 13">
                <a:extLst>
                  <a:ext uri="{FF2B5EF4-FFF2-40B4-BE49-F238E27FC236}">
                    <a16:creationId xmlns:a16="http://schemas.microsoft.com/office/drawing/2014/main" id="{DB599230-6B04-4FFD-B6AB-9E8F3BC1CB14}"/>
                  </a:ext>
                </a:extLst>
              </p:cNvPr>
              <p:cNvSpPr txBox="1">
                <a:spLocks noRot="1" noChangeAspect="1" noMove="1" noResize="1" noEditPoints="1" noAdjustHandles="1" noChangeArrowheads="1" noChangeShapeType="1" noTextEdit="1"/>
              </p:cNvSpPr>
              <p:nvPr/>
            </p:nvSpPr>
            <p:spPr bwMode="auto">
              <a:xfrm>
                <a:off x="2737121" y="3771591"/>
                <a:ext cx="4337050" cy="682625"/>
              </a:xfrm>
              <a:prstGeom prst="rect">
                <a:avLst/>
              </a:prstGeom>
              <a:blipFill>
                <a:blip r:embed="rId13"/>
                <a:stretch>
                  <a:fillRect t="-4464"/>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935136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8"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anim calcmode="lin" valueType="num">
                                      <p:cBhvr additive="base">
                                        <p:cTn id="16" dur="500" fill="hold"/>
                                        <p:tgtEl>
                                          <p:spTgt spid="20"/>
                                        </p:tgtEl>
                                        <p:attrNameLst>
                                          <p:attrName>ppt_x</p:attrName>
                                        </p:attrNameLst>
                                      </p:cBhvr>
                                      <p:tavLst>
                                        <p:tav tm="0">
                                          <p:val>
                                            <p:strVal val="0-#ppt_w/2"/>
                                          </p:val>
                                        </p:tav>
                                        <p:tav tm="100000">
                                          <p:val>
                                            <p:strVal val="#ppt_x"/>
                                          </p:val>
                                        </p:tav>
                                      </p:tavLst>
                                    </p:anim>
                                    <p:anim calcmode="lin" valueType="num">
                                      <p:cBhvr additive="base">
                                        <p:cTn id="17"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additive="base">
                                        <p:cTn id="37" dur="500" fill="hold"/>
                                        <p:tgtEl>
                                          <p:spTgt spid="34"/>
                                        </p:tgtEl>
                                        <p:attrNameLst>
                                          <p:attrName>ppt_x</p:attrName>
                                        </p:attrNameLst>
                                      </p:cBhvr>
                                      <p:tavLst>
                                        <p:tav tm="0">
                                          <p:val>
                                            <p:strVal val="0-#ppt_w/2"/>
                                          </p:val>
                                        </p:tav>
                                        <p:tav tm="100000">
                                          <p:val>
                                            <p:strVal val="#ppt_x"/>
                                          </p:val>
                                        </p:tav>
                                      </p:tavLst>
                                    </p:anim>
                                    <p:anim calcmode="lin" valueType="num">
                                      <p:cBhvr additive="base">
                                        <p:cTn id="38" dur="500" fill="hold"/>
                                        <p:tgtEl>
                                          <p:spTgt spid="34"/>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1" presetClass="entr" presetSubtype="0" fill="hold" nodeType="afterEffect">
                                  <p:stCondLst>
                                    <p:cond delay="0"/>
                                  </p:stCondLst>
                                  <p:childTnLst>
                                    <p:set>
                                      <p:cBhvr>
                                        <p:cTn id="4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5" grpId="0"/>
      <p:bldP spid="32" grpId="0"/>
      <p:bldP spid="34" grpId="0" autoUpdateAnimBg="0"/>
      <p:bldP spid="3" grpId="0"/>
      <p:bldP spid="1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p:cNvSpPr txBox="1">
            <a:spLocks noChangeArrowheads="1"/>
          </p:cNvSpPr>
          <p:nvPr/>
        </p:nvSpPr>
        <p:spPr bwMode="auto">
          <a:xfrm>
            <a:off x="2351088" y="2492375"/>
            <a:ext cx="609600" cy="461963"/>
          </a:xfrm>
          <a:prstGeom prst="rect">
            <a:avLst/>
          </a:prstGeom>
          <a:noFill/>
          <a:ln w="9525">
            <a:noFill/>
            <a:miter lim="800000"/>
            <a:headEnd/>
            <a:tailEnd/>
          </a:ln>
        </p:spPr>
        <p:txBody>
          <a:bodyPr>
            <a:spAutoFit/>
          </a:bodyPr>
          <a:lstStyle/>
          <a:p>
            <a:pPr eaLnBrk="1" hangingPunct="1">
              <a:defRPr/>
            </a:pPr>
            <a:r>
              <a:rPr lang="zh-CN" altLang="en-US" dirty="0">
                <a:latin typeface="+mn-lt"/>
                <a:ea typeface="+mn-ea"/>
              </a:rPr>
              <a:t>即</a:t>
            </a:r>
          </a:p>
        </p:txBody>
      </p:sp>
      <mc:AlternateContent xmlns:mc="http://schemas.openxmlformats.org/markup-compatibility/2006">
        <mc:Choice xmlns:a14="http://schemas.microsoft.com/office/drawing/2010/main" Requires="a14">
          <p:sp>
            <p:nvSpPr>
              <p:cNvPr id="9" name="Object 9"/>
              <p:cNvSpPr txBox="1"/>
              <p:nvPr/>
            </p:nvSpPr>
            <p:spPr bwMode="auto">
              <a:xfrm>
                <a:off x="3317529" y="2683296"/>
                <a:ext cx="5111750" cy="671512"/>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func>
                        <m:funcPr>
                          <m:ctrlPr>
                            <a:rPr lang="zh-CN" altLang="en-US" i="1" smtClean="0">
                              <a:solidFill>
                                <a:srgbClr val="000000"/>
                              </a:solidFill>
                              <a:latin typeface="Cambria Math" panose="02040503050406030204" pitchFamily="18" charset="0"/>
                            </a:rPr>
                          </m:ctrlPr>
                        </m:funcPr>
                        <m:fName>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lim</m:t>
                              </m:r>
                            </m:e>
                            <m:lim>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lim>
                          </m:limLow>
                        </m:fName>
                        <m:e>
                          <m:r>
                            <a:rPr lang="zh-CN" altLang="en-US" i="1">
                              <a:solidFill>
                                <a:srgbClr val="000000"/>
                              </a:solidFill>
                              <a:latin typeface="Cambria Math" panose="02040503050406030204" pitchFamily="18" charset="0"/>
                            </a:rPr>
                            <m:t>(</m:t>
                          </m:r>
                        </m:e>
                      </m:func>
                      <m:sSubSup>
                        <m:sSubSupPr>
                          <m:ctrlPr>
                            <a:rPr lang="zh-CN" altLang="en-US" i="1">
                              <a:solidFill>
                                <a:srgbClr val="000000"/>
                              </a:solidFill>
                              <a:latin typeface="Cambria Math" panose="02040503050406030204" pitchFamily="18" charset="0"/>
                            </a:rPr>
                          </m:ctrlPr>
                        </m:sSubSup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b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𝑖</m:t>
                          </m:r>
                        </m:sub>
                      </m:sSub>
                      <m:r>
                        <a:rPr lang="zh-CN" altLang="en-US" i="1">
                          <a:solidFill>
                            <a:srgbClr val="000000"/>
                          </a:solidFill>
                          <a:latin typeface="Cambria Math" panose="02040503050406030204" pitchFamily="18" charset="0"/>
                        </a:rPr>
                        <m:t>)=0	</m:t>
                      </m:r>
                      <m:r>
                        <a:rPr lang="en-US" altLang="zh-CN" b="0" i="1" smtClean="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=1,2,⋯,</m:t>
                      </m:r>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9" name="Object 9"/>
              <p:cNvSpPr txBox="1">
                <a:spLocks noRot="1" noChangeAspect="1" noMove="1" noResize="1" noEditPoints="1" noAdjustHandles="1" noChangeArrowheads="1" noChangeShapeType="1" noTextEdit="1"/>
              </p:cNvSpPr>
              <p:nvPr/>
            </p:nvSpPr>
            <p:spPr bwMode="auto">
              <a:xfrm>
                <a:off x="3317529" y="2683296"/>
                <a:ext cx="5111750" cy="671512"/>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10" name="Rectangle 10"/>
          <p:cNvSpPr>
            <a:spLocks noChangeArrowheads="1"/>
          </p:cNvSpPr>
          <p:nvPr/>
        </p:nvSpPr>
        <p:spPr bwMode="auto">
          <a:xfrm>
            <a:off x="1343471" y="3967126"/>
            <a:ext cx="9505056"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b="1" dirty="0">
                <a:solidFill>
                  <a:srgbClr val="0000FF"/>
                </a:solidFill>
              </a:rPr>
              <a:t>注：</a:t>
            </a:r>
            <a:r>
              <a:rPr lang="zh-CN" altLang="en-US" sz="2400" dirty="0"/>
              <a:t>由此定理可以知道</a:t>
            </a:r>
            <a:r>
              <a:rPr lang="zh-CN" altLang="en-US" sz="2400" dirty="0">
                <a:solidFill>
                  <a:srgbClr val="FF0000"/>
                </a:solidFill>
              </a:rPr>
              <a:t>，在将方程组作等价变形时，若使矩阵</a:t>
            </a:r>
            <a:r>
              <a:rPr lang="en-US" altLang="zh-CN" sz="2400" i="1" dirty="0">
                <a:solidFill>
                  <a:srgbClr val="FF0000"/>
                </a:solidFill>
              </a:rPr>
              <a:t>B</a:t>
            </a:r>
            <a:r>
              <a:rPr lang="zh-CN" altLang="en-US" sz="2400" dirty="0">
                <a:solidFill>
                  <a:srgbClr val="FF0000"/>
                </a:solidFill>
              </a:rPr>
              <a:t>的元素</a:t>
            </a:r>
            <a:r>
              <a:rPr lang="en-US" altLang="zh-CN" sz="2400" i="1" dirty="0" err="1">
                <a:solidFill>
                  <a:srgbClr val="FF0000"/>
                </a:solidFill>
              </a:rPr>
              <a:t>b</a:t>
            </a:r>
            <a:r>
              <a:rPr lang="en-US" altLang="zh-CN" sz="2400" i="1" baseline="-25000" dirty="0" err="1">
                <a:solidFill>
                  <a:srgbClr val="FF0000"/>
                </a:solidFill>
              </a:rPr>
              <a:t>ij</a:t>
            </a:r>
            <a:r>
              <a:rPr lang="zh-CN" altLang="en-US" sz="2400" dirty="0">
                <a:solidFill>
                  <a:srgbClr val="FF0000"/>
                </a:solidFill>
              </a:rPr>
              <a:t>的绝对值尽可能的小</a:t>
            </a:r>
            <a:r>
              <a:rPr lang="zh-CN" altLang="en-US" sz="2400" dirty="0"/>
              <a:t>，就有可能使简单迭代法收敛。</a:t>
            </a:r>
          </a:p>
        </p:txBody>
      </p:sp>
      <p:grpSp>
        <p:nvGrpSpPr>
          <p:cNvPr id="2" name="组合 10"/>
          <p:cNvGrpSpPr>
            <a:grpSpLocks/>
          </p:cNvGrpSpPr>
          <p:nvPr/>
        </p:nvGrpSpPr>
        <p:grpSpPr bwMode="auto">
          <a:xfrm>
            <a:off x="2279650" y="404813"/>
            <a:ext cx="6159500" cy="2081212"/>
            <a:chOff x="755650" y="404813"/>
            <a:chExt cx="6159302" cy="2081177"/>
          </a:xfrm>
        </p:grpSpPr>
        <p:sp>
          <p:nvSpPr>
            <p:cNvPr id="45064" name="Text Box 5"/>
            <p:cNvSpPr txBox="1">
              <a:spLocks noChangeArrowheads="1"/>
            </p:cNvSpPr>
            <p:nvPr/>
          </p:nvSpPr>
          <p:spPr bwMode="auto">
            <a:xfrm>
              <a:off x="755650" y="1484295"/>
              <a:ext cx="1079465" cy="461954"/>
            </a:xfrm>
            <a:prstGeom prst="rect">
              <a:avLst/>
            </a:prstGeom>
            <a:noFill/>
            <a:ln w="9525">
              <a:noFill/>
              <a:miter lim="800000"/>
              <a:headEnd/>
              <a:tailEnd/>
            </a:ln>
          </p:spPr>
          <p:txBody>
            <a:bodyPr>
              <a:spAutoFit/>
            </a:bodyPr>
            <a:lstStyle/>
            <a:p>
              <a:pPr eaLnBrk="1" hangingPunct="1">
                <a:defRPr/>
              </a:pPr>
              <a:r>
                <a:rPr lang="zh-CN" altLang="en-US" dirty="0">
                  <a:latin typeface="+mn-lt"/>
                  <a:ea typeface="+mn-ea"/>
                </a:rPr>
                <a:t>所以</a:t>
              </a:r>
            </a:p>
          </p:txBody>
        </p:sp>
        <mc:AlternateContent xmlns:mc="http://schemas.openxmlformats.org/markup-compatibility/2006">
          <mc:Choice xmlns:a14="http://schemas.microsoft.com/office/drawing/2010/main" Requires="a14">
            <p:graphicFrame>
              <p:nvGraphicFramePr>
                <p:cNvPr id="33799" name="Object 7"/>
                <p:cNvGraphicFramePr>
                  <a:graphicFrameLocks noChangeAspect="1"/>
                </p:cNvGraphicFramePr>
                <p:nvPr/>
              </p:nvGraphicFramePr>
              <p:xfrm>
                <a:off x="1763688" y="1772816"/>
                <a:ext cx="5151264" cy="713174"/>
              </p:xfrm>
              <a:graphic>
                <a:graphicData uri="http://schemas.openxmlformats.org/presentationml/2006/ole">
                  <mc:AlternateContent>
                    <mc:Choice xmlns:v="urn:schemas-microsoft-com:vml" Requires="v">
                      <p:oleObj spid="_x0000_s33997" name="Equation" r:id="rId4" imgW="1699083" imgH="152290" progId="Equation.DSMT4">
                        <p:embed/>
                      </p:oleObj>
                    </mc:Choice>
                    <mc:Fallback>
                      <p:oleObj name="Equation" r:id="rId4" imgW="1699083" imgH="152290" progId="Equation.DSMT4">
                        <p:embed/>
                        <p:pic>
                          <p:nvPicPr>
                            <p:cNvPr id="0" name="Object 7"/>
                            <p:cNvPicPr>
                              <a:picLocks noChangeAspect="1" noChangeArrowheads="1"/>
                            </p:cNvPicPr>
                            <p:nvPr/>
                          </p:nvPicPr>
                          <p:blipFill>
                            <a:blip r:embed="rId5">
                              <a:extLst>
                                <a:ext uri="{28A0092B-C50C-407E-A947-70E740481C1C}">
                                  <a14:useLocalDpi val="0"/>
                                </a:ext>
                              </a:extLst>
                            </a:blip>
                            <a:srcRect/>
                            <a:stretch>
                              <a:fillRect/>
                            </a:stretch>
                          </p:blipFill>
                          <p:spPr bwMode="auto">
                            <a:xfrm>
                              <a:off x="1763688" y="1772816"/>
                              <a:ext cx="5151264" cy="71317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p:graphicFrame>
              <p:nvGraphicFramePr>
                <p:cNvPr id="33799" name="Object 7"/>
                <p:cNvGraphicFramePr>
                  <a:graphicFrameLocks noChangeAspect="1"/>
                </p:cNvGraphicFramePr>
                <p:nvPr/>
              </p:nvGraphicFramePr>
              <p:xfrm>
                <a:off x="1763688" y="1772816"/>
                <a:ext cx="5151264" cy="713174"/>
              </p:xfrm>
              <a:graphic>
                <a:graphicData uri="http://schemas.openxmlformats.org/presentationml/2006/ole">
                  <mc:AlternateContent>
                    <mc:Choice xmlns:v="urn:schemas-microsoft-com:vml" Requires="v">
                      <p:oleObj spid="_x0000_s33997" name="Equation" r:id="rId4" imgW="1699083" imgH="152290" progId="Equation.DSMT4">
                        <p:embed/>
                      </p:oleObj>
                    </mc:Choice>
                    <mc:Fallback>
                      <p:oleObj name="Equation" r:id="rId4" imgW="1699083" imgH="15229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1772816"/>
                              <a:ext cx="5151264" cy="713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p:sp>
          <p:nvSpPr>
            <p:cNvPr id="33800" name="矩形 10"/>
            <p:cNvSpPr>
              <a:spLocks noChangeArrowheads="1"/>
            </p:cNvSpPr>
            <p:nvPr/>
          </p:nvSpPr>
          <p:spPr bwMode="auto">
            <a:xfrm>
              <a:off x="1258872" y="404813"/>
              <a:ext cx="801661" cy="461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t>因为</a:t>
              </a:r>
            </a:p>
          </p:txBody>
        </p:sp>
        <mc:AlternateContent xmlns:mc="http://schemas.openxmlformats.org/markup-compatibility/2006">
          <mc:Choice xmlns:a14="http://schemas.microsoft.com/office/drawing/2010/main" Requires="a14">
            <p:sp>
              <p:nvSpPr>
                <p:cNvPr id="33801" name="Object 6"/>
                <p:cNvSpPr txBox="1"/>
                <p:nvPr/>
              </p:nvSpPr>
              <p:spPr bwMode="auto">
                <a:xfrm>
                  <a:off x="2584912" y="611070"/>
                  <a:ext cx="2563011" cy="657676"/>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0≤</m:t>
                        </m:r>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𝐵</m:t>
                                </m:r>
                              </m:e>
                            </m:d>
                          </m:e>
                          <m:sub/>
                        </m:sSub>
                        <m:r>
                          <a:rPr lang="zh-CN" altLang="en-US" i="1">
                            <a:solidFill>
                              <a:srgbClr val="000000"/>
                            </a:solidFill>
                            <a:latin typeface="Cambria Math" panose="02040503050406030204" pitchFamily="18" charset="0"/>
                          </a:rPr>
                          <m:t>&lt;1</m:t>
                        </m:r>
                      </m:oMath>
                    </m:oMathPara>
                  </a14:m>
                  <a:endParaRPr lang="zh-CN" altLang="en-US"/>
                </a:p>
              </p:txBody>
            </p:sp>
          </mc:Choice>
          <mc:Fallback>
            <p:sp>
              <p:nvSpPr>
                <p:cNvPr id="33801" name="Object 6"/>
                <p:cNvSpPr txBox="1">
                  <a:spLocks noRot="1" noChangeAspect="1" noMove="1" noResize="1" noEditPoints="1" noAdjustHandles="1" noChangeArrowheads="1" noChangeShapeType="1" noTextEdit="1"/>
                </p:cNvSpPr>
                <p:nvPr/>
              </p:nvSpPr>
              <p:spPr bwMode="auto">
                <a:xfrm>
                  <a:off x="2584912" y="611070"/>
                  <a:ext cx="2563011" cy="657676"/>
                </a:xfrm>
                <a:prstGeom prst="rect">
                  <a:avLst/>
                </a:prstGeom>
                <a:blipFill>
                  <a:blip r:embed="rId6"/>
                  <a:stretch>
                    <a:fillRect/>
                  </a:stretch>
                </a:blipFill>
                <a:ln>
                  <a:noFill/>
                </a:ln>
                <a:ex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4EE8C94F-93E8-4725-9612-D29BC9C08C6F}"/>
                  </a:ext>
                </a:extLst>
              </p:cNvPr>
              <p:cNvSpPr txBox="1"/>
              <p:nvPr/>
            </p:nvSpPr>
            <p:spPr>
              <a:xfrm>
                <a:off x="1928144" y="5381852"/>
                <a:ext cx="8335709" cy="1200329"/>
              </a:xfrm>
              <a:prstGeom prst="rect">
                <a:avLst/>
              </a:prstGeom>
              <a:noFill/>
              <a:ln>
                <a:solidFill>
                  <a:schemeClr val="accent1"/>
                </a:solidFill>
              </a:ln>
            </p:spPr>
            <p:txBody>
              <a:bodyPr wrap="square" rtlCol="0">
                <a:spAutoFit/>
              </a:bodyPr>
              <a:lstStyle/>
              <a:p>
                <a:r>
                  <a:rPr lang="zh-CN" altLang="en-US" dirty="0"/>
                  <a:t>方</a:t>
                </a:r>
                <a14:m>
                  <m:oMath xmlns:m="http://schemas.openxmlformats.org/officeDocument/2006/math">
                    <m:r>
                      <a:rPr lang="zh-CN" altLang="en-US" i="1">
                        <a:latin typeface="Cambria Math" panose="02040503050406030204" pitchFamily="18" charset="0"/>
                      </a:rPr>
                      <m:t>法</m:t>
                    </m:r>
                    <m:r>
                      <a:rPr lang="zh-CN" altLang="en-US" i="1" smtClean="0">
                        <a:latin typeface="Cambria Math" panose="02040503050406030204" pitchFamily="18" charset="0"/>
                      </a:rPr>
                      <m:t>二</m:t>
                    </m:r>
                    <m:d>
                      <m:dPr>
                        <m:begChr m:val="（"/>
                        <m:endChr m:val="）"/>
                        <m:ctrlPr>
                          <a:rPr lang="zh-CN" altLang="en-US" i="1" smtClean="0">
                            <a:latin typeface="Cambria Math" panose="02040503050406030204" pitchFamily="18" charset="0"/>
                          </a:rPr>
                        </m:ctrlPr>
                      </m:dPr>
                      <m:e>
                        <m:r>
                          <a:rPr lang="zh-CN" altLang="en-US" i="1">
                            <a:latin typeface="Cambria Math" panose="02040503050406030204" pitchFamily="18" charset="0"/>
                          </a:rPr>
                          <m:t>谱</m:t>
                        </m:r>
                        <m:r>
                          <a:rPr lang="zh-CN" altLang="en-US" i="1" smtClean="0">
                            <a:latin typeface="Cambria Math" panose="02040503050406030204" pitchFamily="18" charset="0"/>
                          </a:rPr>
                          <m:t>半径</m:t>
                        </m:r>
                        <m:r>
                          <a:rPr lang="zh-CN" altLang="en-US" i="1">
                            <a:latin typeface="Cambria Math" panose="02040503050406030204" pitchFamily="18" charset="0"/>
                          </a:rPr>
                          <m:t>与</m:t>
                        </m:r>
                        <m:r>
                          <a:rPr lang="zh-CN" altLang="en-US" i="1" smtClean="0">
                            <a:latin typeface="Cambria Math" panose="02040503050406030204" pitchFamily="18" charset="0"/>
                          </a:rPr>
                          <m:t>范</m:t>
                        </m:r>
                        <m:r>
                          <a:rPr lang="zh-CN" altLang="en-US" i="1">
                            <a:latin typeface="Cambria Math" panose="02040503050406030204" pitchFamily="18" charset="0"/>
                          </a:rPr>
                          <m:t>数</m:t>
                        </m:r>
                        <m:r>
                          <a:rPr lang="zh-CN" altLang="en-US" i="1" smtClean="0">
                            <a:latin typeface="Cambria Math" panose="02040503050406030204" pitchFamily="18" charset="0"/>
                          </a:rPr>
                          <m:t>关系</m:t>
                        </m:r>
                        <m:r>
                          <a:rPr lang="zh-CN" altLang="en-US" i="1">
                            <a:latin typeface="Cambria Math" panose="02040503050406030204" pitchFamily="18" charset="0"/>
                          </a:rPr>
                          <m:t>定</m:t>
                        </m:r>
                        <m:r>
                          <a:rPr lang="zh-CN" altLang="en-US" i="1" smtClean="0">
                            <a:latin typeface="Cambria Math" panose="02040503050406030204" pitchFamily="18" charset="0"/>
                          </a:rPr>
                          <m:t>理</m:t>
                        </m:r>
                      </m:e>
                    </m:d>
                    <m:r>
                      <a:rPr lang="zh-CN" altLang="en-US" i="1">
                        <a:latin typeface="Cambria Math" panose="02040503050406030204" pitchFamily="18" charset="0"/>
                      </a:rPr>
                      <m:t>：</m:t>
                    </m:r>
                  </m:oMath>
                </a14:m>
                <a:endParaRPr lang="en-US" altLang="zh-CN" i="1" dirty="0">
                  <a:latin typeface="Cambria Math" panose="02040503050406030204" pitchFamily="18" charset="0"/>
                </a:endParaRPr>
              </a:p>
              <a:p>
                <a14:m>
                  <m:oMath xmlns:m="http://schemas.openxmlformats.org/officeDocument/2006/math">
                    <m:r>
                      <a:rPr lang="zh-CN" altLang="en-US" i="1" smtClean="0">
                        <a:latin typeface="Cambria Math" panose="02040503050406030204" pitchFamily="18" charset="0"/>
                      </a:rPr>
                      <m:t>𝜌</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𝐴</m:t>
                        </m:r>
                      </m:e>
                    </m:d>
                    <m:r>
                      <a:rPr lang="en-US" altLang="zh-CN" b="0" i="1" smtClean="0">
                        <a:latin typeface="Cambria Math" panose="02040503050406030204" pitchFamily="18" charset="0"/>
                      </a:rPr>
                      <m:t>&lt;</m:t>
                    </m:r>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𝐵</m:t>
                        </m:r>
                      </m:e>
                    </m:d>
                  </m:oMath>
                </a14:m>
                <a:r>
                  <a:rPr lang="en-US" altLang="zh-CN" dirty="0"/>
                  <a:t>&lt;1</a:t>
                </a:r>
              </a:p>
              <a:p>
                <a:r>
                  <a:rPr lang="zh-CN" altLang="en-US" dirty="0"/>
                  <a:t>得证</a:t>
                </a:r>
              </a:p>
            </p:txBody>
          </p:sp>
        </mc:Choice>
        <mc:Fallback>
          <p:sp>
            <p:nvSpPr>
              <p:cNvPr id="11" name="文本框 10">
                <a:extLst>
                  <a:ext uri="{FF2B5EF4-FFF2-40B4-BE49-F238E27FC236}">
                    <a16:creationId xmlns:a16="http://schemas.microsoft.com/office/drawing/2014/main" id="{4EE8C94F-93E8-4725-9612-D29BC9C08C6F}"/>
                  </a:ext>
                </a:extLst>
              </p:cNvPr>
              <p:cNvSpPr txBox="1">
                <a:spLocks noRot="1" noChangeAspect="1" noMove="1" noResize="1" noEditPoints="1" noAdjustHandles="1" noChangeArrowheads="1" noChangeShapeType="1" noTextEdit="1"/>
              </p:cNvSpPr>
              <p:nvPr/>
            </p:nvSpPr>
            <p:spPr>
              <a:xfrm>
                <a:off x="1928144" y="5381852"/>
                <a:ext cx="8335709" cy="1200329"/>
              </a:xfrm>
              <a:prstGeom prst="rect">
                <a:avLst/>
              </a:prstGeom>
              <a:blipFill>
                <a:blip r:embed="rId7"/>
                <a:stretch>
                  <a:fillRect l="-1022" t="-5025" b="-8543"/>
                </a:stretch>
              </a:blipFill>
              <a:ln>
                <a:solidFill>
                  <a:schemeClr val="accent1"/>
                </a:solidFill>
              </a:ln>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58F9BEA6-16D6-4CDF-8191-22E3D889CF5D}"/>
              </a:ext>
            </a:extLst>
          </p:cNvPr>
          <p:cNvSpPr/>
          <p:nvPr/>
        </p:nvSpPr>
        <p:spPr>
          <a:xfrm>
            <a:off x="3287720" y="3380150"/>
            <a:ext cx="5109091" cy="461665"/>
          </a:xfrm>
          <a:prstGeom prst="rect">
            <a:avLst/>
          </a:prstGeom>
        </p:spPr>
        <p:txBody>
          <a:bodyPr wrap="none">
            <a:spAutoFit/>
          </a:bodyPr>
          <a:lstStyle/>
          <a:p>
            <a:r>
              <a:rPr lang="zh-CN" altLang="en-US" dirty="0">
                <a:solidFill>
                  <a:srgbClr val="0F1115"/>
                </a:solidFill>
                <a:latin typeface="quote-cjk-patch"/>
              </a:rPr>
              <a:t>故此简单迭代格式收敛于唯一固定点</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0-#ppt_w/2"/>
                                          </p:val>
                                        </p:tav>
                                        <p:tav tm="100000">
                                          <p:val>
                                            <p:strVal val="#ppt_x"/>
                                          </p:val>
                                        </p:tav>
                                      </p:tavLst>
                                    </p:anim>
                                    <p:anim calcmode="lin" valueType="num">
                                      <p:cBhvr additive="base">
                                        <p:cTn id="13" dur="500" fill="hold"/>
                                        <p:tgtEl>
                                          <p:spTgt spid="8"/>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1" presetClass="entr" presetSubtype="0"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0-#ppt_w/2"/>
                                          </p:val>
                                        </p:tav>
                                        <p:tav tm="100000">
                                          <p:val>
                                            <p:strVal val="#ppt_x"/>
                                          </p:val>
                                        </p:tav>
                                      </p:tavLst>
                                    </p:anim>
                                    <p:anim calcmode="lin" valueType="num">
                                      <p:cBhvr additive="base">
                                        <p:cTn id="25"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p:bldP spid="10" grpId="0" autoUpdateAnimBg="0"/>
      <p:bldP spid="11" grpId="0" animBg="1"/>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Object 15"/>
              <p:cNvSpPr txBox="1"/>
              <p:nvPr/>
            </p:nvSpPr>
            <p:spPr bwMode="auto">
              <a:xfrm>
                <a:off x="4217275" y="3399254"/>
                <a:ext cx="4732338" cy="677862"/>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m:oMathPara>
                </a14:m>
                <a:endParaRPr lang="zh-CN" altLang="en-US" dirty="0"/>
              </a:p>
            </p:txBody>
          </p:sp>
        </mc:Choice>
        <mc:Fallback>
          <p:sp>
            <p:nvSpPr>
              <p:cNvPr id="12" name="Object 15"/>
              <p:cNvSpPr txBox="1">
                <a:spLocks noRot="1" noChangeAspect="1" noMove="1" noResize="1" noEditPoints="1" noAdjustHandles="1" noChangeArrowheads="1" noChangeShapeType="1" noTextEdit="1"/>
              </p:cNvSpPr>
              <p:nvPr/>
            </p:nvSpPr>
            <p:spPr bwMode="auto">
              <a:xfrm>
                <a:off x="4217275" y="3399254"/>
                <a:ext cx="4732338" cy="677862"/>
              </a:xfrm>
              <a:prstGeom prst="rect">
                <a:avLst/>
              </a:prstGeom>
              <a:blipFill>
                <a:blip r:embed="rId2"/>
                <a:stretch>
                  <a:fillRect t="-115315" r="-13273" b="-138739"/>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17"/>
              <p:cNvSpPr txBox="1"/>
              <p:nvPr/>
            </p:nvSpPr>
            <p:spPr bwMode="auto">
              <a:xfrm>
                <a:off x="4042862" y="4036888"/>
                <a:ext cx="5941570" cy="993179"/>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m:oMathPara>
                </a14:m>
                <a:endParaRPr lang="zh-CN" altLang="en-US" dirty="0"/>
              </a:p>
            </p:txBody>
          </p:sp>
        </mc:Choice>
        <mc:Fallback>
          <p:sp>
            <p:nvSpPr>
              <p:cNvPr id="13" name="Object 17"/>
              <p:cNvSpPr txBox="1">
                <a:spLocks noRot="1" noChangeAspect="1" noMove="1" noResize="1" noEditPoints="1" noAdjustHandles="1" noChangeArrowheads="1" noChangeShapeType="1" noTextEdit="1"/>
              </p:cNvSpPr>
              <p:nvPr/>
            </p:nvSpPr>
            <p:spPr bwMode="auto">
              <a:xfrm>
                <a:off x="4042862" y="4036888"/>
                <a:ext cx="5941570" cy="993179"/>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Object 19"/>
              <p:cNvSpPr txBox="1"/>
              <p:nvPr/>
            </p:nvSpPr>
            <p:spPr bwMode="auto">
              <a:xfrm>
                <a:off x="2623805" y="4694069"/>
                <a:ext cx="7385036" cy="912732"/>
              </a:xfrm>
              <a:prstGeom prst="rect">
                <a:avLst/>
              </a:prstGeom>
              <a:noFill/>
              <a:ln>
                <a:noFill/>
              </a:ln>
              <a:extLst/>
            </p:spPr>
            <p:txBody>
              <a:bodyPr>
                <a:normAutofit/>
              </a:bodyPr>
              <a:lstStyle/>
              <a:p>
                <a:pPr/>
                <a:r>
                  <a:rPr lang="zh-CN" altLang="en-US" dirty="0">
                    <a:solidFill>
                      <a:srgbClr val="000000"/>
                    </a:solidFill>
                  </a:rPr>
                  <a:t>即</a:t>
                </a:r>
                <a14:m>
                  <m:oMath xmlns:m="http://schemas.openxmlformats.org/officeDocument/2006/math">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(1−</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d>
                          <m:dPr>
                            <m:begChr m:val="‖"/>
                            <m:endChr m:val=""/>
                            <m:ctrlPr>
                              <a:rPr lang="zh-CN" altLang="en-US" i="1">
                                <a:solidFill>
                                  <a:srgbClr val="000000"/>
                                </a:solidFill>
                                <a:latin typeface="Cambria Math" panose="02040503050406030204" pitchFamily="18" charset="0"/>
                              </a:rPr>
                            </m:ctrlPr>
                          </m:dPr>
                          <m:e/>
                        </m:d>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a14:m>
                <a:endParaRPr lang="zh-CN" altLang="en-US" dirty="0"/>
              </a:p>
            </p:txBody>
          </p:sp>
        </mc:Choice>
        <mc:Fallback>
          <p:sp>
            <p:nvSpPr>
              <p:cNvPr id="14" name="Object 19"/>
              <p:cNvSpPr txBox="1">
                <a:spLocks noRot="1" noChangeAspect="1" noMove="1" noResize="1" noEditPoints="1" noAdjustHandles="1" noChangeArrowheads="1" noChangeShapeType="1" noTextEdit="1"/>
              </p:cNvSpPr>
              <p:nvPr/>
            </p:nvSpPr>
            <p:spPr bwMode="auto">
              <a:xfrm>
                <a:off x="2623805" y="4694069"/>
                <a:ext cx="7385036" cy="912732"/>
              </a:xfrm>
              <a:prstGeom prst="rect">
                <a:avLst/>
              </a:prstGeom>
              <a:blipFill>
                <a:blip r:embed="rId4"/>
                <a:stretch>
                  <a:fillRect l="-1238" t="-5333"/>
                </a:stretch>
              </a:blipFill>
              <a:ln>
                <a:noFill/>
              </a:ln>
              <a:extLst/>
            </p:spPr>
            <p:txBody>
              <a:bodyPr/>
              <a:lstStyle/>
              <a:p>
                <a:r>
                  <a:rPr lang="zh-CN" altLang="en-US">
                    <a:noFill/>
                  </a:rPr>
                  <a:t> </a:t>
                </a:r>
              </a:p>
            </p:txBody>
          </p:sp>
        </mc:Fallback>
      </mc:AlternateContent>
      <p:grpSp>
        <p:nvGrpSpPr>
          <p:cNvPr id="6" name="组合 5"/>
          <p:cNvGrpSpPr/>
          <p:nvPr/>
        </p:nvGrpSpPr>
        <p:grpSpPr>
          <a:xfrm>
            <a:off x="2589775" y="5307658"/>
            <a:ext cx="6978420" cy="993180"/>
            <a:chOff x="2048629" y="5019885"/>
            <a:chExt cx="6978420" cy="993180"/>
          </a:xfrm>
        </p:grpSpPr>
        <mc:AlternateContent xmlns:mc="http://schemas.openxmlformats.org/markup-compatibility/2006">
          <mc:Choice xmlns:a14="http://schemas.microsoft.com/office/drawing/2010/main" Requires="a14">
            <p:sp>
              <p:nvSpPr>
                <p:cNvPr id="15" name="Object 21"/>
                <p:cNvSpPr txBox="1"/>
                <p:nvPr/>
              </p:nvSpPr>
              <p:spPr bwMode="auto">
                <a:xfrm>
                  <a:off x="3096613" y="5019885"/>
                  <a:ext cx="5930436" cy="993180"/>
                </a:xfrm>
                <a:prstGeom prst="rect">
                  <a:avLst/>
                </a:prstGeom>
                <a:noFill/>
                <a:ln w="19050">
                  <a:solidFill>
                    <a:srgbClr val="FF0000"/>
                  </a:solid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num>
                          <m:den>
                            <m:r>
                              <a:rPr lang="zh-CN" altLang="en-US" i="1">
                                <a:solidFill>
                                  <a:srgbClr val="000000"/>
                                </a:solidFill>
                                <a:latin typeface="Cambria Math" panose="02040503050406030204" pitchFamily="18" charset="0"/>
                              </a:rPr>
                              <m:t>1−</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en>
                        </m:f>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m:oMathPara>
                  </a14:m>
                  <a:endParaRPr lang="zh-CN" altLang="en-US" dirty="0"/>
                </a:p>
              </p:txBody>
            </p:sp>
          </mc:Choice>
          <mc:Fallback>
            <p:sp>
              <p:nvSpPr>
                <p:cNvPr id="15" name="Object 21"/>
                <p:cNvSpPr txBox="1">
                  <a:spLocks noRot="1" noChangeAspect="1" noMove="1" noResize="1" noEditPoints="1" noAdjustHandles="1" noChangeArrowheads="1" noChangeShapeType="1" noTextEdit="1"/>
                </p:cNvSpPr>
                <p:nvPr/>
              </p:nvSpPr>
              <p:spPr bwMode="auto">
                <a:xfrm>
                  <a:off x="3096613" y="5019885"/>
                  <a:ext cx="5930436" cy="993180"/>
                </a:xfrm>
                <a:prstGeom prst="rect">
                  <a:avLst/>
                </a:prstGeom>
                <a:blipFill>
                  <a:blip r:embed="rId5"/>
                  <a:stretch>
                    <a:fillRect/>
                  </a:stretch>
                </a:blipFill>
                <a:ln w="19050">
                  <a:solidFill>
                    <a:srgbClr val="FF0000"/>
                  </a:solidFill>
                </a:ln>
                <a:extLst/>
              </p:spPr>
              <p:txBody>
                <a:bodyPr/>
                <a:lstStyle/>
                <a:p>
                  <a:r>
                    <a:rPr lang="zh-CN" altLang="en-US">
                      <a:noFill/>
                    </a:rPr>
                    <a:t> </a:t>
                  </a:r>
                </a:p>
              </p:txBody>
            </p:sp>
          </mc:Fallback>
        </mc:AlternateContent>
        <p:sp>
          <p:nvSpPr>
            <p:cNvPr id="16" name="Text Box 22"/>
            <p:cNvSpPr txBox="1">
              <a:spLocks noChangeArrowheads="1"/>
            </p:cNvSpPr>
            <p:nvPr/>
          </p:nvSpPr>
          <p:spPr bwMode="auto">
            <a:xfrm>
              <a:off x="2048629" y="5275175"/>
              <a:ext cx="11430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sz="3200" b="1" dirty="0">
                  <a:solidFill>
                    <a:srgbClr val="FF0000"/>
                  </a:solidFill>
                  <a:latin typeface="宋体" panose="02010600030101010101" pitchFamily="2" charset="-122"/>
                  <a:ea typeface="黑体" panose="02010609060101010101" pitchFamily="49" charset="-122"/>
                </a:rPr>
                <a:t>∴</a:t>
              </a:r>
              <a:r>
                <a:rPr lang="zh-CN" altLang="en-US" sz="3200" b="1" dirty="0">
                  <a:solidFill>
                    <a:srgbClr val="FF0000"/>
                  </a:solidFill>
                  <a:ea typeface="黑体" panose="02010609060101010101" pitchFamily="49" charset="-122"/>
                </a:rPr>
                <a:t> </a:t>
              </a:r>
            </a:p>
          </p:txBody>
        </p:sp>
      </p:grpSp>
      <p:grpSp>
        <p:nvGrpSpPr>
          <p:cNvPr id="5" name="组合 4"/>
          <p:cNvGrpSpPr/>
          <p:nvPr/>
        </p:nvGrpSpPr>
        <p:grpSpPr>
          <a:xfrm>
            <a:off x="2639616" y="678171"/>
            <a:ext cx="8001000" cy="2452594"/>
            <a:chOff x="1652092" y="411179"/>
            <a:chExt cx="8001000" cy="2452594"/>
          </a:xfrm>
        </p:grpSpPr>
        <p:sp>
          <p:nvSpPr>
            <p:cNvPr id="11" name="Text Box 2"/>
            <p:cNvSpPr txBox="1">
              <a:spLocks noChangeArrowheads="1"/>
            </p:cNvSpPr>
            <p:nvPr/>
          </p:nvSpPr>
          <p:spPr bwMode="auto">
            <a:xfrm>
              <a:off x="1652092" y="411179"/>
              <a:ext cx="8001000" cy="2452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ts val="600"/>
                </a:spcBef>
                <a:buClr>
                  <a:srgbClr val="27305F"/>
                </a:buClr>
              </a:pPr>
              <a:endParaRPr lang="en-US" altLang="zh-CN" dirty="0">
                <a:latin typeface="+mn-ea"/>
                <a:ea typeface="+mn-ea"/>
              </a:endParaRPr>
            </a:p>
            <a:p>
              <a:pPr algn="just">
                <a:lnSpc>
                  <a:spcPct val="150000"/>
                </a:lnSpc>
                <a:spcBef>
                  <a:spcPts val="600"/>
                </a:spcBef>
                <a:buClr>
                  <a:srgbClr val="27305F"/>
                </a:buClr>
              </a:pPr>
              <a:r>
                <a:rPr lang="zh-CN" altLang="en-US" dirty="0">
                  <a:latin typeface="+mn-ea"/>
                  <a:ea typeface="+mn-ea"/>
                </a:rPr>
                <a:t>与迭代过程                     相减, 有</a:t>
              </a:r>
            </a:p>
            <a:p>
              <a:pPr algn="just">
                <a:lnSpc>
                  <a:spcPct val="150000"/>
                </a:lnSpc>
                <a:spcBef>
                  <a:spcPts val="600"/>
                </a:spcBef>
                <a:buClr>
                  <a:srgbClr val="27305F"/>
                </a:buClr>
              </a:pPr>
              <a:endParaRPr lang="zh-CN" altLang="en-US" dirty="0">
                <a:latin typeface="+mn-ea"/>
                <a:ea typeface="+mn-ea"/>
              </a:endParaRPr>
            </a:p>
            <a:p>
              <a:pPr algn="just">
                <a:lnSpc>
                  <a:spcPct val="150000"/>
                </a:lnSpc>
                <a:spcBef>
                  <a:spcPts val="600"/>
                </a:spcBef>
                <a:buClr>
                  <a:srgbClr val="27305F"/>
                </a:buClr>
              </a:pPr>
              <a:r>
                <a:rPr lang="zh-CN" altLang="en-US" dirty="0">
                  <a:latin typeface="+mn-ea"/>
                  <a:ea typeface="+mn-ea"/>
                </a:rPr>
                <a:t>两边取范数 </a:t>
              </a:r>
            </a:p>
          </p:txBody>
        </p:sp>
        <mc:AlternateContent xmlns:mc="http://schemas.openxmlformats.org/markup-compatibility/2006">
          <mc:Choice xmlns:a14="http://schemas.microsoft.com/office/drawing/2010/main" Requires="a14">
            <p:sp>
              <p:nvSpPr>
                <p:cNvPr id="18" name="Object 8"/>
                <p:cNvSpPr txBox="1"/>
                <p:nvPr/>
              </p:nvSpPr>
              <p:spPr bwMode="auto">
                <a:xfrm>
                  <a:off x="4303125" y="487397"/>
                  <a:ext cx="3445995" cy="51117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由</m:t>
                        </m:r>
                        <m:r>
                          <a:rPr lang="zh-CN" altLang="en-US" i="1">
                            <a:solidFill>
                              <a:srgbClr val="000000"/>
                            </a:solidFill>
                            <a:latin typeface="Cambria Math" panose="02040503050406030204" pitchFamily="18" charset="0"/>
                          </a:rPr>
                          <m:t>于</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B</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g</m:t>
                        </m:r>
                      </m:oMath>
                    </m:oMathPara>
                  </a14:m>
                  <a:endParaRPr lang="zh-CN" altLang="en-US" dirty="0"/>
                </a:p>
              </p:txBody>
            </p:sp>
          </mc:Choice>
          <mc:Fallback>
            <p:sp>
              <p:nvSpPr>
                <p:cNvPr id="18" name="Object 8"/>
                <p:cNvSpPr txBox="1">
                  <a:spLocks noRot="1" noChangeAspect="1" noMove="1" noResize="1" noEditPoints="1" noAdjustHandles="1" noChangeArrowheads="1" noChangeShapeType="1" noTextEdit="1"/>
                </p:cNvSpPr>
                <p:nvPr/>
              </p:nvSpPr>
              <p:spPr bwMode="auto">
                <a:xfrm>
                  <a:off x="4303125" y="487397"/>
                  <a:ext cx="3445995" cy="511175"/>
                </a:xfrm>
                <a:prstGeom prst="rect">
                  <a:avLst/>
                </a:prstGeom>
                <a:blipFill>
                  <a:blip r:embed="rId6"/>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Object 10"/>
                <p:cNvSpPr txBox="1"/>
                <p:nvPr/>
              </p:nvSpPr>
              <p:spPr bwMode="auto">
                <a:xfrm>
                  <a:off x="3452292" y="1153704"/>
                  <a:ext cx="2806700" cy="51752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smtClean="0">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B</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en-US" altLang="zh-CN" b="0" i="1" smtClean="0">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g</m:t>
                        </m:r>
                      </m:oMath>
                    </m:oMathPara>
                  </a14:m>
                  <a:endParaRPr lang="zh-CN" altLang="en-US" dirty="0"/>
                </a:p>
              </p:txBody>
            </p:sp>
          </mc:Choice>
          <mc:Fallback>
            <p:sp>
              <p:nvSpPr>
                <p:cNvPr id="19" name="Object 10"/>
                <p:cNvSpPr txBox="1">
                  <a:spLocks noRot="1" noChangeAspect="1" noMove="1" noResize="1" noEditPoints="1" noAdjustHandles="1" noChangeArrowheads="1" noChangeShapeType="1" noTextEdit="1"/>
                </p:cNvSpPr>
                <p:nvPr/>
              </p:nvSpPr>
              <p:spPr bwMode="auto">
                <a:xfrm>
                  <a:off x="3452292" y="1153704"/>
                  <a:ext cx="2806700" cy="517525"/>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Object 11"/>
                <p:cNvSpPr txBox="1"/>
                <p:nvPr/>
              </p:nvSpPr>
              <p:spPr bwMode="auto">
                <a:xfrm>
                  <a:off x="3672993" y="1692609"/>
                  <a:ext cx="3906838" cy="50482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B</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0" name="Object 11"/>
                <p:cNvSpPr txBox="1">
                  <a:spLocks noRot="1" noChangeAspect="1" noMove="1" noResize="1" noEditPoints="1" noAdjustHandles="1" noChangeArrowheads="1" noChangeShapeType="1" noTextEdit="1"/>
                </p:cNvSpPr>
                <p:nvPr/>
              </p:nvSpPr>
              <p:spPr bwMode="auto">
                <a:xfrm>
                  <a:off x="3672993" y="1692609"/>
                  <a:ext cx="3906838" cy="504825"/>
                </a:xfrm>
                <a:prstGeom prst="rect">
                  <a:avLst/>
                </a:prstGeom>
                <a:blipFill>
                  <a:blip r:embed="rId8"/>
                  <a:stretch>
                    <a:fillRect/>
                  </a:stretch>
                </a:blipFill>
                <a:ln>
                  <a:noFill/>
                </a:ln>
                <a:extLst/>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21" name="Object 13"/>
              <p:cNvSpPr txBox="1"/>
              <p:nvPr/>
            </p:nvSpPr>
            <p:spPr bwMode="auto">
              <a:xfrm>
                <a:off x="4553965" y="2684371"/>
                <a:ext cx="4479925" cy="578336"/>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B</m:t>
                          </m:r>
                        </m:e>
                      </m:d>
                      <m:d>
                        <m:dPr>
                          <m:begChr m:val=""/>
                          <m:endChr m:val="‖"/>
                          <m:ctrlPr>
                            <a:rPr lang="zh-CN" altLang="en-US" i="1">
                              <a:solidFill>
                                <a:srgbClr val="000000"/>
                              </a:solidFill>
                              <a:latin typeface="Cambria Math" panose="02040503050406030204" pitchFamily="18" charset="0"/>
                            </a:rPr>
                          </m:ctrlPr>
                        </m:dPr>
                        <m:e/>
                      </m:d>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e>
                      </m:d>
                    </m:oMath>
                  </m:oMathPara>
                </a14:m>
                <a:endParaRPr lang="zh-CN" altLang="en-US" dirty="0"/>
              </a:p>
            </p:txBody>
          </p:sp>
        </mc:Choice>
        <mc:Fallback>
          <p:sp>
            <p:nvSpPr>
              <p:cNvPr id="21" name="Object 13"/>
              <p:cNvSpPr txBox="1">
                <a:spLocks noRot="1" noChangeAspect="1" noMove="1" noResize="1" noEditPoints="1" noAdjustHandles="1" noChangeArrowheads="1" noChangeShapeType="1" noTextEdit="1"/>
              </p:cNvSpPr>
              <p:nvPr/>
            </p:nvSpPr>
            <p:spPr bwMode="auto">
              <a:xfrm>
                <a:off x="4553965" y="2684371"/>
                <a:ext cx="4479925" cy="578336"/>
              </a:xfrm>
              <a:prstGeom prst="rect">
                <a:avLst/>
              </a:prstGeom>
              <a:blipFill>
                <a:blip r:embed="rId9"/>
                <a:stretch>
                  <a:fillRect t="-134737" r="-15102" b="-178947"/>
                </a:stretch>
              </a:blipFill>
              <a:ln>
                <a:noFill/>
              </a:ln>
              <a:extLst/>
            </p:spPr>
            <p:txBody>
              <a:bodyPr/>
              <a:lstStyle/>
              <a:p>
                <a:r>
                  <a:rPr lang="zh-CN" altLang="en-US">
                    <a:noFill/>
                  </a:rPr>
                  <a:t> </a:t>
                </a:r>
              </a:p>
            </p:txBody>
          </p:sp>
        </mc:Fallback>
      </mc:AlternateContent>
      <p:sp>
        <p:nvSpPr>
          <p:cNvPr id="4" name="文本框 3"/>
          <p:cNvSpPr txBox="1"/>
          <p:nvPr/>
        </p:nvSpPr>
        <p:spPr>
          <a:xfrm>
            <a:off x="1991544" y="273825"/>
            <a:ext cx="2194832" cy="461665"/>
          </a:xfrm>
          <a:prstGeom prst="rect">
            <a:avLst/>
          </a:prstGeom>
          <a:noFill/>
        </p:spPr>
        <p:txBody>
          <a:bodyPr wrap="none" rtlCol="0">
            <a:spAutoFit/>
          </a:bodyPr>
          <a:lstStyle/>
          <a:p>
            <a:r>
              <a:rPr lang="en-US" altLang="zh-CN" b="1" dirty="0">
                <a:solidFill>
                  <a:srgbClr val="0000FF"/>
                </a:solidFill>
                <a:ea typeface="楷体_GB2312" pitchFamily="49" charset="-122"/>
              </a:rPr>
              <a:t>3</a:t>
            </a:r>
            <a:r>
              <a:rPr lang="zh-CN" altLang="en-US" b="1" dirty="0">
                <a:solidFill>
                  <a:srgbClr val="0000FF"/>
                </a:solidFill>
                <a:ea typeface="楷体_GB2312" pitchFamily="49" charset="-122"/>
              </a:rPr>
              <a:t>）误差证明：</a:t>
            </a:r>
          </a:p>
        </p:txBody>
      </p:sp>
      <mc:AlternateContent xmlns:mc="http://schemas.openxmlformats.org/markup-compatibility/2006">
        <mc:Choice xmlns:a14="http://schemas.microsoft.com/office/drawing/2010/main" Requires="a14">
          <p:sp>
            <p:nvSpPr>
              <p:cNvPr id="35" name="矩形 34">
                <a:extLst>
                  <a:ext uri="{FF2B5EF4-FFF2-40B4-BE49-F238E27FC236}">
                    <a16:creationId xmlns:a16="http://schemas.microsoft.com/office/drawing/2014/main" id="{CB83F82D-7504-41C4-8807-270FC0BE76F2}"/>
                  </a:ext>
                </a:extLst>
              </p:cNvPr>
              <p:cNvSpPr/>
              <p:nvPr/>
            </p:nvSpPr>
            <p:spPr>
              <a:xfrm>
                <a:off x="2290561" y="723755"/>
                <a:ext cx="3377848"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rgbClr val="000000"/>
                          </a:solidFill>
                          <a:latin typeface="Cambria Math" panose="02040503050406030204" pitchFamily="18" charset="0"/>
                        </a:rPr>
                        <m:t>a</m:t>
                      </m:r>
                      <m:r>
                        <a:rPr lang="en-US" altLang="zh-CN" i="1"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证</m:t>
                      </m:r>
                      <m:r>
                        <a:rPr lang="zh-CN" altLang="en-US" i="1">
                          <a:solidFill>
                            <a:srgbClr val="000000"/>
                          </a:solidFill>
                          <a:latin typeface="Cambria Math" panose="02040503050406030204" pitchFamily="18" charset="0"/>
                        </a:rPr>
                        <m:t>明</m:t>
                      </m:r>
                      <m:r>
                        <a:rPr lang="zh-CN" altLang="en-US" i="1" smtClean="0">
                          <a:solidFill>
                            <a:srgbClr val="000000"/>
                          </a:solidFill>
                          <a:latin typeface="Cambria Math" panose="02040503050406030204" pitchFamily="18" charset="0"/>
                        </a:rPr>
                        <m:t>后</m:t>
                      </m:r>
                      <m:r>
                        <a:rPr lang="zh-CN" altLang="en-US" i="1">
                          <a:solidFill>
                            <a:srgbClr val="000000"/>
                          </a:solidFill>
                          <a:latin typeface="Cambria Math" panose="02040503050406030204" pitchFamily="18" charset="0"/>
                        </a:rPr>
                        <m:t>验误差</m:t>
                      </m:r>
                      <m:r>
                        <a:rPr lang="zh-CN" altLang="en-US" i="1">
                          <a:solidFill>
                            <a:srgbClr val="000000"/>
                          </a:solidFill>
                          <a:latin typeface="Cambria Math" panose="02040503050406030204" pitchFamily="18" charset="0"/>
                        </a:rPr>
                        <m:t>公</m:t>
                      </m:r>
                      <m:r>
                        <a:rPr lang="zh-CN" altLang="en-US" i="1">
                          <a:solidFill>
                            <a:srgbClr val="000000"/>
                          </a:solidFill>
                          <a:latin typeface="Cambria Math" panose="02040503050406030204" pitchFamily="18" charset="0"/>
                        </a:rPr>
                        <m:t>式</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 </m:t>
                      </m:r>
                    </m:oMath>
                  </m:oMathPara>
                </a14:m>
                <a:endParaRPr lang="zh-CN" altLang="en-US" dirty="0"/>
              </a:p>
            </p:txBody>
          </p:sp>
        </mc:Choice>
        <mc:Fallback>
          <p:sp>
            <p:nvSpPr>
              <p:cNvPr id="35" name="矩形 34">
                <a:extLst>
                  <a:ext uri="{FF2B5EF4-FFF2-40B4-BE49-F238E27FC236}">
                    <a16:creationId xmlns:a16="http://schemas.microsoft.com/office/drawing/2014/main" id="{CB83F82D-7504-41C4-8807-270FC0BE76F2}"/>
                  </a:ext>
                </a:extLst>
              </p:cNvPr>
              <p:cNvSpPr>
                <a:spLocks noRot="1" noChangeAspect="1" noMove="1" noResize="1" noEditPoints="1" noAdjustHandles="1" noChangeArrowheads="1" noChangeShapeType="1" noTextEdit="1"/>
              </p:cNvSpPr>
              <p:nvPr/>
            </p:nvSpPr>
            <p:spPr>
              <a:xfrm>
                <a:off x="2290561" y="723755"/>
                <a:ext cx="3377848" cy="461665"/>
              </a:xfrm>
              <a:prstGeom prst="rect">
                <a:avLst/>
              </a:prstGeom>
              <a:blipFill>
                <a:blip r:embed="rId10"/>
                <a:stretch>
                  <a:fillRect b="-2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6285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bject 19"/>
          <p:cNvSpPr txBox="1"/>
          <p:nvPr/>
        </p:nvSpPr>
        <p:spPr bwMode="auto">
          <a:xfrm>
            <a:off x="1544147" y="1162267"/>
            <a:ext cx="9217024" cy="912732"/>
          </a:xfrm>
          <a:prstGeom prst="rect">
            <a:avLst/>
          </a:prstGeom>
          <a:noFill/>
          <a:ln>
            <a:noFill/>
          </a:ln>
          <a:extLst/>
        </p:spPr>
        <p:txBody>
          <a:bodyPr>
            <a:normAutofit/>
          </a:bodyPr>
          <a:lstStyle/>
          <a:p>
            <a:pPr/>
            <a:r>
              <a:rPr lang="zh-CN" altLang="en-US" sz="2000" dirty="0">
                <a:solidFill>
                  <a:srgbClr val="000000"/>
                </a:solidFill>
              </a:rPr>
              <a:t>由于</a:t>
            </a:r>
            <a:endParaRPr lang="zh-CN" altLang="en-US" sz="2000" dirty="0"/>
          </a:p>
        </p:txBody>
      </p:sp>
      <p:grpSp>
        <p:nvGrpSpPr>
          <p:cNvPr id="6" name="组合 5"/>
          <p:cNvGrpSpPr/>
          <p:nvPr/>
        </p:nvGrpSpPr>
        <p:grpSpPr>
          <a:xfrm>
            <a:off x="2406535" y="6138676"/>
            <a:ext cx="6785809" cy="663374"/>
            <a:chOff x="2084704" y="5149532"/>
            <a:chExt cx="6922812" cy="875952"/>
          </a:xfrm>
        </p:grpSpPr>
        <mc:AlternateContent xmlns:mc="http://schemas.openxmlformats.org/markup-compatibility/2006">
          <mc:Choice xmlns:a14="http://schemas.microsoft.com/office/drawing/2010/main" Requires="a14">
            <p:sp>
              <p:nvSpPr>
                <p:cNvPr id="15" name="Object 21"/>
                <p:cNvSpPr txBox="1"/>
                <p:nvPr/>
              </p:nvSpPr>
              <p:spPr bwMode="auto">
                <a:xfrm>
                  <a:off x="3077080" y="5149532"/>
                  <a:ext cx="5930436" cy="875952"/>
                </a:xfrm>
                <a:prstGeom prst="rect">
                  <a:avLst/>
                </a:prstGeom>
                <a:noFill/>
                <a:ln w="19050">
                  <a:solidFill>
                    <a:srgbClr val="FF0000"/>
                  </a:solidFill>
                </a:ln>
                <a:extLst/>
              </p:spPr>
              <p:txBody>
                <a:bodyPr>
                  <a:normAutofit fontScale="925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800" i="1">
                                <a:solidFill>
                                  <a:srgbClr val="000000"/>
                                </a:solidFill>
                                <a:latin typeface="Cambria Math" panose="02040503050406030204" pitchFamily="18" charset="0"/>
                              </a:rPr>
                            </m:ctrlPr>
                          </m:dPr>
                          <m:e>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en-US" altLang="zh-CN" sz="1800" i="1">
                                    <a:solidFill>
                                      <a:srgbClr val="000000"/>
                                    </a:solidFill>
                                    <a:latin typeface="Cambria Math" panose="02040503050406030204" pitchFamily="18" charset="0"/>
                                  </a:rPr>
                                  <m:t>∗</m:t>
                                </m:r>
                              </m:sup>
                            </m:sSup>
                            <m:r>
                              <a:rPr lang="zh-CN" altLang="en-US" sz="1800" i="1">
                                <a:solidFill>
                                  <a:srgbClr val="000000"/>
                                </a:solidFill>
                                <a:latin typeface="Cambria Math" panose="02040503050406030204" pitchFamily="18" charset="0"/>
                              </a:rPr>
                              <m:t>−</m:t>
                            </m:r>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𝑘</m:t>
                                </m:r>
                                <m:r>
                                  <a:rPr lang="zh-CN" altLang="en-US" sz="1800" i="1">
                                    <a:solidFill>
                                      <a:srgbClr val="000000"/>
                                    </a:solidFill>
                                    <a:latin typeface="Cambria Math" panose="02040503050406030204" pitchFamily="18" charset="0"/>
                                  </a:rPr>
                                  <m:t>)</m:t>
                                </m:r>
                              </m:sup>
                            </m:sSup>
                          </m:e>
                        </m:d>
                        <m:r>
                          <a:rPr lang="zh-CN" altLang="en-US" sz="1800" i="1">
                            <a:solidFill>
                              <a:srgbClr val="000000"/>
                            </a:solidFill>
                            <a:latin typeface="Cambria Math" panose="02040503050406030204" pitchFamily="18" charset="0"/>
                          </a:rPr>
                          <m:t>≤</m:t>
                        </m:r>
                        <m:f>
                          <m:fPr>
                            <m:ctrlPr>
                              <a:rPr lang="zh-CN" altLang="en-US" sz="1800" i="1">
                                <a:solidFill>
                                  <a:srgbClr val="000000"/>
                                </a:solidFill>
                                <a:latin typeface="Cambria Math" panose="02040503050406030204" pitchFamily="18" charset="0"/>
                              </a:rPr>
                            </m:ctrlPr>
                          </m:fPr>
                          <m:num>
                            <m:sSup>
                              <m:sSupPr>
                                <m:ctrlPr>
                                  <a:rPr lang="zh-CN" altLang="en-US" sz="1800" i="1">
                                    <a:solidFill>
                                      <a:srgbClr val="000000"/>
                                    </a:solidFill>
                                    <a:latin typeface="Cambria Math" panose="02040503050406030204" pitchFamily="18" charset="0"/>
                                  </a:rPr>
                                </m:ctrlPr>
                              </m:sSupPr>
                              <m:e>
                                <m:d>
                                  <m:dPr>
                                    <m:begChr m:val="‖"/>
                                    <m:endChr m:val="‖"/>
                                    <m:ctrlPr>
                                      <a:rPr lang="zh-CN" altLang="en-US" sz="1800" i="1">
                                        <a:solidFill>
                                          <a:srgbClr val="000000"/>
                                        </a:solidFill>
                                        <a:latin typeface="Cambria Math" panose="02040503050406030204" pitchFamily="18" charset="0"/>
                                      </a:rPr>
                                    </m:ctrlPr>
                                  </m:dPr>
                                  <m:e>
                                    <m:r>
                                      <m:rPr>
                                        <m:sty m:val="p"/>
                                      </m:rPr>
                                      <a:rPr lang="zh-CN" altLang="en-US" sz="1800">
                                        <a:solidFill>
                                          <a:srgbClr val="000000"/>
                                        </a:solidFill>
                                        <a:latin typeface="Cambria Math" panose="02040503050406030204" pitchFamily="18" charset="0"/>
                                      </a:rPr>
                                      <m:t>B</m:t>
                                    </m:r>
                                  </m:e>
                                </m:d>
                              </m:e>
                              <m:sup>
                                <m:r>
                                  <a:rPr lang="zh-CN" altLang="en-US" sz="1800" i="1">
                                    <a:solidFill>
                                      <a:srgbClr val="000000"/>
                                    </a:solidFill>
                                    <a:latin typeface="Cambria Math" panose="02040503050406030204" pitchFamily="18" charset="0"/>
                                  </a:rPr>
                                  <m:t>𝑘</m:t>
                                </m:r>
                              </m:sup>
                            </m:sSup>
                          </m:num>
                          <m:den>
                            <m:r>
                              <a:rPr lang="zh-CN" altLang="en-US" sz="1800" i="1">
                                <a:solidFill>
                                  <a:srgbClr val="000000"/>
                                </a:solidFill>
                                <a:latin typeface="Cambria Math" panose="02040503050406030204" pitchFamily="18" charset="0"/>
                              </a:rPr>
                              <m:t>1−</m:t>
                            </m:r>
                            <m:d>
                              <m:dPr>
                                <m:begChr m:val="‖"/>
                                <m:endChr m:val="‖"/>
                                <m:ctrlPr>
                                  <a:rPr lang="zh-CN" altLang="en-US" sz="1800" i="1">
                                    <a:solidFill>
                                      <a:srgbClr val="000000"/>
                                    </a:solidFill>
                                    <a:latin typeface="Cambria Math" panose="02040503050406030204" pitchFamily="18" charset="0"/>
                                  </a:rPr>
                                </m:ctrlPr>
                              </m:dPr>
                              <m:e>
                                <m:r>
                                  <m:rPr>
                                    <m:sty m:val="p"/>
                                  </m:rPr>
                                  <a:rPr lang="zh-CN" altLang="en-US" sz="1800">
                                    <a:solidFill>
                                      <a:srgbClr val="000000"/>
                                    </a:solidFill>
                                    <a:latin typeface="Cambria Math" panose="02040503050406030204" pitchFamily="18" charset="0"/>
                                  </a:rPr>
                                  <m:t>B</m:t>
                                </m:r>
                              </m:e>
                            </m:d>
                          </m:den>
                        </m:f>
                        <m:d>
                          <m:dPr>
                            <m:begChr m:val=""/>
                            <m:endChr m:val="‖"/>
                            <m:ctrlPr>
                              <a:rPr lang="zh-CN" altLang="en-US" sz="1800" i="1">
                                <a:solidFill>
                                  <a:srgbClr val="000000"/>
                                </a:solidFill>
                                <a:latin typeface="Cambria Math" panose="02040503050406030204" pitchFamily="18" charset="0"/>
                              </a:rPr>
                            </m:ctrlPr>
                          </m:dPr>
                          <m:e/>
                        </m:d>
                        <m:d>
                          <m:dPr>
                            <m:begChr m:val=""/>
                            <m:endChr m:val="‖"/>
                            <m:ctrlPr>
                              <a:rPr lang="zh-CN" altLang="en-US" sz="1800" i="1">
                                <a:solidFill>
                                  <a:srgbClr val="000000"/>
                                </a:solidFill>
                                <a:latin typeface="Cambria Math" panose="02040503050406030204" pitchFamily="18" charset="0"/>
                              </a:rPr>
                            </m:ctrlPr>
                          </m:dPr>
                          <m:e>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zh-CN" altLang="en-US" sz="1800" i="1">
                                    <a:solidFill>
                                      <a:srgbClr val="000000"/>
                                    </a:solidFill>
                                    <a:latin typeface="Cambria Math" panose="02040503050406030204" pitchFamily="18" charset="0"/>
                                  </a:rPr>
                                  <m:t>(1)</m:t>
                                </m:r>
                              </m:sup>
                            </m:sSup>
                            <m:r>
                              <a:rPr lang="zh-CN" altLang="en-US" sz="1800" i="1">
                                <a:solidFill>
                                  <a:srgbClr val="000000"/>
                                </a:solidFill>
                                <a:latin typeface="Cambria Math" panose="02040503050406030204" pitchFamily="18" charset="0"/>
                              </a:rPr>
                              <m:t>−</m:t>
                            </m:r>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zh-CN" altLang="en-US" sz="1800" i="1">
                                    <a:solidFill>
                                      <a:srgbClr val="000000"/>
                                    </a:solidFill>
                                    <a:latin typeface="Cambria Math" panose="02040503050406030204" pitchFamily="18" charset="0"/>
                                  </a:rPr>
                                  <m:t>(0)</m:t>
                                </m:r>
                              </m:sup>
                            </m:sSup>
                          </m:e>
                        </m:d>
                      </m:oMath>
                    </m:oMathPara>
                  </a14:m>
                  <a:endParaRPr lang="zh-CN" altLang="en-US" sz="1800" dirty="0"/>
                </a:p>
              </p:txBody>
            </p:sp>
          </mc:Choice>
          <mc:Fallback>
            <p:sp>
              <p:nvSpPr>
                <p:cNvPr id="15" name="Object 21"/>
                <p:cNvSpPr txBox="1">
                  <a:spLocks noRot="1" noChangeAspect="1" noMove="1" noResize="1" noEditPoints="1" noAdjustHandles="1" noChangeArrowheads="1" noChangeShapeType="1" noTextEdit="1"/>
                </p:cNvSpPr>
                <p:nvPr/>
              </p:nvSpPr>
              <p:spPr bwMode="auto">
                <a:xfrm>
                  <a:off x="3077080" y="5149532"/>
                  <a:ext cx="5930436" cy="875952"/>
                </a:xfrm>
                <a:prstGeom prst="rect">
                  <a:avLst/>
                </a:prstGeom>
                <a:blipFill>
                  <a:blip r:embed="rId2"/>
                  <a:stretch>
                    <a:fillRect/>
                  </a:stretch>
                </a:blipFill>
                <a:ln w="19050">
                  <a:solidFill>
                    <a:srgbClr val="FF0000"/>
                  </a:solidFill>
                </a:ln>
                <a:extLst/>
              </p:spPr>
              <p:txBody>
                <a:bodyPr/>
                <a:lstStyle/>
                <a:p>
                  <a:r>
                    <a:rPr lang="zh-CN" altLang="en-US">
                      <a:noFill/>
                    </a:rPr>
                    <a:t> </a:t>
                  </a:r>
                </a:p>
              </p:txBody>
            </p:sp>
          </mc:Fallback>
        </mc:AlternateContent>
        <p:sp>
          <p:nvSpPr>
            <p:cNvPr id="16" name="Text Box 22"/>
            <p:cNvSpPr txBox="1">
              <a:spLocks noChangeArrowheads="1"/>
            </p:cNvSpPr>
            <p:nvPr/>
          </p:nvSpPr>
          <p:spPr bwMode="auto">
            <a:xfrm>
              <a:off x="2084704" y="5424835"/>
              <a:ext cx="1143000" cy="512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b="1" dirty="0">
                  <a:solidFill>
                    <a:srgbClr val="FF0000"/>
                  </a:solidFill>
                  <a:latin typeface="宋体" panose="02010600030101010101" pitchFamily="2" charset="-122"/>
                  <a:ea typeface="黑体" panose="02010609060101010101" pitchFamily="49" charset="-122"/>
                </a:rPr>
                <a:t>∴</a:t>
              </a:r>
              <a:r>
                <a:rPr lang="zh-CN" altLang="en-US" b="1" dirty="0">
                  <a:solidFill>
                    <a:srgbClr val="FF0000"/>
                  </a:solidFill>
                  <a:ea typeface="黑体" panose="02010609060101010101" pitchFamily="49" charset="-122"/>
                </a:rPr>
                <a:t> </a:t>
              </a:r>
            </a:p>
          </p:txBody>
        </p:sp>
      </p:grpSp>
      <p:sp>
        <p:nvSpPr>
          <p:cNvPr id="4" name="文本框 3"/>
          <p:cNvSpPr txBox="1"/>
          <p:nvPr/>
        </p:nvSpPr>
        <p:spPr>
          <a:xfrm>
            <a:off x="1991544" y="273825"/>
            <a:ext cx="2194832" cy="461665"/>
          </a:xfrm>
          <a:prstGeom prst="rect">
            <a:avLst/>
          </a:prstGeom>
          <a:noFill/>
        </p:spPr>
        <p:txBody>
          <a:bodyPr wrap="none" rtlCol="0">
            <a:spAutoFit/>
          </a:bodyPr>
          <a:lstStyle/>
          <a:p>
            <a:r>
              <a:rPr lang="en-US" altLang="zh-CN" b="1" dirty="0">
                <a:solidFill>
                  <a:srgbClr val="0000FF"/>
                </a:solidFill>
                <a:ea typeface="楷体_GB2312" pitchFamily="49" charset="-122"/>
              </a:rPr>
              <a:t>3</a:t>
            </a:r>
            <a:r>
              <a:rPr lang="zh-CN" altLang="en-US" b="1" dirty="0">
                <a:solidFill>
                  <a:srgbClr val="0000FF"/>
                </a:solidFill>
                <a:ea typeface="楷体_GB2312" pitchFamily="49" charset="-122"/>
              </a:rPr>
              <a:t>）误差证明：</a:t>
            </a:r>
          </a:p>
        </p:txBody>
      </p:sp>
      <mc:AlternateContent xmlns:mc="http://schemas.openxmlformats.org/markup-compatibility/2006">
        <mc:Choice xmlns:a14="http://schemas.microsoft.com/office/drawing/2010/main" Requires="a14">
          <p:sp>
            <p:nvSpPr>
              <p:cNvPr id="35" name="矩形 34">
                <a:extLst>
                  <a:ext uri="{FF2B5EF4-FFF2-40B4-BE49-F238E27FC236}">
                    <a16:creationId xmlns:a16="http://schemas.microsoft.com/office/drawing/2014/main" id="{CB83F82D-7504-41C4-8807-270FC0BE76F2}"/>
                  </a:ext>
                </a:extLst>
              </p:cNvPr>
              <p:cNvSpPr/>
              <p:nvPr/>
            </p:nvSpPr>
            <p:spPr>
              <a:xfrm>
                <a:off x="2290561" y="723755"/>
                <a:ext cx="2860077" cy="4001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m:rPr>
                          <m:sty m:val="p"/>
                        </m:rPr>
                        <a:rPr lang="en-US" altLang="zh-CN" sz="2000" i="1" smtClean="0">
                          <a:solidFill>
                            <a:srgbClr val="000000"/>
                          </a:solidFill>
                          <a:latin typeface="Cambria Math" panose="02040503050406030204" pitchFamily="18" charset="0"/>
                        </a:rPr>
                        <m:t>b</m:t>
                      </m:r>
                      <m:r>
                        <a:rPr lang="en-US" altLang="zh-CN"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证</m:t>
                      </m:r>
                      <m:r>
                        <a:rPr lang="zh-CN" altLang="en-US" sz="2000" i="1">
                          <a:solidFill>
                            <a:srgbClr val="000000"/>
                          </a:solidFill>
                          <a:latin typeface="Cambria Math" panose="02040503050406030204" pitchFamily="18" charset="0"/>
                        </a:rPr>
                        <m:t>明</m:t>
                      </m:r>
                      <m:r>
                        <a:rPr lang="zh-CN" altLang="en-US" sz="2000" i="1" smtClean="0">
                          <a:solidFill>
                            <a:srgbClr val="000000"/>
                          </a:solidFill>
                          <a:latin typeface="Cambria Math" panose="02040503050406030204" pitchFamily="18" charset="0"/>
                        </a:rPr>
                        <m:t>先</m:t>
                      </m:r>
                      <m:r>
                        <a:rPr lang="zh-CN" altLang="en-US" sz="2000" i="1">
                          <a:solidFill>
                            <a:srgbClr val="000000"/>
                          </a:solidFill>
                          <a:latin typeface="Cambria Math" panose="02040503050406030204" pitchFamily="18" charset="0"/>
                        </a:rPr>
                        <m:t>验误差</m:t>
                      </m:r>
                      <m:r>
                        <a:rPr lang="zh-CN" altLang="en-US" sz="2000" i="1">
                          <a:solidFill>
                            <a:srgbClr val="000000"/>
                          </a:solidFill>
                          <a:latin typeface="Cambria Math" panose="02040503050406030204" pitchFamily="18" charset="0"/>
                        </a:rPr>
                        <m:t>公</m:t>
                      </m:r>
                      <m:r>
                        <a:rPr lang="zh-CN" altLang="en-US" sz="2000" i="1">
                          <a:solidFill>
                            <a:srgbClr val="000000"/>
                          </a:solidFill>
                          <a:latin typeface="Cambria Math" panose="02040503050406030204" pitchFamily="18" charset="0"/>
                        </a:rPr>
                        <m:t>式</m:t>
                      </m:r>
                      <m:r>
                        <a:rPr lang="zh-CN" altLang="en-US"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 </m:t>
                      </m:r>
                    </m:oMath>
                  </m:oMathPara>
                </a14:m>
                <a:endParaRPr lang="zh-CN" altLang="en-US" sz="2000" dirty="0"/>
              </a:p>
            </p:txBody>
          </p:sp>
        </mc:Choice>
        <mc:Fallback>
          <p:sp>
            <p:nvSpPr>
              <p:cNvPr id="35" name="矩形 34">
                <a:extLst>
                  <a:ext uri="{FF2B5EF4-FFF2-40B4-BE49-F238E27FC236}">
                    <a16:creationId xmlns:a16="http://schemas.microsoft.com/office/drawing/2014/main" id="{CB83F82D-7504-41C4-8807-270FC0BE76F2}"/>
                  </a:ext>
                </a:extLst>
              </p:cNvPr>
              <p:cNvSpPr>
                <a:spLocks noRot="1" noChangeAspect="1" noMove="1" noResize="1" noEditPoints="1" noAdjustHandles="1" noChangeArrowheads="1" noChangeShapeType="1" noTextEdit="1"/>
              </p:cNvSpPr>
              <p:nvPr/>
            </p:nvSpPr>
            <p:spPr>
              <a:xfrm>
                <a:off x="2290561" y="723755"/>
                <a:ext cx="2860077" cy="400110"/>
              </a:xfrm>
              <a:prstGeom prst="rect">
                <a:avLst/>
              </a:prstGeom>
              <a:blipFill>
                <a:blip r:embed="rId3"/>
                <a:stretch>
                  <a:fillRect b="-16923"/>
                </a:stretch>
              </a:blipFill>
            </p:spPr>
            <p:txBody>
              <a:bodyPr/>
              <a:lstStyle/>
              <a:p>
                <a:r>
                  <a:rPr lang="zh-CN" altLang="en-US">
                    <a:noFill/>
                  </a:rPr>
                  <a:t> </a:t>
                </a:r>
              </a:p>
            </p:txBody>
          </p:sp>
        </mc:Fallback>
      </mc:AlternateContent>
      <p:sp>
        <p:nvSpPr>
          <p:cNvPr id="23" name="Object 19">
            <a:extLst>
              <a:ext uri="{FF2B5EF4-FFF2-40B4-BE49-F238E27FC236}">
                <a16:creationId xmlns:a16="http://schemas.microsoft.com/office/drawing/2014/main" id="{892CA234-3134-451C-9F6F-5EDE15102F53}"/>
              </a:ext>
            </a:extLst>
          </p:cNvPr>
          <p:cNvSpPr txBox="1"/>
          <p:nvPr/>
        </p:nvSpPr>
        <p:spPr bwMode="auto">
          <a:xfrm>
            <a:off x="1544147" y="1688972"/>
            <a:ext cx="9217024" cy="482600"/>
          </a:xfrm>
          <a:prstGeom prst="rect">
            <a:avLst/>
          </a:prstGeom>
          <a:noFill/>
          <a:ln>
            <a:noFill/>
          </a:ln>
          <a:extLst/>
        </p:spPr>
        <p:txBody>
          <a:bodyPr>
            <a:normAutofit/>
          </a:bodyPr>
          <a:lstStyle/>
          <a:p>
            <a:pPr/>
            <a:r>
              <a:rPr lang="zh-CN" altLang="en-US" sz="2000" dirty="0">
                <a:solidFill>
                  <a:srgbClr val="000000"/>
                </a:solidFill>
              </a:rPr>
              <a:t>由递推可知：</a:t>
            </a:r>
            <a:endParaRPr lang="zh-CN" altLang="en-US" sz="2000" dirty="0"/>
          </a:p>
        </p:txBody>
      </p:sp>
      <mc:AlternateContent xmlns:mc="http://schemas.openxmlformats.org/markup-compatibility/2006">
        <mc:Choice xmlns:a14="http://schemas.microsoft.com/office/drawing/2010/main" Requires="a14">
          <p:sp>
            <p:nvSpPr>
              <p:cNvPr id="24" name="Object 13">
                <a:extLst>
                  <a:ext uri="{FF2B5EF4-FFF2-40B4-BE49-F238E27FC236}">
                    <a16:creationId xmlns:a16="http://schemas.microsoft.com/office/drawing/2014/main" id="{CDBC4CE2-92C8-4B75-A994-AB5F10570B5F}"/>
                  </a:ext>
                </a:extLst>
              </p:cNvPr>
              <p:cNvSpPr txBox="1"/>
              <p:nvPr/>
            </p:nvSpPr>
            <p:spPr bwMode="auto">
              <a:xfrm>
                <a:off x="3984134" y="1138189"/>
                <a:ext cx="4337050" cy="68262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1800" i="1" smtClean="0">
                              <a:solidFill>
                                <a:srgbClr val="000000"/>
                              </a:solidFill>
                              <a:latin typeface="Cambria Math" panose="02040503050406030204" pitchFamily="18" charset="0"/>
                            </a:rPr>
                          </m:ctrlPr>
                        </m:dPr>
                        <m:e>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𝑘</m:t>
                              </m:r>
                              <m:r>
                                <a:rPr lang="en-US" altLang="zh-CN" sz="1800" b="0" i="1" smtClean="0">
                                  <a:solidFill>
                                    <a:srgbClr val="000000"/>
                                  </a:solidFill>
                                  <a:latin typeface="Cambria Math" panose="02040503050406030204" pitchFamily="18" charset="0"/>
                                </a:rPr>
                                <m:t>+1)</m:t>
                              </m:r>
                            </m:sup>
                          </m:sSup>
                          <m:r>
                            <a:rPr lang="zh-CN" altLang="en-US" sz="1800" i="1">
                              <a:solidFill>
                                <a:srgbClr val="000000"/>
                              </a:solidFill>
                              <a:latin typeface="Cambria Math" panose="02040503050406030204" pitchFamily="18" charset="0"/>
                            </a:rPr>
                            <m:t>−</m:t>
                          </m:r>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𝑘</m:t>
                              </m:r>
                              <m:r>
                                <a:rPr lang="zh-CN" altLang="en-US" sz="1800" i="1">
                                  <a:solidFill>
                                    <a:srgbClr val="000000"/>
                                  </a:solidFill>
                                  <a:latin typeface="Cambria Math" panose="02040503050406030204" pitchFamily="18" charset="0"/>
                                </a:rPr>
                                <m:t>)</m:t>
                              </m:r>
                            </m:sup>
                          </m:sSup>
                        </m:e>
                      </m:d>
                      <m:r>
                        <a:rPr lang="zh-CN" altLang="en-US" sz="1800" i="1">
                          <a:solidFill>
                            <a:srgbClr val="000000"/>
                          </a:solidFill>
                          <a:latin typeface="Cambria Math" panose="02040503050406030204" pitchFamily="18" charset="0"/>
                        </a:rPr>
                        <m:t>≤</m:t>
                      </m:r>
                      <m:d>
                        <m:dPr>
                          <m:begChr m:val=""/>
                          <m:endChr m:val="‖"/>
                          <m:ctrlPr>
                            <a:rPr lang="zh-CN" altLang="en-US" sz="1800" i="1">
                              <a:solidFill>
                                <a:srgbClr val="000000"/>
                              </a:solidFill>
                              <a:latin typeface="Cambria Math" panose="02040503050406030204" pitchFamily="18" charset="0"/>
                            </a:rPr>
                          </m:ctrlPr>
                        </m:dPr>
                        <m:e>
                          <m:sSup>
                            <m:sSupPr>
                              <m:ctrlPr>
                                <a:rPr lang="zh-CN" altLang="en-US" sz="1800" i="1">
                                  <a:solidFill>
                                    <a:srgbClr val="000000"/>
                                  </a:solidFill>
                                  <a:latin typeface="Cambria Math" panose="02040503050406030204" pitchFamily="18" charset="0"/>
                                </a:rPr>
                              </m:ctrlPr>
                            </m:sSupPr>
                            <m:e>
                              <m:d>
                                <m:dPr>
                                  <m:begChr m:val="‖"/>
                                  <m:endChr m:val="‖"/>
                                  <m:ctrlPr>
                                    <a:rPr lang="zh-CN" altLang="en-US" sz="1800" i="1">
                                      <a:solidFill>
                                        <a:srgbClr val="000000"/>
                                      </a:solidFill>
                                      <a:latin typeface="Cambria Math" panose="02040503050406030204" pitchFamily="18" charset="0"/>
                                    </a:rPr>
                                  </m:ctrlPr>
                                </m:dPr>
                                <m:e>
                                  <m:r>
                                    <m:rPr>
                                      <m:sty m:val="p"/>
                                    </m:rPr>
                                    <a:rPr lang="zh-CN" altLang="en-US" sz="1800">
                                      <a:solidFill>
                                        <a:srgbClr val="000000"/>
                                      </a:solidFill>
                                      <a:latin typeface="Cambria Math" panose="02040503050406030204" pitchFamily="18" charset="0"/>
                                    </a:rPr>
                                    <m:t>B</m:t>
                                  </m:r>
                                </m:e>
                              </m:d>
                            </m:e>
                            <m:sup/>
                          </m:sSup>
                        </m:e>
                      </m:d>
                      <m:d>
                        <m:dPr>
                          <m:begChr m:val=""/>
                          <m:endChr m:val="‖"/>
                          <m:ctrlPr>
                            <a:rPr lang="zh-CN" altLang="en-US" sz="1800" i="1">
                              <a:solidFill>
                                <a:srgbClr val="000000"/>
                              </a:solidFill>
                              <a:latin typeface="Cambria Math" panose="02040503050406030204" pitchFamily="18" charset="0"/>
                            </a:rPr>
                          </m:ctrlPr>
                        </m:dPr>
                        <m:e>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en-US" altLang="zh-CN" sz="1800" b="0" i="1" smtClean="0">
                                  <a:solidFill>
                                    <a:srgbClr val="000000"/>
                                  </a:solidFill>
                                  <a:latin typeface="Cambria Math" panose="02040503050406030204" pitchFamily="18" charset="0"/>
                                </a:rPr>
                                <m:t>(</m:t>
                              </m:r>
                              <m:r>
                                <a:rPr lang="en-US" altLang="zh-CN" sz="1800" b="0" i="1" smtClean="0">
                                  <a:solidFill>
                                    <a:srgbClr val="000000"/>
                                  </a:solidFill>
                                  <a:latin typeface="Cambria Math" panose="02040503050406030204" pitchFamily="18" charset="0"/>
                                </a:rPr>
                                <m:t>𝑘</m:t>
                              </m:r>
                              <m:r>
                                <a:rPr lang="en-US" altLang="zh-CN" sz="1800" b="0" i="1" smtClean="0">
                                  <a:solidFill>
                                    <a:srgbClr val="000000"/>
                                  </a:solidFill>
                                  <a:latin typeface="Cambria Math" panose="02040503050406030204" pitchFamily="18" charset="0"/>
                                </a:rPr>
                                <m:t>)</m:t>
                              </m:r>
                            </m:sup>
                          </m:sSup>
                          <m:r>
                            <a:rPr lang="zh-CN" altLang="en-US" sz="1800" i="1">
                              <a:solidFill>
                                <a:srgbClr val="000000"/>
                              </a:solidFill>
                              <a:latin typeface="Cambria Math" panose="02040503050406030204" pitchFamily="18" charset="0"/>
                            </a:rPr>
                            <m:t>−</m:t>
                          </m:r>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𝑥</m:t>
                              </m:r>
                            </m:e>
                            <m:sup>
                              <m:r>
                                <a:rPr lang="en-US" altLang="zh-CN" sz="1800" b="0" i="1" smtClean="0">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𝑘</m:t>
                              </m:r>
                              <m:r>
                                <a:rPr lang="en-US" altLang="zh-CN" sz="1800" b="0" i="1" smtClean="0">
                                  <a:solidFill>
                                    <a:srgbClr val="000000"/>
                                  </a:solidFill>
                                  <a:latin typeface="Cambria Math" panose="02040503050406030204" pitchFamily="18" charset="0"/>
                                </a:rPr>
                                <m:t>−1)</m:t>
                              </m:r>
                            </m:sup>
                          </m:sSup>
                        </m:e>
                      </m:d>
                    </m:oMath>
                  </m:oMathPara>
                </a14:m>
                <a:endParaRPr lang="zh-CN" altLang="en-US" sz="1800" dirty="0"/>
              </a:p>
            </p:txBody>
          </p:sp>
        </mc:Choice>
        <mc:Fallback>
          <p:sp>
            <p:nvSpPr>
              <p:cNvPr id="24" name="Object 13">
                <a:extLst>
                  <a:ext uri="{FF2B5EF4-FFF2-40B4-BE49-F238E27FC236}">
                    <a16:creationId xmlns:a16="http://schemas.microsoft.com/office/drawing/2014/main" id="{CDBC4CE2-92C8-4B75-A994-AB5F10570B5F}"/>
                  </a:ext>
                </a:extLst>
              </p:cNvPr>
              <p:cNvSpPr txBox="1">
                <a:spLocks noRot="1" noChangeAspect="1" noMove="1" noResize="1" noEditPoints="1" noAdjustHandles="1" noChangeArrowheads="1" noChangeShapeType="1" noTextEdit="1"/>
              </p:cNvSpPr>
              <p:nvPr/>
            </p:nvSpPr>
            <p:spPr bwMode="auto">
              <a:xfrm>
                <a:off x="3984134" y="1138189"/>
                <a:ext cx="4337050" cy="682625"/>
              </a:xfrm>
              <a:prstGeom prst="rect">
                <a:avLst/>
              </a:prstGeom>
              <a:blipFill>
                <a:blip r:embed="rId4"/>
                <a:stretch>
                  <a:fillRect t="-90179" r="-11111" b="-98214"/>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5" name="Object 13">
                <a:extLst>
                  <a:ext uri="{FF2B5EF4-FFF2-40B4-BE49-F238E27FC236}">
                    <a16:creationId xmlns:a16="http://schemas.microsoft.com/office/drawing/2014/main" id="{6E91A076-B57C-4C5E-AD34-8893D410B164}"/>
                  </a:ext>
                </a:extLst>
              </p:cNvPr>
              <p:cNvSpPr txBox="1"/>
              <p:nvPr/>
            </p:nvSpPr>
            <p:spPr bwMode="auto">
              <a:xfrm>
                <a:off x="3980348" y="1722899"/>
                <a:ext cx="6542632" cy="682625"/>
              </a:xfrm>
              <a:prstGeom prst="rect">
                <a:avLst/>
              </a:prstGeom>
              <a:noFill/>
              <a:ln>
                <a:noFill/>
              </a:ln>
              <a:extLst/>
            </p:spPr>
            <p:txBody>
              <a:bodyPr>
                <a:normAutofit/>
              </a:bodyPr>
              <a:lstStyle/>
              <a:p>
                <a:pPr/>
                <a14:m>
                  <m:oMath xmlns:m="http://schemas.openxmlformats.org/officeDocument/2006/math">
                    <m:d>
                      <m:dPr>
                        <m:begChr m:val="‖"/>
                        <m:endChr m:val="‖"/>
                        <m:ctrlPr>
                          <a:rPr lang="zh-CN" altLang="en-US" sz="2000" i="1" smtClean="0">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en-US" altLang="zh-CN" sz="2000" b="0" i="1" smtClean="0">
                                <a:solidFill>
                                  <a:srgbClr val="000000"/>
                                </a:solidFill>
                                <a:latin typeface="Cambria Math" panose="02040503050406030204" pitchFamily="18" charset="0"/>
                              </a:rPr>
                              <m:t>(</m:t>
                            </m:r>
                            <m:r>
                              <a:rPr lang="en-US" altLang="zh-CN" sz="2000" b="0" i="1" smtClean="0">
                                <a:solidFill>
                                  <a:srgbClr val="000000"/>
                                </a:solidFill>
                                <a:latin typeface="Cambria Math" panose="02040503050406030204" pitchFamily="18" charset="0"/>
                              </a:rPr>
                              <m:t>𝑘</m:t>
                            </m:r>
                            <m:r>
                              <a:rPr lang="en-US" altLang="zh-CN" sz="2000" b="0" i="1" smtClean="0">
                                <a:solidFill>
                                  <a:srgbClr val="000000"/>
                                </a:solidFill>
                                <a:latin typeface="Cambria Math" panose="02040503050406030204" pitchFamily="18" charset="0"/>
                              </a:rPr>
                              <m:t>+1)</m:t>
                            </m:r>
                          </m:sup>
                        </m:sSup>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𝑘</m:t>
                            </m:r>
                            <m:r>
                              <a:rPr lang="zh-CN" altLang="en-US" sz="2000" i="1">
                                <a:solidFill>
                                  <a:srgbClr val="000000"/>
                                </a:solidFill>
                                <a:latin typeface="Cambria Math" panose="02040503050406030204" pitchFamily="18" charset="0"/>
                              </a:rPr>
                              <m:t>)</m:t>
                            </m:r>
                          </m:sup>
                        </m:sSup>
                      </m:e>
                    </m:d>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d>
                              <m:dPr>
                                <m:begChr m:val="‖"/>
                                <m:endChr m:val="‖"/>
                                <m:ctrlPr>
                                  <a:rPr lang="zh-CN" altLang="en-US" sz="2000" i="1">
                                    <a:solidFill>
                                      <a:srgbClr val="000000"/>
                                    </a:solidFill>
                                    <a:latin typeface="Cambria Math" panose="02040503050406030204" pitchFamily="18" charset="0"/>
                                  </a:rPr>
                                </m:ctrlPr>
                              </m:dPr>
                              <m:e>
                                <m:r>
                                  <m:rPr>
                                    <m:sty m:val="p"/>
                                  </m:rPr>
                                  <a:rPr lang="zh-CN" altLang="en-US" sz="2000">
                                    <a:solidFill>
                                      <a:srgbClr val="000000"/>
                                    </a:solidFill>
                                    <a:latin typeface="Cambria Math" panose="02040503050406030204" pitchFamily="18" charset="0"/>
                                  </a:rPr>
                                  <m:t>B</m:t>
                                </m:r>
                              </m:e>
                            </m:d>
                          </m:e>
                          <m:sup>
                            <m:r>
                              <a:rPr lang="zh-CN" altLang="en-US" sz="2000" i="1">
                                <a:solidFill>
                                  <a:srgbClr val="000000"/>
                                </a:solidFill>
                                <a:latin typeface="Cambria Math" panose="02040503050406030204" pitchFamily="18" charset="0"/>
                              </a:rPr>
                              <m:t>𝑘</m:t>
                            </m:r>
                          </m:sup>
                        </m:sSup>
                      </m:e>
                    </m:d>
                    <m:d>
                      <m:dPr>
                        <m:begChr m:val=""/>
                        <m:endChr m:val="‖"/>
                        <m:ctrlPr>
                          <a:rPr lang="zh-CN" altLang="en-US" sz="2000" i="1">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en-US" altLang="zh-CN" sz="2000" b="0" i="1" smtClean="0">
                                <a:solidFill>
                                  <a:srgbClr val="000000"/>
                                </a:solidFill>
                                <a:latin typeface="Cambria Math" panose="02040503050406030204" pitchFamily="18" charset="0"/>
                              </a:rPr>
                              <m:t>(1)</m:t>
                            </m:r>
                          </m:sup>
                        </m:sSup>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𝑥</m:t>
                            </m:r>
                          </m:e>
                          <m:sup>
                            <m:r>
                              <a:rPr lang="en-US" altLang="zh-CN" sz="2000" b="0" i="1" smtClean="0">
                                <a:solidFill>
                                  <a:srgbClr val="000000"/>
                                </a:solidFill>
                                <a:latin typeface="Cambria Math" panose="02040503050406030204" pitchFamily="18" charset="0"/>
                              </a:rPr>
                              <m:t>(0)</m:t>
                            </m:r>
                          </m:sup>
                        </m:sSup>
                      </m:e>
                    </m:d>
                  </m:oMath>
                </a14:m>
                <a:r>
                  <a:rPr lang="zh-CN" altLang="en-US" sz="2000" dirty="0"/>
                  <a:t>    （</a:t>
                </a:r>
                <a:r>
                  <a:rPr lang="en-US" altLang="zh-CN" sz="2000" dirty="0"/>
                  <a:t>1</a:t>
                </a:r>
                <a:r>
                  <a:rPr lang="zh-CN" altLang="en-US" sz="2000" dirty="0"/>
                  <a:t>）</a:t>
                </a:r>
              </a:p>
            </p:txBody>
          </p:sp>
        </mc:Choice>
        <mc:Fallback>
          <p:sp>
            <p:nvSpPr>
              <p:cNvPr id="25" name="Object 13">
                <a:extLst>
                  <a:ext uri="{FF2B5EF4-FFF2-40B4-BE49-F238E27FC236}">
                    <a16:creationId xmlns:a16="http://schemas.microsoft.com/office/drawing/2014/main" id="{6E91A076-B57C-4C5E-AD34-8893D410B164}"/>
                  </a:ext>
                </a:extLst>
              </p:cNvPr>
              <p:cNvSpPr txBox="1">
                <a:spLocks noRot="1" noChangeAspect="1" noMove="1" noResize="1" noEditPoints="1" noAdjustHandles="1" noChangeArrowheads="1" noChangeShapeType="1" noTextEdit="1"/>
              </p:cNvSpPr>
              <p:nvPr/>
            </p:nvSpPr>
            <p:spPr bwMode="auto">
              <a:xfrm>
                <a:off x="3980348" y="1722899"/>
                <a:ext cx="6542632" cy="682625"/>
              </a:xfrm>
              <a:prstGeom prst="rect">
                <a:avLst/>
              </a:prstGeom>
              <a:blipFill>
                <a:blip r:embed="rId5"/>
                <a:stretch>
                  <a:fillRect t="-100893" b="-112500"/>
                </a:stretch>
              </a:blipFill>
              <a:ln>
                <a:noFill/>
              </a:ln>
              <a:extLst/>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F37E8E59-BD49-4EC5-8872-A8DDAE956177}"/>
              </a:ext>
            </a:extLst>
          </p:cNvPr>
          <p:cNvGrpSpPr/>
          <p:nvPr/>
        </p:nvGrpSpPr>
        <p:grpSpPr>
          <a:xfrm>
            <a:off x="1415480" y="2272536"/>
            <a:ext cx="10605024" cy="912732"/>
            <a:chOff x="1415480" y="2272536"/>
            <a:chExt cx="10605024" cy="912732"/>
          </a:xfrm>
        </p:grpSpPr>
        <mc:AlternateContent xmlns:mc="http://schemas.openxmlformats.org/markup-compatibility/2006">
          <mc:Choice xmlns:a14="http://schemas.microsoft.com/office/drawing/2010/main" Requires="a14">
            <p:sp>
              <p:nvSpPr>
                <p:cNvPr id="22" name="Object 19">
                  <a:extLst>
                    <a:ext uri="{FF2B5EF4-FFF2-40B4-BE49-F238E27FC236}">
                      <a16:creationId xmlns:a16="http://schemas.microsoft.com/office/drawing/2014/main" id="{2424F57C-8D30-4489-A9DA-FF12E5B3A457}"/>
                    </a:ext>
                  </a:extLst>
                </p:cNvPr>
                <p:cNvSpPr txBox="1"/>
                <p:nvPr/>
              </p:nvSpPr>
              <p:spPr bwMode="auto">
                <a:xfrm>
                  <a:off x="1415480" y="2272536"/>
                  <a:ext cx="9217024" cy="912732"/>
                </a:xfrm>
                <a:prstGeom prst="rect">
                  <a:avLst/>
                </a:prstGeom>
                <a:noFill/>
                <a:ln>
                  <a:noFill/>
                </a:ln>
                <a:extLst/>
              </p:spPr>
              <p:txBody>
                <a:bodyPr>
                  <a:normAutofit/>
                </a:bodyPr>
                <a:lstStyle/>
                <a:p>
                  <a:pPr/>
                  <a:r>
                    <a:rPr lang="zh-CN" altLang="en-US" sz="2000" dirty="0">
                      <a:solidFill>
                        <a:srgbClr val="000000"/>
                      </a:solidFill>
                    </a:rPr>
                    <a:t>根</a:t>
                  </a:r>
                  <a14:m>
                    <m:oMath xmlns:m="http://schemas.openxmlformats.org/officeDocument/2006/math">
                      <m:r>
                        <a:rPr lang="zh-CN" altLang="en-US" sz="2000" i="1" dirty="0">
                          <a:solidFill>
                            <a:srgbClr val="000000"/>
                          </a:solidFill>
                          <a:latin typeface="Cambria Math" panose="02040503050406030204" pitchFamily="18" charset="0"/>
                        </a:rPr>
                        <m:t>据</m:t>
                      </m:r>
                      <m:r>
                        <a:rPr lang="zh-CN" altLang="en-US" sz="2000" i="1" dirty="0" smtClean="0">
                          <a:solidFill>
                            <a:srgbClr val="000000"/>
                          </a:solidFill>
                          <a:latin typeface="Cambria Math" panose="02040503050406030204" pitchFamily="18" charset="0"/>
                        </a:rPr>
                        <m:t>误差</m:t>
                      </m:r>
                      <m:r>
                        <a:rPr lang="zh-CN" altLang="en-US" sz="2000" i="1" dirty="0">
                          <a:solidFill>
                            <a:srgbClr val="000000"/>
                          </a:solidFill>
                          <a:latin typeface="Cambria Math" panose="02040503050406030204" pitchFamily="18" charset="0"/>
                        </a:rPr>
                        <m:t>与</m:t>
                      </m:r>
                      <m:r>
                        <a:rPr lang="zh-CN" altLang="en-US" sz="2000" i="1" dirty="0" smtClean="0">
                          <a:solidFill>
                            <a:srgbClr val="000000"/>
                          </a:solidFill>
                          <a:latin typeface="Cambria Math" panose="02040503050406030204" pitchFamily="18" charset="0"/>
                        </a:rPr>
                        <m:t>迭</m:t>
                      </m:r>
                      <m:r>
                        <a:rPr lang="zh-CN" altLang="en-US" sz="2000" i="1" dirty="0">
                          <a:solidFill>
                            <a:srgbClr val="000000"/>
                          </a:solidFill>
                          <a:latin typeface="Cambria Math" panose="02040503050406030204" pitchFamily="18" charset="0"/>
                        </a:rPr>
                        <m:t>代</m:t>
                      </m:r>
                      <m:r>
                        <a:rPr lang="zh-CN" altLang="en-US" sz="2000" i="1" dirty="0" smtClean="0">
                          <a:solidFill>
                            <a:srgbClr val="000000"/>
                          </a:solidFill>
                          <a:latin typeface="Cambria Math" panose="02040503050406030204" pitchFamily="18" charset="0"/>
                        </a:rPr>
                        <m:t>差</m:t>
                      </m:r>
                      <m:r>
                        <a:rPr lang="zh-CN" altLang="en-US" sz="2000" i="1" dirty="0">
                          <a:solidFill>
                            <a:srgbClr val="000000"/>
                          </a:solidFill>
                          <a:latin typeface="Cambria Math" panose="02040503050406030204" pitchFamily="18" charset="0"/>
                        </a:rPr>
                        <m:t>间</m:t>
                      </m:r>
                      <m:r>
                        <a:rPr lang="zh-CN" altLang="en-US" sz="2000" i="1" dirty="0" smtClean="0">
                          <a:solidFill>
                            <a:srgbClr val="000000"/>
                          </a:solidFill>
                          <a:latin typeface="Cambria Math" panose="02040503050406030204" pitchFamily="18" charset="0"/>
                        </a:rPr>
                        <m:t>的</m:t>
                      </m:r>
                      <m:r>
                        <a:rPr lang="zh-CN" altLang="en-US" sz="2000" i="1" dirty="0">
                          <a:solidFill>
                            <a:srgbClr val="000000"/>
                          </a:solidFill>
                          <a:latin typeface="Cambria Math" panose="02040503050406030204" pitchFamily="18" charset="0"/>
                        </a:rPr>
                        <m:t>关系</m:t>
                      </m:r>
                      <m:r>
                        <a:rPr lang="zh-CN" altLang="en-US" sz="2000" i="1">
                          <a:solidFill>
                            <a:srgbClr val="000000"/>
                          </a:solidFill>
                          <a:latin typeface="Cambria Math" panose="02040503050406030204" pitchFamily="18" charset="0"/>
                        </a:rPr>
                        <m:t>：</m:t>
                      </m:r>
                    </m:oMath>
                  </a14:m>
                  <a:endParaRPr lang="zh-CN" altLang="en-US" sz="2000" dirty="0"/>
                </a:p>
              </p:txBody>
            </p:sp>
          </mc:Choice>
          <mc:Fallback>
            <p:sp>
              <p:nvSpPr>
                <p:cNvPr id="22" name="Object 19">
                  <a:extLst>
                    <a:ext uri="{FF2B5EF4-FFF2-40B4-BE49-F238E27FC236}">
                      <a16:creationId xmlns:a16="http://schemas.microsoft.com/office/drawing/2014/main" id="{2424F57C-8D30-4489-A9DA-FF12E5B3A457}"/>
                    </a:ext>
                  </a:extLst>
                </p:cNvPr>
                <p:cNvSpPr txBox="1">
                  <a:spLocks noRot="1" noChangeAspect="1" noMove="1" noResize="1" noEditPoints="1" noAdjustHandles="1" noChangeArrowheads="1" noChangeShapeType="1" noTextEdit="1"/>
                </p:cNvSpPr>
                <p:nvPr/>
              </p:nvSpPr>
              <p:spPr bwMode="auto">
                <a:xfrm>
                  <a:off x="1415480" y="2272536"/>
                  <a:ext cx="9217024" cy="912732"/>
                </a:xfrm>
                <a:prstGeom prst="rect">
                  <a:avLst/>
                </a:prstGeom>
                <a:blipFill>
                  <a:blip r:embed="rId6"/>
                  <a:stretch>
                    <a:fillRect l="-661" t="-5333"/>
                  </a:stretch>
                </a:blipFill>
                <a:ln>
                  <a:noFill/>
                </a:ln>
                <a:extLst/>
              </p:spPr>
              <p:txBody>
                <a:bodyPr/>
                <a:lstStyle/>
                <a:p>
                  <a:r>
                    <a:rPr lang="zh-CN" altLang="en-US">
                      <a:noFill/>
                    </a:rPr>
                    <a:t> </a:t>
                  </a:r>
                </a:p>
              </p:txBody>
            </p:sp>
          </mc:Fallback>
        </mc:AlternateContent>
        <p:pic>
          <p:nvPicPr>
            <p:cNvPr id="9" name="图片 8">
              <a:extLst>
                <a:ext uri="{FF2B5EF4-FFF2-40B4-BE49-F238E27FC236}">
                  <a16:creationId xmlns:a16="http://schemas.microsoft.com/office/drawing/2014/main" id="{EA3C225F-4FE6-42F9-AA14-F426EF1738D2}"/>
                </a:ext>
              </a:extLst>
            </p:cNvPr>
            <p:cNvPicPr>
              <a:picLocks noChangeAspect="1"/>
            </p:cNvPicPr>
            <p:nvPr/>
          </p:nvPicPr>
          <p:blipFill>
            <a:blip r:embed="rId7"/>
            <a:stretch>
              <a:fillRect/>
            </a:stretch>
          </p:blipFill>
          <p:spPr>
            <a:xfrm>
              <a:off x="3382925" y="2624418"/>
              <a:ext cx="8637579" cy="489076"/>
            </a:xfrm>
            <a:prstGeom prst="rect">
              <a:avLst/>
            </a:prstGeom>
          </p:spPr>
        </p:pic>
      </p:grpSp>
      <p:grpSp>
        <p:nvGrpSpPr>
          <p:cNvPr id="37" name="组合 36">
            <a:extLst>
              <a:ext uri="{FF2B5EF4-FFF2-40B4-BE49-F238E27FC236}">
                <a16:creationId xmlns:a16="http://schemas.microsoft.com/office/drawing/2014/main" id="{3BF0FA5C-C66D-47DD-B0BF-B1A6C261BFF7}"/>
              </a:ext>
            </a:extLst>
          </p:cNvPr>
          <p:cNvGrpSpPr/>
          <p:nvPr/>
        </p:nvGrpSpPr>
        <p:grpSpPr>
          <a:xfrm>
            <a:off x="1357051" y="3820638"/>
            <a:ext cx="7835293" cy="864893"/>
            <a:chOff x="1357051" y="3820638"/>
            <a:chExt cx="7835293" cy="864893"/>
          </a:xfrm>
        </p:grpSpPr>
        <p:pic>
          <p:nvPicPr>
            <p:cNvPr id="28" name="图片 27">
              <a:extLst>
                <a:ext uri="{FF2B5EF4-FFF2-40B4-BE49-F238E27FC236}">
                  <a16:creationId xmlns:a16="http://schemas.microsoft.com/office/drawing/2014/main" id="{FB8EEFAF-84EB-4D1C-84AB-FD1EEC37DBEE}"/>
                </a:ext>
              </a:extLst>
            </p:cNvPr>
            <p:cNvPicPr>
              <a:picLocks noChangeAspect="1"/>
            </p:cNvPicPr>
            <p:nvPr/>
          </p:nvPicPr>
          <p:blipFill>
            <a:blip r:embed="rId8"/>
            <a:stretch>
              <a:fillRect/>
            </a:stretch>
          </p:blipFill>
          <p:spPr>
            <a:xfrm>
              <a:off x="5025975" y="3820638"/>
              <a:ext cx="4166369" cy="864893"/>
            </a:xfrm>
            <a:prstGeom prst="rect">
              <a:avLst/>
            </a:prstGeom>
          </p:spPr>
        </p:pic>
        <p:sp>
          <p:nvSpPr>
            <p:cNvPr id="29" name="矩形 28">
              <a:extLst>
                <a:ext uri="{FF2B5EF4-FFF2-40B4-BE49-F238E27FC236}">
                  <a16:creationId xmlns:a16="http://schemas.microsoft.com/office/drawing/2014/main" id="{3DBB6DA0-7BD5-4EEA-8C97-4AFED6A35A7C}"/>
                </a:ext>
              </a:extLst>
            </p:cNvPr>
            <p:cNvSpPr/>
            <p:nvPr/>
          </p:nvSpPr>
          <p:spPr>
            <a:xfrm>
              <a:off x="1357051" y="3902044"/>
              <a:ext cx="3262432" cy="400110"/>
            </a:xfrm>
            <a:prstGeom prst="rect">
              <a:avLst/>
            </a:prstGeom>
          </p:spPr>
          <p:txBody>
            <a:bodyPr wrap="none">
              <a:spAutoFit/>
            </a:bodyPr>
            <a:lstStyle/>
            <a:p>
              <a:r>
                <a:rPr lang="zh-CN" altLang="en-US" sz="2000" dirty="0">
                  <a:solidFill>
                    <a:srgbClr val="0F1115"/>
                  </a:solidFill>
                  <a:latin typeface="quote-cjk-patch"/>
                </a:rPr>
                <a:t>取范数并利用三角不等式：</a:t>
              </a:r>
              <a:endParaRPr lang="zh-CN" altLang="en-US" sz="2000" dirty="0"/>
            </a:p>
          </p:txBody>
        </p:sp>
      </p:grpSp>
      <p:grpSp>
        <p:nvGrpSpPr>
          <p:cNvPr id="36" name="组合 35">
            <a:extLst>
              <a:ext uri="{FF2B5EF4-FFF2-40B4-BE49-F238E27FC236}">
                <a16:creationId xmlns:a16="http://schemas.microsoft.com/office/drawing/2014/main" id="{F6A55E75-BB9B-4F7C-A27C-2327C0C45B86}"/>
              </a:ext>
            </a:extLst>
          </p:cNvPr>
          <p:cNvGrpSpPr/>
          <p:nvPr/>
        </p:nvGrpSpPr>
        <p:grpSpPr>
          <a:xfrm>
            <a:off x="1357051" y="3066933"/>
            <a:ext cx="8080488" cy="786365"/>
            <a:chOff x="1357051" y="3066933"/>
            <a:chExt cx="8080488" cy="786365"/>
          </a:xfrm>
        </p:grpSpPr>
        <p:pic>
          <p:nvPicPr>
            <p:cNvPr id="27" name="图片 26">
              <a:extLst>
                <a:ext uri="{FF2B5EF4-FFF2-40B4-BE49-F238E27FC236}">
                  <a16:creationId xmlns:a16="http://schemas.microsoft.com/office/drawing/2014/main" id="{D6AE4C8A-A859-4767-93BD-2D63BB41C9A1}"/>
                </a:ext>
              </a:extLst>
            </p:cNvPr>
            <p:cNvPicPr>
              <a:picLocks noChangeAspect="1"/>
            </p:cNvPicPr>
            <p:nvPr/>
          </p:nvPicPr>
          <p:blipFill>
            <a:blip r:embed="rId9"/>
            <a:stretch>
              <a:fillRect/>
            </a:stretch>
          </p:blipFill>
          <p:spPr>
            <a:xfrm>
              <a:off x="5668409" y="3066933"/>
              <a:ext cx="3769130" cy="786365"/>
            </a:xfrm>
            <a:prstGeom prst="rect">
              <a:avLst/>
            </a:prstGeom>
          </p:spPr>
        </p:pic>
        <mc:AlternateContent xmlns:mc="http://schemas.openxmlformats.org/markup-compatibility/2006">
          <mc:Choice xmlns:a14="http://schemas.microsoft.com/office/drawing/2010/main" Requires="a14">
            <p:sp>
              <p:nvSpPr>
                <p:cNvPr id="30" name="矩形 29">
                  <a:extLst>
                    <a:ext uri="{FF2B5EF4-FFF2-40B4-BE49-F238E27FC236}">
                      <a16:creationId xmlns:a16="http://schemas.microsoft.com/office/drawing/2014/main" id="{5400382D-4F98-41B7-87DF-82F992BC771E}"/>
                    </a:ext>
                  </a:extLst>
                </p:cNvPr>
                <p:cNvSpPr/>
                <p:nvPr/>
              </p:nvSpPr>
              <p:spPr>
                <a:xfrm>
                  <a:off x="1357051" y="3083309"/>
                  <a:ext cx="6096000" cy="412934"/>
                </a:xfrm>
                <a:prstGeom prst="rect">
                  <a:avLst/>
                </a:prstGeom>
              </p:spPr>
              <p:txBody>
                <a:bodyPr>
                  <a:spAutoFit/>
                </a:bodyPr>
                <a:lstStyle/>
                <a:p>
                  <a:r>
                    <a:rPr lang="zh-CN" altLang="en-US" sz="2000" dirty="0">
                      <a:solidFill>
                        <a:srgbClr val="0F1115"/>
                      </a:solidFill>
                      <a:latin typeface="+mn-ea"/>
                      <a:ea typeface="+mn-ea"/>
                    </a:rPr>
                    <a:t>当 </a:t>
                  </a:r>
                  <a:r>
                    <a:rPr lang="en-US" altLang="zh-CN" sz="2000" dirty="0">
                      <a:solidFill>
                        <a:srgbClr val="0F1115"/>
                      </a:solidFill>
                      <a:latin typeface="+mn-ea"/>
                      <a:ea typeface="+mn-ea"/>
                    </a:rPr>
                    <a:t>m→∞</a:t>
                  </a:r>
                  <a:r>
                    <a:rPr lang="zh-CN" altLang="en-US" sz="2000" dirty="0">
                      <a:solidFill>
                        <a:srgbClr val="0F1115"/>
                      </a:solidFill>
                      <a:latin typeface="+mn-ea"/>
                      <a:ea typeface="+mn-ea"/>
                    </a:rPr>
                    <a:t> 时，</a:t>
                  </a:r>
                  <a:r>
                    <a:rPr lang="zh-CN" altLang="en-US" sz="2000" dirty="0">
                      <a:solidFill>
                        <a:srgbClr val="000000"/>
                      </a:solidFill>
                      <a:latin typeface="+mn-ea"/>
                      <a:ea typeface="+mn-ea"/>
                    </a:rPr>
                    <a:t> </a:t>
                  </a:r>
                  <a14:m>
                    <m:oMath xmlns:m="http://schemas.openxmlformats.org/officeDocument/2006/math">
                      <m:sSup>
                        <m:sSupPr>
                          <m:ctrlPr>
                            <a:rPr lang="zh-CN" altLang="en-US" sz="2000" i="1">
                              <a:solidFill>
                                <a:srgbClr val="000000"/>
                              </a:solidFill>
                              <a:latin typeface="+mn-ea"/>
                              <a:ea typeface="+mn-ea"/>
                            </a:rPr>
                          </m:ctrlPr>
                        </m:sSupPr>
                        <m:e>
                          <m:r>
                            <a:rPr lang="zh-CN" altLang="en-US" sz="2000" i="1">
                              <a:solidFill>
                                <a:srgbClr val="000000"/>
                              </a:solidFill>
                              <a:latin typeface="+mn-ea"/>
                              <a:ea typeface="+mn-ea"/>
                            </a:rPr>
                            <m:t>𝑥</m:t>
                          </m:r>
                        </m:e>
                        <m:sup>
                          <m:r>
                            <a:rPr lang="en-US" altLang="zh-CN" sz="2000" i="1">
                              <a:solidFill>
                                <a:srgbClr val="000000"/>
                              </a:solidFill>
                              <a:latin typeface="+mn-ea"/>
                              <a:ea typeface="+mn-ea"/>
                            </a:rPr>
                            <m:t>(</m:t>
                          </m:r>
                          <m:r>
                            <a:rPr lang="en-US" altLang="zh-CN" sz="2000" i="1">
                              <a:solidFill>
                                <a:srgbClr val="000000"/>
                              </a:solidFill>
                              <a:latin typeface="+mn-ea"/>
                              <a:ea typeface="+mn-ea"/>
                            </a:rPr>
                            <m:t>𝑘</m:t>
                          </m:r>
                          <m:r>
                            <a:rPr lang="en-US" altLang="zh-CN" sz="2000" i="1">
                              <a:solidFill>
                                <a:srgbClr val="000000"/>
                              </a:solidFill>
                              <a:latin typeface="+mn-ea"/>
                              <a:ea typeface="+mn-ea"/>
                            </a:rPr>
                            <m:t>+</m:t>
                          </m:r>
                          <m:r>
                            <a:rPr lang="en-US" altLang="zh-CN" sz="2000" b="0" i="1" smtClean="0">
                              <a:solidFill>
                                <a:srgbClr val="000000"/>
                              </a:solidFill>
                              <a:latin typeface="Cambria Math" panose="02040503050406030204" pitchFamily="18" charset="0"/>
                              <a:ea typeface="+mn-ea"/>
                            </a:rPr>
                            <m:t>𝑚</m:t>
                          </m:r>
                          <m:r>
                            <a:rPr lang="en-US" altLang="zh-CN" sz="2000" i="1">
                              <a:solidFill>
                                <a:srgbClr val="000000"/>
                              </a:solidFill>
                              <a:latin typeface="+mn-ea"/>
                              <a:ea typeface="+mn-ea"/>
                            </a:rPr>
                            <m:t>)</m:t>
                          </m:r>
                        </m:sup>
                      </m:sSup>
                      <m:r>
                        <a:rPr lang="en-US" altLang="zh-CN" sz="2000" i="1">
                          <a:solidFill>
                            <a:srgbClr val="000000"/>
                          </a:solidFill>
                          <a:latin typeface="+mn-ea"/>
                          <a:ea typeface="+mn-ea"/>
                        </a:rPr>
                        <m:t> </m:t>
                      </m:r>
                    </m:oMath>
                  </a14:m>
                  <a:r>
                    <a:rPr lang="en-US" altLang="zh-CN" sz="2000" dirty="0">
                      <a:solidFill>
                        <a:srgbClr val="0F1115"/>
                      </a:solidFill>
                      <a:latin typeface="+mn-ea"/>
                      <a:ea typeface="+mn-ea"/>
                    </a:rPr>
                    <a:t>→</a:t>
                  </a:r>
                  <a:r>
                    <a:rPr lang="zh-CN" altLang="en-US" sz="2000" dirty="0">
                      <a:solidFill>
                        <a:srgbClr val="000000"/>
                      </a:solidFill>
                      <a:latin typeface="+mn-ea"/>
                      <a:ea typeface="+mn-ea"/>
                    </a:rPr>
                    <a:t> </a:t>
                  </a:r>
                  <a14:m>
                    <m:oMath xmlns:m="http://schemas.openxmlformats.org/officeDocument/2006/math">
                      <m:sSup>
                        <m:sSupPr>
                          <m:ctrlPr>
                            <a:rPr lang="zh-CN" altLang="en-US" sz="2000" i="1">
                              <a:solidFill>
                                <a:srgbClr val="000000"/>
                              </a:solidFill>
                              <a:latin typeface="+mn-ea"/>
                              <a:ea typeface="+mn-ea"/>
                            </a:rPr>
                          </m:ctrlPr>
                        </m:sSupPr>
                        <m:e>
                          <m:r>
                            <a:rPr lang="zh-CN" altLang="en-US" sz="2000" i="1">
                              <a:solidFill>
                                <a:srgbClr val="000000"/>
                              </a:solidFill>
                              <a:latin typeface="+mn-ea"/>
                              <a:ea typeface="+mn-ea"/>
                            </a:rPr>
                            <m:t>𝑥</m:t>
                          </m:r>
                        </m:e>
                        <m:sup>
                          <m:r>
                            <a:rPr lang="en-US" altLang="zh-CN" sz="2000" b="0" i="1" smtClean="0">
                              <a:solidFill>
                                <a:srgbClr val="000000"/>
                              </a:solidFill>
                              <a:latin typeface="+mn-ea"/>
                              <a:ea typeface="+mn-ea"/>
                            </a:rPr>
                            <m:t>∗</m:t>
                          </m:r>
                        </m:sup>
                      </m:sSup>
                      <m:r>
                        <a:rPr lang="zh-CN" altLang="en-US" sz="2000" i="1">
                          <a:solidFill>
                            <a:srgbClr val="000000"/>
                          </a:solidFill>
                          <a:latin typeface="+mn-ea"/>
                          <a:ea typeface="+mn-ea"/>
                        </a:rPr>
                        <m:t> </m:t>
                      </m:r>
                    </m:oMath>
                  </a14:m>
                  <a:r>
                    <a:rPr lang="zh-CN" altLang="en-US" sz="2000" dirty="0">
                      <a:solidFill>
                        <a:srgbClr val="0F1115"/>
                      </a:solidFill>
                      <a:latin typeface="+mn-ea"/>
                      <a:ea typeface="+mn-ea"/>
                    </a:rPr>
                    <a:t>，所以：</a:t>
                  </a:r>
                  <a:endParaRPr lang="zh-CN" altLang="en-US" sz="2000" dirty="0">
                    <a:latin typeface="+mn-ea"/>
                    <a:ea typeface="+mn-ea"/>
                  </a:endParaRPr>
                </a:p>
              </p:txBody>
            </p:sp>
          </mc:Choice>
          <mc:Fallback>
            <p:sp>
              <p:nvSpPr>
                <p:cNvPr id="30" name="矩形 29">
                  <a:extLst>
                    <a:ext uri="{FF2B5EF4-FFF2-40B4-BE49-F238E27FC236}">
                      <a16:creationId xmlns:a16="http://schemas.microsoft.com/office/drawing/2014/main" id="{5400382D-4F98-41B7-87DF-82F992BC771E}"/>
                    </a:ext>
                  </a:extLst>
                </p:cNvPr>
                <p:cNvSpPr>
                  <a:spLocks noRot="1" noChangeAspect="1" noMove="1" noResize="1" noEditPoints="1" noAdjustHandles="1" noChangeArrowheads="1" noChangeShapeType="1" noTextEdit="1"/>
                </p:cNvSpPr>
                <p:nvPr/>
              </p:nvSpPr>
              <p:spPr>
                <a:xfrm>
                  <a:off x="1357051" y="3083309"/>
                  <a:ext cx="6096000" cy="412934"/>
                </a:xfrm>
                <a:prstGeom prst="rect">
                  <a:avLst/>
                </a:prstGeom>
                <a:blipFill>
                  <a:blip r:embed="rId10"/>
                  <a:stretch>
                    <a:fillRect l="-1100" t="-8824" b="-22059"/>
                  </a:stretch>
                </a:blipFill>
              </p:spPr>
              <p:txBody>
                <a:bodyPr/>
                <a:lstStyle/>
                <a:p>
                  <a:r>
                    <a:rPr lang="zh-CN" altLang="en-US">
                      <a:noFill/>
                    </a:rPr>
                    <a:t> </a:t>
                  </a:r>
                </a:p>
              </p:txBody>
            </p:sp>
          </mc:Fallback>
        </mc:AlternateContent>
      </p:grpSp>
      <p:grpSp>
        <p:nvGrpSpPr>
          <p:cNvPr id="38" name="组合 37">
            <a:extLst>
              <a:ext uri="{FF2B5EF4-FFF2-40B4-BE49-F238E27FC236}">
                <a16:creationId xmlns:a16="http://schemas.microsoft.com/office/drawing/2014/main" id="{812F9CDD-C290-47C1-9CED-F45D74048B16}"/>
              </a:ext>
            </a:extLst>
          </p:cNvPr>
          <p:cNvGrpSpPr/>
          <p:nvPr/>
        </p:nvGrpSpPr>
        <p:grpSpPr>
          <a:xfrm>
            <a:off x="2171141" y="4452518"/>
            <a:ext cx="9397467" cy="1015726"/>
            <a:chOff x="2171141" y="4452518"/>
            <a:chExt cx="9397467" cy="1015726"/>
          </a:xfrm>
        </p:grpSpPr>
        <p:pic>
          <p:nvPicPr>
            <p:cNvPr id="26" name="图片 25">
              <a:extLst>
                <a:ext uri="{FF2B5EF4-FFF2-40B4-BE49-F238E27FC236}">
                  <a16:creationId xmlns:a16="http://schemas.microsoft.com/office/drawing/2014/main" id="{B28926DF-77CD-4D6D-ABDD-A6AF900B647F}"/>
                </a:ext>
              </a:extLst>
            </p:cNvPr>
            <p:cNvPicPr>
              <a:picLocks noChangeAspect="1"/>
            </p:cNvPicPr>
            <p:nvPr/>
          </p:nvPicPr>
          <p:blipFill>
            <a:blip r:embed="rId11"/>
            <a:stretch>
              <a:fillRect/>
            </a:stretch>
          </p:blipFill>
          <p:spPr>
            <a:xfrm>
              <a:off x="4576045" y="4452518"/>
              <a:ext cx="6992563" cy="1015726"/>
            </a:xfrm>
            <a:prstGeom prst="rect">
              <a:avLst/>
            </a:prstGeom>
          </p:spPr>
        </p:pic>
        <p:sp>
          <p:nvSpPr>
            <p:cNvPr id="32" name="矩形 31">
              <a:extLst>
                <a:ext uri="{FF2B5EF4-FFF2-40B4-BE49-F238E27FC236}">
                  <a16:creationId xmlns:a16="http://schemas.microsoft.com/office/drawing/2014/main" id="{0EBA15E8-828C-48AF-B9AE-E8CA92B8206D}"/>
                </a:ext>
              </a:extLst>
            </p:cNvPr>
            <p:cNvSpPr/>
            <p:nvPr/>
          </p:nvSpPr>
          <p:spPr>
            <a:xfrm>
              <a:off x="2171141" y="4741438"/>
              <a:ext cx="2366353" cy="400110"/>
            </a:xfrm>
            <a:prstGeom prst="rect">
              <a:avLst/>
            </a:prstGeom>
          </p:spPr>
          <p:txBody>
            <a:bodyPr wrap="none">
              <a:spAutoFit/>
            </a:bodyPr>
            <a:lstStyle/>
            <a:p>
              <a:r>
                <a:rPr lang="zh-CN" altLang="en-US" sz="2000" dirty="0">
                  <a:solidFill>
                    <a:srgbClr val="0F1115"/>
                  </a:solidFill>
                  <a:latin typeface="quote-cjk-patch"/>
                </a:rPr>
                <a:t>代入不等式（</a:t>
              </a:r>
              <a:r>
                <a:rPr lang="en-US" altLang="zh-CN" sz="2000" dirty="0">
                  <a:solidFill>
                    <a:srgbClr val="0F1115"/>
                  </a:solidFill>
                  <a:latin typeface="quote-cjk-patch"/>
                </a:rPr>
                <a:t>1</a:t>
              </a:r>
              <a:r>
                <a:rPr lang="zh-CN" altLang="en-US" sz="2000" dirty="0">
                  <a:solidFill>
                    <a:srgbClr val="0F1115"/>
                  </a:solidFill>
                  <a:latin typeface="quote-cjk-patch"/>
                </a:rPr>
                <a:t>）：</a:t>
              </a:r>
              <a:endParaRPr lang="zh-CN" altLang="en-US" sz="2000" dirty="0"/>
            </a:p>
          </p:txBody>
        </p:sp>
      </p:grpSp>
      <p:grpSp>
        <p:nvGrpSpPr>
          <p:cNvPr id="39" name="组合 38">
            <a:extLst>
              <a:ext uri="{FF2B5EF4-FFF2-40B4-BE49-F238E27FC236}">
                <a16:creationId xmlns:a16="http://schemas.microsoft.com/office/drawing/2014/main" id="{BFB83515-4799-4BEA-B33B-A37AFF4C1D56}"/>
              </a:ext>
            </a:extLst>
          </p:cNvPr>
          <p:cNvGrpSpPr/>
          <p:nvPr/>
        </p:nvGrpSpPr>
        <p:grpSpPr>
          <a:xfrm>
            <a:off x="1415480" y="5346316"/>
            <a:ext cx="5892051" cy="746825"/>
            <a:chOff x="1415480" y="5346316"/>
            <a:chExt cx="5892051" cy="746825"/>
          </a:xfrm>
        </p:grpSpPr>
        <p:sp>
          <p:nvSpPr>
            <p:cNvPr id="31" name="矩形 30">
              <a:extLst>
                <a:ext uri="{FF2B5EF4-FFF2-40B4-BE49-F238E27FC236}">
                  <a16:creationId xmlns:a16="http://schemas.microsoft.com/office/drawing/2014/main" id="{824165AB-B0E2-4242-9C25-87973BD62BAA}"/>
                </a:ext>
              </a:extLst>
            </p:cNvPr>
            <p:cNvSpPr/>
            <p:nvPr/>
          </p:nvSpPr>
          <p:spPr>
            <a:xfrm>
              <a:off x="1415480" y="5394440"/>
              <a:ext cx="3775393" cy="400110"/>
            </a:xfrm>
            <a:prstGeom prst="rect">
              <a:avLst/>
            </a:prstGeom>
          </p:spPr>
          <p:txBody>
            <a:bodyPr wrap="none">
              <a:spAutoFit/>
            </a:bodyPr>
            <a:lstStyle/>
            <a:p>
              <a:r>
                <a:rPr lang="zh-CN" altLang="en-US" sz="2000" dirty="0">
                  <a:solidFill>
                    <a:srgbClr val="0F1115"/>
                  </a:solidFill>
                  <a:latin typeface="+mn-ea"/>
                  <a:ea typeface="+mn-ea"/>
                </a:rPr>
                <a:t>因为 </a:t>
              </a:r>
              <a:r>
                <a:rPr lang="en-US" altLang="zh-CN" sz="2000" dirty="0">
                  <a:solidFill>
                    <a:srgbClr val="0F1115"/>
                  </a:solidFill>
                  <a:latin typeface="+mn-ea"/>
                  <a:ea typeface="+mn-ea"/>
                </a:rPr>
                <a:t>||B||&lt;1</a:t>
              </a:r>
              <a:r>
                <a:rPr lang="zh-CN" altLang="en-US" sz="2000" dirty="0">
                  <a:solidFill>
                    <a:srgbClr val="0F1115"/>
                  </a:solidFill>
                  <a:latin typeface="+mn-ea"/>
                  <a:ea typeface="+mn-ea"/>
                </a:rPr>
                <a:t>，几何级数收敛：</a:t>
              </a:r>
              <a:endParaRPr lang="zh-CN" altLang="en-US" sz="2000" dirty="0">
                <a:latin typeface="+mn-ea"/>
                <a:ea typeface="+mn-ea"/>
              </a:endParaRPr>
            </a:p>
          </p:txBody>
        </p:sp>
        <p:pic>
          <p:nvPicPr>
            <p:cNvPr id="33" name="图片 32">
              <a:extLst>
                <a:ext uri="{FF2B5EF4-FFF2-40B4-BE49-F238E27FC236}">
                  <a16:creationId xmlns:a16="http://schemas.microsoft.com/office/drawing/2014/main" id="{4C24B7FA-659E-4534-930E-A8051C96B1EE}"/>
                </a:ext>
              </a:extLst>
            </p:cNvPr>
            <p:cNvPicPr>
              <a:picLocks noChangeAspect="1"/>
            </p:cNvPicPr>
            <p:nvPr/>
          </p:nvPicPr>
          <p:blipFill>
            <a:blip r:embed="rId12"/>
            <a:stretch>
              <a:fillRect/>
            </a:stretch>
          </p:blipFill>
          <p:spPr>
            <a:xfrm>
              <a:off x="5265194" y="5346316"/>
              <a:ext cx="2042337" cy="746825"/>
            </a:xfrm>
            <a:prstGeom prst="rect">
              <a:avLst/>
            </a:prstGeom>
          </p:spPr>
        </p:pic>
      </p:grpSp>
    </p:spTree>
    <p:extLst>
      <p:ext uri="{BB962C8B-B14F-4D97-AF65-F5344CB8AC3E}">
        <p14:creationId xmlns:p14="http://schemas.microsoft.com/office/powerpoint/2010/main" val="230624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a:grpSpLocks/>
          </p:cNvGrpSpPr>
          <p:nvPr/>
        </p:nvGrpSpPr>
        <p:grpSpPr bwMode="auto">
          <a:xfrm>
            <a:off x="2801938" y="4832353"/>
            <a:ext cx="5597525" cy="1008063"/>
            <a:chOff x="801" y="3252"/>
            <a:chExt cx="3526" cy="635"/>
          </a:xfrm>
        </p:grpSpPr>
        <p:sp>
          <p:nvSpPr>
            <p:cNvPr id="34841" name="Text Box 9"/>
            <p:cNvSpPr txBox="1">
              <a:spLocks noChangeArrowheads="1"/>
            </p:cNvSpPr>
            <p:nvPr/>
          </p:nvSpPr>
          <p:spPr bwMode="auto">
            <a:xfrm>
              <a:off x="1927" y="3337"/>
              <a:ext cx="240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latin typeface="宋体" panose="02010600030101010101" pitchFamily="2" charset="-122"/>
                </a:rPr>
                <a:t> </a:t>
              </a:r>
              <a:r>
                <a:rPr lang="zh-CN" altLang="en-US" sz="2800">
                  <a:latin typeface="宋体" panose="02010600030101010101" pitchFamily="2" charset="-122"/>
                </a:rPr>
                <a:t>（</a:t>
              </a:r>
              <a:r>
                <a:rPr lang="en-US" altLang="zh-CN" sz="2800" i="1">
                  <a:cs typeface="Times New Roman" panose="02020603050405020304" pitchFamily="18" charset="0"/>
                </a:rPr>
                <a:t>j</a:t>
              </a:r>
              <a:r>
                <a:rPr lang="en-US" altLang="zh-CN" sz="2800">
                  <a:cs typeface="Times New Roman" panose="02020603050405020304" pitchFamily="18" charset="0"/>
                </a:rPr>
                <a:t>=1,2,</a:t>
              </a:r>
              <a:r>
                <a:rPr lang="en-US" altLang="zh-CN" sz="2800"/>
                <a:t>…</a:t>
              </a:r>
              <a:r>
                <a:rPr lang="en-US" altLang="zh-CN" sz="2800">
                  <a:latin typeface="宋体" panose="02010600030101010101" pitchFamily="2" charset="-122"/>
                </a:rPr>
                <a:t>,</a:t>
              </a:r>
              <a:r>
                <a:rPr lang="en-US" altLang="zh-CN" sz="2800" i="1"/>
                <a:t>n</a:t>
              </a:r>
              <a:r>
                <a:rPr lang="zh-CN" altLang="en-US" sz="2800">
                  <a:latin typeface="宋体" panose="02010600030101010101" pitchFamily="2" charset="-122"/>
                </a:rPr>
                <a:t>）</a:t>
              </a:r>
              <a:r>
                <a:rPr lang="en-US" altLang="zh-CN" sz="2400"/>
                <a:t>(</a:t>
              </a:r>
              <a:r>
                <a:rPr lang="zh-CN" altLang="en-US" sz="2400"/>
                <a:t>按</a:t>
              </a:r>
              <a:r>
                <a:rPr lang="zh-CN" altLang="en-US" sz="2400">
                  <a:latin typeface="宋体" panose="02010600030101010101" pitchFamily="2" charset="-122"/>
                </a:rPr>
                <a:t>列</a:t>
              </a:r>
              <a:r>
                <a:rPr lang="en-US" altLang="zh-CN" sz="2400"/>
                <a:t>)</a:t>
              </a:r>
              <a:endParaRPr kumimoji="0" lang="en-US" altLang="zh-CN" sz="2400">
                <a:latin typeface="Arial" panose="020B0604020202020204" pitchFamily="34" charset="0"/>
              </a:endParaRPr>
            </a:p>
          </p:txBody>
        </p:sp>
        <mc:AlternateContent xmlns:mc="http://schemas.openxmlformats.org/markup-compatibility/2006">
          <mc:Choice xmlns:a14="http://schemas.microsoft.com/office/drawing/2010/main" Requires="a14">
            <p:sp>
              <p:nvSpPr>
                <p:cNvPr id="34842" name="Object 10"/>
                <p:cNvSpPr txBox="1"/>
                <p:nvPr/>
              </p:nvSpPr>
              <p:spPr bwMode="auto">
                <a:xfrm>
                  <a:off x="801" y="3252"/>
                  <a:ext cx="1179" cy="635"/>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𝑗𝑗</m:t>
                                </m:r>
                              </m:sub>
                            </m:sSub>
                          </m:e>
                        </m:d>
                        <m:r>
                          <a:rPr lang="zh-CN" altLang="en-US" i="1">
                            <a:solidFill>
                              <a:srgbClr val="000000"/>
                            </a:solidFill>
                            <a:latin typeface="Cambria Math" panose="02040503050406030204" pitchFamily="18" charset="0"/>
                          </a:rPr>
                          <m:t>&gt;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d>
                          </m:e>
                        </m:nary>
                      </m:oMath>
                    </m:oMathPara>
                  </a14:m>
                  <a:endParaRPr lang="zh-CN" altLang="en-US" dirty="0"/>
                </a:p>
              </p:txBody>
            </p:sp>
          </mc:Choice>
          <mc:Fallback>
            <p:sp>
              <p:nvSpPr>
                <p:cNvPr id="34842" name="Object 10"/>
                <p:cNvSpPr txBox="1">
                  <a:spLocks noRot="1" noChangeAspect="1" noMove="1" noResize="1" noEditPoints="1" noAdjustHandles="1" noChangeArrowheads="1" noChangeShapeType="1" noTextEdit="1"/>
                </p:cNvSpPr>
                <p:nvPr/>
              </p:nvSpPr>
              <p:spPr bwMode="auto">
                <a:xfrm>
                  <a:off x="801" y="3252"/>
                  <a:ext cx="1179" cy="635"/>
                </a:xfrm>
                <a:prstGeom prst="rect">
                  <a:avLst/>
                </a:prstGeom>
                <a:blipFill>
                  <a:blip r:embed="rId3"/>
                  <a:stretch>
                    <a:fillRect/>
                  </a:stretch>
                </a:blipFill>
                <a:ln>
                  <a:noFill/>
                </a:ln>
                <a:extLst/>
              </p:spPr>
              <p:txBody>
                <a:bodyPr/>
                <a:lstStyle/>
                <a:p>
                  <a:r>
                    <a:rPr lang="zh-CN" altLang="en-US">
                      <a:noFill/>
                    </a:rPr>
                    <a:t> </a:t>
                  </a:r>
                </a:p>
              </p:txBody>
            </p:sp>
          </mc:Fallback>
        </mc:AlternateContent>
      </p:grpSp>
      <p:grpSp>
        <p:nvGrpSpPr>
          <p:cNvPr id="3" name="Group 11"/>
          <p:cNvGrpSpPr>
            <a:grpSpLocks/>
          </p:cNvGrpSpPr>
          <p:nvPr/>
        </p:nvGrpSpPr>
        <p:grpSpPr bwMode="auto">
          <a:xfrm>
            <a:off x="2741613" y="3932239"/>
            <a:ext cx="5473700" cy="935038"/>
            <a:chOff x="800" y="2735"/>
            <a:chExt cx="3448" cy="589"/>
          </a:xfrm>
        </p:grpSpPr>
        <p:sp>
          <p:nvSpPr>
            <p:cNvPr id="34837" name="Text Box 12"/>
            <p:cNvSpPr txBox="1">
              <a:spLocks noChangeArrowheads="1"/>
            </p:cNvSpPr>
            <p:nvPr/>
          </p:nvSpPr>
          <p:spPr bwMode="auto">
            <a:xfrm>
              <a:off x="3356" y="2845"/>
              <a:ext cx="89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2400">
                  <a:latin typeface="Arial" panose="020B0604020202020204" pitchFamily="34" charset="0"/>
                </a:rPr>
                <a:t>（按行）</a:t>
              </a:r>
            </a:p>
          </p:txBody>
        </p:sp>
        <p:grpSp>
          <p:nvGrpSpPr>
            <p:cNvPr id="34838" name="Group 13"/>
            <p:cNvGrpSpPr>
              <a:grpSpLocks/>
            </p:cNvGrpSpPr>
            <p:nvPr/>
          </p:nvGrpSpPr>
          <p:grpSpPr bwMode="auto">
            <a:xfrm>
              <a:off x="800" y="2735"/>
              <a:ext cx="2777" cy="589"/>
              <a:chOff x="2371" y="2386"/>
              <a:chExt cx="2777" cy="589"/>
            </a:xfrm>
          </p:grpSpPr>
          <p:sp>
            <p:nvSpPr>
              <p:cNvPr id="34839" name="Text Box 14"/>
              <p:cNvSpPr txBox="1">
                <a:spLocks noChangeArrowheads="1"/>
              </p:cNvSpPr>
              <p:nvPr/>
            </p:nvSpPr>
            <p:spPr bwMode="auto">
              <a:xfrm>
                <a:off x="3500" y="2496"/>
                <a:ext cx="164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 ,</a:t>
                </a:r>
                <a:r>
                  <a:rPr lang="zh-CN" altLang="en-US" sz="2800"/>
                  <a:t>（</a:t>
                </a:r>
                <a:r>
                  <a:rPr lang="en-US" altLang="zh-CN" sz="2800" i="1">
                    <a:cs typeface="Times New Roman" panose="02020603050405020304" pitchFamily="18" charset="0"/>
                  </a:rPr>
                  <a:t>i</a:t>
                </a:r>
                <a:r>
                  <a:rPr lang="en-US" altLang="zh-CN" sz="2800">
                    <a:cs typeface="Times New Roman" panose="02020603050405020304" pitchFamily="18" charset="0"/>
                  </a:rPr>
                  <a:t>=1,2,</a:t>
                </a:r>
                <a:r>
                  <a:rPr lang="en-US" altLang="zh-CN" sz="2800"/>
                  <a:t>…</a:t>
                </a:r>
                <a:r>
                  <a:rPr lang="en-US" altLang="zh-CN" sz="2800">
                    <a:latin typeface="宋体" panose="02010600030101010101" pitchFamily="2" charset="-122"/>
                  </a:rPr>
                  <a:t>,</a:t>
                </a:r>
                <a:r>
                  <a:rPr lang="en-US" altLang="zh-CN" sz="2800" i="1"/>
                  <a:t>n</a:t>
                </a:r>
                <a:r>
                  <a:rPr lang="zh-CN" altLang="en-US" sz="2800"/>
                  <a:t>）</a:t>
                </a:r>
              </a:p>
            </p:txBody>
          </p:sp>
          <mc:AlternateContent xmlns:mc="http://schemas.openxmlformats.org/markup-compatibility/2006">
            <mc:Choice xmlns:a14="http://schemas.microsoft.com/office/drawing/2010/main" Requires="a14">
              <p:sp>
                <p:nvSpPr>
                  <p:cNvPr id="34840" name="Object 15"/>
                  <p:cNvSpPr txBox="1"/>
                  <p:nvPr/>
                </p:nvSpPr>
                <p:spPr bwMode="auto">
                  <a:xfrm>
                    <a:off x="2371" y="2386"/>
                    <a:ext cx="1242" cy="589"/>
                  </a:xfrm>
                  <a:prstGeom prst="rect">
                    <a:avLst/>
                  </a:prstGeom>
                  <a:noFill/>
                  <a:ln>
                    <a:noFill/>
                  </a:ln>
                  <a:extLst/>
                </p:spPr>
                <p:txBody>
                  <a:bodyPr>
                    <a:normAutofit fontScale="70000" lnSpcReduction="2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𝑖𝑖</m:t>
                                  </m:r>
                                </m:sub>
                              </m:sSub>
                            </m:e>
                          </m:d>
                          <m:r>
                            <a:rPr lang="zh-CN" altLang="en-US" i="1">
                              <a:solidFill>
                                <a:srgbClr val="000000"/>
                              </a:solidFill>
                              <a:latin typeface="Cambria Math" panose="02040503050406030204" pitchFamily="18" charset="0"/>
                            </a:rPr>
                            <m:t>&gt;</m:t>
                          </m:r>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d>
                            </m:e>
                          </m:nary>
                        </m:oMath>
                      </m:oMathPara>
                    </a14:m>
                    <a:endParaRPr lang="zh-CN" altLang="en-US" dirty="0"/>
                  </a:p>
                </p:txBody>
              </p:sp>
            </mc:Choice>
            <mc:Fallback>
              <p:sp>
                <p:nvSpPr>
                  <p:cNvPr id="34840" name="Object 15"/>
                  <p:cNvSpPr txBox="1">
                    <a:spLocks noRot="1" noChangeAspect="1" noMove="1" noResize="1" noEditPoints="1" noAdjustHandles="1" noChangeArrowheads="1" noChangeShapeType="1" noTextEdit="1"/>
                  </p:cNvSpPr>
                  <p:nvPr/>
                </p:nvSpPr>
                <p:spPr bwMode="auto">
                  <a:xfrm>
                    <a:off x="2371" y="2386"/>
                    <a:ext cx="1242" cy="589"/>
                  </a:xfrm>
                  <a:prstGeom prst="rect">
                    <a:avLst/>
                  </a:prstGeom>
                  <a:blipFill>
                    <a:blip r:embed="rId4"/>
                    <a:stretch>
                      <a:fillRect/>
                    </a:stretch>
                  </a:blipFill>
                  <a:ln>
                    <a:noFill/>
                  </a:ln>
                  <a:extLst/>
                </p:spPr>
                <p:txBody>
                  <a:bodyPr/>
                  <a:lstStyle/>
                  <a:p>
                    <a:r>
                      <a:rPr lang="zh-CN" altLang="en-US">
                        <a:noFill/>
                      </a:rPr>
                      <a:t> </a:t>
                    </a:r>
                  </a:p>
                </p:txBody>
              </p:sp>
            </mc:Fallback>
          </mc:AlternateContent>
        </p:grpSp>
      </p:grpSp>
      <p:grpSp>
        <p:nvGrpSpPr>
          <p:cNvPr id="5" name="Group 16"/>
          <p:cNvGrpSpPr>
            <a:grpSpLocks/>
          </p:cNvGrpSpPr>
          <p:nvPr/>
        </p:nvGrpSpPr>
        <p:grpSpPr bwMode="auto">
          <a:xfrm>
            <a:off x="1919288" y="3429003"/>
            <a:ext cx="6850062" cy="533401"/>
            <a:chOff x="341" y="2304"/>
            <a:chExt cx="4315" cy="336"/>
          </a:xfrm>
        </p:grpSpPr>
        <p:sp>
          <p:nvSpPr>
            <p:cNvPr id="34835" name="Rectangle 17"/>
            <p:cNvSpPr>
              <a:spLocks noChangeArrowheads="1"/>
            </p:cNvSpPr>
            <p:nvPr/>
          </p:nvSpPr>
          <p:spPr bwMode="auto">
            <a:xfrm>
              <a:off x="341" y="2304"/>
              <a:ext cx="43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latin typeface="宋体" panose="02010600030101010101" pitchFamily="2" charset="-122"/>
                </a:rPr>
                <a:t>（</a:t>
              </a:r>
              <a:r>
                <a:rPr lang="en-US" altLang="zh-CN" sz="2400" dirty="0">
                  <a:cs typeface="Times New Roman" panose="02020603050405020304" pitchFamily="18" charset="0"/>
                </a:rPr>
                <a:t>II</a:t>
              </a:r>
              <a:r>
                <a:rPr lang="zh-CN" altLang="en-US" sz="2400" dirty="0">
                  <a:latin typeface="宋体" panose="02010600030101010101" pitchFamily="2" charset="-122"/>
                </a:rPr>
                <a:t>）设</a:t>
              </a:r>
              <a:r>
                <a:rPr lang="zh-CN" altLang="en-US" sz="2400" dirty="0">
                  <a:solidFill>
                    <a:srgbClr val="002060"/>
                  </a:solidFill>
                  <a:latin typeface="宋体" panose="02010600030101010101" pitchFamily="2" charset="-122"/>
                </a:rPr>
                <a:t>系数矩阵</a:t>
              </a:r>
              <a:r>
                <a:rPr lang="zh-CN" altLang="en-US" sz="2400" dirty="0">
                  <a:latin typeface="宋体" panose="02010600030101010101" pitchFamily="2" charset="-122"/>
                </a:rPr>
                <a:t>   </a:t>
              </a:r>
              <a:r>
                <a:rPr lang="zh-CN" altLang="en-US" sz="2400" dirty="0"/>
                <a:t>                </a:t>
              </a:r>
              <a:r>
                <a:rPr lang="zh-CN" altLang="en-US" sz="2400" dirty="0">
                  <a:solidFill>
                    <a:srgbClr val="002060"/>
                  </a:solidFill>
                  <a:latin typeface="宋体" panose="02010600030101010101" pitchFamily="2" charset="-122"/>
                </a:rPr>
                <a:t>严格对角占优</a:t>
              </a:r>
              <a:r>
                <a:rPr lang="zh-CN" altLang="en-US" sz="2400" dirty="0">
                  <a:latin typeface="宋体" panose="02010600030101010101" pitchFamily="2" charset="-122"/>
                </a:rPr>
                <a:t>，</a:t>
              </a:r>
            </a:p>
          </p:txBody>
        </p:sp>
        <mc:AlternateContent xmlns:mc="http://schemas.openxmlformats.org/markup-compatibility/2006">
          <mc:Choice xmlns:a14="http://schemas.microsoft.com/office/drawing/2010/main" Requires="a14">
            <p:sp>
              <p:nvSpPr>
                <p:cNvPr id="34836" name="Object 18"/>
                <p:cNvSpPr txBox="1"/>
                <p:nvPr/>
              </p:nvSpPr>
              <p:spPr bwMode="auto">
                <a:xfrm>
                  <a:off x="1863" y="2304"/>
                  <a:ext cx="1031" cy="336"/>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m:t>
                            </m:r>
                          </m:e>
                          <m:sub>
                            <m:r>
                              <a:rPr lang="zh-CN" altLang="en-US" i="1">
                                <a:solidFill>
                                  <a:srgbClr val="000000"/>
                                </a:solidFill>
                                <a:latin typeface="Cambria Math" panose="02040503050406030204" pitchFamily="18" charset="0"/>
                              </a:rPr>
                              <m:t>𝑛</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sub>
                        </m:sSub>
                      </m:oMath>
                    </m:oMathPara>
                  </a14:m>
                  <a:endParaRPr lang="zh-CN" altLang="en-US" dirty="0"/>
                </a:p>
              </p:txBody>
            </p:sp>
          </mc:Choice>
          <mc:Fallback>
            <p:sp>
              <p:nvSpPr>
                <p:cNvPr id="34836" name="Object 18"/>
                <p:cNvSpPr txBox="1">
                  <a:spLocks noRot="1" noChangeAspect="1" noMove="1" noResize="1" noEditPoints="1" noAdjustHandles="1" noChangeArrowheads="1" noChangeShapeType="1" noTextEdit="1"/>
                </p:cNvSpPr>
                <p:nvPr/>
              </p:nvSpPr>
              <p:spPr bwMode="auto">
                <a:xfrm>
                  <a:off x="1863" y="2304"/>
                  <a:ext cx="1031" cy="336"/>
                </a:xfrm>
                <a:prstGeom prst="rect">
                  <a:avLst/>
                </a:prstGeom>
                <a:blipFill>
                  <a:blip r:embed="rId5"/>
                  <a:stretch>
                    <a:fillRect/>
                  </a:stretch>
                </a:blipFill>
                <a:ln>
                  <a:noFill/>
                </a:ln>
                <a:extLst/>
              </p:spPr>
              <p:txBody>
                <a:bodyPr/>
                <a:lstStyle/>
                <a:p>
                  <a:r>
                    <a:rPr lang="zh-CN" altLang="en-US">
                      <a:noFill/>
                    </a:rPr>
                    <a:t> </a:t>
                  </a:r>
                </a:p>
              </p:txBody>
            </p:sp>
          </mc:Fallback>
        </mc:AlternateContent>
      </p:grpSp>
      <p:sp>
        <p:nvSpPr>
          <p:cNvPr id="39" name="Rectangle 19"/>
          <p:cNvSpPr>
            <a:spLocks noChangeArrowheads="1"/>
          </p:cNvSpPr>
          <p:nvPr/>
        </p:nvSpPr>
        <p:spPr bwMode="auto">
          <a:xfrm>
            <a:off x="2135188" y="4941888"/>
            <a:ext cx="492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宋体" panose="02010600030101010101" pitchFamily="2" charset="-122"/>
              </a:rPr>
              <a:t>或</a:t>
            </a:r>
          </a:p>
        </p:txBody>
      </p:sp>
      <p:grpSp>
        <p:nvGrpSpPr>
          <p:cNvPr id="6" name="Group 20"/>
          <p:cNvGrpSpPr>
            <a:grpSpLocks/>
          </p:cNvGrpSpPr>
          <p:nvPr/>
        </p:nvGrpSpPr>
        <p:grpSpPr bwMode="auto">
          <a:xfrm>
            <a:off x="2135188" y="5919788"/>
            <a:ext cx="6202362" cy="461962"/>
            <a:chOff x="204" y="3838"/>
            <a:chExt cx="3907" cy="291"/>
          </a:xfrm>
        </p:grpSpPr>
        <p:sp>
          <p:nvSpPr>
            <p:cNvPr id="34833" name="Rectangle 21"/>
            <p:cNvSpPr>
              <a:spLocks noChangeArrowheads="1"/>
            </p:cNvSpPr>
            <p:nvPr/>
          </p:nvSpPr>
          <p:spPr bwMode="auto">
            <a:xfrm>
              <a:off x="204" y="3838"/>
              <a:ext cx="390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latin typeface="宋体" panose="02010600030101010101" pitchFamily="2" charset="-122"/>
                </a:rPr>
                <a:t>则</a:t>
              </a:r>
              <a:r>
                <a:rPr lang="en-US" altLang="zh-CN" sz="2400">
                  <a:cs typeface="Times New Roman" panose="02020603050405020304" pitchFamily="18" charset="0"/>
                </a:rPr>
                <a:t>Jacobi</a:t>
              </a:r>
              <a:r>
                <a:rPr lang="zh-CN" altLang="en-US" sz="2400">
                  <a:latin typeface="宋体" panose="02010600030101010101" pitchFamily="2" charset="-122"/>
                </a:rPr>
                <a:t>迭代法关于任意初始向量    收敛。</a:t>
              </a:r>
            </a:p>
          </p:txBody>
        </p:sp>
        <mc:AlternateContent xmlns:mc="http://schemas.openxmlformats.org/markup-compatibility/2006">
          <mc:Choice xmlns:a14="http://schemas.microsoft.com/office/drawing/2010/main" Requires="a14">
            <p:sp>
              <p:nvSpPr>
                <p:cNvPr id="34834" name="Object 22"/>
                <p:cNvSpPr txBox="1"/>
                <p:nvPr/>
              </p:nvSpPr>
              <p:spPr bwMode="auto">
                <a:xfrm>
                  <a:off x="3115" y="3853"/>
                  <a:ext cx="306" cy="257"/>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a:p>
              </p:txBody>
            </p:sp>
          </mc:Choice>
          <mc:Fallback>
            <p:sp>
              <p:nvSpPr>
                <p:cNvPr id="34834" name="Object 22"/>
                <p:cNvSpPr txBox="1">
                  <a:spLocks noRot="1" noChangeAspect="1" noMove="1" noResize="1" noEditPoints="1" noAdjustHandles="1" noChangeArrowheads="1" noChangeShapeType="1" noTextEdit="1"/>
                </p:cNvSpPr>
                <p:nvPr/>
              </p:nvSpPr>
              <p:spPr bwMode="auto">
                <a:xfrm>
                  <a:off x="3115" y="3853"/>
                  <a:ext cx="306" cy="257"/>
                </a:xfrm>
                <a:prstGeom prst="rect">
                  <a:avLst/>
                </a:prstGeom>
                <a:blipFill>
                  <a:blip r:embed="rId6"/>
                  <a:stretch>
                    <a:fillRect r="-16250"/>
                  </a:stretch>
                </a:blipFill>
                <a:ln>
                  <a:noFill/>
                </a:ln>
                <a:extLst/>
              </p:spPr>
              <p:txBody>
                <a:bodyPr/>
                <a:lstStyle/>
                <a:p>
                  <a:r>
                    <a:rPr lang="zh-CN" altLang="en-US">
                      <a:noFill/>
                    </a:rPr>
                    <a:t> </a:t>
                  </a:r>
                </a:p>
              </p:txBody>
            </p:sp>
          </mc:Fallback>
        </mc:AlternateContent>
      </p:grpSp>
      <p:grpSp>
        <p:nvGrpSpPr>
          <p:cNvPr id="7" name="组合 27"/>
          <p:cNvGrpSpPr>
            <a:grpSpLocks/>
          </p:cNvGrpSpPr>
          <p:nvPr/>
        </p:nvGrpSpPr>
        <p:grpSpPr bwMode="auto">
          <a:xfrm>
            <a:off x="1919288" y="2206625"/>
            <a:ext cx="8496300" cy="1101034"/>
            <a:chOff x="395288" y="2206625"/>
            <a:chExt cx="8496300" cy="1101034"/>
          </a:xfrm>
        </p:grpSpPr>
        <p:sp>
          <p:nvSpPr>
            <p:cNvPr id="34829" name="Rectangle 7"/>
            <p:cNvSpPr>
              <a:spLocks noChangeArrowheads="1"/>
            </p:cNvSpPr>
            <p:nvPr/>
          </p:nvSpPr>
          <p:spPr bwMode="auto">
            <a:xfrm>
              <a:off x="538163" y="2206625"/>
              <a:ext cx="32496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dirty="0">
                  <a:latin typeface="楷体_GB2312" pitchFamily="49" charset="-122"/>
                  <a:ea typeface="楷体_GB2312" pitchFamily="49" charset="-122"/>
                  <a:cs typeface="Times New Roman" panose="02020603050405020304" pitchFamily="18" charset="0"/>
                </a:rPr>
                <a:t> B. </a:t>
              </a:r>
              <a:r>
                <a:rPr lang="zh-CN" altLang="en-US" sz="2400" dirty="0">
                  <a:solidFill>
                    <a:srgbClr val="7030A0"/>
                  </a:solidFill>
                  <a:ea typeface="楷体_GB2312" pitchFamily="49" charset="-122"/>
                  <a:cs typeface="Times New Roman" panose="02020603050405020304" pitchFamily="18" charset="0"/>
                </a:rPr>
                <a:t>充分条件</a:t>
              </a:r>
              <a:r>
                <a:rPr lang="en-US" altLang="zh-CN" sz="2400" dirty="0">
                  <a:latin typeface="宋体" panose="02010600030101010101" pitchFamily="2" charset="-122"/>
                  <a:ea typeface="楷体_GB2312" pitchFamily="49" charset="-122"/>
                  <a:cs typeface="Times New Roman" panose="02020603050405020304" pitchFamily="18" charset="0"/>
                </a:rPr>
                <a:t>(</a:t>
              </a:r>
              <a:r>
                <a:rPr lang="zh-CN" altLang="en-US" sz="2400" dirty="0">
                  <a:latin typeface="宋体" panose="02010600030101010101" pitchFamily="2" charset="-122"/>
                  <a:ea typeface="楷体_GB2312" pitchFamily="49" charset="-122"/>
                  <a:cs typeface="Times New Roman" panose="02020603050405020304" pitchFamily="18" charset="0"/>
                </a:rPr>
                <a:t>定理</a:t>
              </a:r>
              <a:r>
                <a:rPr lang="en-US" altLang="zh-CN" sz="2400" dirty="0">
                  <a:latin typeface="宋体" panose="02010600030101010101" pitchFamily="2" charset="-122"/>
                  <a:ea typeface="楷体_GB2312" pitchFamily="49" charset="-122"/>
                  <a:cs typeface="Times New Roman" panose="02020603050405020304" pitchFamily="18" charset="0"/>
                </a:rPr>
                <a:t>4)</a:t>
              </a:r>
              <a:r>
                <a:rPr lang="zh-CN" altLang="en-US" sz="2400" dirty="0">
                  <a:ea typeface="楷体_GB2312" pitchFamily="49" charset="-122"/>
                  <a:cs typeface="Times New Roman" panose="02020603050405020304" pitchFamily="18" charset="0"/>
                </a:rPr>
                <a:t>：</a:t>
              </a:r>
            </a:p>
          </p:txBody>
        </p:sp>
        <p:sp>
          <p:nvSpPr>
            <p:cNvPr id="34830" name="Rectangle 24"/>
            <p:cNvSpPr>
              <a:spLocks noChangeArrowheads="1"/>
            </p:cNvSpPr>
            <p:nvPr/>
          </p:nvSpPr>
          <p:spPr bwMode="auto">
            <a:xfrm>
              <a:off x="395288" y="2638425"/>
              <a:ext cx="8496300" cy="576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1295400" algn="l"/>
                </a:tabLst>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tabLst>
                  <a:tab pos="1295400"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12954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1295400" algn="l"/>
                </a:tabLst>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FontTx/>
                <a:buNone/>
              </a:pPr>
              <a:r>
                <a:rPr lang="zh-CN" altLang="en-US" sz="2400">
                  <a:cs typeface="Times New Roman" panose="02020603050405020304" pitchFamily="18" charset="0"/>
                </a:rPr>
                <a:t>（</a:t>
              </a:r>
              <a:r>
                <a:rPr lang="en-US" altLang="zh-CN" sz="2400">
                  <a:cs typeface="Times New Roman" panose="02020603050405020304" pitchFamily="18" charset="0"/>
                </a:rPr>
                <a:t>I</a:t>
              </a:r>
              <a:r>
                <a:rPr lang="zh-CN" altLang="en-US" sz="2400">
                  <a:cs typeface="Times New Roman" panose="02020603050405020304" pitchFamily="18" charset="0"/>
                </a:rPr>
                <a:t>）</a:t>
              </a:r>
              <a:r>
                <a:rPr lang="zh-CN" altLang="en-US" sz="2400">
                  <a:solidFill>
                    <a:srgbClr val="002060"/>
                  </a:solidFill>
                  <a:latin typeface="宋体" panose="02010600030101010101" pitchFamily="2" charset="-122"/>
                </a:rPr>
                <a:t>若       ，</a:t>
              </a:r>
              <a:r>
                <a:rPr lang="zh-CN" altLang="en-US" sz="2400">
                  <a:latin typeface="宋体" panose="02010600030101010101" pitchFamily="2" charset="-122"/>
                </a:rPr>
                <a:t>则</a:t>
              </a:r>
              <a:r>
                <a:rPr lang="en-US" altLang="zh-CN" sz="2400"/>
                <a:t>Jacobi</a:t>
              </a:r>
              <a:r>
                <a:rPr lang="zh-CN" altLang="en-US" sz="2400">
                  <a:latin typeface="宋体" panose="02010600030101010101" pitchFamily="2" charset="-122"/>
                </a:rPr>
                <a:t>方法关于任意初始向量   都收敛。</a:t>
              </a:r>
              <a:endParaRPr lang="zh-CN" altLang="en-US" sz="2400"/>
            </a:p>
          </p:txBody>
        </p:sp>
        <mc:AlternateContent xmlns:mc="http://schemas.openxmlformats.org/markup-compatibility/2006">
          <mc:Choice xmlns:a14="http://schemas.microsoft.com/office/drawing/2010/main" Requires="a14">
            <p:sp>
              <p:nvSpPr>
                <p:cNvPr id="34831" name="Object 25"/>
                <p:cNvSpPr txBox="1"/>
                <p:nvPr/>
              </p:nvSpPr>
              <p:spPr bwMode="auto">
                <a:xfrm>
                  <a:off x="1403648" y="2779681"/>
                  <a:ext cx="1255291" cy="527978"/>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𝐽</m:t>
                                </m:r>
                              </m:sub>
                            </m:sSub>
                          </m:e>
                        </m:d>
                        <m:r>
                          <a:rPr lang="zh-CN" altLang="en-US" i="1">
                            <a:solidFill>
                              <a:srgbClr val="000000"/>
                            </a:solidFill>
                            <a:latin typeface="Cambria Math" panose="02040503050406030204" pitchFamily="18" charset="0"/>
                          </a:rPr>
                          <m:t>&lt;1</m:t>
                        </m:r>
                      </m:oMath>
                    </m:oMathPara>
                  </a14:m>
                  <a:endParaRPr lang="zh-CN" altLang="en-US" dirty="0"/>
                </a:p>
              </p:txBody>
            </p:sp>
          </mc:Choice>
          <mc:Fallback>
            <p:sp>
              <p:nvSpPr>
                <p:cNvPr id="34831" name="Object 25"/>
                <p:cNvSpPr txBox="1">
                  <a:spLocks noRot="1" noChangeAspect="1" noMove="1" noResize="1" noEditPoints="1" noAdjustHandles="1" noChangeArrowheads="1" noChangeShapeType="1" noTextEdit="1"/>
                </p:cNvSpPr>
                <p:nvPr/>
              </p:nvSpPr>
              <p:spPr bwMode="auto">
                <a:xfrm>
                  <a:off x="1403648" y="2779681"/>
                  <a:ext cx="1255291" cy="527978"/>
                </a:xfrm>
                <a:prstGeom prst="rect">
                  <a:avLst/>
                </a:prstGeom>
                <a:blipFill>
                  <a:blip r:embed="rId7"/>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32" name="Object 26"/>
                <p:cNvSpPr txBox="1"/>
                <p:nvPr/>
              </p:nvSpPr>
              <p:spPr bwMode="auto">
                <a:xfrm>
                  <a:off x="6939756" y="2788132"/>
                  <a:ext cx="611187" cy="424973"/>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dirty="0"/>
                </a:p>
              </p:txBody>
            </p:sp>
          </mc:Choice>
          <mc:Fallback>
            <p:sp>
              <p:nvSpPr>
                <p:cNvPr id="34832" name="Object 26"/>
                <p:cNvSpPr txBox="1">
                  <a:spLocks noRot="1" noChangeAspect="1" noMove="1" noResize="1" noEditPoints="1" noAdjustHandles="1" noChangeArrowheads="1" noChangeShapeType="1" noTextEdit="1"/>
                </p:cNvSpPr>
                <p:nvPr/>
              </p:nvSpPr>
              <p:spPr bwMode="auto">
                <a:xfrm>
                  <a:off x="6939756" y="2788132"/>
                  <a:ext cx="611187" cy="424973"/>
                </a:xfrm>
                <a:prstGeom prst="rect">
                  <a:avLst/>
                </a:prstGeom>
                <a:blipFill>
                  <a:blip r:embed="rId8"/>
                  <a:stretch>
                    <a:fillRect/>
                  </a:stretch>
                </a:blipFill>
                <a:ln>
                  <a:noFill/>
                </a:ln>
                <a:extLst/>
              </p:spPr>
              <p:txBody>
                <a:bodyPr/>
                <a:lstStyle/>
                <a:p>
                  <a:r>
                    <a:rPr lang="zh-CN" altLang="en-US">
                      <a:noFill/>
                    </a:rPr>
                    <a:t> </a:t>
                  </a:r>
                </a:p>
              </p:txBody>
            </p:sp>
          </mc:Fallback>
        </mc:AlternateContent>
      </p:grpSp>
      <p:sp>
        <p:nvSpPr>
          <p:cNvPr id="47" name="Rectangle 27"/>
          <p:cNvSpPr>
            <a:spLocks noChangeArrowheads="1"/>
          </p:cNvSpPr>
          <p:nvPr/>
        </p:nvSpPr>
        <p:spPr bwMode="auto">
          <a:xfrm>
            <a:off x="2135188" y="4076700"/>
            <a:ext cx="4921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a:latin typeface="Arial" panose="020B0604020202020204" pitchFamily="34" charset="0"/>
              </a:rPr>
              <a:t>即</a:t>
            </a:r>
          </a:p>
        </p:txBody>
      </p:sp>
      <p:sp>
        <p:nvSpPr>
          <p:cNvPr id="34825" name="Rectangle 22"/>
          <p:cNvSpPr>
            <a:spLocks noChangeArrowheads="1"/>
          </p:cNvSpPr>
          <p:nvPr/>
        </p:nvSpPr>
        <p:spPr bwMode="auto">
          <a:xfrm>
            <a:off x="2136775" y="333375"/>
            <a:ext cx="44656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C00000"/>
                </a:solidFill>
                <a:latin typeface="宋体" panose="02010600030101010101" pitchFamily="2" charset="-122"/>
              </a:rPr>
              <a:t>3. </a:t>
            </a:r>
            <a:r>
              <a:rPr lang="en-US" altLang="zh-CN" sz="2400" b="1">
                <a:solidFill>
                  <a:srgbClr val="C00000"/>
                </a:solidFill>
              </a:rPr>
              <a:t>Jacobi</a:t>
            </a:r>
            <a:r>
              <a:rPr lang="zh-CN" altLang="en-US" sz="2400" b="1">
                <a:solidFill>
                  <a:srgbClr val="C00000"/>
                </a:solidFill>
              </a:rPr>
              <a:t>方法的收敛性</a:t>
            </a:r>
            <a:endParaRPr lang="en-US" altLang="zh-CN" sz="2400" b="1">
              <a:solidFill>
                <a:srgbClr val="C00000"/>
              </a:solidFill>
              <a:latin typeface="宋体" panose="02010600030101010101" pitchFamily="2" charset="-122"/>
            </a:endParaRPr>
          </a:p>
        </p:txBody>
      </p:sp>
      <mc:AlternateContent xmlns:mc="http://schemas.openxmlformats.org/markup-compatibility/2006">
        <mc:Choice xmlns:a14="http://schemas.microsoft.com/office/drawing/2010/main" Requires="a14">
          <p:sp>
            <p:nvSpPr>
              <p:cNvPr id="34826" name="Object 4"/>
              <p:cNvSpPr txBox="1"/>
              <p:nvPr/>
            </p:nvSpPr>
            <p:spPr bwMode="auto">
              <a:xfrm>
                <a:off x="9717088" y="935038"/>
                <a:ext cx="555376" cy="405730"/>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(0)</m:t>
                          </m:r>
                        </m:sup>
                      </m:sSup>
                    </m:oMath>
                  </m:oMathPara>
                </a14:m>
                <a:endParaRPr lang="zh-CN" altLang="en-US" dirty="0"/>
              </a:p>
            </p:txBody>
          </p:sp>
        </mc:Choice>
        <mc:Fallback>
          <p:sp>
            <p:nvSpPr>
              <p:cNvPr id="34826" name="Object 4"/>
              <p:cNvSpPr txBox="1">
                <a:spLocks noRot="1" noChangeAspect="1" noMove="1" noResize="1" noEditPoints="1" noAdjustHandles="1" noChangeArrowheads="1" noChangeShapeType="1" noTextEdit="1"/>
              </p:cNvSpPr>
              <p:nvPr/>
            </p:nvSpPr>
            <p:spPr bwMode="auto">
              <a:xfrm>
                <a:off x="9717088" y="935038"/>
                <a:ext cx="555376" cy="405730"/>
              </a:xfrm>
              <a:prstGeom prst="rect">
                <a:avLst/>
              </a:prstGeom>
              <a:blipFill>
                <a:blip r:embed="rId9"/>
                <a:stretch>
                  <a:fillRect r="-2198"/>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27" name="Object 5"/>
              <p:cNvSpPr txBox="1"/>
              <p:nvPr/>
            </p:nvSpPr>
            <p:spPr bwMode="auto">
              <a:xfrm>
                <a:off x="4872038" y="1484313"/>
                <a:ext cx="1223962" cy="457200"/>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𝐽</m:t>
                          </m:r>
                        </m:sub>
                      </m:sSub>
                      <m:r>
                        <a:rPr lang="zh-CN" altLang="en-US" i="1">
                          <a:solidFill>
                            <a:srgbClr val="000000"/>
                          </a:solidFill>
                          <a:latin typeface="Cambria Math" panose="02040503050406030204" pitchFamily="18" charset="0"/>
                        </a:rPr>
                        <m:t>)&lt;1</m:t>
                      </m:r>
                    </m:oMath>
                  </m:oMathPara>
                </a14:m>
                <a:endParaRPr lang="zh-CN" altLang="en-US"/>
              </a:p>
            </p:txBody>
          </p:sp>
        </mc:Choice>
        <mc:Fallback>
          <p:sp>
            <p:nvSpPr>
              <p:cNvPr id="34827" name="Object 5"/>
              <p:cNvSpPr txBox="1">
                <a:spLocks noRot="1" noChangeAspect="1" noMove="1" noResize="1" noEditPoints="1" noAdjustHandles="1" noChangeArrowheads="1" noChangeShapeType="1" noTextEdit="1"/>
              </p:cNvSpPr>
              <p:nvPr/>
            </p:nvSpPr>
            <p:spPr bwMode="auto">
              <a:xfrm>
                <a:off x="4872038" y="1484313"/>
                <a:ext cx="1223962" cy="457200"/>
              </a:xfrm>
              <a:prstGeom prst="rect">
                <a:avLst/>
              </a:prstGeom>
              <a:blipFill>
                <a:blip r:embed="rId10"/>
                <a:stretch>
                  <a:fillRect/>
                </a:stretch>
              </a:blipFill>
              <a:ln>
                <a:noFill/>
              </a:ln>
              <a:extLst/>
            </p:spPr>
            <p:txBody>
              <a:bodyPr/>
              <a:lstStyle/>
              <a:p>
                <a:r>
                  <a:rPr lang="zh-CN" altLang="en-US">
                    <a:noFill/>
                  </a:rPr>
                  <a:t> </a:t>
                </a:r>
              </a:p>
            </p:txBody>
          </p:sp>
        </mc:Fallback>
      </mc:AlternateContent>
      <p:sp>
        <p:nvSpPr>
          <p:cNvPr id="34828" name="Text Box 28"/>
          <p:cNvSpPr txBox="1">
            <a:spLocks noChangeArrowheads="1"/>
          </p:cNvSpPr>
          <p:nvPr/>
        </p:nvSpPr>
        <p:spPr bwMode="auto">
          <a:xfrm>
            <a:off x="1992313" y="836613"/>
            <a:ext cx="784860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FontTx/>
              <a:buNone/>
            </a:pPr>
            <a:r>
              <a:rPr lang="en-US" altLang="zh-CN" sz="2400" dirty="0">
                <a:latin typeface="宋体" panose="02010600030101010101" pitchFamily="2" charset="-122"/>
                <a:cs typeface="Times New Roman" panose="02020603050405020304" pitchFamily="18" charset="0"/>
              </a:rPr>
              <a:t> </a:t>
            </a:r>
            <a:r>
              <a:rPr lang="en-US" altLang="zh-CN" sz="2400" dirty="0">
                <a:latin typeface="楷体_GB2312" pitchFamily="49" charset="-122"/>
                <a:ea typeface="楷体_GB2312" pitchFamily="49" charset="-122"/>
                <a:cs typeface="Times New Roman" panose="02020603050405020304" pitchFamily="18" charset="0"/>
              </a:rPr>
              <a:t>A</a:t>
            </a:r>
            <a:r>
              <a:rPr lang="en-US" altLang="zh-CN" sz="2400" dirty="0">
                <a:latin typeface="宋体" panose="02010600030101010101" pitchFamily="2" charset="-122"/>
                <a:cs typeface="Times New Roman" panose="02020603050405020304" pitchFamily="18" charset="0"/>
              </a:rPr>
              <a:t>.</a:t>
            </a:r>
            <a:r>
              <a:rPr lang="zh-CN" altLang="en-US" sz="2400" b="1" dirty="0">
                <a:solidFill>
                  <a:srgbClr val="7030A0"/>
                </a:solidFill>
                <a:latin typeface="宋体" panose="02010600030101010101" pitchFamily="2" charset="-122"/>
                <a:cs typeface="Times New Roman" panose="02020603050405020304" pitchFamily="18" charset="0"/>
              </a:rPr>
              <a:t>充要条件</a:t>
            </a:r>
            <a:r>
              <a:rPr lang="en-US" altLang="zh-CN" sz="2400" dirty="0">
                <a:latin typeface="宋体" panose="02010600030101010101" pitchFamily="2" charset="-122"/>
                <a:cs typeface="Times New Roman" panose="02020603050405020304" pitchFamily="18" charset="0"/>
              </a:rPr>
              <a:t>(</a:t>
            </a:r>
            <a:r>
              <a:rPr lang="zh-CN" altLang="en-US" sz="2400" dirty="0">
                <a:latin typeface="宋体" panose="02010600030101010101" pitchFamily="2" charset="-122"/>
                <a:cs typeface="Times New Roman" panose="02020603050405020304" pitchFamily="18" charset="0"/>
              </a:rPr>
              <a:t>定理</a:t>
            </a:r>
            <a:r>
              <a:rPr lang="en-US" altLang="zh-CN" sz="2400" dirty="0">
                <a:latin typeface="宋体" panose="02010600030101010101" pitchFamily="2" charset="-122"/>
                <a:cs typeface="Times New Roman" panose="02020603050405020304" pitchFamily="18" charset="0"/>
              </a:rPr>
              <a:t>3)</a:t>
            </a:r>
            <a:r>
              <a:rPr lang="zh-CN" altLang="en-US" sz="2400" dirty="0">
                <a:latin typeface="宋体" panose="02010600030101010101" pitchFamily="2" charset="-122"/>
                <a:cs typeface="Times New Roman" panose="02020603050405020304" pitchFamily="18" charset="0"/>
              </a:rPr>
              <a:t>：</a:t>
            </a:r>
            <a:r>
              <a:rPr lang="en-US" altLang="zh-CN" sz="2400" dirty="0">
                <a:latin typeface="宋体" panose="02010600030101010101" pitchFamily="2" charset="-122"/>
                <a:cs typeface="Times New Roman" panose="02020603050405020304" pitchFamily="18" charset="0"/>
              </a:rPr>
              <a:t>Jacobi</a:t>
            </a:r>
            <a:r>
              <a:rPr lang="zh-CN" altLang="en-US" sz="2400" dirty="0">
                <a:latin typeface="宋体" panose="02010600030101010101" pitchFamily="2" charset="-122"/>
                <a:cs typeface="Times New Roman" panose="02020603050405020304" pitchFamily="18" charset="0"/>
              </a:rPr>
              <a:t>方法关于任意初始向量   都收敛的充要条件是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10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47"/>
                                        </p:tgtEl>
                                        <p:attrNameLst>
                                          <p:attrName>style.visibility</p:attrName>
                                        </p:attrNameLst>
                                      </p:cBhvr>
                                      <p:to>
                                        <p:strVal val="visible"/>
                                      </p:to>
                                    </p:set>
                                    <p:anim calcmode="lin" valueType="num">
                                      <p:cBhvr additive="base">
                                        <p:cTn id="18" dur="500" fill="hold"/>
                                        <p:tgtEl>
                                          <p:spTgt spid="47"/>
                                        </p:tgtEl>
                                        <p:attrNameLst>
                                          <p:attrName>ppt_x</p:attrName>
                                        </p:attrNameLst>
                                      </p:cBhvr>
                                      <p:tavLst>
                                        <p:tav tm="0">
                                          <p:val>
                                            <p:strVal val="0-#ppt_w/2"/>
                                          </p:val>
                                        </p:tav>
                                        <p:tav tm="100000">
                                          <p:val>
                                            <p:strVal val="#ppt_x"/>
                                          </p:val>
                                        </p:tav>
                                      </p:tavLst>
                                    </p:anim>
                                    <p:anim calcmode="lin" valueType="num">
                                      <p:cBhvr additive="base">
                                        <p:cTn id="19" dur="500" fill="hold"/>
                                        <p:tgtEl>
                                          <p:spTgt spid="47"/>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500"/>
                            </p:stCondLst>
                            <p:childTnLst>
                              <p:par>
                                <p:cTn id="21" presetID="2" presetClass="entr" presetSubtype="8" fill="hold" nodeType="after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0-#ppt_w/2"/>
                                          </p:val>
                                        </p:tav>
                                        <p:tav tm="100000">
                                          <p:val>
                                            <p:strVal val="#ppt_x"/>
                                          </p:val>
                                        </p:tav>
                                      </p:tavLst>
                                    </p:anim>
                                    <p:anim calcmode="lin" valueType="num">
                                      <p:cBhvr additive="base">
                                        <p:cTn id="24"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fill="hold"/>
                                        <p:tgtEl>
                                          <p:spTgt spid="39"/>
                                        </p:tgtEl>
                                        <p:attrNameLst>
                                          <p:attrName>ppt_x</p:attrName>
                                        </p:attrNameLst>
                                      </p:cBhvr>
                                      <p:tavLst>
                                        <p:tav tm="0">
                                          <p:val>
                                            <p:strVal val="0-#ppt_w/2"/>
                                          </p:val>
                                        </p:tav>
                                        <p:tav tm="100000">
                                          <p:val>
                                            <p:strVal val="#ppt_x"/>
                                          </p:val>
                                        </p:tav>
                                      </p:tavLst>
                                    </p:anim>
                                    <p:anim calcmode="lin" valueType="num">
                                      <p:cBhvr additive="base">
                                        <p:cTn id="30" dur="500" fill="hold"/>
                                        <p:tgtEl>
                                          <p:spTgt spid="39"/>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500"/>
                            </p:stCondLst>
                            <p:childTnLst>
                              <p:par>
                                <p:cTn id="32" presetID="2" presetClass="entr" presetSubtype="8"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additive="base">
                                        <p:cTn id="34" dur="500" fill="hold"/>
                                        <p:tgtEl>
                                          <p:spTgt spid="2"/>
                                        </p:tgtEl>
                                        <p:attrNameLst>
                                          <p:attrName>ppt_x</p:attrName>
                                        </p:attrNameLst>
                                      </p:cBhvr>
                                      <p:tavLst>
                                        <p:tav tm="0">
                                          <p:val>
                                            <p:strVal val="0-#ppt_w/2"/>
                                          </p:val>
                                        </p:tav>
                                        <p:tav tm="100000">
                                          <p:val>
                                            <p:strVal val="#ppt_x"/>
                                          </p:val>
                                        </p:tav>
                                      </p:tavLst>
                                    </p:anim>
                                    <p:anim calcmode="lin" valueType="num">
                                      <p:cBhvr additive="base">
                                        <p:cTn id="35"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8"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 calcmode="lin" valueType="num">
                                      <p:cBhvr additive="base">
                                        <p:cTn id="40" dur="500" fill="hold"/>
                                        <p:tgtEl>
                                          <p:spTgt spid="6"/>
                                        </p:tgtEl>
                                        <p:attrNameLst>
                                          <p:attrName>ppt_x</p:attrName>
                                        </p:attrNameLst>
                                      </p:cBhvr>
                                      <p:tavLst>
                                        <p:tav tm="0">
                                          <p:val>
                                            <p:strVal val="0-#ppt_w/2"/>
                                          </p:val>
                                        </p:tav>
                                        <p:tav tm="100000">
                                          <p:val>
                                            <p:strVal val="#ppt_x"/>
                                          </p:val>
                                        </p:tav>
                                      </p:tavLst>
                                    </p:anim>
                                    <p:anim calcmode="lin" valueType="num">
                                      <p:cBhvr additive="base">
                                        <p:cTn id="41"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utoUpdateAnimBg="0"/>
      <p:bldP spid="4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2"/>
          <p:cNvSpPr>
            <a:spLocks noChangeArrowheads="1"/>
          </p:cNvSpPr>
          <p:nvPr/>
        </p:nvSpPr>
        <p:spPr bwMode="auto">
          <a:xfrm>
            <a:off x="2279650" y="333375"/>
            <a:ext cx="44656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C00000"/>
                </a:solidFill>
                <a:latin typeface="宋体" panose="02010600030101010101" pitchFamily="2" charset="-122"/>
              </a:rPr>
              <a:t>4. </a:t>
            </a:r>
            <a:r>
              <a:rPr lang="en-US" altLang="zh-CN" sz="2400" b="1">
                <a:solidFill>
                  <a:srgbClr val="C00000"/>
                </a:solidFill>
              </a:rPr>
              <a:t>Seidel</a:t>
            </a:r>
            <a:r>
              <a:rPr lang="zh-CN" altLang="en-US" sz="2400" b="1">
                <a:solidFill>
                  <a:srgbClr val="C00000"/>
                </a:solidFill>
              </a:rPr>
              <a:t>方法的收敛性</a:t>
            </a:r>
            <a:endParaRPr lang="en-US" altLang="zh-CN" sz="2400" b="1">
              <a:solidFill>
                <a:srgbClr val="C00000"/>
              </a:solidFill>
              <a:latin typeface="宋体" panose="02010600030101010101" pitchFamily="2" charset="-122"/>
            </a:endParaRPr>
          </a:p>
        </p:txBody>
      </p:sp>
      <p:sp>
        <p:nvSpPr>
          <p:cNvPr id="6" name="Rectangle 3"/>
          <p:cNvSpPr>
            <a:spLocks noChangeArrowheads="1"/>
          </p:cNvSpPr>
          <p:nvPr/>
        </p:nvSpPr>
        <p:spPr bwMode="auto">
          <a:xfrm>
            <a:off x="2424113" y="995363"/>
            <a:ext cx="1876425" cy="461962"/>
          </a:xfrm>
          <a:prstGeom prst="rect">
            <a:avLst/>
          </a:prstGeom>
          <a:noFill/>
          <a:ln w="9525">
            <a:noFill/>
            <a:miter lim="800000"/>
            <a:headEnd/>
            <a:tailEnd/>
          </a:ln>
        </p:spPr>
        <p:txBody>
          <a:bodyPr wrap="none">
            <a:spAutoFit/>
          </a:bodyPr>
          <a:lstStyle/>
          <a:p>
            <a:pPr eaLnBrk="1" hangingPunct="1">
              <a:defRPr/>
            </a:pPr>
            <a:r>
              <a:rPr lang="zh-CN" altLang="en-US" dirty="0">
                <a:latin typeface="+mn-lt"/>
                <a:ea typeface="+mn-ea"/>
                <a:cs typeface="Times New Roman" pitchFamily="18" charset="0"/>
              </a:rPr>
              <a:t>由</a:t>
            </a:r>
            <a:r>
              <a:rPr lang="en-US" altLang="zh-CN" dirty="0">
                <a:latin typeface="+mn-lt"/>
                <a:ea typeface="+mn-ea"/>
                <a:cs typeface="Times New Roman" pitchFamily="18" charset="0"/>
              </a:rPr>
              <a:t>Seidel</a:t>
            </a:r>
            <a:r>
              <a:rPr lang="zh-CN" altLang="en-US" dirty="0">
                <a:latin typeface="+mn-lt"/>
                <a:ea typeface="+mn-ea"/>
                <a:cs typeface="Times New Roman" pitchFamily="18" charset="0"/>
              </a:rPr>
              <a:t>迭代</a:t>
            </a:r>
          </a:p>
        </p:txBody>
      </p:sp>
      <p:sp>
        <p:nvSpPr>
          <p:cNvPr id="9" name="Text Box 7"/>
          <p:cNvSpPr txBox="1">
            <a:spLocks noChangeArrowheads="1"/>
          </p:cNvSpPr>
          <p:nvPr/>
        </p:nvSpPr>
        <p:spPr bwMode="auto">
          <a:xfrm>
            <a:off x="2495550" y="5253038"/>
            <a:ext cx="74882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kumimoji="0" lang="en-US" altLang="zh-CN" sz="2400">
                <a:latin typeface="楷体_GB2312" pitchFamily="49" charset="-122"/>
                <a:ea typeface="楷体_GB2312" pitchFamily="49" charset="-122"/>
              </a:rPr>
              <a:t>    </a:t>
            </a:r>
            <a:r>
              <a:rPr lang="en-US" altLang="zh-CN" sz="2400">
                <a:cs typeface="Times New Roman" panose="02020603050405020304" pitchFamily="18" charset="0"/>
              </a:rPr>
              <a:t>Seidel</a:t>
            </a:r>
            <a:r>
              <a:rPr lang="zh-CN" altLang="en-US" sz="2400">
                <a:cs typeface="Times New Roman" panose="02020603050405020304" pitchFamily="18" charset="0"/>
              </a:rPr>
              <a:t>迭代法的收敛条件可利用简单迭代法的定理</a:t>
            </a:r>
            <a:r>
              <a:rPr lang="en-US" altLang="zh-CN" sz="2400">
                <a:cs typeface="Times New Roman" panose="02020603050405020304" pitchFamily="18" charset="0"/>
              </a:rPr>
              <a:t>3</a:t>
            </a:r>
            <a:r>
              <a:rPr lang="zh-CN" altLang="en-US" sz="2400">
                <a:cs typeface="Times New Roman" panose="02020603050405020304" pitchFamily="18" charset="0"/>
              </a:rPr>
              <a:t>与定理</a:t>
            </a:r>
            <a:r>
              <a:rPr lang="en-US" altLang="zh-CN" sz="2400">
                <a:cs typeface="Times New Roman" panose="02020603050405020304" pitchFamily="18" charset="0"/>
              </a:rPr>
              <a:t>4</a:t>
            </a:r>
            <a:r>
              <a:rPr lang="zh-CN" altLang="en-US" sz="2400">
                <a:cs typeface="Times New Roman" panose="02020603050405020304" pitchFamily="18" charset="0"/>
              </a:rPr>
              <a:t>得到。</a:t>
            </a:r>
          </a:p>
        </p:txBody>
      </p:sp>
      <mc:AlternateContent xmlns:mc="http://schemas.openxmlformats.org/markup-compatibility/2006">
        <mc:Choice xmlns:a14="http://schemas.microsoft.com/office/drawing/2010/main" Requires="a14">
          <p:sp>
            <p:nvSpPr>
              <p:cNvPr id="25" name="Object 12"/>
              <p:cNvSpPr txBox="1"/>
              <p:nvPr/>
            </p:nvSpPr>
            <p:spPr bwMode="auto">
              <a:xfrm>
                <a:off x="4079875" y="1508125"/>
                <a:ext cx="4221163" cy="584200"/>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𝐷</m:t>
                          </m:r>
                        </m:e>
                        <m:sup>
                          <m:r>
                            <a:rPr lang="zh-CN" altLang="en-US" i="1">
                              <a:solidFill>
                                <a:srgbClr val="000000"/>
                              </a:solidFill>
                              <a:latin typeface="Cambria Math" panose="02040503050406030204" pitchFamily="18" charset="0"/>
                            </a:rPr>
                            <m:t>−1</m:t>
                          </m:r>
                        </m:sup>
                      </m:sSup>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𝑈</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e>
                      </m:d>
                    </m:oMath>
                  </m:oMathPara>
                </a14:m>
                <a:endParaRPr lang="zh-CN" altLang="en-US"/>
              </a:p>
            </p:txBody>
          </p:sp>
        </mc:Choice>
        <mc:Fallback>
          <p:sp>
            <p:nvSpPr>
              <p:cNvPr id="25" name="Object 12"/>
              <p:cNvSpPr txBox="1">
                <a:spLocks noRot="1" noChangeAspect="1" noMove="1" noResize="1" noEditPoints="1" noAdjustHandles="1" noChangeArrowheads="1" noChangeShapeType="1" noTextEdit="1"/>
              </p:cNvSpPr>
              <p:nvPr/>
            </p:nvSpPr>
            <p:spPr bwMode="auto">
              <a:xfrm>
                <a:off x="4079875" y="1508125"/>
                <a:ext cx="4221163" cy="584200"/>
              </a:xfrm>
              <a:prstGeom prst="rect">
                <a:avLst/>
              </a:prstGeom>
              <a:blipFill>
                <a:blip r:embed="rId3"/>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90183" name="Object 7"/>
              <p:cNvSpPr txBox="1"/>
              <p:nvPr/>
            </p:nvSpPr>
            <p:spPr bwMode="auto">
              <a:xfrm>
                <a:off x="3973513" y="2417763"/>
                <a:ext cx="4786312" cy="492125"/>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𝑈</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𝑏</m:t>
                      </m:r>
                    </m:oMath>
                  </m:oMathPara>
                </a14:m>
                <a:endParaRPr lang="zh-CN" altLang="en-US"/>
              </a:p>
            </p:txBody>
          </p:sp>
        </mc:Choice>
        <mc:Fallback>
          <p:sp>
            <p:nvSpPr>
              <p:cNvPr id="690183" name="Object 7"/>
              <p:cNvSpPr txBox="1">
                <a:spLocks noRot="1" noChangeAspect="1" noMove="1" noResize="1" noEditPoints="1" noAdjustHandles="1" noChangeArrowheads="1" noChangeShapeType="1" noTextEdit="1"/>
              </p:cNvSpPr>
              <p:nvPr/>
            </p:nvSpPr>
            <p:spPr bwMode="auto">
              <a:xfrm>
                <a:off x="3973513" y="2417763"/>
                <a:ext cx="4786312" cy="492125"/>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 name="Object 14"/>
              <p:cNvSpPr txBox="1"/>
              <p:nvPr/>
            </p:nvSpPr>
            <p:spPr bwMode="auto">
              <a:xfrm>
                <a:off x="3506788" y="3367088"/>
                <a:ext cx="4924425" cy="519112"/>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𝐺𝑆</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𝑈</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𝐺𝑆</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𝐷</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𝐿</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𝑏</m:t>
                      </m:r>
                    </m:oMath>
                  </m:oMathPara>
                </a14:m>
                <a:endParaRPr lang="zh-CN" altLang="en-US"/>
              </a:p>
            </p:txBody>
          </p:sp>
        </mc:Choice>
        <mc:Fallback>
          <p:sp>
            <p:nvSpPr>
              <p:cNvPr id="27" name="Object 14"/>
              <p:cNvSpPr txBox="1">
                <a:spLocks noRot="1" noChangeAspect="1" noMove="1" noResize="1" noEditPoints="1" noAdjustHandles="1" noChangeArrowheads="1" noChangeShapeType="1" noTextEdit="1"/>
              </p:cNvSpPr>
              <p:nvPr/>
            </p:nvSpPr>
            <p:spPr bwMode="auto">
              <a:xfrm>
                <a:off x="3506788" y="3367088"/>
                <a:ext cx="4924425" cy="519112"/>
              </a:xfrm>
              <a:prstGeom prst="rect">
                <a:avLst/>
              </a:prstGeom>
              <a:blipFill>
                <a:blip r:embed="rId5"/>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Object 15"/>
              <p:cNvSpPr txBox="1"/>
              <p:nvPr/>
            </p:nvSpPr>
            <p:spPr bwMode="auto">
              <a:xfrm>
                <a:off x="4943475" y="4605338"/>
                <a:ext cx="2935288" cy="557212"/>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𝐵</m:t>
                          </m:r>
                        </m:e>
                        <m:sub>
                          <m:r>
                            <a:rPr lang="zh-CN" altLang="en-US" i="1">
                              <a:solidFill>
                                <a:srgbClr val="000000"/>
                              </a:solidFill>
                              <a:latin typeface="Cambria Math" panose="02040503050406030204" pitchFamily="18" charset="0"/>
                            </a:rPr>
                            <m:t>𝐺𝑆</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𝑘</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𝑔</m:t>
                          </m:r>
                        </m:e>
                        <m:sub>
                          <m:r>
                            <a:rPr lang="zh-CN" altLang="en-US" i="1">
                              <a:solidFill>
                                <a:srgbClr val="000000"/>
                              </a:solidFill>
                              <a:latin typeface="Cambria Math" panose="02040503050406030204" pitchFamily="18" charset="0"/>
                            </a:rPr>
                            <m:t>𝐺𝑆</m:t>
                          </m:r>
                        </m:sub>
                      </m:sSub>
                    </m:oMath>
                  </m:oMathPara>
                </a14:m>
                <a:endParaRPr lang="zh-CN" altLang="en-US"/>
              </a:p>
            </p:txBody>
          </p:sp>
        </mc:Choice>
        <mc:Fallback>
          <p:sp>
            <p:nvSpPr>
              <p:cNvPr id="28" name="Object 15"/>
              <p:cNvSpPr txBox="1">
                <a:spLocks noRot="1" noChangeAspect="1" noMove="1" noResize="1" noEditPoints="1" noAdjustHandles="1" noChangeArrowheads="1" noChangeShapeType="1" noTextEdit="1"/>
              </p:cNvSpPr>
              <p:nvPr/>
            </p:nvSpPr>
            <p:spPr bwMode="auto">
              <a:xfrm>
                <a:off x="4943475" y="4605338"/>
                <a:ext cx="2935288" cy="557212"/>
              </a:xfrm>
              <a:prstGeom prst="rect">
                <a:avLst/>
              </a:prstGeom>
              <a:blipFill>
                <a:blip r:embed="rId6"/>
                <a:stretch>
                  <a:fillRect/>
                </a:stretch>
              </a:blipFill>
              <a:ln>
                <a:noFill/>
              </a:ln>
              <a:extLst/>
            </p:spPr>
            <p:txBody>
              <a:bodyPr/>
              <a:lstStyle/>
              <a:p>
                <a:r>
                  <a:rPr lang="zh-CN" altLang="en-US">
                    <a:noFill/>
                  </a:rPr>
                  <a:t> </a:t>
                </a:r>
              </a:p>
            </p:txBody>
          </p:sp>
        </mc:Fallback>
      </mc:AlternateContent>
      <p:sp>
        <p:nvSpPr>
          <p:cNvPr id="10" name="Rectangle 3"/>
          <p:cNvSpPr>
            <a:spLocks noChangeArrowheads="1"/>
          </p:cNvSpPr>
          <p:nvPr/>
        </p:nvSpPr>
        <p:spPr bwMode="auto">
          <a:xfrm>
            <a:off x="2424113" y="2133600"/>
            <a:ext cx="800100" cy="460375"/>
          </a:xfrm>
          <a:prstGeom prst="rect">
            <a:avLst/>
          </a:prstGeom>
          <a:noFill/>
          <a:ln w="9525">
            <a:noFill/>
            <a:miter lim="800000"/>
            <a:headEnd/>
            <a:tailEnd/>
          </a:ln>
        </p:spPr>
        <p:txBody>
          <a:bodyPr wrap="none">
            <a:spAutoFit/>
          </a:bodyPr>
          <a:lstStyle/>
          <a:p>
            <a:pPr eaLnBrk="1" hangingPunct="1">
              <a:defRPr/>
            </a:pPr>
            <a:r>
              <a:rPr lang="zh-CN" altLang="en-US" dirty="0">
                <a:latin typeface="+mn-lt"/>
                <a:ea typeface="+mn-ea"/>
                <a:cs typeface="Times New Roman" pitchFamily="18" charset="0"/>
              </a:rPr>
              <a:t>可得</a:t>
            </a:r>
          </a:p>
        </p:txBody>
      </p:sp>
      <p:sp>
        <p:nvSpPr>
          <p:cNvPr id="11" name="Rectangle 3"/>
          <p:cNvSpPr>
            <a:spLocks noChangeArrowheads="1"/>
          </p:cNvSpPr>
          <p:nvPr/>
        </p:nvSpPr>
        <p:spPr bwMode="auto">
          <a:xfrm>
            <a:off x="2424113" y="3213100"/>
            <a:ext cx="492125" cy="461963"/>
          </a:xfrm>
          <a:prstGeom prst="rect">
            <a:avLst/>
          </a:prstGeom>
          <a:noFill/>
          <a:ln w="9525">
            <a:noFill/>
            <a:miter lim="800000"/>
            <a:headEnd/>
            <a:tailEnd/>
          </a:ln>
        </p:spPr>
        <p:txBody>
          <a:bodyPr wrap="none">
            <a:spAutoFit/>
          </a:bodyPr>
          <a:lstStyle/>
          <a:p>
            <a:pPr eaLnBrk="1" hangingPunct="1">
              <a:defRPr/>
            </a:pPr>
            <a:r>
              <a:rPr lang="zh-CN" altLang="en-US" dirty="0">
                <a:latin typeface="+mn-lt"/>
                <a:ea typeface="+mn-ea"/>
                <a:cs typeface="Times New Roman" pitchFamily="18" charset="0"/>
              </a:rPr>
              <a:t>令</a:t>
            </a:r>
          </a:p>
        </p:txBody>
      </p:sp>
      <p:sp>
        <p:nvSpPr>
          <p:cNvPr id="12" name="Rectangle 3"/>
          <p:cNvSpPr>
            <a:spLocks noChangeArrowheads="1"/>
          </p:cNvSpPr>
          <p:nvPr/>
        </p:nvSpPr>
        <p:spPr bwMode="auto">
          <a:xfrm>
            <a:off x="2208213" y="4005263"/>
            <a:ext cx="2646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en-US" altLang="zh-CN" sz="800">
              <a:latin typeface="楷体_GB2312" pitchFamily="49" charset="-122"/>
              <a:ea typeface="楷体_GB2312" pitchFamily="49" charset="-122"/>
              <a:cs typeface="Times New Roman" panose="02020603050405020304" pitchFamily="18" charset="0"/>
            </a:endParaRPr>
          </a:p>
          <a:p>
            <a:pPr eaLnBrk="1" hangingPunct="1">
              <a:spcBef>
                <a:spcPct val="0"/>
              </a:spcBef>
              <a:buFontTx/>
              <a:buNone/>
            </a:pPr>
            <a:r>
              <a:rPr lang="zh-CN" altLang="en-US" sz="2400">
                <a:ea typeface="楷体_GB2312" pitchFamily="49" charset="-122"/>
                <a:cs typeface="Times New Roman" panose="02020603050405020304" pitchFamily="18" charset="0"/>
              </a:rPr>
              <a:t>得到简单迭代形式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0-#ppt_w/2"/>
                                          </p:val>
                                        </p:tav>
                                        <p:tav tm="100000">
                                          <p:val>
                                            <p:strVal val="#ppt_x"/>
                                          </p:val>
                                        </p:tav>
                                      </p:tavLst>
                                    </p:anim>
                                    <p:anim calcmode="lin" valueType="num">
                                      <p:cBhvr additive="base">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0-#ppt_w/2"/>
                                          </p:val>
                                        </p:tav>
                                        <p:tav tm="100000">
                                          <p:val>
                                            <p:strVal val="#ppt_x"/>
                                          </p:val>
                                        </p:tav>
                                      </p:tavLst>
                                    </p:anim>
                                    <p:anim calcmode="lin" valueType="num">
                                      <p:cBhvr additive="base">
                                        <p:cTn id="26"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9" grpId="0" autoUpdateAnimBg="0"/>
      <p:bldP spid="10" grpId="0" autoUpdateAnimBg="0"/>
      <p:bldP spid="11" grpId="0" autoUpdateAnimBg="0"/>
      <p:bldP spid="1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1919536" y="329254"/>
            <a:ext cx="51054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dirty="0">
                <a:latin typeface="+mn-ea"/>
                <a:ea typeface="+mn-ea"/>
              </a:rPr>
              <a:t>例   已知线性方程组 </a:t>
            </a:r>
          </a:p>
        </p:txBody>
      </p:sp>
      <p:sp>
        <p:nvSpPr>
          <p:cNvPr id="6" name="Rectangle 3"/>
          <p:cNvSpPr>
            <a:spLocks noChangeArrowheads="1"/>
          </p:cNvSpPr>
          <p:nvPr/>
        </p:nvSpPr>
        <p:spPr bwMode="auto">
          <a:xfrm>
            <a:off x="3862388" y="3071813"/>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ea"/>
              <a:ea typeface="+mn-ea"/>
            </a:endParaRPr>
          </a:p>
        </p:txBody>
      </p:sp>
      <mc:AlternateContent xmlns:mc="http://schemas.openxmlformats.org/markup-compatibility/2006">
        <mc:Choice xmlns:a14="http://schemas.microsoft.com/office/drawing/2010/main" Requires="a14">
          <p:sp>
            <p:nvSpPr>
              <p:cNvPr id="7" name="Object 4"/>
              <p:cNvSpPr txBox="1"/>
              <p:nvPr/>
            </p:nvSpPr>
            <p:spPr bwMode="auto">
              <a:xfrm>
                <a:off x="3594100" y="635000"/>
                <a:ext cx="3914775" cy="178752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8</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=20</m:t>
                                </m:r>
                              </m:e>
                            </m:mr>
                            <m:mr>
                              <m:e>
                                <m:r>
                                  <a:rPr lang="zh-CN" altLang="en-US" i="1">
                                    <a:solidFill>
                                      <a:srgbClr val="000000"/>
                                    </a:solidFill>
                                    <a:latin typeface="Cambria Math" panose="02040503050406030204" pitchFamily="18" charset="0"/>
                                  </a:rPr>
                                  <m:t>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=33</m:t>
                                </m:r>
                              </m:e>
                            </m:mr>
                            <m:mr>
                              <m:e>
                                <m:r>
                                  <a:rPr lang="zh-CN" altLang="en-US" i="1">
                                    <a:solidFill>
                                      <a:srgbClr val="000000"/>
                                    </a:solidFill>
                                    <a:latin typeface="Cambria Math" panose="02040503050406030204" pitchFamily="18" charset="0"/>
                                  </a:rPr>
                                  <m:t>6</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=66</m:t>
                                </m:r>
                              </m:e>
                            </m:mr>
                          </m:m>
                        </m:e>
                      </m:d>
                    </m:oMath>
                  </m:oMathPara>
                </a14:m>
                <a:endParaRPr lang="zh-CN" altLang="en-US"/>
              </a:p>
            </p:txBody>
          </p:sp>
        </mc:Choice>
        <mc:Fallback>
          <p:sp>
            <p:nvSpPr>
              <p:cNvPr id="7" name="Object 4"/>
              <p:cNvSpPr txBox="1">
                <a:spLocks noRot="1" noChangeAspect="1" noMove="1" noResize="1" noEditPoints="1" noAdjustHandles="1" noChangeArrowheads="1" noChangeShapeType="1" noTextEdit="1"/>
              </p:cNvSpPr>
              <p:nvPr/>
            </p:nvSpPr>
            <p:spPr bwMode="auto">
              <a:xfrm>
                <a:off x="3594100" y="635000"/>
                <a:ext cx="3914775" cy="178752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8" name="Text Box 5"/>
          <p:cNvSpPr txBox="1">
            <a:spLocks noChangeArrowheads="1"/>
          </p:cNvSpPr>
          <p:nvPr/>
        </p:nvSpPr>
        <p:spPr bwMode="auto">
          <a:xfrm>
            <a:off x="1481138" y="2337521"/>
            <a:ext cx="10022904" cy="906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115000"/>
              </a:lnSpc>
              <a:spcBef>
                <a:spcPct val="5000"/>
              </a:spcBef>
              <a:buClr>
                <a:srgbClr val="27305F"/>
              </a:buClr>
            </a:pPr>
            <a:r>
              <a:rPr lang="zh-CN" altLang="en-US" dirty="0">
                <a:latin typeface="+mn-ea"/>
                <a:ea typeface="+mn-ea"/>
              </a:rPr>
              <a:t>     考察用Jacobi</a:t>
            </a:r>
            <a:r>
              <a:rPr lang="en-US" altLang="zh-CN" dirty="0">
                <a:latin typeface="+mn-ea"/>
                <a:ea typeface="+mn-ea"/>
              </a:rPr>
              <a:t>an</a:t>
            </a:r>
            <a:r>
              <a:rPr lang="zh-CN" altLang="en-US" dirty="0">
                <a:latin typeface="+mn-ea"/>
                <a:ea typeface="+mn-ea"/>
              </a:rPr>
              <a:t>迭代和G-S迭代求解时的收敛性</a:t>
            </a:r>
          </a:p>
          <a:p>
            <a:pPr>
              <a:lnSpc>
                <a:spcPct val="115000"/>
              </a:lnSpc>
              <a:spcBef>
                <a:spcPct val="5000"/>
              </a:spcBef>
              <a:buClr>
                <a:srgbClr val="27305F"/>
              </a:buClr>
            </a:pPr>
            <a:r>
              <a:rPr lang="zh-CN" altLang="en-US" dirty="0">
                <a:latin typeface="+mn-ea"/>
                <a:ea typeface="+mn-ea"/>
              </a:rPr>
              <a:t>解: ⑴  雅可比迭代矩阵  </a:t>
            </a:r>
          </a:p>
        </p:txBody>
      </p:sp>
      <p:sp>
        <p:nvSpPr>
          <p:cNvPr id="9" name="Rectangle 6"/>
          <p:cNvSpPr>
            <a:spLocks noChangeArrowheads="1"/>
          </p:cNvSpPr>
          <p:nvPr/>
        </p:nvSpPr>
        <p:spPr bwMode="auto">
          <a:xfrm>
            <a:off x="2671763" y="279558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ea"/>
              <a:ea typeface="+mn-ea"/>
            </a:endParaRPr>
          </a:p>
        </p:txBody>
      </p:sp>
      <p:graphicFrame>
        <p:nvGraphicFramePr>
          <p:cNvPr id="10" name="Object 7"/>
          <p:cNvGraphicFramePr>
            <a:graphicFrameLocks noChangeAspect="1"/>
          </p:cNvGraphicFramePr>
          <p:nvPr>
            <p:extLst>
              <p:ext uri="{D42A27DB-BD31-4B8C-83A1-F6EECF244321}">
                <p14:modId xmlns:p14="http://schemas.microsoft.com/office/powerpoint/2010/main" val="1561440734"/>
              </p:ext>
            </p:extLst>
          </p:nvPr>
        </p:nvGraphicFramePr>
        <p:xfrm>
          <a:off x="2207568" y="3400128"/>
          <a:ext cx="7875588" cy="2427288"/>
        </p:xfrm>
        <a:graphic>
          <a:graphicData uri="http://schemas.openxmlformats.org/presentationml/2006/ole">
            <mc:AlternateContent xmlns:mc="http://schemas.openxmlformats.org/markup-compatibility/2006">
              <mc:Choice xmlns:v="urn:schemas-microsoft-com:vml" Requires="v">
                <p:oleObj spid="_x0000_s56498" r:id="rId4" imgW="3924617" imgH="1371917" progId="">
                  <p:embed/>
                </p:oleObj>
              </mc:Choice>
              <mc:Fallback>
                <p:oleObj r:id="rId4" imgW="3924617" imgH="1371917" progId="">
                  <p:embed/>
                  <p:pic>
                    <p:nvPicPr>
                      <p:cNvPr id="3072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7568" y="3400128"/>
                        <a:ext cx="7875588" cy="2427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ectangle 8"/>
          <p:cNvSpPr>
            <a:spLocks noChangeArrowheads="1"/>
          </p:cNvSpPr>
          <p:nvPr/>
        </p:nvSpPr>
        <p:spPr bwMode="auto">
          <a:xfrm>
            <a:off x="3581400" y="3214688"/>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latin typeface="+mn-ea"/>
              <a:ea typeface="+mn-ea"/>
            </a:endParaRPr>
          </a:p>
        </p:txBody>
      </p:sp>
      <p:graphicFrame>
        <p:nvGraphicFramePr>
          <p:cNvPr id="12" name="Object 9"/>
          <p:cNvGraphicFramePr>
            <a:graphicFrameLocks noChangeAspect="1"/>
          </p:cNvGraphicFramePr>
          <p:nvPr>
            <p:extLst>
              <p:ext uri="{D42A27DB-BD31-4B8C-83A1-F6EECF244321}">
                <p14:modId xmlns:p14="http://schemas.microsoft.com/office/powerpoint/2010/main" val="531807648"/>
              </p:ext>
            </p:extLst>
          </p:nvPr>
        </p:nvGraphicFramePr>
        <p:xfrm>
          <a:off x="1484520" y="6003304"/>
          <a:ext cx="4114800" cy="741363"/>
        </p:xfrm>
        <a:graphic>
          <a:graphicData uri="http://schemas.openxmlformats.org/presentationml/2006/ole">
            <mc:AlternateContent xmlns:mc="http://schemas.openxmlformats.org/markup-compatibility/2006">
              <mc:Choice xmlns:v="urn:schemas-microsoft-com:vml" Requires="v">
                <p:oleObj spid="_x0000_s56499" r:id="rId6" imgW="1981517" imgH="432117" progId="">
                  <p:embed/>
                </p:oleObj>
              </mc:Choice>
              <mc:Fallback>
                <p:oleObj r:id="rId6" imgW="1981517" imgH="432117" progId="">
                  <p:embed/>
                  <p:pic>
                    <p:nvPicPr>
                      <p:cNvPr id="30729"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84520" y="6003304"/>
                        <a:ext cx="41148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Text Box 10"/>
          <p:cNvSpPr txBox="1">
            <a:spLocks noChangeArrowheads="1"/>
          </p:cNvSpPr>
          <p:nvPr/>
        </p:nvSpPr>
        <p:spPr bwMode="auto">
          <a:xfrm>
            <a:off x="6888088" y="6157291"/>
            <a:ext cx="34290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dirty="0">
                <a:latin typeface="+mn-ea"/>
                <a:ea typeface="+mn-ea"/>
              </a:rPr>
              <a:t>故Jacobi</a:t>
            </a:r>
            <a:r>
              <a:rPr lang="en-US" altLang="zh-CN" dirty="0">
                <a:latin typeface="+mn-ea"/>
                <a:ea typeface="+mn-ea"/>
              </a:rPr>
              <a:t>an</a:t>
            </a:r>
            <a:r>
              <a:rPr lang="zh-CN" altLang="en-US" dirty="0">
                <a:latin typeface="+mn-ea"/>
                <a:ea typeface="+mn-ea"/>
              </a:rPr>
              <a:t>迭代收敛</a:t>
            </a:r>
            <a:r>
              <a:rPr lang="zh-CN" altLang="en-US" sz="1800" dirty="0">
                <a:latin typeface="+mn-ea"/>
                <a:ea typeface="+mn-ea"/>
              </a:rPr>
              <a:t> </a:t>
            </a:r>
          </a:p>
        </p:txBody>
      </p:sp>
      <p:sp>
        <p:nvSpPr>
          <p:cNvPr id="2" name="文本框 1"/>
          <p:cNvSpPr txBox="1"/>
          <p:nvPr/>
        </p:nvSpPr>
        <p:spPr>
          <a:xfrm>
            <a:off x="8141363" y="856982"/>
            <a:ext cx="3445717" cy="1200329"/>
          </a:xfrm>
          <a:prstGeom prst="rect">
            <a:avLst/>
          </a:prstGeom>
          <a:solidFill>
            <a:srgbClr val="FFFF00"/>
          </a:solidFill>
        </p:spPr>
        <p:txBody>
          <a:bodyPr wrap="square" rtlCol="0">
            <a:spAutoFit/>
          </a:bodyPr>
          <a:lstStyle/>
          <a:p>
            <a:r>
              <a:rPr lang="zh-CN" altLang="en-US" dirty="0"/>
              <a:t>系数矩阵严格对角占优，所以用</a:t>
            </a:r>
            <a:r>
              <a:rPr lang="en-US" altLang="zh-CN" dirty="0"/>
              <a:t>Jacobian</a:t>
            </a:r>
            <a:r>
              <a:rPr lang="zh-CN" altLang="en-US" dirty="0"/>
              <a:t>迭代法和</a:t>
            </a:r>
            <a:r>
              <a:rPr lang="en-US" altLang="zh-CN" dirty="0"/>
              <a:t>GS</a:t>
            </a:r>
            <a:r>
              <a:rPr lang="zh-CN" altLang="en-US" dirty="0"/>
              <a:t>迭代法都收收敛</a:t>
            </a:r>
          </a:p>
        </p:txBody>
      </p:sp>
    </p:spTree>
    <p:extLst>
      <p:ext uri="{BB962C8B-B14F-4D97-AF65-F5344CB8AC3E}">
        <p14:creationId xmlns:p14="http://schemas.microsoft.com/office/powerpoint/2010/main" val="241152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304800" y="228600"/>
            <a:ext cx="7772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sz="3200" b="1">
                <a:latin typeface="宋体" panose="02010600030101010101" pitchFamily="2" charset="-122"/>
                <a:ea typeface="黑体" panose="02010609060101010101" pitchFamily="49" charset="-122"/>
              </a:rPr>
              <a:t>⑵</a:t>
            </a:r>
            <a:r>
              <a:rPr lang="zh-CN" altLang="en-US" sz="3200" b="1">
                <a:ea typeface="黑体" panose="02010609060101010101" pitchFamily="49" charset="-122"/>
              </a:rPr>
              <a:t> </a:t>
            </a:r>
            <a:r>
              <a:rPr lang="zh-CN" altLang="en-US" sz="3200" b="1">
                <a:latin typeface="宋体" panose="02010600030101010101" pitchFamily="2" charset="-122"/>
                <a:ea typeface="黑体" panose="02010609060101010101" pitchFamily="49" charset="-122"/>
              </a:rPr>
              <a:t>将系数矩阵分解</a:t>
            </a:r>
            <a:r>
              <a:rPr lang="zh-CN" altLang="en-US" sz="3200" b="1">
                <a:ea typeface="黑体" panose="02010609060101010101" pitchFamily="49" charset="-122"/>
              </a:rPr>
              <a:t> </a:t>
            </a:r>
          </a:p>
        </p:txBody>
      </p:sp>
      <p:sp>
        <p:nvSpPr>
          <p:cNvPr id="5" name="Rectangle 3"/>
          <p:cNvSpPr>
            <a:spLocks noChangeArrowheads="1"/>
          </p:cNvSpPr>
          <p:nvPr/>
        </p:nvSpPr>
        <p:spPr bwMode="auto">
          <a:xfrm>
            <a:off x="2914650" y="30718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6" name="Object 4"/>
          <p:cNvGraphicFramePr>
            <a:graphicFrameLocks noChangeAspect="1"/>
          </p:cNvGraphicFramePr>
          <p:nvPr/>
        </p:nvGraphicFramePr>
        <p:xfrm>
          <a:off x="287338" y="744538"/>
          <a:ext cx="8415337" cy="1617662"/>
        </p:xfrm>
        <a:graphic>
          <a:graphicData uri="http://schemas.openxmlformats.org/presentationml/2006/ole">
            <mc:AlternateContent xmlns:mc="http://schemas.openxmlformats.org/markup-compatibility/2006">
              <mc:Choice xmlns:v="urn:schemas-microsoft-com:vml" Requires="v">
                <p:oleObj spid="_x0000_s57610" r:id="rId3" imgW="3516691" imgH="711208" progId="">
                  <p:embed/>
                </p:oleObj>
              </mc:Choice>
              <mc:Fallback>
                <p:oleObj r:id="rId3" imgW="3516691" imgH="711208" progId="">
                  <p:embed/>
                  <p:pic>
                    <p:nvPicPr>
                      <p:cNvPr id="317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38" y="744538"/>
                        <a:ext cx="8415337" cy="161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 Box 5"/>
          <p:cNvSpPr txBox="1">
            <a:spLocks noChangeArrowheads="1"/>
          </p:cNvSpPr>
          <p:nvPr/>
        </p:nvSpPr>
        <p:spPr bwMode="auto">
          <a:xfrm>
            <a:off x="680548" y="2449033"/>
            <a:ext cx="5257800"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dirty="0">
                <a:latin typeface="+mn-ea"/>
                <a:ea typeface="+mn-ea"/>
              </a:rPr>
              <a:t>则高斯-塞德尔迭代矩阵</a:t>
            </a:r>
            <a:r>
              <a:rPr lang="zh-CN" altLang="en-US" sz="2800" dirty="0">
                <a:latin typeface="+mn-ea"/>
                <a:ea typeface="+mn-ea"/>
              </a:rPr>
              <a:t> </a:t>
            </a:r>
          </a:p>
        </p:txBody>
      </p:sp>
      <p:sp>
        <p:nvSpPr>
          <p:cNvPr id="8" name="Rectangle 6"/>
          <p:cNvSpPr>
            <a:spLocks noChangeArrowheads="1"/>
          </p:cNvSpPr>
          <p:nvPr/>
        </p:nvSpPr>
        <p:spPr bwMode="auto">
          <a:xfrm>
            <a:off x="3100388"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 name="Object 7"/>
          <p:cNvGraphicFramePr>
            <a:graphicFrameLocks noChangeAspect="1"/>
          </p:cNvGraphicFramePr>
          <p:nvPr/>
        </p:nvGraphicFramePr>
        <p:xfrm>
          <a:off x="328613" y="2895600"/>
          <a:ext cx="7804150" cy="1538288"/>
        </p:xfrm>
        <a:graphic>
          <a:graphicData uri="http://schemas.openxmlformats.org/presentationml/2006/ole">
            <mc:AlternateContent xmlns:mc="http://schemas.openxmlformats.org/markup-compatibility/2006">
              <mc:Choice xmlns:v="urn:schemas-microsoft-com:vml" Requires="v">
                <p:oleObj spid="_x0000_s57611" r:id="rId5" imgW="3048317" imgH="736917" progId="">
                  <p:embed/>
                </p:oleObj>
              </mc:Choice>
              <mc:Fallback>
                <p:oleObj r:id="rId5" imgW="3048317" imgH="736917" progId="">
                  <p:embed/>
                  <p:pic>
                    <p:nvPicPr>
                      <p:cNvPr id="31751"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613" y="2895600"/>
                        <a:ext cx="7804150"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8"/>
          <p:cNvSpPr>
            <a:spLocks noChangeArrowheads="1"/>
          </p:cNvSpPr>
          <p:nvPr/>
        </p:nvSpPr>
        <p:spPr bwMode="auto">
          <a:xfrm>
            <a:off x="2738438" y="2857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1" name="Object 9"/>
          <p:cNvGraphicFramePr>
            <a:graphicFrameLocks noChangeAspect="1"/>
          </p:cNvGraphicFramePr>
          <p:nvPr/>
        </p:nvGraphicFramePr>
        <p:xfrm>
          <a:off x="660400" y="4483100"/>
          <a:ext cx="7518400" cy="2200275"/>
        </p:xfrm>
        <a:graphic>
          <a:graphicData uri="http://schemas.openxmlformats.org/presentationml/2006/ole">
            <mc:AlternateContent xmlns:mc="http://schemas.openxmlformats.org/markup-compatibility/2006">
              <mc:Choice xmlns:v="urn:schemas-microsoft-com:vml" Requires="v">
                <p:oleObj spid="_x0000_s57612" r:id="rId7" imgW="3772217" imgH="1244917" progId="">
                  <p:embed/>
                </p:oleObj>
              </mc:Choice>
              <mc:Fallback>
                <p:oleObj r:id="rId7" imgW="3772217" imgH="1244917" progId="">
                  <p:embed/>
                  <p:pic>
                    <p:nvPicPr>
                      <p:cNvPr id="3175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0400" y="4483100"/>
                        <a:ext cx="751840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1"/>
          <p:cNvSpPr>
            <a:spLocks noChangeArrowheads="1"/>
          </p:cNvSpPr>
          <p:nvPr/>
        </p:nvSpPr>
        <p:spPr bwMode="auto">
          <a:xfrm>
            <a:off x="3529013"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16" name="组合 15"/>
          <p:cNvGrpSpPr/>
          <p:nvPr/>
        </p:nvGrpSpPr>
        <p:grpSpPr>
          <a:xfrm>
            <a:off x="1172" y="-457992"/>
            <a:ext cx="9144000" cy="2895600"/>
            <a:chOff x="0" y="-403225"/>
            <a:chExt cx="9144000" cy="2895600"/>
          </a:xfrm>
        </p:grpSpPr>
        <p:sp>
          <p:nvSpPr>
            <p:cNvPr id="12" name="Rectangle 10"/>
            <p:cNvSpPr>
              <a:spLocks noChangeArrowheads="1"/>
            </p:cNvSpPr>
            <p:nvPr/>
          </p:nvSpPr>
          <p:spPr bwMode="auto">
            <a:xfrm>
              <a:off x="0" y="-403225"/>
              <a:ext cx="9144000" cy="2895600"/>
            </a:xfrm>
            <a:prstGeom prst="rect">
              <a:avLst/>
            </a:prstGeom>
            <a:solidFill>
              <a:srgbClr val="FFFFFF"/>
            </a:solidFill>
            <a:ln w="9525" cmpd="sng">
              <a:solidFill>
                <a:schemeClr val="bg1"/>
              </a:solidFill>
              <a:miter lim="800000"/>
              <a:headEnd/>
              <a:tailEnd/>
            </a:ln>
          </p:spPr>
          <p:txBody>
            <a:bodyPr wrap="none" anchor="ct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latin typeface="+mn-ea"/>
                <a:ea typeface="+mn-ea"/>
              </a:endParaRPr>
            </a:p>
          </p:txBody>
        </p:sp>
        <p:graphicFrame>
          <p:nvGraphicFramePr>
            <p:cNvPr id="14" name="Object 12"/>
            <p:cNvGraphicFramePr>
              <a:graphicFrameLocks noChangeAspect="1"/>
            </p:cNvGraphicFramePr>
            <p:nvPr>
              <p:extLst>
                <p:ext uri="{D42A27DB-BD31-4B8C-83A1-F6EECF244321}">
                  <p14:modId xmlns:p14="http://schemas.microsoft.com/office/powerpoint/2010/main" val="3664646642"/>
                </p:ext>
              </p:extLst>
            </p:nvPr>
          </p:nvGraphicFramePr>
          <p:xfrm>
            <a:off x="914400" y="533400"/>
            <a:ext cx="5638800" cy="900113"/>
          </p:xfrm>
          <a:graphic>
            <a:graphicData uri="http://schemas.openxmlformats.org/presentationml/2006/ole">
              <mc:AlternateContent xmlns:mc="http://schemas.openxmlformats.org/markup-compatibility/2006">
                <mc:Choice xmlns:v="urn:schemas-microsoft-com:vml" Requires="v">
                  <p:oleObj spid="_x0000_s57613" r:id="rId9" imgW="2083117" imgH="432117" progId="">
                    <p:embed/>
                  </p:oleObj>
                </mc:Choice>
                <mc:Fallback>
                  <p:oleObj r:id="rId9" imgW="2083117" imgH="432117" progId="">
                    <p:embed/>
                    <p:pic>
                      <p:nvPicPr>
                        <p:cNvPr id="31756"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533400"/>
                          <a:ext cx="563880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Text Box 13"/>
            <p:cNvSpPr txBox="1">
              <a:spLocks noChangeArrowheads="1"/>
            </p:cNvSpPr>
            <p:nvPr/>
          </p:nvSpPr>
          <p:spPr bwMode="auto">
            <a:xfrm>
              <a:off x="762000" y="1752600"/>
              <a:ext cx="78486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dirty="0">
                  <a:latin typeface="+mn-ea"/>
                  <a:ea typeface="+mn-ea"/>
                </a:rPr>
                <a:t>故高斯—塞德尔迭代收敛。 </a:t>
              </a:r>
            </a:p>
          </p:txBody>
        </p:sp>
      </p:grpSp>
      <p:sp>
        <p:nvSpPr>
          <p:cNvPr id="2" name="文本框 1"/>
          <p:cNvSpPr txBox="1"/>
          <p:nvPr/>
        </p:nvSpPr>
        <p:spPr>
          <a:xfrm>
            <a:off x="7032104" y="186537"/>
            <a:ext cx="5026546" cy="2677656"/>
          </a:xfrm>
          <a:prstGeom prst="rect">
            <a:avLst/>
          </a:prstGeom>
          <a:solidFill>
            <a:srgbClr val="FFFF99"/>
          </a:solidFill>
          <a:ln>
            <a:solidFill>
              <a:schemeClr val="accent1"/>
            </a:solidFill>
          </a:ln>
        </p:spPr>
        <p:txBody>
          <a:bodyPr wrap="square" rtlCol="0">
            <a:spAutoFit/>
          </a:bodyPr>
          <a:lstStyle/>
          <a:p>
            <a:r>
              <a:rPr lang="zh-CN" altLang="en-US" dirty="0">
                <a:solidFill>
                  <a:srgbClr val="FF0000"/>
                </a:solidFill>
              </a:rPr>
              <a:t>总结：</a:t>
            </a:r>
            <a:r>
              <a:rPr lang="zh-CN" altLang="en-US" dirty="0"/>
              <a:t>判断</a:t>
            </a:r>
            <a:r>
              <a:rPr lang="en-US" altLang="zh-CN" dirty="0" err="1"/>
              <a:t>Jacobian,GS</a:t>
            </a:r>
            <a:r>
              <a:rPr lang="zh-CN" altLang="en-US" dirty="0"/>
              <a:t>收敛的步骤：</a:t>
            </a:r>
            <a:endParaRPr lang="en-US" altLang="zh-CN" dirty="0"/>
          </a:p>
          <a:p>
            <a:r>
              <a:rPr lang="en-US" altLang="zh-CN" dirty="0"/>
              <a:t>1</a:t>
            </a:r>
            <a:r>
              <a:rPr lang="zh-CN" altLang="en-US" dirty="0"/>
              <a:t>）先判断系数矩阵是否严格对角占优</a:t>
            </a:r>
            <a:endParaRPr lang="en-US" altLang="zh-CN" dirty="0"/>
          </a:p>
          <a:p>
            <a:r>
              <a:rPr lang="en-US" altLang="zh-CN" dirty="0"/>
              <a:t>2</a:t>
            </a:r>
            <a:r>
              <a:rPr lang="zh-CN" altLang="en-US" dirty="0"/>
              <a:t>）若不是，则判定列范数或行范数是否</a:t>
            </a:r>
            <a:r>
              <a:rPr lang="en-US" altLang="zh-CN" dirty="0"/>
              <a:t>&lt;1</a:t>
            </a:r>
          </a:p>
          <a:p>
            <a:r>
              <a:rPr lang="en-US" altLang="zh-CN" dirty="0"/>
              <a:t>3)</a:t>
            </a:r>
            <a:r>
              <a:rPr lang="zh-CN" altLang="en-US" dirty="0"/>
              <a:t>若仍不是，则判定谱半径</a:t>
            </a:r>
          </a:p>
        </p:txBody>
      </p:sp>
    </p:spTree>
    <p:extLst>
      <p:ext uri="{BB962C8B-B14F-4D97-AF65-F5344CB8AC3E}">
        <p14:creationId xmlns:p14="http://schemas.microsoft.com/office/powerpoint/2010/main" val="383357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1631504" y="426823"/>
            <a:ext cx="5105400"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80000"/>
              </a:lnSpc>
              <a:spcBef>
                <a:spcPct val="50000"/>
              </a:spcBef>
              <a:buClr>
                <a:srgbClr val="27305F"/>
              </a:buClr>
            </a:pPr>
            <a:r>
              <a:rPr lang="zh-CN" altLang="en-US" dirty="0">
                <a:latin typeface="+mn-ea"/>
                <a:ea typeface="+mn-ea"/>
              </a:rPr>
              <a:t>例   将下列线性方程组 </a:t>
            </a:r>
          </a:p>
        </p:txBody>
      </p:sp>
      <mc:AlternateContent xmlns:mc="http://schemas.openxmlformats.org/markup-compatibility/2006">
        <mc:Choice xmlns:a14="http://schemas.microsoft.com/office/drawing/2010/main" Requires="a14">
          <p:sp>
            <p:nvSpPr>
              <p:cNvPr id="5" name="Object 4"/>
              <p:cNvSpPr txBox="1"/>
              <p:nvPr/>
            </p:nvSpPr>
            <p:spPr bwMode="auto">
              <a:xfrm>
                <a:off x="4061618" y="951352"/>
                <a:ext cx="4068763" cy="1787525"/>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−33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−22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=0</m:t>
                                </m:r>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=1</m:t>
                                </m:r>
                              </m:e>
                            </m:mr>
                          </m:m>
                        </m:e>
                      </m:d>
                    </m:oMath>
                  </m:oMathPara>
                </a14:m>
                <a:endParaRPr lang="zh-CN" altLang="en-US" dirty="0"/>
              </a:p>
            </p:txBody>
          </p:sp>
        </mc:Choice>
        <mc:Fallback>
          <p:sp>
            <p:nvSpPr>
              <p:cNvPr id="5" name="Object 4"/>
              <p:cNvSpPr txBox="1">
                <a:spLocks noRot="1" noChangeAspect="1" noMove="1" noResize="1" noEditPoints="1" noAdjustHandles="1" noChangeArrowheads="1" noChangeShapeType="1" noTextEdit="1"/>
              </p:cNvSpPr>
              <p:nvPr/>
            </p:nvSpPr>
            <p:spPr bwMode="auto">
              <a:xfrm>
                <a:off x="4061618" y="951352"/>
                <a:ext cx="4068763" cy="178752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6" name="Text Box 5"/>
          <p:cNvSpPr txBox="1">
            <a:spLocks noChangeArrowheads="1"/>
          </p:cNvSpPr>
          <p:nvPr/>
        </p:nvSpPr>
        <p:spPr bwMode="auto">
          <a:xfrm>
            <a:off x="1725452" y="2507467"/>
            <a:ext cx="10022904" cy="462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a:lnSpc>
                <a:spcPct val="115000"/>
              </a:lnSpc>
              <a:spcBef>
                <a:spcPct val="5000"/>
              </a:spcBef>
              <a:buClr>
                <a:srgbClr val="27305F"/>
              </a:buClr>
            </a:pPr>
            <a:r>
              <a:rPr lang="zh-CN" altLang="en-US" dirty="0">
                <a:latin typeface="+mn-ea"/>
                <a:ea typeface="+mn-ea"/>
              </a:rPr>
              <a:t>变换成一定可收敛的方程组形式。</a:t>
            </a:r>
          </a:p>
        </p:txBody>
      </p:sp>
      <p:sp>
        <p:nvSpPr>
          <p:cNvPr id="7" name="文本框 6"/>
          <p:cNvSpPr txBox="1"/>
          <p:nvPr/>
        </p:nvSpPr>
        <p:spPr>
          <a:xfrm>
            <a:off x="1271464" y="3356992"/>
            <a:ext cx="9110186" cy="461665"/>
          </a:xfrm>
          <a:prstGeom prst="rect">
            <a:avLst/>
          </a:prstGeom>
          <a:noFill/>
        </p:spPr>
        <p:txBody>
          <a:bodyPr wrap="none" rtlCol="0">
            <a:spAutoFit/>
          </a:bodyPr>
          <a:lstStyle/>
          <a:p>
            <a:r>
              <a:rPr lang="zh-CN" altLang="en-US" dirty="0"/>
              <a:t>解：因为系数矩阵不严格对角占优，通过初等转换改成如下形式：</a:t>
            </a:r>
          </a:p>
        </p:txBody>
      </p:sp>
      <mc:AlternateContent xmlns:mc="http://schemas.openxmlformats.org/markup-compatibility/2006">
        <mc:Choice xmlns:a14="http://schemas.microsoft.com/office/drawing/2010/main" Requires="a14">
          <p:sp>
            <p:nvSpPr>
              <p:cNvPr id="8" name="Object 4"/>
              <p:cNvSpPr txBox="1"/>
              <p:nvPr/>
            </p:nvSpPr>
            <p:spPr bwMode="auto">
              <a:xfrm>
                <a:off x="3287688" y="4157169"/>
                <a:ext cx="4407011" cy="1936127"/>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−22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=0</m:t>
                                </m:r>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−4</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11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−33</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3</m:t>
                                    </m:r>
                                  </m:sub>
                                </m:sSub>
                                <m:r>
                                  <a:rPr lang="zh-CN" altLang="en-US" i="1">
                                    <a:solidFill>
                                      <a:srgbClr val="000000"/>
                                    </a:solidFill>
                                    <a:latin typeface="Cambria Math" panose="02040503050406030204" pitchFamily="18" charset="0"/>
                                  </a:rPr>
                                  <m:t>=1</m:t>
                                </m:r>
                              </m:e>
                            </m:mr>
                          </m:m>
                        </m:e>
                      </m:d>
                    </m:oMath>
                  </m:oMathPara>
                </a14:m>
                <a:endParaRPr lang="zh-CN" altLang="en-US" dirty="0"/>
              </a:p>
            </p:txBody>
          </p:sp>
        </mc:Choice>
        <mc:Fallback>
          <p:sp>
            <p:nvSpPr>
              <p:cNvPr id="8" name="Object 4"/>
              <p:cNvSpPr txBox="1">
                <a:spLocks noRot="1" noChangeAspect="1" noMove="1" noResize="1" noEditPoints="1" noAdjustHandles="1" noChangeArrowheads="1" noChangeShapeType="1" noTextEdit="1"/>
              </p:cNvSpPr>
              <p:nvPr/>
            </p:nvSpPr>
            <p:spPr bwMode="auto">
              <a:xfrm>
                <a:off x="3287688" y="4157169"/>
                <a:ext cx="4407011" cy="1936127"/>
              </a:xfrm>
              <a:prstGeom prst="rect">
                <a:avLst/>
              </a:prstGeom>
              <a:blipFill>
                <a:blip r:embed="rId3"/>
                <a:stretch>
                  <a:fillRect/>
                </a:stretch>
              </a:blipFill>
              <a:ln>
                <a:noFill/>
              </a:ln>
              <a:extLst/>
            </p:spPr>
            <p:txBody>
              <a:bodyPr/>
              <a:lstStyle/>
              <a:p>
                <a:r>
                  <a:rPr lang="zh-CN" altLang="en-US">
                    <a:noFill/>
                  </a:rPr>
                  <a:t> </a:t>
                </a:r>
              </a:p>
            </p:txBody>
          </p:sp>
        </mc:Fallback>
      </mc:AlternateContent>
    </p:spTree>
    <p:extLst>
      <p:ext uri="{BB962C8B-B14F-4D97-AF65-F5344CB8AC3E}">
        <p14:creationId xmlns:p14="http://schemas.microsoft.com/office/powerpoint/2010/main" val="2410294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内容占位符 2">
                <a:extLst>
                  <a:ext uri="{FF2B5EF4-FFF2-40B4-BE49-F238E27FC236}">
                    <a16:creationId xmlns:a16="http://schemas.microsoft.com/office/drawing/2014/main" id="{E47B30DD-3ABC-4619-9A5F-68BF45539BEC}"/>
                  </a:ext>
                </a:extLst>
              </p:cNvPr>
              <p:cNvSpPr txBox="1">
                <a:spLocks/>
              </p:cNvSpPr>
              <p:nvPr/>
            </p:nvSpPr>
            <p:spPr bwMode="auto">
              <a:xfrm>
                <a:off x="602588" y="831187"/>
                <a:ext cx="10898378" cy="4804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zh-CN" altLang="en-US" sz="2400" kern="0" dirty="0">
                    <a:latin typeface="+mn-ea"/>
                  </a:rPr>
                  <a:t>例</a:t>
                </a:r>
                <a:r>
                  <a:rPr lang="en-US" altLang="zh-CN" sz="2400" kern="0" dirty="0">
                    <a:latin typeface="+mn-ea"/>
                  </a:rPr>
                  <a:t>   </a:t>
                </a:r>
                <a:r>
                  <a:rPr lang="zh-CN" altLang="en-US" sz="2400" kern="0" dirty="0">
                    <a:latin typeface="+mn-ea"/>
                  </a:rPr>
                  <a:t>设矩阵</a:t>
                </a:r>
                <a:r>
                  <a:rPr lang="en-US" altLang="zh-CN" sz="2400" kern="0" dirty="0">
                    <a:latin typeface="+mn-ea"/>
                  </a:rPr>
                  <a:t>A=</a:t>
                </a:r>
                <a14:m>
                  <m:oMath xmlns:m="http://schemas.openxmlformats.org/officeDocument/2006/math">
                    <m:d>
                      <m:dPr>
                        <m:begChr m:val="⌈"/>
                        <m:endChr m:val="⌉"/>
                        <m:ctrlPr>
                          <a:rPr lang="en-US" altLang="zh-CN" sz="2400" i="1" kern="0" smtClean="0">
                            <a:latin typeface="+mn-ea"/>
                          </a:rPr>
                        </m:ctrlPr>
                      </m:dPr>
                      <m:e>
                        <m:m>
                          <m:mPr>
                            <m:mcs>
                              <m:mc>
                                <m:mcPr>
                                  <m:count m:val="3"/>
                                  <m:mcJc m:val="center"/>
                                </m:mcPr>
                              </m:mc>
                            </m:mcs>
                            <m:ctrlPr>
                              <a:rPr lang="en-US" altLang="zh-CN" sz="2400" i="1" kern="0" smtClean="0">
                                <a:latin typeface="+mn-ea"/>
                              </a:rPr>
                            </m:ctrlPr>
                          </m:mPr>
                          <m:mr>
                            <m:e>
                              <m:r>
                                <m:rPr>
                                  <m:brk m:alnAt="7"/>
                                </m:rPr>
                                <a:rPr lang="en-US" altLang="zh-CN" sz="2400" i="1" kern="0" smtClean="0">
                                  <a:latin typeface="+mn-ea"/>
                                </a:rPr>
                                <m:t>1</m:t>
                              </m:r>
                            </m:e>
                            <m:e>
                              <m:r>
                                <m:rPr>
                                  <m:sty m:val="p"/>
                                </m:rPr>
                                <a:rPr lang="en-US" altLang="zh-CN" sz="2400" i="1" kern="0">
                                  <a:latin typeface="+mn-ea"/>
                                </a:rPr>
                                <m:t>a</m:t>
                              </m:r>
                            </m:e>
                            <m:e>
                              <m:r>
                                <a:rPr lang="en-US" altLang="zh-CN" sz="2400" i="1" kern="0" smtClean="0">
                                  <a:latin typeface="+mn-ea"/>
                                </a:rPr>
                                <m:t>𝑎</m:t>
                              </m:r>
                            </m:e>
                          </m:mr>
                          <m:mr>
                            <m:e>
                              <m:r>
                                <a:rPr lang="en-US" altLang="zh-CN" sz="2400" i="1" kern="0" smtClean="0">
                                  <a:latin typeface="+mn-ea"/>
                                </a:rPr>
                                <m:t>𝑎</m:t>
                              </m:r>
                            </m:e>
                            <m:e>
                              <m:r>
                                <a:rPr lang="en-US" altLang="zh-CN" sz="2400" i="1" kern="0" smtClean="0">
                                  <a:latin typeface="+mn-ea"/>
                                </a:rPr>
                                <m:t>1</m:t>
                              </m:r>
                            </m:e>
                            <m:e>
                              <m:r>
                                <a:rPr lang="en-US" altLang="zh-CN" sz="2400" i="1" kern="0" smtClean="0">
                                  <a:latin typeface="+mn-ea"/>
                                </a:rPr>
                                <m:t>𝑎</m:t>
                              </m:r>
                            </m:e>
                          </m:mr>
                          <m:mr>
                            <m:e>
                              <m:r>
                                <a:rPr lang="en-US" altLang="zh-CN" sz="2400" i="1" kern="0" smtClean="0">
                                  <a:latin typeface="+mn-ea"/>
                                </a:rPr>
                                <m:t>𝑎</m:t>
                              </m:r>
                            </m:e>
                            <m:e>
                              <m:r>
                                <a:rPr lang="en-US" altLang="zh-CN" sz="2400" i="1" kern="0" smtClean="0">
                                  <a:latin typeface="+mn-ea"/>
                                </a:rPr>
                                <m:t>𝑎</m:t>
                              </m:r>
                            </m:e>
                            <m:e>
                              <m:r>
                                <a:rPr lang="en-US" altLang="zh-CN" sz="2400" i="1" kern="0" smtClean="0">
                                  <a:latin typeface="+mn-ea"/>
                                </a:rPr>
                                <m:t>1</m:t>
                              </m:r>
                            </m:e>
                          </m:mr>
                        </m:m>
                      </m:e>
                    </m:d>
                  </m:oMath>
                </a14:m>
                <a:r>
                  <a:rPr lang="en-US" altLang="zh-CN" sz="2400" kern="0" dirty="0">
                    <a:latin typeface="+mn-ea"/>
                  </a:rPr>
                  <a:t>,</a:t>
                </a:r>
                <a:r>
                  <a:rPr lang="zh-CN" altLang="en-US" sz="2400" kern="0" dirty="0">
                    <a:latin typeface="+mn-ea"/>
                  </a:rPr>
                  <a:t>向量</a:t>
                </a:r>
                <a:r>
                  <a:rPr lang="en-US" altLang="zh-CN" sz="2400" kern="0" dirty="0">
                    <a:latin typeface="+mn-ea"/>
                  </a:rPr>
                  <a:t>b</a:t>
                </a:r>
                <a14:m>
                  <m:oMath xmlns:m="http://schemas.openxmlformats.org/officeDocument/2006/math">
                    <m:sSup>
                      <m:sSupPr>
                        <m:ctrlPr>
                          <a:rPr lang="en-US" altLang="zh-CN" sz="2400" i="1" kern="0" dirty="0" smtClean="0">
                            <a:latin typeface="+mn-ea"/>
                          </a:rPr>
                        </m:ctrlPr>
                      </m:sSupPr>
                      <m:e>
                        <m:r>
                          <a:rPr lang="en-US" altLang="zh-CN" sz="2400" i="1" kern="0" dirty="0">
                            <a:latin typeface="+mn-ea"/>
                          </a:rPr>
                          <m:t>=(</m:t>
                        </m:r>
                        <m:sSub>
                          <m:sSubPr>
                            <m:ctrlPr>
                              <a:rPr lang="en-US" altLang="zh-CN" sz="2400" i="1" kern="0" dirty="0">
                                <a:latin typeface="+mn-ea"/>
                              </a:rPr>
                            </m:ctrlPr>
                          </m:sSubPr>
                          <m:e>
                            <m:r>
                              <a:rPr lang="en-US" altLang="zh-CN" sz="2400" i="1" kern="0" dirty="0">
                                <a:latin typeface="+mn-ea"/>
                              </a:rPr>
                              <m:t>𝑏</m:t>
                            </m:r>
                          </m:e>
                          <m:sub>
                            <m:r>
                              <a:rPr lang="en-US" altLang="zh-CN" sz="2400" i="1" kern="0" dirty="0">
                                <a:latin typeface="+mn-ea"/>
                              </a:rPr>
                              <m:t>1</m:t>
                            </m:r>
                          </m:sub>
                        </m:sSub>
                        <m:r>
                          <a:rPr lang="en-US" altLang="zh-CN" sz="2400" i="1" kern="0" dirty="0">
                            <a:latin typeface="+mn-ea"/>
                          </a:rPr>
                          <m:t>,</m:t>
                        </m:r>
                        <m:sSub>
                          <m:sSubPr>
                            <m:ctrlPr>
                              <a:rPr lang="en-US" altLang="zh-CN" sz="2400" i="1" kern="0" dirty="0">
                                <a:latin typeface="+mn-ea"/>
                              </a:rPr>
                            </m:ctrlPr>
                          </m:sSubPr>
                          <m:e>
                            <m:r>
                              <a:rPr lang="en-US" altLang="zh-CN" sz="2400" i="1" kern="0" dirty="0">
                                <a:latin typeface="+mn-ea"/>
                              </a:rPr>
                              <m:t>𝑏</m:t>
                            </m:r>
                          </m:e>
                          <m:sub>
                            <m:r>
                              <a:rPr lang="en-US" altLang="zh-CN" sz="2400" i="1" kern="0" dirty="0">
                                <a:latin typeface="+mn-ea"/>
                              </a:rPr>
                              <m:t>2</m:t>
                            </m:r>
                          </m:sub>
                        </m:sSub>
                        <m:r>
                          <a:rPr lang="en-US" altLang="zh-CN" sz="2400" i="1" kern="0" dirty="0">
                            <a:latin typeface="+mn-ea"/>
                          </a:rPr>
                          <m:t>,</m:t>
                        </m:r>
                        <m:sSub>
                          <m:sSubPr>
                            <m:ctrlPr>
                              <a:rPr lang="en-US" altLang="zh-CN" sz="2400" i="1" kern="0" dirty="0">
                                <a:latin typeface="+mn-ea"/>
                              </a:rPr>
                            </m:ctrlPr>
                          </m:sSubPr>
                          <m:e>
                            <m:r>
                              <a:rPr lang="en-US" altLang="zh-CN" sz="2400" i="1" kern="0" dirty="0">
                                <a:latin typeface="+mn-ea"/>
                              </a:rPr>
                              <m:t>𝑏</m:t>
                            </m:r>
                          </m:e>
                          <m:sub>
                            <m:r>
                              <a:rPr lang="en-US" altLang="zh-CN" sz="2400" i="1" kern="0" dirty="0">
                                <a:latin typeface="+mn-ea"/>
                              </a:rPr>
                              <m:t>3</m:t>
                            </m:r>
                          </m:sub>
                        </m:sSub>
                        <m:r>
                          <a:rPr lang="en-US" altLang="zh-CN" sz="2400" i="1" kern="0" dirty="0">
                            <a:latin typeface="+mn-ea"/>
                          </a:rPr>
                          <m:t>)</m:t>
                        </m:r>
                      </m:e>
                      <m:sup>
                        <m:r>
                          <a:rPr lang="en-US" altLang="zh-CN" sz="2400" i="1" kern="0" dirty="0" smtClean="0">
                            <a:latin typeface="+mn-ea"/>
                          </a:rPr>
                          <m:t>𝑇</m:t>
                        </m:r>
                      </m:sup>
                    </m:sSup>
                  </m:oMath>
                </a14:m>
                <a:r>
                  <a:rPr lang="en-US" altLang="zh-CN" sz="2400" kern="0" dirty="0">
                    <a:latin typeface="+mn-ea"/>
                  </a:rPr>
                  <a:t>,</a:t>
                </a:r>
                <a:r>
                  <a:rPr lang="zh-CN" altLang="en-US" sz="2400" kern="0" dirty="0">
                    <a:latin typeface="+mn-ea"/>
                  </a:rPr>
                  <a:t>确定参数</a:t>
                </a:r>
                <a:r>
                  <a:rPr lang="en-US" altLang="zh-CN" sz="2400" kern="0" dirty="0">
                    <a:latin typeface="+mn-ea"/>
                  </a:rPr>
                  <a:t>a</a:t>
                </a:r>
                <a:r>
                  <a:rPr lang="zh-CN" altLang="en-US" sz="2400" kern="0" dirty="0">
                    <a:latin typeface="+mn-ea"/>
                  </a:rPr>
                  <a:t>的取值范围，使求解线性方程组</a:t>
                </a:r>
                <a:r>
                  <a:rPr lang="en-US" altLang="zh-CN" sz="2400" kern="0" dirty="0">
                    <a:latin typeface="+mn-ea"/>
                  </a:rPr>
                  <a:t>Ax=b</a:t>
                </a:r>
                <a:r>
                  <a:rPr lang="zh-CN" altLang="en-US" sz="2400" kern="0" dirty="0">
                    <a:latin typeface="+mn-ea"/>
                  </a:rPr>
                  <a:t>的</a:t>
                </a:r>
                <a:r>
                  <a:rPr lang="en-US" altLang="zh-CN" sz="2400" kern="0" dirty="0">
                    <a:latin typeface="+mn-ea"/>
                  </a:rPr>
                  <a:t>Jacobi</a:t>
                </a:r>
                <a:r>
                  <a:rPr lang="zh-CN" altLang="en-US" sz="2400" kern="0" dirty="0">
                    <a:latin typeface="+mn-ea"/>
                  </a:rPr>
                  <a:t>迭代法收敛。</a:t>
                </a:r>
              </a:p>
            </p:txBody>
          </p:sp>
        </mc:Choice>
        <mc:Fallback>
          <p:sp>
            <p:nvSpPr>
              <p:cNvPr id="4" name="内容占位符 2">
                <a:extLst>
                  <a:ext uri="{FF2B5EF4-FFF2-40B4-BE49-F238E27FC236}">
                    <a16:creationId xmlns:a16="http://schemas.microsoft.com/office/drawing/2014/main" id="{E47B30DD-3ABC-4619-9A5F-68BF45539BEC}"/>
                  </a:ext>
                </a:extLst>
              </p:cNvPr>
              <p:cNvSpPr txBox="1">
                <a:spLocks noRot="1" noChangeAspect="1" noMove="1" noResize="1" noEditPoints="1" noAdjustHandles="1" noChangeArrowheads="1" noChangeShapeType="1" noTextEdit="1"/>
              </p:cNvSpPr>
              <p:nvPr/>
            </p:nvSpPr>
            <p:spPr bwMode="auto">
              <a:xfrm>
                <a:off x="602588" y="831187"/>
                <a:ext cx="10898378" cy="4804682"/>
              </a:xfrm>
              <a:prstGeom prst="rect">
                <a:avLst/>
              </a:prstGeom>
              <a:blipFill>
                <a:blip r:embed="rId2"/>
                <a:stretch>
                  <a:fillRect l="-615" r="-72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271920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2208213" y="333375"/>
            <a:ext cx="44196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685800" algn="l"/>
                <a:tab pos="914400" algn="l"/>
              </a:tabLst>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tabLst>
                <a:tab pos="685800" algn="l"/>
                <a:tab pos="914400" algn="l"/>
              </a:tabLst>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tabLst>
                <a:tab pos="685800" algn="l"/>
                <a:tab pos="914400" algn="l"/>
              </a:tabLst>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tabLst>
                <a:tab pos="685800" algn="l"/>
                <a:tab pos="914400" algn="l"/>
              </a:tabLst>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0"/>
              </a:spcBef>
              <a:buFontTx/>
              <a:buNone/>
            </a:pPr>
            <a:r>
              <a:rPr lang="en-US" altLang="zh-CN" sz="2400" b="1">
                <a:solidFill>
                  <a:srgbClr val="C00000"/>
                </a:solidFill>
                <a:latin typeface="宋体" panose="02010600030101010101" pitchFamily="2" charset="-122"/>
                <a:cs typeface="Times New Roman" panose="02020603050405020304" pitchFamily="18" charset="0"/>
              </a:rPr>
              <a:t>5.</a:t>
            </a:r>
            <a:r>
              <a:rPr lang="en-US" altLang="zh-CN" sz="2400" b="1">
                <a:solidFill>
                  <a:srgbClr val="C00000"/>
                </a:solidFill>
                <a:cs typeface="Times New Roman" panose="02020603050405020304" pitchFamily="18" charset="0"/>
              </a:rPr>
              <a:t>SOR</a:t>
            </a:r>
            <a:r>
              <a:rPr lang="zh-CN" altLang="en-US" sz="2400" b="1">
                <a:solidFill>
                  <a:srgbClr val="C00000"/>
                </a:solidFill>
                <a:latin typeface="宋体" panose="02010600030101010101" pitchFamily="2" charset="-122"/>
                <a:cs typeface="Times New Roman" panose="02020603050405020304" pitchFamily="18" charset="0"/>
              </a:rPr>
              <a:t>方法的收敛性</a:t>
            </a:r>
          </a:p>
        </p:txBody>
      </p:sp>
      <p:sp>
        <p:nvSpPr>
          <p:cNvPr id="3" name="Rectangle 3"/>
          <p:cNvSpPr>
            <a:spLocks noChangeArrowheads="1"/>
          </p:cNvSpPr>
          <p:nvPr/>
        </p:nvSpPr>
        <p:spPr bwMode="auto">
          <a:xfrm>
            <a:off x="1847850" y="3716338"/>
            <a:ext cx="83518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solidFill>
                  <a:schemeClr val="accent6"/>
                </a:solidFill>
                <a:cs typeface="Times New Roman" panose="02020603050405020304" pitchFamily="18" charset="0"/>
              </a:rPr>
              <a:t> </a:t>
            </a:r>
            <a:r>
              <a:rPr lang="zh-CN" altLang="en-US" sz="2400" dirty="0">
                <a:solidFill>
                  <a:schemeClr val="accent6"/>
                </a:solidFill>
                <a:cs typeface="Times New Roman" panose="02020603050405020304" pitchFamily="18" charset="0"/>
              </a:rPr>
              <a:t>（</a:t>
            </a:r>
            <a:r>
              <a:rPr lang="en-US" altLang="zh-CN" sz="2400" dirty="0">
                <a:solidFill>
                  <a:schemeClr val="accent6"/>
                </a:solidFill>
                <a:cs typeface="Times New Roman" panose="02020603050405020304" pitchFamily="18" charset="0"/>
              </a:rPr>
              <a:t>1</a:t>
            </a:r>
            <a:r>
              <a:rPr lang="zh-CN" altLang="en-US" sz="2400" dirty="0">
                <a:solidFill>
                  <a:schemeClr val="accent6"/>
                </a:solidFill>
                <a:cs typeface="Times New Roman" panose="02020603050405020304" pitchFamily="18" charset="0"/>
              </a:rPr>
              <a:t>） </a:t>
            </a:r>
            <a:r>
              <a:rPr lang="en-US" altLang="zh-CN" sz="2400" dirty="0">
                <a:solidFill>
                  <a:schemeClr val="accent6"/>
                </a:solidFill>
                <a:cs typeface="Times New Roman" panose="02020603050405020304" pitchFamily="18" charset="0"/>
              </a:rPr>
              <a:t>SOR</a:t>
            </a:r>
            <a:r>
              <a:rPr lang="zh-CN" altLang="en-US" sz="2400" dirty="0">
                <a:solidFill>
                  <a:schemeClr val="accent6"/>
                </a:solidFill>
                <a:cs typeface="Times New Roman" panose="02020603050405020304" pitchFamily="18" charset="0"/>
              </a:rPr>
              <a:t>方法收敛的必要条件是</a:t>
            </a:r>
            <a:r>
              <a:rPr lang="en-US" altLang="zh-CN" sz="2400" dirty="0">
                <a:solidFill>
                  <a:schemeClr val="accent6"/>
                </a:solidFill>
                <a:cs typeface="Times New Roman" panose="02020603050405020304" pitchFamily="18" charset="0"/>
              </a:rPr>
              <a:t>0 &lt; </a:t>
            </a:r>
            <a:r>
              <a:rPr lang="el-GR" altLang="zh-CN" sz="2400" i="1" dirty="0">
                <a:solidFill>
                  <a:schemeClr val="accent6"/>
                </a:solidFill>
                <a:cs typeface="Times New Roman" panose="02020603050405020304" pitchFamily="18" charset="0"/>
              </a:rPr>
              <a:t>ω</a:t>
            </a:r>
            <a:r>
              <a:rPr lang="en-US" altLang="zh-CN" sz="2400" dirty="0">
                <a:solidFill>
                  <a:schemeClr val="accent6"/>
                </a:solidFill>
                <a:cs typeface="Times New Roman" panose="02020603050405020304" pitchFamily="18" charset="0"/>
              </a:rPr>
              <a:t> &lt;2</a:t>
            </a:r>
            <a:r>
              <a:rPr lang="zh-CN" altLang="en-US" sz="2400" dirty="0">
                <a:solidFill>
                  <a:schemeClr val="accent6"/>
                </a:solidFill>
                <a:cs typeface="Times New Roman" panose="02020603050405020304" pitchFamily="18" charset="0"/>
              </a:rPr>
              <a:t>。</a:t>
            </a:r>
          </a:p>
        </p:txBody>
      </p:sp>
      <p:sp>
        <p:nvSpPr>
          <p:cNvPr id="4" name="Text Box 4"/>
          <p:cNvSpPr txBox="1">
            <a:spLocks noChangeArrowheads="1"/>
          </p:cNvSpPr>
          <p:nvPr/>
        </p:nvSpPr>
        <p:spPr bwMode="auto">
          <a:xfrm>
            <a:off x="1981200" y="914400"/>
            <a:ext cx="84359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dirty="0">
                <a:cs typeface="Times New Roman" panose="02020603050405020304" pitchFamily="18" charset="0"/>
              </a:rPr>
              <a:t>当</a:t>
            </a:r>
            <a:r>
              <a:rPr lang="zh-CN" altLang="en-US" sz="2400" i="1" dirty="0">
                <a:cs typeface="Times New Roman" panose="02020603050405020304" pitchFamily="18" charset="0"/>
                <a:sym typeface="Symbol" panose="05050102010706020507" pitchFamily="18" charset="2"/>
              </a:rPr>
              <a:t></a:t>
            </a:r>
            <a:r>
              <a:rPr lang="zh-CN" altLang="en-US" sz="2400" dirty="0">
                <a:cs typeface="Times New Roman" panose="02020603050405020304" pitchFamily="18" charset="0"/>
                <a:sym typeface="Symbol" panose="05050102010706020507" pitchFamily="18" charset="2"/>
              </a:rPr>
              <a:t>＝</a:t>
            </a:r>
            <a:r>
              <a:rPr lang="en-US" altLang="zh-CN" sz="2400" dirty="0">
                <a:cs typeface="Times New Roman" panose="02020603050405020304" pitchFamily="18" charset="0"/>
                <a:sym typeface="Symbol" panose="05050102010706020507" pitchFamily="18" charset="2"/>
              </a:rPr>
              <a:t>1</a:t>
            </a:r>
            <a:r>
              <a:rPr lang="zh-CN" altLang="en-US" sz="2400" dirty="0">
                <a:cs typeface="Times New Roman" panose="02020603050405020304" pitchFamily="18" charset="0"/>
                <a:sym typeface="Symbol" panose="05050102010706020507" pitchFamily="18" charset="2"/>
              </a:rPr>
              <a:t>时，</a:t>
            </a:r>
            <a:r>
              <a:rPr lang="en-US" altLang="zh-CN" sz="2400" dirty="0">
                <a:cs typeface="Times New Roman" panose="02020603050405020304" pitchFamily="18" charset="0"/>
              </a:rPr>
              <a:t>SOR</a:t>
            </a:r>
            <a:r>
              <a:rPr lang="zh-CN" altLang="en-US" sz="2400" dirty="0">
                <a:cs typeface="Times New Roman" panose="02020603050405020304" pitchFamily="18" charset="0"/>
              </a:rPr>
              <a:t>方法就是</a:t>
            </a:r>
            <a:r>
              <a:rPr lang="en-US" altLang="zh-CN" sz="2400" dirty="0">
                <a:cs typeface="Times New Roman" panose="02020603050405020304" pitchFamily="18" charset="0"/>
              </a:rPr>
              <a:t>Seidel</a:t>
            </a:r>
            <a:r>
              <a:rPr lang="zh-CN" altLang="en-US" sz="2400" dirty="0">
                <a:cs typeface="Times New Roman" panose="02020603050405020304" pitchFamily="18" charset="0"/>
              </a:rPr>
              <a:t>迭代格式。当 </a:t>
            </a:r>
            <a:r>
              <a:rPr lang="en-US" altLang="zh-CN" sz="2400" dirty="0">
                <a:cs typeface="Times New Roman" panose="02020603050405020304" pitchFamily="18" charset="0"/>
              </a:rPr>
              <a:t>0&lt;</a:t>
            </a:r>
            <a:r>
              <a:rPr lang="en-US" altLang="zh-CN" sz="2400" i="1" dirty="0">
                <a:cs typeface="Times New Roman" panose="02020603050405020304" pitchFamily="18" charset="0"/>
                <a:sym typeface="Symbol" panose="05050102010706020507" pitchFamily="18" charset="2"/>
              </a:rPr>
              <a:t></a:t>
            </a:r>
            <a:r>
              <a:rPr lang="en-US" altLang="zh-CN" sz="2400" dirty="0">
                <a:cs typeface="Times New Roman" panose="02020603050405020304" pitchFamily="18" charset="0"/>
                <a:sym typeface="Symbol" panose="05050102010706020507" pitchFamily="18" charset="2"/>
              </a:rPr>
              <a:t> &lt;1</a:t>
            </a:r>
            <a:r>
              <a:rPr lang="zh-CN" altLang="en-US" sz="2400" dirty="0">
                <a:cs typeface="Times New Roman" panose="02020603050405020304" pitchFamily="18" charset="0"/>
              </a:rPr>
              <a:t>时，称为</a:t>
            </a:r>
            <a:r>
              <a:rPr lang="zh-CN" altLang="en-US" sz="2400" dirty="0">
                <a:solidFill>
                  <a:srgbClr val="660066"/>
                </a:solidFill>
                <a:cs typeface="Times New Roman" panose="02020603050405020304" pitchFamily="18" charset="0"/>
              </a:rPr>
              <a:t>低松弛</a:t>
            </a:r>
            <a:r>
              <a:rPr lang="zh-CN" altLang="en-US" sz="2400" dirty="0">
                <a:cs typeface="Times New Roman" panose="02020603050405020304" pitchFamily="18" charset="0"/>
              </a:rPr>
              <a:t>方法，当</a:t>
            </a:r>
            <a:r>
              <a:rPr lang="zh-CN" altLang="en-US" sz="2400" i="1" dirty="0">
                <a:cs typeface="Times New Roman" panose="02020603050405020304" pitchFamily="18" charset="0"/>
                <a:sym typeface="Symbol" panose="05050102010706020507" pitchFamily="18" charset="2"/>
              </a:rPr>
              <a:t></a:t>
            </a:r>
            <a:r>
              <a:rPr lang="zh-CN" altLang="en-US" sz="2400" dirty="0">
                <a:cs typeface="Times New Roman" panose="02020603050405020304" pitchFamily="18" charset="0"/>
                <a:sym typeface="Symbol" panose="05050102010706020507" pitchFamily="18" charset="2"/>
              </a:rPr>
              <a:t> </a:t>
            </a:r>
            <a:r>
              <a:rPr lang="en-US" altLang="zh-CN" sz="2400" dirty="0">
                <a:cs typeface="Times New Roman" panose="02020603050405020304" pitchFamily="18" charset="0"/>
                <a:sym typeface="Symbol" panose="05050102010706020507" pitchFamily="18" charset="2"/>
              </a:rPr>
              <a:t>&gt;1</a:t>
            </a:r>
            <a:r>
              <a:rPr lang="zh-CN" altLang="en-US" sz="2400" dirty="0">
                <a:cs typeface="Times New Roman" panose="02020603050405020304" pitchFamily="18" charset="0"/>
              </a:rPr>
              <a:t>时，称为</a:t>
            </a:r>
            <a:r>
              <a:rPr lang="zh-CN" altLang="en-US" sz="2400" dirty="0">
                <a:solidFill>
                  <a:srgbClr val="660066"/>
                </a:solidFill>
                <a:cs typeface="Times New Roman" panose="02020603050405020304" pitchFamily="18" charset="0"/>
              </a:rPr>
              <a:t>超松弛</a:t>
            </a:r>
            <a:r>
              <a:rPr lang="zh-CN" altLang="en-US" sz="2400" dirty="0">
                <a:cs typeface="Times New Roman" panose="02020603050405020304" pitchFamily="18" charset="0"/>
              </a:rPr>
              <a:t>方法。适当选取松弛因子</a:t>
            </a:r>
            <a:r>
              <a:rPr lang="zh-CN" altLang="en-US" sz="2400" i="1" dirty="0">
                <a:cs typeface="Times New Roman" panose="02020603050405020304" pitchFamily="18" charset="0"/>
                <a:sym typeface="Symbol" panose="05050102010706020507" pitchFamily="18" charset="2"/>
              </a:rPr>
              <a:t></a:t>
            </a:r>
            <a:r>
              <a:rPr lang="zh-CN" altLang="en-US" sz="2400" dirty="0">
                <a:cs typeface="Times New Roman" panose="02020603050405020304" pitchFamily="18" charset="0"/>
                <a:sym typeface="Symbol" panose="05050102010706020507" pitchFamily="18" charset="2"/>
              </a:rPr>
              <a:t> </a:t>
            </a:r>
            <a:r>
              <a:rPr lang="zh-CN" altLang="en-US" sz="2400" dirty="0">
                <a:cs typeface="Times New Roman" panose="02020603050405020304" pitchFamily="18" charset="0"/>
              </a:rPr>
              <a:t>的值，可以得到比</a:t>
            </a:r>
            <a:r>
              <a:rPr lang="en-US" altLang="zh-CN" sz="2400" dirty="0">
                <a:cs typeface="Times New Roman" panose="02020603050405020304" pitchFamily="18" charset="0"/>
              </a:rPr>
              <a:t>G-S</a:t>
            </a:r>
            <a:r>
              <a:rPr lang="zh-CN" altLang="en-US" sz="2400" dirty="0">
                <a:cs typeface="Times New Roman" panose="02020603050405020304" pitchFamily="18" charset="0"/>
              </a:rPr>
              <a:t>方法更快的收敛格式。</a:t>
            </a:r>
          </a:p>
        </p:txBody>
      </p:sp>
      <p:sp>
        <p:nvSpPr>
          <p:cNvPr id="5" name="Text Box 5"/>
          <p:cNvSpPr txBox="1">
            <a:spLocks noChangeArrowheads="1"/>
          </p:cNvSpPr>
          <p:nvPr/>
        </p:nvSpPr>
        <p:spPr bwMode="auto">
          <a:xfrm>
            <a:off x="2057400" y="3087688"/>
            <a:ext cx="6199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a:cs typeface="Times New Roman" panose="02020603050405020304" pitchFamily="18" charset="0"/>
              </a:rPr>
              <a:t>关于方法的收敛性有以下结论：</a:t>
            </a:r>
          </a:p>
        </p:txBody>
      </p:sp>
      <p:sp>
        <p:nvSpPr>
          <p:cNvPr id="6" name="Rectangle 6"/>
          <p:cNvSpPr>
            <a:spLocks noChangeArrowheads="1"/>
          </p:cNvSpPr>
          <p:nvPr/>
        </p:nvSpPr>
        <p:spPr bwMode="auto">
          <a:xfrm>
            <a:off x="1919288" y="4368800"/>
            <a:ext cx="84312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dirty="0">
                <a:solidFill>
                  <a:schemeClr val="accent6"/>
                </a:solidFill>
                <a:cs typeface="Times New Roman" panose="02020603050405020304" pitchFamily="18" charset="0"/>
              </a:rPr>
              <a:t>（</a:t>
            </a:r>
            <a:r>
              <a:rPr lang="en-US" altLang="zh-CN" sz="2400" dirty="0">
                <a:solidFill>
                  <a:schemeClr val="accent6"/>
                </a:solidFill>
                <a:cs typeface="Times New Roman" panose="02020603050405020304" pitchFamily="18" charset="0"/>
              </a:rPr>
              <a:t>2</a:t>
            </a:r>
            <a:r>
              <a:rPr lang="zh-CN" altLang="en-US" sz="2400" dirty="0">
                <a:solidFill>
                  <a:schemeClr val="accent6"/>
                </a:solidFill>
                <a:cs typeface="Times New Roman" panose="02020603050405020304" pitchFamily="18" charset="0"/>
              </a:rPr>
              <a:t>）若系数矩阵</a:t>
            </a:r>
            <a:r>
              <a:rPr lang="en-US" altLang="zh-CN" sz="2400" i="1" dirty="0">
                <a:solidFill>
                  <a:schemeClr val="accent6"/>
                </a:solidFill>
                <a:cs typeface="Times New Roman" panose="02020603050405020304" pitchFamily="18" charset="0"/>
              </a:rPr>
              <a:t>A</a:t>
            </a:r>
            <a:r>
              <a:rPr lang="en-US" altLang="zh-CN" sz="2400" dirty="0">
                <a:solidFill>
                  <a:schemeClr val="accent6"/>
                </a:solidFill>
                <a:cs typeface="Times New Roman" panose="02020603050405020304" pitchFamily="18" charset="0"/>
              </a:rPr>
              <a:t> </a:t>
            </a:r>
            <a:r>
              <a:rPr lang="zh-CN" altLang="en-US" sz="2400" dirty="0">
                <a:solidFill>
                  <a:schemeClr val="accent6"/>
                </a:solidFill>
                <a:cs typeface="Times New Roman" panose="02020603050405020304" pitchFamily="18" charset="0"/>
              </a:rPr>
              <a:t>对称正定，且 </a:t>
            </a:r>
            <a:r>
              <a:rPr lang="en-US" altLang="zh-CN" sz="2400" dirty="0">
                <a:solidFill>
                  <a:schemeClr val="accent6"/>
                </a:solidFill>
                <a:cs typeface="Times New Roman" panose="02020603050405020304" pitchFamily="18" charset="0"/>
              </a:rPr>
              <a:t>0 &lt;</a:t>
            </a:r>
            <a:r>
              <a:rPr lang="el-GR" altLang="zh-CN" sz="2400" i="1" dirty="0">
                <a:solidFill>
                  <a:schemeClr val="accent6"/>
                </a:solidFill>
                <a:cs typeface="Times New Roman" panose="02020603050405020304" pitchFamily="18" charset="0"/>
              </a:rPr>
              <a:t>ω</a:t>
            </a:r>
            <a:r>
              <a:rPr lang="en-US" altLang="zh-CN" sz="2400" dirty="0">
                <a:solidFill>
                  <a:schemeClr val="accent6"/>
                </a:solidFill>
                <a:cs typeface="Times New Roman" panose="02020603050405020304" pitchFamily="18" charset="0"/>
              </a:rPr>
              <a:t>&lt;2</a:t>
            </a:r>
            <a:r>
              <a:rPr lang="zh-CN" altLang="en-US" sz="2400" dirty="0">
                <a:solidFill>
                  <a:schemeClr val="accent6"/>
                </a:solidFill>
                <a:cs typeface="Times New Roman" panose="02020603050405020304" pitchFamily="18" charset="0"/>
              </a:rPr>
              <a:t>，则</a:t>
            </a:r>
            <a:r>
              <a:rPr lang="en-US" altLang="zh-CN" sz="2400" dirty="0">
                <a:solidFill>
                  <a:schemeClr val="accent6"/>
                </a:solidFill>
                <a:cs typeface="Times New Roman" panose="02020603050405020304" pitchFamily="18" charset="0"/>
              </a:rPr>
              <a:t>SOR</a:t>
            </a:r>
            <a:r>
              <a:rPr lang="zh-CN" altLang="en-US" sz="2400" dirty="0">
                <a:solidFill>
                  <a:schemeClr val="accent6"/>
                </a:solidFill>
                <a:cs typeface="Times New Roman" panose="02020603050405020304" pitchFamily="18" charset="0"/>
              </a:rPr>
              <a:t>方法收敛。</a:t>
            </a:r>
          </a:p>
        </p:txBody>
      </p:sp>
      <p:sp>
        <p:nvSpPr>
          <p:cNvPr id="7" name="Rectangle 7"/>
          <p:cNvSpPr>
            <a:spLocks noChangeArrowheads="1"/>
          </p:cNvSpPr>
          <p:nvPr/>
        </p:nvSpPr>
        <p:spPr bwMode="auto">
          <a:xfrm>
            <a:off x="1919288" y="5051425"/>
            <a:ext cx="8070850" cy="11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dirty="0">
                <a:solidFill>
                  <a:schemeClr val="accent6"/>
                </a:solidFill>
                <a:cs typeface="Times New Roman" panose="02020603050405020304" pitchFamily="18" charset="0"/>
              </a:rPr>
              <a:t>（</a:t>
            </a:r>
            <a:r>
              <a:rPr lang="en-US" altLang="zh-CN" sz="2400" dirty="0">
                <a:solidFill>
                  <a:schemeClr val="accent6"/>
                </a:solidFill>
                <a:cs typeface="Times New Roman" panose="02020603050405020304" pitchFamily="18" charset="0"/>
              </a:rPr>
              <a:t>3</a:t>
            </a:r>
            <a:r>
              <a:rPr lang="zh-CN" altLang="en-US" sz="2400" dirty="0">
                <a:solidFill>
                  <a:schemeClr val="accent6"/>
                </a:solidFill>
                <a:cs typeface="Times New Roman" panose="02020603050405020304" pitchFamily="18" charset="0"/>
              </a:rPr>
              <a:t>）若系数矩阵</a:t>
            </a:r>
            <a:r>
              <a:rPr lang="en-US" altLang="zh-CN" sz="2400" i="1" dirty="0">
                <a:solidFill>
                  <a:schemeClr val="accent6"/>
                </a:solidFill>
                <a:cs typeface="Times New Roman" panose="02020603050405020304" pitchFamily="18" charset="0"/>
              </a:rPr>
              <a:t>A</a:t>
            </a:r>
            <a:r>
              <a:rPr lang="en-US" altLang="zh-CN" sz="2400" dirty="0">
                <a:solidFill>
                  <a:schemeClr val="accent6"/>
                </a:solidFill>
                <a:cs typeface="Times New Roman" panose="02020603050405020304" pitchFamily="18" charset="0"/>
              </a:rPr>
              <a:t> </a:t>
            </a:r>
            <a:r>
              <a:rPr lang="zh-CN" altLang="en-US" sz="2400" dirty="0">
                <a:solidFill>
                  <a:schemeClr val="accent6"/>
                </a:solidFill>
                <a:cs typeface="Times New Roman" panose="02020603050405020304" pitchFamily="18" charset="0"/>
              </a:rPr>
              <a:t>严格对角占优，且</a:t>
            </a:r>
            <a:r>
              <a:rPr lang="en-US" altLang="zh-CN" sz="2400" dirty="0">
                <a:solidFill>
                  <a:schemeClr val="accent6"/>
                </a:solidFill>
                <a:cs typeface="Times New Roman" panose="02020603050405020304" pitchFamily="18" charset="0"/>
              </a:rPr>
              <a:t>0&lt;</a:t>
            </a:r>
            <a:r>
              <a:rPr lang="el-GR" altLang="zh-CN" sz="2400" i="1" dirty="0">
                <a:solidFill>
                  <a:schemeClr val="accent6"/>
                </a:solidFill>
                <a:cs typeface="Times New Roman" panose="02020603050405020304" pitchFamily="18" charset="0"/>
              </a:rPr>
              <a:t>ω</a:t>
            </a:r>
            <a:r>
              <a:rPr lang="en-US" altLang="zh-CN" sz="2400" dirty="0">
                <a:solidFill>
                  <a:schemeClr val="accent6"/>
                </a:solidFill>
                <a:cs typeface="Times New Roman" panose="02020603050405020304" pitchFamily="18" charset="0"/>
                <a:sym typeface="Symbol" panose="05050102010706020507" pitchFamily="18" charset="2"/>
              </a:rPr>
              <a:t>1</a:t>
            </a:r>
            <a:r>
              <a:rPr lang="zh-CN" altLang="en-US" sz="2400" dirty="0">
                <a:solidFill>
                  <a:schemeClr val="accent6"/>
                </a:solidFill>
                <a:cs typeface="Times New Roman" panose="02020603050405020304" pitchFamily="18" charset="0"/>
              </a:rPr>
              <a:t>，则</a:t>
            </a:r>
            <a:r>
              <a:rPr lang="en-US" altLang="zh-CN" sz="2400" dirty="0">
                <a:solidFill>
                  <a:schemeClr val="accent6"/>
                </a:solidFill>
                <a:cs typeface="Times New Roman" panose="02020603050405020304" pitchFamily="18" charset="0"/>
              </a:rPr>
              <a:t>SOR</a:t>
            </a:r>
            <a:r>
              <a:rPr lang="zh-CN" altLang="en-US" sz="2400" dirty="0">
                <a:solidFill>
                  <a:schemeClr val="accent6"/>
                </a:solidFill>
                <a:cs typeface="Times New Roman" panose="02020603050405020304" pitchFamily="18" charset="0"/>
              </a:rPr>
              <a:t>方法收敛。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0-#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0-#ppt_w/2"/>
                                          </p:val>
                                        </p:tav>
                                        <p:tav tm="100000">
                                          <p:val>
                                            <p:strVal val="#ppt_x"/>
                                          </p:val>
                                        </p:tav>
                                      </p:tavLst>
                                    </p:anim>
                                    <p:anim calcmode="lin" valueType="num">
                                      <p:cBhvr additive="base">
                                        <p:cTn id="3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5" grpId="0" autoUpdateAnimBg="0"/>
      <p:bldP spid="6" grpId="0" autoUpdateAnimBg="0"/>
      <p:bldP spid="7"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1470694" y="737906"/>
            <a:ext cx="939507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b="1" dirty="0">
                <a:solidFill>
                  <a:srgbClr val="008000"/>
                </a:solidFill>
              </a:rPr>
              <a:t>注</a:t>
            </a:r>
            <a:r>
              <a:rPr lang="zh-CN" altLang="en-US" sz="2400" dirty="0"/>
              <a:t>：能使</a:t>
            </a:r>
            <a:r>
              <a:rPr lang="en-US" altLang="zh-CN" sz="2400" dirty="0">
                <a:solidFill>
                  <a:srgbClr val="008000"/>
                </a:solidFill>
              </a:rPr>
              <a:t>SOR</a:t>
            </a:r>
            <a:r>
              <a:rPr lang="zh-CN" altLang="en-US" sz="2400" dirty="0"/>
              <a:t>方法收敛最快的松弛因子叫做</a:t>
            </a:r>
            <a:r>
              <a:rPr lang="zh-CN" altLang="en-US" sz="2400" dirty="0">
                <a:solidFill>
                  <a:srgbClr val="FF0000"/>
                </a:solidFill>
              </a:rPr>
              <a:t>最佳松弛因子</a:t>
            </a:r>
            <a:r>
              <a:rPr lang="zh-CN" altLang="en-US" sz="2400" dirty="0"/>
              <a:t>，记为</a:t>
            </a:r>
            <a:r>
              <a:rPr lang="zh-CN" altLang="en-US" sz="2400" i="1" dirty="0">
                <a:sym typeface="Symbol" panose="05050102010706020507" pitchFamily="18" charset="2"/>
              </a:rPr>
              <a:t></a:t>
            </a:r>
            <a:r>
              <a:rPr lang="en-US" altLang="zh-CN" sz="2400" i="1" baseline="-25000" dirty="0">
                <a:sym typeface="Symbol" panose="05050102010706020507" pitchFamily="18" charset="2"/>
              </a:rPr>
              <a:t>opt</a:t>
            </a:r>
            <a:r>
              <a:rPr lang="zh-CN" altLang="en-US" sz="2400" dirty="0">
                <a:sym typeface="Symbol" panose="05050102010706020507" pitchFamily="18" charset="2"/>
              </a:rPr>
              <a:t>。</a:t>
            </a:r>
          </a:p>
        </p:txBody>
      </p:sp>
      <p:grpSp>
        <p:nvGrpSpPr>
          <p:cNvPr id="2" name="组合 7"/>
          <p:cNvGrpSpPr>
            <a:grpSpLocks/>
          </p:cNvGrpSpPr>
          <p:nvPr/>
        </p:nvGrpSpPr>
        <p:grpSpPr bwMode="auto">
          <a:xfrm>
            <a:off x="1559496" y="1556792"/>
            <a:ext cx="9035033" cy="3289042"/>
            <a:chOff x="-109289" y="1916832"/>
            <a:chExt cx="9035033" cy="3288537"/>
          </a:xfrm>
        </p:grpSpPr>
        <mc:AlternateContent xmlns:mc="http://schemas.openxmlformats.org/markup-compatibility/2006">
          <mc:Choice xmlns:a14="http://schemas.microsoft.com/office/drawing/2010/main" Requires="a14">
            <p:sp>
              <p:nvSpPr>
                <p:cNvPr id="39941" name="Object 5"/>
                <p:cNvSpPr txBox="1"/>
                <p:nvPr/>
              </p:nvSpPr>
              <p:spPr bwMode="auto">
                <a:xfrm>
                  <a:off x="2266951" y="3646137"/>
                  <a:ext cx="3168650" cy="817173"/>
                </a:xfrm>
                <a:prstGeom prst="rect">
                  <a:avLst/>
                </a:prstGeom>
                <a:noFill/>
                <a:ln>
                  <a:noFill/>
                </a:ln>
                <a:effectLst/>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𝜔</m:t>
                            </m:r>
                          </m:e>
                          <m:sub>
                            <m:r>
                              <a:rPr lang="zh-CN" altLang="en-US" i="1">
                                <a:solidFill>
                                  <a:srgbClr val="000000"/>
                                </a:solidFill>
                                <a:latin typeface="Cambria Math" panose="02040503050406030204" pitchFamily="18" charset="0"/>
                              </a:rPr>
                              <m:t>𝑜𝑝𝑡</m:t>
                            </m:r>
                          </m:sub>
                        </m:sSub>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2</m:t>
                            </m:r>
                          </m:num>
                          <m:den>
                            <m:r>
                              <a:rPr lang="zh-CN" altLang="en-US" i="1">
                                <a:solidFill>
                                  <a:srgbClr val="000000"/>
                                </a:solidFill>
                                <a:latin typeface="Cambria Math" panose="02040503050406030204" pitchFamily="18" charset="0"/>
                              </a:rPr>
                              <m:t>1+</m:t>
                            </m:r>
                            <m:rad>
                              <m:radPr>
                                <m:degHide m:val="on"/>
                                <m:ctrlPr>
                                  <a:rPr lang="zh-CN" altLang="en-US" i="1">
                                    <a:solidFill>
                                      <a:srgbClr val="000000"/>
                                    </a:solidFill>
                                    <a:latin typeface="Cambria Math" panose="02040503050406030204" pitchFamily="18" charset="0"/>
                                  </a:rPr>
                                </m:ctrlPr>
                              </m:radPr>
                              <m:deg/>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𝜌</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𝐽</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1">
                                        <a:solidFill>
                                          <a:srgbClr val="000000"/>
                                        </a:solidFill>
                                        <a:latin typeface="Cambria Math" panose="02040503050406030204" pitchFamily="18" charset="0"/>
                                      </a:rPr>
                                      <m:t>2</m:t>
                                    </m:r>
                                  </m:sup>
                                </m:sSup>
                              </m:e>
                            </m:rad>
                          </m:den>
                        </m:f>
                      </m:oMath>
                    </m:oMathPara>
                  </a14:m>
                  <a:endParaRPr lang="zh-CN" altLang="en-US"/>
                </a:p>
              </p:txBody>
            </p:sp>
          </mc:Choice>
          <mc:Fallback>
            <p:sp>
              <p:nvSpPr>
                <p:cNvPr id="39941" name="Object 5"/>
                <p:cNvSpPr txBox="1">
                  <a:spLocks noRot="1" noChangeAspect="1" noMove="1" noResize="1" noEditPoints="1" noAdjustHandles="1" noChangeArrowheads="1" noChangeShapeType="1" noTextEdit="1"/>
                </p:cNvSpPr>
                <p:nvPr/>
              </p:nvSpPr>
              <p:spPr bwMode="auto">
                <a:xfrm>
                  <a:off x="2266951" y="3646137"/>
                  <a:ext cx="3168650" cy="817173"/>
                </a:xfrm>
                <a:prstGeom prst="rect">
                  <a:avLst/>
                </a:prstGeom>
                <a:blipFill>
                  <a:blip r:embed="rId2"/>
                  <a:stretch>
                    <a:fillRect/>
                  </a:stretch>
                </a:blipFill>
                <a:ln>
                  <a:noFill/>
                </a:ln>
                <a:effectLs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942" name="Text Box 4"/>
                <p:cNvSpPr txBox="1">
                  <a:spLocks noChangeArrowheads="1"/>
                </p:cNvSpPr>
                <p:nvPr/>
              </p:nvSpPr>
              <p:spPr bwMode="auto">
                <a:xfrm>
                  <a:off x="-109289" y="1916832"/>
                  <a:ext cx="9035033" cy="32885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dirty="0">
                      <a:sym typeface="Symbol" panose="05050102010706020507" pitchFamily="18" charset="2"/>
                    </a:rPr>
                    <a:t>对某些特殊类型的矩阵，可以建立</a:t>
                  </a:r>
                  <a:r>
                    <a:rPr lang="en-US" altLang="zh-CN" sz="2400" dirty="0">
                      <a:solidFill>
                        <a:srgbClr val="008000"/>
                      </a:solidFill>
                      <a:sym typeface="Symbol" panose="05050102010706020507" pitchFamily="18" charset="2"/>
                    </a:rPr>
                    <a:t>SOR</a:t>
                  </a:r>
                  <a:r>
                    <a:rPr lang="zh-CN" altLang="en-US" sz="2400" dirty="0">
                      <a:sym typeface="Symbol" panose="05050102010706020507" pitchFamily="18" charset="2"/>
                    </a:rPr>
                    <a:t>方法最佳松弛因子理论。例如，对于具有</a:t>
                  </a:r>
                  <a:r>
                    <a:rPr lang="zh-CN" altLang="en-US" sz="2400" dirty="0">
                      <a:solidFill>
                        <a:srgbClr val="FF0000"/>
                      </a:solidFill>
                      <a:sym typeface="Symbol" panose="05050102010706020507" pitchFamily="18" charset="2"/>
                    </a:rPr>
                    <a:t>对称正定</a:t>
                  </a:r>
                  <a:r>
                    <a:rPr lang="zh-CN" altLang="en-US" sz="2400" dirty="0">
                      <a:sym typeface="Symbol" panose="05050102010706020507" pitchFamily="18" charset="2"/>
                    </a:rPr>
                    <a:t>，或</a:t>
                  </a:r>
                  <a:r>
                    <a:rPr lang="zh-CN" altLang="en-US" sz="2400" dirty="0">
                      <a:solidFill>
                        <a:srgbClr val="FF0000"/>
                      </a:solidFill>
                      <a:sym typeface="Symbol" panose="05050102010706020507" pitchFamily="18" charset="2"/>
                    </a:rPr>
                    <a:t>严格对角占优</a:t>
                  </a:r>
                  <a:r>
                    <a:rPr lang="zh-CN" altLang="en-US" sz="2400" dirty="0">
                      <a:sym typeface="Symbol" panose="05050102010706020507" pitchFamily="18" charset="2"/>
                    </a:rPr>
                    <a:t>等性质的矩阵</a:t>
                  </a:r>
                  <a:r>
                    <a:rPr lang="en-US" altLang="zh-CN" sz="2400" i="1" dirty="0">
                      <a:sym typeface="Symbol" panose="05050102010706020507" pitchFamily="18" charset="2"/>
                    </a:rPr>
                    <a:t>A</a:t>
                  </a:r>
                  <a:r>
                    <a:rPr lang="zh-CN" altLang="en-US" sz="2400" dirty="0">
                      <a:sym typeface="Symbol" panose="05050102010706020507" pitchFamily="18" charset="2"/>
                    </a:rPr>
                    <a:t>的线性方程组，可以建立最佳松弛因子</a:t>
                  </a:r>
                </a:p>
                <a:p>
                  <a:pPr eaLnBrk="1" hangingPunct="1">
                    <a:lnSpc>
                      <a:spcPct val="150000"/>
                    </a:lnSpc>
                    <a:spcBef>
                      <a:spcPct val="50000"/>
                    </a:spcBef>
                    <a:buFontTx/>
                    <a:buNone/>
                  </a:pPr>
                  <a:endParaRPr lang="en-US" altLang="zh-CN" sz="2400" dirty="0">
                    <a:sym typeface="Symbol" panose="05050102010706020507" pitchFamily="18" charset="2"/>
                  </a:endParaRPr>
                </a:p>
                <a:p>
                  <a:pPr eaLnBrk="1" hangingPunct="1">
                    <a:lnSpc>
                      <a:spcPct val="150000"/>
                    </a:lnSpc>
                    <a:spcBef>
                      <a:spcPct val="50000"/>
                    </a:spcBef>
                    <a:buFontTx/>
                    <a:buNone/>
                  </a:pPr>
                  <a:r>
                    <a:rPr lang="zh-CN" altLang="en-US" sz="2400" dirty="0">
                      <a:sym typeface="Symbol" panose="05050102010706020507" pitchFamily="18" charset="2"/>
                    </a:rPr>
                    <a:t>    </a:t>
                  </a:r>
                  <a:r>
                    <a:rPr lang="zh-CN" altLang="en-US" sz="2400" dirty="0">
                      <a:solidFill>
                        <a:srgbClr val="7030A0"/>
                      </a:solidFill>
                      <a:sym typeface="Symbol" panose="05050102010706020507" pitchFamily="18" charset="2"/>
                    </a:rPr>
                    <a:t>其中</a:t>
                  </a:r>
                  <a:r>
                    <a:rPr lang="zh-CN" altLang="en-US" sz="2400" i="1" dirty="0">
                      <a:solidFill>
                        <a:srgbClr val="7030A0"/>
                      </a:solidFill>
                      <a:sym typeface="Symbol" panose="05050102010706020507" pitchFamily="18" charset="2"/>
                    </a:rPr>
                    <a:t></a:t>
                  </a:r>
                  <a:r>
                    <a:rPr lang="en-US" altLang="zh-CN" sz="2400" dirty="0">
                      <a:solidFill>
                        <a:srgbClr val="7030A0"/>
                      </a:solidFill>
                      <a:sym typeface="Symbol" panose="05050102010706020507" pitchFamily="18" charset="2"/>
                    </a:rPr>
                    <a:t>(</a:t>
                  </a:r>
                  <a:r>
                    <a:rPr lang="en-US" altLang="zh-CN" sz="2400" i="1" dirty="0">
                      <a:solidFill>
                        <a:srgbClr val="7030A0"/>
                      </a:solidFill>
                      <a:sym typeface="Symbol" panose="05050102010706020507" pitchFamily="18" charset="2"/>
                    </a:rPr>
                    <a:t>J</a:t>
                  </a:r>
                  <a:r>
                    <a:rPr lang="en-US" altLang="zh-CN" sz="2400" dirty="0">
                      <a:solidFill>
                        <a:srgbClr val="7030A0"/>
                      </a:solidFill>
                      <a:sym typeface="Symbol" panose="05050102010706020507" pitchFamily="18" charset="2"/>
                    </a:rPr>
                    <a:t>)</a:t>
                  </a:r>
                  <a:r>
                    <a:rPr lang="zh-CN" altLang="en-US" sz="2400" dirty="0">
                      <a:solidFill>
                        <a:srgbClr val="7030A0"/>
                      </a:solidFill>
                      <a:sym typeface="Symbol" panose="05050102010706020507" pitchFamily="18" charset="2"/>
                    </a:rPr>
                    <a:t>为解</a:t>
                  </a:r>
                  <a:r>
                    <a:rPr lang="en-US" altLang="zh-CN" sz="2400" i="1" dirty="0">
                      <a:solidFill>
                        <a:srgbClr val="7030A0"/>
                      </a:solidFill>
                      <a:sym typeface="Symbol" panose="05050102010706020507" pitchFamily="18" charset="2"/>
                    </a:rPr>
                    <a:t>Ax</a:t>
                  </a:r>
                  <a:r>
                    <a:rPr lang="zh-CN" altLang="en-US" sz="2400" dirty="0">
                      <a:solidFill>
                        <a:srgbClr val="7030A0"/>
                      </a:solidFill>
                      <a:sym typeface="Symbol" panose="05050102010706020507" pitchFamily="18" charset="2"/>
                    </a:rPr>
                    <a:t>＝</a:t>
                  </a:r>
                  <a:r>
                    <a:rPr lang="en-US" altLang="zh-CN" sz="2400" i="1" dirty="0">
                      <a:solidFill>
                        <a:srgbClr val="7030A0"/>
                      </a:solidFill>
                      <a:sym typeface="Symbol" panose="05050102010706020507" pitchFamily="18" charset="2"/>
                    </a:rPr>
                    <a:t>b</a:t>
                  </a:r>
                  <a:r>
                    <a:rPr lang="zh-CN" altLang="en-US" sz="2400" dirty="0">
                      <a:solidFill>
                        <a:srgbClr val="7030A0"/>
                      </a:solidFill>
                      <a:sym typeface="Symbol" panose="05050102010706020507" pitchFamily="18" charset="2"/>
                    </a:rPr>
                    <a:t>的雅可比迭代法的迭代矩阵（</a:t>
                  </a:r>
                  <a14:m>
                    <m:oMath xmlns:m="http://schemas.openxmlformats.org/officeDocument/2006/math">
                      <m:sSub>
                        <m:sSubPr>
                          <m:ctrlPr>
                            <a:rPr lang="en-US" altLang="zh-CN" sz="2400" i="1" smtClean="0">
                              <a:solidFill>
                                <a:srgbClr val="7030A0"/>
                              </a:solidFill>
                              <a:latin typeface="Cambria Math" panose="02040503050406030204" pitchFamily="18" charset="0"/>
                              <a:sym typeface="Symbol" panose="05050102010706020507" pitchFamily="18" charset="2"/>
                            </a:rPr>
                          </m:ctrlPr>
                        </m:sSubPr>
                        <m:e>
                          <m:r>
                            <m:rPr>
                              <m:sty m:val="p"/>
                            </m:rPr>
                            <a:rPr lang="en-US" altLang="zh-CN" sz="2400" i="1">
                              <a:solidFill>
                                <a:srgbClr val="7030A0"/>
                              </a:solidFill>
                              <a:latin typeface="Cambria Math" panose="02040503050406030204" pitchFamily="18" charset="0"/>
                              <a:sym typeface="Symbol" panose="05050102010706020507" pitchFamily="18" charset="2"/>
                            </a:rPr>
                            <m:t>B</m:t>
                          </m:r>
                        </m:e>
                        <m:sub>
                          <m:r>
                            <m:rPr>
                              <m:sty m:val="p"/>
                            </m:rPr>
                            <a:rPr lang="en-US" altLang="zh-CN" sz="2400" i="1">
                              <a:solidFill>
                                <a:srgbClr val="7030A0"/>
                              </a:solidFill>
                              <a:latin typeface="Cambria Math" panose="02040503050406030204" pitchFamily="18" charset="0"/>
                              <a:sym typeface="Symbol" panose="05050102010706020507" pitchFamily="18" charset="2"/>
                            </a:rPr>
                            <m:t>J</m:t>
                          </m:r>
                        </m:sub>
                      </m:sSub>
                    </m:oMath>
                  </a14:m>
                  <a:r>
                    <a:rPr lang="zh-CN" altLang="en-US" sz="2400" dirty="0">
                      <a:solidFill>
                        <a:srgbClr val="7030A0"/>
                      </a:solidFill>
                      <a:sym typeface="Symbol" panose="05050102010706020507" pitchFamily="18" charset="2"/>
                    </a:rPr>
                    <a:t>）的谱半径</a:t>
                  </a:r>
                  <a:r>
                    <a:rPr lang="zh-CN" altLang="en-US" sz="2400" dirty="0">
                      <a:sym typeface="Symbol" panose="05050102010706020507" pitchFamily="18" charset="2"/>
                    </a:rPr>
                    <a:t>。</a:t>
                  </a:r>
                </a:p>
              </p:txBody>
            </p:sp>
          </mc:Choice>
          <mc:Fallback xmlns="">
            <p:sp>
              <p:nvSpPr>
                <p:cNvPr id="39942" name="Text Box 4"/>
                <p:cNvSpPr txBox="1">
                  <a:spLocks noRot="1" noChangeAspect="1" noMove="1" noResize="1" noEditPoints="1" noAdjustHandles="1" noChangeArrowheads="1" noChangeShapeType="1" noTextEdit="1"/>
                </p:cNvSpPr>
                <p:nvPr/>
              </p:nvSpPr>
              <p:spPr bwMode="auto">
                <a:xfrm>
                  <a:off x="-109289" y="1916832"/>
                  <a:ext cx="9035033" cy="3288537"/>
                </a:xfrm>
                <a:prstGeom prst="rect">
                  <a:avLst/>
                </a:prstGeom>
                <a:blipFill>
                  <a:blip r:embed="rId7"/>
                  <a:stretch>
                    <a:fillRect l="-1080" r="-4386" b="-9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
        <p:nvSpPr>
          <p:cNvPr id="7" name="Text Box 4"/>
          <p:cNvSpPr txBox="1">
            <a:spLocks noChangeArrowheads="1"/>
          </p:cNvSpPr>
          <p:nvPr/>
        </p:nvSpPr>
        <p:spPr bwMode="auto">
          <a:xfrm>
            <a:off x="1901093" y="5232363"/>
            <a:ext cx="8351837" cy="12017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zh-CN" altLang="en-US" sz="2400" dirty="0">
                <a:sym typeface="Symbol" panose="05050102010706020507" pitchFamily="18" charset="2"/>
              </a:rPr>
              <a:t>        一般情况下确定</a:t>
            </a:r>
            <a:r>
              <a:rPr lang="zh-CN" altLang="en-US" sz="2400" i="1" dirty="0">
                <a:sym typeface="Symbol" panose="05050102010706020507" pitchFamily="18" charset="2"/>
              </a:rPr>
              <a:t></a:t>
            </a:r>
            <a:r>
              <a:rPr lang="en-US" altLang="zh-CN" sz="2400" i="1" baseline="-25000" dirty="0">
                <a:sym typeface="Symbol" panose="05050102010706020507" pitchFamily="18" charset="2"/>
              </a:rPr>
              <a:t>opt</a:t>
            </a:r>
            <a:r>
              <a:rPr lang="zh-CN" altLang="en-US" sz="2400" dirty="0">
                <a:sym typeface="Symbol" panose="05050102010706020507" pitchFamily="18" charset="2"/>
              </a:rPr>
              <a:t>并不容易，实际计算时一般都是根据试算的情况确定</a:t>
            </a:r>
            <a:r>
              <a:rPr lang="zh-CN" altLang="en-US" sz="2400" i="1" dirty="0">
                <a:sym typeface="Symbol" panose="05050102010706020507" pitchFamily="18" charset="2"/>
              </a:rPr>
              <a:t></a:t>
            </a:r>
            <a:r>
              <a:rPr lang="en-US" altLang="zh-CN" sz="2400" i="1" baseline="-25000" dirty="0">
                <a:sym typeface="Symbol" panose="05050102010706020507" pitchFamily="18" charset="2"/>
              </a:rPr>
              <a:t>opt</a:t>
            </a:r>
            <a:r>
              <a:rPr lang="zh-CN" altLang="en-US" sz="2400" dirty="0">
                <a:sym typeface="Symbol" panose="05050102010706020507" pitchFamily="18" charset="2"/>
              </a:rPr>
              <a:t>的一个近似值。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2423592" y="476672"/>
                <a:ext cx="6016391" cy="1807611"/>
              </a:xfrm>
              <a:prstGeom prst="rect">
                <a:avLst/>
              </a:prstGeom>
              <a:noFill/>
            </p:spPr>
            <p:txBody>
              <a:bodyPr wrap="none" rtlCol="0">
                <a:spAutoFit/>
              </a:bodyPr>
              <a:lstStyle/>
              <a:p>
                <a:r>
                  <a:rPr lang="zh-CN" altLang="en-US" dirty="0"/>
                  <a:t>例：若有方程组的系数矩阵如下：</a:t>
                </a:r>
                <a:endParaRPr lang="en-US" altLang="zh-CN" dirty="0"/>
              </a:p>
              <a:p>
                <a:pPr/>
                <a14:m>
                  <m:oMathPara xmlns:m="http://schemas.openxmlformats.org/officeDocument/2006/math">
                    <m:oMathParaPr>
                      <m:jc m:val="centerGroup"/>
                    </m:oMathParaPr>
                    <m:oMath xmlns:m="http://schemas.openxmlformats.org/officeDocument/2006/math">
                      <m:d>
                        <m:dPr>
                          <m:begChr m:val="⌈"/>
                          <m:endChr m:val="⌉"/>
                          <m:ctrlPr>
                            <a:rPr lang="zh-CN" altLang="en-US"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4</m:t>
                                </m:r>
                              </m:e>
                              <m:e>
                                <m:r>
                                  <a:rPr lang="en-US" altLang="zh-CN" b="0" i="1" smtClean="0">
                                    <a:latin typeface="Cambria Math" panose="02040503050406030204" pitchFamily="18" charset="0"/>
                                  </a:rPr>
                                  <m:t>3</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3</m:t>
                                </m:r>
                              </m:e>
                              <m:e>
                                <m:r>
                                  <a:rPr lang="en-US" altLang="zh-CN" b="0" i="1" smtClean="0">
                                    <a:latin typeface="Cambria Math" panose="02040503050406030204" pitchFamily="18" charset="0"/>
                                  </a:rPr>
                                  <m:t>4</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−1</m:t>
                                </m:r>
                              </m:e>
                              <m:e>
                                <m:r>
                                  <a:rPr lang="en-US" altLang="zh-CN" b="0" i="1" smtClean="0">
                                    <a:latin typeface="Cambria Math" panose="02040503050406030204" pitchFamily="18" charset="0"/>
                                  </a:rPr>
                                  <m:t>4</m:t>
                                </m:r>
                              </m:e>
                            </m:mr>
                          </m:m>
                        </m:e>
                      </m:d>
                    </m:oMath>
                  </m:oMathPara>
                </a14:m>
                <a:endParaRPr lang="en-US" altLang="zh-CN" dirty="0"/>
              </a:p>
              <a:p>
                <a:r>
                  <a:rPr lang="zh-CN" altLang="en-US" dirty="0"/>
                  <a:t>若采用</a:t>
                </a:r>
                <a:r>
                  <a:rPr lang="en-US" altLang="zh-CN" dirty="0"/>
                  <a:t>SOR</a:t>
                </a:r>
                <a:r>
                  <a:rPr lang="zh-CN" altLang="en-US" dirty="0"/>
                  <a:t>迭代法，求出其最佳收敛因子。</a:t>
                </a:r>
              </a:p>
            </p:txBody>
          </p:sp>
        </mc:Choice>
        <mc:Fallback xmlns="">
          <p:sp>
            <p:nvSpPr>
              <p:cNvPr id="4" name="文本框 3"/>
              <p:cNvSpPr txBox="1">
                <a:spLocks noRot="1" noChangeAspect="1" noMove="1" noResize="1" noEditPoints="1" noAdjustHandles="1" noChangeArrowheads="1" noChangeShapeType="1" noTextEdit="1"/>
              </p:cNvSpPr>
              <p:nvPr/>
            </p:nvSpPr>
            <p:spPr>
              <a:xfrm>
                <a:off x="2423592" y="476672"/>
                <a:ext cx="6016391" cy="1807611"/>
              </a:xfrm>
              <a:prstGeom prst="rect">
                <a:avLst/>
              </a:prstGeom>
              <a:blipFill>
                <a:blip r:embed="rId2"/>
                <a:stretch>
                  <a:fillRect l="-1621" t="-3704" r="-507" b="-7071"/>
                </a:stretch>
              </a:blipFill>
            </p:spPr>
            <p:txBody>
              <a:bodyPr/>
              <a:lstStyle/>
              <a:p>
                <a:r>
                  <a:rPr lang="zh-CN" altLang="en-US">
                    <a:noFill/>
                  </a:rPr>
                  <a:t> </a:t>
                </a:r>
              </a:p>
            </p:txBody>
          </p:sp>
        </mc:Fallback>
      </mc:AlternateContent>
      <p:sp>
        <p:nvSpPr>
          <p:cNvPr id="5" name="文本框 4"/>
          <p:cNvSpPr txBox="1"/>
          <p:nvPr/>
        </p:nvSpPr>
        <p:spPr>
          <a:xfrm>
            <a:off x="1991544" y="2471392"/>
            <a:ext cx="4185761" cy="461665"/>
          </a:xfrm>
          <a:prstGeom prst="rect">
            <a:avLst/>
          </a:prstGeom>
          <a:noFill/>
        </p:spPr>
        <p:txBody>
          <a:bodyPr wrap="none" rtlCol="0">
            <a:spAutoFit/>
          </a:bodyPr>
          <a:lstStyle/>
          <a:p>
            <a:r>
              <a:rPr lang="zh-CN" altLang="en-US" dirty="0"/>
              <a:t>解：此矩阵为正定对称矩阵，</a:t>
            </a:r>
          </a:p>
        </p:txBody>
      </p:sp>
      <mc:AlternateContent xmlns:mc="http://schemas.openxmlformats.org/markup-compatibility/2006" xmlns:a14="http://schemas.microsoft.com/office/drawing/2010/main">
        <mc:Choice Requires="a14">
          <p:sp>
            <p:nvSpPr>
              <p:cNvPr id="6" name="文本框 5"/>
              <p:cNvSpPr txBox="1"/>
              <p:nvPr/>
            </p:nvSpPr>
            <p:spPr>
              <a:xfrm>
                <a:off x="3325251" y="3117455"/>
                <a:ext cx="5476436" cy="9841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𝐵</m:t>
                          </m:r>
                        </m:e>
                        <m:sub>
                          <m:r>
                            <a:rPr lang="en-US" altLang="zh-CN" b="0" i="1" smtClean="0">
                              <a:latin typeface="Cambria Math" panose="02040503050406030204" pitchFamily="18" charset="0"/>
                            </a:rPr>
                            <m:t>𝐽</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−1</m:t>
                          </m:r>
                        </m:sup>
                      </m:sSup>
                      <m:r>
                        <a:rPr lang="en-US" altLang="zh-CN" b="0" i="1" smtClean="0">
                          <a:latin typeface="Cambria Math" panose="02040503050406030204" pitchFamily="18" charset="0"/>
                        </a:rPr>
                        <m:t>𝐴</m:t>
                      </m:r>
                      <m:r>
                        <a:rPr lang="en-US" altLang="zh-CN" b="0" i="1" smtClean="0">
                          <a:latin typeface="Cambria Math" panose="02040503050406030204" pitchFamily="18" charset="0"/>
                        </a:rPr>
                        <m:t>=</m:t>
                      </m:r>
                      <m:d>
                        <m:dPr>
                          <m:begChr m:val="⌈"/>
                          <m:endChr m:val="⌉"/>
                          <m:ctrlPr>
                            <a:rPr lang="en-US" altLang="zh-CN" b="0" i="1" smtClean="0">
                              <a:latin typeface="Cambria Math" panose="02040503050406030204" pitchFamily="18" charset="0"/>
                            </a:rPr>
                          </m:ctrlPr>
                        </m:dPr>
                        <m:e>
                          <m:m>
                            <m:mPr>
                              <m:mcs>
                                <m:mc>
                                  <m:mcPr>
                                    <m:count m:val="3"/>
                                    <m:mcJc m:val="center"/>
                                  </m:mcPr>
                                </m:mc>
                              </m:mcs>
                              <m:ctrlPr>
                                <a:rPr lang="en-US" altLang="zh-CN" i="1">
                                  <a:latin typeface="Cambria Math" panose="02040503050406030204" pitchFamily="18" charset="0"/>
                                </a:rPr>
                              </m:ctrlPr>
                            </m:mPr>
                            <m:mr>
                              <m:e>
                                <m:r>
                                  <m:rPr>
                                    <m:brk m:alnAt="7"/>
                                  </m:rPr>
                                  <a:rPr lang="en-US" altLang="zh-CN" b="0" i="1" smtClean="0">
                                    <a:latin typeface="Cambria Math" panose="02040503050406030204" pitchFamily="18" charset="0"/>
                                  </a:rPr>
                                  <m:t>0</m:t>
                                </m:r>
                              </m:e>
                              <m:e>
                                <m:r>
                                  <a:rPr lang="en-US" altLang="zh-CN" b="0" i="1" smtClean="0">
                                    <a:latin typeface="Cambria Math" panose="02040503050406030204" pitchFamily="18" charset="0"/>
                                  </a:rPr>
                                  <m:t>−0.75</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−0.75</m:t>
                                </m:r>
                              </m:e>
                              <m:e>
                                <m:r>
                                  <a:rPr lang="en-US" altLang="zh-CN" b="0" i="1" smtClean="0">
                                    <a:latin typeface="Cambria Math" panose="02040503050406030204" pitchFamily="18" charset="0"/>
                                  </a:rPr>
                                  <m:t>0</m:t>
                                </m:r>
                              </m:e>
                              <m:e>
                                <m:r>
                                  <a:rPr lang="en-US" altLang="zh-CN" b="0" i="1" smtClean="0">
                                    <a:latin typeface="Cambria Math" panose="02040503050406030204" pitchFamily="18" charset="0"/>
                                  </a:rPr>
                                  <m:t>0.25</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0.25</m:t>
                                </m:r>
                              </m:e>
                              <m:e>
                                <m:r>
                                  <a:rPr lang="en-US" altLang="zh-CN" b="0" i="1" smtClean="0">
                                    <a:latin typeface="Cambria Math" panose="02040503050406030204" pitchFamily="18" charset="0"/>
                                  </a:rPr>
                                  <m:t>0</m:t>
                                </m:r>
                              </m:e>
                            </m:mr>
                          </m:m>
                        </m:e>
                      </m:d>
                    </m:oMath>
                  </m:oMathPara>
                </a14:m>
                <a:endParaRPr lang="zh-CN" altLang="en-US" dirty="0"/>
              </a:p>
            </p:txBody>
          </p:sp>
        </mc:Choice>
        <mc:Fallback xmlns="">
          <p:sp>
            <p:nvSpPr>
              <p:cNvPr id="6" name="文本框 5"/>
              <p:cNvSpPr txBox="1">
                <a:spLocks noRot="1" noChangeAspect="1" noMove="1" noResize="1" noEditPoints="1" noAdjustHandles="1" noChangeArrowheads="1" noChangeShapeType="1" noTextEdit="1"/>
              </p:cNvSpPr>
              <p:nvPr/>
            </p:nvSpPr>
            <p:spPr>
              <a:xfrm>
                <a:off x="3325251" y="3117455"/>
                <a:ext cx="5476436" cy="984116"/>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3325251" y="4341497"/>
                <a:ext cx="3335400" cy="402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𝜆</m:t>
                      </m:r>
                      <m:r>
                        <a:rPr lang="en-US" altLang="zh-CN" b="0" i="1" smtClean="0">
                          <a:latin typeface="Cambria Math" panose="02040503050406030204" pitchFamily="18" charset="0"/>
                        </a:rPr>
                        <m:t>𝐼</m:t>
                      </m:r>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𝐽</m:t>
                          </m:r>
                        </m:sub>
                      </m:sSub>
                      <m:r>
                        <a:rPr lang="en-US" altLang="zh-CN" i="1" smtClean="0">
                          <a:latin typeface="Cambria Math" panose="02040503050406030204" pitchFamily="18" charset="0"/>
                        </a:rPr>
                        <m:t>=</m:t>
                      </m:r>
                      <m:r>
                        <a:rPr lang="zh-CN" altLang="en-US" i="1" smtClean="0">
                          <a:latin typeface="Cambria Math" panose="02040503050406030204" pitchFamily="18" charset="0"/>
                        </a:rPr>
                        <m:t>𝜆</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zh-CN" altLang="en-US" i="1">
                              <a:latin typeface="Cambria Math" panose="02040503050406030204" pitchFamily="18" charset="0"/>
                            </a:rPr>
                            <m:t>𝜆</m:t>
                          </m:r>
                          <m:r>
                            <m:rPr>
                              <m:nor/>
                            </m:rPr>
                            <a:rPr lang="zh-CN" altLang="en-US" dirty="0"/>
                            <m:t> </m:t>
                          </m:r>
                        </m:e>
                        <m:sup>
                          <m:r>
                            <a:rPr lang="en-US" altLang="zh-CN" b="0" i="1" smtClean="0">
                              <a:latin typeface="Cambria Math" panose="02040503050406030204" pitchFamily="18" charset="0"/>
                            </a:rPr>
                            <m:t>2</m:t>
                          </m:r>
                        </m:sup>
                      </m:sSup>
                      <m:r>
                        <a:rPr lang="en-US" altLang="zh-CN" b="0" i="1" smtClean="0">
                          <a:latin typeface="Cambria Math" panose="02040503050406030204" pitchFamily="18" charset="0"/>
                        </a:rPr>
                        <m:t>−0.625)</m:t>
                      </m:r>
                    </m:oMath>
                  </m:oMathPara>
                </a14:m>
                <a:endParaRPr lang="zh-CN" altLang="en-US" dirty="0"/>
              </a:p>
            </p:txBody>
          </p:sp>
        </mc:Choice>
        <mc:Fallback xmlns="">
          <p:sp>
            <p:nvSpPr>
              <p:cNvPr id="7" name="文本框 6"/>
              <p:cNvSpPr txBox="1">
                <a:spLocks noRot="1" noChangeAspect="1" noMove="1" noResize="1" noEditPoints="1" noAdjustHandles="1" noChangeArrowheads="1" noChangeShapeType="1" noTextEdit="1"/>
              </p:cNvSpPr>
              <p:nvPr/>
            </p:nvSpPr>
            <p:spPr>
              <a:xfrm>
                <a:off x="3325251" y="4341497"/>
                <a:ext cx="3335400" cy="402674"/>
              </a:xfrm>
              <a:prstGeom prst="rect">
                <a:avLst/>
              </a:prstGeom>
              <a:blipFill>
                <a:blip r:embed="rId4"/>
                <a:stretch>
                  <a:fillRect l="-1642" r="-2737" b="-2727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3325251" y="4927726"/>
                <a:ext cx="3313792" cy="4548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𝜌</m:t>
                      </m:r>
                      <m:d>
                        <m:dPr>
                          <m:ctrlPr>
                            <a:rPr lang="en-US" altLang="zh-CN" b="0" i="1" smtClean="0">
                              <a:latin typeface="Cambria Math" panose="02040503050406030204" pitchFamily="18" charset="0"/>
                            </a:rPr>
                          </m:ctrlPr>
                        </m:dPr>
                        <m:e>
                          <m:sSub>
                            <m:sSubPr>
                              <m:ctrlPr>
                                <a:rPr lang="en-US" altLang="zh-CN" i="1">
                                  <a:latin typeface="Cambria Math" panose="02040503050406030204" pitchFamily="18" charset="0"/>
                                </a:rPr>
                              </m:ctrlPr>
                            </m:sSubPr>
                            <m:e>
                              <m:r>
                                <a:rPr lang="en-US" altLang="zh-CN" i="1">
                                  <a:latin typeface="Cambria Math" panose="02040503050406030204" pitchFamily="18" charset="0"/>
                                </a:rPr>
                                <m:t>𝐵</m:t>
                              </m:r>
                            </m:e>
                            <m:sub>
                              <m:r>
                                <a:rPr lang="en-US" altLang="zh-CN" i="1">
                                  <a:latin typeface="Cambria Math" panose="02040503050406030204" pitchFamily="18" charset="0"/>
                                </a:rPr>
                                <m:t>𝐽</m:t>
                              </m:r>
                            </m:sub>
                          </m:sSub>
                        </m:e>
                      </m:d>
                      <m:r>
                        <a:rPr lang="en-US" altLang="zh-CN" b="0" i="0" smtClean="0">
                          <a:latin typeface="Cambria Math" panose="02040503050406030204" pitchFamily="18" charset="0"/>
                        </a:rPr>
                        <m:t>=</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0.625</m:t>
                          </m:r>
                        </m:e>
                      </m:rad>
                      <m:r>
                        <a:rPr lang="en-US" altLang="zh-CN" b="0" i="1" smtClean="0">
                          <a:latin typeface="Cambria Math" panose="02040503050406030204" pitchFamily="18" charset="0"/>
                          <a:ea typeface="Cambria Math" panose="02040503050406030204" pitchFamily="18" charset="0"/>
                        </a:rPr>
                        <m:t>≈0.790</m:t>
                      </m:r>
                    </m:oMath>
                  </m:oMathPara>
                </a14:m>
                <a:endParaRPr lang="zh-CN" altLang="en-US" dirty="0"/>
              </a:p>
            </p:txBody>
          </p:sp>
        </mc:Choice>
        <mc:Fallback xmlns="">
          <p:sp>
            <p:nvSpPr>
              <p:cNvPr id="8" name="文本框 7"/>
              <p:cNvSpPr txBox="1">
                <a:spLocks noRot="1" noChangeAspect="1" noMove="1" noResize="1" noEditPoints="1" noAdjustHandles="1" noChangeArrowheads="1" noChangeShapeType="1" noTextEdit="1"/>
              </p:cNvSpPr>
              <p:nvPr/>
            </p:nvSpPr>
            <p:spPr>
              <a:xfrm>
                <a:off x="3325251" y="4927726"/>
                <a:ext cx="3313792" cy="45480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p:cNvSpPr txBox="1"/>
              <p:nvPr/>
            </p:nvSpPr>
            <p:spPr>
              <a:xfrm>
                <a:off x="3325251" y="5558123"/>
                <a:ext cx="4145815" cy="7629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𝜔</m:t>
                          </m:r>
                        </m:e>
                        <m:sub>
                          <m:r>
                            <a:rPr lang="en-US" altLang="zh-CN" b="0" i="1" smtClean="0">
                              <a:latin typeface="Cambria Math" panose="02040503050406030204" pitchFamily="18" charset="0"/>
                            </a:rPr>
                            <m:t>𝑂𝑃𝑇</m:t>
                          </m:r>
                        </m:sub>
                      </m:sSub>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1+</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1−0.625</m:t>
                              </m:r>
                            </m:e>
                          </m:rad>
                        </m:den>
                      </m:f>
                      <m:r>
                        <a:rPr lang="en-US" altLang="zh-CN" b="0" i="1" smtClean="0">
                          <a:latin typeface="Cambria Math" panose="02040503050406030204" pitchFamily="18" charset="0"/>
                          <a:ea typeface="Cambria Math" panose="02040503050406030204" pitchFamily="18" charset="0"/>
                        </a:rPr>
                        <m:t>≈1.24</m:t>
                      </m:r>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3325251" y="5558123"/>
                <a:ext cx="4145815" cy="762966"/>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6418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30"/>
          <p:cNvSpPr>
            <a:spLocks noGrp="1" noChangeArrowheads="1"/>
          </p:cNvSpPr>
          <p:nvPr>
            <p:ph type="title" idx="4294967295"/>
          </p:nvPr>
        </p:nvSpPr>
        <p:spPr>
          <a:xfrm>
            <a:off x="1415480" y="620688"/>
            <a:ext cx="5018087" cy="457200"/>
          </a:xfrm>
        </p:spPr>
        <p:txBody>
          <a:bodyPr/>
          <a:lstStyle/>
          <a:p>
            <a:r>
              <a:rPr lang="en-US" altLang="zh-CN" sz="3200" b="1" dirty="0"/>
              <a:t>§</a:t>
            </a:r>
            <a:r>
              <a:rPr lang="en-US" altLang="zh-CN" sz="3200" b="1" dirty="0">
                <a:solidFill>
                  <a:srgbClr val="3333FF"/>
                </a:solidFill>
              </a:rPr>
              <a:t>2.9 </a:t>
            </a:r>
            <a:r>
              <a:rPr lang="zh-CN" altLang="en-US" sz="3200" b="1" dirty="0">
                <a:solidFill>
                  <a:srgbClr val="3333FF"/>
                </a:solidFill>
              </a:rPr>
              <a:t>条件数与病态方程组</a:t>
            </a:r>
          </a:p>
        </p:txBody>
      </p:sp>
      <p:pic>
        <p:nvPicPr>
          <p:cNvPr id="2" name="图片 1"/>
          <p:cNvPicPr>
            <a:picLocks noChangeAspect="1"/>
          </p:cNvPicPr>
          <p:nvPr/>
        </p:nvPicPr>
        <p:blipFill>
          <a:blip r:embed="rId3"/>
          <a:stretch>
            <a:fillRect/>
          </a:stretch>
        </p:blipFill>
        <p:spPr>
          <a:xfrm>
            <a:off x="2644718" y="1556792"/>
            <a:ext cx="6547625" cy="405633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indefinite"/>
                            </p:stCondLst>
                          </p:cTn>
                        </p:par>
                      </p:childTnLst>
                    </p:cTn>
                  </p:par>
                  <p:par>
                    <p:cTn id="5" fill="hold" nodeType="clickPar">
                      <p:stCondLst>
                        <p:cond delay="indefinite"/>
                      </p:stCondLst>
                      <p:childTnLst>
                        <p:par>
                          <p:cTn id="6" fill="hold" nodeType="withGroup">
                            <p:stCondLst>
                              <p:cond delay="indefinite"/>
                            </p:stCondLst>
                          </p:cTn>
                        </p:par>
                      </p:childTnLst>
                    </p:cTn>
                  </p:par>
                  <p:par>
                    <p:cTn id="7" fill="hold" nodeType="clickPar">
                      <p:stCondLst>
                        <p:cond delay="indefinite"/>
                      </p:stCondLst>
                      <p:childTnLst>
                        <p:par>
                          <p:cTn id="8" fill="hold" nodeType="withGroup">
                            <p:stCondLst>
                              <p:cond delay="indefinite"/>
                            </p:stCondLst>
                          </p:cTn>
                        </p:par>
                      </p:childTnLst>
                    </p:cTn>
                  </p:par>
                  <p:par>
                    <p:cTn id="9" fill="hold" nodeType="clickPar">
                      <p:stCondLst>
                        <p:cond delay="indefinite"/>
                      </p:stCondLst>
                      <p:childTnLst>
                        <p:par>
                          <p:cTn id="10" fill="hold" nodeType="withGroup">
                            <p:stCondLst>
                              <p:cond delay="indefinite"/>
                            </p:stCondLst>
                          </p:cTn>
                        </p:par>
                      </p:childTnLst>
                    </p:cTn>
                  </p:par>
                  <p:par>
                    <p:cTn id="11" fill="hold" nodeType="clickPar">
                      <p:stCondLst>
                        <p:cond delay="indefinite"/>
                      </p:stCondLst>
                      <p:childTnLst>
                        <p:par>
                          <p:cTn id="12" fill="hold" nodeType="withGroup">
                            <p:stCondLst>
                              <p:cond delay="indefinite"/>
                            </p:stCondLst>
                          </p:cTn>
                        </p:par>
                      </p:childTnLst>
                    </p:cTn>
                  </p:par>
                  <p:par>
                    <p:cTn id="13" fill="hold" nodeType="clickPar">
                      <p:stCondLst>
                        <p:cond delay="indefinite"/>
                      </p:stCondLst>
                      <p:childTnLst>
                        <p:par>
                          <p:cTn id="14" fill="hold" nodeType="withGroup">
                            <p:stCondLst>
                              <p:cond delay="indefinite"/>
                            </p:stCondLst>
                          </p:cTn>
                        </p:par>
                      </p:childTnLst>
                    </p:cTn>
                  </p:par>
                  <p:par>
                    <p:cTn id="15" fill="hold" nodeType="clickPar">
                      <p:stCondLst>
                        <p:cond delay="indefinite"/>
                      </p:stCondLst>
                      <p:childTnLst>
                        <p:par>
                          <p:cTn id="16" fill="hold" nodeType="withGroup">
                            <p:stCondLst>
                              <p:cond delay="indefinite"/>
                            </p:stCondLst>
                          </p:cTn>
                        </p:par>
                      </p:childTnLst>
                    </p:cTn>
                  </p:par>
                  <p:par>
                    <p:cTn id="17" fill="hold" nodeType="clickPar">
                      <p:stCondLst>
                        <p:cond delay="indefinite"/>
                      </p:stCondLst>
                      <p:childTnLst>
                        <p:par>
                          <p:cTn id="18" fill="hold" nodeType="withGroup">
                            <p:stCondLst>
                              <p:cond delay="indefinite"/>
                            </p:stCondLst>
                          </p:cTn>
                        </p:par>
                      </p:childTnLst>
                    </p:cTn>
                  </p:par>
                  <p:par>
                    <p:cTn id="19" fill="hold" nodeType="clickPar">
                      <p:stCondLst>
                        <p:cond delay="indefinite"/>
                      </p:stCondLst>
                      <p:childTnLst>
                        <p:par>
                          <p:cTn id="20" fill="hold" nodeType="withGroup">
                            <p:stCondLst>
                              <p:cond delay="indefinite"/>
                            </p:stCondLst>
                          </p:cTn>
                        </p:par>
                      </p:childTnLst>
                    </p:cTn>
                  </p:par>
                  <p:par>
                    <p:cTn id="21" fill="hold" nodeType="clickPar">
                      <p:stCondLst>
                        <p:cond delay="indefinite"/>
                      </p:stCondLst>
                      <p:childTnLst>
                        <p:par>
                          <p:cTn id="22" fill="hold" nodeType="withGroup">
                            <p:stCondLst>
                              <p:cond delay="indefinite"/>
                            </p:stCondLst>
                          </p:cTn>
                        </p:par>
                      </p:childTnLst>
                    </p:cTn>
                  </p:par>
                  <p:par>
                    <p:cTn id="23" fill="hold" nodeType="clickPar">
                      <p:stCondLst>
                        <p:cond delay="indefinite"/>
                      </p:stCondLst>
                      <p:childTnLst>
                        <p:par>
                          <p:cTn id="24" fill="hold" nodeType="withGroup">
                            <p:stCondLst>
                              <p:cond delay="indefinite"/>
                            </p:stCondLst>
                          </p:cTn>
                        </p:par>
                      </p:childTnLst>
                    </p:cTn>
                  </p:par>
                  <p:par>
                    <p:cTn id="25" fill="hold" nodeType="clickPar">
                      <p:stCondLst>
                        <p:cond delay="indefinite"/>
                      </p:stCondLst>
                      <p:childTnLst>
                        <p:par>
                          <p:cTn id="26" fill="hold" nodeType="withGroup">
                            <p:stCondLst>
                              <p:cond delay="indefinite"/>
                            </p:stCond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30"/>
          <p:cNvSpPr>
            <a:spLocks noGrp="1" noChangeArrowheads="1"/>
          </p:cNvSpPr>
          <p:nvPr>
            <p:ph type="title" idx="4294967295"/>
          </p:nvPr>
        </p:nvSpPr>
        <p:spPr>
          <a:xfrm>
            <a:off x="1919288" y="404813"/>
            <a:ext cx="5018087" cy="457200"/>
          </a:xfrm>
        </p:spPr>
        <p:txBody>
          <a:bodyPr/>
          <a:lstStyle/>
          <a:p>
            <a:r>
              <a:rPr lang="en-US" altLang="zh-CN" sz="3200" b="1"/>
              <a:t>§</a:t>
            </a:r>
            <a:r>
              <a:rPr lang="en-US" altLang="zh-CN" sz="3200" b="1">
                <a:solidFill>
                  <a:srgbClr val="3333FF"/>
                </a:solidFill>
              </a:rPr>
              <a:t>2.9 </a:t>
            </a:r>
            <a:r>
              <a:rPr lang="zh-CN" altLang="en-US" sz="3200" b="1">
                <a:solidFill>
                  <a:srgbClr val="3333FF"/>
                </a:solidFill>
              </a:rPr>
              <a:t>条件数与病态方程组</a:t>
            </a:r>
          </a:p>
        </p:txBody>
      </p:sp>
      <p:sp>
        <p:nvSpPr>
          <p:cNvPr id="2679" name="Rectangle 631"/>
          <p:cNvSpPr>
            <a:spLocks noChangeArrowheads="1"/>
          </p:cNvSpPr>
          <p:nvPr/>
        </p:nvSpPr>
        <p:spPr bwMode="auto">
          <a:xfrm>
            <a:off x="1905000" y="952500"/>
            <a:ext cx="853440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50000"/>
              </a:lnSpc>
              <a:spcBef>
                <a:spcPct val="0"/>
              </a:spcBef>
              <a:buFontTx/>
              <a:buNone/>
            </a:pPr>
            <a:r>
              <a:rPr lang="en-US" altLang="zh-CN" sz="2400"/>
              <a:t>       </a:t>
            </a:r>
            <a:r>
              <a:rPr lang="zh-CN" altLang="en-US" sz="2400"/>
              <a:t>引进了矩阵的度量标准</a:t>
            </a:r>
            <a:r>
              <a:rPr lang="en-US" altLang="zh-CN" sz="2400"/>
              <a:t>——</a:t>
            </a:r>
            <a:r>
              <a:rPr lang="zh-CN" altLang="en-US" sz="2400"/>
              <a:t>范数，就可以对方程组求解进行误差分析，对于方程组</a:t>
            </a:r>
          </a:p>
        </p:txBody>
      </p:sp>
      <p:sp>
        <p:nvSpPr>
          <p:cNvPr id="2680" name="Rectangle 632"/>
          <p:cNvSpPr>
            <a:spLocks noChangeArrowheads="1"/>
          </p:cNvSpPr>
          <p:nvPr/>
        </p:nvSpPr>
        <p:spPr bwMode="auto">
          <a:xfrm>
            <a:off x="4619625" y="2133600"/>
            <a:ext cx="1371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i="1"/>
              <a:t>Ax =b</a:t>
            </a:r>
          </a:p>
        </p:txBody>
      </p:sp>
      <p:sp>
        <p:nvSpPr>
          <p:cNvPr id="2681" name="Rectangle 633"/>
          <p:cNvSpPr>
            <a:spLocks noChangeArrowheads="1"/>
          </p:cNvSpPr>
          <p:nvPr/>
        </p:nvSpPr>
        <p:spPr bwMode="auto">
          <a:xfrm>
            <a:off x="1905000" y="2667000"/>
            <a:ext cx="8534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如果常数项产生了误差</a:t>
            </a:r>
            <a:r>
              <a:rPr lang="zh-CN" altLang="en-US" sz="2000" i="1">
                <a:cs typeface="Times New Roman" panose="02020603050405020304" pitchFamily="18" charset="0"/>
              </a:rPr>
              <a:t>△</a:t>
            </a:r>
            <a:r>
              <a:rPr lang="en-US" altLang="zh-CN" sz="2400" i="1">
                <a:cs typeface="Times New Roman" panose="02020603050405020304" pitchFamily="18" charset="0"/>
              </a:rPr>
              <a:t>b, </a:t>
            </a:r>
            <a:r>
              <a:rPr lang="zh-CN" altLang="en-US" sz="2400"/>
              <a:t>并设求解时产生的误差为</a:t>
            </a:r>
            <a:r>
              <a:rPr lang="zh-CN" altLang="en-US" sz="2000" i="1">
                <a:cs typeface="Times New Roman" panose="02020603050405020304" pitchFamily="18" charset="0"/>
              </a:rPr>
              <a:t>△</a:t>
            </a:r>
            <a:r>
              <a:rPr lang="en-US" altLang="zh-CN" sz="2400" i="1">
                <a:cs typeface="Times New Roman" panose="02020603050405020304" pitchFamily="18" charset="0"/>
              </a:rPr>
              <a:t>x</a:t>
            </a:r>
            <a:r>
              <a:rPr lang="zh-CN" altLang="en-US" sz="2400" i="1"/>
              <a:t>，</a:t>
            </a:r>
            <a:r>
              <a:rPr lang="zh-CN" altLang="en-US" sz="2400"/>
              <a:t>则有</a:t>
            </a:r>
          </a:p>
        </p:txBody>
      </p:sp>
      <p:sp>
        <p:nvSpPr>
          <p:cNvPr id="2683" name="Rectangle 635"/>
          <p:cNvSpPr>
            <a:spLocks noChangeArrowheads="1"/>
          </p:cNvSpPr>
          <p:nvPr/>
        </p:nvSpPr>
        <p:spPr bwMode="auto">
          <a:xfrm>
            <a:off x="1946275" y="3886200"/>
            <a:ext cx="443706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两式相减得到    </a:t>
            </a:r>
            <a:r>
              <a:rPr lang="en-US" altLang="zh-CN" sz="2400" i="1"/>
              <a:t>A</a:t>
            </a:r>
            <a:r>
              <a:rPr lang="en-US" altLang="zh-CN" sz="2000" i="1">
                <a:cs typeface="Times New Roman" panose="02020603050405020304" pitchFamily="18" charset="0"/>
              </a:rPr>
              <a:t>△</a:t>
            </a:r>
            <a:r>
              <a:rPr lang="en-US" altLang="zh-CN" sz="2400" i="1">
                <a:cs typeface="Times New Roman" panose="02020603050405020304" pitchFamily="18" charset="0"/>
              </a:rPr>
              <a:t>x</a:t>
            </a:r>
            <a:r>
              <a:rPr lang="en-US" altLang="zh-CN" sz="2400" i="1"/>
              <a:t> = </a:t>
            </a:r>
            <a:r>
              <a:rPr lang="en-US" altLang="zh-CN" sz="2000" i="1">
                <a:cs typeface="Times New Roman" panose="02020603050405020304" pitchFamily="18" charset="0"/>
              </a:rPr>
              <a:t>△</a:t>
            </a:r>
            <a:r>
              <a:rPr lang="en-US" altLang="zh-CN" sz="2400" i="1">
                <a:cs typeface="Times New Roman" panose="02020603050405020304" pitchFamily="18" charset="0"/>
              </a:rPr>
              <a:t>b</a:t>
            </a:r>
          </a:p>
        </p:txBody>
      </p:sp>
      <p:sp>
        <p:nvSpPr>
          <p:cNvPr id="2684" name="Rectangle 636"/>
          <p:cNvSpPr>
            <a:spLocks noChangeArrowheads="1"/>
          </p:cNvSpPr>
          <p:nvPr/>
        </p:nvSpPr>
        <p:spPr bwMode="auto">
          <a:xfrm>
            <a:off x="1893839" y="4440237"/>
            <a:ext cx="3276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当系数矩阵可逆时</a:t>
            </a:r>
          </a:p>
        </p:txBody>
      </p:sp>
      <p:sp>
        <p:nvSpPr>
          <p:cNvPr id="2685" name="Rectangle 637"/>
          <p:cNvSpPr>
            <a:spLocks noChangeArrowheads="1"/>
          </p:cNvSpPr>
          <p:nvPr/>
        </p:nvSpPr>
        <p:spPr bwMode="auto">
          <a:xfrm>
            <a:off x="4478338" y="4419600"/>
            <a:ext cx="1703387"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i="1" dirty="0">
                <a:cs typeface="Times New Roman" panose="02020603050405020304" pitchFamily="18" charset="0"/>
              </a:rPr>
              <a:t>△</a:t>
            </a:r>
            <a:r>
              <a:rPr lang="en-US" altLang="zh-CN" sz="2400" i="1" dirty="0">
                <a:cs typeface="Times New Roman" panose="02020603050405020304" pitchFamily="18" charset="0"/>
              </a:rPr>
              <a:t>x</a:t>
            </a:r>
            <a:r>
              <a:rPr lang="en-US" altLang="zh-CN" sz="2400" i="1" dirty="0"/>
              <a:t> = A</a:t>
            </a:r>
            <a:r>
              <a:rPr lang="en-US" altLang="zh-CN" sz="2400" i="1" baseline="30000" dirty="0"/>
              <a:t>-</a:t>
            </a:r>
            <a:r>
              <a:rPr lang="en-US" altLang="zh-CN" sz="2400" baseline="30000" dirty="0"/>
              <a:t>1</a:t>
            </a:r>
            <a:r>
              <a:rPr lang="en-US" altLang="zh-CN" sz="2000" i="1" dirty="0">
                <a:cs typeface="Times New Roman" panose="02020603050405020304" pitchFamily="18" charset="0"/>
              </a:rPr>
              <a:t>△</a:t>
            </a:r>
            <a:r>
              <a:rPr lang="en-US" altLang="zh-CN" sz="2400" i="1" dirty="0">
                <a:cs typeface="Times New Roman" panose="02020603050405020304" pitchFamily="18" charset="0"/>
              </a:rPr>
              <a:t>b</a:t>
            </a:r>
          </a:p>
        </p:txBody>
      </p:sp>
      <p:sp>
        <p:nvSpPr>
          <p:cNvPr id="2686" name="Rectangle 638"/>
          <p:cNvSpPr>
            <a:spLocks noChangeArrowheads="1"/>
          </p:cNvSpPr>
          <p:nvPr/>
        </p:nvSpPr>
        <p:spPr bwMode="auto">
          <a:xfrm>
            <a:off x="1981200" y="5029200"/>
            <a:ext cx="13779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取范数</a:t>
            </a:r>
          </a:p>
        </p:txBody>
      </p:sp>
      <p:sp>
        <p:nvSpPr>
          <p:cNvPr id="2687" name="Rectangle 639"/>
          <p:cNvSpPr>
            <a:spLocks noChangeArrowheads="1"/>
          </p:cNvSpPr>
          <p:nvPr/>
        </p:nvSpPr>
        <p:spPr bwMode="auto">
          <a:xfrm>
            <a:off x="3429000" y="5029200"/>
            <a:ext cx="23891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i="1" dirty="0">
                <a:cs typeface="Times New Roman" panose="02020603050405020304" pitchFamily="18" charset="0"/>
              </a:rPr>
              <a:t>||</a:t>
            </a:r>
            <a:r>
              <a:rPr lang="en-US" altLang="zh-CN" sz="2000" i="1" dirty="0">
                <a:cs typeface="Times New Roman" panose="02020603050405020304" pitchFamily="18" charset="0"/>
              </a:rPr>
              <a:t>△</a:t>
            </a:r>
            <a:r>
              <a:rPr lang="en-US" altLang="zh-CN" sz="2400" i="1" dirty="0">
                <a:cs typeface="Times New Roman" panose="02020603050405020304" pitchFamily="18" charset="0"/>
              </a:rPr>
              <a:t>x||</a:t>
            </a:r>
            <a:r>
              <a:rPr lang="en-US" altLang="zh-CN" sz="2400" i="1" dirty="0"/>
              <a:t> = ||A</a:t>
            </a:r>
            <a:r>
              <a:rPr lang="en-US" altLang="zh-CN" sz="2400" i="1" baseline="30000" dirty="0"/>
              <a:t>-</a:t>
            </a:r>
            <a:r>
              <a:rPr lang="en-US" altLang="zh-CN" sz="2400" baseline="30000" dirty="0"/>
              <a:t>1</a:t>
            </a:r>
            <a:r>
              <a:rPr lang="en-US" altLang="zh-CN" sz="2000" i="1" dirty="0">
                <a:cs typeface="Times New Roman" panose="02020603050405020304" pitchFamily="18" charset="0"/>
              </a:rPr>
              <a:t>△</a:t>
            </a:r>
            <a:r>
              <a:rPr lang="en-US" altLang="zh-CN" sz="2400" i="1" dirty="0">
                <a:cs typeface="Times New Roman" panose="02020603050405020304" pitchFamily="18" charset="0"/>
              </a:rPr>
              <a:t>b||</a:t>
            </a:r>
          </a:p>
        </p:txBody>
      </p:sp>
      <p:sp>
        <p:nvSpPr>
          <p:cNvPr id="2688" name="Rectangle 640"/>
          <p:cNvSpPr>
            <a:spLocks noChangeArrowheads="1"/>
          </p:cNvSpPr>
          <p:nvPr/>
        </p:nvSpPr>
        <p:spPr bwMode="auto">
          <a:xfrm>
            <a:off x="5743575" y="5029200"/>
            <a:ext cx="24384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dirty="0"/>
              <a:t>≤</a:t>
            </a:r>
            <a:r>
              <a:rPr lang="en-US" altLang="zh-CN" sz="2400" i="1" dirty="0"/>
              <a:t>||A</a:t>
            </a:r>
            <a:r>
              <a:rPr lang="en-US" altLang="zh-CN" sz="2400" i="1" baseline="30000" dirty="0"/>
              <a:t>-</a:t>
            </a:r>
            <a:r>
              <a:rPr lang="en-US" altLang="zh-CN" sz="2400" baseline="30000" dirty="0"/>
              <a:t>1</a:t>
            </a:r>
            <a:r>
              <a:rPr lang="en-US" altLang="zh-CN" sz="2400" i="1" dirty="0"/>
              <a:t>|| ||</a:t>
            </a:r>
            <a:r>
              <a:rPr lang="en-US" altLang="zh-CN" sz="2000" i="1" dirty="0">
                <a:cs typeface="Times New Roman" panose="02020603050405020304" pitchFamily="18" charset="0"/>
              </a:rPr>
              <a:t>△</a:t>
            </a:r>
            <a:r>
              <a:rPr lang="en-US" altLang="zh-CN" sz="2400" i="1" dirty="0">
                <a:cs typeface="Times New Roman" panose="02020603050405020304" pitchFamily="18" charset="0"/>
              </a:rPr>
              <a:t>b||</a:t>
            </a:r>
          </a:p>
        </p:txBody>
      </p:sp>
      <p:sp>
        <p:nvSpPr>
          <p:cNvPr id="2689" name="Rectangle 641"/>
          <p:cNvSpPr>
            <a:spLocks noChangeArrowheads="1"/>
          </p:cNvSpPr>
          <p:nvPr/>
        </p:nvSpPr>
        <p:spPr bwMode="auto">
          <a:xfrm>
            <a:off x="1981200" y="5638800"/>
            <a:ext cx="32766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再由 </a:t>
            </a:r>
            <a:r>
              <a:rPr lang="en-US" altLang="zh-CN" sz="2400" i="1"/>
              <a:t>Ax =b</a:t>
            </a:r>
            <a:r>
              <a:rPr lang="zh-CN" altLang="en-US" sz="2400" i="1"/>
              <a:t>，</a:t>
            </a:r>
            <a:r>
              <a:rPr lang="zh-CN" altLang="en-US" sz="2400"/>
              <a:t>得到</a:t>
            </a:r>
          </a:p>
        </p:txBody>
      </p:sp>
      <p:sp>
        <p:nvSpPr>
          <p:cNvPr id="2690" name="Rectangle 642"/>
          <p:cNvSpPr>
            <a:spLocks noChangeArrowheads="1"/>
          </p:cNvSpPr>
          <p:nvPr/>
        </p:nvSpPr>
        <p:spPr bwMode="auto">
          <a:xfrm>
            <a:off x="4643438" y="5745163"/>
            <a:ext cx="1776412"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i="1" dirty="0">
                <a:cs typeface="Times New Roman" panose="02020603050405020304" pitchFamily="18" charset="0"/>
              </a:rPr>
              <a:t>||</a:t>
            </a:r>
            <a:r>
              <a:rPr lang="en-US" altLang="zh-CN" sz="2400" i="1" dirty="0"/>
              <a:t>b||= || Ax </a:t>
            </a:r>
            <a:r>
              <a:rPr lang="en-US" altLang="zh-CN" sz="2400" i="1" dirty="0">
                <a:cs typeface="Times New Roman" panose="02020603050405020304" pitchFamily="18" charset="0"/>
              </a:rPr>
              <a:t>||</a:t>
            </a:r>
          </a:p>
        </p:txBody>
      </p:sp>
      <p:sp>
        <p:nvSpPr>
          <p:cNvPr id="2691" name="Rectangle 643"/>
          <p:cNvSpPr>
            <a:spLocks noChangeArrowheads="1"/>
          </p:cNvSpPr>
          <p:nvPr/>
        </p:nvSpPr>
        <p:spPr bwMode="auto">
          <a:xfrm>
            <a:off x="6472238" y="5745163"/>
            <a:ext cx="24384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400" dirty="0"/>
              <a:t>≤</a:t>
            </a:r>
            <a:r>
              <a:rPr lang="en-US" altLang="zh-CN" sz="2400" i="1" dirty="0"/>
              <a:t>||A|| ||</a:t>
            </a:r>
            <a:r>
              <a:rPr lang="en-US" altLang="zh-CN" sz="2400" i="1" dirty="0">
                <a:cs typeface="Times New Roman" panose="02020603050405020304" pitchFamily="18" charset="0"/>
              </a:rPr>
              <a:t>x||</a:t>
            </a:r>
          </a:p>
        </p:txBody>
      </p:sp>
      <p:sp>
        <p:nvSpPr>
          <p:cNvPr id="2" name="矩形 1">
            <a:extLst>
              <a:ext uri="{FF2B5EF4-FFF2-40B4-BE49-F238E27FC236}">
                <a16:creationId xmlns:a16="http://schemas.microsoft.com/office/drawing/2014/main" id="{FF23BF20-C85E-452C-987C-C947FA251079}"/>
              </a:ext>
            </a:extLst>
          </p:cNvPr>
          <p:cNvSpPr/>
          <p:nvPr/>
        </p:nvSpPr>
        <p:spPr>
          <a:xfrm>
            <a:off x="3868640" y="3181648"/>
            <a:ext cx="2603598" cy="461665"/>
          </a:xfrm>
          <a:prstGeom prst="rect">
            <a:avLst/>
          </a:prstGeom>
        </p:spPr>
        <p:txBody>
          <a:bodyPr wrap="none">
            <a:spAutoFit/>
          </a:bodyPr>
          <a:lstStyle/>
          <a:p>
            <a:r>
              <a:rPr lang="en-US" altLang="zh-CN" i="1" dirty="0"/>
              <a:t>A</a:t>
            </a:r>
            <a:r>
              <a:rPr lang="en-US" altLang="zh-CN" dirty="0"/>
              <a:t>(</a:t>
            </a:r>
            <a:r>
              <a:rPr lang="en-US" altLang="zh-CN" i="1" dirty="0"/>
              <a:t>x + </a:t>
            </a:r>
            <a:r>
              <a:rPr lang="en-US" altLang="zh-CN" sz="2000" i="1" dirty="0">
                <a:cs typeface="Times New Roman" panose="02020603050405020304" pitchFamily="18" charset="0"/>
              </a:rPr>
              <a:t>△</a:t>
            </a:r>
            <a:r>
              <a:rPr lang="en-US" altLang="zh-CN" i="1" dirty="0">
                <a:cs typeface="Times New Roman" panose="02020603050405020304" pitchFamily="18" charset="0"/>
              </a:rPr>
              <a:t>x</a:t>
            </a:r>
            <a:r>
              <a:rPr lang="en-US" altLang="zh-CN" dirty="0">
                <a:cs typeface="Times New Roman" panose="02020603050405020304" pitchFamily="18" charset="0"/>
              </a:rPr>
              <a:t>)</a:t>
            </a:r>
            <a:r>
              <a:rPr lang="en-US" altLang="zh-CN" i="1" dirty="0"/>
              <a:t> =b+ </a:t>
            </a:r>
            <a:r>
              <a:rPr lang="en-US" altLang="zh-CN" sz="2000" i="1" dirty="0">
                <a:cs typeface="Times New Roman" panose="02020603050405020304" pitchFamily="18" charset="0"/>
              </a:rPr>
              <a:t>△</a:t>
            </a:r>
            <a:r>
              <a:rPr lang="en-US" altLang="zh-CN" i="1" dirty="0">
                <a:cs typeface="Times New Roman" panose="02020603050405020304" pitchFamily="18" charset="0"/>
              </a:rPr>
              <a:t>b</a:t>
            </a:r>
          </a:p>
        </p:txBody>
      </p:sp>
    </p:spTree>
    <p:extLst>
      <p:ext uri="{BB962C8B-B14F-4D97-AF65-F5344CB8AC3E}">
        <p14:creationId xmlns:p14="http://schemas.microsoft.com/office/powerpoint/2010/main" val="25046153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indefinite"/>
                            </p:stCondLst>
                          </p:cTn>
                        </p:par>
                      </p:childTnLst>
                    </p:cTn>
                  </p:par>
                  <p:par>
                    <p:cTn id="5" fill="hold" nodeType="clickPar">
                      <p:stCondLst>
                        <p:cond delay="indefinite"/>
                      </p:stCondLst>
                      <p:childTnLst>
                        <p:par>
                          <p:cTn id="6" fill="hold" nodeType="withGroup">
                            <p:stCondLst>
                              <p:cond delay="indefinite"/>
                            </p:stCondLst>
                          </p:cTn>
                        </p:par>
                      </p:childTnLst>
                    </p:cTn>
                  </p:par>
                  <p:par>
                    <p:cTn id="7" fill="hold">
                      <p:stCondLst>
                        <p:cond delay="indefinite"/>
                      </p:stCondLst>
                      <p:childTnLst>
                        <p:par>
                          <p:cTn id="8" fill="hold" nodeType="afterGroup">
                            <p:stCondLst>
                              <p:cond delay="0"/>
                            </p:stCondLst>
                            <p:childTnLst>
                              <p:par>
                                <p:cTn id="9" presetID="3" presetClass="entr" presetSubtype="10" fill="hold" grpId="0" nodeType="clickEffect">
                                  <p:childTnLst>
                                    <p:set>
                                      <p:cBhvr additive="base">
                                        <p:cTn id="10" dur="1" fill="hold">
                                          <p:stCondLst>
                                            <p:cond delay="0"/>
                                          </p:stCondLst>
                                        </p:cTn>
                                        <p:tgtEl>
                                          <p:spTgt spid="2681"/>
                                        </p:tgtEl>
                                        <p:attrNameLst>
                                          <p:attrName>style.visibility</p:attrName>
                                        </p:attrNameLst>
                                      </p:cBhvr>
                                      <p:to>
                                        <p:strVal val="visible"/>
                                      </p:to>
                                    </p:set>
                                    <p:animEffect transition="in" filter="blinds(horizontal)">
                                      <p:cBhvr additive="base">
                                        <p:cTn id="11" dur="500"/>
                                        <p:tgtEl>
                                          <p:spTgt spid="2681"/>
                                        </p:tgtEl>
                                      </p:cBhvr>
                                    </p:animEffect>
                                  </p:childTnLst>
                                </p:cTn>
                              </p:par>
                            </p:childTnLst>
                          </p:cTn>
                        </p:par>
                      </p:childTnLst>
                    </p:cTn>
                  </p:par>
                  <p:par>
                    <p:cTn id="12" fill="hold" nodeType="clickPar">
                      <p:stCondLst>
                        <p:cond delay="indefinite"/>
                      </p:stCondLst>
                      <p:childTnLst>
                        <p:par>
                          <p:cTn id="13" fill="hold" nodeType="withGroup">
                            <p:stCondLst>
                              <p:cond delay="indefinite"/>
                            </p:stCond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childTnLst>
                                    <p:set>
                                      <p:cBhvr additive="base">
                                        <p:cTn id="21" dur="1" fill="hold">
                                          <p:stCondLst>
                                            <p:cond delay="0"/>
                                          </p:stCondLst>
                                        </p:cTn>
                                        <p:tgtEl>
                                          <p:spTgt spid="2683"/>
                                        </p:tgtEl>
                                        <p:attrNameLst>
                                          <p:attrName>style.visibility</p:attrName>
                                        </p:attrNameLst>
                                      </p:cBhvr>
                                      <p:to>
                                        <p:strVal val="visible"/>
                                      </p:to>
                                    </p:set>
                                    <p:animEffect transition="in" filter="blinds(horizontal)">
                                      <p:cBhvr additive="base">
                                        <p:cTn id="22" dur="500"/>
                                        <p:tgtEl>
                                          <p:spTgt spid="2683"/>
                                        </p:tgtEl>
                                      </p:cBhvr>
                                    </p:animEffect>
                                  </p:childTnLst>
                                </p:cTn>
                              </p:par>
                            </p:childTnLst>
                          </p:cTn>
                        </p:par>
                      </p:childTnLst>
                    </p:cTn>
                  </p:par>
                  <p:par>
                    <p:cTn id="23" fill="hold" nodeType="clickPar">
                      <p:stCondLst>
                        <p:cond delay="indefinite"/>
                      </p:stCondLst>
                      <p:childTnLst>
                        <p:par>
                          <p:cTn id="24" fill="hold" nodeType="withGroup">
                            <p:stCondLst>
                              <p:cond delay="indefinite"/>
                            </p:stCondLst>
                          </p:cTn>
                        </p:par>
                        <p:par>
                          <p:cTn id="25" fill="hold" nodeType="afterGroup">
                            <p:stCondLst>
                              <p:cond delay="0"/>
                            </p:stCondLst>
                            <p:childTnLst>
                              <p:par>
                                <p:cTn id="26" presetID="3" presetClass="entr" presetSubtype="10" fill="hold" grpId="0" nodeType="clickEffect">
                                  <p:childTnLst>
                                    <p:set>
                                      <p:cBhvr additive="base">
                                        <p:cTn id="27" dur="1" fill="hold">
                                          <p:stCondLst>
                                            <p:cond delay="0"/>
                                          </p:stCondLst>
                                        </p:cTn>
                                        <p:tgtEl>
                                          <p:spTgt spid="2684"/>
                                        </p:tgtEl>
                                        <p:attrNameLst>
                                          <p:attrName>style.visibility</p:attrName>
                                        </p:attrNameLst>
                                      </p:cBhvr>
                                      <p:to>
                                        <p:strVal val="visible"/>
                                      </p:to>
                                    </p:set>
                                    <p:animEffect transition="in" filter="blinds(horizontal)">
                                      <p:cBhvr additive="base">
                                        <p:cTn id="28" dur="500"/>
                                        <p:tgtEl>
                                          <p:spTgt spid="26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withEffect">
                                  <p:stCondLst>
                                    <p:cond delay="0"/>
                                  </p:stCondLst>
                                  <p:childTnLst>
                                    <p:set>
                                      <p:cBhvr additive="base">
                                        <p:cTn id="32" dur="1" fill="hold">
                                          <p:stCondLst>
                                            <p:cond delay="0"/>
                                          </p:stCondLst>
                                        </p:cTn>
                                        <p:tgtEl>
                                          <p:spTgt spid="2685"/>
                                        </p:tgtEl>
                                        <p:attrNameLst>
                                          <p:attrName>style.visibility</p:attrName>
                                        </p:attrNameLst>
                                      </p:cBhvr>
                                      <p:to>
                                        <p:strVal val="visible"/>
                                      </p:to>
                                    </p:set>
                                    <p:animEffect transition="in" filter="blinds(horizontal)">
                                      <p:cBhvr additive="base">
                                        <p:cTn id="33" dur="500"/>
                                        <p:tgtEl>
                                          <p:spTgt spid="2685"/>
                                        </p:tgtEl>
                                      </p:cBhvr>
                                    </p:animEffect>
                                  </p:childTnLst>
                                </p:cTn>
                              </p:par>
                            </p:childTnLst>
                          </p:cTn>
                        </p:par>
                      </p:childTnLst>
                    </p:cTn>
                  </p:par>
                  <p:par>
                    <p:cTn id="34" fill="hold" nodeType="clickPar">
                      <p:stCondLst>
                        <p:cond delay="indefinite"/>
                      </p:stCondLst>
                      <p:childTnLst>
                        <p:par>
                          <p:cTn id="35" fill="hold" nodeType="withGroup">
                            <p:stCondLst>
                              <p:cond delay="indefinite"/>
                            </p:stCondLst>
                          </p:cTn>
                        </p:par>
                        <p:par>
                          <p:cTn id="36" fill="hold" nodeType="afterGroup">
                            <p:stCondLst>
                              <p:cond delay="0"/>
                            </p:stCondLst>
                            <p:childTnLst>
                              <p:par>
                                <p:cTn id="37" presetID="3" presetClass="entr" presetSubtype="10" fill="hold" grpId="0" nodeType="clickEffect">
                                  <p:childTnLst>
                                    <p:set>
                                      <p:cBhvr additive="base">
                                        <p:cTn id="38" dur="1" fill="hold">
                                          <p:stCondLst>
                                            <p:cond delay="0"/>
                                          </p:stCondLst>
                                        </p:cTn>
                                        <p:tgtEl>
                                          <p:spTgt spid="2686"/>
                                        </p:tgtEl>
                                        <p:attrNameLst>
                                          <p:attrName>style.visibility</p:attrName>
                                        </p:attrNameLst>
                                      </p:cBhvr>
                                      <p:to>
                                        <p:strVal val="visible"/>
                                      </p:to>
                                    </p:set>
                                    <p:animEffect transition="in" filter="blinds(horizontal)">
                                      <p:cBhvr additive="base">
                                        <p:cTn id="39" dur="500"/>
                                        <p:tgtEl>
                                          <p:spTgt spid="2686"/>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grpId="0" nodeType="withEffect">
                                  <p:stCondLst>
                                    <p:cond delay="0"/>
                                  </p:stCondLst>
                                  <p:childTnLst>
                                    <p:set>
                                      <p:cBhvr additive="base">
                                        <p:cTn id="43" dur="1" fill="hold">
                                          <p:stCondLst>
                                            <p:cond delay="0"/>
                                          </p:stCondLst>
                                        </p:cTn>
                                        <p:tgtEl>
                                          <p:spTgt spid="2687"/>
                                        </p:tgtEl>
                                        <p:attrNameLst>
                                          <p:attrName>style.visibility</p:attrName>
                                        </p:attrNameLst>
                                      </p:cBhvr>
                                      <p:to>
                                        <p:strVal val="visible"/>
                                      </p:to>
                                    </p:set>
                                    <p:animEffect transition="in" filter="blinds(horizontal)">
                                      <p:cBhvr additive="base">
                                        <p:cTn id="44" dur="500"/>
                                        <p:tgtEl>
                                          <p:spTgt spid="2687"/>
                                        </p:tgtEl>
                                      </p:cBhvr>
                                    </p:animEffect>
                                  </p:childTnLst>
                                </p:cTn>
                              </p:par>
                            </p:childTnLst>
                          </p:cTn>
                        </p:par>
                      </p:childTnLst>
                    </p:cTn>
                  </p:par>
                  <p:par>
                    <p:cTn id="45" fill="hold" nodeType="clickPar">
                      <p:stCondLst>
                        <p:cond delay="indefinite"/>
                      </p:stCondLst>
                      <p:childTnLst>
                        <p:par>
                          <p:cTn id="46" fill="hold" nodeType="withGroup">
                            <p:stCondLst>
                              <p:cond delay="indefinite"/>
                            </p:stCondLst>
                          </p:cTn>
                        </p:par>
                        <p:par>
                          <p:cTn id="47" fill="hold" nodeType="afterGroup">
                            <p:stCondLst>
                              <p:cond delay="0"/>
                            </p:stCondLst>
                            <p:childTnLst>
                              <p:par>
                                <p:cTn id="48" presetID="3" presetClass="entr" presetSubtype="10" fill="hold" grpId="0" nodeType="clickEffect">
                                  <p:childTnLst>
                                    <p:set>
                                      <p:cBhvr additive="base">
                                        <p:cTn id="49" dur="1" fill="hold">
                                          <p:stCondLst>
                                            <p:cond delay="0"/>
                                          </p:stCondLst>
                                        </p:cTn>
                                        <p:tgtEl>
                                          <p:spTgt spid="2688"/>
                                        </p:tgtEl>
                                        <p:attrNameLst>
                                          <p:attrName>style.visibility</p:attrName>
                                        </p:attrNameLst>
                                      </p:cBhvr>
                                      <p:to>
                                        <p:strVal val="visible"/>
                                      </p:to>
                                    </p:set>
                                    <p:animEffect transition="in" filter="blinds(horizontal)">
                                      <p:cBhvr additive="base">
                                        <p:cTn id="50" dur="500"/>
                                        <p:tgtEl>
                                          <p:spTgt spid="2688"/>
                                        </p:tgtEl>
                                      </p:cBhvr>
                                    </p:animEffect>
                                  </p:childTnLst>
                                </p:cTn>
                              </p:par>
                            </p:childTnLst>
                          </p:cTn>
                        </p:par>
                      </p:childTnLst>
                    </p:cTn>
                  </p:par>
                  <p:par>
                    <p:cTn id="51" fill="hold" nodeType="clickPar">
                      <p:stCondLst>
                        <p:cond delay="indefinite"/>
                      </p:stCondLst>
                      <p:childTnLst>
                        <p:par>
                          <p:cTn id="52" fill="hold" nodeType="withGroup">
                            <p:stCondLst>
                              <p:cond delay="indefinite"/>
                            </p:stCondLst>
                          </p:cTn>
                        </p:par>
                        <p:par>
                          <p:cTn id="53" fill="hold" nodeType="afterGroup">
                            <p:stCondLst>
                              <p:cond delay="0"/>
                            </p:stCondLst>
                            <p:childTnLst>
                              <p:par>
                                <p:cTn id="54" presetID="3" presetClass="entr" presetSubtype="10" fill="hold" grpId="0" nodeType="clickEffect">
                                  <p:childTnLst>
                                    <p:set>
                                      <p:cBhvr additive="base">
                                        <p:cTn id="55" dur="1" fill="hold">
                                          <p:stCondLst>
                                            <p:cond delay="0"/>
                                          </p:stCondLst>
                                        </p:cTn>
                                        <p:tgtEl>
                                          <p:spTgt spid="2689"/>
                                        </p:tgtEl>
                                        <p:attrNameLst>
                                          <p:attrName>style.visibility</p:attrName>
                                        </p:attrNameLst>
                                      </p:cBhvr>
                                      <p:to>
                                        <p:strVal val="visible"/>
                                      </p:to>
                                    </p:set>
                                    <p:animEffect transition="in" filter="blinds(horizontal)">
                                      <p:cBhvr additive="base">
                                        <p:cTn id="56" dur="500"/>
                                        <p:tgtEl>
                                          <p:spTgt spid="2689"/>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withEffect">
                                  <p:stCondLst>
                                    <p:cond delay="0"/>
                                  </p:stCondLst>
                                  <p:childTnLst>
                                    <p:set>
                                      <p:cBhvr additive="base">
                                        <p:cTn id="60" dur="1" fill="hold">
                                          <p:stCondLst>
                                            <p:cond delay="0"/>
                                          </p:stCondLst>
                                        </p:cTn>
                                        <p:tgtEl>
                                          <p:spTgt spid="2690"/>
                                        </p:tgtEl>
                                        <p:attrNameLst>
                                          <p:attrName>style.visibility</p:attrName>
                                        </p:attrNameLst>
                                      </p:cBhvr>
                                      <p:to>
                                        <p:strVal val="visible"/>
                                      </p:to>
                                    </p:set>
                                    <p:animEffect transition="in" filter="blinds(horizontal)">
                                      <p:cBhvr additive="base">
                                        <p:cTn id="61" dur="500"/>
                                        <p:tgtEl>
                                          <p:spTgt spid="2690"/>
                                        </p:tgtEl>
                                      </p:cBhvr>
                                    </p:animEffect>
                                  </p:childTnLst>
                                </p:cTn>
                              </p:par>
                            </p:childTnLst>
                          </p:cTn>
                        </p:par>
                      </p:childTnLst>
                    </p:cTn>
                  </p:par>
                  <p:par>
                    <p:cTn id="62" fill="hold" nodeType="clickPar">
                      <p:stCondLst>
                        <p:cond delay="indefinite"/>
                      </p:stCondLst>
                      <p:childTnLst>
                        <p:par>
                          <p:cTn id="63" fill="hold" nodeType="withGroup">
                            <p:stCondLst>
                              <p:cond delay="indefinite"/>
                            </p:stCondLst>
                          </p:cTn>
                        </p:par>
                      </p:childTnLst>
                    </p:cTn>
                  </p:par>
                  <p:par>
                    <p:cTn id="64" fill="hold">
                      <p:stCondLst>
                        <p:cond delay="indefinite"/>
                      </p:stCondLst>
                      <p:childTnLst>
                        <p:par>
                          <p:cTn id="65" fill="hold" nodeType="afterGroup">
                            <p:stCondLst>
                              <p:cond delay="0"/>
                            </p:stCondLst>
                            <p:childTnLst>
                              <p:par>
                                <p:cTn id="66" presetID="3" presetClass="entr" presetSubtype="10" fill="hold" grpId="0" nodeType="clickEffect">
                                  <p:stCondLst>
                                    <p:cond delay="0"/>
                                  </p:stCondLst>
                                  <p:childTnLst>
                                    <p:set>
                                      <p:cBhvr additive="base">
                                        <p:cTn id="67" dur="1" fill="hold">
                                          <p:stCondLst>
                                            <p:cond delay="0"/>
                                          </p:stCondLst>
                                        </p:cTn>
                                        <p:tgtEl>
                                          <p:spTgt spid="2691"/>
                                        </p:tgtEl>
                                        <p:attrNameLst>
                                          <p:attrName>style.visibility</p:attrName>
                                        </p:attrNameLst>
                                      </p:cBhvr>
                                      <p:to>
                                        <p:strVal val="visible"/>
                                      </p:to>
                                    </p:set>
                                    <p:animEffect transition="in" filter="blinds(horizontal)">
                                      <p:cBhvr additive="base">
                                        <p:cTn id="68" dur="500"/>
                                        <p:tgtEl>
                                          <p:spTgt spid="26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1" grpId="0" animBg="1"/>
      <p:bldP spid="2683" grpId="0" animBg="1"/>
      <p:bldP spid="2684" grpId="0" animBg="1"/>
      <p:bldP spid="2685" grpId="0" animBg="1"/>
      <p:bldP spid="2686" grpId="0" animBg="1"/>
      <p:bldP spid="2687" grpId="0" animBg="1"/>
      <p:bldP spid="2688" grpId="0" animBg="1"/>
      <p:bldP spid="2689" grpId="0" animBg="1"/>
      <p:bldP spid="2690" grpId="0" animBg="1"/>
      <p:bldP spid="2691" grpId="0" animBg="1"/>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46"/>
          <p:cNvSpPr>
            <a:spLocks noChangeArrowheads="1"/>
          </p:cNvSpPr>
          <p:nvPr/>
        </p:nvSpPr>
        <p:spPr bwMode="auto">
          <a:xfrm>
            <a:off x="1905000" y="533400"/>
            <a:ext cx="541020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于是，由  </a:t>
            </a:r>
            <a:r>
              <a:rPr lang="en-US" altLang="zh-CN" sz="2400"/>
              <a:t>|| </a:t>
            </a:r>
            <a:r>
              <a:rPr lang="en-US" altLang="zh-CN" sz="2400" i="1">
                <a:cs typeface="Times New Roman" panose="02020603050405020304" pitchFamily="18" charset="0"/>
              </a:rPr>
              <a:t>△x</a:t>
            </a:r>
            <a:r>
              <a:rPr lang="en-US" altLang="zh-CN" sz="2400"/>
              <a:t> ||≤</a:t>
            </a:r>
            <a:r>
              <a:rPr lang="en-US" altLang="zh-CN" sz="2400" i="1"/>
              <a:t>||A</a:t>
            </a:r>
            <a:r>
              <a:rPr lang="en-US" altLang="zh-CN" sz="2400" i="1" baseline="30000"/>
              <a:t>-</a:t>
            </a:r>
            <a:r>
              <a:rPr lang="en-US" altLang="zh-CN" sz="2400" baseline="30000"/>
              <a:t>1</a:t>
            </a:r>
            <a:r>
              <a:rPr lang="en-US" altLang="zh-CN" sz="2400" i="1"/>
              <a:t>|| ||</a:t>
            </a:r>
            <a:r>
              <a:rPr lang="en-US" altLang="zh-CN" sz="2400" i="1">
                <a:cs typeface="Times New Roman" panose="02020603050405020304" pitchFamily="18" charset="0"/>
              </a:rPr>
              <a:t>△b||</a:t>
            </a:r>
          </a:p>
        </p:txBody>
      </p:sp>
      <mc:AlternateContent xmlns:mc="http://schemas.openxmlformats.org/markup-compatibility/2006">
        <mc:Choice xmlns:a14="http://schemas.microsoft.com/office/drawing/2010/main" Requires="a14">
          <p:sp>
            <p:nvSpPr>
              <p:cNvPr id="2696" name="Object 648"/>
              <p:cNvSpPr txBox="1"/>
              <p:nvPr/>
            </p:nvSpPr>
            <p:spPr bwMode="auto">
              <a:xfrm>
                <a:off x="5371308" y="1052626"/>
                <a:ext cx="2092844" cy="864206"/>
              </a:xfrm>
              <a:prstGeom prst="rect">
                <a:avLst/>
              </a:prstGeom>
              <a:noFill/>
              <a:ln>
                <a:noFill/>
              </a:ln>
              <a:extLst/>
            </p:spPr>
            <p:txBody>
              <a:bodyPr>
                <a:normAutofit/>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m:t>
                              </m:r>
                            </m:e>
                          </m:d>
                        </m:den>
                      </m:f>
                    </m:oMath>
                  </m:oMathPara>
                </a14:m>
                <a:endParaRPr lang="zh-CN" altLang="en-US" dirty="0"/>
              </a:p>
            </p:txBody>
          </p:sp>
        </mc:Choice>
        <mc:Fallback>
          <p:sp>
            <p:nvSpPr>
              <p:cNvPr id="2696" name="Object 648"/>
              <p:cNvSpPr txBox="1">
                <a:spLocks noRot="1" noChangeAspect="1" noMove="1" noResize="1" noEditPoints="1" noAdjustHandles="1" noChangeArrowheads="1" noChangeShapeType="1" noTextEdit="1"/>
              </p:cNvSpPr>
              <p:nvPr/>
            </p:nvSpPr>
            <p:spPr bwMode="auto">
              <a:xfrm>
                <a:off x="5371308" y="1052626"/>
                <a:ext cx="2092844" cy="864206"/>
              </a:xfrm>
              <a:prstGeom prst="rect">
                <a:avLst/>
              </a:prstGeom>
              <a:blipFill>
                <a:blip r:embed="rId2"/>
                <a:stretch>
                  <a:fillRect/>
                </a:stretch>
              </a:blipFill>
              <a:ln>
                <a:noFill/>
              </a:ln>
              <a:extLst/>
            </p:spPr>
            <p:txBody>
              <a:bodyPr/>
              <a:lstStyle/>
              <a:p>
                <a:r>
                  <a:rPr lang="zh-CN" altLang="en-US">
                    <a:noFill/>
                  </a:rPr>
                  <a:t> </a:t>
                </a:r>
              </a:p>
            </p:txBody>
          </p:sp>
        </mc:Fallback>
      </mc:AlternateContent>
      <p:grpSp>
        <p:nvGrpSpPr>
          <p:cNvPr id="14" name="组合 13">
            <a:extLst>
              <a:ext uri="{FF2B5EF4-FFF2-40B4-BE49-F238E27FC236}">
                <a16:creationId xmlns:a16="http://schemas.microsoft.com/office/drawing/2014/main" id="{9DA6C51F-272B-4A77-9739-FC3BAA1592F5}"/>
              </a:ext>
            </a:extLst>
          </p:cNvPr>
          <p:cNvGrpSpPr/>
          <p:nvPr/>
        </p:nvGrpSpPr>
        <p:grpSpPr>
          <a:xfrm>
            <a:off x="1958975" y="2093913"/>
            <a:ext cx="5880100" cy="1430337"/>
            <a:chOff x="1958975" y="2093913"/>
            <a:chExt cx="5880100" cy="1430337"/>
          </a:xfrm>
        </p:grpSpPr>
        <p:grpSp>
          <p:nvGrpSpPr>
            <p:cNvPr id="4" name="组合 3"/>
            <p:cNvGrpSpPr>
              <a:grpSpLocks/>
            </p:cNvGrpSpPr>
            <p:nvPr/>
          </p:nvGrpSpPr>
          <p:grpSpPr bwMode="auto">
            <a:xfrm>
              <a:off x="3600450" y="2578100"/>
              <a:ext cx="4238625" cy="946150"/>
              <a:chOff x="3599920" y="2578822"/>
              <a:chExt cx="4238412" cy="945429"/>
            </a:xfrm>
          </p:grpSpPr>
          <p:sp>
            <p:nvSpPr>
              <p:cNvPr id="43020" name="矩形 1"/>
              <p:cNvSpPr>
                <a:spLocks noChangeArrowheads="1"/>
              </p:cNvSpPr>
              <p:nvPr/>
            </p:nvSpPr>
            <p:spPr bwMode="auto">
              <a:xfrm>
                <a:off x="4252069" y="2578822"/>
                <a:ext cx="3586263" cy="945429"/>
              </a:xfrm>
              <a:prstGeom prst="rect">
                <a:avLst/>
              </a:prstGeom>
              <a:solidFill>
                <a:srgbClr val="FFFF00">
                  <a:alpha val="36862"/>
                </a:srgbClr>
              </a:solidFill>
              <a:ln w="9525"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 name="文本框 2"/>
              <p:cNvSpPr txBox="1">
                <a:spLocks noRot="1" noChangeAspect="1" noMove="1" noResize="1" noEditPoints="1" noAdjustHandles="1" noChangeArrowheads="1" noChangeShapeType="1" noTextEdit="1"/>
              </p:cNvSpPr>
              <p:nvPr/>
            </p:nvSpPr>
            <p:spPr>
              <a:xfrm>
                <a:off x="3599920" y="2843620"/>
                <a:ext cx="680827" cy="369332"/>
              </a:xfrm>
              <a:prstGeom prst="rect">
                <a:avLst/>
              </a:prstGeom>
              <a:blipFill>
                <a:blip r:embed="rId3"/>
                <a:stretch>
                  <a:fillRect l="-5405" r="-4505" b="-11475"/>
                </a:stretch>
              </a:blipFill>
            </p:spPr>
            <p:txBody>
              <a:bodyPr/>
              <a:lstStyle/>
              <a:p>
                <a:r>
                  <a:rPr lang="zh-CN" altLang="en-US">
                    <a:noFill/>
                  </a:rPr>
                  <a:t> </a:t>
                </a:r>
              </a:p>
            </p:txBody>
          </p:sp>
        </p:grpSp>
        <p:sp>
          <p:nvSpPr>
            <p:cNvPr id="2695" name="Rectangle 647"/>
            <p:cNvSpPr>
              <a:spLocks noChangeArrowheads="1"/>
            </p:cNvSpPr>
            <p:nvPr/>
          </p:nvSpPr>
          <p:spPr bwMode="auto">
            <a:xfrm>
              <a:off x="1958975" y="2093913"/>
              <a:ext cx="41148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得到解的相对误差为</a:t>
              </a:r>
            </a:p>
          </p:txBody>
        </p:sp>
        <mc:AlternateContent xmlns:mc="http://schemas.openxmlformats.org/markup-compatibility/2006">
          <mc:Choice xmlns:a14="http://schemas.microsoft.com/office/drawing/2010/main" Requires="a14">
            <p:sp>
              <p:nvSpPr>
                <p:cNvPr id="2697" name="Object 649"/>
                <p:cNvSpPr txBox="1"/>
                <p:nvPr/>
              </p:nvSpPr>
              <p:spPr bwMode="auto">
                <a:xfrm>
                  <a:off x="4424363" y="2654300"/>
                  <a:ext cx="3241675" cy="776288"/>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𝑥</m:t>
                                </m:r>
                              </m:e>
                            </m:d>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den>
                        </m:f>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−1</m:t>
                                </m:r>
                              </m:sup>
                            </m:sSup>
                          </m:e>
                        </m:d>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𝑏</m:t>
                                </m:r>
                              </m:e>
                            </m:d>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m:t>
                                </m:r>
                              </m:e>
                            </m:d>
                          </m:den>
                        </m:f>
                      </m:oMath>
                    </m:oMathPara>
                  </a14:m>
                  <a:endParaRPr lang="zh-CN" altLang="en-US" dirty="0"/>
                </a:p>
              </p:txBody>
            </p:sp>
          </mc:Choice>
          <mc:Fallback>
            <p:sp>
              <p:nvSpPr>
                <p:cNvPr id="2697" name="Object 649"/>
                <p:cNvSpPr txBox="1">
                  <a:spLocks noRot="1" noChangeAspect="1" noMove="1" noResize="1" noEditPoints="1" noAdjustHandles="1" noChangeArrowheads="1" noChangeShapeType="1" noTextEdit="1"/>
                </p:cNvSpPr>
                <p:nvPr/>
              </p:nvSpPr>
              <p:spPr bwMode="auto">
                <a:xfrm>
                  <a:off x="4424363" y="2654300"/>
                  <a:ext cx="3241675" cy="776288"/>
                </a:xfrm>
                <a:prstGeom prst="rect">
                  <a:avLst/>
                </a:prstGeom>
                <a:blipFill>
                  <a:blip r:embed="rId4"/>
                  <a:stretch>
                    <a:fillRect/>
                  </a:stretch>
                </a:blipFill>
                <a:ln>
                  <a:noFill/>
                </a:ln>
                <a:extLst/>
              </p:spPr>
              <p:txBody>
                <a:bodyPr/>
                <a:lstStyle/>
                <a:p>
                  <a:r>
                    <a:rPr lang="zh-CN" altLang="en-US">
                      <a:noFill/>
                    </a:rPr>
                    <a:t> </a:t>
                  </a:r>
                </a:p>
              </p:txBody>
            </p:sp>
          </mc:Fallback>
        </mc:AlternateContent>
      </p:grpSp>
      <p:sp>
        <p:nvSpPr>
          <p:cNvPr id="2698" name="Rectangle 650"/>
          <p:cNvSpPr>
            <a:spLocks noChangeArrowheads="1"/>
          </p:cNvSpPr>
          <p:nvPr/>
        </p:nvSpPr>
        <p:spPr bwMode="auto">
          <a:xfrm>
            <a:off x="2465388" y="1208088"/>
            <a:ext cx="34290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及      </a:t>
            </a:r>
            <a:r>
              <a:rPr lang="en-US" altLang="zh-CN" sz="2400" i="1"/>
              <a:t>||b || </a:t>
            </a:r>
            <a:r>
              <a:rPr lang="en-US" altLang="zh-CN" sz="2400"/>
              <a:t>≤</a:t>
            </a:r>
            <a:r>
              <a:rPr lang="en-US" altLang="zh-CN" sz="2400" i="1"/>
              <a:t>||A|| ||</a:t>
            </a:r>
            <a:r>
              <a:rPr lang="en-US" altLang="zh-CN" sz="2400" i="1">
                <a:cs typeface="Times New Roman" panose="02020603050405020304" pitchFamily="18" charset="0"/>
              </a:rPr>
              <a:t>x||</a:t>
            </a:r>
          </a:p>
        </p:txBody>
      </p:sp>
      <p:sp>
        <p:nvSpPr>
          <p:cNvPr id="2699" name="Rectangle 651"/>
          <p:cNvSpPr>
            <a:spLocks noChangeArrowheads="1"/>
          </p:cNvSpPr>
          <p:nvPr/>
        </p:nvSpPr>
        <p:spPr bwMode="auto">
          <a:xfrm>
            <a:off x="1958975" y="3617913"/>
            <a:ext cx="84582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令  </a:t>
            </a:r>
            <a:r>
              <a:rPr lang="en-US" altLang="zh-CN" sz="2400" dirty="0"/>
              <a:t>Cond(</a:t>
            </a:r>
            <a:r>
              <a:rPr lang="en-US" altLang="zh-CN" sz="2400" i="1" dirty="0"/>
              <a:t>A</a:t>
            </a:r>
            <a:r>
              <a:rPr lang="en-US" altLang="zh-CN" sz="2400" dirty="0"/>
              <a:t>)=</a:t>
            </a:r>
            <a:r>
              <a:rPr lang="en-US" altLang="zh-CN" sz="2400" i="1" dirty="0"/>
              <a:t>||A|| ||A</a:t>
            </a:r>
            <a:r>
              <a:rPr lang="en-US" altLang="zh-CN" sz="2400" i="1" baseline="30000" dirty="0"/>
              <a:t>-</a:t>
            </a:r>
            <a:r>
              <a:rPr lang="en-US" altLang="zh-CN" sz="2400" baseline="30000" dirty="0"/>
              <a:t>1</a:t>
            </a:r>
            <a:r>
              <a:rPr lang="en-US" altLang="zh-CN" sz="2400" i="1" dirty="0"/>
              <a:t>||</a:t>
            </a:r>
            <a:r>
              <a:rPr lang="en-US" altLang="zh-CN" sz="2400" dirty="0"/>
              <a:t>,  </a:t>
            </a:r>
            <a:r>
              <a:rPr lang="zh-CN" altLang="en-US" sz="2400" dirty="0"/>
              <a:t>并称其为矩阵</a:t>
            </a:r>
            <a:r>
              <a:rPr lang="en-US" altLang="zh-CN" sz="2400" i="1" dirty="0"/>
              <a:t>A</a:t>
            </a:r>
            <a:r>
              <a:rPr lang="zh-CN" altLang="en-US" sz="2400" dirty="0"/>
              <a:t>的</a:t>
            </a:r>
            <a:r>
              <a:rPr lang="zh-CN" altLang="en-US" sz="2400" dirty="0">
                <a:solidFill>
                  <a:srgbClr val="FF0000"/>
                </a:solidFill>
              </a:rPr>
              <a:t>条件数</a:t>
            </a:r>
            <a:r>
              <a:rPr lang="zh-CN" altLang="en-US" sz="2400" dirty="0"/>
              <a:t>。</a:t>
            </a:r>
          </a:p>
        </p:txBody>
      </p:sp>
      <p:grpSp>
        <p:nvGrpSpPr>
          <p:cNvPr id="11" name="组合 10">
            <a:extLst>
              <a:ext uri="{FF2B5EF4-FFF2-40B4-BE49-F238E27FC236}">
                <a16:creationId xmlns:a16="http://schemas.microsoft.com/office/drawing/2014/main" id="{0CEDE445-1F4A-4B38-8838-E1292806C86D}"/>
              </a:ext>
            </a:extLst>
          </p:cNvPr>
          <p:cNvGrpSpPr/>
          <p:nvPr/>
        </p:nvGrpSpPr>
        <p:grpSpPr>
          <a:xfrm>
            <a:off x="2006600" y="4344988"/>
            <a:ext cx="3879300" cy="914139"/>
            <a:chOff x="2006600" y="4344988"/>
            <a:chExt cx="3879300" cy="914139"/>
          </a:xfrm>
        </p:grpSpPr>
        <p:sp>
          <p:nvSpPr>
            <p:cNvPr id="2700" name="Rectangle 652"/>
            <p:cNvSpPr>
              <a:spLocks noChangeArrowheads="1"/>
            </p:cNvSpPr>
            <p:nvPr/>
          </p:nvSpPr>
          <p:spPr bwMode="auto">
            <a:xfrm>
              <a:off x="2006600" y="4379913"/>
              <a:ext cx="80010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dirty="0"/>
                <a:t>这时</a:t>
              </a:r>
            </a:p>
          </p:txBody>
        </p:sp>
        <mc:AlternateContent xmlns:mc="http://schemas.openxmlformats.org/markup-compatibility/2006">
          <mc:Choice xmlns:a14="http://schemas.microsoft.com/office/drawing/2010/main" Requires="a14">
            <p:sp>
              <p:nvSpPr>
                <p:cNvPr id="2701" name="Object 653"/>
                <p:cNvSpPr txBox="1"/>
                <p:nvPr/>
              </p:nvSpPr>
              <p:spPr bwMode="auto">
                <a:xfrm>
                  <a:off x="2947413" y="4344988"/>
                  <a:ext cx="2938487" cy="914139"/>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𝑥</m:t>
                                </m:r>
                              </m:e>
                            </m:d>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𝑥</m:t>
                                </m:r>
                              </m:e>
                            </m:d>
                          </m:den>
                        </m:f>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𝐶𝑜𝑛𝑑</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d>
                              <m:dPr>
                                <m:begChr m:val="‖"/>
                                <m:endChr m:val="‖"/>
                                <m:ctrlPr>
                                  <a:rPr lang="zh-CN" altLang="en-US" i="1">
                                    <a:solidFill>
                                      <a:srgbClr val="000000"/>
                                    </a:solidFill>
                                    <a:latin typeface="Cambria Math" panose="02040503050406030204" pitchFamily="18" charset="0"/>
                                  </a:rPr>
                                </m:ctrlPr>
                              </m:dPr>
                              <m:e>
                                <m:r>
                                  <m:rPr>
                                    <m:sty m:val="p"/>
                                  </m:rPr>
                                  <a:rPr lang="zh-CN" altLang="en-US" i="1">
                                    <a:solidFill>
                                      <a:srgbClr val="000000"/>
                                    </a:solidFill>
                                    <a:latin typeface="Cambria Math" panose="02040503050406030204" pitchFamily="18" charset="0"/>
                                  </a:rPr>
                                  <m:t>Δ</m:t>
                                </m:r>
                                <m:r>
                                  <a:rPr lang="zh-CN" altLang="en-US" i="1">
                                    <a:solidFill>
                                      <a:srgbClr val="000000"/>
                                    </a:solidFill>
                                    <a:latin typeface="Cambria Math" panose="02040503050406030204" pitchFamily="18" charset="0"/>
                                  </a:rPr>
                                  <m:t>𝑏</m:t>
                                </m:r>
                              </m:e>
                            </m:d>
                          </m:num>
                          <m:den>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𝑏</m:t>
                                </m:r>
                              </m:e>
                            </m:d>
                          </m:den>
                        </m:f>
                      </m:oMath>
                    </m:oMathPara>
                  </a14:m>
                  <a:endParaRPr lang="zh-CN" altLang="en-US" dirty="0"/>
                </a:p>
              </p:txBody>
            </p:sp>
          </mc:Choice>
          <mc:Fallback>
            <p:sp>
              <p:nvSpPr>
                <p:cNvPr id="2701" name="Object 653"/>
                <p:cNvSpPr txBox="1">
                  <a:spLocks noRot="1" noChangeAspect="1" noMove="1" noResize="1" noEditPoints="1" noAdjustHandles="1" noChangeArrowheads="1" noChangeShapeType="1" noTextEdit="1"/>
                </p:cNvSpPr>
                <p:nvPr/>
              </p:nvSpPr>
              <p:spPr bwMode="auto">
                <a:xfrm>
                  <a:off x="2947413" y="4344988"/>
                  <a:ext cx="2938487" cy="914139"/>
                </a:xfrm>
                <a:prstGeom prst="rect">
                  <a:avLst/>
                </a:prstGeom>
                <a:blipFill>
                  <a:blip r:embed="rId5"/>
                  <a:stretch>
                    <a:fillRect/>
                  </a:stretch>
                </a:blipFill>
                <a:ln>
                  <a:noFill/>
                </a:ln>
                <a:extLst/>
              </p:spPr>
              <p:txBody>
                <a:bodyPr/>
                <a:lstStyle/>
                <a:p>
                  <a:r>
                    <a:rPr lang="zh-CN" altLang="en-US">
                      <a:noFill/>
                    </a:rPr>
                    <a:t> </a:t>
                  </a:r>
                </a:p>
              </p:txBody>
            </p:sp>
          </mc:Fallback>
        </mc:AlternateContent>
      </p:grpSp>
      <p:sp>
        <p:nvSpPr>
          <p:cNvPr id="2702" name="Rectangle 654"/>
          <p:cNvSpPr>
            <a:spLocks noChangeArrowheads="1"/>
          </p:cNvSpPr>
          <p:nvPr/>
        </p:nvSpPr>
        <p:spPr bwMode="auto">
          <a:xfrm>
            <a:off x="1199456" y="6144952"/>
            <a:ext cx="8153400" cy="646112"/>
          </a:xfrm>
          <a:prstGeom prst="rect">
            <a:avLst/>
          </a:prstGeom>
          <a:noFill/>
          <a:ln w="9525" algn="ctr">
            <a:solidFill>
              <a:srgbClr val="00206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zh-CN" altLang="en-US" sz="2400" b="1" dirty="0">
                <a:solidFill>
                  <a:srgbClr val="002060"/>
                </a:solidFill>
              </a:rPr>
              <a:t>求解线性方程组所产生的误差与系数矩阵的条件数有关</a:t>
            </a:r>
            <a:r>
              <a:rPr lang="zh-CN" altLang="en-US" sz="2400" dirty="0"/>
              <a:t>。</a:t>
            </a:r>
          </a:p>
        </p:txBody>
      </p:sp>
      <p:pic>
        <p:nvPicPr>
          <p:cNvPr id="2" name="图片 1"/>
          <p:cNvPicPr>
            <a:picLocks noChangeAspect="1"/>
          </p:cNvPicPr>
          <p:nvPr/>
        </p:nvPicPr>
        <p:blipFill>
          <a:blip r:embed="rId6"/>
          <a:stretch>
            <a:fillRect/>
          </a:stretch>
        </p:blipFill>
        <p:spPr>
          <a:xfrm>
            <a:off x="6672064" y="4079875"/>
            <a:ext cx="4016088" cy="20270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indefinite"/>
                            </p:stCondLst>
                          </p:cTn>
                        </p:par>
                      </p:childTnLst>
                    </p:cTn>
                  </p:par>
                  <p:par>
                    <p:cTn id="5" fill="hold" nodeType="clickPar">
                      <p:stCondLst>
                        <p:cond delay="indefinite"/>
                      </p:stCondLst>
                      <p:childTnLst>
                        <p:par>
                          <p:cTn id="6" fill="hold" nodeType="withGroup">
                            <p:stCondLst>
                              <p:cond delay="indefinite"/>
                            </p:stCondLst>
                          </p:cTn>
                        </p:par>
                      </p:childTnLst>
                    </p:cTn>
                  </p:par>
                  <p:par>
                    <p:cTn id="7" fill="hold" nodeType="clickPar">
                      <p:stCondLst>
                        <p:cond delay="indefinite"/>
                      </p:stCondLst>
                      <p:childTnLst>
                        <p:par>
                          <p:cTn id="8" fill="hold" nodeType="withGroup">
                            <p:stCondLst>
                              <p:cond delay="indefinite"/>
                            </p:stCondLst>
                          </p:cTn>
                        </p:par>
                      </p:childTnLst>
                    </p:cTn>
                  </p:par>
                  <p:par>
                    <p:cTn id="9" fill="hold" nodeType="clickPar">
                      <p:stCondLst>
                        <p:cond delay="indefinite"/>
                      </p:stCondLst>
                      <p:childTnLst>
                        <p:par>
                          <p:cTn id="10" fill="hold" nodeType="withGroup">
                            <p:stCondLst>
                              <p:cond delay="indefinite"/>
                            </p:stCondLst>
                          </p:cTn>
                        </p:par>
                      </p:childTnLst>
                    </p:cTn>
                  </p:par>
                  <p:par>
                    <p:cTn id="11" fill="hold" nodeType="clickPar">
                      <p:stCondLst>
                        <p:cond delay="indefinite"/>
                      </p:stCondLst>
                      <p:childTnLst>
                        <p:par>
                          <p:cTn id="12" fill="hold" nodeType="withGroup">
                            <p:stCondLst>
                              <p:cond delay="indefinite"/>
                            </p:stCond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9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9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6" grpId="0"/>
      <p:bldP spid="2699" grpId="0"/>
      <p:bldP spid="270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57"/>
          <p:cNvSpPr>
            <a:spLocks noChangeArrowheads="1"/>
          </p:cNvSpPr>
          <p:nvPr/>
        </p:nvSpPr>
        <p:spPr bwMode="auto">
          <a:xfrm>
            <a:off x="2208213" y="858838"/>
            <a:ext cx="7775575"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en-US" altLang="zh-CN" sz="2400" dirty="0"/>
              <a:t>       </a:t>
            </a:r>
            <a:r>
              <a:rPr lang="zh-CN" altLang="en-US" sz="2400" dirty="0"/>
              <a:t>对于线性方程组 </a:t>
            </a:r>
            <a:r>
              <a:rPr lang="en-US" altLang="zh-CN" sz="2400" i="1" dirty="0"/>
              <a:t>Ax=b</a:t>
            </a:r>
            <a:r>
              <a:rPr lang="zh-CN" altLang="en-US" sz="2400" dirty="0"/>
              <a:t>，如果系数矩阵的条件数</a:t>
            </a:r>
            <a:r>
              <a:rPr lang="en-US" altLang="zh-CN" sz="2400" i="1" dirty="0"/>
              <a:t>Cond</a:t>
            </a:r>
            <a:r>
              <a:rPr lang="en-US" altLang="zh-CN" sz="2400" dirty="0"/>
              <a:t>(</a:t>
            </a:r>
            <a:r>
              <a:rPr lang="en-US" altLang="zh-CN" sz="2400" i="1" dirty="0"/>
              <a:t>A</a:t>
            </a:r>
            <a:r>
              <a:rPr lang="en-US" altLang="zh-CN" sz="2400" dirty="0"/>
              <a:t>)=</a:t>
            </a:r>
            <a:r>
              <a:rPr lang="en-US" altLang="zh-CN" sz="2400" i="1" dirty="0"/>
              <a:t>||A || ||A</a:t>
            </a:r>
            <a:r>
              <a:rPr lang="en-US" altLang="zh-CN" sz="2400" i="1" baseline="30000" dirty="0"/>
              <a:t>-</a:t>
            </a:r>
            <a:r>
              <a:rPr lang="en-US" altLang="zh-CN" sz="2400" baseline="30000" dirty="0"/>
              <a:t>1</a:t>
            </a:r>
            <a:r>
              <a:rPr lang="en-US" altLang="zh-CN" sz="2400" i="1" dirty="0"/>
              <a:t> ||</a:t>
            </a:r>
            <a:r>
              <a:rPr lang="en-US" altLang="zh-CN" sz="2400" dirty="0"/>
              <a:t> </a:t>
            </a:r>
            <a:r>
              <a:rPr lang="zh-CN" altLang="en-US" sz="2400" dirty="0"/>
              <a:t>太大，则称相应的方程组为</a:t>
            </a:r>
            <a:r>
              <a:rPr lang="zh-CN" altLang="en-US" sz="2400" dirty="0">
                <a:solidFill>
                  <a:srgbClr val="3333FF"/>
                </a:solidFill>
              </a:rPr>
              <a:t>病态方程组（解对系数敏感）</a:t>
            </a:r>
            <a:r>
              <a:rPr lang="zh-CN" altLang="en-US" sz="2400" dirty="0"/>
              <a:t>。</a:t>
            </a:r>
          </a:p>
        </p:txBody>
      </p:sp>
      <p:sp>
        <p:nvSpPr>
          <p:cNvPr id="2706" name="Rectangle 658"/>
          <p:cNvSpPr>
            <a:spLocks noChangeArrowheads="1"/>
          </p:cNvSpPr>
          <p:nvPr/>
        </p:nvSpPr>
        <p:spPr bwMode="auto">
          <a:xfrm>
            <a:off x="2100263" y="3212976"/>
            <a:ext cx="7883525" cy="175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en-US" altLang="zh-CN" sz="2400" dirty="0"/>
              <a:t>      </a:t>
            </a:r>
            <a:r>
              <a:rPr lang="zh-CN" altLang="en-US" sz="2400" dirty="0"/>
              <a:t>病态现象是方程组的</a:t>
            </a:r>
            <a:r>
              <a:rPr lang="zh-CN" altLang="en-US" sz="2400" b="1" dirty="0">
                <a:solidFill>
                  <a:srgbClr val="002060"/>
                </a:solidFill>
              </a:rPr>
              <a:t>固有属性</a:t>
            </a:r>
            <a:r>
              <a:rPr lang="zh-CN" altLang="en-US" sz="2400" dirty="0"/>
              <a:t>，无法改变，因此在求解时为了不至于产生太大的误差，应该</a:t>
            </a:r>
            <a:r>
              <a:rPr lang="zh-CN" altLang="en-US" sz="2400" dirty="0">
                <a:solidFill>
                  <a:srgbClr val="002060"/>
                </a:solidFill>
              </a:rPr>
              <a:t>尽量减少原始数据 </a:t>
            </a:r>
            <a:r>
              <a:rPr lang="en-US" altLang="zh-CN" sz="2400" i="1" dirty="0">
                <a:solidFill>
                  <a:srgbClr val="002060"/>
                </a:solidFill>
              </a:rPr>
              <a:t>A</a:t>
            </a:r>
            <a:r>
              <a:rPr lang="zh-CN" altLang="en-US" sz="2400" i="1" dirty="0">
                <a:solidFill>
                  <a:srgbClr val="002060"/>
                </a:solidFill>
              </a:rPr>
              <a:t>、</a:t>
            </a:r>
            <a:r>
              <a:rPr lang="en-US" altLang="zh-CN" sz="2400" i="1" dirty="0">
                <a:solidFill>
                  <a:srgbClr val="002060"/>
                </a:solidFill>
              </a:rPr>
              <a:t>b </a:t>
            </a:r>
            <a:r>
              <a:rPr lang="zh-CN" altLang="en-US" sz="2400" dirty="0">
                <a:solidFill>
                  <a:srgbClr val="002060"/>
                </a:solidFill>
              </a:rPr>
              <a:t>的误差</a:t>
            </a:r>
            <a:r>
              <a:rPr lang="zh-CN" altLang="en-US" sz="2400" dirty="0"/>
              <a:t>，或者用高精度的计算机计算。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childTnLst>
                                    <p:set>
                                      <p:cBhvr additive="base">
                                        <p:cTn id="6" dur="1" fill="hold">
                                          <p:stCondLst>
                                            <p:cond delay="0"/>
                                          </p:stCondLst>
                                        </p:cTn>
                                        <p:tgtEl>
                                          <p:spTgt spid="2706"/>
                                        </p:tgtEl>
                                        <p:attrNameLst>
                                          <p:attrName>style.visibility</p:attrName>
                                        </p:attrNameLst>
                                      </p:cBhvr>
                                      <p:to>
                                        <p:strVal val="visible"/>
                                      </p:to>
                                    </p:set>
                                    <p:animEffect transition="in" filter="checkerboard(across)">
                                      <p:cBhvr additive="base">
                                        <p:cTn id="7" dur="500"/>
                                        <p:tgtEl>
                                          <p:spTgt spid="2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9" name="Rectangle 661"/>
          <p:cNvSpPr>
            <a:spLocks noChangeArrowheads="1"/>
          </p:cNvSpPr>
          <p:nvPr/>
        </p:nvSpPr>
        <p:spPr bwMode="auto">
          <a:xfrm>
            <a:off x="1703388" y="568325"/>
            <a:ext cx="26479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例如：对于方程组</a:t>
            </a:r>
          </a:p>
        </p:txBody>
      </p:sp>
      <mc:AlternateContent xmlns:mc="http://schemas.openxmlformats.org/markup-compatibility/2006">
        <mc:Choice xmlns:a14="http://schemas.microsoft.com/office/drawing/2010/main" Requires="a14">
          <p:sp>
            <p:nvSpPr>
              <p:cNvPr id="2710" name="Object 662"/>
              <p:cNvSpPr txBox="1"/>
              <p:nvPr/>
            </p:nvSpPr>
            <p:spPr bwMode="auto">
              <a:xfrm>
                <a:off x="4751388" y="552450"/>
                <a:ext cx="3305175" cy="892175"/>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d>
                        <m:dPr>
                          <m:begChr m:val="{"/>
                          <m:endChr m:val=""/>
                          <m:ctrlPr>
                            <a:rPr lang="zh-CN" altLang="en-US" i="1">
                              <a:solidFill>
                                <a:srgbClr val="000000"/>
                              </a:solidFill>
                              <a:latin typeface="Cambria Math" panose="02040503050406030204" pitchFamily="18" charset="0"/>
                            </a:rPr>
                          </m:ctrlPr>
                        </m:dPr>
                        <m:e>
                          <m:m>
                            <m:mPr>
                              <m:plcHide m:val="on"/>
                              <m:mcs>
                                <m:mc>
                                  <m:mcPr>
                                    <m:count m:val="1"/>
                                    <m:mcJc m:val="center"/>
                                  </m:mcPr>
                                </m:mc>
                              </m:mcs>
                              <m:ctrlPr>
                                <a:rPr lang="zh-CN" altLang="en-US" i="1">
                                  <a:solidFill>
                                    <a:srgbClr val="000000"/>
                                  </a:solidFill>
                                  <a:latin typeface="Cambria Math" panose="02040503050406030204" pitchFamily="18" charset="0"/>
                                </a:rPr>
                              </m:ctrlPr>
                            </m:mP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+ </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=1  </m:t>
                                </m:r>
                              </m:e>
                            </m:mr>
                            <m:m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+1.0001</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𝑥</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=2</m:t>
                                </m:r>
                              </m:e>
                            </m:mr>
                          </m:m>
                        </m:e>
                      </m:d>
                    </m:oMath>
                  </m:oMathPara>
                </a14:m>
                <a:endParaRPr lang="zh-CN" altLang="en-US"/>
              </a:p>
            </p:txBody>
          </p:sp>
        </mc:Choice>
        <mc:Fallback>
          <p:sp>
            <p:nvSpPr>
              <p:cNvPr id="2710" name="Object 662"/>
              <p:cNvSpPr txBox="1">
                <a:spLocks noRot="1" noChangeAspect="1" noMove="1" noResize="1" noEditPoints="1" noAdjustHandles="1" noChangeArrowheads="1" noChangeShapeType="1" noTextEdit="1"/>
              </p:cNvSpPr>
              <p:nvPr/>
            </p:nvSpPr>
            <p:spPr bwMode="auto">
              <a:xfrm>
                <a:off x="4751388" y="552450"/>
                <a:ext cx="3305175" cy="892175"/>
              </a:xfrm>
              <a:prstGeom prst="rect">
                <a:avLst/>
              </a:prstGeom>
              <a:blipFill>
                <a:blip r:embed="rId2"/>
                <a:stretch>
                  <a:fillRect/>
                </a:stretch>
              </a:blipFill>
              <a:ln>
                <a:noFill/>
              </a:ln>
              <a:extLst/>
            </p:spPr>
            <p:txBody>
              <a:bodyPr/>
              <a:lstStyle/>
              <a:p>
                <a:r>
                  <a:rPr lang="zh-CN" altLang="en-US">
                    <a:noFill/>
                  </a:rPr>
                  <a:t> </a:t>
                </a:r>
              </a:p>
            </p:txBody>
          </p:sp>
        </mc:Fallback>
      </mc:AlternateContent>
      <p:sp>
        <p:nvSpPr>
          <p:cNvPr id="2711" name="Rectangle 663"/>
          <p:cNvSpPr>
            <a:spLocks noChangeArrowheads="1"/>
          </p:cNvSpPr>
          <p:nvPr/>
        </p:nvSpPr>
        <p:spPr bwMode="auto">
          <a:xfrm>
            <a:off x="941388" y="1512888"/>
            <a:ext cx="3570287"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系数矩阵和逆矩阵分别为</a:t>
            </a:r>
          </a:p>
        </p:txBody>
      </p:sp>
      <mc:AlternateContent xmlns:mc="http://schemas.openxmlformats.org/markup-compatibility/2006">
        <mc:Choice xmlns:a14="http://schemas.microsoft.com/office/drawing/2010/main" Requires="a14">
          <p:sp>
            <p:nvSpPr>
              <p:cNvPr id="2712" name="Object 664"/>
              <p:cNvSpPr txBox="1"/>
              <p:nvPr/>
            </p:nvSpPr>
            <p:spPr bwMode="auto">
              <a:xfrm>
                <a:off x="1735138" y="2216150"/>
                <a:ext cx="6262687" cy="892175"/>
              </a:xfrm>
              <a:prstGeom prst="rect">
                <a:avLst/>
              </a:prstGeom>
              <a:noFill/>
              <a:ln>
                <a:noFill/>
              </a:ln>
              <a:extLst/>
            </p:spPr>
            <p:txBody>
              <a:bodyPr>
                <a:normAutofit fontScale="925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m:t>
                                </m:r>
                              </m:e>
                            </m:mr>
                            <m:mr>
                              <m:e>
                                <m:r>
                                  <a:rPr lang="zh-CN" altLang="en-US" i="1">
                                    <a:solidFill>
                                      <a:srgbClr val="000000"/>
                                    </a:solidFill>
                                    <a:latin typeface="Cambria Math" panose="02040503050406030204" pitchFamily="18" charset="0"/>
                                  </a:rPr>
                                  <m:t>1</m:t>
                                </m:r>
                              </m:e>
                              <m:e>
                                <m:r>
                                  <a:rPr lang="zh-CN" altLang="en-US" i="1">
                                    <a:solidFill>
                                      <a:srgbClr val="000000"/>
                                    </a:solidFill>
                                    <a:latin typeface="Cambria Math" panose="02040503050406030204" pitchFamily="18" charset="0"/>
                                  </a:rPr>
                                  <m:t>1.0001</m:t>
                                </m:r>
                              </m:e>
                            </m:mr>
                          </m:m>
                        </m:e>
                      </m:d>
                      <m:r>
                        <a:rPr lang="zh-CN" altLang="en-US" i="1">
                          <a:solidFill>
                            <a:srgbClr val="000000"/>
                          </a:solidFill>
                          <a:latin typeface="Cambria Math" panose="02040503050406030204" pitchFamily="18" charset="0"/>
                        </a:rPr>
                        <m:t>, </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−1</m:t>
                          </m:r>
                        </m:sup>
                      </m:sSup>
                      <m:r>
                        <a:rPr lang="zh-CN" altLang="en-US" i="1">
                          <a:solidFill>
                            <a:srgbClr val="000000"/>
                          </a:solidFill>
                          <a:latin typeface="Cambria Math" panose="02040503050406030204" pitchFamily="18" charset="0"/>
                        </a:rPr>
                        <m:t>=</m:t>
                      </m:r>
                      <m:d>
                        <m:dPr>
                          <m:begChr m:val="["/>
                          <m:endChr m:val="]"/>
                          <m:ctrlPr>
                            <a:rPr lang="zh-CN" altLang="en-US" i="1">
                              <a:solidFill>
                                <a:srgbClr val="000000"/>
                              </a:solidFill>
                              <a:latin typeface="Cambria Math" panose="02040503050406030204" pitchFamily="18" charset="0"/>
                            </a:rPr>
                          </m:ctrlPr>
                        </m:dPr>
                        <m:e>
                          <m:m>
                            <m:mPr>
                              <m:plcHide m:val="on"/>
                              <m:mcs>
                                <m:mc>
                                  <m:mcPr>
                                    <m:count m:val="2"/>
                                    <m:mcJc m:val="center"/>
                                  </m:mcPr>
                                </m:mc>
                              </m:mcs>
                              <m:ctrlPr>
                                <a:rPr lang="zh-CN" altLang="en-US" i="1">
                                  <a:solidFill>
                                    <a:srgbClr val="000000"/>
                                  </a:solidFill>
                                  <a:latin typeface="Cambria Math" panose="02040503050406030204" pitchFamily="18" charset="0"/>
                                </a:rPr>
                              </m:ctrlPr>
                            </m:mPr>
                            <m:mr>
                              <m:e>
                                <m:r>
                                  <a:rPr lang="zh-CN" altLang="en-US" i="1">
                                    <a:solidFill>
                                      <a:srgbClr val="000000"/>
                                    </a:solidFill>
                                    <a:latin typeface="Cambria Math" panose="02040503050406030204" pitchFamily="18" charset="0"/>
                                  </a:rPr>
                                  <m:t>1.0001×1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e>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e>
                            </m:mr>
                            <m:mr>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e>
                              <m:e>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e>
                            </m:mr>
                          </m:m>
                        </m:e>
                      </m:d>
                    </m:oMath>
                  </m:oMathPara>
                </a14:m>
                <a:endParaRPr lang="zh-CN" altLang="en-US"/>
              </a:p>
            </p:txBody>
          </p:sp>
        </mc:Choice>
        <mc:Fallback>
          <p:sp>
            <p:nvSpPr>
              <p:cNvPr id="2712" name="Object 664"/>
              <p:cNvSpPr txBox="1">
                <a:spLocks noRot="1" noChangeAspect="1" noMove="1" noResize="1" noEditPoints="1" noAdjustHandles="1" noChangeArrowheads="1" noChangeShapeType="1" noTextEdit="1"/>
              </p:cNvSpPr>
              <p:nvPr/>
            </p:nvSpPr>
            <p:spPr bwMode="auto">
              <a:xfrm>
                <a:off x="1735138" y="2216150"/>
                <a:ext cx="6262687" cy="892175"/>
              </a:xfrm>
              <a:prstGeom prst="rect">
                <a:avLst/>
              </a:prstGeom>
              <a:blipFill>
                <a:blip r:embed="rId3"/>
                <a:stretch>
                  <a:fillRect/>
                </a:stretch>
              </a:blipFill>
              <a:ln>
                <a:noFill/>
              </a:ln>
              <a:extLst/>
            </p:spPr>
            <p:txBody>
              <a:bodyPr/>
              <a:lstStyle/>
              <a:p>
                <a:r>
                  <a:rPr lang="zh-CN" altLang="en-US">
                    <a:noFill/>
                  </a:rPr>
                  <a:t> </a:t>
                </a:r>
              </a:p>
            </p:txBody>
          </p:sp>
        </mc:Fallback>
      </mc:AlternateContent>
      <p:sp>
        <p:nvSpPr>
          <p:cNvPr id="2713" name="Rectangle 665"/>
          <p:cNvSpPr>
            <a:spLocks noChangeArrowheads="1"/>
          </p:cNvSpPr>
          <p:nvPr/>
        </p:nvSpPr>
        <p:spPr bwMode="auto">
          <a:xfrm>
            <a:off x="949325" y="3630613"/>
            <a:ext cx="14160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可以求得</a:t>
            </a:r>
          </a:p>
        </p:txBody>
      </p:sp>
      <mc:AlternateContent xmlns:mc="http://schemas.openxmlformats.org/markup-compatibility/2006">
        <mc:Choice xmlns:a14="http://schemas.microsoft.com/office/drawing/2010/main" Requires="a14">
          <p:sp>
            <p:nvSpPr>
              <p:cNvPr id="2714" name="Object 666"/>
              <p:cNvSpPr txBox="1"/>
              <p:nvPr/>
            </p:nvSpPr>
            <p:spPr bwMode="auto">
              <a:xfrm>
                <a:off x="2549525" y="3706813"/>
                <a:ext cx="3198813" cy="539750"/>
              </a:xfrm>
              <a:prstGeom prst="rect">
                <a:avLst/>
              </a:prstGeom>
              <a:noFill/>
              <a:ln>
                <a:noFill/>
              </a:ln>
              <a:ex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𝐶𝑜𝑛</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𝑑</m:t>
                          </m:r>
                        </m:e>
                        <m: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𝐴</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m:t>
                          </m:r>
                        </m:sub>
                      </m:sSub>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𝐴</m:t>
                                  </m:r>
                                </m:e>
                                <m:sup>
                                  <m:r>
                                    <a:rPr lang="zh-CN" altLang="en-US" i="1">
                                      <a:solidFill>
                                        <a:srgbClr val="000000"/>
                                      </a:solidFill>
                                      <a:latin typeface="Cambria Math" panose="02040503050406030204" pitchFamily="18" charset="0"/>
                                    </a:rPr>
                                    <m:t>−1</m:t>
                                  </m:r>
                                </m:sup>
                              </m:sSup>
                            </m:e>
                          </m:d>
                        </m:e>
                        <m:sub>
                          <m:r>
                            <a:rPr lang="zh-CN" altLang="en-US" i="1">
                              <a:solidFill>
                                <a:srgbClr val="000000"/>
                              </a:solidFill>
                              <a:latin typeface="Cambria Math" panose="02040503050406030204" pitchFamily="18" charset="0"/>
                            </a:rPr>
                            <m:t>∞</m:t>
                          </m:r>
                        </m:sub>
                      </m:sSub>
                    </m:oMath>
                  </m:oMathPara>
                </a14:m>
                <a:endParaRPr lang="zh-CN" altLang="en-US"/>
              </a:p>
            </p:txBody>
          </p:sp>
        </mc:Choice>
        <mc:Fallback>
          <p:sp>
            <p:nvSpPr>
              <p:cNvPr id="2714" name="Object 666"/>
              <p:cNvSpPr txBox="1">
                <a:spLocks noRot="1" noChangeAspect="1" noMove="1" noResize="1" noEditPoints="1" noAdjustHandles="1" noChangeArrowheads="1" noChangeShapeType="1" noTextEdit="1"/>
              </p:cNvSpPr>
              <p:nvPr/>
            </p:nvSpPr>
            <p:spPr bwMode="auto">
              <a:xfrm>
                <a:off x="2549525" y="3706813"/>
                <a:ext cx="3198813" cy="539750"/>
              </a:xfrm>
              <a:prstGeom prst="rect">
                <a:avLst/>
              </a:prstGeom>
              <a:blipFill>
                <a:blip r:embed="rId4"/>
                <a:stretch>
                  <a:fillRect/>
                </a:stretch>
              </a:blipFill>
              <a:ln>
                <a:noFill/>
              </a:ln>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715" name="Object 667"/>
              <p:cNvSpPr txBox="1"/>
              <p:nvPr/>
            </p:nvSpPr>
            <p:spPr bwMode="auto">
              <a:xfrm>
                <a:off x="3935413" y="4437063"/>
                <a:ext cx="3157537" cy="406400"/>
              </a:xfrm>
              <a:prstGeom prst="rect">
                <a:avLst/>
              </a:prstGeom>
              <a:noFill/>
              <a:ln>
                <a:noFill/>
              </a:ln>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=2.000</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1</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r>
                        <a:rPr lang="zh-CN" altLang="en-US" i="1">
                          <a:solidFill>
                            <a:srgbClr val="000000"/>
                          </a:solidFill>
                          <a:latin typeface="Cambria Math" panose="02040503050406030204" pitchFamily="18" charset="0"/>
                        </a:rPr>
                        <m:t>≈4×1</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4</m:t>
                          </m:r>
                        </m:sup>
                      </m:sSup>
                    </m:oMath>
                  </m:oMathPara>
                </a14:m>
                <a:endParaRPr lang="zh-CN" altLang="en-US"/>
              </a:p>
            </p:txBody>
          </p:sp>
        </mc:Choice>
        <mc:Fallback>
          <p:sp>
            <p:nvSpPr>
              <p:cNvPr id="2715" name="Object 667"/>
              <p:cNvSpPr txBox="1">
                <a:spLocks noRot="1" noChangeAspect="1" noMove="1" noResize="1" noEditPoints="1" noAdjustHandles="1" noChangeArrowheads="1" noChangeShapeType="1" noTextEdit="1"/>
              </p:cNvSpPr>
              <p:nvPr/>
            </p:nvSpPr>
            <p:spPr bwMode="auto">
              <a:xfrm>
                <a:off x="3935413" y="4437063"/>
                <a:ext cx="3157537" cy="406400"/>
              </a:xfrm>
              <a:prstGeom prst="rect">
                <a:avLst/>
              </a:prstGeom>
              <a:blipFill>
                <a:blip r:embed="rId5"/>
                <a:stretch>
                  <a:fillRect/>
                </a:stretch>
              </a:blipFill>
              <a:ln>
                <a:noFill/>
              </a:ln>
              <a:extLst/>
            </p:spPr>
            <p:txBody>
              <a:bodyPr/>
              <a:lstStyle/>
              <a:p>
                <a:r>
                  <a:rPr lang="zh-CN" altLang="en-US">
                    <a:noFill/>
                  </a:rPr>
                  <a:t> </a:t>
                </a:r>
              </a:p>
            </p:txBody>
          </p:sp>
        </mc:Fallback>
      </mc:AlternateContent>
      <p:sp>
        <p:nvSpPr>
          <p:cNvPr id="2716" name="Rectangle 668"/>
          <p:cNvSpPr>
            <a:spLocks noChangeArrowheads="1"/>
          </p:cNvSpPr>
          <p:nvPr/>
        </p:nvSpPr>
        <p:spPr bwMode="auto">
          <a:xfrm>
            <a:off x="1087438" y="5362575"/>
            <a:ext cx="63404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400"/>
              <a:t>条件数比较大，可见该方程组为病态方程组。</a:t>
            </a:r>
          </a:p>
        </p:txBody>
      </p:sp>
      <p:grpSp>
        <p:nvGrpSpPr>
          <p:cNvPr id="10" name="Group 33"/>
          <p:cNvGrpSpPr>
            <a:grpSpLocks/>
          </p:cNvGrpSpPr>
          <p:nvPr/>
        </p:nvGrpSpPr>
        <p:grpSpPr bwMode="auto">
          <a:xfrm>
            <a:off x="7608168" y="3603674"/>
            <a:ext cx="4247911" cy="746125"/>
            <a:chOff x="1280" y="1694"/>
            <a:chExt cx="2765" cy="535"/>
          </a:xfrm>
          <a:solidFill>
            <a:srgbClr val="FFFF00"/>
          </a:solidFill>
        </p:grpSpPr>
        <mc:AlternateContent xmlns:mc="http://schemas.openxmlformats.org/markup-compatibility/2006">
          <mc:Choice xmlns:a14="http://schemas.microsoft.com/office/drawing/2010/main" Requires="a14">
            <p:sp>
              <p:nvSpPr>
                <p:cNvPr id="13" name="Object 19"/>
                <p:cNvSpPr txBox="1"/>
                <p:nvPr/>
              </p:nvSpPr>
              <p:spPr bwMode="auto">
                <a:xfrm>
                  <a:off x="1280" y="1694"/>
                  <a:ext cx="1734" cy="535"/>
                </a:xfrm>
                <a:prstGeom prst="rect">
                  <a:avLst/>
                </a:prstGeom>
                <a:noFill/>
                <a:ln>
                  <a:noFill/>
                </a:ln>
                <a:extLst/>
              </p:spPr>
              <p:txBody>
                <a:bodyPr>
                  <a:normAutofit fontScale="62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d>
                              <m:dPr>
                                <m:begChr m:val="‖"/>
                                <m:endChr m:val="‖"/>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𝐴</m:t>
                                </m:r>
                              </m:e>
                            </m:d>
                          </m:e>
                          <m:sub>
                            <m:r>
                              <a:rPr lang="zh-CN" altLang="en-US" i="1">
                                <a:solidFill>
                                  <a:srgbClr val="000000"/>
                                </a:solidFill>
                                <a:latin typeface="Cambria Math" panose="02040503050406030204" pitchFamily="18" charset="0"/>
                              </a:rPr>
                              <m:t>∞</m:t>
                            </m:r>
                          </m:sub>
                        </m:sSub>
                        <m:r>
                          <a:rPr lang="zh-CN" altLang="en-US" i="1">
                            <a:solidFill>
                              <a:srgbClr val="000000"/>
                            </a:solidFill>
                            <a:latin typeface="Cambria Math" panose="02040503050406030204" pitchFamily="18" charset="0"/>
                          </a:rPr>
                          <m:t>=</m:t>
                        </m:r>
                        <m:limLow>
                          <m:limLowPr>
                            <m:ctrlPr>
                              <a:rPr lang="zh-CN" altLang="en-US" i="1">
                                <a:solidFill>
                                  <a:srgbClr val="000000"/>
                                </a:solidFill>
                                <a:latin typeface="Cambria Math" panose="02040503050406030204" pitchFamily="18" charset="0"/>
                              </a:rPr>
                            </m:ctrlPr>
                          </m:limLowPr>
                          <m:e>
                            <m:r>
                              <m:rPr>
                                <m:sty m:val="p"/>
                              </m:rPr>
                              <a:rPr lang="zh-CN" altLang="en-US" i="0">
                                <a:solidFill>
                                  <a:srgbClr val="000000"/>
                                </a:solidFill>
                                <a:latin typeface="Cambria Math" panose="02040503050406030204" pitchFamily="18" charset="0"/>
                              </a:rPr>
                              <m:t>max</m:t>
                            </m:r>
                          </m:e>
                          <m:lim>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𝑖</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𝑛</m:t>
                            </m:r>
                          </m:lim>
                        </m:limLow>
                        <m:nary>
                          <m:naryPr>
                            <m:chr m:val="∑"/>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=1</m:t>
                            </m:r>
                          </m:sub>
                          <m:sup>
                            <m:r>
                              <a:rPr lang="zh-CN" altLang="en-US" i="1">
                                <a:solidFill>
                                  <a:srgbClr val="000000"/>
                                </a:solidFill>
                                <a:latin typeface="Cambria Math" panose="02040503050406030204" pitchFamily="18" charset="0"/>
                              </a:rPr>
                              <m:t>𝑛</m:t>
                            </m:r>
                          </m:sup>
                          <m:e>
                            <m:d>
                              <m:dPr>
                                <m:begChr m:val="|"/>
                                <m:endChr m:val="|"/>
                                <m:ctrlPr>
                                  <a:rPr lang="zh-CN" altLang="en-US" i="1">
                                    <a:solidFill>
                                      <a:srgbClr val="000000"/>
                                    </a:solidFill>
                                    <a:latin typeface="Cambria Math" panose="02040503050406030204" pitchFamily="18" charset="0"/>
                                  </a:rPr>
                                </m:ctrlPr>
                              </m:dPr>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𝑖𝑗</m:t>
                                    </m:r>
                                  </m:sub>
                                </m:sSub>
                              </m:e>
                            </m:d>
                          </m:e>
                        </m:nary>
                      </m:oMath>
                    </m:oMathPara>
                  </a14:m>
                  <a:endParaRPr lang="zh-CN" altLang="en-US"/>
                </a:p>
              </p:txBody>
            </p:sp>
          </mc:Choice>
          <mc:Fallback>
            <p:sp>
              <p:nvSpPr>
                <p:cNvPr id="13" name="Object 19"/>
                <p:cNvSpPr txBox="1">
                  <a:spLocks noRot="1" noChangeAspect="1" noMove="1" noResize="1" noEditPoints="1" noAdjustHandles="1" noChangeArrowheads="1" noChangeShapeType="1" noTextEdit="1"/>
                </p:cNvSpPr>
                <p:nvPr/>
              </p:nvSpPr>
              <p:spPr bwMode="auto">
                <a:xfrm>
                  <a:off x="1280" y="1694"/>
                  <a:ext cx="1734" cy="535"/>
                </a:xfrm>
                <a:prstGeom prst="rect">
                  <a:avLst/>
                </a:prstGeom>
                <a:blipFill>
                  <a:blip r:embed="rId6"/>
                  <a:stretch>
                    <a:fillRect/>
                  </a:stretch>
                </a:blipFill>
                <a:ln>
                  <a:noFill/>
                </a:ln>
                <a:extLst/>
              </p:spPr>
              <p:txBody>
                <a:bodyPr/>
                <a:lstStyle/>
                <a:p>
                  <a:r>
                    <a:rPr lang="zh-CN" altLang="en-US">
                      <a:noFill/>
                    </a:rPr>
                    <a:t> </a:t>
                  </a:r>
                </a:p>
              </p:txBody>
            </p:sp>
          </mc:Fallback>
        </mc:AlternateContent>
        <p:sp>
          <p:nvSpPr>
            <p:cNvPr id="12" name="Text Box 29"/>
            <p:cNvSpPr txBox="1">
              <a:spLocks noChangeArrowheads="1"/>
            </p:cNvSpPr>
            <p:nvPr/>
          </p:nvSpPr>
          <p:spPr bwMode="auto">
            <a:xfrm>
              <a:off x="3014" y="1823"/>
              <a:ext cx="1031" cy="331"/>
            </a:xfrm>
            <a:prstGeom prst="rect">
              <a:avLst/>
            </a:prstGeom>
            <a:grpFill/>
            <a:ln w="22225">
              <a:solidFill>
                <a:srgbClr val="002060"/>
              </a:solidFill>
              <a:miter lim="800000"/>
              <a:headEnd/>
              <a:tailEnd/>
            </a:ln>
          </p:spPr>
          <p:txBody>
            <a:bodyPr wrap="square">
              <a:spAutoFit/>
            </a:bodyPr>
            <a:lstStyle/>
            <a:p>
              <a:pPr eaLnBrk="1" hangingPunct="1">
                <a:spcBef>
                  <a:spcPct val="50000"/>
                </a:spcBef>
                <a:defRPr/>
              </a:pPr>
              <a:r>
                <a:rPr lang="zh-CN" altLang="en-US" dirty="0">
                  <a:latin typeface="+mn-ea"/>
                  <a:ea typeface="+mn-ea"/>
                </a:rPr>
                <a:t>行范数</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indefinite"/>
                            </p:stCondLst>
                          </p:cTn>
                        </p:par>
                      </p:childTnLst>
                    </p:cTn>
                  </p:par>
                  <p:par>
                    <p:cTn id="5" fill="hold" nodeType="clickPar">
                      <p:stCondLst>
                        <p:cond delay="indefinite"/>
                      </p:stCondLst>
                      <p:childTnLst>
                        <p:par>
                          <p:cTn id="6" fill="hold" nodeType="withGroup">
                            <p:stCondLst>
                              <p:cond delay="indefinite"/>
                            </p:stCondLst>
                          </p:cTn>
                        </p:par>
                      </p:childTnLst>
                    </p:cTn>
                  </p:par>
                  <p:par>
                    <p:cTn id="7" fill="hold">
                      <p:stCondLst>
                        <p:cond delay="indefinite"/>
                      </p:stCondLst>
                      <p:childTnLst>
                        <p:par>
                          <p:cTn id="8" fill="hold" nodeType="afterGroup">
                            <p:stCondLst>
                              <p:cond delay="0"/>
                            </p:stCondLst>
                            <p:childTnLst>
                              <p:par>
                                <p:cTn id="9" presetID="5" presetClass="entr" presetSubtype="10" fill="hold" grpId="0" nodeType="clickEffect">
                                  <p:childTnLst>
                                    <p:set>
                                      <p:cBhvr additive="base">
                                        <p:cTn id="10" dur="1" fill="hold">
                                          <p:stCondLst>
                                            <p:cond delay="0"/>
                                          </p:stCondLst>
                                        </p:cTn>
                                        <p:tgtEl>
                                          <p:spTgt spid="2711"/>
                                        </p:tgtEl>
                                        <p:attrNameLst>
                                          <p:attrName>style.visibility</p:attrName>
                                        </p:attrNameLst>
                                      </p:cBhvr>
                                      <p:to>
                                        <p:strVal val="visible"/>
                                      </p:to>
                                    </p:set>
                                    <p:animEffect transition="in" filter="checkerboard(across)">
                                      <p:cBhvr additive="base">
                                        <p:cTn id="11" dur="500"/>
                                        <p:tgtEl>
                                          <p:spTgt spid="2711"/>
                                        </p:tgtEl>
                                      </p:cBhvr>
                                    </p:animEffect>
                                  </p:childTnLst>
                                </p:cTn>
                              </p:par>
                            </p:childTnLst>
                          </p:cTn>
                        </p:par>
                      </p:childTnLst>
                    </p:cTn>
                  </p:par>
                  <p:par>
                    <p:cTn id="12" fill="hold" nodeType="clickPar">
                      <p:stCondLst>
                        <p:cond delay="indefinite"/>
                      </p:stCondLst>
                      <p:childTnLst>
                        <p:par>
                          <p:cTn id="13" fill="hold" nodeType="withGroup">
                            <p:stCondLst>
                              <p:cond delay="indefinite"/>
                            </p:stCondLst>
                          </p:cTn>
                        </p:par>
                      </p:childTnLst>
                    </p:cTn>
                  </p:par>
                  <p:par>
                    <p:cTn id="14" fill="hold" nodeType="clickPar">
                      <p:stCondLst>
                        <p:cond delay="indefinite"/>
                      </p:stCondLst>
                      <p:childTnLst>
                        <p:par>
                          <p:cTn id="15" fill="hold" nodeType="withGroup">
                            <p:stCondLst>
                              <p:cond delay="indefinite"/>
                            </p:stCondLst>
                          </p:cTn>
                        </p:par>
                      </p:childTnLst>
                    </p:cTn>
                  </p:par>
                  <p:par>
                    <p:cTn id="16" fill="hold">
                      <p:stCondLst>
                        <p:cond delay="indefinite"/>
                      </p:stCondLst>
                      <p:childTnLst>
                        <p:par>
                          <p:cTn id="17" fill="hold" nodeType="afterGroup">
                            <p:stCondLst>
                              <p:cond delay="0"/>
                            </p:stCondLst>
                            <p:childTnLst>
                              <p:par>
                                <p:cTn id="18" presetID="5" presetClass="entr" presetSubtype="10" fill="hold" grpId="0" nodeType="clickEffect">
                                  <p:childTnLst>
                                    <p:set>
                                      <p:cBhvr additive="base">
                                        <p:cTn id="19" dur="1" fill="hold">
                                          <p:stCondLst>
                                            <p:cond delay="0"/>
                                          </p:stCondLst>
                                        </p:cTn>
                                        <p:tgtEl>
                                          <p:spTgt spid="2713"/>
                                        </p:tgtEl>
                                        <p:attrNameLst>
                                          <p:attrName>style.visibility</p:attrName>
                                        </p:attrNameLst>
                                      </p:cBhvr>
                                      <p:to>
                                        <p:strVal val="visible"/>
                                      </p:to>
                                    </p:set>
                                    <p:animEffect transition="in" filter="checkerboard(across)">
                                      <p:cBhvr additive="base">
                                        <p:cTn id="20" dur="500"/>
                                        <p:tgtEl>
                                          <p:spTgt spid="2713"/>
                                        </p:tgtEl>
                                      </p:cBhvr>
                                    </p:animEffect>
                                  </p:childTnLst>
                                </p:cTn>
                              </p:par>
                            </p:childTnLst>
                          </p:cTn>
                        </p:par>
                      </p:childTnLst>
                    </p:cTn>
                  </p:par>
                  <p:par>
                    <p:cTn id="21" fill="hold" nodeType="clickPar">
                      <p:stCondLst>
                        <p:cond delay="indefinite"/>
                      </p:stCondLst>
                      <p:childTnLst>
                        <p:par>
                          <p:cTn id="22" fill="hold" nodeType="withGroup">
                            <p:stCondLst>
                              <p:cond delay="indefinite"/>
                            </p:stCondLst>
                          </p:cTn>
                        </p:par>
                      </p:childTnLst>
                    </p:cTn>
                  </p:par>
                  <p:par>
                    <p:cTn id="23" fill="hold" nodeType="clickPar">
                      <p:stCondLst>
                        <p:cond delay="indefinite"/>
                      </p:stCondLst>
                      <p:childTnLst>
                        <p:par>
                          <p:cTn id="24" fill="hold" nodeType="withGroup">
                            <p:stCondLst>
                              <p:cond delay="indefinite"/>
                            </p:stCondLst>
                          </p:cTn>
                        </p:par>
                      </p:childTnLst>
                    </p:cTn>
                  </p:par>
                  <p:par>
                    <p:cTn id="25" fill="hold" nodeType="clickPar">
                      <p:stCondLst>
                        <p:cond delay="indefinite"/>
                      </p:stCondLst>
                      <p:childTnLst>
                        <p:par>
                          <p:cTn id="26" fill="hold" nodeType="withGroup">
                            <p:stCondLst>
                              <p:cond delay="indefinite"/>
                            </p:stCondLst>
                          </p:cTn>
                        </p:par>
                      </p:childTnLst>
                    </p:cTn>
                  </p:par>
                  <p:par>
                    <p:cTn id="27" fill="hold">
                      <p:stCondLst>
                        <p:cond delay="indefinite"/>
                      </p:stCondLst>
                      <p:childTnLst>
                        <p:par>
                          <p:cTn id="28" fill="hold" nodeType="afterGroup">
                            <p:stCondLst>
                              <p:cond delay="0"/>
                            </p:stCondLst>
                            <p:childTnLst>
                              <p:par>
                                <p:cTn id="29" presetID="5" presetClass="entr" presetSubtype="10" fill="hold" grpId="0" nodeType="clickEffect">
                                  <p:childTnLst>
                                    <p:set>
                                      <p:cBhvr additive="base">
                                        <p:cTn id="30" dur="1" fill="hold">
                                          <p:stCondLst>
                                            <p:cond delay="0"/>
                                          </p:stCondLst>
                                        </p:cTn>
                                        <p:tgtEl>
                                          <p:spTgt spid="2716"/>
                                        </p:tgtEl>
                                        <p:attrNameLst>
                                          <p:attrName>style.visibility</p:attrName>
                                        </p:attrNameLst>
                                      </p:cBhvr>
                                      <p:to>
                                        <p:strVal val="visible"/>
                                      </p:to>
                                    </p:set>
                                    <p:animEffect transition="in" filter="checkerboard(across)">
                                      <p:cBhvr additive="base">
                                        <p:cTn id="31" dur="500"/>
                                        <p:tgtEl>
                                          <p:spTgt spid="271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8" presetClass="entr" presetSubtype="16"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diamond(in)">
                                      <p:cBhvr>
                                        <p:cTn id="3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11" grpId="0" animBg="1"/>
      <p:bldP spid="2713" grpId="0" animBg="1"/>
      <p:bldP spid="27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AutoShape 2" descr="再生纸"/>
          <p:cNvSpPr>
            <a:spLocks noChangeArrowheads="1"/>
          </p:cNvSpPr>
          <p:nvPr/>
        </p:nvSpPr>
        <p:spPr bwMode="auto">
          <a:xfrm>
            <a:off x="1271588" y="614362"/>
            <a:ext cx="9072884" cy="5118893"/>
          </a:xfrm>
          <a:prstGeom prst="roundRect">
            <a:avLst>
              <a:gd name="adj" fmla="val 16667"/>
            </a:avLst>
          </a:prstGeom>
          <a:blipFill dpi="0" rotWithShape="0">
            <a:blip r:embed="rId3"/>
            <a:srcRect/>
            <a:tile tx="0" ty="0" sx="100000" sy="100000" flip="none" algn="tl"/>
          </a:blipFill>
          <a:ln>
            <a:noFill/>
          </a:ln>
          <a:effectLst>
            <a:prstShdw prst="shdw17" dist="17961" dir="2700000">
              <a:srgbClr val="999999"/>
            </a:prstShdw>
          </a:effectLst>
          <a:extLst>
            <a:ext uri="{91240B29-F687-4F45-9708-019B960494DF}">
              <a14:hiddenLine xmlns:a14="http://schemas.microsoft.com/office/drawing/2010/main" w="9525">
                <a:solidFill>
                  <a:srgbClr val="000000"/>
                </a:solidFill>
                <a:round/>
                <a:headEnd/>
                <a:tailEnd/>
              </a14:hiddenLine>
            </a:ext>
          </a:extLst>
        </p:spPr>
        <p:txBody>
          <a:bodyPr lIns="126000" rIns="126000" anchor="ctr"/>
          <a:lstStyle>
            <a:lvl1pPr marL="577850" indent="-57785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buFontTx/>
              <a:buNone/>
            </a:pPr>
            <a:r>
              <a:rPr lang="zh-CN" altLang="en-US" sz="2400" b="1" dirty="0">
                <a:solidFill>
                  <a:schemeClr val="accent2"/>
                </a:solidFill>
                <a:ea typeface="楷体_GB2312" pitchFamily="49" charset="-122"/>
              </a:rPr>
              <a:t>注：</a:t>
            </a:r>
            <a:r>
              <a:rPr lang="zh-CN" altLang="en-US" sz="2400" b="1" dirty="0">
                <a:ea typeface="楷体_GB2312" pitchFamily="49" charset="-122"/>
              </a:rPr>
              <a:t>一般初步判断矩阵是否病态，并不计算</a:t>
            </a:r>
            <a:r>
              <a:rPr lang="en-US" altLang="zh-CN" sz="2400" b="1" i="1" dirty="0">
                <a:ea typeface="楷体_GB2312" pitchFamily="49" charset="-122"/>
              </a:rPr>
              <a:t>A</a:t>
            </a:r>
            <a:r>
              <a:rPr lang="en-US" altLang="zh-CN" sz="2400" b="1" baseline="30000" dirty="0">
                <a:ea typeface="楷体_GB2312" pitchFamily="49" charset="-122"/>
                <a:sym typeface="Symbol" panose="05050102010706020507" pitchFamily="18" charset="2"/>
              </a:rPr>
              <a:t>1</a:t>
            </a:r>
            <a:r>
              <a:rPr lang="zh-CN" altLang="en-US" sz="2400" b="1" dirty="0">
                <a:ea typeface="楷体_GB2312" pitchFamily="49" charset="-122"/>
              </a:rPr>
              <a:t>，而由经验得出。</a:t>
            </a:r>
          </a:p>
          <a:p>
            <a:pPr eaLnBrk="1" hangingPunct="1">
              <a:spcBef>
                <a:spcPct val="10000"/>
              </a:spcBef>
              <a:buFontTx/>
              <a:buNone/>
            </a:pPr>
            <a:r>
              <a:rPr lang="zh-CN" altLang="en-US" b="1" dirty="0">
                <a:solidFill>
                  <a:schemeClr val="accent2"/>
                </a:solidFill>
                <a:ea typeface="楷体_GB2312" pitchFamily="49" charset="-122"/>
                <a:sym typeface="Wingdings" panose="05000000000000000000" pitchFamily="2" charset="2"/>
              </a:rPr>
              <a:t>      </a:t>
            </a:r>
            <a:r>
              <a:rPr lang="zh-CN" altLang="en-US" sz="2400" b="1" dirty="0">
                <a:ea typeface="楷体_GB2312" pitchFamily="49" charset="-122"/>
                <a:sym typeface="Wingdings" panose="05000000000000000000" pitchFamily="2" charset="2"/>
              </a:rPr>
              <a:t>矩阵的</a:t>
            </a:r>
            <a:r>
              <a:rPr lang="zh-CN" altLang="en-US" sz="2400" b="1" dirty="0">
                <a:ea typeface="楷体_GB2312" pitchFamily="49" charset="-122"/>
              </a:rPr>
              <a:t>行列式值很大或很小（如某些行、列近似相关）；</a:t>
            </a:r>
          </a:p>
          <a:p>
            <a:pPr eaLnBrk="1" hangingPunct="1">
              <a:spcBef>
                <a:spcPct val="10000"/>
              </a:spcBef>
              <a:buFontTx/>
              <a:buNone/>
            </a:pPr>
            <a:r>
              <a:rPr lang="zh-CN" altLang="en-US" b="1" dirty="0">
                <a:solidFill>
                  <a:schemeClr val="accent2"/>
                </a:solidFill>
                <a:ea typeface="楷体_GB2312" pitchFamily="49" charset="-122"/>
                <a:sym typeface="Wingdings" panose="05000000000000000000" pitchFamily="2" charset="2"/>
              </a:rPr>
              <a:t>      </a:t>
            </a:r>
            <a:r>
              <a:rPr lang="zh-CN" altLang="en-US" sz="2400" b="1" dirty="0">
                <a:ea typeface="楷体_GB2312" pitchFamily="49" charset="-122"/>
              </a:rPr>
              <a:t>元素间相差大数量级，且无规则；</a:t>
            </a:r>
          </a:p>
          <a:p>
            <a:pPr eaLnBrk="1" hangingPunct="1">
              <a:spcBef>
                <a:spcPct val="10000"/>
              </a:spcBef>
              <a:buFontTx/>
              <a:buNone/>
            </a:pPr>
            <a:r>
              <a:rPr lang="zh-CN" altLang="en-US" b="1" dirty="0">
                <a:solidFill>
                  <a:schemeClr val="accent2"/>
                </a:solidFill>
                <a:ea typeface="楷体_GB2312" pitchFamily="49" charset="-122"/>
                <a:sym typeface="Wingdings" panose="05000000000000000000" pitchFamily="2" charset="2"/>
              </a:rPr>
              <a:t>      </a:t>
            </a:r>
            <a:r>
              <a:rPr lang="zh-CN" altLang="en-US" sz="2400" b="1" dirty="0">
                <a:ea typeface="楷体_GB2312" pitchFamily="49" charset="-122"/>
              </a:rPr>
              <a:t>主元消去过程中出现小主元；</a:t>
            </a:r>
          </a:p>
          <a:p>
            <a:pPr eaLnBrk="1" hangingPunct="1">
              <a:spcBef>
                <a:spcPct val="10000"/>
              </a:spcBef>
              <a:buFontTx/>
              <a:buNone/>
            </a:pPr>
            <a:r>
              <a:rPr lang="zh-CN" altLang="en-US" b="1" dirty="0">
                <a:solidFill>
                  <a:schemeClr val="accent2"/>
                </a:solidFill>
                <a:ea typeface="楷体_GB2312" pitchFamily="49" charset="-122"/>
                <a:sym typeface="Wingdings" panose="05000000000000000000" pitchFamily="2" charset="2"/>
              </a:rPr>
              <a:t>      </a:t>
            </a:r>
            <a:r>
              <a:rPr lang="zh-CN" altLang="en-US" sz="2400" b="1" dirty="0">
                <a:ea typeface="楷体_GB2312" pitchFamily="49" charset="-122"/>
              </a:rPr>
              <a:t>特征值相差大数量级。</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11424" y="548680"/>
            <a:ext cx="10363200" cy="4114800"/>
          </a:xfrm>
        </p:spPr>
        <p:txBody>
          <a:bodyPr/>
          <a:lstStyle/>
          <a:p>
            <a:r>
              <a:rPr lang="zh-CN" altLang="en-US" sz="2800" b="1" dirty="0"/>
              <a:t>病态方程组的迭代改善</a:t>
            </a:r>
          </a:p>
        </p:txBody>
      </p:sp>
      <p:pic>
        <p:nvPicPr>
          <p:cNvPr id="4" name="图片 3"/>
          <p:cNvPicPr>
            <a:picLocks noChangeAspect="1"/>
          </p:cNvPicPr>
          <p:nvPr/>
        </p:nvPicPr>
        <p:blipFill>
          <a:blip r:embed="rId2"/>
          <a:stretch>
            <a:fillRect/>
          </a:stretch>
        </p:blipFill>
        <p:spPr>
          <a:xfrm>
            <a:off x="1966437" y="1340768"/>
            <a:ext cx="7657956" cy="4193138"/>
          </a:xfrm>
          <a:prstGeom prst="rect">
            <a:avLst/>
          </a:prstGeom>
        </p:spPr>
      </p:pic>
    </p:spTree>
    <p:extLst>
      <p:ext uri="{BB962C8B-B14F-4D97-AF65-F5344CB8AC3E}">
        <p14:creationId xmlns:p14="http://schemas.microsoft.com/office/powerpoint/2010/main" val="2711648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2063750" y="1052513"/>
            <a:ext cx="8208963" cy="2881312"/>
          </a:xfrm>
        </p:spPr>
        <p:txBody>
          <a:bodyPr/>
          <a:lstStyle/>
          <a:p>
            <a:pPr marL="0" indent="0">
              <a:lnSpc>
                <a:spcPct val="150000"/>
              </a:lnSpc>
              <a:spcBef>
                <a:spcPct val="0"/>
              </a:spcBef>
              <a:buFontTx/>
              <a:buNone/>
            </a:pPr>
            <a:r>
              <a:rPr lang="zh-CN" altLang="en-US" sz="2400" b="1">
                <a:solidFill>
                  <a:srgbClr val="0000FF"/>
                </a:solidFill>
              </a:rPr>
              <a:t>[例5 ]    </a:t>
            </a:r>
            <a:r>
              <a:rPr lang="zh-CN" altLang="en-US" sz="2400"/>
              <a:t>一天文学家要确定一颗小行星绕太阳运行的轨道，他在轨道平面内建立以太阳为原点的直角坐标系。在两坐标轴上取天文测量单位（一天文单位为地球到太阳的平均距离：1.4959787 </a:t>
            </a:r>
            <a:r>
              <a:rPr lang="en-US" altLang="zh-CN" sz="2400"/>
              <a:t>× </a:t>
            </a:r>
            <a:r>
              <a:rPr lang="zh-CN" altLang="en-US" sz="2400"/>
              <a:t>10</a:t>
            </a:r>
            <a:r>
              <a:rPr lang="zh-CN" altLang="en-US" sz="2400" baseline="30000"/>
              <a:t>11</a:t>
            </a:r>
            <a:r>
              <a:rPr lang="en-US" altLang="zh-CN" sz="2400"/>
              <a:t>m），</a:t>
            </a:r>
            <a:r>
              <a:rPr lang="zh-CN" altLang="en-US" sz="2400"/>
              <a:t>在5个不同的时间对小行星作了5次观察，测得轨道上5个点的坐标数据如下（见表4-4）：</a:t>
            </a:r>
          </a:p>
          <a:p>
            <a:pPr marL="0" indent="0">
              <a:buFontTx/>
              <a:buNone/>
            </a:pPr>
            <a:endParaRPr lang="en-US" altLang="zh-CN"/>
          </a:p>
        </p:txBody>
      </p:sp>
      <p:sp>
        <p:nvSpPr>
          <p:cNvPr id="52227" name="矩形 3"/>
          <p:cNvSpPr>
            <a:spLocks noChangeArrowheads="1"/>
          </p:cNvSpPr>
          <p:nvPr/>
        </p:nvSpPr>
        <p:spPr bwMode="auto">
          <a:xfrm>
            <a:off x="2135188" y="333375"/>
            <a:ext cx="28860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en-US" altLang="zh-CN" sz="2800" b="1">
                <a:solidFill>
                  <a:schemeClr val="tx2"/>
                </a:solidFill>
              </a:rPr>
              <a:t>§</a:t>
            </a:r>
            <a:r>
              <a:rPr lang="en-US" altLang="zh-CN" sz="2800" b="1"/>
              <a:t>2. 10  </a:t>
            </a:r>
            <a:r>
              <a:rPr lang="zh-CN" altLang="en-US" sz="2800" b="1">
                <a:solidFill>
                  <a:schemeClr val="accent2"/>
                </a:solidFill>
              </a:rPr>
              <a:t>应用实例</a:t>
            </a:r>
          </a:p>
        </p:txBody>
      </p:sp>
      <p:sp>
        <p:nvSpPr>
          <p:cNvPr id="52228" name="Text Box 4"/>
          <p:cNvSpPr txBox="1">
            <a:spLocks noChangeArrowheads="1"/>
          </p:cNvSpPr>
          <p:nvPr/>
        </p:nvSpPr>
        <p:spPr bwMode="auto">
          <a:xfrm>
            <a:off x="4367213" y="4221163"/>
            <a:ext cx="29638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000" b="1"/>
              <a:t>表4-4    5个点的坐标数据</a:t>
            </a:r>
          </a:p>
        </p:txBody>
      </p:sp>
      <p:graphicFrame>
        <p:nvGraphicFramePr>
          <p:cNvPr id="9" name="表格 8"/>
          <p:cNvGraphicFramePr>
            <a:graphicFrameLocks noGrp="1"/>
          </p:cNvGraphicFramePr>
          <p:nvPr/>
        </p:nvGraphicFramePr>
        <p:xfrm>
          <a:off x="2782888" y="4868863"/>
          <a:ext cx="6696075" cy="1657350"/>
        </p:xfrm>
        <a:graphic>
          <a:graphicData uri="http://schemas.openxmlformats.org/drawingml/2006/table">
            <a:tbl>
              <a:tblPr/>
              <a:tblGrid>
                <a:gridCol w="1116012">
                  <a:extLst>
                    <a:ext uri="{9D8B030D-6E8A-4147-A177-3AD203B41FA5}">
                      <a16:colId xmlns:a16="http://schemas.microsoft.com/office/drawing/2014/main" val="20000"/>
                    </a:ext>
                  </a:extLst>
                </a:gridCol>
                <a:gridCol w="1116013">
                  <a:extLst>
                    <a:ext uri="{9D8B030D-6E8A-4147-A177-3AD203B41FA5}">
                      <a16:colId xmlns:a16="http://schemas.microsoft.com/office/drawing/2014/main" val="20001"/>
                    </a:ext>
                  </a:extLst>
                </a:gridCol>
                <a:gridCol w="1116012">
                  <a:extLst>
                    <a:ext uri="{9D8B030D-6E8A-4147-A177-3AD203B41FA5}">
                      <a16:colId xmlns:a16="http://schemas.microsoft.com/office/drawing/2014/main" val="20002"/>
                    </a:ext>
                  </a:extLst>
                </a:gridCol>
                <a:gridCol w="1116013">
                  <a:extLst>
                    <a:ext uri="{9D8B030D-6E8A-4147-A177-3AD203B41FA5}">
                      <a16:colId xmlns:a16="http://schemas.microsoft.com/office/drawing/2014/main" val="20003"/>
                    </a:ext>
                  </a:extLst>
                </a:gridCol>
                <a:gridCol w="1116012">
                  <a:extLst>
                    <a:ext uri="{9D8B030D-6E8A-4147-A177-3AD203B41FA5}">
                      <a16:colId xmlns:a16="http://schemas.microsoft.com/office/drawing/2014/main" val="20004"/>
                    </a:ext>
                  </a:extLst>
                </a:gridCol>
                <a:gridCol w="1116013">
                  <a:extLst>
                    <a:ext uri="{9D8B030D-6E8A-4147-A177-3AD203B41FA5}">
                      <a16:colId xmlns:a16="http://schemas.microsoft.com/office/drawing/2014/main" val="20005"/>
                    </a:ext>
                  </a:extLst>
                </a:gridCol>
              </a:tblGrid>
              <a:tr h="552450">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n</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4</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2450">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x</a:t>
                      </a:r>
                      <a:r>
                        <a:rPr kumimoji="0" lang="en-US" altLang="zh-CN" sz="2200" b="0" i="1"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5.764</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6.286</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6.759</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7.168</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7.408</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2450">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1" u="none" strike="noStrike" cap="none" normalizeH="0" baseline="0">
                          <a:ln>
                            <a:noFill/>
                          </a:ln>
                          <a:solidFill>
                            <a:schemeClr val="tx1"/>
                          </a:solidFill>
                          <a:effectLst/>
                          <a:latin typeface="Times New Roman" pitchFamily="18" charset="0"/>
                          <a:ea typeface="宋体" pitchFamily="2" charset="-122"/>
                          <a:cs typeface="Times New Roman" pitchFamily="18" charset="0"/>
                        </a:rPr>
                        <a:t>y</a:t>
                      </a:r>
                      <a:r>
                        <a:rPr kumimoji="0" lang="en-US" altLang="zh-CN" sz="2200" b="0" i="1" u="none" strike="noStrike" cap="none" normalizeH="0" baseline="-25000">
                          <a:ln>
                            <a:noFill/>
                          </a:ln>
                          <a:solidFill>
                            <a:schemeClr val="tx1"/>
                          </a:solidFill>
                          <a:effectLst/>
                          <a:latin typeface="Times New Roman" pitchFamily="18" charset="0"/>
                          <a:ea typeface="宋体" pitchFamily="2" charset="-122"/>
                          <a:cs typeface="Times New Roman" pitchFamily="18" charset="0"/>
                        </a:rPr>
                        <a:t>n</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0.648</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1.202</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1.823</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2.526</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ts val="1800"/>
                        </a:lnSpc>
                        <a:spcBef>
                          <a:spcPct val="0"/>
                        </a:spcBef>
                        <a:spcAft>
                          <a:spcPct val="0"/>
                        </a:spcAft>
                        <a:buClrTx/>
                        <a:buSzTx/>
                        <a:buFontTx/>
                        <a:buNone/>
                        <a:tabLst/>
                      </a:pPr>
                      <a:r>
                        <a:rPr kumimoji="0" lang="en-US"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rPr>
                        <a:t>3.360</a:t>
                      </a:r>
                      <a:endParaRPr kumimoji="0" lang="zh-CN" altLang="zh-CN" sz="2200" b="0" i="0" u="none" strike="noStrike" cap="none" normalizeH="0" baseline="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wipe(up)">
                                      <p:cBhvr>
                                        <p:cTn id="7" dur="500"/>
                                        <p:tgtEl>
                                          <p:spTgt spid="286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advAuto="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3"/>
          <p:cNvSpPr>
            <a:spLocks noGrp="1" noChangeArrowheads="1"/>
          </p:cNvSpPr>
          <p:nvPr>
            <p:ph type="body" idx="1"/>
          </p:nvPr>
        </p:nvSpPr>
        <p:spPr>
          <a:xfrm>
            <a:off x="1992313" y="0"/>
            <a:ext cx="8207375" cy="1152525"/>
          </a:xfrm>
        </p:spPr>
        <p:txBody>
          <a:bodyPr/>
          <a:lstStyle/>
          <a:p>
            <a:pPr marL="0" indent="0">
              <a:lnSpc>
                <a:spcPct val="150000"/>
              </a:lnSpc>
              <a:spcBef>
                <a:spcPct val="0"/>
              </a:spcBef>
              <a:buFontTx/>
              <a:buNone/>
            </a:pPr>
            <a:r>
              <a:rPr lang="zh-CN" altLang="en-US" sz="2400" b="1"/>
              <a:t>解</a:t>
            </a:r>
            <a:r>
              <a:rPr lang="zh-CN" altLang="en-US" sz="2400"/>
              <a:t>：由开普勒第一定律知，小行星绕太阳运行的轨道为一椭圆。椭圆的一般方程可表示为</a:t>
            </a:r>
          </a:p>
        </p:txBody>
      </p:sp>
      <mc:AlternateContent xmlns:mc="http://schemas.openxmlformats.org/markup-compatibility/2006">
        <mc:Choice xmlns:a14="http://schemas.microsoft.com/office/drawing/2010/main" Requires="a14">
          <p:sp>
            <p:nvSpPr>
              <p:cNvPr id="50178" name="Object 2"/>
              <p:cNvSpPr txBox="1"/>
              <p:nvPr/>
            </p:nvSpPr>
            <p:spPr bwMode="auto">
              <a:xfrm>
                <a:off x="3935413" y="1268413"/>
                <a:ext cx="5064125" cy="488950"/>
              </a:xfrm>
              <a:prstGeom prst="rect">
                <a:avLst/>
              </a:prstGeom>
              <a:noFill/>
              <a:ln>
                <a:noFill/>
              </a:ln>
              <a:effectLst/>
              <a:extLst/>
            </p:spPr>
            <p:txBody>
              <a:bodyPr>
                <a:normAutofit fontScale="77500" lnSpcReduction="20000"/>
              </a:bodyPr>
              <a:lstStyle/>
              <a:p>
                <a:pPr/>
                <a14:m>
                  <m:oMathPara xmlns:m="http://schemas.openxmlformats.org/officeDocument/2006/math">
                    <m:oMathParaPr>
                      <m:jc m:val="centerGroup"/>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𝑥</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2</m:t>
                          </m:r>
                        </m:sub>
                      </m:sSub>
                      <m:r>
                        <a:rPr lang="zh-CN" altLang="en-US" i="1">
                          <a:solidFill>
                            <a:srgbClr val="000000"/>
                          </a:solidFill>
                          <a:latin typeface="Cambria Math" panose="02040503050406030204" pitchFamily="18" charset="0"/>
                        </a:rPr>
                        <m:t>𝑥𝑦</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3</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𝑦</m:t>
                          </m:r>
                        </m:e>
                        <m:sup>
                          <m:r>
                            <a:rPr lang="zh-CN" altLang="en-US" i="1">
                              <a:solidFill>
                                <a:srgbClr val="000000"/>
                              </a:solidFill>
                              <a:latin typeface="Cambria Math" panose="02040503050406030204" pitchFamily="18" charset="0"/>
                            </a:rPr>
                            <m:t>2</m:t>
                          </m:r>
                        </m:sup>
                      </m:sSup>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4</m:t>
                          </m:r>
                        </m:sub>
                      </m:sSub>
                      <m:r>
                        <a:rPr lang="zh-CN" altLang="en-US" i="1">
                          <a:solidFill>
                            <a:srgbClr val="000000"/>
                          </a:solidFill>
                          <a:latin typeface="Cambria Math" panose="02040503050406030204" pitchFamily="18" charset="0"/>
                        </a:rPr>
                        <m:t>𝑥</m:t>
                      </m:r>
                      <m:r>
                        <a:rPr lang="zh-CN" altLang="en-US" i="1">
                          <a:solidFill>
                            <a:srgbClr val="000000"/>
                          </a:solidFill>
                          <a:latin typeface="Cambria Math" panose="02040503050406030204" pitchFamily="18" charset="0"/>
                        </a:rPr>
                        <m:t>+2</m:t>
                      </m:r>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𝑎</m:t>
                          </m:r>
                        </m:e>
                        <m:sub>
                          <m:r>
                            <a:rPr lang="zh-CN" altLang="en-US" i="1">
                              <a:solidFill>
                                <a:srgbClr val="000000"/>
                              </a:solidFill>
                              <a:latin typeface="Cambria Math" panose="02040503050406030204" pitchFamily="18" charset="0"/>
                            </a:rPr>
                            <m:t>5</m:t>
                          </m:r>
                        </m:sub>
                      </m:sSub>
                      <m:r>
                        <a:rPr lang="zh-CN" altLang="en-US" i="1">
                          <a:solidFill>
                            <a:srgbClr val="000000"/>
                          </a:solidFill>
                          <a:latin typeface="Cambria Math" panose="02040503050406030204" pitchFamily="18" charset="0"/>
                        </a:rPr>
                        <m:t>𝑦</m:t>
                      </m:r>
                      <m:r>
                        <a:rPr lang="zh-CN" altLang="en-US" i="1">
                          <a:solidFill>
                            <a:srgbClr val="000000"/>
                          </a:solidFill>
                          <a:latin typeface="Cambria Math" panose="02040503050406030204" pitchFamily="18" charset="0"/>
                        </a:rPr>
                        <m:t>+1=0</m:t>
                      </m:r>
                    </m:oMath>
                  </m:oMathPara>
                </a14:m>
                <a:endParaRPr lang="zh-CN" altLang="en-US"/>
              </a:p>
            </p:txBody>
          </p:sp>
        </mc:Choice>
        <mc:Fallback>
          <p:sp>
            <p:nvSpPr>
              <p:cNvPr id="50178" name="Object 2"/>
              <p:cNvSpPr txBox="1">
                <a:spLocks noRot="1" noChangeAspect="1" noMove="1" noResize="1" noEditPoints="1" noAdjustHandles="1" noChangeArrowheads="1" noChangeShapeType="1" noTextEdit="1"/>
              </p:cNvSpPr>
              <p:nvPr/>
            </p:nvSpPr>
            <p:spPr bwMode="auto">
              <a:xfrm>
                <a:off x="3935413" y="1268413"/>
                <a:ext cx="5064125" cy="488950"/>
              </a:xfrm>
              <a:prstGeom prst="rect">
                <a:avLst/>
              </a:prstGeom>
              <a:blipFill>
                <a:blip r:embed="rId3"/>
                <a:stretch>
                  <a:fillRect/>
                </a:stretch>
              </a:blipFill>
              <a:ln>
                <a:noFill/>
              </a:ln>
              <a:effectLst/>
              <a:extLst/>
            </p:spPr>
            <p:txBody>
              <a:bodyPr/>
              <a:lstStyle/>
              <a:p>
                <a:r>
                  <a:rPr lang="zh-CN" altLang="en-US">
                    <a:noFill/>
                  </a:rPr>
                  <a:t> </a:t>
                </a:r>
              </a:p>
            </p:txBody>
          </p:sp>
        </mc:Fallback>
      </mc:AlternateContent>
      <p:sp>
        <p:nvSpPr>
          <p:cNvPr id="50181" name="矩形 4"/>
          <p:cNvSpPr>
            <a:spLocks noChangeArrowheads="1"/>
          </p:cNvSpPr>
          <p:nvPr/>
        </p:nvSpPr>
        <p:spPr bwMode="auto">
          <a:xfrm>
            <a:off x="2063750" y="6092825"/>
            <a:ext cx="81359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FontTx/>
              <a:buNone/>
            </a:pPr>
            <a:r>
              <a:rPr lang="zh-CN" altLang="en-US" sz="2400"/>
              <a:t>可得解： </a:t>
            </a:r>
            <a:r>
              <a:rPr lang="en-US" altLang="zh-CN" sz="2400" i="1"/>
              <a:t>X</a:t>
            </a:r>
            <a:r>
              <a:rPr lang="en-US" altLang="zh-CN" sz="2400"/>
              <a:t>=[0.6143－0.3440－0.6942－1.6351－0.2165]</a:t>
            </a:r>
          </a:p>
        </p:txBody>
      </p:sp>
      <p:grpSp>
        <p:nvGrpSpPr>
          <p:cNvPr id="2" name="组合 6"/>
          <p:cNvGrpSpPr>
            <a:grpSpLocks/>
          </p:cNvGrpSpPr>
          <p:nvPr/>
        </p:nvGrpSpPr>
        <p:grpSpPr bwMode="auto">
          <a:xfrm>
            <a:off x="1774825" y="1773238"/>
            <a:ext cx="8424863" cy="4275137"/>
            <a:chOff x="250825" y="1772816"/>
            <a:chExt cx="8424094" cy="4275559"/>
          </a:xfrm>
        </p:grpSpPr>
        <p:graphicFrame>
          <p:nvGraphicFramePr>
            <p:cNvPr id="53254" name="Object 4"/>
            <p:cNvGraphicFramePr>
              <a:graphicFrameLocks noChangeAspect="1"/>
            </p:cNvGraphicFramePr>
            <p:nvPr/>
          </p:nvGraphicFramePr>
          <p:xfrm>
            <a:off x="250825" y="3429000"/>
            <a:ext cx="8066088" cy="2619375"/>
          </p:xfrm>
          <a:graphic>
            <a:graphicData uri="http://schemas.openxmlformats.org/presentationml/2006/ole">
              <mc:AlternateContent xmlns:mc="http://schemas.openxmlformats.org/markup-compatibility/2006">
                <mc:Choice xmlns:v="urn:schemas-microsoft-com:vml" Requires="v">
                  <p:oleObj spid="_x0000_s53391" name="Document" r:id="rId4" imgW="5511951" imgH="1216995" progId="Word.Document.8">
                    <p:embed/>
                  </p:oleObj>
                </mc:Choice>
                <mc:Fallback>
                  <p:oleObj name="Document" r:id="rId4" imgW="5511951" imgH="1216995" progId="Word.Documen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l="8005" r="23950"/>
                        <a:stretch>
                          <a:fillRect/>
                        </a:stretch>
                      </p:blipFill>
                      <p:spPr bwMode="auto">
                        <a:xfrm>
                          <a:off x="250825" y="3429000"/>
                          <a:ext cx="8066088" cy="261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3255" name="Rectangle 3"/>
            <p:cNvSpPr txBox="1">
              <a:spLocks noChangeArrowheads="1"/>
            </p:cNvSpPr>
            <p:nvPr/>
          </p:nvSpPr>
          <p:spPr bwMode="auto">
            <a:xfrm>
              <a:off x="468293" y="1772816"/>
              <a:ext cx="8206626" cy="16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zh-CN" altLang="en-US" sz="2400"/>
                <a:t>        用表中5个点的坐标数据分别代入椭圆的一般方程，可建立5个方程的线性方程组。该方程组的系数矩阵为</a:t>
              </a:r>
              <a:r>
                <a:rPr lang="en-US" altLang="zh-CN" sz="2400" i="1"/>
                <a:t>A</a:t>
              </a:r>
              <a:r>
                <a:rPr lang="en-US" altLang="zh-CN" sz="2400"/>
                <a:t>，</a:t>
              </a:r>
              <a:r>
                <a:rPr lang="zh-CN" altLang="en-US" sz="2400"/>
                <a:t>右端项为</a:t>
              </a:r>
              <a:r>
                <a:rPr lang="en-US" altLang="zh-CN" sz="2400" i="1"/>
                <a:t>b</a:t>
              </a:r>
              <a:r>
                <a:rPr lang="en-US" altLang="zh-CN" sz="2400"/>
                <a:t>，</a:t>
              </a:r>
              <a:r>
                <a:rPr lang="zh-CN" altLang="en-US" sz="2400"/>
                <a:t>所求未知量为 </a:t>
              </a:r>
              <a:r>
                <a:rPr lang="en-US" altLang="zh-CN" sz="2400" i="1"/>
                <a:t>X</a:t>
              </a:r>
              <a:r>
                <a:rPr lang="en-US" altLang="zh-CN" sz="2400"/>
                <a:t>，</a:t>
              </a:r>
              <a:r>
                <a:rPr lang="zh-CN" altLang="en-US" sz="2400"/>
                <a:t>即</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0181"/>
                                        </p:tgtEl>
                                        <p:attrNameLst>
                                          <p:attrName>style.visibility</p:attrName>
                                        </p:attrNameLst>
                                      </p:cBhvr>
                                      <p:to>
                                        <p:strVal val="visible"/>
                                      </p:to>
                                    </p:set>
                                    <p:anim calcmode="lin" valueType="num">
                                      <p:cBhvr additive="base">
                                        <p:cTn id="12" dur="500" fill="hold"/>
                                        <p:tgtEl>
                                          <p:spTgt spid="50181"/>
                                        </p:tgtEl>
                                        <p:attrNameLst>
                                          <p:attrName>ppt_x</p:attrName>
                                        </p:attrNameLst>
                                      </p:cBhvr>
                                      <p:tavLst>
                                        <p:tav tm="0">
                                          <p:val>
                                            <p:strVal val="#ppt_x"/>
                                          </p:val>
                                        </p:tav>
                                        <p:tav tm="100000">
                                          <p:val>
                                            <p:strVal val="#ppt_x"/>
                                          </p:val>
                                        </p:tav>
                                      </p:tavLst>
                                    </p:anim>
                                    <p:anim calcmode="lin" valueType="num">
                                      <p:cBhvr additive="base">
                                        <p:cTn id="13" dur="500" fill="hold"/>
                                        <p:tgtEl>
                                          <p:spTgt spid="501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9416" y="411910"/>
            <a:ext cx="10363200" cy="1143000"/>
          </a:xfrm>
        </p:spPr>
        <p:txBody>
          <a:bodyPr/>
          <a:lstStyle/>
          <a:p>
            <a:r>
              <a:rPr lang="zh-CN" altLang="en-US" dirty="0"/>
              <a:t>总结</a:t>
            </a:r>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936192" y="1556792"/>
                <a:ext cx="10128359" cy="4114800"/>
              </a:xfrm>
            </p:spPr>
            <p:txBody>
              <a:bodyPr/>
              <a:lstStyle/>
              <a:p>
                <a:pPr>
                  <a:lnSpc>
                    <a:spcPct val="150000"/>
                  </a:lnSpc>
                  <a:spcAft>
                    <a:spcPts val="600"/>
                  </a:spcAft>
                  <a:buClr>
                    <a:srgbClr val="27305F"/>
                  </a:buClr>
                </a:pPr>
                <a:r>
                  <a:rPr lang="en-US" altLang="zh-CN" sz="2400" dirty="0">
                    <a:latin typeface="+mn-ea"/>
                  </a:rPr>
                  <a:t>Jacobian</a:t>
                </a:r>
                <a:r>
                  <a:rPr lang="zh-CN" altLang="en-US" sz="2400" dirty="0">
                    <a:latin typeface="+mn-ea"/>
                  </a:rPr>
                  <a:t>迭代</a:t>
                </a:r>
                <a:endParaRPr lang="en-US" altLang="zh-CN" sz="2400" dirty="0">
                  <a:latin typeface="+mn-ea"/>
                </a:endParaRPr>
              </a:p>
              <a:p>
                <a:pPr>
                  <a:lnSpc>
                    <a:spcPct val="150000"/>
                  </a:lnSpc>
                  <a:spcAft>
                    <a:spcPts val="600"/>
                  </a:spcAft>
                  <a:buClr>
                    <a:srgbClr val="27305F"/>
                  </a:buClr>
                </a:pPr>
                <a:r>
                  <a:rPr lang="en-US" altLang="zh-CN" sz="2400" dirty="0">
                    <a:latin typeface="+mn-ea"/>
                  </a:rPr>
                  <a:t>GS</a:t>
                </a:r>
                <a:r>
                  <a:rPr lang="zh-CN" altLang="en-US" sz="2400" dirty="0">
                    <a:latin typeface="+mn-ea"/>
                  </a:rPr>
                  <a:t>迭代法</a:t>
                </a:r>
                <a:endParaRPr lang="en-US" altLang="zh-CN" sz="2400" dirty="0">
                  <a:latin typeface="+mn-ea"/>
                </a:endParaRPr>
              </a:p>
              <a:p>
                <a:pPr>
                  <a:lnSpc>
                    <a:spcPct val="150000"/>
                  </a:lnSpc>
                  <a:spcAft>
                    <a:spcPts val="600"/>
                  </a:spcAft>
                  <a:buClr>
                    <a:srgbClr val="27305F"/>
                  </a:buClr>
                </a:pPr>
                <a:r>
                  <a:rPr lang="en-US" altLang="zh-CN" sz="2400" dirty="0">
                    <a:latin typeface="+mn-ea"/>
                  </a:rPr>
                  <a:t>SOR</a:t>
                </a:r>
                <a:r>
                  <a:rPr lang="zh-CN" altLang="en-US" sz="2400" dirty="0">
                    <a:latin typeface="+mn-ea"/>
                  </a:rPr>
                  <a:t>迭代法：收敛速度最快。</a:t>
                </a:r>
                <a:r>
                  <a:rPr lang="zh-CN" altLang="en-US" sz="2400" b="1" dirty="0">
                    <a:solidFill>
                      <a:srgbClr val="7030A0"/>
                    </a:solidFill>
                    <a:latin typeface="+mn-ea"/>
                  </a:rPr>
                  <a:t>收敛：迭代的谱半径</a:t>
                </a:r>
                <a14:m>
                  <m:oMath xmlns:m="http://schemas.openxmlformats.org/officeDocument/2006/math">
                    <m:r>
                      <a:rPr lang="zh-CN" altLang="en-US" sz="2400" b="1" i="1">
                        <a:solidFill>
                          <a:srgbClr val="7030A0"/>
                        </a:solidFill>
                        <a:latin typeface="Cambria Math" panose="02040503050406030204" pitchFamily="18" charset="0"/>
                      </a:rPr>
                      <m:t>𝝆</m:t>
                    </m:r>
                    <m:r>
                      <a:rPr lang="en-US" altLang="zh-CN" sz="2400" b="1" i="1">
                        <a:solidFill>
                          <a:srgbClr val="7030A0"/>
                        </a:solidFill>
                        <a:latin typeface="Cambria Math" panose="02040503050406030204" pitchFamily="18" charset="0"/>
                      </a:rPr>
                      <m:t>(</m:t>
                    </m:r>
                    <m:r>
                      <a:rPr lang="en-US" altLang="zh-CN" sz="2400" b="1" i="1">
                        <a:solidFill>
                          <a:srgbClr val="7030A0"/>
                        </a:solidFill>
                        <a:latin typeface="Cambria Math" panose="02040503050406030204" pitchFamily="18" charset="0"/>
                      </a:rPr>
                      <m:t>𝑩</m:t>
                    </m:r>
                    <m:r>
                      <a:rPr lang="en-US" altLang="zh-CN" sz="2400" b="1" i="1">
                        <a:solidFill>
                          <a:srgbClr val="7030A0"/>
                        </a:solidFill>
                        <a:latin typeface="Cambria Math" panose="02040503050406030204" pitchFamily="18" charset="0"/>
                      </a:rPr>
                      <m:t>)</m:t>
                    </m:r>
                  </m:oMath>
                </a14:m>
                <a:r>
                  <a:rPr lang="en-US" altLang="zh-CN" sz="2400" b="1" dirty="0">
                    <a:solidFill>
                      <a:srgbClr val="7030A0"/>
                    </a:solidFill>
                    <a:latin typeface="+mn-ea"/>
                  </a:rPr>
                  <a:t>&lt;1,</a:t>
                </a:r>
                <a14:m>
                  <m:oMath xmlns:m="http://schemas.openxmlformats.org/officeDocument/2006/math">
                    <m:r>
                      <a:rPr lang="en-US" altLang="zh-CN" sz="2400" b="1" i="0" smtClean="0">
                        <a:solidFill>
                          <a:srgbClr val="7030A0"/>
                        </a:solidFill>
                        <a:latin typeface="Cambria Math" panose="02040503050406030204" pitchFamily="18" charset="0"/>
                      </a:rPr>
                      <m:t>𝟎</m:t>
                    </m:r>
                    <m:r>
                      <a:rPr lang="en-US" altLang="zh-CN" sz="2400" b="1" i="0" smtClean="0">
                        <a:solidFill>
                          <a:srgbClr val="7030A0"/>
                        </a:solidFill>
                        <a:latin typeface="Cambria Math" panose="02040503050406030204" pitchFamily="18" charset="0"/>
                      </a:rPr>
                      <m:t>&lt;</m:t>
                    </m:r>
                    <m:r>
                      <a:rPr lang="zh-CN" altLang="en-US" sz="2400" b="1" i="1" smtClean="0">
                        <a:solidFill>
                          <a:srgbClr val="7030A0"/>
                        </a:solidFill>
                        <a:latin typeface="Cambria Math" panose="02040503050406030204" pitchFamily="18" charset="0"/>
                      </a:rPr>
                      <m:t>𝝎</m:t>
                    </m:r>
                    <m:r>
                      <a:rPr lang="en-US" altLang="zh-CN" sz="2400" b="1" i="1" smtClean="0">
                        <a:solidFill>
                          <a:srgbClr val="7030A0"/>
                        </a:solidFill>
                        <a:latin typeface="Cambria Math" panose="02040503050406030204" pitchFamily="18" charset="0"/>
                      </a:rPr>
                      <m:t>&lt;</m:t>
                    </m:r>
                    <m:r>
                      <a:rPr lang="en-US" altLang="zh-CN" sz="2400" b="1" i="1" smtClean="0">
                        <a:solidFill>
                          <a:srgbClr val="7030A0"/>
                        </a:solidFill>
                        <a:latin typeface="Cambria Math" panose="02040503050406030204" pitchFamily="18" charset="0"/>
                      </a:rPr>
                      <m:t>𝟐</m:t>
                    </m:r>
                  </m:oMath>
                </a14:m>
                <a:r>
                  <a:rPr lang="en-US" altLang="zh-CN" sz="2400" b="1" dirty="0">
                    <a:solidFill>
                      <a:srgbClr val="7030A0"/>
                    </a:solidFill>
                    <a:latin typeface="+mn-ea"/>
                  </a:rPr>
                  <a:t>.</a:t>
                </a:r>
                <a:endParaRPr lang="en-US" altLang="zh-CN" sz="2400" b="1" dirty="0">
                  <a:latin typeface="+mn-ea"/>
                </a:endParaRPr>
              </a:p>
              <a:p>
                <a:pPr>
                  <a:lnSpc>
                    <a:spcPct val="150000"/>
                  </a:lnSpc>
                  <a:spcAft>
                    <a:spcPts val="600"/>
                  </a:spcAft>
                  <a:buClr>
                    <a:srgbClr val="27305F"/>
                  </a:buClr>
                </a:pPr>
                <a:r>
                  <a:rPr lang="zh-CN" altLang="en-US" sz="2400" dirty="0">
                    <a:latin typeface="+mn-ea"/>
                  </a:rPr>
                  <a:t>使用迭代法的关键问题是其收敛性与收敛速度，收敛性与迭代初值的选取无关。</a:t>
                </a:r>
                <a:endParaRPr lang="en-US" altLang="zh-CN" sz="2400" dirty="0">
                  <a:latin typeface="+mn-ea"/>
                </a:endParaRPr>
              </a:p>
              <a:p>
                <a:pPr>
                  <a:lnSpc>
                    <a:spcPct val="150000"/>
                  </a:lnSpc>
                  <a:spcAft>
                    <a:spcPts val="600"/>
                  </a:spcAft>
                  <a:buClr>
                    <a:srgbClr val="27305F"/>
                  </a:buClr>
                </a:pPr>
                <a:r>
                  <a:rPr lang="zh-CN" altLang="en-US" sz="2400" dirty="0">
                    <a:latin typeface="+mn-ea"/>
                  </a:rPr>
                  <a:t>条件数是反映线性方程组病态与否的标准量，</a:t>
                </a:r>
                <a:r>
                  <a:rPr lang="zh-CN" altLang="en-US" sz="2400" dirty="0"/>
                  <a:t>病态现象是方程组的</a:t>
                </a:r>
                <a:r>
                  <a:rPr lang="zh-CN" altLang="en-US" sz="2400" b="1" dirty="0">
                    <a:solidFill>
                      <a:srgbClr val="002060"/>
                    </a:solidFill>
                  </a:rPr>
                  <a:t>固有属性。</a:t>
                </a:r>
                <a:endParaRPr lang="zh-CN" altLang="en-US" sz="2400" dirty="0">
                  <a:latin typeface="+mn-ea"/>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936192" y="1556792"/>
                <a:ext cx="10128359" cy="4114800"/>
              </a:xfrm>
              <a:blipFill>
                <a:blip r:embed="rId2"/>
                <a:stretch>
                  <a:fillRect l="-662" b="-11407"/>
                </a:stretch>
              </a:blipFill>
            </p:spPr>
            <p:txBody>
              <a:bodyPr/>
              <a:lstStyle/>
              <a:p>
                <a:r>
                  <a:rPr lang="zh-CN" altLang="en-US">
                    <a:noFill/>
                  </a:rPr>
                  <a:t> </a:t>
                </a:r>
              </a:p>
            </p:txBody>
          </p:sp>
        </mc:Fallback>
      </mc:AlternateContent>
      <p:grpSp>
        <p:nvGrpSpPr>
          <p:cNvPr id="6" name="组合 5"/>
          <p:cNvGrpSpPr/>
          <p:nvPr/>
        </p:nvGrpSpPr>
        <p:grpSpPr>
          <a:xfrm>
            <a:off x="4032066" y="1523875"/>
            <a:ext cx="6672446" cy="1569660"/>
            <a:chOff x="4125868" y="1299318"/>
            <a:chExt cx="6574706" cy="2466653"/>
          </a:xfrm>
        </p:grpSpPr>
        <mc:AlternateContent xmlns:mc="http://schemas.openxmlformats.org/markup-compatibility/2006">
          <mc:Choice xmlns:a14="http://schemas.microsoft.com/office/drawing/2010/main" Requires="a14">
            <p:sp>
              <p:nvSpPr>
                <p:cNvPr id="4" name="矩形 3"/>
                <p:cNvSpPr/>
                <p:nvPr/>
              </p:nvSpPr>
              <p:spPr>
                <a:xfrm>
                  <a:off x="4684653" y="1299318"/>
                  <a:ext cx="6015921" cy="2466653"/>
                </a:xfrm>
                <a:prstGeom prst="rect">
                  <a:avLst/>
                </a:prstGeom>
              </p:spPr>
              <p:txBody>
                <a:bodyPr wrap="square">
                  <a:spAutoFit/>
                </a:bodyPr>
                <a:lstStyle/>
                <a:p>
                  <a:r>
                    <a:rPr lang="zh-CN" altLang="en-US" b="1" dirty="0">
                      <a:solidFill>
                        <a:srgbClr val="7030A0"/>
                      </a:solidFill>
                      <a:latin typeface="+mn-ea"/>
                      <a:ea typeface="+mn-ea"/>
                    </a:rPr>
                    <a:t>收敛：</a:t>
                  </a:r>
                  <a:endParaRPr lang="en-US" altLang="zh-CN" b="1" dirty="0">
                    <a:solidFill>
                      <a:srgbClr val="7030A0"/>
                    </a:solidFill>
                    <a:latin typeface="+mn-ea"/>
                    <a:ea typeface="+mn-ea"/>
                  </a:endParaRPr>
                </a:p>
                <a:p>
                  <a:r>
                    <a:rPr lang="en-US" altLang="zh-CN" b="1" dirty="0">
                      <a:solidFill>
                        <a:srgbClr val="7030A0"/>
                      </a:solidFill>
                      <a:latin typeface="+mn-ea"/>
                      <a:ea typeface="+mn-ea"/>
                    </a:rPr>
                    <a:t>1</a:t>
                  </a:r>
                  <a:r>
                    <a:rPr lang="zh-CN" altLang="en-US" b="1" dirty="0">
                      <a:solidFill>
                        <a:srgbClr val="7030A0"/>
                      </a:solidFill>
                      <a:latin typeface="+mn-ea"/>
                      <a:ea typeface="+mn-ea"/>
                    </a:rPr>
                    <a:t>）迭代的谱半径</a:t>
                  </a:r>
                  <a14:m>
                    <m:oMath xmlns:m="http://schemas.openxmlformats.org/officeDocument/2006/math">
                      <m:r>
                        <a:rPr lang="zh-CN" altLang="en-US" b="1" i="1" smtClean="0">
                          <a:solidFill>
                            <a:srgbClr val="7030A0"/>
                          </a:solidFill>
                          <a:latin typeface="Cambria Math" panose="02040503050406030204" pitchFamily="18" charset="0"/>
                          <a:ea typeface="+mn-ea"/>
                        </a:rPr>
                        <m:t>𝝆</m:t>
                      </m:r>
                      <m:r>
                        <a:rPr lang="en-US" altLang="zh-CN" b="1" i="1" smtClean="0">
                          <a:solidFill>
                            <a:srgbClr val="7030A0"/>
                          </a:solidFill>
                          <a:latin typeface="Cambria Math" panose="02040503050406030204" pitchFamily="18" charset="0"/>
                          <a:ea typeface="+mn-ea"/>
                        </a:rPr>
                        <m:t>(</m:t>
                      </m:r>
                      <m:r>
                        <a:rPr lang="en-US" altLang="zh-CN" b="1" i="1" smtClean="0">
                          <a:solidFill>
                            <a:srgbClr val="7030A0"/>
                          </a:solidFill>
                          <a:latin typeface="Cambria Math" panose="02040503050406030204" pitchFamily="18" charset="0"/>
                          <a:ea typeface="+mn-ea"/>
                        </a:rPr>
                        <m:t>𝑩</m:t>
                      </m:r>
                      <m:r>
                        <a:rPr lang="en-US" altLang="zh-CN" b="1" i="1" smtClean="0">
                          <a:solidFill>
                            <a:srgbClr val="7030A0"/>
                          </a:solidFill>
                          <a:latin typeface="Cambria Math" panose="02040503050406030204" pitchFamily="18" charset="0"/>
                          <a:ea typeface="+mn-ea"/>
                        </a:rPr>
                        <m:t>)</m:t>
                      </m:r>
                    </m:oMath>
                  </a14:m>
                  <a:r>
                    <a:rPr lang="en-US" altLang="zh-CN" b="1" dirty="0">
                      <a:solidFill>
                        <a:srgbClr val="7030A0"/>
                      </a:solidFill>
                      <a:latin typeface="+mn-ea"/>
                      <a:ea typeface="+mn-ea"/>
                    </a:rPr>
                    <a:t>&lt;1.</a:t>
                  </a:r>
                </a:p>
                <a:p>
                  <a:r>
                    <a:rPr lang="zh-CN" altLang="en-US" b="1" dirty="0">
                      <a:solidFill>
                        <a:srgbClr val="7030A0"/>
                      </a:solidFill>
                      <a:latin typeface="+mn-ea"/>
                      <a:ea typeface="+mn-ea"/>
                    </a:rPr>
                    <a:t>（判断麻烦，可用</a:t>
                  </a:r>
                  <a14:m>
                    <m:oMath xmlns:m="http://schemas.openxmlformats.org/officeDocument/2006/math">
                      <m:r>
                        <a:rPr lang="en-US" altLang="zh-CN" b="1" i="1" dirty="0" smtClean="0">
                          <a:solidFill>
                            <a:srgbClr val="7030A0"/>
                          </a:solidFill>
                          <a:latin typeface="Cambria Math" panose="02040503050406030204" pitchFamily="18" charset="0"/>
                          <a:ea typeface="+mn-ea"/>
                        </a:rPr>
                        <m:t>||</m:t>
                      </m:r>
                      <m:r>
                        <a:rPr lang="en-US" altLang="zh-CN" b="1" i="1" dirty="0" smtClean="0">
                          <a:solidFill>
                            <a:srgbClr val="7030A0"/>
                          </a:solidFill>
                          <a:latin typeface="Cambria Math" panose="02040503050406030204" pitchFamily="18" charset="0"/>
                          <a:ea typeface="+mn-ea"/>
                        </a:rPr>
                        <m:t>𝑩</m:t>
                      </m:r>
                      <m:r>
                        <a:rPr lang="en-US" altLang="zh-CN" b="1" i="1" dirty="0" smtClean="0">
                          <a:solidFill>
                            <a:srgbClr val="7030A0"/>
                          </a:solidFill>
                          <a:latin typeface="Cambria Math" panose="02040503050406030204" pitchFamily="18" charset="0"/>
                          <a:ea typeface="+mn-ea"/>
                        </a:rPr>
                        <m:t>||</m:t>
                      </m:r>
                    </m:oMath>
                  </a14:m>
                  <a:r>
                    <a:rPr lang="zh-CN" altLang="en-US" b="1" dirty="0">
                      <a:solidFill>
                        <a:srgbClr val="7030A0"/>
                      </a:solidFill>
                      <a:latin typeface="+mn-ea"/>
                      <a:ea typeface="+mn-ea"/>
                    </a:rPr>
                    <a:t>迭代矩阵的范数）</a:t>
                  </a:r>
                  <a:endParaRPr lang="en-US" altLang="zh-CN" b="1" dirty="0">
                    <a:solidFill>
                      <a:srgbClr val="7030A0"/>
                    </a:solidFill>
                    <a:latin typeface="+mn-ea"/>
                    <a:ea typeface="+mn-ea"/>
                  </a:endParaRPr>
                </a:p>
                <a:p>
                  <a:r>
                    <a:rPr lang="en-US" altLang="zh-CN" b="1" dirty="0">
                      <a:solidFill>
                        <a:srgbClr val="7030A0"/>
                      </a:solidFill>
                      <a:latin typeface="+mn-ea"/>
                      <a:ea typeface="+mn-ea"/>
                    </a:rPr>
                    <a:t>2</a:t>
                  </a:r>
                  <a:r>
                    <a:rPr lang="zh-CN" altLang="en-US" b="1" dirty="0">
                      <a:solidFill>
                        <a:srgbClr val="7030A0"/>
                      </a:solidFill>
                      <a:latin typeface="+mn-ea"/>
                      <a:ea typeface="+mn-ea"/>
                    </a:rPr>
                    <a:t>）严格对角占优矩阵</a:t>
                  </a:r>
                  <a:endParaRPr lang="zh-CN" altLang="en-US" dirty="0">
                    <a:solidFill>
                      <a:srgbClr val="7030A0"/>
                    </a:solidFill>
                    <a:latin typeface="+mn-ea"/>
                    <a:ea typeface="+mn-ea"/>
                  </a:endParaRPr>
                </a:p>
              </p:txBody>
            </p:sp>
          </mc:Choice>
          <mc:Fallback>
            <p:sp>
              <p:nvSpPr>
                <p:cNvPr id="4" name="矩形 3"/>
                <p:cNvSpPr>
                  <a:spLocks noRot="1" noChangeAspect="1" noMove="1" noResize="1" noEditPoints="1" noAdjustHandles="1" noChangeArrowheads="1" noChangeShapeType="1" noTextEdit="1"/>
                </p:cNvSpPr>
                <p:nvPr/>
              </p:nvSpPr>
              <p:spPr>
                <a:xfrm>
                  <a:off x="4684653" y="1299318"/>
                  <a:ext cx="6015921" cy="2466653"/>
                </a:xfrm>
                <a:prstGeom prst="rect">
                  <a:avLst/>
                </a:prstGeom>
                <a:blipFill>
                  <a:blip r:embed="rId3"/>
                  <a:stretch>
                    <a:fillRect l="-1497" t="-3113" b="-8171"/>
                  </a:stretch>
                </a:blipFill>
              </p:spPr>
              <p:txBody>
                <a:bodyPr/>
                <a:lstStyle/>
                <a:p>
                  <a:r>
                    <a:rPr lang="zh-CN" altLang="en-US">
                      <a:noFill/>
                    </a:rPr>
                    <a:t> </a:t>
                  </a:r>
                </a:p>
              </p:txBody>
            </p:sp>
          </mc:Fallback>
        </mc:AlternateContent>
        <p:sp>
          <p:nvSpPr>
            <p:cNvPr id="5" name="右大括号 4"/>
            <p:cNvSpPr/>
            <p:nvPr/>
          </p:nvSpPr>
          <p:spPr bwMode="auto">
            <a:xfrm>
              <a:off x="4125868" y="1878900"/>
              <a:ext cx="429072" cy="1697360"/>
            </a:xfrm>
            <a:prstGeom prst="righ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400" b="0" i="0" u="none" strike="noStrike" cap="none" normalizeH="0" baseline="0">
                <a:ln>
                  <a:noFill/>
                </a:ln>
                <a:solidFill>
                  <a:schemeClr val="tx1"/>
                </a:solidFill>
                <a:effectLst/>
                <a:latin typeface="Times New Roman" pitchFamily="18" charset="0"/>
                <a:ea typeface="宋体" pitchFamily="2" charset="-122"/>
              </a:endParaRPr>
            </a:p>
          </p:txBody>
        </p:sp>
      </p:grpSp>
    </p:spTree>
    <p:extLst>
      <p:ext uri="{BB962C8B-B14F-4D97-AF65-F5344CB8AC3E}">
        <p14:creationId xmlns:p14="http://schemas.microsoft.com/office/powerpoint/2010/main" val="315936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32302</TotalTime>
  <Words>3980</Words>
  <Application>Microsoft Office PowerPoint</Application>
  <PresentationFormat>宽屏</PresentationFormat>
  <Paragraphs>512</Paragraphs>
  <Slides>45</Slides>
  <Notes>19</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45</vt:i4>
      </vt:variant>
    </vt:vector>
  </HeadingPairs>
  <TitlesOfParts>
    <vt:vector size="60" baseType="lpstr">
      <vt:lpstr>quote-cjk-patch</vt:lpstr>
      <vt:lpstr>黑体</vt:lpstr>
      <vt:lpstr>楷体_GB2312</vt:lpstr>
      <vt:lpstr>宋体</vt:lpstr>
      <vt:lpstr>Arial</vt:lpstr>
      <vt:lpstr>Calibri</vt:lpstr>
      <vt:lpstr>Cambria Math</vt:lpstr>
      <vt:lpstr>Symbol</vt:lpstr>
      <vt:lpstr>Tahoma</vt:lpstr>
      <vt:lpstr>Times New Roman</vt:lpstr>
      <vt:lpstr>Wingdings</vt:lpstr>
      <vt:lpstr>默认设计模板</vt:lpstr>
      <vt:lpstr>公式</vt:lpstr>
      <vt:lpstr>Equation</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§2.9 条件数与病态方程组</vt:lpstr>
      <vt:lpstr>§2.9 条件数与病态方程组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vt:lpstr>
    </vt:vector>
  </TitlesOfParts>
  <Company>njupt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c:title>
  <dc:creator>shyl</dc:creator>
  <cp:lastModifiedBy>Alice</cp:lastModifiedBy>
  <cp:revision>956</cp:revision>
  <dcterms:created xsi:type="dcterms:W3CDTF">2003-11-24T10:46:46Z</dcterms:created>
  <dcterms:modified xsi:type="dcterms:W3CDTF">2025-09-15T11:03:55Z</dcterms:modified>
</cp:coreProperties>
</file>