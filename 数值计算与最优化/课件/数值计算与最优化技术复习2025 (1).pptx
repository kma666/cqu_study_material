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  <p:sldMasterId id="2147483673" r:id="rId2"/>
    <p:sldMasterId id="2147483685" r:id="rId3"/>
  </p:sldMasterIdLst>
  <p:notesMasterIdLst>
    <p:notesMasterId r:id="rId61"/>
  </p:notesMasterIdLst>
  <p:handoutMasterIdLst>
    <p:handoutMasterId r:id="rId62"/>
  </p:handoutMasterIdLst>
  <p:sldIdLst>
    <p:sldId id="256" r:id="rId4"/>
    <p:sldId id="266" r:id="rId5"/>
    <p:sldId id="257" r:id="rId6"/>
    <p:sldId id="267" r:id="rId7"/>
    <p:sldId id="272" r:id="rId8"/>
    <p:sldId id="277" r:id="rId9"/>
    <p:sldId id="271" r:id="rId10"/>
    <p:sldId id="538" r:id="rId11"/>
    <p:sldId id="274" r:id="rId12"/>
    <p:sldId id="268" r:id="rId13"/>
    <p:sldId id="276" r:id="rId14"/>
    <p:sldId id="278" r:id="rId15"/>
    <p:sldId id="279" r:id="rId16"/>
    <p:sldId id="285" r:id="rId17"/>
    <p:sldId id="281" r:id="rId18"/>
    <p:sldId id="283" r:id="rId19"/>
    <p:sldId id="298" r:id="rId20"/>
    <p:sldId id="299" r:id="rId21"/>
    <p:sldId id="300" r:id="rId22"/>
    <p:sldId id="282" r:id="rId23"/>
    <p:sldId id="284" r:id="rId24"/>
    <p:sldId id="275" r:id="rId25"/>
    <p:sldId id="286" r:id="rId26"/>
    <p:sldId id="539" r:id="rId27"/>
    <p:sldId id="297" r:id="rId28"/>
    <p:sldId id="287" r:id="rId29"/>
    <p:sldId id="295" r:id="rId30"/>
    <p:sldId id="288" r:id="rId31"/>
    <p:sldId id="291" r:id="rId32"/>
    <p:sldId id="292" r:id="rId33"/>
    <p:sldId id="293" r:id="rId34"/>
    <p:sldId id="294" r:id="rId35"/>
    <p:sldId id="269" r:id="rId36"/>
    <p:sldId id="302" r:id="rId37"/>
    <p:sldId id="289" r:id="rId38"/>
    <p:sldId id="290" r:id="rId39"/>
    <p:sldId id="270" r:id="rId40"/>
    <p:sldId id="316" r:id="rId41"/>
    <p:sldId id="314" r:id="rId42"/>
    <p:sldId id="303" r:id="rId43"/>
    <p:sldId id="309" r:id="rId44"/>
    <p:sldId id="310" r:id="rId45"/>
    <p:sldId id="311" r:id="rId46"/>
    <p:sldId id="312" r:id="rId47"/>
    <p:sldId id="306" r:id="rId48"/>
    <p:sldId id="313" r:id="rId49"/>
    <p:sldId id="317" r:id="rId50"/>
    <p:sldId id="628" r:id="rId51"/>
    <p:sldId id="629" r:id="rId52"/>
    <p:sldId id="318" r:id="rId53"/>
    <p:sldId id="559" r:id="rId54"/>
    <p:sldId id="321" r:id="rId55"/>
    <p:sldId id="259" r:id="rId56"/>
    <p:sldId id="320" r:id="rId57"/>
    <p:sldId id="540" r:id="rId58"/>
    <p:sldId id="263" r:id="rId59"/>
    <p:sldId id="265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image" Target="../media/image23.emf"/><Relationship Id="rId4" Type="http://schemas.openxmlformats.org/officeDocument/2006/relationships/image" Target="../media/image26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image" Target="../media/image37.wmf"/><Relationship Id="rId4" Type="http://schemas.openxmlformats.org/officeDocument/2006/relationships/image" Target="../media/image40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4" Type="http://schemas.openxmlformats.org/officeDocument/2006/relationships/image" Target="../media/image5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image" Target="../media/image64.wmf"/><Relationship Id="rId7" Type="http://schemas.openxmlformats.org/officeDocument/2006/relationships/image" Target="../media/image68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10" Type="http://schemas.openxmlformats.org/officeDocument/2006/relationships/image" Target="../media/image71.wmf"/><Relationship Id="rId4" Type="http://schemas.openxmlformats.org/officeDocument/2006/relationships/image" Target="../media/image65.wmf"/><Relationship Id="rId9" Type="http://schemas.openxmlformats.org/officeDocument/2006/relationships/image" Target="../media/image7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7" Type="http://schemas.openxmlformats.org/officeDocument/2006/relationships/image" Target="../media/image79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6" Type="http://schemas.openxmlformats.org/officeDocument/2006/relationships/image" Target="../media/image74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wmf"/><Relationship Id="rId1" Type="http://schemas.openxmlformats.org/officeDocument/2006/relationships/image" Target="../media/image99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3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4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wmf"/><Relationship Id="rId1" Type="http://schemas.openxmlformats.org/officeDocument/2006/relationships/image" Target="../media/image115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6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7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emf"/><Relationship Id="rId4" Type="http://schemas.openxmlformats.org/officeDocument/2006/relationships/image" Target="../media/image122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wmf"/><Relationship Id="rId7" Type="http://schemas.openxmlformats.org/officeDocument/2006/relationships/image" Target="../media/image132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Relationship Id="rId6" Type="http://schemas.openxmlformats.org/officeDocument/2006/relationships/image" Target="../media/image131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Relationship Id="rId6" Type="http://schemas.openxmlformats.org/officeDocument/2006/relationships/image" Target="../media/image138.wmf"/><Relationship Id="rId5" Type="http://schemas.openxmlformats.org/officeDocument/2006/relationships/image" Target="../media/image137.wmf"/><Relationship Id="rId4" Type="http://schemas.openxmlformats.org/officeDocument/2006/relationships/image" Target="../media/image136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wmf"/><Relationship Id="rId1" Type="http://schemas.openxmlformats.org/officeDocument/2006/relationships/image" Target="../media/image140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Relationship Id="rId5" Type="http://schemas.openxmlformats.org/officeDocument/2006/relationships/image" Target="../media/image146.wmf"/><Relationship Id="rId4" Type="http://schemas.openxmlformats.org/officeDocument/2006/relationships/image" Target="../media/image14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15AB1-35D1-4772-A75C-1A5B0897D935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FA932-6780-45BC-AFDC-49A1F96266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3649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42DC3-77FA-4548-972F-06222945B9D5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8492D-6BB3-4073-A9C5-FB9CA083DA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011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17996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13338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69627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11715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349758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60714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1015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31457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68209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823953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11139"/>
            <a:ext cx="2743200" cy="59150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11139"/>
            <a:ext cx="8026400" cy="59150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95040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3915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E64042-069D-4400-9F56-F6EA673461E4}" type="datetimeFigureOut">
              <a:rPr lang="en-US" altLang="zh-CN"/>
              <a:pPr/>
              <a:t>12/10/2025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890C5D-6BBE-4F07-A96C-7D0CD251E66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792325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5A327D6-A4C5-4085-9339-B3F5791E92ED}" type="datetimeFigureOut">
              <a:rPr lang="en-US" altLang="zh-CN"/>
              <a:pPr/>
              <a:t>12/10/2025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1E5471-1643-4734-A4AC-2AC8E4F20B7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146069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9787BB-2096-4E36-8CB2-41900EC8D652}" type="datetimeFigureOut">
              <a:rPr lang="en-US" altLang="zh-CN"/>
              <a:pPr/>
              <a:t>12/10/2025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C94BEB-BD4D-415B-A00F-90205C1F919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6894466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27EC324-83BF-401E-BE90-9770A6B6AA8F}" type="datetimeFigureOut">
              <a:rPr lang="en-US" altLang="zh-CN"/>
              <a:pPr/>
              <a:t>12/10/2025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F0A456-DD0B-42FC-9A33-7C642C99AFF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9724637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78CDB9-B18E-4466-95BF-C2BF438E6289}" type="datetimeFigureOut">
              <a:rPr lang="en-US" altLang="zh-CN"/>
              <a:pPr/>
              <a:t>12/10/2025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3CAC4E-3E86-412E-B43A-17D0DEAE78E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1950345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98FD61-8CEF-4F07-9C32-B2684E086716}" type="datetimeFigureOut">
              <a:rPr lang="en-US" altLang="zh-CN"/>
              <a:pPr/>
              <a:t>12/10/2025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A2B9A6-F022-4C79-8293-C7471AB530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290318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7C02EDA-73E6-43F4-8A6D-DACC51111223}" type="datetimeFigureOut">
              <a:rPr lang="en-US" altLang="zh-CN"/>
              <a:pPr/>
              <a:t>12/10/2025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6E841-F67F-4C04-86CB-AD8F0B78710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4381553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31264F7-1BFE-427D-A20F-FC67C49DF10B}" type="datetimeFigureOut">
              <a:rPr lang="en-US" altLang="zh-CN"/>
              <a:pPr/>
              <a:t>12/10/2025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1C12D1-7DA3-45CA-AF26-BD17B33CC4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983679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6B1B13-C4D8-4226-9C98-22AC0E96346D}" type="datetimeFigureOut">
              <a:rPr lang="en-US" altLang="zh-CN"/>
              <a:pPr/>
              <a:t>12/10/2025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149E7-25A1-40C0-94DC-EEB32E3F2C8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1842816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3F08711-5B2B-4272-BED9-99846145F7D4}" type="datetimeFigureOut">
              <a:rPr lang="en-US" altLang="zh-CN"/>
              <a:pPr/>
              <a:t>12/10/2025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4D037-E23C-4B84-94BE-61EFCE8016E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3057301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11139"/>
            <a:ext cx="2743200" cy="59150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11139"/>
            <a:ext cx="8026400" cy="59150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0FE8A9D-8163-44BF-95B4-4B57AEFBF442}" type="datetimeFigureOut">
              <a:rPr lang="en-US" altLang="zh-CN"/>
              <a:pPr/>
              <a:t>12/10/2025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D33D59-606C-4DA8-A501-C17827AB48A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9570188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3" name="圆角矩形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矩形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矩形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68308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9872" y="219075"/>
            <a:ext cx="10363200" cy="76880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523458" y="1367518"/>
            <a:ext cx="10898378" cy="4804682"/>
          </a:xfrm>
        </p:spPr>
        <p:txBody>
          <a:bodyPr vert="horz"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  <p:sp>
        <p:nvSpPr>
          <p:cNvPr id="7" name="矩形 6"/>
          <p:cNvSpPr/>
          <p:nvPr userDrawn="1"/>
        </p:nvSpPr>
        <p:spPr>
          <a:xfrm flipV="1">
            <a:off x="72607" y="1043396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284850465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0" name="圆角矩形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矩形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矩形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矩形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899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960513719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9404413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96762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70500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9" name="圆角矩形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66851990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矩形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矩形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矩形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565060955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311488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196604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173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-20638"/>
            <a:ext cx="12192000" cy="1438276"/>
          </a:xfrm>
          <a:prstGeom prst="rect">
            <a:avLst/>
          </a:prstGeom>
          <a:solidFill>
            <a:srgbClr val="243AA8"/>
          </a:soli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21168" y="6742114"/>
            <a:ext cx="12170833" cy="115887"/>
          </a:xfrm>
          <a:prstGeom prst="rect">
            <a:avLst/>
          </a:pr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7200" rIns="36000" bIns="180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100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1167" y="-9525"/>
            <a:ext cx="12192000" cy="109538"/>
          </a:xfrm>
          <a:prstGeom prst="rect">
            <a:avLst/>
          </a:pr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7200" rIns="36000" bIns="180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1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111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/>
            </a:lvl1pPr>
          </a:lstStyle>
          <a:p>
            <a:fld id="{96DFF08F-DC6B-4601-B491-B0F83F6DD2DA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/>
            </a:lvl1pPr>
          </a:lstStyle>
          <a:p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631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111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/>
            </a:lvl1pPr>
          </a:lstStyle>
          <a:p>
            <a:fld id="{533FB95F-A3D6-4253-93F6-7519C4874E3C}" type="datetimeFigureOut">
              <a:rPr lang="en-US" altLang="zh-CN"/>
              <a:pPr/>
              <a:t>12/10/2025</a:t>
            </a:fld>
            <a:endParaRPr lang="en-US" altLang="zh-CN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/>
            </a:lvl1pPr>
          </a:lstStyle>
          <a:p>
            <a:endParaRPr lang="en-US" altLang="zh-CN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fld id="{02EB95E6-8900-441A-9F9B-AE884EFF449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3057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8" name="圆角矩形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885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70.png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png"/><Relationship Id="rId5" Type="http://schemas.openxmlformats.org/officeDocument/2006/relationships/image" Target="../media/image80.png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emf"/><Relationship Id="rId11" Type="http://schemas.openxmlformats.org/officeDocument/2006/relationships/image" Target="../media/image27.png"/><Relationship Id="rId5" Type="http://schemas.openxmlformats.org/officeDocument/2006/relationships/oleObject" Target="../embeddings/oleObject5.bin"/><Relationship Id="rId10" Type="http://schemas.openxmlformats.org/officeDocument/2006/relationships/image" Target="../media/image26.emf"/><Relationship Id="rId4" Type="http://schemas.openxmlformats.org/officeDocument/2006/relationships/image" Target="../media/image23.emf"/><Relationship Id="rId9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7" Type="http://schemas.openxmlformats.org/officeDocument/2006/relationships/image" Target="../media/image30.emf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29.emf"/><Relationship Id="rId4" Type="http://schemas.openxmlformats.org/officeDocument/2006/relationships/oleObject" Target="../embeddings/oleObject8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33.png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1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34.png"/><Relationship Id="rId9" Type="http://schemas.openxmlformats.org/officeDocument/2006/relationships/image" Target="../media/image40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12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image" Target="../media/image471.png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40.emf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39.emf"/><Relationship Id="rId4" Type="http://schemas.openxmlformats.org/officeDocument/2006/relationships/image" Target="../media/image480.png"/><Relationship Id="rId9" Type="http://schemas.openxmlformats.org/officeDocument/2006/relationships/oleObject" Target="../embeddings/oleObject1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41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20.png"/><Relationship Id="rId5" Type="http://schemas.openxmlformats.org/officeDocument/2006/relationships/image" Target="../media/image510.png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4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1.pn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660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49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oleObject" Target="../embeddings/oleObject22.bin"/><Relationship Id="rId7" Type="http://schemas.openxmlformats.org/officeDocument/2006/relationships/image" Target="../media/image52.wmf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54.wmf"/><Relationship Id="rId5" Type="http://schemas.openxmlformats.org/officeDocument/2006/relationships/image" Target="../media/image55.png"/><Relationship Id="rId10" Type="http://schemas.openxmlformats.org/officeDocument/2006/relationships/oleObject" Target="../embeddings/oleObject25.bin"/><Relationship Id="rId4" Type="http://schemas.openxmlformats.org/officeDocument/2006/relationships/image" Target="../media/image51.wmf"/><Relationship Id="rId9" Type="http://schemas.openxmlformats.org/officeDocument/2006/relationships/image" Target="../media/image53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530.png"/><Relationship Id="rId7" Type="http://schemas.openxmlformats.org/officeDocument/2006/relationships/image" Target="../media/image570.png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60.png"/><Relationship Id="rId5" Type="http://schemas.openxmlformats.org/officeDocument/2006/relationships/image" Target="../media/image550.png"/><Relationship Id="rId4" Type="http://schemas.openxmlformats.org/officeDocument/2006/relationships/image" Target="../media/image540.png"/><Relationship Id="rId9" Type="http://schemas.openxmlformats.org/officeDocument/2006/relationships/image" Target="../media/image58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5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oleObject" Target="../embeddings/oleObject35.bin"/><Relationship Id="rId18" Type="http://schemas.openxmlformats.org/officeDocument/2006/relationships/oleObject" Target="../embeddings/oleObject38.bin"/><Relationship Id="rId26" Type="http://schemas.openxmlformats.org/officeDocument/2006/relationships/image" Target="../media/image71.wmf"/><Relationship Id="rId3" Type="http://schemas.openxmlformats.org/officeDocument/2006/relationships/oleObject" Target="../embeddings/oleObject30.bin"/><Relationship Id="rId21" Type="http://schemas.openxmlformats.org/officeDocument/2006/relationships/image" Target="../media/image70.wmf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66.wmf"/><Relationship Id="rId17" Type="http://schemas.openxmlformats.org/officeDocument/2006/relationships/image" Target="../media/image68.wmf"/><Relationship Id="rId25" Type="http://schemas.openxmlformats.org/officeDocument/2006/relationships/oleObject" Target="../embeddings/oleObject40.bin"/><Relationship Id="rId2" Type="http://schemas.openxmlformats.org/officeDocument/2006/relationships/slideLayout" Target="../slideLayouts/slideLayout25.xml"/><Relationship Id="rId16" Type="http://schemas.openxmlformats.org/officeDocument/2006/relationships/oleObject" Target="../embeddings/oleObject37.bin"/><Relationship Id="rId20" Type="http://schemas.openxmlformats.org/officeDocument/2006/relationships/oleObject" Target="../embeddings/oleObject39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23" Type="http://schemas.openxmlformats.org/officeDocument/2006/relationships/image" Target="../media/image71.wmf"/><Relationship Id="rId10" Type="http://schemas.openxmlformats.org/officeDocument/2006/relationships/image" Target="../media/image65.wmf"/><Relationship Id="rId19" Type="http://schemas.openxmlformats.org/officeDocument/2006/relationships/image" Target="../media/image69.wmf"/><Relationship Id="rId31" Type="http://schemas.openxmlformats.org/officeDocument/2006/relationships/image" Target="../media/image245.png"/><Relationship Id="rId4" Type="http://schemas.openxmlformats.org/officeDocument/2006/relationships/image" Target="../media/image62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67.wmf"/><Relationship Id="rId22" Type="http://schemas.openxmlformats.org/officeDocument/2006/relationships/oleObject" Target="../embeddings/oleObject40.bin"/><Relationship Id="rId27" Type="http://schemas.openxmlformats.org/officeDocument/2006/relationships/image" Target="../media/image7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46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77.wmf"/><Relationship Id="rId2" Type="http://schemas.openxmlformats.org/officeDocument/2006/relationships/slideLayout" Target="../slideLayouts/slideLayout30.xml"/><Relationship Id="rId16" Type="http://schemas.openxmlformats.org/officeDocument/2006/relationships/image" Target="../media/image79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7.bin"/><Relationship Id="rId10" Type="http://schemas.openxmlformats.org/officeDocument/2006/relationships/image" Target="../media/image76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78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54.bin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84.wmf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83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74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image" Target="../media/image720.png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5.png"/><Relationship Id="rId5" Type="http://schemas.openxmlformats.org/officeDocument/2006/relationships/image" Target="../media/image87.png"/><Relationship Id="rId10" Type="http://schemas.openxmlformats.org/officeDocument/2006/relationships/image" Target="../media/image93.png"/><Relationship Id="rId4" Type="http://schemas.openxmlformats.org/officeDocument/2006/relationships/image" Target="../media/image86.png"/><Relationship Id="rId9" Type="http://schemas.openxmlformats.org/officeDocument/2006/relationships/image" Target="../media/image8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94.png"/><Relationship Id="rId5" Type="http://schemas.openxmlformats.org/officeDocument/2006/relationships/image" Target="../media/image930.png"/><Relationship Id="rId4" Type="http://schemas.openxmlformats.org/officeDocument/2006/relationships/image" Target="../media/image9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0.png"/><Relationship Id="rId2" Type="http://schemas.openxmlformats.org/officeDocument/2006/relationships/image" Target="../media/image990.png"/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0.png"/><Relationship Id="rId3" Type="http://schemas.openxmlformats.org/officeDocument/2006/relationships/image" Target="../media/image103.png"/><Relationship Id="rId7" Type="http://schemas.openxmlformats.org/officeDocument/2006/relationships/image" Target="../media/image100.wmf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57.bin"/><Relationship Id="rId5" Type="http://schemas.openxmlformats.org/officeDocument/2006/relationships/image" Target="../media/image99.emf"/><Relationship Id="rId4" Type="http://schemas.openxmlformats.org/officeDocument/2006/relationships/oleObject" Target="../embeddings/oleObject56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3" Type="http://schemas.openxmlformats.org/officeDocument/2006/relationships/oleObject" Target="../embeddings/oleObject58.bin"/><Relationship Id="rId7" Type="http://schemas.openxmlformats.org/officeDocument/2006/relationships/image" Target="../media/image107.png"/><Relationship Id="rId2" Type="http://schemas.openxmlformats.org/officeDocument/2006/relationships/slideLayout" Target="../slideLayouts/slideLayout25.xml"/><Relationship Id="rId20" Type="http://schemas.openxmlformats.org/officeDocument/2006/relationships/image" Target="../media/image106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05.wmf"/><Relationship Id="rId5" Type="http://schemas.openxmlformats.org/officeDocument/2006/relationships/oleObject" Target="../embeddings/oleObject59.bin"/><Relationship Id="rId19" Type="http://schemas.openxmlformats.org/officeDocument/2006/relationships/oleObject" Target="../embeddings/oleObject60.bin"/><Relationship Id="rId4" Type="http://schemas.openxmlformats.org/officeDocument/2006/relationships/image" Target="../media/image104.wmf"/><Relationship Id="rId9" Type="http://schemas.openxmlformats.org/officeDocument/2006/relationships/image" Target="../media/image106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image" Target="../media/image112.png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127.png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9.wmf"/><Relationship Id="rId11" Type="http://schemas.openxmlformats.org/officeDocument/2006/relationships/image" Target="../media/image1110.png"/><Relationship Id="rId5" Type="http://schemas.openxmlformats.org/officeDocument/2006/relationships/oleObject" Target="../embeddings/oleObject62.bin"/><Relationship Id="rId4" Type="http://schemas.openxmlformats.org/officeDocument/2006/relationships/image" Target="../media/image108.wmf"/><Relationship Id="rId9" Type="http://schemas.openxmlformats.org/officeDocument/2006/relationships/image" Target="../media/image11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113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114.wmf"/></Relationships>
</file>

<file path=ppt/slides/_rels/slide45.xml.rels><?xml version="1.0" encoding="UTF-8" standalone="yes"?>
<Relationships xmlns="http://schemas.openxmlformats.org/package/2006/relationships"><Relationship Id="rId18" Type="http://schemas.openxmlformats.org/officeDocument/2006/relationships/oleObject" Target="../embeddings/oleObject105.bin"/><Relationship Id="rId3" Type="http://schemas.openxmlformats.org/officeDocument/2006/relationships/oleObject" Target="../embeddings/oleObject66.bin"/><Relationship Id="rId7" Type="http://schemas.openxmlformats.org/officeDocument/2006/relationships/image" Target="../media/image106.wmf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67.bin"/><Relationship Id="rId5" Type="http://schemas.openxmlformats.org/officeDocument/2006/relationships/image" Target="../media/image137.png"/><Relationship Id="rId19" Type="http://schemas.openxmlformats.org/officeDocument/2006/relationships/image" Target="../media/image106.wmf"/><Relationship Id="rId4" Type="http://schemas.openxmlformats.org/officeDocument/2006/relationships/image" Target="../media/image115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116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117.e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125.png"/><Relationship Id="rId3" Type="http://schemas.openxmlformats.org/officeDocument/2006/relationships/oleObject" Target="../embeddings/oleObject70.bin"/><Relationship Id="rId7" Type="http://schemas.openxmlformats.org/officeDocument/2006/relationships/image" Target="../media/image119.wmf"/><Relationship Id="rId12" Type="http://schemas.openxmlformats.org/officeDocument/2006/relationships/image" Target="../media/image124.png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122.wmf"/><Relationship Id="rId5" Type="http://schemas.openxmlformats.org/officeDocument/2006/relationships/image" Target="../media/image123.png"/><Relationship Id="rId10" Type="http://schemas.openxmlformats.org/officeDocument/2006/relationships/oleObject" Target="../embeddings/oleObject73.bin"/><Relationship Id="rId4" Type="http://schemas.openxmlformats.org/officeDocument/2006/relationships/image" Target="../media/image118.emf"/><Relationship Id="rId9" Type="http://schemas.openxmlformats.org/officeDocument/2006/relationships/image" Target="../media/image120.w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30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132.w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130.wmf"/><Relationship Id="rId17" Type="http://schemas.openxmlformats.org/officeDocument/2006/relationships/oleObject" Target="../embeddings/oleObject80.bin"/><Relationship Id="rId2" Type="http://schemas.openxmlformats.org/officeDocument/2006/relationships/slideLayout" Target="../slideLayouts/slideLayout30.xml"/><Relationship Id="rId16" Type="http://schemas.openxmlformats.org/officeDocument/2006/relationships/image" Target="../media/image132.wmf"/><Relationship Id="rId20" Type="http://schemas.openxmlformats.org/officeDocument/2006/relationships/image" Target="../media/image128.png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28.w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10" Type="http://schemas.openxmlformats.org/officeDocument/2006/relationships/image" Target="../media/image129.wmf"/><Relationship Id="rId19" Type="http://schemas.openxmlformats.org/officeDocument/2006/relationships/image" Target="../media/image1260.png"/><Relationship Id="rId4" Type="http://schemas.openxmlformats.org/officeDocument/2006/relationships/image" Target="../media/image127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131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13" Type="http://schemas.openxmlformats.org/officeDocument/2006/relationships/oleObject" Target="../embeddings/oleObject86.bin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137.wmf"/><Relationship Id="rId17" Type="http://schemas.openxmlformats.org/officeDocument/2006/relationships/image" Target="../media/image236.png"/><Relationship Id="rId2" Type="http://schemas.openxmlformats.org/officeDocument/2006/relationships/slideLayout" Target="../slideLayouts/slideLayout30.xml"/><Relationship Id="rId16" Type="http://schemas.openxmlformats.org/officeDocument/2006/relationships/image" Target="../media/image235.png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34.wmf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82.bin"/><Relationship Id="rId15" Type="http://schemas.openxmlformats.org/officeDocument/2006/relationships/image" Target="../media/image139.emf"/><Relationship Id="rId10" Type="http://schemas.openxmlformats.org/officeDocument/2006/relationships/image" Target="../media/image136.wmf"/><Relationship Id="rId4" Type="http://schemas.openxmlformats.org/officeDocument/2006/relationships/image" Target="../media/image133.wmf"/><Relationship Id="rId9" Type="http://schemas.openxmlformats.org/officeDocument/2006/relationships/oleObject" Target="../embeddings/oleObject84.bin"/><Relationship Id="rId14" Type="http://schemas.openxmlformats.org/officeDocument/2006/relationships/image" Target="../media/image138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5" Type="http://schemas.openxmlformats.org/officeDocument/2006/relationships/image" Target="../media/image141.png"/><Relationship Id="rId10" Type="http://schemas.openxmlformats.org/officeDocument/2006/relationships/image" Target="../media/image146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3" Type="http://schemas.openxmlformats.org/officeDocument/2006/relationships/image" Target="../media/image1380.png"/><Relationship Id="rId7" Type="http://schemas.openxmlformats.org/officeDocument/2006/relationships/oleObject" Target="../embeddings/oleObject89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40.w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1390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146.wmf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43.wmf"/><Relationship Id="rId11" Type="http://schemas.openxmlformats.org/officeDocument/2006/relationships/oleObject" Target="../embeddings/oleObject94.bin"/><Relationship Id="rId5" Type="http://schemas.openxmlformats.org/officeDocument/2006/relationships/oleObject" Target="../embeddings/oleObject91.bin"/><Relationship Id="rId10" Type="http://schemas.openxmlformats.org/officeDocument/2006/relationships/image" Target="../media/image145.wmf"/><Relationship Id="rId4" Type="http://schemas.openxmlformats.org/officeDocument/2006/relationships/image" Target="../media/image142.wmf"/><Relationship Id="rId9" Type="http://schemas.openxmlformats.org/officeDocument/2006/relationships/oleObject" Target="../embeddings/oleObject93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96562" y="1481217"/>
            <a:ext cx="10972800" cy="1470025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《</a:t>
            </a:r>
            <a:r>
              <a:rPr lang="zh-CN" altLang="en-US" dirty="0">
                <a:solidFill>
                  <a:schemeClr val="bg1"/>
                </a:solidFill>
              </a:rPr>
              <a:t>数值计算与最优化</a:t>
            </a:r>
            <a:r>
              <a:rPr lang="en-US" altLang="zh-CN" dirty="0">
                <a:solidFill>
                  <a:schemeClr val="bg1"/>
                </a:solidFill>
              </a:rPr>
              <a:t>》</a:t>
            </a:r>
            <a:r>
              <a:rPr lang="zh-CN" altLang="en-US" dirty="0">
                <a:solidFill>
                  <a:schemeClr val="bg1"/>
                </a:solidFill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104778255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期末成绩构成：实验报告</a:t>
            </a:r>
            <a:r>
              <a:rPr lang="en-US" altLang="zh-CN" dirty="0"/>
              <a:t>+</a:t>
            </a:r>
            <a:r>
              <a:rPr lang="zh-CN" altLang="en-US" dirty="0"/>
              <a:t>课后作业</a:t>
            </a:r>
            <a:r>
              <a:rPr lang="en-US" altLang="zh-CN" dirty="0"/>
              <a:t>(40%)+</a:t>
            </a:r>
            <a:r>
              <a:rPr lang="zh-CN" altLang="en-US" dirty="0"/>
              <a:t>期末考试</a:t>
            </a:r>
            <a:r>
              <a:rPr lang="en-US" altLang="zh-CN" dirty="0"/>
              <a:t>(</a:t>
            </a:r>
            <a:r>
              <a:rPr lang="zh-CN" altLang="en-US" dirty="0"/>
              <a:t>开卷，</a:t>
            </a:r>
            <a:r>
              <a:rPr lang="en-US" altLang="zh-CN" dirty="0"/>
              <a:t>50%)+</a:t>
            </a:r>
            <a:r>
              <a:rPr lang="zh-CN" altLang="en-US" dirty="0"/>
              <a:t>阅读报告（</a:t>
            </a:r>
            <a:r>
              <a:rPr lang="en-US" altLang="zh-CN" dirty="0"/>
              <a:t>10%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期末题型：填空题（</a:t>
            </a:r>
            <a:r>
              <a:rPr lang="en-US" altLang="zh-CN" dirty="0"/>
              <a:t>40</a:t>
            </a:r>
            <a:r>
              <a:rPr lang="zh-CN" altLang="en-US" dirty="0"/>
              <a:t>分），计算题（</a:t>
            </a:r>
            <a:r>
              <a:rPr lang="en-US" altLang="zh-CN" dirty="0"/>
              <a:t>30</a:t>
            </a:r>
            <a:r>
              <a:rPr lang="zh-CN" altLang="en-US" dirty="0"/>
              <a:t>分），应用题（</a:t>
            </a:r>
            <a:r>
              <a:rPr lang="en-US" altLang="zh-CN" dirty="0"/>
              <a:t>30</a:t>
            </a:r>
            <a:r>
              <a:rPr lang="zh-CN" altLang="en-US" dirty="0"/>
              <a:t>分）。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954045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779744" y="1576963"/>
            <a:ext cx="4776994" cy="32939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数值计算</a:t>
            </a:r>
            <a:endParaRPr lang="en-US" altLang="zh-CN" sz="2400" b="1" dirty="0"/>
          </a:p>
          <a:p>
            <a:pPr marL="560070" lvl="2" indent="-285750">
              <a:spcBef>
                <a:spcPts val="580"/>
              </a:spcBef>
              <a:buClr>
                <a:schemeClr val="accent1"/>
              </a:buClr>
            </a:pPr>
            <a:r>
              <a:rPr lang="zh-CN" altLang="en-US" sz="2400" dirty="0"/>
              <a:t>误差</a:t>
            </a:r>
            <a:endParaRPr lang="en-US" altLang="zh-CN" sz="2400" dirty="0"/>
          </a:p>
          <a:p>
            <a:pPr marL="560070" lvl="2" indent="-285750">
              <a:spcBef>
                <a:spcPts val="580"/>
              </a:spcBef>
              <a:buClr>
                <a:schemeClr val="accent1"/>
              </a:buClr>
            </a:pPr>
            <a:r>
              <a:rPr lang="zh-CN" altLang="en-US" sz="2400" dirty="0"/>
              <a:t>线性方程组的求解</a:t>
            </a:r>
            <a:endParaRPr lang="en-US" altLang="zh-CN" sz="2400" dirty="0"/>
          </a:p>
          <a:p>
            <a:pPr marL="560070" lvl="2" indent="-285750">
              <a:spcBef>
                <a:spcPts val="580"/>
              </a:spcBef>
              <a:buClr>
                <a:schemeClr val="accent1"/>
              </a:buClr>
            </a:pPr>
            <a:r>
              <a:rPr lang="zh-CN" altLang="en-US" sz="2400" dirty="0"/>
              <a:t>非线性方程求根</a:t>
            </a:r>
            <a:endParaRPr lang="en-US" altLang="zh-CN" sz="2400" dirty="0"/>
          </a:p>
          <a:p>
            <a:pPr marL="560070" lvl="2" indent="-285750">
              <a:spcBef>
                <a:spcPts val="580"/>
              </a:spcBef>
              <a:buClr>
                <a:schemeClr val="accent1"/>
              </a:buClr>
            </a:pPr>
            <a:r>
              <a:rPr lang="zh-CN" altLang="en-US" sz="2400" dirty="0"/>
              <a:t>函数插值</a:t>
            </a:r>
            <a:endParaRPr lang="en-US" altLang="zh-CN" sz="2400" dirty="0"/>
          </a:p>
          <a:p>
            <a:pPr marL="560070" lvl="2" indent="-285750">
              <a:spcBef>
                <a:spcPts val="580"/>
              </a:spcBef>
              <a:buClr>
                <a:schemeClr val="accent1"/>
              </a:buClr>
            </a:pPr>
            <a:r>
              <a:rPr lang="zh-CN" altLang="en-US" sz="2400" dirty="0"/>
              <a:t>函数逼近</a:t>
            </a:r>
            <a:endParaRPr lang="en-US" altLang="zh-CN" sz="2400" dirty="0"/>
          </a:p>
          <a:p>
            <a:pPr marL="560070" lvl="2" indent="-285750">
              <a:spcBef>
                <a:spcPts val="580"/>
              </a:spcBef>
              <a:buClr>
                <a:schemeClr val="accent1"/>
              </a:buClr>
            </a:pPr>
            <a:r>
              <a:rPr lang="zh-CN" altLang="en-US" sz="2400" dirty="0"/>
              <a:t>数值积分</a:t>
            </a:r>
            <a:endParaRPr lang="en-US" altLang="zh-CN" sz="2400" dirty="0"/>
          </a:p>
        </p:txBody>
      </p:sp>
      <p:sp>
        <p:nvSpPr>
          <p:cNvPr id="10" name="矩形 9"/>
          <p:cNvSpPr/>
          <p:nvPr/>
        </p:nvSpPr>
        <p:spPr>
          <a:xfrm>
            <a:off x="6096000" y="1506587"/>
            <a:ext cx="6096000" cy="46012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1" indent="-285750">
              <a:lnSpc>
                <a:spcPct val="150000"/>
              </a:lnSpc>
              <a:spcBef>
                <a:spcPts val="58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1" dirty="0"/>
              <a:t>最优化技术</a:t>
            </a:r>
            <a:endParaRPr lang="en-US" altLang="zh-CN" sz="2400" b="1" dirty="0"/>
          </a:p>
          <a:p>
            <a:pPr marL="560070" lvl="2" indent="-285750">
              <a:lnSpc>
                <a:spcPct val="150000"/>
              </a:lnSpc>
              <a:spcBef>
                <a:spcPts val="58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/>
              <a:t>线性规划方法：单纯形法</a:t>
            </a:r>
            <a:endParaRPr lang="en-US" altLang="zh-CN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智能优化技术</a:t>
            </a:r>
            <a:endParaRPr lang="en-US" altLang="zh-CN" sz="2400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基于生物学原理的优化算法</a:t>
            </a:r>
            <a:endParaRPr lang="en-US" altLang="zh-CN" sz="2400" dirty="0"/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遗传算法：</a:t>
            </a:r>
            <a:endParaRPr lang="en-US" altLang="zh-CN" sz="2400" dirty="0"/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粒子群算法</a:t>
            </a:r>
            <a:endParaRPr lang="en-US" altLang="zh-CN" sz="2400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基于物理学原理的优化算法：模拟退火算法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5635867" y="1222131"/>
            <a:ext cx="0" cy="5292969"/>
          </a:xfrm>
          <a:prstGeom prst="line">
            <a:avLst/>
          </a:prstGeom>
          <a:ln w="34925"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563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40548" y="1121332"/>
            <a:ext cx="11316989" cy="5631159"/>
          </a:xfrm>
        </p:spPr>
        <p:txBody>
          <a:bodyPr>
            <a:normAutofit/>
          </a:bodyPr>
          <a:lstStyle/>
          <a:p>
            <a:r>
              <a:rPr lang="zh-CN" altLang="en-US" dirty="0"/>
              <a:t>误差</a:t>
            </a:r>
            <a:endParaRPr lang="en-US" altLang="zh-CN" dirty="0"/>
          </a:p>
          <a:p>
            <a:pPr lvl="1"/>
            <a:r>
              <a:rPr lang="zh-CN" altLang="en-US" dirty="0"/>
              <a:t>误差的基本概念：</a:t>
            </a:r>
            <a:r>
              <a:rPr lang="zh-CN" altLang="en-US" dirty="0">
                <a:latin typeface="宋体" panose="02010600030101010101" pitchFamily="2" charset="-122"/>
              </a:rPr>
              <a:t>模型误差、观测误差、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截断误差（方法误差）、舍入误差</a:t>
            </a:r>
            <a:endParaRPr lang="zh-CN" altLang="en-US" dirty="0"/>
          </a:p>
          <a:p>
            <a:pPr lvl="1"/>
            <a:r>
              <a:rPr lang="zh-CN" altLang="en-US" dirty="0"/>
              <a:t>（绝对）误差 、 误差限、有效数字的计算：</a:t>
            </a:r>
            <a:endParaRPr lang="en-US" altLang="zh-CN" dirty="0"/>
          </a:p>
          <a:p>
            <a:pPr lvl="1"/>
            <a:endParaRPr lang="en-US" altLang="zh-CN" dirty="0"/>
          </a:p>
          <a:p>
            <a:pPr lvl="2"/>
            <a:r>
              <a:rPr lang="zh-CN" altLang="en-US" sz="2400" b="1" dirty="0"/>
              <a:t>误差限的计算：</a:t>
            </a:r>
            <a:endParaRPr lang="en-US" altLang="zh-CN" sz="2400" b="1" dirty="0"/>
          </a:p>
          <a:p>
            <a:pPr lvl="2">
              <a:buFont typeface="Wingdings" panose="05000000000000000000" pitchFamily="2" charset="2"/>
              <a:buChar char="p"/>
            </a:pPr>
            <a:r>
              <a:rPr lang="zh-CN" altLang="en-US" dirty="0"/>
              <a:t>方法一：</a:t>
            </a:r>
            <a:endParaRPr lang="en-US" altLang="zh-CN" dirty="0"/>
          </a:p>
          <a:p>
            <a:pPr lvl="2">
              <a:buFont typeface="Wingdings" panose="05000000000000000000" pitchFamily="2" charset="2"/>
              <a:buChar char="p"/>
            </a:pPr>
            <a:endParaRPr lang="en-US" altLang="zh-CN" dirty="0"/>
          </a:p>
          <a:p>
            <a:pPr lvl="2">
              <a:buFont typeface="Wingdings" panose="05000000000000000000" pitchFamily="2" charset="2"/>
              <a:buChar char="p"/>
            </a:pPr>
            <a:endParaRPr lang="en-US" altLang="zh-CN" dirty="0"/>
          </a:p>
          <a:p>
            <a:pPr lvl="2">
              <a:buFont typeface="Wingdings" panose="05000000000000000000" pitchFamily="2" charset="2"/>
              <a:buChar char="p"/>
            </a:pPr>
            <a:r>
              <a:rPr lang="zh-CN" altLang="en-US" dirty="0"/>
              <a:t>方法二：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数值计算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331655" y="2999799"/>
            <a:ext cx="16002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i="1" dirty="0">
                <a:solidFill>
                  <a:srgbClr val="FF0000"/>
                </a:solidFill>
                <a:latin typeface="+mn-lt"/>
              </a:rPr>
              <a:t>e </a:t>
            </a:r>
            <a:r>
              <a:rPr lang="en-US" altLang="zh-CN" sz="2800" dirty="0">
                <a:solidFill>
                  <a:srgbClr val="FF0000"/>
                </a:solidFill>
                <a:latin typeface="宋体" pitchFamily="2" charset="-122"/>
              </a:rPr>
              <a:t>= </a:t>
            </a:r>
            <a:r>
              <a:rPr lang="en-US" altLang="zh-CN" sz="2800" i="1" dirty="0">
                <a:solidFill>
                  <a:srgbClr val="FF0000"/>
                </a:solidFill>
                <a:latin typeface="+mn-lt"/>
              </a:rPr>
              <a:t>x</a:t>
            </a:r>
            <a:r>
              <a:rPr lang="en-US" altLang="zh-CN" sz="2800" baseline="30000" dirty="0">
                <a:solidFill>
                  <a:srgbClr val="FF0000"/>
                </a:solidFill>
                <a:latin typeface="宋体" pitchFamily="2" charset="-122"/>
              </a:rPr>
              <a:t>*</a:t>
            </a:r>
            <a:r>
              <a:rPr lang="en-US" altLang="zh-CN" sz="2800" dirty="0">
                <a:solidFill>
                  <a:srgbClr val="FF0000"/>
                </a:solidFill>
                <a:latin typeface="宋体" pitchFamily="2" charset="-122"/>
              </a:rPr>
              <a:t>-</a:t>
            </a:r>
            <a:r>
              <a:rPr lang="en-US" altLang="zh-CN" sz="2800" i="1" dirty="0">
                <a:solidFill>
                  <a:srgbClr val="FF0000"/>
                </a:solidFill>
                <a:latin typeface="+mn-lt"/>
              </a:rPr>
              <a:t>x</a:t>
            </a: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2467992" y="4063313"/>
            <a:ext cx="4888524" cy="12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8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可由误差限公式计算得到。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一般地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凡是由精确值经过</a:t>
            </a:r>
            <a:r>
              <a:rPr lang="zh-CN" altLang="en-US" sz="18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四舍五入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得到的近似值</a:t>
            </a:r>
            <a:r>
              <a:rPr lang="en-US" altLang="zh-CN" sz="18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8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其误差限等于该近似值末位的半个单位。</a:t>
            </a:r>
          </a:p>
        </p:txBody>
      </p:sp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05183"/>
              </p:ext>
            </p:extLst>
          </p:nvPr>
        </p:nvGraphicFramePr>
        <p:xfrm>
          <a:off x="2855601" y="5941347"/>
          <a:ext cx="2341162" cy="825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6" name="Equation" r:id="rId3" imgW="19307175" imgH="6800850" progId="Equation.DSMT4">
                  <p:embed/>
                </p:oleObj>
              </mc:Choice>
              <mc:Fallback>
                <p:oleObj name="Equation" r:id="rId3" imgW="19307175" imgH="6800850" progId="Equation.DSMT4">
                  <p:embed/>
                  <p:pic>
                    <p:nvPicPr>
                      <p:cNvPr id="1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01" y="5941347"/>
                        <a:ext cx="2341162" cy="825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348962"/>
              </p:ext>
            </p:extLst>
          </p:nvPr>
        </p:nvGraphicFramePr>
        <p:xfrm>
          <a:off x="2748857" y="5478180"/>
          <a:ext cx="2862276" cy="514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7" name="Equation" r:id="rId5" imgW="23260050" imgH="4171950" progId="Equation.DSMT4">
                  <p:embed/>
                </p:oleObj>
              </mc:Choice>
              <mc:Fallback>
                <p:oleObj name="Equation" r:id="rId5" imgW="23260050" imgH="4171950" progId="Equation.DSMT4">
                  <p:embed/>
                  <p:pic>
                    <p:nvPicPr>
                      <p:cNvPr id="1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8857" y="5478180"/>
                        <a:ext cx="2862276" cy="5146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3224337" y="2966640"/>
            <a:ext cx="3743325" cy="547967"/>
            <a:chOff x="1331655" y="3650149"/>
            <a:chExt cx="3743325" cy="547967"/>
          </a:xfrm>
        </p:grpSpPr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1331655" y="3674241"/>
              <a:ext cx="3743325" cy="523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dirty="0">
                  <a:solidFill>
                    <a:srgbClr val="FF0000"/>
                  </a:solidFill>
                  <a:latin typeface="宋体" pitchFamily="2" charset="-122"/>
                </a:rPr>
                <a:t>|</a:t>
              </a:r>
              <a:r>
                <a:rPr lang="en-US" altLang="zh-CN" sz="2800" i="1" dirty="0">
                  <a:solidFill>
                    <a:srgbClr val="FF0000"/>
                  </a:solidFill>
                  <a:latin typeface="+mn-lt"/>
                </a:rPr>
                <a:t>e</a:t>
              </a:r>
              <a:r>
                <a:rPr lang="en-US" altLang="zh-CN" sz="2800" dirty="0">
                  <a:solidFill>
                    <a:srgbClr val="FF0000"/>
                  </a:solidFill>
                  <a:latin typeface="宋体" pitchFamily="2" charset="-122"/>
                </a:rPr>
                <a:t>|≤</a:t>
              </a:r>
              <a:r>
                <a:rPr lang="en-US" altLang="zh-CN" sz="2800" i="1" dirty="0">
                  <a:solidFill>
                    <a:srgbClr val="FF0000"/>
                  </a:solidFill>
                  <a:latin typeface="+mn-lt"/>
                  <a:ea typeface="Arial Unicode MS" pitchFamily="34" charset="-122"/>
                  <a:cs typeface="Arial Unicode MS" pitchFamily="34" charset="-122"/>
                  <a:sym typeface="Symbol" pitchFamily="18" charset="2"/>
                </a:rPr>
                <a:t></a:t>
              </a:r>
              <a:r>
                <a:rPr lang="en-US" altLang="zh-CN" sz="2800" i="1" dirty="0">
                  <a:solidFill>
                    <a:srgbClr val="FF0000"/>
                  </a:solidFill>
                  <a:latin typeface="+mn-lt"/>
                </a:rPr>
                <a:t> </a:t>
              </a:r>
              <a:r>
                <a:rPr lang="en-US" altLang="zh-CN" sz="2800" i="1" dirty="0">
                  <a:solidFill>
                    <a:srgbClr val="FF0000"/>
                  </a:solidFill>
                  <a:latin typeface="宋体" pitchFamily="2" charset="-122"/>
                </a:rPr>
                <a:t>                      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2491415" y="3650149"/>
                  <a:ext cx="1056315" cy="5186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l-GR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l-GR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1415" y="3650149"/>
                  <a:ext cx="1056315" cy="51860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文本框 4"/>
          <p:cNvSpPr txBox="1"/>
          <p:nvPr/>
        </p:nvSpPr>
        <p:spPr>
          <a:xfrm>
            <a:off x="5440412" y="6213175"/>
            <a:ext cx="2288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n</a:t>
            </a:r>
            <a:r>
              <a:rPr lang="zh-CN" altLang="en-US" b="1" dirty="0">
                <a:solidFill>
                  <a:srgbClr val="FF0000"/>
                </a:solidFill>
              </a:rPr>
              <a:t>为有效数字</a:t>
            </a:r>
            <a:r>
              <a:rPr lang="en-US" altLang="zh-CN" b="1" dirty="0">
                <a:solidFill>
                  <a:srgbClr val="FF0000"/>
                </a:solidFill>
              </a:rPr>
              <a:t>,k=m-n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894213" y="3868019"/>
            <a:ext cx="3759014" cy="1631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例：若下列值经由四舍五入得到，则它们的误差限与有效数字分别为多少？</a:t>
            </a:r>
            <a:endParaRPr lang="en-US" altLang="zh-CN" sz="2000" dirty="0"/>
          </a:p>
          <a:p>
            <a:r>
              <a:rPr lang="en-US" altLang="zh-CN" sz="2000" dirty="0"/>
              <a:t>        13.11     </a:t>
            </a:r>
            <a:r>
              <a:rPr lang="zh-CN" altLang="en-US" sz="2000" dirty="0"/>
              <a:t>误差限，有效数字</a:t>
            </a:r>
            <a:endParaRPr lang="en-US" altLang="zh-CN" sz="2000" dirty="0"/>
          </a:p>
          <a:p>
            <a:r>
              <a:rPr lang="en-US" altLang="zh-CN" sz="2000" dirty="0"/>
              <a:t>         0.0314   </a:t>
            </a:r>
            <a:r>
              <a:rPr lang="zh-CN" altLang="en-US" sz="2000" dirty="0"/>
              <a:t>误差限，有效数字</a:t>
            </a:r>
          </a:p>
        </p:txBody>
      </p:sp>
    </p:spTree>
    <p:extLst>
      <p:ext uri="{BB962C8B-B14F-4D97-AF65-F5344CB8AC3E}">
        <p14:creationId xmlns:p14="http://schemas.microsoft.com/office/powerpoint/2010/main" val="41112100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744458" y="1213666"/>
            <a:ext cx="10898378" cy="4804682"/>
          </a:xfrm>
        </p:spPr>
        <p:txBody>
          <a:bodyPr>
            <a:normAutofit/>
          </a:bodyPr>
          <a:lstStyle/>
          <a:p>
            <a:pPr lvl="1"/>
            <a:r>
              <a:rPr lang="zh-CN" altLang="en-US" b="1" dirty="0"/>
              <a:t>有效数字的计算：</a:t>
            </a:r>
            <a:endParaRPr lang="en-US" altLang="zh-CN" b="1" dirty="0"/>
          </a:p>
          <a:p>
            <a:pPr lvl="2">
              <a:buFont typeface="Wingdings" panose="05000000000000000000" pitchFamily="2" charset="2"/>
              <a:buChar char="p"/>
            </a:pPr>
            <a:r>
              <a:rPr lang="zh-CN" altLang="en-US" sz="2400" dirty="0"/>
              <a:t>方法一：若由</a:t>
            </a:r>
            <a:r>
              <a:rPr lang="zh-CN" altLang="en-US" sz="2400" dirty="0">
                <a:latin typeface="宋体" panose="02010600030101010101" pitchFamily="2" charset="-122"/>
              </a:rPr>
              <a:t>四舍五入得到的近似数，则从 </a:t>
            </a:r>
            <a:r>
              <a:rPr lang="en-US" altLang="zh-CN" sz="2400" i="1" dirty="0">
                <a:latin typeface="Times New Roman" panose="02020603050405020304" pitchFamily="18" charset="0"/>
              </a:rPr>
              <a:t>x </a:t>
            </a:r>
            <a:r>
              <a:rPr lang="zh-CN" altLang="en-US" sz="2400" dirty="0">
                <a:latin typeface="宋体" panose="02010600030101010101" pitchFamily="2" charset="-122"/>
              </a:rPr>
              <a:t>左起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第一个非零</a:t>
            </a:r>
            <a:r>
              <a:rPr lang="zh-CN" altLang="en-US" sz="2400" dirty="0">
                <a:latin typeface="宋体" panose="02010600030101010101" pitchFamily="2" charset="-122"/>
              </a:rPr>
              <a:t>数字到</a:t>
            </a:r>
            <a:r>
              <a:rPr lang="zh-CN" altLang="en-US" sz="2400" b="1" dirty="0">
                <a:latin typeface="宋体" panose="02010600030101010101" pitchFamily="2" charset="-122"/>
              </a:rPr>
              <a:t>该数位</a:t>
            </a:r>
            <a:r>
              <a:rPr lang="zh-CN" altLang="en-US" sz="2400" dirty="0">
                <a:latin typeface="宋体" panose="02010600030101010101" pitchFamily="2" charset="-122"/>
              </a:rPr>
              <a:t>共有 </a:t>
            </a:r>
            <a:r>
              <a:rPr lang="en-US" altLang="zh-CN" sz="2400" i="1" dirty="0">
                <a:latin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</a:rPr>
              <a:t>位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lvl="2"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宋体" panose="02010600030101010101" pitchFamily="2" charset="-122"/>
              </a:rPr>
              <a:t>方法二：非四舍五入得到的近似数，用公式计算</a:t>
            </a:r>
            <a:endParaRPr lang="en-US" altLang="zh-CN" sz="24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数值计算</a:t>
            </a:r>
          </a:p>
        </p:txBody>
      </p:sp>
      <p:graphicFrame>
        <p:nvGraphicFramePr>
          <p:cNvPr id="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175384"/>
              </p:ext>
            </p:extLst>
          </p:nvPr>
        </p:nvGraphicFramePr>
        <p:xfrm>
          <a:off x="1524642" y="4961748"/>
          <a:ext cx="2862276" cy="514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0" name="Equation" r:id="rId3" imgW="23260050" imgH="4171950" progId="Equation.DSMT4">
                  <p:embed/>
                </p:oleObj>
              </mc:Choice>
              <mc:Fallback>
                <p:oleObj name="Equation" r:id="rId3" imgW="23260050" imgH="4171950" progId="Equation.DSMT4">
                  <p:embed/>
                  <p:pic>
                    <p:nvPicPr>
                      <p:cNvPr id="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642" y="4961748"/>
                        <a:ext cx="2862276" cy="5146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1524642" y="4042670"/>
            <a:ext cx="3743325" cy="523875"/>
            <a:chOff x="1436238" y="3646083"/>
            <a:chExt cx="3743325" cy="523875"/>
          </a:xfrm>
        </p:grpSpPr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1436238" y="3646083"/>
              <a:ext cx="3743325" cy="523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dirty="0">
                  <a:solidFill>
                    <a:srgbClr val="FF0000"/>
                  </a:solidFill>
                  <a:latin typeface="宋体" pitchFamily="2" charset="-122"/>
                </a:rPr>
                <a:t>|</a:t>
              </a:r>
              <a:r>
                <a:rPr lang="en-US" altLang="zh-CN" sz="2800" i="1" dirty="0">
                  <a:solidFill>
                    <a:srgbClr val="FF0000"/>
                  </a:solidFill>
                  <a:latin typeface="+mn-lt"/>
                </a:rPr>
                <a:t>e</a:t>
              </a:r>
              <a:r>
                <a:rPr lang="en-US" altLang="zh-CN" sz="2800" dirty="0">
                  <a:solidFill>
                    <a:srgbClr val="FF0000"/>
                  </a:solidFill>
                  <a:latin typeface="宋体" pitchFamily="2" charset="-122"/>
                </a:rPr>
                <a:t>|≤</a:t>
              </a:r>
              <a:r>
                <a:rPr lang="en-US" altLang="zh-CN" sz="2800" i="1" dirty="0">
                  <a:solidFill>
                    <a:srgbClr val="FF0000"/>
                  </a:solidFill>
                  <a:latin typeface="+mn-lt"/>
                  <a:ea typeface="Arial Unicode MS" pitchFamily="34" charset="-122"/>
                  <a:cs typeface="Arial Unicode MS" pitchFamily="34" charset="-122"/>
                  <a:sym typeface="Symbol" pitchFamily="18" charset="2"/>
                </a:rPr>
                <a:t></a:t>
              </a:r>
              <a:r>
                <a:rPr lang="en-US" altLang="zh-CN" sz="2800" i="1" dirty="0">
                  <a:solidFill>
                    <a:srgbClr val="FF0000"/>
                  </a:solidFill>
                  <a:latin typeface="+mn-lt"/>
                </a:rPr>
                <a:t> </a:t>
              </a:r>
              <a:r>
                <a:rPr lang="en-US" altLang="zh-CN" sz="2800" i="1" dirty="0">
                  <a:solidFill>
                    <a:srgbClr val="FF0000"/>
                  </a:solidFill>
                  <a:latin typeface="宋体" pitchFamily="2" charset="-122"/>
                </a:rPr>
                <a:t>                      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2634271" y="3648218"/>
                  <a:ext cx="1058047" cy="5186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el-GR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l-GR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4271" y="3648218"/>
                  <a:ext cx="1058047" cy="51860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文本框 4"/>
          <p:cNvSpPr txBox="1"/>
          <p:nvPr/>
        </p:nvSpPr>
        <p:spPr>
          <a:xfrm>
            <a:off x="1549645" y="5556683"/>
            <a:ext cx="4974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则</a:t>
            </a:r>
            <a:r>
              <a:rPr lang="en-US" altLang="zh-CN" sz="2400" dirty="0"/>
              <a:t>x</a:t>
            </a:r>
            <a:r>
              <a:rPr lang="zh-CN" altLang="en-US" sz="2400" dirty="0"/>
              <a:t>有（</a:t>
            </a:r>
            <a:r>
              <a:rPr lang="en-US" altLang="zh-CN" sz="2400" dirty="0"/>
              <a:t>m-k</a:t>
            </a:r>
            <a:r>
              <a:rPr lang="zh-CN" altLang="en-US" sz="2400" dirty="0"/>
              <a:t>）个有效数字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8EF6CA74-0F10-47CC-80ED-E252765715D6}"/>
                  </a:ext>
                </a:extLst>
              </p:cNvPr>
              <p:cNvSpPr/>
              <p:nvPr/>
            </p:nvSpPr>
            <p:spPr>
              <a:xfrm>
                <a:off x="5823880" y="4304107"/>
                <a:ext cx="6169574" cy="3954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/>
                  <a:t>例：已知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dirty="0"/>
                  <a:t>=1.732050</a:t>
                </a:r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 </m:t>
                    </m:r>
                  </m:oMath>
                </a14:m>
                <a:r>
                  <a:rPr lang="zh-CN" altLang="en-US" dirty="0"/>
                  <a:t>，问近似值</a:t>
                </a:r>
                <a:r>
                  <a:rPr lang="en-US" altLang="zh-CN" dirty="0"/>
                  <a:t>1.73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1.7320</a:t>
                </a:r>
                <a:r>
                  <a:rPr lang="zh-CN" altLang="en-US" dirty="0"/>
                  <a:t>的有效数字</a:t>
                </a:r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8EF6CA74-0F10-47CC-80ED-E252765715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880" y="4304107"/>
                <a:ext cx="6169574" cy="395429"/>
              </a:xfrm>
              <a:prstGeom prst="rect">
                <a:avLst/>
              </a:prstGeom>
              <a:blipFill>
                <a:blip r:embed="rId6"/>
                <a:stretch>
                  <a:fillRect l="-791" t="-9231" r="-99" b="-2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4DE10C61-52F9-4EC4-A59A-DE80BC8F4239}"/>
              </a:ext>
            </a:extLst>
          </p:cNvPr>
          <p:cNvSpPr/>
          <p:nvPr/>
        </p:nvSpPr>
        <p:spPr>
          <a:xfrm>
            <a:off x="8720507" y="5034382"/>
            <a:ext cx="6270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0433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数值计算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4527B9C-664C-42C5-9852-357991C4D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565" y="1215407"/>
            <a:ext cx="7322838" cy="213398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6B07C95-A606-4264-BF8C-202D19B79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240" y="3841128"/>
            <a:ext cx="4336156" cy="55630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E6C2D4F-1E3B-4D78-B1FB-400E751C8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0483" y="4500257"/>
            <a:ext cx="8070279" cy="54106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9476069-4AE4-4BC2-A293-DD7483C176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4224" y="5144145"/>
            <a:ext cx="5692633" cy="91447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896DC53-CB05-4F5C-88B0-9800F6D1CDB9}"/>
              </a:ext>
            </a:extLst>
          </p:cNvPr>
          <p:cNvSpPr txBox="1"/>
          <p:nvPr/>
        </p:nvSpPr>
        <p:spPr>
          <a:xfrm>
            <a:off x="1380565" y="357691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340CCA-5419-462A-8AFB-B799DAF58CE9}"/>
              </a:ext>
            </a:extLst>
          </p:cNvPr>
          <p:cNvSpPr/>
          <p:nvPr/>
        </p:nvSpPr>
        <p:spPr>
          <a:xfrm>
            <a:off x="4204144" y="6262067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这个计算过程是不稳定的。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87000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40549" y="1121333"/>
            <a:ext cx="10898378" cy="4804682"/>
          </a:xfrm>
        </p:spPr>
        <p:txBody>
          <a:bodyPr>
            <a:normAutofit/>
          </a:bodyPr>
          <a:lstStyle/>
          <a:p>
            <a:r>
              <a:rPr lang="zh-CN" altLang="en-US" dirty="0"/>
              <a:t>误差</a:t>
            </a:r>
            <a:endParaRPr lang="en-US" altLang="zh-CN" dirty="0"/>
          </a:p>
          <a:p>
            <a:pPr lvl="1"/>
            <a:r>
              <a:rPr lang="zh-CN" altLang="en-US" dirty="0"/>
              <a:t>相对误差，相对误差限</a:t>
            </a:r>
            <a:endParaRPr lang="en-US" altLang="zh-CN" dirty="0"/>
          </a:p>
          <a:p>
            <a:r>
              <a:rPr lang="zh-CN" altLang="en-US" dirty="0"/>
              <a:t>误差估计</a:t>
            </a:r>
            <a:endParaRPr lang="en-US" altLang="zh-CN" dirty="0"/>
          </a:p>
          <a:p>
            <a:pPr lvl="1"/>
            <a:r>
              <a:rPr lang="zh-CN" altLang="en-US" dirty="0"/>
              <a:t>误差估计的四则运算法则</a:t>
            </a:r>
            <a:endParaRPr lang="en-US" altLang="zh-CN" dirty="0"/>
          </a:p>
          <a:p>
            <a:pPr lvl="1"/>
            <a:r>
              <a:rPr lang="zh-CN" altLang="en-US" dirty="0"/>
              <a:t>对函数的误差估计</a:t>
            </a:r>
            <a:endParaRPr lang="en-US" altLang="zh-CN" dirty="0"/>
          </a:p>
          <a:p>
            <a:pPr lvl="2"/>
            <a:r>
              <a:rPr lang="zh-CN" altLang="en-US" dirty="0"/>
              <a:t>一元函数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zh-CN" altLang="en-US" dirty="0"/>
              <a:t>多元函数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数值计算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300" y="4805470"/>
            <a:ext cx="2065199" cy="43437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184" y="5674571"/>
            <a:ext cx="6721422" cy="632515"/>
          </a:xfrm>
          <a:prstGeom prst="rect">
            <a:avLst/>
          </a:prstGeom>
        </p:spPr>
      </p:pic>
      <p:graphicFrame>
        <p:nvGraphicFramePr>
          <p:cNvPr id="9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7039340"/>
              </p:ext>
            </p:extLst>
          </p:nvPr>
        </p:nvGraphicFramePr>
        <p:xfrm>
          <a:off x="4435284" y="1496507"/>
          <a:ext cx="2492375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公式" r:id="rId5" imgW="34451925" imgH="14478000" progId="Equation.3">
                  <p:embed/>
                </p:oleObj>
              </mc:Choice>
              <mc:Fallback>
                <p:oleObj name="公式" r:id="rId5" imgW="34451925" imgH="14478000" progId="Equation.3">
                  <p:embed/>
                  <p:pic>
                    <p:nvPicPr>
                      <p:cNvPr id="26633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284" y="1496507"/>
                        <a:ext cx="2492375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7676575" y="1934627"/>
            <a:ext cx="16520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ea typeface="Arial Unicode MS" pitchFamily="34" charset="-128"/>
                <a:sym typeface="Symbol" panose="05050102010706020507" pitchFamily="18" charset="2"/>
              </a:rPr>
              <a:t>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Arial Unicode MS" pitchFamily="34" charset="-128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MingLiU" pitchFamily="49" charset="-128"/>
                <a:ea typeface="MingLiU" pitchFamily="49" charset="-128"/>
              </a:rPr>
              <a:t> </a:t>
            </a:r>
            <a:r>
              <a:rPr lang="en-US" altLang="zh-CN" sz="2400" dirty="0">
                <a:latin typeface="MingLiU" pitchFamily="49" charset="-128"/>
                <a:ea typeface="MingLiU" pitchFamily="49" charset="-128"/>
              </a:rPr>
              <a:t>= </a:t>
            </a:r>
            <a:r>
              <a:rPr lang="en-US" altLang="zh-CN" sz="2400" i="1" dirty="0">
                <a:latin typeface="Times New Roman" panose="02020603050405020304" pitchFamily="18" charset="0"/>
                <a:ea typeface="Arial Unicode MS" pitchFamily="34" charset="-128"/>
                <a:sym typeface="Symbol" panose="05050102010706020507" pitchFamily="18" charset="2"/>
              </a:rPr>
              <a:t></a:t>
            </a:r>
            <a:r>
              <a:rPr lang="en-US" altLang="zh-CN" sz="2400" i="1" dirty="0">
                <a:latin typeface="MingLiU" pitchFamily="49" charset="-128"/>
                <a:ea typeface="MingLiU" pitchFamily="49" charset="-128"/>
              </a:rPr>
              <a:t>/</a:t>
            </a:r>
            <a:r>
              <a:rPr lang="en-US" altLang="zh-CN" sz="2400" dirty="0">
                <a:latin typeface="MingLiU" pitchFamily="49" charset="-128"/>
                <a:ea typeface="MingLiU" pitchFamily="49" charset="-128"/>
              </a:rPr>
              <a:t>|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MingLiU" pitchFamily="49" charset="-128"/>
                <a:ea typeface="MingLiU" pitchFamily="49" charset="-128"/>
              </a:rPr>
              <a:t>|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8660424" y="2853825"/>
            <a:ext cx="3065982" cy="2602349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870443" y="2897919"/>
            <a:ext cx="3341572" cy="2538074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4895606" y="2867923"/>
            <a:ext cx="6632818" cy="2500542"/>
            <a:chOff x="1256491" y="2870339"/>
            <a:chExt cx="9455716" cy="2627604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56491" y="2870339"/>
              <a:ext cx="9455716" cy="2627604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1464" y="2962368"/>
              <a:ext cx="4178350" cy="425398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8"/>
            <a:srcRect l="46351" t="16927"/>
            <a:stretch/>
          </p:blipFill>
          <p:spPr>
            <a:xfrm>
              <a:off x="8602256" y="2901860"/>
              <a:ext cx="1745414" cy="2751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83712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83848" y="1219472"/>
                <a:ext cx="11451665" cy="5323428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例：计算球体积时，为使其相对误差不超为</a:t>
                </a:r>
                <a:r>
                  <a:rPr lang="en-US" altLang="zh-CN" sz="2400" dirty="0"/>
                  <a:t>0.3%</a:t>
                </a:r>
                <a:r>
                  <a:rPr lang="zh-CN" altLang="en-US" sz="2400" dirty="0"/>
                  <a:t>，问测量半径</a:t>
                </a:r>
                <a:r>
                  <a:rPr lang="en-US" altLang="zh-CN" sz="2400" dirty="0"/>
                  <a:t>r</a:t>
                </a:r>
                <a:r>
                  <a:rPr lang="zh-CN" altLang="en-US" sz="2400" dirty="0"/>
                  <a:t>时，相对误差最大为多少</a:t>
                </a:r>
                <a:r>
                  <a:rPr lang="en-US" altLang="zh-CN" sz="2400" dirty="0"/>
                  <a:t>(</a:t>
                </a:r>
                <a:r>
                  <a:rPr lang="zh-CN" altLang="en-US" sz="2400" dirty="0"/>
                  <a:t>假设</a:t>
                </a:r>
                <a14:m>
                  <m:oMath xmlns:m="http://schemas.openxmlformats.org/officeDocument/2006/math">
                    <m:r>
                      <a:rPr lang="el-GR" altLang="zh-CN" sz="24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400" dirty="0"/>
                  <a:t>误差忽略</a:t>
                </a:r>
                <a:r>
                  <a:rPr lang="en-US" altLang="zh-CN" sz="2400" dirty="0"/>
                  <a:t>)</a:t>
                </a:r>
                <a:r>
                  <a:rPr lang="zh-CN" altLang="en-US" sz="2400" dirty="0"/>
                  <a:t>？</a:t>
                </a: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83848" y="1219472"/>
                <a:ext cx="11451665" cy="5323428"/>
              </a:xfrm>
              <a:blipFill>
                <a:blip r:embed="rId2"/>
                <a:stretch>
                  <a:fillRect l="-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/>
          <p:cNvSpPr txBox="1">
            <a:spLocks/>
          </p:cNvSpPr>
          <p:nvPr/>
        </p:nvSpPr>
        <p:spPr>
          <a:xfrm>
            <a:off x="652272" y="371475"/>
            <a:ext cx="10363200" cy="768804"/>
          </a:xfrm>
          <a:prstGeom prst="rect">
            <a:avLst/>
          </a:prstGeom>
        </p:spPr>
        <p:txBody>
          <a:bodyPr bIns="9144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zh-CN" altLang="en-US" dirty="0"/>
              <a:t>数值计算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6C586D5-3479-4B73-AE7B-93895101498E}"/>
                  </a:ext>
                </a:extLst>
              </p:cNvPr>
              <p:cNvSpPr txBox="1"/>
              <p:nvPr/>
            </p:nvSpPr>
            <p:spPr>
              <a:xfrm>
                <a:off x="3882805" y="2513257"/>
                <a:ext cx="4897495" cy="46495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/>
                  <a:t>解：令</a:t>
                </a:r>
                <a:r>
                  <a:rPr lang="en-US" altLang="zh-CN" sz="2000" dirty="0"/>
                  <a:t>r</a:t>
                </a:r>
                <a:r>
                  <a:rPr lang="zh-CN" altLang="en-US" sz="2000" dirty="0"/>
                  <a:t>的近似值为</a:t>
                </a:r>
                <a:r>
                  <a:rPr lang="en-US" altLang="zh-CN" sz="2000" dirty="0"/>
                  <a:t>r*,V</a:t>
                </a:r>
                <a:r>
                  <a:rPr lang="zh-CN" altLang="en-US" sz="2000" dirty="0"/>
                  <a:t>的近似值为</a:t>
                </a:r>
                <a:r>
                  <a:rPr lang="en-US" altLang="zh-CN" sz="2000" dirty="0"/>
                  <a:t>V*,</a:t>
                </a:r>
                <a:r>
                  <a:rPr lang="zh-CN" altLang="en-US" sz="2000" dirty="0"/>
                  <a:t>则：</a:t>
                </a:r>
                <a:endParaRPr lang="en-US" altLang="zh-C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>
                                <m:fPr>
                                  <m:ctrlPr>
                                    <a:rPr lang="el-GR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l-GR" altLang="zh-CN" sz="20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l-GR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24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l-GR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l-GR" altLang="zh-CN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24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l-GR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2400" dirty="0"/>
                  <a:t>)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24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24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l-GR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2400" dirty="0"/>
                  <a:t>)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2400" dirty="0"/>
                  <a:t>=3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24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l-GR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/>
                    </m:sSup>
                  </m:oMath>
                </a14:m>
                <a:r>
                  <a:rPr lang="en-US" altLang="zh-CN" sz="2400" dirty="0"/>
                  <a:t>)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2400" dirty="0"/>
                  <a:t>&lt;=0.3%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sz="2000" dirty="0"/>
              </a:p>
              <a:p>
                <a:pPr>
                  <a:lnSpc>
                    <a:spcPct val="150000"/>
                  </a:lnSpc>
                </a:pPr>
                <a:endParaRPr lang="en-US" altLang="zh-CN" sz="2000" dirty="0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6C586D5-3479-4B73-AE7B-938951014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2805" y="2513257"/>
                <a:ext cx="4897495" cy="4649543"/>
              </a:xfrm>
              <a:prstGeom prst="rect">
                <a:avLst/>
              </a:prstGeom>
              <a:blipFill>
                <a:blip r:embed="rId3"/>
                <a:stretch>
                  <a:fillRect l="-1370" t="-1311" r="-7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F5AB9E3-82F4-46D5-B10C-91AB8FE5E1E9}"/>
                  </a:ext>
                </a:extLst>
              </p:cNvPr>
              <p:cNvSpPr/>
              <p:nvPr/>
            </p:nvSpPr>
            <p:spPr>
              <a:xfrm>
                <a:off x="2912079" y="6277988"/>
                <a:ext cx="3574248" cy="5298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b="1" dirty="0"/>
                  <a:t>故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en-US" altLang="zh-CN" sz="2400" b="1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l-GR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/>
                    </m:sSup>
                  </m:oMath>
                </a14:m>
                <a:r>
                  <a:rPr lang="en-US" altLang="zh-CN" sz="2400" b="1" dirty="0"/>
                  <a:t>)&lt;=0.1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sz="2400" b="1" dirty="0"/>
              </a:p>
            </p:txBody>
          </p:sp>
        </mc:Choice>
        <mc:Fallback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F5AB9E3-82F4-46D5-B10C-91AB8FE5E1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079" y="6277988"/>
                <a:ext cx="3574248" cy="529825"/>
              </a:xfrm>
              <a:prstGeom prst="rect">
                <a:avLst/>
              </a:prstGeom>
              <a:blipFill>
                <a:blip r:embed="rId4"/>
                <a:stretch>
                  <a:fillRect l="-2730" t="-5747" b="-264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89305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652272" y="371475"/>
            <a:ext cx="10363200" cy="768804"/>
          </a:xfrm>
          <a:prstGeom prst="rect">
            <a:avLst/>
          </a:prstGeom>
        </p:spPr>
        <p:txBody>
          <a:bodyPr bIns="9144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zh-CN" altLang="en-US" dirty="0"/>
              <a:t>数值计算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64349" y="1292679"/>
                <a:ext cx="10898378" cy="4804682"/>
              </a:xfrm>
            </p:spPr>
            <p:txBody>
              <a:bodyPr/>
              <a:lstStyle/>
              <a:p>
                <a:r>
                  <a:rPr lang="zh-CN" altLang="en-US" dirty="0"/>
                  <a:t>例 已知</a:t>
                </a:r>
                <a:r>
                  <a:rPr lang="en-US" altLang="zh-CN" dirty="0"/>
                  <a:t>x=6.7321</a:t>
                </a:r>
                <a:r>
                  <a:rPr lang="zh-CN" altLang="en-US" dirty="0"/>
                  <a:t>有</a:t>
                </a:r>
                <a:r>
                  <a:rPr lang="en-US" altLang="zh-CN" dirty="0"/>
                  <a:t>5</a:t>
                </a:r>
                <a:r>
                  <a:rPr lang="zh-CN" altLang="en-US" dirty="0"/>
                  <a:t>位有效数字，则</a:t>
                </a:r>
                <a:r>
                  <a:rPr lang="en-US" altLang="zh-CN" dirty="0"/>
                  <a:t>f(x)=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−10</m:t>
                    </m:r>
                  </m:oMath>
                </a14:m>
                <a:r>
                  <a:rPr lang="zh-CN" altLang="en-US" dirty="0"/>
                  <a:t>至少有几位有效数字？</a:t>
                </a:r>
                <a:r>
                  <a:rPr lang="el-GR" altLang="zh-CN" dirty="0">
                    <a:ea typeface="Cambria Math" panose="02040503050406030204" pitchFamily="18" charset="0"/>
                  </a:rPr>
                  <a:t> </a:t>
                </a:r>
                <a:r>
                  <a:rPr lang="en-US" altLang="zh-CN" dirty="0">
                    <a:ea typeface="Cambria Math" panose="02040503050406030204" pitchFamily="18" charset="0"/>
                  </a:rPr>
                  <a:t>e(x)=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64349" y="1292679"/>
                <a:ext cx="10898378" cy="4804682"/>
              </a:xfrm>
              <a:blipFill>
                <a:blip r:embed="rId2"/>
                <a:stretch>
                  <a:fillRect l="-560" r="-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44F901F-EABC-4DBD-953F-293094DEED86}"/>
                  </a:ext>
                </a:extLst>
              </p:cNvPr>
              <p:cNvSpPr txBox="1"/>
              <p:nvPr/>
            </p:nvSpPr>
            <p:spPr>
              <a:xfrm>
                <a:off x="964109" y="2787162"/>
                <a:ext cx="4468504" cy="316112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b="0" dirty="0"/>
                  <a:t>方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法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一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：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使用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四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则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运算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法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则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+4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−10</m:t>
                        </m:r>
                      </m:e>
                    </m:d>
                  </m:oMath>
                </a14:m>
                <a:r>
                  <a:rPr lang="en-US" altLang="zh-CN" b="0" i="1" dirty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b="0" i="1" dirty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𝑥𝑒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+4(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xe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US" altLang="zh-CN" b="0" i="0" dirty="0">
                    <a:latin typeface="Cambria Math" panose="02040503050406030204" pitchFamily="18" charset="0"/>
                  </a:rPr>
                  <a:t> +</a:t>
                </a:r>
                <a:r>
                  <a:rPr lang="en-US" altLang="zh-CN" b="0" i="0" dirty="0" err="1">
                    <a:latin typeface="Cambria Math" panose="02040503050406030204" pitchFamily="18" charset="0"/>
                  </a:rPr>
                  <a:t>xe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(x))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)+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e(x)+8xe(x)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r>
                  <a:rPr lang="en-US" altLang="zh-CN" i="1" dirty="0">
                    <a:latin typeface="Cambria Math" panose="02040503050406030204" pitchFamily="18" charset="0"/>
                  </a:rPr>
                  <a:t>=(3</a:t>
                </a:r>
                <a:r>
                  <a:rPr lang="el-GR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altLang="zh-CN" i="1" dirty="0">
                    <a:latin typeface="Cambria Math" panose="02040503050406030204" pitchFamily="18" charset="0"/>
                  </a:rPr>
                  <a:t>6.7321</a:t>
                </a:r>
                <a:r>
                  <a:rPr lang="el-GR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altLang="zh-CN" i="1" dirty="0">
                    <a:latin typeface="Cambria Math" panose="02040503050406030204" pitchFamily="18" charset="0"/>
                  </a:rPr>
                  <a:t>6.7321+8</a:t>
                </a:r>
                <a:r>
                  <a:rPr lang="el-GR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altLang="zh-CN" i="1" dirty="0">
                    <a:latin typeface="Cambria Math" panose="02040503050406030204" pitchFamily="18" charset="0"/>
                  </a:rPr>
                  <a:t>6.7321)</a:t>
                </a:r>
                <a:r>
                  <a:rPr lang="el-GR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≈0.163</m:t>
                    </m:r>
                    <m: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CN" b="0" dirty="0"/>
                  <a:t> </a:t>
                </a:r>
                <a:r>
                  <a:rPr lang="en-US" altLang="zh-CN" dirty="0"/>
                  <a:t>&lt;0.5</a:t>
                </a:r>
                <a14:m>
                  <m:oMath xmlns:m="http://schemas.openxmlformats.org/officeDocument/2006/math">
                    <m: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dirty="0"/>
                  <a:t>                           </a:t>
                </a:r>
                <a:r>
                  <a:rPr lang="en-US" altLang="zh-CN" b="0" dirty="0"/>
                  <a:t>       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44F901F-EABC-4DBD-953F-293094DEE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09" y="2787162"/>
                <a:ext cx="4468504" cy="3161122"/>
              </a:xfrm>
              <a:prstGeom prst="rect">
                <a:avLst/>
              </a:prstGeom>
              <a:blipFill>
                <a:blip r:embed="rId3"/>
                <a:stretch>
                  <a:fillRect l="-2993" t="-268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6CB7628-9BBE-4546-B966-61B55FF6DF5E}"/>
                  </a:ext>
                </a:extLst>
              </p:cNvPr>
              <p:cNvSpPr txBox="1"/>
              <p:nvPr/>
            </p:nvSpPr>
            <p:spPr>
              <a:xfrm>
                <a:off x="5832373" y="3029375"/>
                <a:ext cx="5739191" cy="173156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b="0" dirty="0"/>
                  <a:t>方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法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二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：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一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元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函数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求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−10</m:t>
                    </m:r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3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8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/>
                    </m:sSup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𝑚𝑎𝑥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/>
                          </m:sSup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/>
                  <a:t> </a:t>
                </a:r>
                <a:r>
                  <a:rPr lang="en-US" altLang="zh-CN" dirty="0"/>
                  <a:t>&lt;0.5</a:t>
                </a:r>
                <a14:m>
                  <m:oMath xmlns:m="http://schemas.openxmlformats.org/officeDocument/2006/math">
                    <m: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dirty="0"/>
                  <a:t>                           </a:t>
                </a:r>
                <a:r>
                  <a:rPr lang="en-US" altLang="zh-CN" b="0" dirty="0"/>
                  <a:t>       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6CB7628-9BBE-4546-B966-61B55FF6D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373" y="3029375"/>
                <a:ext cx="5739191" cy="1731564"/>
              </a:xfrm>
              <a:prstGeom prst="rect">
                <a:avLst/>
              </a:prstGeom>
              <a:blipFill>
                <a:blip r:embed="rId4"/>
                <a:stretch>
                  <a:fillRect l="-2439" t="-489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8D46BA5-58E4-46D3-84FE-DDAF9891CBCE}"/>
                  </a:ext>
                </a:extLst>
              </p:cNvPr>
              <p:cNvSpPr txBox="1"/>
              <p:nvPr/>
            </p:nvSpPr>
            <p:spPr>
              <a:xfrm>
                <a:off x="413066" y="6133958"/>
                <a:ext cx="1136586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/>
                  <a:t>f(6.7321)</a:t>
                </a:r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</m:t>
                    </m:r>
                  </m:oMath>
                </a14:m>
                <a:r>
                  <a:rPr lang="en-US" altLang="zh-CN" sz="2000" dirty="0"/>
                  <a:t>476391</a:t>
                </a:r>
                <a:r>
                  <a:rPr lang="el-GR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l-GR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即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=−1,根</m:t>
                    </m:r>
                  </m:oMath>
                </a14:m>
                <a:r>
                  <a:rPr lang="zh-CN" altLang="en-US" sz="2000" dirty="0"/>
                  <a:t>据有效数字公式</a:t>
                </a:r>
                <a:r>
                  <a:rPr lang="en-US" altLang="zh-CN" sz="2000" dirty="0"/>
                  <a:t>m-k</a:t>
                </a:r>
                <a:r>
                  <a:rPr lang="zh-CN" altLang="en-US" sz="2000" dirty="0"/>
                  <a:t>得</a:t>
                </a:r>
                <a:r>
                  <a:rPr lang="en-US" altLang="zh-CN" sz="2000" dirty="0"/>
                  <a:t>:4,</a:t>
                </a:r>
                <a:r>
                  <a:rPr lang="zh-CN" altLang="en-US" sz="2000" dirty="0"/>
                  <a:t>故至少</a:t>
                </a:r>
                <a:r>
                  <a:rPr lang="en-US" altLang="zh-CN" sz="2000" dirty="0"/>
                  <a:t>4</a:t>
                </a:r>
                <a:r>
                  <a:rPr lang="zh-CN" altLang="en-US" sz="2000" dirty="0"/>
                  <a:t>位有效数字</a:t>
                </a:r>
                <a:r>
                  <a:rPr lang="en-US" altLang="zh-CN" sz="2000" dirty="0"/>
                  <a:t> </a:t>
                </a:r>
                <a:endParaRPr lang="zh-CN" altLang="en-US" sz="2000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8D46BA5-58E4-46D3-84FE-DDAF9891C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66" y="6133958"/>
                <a:ext cx="11365868" cy="400110"/>
              </a:xfrm>
              <a:prstGeom prst="rect">
                <a:avLst/>
              </a:prstGeom>
              <a:blipFill>
                <a:blip r:embed="rId5"/>
                <a:stretch>
                  <a:fillRect l="-590" t="-15152" b="-303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707334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22964" y="1156502"/>
            <a:ext cx="10898378" cy="4804682"/>
          </a:xfrm>
        </p:spPr>
        <p:txBody>
          <a:bodyPr>
            <a:normAutofit/>
          </a:bodyPr>
          <a:lstStyle/>
          <a:p>
            <a:r>
              <a:rPr lang="zh-CN" altLang="en-US" dirty="0"/>
              <a:t>线性方程组的求解</a:t>
            </a:r>
            <a:endParaRPr lang="en-US" altLang="zh-CN" dirty="0"/>
          </a:p>
          <a:p>
            <a:pPr lvl="1"/>
            <a:r>
              <a:rPr lang="zh-CN" altLang="en-US" dirty="0"/>
              <a:t>直接法 ： 高斯消元法（顺序，列主元，全主元），</a:t>
            </a:r>
            <a:r>
              <a:rPr lang="en-US" altLang="zh-CN" dirty="0">
                <a:latin typeface="+mn-ea"/>
              </a:rPr>
              <a:t>LU</a:t>
            </a:r>
            <a:r>
              <a:rPr lang="zh-CN" altLang="en-US" dirty="0"/>
              <a:t>分解</a:t>
            </a:r>
            <a:endParaRPr lang="en-US" altLang="zh-CN" dirty="0"/>
          </a:p>
          <a:p>
            <a:pPr lvl="1"/>
            <a:r>
              <a:rPr lang="zh-CN" altLang="en-US" dirty="0"/>
              <a:t>迭代法：梯度下降法，共轭梯度法，雅可比迭代，</a:t>
            </a:r>
            <a:r>
              <a:rPr lang="en-US" altLang="zh-CN" dirty="0"/>
              <a:t>GS</a:t>
            </a:r>
            <a:r>
              <a:rPr lang="zh-CN" altLang="en-US" dirty="0"/>
              <a:t>迭代，</a:t>
            </a:r>
            <a:r>
              <a:rPr lang="en-US" altLang="zh-CN" dirty="0"/>
              <a:t>SOR</a:t>
            </a:r>
            <a:r>
              <a:rPr lang="zh-CN" altLang="en-US" dirty="0"/>
              <a:t>迭代，简单迭代法的收敛条件（谱半径），常用的向量</a:t>
            </a:r>
            <a:r>
              <a:rPr lang="en-US" altLang="zh-CN" dirty="0"/>
              <a:t>/</a:t>
            </a:r>
            <a:r>
              <a:rPr lang="zh-CN" altLang="en-US" dirty="0"/>
              <a:t>矩阵范式</a:t>
            </a:r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数值计算</a:t>
            </a:r>
            <a:r>
              <a:rPr lang="en-US" altLang="zh-CN" dirty="0"/>
              <a:t>-</a:t>
            </a:r>
            <a:r>
              <a:rPr lang="zh-CN" altLang="en-US" dirty="0"/>
              <a:t>线性方程组的求解</a:t>
            </a:r>
          </a:p>
        </p:txBody>
      </p:sp>
    </p:spTree>
    <p:extLst>
      <p:ext uri="{BB962C8B-B14F-4D97-AF65-F5344CB8AC3E}">
        <p14:creationId xmlns:p14="http://schemas.microsoft.com/office/powerpoint/2010/main" val="323429734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22964" y="1156502"/>
            <a:ext cx="10898378" cy="4804682"/>
          </a:xfrm>
        </p:spPr>
        <p:txBody>
          <a:bodyPr>
            <a:normAutofit/>
          </a:bodyPr>
          <a:lstStyle/>
          <a:p>
            <a:r>
              <a:rPr lang="en-US" altLang="zh-CN" dirty="0"/>
              <a:t>Gauss</a:t>
            </a:r>
            <a:r>
              <a:rPr lang="zh-CN" altLang="en-US" dirty="0"/>
              <a:t>消去法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latin typeface="+mn-ea"/>
              </a:rPr>
              <a:t>LU</a:t>
            </a:r>
            <a:r>
              <a:rPr lang="zh-CN" altLang="en-US" dirty="0"/>
              <a:t>分解</a:t>
            </a:r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数值计算线性方程组的求解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279" y="2057611"/>
            <a:ext cx="7462684" cy="125824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95200" y="3739749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系数矩阵严格对角占优</a:t>
            </a:r>
          </a:p>
        </p:txBody>
      </p:sp>
    </p:spTree>
    <p:extLst>
      <p:ext uri="{BB962C8B-B14F-4D97-AF65-F5344CB8AC3E}">
        <p14:creationId xmlns:p14="http://schemas.microsoft.com/office/powerpoint/2010/main" val="131516578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数值计算</a:t>
            </a:r>
            <a:r>
              <a:rPr lang="en-US" altLang="zh-CN" dirty="0"/>
              <a:t>-</a:t>
            </a:r>
            <a:r>
              <a:rPr lang="zh-CN" altLang="en-US" dirty="0"/>
              <a:t>线性方程组的求解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3112907" y="1965728"/>
                <a:ext cx="5784908" cy="13606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400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907" y="1965728"/>
                <a:ext cx="5784908" cy="13606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729761" y="1423967"/>
            <a:ext cx="6503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例</a:t>
            </a:r>
            <a:r>
              <a:rPr lang="en-US" altLang="zh-CN" sz="2400" dirty="0"/>
              <a:t>5</a:t>
            </a:r>
            <a:r>
              <a:rPr lang="zh-CN" altLang="en-US" sz="2400" dirty="0"/>
              <a:t>：使用</a:t>
            </a:r>
            <a:r>
              <a:rPr lang="en-US" altLang="zh-CN" sz="2400" dirty="0"/>
              <a:t>Doolittle</a:t>
            </a:r>
            <a:r>
              <a:rPr lang="zh-CN" altLang="en-US" sz="2400" dirty="0"/>
              <a:t>分解</a:t>
            </a:r>
            <a:r>
              <a:rPr lang="en-US" altLang="zh-CN" sz="2400" dirty="0"/>
              <a:t>(LU)</a:t>
            </a:r>
            <a:r>
              <a:rPr lang="zh-CN" altLang="en-US" sz="2400" dirty="0"/>
              <a:t>法求解下列方程组：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1371600" y="5284177"/>
                <a:ext cx="21618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=[1,1,1,−1]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284177"/>
                <a:ext cx="2161874" cy="369332"/>
              </a:xfrm>
              <a:prstGeom prst="rect">
                <a:avLst/>
              </a:prstGeom>
              <a:blipFill>
                <a:blip r:embed="rId3"/>
                <a:stretch>
                  <a:fillRect l="-1408" t="-5000" r="-563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1371600" y="3611252"/>
            <a:ext cx="14478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ea"/>
              </a:rPr>
              <a:t>LU</a:t>
            </a:r>
            <a:r>
              <a:rPr lang="zh-CN" altLang="en-US" sz="2400" dirty="0">
                <a:latin typeface="+mn-ea"/>
              </a:rPr>
              <a:t>分解</a:t>
            </a:r>
            <a:endParaRPr lang="en-US" altLang="zh-CN" sz="24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ea"/>
              </a:rPr>
              <a:t>Ly=b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err="1">
                <a:latin typeface="+mn-ea"/>
              </a:rPr>
              <a:t>Ux</a:t>
            </a:r>
            <a:r>
              <a:rPr lang="en-US" altLang="zh-CN" sz="2400" dirty="0">
                <a:latin typeface="+mn-ea"/>
              </a:rPr>
              <a:t>=y</a:t>
            </a: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568009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20174" y="1170675"/>
            <a:ext cx="10898378" cy="4804682"/>
          </a:xfrm>
        </p:spPr>
        <p:txBody>
          <a:bodyPr/>
          <a:lstStyle/>
          <a:p>
            <a:r>
              <a:rPr lang="zh-CN" altLang="en-US" dirty="0"/>
              <a:t>常见的矩阵范数：</a:t>
            </a:r>
            <a:endParaRPr lang="en-US" altLang="zh-CN" dirty="0"/>
          </a:p>
          <a:p>
            <a:pPr lvl="1"/>
            <a:r>
              <a:rPr lang="en-US" altLang="zh-CN" dirty="0"/>
              <a:t>1-</a:t>
            </a:r>
            <a:r>
              <a:rPr lang="zh-CN" altLang="en-US" dirty="0"/>
              <a:t>范数（列范数）：求最大列元素的绝对值之和</a:t>
            </a:r>
            <a:endParaRPr lang="en-US" altLang="zh-CN" dirty="0"/>
          </a:p>
          <a:p>
            <a:pPr lvl="1"/>
            <a:r>
              <a:rPr lang="en-US" altLang="zh-CN" dirty="0"/>
              <a:t>2-</a:t>
            </a:r>
            <a:r>
              <a:rPr lang="zh-CN" altLang="en-US" dirty="0"/>
              <a:t>范数（谱范数）：</a:t>
            </a:r>
            <a:endParaRPr lang="en-US" altLang="zh-CN" dirty="0"/>
          </a:p>
          <a:p>
            <a:pPr lvl="1"/>
            <a:r>
              <a:rPr lang="zh-CN" altLang="en-US" dirty="0"/>
              <a:t>无穷范数（行范数）：求最大行元素的绝对值和</a:t>
            </a:r>
            <a:endParaRPr lang="en-US" altLang="zh-CN" dirty="0"/>
          </a:p>
          <a:p>
            <a:r>
              <a:rPr lang="zh-CN" altLang="en-US" dirty="0"/>
              <a:t>矩阵的谱半径：系数矩阵的最大特征值</a:t>
            </a:r>
          </a:p>
        </p:txBody>
      </p:sp>
      <p:graphicFrame>
        <p:nvGraphicFramePr>
          <p:cNvPr id="8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883406"/>
              </p:ext>
            </p:extLst>
          </p:nvPr>
        </p:nvGraphicFramePr>
        <p:xfrm>
          <a:off x="4057894" y="2425027"/>
          <a:ext cx="2879725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2" name="Equation" r:id="rId3" imgW="777453" imgH="144654" progId="Equation.DSMT4">
                  <p:embed/>
                </p:oleObj>
              </mc:Choice>
              <mc:Fallback>
                <p:oleObj name="Equation" r:id="rId3" imgW="777453" imgH="144654" progId="Equation.DSMT4">
                  <p:embed/>
                  <p:pic>
                    <p:nvPicPr>
                      <p:cNvPr id="27666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7894" y="2425027"/>
                        <a:ext cx="2879725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228804"/>
              </p:ext>
            </p:extLst>
          </p:nvPr>
        </p:nvGraphicFramePr>
        <p:xfrm>
          <a:off x="2726660" y="4441462"/>
          <a:ext cx="2186053" cy="661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3" name="Equation" r:id="rId5" imgW="601803" imgH="121747" progId="Equation.DSMT4">
                  <p:embed/>
                </p:oleObj>
              </mc:Choice>
              <mc:Fallback>
                <p:oleObj name="Equation" r:id="rId5" imgW="601803" imgH="121747" progId="Equation.DSMT4">
                  <p:embed/>
                  <p:pic>
                    <p:nvPicPr>
                      <p:cNvPr id="27658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6660" y="4441462"/>
                        <a:ext cx="2186053" cy="6619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1203799" y="5264010"/>
            <a:ext cx="90978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注：若特征值为复数，则谱半径为实部与虚部的平方和的开方。</a:t>
            </a:r>
          </a:p>
        </p:txBody>
      </p:sp>
      <p:graphicFrame>
        <p:nvGraphicFramePr>
          <p:cNvPr id="1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49774"/>
              </p:ext>
            </p:extLst>
          </p:nvPr>
        </p:nvGraphicFramePr>
        <p:xfrm>
          <a:off x="7855309" y="1673000"/>
          <a:ext cx="252003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4" name="Equation" r:id="rId7" imgW="693243" imgH="213376" progId="Equation.DSMT4">
                  <p:embed/>
                </p:oleObj>
              </mc:Choice>
              <mc:Fallback>
                <p:oleObj name="Equation" r:id="rId7" imgW="693243" imgH="213376" progId="Equation.DSMT4">
                  <p:embed/>
                  <p:pic>
                    <p:nvPicPr>
                      <p:cNvPr id="2767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5309" y="1673000"/>
                        <a:ext cx="252003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2266515"/>
              </p:ext>
            </p:extLst>
          </p:nvPr>
        </p:nvGraphicFramePr>
        <p:xfrm>
          <a:off x="7929312" y="2928486"/>
          <a:ext cx="2664251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5" name="Equation" r:id="rId9" imgW="716209" imgH="228647" progId="Equation.DSMT4">
                  <p:embed/>
                </p:oleObj>
              </mc:Choice>
              <mc:Fallback>
                <p:oleObj name="Equation" r:id="rId9" imgW="716209" imgH="228647" progId="Equation.DSMT4">
                  <p:embed/>
                  <p:pic>
                    <p:nvPicPr>
                      <p:cNvPr id="2766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9312" y="2928486"/>
                        <a:ext cx="2664251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1203799" y="5743386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 dirty="0"/>
              <a:t>若 A  为实对称矩阵，则：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54589" y="5667351"/>
            <a:ext cx="2334590" cy="61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04199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数值计算</a:t>
            </a:r>
            <a:r>
              <a:rPr lang="en-US" altLang="zh-CN" dirty="0"/>
              <a:t>-</a:t>
            </a:r>
            <a:r>
              <a:rPr lang="zh-CN" altLang="en-US" dirty="0"/>
              <a:t>线性方程组的求解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条件数：</a:t>
            </a:r>
            <a:r>
              <a:rPr lang="zh-CN" altLang="en-US" sz="2400" dirty="0">
                <a:latin typeface="+mn-ea"/>
              </a:rPr>
              <a:t>条件数是反映线性方程组病态与否的标准量，</a:t>
            </a:r>
            <a:r>
              <a:rPr lang="zh-CN" altLang="en-US" sz="2400" dirty="0"/>
              <a:t>病态现象是方程组的</a:t>
            </a:r>
            <a:r>
              <a:rPr lang="zh-CN" altLang="en-US" sz="2400" b="1" dirty="0">
                <a:solidFill>
                  <a:srgbClr val="002060"/>
                </a:solidFill>
              </a:rPr>
              <a:t>固有属性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184" y="2756311"/>
            <a:ext cx="4016088" cy="202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1700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数值计算</a:t>
            </a:r>
            <a:r>
              <a:rPr lang="en-US" altLang="zh-CN" dirty="0"/>
              <a:t>-</a:t>
            </a:r>
            <a:r>
              <a:rPr lang="zh-CN" altLang="en-US" dirty="0"/>
              <a:t>迭代法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31757" y="1200464"/>
                <a:ext cx="10898378" cy="480468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dirty="0"/>
                  <a:t>迭代法的收敛性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简单的迭代法</a:t>
                </a:r>
                <a:endParaRPr lang="en-US" altLang="zh-CN" dirty="0"/>
              </a:p>
              <a:p>
                <a:pPr lvl="2"/>
                <a:r>
                  <a:rPr lang="zh-CN" altLang="en-US" sz="2400" dirty="0"/>
                  <a:t>收敛充要条件：</a:t>
                </a:r>
                <a:endParaRPr lang="en-US" altLang="zh-CN" sz="2400" dirty="0"/>
              </a:p>
              <a:p>
                <a:pPr lvl="2"/>
                <a:r>
                  <a:rPr lang="zh-CN" altLang="en-US" sz="2400" dirty="0"/>
                  <a:t>收敛充分条件</a:t>
                </a:r>
                <a:r>
                  <a:rPr lang="en-US" altLang="zh-CN" sz="2400" dirty="0"/>
                  <a:t>: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||</a:t>
                </a:r>
                <a:r>
                  <a:rPr lang="en-US" altLang="zh-CN" sz="2400" dirty="0"/>
                  <a:t>B||&lt;1</a:t>
                </a:r>
              </a:p>
              <a:p>
                <a:pPr lvl="2">
                  <a:spcAft>
                    <a:spcPts val="600"/>
                  </a:spcAft>
                  <a:buClr>
                    <a:srgbClr val="27305F"/>
                  </a:buClr>
                </a:pPr>
                <a:r>
                  <a:rPr lang="en-US" altLang="zh-CN" sz="2400" dirty="0"/>
                  <a:t>Jacobian</a:t>
                </a:r>
                <a:r>
                  <a:rPr lang="zh-CN" altLang="en-US" sz="2400" dirty="0"/>
                  <a:t>迭代，</a:t>
                </a:r>
                <a:r>
                  <a:rPr lang="en-US" altLang="zh-CN" sz="2400" dirty="0"/>
                  <a:t>GS</a:t>
                </a:r>
                <a:r>
                  <a:rPr lang="zh-CN" altLang="en-US" sz="2400" dirty="0"/>
                  <a:t>迭代法：严格对角占优</a:t>
                </a:r>
                <a:endParaRPr lang="en-US" altLang="zh-CN" sz="2400" dirty="0"/>
              </a:p>
              <a:p>
                <a:pPr lvl="1">
                  <a:spcAft>
                    <a:spcPts val="600"/>
                  </a:spcAft>
                  <a:buClr>
                    <a:srgbClr val="27305F"/>
                  </a:buClr>
                </a:pPr>
                <a:r>
                  <a:rPr lang="en-US" altLang="zh-CN" sz="2600" dirty="0">
                    <a:latin typeface="+mn-ea"/>
                  </a:rPr>
                  <a:t>SOR</a:t>
                </a:r>
                <a:r>
                  <a:rPr lang="zh-CN" altLang="en-US" sz="2600" dirty="0">
                    <a:latin typeface="+mn-ea"/>
                  </a:rPr>
                  <a:t>迭代法：</a:t>
                </a:r>
                <a:endParaRPr lang="en-US" altLang="zh-CN" b="1" i="1" dirty="0">
                  <a:latin typeface="Cambria Math" panose="02040503050406030204" pitchFamily="18" charset="0"/>
                </a:endParaRPr>
              </a:p>
              <a:p>
                <a:pPr lvl="2">
                  <a:spcAft>
                    <a:spcPts val="600"/>
                  </a:spcAft>
                  <a:buClr>
                    <a:srgbClr val="27305F"/>
                  </a:buClr>
                </a:pPr>
                <a14:m>
                  <m:oMath xmlns:m="http://schemas.openxmlformats.org/officeDocument/2006/math">
                    <m:r>
                      <a:rPr lang="zh-CN" altLang="en-US" b="1" i="1" dirty="0">
                        <a:latin typeface="Cambria Math" panose="02040503050406030204" pitchFamily="18" charset="0"/>
                      </a:rPr>
                      <m:t>充</m:t>
                    </m:r>
                    <m:r>
                      <a:rPr lang="zh-CN" altLang="en-US" b="1" i="1" dirty="0" smtClean="0">
                        <a:latin typeface="Cambria Math" panose="02040503050406030204" pitchFamily="18" charset="0"/>
                      </a:rPr>
                      <m:t>要</m:t>
                    </m:r>
                    <m:r>
                      <a:rPr lang="zh-CN" altLang="en-US" b="1" i="1" dirty="0">
                        <a:latin typeface="Cambria Math" panose="02040503050406030204" pitchFamily="18" charset="0"/>
                      </a:rPr>
                      <m:t>条件</m:t>
                    </m:r>
                    <m:r>
                      <a:rPr lang="zh-CN" altLang="en-US" b="1" i="1" dirty="0" smtClean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zh-CN" altLang="en-US" b="1" i="1">
                        <a:latin typeface="Cambria Math" panose="02040503050406030204" pitchFamily="18" charset="0"/>
                      </a:rPr>
                      <m:t>𝝆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1" dirty="0">
                    <a:latin typeface="+mn-ea"/>
                  </a:rPr>
                  <a:t>&lt;1,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b="1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altLang="zh-CN" b="1" dirty="0">
                    <a:latin typeface="+mn-ea"/>
                  </a:rPr>
                  <a:t>.</a:t>
                </a:r>
              </a:p>
              <a:p>
                <a:pPr lvl="2">
                  <a:spcAft>
                    <a:spcPts val="600"/>
                  </a:spcAft>
                  <a:buClr>
                    <a:srgbClr val="27305F"/>
                  </a:buClr>
                </a:pPr>
                <a:r>
                  <a:rPr lang="zh-CN" altLang="en-US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若系数矩阵</a:t>
                </a:r>
                <a:r>
                  <a:rPr lang="en-US" altLang="zh-CN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严格对角占优，</a:t>
                </a:r>
                <a14:m>
                  <m:oMath xmlns:m="http://schemas.openxmlformats.org/officeDocument/2006/math">
                    <m:r>
                      <a:rPr lang="zh-CN" alt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𝝆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1" dirty="0">
                    <a:solidFill>
                      <a:schemeClr val="tx1"/>
                    </a:solidFill>
                    <a:latin typeface="+mn-ea"/>
                  </a:rPr>
                  <a:t>&lt;1,</a:t>
                </a:r>
                <a:r>
                  <a:rPr lang="zh-CN" altLang="en-US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且</a:t>
                </a:r>
                <a:r>
                  <a:rPr lang="en-US" altLang="zh-CN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0&lt;</a:t>
                </a:r>
                <a:r>
                  <a:rPr lang="el-GR" altLang="zh-CN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ω</a:t>
                </a:r>
                <a:r>
                  <a:rPr lang="en-US" altLang="zh-CN" dirty="0">
                    <a:solidFill>
                      <a:schemeClr val="tx1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1</a:t>
                </a:r>
                <a:endParaRPr lang="en-US" altLang="zh-CN" b="1" dirty="0">
                  <a:solidFill>
                    <a:schemeClr val="tx1"/>
                  </a:solidFill>
                  <a:latin typeface="+mn-ea"/>
                </a:endParaRPr>
              </a:p>
              <a:p>
                <a:pPr lvl="1">
                  <a:spcAft>
                    <a:spcPts val="600"/>
                  </a:spcAft>
                  <a:buClr>
                    <a:srgbClr val="27305F"/>
                  </a:buClr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31757" y="1200464"/>
                <a:ext cx="10898378" cy="4804682"/>
              </a:xfrm>
              <a:blipFill>
                <a:blip r:embed="rId3"/>
                <a:stretch>
                  <a:fillRect l="-5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004024"/>
              </p:ext>
            </p:extLst>
          </p:nvPr>
        </p:nvGraphicFramePr>
        <p:xfrm>
          <a:off x="3710127" y="2574404"/>
          <a:ext cx="306345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8" name="Equation" r:id="rId4" imgW="807649" imgH="53450" progId="Equation.DSMT4">
                  <p:embed/>
                </p:oleObj>
              </mc:Choice>
              <mc:Fallback>
                <p:oleObj name="Equation" r:id="rId4" imgW="807649" imgH="53450" progId="Equation.DSMT4">
                  <p:embed/>
                  <p:pic>
                    <p:nvPicPr>
                      <p:cNvPr id="2868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0127" y="2574404"/>
                        <a:ext cx="3063458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877354"/>
              </p:ext>
            </p:extLst>
          </p:nvPr>
        </p:nvGraphicFramePr>
        <p:xfrm>
          <a:off x="3339110" y="1904485"/>
          <a:ext cx="2111421" cy="457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9" name="Equation" r:id="rId6" imgW="647735" imgH="76357" progId="Equation.DSMT4">
                  <p:embed/>
                </p:oleObj>
              </mc:Choice>
              <mc:Fallback>
                <p:oleObj name="Equation" r:id="rId6" imgW="647735" imgH="76357" progId="Equation.DSMT4">
                  <p:embed/>
                  <p:pic>
                    <p:nvPicPr>
                      <p:cNvPr id="2868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9110" y="1904485"/>
                        <a:ext cx="2111421" cy="4573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462703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31757" y="1200464"/>
            <a:ext cx="10898378" cy="4804682"/>
          </a:xfrm>
        </p:spPr>
        <p:txBody>
          <a:bodyPr>
            <a:normAutofit/>
          </a:bodyPr>
          <a:lstStyle/>
          <a:p>
            <a:pPr lvl="1">
              <a:spcAft>
                <a:spcPts val="600"/>
              </a:spcAft>
              <a:buClr>
                <a:srgbClr val="27305F"/>
              </a:buClr>
            </a:pPr>
            <a:endParaRPr lang="en-US" altLang="zh-CN" sz="2800" dirty="0"/>
          </a:p>
          <a:p>
            <a:pPr lvl="1">
              <a:spcAft>
                <a:spcPts val="600"/>
              </a:spcAft>
              <a:buClr>
                <a:srgbClr val="27305F"/>
              </a:buClr>
            </a:pPr>
            <a:endParaRPr lang="en-US" altLang="zh-CN" sz="2800" dirty="0"/>
          </a:p>
          <a:p>
            <a:pPr lvl="1">
              <a:spcBef>
                <a:spcPts val="0"/>
              </a:spcBef>
              <a:spcAft>
                <a:spcPts val="600"/>
              </a:spcAft>
              <a:buClr>
                <a:srgbClr val="27305F"/>
              </a:buClr>
            </a:pPr>
            <a:endParaRPr lang="en-US" altLang="zh-CN" sz="2800" dirty="0"/>
          </a:p>
          <a:p>
            <a:pPr lvl="1">
              <a:spcBef>
                <a:spcPts val="0"/>
              </a:spcBef>
              <a:spcAft>
                <a:spcPts val="600"/>
              </a:spcAft>
              <a:buClr>
                <a:srgbClr val="27305F"/>
              </a:buClr>
            </a:pPr>
            <a:r>
              <a:rPr lang="en-US" altLang="zh-CN" sz="2800" dirty="0"/>
              <a:t>Jacobian</a:t>
            </a:r>
            <a:r>
              <a:rPr lang="zh-CN" altLang="en-US" sz="2800" dirty="0"/>
              <a:t>迭代：</a:t>
            </a:r>
            <a:endParaRPr lang="en-US" altLang="zh-CN" sz="2800" dirty="0"/>
          </a:p>
          <a:p>
            <a:pPr lvl="1">
              <a:spcAft>
                <a:spcPts val="600"/>
              </a:spcAft>
              <a:buClr>
                <a:srgbClr val="27305F"/>
              </a:buClr>
            </a:pPr>
            <a:endParaRPr lang="en-US" altLang="zh-CN" sz="2800" dirty="0"/>
          </a:p>
          <a:p>
            <a:pPr lvl="1">
              <a:spcAft>
                <a:spcPts val="600"/>
              </a:spcAft>
              <a:buClr>
                <a:srgbClr val="27305F"/>
              </a:buClr>
            </a:pPr>
            <a:endParaRPr lang="en-US" altLang="zh-CN" sz="2600" dirty="0">
              <a:latin typeface="+mn-ea"/>
            </a:endParaRPr>
          </a:p>
          <a:p>
            <a:pPr lvl="1">
              <a:spcAft>
                <a:spcPts val="600"/>
              </a:spcAft>
              <a:buClr>
                <a:srgbClr val="27305F"/>
              </a:buClr>
            </a:pPr>
            <a:endParaRPr lang="zh-CN" altLang="en-US" dirty="0"/>
          </a:p>
        </p:txBody>
      </p: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6056267" y="3591844"/>
            <a:ext cx="4532313" cy="504825"/>
            <a:chOff x="1235233" y="6049690"/>
            <a:chExt cx="4531384" cy="505098"/>
          </a:xfrm>
        </p:grpSpPr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1235233" y="6049690"/>
              <a:ext cx="8001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ea typeface="楷体_GB2312" pitchFamily="49" charset="-122"/>
                </a:rPr>
                <a:t>其中</a:t>
              </a:r>
            </a:p>
          </p:txBody>
        </p:sp>
        <p:sp>
          <p:nvSpPr>
            <p:cNvPr id="12" name="文本框 11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081587" y="6152883"/>
              <a:ext cx="1996700" cy="401905"/>
            </a:xfrm>
            <a:prstGeom prst="rect">
              <a:avLst/>
            </a:prstGeom>
            <a:blipFill>
              <a:blip r:embed="rId3"/>
              <a:stretch>
                <a:fillRect l="-5183" t="-21212" r="-8537" b="-39394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13" name="文本框 12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4283968" y="6152883"/>
              <a:ext cx="1482649" cy="401905"/>
            </a:xfrm>
            <a:prstGeom prst="rect">
              <a:avLst/>
            </a:prstGeom>
            <a:blipFill>
              <a:blip r:embed="rId4"/>
              <a:stretch>
                <a:fillRect l="-4527" r="-4115" b="-24242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</p:grpSp>
      <p:graphicFrame>
        <p:nvGraphicFramePr>
          <p:cNvPr id="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830438"/>
              </p:ext>
            </p:extLst>
          </p:nvPr>
        </p:nvGraphicFramePr>
        <p:xfrm>
          <a:off x="2406943" y="4096669"/>
          <a:ext cx="6279238" cy="2620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3" name="Equation" r:id="rId5" imgW="2095465" imgH="1021064" progId="Equation.3">
                  <p:embed/>
                </p:oleObj>
              </mc:Choice>
              <mc:Fallback>
                <p:oleObj name="Equation" r:id="rId5" imgW="2095465" imgH="1021064" progId="Equation.3">
                  <p:embed/>
                  <p:pic>
                    <p:nvPicPr>
                      <p:cNvPr id="1024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943" y="4096669"/>
                        <a:ext cx="6279238" cy="2620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634235"/>
              </p:ext>
            </p:extLst>
          </p:nvPr>
        </p:nvGraphicFramePr>
        <p:xfrm>
          <a:off x="898569" y="1146463"/>
          <a:ext cx="8372475" cy="179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4" name="公式" r:id="rId7" imgW="4008049" imgH="738967" progId="Equation.3">
                  <p:embed/>
                </p:oleObj>
              </mc:Choice>
              <mc:Fallback>
                <p:oleObj name="公式" r:id="rId7" imgW="4008049" imgH="738967" progId="Equation.3">
                  <p:embed/>
                  <p:pic>
                    <p:nvPicPr>
                      <p:cNvPr id="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569" y="1146463"/>
                        <a:ext cx="8372475" cy="179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898569" y="2873497"/>
            <a:ext cx="2438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ea typeface="楷体_GB2312" pitchFamily="49" charset="-122"/>
              </a:rPr>
              <a:t>记  </a:t>
            </a:r>
            <a:r>
              <a:rPr lang="en-US" altLang="zh-CN" sz="2400" i="1" dirty="0">
                <a:cs typeface="Times New Roman" panose="02020603050405020304" pitchFamily="18" charset="0"/>
              </a:rPr>
              <a:t>A=D+L+U</a:t>
            </a:r>
            <a:r>
              <a:rPr lang="en-US" altLang="zh-CN" sz="2400" i="1" dirty="0"/>
              <a:t> 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336969" y="2988005"/>
            <a:ext cx="73808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对角阵    </a:t>
            </a:r>
            <a:r>
              <a:rPr lang="en-US" altLang="zh-CN" sz="2000" dirty="0"/>
              <a:t>+             </a:t>
            </a:r>
            <a:r>
              <a:rPr lang="zh-CN" altLang="en-US" sz="2000" dirty="0"/>
              <a:t>下三角阵         </a:t>
            </a:r>
            <a:r>
              <a:rPr lang="en-US" altLang="zh-CN" sz="2000" dirty="0"/>
              <a:t>+        </a:t>
            </a:r>
            <a:r>
              <a:rPr lang="zh-CN" altLang="en-US" sz="2000" dirty="0"/>
              <a:t>上三角阵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3450548" y="3636734"/>
                <a:ext cx="2392514" cy="4201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548" y="3636734"/>
                <a:ext cx="2392514" cy="4201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407280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31757" y="1200464"/>
            <a:ext cx="10898378" cy="4804682"/>
          </a:xfrm>
        </p:spPr>
        <p:txBody>
          <a:bodyPr>
            <a:normAutofit/>
          </a:bodyPr>
          <a:lstStyle/>
          <a:p>
            <a:pPr lvl="1">
              <a:spcAft>
                <a:spcPts val="600"/>
              </a:spcAft>
              <a:buClr>
                <a:srgbClr val="27305F"/>
              </a:buClr>
            </a:pPr>
            <a:r>
              <a:rPr lang="en-US" altLang="zh-CN" sz="2800" dirty="0"/>
              <a:t>GS</a:t>
            </a:r>
            <a:r>
              <a:rPr lang="zh-CN" altLang="en-US" sz="2800" dirty="0"/>
              <a:t>迭代法：</a:t>
            </a:r>
            <a:endParaRPr lang="en-US" altLang="zh-CN" sz="2800" dirty="0"/>
          </a:p>
          <a:p>
            <a:pPr lvl="1">
              <a:spcAft>
                <a:spcPts val="600"/>
              </a:spcAft>
              <a:buClr>
                <a:srgbClr val="27305F"/>
              </a:buClr>
            </a:pPr>
            <a:endParaRPr lang="en-US" altLang="zh-CN" sz="2600" dirty="0">
              <a:latin typeface="+mn-ea"/>
            </a:endParaRPr>
          </a:p>
          <a:p>
            <a:pPr lvl="1">
              <a:spcAft>
                <a:spcPts val="600"/>
              </a:spcAft>
              <a:buClr>
                <a:srgbClr val="27305F"/>
              </a:buClr>
            </a:pPr>
            <a:endParaRPr lang="en-US" altLang="zh-CN" sz="2800" dirty="0">
              <a:latin typeface="+mn-ea"/>
            </a:endParaRPr>
          </a:p>
          <a:p>
            <a:pPr lvl="1">
              <a:spcAft>
                <a:spcPts val="600"/>
              </a:spcAft>
              <a:buClr>
                <a:srgbClr val="27305F"/>
              </a:buClr>
            </a:pPr>
            <a:endParaRPr lang="en-US" altLang="zh-CN" sz="2600" dirty="0">
              <a:latin typeface="+mn-ea"/>
            </a:endParaRPr>
          </a:p>
          <a:p>
            <a:pPr lvl="1">
              <a:spcAft>
                <a:spcPts val="600"/>
              </a:spcAft>
              <a:buClr>
                <a:srgbClr val="27305F"/>
              </a:buClr>
            </a:pP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413"/>
          <a:stretch/>
        </p:blipFill>
        <p:spPr bwMode="auto">
          <a:xfrm>
            <a:off x="3171330" y="1379600"/>
            <a:ext cx="4475162" cy="564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7851530" y="157505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利用已更新的数据</a:t>
            </a:r>
          </a:p>
        </p:txBody>
      </p:sp>
      <p:graphicFrame>
        <p:nvGraphicFramePr>
          <p:cNvPr id="2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9020549"/>
              </p:ext>
            </p:extLst>
          </p:nvPr>
        </p:nvGraphicFramePr>
        <p:xfrm>
          <a:off x="2285754" y="2267717"/>
          <a:ext cx="6648450" cy="267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8" name="Equation" r:id="rId4" imgW="2263034" imgH="1021064" progId="Equation.DSMT4">
                  <p:embed/>
                </p:oleObj>
              </mc:Choice>
              <mc:Fallback>
                <p:oleObj name="Equation" r:id="rId4" imgW="2263034" imgH="1021064" progId="Equation.DSMT4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5754" y="2267717"/>
                        <a:ext cx="6648450" cy="267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07183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31757" y="1200464"/>
            <a:ext cx="10898378" cy="4804682"/>
          </a:xfrm>
        </p:spPr>
        <p:txBody>
          <a:bodyPr>
            <a:normAutofit/>
          </a:bodyPr>
          <a:lstStyle/>
          <a:p>
            <a:pPr lvl="1">
              <a:spcAft>
                <a:spcPts val="600"/>
              </a:spcAft>
              <a:buClr>
                <a:srgbClr val="27305F"/>
              </a:buClr>
            </a:pPr>
            <a:r>
              <a:rPr lang="en-US" altLang="zh-CN" sz="2600" dirty="0">
                <a:latin typeface="+mn-ea"/>
              </a:rPr>
              <a:t>SOR</a:t>
            </a:r>
            <a:r>
              <a:rPr lang="zh-CN" altLang="en-US" sz="2600" dirty="0">
                <a:latin typeface="+mn-ea"/>
              </a:rPr>
              <a:t>迭代法：</a:t>
            </a:r>
            <a:endParaRPr lang="en-US" altLang="zh-CN" sz="2600" dirty="0">
              <a:latin typeface="+mn-ea"/>
            </a:endParaRPr>
          </a:p>
          <a:p>
            <a:pPr lvl="1">
              <a:spcAft>
                <a:spcPts val="600"/>
              </a:spcAft>
              <a:buClr>
                <a:srgbClr val="27305F"/>
              </a:buClr>
            </a:pPr>
            <a:endParaRPr lang="en-US" altLang="zh-CN" sz="2800" dirty="0">
              <a:latin typeface="+mn-ea"/>
            </a:endParaRPr>
          </a:p>
          <a:p>
            <a:pPr lvl="1">
              <a:spcAft>
                <a:spcPts val="600"/>
              </a:spcAft>
              <a:buClr>
                <a:srgbClr val="27305F"/>
              </a:buClr>
            </a:pPr>
            <a:endParaRPr lang="en-US" altLang="zh-CN" sz="2600" dirty="0">
              <a:latin typeface="+mn-ea"/>
            </a:endParaRPr>
          </a:p>
          <a:p>
            <a:pPr lvl="1">
              <a:spcAft>
                <a:spcPts val="600"/>
              </a:spcAft>
              <a:buClr>
                <a:srgbClr val="27305F"/>
              </a:buClr>
            </a:pP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1354162" y="1928191"/>
                <a:ext cx="6317242" cy="3472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/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zh-CN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/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162" y="1928191"/>
                <a:ext cx="6317242" cy="347211"/>
              </a:xfrm>
              <a:prstGeom prst="rect">
                <a:avLst/>
              </a:prstGeom>
              <a:blipFill>
                <a:blip r:embed="rId3"/>
                <a:stretch>
                  <a:fillRect t="-1754" r="-579" b="-2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4"/>
              <p:cNvSpPr txBox="1">
                <a:spLocks noChangeArrowheads="1"/>
              </p:cNvSpPr>
              <p:nvPr/>
            </p:nvSpPr>
            <p:spPr bwMode="auto">
              <a:xfrm>
                <a:off x="1354162" y="3187583"/>
                <a:ext cx="9035033" cy="5480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zh-CN" altLang="en-US" sz="2000" dirty="0">
                    <a:solidFill>
                      <a:srgbClr val="7030A0"/>
                    </a:solidFill>
                    <a:sym typeface="Symbol" panose="05050102010706020507" pitchFamily="18" charset="2"/>
                  </a:rPr>
                  <a:t>其中</a:t>
                </a:r>
                <a:r>
                  <a:rPr lang="zh-CN" altLang="en-US" sz="2000" i="1" dirty="0">
                    <a:solidFill>
                      <a:srgbClr val="7030A0"/>
                    </a:solidFill>
                    <a:sym typeface="Symbol" panose="05050102010706020507" pitchFamily="18" charset="2"/>
                  </a:rPr>
                  <a:t></a:t>
                </a:r>
                <a:r>
                  <a:rPr lang="en-US" altLang="zh-CN" sz="2000" dirty="0">
                    <a:solidFill>
                      <a:srgbClr val="7030A0"/>
                    </a:solidFill>
                    <a:sym typeface="Symbol" panose="05050102010706020507" pitchFamily="18" charset="2"/>
                  </a:rPr>
                  <a:t>(</a:t>
                </a:r>
                <a:r>
                  <a:rPr lang="en-US" altLang="zh-CN" sz="2000" i="1" dirty="0">
                    <a:solidFill>
                      <a:srgbClr val="7030A0"/>
                    </a:solidFill>
                    <a:sym typeface="Symbol" panose="05050102010706020507" pitchFamily="18" charset="2"/>
                  </a:rPr>
                  <a:t>J</a:t>
                </a:r>
                <a:r>
                  <a:rPr lang="en-US" altLang="zh-CN" sz="2000" dirty="0">
                    <a:solidFill>
                      <a:srgbClr val="7030A0"/>
                    </a:solidFill>
                    <a:sym typeface="Symbol" panose="05050102010706020507" pitchFamily="18" charset="2"/>
                  </a:rPr>
                  <a:t>)</a:t>
                </a:r>
                <a:r>
                  <a:rPr lang="zh-CN" altLang="en-US" sz="2000" dirty="0">
                    <a:solidFill>
                      <a:srgbClr val="7030A0"/>
                    </a:solidFill>
                    <a:sym typeface="Symbol" panose="05050102010706020507" pitchFamily="18" charset="2"/>
                  </a:rPr>
                  <a:t>为解</a:t>
                </a:r>
                <a:r>
                  <a:rPr lang="en-US" altLang="zh-CN" sz="2000" i="1" dirty="0">
                    <a:solidFill>
                      <a:srgbClr val="7030A0"/>
                    </a:solidFill>
                    <a:sym typeface="Symbol" panose="05050102010706020507" pitchFamily="18" charset="2"/>
                  </a:rPr>
                  <a:t>Ax</a:t>
                </a:r>
                <a:r>
                  <a:rPr lang="zh-CN" altLang="en-US" sz="2000" dirty="0">
                    <a:solidFill>
                      <a:srgbClr val="7030A0"/>
                    </a:solidFill>
                    <a:sym typeface="Symbol" panose="05050102010706020507" pitchFamily="18" charset="2"/>
                  </a:rPr>
                  <a:t>＝</a:t>
                </a:r>
                <a:r>
                  <a:rPr lang="en-US" altLang="zh-CN" sz="2000" i="1" dirty="0">
                    <a:solidFill>
                      <a:srgbClr val="7030A0"/>
                    </a:solidFill>
                    <a:sym typeface="Symbol" panose="05050102010706020507" pitchFamily="18" charset="2"/>
                  </a:rPr>
                  <a:t>b</a:t>
                </a:r>
                <a:r>
                  <a:rPr lang="zh-CN" altLang="en-US" sz="2000" dirty="0">
                    <a:solidFill>
                      <a:srgbClr val="7030A0"/>
                    </a:solidFill>
                    <a:sym typeface="Symbol" panose="05050102010706020507" pitchFamily="18" charset="2"/>
                  </a:rPr>
                  <a:t>的雅可比迭代法的迭代矩阵（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J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7030A0"/>
                    </a:solidFill>
                    <a:sym typeface="Symbol" panose="05050102010706020507" pitchFamily="18" charset="2"/>
                  </a:rPr>
                  <a:t>）的谱半径</a:t>
                </a:r>
                <a:r>
                  <a:rPr lang="zh-CN" altLang="en-US" sz="2000" dirty="0">
                    <a:sym typeface="Symbol" panose="05050102010706020507" pitchFamily="18" charset="2"/>
                  </a:rPr>
                  <a:t>。</a:t>
                </a:r>
              </a:p>
            </p:txBody>
          </p:sp>
        </mc:Choice>
        <mc:Fallback xmlns="">
          <p:sp>
            <p:nvSpPr>
              <p:cNvPr id="18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4162" y="3187583"/>
                <a:ext cx="9035033" cy="548099"/>
              </a:xfrm>
              <a:prstGeom prst="rect">
                <a:avLst/>
              </a:prstGeom>
              <a:blipFill>
                <a:blip r:embed="rId4"/>
                <a:stretch>
                  <a:fillRect l="-675" b="-1555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30431"/>
              </p:ext>
            </p:extLst>
          </p:nvPr>
        </p:nvGraphicFramePr>
        <p:xfrm>
          <a:off x="1472345" y="2383051"/>
          <a:ext cx="5087016" cy="850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58" name="公式" r:id="rId5" imgW="2755800" imgH="482400" progId="Equation.3">
                  <p:embed/>
                </p:oleObj>
              </mc:Choice>
              <mc:Fallback>
                <p:oleObj name="公式" r:id="rId5" imgW="2755800" imgH="482400" progId="Equation.3">
                  <p:embed/>
                  <p:pic>
                    <p:nvPicPr>
                      <p:cNvPr id="1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2345" y="2383051"/>
                        <a:ext cx="5087016" cy="8507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6"/>
          <p:cNvGrpSpPr>
            <a:grpSpLocks/>
          </p:cNvGrpSpPr>
          <p:nvPr/>
        </p:nvGrpSpPr>
        <p:grpSpPr bwMode="auto">
          <a:xfrm>
            <a:off x="1378554" y="4540214"/>
            <a:ext cx="6292850" cy="889000"/>
            <a:chOff x="627" y="1781"/>
            <a:chExt cx="3964" cy="560"/>
          </a:xfrm>
        </p:grpSpPr>
        <p:graphicFrame>
          <p:nvGraphicFramePr>
            <p:cNvPr id="22" name="Object 7"/>
            <p:cNvGraphicFramePr>
              <a:graphicFrameLocks noChangeAspect="1"/>
            </p:cNvGraphicFramePr>
            <p:nvPr/>
          </p:nvGraphicFramePr>
          <p:xfrm>
            <a:off x="627" y="1893"/>
            <a:ext cx="1576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59" name="公式" r:id="rId7" imgW="777453" imgH="83993" progId="Equation.3">
                    <p:embed/>
                  </p:oleObj>
                </mc:Choice>
                <mc:Fallback>
                  <p:oleObj name="公式" r:id="rId7" imgW="777453" imgH="83993" progId="Equation.3">
                    <p:embed/>
                    <p:pic>
                      <p:nvPicPr>
                        <p:cNvPr id="2151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7" y="1893"/>
                          <a:ext cx="1576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8"/>
            <p:cNvGraphicFramePr>
              <a:graphicFrameLocks noChangeAspect="1"/>
            </p:cNvGraphicFramePr>
            <p:nvPr/>
          </p:nvGraphicFramePr>
          <p:xfrm>
            <a:off x="2154" y="1781"/>
            <a:ext cx="1109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60" name="公式" r:id="rId9" imgW="533329" imgH="228647" progId="Equation.3">
                    <p:embed/>
                  </p:oleObj>
                </mc:Choice>
                <mc:Fallback>
                  <p:oleObj name="公式" r:id="rId9" imgW="533329" imgH="228647" progId="Equation.3">
                    <p:embed/>
                    <p:pic>
                      <p:nvPicPr>
                        <p:cNvPr id="2152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4" y="1781"/>
                          <a:ext cx="1109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9"/>
            <p:cNvGraphicFramePr>
              <a:graphicFrameLocks noChangeAspect="1"/>
            </p:cNvGraphicFramePr>
            <p:nvPr/>
          </p:nvGraphicFramePr>
          <p:xfrm>
            <a:off x="3190" y="1781"/>
            <a:ext cx="1401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61" name="Equation" r:id="rId11" imgW="700898" imgH="228647" progId="Equation.DSMT4">
                    <p:embed/>
                  </p:oleObj>
                </mc:Choice>
                <mc:Fallback>
                  <p:oleObj name="Equation" r:id="rId11" imgW="700898" imgH="228647" progId="Equation.DSMT4">
                    <p:embed/>
                    <p:pic>
                      <p:nvPicPr>
                        <p:cNvPr id="21521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0" y="1781"/>
                          <a:ext cx="1401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345686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31757" y="1200464"/>
            <a:ext cx="10898378" cy="4804682"/>
          </a:xfrm>
        </p:spPr>
        <p:txBody>
          <a:bodyPr>
            <a:normAutofit/>
          </a:bodyPr>
          <a:lstStyle/>
          <a:p>
            <a:pPr lvl="1">
              <a:spcAft>
                <a:spcPts val="600"/>
              </a:spcAft>
              <a:buClr>
                <a:srgbClr val="27305F"/>
              </a:buClr>
            </a:pPr>
            <a:r>
              <a:rPr lang="zh-CN" altLang="en-US" sz="2800" dirty="0">
                <a:latin typeface="+mn-ea"/>
              </a:rPr>
              <a:t>迭代法的误差估计</a:t>
            </a:r>
            <a:r>
              <a:rPr lang="en-US" altLang="zh-CN" sz="2800" dirty="0">
                <a:latin typeface="+mn-ea"/>
              </a:rPr>
              <a:t>:</a:t>
            </a:r>
          </a:p>
          <a:p>
            <a:pPr lvl="1">
              <a:spcAft>
                <a:spcPts val="600"/>
              </a:spcAft>
              <a:buClr>
                <a:srgbClr val="27305F"/>
              </a:buClr>
            </a:pPr>
            <a:endParaRPr lang="en-US" altLang="zh-CN" sz="2600" dirty="0">
              <a:latin typeface="+mn-ea"/>
            </a:endParaRPr>
          </a:p>
          <a:p>
            <a:pPr lvl="1">
              <a:spcAft>
                <a:spcPts val="600"/>
              </a:spcAft>
              <a:buClr>
                <a:srgbClr val="27305F"/>
              </a:buClr>
            </a:pPr>
            <a:endParaRPr lang="zh-CN" altLang="en-US" dirty="0"/>
          </a:p>
        </p:txBody>
      </p:sp>
      <p:graphicFrame>
        <p:nvGraphicFramePr>
          <p:cNvPr id="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80117"/>
              </p:ext>
            </p:extLst>
          </p:nvPr>
        </p:nvGraphicFramePr>
        <p:xfrm>
          <a:off x="2200023" y="2323828"/>
          <a:ext cx="4350247" cy="907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0" name="公式" r:id="rId3" imgW="2361960" imgH="533160" progId="Equation.3">
                  <p:embed/>
                </p:oleObj>
              </mc:Choice>
              <mc:Fallback>
                <p:oleObj name="公式" r:id="rId3" imgW="2361960" imgH="533160" progId="Equation.3">
                  <p:embed/>
                  <p:pic>
                    <p:nvPicPr>
                      <p:cNvPr id="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023" y="2323828"/>
                        <a:ext cx="4350247" cy="9079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9875919"/>
              </p:ext>
            </p:extLst>
          </p:nvPr>
        </p:nvGraphicFramePr>
        <p:xfrm>
          <a:off x="2200023" y="3449040"/>
          <a:ext cx="3823688" cy="906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1" name="公式" r:id="rId5" imgW="2234880" imgH="571320" progId="Equation.3">
                  <p:embed/>
                </p:oleObj>
              </mc:Choice>
              <mc:Fallback>
                <p:oleObj name="公式" r:id="rId5" imgW="2234880" imgH="571320" progId="Equation.3">
                  <p:embed/>
                  <p:pic>
                    <p:nvPicPr>
                      <p:cNvPr id="1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023" y="3449040"/>
                        <a:ext cx="3823688" cy="9060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403281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例：给定线性方程组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请分别写出</a:t>
            </a:r>
            <a:r>
              <a:rPr lang="en-US" altLang="zh-CN" dirty="0"/>
              <a:t>Jacobi</a:t>
            </a:r>
            <a:r>
              <a:rPr lang="zh-CN" altLang="en-US" dirty="0"/>
              <a:t>和</a:t>
            </a:r>
            <a:r>
              <a:rPr lang="en-US" altLang="zh-CN" dirty="0"/>
              <a:t>GS</a:t>
            </a:r>
            <a:r>
              <a:rPr lang="zh-CN" altLang="en-US" dirty="0"/>
              <a:t>迭代法的迭代公式，并判断它们的收敛性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2713218" y="2173573"/>
                <a:ext cx="5426441" cy="9766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218" y="2173573"/>
                <a:ext cx="5426441" cy="9766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06464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904846" y="1191738"/>
                <a:ext cx="6553354" cy="1891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例：若有方程组的系数矩阵如下：</a:t>
                </a:r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endParaRPr lang="en-US" altLang="zh-CN" sz="2000" dirty="0"/>
              </a:p>
              <a:p>
                <a:r>
                  <a:rPr lang="zh-CN" altLang="en-US" sz="2000" dirty="0"/>
                  <a:t>     若采用</a:t>
                </a:r>
                <a:r>
                  <a:rPr lang="en-US" altLang="zh-CN" sz="2000" dirty="0"/>
                  <a:t>SOR</a:t>
                </a:r>
                <a:r>
                  <a:rPr lang="zh-CN" altLang="en-US" sz="2000" dirty="0"/>
                  <a:t>迭代法，求出其最佳收敛因子。</a:t>
                </a: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846" y="1191738"/>
                <a:ext cx="6553354" cy="1891095"/>
              </a:xfrm>
              <a:prstGeom prst="rect">
                <a:avLst/>
              </a:prstGeom>
              <a:blipFill>
                <a:blip r:embed="rId2"/>
                <a:stretch>
                  <a:fillRect l="-1394" t="-4823" b="-54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1786886" y="3031127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解：此矩阵为正定对称矩阵，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3351628" y="3460355"/>
                <a:ext cx="5476436" cy="9841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−0.75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−0.75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628" y="3460355"/>
                <a:ext cx="5476436" cy="9841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3351628" y="4684397"/>
                <a:ext cx="3335400" cy="4026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nor/>
                            </m:rPr>
                            <a:rPr lang="zh-CN" altLang="en-US" dirty="0"/>
                            <m:t> 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−0.625)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628" y="4684397"/>
                <a:ext cx="3335400" cy="402674"/>
              </a:xfrm>
              <a:prstGeom prst="rect">
                <a:avLst/>
              </a:prstGeom>
              <a:blipFill>
                <a:blip r:embed="rId4"/>
                <a:stretch>
                  <a:fillRect t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3351628" y="5270626"/>
                <a:ext cx="3313792" cy="4548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b>
                          </m:sSub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0.625</m:t>
                          </m:r>
                        </m:e>
                      </m:ra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≈0.790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628" y="5270626"/>
                <a:ext cx="3313792" cy="454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3351628" y="5901023"/>
                <a:ext cx="4145815" cy="7629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𝑂𝑃𝑇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1−0.625</m:t>
                              </m:r>
                            </m:e>
                          </m:rad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≈1.24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628" y="5901023"/>
                <a:ext cx="4145815" cy="7629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上凸带形 9"/>
          <p:cNvSpPr/>
          <p:nvPr/>
        </p:nvSpPr>
        <p:spPr>
          <a:xfrm>
            <a:off x="8828064" y="3431237"/>
            <a:ext cx="2702052" cy="841248"/>
          </a:xfrm>
          <a:prstGeom prst="ribbon2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计算</a:t>
            </a:r>
            <a:r>
              <a:rPr lang="en-US" altLang="zh-CN" dirty="0" err="1">
                <a:solidFill>
                  <a:schemeClr val="tx1"/>
                </a:solidFill>
              </a:rPr>
              <a:t>Jacobia</a:t>
            </a:r>
            <a:r>
              <a:rPr lang="zh-CN" altLang="en-US" dirty="0">
                <a:solidFill>
                  <a:schemeClr val="tx1"/>
                </a:solidFill>
              </a:rPr>
              <a:t>矩阵</a:t>
            </a:r>
          </a:p>
        </p:txBody>
      </p:sp>
    </p:spTree>
    <p:extLst>
      <p:ext uri="{BB962C8B-B14F-4D97-AF65-F5344CB8AC3E}">
        <p14:creationId xmlns:p14="http://schemas.microsoft.com/office/powerpoint/2010/main" val="4276603448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40549" y="1121333"/>
            <a:ext cx="10898378" cy="4804682"/>
          </a:xfrm>
        </p:spPr>
        <p:txBody>
          <a:bodyPr>
            <a:normAutofit/>
          </a:bodyPr>
          <a:lstStyle/>
          <a:p>
            <a:r>
              <a:rPr lang="zh-CN" altLang="en-US" dirty="0"/>
              <a:t>非线性方程求根</a:t>
            </a:r>
            <a:endParaRPr lang="en-US" altLang="zh-CN" dirty="0"/>
          </a:p>
          <a:p>
            <a:pPr lvl="1"/>
            <a:r>
              <a:rPr lang="zh-CN" altLang="en-US" dirty="0"/>
              <a:t>根存在性，单根重根的判定</a:t>
            </a:r>
            <a:endParaRPr lang="en-US" altLang="zh-CN" dirty="0"/>
          </a:p>
          <a:p>
            <a:pPr lvl="1"/>
            <a:r>
              <a:rPr lang="zh-CN" altLang="en-US" dirty="0"/>
              <a:t>迭代公式的构造</a:t>
            </a:r>
            <a:endParaRPr lang="en-US" altLang="zh-CN" dirty="0"/>
          </a:p>
          <a:p>
            <a:pPr lvl="1"/>
            <a:r>
              <a:rPr lang="zh-CN" altLang="en-US" dirty="0"/>
              <a:t>误差估计</a:t>
            </a:r>
            <a:endParaRPr lang="en-US" altLang="zh-CN" dirty="0"/>
          </a:p>
          <a:p>
            <a:pPr lvl="1"/>
            <a:r>
              <a:rPr lang="zh-CN" altLang="en-US" dirty="0"/>
              <a:t>收敛速度的判定</a:t>
            </a:r>
            <a:endParaRPr lang="en-US" altLang="zh-CN" dirty="0"/>
          </a:p>
          <a:p>
            <a:pPr lvl="1"/>
            <a:r>
              <a:rPr lang="zh-CN" altLang="en-US" dirty="0"/>
              <a:t>二分法、简单迭代法和牛顿迭代法</a:t>
            </a:r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数值计算</a:t>
            </a:r>
            <a:r>
              <a:rPr lang="en-US" altLang="zh-CN" dirty="0"/>
              <a:t>-</a:t>
            </a:r>
            <a:r>
              <a:rPr lang="zh-CN" altLang="en-US" dirty="0"/>
              <a:t>非线性方程求根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5968846"/>
              </p:ext>
            </p:extLst>
          </p:nvPr>
        </p:nvGraphicFramePr>
        <p:xfrm>
          <a:off x="6318188" y="4085491"/>
          <a:ext cx="22669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7" r:id="rId3" imgW="16678275" imgH="7019925" progId="Equation.DSMT4">
                  <p:embed/>
                </p:oleObj>
              </mc:Choice>
              <mc:Fallback>
                <p:oleObj r:id="rId3" imgW="16678275" imgH="7019925" progId="Equation.DSMT4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8188" y="4085491"/>
                        <a:ext cx="226695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6535858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9872" y="580747"/>
            <a:ext cx="10363200" cy="76880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非线性方程求根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99872" y="1218049"/>
            <a:ext cx="10898378" cy="4804682"/>
          </a:xfrm>
        </p:spPr>
        <p:txBody>
          <a:bodyPr/>
          <a:lstStyle/>
          <a:p>
            <a:r>
              <a:rPr lang="zh-CN" altLang="en-US" dirty="0"/>
              <a:t>确定一区间</a:t>
            </a:r>
            <a:r>
              <a:rPr lang="en-US" altLang="zh-CN" dirty="0"/>
              <a:t>[</a:t>
            </a:r>
            <a:r>
              <a:rPr lang="en-US" altLang="zh-CN" dirty="0" err="1"/>
              <a:t>a,b</a:t>
            </a:r>
            <a:r>
              <a:rPr lang="en-US" altLang="zh-CN" dirty="0"/>
              <a:t>]</a:t>
            </a:r>
            <a:r>
              <a:rPr lang="zh-CN" altLang="en-US" dirty="0"/>
              <a:t>内是否有根：</a:t>
            </a:r>
            <a:r>
              <a:rPr lang="en-US" altLang="zh-CN" dirty="0"/>
              <a:t>f(a)f(b)&lt;0</a:t>
            </a:r>
          </a:p>
          <a:p>
            <a:r>
              <a:rPr lang="zh-CN" altLang="en-US" dirty="0"/>
              <a:t>根：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在一个有根区间内单根与重根判定</a:t>
            </a:r>
          </a:p>
        </p:txBody>
      </p:sp>
      <p:sp>
        <p:nvSpPr>
          <p:cNvPr id="4" name="矩形 3"/>
          <p:cNvSpPr/>
          <p:nvPr/>
        </p:nvSpPr>
        <p:spPr>
          <a:xfrm>
            <a:off x="1437718" y="1955570"/>
            <a:ext cx="84875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给定方程 </a:t>
            </a:r>
            <a:r>
              <a:rPr lang="en-US" altLang="zh-CN" sz="2400" i="1" dirty="0"/>
              <a:t>f 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)=0</a:t>
            </a:r>
            <a:r>
              <a:rPr lang="zh-CN" altLang="en-US" sz="2400" dirty="0"/>
              <a:t>，如果有</a:t>
            </a:r>
            <a:r>
              <a:rPr lang="en-US" altLang="zh-CN" sz="2400" i="1" dirty="0"/>
              <a:t>x* </a:t>
            </a:r>
            <a:r>
              <a:rPr lang="zh-CN" altLang="en-US" sz="2400" dirty="0"/>
              <a:t>使得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x*</a:t>
            </a:r>
            <a:r>
              <a:rPr lang="en-US" altLang="zh-CN" sz="2400" dirty="0"/>
              <a:t>)=0</a:t>
            </a:r>
            <a:r>
              <a:rPr lang="zh-CN" altLang="en-US" sz="2400" dirty="0"/>
              <a:t>，则称 </a:t>
            </a:r>
            <a:r>
              <a:rPr lang="en-US" altLang="zh-CN" sz="2400" i="1" dirty="0"/>
              <a:t>x* </a:t>
            </a:r>
            <a:r>
              <a:rPr lang="zh-CN" altLang="en-US" sz="2400" dirty="0"/>
              <a:t>为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 =0</a:t>
            </a:r>
            <a:r>
              <a:rPr lang="zh-CN" altLang="en-US" sz="2400" dirty="0"/>
              <a:t>的</a:t>
            </a:r>
            <a:r>
              <a:rPr lang="zh-CN" altLang="en-US" sz="2400" b="1" dirty="0">
                <a:solidFill>
                  <a:srgbClr val="CC3300"/>
                </a:solidFill>
              </a:rPr>
              <a:t>根</a:t>
            </a:r>
            <a:r>
              <a:rPr lang="zh-CN" altLang="en-US" sz="2400" dirty="0"/>
              <a:t> 或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 </a:t>
            </a:r>
            <a:r>
              <a:rPr lang="zh-CN" altLang="en-US" sz="2400" dirty="0"/>
              <a:t>的</a:t>
            </a:r>
            <a:r>
              <a:rPr lang="zh-CN" altLang="en-US" sz="2400" b="1" dirty="0">
                <a:solidFill>
                  <a:srgbClr val="CC3300"/>
                </a:solidFill>
              </a:rPr>
              <a:t>零点</a:t>
            </a:r>
            <a:r>
              <a:rPr lang="en-US" altLang="zh-CN" sz="24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846325" y="4189152"/>
                <a:ext cx="5553507" cy="1863074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ts val="3200"/>
                  </a:lnSpc>
                  <a:spcBef>
                    <a:spcPct val="2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  <m:t>f</m:t>
                        </m:r>
                      </m:e>
                      <m:sup>
                        <m:r>
                          <a:rPr lang="en-US" altLang="zh-CN" sz="2400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24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  <m:t>x</m:t>
                        </m:r>
                      </m:e>
                    </m:d>
                    <m:r>
                      <a:rPr lang="en-US" altLang="zh-CN" sz="2400" i="1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  <m:r>
                      <a:rPr lang="zh-CN" altLang="en-US" sz="240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：</m:t>
                    </m:r>
                    <m:r>
                      <a:rPr lang="zh-CN" altLang="en-US" sz="2400" i="1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单</m:t>
                    </m:r>
                    <m:r>
                      <a:rPr lang="zh-CN" altLang="en-US" sz="240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根</m:t>
                    </m:r>
                    <m:r>
                      <a:rPr lang="zh-CN" altLang="en-US" sz="2400" i="1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（</m:t>
                    </m:r>
                  </m:oMath>
                </a14:m>
                <a:r>
                  <a:rPr lang="zh-CN" altLang="en-US" sz="2400" i="1" kern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唯一根）</a:t>
                </a:r>
                <a:endParaRPr lang="en-US" altLang="zh-CN" sz="2400" i="1" kern="0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>
                  <a:lnSpc>
                    <a:spcPts val="3200"/>
                  </a:lnSpc>
                  <a:spcBef>
                    <a:spcPct val="2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  <m:t>f</m:t>
                        </m:r>
                      </m:e>
                      <m:sup>
                        <m:r>
                          <a:rPr lang="en-US" altLang="zh-CN" sz="2400" b="0" i="0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2400" b="0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b="0" i="0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  <m:t>x</m:t>
                        </m:r>
                      </m:e>
                    </m:d>
                    <m:r>
                      <a:rPr lang="en-US" altLang="zh-CN" sz="2400" b="0" i="0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itchFamily="2" charset="-122"/>
                      </a:rPr>
                      <m:t>=0,</m:t>
                    </m:r>
                    <m:r>
                      <m:rPr>
                        <m:sty m:val="p"/>
                      </m:rPr>
                      <a:rPr lang="en-US" altLang="zh-CN" sz="2400" b="0" i="0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itchFamily="2" charset="-122"/>
                      </a:rPr>
                      <m:t>f</m:t>
                    </m:r>
                    <m:r>
                      <a:rPr lang="en-US" altLang="zh-CN" sz="2400" b="0" i="0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itchFamily="2" charset="-122"/>
                      </a:rPr>
                      <m:t>′′(</m:t>
                    </m:r>
                    <m:r>
                      <m:rPr>
                        <m:sty m:val="p"/>
                      </m:rPr>
                      <a:rPr lang="en-US" altLang="zh-CN" sz="2400" b="0" i="0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itchFamily="2" charset="-122"/>
                      </a:rPr>
                      <m:t>x</m:t>
                    </m:r>
                    <m:r>
                      <a:rPr lang="en-US" altLang="zh-CN" sz="2400" b="0" i="0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itchFamily="2" charset="-122"/>
                      </a:rPr>
                      <m:t>)</m:t>
                    </m:r>
                    <m:r>
                      <a:rPr lang="en-US" altLang="zh-CN" sz="2400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  <m:r>
                      <a:rPr lang="zh-CN" altLang="en-US" sz="2400" i="1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：两</m:t>
                    </m:r>
                  </m:oMath>
                </a14:m>
                <a:r>
                  <a:rPr lang="zh-CN" altLang="en-US" sz="2400" kern="0" dirty="0">
                    <a:solidFill>
                      <a:srgbClr val="FF0000"/>
                    </a:solidFill>
                    <a:latin typeface="华文中宋" pitchFamily="2" charset="-122"/>
                    <a:ea typeface="华文中宋" pitchFamily="2" charset="-122"/>
                  </a:rPr>
                  <a:t>重根</a:t>
                </a:r>
                <a:endParaRPr lang="en-US" altLang="zh-CN" sz="2400" kern="0" dirty="0">
                  <a:solidFill>
                    <a:srgbClr val="FF0000"/>
                  </a:solidFill>
                  <a:latin typeface="华文中宋" pitchFamily="2" charset="-122"/>
                  <a:ea typeface="华文中宋" pitchFamily="2" charset="-122"/>
                </a:endParaRPr>
              </a:p>
              <a:p>
                <a:pPr algn="ctr">
                  <a:lnSpc>
                    <a:spcPts val="3200"/>
                  </a:lnSpc>
                  <a:spcBef>
                    <a:spcPct val="2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  <m:t>f</m:t>
                        </m:r>
                      </m:e>
                      <m:sup>
                        <m:r>
                          <a:rPr lang="en-US" altLang="zh-CN" sz="2400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24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  <m:t>x</m:t>
                        </m:r>
                      </m:e>
                    </m:d>
                    <m:r>
                      <a:rPr lang="en-US" altLang="zh-CN" sz="2400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itchFamily="2" charset="-122"/>
                      </a:rPr>
                      <m:t>=0,</m:t>
                    </m:r>
                    <m:r>
                      <m:rPr>
                        <m:sty m:val="p"/>
                      </m:rPr>
                      <a:rPr lang="en-US" altLang="zh-CN" sz="2400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itchFamily="2" charset="-122"/>
                      </a:rPr>
                      <m:t>f</m:t>
                    </m:r>
                    <m:r>
                      <a:rPr lang="en-US" altLang="zh-CN" sz="2400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itchFamily="2" charset="-122"/>
                      </a:rPr>
                      <m:t>′′(</m:t>
                    </m:r>
                    <m:r>
                      <m:rPr>
                        <m:sty m:val="p"/>
                      </m:rPr>
                      <a:rPr lang="en-US" altLang="zh-CN" sz="2400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itchFamily="2" charset="-122"/>
                      </a:rPr>
                      <m:t>x</m:t>
                    </m:r>
                    <m:r>
                      <a:rPr lang="en-US" altLang="zh-CN" sz="2400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itchFamily="2" charset="-122"/>
                      </a:rPr>
                      <m:t>)</m:t>
                    </m:r>
                  </m:oMath>
                </a14:m>
                <a:r>
                  <a:rPr lang="en-US" altLang="zh-CN" sz="2400" kern="0" dirty="0">
                    <a:solidFill>
                      <a:srgbClr val="FF0000"/>
                    </a:solidFill>
                    <a:latin typeface="华文中宋" pitchFamily="2" charset="-122"/>
                    <a:ea typeface="华文中宋" pitchFamily="2" charset="-122"/>
                  </a:rPr>
                  <a:t>=0</a:t>
                </a:r>
                <a:r>
                  <a:rPr lang="zh-CN" altLang="en-US" sz="2400" kern="0" dirty="0">
                    <a:solidFill>
                      <a:srgbClr val="FF0000"/>
                    </a:solidFill>
                    <a:latin typeface="华文中宋" pitchFamily="2" charset="-122"/>
                    <a:ea typeface="华文中宋" pitchFamily="2" charset="-122"/>
                  </a:rPr>
                  <a:t>，</a:t>
                </a:r>
                <a:r>
                  <a:rPr lang="en-US" altLang="zh-CN" sz="2400" kern="0" dirty="0">
                    <a:solidFill>
                      <a:srgbClr val="FF0000"/>
                    </a:solidFill>
                    <a:ea typeface="华文中宋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itchFamily="2" charset="-122"/>
                      </a:rPr>
                      <m:t>0,</m:t>
                    </m:r>
                    <m:sSup>
                      <m:sSupPr>
                        <m:ctrlPr>
                          <a:rPr lang="en-US" altLang="zh-CN" sz="24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  <m:t>f</m:t>
                        </m:r>
                      </m:e>
                      <m:sup>
                        <m:r>
                          <a:rPr lang="en-US" altLang="zh-CN" sz="24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  <m:t>′</m:t>
                        </m:r>
                        <m:r>
                          <a:rPr lang="en-US" altLang="zh-CN" sz="2400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  <m:t>′</m:t>
                        </m:r>
                        <m:r>
                          <a:rPr lang="en-US" altLang="zh-CN" sz="2400" b="0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2400" b="0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itchFamily="2" charset="-122"/>
                          </a:rPr>
                          <m:t>x</m:t>
                        </m:r>
                      </m:e>
                    </m:d>
                    <m:r>
                      <a:rPr lang="en-US" altLang="zh-CN" sz="2400" i="1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 </m:t>
                    </m:r>
                    <m:r>
                      <a:rPr lang="en-US" altLang="zh-CN" sz="2400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zh-CN" altLang="en-US" sz="2400" i="1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三</m:t>
                    </m:r>
                  </m:oMath>
                </a14:m>
                <a:r>
                  <a:rPr lang="zh-CN" altLang="en-US" sz="2400" kern="0" dirty="0">
                    <a:solidFill>
                      <a:srgbClr val="FF0000"/>
                    </a:solidFill>
                    <a:latin typeface="华文中宋" pitchFamily="2" charset="-122"/>
                    <a:ea typeface="华文中宋" pitchFamily="2" charset="-122"/>
                  </a:rPr>
                  <a:t>重根</a:t>
                </a:r>
                <a:endParaRPr lang="en-US" altLang="zh-CN" sz="2400" kern="0" dirty="0">
                  <a:solidFill>
                    <a:srgbClr val="FF0000"/>
                  </a:solidFill>
                  <a:latin typeface="华文中宋" pitchFamily="2" charset="-122"/>
                  <a:ea typeface="华文中宋" pitchFamily="2" charset="-122"/>
                </a:endParaRPr>
              </a:p>
              <a:p>
                <a:pPr algn="ctr">
                  <a:lnSpc>
                    <a:spcPts val="3200"/>
                  </a:lnSpc>
                  <a:spcBef>
                    <a:spcPct val="20000"/>
                  </a:spcBef>
                </a:pPr>
                <a:r>
                  <a:rPr lang="en-US" altLang="zh-CN" sz="2400" kern="0" dirty="0">
                    <a:solidFill>
                      <a:srgbClr val="FF0000"/>
                    </a:solidFill>
                    <a:latin typeface="华文中宋" pitchFamily="2" charset="-122"/>
                    <a:ea typeface="华文中宋" pitchFamily="2" charset="-122"/>
                  </a:rPr>
                  <a:t>……</a:t>
                </a:r>
                <a:endParaRPr lang="zh-CN" altLang="en-US" sz="2400" kern="0" dirty="0">
                  <a:solidFill>
                    <a:srgbClr val="FF0000"/>
                  </a:solidFill>
                  <a:latin typeface="华文中宋" pitchFamily="2" charset="-122"/>
                  <a:ea typeface="华文中宋" pitchFamily="2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325" y="4189152"/>
                <a:ext cx="5553507" cy="1863074"/>
              </a:xfrm>
              <a:prstGeom prst="rect">
                <a:avLst/>
              </a:prstGeom>
              <a:blipFill>
                <a:blip r:embed="rId2"/>
                <a:stretch>
                  <a:fillRect l="-1537" t="-5556" r="-2744" b="-75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1190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1A2DD-0970-4315-9382-E1860ABBE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72F3B6-952D-4D24-B635-48336EB90D6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4CBEF999-8F04-46D1-951E-7EF14E88DB63}"/>
              </a:ext>
            </a:extLst>
          </p:cNvPr>
          <p:cNvSpPr txBox="1">
            <a:spLocks/>
          </p:cNvSpPr>
          <p:nvPr/>
        </p:nvSpPr>
        <p:spPr>
          <a:xfrm>
            <a:off x="499872" y="580747"/>
            <a:ext cx="10363200" cy="768804"/>
          </a:xfrm>
          <a:prstGeom prst="rect">
            <a:avLst/>
          </a:prstGeom>
        </p:spPr>
        <p:txBody>
          <a:bodyPr bIns="91440" anchor="b" anchorCtr="0">
            <a:normAutofit fontScale="75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zh-CN" altLang="en-US"/>
              <a:t>非线性方程求根</a:t>
            </a:r>
            <a:br>
              <a:rPr lang="en-US" altLang="zh-CN"/>
            </a:b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8E93DB-51C1-4586-90C2-F30FF3FC9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808" y="1524620"/>
            <a:ext cx="2474365" cy="4001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FFB9EC0-72EF-4813-A3C7-345E25E38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523" y="2385177"/>
            <a:ext cx="6836702" cy="54228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A1FC392-8C7D-497E-AD6E-3A285E7B5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433" y="3156239"/>
            <a:ext cx="4170625" cy="46441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DF6E575-063B-40E8-998B-E906422C1F24}"/>
              </a:ext>
            </a:extLst>
          </p:cNvPr>
          <p:cNvSpPr txBox="1"/>
          <p:nvPr/>
        </p:nvSpPr>
        <p:spPr>
          <a:xfrm>
            <a:off x="1894551" y="4000293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故函数至少具有一个实根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114EB11-2AD1-477E-BF17-F6E069A56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3433" y="4729944"/>
            <a:ext cx="2654040" cy="36933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3E6BD64-FDB4-4D14-B1BE-10FB338FBD30}"/>
              </a:ext>
            </a:extLst>
          </p:cNvPr>
          <p:cNvSpPr txBox="1"/>
          <p:nvPr/>
        </p:nvSpPr>
        <p:spPr>
          <a:xfrm>
            <a:off x="1834004" y="5442649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故该方程存在唯一实根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E5700F4-A097-445D-AA85-7E0FDB6F14EB}"/>
                  </a:ext>
                </a:extLst>
              </p:cNvPr>
              <p:cNvSpPr txBox="1"/>
              <p:nvPr/>
            </p:nvSpPr>
            <p:spPr>
              <a:xfrm>
                <a:off x="3961793" y="1549479"/>
                <a:ext cx="47275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/>
                  <a:t>证明该方程在</a:t>
                </a:r>
                <a:r>
                  <a:rPr lang="en-US" altLang="zh-CN" sz="2000" b="1" dirty="0">
                    <a:latin typeface="+mn-ea"/>
                  </a:rPr>
                  <a:t>[0,</a:t>
                </a:r>
                <a14:m>
                  <m:oMath xmlns:m="http://schemas.openxmlformats.org/officeDocument/2006/math">
                    <m:r>
                      <a:rPr lang="en-US" altLang="zh-CN" sz="20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zh-CN" sz="2000" b="1" dirty="0">
                    <a:latin typeface="+mn-ea"/>
                  </a:rPr>
                  <a:t>]</a:t>
                </a:r>
                <a:r>
                  <a:rPr lang="zh-CN" altLang="en-US" sz="2000" b="1" dirty="0"/>
                  <a:t>内存在唯一实根。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E5700F4-A097-445D-AA85-7E0FDB6F1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793" y="1549479"/>
                <a:ext cx="4727576" cy="400110"/>
              </a:xfrm>
              <a:prstGeom prst="rect">
                <a:avLst/>
              </a:prstGeom>
              <a:blipFill>
                <a:blip r:embed="rId6"/>
                <a:stretch>
                  <a:fillRect l="-1419" t="-15152" r="-774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6949149F-C8DD-424F-866A-DADED885D31D}"/>
              </a:ext>
            </a:extLst>
          </p:cNvPr>
          <p:cNvSpPr txBox="1"/>
          <p:nvPr/>
        </p:nvSpPr>
        <p:spPr>
          <a:xfrm>
            <a:off x="744977" y="245626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证明：</a:t>
            </a:r>
          </a:p>
        </p:txBody>
      </p:sp>
    </p:spTree>
    <p:extLst>
      <p:ext uri="{BB962C8B-B14F-4D97-AF65-F5344CB8AC3E}">
        <p14:creationId xmlns:p14="http://schemas.microsoft.com/office/powerpoint/2010/main" val="27431569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二分法：</a:t>
            </a:r>
            <a:endParaRPr lang="en-US" altLang="zh-CN" dirty="0"/>
          </a:p>
          <a:p>
            <a:pPr lvl="1"/>
            <a:r>
              <a:rPr lang="zh-CN" altLang="en-US" dirty="0"/>
              <a:t>误差分析</a:t>
            </a:r>
          </a:p>
        </p:txBody>
      </p:sp>
      <p:graphicFrame>
        <p:nvGraphicFramePr>
          <p:cNvPr id="4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148809"/>
              </p:ext>
            </p:extLst>
          </p:nvPr>
        </p:nvGraphicFramePr>
        <p:xfrm>
          <a:off x="1605452" y="2498037"/>
          <a:ext cx="3978421" cy="10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5" name="公式" r:id="rId3" imgW="1549080" imgH="406080" progId="Equation.3">
                  <p:embed/>
                </p:oleObj>
              </mc:Choice>
              <mc:Fallback>
                <p:oleObj name="公式" r:id="rId3" imgW="1549080" imgH="406080" progId="Equation.3">
                  <p:embed/>
                  <p:pic>
                    <p:nvPicPr>
                      <p:cNvPr id="13316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5452" y="2498037"/>
                        <a:ext cx="3978421" cy="10480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95188"/>
              </p:ext>
            </p:extLst>
          </p:nvPr>
        </p:nvGraphicFramePr>
        <p:xfrm>
          <a:off x="1989321" y="3925748"/>
          <a:ext cx="3888779" cy="916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6" name="公式" r:id="rId5" imgW="1739880" imgH="406080" progId="Equation.3">
                  <p:embed/>
                </p:oleObj>
              </mc:Choice>
              <mc:Fallback>
                <p:oleObj name="公式" r:id="rId5" imgW="1739880" imgH="406080" progId="Equation.3">
                  <p:embed/>
                  <p:pic>
                    <p:nvPicPr>
                      <p:cNvPr id="1332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321" y="3925748"/>
                        <a:ext cx="3888779" cy="9163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1809648" y="5230141"/>
            <a:ext cx="8136904" cy="530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ct val="15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第</a:t>
            </a:r>
            <a:r>
              <a:rPr lang="en-US" altLang="zh-CN" sz="2400" b="1" dirty="0">
                <a:solidFill>
                  <a:srgbClr val="000000"/>
                </a:solidFill>
                <a:ea typeface="黑体" panose="02010609060101010101" pitchFamily="49" charset="-122"/>
              </a:rPr>
              <a:t>n+1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次二分,计算得到的值就是满足精度要求的近似根</a:t>
            </a:r>
            <a:r>
              <a:rPr lang="zh-CN" altLang="en-US" sz="2400" b="1" dirty="0">
                <a:solidFill>
                  <a:srgbClr val="000000"/>
                </a:solidFill>
                <a:ea typeface="黑体" panose="02010609060101010101" pitchFamily="49" charset="-122"/>
              </a:rPr>
              <a:t> 。</a:t>
            </a: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599927" y="-63123"/>
            <a:ext cx="10556346" cy="1066120"/>
          </a:xfrm>
          <a:prstGeom prst="rect">
            <a:avLst/>
          </a:prstGeom>
        </p:spPr>
        <p:txBody>
          <a:bodyPr bIns="91440" anchor="b" anchorCtr="0"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zh-CN" altLang="en-US" sz="2800" dirty="0"/>
              <a:t>非线性方程求根</a:t>
            </a:r>
          </a:p>
        </p:txBody>
      </p:sp>
    </p:spTree>
    <p:extLst>
      <p:ext uri="{BB962C8B-B14F-4D97-AF65-F5344CB8AC3E}">
        <p14:creationId xmlns:p14="http://schemas.microsoft.com/office/powerpoint/2010/main" val="90095596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9872" y="580747"/>
            <a:ext cx="10363200" cy="76880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非线性方程求根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99872" y="1218049"/>
            <a:ext cx="11184128" cy="5358242"/>
          </a:xfrm>
        </p:spPr>
        <p:txBody>
          <a:bodyPr>
            <a:normAutofit/>
          </a:bodyPr>
          <a:lstStyle/>
          <a:p>
            <a:r>
              <a:rPr lang="zh-CN" altLang="en-US" dirty="0"/>
              <a:t>简单迭代公式构造：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迭代公式收敛性的判定：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误差估计：</a:t>
            </a:r>
            <a:endParaRPr lang="en-US" altLang="zh-CN" dirty="0"/>
          </a:p>
          <a:p>
            <a:pPr lvl="1"/>
            <a:r>
              <a:rPr lang="zh-CN" altLang="en-US" dirty="0"/>
              <a:t>事后估计</a:t>
            </a:r>
            <a:endParaRPr lang="en-US" altLang="zh-CN" dirty="0"/>
          </a:p>
          <a:p>
            <a:pPr lvl="1"/>
            <a:r>
              <a:rPr lang="zh-CN" altLang="en-US" dirty="0"/>
              <a:t>事前估计</a:t>
            </a:r>
            <a:endParaRPr lang="en-US" altLang="zh-CN" dirty="0"/>
          </a:p>
          <a:p>
            <a:endParaRPr lang="en-US" altLang="zh-CN" dirty="0"/>
          </a:p>
        </p:txBody>
      </p:sp>
      <p:graphicFrame>
        <p:nvGraphicFramePr>
          <p:cNvPr id="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5003955"/>
              </p:ext>
            </p:extLst>
          </p:nvPr>
        </p:nvGraphicFramePr>
        <p:xfrm>
          <a:off x="3946023" y="1348171"/>
          <a:ext cx="4754575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0" name="Equation" r:id="rId3" imgW="36204525" imgH="7896225" progId="Equation.DSMT4">
                  <p:embed/>
                </p:oleObj>
              </mc:Choice>
              <mc:Fallback>
                <p:oleObj name="Equation" r:id="rId3" imgW="36204525" imgH="7896225" progId="Equation.DSMT4">
                  <p:embed/>
                  <p:pic>
                    <p:nvPicPr>
                      <p:cNvPr id="19462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6023" y="1348171"/>
                        <a:ext cx="4754575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4"/>
              <p:cNvSpPr txBox="1"/>
              <p:nvPr/>
            </p:nvSpPr>
            <p:spPr bwMode="auto">
              <a:xfrm>
                <a:off x="4791075" y="3314700"/>
                <a:ext cx="2745798" cy="699199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)|&lt;1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1075" y="3314700"/>
                <a:ext cx="2745798" cy="6991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2707022"/>
              </p:ext>
            </p:extLst>
          </p:nvPr>
        </p:nvGraphicFramePr>
        <p:xfrm>
          <a:off x="2762840" y="4459292"/>
          <a:ext cx="4860090" cy="889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1" name="公式" r:id="rId6" imgW="1955520" imgH="406080" progId="Equation.3">
                  <p:embed/>
                </p:oleObj>
              </mc:Choice>
              <mc:Fallback>
                <p:oleObj name="公式" r:id="rId6" imgW="1955520" imgH="406080" progId="Equation.3">
                  <p:embed/>
                  <p:pic>
                    <p:nvPicPr>
                      <p:cNvPr id="2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840" y="4459292"/>
                        <a:ext cx="4860090" cy="8895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407469"/>
              </p:ext>
            </p:extLst>
          </p:nvPr>
        </p:nvGraphicFramePr>
        <p:xfrm>
          <a:off x="2284102" y="5277576"/>
          <a:ext cx="3664958" cy="916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2" name="Equation" r:id="rId8" imgW="28965525" imgH="7239000" progId="Equation.DSMT4">
                  <p:embed/>
                </p:oleObj>
              </mc:Choice>
              <mc:Fallback>
                <p:oleObj name="Equation" r:id="rId8" imgW="28965525" imgH="7239000" progId="Equation.DSMT4">
                  <p:embed/>
                  <p:pic>
                    <p:nvPicPr>
                      <p:cNvPr id="3790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102" y="5277576"/>
                        <a:ext cx="3664958" cy="916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209550"/>
              </p:ext>
            </p:extLst>
          </p:nvPr>
        </p:nvGraphicFramePr>
        <p:xfrm>
          <a:off x="4527726" y="2711336"/>
          <a:ext cx="5946775" cy="484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3" name="Equation" r:id="rId10" imgW="42567225" imgH="3514725" progId="Equation.DSMT4">
                  <p:embed/>
                </p:oleObj>
              </mc:Choice>
              <mc:Fallback>
                <p:oleObj name="Equation" r:id="rId10" imgW="42567225" imgH="3514725" progId="Equation.DSMT4">
                  <p:embed/>
                  <p:pic>
                    <p:nvPicPr>
                      <p:cNvPr id="2458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7726" y="2711336"/>
                        <a:ext cx="5946775" cy="4842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391507" y="2759565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（根的存在性）</a:t>
            </a:r>
          </a:p>
        </p:txBody>
      </p:sp>
    </p:spTree>
    <p:extLst>
      <p:ext uri="{BB962C8B-B14F-4D97-AF65-F5344CB8AC3E}">
        <p14:creationId xmlns:p14="http://schemas.microsoft.com/office/powerpoint/2010/main" val="3938524233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93610" y="1110483"/>
            <a:ext cx="10898378" cy="4804682"/>
          </a:xfrm>
        </p:spPr>
        <p:txBody>
          <a:bodyPr/>
          <a:lstStyle/>
          <a:p>
            <a:r>
              <a:rPr lang="zh-CN" altLang="en-US" dirty="0"/>
              <a:t>迭代加速方法：</a:t>
            </a:r>
            <a:endParaRPr lang="en-US" altLang="zh-CN" dirty="0"/>
          </a:p>
          <a:p>
            <a:pPr lvl="1"/>
            <a:r>
              <a:rPr lang="zh-CN" altLang="en-US" dirty="0"/>
              <a:t>松弛法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埃特金法</a:t>
            </a:r>
            <a:endParaRPr lang="en-US" altLang="zh-CN" dirty="0"/>
          </a:p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6"/>
              <p:cNvSpPr txBox="1"/>
              <p:nvPr/>
            </p:nvSpPr>
            <p:spPr bwMode="auto">
              <a:xfrm>
                <a:off x="2049030" y="1879287"/>
                <a:ext cx="6019800" cy="26384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＝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) </m:t>
                                  </m:r>
                                </m:den>
                              </m:f>
                            </m:e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＝（１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）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＋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= 0, 1, 2 ...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9030" y="1879287"/>
                <a:ext cx="6019800" cy="26384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99872" y="580747"/>
            <a:ext cx="10363200" cy="76880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非线性方程求根</a:t>
            </a:r>
            <a:br>
              <a:rPr lang="en-US" altLang="zh-CN" dirty="0"/>
            </a:b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4"/>
              <p:cNvSpPr txBox="1"/>
              <p:nvPr/>
            </p:nvSpPr>
            <p:spPr bwMode="auto">
              <a:xfrm>
                <a:off x="2168959" y="3974234"/>
                <a:ext cx="6205537" cy="3402013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(2)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１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(2)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 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  <m:sup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(2)</m:t>
                                              </m:r>
                                            </m:sup>
                                          </m:sSubSup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  <m:sup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(1)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(2)</m:t>
                                      </m:r>
                                    </m:sup>
                                  </m:sSub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sSubSup>
                                    <m:sSub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(1)</m:t>
                                      </m:r>
                                    </m:sup>
                                  </m:sSub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=0 , 1 ,2 ...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959" y="3974234"/>
                <a:ext cx="6205537" cy="34020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9332573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9872" y="580747"/>
            <a:ext cx="10363200" cy="76880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非线性方程求根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99872" y="1218049"/>
            <a:ext cx="10898378" cy="4804682"/>
          </a:xfrm>
        </p:spPr>
        <p:txBody>
          <a:bodyPr/>
          <a:lstStyle/>
          <a:p>
            <a:r>
              <a:rPr lang="zh-CN" altLang="en-US" dirty="0"/>
              <a:t>收敛速度：</a:t>
            </a:r>
            <a:endParaRPr lang="en-US" altLang="zh-CN" dirty="0"/>
          </a:p>
        </p:txBody>
      </p:sp>
      <p:sp>
        <p:nvSpPr>
          <p:cNvPr id="13" name="矩形 11"/>
          <p:cNvSpPr>
            <a:spLocks noChangeArrowheads="1"/>
          </p:cNvSpPr>
          <p:nvPr/>
        </p:nvSpPr>
        <p:spPr bwMode="auto">
          <a:xfrm>
            <a:off x="1041944" y="1986853"/>
            <a:ext cx="67691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/>
              <a:t>当 </a:t>
            </a:r>
            <a:r>
              <a:rPr lang="en-US" altLang="zh-CN" sz="2000" i="1" dirty="0"/>
              <a:t>p</a:t>
            </a:r>
            <a:r>
              <a:rPr lang="en-US" altLang="zh-CN" sz="2000" dirty="0"/>
              <a:t>=1 </a:t>
            </a:r>
            <a:r>
              <a:rPr lang="zh-CN" altLang="en-US" sz="2000" dirty="0"/>
              <a:t>时，称为</a:t>
            </a:r>
            <a:r>
              <a:rPr lang="zh-CN" altLang="en-US" sz="2000" b="1" dirty="0">
                <a:solidFill>
                  <a:srgbClr val="008000"/>
                </a:solidFill>
              </a:rPr>
              <a:t>线性收敛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/>
              <a:t>当 </a:t>
            </a:r>
            <a:r>
              <a:rPr lang="en-US" altLang="zh-CN" sz="2000" i="1" dirty="0"/>
              <a:t>p</a:t>
            </a:r>
            <a:r>
              <a:rPr lang="en-US" altLang="zh-CN" sz="2000" dirty="0"/>
              <a:t>=2 </a:t>
            </a:r>
            <a:r>
              <a:rPr lang="zh-CN" altLang="en-US" sz="2000" dirty="0"/>
              <a:t>时，称为</a:t>
            </a:r>
            <a:r>
              <a:rPr lang="zh-CN" altLang="en-US" sz="2000" b="1" dirty="0">
                <a:solidFill>
                  <a:srgbClr val="008000"/>
                </a:solidFill>
              </a:rPr>
              <a:t>平方收敛</a:t>
            </a:r>
            <a:r>
              <a:rPr lang="zh-CN" altLang="en-US" sz="2000" dirty="0"/>
              <a:t>或</a:t>
            </a:r>
            <a:r>
              <a:rPr lang="zh-CN" altLang="en-US" sz="2000" b="1" dirty="0">
                <a:solidFill>
                  <a:srgbClr val="008000"/>
                </a:solidFill>
              </a:rPr>
              <a:t>二次收敛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000" dirty="0"/>
          </a:p>
        </p:txBody>
      </p:sp>
      <p:sp>
        <p:nvSpPr>
          <p:cNvPr id="14" name="矩形 13"/>
          <p:cNvSpPr/>
          <p:nvPr/>
        </p:nvSpPr>
        <p:spPr>
          <a:xfrm>
            <a:off x="1041944" y="4149189"/>
            <a:ext cx="3807453" cy="5151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000" dirty="0"/>
              <a:t>当 </a:t>
            </a:r>
            <a:r>
              <a:rPr lang="en-US" altLang="zh-CN" sz="2000" dirty="0"/>
              <a:t>2&gt;</a:t>
            </a:r>
            <a:r>
              <a:rPr lang="en-US" altLang="zh-CN" sz="2000" i="1" dirty="0"/>
              <a:t>p</a:t>
            </a:r>
            <a:r>
              <a:rPr lang="en-US" altLang="zh-CN" sz="2000" dirty="0"/>
              <a:t>&gt;1 </a:t>
            </a:r>
            <a:r>
              <a:rPr lang="zh-CN" altLang="en-US" sz="2000" dirty="0"/>
              <a:t>时，称为</a:t>
            </a:r>
            <a:r>
              <a:rPr lang="zh-CN" altLang="en-US" sz="2000" b="1" dirty="0">
                <a:solidFill>
                  <a:srgbClr val="008000"/>
                </a:solidFill>
              </a:rPr>
              <a:t>超线性收敛</a:t>
            </a:r>
            <a:r>
              <a:rPr lang="zh-CN" altLang="en-US" sz="2000" dirty="0"/>
              <a:t>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1484320" y="2520332"/>
                <a:ext cx="3613617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  <m:t>𝑛</m:t>
                              </m:r>
                              <m: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itchFamily="2" charset="-122"/>
                        </a:rPr>
                        <m:t>≤</m:t>
                      </m:r>
                      <m:r>
                        <a:rPr lang="en-US" altLang="zh-CN" sz="28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altLang="zh-CN" sz="2800" kern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zh-CN" altLang="en-US" sz="2800" i="1" kern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‘</m:t>
                      </m:r>
                      <m:d>
                        <m:dPr>
                          <m:ctrlPr>
                            <a:rPr lang="en-US" altLang="zh-CN" sz="2800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l-GR" sz="2800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  <m:r>
                            <m:rPr>
                              <m:sty m:val="p"/>
                            </m:rPr>
                            <a:rPr lang="en-US" altLang="zh-CN" sz="2800" b="0" i="0" kern="0" baseline="-250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a:rPr lang="en-US" altLang="zh-CN" sz="2800" b="0" i="0" kern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800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altLang="zh-CN" sz="2800" b="0" i="1" kern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0" i="1" kern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</m:sSubSup>
                          <m:r>
                            <a:rPr lang="en-US" altLang="zh-CN" sz="2800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p/>
                      </m:sSup>
                    </m:oMath>
                  </m:oMathPara>
                </a14:m>
                <a:endParaRPr lang="zh-CN" altLang="en-US" kern="0" dirty="0">
                  <a:solidFill>
                    <a:srgbClr val="FF0000"/>
                  </a:solidFill>
                  <a:latin typeface="华文中宋" pitchFamily="2" charset="-122"/>
                  <a:ea typeface="华文中宋" pitchFamily="2" charset="-122"/>
                </a:endParaRP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320" y="2520332"/>
                <a:ext cx="3613617" cy="4103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1484320" y="3620251"/>
                <a:ext cx="3864199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  <m:t>𝑛</m:t>
                              </m:r>
                              <m: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itchFamily="2" charset="-122"/>
                        </a:rPr>
                        <m:t>≤</m:t>
                      </m:r>
                      <m:f>
                        <m:fPr>
                          <m:ctrlP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8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altLang="zh-CN" sz="2800" kern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zh-CN" altLang="en-US" sz="2800" i="1" kern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‘</m:t>
                      </m:r>
                      <m:r>
                        <a:rPr lang="zh-CN" altLang="en-US" sz="2800" i="1" kern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‘</m:t>
                      </m:r>
                      <m:d>
                        <m:dPr>
                          <m:ctrlPr>
                            <a:rPr lang="en-US" altLang="zh-CN" sz="2800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l-GR" sz="2800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  <m:r>
                            <m:rPr>
                              <m:sty m:val="p"/>
                            </m:rPr>
                            <a:rPr lang="en-US" altLang="zh-CN" sz="2800" b="0" i="0" kern="0" baseline="-250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a:rPr lang="en-US" altLang="zh-CN" sz="2800" b="0" i="0" kern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800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altLang="zh-CN" sz="2800" i="1" kern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 kern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</m:sSubSup>
                          <m:r>
                            <a:rPr lang="en-US" altLang="zh-CN" sz="2800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2800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kern="0" dirty="0">
                  <a:solidFill>
                    <a:srgbClr val="FF0000"/>
                  </a:solidFill>
                  <a:latin typeface="华文中宋" pitchFamily="2" charset="-122"/>
                  <a:ea typeface="华文中宋" pitchFamily="2" charset="-122"/>
                </a:endParaRPr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320" y="3620251"/>
                <a:ext cx="3864199" cy="410369"/>
              </a:xfrm>
              <a:prstGeom prst="rect">
                <a:avLst/>
              </a:prstGeom>
              <a:blipFill>
                <a:blip r:embed="rId4"/>
                <a:stretch>
                  <a:fillRect t="-73134" b="-537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1412986" y="5096447"/>
                <a:ext cx="4006866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  <m:t>𝑛</m:t>
                              </m:r>
                              <m:r>
                                <a:rPr lang="en-US" altLang="zh-CN" sz="2800" b="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itchFamily="2" charset="-122"/>
                        </a:rPr>
                        <m:t>≤</m:t>
                      </m:r>
                      <m:f>
                        <m:fPr>
                          <m:ctrlP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8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CN" sz="28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80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itchFamily="2" charset="-122"/>
                            </a:rPr>
                          </m:ctrlPr>
                        </m:sSupPr>
                        <m:e>
                          <m:r>
                            <a:rPr lang="zh-CN" altLang="en-US" sz="280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itchFamily="2" charset="-122"/>
                            </a:rPr>
                            <m:t>𝜑</m:t>
                          </m:r>
                        </m:e>
                        <m:sup>
                          <m:r>
                            <a:rPr lang="en-US" altLang="zh-CN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itchFamily="2" charset="-122"/>
                            </a:rPr>
                            <m:t>𝑝</m:t>
                          </m:r>
                        </m:sup>
                      </m:sSup>
                      <m:d>
                        <m:dPr>
                          <m:ctrlPr>
                            <a:rPr lang="en-US" altLang="zh-CN" sz="2800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l-GR" sz="2800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  <m:r>
                            <m:rPr>
                              <m:sty m:val="p"/>
                            </m:rPr>
                            <a:rPr lang="en-US" altLang="zh-CN" sz="2800" b="0" i="0" kern="0" baseline="-250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a:rPr lang="en-US" altLang="zh-CN" sz="2800" b="0" i="0" kern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800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altLang="zh-CN" sz="2800" i="1" kern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 kern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</m:sSubSup>
                          <m:r>
                            <a:rPr lang="en-US" altLang="zh-CN" sz="2800" b="0" i="1" kern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800" i="1" kern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zh-CN" altLang="en-US" sz="2800" kern="0" dirty="0">
                  <a:solidFill>
                    <a:srgbClr val="FF0000"/>
                  </a:solidFill>
                  <a:latin typeface="华文中宋" pitchFamily="2" charset="-122"/>
                  <a:ea typeface="华文中宋" pitchFamily="2" charset="-122"/>
                </a:endParaRPr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986" y="5096447"/>
                <a:ext cx="4006866" cy="410369"/>
              </a:xfrm>
              <a:prstGeom prst="rect">
                <a:avLst/>
              </a:prstGeom>
              <a:blipFill>
                <a:blip r:embed="rId5"/>
                <a:stretch>
                  <a:fillRect t="-86567" b="-597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6211387" y="2520331"/>
                <a:ext cx="2663742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  <m:t>𝑛</m:t>
                              </m:r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b="0" i="1" kern="0" baseline="-250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|)</m:t>
                          </m:r>
                        </m:e>
                        <m:sup/>
                      </m:sSup>
                    </m:oMath>
                  </m:oMathPara>
                </a14:m>
                <a:endParaRPr lang="en-US" altLang="zh-CN" kern="0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endParaRPr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387" y="2520331"/>
                <a:ext cx="2663742" cy="4103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6211386" y="3587210"/>
                <a:ext cx="3337059" cy="410369"/>
              </a:xfrm>
              <a:prstGeom prst="rect">
                <a:avLst/>
              </a:prstGeom>
              <a:gradFill>
                <a:gsLst>
                  <a:gs pos="10000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square" lIns="0" tIns="0" rIns="0" bIns="0" rtlCol="0">
                <a:spAutoFit/>
              </a:bodyPr>
              <a:lstStyle/>
              <a:p>
                <a:pPr marL="0" algn="ctr">
                  <a:lnSpc>
                    <a:spcPts val="3200"/>
                  </a:lnSpc>
                  <a:spcBef>
                    <a:spcPct val="20000"/>
                  </a:spcBef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  <m:t>𝑛</m:t>
                              </m:r>
                              <m:r>
                                <a:rPr lang="en-US" altLang="zh-CN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n-US" altLang="zh-CN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num>
                        <m:den>
                          <m:r>
                            <a:rPr lang="en-US" altLang="zh-CN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b="0" i="1" kern="0" baseline="-250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|)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b="0" i="1" kern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kern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altLang="zh-CN" kern="0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endParaRPr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386" y="3587210"/>
                <a:ext cx="3337059" cy="410369"/>
              </a:xfrm>
              <a:prstGeom prst="rect">
                <a:avLst/>
              </a:prstGeom>
              <a:blipFill>
                <a:blip r:embed="rId7"/>
                <a:stretch>
                  <a:fillRect t="-23529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777497"/>
              </p:ext>
            </p:extLst>
          </p:nvPr>
        </p:nvGraphicFramePr>
        <p:xfrm>
          <a:off x="5949061" y="4731890"/>
          <a:ext cx="3995700" cy="935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4" name="Equation" r:id="rId8" imgW="30937200" imgH="7239000" progId="Equation.DSMT4">
                  <p:embed/>
                </p:oleObj>
              </mc:Choice>
              <mc:Fallback>
                <p:oleObj name="Equation" r:id="rId8" imgW="30937200" imgH="7239000" progId="Equation.DSMT4">
                  <p:embed/>
                  <p:pic>
                    <p:nvPicPr>
                      <p:cNvPr id="2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9061" y="4731890"/>
                        <a:ext cx="3995700" cy="9350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6441413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6"/>
          <p:cNvSpPr>
            <a:spLocks noChangeArrowheads="1"/>
          </p:cNvSpPr>
          <p:nvPr/>
        </p:nvSpPr>
        <p:spPr bwMode="auto">
          <a:xfrm>
            <a:off x="1524000" y="2000250"/>
            <a:ext cx="2476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000">
                <a:cs typeface="Times New Roman" panose="02020603050405020304" pitchFamily="18" charset="0"/>
              </a:rPr>
              <a:t>  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5" name="Rectangle 17"/>
          <p:cNvSpPr>
            <a:spLocks noChangeArrowheads="1"/>
          </p:cNvSpPr>
          <p:nvPr/>
        </p:nvSpPr>
        <p:spPr bwMode="auto">
          <a:xfrm>
            <a:off x="1524000" y="2473325"/>
            <a:ext cx="2476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000">
                <a:cs typeface="Times New Roman" panose="02020603050405020304" pitchFamily="18" charset="0"/>
              </a:rPr>
              <a:t>  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1524000" y="2936875"/>
            <a:ext cx="2476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000">
                <a:cs typeface="Times New Roman" panose="02020603050405020304" pitchFamily="18" charset="0"/>
              </a:rPr>
              <a:t>  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7" name="Rectangle 19"/>
          <p:cNvSpPr>
            <a:spLocks noChangeArrowheads="1"/>
          </p:cNvSpPr>
          <p:nvPr/>
        </p:nvSpPr>
        <p:spPr bwMode="auto">
          <a:xfrm>
            <a:off x="1524000" y="3409950"/>
            <a:ext cx="2159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000">
                <a:cs typeface="Times New Roman" panose="02020603050405020304" pitchFamily="18" charset="0"/>
              </a:rPr>
              <a:t> 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auto">
          <a:xfrm flipV="1">
            <a:off x="1524000" y="3689350"/>
            <a:ext cx="9144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9" name="Rectangle 21"/>
          <p:cNvSpPr>
            <a:spLocks noChangeArrowheads="1"/>
          </p:cNvSpPr>
          <p:nvPr/>
        </p:nvSpPr>
        <p:spPr bwMode="auto">
          <a:xfrm>
            <a:off x="1524000" y="4111625"/>
            <a:ext cx="2476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000">
                <a:cs typeface="Times New Roman" panose="02020603050405020304" pitchFamily="18" charset="0"/>
              </a:rPr>
              <a:t>  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10" name="Rectangle 22"/>
          <p:cNvSpPr>
            <a:spLocks noChangeArrowheads="1"/>
          </p:cNvSpPr>
          <p:nvPr/>
        </p:nvSpPr>
        <p:spPr bwMode="auto">
          <a:xfrm>
            <a:off x="1524000" y="5038725"/>
            <a:ext cx="279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000">
                <a:cs typeface="Times New Roman" panose="02020603050405020304" pitchFamily="18" charset="0"/>
              </a:rPr>
              <a:t>   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graphicFrame>
        <p:nvGraphicFramePr>
          <p:cNvPr id="1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1491890"/>
              </p:ext>
            </p:extLst>
          </p:nvPr>
        </p:nvGraphicFramePr>
        <p:xfrm>
          <a:off x="1366912" y="1598613"/>
          <a:ext cx="9436286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3" name="Equation" r:id="rId3" imgW="62979300" imgH="11849100" progId="Equation.DSMT4">
                  <p:embed/>
                </p:oleObj>
              </mc:Choice>
              <mc:Fallback>
                <p:oleObj name="Equation" r:id="rId3" imgW="62979300" imgH="11849100" progId="Equation.DSMT4">
                  <p:embed/>
                  <p:pic>
                    <p:nvPicPr>
                      <p:cNvPr id="2355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912" y="1598613"/>
                        <a:ext cx="9436286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819446"/>
              </p:ext>
            </p:extLst>
          </p:nvPr>
        </p:nvGraphicFramePr>
        <p:xfrm>
          <a:off x="1366912" y="3394075"/>
          <a:ext cx="75755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4" name="Equation" r:id="rId5" imgW="64293750" imgH="4171950" progId="Equation.DSMT4">
                  <p:embed/>
                </p:oleObj>
              </mc:Choice>
              <mc:Fallback>
                <p:oleObj name="Equation" r:id="rId5" imgW="64293750" imgH="4171950" progId="Equation.DSMT4">
                  <p:embed/>
                  <p:pic>
                    <p:nvPicPr>
                      <p:cNvPr id="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912" y="3394075"/>
                        <a:ext cx="757555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/>
          <p:cNvGraphicFramePr>
            <a:graphicFrameLocks noChangeAspect="1"/>
          </p:cNvGraphicFramePr>
          <p:nvPr/>
        </p:nvGraphicFramePr>
        <p:xfrm>
          <a:off x="2462213" y="4581525"/>
          <a:ext cx="7110412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5" name="Equation" r:id="rId7" imgW="60340875" imgH="10753725" progId="Equation.DSMT4">
                  <p:embed/>
                </p:oleObj>
              </mc:Choice>
              <mc:Fallback>
                <p:oleObj name="Equation" r:id="rId7" imgW="60340875" imgH="10753725" progId="Equation.DSMT4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2213" y="4581525"/>
                        <a:ext cx="7110412" cy="131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标题 1"/>
          <p:cNvSpPr txBox="1">
            <a:spLocks/>
          </p:cNvSpPr>
          <p:nvPr/>
        </p:nvSpPr>
        <p:spPr>
          <a:xfrm>
            <a:off x="470296" y="631144"/>
            <a:ext cx="10363200" cy="768804"/>
          </a:xfrm>
          <a:prstGeom prst="rect">
            <a:avLst/>
          </a:prstGeom>
        </p:spPr>
        <p:txBody>
          <a:bodyPr bIns="91440" anchor="b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zh-CN" altLang="en-US" sz="2800" dirty="0"/>
              <a:t>非线性方程求根</a:t>
            </a:r>
            <a:br>
              <a:rPr lang="en-US" altLang="zh-CN" sz="2800" dirty="0"/>
            </a:b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86458194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830972" y="623161"/>
            <a:ext cx="10825880" cy="1450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例  设                     ,要使迭代过程</a:t>
            </a: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      局部</a:t>
            </a:r>
            <a:r>
              <a:rPr lang="zh-CN" altLang="en-US" sz="2400" b="1" dirty="0">
                <a:solidFill>
                  <a:srgbClr val="0070C0"/>
                </a:solidFill>
                <a:latin typeface="+mn-ea"/>
                <a:ea typeface="+mn-ea"/>
              </a:rPr>
              <a:t>最快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收敛到        ,求   的取值。</a:t>
            </a: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400" b="1" dirty="0">
                <a:solidFill>
                  <a:srgbClr val="7030A0"/>
                </a:solidFill>
                <a:latin typeface="+mn-ea"/>
                <a:ea typeface="+mn-ea"/>
              </a:rPr>
              <a:t> 解</a:t>
            </a:r>
            <a:r>
              <a:rPr lang="en-US" altLang="zh-CN" sz="2400" b="1" dirty="0">
                <a:solidFill>
                  <a:srgbClr val="7030A0"/>
                </a:solidFill>
                <a:latin typeface="+mn-ea"/>
                <a:ea typeface="+mn-ea"/>
              </a:rPr>
              <a:t>:</a:t>
            </a:r>
            <a:endParaRPr lang="zh-CN" altLang="en-US" sz="2400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322631"/>
              </p:ext>
            </p:extLst>
          </p:nvPr>
        </p:nvGraphicFramePr>
        <p:xfrm>
          <a:off x="2136356" y="677636"/>
          <a:ext cx="3027362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7" name="公式" r:id="rId3" imgW="1498320" imgH="241200" progId="Equation.3">
                  <p:embed/>
                </p:oleObj>
              </mc:Choice>
              <mc:Fallback>
                <p:oleObj name="公式" r:id="rId3" imgW="1498320" imgH="241200" progId="Equation.3">
                  <p:embed/>
                  <p:pic>
                    <p:nvPicPr>
                      <p:cNvPr id="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356" y="677636"/>
                        <a:ext cx="3027362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6314072"/>
              </p:ext>
            </p:extLst>
          </p:nvPr>
        </p:nvGraphicFramePr>
        <p:xfrm>
          <a:off x="7366618" y="710973"/>
          <a:ext cx="1371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8" r:id="rId5" imgW="800100" imgH="228600" progId="Equation.3">
                  <p:embed/>
                </p:oleObj>
              </mc:Choice>
              <mc:Fallback>
                <p:oleObj r:id="rId5" imgW="800100" imgH="228600" progId="Equation.3">
                  <p:embed/>
                  <p:pic>
                    <p:nvPicPr>
                      <p:cNvPr id="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618" y="710973"/>
                        <a:ext cx="1371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0523742"/>
              </p:ext>
            </p:extLst>
          </p:nvPr>
        </p:nvGraphicFramePr>
        <p:xfrm>
          <a:off x="4050161" y="1059734"/>
          <a:ext cx="12954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9" r:id="rId7" imgW="545863" imgH="228501" progId="Equation.3">
                  <p:embed/>
                </p:oleObj>
              </mc:Choice>
              <mc:Fallback>
                <p:oleObj r:id="rId7" imgW="545863" imgH="228501" progId="Equation.3">
                  <p:embed/>
                  <p:pic>
                    <p:nvPicPr>
                      <p:cNvPr id="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0161" y="1059734"/>
                        <a:ext cx="1295400" cy="550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650349"/>
              </p:ext>
            </p:extLst>
          </p:nvPr>
        </p:nvGraphicFramePr>
        <p:xfrm>
          <a:off x="5662705" y="1280035"/>
          <a:ext cx="3048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30" r:id="rId9" imgW="152334" imgH="139639" progId="Equation.3">
                  <p:embed/>
                </p:oleObj>
              </mc:Choice>
              <mc:Fallback>
                <p:oleObj r:id="rId9" imgW="152334" imgH="139639" progId="Equation.3">
                  <p:embed/>
                  <p:pic>
                    <p:nvPicPr>
                      <p:cNvPr id="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2705" y="1280035"/>
                        <a:ext cx="304800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253502"/>
              </p:ext>
            </p:extLst>
          </p:nvPr>
        </p:nvGraphicFramePr>
        <p:xfrm>
          <a:off x="2568766" y="1787657"/>
          <a:ext cx="32004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31" r:id="rId11" imgW="1282700" imgH="228600" progId="Equation.3">
                  <p:embed/>
                </p:oleObj>
              </mc:Choice>
              <mc:Fallback>
                <p:oleObj r:id="rId11" imgW="1282700" imgH="228600" progId="Equation.3">
                  <p:embed/>
                  <p:pic>
                    <p:nvPicPr>
                      <p:cNvPr id="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766" y="1787657"/>
                        <a:ext cx="3200400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827206"/>
              </p:ext>
            </p:extLst>
          </p:nvPr>
        </p:nvGraphicFramePr>
        <p:xfrm>
          <a:off x="2492566" y="2415279"/>
          <a:ext cx="3352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32" r:id="rId13" imgW="952087" imgH="203112" progId="Equation.3">
                  <p:embed/>
                </p:oleObj>
              </mc:Choice>
              <mc:Fallback>
                <p:oleObj r:id="rId13" imgW="952087" imgH="203112" progId="Equation.3">
                  <p:embed/>
                  <p:pic>
                    <p:nvPicPr>
                      <p:cNvPr id="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566" y="2415279"/>
                        <a:ext cx="33528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2415395" y="2904119"/>
            <a:ext cx="7878937" cy="490519"/>
            <a:chOff x="3124849" y="2669365"/>
            <a:chExt cx="7878937" cy="490519"/>
          </a:xfrm>
        </p:grpSpPr>
        <p:sp>
          <p:nvSpPr>
            <p:cNvPr id="12" name="矩形 11"/>
            <p:cNvSpPr/>
            <p:nvPr/>
          </p:nvSpPr>
          <p:spPr>
            <a:xfrm>
              <a:off x="3124849" y="2669365"/>
              <a:ext cx="7878937" cy="4905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  <a:spcBef>
                  <a:spcPct val="5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latin typeface="+mn-ea"/>
                </a:rPr>
                <a:t>由在根        邻域具有局部收敛性时, 收敛条件 </a:t>
              </a:r>
            </a:p>
          </p:txBody>
        </p:sp>
        <p:graphicFrame>
          <p:nvGraphicFramePr>
            <p:cNvPr id="13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9860712"/>
                </p:ext>
              </p:extLst>
            </p:nvPr>
          </p:nvGraphicFramePr>
          <p:xfrm>
            <a:off x="4211944" y="2693425"/>
            <a:ext cx="1262556" cy="4009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33" r:id="rId15" imgW="545863" imgH="228501" progId="Equation.3">
                    <p:embed/>
                  </p:oleObj>
                </mc:Choice>
                <mc:Fallback>
                  <p:oleObj r:id="rId15" imgW="545863" imgH="228501" progId="Equation.3">
                    <p:embed/>
                    <p:pic>
                      <p:nvPicPr>
                        <p:cNvPr id="11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1944" y="2693425"/>
                          <a:ext cx="1262556" cy="40094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944872"/>
              </p:ext>
            </p:extLst>
          </p:nvPr>
        </p:nvGraphicFramePr>
        <p:xfrm>
          <a:off x="2492566" y="3419964"/>
          <a:ext cx="34226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34" name="公式" r:id="rId16" imgW="1638000" imgH="330120" progId="Equation.3">
                  <p:embed/>
                </p:oleObj>
              </mc:Choice>
              <mc:Fallback>
                <p:oleObj name="公式" r:id="rId16" imgW="1638000" imgH="330120" progId="Equation.3">
                  <p:embed/>
                  <p:pic>
                    <p:nvPicPr>
                      <p:cNvPr id="1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566" y="3419964"/>
                        <a:ext cx="342265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2025057" y="4080118"/>
            <a:ext cx="4218855" cy="914400"/>
            <a:chOff x="2432675" y="4149897"/>
            <a:chExt cx="4218855" cy="914400"/>
          </a:xfrm>
        </p:grpSpPr>
        <p:sp>
          <p:nvSpPr>
            <p:cNvPr id="16" name="Text Box 23"/>
            <p:cNvSpPr txBox="1">
              <a:spLocks noChangeArrowheads="1"/>
            </p:cNvSpPr>
            <p:nvPr/>
          </p:nvSpPr>
          <p:spPr bwMode="auto">
            <a:xfrm>
              <a:off x="2432675" y="4376265"/>
              <a:ext cx="12954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0000"/>
                  </a:solidFill>
                  <a:latin typeface="+mn-ea"/>
                  <a:ea typeface="+mn-ea"/>
                </a:rPr>
                <a:t>所以</a:t>
              </a:r>
              <a:r>
                <a:rPr lang="zh-CN" altLang="en-US" dirty="0">
                  <a:latin typeface="+mn-ea"/>
                  <a:ea typeface="+mn-ea"/>
                </a:rPr>
                <a:t> </a:t>
              </a:r>
            </a:p>
          </p:txBody>
        </p:sp>
        <p:graphicFrame>
          <p:nvGraphicFramePr>
            <p:cNvPr id="17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3644644"/>
                </p:ext>
              </p:extLst>
            </p:nvPr>
          </p:nvGraphicFramePr>
          <p:xfrm>
            <a:off x="3374930" y="4149897"/>
            <a:ext cx="3276600" cy="914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35" r:id="rId18" imgW="850531" imgH="418918" progId="Equation.3">
                    <p:embed/>
                  </p:oleObj>
                </mc:Choice>
                <mc:Fallback>
                  <p:oleObj r:id="rId18" imgW="850531" imgH="418918" progId="Equation.3">
                    <p:embed/>
                    <p:pic>
                      <p:nvPicPr>
                        <p:cNvPr id="17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4930" y="4149897"/>
                          <a:ext cx="3276600" cy="914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737143"/>
              </p:ext>
            </p:extLst>
          </p:nvPr>
        </p:nvGraphicFramePr>
        <p:xfrm>
          <a:off x="2189081" y="5096673"/>
          <a:ext cx="38893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36" name="公式" r:id="rId20" imgW="1104840" imgH="215640" progId="Equation.3">
                  <p:embed/>
                </p:oleObj>
              </mc:Choice>
              <mc:Fallback>
                <p:oleObj name="公式" r:id="rId20" imgW="1104840" imgH="215640" progId="Equation.3">
                  <p:embed/>
                  <p:pic>
                    <p:nvPicPr>
                      <p:cNvPr id="1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081" y="5096673"/>
                        <a:ext cx="3889375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/>
          <p:cNvGrpSpPr/>
          <p:nvPr/>
        </p:nvGrpSpPr>
        <p:grpSpPr>
          <a:xfrm>
            <a:off x="1893294" y="5925257"/>
            <a:ext cx="7621188" cy="449263"/>
            <a:chOff x="1968500" y="6045200"/>
            <a:chExt cx="7621188" cy="449263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1" name="对象 2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143264134"/>
                    </p:ext>
                  </p:extLst>
                </p:nvPr>
              </p:nvGraphicFramePr>
              <p:xfrm>
                <a:off x="1968500" y="6045200"/>
                <a:ext cx="3735388" cy="44926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40037" name="公式" r:id="rId22" imgW="2006280" imgH="241200" progId="Equation.3">
                        <p:embed/>
                      </p:oleObj>
                    </mc:Choice>
                    <mc:Fallback>
                      <p:oleObj name="公式" r:id="rId22" imgW="2006280" imgH="241200" progId="Equation.3">
                        <p:embed/>
                        <p:pic>
                          <p:nvPicPr>
                            <p:cNvPr id="20" name="对象 19"/>
                            <p:cNvPicPr/>
                            <p:nvPr/>
                          </p:nvPicPr>
                          <p:blipFill>
                            <a:blip r:embed="rId2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968500" y="6045200"/>
                              <a:ext cx="3735388" cy="44926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0" name="对象 19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35811638"/>
                    </p:ext>
                  </p:extLst>
                </p:nvPr>
              </p:nvGraphicFramePr>
              <p:xfrm>
                <a:off x="1968500" y="6045200"/>
                <a:ext cx="3735388" cy="44926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18966" name="公式" r:id="rId25" imgW="2006280" imgH="241200" progId="Equation.3">
                        <p:embed/>
                      </p:oleObj>
                    </mc:Choice>
                    <mc:Fallback>
                      <p:oleObj name="公式" r:id="rId25" imgW="2006280" imgH="241200" progId="Equation.3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2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968500" y="6045200"/>
                              <a:ext cx="3735388" cy="44926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对象 21"/>
                <p:cNvSpPr txBox="1"/>
                <p:nvPr/>
              </p:nvSpPr>
              <p:spPr>
                <a:xfrm>
                  <a:off x="5844372" y="6100763"/>
                  <a:ext cx="1622425" cy="393700"/>
                </a:xfrm>
                <a:prstGeom prst="rect">
                  <a:avLst/>
                </a:prstGeom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2" name="对象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4372" y="6100763"/>
                  <a:ext cx="1622425" cy="39370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/>
                <p:cNvSpPr txBox="1"/>
                <p:nvPr/>
              </p:nvSpPr>
              <p:spPr>
                <a:xfrm>
                  <a:off x="7977708" y="6062602"/>
                  <a:ext cx="1611980" cy="410369"/>
                </a:xfrm>
                <a:prstGeom prst="rect">
                  <a:avLst/>
                </a:prstGeom>
                <a:gradFill>
                  <a:gsLst>
                    <a:gs pos="100000">
                      <a:srgbClr val="FFEFD1"/>
                    </a:gs>
                    <a:gs pos="64999">
                      <a:srgbClr val="F0EBD5"/>
                    </a:gs>
                    <a:gs pos="100000">
                      <a:srgbClr val="D1C39F"/>
                    </a:gs>
                  </a:gsLst>
                  <a:lin ang="5400000" scaled="0"/>
                </a:gra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algn="ctr">
                    <a:lnSpc>
                      <a:spcPts val="3200"/>
                    </a:lnSpc>
                    <a:spcBef>
                      <a:spcPct val="20000"/>
                    </a:spcBef>
                    <a:buFont typeface="Wingdings" pitchFamily="2" charset="2"/>
                    <a:buNone/>
                  </a:pPr>
                  <a14:m>
                    <m:oMath xmlns:m="http://schemas.openxmlformats.org/officeDocument/2006/math">
                      <m:r>
                        <a:rPr lang="zh-CN" altLang="en-US" sz="280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itchFamily="2" charset="-122"/>
                        </a:rPr>
                        <m:t>∴</m:t>
                      </m:r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itchFamily="2" charset="-122"/>
                        </a:rPr>
                        <m:t>𝑎</m:t>
                      </m:r>
                      <m:r>
                        <a:rPr lang="en-US" altLang="zh-CN" sz="28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itchFamily="2" charset="-122"/>
                            </a:rPr>
                          </m:ctrlPr>
                        </m:fPr>
                        <m:num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itchFamily="2" charset="-122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altLang="zh-CN" sz="28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  <m:t>5</m:t>
                              </m:r>
                            </m:e>
                          </m:rad>
                        </m:num>
                        <m:den>
                          <m:r>
                            <a:rPr lang="en-US" altLang="zh-CN" sz="28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itchFamily="2" charset="-122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zh-CN" altLang="en-US" sz="2800" kern="0" dirty="0">
                      <a:solidFill>
                        <a:schemeClr val="tx1"/>
                      </a:solidFill>
                      <a:latin typeface="华文中宋" pitchFamily="2" charset="-122"/>
                      <a:ea typeface="华文中宋" pitchFamily="2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7708" y="6062602"/>
                  <a:ext cx="1611980" cy="410369"/>
                </a:xfrm>
                <a:prstGeom prst="rect">
                  <a:avLst/>
                </a:prstGeom>
                <a:blipFill>
                  <a:blip r:embed="rId31"/>
                  <a:stretch>
                    <a:fillRect t="-35821" b="-149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07501944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1"/>
          <p:cNvGrpSpPr>
            <a:grpSpLocks/>
          </p:cNvGrpSpPr>
          <p:nvPr/>
        </p:nvGrpSpPr>
        <p:grpSpPr bwMode="auto">
          <a:xfrm>
            <a:off x="1415480" y="476250"/>
            <a:ext cx="8588945" cy="1223963"/>
            <a:chOff x="687388" y="476250"/>
            <a:chExt cx="7793037" cy="1223963"/>
          </a:xfrm>
        </p:grpSpPr>
        <p:sp>
          <p:nvSpPr>
            <p:cNvPr id="33805" name="Rectangle 2"/>
            <p:cNvSpPr txBox="1">
              <a:spLocks noChangeArrowheads="1"/>
            </p:cNvSpPr>
            <p:nvPr/>
          </p:nvSpPr>
          <p:spPr bwMode="auto">
            <a:xfrm>
              <a:off x="687388" y="476250"/>
              <a:ext cx="7793037" cy="1223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600" b="1" dirty="0">
                  <a:solidFill>
                    <a:srgbClr val="FF0000"/>
                  </a:solidFill>
                </a:rPr>
                <a:t>【</a:t>
              </a:r>
              <a:r>
                <a:rPr lang="zh-CN" altLang="en-US" sz="2600" b="1" dirty="0">
                  <a:solidFill>
                    <a:srgbClr val="FF0000"/>
                  </a:solidFill>
                </a:rPr>
                <a:t>例</a:t>
              </a:r>
              <a:r>
                <a:rPr lang="en-US" altLang="zh-CN" sz="2600" b="1" dirty="0">
                  <a:solidFill>
                    <a:srgbClr val="FF0000"/>
                  </a:solidFill>
                </a:rPr>
                <a:t>】</a:t>
              </a:r>
              <a:r>
                <a:rPr lang="zh-CN" altLang="en-US" sz="2600" dirty="0"/>
                <a:t>迭代过程     　　　　　在</a:t>
              </a:r>
              <a:r>
                <a:rPr lang="en-US" altLang="zh-CN" sz="2600" dirty="0"/>
                <a:t>[-1</a:t>
              </a:r>
              <a:r>
                <a:rPr lang="zh-CN" altLang="en-US" sz="2600" dirty="0"/>
                <a:t>，</a:t>
              </a:r>
              <a:r>
                <a:rPr lang="en-US" altLang="zh-CN" sz="2600" dirty="0"/>
                <a:t>2]</a:t>
              </a:r>
              <a:r>
                <a:rPr lang="zh-CN" altLang="en-US" sz="2600" dirty="0"/>
                <a:t>区间是否收敛？如发散， 试构造一收敛的迭代公式。</a:t>
              </a:r>
            </a:p>
          </p:txBody>
        </p:sp>
        <p:graphicFrame>
          <p:nvGraphicFramePr>
            <p:cNvPr id="3380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9778119"/>
                </p:ext>
              </p:extLst>
            </p:nvPr>
          </p:nvGraphicFramePr>
          <p:xfrm>
            <a:off x="3043548" y="602456"/>
            <a:ext cx="1625600" cy="485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23" name="Equation" r:id="rId3" imgW="13820775" imgH="4171950" progId="Equation.DSMT4">
                    <p:embed/>
                  </p:oleObj>
                </mc:Choice>
                <mc:Fallback>
                  <p:oleObj name="Equation" r:id="rId3" imgW="13820775" imgH="4171950" progId="Equation.DSMT4">
                    <p:embed/>
                    <p:pic>
                      <p:nvPicPr>
                        <p:cNvPr id="3380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3548" y="602456"/>
                          <a:ext cx="1625600" cy="485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3"/>
          <p:cNvGrpSpPr>
            <a:grpSpLocks/>
          </p:cNvGrpSpPr>
          <p:nvPr/>
        </p:nvGrpSpPr>
        <p:grpSpPr bwMode="auto">
          <a:xfrm>
            <a:off x="2208213" y="1844675"/>
            <a:ext cx="7772400" cy="2592388"/>
            <a:chOff x="684213" y="1844675"/>
            <a:chExt cx="7772400" cy="2592437"/>
          </a:xfrm>
        </p:grpSpPr>
        <p:sp>
          <p:nvSpPr>
            <p:cNvPr id="33800" name="Rectangle 3"/>
            <p:cNvSpPr txBox="1">
              <a:spLocks noChangeArrowheads="1"/>
            </p:cNvSpPr>
            <p:nvPr/>
          </p:nvSpPr>
          <p:spPr bwMode="auto">
            <a:xfrm>
              <a:off x="684213" y="1844675"/>
              <a:ext cx="7772400" cy="2592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	解：迭代求根的方程为                         </a:t>
              </a:r>
              <a:r>
                <a:rPr lang="en-US" altLang="zh-CN" sz="2400" dirty="0"/>
                <a:t>. </a:t>
              </a:r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       </a:t>
              </a:r>
              <a:r>
                <a:rPr lang="zh-CN" altLang="en-US" sz="2400" dirty="0"/>
                <a:t>设                             ，则 </a:t>
              </a: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 </a:t>
              </a:r>
              <a:r>
                <a:rPr lang="zh-CN" altLang="en-US" sz="2400" dirty="0"/>
                <a:t>故方程         </a:t>
              </a:r>
              <a:r>
                <a:rPr lang="en-US" altLang="zh-CN" sz="2400" i="1" dirty="0"/>
                <a:t>          </a:t>
              </a:r>
              <a:r>
                <a:rPr lang="zh-CN" altLang="en-US" sz="2400" dirty="0"/>
                <a:t>在区间</a:t>
              </a:r>
              <a:r>
                <a:rPr lang="en-US" altLang="zh-CN" sz="2400" dirty="0"/>
                <a:t>[-1, 2]</a:t>
              </a:r>
              <a:r>
                <a:rPr lang="zh-CN" altLang="en-US" sz="2400" dirty="0"/>
                <a:t>内有根</a:t>
              </a:r>
              <a:r>
                <a:rPr lang="en-US" altLang="zh-CN" sz="2400" dirty="0"/>
                <a:t>.</a:t>
              </a:r>
            </a:p>
          </p:txBody>
        </p:sp>
        <p:graphicFrame>
          <p:nvGraphicFramePr>
            <p:cNvPr id="33801" name="Object 6"/>
            <p:cNvGraphicFramePr>
              <a:graphicFrameLocks noChangeAspect="1"/>
            </p:cNvGraphicFramePr>
            <p:nvPr/>
          </p:nvGraphicFramePr>
          <p:xfrm>
            <a:off x="4208463" y="1930400"/>
            <a:ext cx="1871662" cy="449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24" name="Equation" r:id="rId5" imgW="14478000" imgH="3514725" progId="Equation.DSMT4">
                    <p:embed/>
                  </p:oleObj>
                </mc:Choice>
                <mc:Fallback>
                  <p:oleObj name="Equation" r:id="rId5" imgW="14478000" imgH="3514725" progId="Equation.DSMT4">
                    <p:embed/>
                    <p:pic>
                      <p:nvPicPr>
                        <p:cNvPr id="33801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8463" y="1930400"/>
                          <a:ext cx="1871662" cy="449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2" name="Object 7"/>
            <p:cNvGraphicFramePr>
              <a:graphicFrameLocks noChangeAspect="1"/>
            </p:cNvGraphicFramePr>
            <p:nvPr/>
          </p:nvGraphicFramePr>
          <p:xfrm>
            <a:off x="2047875" y="2565400"/>
            <a:ext cx="2232025" cy="485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25" name="Equation" r:id="rId7" imgW="17992725" imgH="3952875" progId="Equation.DSMT4">
                    <p:embed/>
                  </p:oleObj>
                </mc:Choice>
                <mc:Fallback>
                  <p:oleObj name="Equation" r:id="rId7" imgW="17992725" imgH="3952875" progId="Equation.DSMT4">
                    <p:embed/>
                    <p:pic>
                      <p:nvPicPr>
                        <p:cNvPr id="33802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7875" y="2565400"/>
                          <a:ext cx="2232025" cy="485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3" name="Object 5"/>
            <p:cNvGraphicFramePr>
              <a:graphicFrameLocks noChangeAspect="1"/>
            </p:cNvGraphicFramePr>
            <p:nvPr/>
          </p:nvGraphicFramePr>
          <p:xfrm>
            <a:off x="2239963" y="3213100"/>
            <a:ext cx="4056062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26" name="Equation" r:id="rId9" imgW="32699325" imgH="3514725" progId="Equation.DSMT4">
                    <p:embed/>
                  </p:oleObj>
                </mc:Choice>
                <mc:Fallback>
                  <p:oleObj name="Equation" r:id="rId9" imgW="32699325" imgH="3514725" progId="Equation.DSMT4">
                    <p:embed/>
                    <p:pic>
                      <p:nvPicPr>
                        <p:cNvPr id="3380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9963" y="3213100"/>
                          <a:ext cx="4056062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4" name="Object 7"/>
            <p:cNvGraphicFramePr>
              <a:graphicFrameLocks noChangeAspect="1"/>
            </p:cNvGraphicFramePr>
            <p:nvPr/>
          </p:nvGraphicFramePr>
          <p:xfrm>
            <a:off x="2263775" y="3860800"/>
            <a:ext cx="122555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27" name="Equation" r:id="rId11" imgW="9877425" imgH="3514725" progId="Equation.DSMT4">
                    <p:embed/>
                  </p:oleObj>
                </mc:Choice>
                <mc:Fallback>
                  <p:oleObj name="Equation" r:id="rId11" imgW="9877425" imgH="3514725" progId="Equation.DSMT4">
                    <p:embed/>
                    <p:pic>
                      <p:nvPicPr>
                        <p:cNvPr id="33804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3775" y="3860800"/>
                          <a:ext cx="122555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4"/>
          <p:cNvGrpSpPr>
            <a:grpSpLocks/>
          </p:cNvGrpSpPr>
          <p:nvPr/>
        </p:nvGrpSpPr>
        <p:grpSpPr bwMode="auto">
          <a:xfrm>
            <a:off x="2571750" y="4365625"/>
            <a:ext cx="7772400" cy="2087563"/>
            <a:chOff x="1048072" y="4365104"/>
            <a:chExt cx="7772400" cy="2088232"/>
          </a:xfrm>
        </p:grpSpPr>
        <p:graphicFrame>
          <p:nvGraphicFramePr>
            <p:cNvPr id="33797" name="Object 10"/>
            <p:cNvGraphicFramePr>
              <a:graphicFrameLocks noChangeAspect="1"/>
            </p:cNvGraphicFramePr>
            <p:nvPr/>
          </p:nvGraphicFramePr>
          <p:xfrm>
            <a:off x="1890713" y="4449762"/>
            <a:ext cx="1651000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28" name="Equation" r:id="rId13" imgW="14039850" imgH="3952875" progId="Equation.DSMT4">
                    <p:embed/>
                  </p:oleObj>
                </mc:Choice>
                <mc:Fallback>
                  <p:oleObj name="Equation" r:id="rId13" imgW="14039850" imgH="3952875" progId="Equation.DSMT4">
                    <p:embed/>
                    <p:pic>
                      <p:nvPicPr>
                        <p:cNvPr id="33797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0713" y="4449762"/>
                          <a:ext cx="1651000" cy="460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798" name="Object 11"/>
            <p:cNvGraphicFramePr>
              <a:graphicFrameLocks noChangeAspect="1"/>
            </p:cNvGraphicFramePr>
            <p:nvPr/>
          </p:nvGraphicFramePr>
          <p:xfrm>
            <a:off x="3893145" y="5057775"/>
            <a:ext cx="3559175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29" name="Equation" r:id="rId15" imgW="30279975" imgH="3952875" progId="Equation.DSMT4">
                    <p:embed/>
                  </p:oleObj>
                </mc:Choice>
                <mc:Fallback>
                  <p:oleObj name="Equation" r:id="rId15" imgW="30279975" imgH="3952875" progId="Equation.DSMT4">
                    <p:embed/>
                    <p:pic>
                      <p:nvPicPr>
                        <p:cNvPr id="33798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3145" y="5057775"/>
                          <a:ext cx="3559175" cy="460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799" name="Rectangle 3"/>
            <p:cNvSpPr txBox="1">
              <a:spLocks noChangeArrowheads="1"/>
            </p:cNvSpPr>
            <p:nvPr/>
          </p:nvSpPr>
          <p:spPr bwMode="auto">
            <a:xfrm>
              <a:off x="1048072" y="4365104"/>
              <a:ext cx="7772400" cy="2088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题中       </a:t>
              </a:r>
              <a:r>
                <a:rPr lang="en-US" altLang="zh-CN" sz="2400" i="1" dirty="0">
                  <a:sym typeface="Symbol" panose="05050102010706020507" pitchFamily="18" charset="2"/>
                </a:rPr>
                <a:t>               </a:t>
              </a:r>
              <a:r>
                <a:rPr lang="zh-CN" altLang="en-US" sz="2400" dirty="0"/>
                <a:t>，</a:t>
              </a: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  </a:t>
              </a:r>
              <a:r>
                <a:rPr lang="zh-CN" altLang="en-US" sz="2400" dirty="0"/>
                <a:t>当 </a:t>
              </a:r>
              <a:r>
                <a:rPr lang="en-US" altLang="zh-CN" sz="2400" i="1" dirty="0"/>
                <a:t>x</a:t>
              </a:r>
              <a:r>
                <a:rPr lang="en-US" altLang="zh-CN" sz="2400" dirty="0">
                  <a:sym typeface="Symbol" panose="05050102010706020507" pitchFamily="18" charset="2"/>
                </a:rPr>
                <a:t>[1,2] </a:t>
              </a:r>
              <a:r>
                <a:rPr lang="zh-CN" altLang="en-US" sz="2400" dirty="0"/>
                <a:t>时</a:t>
              </a:r>
              <a:r>
                <a:rPr lang="en-US" altLang="zh-CN" sz="2400" dirty="0"/>
                <a:t>,  </a:t>
              </a:r>
              <a:r>
                <a:rPr lang="zh-CN" altLang="en-US" sz="2400" dirty="0"/>
                <a:t>有</a:t>
              </a: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en-US" altLang="zh-CN" sz="2400" dirty="0"/>
                <a:t>    </a:t>
              </a:r>
              <a:r>
                <a:rPr lang="zh-CN" altLang="en-US" sz="2400" dirty="0"/>
                <a:t>由定理</a:t>
              </a:r>
              <a:r>
                <a:rPr lang="en-US" altLang="zh-CN" sz="2400" dirty="0"/>
                <a:t>1</a:t>
              </a:r>
              <a:r>
                <a:rPr lang="zh-CN" altLang="en-US" sz="2400" dirty="0"/>
                <a:t>，迭代公式不能用来迭代求根</a:t>
              </a:r>
              <a:r>
                <a:rPr lang="en-US" altLang="zh-CN" sz="2400" dirty="0"/>
                <a:t>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770567" y="1693994"/>
            <a:ext cx="3147165" cy="883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>
              <a:lnSpc>
                <a:spcPts val="32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kern="0" dirty="0">
                <a:solidFill>
                  <a:srgbClr val="002060"/>
                </a:solidFill>
                <a:latin typeface="华文中宋" pitchFamily="2" charset="-122"/>
                <a:ea typeface="华文中宋" pitchFamily="2" charset="-122"/>
              </a:rPr>
              <a:t>提示：先判定是否有根，再判定是否收敛</a:t>
            </a:r>
          </a:p>
        </p:txBody>
      </p:sp>
    </p:spTree>
    <p:extLst>
      <p:ext uri="{BB962C8B-B14F-4D97-AF65-F5344CB8AC3E}">
        <p14:creationId xmlns:p14="http://schemas.microsoft.com/office/powerpoint/2010/main" val="1585492976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组合 8"/>
          <p:cNvGrpSpPr>
            <a:grpSpLocks/>
          </p:cNvGrpSpPr>
          <p:nvPr/>
        </p:nvGrpSpPr>
        <p:grpSpPr bwMode="auto">
          <a:xfrm>
            <a:off x="2063750" y="333375"/>
            <a:ext cx="7772400" cy="6048375"/>
            <a:chOff x="468313" y="549275"/>
            <a:chExt cx="7772400" cy="6048375"/>
          </a:xfrm>
        </p:grpSpPr>
        <p:sp>
          <p:nvSpPr>
            <p:cNvPr id="34820" name="Rectangle 3"/>
            <p:cNvSpPr txBox="1">
              <a:spLocks noChangeArrowheads="1"/>
            </p:cNvSpPr>
            <p:nvPr/>
          </p:nvSpPr>
          <p:spPr bwMode="auto">
            <a:xfrm>
              <a:off x="468313" y="549275"/>
              <a:ext cx="7772400" cy="6048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　把方程                           改写为</a:t>
              </a: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此时                 </a:t>
              </a:r>
              <a:r>
                <a:rPr lang="en-US" altLang="zh-CN" sz="2400" i="1" dirty="0">
                  <a:sym typeface="Symbol" panose="05050102010706020507" pitchFamily="18" charset="2"/>
                </a:rPr>
                <a:t>                      </a:t>
              </a:r>
              <a:r>
                <a:rPr lang="en-US" altLang="zh-CN" sz="2400" dirty="0"/>
                <a:t>, </a:t>
              </a:r>
              <a:r>
                <a:rPr lang="zh-CN" altLang="en-US" sz="2400" dirty="0"/>
                <a:t>则</a:t>
              </a:r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     </a:t>
              </a:r>
              <a:r>
                <a:rPr lang="en-US" altLang="zh-CN" sz="2400" dirty="0"/>
                <a:t>1°</a:t>
              </a:r>
              <a:r>
                <a:rPr lang="zh-CN" altLang="en-US" sz="2400" dirty="0"/>
                <a:t>当 </a:t>
              </a:r>
              <a:r>
                <a:rPr lang="en-US" altLang="zh-CN" sz="2400" i="1" dirty="0"/>
                <a:t>x</a:t>
              </a:r>
              <a:r>
                <a:rPr lang="en-US" altLang="zh-CN" sz="2400" dirty="0">
                  <a:sym typeface="Symbol" panose="05050102010706020507" pitchFamily="18" charset="2"/>
                </a:rPr>
                <a:t>[1,2]</a:t>
              </a:r>
              <a:r>
                <a:rPr lang="zh-CN" altLang="en-US" sz="2400" dirty="0"/>
                <a:t>时，有</a:t>
              </a:r>
              <a:endParaRPr lang="en-US" altLang="zh-CN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 </a:t>
              </a:r>
              <a:r>
                <a:rPr lang="zh-CN" altLang="en-US" sz="2400" dirty="0"/>
                <a:t> </a:t>
              </a:r>
              <a:endParaRPr lang="en-US" altLang="zh-CN" sz="2800" dirty="0">
                <a:sym typeface="Symbol" panose="05050102010706020507" pitchFamily="18" charset="2"/>
              </a:endParaRPr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en-US" altLang="zh-CN" sz="2400" dirty="0"/>
                <a:t>     2°</a:t>
              </a:r>
              <a:r>
                <a:rPr lang="en-US" altLang="zh-CN" sz="2400" dirty="0">
                  <a:sym typeface="Symbol" panose="05050102010706020507" pitchFamily="18" charset="2"/>
                </a:rPr>
                <a:t></a:t>
              </a:r>
              <a:r>
                <a:rPr lang="en-US" altLang="zh-CN" sz="2400" i="1" dirty="0"/>
                <a:t>x</a:t>
              </a:r>
              <a:r>
                <a:rPr lang="en-US" altLang="zh-CN" sz="2400" dirty="0">
                  <a:sym typeface="Symbol" panose="05050102010706020507" pitchFamily="18" charset="2"/>
                </a:rPr>
                <a:t>[1,2]</a:t>
              </a:r>
              <a:r>
                <a:rPr lang="en-US" altLang="zh-CN" sz="2400" dirty="0"/>
                <a:t> </a:t>
              </a:r>
              <a:r>
                <a:rPr lang="zh-CN" altLang="en-US" sz="2400" dirty="0"/>
                <a:t>，有</a:t>
              </a:r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endParaRPr lang="zh-CN" altLang="en-US" sz="2400" dirty="0"/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　</a:t>
              </a:r>
            </a:p>
            <a:p>
              <a:pPr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/>
                <a:t>　        故可用迭代公式           </a:t>
              </a:r>
              <a:r>
                <a:rPr lang="en-US" altLang="zh-CN" sz="2400" i="1" dirty="0"/>
                <a:t>                             </a:t>
              </a:r>
              <a:r>
                <a:rPr lang="zh-CN" altLang="en-US" sz="2400" dirty="0"/>
                <a:t>来求解</a:t>
              </a:r>
              <a:r>
                <a:rPr lang="en-US" altLang="zh-CN" sz="2400" dirty="0">
                  <a:sym typeface="Symbol" panose="05050102010706020507" pitchFamily="18" charset="2"/>
                </a:rPr>
                <a:t>(1, 2)</a:t>
              </a:r>
              <a:r>
                <a:rPr lang="zh-CN" altLang="en-US" sz="2400" dirty="0"/>
                <a:t>区间内的唯一根</a:t>
              </a:r>
              <a:r>
                <a:rPr lang="en-US" altLang="zh-CN" sz="2400" dirty="0"/>
                <a:t>. </a:t>
              </a:r>
            </a:p>
          </p:txBody>
        </p:sp>
        <p:graphicFrame>
          <p:nvGraphicFramePr>
            <p:cNvPr id="34821" name="Object 6"/>
            <p:cNvGraphicFramePr>
              <a:graphicFrameLocks noChangeAspect="1"/>
            </p:cNvGraphicFramePr>
            <p:nvPr/>
          </p:nvGraphicFramePr>
          <p:xfrm>
            <a:off x="1403350" y="4581525"/>
            <a:ext cx="5616575" cy="922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42" name="Equation" r:id="rId3" imgW="43224450" imgH="7019925" progId="Equation.DSMT4">
                    <p:embed/>
                  </p:oleObj>
                </mc:Choice>
                <mc:Fallback>
                  <p:oleObj name="Equation" r:id="rId3" imgW="43224450" imgH="7019925" progId="Equation.DSMT4">
                    <p:embed/>
                    <p:pic>
                      <p:nvPicPr>
                        <p:cNvPr id="34821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3350" y="4581525"/>
                          <a:ext cx="5616575" cy="922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2" name="Object 2"/>
            <p:cNvGraphicFramePr>
              <a:graphicFrameLocks noChangeAspect="1"/>
            </p:cNvGraphicFramePr>
            <p:nvPr/>
          </p:nvGraphicFramePr>
          <p:xfrm>
            <a:off x="2633663" y="1268413"/>
            <a:ext cx="2370137" cy="436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43" name="Equation" r:id="rId5" imgW="18869025" imgH="3514725" progId="Equation.DSMT4">
                    <p:embed/>
                  </p:oleObj>
                </mc:Choice>
                <mc:Fallback>
                  <p:oleObj name="Equation" r:id="rId5" imgW="18869025" imgH="3514725" progId="Equation.DSMT4">
                    <p:embed/>
                    <p:pic>
                      <p:nvPicPr>
                        <p:cNvPr id="34822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3663" y="1268413"/>
                          <a:ext cx="2370137" cy="4365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3" name="Object 4"/>
            <p:cNvGraphicFramePr>
              <a:graphicFrameLocks noChangeAspect="1"/>
            </p:cNvGraphicFramePr>
            <p:nvPr/>
          </p:nvGraphicFramePr>
          <p:xfrm>
            <a:off x="1187450" y="1916113"/>
            <a:ext cx="2892425" cy="449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44" name="Equation" r:id="rId7" imgW="22383750" imgH="3514725" progId="Equation.DSMT4">
                    <p:embed/>
                  </p:oleObj>
                </mc:Choice>
                <mc:Fallback>
                  <p:oleObj name="Equation" r:id="rId7" imgW="22383750" imgH="3514725" progId="Equation.DSMT4">
                    <p:embed/>
                    <p:pic>
                      <p:nvPicPr>
                        <p:cNvPr id="34823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7450" y="1916113"/>
                          <a:ext cx="2892425" cy="449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4" name="Object 5"/>
            <p:cNvGraphicFramePr>
              <a:graphicFrameLocks noChangeAspect="1"/>
            </p:cNvGraphicFramePr>
            <p:nvPr/>
          </p:nvGraphicFramePr>
          <p:xfrm>
            <a:off x="2098675" y="3141663"/>
            <a:ext cx="3841750" cy="550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45" name="Equation" r:id="rId9" imgW="30279975" imgH="4391025" progId="Equation.DSMT4">
                    <p:embed/>
                  </p:oleObj>
                </mc:Choice>
                <mc:Fallback>
                  <p:oleObj name="Equation" r:id="rId9" imgW="30279975" imgH="4391025" progId="Equation.DSMT4">
                    <p:embed/>
                    <p:pic>
                      <p:nvPicPr>
                        <p:cNvPr id="34824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8675" y="3141663"/>
                          <a:ext cx="3841750" cy="5508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5" name="Object 7"/>
            <p:cNvGraphicFramePr>
              <a:graphicFrameLocks noChangeAspect="1"/>
            </p:cNvGraphicFramePr>
            <p:nvPr/>
          </p:nvGraphicFramePr>
          <p:xfrm>
            <a:off x="3704291" y="5648232"/>
            <a:ext cx="2779713" cy="485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46" name="Equation" r:id="rId11" imgW="22383750" imgH="3952875" progId="Equation.DSMT4">
                    <p:embed/>
                  </p:oleObj>
                </mc:Choice>
                <mc:Fallback>
                  <p:oleObj name="Equation" r:id="rId11" imgW="22383750" imgH="3952875" progId="Equation.DSMT4">
                    <p:embed/>
                    <p:pic>
                      <p:nvPicPr>
                        <p:cNvPr id="34825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4291" y="5648232"/>
                          <a:ext cx="2779713" cy="485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819" name="Object 9"/>
          <p:cNvGraphicFramePr>
            <a:graphicFrameLocks noChangeAspect="1"/>
          </p:cNvGraphicFramePr>
          <p:nvPr/>
        </p:nvGraphicFramePr>
        <p:xfrm>
          <a:off x="3513138" y="409575"/>
          <a:ext cx="187166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47" name="Equation" r:id="rId13" imgW="14478000" imgH="3514725" progId="Equation.DSMT4">
                  <p:embed/>
                </p:oleObj>
              </mc:Choice>
              <mc:Fallback>
                <p:oleObj name="Equation" r:id="rId13" imgW="14478000" imgH="3514725" progId="Equation.DSMT4">
                  <p:embed/>
                  <p:pic>
                    <p:nvPicPr>
                      <p:cNvPr id="3481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3138" y="409575"/>
                        <a:ext cx="187166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6387259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数值计算</a:t>
            </a:r>
            <a:r>
              <a:rPr lang="en-US" altLang="zh-CN" dirty="0"/>
              <a:t>-</a:t>
            </a:r>
            <a:r>
              <a:rPr lang="zh-CN" altLang="en-US" dirty="0"/>
              <a:t>插值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62955" y="1098510"/>
            <a:ext cx="10898378" cy="4804682"/>
          </a:xfrm>
        </p:spPr>
        <p:txBody>
          <a:bodyPr/>
          <a:lstStyle/>
          <a:p>
            <a:r>
              <a:rPr lang="zh-CN" altLang="en-US" dirty="0"/>
              <a:t>插值</a:t>
            </a:r>
            <a:endParaRPr lang="en-US" altLang="zh-CN" dirty="0"/>
          </a:p>
          <a:p>
            <a:pPr lvl="1"/>
            <a:r>
              <a:rPr lang="zh-CN" altLang="en-US" dirty="0"/>
              <a:t>拉格朗日插值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牛顿插值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插值余项（</a:t>
            </a:r>
            <a:r>
              <a:rPr lang="en-US" altLang="zh-CN" dirty="0"/>
              <a:t>n</a:t>
            </a:r>
            <a:r>
              <a:rPr lang="zh-CN" altLang="en-US" dirty="0"/>
              <a:t>阶连续）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386754" y="4423660"/>
                <a:ext cx="3418180" cy="10533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sz="2400" dirty="0"/>
                  <a:t>(x)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754" y="4423660"/>
                <a:ext cx="3418180" cy="1053365"/>
              </a:xfrm>
              <a:prstGeom prst="rect">
                <a:avLst/>
              </a:prstGeom>
              <a:blipFill>
                <a:blip r:embed="rId3"/>
                <a:stretch>
                  <a:fillRect r="-19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2316412" y="2423574"/>
                <a:ext cx="7174785" cy="7912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baseline="-2500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…(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baseline="-2500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…(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412" y="2423574"/>
                <a:ext cx="7174785" cy="7912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6608" y="1712193"/>
            <a:ext cx="5014395" cy="6553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119093" y="5685830"/>
                <a:ext cx="44984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i="1" baseline="-250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i="1" baseline="-250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…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093" y="5685830"/>
                <a:ext cx="4498476" cy="400110"/>
              </a:xfrm>
              <a:prstGeom prst="rect">
                <a:avLst/>
              </a:prstGeom>
              <a:blipFill>
                <a:blip r:embed="rId6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789349"/>
              </p:ext>
            </p:extLst>
          </p:nvPr>
        </p:nvGraphicFramePr>
        <p:xfrm>
          <a:off x="2786191" y="3154600"/>
          <a:ext cx="7129462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7" name="Equation" r:id="rId7" imgW="53320950" imgH="7896225" progId="Equation.DSMT4">
                  <p:embed/>
                </p:oleObj>
              </mc:Choice>
              <mc:Fallback>
                <p:oleObj name="Equation" r:id="rId7" imgW="53320950" imgH="7896225" progId="Equation.DSMT4">
                  <p:embed/>
                  <p:pic>
                    <p:nvPicPr>
                      <p:cNvPr id="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191" y="3154600"/>
                        <a:ext cx="7129462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5804934" y="4950342"/>
                <a:ext cx="3610476" cy="369332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934" y="4950342"/>
                <a:ext cx="3610476" cy="369332"/>
              </a:xfrm>
              <a:prstGeom prst="rect">
                <a:avLst/>
              </a:prstGeom>
              <a:blipFill>
                <a:blip r:embed="rId9"/>
                <a:stretch>
                  <a:fillRect l="-506" t="-4918" r="-2530" b="-295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4177246" y="6105137"/>
                <a:ext cx="3008452" cy="6262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US" altLang="zh-CN" sz="20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7246" y="6105137"/>
                <a:ext cx="3008452" cy="626262"/>
              </a:xfrm>
              <a:prstGeom prst="rect">
                <a:avLst/>
              </a:prstGeom>
              <a:blipFill>
                <a:blip r:embed="rId10"/>
                <a:stretch>
                  <a:fillRect b="-48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278773" y="6218213"/>
            <a:ext cx="3889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n+1</a:t>
            </a:r>
            <a:r>
              <a:rPr lang="zh-CN" altLang="en-US" sz="2000" b="1" dirty="0">
                <a:solidFill>
                  <a:srgbClr val="FF0000"/>
                </a:solidFill>
              </a:rPr>
              <a:t>阶差商与</a:t>
            </a:r>
            <a:r>
              <a:rPr lang="en-US" altLang="zh-CN" sz="2000" b="1" dirty="0">
                <a:solidFill>
                  <a:srgbClr val="FF0000"/>
                </a:solidFill>
              </a:rPr>
              <a:t>n+1</a:t>
            </a:r>
            <a:r>
              <a:rPr lang="zh-CN" altLang="en-US" sz="2000" b="1" dirty="0">
                <a:solidFill>
                  <a:srgbClr val="FF0000"/>
                </a:solidFill>
              </a:rPr>
              <a:t>阶导数的关系：</a:t>
            </a:r>
          </a:p>
        </p:txBody>
      </p:sp>
    </p:spTree>
    <p:extLst>
      <p:ext uri="{BB962C8B-B14F-4D97-AF65-F5344CB8AC3E}">
        <p14:creationId xmlns:p14="http://schemas.microsoft.com/office/powerpoint/2010/main" val="316554547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34164" y="1140279"/>
                <a:ext cx="10898378" cy="4804682"/>
              </a:xfrm>
            </p:spPr>
            <p:txBody>
              <a:bodyPr/>
              <a:lstStyle/>
              <a:p>
                <a:r>
                  <a:rPr lang="zh-CN" altLang="en-US" dirty="0"/>
                  <a:t>例：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求</m:t>
                    </m:r>
                  </m:oMath>
                </a14:m>
                <a:r>
                  <a:rPr lang="zh-CN" altLang="en-US" dirty="0"/>
                  <a:t>差商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[0,1,2,3,4]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[0,1,2,3,4,5]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例：设函数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𝑞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𝑟𝑥</m:t>
                    </m:r>
                  </m:oMath>
                </a14:m>
                <a:r>
                  <a:rPr lang="en-US" altLang="zh-CN" dirty="0"/>
                  <a:t>+s</a:t>
                </a:r>
                <a:r>
                  <a:rPr lang="zh-CN" altLang="en-US" dirty="0"/>
                  <a:t>，若差商</a:t>
                </a:r>
                <a:r>
                  <a:rPr lang="en-US" altLang="zh-CN" dirty="0"/>
                  <a:t>f[0,1,t]=1,</a:t>
                </a:r>
                <a:r>
                  <a:rPr lang="zh-CN" altLang="en-US" dirty="0"/>
                  <a:t>求差商</a:t>
                </a:r>
                <a:r>
                  <a:rPr lang="en-US" altLang="zh-CN" dirty="0"/>
                  <a:t>f[1,2,t].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34164" y="1140279"/>
                <a:ext cx="10898378" cy="4804682"/>
              </a:xfrm>
              <a:blipFill>
                <a:blip r:embed="rId2"/>
                <a:stretch>
                  <a:fillRect l="-5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847597" y="3426586"/>
                <a:ext cx="63306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/>
                  <a:t>同理：</a:t>
                </a:r>
                <a:r>
                  <a:rPr lang="en-US" altLang="zh-CN" sz="2000" dirty="0"/>
                  <a:t>5</a:t>
                </a:r>
                <a:r>
                  <a:rPr lang="zh-CN" altLang="en-US" sz="2000" dirty="0"/>
                  <a:t>阶差商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[0,1,2,3,4,5]</m:t>
                    </m:r>
                  </m:oMath>
                </a14:m>
                <a:r>
                  <a:rPr lang="en-US" altLang="zh-CN" sz="2000" dirty="0"/>
                  <a:t>=0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97" y="3426586"/>
                <a:ext cx="6330608" cy="400110"/>
              </a:xfrm>
              <a:prstGeom prst="rect">
                <a:avLst/>
              </a:prstGeom>
              <a:blipFill>
                <a:blip r:embed="rId3"/>
                <a:stretch>
                  <a:fillRect l="-962" t="-15152" b="-303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/>
          <p:cNvSpPr txBox="1">
            <a:spLocks/>
          </p:cNvSpPr>
          <p:nvPr/>
        </p:nvSpPr>
        <p:spPr>
          <a:xfrm>
            <a:off x="652272" y="371475"/>
            <a:ext cx="10363200" cy="768804"/>
          </a:xfrm>
          <a:prstGeom prst="rect">
            <a:avLst/>
          </a:prstGeom>
        </p:spPr>
        <p:txBody>
          <a:bodyPr bIns="9144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zh-CN" altLang="en-US"/>
              <a:t>数值计算</a:t>
            </a:r>
            <a:r>
              <a:rPr lang="en-US" altLang="zh-CN"/>
              <a:t>-</a:t>
            </a:r>
            <a:r>
              <a:rPr lang="zh-CN" altLang="en-US"/>
              <a:t>插值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493539" y="2730343"/>
                <a:ext cx="3848233" cy="5727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！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！</m:t>
                        </m:r>
                      </m:den>
                    </m:f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539" y="2730343"/>
                <a:ext cx="3848233" cy="572721"/>
              </a:xfrm>
              <a:prstGeom prst="rect">
                <a:avLst/>
              </a:prstGeom>
              <a:blipFill>
                <a:blip r:embed="rId4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1765015" y="2324111"/>
            <a:ext cx="3916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根据</a:t>
            </a:r>
            <a:r>
              <a:rPr lang="en-US" altLang="zh-CN" dirty="0">
                <a:solidFill>
                  <a:srgbClr val="FF0000"/>
                </a:solidFill>
              </a:rPr>
              <a:t>n+1</a:t>
            </a:r>
            <a:r>
              <a:rPr lang="zh-CN" altLang="en-US" dirty="0">
                <a:solidFill>
                  <a:srgbClr val="FF0000"/>
                </a:solidFill>
              </a:rPr>
              <a:t>阶差商与</a:t>
            </a:r>
            <a:r>
              <a:rPr lang="en-US" altLang="zh-CN" dirty="0">
                <a:solidFill>
                  <a:srgbClr val="FF0000"/>
                </a:solidFill>
              </a:rPr>
              <a:t>n+1</a:t>
            </a:r>
            <a:r>
              <a:rPr lang="zh-CN" altLang="en-US" dirty="0">
                <a:solidFill>
                  <a:srgbClr val="FF0000"/>
                </a:solidFill>
              </a:rPr>
              <a:t>阶导数的关系：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37592" y="1753609"/>
                <a:ext cx="3709477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根据公式计算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(0)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1−0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592" y="1753609"/>
                <a:ext cx="3709477" cy="505203"/>
              </a:xfrm>
              <a:prstGeom prst="rect">
                <a:avLst/>
              </a:prstGeom>
              <a:blipFill>
                <a:blip r:embed="rId5"/>
                <a:stretch>
                  <a:fillRect l="-1314" b="-2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482341" y="4678905"/>
                <a:ext cx="58096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solidFill>
                      <a:srgbClr val="FF0000"/>
                    </a:solidFill>
                  </a:rPr>
                  <a:t>根据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n+1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阶差商与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n+1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阶导数的关系：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341" y="4678905"/>
                <a:ext cx="5809604" cy="369332"/>
              </a:xfrm>
              <a:prstGeom prst="rect">
                <a:avLst/>
              </a:prstGeom>
              <a:blipFill>
                <a:blip r:embed="rId6"/>
                <a:stretch>
                  <a:fillRect l="-839" t="-18333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1482341" y="514683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根据公式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646761" y="5079573"/>
                <a:ext cx="3001656" cy="5038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0,1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,2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,2</m:t>
                            </m:r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0,1,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=1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761" y="5079573"/>
                <a:ext cx="3001656" cy="503856"/>
              </a:xfrm>
              <a:prstGeom prst="rect">
                <a:avLst/>
              </a:prstGeom>
              <a:blipFill>
                <a:blip r:embed="rId7"/>
                <a:stretch>
                  <a:fillRect l="-609" r="-609" b="-10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2429021" y="5670763"/>
                <a:ext cx="12646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[1,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,2]</m:t>
                    </m:r>
                  </m:oMath>
                </a14:m>
                <a:r>
                  <a:rPr lang="en-US" altLang="zh-CN" dirty="0"/>
                  <a:t>=3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021" y="5670763"/>
                <a:ext cx="1264642" cy="369332"/>
              </a:xfrm>
              <a:prstGeom prst="rect">
                <a:avLst/>
              </a:prstGeom>
              <a:blipFill>
                <a:blip r:embed="rId8"/>
                <a:stretch>
                  <a:fillRect l="-1442" t="-6557" r="-2885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1460548" y="619815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根据差商性质</a:t>
            </a:r>
          </a:p>
        </p:txBody>
      </p:sp>
      <p:sp>
        <p:nvSpPr>
          <p:cNvPr id="14" name="矩形 13"/>
          <p:cNvSpPr/>
          <p:nvPr/>
        </p:nvSpPr>
        <p:spPr>
          <a:xfrm>
            <a:off x="3351323" y="6190545"/>
            <a:ext cx="10358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f[1,2,t]=3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8521003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 err="1"/>
              <a:t>Hermite</a:t>
            </a:r>
            <a:r>
              <a:rPr lang="zh-CN" altLang="en-US" dirty="0"/>
              <a:t>插值</a:t>
            </a:r>
            <a:endParaRPr lang="en-US" altLang="zh-CN" dirty="0"/>
          </a:p>
          <a:p>
            <a:pPr lvl="1"/>
            <a:r>
              <a:rPr lang="zh-CN" altLang="en-US" dirty="0"/>
              <a:t>三点三次插值</a:t>
            </a:r>
            <a:endParaRPr lang="en-US" altLang="zh-CN" dirty="0"/>
          </a:p>
          <a:p>
            <a:pPr lvl="2"/>
            <a:r>
              <a:rPr lang="zh-CN" altLang="en-US" dirty="0"/>
              <a:t>节点：</a:t>
            </a:r>
            <a:endParaRPr lang="en-US" altLang="zh-CN" dirty="0"/>
          </a:p>
          <a:p>
            <a:pPr lvl="2"/>
            <a:r>
              <a:rPr lang="zh-CN" altLang="en-US" dirty="0"/>
              <a:t>插值条件：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方法：以牛顿插值构造</a:t>
            </a:r>
            <a:r>
              <a:rPr lang="en-US" altLang="zh-CN" sz="2400" dirty="0" err="1">
                <a:solidFill>
                  <a:srgbClr val="FF0000"/>
                </a:solidFill>
              </a:rPr>
              <a:t>Hermite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859" y="2749049"/>
            <a:ext cx="1295512" cy="30482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581" y="3288721"/>
            <a:ext cx="4008467" cy="2895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8740" y="4509461"/>
            <a:ext cx="2868768" cy="3477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8740" y="5122286"/>
            <a:ext cx="6149873" cy="754445"/>
          </a:xfrm>
          <a:prstGeom prst="rect">
            <a:avLst/>
          </a:prstGeom>
        </p:spPr>
      </p:pic>
      <p:sp>
        <p:nvSpPr>
          <p:cNvPr id="8" name="标题 1"/>
          <p:cNvSpPr txBox="1">
            <a:spLocks/>
          </p:cNvSpPr>
          <p:nvPr/>
        </p:nvSpPr>
        <p:spPr>
          <a:xfrm>
            <a:off x="652272" y="371475"/>
            <a:ext cx="10363200" cy="768804"/>
          </a:xfrm>
          <a:prstGeom prst="rect">
            <a:avLst/>
          </a:prstGeom>
        </p:spPr>
        <p:txBody>
          <a:bodyPr bIns="9144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zh-CN" altLang="en-US"/>
              <a:t>数值计算</a:t>
            </a:r>
            <a:r>
              <a:rPr lang="en-US" altLang="zh-CN"/>
              <a:t>-</a:t>
            </a:r>
            <a:r>
              <a:rPr lang="zh-CN" altLang="en-US"/>
              <a:t>插值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9285933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23458" y="1229018"/>
            <a:ext cx="10898378" cy="4804682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例</a:t>
            </a:r>
            <a:r>
              <a:rPr lang="en-US" altLang="zh-CN" sz="2400" dirty="0"/>
              <a:t>14</a:t>
            </a:r>
            <a:r>
              <a:rPr lang="zh-CN" altLang="en-US" sz="2400" dirty="0"/>
              <a:t>：构造三次多项式</a:t>
            </a:r>
            <a:r>
              <a:rPr lang="en-US" altLang="zh-CN" sz="2400" dirty="0"/>
              <a:t>P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(x)</a:t>
            </a:r>
            <a:r>
              <a:rPr lang="zh-CN" altLang="en-US" sz="2400" dirty="0"/>
              <a:t>，使曲线</a:t>
            </a:r>
            <a:r>
              <a:rPr lang="en-US" altLang="zh-CN" sz="2400" dirty="0"/>
              <a:t>y=P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(x)</a:t>
            </a:r>
            <a:r>
              <a:rPr lang="zh-CN" altLang="en-US" sz="2400" dirty="0"/>
              <a:t>满足以下表格所示的插值条件，并写出余项。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598764"/>
              </p:ext>
            </p:extLst>
          </p:nvPr>
        </p:nvGraphicFramePr>
        <p:xfrm>
          <a:off x="2401017" y="2163201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7568384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262211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527222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53058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606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f(x)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293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f’(x)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934298"/>
                  </a:ext>
                </a:extLst>
              </a:tr>
            </a:tbl>
          </a:graphicData>
        </a:graphic>
      </p:graphicFrame>
      <p:sp>
        <p:nvSpPr>
          <p:cNvPr id="6" name="标题 1"/>
          <p:cNvSpPr txBox="1">
            <a:spLocks/>
          </p:cNvSpPr>
          <p:nvPr/>
        </p:nvSpPr>
        <p:spPr>
          <a:xfrm>
            <a:off x="652272" y="371475"/>
            <a:ext cx="10363200" cy="768804"/>
          </a:xfrm>
          <a:prstGeom prst="rect">
            <a:avLst/>
          </a:prstGeom>
        </p:spPr>
        <p:txBody>
          <a:bodyPr bIns="9144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zh-CN" altLang="en-US"/>
              <a:t>数值计算</a:t>
            </a:r>
            <a:r>
              <a:rPr lang="en-US" altLang="zh-CN"/>
              <a:t>-</a:t>
            </a:r>
            <a:r>
              <a:rPr lang="zh-CN" altLang="en-US"/>
              <a:t>插值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967154" y="35348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解：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659740"/>
              </p:ext>
            </p:extLst>
          </p:nvPr>
        </p:nvGraphicFramePr>
        <p:xfrm>
          <a:off x="2260339" y="3507073"/>
          <a:ext cx="5978055" cy="1844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95611">
                  <a:extLst>
                    <a:ext uri="{9D8B030D-6E8A-4147-A177-3AD203B41FA5}">
                      <a16:colId xmlns:a16="http://schemas.microsoft.com/office/drawing/2014/main" val="449919443"/>
                    </a:ext>
                  </a:extLst>
                </a:gridCol>
                <a:gridCol w="1195611">
                  <a:extLst>
                    <a:ext uri="{9D8B030D-6E8A-4147-A177-3AD203B41FA5}">
                      <a16:colId xmlns:a16="http://schemas.microsoft.com/office/drawing/2014/main" val="2403537791"/>
                    </a:ext>
                  </a:extLst>
                </a:gridCol>
                <a:gridCol w="1195611">
                  <a:extLst>
                    <a:ext uri="{9D8B030D-6E8A-4147-A177-3AD203B41FA5}">
                      <a16:colId xmlns:a16="http://schemas.microsoft.com/office/drawing/2014/main" val="1272721570"/>
                    </a:ext>
                  </a:extLst>
                </a:gridCol>
                <a:gridCol w="1195611">
                  <a:extLst>
                    <a:ext uri="{9D8B030D-6E8A-4147-A177-3AD203B41FA5}">
                      <a16:colId xmlns:a16="http://schemas.microsoft.com/office/drawing/2014/main" val="889283260"/>
                    </a:ext>
                  </a:extLst>
                </a:gridCol>
                <a:gridCol w="1195611">
                  <a:extLst>
                    <a:ext uri="{9D8B030D-6E8A-4147-A177-3AD203B41FA5}">
                      <a16:colId xmlns:a16="http://schemas.microsoft.com/office/drawing/2014/main" val="26001675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f(x)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f’(x)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F’’(x)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F’’’(x)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284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0287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350579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32674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178695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2361627" y="5664423"/>
                <a:ext cx="62376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627" y="5664423"/>
                <a:ext cx="6237605" cy="276999"/>
              </a:xfrm>
              <a:prstGeom prst="rect">
                <a:avLst/>
              </a:prstGeom>
              <a:blipFill>
                <a:blip r:embed="rId2"/>
                <a:stretch>
                  <a:fillRect l="-391" t="-8696" r="-391" b="-10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2260339" y="5702979"/>
                <a:ext cx="2658228" cy="8265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sz="2000" dirty="0"/>
                  <a:t>(x)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339" y="5702979"/>
                <a:ext cx="2658228" cy="826508"/>
              </a:xfrm>
              <a:prstGeom prst="rect">
                <a:avLst/>
              </a:prstGeom>
              <a:blipFill>
                <a:blip r:embed="rId3"/>
                <a:stretch>
                  <a:fillRect r="-1376"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8967534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数值计算</a:t>
            </a:r>
            <a:r>
              <a:rPr lang="en-US" altLang="zh-CN" dirty="0"/>
              <a:t>-</a:t>
            </a:r>
            <a:r>
              <a:rPr lang="zh-CN" altLang="en-US" dirty="0"/>
              <a:t>逼近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逼近：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1910239" y="1530661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</a:rPr>
              <a:t>用低阶多项式表示高阶多项式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1335017" y="2314391"/>
                <a:ext cx="6472552" cy="3463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逼近一般存在误差，常用的误差度量：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en-US" altLang="zh-CN" sz="2400" dirty="0"/>
                  <a:t>  </a:t>
                </a:r>
                <a:r>
                  <a:rPr lang="zh-CN" altLang="en-US" sz="2400" dirty="0"/>
                  <a:t>（</a:t>
                </a:r>
                <a:r>
                  <a:rPr lang="en-US" altLang="zh-CN" sz="2400" dirty="0"/>
                  <a:t>1) </a:t>
                </a:r>
                <a:r>
                  <a:rPr lang="zh-CN" altLang="en-US" sz="2400" dirty="0"/>
                  <a:t>无穷范数（一致逼近，均匀逼近）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altLang="zh-CN" sz="2400" i="1" baseline="-25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)|</m:t>
                      </m:r>
                    </m:oMath>
                  </m:oMathPara>
                </a14:m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  （</a:t>
                </a:r>
                <a:r>
                  <a:rPr lang="en-US" altLang="zh-CN" sz="2400" dirty="0"/>
                  <a:t>2</a:t>
                </a:r>
                <a:r>
                  <a:rPr lang="zh-CN" altLang="en-US" sz="2400" dirty="0"/>
                  <a:t>）</a:t>
                </a:r>
                <a:r>
                  <a:rPr lang="en-US" altLang="zh-CN" sz="2400" dirty="0"/>
                  <a:t>2</a:t>
                </a:r>
                <a:r>
                  <a:rPr lang="zh-CN" altLang="en-US" sz="2400" dirty="0"/>
                  <a:t>范数（均方逼近，平方逼近）</a:t>
                </a:r>
                <a:endParaRPr lang="en-US" altLang="zh-CN" sz="2400" dirty="0"/>
              </a:p>
              <a:p>
                <a:endParaRPr lang="zh-CN" altLang="en-US" sz="2400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017" y="2314391"/>
                <a:ext cx="6472552" cy="3463833"/>
              </a:xfrm>
              <a:prstGeom prst="rect">
                <a:avLst/>
              </a:prstGeom>
              <a:blipFill>
                <a:blip r:embed="rId2"/>
                <a:stretch>
                  <a:fillRect l="-1507" t="-26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1025501" y="5541568"/>
                <a:ext cx="5708550" cy="11835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)|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501" y="5541568"/>
                <a:ext cx="5708550" cy="11835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2611213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逼近：</a:t>
            </a:r>
            <a:endParaRPr lang="en-US" altLang="zh-CN" dirty="0"/>
          </a:p>
          <a:p>
            <a:pPr lvl="1"/>
            <a:r>
              <a:rPr lang="en-US" altLang="zh-CN" b="1" dirty="0" err="1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Chebyshev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多项式：降阶</a:t>
            </a:r>
            <a:endParaRPr lang="en-US" altLang="zh-CN" b="1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1"/>
            <a:endParaRPr lang="en-US" altLang="zh-CN" b="1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近似最佳一致逼近多项式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170261" y="4488950"/>
                <a:ext cx="4978351" cy="755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（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=1,2,…..,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261" y="4488950"/>
                <a:ext cx="4978351" cy="7557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21"/>
          <p:cNvGrpSpPr>
            <a:grpSpLocks/>
          </p:cNvGrpSpPr>
          <p:nvPr/>
        </p:nvGrpSpPr>
        <p:grpSpPr bwMode="auto">
          <a:xfrm>
            <a:off x="5122764" y="2717364"/>
            <a:ext cx="4036551" cy="1391316"/>
            <a:chOff x="2095860" y="4819673"/>
            <a:chExt cx="4036561" cy="1391318"/>
          </a:xfrm>
        </p:grpSpPr>
        <p:graphicFrame>
          <p:nvGraphicFramePr>
            <p:cNvPr id="7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6007961"/>
                </p:ext>
              </p:extLst>
            </p:nvPr>
          </p:nvGraphicFramePr>
          <p:xfrm>
            <a:off x="2389299" y="5151538"/>
            <a:ext cx="3743122" cy="1059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76" name="Equation" r:id="rId4" imgW="1638423" imgH="437986" progId="Equation.DSMT4">
                    <p:embed/>
                  </p:oleObj>
                </mc:Choice>
                <mc:Fallback>
                  <p:oleObj name="Equation" r:id="rId4" imgW="1638423" imgH="437986" progId="Equation.DSMT4">
                    <p:embed/>
                    <p:pic>
                      <p:nvPicPr>
                        <p:cNvPr id="7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9299" y="5151538"/>
                          <a:ext cx="3743122" cy="10594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19"/>
            <p:cNvSpPr>
              <a:spLocks noChangeArrowheads="1"/>
            </p:cNvSpPr>
            <p:nvPr/>
          </p:nvSpPr>
          <p:spPr bwMode="auto">
            <a:xfrm>
              <a:off x="2095860" y="4819673"/>
              <a:ext cx="162737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dirty="0"/>
                <a:t>递推关系式： </a:t>
              </a:r>
            </a:p>
          </p:txBody>
        </p:sp>
      </p:grpSp>
      <p:graphicFrame>
        <p:nvGraphicFramePr>
          <p:cNvPr id="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675571"/>
              </p:ext>
            </p:extLst>
          </p:nvPr>
        </p:nvGraphicFramePr>
        <p:xfrm>
          <a:off x="1129181" y="2717364"/>
          <a:ext cx="3214219" cy="494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7" name="Equation" r:id="rId6" imgW="28527375" imgH="4391025" progId="Equation.DSMT4">
                  <p:embed/>
                </p:oleObj>
              </mc:Choice>
              <mc:Fallback>
                <p:oleObj name="Equation" r:id="rId6" imgW="28527375" imgH="4391025" progId="Equation.DSMT4">
                  <p:embed/>
                  <p:pic>
                    <p:nvPicPr>
                      <p:cNvPr id="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9181" y="2717364"/>
                        <a:ext cx="3214219" cy="4947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1975738" y="1599437"/>
            <a:ext cx="35189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</a:rPr>
              <a:t>用低阶多项式表示高阶多项式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4"/>
              <p:cNvSpPr>
                <a:spLocks noChangeArrowheads="1"/>
              </p:cNvSpPr>
              <p:nvPr/>
            </p:nvSpPr>
            <p:spPr bwMode="auto">
              <a:xfrm>
                <a:off x="2306109" y="5489689"/>
                <a:ext cx="7260677" cy="1062150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ts val="4000"/>
                  </a:lnSpc>
                  <a:spcBef>
                    <a:spcPct val="0"/>
                  </a:spcBef>
                  <a:buNone/>
                </a:pPr>
                <a:r>
                  <a:rPr lang="zh-CN" altLang="en-US" sz="2400" b="1" dirty="0">
                    <a:solidFill>
                      <a:srgbClr val="3508DA"/>
                    </a:solidFill>
                  </a:rPr>
                  <a:t>注</a:t>
                </a:r>
                <a:r>
                  <a:rPr lang="zh-CN" altLang="en-US" sz="2400" dirty="0">
                    <a:solidFill>
                      <a:srgbClr val="3508DA"/>
                    </a:solidFill>
                  </a:rPr>
                  <a:t>：对区间为［</a:t>
                </a:r>
                <a:r>
                  <a:rPr lang="en-US" altLang="zh-CN" sz="2400" i="1" dirty="0" err="1">
                    <a:solidFill>
                      <a:srgbClr val="3508DA"/>
                    </a:solidFill>
                  </a:rPr>
                  <a:t>a</a:t>
                </a:r>
                <a:r>
                  <a:rPr lang="en-US" altLang="zh-CN" sz="2400" dirty="0" err="1">
                    <a:solidFill>
                      <a:srgbClr val="3508DA"/>
                    </a:solidFill>
                  </a:rPr>
                  <a:t>,</a:t>
                </a:r>
                <a:r>
                  <a:rPr lang="en-US" altLang="zh-CN" sz="2400" i="1" dirty="0" err="1">
                    <a:solidFill>
                      <a:srgbClr val="3508DA"/>
                    </a:solidFill>
                  </a:rPr>
                  <a:t>b</a:t>
                </a:r>
                <a:r>
                  <a:rPr lang="zh-CN" altLang="en-US" sz="2400" dirty="0">
                    <a:solidFill>
                      <a:srgbClr val="3508DA"/>
                    </a:solidFill>
                  </a:rPr>
                  <a:t>］的情形，先作变换</a:t>
                </a:r>
              </a:p>
              <a:p>
                <a:pPr>
                  <a:lnSpc>
                    <a:spcPts val="4000"/>
                  </a:lnSpc>
                  <a:spcBef>
                    <a:spcPct val="0"/>
                  </a:spcBef>
                  <a:buNone/>
                </a:pPr>
                <a:r>
                  <a:rPr lang="zh-CN" altLang="en-US" sz="2400" dirty="0">
                    <a:solidFill>
                      <a:srgbClr val="3508DA"/>
                    </a:solidFill>
                  </a:rPr>
                  <a:t>           </a:t>
                </a:r>
                <a:r>
                  <a:rPr lang="en-US" altLang="zh-CN" sz="2400" i="1" dirty="0">
                    <a:solidFill>
                      <a:srgbClr val="3508DA"/>
                    </a:solidFill>
                  </a:rPr>
                  <a:t>x</a:t>
                </a:r>
                <a:r>
                  <a:rPr lang="en-US" altLang="zh-CN" sz="2400" dirty="0">
                    <a:solidFill>
                      <a:srgbClr val="3508DA"/>
                    </a:solidFill>
                  </a:rPr>
                  <a:t>=(</a:t>
                </a:r>
                <a:r>
                  <a:rPr lang="en-US" altLang="zh-CN" sz="2400" i="1" dirty="0">
                    <a:solidFill>
                      <a:srgbClr val="3508DA"/>
                    </a:solidFill>
                  </a:rPr>
                  <a:t>b</a:t>
                </a:r>
                <a:r>
                  <a:rPr lang="en-US" altLang="zh-CN" sz="2400" dirty="0">
                    <a:solidFill>
                      <a:srgbClr val="3508DA"/>
                    </a:solidFill>
                  </a:rPr>
                  <a:t>-</a:t>
                </a:r>
                <a:r>
                  <a:rPr lang="en-US" altLang="zh-CN" sz="2400" i="1" dirty="0">
                    <a:solidFill>
                      <a:srgbClr val="3508DA"/>
                    </a:solidFill>
                  </a:rPr>
                  <a:t>a</a:t>
                </a:r>
                <a:r>
                  <a:rPr lang="en-US" altLang="zh-CN" sz="2400" dirty="0">
                    <a:solidFill>
                      <a:srgbClr val="3508DA"/>
                    </a:solidFill>
                  </a:rPr>
                  <a:t>)</a:t>
                </a:r>
                <a:r>
                  <a:rPr lang="en-US" altLang="zh-CN" sz="2400" i="1" dirty="0">
                    <a:solidFill>
                      <a:srgbClr val="3508DA"/>
                    </a:solidFill>
                  </a:rPr>
                  <a:t>t</a:t>
                </a:r>
                <a:r>
                  <a:rPr lang="en-US" altLang="zh-CN" sz="2400" dirty="0">
                    <a:solidFill>
                      <a:srgbClr val="3508DA"/>
                    </a:solidFill>
                  </a:rPr>
                  <a:t>/2+(</a:t>
                </a:r>
                <a:r>
                  <a:rPr lang="en-US" altLang="zh-CN" sz="2400" i="1" dirty="0" err="1">
                    <a:solidFill>
                      <a:srgbClr val="3508DA"/>
                    </a:solidFill>
                  </a:rPr>
                  <a:t>b</a:t>
                </a:r>
                <a:r>
                  <a:rPr lang="en-US" altLang="zh-CN" sz="2400" dirty="0" err="1">
                    <a:solidFill>
                      <a:srgbClr val="3508DA"/>
                    </a:solidFill>
                  </a:rPr>
                  <a:t>+</a:t>
                </a:r>
                <a:r>
                  <a:rPr lang="en-US" altLang="zh-CN" sz="2400" i="1" dirty="0" err="1">
                    <a:solidFill>
                      <a:srgbClr val="3508DA"/>
                    </a:solidFill>
                  </a:rPr>
                  <a:t>a</a:t>
                </a:r>
                <a:r>
                  <a:rPr lang="en-US" altLang="zh-CN" sz="2400" dirty="0">
                    <a:solidFill>
                      <a:srgbClr val="3508DA"/>
                    </a:solidFill>
                  </a:rPr>
                  <a:t>)/2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3508DA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solidFill>
                          <a:srgbClr val="3508D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∈[−1,1]</m:t>
                    </m:r>
                  </m:oMath>
                </a14:m>
                <a:endParaRPr lang="en-US" altLang="zh-CN" sz="2400" dirty="0">
                  <a:solidFill>
                    <a:srgbClr val="3508DA"/>
                  </a:solidFill>
                </a:endParaRPr>
              </a:p>
            </p:txBody>
          </p:sp>
        </mc:Choice>
        <mc:Fallback xmlns="">
          <p:sp>
            <p:nvSpPr>
              <p:cNvPr id="10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6109" y="5489689"/>
                <a:ext cx="7260677" cy="1062150"/>
              </a:xfrm>
              <a:prstGeom prst="rect">
                <a:avLst/>
              </a:prstGeom>
              <a:blipFill>
                <a:blip r:embed="rId8"/>
                <a:stretch>
                  <a:fillRect l="-1088" b="-11236"/>
                </a:stretch>
              </a:blipFill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云形 17"/>
          <p:cNvSpPr/>
          <p:nvPr/>
        </p:nvSpPr>
        <p:spPr>
          <a:xfrm>
            <a:off x="9159316" y="2127739"/>
            <a:ext cx="2006916" cy="1137700"/>
          </a:xfrm>
          <a:prstGeom prst="clou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无穷范数</a:t>
            </a:r>
          </a:p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89982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zh-CN" altLang="en-US" dirty="0"/>
              <a:t>误差估计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grpSp>
        <p:nvGrpSpPr>
          <p:cNvPr id="13" name="Group 9"/>
          <p:cNvGrpSpPr>
            <a:grpSpLocks/>
          </p:cNvGrpSpPr>
          <p:nvPr/>
        </p:nvGrpSpPr>
        <p:grpSpPr bwMode="auto">
          <a:xfrm>
            <a:off x="1922736" y="1945886"/>
            <a:ext cx="6021388" cy="1711590"/>
            <a:chOff x="1090" y="1685"/>
            <a:chExt cx="4546" cy="1283"/>
          </a:xfrm>
        </p:grpSpPr>
        <p:graphicFrame>
          <p:nvGraphicFramePr>
            <p:cNvPr id="14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2386214"/>
                </p:ext>
              </p:extLst>
            </p:nvPr>
          </p:nvGraphicFramePr>
          <p:xfrm>
            <a:off x="1090" y="1685"/>
            <a:ext cx="4546" cy="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36" name="Equation" r:id="rId3" imgW="59245500" imgH="7677150" progId="Equation.DSMT4">
                    <p:embed/>
                  </p:oleObj>
                </mc:Choice>
                <mc:Fallback>
                  <p:oleObj name="Equation" r:id="rId3" imgW="59245500" imgH="7677150" progId="Equation.DSMT4">
                    <p:embed/>
                    <p:pic>
                      <p:nvPicPr>
                        <p:cNvPr id="14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0" y="1685"/>
                          <a:ext cx="4546" cy="5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9475971"/>
                </p:ext>
              </p:extLst>
            </p:nvPr>
          </p:nvGraphicFramePr>
          <p:xfrm>
            <a:off x="2387" y="2345"/>
            <a:ext cx="2688" cy="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37" name="Equation" r:id="rId5" imgW="33137475" imgH="7677150" progId="Equation.DSMT4">
                    <p:embed/>
                  </p:oleObj>
                </mc:Choice>
                <mc:Fallback>
                  <p:oleObj name="Equation" r:id="rId5" imgW="33137475" imgH="7677150" progId="Equation.DSMT4">
                    <p:embed/>
                    <p:pic>
                      <p:nvPicPr>
                        <p:cNvPr id="15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7" y="2345"/>
                          <a:ext cx="2688" cy="6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3D10FD4-4298-4B87-8EB5-84DB908D8C87}"/>
              </a:ext>
            </a:extLst>
          </p:cNvPr>
          <p:cNvGrpSpPr/>
          <p:nvPr/>
        </p:nvGrpSpPr>
        <p:grpSpPr>
          <a:xfrm>
            <a:off x="4866145" y="4251263"/>
            <a:ext cx="2334909" cy="663575"/>
            <a:chOff x="7480307" y="3389637"/>
            <a:chExt cx="2334909" cy="66357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ACA19EC-28E4-48E8-B8C8-17DB48C07DE7}"/>
                    </a:ext>
                  </a:extLst>
                </p:cNvPr>
                <p:cNvSpPr txBox="1"/>
                <p:nvPr/>
              </p:nvSpPr>
              <p:spPr>
                <a:xfrm>
                  <a:off x="8976320" y="3462122"/>
                  <a:ext cx="838896" cy="51860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ACA19EC-28E4-48E8-B8C8-17DB48C07D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6320" y="3462122"/>
                  <a:ext cx="838896" cy="51860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9" name="Object 1">
                  <a:extLst>
                    <a:ext uri="{FF2B5EF4-FFF2-40B4-BE49-F238E27FC236}">
                      <a16:creationId xmlns:a16="http://schemas.microsoft.com/office/drawing/2014/main" id="{17E85E14-4042-4653-8F95-7A22B88ED0C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1595626"/>
                    </p:ext>
                  </p:extLst>
                </p:nvPr>
              </p:nvGraphicFramePr>
              <p:xfrm>
                <a:off x="7480307" y="3389637"/>
                <a:ext cx="1600194" cy="6635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1638" name="Equation" r:id="rId8" imgW="11630025" imgH="4829175" progId="Equation.DSMT4">
                        <p:embed/>
                      </p:oleObj>
                    </mc:Choice>
                    <mc:Fallback>
                      <p:oleObj name="Equation" r:id="rId8" imgW="11630025" imgH="4829175" progId="Equation.DSMT4">
                        <p:embed/>
                        <p:pic>
                          <p:nvPicPr>
                            <p:cNvPr id="30" name="Object 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480307" y="3389637"/>
                              <a:ext cx="1600194" cy="6635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 algn="ctr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0" name="Object 1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362443048"/>
                    </p:ext>
                  </p:extLst>
                </p:nvPr>
              </p:nvGraphicFramePr>
              <p:xfrm>
                <a:off x="7480307" y="3389637"/>
                <a:ext cx="1600194" cy="6635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1740" name="Equation" r:id="rId19" imgW="11630025" imgH="4829175" progId="Equation.DSMT4">
                        <p:embed/>
                      </p:oleObj>
                    </mc:Choice>
                    <mc:Fallback>
                      <p:oleObj name="Equation" r:id="rId19" imgW="11630025" imgH="4829175" progId="Equation.DSMT4">
                        <p:embed/>
                        <p:pic>
                          <p:nvPicPr>
                            <p:cNvPr id="21530" name="Object 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480307" y="3389637"/>
                              <a:ext cx="1600194" cy="6635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 algn="ctr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</p:spTree>
    <p:extLst>
      <p:ext uri="{BB962C8B-B14F-4D97-AF65-F5344CB8AC3E}">
        <p14:creationId xmlns:p14="http://schemas.microsoft.com/office/powerpoint/2010/main" val="12461481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022520"/>
              </p:ext>
            </p:extLst>
          </p:nvPr>
        </p:nvGraphicFramePr>
        <p:xfrm>
          <a:off x="2128471" y="2866563"/>
          <a:ext cx="61452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3" name="公式" r:id="rId3" imgW="2679480" imgH="291960" progId="Equation.3">
                  <p:embed/>
                </p:oleObj>
              </mc:Choice>
              <mc:Fallback>
                <p:oleObj name="公式" r:id="rId3" imgW="2679480" imgH="291960" progId="Equation.3">
                  <p:embed/>
                  <p:pic>
                    <p:nvPicPr>
                      <p:cNvPr id="2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8471" y="2866563"/>
                        <a:ext cx="61452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5"/>
          <p:cNvGraphicFramePr>
            <a:graphicFrameLocks noChangeAspect="1"/>
          </p:cNvGraphicFramePr>
          <p:nvPr>
            <p:extLst/>
          </p:nvPr>
        </p:nvGraphicFramePr>
        <p:xfrm>
          <a:off x="1919536" y="4858949"/>
          <a:ext cx="9170988" cy="165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4" name="公式" r:id="rId5" imgW="2527200" imgH="698400" progId="Equation.3">
                  <p:embed/>
                </p:oleObj>
              </mc:Choice>
              <mc:Fallback>
                <p:oleObj name="公式" r:id="rId5" imgW="2527200" imgH="698400" progId="Equation.3">
                  <p:embed/>
                  <p:pic>
                    <p:nvPicPr>
                      <p:cNvPr id="3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4858949"/>
                        <a:ext cx="9170988" cy="165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2"/>
          <p:cNvGraphicFramePr>
            <a:graphicFrameLocks noChangeAspect="1"/>
          </p:cNvGraphicFramePr>
          <p:nvPr>
            <p:extLst/>
          </p:nvPr>
        </p:nvGraphicFramePr>
        <p:xfrm>
          <a:off x="2423592" y="1815673"/>
          <a:ext cx="4968552" cy="893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5" name="公式" r:id="rId7" imgW="1765080" imgH="406080" progId="Equation.3">
                  <p:embed/>
                </p:oleObj>
              </mc:Choice>
              <mc:Fallback>
                <p:oleObj name="公式" r:id="rId7" imgW="1765080" imgH="406080" progId="Equation.3">
                  <p:embed/>
                  <p:pic>
                    <p:nvPicPr>
                      <p:cNvPr id="4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1815673"/>
                        <a:ext cx="4968552" cy="8932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5"/>
          <p:cNvSpPr>
            <a:spLocks noChangeArrowheads="1"/>
          </p:cNvSpPr>
          <p:nvPr/>
        </p:nvSpPr>
        <p:spPr bwMode="auto">
          <a:xfrm>
            <a:off x="1532519" y="1452369"/>
            <a:ext cx="87555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+mn-ea"/>
                <a:ea typeface="+mn-ea"/>
              </a:rPr>
              <a:t>解：区域变换：</a:t>
            </a:r>
            <a:endParaRPr lang="zh-CN" altLang="en-US" sz="2400" b="1" dirty="0">
              <a:latin typeface="+mn-ea"/>
              <a:ea typeface="+mn-ea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对象 8"/>
              <p:cNvSpPr txBox="1"/>
              <p:nvPr/>
            </p:nvSpPr>
            <p:spPr bwMode="auto">
              <a:xfrm>
                <a:off x="2530475" y="3573463"/>
                <a:ext cx="7205663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func>
                          <m:r>
                            <m:rPr>
                              <m:sty m:val="p"/>
                            </m:r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=1,2,3,4,5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对象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0475" y="3573463"/>
                <a:ext cx="7205663" cy="9334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11"/>
              <p:cNvSpPr>
                <a:spLocks noChangeArrowheads="1"/>
              </p:cNvSpPr>
              <p:nvPr/>
            </p:nvSpPr>
            <p:spPr bwMode="auto">
              <a:xfrm>
                <a:off x="1055440" y="439079"/>
                <a:ext cx="9558005" cy="9680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 algn="ctr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例</a:t>
                </a:r>
                <a:r>
                  <a:rPr lang="en-US" altLang="zh-CN" sz="2800" b="1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15. </a:t>
                </a:r>
                <a:r>
                  <a:rPr lang="zh-CN" altLang="en-US" sz="2800" dirty="0">
                    <a:latin typeface="Times New Roman" panose="02020603050405020304" pitchFamily="18" charset="0"/>
                  </a:rPr>
                  <a:t>求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f(x)=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</a:rPr>
                  <a:t>  </a:t>
                </a:r>
                <a:r>
                  <a:rPr lang="zh-CN" altLang="en-US" sz="2800" dirty="0">
                    <a:latin typeface="Times New Roman" panose="02020603050405020304" pitchFamily="18" charset="0"/>
                  </a:rPr>
                  <a:t>在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[0, 1]</a:t>
                </a:r>
                <a:r>
                  <a:rPr lang="zh-CN" altLang="en-US" sz="2800" dirty="0">
                    <a:latin typeface="Times New Roman" panose="02020603050405020304" pitchFamily="18" charset="0"/>
                  </a:rPr>
                  <a:t>上的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4</a:t>
                </a:r>
                <a:r>
                  <a:rPr lang="zh-CN" altLang="en-US" sz="2800" dirty="0">
                    <a:latin typeface="Times New Roman" panose="02020603050405020304" pitchFamily="18" charset="0"/>
                  </a:rPr>
                  <a:t>次最佳一致逼近多项式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N4(x),</a:t>
                </a:r>
                <a:r>
                  <a:rPr lang="zh-CN" altLang="en-US" sz="2800" dirty="0">
                    <a:latin typeface="Times New Roman" panose="02020603050405020304" pitchFamily="18" charset="0"/>
                  </a:rPr>
                  <a:t>并且估计误差。</a:t>
                </a:r>
              </a:p>
            </p:txBody>
          </p:sp>
        </mc:Choice>
        <mc:Fallback xmlns="">
          <p:sp>
            <p:nvSpPr>
              <p:cNvPr id="7" name="TextBox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5440" y="439079"/>
                <a:ext cx="9558005" cy="968022"/>
              </a:xfrm>
              <a:prstGeom prst="rect">
                <a:avLst/>
              </a:prstGeom>
              <a:blipFill>
                <a:blip r:embed="rId11"/>
                <a:stretch>
                  <a:fillRect l="-1276" t="-8176" b="-1320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7236864" y="1214387"/>
                <a:ext cx="4824536" cy="60529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ts val="4000"/>
                  </a:lnSpc>
                  <a:spcBef>
                    <a:spcPct val="0"/>
                  </a:spcBef>
                  <a:buNone/>
                </a:pPr>
                <a:r>
                  <a:rPr lang="zh-CN" altLang="en-US" sz="2400" dirty="0">
                    <a:solidFill>
                      <a:srgbClr val="3508DA"/>
                    </a:solidFill>
                  </a:rPr>
                  <a:t>      </a:t>
                </a:r>
                <a:r>
                  <a:rPr lang="en-US" altLang="zh-CN" sz="2400" i="1" dirty="0">
                    <a:solidFill>
                      <a:srgbClr val="3508DA"/>
                    </a:solidFill>
                  </a:rPr>
                  <a:t>x</a:t>
                </a:r>
                <a:r>
                  <a:rPr lang="en-US" altLang="zh-CN" sz="2400" dirty="0">
                    <a:solidFill>
                      <a:srgbClr val="3508DA"/>
                    </a:solidFill>
                  </a:rPr>
                  <a:t>=(</a:t>
                </a:r>
                <a:r>
                  <a:rPr lang="en-US" altLang="zh-CN" sz="2400" i="1" dirty="0">
                    <a:solidFill>
                      <a:srgbClr val="3508DA"/>
                    </a:solidFill>
                  </a:rPr>
                  <a:t>b</a:t>
                </a:r>
                <a:r>
                  <a:rPr lang="en-US" altLang="zh-CN" sz="2400" dirty="0">
                    <a:solidFill>
                      <a:srgbClr val="3508DA"/>
                    </a:solidFill>
                  </a:rPr>
                  <a:t>-</a:t>
                </a:r>
                <a:r>
                  <a:rPr lang="en-US" altLang="zh-CN" sz="2400" i="1" dirty="0">
                    <a:solidFill>
                      <a:srgbClr val="3508DA"/>
                    </a:solidFill>
                  </a:rPr>
                  <a:t>a</a:t>
                </a:r>
                <a:r>
                  <a:rPr lang="en-US" altLang="zh-CN" sz="2400" dirty="0">
                    <a:solidFill>
                      <a:srgbClr val="3508DA"/>
                    </a:solidFill>
                  </a:rPr>
                  <a:t>)</a:t>
                </a:r>
                <a:r>
                  <a:rPr lang="en-US" altLang="zh-CN" sz="2400" i="1" dirty="0">
                    <a:solidFill>
                      <a:srgbClr val="3508DA"/>
                    </a:solidFill>
                  </a:rPr>
                  <a:t>t</a:t>
                </a:r>
                <a:r>
                  <a:rPr lang="en-US" altLang="zh-CN" sz="2400" dirty="0">
                    <a:solidFill>
                      <a:srgbClr val="3508DA"/>
                    </a:solidFill>
                  </a:rPr>
                  <a:t>/2+(</a:t>
                </a:r>
                <a:r>
                  <a:rPr lang="en-US" altLang="zh-CN" sz="2400" i="1" dirty="0" err="1">
                    <a:solidFill>
                      <a:srgbClr val="3508DA"/>
                    </a:solidFill>
                  </a:rPr>
                  <a:t>b</a:t>
                </a:r>
                <a:r>
                  <a:rPr lang="en-US" altLang="zh-CN" sz="2400" dirty="0" err="1">
                    <a:solidFill>
                      <a:srgbClr val="3508DA"/>
                    </a:solidFill>
                  </a:rPr>
                  <a:t>+</a:t>
                </a:r>
                <a:r>
                  <a:rPr lang="en-US" altLang="zh-CN" sz="2400" i="1" dirty="0" err="1">
                    <a:solidFill>
                      <a:srgbClr val="3508DA"/>
                    </a:solidFill>
                  </a:rPr>
                  <a:t>a</a:t>
                </a:r>
                <a:r>
                  <a:rPr lang="en-US" altLang="zh-CN" sz="2400" dirty="0">
                    <a:solidFill>
                      <a:srgbClr val="3508DA"/>
                    </a:solidFill>
                  </a:rPr>
                  <a:t>)/2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3508DA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solidFill>
                          <a:srgbClr val="3508D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∈[−1,1]</m:t>
                    </m:r>
                  </m:oMath>
                </a14:m>
                <a:endParaRPr lang="en-US" altLang="zh-CN" sz="2400" dirty="0">
                  <a:solidFill>
                    <a:srgbClr val="3508DA"/>
                  </a:solidFill>
                </a:endParaRPr>
              </a:p>
            </p:txBody>
          </p:sp>
        </mc:Choice>
        <mc:Fallback xmlns="">
          <p:sp>
            <p:nvSpPr>
              <p:cNvPr id="8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36864" y="1214387"/>
                <a:ext cx="4824536" cy="605294"/>
              </a:xfrm>
              <a:prstGeom prst="rect">
                <a:avLst/>
              </a:prstGeom>
              <a:blipFill>
                <a:blip r:embed="rId12"/>
                <a:stretch>
                  <a:fillRect b="-11765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9164757" y="2710117"/>
                <a:ext cx="1924566" cy="576761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1)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）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4757" y="2710117"/>
                <a:ext cx="1924566" cy="57676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49057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childTnLst>
                                    <p:set>
                                      <p:cBhvr additive="base"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childTnLst>
                                    <p:set>
                                      <p:cBhvr additive="base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childTnLst>
                                    <p:set>
                                      <p:cBhvr additive="base"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3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 autoUpdateAnimBg="0"/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" name="表格 3"/>
          <p:cNvGraphicFramePr>
            <a:graphicFrameLocks noGrp="1"/>
          </p:cNvGraphicFramePr>
          <p:nvPr/>
        </p:nvGraphicFramePr>
        <p:xfrm>
          <a:off x="1774825" y="909638"/>
          <a:ext cx="8642350" cy="1371600"/>
        </p:xfrm>
        <a:graphic>
          <a:graphicData uri="http://schemas.openxmlformats.org/drawingml/2006/table">
            <a:tbl>
              <a:tblPr/>
              <a:tblGrid>
                <a:gridCol w="909638">
                  <a:extLst>
                    <a:ext uri="{9D8B030D-6E8A-4147-A177-3AD203B41FA5}">
                      <a16:colId xmlns:a16="http://schemas.microsoft.com/office/drawing/2014/main" val="2602037412"/>
                    </a:ext>
                  </a:extLst>
                </a:gridCol>
                <a:gridCol w="1470025">
                  <a:extLst>
                    <a:ext uri="{9D8B030D-6E8A-4147-A177-3AD203B41FA5}">
                      <a16:colId xmlns:a16="http://schemas.microsoft.com/office/drawing/2014/main" val="3315207776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4143922864"/>
                    </a:ext>
                  </a:extLst>
                </a:gridCol>
                <a:gridCol w="1468437">
                  <a:extLst>
                    <a:ext uri="{9D8B030D-6E8A-4147-A177-3AD203B41FA5}">
                      <a16:colId xmlns:a16="http://schemas.microsoft.com/office/drawing/2014/main" val="1432374463"/>
                    </a:ext>
                  </a:extLst>
                </a:gridCol>
                <a:gridCol w="1539875">
                  <a:extLst>
                    <a:ext uri="{9D8B030D-6E8A-4147-A177-3AD203B41FA5}">
                      <a16:colId xmlns:a16="http://schemas.microsoft.com/office/drawing/2014/main" val="395282032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1071629840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5" marR="9145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91455" marR="9145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91455" marR="9145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91455" marR="9145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91455" marR="9145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91455" marR="9145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685375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</a:p>
                  </a:txBody>
                  <a:tcPr marL="91455" marR="9145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0.97553</a:t>
                      </a:r>
                    </a:p>
                  </a:txBody>
                  <a:tcPr marL="91455" marR="9145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0.79390</a:t>
                      </a:r>
                    </a:p>
                  </a:txBody>
                  <a:tcPr marL="91455" marR="9145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</a:p>
                  </a:txBody>
                  <a:tcPr marL="91455" marR="9145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0.20611</a:t>
                      </a:r>
                    </a:p>
                  </a:txBody>
                  <a:tcPr marL="91455" marR="9145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0.02447</a:t>
                      </a:r>
                    </a:p>
                  </a:txBody>
                  <a:tcPr marL="91455" marR="9145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005233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</a:p>
                  </a:txBody>
                  <a:tcPr marL="91455" marR="9145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2.65257</a:t>
                      </a:r>
                    </a:p>
                  </a:txBody>
                  <a:tcPr marL="91455" marR="9145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2.21201</a:t>
                      </a:r>
                    </a:p>
                  </a:txBody>
                  <a:tcPr marL="91455" marR="9145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1.64872</a:t>
                      </a:r>
                    </a:p>
                  </a:txBody>
                  <a:tcPr marL="91455" marR="9145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1.22889</a:t>
                      </a:r>
                    </a:p>
                  </a:txBody>
                  <a:tcPr marL="91455" marR="9145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1.02477</a:t>
                      </a:r>
                    </a:p>
                  </a:txBody>
                  <a:tcPr marL="91455" marR="9145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272088"/>
                  </a:ext>
                </a:extLst>
              </a:tr>
            </a:tbl>
          </a:graphicData>
        </a:graphic>
      </p:graphicFrame>
      <p:graphicFrame>
        <p:nvGraphicFramePr>
          <p:cNvPr id="2487" name="对象 4"/>
          <p:cNvGraphicFramePr>
            <a:graphicFrameLocks noChangeAspect="1"/>
          </p:cNvGraphicFramePr>
          <p:nvPr>
            <p:extLst/>
          </p:nvPr>
        </p:nvGraphicFramePr>
        <p:xfrm>
          <a:off x="1355725" y="2636838"/>
          <a:ext cx="9474200" cy="396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9" name="公式" r:id="rId3" imgW="4991040" imgH="1955520" progId="Equation.3">
                  <p:embed/>
                </p:oleObj>
              </mc:Choice>
              <mc:Fallback>
                <p:oleObj name="公式" r:id="rId3" imgW="4991040" imgH="1955520" progId="Equation.3">
                  <p:embed/>
                  <p:pic>
                    <p:nvPicPr>
                      <p:cNvPr id="2487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725" y="2636838"/>
                        <a:ext cx="9474200" cy="3960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224660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91" name="表格 3"/>
          <p:cNvGraphicFramePr>
            <a:graphicFrameLocks noGrp="1"/>
          </p:cNvGraphicFramePr>
          <p:nvPr/>
        </p:nvGraphicFramePr>
        <p:xfrm>
          <a:off x="1703389" y="620713"/>
          <a:ext cx="8785225" cy="5810250"/>
        </p:xfrm>
        <a:graphic>
          <a:graphicData uri="http://schemas.openxmlformats.org/drawingml/2006/table">
            <a:tbl>
              <a:tblPr/>
              <a:tblGrid>
                <a:gridCol w="427037">
                  <a:extLst>
                    <a:ext uri="{9D8B030D-6E8A-4147-A177-3AD203B41FA5}">
                      <a16:colId xmlns:a16="http://schemas.microsoft.com/office/drawing/2014/main" val="337911507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100917167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465922820"/>
                    </a:ext>
                  </a:extLst>
                </a:gridCol>
                <a:gridCol w="1655762">
                  <a:extLst>
                    <a:ext uri="{9D8B030D-6E8A-4147-A177-3AD203B41FA5}">
                      <a16:colId xmlns:a16="http://schemas.microsoft.com/office/drawing/2014/main" val="1533927073"/>
                    </a:ext>
                  </a:extLst>
                </a:gridCol>
                <a:gridCol w="2160588">
                  <a:extLst>
                    <a:ext uri="{9D8B030D-6E8A-4147-A177-3AD203B41FA5}">
                      <a16:colId xmlns:a16="http://schemas.microsoft.com/office/drawing/2014/main" val="4284035211"/>
                    </a:ext>
                  </a:extLst>
                </a:gridCol>
                <a:gridCol w="2879725">
                  <a:extLst>
                    <a:ext uri="{9D8B030D-6E8A-4147-A177-3AD203B41FA5}">
                      <a16:colId xmlns:a16="http://schemas.microsoft.com/office/drawing/2014/main" val="3531080104"/>
                    </a:ext>
                  </a:extLst>
                </a:gridCol>
              </a:tblGrid>
              <a:tr h="9683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f[x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f[x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i,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i+1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f[x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i,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i+1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x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i+2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f[x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i,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i+1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x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i+2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x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i+3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f[x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i,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i+1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x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i+2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x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i+3  </a:t>
                      </a:r>
                      <a:r>
                        <a:rPr kumimoji="0" lang="zh-CN" alt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i+4</a:t>
                      </a:r>
                      <a:r>
                        <a:rPr kumimoji="0" lang="zh-CN" alt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269364"/>
                  </a:ext>
                </a:extLst>
              </a:tr>
              <a:tr h="9683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f(x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876053"/>
                  </a:ext>
                </a:extLst>
              </a:tr>
              <a:tr h="9683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f(x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f[x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0,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154291"/>
                  </a:ext>
                </a:extLst>
              </a:tr>
              <a:tr h="9683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f(x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f[x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f[x</a:t>
                      </a:r>
                      <a:r>
                        <a:rPr kumimoji="0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0,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x</a:t>
                      </a:r>
                      <a:r>
                        <a:rPr kumimoji="0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290345"/>
                  </a:ext>
                </a:extLst>
              </a:tr>
              <a:tr h="9683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f(x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f[x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f[x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f[x</a:t>
                      </a:r>
                      <a:r>
                        <a:rPr kumimoji="0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0,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x</a:t>
                      </a:r>
                      <a:r>
                        <a:rPr kumimoji="0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x</a:t>
                      </a:r>
                      <a:r>
                        <a:rPr kumimoji="0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373850"/>
                  </a:ext>
                </a:extLst>
              </a:tr>
              <a:tr h="9683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f(x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f[x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f[x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f[x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x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 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f[x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0,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3" marR="91443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687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1820476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4" name="表格 3"/>
          <p:cNvGraphicFramePr>
            <a:graphicFrameLocks noGrp="1"/>
          </p:cNvGraphicFramePr>
          <p:nvPr/>
        </p:nvGraphicFramePr>
        <p:xfrm>
          <a:off x="1703389" y="620713"/>
          <a:ext cx="8785225" cy="5848350"/>
        </p:xfrm>
        <a:graphic>
          <a:graphicData uri="http://schemas.openxmlformats.org/drawingml/2006/table">
            <a:tbl>
              <a:tblPr/>
              <a:tblGrid>
                <a:gridCol w="1152525">
                  <a:extLst>
                    <a:ext uri="{9D8B030D-6E8A-4147-A177-3AD203B41FA5}">
                      <a16:colId xmlns:a16="http://schemas.microsoft.com/office/drawing/2014/main" val="141624679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873897816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88429203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42214217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874788495"/>
                    </a:ext>
                  </a:extLst>
                </a:gridCol>
                <a:gridCol w="2232025">
                  <a:extLst>
                    <a:ext uri="{9D8B030D-6E8A-4147-A177-3AD203B41FA5}">
                      <a16:colId xmlns:a16="http://schemas.microsoft.com/office/drawing/2014/main" val="3658945855"/>
                    </a:ext>
                  </a:extLst>
                </a:gridCol>
              </a:tblGrid>
              <a:tr h="9683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i</a:t>
                      </a:r>
                    </a:p>
                  </a:txBody>
                  <a:tcPr marL="91443" marR="91443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f(x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91443" marR="91443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f[x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i, 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i+1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]</a:t>
                      </a:r>
                    </a:p>
                  </a:txBody>
                  <a:tcPr marL="91443" marR="91443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f[x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i, 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i+1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, 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i+2 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]</a:t>
                      </a:r>
                    </a:p>
                  </a:txBody>
                  <a:tcPr marL="91443" marR="91443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f[x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i, 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i+1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, 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i+2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, 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i+3  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]</a:t>
                      </a:r>
                    </a:p>
                  </a:txBody>
                  <a:tcPr marL="91443" marR="91443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f[x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i, 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i+1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, 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i+2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, 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i+3  </a:t>
                      </a:r>
                      <a:r>
                        <a:rPr kumimoji="0" lang="zh-CN" alt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i+4</a:t>
                      </a:r>
                      <a:r>
                        <a:rPr kumimoji="0" lang="zh-CN" alt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微软雅黑" panose="020B0503020204020204" pitchFamily="34" charset="-122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91443" marR="91443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54085"/>
                  </a:ext>
                </a:extLst>
              </a:tr>
              <a:tr h="9683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0.9755</a:t>
                      </a: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2.6526</a:t>
                      </a: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245418"/>
                  </a:ext>
                </a:extLst>
              </a:tr>
              <a:tr h="9683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0.7939</a:t>
                      </a: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2.212</a:t>
                      </a: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2.4262</a:t>
                      </a: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977418"/>
                  </a:ext>
                </a:extLst>
              </a:tr>
              <a:tr h="9683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1.6487</a:t>
                      </a: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1.9166</a:t>
                      </a: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1.0717</a:t>
                      </a: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076123"/>
                  </a:ext>
                </a:extLst>
              </a:tr>
              <a:tr h="9683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0.2061</a:t>
                      </a: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1.2289</a:t>
                      </a: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1.4284</a:t>
                      </a: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0.8306</a:t>
                      </a: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0.3134</a:t>
                      </a: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103288"/>
                  </a:ext>
                </a:extLst>
              </a:tr>
              <a:tr h="1006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0.0245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1.0248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1.1239</a:t>
                      </a: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0.6404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0.2472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0.0696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3" marR="91443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610725"/>
                  </a:ext>
                </a:extLst>
              </a:tr>
            </a:tbl>
          </a:graphicData>
        </a:graphic>
      </p:graphicFrame>
      <p:sp>
        <p:nvSpPr>
          <p:cNvPr id="2595" name="直接连接符 2"/>
          <p:cNvSpPr>
            <a:spLocks noChangeShapeType="1"/>
          </p:cNvSpPr>
          <p:nvPr/>
        </p:nvSpPr>
        <p:spPr bwMode="auto">
          <a:xfrm>
            <a:off x="3503613" y="2276475"/>
            <a:ext cx="5472112" cy="3600450"/>
          </a:xfrm>
          <a:prstGeom prst="line">
            <a:avLst/>
          </a:prstGeom>
          <a:noFill/>
          <a:ln w="9525" cap="flat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58279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98" name="对象 3"/>
          <p:cNvGraphicFramePr>
            <a:graphicFrameLocks noChangeAspect="1"/>
          </p:cNvGraphicFramePr>
          <p:nvPr>
            <p:extLst/>
          </p:nvPr>
        </p:nvGraphicFramePr>
        <p:xfrm>
          <a:off x="2200275" y="388938"/>
          <a:ext cx="7934325" cy="601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3" name="公式" r:id="rId3" imgW="5905440" imgH="4394160" progId="Equation.3">
                  <p:embed/>
                </p:oleObj>
              </mc:Choice>
              <mc:Fallback>
                <p:oleObj name="公式" r:id="rId3" imgW="5905440" imgH="4394160" progId="Equation.3">
                  <p:embed/>
                  <p:pic>
                    <p:nvPicPr>
                      <p:cNvPr id="2598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275" y="388938"/>
                        <a:ext cx="7934325" cy="601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8811069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>
            <a:spLocks noChangeArrowheads="1"/>
          </p:cNvSpPr>
          <p:nvPr/>
        </p:nvSpPr>
        <p:spPr bwMode="auto">
          <a:xfrm>
            <a:off x="1127720" y="304676"/>
            <a:ext cx="75092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CC"/>
                </a:solidFill>
                <a:latin typeface="宋体" panose="02010600030101010101" pitchFamily="2" charset="-122"/>
              </a:rPr>
              <a:t>误差估计</a:t>
            </a:r>
            <a:r>
              <a:rPr lang="zh-CN" altLang="en-US" sz="2400" dirty="0">
                <a:solidFill>
                  <a:srgbClr val="0000CC"/>
                </a:solidFill>
                <a:latin typeface="宋体" panose="02010600030101010101" pitchFamily="2" charset="-122"/>
              </a:rPr>
              <a:t>：注意到变换 </a:t>
            </a:r>
            <a:r>
              <a:rPr lang="en-US" altLang="zh-CN" sz="2400" dirty="0">
                <a:solidFill>
                  <a:srgbClr val="0000CC"/>
                </a:solidFill>
                <a:latin typeface="宋体" panose="02010600030101010101" pitchFamily="2" charset="-122"/>
              </a:rPr>
              <a:t>x = ½(t+1)</a:t>
            </a:r>
          </a:p>
        </p:txBody>
      </p:sp>
      <p:graphicFrame>
        <p:nvGraphicFramePr>
          <p:cNvPr id="3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079214"/>
              </p:ext>
            </p:extLst>
          </p:nvPr>
        </p:nvGraphicFramePr>
        <p:xfrm>
          <a:off x="1406525" y="793750"/>
          <a:ext cx="10237788" cy="555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2" name="公式" r:id="rId3" imgW="6032160" imgH="2717640" progId="Equation.3">
                  <p:embed/>
                </p:oleObj>
              </mc:Choice>
              <mc:Fallback>
                <p:oleObj name="公式" r:id="rId3" imgW="6032160" imgH="2717640" progId="Equation.3">
                  <p:embed/>
                  <p:pic>
                    <p:nvPicPr>
                      <p:cNvPr id="3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525" y="793750"/>
                        <a:ext cx="10237788" cy="555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标注 1"/>
          <p:cNvSpPr>
            <a:spLocks noChangeArrowheads="1"/>
          </p:cNvSpPr>
          <p:nvPr/>
        </p:nvSpPr>
        <p:spPr bwMode="auto">
          <a:xfrm>
            <a:off x="5877593" y="3729117"/>
            <a:ext cx="3195356" cy="1125537"/>
          </a:xfrm>
          <a:prstGeom prst="wedgeRectCallout">
            <a:avLst>
              <a:gd name="adj1" fmla="val -66229"/>
              <a:gd name="adj2" fmla="val -50271"/>
            </a:avLst>
          </a:prstGeom>
          <a:noFill/>
          <a:ln w="25400" cap="flat" algn="ctr">
            <a:solidFill>
              <a:srgbClr val="385D8A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dirty="0">
                <a:solidFill>
                  <a:srgbClr val="0000CC"/>
                </a:solidFill>
                <a:latin typeface="宋体" panose="02010600030101010101" pitchFamily="2" charset="-122"/>
              </a:rPr>
              <a:t>T</a:t>
            </a:r>
            <a:r>
              <a:rPr lang="en-US" altLang="zh-CN" baseline="-25000" dirty="0">
                <a:solidFill>
                  <a:srgbClr val="0000CC"/>
                </a:solidFill>
                <a:latin typeface="宋体" panose="02010600030101010101" pitchFamily="2" charset="-122"/>
              </a:rPr>
              <a:t>5 </a:t>
            </a:r>
            <a:r>
              <a:rPr lang="en-US" altLang="zh-CN" dirty="0">
                <a:solidFill>
                  <a:srgbClr val="0000CC"/>
                </a:solidFill>
                <a:latin typeface="宋体" panose="02010600030101010101" pitchFamily="2" charset="-122"/>
              </a:rPr>
              <a:t>(t)</a:t>
            </a:r>
            <a:r>
              <a:rPr lang="zh-CN" altLang="en-US" dirty="0">
                <a:solidFill>
                  <a:srgbClr val="0000CC"/>
                </a:solidFill>
                <a:latin typeface="宋体" panose="02010600030101010101" pitchFamily="2" charset="-122"/>
              </a:rPr>
              <a:t>最高</a:t>
            </a:r>
          </a:p>
          <a:p>
            <a:pPr algn="ctr" eaLnBrk="1" hangingPunct="1"/>
            <a:r>
              <a:rPr lang="zh-CN" altLang="en-US" dirty="0">
                <a:solidFill>
                  <a:srgbClr val="0000CC"/>
                </a:solidFill>
                <a:latin typeface="宋体" panose="02010600030101010101" pitchFamily="2" charset="-122"/>
              </a:rPr>
              <a:t>次幂系数为</a:t>
            </a:r>
            <a:r>
              <a:rPr lang="en-US" altLang="zh-CN" dirty="0">
                <a:solidFill>
                  <a:srgbClr val="0000CC"/>
                </a:solidFill>
                <a:latin typeface="宋体" panose="02010600030101010101" pitchFamily="2" charset="-122"/>
              </a:rPr>
              <a:t>2</a:t>
            </a:r>
            <a:r>
              <a:rPr lang="en-US" altLang="zh-CN" baseline="30000" dirty="0">
                <a:solidFill>
                  <a:srgbClr val="0000CC"/>
                </a:solidFill>
                <a:latin typeface="宋体" panose="02010600030101010101" pitchFamily="2" charset="-122"/>
              </a:rPr>
              <a:t>4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9552384" y="3006397"/>
            <a:ext cx="2213004" cy="768674"/>
            <a:chOff x="7480307" y="3284538"/>
            <a:chExt cx="2213004" cy="7686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8976320" y="3284538"/>
                  <a:ext cx="716991" cy="69147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6320" y="3284538"/>
                  <a:ext cx="716991" cy="69147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" name="Object 1"/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7480307" y="3389637"/>
                <a:ext cx="1600194" cy="6635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5733" name="Equation" r:id="rId6" imgW="11630025" imgH="4829175" progId="Equation.DSMT4">
                        <p:embed/>
                      </p:oleObj>
                    </mc:Choice>
                    <mc:Fallback>
                      <p:oleObj name="Equation" r:id="rId6" imgW="11630025" imgH="4829175" progId="Equation.DSMT4">
                        <p:embed/>
                        <p:pic>
                          <p:nvPicPr>
                            <p:cNvPr id="8" name="Object 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480307" y="3389637"/>
                              <a:ext cx="1600194" cy="6635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 algn="ctr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0" name="Object 1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362443048"/>
                    </p:ext>
                  </p:extLst>
                </p:nvPr>
              </p:nvGraphicFramePr>
              <p:xfrm>
                <a:off x="7480307" y="3389637"/>
                <a:ext cx="1600194" cy="6635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1740" name="Equation" r:id="rId18" imgW="11630025" imgH="4829175" progId="Equation.DSMT4">
                        <p:embed/>
                      </p:oleObj>
                    </mc:Choice>
                    <mc:Fallback>
                      <p:oleObj name="Equation" r:id="rId18" imgW="11630025" imgH="4829175" progId="Equation.DSMT4">
                        <p:embed/>
                        <p:pic>
                          <p:nvPicPr>
                            <p:cNvPr id="21530" name="Object 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480307" y="3389637"/>
                              <a:ext cx="1600194" cy="6635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 algn="ctr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</p:spTree>
    <p:extLst>
      <p:ext uri="{BB962C8B-B14F-4D97-AF65-F5344CB8AC3E}">
        <p14:creationId xmlns:p14="http://schemas.microsoft.com/office/powerpoint/2010/main" val="5775417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01" name="对象 3"/>
          <p:cNvGraphicFramePr>
            <a:graphicFrameLocks noChangeAspect="1"/>
          </p:cNvGraphicFramePr>
          <p:nvPr>
            <p:extLst/>
          </p:nvPr>
        </p:nvGraphicFramePr>
        <p:xfrm>
          <a:off x="2232025" y="836613"/>
          <a:ext cx="722312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1" name="公式" r:id="rId3" imgW="2781000" imgH="457200" progId="Equation.3">
                  <p:embed/>
                </p:oleObj>
              </mc:Choice>
              <mc:Fallback>
                <p:oleObj name="公式" r:id="rId3" imgW="2781000" imgH="457200" progId="Equation.3">
                  <p:embed/>
                  <p:pic>
                    <p:nvPicPr>
                      <p:cNvPr id="2601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836613"/>
                        <a:ext cx="7223125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2" name="TextBox 4"/>
          <p:cNvSpPr>
            <a:spLocks noChangeArrowheads="1"/>
          </p:cNvSpPr>
          <p:nvPr/>
        </p:nvSpPr>
        <p:spPr bwMode="auto">
          <a:xfrm>
            <a:off x="1919288" y="2852739"/>
            <a:ext cx="8280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这个结果和使用拉格朗日插值法所得到的结果稍有误差，由具体计算的小数点后位数引起。</a:t>
            </a:r>
          </a:p>
        </p:txBody>
      </p:sp>
    </p:spTree>
    <p:extLst>
      <p:ext uri="{BB962C8B-B14F-4D97-AF65-F5344CB8AC3E}">
        <p14:creationId xmlns:p14="http://schemas.microsoft.com/office/powerpoint/2010/main" val="3013381546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zh-CN" altLang="en-US" dirty="0"/>
              <a:t>最佳平方逼近：最小二乘法</a:t>
            </a:r>
            <a:endParaRPr lang="en-US" altLang="zh-CN" dirty="0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2737002" y="3090367"/>
          <a:ext cx="7138987" cy="216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6" name="Equation" r:id="rId3" imgW="2800412" imgH="800100" progId="Equation.DSMT4">
                  <p:embed/>
                </p:oleObj>
              </mc:Choice>
              <mc:Fallback>
                <p:oleObj name="Equation" r:id="rId3" imgW="2800412" imgH="800100" progId="Equation.DSMT4">
                  <p:embed/>
                  <p:pic>
                    <p:nvPicPr>
                      <p:cNvPr id="2663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7002" y="3090367"/>
                        <a:ext cx="7138987" cy="216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2758310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1233339" y="812924"/>
            <a:ext cx="6202268" cy="461963"/>
            <a:chOff x="1310" y="534"/>
            <a:chExt cx="4707" cy="291"/>
          </a:xfrm>
        </p:grpSpPr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1310" y="534"/>
              <a:ext cx="47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楷体_GB2312" pitchFamily="49" charset="-122"/>
                </a:rPr>
                <a:t>    </a:t>
              </a:r>
              <a:r>
                <a:rPr lang="zh-CN" altLang="en-US" dirty="0">
                  <a:latin typeface="楷体_GB2312" pitchFamily="49" charset="-122"/>
                </a:rPr>
                <a:t>若 </a:t>
              </a:r>
              <a:r>
                <a:rPr lang="zh-CN" altLang="en-US" b="1" dirty="0">
                  <a:latin typeface="楷体_GB2312" pitchFamily="49" charset="-122"/>
                </a:rPr>
                <a:t>                    </a:t>
              </a:r>
              <a:r>
                <a:rPr lang="zh-CN" altLang="en-US" dirty="0">
                  <a:latin typeface="楷体_GB2312" pitchFamily="49" charset="-122"/>
                </a:rPr>
                <a:t> </a:t>
              </a:r>
              <a:r>
                <a:rPr lang="en-US" altLang="zh-CN" dirty="0">
                  <a:latin typeface="楷体_GB2312" pitchFamily="49" charset="-122"/>
                </a:rPr>
                <a:t>,</a:t>
              </a:r>
              <a:r>
                <a:rPr lang="zh-CN" altLang="en-US" dirty="0">
                  <a:latin typeface="楷体_GB2312" pitchFamily="49" charset="-122"/>
                </a:rPr>
                <a:t> 对应矩阵用表示： </a:t>
              </a:r>
            </a:p>
          </p:txBody>
        </p:sp>
        <p:graphicFrame>
          <p:nvGraphicFramePr>
            <p:cNvPr id="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162644"/>
                </p:ext>
              </p:extLst>
            </p:nvPr>
          </p:nvGraphicFramePr>
          <p:xfrm>
            <a:off x="3897" y="549"/>
            <a:ext cx="273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62" name="公式" r:id="rId3" imgW="190440" imgH="164880" progId="Equation.3">
                    <p:embed/>
                  </p:oleObj>
                </mc:Choice>
                <mc:Fallback>
                  <p:oleObj name="公式" r:id="rId3" imgW="190440" imgH="164880" progId="Equation.3">
                    <p:embed/>
                    <p:pic>
                      <p:nvPicPr>
                        <p:cNvPr id="8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7" y="549"/>
                          <a:ext cx="273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1704" y="1428869"/>
            <a:ext cx="3878916" cy="1752752"/>
          </a:xfrm>
          <a:prstGeom prst="rect">
            <a:avLst/>
          </a:prstGeom>
        </p:spPr>
      </p:pic>
      <p:graphicFrame>
        <p:nvGraphicFramePr>
          <p:cNvPr id="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4095434"/>
              </p:ext>
            </p:extLst>
          </p:nvPr>
        </p:nvGraphicFramePr>
        <p:xfrm>
          <a:off x="3046413" y="4249637"/>
          <a:ext cx="6945312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3" name="公式" r:id="rId6" imgW="3047760" imgH="914400" progId="Equation.3">
                  <p:embed/>
                </p:oleObj>
              </mc:Choice>
              <mc:Fallback>
                <p:oleObj name="公式" r:id="rId6" imgW="3047760" imgH="914400" progId="Equation.3">
                  <p:embed/>
                  <p:pic>
                    <p:nvPicPr>
                      <p:cNvPr id="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6413" y="4249637"/>
                        <a:ext cx="6945312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5222380" y="3110516"/>
            <a:ext cx="5496615" cy="958477"/>
            <a:chOff x="5222380" y="3110516"/>
            <a:chExt cx="5496615" cy="958477"/>
          </a:xfrm>
        </p:grpSpPr>
        <p:sp>
          <p:nvSpPr>
            <p:cNvPr id="11" name="下箭头 10"/>
            <p:cNvSpPr/>
            <p:nvPr/>
          </p:nvSpPr>
          <p:spPr bwMode="auto">
            <a:xfrm>
              <a:off x="5222380" y="3362265"/>
              <a:ext cx="484836" cy="581878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aphicFrame>
          <p:nvGraphicFramePr>
            <p:cNvPr id="15" name="对象 14"/>
            <p:cNvGraphicFramePr>
              <a:graphicFrameLocks noChangeAspect="1"/>
            </p:cNvGraphicFramePr>
            <p:nvPr>
              <p:extLst/>
            </p:nvPr>
          </p:nvGraphicFramePr>
          <p:xfrm>
            <a:off x="6123320" y="3110516"/>
            <a:ext cx="4595675" cy="958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64" name="公式" r:id="rId8" imgW="2247840" imgH="469800" progId="Equation.3">
                    <p:embed/>
                  </p:oleObj>
                </mc:Choice>
                <mc:Fallback>
                  <p:oleObj name="公式" r:id="rId8" imgW="2247840" imgH="469800" progId="Equation.3">
                    <p:embed/>
                    <p:pic>
                      <p:nvPicPr>
                        <p:cNvPr id="15" name="对象 14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123320" y="3110516"/>
                          <a:ext cx="4595675" cy="95847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Object 4">
            <a:extLst>
              <a:ext uri="{FF2B5EF4-FFF2-40B4-BE49-F238E27FC236}">
                <a16:creationId xmlns:a16="http://schemas.microsoft.com/office/drawing/2014/main" id="{949D49AE-C923-4E1D-B1A2-2376047562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327661"/>
              </p:ext>
            </p:extLst>
          </p:nvPr>
        </p:nvGraphicFramePr>
        <p:xfrm>
          <a:off x="2613508" y="857864"/>
          <a:ext cx="649018" cy="371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5" name="Equation" r:id="rId10" imgW="7677150" imgH="4391025" progId="Equation.DSMT4">
                  <p:embed/>
                </p:oleObj>
              </mc:Choice>
              <mc:Fallback>
                <p:oleObj name="Equation" r:id="rId10" imgW="7677150" imgH="4391025" progId="Equation.DSMT4">
                  <p:embed/>
                  <p:pic>
                    <p:nvPicPr>
                      <p:cNvPr id="18" name="Object 4">
                        <a:extLst>
                          <a:ext uri="{FF2B5EF4-FFF2-40B4-BE49-F238E27FC236}">
                            <a16:creationId xmlns:a16="http://schemas.microsoft.com/office/drawing/2014/main" id="{949D49AE-C923-4E1D-B1A2-2376047562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508" y="857864"/>
                        <a:ext cx="649018" cy="3718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EFEEB78-483D-4D47-BD82-F3C904D6F34A}"/>
                  </a:ext>
                </a:extLst>
              </p:cNvPr>
              <p:cNvSpPr txBox="1"/>
              <p:nvPr/>
            </p:nvSpPr>
            <p:spPr>
              <a:xfrm>
                <a:off x="1718727" y="883691"/>
                <a:ext cx="9630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zh-CN" altLang="en-US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EFEEB78-483D-4D47-BD82-F3C904D6F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727" y="883691"/>
                <a:ext cx="963021" cy="369332"/>
              </a:xfrm>
              <a:prstGeom prst="rect">
                <a:avLst/>
              </a:prstGeom>
              <a:blipFill>
                <a:blip r:embed="rId12"/>
                <a:stretch>
                  <a:fillRect t="-4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7">
                <a:extLst>
                  <a:ext uri="{FF2B5EF4-FFF2-40B4-BE49-F238E27FC236}">
                    <a16:creationId xmlns:a16="http://schemas.microsoft.com/office/drawing/2014/main" id="{61D9B351-417D-440E-A4BA-0B980B9BDA38}"/>
                  </a:ext>
                </a:extLst>
              </p:cNvPr>
              <p:cNvSpPr txBox="1"/>
              <p:nvPr/>
            </p:nvSpPr>
            <p:spPr bwMode="auto">
              <a:xfrm>
                <a:off x="748765" y="231899"/>
                <a:ext cx="3124200" cy="631825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</m:t>
                      </m:r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𝑠𝑝𝑎𝑛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" name="Object 7">
                <a:extLst>
                  <a:ext uri="{FF2B5EF4-FFF2-40B4-BE49-F238E27FC236}">
                    <a16:creationId xmlns:a16="http://schemas.microsoft.com/office/drawing/2014/main" id="{61D9B351-417D-440E-A4BA-0B980B9BD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8765" y="231899"/>
                <a:ext cx="3124200" cy="63182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79941454-A677-40CE-8216-477CD1C9ABCD}"/>
              </a:ext>
            </a:extLst>
          </p:cNvPr>
          <p:cNvSpPr/>
          <p:nvPr/>
        </p:nvSpPr>
        <p:spPr>
          <a:xfrm>
            <a:off x="449707" y="4852472"/>
            <a:ext cx="24883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</a:rPr>
              <a:t>希尔伯特</a:t>
            </a:r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</a:rPr>
              <a:t>(</a:t>
            </a:r>
            <a:r>
              <a:rPr lang="en-US" altLang="zh-CN" b="1" dirty="0">
                <a:solidFill>
                  <a:schemeClr val="accent2"/>
                </a:solidFill>
              </a:rPr>
              <a:t>Hilbert</a:t>
            </a:r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</a:rPr>
              <a:t>)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</a:rPr>
              <a:t>矩阵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89606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7D6659D-4E77-466D-8C2A-09C14BFD5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545" y="2214662"/>
            <a:ext cx="5174428" cy="201947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3B44E84-274E-475B-9D1D-656E6E8A9934}"/>
              </a:ext>
            </a:extLst>
          </p:cNvPr>
          <p:cNvSpPr/>
          <p:nvPr/>
        </p:nvSpPr>
        <p:spPr>
          <a:xfrm>
            <a:off x="1120226" y="1387297"/>
            <a:ext cx="92890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定理</a:t>
            </a:r>
            <a:r>
              <a:rPr lang="zh-CN" altLang="en-US" dirty="0"/>
              <a:t>：</a:t>
            </a:r>
            <a:r>
              <a:rPr lang="en-US" altLang="zh-CN" dirty="0"/>
              <a:t>S</a:t>
            </a:r>
            <a:r>
              <a:rPr lang="en-US" altLang="zh-CN" baseline="30000" dirty="0"/>
              <a:t>∗</a:t>
            </a:r>
            <a:r>
              <a:rPr lang="en-US" altLang="zh-CN" dirty="0"/>
              <a:t>(x)</a:t>
            </a:r>
            <a:r>
              <a:rPr lang="zh-CN" altLang="en-US" dirty="0"/>
              <a:t>是 </a:t>
            </a:r>
            <a:r>
              <a:rPr lang="en-US" altLang="zh-CN" dirty="0"/>
              <a:t>f(x)</a:t>
            </a:r>
            <a:r>
              <a:rPr lang="zh-CN" altLang="en-US" dirty="0"/>
              <a:t>在</a:t>
            </a:r>
            <a:r>
              <a:rPr lang="en-US" altLang="zh-CN" dirty="0"/>
              <a:t>Φ</a:t>
            </a:r>
            <a:r>
              <a:rPr lang="zh-CN" altLang="en-US" dirty="0"/>
              <a:t>中的唯一最佳平方逼近函数，且逼近误差为</a:t>
            </a:r>
          </a:p>
        </p:txBody>
      </p:sp>
    </p:spTree>
    <p:extLst>
      <p:ext uri="{BB962C8B-B14F-4D97-AF65-F5344CB8AC3E}">
        <p14:creationId xmlns:p14="http://schemas.microsoft.com/office/powerpoint/2010/main" val="1295790012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5"/>
          <p:cNvGrpSpPr>
            <a:grpSpLocks/>
          </p:cNvGrpSpPr>
          <p:nvPr/>
        </p:nvGrpSpPr>
        <p:grpSpPr bwMode="auto">
          <a:xfrm>
            <a:off x="1559496" y="494509"/>
            <a:ext cx="9937104" cy="565150"/>
            <a:chOff x="358775" y="494508"/>
            <a:chExt cx="8389938" cy="565150"/>
          </a:xfrm>
        </p:grpSpPr>
        <p:sp>
          <p:nvSpPr>
            <p:cNvPr id="28690" name="Rectangle 6"/>
            <p:cNvSpPr>
              <a:spLocks noChangeArrowheads="1"/>
            </p:cNvSpPr>
            <p:nvPr/>
          </p:nvSpPr>
          <p:spPr bwMode="auto">
            <a:xfrm>
              <a:off x="358775" y="549275"/>
              <a:ext cx="8389938" cy="480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r>
                <a:rPr lang="en-US" altLang="zh-CN" sz="2800" dirty="0">
                  <a:solidFill>
                    <a:srgbClr val="660066"/>
                  </a:solidFill>
                </a:rPr>
                <a:t>【</a:t>
              </a:r>
              <a:r>
                <a:rPr lang="zh-CN" altLang="en-US" sz="2800" dirty="0">
                  <a:solidFill>
                    <a:srgbClr val="660066"/>
                  </a:solidFill>
                </a:rPr>
                <a:t>例</a:t>
              </a:r>
              <a:r>
                <a:rPr lang="en-US" altLang="zh-CN" sz="2800" dirty="0">
                  <a:solidFill>
                    <a:srgbClr val="660066"/>
                  </a:solidFill>
                </a:rPr>
                <a:t>】 </a:t>
              </a:r>
              <a:r>
                <a:rPr lang="zh-CN" altLang="en-US" sz="2800" dirty="0"/>
                <a:t>求                   在             中的一次最佳平方逼近元。</a:t>
              </a:r>
            </a:p>
          </p:txBody>
        </p:sp>
        <p:graphicFrame>
          <p:nvGraphicFramePr>
            <p:cNvPr id="28691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0882934"/>
                </p:ext>
              </p:extLst>
            </p:nvPr>
          </p:nvGraphicFramePr>
          <p:xfrm>
            <a:off x="1759800" y="494508"/>
            <a:ext cx="1476375" cy="565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34" name="Equation" r:id="rId3" imgW="12068175" imgH="4610100" progId="Equation.DSMT4">
                    <p:embed/>
                  </p:oleObj>
                </mc:Choice>
                <mc:Fallback>
                  <p:oleObj name="Equation" r:id="rId3" imgW="12068175" imgH="4610100" progId="Equation.DSMT4">
                    <p:embed/>
                    <p:pic>
                      <p:nvPicPr>
                        <p:cNvPr id="28691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9800" y="494508"/>
                          <a:ext cx="1476375" cy="565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prstDash val="lgDash"/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2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1971984"/>
                </p:ext>
              </p:extLst>
            </p:nvPr>
          </p:nvGraphicFramePr>
          <p:xfrm>
            <a:off x="3383867" y="532009"/>
            <a:ext cx="1044575" cy="522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35" name="Equation" r:id="rId5" imgW="8772525" imgH="4391025" progId="Equation.DSMT4">
                    <p:embed/>
                  </p:oleObj>
                </mc:Choice>
                <mc:Fallback>
                  <p:oleObj name="Equation" r:id="rId5" imgW="8772525" imgH="4391025" progId="Equation.DSMT4">
                    <p:embed/>
                    <p:pic>
                      <p:nvPicPr>
                        <p:cNvPr id="28692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3867" y="532009"/>
                          <a:ext cx="1044575" cy="522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prstDash val="lgDash"/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16"/>
          <p:cNvGrpSpPr>
            <a:grpSpLocks/>
          </p:cNvGrpSpPr>
          <p:nvPr/>
        </p:nvGrpSpPr>
        <p:grpSpPr bwMode="auto">
          <a:xfrm>
            <a:off x="1124569" y="1215269"/>
            <a:ext cx="5937250" cy="523875"/>
            <a:chOff x="709613" y="1341438"/>
            <a:chExt cx="5937250" cy="523875"/>
          </a:xfrm>
        </p:grpSpPr>
        <p:sp>
          <p:nvSpPr>
            <p:cNvPr id="28687" name="Rectangle 11"/>
            <p:cNvSpPr>
              <a:spLocks noChangeArrowheads="1"/>
            </p:cNvSpPr>
            <p:nvPr/>
          </p:nvSpPr>
          <p:spPr bwMode="auto">
            <a:xfrm>
              <a:off x="1403350" y="1341438"/>
              <a:ext cx="52435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prstDash val="lgDash"/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这是              上的最佳平方逼近问题</a:t>
              </a:r>
              <a:r>
                <a:rPr lang="en-US" altLang="zh-CN" sz="2400"/>
                <a:t>.</a:t>
              </a:r>
            </a:p>
          </p:txBody>
        </p:sp>
        <p:sp>
          <p:nvSpPr>
            <p:cNvPr id="28688" name="Rectangle 12"/>
            <p:cNvSpPr>
              <a:spLocks noChangeArrowheads="1"/>
            </p:cNvSpPr>
            <p:nvPr/>
          </p:nvSpPr>
          <p:spPr bwMode="auto">
            <a:xfrm>
              <a:off x="709613" y="1341438"/>
              <a:ext cx="7969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prstDash val="lgDash"/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00FF"/>
                  </a:solidFill>
                </a:rPr>
                <a:t>解：</a:t>
              </a:r>
            </a:p>
          </p:txBody>
        </p:sp>
        <p:graphicFrame>
          <p:nvGraphicFramePr>
            <p:cNvPr id="28689" name="Object 4"/>
            <p:cNvGraphicFramePr>
              <a:graphicFrameLocks noChangeAspect="1"/>
            </p:cNvGraphicFramePr>
            <p:nvPr/>
          </p:nvGraphicFramePr>
          <p:xfrm>
            <a:off x="2233613" y="1341438"/>
            <a:ext cx="914400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36" name="Equation" r:id="rId7" imgW="7677150" imgH="4391025" progId="Equation.DSMT4">
                    <p:embed/>
                  </p:oleObj>
                </mc:Choice>
                <mc:Fallback>
                  <p:oleObj name="Equation" r:id="rId7" imgW="7677150" imgH="4391025" progId="Equation.DSMT4">
                    <p:embed/>
                    <p:pic>
                      <p:nvPicPr>
                        <p:cNvPr id="28689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3613" y="1341438"/>
                          <a:ext cx="914400" cy="523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prstDash val="lgDash"/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17"/>
          <p:cNvGrpSpPr>
            <a:grpSpLocks/>
          </p:cNvGrpSpPr>
          <p:nvPr/>
        </p:nvGrpSpPr>
        <p:grpSpPr bwMode="auto">
          <a:xfrm>
            <a:off x="1891331" y="1862969"/>
            <a:ext cx="5399088" cy="1381125"/>
            <a:chOff x="1476375" y="1989138"/>
            <a:chExt cx="5399088" cy="1381125"/>
          </a:xfrm>
        </p:grpSpPr>
        <p:sp>
          <p:nvSpPr>
            <p:cNvPr id="28683" name="Rectangle 14"/>
            <p:cNvSpPr>
              <a:spLocks noChangeArrowheads="1"/>
            </p:cNvSpPr>
            <p:nvPr/>
          </p:nvSpPr>
          <p:spPr bwMode="auto">
            <a:xfrm>
              <a:off x="1503363" y="2065338"/>
              <a:ext cx="49053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prstDash val="lgDash"/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取</a:t>
              </a:r>
            </a:p>
          </p:txBody>
        </p:sp>
        <p:graphicFrame>
          <p:nvGraphicFramePr>
            <p:cNvPr id="28684" name="Object 5"/>
            <p:cNvGraphicFramePr>
              <a:graphicFrameLocks noChangeAspect="1"/>
            </p:cNvGraphicFramePr>
            <p:nvPr/>
          </p:nvGraphicFramePr>
          <p:xfrm>
            <a:off x="2195513" y="1989138"/>
            <a:ext cx="4679950" cy="566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37" name="Equation" r:id="rId9" imgW="36204525" imgH="4391025" progId="Equation.DSMT4">
                    <p:embed/>
                  </p:oleObj>
                </mc:Choice>
                <mc:Fallback>
                  <p:oleObj name="Equation" r:id="rId9" imgW="36204525" imgH="4391025" progId="Equation.DSMT4">
                    <p:embed/>
                    <p:pic>
                      <p:nvPicPr>
                        <p:cNvPr id="28684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5513" y="1989138"/>
                          <a:ext cx="4679950" cy="5667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prstDash val="lgDash"/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5" name="Rectangle 16"/>
            <p:cNvSpPr>
              <a:spLocks noChangeArrowheads="1"/>
            </p:cNvSpPr>
            <p:nvPr/>
          </p:nvSpPr>
          <p:spPr bwMode="auto">
            <a:xfrm>
              <a:off x="1476375" y="2708275"/>
              <a:ext cx="4905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prstDash val="lgDash"/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记</a:t>
              </a:r>
            </a:p>
          </p:txBody>
        </p:sp>
        <p:graphicFrame>
          <p:nvGraphicFramePr>
            <p:cNvPr id="28686" name="Object 6"/>
            <p:cNvGraphicFramePr>
              <a:graphicFrameLocks noChangeAspect="1"/>
            </p:cNvGraphicFramePr>
            <p:nvPr/>
          </p:nvGraphicFramePr>
          <p:xfrm>
            <a:off x="2484438" y="2852738"/>
            <a:ext cx="1752600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38" name="Equation" r:id="rId11" imgW="13382625" imgH="3952875" progId="Equation.DSMT4">
                    <p:embed/>
                  </p:oleObj>
                </mc:Choice>
                <mc:Fallback>
                  <p:oleObj name="Equation" r:id="rId11" imgW="13382625" imgH="3952875" progId="Equation.DSMT4">
                    <p:embed/>
                    <p:pic>
                      <p:nvPicPr>
                        <p:cNvPr id="28686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4438" y="2852738"/>
                          <a:ext cx="1752600" cy="517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prstDash val="lgDash"/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19"/>
          <p:cNvGrpSpPr>
            <a:grpSpLocks/>
          </p:cNvGrpSpPr>
          <p:nvPr/>
        </p:nvGrpSpPr>
        <p:grpSpPr bwMode="auto">
          <a:xfrm>
            <a:off x="2279650" y="5373689"/>
            <a:ext cx="5989638" cy="992187"/>
            <a:chOff x="755650" y="5373688"/>
            <a:chExt cx="5989638" cy="992187"/>
          </a:xfrm>
        </p:grpSpPr>
        <p:sp>
          <p:nvSpPr>
            <p:cNvPr id="28679" name="Rectangle 20"/>
            <p:cNvSpPr>
              <a:spLocks noChangeArrowheads="1"/>
            </p:cNvSpPr>
            <p:nvPr/>
          </p:nvSpPr>
          <p:spPr bwMode="auto">
            <a:xfrm>
              <a:off x="755650" y="5373688"/>
              <a:ext cx="20224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prstDash val="lgDash"/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且同样可求得</a:t>
              </a:r>
            </a:p>
          </p:txBody>
        </p:sp>
        <p:graphicFrame>
          <p:nvGraphicFramePr>
            <p:cNvPr id="28680" name="Object 8"/>
            <p:cNvGraphicFramePr>
              <a:graphicFrameLocks noChangeAspect="1"/>
            </p:cNvGraphicFramePr>
            <p:nvPr/>
          </p:nvGraphicFramePr>
          <p:xfrm>
            <a:off x="2811463" y="5661025"/>
            <a:ext cx="3933825" cy="704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39" name="Equation" r:id="rId13" imgW="29403675" imgH="5267325" progId="Equation.DSMT4">
                    <p:embed/>
                  </p:oleObj>
                </mc:Choice>
                <mc:Fallback>
                  <p:oleObj name="Equation" r:id="rId13" imgW="29403675" imgH="5267325" progId="Equation.DSMT4">
                    <p:embed/>
                    <p:pic>
                      <p:nvPicPr>
                        <p:cNvPr id="2868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1463" y="5661025"/>
                          <a:ext cx="3933825" cy="704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prstDash val="lgDash"/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1457944" y="3447293"/>
            <a:ext cx="7262812" cy="1657350"/>
            <a:chOff x="2566988" y="3573463"/>
            <a:chExt cx="7262812" cy="1657350"/>
          </a:xfrm>
        </p:grpSpPr>
        <p:grpSp>
          <p:nvGrpSpPr>
            <p:cNvPr id="5" name="组合 18"/>
            <p:cNvGrpSpPr>
              <a:grpSpLocks/>
            </p:cNvGrpSpPr>
            <p:nvPr/>
          </p:nvGrpSpPr>
          <p:grpSpPr bwMode="auto">
            <a:xfrm>
              <a:off x="2566988" y="3573463"/>
              <a:ext cx="7262812" cy="1657350"/>
              <a:chOff x="1042988" y="3573463"/>
              <a:chExt cx="7262812" cy="1657350"/>
            </a:xfrm>
          </p:grpSpPr>
          <p:sp>
            <p:nvSpPr>
              <p:cNvPr id="28681" name="Rectangle 18"/>
              <p:cNvSpPr>
                <a:spLocks noChangeArrowheads="1"/>
              </p:cNvSpPr>
              <p:nvPr/>
            </p:nvSpPr>
            <p:spPr bwMode="auto">
              <a:xfrm>
                <a:off x="1042988" y="3573463"/>
                <a:ext cx="796925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prstDash val="lgDash"/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zh-CN" altLang="en-US" sz="2400"/>
                  <a:t>因为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28682" name="Object 7"/>
                  <p:cNvGraphicFramePr>
                    <a:graphicFrameLocks noChangeAspect="1"/>
                  </p:cNvGraphicFramePr>
                  <p:nvPr/>
                </p:nvGraphicFramePr>
                <p:xfrm>
                  <a:off x="1962150" y="3933825"/>
                  <a:ext cx="6343650" cy="129698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30140" name="Equation" r:id="rId15" imgW="51568350" imgH="10534650" progId="Equation.DSMT4">
                          <p:embed/>
                        </p:oleObj>
                      </mc:Choice>
                      <mc:Fallback>
                        <p:oleObj name="Equation" r:id="rId15" imgW="51568350" imgH="10534650" progId="Equation.DSMT4">
                          <p:embed/>
                          <p:pic>
                            <p:nvPicPr>
                              <p:cNvPr id="28682" name="Object 7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6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962150" y="3933825"/>
                                <a:ext cx="6343650" cy="129698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 algn="ctr">
                                    <a:solidFill>
                                      <a:srgbClr val="000000"/>
                                    </a:solidFill>
                                    <a:prstDash val="lgDash"/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28682" name="Object 7"/>
                  <p:cNvGraphicFramePr>
                    <a:graphicFrameLocks noChangeAspect="1"/>
                  </p:cNvGraphicFramePr>
                  <p:nvPr/>
                </p:nvGraphicFramePr>
                <p:xfrm>
                  <a:off x="1962150" y="3933825"/>
                  <a:ext cx="6343650" cy="129698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28860" name="Equation" r:id="rId17" imgW="51568350" imgH="10534650" progId="Equation.DSMT4">
                          <p:embed/>
                        </p:oleObj>
                      </mc:Choice>
                      <mc:Fallback>
                        <p:oleObj name="Equation" r:id="rId17" imgW="51568350" imgH="10534650" progId="Equation.DSMT4">
                          <p:embed/>
                          <p:pic>
                            <p:nvPicPr>
                              <p:cNvPr id="0" name="Object 7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962150" y="3933825"/>
                                <a:ext cx="6343650" cy="129698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 algn="ctr">
                                    <a:solidFill>
                                      <a:srgbClr val="000000"/>
                                    </a:solidFill>
                                    <a:prstDash val="lgDash"/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3000375" y="4000500"/>
                  <a:ext cx="3845779" cy="49750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dx</m:t>
                      </m:r>
                    </m:oMath>
                  </a14:m>
                  <a:r>
                    <a:rPr lang="en-US" altLang="zh-CN" sz="2800" dirty="0"/>
                    <a:t>=1</a:t>
                  </a:r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0375" y="4000500"/>
                  <a:ext cx="3845779" cy="497508"/>
                </a:xfrm>
                <a:prstGeom prst="rect">
                  <a:avLst/>
                </a:prstGeom>
                <a:blipFill>
                  <a:blip r:embed="rId19"/>
                  <a:stretch>
                    <a:fillRect t="-13580" r="-1585" b="-382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8371754" y="4571611"/>
                <a:ext cx="3487737" cy="667555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pt-BR" altLang="zh-CN" sz="240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pt-BR" altLang="zh-CN" sz="2400" i="1" smtClean="0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altLang="zh-CN" sz="2400" i="1" smtClean="0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24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altLang="zh-CN" sz="2400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altLang="zh-CN" sz="2400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pt-BR" altLang="zh-CN" sz="2400" dirty="0">
                    <a:solidFill>
                      <a:srgbClr val="222222"/>
                    </a:solidFill>
                  </a:rPr>
                  <a:t> +C, </a:t>
                </a:r>
                <a:r>
                  <a:rPr lang="zh-CN" altLang="pt-BR" sz="2400" dirty="0">
                    <a:solidFill>
                      <a:srgbClr val="222222"/>
                    </a:solidFill>
                  </a:rPr>
                  <a:t>其中</a:t>
                </a:r>
                <a:r>
                  <a:rPr lang="pt-BR" altLang="zh-CN" sz="2400" dirty="0">
                    <a:solidFill>
                      <a:srgbClr val="222222"/>
                    </a:solidFill>
                  </a:rPr>
                  <a:t>n≠-1.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754" y="4571611"/>
                <a:ext cx="3487737" cy="667555"/>
              </a:xfrm>
              <a:prstGeom prst="rect">
                <a:avLst/>
              </a:prstGeom>
              <a:blipFill>
                <a:blip r:embed="rId20"/>
                <a:stretch>
                  <a:fillRect r="-5245" b="-128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9263703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2"/>
          <p:cNvGrpSpPr>
            <a:grpSpLocks/>
          </p:cNvGrpSpPr>
          <p:nvPr/>
        </p:nvGrpSpPr>
        <p:grpSpPr bwMode="auto">
          <a:xfrm>
            <a:off x="1770100" y="263275"/>
            <a:ext cx="4469725" cy="2013621"/>
            <a:chOff x="854075" y="592138"/>
            <a:chExt cx="4469725" cy="2013688"/>
          </a:xfrm>
        </p:grpSpPr>
        <p:sp>
          <p:nvSpPr>
            <p:cNvPr id="29710" name="Rectangle 4"/>
            <p:cNvSpPr>
              <a:spLocks noChangeArrowheads="1"/>
            </p:cNvSpPr>
            <p:nvPr/>
          </p:nvSpPr>
          <p:spPr bwMode="auto">
            <a:xfrm>
              <a:off x="854075" y="592138"/>
              <a:ext cx="1723549" cy="461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prstDash val="lgDash"/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所以，关于</a:t>
              </a:r>
            </a:p>
          </p:txBody>
        </p:sp>
        <p:graphicFrame>
          <p:nvGraphicFramePr>
            <p:cNvPr id="29711" name="Object 2"/>
            <p:cNvGraphicFramePr>
              <a:graphicFrameLocks noChangeAspect="1"/>
            </p:cNvGraphicFramePr>
            <p:nvPr/>
          </p:nvGraphicFramePr>
          <p:xfrm>
            <a:off x="2454275" y="592138"/>
            <a:ext cx="857250" cy="571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986" name="Equation" r:id="rId3" imgW="5924550" imgH="3952875" progId="Equation.DSMT4">
                    <p:embed/>
                  </p:oleObj>
                </mc:Choice>
                <mc:Fallback>
                  <p:oleObj name="Equation" r:id="rId3" imgW="5924550" imgH="3952875" progId="Equation.DSMT4">
                    <p:embed/>
                    <p:pic>
                      <p:nvPicPr>
                        <p:cNvPr id="29711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4275" y="592138"/>
                          <a:ext cx="857250" cy="571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prstDash val="lgDash"/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2" name="Rectangle 6"/>
            <p:cNvSpPr>
              <a:spLocks noChangeArrowheads="1"/>
            </p:cNvSpPr>
            <p:nvPr/>
          </p:nvSpPr>
          <p:spPr bwMode="auto">
            <a:xfrm>
              <a:off x="3292475" y="592138"/>
              <a:ext cx="2031325" cy="461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prstDash val="lgDash"/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的法方程组为</a:t>
              </a:r>
            </a:p>
          </p:txBody>
        </p:sp>
        <p:graphicFrame>
          <p:nvGraphicFramePr>
            <p:cNvPr id="29713" name="Object 3"/>
            <p:cNvGraphicFramePr>
              <a:graphicFrameLocks noChangeAspect="1"/>
            </p:cNvGraphicFramePr>
            <p:nvPr>
              <p:extLst/>
            </p:nvPr>
          </p:nvGraphicFramePr>
          <p:xfrm>
            <a:off x="1626720" y="1223114"/>
            <a:ext cx="3070048" cy="1382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987" name="Equation" r:id="rId5" imgW="17335500" imgH="14478000" progId="Equation.DSMT4">
                    <p:embed/>
                  </p:oleObj>
                </mc:Choice>
                <mc:Fallback>
                  <p:oleObj name="Equation" r:id="rId5" imgW="17335500" imgH="14478000" progId="Equation.DSMT4">
                    <p:embed/>
                    <p:pic>
                      <p:nvPicPr>
                        <p:cNvPr id="29713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6720" y="1223114"/>
                          <a:ext cx="3070048" cy="13827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13"/>
          <p:cNvGrpSpPr>
            <a:grpSpLocks/>
          </p:cNvGrpSpPr>
          <p:nvPr/>
        </p:nvGrpSpPr>
        <p:grpSpPr bwMode="auto">
          <a:xfrm>
            <a:off x="2030674" y="2410162"/>
            <a:ext cx="3258502" cy="612104"/>
            <a:chOff x="917411" y="2933246"/>
            <a:chExt cx="3621252" cy="673100"/>
          </a:xfrm>
        </p:grpSpPr>
        <p:sp>
          <p:nvSpPr>
            <p:cNvPr id="29708" name="Rectangle 10"/>
            <p:cNvSpPr>
              <a:spLocks noChangeArrowheads="1"/>
            </p:cNvSpPr>
            <p:nvPr/>
          </p:nvSpPr>
          <p:spPr bwMode="auto">
            <a:xfrm>
              <a:off x="917411" y="3041196"/>
              <a:ext cx="7969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prstDash val="lgDash"/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dirty="0"/>
                <a:t>解得</a:t>
              </a:r>
            </a:p>
          </p:txBody>
        </p:sp>
        <p:graphicFrame>
          <p:nvGraphicFramePr>
            <p:cNvPr id="29709" name="Object 4"/>
            <p:cNvGraphicFramePr>
              <a:graphicFrameLocks noChangeAspect="1"/>
            </p:cNvGraphicFramePr>
            <p:nvPr>
              <p:extLst/>
            </p:nvPr>
          </p:nvGraphicFramePr>
          <p:xfrm>
            <a:off x="2100263" y="2933246"/>
            <a:ext cx="2438400" cy="673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988" name="Equation" r:id="rId7" imgW="19088100" imgH="5267325" progId="Equation.DSMT4">
                    <p:embed/>
                  </p:oleObj>
                </mc:Choice>
                <mc:Fallback>
                  <p:oleObj name="Equation" r:id="rId7" imgW="19088100" imgH="5267325" progId="Equation.DSMT4">
                    <p:embed/>
                    <p:pic>
                      <p:nvPicPr>
                        <p:cNvPr id="29709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0263" y="2933246"/>
                          <a:ext cx="2438400" cy="673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prstDash val="lgDash"/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14"/>
          <p:cNvGrpSpPr>
            <a:grpSpLocks/>
          </p:cNvGrpSpPr>
          <p:nvPr/>
        </p:nvGrpSpPr>
        <p:grpSpPr bwMode="auto">
          <a:xfrm>
            <a:off x="2048406" y="3270250"/>
            <a:ext cx="3106300" cy="550123"/>
            <a:chOff x="914400" y="4272702"/>
            <a:chExt cx="3106300" cy="550123"/>
          </a:xfrm>
        </p:grpSpPr>
        <p:sp>
          <p:nvSpPr>
            <p:cNvPr id="29706" name="Rectangle 12"/>
            <p:cNvSpPr>
              <a:spLocks noChangeArrowheads="1"/>
            </p:cNvSpPr>
            <p:nvPr/>
          </p:nvSpPr>
          <p:spPr bwMode="auto">
            <a:xfrm>
              <a:off x="914400" y="4365625"/>
              <a:ext cx="4905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prstDash val="lgDash"/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dirty="0"/>
                <a:t>即</a:t>
              </a:r>
            </a:p>
          </p:txBody>
        </p:sp>
        <p:graphicFrame>
          <p:nvGraphicFramePr>
            <p:cNvPr id="2970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5322301"/>
                </p:ext>
              </p:extLst>
            </p:nvPr>
          </p:nvGraphicFramePr>
          <p:xfrm>
            <a:off x="1901294" y="4272702"/>
            <a:ext cx="2119406" cy="5418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989" name="Equation" r:id="rId9" imgW="20621625" imgH="5267325" progId="Equation.DSMT4">
                    <p:embed/>
                  </p:oleObj>
                </mc:Choice>
                <mc:Fallback>
                  <p:oleObj name="Equation" r:id="rId9" imgW="20621625" imgH="5267325" progId="Equation.DSMT4">
                    <p:embed/>
                    <p:pic>
                      <p:nvPicPr>
                        <p:cNvPr id="2970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1294" y="4272702"/>
                          <a:ext cx="2119406" cy="5418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15"/>
          <p:cNvGrpSpPr>
            <a:grpSpLocks/>
          </p:cNvGrpSpPr>
          <p:nvPr/>
        </p:nvGrpSpPr>
        <p:grpSpPr bwMode="auto">
          <a:xfrm>
            <a:off x="205001" y="3858532"/>
            <a:ext cx="6840537" cy="582612"/>
            <a:chOff x="552713" y="5359918"/>
            <a:chExt cx="6840537" cy="582612"/>
          </a:xfrm>
        </p:grpSpPr>
        <p:graphicFrame>
          <p:nvGraphicFramePr>
            <p:cNvPr id="29703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4578929"/>
                </p:ext>
              </p:extLst>
            </p:nvPr>
          </p:nvGraphicFramePr>
          <p:xfrm>
            <a:off x="1335854" y="5480076"/>
            <a:ext cx="781958" cy="403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990" name="Equation" r:id="rId11" imgW="8772525" imgH="4391025" progId="Equation.DSMT4">
                    <p:embed/>
                  </p:oleObj>
                </mc:Choice>
                <mc:Fallback>
                  <p:oleObj name="Equation" r:id="rId11" imgW="8772525" imgH="4391025" progId="Equation.DSMT4">
                    <p:embed/>
                    <p:pic>
                      <p:nvPicPr>
                        <p:cNvPr id="29703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5854" y="5480076"/>
                          <a:ext cx="781958" cy="403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4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7856514"/>
                </p:ext>
              </p:extLst>
            </p:nvPr>
          </p:nvGraphicFramePr>
          <p:xfrm>
            <a:off x="2900953" y="5359918"/>
            <a:ext cx="1524000" cy="582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991" name="Equation" r:id="rId13" imgW="12068175" imgH="4610100" progId="Equation.DSMT4">
                    <p:embed/>
                  </p:oleObj>
                </mc:Choice>
                <mc:Fallback>
                  <p:oleObj name="Equation" r:id="rId13" imgW="12068175" imgH="4610100" progId="Equation.DSMT4">
                    <p:embed/>
                    <p:pic>
                      <p:nvPicPr>
                        <p:cNvPr id="29704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0953" y="5359918"/>
                          <a:ext cx="1524000" cy="5826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prstDash val="lgDash"/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5" name="Rectangle 18"/>
            <p:cNvSpPr>
              <a:spLocks noChangeArrowheads="1"/>
            </p:cNvSpPr>
            <p:nvPr/>
          </p:nvSpPr>
          <p:spPr bwMode="auto">
            <a:xfrm>
              <a:off x="552713" y="5420338"/>
              <a:ext cx="6840537" cy="465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prstDash val="lgDash"/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dirty="0"/>
                <a:t>为                中对                       的</a:t>
              </a:r>
              <a:r>
                <a:rPr lang="zh-CN" altLang="en-US" sz="2400" dirty="0">
                  <a:solidFill>
                    <a:srgbClr val="FF00FF"/>
                  </a:solidFill>
                </a:rPr>
                <a:t>最佳平方逼近式</a:t>
              </a:r>
              <a:r>
                <a:rPr lang="zh-CN" altLang="en-US" sz="2400" dirty="0"/>
                <a:t>。</a:t>
              </a:r>
            </a:p>
          </p:txBody>
        </p:sp>
      </p:grpSp>
      <p:pic>
        <p:nvPicPr>
          <p:cNvPr id="29702" name="图片 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4604" y="59357"/>
            <a:ext cx="5060506" cy="3885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67838E9-DC7D-410F-AD7F-A17BCC9FFD0C}"/>
              </a:ext>
            </a:extLst>
          </p:cNvPr>
          <p:cNvSpPr txBox="1"/>
          <p:nvPr/>
        </p:nvSpPr>
        <p:spPr>
          <a:xfrm>
            <a:off x="2517274" y="459524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误差：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E0FF020-749F-44AF-A9D4-BBEA63147902}"/>
                  </a:ext>
                </a:extLst>
              </p:cNvPr>
              <p:cNvSpPr txBox="1"/>
              <p:nvPr/>
            </p:nvSpPr>
            <p:spPr>
              <a:xfrm>
                <a:off x="4258229" y="5351904"/>
                <a:ext cx="4823500" cy="15032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"/>
                          <m:endChr m:val="|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f>
                        <m:fPr>
                          <m:type m:val="noBar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−(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≈0.0022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E0FF020-749F-44AF-A9D4-BBEA63147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229" y="5351904"/>
                <a:ext cx="4823500" cy="150329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ED42119-8909-4E9D-885F-82785D0FF375}"/>
                  </a:ext>
                </a:extLst>
              </p:cNvPr>
              <p:cNvSpPr txBox="1"/>
              <p:nvPr/>
            </p:nvSpPr>
            <p:spPr>
              <a:xfrm>
                <a:off x="3237784" y="4413718"/>
                <a:ext cx="4623317" cy="10500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ED42119-8909-4E9D-885F-82785D0FF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784" y="4413718"/>
                <a:ext cx="4623317" cy="105003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07999" y="679682"/>
                <a:ext cx="10754259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/>
                  <a:t>例：用最小二乘法求形如</a:t>
                </a:r>
                <a:r>
                  <a:rPr lang="en-US" altLang="zh-CN" sz="2400" b="1" dirty="0"/>
                  <a:t>y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𝒃</m:t>
                    </m:r>
                    <m:sSup>
                      <m:sSup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2400" b="1" dirty="0"/>
                  <a:t>的多项式，使之与下列数据相拟合。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99" y="679682"/>
                <a:ext cx="10754259" cy="470000"/>
              </a:xfrm>
              <a:prstGeom prst="rect">
                <a:avLst/>
              </a:prstGeom>
              <a:blipFill>
                <a:blip r:embed="rId2"/>
                <a:stretch>
                  <a:fillRect l="-850" t="-17949" b="-294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635331" y="2353825"/>
                <a:ext cx="338329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/>
                  <a:t>解：函数空间基为：</a:t>
                </a:r>
                <a:r>
                  <a:rPr lang="en-US" altLang="zh-CN" sz="2000" dirty="0"/>
                  <a:t>{1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，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000" dirty="0"/>
                  <a:t>}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331" y="2353825"/>
                <a:ext cx="3383298" cy="400110"/>
              </a:xfrm>
              <a:prstGeom prst="rect">
                <a:avLst/>
              </a:prstGeom>
              <a:blipFill>
                <a:blip r:embed="rId3"/>
                <a:stretch>
                  <a:fillRect l="-1802" t="-15152" r="-1622" b="-303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575027" y="2913782"/>
                <a:ext cx="3359643" cy="32342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</m:oMath>
                </a14:m>
                <a:r>
                  <a:rPr lang="en-US" altLang="zh-CN" sz="2000" dirty="0"/>
                  <a:t>=5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027" y="2913782"/>
                <a:ext cx="3359643" cy="323422"/>
              </a:xfrm>
              <a:prstGeom prst="rect">
                <a:avLst/>
              </a:prstGeom>
              <a:blipFill>
                <a:blip r:embed="rId4"/>
                <a:stretch>
                  <a:fillRect l="-3630" t="-167925" b="-235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4745495" y="2913782"/>
                <a:ext cx="3086614" cy="4157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altLang="zh-CN" sz="2000" dirty="0"/>
                  <a:t>=5327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495" y="2913782"/>
                <a:ext cx="3086614" cy="415755"/>
              </a:xfrm>
              <a:prstGeom prst="rect">
                <a:avLst/>
              </a:prstGeom>
              <a:blipFill>
                <a:blip r:embed="rId5"/>
                <a:stretch>
                  <a:fillRect l="-986" t="-119118" b="-173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8105138" y="2907964"/>
                <a:ext cx="3202864" cy="4157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altLang="zh-CN" sz="2000" dirty="0"/>
                  <a:t>=7277699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5138" y="2907964"/>
                <a:ext cx="3202864" cy="415755"/>
              </a:xfrm>
              <a:prstGeom prst="rect">
                <a:avLst/>
              </a:prstGeom>
              <a:blipFill>
                <a:blip r:embed="rId6"/>
                <a:stretch>
                  <a:fillRect l="-952" t="-119118" r="-952" b="-173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404712" y="3799695"/>
                <a:ext cx="3028970" cy="9566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=271.45</m:t>
                          </m:r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712" y="3799695"/>
                <a:ext cx="3028970" cy="9566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4842704" y="3773188"/>
                <a:ext cx="3578287" cy="9566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369321.5</m:t>
                          </m:r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704" y="3773188"/>
                <a:ext cx="3578287" cy="95660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8A498F59-CD2B-4126-A6BD-8D3E06CC5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32438"/>
              </p:ext>
            </p:extLst>
          </p:nvPr>
        </p:nvGraphicFramePr>
        <p:xfrm>
          <a:off x="2031999" y="1284234"/>
          <a:ext cx="81280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408677242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0924119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61778781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5526577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775765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11825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203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32.3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73.3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97.8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12774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348A338-AC66-4DF1-95DE-2035D773C1E7}"/>
                  </a:ext>
                </a:extLst>
              </p:cNvPr>
              <p:cNvSpPr txBox="1"/>
              <p:nvPr/>
            </p:nvSpPr>
            <p:spPr>
              <a:xfrm>
                <a:off x="1828800" y="5344594"/>
                <a:ext cx="3363741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+5327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=271.45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5327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+7277699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=369321.5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348A338-AC66-4DF1-95DE-2035D773C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5344594"/>
                <a:ext cx="3363741" cy="6178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41DAF57-37C5-4EF3-9B1C-6C5DD6AAE574}"/>
                  </a:ext>
                </a:extLst>
              </p:cNvPr>
              <p:cNvSpPr txBox="1"/>
              <p:nvPr/>
            </p:nvSpPr>
            <p:spPr>
              <a:xfrm>
                <a:off x="5885128" y="5344594"/>
                <a:ext cx="1162562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=0.973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=0.0.5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41DAF57-37C5-4EF3-9B1C-6C5DD6AAE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128" y="5344594"/>
                <a:ext cx="1162562" cy="61786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6CC5179-7ECA-4273-A390-723E2B62CD6C}"/>
                  </a:ext>
                </a:extLst>
              </p:cNvPr>
              <p:cNvSpPr/>
              <p:nvPr/>
            </p:nvSpPr>
            <p:spPr>
              <a:xfrm>
                <a:off x="1828800" y="6298189"/>
                <a:ext cx="2194768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/>
                  <a:t>y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𝟗𝟕𝟑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𝟎𝟓</m:t>
                    </m:r>
                    <m:sSup>
                      <m:sSup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6CC5179-7ECA-4273-A390-723E2B62CD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6298189"/>
                <a:ext cx="2194768" cy="375552"/>
              </a:xfrm>
              <a:prstGeom prst="rect">
                <a:avLst/>
              </a:prstGeom>
              <a:blipFill>
                <a:blip r:embed="rId11"/>
                <a:stretch>
                  <a:fillRect l="-2222" t="-4839" b="-25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2483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/>
      <p:bldP spid="10" grpId="0"/>
      <p:bldP spid="11" grpId="0"/>
      <p:bldP spid="14" grpId="0"/>
      <p:bldP spid="15" grpId="0"/>
      <p:bldP spid="1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模型的建立与标准化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优化问题的模型：目标函数和约束条件</a:t>
            </a:r>
            <a:endParaRPr lang="en-US" altLang="zh-CN" dirty="0"/>
          </a:p>
          <a:p>
            <a:r>
              <a:rPr lang="zh-CN" altLang="en-US" dirty="0"/>
              <a:t>模型的标准化：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84327" y="2774687"/>
            <a:ext cx="480131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目标函数求最大值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所有约束条件均由等式表示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每个约束条件右端常数常为非负值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所有决策变量为非负值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7673328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1" uiExpand="1" build="allAtOnce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1116" y="1253045"/>
            <a:ext cx="10898378" cy="4804682"/>
          </a:xfrm>
        </p:spPr>
        <p:txBody>
          <a:bodyPr/>
          <a:lstStyle/>
          <a:p>
            <a:r>
              <a:rPr lang="zh-CN" altLang="en-US" dirty="0"/>
              <a:t>基本原理</a:t>
            </a:r>
            <a:endParaRPr lang="en-US" altLang="zh-CN" dirty="0"/>
          </a:p>
          <a:p>
            <a:r>
              <a:rPr lang="zh-CN" altLang="en-US" dirty="0"/>
              <a:t>求最优值：最优步长的求取</a:t>
            </a:r>
            <a:endParaRPr lang="en-US" altLang="zh-CN" dirty="0"/>
          </a:p>
          <a:p>
            <a:r>
              <a:rPr lang="zh-CN" altLang="en-US" dirty="0"/>
              <a:t>解线性方程组：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 flipH="1">
                <a:off x="2661226" y="1367518"/>
                <a:ext cx="3469079" cy="530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 sz="2400" i="1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𝛻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61226" y="1367518"/>
                <a:ext cx="3469079" cy="5309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67"/>
          <p:cNvSpPr>
            <a:spLocks noChangeArrowheads="1"/>
          </p:cNvSpPr>
          <p:nvPr/>
        </p:nvSpPr>
        <p:spPr bwMode="auto">
          <a:xfrm>
            <a:off x="240155" y="3287903"/>
            <a:ext cx="8377372" cy="2879918"/>
          </a:xfrm>
          <a:prstGeom prst="rect">
            <a:avLst/>
          </a:prstGeom>
          <a:noFill/>
          <a:ln w="28575" algn="ctr">
            <a:solidFill>
              <a:srgbClr val="0099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6" name="Rectangle 471"/>
          <p:cNvSpPr>
            <a:spLocks noChangeArrowheads="1"/>
          </p:cNvSpPr>
          <p:nvPr/>
        </p:nvSpPr>
        <p:spPr bwMode="auto">
          <a:xfrm>
            <a:off x="482361" y="3787388"/>
            <a:ext cx="330571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ea typeface="黑体" panose="02010609060101010101" pitchFamily="49" charset="-122"/>
              </a:rPr>
              <a:t>解线性方程组 </a:t>
            </a:r>
            <a:r>
              <a:rPr lang="en-US" altLang="zh-CN" i="1" dirty="0">
                <a:solidFill>
                  <a:srgbClr val="3333FF"/>
                </a:solidFill>
                <a:ea typeface="黑体" panose="02010609060101010101" pitchFamily="49" charset="-122"/>
              </a:rPr>
              <a:t>Ax = b</a:t>
            </a:r>
            <a:r>
              <a:rPr lang="en-US" altLang="zh-CN" sz="2400" dirty="0"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7" name="Rectangle 472"/>
          <p:cNvSpPr>
            <a:spLocks noChangeArrowheads="1"/>
          </p:cNvSpPr>
          <p:nvPr/>
        </p:nvSpPr>
        <p:spPr bwMode="auto">
          <a:xfrm>
            <a:off x="3956393" y="4958005"/>
            <a:ext cx="437331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ea typeface="黑体" panose="02010609060101010101" pitchFamily="49" charset="-122"/>
              </a:rPr>
              <a:t>求 </a:t>
            </a:r>
            <a:r>
              <a:rPr lang="en-US" altLang="zh-CN" i="1" dirty="0">
                <a:solidFill>
                  <a:srgbClr val="3333FF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H</a:t>
            </a:r>
            <a:r>
              <a:rPr lang="en-US" altLang="zh-CN" dirty="0">
                <a:solidFill>
                  <a:srgbClr val="3333FF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3333FF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3333FF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CN" sz="2400" dirty="0"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ea typeface="黑体" panose="02010609060101010101" pitchFamily="49" charset="-122"/>
              </a:rPr>
              <a:t>的最小值点</a:t>
            </a:r>
            <a:r>
              <a:rPr lang="en-US" altLang="zh-CN" sz="2400" dirty="0"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ea typeface="黑体" panose="02010609060101010101" pitchFamily="49" charset="-122"/>
              </a:rPr>
              <a:t>极小值点</a:t>
            </a:r>
            <a:r>
              <a:rPr lang="en-US" altLang="zh-CN" sz="2400" dirty="0"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8" name="Freeform 473"/>
          <p:cNvSpPr>
            <a:spLocks/>
          </p:cNvSpPr>
          <p:nvPr/>
        </p:nvSpPr>
        <p:spPr bwMode="auto">
          <a:xfrm rot="16200000">
            <a:off x="7044974" y="3813075"/>
            <a:ext cx="1223962" cy="1295400"/>
          </a:xfrm>
          <a:custGeom>
            <a:avLst/>
            <a:gdLst>
              <a:gd name="T0" fmla="*/ 0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0 h 21600"/>
              <a:gd name="T14" fmla="*/ 2147483646 w 21600"/>
              <a:gd name="T15" fmla="*/ 2147483646 h 21600"/>
              <a:gd name="T16" fmla="*/ 2147483646 w 21600"/>
              <a:gd name="T17" fmla="*/ 2147483646 h 21600"/>
              <a:gd name="T18" fmla="*/ 2147483646 w 21600"/>
              <a:gd name="T19" fmla="*/ 2147483646 h 21600"/>
              <a:gd name="T20" fmla="*/ 2147483646 w 21600"/>
              <a:gd name="T21" fmla="*/ 2147483646 h 21600"/>
              <a:gd name="T22" fmla="*/ 2147483646 w 21600"/>
              <a:gd name="T23" fmla="*/ 2147483646 h 216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1600" h="21600">
                <a:moveTo>
                  <a:pt x="0" y="16473"/>
                </a:moveTo>
                <a:lnTo>
                  <a:pt x="5452" y="11346"/>
                </a:lnTo>
                <a:lnTo>
                  <a:pt x="5452" y="14400"/>
                </a:lnTo>
                <a:lnTo>
                  <a:pt x="14400" y="14400"/>
                </a:lnTo>
                <a:lnTo>
                  <a:pt x="14400" y="5452"/>
                </a:lnTo>
                <a:lnTo>
                  <a:pt x="11346" y="5452"/>
                </a:lnTo>
                <a:lnTo>
                  <a:pt x="16473" y="0"/>
                </a:lnTo>
                <a:lnTo>
                  <a:pt x="21600" y="5452"/>
                </a:lnTo>
                <a:lnTo>
                  <a:pt x="18545" y="5452"/>
                </a:lnTo>
                <a:lnTo>
                  <a:pt x="18545" y="18545"/>
                </a:lnTo>
                <a:lnTo>
                  <a:pt x="5452" y="18545"/>
                </a:lnTo>
                <a:lnTo>
                  <a:pt x="5452" y="21600"/>
                </a:lnTo>
                <a:lnTo>
                  <a:pt x="0" y="16473"/>
                </a:lnTo>
                <a:close/>
              </a:path>
            </a:pathLst>
          </a:custGeom>
          <a:solidFill>
            <a:srgbClr val="BBE0E3"/>
          </a:solidFill>
          <a:ln w="9525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82361" y="4790956"/>
                <a:ext cx="3398879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61" y="4790956"/>
                <a:ext cx="3398879" cy="8066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22"/>
          <p:cNvSpPr txBox="1">
            <a:spLocks noChangeArrowheads="1"/>
          </p:cNvSpPr>
          <p:nvPr/>
        </p:nvSpPr>
        <p:spPr bwMode="auto">
          <a:xfrm>
            <a:off x="3493415" y="3848794"/>
            <a:ext cx="341816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/>
              <a:t>（设 </a:t>
            </a:r>
            <a:r>
              <a:rPr lang="en-US" altLang="zh-CN" sz="2400" b="1" i="1" dirty="0"/>
              <a:t>A</a:t>
            </a:r>
            <a:r>
              <a:rPr lang="zh-CN" altLang="en-US" sz="2400" i="1" dirty="0"/>
              <a:t> </a:t>
            </a:r>
            <a:r>
              <a:rPr lang="zh-CN" altLang="en-US" sz="2400" dirty="0"/>
              <a:t>是</a:t>
            </a:r>
            <a:r>
              <a:rPr lang="zh-CN" altLang="en-US" sz="2400" dirty="0">
                <a:solidFill>
                  <a:srgbClr val="FF0000"/>
                </a:solidFill>
              </a:rPr>
              <a:t>对称正定矩阵</a:t>
            </a:r>
            <a:r>
              <a:rPr lang="zh-CN" altLang="en-US" sz="2400" dirty="0"/>
              <a:t>）</a:t>
            </a:r>
          </a:p>
        </p:txBody>
      </p:sp>
      <p:graphicFrame>
        <p:nvGraphicFramePr>
          <p:cNvPr id="11" name="Object 5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7133116"/>
              </p:ext>
            </p:extLst>
          </p:nvPr>
        </p:nvGraphicFramePr>
        <p:xfrm>
          <a:off x="8707728" y="2787621"/>
          <a:ext cx="3433763" cy="240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4" name="Equation" r:id="rId5" imgW="22602825" imgH="15801975" progId="Equation.DSMT4">
                  <p:embed/>
                </p:oleObj>
              </mc:Choice>
              <mc:Fallback>
                <p:oleObj name="Equation" r:id="rId5" imgW="22602825" imgH="15801975" progId="Equation.DSMT4">
                  <p:embed/>
                  <p:pic>
                    <p:nvPicPr>
                      <p:cNvPr id="2554" name="Object 5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7728" y="2787621"/>
                        <a:ext cx="3433763" cy="240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152914"/>
              </p:ext>
            </p:extLst>
          </p:nvPr>
        </p:nvGraphicFramePr>
        <p:xfrm>
          <a:off x="9058488" y="5507936"/>
          <a:ext cx="2449512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5" name="Equation" r:id="rId7" imgW="14039850" imgH="3514725" progId="Equation.DSMT4">
                  <p:embed/>
                </p:oleObj>
              </mc:Choice>
              <mc:Fallback>
                <p:oleObj name="Equation" r:id="rId7" imgW="14039850" imgH="3514725" progId="Equation.DSMT4">
                  <p:embed/>
                  <p:pic>
                    <p:nvPicPr>
                      <p:cNvPr id="2555" name="Object 5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8488" y="5507936"/>
                        <a:ext cx="2449512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29165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共轭梯度下降法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1116" y="1253045"/>
            <a:ext cx="10898378" cy="4804682"/>
          </a:xfrm>
        </p:spPr>
        <p:txBody>
          <a:bodyPr/>
          <a:lstStyle/>
          <a:p>
            <a:r>
              <a:rPr lang="zh-CN" altLang="en-US" dirty="0"/>
              <a:t>一般函数的求最小值</a:t>
            </a:r>
            <a:endParaRPr lang="en-US" altLang="zh-CN" dirty="0"/>
          </a:p>
        </p:txBody>
      </p:sp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30C3B517-C6ED-4D1E-9599-19331796C0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662278"/>
              </p:ext>
            </p:extLst>
          </p:nvPr>
        </p:nvGraphicFramePr>
        <p:xfrm>
          <a:off x="1157288" y="4716463"/>
          <a:ext cx="73421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4" r:id="rId3" imgW="7067765" imgH="355292" progId="">
                  <p:embed/>
                </p:oleObj>
              </mc:Choice>
              <mc:Fallback>
                <p:oleObj r:id="rId3" imgW="7067765" imgH="355292" progId="">
                  <p:embed/>
                  <p:pic>
                    <p:nvPicPr>
                      <p:cNvPr id="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288" y="4716463"/>
                        <a:ext cx="734218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C61EE482-D72A-4F6D-9810-AB7936931F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971427"/>
              </p:ext>
            </p:extLst>
          </p:nvPr>
        </p:nvGraphicFramePr>
        <p:xfrm>
          <a:off x="1169584" y="1973005"/>
          <a:ext cx="747871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5" r:id="rId5" imgW="6956581" imgH="393529" progId="">
                  <p:embed/>
                </p:oleObj>
              </mc:Choice>
              <mc:Fallback>
                <p:oleObj r:id="rId5" imgW="6956581" imgH="393529" progId="">
                  <p:embed/>
                  <p:pic>
                    <p:nvPicPr>
                      <p:cNvPr id="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584" y="1973005"/>
                        <a:ext cx="7478713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>
            <a:extLst>
              <a:ext uri="{FF2B5EF4-FFF2-40B4-BE49-F238E27FC236}">
                <a16:creationId xmlns:a16="http://schemas.microsoft.com/office/drawing/2014/main" id="{5BF82929-2C2C-482C-A0BE-1E46B099FB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963372"/>
              </p:ext>
            </p:extLst>
          </p:nvPr>
        </p:nvGraphicFramePr>
        <p:xfrm>
          <a:off x="1550584" y="2582605"/>
          <a:ext cx="3200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6" r:id="rId7" imgW="3096112" imgH="317225" progId="">
                  <p:embed/>
                </p:oleObj>
              </mc:Choice>
              <mc:Fallback>
                <p:oleObj r:id="rId7" imgW="3096112" imgH="317225" progId="">
                  <p:embed/>
                  <p:pic>
                    <p:nvPicPr>
                      <p:cNvPr id="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584" y="2582605"/>
                        <a:ext cx="32004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8">
            <a:extLst>
              <a:ext uri="{FF2B5EF4-FFF2-40B4-BE49-F238E27FC236}">
                <a16:creationId xmlns:a16="http://schemas.microsoft.com/office/drawing/2014/main" id="{F80A8662-A310-4185-B894-103E21440A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513593"/>
              </p:ext>
            </p:extLst>
          </p:nvPr>
        </p:nvGraphicFramePr>
        <p:xfrm>
          <a:off x="2769784" y="3039805"/>
          <a:ext cx="3378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7" r:id="rId9" imgW="3375270" imgH="406048" progId="">
                  <p:embed/>
                </p:oleObj>
              </mc:Choice>
              <mc:Fallback>
                <p:oleObj r:id="rId9" imgW="3375270" imgH="406048" progId="">
                  <p:embed/>
                  <p:pic>
                    <p:nvPicPr>
                      <p:cNvPr id="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9784" y="3039805"/>
                        <a:ext cx="3378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9">
            <a:extLst>
              <a:ext uri="{FF2B5EF4-FFF2-40B4-BE49-F238E27FC236}">
                <a16:creationId xmlns:a16="http://schemas.microsoft.com/office/drawing/2014/main" id="{8061BB03-0EDE-440B-9116-E6A4EB86BC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176507"/>
              </p:ext>
            </p:extLst>
          </p:nvPr>
        </p:nvGraphicFramePr>
        <p:xfrm>
          <a:off x="1550584" y="3573205"/>
          <a:ext cx="2946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8" r:id="rId11" imgW="2946400" imgH="787400" progId="">
                  <p:embed/>
                </p:oleObj>
              </mc:Choice>
              <mc:Fallback>
                <p:oleObj r:id="rId11" imgW="2946400" imgH="787400" progId="">
                  <p:embed/>
                  <p:pic>
                    <p:nvPicPr>
                      <p:cNvPr id="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584" y="3573205"/>
                        <a:ext cx="2946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77029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线性规划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解的分类：唯一最优解，无穷多个最优解，无界解，无可行解</a:t>
            </a:r>
            <a:endParaRPr lang="en-US" altLang="zh-CN" dirty="0"/>
          </a:p>
          <a:p>
            <a:r>
              <a:rPr lang="zh-CN" altLang="en-US" dirty="0"/>
              <a:t>图形法</a:t>
            </a:r>
            <a:endParaRPr lang="en-US" altLang="zh-CN" dirty="0"/>
          </a:p>
          <a:p>
            <a:r>
              <a:rPr lang="zh-CN" altLang="en-US" dirty="0"/>
              <a:t>单纯形法</a:t>
            </a:r>
            <a:endParaRPr lang="en-US" altLang="zh-CN" dirty="0"/>
          </a:p>
          <a:p>
            <a:pPr lvl="1"/>
            <a:r>
              <a:rPr lang="zh-CN" altLang="en-US" dirty="0"/>
              <a:t>工具：单纯形表</a:t>
            </a:r>
            <a:endParaRPr lang="en-US" altLang="zh-CN" dirty="0"/>
          </a:p>
          <a:p>
            <a:pPr lvl="1"/>
            <a:r>
              <a:rPr lang="zh-CN" altLang="en-US" dirty="0"/>
              <a:t>不存在现成的单位矩阵：大</a:t>
            </a:r>
            <a:r>
              <a:rPr lang="en-US" altLang="zh-CN" dirty="0"/>
              <a:t>M</a:t>
            </a:r>
            <a:r>
              <a:rPr lang="zh-CN" altLang="en-US" dirty="0"/>
              <a:t>法和两阶段法</a:t>
            </a:r>
          </a:p>
        </p:txBody>
      </p:sp>
    </p:spTree>
    <p:extLst>
      <p:ext uri="{BB962C8B-B14F-4D97-AF65-F5344CB8AC3E}">
        <p14:creationId xmlns:p14="http://schemas.microsoft.com/office/powerpoint/2010/main" val="36993261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智能优化技术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99872" y="1215118"/>
            <a:ext cx="10898378" cy="4804682"/>
          </a:xfrm>
        </p:spPr>
        <p:txBody>
          <a:bodyPr>
            <a:normAutofit/>
          </a:bodyPr>
          <a:lstStyle/>
          <a:p>
            <a:r>
              <a:rPr lang="zh-CN" altLang="en-US" dirty="0"/>
              <a:t>启发式算法</a:t>
            </a:r>
            <a:endParaRPr lang="en-US" altLang="zh-CN" dirty="0"/>
          </a:p>
          <a:p>
            <a:pPr lvl="2"/>
            <a:r>
              <a:rPr lang="zh-CN" altLang="en-US" dirty="0"/>
              <a:t>遗传算法：求解问题时从多个解开始，然后通过一定的法则进行逐步迭代以产生新的解。</a:t>
            </a:r>
            <a:endParaRPr lang="en-US" altLang="zh-CN" dirty="0"/>
          </a:p>
          <a:p>
            <a:pPr lvl="3"/>
            <a:r>
              <a:rPr lang="zh-CN" altLang="en-US" dirty="0"/>
              <a:t>初始种群</a:t>
            </a:r>
            <a:r>
              <a:rPr lang="en-US" altLang="zh-CN" dirty="0"/>
              <a:t>-》</a:t>
            </a:r>
            <a:r>
              <a:rPr lang="zh-CN" altLang="en-US" dirty="0"/>
              <a:t>选择父母（基于概率的轮盘赌）</a:t>
            </a:r>
            <a:r>
              <a:rPr lang="en-US" altLang="zh-CN" dirty="0"/>
              <a:t>-》</a:t>
            </a:r>
            <a:r>
              <a:rPr lang="zh-CN" altLang="en-US" dirty="0"/>
              <a:t>生成后代（复制，交叉和变异）</a:t>
            </a:r>
            <a:r>
              <a:rPr lang="en-US" altLang="zh-CN" dirty="0"/>
              <a:t>-》</a:t>
            </a:r>
            <a:r>
              <a:rPr lang="zh-CN" altLang="en-US" dirty="0"/>
              <a:t>产生新种群</a:t>
            </a:r>
            <a:endParaRPr lang="en-US" altLang="zh-CN" dirty="0"/>
          </a:p>
          <a:p>
            <a:pPr lvl="2"/>
            <a:r>
              <a:rPr lang="zh-CN" altLang="en-US" dirty="0"/>
              <a:t>粒子群算法</a:t>
            </a:r>
            <a:endParaRPr lang="en-US" altLang="zh-CN" dirty="0"/>
          </a:p>
          <a:p>
            <a:pPr lvl="3"/>
            <a:r>
              <a:rPr lang="zh-CN" altLang="en-US" dirty="0"/>
              <a:t>初始粒子</a:t>
            </a:r>
            <a:r>
              <a:rPr lang="en-US" altLang="zh-CN" dirty="0"/>
              <a:t>-&gt;</a:t>
            </a:r>
            <a:r>
              <a:rPr lang="zh-CN" altLang="en-US" dirty="0"/>
              <a:t>粒子速度更新</a:t>
            </a:r>
            <a:endParaRPr lang="en-US" altLang="zh-CN" dirty="0"/>
          </a:p>
          <a:p>
            <a:pPr lvl="2"/>
            <a:r>
              <a:rPr lang="zh-CN" altLang="en-US" dirty="0"/>
              <a:t>模拟退火算法</a:t>
            </a:r>
            <a:endParaRPr lang="en-US" altLang="zh-CN" dirty="0"/>
          </a:p>
          <a:p>
            <a:pPr lvl="3"/>
            <a:r>
              <a:rPr lang="zh-CN" altLang="en-US" dirty="0"/>
              <a:t>爬山算法的改进</a:t>
            </a:r>
            <a:r>
              <a:rPr lang="en-US" altLang="zh-CN" dirty="0"/>
              <a:t>:</a:t>
            </a:r>
            <a:r>
              <a:rPr lang="zh-CN" altLang="en-US" dirty="0"/>
              <a:t>Metropolis准则</a:t>
            </a:r>
            <a:endParaRPr lang="en-US" altLang="zh-CN" dirty="0"/>
          </a:p>
          <a:p>
            <a:pPr lvl="3"/>
            <a:endParaRPr lang="en-US" altLang="zh-CN" dirty="0"/>
          </a:p>
          <a:p>
            <a:pPr marL="594360" lvl="2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52533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通用_蓝">
  <a:themeElements>
    <a:clrScheme name="通用_蓝 13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通用_蓝">
      <a:majorFont>
        <a:latin typeface="Arial"/>
        <a:ea typeface="隶书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通用_蓝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13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通用_蓝">
  <a:themeElements>
    <a:clrScheme name="1_通用_蓝 13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通用_蓝">
      <a:majorFont>
        <a:latin typeface="Arial"/>
        <a:ea typeface="隶书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通用_蓝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13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蓝白</Template>
  <TotalTime>2870</TotalTime>
  <Words>2980</Words>
  <Application>Microsoft Office PowerPoint</Application>
  <PresentationFormat>宽屏</PresentationFormat>
  <Paragraphs>513</Paragraphs>
  <Slides>57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57</vt:i4>
      </vt:variant>
    </vt:vector>
  </HeadingPairs>
  <TitlesOfParts>
    <vt:vector size="88" baseType="lpstr">
      <vt:lpstr>-apple-system</vt:lpstr>
      <vt:lpstr>Arial Unicode MS</vt:lpstr>
      <vt:lpstr>MingLiU</vt:lpstr>
      <vt:lpstr>等线</vt:lpstr>
      <vt:lpstr>仿宋</vt:lpstr>
      <vt:lpstr>黑体</vt:lpstr>
      <vt:lpstr>华文新魏</vt:lpstr>
      <vt:lpstr>华文中宋</vt:lpstr>
      <vt:lpstr>楷体_GB2312</vt:lpstr>
      <vt:lpstr>隶书</vt:lpstr>
      <vt:lpstr>宋体</vt:lpstr>
      <vt:lpstr>微软雅黑</vt:lpstr>
      <vt:lpstr>幼圆</vt:lpstr>
      <vt:lpstr>Arial</vt:lpstr>
      <vt:lpstr>Arial Narrow</vt:lpstr>
      <vt:lpstr>Calibri</vt:lpstr>
      <vt:lpstr>Cambria</vt:lpstr>
      <vt:lpstr>Cambria Math</vt:lpstr>
      <vt:lpstr>Franklin Gothic Book</vt:lpstr>
      <vt:lpstr>Perpetua</vt:lpstr>
      <vt:lpstr>Symbol</vt:lpstr>
      <vt:lpstr>Times New Roman</vt:lpstr>
      <vt:lpstr>Wingdings</vt:lpstr>
      <vt:lpstr>Wingdings 2</vt:lpstr>
      <vt:lpstr>通用_蓝</vt:lpstr>
      <vt:lpstr>1_通用_蓝</vt:lpstr>
      <vt:lpstr>平衡</vt:lpstr>
      <vt:lpstr>Equation</vt:lpstr>
      <vt:lpstr>公式</vt:lpstr>
      <vt:lpstr>Equation.DSMT4</vt:lpstr>
      <vt:lpstr>Equation.3</vt:lpstr>
      <vt:lpstr>《数值计算与最优化》总结</vt:lpstr>
      <vt:lpstr>PowerPoint 演示文稿</vt:lpstr>
      <vt:lpstr>主要内容</vt:lpstr>
      <vt:lpstr>数值计算</vt:lpstr>
      <vt:lpstr>数值计算</vt:lpstr>
      <vt:lpstr>数值计算</vt:lpstr>
      <vt:lpstr>数值计算</vt:lpstr>
      <vt:lpstr>PowerPoint 演示文稿</vt:lpstr>
      <vt:lpstr>PowerPoint 演示文稿</vt:lpstr>
      <vt:lpstr>数值计算-线性方程组的求解</vt:lpstr>
      <vt:lpstr>数值计算线性方程组的求解</vt:lpstr>
      <vt:lpstr>数值计算-线性方程组的求解</vt:lpstr>
      <vt:lpstr>数值计算</vt:lpstr>
      <vt:lpstr>数值计算-线性方程组的求解</vt:lpstr>
      <vt:lpstr>数值计算-迭代法</vt:lpstr>
      <vt:lpstr>数值计算</vt:lpstr>
      <vt:lpstr>数值计算</vt:lpstr>
      <vt:lpstr>数值计算</vt:lpstr>
      <vt:lpstr>数值计算</vt:lpstr>
      <vt:lpstr>PowerPoint 演示文稿</vt:lpstr>
      <vt:lpstr>PowerPoint 演示文稿</vt:lpstr>
      <vt:lpstr>数值计算-非线性方程求根</vt:lpstr>
      <vt:lpstr>非线性方程求根 </vt:lpstr>
      <vt:lpstr>PowerPoint 演示文稿</vt:lpstr>
      <vt:lpstr>PowerPoint 演示文稿</vt:lpstr>
      <vt:lpstr>非线性方程求根 </vt:lpstr>
      <vt:lpstr>非线性方程求根 </vt:lpstr>
      <vt:lpstr>非线性方程求根 </vt:lpstr>
      <vt:lpstr>PowerPoint 演示文稿</vt:lpstr>
      <vt:lpstr>PowerPoint 演示文稿</vt:lpstr>
      <vt:lpstr>PowerPoint 演示文稿</vt:lpstr>
      <vt:lpstr>PowerPoint 演示文稿</vt:lpstr>
      <vt:lpstr>数值计算-插值</vt:lpstr>
      <vt:lpstr>PowerPoint 演示文稿</vt:lpstr>
      <vt:lpstr>PowerPoint 演示文稿</vt:lpstr>
      <vt:lpstr>PowerPoint 演示文稿</vt:lpstr>
      <vt:lpstr>数值计算-逼近</vt:lpstr>
      <vt:lpstr>数值计算</vt:lpstr>
      <vt:lpstr>数值计算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数值计算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模型的建立与标准化</vt:lpstr>
      <vt:lpstr>梯度下降法</vt:lpstr>
      <vt:lpstr>共轭梯度下降法</vt:lpstr>
      <vt:lpstr>线性规划</vt:lpstr>
      <vt:lpstr>智能优化技术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Alice</cp:lastModifiedBy>
  <cp:revision>208</cp:revision>
  <dcterms:created xsi:type="dcterms:W3CDTF">2020-06-05T00:35:55Z</dcterms:created>
  <dcterms:modified xsi:type="dcterms:W3CDTF">2025-12-10T14:00:42Z</dcterms:modified>
</cp:coreProperties>
</file>