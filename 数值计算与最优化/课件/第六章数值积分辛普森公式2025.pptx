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3" r:id="rId2"/>
    <p:sldMasterId id="2147483685" r:id="rId3"/>
  </p:sldMasterIdLst>
  <p:notesMasterIdLst>
    <p:notesMasterId r:id="rId11"/>
  </p:notesMasterIdLst>
  <p:handoutMasterIdLst>
    <p:handoutMasterId r:id="rId12"/>
  </p:handoutMasterIdLst>
  <p:sldIdLst>
    <p:sldId id="322" r:id="rId4"/>
    <p:sldId id="535" r:id="rId5"/>
    <p:sldId id="534" r:id="rId6"/>
    <p:sldId id="536" r:id="rId7"/>
    <p:sldId id="522" r:id="rId8"/>
    <p:sldId id="537" r:id="rId9"/>
    <p:sldId id="5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15AB1-35D1-4772-A75C-1A5B0897D93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FA932-6780-45BC-AFDC-49A1F9626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3649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42DC3-77FA-4548-972F-06222945B9D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8492D-6BB3-4073-A9C5-FB9CA083DA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1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7996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3338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962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171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4975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60714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015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1457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8209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2395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9504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91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E64042-069D-4400-9F56-F6EA673461E4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90C5D-6BBE-4F07-A96C-7D0CD251E6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92325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A327D6-A4C5-4085-9339-B3F5791E92ED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E5471-1643-4734-A4AC-2AC8E4F20B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146069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9787BB-2096-4E36-8CB2-41900EC8D652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C94BEB-BD4D-415B-A00F-90205C1F91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689446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7EC324-83BF-401E-BE90-9770A6B6AA8F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0A456-DD0B-42FC-9A33-7C642C99AF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72463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78CDB9-B18E-4466-95BF-C2BF438E6289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CAC4E-3E86-412E-B43A-17D0DEAE78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95034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98FD61-8CEF-4F07-9C32-B2684E086716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2B9A6-F022-4C79-8293-C7471AB530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90318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C02EDA-73E6-43F4-8A6D-DACC51111223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6E841-F67F-4C04-86CB-AD8F0B7871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38155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1264F7-1BFE-427D-A20F-FC67C49DF10B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C12D1-7DA3-45CA-AF26-BD17B33CC4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98367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6B1B13-C4D8-4226-9C98-22AC0E96346D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149E7-25A1-40C0-94DC-EEB32E3F2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84281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F08711-5B2B-4272-BED9-99846145F7D4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4D037-E23C-4B84-94BE-61EFCE8016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05730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FE8A9D-8163-44BF-95B4-4B57AEFBF442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33D59-606C-4DA8-A501-C17827AB48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57018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圆角矩形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矩形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8308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72" y="219075"/>
            <a:ext cx="10363200" cy="76880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523458" y="1367518"/>
            <a:ext cx="10898378" cy="4804682"/>
          </a:xfrm>
        </p:spPr>
        <p:txBody>
          <a:bodyPr vert="horz"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7" name="矩形 6"/>
          <p:cNvSpPr/>
          <p:nvPr userDrawn="1"/>
        </p:nvSpPr>
        <p:spPr>
          <a:xfrm flipV="1">
            <a:off x="72607" y="1043396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8485046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圆角矩形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矩形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89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6051371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9404413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6762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0500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圆角矩形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6685199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矩形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矩形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矩形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6506095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11488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9660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7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0638"/>
            <a:ext cx="12192000" cy="1438276"/>
          </a:xfrm>
          <a:prstGeom prst="rect">
            <a:avLst/>
          </a:prstGeom>
          <a:solidFill>
            <a:srgbClr val="243AA8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1168" y="6742114"/>
            <a:ext cx="12170833" cy="115887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10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1167" y="-9525"/>
            <a:ext cx="12192000" cy="109538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1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96DFF08F-DC6B-4601-B491-B0F83F6DD2DA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3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533FB95F-A3D6-4253-93F6-7519C4874E3C}" type="datetimeFigureOut">
              <a:rPr lang="en-US" altLang="zh-CN"/>
              <a:pPr/>
              <a:t>10/29/2025</a:t>
            </a:fld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02EB95E6-8900-441A-9F9B-AE884EFF44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305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圆角矩形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8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9.wmf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png"/><Relationship Id="rId11" Type="http://schemas.openxmlformats.org/officeDocument/2006/relationships/image" Target="../media/image11.wmf"/><Relationship Id="rId5" Type="http://schemas.openxmlformats.org/officeDocument/2006/relationships/image" Target="../media/image20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10" Type="http://schemas.openxmlformats.org/officeDocument/2006/relationships/image" Target="../media/image30.png"/><Relationship Id="rId4" Type="http://schemas.openxmlformats.org/officeDocument/2006/relationships/image" Target="../media/image11.wmf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3E0F2-3732-4316-85F0-58088EA7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数值积分</a:t>
            </a:r>
            <a:r>
              <a:rPr lang="en-US" altLang="zh-CN" dirty="0"/>
              <a:t>-</a:t>
            </a:r>
            <a:r>
              <a:rPr lang="zh-CN" altLang="en-US" dirty="0"/>
              <a:t>辛普生公式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61F93-1AA5-454A-A408-D617CC4834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1827" y="1203808"/>
            <a:ext cx="10898378" cy="4804682"/>
          </a:xfrm>
        </p:spPr>
        <p:txBody>
          <a:bodyPr/>
          <a:lstStyle/>
          <a:p>
            <a:r>
              <a:rPr lang="zh-CN" altLang="en-US" dirty="0"/>
              <a:t>引入：高数中求定积分</a:t>
            </a:r>
            <a:endParaRPr lang="en-US" altLang="zh-CN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）牛顿</a:t>
            </a:r>
            <a:r>
              <a:rPr lang="en-US" altLang="zh-CN" dirty="0"/>
              <a:t>-</a:t>
            </a:r>
            <a:r>
              <a:rPr lang="zh-CN" altLang="en-US" dirty="0"/>
              <a:t>莱布尼茨公式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7C1F6D-5A81-4844-9957-AB70D4990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43" y="5441533"/>
            <a:ext cx="3787468" cy="66299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8AC89AC-A991-41C9-AB7B-1C07F3DBE317}"/>
              </a:ext>
            </a:extLst>
          </p:cNvPr>
          <p:cNvGrpSpPr/>
          <p:nvPr/>
        </p:nvGrpSpPr>
        <p:grpSpPr>
          <a:xfrm>
            <a:off x="1687569" y="2092230"/>
            <a:ext cx="7762540" cy="2286000"/>
            <a:chOff x="881043" y="3440761"/>
            <a:chExt cx="7762540" cy="22860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373B174-C3B9-4E89-A524-4298A1712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043" y="3440761"/>
              <a:ext cx="7762540" cy="2286000"/>
            </a:xfrm>
            <a:prstGeom prst="rect">
              <a:avLst/>
            </a:prstGeom>
          </p:spPr>
          <p:txBody>
            <a:bodyPr/>
            <a:lstStyle/>
            <a:p>
              <a:pPr marL="742950" lvl="1" indent="-285750">
                <a:lnSpc>
                  <a:spcPct val="90000"/>
                </a:lnSpc>
                <a:defRPr/>
              </a:pPr>
              <a:r>
                <a:rPr lang="zh-CN" altLang="en-US" sz="2400" kern="0" dirty="0">
                  <a:ea typeface="+mn-ea"/>
                </a:rPr>
                <a:t>定积分是求和式的极限，即</a:t>
              </a:r>
              <a:endParaRPr lang="en-US" altLang="zh-CN" sz="2400" kern="0" dirty="0">
                <a:ea typeface="+mn-ea"/>
              </a:endParaRPr>
            </a:p>
            <a:p>
              <a:pPr marL="342900" indent="-342900" algn="just">
                <a:lnSpc>
                  <a:spcPct val="130000"/>
                </a:lnSpc>
                <a:buFontTx/>
                <a:buChar char="•"/>
                <a:defRPr/>
              </a:pPr>
              <a:endParaRPr lang="en-US" altLang="zh-CN" sz="2400" kern="0" dirty="0">
                <a:ea typeface="+mn-ea"/>
              </a:endParaRPr>
            </a:p>
            <a:p>
              <a:pPr marL="342900" indent="-342900" algn="just">
                <a:lnSpc>
                  <a:spcPct val="130000"/>
                </a:lnSpc>
                <a:buFontTx/>
                <a:buChar char="•"/>
                <a:defRPr/>
              </a:pPr>
              <a:endParaRPr lang="en-US" altLang="zh-CN" sz="2400" kern="0" dirty="0">
                <a:ea typeface="+mn-ea"/>
              </a:endParaRPr>
            </a:p>
            <a:p>
              <a:pPr marL="342900" indent="-342900" algn="just">
                <a:lnSpc>
                  <a:spcPct val="130000"/>
                </a:lnSpc>
                <a:defRPr/>
              </a:pPr>
              <a:r>
                <a:rPr lang="zh-CN" altLang="en-US" sz="2400" kern="0" dirty="0">
                  <a:ea typeface="+mn-ea"/>
                </a:rPr>
                <a:t>    它的几何意义是曲边梯形的面积。</a:t>
              </a:r>
              <a:endParaRPr lang="zh-CN" altLang="en-US" sz="2400" kern="0" dirty="0">
                <a:latin typeface="+mn-lt"/>
                <a:ea typeface="+mn-ea"/>
              </a:endParaRPr>
            </a:p>
          </p:txBody>
        </p:sp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4618ED5C-61F6-47BA-BD24-25C6D0A760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488924"/>
                </p:ext>
              </p:extLst>
            </p:nvPr>
          </p:nvGraphicFramePr>
          <p:xfrm>
            <a:off x="2813330" y="3769859"/>
            <a:ext cx="3506788" cy="858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6" name="Equation" r:id="rId4" imgW="1765300" imgH="431800" progId="Equation.DSMT4">
                    <p:embed/>
                  </p:oleObj>
                </mc:Choice>
                <mc:Fallback>
                  <p:oleObj name="Equation" r:id="rId4" imgW="1765300" imgH="431800" progId="Equation.DSMT4">
                    <p:embed/>
                    <p:pic>
                      <p:nvPicPr>
                        <p:cNvPr id="4125" name="Object 9">
                          <a:extLst>
                            <a:ext uri="{FF2B5EF4-FFF2-40B4-BE49-F238E27FC236}">
                              <a16:creationId xmlns:a16="http://schemas.microsoft.com/office/drawing/2014/main" id="{E154325E-983E-4418-B86E-091DD0BA56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3330" y="3769859"/>
                          <a:ext cx="3506788" cy="858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826AF831-A506-46A0-9D13-231E1157B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043" y="4765770"/>
            <a:ext cx="7307948" cy="5157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4C53F6-420A-4FCA-B76F-6E9A87F3E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377" y="1931980"/>
            <a:ext cx="3029975" cy="24690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1B86BFA-564F-4479-B031-2AED25EE3876}"/>
              </a:ext>
            </a:extLst>
          </p:cNvPr>
          <p:cNvSpPr/>
          <p:nvPr/>
        </p:nvSpPr>
        <p:spPr>
          <a:xfrm>
            <a:off x="8794922" y="2977906"/>
            <a:ext cx="215153" cy="618565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B363A9-D9E1-4606-94BE-FAE70696A947}"/>
              </a:ext>
            </a:extLst>
          </p:cNvPr>
          <p:cNvSpPr/>
          <p:nvPr/>
        </p:nvSpPr>
        <p:spPr>
          <a:xfrm>
            <a:off x="9019803" y="2902374"/>
            <a:ext cx="215153" cy="694097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6FFC0C-1F44-45A3-BF3E-16F0AD7F75E6}"/>
              </a:ext>
            </a:extLst>
          </p:cNvPr>
          <p:cNvSpPr/>
          <p:nvPr/>
        </p:nvSpPr>
        <p:spPr>
          <a:xfrm>
            <a:off x="9234956" y="2834280"/>
            <a:ext cx="215153" cy="762191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BF3934-7BAE-45F0-AB5B-420D74F7614E}"/>
              </a:ext>
            </a:extLst>
          </p:cNvPr>
          <p:cNvSpPr/>
          <p:nvPr/>
        </p:nvSpPr>
        <p:spPr>
          <a:xfrm>
            <a:off x="10396504" y="2761720"/>
            <a:ext cx="215153" cy="834751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1212DE-80A3-4A5D-ABDF-A94DA653D3A9}"/>
              </a:ext>
            </a:extLst>
          </p:cNvPr>
          <p:cNvSpPr/>
          <p:nvPr/>
        </p:nvSpPr>
        <p:spPr>
          <a:xfrm>
            <a:off x="10167358" y="2834279"/>
            <a:ext cx="215153" cy="762191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86D555-CF3E-464C-97AD-465F79A13835}"/>
              </a:ext>
            </a:extLst>
          </p:cNvPr>
          <p:cNvSpPr/>
          <p:nvPr/>
        </p:nvSpPr>
        <p:spPr>
          <a:xfrm>
            <a:off x="7667282" y="1390190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solidFill>
                  <a:srgbClr val="002060"/>
                </a:solidFill>
              </a:rPr>
              <a:t>分割、近似、求和、取极限。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6992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6FB12CB1-D4BA-42AF-9281-1E622747BE02}"/>
              </a:ext>
            </a:extLst>
          </p:cNvPr>
          <p:cNvSpPr txBox="1">
            <a:spLocks/>
          </p:cNvSpPr>
          <p:nvPr/>
        </p:nvSpPr>
        <p:spPr>
          <a:xfrm>
            <a:off x="607096" y="19263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dirty="0"/>
              <a:t>数值积分</a:t>
            </a:r>
            <a:r>
              <a:rPr lang="en-US" altLang="zh-CN" dirty="0"/>
              <a:t>-</a:t>
            </a:r>
            <a:r>
              <a:rPr lang="zh-CN" altLang="en-US" dirty="0"/>
              <a:t>辛普生公式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BDE1F09A-BBB3-43CB-BB92-EC6C3CAE3022}"/>
                  </a:ext>
                </a:extLst>
              </p:cNvPr>
              <p:cNvSpPr txBox="1"/>
              <p:nvPr/>
            </p:nvSpPr>
            <p:spPr bwMode="auto">
              <a:xfrm>
                <a:off x="1368424" y="3133162"/>
                <a:ext cx="3221038" cy="754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≅</m:t>
                          </m:r>
                          <m:nary>
                            <m:nary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BDE1F09A-BBB3-43CB-BB92-EC6C3CAE3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8424" y="3133162"/>
                <a:ext cx="3221038" cy="754062"/>
              </a:xfrm>
              <a:prstGeom prst="rect">
                <a:avLst/>
              </a:prstGeom>
              <a:blipFill>
                <a:blip r:embed="rId2"/>
                <a:stretch>
                  <a:fillRect r="-2836" b="-153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B6B423FE-95E8-440A-A937-C1D726624B67}"/>
                  </a:ext>
                </a:extLst>
              </p:cNvPr>
              <p:cNvSpPr txBox="1"/>
              <p:nvPr/>
            </p:nvSpPr>
            <p:spPr bwMode="auto">
              <a:xfrm>
                <a:off x="4630737" y="3053787"/>
                <a:ext cx="2930525" cy="987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B6B423FE-95E8-440A-A937-C1D726624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0737" y="3053787"/>
                <a:ext cx="2930525" cy="987425"/>
              </a:xfrm>
              <a:prstGeom prst="rect">
                <a:avLst/>
              </a:prstGeom>
              <a:blipFill>
                <a:blip r:embed="rId3"/>
                <a:stretch>
                  <a:fillRect r="-5417" b="-55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0C575038-BAC8-41AC-9ADF-30FDE23199BB}"/>
                  </a:ext>
                </a:extLst>
              </p:cNvPr>
              <p:cNvSpPr txBox="1"/>
              <p:nvPr/>
            </p:nvSpPr>
            <p:spPr bwMode="auto">
              <a:xfrm>
                <a:off x="2740024" y="4034862"/>
                <a:ext cx="4846638" cy="987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0C575038-BAC8-41AC-9ADF-30FDE2319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0024" y="4034862"/>
                <a:ext cx="4846638" cy="987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2C1D2943-C026-41D0-9AE3-CB7DD389B53C}"/>
              </a:ext>
            </a:extLst>
          </p:cNvPr>
          <p:cNvGrpSpPr>
            <a:grpSpLocks/>
          </p:cNvGrpSpPr>
          <p:nvPr/>
        </p:nvGrpSpPr>
        <p:grpSpPr bwMode="auto">
          <a:xfrm>
            <a:off x="3180411" y="5170360"/>
            <a:ext cx="3925737" cy="754062"/>
            <a:chOff x="1538001" y="5361772"/>
            <a:chExt cx="2982920" cy="754063"/>
          </a:xfrm>
        </p:grpSpPr>
        <p:sp>
          <p:nvSpPr>
            <p:cNvPr id="22" name="矩形 1">
              <a:extLst>
                <a:ext uri="{FF2B5EF4-FFF2-40B4-BE49-F238E27FC236}">
                  <a16:creationId xmlns:a16="http://schemas.microsoft.com/office/drawing/2014/main" id="{8E9BA7D8-6A94-4179-8AF6-D038BFCB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001" y="5592614"/>
              <a:ext cx="958826" cy="523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/>
                <a:t>其中，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8">
                  <a:extLst>
                    <a:ext uri="{FF2B5EF4-FFF2-40B4-BE49-F238E27FC236}">
                      <a16:creationId xmlns:a16="http://schemas.microsoft.com/office/drawing/2014/main" id="{9A3D1D01-21BF-4C21-BA3B-77D48EEAC859}"/>
                    </a:ext>
                  </a:extLst>
                </p:cNvPr>
                <p:cNvSpPr txBox="1"/>
                <p:nvPr/>
              </p:nvSpPr>
              <p:spPr bwMode="auto">
                <a:xfrm>
                  <a:off x="2373019" y="5361772"/>
                  <a:ext cx="2147902" cy="7540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" name="Object 8">
                  <a:extLst>
                    <a:ext uri="{FF2B5EF4-FFF2-40B4-BE49-F238E27FC236}">
                      <a16:creationId xmlns:a16="http://schemas.microsoft.com/office/drawing/2014/main" id="{9A3D1D01-21BF-4C21-BA3B-77D48EEAC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3019" y="5361772"/>
                  <a:ext cx="2147902" cy="754063"/>
                </a:xfrm>
                <a:prstGeom prst="rect">
                  <a:avLst/>
                </a:prstGeom>
                <a:blipFill>
                  <a:blip r:embed="rId5"/>
                  <a:stretch>
                    <a:fillRect b="-1626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F5BBF652-CD63-4064-B268-390B8BA1779F}"/>
              </a:ext>
            </a:extLst>
          </p:cNvPr>
          <p:cNvSpPr/>
          <p:nvPr/>
        </p:nvSpPr>
        <p:spPr>
          <a:xfrm>
            <a:off x="606380" y="1109077"/>
            <a:ext cx="10235388" cy="1707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宋体" pitchFamily="2" charset="-122"/>
              </a:rPr>
              <a:t>插值型求积公式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如果已知求积节点</a:t>
            </a:r>
            <a:r>
              <a:rPr lang="en-US" altLang="zh-CN" sz="2400" i="1" dirty="0" err="1"/>
              <a:t>x</a:t>
            </a:r>
            <a:r>
              <a:rPr lang="en-US" altLang="zh-CN" sz="2400" i="1" baseline="-30000" dirty="0" err="1"/>
              <a:t>k</a:t>
            </a:r>
            <a:r>
              <a:rPr lang="en-US" altLang="zh-CN" sz="2400" baseline="-30000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k</a:t>
            </a:r>
            <a:r>
              <a:rPr lang="en-US" altLang="zh-CN" sz="2400" dirty="0"/>
              <a:t>=0，1，…，</a:t>
            </a:r>
            <a:r>
              <a:rPr lang="en-US" altLang="zh-CN" sz="2400" i="1" dirty="0"/>
              <a:t>n</a:t>
            </a:r>
            <a:r>
              <a:rPr lang="en-US" altLang="zh-CN" sz="2400" dirty="0"/>
              <a:t>)，</a:t>
            </a:r>
            <a:r>
              <a:rPr lang="zh-CN" altLang="en-US" sz="2400" dirty="0"/>
              <a:t>则可把这些点当作插值节点，利用</a:t>
            </a:r>
            <a:r>
              <a:rPr lang="en-US" altLang="zh-CN" sz="2400" dirty="0"/>
              <a:t>Lagrange</a:t>
            </a:r>
            <a:r>
              <a:rPr lang="zh-CN" altLang="en-US" sz="2400" dirty="0"/>
              <a:t>插值方法，构造插值多项式</a:t>
            </a:r>
            <a:r>
              <a:rPr lang="en-US" altLang="zh-CN" sz="2400" i="1" dirty="0" err="1"/>
              <a:t>P</a:t>
            </a:r>
            <a:r>
              <a:rPr lang="en-US" altLang="zh-CN" sz="2400" i="1" baseline="-30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)，</a:t>
            </a:r>
            <a:r>
              <a:rPr lang="zh-CN" altLang="en-US" sz="2400" dirty="0"/>
              <a:t>近似函数 </a:t>
            </a:r>
            <a:r>
              <a:rPr lang="en-US" altLang="zh-CN" sz="2400" i="1" dirty="0"/>
              <a:t>f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)，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48DFBE-5E79-4518-A964-F7A96FC391BB}"/>
              </a:ext>
            </a:extLst>
          </p:cNvPr>
          <p:cNvSpPr/>
          <p:nvPr/>
        </p:nvSpPr>
        <p:spPr>
          <a:xfrm>
            <a:off x="4358529" y="4115030"/>
            <a:ext cx="1281788" cy="827087"/>
          </a:xfrm>
          <a:prstGeom prst="rect">
            <a:avLst/>
          </a:prstGeom>
          <a:noFill/>
          <a:ln w="317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01776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38">
            <a:extLst>
              <a:ext uri="{FF2B5EF4-FFF2-40B4-BE49-F238E27FC236}">
                <a16:creationId xmlns:a16="http://schemas.microsoft.com/office/drawing/2014/main" id="{DB696D0D-568D-43DE-B914-E0431BB34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411" y="2108779"/>
            <a:ext cx="3887787" cy="3529013"/>
          </a:xfrm>
          <a:prstGeom prst="rect">
            <a:avLst/>
          </a:prstGeom>
          <a:noFill/>
          <a:ln w="9525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265282A-2701-49BC-A40D-13DB07272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96" y="1084048"/>
            <a:ext cx="103632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400" kern="0" dirty="0"/>
              <a:t>        在区间</a:t>
            </a:r>
            <a:r>
              <a:rPr lang="en-US" altLang="zh-CN" sz="2400" kern="0" dirty="0"/>
              <a:t>[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,</a:t>
            </a:r>
            <a:r>
              <a:rPr lang="en-US" altLang="zh-CN" sz="2400" i="1" kern="0" dirty="0" err="1"/>
              <a:t>b</a:t>
            </a:r>
            <a:r>
              <a:rPr lang="en-US" altLang="zh-CN" sz="2400" kern="0" dirty="0"/>
              <a:t>]</a:t>
            </a:r>
            <a:r>
              <a:rPr lang="zh-CN" altLang="en-US" sz="2400" kern="0" dirty="0"/>
              <a:t>上，分别用零次插值多项式 </a:t>
            </a:r>
            <a:r>
              <a:rPr lang="en-US" altLang="zh-CN" sz="2800" i="1" kern="0" dirty="0">
                <a:cs typeface="Times New Roman" pitchFamily="18" charset="0"/>
              </a:rPr>
              <a:t>p</a:t>
            </a:r>
            <a:r>
              <a:rPr lang="en-US" altLang="zh-CN" sz="2800" kern="0" baseline="-30000" dirty="0">
                <a:latin typeface="宋体" pitchFamily="2" charset="-122"/>
              </a:rPr>
              <a:t>0</a:t>
            </a:r>
            <a:r>
              <a:rPr lang="en-US" altLang="zh-CN" sz="2800" kern="0" dirty="0">
                <a:cs typeface="Times New Roman" pitchFamily="18" charset="0"/>
              </a:rPr>
              <a:t>(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dirty="0">
                <a:cs typeface="Times New Roman" pitchFamily="18" charset="0"/>
              </a:rPr>
              <a:t>)</a:t>
            </a:r>
            <a:r>
              <a:rPr lang="zh-CN" altLang="en-US" sz="2400" kern="0" dirty="0">
                <a:cs typeface="Times New Roman" pitchFamily="18" charset="0"/>
              </a:rPr>
              <a:t>、</a:t>
            </a:r>
            <a:r>
              <a:rPr lang="zh-CN" altLang="en-US" sz="2400" kern="0" dirty="0"/>
              <a:t>一次插值多项式</a:t>
            </a:r>
            <a:r>
              <a:rPr lang="zh-CN" altLang="en-US" sz="1600" kern="0" dirty="0"/>
              <a:t> </a:t>
            </a:r>
            <a:r>
              <a:rPr lang="en-US" altLang="zh-CN" sz="2800" i="1" kern="0" dirty="0">
                <a:cs typeface="Times New Roman" pitchFamily="18" charset="0"/>
              </a:rPr>
              <a:t>p</a:t>
            </a:r>
            <a:r>
              <a:rPr lang="en-US" altLang="zh-CN" sz="2800" kern="0" baseline="-30000" dirty="0">
                <a:latin typeface="宋体" pitchFamily="2" charset="-122"/>
              </a:rPr>
              <a:t>1</a:t>
            </a:r>
            <a:r>
              <a:rPr lang="en-US" altLang="zh-CN" sz="2800" kern="0" dirty="0">
                <a:cs typeface="Times New Roman" pitchFamily="18" charset="0"/>
              </a:rPr>
              <a:t>(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dirty="0">
                <a:cs typeface="Times New Roman" pitchFamily="18" charset="0"/>
              </a:rPr>
              <a:t>)</a:t>
            </a:r>
            <a:r>
              <a:rPr lang="zh-CN" altLang="en-US" sz="2400" kern="0" dirty="0">
                <a:cs typeface="Times New Roman" pitchFamily="18" charset="0"/>
              </a:rPr>
              <a:t>、</a:t>
            </a:r>
            <a:r>
              <a:rPr lang="zh-CN" altLang="en-US" sz="2400" kern="0" dirty="0"/>
              <a:t>二次插值多项式</a:t>
            </a:r>
            <a:r>
              <a:rPr lang="zh-CN" altLang="en-US" sz="1600" kern="0" dirty="0"/>
              <a:t> </a:t>
            </a:r>
            <a:r>
              <a:rPr lang="en-US" altLang="zh-CN" sz="2800" i="1" kern="0" dirty="0">
                <a:cs typeface="Times New Roman" pitchFamily="18" charset="0"/>
              </a:rPr>
              <a:t>P</a:t>
            </a:r>
            <a:r>
              <a:rPr lang="en-US" altLang="zh-CN" sz="2800" kern="0" baseline="-30000" dirty="0">
                <a:latin typeface="宋体" pitchFamily="2" charset="-122"/>
              </a:rPr>
              <a:t>2</a:t>
            </a:r>
            <a:r>
              <a:rPr lang="en-US" altLang="zh-CN" sz="2800" kern="0" dirty="0">
                <a:cs typeface="Times New Roman" pitchFamily="18" charset="0"/>
              </a:rPr>
              <a:t>(</a:t>
            </a:r>
            <a:r>
              <a:rPr lang="en-US" altLang="zh-CN" sz="2800" i="1" kern="0" dirty="0">
                <a:cs typeface="Times New Roman" pitchFamily="18" charset="0"/>
              </a:rPr>
              <a:t>x</a:t>
            </a:r>
            <a:r>
              <a:rPr lang="en-US" altLang="zh-CN" sz="2800" kern="0" dirty="0">
                <a:cs typeface="Times New Roman" pitchFamily="18" charset="0"/>
              </a:rPr>
              <a:t>)</a:t>
            </a:r>
            <a:r>
              <a:rPr lang="en-US" altLang="zh-CN" sz="1600" kern="0" dirty="0">
                <a:cs typeface="Times New Roman" pitchFamily="18" charset="0"/>
              </a:rPr>
              <a:t> </a:t>
            </a:r>
            <a:r>
              <a:rPr lang="zh-CN" altLang="en-US" sz="2400" kern="0" dirty="0"/>
              <a:t>代替被积函数积分，得到如下公式</a:t>
            </a:r>
            <a:r>
              <a:rPr lang="zh-CN" altLang="en-US" sz="2400" kern="0" dirty="0">
                <a:latin typeface="宋体" pitchFamily="2" charset="-122"/>
              </a:rPr>
              <a:t>：</a:t>
            </a:r>
            <a:r>
              <a:rPr lang="zh-CN" altLang="en-US" sz="2400" kern="0" dirty="0"/>
              <a:t> </a:t>
            </a:r>
          </a:p>
        </p:txBody>
      </p:sp>
      <p:graphicFrame>
        <p:nvGraphicFramePr>
          <p:cNvPr id="2050" name="Object 7">
            <a:extLst>
              <a:ext uri="{FF2B5EF4-FFF2-40B4-BE49-F238E27FC236}">
                <a16:creationId xmlns:a16="http://schemas.microsoft.com/office/drawing/2014/main" id="{C20A875B-34EA-4E75-9649-4CAA0CBFB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146215"/>
              </p:ext>
            </p:extLst>
          </p:nvPr>
        </p:nvGraphicFramePr>
        <p:xfrm>
          <a:off x="986323" y="2565186"/>
          <a:ext cx="47688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4" name="Equation" r:id="rId3" imgW="2273300" imgH="558800" progId="Equation.DSMT4">
                  <p:embed/>
                </p:oleObj>
              </mc:Choice>
              <mc:Fallback>
                <p:oleObj name="Equation" r:id="rId3" imgW="2273300" imgH="558800" progId="Equation.DSMT4">
                  <p:embed/>
                  <p:pic>
                    <p:nvPicPr>
                      <p:cNvPr id="2050" name="Object 7">
                        <a:extLst>
                          <a:ext uri="{FF2B5EF4-FFF2-40B4-BE49-F238E27FC236}">
                            <a16:creationId xmlns:a16="http://schemas.microsoft.com/office/drawing/2014/main" id="{C20A875B-34EA-4E75-9649-4CAA0CBFB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323" y="2565186"/>
                        <a:ext cx="47688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0">
            <a:extLst>
              <a:ext uri="{FF2B5EF4-FFF2-40B4-BE49-F238E27FC236}">
                <a16:creationId xmlns:a16="http://schemas.microsoft.com/office/drawing/2014/main" id="{180A8EFC-6446-4C6C-B6D5-B687147B0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061800"/>
              </p:ext>
            </p:extLst>
          </p:nvPr>
        </p:nvGraphicFramePr>
        <p:xfrm>
          <a:off x="984736" y="3979647"/>
          <a:ext cx="549275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5" name="Equation" r:id="rId5" imgW="2717800" imgH="635000" progId="Equation.DSMT4">
                  <p:embed/>
                </p:oleObj>
              </mc:Choice>
              <mc:Fallback>
                <p:oleObj name="Equation" r:id="rId5" imgW="2717800" imgH="635000" progId="Equation.DSMT4">
                  <p:embed/>
                  <p:pic>
                    <p:nvPicPr>
                      <p:cNvPr id="2051" name="Object 10">
                        <a:extLst>
                          <a:ext uri="{FF2B5EF4-FFF2-40B4-BE49-F238E27FC236}">
                            <a16:creationId xmlns:a16="http://schemas.microsoft.com/office/drawing/2014/main" id="{180A8EFC-6446-4C6C-B6D5-B687147B0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736" y="3979647"/>
                        <a:ext cx="549275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9D28AA5-6AA8-4384-9238-113F47377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24765"/>
              </p:ext>
            </p:extLst>
          </p:nvPr>
        </p:nvGraphicFramePr>
        <p:xfrm>
          <a:off x="946150" y="5437188"/>
          <a:ext cx="72374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6" name="Equation" r:id="rId7" imgW="3581400" imgH="635000" progId="Equation.DSMT4">
                  <p:embed/>
                </p:oleObj>
              </mc:Choice>
              <mc:Fallback>
                <p:oleObj name="Equation" r:id="rId7" imgW="3581400" imgH="6350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79D28AA5-6AA8-4384-9238-113F47377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5437188"/>
                        <a:ext cx="72374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7" name="Picture 2" descr="C:\丁伦制作的电子教案\09373 数值计算方法\SZ31.TIF">
            <a:extLst>
              <a:ext uri="{FF2B5EF4-FFF2-40B4-BE49-F238E27FC236}">
                <a16:creationId xmlns:a16="http://schemas.microsoft.com/office/drawing/2014/main" id="{76EE7503-3534-4501-B424-594B6E83C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" t="3271" r="2409" b="3510"/>
          <a:stretch>
            <a:fillRect/>
          </a:stretch>
        </p:blipFill>
        <p:spPr bwMode="auto">
          <a:xfrm>
            <a:off x="8066573" y="2181803"/>
            <a:ext cx="3630613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13">
            <a:extLst>
              <a:ext uri="{FF2B5EF4-FFF2-40B4-BE49-F238E27FC236}">
                <a16:creationId xmlns:a16="http://schemas.microsoft.com/office/drawing/2014/main" id="{A494C72A-50E6-4706-AC79-6C6EAE91872D}"/>
              </a:ext>
            </a:extLst>
          </p:cNvPr>
          <p:cNvGrpSpPr>
            <a:grpSpLocks/>
          </p:cNvGrpSpPr>
          <p:nvPr/>
        </p:nvGrpSpPr>
        <p:grpSpPr bwMode="auto">
          <a:xfrm>
            <a:off x="8380897" y="3566103"/>
            <a:ext cx="3481388" cy="374650"/>
            <a:chOff x="5533272" y="2364819"/>
            <a:chExt cx="3482141" cy="375832"/>
          </a:xfrm>
        </p:grpSpPr>
        <p:cxnSp>
          <p:nvCxnSpPr>
            <p:cNvPr id="5133" name="直接连接符 4">
              <a:extLst>
                <a:ext uri="{FF2B5EF4-FFF2-40B4-BE49-F238E27FC236}">
                  <a16:creationId xmlns:a16="http://schemas.microsoft.com/office/drawing/2014/main" id="{41998E03-96B5-4F2F-81A2-48E99C3D59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33272" y="2364819"/>
              <a:ext cx="2508575" cy="1139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5134" name="Object 11">
              <a:extLst>
                <a:ext uri="{FF2B5EF4-FFF2-40B4-BE49-F238E27FC236}">
                  <a16:creationId xmlns:a16="http://schemas.microsoft.com/office/drawing/2014/main" id="{21DC26FC-DE7B-4342-A2C1-0FA5FAC161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7733" y="2396708"/>
            <a:ext cx="1387680" cy="343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77" name="Equation" r:id="rId10" imgW="1054100" imgH="228600" progId="Equation.DSMT4">
                    <p:embed/>
                  </p:oleObj>
                </mc:Choice>
                <mc:Fallback>
                  <p:oleObj name="Equation" r:id="rId10" imgW="1054100" imgH="228600" progId="Equation.DSMT4">
                    <p:embed/>
                    <p:pic>
                      <p:nvPicPr>
                        <p:cNvPr id="5134" name="Object 11">
                          <a:extLst>
                            <a:ext uri="{FF2B5EF4-FFF2-40B4-BE49-F238E27FC236}">
                              <a16:creationId xmlns:a16="http://schemas.microsoft.com/office/drawing/2014/main" id="{21DC26FC-DE7B-4342-A2C1-0FA5FAC161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7733" y="2396708"/>
                          <a:ext cx="1387680" cy="3439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4">
            <a:extLst>
              <a:ext uri="{FF2B5EF4-FFF2-40B4-BE49-F238E27FC236}">
                <a16:creationId xmlns:a16="http://schemas.microsoft.com/office/drawing/2014/main" id="{A6CDA1BA-2BB9-4EDB-A959-066CB9CA6034}"/>
              </a:ext>
            </a:extLst>
          </p:cNvPr>
          <p:cNvGrpSpPr>
            <a:grpSpLocks/>
          </p:cNvGrpSpPr>
          <p:nvPr/>
        </p:nvGrpSpPr>
        <p:grpSpPr bwMode="auto">
          <a:xfrm>
            <a:off x="8380898" y="3053341"/>
            <a:ext cx="3236913" cy="614362"/>
            <a:chOff x="5533272" y="1852321"/>
            <a:chExt cx="3238251" cy="614998"/>
          </a:xfrm>
        </p:grpSpPr>
        <p:cxnSp>
          <p:nvCxnSpPr>
            <p:cNvPr id="5131" name="直接连接符 9">
              <a:extLst>
                <a:ext uri="{FF2B5EF4-FFF2-40B4-BE49-F238E27FC236}">
                  <a16:creationId xmlns:a16="http://schemas.microsoft.com/office/drawing/2014/main" id="{AAF34CD1-6601-4B3D-9C41-26F2B474D9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33272" y="1852321"/>
              <a:ext cx="2508575" cy="614998"/>
            </a:xfrm>
            <a:prstGeom prst="line">
              <a:avLst/>
            </a:prstGeom>
            <a:noFill/>
            <a:ln w="25400" algn="ctr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5132" name="Object 12">
              <a:extLst>
                <a:ext uri="{FF2B5EF4-FFF2-40B4-BE49-F238E27FC236}">
                  <a16:creationId xmlns:a16="http://schemas.microsoft.com/office/drawing/2014/main" id="{77D98FD7-E223-4CC5-B6DA-C56DE772DD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52255" y="1852321"/>
            <a:ext cx="819268" cy="343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78" name="Equation" r:id="rId12" imgW="622030" imgH="228501" progId="Equation.DSMT4">
                    <p:embed/>
                  </p:oleObj>
                </mc:Choice>
                <mc:Fallback>
                  <p:oleObj name="Equation" r:id="rId12" imgW="622030" imgH="228501" progId="Equation.DSMT4">
                    <p:embed/>
                    <p:pic>
                      <p:nvPicPr>
                        <p:cNvPr id="5132" name="Object 12">
                          <a:extLst>
                            <a:ext uri="{FF2B5EF4-FFF2-40B4-BE49-F238E27FC236}">
                              <a16:creationId xmlns:a16="http://schemas.microsoft.com/office/drawing/2014/main" id="{77D98FD7-E223-4CC5-B6DA-C56DE772DD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2255" y="1852321"/>
                          <a:ext cx="819268" cy="3439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0" name="Text Box 3">
            <a:extLst>
              <a:ext uri="{FF2B5EF4-FFF2-40B4-BE49-F238E27FC236}">
                <a16:creationId xmlns:a16="http://schemas.microsoft.com/office/drawing/2014/main" id="{20BA4E89-2763-4166-82AF-5EF6000F2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522" y="5205991"/>
            <a:ext cx="3221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图</a:t>
            </a:r>
            <a:r>
              <a:rPr lang="en-US" altLang="zh-CN" sz="1800" b="1" dirty="0"/>
              <a:t>7</a:t>
            </a:r>
            <a:r>
              <a:rPr lang="zh-CN" altLang="en-US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/>
              <a:t>1  积分</a:t>
            </a:r>
            <a:r>
              <a:rPr lang="zh-CN" altLang="en-US" sz="1800" b="1" dirty="0">
                <a:latin typeface="宋体" panose="02010600030101010101" pitchFamily="2" charset="-122"/>
              </a:rPr>
              <a:t>公式的几何意义</a:t>
            </a:r>
            <a:r>
              <a:rPr lang="zh-CN" altLang="en-US" sz="1800" b="1" dirty="0"/>
              <a:t> 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FB12CB1-D4BA-42AF-9281-1E622747BE02}"/>
              </a:ext>
            </a:extLst>
          </p:cNvPr>
          <p:cNvSpPr txBox="1">
            <a:spLocks/>
          </p:cNvSpPr>
          <p:nvPr/>
        </p:nvSpPr>
        <p:spPr>
          <a:xfrm>
            <a:off x="607096" y="19263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dirty="0"/>
              <a:t>数值积分</a:t>
            </a:r>
            <a:r>
              <a:rPr lang="en-US" altLang="zh-CN" dirty="0"/>
              <a:t>-</a:t>
            </a:r>
            <a:r>
              <a:rPr lang="zh-CN" altLang="en-US" dirty="0"/>
              <a:t>辛普生公式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2" descr="C:\丁伦制作的电子教案\09373 数值计算方法\SZ31.TIF">
            <a:extLst>
              <a:ext uri="{FF2B5EF4-FFF2-40B4-BE49-F238E27FC236}">
                <a16:creationId xmlns:a16="http://schemas.microsoft.com/office/drawing/2014/main" id="{76EE7503-3534-4501-B424-594B6E83C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" t="3271" r="2409" b="3510"/>
          <a:stretch>
            <a:fillRect/>
          </a:stretch>
        </p:blipFill>
        <p:spPr bwMode="auto">
          <a:xfrm>
            <a:off x="8241404" y="1156741"/>
            <a:ext cx="3630613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6FB12CB1-D4BA-42AF-9281-1E622747BE02}"/>
              </a:ext>
            </a:extLst>
          </p:cNvPr>
          <p:cNvSpPr txBox="1">
            <a:spLocks/>
          </p:cNvSpPr>
          <p:nvPr/>
        </p:nvSpPr>
        <p:spPr>
          <a:xfrm>
            <a:off x="607096" y="192635"/>
            <a:ext cx="10363200" cy="76880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dirty="0"/>
              <a:t>数值积分</a:t>
            </a:r>
            <a:r>
              <a:rPr lang="en-US" altLang="zh-CN" dirty="0"/>
              <a:t>-</a:t>
            </a:r>
            <a:r>
              <a:rPr lang="zh-CN" altLang="en-US" dirty="0"/>
              <a:t>辛普生公式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BDE1F09A-BBB3-43CB-BB92-EC6C3CAE3022}"/>
                  </a:ext>
                </a:extLst>
              </p:cNvPr>
              <p:cNvSpPr txBox="1"/>
              <p:nvPr/>
            </p:nvSpPr>
            <p:spPr bwMode="auto">
              <a:xfrm>
                <a:off x="904390" y="1094748"/>
                <a:ext cx="3221038" cy="754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≅</m:t>
                          </m:r>
                          <m:nary>
                            <m:naryPr>
                              <m:chr m:val="∑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BDE1F09A-BBB3-43CB-BB92-EC6C3CAE3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390" y="1094748"/>
                <a:ext cx="3221038" cy="754062"/>
              </a:xfrm>
              <a:prstGeom prst="rect">
                <a:avLst/>
              </a:prstGeom>
              <a:blipFill>
                <a:blip r:embed="rId4"/>
                <a:stretch>
                  <a:fillRect r="-6427" b="-390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2C1D2943-C026-41D0-9AE3-CB7DD389B53C}"/>
              </a:ext>
            </a:extLst>
          </p:cNvPr>
          <p:cNvGrpSpPr>
            <a:grpSpLocks/>
          </p:cNvGrpSpPr>
          <p:nvPr/>
        </p:nvGrpSpPr>
        <p:grpSpPr bwMode="auto">
          <a:xfrm>
            <a:off x="4655620" y="1252500"/>
            <a:ext cx="3380791" cy="754062"/>
            <a:chOff x="1538001" y="5378656"/>
            <a:chExt cx="2568850" cy="754063"/>
          </a:xfrm>
        </p:grpSpPr>
        <p:sp>
          <p:nvSpPr>
            <p:cNvPr id="22" name="矩形 1">
              <a:extLst>
                <a:ext uri="{FF2B5EF4-FFF2-40B4-BE49-F238E27FC236}">
                  <a16:creationId xmlns:a16="http://schemas.microsoft.com/office/drawing/2014/main" id="{8E9BA7D8-6A94-4179-8AF6-D038BFCB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001" y="5592614"/>
              <a:ext cx="841896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其中，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8">
                  <a:extLst>
                    <a:ext uri="{FF2B5EF4-FFF2-40B4-BE49-F238E27FC236}">
                      <a16:creationId xmlns:a16="http://schemas.microsoft.com/office/drawing/2014/main" id="{9A3D1D01-21BF-4C21-BA3B-77D48EEAC859}"/>
                    </a:ext>
                  </a:extLst>
                </p:cNvPr>
                <p:cNvSpPr txBox="1"/>
                <p:nvPr/>
              </p:nvSpPr>
              <p:spPr bwMode="auto">
                <a:xfrm>
                  <a:off x="1958949" y="5378656"/>
                  <a:ext cx="2147902" cy="7540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3" name="Object 8">
                  <a:extLst>
                    <a:ext uri="{FF2B5EF4-FFF2-40B4-BE49-F238E27FC236}">
                      <a16:creationId xmlns:a16="http://schemas.microsoft.com/office/drawing/2014/main" id="{9A3D1D01-21BF-4C21-BA3B-77D48EEAC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58949" y="5378656"/>
                  <a:ext cx="2147902" cy="7540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126669-98FB-438A-8F50-4E28635E1376}"/>
              </a:ext>
            </a:extLst>
          </p:cNvPr>
          <p:cNvSpPr txBox="1"/>
          <p:nvPr/>
        </p:nvSpPr>
        <p:spPr>
          <a:xfrm>
            <a:off x="904390" y="2270731"/>
            <a:ext cx="3441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当</a:t>
            </a:r>
            <a:r>
              <a:rPr lang="en-US" altLang="zh-CN" sz="2400" dirty="0"/>
              <a:t>n=2</a:t>
            </a:r>
            <a:r>
              <a:rPr lang="zh-CN" altLang="en-US" sz="2400" dirty="0"/>
              <a:t>时，为辛普森公式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E8BC401-FD59-4A90-BEDC-ADA7B1345916}"/>
                  </a:ext>
                </a:extLst>
              </p:cNvPr>
              <p:cNvSpPr txBox="1"/>
              <p:nvPr/>
            </p:nvSpPr>
            <p:spPr>
              <a:xfrm>
                <a:off x="547439" y="2705035"/>
                <a:ext cx="7492384" cy="631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过三点：</a:t>
                </a:r>
                <a:r>
                  <a:rPr lang="en-US" altLang="zh-CN" sz="2400" dirty="0"/>
                  <a:t>a,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el-GR" altLang="zh-CN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  b</a:t>
                </a:r>
                <a:r>
                  <a:rPr lang="zh-CN" altLang="en-US" sz="2400" dirty="0"/>
                  <a:t>，构造</a:t>
                </a:r>
                <a:r>
                  <a:rPr lang="en-US" altLang="zh-CN" sz="2400" dirty="0"/>
                  <a:t>[</a:t>
                </a:r>
                <a:r>
                  <a:rPr lang="en-US" altLang="zh-CN" sz="2400" dirty="0" err="1"/>
                  <a:t>a,b</a:t>
                </a:r>
                <a:r>
                  <a:rPr lang="en-US" altLang="zh-CN" sz="2400" dirty="0"/>
                  <a:t>]</a:t>
                </a:r>
                <a:r>
                  <a:rPr lang="zh-CN" altLang="en-US" sz="2400" dirty="0"/>
                  <a:t>区间上</a:t>
                </a:r>
                <a:r>
                  <a:rPr lang="en-US" altLang="zh-CN" sz="2400" dirty="0"/>
                  <a:t>Lagrange</a:t>
                </a:r>
                <a:r>
                  <a:rPr lang="zh-CN" altLang="en-US" sz="2400" dirty="0"/>
                  <a:t>二次插值：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E8BC401-FD59-4A90-BEDC-ADA7B1345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39" y="2705035"/>
                <a:ext cx="7492384" cy="631776"/>
              </a:xfrm>
              <a:prstGeom prst="rect">
                <a:avLst/>
              </a:prstGeom>
              <a:blipFill>
                <a:blip r:embed="rId6"/>
                <a:stretch>
                  <a:fillRect l="-1302" r="-651" b="-13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34C003-8F5B-44F4-97D6-FA0E452E8BE4}"/>
                  </a:ext>
                </a:extLst>
              </p:cNvPr>
              <p:cNvSpPr txBox="1"/>
              <p:nvPr/>
            </p:nvSpPr>
            <p:spPr>
              <a:xfrm>
                <a:off x="302795" y="3308092"/>
                <a:ext cx="7981672" cy="698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1)(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1)(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34C003-8F5B-44F4-97D6-FA0E452E8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95" y="3308092"/>
                <a:ext cx="7981672" cy="6981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8F869B7-CBD6-4BA2-A031-9144C977ACB8}"/>
                  </a:ext>
                </a:extLst>
              </p:cNvPr>
              <p:cNvSpPr txBox="1"/>
              <p:nvPr/>
            </p:nvSpPr>
            <p:spPr>
              <a:xfrm>
                <a:off x="354162" y="4138465"/>
                <a:ext cx="1463734" cy="544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/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8F869B7-CBD6-4BA2-A031-9144C977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2" y="4138465"/>
                <a:ext cx="1463734" cy="544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DE04D2-14AD-403C-88E9-B00DBB03F70D}"/>
                  </a:ext>
                </a:extLst>
              </p:cNvPr>
              <p:cNvSpPr txBox="1"/>
              <p:nvPr/>
            </p:nvSpPr>
            <p:spPr>
              <a:xfrm>
                <a:off x="339894" y="4660065"/>
                <a:ext cx="1148456" cy="542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/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DE04D2-14AD-403C-88E9-B00DBB03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4" y="4660065"/>
                <a:ext cx="1148456" cy="542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8A5B3BBE-7B68-4788-B768-06E6DE241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282169"/>
              </p:ext>
            </p:extLst>
          </p:nvPr>
        </p:nvGraphicFramePr>
        <p:xfrm>
          <a:off x="560388" y="5248275"/>
          <a:ext cx="7237412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2" name="Equation" r:id="rId10" imgW="3581400" imgH="635000" progId="Equation.DSMT4">
                  <p:embed/>
                </p:oleObj>
              </mc:Choice>
              <mc:Fallback>
                <p:oleObj name="Equation" r:id="rId10" imgW="3581400" imgH="6350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79D28AA5-6AA8-4384-9238-113F47377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5248275"/>
                        <a:ext cx="7237412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F561ADD7-FAD6-4DD4-A9C5-8008D1DD0A0D}"/>
              </a:ext>
            </a:extLst>
          </p:cNvPr>
          <p:cNvSpPr/>
          <p:nvPr/>
        </p:nvSpPr>
        <p:spPr>
          <a:xfrm>
            <a:off x="9376446" y="6420659"/>
            <a:ext cx="159385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kern="0" dirty="0"/>
              <a:t>Simpson</a:t>
            </a:r>
            <a:r>
              <a:rPr lang="zh-CN" altLang="en-US" sz="2000" kern="0" dirty="0"/>
              <a:t>公式</a:t>
            </a:r>
            <a:endParaRPr lang="zh-CN" altLang="en-US" sz="2000" dirty="0"/>
          </a:p>
        </p:txBody>
      </p:sp>
      <p:grpSp>
        <p:nvGrpSpPr>
          <p:cNvPr id="28" name="组合 179">
            <a:extLst>
              <a:ext uri="{FF2B5EF4-FFF2-40B4-BE49-F238E27FC236}">
                <a16:creationId xmlns:a16="http://schemas.microsoft.com/office/drawing/2014/main" id="{99A051B8-1512-4D81-9A71-8B845E576ED1}"/>
              </a:ext>
            </a:extLst>
          </p:cNvPr>
          <p:cNvGrpSpPr>
            <a:grpSpLocks/>
          </p:cNvGrpSpPr>
          <p:nvPr/>
        </p:nvGrpSpPr>
        <p:grpSpPr bwMode="auto">
          <a:xfrm>
            <a:off x="8261227" y="4225710"/>
            <a:ext cx="3824288" cy="2084387"/>
            <a:chOff x="5000628" y="357166"/>
            <a:chExt cx="3823474" cy="2084974"/>
          </a:xfrm>
        </p:grpSpPr>
        <p:cxnSp>
          <p:nvCxnSpPr>
            <p:cNvPr id="29" name="直接箭头连接符 109">
              <a:extLst>
                <a:ext uri="{FF2B5EF4-FFF2-40B4-BE49-F238E27FC236}">
                  <a16:creationId xmlns:a16="http://schemas.microsoft.com/office/drawing/2014/main" id="{14FCC567-E984-4F89-9B54-3333538DE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06396" y="2165141"/>
              <a:ext cx="3143272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直接箭头连接符 110">
              <a:extLst>
                <a:ext uri="{FF2B5EF4-FFF2-40B4-BE49-F238E27FC236}">
                  <a16:creationId xmlns:a16="http://schemas.microsoft.com/office/drawing/2014/main" id="{C917B164-B15E-4617-8B80-78DD223861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620181" y="1391150"/>
              <a:ext cx="157243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直接连接符 111">
              <a:extLst>
                <a:ext uri="{FF2B5EF4-FFF2-40B4-BE49-F238E27FC236}">
                  <a16:creationId xmlns:a16="http://schemas.microsoft.com/office/drawing/2014/main" id="{6DF81C12-03E0-4A7F-9826-4B8426E85D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907213" y="2128744"/>
              <a:ext cx="72000" cy="7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直接连接符 112">
              <a:extLst>
                <a:ext uri="{FF2B5EF4-FFF2-40B4-BE49-F238E27FC236}">
                  <a16:creationId xmlns:a16="http://schemas.microsoft.com/office/drawing/2014/main" id="{FF59DDA7-7233-42F3-A755-E429FD5716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155949" y="2129306"/>
              <a:ext cx="72000" cy="7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连接符 113">
              <a:extLst>
                <a:ext uri="{FF2B5EF4-FFF2-40B4-BE49-F238E27FC236}">
                  <a16:creationId xmlns:a16="http://schemas.microsoft.com/office/drawing/2014/main" id="{C45484B3-CA0C-4F8B-8CCE-EFF0AE904D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513007" y="2129306"/>
              <a:ext cx="72000" cy="7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连接符 114">
              <a:extLst>
                <a:ext uri="{FF2B5EF4-FFF2-40B4-BE49-F238E27FC236}">
                  <a16:creationId xmlns:a16="http://schemas.microsoft.com/office/drawing/2014/main" id="{8044D1CB-F825-4F27-B436-60CF76CD86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728247" y="2129306"/>
              <a:ext cx="72000" cy="7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83D772E-B823-48B7-BB8A-3A59D67FA330}"/>
                </a:ext>
              </a:extLst>
            </p:cNvPr>
            <p:cNvSpPr/>
            <p:nvPr/>
          </p:nvSpPr>
          <p:spPr>
            <a:xfrm>
              <a:off x="5192675" y="2165837"/>
              <a:ext cx="376157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0.0</a:t>
              </a:r>
              <a:endParaRPr lang="zh-CN" altLang="en-US" sz="120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BCB7960-BCEE-454B-BB44-0EE6FF895757}"/>
                </a:ext>
              </a:extLst>
            </p:cNvPr>
            <p:cNvSpPr/>
            <p:nvPr/>
          </p:nvSpPr>
          <p:spPr>
            <a:xfrm>
              <a:off x="5764053" y="2165837"/>
              <a:ext cx="376157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0.2</a:t>
              </a:r>
              <a:endParaRPr lang="zh-CN" altLang="en-US" sz="12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C1A461B-18CF-4829-AB06-71E98D31F911}"/>
                </a:ext>
              </a:extLst>
            </p:cNvPr>
            <p:cNvSpPr/>
            <p:nvPr/>
          </p:nvSpPr>
          <p:spPr>
            <a:xfrm>
              <a:off x="6357652" y="2165837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0.4</a:t>
              </a:r>
              <a:endParaRPr lang="zh-CN" altLang="en-US" sz="12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E807EE3-EBDE-4B60-AFAA-425757600623}"/>
                </a:ext>
              </a:extLst>
            </p:cNvPr>
            <p:cNvSpPr/>
            <p:nvPr/>
          </p:nvSpPr>
          <p:spPr>
            <a:xfrm>
              <a:off x="7011563" y="2165837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0.6</a:t>
              </a:r>
              <a:endParaRPr lang="zh-CN" altLang="en-US" sz="12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7AF44BC-7AC4-46B3-B46F-D5A043824A4F}"/>
                </a:ext>
              </a:extLst>
            </p:cNvPr>
            <p:cNvSpPr/>
            <p:nvPr/>
          </p:nvSpPr>
          <p:spPr>
            <a:xfrm>
              <a:off x="7586116" y="2165837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0.8</a:t>
              </a:r>
              <a:endParaRPr lang="zh-CN" altLang="en-US" sz="12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8D9DC67-ABF7-4A58-94FD-C45AAC9F6FB0}"/>
                </a:ext>
              </a:extLst>
            </p:cNvPr>
            <p:cNvSpPr/>
            <p:nvPr/>
          </p:nvSpPr>
          <p:spPr>
            <a:xfrm>
              <a:off x="8155906" y="2165837"/>
              <a:ext cx="376158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1.0</a:t>
              </a:r>
              <a:endParaRPr lang="zh-CN" altLang="en-US" sz="1200" dirty="0"/>
            </a:p>
          </p:txBody>
        </p:sp>
        <p:sp>
          <p:nvSpPr>
            <p:cNvPr id="41" name="矩形 121">
              <a:extLst>
                <a:ext uri="{FF2B5EF4-FFF2-40B4-BE49-F238E27FC236}">
                  <a16:creationId xmlns:a16="http://schemas.microsoft.com/office/drawing/2014/main" id="{B7FC1B89-B9E9-4075-A0F7-80EC5B001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0644" y="357166"/>
              <a:ext cx="27443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 i="1"/>
                <a:t>y</a:t>
              </a:r>
              <a:endParaRPr lang="zh-CN" altLang="en-US" sz="1400" i="1"/>
            </a:p>
          </p:txBody>
        </p:sp>
        <p:sp>
          <p:nvSpPr>
            <p:cNvPr id="42" name="矩形 122">
              <a:extLst>
                <a:ext uri="{FF2B5EF4-FFF2-40B4-BE49-F238E27FC236}">
                  <a16:creationId xmlns:a16="http://schemas.microsoft.com/office/drawing/2014/main" id="{35B5913F-CA5C-434A-826F-014A707F1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5024" y="450629"/>
              <a:ext cx="6799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 i="1"/>
                <a:t>y=f </a:t>
              </a:r>
              <a:r>
                <a:rPr lang="en-US" altLang="zh-CN" sz="1400"/>
                <a:t>(</a:t>
              </a:r>
              <a:r>
                <a:rPr lang="en-US" altLang="zh-CN" sz="1400" i="1"/>
                <a:t>x</a:t>
              </a:r>
              <a:r>
                <a:rPr lang="en-US" altLang="zh-CN" sz="1400"/>
                <a:t>)</a:t>
              </a:r>
              <a:endParaRPr lang="zh-CN" altLang="en-US" sz="1400"/>
            </a:p>
          </p:txBody>
        </p:sp>
        <p:cxnSp>
          <p:nvCxnSpPr>
            <p:cNvPr id="43" name="直接连接符 123">
              <a:extLst>
                <a:ext uri="{FF2B5EF4-FFF2-40B4-BE49-F238E27FC236}">
                  <a16:creationId xmlns:a16="http://schemas.microsoft.com/office/drawing/2014/main" id="{690F3FD9-EF03-4528-8769-AD3A9CAE0E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430966" y="1271885"/>
              <a:ext cx="0" cy="72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连接符 124">
              <a:extLst>
                <a:ext uri="{FF2B5EF4-FFF2-40B4-BE49-F238E27FC236}">
                  <a16:creationId xmlns:a16="http://schemas.microsoft.com/office/drawing/2014/main" id="{84F5E104-F3F5-49FE-9F51-CEAF0C146E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442396" y="783249"/>
              <a:ext cx="0" cy="72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连接符 125">
              <a:extLst>
                <a:ext uri="{FF2B5EF4-FFF2-40B4-BE49-F238E27FC236}">
                  <a16:creationId xmlns:a16="http://schemas.microsoft.com/office/drawing/2014/main" id="{56E50CB7-A4DB-47E8-AADF-371C067E27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442396" y="1726232"/>
              <a:ext cx="0" cy="72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8A5195A-34B8-4DCE-836B-00EEF5236FBD}"/>
                </a:ext>
              </a:extLst>
            </p:cNvPr>
            <p:cNvSpPr/>
            <p:nvPr/>
          </p:nvSpPr>
          <p:spPr>
            <a:xfrm>
              <a:off x="5000628" y="1619583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0.5</a:t>
              </a:r>
              <a:endParaRPr lang="zh-CN" altLang="en-US" sz="12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96F3F50-1E85-4FAA-AF81-C5BDE3475BB2}"/>
                </a:ext>
              </a:extLst>
            </p:cNvPr>
            <p:cNvSpPr/>
            <p:nvPr/>
          </p:nvSpPr>
          <p:spPr>
            <a:xfrm>
              <a:off x="5014913" y="1151140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1.0</a:t>
              </a:r>
              <a:endParaRPr lang="zh-CN" altLang="en-US" sz="12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F8546068-3BB3-4627-9550-27975FA14605}"/>
                </a:ext>
              </a:extLst>
            </p:cNvPr>
            <p:cNvSpPr/>
            <p:nvPr/>
          </p:nvSpPr>
          <p:spPr>
            <a:xfrm>
              <a:off x="5014913" y="676343"/>
              <a:ext cx="377745" cy="2763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200" kern="0" dirty="0"/>
                <a:t>1.5</a:t>
              </a:r>
              <a:endParaRPr lang="zh-CN" altLang="en-US" sz="1200" dirty="0"/>
            </a:p>
          </p:txBody>
        </p:sp>
        <p:sp>
          <p:nvSpPr>
            <p:cNvPr id="49" name="矩形 129">
              <a:extLst>
                <a:ext uri="{FF2B5EF4-FFF2-40B4-BE49-F238E27FC236}">
                  <a16:creationId xmlns:a16="http://schemas.microsoft.com/office/drawing/2014/main" id="{0709E2CF-52AD-411E-9053-0AB26A077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9668" y="2022265"/>
              <a:ext cx="27443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 i="1"/>
                <a:t>x</a:t>
              </a:r>
              <a:endParaRPr lang="zh-CN" altLang="en-US" sz="1400" i="1"/>
            </a:p>
          </p:txBody>
        </p:sp>
        <p:sp>
          <p:nvSpPr>
            <p:cNvPr id="50" name="任意多边形 133">
              <a:extLst>
                <a:ext uri="{FF2B5EF4-FFF2-40B4-BE49-F238E27FC236}">
                  <a16:creationId xmlns:a16="http://schemas.microsoft.com/office/drawing/2014/main" id="{C769E9A2-B3AF-4E13-B704-EEC6896A302F}"/>
                </a:ext>
              </a:extLst>
            </p:cNvPr>
            <p:cNvSpPr/>
            <p:nvPr/>
          </p:nvSpPr>
          <p:spPr bwMode="auto">
            <a:xfrm>
              <a:off x="5403767" y="879600"/>
              <a:ext cx="2942599" cy="1289413"/>
            </a:xfrm>
            <a:custGeom>
              <a:avLst/>
              <a:gdLst>
                <a:gd name="connsiteX0" fmla="*/ 0 w 2942493"/>
                <a:gd name="connsiteY0" fmla="*/ 1289538 h 1289538"/>
                <a:gd name="connsiteX1" fmla="*/ 11724 w 2942493"/>
                <a:gd name="connsiteY1" fmla="*/ 422031 h 1289538"/>
                <a:gd name="connsiteX2" fmla="*/ 11724 w 2942493"/>
                <a:gd name="connsiteY2" fmla="*/ 422031 h 1289538"/>
                <a:gd name="connsiteX3" fmla="*/ 1453662 w 2942493"/>
                <a:gd name="connsiteY3" fmla="*/ 46892 h 1289538"/>
                <a:gd name="connsiteX4" fmla="*/ 2930770 w 2942493"/>
                <a:gd name="connsiteY4" fmla="*/ 703384 h 1289538"/>
                <a:gd name="connsiteX5" fmla="*/ 2930770 w 2942493"/>
                <a:gd name="connsiteY5" fmla="*/ 703384 h 1289538"/>
                <a:gd name="connsiteX6" fmla="*/ 2942493 w 2942493"/>
                <a:gd name="connsiteY6" fmla="*/ 1289538 h 12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2493" h="1289538">
                  <a:moveTo>
                    <a:pt x="0" y="1289538"/>
                  </a:moveTo>
                  <a:lnTo>
                    <a:pt x="11724" y="422031"/>
                  </a:lnTo>
                  <a:lnTo>
                    <a:pt x="11724" y="422031"/>
                  </a:lnTo>
                  <a:cubicBezTo>
                    <a:pt x="252047" y="359508"/>
                    <a:pt x="967154" y="0"/>
                    <a:pt x="1453662" y="46892"/>
                  </a:cubicBezTo>
                  <a:cubicBezTo>
                    <a:pt x="1940170" y="93784"/>
                    <a:pt x="2930770" y="703384"/>
                    <a:pt x="2930770" y="703384"/>
                  </a:cubicBezTo>
                  <a:lnTo>
                    <a:pt x="2930770" y="703384"/>
                  </a:lnTo>
                  <a:lnTo>
                    <a:pt x="2942493" y="1289538"/>
                  </a:lnTo>
                </a:path>
              </a:pathLst>
            </a:cu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dirty="0"/>
            </a:p>
          </p:txBody>
        </p:sp>
        <p:sp>
          <p:nvSpPr>
            <p:cNvPr id="51" name="任意多边形 131">
              <a:extLst>
                <a:ext uri="{FF2B5EF4-FFF2-40B4-BE49-F238E27FC236}">
                  <a16:creationId xmlns:a16="http://schemas.microsoft.com/office/drawing/2014/main" id="{769BE981-315D-44C2-AF8D-EB05DF800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708" y="791643"/>
              <a:ext cx="2948940" cy="796290"/>
            </a:xfrm>
            <a:custGeom>
              <a:avLst/>
              <a:gdLst>
                <a:gd name="T0" fmla="*/ 0 w 2948940"/>
                <a:gd name="T1" fmla="*/ 510540 h 796290"/>
                <a:gd name="T2" fmla="*/ 571500 w 2948940"/>
                <a:gd name="T3" fmla="*/ 99060 h 796290"/>
                <a:gd name="T4" fmla="*/ 1325880 w 2948940"/>
                <a:gd name="T5" fmla="*/ 87630 h 796290"/>
                <a:gd name="T6" fmla="*/ 2286000 w 2948940"/>
                <a:gd name="T7" fmla="*/ 624840 h 796290"/>
                <a:gd name="T8" fmla="*/ 2948940 w 2948940"/>
                <a:gd name="T9" fmla="*/ 796290 h 796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48940"/>
                <a:gd name="T16" fmla="*/ 0 h 796290"/>
                <a:gd name="T17" fmla="*/ 2948940 w 2948940"/>
                <a:gd name="T18" fmla="*/ 796290 h 7962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48940" h="796290">
                  <a:moveTo>
                    <a:pt x="0" y="510540"/>
                  </a:moveTo>
                  <a:cubicBezTo>
                    <a:pt x="175260" y="340042"/>
                    <a:pt x="350520" y="169545"/>
                    <a:pt x="571500" y="99060"/>
                  </a:cubicBezTo>
                  <a:cubicBezTo>
                    <a:pt x="792480" y="28575"/>
                    <a:pt x="1040130" y="0"/>
                    <a:pt x="1325880" y="87630"/>
                  </a:cubicBezTo>
                  <a:cubicBezTo>
                    <a:pt x="1611630" y="175260"/>
                    <a:pt x="2015490" y="506730"/>
                    <a:pt x="2286000" y="624840"/>
                  </a:cubicBezTo>
                  <a:cubicBezTo>
                    <a:pt x="2556510" y="742950"/>
                    <a:pt x="2752725" y="769620"/>
                    <a:pt x="2948940" y="796290"/>
                  </a:cubicBezTo>
                </a:path>
              </a:pathLst>
            </a:cu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椭圆 161">
              <a:extLst>
                <a:ext uri="{FF2B5EF4-FFF2-40B4-BE49-F238E27FC236}">
                  <a16:creationId xmlns:a16="http://schemas.microsoft.com/office/drawing/2014/main" id="{38DFE461-0298-4190-BEF3-79227C1477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286776" y="1536443"/>
              <a:ext cx="71438" cy="72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椭圆 164">
              <a:extLst>
                <a:ext uri="{FF2B5EF4-FFF2-40B4-BE49-F238E27FC236}">
                  <a16:creationId xmlns:a16="http://schemas.microsoft.com/office/drawing/2014/main" id="{89E0F788-E881-4AA4-8A87-42F5EEAA11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81264" y="1262414"/>
              <a:ext cx="71438" cy="72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4" name="椭圆 170">
              <a:extLst>
                <a:ext uri="{FF2B5EF4-FFF2-40B4-BE49-F238E27FC236}">
                  <a16:creationId xmlns:a16="http://schemas.microsoft.com/office/drawing/2014/main" id="{61564547-9E4A-4B7B-BF82-C5B77BCCDE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810024" y="892401"/>
              <a:ext cx="71438" cy="72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1270685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/>
      <p:bldP spid="24" grpId="0"/>
      <p:bldP spid="25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8ACA73E4-0BE7-4A48-AE13-F93157CA1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500" y="518320"/>
            <a:ext cx="9558482" cy="2424113"/>
          </a:xfrm>
        </p:spPr>
        <p:txBody>
          <a:bodyPr/>
          <a:lstStyle/>
          <a:p>
            <a:pPr lvl="1" algn="just">
              <a:lnSpc>
                <a:spcPct val="110000"/>
              </a:lnSpc>
              <a:buFontTx/>
              <a:buNone/>
              <a:defRPr/>
            </a:pPr>
            <a:r>
              <a:rPr lang="zh-CN" altLang="en-US" b="1" dirty="0">
                <a:latin typeface="宋体" pitchFamily="2" charset="-122"/>
              </a:rPr>
              <a:t>3.代数精度的概念</a:t>
            </a:r>
          </a:p>
          <a:p>
            <a:pPr algn="just">
              <a:spcBef>
                <a:spcPts val="1200"/>
              </a:spcBef>
              <a:buNone/>
              <a:defRPr/>
            </a:pPr>
            <a:r>
              <a:rPr lang="zh-CN" altLang="en-US" sz="2400" dirty="0">
                <a:cs typeface="Times New Roman" pitchFamily="18" charset="0"/>
              </a:rPr>
              <a:t>     </a:t>
            </a:r>
            <a:r>
              <a:rPr lang="zh-CN" altLang="en-US" sz="2400" b="1" dirty="0"/>
              <a:t>定理 </a:t>
            </a:r>
            <a:r>
              <a:rPr lang="zh-CN" altLang="en-US" sz="2400" b="1" dirty="0">
                <a:cs typeface="Times New Roman" pitchFamily="18" charset="0"/>
              </a:rPr>
              <a:t>1</a:t>
            </a:r>
            <a:r>
              <a:rPr lang="zh-CN" altLang="en-US" sz="2400" dirty="0"/>
              <a:t>（</a:t>
            </a:r>
            <a:r>
              <a:rPr lang="en-US" altLang="zh-CN" sz="2400" dirty="0" err="1">
                <a:cs typeface="Times New Roman" pitchFamily="18" charset="0"/>
              </a:rPr>
              <a:t>Weierstrass</a:t>
            </a:r>
            <a:r>
              <a:rPr lang="zh-CN" altLang="en-US" sz="2400" dirty="0"/>
              <a:t>定理）设</a:t>
            </a:r>
            <a:r>
              <a:rPr lang="zh-CN" altLang="en-US" sz="1200" dirty="0"/>
              <a:t> </a:t>
            </a:r>
            <a:r>
              <a:rPr lang="en-US" altLang="zh-CN" sz="2400" i="1" dirty="0">
                <a:cs typeface="Times New Roman" pitchFamily="18" charset="0"/>
              </a:rPr>
              <a:t>f</a:t>
            </a:r>
            <a:r>
              <a:rPr lang="en-US" altLang="zh-CN" sz="1200" i="1" dirty="0">
                <a:cs typeface="Times New Roman" pitchFamily="18" charset="0"/>
              </a:rPr>
              <a:t> </a:t>
            </a:r>
            <a:r>
              <a:rPr lang="en-US" altLang="zh-CN" sz="2400" dirty="0">
                <a:cs typeface="Times New Roman" pitchFamily="18" charset="0"/>
              </a:rPr>
              <a:t>(</a:t>
            </a:r>
            <a:r>
              <a:rPr lang="en-US" altLang="zh-CN" sz="2400" i="1" dirty="0">
                <a:cs typeface="Times New Roman" pitchFamily="18" charset="0"/>
              </a:rPr>
              <a:t>x</a:t>
            </a:r>
            <a:r>
              <a:rPr lang="en-US" altLang="zh-CN" sz="2400" dirty="0">
                <a:cs typeface="Times New Roman" pitchFamily="18" charset="0"/>
              </a:rPr>
              <a:t>)</a:t>
            </a:r>
            <a:r>
              <a:rPr lang="en-US" altLang="zh-CN" sz="1200" dirty="0">
                <a:cs typeface="Times New Roman" pitchFamily="18" charset="0"/>
              </a:rPr>
              <a:t> </a:t>
            </a:r>
            <a:r>
              <a:rPr lang="zh-CN" altLang="en-US" sz="2400" dirty="0"/>
              <a:t>是［</a:t>
            </a:r>
            <a:r>
              <a:rPr lang="en-US" altLang="zh-CN" sz="2400" i="1" dirty="0" err="1">
                <a:cs typeface="Times New Roman" pitchFamily="18" charset="0"/>
              </a:rPr>
              <a:t>a</a:t>
            </a:r>
            <a:r>
              <a:rPr lang="en-US" altLang="zh-CN" sz="2400" dirty="0" err="1"/>
              <a:t>，</a:t>
            </a:r>
            <a:r>
              <a:rPr lang="en-US" altLang="zh-CN" sz="2400" i="1" dirty="0" err="1">
                <a:cs typeface="Times New Roman" pitchFamily="18" charset="0"/>
              </a:rPr>
              <a:t>b</a:t>
            </a:r>
            <a:r>
              <a:rPr lang="en-US" altLang="zh-CN" sz="2400" dirty="0"/>
              <a:t>］</a:t>
            </a:r>
            <a:r>
              <a:rPr lang="zh-CN" altLang="en-US" sz="2400" dirty="0"/>
              <a:t>上的连续函数，则对任意</a:t>
            </a:r>
            <a:r>
              <a:rPr lang="zh-CN" altLang="en-US" sz="2400" baseline="30000" dirty="0"/>
              <a:t> </a:t>
            </a:r>
            <a:r>
              <a:rPr lang="en-US" altLang="zh-CN" sz="2400" i="1" dirty="0"/>
              <a:t>ε</a:t>
            </a:r>
            <a:r>
              <a:rPr lang="en-US" altLang="zh-CN" sz="2400" dirty="0"/>
              <a:t>＞0，</a:t>
            </a:r>
            <a:r>
              <a:rPr lang="zh-CN" altLang="en-US" sz="2400" dirty="0"/>
              <a:t>存在多项式</a:t>
            </a:r>
            <a:r>
              <a:rPr lang="zh-CN" altLang="en-US" sz="2400" baseline="30000" dirty="0"/>
              <a:t> </a:t>
            </a:r>
            <a:r>
              <a:rPr lang="en-US" altLang="zh-CN" sz="2400" i="1" dirty="0"/>
              <a:t>p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)，</a:t>
            </a:r>
            <a:r>
              <a:rPr lang="zh-CN" altLang="en-US" sz="2400" dirty="0"/>
              <a:t>使对一切 </a:t>
            </a:r>
            <a:r>
              <a:rPr lang="en-US" altLang="zh-CN" sz="2400" i="1" dirty="0"/>
              <a:t>x</a:t>
            </a:r>
            <a:r>
              <a:rPr lang="en-US" altLang="zh-CN" sz="1200" i="1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≤</a:t>
            </a:r>
            <a:r>
              <a:rPr lang="en-US" altLang="zh-CN" sz="1200" dirty="0"/>
              <a:t> </a:t>
            </a:r>
            <a:r>
              <a:rPr lang="en-US" altLang="zh-CN" sz="2400" i="1" dirty="0"/>
              <a:t>x</a:t>
            </a:r>
            <a:r>
              <a:rPr lang="en-US" altLang="zh-CN" sz="1200" i="1" dirty="0"/>
              <a:t> </a:t>
            </a:r>
            <a:r>
              <a:rPr lang="en-US" altLang="zh-CN" sz="2400" dirty="0"/>
              <a:t>≤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/>
              <a:t>有 |</a:t>
            </a:r>
            <a:r>
              <a:rPr lang="zh-CN" altLang="en-US" sz="1200" dirty="0"/>
              <a:t> </a:t>
            </a:r>
            <a:r>
              <a:rPr lang="en-US" altLang="zh-CN" sz="2400" i="1" dirty="0"/>
              <a:t>f</a:t>
            </a:r>
            <a:r>
              <a:rPr lang="en-US" altLang="zh-CN" sz="1200" i="1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en-US" altLang="zh-CN" sz="1200" dirty="0"/>
              <a:t> </a:t>
            </a:r>
            <a:r>
              <a:rPr lang="en-US" altLang="zh-CN" sz="2400" dirty="0">
                <a:sym typeface="Symbol"/>
              </a:rPr>
              <a:t></a:t>
            </a:r>
            <a:r>
              <a:rPr lang="en-US" altLang="zh-CN" sz="1200" dirty="0">
                <a:sym typeface="Symbol"/>
              </a:rPr>
              <a:t> </a:t>
            </a:r>
            <a:r>
              <a:rPr lang="en-US" altLang="zh-CN" sz="2400" i="1" dirty="0"/>
              <a:t>p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en-US" altLang="zh-CN" sz="1200" dirty="0"/>
              <a:t> </a:t>
            </a:r>
            <a:r>
              <a:rPr lang="en-US" altLang="zh-CN" sz="2400" dirty="0"/>
              <a:t>| ＜ </a:t>
            </a:r>
            <a:r>
              <a:rPr lang="en-US" altLang="zh-CN" sz="2400" i="1" dirty="0"/>
              <a:t>ε</a:t>
            </a:r>
            <a:r>
              <a:rPr lang="en-US" altLang="zh-CN" sz="2400" dirty="0"/>
              <a:t>。</a:t>
            </a:r>
            <a:endParaRPr lang="zh-CN" altLang="en-US" sz="2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80F9F7C-16F3-41F0-BE1E-D96944789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991" y="2268916"/>
            <a:ext cx="7429500" cy="273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kern="0" dirty="0"/>
              <a:t>假如求积公式</a:t>
            </a:r>
            <a:endParaRPr lang="en-US" altLang="zh-CN" sz="2400" kern="0" dirty="0"/>
          </a:p>
          <a:p>
            <a:pPr marL="0" lvl="1"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altLang="zh-CN" sz="2400" kern="0" dirty="0"/>
          </a:p>
          <a:p>
            <a:pPr marL="0" lvl="1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kern="0" dirty="0"/>
              <a:t>对 </a:t>
            </a:r>
            <a:r>
              <a:rPr lang="en-US" altLang="zh-CN" sz="2400" i="1" kern="0" dirty="0">
                <a:cs typeface="Times New Roman" pitchFamily="18" charset="0"/>
              </a:rPr>
              <a:t>f</a:t>
            </a:r>
            <a:r>
              <a:rPr lang="en-US" altLang="zh-CN" sz="400" i="1" kern="0" dirty="0">
                <a:cs typeface="Times New Roman" pitchFamily="18" charset="0"/>
              </a:rPr>
              <a:t> </a:t>
            </a:r>
            <a:r>
              <a:rPr lang="en-US" altLang="zh-CN" sz="2400" kern="0" dirty="0">
                <a:cs typeface="Times New Roman" pitchFamily="18" charset="0"/>
              </a:rPr>
              <a:t>(</a:t>
            </a:r>
            <a:r>
              <a:rPr lang="en-US" altLang="zh-CN" sz="2400" i="1" kern="0" dirty="0">
                <a:cs typeface="Times New Roman" pitchFamily="18" charset="0"/>
              </a:rPr>
              <a:t>x</a:t>
            </a:r>
            <a:r>
              <a:rPr lang="en-US" altLang="zh-CN" sz="2400" kern="0" dirty="0">
                <a:cs typeface="Times New Roman" pitchFamily="18" charset="0"/>
              </a:rPr>
              <a:t>)</a:t>
            </a:r>
            <a:r>
              <a:rPr lang="en-US" altLang="zh-CN" sz="1100" kern="0" dirty="0">
                <a:cs typeface="Times New Roman" pitchFamily="18" charset="0"/>
              </a:rPr>
              <a:t> </a:t>
            </a:r>
            <a:r>
              <a:rPr lang="en-US" altLang="zh-CN" sz="2400" kern="0" dirty="0">
                <a:cs typeface="Times New Roman" pitchFamily="18" charset="0"/>
              </a:rPr>
              <a:t>=</a:t>
            </a:r>
            <a:r>
              <a:rPr lang="en-US" altLang="zh-CN" sz="1100" kern="0" dirty="0">
                <a:cs typeface="Times New Roman" pitchFamily="18" charset="0"/>
              </a:rPr>
              <a:t> </a:t>
            </a:r>
            <a:r>
              <a:rPr lang="en-US" altLang="zh-CN" sz="2400" kern="0" dirty="0">
                <a:cs typeface="Times New Roman" pitchFamily="18" charset="0"/>
              </a:rPr>
              <a:t>1</a:t>
            </a:r>
            <a:r>
              <a:rPr lang="en-US" altLang="zh-CN" sz="2400" kern="0" dirty="0"/>
              <a:t>，</a:t>
            </a:r>
            <a:r>
              <a:rPr lang="en-US" altLang="zh-CN" sz="2400" i="1" kern="0" dirty="0">
                <a:cs typeface="Times New Roman" pitchFamily="18" charset="0"/>
              </a:rPr>
              <a:t>x</a:t>
            </a:r>
            <a:r>
              <a:rPr lang="en-US" altLang="zh-CN" sz="2400" kern="0" dirty="0"/>
              <a:t>，</a:t>
            </a:r>
            <a:r>
              <a:rPr lang="en-US" altLang="zh-CN" sz="2400" i="1" kern="0" dirty="0">
                <a:cs typeface="Times New Roman" pitchFamily="18" charset="0"/>
              </a:rPr>
              <a:t>x</a:t>
            </a:r>
            <a:r>
              <a:rPr lang="en-US" altLang="zh-CN" sz="2400" kern="0" baseline="30000" dirty="0">
                <a:cs typeface="Times New Roman" pitchFamily="18" charset="0"/>
              </a:rPr>
              <a:t>2</a:t>
            </a:r>
            <a:r>
              <a:rPr lang="en-US" altLang="zh-CN" sz="2400" kern="0" dirty="0"/>
              <a:t>，…，</a:t>
            </a:r>
            <a:r>
              <a:rPr lang="en-US" altLang="zh-CN" sz="2400" i="1" kern="0" dirty="0" err="1">
                <a:cs typeface="Times New Roman" pitchFamily="18" charset="0"/>
              </a:rPr>
              <a:t>x</a:t>
            </a:r>
            <a:r>
              <a:rPr lang="en-US" altLang="zh-CN" sz="2400" i="1" kern="0" baseline="30000" dirty="0" err="1">
                <a:cs typeface="Times New Roman" pitchFamily="18" charset="0"/>
              </a:rPr>
              <a:t>m</a:t>
            </a:r>
            <a:r>
              <a:rPr lang="en-US" altLang="zh-CN" sz="2400" kern="0" baseline="30000" dirty="0">
                <a:cs typeface="Times New Roman" pitchFamily="18" charset="0"/>
              </a:rPr>
              <a:t>  </a:t>
            </a:r>
            <a:r>
              <a:rPr lang="zh-CN" altLang="en-US" sz="2400" kern="0" dirty="0"/>
              <a:t>恒精确成立；</a:t>
            </a:r>
            <a:endParaRPr lang="en-US" altLang="zh-CN" sz="2400" kern="0" dirty="0"/>
          </a:p>
          <a:p>
            <a:pPr marL="0" lvl="1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400" kern="0" dirty="0"/>
              <a:t>         </a:t>
            </a:r>
            <a:r>
              <a:rPr lang="zh-CN" altLang="en-US" sz="2400" kern="0" dirty="0"/>
              <a:t>而当 </a:t>
            </a:r>
            <a:r>
              <a:rPr lang="en-US" altLang="zh-CN" sz="2400" i="1" kern="0" dirty="0"/>
              <a:t>f</a:t>
            </a:r>
            <a:r>
              <a:rPr lang="en-US" altLang="zh-CN" sz="1000" i="1" kern="0" dirty="0"/>
              <a:t> </a:t>
            </a:r>
            <a:r>
              <a:rPr lang="en-US" altLang="zh-CN" sz="2400" kern="0" dirty="0"/>
              <a:t>(</a:t>
            </a:r>
            <a:r>
              <a:rPr lang="en-US" altLang="zh-CN" sz="2400" i="1" kern="0" dirty="0"/>
              <a:t>x</a:t>
            </a:r>
            <a:r>
              <a:rPr lang="en-US" altLang="zh-CN" sz="2400" kern="0" dirty="0"/>
              <a:t>)</a:t>
            </a:r>
            <a:r>
              <a:rPr lang="en-US" altLang="zh-CN" sz="1600" kern="0" dirty="0"/>
              <a:t> </a:t>
            </a:r>
            <a:r>
              <a:rPr lang="en-US" altLang="zh-CN" sz="2400" kern="0" dirty="0"/>
              <a:t>=</a:t>
            </a:r>
            <a:r>
              <a:rPr lang="en-US" altLang="zh-CN" sz="1600" kern="0" dirty="0"/>
              <a:t> </a:t>
            </a:r>
            <a:r>
              <a:rPr lang="en-US" altLang="zh-CN" sz="2400" i="1" kern="0" dirty="0"/>
              <a:t>x</a:t>
            </a:r>
            <a:r>
              <a:rPr lang="en-US" altLang="zh-CN" sz="1000" i="1" kern="0" dirty="0"/>
              <a:t> </a:t>
            </a:r>
            <a:r>
              <a:rPr lang="en-US" altLang="zh-CN" sz="2400" i="1" kern="0" baseline="30000" dirty="0"/>
              <a:t>m</a:t>
            </a:r>
            <a:r>
              <a:rPr lang="en-US" altLang="zh-CN" sz="2400" kern="0" baseline="30000" dirty="0"/>
              <a:t>+1  </a:t>
            </a:r>
            <a:r>
              <a:rPr lang="zh-CN" altLang="en-US" sz="2400" kern="0" dirty="0"/>
              <a:t>时就不精确成立。</a:t>
            </a:r>
            <a:endParaRPr lang="en-US" altLang="zh-CN" sz="2400" kern="0" dirty="0"/>
          </a:p>
          <a:p>
            <a:pPr marL="0" lvl="1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kern="0" dirty="0"/>
              <a:t>则称该公式的</a:t>
            </a:r>
            <a:r>
              <a:rPr lang="zh-CN" altLang="en-US" sz="2400" kern="0" dirty="0">
                <a:solidFill>
                  <a:srgbClr val="FF0000"/>
                </a:solidFill>
              </a:rPr>
              <a:t>代数精度为</a:t>
            </a:r>
            <a:r>
              <a:rPr lang="en-US" altLang="zh-CN" sz="2400" i="1" kern="0" dirty="0">
                <a:solidFill>
                  <a:srgbClr val="FF0000"/>
                </a:solidFill>
              </a:rPr>
              <a:t>m</a:t>
            </a:r>
            <a:r>
              <a:rPr lang="en-US" altLang="zh-CN" sz="2400" kern="0" dirty="0"/>
              <a:t>。 </a:t>
            </a:r>
            <a:endParaRPr lang="zh-CN" altLang="en-US" sz="2400" kern="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A35D56-B515-4E7B-BD0F-4194A8D1CDF3}"/>
              </a:ext>
            </a:extLst>
          </p:cNvPr>
          <p:cNvSpPr/>
          <p:nvPr/>
        </p:nvSpPr>
        <p:spPr>
          <a:xfrm>
            <a:off x="1727109" y="5470641"/>
            <a:ext cx="4968875" cy="128413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Times New Roman"/>
                <a:ea typeface="宋体"/>
              </a:rPr>
              <a:t>梯形求积公式具有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/>
                <a:ea typeface="宋体"/>
              </a:rPr>
              <a:t>次代数精度</a:t>
            </a:r>
            <a:endParaRPr lang="en-US" altLang="zh-CN" sz="2400" b="1" kern="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marL="0" lvl="1" algn="just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Times New Roman"/>
                <a:ea typeface="宋体"/>
              </a:rPr>
              <a:t>辛普森求积公式具有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/>
                <a:ea typeface="宋体"/>
                <a:cs typeface="Times New Roman" pitchFamily="18" charset="0"/>
              </a:rPr>
              <a:t>3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/>
                <a:ea typeface="宋体"/>
              </a:rPr>
              <a:t>次代数精度</a:t>
            </a:r>
          </a:p>
        </p:txBody>
      </p:sp>
      <p:graphicFrame>
        <p:nvGraphicFramePr>
          <p:cNvPr id="8197" name="Object 2">
            <a:extLst>
              <a:ext uri="{FF2B5EF4-FFF2-40B4-BE49-F238E27FC236}">
                <a16:creationId xmlns:a16="http://schemas.microsoft.com/office/drawing/2014/main" id="{7656B2EB-0E44-4329-8D5F-7F178EF72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540830"/>
              </p:ext>
            </p:extLst>
          </p:nvPr>
        </p:nvGraphicFramePr>
        <p:xfrm>
          <a:off x="4456906" y="2649122"/>
          <a:ext cx="32781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Equation" r:id="rId3" imgW="1435100" imgH="431800" progId="Equation.DSMT4">
                  <p:embed/>
                </p:oleObj>
              </mc:Choice>
              <mc:Fallback>
                <p:oleObj name="Equation" r:id="rId3" imgW="1435100" imgH="431800" progId="Equation.DSMT4">
                  <p:embed/>
                  <p:pic>
                    <p:nvPicPr>
                      <p:cNvPr id="8197" name="Object 2">
                        <a:extLst>
                          <a:ext uri="{FF2B5EF4-FFF2-40B4-BE49-F238E27FC236}">
                            <a16:creationId xmlns:a16="http://schemas.microsoft.com/office/drawing/2014/main" id="{7656B2EB-0E44-4329-8D5F-7F178EF72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906" y="2649122"/>
                        <a:ext cx="327818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8ACA73E4-0BE7-4A48-AE13-F93157CA1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6829" y="377506"/>
            <a:ext cx="9558482" cy="2424113"/>
          </a:xfrm>
        </p:spPr>
        <p:txBody>
          <a:bodyPr/>
          <a:lstStyle/>
          <a:p>
            <a:pPr lvl="1" algn="just">
              <a:lnSpc>
                <a:spcPct val="110000"/>
              </a:lnSpc>
              <a:defRPr/>
            </a:pPr>
            <a:r>
              <a:rPr lang="zh-CN" altLang="en-US" sz="2800" b="1" dirty="0">
                <a:latin typeface="宋体" pitchFamily="2" charset="-122"/>
              </a:rPr>
              <a:t>代数精度的概念</a:t>
            </a:r>
          </a:p>
          <a:p>
            <a:pPr algn="just">
              <a:spcBef>
                <a:spcPts val="1200"/>
              </a:spcBef>
              <a:buNone/>
              <a:defRPr/>
            </a:pPr>
            <a:r>
              <a:rPr lang="zh-CN" altLang="en-US" sz="2400" dirty="0">
                <a:cs typeface="Times New Roman" pitchFamily="18" charset="0"/>
              </a:rPr>
              <a:t> 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A35D56-B515-4E7B-BD0F-4194A8D1CDF3}"/>
              </a:ext>
            </a:extLst>
          </p:cNvPr>
          <p:cNvSpPr/>
          <p:nvPr/>
        </p:nvSpPr>
        <p:spPr>
          <a:xfrm>
            <a:off x="626829" y="1024335"/>
            <a:ext cx="711638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latin typeface="Times New Roman"/>
                <a:ea typeface="宋体"/>
              </a:rPr>
              <a:t>证明辛普森求积公式具有</a:t>
            </a:r>
            <a:r>
              <a:rPr lang="en-US" altLang="zh-CN" sz="2400" b="1" kern="0" dirty="0">
                <a:latin typeface="Times New Roman"/>
                <a:ea typeface="宋体"/>
                <a:cs typeface="Times New Roman" pitchFamily="18" charset="0"/>
              </a:rPr>
              <a:t>3</a:t>
            </a:r>
            <a:r>
              <a:rPr lang="zh-CN" altLang="en-US" sz="2400" b="1" kern="0" dirty="0">
                <a:latin typeface="Times New Roman"/>
                <a:ea typeface="宋体"/>
              </a:rPr>
              <a:t>次代数精度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2676A2-82F3-4D9E-BC12-E5BD358F076A}"/>
              </a:ext>
            </a:extLst>
          </p:cNvPr>
          <p:cNvSpPr txBox="1"/>
          <p:nvPr/>
        </p:nvSpPr>
        <p:spPr>
          <a:xfrm>
            <a:off x="1681018" y="160058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证明：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F62018C-91A9-479D-90CB-B130121D5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24771"/>
              </p:ext>
            </p:extLst>
          </p:nvPr>
        </p:nvGraphicFramePr>
        <p:xfrm>
          <a:off x="2562225" y="1600200"/>
          <a:ext cx="56816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Equation" r:id="rId3" imgW="3581400" imgH="635000" progId="Equation.DSMT4">
                  <p:embed/>
                </p:oleObj>
              </mc:Choice>
              <mc:Fallback>
                <p:oleObj name="Equation" r:id="rId3" imgW="3581400" imgH="6350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79D28AA5-6AA8-4384-9238-113F47377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1600200"/>
                        <a:ext cx="568166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182E177-8FCF-4C64-9527-22FB688E295D}"/>
                  </a:ext>
                </a:extLst>
              </p:cNvPr>
              <p:cNvSpPr/>
              <p:nvPr/>
            </p:nvSpPr>
            <p:spPr>
              <a:xfrm>
                <a:off x="2464404" y="2474958"/>
                <a:ext cx="6334683" cy="1175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000" dirty="0">
                    <a:solidFill>
                      <a:srgbClr val="0F1115"/>
                    </a:solidFill>
                    <a:latin typeface="quote-cjk-patch"/>
                  </a:rPr>
                  <a:t>为了方便，把积分区间转换为对称区间</a:t>
                </a:r>
                <a:r>
                  <a:rPr lang="en-US" altLang="zh-CN" sz="2000" dirty="0">
                    <a:solidFill>
                      <a:srgbClr val="0F1115"/>
                    </a:solidFill>
                    <a:latin typeface="quote-cjk-patch"/>
                  </a:rPr>
                  <a:t>[</a:t>
                </a:r>
                <a:r>
                  <a:rPr lang="en-US" altLang="zh-CN" sz="2000" dirty="0">
                    <a:solidFill>
                      <a:srgbClr val="0F1115"/>
                    </a:solidFill>
                    <a:latin typeface="KaTeX_Main"/>
                  </a:rPr>
                  <a:t>−</a:t>
                </a:r>
                <a:r>
                  <a:rPr lang="en-US" altLang="zh-CN" sz="2000" i="1" dirty="0" err="1">
                    <a:solidFill>
                      <a:srgbClr val="0F1115"/>
                    </a:solidFill>
                    <a:latin typeface="KaTeX_Math"/>
                  </a:rPr>
                  <a:t>h</a:t>
                </a:r>
                <a:r>
                  <a:rPr lang="en-US" altLang="zh-CN" sz="2000" dirty="0" err="1">
                    <a:solidFill>
                      <a:srgbClr val="0F1115"/>
                    </a:solidFill>
                    <a:latin typeface="KaTeX_Main"/>
                  </a:rPr>
                  <a:t>,</a:t>
                </a:r>
                <a:r>
                  <a:rPr lang="en-US" altLang="zh-CN" sz="2000" i="1" dirty="0" err="1">
                    <a:solidFill>
                      <a:srgbClr val="0F1115"/>
                    </a:solidFill>
                    <a:latin typeface="KaTeX_Math"/>
                  </a:rPr>
                  <a:t>h</a:t>
                </a:r>
                <a:r>
                  <a:rPr lang="en-US" altLang="zh-CN" sz="2000" dirty="0">
                    <a:solidFill>
                      <a:srgbClr val="0F1115"/>
                    </a:solidFill>
                    <a:latin typeface="KaTeX_Main"/>
                  </a:rPr>
                  <a:t>],</a:t>
                </a:r>
                <a:r>
                  <a:rPr lang="zh-CN" altLang="en-US" sz="2000" dirty="0">
                    <a:solidFill>
                      <a:srgbClr val="0F1115"/>
                    </a:solidFill>
                    <a:latin typeface="KaTeX_Main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F1115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000" b="0" i="1" smtClean="0">
                        <a:solidFill>
                          <a:srgbClr val="0F111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000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00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sz="2000" dirty="0"/>
                  <a:t>则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182E177-8FCF-4C64-9527-22FB688E2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404" y="2474958"/>
                <a:ext cx="6334683" cy="1175835"/>
              </a:xfrm>
              <a:prstGeom prst="rect">
                <a:avLst/>
              </a:prstGeom>
              <a:blipFill>
                <a:blip r:embed="rId5"/>
                <a:stretch>
                  <a:fillRect l="-962" b="-1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197D812-28CD-4BCB-A18D-FDF4FFBBB86C}"/>
              </a:ext>
            </a:extLst>
          </p:cNvPr>
          <p:cNvSpPr txBox="1"/>
          <p:nvPr/>
        </p:nvSpPr>
        <p:spPr>
          <a:xfrm>
            <a:off x="1657141" y="365498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使用单项式测试精度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1FC23F9-C723-4C66-AAE1-B8FD63D38076}"/>
                  </a:ext>
                </a:extLst>
              </p:cNvPr>
              <p:cNvSpPr/>
              <p:nvPr/>
            </p:nvSpPr>
            <p:spPr>
              <a:xfrm>
                <a:off x="2788220" y="4024313"/>
                <a:ext cx="5815631" cy="5398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f(x)=1  :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=2h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1FC23F9-C723-4C66-AAE1-B8FD63D38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220" y="4024313"/>
                <a:ext cx="5815631" cy="539828"/>
              </a:xfrm>
              <a:prstGeom prst="rect">
                <a:avLst/>
              </a:prstGeom>
              <a:blipFill>
                <a:blip r:embed="rId6"/>
                <a:stretch>
                  <a:fillRect l="-1048" b="-1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92EE468-C69C-4B68-B2E7-09B20CE6226E}"/>
                  </a:ext>
                </a:extLst>
              </p:cNvPr>
              <p:cNvSpPr/>
              <p:nvPr/>
            </p:nvSpPr>
            <p:spPr>
              <a:xfrm>
                <a:off x="2741531" y="4512093"/>
                <a:ext cx="5898346" cy="5398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f(x)=x: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=0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92EE468-C69C-4B68-B2E7-09B20CE62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531" y="4512093"/>
                <a:ext cx="5898346" cy="539828"/>
              </a:xfrm>
              <a:prstGeom prst="rect">
                <a:avLst/>
              </a:prstGeom>
              <a:blipFill>
                <a:blip r:embed="rId7"/>
                <a:stretch>
                  <a:fillRect l="-1138" b="-1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0145158-AAE3-4EB8-82C0-95552D311176}"/>
                  </a:ext>
                </a:extLst>
              </p:cNvPr>
              <p:cNvSpPr/>
              <p:nvPr/>
            </p:nvSpPr>
            <p:spPr>
              <a:xfrm>
                <a:off x="2741531" y="4999374"/>
                <a:ext cx="6657976" cy="5398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f(x)=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/>
                  <a:t>: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0145158-AAE3-4EB8-82C0-95552D311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531" y="4999374"/>
                <a:ext cx="6657976" cy="539828"/>
              </a:xfrm>
              <a:prstGeom prst="rect">
                <a:avLst/>
              </a:prstGeom>
              <a:blipFill>
                <a:blip r:embed="rId8"/>
                <a:stretch>
                  <a:fillRect l="-1007" b="-1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86B20BB-4F4A-4F23-BE3D-F178ECD85F39}"/>
                  </a:ext>
                </a:extLst>
              </p:cNvPr>
              <p:cNvSpPr/>
              <p:nvPr/>
            </p:nvSpPr>
            <p:spPr>
              <a:xfrm>
                <a:off x="2741531" y="5431568"/>
                <a:ext cx="6023059" cy="5398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f(x)=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000" dirty="0"/>
                  <a:t>: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=0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86B20BB-4F4A-4F23-BE3D-F178ECD85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531" y="5431568"/>
                <a:ext cx="6023059" cy="539828"/>
              </a:xfrm>
              <a:prstGeom prst="rect">
                <a:avLst/>
              </a:prstGeom>
              <a:blipFill>
                <a:blip r:embed="rId9"/>
                <a:stretch>
                  <a:fillRect l="-1113" r="-101" b="-1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77588A7-E151-4881-BC19-43EC1724169F}"/>
                  </a:ext>
                </a:extLst>
              </p:cNvPr>
              <p:cNvSpPr/>
              <p:nvPr/>
            </p:nvSpPr>
            <p:spPr>
              <a:xfrm>
                <a:off x="2741531" y="5849236"/>
                <a:ext cx="6946517" cy="8479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/>
                  <a:t>f(x)=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000" dirty="0"/>
                  <a:t>: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sz="2000" dirty="0"/>
                  <a:t>     </a:t>
                </a:r>
                <a:endParaRPr lang="en-US" altLang="zh-CN" sz="2000" dirty="0"/>
              </a:p>
              <a:p>
                <a:r>
                  <a:rPr lang="zh-CN" altLang="en-US" sz="2000" dirty="0"/>
                  <a:t>不相等，故该公式代数精度为</a:t>
                </a:r>
                <a:r>
                  <a:rPr lang="en-US" altLang="zh-CN" sz="2000" dirty="0"/>
                  <a:t>3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77588A7-E151-4881-BC19-43EC17241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531" y="5849236"/>
                <a:ext cx="6946517" cy="847924"/>
              </a:xfrm>
              <a:prstGeom prst="rect">
                <a:avLst/>
              </a:prstGeom>
              <a:blipFill>
                <a:blip r:embed="rId10"/>
                <a:stretch>
                  <a:fillRect l="-966" b="-13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470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8DF23-3964-4850-B6BD-DC8D4E7E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167F6-403C-4709-8563-EAE125F77AA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23875" y="1366838"/>
            <a:ext cx="10898188" cy="4805362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dirty="0"/>
              <a:t>例 求</a:t>
            </a:r>
            <a:r>
              <a:rPr lang="en-US" altLang="zh-CN" dirty="0" err="1"/>
              <a:t>a,b,c</a:t>
            </a:r>
            <a:r>
              <a:rPr lang="zh-CN" altLang="en-US" dirty="0"/>
              <a:t>的值使下列求积公式的代数精度达到最高。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9F48AB-DF37-4648-8565-BFB17D08D35E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518320"/>
            <a:ext cx="9558482" cy="242411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lnSpc>
                <a:spcPct val="150000"/>
              </a:lnSpc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lnSpc>
                <a:spcPct val="150000"/>
              </a:lnSpc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lnSpc>
                <a:spcPct val="150000"/>
              </a:lnSpc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lnSpc>
                <a:spcPct val="150000"/>
              </a:lnSpc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defTabSz="914400">
              <a:lnSpc>
                <a:spcPct val="110000"/>
              </a:lnSpc>
              <a:defRPr/>
            </a:pPr>
            <a:r>
              <a:rPr lang="zh-CN" altLang="en-US" b="1" dirty="0">
                <a:latin typeface="宋体" pitchFamily="2" charset="-122"/>
              </a:rPr>
              <a:t>代数精度的概念</a:t>
            </a:r>
          </a:p>
          <a:p>
            <a:pPr algn="just" defTabSz="914400">
              <a:spcBef>
                <a:spcPts val="1200"/>
              </a:spcBef>
              <a:buFont typeface="Wingdings 2"/>
              <a:buNone/>
              <a:defRPr/>
            </a:pPr>
            <a:r>
              <a:rPr lang="zh-CN" altLang="en-US" sz="2400" dirty="0">
                <a:cs typeface="Times New Roman" pitchFamily="18" charset="0"/>
              </a:rPr>
              <a:t> </a:t>
            </a:r>
            <a:endParaRPr lang="zh-CN" altLang="en-US" sz="2400" dirty="0"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00F9C4F-95DF-411C-9325-710F03082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149267"/>
              </p:ext>
            </p:extLst>
          </p:nvPr>
        </p:nvGraphicFramePr>
        <p:xfrm>
          <a:off x="2615119" y="2226958"/>
          <a:ext cx="5029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公式" r:id="rId3" imgW="2133360" imgH="330120" progId="Equation.3">
                  <p:embed/>
                </p:oleObj>
              </mc:Choice>
              <mc:Fallback>
                <p:oleObj name="公式" r:id="rId3" imgW="2133360" imgH="330120" progId="Equation.3">
                  <p:embed/>
                  <p:pic>
                    <p:nvPicPr>
                      <p:cNvPr id="194565" name="Object 5">
                        <a:extLst>
                          <a:ext uri="{FF2B5EF4-FFF2-40B4-BE49-F238E27FC236}">
                            <a16:creationId xmlns:a16="http://schemas.microsoft.com/office/drawing/2014/main" id="{C94AB72F-A191-4B25-B00D-DD1FC42A5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119" y="2226958"/>
                        <a:ext cx="5029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4701432"/>
      </p:ext>
    </p:extLst>
  </p:cSld>
  <p:clrMapOvr>
    <a:masterClrMapping/>
  </p:clrMapOvr>
  <p:transition>
    <p:fade/>
  </p:transition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通用_蓝">
  <a:themeElements>
    <a:clrScheme name="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_蓝">
  <a:themeElements>
    <a:clrScheme name="1_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蓝白</Template>
  <TotalTime>2966</TotalTime>
  <Words>534</Words>
  <Application>Microsoft Office PowerPoint</Application>
  <PresentationFormat>宽屏</PresentationFormat>
  <Paragraphs>69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KaTeX_Main</vt:lpstr>
      <vt:lpstr>KaTeX_Math</vt:lpstr>
      <vt:lpstr>quote-cjk-patch</vt:lpstr>
      <vt:lpstr>等线</vt:lpstr>
      <vt:lpstr>华文新魏</vt:lpstr>
      <vt:lpstr>隶书</vt:lpstr>
      <vt:lpstr>宋体</vt:lpstr>
      <vt:lpstr>幼圆</vt:lpstr>
      <vt:lpstr>Arial</vt:lpstr>
      <vt:lpstr>Calibri</vt:lpstr>
      <vt:lpstr>Cambria Math</vt:lpstr>
      <vt:lpstr>Franklin Gothic Book</vt:lpstr>
      <vt:lpstr>Perpetua</vt:lpstr>
      <vt:lpstr>Symbol</vt:lpstr>
      <vt:lpstr>Times New Roman</vt:lpstr>
      <vt:lpstr>Wingdings</vt:lpstr>
      <vt:lpstr>Wingdings 2</vt:lpstr>
      <vt:lpstr>通用_蓝</vt:lpstr>
      <vt:lpstr>1_通用_蓝</vt:lpstr>
      <vt:lpstr>平衡</vt:lpstr>
      <vt:lpstr>Equation</vt:lpstr>
      <vt:lpstr>Microsoft 公式 3.0</vt:lpstr>
      <vt:lpstr>数值积分-辛普生公式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Alice</cp:lastModifiedBy>
  <cp:revision>207</cp:revision>
  <dcterms:created xsi:type="dcterms:W3CDTF">2020-06-05T00:35:55Z</dcterms:created>
  <dcterms:modified xsi:type="dcterms:W3CDTF">2025-10-29T09:50:57Z</dcterms:modified>
</cp:coreProperties>
</file>