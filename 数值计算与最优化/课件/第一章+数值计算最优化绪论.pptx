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60"/>
  </p:notesMasterIdLst>
  <p:handoutMasterIdLst>
    <p:handoutMasterId r:id="rId61"/>
  </p:handoutMasterIdLst>
  <p:sldIdLst>
    <p:sldId id="499" r:id="rId2"/>
    <p:sldId id="503" r:id="rId3"/>
    <p:sldId id="505" r:id="rId4"/>
    <p:sldId id="506" r:id="rId5"/>
    <p:sldId id="500" r:id="rId6"/>
    <p:sldId id="501" r:id="rId7"/>
    <p:sldId id="502" r:id="rId8"/>
    <p:sldId id="284" r:id="rId9"/>
    <p:sldId id="349" r:id="rId10"/>
    <p:sldId id="348" r:id="rId11"/>
    <p:sldId id="286" r:id="rId12"/>
    <p:sldId id="519" r:id="rId13"/>
    <p:sldId id="287" r:id="rId14"/>
    <p:sldId id="508" r:id="rId15"/>
    <p:sldId id="493" r:id="rId16"/>
    <p:sldId id="495" r:id="rId17"/>
    <p:sldId id="293" r:id="rId18"/>
    <p:sldId id="520" r:id="rId19"/>
    <p:sldId id="298" r:id="rId20"/>
    <p:sldId id="497" r:id="rId21"/>
    <p:sldId id="299" r:id="rId22"/>
    <p:sldId id="300" r:id="rId23"/>
    <p:sldId id="538" r:id="rId24"/>
    <p:sldId id="521" r:id="rId25"/>
    <p:sldId id="541" r:id="rId26"/>
    <p:sldId id="531" r:id="rId27"/>
    <p:sldId id="514" r:id="rId28"/>
    <p:sldId id="532" r:id="rId29"/>
    <p:sldId id="539" r:id="rId30"/>
    <p:sldId id="535" r:id="rId31"/>
    <p:sldId id="540" r:id="rId32"/>
    <p:sldId id="527" r:id="rId33"/>
    <p:sldId id="523" r:id="rId34"/>
    <p:sldId id="533" r:id="rId35"/>
    <p:sldId id="537" r:id="rId36"/>
    <p:sldId id="524" r:id="rId37"/>
    <p:sldId id="525" r:id="rId38"/>
    <p:sldId id="522" r:id="rId39"/>
    <p:sldId id="542" r:id="rId40"/>
    <p:sldId id="301" r:id="rId41"/>
    <p:sldId id="543" r:id="rId42"/>
    <p:sldId id="544" r:id="rId43"/>
    <p:sldId id="305" r:id="rId44"/>
    <p:sldId id="528" r:id="rId45"/>
    <p:sldId id="307" r:id="rId46"/>
    <p:sldId id="529" r:id="rId47"/>
    <p:sldId id="530" r:id="rId48"/>
    <p:sldId id="309" r:id="rId49"/>
    <p:sldId id="509" r:id="rId50"/>
    <p:sldId id="536" r:id="rId51"/>
    <p:sldId id="490" r:id="rId52"/>
    <p:sldId id="492" r:id="rId53"/>
    <p:sldId id="312" r:id="rId54"/>
    <p:sldId id="313" r:id="rId55"/>
    <p:sldId id="314" r:id="rId56"/>
    <p:sldId id="488" r:id="rId57"/>
    <p:sldId id="315" r:id="rId58"/>
    <p:sldId id="510" r:id="rId59"/>
  </p:sldIdLst>
  <p:sldSz cx="12192000" cy="6858000"/>
  <p:notesSz cx="6669088" cy="99266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1" autoAdjust="0"/>
    <p:restoredTop sz="89778" autoAdjust="0"/>
  </p:normalViewPr>
  <p:slideViewPr>
    <p:cSldViewPr>
      <p:cViewPr varScale="1">
        <p:scale>
          <a:sx n="71" d="100"/>
          <a:sy n="71" d="100"/>
        </p:scale>
        <p:origin x="62" y="17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DF6315-C525-45CE-873C-270C963536BB}" type="datetimeFigureOut">
              <a:rPr lang="zh-CN" altLang="en-US"/>
              <a:pPr>
                <a:defRPr/>
              </a:pPr>
              <a:t>2025/9/8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ED43A3-5F18-4864-B5FC-E80E38052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774606-D6DB-4861-92D6-93D038E0F713}" type="datetimeFigureOut">
              <a:rPr lang="zh-CN" altLang="en-US"/>
              <a:pPr>
                <a:defRPr/>
              </a:pPr>
              <a:t>2025/9/8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750" y="4776788"/>
            <a:ext cx="5335588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576D611-D033-435D-BE0B-066E7D9077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D504782-814A-446B-A48E-11EBC3A4952F}" type="slidenum">
              <a:rPr lang="en-US" altLang="zh-CN" sz="1200" smtClean="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数值计算是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连接数学理论与工程实践的桥梁，它是一切科学计算、计算机模拟、人工智能、金融工程的数学基础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76D611-D033-435D-BE0B-066E7D9077ED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506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>
                <a:latin typeface="宋体" panose="02010600030101010101" pitchFamily="2" charset="-122"/>
              </a:rPr>
              <a:t>模型误差：数学建模过程中带来的误差。</a:t>
            </a:r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9B02D4C-6C5F-485F-8050-5D4D5AA973E8}" type="slidenum">
              <a:rPr lang="zh-CN" altLang="en-US" sz="1200" smtClean="0"/>
              <a:pPr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不可避免</a:t>
            </a: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50D7FF8-8CBB-4752-B2C1-C54E69F2A6D1}" type="slidenum">
              <a:rPr lang="zh-CN" altLang="en-US" sz="1200" smtClean="0"/>
              <a:pPr/>
              <a:t>13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误差的衡量</a:t>
            </a: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61C3F8D-A625-4BCD-AA86-9FE1373F7551}" type="slidenum">
              <a:rPr lang="zh-CN" altLang="en-US" sz="1200" smtClean="0"/>
              <a:pPr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误差没特别说明，默认为绝对误差</a:t>
            </a: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6EB7A01-F9CB-46B6-A721-AE364C0974E8}" type="slidenum">
              <a:rPr lang="zh-CN" altLang="en-US" sz="1200" smtClean="0"/>
              <a:pPr/>
              <a:t>27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相近的数相减，有效数字会变少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478A6D-F900-41BF-A78F-30EA2F277E08}" type="slidenum">
              <a:rPr lang="zh-CN" altLang="en-US" sz="1200" smtClean="0"/>
              <a:pPr/>
              <a:t>38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779777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相近的数相减，有效数字会变少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478A6D-F900-41BF-A78F-30EA2F277E08}" type="slidenum">
              <a:rPr lang="zh-CN" altLang="en-US" sz="1200" smtClean="0"/>
              <a:pPr/>
              <a:t>39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761560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相近的数相减，有效数字会变少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478A6D-F900-41BF-A78F-30EA2F277E08}" type="slidenum">
              <a:rPr lang="zh-CN" altLang="en-US" sz="1200" smtClean="0"/>
              <a:pPr/>
              <a:t>40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73969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相近的数相减，有效数字会变少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478A6D-F900-41BF-A78F-30EA2F277E08}" type="slidenum">
              <a:rPr lang="zh-CN" altLang="en-US" sz="1200" smtClean="0"/>
              <a:pPr/>
              <a:t>41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68684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相近的数相减，有效数字会变少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478A6D-F900-41BF-A78F-30EA2F277E08}" type="slidenum">
              <a:rPr lang="zh-CN" altLang="en-US" sz="1200" smtClean="0"/>
              <a:pPr/>
              <a:t>42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40704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40096-E1E6-493E-BDE9-E3639983DE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551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3285E-3721-4A4A-A3CD-F9D162F11D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92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A52F1E-3DED-44BB-B0CD-40702ED760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61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7A998-4F69-47C1-960B-DA3C694E39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606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CF005-CA1F-4083-BB5E-A13C1A97F7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69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A3344-D7F2-48AF-8FFE-C19DC1188E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88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41C0B-319B-4761-9CE5-93DE14861D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854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88F38-E746-43E7-BE54-F0F226A612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55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EC794-7A67-4A87-941E-2B6D776B9F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28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D8567-2A4B-4849-8684-14E848A02A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036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29C45-2EAC-434A-AE57-D56DC54969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879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41CD6A-2D5E-41D0-99BB-7FE9581E2C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0.png"/><Relationship Id="rId7" Type="http://schemas.openxmlformats.org/officeDocument/2006/relationships/image" Target="../media/image2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7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5" Type="http://schemas.openxmlformats.org/officeDocument/2006/relationships/image" Target="../media/image600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0.png"/><Relationship Id="rId4" Type="http://schemas.openxmlformats.org/officeDocument/2006/relationships/image" Target="../media/image6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0.png"/><Relationship Id="rId5" Type="http://schemas.openxmlformats.org/officeDocument/2006/relationships/image" Target="../media/image720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7" Type="http://schemas.openxmlformats.org/officeDocument/2006/relationships/image" Target="../media/image56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0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51.png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6.wmf"/><Relationship Id="rId10" Type="http://schemas.openxmlformats.org/officeDocument/2006/relationships/image" Target="../media/image68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063750" y="404813"/>
            <a:ext cx="7848600" cy="1793875"/>
          </a:xfrm>
        </p:spPr>
        <p:txBody>
          <a:bodyPr/>
          <a:lstStyle/>
          <a:p>
            <a:pPr eaLnBrk="1" hangingPunct="1"/>
            <a:r>
              <a:rPr lang="zh-CN" altLang="en-US" sz="4000" dirty="0"/>
              <a:t>数值计算与最优化</a:t>
            </a:r>
            <a:endParaRPr lang="en-US" altLang="zh-CN" sz="4000" dirty="0"/>
          </a:p>
        </p:txBody>
      </p:sp>
      <p:sp>
        <p:nvSpPr>
          <p:cNvPr id="4099" name="Subtitle 2"/>
          <p:cNvSpPr txBox="1">
            <a:spLocks/>
          </p:cNvSpPr>
          <p:nvPr/>
        </p:nvSpPr>
        <p:spPr bwMode="auto">
          <a:xfrm>
            <a:off x="3216275" y="2938463"/>
            <a:ext cx="53340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575"/>
              </a:spcBef>
              <a:buClr>
                <a:schemeClr val="accent1"/>
              </a:buClr>
              <a:buSzPct val="85000"/>
              <a:buFontTx/>
              <a:buNone/>
            </a:pPr>
            <a:r>
              <a:rPr kumimoji="0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文静</a:t>
            </a:r>
            <a:endParaRPr kumimoji="0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ts val="575"/>
              </a:spcBef>
              <a:buClr>
                <a:schemeClr val="accent1"/>
              </a:buClr>
              <a:buSzPct val="85000"/>
              <a:buFontTx/>
              <a:buNone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Autumn 2025</a:t>
            </a:r>
          </a:p>
        </p:txBody>
      </p:sp>
      <p:sp>
        <p:nvSpPr>
          <p:cNvPr id="4100" name="文本框 4"/>
          <p:cNvSpPr txBox="1">
            <a:spLocks noChangeArrowheads="1"/>
          </p:cNvSpPr>
          <p:nvPr/>
        </p:nvSpPr>
        <p:spPr bwMode="auto">
          <a:xfrm flipH="1">
            <a:off x="6816080" y="5332224"/>
            <a:ext cx="4589463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云班号：  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3507055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QQ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群号：</a:t>
            </a:r>
            <a:r>
              <a:rPr lang="zh-CN" altLang="en-US" dirty="0"/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1059702201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5"/>
          <p:cNvSpPr txBox="1">
            <a:spLocks noChangeArrowheads="1"/>
          </p:cNvSpPr>
          <p:nvPr/>
        </p:nvSpPr>
        <p:spPr bwMode="auto">
          <a:xfrm>
            <a:off x="3792538" y="2276475"/>
            <a:ext cx="4800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>
                <a:latin typeface="Times New Roman" panose="02020603050405020304" pitchFamily="18" charset="0"/>
                <a:ea typeface="宋体" panose="02010600030101010101" pitchFamily="2" charset="-122"/>
              </a:rPr>
              <a:t>为什么要学这门课？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>
            <a:spLocks/>
          </p:cNvSpPr>
          <p:nvPr/>
        </p:nvSpPr>
        <p:spPr>
          <a:xfrm>
            <a:off x="1847850" y="692150"/>
            <a:ext cx="9072686" cy="57610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2800" kern="0" dirty="0"/>
              <a:t>数值计算解决问题实例：</a:t>
            </a:r>
            <a:endParaRPr lang="en-US" altLang="zh-CN" sz="2800" kern="0" dirty="0"/>
          </a:p>
          <a:p>
            <a:pPr lvl="1">
              <a:defRPr/>
            </a:pPr>
            <a:r>
              <a:rPr lang="zh-CN" altLang="en-US" kern="0" dirty="0"/>
              <a:t>水库储水量的测量：误差分析</a:t>
            </a:r>
            <a:endParaRPr lang="en-US" altLang="zh-CN" kern="0" dirty="0"/>
          </a:p>
          <a:p>
            <a:pPr lvl="1">
              <a:defRPr/>
            </a:pPr>
            <a:endParaRPr lang="en-US" altLang="zh-CN" kern="0" dirty="0"/>
          </a:p>
          <a:p>
            <a:pPr lvl="1">
              <a:defRPr/>
            </a:pPr>
            <a:r>
              <a:rPr lang="zh-CN" altLang="en-US" kern="0" dirty="0"/>
              <a:t>经济增长预测：总结规律</a:t>
            </a:r>
            <a:endParaRPr lang="en-US" altLang="zh-CN" kern="0" dirty="0"/>
          </a:p>
          <a:p>
            <a:pPr lvl="1">
              <a:defRPr/>
            </a:pPr>
            <a:endParaRPr lang="en-US" altLang="zh-CN" kern="0" dirty="0"/>
          </a:p>
          <a:p>
            <a:pPr lvl="1">
              <a:defRPr/>
            </a:pPr>
            <a:r>
              <a:rPr lang="zh-CN" altLang="en-US" kern="0" dirty="0"/>
              <a:t>卫星发射的设计与控制：解的精确度</a:t>
            </a:r>
            <a:endParaRPr lang="en-US" altLang="zh-CN" kern="0" dirty="0"/>
          </a:p>
          <a:p>
            <a:pPr marL="457200" lvl="1" indent="0">
              <a:buNone/>
              <a:defRPr/>
            </a:pPr>
            <a:endParaRPr lang="en-US" altLang="zh-CN" kern="0" dirty="0"/>
          </a:p>
          <a:p>
            <a:pPr>
              <a:defRPr/>
            </a:pPr>
            <a:r>
              <a:rPr lang="zh-CN" altLang="en-US" sz="2800" kern="0" dirty="0"/>
              <a:t>解析解与数值解：计算机的“有限”与数学的“无限”</a:t>
            </a:r>
            <a:endParaRPr lang="en-US" altLang="zh-CN" sz="2800" kern="0" dirty="0"/>
          </a:p>
          <a:p>
            <a:pPr marL="457200" lvl="1" indent="0">
              <a:buFontTx/>
              <a:buNone/>
              <a:defRPr/>
            </a:pPr>
            <a:endParaRPr lang="en-US" altLang="zh-CN" kern="0" dirty="0"/>
          </a:p>
          <a:p>
            <a:pPr>
              <a:defRPr/>
            </a:pPr>
            <a:r>
              <a:rPr lang="zh-CN" altLang="en-US" sz="2800" kern="0" dirty="0"/>
              <a:t>核心：</a:t>
            </a:r>
            <a:endParaRPr lang="en-US" altLang="zh-CN" sz="2800" kern="0" dirty="0"/>
          </a:p>
          <a:p>
            <a:pPr marL="457200" lvl="1" indent="0">
              <a:buFontTx/>
              <a:buNone/>
              <a:defRPr/>
            </a:pPr>
            <a:endParaRPr lang="en-US" altLang="zh-CN" kern="0" dirty="0"/>
          </a:p>
          <a:p>
            <a:pPr lvl="1">
              <a:defRPr/>
            </a:pPr>
            <a:endParaRPr lang="en-US" altLang="zh-CN" kern="0" dirty="0"/>
          </a:p>
        </p:txBody>
      </p:sp>
      <p:sp>
        <p:nvSpPr>
          <p:cNvPr id="7171" name="文本框 2"/>
          <p:cNvSpPr txBox="1">
            <a:spLocks noChangeArrowheads="1"/>
          </p:cNvSpPr>
          <p:nvPr/>
        </p:nvSpPr>
        <p:spPr bwMode="auto">
          <a:xfrm>
            <a:off x="3382623" y="5407219"/>
            <a:ext cx="3505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数学模型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  --------  </a:t>
            </a:r>
            <a:r>
              <a:rPr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&gt;</a:t>
            </a:r>
            <a:r>
              <a:rPr lang="zh-CN" alt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计算</a:t>
            </a:r>
            <a:endParaRPr lang="zh-CN" altLang="en-US" sz="240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3380902" y="5903912"/>
            <a:ext cx="3570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控制误差在需要的范围内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171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>
            <a:spLocks/>
          </p:cNvSpPr>
          <p:nvPr/>
        </p:nvSpPr>
        <p:spPr>
          <a:xfrm>
            <a:off x="1775520" y="260648"/>
            <a:ext cx="8426450" cy="57610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800"/>
              </a:spcBef>
              <a:defRPr/>
            </a:pPr>
            <a:r>
              <a:rPr lang="zh-CN" altLang="en-US" sz="2800" kern="0" dirty="0"/>
              <a:t>最优化问题实例</a:t>
            </a:r>
            <a:r>
              <a:rPr lang="zh-CN" altLang="en-US" sz="2400" kern="0" dirty="0"/>
              <a:t>：</a:t>
            </a:r>
            <a:endParaRPr lang="en-US" altLang="zh-CN" sz="2400" kern="0" dirty="0"/>
          </a:p>
          <a:p>
            <a:pPr lvl="1">
              <a:spcBef>
                <a:spcPts val="1800"/>
              </a:spcBef>
              <a:defRPr/>
            </a:pPr>
            <a:r>
              <a:rPr lang="zh-CN" altLang="en-US" sz="2400" kern="0" dirty="0"/>
              <a:t>生产计划中，在各种资源有限的前提下，如何安排生成，使生产成本达到最低？</a:t>
            </a:r>
            <a:endParaRPr lang="en-US" altLang="zh-CN" sz="2400" kern="0" dirty="0"/>
          </a:p>
          <a:p>
            <a:pPr lvl="1">
              <a:spcBef>
                <a:spcPts val="1800"/>
              </a:spcBef>
              <a:defRPr/>
            </a:pPr>
            <a:r>
              <a:rPr lang="zh-CN" altLang="en-US" sz="2400" kern="0" dirty="0"/>
              <a:t>金融投资中，如何选择和设计证券组合或投资项目组合，以便在可以接受的风险限度内尽可能大的获利。</a:t>
            </a:r>
            <a:endParaRPr lang="en-US" altLang="zh-CN" sz="2400" kern="0" dirty="0"/>
          </a:p>
          <a:p>
            <a:pPr lvl="1">
              <a:spcBef>
                <a:spcPts val="1800"/>
              </a:spcBef>
              <a:defRPr/>
            </a:pPr>
            <a:r>
              <a:rPr lang="zh-CN" altLang="en-US" sz="2400" kern="0" dirty="0"/>
              <a:t>机械设计中，如何满足工作条件，载荷和工艺要求，并在强度、刚度、寿命、尺寸范围及其他一些技术要求的限制条件下，寻找一组参数，以获得设计指标达到最优的设计方案。</a:t>
            </a:r>
            <a:endParaRPr lang="en-US" altLang="zh-CN" sz="2400" kern="0" dirty="0"/>
          </a:p>
          <a:p>
            <a:pPr lvl="1">
              <a:spcBef>
                <a:spcPts val="1800"/>
              </a:spcBef>
              <a:defRPr/>
            </a:pPr>
            <a:r>
              <a:rPr lang="zh-CN" altLang="en-US" sz="2400" kern="0" dirty="0"/>
              <a:t>在物流配送中，如何根据配送点和业务需求量，进行最优路线的计算。</a:t>
            </a:r>
            <a:endParaRPr lang="en-US" altLang="zh-CN" sz="2400" kern="0" dirty="0"/>
          </a:p>
          <a:p>
            <a:pPr lvl="1">
              <a:spcBef>
                <a:spcPts val="1800"/>
              </a:spcBef>
              <a:defRPr/>
            </a:pPr>
            <a:r>
              <a:rPr lang="zh-CN" altLang="en-US" sz="2400" kern="0" dirty="0"/>
              <a:t>深度学习中的基于梯度的优化</a:t>
            </a:r>
            <a:endParaRPr lang="en-US" altLang="zh-CN" sz="2400" kern="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9E7A3E-7893-4870-8979-6FDC152A6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6237710"/>
            <a:ext cx="38138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数学模型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&lt;  --------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&gt;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最优解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279650" y="-147638"/>
            <a:ext cx="7772400" cy="1143001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数值计算与最优化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2655888" y="847725"/>
            <a:ext cx="4948237" cy="6010275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误差分析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线性方程组的解法（直接，迭代）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非线性方程求根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函数逼近：最佳逼近，平方逼近，多项式插值与样条插值，</a:t>
            </a:r>
            <a:r>
              <a:rPr lang="en-US" altLang="zh-CN" sz="2400" dirty="0">
                <a:solidFill>
                  <a:srgbClr val="7030A0"/>
                </a:solidFill>
              </a:rPr>
              <a:t>B</a:t>
            </a:r>
            <a:r>
              <a:rPr lang="zh-CN" altLang="en-US" sz="2400" dirty="0">
                <a:solidFill>
                  <a:srgbClr val="7030A0"/>
                </a:solidFill>
              </a:rPr>
              <a:t>样条曲线与最小拟合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/>
              <a:t>数值微分与数值</a:t>
            </a:r>
            <a:r>
              <a:rPr lang="zh-CN" altLang="en-US" sz="2400" dirty="0">
                <a:solidFill>
                  <a:srgbClr val="7030A0"/>
                </a:solidFill>
              </a:rPr>
              <a:t>积分（辛普生公式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eaLnBrk="1" hangingPunct="1">
              <a:spcBef>
                <a:spcPts val="1200"/>
              </a:spcBef>
            </a:pPr>
            <a:endParaRPr lang="en-US" altLang="zh-CN" sz="2400" dirty="0"/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线性规划：单纯形法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粒子群算法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遗传算法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7030A0"/>
                </a:solidFill>
              </a:rPr>
              <a:t>模拟退火算法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81200" y="0"/>
            <a:ext cx="8229600" cy="91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8042276" y="914401"/>
            <a:ext cx="2987290" cy="2802631"/>
            <a:chOff x="6876256" y="1259632"/>
            <a:chExt cx="2986170" cy="3321496"/>
          </a:xfrm>
        </p:grpSpPr>
        <p:sp>
          <p:nvSpPr>
            <p:cNvPr id="9225" name="右大括号 4"/>
            <p:cNvSpPr>
              <a:spLocks/>
            </p:cNvSpPr>
            <p:nvPr/>
          </p:nvSpPr>
          <p:spPr bwMode="auto">
            <a:xfrm>
              <a:off x="6876256" y="1259632"/>
              <a:ext cx="1570929" cy="3321496"/>
            </a:xfrm>
            <a:prstGeom prst="rightBrace">
              <a:avLst>
                <a:gd name="adj1" fmla="val 8330"/>
                <a:gd name="adj2" fmla="val 50000"/>
              </a:avLst>
            </a:prstGeom>
            <a:noFill/>
            <a:ln w="15875" algn="ctr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26" name="文本框 6"/>
            <p:cNvSpPr txBox="1">
              <a:spLocks noChangeArrowheads="1"/>
            </p:cNvSpPr>
            <p:nvPr/>
          </p:nvSpPr>
          <p:spPr bwMode="auto">
            <a:xfrm>
              <a:off x="8447185" y="2751084"/>
              <a:ext cx="1415241" cy="408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数值计算</a:t>
              </a: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8042276" y="4725144"/>
            <a:ext cx="2846388" cy="1778843"/>
            <a:chOff x="6898285" y="4941167"/>
            <a:chExt cx="2847480" cy="1895281"/>
          </a:xfrm>
        </p:grpSpPr>
        <p:sp>
          <p:nvSpPr>
            <p:cNvPr id="9223" name="右大括号 5"/>
            <p:cNvSpPr>
              <a:spLocks/>
            </p:cNvSpPr>
            <p:nvPr/>
          </p:nvSpPr>
          <p:spPr bwMode="auto">
            <a:xfrm>
              <a:off x="6898285" y="4941167"/>
              <a:ext cx="1570929" cy="1895281"/>
            </a:xfrm>
            <a:prstGeom prst="rightBrace">
              <a:avLst>
                <a:gd name="adj1" fmla="val 8334"/>
                <a:gd name="adj2" fmla="val 50000"/>
              </a:avLst>
            </a:prstGeom>
            <a:noFill/>
            <a:ln w="15875" algn="ctr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24" name="文本框 7"/>
            <p:cNvSpPr txBox="1">
              <a:spLocks noChangeArrowheads="1"/>
            </p:cNvSpPr>
            <p:nvPr/>
          </p:nvSpPr>
          <p:spPr bwMode="auto">
            <a:xfrm>
              <a:off x="8022216" y="5918810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最优化技术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08093C7-1036-4219-BEC0-FCC686398353}"/>
              </a:ext>
            </a:extLst>
          </p:cNvPr>
          <p:cNvSpPr txBox="1"/>
          <p:nvPr/>
        </p:nvSpPr>
        <p:spPr>
          <a:xfrm>
            <a:off x="7464152" y="1362015"/>
            <a:ext cx="2250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，图形学的基础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4825" y="476250"/>
            <a:ext cx="8713788" cy="61214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r>
              <a:rPr lang="zh-CN" altLang="en-US" dirty="0"/>
              <a:t>参考书籍：</a:t>
            </a:r>
            <a:endParaRPr lang="en-US" altLang="zh-CN" dirty="0"/>
          </a:p>
          <a:p>
            <a:pPr lvl="1"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r>
              <a:rPr lang="zh-CN" altLang="en-US" dirty="0"/>
              <a:t>喻文健，</a:t>
            </a:r>
            <a:r>
              <a:rPr lang="en-US" altLang="zh-CN" dirty="0"/>
              <a:t>《</a:t>
            </a:r>
            <a:r>
              <a:rPr lang="zh-CN" altLang="en-US" dirty="0"/>
              <a:t>数值分析与算法</a:t>
            </a:r>
            <a:r>
              <a:rPr lang="en-US" altLang="zh-CN" dirty="0"/>
              <a:t>》,</a:t>
            </a:r>
            <a:r>
              <a:rPr lang="zh-CN" altLang="en-US" dirty="0"/>
              <a:t>清华大学出版社，</a:t>
            </a:r>
            <a:r>
              <a:rPr lang="en-US" altLang="zh-CN" dirty="0"/>
              <a:t>2020</a:t>
            </a:r>
          </a:p>
          <a:p>
            <a:pPr lvl="1"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r>
              <a:rPr lang="en-US" altLang="zh-CN" dirty="0"/>
              <a:t>Ashok </a:t>
            </a:r>
            <a:r>
              <a:rPr lang="en-US" altLang="zh-CN" dirty="0" err="1"/>
              <a:t>D.Belegundu,Tirupathi</a:t>
            </a:r>
            <a:r>
              <a:rPr lang="en-US" altLang="zh-CN" dirty="0"/>
              <a:t> </a:t>
            </a:r>
            <a:r>
              <a:rPr lang="en-US" altLang="zh-CN" dirty="0" err="1"/>
              <a:t>R.Chandrupatia</a:t>
            </a:r>
            <a:r>
              <a:rPr lang="zh-CN" altLang="zh-CN" dirty="0"/>
              <a:t>（美）著，《最优化技术导论与工程应用 》，电子工业出版社，</a:t>
            </a:r>
            <a:r>
              <a:rPr lang="en-US" altLang="zh-CN" dirty="0"/>
              <a:t>2018</a:t>
            </a:r>
            <a:r>
              <a:rPr lang="zh-CN" altLang="zh-CN" dirty="0"/>
              <a:t>年</a:t>
            </a:r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r>
              <a:rPr lang="zh-CN" altLang="en-US" dirty="0"/>
              <a:t>使用软件：</a:t>
            </a:r>
            <a:endParaRPr lang="en-US" altLang="zh-CN" dirty="0"/>
          </a:p>
          <a:p>
            <a:pPr lvl="1"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r>
              <a:rPr lang="en-US" altLang="zh-CN" dirty="0"/>
              <a:t>Python</a:t>
            </a:r>
            <a:r>
              <a:rPr lang="zh-CN" altLang="en-US" dirty="0"/>
              <a:t>或</a:t>
            </a:r>
            <a:r>
              <a:rPr lang="en-US" altLang="zh-CN" dirty="0" err="1"/>
              <a:t>c++</a:t>
            </a:r>
            <a:endParaRPr lang="en-US" altLang="zh-CN" dirty="0"/>
          </a:p>
          <a:p>
            <a:pPr marL="342900" lvl="1" indent="-342900" eaLnBrk="1" fontAlgn="auto" hangingPunct="1">
              <a:lnSpc>
                <a:spcPct val="160000"/>
              </a:lnSpc>
              <a:spcAft>
                <a:spcPts val="0"/>
              </a:spcAft>
              <a:buFontTx/>
              <a:buChar char="•"/>
              <a:defRPr/>
            </a:pPr>
            <a:r>
              <a:rPr lang="zh-CN" altLang="en-US" dirty="0"/>
              <a:t>学习要求：掌握主要误差分析，数值计算的基本原理和经典的优化算法，能够编程实现并解决实际工程问题，锻炼解决实际问题的能力和自学能力。</a:t>
            </a:r>
            <a:endParaRPr lang="en-US" altLang="zh-CN" dirty="0"/>
          </a:p>
          <a:p>
            <a:pPr marL="342900" lvl="1" indent="-342900" eaLnBrk="1" fontAlgn="auto" hangingPunct="1">
              <a:lnSpc>
                <a:spcPct val="160000"/>
              </a:lnSpc>
              <a:spcAft>
                <a:spcPts val="0"/>
              </a:spcAft>
              <a:buFontTx/>
              <a:buChar char="•"/>
              <a:defRPr/>
            </a:pPr>
            <a:r>
              <a:rPr lang="zh-CN" altLang="en-US" dirty="0"/>
              <a:t>期末成绩的核算：</a:t>
            </a:r>
            <a:endParaRPr lang="en-US" altLang="zh-CN" dirty="0"/>
          </a:p>
          <a:p>
            <a:pPr marL="457200" lvl="1" indent="0" eaLnBrk="1" fontAlgn="auto" hangingPunct="1">
              <a:lnSpc>
                <a:spcPct val="16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dirty="0">
                <a:solidFill>
                  <a:srgbClr val="002060"/>
                </a:solidFill>
              </a:rPr>
              <a:t>平时作业</a:t>
            </a:r>
            <a:r>
              <a:rPr lang="en-US" altLang="zh-CN" dirty="0">
                <a:solidFill>
                  <a:srgbClr val="002060"/>
                </a:solidFill>
              </a:rPr>
              <a:t>+</a:t>
            </a:r>
            <a:r>
              <a:rPr lang="zh-CN" altLang="en-US" dirty="0">
                <a:solidFill>
                  <a:srgbClr val="002060"/>
                </a:solidFill>
              </a:rPr>
              <a:t>实验报告</a:t>
            </a:r>
            <a:r>
              <a:rPr lang="en-US" altLang="zh-CN" dirty="0">
                <a:solidFill>
                  <a:srgbClr val="002060"/>
                </a:solidFill>
              </a:rPr>
              <a:t>(40%)+</a:t>
            </a:r>
            <a:r>
              <a:rPr lang="zh-CN" altLang="en-US" dirty="0">
                <a:solidFill>
                  <a:srgbClr val="002060"/>
                </a:solidFill>
              </a:rPr>
              <a:t>阅读报告（</a:t>
            </a:r>
            <a:r>
              <a:rPr lang="en-US" altLang="zh-CN" dirty="0">
                <a:solidFill>
                  <a:srgbClr val="002060"/>
                </a:solidFill>
              </a:rPr>
              <a:t>10%</a:t>
            </a:r>
            <a:r>
              <a:rPr lang="zh-CN" altLang="en-US" dirty="0">
                <a:solidFill>
                  <a:srgbClr val="002060"/>
                </a:solidFill>
              </a:rPr>
              <a:t>）</a:t>
            </a:r>
            <a:r>
              <a:rPr lang="en-US" altLang="zh-CN" dirty="0">
                <a:solidFill>
                  <a:srgbClr val="002060"/>
                </a:solidFill>
              </a:rPr>
              <a:t>+</a:t>
            </a:r>
            <a:r>
              <a:rPr lang="zh-CN" altLang="en-US" dirty="0">
                <a:solidFill>
                  <a:srgbClr val="7030A0"/>
                </a:solidFill>
              </a:rPr>
              <a:t>期末考试</a:t>
            </a:r>
            <a:r>
              <a:rPr lang="en-US" altLang="zh-CN" dirty="0">
                <a:solidFill>
                  <a:srgbClr val="7030A0"/>
                </a:solidFill>
              </a:rPr>
              <a:t>(</a:t>
            </a:r>
            <a:r>
              <a:rPr lang="zh-CN" altLang="en-US" dirty="0">
                <a:solidFill>
                  <a:srgbClr val="7030A0"/>
                </a:solidFill>
              </a:rPr>
              <a:t>开卷</a:t>
            </a:r>
            <a:r>
              <a:rPr lang="en-US" altLang="zh-CN" dirty="0">
                <a:solidFill>
                  <a:srgbClr val="7030A0"/>
                </a:solidFill>
              </a:rPr>
              <a:t>50%)</a:t>
            </a:r>
          </a:p>
          <a:p>
            <a:pPr marL="342900" lvl="1" indent="-342900" eaLnBrk="1" fontAlgn="auto" hangingPunct="1">
              <a:lnSpc>
                <a:spcPct val="160000"/>
              </a:lnSpc>
              <a:spcAft>
                <a:spcPts val="0"/>
              </a:spcAft>
              <a:buFontTx/>
              <a:buChar char="•"/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  <a:p>
            <a:pPr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81200" y="0"/>
            <a:ext cx="8229600" cy="91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dirty="0">
                <a:solidFill>
                  <a:schemeClr val="bg1"/>
                </a:solidFill>
              </a:rPr>
              <a:t>Reference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4"/>
          <p:cNvSpPr>
            <a:spLocks noGrp="1"/>
          </p:cNvSpPr>
          <p:nvPr>
            <p:ph type="body" idx="1"/>
          </p:nvPr>
        </p:nvSpPr>
        <p:spPr>
          <a:xfrm>
            <a:off x="2063750" y="1125538"/>
            <a:ext cx="7772400" cy="14986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600" dirty="0"/>
              <a:t>第一部分  数值计算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063750" y="836613"/>
            <a:ext cx="5411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§1.1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数值计算研究的对象和内容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2640013" y="1700213"/>
            <a:ext cx="662463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用计算机进行科学计算解决实际问题的过程：</a:t>
            </a:r>
          </a:p>
        </p:txBody>
      </p:sp>
      <p:sp>
        <p:nvSpPr>
          <p:cNvPr id="13316" name="Rectangle 14"/>
          <p:cNvSpPr>
            <a:spLocks noChangeArrowheads="1"/>
          </p:cNvSpPr>
          <p:nvPr/>
        </p:nvSpPr>
        <p:spPr bwMode="auto">
          <a:xfrm>
            <a:off x="2351088" y="4292600"/>
            <a:ext cx="74168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数值计算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研究的对象和任务：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针对数学模型设计数值计算方法，并对方法进行理论分析，编程上机计算出结果，并对结果进行分析。</a:t>
            </a:r>
          </a:p>
        </p:txBody>
      </p:sp>
      <p:grpSp>
        <p:nvGrpSpPr>
          <p:cNvPr id="13317" name="组合 19"/>
          <p:cNvGrpSpPr>
            <a:grpSpLocks/>
          </p:cNvGrpSpPr>
          <p:nvPr/>
        </p:nvGrpSpPr>
        <p:grpSpPr bwMode="auto">
          <a:xfrm>
            <a:off x="1905000" y="2801938"/>
            <a:ext cx="8229600" cy="914400"/>
            <a:chOff x="381000" y="2698874"/>
            <a:chExt cx="8229600" cy="914400"/>
          </a:xfrm>
        </p:grpSpPr>
        <p:sp>
          <p:nvSpPr>
            <p:cNvPr id="13318" name="Rectangle 13"/>
            <p:cNvSpPr>
              <a:spLocks noChangeArrowheads="1"/>
            </p:cNvSpPr>
            <p:nvPr/>
          </p:nvSpPr>
          <p:spPr bwMode="auto">
            <a:xfrm>
              <a:off x="381000" y="2775074"/>
              <a:ext cx="9144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19" name="Text Box 14"/>
            <p:cNvSpPr txBox="1">
              <a:spLocks noChangeArrowheads="1"/>
            </p:cNvSpPr>
            <p:nvPr/>
          </p:nvSpPr>
          <p:spPr bwMode="auto">
            <a:xfrm>
              <a:off x="381000" y="2698874"/>
              <a:ext cx="990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60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  <a:ea typeface="宋体" panose="02010600030101010101" pitchFamily="2" charset="-122"/>
                </a:rPr>
                <a:t>实际问题</a:t>
              </a:r>
            </a:p>
          </p:txBody>
        </p:sp>
        <p:sp>
          <p:nvSpPr>
            <p:cNvPr id="13320" name="Text Box 15"/>
            <p:cNvSpPr txBox="1">
              <a:spLocks noChangeArrowheads="1"/>
            </p:cNvSpPr>
            <p:nvPr/>
          </p:nvSpPr>
          <p:spPr bwMode="auto">
            <a:xfrm>
              <a:off x="1752600" y="2698874"/>
              <a:ext cx="990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数学模型</a:t>
              </a:r>
            </a:p>
          </p:txBody>
        </p:sp>
        <p:sp>
          <p:nvSpPr>
            <p:cNvPr id="13321" name="Rectangle 16"/>
            <p:cNvSpPr>
              <a:spLocks noChangeArrowheads="1"/>
            </p:cNvSpPr>
            <p:nvPr/>
          </p:nvSpPr>
          <p:spPr bwMode="auto">
            <a:xfrm>
              <a:off x="1828800" y="2775074"/>
              <a:ext cx="9144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2" name="Rectangle 17"/>
            <p:cNvSpPr>
              <a:spLocks noChangeArrowheads="1"/>
            </p:cNvSpPr>
            <p:nvPr/>
          </p:nvSpPr>
          <p:spPr bwMode="auto">
            <a:xfrm>
              <a:off x="5105400" y="2775074"/>
              <a:ext cx="9144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3" name="Rectangle 18"/>
            <p:cNvSpPr>
              <a:spLocks noChangeArrowheads="1"/>
            </p:cNvSpPr>
            <p:nvPr/>
          </p:nvSpPr>
          <p:spPr bwMode="auto">
            <a:xfrm>
              <a:off x="3200400" y="2775074"/>
              <a:ext cx="13716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4" name="Rectangle 19"/>
            <p:cNvSpPr>
              <a:spLocks noChangeArrowheads="1"/>
            </p:cNvSpPr>
            <p:nvPr/>
          </p:nvSpPr>
          <p:spPr bwMode="auto">
            <a:xfrm>
              <a:off x="6477000" y="2775074"/>
              <a:ext cx="2133600" cy="838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5" name="Text Box 20"/>
            <p:cNvSpPr txBox="1">
              <a:spLocks noChangeArrowheads="1"/>
            </p:cNvSpPr>
            <p:nvPr/>
          </p:nvSpPr>
          <p:spPr bwMode="auto">
            <a:xfrm>
              <a:off x="3200400" y="2698874"/>
              <a:ext cx="1371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数值计算方法</a:t>
              </a:r>
            </a:p>
          </p:txBody>
        </p:sp>
        <p:sp>
          <p:nvSpPr>
            <p:cNvPr id="13326" name="Text Box 21"/>
            <p:cNvSpPr txBox="1">
              <a:spLocks noChangeArrowheads="1"/>
            </p:cNvSpPr>
            <p:nvPr/>
          </p:nvSpPr>
          <p:spPr bwMode="auto">
            <a:xfrm>
              <a:off x="5029200" y="2698874"/>
              <a:ext cx="990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程序设计</a:t>
              </a:r>
            </a:p>
          </p:txBody>
        </p:sp>
        <p:sp>
          <p:nvSpPr>
            <p:cNvPr id="13327" name="Text Box 22"/>
            <p:cNvSpPr txBox="1">
              <a:spLocks noChangeArrowheads="1"/>
            </p:cNvSpPr>
            <p:nvPr/>
          </p:nvSpPr>
          <p:spPr bwMode="auto">
            <a:xfrm>
              <a:off x="6477000" y="2698874"/>
              <a:ext cx="2133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计算机计算</a:t>
              </a:r>
              <a:endParaRPr lang="en-US" altLang="zh-CN" sz="24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求出结果</a:t>
              </a:r>
            </a:p>
          </p:txBody>
        </p:sp>
        <p:sp>
          <p:nvSpPr>
            <p:cNvPr id="13328" name="Line 23"/>
            <p:cNvSpPr>
              <a:spLocks noChangeShapeType="1"/>
            </p:cNvSpPr>
            <p:nvPr/>
          </p:nvSpPr>
          <p:spPr bwMode="auto">
            <a:xfrm>
              <a:off x="1295400" y="3232274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Line 24"/>
            <p:cNvSpPr>
              <a:spLocks noChangeShapeType="1"/>
            </p:cNvSpPr>
            <p:nvPr/>
          </p:nvSpPr>
          <p:spPr bwMode="auto">
            <a:xfrm>
              <a:off x="2743200" y="3232274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25"/>
            <p:cNvSpPr>
              <a:spLocks noChangeShapeType="1"/>
            </p:cNvSpPr>
            <p:nvPr/>
          </p:nvSpPr>
          <p:spPr bwMode="auto">
            <a:xfrm>
              <a:off x="6019800" y="3232274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26"/>
            <p:cNvSpPr>
              <a:spLocks noChangeShapeType="1"/>
            </p:cNvSpPr>
            <p:nvPr/>
          </p:nvSpPr>
          <p:spPr bwMode="auto">
            <a:xfrm>
              <a:off x="4648200" y="3232274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703388" y="765175"/>
            <a:ext cx="586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6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如何评价一个算法的性能？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95550" y="1668463"/>
            <a:ext cx="6408738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简单易实现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结构简单，易于计算机实现。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收敛与稳定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   理论上具有收敛性和数值稳定性。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计算效率高</a:t>
            </a:r>
            <a:endParaRPr lang="en-US" altLang="zh-CN" sz="2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计算速度快，节省存储量。</a:t>
            </a:r>
            <a:endParaRPr lang="en-US" altLang="zh-CN" sz="2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行之有效</a:t>
            </a:r>
            <a:endParaRPr lang="en-US" altLang="zh-CN" sz="2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数值实验检验行之有效。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6"/>
          <p:cNvSpPr>
            <a:spLocks noChangeArrowheads="1"/>
          </p:cNvSpPr>
          <p:nvPr/>
        </p:nvSpPr>
        <p:spPr bwMode="auto">
          <a:xfrm>
            <a:off x="2279650" y="476250"/>
            <a:ext cx="75311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§1.2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误差的来源和分类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误差是描述数值计算中近似值的精确程度，在数值计算中十分重要。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误差根据来源分类：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观测误差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截断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误差、舍入误差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07036" y="3492500"/>
            <a:ext cx="7921625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观测误差（测量误差）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数学模型中包含的一些物理参数通常是通过观测和实验得到的，难免带有误差，这种误差称为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观测误差。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914338" y="5301208"/>
            <a:ext cx="7920037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模型误差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数学模型通常是由实际问题抽象得到的，一般带有误差，这种误差称为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6"/>
          <p:cNvSpPr txBox="1">
            <a:spLocks noChangeArrowheads="1"/>
          </p:cNvSpPr>
          <p:nvPr/>
        </p:nvSpPr>
        <p:spPr bwMode="auto">
          <a:xfrm>
            <a:off x="2063750" y="404813"/>
            <a:ext cx="8208963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截断误差（方法误差）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求解数学模型所用的数值方法通常是一种近似方法，这种因方法产生的误差称为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截断误差。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4" y="2044299"/>
            <a:ext cx="4124316" cy="36004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19736" y="5733256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丢针法求圆面积的示意图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8112224" y="2492896"/>
            <a:ext cx="2927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假设有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10000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根针，方形的面积是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4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，即半径为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1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的圆形时蓝色区域。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92" y="4005064"/>
            <a:ext cx="3821588" cy="396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6"/>
          <p:cNvSpPr txBox="1">
            <a:spLocks noChangeArrowheads="1"/>
          </p:cNvSpPr>
          <p:nvPr/>
        </p:nvSpPr>
        <p:spPr bwMode="auto">
          <a:xfrm>
            <a:off x="1200150" y="332656"/>
            <a:ext cx="8208963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截断误差（方法误差）</a:t>
            </a:r>
            <a:endParaRPr lang="zh-CN" altLang="en-US" sz="2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Text Box 7"/>
          <p:cNvSpPr txBox="1">
            <a:spLocks noChangeArrowheads="1"/>
          </p:cNvSpPr>
          <p:nvPr/>
        </p:nvSpPr>
        <p:spPr bwMode="auto">
          <a:xfrm>
            <a:off x="2207568" y="1340768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宋体" pitchFamily="2" charset="-122"/>
              </a:rPr>
              <a:t>例如，利用</a:t>
            </a:r>
            <a:r>
              <a:rPr lang="en-US" altLang="zh-CN" dirty="0" err="1">
                <a:latin typeface="宋体" pitchFamily="2" charset="-122"/>
              </a:rPr>
              <a:t>ln</a:t>
            </a:r>
            <a:r>
              <a:rPr lang="zh-CN" altLang="en-US" dirty="0">
                <a:latin typeface="宋体" pitchFamily="2" charset="-122"/>
              </a:rPr>
              <a:t>（</a:t>
            </a:r>
            <a:r>
              <a:rPr lang="en-US" altLang="zh-CN" i="1" dirty="0">
                <a:latin typeface="+mn-lt"/>
              </a:rPr>
              <a:t>x</a:t>
            </a:r>
            <a:r>
              <a:rPr lang="en-US" altLang="zh-CN" dirty="0">
                <a:latin typeface="宋体" pitchFamily="2" charset="-122"/>
              </a:rPr>
              <a:t>+1</a:t>
            </a:r>
            <a:r>
              <a:rPr lang="zh-CN" altLang="en-US" dirty="0">
                <a:latin typeface="宋体" pitchFamily="2" charset="-122"/>
              </a:rPr>
              <a:t>）的</a:t>
            </a:r>
            <a:r>
              <a:rPr lang="en-US" altLang="zh-CN" dirty="0">
                <a:latin typeface="宋体" pitchFamily="2" charset="-122"/>
              </a:rPr>
              <a:t>Taylor</a:t>
            </a:r>
            <a:r>
              <a:rPr lang="zh-CN" altLang="en-US" dirty="0">
                <a:latin typeface="宋体" pitchFamily="2" charset="-122"/>
              </a:rPr>
              <a:t>公式：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bject 87"/>
              <p:cNvSpPr txBox="1"/>
              <p:nvPr/>
            </p:nvSpPr>
            <p:spPr bwMode="auto">
              <a:xfrm>
                <a:off x="2763193" y="1837656"/>
                <a:ext cx="6702425" cy="81756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+...+(−1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9" name="Object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3193" y="1837656"/>
                <a:ext cx="6702425" cy="817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 Box 9"/>
          <p:cNvSpPr txBox="1">
            <a:spLocks noChangeArrowheads="1"/>
          </p:cNvSpPr>
          <p:nvPr/>
        </p:nvSpPr>
        <p:spPr bwMode="auto">
          <a:xfrm>
            <a:off x="2048818" y="2799681"/>
            <a:ext cx="8208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实际计算时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只能截取有限项代数和计算，如取前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项有：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bject 88"/>
              <p:cNvSpPr txBox="1"/>
              <p:nvPr/>
            </p:nvSpPr>
            <p:spPr bwMode="auto">
              <a:xfrm>
                <a:off x="3704580" y="3298156"/>
                <a:ext cx="3032125" cy="86201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1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4580" y="3298156"/>
                <a:ext cx="3032125" cy="8620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 Box 3"/>
          <p:cNvSpPr txBox="1">
            <a:spLocks noChangeArrowheads="1"/>
          </p:cNvSpPr>
          <p:nvPr/>
        </p:nvSpPr>
        <p:spPr bwMode="auto">
          <a:xfrm>
            <a:off x="2048818" y="4183981"/>
            <a:ext cx="741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这里产生误差（记作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bject 90"/>
              <p:cNvSpPr txBox="1"/>
              <p:nvPr/>
            </p:nvSpPr>
            <p:spPr bwMode="auto">
              <a:xfrm>
                <a:off x="4064943" y="4885656"/>
                <a:ext cx="3756025" cy="838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4" name="Object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4943" y="4885656"/>
                <a:ext cx="3756025" cy="838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185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4"/>
          <p:cNvGrpSpPr>
            <a:grpSpLocks/>
          </p:cNvGrpSpPr>
          <p:nvPr/>
        </p:nvGrpSpPr>
        <p:grpSpPr bwMode="auto">
          <a:xfrm>
            <a:off x="1776413" y="476250"/>
            <a:ext cx="8745537" cy="2752725"/>
            <a:chOff x="250870" y="476245"/>
            <a:chExt cx="8747092" cy="2751962"/>
          </a:xfrm>
        </p:grpSpPr>
        <p:sp>
          <p:nvSpPr>
            <p:cNvPr id="18435" name="Text Box 5"/>
            <p:cNvSpPr txBox="1">
              <a:spLocks noChangeArrowheads="1"/>
            </p:cNvSpPr>
            <p:nvPr/>
          </p:nvSpPr>
          <p:spPr bwMode="auto">
            <a:xfrm>
              <a:off x="250870" y="476245"/>
              <a:ext cx="8208361" cy="275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en-US" altLang="zh-CN" sz="2400" b="1" dirty="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4.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舍入误差（计算误差，存储误差）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8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   由于计算机只能对有限位数进行运算，在运算中像           等都要按舍入原则保留有限位，这时产生的误差称为</a:t>
              </a:r>
              <a:r>
                <a:rPr lang="zh-CN" altLang="en-US" sz="2400" b="1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舍入误差</a:t>
              </a:r>
              <a:r>
                <a:rPr lang="zh-CN" altLang="en-US" sz="2400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  <a:r>
                <a:rPr lang="zh-CN" altLang="en-US" sz="2400" b="1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计算误差</a:t>
              </a:r>
              <a:r>
                <a:rPr lang="zh-CN" altLang="en-US" sz="2400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  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36" name="Object 4"/>
                <p:cNvSpPr txBox="1"/>
                <p:nvPr/>
              </p:nvSpPr>
              <p:spPr bwMode="auto">
                <a:xfrm>
                  <a:off x="7451737" y="1196440"/>
                  <a:ext cx="1546225" cy="7604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、</m:t>
                        </m:r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</m:m>
                        <m:rad>
                          <m:radPr>
                            <m:deg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</m: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、</m:t>
                        </m:r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</m:m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8436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51737" y="1196440"/>
                  <a:ext cx="1546225" cy="7604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1809149" y="507504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观测误差和舍入误差来源不同，但对最后结果的影响相似，会随公式计算累积变化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zh-CN" altLang="en-US" sz="2400" dirty="0"/>
              <a:t>模型误差和方法误差都会对最后结果产生影响。但模型误差分析较难，方法误主要是使用计算方法时带来的误差。</a:t>
            </a: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87688" y="1196752"/>
            <a:ext cx="2627322" cy="369332"/>
          </a:xfrm>
          <a:prstGeom prst="rect">
            <a:avLst/>
          </a:prstGeom>
          <a:blipFill>
            <a:blip r:embed="rId2"/>
            <a:stretch>
              <a:fillRect l="-3480" t="-8197" r="-464" b="-2623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809149" y="4293096"/>
            <a:ext cx="7704137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在数值分析中，我们总假定数学模型是准确的，因而不考虑模型误差和观测误差，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主要研究截断误差和舍入误差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对计算结果的影响。</a:t>
            </a:r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19737" y="1796321"/>
            <a:ext cx="2996333" cy="461665"/>
          </a:xfrm>
          <a:prstGeom prst="rect">
            <a:avLst/>
          </a:prstGeom>
          <a:blipFill>
            <a:blip r:embed="rId3"/>
            <a:stretch>
              <a:fillRect l="-3049" t="-14667" b="-320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724650" y="1223963"/>
            <a:ext cx="1722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不稳定公式</a:t>
            </a:r>
            <a:endParaRPr lang="zh-CN" altLang="en-US" sz="2400" baseline="-25000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uiExpand="1" build="p"/>
      <p:bldP spid="5" grpId="0" autoUpdateAnimBg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</a:t>
            </a:r>
            <a:r>
              <a:rPr lang="en-US" altLang="zh-CN" sz="2400" dirty="0"/>
              <a:t>1</a:t>
            </a:r>
            <a:r>
              <a:rPr lang="zh-CN" altLang="en-US" sz="2400" dirty="0"/>
              <a:t>：不使用圆的公式，计算机编程求圆（</a:t>
            </a:r>
            <a:r>
              <a:rPr lang="en-US" altLang="zh-CN" sz="2400" dirty="0"/>
              <a:t>r=1</a:t>
            </a:r>
            <a:r>
              <a:rPr lang="zh-CN" altLang="en-US" sz="2400" dirty="0"/>
              <a:t>）的周长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1487488" y="176530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方法：内接</a:t>
            </a:r>
            <a:r>
              <a:rPr lang="en-US" altLang="zh-CN" sz="2400" dirty="0"/>
              <a:t>n</a:t>
            </a:r>
            <a:r>
              <a:rPr lang="zh-CN" altLang="en-US" sz="2400" dirty="0"/>
              <a:t>等边多边形周长近似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观测误差：无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模型误差：无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方法误差：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舍入误差：</a:t>
            </a:r>
          </a:p>
        </p:txBody>
      </p:sp>
      <p:sp>
        <p:nvSpPr>
          <p:cNvPr id="21508" name="椭圆 1"/>
          <p:cNvSpPr>
            <a:spLocks noChangeArrowheads="1"/>
          </p:cNvSpPr>
          <p:nvPr/>
        </p:nvSpPr>
        <p:spPr bwMode="auto">
          <a:xfrm>
            <a:off x="7248525" y="2346325"/>
            <a:ext cx="2879725" cy="29527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六边形 2"/>
          <p:cNvSpPr>
            <a:spLocks noChangeArrowheads="1"/>
          </p:cNvSpPr>
          <p:nvPr/>
        </p:nvSpPr>
        <p:spPr bwMode="auto">
          <a:xfrm>
            <a:off x="7248525" y="2636838"/>
            <a:ext cx="2879725" cy="2376487"/>
          </a:xfrm>
          <a:prstGeom prst="hexagon">
            <a:avLst>
              <a:gd name="adj" fmla="val 24992"/>
              <a:gd name="vf" fmla="val 11547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5680" y="3140968"/>
            <a:ext cx="388843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/>
              <a:t>迭代停止后，所得值与</a:t>
            </a:r>
            <a:r>
              <a:rPr lang="en-US" altLang="zh-CN" sz="2000" dirty="0"/>
              <a:t>2PI</a:t>
            </a:r>
            <a:r>
              <a:rPr lang="zh-CN" altLang="en-US" sz="2000" dirty="0"/>
              <a:t>的差。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每步存储中间结果时会出现，误差会累积。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  <p:bldP spid="3" grpId="0" animBg="1"/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例</a:t>
            </a:r>
            <a:r>
              <a:rPr lang="en-US" altLang="zh-CN" sz="2400"/>
              <a:t>2</a:t>
            </a:r>
            <a:r>
              <a:rPr lang="zh-CN" altLang="en-US" sz="2400"/>
              <a:t>：测不规则圆的周长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方法：用圆近似，用内接多边形求周长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模型误差：有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观测误差：有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方法误差：有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舍入误差：有</a:t>
            </a:r>
          </a:p>
        </p:txBody>
      </p:sp>
      <p:sp>
        <p:nvSpPr>
          <p:cNvPr id="22532" name="任意多边形 1"/>
          <p:cNvSpPr>
            <a:spLocks/>
          </p:cNvSpPr>
          <p:nvPr/>
        </p:nvSpPr>
        <p:spPr bwMode="auto">
          <a:xfrm>
            <a:off x="7248525" y="2219325"/>
            <a:ext cx="1976438" cy="1819275"/>
          </a:xfrm>
          <a:custGeom>
            <a:avLst/>
            <a:gdLst>
              <a:gd name="T0" fmla="*/ 383608 w 1976284"/>
              <a:gd name="T1" fmla="*/ 255854 h 1818968"/>
              <a:gd name="T2" fmla="*/ 540984 w 1976284"/>
              <a:gd name="T3" fmla="*/ 137767 h 1818968"/>
              <a:gd name="T4" fmla="*/ 639347 w 1976284"/>
              <a:gd name="T5" fmla="*/ 98408 h 1818968"/>
              <a:gd name="T6" fmla="*/ 708198 w 1976284"/>
              <a:gd name="T7" fmla="*/ 59044 h 1818968"/>
              <a:gd name="T8" fmla="*/ 855742 w 1976284"/>
              <a:gd name="T9" fmla="*/ 19680 h 1818968"/>
              <a:gd name="T10" fmla="*/ 983611 w 1976284"/>
              <a:gd name="T11" fmla="*/ 0 h 1818968"/>
              <a:gd name="T12" fmla="*/ 1524595 w 1976284"/>
              <a:gd name="T13" fmla="*/ 29522 h 1818968"/>
              <a:gd name="T14" fmla="*/ 1583609 w 1976284"/>
              <a:gd name="T15" fmla="*/ 68886 h 1818968"/>
              <a:gd name="T16" fmla="*/ 1701646 w 1976284"/>
              <a:gd name="T17" fmla="*/ 157451 h 1818968"/>
              <a:gd name="T18" fmla="*/ 1780334 w 1976284"/>
              <a:gd name="T19" fmla="*/ 226332 h 1818968"/>
              <a:gd name="T20" fmla="*/ 1819678 w 1976284"/>
              <a:gd name="T21" fmla="*/ 285376 h 1818968"/>
              <a:gd name="T22" fmla="*/ 1888529 w 1976284"/>
              <a:gd name="T23" fmla="*/ 373941 h 1818968"/>
              <a:gd name="T24" fmla="*/ 1957381 w 1976284"/>
              <a:gd name="T25" fmla="*/ 531392 h 1818968"/>
              <a:gd name="T26" fmla="*/ 1977054 w 1976284"/>
              <a:gd name="T27" fmla="*/ 649479 h 1818968"/>
              <a:gd name="T28" fmla="*/ 1937710 w 1976284"/>
              <a:gd name="T29" fmla="*/ 1092301 h 1818968"/>
              <a:gd name="T30" fmla="*/ 1888529 w 1976284"/>
              <a:gd name="T31" fmla="*/ 1190708 h 1818968"/>
              <a:gd name="T32" fmla="*/ 1819678 w 1976284"/>
              <a:gd name="T33" fmla="*/ 1289112 h 1818968"/>
              <a:gd name="T34" fmla="*/ 1740990 w 1976284"/>
              <a:gd name="T35" fmla="*/ 1397361 h 1818968"/>
              <a:gd name="T36" fmla="*/ 1672134 w 1976284"/>
              <a:gd name="T37" fmla="*/ 1505606 h 1818968"/>
              <a:gd name="T38" fmla="*/ 1573776 w 1976284"/>
              <a:gd name="T39" fmla="*/ 1623693 h 1818968"/>
              <a:gd name="T40" fmla="*/ 1475414 w 1976284"/>
              <a:gd name="T41" fmla="*/ 1692576 h 1818968"/>
              <a:gd name="T42" fmla="*/ 1396726 w 1976284"/>
              <a:gd name="T43" fmla="*/ 1731937 h 1818968"/>
              <a:gd name="T44" fmla="*/ 1268856 w 1976284"/>
              <a:gd name="T45" fmla="*/ 1781141 h 1818968"/>
              <a:gd name="T46" fmla="*/ 1121313 w 1976284"/>
              <a:gd name="T47" fmla="*/ 1820503 h 1818968"/>
              <a:gd name="T48" fmla="*/ 580328 w 1976284"/>
              <a:gd name="T49" fmla="*/ 1790981 h 1818968"/>
              <a:gd name="T50" fmla="*/ 442622 w 1976284"/>
              <a:gd name="T51" fmla="*/ 1741780 h 1818968"/>
              <a:gd name="T52" fmla="*/ 324590 w 1976284"/>
              <a:gd name="T53" fmla="*/ 1682736 h 1818968"/>
              <a:gd name="T54" fmla="*/ 236064 w 1976284"/>
              <a:gd name="T55" fmla="*/ 1604012 h 1818968"/>
              <a:gd name="T56" fmla="*/ 157376 w 1976284"/>
              <a:gd name="T57" fmla="*/ 1485926 h 1818968"/>
              <a:gd name="T58" fmla="*/ 118032 w 1976284"/>
              <a:gd name="T59" fmla="*/ 1397361 h 1818968"/>
              <a:gd name="T60" fmla="*/ 59019 w 1976284"/>
              <a:gd name="T61" fmla="*/ 1298953 h 1818968"/>
              <a:gd name="T62" fmla="*/ 29507 w 1976284"/>
              <a:gd name="T63" fmla="*/ 1180866 h 1818968"/>
              <a:gd name="T64" fmla="*/ 9837 w 1976284"/>
              <a:gd name="T65" fmla="*/ 1082463 h 1818968"/>
              <a:gd name="T66" fmla="*/ 9837 w 1976284"/>
              <a:gd name="T67" fmla="*/ 551072 h 1818968"/>
              <a:gd name="T68" fmla="*/ 68851 w 1976284"/>
              <a:gd name="T69" fmla="*/ 432984 h 1818968"/>
              <a:gd name="T70" fmla="*/ 177051 w 1976284"/>
              <a:gd name="T71" fmla="*/ 295218 h 1818968"/>
              <a:gd name="T72" fmla="*/ 265576 w 1976284"/>
              <a:gd name="T73" fmla="*/ 246015 h 1818968"/>
              <a:gd name="T74" fmla="*/ 442622 w 1976284"/>
              <a:gd name="T75" fmla="*/ 186973 h 1818968"/>
              <a:gd name="T76" fmla="*/ 501640 w 1976284"/>
              <a:gd name="T77" fmla="*/ 157451 h 1818968"/>
              <a:gd name="T78" fmla="*/ 560659 w 1976284"/>
              <a:gd name="T79" fmla="*/ 137767 h 181896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976284" h="1818968">
                <a:moveTo>
                  <a:pt x="363794" y="304800"/>
                </a:moveTo>
                <a:cubicBezTo>
                  <a:pt x="370349" y="288413"/>
                  <a:pt x="374104" y="270606"/>
                  <a:pt x="383458" y="255639"/>
                </a:cubicBezTo>
                <a:cubicBezTo>
                  <a:pt x="401119" y="227381"/>
                  <a:pt x="449907" y="203345"/>
                  <a:pt x="471949" y="186813"/>
                </a:cubicBezTo>
                <a:cubicBezTo>
                  <a:pt x="488833" y="174150"/>
                  <a:pt x="520645" y="149155"/>
                  <a:pt x="540774" y="137652"/>
                </a:cubicBezTo>
                <a:cubicBezTo>
                  <a:pt x="553500" y="130380"/>
                  <a:pt x="566494" y="123430"/>
                  <a:pt x="580103" y="117987"/>
                </a:cubicBezTo>
                <a:cubicBezTo>
                  <a:pt x="599349" y="110289"/>
                  <a:pt x="639097" y="98323"/>
                  <a:pt x="639097" y="98323"/>
                </a:cubicBezTo>
                <a:cubicBezTo>
                  <a:pt x="652207" y="88491"/>
                  <a:pt x="664198" y="76956"/>
                  <a:pt x="678426" y="68826"/>
                </a:cubicBezTo>
                <a:cubicBezTo>
                  <a:pt x="687425" y="63684"/>
                  <a:pt x="697924" y="61721"/>
                  <a:pt x="707923" y="58994"/>
                </a:cubicBezTo>
                <a:cubicBezTo>
                  <a:pt x="733997" y="51883"/>
                  <a:pt x="760942" y="47875"/>
                  <a:pt x="786581" y="39329"/>
                </a:cubicBezTo>
                <a:cubicBezTo>
                  <a:pt x="857331" y="15747"/>
                  <a:pt x="768951" y="44368"/>
                  <a:pt x="855407" y="19665"/>
                </a:cubicBezTo>
                <a:cubicBezTo>
                  <a:pt x="865372" y="16818"/>
                  <a:pt x="874660" y="11408"/>
                  <a:pt x="884903" y="9832"/>
                </a:cubicBezTo>
                <a:cubicBezTo>
                  <a:pt x="917458" y="4823"/>
                  <a:pt x="950452" y="3277"/>
                  <a:pt x="983226" y="0"/>
                </a:cubicBezTo>
                <a:cubicBezTo>
                  <a:pt x="1153652" y="3277"/>
                  <a:pt x="1324299" y="548"/>
                  <a:pt x="1494503" y="9832"/>
                </a:cubicBezTo>
                <a:cubicBezTo>
                  <a:pt x="1506303" y="10476"/>
                  <a:pt x="1513431" y="24212"/>
                  <a:pt x="1524000" y="29497"/>
                </a:cubicBezTo>
                <a:cubicBezTo>
                  <a:pt x="1533270" y="34132"/>
                  <a:pt x="1543665" y="36052"/>
                  <a:pt x="1553497" y="39329"/>
                </a:cubicBezTo>
                <a:cubicBezTo>
                  <a:pt x="1563329" y="49161"/>
                  <a:pt x="1572018" y="60289"/>
                  <a:pt x="1582994" y="68826"/>
                </a:cubicBezTo>
                <a:cubicBezTo>
                  <a:pt x="1601649" y="83336"/>
                  <a:pt x="1625275" y="91443"/>
                  <a:pt x="1641987" y="108155"/>
                </a:cubicBezTo>
                <a:cubicBezTo>
                  <a:pt x="1679840" y="146008"/>
                  <a:pt x="1659914" y="129939"/>
                  <a:pt x="1700981" y="157316"/>
                </a:cubicBezTo>
                <a:cubicBezTo>
                  <a:pt x="1707536" y="167148"/>
                  <a:pt x="1711752" y="179032"/>
                  <a:pt x="1720645" y="186813"/>
                </a:cubicBezTo>
                <a:cubicBezTo>
                  <a:pt x="1738431" y="202376"/>
                  <a:pt x="1762927" y="209430"/>
                  <a:pt x="1779639" y="226142"/>
                </a:cubicBezTo>
                <a:lnTo>
                  <a:pt x="1809136" y="255639"/>
                </a:lnTo>
                <a:cubicBezTo>
                  <a:pt x="1812413" y="265471"/>
                  <a:pt x="1814333" y="275866"/>
                  <a:pt x="1818968" y="285136"/>
                </a:cubicBezTo>
                <a:cubicBezTo>
                  <a:pt x="1837275" y="321751"/>
                  <a:pt x="1840949" y="311514"/>
                  <a:pt x="1868129" y="344129"/>
                </a:cubicBezTo>
                <a:cubicBezTo>
                  <a:pt x="1875694" y="353207"/>
                  <a:pt x="1881239" y="363794"/>
                  <a:pt x="1887794" y="373626"/>
                </a:cubicBezTo>
                <a:cubicBezTo>
                  <a:pt x="1919437" y="468558"/>
                  <a:pt x="1868701" y="320980"/>
                  <a:pt x="1917290" y="442452"/>
                </a:cubicBezTo>
                <a:cubicBezTo>
                  <a:pt x="1952392" y="530205"/>
                  <a:pt x="1918788" y="474193"/>
                  <a:pt x="1956619" y="530942"/>
                </a:cubicBezTo>
                <a:cubicBezTo>
                  <a:pt x="1959897" y="557161"/>
                  <a:pt x="1962108" y="583536"/>
                  <a:pt x="1966452" y="609600"/>
                </a:cubicBezTo>
                <a:cubicBezTo>
                  <a:pt x="1968674" y="622929"/>
                  <a:pt x="1976284" y="635416"/>
                  <a:pt x="1976284" y="648929"/>
                </a:cubicBezTo>
                <a:cubicBezTo>
                  <a:pt x="1976284" y="766962"/>
                  <a:pt x="1972066" y="884991"/>
                  <a:pt x="1966452" y="1002890"/>
                </a:cubicBezTo>
                <a:cubicBezTo>
                  <a:pt x="1962609" y="1083588"/>
                  <a:pt x="1962975" y="1039340"/>
                  <a:pt x="1936955" y="1091381"/>
                </a:cubicBezTo>
                <a:cubicBezTo>
                  <a:pt x="1908498" y="1148297"/>
                  <a:pt x="1953541" y="1094459"/>
                  <a:pt x="1897626" y="1150374"/>
                </a:cubicBezTo>
                <a:cubicBezTo>
                  <a:pt x="1894349" y="1163484"/>
                  <a:pt x="1893837" y="1177617"/>
                  <a:pt x="1887794" y="1189703"/>
                </a:cubicBezTo>
                <a:cubicBezTo>
                  <a:pt x="1875181" y="1214929"/>
                  <a:pt x="1848478" y="1238851"/>
                  <a:pt x="1828800" y="1258529"/>
                </a:cubicBezTo>
                <a:cubicBezTo>
                  <a:pt x="1825523" y="1268361"/>
                  <a:pt x="1821815" y="1278061"/>
                  <a:pt x="1818968" y="1288026"/>
                </a:cubicBezTo>
                <a:cubicBezTo>
                  <a:pt x="1815256" y="1301019"/>
                  <a:pt x="1817084" y="1316426"/>
                  <a:pt x="1809136" y="1327355"/>
                </a:cubicBezTo>
                <a:cubicBezTo>
                  <a:pt x="1790053" y="1353594"/>
                  <a:pt x="1760578" y="1370846"/>
                  <a:pt x="1740310" y="1396181"/>
                </a:cubicBezTo>
                <a:lnTo>
                  <a:pt x="1700981" y="1445342"/>
                </a:lnTo>
                <a:cubicBezTo>
                  <a:pt x="1692984" y="1469333"/>
                  <a:pt x="1690545" y="1485275"/>
                  <a:pt x="1671484" y="1504336"/>
                </a:cubicBezTo>
                <a:cubicBezTo>
                  <a:pt x="1663128" y="1512692"/>
                  <a:pt x="1651819" y="1517445"/>
                  <a:pt x="1641987" y="1524000"/>
                </a:cubicBezTo>
                <a:cubicBezTo>
                  <a:pt x="1640811" y="1525765"/>
                  <a:pt x="1584082" y="1613222"/>
                  <a:pt x="1573161" y="1622323"/>
                </a:cubicBezTo>
                <a:cubicBezTo>
                  <a:pt x="1565199" y="1628958"/>
                  <a:pt x="1553497" y="1628878"/>
                  <a:pt x="1543665" y="1632155"/>
                </a:cubicBezTo>
                <a:cubicBezTo>
                  <a:pt x="1507930" y="1667890"/>
                  <a:pt x="1518988" y="1659613"/>
                  <a:pt x="1474839" y="1691148"/>
                </a:cubicBezTo>
                <a:cubicBezTo>
                  <a:pt x="1465223" y="1698016"/>
                  <a:pt x="1455911" y="1705528"/>
                  <a:pt x="1445342" y="1710813"/>
                </a:cubicBezTo>
                <a:cubicBezTo>
                  <a:pt x="1429556" y="1718706"/>
                  <a:pt x="1411967" y="1722584"/>
                  <a:pt x="1396181" y="1730477"/>
                </a:cubicBezTo>
                <a:cubicBezTo>
                  <a:pt x="1359975" y="1748580"/>
                  <a:pt x="1370449" y="1756879"/>
                  <a:pt x="1327355" y="1769807"/>
                </a:cubicBezTo>
                <a:cubicBezTo>
                  <a:pt x="1308260" y="1775536"/>
                  <a:pt x="1288026" y="1776362"/>
                  <a:pt x="1268361" y="1779639"/>
                </a:cubicBezTo>
                <a:cubicBezTo>
                  <a:pt x="1255251" y="1786194"/>
                  <a:pt x="1242937" y="1794668"/>
                  <a:pt x="1229032" y="1799303"/>
                </a:cubicBezTo>
                <a:cubicBezTo>
                  <a:pt x="1215283" y="1803886"/>
                  <a:pt x="1130792" y="1817316"/>
                  <a:pt x="1120878" y="1818968"/>
                </a:cubicBezTo>
                <a:cubicBezTo>
                  <a:pt x="953729" y="1815691"/>
                  <a:pt x="786365" y="1818241"/>
                  <a:pt x="619432" y="1809136"/>
                </a:cubicBezTo>
                <a:cubicBezTo>
                  <a:pt x="604797" y="1808338"/>
                  <a:pt x="594008" y="1794106"/>
                  <a:pt x="580103" y="1789471"/>
                </a:cubicBezTo>
                <a:cubicBezTo>
                  <a:pt x="543160" y="1777157"/>
                  <a:pt x="506430" y="1782961"/>
                  <a:pt x="471949" y="1759974"/>
                </a:cubicBezTo>
                <a:cubicBezTo>
                  <a:pt x="462117" y="1753419"/>
                  <a:pt x="453021" y="1745595"/>
                  <a:pt x="442452" y="1740310"/>
                </a:cubicBezTo>
                <a:cubicBezTo>
                  <a:pt x="418936" y="1728552"/>
                  <a:pt x="389325" y="1719323"/>
                  <a:pt x="363794" y="1710813"/>
                </a:cubicBezTo>
                <a:cubicBezTo>
                  <a:pt x="350684" y="1700981"/>
                  <a:pt x="337800" y="1690841"/>
                  <a:pt x="324465" y="1681316"/>
                </a:cubicBezTo>
                <a:cubicBezTo>
                  <a:pt x="304921" y="1667356"/>
                  <a:pt x="271711" y="1648227"/>
                  <a:pt x="255639" y="1632155"/>
                </a:cubicBezTo>
                <a:cubicBezTo>
                  <a:pt x="247283" y="1623799"/>
                  <a:pt x="242529" y="1612490"/>
                  <a:pt x="235974" y="1602658"/>
                </a:cubicBezTo>
                <a:cubicBezTo>
                  <a:pt x="212596" y="1532521"/>
                  <a:pt x="245746" y="1617315"/>
                  <a:pt x="196645" y="1543665"/>
                </a:cubicBezTo>
                <a:cubicBezTo>
                  <a:pt x="139725" y="1458285"/>
                  <a:pt x="251418" y="1578773"/>
                  <a:pt x="157316" y="1484671"/>
                </a:cubicBezTo>
                <a:cubicBezTo>
                  <a:pt x="132604" y="1410533"/>
                  <a:pt x="165938" y="1501914"/>
                  <a:pt x="127819" y="1425677"/>
                </a:cubicBezTo>
                <a:cubicBezTo>
                  <a:pt x="123184" y="1416407"/>
                  <a:pt x="123020" y="1405241"/>
                  <a:pt x="117987" y="1396181"/>
                </a:cubicBezTo>
                <a:cubicBezTo>
                  <a:pt x="106509" y="1375521"/>
                  <a:pt x="89227" y="1358326"/>
                  <a:pt x="78658" y="1337187"/>
                </a:cubicBezTo>
                <a:cubicBezTo>
                  <a:pt x="72103" y="1324077"/>
                  <a:pt x="64437" y="1311467"/>
                  <a:pt x="58994" y="1297858"/>
                </a:cubicBezTo>
                <a:cubicBezTo>
                  <a:pt x="51296" y="1278612"/>
                  <a:pt x="39329" y="1238865"/>
                  <a:pt x="39329" y="1238865"/>
                </a:cubicBezTo>
                <a:cubicBezTo>
                  <a:pt x="36052" y="1219200"/>
                  <a:pt x="32528" y="1199575"/>
                  <a:pt x="29497" y="1179871"/>
                </a:cubicBezTo>
                <a:cubicBezTo>
                  <a:pt x="25973" y="1156966"/>
                  <a:pt x="24210" y="1133770"/>
                  <a:pt x="19665" y="1111045"/>
                </a:cubicBezTo>
                <a:cubicBezTo>
                  <a:pt x="17632" y="1100882"/>
                  <a:pt x="12346" y="1091603"/>
                  <a:pt x="9832" y="1081548"/>
                </a:cubicBezTo>
                <a:cubicBezTo>
                  <a:pt x="5779" y="1065335"/>
                  <a:pt x="3277" y="1048774"/>
                  <a:pt x="0" y="1032387"/>
                </a:cubicBezTo>
                <a:cubicBezTo>
                  <a:pt x="3277" y="871794"/>
                  <a:pt x="1083" y="710995"/>
                  <a:pt x="9832" y="550607"/>
                </a:cubicBezTo>
                <a:cubicBezTo>
                  <a:pt x="10961" y="529909"/>
                  <a:pt x="17999" y="508860"/>
                  <a:pt x="29497" y="491613"/>
                </a:cubicBezTo>
                <a:lnTo>
                  <a:pt x="68826" y="432619"/>
                </a:lnTo>
                <a:cubicBezTo>
                  <a:pt x="86527" y="379516"/>
                  <a:pt x="67741" y="421218"/>
                  <a:pt x="117987" y="363794"/>
                </a:cubicBezTo>
                <a:cubicBezTo>
                  <a:pt x="153042" y="323732"/>
                  <a:pt x="138260" y="327236"/>
                  <a:pt x="176981" y="294968"/>
                </a:cubicBezTo>
                <a:cubicBezTo>
                  <a:pt x="219248" y="259746"/>
                  <a:pt x="191631" y="287642"/>
                  <a:pt x="235974" y="265471"/>
                </a:cubicBezTo>
                <a:cubicBezTo>
                  <a:pt x="246543" y="260186"/>
                  <a:pt x="254610" y="250462"/>
                  <a:pt x="265471" y="245807"/>
                </a:cubicBezTo>
                <a:cubicBezTo>
                  <a:pt x="277626" y="240598"/>
                  <a:pt x="345204" y="227893"/>
                  <a:pt x="353961" y="226142"/>
                </a:cubicBezTo>
                <a:cubicBezTo>
                  <a:pt x="400705" y="194979"/>
                  <a:pt x="372247" y="210214"/>
                  <a:pt x="442452" y="186813"/>
                </a:cubicBezTo>
                <a:lnTo>
                  <a:pt x="471949" y="176981"/>
                </a:lnTo>
                <a:cubicBezTo>
                  <a:pt x="481781" y="170426"/>
                  <a:pt x="490584" y="161971"/>
                  <a:pt x="501445" y="157316"/>
                </a:cubicBezTo>
                <a:cubicBezTo>
                  <a:pt x="513865" y="151993"/>
                  <a:pt x="527954" y="151757"/>
                  <a:pt x="540774" y="147484"/>
                </a:cubicBezTo>
                <a:cubicBezTo>
                  <a:pt x="547727" y="145167"/>
                  <a:pt x="553884" y="140929"/>
                  <a:pt x="560439" y="137652"/>
                </a:cubicBezTo>
              </a:path>
            </a:pathLst>
          </a:cu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/>
          <p:cNvSpPr>
            <a:spLocks noChangeArrowheads="1"/>
          </p:cNvSpPr>
          <p:nvPr/>
        </p:nvSpPr>
        <p:spPr bwMode="auto">
          <a:xfrm>
            <a:off x="7175500" y="2049463"/>
            <a:ext cx="2049463" cy="2100262"/>
          </a:xfrm>
          <a:prstGeom prst="ellipse">
            <a:avLst/>
          </a:prstGeom>
          <a:noFill/>
          <a:ln w="952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069132" y="180195"/>
            <a:ext cx="7696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§1.3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绝对误差、相对误差和有效数字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504925" y="1005695"/>
            <a:ext cx="7991475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绝对误差与误差限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085850" lvl="1" indent="-342900" eaLnBrk="1" hangingPunct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是精确值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的一个近似值，记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7415932" y="1528915"/>
            <a:ext cx="16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i="1" dirty="0">
                <a:latin typeface="+mn-lt"/>
              </a:rPr>
              <a:t>e </a:t>
            </a:r>
            <a:r>
              <a:rPr lang="en-US" altLang="zh-CN" sz="2800" dirty="0">
                <a:latin typeface="宋体" pitchFamily="2" charset="-122"/>
              </a:rPr>
              <a:t>= </a:t>
            </a: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baseline="30000" dirty="0">
                <a:latin typeface="宋体" pitchFamily="2" charset="-122"/>
              </a:rPr>
              <a:t>*</a:t>
            </a:r>
            <a:r>
              <a:rPr lang="en-US" altLang="zh-CN" sz="2800" dirty="0">
                <a:latin typeface="宋体" pitchFamily="2" charset="-122"/>
              </a:rPr>
              <a:t>-</a:t>
            </a:r>
            <a:r>
              <a:rPr lang="en-US" altLang="zh-CN" sz="2800" i="1" dirty="0">
                <a:latin typeface="+mn-lt"/>
              </a:rPr>
              <a:t>x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991544" y="2234178"/>
            <a:ext cx="784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称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为近似值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绝对误差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，简称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       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143672" y="2819173"/>
            <a:ext cx="37433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latin typeface="宋体" pitchFamily="2" charset="-122"/>
              </a:rPr>
              <a:t>      </a:t>
            </a:r>
            <a:r>
              <a:rPr lang="en-US" altLang="zh-CN" sz="2800" dirty="0">
                <a:latin typeface="宋体" pitchFamily="2" charset="-122"/>
              </a:rPr>
              <a:t>|</a:t>
            </a:r>
            <a:r>
              <a:rPr lang="en-US" altLang="zh-CN" sz="2800" i="1" dirty="0">
                <a:latin typeface="+mn-lt"/>
              </a:rPr>
              <a:t>e</a:t>
            </a:r>
            <a:r>
              <a:rPr lang="en-US" altLang="zh-CN" sz="2800" dirty="0">
                <a:latin typeface="宋体" pitchFamily="2" charset="-122"/>
              </a:rPr>
              <a:t>|≤</a:t>
            </a:r>
            <a:r>
              <a:rPr lang="en-US" altLang="zh-CN" sz="2800" i="1" dirty="0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</a:t>
            </a:r>
            <a:r>
              <a:rPr lang="en-US" altLang="zh-CN" sz="2800" i="1" dirty="0">
                <a:latin typeface="+mn-lt"/>
              </a:rPr>
              <a:t> </a:t>
            </a:r>
            <a:r>
              <a:rPr lang="en-US" altLang="zh-CN" sz="2800" i="1" dirty="0">
                <a:latin typeface="宋体" pitchFamily="2" charset="-122"/>
              </a:rPr>
              <a:t>                        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991504" y="3386951"/>
            <a:ext cx="741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则称 </a:t>
            </a:r>
            <a:r>
              <a:rPr lang="zh-CN" altLang="en-US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为近似值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绝对误差限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，简称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误差限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340569" y="4084419"/>
            <a:ext cx="7632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精确值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、近似值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和误差限 </a:t>
            </a:r>
            <a:r>
              <a:rPr lang="zh-CN" altLang="en-US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之间满足：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3834532" y="4509562"/>
            <a:ext cx="3581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dirty="0">
                <a:latin typeface="+mn-lt"/>
              </a:rPr>
              <a:t>-</a:t>
            </a:r>
            <a:r>
              <a:rPr lang="en-US" altLang="zh-CN" sz="2800" i="1" dirty="0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  </a:t>
            </a:r>
            <a:r>
              <a:rPr lang="en-US" altLang="zh-CN" sz="2800" dirty="0">
                <a:latin typeface="+mn-lt"/>
                <a:ea typeface="MingLiU" pitchFamily="49" charset="-120"/>
              </a:rPr>
              <a:t>≤ </a:t>
            </a: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baseline="30000" dirty="0">
                <a:latin typeface="+mn-lt"/>
              </a:rPr>
              <a:t>* </a:t>
            </a:r>
            <a:r>
              <a:rPr lang="en-US" altLang="zh-CN" sz="2800" dirty="0">
                <a:latin typeface="+mn-lt"/>
              </a:rPr>
              <a:t>≤ </a:t>
            </a: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dirty="0">
                <a:latin typeface="+mn-lt"/>
              </a:rPr>
              <a:t>+</a:t>
            </a:r>
            <a:r>
              <a:rPr lang="en-US" altLang="zh-CN" sz="2800" i="1" dirty="0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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286178" y="5019427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通常记为</a:t>
            </a:r>
            <a:endParaRPr lang="zh-CN" altLang="en-US" sz="2400" i="1" dirty="0">
              <a:latin typeface="MingLiU" pitchFamily="49" charset="-128"/>
              <a:ea typeface="MingLiU" pitchFamily="49" charset="-128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076878" y="5005675"/>
            <a:ext cx="3581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latin typeface="宋体" pitchFamily="2" charset="-122"/>
              </a:rPr>
              <a:t> </a:t>
            </a: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baseline="30000" dirty="0">
                <a:latin typeface="宋体" pitchFamily="2" charset="-122"/>
              </a:rPr>
              <a:t>* </a:t>
            </a:r>
            <a:r>
              <a:rPr lang="en-US" altLang="zh-CN" sz="2800" dirty="0">
                <a:latin typeface="宋体" pitchFamily="2" charset="-122"/>
              </a:rPr>
              <a:t>= </a:t>
            </a: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dirty="0">
                <a:latin typeface="宋体" pitchFamily="2" charset="-122"/>
              </a:rPr>
              <a:t>±</a:t>
            </a:r>
            <a:r>
              <a:rPr lang="en-US" altLang="zh-CN" sz="2800" i="1" dirty="0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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279576" y="2836756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sz="2400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满足        </a:t>
            </a: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955825" y="5538273"/>
            <a:ext cx="7920037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一般地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凡是由精确值经过</a:t>
            </a:r>
            <a:r>
              <a:rPr lang="zh-CN" altLang="en-US" sz="2400" b="1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四舍五入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得到的近似值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其误差限等于该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近似值末位的半个单位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2279576" y="692696"/>
            <a:ext cx="7772400" cy="4114800"/>
          </a:xfrm>
          <a:blipFill>
            <a:blip r:embed="rId2"/>
            <a:stretch>
              <a:fillRect l="-1255" t="-1630"/>
            </a:stretch>
          </a:blipFill>
          <a:extLst/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426325" y="2852738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方法误差（截断误差）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423150" y="3836988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存储误差（舍入误差）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0" y="1388695"/>
            <a:ext cx="4813795" cy="845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682373" y="3243699"/>
                <a:ext cx="2357248" cy="613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误差限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8!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73" y="3243699"/>
                <a:ext cx="2357248" cy="613886"/>
              </a:xfrm>
              <a:prstGeom prst="rect">
                <a:avLst/>
              </a:prstGeom>
              <a:blipFill>
                <a:blip r:embed="rId4"/>
                <a:stretch>
                  <a:fillRect l="-3876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711624" y="4346867"/>
                <a:ext cx="2864310" cy="613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误差限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4346867"/>
                <a:ext cx="2864310" cy="613886"/>
              </a:xfrm>
              <a:prstGeom prst="rect">
                <a:avLst/>
              </a:prstGeom>
              <a:blipFill>
                <a:blip r:embed="rId5"/>
                <a:stretch>
                  <a:fillRect l="-3404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07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775520" y="1218987"/>
            <a:ext cx="8208912" cy="223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设数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是数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近似值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i="1" u="sng" dirty="0">
                <a:latin typeface="宋体" panose="02010600030101010101" pitchFamily="2" charset="-122"/>
                <a:ea typeface="宋体" panose="02010600030101010101" pitchFamily="2" charset="-122"/>
              </a:rPr>
              <a:t>如果 </a:t>
            </a:r>
            <a:r>
              <a:rPr lang="en-US" altLang="zh-CN" sz="2400" b="1" i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b="1" i="1" u="sng" dirty="0">
                <a:latin typeface="宋体" panose="02010600030101010101" pitchFamily="2" charset="-122"/>
                <a:ea typeface="宋体" panose="02010600030101010101" pitchFamily="2" charset="-122"/>
              </a:rPr>
              <a:t>的误差限是它的某一数位的半个单位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，并且从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左起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第一个非零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数字到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该数位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共有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位，则称这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个数字为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有效数字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，也称用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近似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 </a:t>
            </a:r>
            <a:r>
              <a:rPr lang="en-US" altLang="zh-CN" sz="2400" b="1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位有效数字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  </a:t>
            </a:r>
          </a:p>
        </p:txBody>
      </p:sp>
      <p:sp>
        <p:nvSpPr>
          <p:cNvPr id="17" name="Rectangle 7"/>
          <p:cNvSpPr txBox="1">
            <a:spLocks noChangeArrowheads="1"/>
          </p:cNvSpPr>
          <p:nvPr/>
        </p:nvSpPr>
        <p:spPr bwMode="auto">
          <a:xfrm>
            <a:off x="1493813" y="4599017"/>
            <a:ext cx="16986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 [</a:t>
            </a:r>
            <a:r>
              <a:rPr lang="zh-CN" altLang="en-US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例</a:t>
            </a: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2]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933973" y="4599017"/>
            <a:ext cx="712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一个十进制数：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X=1.2345678</a:t>
            </a:r>
            <a:endParaRPr lang="zh-CN" altLang="en-US" sz="24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2573313" y="5183069"/>
            <a:ext cx="6837362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三位有效数字：      误差限：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五位有效数字：      误差限：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806925" y="4917956"/>
            <a:ext cx="6835775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1.23          0.5*10</a:t>
            </a:r>
            <a:r>
              <a:rPr lang="en-US" altLang="zh-CN" sz="2400" baseline="30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-2</a:t>
            </a:r>
            <a:endParaRPr lang="zh-CN" altLang="en-US" sz="2400" baseline="30000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4655840" y="5391220"/>
            <a:ext cx="6835775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1.2346         0.5*10</a:t>
            </a:r>
            <a:r>
              <a:rPr lang="en-US" altLang="zh-CN" sz="2400" baseline="30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-4</a:t>
            </a:r>
            <a:endParaRPr lang="zh-CN" altLang="en-US" sz="2400" baseline="30000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271464" y="560730"/>
            <a:ext cx="7991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有效数字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1545" y="3499720"/>
            <a:ext cx="9145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[1]</a:t>
            </a:r>
            <a:r>
              <a:rPr lang="zh-CN" altLang="en-US" dirty="0"/>
              <a:t>：若</a:t>
            </a:r>
            <a:r>
              <a:rPr lang="en-US" altLang="zh-CN" dirty="0"/>
              <a:t>1.231</a:t>
            </a:r>
            <a:r>
              <a:rPr lang="zh-CN" altLang="en-US" dirty="0"/>
              <a:t>，</a:t>
            </a:r>
            <a:r>
              <a:rPr lang="en-US" altLang="zh-CN" dirty="0"/>
              <a:t>0.031</a:t>
            </a:r>
            <a:r>
              <a:rPr lang="zh-CN" altLang="en-US" dirty="0"/>
              <a:t>，</a:t>
            </a:r>
            <a:r>
              <a:rPr lang="en-US" altLang="zh-CN" dirty="0"/>
              <a:t>0.0450</a:t>
            </a:r>
            <a:r>
              <a:rPr lang="zh-CN" altLang="en-US" dirty="0"/>
              <a:t>几个数字由四舍五入得到，则它们各有几位有效数字？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79592" y="4190287"/>
            <a:ext cx="2800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4,       2,                   3</a:t>
            </a:r>
            <a:endParaRPr lang="zh-CN" altLang="en-US" dirty="0">
              <a:solidFill>
                <a:srgbClr val="002060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7046CB5-A164-44DF-9DAF-F68538F10180}"/>
              </a:ext>
            </a:extLst>
          </p:cNvPr>
          <p:cNvGrpSpPr/>
          <p:nvPr/>
        </p:nvGrpSpPr>
        <p:grpSpPr>
          <a:xfrm>
            <a:off x="6384032" y="425693"/>
            <a:ext cx="2350323" cy="934929"/>
            <a:chOff x="6384032" y="425693"/>
            <a:chExt cx="2350323" cy="93492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50D380F-94FA-4828-BC87-01BCE52AD8CB}"/>
                </a:ext>
              </a:extLst>
            </p:cNvPr>
            <p:cNvSpPr/>
            <p:nvPr/>
          </p:nvSpPr>
          <p:spPr>
            <a:xfrm>
              <a:off x="6384032" y="425693"/>
              <a:ext cx="23503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</a:rPr>
                <a:t>由四舍五入得到</a:t>
              </a:r>
              <a:endParaRPr lang="zh-CN" altLang="en-US" b="1" dirty="0">
                <a:solidFill>
                  <a:srgbClr val="7030A0"/>
                </a:solidFill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5DC99FEF-4707-4BE6-B318-E13BC3797F48}"/>
                </a:ext>
              </a:extLst>
            </p:cNvPr>
            <p:cNvCxnSpPr/>
            <p:nvPr/>
          </p:nvCxnSpPr>
          <p:spPr>
            <a:xfrm flipV="1">
              <a:off x="6494734" y="887358"/>
              <a:ext cx="504000" cy="47326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55992B8-5C35-4F73-9EA4-99D5D2CFA005}"/>
              </a:ext>
            </a:extLst>
          </p:cNvPr>
          <p:cNvSpPr txBox="1"/>
          <p:nvPr/>
        </p:nvSpPr>
        <p:spPr>
          <a:xfrm>
            <a:off x="6998734" y="2933979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第一种方法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7" grpId="0" autoUpdateAnimBg="0"/>
      <p:bldP spid="18" grpId="0" autoUpdateAnimBg="0"/>
      <p:bldP spid="22" grpId="0" autoUpdateAnimBg="0"/>
      <p:bldP spid="10" grpId="0" autoUpdateAnimBg="0"/>
      <p:bldP spid="14" grpId="0" autoUpdateAnimBg="0"/>
      <p:bldP spid="2" grpId="0"/>
      <p:bldP spid="11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 txBox="1">
            <a:spLocks noChangeArrowheads="1"/>
          </p:cNvSpPr>
          <p:nvPr/>
        </p:nvSpPr>
        <p:spPr bwMode="auto">
          <a:xfrm>
            <a:off x="1646238" y="2923381"/>
            <a:ext cx="16986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 [</a:t>
            </a:r>
            <a:r>
              <a:rPr lang="zh-CN" altLang="en-US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例</a:t>
            </a: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4]</a:t>
            </a:r>
          </a:p>
        </p:txBody>
      </p:sp>
      <p:sp>
        <p:nvSpPr>
          <p:cNvPr id="28675" name="Text Box 8"/>
          <p:cNvSpPr txBox="1">
            <a:spLocks noChangeArrowheads="1"/>
          </p:cNvSpPr>
          <p:nvPr/>
        </p:nvSpPr>
        <p:spPr bwMode="auto">
          <a:xfrm>
            <a:off x="3094038" y="2967831"/>
            <a:ext cx="712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已知下列近似值的绝对误差限都是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0.005,</a:t>
            </a: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问它们</a:t>
            </a:r>
          </a:p>
        </p:txBody>
      </p:sp>
      <p:sp>
        <p:nvSpPr>
          <p:cNvPr id="28676" name="Rectangle 9"/>
          <p:cNvSpPr>
            <a:spLocks noChangeArrowheads="1"/>
          </p:cNvSpPr>
          <p:nvPr/>
        </p:nvSpPr>
        <p:spPr bwMode="auto">
          <a:xfrm>
            <a:off x="2403475" y="3447486"/>
            <a:ext cx="41751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具有几位有效数字</a:t>
            </a:r>
            <a:r>
              <a:rPr lang="en-US" altLang="zh-CN" sz="24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438400" y="3515519"/>
            <a:ext cx="828040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                  </a:t>
            </a:r>
            <a:r>
              <a:rPr lang="en-US" altLang="zh-CN" i="1" dirty="0">
                <a:solidFill>
                  <a:schemeClr val="accent2"/>
                </a:solidFill>
                <a:latin typeface="+mn-lt"/>
              </a:rPr>
              <a:t>a</a:t>
            </a: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=12.175,</a:t>
            </a:r>
            <a:r>
              <a:rPr lang="en-US" altLang="zh-CN" i="1" dirty="0">
                <a:solidFill>
                  <a:schemeClr val="accent2"/>
                </a:solidFill>
                <a:latin typeface="+mn-lt"/>
              </a:rPr>
              <a:t>b</a:t>
            </a: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=-0.10,</a:t>
            </a:r>
            <a:r>
              <a:rPr lang="en-US" altLang="zh-CN" i="1" dirty="0">
                <a:solidFill>
                  <a:schemeClr val="accent2"/>
                </a:solidFill>
                <a:latin typeface="+mn-lt"/>
              </a:rPr>
              <a:t>c</a:t>
            </a: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=0.1,</a:t>
            </a:r>
            <a:r>
              <a:rPr lang="en-US" altLang="zh-CN" i="1" dirty="0">
                <a:solidFill>
                  <a:schemeClr val="accent2"/>
                </a:solidFill>
                <a:latin typeface="+mn-lt"/>
              </a:rPr>
              <a:t>d</a:t>
            </a:r>
            <a:r>
              <a:rPr lang="en-US" altLang="zh-CN" dirty="0">
                <a:solidFill>
                  <a:schemeClr val="accent2"/>
                </a:solidFill>
                <a:latin typeface="宋体" pitchFamily="2" charset="-122"/>
              </a:rPr>
              <a:t>=0.0032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703512" y="4010819"/>
            <a:ext cx="80660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 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由于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0.0</a:t>
            </a:r>
            <a:r>
              <a:rPr lang="en-US" altLang="zh-CN" sz="2400" b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是小数点后第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数位的半个单位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3344863" y="5174457"/>
            <a:ext cx="74168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i="1" dirty="0">
                <a:solidFill>
                  <a:schemeClr val="tx2"/>
                </a:solidFill>
                <a:latin typeface="+mn-lt"/>
              </a:rPr>
              <a:t>a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4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位有效数字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2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7;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i="1" dirty="0">
                <a:solidFill>
                  <a:schemeClr val="tx2"/>
                </a:solidFill>
                <a:latin typeface="+mn-lt"/>
              </a:rPr>
              <a:t>b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2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位有效数字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0;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i="1" dirty="0">
                <a:solidFill>
                  <a:schemeClr val="tx2"/>
                </a:solidFill>
                <a:latin typeface="+mn-lt"/>
              </a:rPr>
              <a:t>c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位有效数字</a:t>
            </a:r>
            <a:r>
              <a:rPr lang="en-US" altLang="zh-CN" dirty="0">
                <a:solidFill>
                  <a:schemeClr val="tx2"/>
                </a:solidFill>
                <a:latin typeface="宋体" pitchFamily="2" charset="-122"/>
              </a:rPr>
              <a:t>1;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i="1" dirty="0">
                <a:solidFill>
                  <a:schemeClr val="tx2"/>
                </a:solidFill>
                <a:latin typeface="+mn-lt"/>
              </a:rPr>
              <a:t>d 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没有有效数字。</a:t>
            </a: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1646238" y="260350"/>
            <a:ext cx="16986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 [</a:t>
            </a:r>
            <a:r>
              <a:rPr lang="zh-CN" altLang="en-US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例</a:t>
            </a: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3]</a:t>
            </a:r>
          </a:p>
        </p:txBody>
      </p:sp>
      <p:sp>
        <p:nvSpPr>
          <p:cNvPr id="28681" name="Text Box 8"/>
          <p:cNvSpPr txBox="1">
            <a:spLocks noChangeArrowheads="1"/>
          </p:cNvSpPr>
          <p:nvPr/>
        </p:nvSpPr>
        <p:spPr bwMode="auto">
          <a:xfrm>
            <a:off x="3094038" y="304800"/>
            <a:ext cx="712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二进制：</a:t>
            </a: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10.0101011</a:t>
            </a:r>
            <a:endParaRPr lang="zh-CN" altLang="en-US" sz="240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3074988" y="1322388"/>
            <a:ext cx="6837362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四位有效数字：       误差限：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五位有效数字：       误差限：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六位有效数字：       误差限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5232400" y="738188"/>
            <a:ext cx="6835775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10.01           0.5*2</a:t>
            </a:r>
            <a:r>
              <a:rPr lang="en-US" altLang="zh-CN" sz="2400" baseline="300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-2</a:t>
            </a:r>
            <a:endParaRPr lang="zh-CN" altLang="en-US" sz="2400" baseline="3000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5087938" y="1366838"/>
            <a:ext cx="6837362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10.011          0.5*2</a:t>
            </a:r>
            <a:r>
              <a:rPr lang="en-US" altLang="zh-CN" sz="2400" baseline="300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-3</a:t>
            </a:r>
            <a:endParaRPr lang="zh-CN" altLang="en-US" sz="2400" baseline="3000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5159375" y="1892300"/>
            <a:ext cx="68373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10.0101          0.5*2</a:t>
            </a:r>
            <a:r>
              <a:rPr lang="en-US" altLang="zh-CN" sz="2400" baseline="300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-4</a:t>
            </a:r>
            <a:endParaRPr lang="zh-CN" altLang="en-US" sz="2400" baseline="3000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15" grpId="0" autoUpdateAnimBg="0"/>
      <p:bldP spid="16" grpId="0" autoUpdateAnimBg="0"/>
      <p:bldP spid="2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2357266" y="3167785"/>
            <a:ext cx="7308850" cy="11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作为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的近似值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具有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≤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有效数字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当且仅当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7"/>
              <p:cNvSpPr txBox="1"/>
              <p:nvPr/>
            </p:nvSpPr>
            <p:spPr bwMode="auto">
              <a:xfrm>
                <a:off x="4138583" y="4116077"/>
                <a:ext cx="2808287" cy="9906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8583" y="4116077"/>
                <a:ext cx="2808287" cy="9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279650" y="5373688"/>
            <a:ext cx="7523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由此可见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近似值的有效数字越多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其绝对误差越小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854326" y="2675551"/>
            <a:ext cx="69484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宋体" pitchFamily="2" charset="-122"/>
              </a:rPr>
              <a:t>其中</a:t>
            </a:r>
            <a:r>
              <a:rPr lang="en-US" altLang="zh-CN" i="1" dirty="0">
                <a:latin typeface="+mn-lt"/>
              </a:rPr>
              <a:t>m</a:t>
            </a:r>
            <a:r>
              <a:rPr lang="zh-CN" altLang="en-US" dirty="0">
                <a:latin typeface="宋体" pitchFamily="2" charset="-122"/>
              </a:rPr>
              <a:t>是整数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en-US" altLang="zh-CN" i="1" dirty="0" err="1">
                <a:latin typeface="+mn-lt"/>
              </a:rPr>
              <a:t>a</a:t>
            </a:r>
            <a:r>
              <a:rPr lang="en-US" altLang="zh-CN" i="1" baseline="-25000" dirty="0" err="1">
                <a:latin typeface="+mn-lt"/>
              </a:rPr>
              <a:t>i</a:t>
            </a:r>
            <a:r>
              <a:rPr lang="en-US" altLang="zh-CN" i="1" baseline="-25000" dirty="0">
                <a:latin typeface="+mn-lt"/>
              </a:rPr>
              <a:t> </a:t>
            </a:r>
            <a:r>
              <a:rPr lang="zh-CN" altLang="en-US" dirty="0">
                <a:latin typeface="宋体" pitchFamily="2" charset="-122"/>
              </a:rPr>
              <a:t>是</a:t>
            </a:r>
            <a:r>
              <a:rPr lang="en-US" altLang="zh-CN" dirty="0">
                <a:latin typeface="宋体" pitchFamily="2" charset="-122"/>
              </a:rPr>
              <a:t>0</a:t>
            </a:r>
            <a:r>
              <a:rPr lang="zh-CN" altLang="en-US" dirty="0">
                <a:latin typeface="宋体" pitchFamily="2" charset="-122"/>
              </a:rPr>
              <a:t>到</a:t>
            </a:r>
            <a:r>
              <a:rPr lang="en-US" altLang="zh-CN" dirty="0">
                <a:latin typeface="宋体" pitchFamily="2" charset="-122"/>
              </a:rPr>
              <a:t>9</a:t>
            </a:r>
            <a:r>
              <a:rPr lang="zh-CN" altLang="en-US" dirty="0">
                <a:latin typeface="宋体" pitchFamily="2" charset="-122"/>
              </a:rPr>
              <a:t>中的一个数字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≠0</a:t>
            </a:r>
          </a:p>
        </p:txBody>
      </p:sp>
      <p:grpSp>
        <p:nvGrpSpPr>
          <p:cNvPr id="29702" name="组合 8"/>
          <p:cNvGrpSpPr>
            <a:grpSpLocks/>
          </p:cNvGrpSpPr>
          <p:nvPr/>
        </p:nvGrpSpPr>
        <p:grpSpPr bwMode="auto">
          <a:xfrm>
            <a:off x="2321691" y="1431912"/>
            <a:ext cx="7272338" cy="1228833"/>
            <a:chOff x="810816" y="872865"/>
            <a:chExt cx="7272337" cy="1228963"/>
          </a:xfrm>
        </p:grpSpPr>
        <p:sp>
          <p:nvSpPr>
            <p:cNvPr id="29703" name="Rectangle 13"/>
            <p:cNvSpPr>
              <a:spLocks noChangeArrowheads="1"/>
            </p:cNvSpPr>
            <p:nvPr/>
          </p:nvSpPr>
          <p:spPr bwMode="auto">
            <a:xfrm>
              <a:off x="810816" y="872865"/>
              <a:ext cx="7272337" cy="966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zh-CN" altLang="en-US" sz="2400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十进制数 </a:t>
              </a:r>
              <a:r>
                <a:rPr lang="en-US" altLang="zh-CN" sz="2400" i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 </a:t>
              </a:r>
              <a:r>
                <a:rPr lang="zh-CN" altLang="en-US" sz="2400" dirty="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总可以写成如下形式</a:t>
              </a:r>
              <a:endPara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4" name="Object 8"/>
                <p:cNvSpPr txBox="1"/>
                <p:nvPr/>
              </p:nvSpPr>
              <p:spPr bwMode="auto">
                <a:xfrm>
                  <a:off x="2310209" y="1482703"/>
                  <a:ext cx="3443287" cy="6191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=±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...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×1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704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0209" y="1482703"/>
                  <a:ext cx="3443287" cy="61912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文本框 1"/>
          <p:cNvSpPr txBox="1"/>
          <p:nvPr/>
        </p:nvSpPr>
        <p:spPr>
          <a:xfrm>
            <a:off x="1847528" y="725533"/>
            <a:ext cx="412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b="1" dirty="0"/>
              <a:t>有效数字与误差的关系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4B0213-FB96-4510-B11C-DA45A8DB3346}"/>
              </a:ext>
            </a:extLst>
          </p:cNvPr>
          <p:cNvSpPr txBox="1"/>
          <p:nvPr/>
        </p:nvSpPr>
        <p:spPr>
          <a:xfrm>
            <a:off x="2999656" y="6096763"/>
            <a:ext cx="5501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注</a:t>
            </a:r>
            <a:r>
              <a:rPr lang="en-US" altLang="zh-CN" b="1" dirty="0">
                <a:solidFill>
                  <a:srgbClr val="7030A0"/>
                </a:solidFill>
              </a:rPr>
              <a:t>:</a:t>
            </a:r>
            <a:r>
              <a:rPr lang="zh-CN" altLang="en-US" b="1" dirty="0">
                <a:solidFill>
                  <a:srgbClr val="7030A0"/>
                </a:solidFill>
              </a:rPr>
              <a:t>计算有效数字或误差限的另一种方法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5"/>
          <p:cNvSpPr txBox="1">
            <a:spLocks noChangeArrowheads="1"/>
          </p:cNvSpPr>
          <p:nvPr/>
        </p:nvSpPr>
        <p:spPr bwMode="auto">
          <a:xfrm>
            <a:off x="3521075" y="527050"/>
            <a:ext cx="689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为了使 </a:t>
            </a:r>
            <a:r>
              <a:rPr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   </a:t>
            </a:r>
            <a:endParaRPr lang="en-US" altLang="zh-CN" sz="2400" baseline="3000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135188" y="476250"/>
            <a:ext cx="1482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 [</a:t>
            </a:r>
            <a:r>
              <a:rPr lang="zh-CN" altLang="en-US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例</a:t>
            </a:r>
            <a:r>
              <a:rPr lang="en-US" altLang="zh-CN" sz="2800" b="1" kern="0" dirty="0">
                <a:solidFill>
                  <a:schemeClr val="accent2"/>
                </a:solidFill>
                <a:latin typeface="宋体" pitchFamily="2" charset="-122"/>
                <a:ea typeface="+mj-ea"/>
                <a:cs typeface="+mj-cs"/>
              </a:rPr>
              <a:t>5]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4" name="Object 5"/>
              <p:cNvSpPr txBox="1"/>
              <p:nvPr/>
            </p:nvSpPr>
            <p:spPr bwMode="auto">
              <a:xfrm>
                <a:off x="5057775" y="550863"/>
                <a:ext cx="533400" cy="4270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072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7775" y="550863"/>
                <a:ext cx="533400" cy="4270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5" name="Text Box 8"/>
          <p:cNvSpPr txBox="1">
            <a:spLocks noChangeArrowheads="1"/>
          </p:cNvSpPr>
          <p:nvPr/>
        </p:nvSpPr>
        <p:spPr bwMode="auto">
          <a:xfrm>
            <a:off x="1920875" y="1060450"/>
            <a:ext cx="723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问应取几位有效数字？</a:t>
            </a:r>
          </a:p>
        </p:txBody>
      </p:sp>
      <p:sp>
        <p:nvSpPr>
          <p:cNvPr id="30726" name="Text Box 15"/>
          <p:cNvSpPr txBox="1">
            <a:spLocks noChangeArrowheads="1"/>
          </p:cNvSpPr>
          <p:nvPr/>
        </p:nvSpPr>
        <p:spPr bwMode="auto">
          <a:xfrm>
            <a:off x="3521075" y="527050"/>
            <a:ext cx="6535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的近似值的绝对误差小于</a:t>
            </a:r>
            <a:r>
              <a:rPr lang="en-US" altLang="zh-CN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2400" baseline="300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400" baseline="3000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1920876" y="1746250"/>
            <a:ext cx="7238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由于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9" name="Object 6"/>
              <p:cNvSpPr txBox="1"/>
              <p:nvPr/>
            </p:nvSpPr>
            <p:spPr bwMode="auto">
              <a:xfrm>
                <a:off x="3743326" y="1806575"/>
                <a:ext cx="457200" cy="3651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072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3326" y="1806575"/>
                <a:ext cx="457200" cy="365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2" name="Rectangle 13"/>
          <p:cNvSpPr>
            <a:spLocks noChangeArrowheads="1"/>
          </p:cNvSpPr>
          <p:nvPr/>
        </p:nvSpPr>
        <p:spPr bwMode="auto">
          <a:xfrm>
            <a:off x="1992313" y="4221163"/>
            <a:ext cx="691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故取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=6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，即取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位有效数字。此时 </a:t>
            </a:r>
            <a:r>
              <a:rPr lang="en-US" altLang="zh-CN" sz="26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=1.41421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0733" name="Rectangle 14"/>
          <p:cNvSpPr>
            <a:spLocks noChangeArrowheads="1"/>
          </p:cNvSpPr>
          <p:nvPr/>
        </p:nvSpPr>
        <p:spPr bwMode="auto">
          <a:xfrm>
            <a:off x="2351584" y="5478463"/>
            <a:ext cx="6696074" cy="457200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注：精确值的有效数字可认为有无限多位。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/>
        </p:nvSpPr>
        <p:spPr bwMode="auto">
          <a:xfrm>
            <a:off x="1920875" y="1731963"/>
            <a:ext cx="7775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=1.414213562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则近似值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可写为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35" name="Object 15"/>
              <p:cNvSpPr txBox="1"/>
              <p:nvPr/>
            </p:nvSpPr>
            <p:spPr bwMode="auto">
              <a:xfrm>
                <a:off x="2747963" y="2486410"/>
                <a:ext cx="6696073" cy="5524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1414213562…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×10,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=1≠0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73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7963" y="2486410"/>
                <a:ext cx="6696073" cy="552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36" name="Object 37"/>
              <p:cNvSpPr txBox="1"/>
              <p:nvPr/>
            </p:nvSpPr>
            <p:spPr bwMode="auto">
              <a:xfrm>
                <a:off x="3287714" y="3141663"/>
                <a:ext cx="3816350" cy="9604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736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7714" y="3141663"/>
                <a:ext cx="3816350" cy="9604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31" name="矩形 17"/>
          <p:cNvSpPr>
            <a:spLocks noChangeArrowheads="1"/>
          </p:cNvSpPr>
          <p:nvPr/>
        </p:nvSpPr>
        <p:spPr bwMode="auto">
          <a:xfrm flipH="1">
            <a:off x="2640014" y="3281363"/>
            <a:ext cx="661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2" grpId="0"/>
      <p:bldP spid="30733" grpId="0" animBg="1"/>
      <p:bldP spid="30735" grpId="0"/>
      <p:bldP spid="30736" grpId="0"/>
      <p:bldP spid="307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8D1321-76F6-4407-AC1C-D22923527E0E}"/>
                  </a:ext>
                </a:extLst>
              </p:cNvPr>
              <p:cNvSpPr txBox="1"/>
              <p:nvPr/>
            </p:nvSpPr>
            <p:spPr>
              <a:xfrm>
                <a:off x="695400" y="1124744"/>
                <a:ext cx="11004392" cy="51305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练习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：已知误差限为</a:t>
                </a:r>
                <a:r>
                  <a:rPr lang="en-US" altLang="zh-CN" sz="2400" dirty="0"/>
                  <a:t>0.005</a:t>
                </a:r>
                <a:r>
                  <a:rPr lang="zh-CN" altLang="en-US" sz="2400" dirty="0"/>
                  <a:t>，请问</a:t>
                </a:r>
                <a:r>
                  <a:rPr lang="en-US" altLang="zh-CN" sz="2400" dirty="0"/>
                  <a:t>13.756</a:t>
                </a:r>
                <a:r>
                  <a:rPr lang="zh-CN" altLang="en-US" sz="2400" dirty="0"/>
                  <a:t>的有效数字是多少位？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练习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：已知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sz="2400" dirty="0"/>
                  <a:t>=1.732050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</m:oMath>
                </a14:m>
                <a:r>
                  <a:rPr lang="zh-CN" altLang="en-US" sz="2400" dirty="0"/>
                  <a:t>，问近似值</a:t>
                </a:r>
                <a:r>
                  <a:rPr lang="en-US" altLang="zh-CN" sz="2400" dirty="0"/>
                  <a:t>1.73</a:t>
                </a:r>
                <a:r>
                  <a:rPr lang="zh-CN" altLang="en-US" sz="2400" dirty="0"/>
                  <a:t>和</a:t>
                </a:r>
                <a:r>
                  <a:rPr lang="en-US" altLang="zh-CN" sz="2400" dirty="0"/>
                  <a:t>1.7320</a:t>
                </a:r>
                <a:r>
                  <a:rPr lang="zh-CN" altLang="en-US" sz="2400" dirty="0"/>
                  <a:t>的有效数字各为几位？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8D1321-76F6-4407-AC1C-D2292352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124744"/>
                <a:ext cx="11004392" cy="5130572"/>
              </a:xfrm>
              <a:prstGeom prst="rect">
                <a:avLst/>
              </a:prstGeom>
              <a:blipFill>
                <a:blip r:embed="rId2"/>
                <a:stretch>
                  <a:fillRect l="-77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7FA6CA7-F1D0-4D61-9875-51ABBE8F15BE}"/>
                  </a:ext>
                </a:extLst>
              </p:cNvPr>
              <p:cNvSpPr txBox="1"/>
              <p:nvPr/>
            </p:nvSpPr>
            <p:spPr>
              <a:xfrm>
                <a:off x="1020627" y="4049739"/>
                <a:ext cx="107394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解</m:t>
                    </m:r>
                  </m:oMath>
                </a14:m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baseline="30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|=1.732050−1.7320=0.000050⋯&lt;0.0005=0.5×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7FA6CA7-F1D0-4D61-9875-51ABBE8F1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27" y="4049739"/>
                <a:ext cx="10739478" cy="369332"/>
              </a:xfrm>
              <a:prstGeom prst="rect">
                <a:avLst/>
              </a:prstGeom>
              <a:blipFill>
                <a:blip r:embed="rId3"/>
                <a:stretch>
                  <a:fillRect l="-1305" t="-29508" b="-44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ED65AEF-8260-4456-9BC5-DA1AEA75773F}"/>
                  </a:ext>
                </a:extLst>
              </p:cNvPr>
              <p:cNvSpPr txBox="1"/>
              <p:nvPr/>
            </p:nvSpPr>
            <p:spPr>
              <a:xfrm>
                <a:off x="1363527" y="4636467"/>
                <a:ext cx="32955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1.7320=0.17320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ED65AEF-8260-4456-9BC5-DA1AEA757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27" y="4636467"/>
                <a:ext cx="3295518" cy="369332"/>
              </a:xfrm>
              <a:prstGeom prst="rect">
                <a:avLst/>
              </a:prstGeom>
              <a:blipFill>
                <a:blip r:embed="rId4"/>
                <a:stretch>
                  <a:fillRect l="-1852" r="-556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009D7E8-014A-443D-9500-7E04791D8DE5}"/>
                  </a:ext>
                </a:extLst>
              </p:cNvPr>
              <p:cNvSpPr txBox="1"/>
              <p:nvPr/>
            </p:nvSpPr>
            <p:spPr>
              <a:xfrm>
                <a:off x="1385627" y="5223195"/>
                <a:ext cx="19944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009D7E8-014A-443D-9500-7E04791D8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627" y="5223195"/>
                <a:ext cx="1994457" cy="369332"/>
              </a:xfrm>
              <a:prstGeom prst="rect">
                <a:avLst/>
              </a:prstGeom>
              <a:blipFill>
                <a:blip r:embed="rId5"/>
                <a:stretch>
                  <a:fillRect l="-1529" r="-3364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C56B4ED-B92E-4D40-AABD-E28D8F19DB48}"/>
                  </a:ext>
                </a:extLst>
              </p:cNvPr>
              <p:cNvSpPr txBox="1"/>
              <p:nvPr/>
            </p:nvSpPr>
            <p:spPr>
              <a:xfrm>
                <a:off x="1363527" y="5809923"/>
                <a:ext cx="30296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sz="2400" dirty="0"/>
                  <a:t>效数字：</a:t>
                </a:r>
                <a:r>
                  <a:rPr lang="en-US" altLang="zh-CN" sz="2400" dirty="0"/>
                  <a:t>m-k=1+3=4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C56B4ED-B92E-4D40-AABD-E28D8F19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27" y="5809923"/>
                <a:ext cx="3029676" cy="369332"/>
              </a:xfrm>
              <a:prstGeom prst="rect">
                <a:avLst/>
              </a:prstGeom>
              <a:blipFill>
                <a:blip r:embed="rId6"/>
                <a:stretch>
                  <a:fillRect l="-4829" t="-29508" r="-4225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F46F297-7E74-4EDA-808D-57045AA357CD}"/>
                  </a:ext>
                </a:extLst>
              </p:cNvPr>
              <p:cNvSpPr txBox="1"/>
              <p:nvPr/>
            </p:nvSpPr>
            <p:spPr>
              <a:xfrm>
                <a:off x="1607767" y="1775617"/>
                <a:ext cx="332725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解</m:t>
                    </m:r>
                  </m:oMath>
                </a14:m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≤0.5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         13.756=0.13756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F46F297-7E74-4EDA-808D-57045AA35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767" y="1775617"/>
                <a:ext cx="3327258" cy="738664"/>
              </a:xfrm>
              <a:prstGeom prst="rect">
                <a:avLst/>
              </a:prstGeom>
              <a:blipFill>
                <a:blip r:embed="rId7"/>
                <a:stretch>
                  <a:fillRect l="-4396" t="-14876" r="-5495" b="-24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28F274F-35E5-4358-999D-7697C751D55A}"/>
                  </a:ext>
                </a:extLst>
              </p:cNvPr>
              <p:cNvSpPr txBox="1"/>
              <p:nvPr/>
            </p:nvSpPr>
            <p:spPr>
              <a:xfrm>
                <a:off x="2164612" y="2604512"/>
                <a:ext cx="19944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28F274F-35E5-4358-999D-7697C751D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612" y="2604512"/>
                <a:ext cx="1994457" cy="369332"/>
              </a:xfrm>
              <a:prstGeom prst="rect">
                <a:avLst/>
              </a:prstGeom>
              <a:blipFill>
                <a:blip r:embed="rId8"/>
                <a:stretch>
                  <a:fillRect l="-1529" r="-3364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E4E47F-F966-4F8D-B9CE-E538059E97D5}"/>
                  </a:ext>
                </a:extLst>
              </p:cNvPr>
              <p:cNvSpPr txBox="1"/>
              <p:nvPr/>
            </p:nvSpPr>
            <p:spPr>
              <a:xfrm>
                <a:off x="2109486" y="3097344"/>
                <a:ext cx="30296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sz="2400" dirty="0"/>
                  <a:t>效数字：</a:t>
                </a:r>
                <a:r>
                  <a:rPr lang="en-US" altLang="zh-CN" sz="2400" dirty="0"/>
                  <a:t>m-k=2+2=4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E4E47F-F966-4F8D-B9CE-E538059E9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486" y="3097344"/>
                <a:ext cx="3029676" cy="369332"/>
              </a:xfrm>
              <a:prstGeom prst="rect">
                <a:avLst/>
              </a:prstGeom>
              <a:blipFill>
                <a:blip r:embed="rId9"/>
                <a:stretch>
                  <a:fillRect l="-4628" t="-29508" r="-4427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028EB24F-A88E-4700-93EE-F728756FFCF3}"/>
              </a:ext>
            </a:extLst>
          </p:cNvPr>
          <p:cNvSpPr txBox="1"/>
          <p:nvPr/>
        </p:nvSpPr>
        <p:spPr>
          <a:xfrm>
            <a:off x="839416" y="54868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课堂练习：</a:t>
            </a:r>
          </a:p>
        </p:txBody>
      </p:sp>
    </p:spTree>
    <p:extLst>
      <p:ext uri="{BB962C8B-B14F-4D97-AF65-F5344CB8AC3E}">
        <p14:creationId xmlns:p14="http://schemas.microsoft.com/office/powerpoint/2010/main" val="165826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2"/>
          <p:cNvSpPr>
            <a:spLocks noChangeArrowheads="1"/>
          </p:cNvSpPr>
          <p:nvPr/>
        </p:nvSpPr>
        <p:spPr bwMode="auto">
          <a:xfrm>
            <a:off x="1920875" y="404813"/>
            <a:ext cx="7775575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相对误差与相对误差限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绝对误差有时并不能很好地反映近似程度的好坏，如</a:t>
            </a:r>
          </a:p>
        </p:txBody>
      </p:sp>
      <p:sp>
        <p:nvSpPr>
          <p:cNvPr id="38" name="Text Box 13"/>
          <p:cNvSpPr txBox="1">
            <a:spLocks noChangeArrowheads="1"/>
          </p:cNvSpPr>
          <p:nvPr/>
        </p:nvSpPr>
        <p:spPr bwMode="auto">
          <a:xfrm>
            <a:off x="3583877" y="1416047"/>
            <a:ext cx="6858000" cy="103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i="1" dirty="0">
                <a:latin typeface="+mn-lt"/>
              </a:rPr>
              <a:t>x</a:t>
            </a:r>
            <a:r>
              <a:rPr lang="en-US" altLang="zh-CN" sz="2800" baseline="30000" dirty="0">
                <a:latin typeface="+mn-lt"/>
              </a:rPr>
              <a:t>* </a:t>
            </a:r>
            <a:r>
              <a:rPr lang="en-US" altLang="zh-CN" sz="2800" dirty="0">
                <a:latin typeface="+mn-lt"/>
              </a:rPr>
              <a:t>=10</a:t>
            </a:r>
            <a:r>
              <a:rPr lang="zh-CN" altLang="en-US" sz="2800" dirty="0">
                <a:latin typeface="+mn-lt"/>
              </a:rPr>
              <a:t>，       </a:t>
            </a:r>
            <a:r>
              <a:rPr lang="en-US" altLang="zh-CN" sz="2800" i="1" dirty="0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e</a:t>
            </a:r>
            <a:r>
              <a:rPr lang="en-US" altLang="zh-CN" sz="2800" i="1" baseline="-25000" dirty="0">
                <a:latin typeface="+mn-lt"/>
              </a:rPr>
              <a:t>x </a:t>
            </a:r>
            <a:r>
              <a:rPr lang="en-US" altLang="zh-CN" sz="2800" dirty="0">
                <a:latin typeface="+mn-lt"/>
              </a:rPr>
              <a:t>=1 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800" i="1" dirty="0">
                <a:latin typeface="+mn-lt"/>
              </a:rPr>
              <a:t>y</a:t>
            </a:r>
            <a:r>
              <a:rPr lang="en-US" altLang="zh-CN" sz="2800" baseline="30000" dirty="0">
                <a:latin typeface="+mn-lt"/>
              </a:rPr>
              <a:t>* </a:t>
            </a:r>
            <a:r>
              <a:rPr lang="en-US" altLang="zh-CN" sz="2800" dirty="0">
                <a:latin typeface="+mn-lt"/>
              </a:rPr>
              <a:t>=10000</a:t>
            </a:r>
            <a:r>
              <a:rPr lang="zh-CN" altLang="en-US" sz="2800" dirty="0">
                <a:latin typeface="+mn-lt"/>
              </a:rPr>
              <a:t>， </a:t>
            </a:r>
            <a:r>
              <a:rPr lang="en-US" altLang="zh-CN" sz="2800" i="1" dirty="0" err="1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e</a:t>
            </a:r>
            <a:r>
              <a:rPr lang="en-US" altLang="zh-CN" sz="2800" i="1" baseline="-25000" dirty="0" err="1">
                <a:latin typeface="+mn-lt"/>
                <a:ea typeface="MingLiU" pitchFamily="49" charset="-120"/>
              </a:rPr>
              <a:t>y</a:t>
            </a:r>
            <a:r>
              <a:rPr lang="en-US" altLang="zh-CN" sz="2800" i="1" baseline="-25000" dirty="0">
                <a:latin typeface="+mn-lt"/>
                <a:ea typeface="MingLiU" pitchFamily="49" charset="-120"/>
              </a:rPr>
              <a:t> </a:t>
            </a:r>
            <a:r>
              <a:rPr lang="en-US" altLang="zh-CN" sz="2800" dirty="0">
                <a:latin typeface="+mn-lt"/>
                <a:ea typeface="MingLiU" pitchFamily="49" charset="-120"/>
              </a:rPr>
              <a:t>= </a:t>
            </a:r>
            <a:r>
              <a:rPr lang="en-US" altLang="zh-CN" sz="2800" dirty="0">
                <a:latin typeface="+mn-lt"/>
              </a:rPr>
              <a:t>5</a:t>
            </a:r>
          </a:p>
        </p:txBody>
      </p:sp>
      <p:sp>
        <p:nvSpPr>
          <p:cNvPr id="26628" name="Text Box 14"/>
          <p:cNvSpPr txBox="1">
            <a:spLocks noChangeArrowheads="1"/>
          </p:cNvSpPr>
          <p:nvPr/>
        </p:nvSpPr>
        <p:spPr bwMode="auto">
          <a:xfrm>
            <a:off x="2676095" y="2507549"/>
            <a:ext cx="7775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虽然 </a:t>
            </a:r>
            <a:r>
              <a:rPr lang="en-US" altLang="zh-CN" sz="2400" i="1" dirty="0" err="1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MingLiU" pitchFamily="49" charset="-128"/>
              </a:rPr>
              <a:t>y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MingLiU" pitchFamily="49" charset="-128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倍，但在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10000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显然比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内差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好。</a:t>
            </a:r>
          </a:p>
        </p:txBody>
      </p:sp>
      <p:sp>
        <p:nvSpPr>
          <p:cNvPr id="26629" name="Text Box 2"/>
          <p:cNvSpPr txBox="1">
            <a:spLocks noChangeArrowheads="1"/>
          </p:cNvSpPr>
          <p:nvPr/>
        </p:nvSpPr>
        <p:spPr bwMode="auto">
          <a:xfrm>
            <a:off x="2212277" y="4042311"/>
            <a:ext cx="4800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称 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为近似值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相对误差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2567608" y="3156745"/>
            <a:ext cx="160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31" name="Object 37"/>
              <p:cNvSpPr txBox="1"/>
              <p:nvPr/>
            </p:nvSpPr>
            <p:spPr bwMode="auto">
              <a:xfrm>
                <a:off x="3863752" y="3036884"/>
                <a:ext cx="2481262" cy="9906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6631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752" y="3036884"/>
                <a:ext cx="2481262" cy="9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32" name="Text Box 5"/>
          <p:cNvSpPr txBox="1">
            <a:spLocks noChangeArrowheads="1"/>
          </p:cNvSpPr>
          <p:nvPr/>
        </p:nvSpPr>
        <p:spPr bwMode="auto">
          <a:xfrm>
            <a:off x="1973831" y="4592121"/>
            <a:ext cx="7991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由于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未知，实际使用时总是将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的相对误差取为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33" name="Object 38"/>
              <p:cNvSpPr txBox="1"/>
              <p:nvPr/>
            </p:nvSpPr>
            <p:spPr bwMode="auto">
              <a:xfrm>
                <a:off x="4213225" y="5045075"/>
                <a:ext cx="2492375" cy="10477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6633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3225" y="5045075"/>
                <a:ext cx="2492375" cy="104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34" name="Text Box 7"/>
          <p:cNvSpPr txBox="1">
            <a:spLocks noChangeArrowheads="1"/>
          </p:cNvSpPr>
          <p:nvPr/>
        </p:nvSpPr>
        <p:spPr bwMode="auto">
          <a:xfrm>
            <a:off x="1992313" y="6135688"/>
            <a:ext cx="7848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Arial Unicode MS" pitchFamily="34" charset="-128"/>
                <a:sym typeface="Symbol" panose="05050102010706020507" pitchFamily="18" charset="2"/>
              </a:rPr>
              <a:t>   </a:t>
            </a:r>
            <a:r>
              <a:rPr lang="en-US" altLang="zh-CN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MingLiU" pitchFamily="49" charset="-128"/>
                <a:ea typeface="MingLiU" pitchFamily="49" charset="-128"/>
              </a:rPr>
              <a:t> 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</a:t>
            </a:r>
            <a:r>
              <a:rPr lang="en-US" altLang="zh-CN" sz="2400" i="1" dirty="0">
                <a:latin typeface="MingLiU" pitchFamily="49" charset="-128"/>
                <a:ea typeface="MingLiU" pitchFamily="49" charset="-128"/>
              </a:rPr>
              <a:t>/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|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|</a:t>
            </a:r>
            <a:r>
              <a:rPr lang="zh-CN" altLang="en-US" sz="2400" dirty="0">
                <a:latin typeface="MingLiU" pitchFamily="49" charset="-128"/>
                <a:ea typeface="宋体" panose="02010600030101010101" pitchFamily="2" charset="-122"/>
              </a:rPr>
              <a:t>称为近似值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MingLiU" pitchFamily="49" charset="-128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3300"/>
                </a:solidFill>
                <a:latin typeface="MingLiU" pitchFamily="49" charset="-128"/>
                <a:ea typeface="宋体" panose="02010600030101010101" pitchFamily="2" charset="-122"/>
              </a:rPr>
              <a:t>相对误差限</a:t>
            </a:r>
            <a:r>
              <a:rPr lang="zh-CN" altLang="en-US" sz="2400" dirty="0">
                <a:latin typeface="MingLiU" pitchFamily="49" charset="-128"/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|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|≤ </a:t>
            </a:r>
            <a:r>
              <a:rPr lang="en-US" altLang="zh-CN" sz="2400" i="1" dirty="0">
                <a:latin typeface="Times New Roman" panose="02020603050405020304" pitchFamily="18" charset="0"/>
                <a:ea typeface="Arial Unicode MS" pitchFamily="34" charset="-128"/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MingLiU" pitchFamily="49" charset="-128"/>
              </a:rPr>
              <a:t>r</a:t>
            </a:r>
            <a:r>
              <a:rPr lang="en-US" altLang="zh-CN" sz="2400" dirty="0">
                <a:latin typeface="MingLiU" pitchFamily="49" charset="-128"/>
                <a:ea typeface="MingLiU" pitchFamily="49" charset="-128"/>
              </a:rPr>
              <a:t>.</a:t>
            </a:r>
            <a:endParaRPr lang="en-US" altLang="zh-CN" sz="2400" baseline="-25000" dirty="0">
              <a:latin typeface="MingLiU" pitchFamily="49" charset="-128"/>
              <a:ea typeface="MingLiU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144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/>
      <p:bldP spid="266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FA3163-51DC-4C7E-BF03-29D4CFEC64EB}"/>
              </a:ext>
            </a:extLst>
          </p:cNvPr>
          <p:cNvSpPr txBox="1"/>
          <p:nvPr/>
        </p:nvSpPr>
        <p:spPr>
          <a:xfrm>
            <a:off x="4079776" y="275676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如何进行误差分析？</a:t>
            </a:r>
          </a:p>
        </p:txBody>
      </p:sp>
    </p:spTree>
    <p:extLst>
      <p:ext uri="{BB962C8B-B14F-4D97-AF65-F5344CB8AC3E}">
        <p14:creationId xmlns:p14="http://schemas.microsoft.com/office/powerpoint/2010/main" val="1535510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476672"/>
            <a:ext cx="4442242" cy="21957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3200" dirty="0"/>
              <a:t>1.4 </a:t>
            </a:r>
            <a:r>
              <a:rPr lang="zh-CN" altLang="en-US" sz="3200" b="1" dirty="0"/>
              <a:t>误差估计（</a:t>
            </a:r>
            <a:r>
              <a:rPr lang="zh-CN" altLang="en-US" sz="3200" b="1" dirty="0">
                <a:solidFill>
                  <a:srgbClr val="C00000"/>
                </a:solidFill>
              </a:rPr>
              <a:t>重要</a:t>
            </a:r>
            <a:r>
              <a:rPr lang="zh-CN" altLang="en-US" sz="3200" b="1" dirty="0"/>
              <a:t>）</a:t>
            </a:r>
            <a:endParaRPr lang="en-US" altLang="zh-CN" sz="3200" b="1" dirty="0"/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/>
              <a:t>四则运算的误差估计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/>
              <a:t>函数的误差估计</a:t>
            </a:r>
          </a:p>
        </p:txBody>
      </p:sp>
    </p:spTree>
    <p:extLst>
      <p:ext uri="{BB962C8B-B14F-4D97-AF65-F5344CB8AC3E}">
        <p14:creationId xmlns:p14="http://schemas.microsoft.com/office/powerpoint/2010/main" val="3295049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5748" y="567493"/>
            <a:ext cx="757130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800" dirty="0"/>
              <a:t>四则运算（加，减，乘，除）的误差估计</a:t>
            </a:r>
            <a:endParaRPr lang="en-US" altLang="zh-CN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1775520" y="1306157"/>
            <a:ext cx="8065028" cy="113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假设有两个近似数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b, </a:t>
            </a:r>
            <a:r>
              <a:rPr lang="zh-CN" altLang="en-US" dirty="0"/>
              <a:t>它们的误差限分别为</a:t>
            </a:r>
            <a:r>
              <a:rPr lang="en-US" altLang="zh-CN" dirty="0"/>
              <a:t>e(a),e(b)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相对误差限分别为：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r</a:t>
            </a:r>
            <a:r>
              <a:rPr lang="en-US" altLang="zh-CN" dirty="0"/>
              <a:t>(a),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r</a:t>
            </a:r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514748" y="2564904"/>
            <a:ext cx="5184576" cy="3240360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55748" y="2564904"/>
            <a:ext cx="5184576" cy="3240360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271464" y="2780928"/>
            <a:ext cx="9455716" cy="2627604"/>
            <a:chOff x="1271464" y="2780928"/>
            <a:chExt cx="9455716" cy="262760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464" y="2780928"/>
              <a:ext cx="9455716" cy="2627604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1464" y="2962368"/>
              <a:ext cx="4178350" cy="425398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4"/>
            <a:srcRect l="46351" t="16927"/>
            <a:stretch/>
          </p:blipFill>
          <p:spPr>
            <a:xfrm>
              <a:off x="8527051" y="2824787"/>
              <a:ext cx="1745413" cy="2751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5785" y="732793"/>
            <a:ext cx="9145016" cy="130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例：用两个近似数</a:t>
            </a:r>
            <a:r>
              <a:rPr lang="en-US" altLang="zh-CN" sz="2800" dirty="0"/>
              <a:t>x=4.26, y=0.14,</a:t>
            </a:r>
            <a:r>
              <a:rPr lang="zh-CN" altLang="en-US" sz="2800" dirty="0"/>
              <a:t>分别求出 </a:t>
            </a:r>
            <a:r>
              <a:rPr lang="en-US" altLang="zh-CN" sz="2800" dirty="0" err="1"/>
              <a:t>x+y</a:t>
            </a:r>
            <a:r>
              <a:rPr lang="en-US" altLang="zh-CN" sz="2800" dirty="0"/>
              <a:t>,   x-y,   x*y,   x/y</a:t>
            </a:r>
            <a:r>
              <a:rPr lang="zh-CN" altLang="en-US" sz="2800" dirty="0"/>
              <a:t>的误差限。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063552" y="2313406"/>
                <a:ext cx="7709483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/>
                  <a:t>解：由题知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altLang="zh-CN" sz="2800" dirty="0"/>
              </a:p>
              <a:p>
                <a:r>
                  <a:rPr lang="en-US" altLang="zh-CN" sz="2800" dirty="0"/>
                  <a:t>    </a:t>
                </a:r>
                <a:r>
                  <a:rPr lang="zh-CN" altLang="en-US" sz="2800" dirty="0"/>
                  <a:t>故</a:t>
                </a:r>
                <a:r>
                  <a:rPr lang="en-US" altLang="zh-CN" sz="2800" dirty="0"/>
                  <a:t>: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2313406"/>
                <a:ext cx="7709483" cy="954107"/>
              </a:xfrm>
              <a:prstGeom prst="rect">
                <a:avLst/>
              </a:prstGeom>
              <a:blipFill>
                <a:blip r:embed="rId2"/>
                <a:stretch>
                  <a:fillRect l="-1661" t="-8280" b="-17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376029" y="3321518"/>
                <a:ext cx="62032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+|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)|≤1×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029" y="3321518"/>
                <a:ext cx="620323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646321" y="4113606"/>
                <a:ext cx="6692986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4.26+0.14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2.2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321" y="4113606"/>
                <a:ext cx="6692986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650646" y="5301208"/>
                <a:ext cx="7028783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≤(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4.26+0.14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0.14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≈1.12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646" y="5301208"/>
                <a:ext cx="7028783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98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5C2CEDC-42B8-48E9-AA6B-0EA004A971F4}"/>
              </a:ext>
            </a:extLst>
          </p:cNvPr>
          <p:cNvSpPr txBox="1">
            <a:spLocks/>
          </p:cNvSpPr>
          <p:nvPr/>
        </p:nvSpPr>
        <p:spPr>
          <a:xfrm>
            <a:off x="623392" y="1700808"/>
            <a:ext cx="10945215" cy="53234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CN" altLang="en-US" dirty="0"/>
              <a:t>练习</a:t>
            </a:r>
            <a:r>
              <a:rPr kumimoji="0" lang="en-US" altLang="zh-CN" dirty="0"/>
              <a:t>3</a:t>
            </a:r>
            <a:r>
              <a:rPr kumimoji="0" lang="zh-CN" altLang="en-US" dirty="0"/>
              <a:t>：假定运算中数据都精确到两位小数，试求</a:t>
            </a:r>
            <a:r>
              <a:rPr kumimoji="0" lang="en-US" altLang="zh-CN" dirty="0"/>
              <a:t>x=1.21*3.65-9.81</a:t>
            </a:r>
            <a:r>
              <a:rPr kumimoji="0" lang="zh-CN" altLang="en-US" dirty="0"/>
              <a:t>的误差限，并计算结果的有效数字位数。</a:t>
            </a:r>
            <a:endParaRPr kumimoji="0" lang="en-US" altLang="zh-CN" dirty="0"/>
          </a:p>
          <a:p>
            <a:endParaRPr kumimoji="0" lang="en-US" altLang="zh-CN" dirty="0"/>
          </a:p>
          <a:p>
            <a:endParaRPr kumimoji="0" lang="en-US" altLang="zh-CN" dirty="0"/>
          </a:p>
          <a:p>
            <a:endParaRPr kumimoji="0"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97C029-D15F-4CCA-A2E7-C6CBBD88E355}"/>
              </a:ext>
            </a:extLst>
          </p:cNvPr>
          <p:cNvSpPr txBox="1"/>
          <p:nvPr/>
        </p:nvSpPr>
        <p:spPr>
          <a:xfrm>
            <a:off x="695400" y="836712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课堂练习：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AB45E61-A053-4075-A3B9-F62434C6E277}"/>
                  </a:ext>
                </a:extLst>
              </p:cNvPr>
              <p:cNvSpPr txBox="1"/>
              <p:nvPr/>
            </p:nvSpPr>
            <p:spPr>
              <a:xfrm>
                <a:off x="964108" y="2787162"/>
                <a:ext cx="5167218" cy="266515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1.21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3.65−9.81</m:t>
                        </m:r>
                      </m:e>
                    </m:d>
                  </m:oMath>
                </a14:m>
                <a:r>
                  <a:rPr lang="en-US" altLang="zh-CN" sz="22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1.21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3.65</m:t>
                        </m:r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9.81</m:t>
                        </m:r>
                      </m:e>
                    </m:d>
                  </m:oMath>
                </a14:m>
                <a:r>
                  <a:rPr lang="en-US" altLang="zh-CN" sz="22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=3.65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1.21</m:t>
                        </m:r>
                      </m:e>
                    </m:d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+1.21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3.65</m:t>
                        </m:r>
                      </m:e>
                    </m:d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9.81</m:t>
                        </m:r>
                      </m:e>
                    </m:d>
                  </m:oMath>
                </a14:m>
                <a:r>
                  <a:rPr lang="en-US" altLang="zh-CN" sz="2200" b="0" i="0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3.65+1.21+1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l-GR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l-GR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l-GR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l-GR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</m:t>
                      </m:r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=2.93</m:t>
                    </m:r>
                    <m: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=0.293</m:t>
                    </m:r>
                    <m: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sz="2200" b="0" dirty="0"/>
                  <a:t> </a:t>
                </a:r>
                <a:r>
                  <a:rPr lang="en-US" altLang="zh-CN" sz="2200" dirty="0"/>
                  <a:t>&lt;0.5</a:t>
                </a:r>
                <a14:m>
                  <m:oMath xmlns:m="http://schemas.openxmlformats.org/officeDocument/2006/math">
                    <m:r>
                      <a:rPr lang="el-GR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200" dirty="0"/>
                  <a:t>                           </a:t>
                </a:r>
                <a:r>
                  <a:rPr lang="en-US" altLang="zh-CN" sz="2200" b="0" dirty="0"/>
                  <a:t>       </a:t>
                </a:r>
              </a:p>
              <a:p>
                <a:endParaRPr lang="zh-CN" altLang="en-US" sz="2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AB45E61-A053-4075-A3B9-F62434C6E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08" y="2787162"/>
                <a:ext cx="5167218" cy="2665153"/>
              </a:xfrm>
              <a:prstGeom prst="rect">
                <a:avLst/>
              </a:prstGeom>
              <a:blipFill>
                <a:blip r:embed="rId2"/>
                <a:stretch>
                  <a:fillRect l="-117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59D787C-5103-4414-90DA-3F7A5709FF9D}"/>
                  </a:ext>
                </a:extLst>
              </p:cNvPr>
              <p:cNvSpPr/>
              <p:nvPr/>
            </p:nvSpPr>
            <p:spPr>
              <a:xfrm>
                <a:off x="7235723" y="2923178"/>
                <a:ext cx="3161186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1.21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3.65−9.81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=-5.3935</a:t>
                </a:r>
              </a:p>
              <a:p>
                <a:r>
                  <a:rPr lang="en-US" altLang="zh-CN" dirty="0"/>
                  <a:t>=-0.53935</a:t>
                </a:r>
                <a:r>
                  <a:rPr lang="el-GR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/>
                  <a:t>10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59D787C-5103-4414-90DA-3F7A5709F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23" y="2923178"/>
                <a:ext cx="3161186" cy="1200329"/>
              </a:xfrm>
              <a:prstGeom prst="rect">
                <a:avLst/>
              </a:prstGeom>
              <a:blipFill>
                <a:blip r:embed="rId3"/>
                <a:stretch>
                  <a:fillRect l="-3083" b="-1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AC630D-26E6-48DB-892C-A78FEE8B3151}"/>
                  </a:ext>
                </a:extLst>
              </p:cNvPr>
              <p:cNvSpPr txBox="1"/>
              <p:nvPr/>
            </p:nvSpPr>
            <p:spPr>
              <a:xfrm>
                <a:off x="7250645" y="4488390"/>
                <a:ext cx="2367636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CN" sz="2400" b="0" dirty="0"/>
              </a:p>
              <a:p>
                <a:r>
                  <a:rPr lang="zh-CN" altLang="en-US" sz="2400" b="1" dirty="0"/>
                  <a:t>有效数字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m-k=2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9AC630D-26E6-48DB-892C-A78FEE8B3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645" y="4488390"/>
                <a:ext cx="2367636" cy="738664"/>
              </a:xfrm>
              <a:prstGeom prst="rect">
                <a:avLst/>
              </a:prstGeom>
              <a:blipFill>
                <a:blip r:embed="rId4"/>
                <a:stretch>
                  <a:fillRect l="-7712" r="-7198" b="-256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F64830C-C4E9-410B-89F0-72A75582032D}"/>
                  </a:ext>
                </a:extLst>
              </p:cNvPr>
              <p:cNvSpPr/>
              <p:nvPr/>
            </p:nvSpPr>
            <p:spPr>
              <a:xfrm>
                <a:off x="964108" y="5562358"/>
                <a:ext cx="27392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/>
                  <a:t>误差限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0.5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F64830C-C4E9-410B-89F0-72A7558203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08" y="5562358"/>
                <a:ext cx="2739276" cy="461665"/>
              </a:xfrm>
              <a:prstGeom prst="rect">
                <a:avLst/>
              </a:prstGeom>
              <a:blipFill>
                <a:blip r:embed="rId5"/>
                <a:stretch>
                  <a:fillRect l="-3333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0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43472" y="692696"/>
                <a:ext cx="914501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例：设</a:t>
                </a:r>
                <a:r>
                  <a:rPr lang="en-US" altLang="zh-CN" sz="2800" dirty="0"/>
                  <a:t>x&gt;0,</a:t>
                </a:r>
                <a:r>
                  <a:rPr lang="zh-CN" altLang="en-US" sz="2800" dirty="0"/>
                  <a:t>试导出计算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zh-CN" altLang="en-US" sz="28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dirty="0"/>
                  <a:t>相对误差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与</a:t>
                </a:r>
                <a:r>
                  <a:rPr lang="en-US" altLang="zh-CN" sz="2800" dirty="0"/>
                  <a:t>x</a:t>
                </a:r>
                <a:r>
                  <a:rPr lang="zh-CN" altLang="en-US" sz="2800" dirty="0"/>
                  <a:t>的相对误差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的近似关系</a:t>
                </a:r>
                <a:r>
                  <a:rPr lang="en-US" altLang="zh-CN" sz="2800" dirty="0"/>
                  <a:t>(</a:t>
                </a:r>
                <a:r>
                  <a:rPr lang="zh-CN" altLang="en-US" sz="2800" dirty="0"/>
                  <a:t>提示：误差四则运算</a:t>
                </a:r>
                <a:r>
                  <a:rPr lang="en-US" altLang="zh-CN" sz="2800" dirty="0"/>
                  <a:t>)</a:t>
                </a:r>
                <a:r>
                  <a:rPr lang="zh-CN" altLang="en-US" sz="2800" dirty="0"/>
                  <a:t>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692696"/>
                <a:ext cx="9145016" cy="1384995"/>
              </a:xfrm>
              <a:prstGeom prst="rect">
                <a:avLst/>
              </a:prstGeom>
              <a:blipFill>
                <a:blip r:embed="rId2"/>
                <a:stretch>
                  <a:fillRect l="-1332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775520" y="2492896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解：根据相对误差的乘法公式得：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100130" y="3406443"/>
                <a:ext cx="24767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e>
                      </m:d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&lt;=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130" y="3406443"/>
                <a:ext cx="2476704" cy="369332"/>
              </a:xfrm>
              <a:prstGeom prst="rect">
                <a:avLst/>
              </a:prstGeom>
              <a:blipFill>
                <a:blip r:embed="rId3"/>
                <a:stretch>
                  <a:fillRect l="-1232" r="-3695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3287688" y="4293096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故两者近似于</a:t>
            </a:r>
            <a:r>
              <a:rPr lang="en-US" altLang="zh-CN" dirty="0"/>
              <a:t>n</a:t>
            </a:r>
            <a:r>
              <a:rPr lang="zh-CN" altLang="en-US" dirty="0"/>
              <a:t>倍数关系。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968457" y="5553527"/>
                <a:ext cx="6740050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比如：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相对误差约等于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的相对误差的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倍。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457" y="5553527"/>
                <a:ext cx="6740050" cy="465833"/>
              </a:xfrm>
              <a:prstGeom prst="rect">
                <a:avLst/>
              </a:prstGeom>
              <a:blipFill>
                <a:blip r:embed="rId4"/>
                <a:stretch>
                  <a:fillRect l="-1447" t="-14474" r="-27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85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410EC7F-A4DA-4365-B69B-C2EACFDB966F}"/>
                  </a:ext>
                </a:extLst>
              </p:cNvPr>
              <p:cNvSpPr txBox="1"/>
              <p:nvPr/>
            </p:nvSpPr>
            <p:spPr>
              <a:xfrm>
                <a:off x="1631504" y="617067"/>
                <a:ext cx="8640960" cy="4598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800" dirty="0">
                    <a:solidFill>
                      <a:srgbClr val="002060"/>
                    </a:solidFill>
                  </a:rPr>
                  <a:t>例：</a:t>
                </a:r>
                <a:endParaRPr lang="en-US" altLang="zh-C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dirty="0"/>
                  <a:t>有计算公式如下：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ea"/>
                  <a:buAutoNum type="circleNumDbPlain"/>
                </a:pPr>
                <a:r>
                  <a:rPr lang="zh-CN" altLang="en-US" dirty="0"/>
                  <a:t>若只考虑观测误差，已知当</a:t>
                </a:r>
                <a:r>
                  <a:rPr lang="en-US" altLang="zh-CN" dirty="0"/>
                  <a:t>n=0</a:t>
                </a:r>
                <a:r>
                  <a:rPr lang="zh-CN" altLang="en-US" dirty="0"/>
                  <a:t>时观测误差为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/>
                  <a:t>的累积误差。</a:t>
                </a:r>
                <a:endParaRPr lang="en-US" altLang="zh-CN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ea"/>
                  <a:buAutoNum type="circleNumDbPlain"/>
                </a:pPr>
                <a:endParaRPr lang="en-US" altLang="zh-CN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ea"/>
                  <a:buAutoNum type="circleNumDbPlain"/>
                </a:pPr>
                <a:r>
                  <a:rPr lang="zh-CN" altLang="en-US" dirty="0"/>
                  <a:t>若除了上述的观测误差外，在迭代过程中还存在舍入误差，假设精确到小数点后五位，求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/>
                  <a:t>的累积误差。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410EC7F-A4DA-4365-B69B-C2EACFDB9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617067"/>
                <a:ext cx="8640960" cy="4598759"/>
              </a:xfrm>
              <a:prstGeom prst="rect">
                <a:avLst/>
              </a:prstGeom>
              <a:blipFill>
                <a:blip r:embed="rId2"/>
                <a:stretch>
                  <a:fillRect l="-1482" r="-706" b="-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437759C-6A5B-49C4-A01A-585AD73C7645}"/>
                  </a:ext>
                </a:extLst>
              </p:cNvPr>
              <p:cNvSpPr txBox="1"/>
              <p:nvPr/>
            </p:nvSpPr>
            <p:spPr>
              <a:xfrm>
                <a:off x="4643126" y="3068960"/>
                <a:ext cx="145802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l-GR" altLang="zh-CN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437759C-6A5B-49C4-A01A-585AD73C7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26" y="3068960"/>
                <a:ext cx="1458028" cy="9020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50579F6-E1F7-4B7E-8661-E638BEA9E460}"/>
                  </a:ext>
                </a:extLst>
              </p:cNvPr>
              <p:cNvSpPr txBox="1"/>
              <p:nvPr/>
            </p:nvSpPr>
            <p:spPr>
              <a:xfrm>
                <a:off x="3863752" y="5295732"/>
                <a:ext cx="37374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l-GR" altLang="zh-CN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50579F6-E1F7-4B7E-8661-E638BEA9E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5295732"/>
                <a:ext cx="3737498" cy="9020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4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1"/>
          <p:cNvSpPr txBox="1">
            <a:spLocks/>
          </p:cNvSpPr>
          <p:nvPr/>
        </p:nvSpPr>
        <p:spPr>
          <a:xfrm>
            <a:off x="741363" y="620713"/>
            <a:ext cx="8066087" cy="54006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sz="2800" kern="0" dirty="0"/>
              <a:t>回顾：</a:t>
            </a:r>
            <a:r>
              <a:rPr lang="en-US" altLang="zh-CN" sz="2800" kern="0" dirty="0"/>
              <a:t>Taylor</a:t>
            </a:r>
            <a:r>
              <a:rPr lang="zh-CN" altLang="en-US" sz="2800" kern="0" dirty="0"/>
              <a:t>级数</a:t>
            </a:r>
            <a:endParaRPr lang="en-US" altLang="zh-CN" sz="2800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kern="0" dirty="0"/>
              <a:t>一元泰勒展开式：</a:t>
            </a:r>
            <a:endParaRPr lang="en-US" altLang="zh-CN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kern="0" dirty="0"/>
              <a:t>多元泰勒展开式：</a:t>
            </a:r>
            <a:endParaRPr lang="en-US" altLang="zh-CN" kern="0" dirty="0"/>
          </a:p>
          <a:p>
            <a:pPr>
              <a:defRPr/>
            </a:pPr>
            <a:endParaRPr lang="en-US" altLang="zh-CN" kern="0" dirty="0"/>
          </a:p>
          <a:p>
            <a:pPr>
              <a:defRPr/>
            </a:pPr>
            <a:endParaRPr lang="zh-CN" altLang="en-US" kern="0" dirty="0"/>
          </a:p>
        </p:txBody>
      </p:sp>
      <p:pic>
        <p:nvPicPr>
          <p:cNvPr id="11" name="Picture 12" descr="https://bkimg.cdn.bcebos.com/pic/728da9773912b31b8649301f8d18367adab4e1d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3" y="1255713"/>
            <a:ext cx="58166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68" name="组合 5"/>
          <p:cNvGrpSpPr>
            <a:grpSpLocks/>
          </p:cNvGrpSpPr>
          <p:nvPr/>
        </p:nvGrpSpPr>
        <p:grpSpPr bwMode="auto">
          <a:xfrm>
            <a:off x="720725" y="4310063"/>
            <a:ext cx="8658225" cy="1093787"/>
            <a:chOff x="446345" y="4636962"/>
            <a:chExt cx="8657070" cy="1093287"/>
          </a:xfrm>
        </p:grpSpPr>
        <p:pic>
          <p:nvPicPr>
            <p:cNvPr id="36874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791"/>
            <a:stretch>
              <a:fillRect/>
            </a:stretch>
          </p:blipFill>
          <p:spPr bwMode="auto">
            <a:xfrm>
              <a:off x="446345" y="4636962"/>
              <a:ext cx="8657070" cy="1093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5" name="矩形 2"/>
            <p:cNvSpPr>
              <a:spLocks noChangeArrowheads="1"/>
            </p:cNvSpPr>
            <p:nvPr/>
          </p:nvSpPr>
          <p:spPr bwMode="auto">
            <a:xfrm>
              <a:off x="6023992" y="5331240"/>
              <a:ext cx="1224136" cy="3990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6869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75"/>
          <a:stretch>
            <a:fillRect/>
          </a:stretch>
        </p:blipFill>
        <p:spPr bwMode="auto">
          <a:xfrm>
            <a:off x="1847850" y="2624138"/>
            <a:ext cx="8656638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0" name="组合 6"/>
          <p:cNvGrpSpPr>
            <a:grpSpLocks/>
          </p:cNvGrpSpPr>
          <p:nvPr/>
        </p:nvGrpSpPr>
        <p:grpSpPr bwMode="auto">
          <a:xfrm>
            <a:off x="2640013" y="5372100"/>
            <a:ext cx="8662987" cy="1181100"/>
            <a:chOff x="2359737" y="5686158"/>
            <a:chExt cx="8663553" cy="1181202"/>
          </a:xfrm>
        </p:grpSpPr>
        <p:pic>
          <p:nvPicPr>
            <p:cNvPr id="36871" name="图片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832" y="5686158"/>
              <a:ext cx="6439458" cy="1181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2" name="矩形 23"/>
            <p:cNvSpPr>
              <a:spLocks noChangeArrowheads="1"/>
            </p:cNvSpPr>
            <p:nvPr/>
          </p:nvSpPr>
          <p:spPr bwMode="auto">
            <a:xfrm>
              <a:off x="9181972" y="6400750"/>
              <a:ext cx="1594547" cy="3990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3" name="文本框 4"/>
            <p:cNvSpPr txBox="1">
              <a:spLocks noChangeArrowheads="1"/>
            </p:cNvSpPr>
            <p:nvPr/>
          </p:nvSpPr>
          <p:spPr bwMode="auto">
            <a:xfrm>
              <a:off x="2359737" y="5881838"/>
              <a:ext cx="164981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 b="1">
                  <a:latin typeface="Times New Roman" panose="02020603050405020304" pitchFamily="18" charset="0"/>
                  <a:ea typeface="宋体" panose="02010600030101010101" pitchFamily="2" charset="-122"/>
                </a:rPr>
                <a:t>+    ……</a:t>
              </a:r>
              <a:endPara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89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7"/>
          <p:cNvSpPr>
            <a:spLocks noChangeArrowheads="1"/>
          </p:cNvSpPr>
          <p:nvPr/>
        </p:nvSpPr>
        <p:spPr bwMode="auto">
          <a:xfrm>
            <a:off x="695325" y="476250"/>
            <a:ext cx="113411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函数的误差估计</a:t>
            </a:r>
            <a:r>
              <a:rPr lang="en-US" altLang="zh-CN" sz="3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       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可以用来分析观测和舍入误差对下一步的影响</a:t>
            </a:r>
            <a:r>
              <a:rPr lang="en-US" altLang="zh-CN" sz="3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32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27125" y="1554163"/>
            <a:ext cx="9432925" cy="12060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一元函数</a:t>
            </a:r>
            <a:r>
              <a:rPr lang="en-US" altLang="zh-CN" sz="2800" dirty="0">
                <a:latin typeface="宋体" panose="02010600030101010101" pitchFamily="2" charset="-122"/>
              </a:rPr>
              <a:t>y=f(x)</a:t>
            </a:r>
            <a:r>
              <a:rPr lang="zh-CN" altLang="en-US" sz="2800" dirty="0">
                <a:latin typeface="宋体" panose="02010600030101010101" pitchFamily="2" charset="-122"/>
              </a:rPr>
              <a:t>：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宋体" panose="02010600030101010101" pitchFamily="2" charset="-122"/>
              </a:rPr>
              <a:t>    设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*是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的近似值，则函数</a:t>
            </a:r>
            <a:r>
              <a:rPr lang="en-US" altLang="zh-CN" dirty="0">
                <a:latin typeface="宋体" panose="02010600030101010101" pitchFamily="2" charset="-122"/>
              </a:rPr>
              <a:t>y</a:t>
            </a:r>
            <a:r>
              <a:rPr lang="zh-CN" altLang="en-US" dirty="0">
                <a:latin typeface="宋体" panose="02010600030101010101" pitchFamily="2" charset="-122"/>
              </a:rPr>
              <a:t>的近似值</a:t>
            </a:r>
            <a:r>
              <a:rPr lang="en-US" altLang="zh-CN" dirty="0">
                <a:latin typeface="宋体" panose="02010600030101010101" pitchFamily="2" charset="-122"/>
              </a:rPr>
              <a:t>y</a:t>
            </a:r>
            <a:r>
              <a:rPr lang="zh-CN" altLang="en-US" dirty="0">
                <a:latin typeface="宋体" panose="02010600030101010101" pitchFamily="2" charset="-122"/>
              </a:rPr>
              <a:t>*</a:t>
            </a:r>
            <a:r>
              <a:rPr lang="en-US" altLang="zh-CN" dirty="0">
                <a:latin typeface="宋体" panose="02010600030101010101" pitchFamily="2" charset="-122"/>
              </a:rPr>
              <a:t>=f(x</a:t>
            </a:r>
            <a:r>
              <a:rPr lang="zh-CN" altLang="en-US" dirty="0">
                <a:latin typeface="宋体" panose="02010600030101010101" pitchFamily="2" charset="-122"/>
              </a:rPr>
              <a:t>*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7892" name="矩形 3"/>
          <p:cNvSpPr>
            <a:spLocks noChangeArrowheads="1"/>
          </p:cNvSpPr>
          <p:nvPr/>
        </p:nvSpPr>
        <p:spPr bwMode="auto">
          <a:xfrm>
            <a:off x="1487488" y="3340186"/>
            <a:ext cx="9432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*的误差与相对误差：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96"/>
          <a:stretch>
            <a:fillRect/>
          </a:stretch>
        </p:blipFill>
        <p:spPr bwMode="auto">
          <a:xfrm>
            <a:off x="2119635" y="4011613"/>
            <a:ext cx="72326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41639" y="5445224"/>
            <a:ext cx="8029017" cy="727122"/>
          </a:xfrm>
          <a:prstGeom prst="rect">
            <a:avLst/>
          </a:prstGeom>
          <a:blipFill>
            <a:blip r:embed="rId3"/>
            <a:stretch>
              <a:fillRect b="-75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" name="文本框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39816" y="4623521"/>
            <a:ext cx="2592288" cy="381258"/>
          </a:xfrm>
          <a:prstGeom prst="rect">
            <a:avLst/>
          </a:prstGeom>
          <a:blipFill>
            <a:blip r:embed="rId4"/>
            <a:stretch>
              <a:fillRect l="-3991" t="-23810" b="-4444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39616" y="2866122"/>
                <a:ext cx="72128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)+f’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+……(</a:t>
                </a:r>
                <a:r>
                  <a:rPr lang="en-US" altLang="zh-CN" dirty="0" err="1"/>
                  <a:t>taylor</a:t>
                </a:r>
                <a:r>
                  <a:rPr lang="zh-CN" altLang="en-US" dirty="0"/>
                  <a:t>展开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2866122"/>
                <a:ext cx="7212872" cy="369332"/>
              </a:xfrm>
              <a:prstGeom prst="rect">
                <a:avLst/>
              </a:prstGeom>
              <a:blipFill>
                <a:blip r:embed="rId5"/>
                <a:stretch>
                  <a:fillRect l="-1944" t="-29508" r="-1522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101B0BB2-879D-45C4-80C4-D92C38ACD578}"/>
              </a:ext>
            </a:extLst>
          </p:cNvPr>
          <p:cNvGrpSpPr/>
          <p:nvPr/>
        </p:nvGrpSpPr>
        <p:grpSpPr>
          <a:xfrm>
            <a:off x="4350178" y="572065"/>
            <a:ext cx="1323936" cy="372966"/>
            <a:chOff x="5159896" y="585429"/>
            <a:chExt cx="1323936" cy="372966"/>
          </a:xfrm>
        </p:grpSpPr>
        <p:sp>
          <p:nvSpPr>
            <p:cNvPr id="4" name="星形: 五角 3">
              <a:extLst>
                <a:ext uri="{FF2B5EF4-FFF2-40B4-BE49-F238E27FC236}">
                  <a16:creationId xmlns:a16="http://schemas.microsoft.com/office/drawing/2014/main" id="{40334565-710C-47E6-AA57-D293BB5C8EB7}"/>
                </a:ext>
              </a:extLst>
            </p:cNvPr>
            <p:cNvSpPr/>
            <p:nvPr/>
          </p:nvSpPr>
          <p:spPr>
            <a:xfrm>
              <a:off x="5159896" y="598355"/>
              <a:ext cx="432048" cy="36004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" name="星形: 五角 9">
              <a:extLst>
                <a:ext uri="{FF2B5EF4-FFF2-40B4-BE49-F238E27FC236}">
                  <a16:creationId xmlns:a16="http://schemas.microsoft.com/office/drawing/2014/main" id="{6D86A3D7-E6EF-4264-A013-45D32E3D889A}"/>
                </a:ext>
              </a:extLst>
            </p:cNvPr>
            <p:cNvSpPr/>
            <p:nvPr/>
          </p:nvSpPr>
          <p:spPr>
            <a:xfrm>
              <a:off x="5581948" y="585429"/>
              <a:ext cx="432048" cy="36004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" name="星形: 五角 10">
              <a:extLst>
                <a:ext uri="{FF2B5EF4-FFF2-40B4-BE49-F238E27FC236}">
                  <a16:creationId xmlns:a16="http://schemas.microsoft.com/office/drawing/2014/main" id="{13FA28DE-6431-47F6-A2C6-57C61615B71C}"/>
                </a:ext>
              </a:extLst>
            </p:cNvPr>
            <p:cNvSpPr/>
            <p:nvPr/>
          </p:nvSpPr>
          <p:spPr>
            <a:xfrm>
              <a:off x="6051784" y="592959"/>
              <a:ext cx="432048" cy="36004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177651B-7FE4-4690-96BB-D66D0156A891}"/>
              </a:ext>
            </a:extLst>
          </p:cNvPr>
          <p:cNvGrpSpPr/>
          <p:nvPr/>
        </p:nvGrpSpPr>
        <p:grpSpPr>
          <a:xfrm>
            <a:off x="6203950" y="4544899"/>
            <a:ext cx="2887453" cy="576263"/>
            <a:chOff x="6203950" y="4544899"/>
            <a:chExt cx="2887453" cy="5762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8BFDC3A-39B4-49CA-A23A-CA9A34E0F52D}"/>
                    </a:ext>
                  </a:extLst>
                </p:cNvPr>
                <p:cNvSpPr txBox="1"/>
                <p:nvPr/>
              </p:nvSpPr>
              <p:spPr>
                <a:xfrm>
                  <a:off x="8112224" y="4659497"/>
                  <a:ext cx="97917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8BFDC3A-39B4-49CA-A23A-CA9A34E0F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224" y="4659497"/>
                  <a:ext cx="979179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875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91D1EE-BA33-4888-9CC9-75821B71951C}"/>
                </a:ext>
              </a:extLst>
            </p:cNvPr>
            <p:cNvSpPr/>
            <p:nvPr/>
          </p:nvSpPr>
          <p:spPr>
            <a:xfrm>
              <a:off x="6203950" y="4544899"/>
              <a:ext cx="612130" cy="5762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CA74C15-D8F9-4043-8EEB-BCA1BA4217ED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7032104" y="4814150"/>
              <a:ext cx="936104" cy="643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61CA30-3757-4728-BF8E-465432570649}"/>
                  </a:ext>
                </a:extLst>
              </p:cNvPr>
              <p:cNvSpPr txBox="1"/>
              <p:nvPr/>
            </p:nvSpPr>
            <p:spPr>
              <a:xfrm>
                <a:off x="3325344" y="4640680"/>
                <a:ext cx="10315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61CA30-3757-4728-BF8E-46543257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344" y="4640680"/>
                <a:ext cx="1031564" cy="369332"/>
              </a:xfrm>
              <a:prstGeom prst="rect">
                <a:avLst/>
              </a:prstGeom>
              <a:blipFill>
                <a:blip r:embed="rId7"/>
                <a:stretch>
                  <a:fillRect l="-9412" t="-1639" r="-9412" b="-3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45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11" y="2797901"/>
            <a:ext cx="10613976" cy="7920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020" y="692696"/>
            <a:ext cx="8589959" cy="100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207568" y="1995258"/>
                <a:ext cx="6096669" cy="497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其误差来源于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故属于一元函数误差估计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995258"/>
                <a:ext cx="6096669" cy="497637"/>
              </a:xfrm>
              <a:prstGeom prst="rect">
                <a:avLst/>
              </a:prstGeom>
              <a:blipFill>
                <a:blip r:embed="rId4"/>
                <a:stretch>
                  <a:fillRect l="-1500" t="-7317" r="-600" b="-21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199456" y="3894995"/>
                <a:ext cx="957005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【</a:t>
                </a:r>
                <a:r>
                  <a:rPr lang="zh-CN" altLang="en-US" sz="2800" dirty="0"/>
                  <a:t>例</a:t>
                </a:r>
                <a:r>
                  <a:rPr lang="en-US" altLang="zh-CN" sz="2800" dirty="0"/>
                  <a:t>5】  </a:t>
                </a:r>
                <a:r>
                  <a:rPr lang="zh-CN" altLang="en-US" sz="2800" dirty="0"/>
                  <a:t>设</a:t>
                </a:r>
                <a:r>
                  <a:rPr lang="en-US" altLang="zh-CN" sz="2800" dirty="0"/>
                  <a:t>x&gt;0,</a:t>
                </a:r>
                <a:r>
                  <a:rPr lang="zh-CN" altLang="en-US" sz="2800" dirty="0"/>
                  <a:t>试计算函数</a:t>
                </a:r>
                <a:r>
                  <a:rPr lang="en-US" altLang="zh-CN" sz="2800" dirty="0" err="1"/>
                  <a:t>lnx</a:t>
                </a:r>
                <a:r>
                  <a:rPr lang="zh-CN" altLang="en-US" sz="2800" dirty="0"/>
                  <a:t>的误差，其中已知输入数据的相对误差为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2800" dirty="0"/>
                  <a:t>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3894995"/>
                <a:ext cx="9570055" cy="1384995"/>
              </a:xfrm>
              <a:prstGeom prst="rect">
                <a:avLst/>
              </a:prstGeom>
              <a:blipFill>
                <a:blip r:embed="rId5"/>
                <a:stretch>
                  <a:fillRect l="-1338" b="-4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85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43472" y="692696"/>
                <a:ext cx="9145016" cy="1303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【</a:t>
                </a:r>
                <a:r>
                  <a:rPr lang="zh-CN" altLang="en-US" sz="2800" dirty="0"/>
                  <a:t>例</a:t>
                </a:r>
                <a:r>
                  <a:rPr lang="en-US" altLang="zh-CN" sz="2800" dirty="0"/>
                  <a:t>6】</a:t>
                </a:r>
                <a:r>
                  <a:rPr lang="zh-CN" altLang="en-US" sz="2800" dirty="0"/>
                  <a:t>设</a:t>
                </a:r>
                <a:r>
                  <a:rPr lang="en-US" altLang="zh-CN" sz="2800" dirty="0"/>
                  <a:t>x&gt;0,</a:t>
                </a:r>
                <a:r>
                  <a:rPr lang="zh-CN" altLang="en-US" sz="2800" dirty="0"/>
                  <a:t>试导出计算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zh-CN" altLang="en-US" sz="28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dirty="0"/>
                  <a:t>相对误差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与</a:t>
                </a:r>
                <a:r>
                  <a:rPr lang="en-US" altLang="zh-CN" sz="2800" dirty="0"/>
                  <a:t>x</a:t>
                </a:r>
                <a:r>
                  <a:rPr lang="zh-CN" altLang="en-US" sz="2800" dirty="0"/>
                  <a:t>的相对误差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的近似关系。（使用误差估计公式）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692696"/>
                <a:ext cx="9145016" cy="1303177"/>
              </a:xfrm>
              <a:prstGeom prst="rect">
                <a:avLst/>
              </a:prstGeom>
              <a:blipFill>
                <a:blip r:embed="rId2"/>
                <a:stretch>
                  <a:fillRect l="-1332"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2195407" y="30326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586844" y="3382879"/>
                <a:ext cx="19102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844" y="3382879"/>
                <a:ext cx="191026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416" y="2043982"/>
            <a:ext cx="8029128" cy="731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3586844" y="4869160"/>
                <a:ext cx="6469596" cy="670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800" dirty="0"/>
                  <a:t>=n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844" y="4869160"/>
                <a:ext cx="6469596" cy="670889"/>
              </a:xfrm>
              <a:prstGeom prst="rect">
                <a:avLst/>
              </a:prstGeom>
              <a:blipFill>
                <a:blip r:embed="rId5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558244" y="4205636"/>
                <a:ext cx="254255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244" y="4205636"/>
                <a:ext cx="254255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12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83432" y="692696"/>
            <a:ext cx="9433048" cy="1391407"/>
          </a:xfrm>
          <a:prstGeom prst="rect">
            <a:avLst/>
          </a:prstGeom>
          <a:blipFill>
            <a:blip r:embed="rId2"/>
            <a:stretch>
              <a:fillRect l="-1163" t="-4825" b="-745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71464" y="2276872"/>
            <a:ext cx="9145016" cy="830997"/>
          </a:xfrm>
          <a:prstGeom prst="rect">
            <a:avLst/>
          </a:prstGeom>
          <a:blipFill>
            <a:blip r:embed="rId3"/>
            <a:stretch>
              <a:fillRect l="-1067" t="-8088" b="-1397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38916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98"/>
          <a:stretch>
            <a:fillRect/>
          </a:stretch>
        </p:blipFill>
        <p:spPr bwMode="auto">
          <a:xfrm>
            <a:off x="2187575" y="3213100"/>
            <a:ext cx="70262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43672" y="4398205"/>
            <a:ext cx="9433048" cy="1117614"/>
          </a:xfrm>
          <a:prstGeom prst="rect">
            <a:avLst/>
          </a:prstGeom>
          <a:blipFill>
            <a:blip r:embed="rId5"/>
            <a:stretch>
              <a:fillRect t="-54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pic>
        <p:nvPicPr>
          <p:cNvPr id="38918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62"/>
          <a:stretch>
            <a:fillRect/>
          </a:stretch>
        </p:blipFill>
        <p:spPr bwMode="auto">
          <a:xfrm>
            <a:off x="2187575" y="5345113"/>
            <a:ext cx="70262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1092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983432" y="764704"/>
                <a:ext cx="10208244" cy="10877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0" dirty="0"/>
                  <a:t>【</a:t>
                </a:r>
                <a:r>
                  <a:rPr lang="zh-CN" altLang="en-US" sz="2800" b="0" dirty="0"/>
                  <a:t>例</a:t>
                </a:r>
                <a:r>
                  <a:rPr lang="en-US" altLang="zh-CN" sz="2800" b="0" dirty="0"/>
                  <a:t>7】. </a:t>
                </a:r>
                <a:r>
                  <a:rPr lang="zh-CN" altLang="en-US" sz="2800" b="0" dirty="0"/>
                  <a:t>已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0.32=0.314567,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0.34=0.33487,</m:t>
                    </m:r>
                  </m:oMath>
                </a14:m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        用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线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性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插值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公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式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求</m:t>
                    </m:r>
                  </m:oMath>
                </a14:m>
                <a:r>
                  <a:rPr lang="en-US" altLang="zh-CN" sz="2800" dirty="0"/>
                  <a:t>sin0.3367</a:t>
                </a:r>
                <a:r>
                  <a:rPr lang="zh-CN" altLang="en-US" sz="2800" dirty="0"/>
                  <a:t>的近似值，并分析其误差限。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764704"/>
                <a:ext cx="10208244" cy="1087734"/>
              </a:xfrm>
              <a:prstGeom prst="rect">
                <a:avLst/>
              </a:prstGeom>
              <a:blipFill>
                <a:blip r:embed="rId2"/>
                <a:stretch>
                  <a:fillRect l="-1194" t="-7263" b="-150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236" y="2132856"/>
            <a:ext cx="7259987" cy="14401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19536" y="4077072"/>
            <a:ext cx="8097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提示：误差来源于观测误差，有误差的值为</a:t>
            </a:r>
            <a:r>
              <a:rPr lang="en-US" altLang="zh-CN" dirty="0">
                <a:solidFill>
                  <a:srgbClr val="7030A0"/>
                </a:solidFill>
              </a:rPr>
              <a:t>y0</a:t>
            </a:r>
            <a:r>
              <a:rPr lang="zh-CN" altLang="en-US" dirty="0">
                <a:solidFill>
                  <a:srgbClr val="7030A0"/>
                </a:solidFill>
              </a:rPr>
              <a:t>和</a:t>
            </a:r>
            <a:r>
              <a:rPr lang="en-US" altLang="zh-CN" dirty="0">
                <a:solidFill>
                  <a:srgbClr val="7030A0"/>
                </a:solidFill>
              </a:rPr>
              <a:t>y1</a:t>
            </a:r>
            <a:r>
              <a:rPr lang="zh-CN" altLang="en-US" dirty="0">
                <a:solidFill>
                  <a:srgbClr val="7030A0"/>
                </a:solidFill>
              </a:rPr>
              <a:t>，其最终的误差也来源于这两个值。</a:t>
            </a:r>
            <a:endParaRPr lang="en-US" altLang="zh-CN" dirty="0">
              <a:solidFill>
                <a:srgbClr val="7030A0"/>
              </a:solidFill>
            </a:endParaRPr>
          </a:p>
          <a:p>
            <a:r>
              <a:rPr lang="zh-CN" altLang="en-US" dirty="0">
                <a:solidFill>
                  <a:srgbClr val="7030A0"/>
                </a:solidFill>
              </a:rPr>
              <a:t>故属于多元函数误差估计。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98166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合 8"/>
          <p:cNvGrpSpPr>
            <a:grpSpLocks/>
          </p:cNvGrpSpPr>
          <p:nvPr/>
        </p:nvGrpSpPr>
        <p:grpSpPr bwMode="auto">
          <a:xfrm>
            <a:off x="1524000" y="404813"/>
            <a:ext cx="9144000" cy="1901825"/>
            <a:chOff x="0" y="404813"/>
            <a:chExt cx="9144000" cy="1901825"/>
          </a:xfrm>
        </p:grpSpPr>
        <p:sp>
          <p:nvSpPr>
            <p:cNvPr id="31751" name="Rectangle 2"/>
            <p:cNvSpPr txBox="1">
              <a:spLocks noChangeArrowheads="1"/>
            </p:cNvSpPr>
            <p:nvPr/>
          </p:nvSpPr>
          <p:spPr bwMode="auto">
            <a:xfrm>
              <a:off x="323850" y="404813"/>
              <a:ext cx="64008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§1.5  </a:t>
              </a:r>
              <a:r>
                <a:rPr lang="zh-CN" altLang="en-US" b="1" dirty="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数值计算中的若干原则</a:t>
              </a:r>
            </a:p>
          </p:txBody>
        </p:sp>
        <p:sp>
          <p:nvSpPr>
            <p:cNvPr id="31752" name="Text Box 3"/>
            <p:cNvSpPr txBox="1">
              <a:spLocks noChangeArrowheads="1"/>
            </p:cNvSpPr>
            <p:nvPr/>
          </p:nvSpPr>
          <p:spPr bwMode="auto">
            <a:xfrm>
              <a:off x="0" y="1173163"/>
              <a:ext cx="9144000" cy="476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为了减少舍入误差的影响，设计算法时，应遵循如下一些原则：</a:t>
              </a:r>
            </a:p>
          </p:txBody>
        </p:sp>
        <p:sp>
          <p:nvSpPr>
            <p:cNvPr id="31753" name="Text Box 4"/>
            <p:cNvSpPr txBox="1">
              <a:spLocks noChangeArrowheads="1"/>
            </p:cNvSpPr>
            <p:nvPr/>
          </p:nvSpPr>
          <p:spPr bwMode="auto">
            <a:xfrm>
              <a:off x="179388" y="1844675"/>
              <a:ext cx="54006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1.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避免两个相近的数相减。</a:t>
              </a:r>
            </a:p>
          </p:txBody>
        </p:sp>
      </p:grpSp>
      <p:sp>
        <p:nvSpPr>
          <p:cNvPr id="11" name="Text Box 16">
            <a:extLst>
              <a:ext uri="{FF2B5EF4-FFF2-40B4-BE49-F238E27FC236}">
                <a16:creationId xmlns:a16="http://schemas.microsoft.com/office/drawing/2014/main" id="{BC55B7B1-8D4F-47E9-A6A2-955928818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68" y="2658914"/>
            <a:ext cx="8592113" cy="4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2.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防止大数“吃掉”小数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BE0938CD-F2EE-4B61-B8DD-609F1FDC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546721"/>
            <a:ext cx="885666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避免数量级相差很大的数相除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421509-43B8-48BA-947B-B64D57E7741B}"/>
              </a:ext>
            </a:extLst>
          </p:cNvPr>
          <p:cNvSpPr/>
          <p:nvPr/>
        </p:nvSpPr>
        <p:spPr>
          <a:xfrm>
            <a:off x="2000250" y="414466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简化计算，减少误差积累</a:t>
            </a:r>
          </a:p>
        </p:txBody>
      </p:sp>
    </p:spTree>
    <p:extLst>
      <p:ext uri="{BB962C8B-B14F-4D97-AF65-F5344CB8AC3E}">
        <p14:creationId xmlns:p14="http://schemas.microsoft.com/office/powerpoint/2010/main" val="473094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Text Box 4"/>
          <p:cNvSpPr txBox="1">
            <a:spLocks noChangeArrowheads="1"/>
          </p:cNvSpPr>
          <p:nvPr/>
        </p:nvSpPr>
        <p:spPr bwMode="auto">
          <a:xfrm>
            <a:off x="1271464" y="553085"/>
            <a:ext cx="540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避免两个相近的数相减。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986009" y="1556792"/>
                <a:ext cx="50054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7030A0"/>
                    </a:solidFill>
                  </a:rPr>
                  <a:t>例</a:t>
                </a:r>
                <a:r>
                  <a:rPr lang="zh-CN" altLang="en-US" dirty="0"/>
                  <a:t>：分别计算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i="1" baseline="30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func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en-US" altLang="zh-CN" i="1" baseline="30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09" y="1556792"/>
                <a:ext cx="5005409" cy="461665"/>
              </a:xfrm>
              <a:prstGeom prst="rect">
                <a:avLst/>
              </a:prstGeom>
              <a:blipFill>
                <a:blip r:embed="rId3"/>
                <a:stretch>
                  <a:fillRect l="-1949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986009" y="2276723"/>
                <a:ext cx="23607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≈0.99985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09" y="2276723"/>
                <a:ext cx="2360711" cy="369332"/>
              </a:xfrm>
              <a:prstGeom prst="rect">
                <a:avLst/>
              </a:prstGeom>
              <a:blipFill>
                <a:blip r:embed="rId4"/>
                <a:stretch>
                  <a:fillRect l="-1292" r="-2842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986009" y="2866176"/>
                <a:ext cx="28897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≈0.0087265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09" y="2866176"/>
                <a:ext cx="2889702" cy="369332"/>
              </a:xfrm>
              <a:prstGeom prst="rect">
                <a:avLst/>
              </a:prstGeom>
              <a:blipFill>
                <a:blip r:embed="rId5"/>
                <a:stretch>
                  <a:fillRect l="-1688" r="-2110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986009" y="3573016"/>
                <a:ext cx="390517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1−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=0.00015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en-US" altLang="zh-CN" i="1" baseline="300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func>
                  </m:oMath>
                </a14:m>
                <a:r>
                  <a:rPr lang="en-US" altLang="zh-CN" dirty="0"/>
                  <a:t>=0.0001523036045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09" y="3573016"/>
                <a:ext cx="3905172" cy="830997"/>
              </a:xfrm>
              <a:prstGeom prst="rect">
                <a:avLst/>
              </a:prstGeom>
              <a:blipFill>
                <a:blip r:embed="rId6"/>
                <a:stretch>
                  <a:fillRect l="-469" r="-1563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6594521" y="2266011"/>
                <a:ext cx="4248472" cy="156966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倍角公式：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 =2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altLang="zh-CN" dirty="0"/>
                  <a:t>-1</a:t>
                </a:r>
              </a:p>
              <a:p>
                <a:r>
                  <a:rPr lang="en-US" altLang="zh-CN" dirty="0"/>
                  <a:t>            =1-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21" y="2266011"/>
                <a:ext cx="4248472" cy="1569660"/>
              </a:xfrm>
              <a:prstGeom prst="rect">
                <a:avLst/>
              </a:prstGeom>
              <a:blipFill>
                <a:blip r:embed="rId7"/>
                <a:stretch>
                  <a:fillRect l="-2146" t="-3861" b="-772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27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1949688" y="1298962"/>
            <a:ext cx="89646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证明：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如果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的近似值分别为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，则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2135560" y="2689126"/>
            <a:ext cx="6732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的近似值。此时，相对误差满足估计式</a:t>
            </a:r>
            <a:r>
              <a:rPr lang="zh-CN" altLang="en-US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9" name="Object 35"/>
              <p:cNvSpPr txBox="1"/>
              <p:nvPr/>
            </p:nvSpPr>
            <p:spPr bwMode="auto">
              <a:xfrm>
                <a:off x="2654673" y="3206651"/>
                <a:ext cx="6761162" cy="11525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174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673" y="3206651"/>
                <a:ext cx="6761162" cy="1152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0" name="Text Box 8"/>
          <p:cNvSpPr txBox="1">
            <a:spLocks noChangeArrowheads="1"/>
          </p:cNvSpPr>
          <p:nvPr/>
        </p:nvSpPr>
        <p:spPr bwMode="auto">
          <a:xfrm>
            <a:off x="1919660" y="4646513"/>
            <a:ext cx="7524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可见，当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与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很接近时，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的相对误差有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可能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很大。</a:t>
            </a:r>
            <a:r>
              <a:rPr lang="zh-CN" altLang="en-US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9696400" y="2852936"/>
            <a:ext cx="2339102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515151"/>
                </a:solidFill>
                <a:latin typeface="PingFangSC-Regular"/>
              </a:rPr>
              <a:t>|a-b|≤|a|+|b|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3558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Text Box 4"/>
          <p:cNvSpPr txBox="1">
            <a:spLocks noChangeArrowheads="1"/>
          </p:cNvSpPr>
          <p:nvPr/>
        </p:nvSpPr>
        <p:spPr bwMode="auto">
          <a:xfrm>
            <a:off x="1271464" y="553085"/>
            <a:ext cx="540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避免两个相近的数相减。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F2ACE0D-CBE9-4995-938A-D0F81756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340768"/>
            <a:ext cx="9319738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12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Text Box 4"/>
          <p:cNvSpPr txBox="1">
            <a:spLocks noChangeArrowheads="1"/>
          </p:cNvSpPr>
          <p:nvPr/>
        </p:nvSpPr>
        <p:spPr bwMode="auto">
          <a:xfrm>
            <a:off x="1271464" y="553085"/>
            <a:ext cx="540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避免两个相近的数相减。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BC40DCA-93B8-437D-A088-1BB96EDE4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910" y="1651585"/>
            <a:ext cx="8444180" cy="4653330"/>
          </a:xfrm>
          <a:prstGeom prst="rect">
            <a:avLst/>
          </a:prstGeom>
        </p:spPr>
      </p:pic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0054D102-4159-45C9-9845-B7FA35E615C7}"/>
              </a:ext>
            </a:extLst>
          </p:cNvPr>
          <p:cNvSpPr/>
          <p:nvPr/>
        </p:nvSpPr>
        <p:spPr>
          <a:xfrm>
            <a:off x="6655309" y="97788"/>
            <a:ext cx="4265227" cy="1080120"/>
          </a:xfrm>
          <a:prstGeom prst="cloudCallout">
            <a:avLst>
              <a:gd name="adj1" fmla="val -31349"/>
              <a:gd name="adj2" fmla="val 8017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</a:rPr>
              <a:t>算法的选择很重要</a:t>
            </a:r>
          </a:p>
        </p:txBody>
      </p:sp>
    </p:spTree>
    <p:extLst>
      <p:ext uri="{BB962C8B-B14F-4D97-AF65-F5344CB8AC3E}">
        <p14:creationId xmlns:p14="http://schemas.microsoft.com/office/powerpoint/2010/main" val="374703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Text Box 9"/>
          <p:cNvSpPr txBox="1">
            <a:spLocks noChangeArrowheads="1"/>
          </p:cNvSpPr>
          <p:nvPr/>
        </p:nvSpPr>
        <p:spPr bwMode="auto">
          <a:xfrm>
            <a:off x="1703512" y="207963"/>
            <a:ext cx="7993062" cy="113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在数值计算中，如果遇到两个相近的数相减运算，</a:t>
            </a:r>
            <a:r>
              <a:rPr lang="zh-CN" altLang="en-US" sz="2400" b="1" dirty="0">
                <a:solidFill>
                  <a:srgbClr val="FF0000"/>
                </a:solidFill>
              </a:rPr>
              <a:t>通过恒等变换，避免相近的数相减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b="1" baseline="30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5847" name="Text Box 11"/>
          <p:cNvSpPr txBox="1">
            <a:spLocks noChangeArrowheads="1"/>
          </p:cNvSpPr>
          <p:nvPr/>
        </p:nvSpPr>
        <p:spPr bwMode="auto">
          <a:xfrm>
            <a:off x="1847975" y="1576711"/>
            <a:ext cx="1143000" cy="46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zh-CN" altLang="en-US" sz="2400" baseline="30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8" name="Object 40"/>
              <p:cNvSpPr txBox="1"/>
              <p:nvPr/>
            </p:nvSpPr>
            <p:spPr bwMode="auto">
              <a:xfrm>
                <a:off x="2921125" y="1365997"/>
                <a:ext cx="5557836" cy="1009889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时，有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5848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1125" y="1365997"/>
                <a:ext cx="5557836" cy="10098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9" name="Object 42"/>
              <p:cNvSpPr txBox="1"/>
              <p:nvPr/>
            </p:nvSpPr>
            <p:spPr bwMode="auto">
              <a:xfrm>
                <a:off x="2897741" y="2272528"/>
                <a:ext cx="4505324" cy="874919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5849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7741" y="2272528"/>
                <a:ext cx="4505324" cy="8749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0" name="Object 43"/>
              <p:cNvSpPr txBox="1"/>
              <p:nvPr/>
            </p:nvSpPr>
            <p:spPr bwMode="auto">
              <a:xfrm>
                <a:off x="3111787" y="3978160"/>
                <a:ext cx="5699125" cy="9271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&gt;&gt;1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时，有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5850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1787" y="3978160"/>
                <a:ext cx="5699125" cy="92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71664" y="4960880"/>
            <a:ext cx="4602094" cy="7593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9" name="文本框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13970" y="3108731"/>
            <a:ext cx="2729401" cy="694036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67603" y="4154529"/>
            <a:ext cx="194636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dirty="0"/>
              <a:t>X</a:t>
            </a:r>
            <a:r>
              <a:rPr lang="zh-CN" altLang="en-US" dirty="0"/>
              <a:t>充分大时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5123" y="5650252"/>
            <a:ext cx="5430827" cy="120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6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1424" y="581703"/>
                <a:ext cx="9125769" cy="1352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例：求方程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−64</m:t>
                    </m:r>
                  </m:oMath>
                </a14:m>
                <a:r>
                  <a:rPr lang="en-US" altLang="zh-CN" sz="2800" dirty="0"/>
                  <a:t>x+1=0</a:t>
                </a:r>
                <a:r>
                  <a:rPr lang="zh-CN" altLang="en-US" sz="2800" dirty="0"/>
                  <a:t>的根，使两根至少具有四位有效数字。</a:t>
                </a:r>
                <a:r>
                  <a:rPr lang="en-US" altLang="zh-CN" sz="2800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1023</m:t>
                        </m:r>
                      </m:e>
                    </m:ra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31.984)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581703"/>
                <a:ext cx="9125769" cy="1352358"/>
              </a:xfrm>
              <a:prstGeom prst="rect">
                <a:avLst/>
              </a:prstGeom>
              <a:blipFill>
                <a:blip r:embed="rId2"/>
                <a:stretch>
                  <a:fillRect l="-1403" r="-267" b="-11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063552" y="2060848"/>
                <a:ext cx="5365700" cy="2059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/>
                  <a:t>解：使用求根公式计算得到：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=32+</m:t>
                    </m:r>
                    <m:rad>
                      <m:radPr>
                        <m:degHide m:val="on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1023</m:t>
                        </m:r>
                      </m:e>
                    </m:ra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≈63.984</m:t>
                    </m:r>
                  </m:oMath>
                </a14:m>
                <a:endParaRPr lang="en-US" altLang="zh-CN" sz="28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=32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1023</m:t>
                        </m:r>
                      </m:e>
                    </m:ra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0.016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2060848"/>
                <a:ext cx="5365700" cy="2059475"/>
              </a:xfrm>
              <a:prstGeom prst="rect">
                <a:avLst/>
              </a:prstGeom>
              <a:blipFill>
                <a:blip r:embed="rId3"/>
                <a:stretch>
                  <a:fillRect l="-2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云形标注 3"/>
          <p:cNvSpPr/>
          <p:nvPr/>
        </p:nvSpPr>
        <p:spPr>
          <a:xfrm>
            <a:off x="8922164" y="2286648"/>
            <a:ext cx="2934476" cy="1358375"/>
          </a:xfrm>
          <a:prstGeom prst="cloudCallout">
            <a:avLst>
              <a:gd name="adj1" fmla="val -107604"/>
              <a:gd name="adj2" fmla="val 667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两位有效数字，不满足要求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143672" y="4277820"/>
                <a:ext cx="2555187" cy="754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≈0.01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72" y="4277820"/>
                <a:ext cx="2555187" cy="7543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63352" y="4247110"/>
            <a:ext cx="2647950" cy="1570038"/>
          </a:xfrm>
          <a:prstGeom prst="rect">
            <a:avLst/>
          </a:prstGeom>
          <a:solidFill>
            <a:srgbClr val="FFFF00"/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根与系数的关系：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=-b/a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=c/a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107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ext Box 16"/>
          <p:cNvSpPr txBox="1">
            <a:spLocks noChangeArrowheads="1"/>
          </p:cNvSpPr>
          <p:nvPr/>
        </p:nvSpPr>
        <p:spPr bwMode="auto">
          <a:xfrm>
            <a:off x="1032172" y="44450"/>
            <a:ext cx="8592113" cy="4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2.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防止大数“吃掉”小数</a:t>
            </a:r>
          </a:p>
        </p:txBody>
      </p:sp>
      <p:sp>
        <p:nvSpPr>
          <p:cNvPr id="43013" name="Text Box 17"/>
          <p:cNvSpPr txBox="1">
            <a:spLocks noChangeArrowheads="1"/>
          </p:cNvSpPr>
          <p:nvPr/>
        </p:nvSpPr>
        <p:spPr bwMode="auto">
          <a:xfrm>
            <a:off x="1032172" y="549317"/>
            <a:ext cx="8824194" cy="2492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因为计算机上只能采用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有限位数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若参加运算的数量级差很大，在它们的加、减运算中，绝对值很小的数往往被绝对值较大的数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吃掉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，造成计算结果失真。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4" name="Text Box 3"/>
          <p:cNvSpPr txBox="1">
            <a:spLocks noChangeArrowheads="1"/>
          </p:cNvSpPr>
          <p:nvPr/>
        </p:nvSpPr>
        <p:spPr bwMode="auto">
          <a:xfrm>
            <a:off x="993775" y="2393535"/>
            <a:ext cx="8668905" cy="4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例如，用八位十进制浮点计算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=26358713+0.8+0.2</a:t>
            </a:r>
          </a:p>
        </p:txBody>
      </p:sp>
      <p:sp>
        <p:nvSpPr>
          <p:cNvPr id="43015" name="Text Box 4"/>
          <p:cNvSpPr txBox="1">
            <a:spLocks noChangeArrowheads="1"/>
          </p:cNvSpPr>
          <p:nvPr/>
        </p:nvSpPr>
        <p:spPr bwMode="auto">
          <a:xfrm>
            <a:off x="1343472" y="2941302"/>
            <a:ext cx="88241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按照加法浮点运算的对阶规则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先对齐再计算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，应有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943195" y="3436393"/>
            <a:ext cx="9096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latin typeface="宋体" pitchFamily="2" charset="-122"/>
              </a:rPr>
              <a:t> </a:t>
            </a:r>
            <a:r>
              <a:rPr lang="en-US" altLang="zh-CN" i="1" dirty="0">
                <a:latin typeface="+mn-lt"/>
              </a:rPr>
              <a:t>A</a:t>
            </a:r>
            <a:r>
              <a:rPr lang="en-US" altLang="zh-CN" dirty="0">
                <a:latin typeface="宋体" pitchFamily="2" charset="-122"/>
              </a:rPr>
              <a:t> =0.26358713×10</a:t>
            </a:r>
            <a:r>
              <a:rPr lang="en-US" altLang="zh-CN" baseline="30000" dirty="0">
                <a:latin typeface="宋体" pitchFamily="2" charset="-122"/>
              </a:rPr>
              <a:t>8</a:t>
            </a:r>
            <a:r>
              <a:rPr lang="en-US" altLang="zh-CN" dirty="0">
                <a:latin typeface="宋体" pitchFamily="2" charset="-122"/>
              </a:rPr>
              <a:t>+0.000000008×10</a:t>
            </a:r>
            <a:r>
              <a:rPr lang="en-US" altLang="zh-CN" baseline="30000" dirty="0">
                <a:latin typeface="宋体" pitchFamily="2" charset="-122"/>
              </a:rPr>
              <a:t>8</a:t>
            </a:r>
            <a:r>
              <a:rPr lang="en-US" altLang="zh-CN" dirty="0">
                <a:latin typeface="宋体" pitchFamily="2" charset="-122"/>
              </a:rPr>
              <a:t>+0.000000002×10</a:t>
            </a:r>
            <a:r>
              <a:rPr lang="en-US" altLang="zh-CN" baseline="30000" dirty="0">
                <a:latin typeface="宋体" pitchFamily="2" charset="-122"/>
              </a:rPr>
              <a:t>8</a:t>
            </a:r>
          </a:p>
        </p:txBody>
      </p:sp>
      <p:sp>
        <p:nvSpPr>
          <p:cNvPr id="43017" name="Rectangle 6"/>
          <p:cNvSpPr>
            <a:spLocks noChangeArrowheads="1"/>
          </p:cNvSpPr>
          <p:nvPr/>
        </p:nvSpPr>
        <p:spPr bwMode="auto">
          <a:xfrm>
            <a:off x="1922965" y="3990850"/>
            <a:ext cx="9829310" cy="4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由于采用八位数运算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于是有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=26358713</a:t>
            </a:r>
            <a:endParaRPr lang="en-US" altLang="zh-CN" sz="2400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8" name="Rectangle 7"/>
          <p:cNvSpPr>
            <a:spLocks noChangeArrowheads="1"/>
          </p:cNvSpPr>
          <p:nvPr/>
        </p:nvSpPr>
        <p:spPr bwMode="auto">
          <a:xfrm>
            <a:off x="1703512" y="4562420"/>
            <a:ext cx="8590407" cy="4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若改变计算顺序，计算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0.2+0.8+26358713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，则有</a:t>
            </a:r>
            <a:endParaRPr lang="zh-CN" altLang="en-US" sz="2400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019" name="Text Box 8"/>
          <p:cNvSpPr txBox="1">
            <a:spLocks noChangeArrowheads="1"/>
          </p:cNvSpPr>
          <p:nvPr/>
        </p:nvSpPr>
        <p:spPr bwMode="auto">
          <a:xfrm>
            <a:off x="2465613" y="5158218"/>
            <a:ext cx="8010205" cy="46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=0.00000001×10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+0.26358713×10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=26358714</a:t>
            </a:r>
          </a:p>
        </p:txBody>
      </p:sp>
      <p:sp>
        <p:nvSpPr>
          <p:cNvPr id="43020" name="Rectangle 9"/>
          <p:cNvSpPr>
            <a:spLocks noChangeArrowheads="1"/>
          </p:cNvSpPr>
          <p:nvPr/>
        </p:nvSpPr>
        <p:spPr bwMode="auto">
          <a:xfrm>
            <a:off x="1045198" y="5645112"/>
            <a:ext cx="8900986" cy="46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可见，在求和或差的过程中应采用由小到大的运算过程。</a:t>
            </a:r>
          </a:p>
        </p:txBody>
      </p:sp>
      <p:sp>
        <p:nvSpPr>
          <p:cNvPr id="43011" name="矩形 1"/>
          <p:cNvSpPr>
            <a:spLocks noChangeArrowheads="1"/>
          </p:cNvSpPr>
          <p:nvPr/>
        </p:nvSpPr>
        <p:spPr bwMode="auto">
          <a:xfrm>
            <a:off x="2465388" y="6165850"/>
            <a:ext cx="495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如：当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|</a:t>
            </a:r>
            <a:r>
              <a:rPr lang="en-US" altLang="zh-CN" sz="2400" i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|&gt;&gt;|</a:t>
            </a:r>
            <a:r>
              <a:rPr lang="en-US" altLang="zh-CN" sz="2400" i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|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时，尽量避免</a:t>
            </a:r>
            <a:r>
              <a:rPr lang="en-US" altLang="zh-CN" sz="2400" i="1" dirty="0" err="1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a</a:t>
            </a:r>
            <a:r>
              <a:rPr lang="en-US" altLang="zh-CN" sz="2400" dirty="0" err="1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+</a:t>
            </a:r>
            <a:r>
              <a:rPr lang="en-US" altLang="zh-CN" sz="2400" i="1" dirty="0" err="1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376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/>
      <p:bldP spid="43015" grpId="0"/>
      <p:bldP spid="18" grpId="0"/>
      <p:bldP spid="43017" grpId="0"/>
      <p:bldP spid="43018" grpId="0"/>
      <p:bldP spid="43019" grpId="0"/>
      <p:bldP spid="43020" grpId="0"/>
      <p:bldP spid="430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03712" y="908720"/>
            <a:ext cx="5472608" cy="415498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&lt;iostream&gt;</a:t>
            </a:r>
          </a:p>
          <a:p>
            <a:r>
              <a:rPr lang="zh-CN" altLang="en-US" dirty="0"/>
              <a:t>using namespace std;</a:t>
            </a:r>
          </a:p>
          <a:p>
            <a:r>
              <a:rPr lang="zh-CN" altLang="en-US" dirty="0"/>
              <a:t>//大数吃小数</a:t>
            </a:r>
          </a:p>
          <a:p>
            <a:r>
              <a:rPr lang="zh-CN" altLang="en-US" dirty="0"/>
              <a:t>int main() {</a:t>
            </a:r>
          </a:p>
          <a:p>
            <a:r>
              <a:rPr lang="zh-CN" altLang="en-US" dirty="0"/>
              <a:t>	float a = 1.0;</a:t>
            </a:r>
          </a:p>
          <a:p>
            <a:r>
              <a:rPr lang="zh-CN" altLang="en-US" dirty="0"/>
              <a:t>	float sum = 0;</a:t>
            </a:r>
          </a:p>
          <a:p>
            <a:r>
              <a:rPr lang="zh-CN" altLang="en-US" dirty="0"/>
              <a:t>	for (int i = 1; i &lt;= 20000000; i++)</a:t>
            </a:r>
          </a:p>
          <a:p>
            <a:r>
              <a:rPr lang="zh-CN" altLang="en-US" dirty="0"/>
              <a:t>		sum += a;</a:t>
            </a:r>
          </a:p>
          <a:p>
            <a:r>
              <a:rPr lang="zh-CN" altLang="en-US" dirty="0"/>
              <a:t>	cout &lt;&lt; "sum=" &lt;&lt; sum &lt;&lt; endl;</a:t>
            </a:r>
          </a:p>
          <a:p>
            <a:r>
              <a:rPr lang="zh-CN" altLang="en-US" dirty="0"/>
              <a:t>	return 0;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47728" y="26064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程序示例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5170012"/>
            <a:ext cx="6372257" cy="559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在计算机上采用双倍字长计算，以提高精度。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8C27AF-1280-40F8-9DBC-298925A48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972" y="5833375"/>
            <a:ext cx="4519052" cy="8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836712"/>
            <a:ext cx="5119361" cy="57606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68008" y="89391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（编程实现）</a:t>
            </a:r>
          </a:p>
        </p:txBody>
      </p:sp>
      <p:sp>
        <p:nvSpPr>
          <p:cNvPr id="5" name="矩形 4"/>
          <p:cNvSpPr/>
          <p:nvPr/>
        </p:nvSpPr>
        <p:spPr>
          <a:xfrm>
            <a:off x="1559496" y="1469975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#include &lt;iostream&gt;</a:t>
            </a:r>
          </a:p>
          <a:p>
            <a:r>
              <a:rPr lang="zh-CN" altLang="en-US" dirty="0"/>
              <a:t>using namespace std;</a:t>
            </a:r>
          </a:p>
          <a:p>
            <a:r>
              <a:rPr lang="zh-CN" altLang="en-US" dirty="0"/>
              <a:t>int main() {</a:t>
            </a:r>
          </a:p>
          <a:p>
            <a:r>
              <a:rPr lang="zh-CN" altLang="en-US" dirty="0"/>
              <a:t>	double sum = 0;</a:t>
            </a:r>
          </a:p>
          <a:p>
            <a:r>
              <a:rPr lang="zh-CN" altLang="en-US" dirty="0"/>
              <a:t>	long n;</a:t>
            </a:r>
          </a:p>
          <a:p>
            <a:r>
              <a:rPr lang="zh-CN" altLang="en-US" dirty="0"/>
              <a:t>	cin &gt;&gt; n;</a:t>
            </a:r>
          </a:p>
          <a:p>
            <a:r>
              <a:rPr lang="zh-CN" altLang="en-US" dirty="0"/>
              <a:t>	for (long i = 1; i &lt;= n; i++)	</a:t>
            </a:r>
          </a:p>
          <a:p>
            <a:r>
              <a:rPr lang="zh-CN" altLang="en-US" dirty="0"/>
              <a:t>		sum += 1.0 / i;</a:t>
            </a:r>
          </a:p>
          <a:p>
            <a:r>
              <a:rPr lang="zh-CN" altLang="en-US" dirty="0"/>
              <a:t>	cout &lt;&lt; sum &lt;&lt; endl;</a:t>
            </a:r>
          </a:p>
          <a:p>
            <a:endParaRPr lang="zh-CN" altLang="en-US" dirty="0"/>
          </a:p>
          <a:p>
            <a:r>
              <a:rPr lang="zh-CN" altLang="en-US" dirty="0"/>
              <a:t>	return 0;</a:t>
            </a:r>
          </a:p>
          <a:p>
            <a:r>
              <a:rPr lang="zh-CN" altLang="en-US" dirty="0"/>
              <a:t>}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312024" y="3696127"/>
            <a:ext cx="4711702" cy="461665"/>
            <a:chOff x="6312024" y="4077072"/>
            <a:chExt cx="4711702" cy="461665"/>
          </a:xfrm>
        </p:grpSpPr>
        <p:sp>
          <p:nvSpPr>
            <p:cNvPr id="4" name="矩形 3"/>
            <p:cNvSpPr/>
            <p:nvPr/>
          </p:nvSpPr>
          <p:spPr>
            <a:xfrm>
              <a:off x="7655496" y="4077072"/>
              <a:ext cx="336823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for (long i = n; i &gt;= 1; i--)</a:t>
              </a:r>
            </a:p>
          </p:txBody>
        </p:sp>
        <p:sp>
          <p:nvSpPr>
            <p:cNvPr id="6" name="右箭头 5"/>
            <p:cNvSpPr/>
            <p:nvPr/>
          </p:nvSpPr>
          <p:spPr>
            <a:xfrm>
              <a:off x="6312024" y="4149080"/>
              <a:ext cx="871646" cy="2880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对角圆角矩形 7"/>
          <p:cNvSpPr/>
          <p:nvPr/>
        </p:nvSpPr>
        <p:spPr>
          <a:xfrm>
            <a:off x="2423592" y="3732132"/>
            <a:ext cx="3528392" cy="389657"/>
          </a:xfrm>
          <a:prstGeom prst="round2Diag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452D36-C500-44B8-9A90-33CCCEFFD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08" y="5964089"/>
            <a:ext cx="6078190" cy="64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5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"/>
          <p:cNvSpPr>
            <a:spLocks noChangeArrowheads="1"/>
          </p:cNvSpPr>
          <p:nvPr/>
        </p:nvSpPr>
        <p:spPr bwMode="auto">
          <a:xfrm>
            <a:off x="1416050" y="476250"/>
            <a:ext cx="885666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避免数量级相差很大的数相除</a:t>
            </a:r>
          </a:p>
        </p:txBody>
      </p:sp>
      <p:sp>
        <p:nvSpPr>
          <p:cNvPr id="44035" name="Rectangle 11"/>
          <p:cNvSpPr>
            <a:spLocks noChangeArrowheads="1"/>
          </p:cNvSpPr>
          <p:nvPr/>
        </p:nvSpPr>
        <p:spPr bwMode="auto">
          <a:xfrm>
            <a:off x="1631950" y="1163638"/>
            <a:ext cx="950436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存在两个问题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：“溢出”现象</a:t>
            </a:r>
            <a:endParaRPr lang="en-US" altLang="zh-CN" sz="24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由于除数很小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将导致商很大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有可能出现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溢出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现象。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：商的绝对误差可能很大</a:t>
            </a:r>
            <a:endParaRPr lang="en-US" altLang="zh-CN" sz="24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y 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的近似值分别为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，则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÷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÷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的近似值。则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的绝对误差满足估计式</a:t>
            </a:r>
            <a:r>
              <a:rPr lang="zh-CN" altLang="en-US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6" name="Object 8"/>
              <p:cNvSpPr txBox="1"/>
              <p:nvPr/>
            </p:nvSpPr>
            <p:spPr bwMode="auto">
              <a:xfrm>
                <a:off x="1847850" y="4579938"/>
                <a:ext cx="75438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40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850" y="4579938"/>
                <a:ext cx="7543800" cy="952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7" name="Text Box 2"/>
          <p:cNvSpPr txBox="1">
            <a:spLocks noChangeArrowheads="1"/>
          </p:cNvSpPr>
          <p:nvPr/>
        </p:nvSpPr>
        <p:spPr bwMode="auto">
          <a:xfrm>
            <a:off x="1631950" y="5803900"/>
            <a:ext cx="7164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若除数太小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则可能导致商的绝对误差很大。</a:t>
            </a:r>
          </a:p>
        </p:txBody>
      </p:sp>
    </p:spTree>
    <p:extLst>
      <p:ext uri="{BB962C8B-B14F-4D97-AF65-F5344CB8AC3E}">
        <p14:creationId xmlns:p14="http://schemas.microsoft.com/office/powerpoint/2010/main" val="16058365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19737" y="1628801"/>
            <a:ext cx="2915285" cy="82381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5059" name="文本框 2"/>
          <p:cNvSpPr txBox="1">
            <a:spLocks noChangeArrowheads="1"/>
          </p:cNvSpPr>
          <p:nvPr/>
        </p:nvSpPr>
        <p:spPr bwMode="auto">
          <a:xfrm>
            <a:off x="2135188" y="981075"/>
            <a:ext cx="36567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zh-CN" altLang="en-US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：解下面方程组：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72426" y="2996952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思考</a:t>
            </a:r>
            <a:r>
              <a:rPr lang="en-US" altLang="zh-CN" b="1" dirty="0"/>
              <a:t>1</a:t>
            </a:r>
            <a:r>
              <a:rPr lang="zh-CN" altLang="en-US" dirty="0"/>
              <a:t>：若先求</a:t>
            </a:r>
            <a:r>
              <a:rPr lang="en-US" altLang="zh-CN" dirty="0"/>
              <a:t>x2,</a:t>
            </a:r>
            <a:r>
              <a:rPr lang="zh-CN" altLang="en-US" dirty="0"/>
              <a:t>再代回第一个式子求</a:t>
            </a:r>
            <a:r>
              <a:rPr lang="en-US" altLang="zh-CN" dirty="0"/>
              <a:t>x1,</a:t>
            </a:r>
            <a:r>
              <a:rPr lang="zh-CN" altLang="en-US" dirty="0"/>
              <a:t>会有什么结果？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772426" y="4012112"/>
                <a:ext cx="5950283" cy="6158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思考</a:t>
                </a:r>
                <a:r>
                  <a:rPr lang="en-US" altLang="zh-CN" b="1" dirty="0"/>
                  <a:t>2</a:t>
                </a:r>
                <a:r>
                  <a:rPr lang="zh-CN" altLang="en-US" dirty="0"/>
                  <a:t>：若当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接近于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𝑠𝑖𝑛𝑥</m:t>
                        </m:r>
                      </m:den>
                    </m:f>
                  </m:oMath>
                </a14:m>
                <a:r>
                  <a:rPr lang="zh-CN" altLang="en-US" dirty="0"/>
                  <a:t>怎么求？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426" y="4012112"/>
                <a:ext cx="5950283" cy="615874"/>
              </a:xfrm>
              <a:prstGeom prst="rect">
                <a:avLst/>
              </a:prstGeom>
              <a:blipFill>
                <a:blip r:embed="rId3"/>
                <a:stretch>
                  <a:fillRect l="-1639" b="-8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774174" y="4951274"/>
                <a:ext cx="1417631" cy="7873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𝑐𝑜𝑠𝑥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174" y="4951274"/>
                <a:ext cx="1417631" cy="7873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85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0"/>
              <p:cNvSpPr txBox="1"/>
              <p:nvPr/>
            </p:nvSpPr>
            <p:spPr bwMode="auto">
              <a:xfrm>
                <a:off x="4652474" y="3925904"/>
                <a:ext cx="2853394" cy="8807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2474" y="3925904"/>
                <a:ext cx="2853394" cy="880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13"/>
          <p:cNvGraphicFramePr>
            <a:graphicFrameLocks noChangeAspect="1"/>
          </p:cNvGraphicFramePr>
          <p:nvPr>
            <p:extLst/>
          </p:nvPr>
        </p:nvGraphicFramePr>
        <p:xfrm>
          <a:off x="1848421" y="4783684"/>
          <a:ext cx="3313112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7" name="公式" r:id="rId4" imgW="1511280" imgH="939600" progId="Equation.3">
                  <p:embed/>
                </p:oleObj>
              </mc:Choice>
              <mc:Fallback>
                <p:oleObj name="公式" r:id="rId4" imgW="1511280" imgH="939600" progId="Equation.3">
                  <p:embed/>
                  <p:pic>
                    <p:nvPicPr>
                      <p:cNvPr id="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421" y="4783684"/>
                        <a:ext cx="3313112" cy="205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3200144" y="1323236"/>
          <a:ext cx="5545137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8" name="公式" r:id="rId6" imgW="2298600" imgH="939600" progId="Equation.3">
                  <p:embed/>
                </p:oleObj>
              </mc:Choice>
              <mc:Fallback>
                <p:oleObj name="公式" r:id="rId6" imgW="2298600" imgH="9396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144" y="1323236"/>
                        <a:ext cx="5545137" cy="227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08996" y="3596911"/>
            <a:ext cx="3339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的系数行列式             ，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 bwMode="auto">
              <a:xfrm>
                <a:off x="3431704" y="3619956"/>
                <a:ext cx="877858" cy="3972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1704" y="3619956"/>
                <a:ext cx="877858" cy="3972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633095" y="3574459"/>
            <a:ext cx="4176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则 </a:t>
            </a:r>
            <a:r>
              <a:rPr lang="en-US" altLang="zh-CN" dirty="0">
                <a:ea typeface="宋体" panose="02010600030101010101" pitchFamily="2" charset="-122"/>
              </a:rPr>
              <a:t>(1)</a:t>
            </a:r>
            <a:r>
              <a:rPr lang="zh-CN" altLang="en-US" dirty="0">
                <a:ea typeface="宋体" panose="02010600030101010101" pitchFamily="2" charset="-122"/>
              </a:rPr>
              <a:t>存在唯一解：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1451160" y="4742074"/>
            <a:ext cx="1368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hlink"/>
                </a:solidFill>
                <a:ea typeface="宋体" panose="02010600030101010101" pitchFamily="2" charset="-122"/>
              </a:rPr>
              <a:t>其中：</a:t>
            </a:r>
          </a:p>
        </p:txBody>
      </p:sp>
      <p:graphicFrame>
        <p:nvGraphicFramePr>
          <p:cNvPr id="10" name="Object 15"/>
          <p:cNvGraphicFramePr>
            <a:graphicFrameLocks noChangeAspect="1"/>
          </p:cNvGraphicFramePr>
          <p:nvPr>
            <p:extLst/>
          </p:nvPr>
        </p:nvGraphicFramePr>
        <p:xfrm>
          <a:off x="5305996" y="4567784"/>
          <a:ext cx="4643437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9" name="公式" r:id="rId9" imgW="2641320" imgH="952200" progId="Equation.3">
                  <p:embed/>
                </p:oleObj>
              </mc:Choice>
              <mc:Fallback>
                <p:oleObj name="公式" r:id="rId9" imgW="2641320" imgH="952200" progId="Equation.3">
                  <p:embed/>
                  <p:pic>
                    <p:nvPicPr>
                      <p:cNvPr id="1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996" y="4567784"/>
                        <a:ext cx="4643437" cy="231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699846" y="396058"/>
            <a:ext cx="6937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注意简化计算程序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减少计算次数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07368" y="832796"/>
            <a:ext cx="82089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首先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若算法计算量太大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实际计算无法完成。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05965" y="946221"/>
            <a:ext cx="5339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用</a:t>
            </a:r>
            <a:r>
              <a:rPr lang="en-US" altLang="zh-CN" dirty="0">
                <a:latin typeface="宋体" panose="02010600030101010101" pitchFamily="2" charset="-122"/>
              </a:rPr>
              <a:t>Cramer</a:t>
            </a:r>
            <a:r>
              <a:rPr lang="zh-CN" altLang="en-US" dirty="0">
                <a:latin typeface="宋体" panose="02010600030101010101" pitchFamily="2" charset="-122"/>
              </a:rPr>
              <a:t>法则求 </a:t>
            </a:r>
            <a:r>
              <a:rPr lang="en-US" altLang="zh-CN" i="1" dirty="0"/>
              <a:t>n </a:t>
            </a:r>
            <a:r>
              <a:rPr lang="zh-CN" altLang="en-US" dirty="0">
                <a:latin typeface="宋体" panose="02010600030101010101" pitchFamily="2" charset="-122"/>
              </a:rPr>
              <a:t>元线性方程组的解</a:t>
            </a:r>
            <a:r>
              <a:rPr lang="en-US" altLang="zh-CN" dirty="0"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259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987550" y="981075"/>
            <a:ext cx="82089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Cramer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法则求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元线性方程组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的解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需要计算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阶行列式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而每个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阶行列式按定义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4" name="Object 31"/>
              <p:cNvSpPr txBox="1"/>
              <p:nvPr/>
            </p:nvSpPr>
            <p:spPr bwMode="auto">
              <a:xfrm>
                <a:off x="3863752" y="2420888"/>
                <a:ext cx="3637582" cy="76542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6084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752" y="2420888"/>
                <a:ext cx="3637582" cy="7654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5" name="Rectangle 8"/>
          <p:cNvSpPr>
            <a:spLocks noChangeArrowheads="1"/>
          </p:cNvSpPr>
          <p:nvPr/>
        </p:nvSpPr>
        <p:spPr bwMode="auto">
          <a:xfrm>
            <a:off x="2167731" y="3645024"/>
            <a:ext cx="7848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需要计算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-1)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!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次乘法，则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个行列式需要乘法：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+1)(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-1)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! = (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-1)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!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次。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当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=20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时，有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(20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-1)20!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9.7×10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20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次乘法运算。</a:t>
            </a:r>
          </a:p>
        </p:txBody>
      </p:sp>
    </p:spTree>
    <p:extLst>
      <p:ext uri="{BB962C8B-B14F-4D97-AF65-F5344CB8AC3E}">
        <p14:creationId xmlns:p14="http://schemas.microsoft.com/office/powerpoint/2010/main" val="18588730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8"/>
          <p:cNvSpPr>
            <a:spLocks noChangeArrowheads="1"/>
          </p:cNvSpPr>
          <p:nvPr/>
        </p:nvSpPr>
        <p:spPr bwMode="auto">
          <a:xfrm>
            <a:off x="2184400" y="628650"/>
            <a:ext cx="7632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对于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9.7×10</a:t>
            </a:r>
            <a:r>
              <a:rPr lang="en-US" altLang="zh-CN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20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次乘法运算。如果用每秒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亿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次乘除运算的计算机，约需要：</a:t>
            </a:r>
          </a:p>
        </p:txBody>
      </p:sp>
      <p:sp>
        <p:nvSpPr>
          <p:cNvPr id="47107" name="Rectangle 11"/>
          <p:cNvSpPr>
            <a:spLocks noChangeArrowheads="1"/>
          </p:cNvSpPr>
          <p:nvPr/>
        </p:nvSpPr>
        <p:spPr bwMode="auto">
          <a:xfrm>
            <a:off x="2184400" y="2074863"/>
            <a:ext cx="7848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9.7×10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÷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2400" baseline="30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endParaRPr lang="en-US" altLang="zh-CN" sz="24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108" name="Rectangle 12"/>
          <p:cNvSpPr>
            <a:spLocks noChangeArrowheads="1"/>
          </p:cNvSpPr>
          <p:nvPr/>
        </p:nvSpPr>
        <p:spPr bwMode="auto">
          <a:xfrm>
            <a:off x="4875213" y="2060575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÷60</a:t>
            </a:r>
          </a:p>
        </p:txBody>
      </p:sp>
      <p:sp>
        <p:nvSpPr>
          <p:cNvPr id="47109" name="Rectangle 13"/>
          <p:cNvSpPr>
            <a:spLocks noChangeArrowheads="1"/>
          </p:cNvSpPr>
          <p:nvPr/>
        </p:nvSpPr>
        <p:spPr bwMode="auto">
          <a:xfrm>
            <a:off x="6399213" y="2060575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÷24</a:t>
            </a:r>
          </a:p>
        </p:txBody>
      </p:sp>
      <p:sp>
        <p:nvSpPr>
          <p:cNvPr id="47110" name="Rectangle 14"/>
          <p:cNvSpPr>
            <a:spLocks noChangeArrowheads="1"/>
          </p:cNvSpPr>
          <p:nvPr/>
        </p:nvSpPr>
        <p:spPr bwMode="auto">
          <a:xfrm>
            <a:off x="5637213" y="2060575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÷60</a:t>
            </a:r>
          </a:p>
        </p:txBody>
      </p:sp>
      <p:sp>
        <p:nvSpPr>
          <p:cNvPr id="47111" name="Rectangle 15"/>
          <p:cNvSpPr>
            <a:spLocks noChangeArrowheads="1"/>
          </p:cNvSpPr>
          <p:nvPr/>
        </p:nvSpPr>
        <p:spPr bwMode="auto">
          <a:xfrm>
            <a:off x="7237413" y="2060575"/>
            <a:ext cx="121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÷365</a:t>
            </a:r>
          </a:p>
        </p:txBody>
      </p:sp>
      <p:sp>
        <p:nvSpPr>
          <p:cNvPr id="47112" name="Rectangle 16"/>
          <p:cNvSpPr>
            <a:spLocks noChangeArrowheads="1"/>
          </p:cNvSpPr>
          <p:nvPr/>
        </p:nvSpPr>
        <p:spPr bwMode="auto">
          <a:xfrm>
            <a:off x="2905125" y="2616200"/>
            <a:ext cx="3190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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30758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年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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万年</a:t>
            </a:r>
          </a:p>
        </p:txBody>
      </p:sp>
      <p:sp>
        <p:nvSpPr>
          <p:cNvPr id="47113" name="矩形 11"/>
          <p:cNvSpPr>
            <a:spLocks noChangeArrowheads="1"/>
          </p:cNvSpPr>
          <p:nvPr/>
        </p:nvSpPr>
        <p:spPr bwMode="auto">
          <a:xfrm>
            <a:off x="2400300" y="3294063"/>
            <a:ext cx="72009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Summit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IBM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和美国能源部橡树岭国家实验室）理论峰值运算速度能够每秒执行多达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亿亿（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2×10</a:t>
            </a:r>
            <a:r>
              <a:rPr lang="en-US" altLang="zh-CN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次的“浮点数操作”</a:t>
            </a:r>
          </a:p>
        </p:txBody>
      </p:sp>
      <p:sp>
        <p:nvSpPr>
          <p:cNvPr id="47114" name="Rectangle 11"/>
          <p:cNvSpPr>
            <a:spLocks noChangeArrowheads="1"/>
          </p:cNvSpPr>
          <p:nvPr/>
        </p:nvSpPr>
        <p:spPr bwMode="auto">
          <a:xfrm>
            <a:off x="2184400" y="5157788"/>
            <a:ext cx="58610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9.7×10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÷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2×10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17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)=4850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秒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80.833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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1.34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小时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49363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组合 9"/>
          <p:cNvGrpSpPr>
            <a:grpSpLocks/>
          </p:cNvGrpSpPr>
          <p:nvPr/>
        </p:nvGrpSpPr>
        <p:grpSpPr bwMode="auto">
          <a:xfrm>
            <a:off x="1487488" y="476672"/>
            <a:ext cx="9504287" cy="5934075"/>
            <a:chOff x="468313" y="476250"/>
            <a:chExt cx="7848600" cy="5934075"/>
          </a:xfrm>
        </p:grpSpPr>
        <p:sp>
          <p:nvSpPr>
            <p:cNvPr id="48131" name="Rectangle 17"/>
            <p:cNvSpPr>
              <a:spLocks noChangeArrowheads="1"/>
            </p:cNvSpPr>
            <p:nvPr/>
          </p:nvSpPr>
          <p:spPr bwMode="auto">
            <a:xfrm>
              <a:off x="611188" y="476250"/>
              <a:ext cx="770572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其次，即使是可行算法，则计算量越大，积累的误差也越大，因此，算法的计算量越小越好。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32" name="Object 23"/>
                <p:cNvSpPr txBox="1"/>
                <p:nvPr/>
              </p:nvSpPr>
              <p:spPr bwMode="auto">
                <a:xfrm>
                  <a:off x="1692275" y="2439988"/>
                  <a:ext cx="5391150" cy="4841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+...+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8132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92275" y="2439988"/>
                  <a:ext cx="5391150" cy="484187"/>
                </a:xfrm>
                <a:prstGeom prst="rect">
                  <a:avLst/>
                </a:prstGeom>
                <a:blipFill>
                  <a:blip r:embed="rId2"/>
                  <a:stretch>
                    <a:fillRect b="-12500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133" name="Rectangle 20"/>
            <p:cNvSpPr>
              <a:spLocks noChangeArrowheads="1"/>
            </p:cNvSpPr>
            <p:nvPr/>
          </p:nvSpPr>
          <p:spPr bwMode="auto">
            <a:xfrm>
              <a:off x="468313" y="3073400"/>
              <a:ext cx="66960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若直接逐项计算，大约需要乘法运算次数为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34" name="Object 24"/>
                <p:cNvSpPr txBox="1"/>
                <p:nvPr/>
              </p:nvSpPr>
              <p:spPr bwMode="auto">
                <a:xfrm>
                  <a:off x="1692275" y="3721100"/>
                  <a:ext cx="4381500" cy="787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−1)+...+2+1=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次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8134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92275" y="3721100"/>
                  <a:ext cx="4381500" cy="787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135" name="Rectangle 22"/>
            <p:cNvSpPr>
              <a:spLocks noChangeArrowheads="1"/>
            </p:cNvSpPr>
            <p:nvPr/>
          </p:nvSpPr>
          <p:spPr bwMode="auto">
            <a:xfrm>
              <a:off x="539750" y="1844675"/>
              <a:ext cx="539908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例如计算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次多项式：</a:t>
              </a:r>
            </a:p>
          </p:txBody>
        </p:sp>
        <p:sp>
          <p:nvSpPr>
            <p:cNvPr id="48136" name="Rectangle 2"/>
            <p:cNvSpPr>
              <a:spLocks noChangeArrowheads="1"/>
            </p:cNvSpPr>
            <p:nvPr/>
          </p:nvSpPr>
          <p:spPr bwMode="auto">
            <a:xfrm>
              <a:off x="468313" y="4536454"/>
              <a:ext cx="60483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若将多项式改写（秦九韶算法）为：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37" name="Object 25"/>
                <p:cNvSpPr txBox="1"/>
                <p:nvPr/>
              </p:nvSpPr>
              <p:spPr bwMode="auto">
                <a:xfrm>
                  <a:off x="1115616" y="5229200"/>
                  <a:ext cx="6848475" cy="4619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)=(...((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+...)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8137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5616" y="5229200"/>
                  <a:ext cx="6848475" cy="461963"/>
                </a:xfrm>
                <a:prstGeom prst="rect">
                  <a:avLst/>
                </a:prstGeom>
                <a:blipFill>
                  <a:blip r:embed="rId4"/>
                  <a:stretch>
                    <a:fillRect b="-18421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138" name="Rectangle 4"/>
            <p:cNvSpPr>
              <a:spLocks noChangeArrowheads="1"/>
            </p:cNvSpPr>
            <p:nvPr/>
          </p:nvSpPr>
          <p:spPr bwMode="auto">
            <a:xfrm>
              <a:off x="611188" y="5949950"/>
              <a:ext cx="540067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则只需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次乘法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和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11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次加法运算。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8725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811338" y="333375"/>
            <a:ext cx="5076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选用数值稳定性好的算法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1919288" y="836613"/>
            <a:ext cx="82438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一种数值算法，如果其计算舍入误差积累是可控制的，则称其为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数值稳定的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，反之称为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数值不稳定的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2279650" y="2205038"/>
            <a:ext cx="22590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例如对于积分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4"/>
              <p:cNvSpPr txBox="1"/>
              <p:nvPr/>
            </p:nvSpPr>
            <p:spPr bwMode="auto">
              <a:xfrm>
                <a:off x="4538663" y="2232025"/>
                <a:ext cx="2074862" cy="7191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8663" y="2232025"/>
                <a:ext cx="2074862" cy="7191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849438" y="3019425"/>
            <a:ext cx="755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利用分部积分法可得计算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的递推公式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2566988" y="3616325"/>
            <a:ext cx="41052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latin typeface="宋体" pitchFamily="2" charset="-122"/>
              </a:rPr>
              <a:t>  </a:t>
            </a:r>
            <a:r>
              <a:rPr lang="en-US" altLang="zh-CN" i="1" dirty="0">
                <a:latin typeface="+mn-lt"/>
              </a:rPr>
              <a:t>I</a:t>
            </a:r>
            <a:r>
              <a:rPr lang="en-US" altLang="zh-CN" i="1" baseline="-25000" dirty="0">
                <a:latin typeface="+mn-lt"/>
              </a:rPr>
              <a:t>n</a:t>
            </a:r>
            <a:r>
              <a:rPr lang="en-US" altLang="zh-CN" dirty="0">
                <a:latin typeface="+mn-lt"/>
              </a:rPr>
              <a:t>=1</a:t>
            </a:r>
            <a:r>
              <a:rPr lang="en-US" altLang="zh-CN" dirty="0"/>
              <a:t> – </a:t>
            </a:r>
            <a:r>
              <a:rPr lang="en-US" altLang="zh-CN" i="1" dirty="0">
                <a:latin typeface="+mn-lt"/>
              </a:rPr>
              <a:t>nI</a:t>
            </a:r>
            <a:r>
              <a:rPr lang="en-US" altLang="zh-CN" i="1" baseline="-25000" dirty="0">
                <a:latin typeface="+mn-lt"/>
              </a:rPr>
              <a:t>n</a:t>
            </a:r>
            <a:r>
              <a:rPr lang="en-US" altLang="zh-CN" baseline="-25000" dirty="0">
                <a:latin typeface="+mn-lt"/>
              </a:rPr>
              <a:t>-1</a:t>
            </a:r>
            <a:r>
              <a:rPr lang="zh-CN" altLang="en-US" dirty="0">
                <a:latin typeface="+mn-lt"/>
              </a:rPr>
              <a:t>，</a:t>
            </a:r>
            <a:r>
              <a:rPr lang="en-US" altLang="zh-CN" i="1" dirty="0">
                <a:latin typeface="+mn-lt"/>
              </a:rPr>
              <a:t>n</a:t>
            </a:r>
            <a:r>
              <a:rPr lang="en-US" altLang="zh-CN" dirty="0">
                <a:latin typeface="+mn-lt"/>
              </a:rPr>
              <a:t>=1</a:t>
            </a:r>
            <a:r>
              <a:rPr lang="zh-CN" altLang="en-US" dirty="0">
                <a:latin typeface="+mn-lt"/>
              </a:rPr>
              <a:t>，</a:t>
            </a:r>
            <a:r>
              <a:rPr lang="en-US" altLang="zh-CN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，</a:t>
            </a:r>
            <a:r>
              <a:rPr lang="en-US" altLang="zh-CN" dirty="0">
                <a:latin typeface="+mn-lt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5"/>
              <p:cNvSpPr txBox="1"/>
              <p:nvPr/>
            </p:nvSpPr>
            <p:spPr bwMode="auto">
              <a:xfrm>
                <a:off x="2927350" y="4149725"/>
                <a:ext cx="5032375" cy="6667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=0.632120558......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7350" y="4149725"/>
                <a:ext cx="5032375" cy="666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1847850" y="4941888"/>
            <a:ext cx="7848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取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0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具有四位有效数字的近似值 </a:t>
            </a: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0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≈0.6321,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递推可得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4" name="Group 63"/>
          <p:cNvGraphicFramePr>
            <a:graphicFrameLocks noGrp="1"/>
          </p:cNvGraphicFramePr>
          <p:nvPr/>
        </p:nvGraphicFramePr>
        <p:xfrm>
          <a:off x="1809750" y="5538788"/>
          <a:ext cx="8534400" cy="914400"/>
        </p:xfrm>
        <a:graphic>
          <a:graphicData uri="http://schemas.openxmlformats.org/drawingml/2006/table">
            <a:tbl>
              <a:tblPr/>
              <a:tblGrid>
                <a:gridCol w="52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0.2642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0.1704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2400" dirty="0">
                          <a:latin typeface="+mn-lt"/>
                        </a:rPr>
                        <a:t>–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0.7280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0.3679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0.2074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0.1480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7.5520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876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组合 10"/>
          <p:cNvGrpSpPr>
            <a:grpSpLocks/>
          </p:cNvGrpSpPr>
          <p:nvPr/>
        </p:nvGrpSpPr>
        <p:grpSpPr bwMode="auto">
          <a:xfrm>
            <a:off x="2063750" y="549275"/>
            <a:ext cx="8784778" cy="5688013"/>
            <a:chOff x="539750" y="549275"/>
            <a:chExt cx="8784778" cy="5688013"/>
          </a:xfrm>
        </p:grpSpPr>
        <p:sp>
          <p:nvSpPr>
            <p:cNvPr id="50179" name="Text Box 75"/>
            <p:cNvSpPr txBox="1">
              <a:spLocks noChangeArrowheads="1"/>
            </p:cNvSpPr>
            <p:nvPr/>
          </p:nvSpPr>
          <p:spPr bwMode="auto">
            <a:xfrm>
              <a:off x="611188" y="549275"/>
              <a:ext cx="7777162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对任何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都应有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&gt;0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，但计算结果显示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8  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&lt;0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，可见，虽然 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的近似误差不超过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0.5×10</a:t>
              </a:r>
              <a:r>
                <a:rPr lang="en-US" altLang="zh-CN" sz="2400" baseline="30000">
                  <a:latin typeface="Times New Roman" panose="02020603050405020304" pitchFamily="18" charset="0"/>
                  <a:ea typeface="宋体" panose="02010600030101010101" pitchFamily="2" charset="-122"/>
                </a:rPr>
                <a:t>-4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，但随着计算步数的增加，误差明显增大。这说明所用的递推公式是数值不稳定的。</a:t>
              </a:r>
            </a:p>
          </p:txBody>
        </p:sp>
        <p:sp>
          <p:nvSpPr>
            <p:cNvPr id="50180" name="Rectangle 78"/>
            <p:cNvSpPr>
              <a:spLocks noChangeArrowheads="1"/>
            </p:cNvSpPr>
            <p:nvPr/>
          </p:nvSpPr>
          <p:spPr bwMode="auto">
            <a:xfrm>
              <a:off x="971550" y="3068638"/>
              <a:ext cx="21590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事实上，由</a:t>
              </a:r>
            </a:p>
          </p:txBody>
        </p:sp>
        <p:sp>
          <p:nvSpPr>
            <p:cNvPr id="27" name="Rectangle 79"/>
            <p:cNvSpPr>
              <a:spLocks noChangeArrowheads="1"/>
            </p:cNvSpPr>
            <p:nvPr/>
          </p:nvSpPr>
          <p:spPr bwMode="auto">
            <a:xfrm>
              <a:off x="1763713" y="3789363"/>
              <a:ext cx="7560815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latin typeface="+mn-lt"/>
                </a:rPr>
                <a:t>               </a:t>
              </a:r>
              <a:r>
                <a:rPr lang="zh-CN" altLang="en-US" dirty="0">
                  <a:latin typeface="+mn-lt"/>
                </a:rPr>
                <a:t>，和   </a:t>
              </a:r>
              <a:r>
                <a:rPr lang="en-US" altLang="zh-CN" dirty="0">
                  <a:latin typeface="+mn-lt"/>
                </a:rPr>
                <a:t>                      </a:t>
              </a:r>
              <a:r>
                <a:rPr lang="zh-CN" altLang="en-US" dirty="0">
                  <a:latin typeface="+mn-lt"/>
                </a:rPr>
                <a:t>，</a:t>
              </a:r>
              <a:r>
                <a:rPr lang="en-US" altLang="zh-CN" i="1" dirty="0">
                  <a:latin typeface="+mn-lt"/>
                </a:rPr>
                <a:t>n</a:t>
              </a:r>
              <a:r>
                <a:rPr lang="en-US" altLang="zh-CN" dirty="0">
                  <a:latin typeface="+mn-lt"/>
                </a:rPr>
                <a:t>=1</a:t>
              </a:r>
              <a:r>
                <a:rPr lang="zh-CN" altLang="en-US" dirty="0">
                  <a:latin typeface="+mn-lt"/>
                </a:rPr>
                <a:t>，</a:t>
              </a:r>
              <a:r>
                <a:rPr lang="en-US" altLang="zh-CN" dirty="0">
                  <a:latin typeface="+mn-lt"/>
                </a:rPr>
                <a:t>2</a:t>
              </a:r>
              <a:r>
                <a:rPr lang="zh-CN" altLang="en-US" dirty="0">
                  <a:latin typeface="+mn-lt"/>
                </a:rPr>
                <a:t>，</a:t>
              </a:r>
              <a:r>
                <a:rPr lang="en-US" altLang="zh-CN" dirty="0"/>
                <a:t>…</a:t>
              </a:r>
              <a:endParaRPr lang="en-US" altLang="zh-CN" dirty="0">
                <a:latin typeface="宋体" pitchFamily="2" charset="-122"/>
              </a:endParaRPr>
            </a:p>
          </p:txBody>
        </p:sp>
        <p:sp>
          <p:nvSpPr>
            <p:cNvPr id="50182" name="Rectangle 80"/>
            <p:cNvSpPr>
              <a:spLocks noChangeArrowheads="1"/>
            </p:cNvSpPr>
            <p:nvPr/>
          </p:nvSpPr>
          <p:spPr bwMode="auto">
            <a:xfrm>
              <a:off x="539750" y="4365625"/>
              <a:ext cx="129540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可得</a:t>
              </a:r>
            </a:p>
          </p:txBody>
        </p:sp>
        <p:sp>
          <p:nvSpPr>
            <p:cNvPr id="50183" name="Rectangle 82"/>
            <p:cNvSpPr>
              <a:spLocks noChangeArrowheads="1"/>
            </p:cNvSpPr>
            <p:nvPr/>
          </p:nvSpPr>
          <p:spPr bwMode="auto">
            <a:xfrm>
              <a:off x="611188" y="5775325"/>
              <a:ext cx="79914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可见，随着计算步数的增加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误差迅速放大，使结果失真。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84" name="Object 23"/>
                <p:cNvSpPr txBox="1"/>
                <p:nvPr/>
              </p:nvSpPr>
              <p:spPr bwMode="auto">
                <a:xfrm>
                  <a:off x="1276350" y="3716338"/>
                  <a:ext cx="1711325" cy="5048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0184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6350" y="3716338"/>
                  <a:ext cx="1711325" cy="50482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85" name="Object 16"/>
                <p:cNvSpPr txBox="1"/>
                <p:nvPr/>
              </p:nvSpPr>
              <p:spPr bwMode="auto">
                <a:xfrm>
                  <a:off x="3724275" y="3759200"/>
                  <a:ext cx="1711325" cy="533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0185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4275" y="3759200"/>
                  <a:ext cx="1711325" cy="533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86" name="Object 17"/>
                <p:cNvSpPr txBox="1"/>
                <p:nvPr/>
              </p:nvSpPr>
              <p:spPr bwMode="auto">
                <a:xfrm>
                  <a:off x="1258888" y="5013325"/>
                  <a:ext cx="6284912" cy="6175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=…=(−1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0186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8888" y="5013325"/>
                  <a:ext cx="6284912" cy="61753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96866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组合 7"/>
          <p:cNvGrpSpPr>
            <a:grpSpLocks/>
          </p:cNvGrpSpPr>
          <p:nvPr/>
        </p:nvGrpSpPr>
        <p:grpSpPr bwMode="auto">
          <a:xfrm>
            <a:off x="2279650" y="765175"/>
            <a:ext cx="7704138" cy="4748213"/>
            <a:chOff x="755650" y="765175"/>
            <a:chExt cx="7704138" cy="4748213"/>
          </a:xfrm>
        </p:grpSpPr>
        <p:sp>
          <p:nvSpPr>
            <p:cNvPr id="51203" name="Rectangle 83"/>
            <p:cNvSpPr>
              <a:spLocks noChangeArrowheads="1"/>
            </p:cNvSpPr>
            <p:nvPr/>
          </p:nvSpPr>
          <p:spPr bwMode="auto">
            <a:xfrm>
              <a:off x="1187450" y="765175"/>
              <a:ext cx="37433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若将计算公式改写为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04" name="Object 23"/>
                <p:cNvSpPr txBox="1"/>
                <p:nvPr/>
              </p:nvSpPr>
              <p:spPr bwMode="auto">
                <a:xfrm>
                  <a:off x="1835150" y="1484313"/>
                  <a:ext cx="4497388" cy="7905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−1,...2,1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1204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5150" y="1484313"/>
                  <a:ext cx="4497388" cy="7905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205" name="Rectangle 86"/>
            <p:cNvSpPr>
              <a:spLocks noChangeArrowheads="1"/>
            </p:cNvSpPr>
            <p:nvPr/>
          </p:nvSpPr>
          <p:spPr bwMode="auto">
            <a:xfrm>
              <a:off x="755650" y="2781300"/>
              <a:ext cx="2159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类似地可得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06" name="Object 24"/>
                <p:cNvSpPr txBox="1"/>
                <p:nvPr/>
              </p:nvSpPr>
              <p:spPr bwMode="auto">
                <a:xfrm>
                  <a:off x="1403350" y="3573463"/>
                  <a:ext cx="6665913" cy="8413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=(−1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−1,...,1</m:t>
                              </m:r>
                            </m:e>
                          </m:mr>
                        </m: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1206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3350" y="3573463"/>
                  <a:ext cx="6665913" cy="8413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207" name="Rectangle 88"/>
            <p:cNvSpPr>
              <a:spLocks noChangeArrowheads="1"/>
            </p:cNvSpPr>
            <p:nvPr/>
          </p:nvSpPr>
          <p:spPr bwMode="auto">
            <a:xfrm>
              <a:off x="755650" y="5013325"/>
              <a:ext cx="770413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可见，近似误差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是可控制的，算法是数值稳定的。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08" name="Object 4"/>
                <p:cNvSpPr txBox="1"/>
                <p:nvPr/>
              </p:nvSpPr>
              <p:spPr bwMode="auto">
                <a:xfrm>
                  <a:off x="2987675" y="5013325"/>
                  <a:ext cx="871538" cy="5000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1208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7675" y="5013325"/>
                  <a:ext cx="871538" cy="50006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188270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roup 44"/>
          <p:cNvGraphicFramePr>
            <a:graphicFrameLocks noGrp="1"/>
          </p:cNvGraphicFramePr>
          <p:nvPr/>
        </p:nvGraphicFramePr>
        <p:xfrm>
          <a:off x="1882775" y="4389438"/>
          <a:ext cx="8534400" cy="1127125"/>
        </p:xfrm>
        <a:graphic>
          <a:graphicData uri="http://schemas.openxmlformats.org/drawingml/2006/table">
            <a:tbl>
              <a:tblPr/>
              <a:tblGrid>
                <a:gridCol w="52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0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678" marB="45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0.0684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0.1455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0.2073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0.3679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678" marB="456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0.1035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0.1268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0.1709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0.2642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1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0.6321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2261" name="组合 14"/>
          <p:cNvGrpSpPr>
            <a:grpSpLocks/>
          </p:cNvGrpSpPr>
          <p:nvPr/>
        </p:nvGrpSpPr>
        <p:grpSpPr bwMode="auto">
          <a:xfrm>
            <a:off x="2208213" y="5981700"/>
            <a:ext cx="7920037" cy="542925"/>
            <a:chOff x="684213" y="5981700"/>
            <a:chExt cx="7920037" cy="542925"/>
          </a:xfrm>
        </p:grpSpPr>
        <p:sp>
          <p:nvSpPr>
            <p:cNvPr id="52270" name="Rectangle 45"/>
            <p:cNvSpPr>
              <a:spLocks noChangeArrowheads="1"/>
            </p:cNvSpPr>
            <p:nvPr/>
          </p:nvSpPr>
          <p:spPr bwMode="auto">
            <a:xfrm>
              <a:off x="684213" y="5981700"/>
              <a:ext cx="792003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可见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,                    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已精确到小数点后四位。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71" name="Object 15"/>
                <p:cNvSpPr txBox="1"/>
                <p:nvPr/>
              </p:nvSpPr>
              <p:spPr bwMode="auto">
                <a:xfrm>
                  <a:off x="1547813" y="6005513"/>
                  <a:ext cx="2952750" cy="5191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(=0.632120558...)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2271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7813" y="6005513"/>
                  <a:ext cx="2952750" cy="51911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262" name="组合 12"/>
          <p:cNvGrpSpPr>
            <a:grpSpLocks/>
          </p:cNvGrpSpPr>
          <p:nvPr/>
        </p:nvGrpSpPr>
        <p:grpSpPr bwMode="auto">
          <a:xfrm>
            <a:off x="1919288" y="476250"/>
            <a:ext cx="7848600" cy="3702050"/>
            <a:chOff x="395288" y="476250"/>
            <a:chExt cx="7849120" cy="3702050"/>
          </a:xfrm>
        </p:grpSpPr>
        <p:sp>
          <p:nvSpPr>
            <p:cNvPr id="52263" name="Rectangle 37"/>
            <p:cNvSpPr>
              <a:spLocks noChangeArrowheads="1"/>
            </p:cNvSpPr>
            <p:nvPr/>
          </p:nvSpPr>
          <p:spPr bwMode="auto">
            <a:xfrm>
              <a:off x="468313" y="476250"/>
              <a:ext cx="18700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例如，由于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64" name="Object 49"/>
                <p:cNvSpPr txBox="1"/>
                <p:nvPr/>
              </p:nvSpPr>
              <p:spPr bwMode="auto">
                <a:xfrm>
                  <a:off x="2362721" y="692696"/>
                  <a:ext cx="5881687" cy="8556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nary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nary>
                              <m:nary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nary>
                          </m:e>
                        </m:nary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2264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2721" y="692696"/>
                  <a:ext cx="5881687" cy="85566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265" name="Rectangle 39"/>
            <p:cNvSpPr>
              <a:spLocks noChangeArrowheads="1"/>
            </p:cNvSpPr>
            <p:nvPr/>
          </p:nvSpPr>
          <p:spPr bwMode="auto">
            <a:xfrm>
              <a:off x="396875" y="1997075"/>
              <a:ext cx="1981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取近似值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66" name="Object 50"/>
                <p:cNvSpPr txBox="1"/>
                <p:nvPr/>
              </p:nvSpPr>
              <p:spPr bwMode="auto">
                <a:xfrm>
                  <a:off x="1920875" y="1844675"/>
                  <a:ext cx="3390900" cy="838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)=0.0684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2266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0875" y="1844675"/>
                  <a:ext cx="3390900" cy="8382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267" name="Rectangle 41"/>
            <p:cNvSpPr>
              <a:spLocks noChangeArrowheads="1"/>
            </p:cNvSpPr>
            <p:nvPr/>
          </p:nvSpPr>
          <p:spPr bwMode="auto">
            <a:xfrm>
              <a:off x="5349875" y="1997075"/>
              <a:ext cx="22098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，由递推公式</a:t>
              </a:r>
            </a:p>
          </p:txBody>
        </p:sp>
        <p:sp>
          <p:nvSpPr>
            <p:cNvPr id="52268" name="矩形 10"/>
            <p:cNvSpPr>
              <a:spLocks noChangeArrowheads="1"/>
            </p:cNvSpPr>
            <p:nvPr/>
          </p:nvSpPr>
          <p:spPr bwMode="auto">
            <a:xfrm>
              <a:off x="395288" y="3716338"/>
              <a:ext cx="110807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可得：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69" name="Object 23"/>
                <p:cNvSpPr txBox="1"/>
                <p:nvPr/>
              </p:nvSpPr>
              <p:spPr bwMode="auto">
                <a:xfrm>
                  <a:off x="1835150" y="2925763"/>
                  <a:ext cx="4497388" cy="7905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−1,...2,1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2269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5150" y="2925763"/>
                  <a:ext cx="4497388" cy="7905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230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文本框 1"/>
          <p:cNvSpPr txBox="1">
            <a:spLocks noChangeArrowheads="1"/>
          </p:cNvSpPr>
          <p:nvPr/>
        </p:nvSpPr>
        <p:spPr bwMode="auto">
          <a:xfrm>
            <a:off x="766763" y="533400"/>
            <a:ext cx="1723549" cy="570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课后作业：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3251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125538"/>
            <a:ext cx="10490200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471738"/>
            <a:ext cx="7918450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4646613"/>
            <a:ext cx="76327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5337175"/>
            <a:ext cx="799465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11619</TotalTime>
  <Words>4152</Words>
  <Application>Microsoft Office PowerPoint</Application>
  <PresentationFormat>宽屏</PresentationFormat>
  <Paragraphs>517</Paragraphs>
  <Slides>58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4" baseType="lpstr">
      <vt:lpstr>-apple-system</vt:lpstr>
      <vt:lpstr>Arial Unicode MS</vt:lpstr>
      <vt:lpstr>MingLiU</vt:lpstr>
      <vt:lpstr>PingFangSC-Regular</vt:lpstr>
      <vt:lpstr>等线</vt:lpstr>
      <vt:lpstr>等线 Light</vt:lpstr>
      <vt:lpstr>华文楷体</vt:lpstr>
      <vt:lpstr>宋体</vt:lpstr>
      <vt:lpstr>微软雅黑</vt:lpstr>
      <vt:lpstr>Arial</vt:lpstr>
      <vt:lpstr>Cambria Math</vt:lpstr>
      <vt:lpstr>Symbol</vt:lpstr>
      <vt:lpstr>Times New Roman</vt:lpstr>
      <vt:lpstr>Wingdings</vt:lpstr>
      <vt:lpstr>Office 主题​​</vt:lpstr>
      <vt:lpstr>公式</vt:lpstr>
      <vt:lpstr>数值计算与最优化</vt:lpstr>
      <vt:lpstr>PowerPoint 演示文稿</vt:lpstr>
      <vt:lpstr>PowerPoint 演示文稿</vt:lpstr>
      <vt:lpstr>PowerPoint 演示文稿</vt:lpstr>
      <vt:lpstr>数值计算与最优化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例1：不使用圆的公式，计算机编程求圆（r=1）的周长</vt:lpstr>
      <vt:lpstr>例2：测不规则圆的周长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shyl</dc:creator>
  <cp:lastModifiedBy>Alice</cp:lastModifiedBy>
  <cp:revision>532</cp:revision>
  <dcterms:created xsi:type="dcterms:W3CDTF">2003-11-24T10:46:46Z</dcterms:created>
  <dcterms:modified xsi:type="dcterms:W3CDTF">2025-09-08T15:20:03Z</dcterms:modified>
</cp:coreProperties>
</file>