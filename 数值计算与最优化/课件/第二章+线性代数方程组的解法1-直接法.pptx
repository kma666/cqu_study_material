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80" r:id="rId2"/>
    <p:sldId id="491" r:id="rId3"/>
    <p:sldId id="550" r:id="rId4"/>
    <p:sldId id="599" r:id="rId5"/>
    <p:sldId id="522" r:id="rId6"/>
    <p:sldId id="614" r:id="rId7"/>
    <p:sldId id="544" r:id="rId8"/>
    <p:sldId id="602" r:id="rId9"/>
    <p:sldId id="603" r:id="rId10"/>
    <p:sldId id="604" r:id="rId11"/>
    <p:sldId id="605" r:id="rId12"/>
    <p:sldId id="606" r:id="rId13"/>
    <p:sldId id="607" r:id="rId14"/>
    <p:sldId id="608" r:id="rId15"/>
    <p:sldId id="547" r:id="rId16"/>
    <p:sldId id="545" r:id="rId17"/>
    <p:sldId id="611" r:id="rId18"/>
    <p:sldId id="546" r:id="rId19"/>
    <p:sldId id="597" r:id="rId20"/>
    <p:sldId id="615" r:id="rId21"/>
    <p:sldId id="610" r:id="rId22"/>
    <p:sldId id="593" r:id="rId23"/>
    <p:sldId id="598" r:id="rId24"/>
    <p:sldId id="523" r:id="rId25"/>
    <p:sldId id="524" r:id="rId26"/>
    <p:sldId id="527" r:id="rId27"/>
    <p:sldId id="595" r:id="rId28"/>
    <p:sldId id="596" r:id="rId29"/>
    <p:sldId id="601" r:id="rId30"/>
    <p:sldId id="528" r:id="rId31"/>
    <p:sldId id="560" r:id="rId32"/>
    <p:sldId id="559" r:id="rId33"/>
    <p:sldId id="558" r:id="rId34"/>
    <p:sldId id="549" r:id="rId35"/>
    <p:sldId id="566" r:id="rId36"/>
    <p:sldId id="612" r:id="rId37"/>
    <p:sldId id="564" r:id="rId38"/>
    <p:sldId id="613" r:id="rId39"/>
    <p:sldId id="530" r:id="rId40"/>
    <p:sldId id="532" r:id="rId41"/>
    <p:sldId id="594" r:id="rId42"/>
    <p:sldId id="600" r:id="rId43"/>
    <p:sldId id="609" r:id="rId44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998" autoAdjust="0"/>
  </p:normalViewPr>
  <p:slideViewPr>
    <p:cSldViewPr>
      <p:cViewPr varScale="1">
        <p:scale>
          <a:sx n="77" d="100"/>
          <a:sy n="77" d="100"/>
        </p:scale>
        <p:origin x="11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6C4A13A-D142-4A74-B504-D5230C00A2F7}" type="datetimeFigureOut">
              <a:rPr lang="zh-CN" altLang="en-US"/>
              <a:pPr>
                <a:defRPr/>
              </a:pPr>
              <a:t>2025/9/11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573FCE-8A44-44BF-9690-A09425E893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zh.wikipedia.org/wiki/%E7%9F%A9%E9%99%A3%E7%9A%84%E7%A7%A9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zh.wikipedia.org/wiki/%E9%80%86%E7%9F%A9%E9%99%A3" TargetMode="External"/><Relationship Id="rId4" Type="http://schemas.openxmlformats.org/officeDocument/2006/relationships/hyperlink" Target="http://zh.wikipedia.org/wiki/%E6%96%B9%E5%9D%97%E7%9F%A9%E9%98%B5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zh.wikipedia.org/wiki/%E7%9F%A9%E9%99%A3%E7%9A%84%E7%A7%A9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zh.wikipedia.org/wiki/%E9%80%86%E7%9F%A9%E9%99%A3" TargetMode="External"/><Relationship Id="rId4" Type="http://schemas.openxmlformats.org/officeDocument/2006/relationships/hyperlink" Target="http://zh.wikipedia.org/wiki/%E6%96%B9%E5%9D%97%E7%9F%A9%E9%98%B5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求解线性方阵组的一种算法，化成上三角阵，其对角线积是行列式的值，此方法也可用来求</a:t>
            </a:r>
            <a:r>
              <a:rPr lang="zh-CN" altLang="en-US" dirty="0">
                <a:hlinkClick r:id="rId3" tooltip="矩阵的秩"/>
              </a:rPr>
              <a:t>矩阵的秩</a:t>
            </a:r>
            <a:r>
              <a:rPr lang="zh-CN" altLang="en-US" dirty="0"/>
              <a:t>（三角阵中非全零的行数）</a:t>
            </a:r>
            <a:r>
              <a:rPr lang="zh-CN" altLang="en-US" b="1" dirty="0"/>
              <a:t>，</a:t>
            </a:r>
            <a:r>
              <a:rPr lang="zh-CN" altLang="en-US" dirty="0"/>
              <a:t>以及求可逆</a:t>
            </a:r>
            <a:r>
              <a:rPr lang="zh-CN" altLang="en-US" dirty="0">
                <a:hlinkClick r:id="rId4" tooltip="方阵"/>
              </a:rPr>
              <a:t>方阵</a:t>
            </a:r>
            <a:r>
              <a:rPr lang="zh-CN" altLang="en-US" dirty="0"/>
              <a:t>的</a:t>
            </a:r>
            <a:r>
              <a:rPr lang="zh-CN" altLang="en-US" dirty="0">
                <a:hlinkClick r:id="rId5" tooltip="逆矩阵"/>
              </a:rPr>
              <a:t>逆矩阵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05C74B3-4D42-4172-878A-BAFC83DBBF2D}" type="slidenum">
              <a:rPr lang="zh-CN" altLang="en-US" sz="1200" smtClean="0"/>
              <a:pPr/>
              <a:t>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求解线性方阵组的一种算法，化成上三角阵，其对角线积是行列式的值，此方法也可用来求</a:t>
            </a:r>
            <a:r>
              <a:rPr lang="zh-CN" altLang="en-US" dirty="0">
                <a:hlinkClick r:id="rId3" tooltip="矩阵的秩"/>
              </a:rPr>
              <a:t>矩阵的秩</a:t>
            </a:r>
            <a:r>
              <a:rPr lang="zh-CN" altLang="en-US" dirty="0"/>
              <a:t>（三角阵中非全零的行数）</a:t>
            </a:r>
            <a:r>
              <a:rPr lang="zh-CN" altLang="en-US" b="1" dirty="0"/>
              <a:t>，</a:t>
            </a:r>
            <a:r>
              <a:rPr lang="zh-CN" altLang="en-US" dirty="0"/>
              <a:t>以及求可逆</a:t>
            </a:r>
            <a:r>
              <a:rPr lang="zh-CN" altLang="en-US" dirty="0">
                <a:hlinkClick r:id="rId4" tooltip="方阵"/>
              </a:rPr>
              <a:t>方阵</a:t>
            </a:r>
            <a:r>
              <a:rPr lang="zh-CN" altLang="en-US" dirty="0"/>
              <a:t>的</a:t>
            </a:r>
            <a:r>
              <a:rPr lang="zh-CN" altLang="en-US" dirty="0">
                <a:hlinkClick r:id="rId5" tooltip="逆矩阵"/>
              </a:rPr>
              <a:t>逆矩阵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05C74B3-4D42-4172-878A-BAFC83DBBF2D}" type="slidenum">
              <a:rPr lang="zh-CN" altLang="en-US" sz="1200" smtClean="0"/>
              <a:pPr/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178157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顺序主子式：删除最后</a:t>
            </a:r>
            <a:r>
              <a:rPr lang="en-US" altLang="zh-CN" dirty="0"/>
              <a:t>2</a:t>
            </a:r>
            <a:r>
              <a:rPr lang="zh-CN" altLang="en-US" dirty="0"/>
              <a:t>行和</a:t>
            </a:r>
            <a:r>
              <a:rPr lang="en-US" altLang="zh-CN" dirty="0"/>
              <a:t>2</a:t>
            </a:r>
            <a:r>
              <a:rPr lang="zh-CN" altLang="en-US" dirty="0"/>
              <a:t>列，删除最后</a:t>
            </a:r>
            <a:r>
              <a:rPr lang="en-US" altLang="zh-CN" dirty="0"/>
              <a:t>1</a:t>
            </a:r>
            <a:r>
              <a:rPr lang="zh-CN" altLang="en-US" dirty="0"/>
              <a:t>行和</a:t>
            </a:r>
            <a:r>
              <a:rPr lang="en-US" altLang="zh-CN" dirty="0"/>
              <a:t>1</a:t>
            </a:r>
            <a:r>
              <a:rPr lang="zh-CN" altLang="en-US" dirty="0"/>
              <a:t>列，不删除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573FCE-8A44-44BF-9690-A09425E893F4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10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可逆</a:t>
            </a: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4104C9A-912B-4617-9344-04436F5AEB11}" type="slidenum">
              <a:rPr lang="zh-CN" altLang="en-US" sz="1200" smtClean="0"/>
              <a:pPr/>
              <a:t>30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一个单位下三角矩阵的逆矩阵仍为单位下三角矩阵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4A5DC8F-475D-4824-BBA4-5B3AD9B2196C}" type="slidenum">
              <a:rPr lang="zh-CN" altLang="en-US" sz="1200" smtClean="0"/>
              <a:pPr/>
              <a:t>31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用矩阵中的值除以相对应的主元值，可得到对应位置的</a:t>
            </a:r>
            <a:r>
              <a:rPr lang="en-US" altLang="zh-CN" dirty="0"/>
              <a:t>L</a:t>
            </a:r>
            <a:r>
              <a:rPr lang="zh-CN" altLang="en-US" dirty="0"/>
              <a:t>值。比如第一列主元为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3/2,2/2,4/2    ; </a:t>
            </a:r>
            <a:r>
              <a:rPr lang="zh-CN" altLang="en-US" dirty="0"/>
              <a:t>第二列主元为</a:t>
            </a:r>
            <a:r>
              <a:rPr lang="en-US" altLang="zh-CN" dirty="0"/>
              <a:t>-3</a:t>
            </a:r>
            <a:r>
              <a:rPr lang="zh-CN" altLang="en-US" dirty="0"/>
              <a:t>，</a:t>
            </a:r>
            <a:r>
              <a:rPr lang="en-US" altLang="zh-CN" dirty="0"/>
              <a:t>0/-3,-6/-3.   </a:t>
            </a:r>
            <a:r>
              <a:rPr lang="zh-CN" altLang="en-US" dirty="0"/>
              <a:t>第三列主元为</a:t>
            </a:r>
            <a:r>
              <a:rPr lang="en-US" altLang="zh-CN" dirty="0"/>
              <a:t>-5</a:t>
            </a:r>
            <a:r>
              <a:rPr lang="zh-CN" altLang="en-US" dirty="0"/>
              <a:t>，</a:t>
            </a:r>
            <a:r>
              <a:rPr lang="en-US" altLang="zh-CN" dirty="0"/>
              <a:t>-19/-5</a:t>
            </a:r>
            <a:endParaRPr lang="zh-CN" altLang="en-US" dirty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C407CD-D1F4-4FA5-AA68-F474E84CBBE9}" type="slidenum">
              <a:rPr lang="zh-CN" altLang="en-US" sz="1200" smtClean="0"/>
              <a:pPr/>
              <a:t>42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63F39-6A7F-47F3-A902-433D1FEB2D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66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F94D9-78A1-4AA7-B0F7-DE23244AE8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3275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7C197-5964-4349-AF0C-8F602A5ABC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6819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2956A-8168-4E71-B509-08B824288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7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C5E3-81B6-4D0E-81E9-B73E787DF9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371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902A7-BCA4-4A4E-938F-833B80E596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28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A98EF-2145-44BD-B36B-EE1A89887F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148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1C83F-0ED0-4595-984F-33567C608D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00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8CE78B-93F0-4CF2-AD89-87D6D04190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135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D5EBA-2901-47FC-819B-40C03B8448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901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9202A-6E38-4670-86CA-EAAC87417D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257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3E94C-13A2-4704-B801-8D2D75AF05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2283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91BED-86CB-4652-8746-B528A6A5C4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05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10D01BC-77C3-4665-9E72-9BD9762871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13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audio" Target="../media/audio1.wav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png"/><Relationship Id="rId4" Type="http://schemas.openxmlformats.org/officeDocument/2006/relationships/image" Target="../media/image7.wmf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6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34.png"/><Relationship Id="rId4" Type="http://schemas.openxmlformats.org/officeDocument/2006/relationships/image" Target="../media/image35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2.emf"/><Relationship Id="rId4" Type="http://schemas.openxmlformats.org/officeDocument/2006/relationships/oleObject" Target="../embeddings/oleObject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7"/>
          <p:cNvSpPr>
            <a:spLocks noChangeArrowheads="1"/>
          </p:cNvSpPr>
          <p:nvPr/>
        </p:nvSpPr>
        <p:spPr bwMode="auto">
          <a:xfrm>
            <a:off x="2640013" y="476250"/>
            <a:ext cx="6911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CC3300"/>
                </a:solidFill>
              </a:rPr>
              <a:t>第二章  线性代数方程组的解法</a:t>
            </a:r>
          </a:p>
        </p:txBody>
      </p:sp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2927350" y="1196975"/>
            <a:ext cx="7993186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2. 1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高斯消元法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2. 2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矩阵的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LU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分解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2. 3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雅可比迭代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2. 4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高斯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塞德尔迭代</a:t>
            </a:r>
            <a:endParaRPr lang="en-US" altLang="zh-CN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2. 5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逐次超松弛迭代法</a:t>
            </a:r>
            <a:endParaRPr lang="en-US" altLang="zh-CN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2. 6 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收敛性定理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可简单地判定收敛或发散）</a:t>
            </a:r>
            <a:endParaRPr lang="en-US" altLang="zh-CN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800" b="1" dirty="0"/>
              <a:t>2. 7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条件数与病态方程组（了解条件数）</a:t>
            </a:r>
            <a:endParaRPr lang="en-US" altLang="zh-CN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None/>
            </a:pPr>
            <a:endParaRPr lang="en-US" altLang="zh-CN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1BC380-F659-4DEF-BB7B-3E4B09048759}"/>
              </a:ext>
            </a:extLst>
          </p:cNvPr>
          <p:cNvSpPr txBox="1"/>
          <p:nvPr/>
        </p:nvSpPr>
        <p:spPr>
          <a:xfrm>
            <a:off x="8710652" y="155679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600956-BD11-4413-B64E-26A49DB7FA2D}"/>
              </a:ext>
            </a:extLst>
          </p:cNvPr>
          <p:cNvSpPr txBox="1"/>
          <p:nvPr/>
        </p:nvSpPr>
        <p:spPr>
          <a:xfrm>
            <a:off x="8710652" y="293591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迭代法</a:t>
            </a: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1D6C8C98-A13D-45C7-AD60-05090A6AB897}"/>
              </a:ext>
            </a:extLst>
          </p:cNvPr>
          <p:cNvSpPr/>
          <p:nvPr/>
        </p:nvSpPr>
        <p:spPr bwMode="auto">
          <a:xfrm>
            <a:off x="7464152" y="1420267"/>
            <a:ext cx="504056" cy="72008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409AAA96-406A-4FC0-AEE0-B0FE8CB786A1}"/>
              </a:ext>
            </a:extLst>
          </p:cNvPr>
          <p:cNvSpPr/>
          <p:nvPr/>
        </p:nvSpPr>
        <p:spPr bwMode="auto">
          <a:xfrm>
            <a:off x="7496269" y="2446664"/>
            <a:ext cx="504056" cy="1270368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208213" y="501650"/>
            <a:ext cx="7773987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</a:rPr>
              <a:t>Cramer</a:t>
            </a:r>
            <a:r>
              <a:rPr lang="zh-CN" altLang="en-US" sz="2400">
                <a:latin typeface="宋体" panose="02010600030101010101" pitchFamily="2" charset="-122"/>
              </a:rPr>
              <a:t>法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>
                <a:latin typeface="宋体" panose="02010600030101010101" pitchFamily="2" charset="-122"/>
              </a:rPr>
              <a:t>克莱姆法则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</a:rPr>
              <a:t>不宜用于系数矩阵阶数高的线性代数方程组求解。</a:t>
            </a:r>
            <a:endParaRPr lang="en-US" altLang="zh-CN" sz="24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208213" y="1773238"/>
            <a:ext cx="77739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求解线性代数方程组分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直接法</a:t>
            </a:r>
            <a:r>
              <a:rPr lang="zh-CN" altLang="en-US" sz="2400">
                <a:latin typeface="宋体" panose="02010600030101010101" pitchFamily="2" charset="-122"/>
              </a:rPr>
              <a:t>和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迭代法</a:t>
            </a:r>
            <a:endParaRPr lang="en-US" altLang="zh-CN" sz="24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208213" y="2536825"/>
            <a:ext cx="7991475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直接法</a:t>
            </a:r>
            <a:r>
              <a:rPr lang="zh-CN" altLang="en-US" sz="2400">
                <a:latin typeface="宋体" panose="02010600030101010101" pitchFamily="2" charset="-122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只包含有限次四则运算。若在计算过程中都不发生舍入误差的假定下，计算结果就是原方程组的精确解。</a:t>
            </a:r>
            <a:endParaRPr lang="en-US" altLang="zh-CN" sz="2400">
              <a:solidFill>
                <a:srgbClr val="FF0000"/>
              </a:solidFill>
              <a:latin typeface="宋体" panose="02010600030101010101" pitchFamily="2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79638" y="4484688"/>
            <a:ext cx="8020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迭代法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：把方程组的解向量看作是某种极限过程的极限。在这一极限过程中，每一步的结果，是将以前所得的结果、施行与前一步相同的演算步骤而得到的。</a:t>
            </a:r>
            <a:endParaRPr kumimoji="0" lang="zh-CN" altLang="en-US" sz="2400"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Tx/>
              <a:buNone/>
            </a:pPr>
            <a:endParaRPr lang="en-US" altLang="zh-CN" sz="2400">
              <a:solidFill>
                <a:srgbClr val="FF0000"/>
              </a:solidFill>
              <a:latin typeface="宋体" panose="02010600030101010101" pitchFamily="2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095500" y="692150"/>
            <a:ext cx="8001000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直接法与迭代法各有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优缺点</a:t>
            </a:r>
            <a:r>
              <a:rPr lang="en-US" altLang="zh-CN" sz="2400">
                <a:latin typeface="宋体" panose="02010600030101010101" pitchFamily="2" charset="-122"/>
              </a:rPr>
              <a:t>.</a:t>
            </a:r>
          </a:p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          </a:t>
            </a: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</a:rPr>
              <a:t>存储量 工作量 程序复杂度 适于系数矩阵阶数</a:t>
            </a:r>
            <a:endParaRPr lang="en-US" altLang="zh-CN" sz="240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0000FF"/>
                </a:solidFill>
                <a:latin typeface="宋体" panose="02010600030101010101" pitchFamily="2" charset="-122"/>
              </a:rPr>
              <a:t>直接法</a:t>
            </a:r>
            <a:r>
              <a:rPr lang="en-US" altLang="zh-CN" sz="2400">
                <a:latin typeface="宋体" panose="02010600030101010101" pitchFamily="2" charset="-122"/>
              </a:rPr>
              <a:t>:  </a:t>
            </a:r>
            <a:r>
              <a:rPr lang="zh-CN" altLang="en-US" sz="2400">
                <a:latin typeface="宋体" panose="02010600030101010101" pitchFamily="2" charset="-122"/>
              </a:rPr>
              <a:t>较小   较小     较高          不太高</a:t>
            </a:r>
            <a:endParaRPr lang="en-US" altLang="zh-CN" sz="240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0000FF"/>
                </a:solidFill>
                <a:latin typeface="宋体" panose="02010600030101010101" pitchFamily="2" charset="-122"/>
              </a:rPr>
              <a:t>迭代法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>
                <a:latin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</a:rPr>
              <a:t>较高   较大     较低           较高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351088" y="3571875"/>
            <a:ext cx="8713464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本章介绍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latin typeface="宋体" panose="02010600030101010101" pitchFamily="2" charset="-122"/>
              </a:rPr>
              <a:t>直接法：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Gauss(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高斯)消元法、追赶法、</a:t>
            </a:r>
            <a:r>
              <a:rPr lang="en-US" altLang="zh-CN" sz="2400" dirty="0" err="1">
                <a:solidFill>
                  <a:srgbClr val="C00000"/>
                </a:solidFill>
                <a:latin typeface="宋体" panose="02010600030101010101" pitchFamily="2" charset="-122"/>
              </a:rPr>
              <a:t>Dolittle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(LU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分解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latin typeface="宋体" panose="02010600030101010101" pitchFamily="2" charset="-122"/>
              </a:rPr>
              <a:t>迭代法：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Jacobi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迭代、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Gauss-Seidel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迭代、</a:t>
            </a:r>
            <a:r>
              <a:rPr lang="en-US" altLang="zh-CN" sz="2400" dirty="0">
                <a:latin typeface="宋体" panose="02010600030101010101" pitchFamily="2" charset="-122"/>
              </a:rPr>
              <a:t>SOR</a:t>
            </a:r>
            <a:r>
              <a:rPr lang="zh-CN" altLang="en-US" sz="2400" dirty="0">
                <a:latin typeface="宋体" panose="02010600030101010101" pitchFamily="2" charset="-122"/>
              </a:rPr>
              <a:t>、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     </a:t>
            </a:r>
            <a:r>
              <a:rPr lang="zh-CN" altLang="en-US" sz="2400" dirty="0">
                <a:solidFill>
                  <a:srgbClr val="7030A0"/>
                </a:solidFill>
                <a:latin typeface="宋体" panose="02010600030101010101" pitchFamily="2" charset="-122"/>
              </a:rPr>
              <a:t>最速下降法、共轭梯度法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906463" y="1989138"/>
            <a:ext cx="10363200" cy="41148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zh-CN" altLang="en-US" sz="6000"/>
              <a:t>直   接  法</a:t>
            </a:r>
          </a:p>
        </p:txBody>
      </p:sp>
      <p:sp>
        <p:nvSpPr>
          <p:cNvPr id="6148" name="矩形 3"/>
          <p:cNvSpPr>
            <a:spLocks noChangeArrowheads="1"/>
          </p:cNvSpPr>
          <p:nvPr/>
        </p:nvSpPr>
        <p:spPr bwMode="auto">
          <a:xfrm>
            <a:off x="3216275" y="3644900"/>
            <a:ext cx="7159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宋体" panose="02010600030101010101" pitchFamily="2" charset="-122"/>
              </a:rPr>
              <a:t>Gauss(</a:t>
            </a: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</a:rPr>
              <a:t>高斯)消元法、追赶法、</a:t>
            </a:r>
            <a:r>
              <a:rPr lang="en-US" altLang="zh-CN" dirty="0">
                <a:solidFill>
                  <a:srgbClr val="002060"/>
                </a:solidFill>
                <a:latin typeface="宋体" panose="02010600030101010101" pitchFamily="2" charset="-122"/>
              </a:rPr>
              <a:t>LU</a:t>
            </a:r>
            <a:r>
              <a:rPr lang="zh-CN" altLang="en-US" dirty="0">
                <a:solidFill>
                  <a:srgbClr val="002060"/>
                </a:solidFill>
                <a:latin typeface="宋体" panose="02010600030101010101" pitchFamily="2" charset="-122"/>
              </a:rPr>
              <a:t>分解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981075"/>
            <a:ext cx="7773987" cy="9350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dirty="0"/>
              <a:t>       </a:t>
            </a:r>
            <a:r>
              <a:rPr lang="zh-CN" altLang="en-US" sz="2400" dirty="0"/>
              <a:t>对于线性代数方程：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6" name="Object 2"/>
              <p:cNvSpPr txBox="1"/>
              <p:nvPr/>
            </p:nvSpPr>
            <p:spPr bwMode="auto">
              <a:xfrm>
                <a:off x="3503712" y="1624616"/>
                <a:ext cx="5688012" cy="111601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6.1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2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3712" y="1624616"/>
                <a:ext cx="5688012" cy="111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4"/>
          <p:cNvSpPr>
            <a:spLocks noChangeArrowheads="1"/>
          </p:cNvSpPr>
          <p:nvPr/>
        </p:nvSpPr>
        <p:spPr bwMode="auto">
          <a:xfrm>
            <a:off x="2166938" y="357188"/>
            <a:ext cx="3067050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§</a:t>
            </a:r>
            <a:r>
              <a:rPr lang="en-US" altLang="zh-CN" sz="2800" b="1" dirty="0">
                <a:latin typeface="+mn-lt"/>
                <a:ea typeface="+mn-ea"/>
              </a:rPr>
              <a:t>2. 1  </a:t>
            </a:r>
            <a:r>
              <a:rPr lang="zh-CN" altLang="en-US" sz="2800" b="1" dirty="0">
                <a:solidFill>
                  <a:schemeClr val="accent2"/>
                </a:solidFill>
                <a:latin typeface="+mn-lt"/>
                <a:ea typeface="+mn-ea"/>
              </a:rPr>
              <a:t>高斯消元法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3A84E60-6324-46D2-900D-F4F5752C7F90}"/>
              </a:ext>
            </a:extLst>
          </p:cNvPr>
          <p:cNvSpPr txBox="1">
            <a:spLocks noChangeArrowheads="1"/>
          </p:cNvSpPr>
          <p:nvPr/>
        </p:nvSpPr>
        <p:spPr>
          <a:xfrm>
            <a:off x="1055838" y="2821610"/>
            <a:ext cx="2934764" cy="466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元线性方程组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9DC47AE1-94B6-4FCA-82C6-EE0932C340AB}"/>
                  </a:ext>
                </a:extLst>
              </p:cNvPr>
              <p:cNvSpPr txBox="1"/>
              <p:nvPr/>
            </p:nvSpPr>
            <p:spPr>
              <a:xfrm>
                <a:off x="1166520" y="3504234"/>
                <a:ext cx="3906838" cy="1949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   ⋮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9DC47AE1-94B6-4FCA-82C6-EE0932C34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520" y="3504234"/>
                <a:ext cx="3906838" cy="19494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16">
            <a:extLst>
              <a:ext uri="{FF2B5EF4-FFF2-40B4-BE49-F238E27FC236}">
                <a16:creationId xmlns:a16="http://schemas.microsoft.com/office/drawing/2014/main" id="{91FFDFA6-5356-4554-A6B7-7205F6C348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918229"/>
              </p:ext>
            </p:extLst>
          </p:nvPr>
        </p:nvGraphicFramePr>
        <p:xfrm>
          <a:off x="6816080" y="3512171"/>
          <a:ext cx="4143375" cy="194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name="Equation" r:id="rId7" imgW="0" imgH="0" progId="Equation.DSMT4">
                  <p:embed/>
                </p:oleObj>
              </mc:Choice>
              <mc:Fallback>
                <p:oleObj name="Equation" r:id="rId7" imgW="0" imgH="0" progId="Equation.DSMT4">
                  <p:embed/>
                  <p:pic>
                    <p:nvPicPr>
                      <p:cNvPr id="11" name="Object 16">
                        <a:extLst>
                          <a:ext uri="{FF2B5EF4-FFF2-40B4-BE49-F238E27FC236}">
                            <a16:creationId xmlns:a16="http://schemas.microsoft.com/office/drawing/2014/main" id="{F66E7418-B620-4AA1-A58C-028ABD4DE3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816080" y="3512171"/>
                        <a:ext cx="4143375" cy="194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0">
            <a:extLst>
              <a:ext uri="{FF2B5EF4-FFF2-40B4-BE49-F238E27FC236}">
                <a16:creationId xmlns:a16="http://schemas.microsoft.com/office/drawing/2014/main" id="{132801C6-1205-4779-98C1-15B0F9791D4E}"/>
              </a:ext>
            </a:extLst>
          </p:cNvPr>
          <p:cNvGrpSpPr/>
          <p:nvPr/>
        </p:nvGrpSpPr>
        <p:grpSpPr>
          <a:xfrm>
            <a:off x="1271464" y="5656902"/>
            <a:ext cx="3026703" cy="560387"/>
            <a:chOff x="295" y="3430"/>
            <a:chExt cx="2406" cy="353"/>
          </a:xfrm>
        </p:grpSpPr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2B6CF649-6706-406B-9A36-7D9374324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3430"/>
              <a:ext cx="24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b="0" dirty="0">
                  <a:latin typeface="+mn-ea"/>
                  <a:ea typeface="+mn-ea"/>
                </a:rPr>
                <a:t>简记为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Object 19">
                  <a:extLst>
                    <a:ext uri="{FF2B5EF4-FFF2-40B4-BE49-F238E27FC236}">
                      <a16:creationId xmlns:a16="http://schemas.microsoft.com/office/drawing/2014/main" id="{270C5903-B718-483A-B63A-B722A50FF230}"/>
                    </a:ext>
                  </a:extLst>
                </p:cNvPr>
                <p:cNvSpPr txBox="1"/>
                <p:nvPr/>
              </p:nvSpPr>
              <p:spPr>
                <a:xfrm>
                  <a:off x="1610" y="3475"/>
                  <a:ext cx="816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4" name="Object 19">
                  <a:extLst>
                    <a:ext uri="{FF2B5EF4-FFF2-40B4-BE49-F238E27FC236}">
                      <a16:creationId xmlns:a16="http://schemas.microsoft.com/office/drawing/2014/main" id="{270C5903-B718-483A-B63A-B722A50FF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0" y="3475"/>
                  <a:ext cx="816" cy="3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 Box 7">
            <a:extLst>
              <a:ext uri="{FF2B5EF4-FFF2-40B4-BE49-F238E27FC236}">
                <a16:creationId xmlns:a16="http://schemas.microsoft.com/office/drawing/2014/main" id="{2B8688FC-7FCB-47CA-A99A-6A88D60FC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080" y="2795415"/>
            <a:ext cx="32769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0" dirty="0">
                <a:latin typeface="+mn-ea"/>
                <a:ea typeface="+mn-ea"/>
              </a:rPr>
              <a:t>方程组的矩阵形式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EF78135-A03D-46D1-A003-CA6114F9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3799" y="7642945"/>
            <a:ext cx="6672887" cy="365125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D45E6F32-C389-47BB-BB12-FDEE5BAC218D}"/>
                  </a:ext>
                </a:extLst>
              </p:cNvPr>
              <p:cNvSpPr txBox="1"/>
              <p:nvPr/>
            </p:nvSpPr>
            <p:spPr>
              <a:xfrm>
                <a:off x="4550212" y="5814889"/>
                <a:ext cx="5216087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1800" dirty="0"/>
                  <a:t>非奇异矩阵（可逆）时，有唯一解</a:t>
                </a:r>
              </a:p>
            </p:txBody>
          </p:sp>
        </mc:Choice>
        <mc:Fallback xmlns=""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D45E6F32-C389-47BB-BB12-FDEE5BAC2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212" y="5814889"/>
                <a:ext cx="5216087" cy="488950"/>
              </a:xfrm>
              <a:prstGeom prst="rect">
                <a:avLst/>
              </a:prstGeom>
              <a:blipFill>
                <a:blip r:embed="rId13"/>
                <a:stretch>
                  <a:fillRect t="-1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7"/>
          <p:cNvGrpSpPr>
            <a:grpSpLocks/>
          </p:cNvGrpSpPr>
          <p:nvPr/>
        </p:nvGrpSpPr>
        <p:grpSpPr bwMode="auto">
          <a:xfrm>
            <a:off x="2063244" y="695284"/>
            <a:ext cx="4824412" cy="2573337"/>
            <a:chOff x="539614" y="693674"/>
            <a:chExt cx="4824536" cy="25740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75" name="Object 5"/>
                <p:cNvSpPr txBox="1"/>
                <p:nvPr/>
              </p:nvSpPr>
              <p:spPr bwMode="auto">
                <a:xfrm>
                  <a:off x="2052129" y="1483401"/>
                  <a:ext cx="3130550" cy="17843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=12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175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52129" y="1483401"/>
                  <a:ext cx="3130550" cy="17843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76" name="矩形 5"/>
            <p:cNvSpPr>
              <a:spLocks noChangeArrowheads="1"/>
            </p:cNvSpPr>
            <p:nvPr/>
          </p:nvSpPr>
          <p:spPr bwMode="auto">
            <a:xfrm>
              <a:off x="539614" y="693674"/>
              <a:ext cx="4824536" cy="646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[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例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1]</a:t>
              </a:r>
              <a:r>
                <a:rPr lang="en-US" altLang="zh-CN" sz="2400" dirty="0">
                  <a:solidFill>
                    <a:srgbClr val="000000"/>
                  </a:solidFill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</a:rPr>
                <a:t>用</a:t>
              </a:r>
              <a:r>
                <a:rPr lang="en-US" altLang="zh-CN" sz="2400" dirty="0">
                  <a:solidFill>
                    <a:srgbClr val="000000"/>
                  </a:solidFill>
                </a:rPr>
                <a:t>Gauss</a:t>
              </a:r>
              <a:r>
                <a:rPr lang="zh-CN" altLang="en-US" sz="2400" dirty="0">
                  <a:solidFill>
                    <a:srgbClr val="000000"/>
                  </a:solidFill>
                </a:rPr>
                <a:t>消元法求解方程组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93AC5984-6913-407C-8440-E1063884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592" y="3789040"/>
            <a:ext cx="7561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olidFill>
                  <a:srgbClr val="000000"/>
                </a:solidFill>
              </a:rPr>
              <a:t>Gauss</a:t>
            </a:r>
            <a:r>
              <a:rPr lang="zh-CN" altLang="en-US" sz="2400" dirty="0">
                <a:solidFill>
                  <a:srgbClr val="000000"/>
                </a:solidFill>
              </a:rPr>
              <a:t>消元法的计算步骤分为</a:t>
            </a:r>
            <a:r>
              <a:rPr lang="zh-CN" altLang="en-US" sz="2400" dirty="0">
                <a:solidFill>
                  <a:srgbClr val="FF0000"/>
                </a:solidFill>
              </a:rPr>
              <a:t>消元</a:t>
            </a:r>
            <a:r>
              <a:rPr lang="zh-CN" altLang="en-US" sz="2400" dirty="0">
                <a:solidFill>
                  <a:srgbClr val="000000"/>
                </a:solidFill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回代</a:t>
            </a:r>
            <a:r>
              <a:rPr lang="zh-CN" altLang="en-US" sz="2400" dirty="0">
                <a:solidFill>
                  <a:srgbClr val="000000"/>
                </a:solidFill>
              </a:rPr>
              <a:t>两个过程。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01270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"/>
          <p:cNvGrpSpPr>
            <a:grpSpLocks/>
          </p:cNvGrpSpPr>
          <p:nvPr/>
        </p:nvGrpSpPr>
        <p:grpSpPr bwMode="auto">
          <a:xfrm>
            <a:off x="2135188" y="260350"/>
            <a:ext cx="6342062" cy="2144713"/>
            <a:chOff x="611188" y="260350"/>
            <a:chExt cx="6341801" cy="2144713"/>
          </a:xfrm>
        </p:grpSpPr>
        <p:sp>
          <p:nvSpPr>
            <p:cNvPr id="9230" name="矩形 3"/>
            <p:cNvSpPr>
              <a:spLocks noChangeArrowheads="1"/>
            </p:cNvSpPr>
            <p:nvPr/>
          </p:nvSpPr>
          <p:spPr bwMode="auto">
            <a:xfrm>
              <a:off x="611188" y="260350"/>
              <a:ext cx="63418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解</a:t>
              </a:r>
              <a:r>
                <a:rPr lang="zh-CN" altLang="en-US" sz="2400"/>
                <a:t>：对增广矩阵实施</a:t>
              </a:r>
              <a:r>
                <a:rPr lang="zh-CN" altLang="en-US" sz="2400" b="1">
                  <a:solidFill>
                    <a:srgbClr val="FF0000"/>
                  </a:solidFill>
                </a:rPr>
                <a:t>行</a:t>
              </a:r>
              <a:r>
                <a:rPr lang="zh-CN" altLang="en-US" sz="2400">
                  <a:solidFill>
                    <a:srgbClr val="FF0000"/>
                  </a:solidFill>
                </a:rPr>
                <a:t>初等变换</a:t>
              </a:r>
              <a:r>
                <a:rPr lang="zh-CN" altLang="en-US" sz="2400"/>
                <a:t>，进行消元：</a:t>
              </a:r>
            </a:p>
          </p:txBody>
        </p:sp>
        <p:graphicFrame>
          <p:nvGraphicFramePr>
            <p:cNvPr id="9231" name="Object 2"/>
            <p:cNvGraphicFramePr>
              <a:graphicFrameLocks noChangeAspect="1"/>
            </p:cNvGraphicFramePr>
            <p:nvPr/>
          </p:nvGraphicFramePr>
          <p:xfrm>
            <a:off x="899592" y="836613"/>
            <a:ext cx="2527300" cy="156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84" name="Equation" r:id="rId3" imgW="19745325" imgH="12287250" progId="Equation.DSMT4">
                    <p:embed/>
                  </p:oleObj>
                </mc:Choice>
                <mc:Fallback>
                  <p:oleObj name="Equation" r:id="rId3" imgW="19745325" imgH="1228725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836613"/>
                          <a:ext cx="2527300" cy="156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951413" y="2473325"/>
          <a:ext cx="4494212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85" name="Equation" r:id="rId5" imgW="35109150" imgH="12287250" progId="Equation.DSMT4">
                  <p:embed/>
                </p:oleObj>
              </mc:Choice>
              <mc:Fallback>
                <p:oleObj name="Equation" r:id="rId5" imgW="35109150" imgH="1228725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2473325"/>
                        <a:ext cx="4494212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943475" y="836613"/>
          <a:ext cx="485775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86" name="Equation" r:id="rId7" imgW="37957125" imgH="12287250" progId="Equation.DSMT4">
                  <p:embed/>
                </p:oleObj>
              </mc:Choice>
              <mc:Fallback>
                <p:oleObj name="Equation" r:id="rId7" imgW="37957125" imgH="1228725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836613"/>
                        <a:ext cx="4857750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0"/>
          <p:cNvGrpSpPr>
            <a:grpSpLocks/>
          </p:cNvGrpSpPr>
          <p:nvPr/>
        </p:nvGrpSpPr>
        <p:grpSpPr bwMode="auto">
          <a:xfrm>
            <a:off x="2135188" y="3933825"/>
            <a:ext cx="4295775" cy="2068513"/>
            <a:chOff x="611560" y="3933056"/>
            <a:chExt cx="4295403" cy="20692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28" name="Object 3"/>
                <p:cNvSpPr txBox="1"/>
                <p:nvPr/>
              </p:nvSpPr>
              <p:spPr bwMode="auto">
                <a:xfrm>
                  <a:off x="2124075" y="4076700"/>
                  <a:ext cx="2782888" cy="19256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=12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</m:t>
                                  </m:r>
                                  <m:f>
                                    <m:f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=7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=−2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9228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24075" y="4076700"/>
                  <a:ext cx="2782888" cy="192563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29" name="矩形 3"/>
            <p:cNvSpPr>
              <a:spLocks noChangeArrowheads="1"/>
            </p:cNvSpPr>
            <p:nvPr/>
          </p:nvSpPr>
          <p:spPr bwMode="auto">
            <a:xfrm>
              <a:off x="611560" y="3933056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得方程组</a:t>
              </a:r>
            </a:p>
          </p:txBody>
        </p:sp>
      </p:grpSp>
      <p:grpSp>
        <p:nvGrpSpPr>
          <p:cNvPr id="4" name="组合 13"/>
          <p:cNvGrpSpPr>
            <a:grpSpLocks/>
          </p:cNvGrpSpPr>
          <p:nvPr/>
        </p:nvGrpSpPr>
        <p:grpSpPr bwMode="auto">
          <a:xfrm>
            <a:off x="2135188" y="6092825"/>
            <a:ext cx="2089150" cy="495300"/>
            <a:chOff x="611560" y="6092825"/>
            <a:chExt cx="2088232" cy="4953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26" name="Object 4"/>
                <p:cNvSpPr txBox="1"/>
                <p:nvPr/>
              </p:nvSpPr>
              <p:spPr bwMode="auto">
                <a:xfrm>
                  <a:off x="1598067" y="6092825"/>
                  <a:ext cx="1101725" cy="495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=2,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922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98067" y="6092825"/>
                  <a:ext cx="1101725" cy="4953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27" name="矩形 3"/>
            <p:cNvSpPr>
              <a:spLocks noChangeArrowheads="1"/>
            </p:cNvSpPr>
            <p:nvPr/>
          </p:nvSpPr>
          <p:spPr bwMode="auto">
            <a:xfrm>
              <a:off x="611560" y="6093296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回代：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8"/>
              <p:cNvSpPr txBox="1"/>
              <p:nvPr/>
            </p:nvSpPr>
            <p:spPr bwMode="auto">
              <a:xfrm>
                <a:off x="4079875" y="6092825"/>
                <a:ext cx="1046163" cy="4953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9875" y="6092825"/>
                <a:ext cx="1046163" cy="4953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9"/>
              <p:cNvSpPr txBox="1"/>
              <p:nvPr/>
            </p:nvSpPr>
            <p:spPr bwMode="auto">
              <a:xfrm>
                <a:off x="5054600" y="6092825"/>
                <a:ext cx="825500" cy="4953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4600" y="6092825"/>
                <a:ext cx="825500" cy="4953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1"/>
          <p:cNvSpPr>
            <a:spLocks noChangeArrowheads="1"/>
          </p:cNvSpPr>
          <p:nvPr/>
        </p:nvSpPr>
        <p:spPr bwMode="auto">
          <a:xfrm>
            <a:off x="6535738" y="4240213"/>
            <a:ext cx="3883025" cy="2308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zh-CN" dirty="0">
                <a:solidFill>
                  <a:srgbClr val="4D4D4D"/>
                </a:solidFill>
                <a:latin typeface="Arial Unicode MS"/>
              </a:rPr>
              <a:t>原线性方程组</a:t>
            </a:r>
            <a:r>
              <a:rPr lang="en-US" altLang="zh-CN" dirty="0">
                <a:solidFill>
                  <a:srgbClr val="4D4D4D"/>
                </a:solidFill>
                <a:latin typeface="Arial Unicode MS"/>
              </a:rPr>
              <a:t>-&gt;</a:t>
            </a:r>
            <a:r>
              <a:rPr lang="zh-CN" altLang="zh-CN" dirty="0">
                <a:solidFill>
                  <a:srgbClr val="4D4D4D"/>
                </a:solidFill>
              </a:rPr>
              <a:t>   </a:t>
            </a:r>
            <a:r>
              <a:rPr lang="zh-CN" altLang="zh-CN" dirty="0">
                <a:solidFill>
                  <a:srgbClr val="4D4D4D"/>
                </a:solidFill>
                <a:latin typeface="Arial Unicode MS"/>
              </a:rPr>
              <a:t>高斯消元法</a:t>
            </a:r>
            <a:r>
              <a:rPr lang="en-US" altLang="zh-CN" dirty="0">
                <a:solidFill>
                  <a:srgbClr val="4D4D4D"/>
                </a:solidFill>
                <a:latin typeface="Arial Unicode MS"/>
              </a:rPr>
              <a:t>-&gt;</a:t>
            </a:r>
            <a:r>
              <a:rPr lang="zh-CN" altLang="zh-CN" dirty="0">
                <a:solidFill>
                  <a:srgbClr val="4D4D4D"/>
                </a:solidFill>
              </a:rPr>
              <a:t>   </a:t>
            </a:r>
            <a:r>
              <a:rPr lang="zh-CN" altLang="zh-CN" dirty="0">
                <a:solidFill>
                  <a:srgbClr val="4D4D4D"/>
                </a:solidFill>
                <a:latin typeface="Arial Unicode MS"/>
              </a:rPr>
              <a:t>下三角或上三角形式的线性方程组</a:t>
            </a:r>
            <a:r>
              <a:rPr lang="en-US" altLang="zh-CN" dirty="0">
                <a:solidFill>
                  <a:srgbClr val="4D4D4D"/>
                </a:solidFill>
                <a:latin typeface="Arial Unicode MS"/>
              </a:rPr>
              <a:t>-&gt;</a:t>
            </a:r>
            <a:r>
              <a:rPr lang="zh-CN" altLang="zh-CN" dirty="0">
                <a:solidFill>
                  <a:srgbClr val="4D4D4D"/>
                </a:solidFill>
              </a:rPr>
              <a:t>  </a:t>
            </a:r>
            <a:r>
              <a:rPr lang="zh-CN" altLang="zh-CN" dirty="0">
                <a:solidFill>
                  <a:srgbClr val="4D4D4D"/>
                </a:solidFill>
                <a:latin typeface="Arial Unicode MS"/>
              </a:rPr>
              <a:t>前向替换算法求解(对于上三角形式，采用后向替换算法).</a:t>
            </a:r>
            <a:br>
              <a:rPr lang="zh-CN" altLang="zh-CN" dirty="0">
                <a:solidFill>
                  <a:srgbClr val="4D4D4D"/>
                </a:solidFill>
              </a:rPr>
            </a:br>
            <a:endParaRPr lang="zh-CN" altLang="zh-CN" dirty="0">
              <a:solidFill>
                <a:srgbClr val="4D4D4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789750"/>
            <a:ext cx="7979101" cy="530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9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7" y="404664"/>
            <a:ext cx="8640960" cy="585870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51784" y="1290935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62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692696"/>
            <a:ext cx="8416486" cy="597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3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476672"/>
            <a:ext cx="8928992" cy="590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3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404664"/>
            <a:ext cx="8359190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21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332656"/>
            <a:ext cx="9361040" cy="62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08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602370"/>
            <a:ext cx="9505056" cy="55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53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3"/>
          <p:cNvSpPr>
            <a:spLocks noChangeArrowheads="1"/>
          </p:cNvSpPr>
          <p:nvPr/>
        </p:nvSpPr>
        <p:spPr bwMode="auto">
          <a:xfrm>
            <a:off x="2135188" y="44450"/>
            <a:ext cx="7273925" cy="663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/>
              <a:t>方法总结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对方程组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sz="2400" dirty="0"/>
              <a:t>的增广矩阵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实施</a:t>
            </a:r>
            <a:r>
              <a:rPr lang="zh-CN" altLang="en-US" sz="2400" dirty="0">
                <a:solidFill>
                  <a:srgbClr val="FF0000"/>
                </a:solidFill>
              </a:rPr>
              <a:t>行初等变换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化其为上三角矩阵</a:t>
            </a:r>
            <a:r>
              <a:rPr lang="zh-CN" altLang="en-US" sz="2400" dirty="0"/>
              <a:t>形式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再从最后一个方程开始逐步回代求解 </a:t>
            </a:r>
            <a:r>
              <a:rPr lang="en-US" altLang="zh-CN" sz="2400" i="1" dirty="0"/>
              <a:t>x </a:t>
            </a:r>
            <a:r>
              <a:rPr lang="zh-CN" altLang="en-US" sz="2400" dirty="0"/>
              <a:t>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35" name="Object 2"/>
              <p:cNvSpPr txBox="1"/>
              <p:nvPr/>
            </p:nvSpPr>
            <p:spPr bwMode="auto">
              <a:xfrm>
                <a:off x="3863975" y="549275"/>
                <a:ext cx="3384550" cy="84931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43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975" y="549275"/>
                <a:ext cx="3384550" cy="8493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36" name="Object 3"/>
              <p:cNvSpPr txBox="1"/>
              <p:nvPr/>
            </p:nvSpPr>
            <p:spPr bwMode="auto">
              <a:xfrm>
                <a:off x="3792538" y="1574800"/>
                <a:ext cx="3382962" cy="19256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43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2538" y="1574800"/>
                <a:ext cx="3382962" cy="19256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37" name="Object 4"/>
              <p:cNvSpPr txBox="1"/>
              <p:nvPr/>
            </p:nvSpPr>
            <p:spPr bwMode="auto">
              <a:xfrm>
                <a:off x="3792538" y="4165600"/>
                <a:ext cx="3409950" cy="19272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43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2538" y="4165600"/>
                <a:ext cx="3409950" cy="1927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3"/>
          <p:cNvSpPr>
            <a:spLocks noChangeArrowheads="1"/>
          </p:cNvSpPr>
          <p:nvPr/>
        </p:nvSpPr>
        <p:spPr bwMode="auto">
          <a:xfrm>
            <a:off x="2279650" y="39688"/>
            <a:ext cx="7699375" cy="670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200" b="1">
                <a:solidFill>
                  <a:schemeClr val="accent2"/>
                </a:solidFill>
              </a:rPr>
              <a:t>高斯消元法步骤：</a:t>
            </a:r>
            <a:r>
              <a:rPr lang="zh-CN" altLang="en-US" sz="2200"/>
              <a:t>设方程组对应的增广矩阵为                      </a:t>
            </a:r>
            <a:r>
              <a:rPr lang="zh-CN" altLang="en-US" sz="2400"/>
              <a:t>。</a:t>
            </a:r>
            <a:endParaRPr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8000"/>
                </a:solidFill>
              </a:rPr>
              <a:t>Step1</a:t>
            </a:r>
            <a:r>
              <a:rPr lang="en-US" altLang="zh-CN" sz="2000"/>
              <a:t> </a:t>
            </a:r>
            <a:r>
              <a:rPr lang="zh-CN" altLang="en-US" sz="2000"/>
              <a:t>消元：</a:t>
            </a:r>
            <a:endParaRPr lang="en-US" altLang="zh-CN" sz="200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for </a:t>
            </a:r>
            <a:r>
              <a:rPr lang="en-US" altLang="zh-CN" sz="2000" i="1"/>
              <a:t>i</a:t>
            </a:r>
            <a:r>
              <a:rPr lang="en-US" altLang="zh-CN" sz="2000"/>
              <a:t> =1 to </a:t>
            </a:r>
            <a:r>
              <a:rPr lang="en-US" altLang="zh-CN" sz="2000" i="1"/>
              <a:t>n</a:t>
            </a:r>
            <a:r>
              <a:rPr lang="en-US" altLang="zh-CN" sz="2000"/>
              <a:t>-1                          </a:t>
            </a:r>
            <a:r>
              <a:rPr lang="en-US" altLang="zh-CN" sz="2000">
                <a:solidFill>
                  <a:srgbClr val="CC0000"/>
                </a:solidFill>
              </a:rPr>
              <a:t>//</a:t>
            </a:r>
            <a:r>
              <a:rPr lang="zh-CN" altLang="en-US" sz="2000">
                <a:solidFill>
                  <a:srgbClr val="CC0000"/>
                </a:solidFill>
              </a:rPr>
              <a:t>对应每一行</a:t>
            </a:r>
            <a:endParaRPr lang="en-US" altLang="zh-CN" sz="2000">
              <a:solidFill>
                <a:srgbClr val="CC0000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      for </a:t>
            </a:r>
            <a:r>
              <a:rPr lang="en-US" altLang="zh-CN" sz="2000" i="1"/>
              <a:t>j</a:t>
            </a:r>
            <a:r>
              <a:rPr lang="en-US" altLang="zh-CN" sz="2000"/>
              <a:t> =</a:t>
            </a:r>
            <a:r>
              <a:rPr lang="en-US" altLang="zh-CN" sz="2000" i="1"/>
              <a:t>i</a:t>
            </a:r>
            <a:r>
              <a:rPr lang="en-US" altLang="zh-CN" sz="2000"/>
              <a:t>+1 to </a:t>
            </a:r>
            <a:r>
              <a:rPr lang="en-US" altLang="zh-CN" sz="2000" i="1"/>
              <a:t>n                    </a:t>
            </a:r>
            <a:r>
              <a:rPr lang="en-US" altLang="zh-CN" sz="2000">
                <a:solidFill>
                  <a:srgbClr val="CC0000"/>
                </a:solidFill>
              </a:rPr>
              <a:t>//</a:t>
            </a:r>
            <a:r>
              <a:rPr lang="zh-CN" altLang="en-US" sz="2000">
                <a:solidFill>
                  <a:srgbClr val="CC0000"/>
                </a:solidFill>
              </a:rPr>
              <a:t>对应 </a:t>
            </a:r>
            <a:r>
              <a:rPr lang="en-US" altLang="zh-CN" sz="2000" i="1">
                <a:solidFill>
                  <a:srgbClr val="CC0000"/>
                </a:solidFill>
              </a:rPr>
              <a:t>i </a:t>
            </a:r>
            <a:r>
              <a:rPr lang="zh-CN" altLang="en-US" sz="2000">
                <a:solidFill>
                  <a:srgbClr val="CC0000"/>
                </a:solidFill>
              </a:rPr>
              <a:t>行后每一行</a:t>
            </a:r>
            <a:endParaRPr lang="en-US" altLang="zh-CN" sz="2000">
              <a:solidFill>
                <a:srgbClr val="CC0000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 i="1"/>
              <a:t>           </a:t>
            </a:r>
            <a:r>
              <a:rPr lang="en-US" altLang="zh-CN" sz="2000"/>
              <a:t>for </a:t>
            </a:r>
            <a:r>
              <a:rPr lang="en-US" altLang="zh-CN" sz="2000" i="1"/>
              <a:t>k</a:t>
            </a:r>
            <a:r>
              <a:rPr lang="en-US" altLang="zh-CN" sz="2000"/>
              <a:t> = </a:t>
            </a:r>
            <a:r>
              <a:rPr lang="en-US" altLang="zh-CN" sz="2000" i="1"/>
              <a:t>j</a:t>
            </a:r>
            <a:r>
              <a:rPr lang="en-US" altLang="zh-CN" sz="2000"/>
              <a:t>+1 to </a:t>
            </a:r>
            <a:r>
              <a:rPr lang="en-US" altLang="zh-CN" sz="2000" i="1"/>
              <a:t>n               </a:t>
            </a:r>
            <a:r>
              <a:rPr lang="en-US" altLang="zh-CN" sz="2000">
                <a:solidFill>
                  <a:srgbClr val="CC0000"/>
                </a:solidFill>
              </a:rPr>
              <a:t>//</a:t>
            </a:r>
            <a:r>
              <a:rPr lang="zh-CN" altLang="en-US" sz="2000">
                <a:solidFill>
                  <a:srgbClr val="CC0000"/>
                </a:solidFill>
              </a:rPr>
              <a:t>对应 </a:t>
            </a:r>
            <a:r>
              <a:rPr lang="en-US" altLang="zh-CN" sz="2000" i="1">
                <a:solidFill>
                  <a:srgbClr val="CC0000"/>
                </a:solidFill>
              </a:rPr>
              <a:t>i </a:t>
            </a:r>
            <a:r>
              <a:rPr lang="zh-CN" altLang="en-US" sz="2000">
                <a:solidFill>
                  <a:srgbClr val="CC0000"/>
                </a:solidFill>
              </a:rPr>
              <a:t>行后每一行的每一列</a:t>
            </a:r>
            <a:endParaRPr lang="en-US" altLang="zh-CN" sz="2000" i="1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 i="1"/>
              <a:t>                 a</a:t>
            </a:r>
            <a:r>
              <a:rPr lang="en-US" altLang="zh-CN" sz="2000" i="1" baseline="-25000"/>
              <a:t>jk          </a:t>
            </a:r>
            <a:r>
              <a:rPr lang="en-US" altLang="zh-CN" sz="2000" i="1"/>
              <a:t>a</a:t>
            </a:r>
            <a:r>
              <a:rPr lang="en-US" altLang="zh-CN" sz="2000" i="1" baseline="-25000"/>
              <a:t>jk </a:t>
            </a:r>
            <a:r>
              <a:rPr lang="en-US" altLang="zh-CN" sz="2000"/>
              <a:t>-</a:t>
            </a:r>
            <a:r>
              <a:rPr lang="en-US" altLang="zh-CN" sz="2000" i="1"/>
              <a:t> a</a:t>
            </a:r>
            <a:r>
              <a:rPr lang="en-US" altLang="zh-CN" sz="2000" i="1" baseline="-25000"/>
              <a:t>ik</a:t>
            </a:r>
            <a:r>
              <a:rPr lang="en-US" altLang="zh-CN" sz="2000">
                <a:sym typeface="Symbol" panose="05050102010706020507" pitchFamily="18" charset="2"/>
              </a:rPr>
              <a:t></a:t>
            </a:r>
            <a:r>
              <a:rPr lang="en-US" altLang="zh-CN" sz="2000" i="1"/>
              <a:t> a</a:t>
            </a:r>
            <a:r>
              <a:rPr lang="en-US" altLang="zh-CN" sz="2000" i="1" baseline="-25000"/>
              <a:t>ij </a:t>
            </a:r>
            <a:r>
              <a:rPr lang="en-US" altLang="zh-CN" sz="2000"/>
              <a:t>/</a:t>
            </a:r>
            <a:r>
              <a:rPr lang="en-US" altLang="zh-CN" sz="2000" i="1"/>
              <a:t> a</a:t>
            </a:r>
            <a:r>
              <a:rPr lang="en-US" altLang="zh-CN" sz="2000" i="1" baseline="-25000"/>
              <a:t>ii            </a:t>
            </a:r>
            <a:r>
              <a:rPr lang="en-US" altLang="zh-CN" sz="2000"/>
              <a:t>(</a:t>
            </a:r>
            <a:r>
              <a:rPr lang="en-US" altLang="zh-CN" sz="2000" i="1"/>
              <a:t>a</a:t>
            </a:r>
            <a:r>
              <a:rPr lang="en-US" altLang="zh-CN" sz="2000" i="1" baseline="-25000"/>
              <a:t>ii</a:t>
            </a:r>
            <a:r>
              <a:rPr lang="en-US" altLang="zh-CN" sz="2000" baseline="-25000"/>
              <a:t> </a:t>
            </a:r>
            <a:r>
              <a:rPr lang="en-US" altLang="zh-CN" sz="2000">
                <a:sym typeface="Symbol" panose="05050102010706020507" pitchFamily="18" charset="2"/>
              </a:rPr>
              <a:t>0</a:t>
            </a:r>
            <a:r>
              <a:rPr lang="en-US" altLang="zh-CN" sz="2000"/>
              <a:t>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           end </a:t>
            </a:r>
            <a:r>
              <a:rPr lang="en-US" altLang="zh-CN" sz="2000" i="1"/>
              <a:t>k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                </a:t>
            </a:r>
            <a:r>
              <a:rPr lang="en-US" altLang="zh-CN" sz="2000" i="1"/>
              <a:t>b</a:t>
            </a:r>
            <a:r>
              <a:rPr lang="en-US" altLang="zh-CN" sz="2000" i="1" baseline="-25000"/>
              <a:t>j          </a:t>
            </a:r>
            <a:r>
              <a:rPr lang="en-US" altLang="zh-CN" sz="2000" i="1"/>
              <a:t>b</a:t>
            </a:r>
            <a:r>
              <a:rPr lang="en-US" altLang="zh-CN" sz="2000" i="1" baseline="-25000"/>
              <a:t>j </a:t>
            </a:r>
            <a:r>
              <a:rPr lang="en-US" altLang="zh-CN" sz="2000"/>
              <a:t>-</a:t>
            </a:r>
            <a:r>
              <a:rPr lang="en-US" altLang="zh-CN" sz="2000" i="1"/>
              <a:t> b</a:t>
            </a:r>
            <a:r>
              <a:rPr lang="en-US" altLang="zh-CN" sz="2000" i="1" baseline="-25000"/>
              <a:t>i</a:t>
            </a:r>
            <a:r>
              <a:rPr lang="en-US" altLang="zh-CN" sz="2000">
                <a:sym typeface="Symbol" panose="05050102010706020507" pitchFamily="18" charset="2"/>
              </a:rPr>
              <a:t></a:t>
            </a:r>
            <a:r>
              <a:rPr lang="en-US" altLang="zh-CN" sz="2000" i="1"/>
              <a:t> a</a:t>
            </a:r>
            <a:r>
              <a:rPr lang="en-US" altLang="zh-CN" sz="2000" i="1" baseline="-25000"/>
              <a:t>ij </a:t>
            </a:r>
            <a:r>
              <a:rPr lang="en-US" altLang="zh-CN" sz="2000"/>
              <a:t>/</a:t>
            </a:r>
            <a:r>
              <a:rPr lang="en-US" altLang="zh-CN" sz="2000" i="1"/>
              <a:t> a</a:t>
            </a:r>
            <a:r>
              <a:rPr lang="en-US" altLang="zh-CN" sz="2000" i="1" baseline="-25000"/>
              <a:t>ii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      end </a:t>
            </a:r>
            <a:r>
              <a:rPr lang="en-US" altLang="zh-CN" sz="2000" i="1"/>
              <a:t>j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end</a:t>
            </a:r>
            <a:r>
              <a:rPr lang="en-US" altLang="zh-CN" sz="2000" i="1"/>
              <a:t> i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8000"/>
                </a:solidFill>
              </a:rPr>
              <a:t>Step 2</a:t>
            </a:r>
            <a:r>
              <a:rPr lang="en-US" altLang="zh-CN" sz="2000"/>
              <a:t> </a:t>
            </a:r>
            <a:r>
              <a:rPr lang="zh-CN" altLang="en-US" sz="2000"/>
              <a:t>回代：</a:t>
            </a:r>
            <a:endParaRPr lang="en-US" altLang="zh-CN" sz="20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i="1"/>
              <a:t>x</a:t>
            </a:r>
            <a:r>
              <a:rPr lang="en-US" altLang="zh-CN" sz="2000" i="1" baseline="-25000"/>
              <a:t>n          </a:t>
            </a:r>
            <a:r>
              <a:rPr lang="en-US" altLang="zh-CN" sz="2000" i="1"/>
              <a:t>b</a:t>
            </a:r>
            <a:r>
              <a:rPr lang="en-US" altLang="zh-CN" sz="2000" i="1" baseline="-25000"/>
              <a:t>n</a:t>
            </a:r>
            <a:r>
              <a:rPr lang="en-US" altLang="zh-CN" sz="2000"/>
              <a:t>/</a:t>
            </a:r>
            <a:r>
              <a:rPr lang="en-US" altLang="zh-CN" sz="2000" i="1"/>
              <a:t> a</a:t>
            </a:r>
            <a:r>
              <a:rPr lang="en-US" altLang="zh-CN" sz="2000" i="1" baseline="-25000"/>
              <a:t>nn</a:t>
            </a:r>
            <a:endParaRPr lang="en-US" altLang="zh-CN" sz="20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for </a:t>
            </a:r>
            <a:r>
              <a:rPr lang="en-US" altLang="zh-CN" sz="2000" i="1"/>
              <a:t>j</a:t>
            </a:r>
            <a:r>
              <a:rPr lang="en-US" altLang="zh-CN" sz="2000"/>
              <a:t> =</a:t>
            </a:r>
            <a:r>
              <a:rPr lang="en-US" altLang="zh-CN" sz="2000" i="1"/>
              <a:t>n-</a:t>
            </a:r>
            <a:r>
              <a:rPr lang="en-US" altLang="zh-CN" sz="2000"/>
              <a:t>1 to 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000" i="1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900" i="1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i="1"/>
              <a:t>end      </a:t>
            </a:r>
            <a:r>
              <a:rPr lang="en-US" altLang="zh-CN" sz="2000"/>
              <a:t> </a:t>
            </a:r>
            <a:endParaRPr lang="en-US" altLang="zh-CN" sz="2000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59" name="Object 2"/>
              <p:cNvSpPr txBox="1"/>
              <p:nvPr/>
            </p:nvSpPr>
            <p:spPr bwMode="auto">
              <a:xfrm>
                <a:off x="7967663" y="155575"/>
                <a:ext cx="1584325" cy="5810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</m:e>
                                    <m:sub/>
                                  </m:sSub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5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7663" y="155575"/>
                <a:ext cx="1584325" cy="5810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60" name="直接箭头连接符 8"/>
          <p:cNvCxnSpPr>
            <a:cxnSpLocks noChangeShapeType="1"/>
          </p:cNvCxnSpPr>
          <p:nvPr/>
        </p:nvCxnSpPr>
        <p:spPr bwMode="auto">
          <a:xfrm flipH="1">
            <a:off x="3719513" y="2487613"/>
            <a:ext cx="288925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1" name="直接箭头连接符 10"/>
          <p:cNvCxnSpPr>
            <a:cxnSpLocks noChangeShapeType="1"/>
          </p:cNvCxnSpPr>
          <p:nvPr/>
        </p:nvCxnSpPr>
        <p:spPr bwMode="auto">
          <a:xfrm flipH="1">
            <a:off x="3636963" y="3230563"/>
            <a:ext cx="287337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462" name="Object 3"/>
              <p:cNvSpPr txBox="1"/>
              <p:nvPr/>
            </p:nvSpPr>
            <p:spPr bwMode="auto">
              <a:xfrm>
                <a:off x="2711450" y="5440363"/>
                <a:ext cx="3259138" cy="97313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𝑗𝑗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6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5440363"/>
                <a:ext cx="3259138" cy="973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63" name="直接箭头连接符 13"/>
          <p:cNvCxnSpPr>
            <a:cxnSpLocks noChangeShapeType="1"/>
          </p:cNvCxnSpPr>
          <p:nvPr/>
        </p:nvCxnSpPr>
        <p:spPr bwMode="auto">
          <a:xfrm flipH="1">
            <a:off x="2617788" y="4897438"/>
            <a:ext cx="287337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553592" y="602371"/>
            <a:ext cx="495300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/>
              <a:t>使用高斯消去法的条件</a:t>
            </a: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911424" y="1549715"/>
            <a:ext cx="7849641" cy="1096963"/>
            <a:chOff x="-30" y="815"/>
            <a:chExt cx="5806" cy="691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-30" y="861"/>
              <a:ext cx="5806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>
                <a:lnSpc>
                  <a:spcPct val="105000"/>
                </a:lnSpc>
                <a:spcBef>
                  <a:spcPct val="50000"/>
                </a:spcBef>
              </a:pPr>
              <a:r>
                <a:rPr lang="zh-CN" altLang="en-US" dirty="0"/>
                <a:t>     使用高斯消去法要求在每步消元时               ，              </a:t>
              </a:r>
            </a:p>
            <a:p>
              <a:pPr algn="just">
                <a:lnSpc>
                  <a:spcPct val="105000"/>
                </a:lnSpc>
                <a:spcBef>
                  <a:spcPct val="50000"/>
                </a:spcBef>
              </a:pPr>
              <a:r>
                <a:rPr lang="zh-CN" altLang="en-US" dirty="0"/>
                <a:t>那么矩阵</a:t>
              </a:r>
              <a:r>
                <a:rPr lang="en-US" altLang="zh-CN" dirty="0"/>
                <a:t>A</a:t>
              </a:r>
              <a:r>
                <a:rPr lang="zh-CN" altLang="en-US" dirty="0"/>
                <a:t>满足什么，才能保证这一条件呢？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Object 7"/>
                <p:cNvSpPr txBox="1"/>
                <p:nvPr/>
              </p:nvSpPr>
              <p:spPr bwMode="auto">
                <a:xfrm>
                  <a:off x="3858" y="815"/>
                  <a:ext cx="771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𝑘𝑘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8" y="815"/>
                  <a:ext cx="771" cy="3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266329" y="3323944"/>
            <a:ext cx="670188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定理</a:t>
            </a:r>
            <a:r>
              <a:rPr lang="zh-CN" altLang="en-US" dirty="0">
                <a:solidFill>
                  <a:schemeClr val="tx2"/>
                </a:solidFill>
              </a:rPr>
              <a:t>：</a:t>
            </a:r>
            <a:r>
              <a:rPr lang="zh-CN" altLang="en-US" dirty="0"/>
              <a:t>如果 </a:t>
            </a:r>
            <a:r>
              <a:rPr lang="en-US" altLang="zh-CN" dirty="0"/>
              <a:t>n </a:t>
            </a:r>
            <a:r>
              <a:rPr lang="zh-CN" altLang="en-US" dirty="0"/>
              <a:t>阶矩阵</a:t>
            </a:r>
            <a:r>
              <a:rPr lang="en-US" altLang="zh-CN" dirty="0"/>
              <a:t>A</a:t>
            </a:r>
            <a:r>
              <a:rPr lang="zh-CN" altLang="en-US" dirty="0"/>
              <a:t>的所有</a:t>
            </a:r>
            <a:r>
              <a:rPr lang="zh-CN" altLang="en-US" dirty="0">
                <a:solidFill>
                  <a:srgbClr val="FF0000"/>
                </a:solidFill>
              </a:rPr>
              <a:t>顺序主子式</a:t>
            </a:r>
            <a:r>
              <a:rPr lang="zh-CN" altLang="en-US" dirty="0"/>
              <a:t>均</a:t>
            </a:r>
          </a:p>
          <a:p>
            <a:pPr algn="just">
              <a:spcBef>
                <a:spcPct val="50000"/>
              </a:spcBef>
            </a:pPr>
            <a:r>
              <a:rPr lang="zh-CN" altLang="en-US" dirty="0"/>
              <a:t>不为零，则可通过高斯消去法（不进行交</a:t>
            </a:r>
          </a:p>
          <a:p>
            <a:pPr algn="just">
              <a:spcBef>
                <a:spcPct val="50000"/>
              </a:spcBef>
            </a:pPr>
            <a:r>
              <a:rPr lang="zh-CN" altLang="en-US" dirty="0"/>
              <a:t>换两行的初等变换），将方程组约化为三</a:t>
            </a:r>
          </a:p>
          <a:p>
            <a:pPr algn="just">
              <a:spcBef>
                <a:spcPct val="50000"/>
              </a:spcBef>
            </a:pPr>
            <a:r>
              <a:rPr lang="zh-CN" altLang="en-US" dirty="0"/>
              <a:t>角形方程组。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400256" y="243512"/>
            <a:ext cx="3600400" cy="6370975"/>
            <a:chOff x="8472264" y="208227"/>
            <a:chExt cx="3600400" cy="6370975"/>
          </a:xfrm>
        </p:grpSpPr>
        <p:sp>
          <p:nvSpPr>
            <p:cNvPr id="9" name="矩形 8"/>
            <p:cNvSpPr/>
            <p:nvPr/>
          </p:nvSpPr>
          <p:spPr>
            <a:xfrm>
              <a:off x="8472264" y="208227"/>
              <a:ext cx="3600400" cy="63709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设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A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是一个</a:t>
              </a:r>
              <a:r>
                <a:rPr lang="en-US" altLang="zh-CN" dirty="0" err="1">
                  <a:solidFill>
                    <a:srgbClr val="191B1F"/>
                  </a:solidFill>
                  <a:latin typeface="-apple-system"/>
                </a:rPr>
                <a:t>n×n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矩阵。从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A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中删除最后 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n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−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k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行和最后 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n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−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k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 列得到的 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A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的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k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阶主子矩阵称为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A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 的 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k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 阶</a:t>
              </a:r>
              <a:r>
                <a:rPr lang="zh-CN" altLang="en-US" b="1" dirty="0">
                  <a:solidFill>
                    <a:srgbClr val="191B1F"/>
                  </a:solidFill>
                  <a:latin typeface="-apple-system"/>
                </a:rPr>
                <a:t>顺序主子矩阵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。其行列式称为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A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的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k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阶</a:t>
              </a:r>
              <a:r>
                <a:rPr lang="zh-CN" altLang="en-US" b="1" dirty="0">
                  <a:solidFill>
                    <a:srgbClr val="191B1F"/>
                  </a:solidFill>
                  <a:latin typeface="-apple-system"/>
                </a:rPr>
                <a:t>顺序主子式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，记为 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|</a:t>
              </a:r>
              <a:r>
                <a:rPr lang="en-US" altLang="zh-CN" dirty="0" err="1">
                  <a:solidFill>
                    <a:srgbClr val="191B1F"/>
                  </a:solidFill>
                  <a:latin typeface="-apple-system"/>
                </a:rPr>
                <a:t>A</a:t>
              </a:r>
              <a:r>
                <a:rPr lang="en-US" altLang="zh-CN" baseline="-25000" dirty="0" err="1">
                  <a:solidFill>
                    <a:srgbClr val="191B1F"/>
                  </a:solidFill>
                  <a:latin typeface="-apple-system"/>
                </a:rPr>
                <a:t>k</a:t>
              </a:r>
              <a:r>
                <a:rPr lang="en-US" altLang="zh-CN" dirty="0">
                  <a:solidFill>
                    <a:srgbClr val="191B1F"/>
                  </a:solidFill>
                  <a:latin typeface="-apple-system"/>
                </a:rPr>
                <a:t>| </a:t>
              </a:r>
              <a:r>
                <a:rPr lang="zh-CN" altLang="en-US" dirty="0">
                  <a:solidFill>
                    <a:srgbClr val="191B1F"/>
                  </a:solidFill>
                  <a:latin typeface="-apple-system"/>
                </a:rPr>
                <a:t>。例：</a:t>
              </a:r>
              <a:endParaRPr lang="en-US" altLang="zh-CN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sz="2000" dirty="0">
                <a:solidFill>
                  <a:srgbClr val="191B1F"/>
                </a:solidFill>
                <a:latin typeface="-apple-system"/>
              </a:endParaRPr>
            </a:p>
            <a:p>
              <a:r>
                <a:rPr lang="zh-CN" altLang="en-US" sz="2000" dirty="0">
                  <a:solidFill>
                    <a:srgbClr val="191B1F"/>
                  </a:solidFill>
                  <a:latin typeface="-apple-system"/>
                </a:rPr>
                <a:t>三个顺序主子式（</a:t>
              </a:r>
              <a:r>
                <a:rPr lang="en-US" altLang="zh-CN" sz="2000" dirty="0">
                  <a:solidFill>
                    <a:srgbClr val="191B1F"/>
                  </a:solidFill>
                  <a:latin typeface="-apple-system"/>
                </a:rPr>
                <a:t>1</a:t>
              </a:r>
              <a:r>
                <a:rPr lang="zh-CN" altLang="en-US" sz="2000" dirty="0">
                  <a:solidFill>
                    <a:srgbClr val="191B1F"/>
                  </a:solidFill>
                  <a:latin typeface="-apple-system"/>
                </a:rPr>
                <a:t>阶，</a:t>
              </a:r>
              <a:r>
                <a:rPr lang="en-US" altLang="zh-CN" sz="2000" dirty="0">
                  <a:solidFill>
                    <a:srgbClr val="191B1F"/>
                  </a:solidFill>
                  <a:latin typeface="-apple-system"/>
                </a:rPr>
                <a:t>2</a:t>
              </a:r>
              <a:r>
                <a:rPr lang="zh-CN" altLang="en-US" sz="2000" dirty="0">
                  <a:solidFill>
                    <a:srgbClr val="191B1F"/>
                  </a:solidFill>
                  <a:latin typeface="-apple-system"/>
                </a:rPr>
                <a:t>阶，</a:t>
              </a:r>
              <a:r>
                <a:rPr lang="en-US" altLang="zh-CN" sz="2000" dirty="0">
                  <a:solidFill>
                    <a:srgbClr val="191B1F"/>
                  </a:solidFill>
                  <a:latin typeface="-apple-system"/>
                </a:rPr>
                <a:t>3</a:t>
              </a:r>
              <a:r>
                <a:rPr lang="zh-CN" altLang="en-US" sz="2000" dirty="0">
                  <a:solidFill>
                    <a:srgbClr val="191B1F"/>
                  </a:solidFill>
                  <a:latin typeface="-apple-system"/>
                </a:rPr>
                <a:t>阶）：</a:t>
              </a:r>
              <a:endParaRPr lang="en-US" altLang="zh-CN" sz="2000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sz="2000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sz="2000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sz="2000" dirty="0">
                <a:solidFill>
                  <a:srgbClr val="191B1F"/>
                </a:solidFill>
                <a:latin typeface="-apple-system"/>
              </a:endParaRPr>
            </a:p>
            <a:p>
              <a:endParaRPr lang="en-US" altLang="zh-CN" sz="2000" dirty="0">
                <a:solidFill>
                  <a:srgbClr val="191B1F"/>
                </a:solidFill>
                <a:latin typeface="-apple-system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80906" y="3178120"/>
              <a:ext cx="2456144" cy="137693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5"/>
            <a:srcRect r="5167"/>
            <a:stretch/>
          </p:blipFill>
          <p:spPr>
            <a:xfrm>
              <a:off x="8488461" y="5400988"/>
              <a:ext cx="3512195" cy="981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334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3"/>
          <p:cNvSpPr>
            <a:spLocks noChangeArrowheads="1"/>
          </p:cNvSpPr>
          <p:nvPr/>
        </p:nvSpPr>
        <p:spPr bwMode="auto">
          <a:xfrm>
            <a:off x="2171700" y="622300"/>
            <a:ext cx="78486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  </a:t>
            </a:r>
            <a:r>
              <a:rPr lang="zh-CN" altLang="en-US" sz="2400" dirty="0"/>
              <a:t>若方程组 </a:t>
            </a:r>
            <a:r>
              <a:rPr lang="en-US" altLang="zh-CN" sz="2400" i="1" dirty="0"/>
              <a:t>Ax</a:t>
            </a:r>
            <a:r>
              <a:rPr lang="en-US" altLang="zh-CN" sz="2400" dirty="0"/>
              <a:t> = </a:t>
            </a:r>
            <a:r>
              <a:rPr lang="en-US" altLang="zh-CN" sz="2400" i="1" dirty="0"/>
              <a:t>b</a:t>
            </a:r>
            <a:r>
              <a:rPr lang="zh-CN" altLang="en-US" sz="2400" b="1" dirty="0"/>
              <a:t> 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系数矩阵</a:t>
            </a:r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严格对角占优</a:t>
            </a:r>
            <a:r>
              <a:rPr lang="zh-CN" altLang="en-US" sz="2400" dirty="0"/>
              <a:t>，即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则</a:t>
            </a:r>
            <a:r>
              <a:rPr lang="en-US" altLang="zh-CN" sz="2400" dirty="0"/>
              <a:t>Gauss</a:t>
            </a:r>
            <a:r>
              <a:rPr lang="zh-CN" altLang="en-US" sz="2400" dirty="0"/>
              <a:t>消元法的主元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8000"/>
                </a:solidFill>
              </a:rPr>
              <a:t>注</a:t>
            </a:r>
            <a:r>
              <a:rPr lang="zh-CN" altLang="en-US" sz="2400" dirty="0"/>
              <a:t>：如果在进行第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行消元后出现主元为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ii</a:t>
            </a:r>
            <a:r>
              <a:rPr lang="en-US" altLang="zh-CN" sz="2400" i="1" baseline="-25000" dirty="0"/>
              <a:t> </a:t>
            </a:r>
            <a:r>
              <a:rPr lang="en-US" altLang="zh-CN" sz="2400" i="1" dirty="0"/>
              <a:t>=</a:t>
            </a:r>
            <a:r>
              <a:rPr lang="en-US" altLang="zh-CN" sz="2400" dirty="0"/>
              <a:t>0</a:t>
            </a:r>
            <a:r>
              <a:rPr lang="zh-CN" altLang="en-US" sz="2400" dirty="0"/>
              <a:t>，则选择不为</a:t>
            </a:r>
            <a:r>
              <a:rPr lang="en-US" altLang="zh-CN" sz="2400" dirty="0"/>
              <a:t>0</a:t>
            </a:r>
            <a:r>
              <a:rPr lang="zh-CN" altLang="en-US" sz="2400" dirty="0"/>
              <a:t>的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ji</a:t>
            </a:r>
            <a:r>
              <a:rPr lang="en-US" altLang="zh-CN" sz="2400" i="1" baseline="-25000" dirty="0"/>
              <a:t> </a:t>
            </a:r>
            <a:r>
              <a:rPr lang="zh-CN" altLang="en-US" sz="2400" dirty="0"/>
              <a:t>（</a:t>
            </a:r>
            <a:r>
              <a:rPr lang="en-US" altLang="zh-CN" sz="2400" i="1" dirty="0"/>
              <a:t>j </a:t>
            </a:r>
            <a:r>
              <a:rPr lang="en-US" altLang="zh-CN" sz="2400" dirty="0"/>
              <a:t>&gt; </a:t>
            </a:r>
            <a:r>
              <a:rPr lang="en-US" altLang="zh-CN" sz="2400" i="1" dirty="0" err="1"/>
              <a:t>i</a:t>
            </a:r>
            <a:r>
              <a:rPr lang="zh-CN" altLang="en-US" sz="2400" dirty="0"/>
              <a:t>）为主元，</a:t>
            </a:r>
            <a:r>
              <a:rPr lang="en-US" altLang="zh-CN" sz="2400" i="1" dirty="0"/>
              <a:t> j </a:t>
            </a:r>
            <a:r>
              <a:rPr lang="zh-CN" altLang="en-US" sz="2400" dirty="0"/>
              <a:t>行与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i</a:t>
            </a:r>
            <a:r>
              <a:rPr lang="zh-CN" altLang="en-US" sz="2400" dirty="0"/>
              <a:t>行对调，继续消元法操作；</a:t>
            </a:r>
            <a:r>
              <a:rPr lang="zh-CN" altLang="en-US" sz="2400" dirty="0">
                <a:solidFill>
                  <a:srgbClr val="FF0000"/>
                </a:solidFill>
              </a:rPr>
              <a:t>如果 </a:t>
            </a:r>
            <a:r>
              <a:rPr lang="en-US" altLang="zh-CN" sz="2400" i="1" dirty="0" err="1">
                <a:solidFill>
                  <a:srgbClr val="FF0000"/>
                </a:solidFill>
              </a:rPr>
              <a:t>a</a:t>
            </a:r>
            <a:r>
              <a:rPr lang="en-US" altLang="zh-CN" sz="2400" i="1" baseline="-25000" dirty="0" err="1">
                <a:solidFill>
                  <a:srgbClr val="FF0000"/>
                </a:solidFill>
              </a:rPr>
              <a:t>ji</a:t>
            </a:r>
            <a:r>
              <a:rPr lang="en-US" altLang="zh-CN" sz="2400" i="1" baseline="-250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en-US" altLang="zh-CN" sz="2400" i="1" dirty="0">
                <a:solidFill>
                  <a:srgbClr val="FF0000"/>
                </a:solidFill>
              </a:rPr>
              <a:t>j </a:t>
            </a:r>
            <a:r>
              <a:rPr lang="en-US" altLang="zh-CN" sz="2400" dirty="0">
                <a:solidFill>
                  <a:srgbClr val="FF0000"/>
                </a:solidFill>
              </a:rPr>
              <a:t>&gt; </a:t>
            </a:r>
            <a:r>
              <a:rPr lang="en-US" altLang="zh-CN" sz="2400" i="1" dirty="0" err="1">
                <a:solidFill>
                  <a:srgbClr val="FF0000"/>
                </a:solidFill>
              </a:rPr>
              <a:t>i</a:t>
            </a:r>
            <a:r>
              <a:rPr lang="zh-CN" altLang="en-US" sz="2400" dirty="0">
                <a:solidFill>
                  <a:srgbClr val="FF0000"/>
                </a:solidFill>
              </a:rPr>
              <a:t>）全为</a:t>
            </a:r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r>
              <a:rPr lang="zh-CN" altLang="en-US" sz="2400" dirty="0">
                <a:solidFill>
                  <a:srgbClr val="FF0000"/>
                </a:solidFill>
              </a:rPr>
              <a:t>，则方程组有无穷多组解或无解。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3" name="Object 2"/>
              <p:cNvSpPr txBox="1"/>
              <p:nvPr/>
            </p:nvSpPr>
            <p:spPr bwMode="auto">
              <a:xfrm>
                <a:off x="4657725" y="1341438"/>
                <a:ext cx="1539875" cy="107473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048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7725" y="1341438"/>
                <a:ext cx="1539875" cy="1074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84" name="Object 3"/>
              <p:cNvSpPr txBox="1"/>
              <p:nvPr/>
            </p:nvSpPr>
            <p:spPr bwMode="auto">
              <a:xfrm>
                <a:off x="4367213" y="3203575"/>
                <a:ext cx="3028950" cy="48577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048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213" y="3203575"/>
                <a:ext cx="3028950" cy="485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914400" y="549275"/>
            <a:ext cx="10363200" cy="5546725"/>
          </a:xfrm>
        </p:spPr>
        <p:txBody>
          <a:bodyPr/>
          <a:lstStyle/>
          <a:p>
            <a:r>
              <a:rPr lang="zh-CN" altLang="en-US" sz="2400" dirty="0"/>
              <a:t>严格对角占优矩阵：每个主对角元素的模（绝对值）都大于与它同行的其他元素的模的总和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pic>
        <p:nvPicPr>
          <p:cNvPr id="21507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2306638"/>
            <a:ext cx="360045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2282825"/>
            <a:ext cx="2973387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乘号 1">
            <a:extLst>
              <a:ext uri="{FF2B5EF4-FFF2-40B4-BE49-F238E27FC236}">
                <a16:creationId xmlns:a16="http://schemas.microsoft.com/office/drawing/2014/main" id="{D40243A5-1D4F-4704-8FEA-411E82CE680E}"/>
              </a:ext>
            </a:extLst>
          </p:cNvPr>
          <p:cNvSpPr/>
          <p:nvPr/>
        </p:nvSpPr>
        <p:spPr bwMode="auto">
          <a:xfrm>
            <a:off x="5797071" y="3862388"/>
            <a:ext cx="1080195" cy="942802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7F7756-DCF4-488D-B164-F3787721E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634" y="1149522"/>
            <a:ext cx="10305462" cy="48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067" tIns="41034" rIns="82067" bIns="41034">
            <a:spAutoFit/>
          </a:bodyPr>
          <a:lstStyle>
            <a:lvl1pPr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095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820738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230313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6414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0986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5558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0130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4702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</a:rPr>
              <a:t>       </a:t>
            </a:r>
            <a:r>
              <a:rPr lang="zh-CN" altLang="en-US" b="1" dirty="0">
                <a:latin typeface="+mn-ea"/>
                <a:ea typeface="+mn-ea"/>
              </a:rPr>
              <a:t>顺序</a:t>
            </a:r>
            <a:r>
              <a:rPr lang="en-US" altLang="zh-CN" b="1" dirty="0">
                <a:latin typeface="+mn-ea"/>
                <a:ea typeface="+mn-ea"/>
              </a:rPr>
              <a:t>Gauss</a:t>
            </a:r>
            <a:r>
              <a:rPr lang="zh-CN" altLang="en-US" b="1" dirty="0">
                <a:latin typeface="+mn-ea"/>
                <a:ea typeface="+mn-ea"/>
              </a:rPr>
              <a:t>消去法计算过程中：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2EE6E-B155-45D6-B805-29D690007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078" y="2221464"/>
            <a:ext cx="9665844" cy="452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067" tIns="41034" rIns="82067" bIns="41034">
            <a:spAutoFit/>
          </a:bodyPr>
          <a:lstStyle>
            <a:lvl1pPr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095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820738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230313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6414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0986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5558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0130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4702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b="1" dirty="0">
                <a:latin typeface="+mn-ea"/>
                <a:ea typeface="+mn-ea"/>
              </a:rPr>
              <a:t>1</a:t>
            </a:r>
            <a:r>
              <a:rPr lang="zh-CN" altLang="en-US" b="1" dirty="0">
                <a:latin typeface="+mn-ea"/>
                <a:ea typeface="+mn-ea"/>
              </a:rPr>
              <a:t>、若出现 </a:t>
            </a:r>
            <a:r>
              <a:rPr lang="en-US" altLang="zh-CN" b="1" i="1" dirty="0" err="1">
                <a:latin typeface="+mn-ea"/>
                <a:ea typeface="+mn-ea"/>
              </a:rPr>
              <a:t>a</a:t>
            </a:r>
            <a:r>
              <a:rPr lang="en-US" altLang="zh-CN" b="1" i="1" baseline="-25000" dirty="0" err="1">
                <a:latin typeface="+mn-ea"/>
                <a:ea typeface="+mn-ea"/>
              </a:rPr>
              <a:t>kk</a:t>
            </a:r>
            <a:r>
              <a:rPr lang="en-US" altLang="zh-CN" b="1" baseline="30000" dirty="0">
                <a:latin typeface="+mn-ea"/>
                <a:ea typeface="+mn-ea"/>
              </a:rPr>
              <a:t>(</a:t>
            </a:r>
            <a:r>
              <a:rPr lang="en-US" altLang="zh-CN" b="1" i="1" baseline="30000" dirty="0">
                <a:latin typeface="+mn-ea"/>
                <a:ea typeface="+mn-ea"/>
              </a:rPr>
              <a:t>k</a:t>
            </a:r>
            <a:r>
              <a:rPr lang="en-US" altLang="zh-CN" b="1" baseline="30000" dirty="0">
                <a:latin typeface="+mn-ea"/>
                <a:ea typeface="+mn-ea"/>
              </a:rPr>
              <a:t>)</a:t>
            </a:r>
            <a:r>
              <a:rPr lang="en-US" altLang="zh-CN" b="1" dirty="0">
                <a:latin typeface="+mn-ea"/>
                <a:ea typeface="+mn-ea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＝</a:t>
            </a:r>
            <a:r>
              <a:rPr lang="en-US" altLang="zh-CN" b="1" dirty="0">
                <a:latin typeface="+mn-ea"/>
                <a:ea typeface="+mn-ea"/>
              </a:rPr>
              <a:t>0</a:t>
            </a:r>
            <a:r>
              <a:rPr lang="zh-CN" altLang="en-US" b="1" dirty="0">
                <a:latin typeface="+mn-ea"/>
                <a:ea typeface="+mn-ea"/>
              </a:rPr>
              <a:t>，消元过程就不能进行下去。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894AC6-9610-4C96-BD0E-41F1C0535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3108630"/>
            <a:ext cx="10305462" cy="94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067" tIns="41034" rIns="82067" bIns="41034">
            <a:spAutoFit/>
          </a:bodyPr>
          <a:lstStyle>
            <a:lvl1pPr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095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820738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230313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6414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0986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5558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0130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4702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</a:rPr>
              <a:t> 2</a:t>
            </a:r>
            <a:r>
              <a:rPr lang="zh-CN" altLang="en-US" b="1" dirty="0">
                <a:latin typeface="+mn-ea"/>
                <a:ea typeface="+mn-ea"/>
              </a:rPr>
              <a:t>、</a:t>
            </a:r>
            <a:r>
              <a:rPr lang="en-US" altLang="zh-CN" b="1" i="1" dirty="0" err="1">
                <a:latin typeface="+mn-ea"/>
                <a:ea typeface="+mn-ea"/>
              </a:rPr>
              <a:t>a</a:t>
            </a:r>
            <a:r>
              <a:rPr lang="en-US" altLang="zh-CN" b="1" i="1" baseline="-25000" dirty="0" err="1">
                <a:latin typeface="+mn-ea"/>
                <a:ea typeface="+mn-ea"/>
              </a:rPr>
              <a:t>kk</a:t>
            </a:r>
            <a:r>
              <a:rPr lang="en-US" altLang="zh-CN" b="1" baseline="30000" dirty="0">
                <a:latin typeface="+mn-ea"/>
                <a:ea typeface="+mn-ea"/>
              </a:rPr>
              <a:t>(</a:t>
            </a:r>
            <a:r>
              <a:rPr lang="en-US" altLang="zh-CN" b="1" i="1" baseline="30000" dirty="0">
                <a:latin typeface="+mn-ea"/>
                <a:ea typeface="+mn-ea"/>
              </a:rPr>
              <a:t>k</a:t>
            </a:r>
            <a:r>
              <a:rPr lang="en-US" altLang="zh-CN" b="1" baseline="30000" dirty="0">
                <a:latin typeface="+mn-ea"/>
                <a:ea typeface="+mn-ea"/>
              </a:rPr>
              <a:t>)</a:t>
            </a:r>
            <a:r>
              <a:rPr lang="en-US" altLang="zh-CN" b="1" dirty="0">
                <a:latin typeface="+mn-ea"/>
                <a:ea typeface="+mn-ea"/>
              </a:rPr>
              <a:t>≠ 0 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b="1" dirty="0">
                <a:latin typeface="+mn-ea"/>
                <a:ea typeface="+mn-ea"/>
              </a:rPr>
              <a:t>消去过程能够进行，但若</a:t>
            </a:r>
            <a:r>
              <a:rPr lang="en-US" altLang="zh-CN" b="1" dirty="0">
                <a:latin typeface="+mn-ea"/>
                <a:ea typeface="+mn-ea"/>
              </a:rPr>
              <a:t>|</a:t>
            </a:r>
            <a:r>
              <a:rPr lang="en-US" altLang="zh-CN" b="1" i="1" dirty="0" err="1">
                <a:latin typeface="+mn-ea"/>
                <a:ea typeface="+mn-ea"/>
              </a:rPr>
              <a:t>a</a:t>
            </a:r>
            <a:r>
              <a:rPr lang="en-US" altLang="zh-CN" b="1" i="1" baseline="-25000" dirty="0" err="1">
                <a:latin typeface="+mn-ea"/>
                <a:ea typeface="+mn-ea"/>
              </a:rPr>
              <a:t>kk</a:t>
            </a:r>
            <a:r>
              <a:rPr lang="en-US" altLang="zh-CN" b="1" baseline="30000" dirty="0">
                <a:latin typeface="+mn-ea"/>
                <a:ea typeface="+mn-ea"/>
              </a:rPr>
              <a:t>(</a:t>
            </a:r>
            <a:r>
              <a:rPr lang="en-US" altLang="zh-CN" b="1" i="1" baseline="30000" dirty="0">
                <a:latin typeface="+mn-ea"/>
                <a:ea typeface="+mn-ea"/>
              </a:rPr>
              <a:t>k</a:t>
            </a:r>
            <a:r>
              <a:rPr lang="en-US" altLang="zh-CN" b="1" baseline="30000" dirty="0">
                <a:latin typeface="+mn-ea"/>
                <a:ea typeface="+mn-ea"/>
              </a:rPr>
              <a:t>)</a:t>
            </a:r>
            <a:r>
              <a:rPr lang="en-US" altLang="zh-CN" b="1" dirty="0">
                <a:latin typeface="+mn-ea"/>
                <a:ea typeface="+mn-ea"/>
              </a:rPr>
              <a:t>| </a:t>
            </a:r>
            <a:r>
              <a:rPr lang="zh-CN" altLang="en-US" b="1" dirty="0">
                <a:latin typeface="+mn-ea"/>
                <a:ea typeface="+mn-ea"/>
              </a:rPr>
              <a:t>过小，也会造成舍入误差积累很大导致计算解的精度下降。</a:t>
            </a:r>
            <a:r>
              <a:rPr lang="zh-CN" altLang="en-US" dirty="0">
                <a:latin typeface="+mn-ea"/>
                <a:ea typeface="+mn-ea"/>
              </a:rPr>
              <a:t> </a:t>
            </a:r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1858AF55-B72C-4D73-B36D-10FD12BE6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078" y="4653136"/>
            <a:ext cx="8496888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>
                <a:srgbClr val="0066FF"/>
              </a:buClr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顺序高斯消去法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的数值稳定性是没有保证的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8580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46768" y="4603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例：</a:t>
            </a:r>
            <a:r>
              <a:rPr lang="zh-CN" altLang="en-US" b="1" dirty="0"/>
              <a:t>单精度</a:t>
            </a:r>
            <a:r>
              <a:rPr lang="zh-CN" altLang="en-US" dirty="0"/>
              <a:t>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742912" y="1108407"/>
                <a:ext cx="2461700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        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912" y="1108407"/>
                <a:ext cx="2461700" cy="823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279576" y="2492896"/>
            <a:ext cx="3708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若直接用</a:t>
            </a:r>
            <a:r>
              <a:rPr lang="en-US" altLang="zh-CN" dirty="0"/>
              <a:t>Gauss</a:t>
            </a:r>
            <a:r>
              <a:rPr lang="zh-CN" altLang="en-US" dirty="0"/>
              <a:t>消去法，则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556280" y="3550703"/>
                <a:ext cx="73981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zh-C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00000000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280" y="3550703"/>
                <a:ext cx="7398116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620260" y="2954561"/>
                <a:ext cx="1937005" cy="523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−9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260" y="2954561"/>
                <a:ext cx="1937005" cy="523861"/>
              </a:xfrm>
              <a:prstGeom prst="rect">
                <a:avLst/>
              </a:prstGeom>
              <a:blipFill>
                <a:blip r:embed="rId5"/>
                <a:stretch>
                  <a:fillRect t="-4651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十角星 8"/>
          <p:cNvSpPr/>
          <p:nvPr/>
        </p:nvSpPr>
        <p:spPr bwMode="auto">
          <a:xfrm>
            <a:off x="10200456" y="3299495"/>
            <a:ext cx="1656184" cy="1728192"/>
          </a:xfrm>
          <a:prstGeom prst="star10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大数吃小数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559496" y="4134618"/>
                <a:ext cx="939168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=0.00000000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4134618"/>
                <a:ext cx="9391683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563766" y="4768339"/>
                <a:ext cx="2975815" cy="663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766" y="4768339"/>
                <a:ext cx="2975815" cy="6630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572976" y="5527975"/>
                <a:ext cx="21692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976" y="5527975"/>
                <a:ext cx="2169248" cy="461665"/>
              </a:xfrm>
              <a:prstGeom prst="rect">
                <a:avLst/>
              </a:prstGeom>
              <a:blipFill>
                <a:blip r:embed="rId8"/>
                <a:stretch>
                  <a:fillRect t="-10526" r="-3371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十角星 13"/>
          <p:cNvSpPr/>
          <p:nvPr/>
        </p:nvSpPr>
        <p:spPr bwMode="auto">
          <a:xfrm>
            <a:off x="6501866" y="4596283"/>
            <a:ext cx="1368152" cy="1430606"/>
          </a:xfrm>
          <a:prstGeom prst="star10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误差传播，值失真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A79856FC-F17A-47A8-A7C6-15CF7C1019C5}"/>
              </a:ext>
            </a:extLst>
          </p:cNvPr>
          <p:cNvGrpSpPr/>
          <p:nvPr/>
        </p:nvGrpSpPr>
        <p:grpSpPr>
          <a:xfrm>
            <a:off x="3287688" y="1725359"/>
            <a:ext cx="8237538" cy="876301"/>
            <a:chOff x="240" y="1104"/>
            <a:chExt cx="5189" cy="552"/>
          </a:xfrm>
        </p:grpSpPr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B3B65FC4-F3FF-448E-AEA7-E303D94F0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296"/>
              <a:ext cx="518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2400">
                  <a:solidFill>
                    <a:srgbClr val="008000"/>
                  </a:solidFill>
                  <a:latin typeface="Times New Roman" pitchFamily="18" charset="0"/>
                  <a:ea typeface="黑体"/>
                </a:rPr>
                <a:t>/* </a:t>
              </a:r>
              <a:r>
                <a:rPr kumimoji="1" lang="zh-CN" altLang="en-US" sz="2400">
                  <a:solidFill>
                    <a:srgbClr val="008000"/>
                  </a:solidFill>
                  <a:latin typeface="Times New Roman" pitchFamily="18" charset="0"/>
                  <a:ea typeface="黑体"/>
                </a:rPr>
                <a:t>精确解为                                        和                                      *</a:t>
              </a:r>
              <a:r>
                <a:rPr kumimoji="1" lang="en-US" altLang="zh-CN" sz="2400">
                  <a:solidFill>
                    <a:srgbClr val="008000"/>
                  </a:solidFill>
                  <a:latin typeface="Times New Roman" pitchFamily="18" charset="0"/>
                  <a:ea typeface="黑体"/>
                </a:rPr>
                <a:t>/</a:t>
              </a:r>
            </a:p>
          </p:txBody>
        </p:sp>
        <p:grpSp>
          <p:nvGrpSpPr>
            <p:cNvPr id="17" name="Group 8">
              <a:extLst>
                <a:ext uri="{FF2B5EF4-FFF2-40B4-BE49-F238E27FC236}">
                  <a16:creationId xmlns:a16="http://schemas.microsoft.com/office/drawing/2014/main" id="{D81F8989-AB6D-49AA-B4D4-C3BDA3D6EB49}"/>
                </a:ext>
              </a:extLst>
            </p:cNvPr>
            <p:cNvGrpSpPr/>
            <p:nvPr/>
          </p:nvGrpSpPr>
          <p:grpSpPr>
            <a:xfrm>
              <a:off x="1296" y="1104"/>
              <a:ext cx="1886" cy="552"/>
              <a:chOff x="1090" y="2016"/>
              <a:chExt cx="1886" cy="55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Object 9">
                    <a:extLst>
                      <a:ext uri="{FF2B5EF4-FFF2-40B4-BE49-F238E27FC236}">
                        <a16:creationId xmlns:a16="http://schemas.microsoft.com/office/drawing/2014/main" id="{01F03AC1-C24A-43F7-91D7-19D7C64E79B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" y="2064"/>
                    <a:ext cx="1886" cy="5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625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−9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=1.</m:t>
                          </m:r>
                          <m:limUpp>
                            <m:limUp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groupChr>
                                <m:groupChrPr>
                                  <m:chr m:val="⏞"/>
                                  <m:pos m:val="top"/>
                                  <m:vertJc m:val="bot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00...0</m:t>
                                  </m:r>
                                </m:e>
                              </m:groupChr>
                            </m:e>
                            <m:lim/>
                          </m:limUp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100...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1" name="Object 9">
                    <a:extLst>
                      <a:ext uri="{FF2B5EF4-FFF2-40B4-BE49-F238E27FC236}">
                        <a16:creationId xmlns:a16="http://schemas.microsoft.com/office/drawing/2014/main" id="{01F03AC1-C24A-43F7-91D7-19D7C64E79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" y="2064"/>
                    <a:ext cx="1886" cy="50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Text Box 10">
                <a:extLst>
                  <a:ext uri="{FF2B5EF4-FFF2-40B4-BE49-F238E27FC236}">
                    <a16:creationId xmlns:a16="http://schemas.microsoft.com/office/drawing/2014/main" id="{E0CC3057-1D65-4FF3-A367-D042725DC0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2016"/>
                <a:ext cx="336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1600">
                    <a:solidFill>
                      <a:srgbClr val="008000"/>
                    </a:solidFill>
                    <a:latin typeface="Times New Roman" pitchFamily="18" charset="0"/>
                    <a:ea typeface="黑体"/>
                  </a:rPr>
                  <a:t>8</a:t>
                </a:r>
                <a:r>
                  <a:rPr kumimoji="1" lang="zh-CN" altLang="en-US" sz="1600">
                    <a:solidFill>
                      <a:srgbClr val="008000"/>
                    </a:solidFill>
                    <a:latin typeface="Times New Roman" pitchFamily="18" charset="0"/>
                    <a:ea typeface="黑体"/>
                  </a:rPr>
                  <a:t>个</a:t>
                </a:r>
              </a:p>
            </p:txBody>
          </p:sp>
        </p:grpSp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A8D5DB17-6CD9-44AD-BBC5-AEC00D192C4A}"/>
                </a:ext>
              </a:extLst>
            </p:cNvPr>
            <p:cNvGrpSpPr/>
            <p:nvPr/>
          </p:nvGrpSpPr>
          <p:grpSpPr>
            <a:xfrm>
              <a:off x="3408" y="1104"/>
              <a:ext cx="1797" cy="467"/>
              <a:chOff x="3216" y="2064"/>
              <a:chExt cx="1797" cy="46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Object 12">
                    <a:extLst>
                      <a:ext uri="{FF2B5EF4-FFF2-40B4-BE49-F238E27FC236}">
                        <a16:creationId xmlns:a16="http://schemas.microsoft.com/office/drawing/2014/main" id="{EEB7B234-8F1B-4DEE-8753-BFAB3C1946D9}"/>
                      </a:ext>
                    </a:extLst>
                  </p:cNvPr>
                  <p:cNvSpPr txBox="1"/>
                  <p:nvPr/>
                </p:nvSpPr>
                <p:spPr>
                  <a:xfrm>
                    <a:off x="3216" y="2112"/>
                    <a:ext cx="1797" cy="41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625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Pre>
                            <m:sPre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sPr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=0.</m:t>
                          </m:r>
                          <m:limUpp>
                            <m:limUp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groupChr>
                                <m:groupChrPr>
                                  <m:chr m:val="⏞"/>
                                  <m:pos m:val="top"/>
                                  <m:vertJc m:val="bot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99 ... 9</m:t>
                                  </m:r>
                                </m:e>
                              </m:groupChr>
                            </m:e>
                            <m:lim/>
                          </m:limUp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899...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9" name="Object 12">
                    <a:extLst>
                      <a:ext uri="{FF2B5EF4-FFF2-40B4-BE49-F238E27FC236}">
                        <a16:creationId xmlns:a16="http://schemas.microsoft.com/office/drawing/2014/main" id="{EEB7B234-8F1B-4DEE-8753-BFAB3C1946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6" y="2112"/>
                    <a:ext cx="1797" cy="41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Text Box 13">
                <a:extLst>
                  <a:ext uri="{FF2B5EF4-FFF2-40B4-BE49-F238E27FC236}">
                    <a16:creationId xmlns:a16="http://schemas.microsoft.com/office/drawing/2014/main" id="{0FE7266C-F63D-4EDE-947C-8B54DAE8BB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2064"/>
                <a:ext cx="336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1600">
                    <a:solidFill>
                      <a:srgbClr val="008000"/>
                    </a:solidFill>
                    <a:latin typeface="Times New Roman" pitchFamily="18" charset="0"/>
                    <a:ea typeface="黑体"/>
                  </a:rPr>
                  <a:t>8</a:t>
                </a:r>
                <a:r>
                  <a:rPr kumimoji="1" lang="zh-CN" altLang="en-US" sz="1600">
                    <a:solidFill>
                      <a:srgbClr val="008000"/>
                    </a:solidFill>
                    <a:latin typeface="Times New Roman" pitchFamily="18" charset="0"/>
                    <a:ea typeface="黑体"/>
                  </a:rPr>
                  <a:t>个</a:t>
                </a:r>
              </a:p>
            </p:txBody>
          </p:sp>
        </p:grpSp>
      </p:grpSp>
      <p:sp>
        <p:nvSpPr>
          <p:cNvPr id="23" name="Text Box 19">
            <a:extLst>
              <a:ext uri="{FF2B5EF4-FFF2-40B4-BE49-F238E27FC236}">
                <a16:creationId xmlns:a16="http://schemas.microsoft.com/office/drawing/2014/main" id="{A1C79E03-9DC1-4632-9F75-A1C710A24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4" y="3275930"/>
            <a:ext cx="87540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600" dirty="0">
                <a:solidFill>
                  <a:srgbClr val="0070C0"/>
                </a:solidFill>
                <a:latin typeface="Times New Roman" pitchFamily="18" charset="0"/>
                <a:ea typeface="黑体"/>
              </a:rPr>
              <a:t>8</a:t>
            </a:r>
            <a:r>
              <a:rPr kumimoji="1" lang="zh-CN" altLang="en-US" sz="1600" dirty="0">
                <a:solidFill>
                  <a:srgbClr val="0070C0"/>
                </a:solidFill>
                <a:latin typeface="楷体_GB2312" pitchFamily="49" charset="-122"/>
                <a:ea typeface="黑体"/>
              </a:rPr>
              <a:t>个</a:t>
            </a:r>
            <a:r>
              <a:rPr kumimoji="1" lang="en-US" altLang="zh-CN" sz="1600" dirty="0">
                <a:solidFill>
                  <a:srgbClr val="0070C0"/>
                </a:solidFill>
                <a:latin typeface="楷体_GB2312" pitchFamily="49" charset="-122"/>
                <a:ea typeface="黑体"/>
              </a:rPr>
              <a:t>0</a:t>
            </a:r>
            <a:endParaRPr kumimoji="1" lang="zh-CN" altLang="en-US" sz="1600" dirty="0">
              <a:solidFill>
                <a:srgbClr val="0070C0"/>
              </a:solidFill>
              <a:ea typeface="黑体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7021B9AB-5323-429E-8967-778CE9BC6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0448" y="5950775"/>
            <a:ext cx="10390208" cy="962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067" tIns="41034" rIns="82067" bIns="41034">
            <a:spAutoFit/>
          </a:bodyPr>
          <a:lstStyle>
            <a:lvl1pPr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095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820738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230313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641475" defTabSz="8207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0986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5558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0130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470275" defTabSz="8207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solidFill>
                  <a:srgbClr val="FF0000"/>
                </a:solidFill>
                <a:ea typeface="黑体"/>
              </a:rPr>
              <a:t> </a:t>
            </a:r>
            <a:r>
              <a:rPr lang="zh-CN" altLang="en-US" sz="2500" b="1" dirty="0">
                <a:ea typeface="黑体"/>
              </a:rPr>
              <a:t>产生原因</a:t>
            </a:r>
            <a:r>
              <a:rPr lang="zh-CN" altLang="en-US" sz="2500" b="1" dirty="0">
                <a:solidFill>
                  <a:srgbClr val="FF0000"/>
                </a:solidFill>
                <a:ea typeface="黑体"/>
              </a:rPr>
              <a:t>：主元的绝对值小</a:t>
            </a:r>
            <a:endParaRPr lang="en-US" altLang="zh-CN" sz="2500" b="1" dirty="0">
              <a:solidFill>
                <a:srgbClr val="FF0000"/>
              </a:solidFill>
              <a:ea typeface="黑体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500" b="1" dirty="0">
                <a:ea typeface="黑体"/>
              </a:rPr>
              <a:t>解决方法</a:t>
            </a:r>
            <a:r>
              <a:rPr lang="zh-CN" altLang="en-US" sz="2500" b="1" dirty="0">
                <a:solidFill>
                  <a:srgbClr val="FF0000"/>
                </a:solidFill>
                <a:ea typeface="黑体"/>
              </a:rPr>
              <a:t>：对原方程组作等价变换，再利用顺序</a:t>
            </a:r>
            <a:r>
              <a:rPr lang="en-US" altLang="zh-CN" sz="2500" b="1" dirty="0">
                <a:solidFill>
                  <a:srgbClr val="FF0000"/>
                </a:solidFill>
                <a:ea typeface="黑体"/>
              </a:rPr>
              <a:t>Gauss</a:t>
            </a:r>
            <a:r>
              <a:rPr lang="zh-CN" altLang="en-US" sz="2500" b="1" dirty="0">
                <a:solidFill>
                  <a:srgbClr val="FF0000"/>
                </a:solidFill>
                <a:ea typeface="黑体"/>
              </a:rPr>
              <a:t>消去法求解。</a:t>
            </a:r>
          </a:p>
        </p:txBody>
      </p:sp>
    </p:spTree>
    <p:extLst>
      <p:ext uri="{BB962C8B-B14F-4D97-AF65-F5344CB8AC3E}">
        <p14:creationId xmlns:p14="http://schemas.microsoft.com/office/powerpoint/2010/main" val="124954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4" grpId="0" animBg="1"/>
      <p:bldP spid="23" grpId="0"/>
      <p:bldP spid="2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ChangeArrowheads="1"/>
          </p:cNvSpPr>
          <p:nvPr/>
        </p:nvSpPr>
        <p:spPr bwMode="auto">
          <a:xfrm>
            <a:off x="1524000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471738" y="639763"/>
            <a:ext cx="2311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32946A"/>
                </a:solidFill>
                <a:latin typeface="楷体_GB2312" pitchFamily="49" charset="-122"/>
                <a:ea typeface="楷体_GB2312" pitchFamily="49" charset="-122"/>
              </a:rPr>
              <a:t>主元消去法</a:t>
            </a:r>
            <a:endParaRPr lang="en-US" altLang="zh-CN" sz="2400" b="1">
              <a:solidFill>
                <a:srgbClr val="32946A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2043113" y="1147763"/>
            <a:ext cx="7920037" cy="1754187"/>
            <a:chOff x="403" y="1256"/>
            <a:chExt cx="4989" cy="1105"/>
          </a:xfrm>
        </p:grpSpPr>
        <p:sp>
          <p:nvSpPr>
            <p:cNvPr id="22544" name="Text Box 9"/>
            <p:cNvSpPr txBox="1">
              <a:spLocks noChangeArrowheads="1"/>
            </p:cNvSpPr>
            <p:nvPr/>
          </p:nvSpPr>
          <p:spPr bwMode="auto">
            <a:xfrm>
              <a:off x="403" y="1256"/>
              <a:ext cx="4989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7051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      为抑制舍入误差的传播和防止“大数吃小数”现象，在消元过程中希望主元的绝对值最大，就要在每步消元过程前选主元     。通常有</a:t>
              </a:r>
              <a:r>
                <a:rPr lang="zh-CN" altLang="en-US" sz="2400" b="1">
                  <a:solidFill>
                    <a:srgbClr val="0033CC"/>
                  </a:solidFill>
                  <a:latin typeface="Arial" panose="020B0604020202020204" pitchFamily="34" charset="0"/>
                </a:rPr>
                <a:t>列主元</a:t>
              </a:r>
              <a:r>
                <a:rPr lang="zh-CN" altLang="en-US" sz="2400">
                  <a:latin typeface="Arial" panose="020B0604020202020204" pitchFamily="34" charset="0"/>
                </a:rPr>
                <a:t>和</a:t>
              </a:r>
              <a:r>
                <a:rPr lang="zh-CN" altLang="en-US" sz="2400" b="1">
                  <a:solidFill>
                    <a:srgbClr val="0033CC"/>
                  </a:solidFill>
                  <a:latin typeface="Arial" panose="020B0604020202020204" pitchFamily="34" charset="0"/>
                </a:rPr>
                <a:t>全主元</a:t>
              </a:r>
              <a:r>
                <a:rPr lang="zh-CN" altLang="en-US" sz="2400">
                  <a:latin typeface="Arial" panose="020B0604020202020204" pitchFamily="34" charset="0"/>
                </a:rPr>
                <a:t>两种方法。      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545" name="Object 10"/>
                <p:cNvSpPr txBox="1"/>
                <p:nvPr/>
              </p:nvSpPr>
              <p:spPr bwMode="auto">
                <a:xfrm>
                  <a:off x="1459" y="2013"/>
                  <a:ext cx="257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𝑘𝑘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2545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59" y="2013"/>
                  <a:ext cx="257" cy="272"/>
                </a:xfrm>
                <a:prstGeom prst="rect">
                  <a:avLst/>
                </a:prstGeom>
                <a:blipFill>
                  <a:blip r:embed="rId2"/>
                  <a:stretch>
                    <a:fillRect r="-13433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533" name="Rectangle 11"/>
          <p:cNvSpPr>
            <a:spLocks noChangeArrowheads="1"/>
          </p:cNvSpPr>
          <p:nvPr/>
        </p:nvSpPr>
        <p:spPr bwMode="auto">
          <a:xfrm>
            <a:off x="1524000" y="34607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2190750" y="3108325"/>
            <a:ext cx="7826375" cy="585788"/>
            <a:chOff x="340" y="2193"/>
            <a:chExt cx="4930" cy="369"/>
          </a:xfrm>
        </p:grpSpPr>
        <p:sp>
          <p:nvSpPr>
            <p:cNvPr id="22540" name="Text Box 13"/>
            <p:cNvSpPr txBox="1">
              <a:spLocks noChangeArrowheads="1"/>
            </p:cNvSpPr>
            <p:nvPr/>
          </p:nvSpPr>
          <p:spPr bwMode="auto">
            <a:xfrm>
              <a:off x="340" y="2251"/>
              <a:ext cx="246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66"/>
                  </a:solidFill>
                  <a:latin typeface="Arial" panose="020B0604020202020204" pitchFamily="34" charset="0"/>
                </a:rPr>
                <a:t>列主元消去法：</a:t>
              </a:r>
              <a:r>
                <a:rPr lang="zh-CN" altLang="en-US" sz="2400">
                  <a:latin typeface="Arial" panose="020B0604020202020204" pitchFamily="34" charset="0"/>
                </a:rPr>
                <a:t>第 </a:t>
              </a:r>
              <a:r>
                <a:rPr lang="en-US" altLang="zh-CN" sz="2400" i="1"/>
                <a:t>k</a:t>
              </a:r>
              <a:r>
                <a:rPr lang="zh-CN" altLang="en-US" sz="2400" i="1"/>
                <a:t> </a:t>
              </a:r>
              <a:r>
                <a:rPr lang="zh-CN" altLang="en-US" sz="2400">
                  <a:latin typeface="Arial" panose="020B0604020202020204" pitchFamily="34" charset="0"/>
                </a:rPr>
                <a:t>步选取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541" name="Object 14"/>
                <p:cNvSpPr txBox="1"/>
                <p:nvPr/>
              </p:nvSpPr>
              <p:spPr bwMode="auto">
                <a:xfrm>
                  <a:off x="2784" y="2193"/>
                  <a:ext cx="1236" cy="369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𝑝𝑘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𝑖𝑘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2541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4" y="2193"/>
                  <a:ext cx="1236" cy="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542" name="Text Box 15"/>
            <p:cNvSpPr txBox="1">
              <a:spLocks noChangeArrowheads="1"/>
            </p:cNvSpPr>
            <p:nvPr/>
          </p:nvSpPr>
          <p:spPr bwMode="auto">
            <a:xfrm>
              <a:off x="3696" y="2251"/>
              <a:ext cx="13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7051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543" name="Text Box 16"/>
            <p:cNvSpPr txBox="1">
              <a:spLocks noChangeArrowheads="1"/>
            </p:cNvSpPr>
            <p:nvPr/>
          </p:nvSpPr>
          <p:spPr bwMode="auto">
            <a:xfrm>
              <a:off x="4034" y="2232"/>
              <a:ext cx="12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7051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作为主元素</a:t>
              </a:r>
            </a:p>
          </p:txBody>
        </p:sp>
      </p:grp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2222500" y="4027488"/>
            <a:ext cx="8128000" cy="625475"/>
            <a:chOff x="431" y="2602"/>
            <a:chExt cx="5120" cy="394"/>
          </a:xfrm>
        </p:grpSpPr>
        <p:sp>
          <p:nvSpPr>
            <p:cNvPr id="22537" name="Text Box 18"/>
            <p:cNvSpPr txBox="1">
              <a:spLocks noChangeArrowheads="1"/>
            </p:cNvSpPr>
            <p:nvPr/>
          </p:nvSpPr>
          <p:spPr bwMode="auto">
            <a:xfrm>
              <a:off x="431" y="2614"/>
              <a:ext cx="20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7051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0066"/>
                  </a:solidFill>
                  <a:latin typeface="Arial" panose="020B0604020202020204" pitchFamily="34" charset="0"/>
                </a:rPr>
                <a:t>全主元消去法：</a:t>
              </a:r>
              <a:r>
                <a:rPr lang="zh-CN" altLang="en-US" sz="2400">
                  <a:latin typeface="Arial" panose="020B0604020202020204" pitchFamily="34" charset="0"/>
                </a:rPr>
                <a:t>选取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538" name="Object 19"/>
                <p:cNvSpPr txBox="1"/>
                <p:nvPr/>
              </p:nvSpPr>
              <p:spPr bwMode="auto">
                <a:xfrm>
                  <a:off x="2282" y="2614"/>
                  <a:ext cx="1366" cy="38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𝑝𝑞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eqArr>
                              <m:eqArr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eqArr>
                          </m:lim>
                        </m:limLow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2538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82" y="2614"/>
                  <a:ext cx="1366" cy="3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539" name="Text Box 20"/>
            <p:cNvSpPr txBox="1">
              <a:spLocks noChangeArrowheads="1"/>
            </p:cNvSpPr>
            <p:nvPr/>
          </p:nvSpPr>
          <p:spPr bwMode="auto">
            <a:xfrm>
              <a:off x="3648" y="2602"/>
              <a:ext cx="190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7051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作为第</a:t>
              </a:r>
              <a:r>
                <a:rPr lang="en-US" altLang="zh-CN" sz="2400">
                  <a:latin typeface="Arial" panose="020B0604020202020204" pitchFamily="34" charset="0"/>
                </a:rPr>
                <a:t>k</a:t>
              </a:r>
              <a:r>
                <a:rPr lang="zh-CN" altLang="en-US" sz="2400">
                  <a:latin typeface="Arial" panose="020B0604020202020204" pitchFamily="34" charset="0"/>
                </a:rPr>
                <a:t>步的主元素</a:t>
              </a:r>
              <a:r>
                <a:rPr lang="zh-CN" altLang="en-US" sz="1800">
                  <a:latin typeface="Arial" panose="020B0604020202020204" pitchFamily="34" charset="0"/>
                </a:rPr>
                <a:t>。</a:t>
              </a:r>
            </a:p>
          </p:txBody>
        </p:sp>
      </p:grp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2043113" y="5094288"/>
            <a:ext cx="81613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051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</a:rPr>
              <a:t>注：</a:t>
            </a:r>
            <a:r>
              <a:rPr lang="zh-CN" altLang="en-US" sz="2400" b="1">
                <a:solidFill>
                  <a:srgbClr val="0033CC"/>
                </a:solidFill>
                <a:latin typeface="Arial" panose="020B0604020202020204" pitchFamily="34" charset="0"/>
              </a:rPr>
              <a:t>列主元</a:t>
            </a:r>
            <a:r>
              <a:rPr lang="zh-CN" altLang="en-US" sz="2400">
                <a:latin typeface="Arial" panose="020B0604020202020204" pitchFamily="34" charset="0"/>
              </a:rPr>
              <a:t>往往需要行的交换；而</a:t>
            </a:r>
            <a:r>
              <a:rPr lang="zh-CN" altLang="en-US" sz="2400" b="1">
                <a:solidFill>
                  <a:srgbClr val="0033CC"/>
                </a:solidFill>
                <a:latin typeface="Arial" panose="020B0604020202020204" pitchFamily="34" charset="0"/>
              </a:rPr>
              <a:t>全主元</a:t>
            </a:r>
            <a:r>
              <a:rPr lang="zh-CN" altLang="en-US" sz="2400">
                <a:latin typeface="Arial" panose="020B0604020202020204" pitchFamily="34" charset="0"/>
              </a:rPr>
              <a:t>不仅需要行的交换，而且可能需要列的交换。列的交换实质上是未知量的交换</a:t>
            </a:r>
            <a:r>
              <a:rPr lang="zh-CN" altLang="en-US" sz="1800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911225" y="549275"/>
            <a:ext cx="10363200" cy="4114800"/>
          </a:xfrm>
        </p:spPr>
        <p:txBody>
          <a:bodyPr/>
          <a:lstStyle/>
          <a:p>
            <a:r>
              <a:rPr lang="en-US" altLang="zh-CN" sz="2800"/>
              <a:t>【</a:t>
            </a:r>
            <a:r>
              <a:rPr lang="zh-CN" altLang="en-US" sz="2800"/>
              <a:t>例</a:t>
            </a:r>
            <a:r>
              <a:rPr lang="en-US" altLang="zh-CN" sz="2800"/>
              <a:t>】</a:t>
            </a:r>
            <a:r>
              <a:rPr lang="zh-CN" altLang="en-US" sz="2800"/>
              <a:t>分别用列主元和全主元法解下列方程组</a:t>
            </a: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75520" y="1440984"/>
            <a:ext cx="3303084" cy="117910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5E3E87-008E-4433-BC6D-A6E61C5CE350}"/>
              </a:ext>
            </a:extLst>
          </p:cNvPr>
          <p:cNvSpPr/>
          <p:nvPr/>
        </p:nvSpPr>
        <p:spPr>
          <a:xfrm>
            <a:off x="1631504" y="3594273"/>
            <a:ext cx="9179228" cy="1822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0066FF"/>
              </a:buClr>
            </a:pPr>
            <a:r>
              <a:rPr lang="zh-CN" altLang="en-US" b="1" dirty="0">
                <a:ea typeface="黑体"/>
              </a:rPr>
              <a:t>列主元和全主元消去法，所需条件较少，仅仅要求方程组的系数矩阵 </a:t>
            </a:r>
            <a:r>
              <a:rPr lang="en-US" altLang="zh-CN" b="1" i="1" dirty="0">
                <a:solidFill>
                  <a:srgbClr val="FF3300"/>
                </a:solidFill>
                <a:ea typeface="黑体"/>
              </a:rPr>
              <a:t>A </a:t>
            </a:r>
            <a:r>
              <a:rPr lang="zh-CN" altLang="en-US" b="1" dirty="0">
                <a:solidFill>
                  <a:srgbClr val="FF3300"/>
                </a:solidFill>
                <a:ea typeface="黑体"/>
              </a:rPr>
              <a:t>非奇异。</a:t>
            </a:r>
          </a:p>
          <a:p>
            <a:pPr>
              <a:lnSpc>
                <a:spcPct val="120000"/>
              </a:lnSpc>
              <a:buClr>
                <a:srgbClr val="0066FF"/>
              </a:buClr>
            </a:pPr>
            <a:r>
              <a:rPr lang="zh-CN" altLang="en-US" b="1" dirty="0">
                <a:ea typeface="黑体"/>
              </a:rPr>
              <a:t>     而且，对一般的方程组，它还具有良好的数值稳定性，其计算量与顺序消去法的计算量相当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578" name="Object 2"/>
              <p:cNvSpPr txBox="1"/>
              <p:nvPr/>
            </p:nvSpPr>
            <p:spPr bwMode="auto">
              <a:xfrm>
                <a:off x="2855913" y="1989138"/>
                <a:ext cx="5761037" cy="28638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45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5913" y="1989138"/>
                <a:ext cx="5761037" cy="2863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428625"/>
            <a:ext cx="7773988" cy="4724400"/>
          </a:xfrm>
        </p:spPr>
        <p:txBody>
          <a:bodyPr/>
          <a:lstStyle/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［例2］</a:t>
            </a:r>
            <a:r>
              <a:rPr lang="zh-CN" altLang="en-US" sz="2400"/>
              <a:t>如果方程组</a:t>
            </a:r>
            <a:r>
              <a:rPr lang="zh-CN" altLang="en-US" sz="800"/>
              <a:t> </a:t>
            </a:r>
            <a:r>
              <a:rPr lang="en-US" altLang="zh-CN" sz="2400" i="1"/>
              <a:t>Ax</a:t>
            </a:r>
            <a:r>
              <a:rPr lang="en-US" altLang="zh-CN" sz="800" i="1"/>
              <a:t> </a:t>
            </a:r>
            <a:r>
              <a:rPr lang="en-US" altLang="zh-CN" sz="2400"/>
              <a:t>=</a:t>
            </a:r>
            <a:r>
              <a:rPr lang="en-US" altLang="zh-CN" sz="800"/>
              <a:t> </a:t>
            </a:r>
            <a:r>
              <a:rPr lang="en-US" altLang="zh-CN" sz="2400" i="1"/>
              <a:t>b</a:t>
            </a:r>
            <a:r>
              <a:rPr lang="zh-CN" altLang="en-US" sz="2400"/>
              <a:t>的系数矩阵</a:t>
            </a:r>
            <a:r>
              <a:rPr lang="en-US" altLang="zh-CN" sz="2400" i="1"/>
              <a:t>A</a:t>
            </a:r>
            <a:r>
              <a:rPr lang="zh-CN" altLang="en-US" sz="2400"/>
              <a:t>是</a:t>
            </a:r>
            <a:r>
              <a:rPr lang="en-US" altLang="zh-CN" sz="2400" i="1"/>
              <a:t>n</a:t>
            </a:r>
            <a:r>
              <a:rPr lang="zh-CN" altLang="en-US" sz="2400"/>
              <a:t>阶</a:t>
            </a:r>
            <a:r>
              <a:rPr lang="zh-CN" altLang="en-US" sz="2400">
                <a:solidFill>
                  <a:srgbClr val="FF0000"/>
                </a:solidFill>
              </a:rPr>
              <a:t>三对角阵</a:t>
            </a:r>
            <a:r>
              <a:rPr lang="zh-CN" altLang="en-US" sz="2400"/>
              <a:t>，即</a:t>
            </a:r>
            <a:r>
              <a:rPr lang="zh-CN" altLang="en-US" sz="2400">
                <a:solidFill>
                  <a:srgbClr val="FF0000"/>
                </a:solidFill>
              </a:rPr>
              <a:t>当|</a:t>
            </a:r>
            <a:r>
              <a:rPr lang="en-US" altLang="zh-CN" sz="2400" i="1">
                <a:solidFill>
                  <a:srgbClr val="FF0000"/>
                </a:solidFill>
              </a:rPr>
              <a:t>i</a:t>
            </a:r>
            <a:r>
              <a:rPr lang="en-US" altLang="zh-CN" sz="2400">
                <a:solidFill>
                  <a:srgbClr val="FF0000"/>
                </a:solidFill>
              </a:rPr>
              <a:t>-</a:t>
            </a:r>
            <a:r>
              <a:rPr lang="en-US" altLang="zh-CN" sz="2400" i="1">
                <a:solidFill>
                  <a:srgbClr val="FF0000"/>
                </a:solidFill>
              </a:rPr>
              <a:t>j</a:t>
            </a:r>
            <a:r>
              <a:rPr lang="en-US" altLang="zh-CN" sz="2400">
                <a:solidFill>
                  <a:srgbClr val="FF0000"/>
                </a:solidFill>
              </a:rPr>
              <a:t>|＞1</a:t>
            </a:r>
            <a:r>
              <a:rPr lang="zh-CN" altLang="en-US" sz="2400">
                <a:solidFill>
                  <a:srgbClr val="FF0000"/>
                </a:solidFill>
              </a:rPr>
              <a:t>时，</a:t>
            </a:r>
            <a:r>
              <a:rPr lang="en-US" altLang="zh-CN" sz="2400" i="1">
                <a:solidFill>
                  <a:srgbClr val="FF0000"/>
                </a:solidFill>
              </a:rPr>
              <a:t>a</a:t>
            </a:r>
            <a:r>
              <a:rPr lang="en-US" altLang="zh-CN" sz="2400" i="1" baseline="-25000">
                <a:solidFill>
                  <a:srgbClr val="FF0000"/>
                </a:solidFill>
              </a:rPr>
              <a:t>ij</a:t>
            </a:r>
            <a:r>
              <a:rPr lang="en-US" altLang="zh-CN" sz="2400">
                <a:solidFill>
                  <a:srgbClr val="FF0000"/>
                </a:solidFill>
              </a:rPr>
              <a:t>=0, </a:t>
            </a:r>
            <a:r>
              <a:rPr lang="zh-CN" altLang="en-US" sz="2400"/>
              <a:t>或写成</a:t>
            </a:r>
            <a:endParaRPr lang="zh-CN" altLang="en-US" sz="240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pPr>
              <a:lnSpc>
                <a:spcPct val="150000"/>
              </a:lnSpc>
              <a:buFontTx/>
              <a:buNone/>
            </a:pPr>
            <a:endParaRPr lang="zh-CN" altLang="en-US" sz="2400"/>
          </a:p>
          <a:p>
            <a:pPr>
              <a:lnSpc>
                <a:spcPct val="150000"/>
              </a:lnSpc>
            </a:pPr>
            <a:endParaRPr lang="en-US" altLang="zh-CN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400"/>
              <a:t>试设计一个算法来解这三对角的方程组。</a:t>
            </a:r>
          </a:p>
        </p:txBody>
      </p:sp>
      <p:sp>
        <p:nvSpPr>
          <p:cNvPr id="24580" name="文本框 1"/>
          <p:cNvSpPr txBox="1">
            <a:spLocks noChangeArrowheads="1"/>
          </p:cNvSpPr>
          <p:nvPr/>
        </p:nvSpPr>
        <p:spPr bwMode="auto">
          <a:xfrm>
            <a:off x="2927350" y="3182938"/>
            <a:ext cx="482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0</a:t>
            </a:r>
            <a:endParaRPr lang="zh-CN" altLang="en-US" sz="2400"/>
          </a:p>
        </p:txBody>
      </p:sp>
      <p:sp>
        <p:nvSpPr>
          <p:cNvPr id="24581" name="文本框 5"/>
          <p:cNvSpPr txBox="1">
            <a:spLocks noChangeArrowheads="1"/>
          </p:cNvSpPr>
          <p:nvPr/>
        </p:nvSpPr>
        <p:spPr bwMode="auto">
          <a:xfrm>
            <a:off x="4324350" y="2060575"/>
            <a:ext cx="149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0      0     0</a:t>
            </a:r>
            <a:endParaRPr lang="zh-CN" altLang="en-US" sz="2400"/>
          </a:p>
        </p:txBody>
      </p:sp>
      <p:sp>
        <p:nvSpPr>
          <p:cNvPr id="24582" name="文本框 6"/>
          <p:cNvSpPr txBox="1">
            <a:spLocks noChangeArrowheads="1"/>
          </p:cNvSpPr>
          <p:nvPr/>
        </p:nvSpPr>
        <p:spPr bwMode="auto">
          <a:xfrm>
            <a:off x="4943475" y="2638425"/>
            <a:ext cx="877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0     0</a:t>
            </a:r>
            <a:endParaRPr lang="zh-CN" altLang="en-US" sz="2400"/>
          </a:p>
        </p:txBody>
      </p:sp>
      <p:sp>
        <p:nvSpPr>
          <p:cNvPr id="24583" name="文本框 8"/>
          <p:cNvSpPr txBox="1">
            <a:spLocks noChangeArrowheads="1"/>
          </p:cNvSpPr>
          <p:nvPr/>
        </p:nvSpPr>
        <p:spPr bwMode="auto">
          <a:xfrm>
            <a:off x="2927350" y="43100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0  0    0</a:t>
            </a:r>
            <a:endParaRPr lang="zh-CN" altLang="en-US" sz="2400"/>
          </a:p>
        </p:txBody>
      </p:sp>
      <p:sp>
        <p:nvSpPr>
          <p:cNvPr id="24584" name="文本框 9"/>
          <p:cNvSpPr txBox="1">
            <a:spLocks noChangeArrowheads="1"/>
          </p:cNvSpPr>
          <p:nvPr/>
        </p:nvSpPr>
        <p:spPr bwMode="auto">
          <a:xfrm>
            <a:off x="2927350" y="3768725"/>
            <a:ext cx="646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0  0</a:t>
            </a:r>
            <a:endParaRPr lang="zh-CN" altLang="en-US" sz="2400"/>
          </a:p>
        </p:txBody>
      </p:sp>
      <p:sp>
        <p:nvSpPr>
          <p:cNvPr id="24585" name="文本框 10"/>
          <p:cNvSpPr txBox="1">
            <a:spLocks noChangeArrowheads="1"/>
          </p:cNvSpPr>
          <p:nvPr/>
        </p:nvSpPr>
        <p:spPr bwMode="auto">
          <a:xfrm>
            <a:off x="5495925" y="3182938"/>
            <a:ext cx="481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0</a:t>
            </a:r>
            <a:endParaRPr lang="zh-CN" altLang="en-US" sz="24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CCAB50-9296-47BA-9D35-293964DFBD44}"/>
              </a:ext>
            </a:extLst>
          </p:cNvPr>
          <p:cNvSpPr/>
          <p:nvPr/>
        </p:nvSpPr>
        <p:spPr>
          <a:xfrm>
            <a:off x="2301915" y="6046788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追赶法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15888"/>
            <a:ext cx="8064500" cy="6481762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300"/>
              </a:spcBef>
              <a:buFontTx/>
              <a:buNone/>
            </a:pPr>
            <a:r>
              <a:rPr lang="zh-CN" altLang="en-US" sz="2400" b="1"/>
              <a:t>解</a:t>
            </a:r>
            <a:r>
              <a:rPr lang="zh-CN" altLang="en-US" sz="2400"/>
              <a:t>：假定所有主元均不等于0。在第1次消元过程中，由于系数矩阵</a:t>
            </a:r>
            <a:r>
              <a:rPr lang="en-US" altLang="zh-CN" sz="2400" i="1"/>
              <a:t>A</a:t>
            </a:r>
            <a:r>
              <a:rPr lang="zh-CN" altLang="en-US" sz="2400"/>
              <a:t>的第一行只有两个元素不为零，所以只需变动</a:t>
            </a:r>
            <a:r>
              <a:rPr lang="en-US" altLang="zh-CN" sz="2400" i="1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，</a:t>
            </a:r>
            <a:r>
              <a:rPr lang="en-US" altLang="zh-CN" sz="2400" i="1"/>
              <a:t>b</a:t>
            </a:r>
            <a:r>
              <a:rPr lang="en-US" altLang="zh-CN" sz="2400" baseline="-25000"/>
              <a:t>2</a:t>
            </a:r>
            <a:r>
              <a:rPr lang="en-US" altLang="zh-CN" sz="2400"/>
              <a:t> </a:t>
            </a:r>
            <a:r>
              <a:rPr lang="zh-CN" altLang="en-US" sz="2400"/>
              <a:t>并将</a:t>
            </a:r>
            <a:r>
              <a:rPr lang="en-US" altLang="zh-CN" sz="2400" i="1"/>
              <a:t>a</a:t>
            </a:r>
            <a:r>
              <a:rPr lang="en-US" altLang="zh-CN" sz="2400" baseline="-25000"/>
              <a:t>1</a:t>
            </a:r>
            <a:r>
              <a:rPr lang="zh-CN" altLang="en-US" sz="2400"/>
              <a:t>置0。再考虑存储结构，新的</a:t>
            </a:r>
            <a:r>
              <a:rPr lang="en-US" altLang="zh-CN" sz="2400" i="1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，</a:t>
            </a:r>
            <a:r>
              <a:rPr lang="en-US" altLang="zh-CN" sz="2400" i="1"/>
              <a:t>b</a:t>
            </a:r>
            <a:r>
              <a:rPr lang="en-US" altLang="zh-CN" sz="2400" baseline="-25000"/>
              <a:t>2</a:t>
            </a:r>
            <a:r>
              <a:rPr lang="zh-CN" altLang="en-US" sz="2400"/>
              <a:t>仍存放在</a:t>
            </a:r>
            <a:r>
              <a:rPr lang="en-US" altLang="zh-CN" sz="2400" i="1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，</a:t>
            </a:r>
            <a:r>
              <a:rPr lang="en-US" altLang="zh-CN" sz="2400" i="1"/>
              <a:t>b</a:t>
            </a:r>
            <a:r>
              <a:rPr lang="en-US" altLang="zh-CN" sz="2400" baseline="-25000"/>
              <a:t>2</a:t>
            </a:r>
            <a:r>
              <a:rPr lang="zh-CN" altLang="en-US" sz="2400"/>
              <a:t>所在的单元，即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400" i="1"/>
              <a:t>		</a:t>
            </a:r>
            <a:r>
              <a:rPr lang="en-US" altLang="zh-CN" sz="2400" i="1"/>
              <a:t>                                         d</a:t>
            </a:r>
            <a:r>
              <a:rPr lang="en-US" altLang="zh-CN" sz="2400" baseline="-25000"/>
              <a:t>2</a:t>
            </a:r>
            <a:r>
              <a:rPr lang="en-US" altLang="zh-CN" sz="2400"/>
              <a:t>-</a:t>
            </a:r>
            <a:r>
              <a:rPr lang="en-US" altLang="zh-CN" sz="2400" i="1"/>
              <a:t>c</a:t>
            </a:r>
            <a:r>
              <a:rPr lang="en-US" altLang="zh-CN" sz="2400" baseline="-25000"/>
              <a:t>1</a:t>
            </a:r>
            <a:r>
              <a:rPr lang="en-US" altLang="zh-CN" sz="2400" i="1"/>
              <a:t>a</a:t>
            </a:r>
            <a:r>
              <a:rPr lang="en-US" altLang="zh-CN" sz="2400" baseline="-25000"/>
              <a:t>1</a:t>
            </a:r>
            <a:r>
              <a:rPr lang="en-US" altLang="zh-CN" sz="2400"/>
              <a:t>／</a:t>
            </a:r>
            <a:r>
              <a:rPr lang="en-US" altLang="zh-CN" sz="2400" i="1"/>
              <a:t>d</a:t>
            </a:r>
            <a:r>
              <a:rPr lang="en-US" altLang="zh-CN" sz="2400" baseline="-25000"/>
              <a:t>1</a:t>
            </a:r>
            <a:r>
              <a:rPr lang="zh-CN" altLang="en-US" sz="2400">
                <a:sym typeface="Symbol" panose="05050102010706020507" pitchFamily="18" charset="2"/>
              </a:rPr>
              <a:t></a:t>
            </a:r>
            <a:r>
              <a:rPr lang="en-US" altLang="zh-CN" sz="2400" i="1"/>
              <a:t>d</a:t>
            </a:r>
            <a:r>
              <a:rPr lang="en-US" altLang="zh-CN" sz="2400" baseline="-25000"/>
              <a:t>2</a:t>
            </a:r>
            <a:endParaRPr lang="en-US" altLang="zh-CN" sz="2400"/>
          </a:p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2400" i="1"/>
              <a:t>		                                          b</a:t>
            </a:r>
            <a:r>
              <a:rPr lang="en-US" altLang="zh-CN" sz="2400" baseline="-25000"/>
              <a:t>2</a:t>
            </a:r>
            <a:r>
              <a:rPr lang="en-US" altLang="zh-CN" sz="2400"/>
              <a:t>-</a:t>
            </a:r>
            <a:r>
              <a:rPr lang="en-US" altLang="zh-CN" sz="2400" i="1"/>
              <a:t>b</a:t>
            </a:r>
            <a:r>
              <a:rPr lang="en-US" altLang="zh-CN" sz="2400" baseline="-25000"/>
              <a:t>1</a:t>
            </a:r>
            <a:r>
              <a:rPr lang="en-US" altLang="zh-CN" sz="2400" i="1"/>
              <a:t>a</a:t>
            </a:r>
            <a:r>
              <a:rPr lang="en-US" altLang="zh-CN" sz="2400" baseline="-25000"/>
              <a:t>1</a:t>
            </a:r>
            <a:r>
              <a:rPr lang="en-US" altLang="zh-CN" sz="2400"/>
              <a:t>／</a:t>
            </a:r>
            <a:r>
              <a:rPr lang="en-US" altLang="zh-CN" sz="2400" i="1"/>
              <a:t>d</a:t>
            </a:r>
            <a:r>
              <a:rPr lang="en-US" altLang="zh-CN" sz="2400" baseline="-25000"/>
              <a:t>1</a:t>
            </a:r>
            <a:r>
              <a:rPr lang="zh-CN" altLang="en-US" sz="2400">
                <a:sym typeface="Symbol" panose="05050102010706020507" pitchFamily="18" charset="2"/>
              </a:rPr>
              <a:t></a:t>
            </a:r>
            <a:r>
              <a:rPr lang="en-US" altLang="zh-CN" sz="2400" i="1"/>
              <a:t>b</a:t>
            </a:r>
            <a:r>
              <a:rPr lang="en-US" altLang="zh-CN" sz="2400" baseline="-25000"/>
              <a:t>2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buFontTx/>
              <a:buNone/>
            </a:pPr>
            <a:r>
              <a:rPr lang="zh-CN" altLang="en-US" sz="2400"/>
              <a:t>      以后各公步的消元也仅变动</a:t>
            </a:r>
            <a:r>
              <a:rPr lang="en-US" altLang="zh-CN" sz="2400" i="1"/>
              <a:t>d</a:t>
            </a:r>
            <a:r>
              <a:rPr lang="en-US" altLang="zh-CN" sz="2400" i="1" baseline="-25000"/>
              <a:t>i</a:t>
            </a:r>
            <a:r>
              <a:rPr lang="en-US" altLang="zh-CN" sz="2400"/>
              <a:t>、</a:t>
            </a:r>
            <a:r>
              <a:rPr lang="en-US" altLang="zh-CN" sz="2400" i="1"/>
              <a:t>b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 </a:t>
            </a:r>
            <a:r>
              <a:rPr lang="zh-CN" altLang="en-US" sz="2400" baseline="-25000"/>
              <a:t>，</a:t>
            </a:r>
            <a:r>
              <a:rPr lang="zh-CN" altLang="en-US" sz="2400"/>
              <a:t>并将相应的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-1</a:t>
            </a:r>
            <a:r>
              <a:rPr lang="zh-CN" altLang="en-US" sz="2400"/>
              <a:t>置0。第</a:t>
            </a:r>
            <a:r>
              <a:rPr lang="en-US" altLang="zh-CN" sz="2400" i="1"/>
              <a:t>i</a:t>
            </a:r>
            <a:r>
              <a:rPr lang="zh-CN" altLang="en-US" sz="2400"/>
              <a:t>步的计算式为：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400" i="1"/>
              <a:t>	</a:t>
            </a:r>
            <a:r>
              <a:rPr lang="en-US" altLang="zh-CN" sz="2400" i="1"/>
              <a:t>                              d</a:t>
            </a:r>
            <a:r>
              <a:rPr lang="en-US" altLang="zh-CN" sz="2400" i="1" baseline="-25000"/>
              <a:t>i</a:t>
            </a:r>
            <a:r>
              <a:rPr lang="en-US" altLang="zh-CN" sz="2400"/>
              <a:t>- 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-1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-1</a:t>
            </a:r>
            <a:r>
              <a:rPr lang="en-US" altLang="zh-CN" sz="2400"/>
              <a:t>／</a:t>
            </a:r>
            <a:r>
              <a:rPr lang="en-US" altLang="zh-CN" sz="2400" i="1"/>
              <a:t>d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-1</a:t>
            </a:r>
            <a:r>
              <a:rPr lang="zh-CN" altLang="en-US" sz="2400">
                <a:sym typeface="Symbol" panose="05050102010706020507" pitchFamily="18" charset="2"/>
              </a:rPr>
              <a:t></a:t>
            </a:r>
            <a:r>
              <a:rPr lang="en-US" altLang="zh-CN" sz="2400"/>
              <a:t> </a:t>
            </a:r>
            <a:r>
              <a:rPr lang="en-US" altLang="zh-CN" sz="2400" i="1"/>
              <a:t>d</a:t>
            </a:r>
            <a:r>
              <a:rPr lang="en-US" altLang="zh-CN" sz="2400" i="1" baseline="-25000"/>
              <a:t>i</a:t>
            </a:r>
            <a:endParaRPr lang="en-US" altLang="zh-CN" sz="2400" baseline="-25000"/>
          </a:p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2400" i="1"/>
              <a:t>	                              b</a:t>
            </a:r>
            <a:r>
              <a:rPr lang="en-US" altLang="zh-CN" sz="2400" i="1" baseline="-25000"/>
              <a:t>i</a:t>
            </a:r>
            <a:r>
              <a:rPr lang="en-US" altLang="zh-CN" sz="2400"/>
              <a:t>- </a:t>
            </a:r>
            <a:r>
              <a:rPr lang="en-US" altLang="zh-CN" sz="2400" i="1"/>
              <a:t>b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-1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-1</a:t>
            </a:r>
            <a:r>
              <a:rPr lang="en-US" altLang="zh-CN" sz="2400"/>
              <a:t>／</a:t>
            </a:r>
            <a:r>
              <a:rPr lang="en-US" altLang="zh-CN" sz="2400" i="1"/>
              <a:t>d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-1 </a:t>
            </a:r>
            <a:r>
              <a:rPr lang="zh-CN" altLang="en-US" sz="2400">
                <a:sym typeface="Symbol" panose="05050102010706020507" pitchFamily="18" charset="2"/>
              </a:rPr>
              <a:t></a:t>
            </a:r>
            <a:r>
              <a:rPr lang="en-US" altLang="zh-CN" sz="2400" baseline="-25000"/>
              <a:t> </a:t>
            </a:r>
            <a:r>
              <a:rPr lang="en-US" altLang="zh-CN" sz="2400" i="1"/>
              <a:t>b</a:t>
            </a:r>
            <a:r>
              <a:rPr lang="en-US" altLang="zh-CN" sz="2400" i="1" baseline="-25000"/>
              <a:t>i</a:t>
            </a:r>
            <a:r>
              <a:rPr lang="zh-CN" altLang="en-US" sz="2400" i="1" baseline="-25000"/>
              <a:t>    </a:t>
            </a:r>
            <a:r>
              <a:rPr lang="en-US" altLang="zh-CN" sz="2400"/>
              <a:t>(</a:t>
            </a:r>
            <a:r>
              <a:rPr lang="en-US" altLang="zh-CN" sz="2400" i="1"/>
              <a:t>i</a:t>
            </a:r>
            <a:r>
              <a:rPr lang="en-US" altLang="zh-CN" sz="2400"/>
              <a:t>=2,…,</a:t>
            </a:r>
            <a:r>
              <a:rPr lang="en-US" altLang="zh-CN" sz="2400" i="1"/>
              <a:t>n</a:t>
            </a:r>
            <a:r>
              <a:rPr lang="en-US" altLang="zh-CN" sz="2400"/>
              <a:t>)</a:t>
            </a:r>
            <a:endParaRPr lang="en-US" altLang="zh-CN" sz="2400" i="1" baseline="-25000"/>
          </a:p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2400"/>
              <a:t>回代求解： </a:t>
            </a:r>
            <a:r>
              <a:rPr lang="en-US" altLang="zh-CN" sz="2400" i="1"/>
              <a:t>b</a:t>
            </a:r>
            <a:r>
              <a:rPr lang="en-US" altLang="zh-CN" sz="2400" i="1" baseline="-25000"/>
              <a:t>n</a:t>
            </a:r>
            <a:r>
              <a:rPr lang="en-US" altLang="zh-CN" sz="2400"/>
              <a:t>／</a:t>
            </a:r>
            <a:r>
              <a:rPr lang="en-US" altLang="zh-CN" sz="2400" i="1"/>
              <a:t>d</a:t>
            </a:r>
            <a:r>
              <a:rPr lang="en-US" altLang="zh-CN" sz="2400" i="1" baseline="-25000"/>
              <a:t>n </a:t>
            </a:r>
            <a:r>
              <a:rPr lang="zh-CN" altLang="en-US" sz="2400">
                <a:sym typeface="Symbol" panose="05050102010706020507" pitchFamily="18" charset="2"/>
              </a:rPr>
              <a:t></a:t>
            </a:r>
            <a:r>
              <a:rPr lang="en-US" altLang="zh-CN" sz="2400"/>
              <a:t> </a:t>
            </a:r>
            <a:r>
              <a:rPr lang="en-US" altLang="zh-CN" sz="2400" i="1"/>
              <a:t>x</a:t>
            </a:r>
            <a:r>
              <a:rPr lang="en-US" altLang="zh-CN" sz="2400" i="1" baseline="-25000"/>
              <a:t>n</a:t>
            </a:r>
            <a:r>
              <a:rPr lang="en-US" altLang="zh-CN" sz="2400"/>
              <a:t> </a:t>
            </a:r>
            <a:r>
              <a:rPr lang="zh-CN" altLang="en-US" sz="2400"/>
              <a:t>，</a:t>
            </a:r>
            <a:r>
              <a:rPr lang="en-US" altLang="zh-CN" sz="2400"/>
              <a:t>	(</a:t>
            </a:r>
            <a:r>
              <a:rPr lang="en-US" altLang="zh-CN" sz="2400" i="1"/>
              <a:t>b</a:t>
            </a:r>
            <a:r>
              <a:rPr lang="en-US" altLang="zh-CN" sz="2400" i="1" baseline="-25000"/>
              <a:t>i</a:t>
            </a:r>
            <a:r>
              <a:rPr lang="en-US" altLang="zh-CN" sz="2400"/>
              <a:t>- </a:t>
            </a:r>
            <a:r>
              <a:rPr lang="en-US" altLang="zh-CN" sz="2400" i="1"/>
              <a:t>c</a:t>
            </a:r>
            <a:r>
              <a:rPr lang="en-US" altLang="zh-CN" sz="2400" i="1" baseline="-25000"/>
              <a:t>i</a:t>
            </a:r>
            <a:r>
              <a:rPr lang="en-US" altLang="zh-CN" sz="2400" i="1"/>
              <a:t>x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+1</a:t>
            </a:r>
            <a:r>
              <a:rPr lang="en-US" altLang="zh-CN" sz="2400"/>
              <a:t>)／</a:t>
            </a:r>
            <a:r>
              <a:rPr lang="en-US" altLang="zh-CN" sz="2400" i="1"/>
              <a:t>d</a:t>
            </a:r>
            <a:r>
              <a:rPr lang="en-US" altLang="zh-CN" sz="2400" i="1" baseline="-25000"/>
              <a:t>i </a:t>
            </a:r>
            <a:r>
              <a:rPr lang="zh-CN" altLang="en-US" sz="2400">
                <a:sym typeface="Symbol" panose="05050102010706020507" pitchFamily="18" charset="2"/>
              </a:rPr>
              <a:t></a:t>
            </a:r>
            <a:r>
              <a:rPr lang="en-US" altLang="zh-CN" sz="2400"/>
              <a:t> </a:t>
            </a:r>
            <a:r>
              <a:rPr lang="en-US" altLang="zh-CN" sz="2400" i="1"/>
              <a:t>x</a:t>
            </a:r>
            <a:r>
              <a:rPr lang="en-US" altLang="zh-CN" sz="2400" i="1" baseline="-25000"/>
              <a:t>i  </a:t>
            </a:r>
            <a:r>
              <a:rPr lang="en-US" altLang="zh-CN" sz="2400"/>
              <a:t>(</a:t>
            </a:r>
            <a:r>
              <a:rPr lang="en-US" altLang="zh-CN" sz="2400" i="1"/>
              <a:t>i</a:t>
            </a:r>
            <a:r>
              <a:rPr lang="en-US" altLang="zh-CN" sz="2400"/>
              <a:t>=</a:t>
            </a:r>
            <a:r>
              <a:rPr lang="en-US" altLang="zh-CN" sz="2400" i="1"/>
              <a:t>n</a:t>
            </a:r>
            <a:r>
              <a:rPr lang="en-US" altLang="zh-CN" sz="2400"/>
              <a:t>-1,…,1)</a:t>
            </a:r>
          </a:p>
          <a:p>
            <a:pPr algn="just">
              <a:lnSpc>
                <a:spcPct val="150000"/>
              </a:lnSpc>
              <a:buFontTx/>
              <a:buNone/>
            </a:pPr>
            <a:endParaRPr lang="en-US" altLang="zh-CN" sz="2400" baseline="-25000"/>
          </a:p>
          <a:p>
            <a:pPr algn="just">
              <a:lnSpc>
                <a:spcPct val="150000"/>
              </a:lnSpc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1450" y="333375"/>
            <a:ext cx="6299200" cy="611981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sz="2400" dirty="0"/>
              <a:t>        设置4个数组分别来存储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 err="1"/>
              <a:t>，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 err="1"/>
              <a:t>，</a:t>
            </a:r>
            <a:r>
              <a:rPr lang="en-US" altLang="zh-CN" sz="2400" i="1" dirty="0" err="1"/>
              <a:t>c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 err="1"/>
              <a:t>，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，</a:t>
            </a:r>
            <a:r>
              <a:rPr lang="zh-CN" altLang="en-US" sz="2400" dirty="0"/>
              <a:t>算法（</a:t>
            </a:r>
            <a:r>
              <a:rPr lang="zh-CN" altLang="en-US" sz="2400" dirty="0">
                <a:solidFill>
                  <a:srgbClr val="C00000"/>
                </a:solidFill>
              </a:rPr>
              <a:t>追赶法</a:t>
            </a:r>
            <a:r>
              <a:rPr lang="zh-CN" altLang="en-US" sz="2400" dirty="0"/>
              <a:t>）描述如下：</a:t>
            </a:r>
            <a:endParaRPr lang="en-US" altLang="zh-CN" sz="2400" i="1" dirty="0"/>
          </a:p>
          <a:p>
            <a:pPr marL="0" indent="0" algn="just"/>
            <a:r>
              <a:rPr lang="en-US" altLang="zh-CN" sz="2400" i="1" dirty="0"/>
              <a:t>input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),(</a:t>
            </a:r>
            <a:r>
              <a:rPr lang="en-US" altLang="zh-CN" sz="2400" i="1" dirty="0"/>
              <a:t>b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),(</a:t>
            </a:r>
            <a:r>
              <a:rPr lang="en-US" altLang="zh-CN" sz="2400" i="1" dirty="0"/>
              <a:t>c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),(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)      </a:t>
            </a:r>
          </a:p>
          <a:p>
            <a:pPr marL="0" indent="0" algn="just"/>
            <a:r>
              <a:rPr lang="en-US" altLang="zh-CN" sz="2400" i="1" dirty="0"/>
              <a:t>for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=2,3,…,</a:t>
            </a:r>
            <a:r>
              <a:rPr lang="en-US" altLang="zh-CN" sz="2400" i="1" dirty="0"/>
              <a:t>n do</a:t>
            </a:r>
            <a:r>
              <a:rPr lang="en-US" altLang="zh-CN" sz="2400" dirty="0"/>
              <a:t>                  </a:t>
            </a:r>
          </a:p>
          <a:p>
            <a:pPr marL="0" indent="0" algn="just">
              <a:buFontTx/>
              <a:buNone/>
            </a:pPr>
            <a:r>
              <a:rPr lang="en-US" altLang="zh-CN" sz="2400" i="1" dirty="0"/>
              <a:t>		a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／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-1 </a:t>
            </a:r>
            <a:r>
              <a:rPr lang="zh-CN" altLang="en-US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i="1" dirty="0"/>
              <a:t>l</a:t>
            </a:r>
            <a:r>
              <a:rPr lang="en-US" altLang="zh-CN" sz="2400" dirty="0"/>
              <a:t>             </a:t>
            </a:r>
          </a:p>
          <a:p>
            <a:pPr marL="0" indent="0" algn="just">
              <a:buFontTx/>
              <a:buNone/>
            </a:pPr>
            <a:r>
              <a:rPr lang="en-US" altLang="zh-CN" sz="2400" i="1" dirty="0"/>
              <a:t>		d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-</a:t>
            </a:r>
            <a:r>
              <a:rPr lang="en-US" altLang="zh-CN" sz="2400" i="1" dirty="0"/>
              <a:t>lc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-1 </a:t>
            </a:r>
            <a:r>
              <a:rPr lang="zh-CN" altLang="en-US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i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0" indent="0" algn="just">
              <a:buFontTx/>
              <a:buNone/>
            </a:pPr>
            <a:r>
              <a:rPr lang="en-US" altLang="zh-CN" sz="2400" i="1" dirty="0"/>
              <a:t>		b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-</a:t>
            </a:r>
            <a:r>
              <a:rPr lang="en-US" altLang="zh-CN" sz="2400" i="1" dirty="0"/>
              <a:t>lb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-1 </a:t>
            </a:r>
            <a:r>
              <a:rPr lang="zh-CN" altLang="en-US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                    </a:t>
            </a:r>
          </a:p>
          <a:p>
            <a:pPr marL="0" indent="0" algn="just"/>
            <a:r>
              <a:rPr lang="en-US" altLang="zh-CN" sz="2400" i="1" dirty="0"/>
              <a:t>end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0" indent="0" algn="just"/>
            <a:r>
              <a:rPr lang="en-US" altLang="zh-CN" sz="2400" i="1" dirty="0"/>
              <a:t>   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 err="1"/>
              <a:t>／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n</a:t>
            </a:r>
            <a:r>
              <a:rPr lang="en-US" altLang="zh-CN" sz="2400" i="1" baseline="-250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n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0" indent="0" algn="just"/>
            <a:r>
              <a:rPr lang="en-US" altLang="zh-CN" sz="2400" i="1" dirty="0"/>
              <a:t>for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=</a:t>
            </a:r>
            <a:r>
              <a:rPr lang="en-US" altLang="zh-CN" sz="2400" i="1" dirty="0"/>
              <a:t>n</a:t>
            </a:r>
            <a:r>
              <a:rPr lang="en-US" altLang="zh-CN" sz="2400" dirty="0"/>
              <a:t>-1,</a:t>
            </a:r>
            <a:r>
              <a:rPr lang="en-US" altLang="zh-CN" sz="2400" i="1" dirty="0"/>
              <a:t>n</a:t>
            </a:r>
            <a:r>
              <a:rPr lang="en-US" altLang="zh-CN" sz="2400" dirty="0"/>
              <a:t>-2,…,1  </a:t>
            </a:r>
            <a:r>
              <a:rPr lang="en-US" altLang="zh-CN" sz="2400" i="1" dirty="0"/>
              <a:t>do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0" indent="0" algn="just">
              <a:buFontTx/>
              <a:buNone/>
            </a:pPr>
            <a:r>
              <a:rPr lang="en-US" altLang="zh-CN" sz="2400" dirty="0"/>
              <a:t>     	(</a:t>
            </a:r>
            <a:r>
              <a:rPr lang="en-US" altLang="zh-CN" sz="2400" i="1" dirty="0"/>
              <a:t>b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-</a:t>
            </a:r>
            <a:r>
              <a:rPr lang="en-US" altLang="zh-CN" sz="2400" i="1" dirty="0"/>
              <a:t>c</a:t>
            </a:r>
            <a:r>
              <a:rPr lang="en-US" altLang="zh-CN" sz="2400" i="1" baseline="-25000" dirty="0"/>
              <a:t>i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+1</a:t>
            </a:r>
            <a:r>
              <a:rPr lang="en-US" altLang="zh-CN" sz="2400" dirty="0"/>
              <a:t>)／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i </a:t>
            </a:r>
            <a:r>
              <a:rPr lang="zh-CN" altLang="en-US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    </a:t>
            </a:r>
          </a:p>
          <a:p>
            <a:pPr marL="0" indent="0" algn="just"/>
            <a:r>
              <a:rPr lang="en-US" altLang="zh-CN" sz="2400" i="1" dirty="0"/>
              <a:t>end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0" indent="0" algn="just"/>
            <a:r>
              <a:rPr lang="en-US" altLang="zh-CN" sz="2400" i="1" dirty="0"/>
              <a:t>output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)                 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449263" y="12700"/>
            <a:ext cx="10363200" cy="1143000"/>
          </a:xfrm>
        </p:spPr>
        <p:txBody>
          <a:bodyPr/>
          <a:lstStyle/>
          <a:p>
            <a:r>
              <a:rPr lang="zh-CN" altLang="en-US" sz="3200"/>
              <a:t>线性代数相关知识复习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1200150" y="1054100"/>
            <a:ext cx="7772400" cy="4114800"/>
          </a:xfrm>
        </p:spPr>
        <p:txBody>
          <a:bodyPr/>
          <a:lstStyle/>
          <a:p>
            <a:r>
              <a:rPr lang="zh-CN" altLang="en-US" sz="2400"/>
              <a:t>初等矩阵</a:t>
            </a:r>
            <a:endParaRPr lang="en-US" altLang="zh-CN" sz="2400"/>
          </a:p>
        </p:txBody>
      </p:sp>
      <p:sp>
        <p:nvSpPr>
          <p:cNvPr id="27652" name="矩形 3"/>
          <p:cNvSpPr>
            <a:spLocks noChangeArrowheads="1"/>
          </p:cNvSpPr>
          <p:nvPr/>
        </p:nvSpPr>
        <p:spPr bwMode="auto">
          <a:xfrm>
            <a:off x="2208213" y="1541463"/>
            <a:ext cx="79930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初等变换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：在矩阵的行上进行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倍加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倍乘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、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对换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变换。</a:t>
            </a:r>
            <a:endParaRPr lang="en-US" altLang="zh-CN" sz="2400">
              <a:solidFill>
                <a:srgbClr val="4D4D4D"/>
              </a:solidFill>
              <a:latin typeface="-apple-system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初等矩阵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：在</a:t>
            </a:r>
            <a:r>
              <a:rPr lang="zh-CN" altLang="en-US" sz="2400" b="1">
                <a:latin typeface="-apple-system"/>
              </a:rPr>
              <a:t>单位矩阵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上应用初等变换得到的矩阵。</a:t>
            </a:r>
            <a:endParaRPr lang="zh-CN" altLang="en-US" sz="2400"/>
          </a:p>
        </p:txBody>
      </p:sp>
      <p:pic>
        <p:nvPicPr>
          <p:cNvPr id="27653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50" r="34103"/>
          <a:stretch>
            <a:fillRect/>
          </a:stretch>
        </p:blipFill>
        <p:spPr bwMode="auto">
          <a:xfrm>
            <a:off x="9236075" y="4003675"/>
            <a:ext cx="1512888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59088" y="2908300"/>
            <a:ext cx="55451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4D4D4D"/>
                </a:solidFill>
                <a:latin typeface="-apple-system"/>
              </a:rPr>
              <a:t>把单位矩阵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E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的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i,j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两行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(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列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)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对调得到的初等矩阵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876550" y="4144963"/>
            <a:ext cx="51704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4D4D4D"/>
                </a:solidFill>
                <a:latin typeface="-apple-system"/>
              </a:rPr>
              <a:t>把单位矩阵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E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的第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i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行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(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列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)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乘以数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k(k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不为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0)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得到的初等矩阵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876550" y="5457825"/>
            <a:ext cx="6096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4D4D4D"/>
                </a:solidFill>
                <a:latin typeface="-apple-system"/>
              </a:rPr>
              <a:t>把单位矩阵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E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的第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j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行乘以数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k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加到第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i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行上，或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E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的第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i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列乘以数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k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加到第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j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列上得到的初等矩阵</a:t>
            </a:r>
          </a:p>
        </p:txBody>
      </p:sp>
      <p:pic>
        <p:nvPicPr>
          <p:cNvPr id="9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92" b="9094"/>
          <a:stretch>
            <a:fillRect/>
          </a:stretch>
        </p:blipFill>
        <p:spPr bwMode="auto">
          <a:xfrm>
            <a:off x="9242425" y="2740025"/>
            <a:ext cx="1547813" cy="120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96" b="7175"/>
          <a:stretch>
            <a:fillRect/>
          </a:stretch>
        </p:blipFill>
        <p:spPr bwMode="auto">
          <a:xfrm>
            <a:off x="9236075" y="5368925"/>
            <a:ext cx="1558925" cy="139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839788" y="188913"/>
            <a:ext cx="10363200" cy="1143000"/>
          </a:xfrm>
        </p:spPr>
        <p:txBody>
          <a:bodyPr/>
          <a:lstStyle/>
          <a:p>
            <a:r>
              <a:rPr lang="zh-CN" altLang="en-US" sz="3200"/>
              <a:t>线性代数相关知识复习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1200150" y="1009650"/>
            <a:ext cx="10363200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/>
              <a:t>初等矩阵的性质</a:t>
            </a:r>
            <a:endParaRPr lang="en-US" altLang="zh-CN" sz="2800"/>
          </a:p>
          <a:p>
            <a:pPr lvl="1"/>
            <a:r>
              <a:rPr lang="zh-CN" altLang="en-US" sz="2400"/>
              <a:t>初等矩阵的转置仍是初等矩阵</a:t>
            </a:r>
            <a:endParaRPr lang="en-US" altLang="zh-CN" sz="2400"/>
          </a:p>
          <a:p>
            <a:pPr lvl="1"/>
            <a:r>
              <a:rPr lang="zh-CN" altLang="en-US" sz="2400"/>
              <a:t>初等矩阵均可逆</a:t>
            </a:r>
            <a:r>
              <a:rPr lang="en-US" altLang="zh-CN" sz="2400"/>
              <a:t>,</a:t>
            </a:r>
            <a:r>
              <a:rPr lang="zh-CN" altLang="en-US" sz="2400"/>
              <a:t>且逆阵为同类初等阵</a:t>
            </a:r>
            <a:endParaRPr lang="en-US" altLang="zh-CN" sz="2400"/>
          </a:p>
          <a:p>
            <a:pPr lvl="1"/>
            <a:r>
              <a:rPr lang="zh-CN" altLang="en-US" sz="2400">
                <a:solidFill>
                  <a:srgbClr val="FF0000"/>
                </a:solidFill>
              </a:rPr>
              <a:t>对于一个矩阵进行初等行（列）变换，相等对此矩阵左（右）乘一个相应的初等矩阵</a:t>
            </a:r>
            <a:r>
              <a:rPr lang="zh-CN" altLang="en-US" sz="2400"/>
              <a:t>。（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初等变换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与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初等矩阵</a:t>
            </a:r>
            <a:r>
              <a:rPr lang="zh-CN" altLang="en-US" sz="2400">
                <a:solidFill>
                  <a:srgbClr val="4D4D4D"/>
                </a:solidFill>
                <a:latin typeface="-apple-system"/>
              </a:rPr>
              <a:t>的关系</a:t>
            </a:r>
            <a:r>
              <a:rPr lang="en-US" altLang="zh-CN" sz="2400"/>
              <a:t>)</a:t>
            </a:r>
            <a:endParaRPr lang="en-US" altLang="zh-CN" sz="2400">
              <a:solidFill>
                <a:srgbClr val="4D4D4D"/>
              </a:solidFill>
              <a:latin typeface="-apple-system"/>
            </a:endParaRPr>
          </a:p>
        </p:txBody>
      </p:sp>
      <p:pic>
        <p:nvPicPr>
          <p:cNvPr id="28677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5854700"/>
            <a:ext cx="77438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3443288"/>
            <a:ext cx="4397375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1"/>
          <a:stretch>
            <a:fillRect/>
          </a:stretch>
        </p:blipFill>
        <p:spPr bwMode="auto">
          <a:xfrm>
            <a:off x="6608763" y="4694238"/>
            <a:ext cx="43053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763" y="3519488"/>
            <a:ext cx="4365625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4737100"/>
            <a:ext cx="431323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839788" y="188913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3200" kern="0"/>
              <a:t>线性代数相关知识复习</a:t>
            </a:r>
            <a:endParaRPr lang="zh-CN" altLang="en-US" sz="3200" kern="0" dirty="0"/>
          </a:p>
        </p:txBody>
      </p:sp>
      <p:sp>
        <p:nvSpPr>
          <p:cNvPr id="29699" name="文本框 4"/>
          <p:cNvSpPr txBox="1">
            <a:spLocks noChangeArrowheads="1"/>
          </p:cNvSpPr>
          <p:nvPr/>
        </p:nvSpPr>
        <p:spPr bwMode="auto">
          <a:xfrm>
            <a:off x="1703388" y="1700213"/>
            <a:ext cx="8247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         A                                              B                                          C</a:t>
            </a:r>
            <a:endParaRPr lang="zh-CN" altLang="en-US"/>
          </a:p>
        </p:txBody>
      </p:sp>
      <p:sp>
        <p:nvSpPr>
          <p:cNvPr id="6" name="右箭头 5"/>
          <p:cNvSpPr>
            <a:spLocks noChangeArrowheads="1"/>
          </p:cNvSpPr>
          <p:nvPr/>
        </p:nvSpPr>
        <p:spPr bwMode="auto">
          <a:xfrm>
            <a:off x="2855913" y="1793875"/>
            <a:ext cx="3117850" cy="266700"/>
          </a:xfrm>
          <a:prstGeom prst="rightArrow">
            <a:avLst>
              <a:gd name="adj1" fmla="val 50000"/>
              <a:gd name="adj2" fmla="val 5000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行变换</a:t>
            </a:r>
            <a:endParaRPr lang="en-US" altLang="zh-CN"/>
          </a:p>
          <a:p>
            <a:pPr eaLnBrk="1" hangingPunct="1"/>
            <a:r>
              <a:rPr lang="zh-CN" altLang="en-US"/>
              <a:t>（左乘初等矩阵</a:t>
            </a:r>
            <a:r>
              <a:rPr lang="en-US" altLang="zh-CN"/>
              <a:t>P1)</a:t>
            </a:r>
            <a:endParaRPr lang="zh-CN" altLang="en-US"/>
          </a:p>
        </p:txBody>
      </p:sp>
      <p:sp>
        <p:nvSpPr>
          <p:cNvPr id="7" name="右箭头 6"/>
          <p:cNvSpPr>
            <a:spLocks noChangeArrowheads="1"/>
          </p:cNvSpPr>
          <p:nvPr/>
        </p:nvSpPr>
        <p:spPr bwMode="auto">
          <a:xfrm>
            <a:off x="6600825" y="1822450"/>
            <a:ext cx="2879725" cy="238125"/>
          </a:xfrm>
          <a:prstGeom prst="rightArrow">
            <a:avLst>
              <a:gd name="adj1" fmla="val 50000"/>
              <a:gd name="adj2" fmla="val 5005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列变换</a:t>
            </a:r>
            <a:endParaRPr lang="en-US" altLang="zh-CN"/>
          </a:p>
          <a:p>
            <a:pPr eaLnBrk="1" hangingPunct="1"/>
            <a:r>
              <a:rPr lang="zh-CN" altLang="en-US"/>
              <a:t>（右乘初等矩阵</a:t>
            </a:r>
            <a:r>
              <a:rPr lang="en-US" altLang="zh-CN"/>
              <a:t>P2</a:t>
            </a:r>
            <a:r>
              <a:rPr lang="zh-CN" altLang="en-US"/>
              <a:t>）</a:t>
            </a:r>
          </a:p>
        </p:txBody>
      </p:sp>
      <p:sp>
        <p:nvSpPr>
          <p:cNvPr id="10" name="文本框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33038" y="2809395"/>
            <a:ext cx="1719445" cy="738664"/>
          </a:xfrm>
          <a:prstGeom prst="rect">
            <a:avLst/>
          </a:prstGeom>
          <a:blipFill>
            <a:blip r:embed="rId2"/>
            <a:stretch>
              <a:fillRect l="-10638" t="-15702" r="-9574" b="-2396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33038" y="3717032"/>
            <a:ext cx="3240360" cy="369332"/>
          </a:xfrm>
          <a:prstGeom prst="rect">
            <a:avLst/>
          </a:prstGeom>
          <a:blipFill>
            <a:blip r:embed="rId3"/>
            <a:stretch>
              <a:fillRect l="-5639" t="-31667" b="-5166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487488" y="4483100"/>
            <a:ext cx="8483600" cy="461963"/>
            <a:chOff x="1487488" y="4483713"/>
            <a:chExt cx="8483219" cy="461665"/>
          </a:xfrm>
        </p:grpSpPr>
        <p:sp>
          <p:nvSpPr>
            <p:cNvPr id="29706" name="文本框 13"/>
            <p:cNvSpPr txBox="1">
              <a:spLocks noChangeArrowheads="1"/>
            </p:cNvSpPr>
            <p:nvPr/>
          </p:nvSpPr>
          <p:spPr bwMode="auto">
            <a:xfrm>
              <a:off x="1487488" y="4483713"/>
              <a:ext cx="8483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     </a:t>
              </a:r>
              <a:r>
                <a:rPr lang="zh-CN" altLang="en-US"/>
                <a:t>若</a:t>
              </a:r>
              <a:r>
                <a:rPr lang="en-US" altLang="zh-CN"/>
                <a:t> A                                              B                                            C</a:t>
              </a:r>
              <a:endParaRPr lang="zh-CN" altLang="en-US"/>
            </a:p>
          </p:txBody>
        </p:sp>
        <p:sp>
          <p:nvSpPr>
            <p:cNvPr id="29707" name="右箭头 11"/>
            <p:cNvSpPr>
              <a:spLocks noChangeArrowheads="1"/>
            </p:cNvSpPr>
            <p:nvPr/>
          </p:nvSpPr>
          <p:spPr bwMode="auto">
            <a:xfrm>
              <a:off x="2567608" y="4581128"/>
              <a:ext cx="3117758" cy="266836"/>
            </a:xfrm>
            <a:prstGeom prst="rightArrow">
              <a:avLst>
                <a:gd name="adj1" fmla="val 50000"/>
                <a:gd name="adj2" fmla="val 49982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第一行乘以</a:t>
              </a:r>
              <a:r>
                <a:rPr lang="en-US" altLang="zh-CN"/>
                <a:t>3+</a:t>
              </a:r>
              <a:r>
                <a:rPr lang="zh-CN" altLang="en-US"/>
                <a:t>第二行</a:t>
              </a:r>
            </a:p>
          </p:txBody>
        </p:sp>
        <p:sp>
          <p:nvSpPr>
            <p:cNvPr id="29708" name="右箭头 12"/>
            <p:cNvSpPr>
              <a:spLocks noChangeArrowheads="1"/>
            </p:cNvSpPr>
            <p:nvPr/>
          </p:nvSpPr>
          <p:spPr bwMode="auto">
            <a:xfrm>
              <a:off x="6312024" y="4609594"/>
              <a:ext cx="3024336" cy="238370"/>
            </a:xfrm>
            <a:prstGeom prst="rightArrow">
              <a:avLst>
                <a:gd name="adj1" fmla="val 50000"/>
                <a:gd name="adj2" fmla="val 4998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第二列乘以</a:t>
              </a:r>
              <a:r>
                <a:rPr lang="en-US" altLang="zh-CN"/>
                <a:t>4+</a:t>
              </a:r>
              <a:r>
                <a:rPr lang="zh-CN" altLang="en-US"/>
                <a:t>第三列</a:t>
              </a:r>
              <a:endParaRPr lang="en-US" altLang="zh-CN"/>
            </a:p>
            <a:p>
              <a:pPr eaLnBrk="1" hangingPunct="1"/>
              <a:endParaRPr lang="zh-CN" altLang="en-US"/>
            </a:p>
          </p:txBody>
        </p:sp>
      </p:grpSp>
      <p:sp>
        <p:nvSpPr>
          <p:cNvPr id="16" name="文本框 1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50729" y="5306214"/>
            <a:ext cx="5069273" cy="976614"/>
          </a:xfrm>
          <a:prstGeom prst="rect">
            <a:avLst/>
          </a:prstGeom>
          <a:blipFill>
            <a:blip r:embed="rId4"/>
            <a:stretch>
              <a:fillRect l="-3730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4"/>
          <p:cNvSpPr>
            <a:spLocks noChangeArrowheads="1"/>
          </p:cNvSpPr>
          <p:nvPr/>
        </p:nvSpPr>
        <p:spPr bwMode="auto">
          <a:xfrm>
            <a:off x="2166938" y="357188"/>
            <a:ext cx="500169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§</a:t>
            </a:r>
            <a:r>
              <a:rPr lang="en-US" altLang="zh-CN" sz="2800" b="1" dirty="0"/>
              <a:t>2. 2  Doolittle-</a:t>
            </a:r>
            <a:r>
              <a:rPr lang="zh-CN" altLang="en-US" sz="2800" b="1" dirty="0">
                <a:solidFill>
                  <a:schemeClr val="accent2"/>
                </a:solidFill>
              </a:rPr>
              <a:t>矩阵的</a:t>
            </a:r>
            <a:r>
              <a:rPr lang="en-US" altLang="zh-CN" sz="2800" b="1" dirty="0">
                <a:solidFill>
                  <a:schemeClr val="accent2"/>
                </a:solidFill>
              </a:rPr>
              <a:t>LU</a:t>
            </a:r>
            <a:r>
              <a:rPr lang="zh-CN" altLang="en-US" sz="2800" b="1" dirty="0">
                <a:solidFill>
                  <a:schemeClr val="accent2"/>
                </a:solidFill>
              </a:rPr>
              <a:t>分解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08213" y="1125538"/>
            <a:ext cx="6264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. Gauss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顺序消去法的矩阵形式</a:t>
            </a:r>
          </a:p>
        </p:txBody>
      </p:sp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1919536" y="1666366"/>
            <a:ext cx="93610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设</a:t>
            </a:r>
            <a:r>
              <a:rPr lang="zh-CN" altLang="en-US" sz="2400" dirty="0">
                <a:ea typeface="楷体_GB2312" pitchFamily="49" charset="-122"/>
              </a:rPr>
              <a:t>方程组 </a:t>
            </a:r>
            <a:r>
              <a:rPr lang="en-US" altLang="zh-CN" sz="2400" i="1" dirty="0"/>
              <a:t>Ax</a:t>
            </a:r>
            <a:r>
              <a:rPr lang="en-US" altLang="zh-CN" sz="2400" dirty="0"/>
              <a:t> = </a:t>
            </a:r>
            <a:r>
              <a:rPr lang="en-US" altLang="zh-CN" sz="2400" i="1" dirty="0"/>
              <a:t>b</a:t>
            </a:r>
            <a:r>
              <a:rPr lang="zh-CN" altLang="en-US" sz="2400" i="1" dirty="0"/>
              <a:t>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en-US" altLang="zh-CN" sz="2400" i="1" dirty="0">
                <a:ea typeface="楷体_GB2312" pitchFamily="49" charset="-122"/>
              </a:rPr>
              <a:t>A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各阶顺序主子式（初等矩阵）均不为零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，令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8"/>
              <p:cNvSpPr txBox="1"/>
              <p:nvPr/>
            </p:nvSpPr>
            <p:spPr bwMode="auto">
              <a:xfrm>
                <a:off x="1703512" y="2303543"/>
                <a:ext cx="4032250" cy="241935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512" y="2303543"/>
                <a:ext cx="4032250" cy="2419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9"/>
              <p:cNvSpPr txBox="1"/>
              <p:nvPr/>
            </p:nvSpPr>
            <p:spPr bwMode="auto">
              <a:xfrm>
                <a:off x="6600081" y="2420888"/>
                <a:ext cx="4032249" cy="25050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0081" y="2420888"/>
                <a:ext cx="4032249" cy="2505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D667EDF0-61AC-4C45-A219-0D6A99BC40A6}"/>
                  </a:ext>
                </a:extLst>
              </p:cNvPr>
              <p:cNvSpPr txBox="1"/>
              <p:nvPr/>
            </p:nvSpPr>
            <p:spPr bwMode="auto">
              <a:xfrm>
                <a:off x="911424" y="4509020"/>
                <a:ext cx="4697785" cy="25923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D667EDF0-61AC-4C45-A219-0D6A99BC4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1424" y="4509020"/>
                <a:ext cx="4697785" cy="2592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E240B003-D0A0-4BB3-A029-F1F38C823FA9}"/>
                  </a:ext>
                </a:extLst>
              </p:cNvPr>
              <p:cNvSpPr txBox="1"/>
              <p:nvPr/>
            </p:nvSpPr>
            <p:spPr bwMode="auto">
              <a:xfrm>
                <a:off x="6744767" y="4610868"/>
                <a:ext cx="4394200" cy="23891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E240B003-D0A0-4BB3-A029-F1F38C823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4767" y="4610868"/>
                <a:ext cx="4394200" cy="23891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7F9ED831-6513-4B10-BFCB-0357EB0777A0}"/>
                  </a:ext>
                </a:extLst>
              </p:cNvPr>
              <p:cNvSpPr txBox="1"/>
              <p:nvPr/>
            </p:nvSpPr>
            <p:spPr bwMode="auto">
              <a:xfrm rot="5400000">
                <a:off x="10913913" y="3268229"/>
                <a:ext cx="238125" cy="4953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7F9ED831-6513-4B10-BFCB-0357EB077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10913913" y="3268229"/>
                <a:ext cx="238125" cy="495300"/>
              </a:xfrm>
              <a:prstGeom prst="rect">
                <a:avLst/>
              </a:prstGeom>
              <a:blipFill>
                <a:blip r:embed="rId7"/>
                <a:stretch>
                  <a:fillRect t="-2564" b="-2307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FA2D74E-901C-4CAE-9A33-D20A49508CEC}"/>
                  </a:ext>
                </a:extLst>
              </p:cNvPr>
              <p:cNvSpPr txBox="1"/>
              <p:nvPr/>
            </p:nvSpPr>
            <p:spPr bwMode="auto">
              <a:xfrm rot="5400000">
                <a:off x="6058601" y="5358042"/>
                <a:ext cx="238125" cy="4953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FA2D74E-901C-4CAE-9A33-D20A49508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6058601" y="5358042"/>
                <a:ext cx="238125" cy="495300"/>
              </a:xfrm>
              <a:prstGeom prst="rect">
                <a:avLst/>
              </a:prstGeom>
              <a:blipFill>
                <a:blip r:embed="rId8"/>
                <a:stretch>
                  <a:fillRect t="-2564" b="-2307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351088" y="188913"/>
            <a:ext cx="3833812" cy="1268412"/>
            <a:chOff x="827088" y="188913"/>
            <a:chExt cx="3833812" cy="1268412"/>
          </a:xfrm>
        </p:grpSpPr>
        <p:sp>
          <p:nvSpPr>
            <p:cNvPr id="34829" name="Rectangle 2"/>
            <p:cNvSpPr>
              <a:spLocks noChangeArrowheads="1"/>
            </p:cNvSpPr>
            <p:nvPr/>
          </p:nvSpPr>
          <p:spPr bwMode="auto">
            <a:xfrm>
              <a:off x="827088" y="188913"/>
              <a:ext cx="609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即</a:t>
              </a:r>
              <a:r>
                <a:rPr lang="zh-CN" altLang="en-US" sz="2800">
                  <a:latin typeface="Arial" panose="020B0604020202020204" pitchFamily="34" charset="0"/>
                </a:rPr>
                <a:t> </a:t>
              </a:r>
              <a:endParaRPr lang="zh-CN" altLang="en-US" sz="28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30" name="Object 4"/>
                <p:cNvSpPr txBox="1"/>
                <p:nvPr/>
              </p:nvSpPr>
              <p:spPr bwMode="auto">
                <a:xfrm>
                  <a:off x="1631950" y="430213"/>
                  <a:ext cx="3028950" cy="102711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30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31950" y="430213"/>
                  <a:ext cx="3028950" cy="10271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12"/>
          <p:cNvGrpSpPr>
            <a:grpSpLocks/>
          </p:cNvGrpSpPr>
          <p:nvPr/>
        </p:nvGrpSpPr>
        <p:grpSpPr bwMode="auto">
          <a:xfrm>
            <a:off x="1817688" y="1558925"/>
            <a:ext cx="5905500" cy="1114425"/>
            <a:chOff x="755650" y="1557338"/>
            <a:chExt cx="5903913" cy="1114425"/>
          </a:xfrm>
        </p:grpSpPr>
        <p:sp>
          <p:nvSpPr>
            <p:cNvPr id="34826" name="Rectangle 7"/>
            <p:cNvSpPr>
              <a:spLocks noChangeArrowheads="1"/>
            </p:cNvSpPr>
            <p:nvPr/>
          </p:nvSpPr>
          <p:spPr bwMode="auto">
            <a:xfrm>
              <a:off x="755650" y="1598613"/>
              <a:ext cx="244792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由         得</a:t>
              </a:r>
              <a:r>
                <a:rPr lang="zh-CN" altLang="en-US" sz="2400">
                  <a:latin typeface="Arial" panose="020B0604020202020204" pitchFamily="34" charset="0"/>
                </a:rPr>
                <a:t> </a:t>
              </a:r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7" name="Object 8"/>
                <p:cNvSpPr txBox="1"/>
                <p:nvPr/>
              </p:nvSpPr>
              <p:spPr bwMode="auto">
                <a:xfrm>
                  <a:off x="1187450" y="1557338"/>
                  <a:ext cx="1185863" cy="4318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7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87450" y="1557338"/>
                  <a:ext cx="1185863" cy="4318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8" name="Object 10"/>
                <p:cNvSpPr txBox="1"/>
                <p:nvPr/>
              </p:nvSpPr>
              <p:spPr bwMode="auto">
                <a:xfrm>
                  <a:off x="1258888" y="2133600"/>
                  <a:ext cx="5400675" cy="53816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8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8888" y="2133600"/>
                  <a:ext cx="5400675" cy="5381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13"/>
          <p:cNvGrpSpPr>
            <a:grpSpLocks/>
          </p:cNvGrpSpPr>
          <p:nvPr/>
        </p:nvGrpSpPr>
        <p:grpSpPr bwMode="auto">
          <a:xfrm>
            <a:off x="1919288" y="2876550"/>
            <a:ext cx="8002587" cy="3751263"/>
            <a:chOff x="684213" y="2924175"/>
            <a:chExt cx="8002578" cy="37523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2" name="Object 13"/>
                <p:cNvSpPr txBox="1"/>
                <p:nvPr/>
              </p:nvSpPr>
              <p:spPr bwMode="auto">
                <a:xfrm>
                  <a:off x="2916238" y="2997200"/>
                  <a:ext cx="330200" cy="434975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822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16238" y="2997200"/>
                  <a:ext cx="330200" cy="434975"/>
                </a:xfrm>
                <a:prstGeom prst="rect">
                  <a:avLst/>
                </a:prstGeom>
                <a:blipFill>
                  <a:blip r:embed="rId6"/>
                  <a:stretch>
                    <a:fillRect r="-24074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823" name="Rectangle 14"/>
            <p:cNvSpPr>
              <a:spLocks noChangeArrowheads="1"/>
            </p:cNvSpPr>
            <p:nvPr/>
          </p:nvSpPr>
          <p:spPr bwMode="auto">
            <a:xfrm>
              <a:off x="6094403" y="6020718"/>
              <a:ext cx="259238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 </a:t>
              </a:r>
              <a:r>
                <a:rPr lang="en-US" altLang="zh-CN" sz="2400" i="1">
                  <a:cs typeface="Times New Roman" panose="02020603050405020304" pitchFamily="18" charset="0"/>
                </a:rPr>
                <a:t>k </a:t>
              </a:r>
              <a:r>
                <a:rPr lang="en-US" altLang="zh-CN" sz="2400">
                  <a:cs typeface="Times New Roman" panose="02020603050405020304" pitchFamily="18" charset="0"/>
                </a:rPr>
                <a:t>= 1,2,…</a:t>
              </a:r>
              <a:r>
                <a:rPr lang="zh-CN" altLang="en-US" sz="2400">
                  <a:latin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i="1">
                  <a:cs typeface="Times New Roman" panose="02020603050405020304" pitchFamily="18" charset="0"/>
                </a:rPr>
                <a:t>n</a:t>
              </a:r>
              <a:r>
                <a:rPr lang="en-US" altLang="zh-CN" sz="2400">
                  <a:cs typeface="Times New Roman" panose="02020603050405020304" pitchFamily="18" charset="0"/>
                </a:rPr>
                <a:t>-1</a:t>
              </a:r>
              <a:r>
                <a:rPr lang="en-US" altLang="zh-CN" sz="2400">
                  <a:latin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en-US" altLang="zh-CN" sz="2400"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824" name="Object 15"/>
                <p:cNvSpPr txBox="1"/>
                <p:nvPr/>
              </p:nvSpPr>
              <p:spPr bwMode="auto">
                <a:xfrm>
                  <a:off x="866775" y="3436424"/>
                  <a:ext cx="5227628" cy="3240088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7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  <m:e/>
                                <m:e/>
                                <m:e/>
                                <m:e/>
                              </m:mr>
                              <m:mr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/>
                                <m:e/>
                                <m:e/>
                                <m:e/>
                                <m:e/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  <m:e/>
                                <m:e/>
                              </m:mr>
                              <m:mr>
                                <m:e/>
                                <m:e/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/>
                                <m:e/>
                                <m:e/>
                              </m:mr>
                              <m:mr>
                                <m:e/>
                                <m:e/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+2,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/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/>
                              </m:mr>
                              <m:mr>
                                <m:e/>
                                <m:e/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/>
                                <m:e/>
                                <m:e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4824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6775" y="3436424"/>
                  <a:ext cx="5227628" cy="324008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825" name="矩形 17"/>
            <p:cNvSpPr>
              <a:spLocks noChangeArrowheads="1"/>
            </p:cNvSpPr>
            <p:nvPr/>
          </p:nvSpPr>
          <p:spPr bwMode="auto">
            <a:xfrm>
              <a:off x="684213" y="2924175"/>
              <a:ext cx="46466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457200" algn="l"/>
                  <a:tab pos="666750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457200" algn="l"/>
                  <a:tab pos="666750" algn="l"/>
                </a:tabLs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457200" algn="l"/>
                  <a:tab pos="6667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457200" algn="l"/>
                  <a:tab pos="666750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457200" algn="l"/>
                  <a:tab pos="666750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666750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666750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666750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666750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容易验证：每个   可逆，且</a:t>
              </a:r>
              <a:r>
                <a:rPr lang="zh-CN" altLang="en-U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135188" y="333375"/>
            <a:ext cx="3168650" cy="460375"/>
            <a:chOff x="611188" y="333375"/>
            <a:chExt cx="3168650" cy="460375"/>
          </a:xfrm>
        </p:grpSpPr>
        <p:sp>
          <p:nvSpPr>
            <p:cNvPr id="36875" name="Rectangle 3"/>
            <p:cNvSpPr>
              <a:spLocks noChangeArrowheads="1"/>
            </p:cNvSpPr>
            <p:nvPr/>
          </p:nvSpPr>
          <p:spPr bwMode="auto">
            <a:xfrm>
              <a:off x="611188" y="333375"/>
              <a:ext cx="31686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令</a:t>
              </a:r>
              <a:r>
                <a:rPr lang="en-US" altLang="zh-CN" sz="2400">
                  <a:cs typeface="Times New Roman" panose="02020603050405020304" pitchFamily="18" charset="0"/>
                </a:rPr>
                <a:t>                           </a:t>
              </a:r>
              <a:r>
                <a:rPr lang="zh-CN" altLang="en-US" sz="2400">
                  <a:cs typeface="Times New Roman" panose="02020603050405020304" pitchFamily="18" charset="0"/>
                </a:rPr>
                <a:t>，则</a:t>
              </a:r>
              <a:endParaRPr lang="en-US" altLang="zh-CN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876" name="Object 4"/>
                <p:cNvSpPr txBox="1"/>
                <p:nvPr/>
              </p:nvSpPr>
              <p:spPr bwMode="auto">
                <a:xfrm>
                  <a:off x="1042988" y="333375"/>
                  <a:ext cx="1965325" cy="4572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687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2988" y="333375"/>
                  <a:ext cx="1965325" cy="4572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435" name="Object 7"/>
              <p:cNvSpPr txBox="1"/>
              <p:nvPr/>
            </p:nvSpPr>
            <p:spPr bwMode="auto">
              <a:xfrm>
                <a:off x="5375275" y="549275"/>
                <a:ext cx="3308350" cy="22113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4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5275" y="549275"/>
                <a:ext cx="3308350" cy="2211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11"/>
          <p:cNvGrpSpPr>
            <a:grpSpLocks/>
          </p:cNvGrpSpPr>
          <p:nvPr/>
        </p:nvGrpSpPr>
        <p:grpSpPr bwMode="auto">
          <a:xfrm>
            <a:off x="2208213" y="2997200"/>
            <a:ext cx="2735262" cy="461963"/>
            <a:chOff x="684213" y="2997200"/>
            <a:chExt cx="2735262" cy="461963"/>
          </a:xfrm>
        </p:grpSpPr>
        <p:sp>
          <p:nvSpPr>
            <p:cNvPr id="36873" name="Rectangle 9"/>
            <p:cNvSpPr>
              <a:spLocks noChangeArrowheads="1"/>
            </p:cNvSpPr>
            <p:nvPr/>
          </p:nvSpPr>
          <p:spPr bwMode="auto">
            <a:xfrm>
              <a:off x="684213" y="2997200"/>
              <a:ext cx="273526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又令        ，且</a:t>
              </a:r>
              <a:r>
                <a:rPr lang="zh-CN" altLang="en-US" sz="2400">
                  <a:latin typeface="Arial" panose="020B0604020202020204" pitchFamily="34" charset="0"/>
                </a:rPr>
                <a:t> </a:t>
              </a:r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874" name="Object 11"/>
                <p:cNvSpPr txBox="1"/>
                <p:nvPr/>
              </p:nvSpPr>
              <p:spPr bwMode="auto">
                <a:xfrm>
                  <a:off x="1476375" y="3068638"/>
                  <a:ext cx="1033463" cy="38576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6874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76375" y="3068638"/>
                  <a:ext cx="1033463" cy="3857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8437" name="Object 14"/>
          <p:cNvGraphicFramePr>
            <a:graphicFrameLocks noChangeAspect="1"/>
          </p:cNvGraphicFramePr>
          <p:nvPr/>
        </p:nvGraphicFramePr>
        <p:xfrm>
          <a:off x="5087938" y="3141663"/>
          <a:ext cx="3071812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1" name="Equation" r:id="rId6" imgW="975218" imgH="556134" progId="Equation.DSMT4">
                  <p:embed/>
                </p:oleObj>
              </mc:Choice>
              <mc:Fallback>
                <p:oleObj name="Equation" r:id="rId6" imgW="975218" imgH="55613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141663"/>
                        <a:ext cx="3071812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15"/>
          <p:cNvSpPr>
            <a:spLocks noChangeArrowheads="1"/>
          </p:cNvSpPr>
          <p:nvPr/>
        </p:nvSpPr>
        <p:spPr bwMode="auto">
          <a:xfrm>
            <a:off x="2351088" y="4983163"/>
            <a:ext cx="1962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则：</a:t>
            </a:r>
            <a:r>
              <a:rPr lang="zh-CN" altLang="en-US" sz="2400">
                <a:latin typeface="Arial" panose="020B0604020202020204" pitchFamily="34" charset="0"/>
              </a:rPr>
              <a:t> </a:t>
            </a:r>
            <a:endParaRPr lang="zh-CN" altLang="en-US" sz="2400"/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774825" y="6027738"/>
            <a:ext cx="8893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其中，</a:t>
            </a:r>
            <a:r>
              <a:rPr lang="en-US" altLang="zh-CN" sz="2400" i="1">
                <a:solidFill>
                  <a:srgbClr val="FF0000"/>
                </a:solidFill>
                <a:cs typeface="Times New Roman" panose="02020603050405020304" pitchFamily="18" charset="0"/>
              </a:rPr>
              <a:t>L </a:t>
            </a:r>
            <a:r>
              <a:rPr lang="zh-CN" altLang="en-US" sz="2400">
                <a:solidFill>
                  <a:srgbClr val="FF0000"/>
                </a:solidFill>
              </a:rPr>
              <a:t>为单位下三角矩阵，其对角元素皆为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</a:rPr>
              <a:t>；</a:t>
            </a:r>
            <a:r>
              <a:rPr lang="en-US" altLang="zh-CN" sz="2400" i="1">
                <a:solidFill>
                  <a:srgbClr val="FF0000"/>
                </a:solidFill>
              </a:rPr>
              <a:t>U</a:t>
            </a:r>
            <a:r>
              <a:rPr lang="zh-CN" altLang="en-US" sz="2400">
                <a:solidFill>
                  <a:srgbClr val="FF0000"/>
                </a:solidFill>
              </a:rPr>
              <a:t>为上三角矩阵。</a:t>
            </a:r>
          </a:p>
        </p:txBody>
      </p:sp>
      <p:sp>
        <p:nvSpPr>
          <p:cNvPr id="18442" name="矩形 18"/>
          <p:cNvSpPr>
            <a:spLocks noChangeArrowheads="1"/>
          </p:cNvSpPr>
          <p:nvPr/>
        </p:nvSpPr>
        <p:spPr bwMode="auto">
          <a:xfrm>
            <a:off x="4511675" y="5300663"/>
            <a:ext cx="11636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i="1">
                <a:solidFill>
                  <a:srgbClr val="000000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600">
                <a:solidFill>
                  <a:srgbClr val="00000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600" i="1">
                <a:solidFill>
                  <a:srgbClr val="000000"/>
                </a:solidFill>
                <a:cs typeface="Times New Roman" panose="02020603050405020304" pitchFamily="18" charset="0"/>
              </a:rPr>
              <a:t>LU</a:t>
            </a:r>
            <a:endParaRPr lang="zh-CN" altLang="en-US" sz="26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/>
      <p:bldP spid="18" grpId="0" autoUpdateAnimBg="0"/>
      <p:bldP spid="1844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ChangeArrowheads="1"/>
          </p:cNvSpPr>
          <p:nvPr/>
        </p:nvSpPr>
        <p:spPr bwMode="auto">
          <a:xfrm>
            <a:off x="2351088" y="1989138"/>
            <a:ext cx="762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cs typeface="Times New Roman" panose="02020603050405020304" pitchFamily="18" charset="0"/>
              </a:rPr>
              <a:t>知</a:t>
            </a:r>
            <a:r>
              <a:rPr lang="zh-CN" altLang="en-US" sz="2800">
                <a:cs typeface="Times New Roman" panose="02020603050405020304" pitchFamily="18" charset="0"/>
              </a:rPr>
              <a:t> </a:t>
            </a:r>
            <a:endParaRPr lang="zh-CN" alt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891" name="Object 4"/>
              <p:cNvSpPr txBox="1"/>
              <p:nvPr/>
            </p:nvSpPr>
            <p:spPr bwMode="auto">
              <a:xfrm>
                <a:off x="3287713" y="2636838"/>
                <a:ext cx="1368425" cy="10255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789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7713" y="2636838"/>
                <a:ext cx="1368425" cy="1025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2" name="Rectangle 8"/>
          <p:cNvSpPr>
            <a:spLocks noChangeArrowheads="1"/>
          </p:cNvSpPr>
          <p:nvPr/>
        </p:nvSpPr>
        <p:spPr bwMode="auto">
          <a:xfrm>
            <a:off x="2424113" y="404813"/>
            <a:ext cx="576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由</a:t>
            </a: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893" name="Object 5"/>
              <p:cNvSpPr txBox="1"/>
              <p:nvPr/>
            </p:nvSpPr>
            <p:spPr bwMode="auto">
              <a:xfrm>
                <a:off x="3216275" y="908050"/>
                <a:ext cx="3028950" cy="10287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789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6275" y="908050"/>
                <a:ext cx="3028950" cy="1028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2536825" y="4079875"/>
            <a:ext cx="74168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66675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66675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6667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7030A0"/>
                </a:solidFill>
                <a:cs typeface="Times New Roman" panose="02020603050405020304" pitchFamily="18" charset="0"/>
              </a:rPr>
              <a:t>Gauss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消去法的实质就是用一连串的行初等变换把系数方阵</a:t>
            </a:r>
            <a:r>
              <a:rPr lang="en-US" altLang="zh-CN" sz="2400" i="1">
                <a:solidFill>
                  <a:srgbClr val="7030A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化成上三角方阵</a:t>
            </a:r>
            <a:r>
              <a:rPr lang="en-US" altLang="zh-CN" sz="2400" i="1">
                <a:solidFill>
                  <a:srgbClr val="7030A0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，同时把右端向量化</a:t>
            </a:r>
            <a:r>
              <a:rPr lang="zh-CN" altLang="en-US" sz="8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>
                <a:solidFill>
                  <a:srgbClr val="7030A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8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8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>
                <a:solidFill>
                  <a:srgbClr val="7030A0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。</a:t>
            </a:r>
            <a:r>
              <a:rPr lang="zh-CN" altLang="en-US" sz="2400">
                <a:latin typeface="宋体" panose="02010600030101010101" pitchFamily="2" charset="-122"/>
              </a:rPr>
              <a:t>若矩阵</a:t>
            </a:r>
            <a:r>
              <a:rPr lang="zh-CN" altLang="en-US" sz="800">
                <a:latin typeface="宋体" panose="02010600030101010101" pitchFamily="2" charset="-122"/>
              </a:rPr>
              <a:t> </a:t>
            </a:r>
            <a:r>
              <a:rPr lang="en-US" altLang="zh-CN" sz="2400" i="1">
                <a:cs typeface="Times New Roman" panose="02020603050405020304" pitchFamily="18" charset="0"/>
              </a:rPr>
              <a:t>A</a:t>
            </a:r>
            <a:r>
              <a:rPr lang="en-US" altLang="zh-CN" sz="2400">
                <a:cs typeface="Times New Roman" panose="02020603050405020304" pitchFamily="18" charset="0"/>
              </a:rPr>
              <a:t>=</a:t>
            </a:r>
            <a:r>
              <a:rPr lang="en-US" altLang="zh-CN" sz="2400" i="1">
                <a:cs typeface="Times New Roman" panose="02020603050405020304" pitchFamily="18" charset="0"/>
              </a:rPr>
              <a:t>LU</a:t>
            </a:r>
            <a:r>
              <a:rPr lang="zh-CN" altLang="en-US" sz="2400">
                <a:latin typeface="宋体" panose="02010600030101010101" pitchFamily="2" charset="-122"/>
              </a:rPr>
              <a:t>，则</a:t>
            </a:r>
            <a:r>
              <a:rPr lang="zh-CN" altLang="en-US" sz="800">
                <a:latin typeface="宋体" panose="02010600030101010101" pitchFamily="2" charset="-122"/>
              </a:rPr>
              <a:t> </a:t>
            </a:r>
            <a:r>
              <a:rPr lang="en-US" altLang="zh-CN" sz="2400" i="1"/>
              <a:t>LU</a:t>
            </a:r>
            <a:r>
              <a:rPr lang="en-US" altLang="zh-CN" sz="800" i="1"/>
              <a:t> </a:t>
            </a:r>
            <a:r>
              <a:rPr lang="zh-CN" altLang="en-US" sz="2400">
                <a:latin typeface="宋体" panose="02010600030101010101" pitchFamily="2" charset="-122"/>
              </a:rPr>
              <a:t>叫做</a:t>
            </a:r>
            <a:r>
              <a:rPr lang="zh-CN" altLang="en-US" sz="2400">
                <a:solidFill>
                  <a:srgbClr val="CC0000"/>
                </a:solidFill>
                <a:latin typeface="宋体" panose="02010600030101010101" pitchFamily="2" charset="-122"/>
              </a:rPr>
              <a:t>矩阵</a:t>
            </a:r>
            <a:r>
              <a:rPr lang="en-US" altLang="zh-CN" sz="2400" i="1">
                <a:solidFill>
                  <a:srgbClr val="CC0000"/>
                </a:solidFill>
              </a:rPr>
              <a:t>A</a:t>
            </a:r>
            <a:r>
              <a:rPr lang="zh-CN" altLang="en-US" sz="2400">
                <a:solidFill>
                  <a:srgbClr val="CC0000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400" i="1">
                <a:solidFill>
                  <a:srgbClr val="CC0000"/>
                </a:solidFill>
              </a:rPr>
              <a:t>LU</a:t>
            </a:r>
            <a:r>
              <a:rPr lang="zh-CN" altLang="en-US" sz="2400">
                <a:solidFill>
                  <a:srgbClr val="CC0000"/>
                </a:solidFill>
              </a:rPr>
              <a:t>分解（</a:t>
            </a:r>
            <a:r>
              <a:rPr lang="en-US" altLang="zh-CN" sz="2400">
                <a:solidFill>
                  <a:srgbClr val="CC0000"/>
                </a:solidFill>
              </a:rPr>
              <a:t>Doolittle</a:t>
            </a:r>
            <a:r>
              <a:rPr lang="zh-CN" altLang="en-US" sz="2400">
                <a:solidFill>
                  <a:srgbClr val="CC0000"/>
                </a:solidFill>
              </a:rPr>
              <a:t>）</a:t>
            </a:r>
            <a:r>
              <a:rPr lang="zh-CN" altLang="en-US" sz="2000"/>
              <a:t>。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ChangeArrowheads="1"/>
          </p:cNvSpPr>
          <p:nvPr/>
        </p:nvSpPr>
        <p:spPr bwMode="auto">
          <a:xfrm>
            <a:off x="2208213" y="404813"/>
            <a:ext cx="7416800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若矩阵</a:t>
            </a:r>
            <a:r>
              <a:rPr lang="en-US" altLang="zh-CN" sz="2400" i="1" dirty="0"/>
              <a:t>A</a:t>
            </a:r>
            <a:r>
              <a:rPr lang="zh-CN" altLang="en-US" sz="2400" dirty="0"/>
              <a:t>具有</a:t>
            </a:r>
            <a:r>
              <a:rPr lang="en-US" altLang="zh-CN" sz="2400" i="1" dirty="0"/>
              <a:t>LU</a:t>
            </a:r>
            <a:r>
              <a:rPr lang="zh-CN" altLang="en-US" sz="2400" dirty="0"/>
              <a:t>分解 </a:t>
            </a:r>
            <a:r>
              <a:rPr lang="en-US" altLang="zh-CN" sz="2400" i="1" dirty="0"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cs typeface="Times New Roman" panose="02020603050405020304" pitchFamily="18" charset="0"/>
              </a:rPr>
              <a:t>LU</a:t>
            </a:r>
            <a:r>
              <a:rPr lang="zh-CN" altLang="en-US" sz="2400" dirty="0"/>
              <a:t> ，则方程组 </a:t>
            </a:r>
            <a:r>
              <a:rPr lang="en-US" altLang="zh-CN" sz="2400" i="1" dirty="0"/>
              <a:t>Ax</a:t>
            </a:r>
            <a:r>
              <a:rPr lang="en-US" altLang="zh-CN" sz="2400" dirty="0"/>
              <a:t> = </a:t>
            </a:r>
            <a:r>
              <a:rPr lang="en-US" altLang="zh-CN" sz="2400" i="1" dirty="0"/>
              <a:t>b</a:t>
            </a:r>
            <a:r>
              <a:rPr lang="zh-CN" altLang="en-US" sz="2400" dirty="0">
                <a:latin typeface="宋体" panose="02010600030101010101" pitchFamily="2" charset="-122"/>
              </a:rPr>
              <a:t>的求</a:t>
            </a:r>
            <a:r>
              <a:rPr lang="zh-CN" altLang="en-US" sz="2400" dirty="0"/>
              <a:t>解</a:t>
            </a:r>
            <a:r>
              <a:rPr lang="zh-CN" altLang="en-US" sz="2400" dirty="0">
                <a:latin typeface="宋体" panose="02010600030101010101" pitchFamily="2" charset="-122"/>
              </a:rPr>
              <a:t>过程为</a:t>
            </a:r>
            <a:r>
              <a:rPr lang="en-US" altLang="zh-CN" sz="2400" dirty="0">
                <a:latin typeface="宋体" panose="02010600030101010101" pitchFamily="2" charset="-122"/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err="1">
                <a:latin typeface="宋体" panose="02010600030101010101" pitchFamily="2" charset="-122"/>
              </a:rPr>
              <a:t>LUx</a:t>
            </a:r>
            <a:r>
              <a:rPr lang="en-US" altLang="zh-CN" sz="2400" dirty="0">
                <a:latin typeface="宋体" panose="02010600030101010101" pitchFamily="2" charset="-122"/>
              </a:rPr>
              <a:t>=b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7"/>
              <p:cNvSpPr txBox="1"/>
              <p:nvPr/>
            </p:nvSpPr>
            <p:spPr bwMode="auto">
              <a:xfrm>
                <a:off x="4252913" y="1341438"/>
                <a:ext cx="1152525" cy="9874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2913" y="1341438"/>
                <a:ext cx="1152525" cy="9874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100263" y="2452688"/>
            <a:ext cx="7632700" cy="1822449"/>
            <a:chOff x="468313" y="2470150"/>
            <a:chExt cx="7632700" cy="1823190"/>
          </a:xfrm>
        </p:grpSpPr>
        <p:sp>
          <p:nvSpPr>
            <p:cNvPr id="38921" name="Rectangle 9"/>
            <p:cNvSpPr>
              <a:spLocks noChangeArrowheads="1"/>
            </p:cNvSpPr>
            <p:nvPr/>
          </p:nvSpPr>
          <p:spPr bwMode="auto">
            <a:xfrm>
              <a:off x="468313" y="2470150"/>
              <a:ext cx="76327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可推导求解单位下三角形方程组      的递归公式为 </a:t>
              </a:r>
              <a:r>
                <a:rPr lang="en-US" altLang="zh-CN" sz="2400">
                  <a:latin typeface="宋体" panose="02010600030101010101" pitchFamily="2" charset="-122"/>
                </a:rPr>
                <a:t>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22" name="Object 10"/>
                <p:cNvSpPr txBox="1"/>
                <p:nvPr/>
              </p:nvSpPr>
              <p:spPr bwMode="auto">
                <a:xfrm>
                  <a:off x="4788024" y="2519363"/>
                  <a:ext cx="873125" cy="40481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𝐿𝑦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892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8024" y="2519363"/>
                  <a:ext cx="873125" cy="4048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23" name="Object 11"/>
                <p:cNvSpPr txBox="1"/>
                <p:nvPr/>
              </p:nvSpPr>
              <p:spPr bwMode="auto">
                <a:xfrm>
                  <a:off x="1871762" y="3194694"/>
                  <a:ext cx="4896544" cy="109864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=1,2,3,⋯,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892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1762" y="3194694"/>
                  <a:ext cx="4896544" cy="109864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11"/>
          <p:cNvGrpSpPr>
            <a:grpSpLocks/>
          </p:cNvGrpSpPr>
          <p:nvPr/>
        </p:nvGrpSpPr>
        <p:grpSpPr bwMode="auto">
          <a:xfrm>
            <a:off x="1992313" y="4275138"/>
            <a:ext cx="8172450" cy="2343636"/>
            <a:chOff x="468313" y="4275138"/>
            <a:chExt cx="8172450" cy="2343636"/>
          </a:xfrm>
        </p:grpSpPr>
        <p:sp>
          <p:nvSpPr>
            <p:cNvPr id="38918" name="Rectangle 15"/>
            <p:cNvSpPr>
              <a:spLocks noChangeArrowheads="1"/>
            </p:cNvSpPr>
            <p:nvPr/>
          </p:nvSpPr>
          <p:spPr bwMode="auto">
            <a:xfrm>
              <a:off x="468313" y="4275138"/>
              <a:ext cx="817245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zh-CN" altLang="en-US" sz="2400">
                  <a:cs typeface="Times New Roman" panose="02020603050405020304" pitchFamily="18" charset="0"/>
                </a:rPr>
                <a:t>解</a:t>
              </a:r>
              <a:r>
                <a:rPr lang="zh-CN" altLang="en-US" sz="2400">
                  <a:latin typeface="宋体" panose="02010600030101010101" pitchFamily="2" charset="-122"/>
                  <a:cs typeface="Times New Roman" panose="02020603050405020304" pitchFamily="18" charset="0"/>
                </a:rPr>
                <a:t>上三角形方程组       的递归公式为</a:t>
              </a:r>
              <a:r>
                <a:rPr lang="en-US" altLang="zh-CN" sz="2400">
                  <a:latin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400">
                  <a:latin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en-US" altLang="zh-CN" sz="2400"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19" name="Object 16"/>
                <p:cNvSpPr txBox="1"/>
                <p:nvPr/>
              </p:nvSpPr>
              <p:spPr bwMode="auto">
                <a:xfrm>
                  <a:off x="3419475" y="4392613"/>
                  <a:ext cx="925513" cy="40481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8919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19475" y="4392613"/>
                  <a:ext cx="925513" cy="40481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20" name="Object 17"/>
                <p:cNvSpPr txBox="1"/>
                <p:nvPr/>
              </p:nvSpPr>
              <p:spPr bwMode="auto">
                <a:xfrm>
                  <a:off x="1146313" y="5397986"/>
                  <a:ext cx="7057082" cy="1220788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𝑘𝑘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−1,⋯1 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8920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46313" y="5397986"/>
                  <a:ext cx="7057082" cy="122078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右箭头 3"/>
          <p:cNvSpPr/>
          <p:nvPr/>
        </p:nvSpPr>
        <p:spPr bwMode="auto">
          <a:xfrm>
            <a:off x="3287688" y="1694076"/>
            <a:ext cx="749201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35188" y="44450"/>
            <a:ext cx="8064500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/>
              <a:t>定理2   </a:t>
            </a:r>
            <a:r>
              <a:rPr lang="zh-CN" altLang="en-US" sz="2400" dirty="0"/>
              <a:t>（矩阵的</a:t>
            </a:r>
            <a:r>
              <a:rPr lang="en-US" altLang="zh-CN" sz="2400" dirty="0"/>
              <a:t>LU</a:t>
            </a:r>
            <a:r>
              <a:rPr lang="zh-CN" altLang="en-US" sz="2400" dirty="0"/>
              <a:t>分解） 若</a:t>
            </a:r>
            <a:r>
              <a:rPr lang="en-US" altLang="zh-CN" sz="2400" i="1" dirty="0"/>
              <a:t>n</a:t>
            </a:r>
            <a:r>
              <a:rPr lang="zh-CN" altLang="en-US" sz="2400" dirty="0"/>
              <a:t>阶方阵</a:t>
            </a:r>
            <a:r>
              <a:rPr lang="en-US" altLang="zh-CN" sz="2400" i="1" dirty="0"/>
              <a:t>A</a:t>
            </a:r>
            <a:r>
              <a:rPr lang="zh-CN" altLang="en-US" sz="2400" dirty="0"/>
              <a:t>的</a:t>
            </a:r>
            <a:r>
              <a:rPr lang="en-US" altLang="zh-CN" sz="2400" i="1" dirty="0"/>
              <a:t>n</a:t>
            </a:r>
            <a:r>
              <a:rPr lang="zh-CN" altLang="en-US" sz="2400" dirty="0"/>
              <a:t>个顺序主子矩阵都非奇异，则</a:t>
            </a:r>
            <a:r>
              <a:rPr lang="en-US" altLang="zh-CN" sz="2400" i="1" dirty="0"/>
              <a:t>A</a:t>
            </a:r>
            <a:r>
              <a:rPr lang="zh-CN" altLang="en-US" sz="2400" dirty="0"/>
              <a:t>可</a:t>
            </a:r>
            <a:r>
              <a:rPr lang="zh-CN" altLang="en-US" sz="2400" dirty="0">
                <a:solidFill>
                  <a:srgbClr val="FF0000"/>
                </a:solidFill>
              </a:rPr>
              <a:t>唯一</a:t>
            </a:r>
            <a:r>
              <a:rPr lang="zh-CN" altLang="en-US" sz="2400" dirty="0"/>
              <a:t>地分解为单位下三角矩阵</a:t>
            </a:r>
            <a:r>
              <a:rPr lang="en-US" altLang="zh-CN" sz="2400" i="1" dirty="0"/>
              <a:t>L</a:t>
            </a:r>
            <a:r>
              <a:rPr lang="zh-CN" altLang="en-US" sz="2400" dirty="0"/>
              <a:t>和非奇异的上三角矩阵</a:t>
            </a:r>
            <a:r>
              <a:rPr lang="en-US" altLang="zh-CN" sz="2400" i="1" dirty="0"/>
              <a:t>U</a:t>
            </a:r>
            <a:r>
              <a:rPr lang="zh-CN" altLang="en-US" sz="2400" dirty="0"/>
              <a:t>的乘积。</a:t>
            </a:r>
            <a:endParaRPr lang="zh-CN" alt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063750" y="1700213"/>
            <a:ext cx="8604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/>
              <a:t>证明</a:t>
            </a:r>
            <a:r>
              <a:rPr lang="zh-CN" altLang="en-US" sz="2400"/>
              <a:t>：（</a:t>
            </a:r>
            <a:r>
              <a:rPr lang="en-US" altLang="zh-CN" sz="2400"/>
              <a:t>1</a:t>
            </a:r>
            <a:r>
              <a:rPr lang="zh-CN" altLang="en-US" sz="2400"/>
              <a:t>）存在性。由前面分析过程可知，矩阵</a:t>
            </a:r>
            <a:r>
              <a:rPr lang="en-US" altLang="zh-CN" sz="2400" i="1"/>
              <a:t>A</a:t>
            </a:r>
            <a:r>
              <a:rPr lang="zh-CN" altLang="en-US" sz="2400"/>
              <a:t>可</a:t>
            </a:r>
            <a:r>
              <a:rPr lang="en-US" altLang="zh-CN" sz="2400" i="1"/>
              <a:t>LU</a:t>
            </a:r>
            <a:r>
              <a:rPr lang="zh-CN" altLang="en-US" sz="2400"/>
              <a:t>分解。</a:t>
            </a:r>
            <a:endParaRPr lang="zh-CN" altLang="en-US"/>
          </a:p>
        </p:txBody>
      </p:sp>
      <p:grpSp>
        <p:nvGrpSpPr>
          <p:cNvPr id="2" name="组合 14"/>
          <p:cNvGrpSpPr>
            <a:grpSpLocks/>
          </p:cNvGrpSpPr>
          <p:nvPr/>
        </p:nvGrpSpPr>
        <p:grpSpPr bwMode="auto">
          <a:xfrm>
            <a:off x="2927350" y="2276475"/>
            <a:ext cx="5256213" cy="1141413"/>
            <a:chOff x="1403054" y="2276211"/>
            <a:chExt cx="5256584" cy="11416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952" name="Object 2"/>
                <p:cNvSpPr txBox="1"/>
                <p:nvPr/>
              </p:nvSpPr>
              <p:spPr bwMode="auto">
                <a:xfrm>
                  <a:off x="2627313" y="2924175"/>
                  <a:ext cx="2633662" cy="49371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9952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7313" y="2924175"/>
                  <a:ext cx="2633662" cy="49371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53" name="Rectangle 3"/>
            <p:cNvSpPr txBox="1">
              <a:spLocks noChangeArrowheads="1"/>
            </p:cNvSpPr>
            <p:nvPr/>
          </p:nvSpPr>
          <p:spPr bwMode="auto">
            <a:xfrm>
              <a:off x="1403054" y="2276211"/>
              <a:ext cx="5256584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 （</a:t>
              </a:r>
              <a:r>
                <a:rPr lang="en-US" altLang="zh-CN" sz="2400"/>
                <a:t>2</a:t>
              </a:r>
              <a:r>
                <a:rPr lang="zh-CN" altLang="en-US" sz="2400"/>
                <a:t>）唯一性。设矩阵</a:t>
              </a:r>
              <a:r>
                <a:rPr lang="en-US" altLang="zh-CN" sz="2400" i="1"/>
                <a:t>A</a:t>
              </a:r>
              <a:r>
                <a:rPr lang="zh-CN" altLang="en-US" sz="2400"/>
                <a:t>有两种分解：</a:t>
              </a:r>
              <a:endParaRPr lang="zh-CN" altLang="en-US"/>
            </a:p>
          </p:txBody>
        </p:sp>
      </p:grpSp>
      <p:grpSp>
        <p:nvGrpSpPr>
          <p:cNvPr id="3" name="组合 16"/>
          <p:cNvGrpSpPr>
            <a:grpSpLocks/>
          </p:cNvGrpSpPr>
          <p:nvPr/>
        </p:nvGrpSpPr>
        <p:grpSpPr bwMode="auto">
          <a:xfrm>
            <a:off x="2208213" y="3355975"/>
            <a:ext cx="2443162" cy="577850"/>
            <a:chOff x="683568" y="3356272"/>
            <a:chExt cx="2443807" cy="5767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950" name="Object 3"/>
                <p:cNvSpPr txBox="1"/>
                <p:nvPr/>
              </p:nvSpPr>
              <p:spPr bwMode="auto">
                <a:xfrm>
                  <a:off x="1619250" y="3429000"/>
                  <a:ext cx="1508125" cy="439738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9950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9250" y="3429000"/>
                  <a:ext cx="1508125" cy="4397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51" name="Rectangle 3"/>
            <p:cNvSpPr txBox="1">
              <a:spLocks noChangeArrowheads="1"/>
            </p:cNvSpPr>
            <p:nvPr/>
          </p:nvSpPr>
          <p:spPr bwMode="auto">
            <a:xfrm>
              <a:off x="683568" y="3356272"/>
              <a:ext cx="1008328" cy="5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则有</a:t>
              </a:r>
            </a:p>
          </p:txBody>
        </p:sp>
      </p:grpSp>
      <p:grpSp>
        <p:nvGrpSpPr>
          <p:cNvPr id="4" name="组合 18"/>
          <p:cNvGrpSpPr>
            <a:grpSpLocks/>
          </p:cNvGrpSpPr>
          <p:nvPr/>
        </p:nvGrpSpPr>
        <p:grpSpPr bwMode="auto">
          <a:xfrm>
            <a:off x="2135188" y="3933825"/>
            <a:ext cx="8148637" cy="1150938"/>
            <a:chOff x="611560" y="3933056"/>
            <a:chExt cx="8148265" cy="11521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946" name="Object 4"/>
                <p:cNvSpPr txBox="1"/>
                <p:nvPr/>
              </p:nvSpPr>
              <p:spPr bwMode="auto">
                <a:xfrm>
                  <a:off x="2484438" y="4013200"/>
                  <a:ext cx="768350" cy="4953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994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84438" y="4013200"/>
                  <a:ext cx="768350" cy="495300"/>
                </a:xfrm>
                <a:prstGeom prst="rect">
                  <a:avLst/>
                </a:prstGeom>
                <a:blipFill>
                  <a:blip r:embed="rId4"/>
                  <a:stretch>
                    <a:fillRect l="-2381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947" name="Object 5"/>
                <p:cNvSpPr txBox="1"/>
                <p:nvPr/>
              </p:nvSpPr>
              <p:spPr bwMode="auto">
                <a:xfrm>
                  <a:off x="4865688" y="3997325"/>
                  <a:ext cx="3894137" cy="4953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9947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65688" y="3997325"/>
                  <a:ext cx="3894137" cy="4953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948" name="Object 6"/>
                <p:cNvSpPr txBox="1"/>
                <p:nvPr/>
              </p:nvSpPr>
              <p:spPr bwMode="auto">
                <a:xfrm>
                  <a:off x="2339975" y="4581525"/>
                  <a:ext cx="1865313" cy="439738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994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9975" y="4581525"/>
                  <a:ext cx="1865313" cy="43973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49" name="Rectangle 3"/>
            <p:cNvSpPr txBox="1">
              <a:spLocks noChangeArrowheads="1"/>
            </p:cNvSpPr>
            <p:nvPr/>
          </p:nvSpPr>
          <p:spPr bwMode="auto">
            <a:xfrm>
              <a:off x="611560" y="3933056"/>
              <a:ext cx="4536868" cy="1152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由非奇异性，         均可逆，有</a:t>
              </a:r>
              <a:endParaRPr lang="zh-CN" altLang="en-US" sz="24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即</a:t>
              </a:r>
              <a:endParaRPr lang="zh-CN" altLang="en-US"/>
            </a:p>
          </p:txBody>
        </p:sp>
      </p:grpSp>
      <p:grpSp>
        <p:nvGrpSpPr>
          <p:cNvPr id="6" name="组合 19"/>
          <p:cNvGrpSpPr>
            <a:grpSpLocks/>
          </p:cNvGrpSpPr>
          <p:nvPr/>
        </p:nvGrpSpPr>
        <p:grpSpPr bwMode="auto">
          <a:xfrm>
            <a:off x="2135188" y="5084763"/>
            <a:ext cx="7993062" cy="1584325"/>
            <a:chOff x="611560" y="5085184"/>
            <a:chExt cx="7992888" cy="158390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944" name="Object 7"/>
                <p:cNvSpPr txBox="1"/>
                <p:nvPr/>
              </p:nvSpPr>
              <p:spPr bwMode="auto">
                <a:xfrm>
                  <a:off x="1982788" y="6175375"/>
                  <a:ext cx="4965700" cy="49371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9944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2788" y="6175375"/>
                  <a:ext cx="4965700" cy="4937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45" name="Rectangle 3"/>
            <p:cNvSpPr txBox="1">
              <a:spLocks noChangeArrowheads="1"/>
            </p:cNvSpPr>
            <p:nvPr/>
          </p:nvSpPr>
          <p:spPr bwMode="auto">
            <a:xfrm>
              <a:off x="611560" y="5085184"/>
              <a:ext cx="7992888" cy="1296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等式左边为上三角矩阵，右边为对角元为</a:t>
              </a:r>
              <a:r>
                <a:rPr lang="en-US" altLang="zh-CN" sz="2400">
                  <a:latin typeface="宋体" panose="02010600030101010101" pitchFamily="2" charset="-122"/>
                </a:rPr>
                <a:t>1</a:t>
              </a:r>
              <a:r>
                <a:rPr lang="zh-CN" altLang="en-US" sz="2400">
                  <a:latin typeface="宋体" panose="02010600030101010101" pitchFamily="2" charset="-122"/>
                </a:rPr>
                <a:t>的下三角矩阵，故只能是单位矩阵，即</a:t>
              </a:r>
            </a:p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665" y="1640641"/>
            <a:ext cx="6134632" cy="1539373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063750" y="260350"/>
            <a:ext cx="424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直接三角分解法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279650" y="893763"/>
            <a:ext cx="1981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设 </a:t>
            </a:r>
            <a:r>
              <a:rPr lang="en-US" altLang="zh-CN" sz="2400" i="1">
                <a:cs typeface="Times New Roman" panose="02020603050405020304" pitchFamily="18" charset="0"/>
              </a:rPr>
              <a:t>A</a:t>
            </a:r>
            <a:r>
              <a:rPr lang="en-US" altLang="zh-CN" sz="2400">
                <a:cs typeface="Times New Roman" panose="02020603050405020304" pitchFamily="18" charset="0"/>
              </a:rPr>
              <a:t> = </a:t>
            </a:r>
            <a:r>
              <a:rPr lang="en-US" altLang="zh-CN" sz="2400" i="1">
                <a:cs typeface="Times New Roman" panose="02020603050405020304" pitchFamily="18" charset="0"/>
              </a:rPr>
              <a:t>LU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即</a:t>
            </a:r>
            <a:endParaRPr lang="zh-CN" altLang="en-US" sz="240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775756" y="3248381"/>
            <a:ext cx="233997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8000"/>
                </a:solidFill>
                <a:ea typeface="楷体_GB2312" pitchFamily="49" charset="-122"/>
              </a:rPr>
              <a:t>Step1</a:t>
            </a:r>
            <a:r>
              <a:rPr lang="zh-CN" altLang="en-US" sz="2800" b="1" dirty="0">
                <a:solidFill>
                  <a:srgbClr val="008000"/>
                </a:solidFill>
                <a:ea typeface="楷体_GB2312" pitchFamily="49" charset="-122"/>
              </a:rPr>
              <a:t>：</a:t>
            </a:r>
            <a:endParaRPr lang="en-US" altLang="zh-CN" sz="2800" b="1" dirty="0">
              <a:solidFill>
                <a:srgbClr val="0080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8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6757492" y="1706011"/>
            <a:ext cx="1728192" cy="315662"/>
          </a:xfrm>
          <a:prstGeom prst="rect">
            <a:avLst/>
          </a:prstGeom>
          <a:solidFill>
            <a:schemeClr val="accent5">
              <a:alpha val="2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783632" y="1706011"/>
            <a:ext cx="1728192" cy="306939"/>
          </a:xfrm>
          <a:prstGeom prst="rect">
            <a:avLst/>
          </a:prstGeom>
          <a:solidFill>
            <a:schemeClr val="accent5">
              <a:alpha val="2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510" y="3849663"/>
            <a:ext cx="3336681" cy="104271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112617" y="5008004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比较第一列元素：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509" y="5157222"/>
            <a:ext cx="3748397" cy="151213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053913" y="3944150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比较第一行元素：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2783632" y="2021673"/>
            <a:ext cx="288032" cy="975279"/>
          </a:xfrm>
          <a:prstGeom prst="rect">
            <a:avLst/>
          </a:prstGeom>
          <a:solidFill>
            <a:srgbClr val="FFFF00">
              <a:alpha val="3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699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nimBg="1"/>
      <p:bldP spid="9" grpId="0" animBg="1"/>
      <p:bldP spid="11" grpId="0"/>
      <p:bldP spid="13" grpId="0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77193" y="520481"/>
            <a:ext cx="2195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8000"/>
                </a:solidFill>
                <a:ea typeface="楷体_GB2312" pitchFamily="49" charset="-122"/>
              </a:rPr>
              <a:t>Step2</a:t>
            </a:r>
            <a:r>
              <a:rPr lang="zh-CN" altLang="en-US" sz="2800" b="1" dirty="0">
                <a:solidFill>
                  <a:srgbClr val="008000"/>
                </a:solidFill>
                <a:ea typeface="楷体_GB2312" pitchFamily="49" charset="-122"/>
              </a:rPr>
              <a:t>：</a:t>
            </a:r>
            <a:r>
              <a:rPr lang="zh-CN" altLang="en-US" sz="1400" dirty="0"/>
              <a:t> </a:t>
            </a:r>
          </a:p>
        </p:txBody>
      </p:sp>
      <p:sp>
        <p:nvSpPr>
          <p:cNvPr id="43017" name="Rectangle 4"/>
          <p:cNvSpPr>
            <a:spLocks noChangeArrowheads="1"/>
          </p:cNvSpPr>
          <p:nvPr/>
        </p:nvSpPr>
        <p:spPr bwMode="auto">
          <a:xfrm>
            <a:off x="1177491" y="2351011"/>
            <a:ext cx="3670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比较第二行元素： </a:t>
            </a:r>
          </a:p>
        </p:txBody>
      </p:sp>
      <p:sp>
        <p:nvSpPr>
          <p:cNvPr id="43015" name="Rectangle 10"/>
          <p:cNvSpPr>
            <a:spLocks noChangeArrowheads="1"/>
          </p:cNvSpPr>
          <p:nvPr/>
        </p:nvSpPr>
        <p:spPr bwMode="auto">
          <a:xfrm>
            <a:off x="1199456" y="4038131"/>
            <a:ext cx="4246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比较第二列的元素：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369920"/>
            <a:ext cx="7894945" cy="19810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971" y="3005604"/>
            <a:ext cx="3703641" cy="8839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059" y="4797152"/>
            <a:ext cx="4641034" cy="12961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3824059" y="908720"/>
            <a:ext cx="1695877" cy="360040"/>
          </a:xfrm>
          <a:prstGeom prst="rect">
            <a:avLst/>
          </a:prstGeom>
          <a:solidFill>
            <a:srgbClr val="FFC000">
              <a:alpha val="1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06951" y="1240207"/>
            <a:ext cx="360040" cy="936104"/>
          </a:xfrm>
          <a:prstGeom prst="rect">
            <a:avLst/>
          </a:prstGeom>
          <a:solidFill>
            <a:srgbClr val="00B0F0">
              <a:alpha val="1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/>
      <p:bldP spid="43015" grpId="0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332656"/>
            <a:ext cx="7881590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873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91" y="274021"/>
            <a:ext cx="5578384" cy="20162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285557"/>
            <a:ext cx="7734746" cy="2525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624" y="4941168"/>
            <a:ext cx="6412141" cy="14401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260648"/>
            <a:ext cx="8496944" cy="640612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387600" y="333375"/>
            <a:ext cx="7416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66675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66675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6667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cs typeface="Times New Roman" panose="02020603050405020304" pitchFamily="18" charset="0"/>
              </a:rPr>
              <a:t>上述讨论的</a:t>
            </a:r>
            <a:r>
              <a:rPr lang="en-US" altLang="zh-CN" sz="2400" i="1">
                <a:solidFill>
                  <a:srgbClr val="CC0000"/>
                </a:solidFill>
              </a:rPr>
              <a:t>LU</a:t>
            </a:r>
            <a:r>
              <a:rPr lang="zh-CN" altLang="en-US" sz="2400">
                <a:solidFill>
                  <a:srgbClr val="CC0000"/>
                </a:solidFill>
              </a:rPr>
              <a:t>分解</a:t>
            </a:r>
            <a:r>
              <a:rPr lang="en-US" altLang="zh-CN" sz="2400" i="1">
                <a:cs typeface="Times New Roman" panose="02020603050405020304" pitchFamily="18" charset="0"/>
              </a:rPr>
              <a:t>A</a:t>
            </a:r>
            <a:r>
              <a:rPr lang="en-US" altLang="zh-CN" sz="2400">
                <a:cs typeface="Times New Roman" panose="02020603050405020304" pitchFamily="18" charset="0"/>
              </a:rPr>
              <a:t>=</a:t>
            </a:r>
            <a:r>
              <a:rPr lang="en-US" altLang="zh-CN" sz="2400" i="1">
                <a:cs typeface="Times New Roman" panose="02020603050405020304" pitchFamily="18" charset="0"/>
              </a:rPr>
              <a:t>LU</a:t>
            </a:r>
            <a:r>
              <a:rPr lang="zh-CN" altLang="en-US" sz="2400">
                <a:latin typeface="宋体" panose="02010600030101010101" pitchFamily="2" charset="-122"/>
              </a:rPr>
              <a:t>中，</a:t>
            </a:r>
            <a:endParaRPr lang="en-US" altLang="zh-CN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7"/>
              <p:cNvSpPr txBox="1"/>
              <p:nvPr/>
            </p:nvSpPr>
            <p:spPr bwMode="auto">
              <a:xfrm>
                <a:off x="2624138" y="1174750"/>
                <a:ext cx="3308350" cy="22113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4138" y="1174750"/>
                <a:ext cx="3308350" cy="2211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14"/>
          <p:cNvGraphicFramePr>
            <a:graphicFrameLocks noChangeAspect="1"/>
          </p:cNvGraphicFramePr>
          <p:nvPr/>
        </p:nvGraphicFramePr>
        <p:xfrm>
          <a:off x="6496050" y="1344613"/>
          <a:ext cx="3071813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4" name="Equation" r:id="rId4" imgW="975218" imgH="556134" progId="Equation.DSMT4">
                  <p:embed/>
                </p:oleObj>
              </mc:Choice>
              <mc:Fallback>
                <p:oleObj name="Equation" r:id="rId4" imgW="975218" imgH="55613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1344613"/>
                        <a:ext cx="3071813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141537" y="3359086"/>
            <a:ext cx="7908925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66675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66675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6667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667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cs typeface="Times New Roman" panose="02020603050405020304" pitchFamily="18" charset="0"/>
              </a:rPr>
              <a:t>由此可得出不同的分解形式：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）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杜利脱尔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Doolittle</a:t>
            </a:r>
            <a:r>
              <a:rPr lang="zh-CN" altLang="en-US" sz="2400" dirty="0">
                <a:latin typeface="宋体" panose="02010600030101010101" pitchFamily="2" charset="-122"/>
              </a:rPr>
              <a:t>）分解：</a:t>
            </a:r>
            <a:r>
              <a:rPr lang="en-US" altLang="zh-CN" sz="2400" i="1" dirty="0"/>
              <a:t>L</a:t>
            </a:r>
            <a:r>
              <a:rPr lang="zh-CN" altLang="en-US" sz="2400" i="1" dirty="0"/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为单位下三角矩阵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）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克洛脱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 err="1">
                <a:latin typeface="宋体" panose="02010600030101010101" pitchFamily="2" charset="-122"/>
              </a:rPr>
              <a:t>Crout</a:t>
            </a:r>
            <a:r>
              <a:rPr lang="zh-CN" altLang="en-US" sz="2400" dirty="0">
                <a:latin typeface="宋体" panose="02010600030101010101" pitchFamily="2" charset="-122"/>
              </a:rPr>
              <a:t>）分解：</a:t>
            </a:r>
            <a:r>
              <a:rPr lang="en-US" altLang="zh-CN" sz="2400" i="1" dirty="0"/>
              <a:t> U</a:t>
            </a:r>
            <a:r>
              <a:rPr lang="zh-CN" altLang="en-US" sz="2400" i="1" dirty="0"/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为单位上三角矩阵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rgbClr val="C00000"/>
                </a:solidFill>
              </a:rPr>
              <a:t>A</a:t>
            </a:r>
            <a:r>
              <a:rPr lang="zh-CN" altLang="en-US" sz="2400" b="1" i="1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=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b="1" i="1" dirty="0">
                <a:solidFill>
                  <a:srgbClr val="C00000"/>
                </a:solidFill>
              </a:rPr>
              <a:t>LDU</a:t>
            </a:r>
            <a:r>
              <a:rPr lang="zh-CN" altLang="en-US" sz="2400" dirty="0">
                <a:latin typeface="宋体" panose="02010600030101010101" pitchFamily="2" charset="-122"/>
              </a:rPr>
              <a:t> ：</a:t>
            </a:r>
            <a:r>
              <a:rPr lang="en-US" altLang="zh-CN" sz="2400" i="1" dirty="0"/>
              <a:t> L</a:t>
            </a:r>
            <a:r>
              <a:rPr lang="zh-CN" altLang="en-US" sz="2400" i="1" dirty="0"/>
              <a:t>、</a:t>
            </a:r>
            <a:r>
              <a:rPr lang="en-US" altLang="zh-CN" sz="2400" i="1" dirty="0"/>
              <a:t>U</a:t>
            </a:r>
            <a:r>
              <a:rPr lang="zh-CN" altLang="en-US" sz="2400" i="1" dirty="0"/>
              <a:t> </a:t>
            </a:r>
            <a:r>
              <a:rPr lang="zh-CN" altLang="en-US" sz="2400" dirty="0"/>
              <a:t>均</a:t>
            </a:r>
            <a:r>
              <a:rPr lang="zh-CN" altLang="en-US" sz="2400" dirty="0">
                <a:latin typeface="宋体" panose="02010600030101010101" pitchFamily="2" charset="-122"/>
              </a:rPr>
              <a:t>为单位三角矩阵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）</a:t>
            </a:r>
            <a:r>
              <a:rPr lang="en-US" altLang="zh-CN" sz="2400" b="1" i="1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乔列斯基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 err="1">
                <a:latin typeface="宋体" panose="02010600030101010101" pitchFamily="2" charset="-122"/>
              </a:rPr>
              <a:t>Choleskey</a:t>
            </a:r>
            <a:r>
              <a:rPr lang="zh-CN" altLang="en-US" sz="2400" dirty="0">
                <a:latin typeface="宋体" panose="02010600030101010101" pitchFamily="2" charset="-122"/>
              </a:rPr>
              <a:t>）分解：</a:t>
            </a:r>
            <a:r>
              <a:rPr lang="en-US" altLang="zh-CN" sz="2400" b="1" i="1" dirty="0">
                <a:solidFill>
                  <a:srgbClr val="C00000"/>
                </a:solidFill>
              </a:rPr>
              <a:t>A</a:t>
            </a:r>
            <a:r>
              <a:rPr lang="zh-CN" altLang="en-US" sz="2400" b="1" i="1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=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b="1" i="1" dirty="0">
                <a:solidFill>
                  <a:srgbClr val="C00000"/>
                </a:solidFill>
              </a:rPr>
              <a:t>GG</a:t>
            </a:r>
            <a:r>
              <a:rPr lang="en-US" altLang="zh-CN" sz="2400" b="1" i="1" baseline="30000" dirty="0">
                <a:solidFill>
                  <a:srgbClr val="C00000"/>
                </a:solidFill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b="1" i="1" dirty="0"/>
              <a:t> A</a:t>
            </a:r>
            <a:r>
              <a:rPr lang="zh-CN" altLang="en-US" sz="2400" dirty="0">
                <a:latin typeface="宋体" panose="02010600030101010101" pitchFamily="2" charset="-122"/>
              </a:rPr>
              <a:t>为对称正定矩阵）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1196975"/>
            <a:ext cx="2732087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文本框 2"/>
          <p:cNvSpPr txBox="1">
            <a:spLocks noChangeArrowheads="1"/>
          </p:cNvSpPr>
          <p:nvPr/>
        </p:nvSpPr>
        <p:spPr bwMode="auto">
          <a:xfrm>
            <a:off x="1166813" y="476250"/>
            <a:ext cx="4289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例题：对下列矩阵进行</a:t>
            </a:r>
            <a:r>
              <a:rPr lang="en-US" altLang="zh-CN" sz="2400"/>
              <a:t>LU</a:t>
            </a:r>
            <a:r>
              <a:rPr lang="zh-CN" altLang="en-US" sz="2400"/>
              <a:t>分解</a:t>
            </a:r>
          </a:p>
        </p:txBody>
      </p:sp>
      <p:sp>
        <p:nvSpPr>
          <p:cNvPr id="48132" name="文本框 3"/>
          <p:cNvSpPr txBox="1">
            <a:spLocks noChangeArrowheads="1"/>
          </p:cNvSpPr>
          <p:nvPr/>
        </p:nvSpPr>
        <p:spPr bwMode="auto">
          <a:xfrm>
            <a:off x="1343025" y="3603625"/>
            <a:ext cx="4100513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解：用初等行列式变换求</a:t>
            </a:r>
            <a:r>
              <a:rPr lang="en-US" altLang="zh-CN" sz="2400"/>
              <a:t>U</a:t>
            </a:r>
            <a:r>
              <a:rPr lang="zh-CN" altLang="en-US" sz="2400"/>
              <a:t>：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        </a:t>
            </a:r>
            <a:r>
              <a:rPr lang="zh-CN" altLang="en-US" sz="2400"/>
              <a:t>计算得到</a:t>
            </a:r>
            <a:r>
              <a:rPr lang="en-US" altLang="zh-CN" sz="2400"/>
              <a:t>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    </a:t>
            </a:r>
            <a:endParaRPr lang="zh-CN" altLang="en-US" sz="2400"/>
          </a:p>
        </p:txBody>
      </p:sp>
      <p:pic>
        <p:nvPicPr>
          <p:cNvPr id="48133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5" y="2852738"/>
            <a:ext cx="52451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46" y="137332"/>
            <a:ext cx="3273260" cy="127544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03512" y="332656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例：用三角分解法求解下列线性方程组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51384" y="1700808"/>
                <a:ext cx="12097344" cy="4750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zh-CN" altLang="en-US" sz="2000" dirty="0"/>
                  <a:t>解：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）把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000" dirty="0"/>
                  <a:t>初等变换成上三角矩阵，得到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/>
              </a:p>
              <a:p>
                <a:pPr>
                  <a:spcBef>
                    <a:spcPts val="1200"/>
                  </a:spcBef>
                </a:pPr>
                <a:r>
                  <a:rPr lang="en-US" altLang="zh-CN" sz="2000" dirty="0"/>
                  <a:t>      2</a:t>
                </a:r>
                <a:r>
                  <a:rPr lang="zh-CN" altLang="en-US" sz="2000" dirty="0"/>
                  <a:t>）得到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/>
              </a:p>
              <a:p>
                <a:pPr>
                  <a:spcBef>
                    <a:spcPts val="1200"/>
                  </a:spcBef>
                </a:pPr>
                <a:r>
                  <a:rPr lang="en-US" altLang="zh-CN" sz="2000" dirty="0"/>
                  <a:t>      3</a:t>
                </a:r>
                <a:r>
                  <a:rPr lang="zh-CN" altLang="en-US" sz="2000" dirty="0"/>
                  <a:t>）</a:t>
                </a:r>
                <a:r>
                  <a:rPr lang="en-US" altLang="zh-CN" sz="2000" dirty="0"/>
                  <a:t>Ly=b,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61</m:t>
                                  </m:r>
                                </m:num>
                                <m:den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155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/>
              </a:p>
              <a:p>
                <a:pPr>
                  <a:spcBef>
                    <a:spcPts val="1200"/>
                  </a:spcBef>
                </a:pPr>
                <a:r>
                  <a:rPr lang="en-US" altLang="zh-CN" sz="2000" dirty="0"/>
                  <a:t>           </a:t>
                </a:r>
                <a:r>
                  <a:rPr lang="en-US" altLang="zh-CN" sz="2000" dirty="0" err="1"/>
                  <a:t>Ux</a:t>
                </a:r>
                <a:r>
                  <a:rPr lang="en-US" altLang="zh-CN" sz="2000" dirty="0"/>
                  <a:t>=y,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155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000" dirty="0"/>
                  <a:t>x=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61</m:t>
                                  </m:r>
                                </m:num>
                                <m:den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155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000" dirty="0"/>
                  <a:t>,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700808"/>
                <a:ext cx="12097344" cy="4750531"/>
              </a:xfrm>
              <a:prstGeom prst="rect">
                <a:avLst/>
              </a:prstGeom>
              <a:blipFill>
                <a:blip r:embed="rId3"/>
                <a:stretch>
                  <a:fillRect l="-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98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26502</TotalTime>
  <Words>2643</Words>
  <Application>Microsoft Office PowerPoint</Application>
  <PresentationFormat>宽屏</PresentationFormat>
  <Paragraphs>297</Paragraphs>
  <Slides>43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-apple-system</vt:lpstr>
      <vt:lpstr>Arial Unicode MS</vt:lpstr>
      <vt:lpstr>黑体</vt:lpstr>
      <vt:lpstr>楷体_GB2312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线性代数相关知识复习</vt:lpstr>
      <vt:lpstr>线性代数相关知识复习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shyl</dc:creator>
  <cp:lastModifiedBy>Alice</cp:lastModifiedBy>
  <cp:revision>911</cp:revision>
  <dcterms:created xsi:type="dcterms:W3CDTF">2003-11-24T10:46:46Z</dcterms:created>
  <dcterms:modified xsi:type="dcterms:W3CDTF">2025-09-11T02:04:50Z</dcterms:modified>
</cp:coreProperties>
</file>