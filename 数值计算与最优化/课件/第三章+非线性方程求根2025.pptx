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80" r:id="rId3"/>
    <p:sldId id="284" r:id="rId4"/>
    <p:sldId id="558" r:id="rId6"/>
    <p:sldId id="348" r:id="rId7"/>
    <p:sldId id="571" r:id="rId8"/>
    <p:sldId id="548" r:id="rId9"/>
    <p:sldId id="286" r:id="rId10"/>
    <p:sldId id="287" r:id="rId11"/>
    <p:sldId id="561" r:id="rId12"/>
    <p:sldId id="572" r:id="rId13"/>
    <p:sldId id="559" r:id="rId14"/>
    <p:sldId id="295" r:id="rId15"/>
    <p:sldId id="487" r:id="rId16"/>
    <p:sldId id="573" r:id="rId17"/>
    <p:sldId id="560" r:id="rId18"/>
    <p:sldId id="299" r:id="rId19"/>
    <p:sldId id="553" r:id="rId20"/>
    <p:sldId id="549" r:id="rId21"/>
    <p:sldId id="300" r:id="rId22"/>
    <p:sldId id="301" r:id="rId23"/>
    <p:sldId id="305" r:id="rId24"/>
    <p:sldId id="306" r:id="rId25"/>
    <p:sldId id="307" r:id="rId26"/>
    <p:sldId id="574" r:id="rId27"/>
    <p:sldId id="309" r:id="rId28"/>
    <p:sldId id="310" r:id="rId29"/>
    <p:sldId id="550" r:id="rId30"/>
    <p:sldId id="314" r:id="rId31"/>
    <p:sldId id="488" r:id="rId32"/>
    <p:sldId id="562" r:id="rId33"/>
    <p:sldId id="315" r:id="rId34"/>
    <p:sldId id="564" r:id="rId35"/>
    <p:sldId id="565" r:id="rId36"/>
    <p:sldId id="567" r:id="rId37"/>
    <p:sldId id="566" r:id="rId38"/>
    <p:sldId id="585" r:id="rId39"/>
    <p:sldId id="586" r:id="rId40"/>
    <p:sldId id="563" r:id="rId41"/>
    <p:sldId id="589" r:id="rId42"/>
    <p:sldId id="490" r:id="rId43"/>
    <p:sldId id="492" r:id="rId44"/>
    <p:sldId id="552" r:id="rId45"/>
    <p:sldId id="551" r:id="rId46"/>
    <p:sldId id="493" r:id="rId47"/>
    <p:sldId id="494" r:id="rId48"/>
    <p:sldId id="593" r:id="rId49"/>
    <p:sldId id="588" r:id="rId50"/>
    <p:sldId id="495" r:id="rId51"/>
    <p:sldId id="587" r:id="rId52"/>
    <p:sldId id="569" r:id="rId53"/>
    <p:sldId id="497" r:id="rId54"/>
    <p:sldId id="491" r:id="rId55"/>
    <p:sldId id="592" r:id="rId56"/>
    <p:sldId id="594" r:id="rId57"/>
    <p:sldId id="500" r:id="rId58"/>
    <p:sldId id="501" r:id="rId59"/>
    <p:sldId id="502" r:id="rId60"/>
    <p:sldId id="503" r:id="rId61"/>
    <p:sldId id="504" r:id="rId62"/>
    <p:sldId id="505" r:id="rId63"/>
    <p:sldId id="506" r:id="rId64"/>
    <p:sldId id="509" r:id="rId65"/>
    <p:sldId id="510" r:id="rId66"/>
    <p:sldId id="568" r:id="rId67"/>
    <p:sldId id="579" r:id="rId68"/>
    <p:sldId id="590" r:id="rId69"/>
    <p:sldId id="580" r:id="rId70"/>
    <p:sldId id="512" r:id="rId71"/>
    <p:sldId id="582" r:id="rId72"/>
    <p:sldId id="583" r:id="rId73"/>
    <p:sldId id="584" r:id="rId74"/>
    <p:sldId id="516" r:id="rId75"/>
    <p:sldId id="517" r:id="rId76"/>
    <p:sldId id="518" r:id="rId77"/>
    <p:sldId id="519" r:id="rId78"/>
    <p:sldId id="537" r:id="rId79"/>
    <p:sldId id="576" r:id="rId80"/>
    <p:sldId id="577" r:id="rId81"/>
    <p:sldId id="581" r:id="rId82"/>
    <p:sldId id="520" r:id="rId83"/>
    <p:sldId id="521" r:id="rId84"/>
    <p:sldId id="523" r:id="rId85"/>
    <p:sldId id="529" r:id="rId86"/>
    <p:sldId id="525" r:id="rId87"/>
    <p:sldId id="526" r:id="rId88"/>
    <p:sldId id="522" r:id="rId89"/>
    <p:sldId id="595" r:id="rId90"/>
    <p:sldId id="591" r:id="rId91"/>
    <p:sldId id="542" r:id="rId92"/>
    <p:sldId id="540" r:id="rId93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655" autoAdjust="0"/>
  </p:normalViewPr>
  <p:slideViewPr>
    <p:cSldViewPr showGuides="1">
      <p:cViewPr varScale="1">
        <p:scale>
          <a:sx n="76" d="100"/>
          <a:sy n="76" d="100"/>
        </p:scale>
        <p:origin x="946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4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6" Type="http://schemas.openxmlformats.org/officeDocument/2006/relationships/tableStyles" Target="tableStyles.xml"/><Relationship Id="rId95" Type="http://schemas.openxmlformats.org/officeDocument/2006/relationships/viewProps" Target="viewProps.xml"/><Relationship Id="rId94" Type="http://schemas.openxmlformats.org/officeDocument/2006/relationships/presProps" Target="presProps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wmf"/><Relationship Id="rId1" Type="http://schemas.openxmlformats.org/officeDocument/2006/relationships/image" Target="../media/image10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wmf"/><Relationship Id="rId2" Type="http://schemas.openxmlformats.org/officeDocument/2006/relationships/image" Target="../media/image250.wmf"/><Relationship Id="rId1" Type="http://schemas.openxmlformats.org/officeDocument/2006/relationships/image" Target="../media/image249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6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9.wmf"/><Relationship Id="rId1" Type="http://schemas.openxmlformats.org/officeDocument/2006/relationships/image" Target="../media/image318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3.wmf"/><Relationship Id="rId1" Type="http://schemas.openxmlformats.org/officeDocument/2006/relationships/image" Target="../media/image330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8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9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6.wmf"/><Relationship Id="rId2" Type="http://schemas.openxmlformats.org/officeDocument/2006/relationships/image" Target="../media/image395.wmf"/><Relationship Id="rId1" Type="http://schemas.openxmlformats.org/officeDocument/2006/relationships/image" Target="../media/image394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0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2.wmf"/><Relationship Id="rId1" Type="http://schemas.openxmlformats.org/officeDocument/2006/relationships/image" Target="../media/image421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6.wmf"/><Relationship Id="rId2" Type="http://schemas.openxmlformats.org/officeDocument/2006/relationships/image" Target="../media/image443.wmf"/><Relationship Id="rId1" Type="http://schemas.openxmlformats.org/officeDocument/2006/relationships/image" Target="../media/image436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wmf"/><Relationship Id="rId1" Type="http://schemas.openxmlformats.org/officeDocument/2006/relationships/image" Target="../media/image447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2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7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wmf"/><Relationship Id="rId1" Type="http://schemas.openxmlformats.org/officeDocument/2006/relationships/image" Target="../media/image459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1-03T17:23:0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  <inkml:brushProperty name="ignorePressure" value="0"/>
    </inkml:brush>
  </inkml:definitions>
  <inkml:trace contextRef="#ctx0" brushRef="#br0">875.000 416.000,'-0.009'0.002,"-0.014"0.003,-0.015 0.004,-0.015 0.004,-0.013 0.003,-0.011 0.003,-0.009 0.002,-0.007 0.002,-0.005 0.001,-0.003 0.001,-0.002 0.001,-0.001 0.000,-0.000 0.000,0.000 0.000,0.000-0.000,0.000-0.000,0.000-0.000,0.000-0.000,0.000-0.000,0.000-0.000,0.000-0.000,0.000-0.000,0.000-0.000,0.000-0.000,0.000 0.000,0.000 0.000,0.000 0.000,0.000 0.000,0.000-0.000,0.000 0.000,-0.000 0.000,0.000 0.000,0.000 0.000,0.000 0.000,0.000 0.000,0.000 0.000,0.000 0.000,0.000 0.000,0.000 0.000,-0.038 0.039,-0.111 0.077,-0.444 0.095,-0.660 0.151,-0.548 0.136,-0.363 0.088,-0.214 0.050,-0.099 0.020,-1.049 0.221,0.096-0.101,0.261-0.035,0.690-0.150,0.053-0.003,0.015-0.031,0.675-0.147,0.058 0.014,0.040-0.001,0.025-0.013,0.038-0.021,0.048-0.028,-0.574 0.123,0.207-0.043,0.234-0.037,-0.025 0.001,0.265-0.073,0.257-0.073,0.371-0.053,0.676-0.173,-0.819 0.286,-0.108 0.012,-0.022 0.018,0.035 0.021,0.069-0.016,0.086-0.038,0.011 0.064,0.107 0.071,0.213-0.041,0.033 0.037,0.042 0.014,0.047-0.003,0.157-0.129,-0.147 0.166,-0.355 0.386,-0.152 0.084,-0.120-0.003,0.282-0.278,0.022-0.040,0.040-0.044,-0.428 0.281,-0.167 0.088,0.106-0.083,0.024-0.013,-0.101 0.059,0.052-0.059,0.093-0.067,0.112-0.067,0.664-0.449,-0.440 0.347,0.018 0.018,0.233-0.167,0.017 0.002,0.016 0.001,0.015 0.000,0.194-0.165,-0.196 0.189,0.000 0.011,-0.182 0.188,0.029-0.015,0.040-0.029,-0.189 0.126,-0.055-0.053,0.194-0.195,0.024-0.041,0.035-0.039,0.076 0.026,-0.004 0.065,0.258-0.228,-0.382 0.431,-0.007 0.042,0.190-0.198,0.004 0.003,-0.284 0.359,0.047-0.015,0.060-0.030,-0.023 0.066,0.010 0.032,0.023 0.018,0.029 0.008,0.410-0.607,-0.226 0.575,0.160-0.215,0.036 0.039,-0.104 0.818,0.143-0.253,0.056 0.055,0.050 0.032,0.043-0.001,0.036-0.025,0.026 0.382,0.035 0.233,0.025-0.043,0.015-0.154,0.008-0.210,0.075-0.066,0.115 0.147,0.225 0.757,0.128 0.391,-0.224-1.284,0.044 0.045,0.220 0.735,0.151 0.463,0.035 0.085,-0.612-2.304,0.722 2.116,0.140 0.016,0.113-0.057,0.073-0.029,0.041-0.007,0.378 0.653,0.032-0.061,-0.041-0.193,-0.086-0.267,-0.917-1.672,0.310 0.562,0.007 0.004,0.331 0.643,0.185 0.274,0.018-0.114,0.218 0.221,-0.242-0.475,-0.035-0.127,-0.048-0.132,0.288 0.262,-0.991-1.378,0.588 0.678,0.085-0.003,0.720 0.776,0.048 0.111,0.059 0.073,0.061 0.044,0.095-0.015,0.110-0.051,0.001-0.071,-0.069-0.078,-0.521-0.476,-0.270-0.270,-0.031-0.048,0.909 0.855,0.084 0.083,-0.060-0.095,-0.148-0.202,0.028 0.002,-0.083-0.088,-0.074-0.103,-0.063-0.105,0.108 0.118,-0.132-0.048,-0.047-0.094,0.088-0.047,0.339 0.091,0.180-0.048,-0.527-0.472,-0.032-0.118,-0.060-0.130,-0.022-0.100,0.006-0.075,0.520 0.212,-0.015-0.031,-0.113-0.066,-0.170-0.084,-1.314-0.607,1.661 0.660,0.100-0.027,-0.063-0.021,-0.162-0.016,0.228-0.049,0.019-0.066,0.179-0.041,-0.184-0.156,-0.505-0.194,-0.292-0.121,-0.292-0.106,-0.272-0.089,0.388-0.035,0.192 0.003,0.056-0.030,0.162-0.013,0.046-0.016,0.629 0.002,-0.056-0.026,-0.486-0.011,0.181 0.028,0.787 0.049,0.012 0.005,-0.050-0.008,-0.086-0.016,0.118-0.020,-0.055-0.021,0.215-0.015,-0.147-0.021,-0.355-0.019,-0.142-0.012,-0.075-0.009,-0.174-0.007,-0.151-0.005,-0.125-0.003,-0.173-0.002,-0.191-0.001,0.033-0.000,-0.047 0.000,-0.022 0.000,-0.004 0.001,0.196 0.000,0.001 0.001,-0.164 0.001,0.126 0.000,0.104 0.000,-0.732 0.000,0.036 0.000,1.734 0.000,0.628 0.000,0.022 0.000,0.285 0.000,0.470 0.000,0.038 0.000,-0.241 0.000,-0.402-0.000,-0.860 0.000,-0.483-0.000,-0.111 0.000,0.867 0.000,-0.234 0.000,-0.589 0.000,-0.650-0.000,-0.020 0.000,0.975 0.000,-0.007 0.000,-0.107 0.000,-0.238 0.000,0.028 0.000,0.551 0.000,-0.206 0.000,0.050 0.000,-0.226 0.000,0.326 0.000,0.364 0.000,0.130 0.000,-0.029 0.000,0.150 0.000,-0.312 0.000,-0.556 0.000,-0.219 0.000,0.408-0.037,0.190-0.058,0.404-0.046,-0.041-0.009,-0.378-0.054,-0.048-0.102,0.208-0.141,0.062-0.082,-0.036-0.038,0.026 0.017,0.507-0.133,0.261-0.072,0.342 0.010,0.074 0.061,-0.213 0.089,-0.381 0.101,-0.424 0.101,-0.420 0.093,-0.563 0.096,-0.293 0.057,-0.302 0.047,-0.290 0.038,-0.602 0.033,0.621 0.012,-0.137 0.021,-0.388 0.007,-0.017 0.007,-0.122 0.003,-0.121 0.001,-0.310-0.007,0.377 0.011,-0.103-0.004,-0.081-0.006,-0.022-0.004,0.115-0.040,0.047-0.061,-0.190-0.050,-0.024-0.089,-0.034-0.100,0.102-0.141,0.057-0.070,0.152-0.115,0.041-0.024,0.172-0.076,0.170-0.030,0.340-0.072,0.424-0.094,0.336-0.027,0.255 0.018,0.450-0.086,0.049 0.010,-0.511 0.054,0.062-0.100,-0.051-0.039,-0.126 0.006,-0.714 0.279,2.316-1.187,0.596-0.403,-0.505 0.208,-0.035-0.012,-0.148 0.060,-0.501 0.233,-0.207 0.068,0.772-0.622,-0.244-0.063,-0.260 0.110,-0.252 0.214,-0.301 0.264,-0.311 0.277,0.324-0.027,-0.072 0.194,-0.463 0.310,-0.236 0.162,-0.213 0.144,-0.183 0.122,-0.003-0.048,-0.035-0.007,0.021-0.090,0.055-0.137,0.154-0.162,-0.129 0.031,-0.374 0.226,-0.058 0.049,-0.089 0.073,-0.104 0.085,-0.777 0.431,1.018-0.535,0.057 0.001,-0.299 0.120,-0.148 0.055,0.028-0.040,0.380-0.274,-0.026-0.044,0.234-0.228,-0.197 0.072,-0.297 0.197,-0.120 0.093,-0.451 0.358,0.501-0.405,0.180-0.205,0.496-0.508,-0.026-0.089,-0.049-0.074,-0.060-0.060,0.285-0.646,0.007-0.272,-0.236 0.254,-0.056 0.114,0.014-0.042,-0.090 0.083,0.034-0.101,-0.036 0.083,0.125-0.051,-0.064 0.247,-0.257 0.453,-0.100 0.254,-0.134 0.238,-0.146 0.210,-0.033 0.103,-0.032 0.100,-0.441 0.381,0.024 0.026,0.430-0.201,0.000 0.059,-0.029 0.057,0.270-0.287,0.096-0.134,-0.174 0.100,-0.002 0.010,-0.017 0.036,-0.297 0.186,-0.075 0.026,0.277-0.252,-0.007-0.077,-0.054-0.054,-0.079-0.035,-0.233-0.046,-0.084-0.109,-0.083-0.039,-0.078 0.011,-0.125 0.313,0.509-1.140,0.007-0.233,0.087 0.166,0.053 0.110,-0.028 0.199,-0.077 0.241,-0.437 0.639,0.042-0.119,-0.039 0.044,0.415-0.529,0.020 0.113,-0.115 0.177,-0.044 0.085,-0.015 0.065,0.005 0.048,-0.020 0.070,-0.035 0.079,-0.078 0.078,-0.100 0.073,-0.137 0.164,-0.065 0.065,-0.003-0.023,0.033-0.214,-0.121 0.096,-0.023-0.106,0.108-0.748,-0.071-0.122,-0.362-0.143,-0.522-0.146,-0.438-0.063,-0.353-0.006,-0.419-0.079,-0.431-0.120,-0.554-0.248,-0.297-0.091,-1.244-0.588,-0.448-0.149,0.662 0.572,0.052 0.161,0.124 0.204,1.462 0.904,0.032 0.058,-2.369-0.969,-0.308 0.054,-0.784-0.206,-0.130 0.010,-0.932 0.013,-0.348 0.077,0.214 0.179,0.547 0.229,0.734 0.294,0.330 0.178,-1.226-0.071,-0.659-0.004,-1.036-0.109,0.122 0.089,1.055 0.232,0.357 0.082,0.440 0.110,0.460 0.119,-0.297 0.006,-0.023 0.080,-0.532 0.007,0.221 0.102,-0.424-0.030,-0.506-0.078,-0.064-0.016,0.224 0.025,-0.486-0.170,0.272-0.124,0.427-0.042,-0.009-0.041,0.154-0.003,0.246 0.022,0.067-0.037,0.315 0.001,-0.064-0.048,0.286-0.002,0.490 0.027,0.584 0.044,2.093 0.440,-1.983-0.822,0.044-0.137,0.625 0.186,-0.196-0.122,-1.823-0.927,-0.200-0.221,0.058-0.000,0.219 0.141,0.155 0.123,0.751 0.384,0.799 0.399,1.251 0.554,-0.528-0.138,0.397 0.230,1.513 0.563,0.123 0.061,-0.388-0.088,-0.189 0.005,0.365 0.164,0.344 0.143,0.306 0.120,0.273 0.051,0.105 0.023,0.108 0.026,0.124 0.035,0.028 0.022,-0.131 0.007,0.056 0.028,0.020 0.023,-0.004 0.018,-0.077 0.014,-0.132 0.008,-0.092 0.006,0.009 0.003,-0.073 0.002,-0.503 0.003,-0.092 0.001,-0.079-0.000,-0.064-0.001,0.024-0.001,0.078-0.001,-0.114-0.001,-0.007-0.001,0.061-0.001,0.101-0.001,-0.386-0.001,-0.029-0.001,0.045-0.000,-0.015-0.000,-0.001-0.000,0.008-0.000,0.087 0.000,0.131 0.000,-0.071 0.000,0.026 0.000,-0.090 0.000,0.154 0.000,0.128 0.000,-0.009 0.000,0.050 0.000,0.084 0.000,0.100 0.000,0.029 0.000,-0.149 0.000,-0.005 0.000,0.024 0.000,0.397 0.000,0.309 0.000,-0.000 0.000,-0.175 0.000,-0.031 0.000,-0.352 0.015,0.008 0.024,0.033 0.029,0.048 0.030,0.010 0.142,0.310 0.008,-0.012 0.060,-0.007 0.052,-0.003 0.045,-0.728 0.411,0.060 0.067,0.094 0.015,0.146 0.054,0.168 0.075,0.213-0.051,0.091-0.008,0.094-0.048,0.091-0.073,0.489-0.490,-0.684 0.554,0.030-0.123,0.147-0.154,0.062-0.063,-0.047-0.009,-0.040-0.047,0.004-0.031,0.032-0.019,0.048-0.046,0.054-0.060,0.165-0.066,0.298-0.149,-0.485 0.229,0.003 0.018,-0.014-0.017,0.126-0.042,0.032 0.024,0.039 0.034,0.137-0.056,0.015 0.020,0.058-0.049,-0.021-0.007,-0.148 0.123,-0.184 0.138,0.027 0.016,0.052 0.005,0.064-0.003,0.067-0.007,0.064-0.010,0.039-0.011,0.020-0.011,0.043 0.052,0.055 0.014,0.058-0.011,0.123-0.216,0.019 0.047,-0.034 0.483,0.050 0.042,-0.032-0.043,-0.017-0.021,0.000-0.060,0.011-0.081,0.038-0.170,0.012-0.019,0.013-0.016,-0.146 0.114,-0.066-0.025,0.001-0.075,0.006-0.036,0.022-0.036,0.017 0.045,0.110-0.210,0.015 0.006,-0.059 0.149,-0.054 0.165,0.010 0.020,-0.051 0.075,-0.013 0.031,0.008-0.062,-0.011-0.031,-0.010-0.042,0.084-0.240,-0.038-0.009,-0.206 0.182,-0.058-0.009,0.396-0.421,-0.345 0.475,-0.040 0.121,-0.088 0.282,-0.083 0.257,0.004 0.042,-0.095 0.305,0.308-0.639,0.001-0.007,-0.165 0.381,0.050-0.048,0.065-0.063,0.072-0.069,0.164-0.373,-0.154 0.522,0.047-0.067,0.055-0.205,0.001-0.087,0.181-0.545,-0.148 0.477,0.034-0.053,-0.133 0.103,-0.146-0.090,0.229-0.387,-0.002 0.028,0.007 0.022,0.013 0.017,0.102-0.167,-0.126 0.310,0.000 0.020,-0.029 0.102,0.026-0.021,0.033-0.036,0.063-0.121,0.029-0.025,-0.060 0.246,0.016-0.083,0.001-0.087,0.022-0.147,-0.012-0.054,-0.016-0.045,-0.027 0.014,0.026-0.038,0.036-0.029,0.056-0.121,-0.005-0.032,-0.012-0.033,-0.062 0.099,0.019 0.080,0.027-0.056,-0.026-0.011,-0.029-0.054,-0.098 0.058,-0.001 0.012,-0.013-0.016,-0.020-0.032,-0.036-0.028,-0.002-0.048,0.005-0.046,0.159-0.077,-0.032-0.012,-0.031 0.002,-0.030 0.014,-0.152 0.040,-0.022 0.006,-0.008-0.002,-0.188 0.019,-0.001-0.017,0.036-0.020,0.058-0.020,0.067-0.019,0.246-0.017,0.031 0.018,-0.125 0.076,0.024 0.012,0.005-0.003,-0.007-0.013,-0.054-0.009,-0.017-0.024,-1.188 0.080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1-03T17:23:0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  <inkml:brushProperty name="ignorePressure" value="0"/>
    </inkml:brush>
  </inkml:definitions>
  <inkml:trace contextRef="#ctx0" brushRef="#br0">863.000 860.000,'0.000'0.000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E349DC6-6A7A-4EBC-971F-AACF58CEC3D2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5CC0954-D23A-4F90-A915-F6FE7559321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数值方法不追求精确的解析解，而是通过迭代计算，得到满足一定精度要求的近似解。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CC0954-D23A-4F90-A915-F6FE755932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经过 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次二分后，区间的长度变为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b−a)/2^n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那么该区间中点为取值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CC0954-D23A-4F90-A915-F6FE755932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f(x)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若有偶重根，它在偶重根两侧不会变号。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E.g.(x-1)^2=0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CC0954-D23A-4F90-A915-F6FE755932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</a:t>
            </a:r>
            <a:r>
              <a:rPr lang="zh-CN" altLang="en-US" dirty="0"/>
              <a:t>压缩系数，</a:t>
            </a:r>
            <a:r>
              <a:rPr lang="en-US" altLang="zh-CN" dirty="0"/>
              <a:t>phi(x)</a:t>
            </a:r>
            <a:r>
              <a:rPr lang="zh-CN" altLang="en-US" dirty="0"/>
              <a:t>为</a:t>
            </a:r>
            <a:r>
              <a:rPr lang="en-US" altLang="zh-CN" dirty="0"/>
              <a:t>【</a:t>
            </a:r>
            <a:r>
              <a:rPr lang="en-US" altLang="zh-CN" dirty="0" err="1"/>
              <a:t>a,b</a:t>
            </a:r>
            <a:r>
              <a:rPr lang="en-US" altLang="zh-CN" dirty="0"/>
              <a:t>】</a:t>
            </a:r>
            <a:r>
              <a:rPr lang="zh-CN" altLang="en-US" dirty="0"/>
              <a:t>上的压缩映像。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几何意义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：函数 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ϕ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将任意两点间的距离至少缩短到原来的 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倍（</a:t>
            </a:r>
            <a:r>
              <a:rPr lang="en-US" altLang="zh-CN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）。这个函数具有“收缩”效应。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CC0954-D23A-4F90-A915-F6FE755932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闭区间上自映射，导数绝对值小于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。迭代必收敛，不动点唯一，误差可估计。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CC0954-D23A-4F90-A915-F6FE755932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迭代函数 </a:t>
            </a:r>
            <a:r>
              <a:rPr lang="en-US" altLang="zh-CN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ϕ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在根 </a:t>
            </a:r>
            <a:r>
              <a:rPr lang="en-US" altLang="zh-CN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∗ 处消失的导数阶数，决定了迭代法的收敛速度。提供了定量判断工具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CC0954-D23A-4F90-A915-F6FE755932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 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∗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处“消失”的导数越多，收敛速度越快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CC0954-D23A-4F90-A915-F6FE755932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可以提前预估需要多少步迭代能达到所需精度。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CC0954-D23A-4F90-A915-F6FE755932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FA45CBA-C770-4609-9E7E-802341702EA7}" type="slidenum">
              <a:rPr lang="zh-CN" altLang="en-US" sz="1200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松弛法计算函数的导数不太方便，故进行改进</a:t>
            </a:r>
            <a:endParaRPr lang="zh-CN" altLang="en-US"/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8AD27AA-54DC-4127-97E3-9E85B3D1C261}" type="slidenum">
              <a:rPr lang="zh-CN" altLang="en-US" sz="1200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差分（商）代替</a:t>
            </a:r>
            <a:r>
              <a:rPr lang="zh-CN" altLang="en-US" dirty="0"/>
              <a:t>一阶导数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CC0954-D23A-4F90-A915-F6FE755932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146861-FADF-4F39-9D75-5E04DA6BA50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0FCBC-3D0F-4491-803F-388CF7DF54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5F795-EC9D-49FE-B1C3-96908EEF4E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4E12F4-110A-41FB-9ACB-E94A599BDEB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DCB3FA-7C13-48EE-851F-7A1EC2B1DFF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C51DBE-4EFA-4412-A3B8-C906AFEC7D5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BA57A5-C9E0-4C37-A2B0-7810099A72E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DBD59-1AB5-4CEB-B0F6-CF9780CFD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C7FECD-E3D9-4C32-8EFA-8DDE27F51F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05BA9F-FE3D-4587-8967-89A4EB49A40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D430B4-D752-4281-BF2D-3E5D1F83D4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E7C7EA-6F5B-4876-8E5F-8BACE3433EC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050D8C-FB83-442C-87B5-E408732255F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EBD5"/>
            </a:gs>
            <a:gs pos="64999">
              <a:srgbClr val="F0EBD5"/>
            </a:gs>
            <a:gs pos="100000">
              <a:srgbClr val="FFEFD1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545EDCE-904F-4A37-8BEA-0C247D61403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wmf"/><Relationship Id="rId1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4.pn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9.png"/><Relationship Id="rId7" Type="http://schemas.openxmlformats.org/officeDocument/2006/relationships/image" Target="../media/image58.png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wmf"/><Relationship Id="rId8" Type="http://schemas.openxmlformats.org/officeDocument/2006/relationships/oleObject" Target="../embeddings/oleObject5.bin"/><Relationship Id="rId7" Type="http://schemas.openxmlformats.org/officeDocument/2006/relationships/image" Target="../media/image62.wmf"/><Relationship Id="rId6" Type="http://schemas.openxmlformats.org/officeDocument/2006/relationships/oleObject" Target="../embeddings/oleObject4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3.bin"/><Relationship Id="rId3" Type="http://schemas.openxmlformats.org/officeDocument/2006/relationships/image" Target="../media/image60.png"/><Relationship Id="rId2" Type="http://schemas.openxmlformats.org/officeDocument/2006/relationships/image" Target="../media/image53.png"/><Relationship Id="rId17" Type="http://schemas.openxmlformats.org/officeDocument/2006/relationships/vmlDrawing" Target="../drawings/vmlDrawing3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66.wmf"/><Relationship Id="rId14" Type="http://schemas.openxmlformats.org/officeDocument/2006/relationships/oleObject" Target="../embeddings/oleObject8.bin"/><Relationship Id="rId13" Type="http://schemas.openxmlformats.org/officeDocument/2006/relationships/image" Target="../media/image65.wmf"/><Relationship Id="rId12" Type="http://schemas.openxmlformats.org/officeDocument/2006/relationships/oleObject" Target="../embeddings/oleObject7.bin"/><Relationship Id="rId11" Type="http://schemas.openxmlformats.org/officeDocument/2006/relationships/image" Target="../media/image64.wmf"/><Relationship Id="rId10" Type="http://schemas.openxmlformats.org/officeDocument/2006/relationships/oleObject" Target="../embeddings/oleObject6.bin"/><Relationship Id="rId1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9.wmf"/><Relationship Id="rId4" Type="http://schemas.openxmlformats.org/officeDocument/2006/relationships/oleObject" Target="../embeddings/oleObject10.bin"/><Relationship Id="rId3" Type="http://schemas.openxmlformats.org/officeDocument/2006/relationships/image" Target="../media/image68.png"/><Relationship Id="rId2" Type="http://schemas.openxmlformats.org/officeDocument/2006/relationships/image" Target="../media/image67.wmf"/><Relationship Id="rId1" Type="http://schemas.openxmlformats.org/officeDocument/2006/relationships/oleObject" Target="../embeddings/oleObject9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customXml" Target="../ink/ink2.xml"/><Relationship Id="rId8" Type="http://schemas.openxmlformats.org/officeDocument/2006/relationships/image" Target="../media/image75.png"/><Relationship Id="rId7" Type="http://schemas.openxmlformats.org/officeDocument/2006/relationships/customXml" Target="../ink/ink1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2" Type="http://schemas.openxmlformats.org/officeDocument/2006/relationships/vmlDrawing" Target="../drawings/vmlDrawing5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76.png"/><Relationship Id="rId1" Type="http://schemas.openxmlformats.org/officeDocument/2006/relationships/image" Target="../media/image7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2.wmf"/><Relationship Id="rId4" Type="http://schemas.openxmlformats.org/officeDocument/2006/relationships/oleObject" Target="../embeddings/oleObject12.bin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9.png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png"/><Relationship Id="rId8" Type="http://schemas.openxmlformats.org/officeDocument/2006/relationships/image" Target="../media/image97.png"/><Relationship Id="rId7" Type="http://schemas.openxmlformats.org/officeDocument/2006/relationships/image" Target="../media/image96.png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03.png"/><Relationship Id="rId13" Type="http://schemas.openxmlformats.org/officeDocument/2006/relationships/image" Target="../media/image102.png"/><Relationship Id="rId12" Type="http://schemas.openxmlformats.org/officeDocument/2006/relationships/image" Target="../media/image101.png"/><Relationship Id="rId11" Type="http://schemas.openxmlformats.org/officeDocument/2006/relationships/image" Target="../media/image100.png"/><Relationship Id="rId10" Type="http://schemas.openxmlformats.org/officeDocument/2006/relationships/image" Target="../media/image99.png"/><Relationship Id="rId1" Type="http://schemas.openxmlformats.org/officeDocument/2006/relationships/image" Target="../media/image90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5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04.wmf"/><Relationship Id="rId1" Type="http://schemas.openxmlformats.org/officeDocument/2006/relationships/oleObject" Target="../embeddings/oleObject13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png"/><Relationship Id="rId8" Type="http://schemas.openxmlformats.org/officeDocument/2006/relationships/image" Target="../media/image113.png"/><Relationship Id="rId7" Type="http://schemas.openxmlformats.org/officeDocument/2006/relationships/image" Target="../media/image112.png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15.png"/><Relationship Id="rId1" Type="http://schemas.openxmlformats.org/officeDocument/2006/relationships/image" Target="../media/image106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image" Target="../media/image116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8.png"/><Relationship Id="rId8" Type="http://schemas.openxmlformats.org/officeDocument/2006/relationships/image" Target="../media/image127.png"/><Relationship Id="rId7" Type="http://schemas.openxmlformats.org/officeDocument/2006/relationships/image" Target="../media/image126.png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Relationship Id="rId3" Type="http://schemas.openxmlformats.org/officeDocument/2006/relationships/image" Target="../media/image122.png"/><Relationship Id="rId2" Type="http://schemas.openxmlformats.org/officeDocument/2006/relationships/image" Target="../media/image121.wmf"/><Relationship Id="rId11" Type="http://schemas.openxmlformats.org/officeDocument/2006/relationships/vmlDrawing" Target="../drawings/vmlDrawing8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15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35.png"/><Relationship Id="rId7" Type="http://schemas.openxmlformats.org/officeDocument/2006/relationships/image" Target="../media/image134.png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Relationship Id="rId3" Type="http://schemas.openxmlformats.org/officeDocument/2006/relationships/image" Target="../media/image130.wmf"/><Relationship Id="rId2" Type="http://schemas.openxmlformats.org/officeDocument/2006/relationships/oleObject" Target="../embeddings/oleObject16.bin"/><Relationship Id="rId10" Type="http://schemas.openxmlformats.org/officeDocument/2006/relationships/vmlDrawing" Target="../drawings/vmlDrawing9.vml"/><Relationship Id="rId1" Type="http://schemas.openxmlformats.org/officeDocument/2006/relationships/image" Target="../media/image129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0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41.png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37.png"/><Relationship Id="rId1" Type="http://schemas.openxmlformats.org/officeDocument/2006/relationships/image" Target="../media/image136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6.png"/><Relationship Id="rId4" Type="http://schemas.openxmlformats.org/officeDocument/2006/relationships/image" Target="../media/image145.png"/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image" Target="../media/image142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4.png"/><Relationship Id="rId8" Type="http://schemas.openxmlformats.org/officeDocument/2006/relationships/image" Target="../media/image153.png"/><Relationship Id="rId7" Type="http://schemas.openxmlformats.org/officeDocument/2006/relationships/image" Target="../media/image152.png"/><Relationship Id="rId6" Type="http://schemas.openxmlformats.org/officeDocument/2006/relationships/image" Target="../media/image151.png"/><Relationship Id="rId5" Type="http://schemas.openxmlformats.org/officeDocument/2006/relationships/image" Target="../media/image72.png"/><Relationship Id="rId4" Type="http://schemas.openxmlformats.org/officeDocument/2006/relationships/image" Target="../media/image150.png"/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57.png"/><Relationship Id="rId11" Type="http://schemas.openxmlformats.org/officeDocument/2006/relationships/image" Target="../media/image156.png"/><Relationship Id="rId10" Type="http://schemas.openxmlformats.org/officeDocument/2006/relationships/image" Target="../media/image155.png"/><Relationship Id="rId1" Type="http://schemas.openxmlformats.org/officeDocument/2006/relationships/image" Target="../media/image14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64.png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image" Target="../media/image158.pn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9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image" Target="../media/image165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1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75.png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Relationship Id="rId3" Type="http://schemas.openxmlformats.org/officeDocument/2006/relationships/image" Target="../media/image171.wmf"/><Relationship Id="rId2" Type="http://schemas.openxmlformats.org/officeDocument/2006/relationships/oleObject" Target="../embeddings/oleObject18.bin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70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82.png"/><Relationship Id="rId7" Type="http://schemas.openxmlformats.org/officeDocument/2006/relationships/image" Target="../media/image181.png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8.png"/><Relationship Id="rId3" Type="http://schemas.openxmlformats.org/officeDocument/2006/relationships/image" Target="../media/image177.png"/><Relationship Id="rId2" Type="http://schemas.openxmlformats.org/officeDocument/2006/relationships/image" Target="../media/image176.wmf"/><Relationship Id="rId10" Type="http://schemas.openxmlformats.org/officeDocument/2006/relationships/vmlDrawing" Target="../drawings/vmlDrawing12.vml"/><Relationship Id="rId1" Type="http://schemas.openxmlformats.org/officeDocument/2006/relationships/oleObject" Target="../embeddings/oleObject19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1.png"/><Relationship Id="rId8" Type="http://schemas.openxmlformats.org/officeDocument/2006/relationships/image" Target="../media/image190.png"/><Relationship Id="rId7" Type="http://schemas.openxmlformats.org/officeDocument/2006/relationships/image" Target="../media/image189.png"/><Relationship Id="rId6" Type="http://schemas.openxmlformats.org/officeDocument/2006/relationships/image" Target="../media/image188.png"/><Relationship Id="rId5" Type="http://schemas.openxmlformats.org/officeDocument/2006/relationships/image" Target="../media/image187.png"/><Relationship Id="rId4" Type="http://schemas.openxmlformats.org/officeDocument/2006/relationships/image" Target="../media/image186.png"/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97.png"/><Relationship Id="rId14" Type="http://schemas.openxmlformats.org/officeDocument/2006/relationships/image" Target="../media/image196.png"/><Relationship Id="rId13" Type="http://schemas.openxmlformats.org/officeDocument/2006/relationships/image" Target="../media/image195.png"/><Relationship Id="rId12" Type="http://schemas.openxmlformats.org/officeDocument/2006/relationships/image" Target="../media/image194.png"/><Relationship Id="rId11" Type="http://schemas.openxmlformats.org/officeDocument/2006/relationships/image" Target="../media/image193.png"/><Relationship Id="rId10" Type="http://schemas.openxmlformats.org/officeDocument/2006/relationships/image" Target="../media/image192.png"/><Relationship Id="rId1" Type="http://schemas.openxmlformats.org/officeDocument/2006/relationships/image" Target="../media/image183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6.png"/><Relationship Id="rId8" Type="http://schemas.openxmlformats.org/officeDocument/2006/relationships/image" Target="../media/image205.png"/><Relationship Id="rId7" Type="http://schemas.openxmlformats.org/officeDocument/2006/relationships/image" Target="../media/image204.png"/><Relationship Id="rId6" Type="http://schemas.openxmlformats.org/officeDocument/2006/relationships/image" Target="../media/image203.png"/><Relationship Id="rId5" Type="http://schemas.openxmlformats.org/officeDocument/2006/relationships/image" Target="../media/image202.png"/><Relationship Id="rId4" Type="http://schemas.openxmlformats.org/officeDocument/2006/relationships/image" Target="../media/image201.png"/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08.png"/><Relationship Id="rId10" Type="http://schemas.openxmlformats.org/officeDocument/2006/relationships/image" Target="../media/image207.png"/><Relationship Id="rId1" Type="http://schemas.openxmlformats.org/officeDocument/2006/relationships/image" Target="../media/image198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image" Target="../media/image209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4.png"/><Relationship Id="rId2" Type="http://schemas.openxmlformats.org/officeDocument/2006/relationships/image" Target="../media/image213.png"/><Relationship Id="rId1" Type="http://schemas.openxmlformats.org/officeDocument/2006/relationships/image" Target="../media/image212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2.png"/><Relationship Id="rId8" Type="http://schemas.openxmlformats.org/officeDocument/2006/relationships/image" Target="../media/image221.png"/><Relationship Id="rId7" Type="http://schemas.openxmlformats.org/officeDocument/2006/relationships/image" Target="../media/image220.png"/><Relationship Id="rId6" Type="http://schemas.openxmlformats.org/officeDocument/2006/relationships/image" Target="../media/image219.png"/><Relationship Id="rId5" Type="http://schemas.openxmlformats.org/officeDocument/2006/relationships/image" Target="../media/image218.wmf"/><Relationship Id="rId4" Type="http://schemas.openxmlformats.org/officeDocument/2006/relationships/oleObject" Target="../embeddings/oleObject20.bin"/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1" Type="http://schemas.openxmlformats.org/officeDocument/2006/relationships/vmlDrawing" Target="../drawings/vmlDrawing13.v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15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3.wmf"/><Relationship Id="rId1" Type="http://schemas.openxmlformats.org/officeDocument/2006/relationships/oleObject" Target="../embeddings/oleObject21.bin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4.wmf"/><Relationship Id="rId1" Type="http://schemas.openxmlformats.org/officeDocument/2006/relationships/oleObject" Target="../embeddings/oleObject22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32.png"/><Relationship Id="rId6" Type="http://schemas.openxmlformats.org/officeDocument/2006/relationships/image" Target="../media/image231.png"/><Relationship Id="rId5" Type="http://schemas.openxmlformats.org/officeDocument/2006/relationships/image" Target="../media/image230.png"/><Relationship Id="rId4" Type="http://schemas.openxmlformats.org/officeDocument/2006/relationships/image" Target="../media/image229.png"/><Relationship Id="rId3" Type="http://schemas.openxmlformats.org/officeDocument/2006/relationships/image" Target="../media/image228.png"/><Relationship Id="rId2" Type="http://schemas.openxmlformats.org/officeDocument/2006/relationships/image" Target="../media/image227.png"/><Relationship Id="rId1" Type="http://schemas.openxmlformats.org/officeDocument/2006/relationships/image" Target="../media/image226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37.png"/><Relationship Id="rId7" Type="http://schemas.openxmlformats.org/officeDocument/2006/relationships/image" Target="../media/image236.png"/><Relationship Id="rId6" Type="http://schemas.openxmlformats.org/officeDocument/2006/relationships/image" Target="../media/image235.png"/><Relationship Id="rId5" Type="http://schemas.openxmlformats.org/officeDocument/2006/relationships/image" Target="../media/image234.png"/><Relationship Id="rId4" Type="http://schemas.openxmlformats.org/officeDocument/2006/relationships/image" Target="../media/image233.png"/><Relationship Id="rId3" Type="http://schemas.openxmlformats.org/officeDocument/2006/relationships/image" Target="../media/image228.png"/><Relationship Id="rId2" Type="http://schemas.openxmlformats.org/officeDocument/2006/relationships/image" Target="../media/image227.png"/><Relationship Id="rId1" Type="http://schemas.openxmlformats.org/officeDocument/2006/relationships/image" Target="../media/image226.png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6.png"/><Relationship Id="rId8" Type="http://schemas.openxmlformats.org/officeDocument/2006/relationships/image" Target="../media/image245.png"/><Relationship Id="rId7" Type="http://schemas.openxmlformats.org/officeDocument/2006/relationships/image" Target="../media/image244.png"/><Relationship Id="rId6" Type="http://schemas.openxmlformats.org/officeDocument/2006/relationships/image" Target="../media/image243.png"/><Relationship Id="rId5" Type="http://schemas.openxmlformats.org/officeDocument/2006/relationships/image" Target="../media/image242.png"/><Relationship Id="rId4" Type="http://schemas.openxmlformats.org/officeDocument/2006/relationships/image" Target="../media/image241.png"/><Relationship Id="rId3" Type="http://schemas.openxmlformats.org/officeDocument/2006/relationships/image" Target="../media/image240.png"/><Relationship Id="rId2" Type="http://schemas.openxmlformats.org/officeDocument/2006/relationships/image" Target="../media/image239.png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48.png"/><Relationship Id="rId10" Type="http://schemas.openxmlformats.org/officeDocument/2006/relationships/image" Target="../media/image247.png"/><Relationship Id="rId1" Type="http://schemas.openxmlformats.org/officeDocument/2006/relationships/image" Target="../media/image238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51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50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249.wmf"/><Relationship Id="rId1" Type="http://schemas.openxmlformats.org/officeDocument/2006/relationships/oleObject" Target="../embeddings/oleObject23.bin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56.png"/><Relationship Id="rId4" Type="http://schemas.openxmlformats.org/officeDocument/2006/relationships/image" Target="../media/image255.png"/><Relationship Id="rId3" Type="http://schemas.openxmlformats.org/officeDocument/2006/relationships/image" Target="../media/image254.png"/><Relationship Id="rId2" Type="http://schemas.openxmlformats.org/officeDocument/2006/relationships/image" Target="../media/image253.png"/><Relationship Id="rId1" Type="http://schemas.openxmlformats.org/officeDocument/2006/relationships/image" Target="../media/image252.png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264.png"/><Relationship Id="rId7" Type="http://schemas.openxmlformats.org/officeDocument/2006/relationships/image" Target="../media/image263.png"/><Relationship Id="rId6" Type="http://schemas.openxmlformats.org/officeDocument/2006/relationships/image" Target="../media/image262.png"/><Relationship Id="rId5" Type="http://schemas.openxmlformats.org/officeDocument/2006/relationships/image" Target="../media/image261.png"/><Relationship Id="rId4" Type="http://schemas.openxmlformats.org/officeDocument/2006/relationships/image" Target="../media/image260.png"/><Relationship Id="rId3" Type="http://schemas.openxmlformats.org/officeDocument/2006/relationships/image" Target="../media/image259.png"/><Relationship Id="rId2" Type="http://schemas.openxmlformats.org/officeDocument/2006/relationships/image" Target="../media/image258.png"/><Relationship Id="rId17" Type="http://schemas.openxmlformats.org/officeDocument/2006/relationships/notesSlide" Target="../notesSlides/notesSlide8.xml"/><Relationship Id="rId16" Type="http://schemas.openxmlformats.org/officeDocument/2006/relationships/vmlDrawing" Target="../drawings/vmlDrawing17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68.png"/><Relationship Id="rId13" Type="http://schemas.openxmlformats.org/officeDocument/2006/relationships/image" Target="../media/image267.png"/><Relationship Id="rId12" Type="http://schemas.openxmlformats.org/officeDocument/2006/relationships/image" Target="../media/image266.png"/><Relationship Id="rId11" Type="http://schemas.openxmlformats.org/officeDocument/2006/relationships/image" Target="../media/image265.png"/><Relationship Id="rId10" Type="http://schemas.openxmlformats.org/officeDocument/2006/relationships/image" Target="../media/image176.wmf"/><Relationship Id="rId1" Type="http://schemas.openxmlformats.org/officeDocument/2006/relationships/image" Target="../media/image257.png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76.png"/><Relationship Id="rId7" Type="http://schemas.openxmlformats.org/officeDocument/2006/relationships/image" Target="../media/image275.png"/><Relationship Id="rId6" Type="http://schemas.openxmlformats.org/officeDocument/2006/relationships/image" Target="../media/image274.png"/><Relationship Id="rId5" Type="http://schemas.openxmlformats.org/officeDocument/2006/relationships/image" Target="../media/image273.png"/><Relationship Id="rId4" Type="http://schemas.openxmlformats.org/officeDocument/2006/relationships/image" Target="../media/image272.png"/><Relationship Id="rId3" Type="http://schemas.openxmlformats.org/officeDocument/2006/relationships/image" Target="../media/image271.png"/><Relationship Id="rId2" Type="http://schemas.openxmlformats.org/officeDocument/2006/relationships/image" Target="../media/image270.png"/><Relationship Id="rId1" Type="http://schemas.openxmlformats.org/officeDocument/2006/relationships/image" Target="../media/image269.pn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5.png"/><Relationship Id="rId8" Type="http://schemas.openxmlformats.org/officeDocument/2006/relationships/image" Target="../media/image284.png"/><Relationship Id="rId7" Type="http://schemas.openxmlformats.org/officeDocument/2006/relationships/image" Target="../media/image283.png"/><Relationship Id="rId6" Type="http://schemas.openxmlformats.org/officeDocument/2006/relationships/image" Target="../media/image282.png"/><Relationship Id="rId5" Type="http://schemas.openxmlformats.org/officeDocument/2006/relationships/image" Target="../media/image281.png"/><Relationship Id="rId4" Type="http://schemas.openxmlformats.org/officeDocument/2006/relationships/image" Target="../media/image280.png"/><Relationship Id="rId3" Type="http://schemas.openxmlformats.org/officeDocument/2006/relationships/image" Target="../media/image279.png"/><Relationship Id="rId2" Type="http://schemas.openxmlformats.org/officeDocument/2006/relationships/image" Target="../media/image278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87.png"/><Relationship Id="rId10" Type="http://schemas.openxmlformats.org/officeDocument/2006/relationships/image" Target="../media/image286.png"/><Relationship Id="rId1" Type="http://schemas.openxmlformats.org/officeDocument/2006/relationships/image" Target="../media/image277.png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8.png"/><Relationship Id="rId8" Type="http://schemas.openxmlformats.org/officeDocument/2006/relationships/image" Target="../media/image295.png"/><Relationship Id="rId7" Type="http://schemas.openxmlformats.org/officeDocument/2006/relationships/image" Target="../media/image294.png"/><Relationship Id="rId6" Type="http://schemas.openxmlformats.org/officeDocument/2006/relationships/image" Target="../media/image293.png"/><Relationship Id="rId5" Type="http://schemas.openxmlformats.org/officeDocument/2006/relationships/image" Target="../media/image292.png"/><Relationship Id="rId4" Type="http://schemas.openxmlformats.org/officeDocument/2006/relationships/image" Target="../media/image291.png"/><Relationship Id="rId3" Type="http://schemas.openxmlformats.org/officeDocument/2006/relationships/image" Target="../media/image290.png"/><Relationship Id="rId2" Type="http://schemas.openxmlformats.org/officeDocument/2006/relationships/image" Target="../media/image289.pn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300.png"/><Relationship Id="rId13" Type="http://schemas.openxmlformats.org/officeDocument/2006/relationships/image" Target="../media/image299.png"/><Relationship Id="rId12" Type="http://schemas.openxmlformats.org/officeDocument/2006/relationships/image" Target="../media/image298.png"/><Relationship Id="rId11" Type="http://schemas.openxmlformats.org/officeDocument/2006/relationships/image" Target="../media/image297.png"/><Relationship Id="rId10" Type="http://schemas.openxmlformats.org/officeDocument/2006/relationships/image" Target="../media/image296.png"/><Relationship Id="rId1" Type="http://schemas.openxmlformats.org/officeDocument/2006/relationships/image" Target="../media/image288.png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8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05.png"/><Relationship Id="rId6" Type="http://schemas.openxmlformats.org/officeDocument/2006/relationships/image" Target="../media/image304.png"/><Relationship Id="rId5" Type="http://schemas.openxmlformats.org/officeDocument/2006/relationships/image" Target="../media/image303.png"/><Relationship Id="rId4" Type="http://schemas.openxmlformats.org/officeDocument/2006/relationships/image" Target="../media/image302.png"/><Relationship Id="rId3" Type="http://schemas.openxmlformats.org/officeDocument/2006/relationships/image" Target="../media/image301.png"/><Relationship Id="rId2" Type="http://schemas.openxmlformats.org/officeDocument/2006/relationships/image" Target="../media/image69.wmf"/><Relationship Id="rId1" Type="http://schemas.openxmlformats.org/officeDocument/2006/relationships/oleObject" Target="../embeddings/oleObject27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7.png"/><Relationship Id="rId1" Type="http://schemas.openxmlformats.org/officeDocument/2006/relationships/image" Target="../media/image306.png"/></Relationships>
</file>

<file path=ppt/slides/_rels/slide5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12.png"/><Relationship Id="rId4" Type="http://schemas.openxmlformats.org/officeDocument/2006/relationships/image" Target="../media/image311.png"/><Relationship Id="rId3" Type="http://schemas.openxmlformats.org/officeDocument/2006/relationships/image" Target="../media/image310.png"/><Relationship Id="rId2" Type="http://schemas.openxmlformats.org/officeDocument/2006/relationships/image" Target="../media/image309.png"/><Relationship Id="rId1" Type="http://schemas.openxmlformats.org/officeDocument/2006/relationships/image" Target="../media/image308.png"/></Relationships>
</file>

<file path=ppt/slides/_rels/slide5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17.png"/><Relationship Id="rId4" Type="http://schemas.openxmlformats.org/officeDocument/2006/relationships/image" Target="../media/image316.png"/><Relationship Id="rId3" Type="http://schemas.openxmlformats.org/officeDocument/2006/relationships/image" Target="../media/image315.png"/><Relationship Id="rId2" Type="http://schemas.openxmlformats.org/officeDocument/2006/relationships/image" Target="../media/image314.png"/><Relationship Id="rId1" Type="http://schemas.openxmlformats.org/officeDocument/2006/relationships/image" Target="../media/image313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21.png"/><Relationship Id="rId5" Type="http://schemas.openxmlformats.org/officeDocument/2006/relationships/image" Target="../media/image320.png"/><Relationship Id="rId4" Type="http://schemas.openxmlformats.org/officeDocument/2006/relationships/image" Target="../media/image319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318.wmf"/><Relationship Id="rId1" Type="http://schemas.openxmlformats.org/officeDocument/2006/relationships/oleObject" Target="../embeddings/oleObject28.bin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25.png"/><Relationship Id="rId3" Type="http://schemas.openxmlformats.org/officeDocument/2006/relationships/image" Target="../media/image324.png"/><Relationship Id="rId2" Type="http://schemas.openxmlformats.org/officeDocument/2006/relationships/image" Target="../media/image323.png"/><Relationship Id="rId1" Type="http://schemas.openxmlformats.org/officeDocument/2006/relationships/image" Target="../media/image322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6.png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3.wmf"/><Relationship Id="rId8" Type="http://schemas.openxmlformats.org/officeDocument/2006/relationships/oleObject" Target="../embeddings/oleObject31.bin"/><Relationship Id="rId7" Type="http://schemas.openxmlformats.org/officeDocument/2006/relationships/image" Target="../media/image332.png"/><Relationship Id="rId6" Type="http://schemas.openxmlformats.org/officeDocument/2006/relationships/image" Target="../media/image331.png"/><Relationship Id="rId5" Type="http://schemas.openxmlformats.org/officeDocument/2006/relationships/image" Target="../media/image330.wmf"/><Relationship Id="rId4" Type="http://schemas.openxmlformats.org/officeDocument/2006/relationships/oleObject" Target="../embeddings/oleObject30.bin"/><Relationship Id="rId3" Type="http://schemas.openxmlformats.org/officeDocument/2006/relationships/image" Target="../media/image329.png"/><Relationship Id="rId2" Type="http://schemas.openxmlformats.org/officeDocument/2006/relationships/image" Target="../media/image328.png"/><Relationship Id="rId12" Type="http://schemas.openxmlformats.org/officeDocument/2006/relationships/vmlDrawing" Target="../drawings/vmlDrawing20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34.png"/><Relationship Id="rId1" Type="http://schemas.openxmlformats.org/officeDocument/2006/relationships/image" Target="../media/image327.png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2.png"/><Relationship Id="rId8" Type="http://schemas.openxmlformats.org/officeDocument/2006/relationships/image" Target="../media/image341.png"/><Relationship Id="rId7" Type="http://schemas.openxmlformats.org/officeDocument/2006/relationships/image" Target="../media/image340.png"/><Relationship Id="rId6" Type="http://schemas.openxmlformats.org/officeDocument/2006/relationships/image" Target="../media/image339.png"/><Relationship Id="rId5" Type="http://schemas.openxmlformats.org/officeDocument/2006/relationships/image" Target="../media/image338.wmf"/><Relationship Id="rId4" Type="http://schemas.openxmlformats.org/officeDocument/2006/relationships/oleObject" Target="../embeddings/oleObject32.bin"/><Relationship Id="rId3" Type="http://schemas.openxmlformats.org/officeDocument/2006/relationships/image" Target="../media/image337.png"/><Relationship Id="rId2" Type="http://schemas.openxmlformats.org/officeDocument/2006/relationships/image" Target="../media/image336.png"/><Relationship Id="rId11" Type="http://schemas.openxmlformats.org/officeDocument/2006/relationships/vmlDrawing" Target="../drawings/vmlDrawing21.v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3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3.png"/></Relationships>
</file>

<file path=ppt/slides/_rels/slide6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48.png"/><Relationship Id="rId4" Type="http://schemas.openxmlformats.org/officeDocument/2006/relationships/image" Target="../media/image347.png"/><Relationship Id="rId3" Type="http://schemas.openxmlformats.org/officeDocument/2006/relationships/image" Target="../media/image346.png"/><Relationship Id="rId2" Type="http://schemas.openxmlformats.org/officeDocument/2006/relationships/image" Target="../media/image345.png"/><Relationship Id="rId1" Type="http://schemas.openxmlformats.org/officeDocument/2006/relationships/image" Target="../media/image344.pn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52.png"/><Relationship Id="rId3" Type="http://schemas.openxmlformats.org/officeDocument/2006/relationships/image" Target="../media/image351.png"/><Relationship Id="rId2" Type="http://schemas.openxmlformats.org/officeDocument/2006/relationships/image" Target="../media/image350.png"/><Relationship Id="rId1" Type="http://schemas.openxmlformats.org/officeDocument/2006/relationships/image" Target="../media/image349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59.png"/><Relationship Id="rId6" Type="http://schemas.openxmlformats.org/officeDocument/2006/relationships/image" Target="../media/image358.png"/><Relationship Id="rId5" Type="http://schemas.openxmlformats.org/officeDocument/2006/relationships/image" Target="../media/image357.png"/><Relationship Id="rId4" Type="http://schemas.openxmlformats.org/officeDocument/2006/relationships/image" Target="../media/image356.png"/><Relationship Id="rId3" Type="http://schemas.openxmlformats.org/officeDocument/2006/relationships/image" Target="../media/image355.png"/><Relationship Id="rId2" Type="http://schemas.openxmlformats.org/officeDocument/2006/relationships/image" Target="../media/image354.png"/><Relationship Id="rId1" Type="http://schemas.openxmlformats.org/officeDocument/2006/relationships/image" Target="../media/image353.png"/></Relationships>
</file>

<file path=ppt/slides/_rels/slide6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64.png"/><Relationship Id="rId4" Type="http://schemas.openxmlformats.org/officeDocument/2006/relationships/image" Target="../media/image363.png"/><Relationship Id="rId3" Type="http://schemas.openxmlformats.org/officeDocument/2006/relationships/image" Target="../media/image362.png"/><Relationship Id="rId2" Type="http://schemas.openxmlformats.org/officeDocument/2006/relationships/image" Target="../media/image361.png"/><Relationship Id="rId1" Type="http://schemas.openxmlformats.org/officeDocument/2006/relationships/image" Target="../media/image360.png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2.png"/><Relationship Id="rId8" Type="http://schemas.openxmlformats.org/officeDocument/2006/relationships/image" Target="../media/image371.png"/><Relationship Id="rId7" Type="http://schemas.openxmlformats.org/officeDocument/2006/relationships/image" Target="../media/image370.png"/><Relationship Id="rId6" Type="http://schemas.openxmlformats.org/officeDocument/2006/relationships/image" Target="../media/image369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68.png"/><Relationship Id="rId3" Type="http://schemas.openxmlformats.org/officeDocument/2006/relationships/image" Target="../media/image367.png"/><Relationship Id="rId2" Type="http://schemas.openxmlformats.org/officeDocument/2006/relationships/image" Target="../media/image366.png"/><Relationship Id="rId13" Type="http://schemas.openxmlformats.org/officeDocument/2006/relationships/vmlDrawing" Target="../drawings/vmlDrawing22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74.png"/><Relationship Id="rId10" Type="http://schemas.openxmlformats.org/officeDocument/2006/relationships/image" Target="../media/image373.png"/><Relationship Id="rId1" Type="http://schemas.openxmlformats.org/officeDocument/2006/relationships/image" Target="../media/image365.png"/></Relationships>
</file>

<file path=ppt/slides/_rels/slide6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80.png"/><Relationship Id="rId5" Type="http://schemas.openxmlformats.org/officeDocument/2006/relationships/image" Target="../media/image379.png"/><Relationship Id="rId4" Type="http://schemas.openxmlformats.org/officeDocument/2006/relationships/image" Target="../media/image378.png"/><Relationship Id="rId3" Type="http://schemas.openxmlformats.org/officeDocument/2006/relationships/image" Target="../media/image377.png"/><Relationship Id="rId2" Type="http://schemas.openxmlformats.org/officeDocument/2006/relationships/image" Target="../media/image376.png"/><Relationship Id="rId1" Type="http://schemas.openxmlformats.org/officeDocument/2006/relationships/image" Target="../media/image375.png"/></Relationships>
</file>

<file path=ppt/slides/_rels/slide7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9.png"/><Relationship Id="rId8" Type="http://schemas.openxmlformats.org/officeDocument/2006/relationships/image" Target="../media/image388.png"/><Relationship Id="rId7" Type="http://schemas.openxmlformats.org/officeDocument/2006/relationships/image" Target="../media/image387.png"/><Relationship Id="rId6" Type="http://schemas.openxmlformats.org/officeDocument/2006/relationships/image" Target="../media/image386.png"/><Relationship Id="rId5" Type="http://schemas.openxmlformats.org/officeDocument/2006/relationships/image" Target="../media/image385.png"/><Relationship Id="rId4" Type="http://schemas.openxmlformats.org/officeDocument/2006/relationships/image" Target="../media/image384.png"/><Relationship Id="rId3" Type="http://schemas.openxmlformats.org/officeDocument/2006/relationships/image" Target="../media/image383.png"/><Relationship Id="rId2" Type="http://schemas.openxmlformats.org/officeDocument/2006/relationships/image" Target="../media/image382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90.png"/><Relationship Id="rId1" Type="http://schemas.openxmlformats.org/officeDocument/2006/relationships/image" Target="../media/image381.png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93.png"/><Relationship Id="rId2" Type="http://schemas.openxmlformats.org/officeDocument/2006/relationships/image" Target="../media/image392.png"/><Relationship Id="rId1" Type="http://schemas.openxmlformats.org/officeDocument/2006/relationships/image" Target="../media/image391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96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95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394.wmf"/><Relationship Id="rId1" Type="http://schemas.openxmlformats.org/officeDocument/2006/relationships/oleObject" Target="../embeddings/oleObject34.bin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99.png"/><Relationship Id="rId2" Type="http://schemas.openxmlformats.org/officeDocument/2006/relationships/image" Target="../media/image398.png"/><Relationship Id="rId1" Type="http://schemas.openxmlformats.org/officeDocument/2006/relationships/image" Target="../media/image397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06.png"/><Relationship Id="rId6" Type="http://schemas.openxmlformats.org/officeDocument/2006/relationships/image" Target="../media/image405.png"/><Relationship Id="rId5" Type="http://schemas.openxmlformats.org/officeDocument/2006/relationships/image" Target="../media/image404.png"/><Relationship Id="rId4" Type="http://schemas.openxmlformats.org/officeDocument/2006/relationships/image" Target="../media/image403.png"/><Relationship Id="rId3" Type="http://schemas.openxmlformats.org/officeDocument/2006/relationships/image" Target="../media/image402.png"/><Relationship Id="rId2" Type="http://schemas.openxmlformats.org/officeDocument/2006/relationships/image" Target="../media/image401.png"/><Relationship Id="rId1" Type="http://schemas.openxmlformats.org/officeDocument/2006/relationships/image" Target="../media/image400.png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5.png"/><Relationship Id="rId8" Type="http://schemas.openxmlformats.org/officeDocument/2006/relationships/image" Target="../media/image414.png"/><Relationship Id="rId7" Type="http://schemas.openxmlformats.org/officeDocument/2006/relationships/image" Target="../media/image413.png"/><Relationship Id="rId6" Type="http://schemas.openxmlformats.org/officeDocument/2006/relationships/image" Target="../media/image412.png"/><Relationship Id="rId5" Type="http://schemas.openxmlformats.org/officeDocument/2006/relationships/image" Target="../media/image411.png"/><Relationship Id="rId4" Type="http://schemas.openxmlformats.org/officeDocument/2006/relationships/image" Target="../media/image410.png"/><Relationship Id="rId3" Type="http://schemas.openxmlformats.org/officeDocument/2006/relationships/image" Target="../media/image409.png"/><Relationship Id="rId2" Type="http://schemas.openxmlformats.org/officeDocument/2006/relationships/image" Target="../media/image408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16.png"/><Relationship Id="rId1" Type="http://schemas.openxmlformats.org/officeDocument/2006/relationships/image" Target="../media/image40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8.png"/><Relationship Id="rId1" Type="http://schemas.openxmlformats.org/officeDocument/2006/relationships/image" Target="../media/image417.emf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4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20.wmf"/><Relationship Id="rId2" Type="http://schemas.openxmlformats.org/officeDocument/2006/relationships/oleObject" Target="../embeddings/oleObject37.bin"/><Relationship Id="rId1" Type="http://schemas.openxmlformats.org/officeDocument/2006/relationships/image" Target="../media/image419.png"/></Relationships>
</file>

<file path=ppt/slides/_rels/slide7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5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25.png"/><Relationship Id="rId6" Type="http://schemas.openxmlformats.org/officeDocument/2006/relationships/image" Target="../media/image424.png"/><Relationship Id="rId5" Type="http://schemas.openxmlformats.org/officeDocument/2006/relationships/image" Target="../media/image423.png"/><Relationship Id="rId4" Type="http://schemas.openxmlformats.org/officeDocument/2006/relationships/image" Target="../media/image422.wmf"/><Relationship Id="rId3" Type="http://schemas.openxmlformats.org/officeDocument/2006/relationships/oleObject" Target="../embeddings/oleObject39.bin"/><Relationship Id="rId2" Type="http://schemas.openxmlformats.org/officeDocument/2006/relationships/image" Target="../media/image421.wmf"/><Relationship Id="rId1" Type="http://schemas.openxmlformats.org/officeDocument/2006/relationships/oleObject" Target="../embeddings/oleObject38.bin"/></Relationships>
</file>

<file path=ppt/slides/_rels/slide7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31.png"/><Relationship Id="rId5" Type="http://schemas.openxmlformats.org/officeDocument/2006/relationships/image" Target="../media/image430.png"/><Relationship Id="rId4" Type="http://schemas.openxmlformats.org/officeDocument/2006/relationships/image" Target="../media/image429.png"/><Relationship Id="rId3" Type="http://schemas.openxmlformats.org/officeDocument/2006/relationships/image" Target="../media/image428.png"/><Relationship Id="rId2" Type="http://schemas.openxmlformats.org/officeDocument/2006/relationships/image" Target="../media/image427.png"/><Relationship Id="rId1" Type="http://schemas.openxmlformats.org/officeDocument/2006/relationships/image" Target="../media/image426.png"/></Relationships>
</file>

<file path=ppt/slides/_rels/slide8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34.png"/><Relationship Id="rId2" Type="http://schemas.openxmlformats.org/officeDocument/2006/relationships/image" Target="../media/image433.png"/><Relationship Id="rId1" Type="http://schemas.openxmlformats.org/officeDocument/2006/relationships/image" Target="../media/image432.png"/></Relationships>
</file>

<file path=ppt/slides/_rels/slide8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2.png"/><Relationship Id="rId8" Type="http://schemas.openxmlformats.org/officeDocument/2006/relationships/image" Target="../media/image441.png"/><Relationship Id="rId7" Type="http://schemas.openxmlformats.org/officeDocument/2006/relationships/image" Target="../media/image440.png"/><Relationship Id="rId6" Type="http://schemas.openxmlformats.org/officeDocument/2006/relationships/image" Target="../media/image439.png"/><Relationship Id="rId5" Type="http://schemas.openxmlformats.org/officeDocument/2006/relationships/image" Target="../media/image438.png"/><Relationship Id="rId4" Type="http://schemas.openxmlformats.org/officeDocument/2006/relationships/image" Target="../media/image437.png"/><Relationship Id="rId3" Type="http://schemas.openxmlformats.org/officeDocument/2006/relationships/image" Target="../media/image436.wmf"/><Relationship Id="rId2" Type="http://schemas.openxmlformats.org/officeDocument/2006/relationships/oleObject" Target="../embeddings/oleObject40.bin"/><Relationship Id="rId17" Type="http://schemas.openxmlformats.org/officeDocument/2006/relationships/vmlDrawing" Target="../drawings/vmlDrawing26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446.wmf"/><Relationship Id="rId14" Type="http://schemas.openxmlformats.org/officeDocument/2006/relationships/oleObject" Target="../embeddings/oleObject42.bin"/><Relationship Id="rId13" Type="http://schemas.openxmlformats.org/officeDocument/2006/relationships/image" Target="../media/image445.png"/><Relationship Id="rId12" Type="http://schemas.openxmlformats.org/officeDocument/2006/relationships/image" Target="../media/image444.png"/><Relationship Id="rId11" Type="http://schemas.openxmlformats.org/officeDocument/2006/relationships/image" Target="../media/image443.wmf"/><Relationship Id="rId10" Type="http://schemas.openxmlformats.org/officeDocument/2006/relationships/oleObject" Target="../embeddings/oleObject41.bin"/><Relationship Id="rId1" Type="http://schemas.openxmlformats.org/officeDocument/2006/relationships/image" Target="../media/image435.png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7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51.png"/><Relationship Id="rId6" Type="http://schemas.openxmlformats.org/officeDocument/2006/relationships/image" Target="../media/image450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49.png"/><Relationship Id="rId3" Type="http://schemas.openxmlformats.org/officeDocument/2006/relationships/image" Target="../media/image448.png"/><Relationship Id="rId2" Type="http://schemas.openxmlformats.org/officeDocument/2006/relationships/image" Target="../media/image447.wmf"/><Relationship Id="rId1" Type="http://schemas.openxmlformats.org/officeDocument/2006/relationships/oleObject" Target="../embeddings/oleObject43.bin"/></Relationships>
</file>

<file path=ppt/slides/_rels/slide8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8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53.png"/><Relationship Id="rId2" Type="http://schemas.openxmlformats.org/officeDocument/2006/relationships/image" Target="../media/image452.emf"/><Relationship Id="rId1" Type="http://schemas.openxmlformats.org/officeDocument/2006/relationships/oleObject" Target="../embeddings/oleObject45.bin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58.png"/><Relationship Id="rId5" Type="http://schemas.openxmlformats.org/officeDocument/2006/relationships/image" Target="../media/image457.wmf"/><Relationship Id="rId4" Type="http://schemas.openxmlformats.org/officeDocument/2006/relationships/oleObject" Target="../embeddings/oleObject46.bin"/><Relationship Id="rId3" Type="http://schemas.openxmlformats.org/officeDocument/2006/relationships/image" Target="../media/image456.png"/><Relationship Id="rId2" Type="http://schemas.openxmlformats.org/officeDocument/2006/relationships/image" Target="../media/image455.png"/><Relationship Id="rId1" Type="http://schemas.openxmlformats.org/officeDocument/2006/relationships/image" Target="../media/image454.png"/></Relationships>
</file>

<file path=ppt/slides/_rels/slide8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0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61.png"/><Relationship Id="rId4" Type="http://schemas.openxmlformats.org/officeDocument/2006/relationships/image" Target="../media/image460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459.wmf"/><Relationship Id="rId1" Type="http://schemas.openxmlformats.org/officeDocument/2006/relationships/oleObject" Target="../embeddings/oleObject47.bin"/></Relationships>
</file>

<file path=ppt/slides/_rels/slide8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67.png"/><Relationship Id="rId5" Type="http://schemas.openxmlformats.org/officeDocument/2006/relationships/image" Target="../media/image466.png"/><Relationship Id="rId4" Type="http://schemas.openxmlformats.org/officeDocument/2006/relationships/image" Target="../media/image465.png"/><Relationship Id="rId3" Type="http://schemas.openxmlformats.org/officeDocument/2006/relationships/image" Target="../media/image464.png"/><Relationship Id="rId2" Type="http://schemas.openxmlformats.org/officeDocument/2006/relationships/image" Target="../media/image463.png"/><Relationship Id="rId1" Type="http://schemas.openxmlformats.org/officeDocument/2006/relationships/image" Target="../media/image462.png"/></Relationships>
</file>

<file path=ppt/slides/_rels/slide8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75.png"/><Relationship Id="rId7" Type="http://schemas.openxmlformats.org/officeDocument/2006/relationships/image" Target="../media/image474.png"/><Relationship Id="rId6" Type="http://schemas.openxmlformats.org/officeDocument/2006/relationships/image" Target="../media/image473.png"/><Relationship Id="rId5" Type="http://schemas.openxmlformats.org/officeDocument/2006/relationships/image" Target="../media/image472.png"/><Relationship Id="rId4" Type="http://schemas.openxmlformats.org/officeDocument/2006/relationships/image" Target="../media/image471.png"/><Relationship Id="rId3" Type="http://schemas.openxmlformats.org/officeDocument/2006/relationships/image" Target="../media/image470.png"/><Relationship Id="rId2" Type="http://schemas.openxmlformats.org/officeDocument/2006/relationships/image" Target="../media/image469.png"/><Relationship Id="rId1" Type="http://schemas.openxmlformats.org/officeDocument/2006/relationships/image" Target="../media/image468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80.png"/><Relationship Id="rId4" Type="http://schemas.openxmlformats.org/officeDocument/2006/relationships/image" Target="../media/image479.png"/><Relationship Id="rId3" Type="http://schemas.openxmlformats.org/officeDocument/2006/relationships/image" Target="../media/image478.png"/><Relationship Id="rId2" Type="http://schemas.openxmlformats.org/officeDocument/2006/relationships/image" Target="../media/image477.png"/><Relationship Id="rId1" Type="http://schemas.openxmlformats.org/officeDocument/2006/relationships/image" Target="../media/image476.png"/></Relationships>
</file>

<file path=ppt/slides/_rels/slide9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83.jpeg"/><Relationship Id="rId2" Type="http://schemas.openxmlformats.org/officeDocument/2006/relationships/image" Target="../media/image482.png"/><Relationship Id="rId1" Type="http://schemas.openxmlformats.org/officeDocument/2006/relationships/image" Target="../media/image4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7"/>
          <p:cNvSpPr>
            <a:spLocks noChangeArrowheads="1"/>
          </p:cNvSpPr>
          <p:nvPr/>
        </p:nvSpPr>
        <p:spPr bwMode="auto">
          <a:xfrm>
            <a:off x="2782888" y="692150"/>
            <a:ext cx="66262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CC3300"/>
                </a:solidFill>
              </a:rPr>
              <a:t>第三章  非线性方程求根</a:t>
            </a:r>
            <a:endParaRPr lang="zh-CN" altLang="en-US" b="1">
              <a:solidFill>
                <a:srgbClr val="CC3300"/>
              </a:solidFill>
            </a:endParaRPr>
          </a:p>
        </p:txBody>
      </p:sp>
      <p:sp>
        <p:nvSpPr>
          <p:cNvPr id="3075" name="Text Box 1028"/>
          <p:cNvSpPr txBox="1">
            <a:spLocks noChangeArrowheads="1"/>
          </p:cNvSpPr>
          <p:nvPr/>
        </p:nvSpPr>
        <p:spPr bwMode="auto">
          <a:xfrm>
            <a:off x="3000375" y="1557338"/>
            <a:ext cx="5257800" cy="388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3.1 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引言</a:t>
            </a:r>
            <a:endParaRPr lang="zh-CN" altLang="en-US" sz="2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3.2 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增值寻根法与二分法</a:t>
            </a:r>
            <a:endParaRPr lang="zh-CN" altLang="en-US" sz="2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3.3</a:t>
            </a:r>
            <a:r>
              <a:rPr lang="en-US" altLang="zh-CN" sz="2800" dirty="0">
                <a:solidFill>
                  <a:schemeClr val="folHlink"/>
                </a:solidFill>
              </a:rPr>
              <a:t> 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迭代法</a:t>
            </a:r>
            <a:endParaRPr lang="zh-CN" altLang="en-US" sz="2800" b="1" dirty="0">
              <a:solidFill>
                <a:srgbClr val="FF505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3.4 </a:t>
            </a:r>
            <a:r>
              <a:rPr lang="en-US" altLang="zh-CN" sz="2800" dirty="0">
                <a:solidFill>
                  <a:schemeClr val="folHlink"/>
                </a:solidFill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迭代收敛的加速</a:t>
            </a:r>
            <a:endParaRPr lang="zh-CN" altLang="en-US" sz="2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3.5</a:t>
            </a:r>
            <a:r>
              <a:rPr lang="en-US" altLang="zh-CN" sz="2800" dirty="0">
                <a:solidFill>
                  <a:schemeClr val="folHlink"/>
                </a:solidFill>
              </a:rPr>
              <a:t> 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牛顿法</a:t>
            </a:r>
            <a:endParaRPr lang="zh-CN" altLang="en-US" sz="2800" b="1" dirty="0">
              <a:solidFill>
                <a:srgbClr val="FF505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3.6</a:t>
            </a:r>
            <a:r>
              <a:rPr lang="en-US" altLang="zh-CN" sz="2800" dirty="0">
                <a:solidFill>
                  <a:schemeClr val="folHlink"/>
                </a:solidFill>
              </a:rPr>
              <a:t>  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割线法</a:t>
            </a:r>
            <a:endParaRPr lang="en-US" altLang="zh-CN" sz="2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623888" y="260350"/>
            <a:ext cx="1895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§3.1  </a:t>
            </a:r>
            <a:r>
              <a:rPr lang="zh-CN" altLang="en-US" sz="2800" b="1">
                <a:solidFill>
                  <a:srgbClr val="FF0000"/>
                </a:solidFill>
              </a:rPr>
              <a:t>引言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4099" name="Rectangle 3"/>
          <p:cNvSpPr txBox="1">
            <a:spLocks noChangeArrowheads="1"/>
          </p:cNvSpPr>
          <p:nvPr/>
        </p:nvSpPr>
        <p:spPr bwMode="auto">
          <a:xfrm>
            <a:off x="911225" y="908050"/>
            <a:ext cx="10298113" cy="568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Aft>
                <a:spcPts val="300"/>
              </a:spcAft>
              <a:buFontTx/>
              <a:buNone/>
            </a:pPr>
            <a:r>
              <a:rPr lang="zh-CN" altLang="en-US" sz="2400" b="1" dirty="0">
                <a:solidFill>
                  <a:srgbClr val="00CC00"/>
                </a:solidFill>
                <a:latin typeface="宋体" panose="02010600030101010101" pitchFamily="2" charset="-122"/>
              </a:rPr>
              <a:t>代数方程</a:t>
            </a:r>
            <a:r>
              <a:rPr lang="en-US" altLang="zh-CN" sz="2400" b="1" dirty="0">
                <a:solidFill>
                  <a:srgbClr val="00CC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f(x)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是多项式函数</a:t>
            </a:r>
            <a:r>
              <a:rPr lang="en-US" altLang="zh-CN" sz="2400" b="1" dirty="0">
                <a:solidFill>
                  <a:srgbClr val="00CC00"/>
                </a:solidFill>
                <a:latin typeface="宋体" panose="02010600030101010101" pitchFamily="2" charset="-122"/>
              </a:rPr>
              <a:t>)</a:t>
            </a:r>
            <a:endParaRPr lang="en-US" altLang="zh-CN" sz="2400" dirty="0">
              <a:solidFill>
                <a:srgbClr val="00CC00"/>
              </a:solidFill>
              <a:latin typeface="宋体" panose="02010600030101010101" pitchFamily="2" charset="-122"/>
            </a:endParaRPr>
          </a:p>
          <a:p>
            <a:pPr>
              <a:lnSpc>
                <a:spcPts val="3000"/>
              </a:lnSpc>
              <a:spcAft>
                <a:spcPts val="300"/>
              </a:spcAft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理论上：</a:t>
            </a:r>
            <a:r>
              <a:rPr lang="en-US" altLang="zh-CN" sz="2400" i="1" dirty="0"/>
              <a:t>n</a:t>
            </a:r>
            <a:r>
              <a:rPr lang="zh-CN" altLang="en-US" sz="2400" dirty="0">
                <a:latin typeface="宋体" panose="02010600030101010101" pitchFamily="2" charset="-122"/>
              </a:rPr>
              <a:t>次代数方程在复数域内一定有 </a:t>
            </a:r>
            <a:r>
              <a:rPr lang="en-US" altLang="zh-CN" sz="2400" i="1" dirty="0"/>
              <a:t>n</a:t>
            </a:r>
            <a:r>
              <a:rPr lang="zh-CN" altLang="en-US" sz="2400" dirty="0">
                <a:latin typeface="宋体" panose="02010600030101010101" pitchFamily="2" charset="-122"/>
              </a:rPr>
              <a:t>个根</a:t>
            </a:r>
            <a:r>
              <a:rPr lang="en-US" altLang="zh-CN" sz="2400" dirty="0">
                <a:latin typeface="宋体" panose="02010600030101010101" pitchFamily="2" charset="-122"/>
              </a:rPr>
              <a:t>(</a:t>
            </a:r>
            <a:r>
              <a:rPr lang="zh-CN" altLang="en-US" sz="2400" dirty="0">
                <a:latin typeface="宋体" panose="02010600030101010101" pitchFamily="2" charset="-122"/>
              </a:rPr>
              <a:t>考虑重数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Aft>
                <a:spcPts val="600"/>
              </a:spcAft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 早在</a:t>
            </a:r>
            <a:r>
              <a:rPr lang="en-US" altLang="zh-CN" sz="2400" dirty="0">
                <a:latin typeface="宋体" panose="02010600030101010101" pitchFamily="2" charset="-122"/>
              </a:rPr>
              <a:t>16</a:t>
            </a:r>
            <a:r>
              <a:rPr lang="zh-CN" altLang="en-US" sz="2400" dirty="0">
                <a:latin typeface="宋体" panose="02010600030101010101" pitchFamily="2" charset="-122"/>
              </a:rPr>
              <a:t>世纪就找到了三次、四次方程的求根公式，但直到</a:t>
            </a:r>
            <a:r>
              <a:rPr lang="en-US" altLang="zh-CN" sz="2400" dirty="0">
                <a:latin typeface="宋体" panose="02010600030101010101" pitchFamily="2" charset="-122"/>
              </a:rPr>
              <a:t>19</a:t>
            </a:r>
            <a:r>
              <a:rPr lang="zh-CN" altLang="en-US" sz="2400" dirty="0">
                <a:latin typeface="宋体" panose="02010600030101010101" pitchFamily="2" charset="-122"/>
              </a:rPr>
              <a:t>世纪才证明了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</a:rPr>
              <a:t>大于等于</a:t>
            </a:r>
            <a:r>
              <a:rPr lang="en-US" altLang="zh-CN" sz="2400" b="1" dirty="0">
                <a:solidFill>
                  <a:srgbClr val="C00000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</a:rPr>
              <a:t>次的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</a:rPr>
              <a:t>一般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</a:rPr>
              <a:t>代数方程式不能用代数公式求解。</a:t>
            </a:r>
            <a:endParaRPr lang="en-US" altLang="zh-CN" sz="24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300"/>
              </a:spcAft>
              <a:buFontTx/>
              <a:buNone/>
            </a:pPr>
            <a:r>
              <a:rPr lang="zh-CN" altLang="en-US" sz="2400" b="1" dirty="0">
                <a:solidFill>
                  <a:srgbClr val="00CC00"/>
                </a:solidFill>
                <a:latin typeface="宋体" panose="02010600030101010101" pitchFamily="2" charset="-122"/>
              </a:rPr>
              <a:t>超越方程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（三角方程，指数、对数方程等）</a:t>
            </a:r>
            <a:endParaRPr lang="en-US" altLang="zh-CN" sz="2400" b="1" dirty="0">
              <a:solidFill>
                <a:srgbClr val="00CC00"/>
              </a:solidFill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Aft>
                <a:spcPts val="300"/>
              </a:spcAft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  超越方程如果有解，其解可能是一个或几个，甚至是无穷多个，一般不存在根的解析表达式。因此需要研究数值方法求得满足一定精度要求的根的近似解。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Aft>
                <a:spcPts val="300"/>
              </a:spcAft>
              <a:buFontTx/>
              <a:buNone/>
            </a:pPr>
            <a:endParaRPr lang="en-US" altLang="zh-CN" sz="2400" dirty="0"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Aft>
                <a:spcPts val="300"/>
              </a:spcAft>
              <a:buFontTx/>
              <a:buNone/>
            </a:pPr>
            <a:endParaRPr lang="en-US" altLang="zh-CN" sz="2400" dirty="0"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Aft>
                <a:spcPts val="1800"/>
              </a:spcAft>
              <a:buFontTx/>
              <a:buNone/>
            </a:pPr>
            <a:r>
              <a:rPr lang="zh-CN" altLang="en-US" sz="2400" dirty="0"/>
              <a:t>             </a:t>
            </a:r>
            <a:r>
              <a:rPr lang="zh-CN" altLang="en-US" sz="2400" b="1" dirty="0">
                <a:solidFill>
                  <a:srgbClr val="660066"/>
                </a:solidFill>
              </a:rPr>
              <a:t>在解析方法无能为力时，数值方法则可以借助于计算机出色完成。</a:t>
            </a:r>
            <a:endParaRPr lang="zh-CN" altLang="en-US" sz="2400" b="1" dirty="0">
              <a:solidFill>
                <a:srgbClr val="660066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159896" y="4797152"/>
            <a:ext cx="5184576" cy="1554272"/>
          </a:xfrm>
          <a:prstGeom prst="rect">
            <a:avLst/>
          </a:prstGeom>
          <a:blipFill>
            <a:blip r:embed="rId1"/>
            <a:stretch>
              <a:fillRect l="-234" b="-2335"/>
            </a:stretch>
          </a:blipFill>
          <a:ln>
            <a:solidFill>
              <a:schemeClr val="accent1"/>
            </a:solidFill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4"/>
              <p:cNvSpPr txBox="1"/>
              <p:nvPr/>
            </p:nvSpPr>
            <p:spPr bwMode="auto">
              <a:xfrm>
                <a:off x="5263778" y="908050"/>
                <a:ext cx="4976812" cy="622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63778" y="908050"/>
                <a:ext cx="4976812" cy="622300"/>
              </a:xfrm>
              <a:prstGeom prst="rect">
                <a:avLst/>
              </a:prstGeom>
              <a:blipFill rotWithShape="1">
                <a:blip r:embed="rId2"/>
                <a:stretch>
                  <a:fillRect l="-5" r="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1271464" y="1196752"/>
            <a:ext cx="8856663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/>
              <a:t>给定方程 </a:t>
            </a:r>
            <a:r>
              <a:rPr lang="en-US" altLang="zh-CN" sz="2400" i="1" dirty="0"/>
              <a:t>f 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)=0</a:t>
            </a:r>
            <a:r>
              <a:rPr lang="zh-CN" altLang="en-US" sz="2400" dirty="0"/>
              <a:t>，如果有</a:t>
            </a:r>
            <a:r>
              <a:rPr lang="en-US" altLang="zh-CN" sz="2400" i="1" dirty="0"/>
              <a:t>a </a:t>
            </a:r>
            <a:r>
              <a:rPr lang="zh-CN" altLang="en-US" sz="2400" dirty="0"/>
              <a:t>使得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)=0</a:t>
            </a:r>
            <a:r>
              <a:rPr lang="zh-CN" altLang="en-US" sz="2400" dirty="0"/>
              <a:t>，则称 </a:t>
            </a:r>
            <a:r>
              <a:rPr lang="en-US" altLang="zh-CN" sz="2400" i="1" dirty="0"/>
              <a:t>a </a:t>
            </a:r>
            <a:r>
              <a:rPr lang="zh-CN" altLang="en-US" sz="2400" dirty="0"/>
              <a:t>为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 =0</a:t>
            </a:r>
            <a:r>
              <a:rPr lang="zh-CN" altLang="en-US" sz="2400" dirty="0"/>
              <a:t>的</a:t>
            </a:r>
            <a:r>
              <a:rPr lang="zh-CN" altLang="en-US" sz="2400" b="1" dirty="0">
                <a:solidFill>
                  <a:srgbClr val="CC3300"/>
                </a:solidFill>
              </a:rPr>
              <a:t>根</a:t>
            </a:r>
            <a:r>
              <a:rPr lang="zh-CN" altLang="en-US" sz="2400" dirty="0"/>
              <a:t> 或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 </a:t>
            </a:r>
            <a:r>
              <a:rPr lang="zh-CN" altLang="en-US" sz="2400" dirty="0"/>
              <a:t>的</a:t>
            </a:r>
            <a:r>
              <a:rPr lang="zh-CN" altLang="en-US" sz="2400" b="1" dirty="0">
                <a:solidFill>
                  <a:srgbClr val="CC3300"/>
                </a:solidFill>
              </a:rPr>
              <a:t>零点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设有正整数</a:t>
            </a:r>
            <a:r>
              <a:rPr lang="en-US" altLang="zh-CN" sz="2400" i="1" dirty="0"/>
              <a:t>m</a:t>
            </a:r>
            <a:r>
              <a:rPr lang="zh-CN" altLang="en-US" sz="2400" dirty="0"/>
              <a:t>使得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)=(</a:t>
            </a:r>
            <a:r>
              <a:rPr lang="en-US" altLang="zh-CN" sz="2400" i="1" dirty="0"/>
              <a:t>x</a:t>
            </a:r>
            <a:r>
              <a:rPr lang="en-US" altLang="zh-CN" sz="2400" dirty="0"/>
              <a:t>–</a:t>
            </a:r>
            <a:r>
              <a:rPr lang="en-US" altLang="zh-CN" sz="2400" i="1" dirty="0"/>
              <a:t>a</a:t>
            </a:r>
            <a:r>
              <a:rPr lang="en-US" altLang="zh-CN" sz="2400" dirty="0"/>
              <a:t>)</a:t>
            </a:r>
            <a:r>
              <a:rPr lang="en-US" altLang="zh-CN" sz="2400" i="1" baseline="30000" dirty="0"/>
              <a:t>m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 </a:t>
            </a:r>
            <a:r>
              <a:rPr lang="zh-CN" altLang="en-US" sz="2400" dirty="0"/>
              <a:t>且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0</a:t>
            </a:r>
            <a:r>
              <a:rPr lang="en-US" altLang="zh-CN" sz="2400" dirty="0"/>
              <a:t> </a:t>
            </a:r>
            <a:r>
              <a:rPr lang="zh-CN" altLang="en-US" sz="2400" dirty="0"/>
              <a:t>，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则当</a:t>
            </a:r>
            <a:r>
              <a:rPr lang="en-US" altLang="zh-CN" sz="2400" i="1" dirty="0"/>
              <a:t>m</a:t>
            </a:r>
            <a:r>
              <a:rPr lang="en-US" altLang="zh-CN" sz="2400" dirty="0">
                <a:sym typeface="Symbol" panose="05050102010706020507" pitchFamily="18" charset="2"/>
              </a:rPr>
              <a:t>2</a:t>
            </a:r>
            <a:r>
              <a:rPr lang="zh-CN" altLang="en-US" sz="2400" dirty="0"/>
              <a:t>时，称 </a:t>
            </a:r>
            <a:r>
              <a:rPr lang="en-US" altLang="zh-CN" sz="2400" i="1" dirty="0"/>
              <a:t>a</a:t>
            </a:r>
            <a:r>
              <a:rPr lang="zh-CN" altLang="en-US" sz="2400" dirty="0"/>
              <a:t>为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)=0</a:t>
            </a:r>
            <a:r>
              <a:rPr lang="zh-CN" altLang="en-US" sz="2400" dirty="0"/>
              <a:t>的</a:t>
            </a:r>
            <a:r>
              <a:rPr lang="en-US" altLang="zh-CN" sz="2400" b="1" i="1" dirty="0">
                <a:solidFill>
                  <a:srgbClr val="CC3300"/>
                </a:solidFill>
              </a:rPr>
              <a:t>m</a:t>
            </a:r>
            <a:r>
              <a:rPr lang="zh-CN" altLang="en-US" sz="2400" b="1" dirty="0">
                <a:solidFill>
                  <a:srgbClr val="CC3300"/>
                </a:solidFill>
              </a:rPr>
              <a:t>重根</a:t>
            </a:r>
            <a:r>
              <a:rPr lang="zh-CN" altLang="en-US" sz="2400" dirty="0"/>
              <a:t>；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当</a:t>
            </a:r>
            <a:r>
              <a:rPr lang="en-US" altLang="zh-CN" sz="2400" i="1" dirty="0"/>
              <a:t>m</a:t>
            </a:r>
            <a:r>
              <a:rPr lang="en-US" altLang="zh-CN" sz="2400" dirty="0"/>
              <a:t>=1</a:t>
            </a:r>
            <a:r>
              <a:rPr lang="zh-CN" altLang="en-US" sz="2400" dirty="0"/>
              <a:t>时，称为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)=0</a:t>
            </a:r>
            <a:r>
              <a:rPr lang="zh-CN" altLang="en-US" sz="2400" dirty="0"/>
              <a:t>的</a:t>
            </a:r>
            <a:r>
              <a:rPr lang="zh-CN" altLang="en-US" sz="2400" b="1" dirty="0">
                <a:solidFill>
                  <a:srgbClr val="CC3300"/>
                </a:solidFill>
              </a:rPr>
              <a:t>单根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400" dirty="0"/>
              <a:t>      本课程只讨论</a:t>
            </a:r>
            <a:r>
              <a:rPr lang="zh-CN" altLang="en-US" sz="2400" b="1" dirty="0">
                <a:solidFill>
                  <a:srgbClr val="CC3300"/>
                </a:solidFill>
              </a:rPr>
              <a:t>实根</a:t>
            </a:r>
            <a:r>
              <a:rPr lang="zh-CN" altLang="en-US" sz="2400" dirty="0"/>
              <a:t>的求法</a:t>
            </a:r>
            <a:r>
              <a:rPr lang="en-US" altLang="zh-CN" sz="2400" dirty="0"/>
              <a:t>.</a:t>
            </a:r>
            <a:endParaRPr lang="en-US" altLang="zh-CN" sz="2400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550863" y="549275"/>
            <a:ext cx="2916237" cy="8382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zh-CN" altLang="en-US" sz="2800" b="1" kern="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根的概念 </a:t>
            </a:r>
            <a:endParaRPr lang="zh-CN" altLang="en-US" sz="2800" b="1" kern="0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文本框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968721" y="2852936"/>
            <a:ext cx="3770199" cy="991938"/>
          </a:xfrm>
          <a:prstGeom prst="rect">
            <a:avLst/>
          </a:prstGeom>
          <a:blipFill>
            <a:blip r:embed="rId1"/>
            <a:stretch>
              <a:fillRect b="-9816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7143600" y="4081982"/>
                <a:ext cx="4179094" cy="380873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f</m:t>
                        </m:r>
                      </m:e>
                      <m:sup>
                        <m:r>
                          <a:rPr lang="en-US" altLang="zh-CN" b="0" i="0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b="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0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x</m:t>
                        </m:r>
                      </m:e>
                    </m:d>
                    <m:r>
                      <a:rPr lang="en-US" altLang="zh-CN" b="0" i="0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b="0" i="0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0</m:t>
                    </m:r>
                    <m:r>
                      <a:rPr lang="en-US" altLang="zh-CN" b="0" i="0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b="0" i="0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f</m:t>
                    </m:r>
                    <m:r>
                      <a:rPr lang="en-US" altLang="zh-CN" b="0" i="0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′′(</m:t>
                    </m:r>
                    <m:r>
                      <m:rPr>
                        <m:sty m:val="p"/>
                      </m:rPr>
                      <a:rPr lang="en-US" altLang="zh-CN" b="0" i="0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x</m:t>
                    </m:r>
                    <m:r>
                      <a:rPr lang="en-US" altLang="zh-CN" b="0" i="0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)</m:t>
                    </m:r>
                    <m:r>
                      <a:rPr lang="en-US" altLang="zh-CN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i="1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两</m:t>
                    </m:r>
                  </m:oMath>
                </a14:m>
                <a:r>
                  <a:rPr lang="zh-CN" altLang="en-US" kern="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重根</a:t>
                </a:r>
                <a:r>
                  <a:rPr lang="en-US" altLang="zh-CN" kern="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……</a:t>
                </a:r>
                <a:endParaRPr lang="zh-CN" altLang="en-US" kern="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600" y="4081982"/>
                <a:ext cx="4179094" cy="380873"/>
              </a:xfrm>
              <a:prstGeom prst="rect">
                <a:avLst/>
              </a:prstGeom>
              <a:blipFill rotWithShape="1">
                <a:blip r:embed="rId2"/>
                <a:stretch>
                  <a:fillRect l="-12" t="-53" r="-3358" b="-66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矩形 6"/>
          <p:cNvSpPr>
            <a:spLocks noChangeArrowheads="1"/>
          </p:cNvSpPr>
          <p:nvPr/>
        </p:nvSpPr>
        <p:spPr bwMode="auto">
          <a:xfrm>
            <a:off x="2208213" y="692150"/>
            <a:ext cx="28876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§3.2 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增值寻根法</a:t>
            </a:r>
            <a:endParaRPr lang="zh-CN" altLang="en-US" sz="28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6147" name="Rectangle 6"/>
          <p:cNvSpPr>
            <a:spLocks noChangeArrowheads="1"/>
          </p:cNvSpPr>
          <p:nvPr/>
        </p:nvSpPr>
        <p:spPr bwMode="auto">
          <a:xfrm>
            <a:off x="2638425" y="2551113"/>
            <a:ext cx="7158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求非线性方程         </a:t>
            </a:r>
            <a:r>
              <a:rPr lang="zh-CN" altLang="en-US" sz="2400">
                <a:latin typeface="Tahoma" panose="020B0604030504040204" pitchFamily="34" charset="0"/>
              </a:rPr>
              <a:t>的根的方法常分为两步：</a:t>
            </a:r>
            <a:endParaRPr lang="zh-CN" altLang="en-US" sz="240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8" name="Object 6"/>
              <p:cNvSpPr txBox="1"/>
              <p:nvPr/>
            </p:nvSpPr>
            <p:spPr bwMode="auto">
              <a:xfrm>
                <a:off x="4614863" y="2617788"/>
                <a:ext cx="1295400" cy="4556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14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14863" y="2617788"/>
                <a:ext cx="1295400" cy="455612"/>
              </a:xfrm>
              <a:prstGeom prst="rect">
                <a:avLst/>
              </a:prstGeom>
              <a:blipFill rotWithShape="1">
                <a:blip r:embed="rId1"/>
                <a:stretch>
                  <a:fillRect l="-25" t="-70" r="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9" name="Rectangle 7"/>
          <p:cNvSpPr>
            <a:spLocks noChangeArrowheads="1"/>
          </p:cNvSpPr>
          <p:nvPr/>
        </p:nvSpPr>
        <p:spPr bwMode="auto">
          <a:xfrm>
            <a:off x="2135188" y="2344738"/>
            <a:ext cx="8785225" cy="364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tabLst>
                <a:tab pos="4572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800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00" dirty="0">
                <a:solidFill>
                  <a:srgbClr val="7030A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确定方程的有根区间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（画图，数值实验，物理背景等先验知识）</a:t>
            </a:r>
            <a:endParaRPr lang="en-US" altLang="zh-CN" sz="28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00" dirty="0">
                <a:solidFill>
                  <a:srgbClr val="7030A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计算根的近似值</a:t>
            </a:r>
            <a:endParaRPr lang="zh-CN" altLang="en-US" sz="2400" dirty="0">
              <a:solidFill>
                <a:srgbClr val="7030A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zh-CN" altLang="en-US" sz="2800" dirty="0">
                <a:latin typeface="Tahoma" panose="020B0604030504040204" pitchFamily="34" charset="0"/>
              </a:rPr>
              <a:t>        </a:t>
            </a:r>
            <a:r>
              <a:rPr lang="zh-CN" altLang="en-US" sz="2400" dirty="0">
                <a:latin typeface="Tahoma" panose="020B0604030504040204" pitchFamily="34" charset="0"/>
              </a:rPr>
              <a:t>有根区间：存在根</a:t>
            </a:r>
            <a:endParaRPr lang="zh-CN" altLang="en-US" sz="2400" dirty="0">
              <a:latin typeface="Tahoma" panose="020B0604030504040204" pitchFamily="34" charset="0"/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ahoma" panose="020B0604030504040204" pitchFamily="34" charset="0"/>
              </a:rPr>
              <a:t>     隔根区间：唯一根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6150" name="矩形 5"/>
          <p:cNvSpPr>
            <a:spLocks noChangeArrowheads="1"/>
          </p:cNvSpPr>
          <p:nvPr/>
        </p:nvSpPr>
        <p:spPr bwMode="auto">
          <a:xfrm>
            <a:off x="2667000" y="1714500"/>
            <a:ext cx="6340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问题</a:t>
            </a:r>
            <a:r>
              <a:rPr lang="zh-CN" altLang="en-US" sz="2400"/>
              <a:t>：</a:t>
            </a: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方程有无根？根有几个？它们在哪里？</a:t>
            </a:r>
            <a:endParaRPr lang="zh-CN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99456" y="489572"/>
            <a:ext cx="9865096" cy="573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确定方程的有根区间</a:t>
            </a:r>
            <a:endParaRPr lang="en-US" altLang="zh-CN" sz="28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5000"/>
              </a:lnSpc>
              <a:spcBef>
                <a:spcPct val="5000"/>
              </a:spcBef>
              <a:buFont typeface="+mj-lt"/>
              <a:buAutoNum type="arabicPeriod"/>
            </a:pP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画图法：</a:t>
            </a:r>
            <a:endParaRPr lang="en-US" altLang="zh-CN" sz="28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25000"/>
              </a:lnSpc>
              <a:spcBef>
                <a:spcPct val="5000"/>
              </a:spcBef>
              <a:buFont typeface="+mj-lt"/>
              <a:buAutoNum type="alphaLcParenR"/>
            </a:pP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画出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y = f (x)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的略图，从而看出曲线与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轴交点的大致位置。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25000"/>
              </a:lnSpc>
              <a:spcBef>
                <a:spcPct val="5000"/>
              </a:spcBef>
              <a:buFont typeface="+mj-lt"/>
              <a:buAutoNum type="alphaLcParenR"/>
            </a:pP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f (x) = 0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分解为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1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x)= 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2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(x)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的形式，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1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x)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与 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2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x)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两曲线交点的横坐标所在的子区间即为含根区间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例：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ea typeface="+mn-ea"/>
              </a:rPr>
              <a:t>xlogx-1= 0</a:t>
            </a:r>
            <a:endParaRPr lang="en-US" altLang="zh-CN" sz="2800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    改写为</a:t>
            </a:r>
            <a:r>
              <a:rPr lang="en-US" altLang="zh-CN" sz="2800" dirty="0" err="1">
                <a:solidFill>
                  <a:srgbClr val="000000"/>
                </a:solidFill>
                <a:latin typeface="+mn-ea"/>
                <a:ea typeface="+mn-ea"/>
              </a:rPr>
              <a:t>logx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ea typeface="+mn-ea"/>
              </a:rPr>
              <a:t>=1/x</a:t>
            </a:r>
            <a:endParaRPr lang="en-US" altLang="zh-CN" sz="2800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ct val="5000"/>
              </a:spcBef>
            </a:pPr>
            <a:endParaRPr lang="en-US" altLang="zh-CN" sz="2800" b="1" dirty="0">
              <a:solidFill>
                <a:srgbClr val="000000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endParaRPr lang="zh-CN" altLang="en-US" sz="28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endParaRPr lang="zh-CN" altLang="en-US" sz="28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endParaRPr lang="zh-CN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3"/>
              <p:cNvSpPr txBox="1"/>
              <p:nvPr/>
            </p:nvSpPr>
            <p:spPr bwMode="auto">
              <a:xfrm>
                <a:off x="6233815" y="3444580"/>
                <a:ext cx="1000125" cy="103981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3815" y="3444580"/>
                <a:ext cx="1000125" cy="1039813"/>
              </a:xfrm>
              <a:prstGeom prst="rect">
                <a:avLst/>
              </a:prstGeom>
              <a:blipFill rotWithShape="1">
                <a:blip r:embed="rId1"/>
                <a:stretch>
                  <a:fillRect l="-2" t="-33" r="2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4"/>
              <p:cNvSpPr txBox="1"/>
              <p:nvPr/>
            </p:nvSpPr>
            <p:spPr bwMode="auto">
              <a:xfrm>
                <a:off x="8921453" y="4806655"/>
                <a:ext cx="1830387" cy="7874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=ℓ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21453" y="4806655"/>
                <a:ext cx="1830387" cy="787400"/>
              </a:xfrm>
              <a:prstGeom prst="rect">
                <a:avLst/>
              </a:prstGeom>
              <a:blipFill rotWithShape="1">
                <a:blip r:embed="rId2"/>
                <a:stretch>
                  <a:fillRect l="-18" t="-43" r="1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 5"/>
          <p:cNvSpPr/>
          <p:nvPr/>
        </p:nvSpPr>
        <p:spPr bwMode="auto">
          <a:xfrm>
            <a:off x="5936953" y="5576593"/>
            <a:ext cx="2894012" cy="1236662"/>
          </a:xfrm>
          <a:custGeom>
            <a:avLst/>
            <a:gdLst>
              <a:gd name="T0" fmla="*/ 1620 w 1620"/>
              <a:gd name="T1" fmla="*/ 0 h 780"/>
              <a:gd name="T2" fmla="*/ 720 w 1620"/>
              <a:gd name="T3" fmla="*/ 156 h 780"/>
              <a:gd name="T4" fmla="*/ 180 w 1620"/>
              <a:gd name="T5" fmla="*/ 468 h 780"/>
              <a:gd name="T6" fmla="*/ 0 w 1620"/>
              <a:gd name="T7" fmla="*/ 780 h 7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20" h="780">
                <a:moveTo>
                  <a:pt x="1620" y="0"/>
                </a:moveTo>
                <a:cubicBezTo>
                  <a:pt x="1290" y="39"/>
                  <a:pt x="960" y="78"/>
                  <a:pt x="720" y="156"/>
                </a:cubicBezTo>
                <a:cubicBezTo>
                  <a:pt x="480" y="234"/>
                  <a:pt x="300" y="364"/>
                  <a:pt x="180" y="468"/>
                </a:cubicBezTo>
                <a:cubicBezTo>
                  <a:pt x="60" y="572"/>
                  <a:pt x="30" y="728"/>
                  <a:pt x="0" y="78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6"/>
          <p:cNvSpPr/>
          <p:nvPr/>
        </p:nvSpPr>
        <p:spPr bwMode="auto">
          <a:xfrm>
            <a:off x="5929015" y="3901780"/>
            <a:ext cx="2894013" cy="2224088"/>
          </a:xfrm>
          <a:custGeom>
            <a:avLst/>
            <a:gdLst>
              <a:gd name="T0" fmla="*/ 0 w 1620"/>
              <a:gd name="T1" fmla="*/ 0 h 1404"/>
              <a:gd name="T2" fmla="*/ 360 w 1620"/>
              <a:gd name="T3" fmla="*/ 1092 h 1404"/>
              <a:gd name="T4" fmla="*/ 1620 w 1620"/>
              <a:gd name="T5" fmla="*/ 1404 h 1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20" h="1404">
                <a:moveTo>
                  <a:pt x="0" y="0"/>
                </a:moveTo>
                <a:cubicBezTo>
                  <a:pt x="45" y="429"/>
                  <a:pt x="90" y="858"/>
                  <a:pt x="360" y="1092"/>
                </a:cubicBezTo>
                <a:cubicBezTo>
                  <a:pt x="630" y="1326"/>
                  <a:pt x="1125" y="1365"/>
                  <a:pt x="1620" y="140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V="1">
            <a:off x="5624215" y="2987379"/>
            <a:ext cx="0" cy="38147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4655840" y="6357643"/>
            <a:ext cx="578485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9"/>
              <p:cNvSpPr txBox="1"/>
              <p:nvPr/>
            </p:nvSpPr>
            <p:spPr bwMode="auto">
              <a:xfrm>
                <a:off x="6908503" y="6446543"/>
                <a:ext cx="428625" cy="355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08503" y="6446543"/>
                <a:ext cx="428625" cy="355600"/>
              </a:xfrm>
              <a:prstGeom prst="rect">
                <a:avLst/>
              </a:prstGeom>
              <a:blipFill rotWithShape="1">
                <a:blip r:embed="rId3"/>
                <a:stretch>
                  <a:fillRect l="-79" t="-6" r="79" b="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ine 10"/>
          <p:cNvSpPr>
            <a:spLocks noChangeShapeType="1"/>
          </p:cNvSpPr>
          <p:nvPr/>
        </p:nvSpPr>
        <p:spPr bwMode="auto">
          <a:xfrm>
            <a:off x="7072015" y="588298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014615" y="6324305"/>
            <a:ext cx="609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zh-CN" altLang="en-US" sz="3000" b="1">
                <a:latin typeface="Arial" panose="020B0604020202020204" pitchFamily="34" charset="0"/>
              </a:rPr>
              <a:t>0</a:t>
            </a:r>
            <a:endParaRPr kumimoji="0" lang="zh-CN" altLang="en-US" sz="3000" b="1">
              <a:latin typeface="Arial" panose="020B0604020202020204" pitchFamily="34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6310015" y="6340180"/>
            <a:ext cx="609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zh-CN" altLang="en-US" sz="3000" b="1">
                <a:latin typeface="Arial" panose="020B0604020202020204" pitchFamily="34" charset="0"/>
              </a:rPr>
              <a:t>2</a:t>
            </a:r>
            <a:endParaRPr kumimoji="0" lang="zh-CN" altLang="en-US" sz="3000" b="1">
              <a:latin typeface="Arial" panose="020B0604020202020204" pitchFamily="34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7376815" y="6340180"/>
            <a:ext cx="609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zh-CN" altLang="en-US" sz="3000" b="1">
                <a:latin typeface="Arial" panose="020B0604020202020204" pitchFamily="34" charset="0"/>
              </a:rPr>
              <a:t>3</a:t>
            </a:r>
            <a:endParaRPr kumimoji="0" lang="zh-CN" altLang="en-US" sz="3000" b="1">
              <a:latin typeface="Arial" panose="020B0604020202020204" pitchFamily="34" charset="0"/>
            </a:endParaRP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5624215" y="2987380"/>
            <a:ext cx="60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lang="en-US" altLang="zh-CN" sz="32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9891415" y="6340180"/>
            <a:ext cx="609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CN" sz="3000" b="1" i="1">
                <a:latin typeface="Arial" panose="020B0604020202020204" pitchFamily="34" charset="0"/>
              </a:rPr>
              <a:t>x</a:t>
            </a:r>
            <a:endParaRPr kumimoji="0" lang="en-US" altLang="zh-CN" sz="3000" b="1" i="1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 txBox="1">
            <a:spLocks noChangeArrowheads="1"/>
          </p:cNvSpPr>
          <p:nvPr/>
        </p:nvSpPr>
        <p:spPr bwMode="auto">
          <a:xfrm>
            <a:off x="2114550" y="1167009"/>
            <a:ext cx="828040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sz="2400" b="1" dirty="0"/>
              <a:t>原理：</a:t>
            </a:r>
            <a:r>
              <a:rPr lang="zh-CN" altLang="en-US" sz="2400" b="1" dirty="0">
                <a:solidFill>
                  <a:srgbClr val="FF0000"/>
                </a:solidFill>
              </a:rPr>
              <a:t>零点定理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确定隔根区间</a:t>
            </a:r>
            <a:r>
              <a:rPr lang="en-US" altLang="zh-CN" sz="2400" b="1" dirty="0"/>
              <a:t>)</a:t>
            </a:r>
            <a:r>
              <a:rPr lang="zh-CN" altLang="en-US" sz="2400" dirty="0"/>
              <a:t>：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    </a:t>
            </a:r>
            <a:r>
              <a:rPr lang="zh-CN" altLang="en-US" sz="2400" dirty="0"/>
              <a:t>设                            ，且                        ，则方程               在区间              上至少有一个根。如果              在               上恒正或恒负（</a:t>
            </a:r>
            <a:r>
              <a:rPr lang="en-US" altLang="zh-CN" sz="2400" dirty="0"/>
              <a:t>f’(x)&lt;&gt;0)</a:t>
            </a:r>
            <a:r>
              <a:rPr lang="zh-CN" altLang="en-US" sz="2400" dirty="0"/>
              <a:t>，则此根唯一。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71" name="Object 7"/>
              <p:cNvSpPr txBox="1"/>
              <p:nvPr/>
            </p:nvSpPr>
            <p:spPr bwMode="auto">
              <a:xfrm>
                <a:off x="3267868" y="1944396"/>
                <a:ext cx="2087563" cy="473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17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7868" y="1944396"/>
                <a:ext cx="2087563" cy="473075"/>
              </a:xfrm>
              <a:prstGeom prst="rect">
                <a:avLst/>
              </a:prstGeom>
              <a:blipFill rotWithShape="1">
                <a:blip r:embed="rId1"/>
                <a:stretch>
                  <a:fillRect l="-8" t="-5" r="23" b="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72" name="Object 8"/>
              <p:cNvSpPr txBox="1"/>
              <p:nvPr/>
            </p:nvSpPr>
            <p:spPr bwMode="auto">
              <a:xfrm>
                <a:off x="6001940" y="1938581"/>
                <a:ext cx="1873250" cy="441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17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01940" y="1938581"/>
                <a:ext cx="1873250" cy="441325"/>
              </a:xfrm>
              <a:prstGeom prst="rect">
                <a:avLst/>
              </a:prstGeom>
              <a:blipFill rotWithShape="1">
                <a:blip r:embed="rId2"/>
                <a:stretch>
                  <a:fillRect l="-30" t="-127" r="30" b="1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73" name="Object 9"/>
              <p:cNvSpPr txBox="1"/>
              <p:nvPr/>
            </p:nvSpPr>
            <p:spPr bwMode="auto">
              <a:xfrm>
                <a:off x="3554412" y="2501843"/>
                <a:ext cx="865187" cy="490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17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4412" y="2501843"/>
                <a:ext cx="865187" cy="490538"/>
              </a:xfrm>
              <a:prstGeom prst="rect">
                <a:avLst/>
              </a:prstGeom>
              <a:blipFill rotWithShape="1">
                <a:blip r:embed="rId3"/>
                <a:stretch>
                  <a:fillRect l="-37" t="-118" r="73" b="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74" name="Object 10"/>
              <p:cNvSpPr txBox="1"/>
              <p:nvPr/>
            </p:nvSpPr>
            <p:spPr bwMode="auto">
              <a:xfrm>
                <a:off x="7772402" y="2516925"/>
                <a:ext cx="835025" cy="460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174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2402" y="2516925"/>
                <a:ext cx="835025" cy="460375"/>
              </a:xfrm>
              <a:prstGeom prst="rect">
                <a:avLst/>
              </a:prstGeom>
              <a:blipFill rotWithShape="1">
                <a:blip r:embed="rId4"/>
                <a:stretch>
                  <a:fillRect t="-91" b="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75" name="Object 11"/>
              <p:cNvSpPr txBox="1"/>
              <p:nvPr/>
            </p:nvSpPr>
            <p:spPr bwMode="auto">
              <a:xfrm>
                <a:off x="9035980" y="2475912"/>
                <a:ext cx="790575" cy="450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17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35980" y="2475912"/>
                <a:ext cx="790575" cy="450850"/>
              </a:xfrm>
              <a:prstGeom prst="rect">
                <a:avLst/>
              </a:prstGeom>
              <a:blipFill rotWithShape="1">
                <a:blip r:embed="rId5"/>
                <a:stretch>
                  <a:fillRect l="-71" t="-10" r="71" b="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76" name="Object 7"/>
              <p:cNvSpPr txBox="1"/>
              <p:nvPr/>
            </p:nvSpPr>
            <p:spPr bwMode="auto">
              <a:xfrm>
                <a:off x="9036208" y="1961859"/>
                <a:ext cx="1295400" cy="4556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176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36208" y="1961859"/>
                <a:ext cx="1295400" cy="455612"/>
              </a:xfrm>
              <a:prstGeom prst="rect">
                <a:avLst/>
              </a:prstGeom>
              <a:blipFill rotWithShape="1">
                <a:blip r:embed="rId6"/>
                <a:stretch>
                  <a:fillRect l="-12" t="-76" r="12" b="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77" name="组合 40"/>
          <p:cNvGrpSpPr/>
          <p:nvPr/>
        </p:nvGrpSpPr>
        <p:grpSpPr bwMode="auto">
          <a:xfrm>
            <a:off x="3359150" y="3716338"/>
            <a:ext cx="5105400" cy="2376487"/>
            <a:chOff x="1835696" y="3717032"/>
            <a:chExt cx="5105400" cy="2376488"/>
          </a:xfrm>
        </p:grpSpPr>
        <p:grpSp>
          <p:nvGrpSpPr>
            <p:cNvPr id="7178" name="Group 6"/>
            <p:cNvGrpSpPr/>
            <p:nvPr/>
          </p:nvGrpSpPr>
          <p:grpSpPr bwMode="auto">
            <a:xfrm>
              <a:off x="5436146" y="3717032"/>
              <a:ext cx="456565" cy="1751898"/>
              <a:chOff x="3408" y="336"/>
              <a:chExt cx="288" cy="1104"/>
            </a:xfrm>
          </p:grpSpPr>
          <p:sp>
            <p:nvSpPr>
              <p:cNvPr id="7188" name="Line 7"/>
              <p:cNvSpPr>
                <a:spLocks noChangeShapeType="1"/>
              </p:cNvSpPr>
              <p:nvPr/>
            </p:nvSpPr>
            <p:spPr bwMode="auto">
              <a:xfrm>
                <a:off x="3504" y="336"/>
                <a:ext cx="0" cy="864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9" name="Text Box 8"/>
              <p:cNvSpPr txBox="1">
                <a:spLocks noChangeArrowheads="1"/>
              </p:cNvSpPr>
              <p:nvPr/>
            </p:nvSpPr>
            <p:spPr bwMode="auto">
              <a:xfrm>
                <a:off x="3408" y="115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solidFill>
                      <a:srgbClr val="000000"/>
                    </a:solidFill>
                  </a:rPr>
                  <a:t>b</a:t>
                </a:r>
                <a:endParaRPr lang="en-US" altLang="zh-CN" sz="2400" b="1"/>
              </a:p>
            </p:txBody>
          </p:sp>
        </p:grpSp>
        <p:grpSp>
          <p:nvGrpSpPr>
            <p:cNvPr id="7179" name="Group 11"/>
            <p:cNvGrpSpPr/>
            <p:nvPr/>
          </p:nvGrpSpPr>
          <p:grpSpPr bwMode="auto">
            <a:xfrm>
              <a:off x="1835696" y="3717032"/>
              <a:ext cx="5105400" cy="2056576"/>
              <a:chOff x="1152" y="336"/>
              <a:chExt cx="3216" cy="1296"/>
            </a:xfrm>
          </p:grpSpPr>
          <p:sp>
            <p:nvSpPr>
              <p:cNvPr id="7184" name="Line 12"/>
              <p:cNvSpPr>
                <a:spLocks noChangeShapeType="1"/>
              </p:cNvSpPr>
              <p:nvPr/>
            </p:nvSpPr>
            <p:spPr bwMode="auto">
              <a:xfrm>
                <a:off x="1152" y="1200"/>
                <a:ext cx="3216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5" name="Freeform 13"/>
              <p:cNvSpPr/>
              <p:nvPr/>
            </p:nvSpPr>
            <p:spPr bwMode="auto">
              <a:xfrm>
                <a:off x="1584" y="336"/>
                <a:ext cx="1920" cy="1296"/>
              </a:xfrm>
              <a:custGeom>
                <a:avLst/>
                <a:gdLst>
                  <a:gd name="T0" fmla="*/ 0 w 1920"/>
                  <a:gd name="T1" fmla="*/ 1296 h 1296"/>
                  <a:gd name="T2" fmla="*/ 672 w 1920"/>
                  <a:gd name="T3" fmla="*/ 1152 h 1296"/>
                  <a:gd name="T4" fmla="*/ 1248 w 1920"/>
                  <a:gd name="T5" fmla="*/ 960 h 1296"/>
                  <a:gd name="T6" fmla="*/ 1536 w 1920"/>
                  <a:gd name="T7" fmla="*/ 768 h 1296"/>
                  <a:gd name="T8" fmla="*/ 1776 w 1920"/>
                  <a:gd name="T9" fmla="*/ 384 h 1296"/>
                  <a:gd name="T10" fmla="*/ 1920 w 1920"/>
                  <a:gd name="T11" fmla="*/ 0 h 12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20"/>
                  <a:gd name="T19" fmla="*/ 0 h 1296"/>
                  <a:gd name="T20" fmla="*/ 1920 w 1920"/>
                  <a:gd name="T21" fmla="*/ 1296 h 129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20" h="1296">
                    <a:moveTo>
                      <a:pt x="0" y="1296"/>
                    </a:moveTo>
                    <a:cubicBezTo>
                      <a:pt x="232" y="1252"/>
                      <a:pt x="464" y="1208"/>
                      <a:pt x="672" y="1152"/>
                    </a:cubicBezTo>
                    <a:cubicBezTo>
                      <a:pt x="880" y="1096"/>
                      <a:pt x="1104" y="1024"/>
                      <a:pt x="1248" y="960"/>
                    </a:cubicBezTo>
                    <a:cubicBezTo>
                      <a:pt x="1392" y="896"/>
                      <a:pt x="1448" y="864"/>
                      <a:pt x="1536" y="768"/>
                    </a:cubicBezTo>
                    <a:cubicBezTo>
                      <a:pt x="1624" y="672"/>
                      <a:pt x="1712" y="512"/>
                      <a:pt x="1776" y="384"/>
                    </a:cubicBezTo>
                    <a:cubicBezTo>
                      <a:pt x="1840" y="256"/>
                      <a:pt x="1880" y="128"/>
                      <a:pt x="1920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6" name="Oval 14"/>
              <p:cNvSpPr>
                <a:spLocks noChangeArrowheads="1"/>
              </p:cNvSpPr>
              <p:nvPr/>
            </p:nvSpPr>
            <p:spPr bwMode="auto">
              <a:xfrm>
                <a:off x="2976" y="1173"/>
                <a:ext cx="70" cy="7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7187" name="Text Box 15"/>
              <p:cNvSpPr txBox="1">
                <a:spLocks noChangeArrowheads="1"/>
              </p:cNvSpPr>
              <p:nvPr/>
            </p:nvSpPr>
            <p:spPr bwMode="auto">
              <a:xfrm>
                <a:off x="2871" y="94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/>
                  <a:t>x*</a:t>
                </a:r>
                <a:endParaRPr lang="en-US" altLang="zh-CN" sz="2400" b="1"/>
              </a:p>
            </p:txBody>
          </p:sp>
        </p:grpSp>
        <p:grpSp>
          <p:nvGrpSpPr>
            <p:cNvPr id="7180" name="Group 17"/>
            <p:cNvGrpSpPr/>
            <p:nvPr/>
          </p:nvGrpSpPr>
          <p:grpSpPr bwMode="auto">
            <a:xfrm>
              <a:off x="2407196" y="4707235"/>
              <a:ext cx="381000" cy="1077798"/>
              <a:chOff x="1488" y="960"/>
              <a:chExt cx="240" cy="672"/>
            </a:xfrm>
          </p:grpSpPr>
          <p:sp>
            <p:nvSpPr>
              <p:cNvPr id="7182" name="Line 18"/>
              <p:cNvSpPr>
                <a:spLocks noChangeShapeType="1"/>
              </p:cNvSpPr>
              <p:nvPr/>
            </p:nvSpPr>
            <p:spPr bwMode="auto">
              <a:xfrm flipV="1">
                <a:off x="1584" y="1200"/>
                <a:ext cx="0" cy="432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" name="Text Box 19"/>
              <p:cNvSpPr txBox="1">
                <a:spLocks noChangeArrowheads="1"/>
              </p:cNvSpPr>
              <p:nvPr/>
            </p:nvSpPr>
            <p:spPr bwMode="auto">
              <a:xfrm>
                <a:off x="1488" y="96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solidFill>
                      <a:srgbClr val="000000"/>
                    </a:solidFill>
                  </a:rPr>
                  <a:t>a</a:t>
                </a:r>
                <a:endParaRPr lang="en-US" altLang="zh-CN" sz="2400" b="1"/>
              </a:p>
            </p:txBody>
          </p:sp>
        </p:grpSp>
        <p:sp>
          <p:nvSpPr>
            <p:cNvPr id="7181" name="Line 20"/>
            <p:cNvSpPr>
              <a:spLocks noChangeShapeType="1"/>
            </p:cNvSpPr>
            <p:nvPr/>
          </p:nvSpPr>
          <p:spPr bwMode="auto">
            <a:xfrm flipV="1">
              <a:off x="3092996" y="4014093"/>
              <a:ext cx="0" cy="20794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734903" y="626222"/>
            <a:ext cx="6391494" cy="50270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457200" indent="-457200" algn="ctr">
              <a:lnSpc>
                <a:spcPts val="32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CN" sz="2800" kern="0" dirty="0">
                <a:latin typeface="+mn-ea"/>
                <a:ea typeface="+mn-ea"/>
              </a:rPr>
              <a:t>2.</a:t>
            </a:r>
            <a:r>
              <a:rPr lang="zh-CN" altLang="en-US" sz="2800" kern="0" dirty="0">
                <a:latin typeface="+mn-ea"/>
                <a:ea typeface="+mn-ea"/>
              </a:rPr>
              <a:t>计算机方法：搜索法</a:t>
            </a:r>
            <a:r>
              <a:rPr lang="en-US" altLang="zh-CN" sz="2800" kern="0" dirty="0">
                <a:latin typeface="+mn-ea"/>
                <a:ea typeface="+mn-ea"/>
              </a:rPr>
              <a:t>(</a:t>
            </a:r>
            <a:r>
              <a:rPr lang="zh-CN" altLang="en-US" sz="2800" kern="0" dirty="0">
                <a:latin typeface="+mn-ea"/>
                <a:ea typeface="+mn-ea"/>
              </a:rPr>
              <a:t>逐步扫描法</a:t>
            </a:r>
            <a:r>
              <a:rPr lang="en-US" altLang="zh-CN" sz="2800" kern="0" dirty="0">
                <a:latin typeface="+mn-ea"/>
                <a:ea typeface="+mn-ea"/>
              </a:rPr>
              <a:t>)</a:t>
            </a:r>
            <a:endParaRPr lang="zh-CN" altLang="en-US" sz="2800" kern="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279650" y="765175"/>
            <a:ext cx="7772400" cy="453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Tx/>
              <a:buNone/>
            </a:pPr>
            <a:r>
              <a:rPr lang="en-US" altLang="zh-CN" sz="2800"/>
              <a:t>【</a:t>
            </a:r>
            <a:r>
              <a:rPr lang="zh-CN" altLang="en-US" sz="2800"/>
              <a:t>例</a:t>
            </a:r>
            <a:r>
              <a:rPr lang="en-US" altLang="zh-CN" sz="2800"/>
              <a:t>】</a:t>
            </a:r>
            <a:r>
              <a:rPr lang="zh-CN" altLang="en-US" sz="2800"/>
              <a:t> 设方程</a:t>
            </a:r>
            <a:endParaRPr lang="zh-CN" altLang="en-US" sz="280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  <a:r>
              <a:rPr lang="zh-CN" altLang="en-US" b="1"/>
              <a:t>解</a:t>
            </a:r>
            <a:r>
              <a:rPr lang="zh-CN" altLang="en-US"/>
              <a:t>：取</a:t>
            </a:r>
            <a:r>
              <a:rPr lang="en-US" altLang="zh-CN" i="1"/>
              <a:t>h</a:t>
            </a:r>
            <a:r>
              <a:rPr lang="en-US" altLang="zh-CN"/>
              <a:t>=0.1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扫描得：</a:t>
            </a:r>
            <a:endParaRPr lang="zh-CN" altLang="en-US"/>
          </a:p>
          <a:p>
            <a:pPr lvl="1">
              <a:lnSpc>
                <a:spcPct val="150000"/>
              </a:lnSpc>
            </a:pPr>
            <a:endParaRPr lang="zh-CN" altLang="en-US"/>
          </a:p>
          <a:p>
            <a:pPr lvl="1">
              <a:lnSpc>
                <a:spcPct val="150000"/>
              </a:lnSpc>
            </a:pPr>
            <a:endParaRPr lang="zh-CN" altLang="en-US"/>
          </a:p>
          <a:p>
            <a:pPr lvl="1">
              <a:lnSpc>
                <a:spcPct val="150000"/>
              </a:lnSpc>
            </a:pPr>
            <a:endParaRPr lang="zh-CN" altLang="en-US"/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  又</a:t>
            </a:r>
            <a:endParaRPr lang="zh-CN" altLang="en-US"/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  即                在               有唯一根。 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Object 9"/>
              <p:cNvSpPr txBox="1"/>
              <p:nvPr/>
            </p:nvSpPr>
            <p:spPr bwMode="auto">
              <a:xfrm>
                <a:off x="4714875" y="908050"/>
                <a:ext cx="5238750" cy="485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],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195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14875" y="908050"/>
                <a:ext cx="5238750" cy="485775"/>
              </a:xfrm>
              <a:prstGeom prst="rect">
                <a:avLst/>
              </a:prstGeom>
              <a:blipFill rotWithShape="1">
                <a:blip r:embed="rId1"/>
                <a:stretch>
                  <a:fillRect b="-462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0"/>
              <p:cNvSpPr txBox="1"/>
              <p:nvPr/>
            </p:nvSpPr>
            <p:spPr bwMode="auto">
              <a:xfrm>
                <a:off x="4511675" y="2428875"/>
                <a:ext cx="2592388" cy="947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344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11675" y="2428875"/>
                <a:ext cx="2592388" cy="947738"/>
              </a:xfrm>
              <a:prstGeom prst="rect">
                <a:avLst/>
              </a:prstGeom>
              <a:blipFill rotWithShape="1">
                <a:blip r:embed="rId2"/>
                <a:stretch>
                  <a:fillRect r="12" b="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Object 11"/>
          <p:cNvGraphicFramePr>
            <a:graphicFrameLocks noChangeAspect="1"/>
          </p:cNvGraphicFramePr>
          <p:nvPr/>
        </p:nvGraphicFramePr>
        <p:xfrm>
          <a:off x="2955925" y="3716338"/>
          <a:ext cx="49149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84" name="Equation" r:id="rId3" imgW="36204525" imgH="4829175" progId="Equation.DSMT4">
                  <p:embed/>
                </p:oleObj>
              </mc:Choice>
              <mc:Fallback>
                <p:oleObj name="Equation" r:id="rId3" imgW="36204525" imgH="482917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925" y="3716338"/>
                        <a:ext cx="49149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12"/>
              <p:cNvSpPr txBox="1"/>
              <p:nvPr/>
            </p:nvSpPr>
            <p:spPr bwMode="auto">
              <a:xfrm>
                <a:off x="3633788" y="4508500"/>
                <a:ext cx="4637087" cy="504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3788" y="4508500"/>
                <a:ext cx="4637087" cy="504825"/>
              </a:xfrm>
              <a:prstGeom prst="rect">
                <a:avLst/>
              </a:prstGeom>
              <a:blipFill rotWithShape="1">
                <a:blip r:embed="rId5"/>
                <a:stretch>
                  <a:fillRect l="-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13"/>
              <p:cNvSpPr txBox="1"/>
              <p:nvPr/>
            </p:nvSpPr>
            <p:spPr bwMode="auto">
              <a:xfrm>
                <a:off x="3432175" y="5300663"/>
                <a:ext cx="1331913" cy="466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5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2175" y="5300663"/>
                <a:ext cx="1331913" cy="466725"/>
              </a:xfrm>
              <a:prstGeom prst="rect">
                <a:avLst/>
              </a:prstGeom>
              <a:blipFill rotWithShape="1">
                <a:blip r:embed="rId6"/>
                <a:stretch>
                  <a:fillRect t="-68" r="24" b="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bject 14"/>
              <p:cNvSpPr txBox="1"/>
              <p:nvPr/>
            </p:nvSpPr>
            <p:spPr bwMode="auto">
              <a:xfrm>
                <a:off x="5159375" y="5300663"/>
                <a:ext cx="1208088" cy="439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6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59375" y="5300663"/>
                <a:ext cx="1208088" cy="439737"/>
              </a:xfrm>
              <a:prstGeom prst="rect">
                <a:avLst/>
              </a:prstGeom>
              <a:blipFill rotWithShape="1">
                <a:blip r:embed="rId7"/>
                <a:stretch>
                  <a:fillRect t="-72" r="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矩形 6"/>
          <p:cNvSpPr>
            <a:spLocks noChangeArrowheads="1"/>
          </p:cNvSpPr>
          <p:nvPr/>
        </p:nvSpPr>
        <p:spPr bwMode="auto">
          <a:xfrm>
            <a:off x="1984375" y="333375"/>
            <a:ext cx="21653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§3.3 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二分法</a:t>
            </a:r>
            <a:endParaRPr lang="zh-CN" altLang="en-US" sz="28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9219" name="Rectangle 2"/>
          <p:cNvSpPr txBox="1">
            <a:spLocks noChangeArrowheads="1"/>
          </p:cNvSpPr>
          <p:nvPr/>
        </p:nvSpPr>
        <p:spPr bwMode="auto">
          <a:xfrm>
            <a:off x="1919288" y="981075"/>
            <a:ext cx="8569325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</a:t>
            </a:r>
            <a:r>
              <a:rPr lang="zh-CN" altLang="en-US" sz="2400"/>
              <a:t>设有非线性方程 </a:t>
            </a:r>
            <a:r>
              <a:rPr lang="en-US" altLang="zh-CN" sz="2400" i="1"/>
              <a:t>f </a:t>
            </a:r>
            <a:r>
              <a:rPr lang="en-US" altLang="zh-CN" sz="2400"/>
              <a:t>(</a:t>
            </a:r>
            <a:r>
              <a:rPr lang="en-US" altLang="zh-CN" sz="2400" i="1"/>
              <a:t>x</a:t>
            </a:r>
            <a:r>
              <a:rPr lang="en-US" altLang="zh-CN" sz="2400"/>
              <a:t>) </a:t>
            </a:r>
            <a:r>
              <a:rPr lang="en-US" altLang="zh-CN" sz="2400" i="1"/>
              <a:t>=</a:t>
            </a:r>
            <a:r>
              <a:rPr lang="en-US" altLang="zh-CN" sz="2400"/>
              <a:t>0</a:t>
            </a:r>
            <a:endParaRPr lang="en-US" altLang="zh-CN" sz="240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其中， </a:t>
            </a:r>
            <a:r>
              <a:rPr lang="en-US" altLang="zh-CN" sz="2400" i="1"/>
              <a:t>f </a:t>
            </a:r>
            <a:r>
              <a:rPr lang="en-US" altLang="zh-CN" sz="2400"/>
              <a:t>(</a:t>
            </a:r>
            <a:r>
              <a:rPr lang="en-US" altLang="zh-CN" sz="2400" i="1"/>
              <a:t>x</a:t>
            </a:r>
            <a:r>
              <a:rPr lang="en-US" altLang="zh-CN" sz="2400"/>
              <a:t>)</a:t>
            </a:r>
            <a:r>
              <a:rPr lang="zh-CN" altLang="en-US" sz="2400"/>
              <a:t>在 </a:t>
            </a:r>
            <a:r>
              <a:rPr lang="en-US" altLang="zh-CN" sz="2400"/>
              <a:t>[a ,b] </a:t>
            </a:r>
            <a:r>
              <a:rPr lang="zh-CN" altLang="en-US" sz="2400"/>
              <a:t>上连续，且</a:t>
            </a:r>
            <a:r>
              <a:rPr lang="zh-CN" altLang="en-US" sz="2400" i="1"/>
              <a:t> </a:t>
            </a:r>
            <a:r>
              <a:rPr lang="en-US" altLang="zh-CN" sz="2400" i="1"/>
              <a:t>f </a:t>
            </a:r>
            <a:r>
              <a:rPr lang="en-US" altLang="zh-CN" sz="2400"/>
              <a:t>(</a:t>
            </a:r>
            <a:r>
              <a:rPr lang="en-US" altLang="zh-CN" sz="2400" i="1"/>
              <a:t>a</a:t>
            </a:r>
            <a:r>
              <a:rPr lang="en-US" altLang="zh-CN" sz="2400"/>
              <a:t>) </a:t>
            </a:r>
            <a:r>
              <a:rPr lang="en-US" altLang="zh-CN" sz="2400" i="1"/>
              <a:t>f </a:t>
            </a:r>
            <a:r>
              <a:rPr lang="en-US" altLang="zh-CN" sz="2400"/>
              <a:t>(</a:t>
            </a:r>
            <a:r>
              <a:rPr lang="en-US" altLang="zh-CN" sz="2400" i="1"/>
              <a:t>b</a:t>
            </a:r>
            <a:r>
              <a:rPr lang="en-US" altLang="zh-CN" sz="2400"/>
              <a:t>)&lt;0</a:t>
            </a:r>
            <a:r>
              <a:rPr lang="zh-CN" altLang="en-US" sz="2400"/>
              <a:t>，并设方程于 </a:t>
            </a:r>
            <a:r>
              <a:rPr lang="en-US" altLang="zh-CN" sz="2400"/>
              <a:t>[</a:t>
            </a:r>
            <a:r>
              <a:rPr lang="en-US" altLang="zh-CN" sz="2400" i="1"/>
              <a:t>a ,b</a:t>
            </a:r>
            <a:r>
              <a:rPr lang="en-US" altLang="zh-CN" sz="2400"/>
              <a:t>] </a:t>
            </a:r>
            <a:r>
              <a:rPr lang="zh-CN" altLang="en-US" sz="2400"/>
              <a:t>内仅有一个实根。</a:t>
            </a:r>
            <a:endParaRPr lang="zh-CN" altLang="en-US" sz="2400"/>
          </a:p>
        </p:txBody>
      </p:sp>
      <p:grpSp>
        <p:nvGrpSpPr>
          <p:cNvPr id="9220" name="Group 3"/>
          <p:cNvGrpSpPr>
            <a:grpSpLocks noChangeAspect="1"/>
          </p:cNvGrpSpPr>
          <p:nvPr/>
        </p:nvGrpSpPr>
        <p:grpSpPr bwMode="auto">
          <a:xfrm>
            <a:off x="3651250" y="3789363"/>
            <a:ext cx="5105400" cy="2376487"/>
            <a:chOff x="1820" y="1528"/>
            <a:chExt cx="8040" cy="3744"/>
          </a:xfrm>
        </p:grpSpPr>
        <p:sp>
          <p:nvSpPr>
            <p:cNvPr id="9222" name="Line 5"/>
            <p:cNvSpPr>
              <a:spLocks noChangeShapeType="1"/>
            </p:cNvSpPr>
            <p:nvPr/>
          </p:nvSpPr>
          <p:spPr bwMode="auto">
            <a:xfrm>
              <a:off x="5443" y="3688"/>
              <a:ext cx="0" cy="48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223" name="Group 6"/>
            <p:cNvGrpSpPr/>
            <p:nvPr/>
          </p:nvGrpSpPr>
          <p:grpSpPr bwMode="auto">
            <a:xfrm>
              <a:off x="7490" y="1528"/>
              <a:ext cx="719" cy="2760"/>
              <a:chOff x="3408" y="336"/>
              <a:chExt cx="288" cy="1104"/>
            </a:xfrm>
          </p:grpSpPr>
          <p:sp>
            <p:nvSpPr>
              <p:cNvPr id="9240" name="Line 7"/>
              <p:cNvSpPr>
                <a:spLocks noChangeShapeType="1"/>
              </p:cNvSpPr>
              <p:nvPr/>
            </p:nvSpPr>
            <p:spPr bwMode="auto">
              <a:xfrm>
                <a:off x="3504" y="336"/>
                <a:ext cx="0" cy="864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1" name="Text Box 8"/>
              <p:cNvSpPr txBox="1">
                <a:spLocks noChangeArrowheads="1"/>
              </p:cNvSpPr>
              <p:nvPr/>
            </p:nvSpPr>
            <p:spPr bwMode="auto">
              <a:xfrm>
                <a:off x="3408" y="115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solidFill>
                      <a:srgbClr val="000000"/>
                    </a:solidFill>
                  </a:rPr>
                  <a:t>b</a:t>
                </a:r>
                <a:endParaRPr lang="en-US" altLang="zh-CN" sz="2400" b="1"/>
              </a:p>
            </p:txBody>
          </p:sp>
        </p:grpSp>
        <p:sp>
          <p:nvSpPr>
            <p:cNvPr id="9224" name="Text Box 9"/>
            <p:cNvSpPr txBox="1">
              <a:spLocks noChangeArrowheads="1"/>
            </p:cNvSpPr>
            <p:nvPr/>
          </p:nvSpPr>
          <p:spPr bwMode="auto">
            <a:xfrm>
              <a:off x="5180" y="3027"/>
              <a:ext cx="840" cy="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</a:rPr>
                <a:t>a</a:t>
              </a:r>
              <a:r>
                <a:rPr lang="en-US" altLang="zh-CN" sz="2400" b="1" baseline="-25000">
                  <a:solidFill>
                    <a:srgbClr val="000000"/>
                  </a:solidFill>
                </a:rPr>
                <a:t>1</a:t>
              </a:r>
              <a:endParaRPr lang="en-US" altLang="zh-CN" sz="2400" b="1"/>
            </a:p>
          </p:txBody>
        </p:sp>
        <p:sp>
          <p:nvSpPr>
            <p:cNvPr id="9225" name="Text Box 10"/>
            <p:cNvSpPr txBox="1">
              <a:spLocks noChangeArrowheads="1"/>
            </p:cNvSpPr>
            <p:nvPr/>
          </p:nvSpPr>
          <p:spPr bwMode="auto">
            <a:xfrm>
              <a:off x="6515" y="3532"/>
              <a:ext cx="840" cy="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</a:rPr>
                <a:t>b</a:t>
              </a:r>
              <a:r>
                <a:rPr lang="en-US" altLang="zh-CN" sz="2400" b="1" baseline="-25000">
                  <a:solidFill>
                    <a:srgbClr val="000000"/>
                  </a:solidFill>
                </a:rPr>
                <a:t>2</a:t>
              </a:r>
              <a:endParaRPr lang="en-US" altLang="zh-CN" sz="2400" b="1"/>
            </a:p>
          </p:txBody>
        </p:sp>
        <p:grpSp>
          <p:nvGrpSpPr>
            <p:cNvPr id="9226" name="Group 11"/>
            <p:cNvGrpSpPr/>
            <p:nvPr/>
          </p:nvGrpSpPr>
          <p:grpSpPr bwMode="auto">
            <a:xfrm>
              <a:off x="1820" y="1528"/>
              <a:ext cx="8040" cy="3240"/>
              <a:chOff x="1152" y="336"/>
              <a:chExt cx="3216" cy="1296"/>
            </a:xfrm>
          </p:grpSpPr>
          <p:sp>
            <p:nvSpPr>
              <p:cNvPr id="9236" name="Line 12"/>
              <p:cNvSpPr>
                <a:spLocks noChangeShapeType="1"/>
              </p:cNvSpPr>
              <p:nvPr/>
            </p:nvSpPr>
            <p:spPr bwMode="auto">
              <a:xfrm>
                <a:off x="1152" y="1200"/>
                <a:ext cx="3216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7" name="Freeform 13"/>
              <p:cNvSpPr/>
              <p:nvPr/>
            </p:nvSpPr>
            <p:spPr bwMode="auto">
              <a:xfrm>
                <a:off x="1584" y="336"/>
                <a:ext cx="1920" cy="1296"/>
              </a:xfrm>
              <a:custGeom>
                <a:avLst/>
                <a:gdLst>
                  <a:gd name="T0" fmla="*/ 0 w 1920"/>
                  <a:gd name="T1" fmla="*/ 1296 h 1296"/>
                  <a:gd name="T2" fmla="*/ 672 w 1920"/>
                  <a:gd name="T3" fmla="*/ 1152 h 1296"/>
                  <a:gd name="T4" fmla="*/ 1248 w 1920"/>
                  <a:gd name="T5" fmla="*/ 960 h 1296"/>
                  <a:gd name="T6" fmla="*/ 1536 w 1920"/>
                  <a:gd name="T7" fmla="*/ 768 h 1296"/>
                  <a:gd name="T8" fmla="*/ 1776 w 1920"/>
                  <a:gd name="T9" fmla="*/ 384 h 1296"/>
                  <a:gd name="T10" fmla="*/ 1920 w 1920"/>
                  <a:gd name="T11" fmla="*/ 0 h 12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20"/>
                  <a:gd name="T19" fmla="*/ 0 h 1296"/>
                  <a:gd name="T20" fmla="*/ 1920 w 1920"/>
                  <a:gd name="T21" fmla="*/ 1296 h 129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20" h="1296">
                    <a:moveTo>
                      <a:pt x="0" y="1296"/>
                    </a:moveTo>
                    <a:cubicBezTo>
                      <a:pt x="232" y="1252"/>
                      <a:pt x="464" y="1208"/>
                      <a:pt x="672" y="1152"/>
                    </a:cubicBezTo>
                    <a:cubicBezTo>
                      <a:pt x="880" y="1096"/>
                      <a:pt x="1104" y="1024"/>
                      <a:pt x="1248" y="960"/>
                    </a:cubicBezTo>
                    <a:cubicBezTo>
                      <a:pt x="1392" y="896"/>
                      <a:pt x="1448" y="864"/>
                      <a:pt x="1536" y="768"/>
                    </a:cubicBezTo>
                    <a:cubicBezTo>
                      <a:pt x="1624" y="672"/>
                      <a:pt x="1712" y="512"/>
                      <a:pt x="1776" y="384"/>
                    </a:cubicBezTo>
                    <a:cubicBezTo>
                      <a:pt x="1840" y="256"/>
                      <a:pt x="1880" y="128"/>
                      <a:pt x="1920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8" name="Oval 14"/>
              <p:cNvSpPr>
                <a:spLocks noChangeArrowheads="1"/>
              </p:cNvSpPr>
              <p:nvPr/>
            </p:nvSpPr>
            <p:spPr bwMode="auto">
              <a:xfrm>
                <a:off x="2976" y="1173"/>
                <a:ext cx="70" cy="7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239" name="Text Box 15"/>
              <p:cNvSpPr txBox="1">
                <a:spLocks noChangeArrowheads="1"/>
              </p:cNvSpPr>
              <p:nvPr/>
            </p:nvSpPr>
            <p:spPr bwMode="auto">
              <a:xfrm>
                <a:off x="2871" y="94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/>
                  <a:t>x*</a:t>
                </a:r>
                <a:endParaRPr lang="en-US" altLang="zh-CN" sz="2400" b="1"/>
              </a:p>
            </p:txBody>
          </p:sp>
        </p:grpSp>
        <p:sp>
          <p:nvSpPr>
            <p:cNvPr id="9227" name="Line 16"/>
            <p:cNvSpPr>
              <a:spLocks noChangeShapeType="1"/>
            </p:cNvSpPr>
            <p:nvPr/>
          </p:nvSpPr>
          <p:spPr bwMode="auto">
            <a:xfrm flipH="1">
              <a:off x="6708" y="3481"/>
              <a:ext cx="0" cy="20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228" name="Group 17"/>
            <p:cNvGrpSpPr/>
            <p:nvPr/>
          </p:nvGrpSpPr>
          <p:grpSpPr bwMode="auto">
            <a:xfrm>
              <a:off x="2720" y="3088"/>
              <a:ext cx="600" cy="1698"/>
              <a:chOff x="1488" y="960"/>
              <a:chExt cx="240" cy="672"/>
            </a:xfrm>
          </p:grpSpPr>
          <p:sp>
            <p:nvSpPr>
              <p:cNvPr id="9234" name="Line 18"/>
              <p:cNvSpPr>
                <a:spLocks noChangeShapeType="1"/>
              </p:cNvSpPr>
              <p:nvPr/>
            </p:nvSpPr>
            <p:spPr bwMode="auto">
              <a:xfrm flipV="1">
                <a:off x="1584" y="1200"/>
                <a:ext cx="0" cy="432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5" name="Text Box 19"/>
              <p:cNvSpPr txBox="1">
                <a:spLocks noChangeArrowheads="1"/>
              </p:cNvSpPr>
              <p:nvPr/>
            </p:nvSpPr>
            <p:spPr bwMode="auto">
              <a:xfrm>
                <a:off x="1488" y="96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solidFill>
                      <a:srgbClr val="000000"/>
                    </a:solidFill>
                  </a:rPr>
                  <a:t>a</a:t>
                </a:r>
                <a:endParaRPr lang="en-US" altLang="zh-CN" sz="2400" b="1"/>
              </a:p>
            </p:txBody>
          </p:sp>
        </p:grpSp>
        <p:sp>
          <p:nvSpPr>
            <p:cNvPr id="9229" name="Line 20"/>
            <p:cNvSpPr>
              <a:spLocks noChangeShapeType="1"/>
            </p:cNvSpPr>
            <p:nvPr/>
          </p:nvSpPr>
          <p:spPr bwMode="auto">
            <a:xfrm flipV="1">
              <a:off x="3800" y="1996"/>
              <a:ext cx="0" cy="327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" name="AutoShape 21"/>
            <p:cNvSpPr>
              <a:spLocks noChangeArrowheads="1"/>
            </p:cNvSpPr>
            <p:nvPr/>
          </p:nvSpPr>
          <p:spPr bwMode="auto">
            <a:xfrm>
              <a:off x="7955" y="3913"/>
              <a:ext cx="360" cy="156"/>
            </a:xfrm>
            <a:prstGeom prst="rightArrow">
              <a:avLst>
                <a:gd name="adj1" fmla="val 50000"/>
                <a:gd name="adj2" fmla="val 57692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231" name="Text Box 22"/>
            <p:cNvSpPr txBox="1">
              <a:spLocks noChangeArrowheads="1"/>
            </p:cNvSpPr>
            <p:nvPr/>
          </p:nvSpPr>
          <p:spPr bwMode="auto">
            <a:xfrm>
              <a:off x="8255" y="3556"/>
              <a:ext cx="945" cy="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</a:rPr>
                <a:t>b</a:t>
              </a:r>
              <a:r>
                <a:rPr lang="en-US" altLang="zh-CN" sz="2400" b="1" baseline="-25000">
                  <a:solidFill>
                    <a:srgbClr val="000000"/>
                  </a:solidFill>
                </a:rPr>
                <a:t>1</a:t>
              </a:r>
              <a:endParaRPr lang="en-US" altLang="zh-CN" sz="2400" b="1"/>
            </a:p>
          </p:txBody>
        </p:sp>
        <p:sp>
          <p:nvSpPr>
            <p:cNvPr id="9232" name="AutoShape 23"/>
            <p:cNvSpPr>
              <a:spLocks noChangeArrowheads="1"/>
            </p:cNvSpPr>
            <p:nvPr/>
          </p:nvSpPr>
          <p:spPr bwMode="auto">
            <a:xfrm>
              <a:off x="4850" y="3400"/>
              <a:ext cx="458" cy="156"/>
            </a:xfrm>
            <a:prstGeom prst="leftArrow">
              <a:avLst>
                <a:gd name="adj1" fmla="val 50000"/>
                <a:gd name="adj2" fmla="val 142649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233" name="Text Box 24"/>
            <p:cNvSpPr txBox="1">
              <a:spLocks noChangeArrowheads="1"/>
            </p:cNvSpPr>
            <p:nvPr/>
          </p:nvSpPr>
          <p:spPr bwMode="auto">
            <a:xfrm>
              <a:off x="4265" y="3027"/>
              <a:ext cx="840" cy="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</a:rPr>
                <a:t>a</a:t>
              </a:r>
              <a:r>
                <a:rPr lang="en-US" altLang="zh-CN" sz="2400" b="1" baseline="-25000">
                  <a:solidFill>
                    <a:srgbClr val="000000"/>
                  </a:solidFill>
                </a:rPr>
                <a:t>2</a:t>
              </a:r>
              <a:endParaRPr lang="en-US" altLang="zh-CN" sz="2400" b="1"/>
            </a:p>
          </p:txBody>
        </p:sp>
      </p:grpSp>
      <p:sp>
        <p:nvSpPr>
          <p:cNvPr id="9221" name="矩形 56"/>
          <p:cNvSpPr>
            <a:spLocks noChangeArrowheads="1"/>
          </p:cNvSpPr>
          <p:nvPr/>
        </p:nvSpPr>
        <p:spPr bwMode="auto">
          <a:xfrm>
            <a:off x="2095500" y="3000375"/>
            <a:ext cx="4608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求方程实根 </a:t>
            </a:r>
            <a:r>
              <a:rPr lang="en-US" altLang="zh-CN" sz="2400" i="1">
                <a:solidFill>
                  <a:srgbClr val="000000"/>
                </a:solidFill>
              </a:rPr>
              <a:t>x* </a:t>
            </a:r>
            <a:r>
              <a:rPr lang="zh-CN" altLang="en-US" sz="2400">
                <a:solidFill>
                  <a:srgbClr val="000000"/>
                </a:solidFill>
              </a:rPr>
              <a:t>的</a:t>
            </a:r>
            <a:r>
              <a:rPr lang="zh-CN" altLang="en-US" sz="2400" b="1">
                <a:solidFill>
                  <a:srgbClr val="FF0000"/>
                </a:solidFill>
              </a:rPr>
              <a:t>二分法过程</a:t>
            </a:r>
            <a:r>
              <a:rPr lang="zh-CN" altLang="en-US" sz="2400">
                <a:solidFill>
                  <a:srgbClr val="000000"/>
                </a:solidFill>
              </a:rPr>
              <a:t>：</a:t>
            </a:r>
            <a:endParaRPr lang="zh-CN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757751" y="288279"/>
            <a:ext cx="10363200" cy="1556545"/>
          </a:xfrm>
        </p:spPr>
        <p:txBody>
          <a:bodyPr/>
          <a:lstStyle/>
          <a:p>
            <a:pPr marL="228600" lvl="2">
              <a:lnSpc>
                <a:spcPct val="150000"/>
              </a:lnSpc>
              <a:spcBef>
                <a:spcPts val="1000"/>
              </a:spcBef>
            </a:pPr>
            <a:r>
              <a:rPr lang="zh-CN" altLang="en-US" dirty="0">
                <a:ea typeface="楷体_GB2312" pitchFamily="49" charset="-122"/>
              </a:rPr>
              <a:t>基本原理</a:t>
            </a:r>
            <a:endParaRPr lang="en-US" altLang="zh-CN" dirty="0">
              <a:ea typeface="楷体_GB2312" pitchFamily="49" charset="-122"/>
            </a:endParaRPr>
          </a:p>
          <a:p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343471" y="791525"/>
            <a:ext cx="97774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   设方程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f(x)=0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在区间[</a:t>
            </a:r>
            <a:r>
              <a:rPr lang="en-US" altLang="zh-CN" dirty="0" err="1">
                <a:solidFill>
                  <a:srgbClr val="000000"/>
                </a:solidFill>
                <a:latin typeface="+mn-ea"/>
                <a:ea typeface="+mn-ea"/>
              </a:rPr>
              <a:t>a,b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]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内有根,二分法就是逐步收缩有根区间，最后得出所求的根。</a:t>
            </a:r>
            <a:endParaRPr lang="zh-CN" altLang="en-US" dirty="0">
              <a:latin typeface="+mn-ea"/>
              <a:ea typeface="+mn-ea"/>
            </a:endParaRPr>
          </a:p>
        </p:txBody>
      </p:sp>
      <p:graphicFrame>
        <p:nvGraphicFramePr>
          <p:cNvPr id="27" name="Object 34"/>
          <p:cNvGraphicFramePr>
            <a:graphicFrameLocks noChangeAspect="1"/>
          </p:cNvGraphicFramePr>
          <p:nvPr/>
        </p:nvGraphicFramePr>
        <p:xfrm>
          <a:off x="1710251" y="1718386"/>
          <a:ext cx="845820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3" name="" r:id="rId1" imgW="5486400" imgH="2073910" progId="Word.Picture.8">
                  <p:embed/>
                </p:oleObj>
              </mc:Choice>
              <mc:Fallback>
                <p:oleObj name="" r:id="rId1" imgW="5486400" imgH="2073910" progId="Word.Picture.8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0251" y="1718386"/>
                        <a:ext cx="8458200" cy="320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716208" y="4994193"/>
            <a:ext cx="9312340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ct val="5000"/>
              </a:spcBef>
            </a:pP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反复下去,若不出现          ,即可得出一系列有根区间序列：</a:t>
            </a:r>
            <a:endParaRPr kumimoji="0" lang="zh-CN" altLang="en-US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Object 22"/>
              <p:cNvSpPr txBox="1"/>
              <p:nvPr/>
            </p:nvSpPr>
            <p:spPr bwMode="auto">
              <a:xfrm>
                <a:off x="4478542" y="5015335"/>
                <a:ext cx="1447800" cy="511175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9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78542" y="5015335"/>
                <a:ext cx="1447800" cy="511175"/>
              </a:xfrm>
              <a:prstGeom prst="rect">
                <a:avLst/>
              </a:prstGeom>
              <a:blipFill rotWithShape="1">
                <a:blip r:embed="rId3"/>
                <a:stretch>
                  <a:fillRect l="-36" t="-21" r="36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bject 24"/>
              <p:cNvSpPr txBox="1"/>
              <p:nvPr/>
            </p:nvSpPr>
            <p:spPr bwMode="auto">
              <a:xfrm>
                <a:off x="2459242" y="5695328"/>
                <a:ext cx="6934200" cy="43180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⊃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⊃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⊃⋯⊃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⊃⋯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1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9242" y="5695328"/>
                <a:ext cx="6934200" cy="431800"/>
              </a:xfrm>
              <a:prstGeom prst="rect">
                <a:avLst/>
              </a:prstGeom>
              <a:blipFill rotWithShape="1">
                <a:blip r:embed="rId4"/>
                <a:stretch>
                  <a:fillRect l="-8" t="-3" r="8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/>
          <p:cNvSpPr/>
          <p:nvPr/>
        </p:nvSpPr>
        <p:spPr>
          <a:xfrm>
            <a:off x="1710251" y="6237312"/>
            <a:ext cx="8808284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当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k→∞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时区间趋近于零,这些区间最终收敛于一点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ea"/>
                <a:ea typeface="+mn-ea"/>
              </a:rPr>
              <a:t>* 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即所求的根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.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endParaRPr lang="zh-CN" altLang="en-US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911424" y="228600"/>
            <a:ext cx="10153128" cy="2899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40000"/>
              </a:lnSpc>
              <a:spcBef>
                <a:spcPct val="20000"/>
              </a:spcBef>
            </a:pPr>
            <a:r>
              <a:rPr kumimoji="0" lang="zh-CN" altLang="en-US" dirty="0">
                <a:latin typeface="+mn-ea"/>
                <a:ea typeface="+mn-ea"/>
              </a:rPr>
              <a:t>　</a:t>
            </a:r>
            <a:r>
              <a:rPr kumimoji="0" lang="zh-CN" altLang="en-US" dirty="0">
                <a:solidFill>
                  <a:srgbClr val="000000"/>
                </a:solidFill>
                <a:latin typeface="+mn-ea"/>
                <a:ea typeface="+mn-ea"/>
              </a:rPr>
              <a:t>每次二分后,取有根区间       的中点           作为根的近似值，得到一个近似根的序列</a:t>
            </a:r>
            <a:endParaRPr kumimoji="0" lang="zh-CN" altLang="en-US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0" hangingPunct="0">
              <a:lnSpc>
                <a:spcPct val="140000"/>
              </a:lnSpc>
              <a:spcBef>
                <a:spcPct val="20000"/>
              </a:spcBef>
            </a:pPr>
            <a:r>
              <a:rPr kumimoji="0" lang="zh-CN" altLang="en-US" dirty="0">
                <a:solidFill>
                  <a:srgbClr val="000000"/>
                </a:solidFill>
                <a:latin typeface="+mn-ea"/>
                <a:ea typeface="+mn-ea"/>
              </a:rPr>
              <a:t>    该序列以根</a:t>
            </a:r>
            <a:r>
              <a:rPr kumimoji="0" lang="en-US" altLang="zh-CN" dirty="0">
                <a:solidFill>
                  <a:srgbClr val="000000"/>
                </a:solidFill>
                <a:latin typeface="+mn-ea"/>
                <a:ea typeface="+mn-ea"/>
              </a:rPr>
              <a:t>x</a:t>
            </a:r>
            <a:r>
              <a:rPr kumimoji="0" lang="en-US" altLang="zh-CN" baseline="30000" dirty="0">
                <a:solidFill>
                  <a:srgbClr val="000000"/>
                </a:solidFill>
                <a:latin typeface="+mn-ea"/>
                <a:ea typeface="+mn-ea"/>
              </a:rPr>
              <a:t>*</a:t>
            </a:r>
            <a:r>
              <a:rPr kumimoji="0" lang="zh-CN" altLang="en-US" dirty="0">
                <a:solidFill>
                  <a:srgbClr val="000000"/>
                </a:solidFill>
                <a:latin typeface="+mn-ea"/>
                <a:ea typeface="+mn-ea"/>
              </a:rPr>
              <a:t>为极限</a:t>
            </a:r>
            <a:r>
              <a:rPr kumimoji="0" lang="en-US" altLang="zh-CN" dirty="0">
                <a:solidFill>
                  <a:srgbClr val="000000"/>
                </a:solidFill>
                <a:latin typeface="+mn-ea"/>
                <a:ea typeface="+mn-ea"/>
              </a:rPr>
              <a:t>.</a:t>
            </a:r>
            <a:endParaRPr kumimoji="0" lang="zh-CN" altLang="en-US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just" eaLnBrk="0" hangingPunct="0">
              <a:lnSpc>
                <a:spcPct val="140000"/>
              </a:lnSpc>
              <a:spcBef>
                <a:spcPct val="20000"/>
              </a:spcBef>
            </a:pPr>
            <a:r>
              <a:rPr kumimoji="0" lang="zh-CN" altLang="en-US" dirty="0">
                <a:solidFill>
                  <a:srgbClr val="000000"/>
                </a:solidFill>
                <a:latin typeface="+mn-ea"/>
                <a:ea typeface="+mn-ea"/>
              </a:rPr>
              <a:t>　  只要二分足够多次(即</a:t>
            </a:r>
            <a:r>
              <a:rPr kumimoji="0" lang="en-US" altLang="zh-CN" dirty="0">
                <a:solidFill>
                  <a:srgbClr val="000000"/>
                </a:solidFill>
                <a:latin typeface="+mn-ea"/>
                <a:ea typeface="+mn-ea"/>
              </a:rPr>
              <a:t>k</a:t>
            </a:r>
            <a:r>
              <a:rPr kumimoji="0" lang="zh-CN" altLang="en-US" dirty="0">
                <a:solidFill>
                  <a:srgbClr val="000000"/>
                </a:solidFill>
                <a:latin typeface="+mn-ea"/>
                <a:ea typeface="+mn-ea"/>
              </a:rPr>
              <a:t>足够大),便有</a:t>
            </a:r>
            <a:endParaRPr kumimoji="0" lang="zh-CN" altLang="en-US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just" eaLnBrk="0" hangingPunct="0">
              <a:lnSpc>
                <a:spcPct val="140000"/>
              </a:lnSpc>
              <a:spcBef>
                <a:spcPct val="20000"/>
              </a:spcBef>
            </a:pPr>
            <a:r>
              <a:rPr kumimoji="0" lang="zh-CN" altLang="en-US" dirty="0">
                <a:solidFill>
                  <a:srgbClr val="000000"/>
                </a:solidFill>
                <a:latin typeface="+mn-ea"/>
                <a:ea typeface="+mn-ea"/>
              </a:rPr>
              <a:t>这里</a:t>
            </a:r>
            <a:r>
              <a:rPr kumimoji="0" lang="en-US" altLang="zh-CN" dirty="0">
                <a:solidFill>
                  <a:srgbClr val="000000"/>
                </a:solidFill>
                <a:latin typeface="+mn-ea"/>
                <a:ea typeface="+mn-ea"/>
              </a:rPr>
              <a:t>ε</a:t>
            </a:r>
            <a:r>
              <a:rPr kumimoji="0" lang="zh-CN" altLang="en-US" dirty="0">
                <a:solidFill>
                  <a:srgbClr val="000000"/>
                </a:solidFill>
                <a:latin typeface="+mn-ea"/>
                <a:ea typeface="+mn-ea"/>
              </a:rPr>
              <a:t>为给定精度,由于         ,则     </a:t>
            </a:r>
            <a:endParaRPr kumimoji="0" lang="zh-CN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752850" y="3224213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624263" y="3224213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6"/>
              <p:cNvSpPr txBox="1"/>
              <p:nvPr/>
            </p:nvSpPr>
            <p:spPr bwMode="auto">
              <a:xfrm>
                <a:off x="3719387" y="4797152"/>
                <a:ext cx="4876800" cy="10683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9387" y="4797152"/>
                <a:ext cx="4876800" cy="1068388"/>
              </a:xfrm>
              <a:prstGeom prst="rect">
                <a:avLst/>
              </a:prstGeom>
              <a:blipFill rotWithShape="1">
                <a:blip r:embed="rId1"/>
                <a:stretch>
                  <a:fillRect l="-4" t="-34" r="4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8"/>
              <p:cNvSpPr txBox="1"/>
              <p:nvPr/>
            </p:nvSpPr>
            <p:spPr bwMode="auto">
              <a:xfrm>
                <a:off x="3495676" y="3314700"/>
                <a:ext cx="5562600" cy="10620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5676" y="3314700"/>
                <a:ext cx="5562600" cy="1062038"/>
              </a:xfrm>
              <a:prstGeom prst="rect">
                <a:avLst/>
              </a:prstGeom>
              <a:blipFill rotWithShape="1">
                <a:blip r:embed="rId2"/>
                <a:stretch>
                  <a:fillRect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4338638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11"/>
              <p:cNvSpPr txBox="1"/>
              <p:nvPr/>
            </p:nvSpPr>
            <p:spPr bwMode="auto">
              <a:xfrm>
                <a:off x="4570529" y="302490"/>
                <a:ext cx="990600" cy="487363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0529" y="302490"/>
                <a:ext cx="990600" cy="487363"/>
              </a:xfrm>
              <a:prstGeom prst="rect">
                <a:avLst/>
              </a:prstGeom>
              <a:blipFill rotWithShape="1">
                <a:blip r:embed="rId3"/>
                <a:stretch>
                  <a:fillRect l="-44" t="-47" r="44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3"/>
              <p:cNvSpPr txBox="1"/>
              <p:nvPr/>
            </p:nvSpPr>
            <p:spPr bwMode="auto">
              <a:xfrm>
                <a:off x="6362408" y="173013"/>
                <a:ext cx="1967944" cy="952430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62408" y="173013"/>
                <a:ext cx="1967944" cy="952430"/>
              </a:xfrm>
              <a:prstGeom prst="rect">
                <a:avLst/>
              </a:prstGeom>
              <a:blipFill rotWithShape="1">
                <a:blip r:embed="rId4"/>
                <a:stretch>
                  <a:fillRect l="-17" t="-31" r="21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15"/>
              <p:cNvSpPr txBox="1"/>
              <p:nvPr/>
            </p:nvSpPr>
            <p:spPr bwMode="auto">
              <a:xfrm>
                <a:off x="2783632" y="809562"/>
                <a:ext cx="5254625" cy="5556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3632" y="809562"/>
                <a:ext cx="5254625" cy="555625"/>
              </a:xfrm>
              <a:prstGeom prst="rect">
                <a:avLst/>
              </a:prstGeom>
              <a:blipFill rotWithShape="1">
                <a:blip r:embed="rId5"/>
                <a:stretch>
                  <a:fillRect l="-8" t="-103" r="8" b="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17"/>
              <p:cNvSpPr txBox="1"/>
              <p:nvPr/>
            </p:nvSpPr>
            <p:spPr bwMode="auto">
              <a:xfrm>
                <a:off x="6752510" y="1946148"/>
                <a:ext cx="2007786" cy="99110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52510" y="1946148"/>
                <a:ext cx="2007786" cy="991104"/>
              </a:xfrm>
              <a:prstGeom prst="rect">
                <a:avLst/>
              </a:prstGeom>
              <a:blipFill rotWithShape="1">
                <a:blip r:embed="rId6"/>
                <a:stretch>
                  <a:fillRect l="-28" t="-51" r="23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bject 19"/>
              <p:cNvSpPr txBox="1"/>
              <p:nvPr/>
            </p:nvSpPr>
            <p:spPr bwMode="auto">
              <a:xfrm>
                <a:off x="4079776" y="2569361"/>
                <a:ext cx="1560965" cy="578203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Pre>
                            <m:sPre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sPr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9776" y="2569361"/>
                <a:ext cx="1560965" cy="578203"/>
              </a:xfrm>
              <a:prstGeom prst="rect">
                <a:avLst/>
              </a:prstGeom>
              <a:blipFill rotWithShape="1">
                <a:blip r:embed="rId7"/>
                <a:stretch>
                  <a:fillRect l="-34" t="-26" r="2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909414" y="5968512"/>
            <a:ext cx="8496746" cy="634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spcBef>
                <a:spcPts val="3000"/>
              </a:spcBef>
              <a:buNone/>
            </a:pPr>
            <a:r>
              <a:rPr lang="zh-CN" altLang="en-US" sz="2800" b="1" kern="0" dirty="0"/>
              <a:t>算法稳定性</a:t>
            </a:r>
            <a:r>
              <a:rPr lang="en-US" altLang="zh-CN" sz="2800" b="1" kern="0" dirty="0"/>
              <a:t>: </a:t>
            </a:r>
            <a:r>
              <a:rPr lang="zh-CN" altLang="en-US" sz="2800" b="1" kern="0" dirty="0"/>
              <a:t>运算简单</a:t>
            </a:r>
            <a:r>
              <a:rPr lang="en-US" altLang="zh-CN" sz="2800" b="1" kern="0" dirty="0"/>
              <a:t>, </a:t>
            </a:r>
            <a:r>
              <a:rPr lang="zh-CN" altLang="en-US" sz="2800" b="1" kern="0" dirty="0"/>
              <a:t>误差逐渐缩小</a:t>
            </a:r>
            <a:r>
              <a:rPr lang="en-US" altLang="zh-CN" sz="2800" b="1" kern="0" dirty="0"/>
              <a:t>, </a:t>
            </a:r>
            <a:r>
              <a:rPr lang="zh-CN" altLang="en-US" sz="2800" b="1" kern="0" dirty="0"/>
              <a:t>比较稳定</a:t>
            </a:r>
            <a:endParaRPr lang="en-US" altLang="zh-CN" sz="2800" b="1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页脚占位符 3"/>
          <p:cNvSpPr>
            <a:spLocks noGrp="1"/>
          </p:cNvSpPr>
          <p:nvPr>
            <p:ph type="ftr" sz="quarter" idx="11"/>
          </p:nvPr>
        </p:nvSpPr>
        <p:spPr>
          <a:xfrm>
            <a:off x="914400" y="6248400"/>
            <a:ext cx="2540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zh-CN" altLang="en-US" sz="1400">
                <a:latin typeface="Arial" panose="020B0604020202020204" pitchFamily="34" charset="0"/>
              </a:rPr>
              <a:t> </a:t>
            </a:r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-85442" y="163772"/>
            <a:ext cx="10363200" cy="1143000"/>
          </a:xfrm>
        </p:spPr>
        <p:txBody>
          <a:bodyPr/>
          <a:lstStyle/>
          <a:p>
            <a:pPr eaLnBrk="1" hangingPunct="1"/>
            <a:r>
              <a:rPr lang="zh-CN" altLang="en-US" sz="3200" b="1" dirty="0"/>
              <a:t>二分法</a:t>
            </a:r>
            <a:endParaRPr lang="zh-CN" altLang="en-US" sz="3200" b="1" dirty="0"/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71784" y="1574209"/>
            <a:ext cx="6012160" cy="4290213"/>
          </a:xfrm>
          <a:prstGeom prst="rect">
            <a:avLst/>
          </a:prstGeom>
          <a:blipFill>
            <a:blip r:embed="rId1"/>
            <a:stretch>
              <a:fillRect l="-708" b="-992"/>
            </a:stretch>
          </a:blipFill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grpSp>
        <p:nvGrpSpPr>
          <p:cNvPr id="7" name="组合 6"/>
          <p:cNvGrpSpPr/>
          <p:nvPr/>
        </p:nvGrpSpPr>
        <p:grpSpPr bwMode="auto">
          <a:xfrm>
            <a:off x="4978400" y="3273425"/>
            <a:ext cx="5294313" cy="1939925"/>
            <a:chOff x="3453864" y="3274129"/>
            <a:chExt cx="5294600" cy="1938992"/>
          </a:xfrm>
        </p:grpSpPr>
        <p:sp>
          <p:nvSpPr>
            <p:cNvPr id="10" name="矩形 9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724128" y="3274129"/>
              <a:ext cx="3024336" cy="1938992"/>
            </a:xfrm>
            <a:prstGeom prst="rect">
              <a:avLst/>
            </a:prstGeom>
            <a:blipFill>
              <a:blip r:embed="rId2"/>
              <a:stretch>
                <a:fillRect l="-3226" t="-3459" r="-605" b="-5346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  <a:endParaRPr lang="zh-CN" altLang="en-US">
                <a:noFill/>
              </a:endParaRPr>
            </a:p>
          </p:txBody>
        </p:sp>
        <p:cxnSp>
          <p:nvCxnSpPr>
            <p:cNvPr id="6" name="直接箭头连接符 5"/>
            <p:cNvCxnSpPr/>
            <p:nvPr/>
          </p:nvCxnSpPr>
          <p:spPr bwMode="auto">
            <a:xfrm>
              <a:off x="3453864" y="3581956"/>
              <a:ext cx="2270248" cy="504582"/>
            </a:xfrm>
            <a:prstGeom prst="straightConnector1">
              <a:avLst/>
            </a:prstGeom>
            <a:ln w="28575"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 bwMode="auto">
          <a:xfrm>
            <a:off x="4514850" y="2276475"/>
            <a:ext cx="5341938" cy="617538"/>
            <a:chOff x="2990626" y="2277179"/>
            <a:chExt cx="5341526" cy="616990"/>
          </a:xfrm>
        </p:grpSpPr>
        <p:sp>
          <p:nvSpPr>
            <p:cNvPr id="2" name="文本框 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459944" y="2277179"/>
              <a:ext cx="1872208" cy="461665"/>
            </a:xfrm>
            <a:prstGeom prst="rect">
              <a:avLst/>
            </a:prstGeom>
            <a:blipFill>
              <a:blip r:embed="rId3"/>
              <a:stretch>
                <a:fillRect l="-5212" t="-14667" b="-26667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  <a:endParaRPr lang="zh-CN" altLang="en-US">
                <a:noFill/>
              </a:endParaRPr>
            </a:p>
          </p:txBody>
        </p:sp>
        <p:sp>
          <p:nvSpPr>
            <p:cNvPr id="12297" name="任意多边形 3"/>
            <p:cNvSpPr/>
            <p:nvPr/>
          </p:nvSpPr>
          <p:spPr bwMode="auto">
            <a:xfrm>
              <a:off x="2990626" y="2622829"/>
              <a:ext cx="3669606" cy="271340"/>
            </a:xfrm>
            <a:custGeom>
              <a:avLst/>
              <a:gdLst>
                <a:gd name="T0" fmla="*/ 0 w 3528508"/>
                <a:gd name="T1" fmla="*/ 73895 h 237030"/>
                <a:gd name="T2" fmla="*/ 2139339 w 3528508"/>
                <a:gd name="T3" fmla="*/ 406426 h 237030"/>
                <a:gd name="T4" fmla="*/ 4127665 w 3528508"/>
                <a:gd name="T5" fmla="*/ 0 h 2370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28508" h="237030">
                  <a:moveTo>
                    <a:pt x="0" y="43030"/>
                  </a:moveTo>
                  <a:cubicBezTo>
                    <a:pt x="620357" y="143435"/>
                    <a:pt x="1240715" y="243840"/>
                    <a:pt x="1828800" y="236668"/>
                  </a:cubicBezTo>
                  <a:cubicBezTo>
                    <a:pt x="2416885" y="229496"/>
                    <a:pt x="3171713" y="132678"/>
                    <a:pt x="3528508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round/>
              <a:headEnd type="none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矩形 21"/>
          <p:cNvSpPr>
            <a:spLocks noChangeArrowheads="1"/>
          </p:cNvSpPr>
          <p:nvPr/>
        </p:nvSpPr>
        <p:spPr bwMode="auto">
          <a:xfrm>
            <a:off x="2351088" y="404813"/>
            <a:ext cx="2041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660066"/>
                </a:solidFill>
              </a:rPr>
              <a:t>二分法特性：</a:t>
            </a:r>
            <a:endParaRPr lang="zh-CN" altLang="en-US" sz="2400" b="1">
              <a:solidFill>
                <a:srgbClr val="660066"/>
              </a:solidFill>
            </a:endParaRPr>
          </a:p>
        </p:txBody>
      </p:sp>
      <p:sp>
        <p:nvSpPr>
          <p:cNvPr id="13315" name="矩形 22"/>
          <p:cNvSpPr>
            <a:spLocks noChangeArrowheads="1"/>
          </p:cNvSpPr>
          <p:nvPr/>
        </p:nvSpPr>
        <p:spPr bwMode="auto">
          <a:xfrm>
            <a:off x="2782888" y="981075"/>
            <a:ext cx="3543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设 </a:t>
            </a:r>
            <a:r>
              <a:rPr lang="en-US" altLang="zh-CN" sz="2400" b="1" i="1"/>
              <a:t>ε </a:t>
            </a:r>
            <a:r>
              <a:rPr lang="zh-CN" altLang="en-US" sz="2400"/>
              <a:t>为给定精度要求，则</a:t>
            </a:r>
            <a:endParaRPr lang="zh-CN" alt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16" name="Object 19"/>
              <p:cNvSpPr txBox="1"/>
              <p:nvPr/>
            </p:nvSpPr>
            <p:spPr bwMode="auto">
              <a:xfrm>
                <a:off x="3935413" y="1539676"/>
                <a:ext cx="3978421" cy="10480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316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5413" y="1539676"/>
                <a:ext cx="3978421" cy="1048072"/>
              </a:xfrm>
              <a:prstGeom prst="rect">
                <a:avLst/>
              </a:prstGeom>
              <a:blipFill rotWithShape="1">
                <a:blip r:embed="rId1"/>
                <a:stretch>
                  <a:fillRect l="-8" t="-42" r="12" b="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17" name="矩形 24"/>
          <p:cNvSpPr>
            <a:spLocks noChangeArrowheads="1"/>
          </p:cNvSpPr>
          <p:nvPr/>
        </p:nvSpPr>
        <p:spPr bwMode="auto">
          <a:xfrm>
            <a:off x="2208213" y="2781300"/>
            <a:ext cx="84248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</a:t>
            </a:r>
            <a:r>
              <a:rPr lang="zh-CN" altLang="en-US" sz="2400">
                <a:solidFill>
                  <a:srgbClr val="C00000"/>
                </a:solidFill>
              </a:rPr>
              <a:t>收敛性</a:t>
            </a:r>
            <a:r>
              <a:rPr lang="zh-CN" altLang="en-US" sz="2400"/>
              <a:t>：二分法收敛速度与公比为</a:t>
            </a:r>
            <a:r>
              <a:rPr lang="en-US" altLang="zh-CN" sz="2400"/>
              <a:t>1/2</a:t>
            </a:r>
            <a:r>
              <a:rPr lang="zh-CN" altLang="en-US" sz="2400"/>
              <a:t>的等比级数相同。</a:t>
            </a:r>
            <a:endParaRPr lang="zh-CN" altLang="en-US" sz="2400"/>
          </a:p>
        </p:txBody>
      </p:sp>
      <p:sp>
        <p:nvSpPr>
          <p:cNvPr id="13318" name="矩形 25"/>
          <p:cNvSpPr>
            <a:spLocks noChangeArrowheads="1"/>
          </p:cNvSpPr>
          <p:nvPr/>
        </p:nvSpPr>
        <p:spPr bwMode="auto">
          <a:xfrm>
            <a:off x="2208213" y="3429000"/>
            <a:ext cx="2416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</a:t>
            </a:r>
            <a:r>
              <a:rPr lang="en-US" altLang="zh-CN" sz="2400" i="1">
                <a:solidFill>
                  <a:srgbClr val="C00000"/>
                </a:solidFill>
              </a:rPr>
              <a:t>n </a:t>
            </a:r>
            <a:r>
              <a:rPr lang="zh-CN" altLang="en-US" sz="2400">
                <a:solidFill>
                  <a:srgbClr val="C00000"/>
                </a:solidFill>
              </a:rPr>
              <a:t>的取值</a:t>
            </a:r>
            <a:r>
              <a:rPr lang="zh-CN" altLang="en-US" sz="2400"/>
              <a:t>：</a:t>
            </a:r>
            <a:endParaRPr lang="zh-CN" altLang="en-US" sz="2400"/>
          </a:p>
        </p:txBody>
      </p:sp>
      <p:sp>
        <p:nvSpPr>
          <p:cNvPr id="13319" name="矩形 26"/>
          <p:cNvSpPr>
            <a:spLocks noChangeArrowheads="1"/>
          </p:cNvSpPr>
          <p:nvPr/>
        </p:nvSpPr>
        <p:spPr bwMode="auto">
          <a:xfrm>
            <a:off x="3432175" y="4221163"/>
            <a:ext cx="58324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/>
              <a:t>由                      两边取对数，即可求得</a:t>
            </a:r>
            <a:endParaRPr lang="zh-CN" altLang="en-US" sz="240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21" name="Object 21"/>
              <p:cNvSpPr txBox="1"/>
              <p:nvPr/>
            </p:nvSpPr>
            <p:spPr bwMode="auto">
              <a:xfrm>
                <a:off x="3791744" y="5142989"/>
                <a:ext cx="3888779" cy="9163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32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1744" y="5142989"/>
                <a:ext cx="3888779" cy="916333"/>
              </a:xfrm>
              <a:prstGeom prst="rect">
                <a:avLst/>
              </a:prstGeom>
              <a:blipFill rotWithShape="1">
                <a:blip r:embed="rId2"/>
                <a:stretch>
                  <a:fillRect l="-4" t="-14" r="5" b="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对象 1"/>
              <p:cNvSpPr txBox="1"/>
              <p:nvPr/>
            </p:nvSpPr>
            <p:spPr>
              <a:xfrm>
                <a:off x="4151784" y="4195397"/>
                <a:ext cx="1241702" cy="673465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4195397"/>
                <a:ext cx="1241702" cy="673465"/>
              </a:xfrm>
              <a:prstGeom prst="rect">
                <a:avLst/>
              </a:prstGeom>
              <a:blipFill rotWithShape="1">
                <a:blip r:embed="rId3"/>
                <a:stretch>
                  <a:fillRect l="-12" t="-87" r="35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1919536" y="6150886"/>
            <a:ext cx="813690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ct val="15000"/>
              </a:spcBef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第</a:t>
            </a:r>
            <a:r>
              <a:rPr lang="en-US" altLang="zh-CN" b="1" dirty="0">
                <a:solidFill>
                  <a:srgbClr val="000000"/>
                </a:solidFill>
                <a:ea typeface="黑体" panose="02010609060101010101" pitchFamily="49" charset="-122"/>
              </a:rPr>
              <a:t>n+1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次二分,计算得到的值就是满足精度要求的近似根</a:t>
            </a:r>
            <a:r>
              <a:rPr lang="zh-CN" altLang="en-US" b="1" dirty="0">
                <a:solidFill>
                  <a:srgbClr val="000000"/>
                </a:solidFill>
                <a:ea typeface="黑体" panose="02010609060101010101" pitchFamily="49" charset="-122"/>
              </a:rPr>
              <a:t> 。</a:t>
            </a:r>
            <a:endParaRPr lang="zh-CN" altLang="en-US" b="1" dirty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1415480" y="1916832"/>
            <a:ext cx="7272337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证明</a:t>
            </a:r>
            <a:r>
              <a:rPr lang="en-US" altLang="zh-CN" sz="2800" dirty="0">
                <a:latin typeface="+mn-ea"/>
                <a:ea typeface="+mn-ea"/>
              </a:rPr>
              <a:t>: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919537" y="709136"/>
            <a:ext cx="813690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ct val="5000"/>
              </a:spcBef>
            </a:pPr>
            <a:r>
              <a:rPr kumimoji="0" lang="en-US" altLang="zh-CN" dirty="0">
                <a:solidFill>
                  <a:srgbClr val="000000"/>
                </a:solidFill>
                <a:latin typeface="+mn-ea"/>
                <a:ea typeface="+mn-ea"/>
              </a:rPr>
              <a:t>【</a:t>
            </a:r>
            <a:r>
              <a:rPr kumimoji="0" lang="zh-CN" altLang="en-US" dirty="0">
                <a:solidFill>
                  <a:srgbClr val="000000"/>
                </a:solidFill>
                <a:latin typeface="+mn-ea"/>
                <a:ea typeface="+mn-ea"/>
              </a:rPr>
              <a:t>例</a:t>
            </a:r>
            <a:r>
              <a:rPr kumimoji="0" lang="en-US" altLang="zh-CN" dirty="0">
                <a:solidFill>
                  <a:srgbClr val="000000"/>
                </a:solidFill>
                <a:latin typeface="+mn-ea"/>
                <a:ea typeface="+mn-ea"/>
              </a:rPr>
              <a:t>】</a:t>
            </a:r>
            <a:r>
              <a:rPr kumimoji="0" lang="zh-CN" altLang="en-US" dirty="0">
                <a:solidFill>
                  <a:srgbClr val="000000"/>
                </a:solidFill>
                <a:latin typeface="+mn-ea"/>
                <a:ea typeface="+mn-ea"/>
              </a:rPr>
              <a:t>证明方程              在区间[2, 3]内有一个根, 使用二分法求误差不超过0.5×10</a:t>
            </a:r>
            <a:r>
              <a:rPr kumimoji="0" lang="zh-CN" altLang="en-US" baseline="30000" dirty="0">
                <a:solidFill>
                  <a:srgbClr val="000000"/>
                </a:solidFill>
                <a:latin typeface="+mn-ea"/>
                <a:ea typeface="+mn-ea"/>
              </a:rPr>
              <a:t>-3  </a:t>
            </a:r>
            <a:r>
              <a:rPr kumimoji="0" lang="zh-CN" altLang="en-US" dirty="0">
                <a:solidFill>
                  <a:srgbClr val="000000"/>
                </a:solidFill>
                <a:latin typeface="+mn-ea"/>
                <a:ea typeface="+mn-ea"/>
              </a:rPr>
              <a:t>的根要二分多少次？</a:t>
            </a:r>
            <a:endParaRPr kumimoji="0" lang="zh-CN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3"/>
              <p:cNvSpPr txBox="1"/>
              <p:nvPr/>
            </p:nvSpPr>
            <p:spPr bwMode="auto">
              <a:xfrm>
                <a:off x="4171126" y="805992"/>
                <a:ext cx="2072643" cy="631564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71126" y="805992"/>
                <a:ext cx="2072643" cy="631564"/>
              </a:xfrm>
              <a:prstGeom prst="rect">
                <a:avLst/>
              </a:prstGeom>
              <a:blipFill rotWithShape="1">
                <a:blip r:embed="rId1"/>
                <a:stretch>
                  <a:fillRect l="-22" t="-28" r="22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2279576" y="2521601"/>
            <a:ext cx="8784975" cy="1218795"/>
            <a:chOff x="2279576" y="2521601"/>
            <a:chExt cx="8784975" cy="1218795"/>
          </a:xfrm>
        </p:grpSpPr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2279576" y="2521601"/>
              <a:ext cx="8784975" cy="12187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"/>
                </a:spcBef>
              </a:pPr>
              <a:r>
                <a:rPr kumimoji="0" lang="zh-CN" altLang="en-US" dirty="0">
                  <a:solidFill>
                    <a:srgbClr val="000000"/>
                  </a:solidFill>
                  <a:latin typeface="+mn-ea"/>
                  <a:ea typeface="+mn-ea"/>
                </a:rPr>
                <a:t>令                   </a:t>
              </a:r>
              <a:r>
                <a:rPr kumimoji="0" lang="en-US" altLang="zh-CN" dirty="0">
                  <a:solidFill>
                    <a:srgbClr val="000000"/>
                  </a:solidFill>
                  <a:latin typeface="+mn-ea"/>
                  <a:ea typeface="+mn-ea"/>
                </a:rPr>
                <a:t>,</a:t>
              </a:r>
              <a:endParaRPr kumimoji="0" lang="zh-CN" altLang="en-US" dirty="0">
                <a:solidFill>
                  <a:srgbClr val="000000"/>
                </a:solidFill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  <a:spcBef>
                  <a:spcPct val="5000"/>
                </a:spcBef>
              </a:pPr>
              <a:r>
                <a:rPr lang="zh-CN" altLang="en-US" dirty="0">
                  <a:solidFill>
                    <a:srgbClr val="000000"/>
                  </a:solidFill>
                  <a:latin typeface="+mn-ea"/>
                  <a:ea typeface="+mn-ea"/>
                </a:rPr>
                <a:t>且</a:t>
              </a:r>
              <a:r>
                <a:rPr lang="en-US" altLang="zh-CN" dirty="0">
                  <a:solidFill>
                    <a:srgbClr val="000000"/>
                  </a:solidFill>
                  <a:latin typeface="+mn-ea"/>
                  <a:ea typeface="+mn-ea"/>
                </a:rPr>
                <a:t>f(x)</a:t>
              </a:r>
              <a:r>
                <a:rPr lang="zh-CN" altLang="en-US" dirty="0">
                  <a:solidFill>
                    <a:srgbClr val="000000"/>
                  </a:solidFill>
                  <a:latin typeface="+mn-ea"/>
                  <a:ea typeface="+mn-ea"/>
                </a:rPr>
                <a:t>在[2, 3]上连续,故方程</a:t>
              </a:r>
              <a:r>
                <a:rPr lang="en-US" altLang="zh-CN" dirty="0">
                  <a:solidFill>
                    <a:srgbClr val="000000"/>
                  </a:solidFill>
                  <a:latin typeface="+mn-ea"/>
                  <a:ea typeface="+mn-ea"/>
                </a:rPr>
                <a:t>f(x)=0</a:t>
              </a:r>
              <a:r>
                <a:rPr lang="zh-CN" altLang="en-US" dirty="0">
                  <a:solidFill>
                    <a:srgbClr val="000000"/>
                  </a:solidFill>
                  <a:latin typeface="+mn-ea"/>
                  <a:ea typeface="+mn-ea"/>
                </a:rPr>
                <a:t>在[2,3]内至少有一个根。</a:t>
              </a:r>
              <a:endParaRPr lang="en-US" altLang="zh-CN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Object 5"/>
                <p:cNvSpPr txBox="1"/>
                <p:nvPr/>
              </p:nvSpPr>
              <p:spPr bwMode="auto">
                <a:xfrm>
                  <a:off x="2845248" y="2639427"/>
                  <a:ext cx="2362200" cy="460375"/>
                </a:xfrm>
                <a:prstGeom prst="rect">
                  <a:avLst/>
                </a:prstGeom>
                <a:noFill/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9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45248" y="2639427"/>
                  <a:ext cx="2362200" cy="46037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Object 7"/>
                <p:cNvSpPr txBox="1"/>
                <p:nvPr/>
              </p:nvSpPr>
              <p:spPr bwMode="auto">
                <a:xfrm>
                  <a:off x="5976925" y="2679959"/>
                  <a:ext cx="3733800" cy="425450"/>
                </a:xfrm>
                <a:prstGeom prst="rect">
                  <a:avLst/>
                </a:prstGeom>
                <a:noFill/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0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76925" y="2679959"/>
                  <a:ext cx="3733800" cy="42545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/>
          <p:cNvGrpSpPr/>
          <p:nvPr/>
        </p:nvGrpSpPr>
        <p:grpSpPr>
          <a:xfrm>
            <a:off x="2279576" y="3835499"/>
            <a:ext cx="6187073" cy="1218795"/>
            <a:chOff x="2531102" y="4301272"/>
            <a:chExt cx="6187073" cy="1218795"/>
          </a:xfrm>
        </p:grpSpPr>
        <p:sp>
          <p:nvSpPr>
            <p:cNvPr id="4" name="矩形 3"/>
            <p:cNvSpPr/>
            <p:nvPr/>
          </p:nvSpPr>
          <p:spPr>
            <a:xfrm>
              <a:off x="2531102" y="4301272"/>
              <a:ext cx="6096000" cy="12187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"/>
                </a:spcBef>
              </a:pPr>
              <a:r>
                <a:rPr lang="zh-CN" altLang="en-US" dirty="0">
                  <a:solidFill>
                    <a:srgbClr val="000000"/>
                  </a:solidFill>
                  <a:latin typeface="+mn-ea"/>
                </a:rPr>
                <a:t>又              </a:t>
              </a:r>
              <a:r>
                <a:rPr lang="en-US" altLang="zh-CN" dirty="0">
                  <a:solidFill>
                    <a:srgbClr val="000000"/>
                  </a:solidFill>
                  <a:latin typeface="+mn-ea"/>
                </a:rPr>
                <a:t>,</a:t>
              </a:r>
              <a:r>
                <a:rPr lang="zh-CN" altLang="en-US" dirty="0">
                  <a:solidFill>
                    <a:srgbClr val="000000"/>
                  </a:solidFill>
                  <a:latin typeface="+mn-ea"/>
                </a:rPr>
                <a:t>当         时，        </a:t>
              </a:r>
              <a:endParaRPr lang="en-US" altLang="zh-CN" dirty="0">
                <a:solidFill>
                  <a:srgbClr val="000000"/>
                </a:solidFill>
                <a:latin typeface="+mn-ea"/>
              </a:endParaRPr>
            </a:p>
            <a:p>
              <a:pPr>
                <a:lnSpc>
                  <a:spcPct val="150000"/>
                </a:lnSpc>
                <a:spcBef>
                  <a:spcPct val="5000"/>
                </a:spcBef>
              </a:pPr>
              <a:r>
                <a:rPr lang="zh-CN" altLang="en-US" dirty="0">
                  <a:solidFill>
                    <a:srgbClr val="000000"/>
                  </a:solidFill>
                  <a:latin typeface="+mn-ea"/>
                </a:rPr>
                <a:t>故</a:t>
              </a:r>
              <a:r>
                <a:rPr lang="en-US" altLang="zh-CN" dirty="0">
                  <a:solidFill>
                    <a:srgbClr val="000000"/>
                  </a:solidFill>
                  <a:latin typeface="+mn-ea"/>
                </a:rPr>
                <a:t>f(x)</a:t>
              </a:r>
              <a:r>
                <a:rPr lang="zh-CN" altLang="en-US" dirty="0">
                  <a:solidFill>
                    <a:srgbClr val="000000"/>
                  </a:solidFill>
                  <a:latin typeface="+mn-ea"/>
                </a:rPr>
                <a:t>在[2, 3]上是单调递增函数,</a:t>
              </a:r>
              <a:endParaRPr lang="zh-CN" altLang="en-US" dirty="0">
                <a:solidFill>
                  <a:srgbClr val="000000"/>
                </a:solidFill>
                <a:latin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Object 10"/>
                <p:cNvSpPr txBox="1"/>
                <p:nvPr/>
              </p:nvSpPr>
              <p:spPr bwMode="auto">
                <a:xfrm>
                  <a:off x="2959548" y="4404456"/>
                  <a:ext cx="2133600" cy="496888"/>
                </a:xfrm>
                <a:prstGeom prst="rect">
                  <a:avLst/>
                </a:prstGeom>
                <a:noFill/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1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59548" y="4404456"/>
                  <a:ext cx="2133600" cy="496888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Object 12"/>
                <p:cNvSpPr txBox="1"/>
                <p:nvPr/>
              </p:nvSpPr>
              <p:spPr bwMode="auto">
                <a:xfrm>
                  <a:off x="5521594" y="4412681"/>
                  <a:ext cx="1295400" cy="469900"/>
                </a:xfrm>
                <a:prstGeom prst="rect">
                  <a:avLst/>
                </a:prstGeom>
                <a:noFill/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2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21594" y="4412681"/>
                  <a:ext cx="1295400" cy="469900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Object 14"/>
                <p:cNvSpPr txBox="1"/>
                <p:nvPr/>
              </p:nvSpPr>
              <p:spPr bwMode="auto">
                <a:xfrm>
                  <a:off x="7346575" y="4431731"/>
                  <a:ext cx="1371600" cy="450850"/>
                </a:xfrm>
                <a:prstGeom prst="rect">
                  <a:avLst/>
                </a:prstGeom>
                <a:noFill/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)&gt;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3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46575" y="4431731"/>
                  <a:ext cx="1371600" cy="450850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2306543" y="5216963"/>
                <a:ext cx="466986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ct val="5000"/>
                  </a:spcBef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+mn-ea"/>
                  </a:rPr>
                  <a:t>f(x)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</a:rPr>
                  <a:t>在[2, 3]上有且仅有一根。</a:t>
                </a:r>
                <a:endParaRPr lang="en-US" altLang="zh-CN" dirty="0">
                  <a:solidFill>
                    <a:srgbClr val="000000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543" y="5216963"/>
                <a:ext cx="4669868" cy="646331"/>
              </a:xfrm>
              <a:prstGeom prst="rect">
                <a:avLst/>
              </a:prstGeom>
              <a:blipFill rotWithShape="1">
                <a:blip r:embed="rId7"/>
                <a:stretch>
                  <a:fillRect l="-5" t="-68" r="-333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543968" y="744488"/>
            <a:ext cx="853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 误差限为                                只要取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满足 </a:t>
            </a:r>
            <a:endParaRPr lang="zh-CN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17"/>
              <p:cNvSpPr txBox="1"/>
              <p:nvPr/>
            </p:nvSpPr>
            <p:spPr bwMode="auto">
              <a:xfrm>
                <a:off x="3067968" y="582414"/>
                <a:ext cx="4667250" cy="7858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7968" y="582414"/>
                <a:ext cx="4667250" cy="785812"/>
              </a:xfrm>
              <a:prstGeom prst="rect">
                <a:avLst/>
              </a:prstGeom>
              <a:blipFill rotWithShape="1">
                <a:blip r:embed="rId1"/>
                <a:stretch>
                  <a:fillRect l="-6" t="-15" r="6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19"/>
              <p:cNvSpPr txBox="1"/>
              <p:nvPr/>
            </p:nvSpPr>
            <p:spPr bwMode="auto">
              <a:xfrm>
                <a:off x="1499518" y="1493788"/>
                <a:ext cx="5149850" cy="812341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9518" y="1493788"/>
                <a:ext cx="5149850" cy="812341"/>
              </a:xfrm>
              <a:prstGeom prst="rect">
                <a:avLst/>
              </a:prstGeom>
              <a:blipFill rotWithShape="1">
                <a:blip r:embed="rId2"/>
                <a:stretch>
                  <a:fillRect l="-5" t="-33" r="5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21"/>
          <p:cNvSpPr txBox="1">
            <a:spLocks noChangeArrowheads="1"/>
          </p:cNvSpPr>
          <p:nvPr/>
        </p:nvSpPr>
        <p:spPr bwMode="auto">
          <a:xfrm>
            <a:off x="6649368" y="1658888"/>
            <a:ext cx="2819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即可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.</a:t>
            </a:r>
            <a:endParaRPr lang="zh-CN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22"/>
              <p:cNvSpPr txBox="1"/>
              <p:nvPr/>
            </p:nvSpPr>
            <p:spPr bwMode="auto">
              <a:xfrm>
                <a:off x="2456681" y="2700252"/>
                <a:ext cx="1376462" cy="454061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6681" y="2700252"/>
                <a:ext cx="1376462" cy="454061"/>
              </a:xfrm>
              <a:prstGeom prst="rect">
                <a:avLst/>
              </a:prstGeom>
              <a:blipFill rotWithShape="1">
                <a:blip r:embed="rId3"/>
                <a:stretch>
                  <a:fillRect l="-36" t="-51" r="21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24"/>
              <p:cNvSpPr txBox="1"/>
              <p:nvPr/>
            </p:nvSpPr>
            <p:spPr bwMode="auto">
              <a:xfrm>
                <a:off x="2270383" y="3276749"/>
                <a:ext cx="5435600" cy="81915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lg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97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0383" y="3276749"/>
                <a:ext cx="5435600" cy="819150"/>
              </a:xfrm>
              <a:prstGeom prst="rect">
                <a:avLst/>
              </a:prstGeom>
              <a:blipFill rotWithShape="1">
                <a:blip r:embed="rId4"/>
                <a:stretch>
                  <a:fillRect l="-5" t="-18" r="5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26"/>
          <p:cNvSpPr txBox="1">
            <a:spLocks noChangeArrowheads="1"/>
          </p:cNvSpPr>
          <p:nvPr/>
        </p:nvSpPr>
        <p:spPr bwMode="auto">
          <a:xfrm>
            <a:off x="2066842" y="4183261"/>
            <a:ext cx="8305800" cy="97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所以需二分10次便可达到要求。</a:t>
            </a:r>
            <a:endParaRPr lang="zh-CN" altLang="en-US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    </a:t>
            </a:r>
            <a:endParaRPr lang="zh-CN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56462" y="273228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+mn-ea"/>
              </a:rPr>
              <a:t>即 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:</a:t>
            </a:r>
            <a:endParaRPr lang="zh-CN" altLang="en-US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页脚占位符 3"/>
          <p:cNvSpPr>
            <a:spLocks noGrp="1"/>
          </p:cNvSpPr>
          <p:nvPr>
            <p:ph type="ftr" sz="quarter" idx="11"/>
          </p:nvPr>
        </p:nvSpPr>
        <p:spPr>
          <a:xfrm>
            <a:off x="914400" y="6248400"/>
            <a:ext cx="2540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zh-CN" altLang="en-US" sz="1400">
                <a:latin typeface="Arial" panose="020B0604020202020204" pitchFamily="34" charset="0"/>
              </a:rPr>
              <a:t> </a:t>
            </a:r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638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4165600" y="6248400"/>
            <a:ext cx="38608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D45D36FA-5A86-4A6E-9755-2B152090B79C}" type="slidenum">
              <a:rPr lang="zh-CN" altLang="en-US" sz="1400" smtClean="0">
                <a:latin typeface="Arial Black" panose="020B0A04020102020204" pitchFamily="34" charset="0"/>
              </a:rPr>
            </a:fld>
            <a:endParaRPr lang="en-US" altLang="zh-CN" sz="1400">
              <a:latin typeface="Arial Black" panose="020B0A04020102020204" pitchFamily="34" charset="0"/>
            </a:endParaRPr>
          </a:p>
        </p:txBody>
      </p:sp>
      <p:sp>
        <p:nvSpPr>
          <p:cNvPr id="23557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2063751" y="1700809"/>
            <a:ext cx="8353425" cy="4247753"/>
          </a:xfrm>
          <a:blipFill>
            <a:blip r:embed="rId1"/>
            <a:stretch>
              <a:fillRect l="-1314" t="-1722" r="-1241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sz="2800">
                <a:noFill/>
              </a:rPr>
              <a:t> </a:t>
            </a:r>
            <a:endParaRPr lang="zh-CN" altLang="en-US" sz="2800">
              <a:noFill/>
            </a:endParaRPr>
          </a:p>
        </p:txBody>
      </p:sp>
      <p:cxnSp>
        <p:nvCxnSpPr>
          <p:cNvPr id="3" name="直接连接符 2"/>
          <p:cNvCxnSpPr>
            <a:cxnSpLocks noChangeShapeType="1"/>
          </p:cNvCxnSpPr>
          <p:nvPr/>
        </p:nvCxnSpPr>
        <p:spPr bwMode="auto">
          <a:xfrm>
            <a:off x="7812088" y="5276850"/>
            <a:ext cx="1871662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任意多边形 11"/>
          <p:cNvSpPr/>
          <p:nvPr/>
        </p:nvSpPr>
        <p:spPr bwMode="auto">
          <a:xfrm rot="21132584" flipV="1">
            <a:off x="8170863" y="4503738"/>
            <a:ext cx="1238250" cy="763587"/>
          </a:xfrm>
          <a:custGeom>
            <a:avLst/>
            <a:gdLst>
              <a:gd name="T0" fmla="*/ 0 w 1038225"/>
              <a:gd name="T1" fmla="*/ 650542 h 762779"/>
              <a:gd name="T2" fmla="*/ 943270 w 1038225"/>
              <a:gd name="T3" fmla="*/ 782 h 762779"/>
              <a:gd name="T4" fmla="*/ 2098297 w 1038225"/>
              <a:gd name="T5" fmla="*/ 765206 h 76277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38225" h="762779">
                <a:moveTo>
                  <a:pt x="0" y="648479"/>
                </a:moveTo>
                <a:cubicBezTo>
                  <a:pt x="146844" y="315104"/>
                  <a:pt x="293688" y="-18271"/>
                  <a:pt x="466725" y="779"/>
                </a:cubicBezTo>
                <a:cubicBezTo>
                  <a:pt x="639763" y="19829"/>
                  <a:pt x="1038225" y="762779"/>
                  <a:pt x="1038225" y="76277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8170863" y="4124325"/>
            <a:ext cx="0" cy="1439863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矩形 1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362650" y="4077073"/>
            <a:ext cx="2210029" cy="430887"/>
          </a:xfrm>
          <a:prstGeom prst="rect">
            <a:avLst/>
          </a:prstGeom>
          <a:blipFill>
            <a:blip r:embed="rId2"/>
            <a:stretch>
              <a:fillRect b="-18571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cxnSp>
        <p:nvCxnSpPr>
          <p:cNvPr id="18" name="直接连接符 17"/>
          <p:cNvCxnSpPr>
            <a:cxnSpLocks noChangeShapeType="1"/>
          </p:cNvCxnSpPr>
          <p:nvPr/>
        </p:nvCxnSpPr>
        <p:spPr bwMode="auto">
          <a:xfrm>
            <a:off x="8747125" y="5219700"/>
            <a:ext cx="0" cy="107950"/>
          </a:xfrm>
          <a:prstGeom prst="line">
            <a:avLst/>
          </a:prstGeom>
          <a:noFill/>
          <a:ln w="1587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矩形 2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590103" y="5285477"/>
            <a:ext cx="503086" cy="40011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97360" y="786258"/>
            <a:ext cx="2646878" cy="50270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3200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二分法总结：</a:t>
            </a:r>
            <a:endParaRPr lang="zh-CN" altLang="en-US" sz="3200" kern="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矩形 6"/>
          <p:cNvSpPr>
            <a:spLocks noChangeArrowheads="1"/>
          </p:cNvSpPr>
          <p:nvPr/>
        </p:nvSpPr>
        <p:spPr bwMode="auto">
          <a:xfrm>
            <a:off x="1984375" y="333375"/>
            <a:ext cx="50513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§3.4 </a:t>
            </a:r>
            <a:r>
              <a:rPr lang="zh-CN" altLang="en-US" sz="2800" b="1" dirty="0">
                <a:solidFill>
                  <a:schemeClr val="tx2"/>
                </a:solidFill>
              </a:rPr>
              <a:t>不动点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迭代法及其收敛性</a:t>
            </a:r>
            <a:endParaRPr lang="zh-CN" altLang="en-US" sz="2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7411" name="矩形 8"/>
          <p:cNvSpPr>
            <a:spLocks noChangeArrowheads="1"/>
          </p:cNvSpPr>
          <p:nvPr/>
        </p:nvSpPr>
        <p:spPr bwMode="auto">
          <a:xfrm>
            <a:off x="2095500" y="1125538"/>
            <a:ext cx="24161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660066"/>
                </a:solidFill>
              </a:rPr>
              <a:t>3.4.1 </a:t>
            </a:r>
            <a:r>
              <a:rPr lang="zh-CN" altLang="en-US" sz="2400" b="1">
                <a:solidFill>
                  <a:srgbClr val="660066"/>
                </a:solidFill>
                <a:latin typeface="宋体" panose="02010600030101010101" pitchFamily="2" charset="-122"/>
              </a:rPr>
              <a:t>迭代法思想</a:t>
            </a:r>
            <a:endParaRPr lang="zh-CN" altLang="en-US" sz="2400" b="1">
              <a:solidFill>
                <a:srgbClr val="660066"/>
              </a:solidFill>
            </a:endParaRPr>
          </a:p>
        </p:txBody>
      </p:sp>
      <p:sp>
        <p:nvSpPr>
          <p:cNvPr id="17412" name="Rectangle 3"/>
          <p:cNvSpPr txBox="1">
            <a:spLocks noChangeArrowheads="1"/>
          </p:cNvSpPr>
          <p:nvPr/>
        </p:nvSpPr>
        <p:spPr bwMode="auto">
          <a:xfrm>
            <a:off x="2495550" y="1628775"/>
            <a:ext cx="7421563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</a:t>
            </a:r>
            <a:r>
              <a:rPr lang="zh-CN" altLang="en-US" sz="2400"/>
              <a:t>对于                   ，如果可以写成形式： </a:t>
            </a:r>
            <a:endParaRPr lang="en-US" altLang="zh-CN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13" name="Object 8"/>
              <p:cNvSpPr txBox="1"/>
              <p:nvPr/>
            </p:nvSpPr>
            <p:spPr bwMode="auto">
              <a:xfrm>
                <a:off x="3432175" y="1844675"/>
                <a:ext cx="1223963" cy="4365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741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2175" y="1844675"/>
                <a:ext cx="1223963" cy="436563"/>
              </a:xfrm>
              <a:prstGeom prst="rect">
                <a:avLst/>
              </a:prstGeom>
              <a:blipFill rotWithShape="1">
                <a:blip r:embed="rId1"/>
                <a:stretch>
                  <a:fillRect r="26" b="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414" name="Object 9"/>
              <p:cNvSpPr txBox="1"/>
              <p:nvPr/>
            </p:nvSpPr>
            <p:spPr bwMode="auto">
              <a:xfrm>
                <a:off x="4800600" y="2420938"/>
                <a:ext cx="1341438" cy="4778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7414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0600" y="2420938"/>
                <a:ext cx="1341438" cy="477837"/>
              </a:xfrm>
              <a:prstGeom prst="rect">
                <a:avLst/>
              </a:prstGeom>
              <a:blipFill rotWithShape="1">
                <a:blip r:embed="rId2"/>
                <a:stretch>
                  <a:fillRect t="-67" r="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/>
          <p:cNvGrpSpPr/>
          <p:nvPr/>
        </p:nvGrpSpPr>
        <p:grpSpPr>
          <a:xfrm>
            <a:off x="2039318" y="2940844"/>
            <a:ext cx="5352826" cy="1183481"/>
            <a:chOff x="2039318" y="2940844"/>
            <a:chExt cx="5352826" cy="118348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415" name="Object 10"/>
                <p:cNvSpPr txBox="1"/>
                <p:nvPr/>
              </p:nvSpPr>
              <p:spPr bwMode="auto">
                <a:xfrm>
                  <a:off x="3479180" y="3012281"/>
                  <a:ext cx="3912964" cy="111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>
                    <a:lnSpc>
                      <a:spcPts val="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altLang="zh-CN" i="1" dirty="0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ts val="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7415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79180" y="3012281"/>
                  <a:ext cx="3912964" cy="1112044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/>
            <p:cNvSpPr/>
            <p:nvPr/>
          </p:nvSpPr>
          <p:spPr bwMode="auto">
            <a:xfrm>
              <a:off x="2039318" y="2940844"/>
              <a:ext cx="1416050" cy="6461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990600" lvl="1" indent="-533400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 如： </a:t>
              </a:r>
              <a:endParaRPr lang="en-US" altLang="zh-CN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52105" y="4072156"/>
            <a:ext cx="7230962" cy="2140526"/>
            <a:chOff x="2352105" y="4072156"/>
            <a:chExt cx="7230962" cy="214052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417" name="Object 12"/>
                <p:cNvSpPr txBox="1"/>
                <p:nvPr/>
              </p:nvSpPr>
              <p:spPr bwMode="auto">
                <a:xfrm>
                  <a:off x="3593480" y="4072156"/>
                  <a:ext cx="1926456" cy="6257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7417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93480" y="4072156"/>
                  <a:ext cx="1926456" cy="625754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421" name="Object 14"/>
                <p:cNvSpPr txBox="1"/>
                <p:nvPr/>
              </p:nvSpPr>
              <p:spPr bwMode="auto">
                <a:xfrm>
                  <a:off x="8970218" y="4858133"/>
                  <a:ext cx="612849" cy="5306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7421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70218" y="4858133"/>
                  <a:ext cx="612849" cy="530636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418" name="矩形 14"/>
            <p:cNvSpPr>
              <a:spLocks noChangeArrowheads="1"/>
            </p:cNvSpPr>
            <p:nvPr/>
          </p:nvSpPr>
          <p:spPr bwMode="auto">
            <a:xfrm>
              <a:off x="2747343" y="4084799"/>
              <a:ext cx="846137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/>
                <a:t>若由                       </a:t>
              </a:r>
              <a:endParaRPr lang="zh-CN" altLang="en-US" sz="2400" dirty="0"/>
            </a:p>
          </p:txBody>
        </p:sp>
        <p:sp>
          <p:nvSpPr>
            <p:cNvPr id="17419" name="矩形 16"/>
            <p:cNvSpPr>
              <a:spLocks noChangeArrowheads="1"/>
            </p:cNvSpPr>
            <p:nvPr/>
          </p:nvSpPr>
          <p:spPr bwMode="auto">
            <a:xfrm>
              <a:off x="2352105" y="4875671"/>
              <a:ext cx="684023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/>
                <a:t>产生的序列                                                    </a:t>
              </a:r>
              <a:r>
                <a:rPr lang="zh-CN" altLang="en-US" sz="2400" dirty="0">
                  <a:solidFill>
                    <a:srgbClr val="FF0000"/>
                  </a:solidFill>
                </a:rPr>
                <a:t>收敛</a:t>
              </a:r>
              <a:r>
                <a:rPr lang="zh-CN" altLang="en-US" sz="2400" dirty="0"/>
                <a:t>于</a:t>
              </a:r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420" name="Object 13"/>
                <p:cNvSpPr txBox="1"/>
                <p:nvPr/>
              </p:nvSpPr>
              <p:spPr bwMode="auto">
                <a:xfrm>
                  <a:off x="3879354" y="4850806"/>
                  <a:ext cx="4176464" cy="4963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 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 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１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 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，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２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 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... 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，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...</m:t>
                            </m: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7420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79354" y="4850806"/>
                  <a:ext cx="4176464" cy="496391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422" name="矩形 20"/>
            <p:cNvSpPr>
              <a:spLocks noChangeArrowheads="1"/>
            </p:cNvSpPr>
            <p:nvPr/>
          </p:nvSpPr>
          <p:spPr bwMode="auto">
            <a:xfrm>
              <a:off x="2471118" y="5388769"/>
              <a:ext cx="4921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则</a:t>
              </a:r>
              <a:endParaRPr lang="zh-CN" altLang="en-US" sz="2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423" name="Object 15"/>
                <p:cNvSpPr txBox="1"/>
                <p:nvPr/>
              </p:nvSpPr>
              <p:spPr bwMode="auto">
                <a:xfrm>
                  <a:off x="3550618" y="5676107"/>
                  <a:ext cx="4833937" cy="536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)⇒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是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的根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7423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50618" y="5676107"/>
                  <a:ext cx="4833937" cy="536575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384555" y="1852813"/>
                <a:ext cx="3466907" cy="88357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:r>
                  <a:rPr lang="zh-CN" altLang="en-US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求</a:t>
                </a:r>
                <a:r>
                  <a:rPr lang="en-US" altLang="zh-CN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f(x)</a:t>
                </a:r>
                <a:r>
                  <a:rPr lang="zh-CN" altLang="en-US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的根转化成求</a:t>
                </a:r>
                <a14:m>
                  <m:oMath xmlns:m="http://schemas.openxmlformats.org/officeDocument/2006/math">
                    <m:r>
                      <a:rPr lang="zh-CN" altLang="en-US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𝜑</m:t>
                    </m:r>
                    <m:r>
                      <a:rPr lang="en-US" altLang="zh-CN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(</m:t>
                    </m:r>
                    <m:r>
                      <a:rPr lang="en-US" altLang="zh-CN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𝑥</m:t>
                    </m:r>
                    <m:r>
                      <a:rPr lang="en-US" altLang="zh-CN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的不动点</a:t>
                </a:r>
                <a:endParaRPr lang="zh-CN" altLang="en-US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555" y="1852813"/>
                <a:ext cx="3466907" cy="883575"/>
              </a:xfrm>
              <a:prstGeom prst="rect">
                <a:avLst/>
              </a:prstGeom>
              <a:blipFill rotWithShape="1">
                <a:blip r:embed="rId8"/>
                <a:stretch>
                  <a:fillRect t="-59" r="13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2840848" y="6245935"/>
            <a:ext cx="6567519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7030A0"/>
                </a:solidFill>
                <a:latin typeface="KaTeX_Math"/>
              </a:rPr>
              <a:t>x</a:t>
            </a:r>
            <a:r>
              <a:rPr lang="zh-CN" altLang="en-US" dirty="0">
                <a:solidFill>
                  <a:srgbClr val="7030A0"/>
                </a:solidFill>
                <a:latin typeface="KaTeX_Main"/>
              </a:rPr>
              <a:t>∗</a:t>
            </a:r>
            <a:r>
              <a:rPr lang="zh-CN" altLang="en-US" dirty="0">
                <a:solidFill>
                  <a:srgbClr val="7030A0"/>
                </a:solidFill>
                <a:latin typeface="quote-cjk-patch"/>
              </a:rPr>
              <a:t> 就是方程 </a:t>
            </a:r>
            <a:r>
              <a:rPr lang="en-US" altLang="zh-CN" i="1" dirty="0">
                <a:solidFill>
                  <a:srgbClr val="7030A0"/>
                </a:solidFill>
                <a:latin typeface="KaTeX_Math"/>
              </a:rPr>
              <a:t>x</a:t>
            </a:r>
            <a:r>
              <a:rPr lang="en-US" altLang="zh-CN" dirty="0">
                <a:solidFill>
                  <a:srgbClr val="7030A0"/>
                </a:solidFill>
                <a:latin typeface="KaTeX_Main"/>
              </a:rPr>
              <a:t>=</a:t>
            </a:r>
            <a:r>
              <a:rPr lang="en-US" altLang="zh-CN" i="1" dirty="0">
                <a:solidFill>
                  <a:srgbClr val="7030A0"/>
                </a:solidFill>
                <a:latin typeface="KaTeX_Math"/>
              </a:rPr>
              <a:t>φ</a:t>
            </a:r>
            <a:r>
              <a:rPr lang="en-US" altLang="zh-CN" dirty="0">
                <a:solidFill>
                  <a:srgbClr val="7030A0"/>
                </a:solidFill>
                <a:latin typeface="KaTeX_Main"/>
              </a:rPr>
              <a:t>(</a:t>
            </a:r>
            <a:r>
              <a:rPr lang="en-US" altLang="zh-CN" i="1" dirty="0">
                <a:solidFill>
                  <a:srgbClr val="7030A0"/>
                </a:solidFill>
                <a:latin typeface="KaTeX_Math"/>
              </a:rPr>
              <a:t>x</a:t>
            </a:r>
            <a:r>
              <a:rPr lang="en-US" altLang="zh-CN" dirty="0">
                <a:solidFill>
                  <a:srgbClr val="7030A0"/>
                </a:solidFill>
                <a:latin typeface="KaTeX_Main"/>
              </a:rPr>
              <a:t>)</a:t>
            </a:r>
            <a:r>
              <a:rPr lang="zh-CN" altLang="en-US" dirty="0">
                <a:solidFill>
                  <a:srgbClr val="7030A0"/>
                </a:solidFill>
                <a:latin typeface="quote-cjk-patch"/>
              </a:rPr>
              <a:t> 的一个根（即不动点）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 txBox="1">
            <a:spLocks noChangeArrowheads="1"/>
          </p:cNvSpPr>
          <p:nvPr/>
        </p:nvSpPr>
        <p:spPr bwMode="auto">
          <a:xfrm>
            <a:off x="2495550" y="428625"/>
            <a:ext cx="7421563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</a:t>
            </a:r>
            <a:r>
              <a:rPr lang="zh-CN" altLang="en-US" sz="2400"/>
              <a:t>对于                   ，写成形如</a:t>
            </a:r>
            <a:endParaRPr lang="en-US" altLang="zh-CN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35" name="Object 8"/>
              <p:cNvSpPr txBox="1"/>
              <p:nvPr/>
            </p:nvSpPr>
            <p:spPr bwMode="auto">
              <a:xfrm>
                <a:off x="3503613" y="644525"/>
                <a:ext cx="1223962" cy="4365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8435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3613" y="644525"/>
                <a:ext cx="1223962" cy="436563"/>
              </a:xfrm>
              <a:prstGeom prst="rect">
                <a:avLst/>
              </a:prstGeom>
              <a:blipFill rotWithShape="1">
                <a:blip r:embed="rId1"/>
                <a:stretch>
                  <a:fillRect l="-26" b="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36" name="Object 9"/>
              <p:cNvSpPr txBox="1"/>
              <p:nvPr/>
            </p:nvSpPr>
            <p:spPr bwMode="auto">
              <a:xfrm>
                <a:off x="4872038" y="1165225"/>
                <a:ext cx="1341437" cy="4778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8436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2038" y="1165225"/>
                <a:ext cx="1341437" cy="477838"/>
              </a:xfrm>
              <a:prstGeom prst="rect">
                <a:avLst/>
              </a:prstGeom>
              <a:blipFill rotWithShape="1">
                <a:blip r:embed="rId2"/>
                <a:stretch>
                  <a:fillRect l="-24" b="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40" name="矩形 15"/>
          <p:cNvSpPr>
            <a:spLocks noChangeArrowheads="1"/>
          </p:cNvSpPr>
          <p:nvPr/>
        </p:nvSpPr>
        <p:spPr bwMode="auto">
          <a:xfrm>
            <a:off x="1868732" y="1569468"/>
            <a:ext cx="2800767" cy="120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90600" indent="-5334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150000"/>
              </a:lnSpc>
              <a:buFontTx/>
              <a:buNone/>
            </a:pPr>
            <a:r>
              <a:rPr lang="zh-CN" altLang="en-US" sz="2400" dirty="0"/>
              <a:t>可能有很多种。</a:t>
            </a:r>
            <a:endParaRPr lang="en-US" altLang="zh-CN" sz="2400" dirty="0"/>
          </a:p>
          <a:p>
            <a:pPr lvl="1">
              <a:lnSpc>
                <a:spcPct val="150000"/>
              </a:lnSpc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例：对于 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41" name="Object 7"/>
              <p:cNvSpPr txBox="1"/>
              <p:nvPr/>
            </p:nvSpPr>
            <p:spPr bwMode="auto">
              <a:xfrm>
                <a:off x="3777456" y="2328469"/>
                <a:ext cx="3013075" cy="536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844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7456" y="2328469"/>
                <a:ext cx="3013075" cy="536575"/>
              </a:xfrm>
              <a:prstGeom prst="rect">
                <a:avLst/>
              </a:prstGeom>
              <a:blipFill rotWithShape="1">
                <a:blip r:embed="rId3"/>
                <a:stretch>
                  <a:fillRect l="-16" t="-104" r="16" b="1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 bwMode="auto">
          <a:xfrm>
            <a:off x="6357144" y="2228874"/>
            <a:ext cx="1262062" cy="6461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0600" lvl="1" indent="-533400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有：</a:t>
            </a:r>
            <a:endParaRPr lang="en-US" altLang="zh-CN" kern="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667000" y="3346450"/>
            <a:ext cx="5727700" cy="796925"/>
            <a:chOff x="2667000" y="3346450"/>
            <a:chExt cx="5727700" cy="796925"/>
          </a:xfrm>
        </p:grpSpPr>
        <p:graphicFrame>
          <p:nvGraphicFramePr>
            <p:cNvPr id="18437" name="Object 10"/>
            <p:cNvGraphicFramePr>
              <a:graphicFrameLocks noChangeAspect="1"/>
            </p:cNvGraphicFramePr>
            <p:nvPr/>
          </p:nvGraphicFramePr>
          <p:xfrm>
            <a:off x="2667000" y="3346450"/>
            <a:ext cx="5727700" cy="627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388" name="Equation" r:id="rId4" imgW="42129075" imgH="4610100" progId="Equation.DSMT4">
                    <p:embed/>
                  </p:oleObj>
                </mc:Choice>
                <mc:Fallback>
                  <p:oleObj name="Equation" r:id="rId4" imgW="42129075" imgH="46101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000" y="3346450"/>
                          <a:ext cx="5727700" cy="6270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3" name="Object 11"/>
            <p:cNvGraphicFramePr>
              <a:graphicFrameLocks noChangeAspect="1"/>
            </p:cNvGraphicFramePr>
            <p:nvPr/>
          </p:nvGraphicFramePr>
          <p:xfrm>
            <a:off x="4462463" y="3697288"/>
            <a:ext cx="1714500" cy="446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389" name="Equation" r:id="rId6" imgW="16021050" imgH="4171950" progId="Equation.DSMT4">
                    <p:embed/>
                  </p:oleObj>
                </mc:Choice>
                <mc:Fallback>
                  <p:oleObj name="Equation" r:id="rId6" imgW="16021050" imgH="417195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2463" y="3697288"/>
                          <a:ext cx="1714500" cy="446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2686050" y="4357688"/>
            <a:ext cx="5195888" cy="744537"/>
            <a:chOff x="2686050" y="4357688"/>
            <a:chExt cx="5195888" cy="744537"/>
          </a:xfrm>
        </p:grpSpPr>
        <p:graphicFrame>
          <p:nvGraphicFramePr>
            <p:cNvPr id="18438" name="Object 12"/>
            <p:cNvGraphicFramePr>
              <a:graphicFrameLocks noChangeAspect="1"/>
            </p:cNvGraphicFramePr>
            <p:nvPr/>
          </p:nvGraphicFramePr>
          <p:xfrm>
            <a:off x="2686050" y="4357688"/>
            <a:ext cx="5195888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390" name="Equation" r:id="rId8" imgW="38176200" imgH="4391025" progId="Equation.DSMT4">
                    <p:embed/>
                  </p:oleObj>
                </mc:Choice>
                <mc:Fallback>
                  <p:oleObj name="Equation" r:id="rId8" imgW="38176200" imgH="4391025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6050" y="4357688"/>
                          <a:ext cx="5195888" cy="596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4" name="Object 9"/>
            <p:cNvGraphicFramePr>
              <a:graphicFrameLocks noChangeAspect="1"/>
            </p:cNvGraphicFramePr>
            <p:nvPr/>
          </p:nvGraphicFramePr>
          <p:xfrm>
            <a:off x="4381500" y="4679950"/>
            <a:ext cx="1527175" cy="422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391" name="Equation" r:id="rId10" imgW="14258925" imgH="3952875" progId="Equation.DSMT4">
                    <p:embed/>
                  </p:oleObj>
                </mc:Choice>
                <mc:Fallback>
                  <p:oleObj name="Equation" r:id="rId10" imgW="14258925" imgH="3952875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1500" y="4679950"/>
                          <a:ext cx="1527175" cy="422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/>
          <p:nvPr/>
        </p:nvGrpSpPr>
        <p:grpSpPr>
          <a:xfrm>
            <a:off x="2298700" y="5343525"/>
            <a:ext cx="8116888" cy="1111250"/>
            <a:chOff x="2298700" y="5343525"/>
            <a:chExt cx="8116888" cy="1111250"/>
          </a:xfrm>
        </p:grpSpPr>
        <p:graphicFrame>
          <p:nvGraphicFramePr>
            <p:cNvPr id="18439" name="Object 7"/>
            <p:cNvGraphicFramePr>
              <a:graphicFrameLocks noChangeAspect="1"/>
            </p:cNvGraphicFramePr>
            <p:nvPr/>
          </p:nvGraphicFramePr>
          <p:xfrm>
            <a:off x="2298700" y="5343525"/>
            <a:ext cx="8116888" cy="1014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392" name="Equation" r:id="rId12" imgW="59683650" imgH="7458075" progId="Equation.DSMT4">
                    <p:embed/>
                  </p:oleObj>
                </mc:Choice>
                <mc:Fallback>
                  <p:oleObj name="Equation" r:id="rId12" imgW="59683650" imgH="7458075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8700" y="5343525"/>
                          <a:ext cx="8116888" cy="1014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5" name="Object 13"/>
            <p:cNvGraphicFramePr>
              <a:graphicFrameLocks noChangeAspect="1"/>
            </p:cNvGraphicFramePr>
            <p:nvPr/>
          </p:nvGraphicFramePr>
          <p:xfrm>
            <a:off x="4943475" y="5786438"/>
            <a:ext cx="2152650" cy="668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393" name="Equation" r:id="rId14" imgW="21945600" imgH="6800850" progId="Equation.DSMT4">
                    <p:embed/>
                  </p:oleObj>
                </mc:Choice>
                <mc:Fallback>
                  <p:oleObj name="Equation" r:id="rId14" imgW="21945600" imgH="680085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3475" y="5786438"/>
                          <a:ext cx="2152650" cy="668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9" name="Object 11"/>
          <p:cNvGraphicFramePr>
            <a:graphicFrameLocks noChangeAspect="1"/>
          </p:cNvGraphicFramePr>
          <p:nvPr/>
        </p:nvGraphicFramePr>
        <p:xfrm>
          <a:off x="3633793" y="1125538"/>
          <a:ext cx="4114813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9" name="Equation" r:id="rId1" imgW="30279975" imgH="7896225" progId="Equation.DSMT4">
                  <p:embed/>
                </p:oleObj>
              </mc:Choice>
              <mc:Fallback>
                <p:oleObj name="Equation" r:id="rId1" imgW="30279975" imgH="789622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93" y="1125538"/>
                        <a:ext cx="4114813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 bwMode="auto">
          <a:xfrm>
            <a:off x="1919288" y="549275"/>
            <a:ext cx="1724025" cy="6461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0600" lvl="1" indent="-533400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又如： </a:t>
            </a:r>
            <a:endParaRPr lang="en-US" altLang="zh-CN" kern="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566988" y="4652963"/>
            <a:ext cx="7898841" cy="1573211"/>
            <a:chOff x="2566988" y="4652963"/>
            <a:chExt cx="7898841" cy="1573211"/>
          </a:xfrm>
        </p:grpSpPr>
        <p:sp>
          <p:nvSpPr>
            <p:cNvPr id="23" name="矩形 22"/>
            <p:cNvSpPr/>
            <p:nvPr/>
          </p:nvSpPr>
          <p:spPr bwMode="auto">
            <a:xfrm>
              <a:off x="2566988" y="4652963"/>
              <a:ext cx="1492250" cy="64611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lvl="1" indent="-533400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kern="0" dirty="0">
                  <a:solidFill>
                    <a:srgbClr val="FF0000"/>
                  </a:solidFill>
                  <a:latin typeface="Times New Roman" panose="02020603050405020304"/>
                  <a:ea typeface="宋体" panose="02010600030101010101" pitchFamily="2" charset="-122"/>
                </a:rPr>
                <a:t>一般地： </a:t>
              </a:r>
              <a:endParaRPr lang="en-US" altLang="zh-CN" kern="0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462" name="Object 15"/>
                <p:cNvSpPr txBox="1"/>
                <p:nvPr/>
              </p:nvSpPr>
              <p:spPr bwMode="auto">
                <a:xfrm>
                  <a:off x="3643313" y="4686299"/>
                  <a:ext cx="6822516" cy="1539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１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２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... 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),</m:t>
                        </m:r>
                      </m:oMath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      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,...  ,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9462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43313" y="4686299"/>
                  <a:ext cx="6822516" cy="1539875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组合 1"/>
          <p:cNvGrpSpPr/>
          <p:nvPr/>
        </p:nvGrpSpPr>
        <p:grpSpPr>
          <a:xfrm>
            <a:off x="2495550" y="2420938"/>
            <a:ext cx="5511819" cy="1944687"/>
            <a:chOff x="2495550" y="2420938"/>
            <a:chExt cx="5511819" cy="1944687"/>
          </a:xfrm>
        </p:grpSpPr>
        <p:sp>
          <p:nvSpPr>
            <p:cNvPr id="19463" name="矩形 15"/>
            <p:cNvSpPr>
              <a:spLocks noChangeArrowheads="1"/>
            </p:cNvSpPr>
            <p:nvPr/>
          </p:nvSpPr>
          <p:spPr bwMode="auto">
            <a:xfrm>
              <a:off x="2495550" y="2420938"/>
              <a:ext cx="1800225" cy="646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indent="-53340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lvl="1">
                <a:lnSpc>
                  <a:spcPct val="150000"/>
                </a:lnSpc>
                <a:buFontTx/>
                <a:buNone/>
              </a:pPr>
              <a:r>
                <a:rPr lang="zh-CN" altLang="en-US" sz="2400" dirty="0">
                  <a:solidFill>
                    <a:srgbClr val="FF0000"/>
                  </a:solidFill>
                </a:rPr>
                <a:t>最简单地： </a:t>
              </a:r>
              <a:endParaRPr lang="en-US" altLang="zh-CN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19464" name="Object 10"/>
            <p:cNvGraphicFramePr>
              <a:graphicFrameLocks noChangeAspect="1"/>
            </p:cNvGraphicFramePr>
            <p:nvPr/>
          </p:nvGraphicFramePr>
          <p:xfrm>
            <a:off x="3533780" y="3284538"/>
            <a:ext cx="4473589" cy="1081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90" name="Equation" r:id="rId4" imgW="32918400" imgH="7896225" progId="Equation.DSMT4">
                    <p:embed/>
                  </p:oleObj>
                </mc:Choice>
                <mc:Fallback>
                  <p:oleObj name="Equation" r:id="rId4" imgW="32918400" imgH="7896225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3780" y="3284538"/>
                          <a:ext cx="4473589" cy="1081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组合 9"/>
          <p:cNvGrpSpPr/>
          <p:nvPr/>
        </p:nvGrpSpPr>
        <p:grpSpPr bwMode="auto">
          <a:xfrm>
            <a:off x="2135188" y="404813"/>
            <a:ext cx="8061325" cy="5903912"/>
            <a:chOff x="611188" y="404813"/>
            <a:chExt cx="8061325" cy="5903912"/>
          </a:xfrm>
        </p:grpSpPr>
        <p:sp>
          <p:nvSpPr>
            <p:cNvPr id="20483" name="矩形 17"/>
            <p:cNvSpPr>
              <a:spLocks noChangeArrowheads="1"/>
            </p:cNvSpPr>
            <p:nvPr/>
          </p:nvSpPr>
          <p:spPr bwMode="auto">
            <a:xfrm>
              <a:off x="611188" y="404813"/>
              <a:ext cx="3043237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rgbClr val="660066"/>
                  </a:solidFill>
                </a:rPr>
                <a:t>3.4.2 </a:t>
              </a:r>
              <a:r>
                <a:rPr lang="zh-CN" altLang="en-US" sz="2400" b="1">
                  <a:solidFill>
                    <a:srgbClr val="660066"/>
                  </a:solidFill>
                  <a:latin typeface="宋体" panose="02010600030101010101" pitchFamily="2" charset="-122"/>
                </a:rPr>
                <a:t>迭代法的收敛性</a:t>
              </a:r>
              <a:endParaRPr lang="zh-CN" altLang="en-US" sz="2400" b="1">
                <a:solidFill>
                  <a:srgbClr val="660066"/>
                </a:solidFill>
              </a:endParaRPr>
            </a:p>
          </p:txBody>
        </p:sp>
        <p:sp>
          <p:nvSpPr>
            <p:cNvPr id="20484" name="Rectangle 3"/>
            <p:cNvSpPr txBox="1">
              <a:spLocks noChangeArrowheads="1"/>
            </p:cNvSpPr>
            <p:nvPr/>
          </p:nvSpPr>
          <p:spPr bwMode="auto">
            <a:xfrm>
              <a:off x="900113" y="1125538"/>
              <a:ext cx="7772400" cy="518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en-US" altLang="zh-CN" dirty="0"/>
                <a:t>  </a:t>
              </a:r>
              <a:r>
                <a:rPr lang="zh-CN" altLang="en-US" sz="2400" dirty="0"/>
                <a:t>若                                   收敛，即         </a:t>
              </a:r>
              <a:endParaRPr lang="zh-CN" altLang="en-US" sz="2400" dirty="0"/>
            </a:p>
            <a:p>
              <a:pPr>
                <a:lnSpc>
                  <a:spcPct val="150000"/>
                </a:lnSpc>
              </a:pPr>
              <a:endParaRPr lang="en-US" altLang="zh-CN" sz="2400" dirty="0"/>
            </a:p>
            <a:p>
              <a:pPr>
                <a:lnSpc>
                  <a:spcPct val="150000"/>
                </a:lnSpc>
              </a:pPr>
              <a:endParaRPr lang="zh-CN" altLang="en-US" sz="2400" dirty="0"/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  则得                    的一个根</a:t>
              </a:r>
              <a:endParaRPr lang="zh-CN" altLang="en-US" sz="2400" dirty="0"/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None/>
              </a:pPr>
              <a:endParaRPr lang="zh-CN" altLang="en-US" sz="2400" dirty="0"/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None/>
              </a:pPr>
              <a:endParaRPr lang="zh-CN" altLang="en-US" sz="2400" dirty="0"/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None/>
              </a:pPr>
              <a:endParaRPr lang="zh-CN" altLang="en-US" sz="2400" dirty="0"/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　称此迭代过程收敛。</a:t>
              </a:r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485" name="Object 15"/>
                <p:cNvSpPr txBox="1"/>
                <p:nvPr/>
              </p:nvSpPr>
              <p:spPr bwMode="auto">
                <a:xfrm>
                  <a:off x="1606547" y="1357298"/>
                  <a:ext cx="2536825" cy="5222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0485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06547" y="1357298"/>
                  <a:ext cx="2536825" cy="52228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486" name="Object 16"/>
                <p:cNvSpPr txBox="1"/>
                <p:nvPr/>
              </p:nvSpPr>
              <p:spPr bwMode="auto">
                <a:xfrm>
                  <a:off x="2390775" y="2178050"/>
                  <a:ext cx="1843088" cy="78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func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0486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90775" y="2178050"/>
                  <a:ext cx="1843088" cy="784225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487" name="Object 17"/>
                <p:cNvSpPr txBox="1"/>
                <p:nvPr/>
              </p:nvSpPr>
              <p:spPr bwMode="auto">
                <a:xfrm>
                  <a:off x="4572000" y="3212860"/>
                  <a:ext cx="417513" cy="4761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0487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72000" y="3212860"/>
                  <a:ext cx="417513" cy="476195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488" name="Object 18"/>
                <p:cNvSpPr txBox="1"/>
                <p:nvPr/>
              </p:nvSpPr>
              <p:spPr bwMode="auto">
                <a:xfrm>
                  <a:off x="1691680" y="3289300"/>
                  <a:ext cx="1584176" cy="6376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/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0488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91680" y="3289300"/>
                  <a:ext cx="1584176" cy="637645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aphicFrame>
          <p:nvGraphicFramePr>
            <p:cNvPr id="20489" name="Object 19"/>
            <p:cNvGraphicFramePr>
              <a:graphicFrameLocks noChangeAspect="1"/>
            </p:cNvGraphicFramePr>
            <p:nvPr/>
          </p:nvGraphicFramePr>
          <p:xfrm>
            <a:off x="1187450" y="4149725"/>
            <a:ext cx="6470650" cy="1298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53" name="Equation" r:id="rId5" imgW="44100750" imgH="8772525" progId="Equation.DSMT4">
                    <p:embed/>
                  </p:oleObj>
                </mc:Choice>
                <mc:Fallback>
                  <p:oleObj name="Equation" r:id="rId5" imgW="44100750" imgH="8772525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7450" y="4149725"/>
                          <a:ext cx="6470650" cy="1298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3933508" y="4749883"/>
            <a:ext cx="1154380" cy="307777"/>
            <a:chOff x="3933508" y="4749883"/>
            <a:chExt cx="1154380" cy="307777"/>
          </a:xfrm>
        </p:grpSpPr>
        <p:cxnSp>
          <p:nvCxnSpPr>
            <p:cNvPr id="4" name="直接箭头连接符 3"/>
            <p:cNvCxnSpPr/>
            <p:nvPr/>
          </p:nvCxnSpPr>
          <p:spPr bwMode="auto">
            <a:xfrm>
              <a:off x="4836319" y="4799012"/>
              <a:ext cx="251569" cy="214164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5" name="矩形 4"/>
            <p:cNvSpPr/>
            <p:nvPr/>
          </p:nvSpPr>
          <p:spPr>
            <a:xfrm>
              <a:off x="3933508" y="4749883"/>
              <a:ext cx="90281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rgbClr val="7030A0"/>
                  </a:solidFill>
                  <a:latin typeface="quote-cjk-patch"/>
                </a:rPr>
                <a:t>序列收敛</a:t>
              </a:r>
              <a:endParaRPr lang="zh-CN" altLang="en-US" sz="1400" dirty="0">
                <a:solidFill>
                  <a:srgbClr val="7030A0"/>
                </a:solidFill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" name="墨迹 1"/>
              <p14:cNvContentPartPr/>
              <p14:nvPr/>
            </p14:nvContentPartPr>
            <p14:xfrm>
              <a:off x="3652520" y="1647825"/>
              <a:ext cx="3009900" cy="141414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8"/>
            </p:blipFill>
            <p:spPr>
              <a:xfrm>
                <a:off x="3652520" y="1647825"/>
                <a:ext cx="3009900" cy="14141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3" name="墨迹 2"/>
              <p14:cNvContentPartPr/>
              <p14:nvPr/>
            </p14:nvContentPartPr>
            <p14:xfrm>
              <a:off x="4109720" y="4095750"/>
              <a:ext cx="360" cy="36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10"/>
            </p:blipFill>
            <p:spPr>
              <a:xfrm>
                <a:off x="4109720" y="409575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组合 33"/>
          <p:cNvGrpSpPr/>
          <p:nvPr/>
        </p:nvGrpSpPr>
        <p:grpSpPr bwMode="auto">
          <a:xfrm>
            <a:off x="2135188" y="404813"/>
            <a:ext cx="7561262" cy="5949950"/>
            <a:chOff x="611188" y="404813"/>
            <a:chExt cx="7561262" cy="5949195"/>
          </a:xfrm>
        </p:grpSpPr>
        <p:sp>
          <p:nvSpPr>
            <p:cNvPr id="21507" name="矩形 9"/>
            <p:cNvSpPr>
              <a:spLocks noChangeArrowheads="1"/>
            </p:cNvSpPr>
            <p:nvPr/>
          </p:nvSpPr>
          <p:spPr bwMode="auto">
            <a:xfrm>
              <a:off x="611188" y="404813"/>
              <a:ext cx="3673475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rgbClr val="660066"/>
                  </a:solidFill>
                </a:rPr>
                <a:t>3.4.3 </a:t>
              </a:r>
              <a:r>
                <a:rPr lang="zh-CN" altLang="en-US" sz="2400" b="1">
                  <a:solidFill>
                    <a:srgbClr val="660066"/>
                  </a:solidFill>
                  <a:latin typeface="宋体" panose="02010600030101010101" pitchFamily="2" charset="-122"/>
                </a:rPr>
                <a:t>迭代法的几何意义</a:t>
              </a:r>
              <a:endParaRPr lang="zh-CN" altLang="en-US" sz="2400" b="1">
                <a:solidFill>
                  <a:srgbClr val="660066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508" name="Rectangle 3"/>
            <p:cNvSpPr txBox="1">
              <a:spLocks noChangeArrowheads="1"/>
            </p:cNvSpPr>
            <p:nvPr/>
          </p:nvSpPr>
          <p:spPr bwMode="auto">
            <a:xfrm>
              <a:off x="1830388" y="1485900"/>
              <a:ext cx="5189537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/>
                <a:t>                           </a:t>
              </a:r>
              <a:r>
                <a:rPr lang="zh-CN" altLang="en-US" sz="2400"/>
                <a:t>交点的横坐标 </a:t>
              </a:r>
              <a:endParaRPr lang="zh-CN" altLang="en-US" sz="2400"/>
            </a:p>
          </p:txBody>
        </p:sp>
        <p:grpSp>
          <p:nvGrpSpPr>
            <p:cNvPr id="21509" name="组合 33"/>
            <p:cNvGrpSpPr/>
            <p:nvPr/>
          </p:nvGrpSpPr>
          <p:grpSpPr bwMode="auto">
            <a:xfrm>
              <a:off x="4081463" y="2492375"/>
              <a:ext cx="4090987" cy="3861633"/>
              <a:chOff x="4082032" y="2492896"/>
              <a:chExt cx="4090368" cy="3861270"/>
            </a:xfrm>
          </p:grpSpPr>
          <p:grpSp>
            <p:nvGrpSpPr>
              <p:cNvPr id="21512" name="Group 71"/>
              <p:cNvGrpSpPr/>
              <p:nvPr/>
            </p:nvGrpSpPr>
            <p:grpSpPr bwMode="auto">
              <a:xfrm>
                <a:off x="4252464" y="2492896"/>
                <a:ext cx="3919936" cy="3796410"/>
                <a:chOff x="1296" y="1056"/>
                <a:chExt cx="2208" cy="1872"/>
              </a:xfrm>
            </p:grpSpPr>
            <p:sp>
              <p:nvSpPr>
                <p:cNvPr id="21533" name="Line 72"/>
                <p:cNvSpPr>
                  <a:spLocks noChangeShapeType="1"/>
                </p:cNvSpPr>
                <p:nvPr/>
              </p:nvSpPr>
              <p:spPr bwMode="auto">
                <a:xfrm>
                  <a:off x="1296" y="2784"/>
                  <a:ext cx="220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tailEnd type="triangl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34" name="Line 73"/>
                <p:cNvSpPr>
                  <a:spLocks noChangeShapeType="1"/>
                </p:cNvSpPr>
                <p:nvPr/>
              </p:nvSpPr>
              <p:spPr bwMode="auto">
                <a:xfrm flipV="1">
                  <a:off x="1344" y="1104"/>
                  <a:ext cx="0" cy="182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tailEnd type="triangl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35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3312" y="2592"/>
                  <a:ext cx="192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800" b="1" i="1"/>
                    <a:t>x</a:t>
                  </a:r>
                  <a:endParaRPr lang="en-US" altLang="zh-CN" sz="1800" b="1" i="1"/>
                </a:p>
              </p:txBody>
            </p:sp>
            <p:sp>
              <p:nvSpPr>
                <p:cNvPr id="21536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1344" y="1056"/>
                  <a:ext cx="192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800" b="1" i="1"/>
                    <a:t>y</a:t>
                  </a:r>
                  <a:endParaRPr lang="en-US" altLang="zh-CN" sz="1800" b="1" i="1"/>
                </a:p>
              </p:txBody>
            </p:sp>
            <p:sp>
              <p:nvSpPr>
                <p:cNvPr id="21537" name="Line 76"/>
                <p:cNvSpPr>
                  <a:spLocks noChangeShapeType="1"/>
                </p:cNvSpPr>
                <p:nvPr/>
              </p:nvSpPr>
              <p:spPr bwMode="auto">
                <a:xfrm flipV="1">
                  <a:off x="1344" y="1296"/>
                  <a:ext cx="1488" cy="14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38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2832" y="1104"/>
                  <a:ext cx="432" cy="1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000" b="1" i="1"/>
                    <a:t>y = x</a:t>
                  </a:r>
                  <a:endParaRPr lang="en-US" altLang="zh-CN" sz="2000" b="1" i="1"/>
                </a:p>
              </p:txBody>
            </p:sp>
          </p:grpSp>
          <p:sp>
            <p:nvSpPr>
              <p:cNvPr id="21513" name="Line 79"/>
              <p:cNvSpPr>
                <a:spLocks noChangeShapeType="1"/>
              </p:cNvSpPr>
              <p:nvPr/>
            </p:nvSpPr>
            <p:spPr bwMode="auto">
              <a:xfrm flipH="1">
                <a:off x="6732240" y="3277730"/>
                <a:ext cx="4720" cy="274355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4" name="Text Box 80"/>
              <p:cNvSpPr txBox="1">
                <a:spLocks noChangeArrowheads="1"/>
              </p:cNvSpPr>
              <p:nvPr/>
            </p:nvSpPr>
            <p:spPr bwMode="auto">
              <a:xfrm>
                <a:off x="6516216" y="5984869"/>
                <a:ext cx="596512" cy="3692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1" i="1"/>
                  <a:t>x*</a:t>
                </a:r>
                <a:endParaRPr lang="en-US" altLang="zh-CN" sz="1800" b="1" i="1"/>
              </a:p>
            </p:txBody>
          </p:sp>
          <p:grpSp>
            <p:nvGrpSpPr>
              <p:cNvPr id="21515" name="Group 81"/>
              <p:cNvGrpSpPr/>
              <p:nvPr/>
            </p:nvGrpSpPr>
            <p:grpSpPr bwMode="auto">
              <a:xfrm>
                <a:off x="4082032" y="3141854"/>
                <a:ext cx="3919936" cy="1498690"/>
                <a:chOff x="240" y="557"/>
                <a:chExt cx="2208" cy="739"/>
              </a:xfrm>
            </p:grpSpPr>
            <p:sp>
              <p:nvSpPr>
                <p:cNvPr id="21529" name="Freeform 82"/>
                <p:cNvSpPr/>
                <p:nvPr/>
              </p:nvSpPr>
              <p:spPr bwMode="auto">
                <a:xfrm>
                  <a:off x="240" y="616"/>
                  <a:ext cx="2016" cy="680"/>
                </a:xfrm>
                <a:custGeom>
                  <a:avLst/>
                  <a:gdLst>
                    <a:gd name="T0" fmla="*/ 0 w 2016"/>
                    <a:gd name="T1" fmla="*/ 680 h 680"/>
                    <a:gd name="T2" fmla="*/ 336 w 2016"/>
                    <a:gd name="T3" fmla="*/ 392 h 680"/>
                    <a:gd name="T4" fmla="*/ 720 w 2016"/>
                    <a:gd name="T5" fmla="*/ 200 h 680"/>
                    <a:gd name="T6" fmla="*/ 1200 w 2016"/>
                    <a:gd name="T7" fmla="*/ 56 h 680"/>
                    <a:gd name="T8" fmla="*/ 1584 w 2016"/>
                    <a:gd name="T9" fmla="*/ 8 h 680"/>
                    <a:gd name="T10" fmla="*/ 2016 w 2016"/>
                    <a:gd name="T11" fmla="*/ 8 h 68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016"/>
                    <a:gd name="T19" fmla="*/ 0 h 680"/>
                    <a:gd name="T20" fmla="*/ 2016 w 2016"/>
                    <a:gd name="T21" fmla="*/ 680 h 68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016" h="680">
                      <a:moveTo>
                        <a:pt x="0" y="680"/>
                      </a:moveTo>
                      <a:cubicBezTo>
                        <a:pt x="108" y="576"/>
                        <a:pt x="216" y="472"/>
                        <a:pt x="336" y="392"/>
                      </a:cubicBezTo>
                      <a:cubicBezTo>
                        <a:pt x="456" y="312"/>
                        <a:pt x="576" y="256"/>
                        <a:pt x="720" y="200"/>
                      </a:cubicBezTo>
                      <a:cubicBezTo>
                        <a:pt x="864" y="144"/>
                        <a:pt x="1056" y="88"/>
                        <a:pt x="1200" y="56"/>
                      </a:cubicBezTo>
                      <a:cubicBezTo>
                        <a:pt x="1344" y="24"/>
                        <a:pt x="1448" y="16"/>
                        <a:pt x="1584" y="8"/>
                      </a:cubicBezTo>
                      <a:cubicBezTo>
                        <a:pt x="1720" y="0"/>
                        <a:pt x="1868" y="4"/>
                        <a:pt x="2016" y="8"/>
                      </a:cubicBezTo>
                    </a:path>
                  </a:pathLst>
                </a:custGeom>
                <a:noFill/>
                <a:ln w="222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30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1872" y="643"/>
                  <a:ext cx="576" cy="1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000" b="1" i="1"/>
                    <a:t>y= </a:t>
                  </a:r>
                  <a:r>
                    <a:rPr lang="en-US" altLang="zh-CN" sz="2000" i="1">
                      <a:latin typeface="Tahoma" panose="020B0604030504040204" pitchFamily="34" charset="0"/>
                      <a:sym typeface="Symbol" panose="05050102010706020507" pitchFamily="18" charset="2"/>
                    </a:rPr>
                    <a:t></a:t>
                  </a:r>
                  <a:r>
                    <a:rPr lang="en-US" altLang="zh-CN" sz="2000" i="1" baseline="30000">
                      <a:latin typeface="Tahoma" panose="020B0604030504040204" pitchFamily="34" charset="0"/>
                      <a:sym typeface="Symbol" panose="05050102010706020507" pitchFamily="18" charset="2"/>
                    </a:rPr>
                    <a:t> </a:t>
                  </a:r>
                  <a:r>
                    <a:rPr lang="en-US" altLang="zh-CN" sz="2000" b="1"/>
                    <a:t>(</a:t>
                  </a:r>
                  <a:r>
                    <a:rPr lang="en-US" altLang="zh-CN" sz="2000" b="1" i="1"/>
                    <a:t>x</a:t>
                  </a:r>
                  <a:r>
                    <a:rPr lang="en-US" altLang="zh-CN" sz="2000" b="1"/>
                    <a:t>)</a:t>
                  </a:r>
                  <a:endParaRPr lang="en-US" altLang="zh-CN" sz="2000" b="1"/>
                </a:p>
              </p:txBody>
            </p:sp>
            <p:sp>
              <p:nvSpPr>
                <p:cNvPr id="21531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75" y="983"/>
                  <a:ext cx="576" cy="1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000" i="1">
                      <a:latin typeface="Tahoma" panose="020B0604030504040204" pitchFamily="34" charset="0"/>
                      <a:sym typeface="Symbol" panose="05050102010706020507" pitchFamily="18" charset="2"/>
                    </a:rPr>
                    <a:t></a:t>
                  </a:r>
                  <a:r>
                    <a:rPr lang="en-US" altLang="zh-CN" sz="2000" i="1" baseline="30000">
                      <a:latin typeface="Tahoma" panose="020B0604030504040204" pitchFamily="34" charset="0"/>
                      <a:sym typeface="Symbol" panose="05050102010706020507" pitchFamily="18" charset="2"/>
                    </a:rPr>
                    <a:t> </a:t>
                  </a:r>
                  <a:r>
                    <a:rPr lang="en-US" altLang="zh-CN" sz="2000" b="1"/>
                    <a:t>(</a:t>
                  </a:r>
                  <a:r>
                    <a:rPr lang="en-US" altLang="zh-CN" sz="2000" b="1" i="1"/>
                    <a:t>x</a:t>
                  </a:r>
                  <a:r>
                    <a:rPr lang="en-US" altLang="zh-CN" sz="2000" b="1" baseline="-25000"/>
                    <a:t>0</a:t>
                  </a:r>
                  <a:r>
                    <a:rPr lang="en-US" altLang="zh-CN" sz="2000" b="1"/>
                    <a:t>)</a:t>
                  </a:r>
                  <a:endParaRPr lang="en-US" altLang="zh-CN" sz="2000" b="1"/>
                </a:p>
              </p:txBody>
            </p:sp>
            <p:sp>
              <p:nvSpPr>
                <p:cNvPr id="21532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759" y="557"/>
                  <a:ext cx="576" cy="1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000" i="1">
                      <a:latin typeface="Tahoma" panose="020B0604030504040204" pitchFamily="34" charset="0"/>
                      <a:sym typeface="Symbol" panose="05050102010706020507" pitchFamily="18" charset="2"/>
                    </a:rPr>
                    <a:t></a:t>
                  </a:r>
                  <a:r>
                    <a:rPr lang="en-US" altLang="zh-CN" sz="2000" i="1" baseline="30000">
                      <a:latin typeface="Tahoma" panose="020B0604030504040204" pitchFamily="34" charset="0"/>
                      <a:sym typeface="Symbol" panose="05050102010706020507" pitchFamily="18" charset="2"/>
                    </a:rPr>
                    <a:t> </a:t>
                  </a:r>
                  <a:r>
                    <a:rPr lang="en-US" altLang="zh-CN" sz="2000" b="1"/>
                    <a:t>(</a:t>
                  </a:r>
                  <a:r>
                    <a:rPr lang="en-US" altLang="zh-CN" sz="2000" b="1" i="1"/>
                    <a:t>x</a:t>
                  </a:r>
                  <a:r>
                    <a:rPr lang="en-US" altLang="zh-CN" sz="2000" b="1" baseline="-25000"/>
                    <a:t>1</a:t>
                  </a:r>
                  <a:r>
                    <a:rPr lang="en-US" altLang="zh-CN" sz="2000" b="1"/>
                    <a:t>)</a:t>
                  </a:r>
                  <a:endParaRPr lang="en-US" altLang="zh-CN" sz="2000" b="1"/>
                </a:p>
              </p:txBody>
            </p:sp>
          </p:grpSp>
          <p:grpSp>
            <p:nvGrpSpPr>
              <p:cNvPr id="21516" name="Group 84"/>
              <p:cNvGrpSpPr/>
              <p:nvPr/>
            </p:nvGrpSpPr>
            <p:grpSpPr bwMode="auto">
              <a:xfrm>
                <a:off x="4422896" y="3569762"/>
                <a:ext cx="511296" cy="2711433"/>
                <a:chOff x="432" y="768"/>
                <a:chExt cx="288" cy="1337"/>
              </a:xfrm>
            </p:grpSpPr>
            <p:sp>
              <p:nvSpPr>
                <p:cNvPr id="21526" name="Line 85"/>
                <p:cNvSpPr>
                  <a:spLocks noChangeShapeType="1"/>
                </p:cNvSpPr>
                <p:nvPr/>
              </p:nvSpPr>
              <p:spPr bwMode="auto">
                <a:xfrm>
                  <a:off x="576" y="1008"/>
                  <a:ext cx="0" cy="91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27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480" y="1923"/>
                  <a:ext cx="240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800" b="1" i="1"/>
                    <a:t>x</a:t>
                  </a:r>
                  <a:r>
                    <a:rPr lang="en-US" altLang="zh-CN" sz="1800" b="1" baseline="-25000"/>
                    <a:t>0</a:t>
                  </a:r>
                  <a:endParaRPr lang="en-US" altLang="zh-CN" sz="1800" b="1" i="1"/>
                </a:p>
              </p:txBody>
            </p:sp>
            <p:sp>
              <p:nvSpPr>
                <p:cNvPr id="21528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432" y="768"/>
                  <a:ext cx="240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800" b="1" i="1"/>
                    <a:t>p</a:t>
                  </a:r>
                  <a:r>
                    <a:rPr lang="en-US" altLang="zh-CN" sz="1800" b="1" baseline="-25000"/>
                    <a:t>0</a:t>
                  </a:r>
                  <a:endParaRPr lang="en-US" altLang="zh-CN" sz="1800" b="1" i="1"/>
                </a:p>
              </p:txBody>
            </p:sp>
          </p:grpSp>
          <p:grpSp>
            <p:nvGrpSpPr>
              <p:cNvPr id="21517" name="Group 88"/>
              <p:cNvGrpSpPr/>
              <p:nvPr/>
            </p:nvGrpSpPr>
            <p:grpSpPr bwMode="auto">
              <a:xfrm>
                <a:off x="4709696" y="4081578"/>
                <a:ext cx="1533888" cy="2200378"/>
                <a:chOff x="576" y="1008"/>
                <a:chExt cx="864" cy="1085"/>
              </a:xfrm>
            </p:grpSpPr>
            <p:sp>
              <p:nvSpPr>
                <p:cNvPr id="21523" name="Line 89"/>
                <p:cNvSpPr>
                  <a:spLocks noChangeShapeType="1"/>
                </p:cNvSpPr>
                <p:nvPr/>
              </p:nvSpPr>
              <p:spPr bwMode="auto">
                <a:xfrm>
                  <a:off x="576" y="1008"/>
                  <a:ext cx="72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24" name="Line 90"/>
                <p:cNvSpPr>
                  <a:spLocks noChangeShapeType="1"/>
                </p:cNvSpPr>
                <p:nvPr/>
              </p:nvSpPr>
              <p:spPr bwMode="auto">
                <a:xfrm>
                  <a:off x="1296" y="1008"/>
                  <a:ext cx="0" cy="91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25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1200" y="1911"/>
                  <a:ext cx="240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800" b="1" i="1"/>
                    <a:t>x</a:t>
                  </a:r>
                  <a:r>
                    <a:rPr lang="en-US" altLang="zh-CN" sz="1800" b="1" baseline="-25000"/>
                    <a:t>1</a:t>
                  </a:r>
                  <a:endParaRPr lang="en-US" altLang="zh-CN" sz="1800" b="1" i="1"/>
                </a:p>
              </p:txBody>
            </p:sp>
          </p:grpSp>
          <p:grpSp>
            <p:nvGrpSpPr>
              <p:cNvPr id="21518" name="Group 92"/>
              <p:cNvGrpSpPr/>
              <p:nvPr/>
            </p:nvGrpSpPr>
            <p:grpSpPr bwMode="auto">
              <a:xfrm>
                <a:off x="5802359" y="2985699"/>
                <a:ext cx="426080" cy="1070782"/>
                <a:chOff x="1191" y="480"/>
                <a:chExt cx="240" cy="528"/>
              </a:xfrm>
            </p:grpSpPr>
            <p:sp>
              <p:nvSpPr>
                <p:cNvPr id="21521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1191" y="480"/>
                  <a:ext cx="240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800" b="1" i="1"/>
                    <a:t>p</a:t>
                  </a:r>
                  <a:r>
                    <a:rPr lang="en-US" altLang="zh-CN" sz="1800" b="1" baseline="-25000"/>
                    <a:t>1</a:t>
                  </a:r>
                  <a:endParaRPr lang="en-US" altLang="zh-CN" sz="1800" b="1" i="1"/>
                </a:p>
              </p:txBody>
            </p:sp>
            <p:sp>
              <p:nvSpPr>
                <p:cNvPr id="21522" name="Line 94"/>
                <p:cNvSpPr>
                  <a:spLocks noChangeShapeType="1"/>
                </p:cNvSpPr>
                <p:nvPr/>
              </p:nvSpPr>
              <p:spPr bwMode="auto">
                <a:xfrm flipV="1">
                  <a:off x="1296" y="720"/>
                  <a:ext cx="0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1519" name="Line 96"/>
              <p:cNvSpPr>
                <a:spLocks noChangeShapeType="1"/>
              </p:cNvSpPr>
              <p:nvPr/>
            </p:nvSpPr>
            <p:spPr bwMode="auto">
              <a:xfrm>
                <a:off x="6050544" y="3472418"/>
                <a:ext cx="5112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0" name="Line 97"/>
              <p:cNvSpPr>
                <a:spLocks noChangeShapeType="1"/>
              </p:cNvSpPr>
              <p:nvPr/>
            </p:nvSpPr>
            <p:spPr bwMode="auto">
              <a:xfrm flipH="1">
                <a:off x="6561840" y="3285430"/>
                <a:ext cx="26574" cy="26924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510" name="Object 9"/>
                <p:cNvSpPr txBox="1"/>
                <p:nvPr/>
              </p:nvSpPr>
              <p:spPr bwMode="auto">
                <a:xfrm>
                  <a:off x="611188" y="1270000"/>
                  <a:ext cx="3325813" cy="1222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/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)⇒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plcHide m:val="on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1510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1188" y="1270000"/>
                  <a:ext cx="3325813" cy="1222375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511" name="Object 33"/>
                <p:cNvSpPr txBox="1"/>
                <p:nvPr/>
              </p:nvSpPr>
              <p:spPr bwMode="auto">
                <a:xfrm>
                  <a:off x="827088" y="2957513"/>
                  <a:ext cx="2913458" cy="294830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plcHide m:val="on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,⋯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1511" name="Object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7088" y="2957513"/>
                  <a:ext cx="2913458" cy="2948303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 txBox="1">
            <a:spLocks noChangeArrowheads="1"/>
          </p:cNvSpPr>
          <p:nvPr/>
        </p:nvSpPr>
        <p:spPr bwMode="auto">
          <a:xfrm>
            <a:off x="2274888" y="188913"/>
            <a:ext cx="7493000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90600" indent="-5334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8000"/>
                </a:solidFill>
              </a:rPr>
              <a:t>例 </a:t>
            </a:r>
            <a:r>
              <a:rPr lang="zh-CN" altLang="en-US" sz="2600" dirty="0"/>
              <a:t>   试用迭代法求方程                      </a:t>
            </a:r>
            <a:endParaRPr lang="zh-CN" altLang="en-US" sz="26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在区间 </a:t>
            </a:r>
            <a:r>
              <a:rPr lang="en-US" altLang="zh-CN" sz="2400" dirty="0"/>
              <a:t>(1, 2) </a:t>
            </a:r>
            <a:r>
              <a:rPr lang="zh-CN" altLang="en-US" sz="2400" dirty="0"/>
              <a:t>内的实根，初始近似值取</a:t>
            </a:r>
            <a:r>
              <a:rPr lang="en-US" altLang="zh-CN" sz="2400" dirty="0"/>
              <a:t> 1.5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解：由                       建立迭代关系</a:t>
            </a:r>
            <a:endParaRPr lang="zh-CN" altLang="en-US" sz="24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14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计算结果如下</a:t>
            </a:r>
            <a:r>
              <a:rPr lang="en-US" altLang="zh-CN" sz="2400" dirty="0">
                <a:latin typeface="宋体" panose="02010600030101010101" pitchFamily="2" charset="-122"/>
              </a:rPr>
              <a:t>: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31" name="Object 7"/>
              <p:cNvSpPr txBox="1"/>
              <p:nvPr/>
            </p:nvSpPr>
            <p:spPr bwMode="auto">
              <a:xfrm>
                <a:off x="3729038" y="1328738"/>
                <a:ext cx="1574800" cy="587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ra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253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29038" y="1328738"/>
                <a:ext cx="1574800" cy="587375"/>
              </a:xfrm>
              <a:prstGeom prst="rect">
                <a:avLst/>
              </a:prstGeom>
              <a:blipFill rotWithShape="1">
                <a:blip r:embed="rId1"/>
                <a:stretch>
                  <a:fillRect l="-20" t="-54" r="20" b="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32" name="Object 8"/>
              <p:cNvSpPr txBox="1"/>
              <p:nvPr/>
            </p:nvSpPr>
            <p:spPr bwMode="auto">
              <a:xfrm>
                <a:off x="5808663" y="115888"/>
                <a:ext cx="3014662" cy="549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253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08663" y="115888"/>
                <a:ext cx="3014662" cy="549275"/>
              </a:xfrm>
              <a:prstGeom prst="rect">
                <a:avLst/>
              </a:prstGeom>
              <a:blipFill rotWithShape="1">
                <a:blip r:embed="rId2"/>
                <a:stretch>
                  <a:fillRect l="-11" t="-58" b="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33" name="Object 9"/>
              <p:cNvSpPr txBox="1"/>
              <p:nvPr/>
            </p:nvSpPr>
            <p:spPr bwMode="auto">
              <a:xfrm>
                <a:off x="3792537" y="2060575"/>
                <a:ext cx="4714875" cy="7923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253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2537" y="2060575"/>
                <a:ext cx="4714875" cy="792361"/>
              </a:xfrm>
              <a:prstGeom prst="rect">
                <a:avLst/>
              </a:prstGeom>
              <a:blipFill rotWithShape="1">
                <a:blip r:embed="rId3"/>
                <a:stretch>
                  <a:fillRect l="-7" r="7" b="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Group 49"/>
          <p:cNvGraphicFramePr>
            <a:graphicFrameLocks noGrp="1"/>
          </p:cNvGraphicFramePr>
          <p:nvPr/>
        </p:nvGraphicFramePr>
        <p:xfrm>
          <a:off x="2208213" y="3213100"/>
          <a:ext cx="8064500" cy="2743200"/>
        </p:xfrm>
        <a:graphic>
          <a:graphicData uri="http://schemas.openxmlformats.org/drawingml/2006/table">
            <a:tbl>
              <a:tblPr/>
              <a:tblGrid>
                <a:gridCol w="792162"/>
                <a:gridCol w="1368425"/>
                <a:gridCol w="1727200"/>
                <a:gridCol w="720725"/>
                <a:gridCol w="1584325"/>
                <a:gridCol w="1871663"/>
              </a:tblGrid>
              <a:tr h="407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endParaRPr kumimoji="0" lang="en-US" altLang="zh-CN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2500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endParaRPr kumimoji="0" lang="en-US" altLang="zh-CN" sz="2400" b="0" i="1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endParaRPr kumimoji="0" lang="en-US" altLang="zh-CN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2500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endParaRPr kumimoji="0" lang="en-US" altLang="zh-CN" sz="2400" b="0" i="1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0.8750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1.32476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1.7930e-004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1.35721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0.1428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1.32473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5.1359e-005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1.33086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0.0263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1.32472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8.7116e-006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1.32588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0.0050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1.32472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8.7116e-006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1.32494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9.4713e-004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85" name="矩形 11"/>
          <p:cNvSpPr>
            <a:spLocks noChangeArrowheads="1"/>
          </p:cNvSpPr>
          <p:nvPr/>
        </p:nvSpPr>
        <p:spPr bwMode="auto">
          <a:xfrm>
            <a:off x="1917700" y="6135688"/>
            <a:ext cx="29543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精确到小数点后五位</a:t>
            </a:r>
            <a:endParaRPr lang="zh-CN" altLang="en-US" sz="2400"/>
          </a:p>
        </p:txBody>
      </p:sp>
      <p:graphicFrame>
        <p:nvGraphicFramePr>
          <p:cNvPr id="14" name="Object 10"/>
          <p:cNvGraphicFramePr>
            <a:graphicFrameLocks noChangeAspect="1"/>
          </p:cNvGraphicFramePr>
          <p:nvPr/>
        </p:nvGraphicFramePr>
        <p:xfrm>
          <a:off x="4943475" y="5949950"/>
          <a:ext cx="3563938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38" name="公式" r:id="rId4" imgW="29841825" imgH="6800850" progId="Equation.3">
                  <p:embed/>
                </p:oleObj>
              </mc:Choice>
              <mc:Fallback>
                <p:oleObj name="公式" r:id="rId4" imgW="29841825" imgH="680085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5949950"/>
                        <a:ext cx="3563938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组合 9"/>
          <p:cNvGrpSpPr/>
          <p:nvPr/>
        </p:nvGrpSpPr>
        <p:grpSpPr bwMode="auto">
          <a:xfrm>
            <a:off x="2424113" y="765175"/>
            <a:ext cx="7772400" cy="5327650"/>
            <a:chOff x="900113" y="765174"/>
            <a:chExt cx="7772400" cy="5328121"/>
          </a:xfrm>
        </p:grpSpPr>
        <p:sp>
          <p:nvSpPr>
            <p:cNvPr id="23555" name="Rectangle 3"/>
            <p:cNvSpPr txBox="1">
              <a:spLocks noChangeArrowheads="1"/>
            </p:cNvSpPr>
            <p:nvPr/>
          </p:nvSpPr>
          <p:spPr bwMode="auto">
            <a:xfrm>
              <a:off x="900113" y="765174"/>
              <a:ext cx="7772400" cy="5328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</a:rPr>
                <a:t>注意</a:t>
              </a:r>
              <a:r>
                <a:rPr lang="zh-CN" altLang="en-US" sz="2400"/>
                <a:t>：如果由　    　            建立迭代公式</a:t>
              </a:r>
              <a:endParaRPr lang="zh-CN" altLang="en-US" sz="2400"/>
            </a:p>
            <a:p>
              <a:pPr>
                <a:lnSpc>
                  <a:spcPct val="150000"/>
                </a:lnSpc>
              </a:pPr>
              <a:endParaRPr lang="en-US" altLang="zh-CN" sz="2400"/>
            </a:p>
            <a:p>
              <a:pPr>
                <a:lnSpc>
                  <a:spcPct val="150000"/>
                </a:lnSpc>
              </a:pPr>
              <a:endParaRPr lang="zh-CN" altLang="en-US" sz="900"/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/>
                <a:t>   仍取     　         ，则有</a:t>
              </a:r>
              <a:endParaRPr lang="en-US" altLang="zh-CN" sz="2400"/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None/>
              </a:pPr>
              <a:endParaRPr lang="en-US" altLang="zh-CN" sz="2400"/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None/>
              </a:pPr>
              <a:endParaRPr lang="en-US" altLang="zh-CN" sz="2400"/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/>
                <a:t>　             </a:t>
              </a:r>
              <a:endParaRPr lang="en-US" altLang="zh-CN" sz="2400"/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/>
                <a:t>             </a:t>
              </a:r>
              <a:endParaRPr lang="zh-CN" altLang="en-US" sz="2400"/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/>
                <a:t>　显然结果越来越大，        是发散序列</a:t>
              </a:r>
              <a:endParaRPr lang="zh-CN" altLang="en-US" sz="2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556" name="Object 9"/>
                <p:cNvSpPr txBox="1"/>
                <p:nvPr/>
              </p:nvSpPr>
              <p:spPr bwMode="auto">
                <a:xfrm>
                  <a:off x="3051175" y="830263"/>
                  <a:ext cx="1454150" cy="4841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3556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51175" y="830263"/>
                  <a:ext cx="1454150" cy="48418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557" name="Object 10"/>
                <p:cNvSpPr txBox="1"/>
                <p:nvPr/>
              </p:nvSpPr>
              <p:spPr bwMode="auto">
                <a:xfrm>
                  <a:off x="2024063" y="1484313"/>
                  <a:ext cx="4420145" cy="5064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,...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3557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24063" y="1484313"/>
                  <a:ext cx="4420145" cy="506412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558" name="Object 11"/>
                <p:cNvSpPr txBox="1"/>
                <p:nvPr/>
              </p:nvSpPr>
              <p:spPr bwMode="auto">
                <a:xfrm>
                  <a:off x="1942678" y="2349500"/>
                  <a:ext cx="1296243" cy="5905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3558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42678" y="2349500"/>
                  <a:ext cx="1296243" cy="590549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559" name="Object 12"/>
                <p:cNvSpPr txBox="1"/>
                <p:nvPr/>
              </p:nvSpPr>
              <p:spPr bwMode="auto">
                <a:xfrm>
                  <a:off x="2590800" y="3149600"/>
                  <a:ext cx="1620838" cy="4905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375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3559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90800" y="3149600"/>
                  <a:ext cx="1620838" cy="490538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560" name="Object 13"/>
                <p:cNvSpPr txBox="1"/>
                <p:nvPr/>
              </p:nvSpPr>
              <p:spPr bwMode="auto">
                <a:xfrm>
                  <a:off x="2592388" y="3870325"/>
                  <a:ext cx="1547812" cy="468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3560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92388" y="3870325"/>
                  <a:ext cx="1547812" cy="468313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561" name="Object 14"/>
                <p:cNvSpPr txBox="1"/>
                <p:nvPr/>
              </p:nvSpPr>
              <p:spPr bwMode="auto">
                <a:xfrm>
                  <a:off x="3924300" y="5443538"/>
                  <a:ext cx="792163" cy="5064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3561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24300" y="5443538"/>
                  <a:ext cx="792163" cy="506412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562" name="Object 8"/>
                <p:cNvSpPr txBox="1"/>
                <p:nvPr/>
              </p:nvSpPr>
              <p:spPr bwMode="auto">
                <a:xfrm>
                  <a:off x="2679700" y="4589463"/>
                  <a:ext cx="1820863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1901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3562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79700" y="4589463"/>
                  <a:ext cx="1820863" cy="495300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组合 21"/>
          <p:cNvGrpSpPr/>
          <p:nvPr/>
        </p:nvGrpSpPr>
        <p:grpSpPr bwMode="auto">
          <a:xfrm>
            <a:off x="1739900" y="404813"/>
            <a:ext cx="9396660" cy="5894387"/>
            <a:chOff x="215329" y="404813"/>
            <a:chExt cx="8893175" cy="5893284"/>
          </a:xfrm>
        </p:grpSpPr>
        <p:sp>
          <p:nvSpPr>
            <p:cNvPr id="24579" name="矩形 9"/>
            <p:cNvSpPr>
              <a:spLocks noChangeArrowheads="1"/>
            </p:cNvSpPr>
            <p:nvPr/>
          </p:nvSpPr>
          <p:spPr bwMode="auto">
            <a:xfrm>
              <a:off x="395288" y="404813"/>
              <a:ext cx="3673475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rgbClr val="660066"/>
                  </a:solidFill>
                </a:rPr>
                <a:t>3.4.4 </a:t>
              </a:r>
              <a:r>
                <a:rPr lang="zh-CN" altLang="en-US" sz="2400" b="1">
                  <a:solidFill>
                    <a:srgbClr val="660066"/>
                  </a:solidFill>
                  <a:latin typeface="宋体" panose="02010600030101010101" pitchFamily="2" charset="-122"/>
                </a:rPr>
                <a:t> 迭代法收敛的条件</a:t>
              </a:r>
              <a:endParaRPr lang="zh-CN" altLang="en-US" sz="2400" b="1">
                <a:solidFill>
                  <a:srgbClr val="660066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580" name="Rectangle 3"/>
            <p:cNvSpPr txBox="1">
              <a:spLocks noChangeArrowheads="1"/>
            </p:cNvSpPr>
            <p:nvPr/>
          </p:nvSpPr>
          <p:spPr bwMode="auto">
            <a:xfrm>
              <a:off x="683642" y="938164"/>
              <a:ext cx="7056437" cy="40747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</a:rPr>
                <a:t>压缩映像原理</a:t>
              </a:r>
              <a:r>
                <a:rPr lang="zh-CN" altLang="en-US" sz="2400" dirty="0">
                  <a:solidFill>
                    <a:srgbClr val="C00000"/>
                  </a:solidFill>
                </a:rPr>
                <a:t> </a:t>
              </a:r>
              <a:endParaRPr lang="en-US" altLang="zh-CN" sz="2400" dirty="0">
                <a:solidFill>
                  <a:srgbClr val="C00000"/>
                </a:solidFill>
              </a:endParaRPr>
            </a:p>
            <a:p>
              <a:pPr eaLnBrk="1" hangingPunct="1">
                <a:lnSpc>
                  <a:spcPct val="150000"/>
                </a:lnSpc>
                <a:buFontTx/>
                <a:buNone/>
              </a:pPr>
              <a:r>
                <a:rPr lang="zh-CN" altLang="en-US" sz="2400" b="1" dirty="0"/>
                <a:t>定理</a:t>
              </a:r>
              <a:r>
                <a:rPr lang="en-US" altLang="zh-CN" sz="2400" b="1" dirty="0"/>
                <a:t>1</a:t>
              </a:r>
              <a:r>
                <a:rPr lang="zh-CN" altLang="en-US" sz="2400" dirty="0"/>
                <a:t>：设迭代函数          在闭区间           上满足</a:t>
              </a:r>
              <a:endParaRPr lang="zh-CN" altLang="en-US" sz="2400" dirty="0"/>
            </a:p>
            <a:p>
              <a:pPr lvl="1"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（</a:t>
              </a:r>
              <a:r>
                <a:rPr lang="en-US" altLang="zh-CN" sz="2400" dirty="0"/>
                <a:t>1</a:t>
              </a:r>
              <a:r>
                <a:rPr lang="zh-CN" altLang="en-US" sz="2400" dirty="0"/>
                <a:t>） </a:t>
              </a:r>
              <a:endParaRPr lang="zh-CN" altLang="en-US" sz="2400" dirty="0"/>
            </a:p>
            <a:p>
              <a:pPr lvl="1"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（</a:t>
              </a:r>
              <a:r>
                <a:rPr lang="en-US" altLang="zh-CN" sz="2400" dirty="0"/>
                <a:t>2</a:t>
              </a:r>
              <a:r>
                <a:rPr lang="zh-CN" altLang="en-US" sz="2400" dirty="0"/>
                <a:t>）          满足 </a:t>
              </a:r>
              <a:r>
                <a:rPr lang="en-US" altLang="zh-CN" sz="2400" i="1" dirty="0"/>
                <a:t>Lipschitz </a:t>
              </a:r>
              <a:r>
                <a:rPr lang="en-US" altLang="zh-CN" sz="2400" dirty="0"/>
                <a:t>(</a:t>
              </a:r>
              <a:r>
                <a:rPr lang="zh-CN" altLang="en-US" sz="2400" b="1" dirty="0">
                  <a:solidFill>
                    <a:srgbClr val="008000"/>
                  </a:solidFill>
                </a:rPr>
                <a:t>李普希兹常数</a:t>
              </a:r>
              <a:r>
                <a:rPr lang="en-US" altLang="zh-CN" sz="2400" dirty="0"/>
                <a:t>)</a:t>
              </a:r>
              <a:r>
                <a:rPr lang="zh-CN" altLang="en-US" sz="2400" dirty="0"/>
                <a:t>条件</a:t>
              </a:r>
              <a:endParaRPr lang="zh-CN" altLang="en-US" sz="2400" dirty="0"/>
            </a:p>
            <a:p>
              <a:pPr lvl="1"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即</a:t>
              </a:r>
              <a:r>
                <a:rPr lang="en-US" altLang="zh-CN" sz="2400" dirty="0"/>
                <a:t>:                               </a:t>
              </a:r>
              <a:r>
                <a:rPr lang="zh-CN" altLang="en-US" sz="2400" dirty="0"/>
                <a:t>有</a:t>
              </a:r>
              <a:endParaRPr lang="zh-CN" altLang="en-US" sz="2400" dirty="0"/>
            </a:p>
            <a:p>
              <a:pPr lvl="1"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且                    。</a:t>
              </a:r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81" name="Object 5"/>
                <p:cNvSpPr txBox="1"/>
                <p:nvPr/>
              </p:nvSpPr>
              <p:spPr bwMode="auto">
                <a:xfrm>
                  <a:off x="3254703" y="1667433"/>
                  <a:ext cx="792163" cy="427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581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54703" y="1667433"/>
                  <a:ext cx="792163" cy="427066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82" name="Object 7"/>
                <p:cNvSpPr txBox="1"/>
                <p:nvPr/>
              </p:nvSpPr>
              <p:spPr bwMode="auto">
                <a:xfrm>
                  <a:off x="5139866" y="1684427"/>
                  <a:ext cx="827087" cy="4350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582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39866" y="1684427"/>
                  <a:ext cx="827087" cy="435005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83" name="Object 9"/>
                <p:cNvSpPr txBox="1"/>
                <p:nvPr/>
              </p:nvSpPr>
              <p:spPr bwMode="auto">
                <a:xfrm>
                  <a:off x="2081609" y="2276872"/>
                  <a:ext cx="5946775" cy="4841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∈[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)∈[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],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即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)≤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4583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81609" y="2276872"/>
                  <a:ext cx="5946775" cy="484188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84" name="Object 11"/>
                <p:cNvSpPr txBox="1"/>
                <p:nvPr/>
              </p:nvSpPr>
              <p:spPr bwMode="auto">
                <a:xfrm>
                  <a:off x="1980059" y="2924313"/>
                  <a:ext cx="720725" cy="4334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4584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80059" y="2924313"/>
                  <a:ext cx="720725" cy="433418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85" name="Object 13"/>
                <p:cNvSpPr txBox="1"/>
                <p:nvPr/>
              </p:nvSpPr>
              <p:spPr bwMode="auto">
                <a:xfrm>
                  <a:off x="1765746" y="3494265"/>
                  <a:ext cx="2087563" cy="4937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∈[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585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65746" y="3494265"/>
                  <a:ext cx="2087563" cy="493746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86" name="Object 15"/>
                <p:cNvSpPr txBox="1"/>
                <p:nvPr/>
              </p:nvSpPr>
              <p:spPr bwMode="auto">
                <a:xfrm>
                  <a:off x="4433493" y="3523187"/>
                  <a:ext cx="3450304" cy="6936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586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33493" y="3523187"/>
                  <a:ext cx="3450304" cy="693615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87" name="Object 17"/>
                <p:cNvSpPr txBox="1"/>
                <p:nvPr/>
              </p:nvSpPr>
              <p:spPr bwMode="auto">
                <a:xfrm>
                  <a:off x="1692721" y="4173762"/>
                  <a:ext cx="1222524" cy="4937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587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92721" y="4173762"/>
                  <a:ext cx="1222524" cy="493746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588" name="矩形 11"/>
            <p:cNvSpPr>
              <a:spLocks noChangeArrowheads="1"/>
            </p:cNvSpPr>
            <p:nvPr/>
          </p:nvSpPr>
          <p:spPr bwMode="auto">
            <a:xfrm>
              <a:off x="215329" y="4797152"/>
              <a:ext cx="8893175" cy="1453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1079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lvl="1" eaLnBrk="1" hangingPunct="1">
                <a:lnSpc>
                  <a:spcPct val="2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 dirty="0"/>
                <a:t>则                 在           上</a:t>
              </a:r>
              <a:r>
                <a:rPr lang="zh-CN" altLang="en-US" sz="2400" dirty="0">
                  <a:solidFill>
                    <a:srgbClr val="002060"/>
                  </a:solidFill>
                </a:rPr>
                <a:t>存在</a:t>
              </a:r>
              <a:r>
                <a:rPr lang="zh-CN" altLang="en-US" sz="2400" dirty="0"/>
                <a:t> </a:t>
              </a:r>
              <a:r>
                <a:rPr lang="zh-CN" altLang="en-US" sz="2400" b="1" dirty="0">
                  <a:solidFill>
                    <a:srgbClr val="002060"/>
                  </a:solidFill>
                </a:rPr>
                <a:t>唯一解</a:t>
              </a:r>
              <a:r>
                <a:rPr lang="zh-CN" altLang="en-US" sz="2400" dirty="0"/>
                <a:t>     （亦称为　     的不动点）。</a:t>
              </a:r>
              <a:endParaRPr lang="zh-CN" altLang="en-US" sz="2400" dirty="0"/>
            </a:p>
            <a:p>
              <a:pPr lvl="1" eaLnBrk="1" hangingPunct="1">
                <a:lnSpc>
                  <a:spcPct val="2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 dirty="0"/>
                <a:t>且对                     ，由                      产生的序列            </a:t>
              </a:r>
              <a:r>
                <a:rPr lang="zh-CN" altLang="en-US" sz="2400" b="1" dirty="0">
                  <a:solidFill>
                    <a:srgbClr val="002060"/>
                  </a:solidFill>
                </a:rPr>
                <a:t>收敛</a:t>
              </a:r>
              <a:r>
                <a:rPr lang="zh-CN" altLang="en-US" sz="2400" dirty="0"/>
                <a:t>于    。 </a:t>
              </a:r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89" name="Object 4"/>
                <p:cNvSpPr txBox="1"/>
                <p:nvPr/>
              </p:nvSpPr>
              <p:spPr bwMode="auto">
                <a:xfrm>
                  <a:off x="863475" y="5030531"/>
                  <a:ext cx="1204913" cy="43976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589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63475" y="5030531"/>
                  <a:ext cx="1204913" cy="439767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90" name="Object 6"/>
                <p:cNvSpPr txBox="1"/>
                <p:nvPr/>
              </p:nvSpPr>
              <p:spPr bwMode="auto">
                <a:xfrm>
                  <a:off x="1052531" y="5791650"/>
                  <a:ext cx="1619250" cy="50644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∈[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4590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2531" y="5791650"/>
                  <a:ext cx="1619250" cy="506447"/>
                </a:xfrm>
                <a:prstGeom prst="rect">
                  <a:avLst/>
                </a:prstGeom>
                <a:blipFill rotWithShape="1">
                  <a:blip r:embed="rId9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91" name="Object 8"/>
                <p:cNvSpPr txBox="1"/>
                <p:nvPr/>
              </p:nvSpPr>
              <p:spPr bwMode="auto">
                <a:xfrm>
                  <a:off x="3079631" y="5804717"/>
                  <a:ext cx="1655763" cy="4524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591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79631" y="5804717"/>
                  <a:ext cx="1655763" cy="452468"/>
                </a:xfrm>
                <a:prstGeom prst="rect">
                  <a:avLst/>
                </a:prstGeom>
                <a:blipFill rotWithShape="1">
                  <a:blip r:embed="rId10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92" name="Object 10"/>
                <p:cNvSpPr txBox="1"/>
                <p:nvPr/>
              </p:nvSpPr>
              <p:spPr bwMode="auto">
                <a:xfrm>
                  <a:off x="6183828" y="5757089"/>
                  <a:ext cx="633413" cy="5000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592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83828" y="5757089"/>
                  <a:ext cx="633413" cy="500096"/>
                </a:xfrm>
                <a:prstGeom prst="rect">
                  <a:avLst/>
                </a:prstGeom>
                <a:blipFill rotWithShape="1">
                  <a:blip r:embed="rId1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93" name="Object 12"/>
                <p:cNvSpPr txBox="1"/>
                <p:nvPr/>
              </p:nvSpPr>
              <p:spPr bwMode="auto">
                <a:xfrm>
                  <a:off x="7779618" y="5766249"/>
                  <a:ext cx="481013" cy="5318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593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79618" y="5766249"/>
                  <a:ext cx="481013" cy="531848"/>
                </a:xfrm>
                <a:prstGeom prst="rect">
                  <a:avLst/>
                </a:prstGeom>
                <a:blipFill rotWithShape="1">
                  <a:blip r:embed="rId1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94" name="Object 14"/>
                <p:cNvSpPr txBox="1"/>
                <p:nvPr/>
              </p:nvSpPr>
              <p:spPr bwMode="auto">
                <a:xfrm>
                  <a:off x="2216031" y="5013639"/>
                  <a:ext cx="863600" cy="4699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594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16031" y="5013639"/>
                  <a:ext cx="863600" cy="469932"/>
                </a:xfrm>
                <a:prstGeom prst="rect">
                  <a:avLst/>
                </a:prstGeom>
                <a:blipFill rotWithShape="1">
                  <a:blip r:embed="rId1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95" name="Object 15"/>
                <p:cNvSpPr txBox="1"/>
                <p:nvPr/>
              </p:nvSpPr>
              <p:spPr bwMode="auto">
                <a:xfrm>
                  <a:off x="4895849" y="5025944"/>
                  <a:ext cx="455612" cy="5032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595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95849" y="5025944"/>
                  <a:ext cx="455612" cy="503273"/>
                </a:xfrm>
                <a:prstGeom prst="rect">
                  <a:avLst/>
                </a:prstGeom>
                <a:blipFill rotWithShape="1">
                  <a:blip r:embed="rId1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96" name="Object 16"/>
                <p:cNvSpPr txBox="1"/>
                <p:nvPr/>
              </p:nvSpPr>
              <p:spPr bwMode="auto">
                <a:xfrm>
                  <a:off x="6256856" y="5064047"/>
                  <a:ext cx="792162" cy="427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596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56856" y="5064047"/>
                  <a:ext cx="792162" cy="427066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1"/>
          <p:cNvGraphicFramePr>
            <a:graphicFrameLocks noChangeAspect="1"/>
          </p:cNvGraphicFramePr>
          <p:nvPr/>
        </p:nvGraphicFramePr>
        <p:xfrm>
          <a:off x="1847528" y="116632"/>
          <a:ext cx="7416824" cy="3178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64" name="Picture2" r:id="rId1" imgW="5140325" imgH="2172970" progId="Word.Picture.8">
                  <p:embed/>
                </p:oleObj>
              </mc:Choice>
              <mc:Fallback>
                <p:oleObj name="Picture2" r:id="rId1" imgW="5140325" imgH="2172970" progId="Word.Picture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116632"/>
                        <a:ext cx="7416824" cy="31786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991544" y="3140968"/>
          <a:ext cx="7522084" cy="3902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65" name="" r:id="rId3" imgW="5140325" imgH="2515870" progId="Word.Picture.8">
                  <p:embed/>
                </p:oleObj>
              </mc:Choice>
              <mc:Fallback>
                <p:oleObj name="" r:id="rId3" imgW="5140325" imgH="2515870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3140968"/>
                        <a:ext cx="7522084" cy="39029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组合 28"/>
          <p:cNvGrpSpPr/>
          <p:nvPr/>
        </p:nvGrpSpPr>
        <p:grpSpPr bwMode="auto">
          <a:xfrm>
            <a:off x="2058988" y="260350"/>
            <a:ext cx="8213725" cy="6297613"/>
            <a:chOff x="319088" y="260350"/>
            <a:chExt cx="8213725" cy="6297613"/>
          </a:xfrm>
        </p:grpSpPr>
        <p:grpSp>
          <p:nvGrpSpPr>
            <p:cNvPr id="25603" name="组合 16"/>
            <p:cNvGrpSpPr/>
            <p:nvPr/>
          </p:nvGrpSpPr>
          <p:grpSpPr bwMode="auto">
            <a:xfrm>
              <a:off x="539750" y="260350"/>
              <a:ext cx="6696075" cy="1179513"/>
              <a:chOff x="539751" y="260350"/>
              <a:chExt cx="6696546" cy="1179513"/>
            </a:xfrm>
          </p:grpSpPr>
          <p:sp>
            <p:nvSpPr>
              <p:cNvPr id="25628" name="Rectangle 3"/>
              <p:cNvSpPr txBox="1">
                <a:spLocks noChangeArrowheads="1"/>
              </p:cNvSpPr>
              <p:nvPr/>
            </p:nvSpPr>
            <p:spPr bwMode="auto">
              <a:xfrm>
                <a:off x="539751" y="260350"/>
                <a:ext cx="6696546" cy="647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buFontTx/>
                  <a:buNone/>
                </a:pPr>
                <a:r>
                  <a:rPr lang="zh-CN" altLang="en-US" sz="2400">
                    <a:solidFill>
                      <a:srgbClr val="C00000"/>
                    </a:solidFill>
                  </a:rPr>
                  <a:t>证明</a:t>
                </a:r>
                <a:r>
                  <a:rPr lang="zh-CN" altLang="en-US" sz="2400"/>
                  <a:t>：由条件（</a:t>
                </a:r>
                <a:r>
                  <a:rPr lang="en-US" altLang="zh-CN" sz="2400"/>
                  <a:t>1</a:t>
                </a:r>
                <a:r>
                  <a:rPr lang="zh-CN" altLang="en-US" sz="2400"/>
                  <a:t>），不失一般性，不妨设</a:t>
                </a:r>
                <a:endParaRPr lang="zh-CN" altLang="en-US" sz="240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629" name="Object 5"/>
                  <p:cNvSpPr txBox="1"/>
                  <p:nvPr/>
                </p:nvSpPr>
                <p:spPr bwMode="auto">
                  <a:xfrm>
                    <a:off x="1541463" y="950913"/>
                    <a:ext cx="3144837" cy="4889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rm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)  ,  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25629" name="Object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541463" y="950913"/>
                    <a:ext cx="3144837" cy="48895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604" name="Rectangle 3"/>
            <p:cNvSpPr txBox="1">
              <a:spLocks noChangeArrowheads="1"/>
            </p:cNvSpPr>
            <p:nvPr/>
          </p:nvSpPr>
          <p:spPr bwMode="auto">
            <a:xfrm>
              <a:off x="611188" y="1412875"/>
              <a:ext cx="6048375" cy="57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FontTx/>
                <a:buNone/>
              </a:pPr>
              <a:r>
                <a:rPr lang="zh-CN" altLang="en-US" sz="2400"/>
                <a:t>否则 </a:t>
              </a:r>
              <a:r>
                <a:rPr lang="en-US" altLang="zh-CN" sz="2400" i="1"/>
                <a:t>a</a:t>
              </a:r>
              <a:r>
                <a:rPr lang="en-US" altLang="zh-CN" sz="2400"/>
                <a:t> </a:t>
              </a:r>
              <a:r>
                <a:rPr lang="zh-CN" altLang="en-US" sz="2400"/>
                <a:t>或 </a:t>
              </a:r>
              <a:r>
                <a:rPr lang="en-US" altLang="zh-CN" sz="2400" i="1"/>
                <a:t>b</a:t>
              </a:r>
              <a:r>
                <a:rPr lang="en-US" altLang="zh-CN" sz="2400"/>
                <a:t> </a:t>
              </a:r>
              <a:r>
                <a:rPr lang="zh-CN" altLang="en-US" sz="2400"/>
                <a:t>为方程的根。</a:t>
              </a:r>
              <a:endParaRPr lang="zh-CN" altLang="en-US" sz="2400"/>
            </a:p>
          </p:txBody>
        </p:sp>
        <p:sp>
          <p:nvSpPr>
            <p:cNvPr id="18" name="Rectangle 3"/>
            <p:cNvSpPr txBox="1">
              <a:spLocks noChangeArrowheads="1"/>
            </p:cNvSpPr>
            <p:nvPr/>
          </p:nvSpPr>
          <p:spPr>
            <a:xfrm>
              <a:off x="539750" y="2132013"/>
              <a:ext cx="7993063" cy="720725"/>
            </a:xfrm>
            <a:prstGeom prst="rect">
              <a:avLst/>
            </a:prstGeom>
          </p:spPr>
          <p:txBody>
            <a:bodyPr/>
            <a:lstStyle/>
            <a:p>
              <a:pPr marL="342900" indent="-342900" eaLnBrk="1" hangingPunct="1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b="1" kern="0" dirty="0">
                  <a:solidFill>
                    <a:srgbClr val="7030A0"/>
                  </a:solidFill>
                  <a:latin typeface="+mn-lt"/>
                  <a:ea typeface="+mn-ea"/>
                </a:rPr>
                <a:t>（</a:t>
              </a:r>
              <a:r>
                <a:rPr lang="en-US" altLang="zh-CN" b="1" kern="0" dirty="0">
                  <a:solidFill>
                    <a:srgbClr val="7030A0"/>
                  </a:solidFill>
                  <a:latin typeface="+mn-lt"/>
                  <a:ea typeface="+mn-ea"/>
                </a:rPr>
                <a:t>1</a:t>
              </a:r>
              <a:r>
                <a:rPr lang="zh-CN" altLang="en-US" b="1" kern="0" dirty="0">
                  <a:solidFill>
                    <a:srgbClr val="7030A0"/>
                  </a:solidFill>
                  <a:latin typeface="+mn-lt"/>
                  <a:ea typeface="+mn-ea"/>
                </a:rPr>
                <a:t>）根的存在性</a:t>
              </a:r>
              <a:endParaRPr lang="zh-CN" altLang="en-US" kern="0" dirty="0">
                <a:latin typeface="+mn-lt"/>
                <a:ea typeface="+mn-ea"/>
              </a:endParaRPr>
            </a:p>
          </p:txBody>
        </p:sp>
        <p:grpSp>
          <p:nvGrpSpPr>
            <p:cNvPr id="25606" name="组合 19"/>
            <p:cNvGrpSpPr/>
            <p:nvPr/>
          </p:nvGrpSpPr>
          <p:grpSpPr bwMode="auto">
            <a:xfrm>
              <a:off x="755650" y="2781300"/>
              <a:ext cx="3527425" cy="576263"/>
              <a:chOff x="539553" y="2780928"/>
              <a:chExt cx="3527622" cy="57606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626" name="Object 7"/>
                  <p:cNvSpPr txBox="1"/>
                  <p:nvPr/>
                </p:nvSpPr>
                <p:spPr bwMode="auto">
                  <a:xfrm>
                    <a:off x="1258888" y="2852738"/>
                    <a:ext cx="2808287" cy="4476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rmAutofit fontScale="925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25626" name="Object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258888" y="2852738"/>
                    <a:ext cx="2808287" cy="447675"/>
                  </a:xfrm>
                  <a:prstGeom prst="rect">
                    <a:avLst/>
                  </a:prstGeom>
                  <a:blipFill rotWithShape="1">
                    <a:blip r:embed="rId2"/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Rectangle 3"/>
              <p:cNvSpPr txBox="1">
                <a:spLocks noChangeArrowheads="1"/>
              </p:cNvSpPr>
              <p:nvPr/>
            </p:nvSpPr>
            <p:spPr>
              <a:xfrm>
                <a:off x="539553" y="2780928"/>
                <a:ext cx="792207" cy="576064"/>
              </a:xfrm>
              <a:prstGeom prst="rect">
                <a:avLst/>
              </a:prstGeom>
            </p:spPr>
            <p:txBody>
              <a:bodyPr/>
              <a:lstStyle/>
              <a:p>
                <a:pPr marL="342900" indent="-342900" eaLnBrk="1" hangingPunct="1">
                  <a:lnSpc>
                    <a:spcPct val="150000"/>
                  </a:lnSpc>
                  <a:spcBef>
                    <a:spcPct val="20000"/>
                  </a:spcBef>
                  <a:defRPr/>
                </a:pPr>
                <a:r>
                  <a:rPr lang="zh-CN" altLang="en-US" kern="0" dirty="0">
                    <a:latin typeface="+mn-lt"/>
                    <a:ea typeface="+mn-ea"/>
                  </a:rPr>
                  <a:t>令</a:t>
                </a:r>
                <a:endParaRPr lang="zh-CN" altLang="en-US" kern="0" dirty="0">
                  <a:latin typeface="+mn-lt"/>
                  <a:ea typeface="+mn-ea"/>
                </a:endParaRPr>
              </a:p>
            </p:txBody>
          </p:sp>
        </p:grpSp>
        <p:grpSp>
          <p:nvGrpSpPr>
            <p:cNvPr id="25607" name="组合 26"/>
            <p:cNvGrpSpPr/>
            <p:nvPr/>
          </p:nvGrpSpPr>
          <p:grpSpPr bwMode="auto">
            <a:xfrm>
              <a:off x="323850" y="4102100"/>
              <a:ext cx="7772400" cy="1368425"/>
              <a:chOff x="323528" y="4102830"/>
              <a:chExt cx="7772400" cy="136815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621" name="Object 12"/>
                  <p:cNvSpPr txBox="1"/>
                  <p:nvPr/>
                </p:nvSpPr>
                <p:spPr bwMode="auto">
                  <a:xfrm>
                    <a:off x="1187450" y="4216400"/>
                    <a:ext cx="774700" cy="477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rm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25621" name="Object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187450" y="4216400"/>
                    <a:ext cx="774700" cy="477838"/>
                  </a:xfrm>
                  <a:prstGeom prst="rect">
                    <a:avLst/>
                  </a:prstGeom>
                  <a:blipFill rotWithShape="1">
                    <a:blip r:embed="rId3"/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622" name="Object 14"/>
                  <p:cNvSpPr txBox="1"/>
                  <p:nvPr/>
                </p:nvSpPr>
                <p:spPr bwMode="auto">
                  <a:xfrm>
                    <a:off x="2268538" y="4248150"/>
                    <a:ext cx="804862" cy="477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rm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25622" name="Object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268538" y="4248150"/>
                    <a:ext cx="804862" cy="477838"/>
                  </a:xfrm>
                  <a:prstGeom prst="rect">
                    <a:avLst/>
                  </a:prstGeom>
                  <a:blipFill rotWithShape="1">
                    <a:blip r:embed="rId4"/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623" name="Object 16"/>
                  <p:cNvSpPr txBox="1"/>
                  <p:nvPr/>
                </p:nvSpPr>
                <p:spPr bwMode="auto">
                  <a:xfrm>
                    <a:off x="1547813" y="4900613"/>
                    <a:ext cx="731837" cy="431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rmAutofit fontScale="925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25623" name="Object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547813" y="4900613"/>
                    <a:ext cx="731837" cy="431800"/>
                  </a:xfrm>
                  <a:prstGeom prst="rect">
                    <a:avLst/>
                  </a:prstGeom>
                  <a:blipFill rotWithShape="1">
                    <a:blip r:embed="rId5"/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624" name="Object 22"/>
                  <p:cNvSpPr txBox="1"/>
                  <p:nvPr/>
                </p:nvSpPr>
                <p:spPr bwMode="auto">
                  <a:xfrm>
                    <a:off x="2627313" y="4884738"/>
                    <a:ext cx="804862" cy="47783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rm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25624" name="Object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627313" y="4884738"/>
                    <a:ext cx="804862" cy="477837"/>
                  </a:xfrm>
                  <a:prstGeom prst="rect">
                    <a:avLst/>
                  </a:prstGeom>
                  <a:blipFill rotWithShape="1">
                    <a:blip r:embed="rId4"/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625" name="Rectangle 3"/>
              <p:cNvSpPr txBox="1">
                <a:spLocks noChangeArrowheads="1"/>
              </p:cNvSpPr>
              <p:nvPr/>
            </p:nvSpPr>
            <p:spPr bwMode="auto">
              <a:xfrm>
                <a:off x="323528" y="4102830"/>
                <a:ext cx="7772400" cy="1368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1" eaLnBrk="1" hangingPunct="1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400"/>
                  <a:t>              是           上的连续函数可知：</a:t>
                </a:r>
                <a:endParaRPr lang="zh-CN" altLang="en-US" sz="2400"/>
              </a:p>
              <a:p>
                <a:pPr lvl="1" eaLnBrk="1" hangingPunct="1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400"/>
                  <a:t>                   是          上的连续函数。</a:t>
                </a:r>
                <a:endParaRPr lang="zh-CN" altLang="en-US" sz="2400"/>
              </a:p>
            </p:txBody>
          </p:sp>
        </p:grpSp>
        <p:grpSp>
          <p:nvGrpSpPr>
            <p:cNvPr id="25608" name="组合 24"/>
            <p:cNvGrpSpPr/>
            <p:nvPr/>
          </p:nvGrpSpPr>
          <p:grpSpPr bwMode="auto">
            <a:xfrm>
              <a:off x="319088" y="3286125"/>
              <a:ext cx="7902575" cy="1065074"/>
              <a:chOff x="319088" y="3357563"/>
              <a:chExt cx="7902575" cy="1065074"/>
            </a:xfrm>
          </p:grpSpPr>
          <p:grpSp>
            <p:nvGrpSpPr>
              <p:cNvPr id="25614" name="组合 21"/>
              <p:cNvGrpSpPr/>
              <p:nvPr/>
            </p:nvGrpSpPr>
            <p:grpSpPr bwMode="auto">
              <a:xfrm>
                <a:off x="319088" y="3357563"/>
                <a:ext cx="7902575" cy="1065074"/>
                <a:chOff x="319088" y="3357563"/>
                <a:chExt cx="7902575" cy="1065074"/>
              </a:xfrm>
            </p:grpSpPr>
            <p:sp>
              <p:nvSpPr>
                <p:cNvPr id="5" name="Rectangle 3"/>
                <p:cNvSpPr txBox="1">
                  <a:spLocks noChangeArrowheads="1"/>
                </p:cNvSpPr>
                <p:nvPr/>
              </p:nvSpPr>
              <p:spPr>
                <a:xfrm>
                  <a:off x="319088" y="3357563"/>
                  <a:ext cx="1157287" cy="719138"/>
                </a:xfrm>
                <a:prstGeom prst="rect">
                  <a:avLst/>
                </a:prstGeom>
              </p:spPr>
              <p:txBody>
                <a:bodyPr/>
                <a:lstStyle/>
                <a:p>
                  <a:pPr marL="342900" indent="-342900" eaLnBrk="1" hangingPunct="1">
                    <a:lnSpc>
                      <a:spcPct val="150000"/>
                    </a:lnSpc>
                    <a:spcBef>
                      <a:spcPct val="20000"/>
                    </a:spcBef>
                    <a:defRPr/>
                  </a:pPr>
                  <a:r>
                    <a:rPr lang="en-US" altLang="zh-CN" sz="3200" kern="0" dirty="0">
                      <a:latin typeface="+mn-lt"/>
                      <a:ea typeface="+mn-ea"/>
                    </a:rPr>
                    <a:t>    </a:t>
                  </a:r>
                  <a:r>
                    <a:rPr lang="zh-CN" altLang="en-US" kern="0" dirty="0">
                      <a:latin typeface="+mn-lt"/>
                      <a:ea typeface="+mn-ea"/>
                    </a:rPr>
                    <a:t>则</a:t>
                  </a:r>
                  <a:endParaRPr lang="zh-CN" altLang="en-US" kern="0" dirty="0">
                    <a:latin typeface="+mn-lt"/>
                    <a:ea typeface="+mn-ea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5618" name="Object 6"/>
                    <p:cNvSpPr txBox="1"/>
                    <p:nvPr/>
                  </p:nvSpPr>
                  <p:spPr bwMode="auto">
                    <a:xfrm>
                      <a:off x="1016794" y="3630474"/>
                      <a:ext cx="3140075" cy="79216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>
                      <a:norm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25618" name="Object 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1016794" y="3630474"/>
                      <a:ext cx="3140075" cy="792163"/>
                    </a:xfrm>
                    <a:prstGeom prst="rect">
                      <a:avLst/>
                    </a:prstGeom>
                    <a:blipFill rotWithShape="1">
                      <a:blip r:embed="rId6"/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5619" name="Object 8"/>
                    <p:cNvSpPr txBox="1"/>
                    <p:nvPr/>
                  </p:nvSpPr>
                  <p:spPr bwMode="auto">
                    <a:xfrm>
                      <a:off x="4211638" y="3627438"/>
                      <a:ext cx="1296987" cy="46037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>
                      <a:normAutofit fontScale="92500"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)&lt;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>
                <p:sp>
                  <p:nvSpPr>
                    <p:cNvPr id="25619" name="Object 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211638" y="3627438"/>
                      <a:ext cx="1296987" cy="460375"/>
                    </a:xfrm>
                    <a:prstGeom prst="rect">
                      <a:avLst/>
                    </a:prstGeom>
                    <a:blipFill rotWithShape="1">
                      <a:blip r:embed="rId7"/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5620" name="Object 10"/>
                    <p:cNvSpPr txBox="1"/>
                    <p:nvPr/>
                  </p:nvSpPr>
                  <p:spPr bwMode="auto">
                    <a:xfrm>
                      <a:off x="5984875" y="3600450"/>
                      <a:ext cx="2236788" cy="47783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>
                      <a:normAutofit fontScale="92500"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)⋅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)&lt;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>
                <p:sp>
                  <p:nvSpPr>
                    <p:cNvPr id="25620" name="Object 1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5984875" y="3600450"/>
                      <a:ext cx="2236788" cy="477838"/>
                    </a:xfrm>
                    <a:prstGeom prst="rect">
                      <a:avLst/>
                    </a:prstGeom>
                    <a:blipFill rotWithShape="1">
                      <a:blip r:embed="rId8"/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3" name="矩形 22"/>
              <p:cNvSpPr/>
              <p:nvPr/>
            </p:nvSpPr>
            <p:spPr>
              <a:xfrm>
                <a:off x="5508625" y="3619501"/>
                <a:ext cx="492125" cy="4619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kern="0" dirty="0">
                    <a:solidFill>
                      <a:srgbClr val="000000"/>
                    </a:solidFill>
                    <a:latin typeface="Times New Roman" panose="02020603050405020304"/>
                    <a:ea typeface="宋体" panose="02010600030101010101" pitchFamily="2" charset="-122"/>
                  </a:rPr>
                  <a:t>即</a:t>
                </a:r>
                <a:endParaRPr lang="zh-CN" altLang="en-US" dirty="0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3924300" y="3644901"/>
                <a:ext cx="492125" cy="4619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kern="0" dirty="0">
                    <a:solidFill>
                      <a:srgbClr val="000000"/>
                    </a:solidFill>
                    <a:latin typeface="Times New Roman" panose="02020603050405020304"/>
                    <a:ea typeface="宋体" panose="02010600030101010101" pitchFamily="2" charset="-122"/>
                  </a:rPr>
                  <a:t>，</a:t>
                </a:r>
                <a:endParaRPr lang="zh-CN" altLang="en-US" dirty="0"/>
              </a:p>
            </p:txBody>
          </p:sp>
        </p:grpSp>
        <p:grpSp>
          <p:nvGrpSpPr>
            <p:cNvPr id="25609" name="组合 27"/>
            <p:cNvGrpSpPr/>
            <p:nvPr/>
          </p:nvGrpSpPr>
          <p:grpSpPr bwMode="auto">
            <a:xfrm>
              <a:off x="323850" y="5373688"/>
              <a:ext cx="7772400" cy="1184275"/>
              <a:chOff x="323528" y="5373216"/>
              <a:chExt cx="7772400" cy="1184747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610" name="Object 18"/>
                  <p:cNvSpPr txBox="1"/>
                  <p:nvPr/>
                </p:nvSpPr>
                <p:spPr bwMode="auto">
                  <a:xfrm>
                    <a:off x="4414838" y="5518150"/>
                    <a:ext cx="804862" cy="477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rm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25610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414838" y="5518150"/>
                    <a:ext cx="804862" cy="477838"/>
                  </a:xfrm>
                  <a:prstGeom prst="rect">
                    <a:avLst/>
                  </a:prstGeom>
                  <a:blipFill rotWithShape="1">
                    <a:blip r:embed="rId4"/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611" name="Object 20"/>
                  <p:cNvSpPr txBox="1"/>
                  <p:nvPr/>
                </p:nvSpPr>
                <p:spPr bwMode="auto">
                  <a:xfrm>
                    <a:off x="2771775" y="5530850"/>
                    <a:ext cx="1239838" cy="431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rmAutofit fontScale="85000" lnSpcReduction="1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25611" name="Object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771775" y="5530850"/>
                    <a:ext cx="1239838" cy="431800"/>
                  </a:xfrm>
                  <a:prstGeom prst="rect">
                    <a:avLst/>
                  </a:prstGeom>
                  <a:blipFill rotWithShape="1">
                    <a:blip r:embed="rId9"/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612" name="Object 24"/>
                  <p:cNvSpPr txBox="1"/>
                  <p:nvPr/>
                </p:nvSpPr>
                <p:spPr bwMode="auto">
                  <a:xfrm>
                    <a:off x="3419475" y="6021388"/>
                    <a:ext cx="1550988" cy="5365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rmAutofit fontScale="925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25612" name="Object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419475" y="6021388"/>
                    <a:ext cx="1550988" cy="536575"/>
                  </a:xfrm>
                  <a:prstGeom prst="rect">
                    <a:avLst/>
                  </a:prstGeom>
                  <a:blipFill rotWithShape="1">
                    <a:blip r:embed="rId10"/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Rectangle 3"/>
              <p:cNvSpPr txBox="1">
                <a:spLocks noChangeArrowheads="1"/>
              </p:cNvSpPr>
              <p:nvPr/>
            </p:nvSpPr>
            <p:spPr>
              <a:xfrm>
                <a:off x="323528" y="5373216"/>
                <a:ext cx="7772400" cy="647958"/>
              </a:xfrm>
              <a:prstGeom prst="rect">
                <a:avLst/>
              </a:prstGeom>
            </p:spPr>
            <p:txBody>
              <a:bodyPr/>
              <a:lstStyle/>
              <a:p>
                <a:pPr marL="742950" lvl="1" indent="-285750" eaLnBrk="1" hangingPunct="1">
                  <a:lnSpc>
                    <a:spcPct val="150000"/>
                  </a:lnSpc>
                  <a:spcBef>
                    <a:spcPct val="20000"/>
                  </a:spcBef>
                  <a:defRPr/>
                </a:pPr>
                <a:r>
                  <a:rPr lang="zh-CN" altLang="en-US" kern="0" dirty="0">
                    <a:latin typeface="+mn-lt"/>
                    <a:ea typeface="+mn-ea"/>
                  </a:rPr>
                  <a:t>故由零点定理                  在           上至少有一根</a:t>
                </a:r>
                <a:endParaRPr lang="zh-CN" altLang="en-US" kern="0" dirty="0">
                  <a:latin typeface="+mn-lt"/>
                  <a:ea typeface="+mn-ea"/>
                </a:endParaRPr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2062163" y="477838"/>
            <a:ext cx="2881312" cy="574675"/>
          </a:xfrm>
          <a:prstGeom prst="rect">
            <a:avLst/>
          </a:prstGeom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b="1" kern="0" dirty="0">
                <a:solidFill>
                  <a:srgbClr val="7030A0"/>
                </a:solidFill>
                <a:latin typeface="+mn-lt"/>
                <a:ea typeface="+mn-ea"/>
              </a:rPr>
              <a:t>（</a:t>
            </a:r>
            <a:r>
              <a:rPr lang="en-US" altLang="zh-CN" b="1" kern="0" dirty="0">
                <a:solidFill>
                  <a:srgbClr val="7030A0"/>
                </a:solidFill>
                <a:latin typeface="+mn-lt"/>
                <a:ea typeface="+mn-ea"/>
              </a:rPr>
              <a:t>2</a:t>
            </a:r>
            <a:r>
              <a:rPr lang="zh-CN" altLang="en-US" b="1" kern="0" dirty="0">
                <a:solidFill>
                  <a:srgbClr val="7030A0"/>
                </a:solidFill>
                <a:latin typeface="+mn-lt"/>
                <a:ea typeface="+mn-ea"/>
              </a:rPr>
              <a:t>）根的唯一性</a:t>
            </a:r>
            <a:endParaRPr lang="en-US" altLang="zh-CN" kern="0" dirty="0">
              <a:latin typeface="+mn-lt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628" name="Object 5"/>
              <p:cNvSpPr txBox="1"/>
              <p:nvPr/>
            </p:nvSpPr>
            <p:spPr bwMode="auto">
              <a:xfrm>
                <a:off x="4294861" y="1916699"/>
                <a:ext cx="2584983" cy="5476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6628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94861" y="1916699"/>
                <a:ext cx="2584983" cy="547684"/>
              </a:xfrm>
              <a:prstGeom prst="rect">
                <a:avLst/>
              </a:prstGeom>
              <a:blipFill rotWithShape="1">
                <a:blip r:embed="rId1"/>
                <a:stretch>
                  <a:fillRect l="-14" t="-49" r="10" b="1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29" name="Rectangle 3"/>
          <p:cNvSpPr txBox="1">
            <a:spLocks noChangeArrowheads="1"/>
          </p:cNvSpPr>
          <p:nvPr/>
        </p:nvSpPr>
        <p:spPr bwMode="auto">
          <a:xfrm>
            <a:off x="982663" y="1311276"/>
            <a:ext cx="39608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/>
              <a:t>           证明：假设有两个根：</a:t>
            </a:r>
            <a:endParaRPr lang="en-US" altLang="zh-CN" sz="2400" dirty="0"/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1846264" y="1628775"/>
            <a:ext cx="7207249" cy="3382963"/>
          </a:xfrm>
          <a:prstGeom prst="rect">
            <a:avLst/>
          </a:prstGeom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kern="0" dirty="0">
                <a:latin typeface="+mn-lt"/>
                <a:ea typeface="+mn-ea"/>
              </a:rPr>
              <a:t>         </a:t>
            </a:r>
            <a:endParaRPr lang="en-US" altLang="zh-CN" kern="0" dirty="0">
              <a:latin typeface="+mn-lt"/>
              <a:ea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58591" y="5509486"/>
            <a:ext cx="9289032" cy="583339"/>
            <a:chOff x="658591" y="5509486"/>
            <a:chExt cx="9289032" cy="583339"/>
          </a:xfrm>
        </p:grpSpPr>
        <p:sp>
          <p:nvSpPr>
            <p:cNvPr id="26632" name="Rectangle 3"/>
            <p:cNvSpPr txBox="1">
              <a:spLocks noChangeArrowheads="1"/>
            </p:cNvSpPr>
            <p:nvPr/>
          </p:nvSpPr>
          <p:spPr bwMode="auto">
            <a:xfrm>
              <a:off x="658591" y="5509486"/>
              <a:ext cx="9289032" cy="574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609600" indent="-6096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Tx/>
                <a:buNone/>
              </a:pPr>
              <a:r>
                <a:rPr lang="zh-CN" altLang="en-US" sz="2400" dirty="0"/>
                <a:t>因为 </a:t>
              </a:r>
              <a:r>
                <a:rPr lang="en-US" altLang="zh-CN" sz="2400" dirty="0"/>
                <a:t>0&lt;</a:t>
              </a:r>
              <a:r>
                <a:rPr lang="en-US" altLang="zh-CN" sz="2400" i="1" dirty="0"/>
                <a:t>L</a:t>
              </a:r>
              <a:r>
                <a:rPr lang="en-US" altLang="zh-CN" sz="2400" dirty="0"/>
                <a:t>&lt;1  </a:t>
              </a:r>
              <a:r>
                <a:rPr lang="zh-CN" altLang="en-US" sz="2400" dirty="0"/>
                <a:t>，故假设矛盾，所以：                  ， 即根是唯一的。</a:t>
              </a:r>
              <a:endParaRPr lang="en-US" altLang="zh-CN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631" name="Object 11"/>
                <p:cNvSpPr txBox="1"/>
                <p:nvPr/>
              </p:nvSpPr>
              <p:spPr bwMode="auto">
                <a:xfrm>
                  <a:off x="5303107" y="5517074"/>
                  <a:ext cx="1363946" cy="5757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6631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03107" y="5517074"/>
                  <a:ext cx="1363946" cy="575751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635" name="Object 7"/>
              <p:cNvSpPr txBox="1"/>
              <p:nvPr/>
            </p:nvSpPr>
            <p:spPr bwMode="auto">
              <a:xfrm>
                <a:off x="3790738" y="2924804"/>
                <a:ext cx="5580444" cy="510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|=|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)|≤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663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0738" y="2924804"/>
                <a:ext cx="5580444" cy="510886"/>
              </a:xfrm>
              <a:prstGeom prst="rect">
                <a:avLst/>
              </a:prstGeom>
              <a:blipFill rotWithShape="1">
                <a:blip r:embed="rId3"/>
                <a:stretch>
                  <a:fillRect l="-8" t="-123" r="9" b="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 bwMode="auto">
          <a:xfrm>
            <a:off x="2925764" y="2563813"/>
            <a:ext cx="493712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则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2854326" y="3716338"/>
            <a:ext cx="4013396" cy="1447817"/>
            <a:chOff x="2854326" y="3716338"/>
            <a:chExt cx="4013396" cy="144781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633" name="Object 15"/>
                <p:cNvSpPr txBox="1"/>
                <p:nvPr/>
              </p:nvSpPr>
              <p:spPr bwMode="auto">
                <a:xfrm>
                  <a:off x="3862756" y="4652984"/>
                  <a:ext cx="2641736" cy="51117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)|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|≤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6633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62756" y="4652984"/>
                  <a:ext cx="2641736" cy="511171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矩形 20"/>
            <p:cNvSpPr/>
            <p:nvPr/>
          </p:nvSpPr>
          <p:spPr bwMode="auto">
            <a:xfrm>
              <a:off x="2854326" y="3716338"/>
              <a:ext cx="492125" cy="4619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即</a:t>
              </a:r>
              <a:endParaRPr lang="zh-CN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637" name="Object 23"/>
                <p:cNvSpPr txBox="1"/>
                <p:nvPr/>
              </p:nvSpPr>
              <p:spPr bwMode="auto">
                <a:xfrm>
                  <a:off x="3790738" y="3932909"/>
                  <a:ext cx="3076984" cy="51117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|≤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6637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90738" y="3932909"/>
                  <a:ext cx="3076984" cy="511171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组合 38"/>
          <p:cNvGrpSpPr/>
          <p:nvPr/>
        </p:nvGrpSpPr>
        <p:grpSpPr bwMode="auto">
          <a:xfrm>
            <a:off x="1919288" y="331788"/>
            <a:ext cx="8208962" cy="6194425"/>
            <a:chOff x="395536" y="332011"/>
            <a:chExt cx="8209034" cy="6194225"/>
          </a:xfrm>
        </p:grpSpPr>
        <p:grpSp>
          <p:nvGrpSpPr>
            <p:cNvPr id="27651" name="组合 22"/>
            <p:cNvGrpSpPr/>
            <p:nvPr/>
          </p:nvGrpSpPr>
          <p:grpSpPr bwMode="auto">
            <a:xfrm>
              <a:off x="476499" y="332011"/>
              <a:ext cx="7127676" cy="3601045"/>
              <a:chOff x="476499" y="332011"/>
              <a:chExt cx="7127676" cy="3601045"/>
            </a:xfrm>
          </p:grpSpPr>
          <p:sp>
            <p:nvSpPr>
              <p:cNvPr id="27660" name="Rectangle 3"/>
              <p:cNvSpPr txBox="1">
                <a:spLocks noChangeArrowheads="1"/>
              </p:cNvSpPr>
              <p:nvPr/>
            </p:nvSpPr>
            <p:spPr bwMode="auto">
              <a:xfrm>
                <a:off x="476499" y="332011"/>
                <a:ext cx="3024215" cy="5048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609600" indent="-60960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buFontTx/>
                  <a:buNone/>
                </a:pPr>
                <a:r>
                  <a:rPr lang="zh-CN" altLang="en-US" sz="2400" b="1">
                    <a:solidFill>
                      <a:srgbClr val="7030A0"/>
                    </a:solidFill>
                  </a:rPr>
                  <a:t>（</a:t>
                </a:r>
                <a:r>
                  <a:rPr lang="en-US" altLang="zh-CN" sz="2400" b="1">
                    <a:solidFill>
                      <a:srgbClr val="7030A0"/>
                    </a:solidFill>
                  </a:rPr>
                  <a:t>3</a:t>
                </a:r>
                <a:r>
                  <a:rPr lang="zh-CN" altLang="en-US" sz="2400" b="1">
                    <a:solidFill>
                      <a:srgbClr val="7030A0"/>
                    </a:solidFill>
                  </a:rPr>
                  <a:t>）序列的收敛性</a:t>
                </a:r>
                <a:endParaRPr lang="zh-CN" altLang="en-US" sz="2400" b="1">
                  <a:solidFill>
                    <a:srgbClr val="7030A0"/>
                  </a:solidFill>
                </a:endParaRPr>
              </a:p>
            </p:txBody>
          </p:sp>
          <p:graphicFrame>
            <p:nvGraphicFramePr>
              <p:cNvPr id="27661" name="Object 2"/>
              <p:cNvGraphicFramePr>
                <a:graphicFrameLocks noChangeAspect="1"/>
              </p:cNvGraphicFramePr>
              <p:nvPr/>
            </p:nvGraphicFramePr>
            <p:xfrm>
              <a:off x="1136178" y="2593206"/>
              <a:ext cx="5380038" cy="1339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1974" name="Equation" r:id="rId1" imgW="40376475" imgH="10096500" progId="Equation.DSMT4">
                      <p:embed/>
                    </p:oleObj>
                  </mc:Choice>
                  <mc:Fallback>
                    <p:oleObj name="Equation" r:id="rId1" imgW="40376475" imgH="10096500" progId="Equation.DSMT4">
                      <p:embed/>
                      <p:pic>
                        <p:nvPicPr>
                          <p:cNvPr id="0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36178" y="2593206"/>
                            <a:ext cx="5380038" cy="13398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7662" name="组合 26"/>
              <p:cNvGrpSpPr/>
              <p:nvPr/>
            </p:nvGrpSpPr>
            <p:grpSpPr bwMode="auto">
              <a:xfrm>
                <a:off x="971803" y="1052736"/>
                <a:ext cx="6632372" cy="1254125"/>
                <a:chOff x="1035680" y="4437063"/>
                <a:chExt cx="6631945" cy="1254125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7663" name="Object 25"/>
                    <p:cNvSpPr txBox="1"/>
                    <p:nvPr/>
                  </p:nvSpPr>
                  <p:spPr bwMode="auto">
                    <a:xfrm>
                      <a:off x="1979613" y="4437063"/>
                      <a:ext cx="5688012" cy="55086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>
                      <a:normAutofit fontScale="92500"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|=|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)|≤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>
                <p:sp>
                  <p:nvSpPr>
                    <p:cNvPr id="27663" name="Object 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1979613" y="4437063"/>
                      <a:ext cx="5688012" cy="550862"/>
                    </a:xfrm>
                    <a:prstGeom prst="rect">
                      <a:avLst/>
                    </a:prstGeom>
                    <a:blipFill rotWithShape="1">
                      <a:blip r:embed="rId3"/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7664" name="Object 10"/>
                    <p:cNvSpPr txBox="1"/>
                    <p:nvPr/>
                  </p:nvSpPr>
                  <p:spPr bwMode="auto">
                    <a:xfrm>
                      <a:off x="5362575" y="5111750"/>
                      <a:ext cx="2089150" cy="54927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>
                      <a:norm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>
                <p:sp>
                  <p:nvSpPr>
                    <p:cNvPr id="27664" name="Object 1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5362575" y="5111750"/>
                      <a:ext cx="2089150" cy="549275"/>
                    </a:xfrm>
                    <a:prstGeom prst="rect">
                      <a:avLst/>
                    </a:prstGeom>
                    <a:blipFill rotWithShape="1">
                      <a:blip r:embed="rId4"/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7665" name="Object 12"/>
                    <p:cNvSpPr txBox="1"/>
                    <p:nvPr/>
                  </p:nvSpPr>
                  <p:spPr bwMode="auto">
                    <a:xfrm>
                      <a:off x="2070100" y="5087938"/>
                      <a:ext cx="3238500" cy="603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>
                      <a:norm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|≤......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>
                <p:sp>
                  <p:nvSpPr>
                    <p:cNvPr id="27665" name="Object 1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2070100" y="5087938"/>
                      <a:ext cx="3238500" cy="603250"/>
                    </a:xfrm>
                    <a:prstGeom prst="rect">
                      <a:avLst/>
                    </a:prstGeom>
                    <a:blipFill rotWithShape="1">
                      <a:blip r:embed="rId5"/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6" name="矩形 25"/>
                <p:cNvSpPr/>
                <p:nvPr/>
              </p:nvSpPr>
              <p:spPr>
                <a:xfrm>
                  <a:off x="1035680" y="4479901"/>
                  <a:ext cx="800056" cy="4619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zh-CN" altLang="en-US" kern="0" dirty="0">
                      <a:solidFill>
                        <a:srgbClr val="000000"/>
                      </a:solidFill>
                      <a:latin typeface="Times New Roman" panose="02020603050405020304"/>
                      <a:ea typeface="宋体" panose="02010600030101010101" pitchFamily="2" charset="-122"/>
                    </a:rPr>
                    <a:t>由于</a:t>
                  </a:r>
                  <a:endParaRPr lang="zh-CN" altLang="en-US" dirty="0"/>
                </a:p>
              </p:txBody>
            </p:sp>
          </p:grpSp>
        </p:grpSp>
        <p:sp>
          <p:nvSpPr>
            <p:cNvPr id="30" name="矩形 29"/>
            <p:cNvSpPr/>
            <p:nvPr/>
          </p:nvSpPr>
          <p:spPr bwMode="auto">
            <a:xfrm>
              <a:off x="395536" y="4100614"/>
              <a:ext cx="801694" cy="64609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lvl="1" eaLnBrk="1" hangingPunct="1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b="1" kern="0" dirty="0">
                  <a:solidFill>
                    <a:srgbClr val="C00000"/>
                  </a:solidFill>
                  <a:latin typeface="Times New Roman" panose="02020603050405020304"/>
                  <a:ea typeface="宋体" panose="02010600030101010101" pitchFamily="2" charset="-122"/>
                </a:rPr>
                <a:t>注</a:t>
              </a:r>
              <a:r>
                <a:rPr lang="zh-CN" altLang="en-US" kern="0" dirty="0">
                  <a:solidFill>
                    <a:srgbClr val="C00000"/>
                  </a:solidFill>
                  <a:latin typeface="Times New Roman" panose="02020603050405020304"/>
                  <a:ea typeface="宋体" panose="02010600030101010101" pitchFamily="2" charset="-122"/>
                </a:rPr>
                <a:t>：</a:t>
              </a:r>
              <a:endParaRPr lang="en-US" altLang="zh-CN" kern="0" dirty="0">
                <a:solidFill>
                  <a:srgbClr val="C00000"/>
                </a:solidFill>
                <a:latin typeface="Times New Roman" panose="02020603050405020304"/>
                <a:ea typeface="宋体" panose="02010600030101010101" pitchFamily="2" charset="-122"/>
                <a:sym typeface="Wingdings" panose="05000000000000000000" pitchFamily="2" charset="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653" name="Object 18"/>
                <p:cNvSpPr txBox="1"/>
                <p:nvPr/>
              </p:nvSpPr>
              <p:spPr bwMode="auto">
                <a:xfrm>
                  <a:off x="3059430" y="4235416"/>
                  <a:ext cx="708068" cy="4298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7653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59430" y="4235416"/>
                  <a:ext cx="708068" cy="429869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654" name="Object 5"/>
                <p:cNvSpPr txBox="1"/>
                <p:nvPr/>
              </p:nvSpPr>
              <p:spPr bwMode="auto">
                <a:xfrm>
                  <a:off x="4094543" y="4235416"/>
                  <a:ext cx="1485990" cy="4647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∈[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7654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94543" y="4235416"/>
                  <a:ext cx="1485990" cy="464766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655" name="Object 14"/>
                <p:cNvSpPr txBox="1"/>
                <p:nvPr/>
              </p:nvSpPr>
              <p:spPr bwMode="auto">
                <a:xfrm>
                  <a:off x="6637872" y="4192588"/>
                  <a:ext cx="1822560" cy="5377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7655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37872" y="4192588"/>
                  <a:ext cx="1822560" cy="537731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656" name="Object 17"/>
                <p:cNvSpPr txBox="1"/>
                <p:nvPr/>
              </p:nvSpPr>
              <p:spPr bwMode="auto">
                <a:xfrm>
                  <a:off x="1487668" y="4884184"/>
                  <a:ext cx="708068" cy="4298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7656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87668" y="4884184"/>
                  <a:ext cx="708068" cy="429868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657" name="矩形 35"/>
            <p:cNvSpPr>
              <a:spLocks noChangeArrowheads="1"/>
            </p:cNvSpPr>
            <p:nvPr/>
          </p:nvSpPr>
          <p:spPr bwMode="auto">
            <a:xfrm>
              <a:off x="971803" y="4100614"/>
              <a:ext cx="7632767" cy="1273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lvl="1" eaLnBrk="1" hangingPunct="1">
                <a:lnSpc>
                  <a:spcPct val="150000"/>
                </a:lnSpc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</a:rPr>
                <a:t>对于迭代函数           及                     ， 如果</a:t>
              </a:r>
              <a:endParaRPr lang="en-US" altLang="zh-CN" sz="2400">
                <a:solidFill>
                  <a:srgbClr val="000000"/>
                </a:solidFill>
              </a:endParaRPr>
            </a:p>
            <a:p>
              <a:pPr marL="0" lvl="1" eaLnBrk="1" hangingPunct="1">
                <a:lnSpc>
                  <a:spcPct val="150000"/>
                </a:lnSpc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</a:rPr>
                <a:t>则            满足</a:t>
              </a:r>
              <a:r>
                <a:rPr lang="en-US" altLang="zh-CN" sz="2400">
                  <a:solidFill>
                    <a:srgbClr val="000000"/>
                  </a:solidFill>
                </a:rPr>
                <a:t>Lipschitz</a:t>
              </a:r>
              <a:r>
                <a:rPr lang="zh-CN" altLang="en-US" sz="2400">
                  <a:solidFill>
                    <a:srgbClr val="000000"/>
                  </a:solidFill>
                </a:rPr>
                <a:t>条件。</a:t>
              </a:r>
              <a:endParaRPr lang="en-US" altLang="zh-CN" sz="2400">
                <a:solidFill>
                  <a:srgbClr val="000000"/>
                </a:solidFill>
              </a:endParaRPr>
            </a:p>
          </p:txBody>
        </p:sp>
        <p:sp>
          <p:nvSpPr>
            <p:cNvPr id="27658" name="矩形 36"/>
            <p:cNvSpPr>
              <a:spLocks noChangeArrowheads="1"/>
            </p:cNvSpPr>
            <p:nvPr/>
          </p:nvSpPr>
          <p:spPr bwMode="auto">
            <a:xfrm>
              <a:off x="1000353" y="5572161"/>
              <a:ext cx="4185798" cy="4616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这由拉格朗日中值定理保证：</a:t>
              </a:r>
              <a:endParaRPr lang="zh-CN" altLang="en-US" sz="2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659" name="Object 16"/>
                <p:cNvSpPr txBox="1"/>
                <p:nvPr/>
              </p:nvSpPr>
              <p:spPr bwMode="auto">
                <a:xfrm>
                  <a:off x="3786460" y="6000773"/>
                  <a:ext cx="4445000" cy="5254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7659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86460" y="6000773"/>
                  <a:ext cx="4445000" cy="525463"/>
                </a:xfrm>
                <a:prstGeom prst="rect">
                  <a:avLst/>
                </a:prstGeom>
                <a:blipFill rotWithShape="1">
                  <a:blip r:embed="rId9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1"/>
          <p:cNvGrpSpPr/>
          <p:nvPr/>
        </p:nvGrpSpPr>
        <p:grpSpPr bwMode="auto">
          <a:xfrm>
            <a:off x="2279576" y="2056829"/>
            <a:ext cx="7421562" cy="2635250"/>
            <a:chOff x="827088" y="1135063"/>
            <a:chExt cx="7421562" cy="2635250"/>
          </a:xfrm>
        </p:grpSpPr>
        <p:sp>
          <p:nvSpPr>
            <p:cNvPr id="29706" name="Rectangle 3"/>
            <p:cNvSpPr txBox="1">
              <a:spLocks noChangeArrowheads="1"/>
            </p:cNvSpPr>
            <p:nvPr/>
          </p:nvSpPr>
          <p:spPr bwMode="auto">
            <a:xfrm>
              <a:off x="827088" y="1135063"/>
              <a:ext cx="7421562" cy="2635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FontTx/>
                <a:buNone/>
              </a:pPr>
              <a:r>
                <a:rPr lang="zh-CN" altLang="en-US" sz="2400" dirty="0"/>
                <a:t>   （</a:t>
              </a:r>
              <a:r>
                <a:rPr lang="en-US" altLang="zh-CN" sz="2400" dirty="0"/>
                <a:t>1</a:t>
              </a:r>
              <a:r>
                <a:rPr lang="zh-CN" altLang="en-US" sz="2400" dirty="0"/>
                <a:t>）若取迭代函数                          ，</a:t>
              </a:r>
              <a:endParaRPr lang="zh-CN" altLang="en-US" sz="2400" dirty="0"/>
            </a:p>
            <a:p>
              <a:pPr eaLnBrk="1" hangingPunct="1">
                <a:lnSpc>
                  <a:spcPct val="150000"/>
                </a:lnSpc>
              </a:pPr>
              <a:endParaRPr lang="zh-CN" altLang="en-US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　                 不满足压缩映像原理，故不能收敛到方程的根。 </a:t>
              </a:r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707" name="Object 4"/>
                <p:cNvSpPr txBox="1"/>
                <p:nvPr/>
              </p:nvSpPr>
              <p:spPr bwMode="auto">
                <a:xfrm>
                  <a:off x="3678202" y="1240776"/>
                  <a:ext cx="1930471" cy="6203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9707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78202" y="1240776"/>
                  <a:ext cx="1930471" cy="62035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aphicFrame>
          <p:nvGraphicFramePr>
            <p:cNvPr id="29708" name="Object 5"/>
            <p:cNvGraphicFramePr>
              <a:graphicFrameLocks noChangeAspect="1"/>
            </p:cNvGraphicFramePr>
            <p:nvPr/>
          </p:nvGraphicFramePr>
          <p:xfrm>
            <a:off x="2473325" y="1825625"/>
            <a:ext cx="3832225" cy="574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94" name="Equation" r:id="rId2" imgW="28965525" imgH="4391025" progId="Equation.DSMT4">
                    <p:embed/>
                  </p:oleObj>
                </mc:Choice>
                <mc:Fallback>
                  <p:oleObj name="Equation" r:id="rId2" imgW="28965525" imgH="4391025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3325" y="1825625"/>
                          <a:ext cx="3832225" cy="574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710" name="Object 23"/>
                <p:cNvSpPr txBox="1"/>
                <p:nvPr/>
              </p:nvSpPr>
              <p:spPr bwMode="auto">
                <a:xfrm>
                  <a:off x="1763688" y="2492896"/>
                  <a:ext cx="750888" cy="463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9710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63688" y="2492896"/>
                  <a:ext cx="750888" cy="463550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700" name="Object 8"/>
              <p:cNvSpPr txBox="1"/>
              <p:nvPr/>
            </p:nvSpPr>
            <p:spPr bwMode="auto">
              <a:xfrm>
                <a:off x="3225800" y="476548"/>
                <a:ext cx="3162300" cy="5762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970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5800" y="476548"/>
                <a:ext cx="3162300" cy="576263"/>
              </a:xfrm>
              <a:prstGeom prst="rect">
                <a:avLst/>
              </a:prstGeom>
              <a:blipFill rotWithShape="1">
                <a:blip r:embed="rId5"/>
                <a:stretch>
                  <a:fillRect t="-52" b="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01" name="矩形 39"/>
          <p:cNvSpPr>
            <a:spLocks noChangeArrowheads="1"/>
          </p:cNvSpPr>
          <p:nvPr/>
        </p:nvSpPr>
        <p:spPr bwMode="auto">
          <a:xfrm>
            <a:off x="1409700" y="530523"/>
            <a:ext cx="1882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</a:rPr>
              <a:t>【</a:t>
            </a:r>
            <a:r>
              <a:rPr lang="zh-CN" altLang="en-US" sz="2400" b="1">
                <a:solidFill>
                  <a:srgbClr val="FF0000"/>
                </a:solidFill>
              </a:rPr>
              <a:t>例</a:t>
            </a:r>
            <a:r>
              <a:rPr lang="en-US" altLang="zh-CN" sz="2400" b="1">
                <a:solidFill>
                  <a:srgbClr val="FF0000"/>
                </a:solidFill>
              </a:rPr>
              <a:t>】</a:t>
            </a:r>
            <a:r>
              <a:rPr lang="zh-CN" altLang="en-US" sz="2400">
                <a:solidFill>
                  <a:srgbClr val="000000"/>
                </a:solidFill>
              </a:rPr>
              <a:t>  对于</a:t>
            </a:r>
            <a:endParaRPr lang="zh-CN" altLang="en-US" sz="2400"/>
          </a:p>
        </p:txBody>
      </p:sp>
      <p:sp>
        <p:nvSpPr>
          <p:cNvPr id="4" name="椭圆形标注 3"/>
          <p:cNvSpPr>
            <a:spLocks noChangeArrowheads="1"/>
          </p:cNvSpPr>
          <p:nvPr/>
        </p:nvSpPr>
        <p:spPr bwMode="auto">
          <a:xfrm>
            <a:off x="8992707" y="2056531"/>
            <a:ext cx="3095625" cy="1098550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绝对值上限是否小于</a:t>
            </a:r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6397604" y="530523"/>
            <a:ext cx="5083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在区间 </a:t>
            </a:r>
            <a:r>
              <a:rPr lang="en-US" altLang="zh-CN" dirty="0"/>
              <a:t>(1, 2) </a:t>
            </a:r>
            <a:r>
              <a:rPr lang="zh-CN" altLang="en-US" dirty="0"/>
              <a:t>内构造可收敛的迭代式</a:t>
            </a:r>
            <a:r>
              <a:rPr lang="en-US" altLang="zh-CN" dirty="0"/>
              <a:t>.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2424038" y="4682554"/>
            <a:ext cx="7061200" cy="2097087"/>
            <a:chOff x="2495550" y="3760788"/>
            <a:chExt cx="7061200" cy="2097087"/>
          </a:xfrm>
        </p:grpSpPr>
        <p:grpSp>
          <p:nvGrpSpPr>
            <p:cNvPr id="3" name="组合 12"/>
            <p:cNvGrpSpPr/>
            <p:nvPr/>
          </p:nvGrpSpPr>
          <p:grpSpPr bwMode="auto">
            <a:xfrm>
              <a:off x="2495550" y="3760788"/>
              <a:ext cx="7061200" cy="2097087"/>
              <a:chOff x="971550" y="3760788"/>
              <a:chExt cx="7061200" cy="2097087"/>
            </a:xfrm>
          </p:grpSpPr>
          <p:sp>
            <p:nvSpPr>
              <p:cNvPr id="29703" name="Rectangle 3"/>
              <p:cNvSpPr txBox="1">
                <a:spLocks noChangeArrowheads="1"/>
              </p:cNvSpPr>
              <p:nvPr/>
            </p:nvSpPr>
            <p:spPr bwMode="auto">
              <a:xfrm>
                <a:off x="971550" y="3760788"/>
                <a:ext cx="7061200" cy="20970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800" dirty="0"/>
                  <a:t>（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）</a:t>
                </a:r>
                <a:r>
                  <a:rPr lang="zh-CN" altLang="en-US" sz="2400" dirty="0"/>
                  <a:t>函数                             在区间</a:t>
                </a:r>
                <a:r>
                  <a:rPr lang="en-US" altLang="zh-CN" sz="2400" dirty="0"/>
                  <a:t>[1</a:t>
                </a:r>
                <a:r>
                  <a:rPr lang="zh-CN" altLang="en-US" sz="2400" dirty="0"/>
                  <a:t>，</a:t>
                </a:r>
                <a:r>
                  <a:rPr lang="en-US" altLang="zh-CN" sz="2400" dirty="0"/>
                  <a:t>2]</a:t>
                </a:r>
                <a:r>
                  <a:rPr lang="zh-CN" altLang="en-US" sz="2400" dirty="0"/>
                  <a:t>上满足迭代收敛条件。</a:t>
                </a:r>
                <a:endParaRPr lang="zh-CN" altLang="en-US" sz="2400" dirty="0"/>
              </a:p>
              <a:p>
                <a:pPr eaLnBrk="1" hangingPunct="1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400" dirty="0"/>
                  <a:t>证明：构造迭代式：</a:t>
                </a:r>
                <a:endParaRPr lang="zh-CN" altLang="en-US" sz="2400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704" name="Object 24"/>
                  <p:cNvSpPr txBox="1"/>
                  <p:nvPr/>
                </p:nvSpPr>
                <p:spPr bwMode="auto">
                  <a:xfrm>
                    <a:off x="2627313" y="3870325"/>
                    <a:ext cx="2016125" cy="5476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rmAutofit fontScale="925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  <m:rad>
                            <m:ra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29704" name="Object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627313" y="3870325"/>
                    <a:ext cx="2016125" cy="547688"/>
                  </a:xfrm>
                  <a:prstGeom prst="rect">
                    <a:avLst/>
                  </a:prstGeom>
                  <a:blipFill rotWithShape="1">
                    <a:blip r:embed="rId6"/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Object 24"/>
                <p:cNvSpPr txBox="1"/>
                <p:nvPr/>
              </p:nvSpPr>
              <p:spPr bwMode="auto">
                <a:xfrm>
                  <a:off x="5303912" y="5083793"/>
                  <a:ext cx="2333909" cy="604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sSub>
                              <m:sSubPr>
                                <m:ctrlPr>
                                  <a:rPr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6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03912" y="5083793"/>
                  <a:ext cx="2333909" cy="604172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2207568" y="1122265"/>
                <a:ext cx="4626138" cy="86510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kern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解：</m:t>
                      </m:r>
                      <m:r>
                        <a:rPr lang="zh-CN" altLang="en-US" i="1" ker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由</m:t>
                      </m:r>
                      <m:r>
                        <a:rPr lang="zh-CN" altLang="en-US" i="1" kern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于</m:t>
                      </m:r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e>
                      </m:d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=−</m:t>
                      </m:r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1</m:t>
                      </m:r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&lt;</m:t>
                      </m:r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0</m:t>
                      </m:r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</m:t>
                      </m:r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e>
                      </m:d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&gt;</m:t>
                      </m:r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0</m:t>
                      </m:r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</m:t>
                      </m:r>
                    </m:oMath>
                  </m:oMathPara>
                </a14:m>
                <a:endParaRPr lang="en-US" altLang="zh-CN" b="0" i="1" kern="0" dirty="0">
                  <a:solidFill>
                    <a:schemeClr val="tx1"/>
                  </a:solidFill>
                  <a:latin typeface="Cambria Math" panose="02040503050406030204" pitchFamily="18" charset="0"/>
                  <a:ea typeface="华文中宋" panose="02010600040101010101" pitchFamily="2" charset="-122"/>
                </a:endParaRPr>
              </a:p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r>
                      <a:rPr lang="zh-CN" altLang="en-US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故</m:t>
                    </m:r>
                  </m:oMath>
                </a14:m>
                <a:r>
                  <a:rPr lang="zh-CN" altLang="en-US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在区间（</a:t>
                </a:r>
                <a:r>
                  <a:rPr lang="en-US" altLang="zh-CN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</a:t>
                </a:r>
                <a:r>
                  <a:rPr lang="zh-CN" altLang="en-US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</a:t>
                </a:r>
                <a:r>
                  <a:rPr lang="en-US" altLang="zh-CN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lang="zh-CN" altLang="en-US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）中有根</a:t>
                </a:r>
                <a:endParaRPr lang="zh-CN" altLang="en-US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1122265"/>
                <a:ext cx="4626138" cy="865109"/>
              </a:xfrm>
              <a:prstGeom prst="rect">
                <a:avLst/>
              </a:prstGeom>
              <a:blipFill rotWithShape="1">
                <a:blip r:embed="rId8"/>
                <a:stretch>
                  <a:fillRect l="-7" t="-25" r="-319" b="-38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27016" name="Object 8"/>
              <p:cNvSpPr txBox="1"/>
              <p:nvPr/>
            </p:nvSpPr>
            <p:spPr bwMode="auto">
              <a:xfrm>
                <a:off x="2482850" y="549275"/>
                <a:ext cx="4562475" cy="528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而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2701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2850" y="549275"/>
                <a:ext cx="4562475" cy="528638"/>
              </a:xfrm>
              <a:prstGeom prst="rect">
                <a:avLst/>
              </a:prstGeom>
              <a:blipFill rotWithShape="1">
                <a:blip r:embed="rId1"/>
                <a:stretch>
                  <a:fillRect b="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7018" name="Object 10"/>
              <p:cNvSpPr txBox="1"/>
              <p:nvPr/>
            </p:nvSpPr>
            <p:spPr bwMode="auto">
              <a:xfrm>
                <a:off x="2076450" y="1544638"/>
                <a:ext cx="7680325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)]∈[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，所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满足定理条件（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）。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2701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76450" y="1544638"/>
                <a:ext cx="7680325" cy="495300"/>
              </a:xfrm>
              <a:prstGeom prst="rect">
                <a:avLst/>
              </a:prstGeom>
              <a:blipFill rotWithShape="1">
                <a:blip r:embed="rId2"/>
                <a:stretch>
                  <a:fillRect t="-64" b="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729" name="Object 4"/>
          <p:cNvGraphicFramePr>
            <a:graphicFrameLocks noChangeAspect="1"/>
          </p:cNvGraphicFramePr>
          <p:nvPr/>
        </p:nvGraphicFramePr>
        <p:xfrm>
          <a:off x="2496343" y="2206625"/>
          <a:ext cx="6840538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1" name="公式" r:id="rId3" imgW="53759100" imgH="7677150" progId="Equation.3">
                  <p:embed/>
                </p:oleObj>
              </mc:Choice>
              <mc:Fallback>
                <p:oleObj name="公式" r:id="rId3" imgW="53759100" imgH="767715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6343" y="2206625"/>
                        <a:ext cx="6840538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8"/>
          <p:cNvGrpSpPr/>
          <p:nvPr/>
        </p:nvGrpSpPr>
        <p:grpSpPr bwMode="auto">
          <a:xfrm>
            <a:off x="2255838" y="4711700"/>
            <a:ext cx="8088634" cy="1443038"/>
            <a:chOff x="731838" y="4711700"/>
            <a:chExt cx="6183312" cy="144230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727" name="Object 12"/>
                <p:cNvSpPr txBox="1"/>
                <p:nvPr/>
              </p:nvSpPr>
              <p:spPr bwMode="auto">
                <a:xfrm>
                  <a:off x="731838" y="4711700"/>
                  <a:ext cx="6183312" cy="530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故</m:t>
                            </m:r>
                          </m:e>
                          <m:sub/>
                        </m:s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ad>
                              <m:rad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g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  <m:sub/>
                        </m:sSub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在</m:t>
                            </m:r>
                          </m:e>
                          <m:sub/>
                        </m:s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b/>
                        </m:s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满足压缩映像原理。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0727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1838" y="4711700"/>
                  <a:ext cx="6183312" cy="530225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728" name="Object 13"/>
                <p:cNvSpPr txBox="1"/>
                <p:nvPr/>
              </p:nvSpPr>
              <p:spPr bwMode="auto">
                <a:xfrm>
                  <a:off x="830263" y="5589588"/>
                  <a:ext cx="5685954" cy="5644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因而迭代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在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sub/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上收敛。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0728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0263" y="5589588"/>
                  <a:ext cx="5685954" cy="564414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文本框 3"/>
          <p:cNvSpPr txBox="1"/>
          <p:nvPr/>
        </p:nvSpPr>
        <p:spPr>
          <a:xfrm>
            <a:off x="3294611" y="3218560"/>
            <a:ext cx="2031326" cy="485839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  <a:ln>
            <a:solidFill>
              <a:schemeClr val="accent6">
                <a:shade val="95000"/>
                <a:satMod val="105000"/>
              </a:schemeClr>
            </a:solidFill>
          </a:ln>
        </p:spPr>
        <p:txBody>
          <a:bodyPr wrap="none">
            <a:spAutoFit/>
          </a:bodyPr>
          <a:lstStyle/>
          <a:p>
            <a:pPr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函数单调递减</a:t>
            </a:r>
            <a:endParaRPr lang="zh-CN" altLang="en-US" b="1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11"/>
              <p:cNvSpPr txBox="1"/>
              <p:nvPr/>
            </p:nvSpPr>
            <p:spPr bwMode="auto">
              <a:xfrm>
                <a:off x="2566988" y="3789363"/>
                <a:ext cx="3998912" cy="503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所以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满足条件（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）。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6988" y="3789363"/>
                <a:ext cx="3998912" cy="503237"/>
              </a:xfrm>
              <a:prstGeom prst="rect">
                <a:avLst/>
              </a:prstGeom>
              <a:blipFill rotWithShape="1">
                <a:blip r:embed="rId7"/>
                <a:stretch>
                  <a:fillRect l="-8" t="-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1204250" y="692696"/>
            <a:ext cx="184731" cy="509755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endParaRPr lang="zh-CN" altLang="en-US" sz="36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91544" y="692696"/>
            <a:ext cx="7110408" cy="9574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【</a:t>
            </a:r>
            <a:r>
              <a:rPr lang="zh-CN" altLang="en-US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】</a:t>
            </a:r>
            <a:r>
              <a:rPr lang="zh-CN" altLang="en-US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en-US" altLang="zh-CN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x=e</a:t>
            </a:r>
            <a:r>
              <a:rPr lang="en-US" altLang="zh-CN" kern="0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-x</a:t>
            </a:r>
            <a:r>
              <a:rPr lang="zh-CN" altLang="en-US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在</a:t>
            </a:r>
            <a:r>
              <a:rPr lang="en-US" altLang="zh-CN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[1/2,ln2]</a:t>
            </a:r>
            <a:r>
              <a:rPr lang="zh-CN" altLang="en-US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上有一根</a:t>
            </a:r>
            <a:r>
              <a:rPr lang="en-US" altLang="zh-CN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x*</a:t>
            </a:r>
            <a:r>
              <a:rPr lang="zh-CN" altLang="en-US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，求</a:t>
            </a:r>
            <a:r>
              <a:rPr lang="en-US" altLang="zh-CN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x*</a:t>
            </a:r>
            <a:r>
              <a:rPr lang="zh-CN" altLang="en-US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？</a:t>
            </a:r>
            <a:endParaRPr lang="en-US" altLang="zh-CN" kern="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解：</a:t>
            </a:r>
            <a:endParaRPr lang="en-US" altLang="zh-CN" kern="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70744" y="1700461"/>
            <a:ext cx="6984776" cy="913070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pPr marL="0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先验证迭代公式是否满足两个条件，若满足则用迭代法求近似值，否则重新构造迭代公式。</a:t>
            </a:r>
            <a:endParaRPr lang="zh-CN" altLang="en-US" kern="0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228710" y="2914461"/>
                <a:ext cx="1966757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𝑥</m:t>
                      </m:r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∈[</m:t>
                      </m:r>
                      <m:f>
                        <m:fPr>
                          <m:ctrlP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</m:den>
                      </m:f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,</m:t>
                      </m:r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𝑙𝑛</m:t>
                      </m:r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2</m:t>
                      </m:r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]</m:t>
                      </m:r>
                    </m:oMath>
                  </m:oMathPara>
                </a14:m>
                <a:endParaRPr lang="zh-CN" altLang="en-US" sz="2800" kern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710" y="2914461"/>
                <a:ext cx="1966757" cy="410369"/>
              </a:xfrm>
              <a:prstGeom prst="rect">
                <a:avLst/>
              </a:prstGeom>
              <a:blipFill rotWithShape="1">
                <a:blip r:embed="rId1"/>
                <a:stretch>
                  <a:fillRect l="-19" t="-49780" r="-5333" b="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3179950" y="3625760"/>
                <a:ext cx="3538468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𝜑</m:t>
                      </m:r>
                      <m:d>
                        <m:dPr>
                          <m:ctrlP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e>
                      </m:d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sup>
                      </m:sSup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∈[</m:t>
                      </m:r>
                      <m:f>
                        <m:fPr>
                          <m:ctrlP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</m:den>
                      </m:f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,</m:t>
                      </m:r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𝑙𝑛</m:t>
                      </m:r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2</m:t>
                      </m:r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]</m:t>
                      </m:r>
                    </m:oMath>
                  </m:oMathPara>
                </a14:m>
                <a:endParaRPr lang="zh-CN" altLang="en-US" sz="3600" kern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950" y="3625760"/>
                <a:ext cx="3538468" cy="410369"/>
              </a:xfrm>
              <a:prstGeom prst="rect">
                <a:avLst/>
              </a:prstGeom>
              <a:blipFill rotWithShape="1">
                <a:blip r:embed="rId2"/>
                <a:stretch>
                  <a:fillRect l="-14" t="-49804" r="-3729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280068" y="4436765"/>
                <a:ext cx="2902205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|</m:t>
                          </m:r>
                          <m:r>
                            <a:rPr lang="zh-CN" altLang="en-US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′</m:t>
                          </m:r>
                        </m:sup>
                      </m:sSup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|=</m:t>
                      </m:r>
                      <m:sSup>
                        <m:sSupPr>
                          <m:ctrlP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sup>
                      </m:sSup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&lt;</m:t>
                      </m:r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1</m:t>
                      </m:r>
                    </m:oMath>
                  </m:oMathPara>
                </a14:m>
                <a:endParaRPr lang="zh-CN" altLang="en-US" sz="3600" kern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068" y="4436765"/>
                <a:ext cx="2902205" cy="410369"/>
              </a:xfrm>
              <a:prstGeom prst="rect">
                <a:avLst/>
              </a:prstGeom>
              <a:blipFill rotWithShape="1">
                <a:blip r:embed="rId3"/>
                <a:stretch>
                  <a:fillRect l="-10" t="-5" r="-4445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/>
          <p:cNvGrpSpPr/>
          <p:nvPr/>
        </p:nvGrpSpPr>
        <p:grpSpPr>
          <a:xfrm>
            <a:off x="2558776" y="5196708"/>
            <a:ext cx="4979248" cy="473206"/>
            <a:chOff x="2351584" y="5485087"/>
            <a:chExt cx="4979248" cy="473206"/>
          </a:xfrm>
        </p:grpSpPr>
        <p:sp>
          <p:nvSpPr>
            <p:cNvPr id="9" name="文本框 8"/>
            <p:cNvSpPr txBox="1"/>
            <p:nvPr/>
          </p:nvSpPr>
          <p:spPr>
            <a:xfrm>
              <a:off x="2351584" y="5485087"/>
              <a:ext cx="4979248" cy="473206"/>
            </a:xfrm>
            <a:prstGeom prst="rect">
              <a:avLst/>
            </a:prstGeom>
            <a:gradFill>
              <a:gsLst>
                <a:gs pos="100000">
                  <a:srgbClr val="FFEFD1"/>
                </a:gs>
                <a:gs pos="64999">
                  <a:srgbClr val="F0EBD5"/>
                </a:gs>
                <a:gs pos="100000">
                  <a:srgbClr val="D1C39F"/>
                </a:gs>
              </a:gsLst>
              <a:lin ang="5400000" scaled="0"/>
            </a:gradFill>
          </p:spPr>
          <p:txBody>
            <a:bodyPr wrap="none" rtlCol="0">
              <a:spAutoFit/>
            </a:bodyPr>
            <a:lstStyle/>
            <a:p>
              <a:pPr marL="0" algn="ctr">
                <a:lnSpc>
                  <a:spcPts val="32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zh-CN" altLang="en-US" kern="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故迭代公式                           收敛</a:t>
              </a:r>
              <a:endParaRPr lang="zh-CN" altLang="en-US" kern="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4087827" y="5499501"/>
                  <a:ext cx="2503458" cy="410369"/>
                </a:xfrm>
                <a:prstGeom prst="rect">
                  <a:avLst/>
                </a:prstGeom>
                <a:gradFill>
                  <a:gsLst>
                    <a:gs pos="100000">
                      <a:srgbClr val="FFEFD1"/>
                    </a:gs>
                    <a:gs pos="64999">
                      <a:srgbClr val="F0EBD5"/>
                    </a:gs>
                    <a:gs pos="100000">
                      <a:srgbClr val="D1C39F"/>
                    </a:gs>
                  </a:gsLst>
                  <a:lin ang="5400000" scaled="0"/>
                </a:gra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algn="ctr">
                    <a:lnSpc>
                      <a:spcPts val="3200"/>
                    </a:lnSpc>
                    <a:spcBef>
                      <a:spcPct val="20000"/>
                    </a:spcBef>
                    <a:buFont typeface="Wingdings" panose="05000000000000000000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28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+</m:t>
                            </m:r>
                            <m:r>
                              <a:rPr lang="en-US" altLang="zh-CN" sz="28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 kern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kern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800" b="0" i="1" kern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zh-CN" altLang="en-US" sz="2800" kern="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7827" y="5499501"/>
                  <a:ext cx="2503458" cy="41036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839184" y="5903783"/>
                <a:ext cx="4220001" cy="530466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:r>
                  <a:rPr lang="zh-CN" altLang="en-US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0</m:t>
                        </m:r>
                      </m:sub>
                    </m:sSub>
                    <m:r>
                      <a:rPr lang="en-US" altLang="zh-CN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</m:t>
                    </m:r>
                  </m:oMath>
                </a14:m>
                <a:r>
                  <a:rPr lang="en-US" altLang="zh-CN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=</a:t>
                </a:r>
                <a:r>
                  <a:rPr lang="en-US" altLang="zh-CN" kern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,……,</a:t>
                </a:r>
                <a:r>
                  <a:rPr lang="en-US" altLang="zh-CN" kern="0" dirty="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  <m:r>
                          <a:rPr lang="en-US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4</m:t>
                        </m:r>
                      </m:sub>
                    </m:sSub>
                    <m:r>
                      <a:rPr lang="en-US" altLang="zh-CN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0</m:t>
                    </m:r>
                    <m:r>
                      <a:rPr lang="en-US" altLang="zh-CN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  <m:r>
                      <a:rPr lang="en-US" altLang="zh-CN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567119</m:t>
                    </m:r>
                  </m:oMath>
                </a14:m>
                <a:endParaRPr lang="zh-CN" altLang="en-US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184" y="5903783"/>
                <a:ext cx="4220001" cy="530466"/>
              </a:xfrm>
              <a:prstGeom prst="rect">
                <a:avLst/>
              </a:prstGeom>
              <a:blipFill rotWithShape="1">
                <a:blip r:embed="rId5"/>
                <a:stretch>
                  <a:fillRect l="-2" t="-35" r="-1583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5"/>
          <p:cNvGrpSpPr/>
          <p:nvPr/>
        </p:nvGrpSpPr>
        <p:grpSpPr bwMode="auto">
          <a:xfrm>
            <a:off x="2208213" y="1090613"/>
            <a:ext cx="7772400" cy="1927225"/>
            <a:chOff x="684213" y="1162050"/>
            <a:chExt cx="7772400" cy="192722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752" name="Object 3"/>
                <p:cNvSpPr txBox="1"/>
                <p:nvPr/>
              </p:nvSpPr>
              <p:spPr bwMode="auto">
                <a:xfrm>
                  <a:off x="1547813" y="1912938"/>
                  <a:ext cx="1206500" cy="4730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62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1752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47813" y="1912938"/>
                  <a:ext cx="1206500" cy="473075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753" name="Rectangle 4"/>
            <p:cNvSpPr>
              <a:spLocks noChangeArrowheads="1"/>
            </p:cNvSpPr>
            <p:nvPr/>
          </p:nvSpPr>
          <p:spPr bwMode="auto">
            <a:xfrm>
              <a:off x="684213" y="1162050"/>
              <a:ext cx="7772400" cy="1835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 dirty="0">
                  <a:latin typeface="宋体" panose="02010600030101010101" pitchFamily="2" charset="-122"/>
                </a:rPr>
                <a:t>   </a:t>
              </a:r>
              <a:r>
                <a:rPr lang="zh-CN" altLang="en-US" sz="2400" dirty="0">
                  <a:latin typeface="宋体" panose="02010600030101010101" pitchFamily="2" charset="-122"/>
                </a:rPr>
                <a:t>设方程   </a:t>
              </a:r>
              <a:r>
                <a:rPr lang="zh-CN" altLang="en-US" sz="2400" i="1" dirty="0">
                  <a:latin typeface="宋体" panose="02010600030101010101" pitchFamily="2" charset="-122"/>
                </a:rPr>
                <a:t>     </a:t>
              </a:r>
              <a:r>
                <a:rPr lang="zh-CN" altLang="en-US" sz="2400" dirty="0">
                  <a:latin typeface="宋体" panose="02010600030101010101" pitchFamily="2" charset="-122"/>
                </a:rPr>
                <a:t>在区间     内有根</a:t>
              </a:r>
              <a:r>
                <a:rPr lang="zh-CN" altLang="en-US" sz="2400" i="1" dirty="0">
                  <a:latin typeface="宋体" panose="02010600030101010101" pitchFamily="2" charset="-122"/>
                </a:rPr>
                <a:t>  </a:t>
              </a:r>
              <a:r>
                <a:rPr lang="zh-CN" altLang="en-US" sz="2400" dirty="0">
                  <a:latin typeface="宋体" panose="02010600030101010101" pitchFamily="2" charset="-122"/>
                </a:rPr>
                <a:t>，且存在  </a:t>
              </a:r>
              <a:endParaRPr lang="zh-CN" altLang="en-US" sz="2400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150000"/>
                </a:lnSpc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   有  </a:t>
              </a:r>
              <a:r>
                <a:rPr lang="zh-CN" altLang="en-US" sz="2400" dirty="0">
                  <a:latin typeface="宋体" panose="02010600030101010101" pitchFamily="2" charset="-122"/>
                  <a:sym typeface="Symbol" panose="05050102010706020507" pitchFamily="18" charset="2"/>
                </a:rPr>
                <a:t>      </a:t>
              </a:r>
              <a:r>
                <a:rPr lang="zh-CN" altLang="en-US" sz="2400" dirty="0">
                  <a:latin typeface="宋体" panose="02010600030101010101" pitchFamily="2" charset="-122"/>
                </a:rPr>
                <a:t>，则对任意初值   </a:t>
              </a:r>
              <a:r>
                <a:rPr lang="zh-CN" altLang="en-US" sz="2400" i="1" dirty="0">
                  <a:latin typeface="宋体" panose="02010600030101010101" pitchFamily="2" charset="-122"/>
                </a:rPr>
                <a:t>      </a:t>
              </a:r>
              <a:r>
                <a:rPr lang="zh-CN" altLang="en-US" sz="2400" dirty="0">
                  <a:latin typeface="宋体" panose="02010600030101010101" pitchFamily="2" charset="-122"/>
                </a:rPr>
                <a:t> ，且 </a:t>
              </a:r>
              <a:r>
                <a:rPr lang="zh-CN" altLang="en-US" sz="2400" i="1" dirty="0">
                  <a:latin typeface="宋体" panose="02010600030101010101" pitchFamily="2" charset="-122"/>
                </a:rPr>
                <a:t>      </a:t>
              </a:r>
              <a:r>
                <a:rPr lang="zh-CN" altLang="en-US" sz="2400" dirty="0">
                  <a:latin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400" dirty="0">
                  <a:latin typeface="宋体" panose="02010600030101010101" pitchFamily="2" charset="-122"/>
                </a:rPr>
                <a:t>,</a:t>
              </a:r>
              <a:endParaRPr lang="en-US" altLang="zh-CN" sz="2400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150000"/>
                </a:lnSpc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 dirty="0">
                  <a:latin typeface="宋体" panose="02010600030101010101" pitchFamily="2" charset="-122"/>
                </a:rPr>
                <a:t>   </a:t>
              </a:r>
              <a:r>
                <a:rPr lang="zh-CN" altLang="en-US" sz="2400" dirty="0">
                  <a:latin typeface="宋体" panose="02010600030101010101" pitchFamily="2" charset="-122"/>
                </a:rPr>
                <a:t>迭代过程         </a:t>
              </a:r>
              <a:r>
                <a:rPr lang="zh-CN" altLang="en-US" sz="2400" i="1" dirty="0">
                  <a:latin typeface="宋体" panose="02010600030101010101" pitchFamily="2" charset="-122"/>
                </a:rPr>
                <a:t>   </a:t>
              </a:r>
              <a:r>
                <a:rPr lang="zh-CN" altLang="en-US" sz="2400" dirty="0">
                  <a:latin typeface="宋体" panose="02010600030101010101" pitchFamily="2" charset="-122"/>
                </a:rPr>
                <a:t>发散。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754" name="Object 5"/>
                <p:cNvSpPr txBox="1"/>
                <p:nvPr/>
              </p:nvSpPr>
              <p:spPr bwMode="auto">
                <a:xfrm>
                  <a:off x="4321175" y="1298575"/>
                  <a:ext cx="755650" cy="439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1754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21175" y="1298575"/>
                  <a:ext cx="755650" cy="439738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755" name="Object 6"/>
                <p:cNvSpPr txBox="1"/>
                <p:nvPr/>
              </p:nvSpPr>
              <p:spPr bwMode="auto">
                <a:xfrm>
                  <a:off x="2190750" y="1306513"/>
                  <a:ext cx="1206500" cy="4063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1755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90750" y="1306513"/>
                  <a:ext cx="1206500" cy="406399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756" name="Object 7"/>
                <p:cNvSpPr txBox="1"/>
                <p:nvPr/>
              </p:nvSpPr>
              <p:spPr bwMode="auto">
                <a:xfrm>
                  <a:off x="4932363" y="1916113"/>
                  <a:ext cx="1492250" cy="466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∈[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1756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32363" y="1916113"/>
                  <a:ext cx="1492250" cy="466725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757" name="Object 8"/>
                <p:cNvSpPr txBox="1"/>
                <p:nvPr/>
              </p:nvSpPr>
              <p:spPr bwMode="auto">
                <a:xfrm>
                  <a:off x="6026150" y="1223963"/>
                  <a:ext cx="417513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1757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26150" y="1223963"/>
                  <a:ext cx="417513" cy="476250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758" name="Object 10"/>
                <p:cNvSpPr txBox="1"/>
                <p:nvPr/>
              </p:nvSpPr>
              <p:spPr bwMode="auto">
                <a:xfrm>
                  <a:off x="7558088" y="1341438"/>
                  <a:ext cx="685800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62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1758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58088" y="1341438"/>
                  <a:ext cx="685800" cy="323850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759" name="Object 11"/>
                <p:cNvSpPr txBox="1"/>
                <p:nvPr/>
              </p:nvSpPr>
              <p:spPr bwMode="auto">
                <a:xfrm>
                  <a:off x="2593975" y="2517775"/>
                  <a:ext cx="1617985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1759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93975" y="2517775"/>
                  <a:ext cx="1617985" cy="571500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760" name="Object 12"/>
                <p:cNvSpPr txBox="1"/>
                <p:nvPr/>
              </p:nvSpPr>
              <p:spPr bwMode="auto">
                <a:xfrm>
                  <a:off x="7067550" y="1881188"/>
                  <a:ext cx="1104900" cy="4984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1760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067550" y="1881188"/>
                  <a:ext cx="1104900" cy="498475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466" name="Object 16"/>
              <p:cNvSpPr txBox="1"/>
              <p:nvPr/>
            </p:nvSpPr>
            <p:spPr bwMode="auto">
              <a:xfrm>
                <a:off x="2835275" y="3200400"/>
                <a:ext cx="4175125" cy="57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| = |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)| 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46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5275" y="3200400"/>
                <a:ext cx="4175125" cy="5715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/>
          <p:cNvSpPr/>
          <p:nvPr/>
        </p:nvSpPr>
        <p:spPr>
          <a:xfrm>
            <a:off x="2351088" y="54927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kern="0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定理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en-US" kern="0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：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bject 13"/>
              <p:cNvSpPr txBox="1"/>
              <p:nvPr/>
            </p:nvSpPr>
            <p:spPr bwMode="auto">
              <a:xfrm>
                <a:off x="4267200" y="3925888"/>
                <a:ext cx="2794000" cy="57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= |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)| 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7200" y="3925888"/>
                <a:ext cx="2794000" cy="571500"/>
              </a:xfrm>
              <a:prstGeom prst="rect">
                <a:avLst/>
              </a:prstGeom>
              <a:blipFill rotWithShape="1">
                <a:blip r:embed="rId10"/>
                <a:stretch>
                  <a:fillRect t="-56" b="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14"/>
              <p:cNvSpPr txBox="1"/>
              <p:nvPr/>
            </p:nvSpPr>
            <p:spPr bwMode="auto">
              <a:xfrm>
                <a:off x="4311650" y="4646613"/>
                <a:ext cx="4475163" cy="5699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－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| ≥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－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| 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11650" y="4646613"/>
                <a:ext cx="4475163" cy="569912"/>
              </a:xfrm>
              <a:prstGeom prst="rect">
                <a:avLst/>
              </a:prstGeom>
              <a:blipFill rotWithShape="1">
                <a:blip r:embed="rId11"/>
                <a:stretch>
                  <a:fillRect t="-56" r="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bject 15"/>
              <p:cNvSpPr txBox="1"/>
              <p:nvPr/>
            </p:nvSpPr>
            <p:spPr bwMode="auto">
              <a:xfrm>
                <a:off x="4338638" y="5505450"/>
                <a:ext cx="4565650" cy="10207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≥ ......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→+∞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0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38638" y="5505450"/>
                <a:ext cx="4565650" cy="1020763"/>
              </a:xfrm>
              <a:prstGeom prst="rect">
                <a:avLst/>
              </a:prstGeom>
              <a:blipFill rotWithShape="1">
                <a:blip r:embed="rId12"/>
                <a:stretch>
                  <a:fillRect l="-7" r="7" b="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1"/>
          <p:cNvGrpSpPr/>
          <p:nvPr/>
        </p:nvGrpSpPr>
        <p:grpSpPr bwMode="auto">
          <a:xfrm>
            <a:off x="1415480" y="476250"/>
            <a:ext cx="8588945" cy="1223963"/>
            <a:chOff x="687388" y="476250"/>
            <a:chExt cx="7793037" cy="1223963"/>
          </a:xfrm>
        </p:grpSpPr>
        <p:sp>
          <p:nvSpPr>
            <p:cNvPr id="33805" name="Rectangle 2"/>
            <p:cNvSpPr txBox="1">
              <a:spLocks noChangeArrowheads="1"/>
            </p:cNvSpPr>
            <p:nvPr/>
          </p:nvSpPr>
          <p:spPr bwMode="auto">
            <a:xfrm>
              <a:off x="687388" y="476250"/>
              <a:ext cx="7793037" cy="1223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600" b="1" dirty="0">
                  <a:solidFill>
                    <a:srgbClr val="FF0000"/>
                  </a:solidFill>
                </a:rPr>
                <a:t>【</a:t>
              </a:r>
              <a:r>
                <a:rPr lang="zh-CN" altLang="en-US" sz="2600" b="1" dirty="0">
                  <a:solidFill>
                    <a:srgbClr val="FF0000"/>
                  </a:solidFill>
                </a:rPr>
                <a:t>例</a:t>
              </a:r>
              <a:r>
                <a:rPr lang="en-US" altLang="zh-CN" sz="2600" b="1" dirty="0">
                  <a:solidFill>
                    <a:srgbClr val="FF0000"/>
                  </a:solidFill>
                </a:rPr>
                <a:t>】</a:t>
              </a:r>
              <a:r>
                <a:rPr lang="zh-CN" altLang="en-US" sz="2600" dirty="0"/>
                <a:t>迭代过程     　　　　　在</a:t>
              </a:r>
              <a:r>
                <a:rPr lang="en-US" altLang="zh-CN" sz="2600" dirty="0"/>
                <a:t>[1</a:t>
              </a:r>
              <a:r>
                <a:rPr lang="zh-CN" altLang="en-US" sz="2600" dirty="0"/>
                <a:t>，</a:t>
              </a:r>
              <a:r>
                <a:rPr lang="en-US" altLang="zh-CN" sz="2600" dirty="0"/>
                <a:t>2]</a:t>
              </a:r>
              <a:r>
                <a:rPr lang="zh-CN" altLang="en-US" sz="2600" dirty="0"/>
                <a:t>区间是否收敛？如发散， 试构造一收敛的迭代公式（课堂作业）。</a:t>
              </a:r>
              <a:endParaRPr lang="zh-CN" altLang="en-US" sz="26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806" name="Object 8"/>
                <p:cNvSpPr txBox="1"/>
                <p:nvPr/>
              </p:nvSpPr>
              <p:spPr bwMode="auto">
                <a:xfrm>
                  <a:off x="2978731" y="617368"/>
                  <a:ext cx="1625600" cy="485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3806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78731" y="617368"/>
                  <a:ext cx="1625600" cy="485775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3"/>
          <p:cNvGrpSpPr/>
          <p:nvPr/>
        </p:nvGrpSpPr>
        <p:grpSpPr bwMode="auto">
          <a:xfrm>
            <a:off x="2208213" y="1844675"/>
            <a:ext cx="7772400" cy="2592388"/>
            <a:chOff x="684213" y="1844675"/>
            <a:chExt cx="7772400" cy="2592437"/>
          </a:xfrm>
        </p:grpSpPr>
        <p:sp>
          <p:nvSpPr>
            <p:cNvPr id="33800" name="Rectangle 3"/>
            <p:cNvSpPr txBox="1">
              <a:spLocks noChangeArrowheads="1"/>
            </p:cNvSpPr>
            <p:nvPr/>
          </p:nvSpPr>
          <p:spPr bwMode="auto">
            <a:xfrm>
              <a:off x="684213" y="1844675"/>
              <a:ext cx="7772400" cy="2592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	解：迭代求根的方程为                         </a:t>
              </a:r>
              <a:r>
                <a:rPr lang="en-US" altLang="zh-CN" sz="2400" dirty="0"/>
                <a:t>. 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       </a:t>
              </a:r>
              <a:r>
                <a:rPr lang="zh-CN" altLang="en-US" sz="2400" dirty="0"/>
                <a:t>设                             ，则 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 </a:t>
              </a:r>
              <a:r>
                <a:rPr lang="zh-CN" altLang="en-US" sz="2400" dirty="0"/>
                <a:t>故方程         </a:t>
              </a:r>
              <a:r>
                <a:rPr lang="en-US" altLang="zh-CN" sz="2400" i="1" dirty="0"/>
                <a:t>          </a:t>
              </a:r>
              <a:r>
                <a:rPr lang="zh-CN" altLang="en-US" sz="2400" dirty="0"/>
                <a:t>在区间</a:t>
              </a:r>
              <a:r>
                <a:rPr lang="en-US" altLang="zh-CN" sz="2400" dirty="0"/>
                <a:t>[1, 2]</a:t>
              </a:r>
              <a:r>
                <a:rPr lang="zh-CN" altLang="en-US" sz="2400" dirty="0"/>
                <a:t>内有根</a:t>
              </a:r>
              <a:r>
                <a:rPr lang="en-US" altLang="zh-CN" sz="2400" dirty="0"/>
                <a:t>.</a:t>
              </a:r>
              <a:endParaRPr lang="en-US" altLang="zh-CN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801" name="Object 6"/>
                <p:cNvSpPr txBox="1"/>
                <p:nvPr/>
              </p:nvSpPr>
              <p:spPr bwMode="auto">
                <a:xfrm>
                  <a:off x="4208463" y="1930400"/>
                  <a:ext cx="1871662" cy="4492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3801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08463" y="1930400"/>
                  <a:ext cx="1871662" cy="449262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802" name="Object 7"/>
                <p:cNvSpPr txBox="1"/>
                <p:nvPr/>
              </p:nvSpPr>
              <p:spPr bwMode="auto">
                <a:xfrm>
                  <a:off x="2047875" y="2565400"/>
                  <a:ext cx="2232025" cy="485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3802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47875" y="2565400"/>
                  <a:ext cx="2232025" cy="485775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803" name="Object 5"/>
                <p:cNvSpPr txBox="1"/>
                <p:nvPr/>
              </p:nvSpPr>
              <p:spPr bwMode="auto">
                <a:xfrm>
                  <a:off x="2239963" y="3213100"/>
                  <a:ext cx="4056062" cy="431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3803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39963" y="3213100"/>
                  <a:ext cx="4056062" cy="431800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804" name="Object 7"/>
                <p:cNvSpPr txBox="1"/>
                <p:nvPr/>
              </p:nvSpPr>
              <p:spPr bwMode="auto">
                <a:xfrm>
                  <a:off x="2263775" y="3860800"/>
                  <a:ext cx="1225550" cy="431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3804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63775" y="3860800"/>
                  <a:ext cx="1225550" cy="431800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14"/>
          <p:cNvGrpSpPr/>
          <p:nvPr/>
        </p:nvGrpSpPr>
        <p:grpSpPr bwMode="auto">
          <a:xfrm>
            <a:off x="2495600" y="4153069"/>
            <a:ext cx="7772400" cy="2087563"/>
            <a:chOff x="971922" y="4152480"/>
            <a:chExt cx="7772400" cy="208823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797" name="Object 10"/>
                <p:cNvSpPr txBox="1"/>
                <p:nvPr/>
              </p:nvSpPr>
              <p:spPr bwMode="auto">
                <a:xfrm>
                  <a:off x="1890713" y="4449762"/>
                  <a:ext cx="1651000" cy="460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0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3797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90713" y="4449762"/>
                  <a:ext cx="1651000" cy="460375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798" name="Object 11"/>
                <p:cNvSpPr txBox="1"/>
                <p:nvPr/>
              </p:nvSpPr>
              <p:spPr bwMode="auto">
                <a:xfrm>
                  <a:off x="3893145" y="5057775"/>
                  <a:ext cx="3559175" cy="460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0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)|=|−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func>
                          <m:func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func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|&gt;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func>
                          <m:func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func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3798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93145" y="5057775"/>
                  <a:ext cx="3559175" cy="460375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799" name="Rectangle 3"/>
            <p:cNvSpPr txBox="1">
              <a:spLocks noChangeArrowheads="1"/>
            </p:cNvSpPr>
            <p:nvPr/>
          </p:nvSpPr>
          <p:spPr bwMode="auto">
            <a:xfrm>
              <a:off x="971922" y="4152480"/>
              <a:ext cx="7772400" cy="2088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题中   </a:t>
              </a:r>
              <a:r>
                <a:rPr lang="zh-CN" altLang="en-US" sz="2800" dirty="0"/>
                <a:t>    </a:t>
              </a:r>
              <a:r>
                <a:rPr lang="en-US" altLang="zh-CN" sz="2800" i="1" dirty="0">
                  <a:sym typeface="Symbol" panose="05050102010706020507" pitchFamily="18" charset="2"/>
                </a:rPr>
                <a:t>              </a:t>
              </a:r>
              <a:r>
                <a:rPr lang="zh-CN" altLang="en-US" sz="2400" dirty="0"/>
                <a:t>，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  </a:t>
              </a:r>
              <a:r>
                <a:rPr lang="zh-CN" altLang="en-US" sz="2400" dirty="0"/>
                <a:t>当 </a:t>
              </a:r>
              <a:r>
                <a:rPr lang="en-US" altLang="zh-CN" sz="2400" i="1" dirty="0"/>
                <a:t>x</a:t>
              </a:r>
              <a:r>
                <a:rPr lang="en-US" altLang="zh-CN" sz="2400" dirty="0">
                  <a:sym typeface="Symbol" panose="05050102010706020507" pitchFamily="18" charset="2"/>
                </a:rPr>
                <a:t>[1,2] </a:t>
              </a:r>
              <a:r>
                <a:rPr lang="zh-CN" altLang="en-US" sz="2400" dirty="0"/>
                <a:t>时</a:t>
              </a:r>
              <a:r>
                <a:rPr lang="en-US" altLang="zh-CN" sz="2400" dirty="0"/>
                <a:t>,  </a:t>
              </a:r>
              <a:r>
                <a:rPr lang="zh-CN" altLang="en-US" sz="2400" dirty="0"/>
                <a:t>有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en-US" altLang="zh-CN" sz="2400" dirty="0"/>
                <a:t>    </a:t>
              </a:r>
              <a:r>
                <a:rPr lang="zh-CN" altLang="en-US" sz="2400" dirty="0"/>
                <a:t>由定理</a:t>
              </a:r>
              <a:r>
                <a:rPr lang="en-US" altLang="zh-CN" sz="2400" dirty="0"/>
                <a:t>2</a:t>
              </a:r>
              <a:r>
                <a:rPr lang="zh-CN" altLang="en-US" sz="2400" dirty="0"/>
                <a:t>，迭代公式发散</a:t>
              </a:r>
              <a:r>
                <a:rPr lang="en-US" altLang="zh-CN" sz="2400" dirty="0"/>
                <a:t>.</a:t>
              </a:r>
              <a:endParaRPr lang="en-US" altLang="zh-CN" sz="2400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770567" y="1693994"/>
            <a:ext cx="3147165" cy="883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提示：先判定是否有根，再判定是否收敛</a:t>
            </a:r>
            <a:endParaRPr lang="zh-CN" altLang="en-US" kern="0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8"/>
          <p:cNvGrpSpPr/>
          <p:nvPr/>
        </p:nvGrpSpPr>
        <p:grpSpPr bwMode="auto">
          <a:xfrm>
            <a:off x="2063750" y="333375"/>
            <a:ext cx="7772400" cy="6048375"/>
            <a:chOff x="468313" y="549275"/>
            <a:chExt cx="7772400" cy="6048375"/>
          </a:xfrm>
        </p:grpSpPr>
        <p:sp>
          <p:nvSpPr>
            <p:cNvPr id="34820" name="Rectangle 3"/>
            <p:cNvSpPr txBox="1">
              <a:spLocks noChangeArrowheads="1"/>
            </p:cNvSpPr>
            <p:nvPr/>
          </p:nvSpPr>
          <p:spPr bwMode="auto">
            <a:xfrm>
              <a:off x="468313" y="549275"/>
              <a:ext cx="7772400" cy="6048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　把方程                           改写为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此时                 </a:t>
              </a:r>
              <a:r>
                <a:rPr lang="en-US" altLang="zh-CN" sz="2400" i="1" dirty="0">
                  <a:sym typeface="Symbol" panose="05050102010706020507" pitchFamily="18" charset="2"/>
                </a:rPr>
                <a:t>                      </a:t>
              </a:r>
              <a:r>
                <a:rPr lang="en-US" altLang="zh-CN" sz="2400" dirty="0"/>
                <a:t>, </a:t>
              </a:r>
              <a:r>
                <a:rPr lang="zh-CN" altLang="en-US" sz="2400" dirty="0"/>
                <a:t>则</a:t>
              </a:r>
              <a:endParaRPr lang="zh-CN" altLang="en-US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     </a:t>
              </a:r>
              <a:r>
                <a:rPr lang="en-US" altLang="zh-CN" sz="2400" dirty="0"/>
                <a:t>1°</a:t>
              </a:r>
              <a:r>
                <a:rPr lang="zh-CN" altLang="en-US" sz="2400" dirty="0"/>
                <a:t>当 </a:t>
              </a:r>
              <a:r>
                <a:rPr lang="en-US" altLang="zh-CN" sz="2400" i="1" dirty="0"/>
                <a:t>x</a:t>
              </a:r>
              <a:r>
                <a:rPr lang="en-US" altLang="zh-CN" sz="2400" dirty="0">
                  <a:sym typeface="Symbol" panose="05050102010706020507" pitchFamily="18" charset="2"/>
                </a:rPr>
                <a:t>[1,2]</a:t>
              </a:r>
              <a:r>
                <a:rPr lang="zh-CN" altLang="en-US" sz="2400" dirty="0"/>
                <a:t>时，有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 </a:t>
              </a:r>
              <a:r>
                <a:rPr lang="zh-CN" altLang="en-US" sz="2400" dirty="0"/>
                <a:t> </a:t>
              </a:r>
              <a:endParaRPr lang="en-US" altLang="zh-CN" sz="2800" dirty="0"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2°</a:t>
              </a:r>
              <a:r>
                <a:rPr lang="en-US" altLang="zh-CN" sz="2400" dirty="0">
                  <a:sym typeface="Symbol" panose="05050102010706020507" pitchFamily="18" charset="2"/>
                </a:rPr>
                <a:t></a:t>
              </a:r>
              <a:r>
                <a:rPr lang="en-US" altLang="zh-CN" sz="2400" i="1" dirty="0"/>
                <a:t>x</a:t>
              </a:r>
              <a:r>
                <a:rPr lang="en-US" altLang="zh-CN" sz="2400" dirty="0">
                  <a:sym typeface="Symbol" panose="05050102010706020507" pitchFamily="18" charset="2"/>
                </a:rPr>
                <a:t>[1,2]</a:t>
              </a:r>
              <a:r>
                <a:rPr lang="en-US" altLang="zh-CN" sz="2400" dirty="0"/>
                <a:t> </a:t>
              </a:r>
              <a:r>
                <a:rPr lang="zh-CN" altLang="en-US" sz="2400" dirty="0"/>
                <a:t>，有</a:t>
              </a:r>
              <a:endParaRPr lang="zh-CN" altLang="en-US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endParaRPr lang="zh-CN" altLang="en-US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　</a:t>
              </a:r>
              <a:endParaRPr lang="zh-CN" altLang="en-US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　        故可用迭代公式           </a:t>
              </a:r>
              <a:r>
                <a:rPr lang="en-US" altLang="zh-CN" sz="2400" i="1" dirty="0"/>
                <a:t>                             </a:t>
              </a:r>
              <a:r>
                <a:rPr lang="zh-CN" altLang="en-US" sz="2400" dirty="0"/>
                <a:t>来求解</a:t>
              </a:r>
              <a:r>
                <a:rPr lang="en-US" altLang="zh-CN" sz="2400" dirty="0">
                  <a:sym typeface="Symbol" panose="05050102010706020507" pitchFamily="18" charset="2"/>
                </a:rPr>
                <a:t>(1, 2)</a:t>
              </a:r>
              <a:r>
                <a:rPr lang="zh-CN" altLang="en-US" sz="2400" dirty="0"/>
                <a:t>区间内的唯一根</a:t>
              </a:r>
              <a:r>
                <a:rPr lang="en-US" altLang="zh-CN" sz="2400" dirty="0"/>
                <a:t>. </a:t>
              </a:r>
              <a:endParaRPr lang="en-US" altLang="zh-CN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821" name="Object 6"/>
                <p:cNvSpPr txBox="1"/>
                <p:nvPr/>
              </p:nvSpPr>
              <p:spPr bwMode="auto">
                <a:xfrm>
                  <a:off x="1403350" y="4581525"/>
                  <a:ext cx="5616575" cy="9223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)|=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func>
                              </m:den>
                            </m:f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func>
                              <m:func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func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func>
                              <m:func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func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4821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03350" y="4581525"/>
                  <a:ext cx="5616575" cy="922338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822" name="Object 2"/>
                <p:cNvSpPr txBox="1"/>
                <p:nvPr/>
              </p:nvSpPr>
              <p:spPr bwMode="auto">
                <a:xfrm>
                  <a:off x="2633663" y="1268413"/>
                  <a:ext cx="2370137" cy="4365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)/</m:t>
                        </m:r>
                        <m:func>
                          <m:func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func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4822" name="Object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33663" y="1268413"/>
                  <a:ext cx="2370137" cy="436562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823" name="Object 4"/>
                <p:cNvSpPr txBox="1"/>
                <p:nvPr/>
              </p:nvSpPr>
              <p:spPr bwMode="auto">
                <a:xfrm>
                  <a:off x="1187450" y="1916113"/>
                  <a:ext cx="2892425" cy="4492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func>
                          <m:func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)/</m:t>
                        </m:r>
                        <m:func>
                          <m:func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func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4823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87450" y="1916113"/>
                  <a:ext cx="2892425" cy="449262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824" name="Object 5"/>
                <p:cNvSpPr txBox="1"/>
                <p:nvPr/>
              </p:nvSpPr>
              <p:spPr bwMode="auto">
                <a:xfrm>
                  <a:off x="2098675" y="3141663"/>
                  <a:ext cx="3841750" cy="5508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sub/>
                            </m:sSub>
                            <m:func>
                              <m:func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func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func>
                              <m:func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func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⊂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sub/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4824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98675" y="3141663"/>
                  <a:ext cx="3841750" cy="550862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825" name="Object 7"/>
                <p:cNvSpPr txBox="1"/>
                <p:nvPr/>
              </p:nvSpPr>
              <p:spPr bwMode="auto">
                <a:xfrm>
                  <a:off x="3704291" y="5648232"/>
                  <a:ext cx="2779713" cy="485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)/</m:t>
                        </m:r>
                        <m:func>
                          <m:func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func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4825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04291" y="5648232"/>
                  <a:ext cx="2779713" cy="485775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819" name="Object 9"/>
              <p:cNvSpPr txBox="1"/>
              <p:nvPr/>
            </p:nvSpPr>
            <p:spPr bwMode="auto">
              <a:xfrm>
                <a:off x="3513138" y="409575"/>
                <a:ext cx="1871662" cy="4492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481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13138" y="409575"/>
                <a:ext cx="1871662" cy="449263"/>
              </a:xfrm>
              <a:prstGeom prst="rect">
                <a:avLst/>
              </a:prstGeom>
              <a:blipFill rotWithShape="1">
                <a:blip r:embed="rId6"/>
                <a:stretch>
                  <a:fillRect l="-17" b="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094443" y="2971800"/>
            <a:ext cx="64" cy="41742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lIns="0" tIns="0" rIns="0" bIns="0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endParaRPr lang="zh-CN" altLang="en-US" sz="36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8207866" y="4561329"/>
                <a:ext cx="3224985" cy="11371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𝑛</m:t>
                      </m:r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&gt;</m:t>
                      </m:r>
                      <m:f>
                        <m:fPr>
                          <m:ctrlP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𝑙𝑔𝑒</m:t>
                          </m:r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−</m:t>
                          </m:r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𝑙𝑔</m:t>
                          </m:r>
                          <m:f>
                            <m:fPr>
                              <m:ctrlP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0" i="1" kern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  <m:r>
                                    <a:rPr lang="en-US" altLang="zh-CN" b="0" i="1" kern="0" baseline="-250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  <m:r>
                                    <a:rPr lang="en-US" altLang="zh-CN" b="0" i="1" kern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−</m:t>
                                  </m:r>
                                  <m:r>
                                    <a:rPr lang="en-US" altLang="zh-CN" b="0" i="1" kern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  <m:r>
                                    <a:rPr lang="en-US" altLang="zh-CN" b="0" i="1" kern="0" baseline="-250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0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𝐿</m:t>
                              </m:r>
                            </m:den>
                          </m:f>
                        </m:num>
                        <m:den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𝑙𝑔𝐿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866" y="4561329"/>
                <a:ext cx="3224985" cy="1137106"/>
              </a:xfrm>
              <a:prstGeom prst="rect">
                <a:avLst/>
              </a:prstGeom>
              <a:blipFill rotWithShape="1">
                <a:blip r:embed="rId1"/>
                <a:stretch>
                  <a:fillRect l="-15" t="-11" r="10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890" name="组合 19"/>
          <p:cNvGrpSpPr/>
          <p:nvPr/>
        </p:nvGrpSpPr>
        <p:grpSpPr bwMode="auto">
          <a:xfrm>
            <a:off x="1083754" y="1176978"/>
            <a:ext cx="7393372" cy="4430768"/>
            <a:chOff x="722222" y="3082843"/>
            <a:chExt cx="7393372" cy="4430132"/>
          </a:xfrm>
        </p:grpSpPr>
        <p:grpSp>
          <p:nvGrpSpPr>
            <p:cNvPr id="37892" name="组合 16"/>
            <p:cNvGrpSpPr/>
            <p:nvPr/>
          </p:nvGrpSpPr>
          <p:grpSpPr bwMode="auto">
            <a:xfrm>
              <a:off x="722222" y="5847362"/>
              <a:ext cx="7313116" cy="1665613"/>
              <a:chOff x="721417" y="5847002"/>
              <a:chExt cx="7313951" cy="1664895"/>
            </a:xfrm>
          </p:grpSpPr>
          <p:graphicFrame>
            <p:nvGraphicFramePr>
              <p:cNvPr id="37900" name="Object 9"/>
              <p:cNvGraphicFramePr>
                <a:graphicFrameLocks noChangeAspect="1"/>
              </p:cNvGraphicFramePr>
              <p:nvPr/>
            </p:nvGraphicFramePr>
            <p:xfrm>
              <a:off x="2145069" y="5847002"/>
              <a:ext cx="4048125" cy="1011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373" name="Equation" r:id="rId2" imgW="28965525" imgH="7239000" progId="Equation.DSMT4">
                      <p:embed/>
                    </p:oleObj>
                  </mc:Choice>
                  <mc:Fallback>
                    <p:oleObj name="Equation" r:id="rId2" imgW="28965525" imgH="7239000" progId="Equation.DSMT4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45069" y="5847002"/>
                            <a:ext cx="4048125" cy="10112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01" name="Rectangle 27"/>
              <p:cNvSpPr>
                <a:spLocks noChangeArrowheads="1"/>
              </p:cNvSpPr>
              <p:nvPr/>
            </p:nvSpPr>
            <p:spPr bwMode="auto">
              <a:xfrm>
                <a:off x="1546581" y="5961704"/>
                <a:ext cx="598487" cy="646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★</a:t>
                </a:r>
                <a:endParaRPr lang="en-US" altLang="zh-CN" sz="3600" dirty="0">
                  <a:solidFill>
                    <a:srgbClr val="FF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7902" name="Rectangle 3"/>
              <p:cNvSpPr txBox="1">
                <a:spLocks noChangeArrowheads="1"/>
              </p:cNvSpPr>
              <p:nvPr/>
            </p:nvSpPr>
            <p:spPr bwMode="auto">
              <a:xfrm>
                <a:off x="721417" y="6602782"/>
                <a:ext cx="7313951" cy="909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2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zh-CN" altLang="en-US" sz="1800" dirty="0"/>
              </a:p>
              <a:p>
                <a:pPr lvl="2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zh-CN" altLang="en-US" dirty="0"/>
                  <a:t>这是</a:t>
                </a:r>
                <a:r>
                  <a:rPr lang="zh-CN" altLang="en-US" b="1" dirty="0">
                    <a:solidFill>
                      <a:srgbClr val="008000"/>
                    </a:solidFill>
                  </a:rPr>
                  <a:t>事前估计</a:t>
                </a:r>
                <a:r>
                  <a:rPr lang="zh-CN" altLang="en-US" dirty="0"/>
                  <a:t>。选取</a:t>
                </a:r>
                <a:r>
                  <a:rPr lang="en-US" altLang="zh-CN" i="1" dirty="0"/>
                  <a:t>n</a:t>
                </a:r>
                <a:r>
                  <a:rPr lang="zh-CN" altLang="en-US" dirty="0"/>
                  <a:t>，预先估计迭代次数。 </a:t>
                </a:r>
                <a:endParaRPr lang="zh-CN" altLang="en-US" dirty="0"/>
              </a:p>
            </p:txBody>
          </p:sp>
        </p:grpSp>
        <p:grpSp>
          <p:nvGrpSpPr>
            <p:cNvPr id="37893" name="组合 15"/>
            <p:cNvGrpSpPr/>
            <p:nvPr/>
          </p:nvGrpSpPr>
          <p:grpSpPr bwMode="auto">
            <a:xfrm>
              <a:off x="909932" y="3082843"/>
              <a:ext cx="7205662" cy="2314243"/>
              <a:chOff x="909932" y="3082815"/>
              <a:chExt cx="7205662" cy="2314098"/>
            </a:xfrm>
          </p:grpSpPr>
          <p:sp>
            <p:nvSpPr>
              <p:cNvPr id="37895" name="Rectangle 3"/>
              <p:cNvSpPr txBox="1">
                <a:spLocks noChangeArrowheads="1"/>
              </p:cNvSpPr>
              <p:nvPr/>
            </p:nvSpPr>
            <p:spPr bwMode="auto">
              <a:xfrm>
                <a:off x="909932" y="3082815"/>
                <a:ext cx="7205662" cy="23140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400" dirty="0"/>
                  <a:t>若 满足</a:t>
                </a:r>
                <a:r>
                  <a:rPr lang="zh-CN" altLang="en-US" sz="2400" b="1" dirty="0"/>
                  <a:t>压缩映像原理</a:t>
                </a:r>
                <a:r>
                  <a:rPr lang="zh-CN" altLang="en-US" sz="2400" dirty="0"/>
                  <a:t>条件，则</a:t>
                </a:r>
                <a:endParaRPr lang="zh-CN" altLang="en-US" sz="2400" dirty="0"/>
              </a:p>
              <a:p>
                <a:pPr lvl="1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zh-CN" altLang="en-US" sz="2000" dirty="0"/>
              </a:p>
              <a:p>
                <a:pPr lvl="2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1800" dirty="0"/>
                  <a:t> </a:t>
                </a:r>
                <a:endParaRPr lang="zh-CN" altLang="en-US" sz="1800" dirty="0"/>
              </a:p>
              <a:p>
                <a:pPr lvl="2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zh-CN" altLang="en-US" sz="1800" dirty="0"/>
              </a:p>
              <a:p>
                <a:pPr lvl="2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zh-CN" altLang="en-US" sz="1800" dirty="0"/>
              </a:p>
              <a:p>
                <a:pPr lvl="2" eaLnBrk="1" hangingPunct="1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zh-CN" altLang="en-US" dirty="0"/>
                  <a:t>这是</a:t>
                </a:r>
                <a:r>
                  <a:rPr lang="zh-CN" altLang="en-US" b="1" dirty="0">
                    <a:solidFill>
                      <a:srgbClr val="008000"/>
                    </a:solidFill>
                  </a:rPr>
                  <a:t>事后估计</a:t>
                </a:r>
                <a:r>
                  <a:rPr lang="zh-CN" altLang="en-US" dirty="0"/>
                  <a:t>，也就是程序终止条件，</a:t>
                </a:r>
                <a:endParaRPr lang="zh-CN" altLang="en-US" dirty="0"/>
              </a:p>
              <a:p>
                <a:pPr lvl="2" eaLnBrk="1" hangingPunct="1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i="1" dirty="0"/>
                  <a:t>L</a:t>
                </a:r>
                <a:r>
                  <a:rPr lang="zh-CN" altLang="en-US" dirty="0"/>
                  <a:t>越小，收敛速度越快。</a:t>
                </a:r>
                <a:endParaRPr lang="zh-CN" altLang="en-US" dirty="0"/>
              </a:p>
            </p:txBody>
          </p:sp>
          <p:sp>
            <p:nvSpPr>
              <p:cNvPr id="37897" name="Rectangle 27"/>
              <p:cNvSpPr>
                <a:spLocks noChangeArrowheads="1"/>
              </p:cNvSpPr>
              <p:nvPr/>
            </p:nvSpPr>
            <p:spPr bwMode="auto">
              <a:xfrm>
                <a:off x="1599190" y="3721220"/>
                <a:ext cx="598488" cy="646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★</a:t>
                </a:r>
                <a:endParaRPr lang="en-US" altLang="zh-CN" sz="3600" dirty="0">
                  <a:solidFill>
                    <a:srgbClr val="FF0000"/>
                  </a:solidFill>
                  <a:latin typeface="Tahoma" panose="020B0604030504040204" pitchFamily="34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/>
              <p:cNvSpPr/>
              <p:nvPr/>
            </p:nvSpPr>
            <p:spPr>
              <a:xfrm>
                <a:off x="7650959" y="2616793"/>
                <a:ext cx="3150286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&lt;</m:t>
                      </m:r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𝑒</m:t>
                      </m:r>
                      <m:f>
                        <m:fPr>
                          <m:ctrlP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  <m:r>
                            <a:rPr lang="en-US" altLang="zh-CN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−</m:t>
                          </m:r>
                          <m:r>
                            <a:rPr lang="en-US" altLang="zh-CN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𝐿</m:t>
                          </m:r>
                          <m:r>
                            <m:rPr>
                              <m:nor/>
                            </m:rPr>
                            <a:rPr lang="zh-CN" altLang="en-US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959" y="2616793"/>
                <a:ext cx="3150286" cy="783804"/>
              </a:xfrm>
              <a:prstGeom prst="rect">
                <a:avLst/>
              </a:prstGeom>
              <a:blipFill rotWithShape="1">
                <a:blip r:embed="rId4"/>
                <a:stretch>
                  <a:fillRect l="-15" t="-76" r="17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6097432" y="2971800"/>
            <a:ext cx="64" cy="41742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lIns="0" tIns="0" rIns="0" bIns="0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endParaRPr lang="zh-CN" altLang="en-US" sz="36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0" name="矩形 9"/>
          <p:cNvSpPr>
            <a:spLocks noChangeArrowheads="1"/>
          </p:cNvSpPr>
          <p:nvPr/>
        </p:nvSpPr>
        <p:spPr bwMode="auto">
          <a:xfrm>
            <a:off x="1116538" y="352761"/>
            <a:ext cx="36734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660066"/>
                </a:solidFill>
              </a:rPr>
              <a:t>3.4.5 </a:t>
            </a:r>
            <a:r>
              <a:rPr lang="zh-CN" altLang="en-US" sz="2400" b="1" dirty="0">
                <a:solidFill>
                  <a:srgbClr val="660066"/>
                </a:solidFill>
                <a:latin typeface="宋体" panose="02010600030101010101" pitchFamily="2" charset="-122"/>
              </a:rPr>
              <a:t> 迭代法的误差估计</a:t>
            </a:r>
            <a:endParaRPr lang="zh-CN" altLang="en-US" sz="2400" b="1" dirty="0">
              <a:solidFill>
                <a:srgbClr val="660066"/>
              </a:solidFill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7"/>
              <p:cNvSpPr txBox="1"/>
              <p:nvPr/>
            </p:nvSpPr>
            <p:spPr bwMode="auto">
              <a:xfrm>
                <a:off x="3003550" y="1730375"/>
                <a:ext cx="5316538" cy="9731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3550" y="1730375"/>
                <a:ext cx="5316538" cy="973138"/>
              </a:xfrm>
              <a:prstGeom prst="rect">
                <a:avLst/>
              </a:prstGeom>
              <a:blipFill rotWithShape="1">
                <a:blip r:embed="rId5"/>
                <a:stretch>
                  <a:fillRect r="6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8489170" y="1986111"/>
                <a:ext cx="7369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&lt;</m:t>
                      </m:r>
                      <m:r>
                        <a:rPr lang="en-US" altLang="zh-CN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170" y="1986111"/>
                <a:ext cx="736932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66" t="-101" r="25" b="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/>
          <p:cNvGrpSpPr/>
          <p:nvPr/>
        </p:nvGrpSpPr>
        <p:grpSpPr>
          <a:xfrm>
            <a:off x="7306699" y="217330"/>
            <a:ext cx="4765965" cy="1513045"/>
            <a:chOff x="5239020" y="-565755"/>
            <a:chExt cx="4595744" cy="128043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Object 21"/>
                <p:cNvSpPr txBox="1"/>
                <p:nvPr/>
              </p:nvSpPr>
              <p:spPr bwMode="auto">
                <a:xfrm>
                  <a:off x="5761787" y="-215691"/>
                  <a:ext cx="4072977" cy="930369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>
                  <a:normAutofit fontScale="70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‖"/>
                            <m:endChr m:val="‖"/>
                            <m:ctrlPr>
                              <a:rPr lang="zh-CN" altLang="en-US" sz="2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zh-CN" altLang="en-US" sz="2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  <m:r>
                          <a:rPr lang="zh-CN" altLang="en-US"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zh-CN" altLang="en-US" sz="2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9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d>
                          </m:num>
                          <m:den>
                            <m:r>
                              <a:rPr lang="zh-CN" altLang="en-US" sz="2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CN" altLang="en-US" sz="2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9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d>
                          </m:den>
                        </m:f>
                        <m:d>
                          <m:dPr>
                            <m:begChr m:val="‖"/>
                            <m:endChr m:val="‖"/>
                            <m:ctrlPr>
                              <a:rPr lang="zh-CN" altLang="en-US" sz="2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zh-CN" altLang="en-US" sz="2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2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61787" y="-215691"/>
                  <a:ext cx="4072977" cy="930369"/>
                </a:xfrm>
                <a:prstGeom prst="rect">
                  <a:avLst/>
                </a:prstGeom>
                <a:blipFill rotWithShape="1">
                  <a:blip r:embed="rId7"/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 Box 22"/>
            <p:cNvSpPr txBox="1">
              <a:spLocks noChangeArrowheads="1"/>
            </p:cNvSpPr>
            <p:nvPr/>
          </p:nvSpPr>
          <p:spPr bwMode="auto">
            <a:xfrm>
              <a:off x="5239020" y="-565755"/>
              <a:ext cx="3369734" cy="265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Clr>
                  <a:srgbClr val="27305F"/>
                </a:buClr>
              </a:pPr>
              <a:r>
                <a:rPr lang="zh-CN" altLang="en-US" sz="1800" dirty="0">
                  <a:solidFill>
                    <a:srgbClr val="0070C0"/>
                  </a:solidFill>
                  <a:latin typeface="+mn-ea"/>
                  <a:ea typeface="+mn-ea"/>
                </a:rPr>
                <a:t>迭代法解线性方程组时的误差：</a:t>
              </a:r>
              <a:endParaRPr lang="zh-CN" altLang="en-US" sz="1800" dirty="0">
                <a:solidFill>
                  <a:srgbClr val="0070C0"/>
                </a:solidFill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组合 26"/>
          <p:cNvGrpSpPr/>
          <p:nvPr/>
        </p:nvGrpSpPr>
        <p:grpSpPr bwMode="auto">
          <a:xfrm>
            <a:off x="1628792" y="4558294"/>
            <a:ext cx="9079697" cy="2170745"/>
            <a:chOff x="190342" y="4282527"/>
            <a:chExt cx="9079781" cy="2170809"/>
          </a:xfrm>
        </p:grpSpPr>
        <p:graphicFrame>
          <p:nvGraphicFramePr>
            <p:cNvPr id="36874" name="Object 11"/>
            <p:cNvGraphicFramePr>
              <a:graphicFrameLocks noChangeAspect="1"/>
            </p:cNvGraphicFramePr>
            <p:nvPr/>
          </p:nvGraphicFramePr>
          <p:xfrm>
            <a:off x="5274386" y="5518299"/>
            <a:ext cx="3995737" cy="935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762" name="Equation" r:id="rId1" imgW="30937200" imgH="7239000" progId="Equation.DSMT4">
                    <p:embed/>
                  </p:oleObj>
                </mc:Choice>
                <mc:Fallback>
                  <p:oleObj name="Equation" r:id="rId1" imgW="30937200" imgH="72390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4386" y="5518299"/>
                          <a:ext cx="3995737" cy="9350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6875" name="组合 15"/>
            <p:cNvGrpSpPr/>
            <p:nvPr/>
          </p:nvGrpSpPr>
          <p:grpSpPr bwMode="auto">
            <a:xfrm>
              <a:off x="190342" y="4282527"/>
              <a:ext cx="8878323" cy="1434187"/>
              <a:chOff x="147778" y="321566"/>
              <a:chExt cx="8878323" cy="1434187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876" name="Object 24"/>
                  <p:cNvSpPr txBox="1"/>
                  <p:nvPr/>
                </p:nvSpPr>
                <p:spPr bwMode="auto">
                  <a:xfrm>
                    <a:off x="1033139" y="708514"/>
                    <a:ext cx="7992962" cy="104723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| = |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)| </m:t>
                          </m:r>
                        </m:oMath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       ≤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| ≤ ...... ≤ 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36876" name="Object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033139" y="708514"/>
                    <a:ext cx="7992962" cy="1047239"/>
                  </a:xfrm>
                  <a:prstGeom prst="rect">
                    <a:avLst/>
                  </a:prstGeom>
                  <a:blipFill rotWithShape="1">
                    <a:blip r:embed="rId3"/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877" name="矩形 24"/>
              <p:cNvSpPr>
                <a:spLocks noChangeArrowheads="1"/>
              </p:cNvSpPr>
              <p:nvPr/>
            </p:nvSpPr>
            <p:spPr bwMode="auto">
              <a:xfrm>
                <a:off x="147778" y="321566"/>
                <a:ext cx="2339124" cy="4616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/>
                  <a:t>另一方面，由于</a:t>
                </a:r>
                <a:endParaRPr lang="zh-CN" altLang="en-US" sz="2400" dirty="0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601381" y="255044"/>
            <a:ext cx="1261884" cy="50270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kern="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证明：</a:t>
            </a:r>
            <a:endParaRPr lang="zh-CN" altLang="en-US" sz="2800" kern="0" dirty="0">
              <a:solidFill>
                <a:srgbClr val="7030A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2639616" y="603008"/>
            <a:ext cx="7086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按迭代过程             ,有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endParaRPr lang="zh-CN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bject 3"/>
              <p:cNvSpPr txBox="1"/>
              <p:nvPr/>
            </p:nvSpPr>
            <p:spPr bwMode="auto">
              <a:xfrm>
                <a:off x="4422379" y="547622"/>
                <a:ext cx="1817637" cy="57150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Pre>
                        <m:sPre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sPre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2379" y="547622"/>
                <a:ext cx="1817637" cy="571500"/>
              </a:xfrm>
              <a:prstGeom prst="rect">
                <a:avLst/>
              </a:prstGeom>
              <a:blipFill rotWithShape="1">
                <a:blip r:embed="rId4"/>
                <a:stretch>
                  <a:fillRect l="-13" t="-44" r="28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bject 5"/>
              <p:cNvSpPr txBox="1"/>
              <p:nvPr/>
            </p:nvSpPr>
            <p:spPr bwMode="auto">
              <a:xfrm>
                <a:off x="1991544" y="1217450"/>
                <a:ext cx="7486650" cy="5715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44" y="1217450"/>
                <a:ext cx="7486650" cy="571500"/>
              </a:xfrm>
              <a:prstGeom prst="rect">
                <a:avLst/>
              </a:prstGeom>
              <a:blipFill rotWithShape="1">
                <a:blip r:embed="rId5"/>
                <a:stretch>
                  <a:fillRect l="-2" t="-27" r="2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7"/>
              <p:cNvSpPr txBox="1"/>
              <p:nvPr/>
            </p:nvSpPr>
            <p:spPr bwMode="auto">
              <a:xfrm>
                <a:off x="1764109" y="1918095"/>
                <a:ext cx="8837613" cy="13017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|+|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4109" y="1918095"/>
                <a:ext cx="8837613" cy="1301750"/>
              </a:xfrm>
              <a:prstGeom prst="rect">
                <a:avLst/>
              </a:prstGeom>
              <a:blipFill rotWithShape="1">
                <a:blip r:embed="rId6"/>
                <a:stretch>
                  <a:fillRect l="-1" t="-30" r="4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7"/>
              <p:cNvSpPr txBox="1"/>
              <p:nvPr/>
            </p:nvSpPr>
            <p:spPr bwMode="auto">
              <a:xfrm>
                <a:off x="1991544" y="3134264"/>
                <a:ext cx="5511800" cy="6508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）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44" y="3134264"/>
                <a:ext cx="5511800" cy="650875"/>
              </a:xfrm>
              <a:prstGeom prst="rect">
                <a:avLst/>
              </a:prstGeom>
              <a:blipFill rotWithShape="1">
                <a:blip r:embed="rId7"/>
                <a:stretch>
                  <a:fillRect l="-3" t="-83" r="3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bject 7"/>
              <p:cNvSpPr txBox="1"/>
              <p:nvPr/>
            </p:nvSpPr>
            <p:spPr bwMode="auto">
              <a:xfrm>
                <a:off x="1847528" y="3642930"/>
                <a:ext cx="5449888" cy="8683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（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）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0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7528" y="3642930"/>
                <a:ext cx="5449888" cy="868362"/>
              </a:xfrm>
              <a:prstGeom prst="rect">
                <a:avLst/>
              </a:prstGeom>
              <a:blipFill rotWithShape="1">
                <a:blip r:embed="rId8"/>
                <a:stretch>
                  <a:fillRect l="-6" t="-66" r="12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: 圆角 1"/>
          <p:cNvSpPr/>
          <p:nvPr/>
        </p:nvSpPr>
        <p:spPr bwMode="auto">
          <a:xfrm>
            <a:off x="9102877" y="1273348"/>
            <a:ext cx="2808312" cy="459704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1" hangingPunct="1"/>
            <a:r>
              <a:rPr lang="zh-CN" altLang="en-US" b="1" dirty="0"/>
              <a:t>拉格朗日中值定理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标注: 弯曲线形 5"/>
          <p:cNvSpPr/>
          <p:nvPr/>
        </p:nvSpPr>
        <p:spPr bwMode="auto">
          <a:xfrm>
            <a:off x="9893983" y="2085649"/>
            <a:ext cx="2298017" cy="1047208"/>
          </a:xfrm>
          <a:prstGeom prst="borderCallout2">
            <a:avLst>
              <a:gd name="adj1" fmla="val 28345"/>
              <a:gd name="adj2" fmla="val -900"/>
              <a:gd name="adj3" fmla="val 18750"/>
              <a:gd name="adj4" fmla="val -16667"/>
              <a:gd name="adj5" fmla="val 3861"/>
              <a:gd name="adj6" fmla="val -4510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1" hangingPunct="1"/>
            <a:r>
              <a:rPr lang="zh-CN" altLang="en-US" sz="2000" dirty="0">
                <a:solidFill>
                  <a:srgbClr val="0F1115"/>
                </a:solidFill>
                <a:latin typeface="quote-cjk-patch"/>
              </a:rPr>
              <a:t>每一步的误差最多是上一步误差的 </a:t>
            </a:r>
            <a:r>
              <a:rPr lang="en-US" altLang="zh-CN" sz="2000" i="1" dirty="0">
                <a:solidFill>
                  <a:srgbClr val="0F1115"/>
                </a:solidFill>
                <a:latin typeface="KaTeX_Math"/>
              </a:rPr>
              <a:t>L</a:t>
            </a:r>
            <a:r>
              <a:rPr lang="zh-CN" altLang="en-US" sz="2000" dirty="0">
                <a:solidFill>
                  <a:srgbClr val="0F1115"/>
                </a:solidFill>
                <a:latin typeface="quote-cjk-patch"/>
              </a:rPr>
              <a:t> 倍</a:t>
            </a:r>
            <a:r>
              <a:rPr lang="en-US" altLang="zh-CN" sz="2000" dirty="0">
                <a:solidFill>
                  <a:srgbClr val="0F1115"/>
                </a:solidFill>
                <a:latin typeface="quote-cjk-patch"/>
              </a:rPr>
              <a:t>,</a:t>
            </a:r>
            <a:r>
              <a:rPr lang="zh-CN" altLang="en-US" sz="2000" dirty="0">
                <a:solidFill>
                  <a:srgbClr val="0F1115"/>
                </a:solidFill>
                <a:latin typeface="quote-cjk-patch"/>
              </a:rPr>
              <a:t>误差在缩小</a:t>
            </a:r>
            <a:endParaRPr lang="zh-CN" altLang="en-US" sz="200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" name="连接符: 肘形 9"/>
          <p:cNvCxnSpPr>
            <a:endCxn id="20" idx="3"/>
          </p:cNvCxnSpPr>
          <p:nvPr/>
        </p:nvCxnSpPr>
        <p:spPr bwMode="auto">
          <a:xfrm rot="10800000">
            <a:off x="7297416" y="4077112"/>
            <a:ext cx="2831032" cy="1716919"/>
          </a:xfrm>
          <a:prstGeom prst="bentConnector3">
            <a:avLst>
              <a:gd name="adj1" fmla="val 45031"/>
            </a:avLst>
          </a:prstGeom>
          <a:solidFill>
            <a:schemeClr val="accent1"/>
          </a:solidFill>
          <a:ln w="254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957064" y="228600"/>
            <a:ext cx="10827568" cy="6130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110000"/>
              </a:lnSpc>
              <a:spcBef>
                <a:spcPct val="5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+mn-ea"/>
                <a:ea typeface="+mn-ea"/>
              </a:rPr>
              <a:t>局部收敛性</a:t>
            </a:r>
            <a:endParaRPr lang="zh-CN" altLang="en-US" sz="28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3200" b="1" dirty="0">
                <a:solidFill>
                  <a:srgbClr val="000000"/>
                </a:solidFill>
                <a:latin typeface="+mn-ea"/>
                <a:ea typeface="+mn-ea"/>
              </a:rPr>
              <a:t>    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当迭代函数较复杂时,通常只能设法使迭代过程在根的邻域(局部)收敛。</a:t>
            </a:r>
            <a:endParaRPr lang="zh-CN" altLang="en-US" sz="2800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    </a:t>
            </a:r>
            <a:r>
              <a:rPr lang="zh-CN" altLang="en-US" sz="2800" b="1" dirty="0">
                <a:solidFill>
                  <a:srgbClr val="7030A0"/>
                </a:solidFill>
                <a:latin typeface="+mn-ea"/>
                <a:ea typeface="+mn-ea"/>
              </a:rPr>
              <a:t>定理 </a:t>
            </a:r>
            <a:r>
              <a:rPr lang="en-US" altLang="zh-CN" sz="2800" b="1" dirty="0">
                <a:solidFill>
                  <a:srgbClr val="7030A0"/>
                </a:solidFill>
                <a:latin typeface="+mn-ea"/>
                <a:ea typeface="+mn-ea"/>
              </a:rPr>
              <a:t>3 </a:t>
            </a:r>
            <a:r>
              <a:rPr lang="zh-CN" altLang="en-US" sz="2800" b="1" dirty="0">
                <a:solidFill>
                  <a:srgbClr val="7030A0"/>
                </a:solidFill>
                <a:latin typeface="+mn-ea"/>
                <a:ea typeface="+mn-ea"/>
              </a:rPr>
              <a:t>设    在        的根   的邻域中有连续的一阶导数,且        则迭代过程            具有局部收敛性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。 </a:t>
            </a:r>
            <a:endParaRPr lang="zh-CN" altLang="en-US" sz="28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just"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dirty="0">
                <a:solidFill>
                  <a:srgbClr val="7030A0"/>
                </a:solidFill>
                <a:latin typeface="+mn-ea"/>
                <a:ea typeface="+mn-ea"/>
              </a:rPr>
              <a:t>证明:</a:t>
            </a:r>
            <a:endParaRPr lang="en-US" altLang="zh-CN" sz="2800" dirty="0">
              <a:solidFill>
                <a:srgbClr val="7030A0"/>
              </a:solidFill>
              <a:latin typeface="+mn-ea"/>
              <a:ea typeface="+mn-ea"/>
            </a:endParaRPr>
          </a:p>
          <a:p>
            <a:pPr algn="just"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 由于       ,存在充分小邻域△:         ,使           成立。</a:t>
            </a:r>
            <a:endParaRPr lang="en-US" altLang="zh-CN" sz="28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just"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根据微分中值定理                       由于          ,</a:t>
            </a:r>
            <a:endParaRPr lang="en-US" altLang="zh-CN" sz="28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just"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又当       时      ,</a:t>
            </a:r>
            <a:endParaRPr lang="en-US" altLang="zh-CN" sz="28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just"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故有</a:t>
            </a:r>
            <a:endParaRPr lang="zh-CN" altLang="en-US" sz="2800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由定理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知           对于任意的       都收敛。 </a:t>
            </a:r>
            <a:endParaRPr lang="zh-CN" altLang="en-US" sz="2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3"/>
              <p:cNvSpPr txBox="1"/>
              <p:nvPr/>
            </p:nvSpPr>
            <p:spPr bwMode="auto">
              <a:xfrm>
                <a:off x="3359696" y="1974146"/>
                <a:ext cx="721568" cy="4572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9696" y="1974146"/>
                <a:ext cx="721568" cy="457200"/>
              </a:xfrm>
              <a:prstGeom prst="rect">
                <a:avLst/>
              </a:prstGeom>
              <a:blipFill rotWithShape="1">
                <a:blip r:embed="rId1"/>
                <a:stretch>
                  <a:fillRect l="-76" t="-124" r="16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5"/>
              <p:cNvSpPr txBox="1"/>
              <p:nvPr/>
            </p:nvSpPr>
            <p:spPr bwMode="auto">
              <a:xfrm>
                <a:off x="4651840" y="2043995"/>
                <a:ext cx="1228135" cy="456317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1840" y="2043995"/>
                <a:ext cx="1228135" cy="456317"/>
              </a:xfrm>
              <a:prstGeom prst="rect">
                <a:avLst/>
              </a:prstGeom>
              <a:blipFill rotWithShape="1">
                <a:blip r:embed="rId2"/>
                <a:stretch>
                  <a:fillRect l="-38" t="-124" r="42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7"/>
              <p:cNvSpPr txBox="1"/>
              <p:nvPr/>
            </p:nvSpPr>
            <p:spPr bwMode="auto">
              <a:xfrm>
                <a:off x="6607934" y="2020585"/>
                <a:ext cx="457200" cy="4572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07934" y="2020585"/>
                <a:ext cx="457200" cy="457200"/>
              </a:xfrm>
              <a:prstGeom prst="rect">
                <a:avLst/>
              </a:prstGeom>
              <a:blipFill rotWithShape="1">
                <a:blip r:embed="rId3"/>
                <a:stretch>
                  <a:fillRect l="-27" t="-3" r="27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9"/>
              <p:cNvSpPr txBox="1"/>
              <p:nvPr/>
            </p:nvSpPr>
            <p:spPr bwMode="auto">
              <a:xfrm>
                <a:off x="1213107" y="2477786"/>
                <a:ext cx="1786549" cy="743346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3107" y="2477786"/>
                <a:ext cx="1786549" cy="743346"/>
              </a:xfrm>
              <a:prstGeom prst="rect">
                <a:avLst/>
              </a:prstGeom>
              <a:blipFill rotWithShape="1">
                <a:blip r:embed="rId4"/>
                <a:stretch>
                  <a:fillRect l="-14" t="-2" r="31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1"/>
              <p:cNvSpPr txBox="1"/>
              <p:nvPr/>
            </p:nvSpPr>
            <p:spPr bwMode="auto">
              <a:xfrm>
                <a:off x="4836283" y="2506869"/>
                <a:ext cx="1922514" cy="550073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6283" y="2506869"/>
                <a:ext cx="1922514" cy="550073"/>
              </a:xfrm>
              <a:prstGeom prst="rect">
                <a:avLst/>
              </a:prstGeom>
              <a:blipFill rotWithShape="1">
                <a:blip r:embed="rId5"/>
                <a:stretch>
                  <a:fillRect l="-6" t="-95" r="26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13"/>
              <p:cNvSpPr txBox="1"/>
              <p:nvPr/>
            </p:nvSpPr>
            <p:spPr bwMode="auto">
              <a:xfrm>
                <a:off x="1812629" y="3656078"/>
                <a:ext cx="1480717" cy="557050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2629" y="3656078"/>
                <a:ext cx="1480717" cy="557050"/>
              </a:xfrm>
              <a:prstGeom prst="rect">
                <a:avLst/>
              </a:prstGeom>
              <a:blipFill rotWithShape="1">
                <a:blip r:embed="rId6"/>
                <a:stretch>
                  <a:fillRect l="-23" t="-69" r="16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14"/>
              <p:cNvSpPr txBox="1"/>
              <p:nvPr/>
            </p:nvSpPr>
            <p:spPr bwMode="auto">
              <a:xfrm>
                <a:off x="6363064" y="3655817"/>
                <a:ext cx="1677152" cy="613953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63064" y="3655817"/>
                <a:ext cx="1677152" cy="613953"/>
              </a:xfrm>
              <a:prstGeom prst="rect">
                <a:avLst/>
              </a:prstGeom>
              <a:blipFill rotWithShape="1">
                <a:blip r:embed="rId7"/>
                <a:stretch>
                  <a:fillRect l="-22" t="-20" r="29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bject 16"/>
              <p:cNvSpPr txBox="1"/>
              <p:nvPr/>
            </p:nvSpPr>
            <p:spPr bwMode="auto">
              <a:xfrm>
                <a:off x="8401548" y="3622431"/>
                <a:ext cx="2076543" cy="613953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7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01548" y="3622431"/>
                <a:ext cx="2076543" cy="613953"/>
              </a:xfrm>
              <a:prstGeom prst="rect">
                <a:avLst/>
              </a:prstGeom>
              <a:blipFill rotWithShape="1">
                <a:blip r:embed="rId8"/>
                <a:stretch>
                  <a:fillRect l="-24" t="-64" r="28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18"/>
              <p:cNvSpPr txBox="1"/>
              <p:nvPr/>
            </p:nvSpPr>
            <p:spPr bwMode="auto">
              <a:xfrm>
                <a:off x="3925189" y="4152644"/>
                <a:ext cx="3733800" cy="473075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5189" y="4152644"/>
                <a:ext cx="3733800" cy="473075"/>
              </a:xfrm>
              <a:prstGeom prst="rect">
                <a:avLst/>
              </a:prstGeom>
              <a:blipFill rotWithShape="1">
                <a:blip r:embed="rId9"/>
                <a:stretch>
                  <a:fillRect l="-7" t="-80" r="7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20"/>
              <p:cNvSpPr txBox="1"/>
              <p:nvPr/>
            </p:nvSpPr>
            <p:spPr bwMode="auto">
              <a:xfrm>
                <a:off x="8858943" y="4193918"/>
                <a:ext cx="1619148" cy="556799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1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58943" y="4193918"/>
                <a:ext cx="1619148" cy="556799"/>
              </a:xfrm>
              <a:prstGeom prst="rect">
                <a:avLst/>
              </a:prstGeom>
              <a:blipFill rotWithShape="1">
                <a:blip r:embed="rId10"/>
                <a:stretch>
                  <a:fillRect l="-4" t="-68" r="37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22"/>
              <p:cNvSpPr txBox="1"/>
              <p:nvPr/>
            </p:nvSpPr>
            <p:spPr bwMode="auto">
              <a:xfrm>
                <a:off x="1920097" y="4750718"/>
                <a:ext cx="838200" cy="396875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3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0097" y="4750718"/>
                <a:ext cx="838200" cy="396875"/>
              </a:xfrm>
              <a:prstGeom prst="rect">
                <a:avLst/>
              </a:prstGeom>
              <a:blipFill rotWithShape="1">
                <a:blip r:embed="rId11"/>
                <a:stretch>
                  <a:fillRect l="-59" t="-71" r="59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bject 24"/>
              <p:cNvSpPr txBox="1"/>
              <p:nvPr/>
            </p:nvSpPr>
            <p:spPr bwMode="auto">
              <a:xfrm>
                <a:off x="3528238" y="4750718"/>
                <a:ext cx="838200" cy="441325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5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28238" y="4750718"/>
                <a:ext cx="838200" cy="441325"/>
              </a:xfrm>
              <a:prstGeom prst="rect">
                <a:avLst/>
              </a:prstGeom>
              <a:blipFill rotWithShape="1">
                <a:blip r:embed="rId12"/>
                <a:stretch>
                  <a:fillRect l="-21" t="-64" r="21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bject 26"/>
              <p:cNvSpPr txBox="1"/>
              <p:nvPr/>
            </p:nvSpPr>
            <p:spPr bwMode="auto">
              <a:xfrm>
                <a:off x="1850201" y="5283603"/>
                <a:ext cx="5194881" cy="719078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6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0201" y="5283603"/>
                <a:ext cx="5194881" cy="719078"/>
              </a:xfrm>
              <a:prstGeom prst="rect">
                <a:avLst/>
              </a:prstGeom>
              <a:blipFill rotWithShape="1">
                <a:blip r:embed="rId13"/>
                <a:stretch>
                  <a:fillRect l="-9" t="-56" r="8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bject 28"/>
              <p:cNvSpPr txBox="1"/>
              <p:nvPr/>
            </p:nvSpPr>
            <p:spPr bwMode="auto">
              <a:xfrm>
                <a:off x="2581466" y="5831242"/>
                <a:ext cx="1893543" cy="515775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7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81466" y="5831242"/>
                <a:ext cx="1893543" cy="515775"/>
              </a:xfrm>
              <a:prstGeom prst="rect">
                <a:avLst/>
              </a:prstGeom>
              <a:blipFill rotWithShape="1">
                <a:blip r:embed="rId14"/>
                <a:stretch>
                  <a:fillRect l="-10" t="-7" r="9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Object 30"/>
              <p:cNvSpPr txBox="1"/>
              <p:nvPr/>
            </p:nvSpPr>
            <p:spPr bwMode="auto">
              <a:xfrm>
                <a:off x="6543477" y="5840604"/>
                <a:ext cx="990600" cy="506413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8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43477" y="5840604"/>
                <a:ext cx="990600" cy="506413"/>
              </a:xfrm>
              <a:prstGeom prst="rect">
                <a:avLst/>
              </a:prstGeom>
              <a:blipFill rotWithShape="1">
                <a:blip r:embed="rId15"/>
                <a:stretch>
                  <a:fillRect l="-44" t="-101" r="44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814736" y="269846"/>
            <a:ext cx="10825880" cy="1751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+mn-ea"/>
                <a:ea typeface="+mn-ea"/>
              </a:rPr>
              <a:t>例  设                ,要使迭代过程</a:t>
            </a:r>
            <a:endParaRPr lang="zh-CN" altLang="en-US" sz="28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+mn-ea"/>
                <a:ea typeface="+mn-ea"/>
              </a:rPr>
              <a:t>      局部收敛到       ,求   的取值范围。</a:t>
            </a:r>
            <a:endParaRPr lang="zh-CN" altLang="en-US" sz="28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+mn-ea"/>
                <a:ea typeface="+mn-ea"/>
              </a:rPr>
              <a:t>    解</a:t>
            </a:r>
            <a:r>
              <a:rPr lang="en-US" altLang="zh-CN" sz="2800" b="1" dirty="0">
                <a:solidFill>
                  <a:srgbClr val="7030A0"/>
                </a:solidFill>
                <a:latin typeface="+mn-ea"/>
                <a:ea typeface="+mn-ea"/>
              </a:rPr>
              <a:t>:</a:t>
            </a:r>
            <a:endParaRPr lang="zh-CN" altLang="en-US" sz="2800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 bwMode="auto">
              <a:xfrm>
                <a:off x="1860186" y="387777"/>
                <a:ext cx="2994992" cy="675097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0186" y="387777"/>
                <a:ext cx="2994992" cy="675097"/>
              </a:xfrm>
              <a:prstGeom prst="rect">
                <a:avLst/>
              </a:prstGeom>
              <a:blipFill rotWithShape="1">
                <a:blip r:embed="rId1"/>
                <a:stretch>
                  <a:fillRect l="-9" t="-63" r="20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 bwMode="auto">
              <a:xfrm>
                <a:off x="7320136" y="348582"/>
                <a:ext cx="1872208" cy="674671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20136" y="348582"/>
                <a:ext cx="1872208" cy="674671"/>
              </a:xfrm>
              <a:prstGeom prst="rect">
                <a:avLst/>
              </a:prstGeom>
              <a:blipFill rotWithShape="1">
                <a:blip r:embed="rId2"/>
                <a:stretch>
                  <a:fillRect l="-26" t="-89" r="4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 bwMode="auto">
              <a:xfrm>
                <a:off x="3791744" y="865710"/>
                <a:ext cx="1295400" cy="5508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1744" y="865710"/>
                <a:ext cx="1295400" cy="550863"/>
              </a:xfrm>
              <a:prstGeom prst="rect">
                <a:avLst/>
              </a:prstGeom>
              <a:blipFill rotWithShape="1">
                <a:blip r:embed="rId3"/>
                <a:stretch>
                  <a:fillRect l="-12" t="-37" r="12" b="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9"/>
              <p:cNvSpPr txBox="1"/>
              <p:nvPr/>
            </p:nvSpPr>
            <p:spPr bwMode="auto">
              <a:xfrm>
                <a:off x="5519730" y="843934"/>
                <a:ext cx="704800" cy="46157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19730" y="843934"/>
                <a:ext cx="704800" cy="461573"/>
              </a:xfrm>
              <a:prstGeom prst="rect">
                <a:avLst/>
              </a:prstGeom>
              <a:blipFill rotWithShape="1">
                <a:blip r:embed="rId4"/>
                <a:stretch>
                  <a:fillRect l="-44" t="-4" r="37" b="1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11"/>
              <p:cNvSpPr txBox="1"/>
              <p:nvPr/>
            </p:nvSpPr>
            <p:spPr bwMode="auto">
              <a:xfrm>
                <a:off x="3080375" y="1815883"/>
                <a:ext cx="3200400" cy="5683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0375" y="1815883"/>
                <a:ext cx="3200400" cy="568325"/>
              </a:xfrm>
              <a:prstGeom prst="rect">
                <a:avLst/>
              </a:prstGeom>
              <a:blipFill rotWithShape="1">
                <a:blip r:embed="rId5"/>
                <a:stretch>
                  <a:fillRect l="-20" t="-74" r="20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3"/>
              <p:cNvSpPr txBox="1"/>
              <p:nvPr/>
            </p:nvSpPr>
            <p:spPr bwMode="auto">
              <a:xfrm>
                <a:off x="2661275" y="2451961"/>
                <a:ext cx="3352800" cy="4699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1275" y="2451961"/>
                <a:ext cx="3352800" cy="469900"/>
              </a:xfrm>
              <a:prstGeom prst="rect">
                <a:avLst/>
              </a:prstGeom>
              <a:blipFill rotWithShape="1">
                <a:blip r:embed="rId6"/>
                <a:stretch>
                  <a:fillRect l="-19" t="-48" r="19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组合 22"/>
          <p:cNvGrpSpPr/>
          <p:nvPr/>
        </p:nvGrpSpPr>
        <p:grpSpPr>
          <a:xfrm>
            <a:off x="2885174" y="2876171"/>
            <a:ext cx="7532712" cy="590271"/>
            <a:chOff x="2957182" y="2516131"/>
            <a:chExt cx="7532712" cy="590271"/>
          </a:xfrm>
        </p:grpSpPr>
        <p:sp>
          <p:nvSpPr>
            <p:cNvPr id="22" name="矩形 21"/>
            <p:cNvSpPr/>
            <p:nvPr/>
          </p:nvSpPr>
          <p:spPr>
            <a:xfrm>
              <a:off x="2957182" y="2516131"/>
              <a:ext cx="7532712" cy="4905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  <a:spcBef>
                  <a:spcPct val="5000"/>
                </a:spcBef>
              </a:pPr>
              <a:r>
                <a:rPr lang="zh-CN" altLang="en-US" b="1" dirty="0">
                  <a:solidFill>
                    <a:srgbClr val="000000"/>
                  </a:solidFill>
                  <a:latin typeface="+mn-ea"/>
                </a:rPr>
                <a:t>由在根        邻域具有局部收敛性时, 收敛条件 </a:t>
              </a:r>
              <a:endParaRPr lang="zh-CN" altLang="en-US" b="1" dirty="0">
                <a:solidFill>
                  <a:srgbClr val="000000"/>
                </a:solidFill>
                <a:latin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Object 15"/>
                <p:cNvSpPr txBox="1"/>
                <p:nvPr/>
              </p:nvSpPr>
              <p:spPr bwMode="auto">
                <a:xfrm>
                  <a:off x="3852117" y="2534544"/>
                  <a:ext cx="1440160" cy="571858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3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52117" y="2534544"/>
                  <a:ext cx="1440160" cy="571858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17"/>
              <p:cNvSpPr txBox="1"/>
              <p:nvPr/>
            </p:nvSpPr>
            <p:spPr bwMode="auto">
              <a:xfrm>
                <a:off x="3125044" y="3521679"/>
                <a:ext cx="3979068" cy="7747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5044" y="3521679"/>
                <a:ext cx="3979068" cy="774700"/>
              </a:xfrm>
              <a:prstGeom prst="rect">
                <a:avLst/>
              </a:prstGeom>
              <a:blipFill rotWithShape="1">
                <a:blip r:embed="rId8"/>
                <a:stretch>
                  <a:fillRect l="-5" t="-78" r="9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bject 19"/>
              <p:cNvSpPr txBox="1"/>
              <p:nvPr/>
            </p:nvSpPr>
            <p:spPr bwMode="auto">
              <a:xfrm>
                <a:off x="3347075" y="4332795"/>
                <a:ext cx="2667000" cy="606425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6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7075" y="4332795"/>
                <a:ext cx="2667000" cy="606425"/>
              </a:xfrm>
              <a:prstGeom prst="rect">
                <a:avLst/>
              </a:prstGeom>
              <a:blipFill rotWithShape="1">
                <a:blip r:embed="rId9"/>
                <a:stretch>
                  <a:fillRect l="-23" t="-31" r="23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21"/>
              <p:cNvSpPr txBox="1"/>
              <p:nvPr/>
            </p:nvSpPr>
            <p:spPr bwMode="auto">
              <a:xfrm>
                <a:off x="3357682" y="5018595"/>
                <a:ext cx="2514600" cy="60801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8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7682" y="5018595"/>
                <a:ext cx="2514600" cy="608013"/>
              </a:xfrm>
              <a:prstGeom prst="rect">
                <a:avLst/>
              </a:prstGeom>
              <a:blipFill rotWithShape="1">
                <a:blip r:embed="rId10"/>
                <a:stretch>
                  <a:fillRect l="-17" t="-31" r="17" b="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/>
          <p:cNvGrpSpPr/>
          <p:nvPr/>
        </p:nvGrpSpPr>
        <p:grpSpPr>
          <a:xfrm>
            <a:off x="2259360" y="5731423"/>
            <a:ext cx="4466084" cy="914400"/>
            <a:chOff x="2259360" y="5731423"/>
            <a:chExt cx="4466084" cy="914400"/>
          </a:xfrm>
        </p:grpSpPr>
        <p:sp>
          <p:nvSpPr>
            <p:cNvPr id="19" name="Text Box 23"/>
            <p:cNvSpPr txBox="1">
              <a:spLocks noChangeArrowheads="1"/>
            </p:cNvSpPr>
            <p:nvPr/>
          </p:nvSpPr>
          <p:spPr bwMode="auto">
            <a:xfrm>
              <a:off x="2259360" y="5957664"/>
              <a:ext cx="12954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00"/>
                  </a:solidFill>
                  <a:latin typeface="+mn-ea"/>
                  <a:ea typeface="+mn-ea"/>
                </a:rPr>
                <a:t>所以</a:t>
              </a:r>
              <a:r>
                <a:rPr lang="zh-CN" altLang="en-US" dirty="0">
                  <a:latin typeface="+mn-ea"/>
                  <a:ea typeface="+mn-ea"/>
                </a:rPr>
                <a:t> </a:t>
              </a:r>
              <a:endParaRPr lang="zh-CN" altLang="en-US" dirty="0">
                <a:latin typeface="+mn-ea"/>
                <a:ea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Object 24"/>
                <p:cNvSpPr txBox="1"/>
                <p:nvPr/>
              </p:nvSpPr>
              <p:spPr bwMode="auto">
                <a:xfrm>
                  <a:off x="3448844" y="5731423"/>
                  <a:ext cx="3276600" cy="914400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1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48844" y="5731423"/>
                  <a:ext cx="3276600" cy="914400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271464" y="764704"/>
                <a:ext cx="6082306" cy="50270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  <a:defRPr/>
                </a:pPr>
                <a:r>
                  <a:rPr lang="en-US" altLang="zh-CN" sz="2800" kern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【</a:t>
                </a:r>
                <a:r>
                  <a:rPr lang="zh-CN" altLang="en-US" sz="2800" kern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例</a:t>
                </a:r>
                <a:r>
                  <a:rPr lang="en-US" altLang="zh-CN" sz="2800" kern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】</a:t>
                </a:r>
                <a:r>
                  <a:rPr lang="zh-CN" altLang="en-US" sz="2800" kern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求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2800" i="1" kern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radPr>
                      <m:deg/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e>
                    </m:rad>
                    <m:r>
                      <a:rPr lang="zh-CN" altLang="en-US" sz="2800" i="1" ker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的</m:t>
                    </m:r>
                  </m:oMath>
                </a14:m>
                <a:r>
                  <a:rPr lang="zh-CN" altLang="en-US" sz="2800" kern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值，即求</a:t>
                </a:r>
                <a:r>
                  <a:rPr lang="en-US" altLang="zh-CN" sz="2800" kern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x</a:t>
                </a:r>
                <a:r>
                  <a:rPr lang="en-US" altLang="zh-CN" sz="2800" kern="0" baseline="300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lang="en-US" altLang="zh-CN" sz="2800" kern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-2=0</a:t>
                </a:r>
                <a:r>
                  <a:rPr lang="zh-CN" altLang="en-US" sz="2800" kern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的正根</a:t>
                </a:r>
                <a:endParaRPr lang="zh-CN" altLang="en-US" sz="2800" kern="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64" y="764704"/>
                <a:ext cx="6082306" cy="502702"/>
              </a:xfrm>
              <a:prstGeom prst="rect">
                <a:avLst/>
              </a:prstGeom>
              <a:blipFill rotWithShape="1">
                <a:blip r:embed="rId1"/>
                <a:stretch>
                  <a:fillRect l="-3" t="-15949" r="-1245" b="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2566988" y="1849438"/>
            <a:ext cx="2185987" cy="5032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57200" indent="-457200" algn="ctr">
              <a:lnSpc>
                <a:spcPts val="32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kern="0" dirty="0">
                <a:latin typeface="华文宋体" panose="02010600040101010101" pitchFamily="2" charset="-122"/>
                <a:ea typeface="华文宋体" panose="02010600040101010101" pitchFamily="2" charset="-122"/>
              </a:rPr>
              <a:t>是否有根？</a:t>
            </a:r>
            <a:endParaRPr lang="zh-CN" altLang="en-US" kern="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92388" y="2595563"/>
            <a:ext cx="2686050" cy="5032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 algn="ctr">
              <a:lnSpc>
                <a:spcPts val="32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kern="0" dirty="0">
                <a:latin typeface="华文宋体" panose="02010600040101010101" pitchFamily="2" charset="-122"/>
                <a:ea typeface="华文宋体" panose="02010600040101010101" pitchFamily="2" charset="-122"/>
              </a:rPr>
              <a:t>如何构造函数？</a:t>
            </a:r>
            <a:endParaRPr lang="zh-CN" altLang="en-US" kern="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48055" y="1849973"/>
            <a:ext cx="1351652" cy="50270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kern="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[1</a:t>
            </a:r>
            <a:r>
              <a:rPr lang="zh-CN" altLang="en-US" sz="3200" kern="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sz="3200" kern="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2]</a:t>
            </a:r>
            <a:endParaRPr lang="zh-CN" altLang="en-US" sz="3200" kern="0" dirty="0">
              <a:solidFill>
                <a:srgbClr val="7030A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643466" y="3341688"/>
                <a:ext cx="3403432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𝑥</m:t>
                      </m:r>
                      <m:r>
                        <a:rPr lang="en-US" altLang="zh-CN" sz="3600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3600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3600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600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3600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r>
                        <a:rPr lang="en-US" altLang="zh-CN" sz="3600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𝑥</m:t>
                      </m:r>
                      <m:r>
                        <a:rPr lang="en-US" altLang="zh-CN" sz="3600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−</m:t>
                      </m:r>
                      <m:r>
                        <a:rPr lang="en-US" altLang="zh-CN" sz="3600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2</m:t>
                      </m:r>
                      <m:r>
                        <a:rPr lang="en-US" altLang="zh-CN" sz="3600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?</m:t>
                      </m:r>
                    </m:oMath>
                  </m:oMathPara>
                </a14:m>
                <a:endParaRPr lang="zh-CN" altLang="en-US" sz="3600" kern="0" dirty="0">
                  <a:solidFill>
                    <a:srgbClr val="7030A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466" y="3341688"/>
                <a:ext cx="3403432" cy="410369"/>
              </a:xfrm>
              <a:prstGeom prst="rect">
                <a:avLst/>
              </a:prstGeom>
              <a:blipFill rotWithShape="1">
                <a:blip r:embed="rId2"/>
                <a:stretch>
                  <a:fillRect l="-14" t="-22050" r="-4170" b="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3381344" y="4221772"/>
                <a:ext cx="3927678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𝑥</m:t>
                      </m:r>
                      <m:r>
                        <a:rPr lang="en-US" altLang="zh-CN" sz="3600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3600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3600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𝑎𝑥</m:t>
                          </m:r>
                        </m:e>
                        <m:sup>
                          <m:r>
                            <a:rPr lang="en-US" altLang="zh-CN" sz="3600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3600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r>
                        <a:rPr lang="en-US" altLang="zh-CN" sz="3600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𝑥</m:t>
                      </m:r>
                      <m:r>
                        <a:rPr lang="en-US" altLang="zh-CN" sz="3600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−</m:t>
                      </m:r>
                      <m:r>
                        <a:rPr lang="en-US" altLang="zh-CN" sz="3600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2</m:t>
                      </m:r>
                      <m:r>
                        <a:rPr lang="en-US" altLang="zh-CN" sz="3600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𝑎</m:t>
                      </m:r>
                      <m:r>
                        <a:rPr lang="en-US" altLang="zh-CN" sz="3600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?</m:t>
                      </m:r>
                    </m:oMath>
                  </m:oMathPara>
                </a14:m>
                <a:endParaRPr lang="zh-CN" altLang="en-US" sz="3600" kern="0" dirty="0">
                  <a:solidFill>
                    <a:srgbClr val="7030A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344" y="4221772"/>
                <a:ext cx="3927678" cy="410369"/>
              </a:xfrm>
              <a:prstGeom prst="rect">
                <a:avLst/>
              </a:prstGeom>
              <a:blipFill rotWithShape="1">
                <a:blip r:embed="rId3"/>
                <a:stretch>
                  <a:fillRect l="-15" t="-22044" r="-3423" b="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7231422" y="3274132"/>
            <a:ext cx="1261884" cy="50270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kern="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不收敛</a:t>
            </a:r>
            <a:endParaRPr lang="zh-CN" altLang="en-US" sz="2800" kern="0" dirty="0">
              <a:solidFill>
                <a:srgbClr val="7030A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63715" y="4129439"/>
            <a:ext cx="1829347" cy="50270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kern="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确定参数</a:t>
            </a:r>
            <a:r>
              <a:rPr lang="en-US" altLang="zh-CN" sz="2800" kern="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endParaRPr lang="zh-CN" altLang="en-US" sz="2800" kern="0" dirty="0">
              <a:solidFill>
                <a:srgbClr val="7030A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67408" y="692696"/>
            <a:ext cx="6647974" cy="50270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kern="0" dirty="0">
                <a:latin typeface="华文宋体" panose="02010600040101010101" pitchFamily="2" charset="-122"/>
                <a:ea typeface="华文宋体" panose="02010600040101010101" pitchFamily="2" charset="-122"/>
              </a:rPr>
              <a:t>例：请用适当的迭代公式证明（思考）：</a:t>
            </a:r>
            <a:endParaRPr lang="zh-CN" altLang="en-US" sz="2800" kern="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711624" y="2204864"/>
                <a:ext cx="6534609" cy="671530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 i="0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320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ad>
                          <m:radPr>
                            <m:degHide m:val="on"/>
                            <m:ctrlPr>
                              <a:rPr lang="en-US" altLang="zh-CN" sz="320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2</m:t>
                            </m:r>
                            <m:r>
                              <a:rPr lang="en-US" altLang="zh-CN" sz="32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b="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2</m:t>
                                </m:r>
                                <m:r>
                                  <a:rPr lang="en-US" altLang="zh-CN" sz="3200" b="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3200" b="0" i="1" kern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3200" b="0" i="1" kern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2</m:t>
                                    </m:r>
                                    <m:r>
                                      <a:rPr lang="en-US" altLang="zh-CN" sz="3200" b="0" i="1" kern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+…+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3200" b="0" i="1" kern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3200" b="0" i="1" kern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e>
                                </m:rad>
                              </m:e>
                            </m:rad>
                          </m:e>
                        </m:rad>
                      </m:e>
                    </m:func>
                  </m:oMath>
                </a14:m>
                <a:r>
                  <a:rPr lang="en-US" altLang="zh-CN" sz="3200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=2</a:t>
                </a:r>
                <a:endParaRPr lang="zh-CN" altLang="en-US" sz="3200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4" y="2204864"/>
                <a:ext cx="6534609" cy="671530"/>
              </a:xfrm>
              <a:prstGeom prst="rect">
                <a:avLst/>
              </a:prstGeom>
              <a:blipFill rotWithShape="1">
                <a:blip r:embed="rId1"/>
                <a:stretch>
                  <a:fillRect l="-3" t="-87017" r="10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5480312" y="2924944"/>
            <a:ext cx="886781" cy="473206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zh-CN" altLang="en-US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个</a:t>
            </a:r>
            <a:r>
              <a:rPr lang="en-US" altLang="zh-CN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endParaRPr lang="zh-CN" altLang="en-US" kern="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4799856" y="1700808"/>
            <a:ext cx="3456384" cy="100811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标注: 弯曲线形(无边框) 5"/>
          <p:cNvSpPr/>
          <p:nvPr/>
        </p:nvSpPr>
        <p:spPr bwMode="auto">
          <a:xfrm>
            <a:off x="8400256" y="3380450"/>
            <a:ext cx="504056" cy="432048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46366"/>
              <a:gd name="adj6" fmla="val -33981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030829" y="4077072"/>
                <a:ext cx="7175554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r>
                      <a:rPr lang="zh-CN" altLang="en-US" sz="3200" i="1" kern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迭代公</m:t>
                    </m:r>
                    <m:r>
                      <a:rPr lang="zh-CN" altLang="en-US" sz="3200" i="1" ker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式</m:t>
                    </m:r>
                    <m:r>
                      <a:rPr lang="zh-CN" altLang="en-US" sz="3200" i="1" kern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：</m:t>
                    </m:r>
                    <m:r>
                      <a:rPr lang="en-US" altLang="zh-CN" sz="3200" b="0" i="1" kern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𝑥</m:t>
                    </m:r>
                    <m:r>
                      <a:rPr lang="en-US" altLang="zh-CN" sz="3200" b="0" i="1" kern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0" i="1" kern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0" i="1" kern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  <m:r>
                          <a:rPr lang="en-US" altLang="zh-CN" sz="3200" b="0" i="1" kern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+</m:t>
                        </m:r>
                        <m:r>
                          <a:rPr lang="en-US" altLang="zh-CN" sz="3200" b="0" i="1" kern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  <m:r>
                          <a:rPr lang="en-US" altLang="zh-CN" sz="3200" b="0" i="1" kern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 </m:t>
                        </m:r>
                      </m:e>
                    </m:rad>
                  </m:oMath>
                </a14:m>
                <a:r>
                  <a:rPr lang="zh-CN" altLang="en-US" sz="3200" kern="0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3200" b="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0</m:t>
                        </m:r>
                      </m:sub>
                    </m:sSub>
                    <m:r>
                      <a:rPr lang="en-US" altLang="zh-CN" sz="3200" b="0" i="1" kern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3200" b="0" i="1" kern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0</m:t>
                    </m:r>
                    <m:r>
                      <a:rPr lang="en-US" altLang="zh-CN" sz="3200" b="0" i="1" kern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i="1" kern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3200" i="1" kern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3200" i="1" kern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3200" b="0" i="1" kern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2</m:t>
                    </m:r>
                  </m:oMath>
                </a14:m>
                <a:endParaRPr lang="zh-CN" altLang="en-US" sz="3200" kern="0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829" y="4077072"/>
                <a:ext cx="7175554" cy="410369"/>
              </a:xfrm>
              <a:prstGeom prst="rect">
                <a:avLst/>
              </a:prstGeom>
              <a:blipFill rotWithShape="1">
                <a:blip r:embed="rId2"/>
                <a:stretch>
                  <a:fillRect l="-3" t="-25313" r="-2536" b="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椭圆 7"/>
          <p:cNvSpPr/>
          <p:nvPr/>
        </p:nvSpPr>
        <p:spPr bwMode="auto">
          <a:xfrm>
            <a:off x="8568638" y="1988840"/>
            <a:ext cx="684076" cy="720080"/>
          </a:xfrm>
          <a:prstGeom prst="ellipse">
            <a:avLst/>
          </a:prstGeom>
          <a:noFill/>
          <a:ln w="222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8696968" y="2806557"/>
                <a:ext cx="785343" cy="502702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60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360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6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sz="3600" kern="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968" y="2806557"/>
                <a:ext cx="785343" cy="502702"/>
              </a:xfrm>
              <a:prstGeom prst="rect">
                <a:avLst/>
              </a:prstGeom>
              <a:blipFill rotWithShape="1">
                <a:blip r:embed="rId3"/>
                <a:stretch>
                  <a:fillRect l="-1" t="-5403" r="-9317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0483" name="Object 6"/>
              <p:cNvSpPr txBox="1"/>
              <p:nvPr/>
            </p:nvSpPr>
            <p:spPr bwMode="auto">
              <a:xfrm>
                <a:off x="2325159" y="5296720"/>
                <a:ext cx="6108700" cy="1074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        ,  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公式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:   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0483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5159" y="5296720"/>
                <a:ext cx="6108700" cy="1074737"/>
              </a:xfrm>
              <a:prstGeom prst="rect">
                <a:avLst/>
              </a:prstGeom>
              <a:blipFill rotWithShape="1">
                <a:blip r:embed="rId1"/>
                <a:stretch>
                  <a:fillRect l="-7" t="-17" r="7" b="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84" name="Object 8"/>
              <p:cNvSpPr txBox="1"/>
              <p:nvPr/>
            </p:nvSpPr>
            <p:spPr bwMode="auto">
              <a:xfrm>
                <a:off x="2308225" y="3079750"/>
                <a:ext cx="6667500" cy="1069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      ,   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公式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:    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048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8225" y="3079750"/>
                <a:ext cx="6667500" cy="10699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85" name="Object 10"/>
              <p:cNvSpPr txBox="1"/>
              <p:nvPr/>
            </p:nvSpPr>
            <p:spPr bwMode="auto">
              <a:xfrm>
                <a:off x="2495600" y="4158837"/>
                <a:ext cx="6667500" cy="896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    ,   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公式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:  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0485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5600" y="4158837"/>
                <a:ext cx="6667500" cy="896938"/>
              </a:xfrm>
              <a:prstGeom prst="rect">
                <a:avLst/>
              </a:prstGeom>
              <a:blipFill rotWithShape="1">
                <a:blip r:embed="rId3"/>
                <a:stretch>
                  <a:fillRect l="-1" t="-25" r="1" b="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917" name="Object 2"/>
          <p:cNvGraphicFramePr>
            <a:graphicFrameLocks noChangeAspect="1"/>
          </p:cNvGraphicFramePr>
          <p:nvPr/>
        </p:nvGraphicFramePr>
        <p:xfrm>
          <a:off x="1787525" y="404813"/>
          <a:ext cx="8567738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83" name="Equation" r:id="rId4" imgW="68246625" imgH="8334375" progId="Equation.DSMT4">
                  <p:embed/>
                </p:oleObj>
              </mc:Choice>
              <mc:Fallback>
                <p:oleObj name="Equation" r:id="rId4" imgW="68246625" imgH="833437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7525" y="404813"/>
                        <a:ext cx="8567738" cy="104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3"/>
          <p:cNvGrpSpPr/>
          <p:nvPr/>
        </p:nvGrpSpPr>
        <p:grpSpPr bwMode="auto">
          <a:xfrm>
            <a:off x="1703388" y="1700213"/>
            <a:ext cx="9577188" cy="1338087"/>
            <a:chOff x="179388" y="1700213"/>
            <a:chExt cx="9577188" cy="133808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919" name="Object 4"/>
                <p:cNvSpPr txBox="1"/>
                <p:nvPr/>
              </p:nvSpPr>
              <p:spPr bwMode="auto">
                <a:xfrm>
                  <a:off x="971600" y="2528712"/>
                  <a:ext cx="8784976" cy="5095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)  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  , 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公式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:  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8919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71600" y="2528712"/>
                  <a:ext cx="8784976" cy="509588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1"/>
            <p:cNvSpPr txBox="1">
              <a:spLocks noChangeArrowheads="1"/>
            </p:cNvSpPr>
            <p:nvPr/>
          </p:nvSpPr>
          <p:spPr bwMode="auto">
            <a:xfrm>
              <a:off x="179388" y="1700213"/>
              <a:ext cx="3024187" cy="720725"/>
            </a:xfrm>
            <a:prstGeom prst="rect">
              <a:avLst/>
            </a:prstGeom>
            <a:noFill/>
          </p:spPr>
          <p:txBody>
            <a:bodyPr/>
            <a:lstStyle/>
            <a:p>
              <a:pPr marL="742950" lvl="1" indent="-285750" eaLnBrk="1" hangingPunct="1">
                <a:spcBef>
                  <a:spcPct val="20000"/>
                </a:spcBef>
                <a:defRPr/>
              </a:pPr>
              <a:r>
                <a:rPr lang="zh-CN" altLang="en-US" sz="2800" kern="0" dirty="0">
                  <a:solidFill>
                    <a:srgbClr val="008000"/>
                  </a:solidFill>
                  <a:latin typeface="+mn-lt"/>
                  <a:ea typeface="+mn-ea"/>
                </a:rPr>
                <a:t>迭代公式：</a:t>
              </a:r>
              <a:endParaRPr lang="zh-CN" altLang="en-US" sz="2800" kern="0" dirty="0">
                <a:solidFill>
                  <a:srgbClr val="008000"/>
                </a:solidFill>
                <a:latin typeface="+mn-lt"/>
                <a:ea typeface="+mn-ea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0" y="3163473"/>
                <a:ext cx="2388603" cy="833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altLang="zh-CN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163473"/>
                <a:ext cx="2388603" cy="833498"/>
              </a:xfrm>
              <a:prstGeom prst="rect">
                <a:avLst/>
              </a:prstGeom>
              <a:blipFill rotWithShape="1">
                <a:blip r:embed="rId7"/>
                <a:stretch>
                  <a:fillRect t="-65" r="15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0" y="4288515"/>
                <a:ext cx="2218684" cy="833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altLang="zh-CN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88515"/>
                <a:ext cx="2218684" cy="833498"/>
              </a:xfrm>
              <a:prstGeom prst="rect">
                <a:avLst/>
              </a:prstGeom>
              <a:blipFill rotWithShape="1">
                <a:blip r:embed="rId8"/>
                <a:stretch>
                  <a:fillRect t="-43" r="28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119336" y="5613548"/>
                <a:ext cx="24949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altLang="zh-CN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36" y="5613548"/>
                <a:ext cx="2494978" cy="461665"/>
              </a:xfrm>
              <a:prstGeom prst="rect">
                <a:avLst/>
              </a:prstGeom>
              <a:blipFill rotWithShape="1">
                <a:blip r:embed="rId9"/>
                <a:stretch>
                  <a:fillRect l="-24" t="-32" r="1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/>
      <p:bldP spid="20484" grpId="0"/>
      <p:bldP spid="20485" grpId="0"/>
      <p:bldP spid="3" grpId="0"/>
      <p:bldP spid="10" grpId="0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组合 3"/>
          <p:cNvGrpSpPr/>
          <p:nvPr/>
        </p:nvGrpSpPr>
        <p:grpSpPr bwMode="auto">
          <a:xfrm>
            <a:off x="1992313" y="620713"/>
            <a:ext cx="6107112" cy="4406900"/>
            <a:chOff x="467544" y="620688"/>
            <a:chExt cx="6107485" cy="4406949"/>
          </a:xfrm>
        </p:grpSpPr>
        <p:graphicFrame>
          <p:nvGraphicFramePr>
            <p:cNvPr id="39939" name="Object 7"/>
            <p:cNvGraphicFramePr>
              <a:graphicFrameLocks noChangeAspect="1"/>
            </p:cNvGraphicFramePr>
            <p:nvPr/>
          </p:nvGraphicFramePr>
          <p:xfrm>
            <a:off x="1115616" y="1628800"/>
            <a:ext cx="5459413" cy="3398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42" name="Equation" r:id="rId1" imgW="40157400" imgH="25012650" progId="Equation.DSMT4">
                    <p:embed/>
                  </p:oleObj>
                </mc:Choice>
                <mc:Fallback>
                  <p:oleObj name="Equation" r:id="rId1" imgW="40157400" imgH="2501265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616" y="1628800"/>
                          <a:ext cx="5459413" cy="33988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0" name="Rectangle 11"/>
            <p:cNvSpPr txBox="1">
              <a:spLocks noChangeArrowheads="1"/>
            </p:cNvSpPr>
            <p:nvPr/>
          </p:nvSpPr>
          <p:spPr bwMode="auto">
            <a:xfrm>
              <a:off x="467544" y="620688"/>
              <a:ext cx="3024372" cy="720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lvl="1" eaLnBrk="1" hangingPunct="1"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8000"/>
                  </a:solidFill>
                </a:rPr>
                <a:t>算法比较：</a:t>
              </a:r>
              <a:endParaRPr lang="zh-CN" altLang="en-US" b="1">
                <a:solidFill>
                  <a:srgbClr val="008000"/>
                </a:solidFill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7"/>
          <p:cNvGraphicFramePr>
            <a:graphicFrameLocks noChangeAspect="1"/>
          </p:cNvGraphicFramePr>
          <p:nvPr/>
        </p:nvGraphicFramePr>
        <p:xfrm>
          <a:off x="2522538" y="720725"/>
          <a:ext cx="7162800" cy="566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4" name="Equation" r:id="rId1" imgW="52663725" imgH="41690925" progId="Equation.DSMT4">
                  <p:embed/>
                </p:oleObj>
              </mc:Choice>
              <mc:Fallback>
                <p:oleObj name="Equation" r:id="rId1" imgW="52663725" imgH="4169092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538" y="720725"/>
                        <a:ext cx="7162800" cy="566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3"/>
          <p:cNvGrpSpPr/>
          <p:nvPr/>
        </p:nvGrpSpPr>
        <p:grpSpPr bwMode="auto">
          <a:xfrm>
            <a:off x="1992313" y="692150"/>
            <a:ext cx="8056562" cy="4903788"/>
            <a:chOff x="468313" y="476250"/>
            <a:chExt cx="8057059" cy="490368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987" name="Object 7"/>
                <p:cNvSpPr txBox="1"/>
                <p:nvPr/>
              </p:nvSpPr>
              <p:spPr bwMode="auto">
                <a:xfrm>
                  <a:off x="827584" y="1412776"/>
                  <a:ext cx="7697788" cy="39671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（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）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  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ra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    ,   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有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oMath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d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≈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656</m:t>
                        </m:r>
                      </m:oMath>
                    </m:oMathPara>
                  </a14:m>
                  <a:br>
                    <a:rPr lang="zh-CN" altLang="en-US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</a:br>
                  <a:br>
                    <a:rPr lang="zh-CN" altLang="en-US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（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）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ra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        ,   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有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d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≈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122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1987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7584" y="1412776"/>
                  <a:ext cx="7697788" cy="3967162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988" name="Rectangle 11"/>
            <p:cNvSpPr txBox="1">
              <a:spLocks noChangeArrowheads="1"/>
            </p:cNvSpPr>
            <p:nvPr/>
          </p:nvSpPr>
          <p:spPr bwMode="auto">
            <a:xfrm>
              <a:off x="468313" y="476250"/>
              <a:ext cx="3024374" cy="720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lvl="1" eaLnBrk="1" hangingPunct="1"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8000"/>
                  </a:solidFill>
                </a:rPr>
                <a:t>算法比较：</a:t>
              </a:r>
              <a:endParaRPr lang="zh-CN" altLang="en-US" b="1">
                <a:solidFill>
                  <a:srgbClr val="008000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094443" y="2971800"/>
            <a:ext cx="64" cy="41742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lIns="0" tIns="0" rIns="0" bIns="0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endParaRPr lang="zh-CN" altLang="en-US" sz="36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115"/>
          <p:cNvGraphicFramePr>
            <a:graphicFrameLocks noGrp="1"/>
          </p:cNvGraphicFramePr>
          <p:nvPr/>
        </p:nvGraphicFramePr>
        <p:xfrm>
          <a:off x="3071664" y="315904"/>
          <a:ext cx="7920037" cy="6226192"/>
        </p:xfrm>
        <a:graphic>
          <a:graphicData uri="http://schemas.openxmlformats.org/drawingml/2006/table">
            <a:tbl>
              <a:tblPr/>
              <a:tblGrid>
                <a:gridCol w="671512"/>
                <a:gridCol w="1370013"/>
                <a:gridCol w="1368425"/>
                <a:gridCol w="2228850"/>
                <a:gridCol w="2281237"/>
              </a:tblGrid>
              <a:tr h="365741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41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226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-0.875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0.8165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1.28695377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1.34839973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41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6.732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2.9969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1.40254080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1.36737637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640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-469.7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(-8.65)</a:t>
                      </a:r>
                      <a:r>
                        <a:rPr kumimoji="0" lang="en-US" altLang="zh-CN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1/2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1.34545838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1.36495701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41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1.03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10</a:t>
                      </a:r>
                      <a:r>
                        <a:rPr kumimoji="0" lang="en-US" altLang="zh-CN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8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1.37517025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1.36526475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640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1.36009419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1.36522559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640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1.36194697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1.36522306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640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1.36388700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1.36522994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80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1.36591673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1.36523002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80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1.36487822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1.36523001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41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1.36541006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226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1.36522368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41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1.36523024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80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1.36522998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80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1.36523001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35360" y="1916832"/>
            <a:ext cx="2621690" cy="2311658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solidFill>
                  <a:srgbClr val="00B0F0"/>
                </a:solidFill>
                <a:latin typeface="宋体" panose="02010600030101010101" pitchFamily="2" charset="-122"/>
              </a:rPr>
              <a:t>L3:0.656</a:t>
            </a:r>
            <a:endParaRPr lang="en-US" altLang="zh-CN" sz="2000" kern="0" dirty="0">
              <a:solidFill>
                <a:srgbClr val="00B0F0"/>
              </a:solidFill>
              <a:latin typeface="宋体" panose="02010600030101010101" pitchFamily="2" charset="-122"/>
            </a:endParaRPr>
          </a:p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solidFill>
                  <a:srgbClr val="00B0F0"/>
                </a:solidFill>
                <a:latin typeface="宋体" panose="02010600030101010101" pitchFamily="2" charset="-122"/>
              </a:rPr>
              <a:t>L4:0.122</a:t>
            </a:r>
            <a:endParaRPr lang="en-US" altLang="zh-CN" sz="2000" kern="0" dirty="0">
              <a:solidFill>
                <a:srgbClr val="00B0F0"/>
              </a:solidFill>
              <a:latin typeface="宋体" panose="02010600030101010101" pitchFamily="2" charset="-122"/>
            </a:endParaRPr>
          </a:p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solidFill>
                  <a:srgbClr val="00B0F0"/>
                </a:solidFill>
                <a:latin typeface="宋体" panose="02010600030101010101" pitchFamily="2" charset="-122"/>
              </a:rPr>
              <a:t>(4)</a:t>
            </a:r>
            <a:r>
              <a:rPr lang="zh-CN" altLang="en-US" sz="2000" kern="0" dirty="0">
                <a:solidFill>
                  <a:srgbClr val="00B0F0"/>
                </a:solidFill>
                <a:latin typeface="宋体" panose="02010600030101010101" pitchFamily="2" charset="-122"/>
              </a:rPr>
              <a:t>收敛速度比</a:t>
            </a:r>
            <a:r>
              <a:rPr lang="en-US" altLang="zh-CN" sz="2000" kern="0" dirty="0">
                <a:solidFill>
                  <a:srgbClr val="00B0F0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2000" kern="0" dirty="0">
                <a:solidFill>
                  <a:srgbClr val="00B0F0"/>
                </a:solidFill>
                <a:latin typeface="宋体" panose="02010600030101010101" pitchFamily="2" charset="-122"/>
              </a:rPr>
              <a:t>快</a:t>
            </a:r>
            <a:endParaRPr lang="en-US" altLang="zh-CN" sz="2000" kern="0" dirty="0">
              <a:solidFill>
                <a:srgbClr val="00B0F0"/>
              </a:solidFill>
              <a:latin typeface="宋体" panose="02010600030101010101" pitchFamily="2" charset="-122"/>
            </a:endParaRPr>
          </a:p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结论：</a:t>
            </a:r>
            <a:r>
              <a:rPr lang="en-US" altLang="zh-CN" kern="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</a:t>
            </a:r>
            <a:r>
              <a:rPr lang="zh-CN" altLang="en-US" kern="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越小收敛速度越快</a:t>
            </a:r>
            <a:endParaRPr lang="zh-CN" altLang="en-US" kern="0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4" name="组合 11"/>
          <p:cNvGrpSpPr/>
          <p:nvPr/>
        </p:nvGrpSpPr>
        <p:grpSpPr bwMode="auto">
          <a:xfrm>
            <a:off x="561351" y="345289"/>
            <a:ext cx="8280400" cy="4486441"/>
            <a:chOff x="395288" y="333375"/>
            <a:chExt cx="8280400" cy="4116390"/>
          </a:xfrm>
        </p:grpSpPr>
        <p:sp>
          <p:nvSpPr>
            <p:cNvPr id="44038" name="矩形 9"/>
            <p:cNvSpPr>
              <a:spLocks noChangeArrowheads="1"/>
            </p:cNvSpPr>
            <p:nvPr/>
          </p:nvSpPr>
          <p:spPr bwMode="auto">
            <a:xfrm>
              <a:off x="395288" y="333375"/>
              <a:ext cx="3673475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660066"/>
                  </a:solidFill>
                </a:rPr>
                <a:t>3.4.5 </a:t>
              </a:r>
              <a:r>
                <a:rPr lang="zh-CN" altLang="en-US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 迭代法收敛的速度</a:t>
              </a:r>
              <a:endParaRPr lang="zh-CN" altLang="en-US" sz="2400" b="1" dirty="0">
                <a:solidFill>
                  <a:srgbClr val="660066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4039" name="Rectangle 3"/>
            <p:cNvSpPr txBox="1">
              <a:spLocks noChangeArrowheads="1"/>
            </p:cNvSpPr>
            <p:nvPr/>
          </p:nvSpPr>
          <p:spPr bwMode="auto">
            <a:xfrm>
              <a:off x="755650" y="908089"/>
              <a:ext cx="7920038" cy="3541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b="1" dirty="0"/>
                <a:t>定义</a:t>
              </a:r>
              <a:r>
                <a:rPr lang="en-US" altLang="zh-CN" sz="2400" b="1" dirty="0"/>
                <a:t>1   </a:t>
              </a:r>
              <a:r>
                <a:rPr lang="zh-CN" altLang="en-US" sz="2400" dirty="0"/>
                <a:t>设序列           收敛于       ，令                         。若有实数            和正常数</a:t>
              </a:r>
              <a:r>
                <a:rPr lang="en-US" altLang="zh-CN" sz="2400" i="1" dirty="0"/>
                <a:t>C</a:t>
              </a:r>
              <a:r>
                <a:rPr lang="zh-CN" altLang="en-US" sz="2400" i="1" dirty="0"/>
                <a:t>，</a:t>
              </a:r>
              <a:r>
                <a:rPr lang="zh-CN" altLang="en-US" sz="2400" dirty="0"/>
                <a:t>使得</a:t>
              </a:r>
              <a:endParaRPr lang="zh-CN" altLang="en-US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endParaRPr lang="zh-CN" altLang="en-US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endParaRPr lang="zh-CN" altLang="en-US" sz="800" dirty="0"/>
            </a:p>
            <a:p>
              <a:pPr eaLnBrk="1" hangingPunct="1">
                <a:lnSpc>
                  <a:spcPct val="150000"/>
                </a:lnSpc>
                <a:buFontTx/>
                <a:buNone/>
              </a:pPr>
              <a:r>
                <a:rPr lang="zh-CN" altLang="en-US" sz="2400" dirty="0"/>
                <a:t>	    则称该序列是 </a:t>
              </a:r>
              <a:r>
                <a:rPr lang="en-US" altLang="zh-CN" sz="2400" b="1" i="1" dirty="0">
                  <a:solidFill>
                    <a:srgbClr val="C00000"/>
                  </a:solidFill>
                </a:rPr>
                <a:t>p</a:t>
              </a:r>
              <a:r>
                <a:rPr lang="en-US" altLang="zh-CN" sz="2400" b="1" dirty="0">
                  <a:solidFill>
                    <a:srgbClr val="C00000"/>
                  </a:solidFill>
                </a:rPr>
                <a:t> </a:t>
              </a:r>
              <a:r>
                <a:rPr lang="zh-CN" altLang="en-US" sz="2400" b="1" dirty="0">
                  <a:solidFill>
                    <a:srgbClr val="C00000"/>
                  </a:solidFill>
                </a:rPr>
                <a:t>阶收敛</a:t>
              </a:r>
              <a:r>
                <a:rPr lang="zh-CN" altLang="en-US" sz="2400" dirty="0"/>
                <a:t>的；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   </a:t>
              </a:r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040" name="Object 4"/>
                <p:cNvSpPr txBox="1"/>
                <p:nvPr/>
              </p:nvSpPr>
              <p:spPr bwMode="auto">
                <a:xfrm>
                  <a:off x="4545013" y="981075"/>
                  <a:ext cx="387350" cy="476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4040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45013" y="981075"/>
                  <a:ext cx="387350" cy="476250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041" name="Object 5"/>
                <p:cNvSpPr txBox="1"/>
                <p:nvPr/>
              </p:nvSpPr>
              <p:spPr bwMode="auto">
                <a:xfrm>
                  <a:off x="1835150" y="1557338"/>
                  <a:ext cx="804863" cy="476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4041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35150" y="1557338"/>
                  <a:ext cx="804863" cy="47625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042" name="Object 6"/>
                <p:cNvSpPr txBox="1"/>
                <p:nvPr/>
              </p:nvSpPr>
              <p:spPr bwMode="auto">
                <a:xfrm>
                  <a:off x="2843213" y="981075"/>
                  <a:ext cx="714375" cy="5365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4042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43213" y="981075"/>
                  <a:ext cx="714375" cy="536575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043" name="Object 7"/>
                <p:cNvSpPr txBox="1"/>
                <p:nvPr/>
              </p:nvSpPr>
              <p:spPr bwMode="auto">
                <a:xfrm>
                  <a:off x="5416550" y="1758950"/>
                  <a:ext cx="2128838" cy="11398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𝜀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p>
                              </m:den>
                            </m:f>
                          </m:e>
                        </m:func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4043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6550" y="1758950"/>
                  <a:ext cx="2128838" cy="1139825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5925084" y="1025870"/>
                <a:ext cx="1794787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kern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b="0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b="0" i="1" kern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kern="0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084" y="1025870"/>
                <a:ext cx="1794787" cy="410369"/>
              </a:xfrm>
              <a:prstGeom prst="rect">
                <a:avLst/>
              </a:prstGeom>
              <a:blipFill rotWithShape="1">
                <a:blip r:embed="rId5"/>
                <a:stretch>
                  <a:fillRect l="-30" t="-84" r="-6005" b="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805410" y="2226057"/>
            <a:ext cx="748923" cy="509755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600" kern="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&gt;0</a:t>
            </a:r>
            <a:endParaRPr lang="zh-CN" altLang="en-US" sz="36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076938" y="3118312"/>
            <a:ext cx="55018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其中</a:t>
            </a:r>
            <a:r>
              <a:rPr lang="en-US" altLang="zh-CN" i="1" dirty="0">
                <a:solidFill>
                  <a:srgbClr val="C00000"/>
                </a:solidFill>
              </a:rPr>
              <a:t>C</a:t>
            </a:r>
            <a:r>
              <a:rPr lang="en-US" altLang="zh-CN" dirty="0"/>
              <a:t> </a:t>
            </a:r>
            <a:r>
              <a:rPr lang="zh-CN" altLang="en-US" dirty="0"/>
              <a:t>称为</a:t>
            </a:r>
            <a:r>
              <a:rPr lang="zh-CN" altLang="en-US" b="1" dirty="0">
                <a:solidFill>
                  <a:srgbClr val="C00000"/>
                </a:solidFill>
              </a:rPr>
              <a:t>渐进误差常数</a:t>
            </a:r>
            <a:r>
              <a:rPr lang="en-US" altLang="zh-CN" b="1" dirty="0">
                <a:solidFill>
                  <a:srgbClr val="C00000"/>
                </a:solidFill>
              </a:rPr>
              <a:t>,p </a:t>
            </a:r>
            <a:r>
              <a:rPr lang="zh-CN" altLang="en-US" b="1" dirty="0">
                <a:solidFill>
                  <a:srgbClr val="C00000"/>
                </a:solidFill>
              </a:rPr>
              <a:t>为收敛阶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350" y="3745640"/>
            <a:ext cx="6182722" cy="232790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6305" y="3637303"/>
            <a:ext cx="4962101" cy="258029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694644" y="6379025"/>
            <a:ext cx="13436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0070C0"/>
                </a:solidFill>
              </a:rPr>
              <a:t>1</a:t>
            </a:r>
            <a:r>
              <a:rPr lang="en-US" altLang="zh-CN" b="1" dirty="0">
                <a:solidFill>
                  <a:srgbClr val="0070C0"/>
                </a:solidFill>
              </a:rPr>
              <a:t> </a:t>
            </a:r>
            <a:r>
              <a:rPr lang="zh-CN" altLang="en-US" b="1" dirty="0">
                <a:solidFill>
                  <a:srgbClr val="0070C0"/>
                </a:solidFill>
              </a:rPr>
              <a:t>阶收敛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554333" y="6379764"/>
            <a:ext cx="13436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0070C0"/>
                </a:solidFill>
              </a:rPr>
              <a:t>2</a:t>
            </a:r>
            <a:r>
              <a:rPr lang="en-US" altLang="zh-CN" b="1" dirty="0">
                <a:solidFill>
                  <a:srgbClr val="0070C0"/>
                </a:solidFill>
              </a:rPr>
              <a:t> </a:t>
            </a:r>
            <a:r>
              <a:rPr lang="zh-CN" altLang="en-US" b="1" dirty="0">
                <a:solidFill>
                  <a:srgbClr val="0070C0"/>
                </a:solidFill>
              </a:rPr>
              <a:t>阶收敛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4" name="组合 11"/>
          <p:cNvGrpSpPr/>
          <p:nvPr/>
        </p:nvGrpSpPr>
        <p:grpSpPr bwMode="auto">
          <a:xfrm>
            <a:off x="561351" y="345289"/>
            <a:ext cx="8280400" cy="4486441"/>
            <a:chOff x="395288" y="333375"/>
            <a:chExt cx="8280400" cy="4116390"/>
          </a:xfrm>
        </p:grpSpPr>
        <p:sp>
          <p:nvSpPr>
            <p:cNvPr id="44038" name="矩形 9"/>
            <p:cNvSpPr>
              <a:spLocks noChangeArrowheads="1"/>
            </p:cNvSpPr>
            <p:nvPr/>
          </p:nvSpPr>
          <p:spPr bwMode="auto">
            <a:xfrm>
              <a:off x="395288" y="333375"/>
              <a:ext cx="3673475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660066"/>
                  </a:solidFill>
                </a:rPr>
                <a:t>3.4.5 </a:t>
              </a:r>
              <a:r>
                <a:rPr lang="zh-CN" altLang="en-US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 迭代法收敛的速度</a:t>
              </a:r>
              <a:endParaRPr lang="zh-CN" altLang="en-US" sz="2400" b="1" dirty="0">
                <a:solidFill>
                  <a:srgbClr val="660066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4039" name="Rectangle 3"/>
            <p:cNvSpPr txBox="1">
              <a:spLocks noChangeArrowheads="1"/>
            </p:cNvSpPr>
            <p:nvPr/>
          </p:nvSpPr>
          <p:spPr bwMode="auto">
            <a:xfrm>
              <a:off x="755650" y="908089"/>
              <a:ext cx="7920038" cy="3541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b="1" dirty="0"/>
                <a:t>定义</a:t>
              </a:r>
              <a:r>
                <a:rPr lang="en-US" altLang="zh-CN" sz="2400" b="1" dirty="0"/>
                <a:t>1   </a:t>
              </a:r>
              <a:r>
                <a:rPr lang="zh-CN" altLang="en-US" sz="2400" dirty="0"/>
                <a:t>设序列           收敛于       ，令                         。若有实数            和正常数</a:t>
              </a:r>
              <a:r>
                <a:rPr lang="en-US" altLang="zh-CN" sz="2400" i="1" dirty="0"/>
                <a:t>C</a:t>
              </a:r>
              <a:r>
                <a:rPr lang="zh-CN" altLang="en-US" sz="2400" i="1" dirty="0"/>
                <a:t>，</a:t>
              </a:r>
              <a:r>
                <a:rPr lang="zh-CN" altLang="en-US" sz="2400" dirty="0"/>
                <a:t>使得</a:t>
              </a:r>
              <a:endParaRPr lang="zh-CN" altLang="en-US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endParaRPr lang="zh-CN" altLang="en-US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endParaRPr lang="zh-CN" altLang="en-US" sz="800" dirty="0"/>
            </a:p>
            <a:p>
              <a:pPr eaLnBrk="1" hangingPunct="1">
                <a:lnSpc>
                  <a:spcPct val="150000"/>
                </a:lnSpc>
                <a:buFontTx/>
                <a:buNone/>
              </a:pPr>
              <a:r>
                <a:rPr lang="zh-CN" altLang="en-US" sz="2400" dirty="0"/>
                <a:t>	    则称该序列是 </a:t>
              </a:r>
              <a:r>
                <a:rPr lang="en-US" altLang="zh-CN" sz="2400" b="1" i="1" dirty="0">
                  <a:solidFill>
                    <a:srgbClr val="C00000"/>
                  </a:solidFill>
                </a:rPr>
                <a:t>p</a:t>
              </a:r>
              <a:r>
                <a:rPr lang="en-US" altLang="zh-CN" sz="2400" b="1" dirty="0">
                  <a:solidFill>
                    <a:srgbClr val="C00000"/>
                  </a:solidFill>
                </a:rPr>
                <a:t> </a:t>
              </a:r>
              <a:r>
                <a:rPr lang="zh-CN" altLang="en-US" sz="2400" b="1" dirty="0">
                  <a:solidFill>
                    <a:srgbClr val="C00000"/>
                  </a:solidFill>
                </a:rPr>
                <a:t>阶收敛</a:t>
              </a:r>
              <a:r>
                <a:rPr lang="zh-CN" altLang="en-US" sz="2400" dirty="0"/>
                <a:t>的；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Tx/>
                <a:buNone/>
              </a:pPr>
              <a:r>
                <a:rPr lang="zh-CN" altLang="en-US" sz="2400" dirty="0"/>
                <a:t>        若序列           由迭代过程</a:t>
              </a:r>
              <a:r>
                <a:rPr lang="en-US" altLang="zh-CN" sz="2400" dirty="0"/>
                <a:t>                            </a:t>
              </a:r>
              <a:r>
                <a:rPr lang="zh-CN" altLang="en-US" sz="2400" dirty="0"/>
                <a:t>产生，则称迭代过程为 </a:t>
              </a:r>
              <a:r>
                <a:rPr lang="en-US" altLang="zh-CN" sz="2400" b="1" i="1" dirty="0">
                  <a:solidFill>
                    <a:srgbClr val="C00000"/>
                  </a:solidFill>
                </a:rPr>
                <a:t>p</a:t>
              </a:r>
              <a:r>
                <a:rPr lang="en-US" altLang="zh-CN" sz="2400" b="1" dirty="0">
                  <a:solidFill>
                    <a:srgbClr val="C00000"/>
                  </a:solidFill>
                </a:rPr>
                <a:t> </a:t>
              </a:r>
              <a:r>
                <a:rPr lang="zh-CN" altLang="en-US" sz="2400" b="1" dirty="0">
                  <a:solidFill>
                    <a:srgbClr val="C00000"/>
                  </a:solidFill>
                </a:rPr>
                <a:t>阶收敛。</a:t>
              </a:r>
              <a:endParaRPr lang="en-US" altLang="zh-CN" sz="2400" b="1" dirty="0">
                <a:solidFill>
                  <a:srgbClr val="C00000"/>
                </a:solidFill>
              </a:endParaRPr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   </a:t>
              </a:r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040" name="Object 4"/>
                <p:cNvSpPr txBox="1"/>
                <p:nvPr/>
              </p:nvSpPr>
              <p:spPr bwMode="auto">
                <a:xfrm>
                  <a:off x="4545013" y="981075"/>
                  <a:ext cx="387350" cy="476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4040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45013" y="981075"/>
                  <a:ext cx="387350" cy="476250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041" name="Object 5"/>
                <p:cNvSpPr txBox="1"/>
                <p:nvPr/>
              </p:nvSpPr>
              <p:spPr bwMode="auto">
                <a:xfrm>
                  <a:off x="1835150" y="1557338"/>
                  <a:ext cx="804863" cy="476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4041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35150" y="1557338"/>
                  <a:ext cx="804863" cy="47625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042" name="Object 6"/>
                <p:cNvSpPr txBox="1"/>
                <p:nvPr/>
              </p:nvSpPr>
              <p:spPr bwMode="auto">
                <a:xfrm>
                  <a:off x="2843213" y="981075"/>
                  <a:ext cx="714375" cy="5365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4042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43213" y="981075"/>
                  <a:ext cx="714375" cy="536575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043" name="Object 7"/>
                <p:cNvSpPr txBox="1"/>
                <p:nvPr/>
              </p:nvSpPr>
              <p:spPr bwMode="auto">
                <a:xfrm>
                  <a:off x="2721122" y="1850618"/>
                  <a:ext cx="4063723" cy="11398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𝜀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p>
                              </m:den>
                            </m:f>
                          </m:e>
                        </m:func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4043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21122" y="1850618"/>
                  <a:ext cx="4063723" cy="1139825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045" name="Object 7"/>
                <p:cNvSpPr txBox="1"/>
                <p:nvPr/>
              </p:nvSpPr>
              <p:spPr bwMode="auto">
                <a:xfrm>
                  <a:off x="4580754" y="3383738"/>
                  <a:ext cx="2615170" cy="69054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＝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（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）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4045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80754" y="3383738"/>
                  <a:ext cx="2615170" cy="690547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046" name="Object 8"/>
                <p:cNvSpPr txBox="1"/>
                <p:nvPr/>
              </p:nvSpPr>
              <p:spPr bwMode="auto">
                <a:xfrm>
                  <a:off x="2418272" y="3364402"/>
                  <a:ext cx="714375" cy="5365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4046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8272" y="3364402"/>
                  <a:ext cx="714375" cy="536575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539" name="矩形 11"/>
          <p:cNvSpPr>
            <a:spLocks noChangeArrowheads="1"/>
          </p:cNvSpPr>
          <p:nvPr/>
        </p:nvSpPr>
        <p:spPr bwMode="auto">
          <a:xfrm>
            <a:off x="1682482" y="4921623"/>
            <a:ext cx="67691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/>
              <a:t>当 </a:t>
            </a:r>
            <a:r>
              <a:rPr lang="en-US" altLang="zh-CN" sz="2400" i="1" dirty="0"/>
              <a:t>p</a:t>
            </a:r>
            <a:r>
              <a:rPr lang="en-US" altLang="zh-CN" sz="2400" dirty="0"/>
              <a:t>=1 </a:t>
            </a:r>
            <a:r>
              <a:rPr lang="zh-CN" altLang="en-US" sz="2400" dirty="0"/>
              <a:t>时，称为</a:t>
            </a:r>
            <a:r>
              <a:rPr lang="zh-CN" altLang="en-US" sz="2400" b="1" dirty="0">
                <a:solidFill>
                  <a:srgbClr val="008000"/>
                </a:solidFill>
              </a:rPr>
              <a:t>线性收敛</a:t>
            </a:r>
            <a:r>
              <a:rPr lang="zh-CN" altLang="en-US" sz="2400" dirty="0"/>
              <a:t>；</a:t>
            </a:r>
            <a:endParaRPr lang="zh-CN" altLang="en-US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/>
              <a:t>当 </a:t>
            </a:r>
            <a:r>
              <a:rPr lang="en-US" altLang="zh-CN" sz="2400" i="1" dirty="0"/>
              <a:t>p</a:t>
            </a:r>
            <a:r>
              <a:rPr lang="en-US" altLang="zh-CN" sz="2400" dirty="0"/>
              <a:t>=2 </a:t>
            </a:r>
            <a:r>
              <a:rPr lang="zh-CN" altLang="en-US" sz="2400" dirty="0"/>
              <a:t>时，称为</a:t>
            </a:r>
            <a:r>
              <a:rPr lang="zh-CN" altLang="en-US" sz="2400" b="1" dirty="0">
                <a:solidFill>
                  <a:srgbClr val="008000"/>
                </a:solidFill>
              </a:rPr>
              <a:t>平方收敛</a:t>
            </a:r>
            <a:r>
              <a:rPr lang="zh-CN" altLang="en-US" sz="2400" dirty="0"/>
              <a:t>或</a:t>
            </a:r>
            <a:r>
              <a:rPr lang="zh-CN" altLang="en-US" sz="2400" b="1" dirty="0">
                <a:solidFill>
                  <a:srgbClr val="008000"/>
                </a:solidFill>
              </a:rPr>
              <a:t>二次收敛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7361987" y="5660721"/>
                <a:ext cx="3307700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≤</m:t>
                      </m:r>
                      <m:f>
                        <m:fPr>
                          <m:ctrlP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altLang="zh-CN" kern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zh-CN" altLang="en-US" i="1" kern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‘</m:t>
                      </m:r>
                      <m:r>
                        <a:rPr lang="zh-CN" altLang="en-US" i="1" kern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‘</m:t>
                      </m:r>
                      <m:d>
                        <m:dPr>
                          <m:ctrlPr>
                            <a:rPr lang="en-US" altLang="zh-CN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l-GR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  <m:r>
                            <m:rPr>
                              <m:sty m:val="p"/>
                            </m:rPr>
                            <a:rPr lang="en-US" altLang="zh-CN" b="0" i="0" kern="0" baseline="-2500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US" altLang="zh-CN" b="0" i="0" kern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altLang="zh-CN" i="1" kern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 kern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</m:sSubSup>
                          <m:r>
                            <a:rPr lang="en-US" altLang="zh-CN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kern="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987" y="5660721"/>
                <a:ext cx="3307700" cy="410369"/>
              </a:xfrm>
              <a:prstGeom prst="rect">
                <a:avLst/>
              </a:prstGeom>
              <a:blipFill rotWithShape="1">
                <a:blip r:embed="rId6"/>
                <a:stretch>
                  <a:fillRect l="-13" t="-34123" r="-2982" b="-138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7294553" y="4995107"/>
                <a:ext cx="3209468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≤</m:t>
                      </m:r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altLang="zh-CN" kern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zh-CN" altLang="en-US" i="1" kern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‘</m:t>
                      </m:r>
                      <m:d>
                        <m:dPr>
                          <m:ctrlPr>
                            <a:rPr lang="en-US" altLang="zh-CN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l-GR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  <m:r>
                            <m:rPr>
                              <m:sty m:val="p"/>
                            </m:rPr>
                            <a:rPr lang="en-US" altLang="zh-CN" b="0" i="0" kern="0" baseline="-2500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US" altLang="zh-CN" b="0" i="0" kern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altLang="zh-CN" b="0" i="1" kern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kern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</m:sSubSup>
                          <m:r>
                            <a:rPr lang="en-US" altLang="zh-CN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/>
                      </m:sSup>
                    </m:oMath>
                  </m:oMathPara>
                </a14:m>
                <a:endParaRPr lang="zh-CN" altLang="en-US" kern="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553" y="4995107"/>
                <a:ext cx="3209468" cy="410369"/>
              </a:xfrm>
              <a:prstGeom prst="rect">
                <a:avLst/>
              </a:prstGeom>
              <a:blipFill rotWithShape="1">
                <a:blip r:embed="rId7"/>
                <a:stretch>
                  <a:fillRect l="-10" t="-48" r="-1291" b="-13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9123787" y="915173"/>
            <a:ext cx="3091801" cy="31947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 数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p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的大小反映了迭代法收敛的速度的快慢，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p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愈大，则收敛的速度愈快，故迭代法的收敛阶是对迭代法收敛速度的一种度量。</a:t>
            </a:r>
            <a:r>
              <a:rPr lang="zh-CN" altLang="en-US" sz="1800" dirty="0"/>
              <a:t> </a:t>
            </a:r>
            <a:endParaRPr lang="zh-CN" alt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5925084" y="1025870"/>
                <a:ext cx="1786367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squar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kern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b="0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b="0" i="1" kern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kern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kern="0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084" y="1025870"/>
                <a:ext cx="1786367" cy="410369"/>
              </a:xfrm>
              <a:prstGeom prst="rect">
                <a:avLst/>
              </a:prstGeom>
              <a:blipFill rotWithShape="1">
                <a:blip r:embed="rId8"/>
                <a:stretch>
                  <a:fillRect l="-30" t="-84" r="1" b="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5990173" y="2257509"/>
            <a:ext cx="748923" cy="509755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600" kern="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&gt;0</a:t>
            </a:r>
            <a:endParaRPr lang="zh-CN" altLang="en-US" sz="36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13876" y="6006204"/>
            <a:ext cx="45400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当 </a:t>
            </a:r>
            <a:r>
              <a:rPr lang="en-US" altLang="zh-CN" dirty="0"/>
              <a:t>2&gt;</a:t>
            </a:r>
            <a:r>
              <a:rPr lang="en-US" altLang="zh-CN" i="1" dirty="0"/>
              <a:t>p</a:t>
            </a:r>
            <a:r>
              <a:rPr lang="en-US" altLang="zh-CN" dirty="0"/>
              <a:t>&gt;1 </a:t>
            </a:r>
            <a:r>
              <a:rPr lang="zh-CN" altLang="en-US" dirty="0"/>
              <a:t>时，称为</a:t>
            </a:r>
            <a:r>
              <a:rPr lang="zh-CN" altLang="en-US" b="1" dirty="0">
                <a:solidFill>
                  <a:srgbClr val="008000"/>
                </a:solidFill>
              </a:rPr>
              <a:t>超线性收敛</a:t>
            </a:r>
            <a:r>
              <a:rPr lang="zh-CN" altLang="en-US" dirty="0"/>
              <a:t>；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076938" y="3118312"/>
            <a:ext cx="39388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其中</a:t>
            </a:r>
            <a:r>
              <a:rPr lang="en-US" altLang="zh-CN" i="1" dirty="0"/>
              <a:t>C</a:t>
            </a:r>
            <a:r>
              <a:rPr lang="en-US" altLang="zh-CN" dirty="0"/>
              <a:t> </a:t>
            </a:r>
            <a:r>
              <a:rPr lang="zh-CN" altLang="en-US" dirty="0"/>
              <a:t>称为</a:t>
            </a:r>
            <a:r>
              <a:rPr lang="zh-CN" altLang="en-US" b="1" dirty="0">
                <a:solidFill>
                  <a:srgbClr val="C00000"/>
                </a:solidFill>
              </a:rPr>
              <a:t>渐进误差常数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9" grpId="0"/>
      <p:bldP spid="3" grpId="0" animBg="1"/>
      <p:bldP spid="15" grpId="0" animBg="1"/>
      <p:bldP spid="16" grpId="0" animBg="1" autoUpdateAnimBg="0"/>
      <p:bldP spid="16" grpId="1" animBg="1"/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79376" y="258764"/>
            <a:ext cx="10513168" cy="2697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收敛阶定理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（迭代法的收敛阶）：</a:t>
            </a:r>
            <a:r>
              <a:rPr lang="zh-CN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设迭代过程                   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, </a:t>
            </a:r>
            <a:r>
              <a:rPr lang="zh-CN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若           在所求根        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的邻域连续且</a:t>
            </a:r>
            <a:endParaRPr lang="zh-CN" altLang="en-US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        </a:t>
            </a:r>
            <a:endParaRPr lang="zh-CN" altLang="en-US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        则迭代过程</a:t>
            </a:r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在   邻域是</a:t>
            </a: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p</a:t>
            </a:r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阶收敛的。</a:t>
            </a:r>
            <a:endParaRPr lang="zh-CN" altLang="en-US" sz="2800" b="1" dirty="0">
              <a:solidFill>
                <a:srgbClr val="002060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  <a:spcBef>
                <a:spcPct val="5000"/>
              </a:spcBef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 bwMode="auto">
              <a:xfrm>
                <a:off x="7752184" y="348516"/>
                <a:ext cx="1872208" cy="680682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52184" y="348516"/>
                <a:ext cx="1872208" cy="680682"/>
              </a:xfrm>
              <a:prstGeom prst="rect">
                <a:avLst/>
              </a:prstGeom>
              <a:blipFill rotWithShape="1">
                <a:blip r:embed="rId1"/>
                <a:stretch>
                  <a:fillRect l="-6" t="-79" r="18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5"/>
              <p:cNvSpPr txBox="1"/>
              <p:nvPr/>
            </p:nvSpPr>
            <p:spPr bwMode="auto">
              <a:xfrm>
                <a:off x="10101993" y="320794"/>
                <a:ext cx="1250591" cy="4826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01993" y="320794"/>
                <a:ext cx="1250591" cy="482600"/>
              </a:xfrm>
              <a:prstGeom prst="rect">
                <a:avLst/>
              </a:prstGeom>
              <a:blipFill rotWithShape="1">
                <a:blip r:embed="rId2"/>
                <a:stretch>
                  <a:fillRect l="-33" t="-25" r="4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7"/>
              <p:cNvSpPr txBox="1"/>
              <p:nvPr/>
            </p:nvSpPr>
            <p:spPr bwMode="auto">
              <a:xfrm>
                <a:off x="2074996" y="803394"/>
                <a:ext cx="622620" cy="49748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74996" y="803394"/>
                <a:ext cx="622620" cy="497483"/>
              </a:xfrm>
              <a:prstGeom prst="rect">
                <a:avLst/>
              </a:prstGeom>
              <a:blipFill rotWithShape="1">
                <a:blip r:embed="rId3"/>
                <a:stretch>
                  <a:fillRect l="-72" t="-24" r="22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9"/>
              <p:cNvSpPr txBox="1"/>
              <p:nvPr/>
            </p:nvSpPr>
            <p:spPr bwMode="auto">
              <a:xfrm>
                <a:off x="2207568" y="1334196"/>
                <a:ext cx="6781800" cy="538163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)=⋯=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7568" y="1334196"/>
                <a:ext cx="6781800" cy="538163"/>
              </a:xfrm>
              <a:prstGeom prst="rect">
                <a:avLst/>
              </a:prstGeom>
              <a:blipFill rotWithShape="1">
                <a:blip r:embed="rId4"/>
                <a:stretch>
                  <a:fillRect l="-5" t="-11" r="5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 bwMode="auto">
              <a:xfrm>
                <a:off x="4151784" y="1882687"/>
                <a:ext cx="533400" cy="46831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1784" y="1882687"/>
                <a:ext cx="533400" cy="468313"/>
              </a:xfrm>
              <a:prstGeom prst="rect">
                <a:avLst/>
              </a:prstGeom>
              <a:blipFill rotWithShape="1">
                <a:blip r:embed="rId5"/>
                <a:stretch>
                  <a:fillRect l="-29" t="-117" r="29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1346512" y="2613725"/>
            <a:ext cx="1261884" cy="50270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kern="0" dirty="0">
                <a:latin typeface="+mn-ea"/>
                <a:ea typeface="+mn-ea"/>
              </a:rPr>
              <a:t>证明：</a:t>
            </a:r>
            <a:endParaRPr lang="zh-CN" altLang="en-US" sz="2800" kern="0" dirty="0"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3308059" y="2574102"/>
                <a:ext cx="3008772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</m:t>
                          </m:r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=|</m:t>
                      </m:r>
                      <m:sSub>
                        <m:sSubPr>
                          <m:ctrlP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  <m: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</m:t>
                          </m:r>
                          <m: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|</m:t>
                      </m:r>
                    </m:oMath>
                  </m:oMathPara>
                </a14:m>
                <a:endParaRPr lang="zh-CN" altLang="en-US" sz="2800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059" y="2574102"/>
                <a:ext cx="3008772" cy="410369"/>
              </a:xfrm>
              <a:prstGeom prst="rect">
                <a:avLst/>
              </a:prstGeom>
              <a:blipFill rotWithShape="1">
                <a:blip r:embed="rId6"/>
                <a:stretch>
                  <a:fillRect l="-11" t="-109" r="-3572" b="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3308059" y="3103094"/>
                <a:ext cx="3657733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800" b="0" kern="0" dirty="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=|</m:t>
                    </m:r>
                    <m:r>
                      <a:rPr lang="zh-CN" altLang="en-US" sz="280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𝜑</m:t>
                    </m:r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)−</m:t>
                    </m:r>
                    <m:sSup>
                      <m:sSupPr>
                        <m:ctrlPr>
                          <a:rPr lang="en-US" altLang="zh-CN" sz="2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𝜑</m:t>
                        </m:r>
                        <m: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(</m:t>
                        </m:r>
                        <m:r>
                          <a:rPr lang="en-US" altLang="zh-CN" sz="2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∗</m:t>
                        </m:r>
                      </m:sup>
                    </m:sSup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)|</m:t>
                    </m:r>
                  </m:oMath>
                </a14:m>
                <a:endParaRPr lang="zh-CN" altLang="en-US" sz="2800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059" y="3103094"/>
                <a:ext cx="3657733" cy="410369"/>
              </a:xfrm>
              <a:prstGeom prst="rect">
                <a:avLst/>
              </a:prstGeom>
              <a:blipFill rotWithShape="1">
                <a:blip r:embed="rId7"/>
                <a:stretch>
                  <a:fillRect l="-9" t="-273" r="-4362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346512" y="3726424"/>
                <a:ext cx="12127422" cy="1217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ctr"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:r>
                  <a:rPr lang="en-US" altLang="zh-CN" kern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Taylor</a:t>
                </a:r>
                <a:r>
                  <a:rPr lang="zh-CN" altLang="en-US" kern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展开式：</a:t>
                </a:r>
                <a14:m>
                  <m:oMath xmlns:m="http://schemas.openxmlformats.org/officeDocument/2006/math">
                    <m:r>
                      <a:rPr lang="zh-CN" altLang="en-US" i="1" kern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𝜑</m:t>
                    </m:r>
                    <m:d>
                      <m:dPr>
                        <m:ctrlPr>
                          <a:rPr lang="en-US" altLang="zh-CN" b="0" i="1" kern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b="0" i="1" kern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i="1" ker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i="1" ker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𝜑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(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i="1" ker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∗</m:t>
                        </m:r>
                      </m:sup>
                    </m:sSup>
                    <m:r>
                      <a:rPr lang="en-US" altLang="zh-CN" b="0" i="1" kern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+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𝑒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)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                                                                                                          </m:t>
                    </m:r>
                  </m:oMath>
                </a14:m>
                <a:endParaRPr lang="en-US" altLang="zh-CN" i="1" kern="0" dirty="0">
                  <a:latin typeface="Cambria Math" panose="02040503050406030204" pitchFamily="18" charset="0"/>
                  <a:ea typeface="华文中宋" panose="02010600040101010101" pitchFamily="2" charset="-122"/>
                </a:endParaRPr>
              </a:p>
              <a:p>
                <a:pPr marL="0" algn="ctr"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(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i="1" ker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)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(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i="1" ker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)</m:t>
                      </m:r>
                      <m:sSub>
                        <m:sSub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𝑒</m:t>
                          </m:r>
                        </m:e>
                        <m:sub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en-US" altLang="zh-CN" b="0" i="1" kern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′′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(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i="1" ker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)</m:t>
                      </m:r>
                      <m:sSubSup>
                        <m:sSubSupPr>
                          <m:ctrlPr>
                            <a:rPr lang="en-US" altLang="zh-CN" i="1" kern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</m:sub>
                          </m:sSub>
                        </m:e>
                        <m:sub/>
                        <m:sup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+…+</m:t>
                      </m:r>
                      <m:f>
                        <m:f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𝑝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zh-CN" i="1" kern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𝜑</m:t>
                              </m:r>
                            </m:e>
                            <m:sup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𝑝</m:t>
                              </m:r>
                            </m:sup>
                          </m:sSup>
                          <m:r>
                            <a:rPr lang="en-US" altLang="zh-CN" i="1" kern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 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(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i="1" ker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)</m:t>
                      </m:r>
                      <m:sSubSup>
                        <m:sSub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</m:sub>
                          </m:sSub>
                        </m:e>
                        <m:sub/>
                        <m:sup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zh-CN" altLang="en-US" kern="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512" y="3726424"/>
                <a:ext cx="12127422" cy="1217769"/>
              </a:xfrm>
              <a:prstGeom prst="rect">
                <a:avLst/>
              </a:prstGeom>
              <a:blipFill rotWithShape="1">
                <a:blip r:embed="rId8"/>
                <a:stretch>
                  <a:fillRect l="-3" t="-20" r="4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2697616" y="4690690"/>
                <a:ext cx="7731925" cy="848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kern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∴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𝑒</m:t>
                          </m:r>
                        </m:e>
                        <m:sub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 ker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=|</m:t>
                      </m:r>
                      <m:sSup>
                        <m:s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′(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i="1" ker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)</m:t>
                      </m:r>
                      <m:sSub>
                        <m:sSub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𝑒</m:t>
                          </m:r>
                        </m:e>
                        <m:sub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i="1" ker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′′(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i="1" ker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)</m:t>
                      </m:r>
                      <m:sSubSup>
                        <m:sSub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</m:sub>
                          </m:sSub>
                        </m:e>
                        <m:sub/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i="1" ker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+…+</m:t>
                      </m:r>
                      <m:f>
                        <m:f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𝑝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𝜑</m:t>
                              </m:r>
                            </m:e>
                            <m:sup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𝑝</m:t>
                              </m:r>
                            </m:sup>
                          </m:s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 (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i="1" ker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)</m:t>
                      </m:r>
                      <m:sSubSup>
                        <m:sSub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</m:sub>
                          </m:sSub>
                        </m:e>
                        <m:sub/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𝑝</m:t>
                          </m:r>
                        </m:sup>
                      </m:sSubSup>
                      <m:r>
                        <a:rPr lang="en-US" altLang="zh-CN" b="0" i="0" kern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|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616" y="4690690"/>
                <a:ext cx="7731925" cy="848437"/>
              </a:xfrm>
              <a:prstGeom prst="rect">
                <a:avLst/>
              </a:prstGeom>
              <a:blipFill rotWithShape="1">
                <a:blip r:embed="rId9"/>
                <a:stretch>
                  <a:fillRect l="-2" t="-68" r="4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247486" y="5572446"/>
                <a:ext cx="9215664" cy="544188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:r>
                  <a:rPr lang="zh-CN" altLang="en-US" sz="2800" kern="0" dirty="0">
                    <a:solidFill>
                      <a:schemeClr val="tx1"/>
                    </a:solidFill>
                    <a:latin typeface="+mn-ea"/>
                    <a:ea typeface="+mn-ea"/>
                  </a:rPr>
                  <a:t>若令：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zh-CN" altLang="en-US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𝜑</m:t>
                        </m:r>
                        <m: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′(</m:t>
                        </m:r>
                        <m: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</m:e>
                      <m:sup>
                        <m: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∗</m:t>
                        </m:r>
                      </m:sup>
                    </m:sSup>
                    <m:r>
                      <a:rPr lang="en-US" altLang="zh-CN" sz="2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en-US" altLang="zh-CN" sz="2800" kern="0" dirty="0">
                    <a:solidFill>
                      <a:schemeClr val="tx1"/>
                    </a:solidFill>
                    <a:latin typeface="+mn-ea"/>
                    <a:ea typeface="+mn-ea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zh-CN" altLang="en-US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𝜑</m:t>
                        </m:r>
                        <m: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′′(</m:t>
                        </m:r>
                        <m: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</m:e>
                      <m:sup>
                        <m: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∗</m:t>
                        </m:r>
                      </m:sup>
                    </m:sSup>
                    <m:r>
                      <a:rPr lang="en-US" altLang="zh-CN" sz="2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en-US" altLang="zh-CN" sz="2800" kern="0" dirty="0">
                    <a:solidFill>
                      <a:schemeClr val="tx1"/>
                    </a:solidFill>
                    <a:latin typeface="+mn-ea"/>
                    <a:ea typeface="+mn-ea"/>
                  </a:rPr>
                  <a:t>=…=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28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lang="zh-CN" altLang="en-US" sz="28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𝜑</m:t>
                            </m:r>
                          </m:e>
                          <m:sup>
                            <m:r>
                              <a:rPr lang="en-US" altLang="zh-CN" sz="28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𝑝</m:t>
                            </m:r>
                            <m:r>
                              <a:rPr lang="en-US" altLang="zh-CN" sz="28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−</m:t>
                            </m:r>
                            <m:r>
                              <a:rPr lang="en-US" altLang="zh-CN" sz="28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 (</m:t>
                        </m:r>
                        <m: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</m:e>
                      <m:sup>
                        <m: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∗</m:t>
                        </m:r>
                      </m:sup>
                    </m:sSup>
                    <m:r>
                      <a:rPr lang="en-US" altLang="zh-CN" sz="2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en-US" altLang="zh-CN" sz="2800" kern="0" dirty="0">
                    <a:solidFill>
                      <a:schemeClr val="tx1"/>
                    </a:solidFill>
                    <a:latin typeface="+mn-ea"/>
                    <a:ea typeface="+mn-ea"/>
                  </a:rPr>
                  <a:t>=0,</a:t>
                </a:r>
                <a:r>
                  <a:rPr lang="zh-CN" altLang="en-US" sz="2800" kern="0" dirty="0">
                    <a:latin typeface="+mn-ea"/>
                    <a:ea typeface="+mn-ea"/>
                  </a:rPr>
                  <a:t>则：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𝑒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+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kern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1" kern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C</m:t>
                        </m:r>
                        <m:sSubSup>
                          <m:sSubSup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altLang="zh-CN" sz="2800" i="1" ker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 ker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sz="2800" i="1" ker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  <m:sub/>
                          <m:sup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𝑝</m:t>
                            </m:r>
                          </m:sup>
                        </m:sSubSup>
                      </m:e>
                      <m:sub/>
                    </m:sSub>
                  </m:oMath>
                </a14:m>
                <a:endParaRPr lang="zh-CN" altLang="en-US" sz="2800" kern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486" y="5572446"/>
                <a:ext cx="9215664" cy="544188"/>
              </a:xfrm>
              <a:prstGeom prst="rect">
                <a:avLst/>
              </a:prstGeom>
              <a:blipFill rotWithShape="1">
                <a:blip r:embed="rId10"/>
                <a:stretch>
                  <a:fillRect l="-4" t="-19546" r="3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39"/>
              <p:cNvSpPr txBox="1"/>
              <p:nvPr/>
            </p:nvSpPr>
            <p:spPr bwMode="auto">
              <a:xfrm>
                <a:off x="3978275" y="5965825"/>
                <a:ext cx="3429000" cy="8921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bSup>
                            </m:den>
                          </m:f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8275" y="5965825"/>
                <a:ext cx="3429000" cy="89217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8172562" y="1959943"/>
            <a:ext cx="3858862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收敛速度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：由</a:t>
            </a: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第一个不为零的导数的阶数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决定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3" grpId="0" animBg="1"/>
      <p:bldP spid="14" grpId="0"/>
      <p:bldP spid="1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6"/>
          <p:cNvSpPr>
            <a:spLocks noChangeArrowheads="1"/>
          </p:cNvSpPr>
          <p:nvPr/>
        </p:nvSpPr>
        <p:spPr bwMode="auto">
          <a:xfrm>
            <a:off x="1524000" y="2000250"/>
            <a:ext cx="247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000">
                <a:cs typeface="Times New Roman" panose="02020603050405020304" pitchFamily="18" charset="0"/>
              </a:rPr>
              <a:t>  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46083" name="Rectangle 17"/>
          <p:cNvSpPr>
            <a:spLocks noChangeArrowheads="1"/>
          </p:cNvSpPr>
          <p:nvPr/>
        </p:nvSpPr>
        <p:spPr bwMode="auto">
          <a:xfrm>
            <a:off x="1524000" y="2473325"/>
            <a:ext cx="247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000">
                <a:cs typeface="Times New Roman" panose="02020603050405020304" pitchFamily="18" charset="0"/>
              </a:rPr>
              <a:t>  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46084" name="Rectangle 18"/>
          <p:cNvSpPr>
            <a:spLocks noChangeArrowheads="1"/>
          </p:cNvSpPr>
          <p:nvPr/>
        </p:nvSpPr>
        <p:spPr bwMode="auto">
          <a:xfrm>
            <a:off x="1524000" y="2936875"/>
            <a:ext cx="247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000">
                <a:cs typeface="Times New Roman" panose="02020603050405020304" pitchFamily="18" charset="0"/>
              </a:rPr>
              <a:t>  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46085" name="Rectangle 19"/>
          <p:cNvSpPr>
            <a:spLocks noChangeArrowheads="1"/>
          </p:cNvSpPr>
          <p:nvPr/>
        </p:nvSpPr>
        <p:spPr bwMode="auto">
          <a:xfrm>
            <a:off x="1524000" y="3409950"/>
            <a:ext cx="215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000">
                <a:cs typeface="Times New Roman" panose="02020603050405020304" pitchFamily="18" charset="0"/>
              </a:rPr>
              <a:t> 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46086" name="Rectangle 20"/>
          <p:cNvSpPr>
            <a:spLocks noChangeArrowheads="1"/>
          </p:cNvSpPr>
          <p:nvPr/>
        </p:nvSpPr>
        <p:spPr bwMode="auto">
          <a:xfrm flipV="1">
            <a:off x="1524000" y="3689350"/>
            <a:ext cx="9144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6087" name="Rectangle 21"/>
          <p:cNvSpPr>
            <a:spLocks noChangeArrowheads="1"/>
          </p:cNvSpPr>
          <p:nvPr/>
        </p:nvSpPr>
        <p:spPr bwMode="auto">
          <a:xfrm>
            <a:off x="1524000" y="4111625"/>
            <a:ext cx="247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000">
                <a:cs typeface="Times New Roman" panose="02020603050405020304" pitchFamily="18" charset="0"/>
              </a:rPr>
              <a:t>  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46088" name="Rectangle 22"/>
          <p:cNvSpPr>
            <a:spLocks noChangeArrowheads="1"/>
          </p:cNvSpPr>
          <p:nvPr/>
        </p:nvSpPr>
        <p:spPr bwMode="auto">
          <a:xfrm>
            <a:off x="1524000" y="5038725"/>
            <a:ext cx="279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000">
                <a:cs typeface="Times New Roman" panose="02020603050405020304" pitchFamily="18" charset="0"/>
              </a:rPr>
              <a:t>   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graphicFrame>
        <p:nvGraphicFramePr>
          <p:cNvPr id="23554" name="Object 30"/>
          <p:cNvGraphicFramePr>
            <a:graphicFrameLocks noChangeAspect="1"/>
          </p:cNvGraphicFramePr>
          <p:nvPr/>
        </p:nvGraphicFramePr>
        <p:xfrm>
          <a:off x="1366838" y="1501775"/>
          <a:ext cx="8912225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35" name="Equation" r:id="rId1" imgW="62979300" imgH="11849100" progId="Equation.DSMT4">
                  <p:embed/>
                </p:oleObj>
              </mc:Choice>
              <mc:Fallback>
                <p:oleObj name="Equation" r:id="rId1" imgW="62979300" imgH="118491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838" y="1501775"/>
                        <a:ext cx="8912225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1366912" y="3394075"/>
          <a:ext cx="75755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36" name="Equation" r:id="rId3" imgW="64293750" imgH="4171950" progId="Equation.DSMT4">
                  <p:embed/>
                </p:oleObj>
              </mc:Choice>
              <mc:Fallback>
                <p:oleObj name="Equation" r:id="rId3" imgW="64293750" imgH="417195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912" y="3394075"/>
                        <a:ext cx="75755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1271464" y="4474225"/>
          <a:ext cx="7110412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37" name="Equation" r:id="rId5" imgW="60340875" imgH="10753725" progId="Equation.DSMT4">
                  <p:embed/>
                </p:oleObj>
              </mc:Choice>
              <mc:Fallback>
                <p:oleObj name="Equation" r:id="rId5" imgW="60340875" imgH="1075372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4474225"/>
                        <a:ext cx="7110412" cy="131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017985" y="723520"/>
            <a:ext cx="2339102" cy="473206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由以上定理知：</a:t>
            </a:r>
            <a:endParaRPr lang="zh-CN" altLang="en-US" kern="0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847528" y="1484784"/>
                <a:ext cx="5954772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:r>
                  <a:rPr lang="zh-CN" altLang="en-US" kern="0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所以当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p</m:t>
                    </m:r>
                    <m:r>
                      <a:rPr lang="en-US" altLang="zh-CN" sz="2800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800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1</m:t>
                    </m:r>
                    <m:r>
                      <a:rPr lang="zh-CN" altLang="en-US" sz="2800" i="1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时</m:t>
                    </m:r>
                  </m:oMath>
                </a14:m>
                <a:r>
                  <a:rPr lang="zh-CN" altLang="en-US" kern="0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：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0" i="1" kern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kern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2800" b="0" i="1" kern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2800" b="0" i="1" kern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+</m:t>
                            </m:r>
                            <m:r>
                              <a:rPr lang="en-US" altLang="zh-CN" sz="2800" b="0" i="1" kern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800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≤</m:t>
                    </m:r>
                    <m:r>
                      <a:rPr lang="en-US" altLang="zh-CN" sz="2800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altLang="zh-CN" sz="2800" kern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zh-CN" altLang="en-US" sz="2800" i="1" kern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‘</m:t>
                    </m:r>
                    <m:d>
                      <m:dPr>
                        <m:ctrlPr>
                          <a:rPr lang="en-US" altLang="zh-CN" sz="2800" b="0" i="1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l-GR" sz="2800" b="0" i="1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  <m:r>
                          <m:rPr>
                            <m:sty m:val="p"/>
                          </m:rPr>
                          <a:rPr lang="en-US" altLang="zh-CN" sz="2800" b="0" i="0" kern="0" baseline="-250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altLang="zh-CN" sz="2800" b="0" i="0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800" b="0" i="1" kern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kern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US" altLang="zh-CN" sz="2800" b="0" i="1" kern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b="0" i="1" kern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/>
                        </m:sSubSup>
                        <m:r>
                          <a:rPr lang="en-US" altLang="zh-CN" sz="2800" b="0" i="1" kern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/>
                    </m:sSup>
                  </m:oMath>
                </a14:m>
                <a:endParaRPr lang="zh-CN" altLang="en-US" kern="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1484784"/>
                <a:ext cx="5954772" cy="410369"/>
              </a:xfrm>
              <a:prstGeom prst="rect">
                <a:avLst/>
              </a:prstGeom>
              <a:blipFill rotWithShape="1">
                <a:blip r:embed="rId1"/>
                <a:stretch>
                  <a:fillRect l="-5" t="-7001" r="-2004" b="-16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660600" y="2153036"/>
                <a:ext cx="1664943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:r>
                  <a:rPr lang="zh-CN" altLang="en-US" kern="0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当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p</m:t>
                    </m:r>
                    <m:r>
                      <a:rPr lang="en-US" altLang="zh-CN" b="0" i="0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b="0" i="0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2</m:t>
                    </m:r>
                    <m:r>
                      <a:rPr lang="zh-CN" altLang="en-US" i="1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时</m:t>
                    </m:r>
                    <m:r>
                      <a:rPr lang="zh-CN" altLang="en-US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，</m:t>
                    </m:r>
                  </m:oMath>
                </a14:m>
                <a:endParaRPr lang="zh-CN" altLang="en-US" kern="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600" y="2153036"/>
                <a:ext cx="1664943" cy="410369"/>
              </a:xfrm>
              <a:prstGeom prst="rect">
                <a:avLst/>
              </a:prstGeom>
              <a:blipFill rotWithShape="1">
                <a:blip r:embed="rId2"/>
                <a:stretch>
                  <a:fillRect l="-35" t="-94" r="-9768" b="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4354685" y="2196153"/>
                <a:ext cx="3864199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≤</m:t>
                      </m:r>
                      <m:f>
                        <m:fPr>
                          <m:ctrlP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8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altLang="zh-CN" sz="2800" kern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zh-CN" altLang="en-US" sz="2800" i="1" kern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‘</m:t>
                      </m:r>
                      <m:r>
                        <a:rPr lang="zh-CN" altLang="en-US" sz="2800" i="1" kern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‘</m:t>
                      </m:r>
                      <m:d>
                        <m:dPr>
                          <m:ctrlPr>
                            <a:rPr lang="en-US" altLang="zh-CN" sz="2800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l-GR" sz="2800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  <m:r>
                            <m:rPr>
                              <m:sty m:val="p"/>
                            </m:rPr>
                            <a:rPr lang="en-US" altLang="zh-CN" sz="2800" b="0" i="0" kern="0" baseline="-250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US" altLang="zh-CN" sz="2800" b="0" i="0" kern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800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altLang="zh-CN" sz="280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kern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</m:sSubSup>
                          <m:r>
                            <a:rPr lang="en-US" altLang="zh-CN" sz="2800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2800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kern="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685" y="2196153"/>
                <a:ext cx="3864199" cy="410369"/>
              </a:xfrm>
              <a:prstGeom prst="rect">
                <a:avLst/>
              </a:prstGeom>
              <a:blipFill rotWithShape="1">
                <a:blip r:embed="rId3"/>
                <a:stretch>
                  <a:fillRect l="-13" t="-49750" r="-2644" b="-162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4351645" y="3084479"/>
                <a:ext cx="4006866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≤</m:t>
                      </m:r>
                      <m:f>
                        <m:fPr>
                          <m:ctrlP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28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80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sz="28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</m:e>
                        <m:sup>
                          <m:r>
                            <a:rPr lang="en-US" altLang="zh-CN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𝑝</m:t>
                          </m:r>
                        </m:sup>
                      </m:sSup>
                      <m:d>
                        <m:dPr>
                          <m:ctrlPr>
                            <a:rPr lang="en-US" altLang="zh-CN" sz="2800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l-GR" sz="2800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  <m:r>
                            <m:rPr>
                              <m:sty m:val="p"/>
                            </m:rPr>
                            <a:rPr lang="en-US" altLang="zh-CN" sz="2800" b="0" i="0" kern="0" baseline="-250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US" altLang="zh-CN" sz="2800" b="0" i="0" kern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800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altLang="zh-CN" sz="280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kern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</m:sSubSup>
                          <m:r>
                            <a:rPr lang="en-US" altLang="zh-CN" sz="2800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800" i="1" kern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zh-CN" altLang="en-US" sz="2800" kern="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645" y="3084479"/>
                <a:ext cx="4006866" cy="410369"/>
              </a:xfrm>
              <a:prstGeom prst="rect">
                <a:avLst/>
              </a:prstGeom>
              <a:blipFill rotWithShape="1">
                <a:blip r:embed="rId4"/>
                <a:stretch>
                  <a:fillRect l="-16" t="-60572" r="-2266" b="-16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2423592" y="3889381"/>
            <a:ext cx="6288901" cy="50270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kern="0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以上公式可用于计算不同收敛阶的误差</a:t>
            </a:r>
            <a:endParaRPr lang="zh-CN" altLang="en-US" sz="2800" kern="0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3524937" y="21740"/>
                <a:ext cx="7731925" cy="84843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kern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𝑒</m:t>
                          </m:r>
                        </m:e>
                        <m:sub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 ker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=|</m:t>
                      </m:r>
                      <m:sSup>
                        <m:s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′(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i="1" ker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)</m:t>
                      </m:r>
                      <m:sSub>
                        <m:sSub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𝑒</m:t>
                          </m:r>
                        </m:e>
                        <m:sub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i="1" ker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′′(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i="1" ker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)</m:t>
                      </m:r>
                      <m:sSubSup>
                        <m:sSub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</m:sub>
                          </m:sSub>
                        </m:e>
                        <m:sub/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i="1" ker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+…+</m:t>
                      </m:r>
                      <m:f>
                        <m:f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𝑝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𝜑</m:t>
                              </m:r>
                            </m:e>
                            <m:sup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𝑝</m:t>
                              </m:r>
                            </m:sup>
                          </m:s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 (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i="1" ker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)</m:t>
                      </m:r>
                      <m:sSubSup>
                        <m:sSub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</m:sub>
                          </m:sSub>
                        </m:e>
                        <m:sub/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𝑝</m:t>
                          </m:r>
                        </m:sup>
                      </m:sSubSup>
                      <m:r>
                        <a:rPr lang="en-US" altLang="zh-CN" b="0" i="0" kern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|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937" y="21740"/>
                <a:ext cx="7731925" cy="848437"/>
              </a:xfrm>
              <a:prstGeom prst="rect">
                <a:avLst/>
              </a:prstGeom>
              <a:blipFill rotWithShape="1">
                <a:blip r:embed="rId5"/>
                <a:stretch>
                  <a:fillRect l="-66" t="-616" r="-55" b="-497"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1" animBg="1"/>
      <p:bldP spid="15" grpId="0" animBg="1"/>
      <p:bldP spid="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43619" y="404664"/>
            <a:ext cx="2866233" cy="502702"/>
          </a:xfrm>
          <a:prstGeom prst="rect">
            <a:avLst/>
          </a:prstGeom>
          <a:blipFill>
            <a:blip r:embed="rId1"/>
            <a:stretch>
              <a:fillRect l="-3830" t="-19277" r="-3617" b="-28916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356422" y="1445765"/>
            <a:ext cx="2339103" cy="50270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>
            <a:spAutoFit/>
          </a:bodyPr>
          <a:lstStyle/>
          <a:p>
            <a:pPr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kern="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一阶收敛误差</a:t>
            </a:r>
            <a:endParaRPr lang="zh-CN" altLang="en-US" sz="28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07183" y="4457674"/>
            <a:ext cx="2339103" cy="50270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>
            <a:spAutoFit/>
          </a:bodyPr>
          <a:lstStyle/>
          <a:p>
            <a:pPr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kern="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二阶收敛误差</a:t>
            </a:r>
            <a:endParaRPr lang="zh-CN" altLang="en-US" sz="28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4404436" y="2116147"/>
                <a:ext cx="2411644" cy="41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4436" y="2116147"/>
                <a:ext cx="2411644" cy="410369"/>
              </a:xfrm>
              <a:prstGeom prst="rect">
                <a:avLst/>
              </a:prstGeom>
              <a:blipFill rotWithShape="1">
                <a:blip r:embed="rId2"/>
                <a:stretch>
                  <a:fillRect l="-3" t="-33658" r="26" b="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4203563" y="2613067"/>
                <a:ext cx="3093090" cy="1821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≤(</m:t>
                      </m:r>
                      <m:f>
                        <m:fPr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|)</m:t>
                          </m:r>
                        </m:e>
                        <m:sup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0" algn="ctr"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≤(</m:t>
                      </m:r>
                      <m:f>
                        <m:f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kern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kern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|)</m:t>
                          </m:r>
                        </m:e>
                        <m:sup>
                          <m:r>
                            <a:rPr lang="en-US" altLang="zh-CN" b="0" i="1" kern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altLang="zh-CN" kern="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0" algn="ctr"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:r>
                  <a:rPr lang="en-US" altLang="zh-CN" kern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……</a:t>
                </a:r>
                <a:endParaRPr lang="zh-CN" altLang="en-US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563" y="2613067"/>
                <a:ext cx="3093090" cy="1821268"/>
              </a:xfrm>
              <a:prstGeom prst="rect">
                <a:avLst/>
              </a:prstGeom>
              <a:blipFill rotWithShape="1">
                <a:blip r:embed="rId3"/>
                <a:stretch>
                  <a:fillRect l="-16" t="-2" r="-437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4243040" y="4299474"/>
                <a:ext cx="2861260" cy="79200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lIns="0" tIns="0" rIns="0" bIns="0" rtlCol="0" anchor="ctr" anchorCtr="1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b="0" i="1" kern="0" baseline="-250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|)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b="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altLang="zh-CN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040" y="4299474"/>
                <a:ext cx="2861260" cy="792000"/>
              </a:xfrm>
              <a:prstGeom prst="rect">
                <a:avLst/>
              </a:prstGeom>
              <a:blipFill rotWithShape="1">
                <a:blip r:embed="rId4"/>
                <a:stretch>
                  <a:fillRect l="-21" t="-6079" r="19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918277" y="2095891"/>
                <a:ext cx="3034933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r>
                      <a:rPr lang="zh-CN" altLang="en-US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令</m:t>
                    </m:r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|</m:t>
                    </m:r>
                    <m:r>
                      <a:rPr lang="zh-CN" altLang="en-US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𝜑</m:t>
                    </m:r>
                    <m:r>
                      <a:rPr lang="en-US" altLang="zh-CN" sz="2800" b="0" i="0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′′(</m:t>
                    </m:r>
                    <m:sSub>
                      <m:sSubPr>
                        <m:ctrlPr>
                          <a:rPr lang="en-US" altLang="zh-CN" sz="28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zh-CN" altLang="en-US" sz="2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𝜉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800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)|=M</a:t>
                </a:r>
                <a:r>
                  <a:rPr lang="zh-CN" altLang="en-US" sz="2800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，则</a:t>
                </a:r>
                <a:endParaRPr lang="zh-CN" altLang="en-US" sz="2800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77" y="2095891"/>
                <a:ext cx="3034933" cy="410369"/>
              </a:xfrm>
              <a:prstGeom prst="rect">
                <a:avLst/>
              </a:prstGeom>
              <a:blipFill rotWithShape="1">
                <a:blip r:embed="rId5"/>
                <a:stretch>
                  <a:fillRect l="-2" t="-9380" r="-5366" b="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4345525" y="213246"/>
                <a:ext cx="2184059" cy="41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/>
                      </m:sSup>
                    </m:oMath>
                  </m:oMathPara>
                </a14:m>
                <a:endParaRPr lang="zh-CN" altLang="en-US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5525" y="213246"/>
                <a:ext cx="2184059" cy="410369"/>
              </a:xfrm>
              <a:prstGeom prst="rect">
                <a:avLst/>
              </a:prstGeom>
              <a:blipFill rotWithShape="1">
                <a:blip r:embed="rId6"/>
                <a:stretch>
                  <a:fillRect l="-10" t="-127" r="-5123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4326129" y="667185"/>
                <a:ext cx="2847959" cy="8651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≤(</m:t>
                      </m:r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kern="0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ctrlPr>
                                <a:rPr lang="en-US" altLang="zh-CN" b="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kern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 kern="0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altLang="zh-CN" b="0" i="1" kern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kern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kern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e>
                          </m:d>
                        </m:e>
                        <m:sup/>
                      </m:sSup>
                    </m:oMath>
                  </m:oMathPara>
                </a14:m>
                <a:endParaRPr lang="en-US" altLang="zh-CN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:r>
                  <a:rPr lang="en-US" altLang="zh-CN" kern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……</a:t>
                </a:r>
                <a:endParaRPr lang="zh-CN" altLang="en-US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129" y="667185"/>
                <a:ext cx="2847959" cy="865109"/>
              </a:xfrm>
              <a:prstGeom prst="rect">
                <a:avLst/>
              </a:prstGeom>
              <a:blipFill rotWithShape="1">
                <a:blip r:embed="rId7"/>
                <a:stretch>
                  <a:fillRect l="-18" t="-8858" r="-3684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4382587" y="1488015"/>
                <a:ext cx="2663742" cy="41036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b="0" i="1" kern="0" baseline="-250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|)</m:t>
                          </m:r>
                        </m:e>
                        <m:sup/>
                      </m:sSup>
                    </m:oMath>
                  </m:oMathPara>
                </a14:m>
                <a:endParaRPr lang="en-US" altLang="zh-CN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587" y="1488015"/>
                <a:ext cx="2663742" cy="410369"/>
              </a:xfrm>
              <a:prstGeom prst="rect">
                <a:avLst/>
              </a:prstGeom>
              <a:blipFill rotWithShape="1">
                <a:blip r:embed="rId8"/>
                <a:stretch>
                  <a:fillRect l="-17" t="-51" r="-3252" b="-138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1117299" y="5631669"/>
            <a:ext cx="6509037" cy="935009"/>
            <a:chOff x="5674687" y="-182011"/>
            <a:chExt cx="6509037" cy="935009"/>
          </a:xfrm>
        </p:grpSpPr>
        <p:graphicFrame>
          <p:nvGraphicFramePr>
            <p:cNvPr id="21" name="Object 11"/>
            <p:cNvGraphicFramePr>
              <a:graphicFrameLocks noChangeAspect="1"/>
            </p:cNvGraphicFramePr>
            <p:nvPr/>
          </p:nvGraphicFramePr>
          <p:xfrm>
            <a:off x="8188024" y="-182011"/>
            <a:ext cx="3995700" cy="9350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811" name="Equation" r:id="rId9" imgW="30937200" imgH="7239000" progId="Equation.DSMT4">
                    <p:embed/>
                  </p:oleObj>
                </mc:Choice>
                <mc:Fallback>
                  <p:oleObj name="Equation" r:id="rId9" imgW="30937200" imgH="72390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88024" y="-182011"/>
                          <a:ext cx="3995700" cy="9350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文本框 2"/>
            <p:cNvSpPr txBox="1"/>
            <p:nvPr/>
          </p:nvSpPr>
          <p:spPr>
            <a:xfrm>
              <a:off x="5674687" y="34142"/>
              <a:ext cx="3057247" cy="502702"/>
            </a:xfrm>
            <a:prstGeom prst="rect">
              <a:avLst/>
            </a:prstGeom>
            <a:solidFill>
              <a:srgbClr val="FFFFCC"/>
            </a:solidFill>
          </p:spPr>
          <p:txBody>
            <a:bodyPr wrap="none" rtlCol="0">
              <a:spAutoFit/>
            </a:bodyPr>
            <a:lstStyle/>
            <a:p>
              <a:pPr marL="0" algn="ctr">
                <a:lnSpc>
                  <a:spcPts val="32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zh-CN" altLang="en-US" sz="2800" kern="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一般的收敛误差：</a:t>
              </a:r>
              <a:endParaRPr lang="zh-CN" altLang="en-US" sz="2800" kern="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359696" y="5262980"/>
            <a:ext cx="8196915" cy="414207"/>
            <a:chOff x="3630636" y="5130911"/>
            <a:chExt cx="8196915" cy="4142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文本框 4"/>
                <p:cNvSpPr txBox="1"/>
                <p:nvPr/>
              </p:nvSpPr>
              <p:spPr>
                <a:xfrm>
                  <a:off x="3630636" y="5134749"/>
                  <a:ext cx="6485943" cy="4103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algn="ctr">
                    <a:lnSpc>
                      <a:spcPts val="3200"/>
                    </a:lnSpc>
                    <a:spcBef>
                      <a:spcPct val="20000"/>
                    </a:spcBef>
                    <a:buFont typeface="Wingdings" panose="05000000000000000000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当</m:t>
                        </m:r>
                        <m:f>
                          <m:fPr>
                            <m:ctrlPr>
                              <a:rPr lang="en-US" altLang="zh-CN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</m:t>
                            </m:r>
                          </m:num>
                          <m:den>
                            <m:r>
                              <a:rPr lang="en-US" altLang="zh-CN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i="1" kern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 kern="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kern="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altLang="zh-CN" i="1" kern="0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altLang="zh-CN" b="0" i="1" kern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b="0" i="1" kern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CN" altLang="en-US" i="1" kern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时</m:t>
                            </m:r>
                            <m:r>
                              <a:rPr lang="zh-CN" altLang="en-US" i="1" kern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肯</m:t>
                            </m:r>
                            <m:r>
                              <a:rPr lang="zh-CN" altLang="en-US" i="1" kern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定</m:t>
                            </m:r>
                            <m:r>
                              <a:rPr lang="zh-CN" altLang="en-US" i="1" kern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收敛</m:t>
                            </m:r>
                            <m:r>
                              <a:rPr lang="zh-CN" altLang="en-US" i="1" kern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zh-CN" altLang="en-US" i="1" kern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故</m:t>
                            </m:r>
                            <m:r>
                              <a:rPr lang="zh-CN" altLang="en-US" i="1" kern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可</m:t>
                            </m:r>
                            <m:r>
                              <a:rPr lang="zh-CN" altLang="en-US" i="1" kern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用</m:t>
                            </m:r>
                            <m:r>
                              <m:rPr>
                                <m:sty m:val="p"/>
                              </m:rPr>
                              <a:rPr lang="en-US" altLang="zh-CN" i="1" kern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</m:t>
                            </m:r>
                            <m:r>
                              <a:rPr lang="zh-CN" altLang="en-US" i="1" kern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替代</m:t>
                            </m:r>
                            <m:r>
                              <a:rPr lang="zh-CN" altLang="en-US" i="1" kern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zh-CN" altLang="en-US" i="1" kern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则</m:t>
                            </m:r>
                            <m:r>
                              <a:rPr lang="zh-CN" altLang="en-US" i="1" kern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：</m:t>
                            </m:r>
                          </m:e>
                          <m:sup/>
                        </m:sSup>
                      </m:oMath>
                    </m:oMathPara>
                  </a14:m>
                  <a:endParaRPr lang="zh-CN" altLang="en-US" kern="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0636" y="5134749"/>
                  <a:ext cx="6485943" cy="410369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9795200" y="5130911"/>
                  <a:ext cx="2032351" cy="4103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algn="ctr">
                    <a:lnSpc>
                      <a:spcPts val="3200"/>
                    </a:lnSpc>
                    <a:spcBef>
                      <a:spcPct val="20000"/>
                    </a:spcBef>
                    <a:buFont typeface="Wingdings" panose="05000000000000000000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b="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𝑛</m:t>
                                </m:r>
                                <m:r>
                                  <a:rPr lang="en-US" altLang="zh-CN" b="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+</m:t>
                                </m:r>
                                <m:r>
                                  <a:rPr lang="en-US" altLang="zh-CN" b="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b="0" i="1" kern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altLang="zh-CN" b="0" i="1" kern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kern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i="1" kern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</m:t>
                                </m:r>
                              </m:sup>
                            </m:sSup>
                          </m:sup>
                        </m:sSup>
                      </m:oMath>
                    </m:oMathPara>
                  </a14:m>
                  <a:endParaRPr lang="en-US" altLang="zh-CN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5200" y="5130911"/>
                  <a:ext cx="2032351" cy="410369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线形标注 1 5"/>
          <p:cNvSpPr/>
          <p:nvPr/>
        </p:nvSpPr>
        <p:spPr bwMode="auto">
          <a:xfrm>
            <a:off x="8544272" y="1843245"/>
            <a:ext cx="3418918" cy="445690"/>
          </a:xfrm>
          <a:prstGeom prst="borderCallout1">
            <a:avLst>
              <a:gd name="adj1" fmla="val 18750"/>
              <a:gd name="adj2" fmla="val -8333"/>
              <a:gd name="adj3" fmla="val 18947"/>
              <a:gd name="adj4" fmla="val -55457"/>
            </a:avLst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/>
              <a:t>在实际使用中常用</a:t>
            </a:r>
            <a:r>
              <a:rPr lang="en-US" altLang="zh-CN" sz="2000" dirty="0"/>
              <a:t>x1-x0</a:t>
            </a:r>
            <a:r>
              <a:rPr lang="zh-CN" altLang="en-US" sz="2000" dirty="0"/>
              <a:t>代替</a:t>
            </a:r>
            <a:endParaRPr lang="zh-CN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7"/>
              <p:cNvSpPr txBox="1"/>
              <p:nvPr/>
            </p:nvSpPr>
            <p:spPr bwMode="auto">
              <a:xfrm>
                <a:off x="7346769" y="5755125"/>
                <a:ext cx="5316538" cy="9731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46769" y="5755125"/>
                <a:ext cx="5316538" cy="973138"/>
              </a:xfrm>
              <a:prstGeom prst="rect">
                <a:avLst/>
              </a:prstGeom>
              <a:blipFill rotWithShape="1">
                <a:blip r:embed="rId13"/>
                <a:stretch>
                  <a:fillRect l="-9" t="-12" r="3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6336" y="2613067"/>
            <a:ext cx="4336854" cy="9983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4" grpId="0"/>
      <p:bldP spid="17" grpId="0"/>
      <p:bldP spid="18" grpId="0" animBg="1"/>
      <p:bldP spid="8" grpId="0" animBg="1"/>
      <p:bldP spid="20" grpId="0" animBg="1"/>
      <p:bldP spid="6" grpId="0" animBg="1"/>
      <p:bldP spid="2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674938" y="214313"/>
            <a:ext cx="7793037" cy="1462087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4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</a:t>
            </a:r>
            <a:endParaRPr lang="en-US" altLang="zh-CN" sz="4400" ker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5" name="组合 13"/>
          <p:cNvGrpSpPr/>
          <p:nvPr/>
        </p:nvGrpSpPr>
        <p:grpSpPr bwMode="auto">
          <a:xfrm>
            <a:off x="2063750" y="476250"/>
            <a:ext cx="7632700" cy="1744663"/>
            <a:chOff x="539750" y="476250"/>
            <a:chExt cx="7632700" cy="174466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139" name="Object 11"/>
                <p:cNvSpPr txBox="1"/>
                <p:nvPr/>
              </p:nvSpPr>
              <p:spPr bwMode="auto">
                <a:xfrm>
                  <a:off x="900113" y="1125538"/>
                  <a:ext cx="3384550" cy="1095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) 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8139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0113" y="1125538"/>
                  <a:ext cx="3384550" cy="1095375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140" name="Object 13"/>
                <p:cNvSpPr txBox="1"/>
                <p:nvPr/>
              </p:nvSpPr>
              <p:spPr bwMode="auto">
                <a:xfrm>
                  <a:off x="4859338" y="1196975"/>
                  <a:ext cx="3313112" cy="9874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) 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Sup>
                              <m:sSub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8140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59338" y="1196975"/>
                  <a:ext cx="3313112" cy="987425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141" name="Object 25"/>
                <p:cNvSpPr txBox="1"/>
                <p:nvPr/>
              </p:nvSpPr>
              <p:spPr bwMode="auto">
                <a:xfrm>
                  <a:off x="539750" y="476250"/>
                  <a:ext cx="7488238" cy="541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例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  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讨论以下两个计算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  (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) 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的算法的收敛阶。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8141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9750" y="476250"/>
                  <a:ext cx="7488238" cy="541338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5"/>
              <p:cNvSpPr txBox="1"/>
              <p:nvPr/>
            </p:nvSpPr>
            <p:spPr bwMode="auto">
              <a:xfrm>
                <a:off x="3381375" y="2565400"/>
                <a:ext cx="7035800" cy="993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rad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ra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1375" y="2565400"/>
                <a:ext cx="7035800" cy="993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6"/>
              <p:cNvSpPr txBox="1"/>
              <p:nvPr/>
            </p:nvSpPr>
            <p:spPr bwMode="auto">
              <a:xfrm>
                <a:off x="3432175" y="3759200"/>
                <a:ext cx="2722563" cy="936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2175" y="3759200"/>
                <a:ext cx="2722563" cy="936625"/>
              </a:xfrm>
              <a:prstGeom prst="rect">
                <a:avLst/>
              </a:prstGeom>
              <a:blipFill rotWithShape="1">
                <a:blip r:embed="rId5"/>
                <a:stretch>
                  <a:fillRect r="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14"/>
              <p:cNvSpPr txBox="1"/>
              <p:nvPr/>
            </p:nvSpPr>
            <p:spPr bwMode="auto">
              <a:xfrm>
                <a:off x="6672262" y="3975100"/>
                <a:ext cx="2016025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72262" y="3975100"/>
                <a:ext cx="2016025" cy="714375"/>
              </a:xfrm>
              <a:prstGeom prst="rect">
                <a:avLst/>
              </a:prstGeom>
              <a:blipFill rotWithShape="1">
                <a:blip r:embed="rId6"/>
                <a:stretch>
                  <a:fillRect l="-16" r="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15"/>
          <p:cNvSpPr txBox="1">
            <a:spLocks noChangeArrowheads="1"/>
          </p:cNvSpPr>
          <p:nvPr/>
        </p:nvSpPr>
        <p:spPr bwMode="ltGray">
          <a:xfrm>
            <a:off x="2038350" y="2693988"/>
            <a:ext cx="1177925" cy="59055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8B01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008000"/>
                </a:solidFill>
                <a:ea typeface="楷体_GB2312" pitchFamily="49" charset="-122"/>
              </a:rPr>
              <a:t>解：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</a:rPr>
              <a:t>(1)</a:t>
            </a:r>
            <a:endParaRPr lang="zh-CN" altLang="en-US" sz="2400" b="1">
              <a:solidFill>
                <a:schemeClr val="folHlink"/>
              </a:solidFill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16"/>
              <p:cNvSpPr txBox="1"/>
              <p:nvPr/>
            </p:nvSpPr>
            <p:spPr bwMode="auto">
              <a:xfrm>
                <a:off x="3216277" y="5110111"/>
                <a:ext cx="2519362" cy="6080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</a:rPr>
                  <a:t>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6277" y="5110111"/>
                <a:ext cx="2519362" cy="608012"/>
              </a:xfrm>
              <a:prstGeom prst="rect">
                <a:avLst/>
              </a:prstGeom>
              <a:blipFill rotWithShape="1">
                <a:blip r:embed="rId7"/>
                <a:stretch>
                  <a:fillRect t="-44" r="13" b="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7"/>
              <p:cNvSpPr txBox="1"/>
              <p:nvPr/>
            </p:nvSpPr>
            <p:spPr bwMode="auto">
              <a:xfrm>
                <a:off x="6456362" y="4983163"/>
                <a:ext cx="3528069" cy="892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e>
                    </m:d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56362" y="4983163"/>
                <a:ext cx="3528069" cy="892175"/>
              </a:xfrm>
              <a:prstGeom prst="rect">
                <a:avLst/>
              </a:prstGeom>
              <a:blipFill rotWithShape="1">
                <a:blip r:embed="rId8"/>
                <a:stretch>
                  <a:fillRect l="-9" t="-36" r="9" b="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3071813" y="6063605"/>
            <a:ext cx="44422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ea typeface="楷体_GB2312" pitchFamily="49" charset="-122"/>
              </a:rPr>
              <a:t>从而知</a:t>
            </a:r>
            <a:r>
              <a:rPr lang="en-US" altLang="zh-CN" sz="2400" dirty="0">
                <a:ea typeface="楷体_GB2312" pitchFamily="49" charset="-122"/>
              </a:rPr>
              <a:t>(1)</a:t>
            </a:r>
            <a:r>
              <a:rPr lang="zh-CN" altLang="en-US" sz="2400" dirty="0">
                <a:ea typeface="楷体_GB2312" pitchFamily="49" charset="-122"/>
              </a:rPr>
              <a:t>是平方</a:t>
            </a:r>
            <a:r>
              <a:rPr lang="en-US" altLang="zh-CN" sz="2400" dirty="0">
                <a:ea typeface="楷体_GB2312" pitchFamily="49" charset="-122"/>
              </a:rPr>
              <a:t>(</a:t>
            </a:r>
            <a:r>
              <a:rPr lang="zh-CN" altLang="en-US" sz="2400" dirty="0">
                <a:ea typeface="楷体_GB2312" pitchFamily="49" charset="-122"/>
              </a:rPr>
              <a:t>二阶</a:t>
            </a:r>
            <a:r>
              <a:rPr lang="en-US" altLang="zh-CN" sz="2400" dirty="0">
                <a:ea typeface="楷体_GB2312" pitchFamily="49" charset="-122"/>
              </a:rPr>
              <a:t>)</a:t>
            </a:r>
            <a:r>
              <a:rPr lang="zh-CN" altLang="en-US" sz="2400" dirty="0">
                <a:ea typeface="楷体_GB2312" pitchFamily="49" charset="-122"/>
              </a:rPr>
              <a:t>收敛的。</a:t>
            </a:r>
            <a:endParaRPr lang="zh-CN" altLang="en-US" sz="2400" dirty="0"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9154" name="Object 4"/>
              <p:cNvSpPr txBox="1"/>
              <p:nvPr/>
            </p:nvSpPr>
            <p:spPr bwMode="auto">
              <a:xfrm>
                <a:off x="2332038" y="146050"/>
                <a:ext cx="3332162" cy="9636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915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2038" y="146050"/>
                <a:ext cx="3332162" cy="963613"/>
              </a:xfrm>
              <a:prstGeom prst="rect">
                <a:avLst/>
              </a:prstGeom>
              <a:blipFill rotWithShape="1">
                <a:blip r:embed="rId1"/>
                <a:stretch>
                  <a:fillRect l="-10" b="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155" name="Object 6"/>
              <p:cNvSpPr txBox="1"/>
              <p:nvPr/>
            </p:nvSpPr>
            <p:spPr bwMode="auto">
              <a:xfrm>
                <a:off x="6240463" y="476250"/>
                <a:ext cx="1584325" cy="441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915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40463" y="476250"/>
                <a:ext cx="1584325" cy="441325"/>
              </a:xfrm>
              <a:prstGeom prst="rect">
                <a:avLst/>
              </a:prstGeom>
              <a:blipFill rotWithShape="1">
                <a:blip r:embed="rId2"/>
                <a:stretch>
                  <a:fillRect l="-20" r="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19"/>
          <p:cNvGrpSpPr/>
          <p:nvPr/>
        </p:nvGrpSpPr>
        <p:grpSpPr bwMode="auto">
          <a:xfrm>
            <a:off x="2711450" y="1304262"/>
            <a:ext cx="7148513" cy="1192876"/>
            <a:chOff x="1187450" y="1304262"/>
            <a:chExt cx="7148513" cy="1192876"/>
          </a:xfrm>
        </p:grpSpPr>
        <p:sp>
          <p:nvSpPr>
            <p:cNvPr id="49171" name="Rectangle 9"/>
            <p:cNvSpPr>
              <a:spLocks noChangeArrowheads="1"/>
            </p:cNvSpPr>
            <p:nvPr/>
          </p:nvSpPr>
          <p:spPr bwMode="auto">
            <a:xfrm>
              <a:off x="1187450" y="1341438"/>
              <a:ext cx="7148513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cs typeface="Times New Roman" panose="02020603050405020304" pitchFamily="18" charset="0"/>
                </a:rPr>
                <a:t>将             看作由下述方程确定的隐函数</a:t>
              </a:r>
              <a:endParaRPr lang="zh-CN" altLang="en-US" sz="2400"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172" name="Object 13"/>
                <p:cNvSpPr txBox="1"/>
                <p:nvPr/>
              </p:nvSpPr>
              <p:spPr bwMode="auto">
                <a:xfrm>
                  <a:off x="1538982" y="1304262"/>
                  <a:ext cx="1048792" cy="5635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9172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38982" y="1304262"/>
                  <a:ext cx="1048792" cy="563562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173" name="Object 2"/>
                <p:cNvSpPr txBox="1"/>
                <p:nvPr/>
              </p:nvSpPr>
              <p:spPr bwMode="auto">
                <a:xfrm>
                  <a:off x="2339975" y="1916113"/>
                  <a:ext cx="4333875" cy="5810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9173" name="Object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39975" y="1916113"/>
                  <a:ext cx="4333875" cy="581025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20"/>
          <p:cNvGrpSpPr/>
          <p:nvPr/>
        </p:nvGrpSpPr>
        <p:grpSpPr bwMode="auto">
          <a:xfrm>
            <a:off x="2566988" y="2606675"/>
            <a:ext cx="6610350" cy="1101725"/>
            <a:chOff x="1042988" y="2606973"/>
            <a:chExt cx="6610350" cy="11014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164" name="Object 15"/>
                <p:cNvSpPr txBox="1"/>
                <p:nvPr/>
              </p:nvSpPr>
              <p:spPr bwMode="auto">
                <a:xfrm>
                  <a:off x="2195513" y="3213100"/>
                  <a:ext cx="5457825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9164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95513" y="3213100"/>
                  <a:ext cx="5457825" cy="495300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165" name="Rectangle 40"/>
            <p:cNvSpPr>
              <a:spLocks noChangeArrowheads="1"/>
            </p:cNvSpPr>
            <p:nvPr/>
          </p:nvSpPr>
          <p:spPr bwMode="auto">
            <a:xfrm>
              <a:off x="1042988" y="2606973"/>
              <a:ext cx="3186112" cy="46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ea typeface="楷体_GB2312" pitchFamily="49" charset="-122"/>
                </a:rPr>
                <a:t>上式两边对   求导，得</a:t>
              </a:r>
              <a:endParaRPr lang="zh-CN" altLang="en-US" sz="2400">
                <a:ea typeface="楷体_GB2312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166" name="Object 42"/>
                <p:cNvSpPr txBox="1"/>
                <p:nvPr/>
              </p:nvSpPr>
              <p:spPr bwMode="auto">
                <a:xfrm>
                  <a:off x="2526473" y="2623172"/>
                  <a:ext cx="416309" cy="4496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9166" name="Object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26473" y="2623172"/>
                  <a:ext cx="416309" cy="449624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文本框 1"/>
          <p:cNvSpPr txBox="1"/>
          <p:nvPr/>
        </p:nvSpPr>
        <p:spPr>
          <a:xfrm>
            <a:off x="7489964" y="6312500"/>
            <a:ext cx="1415772" cy="473206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b="1" kern="0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三阶收敛</a:t>
            </a:r>
            <a:endParaRPr lang="zh-CN" altLang="en-US" b="1" kern="0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640013" y="3849969"/>
            <a:ext cx="7291387" cy="1248633"/>
            <a:chOff x="2640013" y="3849969"/>
            <a:chExt cx="7291387" cy="1248633"/>
          </a:xfrm>
        </p:grpSpPr>
        <p:grpSp>
          <p:nvGrpSpPr>
            <p:cNvPr id="5" name="组合 21"/>
            <p:cNvGrpSpPr/>
            <p:nvPr/>
          </p:nvGrpSpPr>
          <p:grpSpPr bwMode="auto">
            <a:xfrm>
              <a:off x="2640013" y="3860800"/>
              <a:ext cx="7291387" cy="1237802"/>
              <a:chOff x="1116013" y="3860949"/>
              <a:chExt cx="7291387" cy="1237646"/>
            </a:xfrm>
          </p:grpSpPr>
          <p:sp>
            <p:nvSpPr>
              <p:cNvPr id="49167" name="Rectangle 20"/>
              <p:cNvSpPr>
                <a:spLocks noChangeArrowheads="1"/>
              </p:cNvSpPr>
              <p:nvPr/>
            </p:nvSpPr>
            <p:spPr bwMode="auto">
              <a:xfrm>
                <a:off x="1116013" y="3860949"/>
                <a:ext cx="7291387" cy="4619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>
                    <a:ea typeface="楷体_GB2312" pitchFamily="49" charset="-122"/>
                  </a:rPr>
                  <a:t>从而                      ，上式两边对   求导，得 </a:t>
                </a:r>
                <a:endParaRPr lang="zh-CN" altLang="en-US" sz="2400" dirty="0">
                  <a:ea typeface="楷体_GB2312" pitchFamily="49" charset="-122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168" name="Object 21"/>
                  <p:cNvSpPr txBox="1"/>
                  <p:nvPr/>
                </p:nvSpPr>
                <p:spPr bwMode="auto">
                  <a:xfrm>
                    <a:off x="1979613" y="3890963"/>
                    <a:ext cx="1512887" cy="4476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rmAutofit fontScale="85000" lnSpcReduction="1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ra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49168" name="Object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979613" y="3890963"/>
                    <a:ext cx="1512887" cy="447675"/>
                  </a:xfrm>
                  <a:prstGeom prst="rect">
                    <a:avLst/>
                  </a:prstGeom>
                  <a:blipFill rotWithShape="1">
                    <a:blip r:embed="rId7"/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170" name="Object 27"/>
                  <p:cNvSpPr txBox="1"/>
                  <p:nvPr/>
                </p:nvSpPr>
                <p:spPr bwMode="auto">
                  <a:xfrm>
                    <a:off x="1633538" y="4622345"/>
                    <a:ext cx="5962650" cy="476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rmAutofit fontScale="925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zh-CN" alt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49170" name="Object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633538" y="4622345"/>
                    <a:ext cx="5962650" cy="476250"/>
                  </a:xfrm>
                  <a:prstGeom prst="rect">
                    <a:avLst/>
                  </a:prstGeom>
                  <a:blipFill rotWithShape="1">
                    <a:blip r:embed="rId8"/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Object 42"/>
                <p:cNvSpPr txBox="1"/>
                <p:nvPr/>
              </p:nvSpPr>
              <p:spPr bwMode="auto">
                <a:xfrm>
                  <a:off x="6759193" y="3849969"/>
                  <a:ext cx="416309" cy="4497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7" name="Object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59193" y="3849969"/>
                  <a:ext cx="416309" cy="449746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组合 31"/>
          <p:cNvGrpSpPr/>
          <p:nvPr/>
        </p:nvGrpSpPr>
        <p:grpSpPr>
          <a:xfrm>
            <a:off x="2292796" y="5210859"/>
            <a:ext cx="8267700" cy="960758"/>
            <a:chOff x="2292796" y="5210859"/>
            <a:chExt cx="8267700" cy="960758"/>
          </a:xfrm>
        </p:grpSpPr>
        <p:grpSp>
          <p:nvGrpSpPr>
            <p:cNvPr id="7" name="组合 24"/>
            <p:cNvGrpSpPr/>
            <p:nvPr/>
          </p:nvGrpSpPr>
          <p:grpSpPr bwMode="auto">
            <a:xfrm>
              <a:off x="2292796" y="5210859"/>
              <a:ext cx="8267700" cy="960758"/>
              <a:chOff x="481013" y="5624125"/>
              <a:chExt cx="8267700" cy="960825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160" name="Object 33"/>
                  <p:cNvSpPr txBox="1"/>
                  <p:nvPr/>
                </p:nvSpPr>
                <p:spPr bwMode="auto">
                  <a:xfrm>
                    <a:off x="1884428" y="5624125"/>
                    <a:ext cx="1638300" cy="495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rmAutofit lnSpcReduction="10000"/>
                  </a:bodyPr>
                  <a:lstStyle/>
                  <a:p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p>
                        </m:sSup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US" altLang="zh-CN" dirty="0"/>
                      <a:t>=0</a:t>
                    </a:r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49160" name="Object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884428" y="5624125"/>
                    <a:ext cx="1638300" cy="495300"/>
                  </a:xfrm>
                  <a:prstGeom prst="rect">
                    <a:avLst/>
                  </a:prstGeom>
                  <a:blipFill rotWithShape="1">
                    <a:blip r:embed="rId9"/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9161" name="Object 38"/>
              <p:cNvSpPr txBox="1"/>
              <p:nvPr/>
            </p:nvSpPr>
            <p:spPr bwMode="auto">
              <a:xfrm>
                <a:off x="481013" y="5949950"/>
                <a:ext cx="8267700" cy="63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49162" name="Rectangle 20"/>
              <p:cNvSpPr>
                <a:spLocks noChangeArrowheads="1"/>
              </p:cNvSpPr>
              <p:nvPr/>
            </p:nvSpPr>
            <p:spPr bwMode="auto">
              <a:xfrm>
                <a:off x="1070769" y="5624125"/>
                <a:ext cx="7291388" cy="4619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>
                    <a:ea typeface="楷体_GB2312" pitchFamily="49" charset="-122"/>
                  </a:rPr>
                  <a:t>从而                      ，上式两边对   求导，得 </a:t>
                </a:r>
                <a:endParaRPr lang="zh-CN" altLang="en-US" sz="2400" dirty="0">
                  <a:ea typeface="楷体_GB2312" pitchFamily="49" charset="-122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Object 42"/>
                <p:cNvSpPr txBox="1"/>
                <p:nvPr/>
              </p:nvSpPr>
              <p:spPr bwMode="auto">
                <a:xfrm>
                  <a:off x="6950913" y="5213859"/>
                  <a:ext cx="416309" cy="4497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8" name="Object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50913" y="5213859"/>
                  <a:ext cx="416309" cy="449746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Object 27"/>
              <p:cNvSpPr txBox="1"/>
              <p:nvPr/>
            </p:nvSpPr>
            <p:spPr bwMode="auto">
              <a:xfrm>
                <a:off x="2965214" y="5846423"/>
                <a:ext cx="5962650" cy="4763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9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5214" y="5846423"/>
                <a:ext cx="5962650" cy="476310"/>
              </a:xfrm>
              <a:prstGeom prst="rect">
                <a:avLst/>
              </a:prstGeom>
              <a:blipFill rotWithShape="1">
                <a:blip r:embed="rId10"/>
                <a:stretch>
                  <a:fillRect l="-7" t="-129" r="7" b="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Object 27"/>
              <p:cNvSpPr txBox="1"/>
              <p:nvPr/>
            </p:nvSpPr>
            <p:spPr bwMode="auto">
              <a:xfrm>
                <a:off x="2882552" y="6322733"/>
                <a:ext cx="3501480" cy="4763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0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2552" y="6322733"/>
                <a:ext cx="3501480" cy="476310"/>
              </a:xfrm>
              <a:prstGeom prst="rect">
                <a:avLst/>
              </a:prstGeom>
              <a:blipFill rotWithShape="1">
                <a:blip r:embed="rId11"/>
                <a:stretch>
                  <a:fillRect l="-8" t="-8" r="11" b="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9" grpId="0"/>
      <p:bldP spid="5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814736" y="269846"/>
            <a:ext cx="10825880" cy="1677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+mn-ea"/>
                <a:ea typeface="+mn-ea"/>
              </a:rPr>
              <a:t>例  设                ,要使迭代过程</a:t>
            </a:r>
            <a:endParaRPr lang="zh-CN" altLang="en-US" sz="28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+mn-ea"/>
                <a:ea typeface="+mn-ea"/>
              </a:rPr>
              <a:t>      </a:t>
            </a:r>
            <a:r>
              <a:rPr lang="zh-CN" altLang="en-US" sz="2800" b="1" dirty="0">
                <a:solidFill>
                  <a:srgbClr val="002060"/>
                </a:solidFill>
                <a:latin typeface="+mn-ea"/>
                <a:ea typeface="+mn-ea"/>
              </a:rPr>
              <a:t>局部最快收敛</a:t>
            </a:r>
            <a:r>
              <a:rPr lang="zh-CN" altLang="en-US" sz="2800" b="1" dirty="0">
                <a:solidFill>
                  <a:srgbClr val="000000"/>
                </a:solidFill>
                <a:latin typeface="+mn-ea"/>
                <a:ea typeface="+mn-ea"/>
              </a:rPr>
              <a:t>到       ,求   的取值，并判定收敛阶。</a:t>
            </a:r>
            <a:endParaRPr lang="zh-CN" altLang="en-US" sz="28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+mn-ea"/>
                <a:ea typeface="+mn-ea"/>
              </a:rPr>
              <a:t>    解</a:t>
            </a:r>
            <a:r>
              <a:rPr lang="en-US" altLang="zh-CN" sz="2800" b="1" dirty="0">
                <a:solidFill>
                  <a:srgbClr val="7030A0"/>
                </a:solidFill>
                <a:latin typeface="+mn-ea"/>
                <a:ea typeface="+mn-ea"/>
              </a:rPr>
              <a:t>:</a:t>
            </a:r>
            <a:endParaRPr lang="zh-CN" altLang="en-US" sz="2800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 bwMode="auto">
              <a:xfrm>
                <a:off x="1754107" y="339365"/>
                <a:ext cx="3355777" cy="62564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4107" y="339365"/>
                <a:ext cx="3355777" cy="625643"/>
              </a:xfrm>
              <a:prstGeom prst="rect">
                <a:avLst/>
              </a:prstGeom>
              <a:blipFill rotWithShape="1">
                <a:blip r:embed="rId1"/>
                <a:stretch>
                  <a:fillRect l="-7" t="-44" r="1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5"/>
              <p:cNvSpPr txBox="1"/>
              <p:nvPr/>
            </p:nvSpPr>
            <p:spPr bwMode="auto">
              <a:xfrm>
                <a:off x="7044526" y="339365"/>
                <a:ext cx="2376264" cy="5508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44526" y="339365"/>
                <a:ext cx="2376264" cy="550863"/>
              </a:xfrm>
              <a:prstGeom prst="rect">
                <a:avLst/>
              </a:prstGeom>
              <a:blipFill rotWithShape="1">
                <a:blip r:embed="rId2"/>
                <a:stretch>
                  <a:fillRect l="-20" t="-50" r="24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7"/>
              <p:cNvSpPr txBox="1"/>
              <p:nvPr/>
            </p:nvSpPr>
            <p:spPr bwMode="auto">
              <a:xfrm>
                <a:off x="4408488" y="849755"/>
                <a:ext cx="1295400" cy="5508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08488" y="849755"/>
                <a:ext cx="1295400" cy="550863"/>
              </a:xfrm>
              <a:prstGeom prst="rect">
                <a:avLst/>
              </a:prstGeom>
              <a:blipFill rotWithShape="1">
                <a:blip r:embed="rId3"/>
                <a:stretch>
                  <a:fillRect l="-25" t="-23" r="25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9"/>
              <p:cNvSpPr txBox="1"/>
              <p:nvPr/>
            </p:nvSpPr>
            <p:spPr bwMode="auto">
              <a:xfrm>
                <a:off x="6158310" y="870038"/>
                <a:ext cx="740774" cy="5508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8310" y="870038"/>
                <a:ext cx="740774" cy="550863"/>
              </a:xfrm>
              <a:prstGeom prst="rect">
                <a:avLst/>
              </a:prstGeom>
              <a:blipFill rotWithShape="1">
                <a:blip r:embed="rId4"/>
                <a:stretch>
                  <a:fillRect l="-11" t="-16" r="60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11"/>
              <p:cNvSpPr txBox="1"/>
              <p:nvPr/>
            </p:nvSpPr>
            <p:spPr bwMode="auto">
              <a:xfrm>
                <a:off x="2110648" y="1420901"/>
                <a:ext cx="4512132" cy="87649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10648" y="1420901"/>
                <a:ext cx="4512132" cy="876492"/>
              </a:xfrm>
              <a:prstGeom prst="rect">
                <a:avLst/>
              </a:prstGeom>
              <a:blipFill rotWithShape="1">
                <a:blip r:embed="rId5"/>
                <a:stretch>
                  <a:fillRect l="-12" t="-46" r="8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13"/>
              <p:cNvSpPr txBox="1"/>
              <p:nvPr/>
            </p:nvSpPr>
            <p:spPr bwMode="auto">
              <a:xfrm>
                <a:off x="2233010" y="2571956"/>
                <a:ext cx="3532584" cy="58273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3010" y="2571956"/>
                <a:ext cx="3532584" cy="582732"/>
              </a:xfrm>
              <a:prstGeom prst="rect">
                <a:avLst/>
              </a:prstGeom>
              <a:blipFill rotWithShape="1">
                <a:blip r:embed="rId6"/>
                <a:stretch>
                  <a:fillRect l="-10" t="-35" r="12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2461320" y="3026024"/>
            <a:ext cx="7532712" cy="490519"/>
            <a:chOff x="2957182" y="2516131"/>
            <a:chExt cx="7532712" cy="490519"/>
          </a:xfrm>
        </p:grpSpPr>
        <p:sp>
          <p:nvSpPr>
            <p:cNvPr id="10" name="矩形 9"/>
            <p:cNvSpPr/>
            <p:nvPr/>
          </p:nvSpPr>
          <p:spPr>
            <a:xfrm>
              <a:off x="2957182" y="2516131"/>
              <a:ext cx="7532712" cy="4905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  <a:spcBef>
                  <a:spcPct val="5000"/>
                </a:spcBef>
              </a:pPr>
              <a:r>
                <a:rPr lang="zh-CN" altLang="en-US" b="1" dirty="0">
                  <a:solidFill>
                    <a:srgbClr val="000000"/>
                  </a:solidFill>
                  <a:latin typeface="+mn-ea"/>
                </a:rPr>
                <a:t>由在根        邻域具有局部收敛性时, 收敛条件 </a:t>
              </a:r>
              <a:endParaRPr lang="zh-CN" altLang="en-US" b="1" dirty="0">
                <a:solidFill>
                  <a:srgbClr val="000000"/>
                </a:solidFill>
                <a:latin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Object 15"/>
                <p:cNvSpPr txBox="1"/>
                <p:nvPr/>
              </p:nvSpPr>
              <p:spPr bwMode="auto">
                <a:xfrm>
                  <a:off x="3627834" y="2521656"/>
                  <a:ext cx="1971120" cy="479468"/>
                </a:xfrm>
                <a:prstGeom prst="rect">
                  <a:avLst/>
                </a:prstGeom>
                <a:noFill/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1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27834" y="2521656"/>
                  <a:ext cx="1971120" cy="479468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7"/>
              <p:cNvSpPr txBox="1"/>
              <p:nvPr/>
            </p:nvSpPr>
            <p:spPr bwMode="auto">
              <a:xfrm>
                <a:off x="2459425" y="3601363"/>
                <a:ext cx="3698885" cy="9271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9425" y="3601363"/>
                <a:ext cx="3698885" cy="927112"/>
              </a:xfrm>
              <a:prstGeom prst="rect">
                <a:avLst/>
              </a:prstGeom>
              <a:blipFill rotWithShape="1">
                <a:blip r:embed="rId8"/>
                <a:stretch>
                  <a:fillRect l="-2" t="-30" r="2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2383683" y="4075740"/>
            <a:ext cx="4218855" cy="914400"/>
            <a:chOff x="2432675" y="4149897"/>
            <a:chExt cx="4218855" cy="914400"/>
          </a:xfrm>
        </p:grpSpPr>
        <p:sp>
          <p:nvSpPr>
            <p:cNvPr id="16" name="Text Box 23"/>
            <p:cNvSpPr txBox="1">
              <a:spLocks noChangeArrowheads="1"/>
            </p:cNvSpPr>
            <p:nvPr/>
          </p:nvSpPr>
          <p:spPr bwMode="auto">
            <a:xfrm>
              <a:off x="2432675" y="4376265"/>
              <a:ext cx="12954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00"/>
                  </a:solidFill>
                  <a:latin typeface="+mn-ea"/>
                  <a:ea typeface="+mn-ea"/>
                </a:rPr>
                <a:t>所以</a:t>
              </a:r>
              <a:r>
                <a:rPr lang="zh-CN" altLang="en-US" dirty="0">
                  <a:latin typeface="+mn-ea"/>
                  <a:ea typeface="+mn-ea"/>
                </a:rPr>
                <a:t> </a:t>
              </a:r>
              <a:endParaRPr lang="zh-CN" altLang="en-US" dirty="0">
                <a:latin typeface="+mn-ea"/>
                <a:ea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Object 24"/>
                <p:cNvSpPr txBox="1"/>
                <p:nvPr/>
              </p:nvSpPr>
              <p:spPr bwMode="auto">
                <a:xfrm>
                  <a:off x="3374930" y="4149897"/>
                  <a:ext cx="3276600" cy="914400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7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74930" y="4149897"/>
                  <a:ext cx="3276600" cy="91440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13"/>
              <p:cNvSpPr txBox="1"/>
              <p:nvPr/>
            </p:nvSpPr>
            <p:spPr bwMode="auto">
              <a:xfrm>
                <a:off x="2390402" y="6199235"/>
                <a:ext cx="7089973" cy="598614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     所以收敛是二阶。</a:t>
                </a:r>
                <a:endParaRPr lang="zh-CN" altLang="en-US" dirty="0"/>
              </a:p>
            </p:txBody>
          </p:sp>
        </mc:Choice>
        <mc:Fallback>
          <p:sp>
            <p:nvSpPr>
              <p:cNvPr id="18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0402" y="6199235"/>
                <a:ext cx="7089973" cy="598614"/>
              </a:xfrm>
              <a:prstGeom prst="rect">
                <a:avLst/>
              </a:prstGeom>
              <a:blipFill rotWithShape="1">
                <a:blip r:embed="rId10"/>
                <a:stretch>
                  <a:fillRect l="-4" t="-61" r="6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/>
          <p:cNvGrpSpPr/>
          <p:nvPr/>
        </p:nvGrpSpPr>
        <p:grpSpPr>
          <a:xfrm>
            <a:off x="1661713" y="5521479"/>
            <a:ext cx="8487082" cy="579595"/>
            <a:chOff x="986452" y="5938837"/>
            <a:chExt cx="8487082" cy="5795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对象 19"/>
                <p:cNvSpPr txBox="1"/>
                <p:nvPr/>
              </p:nvSpPr>
              <p:spPr>
                <a:xfrm>
                  <a:off x="986452" y="5997445"/>
                  <a:ext cx="4789868" cy="46166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根据收敛阶定理：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</m:oMath>
                    </m:oMathPara>
                  </a14:m>
                  <a:endParaRPr lang="zh-CN" alt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20" name="对象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452" y="5997445"/>
                  <a:ext cx="4789868" cy="461665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对象 20"/>
                <p:cNvSpPr txBox="1"/>
                <p:nvPr/>
              </p:nvSpPr>
              <p:spPr>
                <a:xfrm>
                  <a:off x="5776319" y="5938837"/>
                  <a:ext cx="1773822" cy="500063"/>
                </a:xfrm>
                <a:prstGeom prst="rect">
                  <a:avLst/>
                </a:prstGeom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1" name="对象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6319" y="5938837"/>
                  <a:ext cx="1773822" cy="500063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8093862" y="6062602"/>
                  <a:ext cx="1379672" cy="4558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algn="ctr">
                    <a:lnSpc>
                      <a:spcPts val="3200"/>
                    </a:lnSpc>
                    <a:spcBef>
                      <a:spcPct val="20000"/>
                    </a:spcBef>
                    <a:buFont typeface="Wingdings" panose="05000000000000000000" pitchFamily="2" charset="2"/>
                    <a:buNone/>
                  </a:pPr>
                  <a14:m>
                    <m:oMath xmlns:m="http://schemas.openxmlformats.org/officeDocument/2006/math">
                      <m:r>
                        <a:rPr lang="zh-CN" altLang="en-US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∴</m:t>
                      </m:r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𝑎</m:t>
                      </m:r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zh-CN" altLang="en-US" kern="0" dirty="0">
                      <a:solidFill>
                        <a:schemeClr val="tx1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 </a:t>
                  </a:r>
                  <a:endParaRPr lang="zh-CN" altLang="en-US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3862" y="6062602"/>
                  <a:ext cx="1379672" cy="455830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11"/>
              <p:cNvSpPr txBox="1"/>
              <p:nvPr/>
            </p:nvSpPr>
            <p:spPr bwMode="auto">
              <a:xfrm>
                <a:off x="2783632" y="1966344"/>
                <a:ext cx="9192652" cy="6056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</a:rPr>
                  <a:t>由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于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ad>
                      <m:radPr>
                        <m:degHide m:val="on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则对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于</m:t>
                    </m:r>
                    <m:r>
                      <a:rPr lang="zh-CN" alt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任何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ad>
                      <m:radPr>
                        <m:degHide m:val="on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都</m:t>
                    </m:r>
                  </m:oMath>
                </a14:m>
                <a:r>
                  <a:rPr lang="zh-CN" altLang="en-US" dirty="0"/>
                  <a:t>为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不动点</a:t>
                </a:r>
                <a:endParaRPr lang="zh-CN" altLang="en-US" dirty="0"/>
              </a:p>
            </p:txBody>
          </p:sp>
        </mc:Choice>
        <mc:Fallback>
          <p:sp>
            <p:nvSpPr>
              <p:cNvPr id="2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3632" y="1966344"/>
                <a:ext cx="9192652" cy="605612"/>
              </a:xfrm>
              <a:prstGeom prst="rect">
                <a:avLst/>
              </a:prstGeom>
              <a:blipFill rotWithShape="1">
                <a:blip r:embed="rId14"/>
                <a:stretch>
                  <a:fillRect l="-5" t="-63" r="2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2390403" y="4848593"/>
            <a:ext cx="92502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即只要 </a:t>
            </a:r>
            <a:r>
              <a:rPr lang="en-US" altLang="zh-CN" i="1" dirty="0">
                <a:solidFill>
                  <a:srgbClr val="0F1115"/>
                </a:solidFill>
                <a:latin typeface="KaTeX_Math"/>
              </a:rPr>
              <a:t>α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 在这个开区间内，迭代法就是局部收敛的（线性收敛）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 bwMode="auto">
          <a:xfrm>
            <a:off x="1199456" y="1420901"/>
            <a:ext cx="9937104" cy="5248459"/>
          </a:xfrm>
          <a:prstGeom prst="rect">
            <a:avLst/>
          </a:prstGeom>
          <a:noFill/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8" grpId="0"/>
      <p:bldP spid="23" grpId="0"/>
      <p:bldP spid="1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983432" y="548680"/>
            <a:ext cx="9937104" cy="5248459"/>
          </a:xfrm>
          <a:prstGeom prst="rect">
            <a:avLst/>
          </a:prstGeom>
          <a:noFill/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34705" y="764704"/>
            <a:ext cx="1107996" cy="473206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推广：</a:t>
            </a:r>
            <a:endParaRPr lang="zh-CN" altLang="en-US" kern="0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31504" y="908720"/>
            <a:ext cx="5913735" cy="1233229"/>
            <a:chOff x="2495550" y="2420938"/>
            <a:chExt cx="5913735" cy="1233229"/>
          </a:xfrm>
        </p:grpSpPr>
        <p:sp>
          <p:nvSpPr>
            <p:cNvPr id="5" name="矩形 15"/>
            <p:cNvSpPr>
              <a:spLocks noChangeArrowheads="1"/>
            </p:cNvSpPr>
            <p:nvPr/>
          </p:nvSpPr>
          <p:spPr bwMode="auto">
            <a:xfrm>
              <a:off x="2495550" y="2420938"/>
              <a:ext cx="184731" cy="5799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indent="-53340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lvl="1">
                <a:lnSpc>
                  <a:spcPct val="150000"/>
                </a:lnSpc>
                <a:buFontTx/>
                <a:buNone/>
              </a:pPr>
              <a:endParaRPr lang="en-US" altLang="zh-CN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6" name="Object 10"/>
            <p:cNvGraphicFramePr>
              <a:graphicFrameLocks noChangeAspect="1"/>
            </p:cNvGraphicFramePr>
            <p:nvPr/>
          </p:nvGraphicFramePr>
          <p:xfrm>
            <a:off x="3935710" y="2573079"/>
            <a:ext cx="4473575" cy="1081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921" name="Equation" r:id="rId1" imgW="32918400" imgH="7896225" progId="Equation.DSMT4">
                    <p:embed/>
                  </p:oleObj>
                </mc:Choice>
                <mc:Fallback>
                  <p:oleObj name="Equation" r:id="rId1" imgW="32918400" imgH="7896225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5710" y="2573079"/>
                          <a:ext cx="4473575" cy="10810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13"/>
              <p:cNvSpPr txBox="1"/>
              <p:nvPr/>
            </p:nvSpPr>
            <p:spPr bwMode="auto">
              <a:xfrm>
                <a:off x="2711624" y="2583608"/>
                <a:ext cx="3532584" cy="58273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′(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/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1624" y="2583608"/>
                <a:ext cx="3532584" cy="582732"/>
              </a:xfrm>
              <a:prstGeom prst="rect">
                <a:avLst/>
              </a:prstGeom>
              <a:blipFill rotWithShape="1">
                <a:blip r:embed="rId3"/>
                <a:stretch>
                  <a:fillRect l="-5" t="-73" r="7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2642701" y="3286692"/>
                <a:ext cx="392652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要最快收敛，则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)|=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701" y="3286692"/>
                <a:ext cx="3926524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12" t="-123" r="4" b="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2642701" y="3975922"/>
                <a:ext cx="2768002" cy="4932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′(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/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701" y="3975922"/>
                <a:ext cx="2768002" cy="493277"/>
              </a:xfrm>
              <a:prstGeom prst="rect">
                <a:avLst/>
              </a:prstGeom>
              <a:blipFill rotWithShape="1">
                <a:blip r:embed="rId5"/>
                <a:stretch>
                  <a:fillRect l="-17" t="-38" r="18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箭头: 右 10"/>
          <p:cNvSpPr/>
          <p:nvPr/>
        </p:nvSpPr>
        <p:spPr bwMode="auto">
          <a:xfrm>
            <a:off x="5524128" y="4067411"/>
            <a:ext cx="720080" cy="24663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6459290" y="3851070"/>
                <a:ext cx="2123081" cy="8517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′(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290" y="3851070"/>
                <a:ext cx="2123081" cy="851708"/>
              </a:xfrm>
              <a:prstGeom prst="rect">
                <a:avLst/>
              </a:prstGeom>
              <a:blipFill rotWithShape="1">
                <a:blip r:embed="rId6"/>
                <a:stretch>
                  <a:fillRect l="-3" t="-50" r="16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2711624" y="4930343"/>
                <a:ext cx="5108706" cy="861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故迭代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公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变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′(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4" y="4930343"/>
                <a:ext cx="5108706" cy="861326"/>
              </a:xfrm>
              <a:prstGeom prst="rect">
                <a:avLst/>
              </a:prstGeom>
              <a:blipFill rotWithShape="1">
                <a:blip r:embed="rId7"/>
                <a:stretch>
                  <a:fillRect l="-3" t="-24" r="6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5265977" y="5899852"/>
            <a:ext cx="3096344" cy="473206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牛顿迭代法</a:t>
            </a:r>
            <a:endParaRPr lang="zh-CN" altLang="en-US" kern="0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10" grpId="0"/>
      <p:bldP spid="11" grpId="0" animBg="1"/>
      <p:bldP spid="12" grpId="0"/>
      <p:bldP spid="13" grpId="0"/>
      <p:bldP spid="1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矩形 1"/>
          <p:cNvSpPr>
            <a:spLocks noChangeArrowheads="1"/>
          </p:cNvSpPr>
          <p:nvPr/>
        </p:nvSpPr>
        <p:spPr bwMode="auto">
          <a:xfrm>
            <a:off x="2135188" y="260350"/>
            <a:ext cx="4572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660066"/>
                </a:solidFill>
              </a:rPr>
              <a:t>3.4.6 </a:t>
            </a:r>
            <a:r>
              <a:rPr lang="zh-CN" altLang="en-US" sz="2400" b="1" dirty="0">
                <a:solidFill>
                  <a:srgbClr val="660066"/>
                </a:solidFill>
              </a:rPr>
              <a:t>迭代收敛的加速</a:t>
            </a:r>
            <a:br>
              <a:rPr lang="zh-CN" altLang="en-US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）松弛法（加权法）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179" name="Object 22"/>
              <p:cNvSpPr txBox="1"/>
              <p:nvPr/>
            </p:nvSpPr>
            <p:spPr bwMode="auto">
              <a:xfrm>
                <a:off x="1810644" y="1577132"/>
                <a:ext cx="9793088" cy="52808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对由简单迭代法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１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所产生的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为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与</m:t>
                          </m:r>
                        </m:e>
                        <m:sub/>
                      </m:sSub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之间的某一个点</m:t>
                      </m:r>
                    </m:oMath>
                  </m:oMathPara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den>
                      </m:f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记为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)   ,  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则有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den>
                      </m:f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den>
                      </m:f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den>
                      </m:f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den>
                      </m:f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0179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0644" y="1577132"/>
                <a:ext cx="9793088" cy="5280868"/>
              </a:xfrm>
              <a:prstGeom prst="rect">
                <a:avLst/>
              </a:prstGeom>
              <a:blipFill rotWithShape="1">
                <a:blip r:embed="rId1"/>
                <a:stretch>
                  <a:fillRect l="-3" t="-8" r="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180" name="爆炸形 1 1"/>
          <p:cNvSpPr>
            <a:spLocks noChangeArrowheads="1"/>
          </p:cNvSpPr>
          <p:nvPr/>
        </p:nvSpPr>
        <p:spPr bwMode="auto">
          <a:xfrm>
            <a:off x="431800" y="1844675"/>
            <a:ext cx="2135188" cy="1368425"/>
          </a:xfrm>
          <a:prstGeom prst="irregularSeal1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/>
              <a:t>拉格朗日中值定理</a:t>
            </a:r>
            <a:endParaRPr lang="zh-CN" altLang="en-US" sz="1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5735960" y="406967"/>
                <a:ext cx="6300827" cy="906915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  <a:ln w="1905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中值</m:t>
                      </m:r>
                      <m:r>
                        <a:rPr lang="zh-CN" altLang="en-US" sz="280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定</m:t>
                      </m:r>
                      <m:r>
                        <a:rPr lang="zh-CN" altLang="en-US" sz="280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理</m:t>
                      </m:r>
                      <m:r>
                        <a:rPr lang="zh-CN" altLang="en-US" sz="280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：</m:t>
                      </m:r>
                      <m:r>
                        <a:rPr lang="zh-CN" altLang="en-US" sz="280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𝜑</m:t>
                      </m:r>
                      <m:d>
                        <m:dPr>
                          <m:ctrlP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zh-CN" altLang="en-US" sz="280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𝜑</m:t>
                      </m:r>
                      <m:d>
                        <m:dPr>
                          <m:ctrlPr>
                            <a:rPr lang="en-US" altLang="zh-CN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−</m:t>
                      </m:r>
                      <m:r>
                        <a:rPr lang="zh-CN" altLang="en-US" sz="280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𝜑</m:t>
                      </m:r>
                      <m:r>
                        <a:rPr lang="en-US" altLang="zh-CN" sz="28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)</m:t>
                      </m:r>
                    </m:oMath>
                  </m:oMathPara>
                </a14:m>
                <a:endParaRPr lang="en-US" altLang="zh-CN" sz="2800" i="1" kern="0" dirty="0">
                  <a:solidFill>
                    <a:srgbClr val="FF0000"/>
                  </a:solidFill>
                  <a:latin typeface="Cambria Math" panose="02040503050406030204" pitchFamily="18" charset="0"/>
                  <a:ea typeface="华文中宋" panose="02010600040101010101" pitchFamily="2" charset="-122"/>
                </a:endParaRPr>
              </a:p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zh-CN" altLang="en-US" sz="2800" i="1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𝜑</m:t>
                    </m:r>
                    <m:r>
                      <a:rPr lang="en-US" altLang="zh-CN" sz="2800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′</m:t>
                    </m:r>
                    <m:d>
                      <m:dPr>
                        <m:ctrlPr>
                          <a:rPr lang="en-US" altLang="zh-CN" sz="28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zh-CN" altLang="en-US" sz="280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𝜉</m:t>
                        </m:r>
                      </m:e>
                    </m:d>
                    <m:sSub>
                      <m:sSubPr>
                        <m:ctrlPr>
                          <a:rPr lang="en-US" altLang="zh-CN" sz="28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(</m:t>
                        </m:r>
                        <m:r>
                          <a:rPr lang="en-US" altLang="zh-CN" sz="2800" b="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8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800" kern="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8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∗</m:t>
                        </m:r>
                      </m:sup>
                    </m:sSup>
                    <m:r>
                      <a:rPr lang="en-US" altLang="zh-CN" sz="2800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)</m:t>
                    </m:r>
                  </m:oMath>
                </a14:m>
                <a:endParaRPr lang="en-US" altLang="zh-CN" sz="2800" kern="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406967"/>
                <a:ext cx="6300827" cy="906915"/>
              </a:xfrm>
              <a:prstGeom prst="rect">
                <a:avLst/>
              </a:prstGeom>
              <a:blipFill rotWithShape="1">
                <a:blip r:embed="rId2"/>
                <a:stretch>
                  <a:fillRect l="-151" t="-4264" r="-145" b="-1043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2279650" y="404813"/>
            <a:ext cx="3810000" cy="4114800"/>
          </a:xfrm>
          <a:prstGeom prst="rect">
            <a:avLst/>
          </a:prstGeom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zh-CN" altLang="en-US" sz="2800" kern="0">
                <a:latin typeface="+mn-lt"/>
                <a:ea typeface="+mn-ea"/>
              </a:rPr>
              <a:t>　　　　　　　　　　　　</a:t>
            </a:r>
            <a:endParaRPr lang="zh-CN" altLang="en-US" sz="2800" kern="0">
              <a:latin typeface="+mn-lt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203" name="Object 6"/>
              <p:cNvSpPr txBox="1"/>
              <p:nvPr/>
            </p:nvSpPr>
            <p:spPr bwMode="auto">
              <a:xfrm>
                <a:off x="2254472" y="3385401"/>
                <a:ext cx="8267178" cy="2638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＝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) </m:t>
                                  </m:r>
                                </m:den>
                              </m:f>
                            </m:e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＝（１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）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＋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 ...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1203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4472" y="3385401"/>
                <a:ext cx="8267178" cy="2638425"/>
              </a:xfrm>
              <a:prstGeom prst="rect">
                <a:avLst/>
              </a:prstGeom>
              <a:blipFill rotWithShape="1">
                <a:blip r:embed="rId1"/>
                <a:stretch>
                  <a:fillRect l="-3" t="-8" r="4" b="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204" name="Object 5"/>
              <p:cNvSpPr txBox="1"/>
              <p:nvPr/>
            </p:nvSpPr>
            <p:spPr bwMode="auto">
              <a:xfrm>
                <a:off x="1886909" y="5765744"/>
                <a:ext cx="4976482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其中，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称为松弛因子。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120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6909" y="5765744"/>
                <a:ext cx="4976482" cy="454025"/>
              </a:xfrm>
              <a:prstGeom prst="rect">
                <a:avLst/>
              </a:prstGeom>
              <a:blipFill rotWithShape="1">
                <a:blip r:embed="rId2"/>
                <a:stretch>
                  <a:fillRect l="-7" t="-128" r="6" b="1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05" name="矩形 4"/>
          <p:cNvSpPr>
            <a:spLocks noChangeArrowheads="1"/>
          </p:cNvSpPr>
          <p:nvPr/>
        </p:nvSpPr>
        <p:spPr bwMode="auto">
          <a:xfrm>
            <a:off x="2640013" y="549275"/>
            <a:ext cx="3878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一般考虑       是可变的，若</a:t>
            </a:r>
            <a:endParaRPr lang="zh-CN" alt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206" name="Object 3"/>
              <p:cNvSpPr txBox="1"/>
              <p:nvPr/>
            </p:nvSpPr>
            <p:spPr bwMode="auto">
              <a:xfrm>
                <a:off x="5735638" y="1052513"/>
                <a:ext cx="2595562" cy="536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)≠−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１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1206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35638" y="1052513"/>
                <a:ext cx="2595562" cy="536575"/>
              </a:xfrm>
              <a:prstGeom prst="rect">
                <a:avLst/>
              </a:prstGeom>
              <a:blipFill rotWithShape="1">
                <a:blip r:embed="rId3"/>
                <a:stretch>
                  <a:fillRect l="-12" t="-59" b="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07" name="矩形 6"/>
          <p:cNvSpPr>
            <a:spLocks noChangeArrowheads="1"/>
          </p:cNvSpPr>
          <p:nvPr/>
        </p:nvSpPr>
        <p:spPr bwMode="auto">
          <a:xfrm>
            <a:off x="2495550" y="1628775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则可令</a:t>
            </a:r>
            <a:endParaRPr lang="zh-CN" alt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208" name="Object 4"/>
              <p:cNvSpPr txBox="1"/>
              <p:nvPr/>
            </p:nvSpPr>
            <p:spPr bwMode="auto">
              <a:xfrm>
                <a:off x="4079875" y="1628775"/>
                <a:ext cx="1700213" cy="10144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＝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120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9875" y="1628775"/>
                <a:ext cx="1700213" cy="1014413"/>
              </a:xfrm>
              <a:prstGeom prst="rect">
                <a:avLst/>
              </a:prstGeom>
              <a:blipFill rotWithShape="1">
                <a:blip r:embed="rId4"/>
                <a:stretch>
                  <a:fillRect r="19" b="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09" name="矩形 8"/>
          <p:cNvSpPr>
            <a:spLocks noChangeArrowheads="1"/>
          </p:cNvSpPr>
          <p:nvPr/>
        </p:nvSpPr>
        <p:spPr bwMode="auto">
          <a:xfrm>
            <a:off x="2566988" y="2781300"/>
            <a:ext cx="3262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构造如下的迭代公式：</a:t>
            </a:r>
            <a:endParaRPr lang="zh-CN" alt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210" name="Object 10"/>
              <p:cNvSpPr txBox="1"/>
              <p:nvPr/>
            </p:nvSpPr>
            <p:spPr bwMode="auto">
              <a:xfrm>
                <a:off x="4048125" y="574675"/>
                <a:ext cx="327025" cy="4175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12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48125" y="574675"/>
                <a:ext cx="327025" cy="417513"/>
              </a:xfrm>
              <a:prstGeom prst="rect">
                <a:avLst/>
              </a:prstGeom>
              <a:blipFill rotWithShape="1">
                <a:blip r:embed="rId5"/>
                <a:stretch>
                  <a:fillRect b="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208213" y="404813"/>
            <a:ext cx="387667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en-US" dirty="0">
                <a:latin typeface="宋体" panose="02010600030101010101" pitchFamily="2" charset="-122"/>
              </a:rPr>
              <a:t>埃特金</a:t>
            </a:r>
            <a:r>
              <a:rPr lang="zh-CN" altLang="en-US" dirty="0">
                <a:latin typeface="+mn-lt"/>
              </a:rPr>
              <a:t>（</a:t>
            </a:r>
            <a:r>
              <a:rPr lang="en-US" altLang="zh-CN" dirty="0" err="1">
                <a:latin typeface="+mn-lt"/>
              </a:rPr>
              <a:t>Aitken</a:t>
            </a:r>
            <a:r>
              <a:rPr lang="en-US" altLang="zh-CN" dirty="0">
                <a:latin typeface="+mn-lt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方法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251" name="Object 9"/>
              <p:cNvSpPr txBox="1"/>
              <p:nvPr/>
            </p:nvSpPr>
            <p:spPr bwMode="auto">
              <a:xfrm>
                <a:off x="1127448" y="1072356"/>
                <a:ext cx="10153128" cy="958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对由简单迭代法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１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所产生的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记为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:  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325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7448" y="1072356"/>
                <a:ext cx="10153128" cy="958850"/>
              </a:xfrm>
              <a:prstGeom prst="rect">
                <a:avLst/>
              </a:prstGeom>
              <a:blipFill rotWithShape="1">
                <a:blip r:embed="rId1"/>
                <a:stretch>
                  <a:fillRect l="-3" t="-50" r="4" b="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252" name="Object 11"/>
              <p:cNvSpPr txBox="1"/>
              <p:nvPr/>
            </p:nvSpPr>
            <p:spPr bwMode="auto">
              <a:xfrm>
                <a:off x="3719513" y="1857375"/>
                <a:ext cx="2087562" cy="13128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) 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3252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9513" y="1857375"/>
                <a:ext cx="2087562" cy="1312863"/>
              </a:xfrm>
              <a:prstGeom prst="rect">
                <a:avLst/>
              </a:prstGeom>
              <a:blipFill rotWithShape="1">
                <a:blip r:embed="rId2"/>
                <a:stretch>
                  <a:fillRect l="-15" b="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253" name="Object 12"/>
              <p:cNvSpPr txBox="1"/>
              <p:nvPr/>
            </p:nvSpPr>
            <p:spPr bwMode="auto">
              <a:xfrm>
                <a:off x="3724275" y="3286125"/>
                <a:ext cx="4086225" cy="13128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１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) 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3253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24275" y="3286125"/>
                <a:ext cx="4086225" cy="1312863"/>
              </a:xfrm>
              <a:prstGeom prst="rect">
                <a:avLst/>
              </a:prstGeom>
              <a:blipFill rotWithShape="1">
                <a:blip r:embed="rId3"/>
                <a:stretch>
                  <a:fillRect b="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254" name="Object 7"/>
              <p:cNvSpPr txBox="1"/>
              <p:nvPr/>
            </p:nvSpPr>
            <p:spPr bwMode="auto">
              <a:xfrm>
                <a:off x="3711575" y="5330825"/>
                <a:ext cx="3670300" cy="13128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１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≈−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≈−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) 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3254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1575" y="5330825"/>
                <a:ext cx="3670300" cy="1312863"/>
              </a:xfrm>
              <a:prstGeom prst="rect">
                <a:avLst/>
              </a:prstGeom>
              <a:blipFill rotWithShape="1">
                <a:blip r:embed="rId4"/>
                <a:stretch>
                  <a:fillRect b="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256" name="下箭头 7"/>
          <p:cNvSpPr>
            <a:spLocks noChangeArrowheads="1"/>
          </p:cNvSpPr>
          <p:nvPr/>
        </p:nvSpPr>
        <p:spPr bwMode="auto">
          <a:xfrm>
            <a:off x="5095875" y="4714875"/>
            <a:ext cx="285750" cy="4286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5889270" y="4714875"/>
                <a:ext cx="3600858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ts val="3200"/>
                  </a:lnSpc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sz="320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</m:e>
                        <m:sup>
                          <m:r>
                            <a:rPr lang="en-US" altLang="zh-CN" sz="3200" b="0" i="0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32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altLang="zh-CN" sz="32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ξ</m:t>
                          </m:r>
                        </m:e>
                      </m:d>
                      <m:r>
                        <a:rPr lang="en-US" altLang="zh-CN" sz="32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altLang="zh-CN" sz="32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2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</m:e>
                        <m:sup>
                          <m:r>
                            <a:rPr lang="en-US" altLang="zh-CN" sz="32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32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zh-CN" altLang="el-GR" sz="320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en-US" altLang="zh-CN" sz="320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sz="32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altLang="zh-CN" sz="320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zh-CN" altLang="en-US" sz="3600" kern="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270" y="4714875"/>
                <a:ext cx="3600858" cy="410369"/>
              </a:xfrm>
              <a:prstGeom prst="rect">
                <a:avLst/>
              </a:prstGeom>
              <a:blipFill rotWithShape="1">
                <a:blip r:embed="rId5"/>
                <a:stretch>
                  <a:fillRect l="-8" t="-6499" r="-3913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 txBox="1">
            <a:spLocks noChangeArrowheads="1"/>
          </p:cNvSpPr>
          <p:nvPr/>
        </p:nvSpPr>
        <p:spPr bwMode="auto">
          <a:xfrm>
            <a:off x="2706688" y="1946275"/>
            <a:ext cx="38100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</a:t>
            </a:r>
            <a:endParaRPr lang="en-US" altLang="zh-CN" sz="2800"/>
          </a:p>
        </p:txBody>
      </p:sp>
      <p:graphicFrame>
        <p:nvGraphicFramePr>
          <p:cNvPr id="55299" name="Object 6"/>
          <p:cNvGraphicFramePr>
            <a:graphicFrameLocks noChangeAspect="1"/>
          </p:cNvGraphicFramePr>
          <p:nvPr/>
        </p:nvGraphicFramePr>
        <p:xfrm>
          <a:off x="2566555" y="1632109"/>
          <a:ext cx="5130800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48" name="Equation" r:id="rId1" imgW="37738050" imgH="9658350" progId="Equation.DSMT4">
                  <p:embed/>
                </p:oleObj>
              </mc:Choice>
              <mc:Fallback>
                <p:oleObj name="Equation" r:id="rId1" imgW="37738050" imgH="965835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555" y="1632109"/>
                        <a:ext cx="5130800" cy="131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8"/>
          <p:cNvGraphicFramePr>
            <a:graphicFrameLocks noChangeAspect="1"/>
          </p:cNvGraphicFramePr>
          <p:nvPr/>
        </p:nvGraphicFramePr>
        <p:xfrm>
          <a:off x="2717800" y="520700"/>
          <a:ext cx="6534150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49" name="Equation" r:id="rId3" imgW="48053625" imgH="8553450" progId="Equation.DSMT4">
                  <p:embed/>
                </p:oleObj>
              </mc:Choice>
              <mc:Fallback>
                <p:oleObj name="Equation" r:id="rId3" imgW="48053625" imgH="855345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520700"/>
                        <a:ext cx="6534150" cy="116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5301" name="Object 4"/>
              <p:cNvSpPr txBox="1"/>
              <p:nvPr/>
            </p:nvSpPr>
            <p:spPr bwMode="auto">
              <a:xfrm>
                <a:off x="1974317" y="3300136"/>
                <a:ext cx="9084741" cy="34020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１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 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Sup>
                                    <m:sSub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 , 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 ...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5301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4317" y="3300136"/>
                <a:ext cx="9084741" cy="3402012"/>
              </a:xfrm>
              <a:prstGeom prst="rect">
                <a:avLst/>
              </a:prstGeom>
              <a:blipFill rotWithShape="1">
                <a:blip r:embed="rId5"/>
                <a:stretch>
                  <a:fillRect l="-1" t="-1" r="6" b="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302" name="矩形 5"/>
          <p:cNvSpPr>
            <a:spLocks noChangeArrowheads="1"/>
          </p:cNvSpPr>
          <p:nvPr/>
        </p:nvSpPr>
        <p:spPr bwMode="auto">
          <a:xfrm>
            <a:off x="2063750" y="692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</a:rPr>
              <a:t>即</a:t>
            </a:r>
            <a:endParaRPr lang="zh-CN" altLang="en-US" sz="2400"/>
          </a:p>
        </p:txBody>
      </p:sp>
      <p:grpSp>
        <p:nvGrpSpPr>
          <p:cNvPr id="3" name="组合 2"/>
          <p:cNvGrpSpPr/>
          <p:nvPr/>
        </p:nvGrpSpPr>
        <p:grpSpPr>
          <a:xfrm>
            <a:off x="8184232" y="646113"/>
            <a:ext cx="4049043" cy="1809117"/>
            <a:chOff x="8184232" y="646113"/>
            <a:chExt cx="4049043" cy="1809117"/>
          </a:xfrm>
        </p:grpSpPr>
        <p:sp>
          <p:nvSpPr>
            <p:cNvPr id="55304" name="爆炸形 2 1"/>
            <p:cNvSpPr>
              <a:spLocks noChangeArrowheads="1"/>
            </p:cNvSpPr>
            <p:nvPr/>
          </p:nvSpPr>
          <p:spPr bwMode="auto">
            <a:xfrm>
              <a:off x="9251878" y="646113"/>
              <a:ext cx="2981397" cy="914742"/>
            </a:xfrm>
            <a:prstGeom prst="irregularSeal2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/>
                <a:t>事后估计</a:t>
              </a:r>
              <a:endParaRPr lang="zh-CN" altLang="en-US" sz="20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Object 7"/>
                <p:cNvSpPr txBox="1"/>
                <p:nvPr/>
              </p:nvSpPr>
              <p:spPr bwMode="auto">
                <a:xfrm>
                  <a:off x="8184232" y="1809751"/>
                  <a:ext cx="3753694" cy="645479"/>
                </a:xfrm>
                <a:prstGeom prst="rect">
                  <a:avLst/>
                </a:prstGeom>
                <a:noFill/>
                <a:ln w="22225">
                  <a:solidFill>
                    <a:srgbClr val="002060"/>
                  </a:solidFill>
                </a:ln>
              </p:spPr>
              <p:txBody>
                <a:bodyPr>
                  <a:normAutofit fontScale="70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（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）</m:t>
                            </m:r>
                          </m:den>
                        </m:f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0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84232" y="1809751"/>
                  <a:ext cx="3753694" cy="645479"/>
                </a:xfrm>
                <a:prstGeom prst="rect">
                  <a:avLst/>
                </a:prstGeom>
                <a:blipFill rotWithShape="1">
                  <a:blip r:embed="rId6"/>
                </a:blipFill>
                <a:ln w="22225">
                  <a:solidFill>
                    <a:srgbClr val="00206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3795" name="Object 12"/>
              <p:cNvSpPr txBox="1"/>
              <p:nvPr/>
            </p:nvSpPr>
            <p:spPr bwMode="auto">
              <a:xfrm>
                <a:off x="1343472" y="1673225"/>
                <a:ext cx="6624662" cy="488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解：可化成多种形式的等价方程，例如：</m:t>
                      </m:r>
                    </m:oMath>
                  </m:oMathPara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       (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</m:fName>
                        <m:e/>
                      </m:func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       (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       (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</m:fName>
                        <m:e/>
                      </m:func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       (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       (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3795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3472" y="1673225"/>
                <a:ext cx="6624662" cy="4889500"/>
              </a:xfrm>
              <a:prstGeom prst="rect">
                <a:avLst/>
              </a:prstGeom>
              <a:blipFill rotWithShape="1">
                <a:blip r:embed="rId1"/>
                <a:stretch>
                  <a:fillRect l="-7" r="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9048328" y="3866624"/>
            <a:ext cx="2698175" cy="50270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kern="0" dirty="0">
                <a:latin typeface="+mn-ea"/>
                <a:ea typeface="+mn-ea"/>
              </a:rPr>
              <a:t>不动点迭代公式</a:t>
            </a:r>
            <a:endParaRPr lang="zh-CN" altLang="en-US" sz="2800" kern="0" dirty="0">
              <a:latin typeface="+mn-ea"/>
              <a:ea typeface="+mn-ea"/>
            </a:endParaRPr>
          </a:p>
        </p:txBody>
      </p:sp>
      <p:sp>
        <p:nvSpPr>
          <p:cNvPr id="3" name="右大括号 2"/>
          <p:cNvSpPr/>
          <p:nvPr/>
        </p:nvSpPr>
        <p:spPr bwMode="auto">
          <a:xfrm>
            <a:off x="7896200" y="2420888"/>
            <a:ext cx="1152128" cy="3168352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31504" y="362097"/>
            <a:ext cx="7344816" cy="1113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zh-CN" altLang="en-US" b="1" dirty="0">
                <a:solidFill>
                  <a:srgbClr val="000000"/>
                </a:solidFill>
                <a:latin typeface="+mn-ea"/>
              </a:rPr>
              <a:t>例 用埃特金方法求方程                   在初值         附近的一个根, 精度要求         ，</a:t>
            </a:r>
            <a:endParaRPr lang="zh-CN" altLang="en-US" b="1" dirty="0">
              <a:solidFill>
                <a:srgbClr val="000000"/>
              </a:solidFill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3"/>
              <p:cNvSpPr txBox="1"/>
              <p:nvPr/>
            </p:nvSpPr>
            <p:spPr bwMode="auto">
              <a:xfrm>
                <a:off x="4943872" y="521775"/>
                <a:ext cx="2775847" cy="4159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43872" y="521775"/>
                <a:ext cx="2775847" cy="415925"/>
              </a:xfrm>
              <a:prstGeom prst="rect">
                <a:avLst/>
              </a:prstGeom>
              <a:blipFill rotWithShape="1">
                <a:blip r:embed="rId2"/>
                <a:stretch>
                  <a:fillRect l="-14" t="-106" r="1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5"/>
              <p:cNvSpPr txBox="1"/>
              <p:nvPr/>
            </p:nvSpPr>
            <p:spPr bwMode="auto">
              <a:xfrm>
                <a:off x="8992389" y="461780"/>
                <a:ext cx="1219200" cy="45720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2389" y="461780"/>
                <a:ext cx="1219200" cy="457200"/>
              </a:xfrm>
              <a:prstGeom prst="rect">
                <a:avLst/>
              </a:prstGeom>
              <a:blipFill rotWithShape="1">
                <a:blip r:embed="rId3"/>
                <a:stretch>
                  <a:fillRect l="-13" t="-30" r="13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7"/>
              <p:cNvSpPr txBox="1"/>
              <p:nvPr/>
            </p:nvSpPr>
            <p:spPr bwMode="auto">
              <a:xfrm>
                <a:off x="5197475" y="927100"/>
                <a:ext cx="1481138" cy="5159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97475" y="927100"/>
                <a:ext cx="1481138" cy="515938"/>
              </a:xfrm>
              <a:prstGeom prst="rect">
                <a:avLst/>
              </a:prstGeom>
              <a:blipFill rotWithShape="1">
                <a:blip r:embed="rId4"/>
                <a:stretch>
                  <a:fillRect r="21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2" grpId="0" animBg="1"/>
      <p:bldP spid="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9"/>
          <p:cNvSpPr>
            <a:spLocks noChangeArrowheads="1"/>
          </p:cNvSpPr>
          <p:nvPr/>
        </p:nvSpPr>
        <p:spPr bwMode="auto">
          <a:xfrm>
            <a:off x="2135188" y="476250"/>
            <a:ext cx="8064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ahoma" panose="020B0604030504040204" pitchFamily="34" charset="0"/>
              </a:rPr>
              <a:t>对选取的</a:t>
            </a:r>
            <a:r>
              <a:rPr lang="en-US" altLang="zh-CN" sz="2400" i="1">
                <a:sym typeface="Symbol" panose="05050102010706020507" pitchFamily="18" charset="2"/>
              </a:rPr>
              <a:t></a:t>
            </a:r>
            <a:r>
              <a:rPr lang="en-US" altLang="zh-CN" sz="2400" i="1" baseline="-25000"/>
              <a:t>i</a:t>
            </a:r>
            <a:r>
              <a:rPr lang="en-US" altLang="zh-CN" sz="2400">
                <a:latin typeface="Tahoma" panose="020B0604030504040204" pitchFamily="34" charset="0"/>
              </a:rPr>
              <a:t>(</a:t>
            </a:r>
            <a:r>
              <a:rPr lang="en-US" altLang="zh-CN" sz="2400" i="1"/>
              <a:t>x</a:t>
            </a:r>
            <a:r>
              <a:rPr lang="en-US" altLang="zh-CN" sz="2400">
                <a:latin typeface="Tahoma" panose="020B0604030504040204" pitchFamily="34" charset="0"/>
              </a:rPr>
              <a:t>) </a:t>
            </a:r>
            <a:r>
              <a:rPr lang="zh-CN" altLang="en-US" sz="2400">
                <a:latin typeface="Tahoma" panose="020B0604030504040204" pitchFamily="34" charset="0"/>
              </a:rPr>
              <a:t>，取初始近似值 </a:t>
            </a:r>
            <a:r>
              <a:rPr lang="en-US" altLang="zh-CN" sz="2400" i="1"/>
              <a:t>x</a:t>
            </a:r>
            <a:r>
              <a:rPr lang="en-US" altLang="zh-CN" sz="2400" baseline="-25000"/>
              <a:t>0</a:t>
            </a:r>
            <a:r>
              <a:rPr lang="en-US" altLang="zh-CN" sz="2400"/>
              <a:t>=1.5 </a:t>
            </a:r>
            <a:r>
              <a:rPr lang="zh-CN" altLang="en-US" sz="2400"/>
              <a:t>，</a:t>
            </a:r>
            <a:r>
              <a:rPr lang="zh-CN" altLang="en-US" sz="2400">
                <a:latin typeface="Tahoma" panose="020B0604030504040204" pitchFamily="34" charset="0"/>
              </a:rPr>
              <a:t>迭代计算结果：</a:t>
            </a:r>
            <a:endParaRPr lang="zh-CN" altLang="en-US" sz="2400">
              <a:latin typeface="Tahoma" panose="020B0604030504040204" pitchFamily="34" charset="0"/>
            </a:endParaRPr>
          </a:p>
        </p:txBody>
      </p:sp>
      <p:graphicFrame>
        <p:nvGraphicFramePr>
          <p:cNvPr id="6" name="Group 412"/>
          <p:cNvGraphicFramePr>
            <a:graphicFrameLocks noGrp="1"/>
          </p:cNvGraphicFramePr>
          <p:nvPr/>
        </p:nvGraphicFramePr>
        <p:xfrm>
          <a:off x="2424113" y="1125538"/>
          <a:ext cx="7345362" cy="5529264"/>
        </p:xfrm>
        <a:graphic>
          <a:graphicData uri="http://schemas.openxmlformats.org/drawingml/2006/table">
            <a:tbl>
              <a:tblPr/>
              <a:tblGrid>
                <a:gridCol w="620712"/>
                <a:gridCol w="1433513"/>
                <a:gridCol w="1119187"/>
                <a:gridCol w="1435100"/>
                <a:gridCol w="1303338"/>
                <a:gridCol w="1433512"/>
              </a:tblGrid>
              <a:tr h="63337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endParaRPr kumimoji="0" lang="en-US" altLang="zh-CN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u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kumimoji="0" lang="eu-E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u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zh-CN" altLang="eu-E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(2)</a:t>
                      </a:r>
                      <a:endParaRPr kumimoji="0" lang="eu-E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(3)</a:t>
                      </a:r>
                      <a:endParaRPr kumimoji="0" lang="eu-E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(4)</a:t>
                      </a:r>
                      <a:endParaRPr kumimoji="0" lang="eu-E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(5)</a:t>
                      </a:r>
                      <a:endParaRPr kumimoji="0" lang="eu-E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-0.875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0.8165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1.28695377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1.34839973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1.3733333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6.732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2.9969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1.40254080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1.36737637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1.36526201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337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-469.7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1.34545838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1.3649570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1.3652300</a:t>
                      </a: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337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1.03×10</a:t>
                      </a:r>
                      <a:r>
                        <a:rPr kumimoji="0" lang="eu-ES" altLang="zh-CN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1.37517025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1.36526475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337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1.36591673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1.3652300</a:t>
                      </a: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78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1.36487822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1.3652300</a:t>
                      </a: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337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1.36522998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337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1.3652300</a:t>
                      </a:r>
                      <a:r>
                        <a:rPr kumimoji="0" lang="eu-E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u-E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7427" name="Object 10"/>
              <p:cNvSpPr txBox="1"/>
              <p:nvPr/>
            </p:nvSpPr>
            <p:spPr bwMode="auto">
              <a:xfrm>
                <a:off x="4621213" y="2862263"/>
                <a:ext cx="898525" cy="530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65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7427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1213" y="2862263"/>
                <a:ext cx="898525" cy="530225"/>
              </a:xfrm>
              <a:prstGeom prst="rect">
                <a:avLst/>
              </a:prstGeom>
              <a:blipFill rotWithShape="1">
                <a:blip r:embed="rId1"/>
                <a:stretch>
                  <a:fillRect l="-35" t="-60" r="35" b="-31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855663" y="1516976"/>
            <a:ext cx="7410890" cy="616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/>
              <a:t>对</a:t>
            </a:r>
            <a:r>
              <a:rPr lang="en-US" altLang="zh-CN" sz="2600" i="1" dirty="0">
                <a:sym typeface="Symbol" panose="05050102010706020507" pitchFamily="18" charset="2"/>
              </a:rPr>
              <a:t>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(</a:t>
            </a:r>
            <a:r>
              <a:rPr lang="en-US" altLang="zh-CN" sz="2600" i="1" dirty="0"/>
              <a:t>x</a:t>
            </a:r>
            <a:r>
              <a:rPr lang="en-US" altLang="zh-CN" sz="2600" dirty="0"/>
              <a:t>)                     </a:t>
            </a:r>
            <a:r>
              <a:rPr lang="zh-CN" altLang="en-US" sz="2600" dirty="0"/>
              <a:t>产生的迭代序列进行</a:t>
            </a:r>
            <a:r>
              <a:rPr lang="en-US" altLang="zh-CN" sz="2600" i="1" dirty="0"/>
              <a:t>Aitken</a:t>
            </a:r>
            <a:r>
              <a:rPr lang="zh-CN" altLang="en-US" sz="2600" dirty="0"/>
              <a:t>加速。</a:t>
            </a:r>
            <a:endParaRPr lang="zh-CN" altLang="en-US" sz="2600" dirty="0"/>
          </a:p>
        </p:txBody>
      </p:sp>
      <p:grpSp>
        <p:nvGrpSpPr>
          <p:cNvPr id="58377" name="组合 13"/>
          <p:cNvGrpSpPr/>
          <p:nvPr/>
        </p:nvGrpSpPr>
        <p:grpSpPr bwMode="auto">
          <a:xfrm>
            <a:off x="1715968" y="141848"/>
            <a:ext cx="10169971" cy="2994995"/>
            <a:chOff x="-877900" y="264778"/>
            <a:chExt cx="10169971" cy="2994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378" name="Object 4"/>
                <p:cNvSpPr txBox="1"/>
                <p:nvPr/>
              </p:nvSpPr>
              <p:spPr bwMode="auto">
                <a:xfrm>
                  <a:off x="5858309" y="264778"/>
                  <a:ext cx="3433762" cy="1863981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</p:spPr>
              <p:txBody>
                <a:bodyPr>
                  <a:normAutofit fontScale="62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zh-CN" altLang="en-US"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plcHide m:val="on"/>
                                <m:ctrlPr>
                                  <a:rPr lang="zh-CN" alt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Sup>
                                    <m:sSubSupPr>
                                      <m:ctrlP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zh-CN" altLang="en-US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r>
                                    <a:rPr lang="zh-CN" altLang="en-US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zh-CN" altLang="en-US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zh-CN" altLang="en-US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r>
                                    <a:rPr lang="zh-CN" altLang="en-US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zh-CN" altLang="en-US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１</m:t>
                                      </m:r>
                                    </m:sub>
                                  </m:sSub>
                                  <m:r>
                                    <a:rPr lang="zh-CN" altLang="en-US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Sup>
                                    <m:sSubSupPr>
                                      <m:ctrlP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zh-CN" altLang="en-US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 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zh-CN" altLang="en-US" sz="2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zh-CN" altLang="en-US" sz="2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zh-CN" altLang="en-US" sz="2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2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  <m:r>
                                                    <a:rPr lang="zh-CN" altLang="en-US" sz="2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zh-CN" altLang="en-US" sz="2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zh-CN" altLang="en-US" sz="2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zh-CN" altLang="en-US" sz="2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a:rPr lang="zh-CN" altLang="en-US" sz="2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zh-CN" altLang="en-US" sz="2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zh-CN" altLang="en-US" sz="2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zh-CN" altLang="en-US" sz="2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2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  <m:r>
                                                    <a:rPr lang="zh-CN" altLang="en-US" sz="2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zh-CN" altLang="en-US" sz="2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zh-CN" altLang="en-US" sz="2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zh-CN" altLang="en-US" sz="2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  <m:r>
                                                    <a:rPr lang="zh-CN" altLang="en-US" sz="2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sup>
                                              </m:sSubSup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Sup>
                                        <m:sSubSupPr>
                                          <m:ctrlP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  <m:r>
                                        <a:rPr lang="zh-CN" altLang="en-US"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  <m:r>
                          <a:rPr lang="zh-CN" altLang="en-US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  </m:t>
                        </m:r>
                      </m:oMath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5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zh-CN" altLang="en-US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 , </m:t>
                        </m:r>
                        <m:r>
                          <a:rPr lang="zh-CN" altLang="en-US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 ,</m:t>
                        </m:r>
                        <m:r>
                          <a:rPr lang="zh-CN" altLang="en-US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 ...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8378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58309" y="264778"/>
                  <a:ext cx="3433762" cy="1863981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379" name="Rectangle 9"/>
            <p:cNvSpPr>
              <a:spLocks noChangeArrowheads="1"/>
            </p:cNvSpPr>
            <p:nvPr/>
          </p:nvSpPr>
          <p:spPr bwMode="auto">
            <a:xfrm>
              <a:off x="-877900" y="486959"/>
              <a:ext cx="6734175" cy="1130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dirty="0"/>
                <a:t>简单观察迭代过程，</a:t>
              </a:r>
              <a:r>
                <a:rPr lang="en-US" altLang="zh-CN" sz="2400" dirty="0"/>
                <a:t>(</a:t>
              </a:r>
              <a:r>
                <a:rPr lang="en-US" altLang="zh-CN" sz="2400" i="1" dirty="0"/>
                <a:t>a</a:t>
              </a:r>
              <a:r>
                <a:rPr lang="en-US" altLang="zh-CN" sz="2400" dirty="0"/>
                <a:t>) (</a:t>
              </a:r>
              <a:r>
                <a:rPr lang="en-US" altLang="zh-CN" sz="2400" i="1" dirty="0"/>
                <a:t>b</a:t>
              </a:r>
              <a:r>
                <a:rPr lang="en-US" altLang="zh-CN" sz="2400" dirty="0"/>
                <a:t>) </a:t>
              </a:r>
              <a:r>
                <a:rPr lang="zh-CN" altLang="en-US" sz="2400" dirty="0"/>
                <a:t>发散，</a:t>
              </a:r>
              <a:endParaRPr lang="zh-CN" altLang="en-US" sz="2400" dirty="0"/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dirty="0"/>
                <a:t>(</a:t>
              </a:r>
              <a:r>
                <a:rPr lang="en-US" altLang="zh-CN" sz="2400" i="1" dirty="0"/>
                <a:t>c</a:t>
              </a:r>
              <a:r>
                <a:rPr lang="en-US" altLang="zh-CN" sz="2400" dirty="0"/>
                <a:t>) (</a:t>
              </a:r>
              <a:r>
                <a:rPr lang="en-US" altLang="zh-CN" sz="2400" i="1" dirty="0"/>
                <a:t>d</a:t>
              </a:r>
              <a:r>
                <a:rPr lang="en-US" altLang="zh-CN" sz="2400" dirty="0"/>
                <a:t>) (</a:t>
              </a:r>
              <a:r>
                <a:rPr lang="en-US" altLang="zh-CN" sz="2400" i="1" dirty="0"/>
                <a:t>e</a:t>
              </a:r>
              <a:r>
                <a:rPr lang="en-US" altLang="zh-CN" sz="2400" dirty="0"/>
                <a:t>)</a:t>
              </a:r>
              <a:r>
                <a:rPr lang="zh-CN" altLang="en-US" sz="2400" dirty="0"/>
                <a:t>都收敛，但收敛速度相差很大。</a:t>
              </a:r>
              <a:endParaRPr lang="zh-CN" altLang="en-US" sz="2400" dirty="0"/>
            </a:p>
          </p:txBody>
        </p:sp>
        <p:sp>
          <p:nvSpPr>
            <p:cNvPr id="58380" name="矩形 10"/>
            <p:cNvSpPr>
              <a:spLocks noChangeArrowheads="1"/>
            </p:cNvSpPr>
            <p:nvPr/>
          </p:nvSpPr>
          <p:spPr bwMode="auto">
            <a:xfrm>
              <a:off x="6017292" y="2798108"/>
              <a:ext cx="1584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 dirty="0"/>
                <a:t>Aitken</a:t>
              </a:r>
              <a:r>
                <a:rPr lang="zh-CN" altLang="en-US" sz="2400" dirty="0"/>
                <a:t>加速</a:t>
              </a:r>
              <a:endParaRPr lang="zh-CN" altLang="en-US" sz="24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9"/>
              <p:cNvSpPr txBox="1"/>
              <p:nvPr/>
            </p:nvSpPr>
            <p:spPr bwMode="auto">
              <a:xfrm>
                <a:off x="2040661" y="1335924"/>
                <a:ext cx="1574800" cy="107315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0661" y="1335924"/>
                <a:ext cx="1574800" cy="1073150"/>
              </a:xfrm>
              <a:prstGeom prst="rect">
                <a:avLst/>
              </a:prstGeom>
              <a:blipFill rotWithShape="1">
                <a:blip r:embed="rId2"/>
                <a:stretch>
                  <a:fillRect l="-26" t="-48" r="26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1062761" y="2830286"/>
            <a:ext cx="5105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解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: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  埃特金方法迭代格式为</a:t>
            </a:r>
            <a:endParaRPr lang="zh-CN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bject 13"/>
              <p:cNvSpPr txBox="1"/>
              <p:nvPr/>
            </p:nvSpPr>
            <p:spPr bwMode="auto">
              <a:xfrm>
                <a:off x="1559496" y="3409451"/>
                <a:ext cx="5899150" cy="13128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num>
                                      <m:den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Sup>
                                          <m:sSubSup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bSup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e>
                        </m:mr>
                      </m:m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9496" y="3409451"/>
                <a:ext cx="5899150" cy="1312862"/>
              </a:xfrm>
              <a:prstGeom prst="rect">
                <a:avLst/>
              </a:prstGeom>
              <a:blipFill rotWithShape="1">
                <a:blip r:embed="rId3"/>
                <a:stretch>
                  <a:fillRect l="-10" t="-10" r="10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Object 15"/>
          <p:cNvGraphicFramePr>
            <a:graphicFrameLocks noChangeAspect="1"/>
          </p:cNvGraphicFramePr>
          <p:nvPr/>
        </p:nvGraphicFramePr>
        <p:xfrm>
          <a:off x="855663" y="4786313"/>
          <a:ext cx="7712075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53" name="公式" r:id="rId4" imgW="80772000" imgH="10972800" progId="Equation.3">
                  <p:embed/>
                </p:oleObj>
              </mc:Choice>
              <mc:Fallback>
                <p:oleObj name="公式" r:id="rId4" imgW="80772000" imgH="10972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4786313"/>
                        <a:ext cx="7712075" cy="1163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8964936" y="3473321"/>
            <a:ext cx="2604395" cy="1033463"/>
            <a:chOff x="8958933" y="3953238"/>
            <a:chExt cx="2604395" cy="103346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Object 14"/>
                <p:cNvSpPr txBox="1"/>
                <p:nvPr/>
              </p:nvSpPr>
              <p:spPr bwMode="auto">
                <a:xfrm>
                  <a:off x="8970941" y="3953238"/>
                  <a:ext cx="2592387" cy="5254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365265223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9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70941" y="3953238"/>
                  <a:ext cx="2592387" cy="525463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Object 13"/>
                <p:cNvSpPr txBox="1"/>
                <p:nvPr/>
              </p:nvSpPr>
              <p:spPr bwMode="auto">
                <a:xfrm>
                  <a:off x="8958933" y="4478701"/>
                  <a:ext cx="2460625" cy="5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36523058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0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58933" y="4478701"/>
                  <a:ext cx="2460625" cy="508000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21" name="Object 12"/>
          <p:cNvGraphicFramePr>
            <a:graphicFrameLocks noChangeAspect="1"/>
          </p:cNvGraphicFramePr>
          <p:nvPr/>
        </p:nvGraphicFramePr>
        <p:xfrm>
          <a:off x="8964936" y="4707936"/>
          <a:ext cx="2703513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54" name="Equation" r:id="rId8" imgW="19307175" imgH="3952875" progId="Equation.DSMT4">
                  <p:embed/>
                </p:oleObj>
              </mc:Choice>
              <mc:Fallback>
                <p:oleObj name="Equation" r:id="rId8" imgW="19307175" imgH="395287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4936" y="4707936"/>
                        <a:ext cx="2703513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7458646" y="5943100"/>
            <a:ext cx="4636993" cy="873118"/>
            <a:chOff x="7193632" y="5900141"/>
            <a:chExt cx="4636993" cy="873118"/>
          </a:xfrm>
        </p:grpSpPr>
        <p:sp>
          <p:nvSpPr>
            <p:cNvPr id="18" name="Rectangle 22"/>
            <p:cNvSpPr>
              <a:spLocks noChangeArrowheads="1"/>
            </p:cNvSpPr>
            <p:nvPr/>
          </p:nvSpPr>
          <p:spPr bwMode="auto">
            <a:xfrm>
              <a:off x="7193632" y="5911485"/>
              <a:ext cx="4636993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u-ES" sz="2400" dirty="0">
                  <a:cs typeface="Times New Roman" panose="02020603050405020304" pitchFamily="18" charset="0"/>
                </a:rPr>
                <a:t>比较可得，     与</a:t>
              </a:r>
              <a:r>
                <a:rPr lang="en-US" altLang="zh-CN" sz="2400" i="1" dirty="0">
                  <a:sym typeface="Symbol" panose="05050102010706020507" pitchFamily="18" charset="2"/>
                </a:rPr>
                <a:t></a:t>
              </a:r>
              <a:r>
                <a:rPr lang="en-US" altLang="zh-CN" sz="2400" i="1" baseline="-25000" dirty="0">
                  <a:sym typeface="Symbol" panose="05050102010706020507" pitchFamily="18" charset="2"/>
                </a:rPr>
                <a:t>5</a:t>
              </a:r>
              <a:r>
                <a:rPr lang="en-US" altLang="zh-CN" sz="2400" dirty="0"/>
                <a:t>(</a:t>
              </a:r>
              <a:r>
                <a:rPr lang="en-US" altLang="zh-CN" sz="2400" i="1" dirty="0"/>
                <a:t>x</a:t>
              </a:r>
              <a:r>
                <a:rPr lang="en-US" altLang="zh-CN" sz="2400" dirty="0"/>
                <a:t>)</a:t>
              </a:r>
              <a:r>
                <a:rPr lang="zh-CN" altLang="en-US" sz="2400" dirty="0"/>
                <a:t>迭代公式</a:t>
              </a:r>
              <a:r>
                <a:rPr lang="zh-CN" altLang="eu-ES" sz="2400" dirty="0">
                  <a:cs typeface="Times New Roman" panose="02020603050405020304" pitchFamily="18" charset="0"/>
                </a:rPr>
                <a:t>的误差差不多。</a:t>
              </a:r>
              <a:r>
                <a:rPr lang="zh-CN" altLang="eu-ES" sz="2400" dirty="0"/>
                <a:t> </a:t>
              </a:r>
              <a:endParaRPr lang="zh-CN" altLang="eu-E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Object 19"/>
                <p:cNvSpPr txBox="1"/>
                <p:nvPr/>
              </p:nvSpPr>
              <p:spPr bwMode="auto">
                <a:xfrm>
                  <a:off x="8699922" y="5900141"/>
                  <a:ext cx="412750" cy="5621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2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699922" y="5900141"/>
                  <a:ext cx="412750" cy="562168"/>
                </a:xfrm>
                <a:prstGeom prst="rect">
                  <a:avLst/>
                </a:prstGeom>
                <a:blipFill rotWithShape="1">
                  <a:blip r:embed="rId10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矩形 3"/>
          <p:cNvSpPr/>
          <p:nvPr/>
        </p:nvSpPr>
        <p:spPr bwMode="auto">
          <a:xfrm>
            <a:off x="8450144" y="2564904"/>
            <a:ext cx="3433762" cy="33047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2" name="Rectangle 2"/>
          <p:cNvSpPr txBox="1">
            <a:spLocks noChangeArrowheads="1"/>
          </p:cNvSpPr>
          <p:nvPr/>
        </p:nvSpPr>
        <p:spPr bwMode="auto">
          <a:xfrm>
            <a:off x="2208213" y="1052513"/>
            <a:ext cx="338296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660066"/>
                </a:solidFill>
              </a:rPr>
              <a:t>3.5.1 </a:t>
            </a:r>
            <a:r>
              <a:rPr lang="zh-CN" altLang="en-US" sz="2400" b="1">
                <a:solidFill>
                  <a:srgbClr val="660066"/>
                </a:solidFill>
              </a:rPr>
              <a:t>基本思想及公式</a:t>
            </a:r>
            <a:endParaRPr lang="zh-CN" altLang="en-US" sz="2400" b="1">
              <a:solidFill>
                <a:srgbClr val="660066"/>
              </a:solidFill>
            </a:endParaRPr>
          </a:p>
        </p:txBody>
      </p:sp>
      <p:sp>
        <p:nvSpPr>
          <p:cNvPr id="61443" name="矩形 6"/>
          <p:cNvSpPr>
            <a:spLocks noChangeArrowheads="1"/>
          </p:cNvSpPr>
          <p:nvPr/>
        </p:nvSpPr>
        <p:spPr bwMode="auto">
          <a:xfrm>
            <a:off x="1984375" y="333375"/>
            <a:ext cx="2887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§3.5 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牛顿迭代法</a:t>
            </a:r>
            <a:endParaRPr lang="zh-CN" altLang="en-US" sz="28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组合 18"/>
          <p:cNvGrpSpPr/>
          <p:nvPr/>
        </p:nvGrpSpPr>
        <p:grpSpPr bwMode="auto">
          <a:xfrm>
            <a:off x="2566988" y="4652963"/>
            <a:ext cx="5092700" cy="1014412"/>
            <a:chOff x="1042988" y="4684713"/>
            <a:chExt cx="5092700" cy="101441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458" name="Object 39"/>
                <p:cNvSpPr txBox="1"/>
                <p:nvPr/>
              </p:nvSpPr>
              <p:spPr bwMode="auto">
                <a:xfrm>
                  <a:off x="1042988" y="4829175"/>
                  <a:ext cx="2376487" cy="4746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如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  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   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则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61458" name="Object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42988" y="4829175"/>
                  <a:ext cx="2376487" cy="474663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459" name="Object 38"/>
                <p:cNvSpPr txBox="1"/>
                <p:nvPr/>
              </p:nvSpPr>
              <p:spPr bwMode="auto">
                <a:xfrm>
                  <a:off x="3779838" y="4684713"/>
                  <a:ext cx="2355850" cy="10144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61459" name="Object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79838" y="4684713"/>
                  <a:ext cx="2355850" cy="1014412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19"/>
          <p:cNvGrpSpPr/>
          <p:nvPr/>
        </p:nvGrpSpPr>
        <p:grpSpPr bwMode="auto">
          <a:xfrm>
            <a:off x="1703388" y="5589588"/>
            <a:ext cx="5438775" cy="976312"/>
            <a:chOff x="1043608" y="5661248"/>
            <a:chExt cx="5439271" cy="97631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456" name="Object 37"/>
                <p:cNvSpPr txBox="1"/>
                <p:nvPr/>
              </p:nvSpPr>
              <p:spPr bwMode="auto">
                <a:xfrm>
                  <a:off x="1907704" y="5661248"/>
                  <a:ext cx="4575175" cy="976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,...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61456" name="Object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07704" y="5661248"/>
                  <a:ext cx="4575175" cy="976313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457" name="Rectangle 45"/>
            <p:cNvSpPr>
              <a:spLocks noChangeArrowheads="1"/>
            </p:cNvSpPr>
            <p:nvPr/>
          </p:nvSpPr>
          <p:spPr bwMode="auto">
            <a:xfrm>
              <a:off x="1043608" y="5733256"/>
              <a:ext cx="646113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>
                  <a:solidFill>
                    <a:srgbClr val="FF0000"/>
                  </a:solidFill>
                  <a:latin typeface="Tahoma" panose="020B0604030504040204" pitchFamily="34" charset="0"/>
                </a:rPr>
                <a:t>★</a:t>
              </a:r>
              <a:endParaRPr lang="en-US" altLang="zh-CN" sz="360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组合 16"/>
          <p:cNvGrpSpPr/>
          <p:nvPr/>
        </p:nvGrpSpPr>
        <p:grpSpPr bwMode="auto">
          <a:xfrm>
            <a:off x="2419350" y="1589088"/>
            <a:ext cx="7132638" cy="1835150"/>
            <a:chOff x="895350" y="1589088"/>
            <a:chExt cx="7132638" cy="1835150"/>
          </a:xfrm>
        </p:grpSpPr>
        <p:sp>
          <p:nvSpPr>
            <p:cNvPr id="61451" name="Rectangle 3"/>
            <p:cNvSpPr txBox="1">
              <a:spLocks noChangeArrowheads="1"/>
            </p:cNvSpPr>
            <p:nvPr/>
          </p:nvSpPr>
          <p:spPr bwMode="auto">
            <a:xfrm>
              <a:off x="971550" y="1589088"/>
              <a:ext cx="7056438" cy="687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/>
                <a:t>将         在     点展开为</a:t>
              </a:r>
              <a:r>
                <a:rPr lang="en-US" altLang="zh-CN" sz="2400" i="1"/>
                <a:t>Taylor</a:t>
              </a:r>
              <a:r>
                <a:rPr lang="zh-CN" altLang="en-US" sz="2400"/>
                <a:t>展式</a:t>
              </a:r>
              <a:endParaRPr lang="zh-CN" altLang="en-US" sz="240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/>
                <a:t>   </a:t>
              </a:r>
              <a:endParaRPr lang="zh-CN" altLang="en-US" sz="2400"/>
            </a:p>
          </p:txBody>
        </p:sp>
        <p:graphicFrame>
          <p:nvGraphicFramePr>
            <p:cNvPr id="61452" name="Object 5"/>
            <p:cNvGraphicFramePr>
              <a:graphicFrameLocks noChangeAspect="1"/>
            </p:cNvGraphicFramePr>
            <p:nvPr/>
          </p:nvGraphicFramePr>
          <p:xfrm>
            <a:off x="1528763" y="2236788"/>
            <a:ext cx="6335712" cy="76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940" name="Equation" r:id="rId4" imgW="51568350" imgH="6800850" progId="Equation.DSMT4">
                    <p:embed/>
                  </p:oleObj>
                </mc:Choice>
                <mc:Fallback>
                  <p:oleObj name="Equation" r:id="rId4" imgW="51568350" imgH="680085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8763" y="2236788"/>
                          <a:ext cx="6335712" cy="762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453" name="Object 22"/>
                <p:cNvSpPr txBox="1"/>
                <p:nvPr/>
              </p:nvSpPr>
              <p:spPr bwMode="auto">
                <a:xfrm>
                  <a:off x="1331913" y="1731963"/>
                  <a:ext cx="685800" cy="406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61453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31913" y="1731963"/>
                  <a:ext cx="685800" cy="406400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454" name="Object 32"/>
                <p:cNvSpPr txBox="1"/>
                <p:nvPr/>
              </p:nvSpPr>
              <p:spPr bwMode="auto">
                <a:xfrm>
                  <a:off x="2424113" y="1731963"/>
                  <a:ext cx="311150" cy="431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61454" name="Object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24113" y="1731963"/>
                  <a:ext cx="311150" cy="431800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455" name="Object 13"/>
                <p:cNvSpPr txBox="1"/>
                <p:nvPr/>
              </p:nvSpPr>
              <p:spPr bwMode="auto">
                <a:xfrm>
                  <a:off x="895350" y="2957513"/>
                  <a:ext cx="3370263" cy="466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其中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/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位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于</m:t>
                            </m:r>
                          </m:e>
                          <m:sub/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/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和</m:t>
                            </m:r>
                          </m:e>
                          <m:sub/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b/>
                            </m:sSub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之间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61455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5350" y="2957513"/>
                  <a:ext cx="3370263" cy="466725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17"/>
          <p:cNvGrpSpPr/>
          <p:nvPr/>
        </p:nvGrpSpPr>
        <p:grpSpPr bwMode="auto">
          <a:xfrm>
            <a:off x="2279650" y="3573463"/>
            <a:ext cx="6697663" cy="871537"/>
            <a:chOff x="755576" y="3573016"/>
            <a:chExt cx="6697563" cy="87121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449" name="Object 43"/>
                <p:cNvSpPr txBox="1"/>
                <p:nvPr/>
              </p:nvSpPr>
              <p:spPr bwMode="auto">
                <a:xfrm>
                  <a:off x="3347864" y="3933056"/>
                  <a:ext cx="4105275" cy="511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)≈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)+(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61449" name="Object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47864" y="3933056"/>
                  <a:ext cx="4105275" cy="511175"/>
                </a:xfrm>
                <a:prstGeom prst="rect">
                  <a:avLst/>
                </a:prstGeom>
                <a:blipFill rotWithShape="1">
                  <a:blip r:embed="rId9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/>
            <p:cNvSpPr/>
            <p:nvPr/>
          </p:nvSpPr>
          <p:spPr>
            <a:xfrm>
              <a:off x="755576" y="3573016"/>
              <a:ext cx="3146378" cy="6458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342900" indent="-342900" eaLnBrk="1" hangingPunct="1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于是有近似方程</a:t>
              </a:r>
              <a:endParaRPr lang="zh-CN" altLang="en-US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</p:grp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6888163" y="6248400"/>
            <a:ext cx="20842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称为</a:t>
            </a:r>
            <a:r>
              <a:rPr lang="en-US" altLang="zh-CN" sz="2400" b="1" i="1" dirty="0">
                <a:solidFill>
                  <a:srgbClr val="FF0000"/>
                </a:solidFill>
              </a:rPr>
              <a:t>Newton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法</a:t>
            </a:r>
            <a:endParaRPr lang="zh-CN" altLang="en-US" sz="24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2" grpId="0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5" name="Line 68"/>
          <p:cNvSpPr>
            <a:spLocks noChangeShapeType="1"/>
          </p:cNvSpPr>
          <p:nvPr/>
        </p:nvSpPr>
        <p:spPr bwMode="auto">
          <a:xfrm flipV="1">
            <a:off x="6162675" y="1581150"/>
            <a:ext cx="0" cy="3108325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7" name="Line 70"/>
          <p:cNvSpPr>
            <a:spLocks noChangeShapeType="1"/>
          </p:cNvSpPr>
          <p:nvPr/>
        </p:nvSpPr>
        <p:spPr bwMode="auto">
          <a:xfrm flipH="1">
            <a:off x="5394325" y="1581150"/>
            <a:ext cx="779463" cy="31083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8" name="Line 71"/>
          <p:cNvSpPr>
            <a:spLocks noChangeShapeType="1"/>
          </p:cNvSpPr>
          <p:nvPr/>
        </p:nvSpPr>
        <p:spPr bwMode="auto">
          <a:xfrm flipV="1">
            <a:off x="5394325" y="3446463"/>
            <a:ext cx="1588" cy="1243012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9" name="Line 72"/>
          <p:cNvSpPr>
            <a:spLocks noChangeShapeType="1"/>
          </p:cNvSpPr>
          <p:nvPr/>
        </p:nvSpPr>
        <p:spPr bwMode="auto">
          <a:xfrm flipH="1">
            <a:off x="4873625" y="3424238"/>
            <a:ext cx="533400" cy="1266825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0" name="Rectangle 73"/>
          <p:cNvSpPr>
            <a:spLocks noChangeArrowheads="1"/>
          </p:cNvSpPr>
          <p:nvPr/>
        </p:nvSpPr>
        <p:spPr bwMode="auto">
          <a:xfrm>
            <a:off x="4367213" y="4652963"/>
            <a:ext cx="1008062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 i="1">
                <a:solidFill>
                  <a:srgbClr val="000000"/>
                </a:solidFill>
              </a:rPr>
              <a:t>x</a:t>
            </a:r>
            <a:r>
              <a:rPr lang="en-US" altLang="zh-CN" sz="2000" b="1" baseline="-25000">
                <a:solidFill>
                  <a:srgbClr val="000000"/>
                </a:solidFill>
              </a:rPr>
              <a:t>2</a:t>
            </a:r>
            <a:endParaRPr lang="en-US" altLang="zh-CN" sz="2000" b="1" baseline="-25000">
              <a:solidFill>
                <a:srgbClr val="00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（</a:t>
            </a:r>
            <a:r>
              <a:rPr lang="en-US" altLang="zh-CN" sz="1800" b="1" i="1">
                <a:solidFill>
                  <a:srgbClr val="008000"/>
                </a:solidFill>
              </a:rPr>
              <a:t>k</a:t>
            </a:r>
            <a:r>
              <a:rPr lang="en-US" altLang="zh-CN" sz="1800" b="1">
                <a:solidFill>
                  <a:srgbClr val="008000"/>
                </a:solidFill>
              </a:rPr>
              <a:t>=2</a:t>
            </a:r>
            <a:r>
              <a:rPr lang="zh-CN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）</a:t>
            </a:r>
            <a:endParaRPr lang="en-US" altLang="zh-CN" sz="180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42001" name="Rectangle 74"/>
          <p:cNvSpPr>
            <a:spLocks noChangeArrowheads="1"/>
          </p:cNvSpPr>
          <p:nvPr/>
        </p:nvSpPr>
        <p:spPr bwMode="auto">
          <a:xfrm>
            <a:off x="5065713" y="4652963"/>
            <a:ext cx="8636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 i="1">
                <a:solidFill>
                  <a:srgbClr val="000000"/>
                </a:solidFill>
              </a:rPr>
              <a:t>x</a:t>
            </a:r>
            <a:r>
              <a:rPr lang="en-US" altLang="zh-CN" sz="2000" b="1" baseline="-25000">
                <a:solidFill>
                  <a:srgbClr val="000000"/>
                </a:solidFill>
              </a:rPr>
              <a:t>1</a:t>
            </a:r>
            <a:endParaRPr lang="en-US" altLang="zh-CN" sz="2000" b="1" baseline="-25000">
              <a:solidFill>
                <a:srgbClr val="00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（</a:t>
            </a:r>
            <a:r>
              <a:rPr lang="en-US" altLang="zh-CN" sz="1800" b="1" i="1">
                <a:solidFill>
                  <a:srgbClr val="008000"/>
                </a:solidFill>
              </a:rPr>
              <a:t>k</a:t>
            </a:r>
            <a:r>
              <a:rPr lang="en-US" altLang="zh-CN" sz="1800" b="1">
                <a:solidFill>
                  <a:srgbClr val="008000"/>
                </a:solidFill>
              </a:rPr>
              <a:t>=1</a:t>
            </a:r>
            <a:r>
              <a:rPr lang="zh-CN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）</a:t>
            </a:r>
            <a:endParaRPr lang="en-US" altLang="zh-CN" sz="180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组合 18"/>
          <p:cNvGrpSpPr/>
          <p:nvPr/>
        </p:nvGrpSpPr>
        <p:grpSpPr bwMode="auto">
          <a:xfrm>
            <a:off x="2279650" y="1268413"/>
            <a:ext cx="5888038" cy="4352925"/>
            <a:chOff x="755650" y="1268413"/>
            <a:chExt cx="5888038" cy="4352925"/>
          </a:xfrm>
        </p:grpSpPr>
        <p:sp>
          <p:nvSpPr>
            <p:cNvPr id="64523" name="Line 60"/>
            <p:cNvSpPr>
              <a:spLocks noChangeShapeType="1"/>
            </p:cNvSpPr>
            <p:nvPr/>
          </p:nvSpPr>
          <p:spPr bwMode="auto">
            <a:xfrm flipV="1">
              <a:off x="755650" y="4660901"/>
              <a:ext cx="5327651" cy="381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4" name="Line 61"/>
            <p:cNvSpPr>
              <a:spLocks noChangeShapeType="1"/>
            </p:cNvSpPr>
            <p:nvPr/>
          </p:nvSpPr>
          <p:spPr bwMode="auto">
            <a:xfrm flipV="1">
              <a:off x="1066800" y="1579563"/>
              <a:ext cx="0" cy="40417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5" name="Text Box 62"/>
            <p:cNvSpPr txBox="1">
              <a:spLocks noChangeArrowheads="1"/>
            </p:cNvSpPr>
            <p:nvPr/>
          </p:nvSpPr>
          <p:spPr bwMode="auto">
            <a:xfrm>
              <a:off x="5867401" y="4392613"/>
              <a:ext cx="776287" cy="931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</a:rPr>
                <a:t>x</a:t>
              </a:r>
              <a:endParaRPr lang="en-US" altLang="zh-CN" sz="180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4526" name="Rectangle 63"/>
            <p:cNvSpPr>
              <a:spLocks noChangeArrowheads="1"/>
            </p:cNvSpPr>
            <p:nvPr/>
          </p:nvSpPr>
          <p:spPr bwMode="auto">
            <a:xfrm>
              <a:off x="1222375" y="1268413"/>
              <a:ext cx="649287" cy="933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</a:rPr>
                <a:t>y</a:t>
              </a:r>
              <a:endParaRPr lang="en-US" altLang="zh-CN" sz="180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4527" name="Freeform 65"/>
            <p:cNvSpPr/>
            <p:nvPr/>
          </p:nvSpPr>
          <p:spPr bwMode="auto">
            <a:xfrm>
              <a:off x="1377950" y="1581151"/>
              <a:ext cx="3262313" cy="3729037"/>
            </a:xfrm>
            <a:custGeom>
              <a:avLst/>
              <a:gdLst>
                <a:gd name="T0" fmla="*/ 0 w 1008"/>
                <a:gd name="T1" fmla="*/ 2147483646 h 1152"/>
                <a:gd name="T2" fmla="*/ 2147483646 w 1008"/>
                <a:gd name="T3" fmla="*/ 2147483646 h 1152"/>
                <a:gd name="T4" fmla="*/ 2147483646 w 1008"/>
                <a:gd name="T5" fmla="*/ 2147483646 h 1152"/>
                <a:gd name="T6" fmla="*/ 2147483646 w 1008"/>
                <a:gd name="T7" fmla="*/ 2147483646 h 1152"/>
                <a:gd name="T8" fmla="*/ 2147483646 w 1008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8"/>
                <a:gd name="T16" fmla="*/ 0 h 1152"/>
                <a:gd name="T17" fmla="*/ 1008 w 1008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8" h="1152">
                  <a:moveTo>
                    <a:pt x="0" y="1152"/>
                  </a:moveTo>
                  <a:cubicBezTo>
                    <a:pt x="72" y="1152"/>
                    <a:pt x="144" y="1152"/>
                    <a:pt x="240" y="1104"/>
                  </a:cubicBezTo>
                  <a:cubicBezTo>
                    <a:pt x="336" y="1056"/>
                    <a:pt x="480" y="968"/>
                    <a:pt x="576" y="864"/>
                  </a:cubicBezTo>
                  <a:cubicBezTo>
                    <a:pt x="672" y="760"/>
                    <a:pt x="744" y="624"/>
                    <a:pt x="816" y="480"/>
                  </a:cubicBezTo>
                  <a:cubicBezTo>
                    <a:pt x="888" y="336"/>
                    <a:pt x="948" y="168"/>
                    <a:pt x="1008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8" name="Text Box 66"/>
            <p:cNvSpPr txBox="1">
              <a:spLocks noChangeArrowheads="1"/>
            </p:cNvSpPr>
            <p:nvPr/>
          </p:nvSpPr>
          <p:spPr bwMode="auto">
            <a:xfrm>
              <a:off x="2309812" y="4225330"/>
              <a:ext cx="1243013" cy="931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3300"/>
                  </a:solidFill>
                </a:rPr>
                <a:t>x*</a:t>
              </a:r>
              <a:endParaRPr lang="en-US" altLang="zh-CN" sz="180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1996" name="Text Box 69"/>
            <p:cNvSpPr txBox="1">
              <a:spLocks noChangeArrowheads="1"/>
            </p:cNvSpPr>
            <p:nvPr/>
          </p:nvSpPr>
          <p:spPr bwMode="auto">
            <a:xfrm>
              <a:off x="4173538" y="4635500"/>
              <a:ext cx="1085850" cy="8096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algn="ctr" eaLnBrk="1" hangingPunct="1">
                <a:defRPr/>
              </a:pPr>
              <a:r>
                <a:rPr lang="en-US" altLang="zh-CN" sz="2000" b="1" i="1" dirty="0">
                  <a:solidFill>
                    <a:srgbClr val="000000"/>
                  </a:solidFill>
                </a:rPr>
                <a:t>x</a:t>
              </a:r>
              <a:r>
                <a:rPr lang="en-US" altLang="zh-CN" sz="2000" b="1" baseline="-25000" dirty="0">
                  <a:solidFill>
                    <a:srgbClr val="000000"/>
                  </a:solidFill>
                </a:rPr>
                <a:t>0</a:t>
              </a:r>
              <a:endParaRPr lang="en-US" altLang="zh-CN" sz="2000" b="1" baseline="-25000" dirty="0">
                <a:solidFill>
                  <a:srgbClr val="000000"/>
                </a:solidFill>
              </a:endParaRPr>
            </a:p>
            <a:p>
              <a:pPr algn="ctr" eaLnBrk="1" hangingPunct="1">
                <a:defRPr/>
              </a:pPr>
              <a:r>
                <a:rPr lang="zh-CN" altLang="en-US" sz="1800" b="1" dirty="0">
                  <a:solidFill>
                    <a:srgbClr val="008000"/>
                  </a:solidFill>
                  <a:latin typeface="Tahoma" panose="020B0604030504040204" pitchFamily="34" charset="0"/>
                </a:rPr>
                <a:t>（</a:t>
              </a:r>
              <a:r>
                <a:rPr lang="en-US" altLang="zh-CN" sz="1800" b="1" i="1" dirty="0">
                  <a:solidFill>
                    <a:srgbClr val="008000"/>
                  </a:solidFill>
                  <a:latin typeface="+mn-lt"/>
                </a:rPr>
                <a:t>k</a:t>
              </a:r>
              <a:r>
                <a:rPr lang="en-US" altLang="zh-CN" sz="1800" b="1" dirty="0">
                  <a:solidFill>
                    <a:srgbClr val="008000"/>
                  </a:solidFill>
                  <a:latin typeface="+mn-lt"/>
                </a:rPr>
                <a:t>=0</a:t>
              </a:r>
              <a:r>
                <a:rPr lang="zh-CN" altLang="en-US" sz="1800" b="1" dirty="0">
                  <a:solidFill>
                    <a:srgbClr val="008000"/>
                  </a:solidFill>
                  <a:latin typeface="Tahoma" panose="020B0604030504040204" pitchFamily="34" charset="0"/>
                </a:rPr>
                <a:t>）</a:t>
              </a:r>
              <a:endParaRPr lang="en-US" altLang="zh-CN" sz="1800" b="1" dirty="0">
                <a:solidFill>
                  <a:srgbClr val="008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4530" name="Text Box 77"/>
            <p:cNvSpPr txBox="1">
              <a:spLocks noChangeArrowheads="1"/>
            </p:cNvSpPr>
            <p:nvPr/>
          </p:nvSpPr>
          <p:spPr bwMode="auto">
            <a:xfrm>
              <a:off x="4787901" y="1384301"/>
              <a:ext cx="99060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y=f(x)</a:t>
              </a:r>
              <a:endParaRPr lang="en-US" altLang="zh-CN" sz="2400" i="1"/>
            </a:p>
          </p:txBody>
        </p:sp>
      </p:grpSp>
      <p:sp>
        <p:nvSpPr>
          <p:cNvPr id="64521" name="Rectangle 2"/>
          <p:cNvSpPr txBox="1">
            <a:spLocks noChangeArrowheads="1"/>
          </p:cNvSpPr>
          <p:nvPr/>
        </p:nvSpPr>
        <p:spPr bwMode="auto">
          <a:xfrm>
            <a:off x="2279650" y="404813"/>
            <a:ext cx="51117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660066"/>
                </a:solidFill>
              </a:rPr>
              <a:t>3.5.3 </a:t>
            </a:r>
            <a:r>
              <a:rPr lang="zh-CN" altLang="en-US" sz="2400" b="1" dirty="0">
                <a:solidFill>
                  <a:srgbClr val="660066"/>
                </a:solidFill>
              </a:rPr>
              <a:t>牛顿迭代法的几何意义</a:t>
            </a:r>
            <a:endParaRPr lang="zh-CN" altLang="en-US" sz="2400" b="1" dirty="0">
              <a:solidFill>
                <a:srgbClr val="660066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12"/>
              <p:cNvSpPr txBox="1"/>
              <p:nvPr/>
            </p:nvSpPr>
            <p:spPr bwMode="auto">
              <a:xfrm>
                <a:off x="3094038" y="5589588"/>
                <a:ext cx="6507162" cy="9540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4038" y="5589588"/>
                <a:ext cx="6507162" cy="954087"/>
              </a:xfrm>
              <a:prstGeom prst="rect">
                <a:avLst/>
              </a:prstGeom>
              <a:blipFill rotWithShape="1">
                <a:blip r:embed="rId1"/>
                <a:stretch>
                  <a:fillRect l="-5" t="-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7779544" y="3214836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 i="1" dirty="0">
                <a:solidFill>
                  <a:srgbClr val="FF0000"/>
                </a:solidFill>
              </a:rPr>
              <a:t>Newton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法又称切线法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0" grpId="0"/>
      <p:bldP spid="42001" grpId="0"/>
      <p:bldP spid="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75520" y="764704"/>
            <a:ext cx="7119898" cy="502702"/>
          </a:xfrm>
          <a:prstGeom prst="rect">
            <a:avLst/>
          </a:prstGeom>
          <a:blipFill>
            <a:blip r:embed="rId1"/>
            <a:stretch>
              <a:fillRect l="-1027" t="-15663" b="-32530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855640" y="3284984"/>
                <a:ext cx="976678" cy="48231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  <a:defRPr/>
                </a:pPr>
                <a:r>
                  <a:rPr lang="en-US" altLang="zh-CN" kern="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X=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kern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radPr>
                      <m:deg/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e>
                    </m:rad>
                  </m:oMath>
                </a14:m>
                <a:endParaRPr lang="zh-CN" altLang="en-US" kern="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0" y="3284984"/>
                <a:ext cx="976678" cy="482312"/>
              </a:xfrm>
              <a:prstGeom prst="rect">
                <a:avLst/>
              </a:prstGeom>
              <a:blipFill rotWithShape="1">
                <a:blip r:embed="rId2"/>
                <a:stretch>
                  <a:fillRect l="-5" t="-27" r="-4477" b="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2135187" y="1606354"/>
            <a:ext cx="2916237" cy="14716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571500" indent="-571500">
              <a:lnSpc>
                <a:spcPts val="32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kern="0" dirty="0">
                <a:latin typeface="华文宋体" panose="02010600040101010101" pitchFamily="2" charset="-122"/>
                <a:ea typeface="华文宋体" panose="02010600040101010101" pitchFamily="2" charset="-122"/>
              </a:rPr>
              <a:t>迭代公式？</a:t>
            </a:r>
            <a:endParaRPr lang="en-US" altLang="zh-CN" kern="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571500" indent="-571500">
              <a:lnSpc>
                <a:spcPts val="32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kern="0" dirty="0">
                <a:latin typeface="华文宋体" panose="02010600040101010101" pitchFamily="2" charset="-122"/>
                <a:ea typeface="华文宋体" panose="02010600040101010101" pitchFamily="2" charset="-122"/>
              </a:rPr>
              <a:t>初始值选择？</a:t>
            </a:r>
            <a:endParaRPr lang="en-US" altLang="zh-CN" kern="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571500" indent="-571500">
              <a:lnSpc>
                <a:spcPts val="32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kern="0" dirty="0">
                <a:latin typeface="华文宋体" panose="02010600040101010101" pitchFamily="2" charset="-122"/>
                <a:ea typeface="华文宋体" panose="02010600040101010101" pitchFamily="2" charset="-122"/>
              </a:rPr>
              <a:t>方法误差分析？</a:t>
            </a:r>
            <a:endParaRPr lang="zh-CN" altLang="en-US" kern="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4"/>
              <p:cNvSpPr txBox="1"/>
              <p:nvPr/>
            </p:nvSpPr>
            <p:spPr bwMode="auto">
              <a:xfrm>
                <a:off x="9336360" y="476672"/>
                <a:ext cx="226695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36360" y="476672"/>
                <a:ext cx="2266950" cy="952500"/>
              </a:xfrm>
              <a:prstGeom prst="rect">
                <a:avLst/>
              </a:prstGeom>
              <a:blipFill rotWithShape="1">
                <a:blip r:embed="rId3"/>
                <a:stretch>
                  <a:fillRect l="-26" t="-44" r="26" b="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6097432" y="2971800"/>
            <a:ext cx="64" cy="41742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lIns="0" tIns="0" rIns="0" bIns="0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endParaRPr lang="zh-CN" altLang="en-US" sz="36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2949640" y="3835963"/>
                <a:ext cx="882678" cy="48224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kern="0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i="1" kern="0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i="1" kern="0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kern="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i="1" kern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2</m:t>
                    </m:r>
                  </m:oMath>
                </a14:m>
                <a:endParaRPr lang="zh-CN" altLang="en-US" kern="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640" y="3835963"/>
                <a:ext cx="882678" cy="482248"/>
              </a:xfrm>
              <a:prstGeom prst="rect">
                <a:avLst/>
              </a:prstGeom>
              <a:blipFill rotWithShape="1">
                <a:blip r:embed="rId4"/>
                <a:stretch>
                  <a:fillRect l="-7" t="-117" r="-4018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2855640" y="4386878"/>
                <a:ext cx="1343766" cy="48224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kern="0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i="1" kern="0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i="1" kern="0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kern="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-</a:t>
                </a:r>
                <a14:m>
                  <m:oMath xmlns:m="http://schemas.openxmlformats.org/officeDocument/2006/math">
                    <m:r>
                      <a:rPr lang="en-US" altLang="zh-CN" i="1" kern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2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0</m:t>
                    </m:r>
                  </m:oMath>
                </a14:m>
                <a:endParaRPr lang="zh-CN" altLang="en-US" kern="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0" y="4386878"/>
                <a:ext cx="1343766" cy="482248"/>
              </a:xfrm>
              <a:prstGeom prst="rect">
                <a:avLst/>
              </a:prstGeom>
              <a:blipFill rotWithShape="1">
                <a:blip r:embed="rId5"/>
                <a:stretch>
                  <a:fillRect l="-3" t="-62" r="-2588" b="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2135560" y="620688"/>
                <a:ext cx="2892267" cy="4657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kern="0" dirty="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扩</a:t>
                </a:r>
                <a14:m>
                  <m:oMath xmlns:m="http://schemas.openxmlformats.org/officeDocument/2006/math">
                    <m:r>
                      <a:rPr lang="zh-CN" altLang="en-US" i="1" kern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展</m:t>
                    </m:r>
                  </m:oMath>
                </a14:m>
                <a:r>
                  <a:rPr lang="zh-CN" altLang="en-US" dirty="0"/>
                  <a:t>：求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rad>
                  </m:oMath>
                </a14:m>
                <a:r>
                  <a:rPr lang="zh-CN" altLang="en-US" dirty="0"/>
                  <a:t> （</a:t>
                </a:r>
                <a:r>
                  <a:rPr lang="en-US" altLang="zh-CN" dirty="0"/>
                  <a:t>a&gt;=0)</a:t>
                </a:r>
                <a:endParaRPr lang="zh-CN" altLang="en-US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620688"/>
                <a:ext cx="2892267" cy="465769"/>
              </a:xfrm>
              <a:prstGeom prst="rect">
                <a:avLst/>
              </a:prstGeom>
              <a:blipFill rotWithShape="1">
                <a:blip r:embed="rId1"/>
                <a:stretch>
                  <a:fillRect l="-2" t="-63" r="18" b="-2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5087888" y="583219"/>
            <a:ext cx="3167063" cy="5032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latin typeface="华文宋体" panose="02010600040101010101" pitchFamily="2" charset="-122"/>
                <a:ea typeface="华文宋体" panose="02010600040101010101" pitchFamily="2" charset="-122"/>
              </a:rPr>
              <a:t>即求方程</a:t>
            </a:r>
            <a:r>
              <a:rPr lang="en-US" altLang="zh-CN" kern="0" dirty="0">
                <a:latin typeface="华文宋体" panose="02010600040101010101" pitchFamily="2" charset="-122"/>
                <a:ea typeface="华文宋体" panose="02010600040101010101" pitchFamily="2" charset="-122"/>
              </a:rPr>
              <a:t>x</a:t>
            </a:r>
            <a:r>
              <a:rPr lang="en-US" altLang="zh-CN" kern="0" baseline="30000" dirty="0">
                <a:latin typeface="华文宋体" panose="02010600040101010101" pitchFamily="2" charset="-122"/>
                <a:ea typeface="华文宋体" panose="02010600040101010101" pitchFamily="2" charset="-122"/>
              </a:rPr>
              <a:t>2</a:t>
            </a:r>
            <a:r>
              <a:rPr lang="en-US" altLang="zh-CN" kern="0" dirty="0">
                <a:latin typeface="华文宋体" panose="02010600040101010101" pitchFamily="2" charset="-122"/>
                <a:ea typeface="华文宋体" panose="02010600040101010101" pitchFamily="2" charset="-122"/>
              </a:rPr>
              <a:t>-a=0</a:t>
            </a:r>
            <a:r>
              <a:rPr lang="zh-CN" altLang="en-US" kern="0" dirty="0">
                <a:latin typeface="华文宋体" panose="02010600040101010101" pitchFamily="2" charset="-122"/>
                <a:ea typeface="华文宋体" panose="02010600040101010101" pitchFamily="2" charset="-122"/>
              </a:rPr>
              <a:t>的正根</a:t>
            </a:r>
            <a:endParaRPr lang="zh-CN" altLang="en-US" kern="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711624" y="2238538"/>
                <a:ext cx="1809726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𝑓</m:t>
                          </m:r>
                        </m:e>
                        <m:sup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2</m:t>
                      </m:r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𝑥</m:t>
                      </m:r>
                    </m:oMath>
                  </m:oMathPara>
                </a14:m>
                <a:endParaRPr lang="zh-CN" altLang="en-US" sz="2800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4" y="2238538"/>
                <a:ext cx="1809726" cy="410369"/>
              </a:xfrm>
              <a:prstGeom prst="rect">
                <a:avLst/>
              </a:prstGeom>
              <a:blipFill rotWithShape="1">
                <a:blip r:embed="rId2"/>
                <a:stretch>
                  <a:fillRect l="-10" t="-40" r="-6132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479376" y="3124267"/>
                <a:ext cx="6696744" cy="499945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squar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:r>
                  <a:rPr lang="zh-CN" altLang="en-US" sz="2800" b="0" kern="0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迭代公式：</a:t>
                </a:r>
                <a:r>
                  <a:rPr lang="en-US" altLang="zh-CN" sz="3600" b="0" kern="0" dirty="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x-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CN" sz="3600" kern="0" dirty="0">
                            <a:solidFill>
                              <a:schemeClr val="tx1"/>
                            </a:solidFill>
                            <a:latin typeface="华文宋体" panose="02010600040101010101" pitchFamily="2" charset="-122"/>
                            <a:ea typeface="华文宋体" panose="02010600040101010101" pitchFamily="2" charset="-122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zh-CN" sz="3600" kern="0" baseline="30000" dirty="0">
                            <a:solidFill>
                              <a:schemeClr val="tx1"/>
                            </a:solidFill>
                            <a:latin typeface="华文宋体" panose="02010600040101010101" pitchFamily="2" charset="-122"/>
                            <a:ea typeface="华文宋体" panose="02010600040101010101" pitchFamily="2" charset="-122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3600" kern="0" dirty="0">
                            <a:solidFill>
                              <a:schemeClr val="tx1"/>
                            </a:solidFill>
                            <a:latin typeface="华文宋体" panose="02010600040101010101" pitchFamily="2" charset="-122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CN" sz="3600" kern="0" dirty="0">
                            <a:solidFill>
                              <a:schemeClr val="tx1"/>
                            </a:solidFill>
                            <a:latin typeface="华文宋体" panose="02010600040101010101" pitchFamily="2" charset="-122"/>
                            <a:ea typeface="华文宋体" panose="02010600040101010101" pitchFamily="2" charset="-122"/>
                          </a:rPr>
                          <m:t>a</m:t>
                        </m:r>
                      </m:num>
                      <m:den>
                        <m:r>
                          <a:rPr lang="en-US" altLang="zh-CN" sz="36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  <m:r>
                          <a:rPr lang="en-US" altLang="zh-CN" sz="36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den>
                    </m:f>
                    <m:r>
                      <a:rPr lang="en-US" altLang="zh-CN" sz="36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=(</m:t>
                    </m:r>
                    <m:r>
                      <a:rPr lang="en-US" altLang="zh-CN" sz="36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𝑥</m:t>
                    </m:r>
                    <m:r>
                      <a:rPr lang="en-US" altLang="zh-CN" sz="36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+</m:t>
                    </m:r>
                    <m:r>
                      <a:rPr lang="en-US" altLang="zh-CN" sz="36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𝑎</m:t>
                    </m:r>
                    <m:r>
                      <a:rPr lang="en-US" altLang="zh-CN" sz="36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/</m:t>
                    </m:r>
                    <m:r>
                      <a:rPr lang="en-US" altLang="zh-CN" sz="36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𝑥</m:t>
                    </m:r>
                    <m:r>
                      <a:rPr lang="en-US" altLang="zh-CN" sz="36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)/</m:t>
                    </m:r>
                    <m:r>
                      <a:rPr lang="en-US" altLang="zh-CN" sz="36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2</m:t>
                    </m:r>
                  </m:oMath>
                </a14:m>
                <a:endParaRPr lang="zh-CN" altLang="en-US" sz="3600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3124267"/>
                <a:ext cx="6696744" cy="499945"/>
              </a:xfrm>
              <a:prstGeom prst="rect">
                <a:avLst/>
              </a:prstGeom>
              <a:blipFill rotWithShape="1">
                <a:blip r:embed="rId3"/>
                <a:stretch>
                  <a:fillRect l="-9" t="-56789" r="9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4"/>
              <p:cNvSpPr txBox="1"/>
              <p:nvPr/>
            </p:nvSpPr>
            <p:spPr bwMode="auto">
              <a:xfrm>
                <a:off x="2549001" y="1237031"/>
                <a:ext cx="226695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9001" y="1237031"/>
                <a:ext cx="2266950" cy="952500"/>
              </a:xfrm>
              <a:prstGeom prst="rect">
                <a:avLst/>
              </a:prstGeom>
              <a:blipFill rotWithShape="1">
                <a:blip r:embed="rId4"/>
                <a:stretch>
                  <a:fillRect l="-5" t="-5" r="5" b="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7320136" y="1368733"/>
            <a:ext cx="4680520" cy="452431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const float EPS = 0.0000</a:t>
            </a:r>
            <a:r>
              <a:rPr lang="en-US" altLang="zh-CN" dirty="0"/>
              <a:t>05</a:t>
            </a:r>
            <a:r>
              <a:rPr lang="zh-CN" altLang="en-US" dirty="0"/>
              <a:t>; </a:t>
            </a:r>
            <a:endParaRPr lang="en-US" altLang="zh-CN" dirty="0"/>
          </a:p>
          <a:p>
            <a:r>
              <a:rPr lang="zh-CN" altLang="en-US" dirty="0"/>
              <a:t>double sqrt(double </a:t>
            </a:r>
            <a:r>
              <a:rPr lang="en-US" altLang="zh-CN" dirty="0"/>
              <a:t>a</a:t>
            </a:r>
            <a:r>
              <a:rPr lang="zh-CN" altLang="en-US" dirty="0"/>
              <a:t>) </a:t>
            </a:r>
            <a:endParaRPr lang="en-US" altLang="zh-CN" dirty="0"/>
          </a:p>
          <a:p>
            <a:r>
              <a:rPr lang="zh-CN" altLang="en-US" dirty="0"/>
              <a:t>{if(</a:t>
            </a:r>
            <a:r>
              <a:rPr lang="en-US" altLang="zh-CN" dirty="0"/>
              <a:t>a</a:t>
            </a:r>
            <a:r>
              <a:rPr lang="zh-CN" altLang="en-US" dirty="0"/>
              <a:t> == 0)  </a:t>
            </a:r>
            <a:endParaRPr lang="en-US" altLang="zh-CN" dirty="0"/>
          </a:p>
          <a:p>
            <a:r>
              <a:rPr lang="zh-CN" altLang="en-US" dirty="0"/>
              <a:t>        return 0;  </a:t>
            </a:r>
            <a:endParaRPr lang="en-US" altLang="zh-CN" dirty="0"/>
          </a:p>
          <a:p>
            <a:r>
              <a:rPr lang="zh-CN" altLang="en-US" dirty="0"/>
              <a:t>  double </a:t>
            </a:r>
            <a:r>
              <a:rPr lang="en-US" altLang="zh-CN" dirty="0"/>
              <a:t>x</a:t>
            </a:r>
            <a:r>
              <a:rPr lang="zh-CN" altLang="en-US" dirty="0"/>
              <a:t> = </a:t>
            </a:r>
            <a:r>
              <a:rPr lang="en-US" altLang="zh-CN" dirty="0"/>
              <a:t>a</a:t>
            </a:r>
            <a:r>
              <a:rPr lang="zh-CN" altLang="en-US" dirty="0"/>
              <a:t>;  </a:t>
            </a:r>
            <a:endParaRPr lang="en-US" altLang="zh-CN" dirty="0"/>
          </a:p>
          <a:p>
            <a:r>
              <a:rPr lang="zh-CN" altLang="en-US" dirty="0"/>
              <a:t> double lastValue;  </a:t>
            </a:r>
            <a:endParaRPr lang="en-US" altLang="zh-CN" dirty="0"/>
          </a:p>
          <a:p>
            <a:r>
              <a:rPr lang="zh-CN" altLang="en-US" dirty="0"/>
              <a:t> do{  </a:t>
            </a:r>
            <a:endParaRPr lang="en-US" altLang="zh-CN" dirty="0"/>
          </a:p>
          <a:p>
            <a:r>
              <a:rPr lang="zh-CN" altLang="en-US" dirty="0"/>
              <a:t>         lastValue = </a:t>
            </a:r>
            <a:r>
              <a:rPr lang="en-US" altLang="zh-CN" dirty="0"/>
              <a:t>x</a:t>
            </a:r>
            <a:r>
              <a:rPr lang="zh-CN" altLang="en-US" dirty="0"/>
              <a:t>;  </a:t>
            </a:r>
            <a:endParaRPr lang="en-US" altLang="zh-CN" dirty="0"/>
          </a:p>
          <a:p>
            <a:r>
              <a:rPr lang="zh-CN" altLang="en-US" dirty="0"/>
              <a:t>         </a:t>
            </a:r>
            <a:r>
              <a:rPr lang="en-US" altLang="zh-CN" dirty="0"/>
              <a:t>x</a:t>
            </a:r>
            <a:r>
              <a:rPr lang="zh-CN" altLang="en-US" dirty="0"/>
              <a:t> = </a:t>
            </a:r>
            <a:r>
              <a:rPr lang="en-US" altLang="zh-CN" dirty="0"/>
              <a:t>(x</a:t>
            </a:r>
            <a:r>
              <a:rPr lang="zh-CN" altLang="en-US" dirty="0"/>
              <a:t> + </a:t>
            </a:r>
            <a:r>
              <a:rPr lang="en-US" altLang="zh-CN" dirty="0"/>
              <a:t>a</a:t>
            </a:r>
            <a:r>
              <a:rPr lang="zh-CN" altLang="en-US" dirty="0"/>
              <a:t> /</a:t>
            </a:r>
            <a:r>
              <a:rPr lang="en-US" altLang="zh-CN" dirty="0"/>
              <a:t>x)/</a:t>
            </a:r>
            <a:r>
              <a:rPr lang="zh-CN" altLang="en-US" dirty="0"/>
              <a:t> 2.0f; </a:t>
            </a:r>
            <a:endParaRPr lang="en-US" altLang="zh-CN" dirty="0"/>
          </a:p>
          <a:p>
            <a:r>
              <a:rPr lang="zh-CN" altLang="en-US" dirty="0"/>
              <a:t>     }while(abs(</a:t>
            </a:r>
            <a:r>
              <a:rPr lang="en-US" altLang="zh-CN" dirty="0"/>
              <a:t>a</a:t>
            </a:r>
            <a:r>
              <a:rPr lang="zh-CN" altLang="en-US" dirty="0"/>
              <a:t> - lastValue) &gt; EPS);</a:t>
            </a:r>
            <a:endParaRPr lang="en-US" altLang="zh-CN" dirty="0"/>
          </a:p>
          <a:p>
            <a:r>
              <a:rPr lang="zh-CN" altLang="en-US" dirty="0"/>
              <a:t>     return (double) </a:t>
            </a:r>
            <a:r>
              <a:rPr lang="en-US" altLang="zh-CN" dirty="0"/>
              <a:t>x</a:t>
            </a:r>
            <a:r>
              <a:rPr lang="zh-CN" altLang="en-US" dirty="0"/>
              <a:t>;</a:t>
            </a:r>
            <a:endParaRPr lang="en-US" altLang="zh-CN" dirty="0"/>
          </a:p>
          <a:p>
            <a:r>
              <a:rPr lang="zh-CN" altLang="en-US" dirty="0"/>
              <a:t> }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27448" y="692696"/>
            <a:ext cx="1980029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kern="0" dirty="0">
                <a:latin typeface="+mn-ea"/>
                <a:ea typeface="+mn-ea"/>
              </a:rPr>
              <a:t>课堂作业：</a:t>
            </a:r>
            <a:endParaRPr lang="en-US" altLang="zh-CN" sz="2800" kern="0" dirty="0"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1919536" y="1192362"/>
                <a:ext cx="9505056" cy="1191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:r>
                  <a:rPr lang="zh-CN" altLang="en-US" sz="2800" kern="0" dirty="0">
                    <a:solidFill>
                      <a:schemeClr val="tx1"/>
                    </a:solidFill>
                    <a:latin typeface="+mn-ea"/>
                    <a:ea typeface="+mn-ea"/>
                  </a:rPr>
                  <a:t>导出计算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8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zh-CN" sz="28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a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sz="2800" kern="0" dirty="0">
                    <a:solidFill>
                      <a:schemeClr val="tx1"/>
                    </a:solidFill>
                    <a:latin typeface="+mn-ea"/>
                    <a:ea typeface="+mn-ea"/>
                  </a:rPr>
                  <a:t>(a&gt;0)</a:t>
                </a:r>
                <a:r>
                  <a:rPr lang="zh-CN" altLang="en-US" sz="2800" kern="0" dirty="0">
                    <a:solidFill>
                      <a:schemeClr val="tx1"/>
                    </a:solidFill>
                    <a:latin typeface="+mn-ea"/>
                    <a:ea typeface="+mn-ea"/>
                  </a:rPr>
                  <a:t>的牛顿迭代公式，要求迭代公式中无开方和除法运算。</a:t>
                </a:r>
                <a:endParaRPr lang="zh-CN" altLang="en-US" sz="2800" kern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1192362"/>
                <a:ext cx="9505056" cy="1191416"/>
              </a:xfrm>
              <a:prstGeom prst="rect">
                <a:avLst/>
              </a:prstGeom>
              <a:blipFill rotWithShape="1">
                <a:blip r:embed="rId1"/>
                <a:stretch>
                  <a:fillRect l="-6" t="-39" r="3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40403" y="2548530"/>
                <a:ext cx="5976664" cy="563424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square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:r>
                  <a:rPr lang="zh-CN" altLang="en-US" sz="2800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解：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𝑥</m:t>
                    </m:r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8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zh-CN" sz="28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rad>
                      </m:den>
                    </m:f>
                  </m:oMath>
                </a14:m>
                <a:r>
                  <a:rPr lang="zh-CN" altLang="en-US" sz="2800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800" i="1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800" i="1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2800" b="0" i="1" kern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2800" b="0" i="1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2800" b="0" i="1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i="1" kern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a</m:t>
                        </m:r>
                      </m:den>
                    </m:f>
                  </m:oMath>
                </a14:m>
                <a:endParaRPr lang="zh-CN" altLang="en-US" sz="2800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03" y="2548530"/>
                <a:ext cx="5976664" cy="563424"/>
              </a:xfrm>
              <a:prstGeom prst="rect">
                <a:avLst/>
              </a:prstGeom>
              <a:blipFill rotWithShape="1">
                <a:blip r:embed="rId2"/>
                <a:stretch>
                  <a:fillRect l="-6" t="-12672" r="7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5735960" y="2614487"/>
                <a:ext cx="1507913" cy="41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r>
                      <a:rPr lang="zh-CN" altLang="en-US" sz="2800" i="1" ker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即</m:t>
                    </m:r>
                    <m:r>
                      <a:rPr lang="zh-CN" altLang="en-US" sz="2800" i="1" kern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：</m:t>
                    </m:r>
                    <m:f>
                      <m:fPr>
                        <m:ctrlPr>
                          <a:rPr lang="en-US" altLang="zh-CN" sz="28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2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80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=a</a:t>
                </a:r>
                <a:endParaRPr lang="zh-CN" altLang="en-US" sz="2800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2614487"/>
                <a:ext cx="1507913" cy="410369"/>
              </a:xfrm>
              <a:prstGeom prst="rect">
                <a:avLst/>
              </a:prstGeom>
              <a:blipFill rotWithShape="1">
                <a:blip r:embed="rId3"/>
                <a:stretch>
                  <a:fillRect t="-22484" r="-12100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2187981" y="3361826"/>
                <a:ext cx="2009268" cy="4604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𝑓</m:t>
                    </m:r>
                    <m:d>
                      <m:dPr>
                        <m:ctrlPr>
                          <a:rPr lang="en-US" altLang="zh-CN" sz="2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8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nor/>
                      </m:rPr>
                      <a:rPr lang="en-US" altLang="zh-CN" sz="2800" b="0" i="0" kern="0" dirty="0" smtClean="0">
                        <a:solidFill>
                          <a:schemeClr val="tx1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m:t>−</m:t>
                    </m:r>
                    <m:r>
                      <m:rPr>
                        <m:nor/>
                      </m:rPr>
                      <a:rPr lang="en-US" altLang="zh-CN" sz="2800" kern="0" dirty="0">
                        <a:solidFill>
                          <a:schemeClr val="tx1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m:t>a</m:t>
                    </m:r>
                  </m:oMath>
                </a14:m>
                <a:r>
                  <a:rPr lang="en-US" altLang="zh-CN" sz="2800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,</a:t>
                </a:r>
                <a:endParaRPr lang="zh-CN" altLang="en-US" sz="2800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981" y="3361826"/>
                <a:ext cx="2009268" cy="460447"/>
              </a:xfrm>
              <a:prstGeom prst="rect">
                <a:avLst/>
              </a:prstGeom>
              <a:blipFill rotWithShape="1">
                <a:blip r:embed="rId4"/>
                <a:stretch>
                  <a:fillRect l="-305" t="-20026" r="-10181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919262" y="3377943"/>
                <a:ext cx="2324611" cy="41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𝑓</m:t>
                          </m:r>
                        </m:e>
                        <m:sup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</m:t>
                          </m:r>
                          <m:d>
                            <m:dPr>
                              <m:ctrlPr>
                                <a:rPr lang="en-US" altLang="zh-CN" sz="28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sup>
                      </m:sSup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=−</m:t>
                      </m:r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2</m:t>
                      </m:r>
                      <m:sSup>
                        <m:sSupPr>
                          <m:ctrlP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−</m:t>
                          </m:r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2800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262" y="3377943"/>
                <a:ext cx="2324611" cy="410369"/>
              </a:xfrm>
              <a:prstGeom prst="rect">
                <a:avLst/>
              </a:prstGeom>
              <a:blipFill rotWithShape="1">
                <a:blip r:embed="rId5"/>
                <a:stretch>
                  <a:fillRect l="-24" t="-92" r="-3451" b="1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2217768" y="4497272"/>
                <a:ext cx="4454296" cy="41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r>
                      <a:rPr lang="zh-CN" altLang="en-US" sz="280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𝜑</m:t>
                    </m:r>
                  </m:oMath>
                </a14:m>
                <a:r>
                  <a:rPr lang="en-US" altLang="zh-CN" sz="2800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(x)=x-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28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28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800" i="1" ker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 ker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800" i="1" ker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nor/>
                          </m:rPr>
                          <a:rPr lang="en-US" altLang="zh-CN" sz="2800" kern="0" dirty="0">
                            <a:solidFill>
                              <a:schemeClr val="tx1"/>
                            </a:solidFill>
                            <a:latin typeface="华文中宋" panose="02010600040101010101" pitchFamily="2" charset="-122"/>
                            <a:ea typeface="华文中宋" panose="02010600040101010101" pitchFamily="2" charset="-122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CN" sz="2800" kern="0" dirty="0">
                            <a:solidFill>
                              <a:schemeClr val="tx1"/>
                            </a:solidFill>
                            <a:latin typeface="华文中宋" panose="02010600040101010101" pitchFamily="2" charset="-122"/>
                            <a:ea typeface="华文中宋" panose="02010600040101010101" pitchFamily="2" charset="-122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zh-CN" altLang="en-US" sz="2800" kern="0" dirty="0">
                            <a:solidFill>
                              <a:schemeClr val="tx1"/>
                            </a:solidFill>
                            <a:latin typeface="华文中宋" panose="02010600040101010101" pitchFamily="2" charset="-122"/>
                            <a:ea typeface="华文中宋" panose="02010600040101010101" pitchFamily="2" charset="-122"/>
                          </a:rPr>
                          <m:t> </m:t>
                        </m:r>
                      </m:num>
                      <m:den>
                        <m: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</m:t>
                        </m:r>
                        <m:r>
                          <a:rPr lang="en-US" altLang="zh-CN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28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8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−</m:t>
                            </m:r>
                            <m:r>
                              <a:rPr lang="en-US" altLang="zh-CN" sz="28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1</m:t>
                    </m:r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5</m:t>
                    </m:r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𝑥</m:t>
                    </m:r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−</m:t>
                    </m:r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1</m:t>
                    </m:r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  <m:r>
                      <a:rPr lang="en-US" altLang="zh-CN" sz="2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5</m:t>
                    </m:r>
                    <m:sSup>
                      <m:sSupPr>
                        <m:ctrlPr>
                          <a:rPr lang="en-US" altLang="zh-CN" sz="2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3</m:t>
                        </m:r>
                      </m:sup>
                    </m:sSup>
                  </m:oMath>
                </a14:m>
                <a:endParaRPr lang="zh-CN" altLang="en-US" sz="2800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768" y="4497272"/>
                <a:ext cx="4454296" cy="410369"/>
              </a:xfrm>
              <a:prstGeom prst="rect">
                <a:avLst/>
              </a:prstGeom>
              <a:blipFill rotWithShape="1">
                <a:blip r:embed="rId6"/>
                <a:stretch>
                  <a:fillRect l="-8" t="-54053" r="-3504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2045566" y="5499874"/>
                <a:ext cx="6483120" cy="41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r>
                      <a:rPr lang="zh-CN" altLang="en-US" sz="320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∴</m:t>
                    </m:r>
                  </m:oMath>
                </a14:m>
                <a:r>
                  <a:rPr lang="zh-CN" altLang="en-US" sz="3200" kern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迭代公式为：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3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en-US" altLang="zh-CN" sz="3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+</m:t>
                        </m:r>
                        <m:r>
                          <a:rPr lang="en-US" altLang="zh-CN" sz="3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3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3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1</m:t>
                    </m:r>
                    <m:r>
                      <a:rPr lang="en-US" altLang="zh-CN" sz="3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  <m:r>
                      <a:rPr lang="en-US" altLang="zh-CN" sz="3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5</m:t>
                    </m:r>
                    <m:sSub>
                      <m:sSubPr>
                        <m:ctrlPr>
                          <a:rPr lang="en-US" altLang="zh-CN" sz="3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3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3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3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−</m:t>
                    </m:r>
                    <m:r>
                      <a:rPr lang="en-US" altLang="zh-CN" sz="3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1</m:t>
                    </m:r>
                    <m:r>
                      <a:rPr lang="en-US" altLang="zh-CN" sz="3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  <m:r>
                      <a:rPr lang="en-US" altLang="zh-CN" sz="3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5</m:t>
                    </m:r>
                    <m:sSubSup>
                      <m:sSubSupPr>
                        <m:ctrlPr>
                          <a:rPr lang="en-US" altLang="zh-CN" sz="3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3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3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3</m:t>
                        </m:r>
                      </m:sup>
                    </m:sSubSup>
                  </m:oMath>
                </a14:m>
                <a:endParaRPr lang="zh-CN" altLang="en-US" sz="3200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566" y="5499874"/>
                <a:ext cx="6483120" cy="410369"/>
              </a:xfrm>
              <a:prstGeom prst="rect">
                <a:avLst/>
              </a:prstGeom>
              <a:blipFill rotWithShape="1">
                <a:blip r:embed="rId7"/>
                <a:stretch>
                  <a:fillRect l="-4" t="-16591" r="-2870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  <p:bldP spid="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28416" y="283374"/>
            <a:ext cx="5673348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>
              <a:lnSpc>
                <a:spcPts val="32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kern="0" dirty="0">
                <a:latin typeface="+mn-ea"/>
                <a:ea typeface="+mn-ea"/>
              </a:rPr>
              <a:t>牛顿迭代法与不动点加权迭代法</a:t>
            </a:r>
            <a:endParaRPr lang="zh-CN" altLang="en-US" sz="2800" kern="0" dirty="0"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887476" y="1075095"/>
                <a:ext cx="2734082" cy="41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𝜑</m:t>
                      </m:r>
                      <m:d>
                        <m:dPr>
                          <m:ctrlP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e>
                      </m:d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𝑥</m:t>
                      </m:r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𝑓</m:t>
                      </m:r>
                      <m:d>
                        <m:dPr>
                          <m:ctrlP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800" kern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7476" y="1075095"/>
                <a:ext cx="2734082" cy="410369"/>
              </a:xfrm>
              <a:prstGeom prst="rect">
                <a:avLst/>
              </a:prstGeom>
              <a:blipFill rotWithShape="1">
                <a:blip r:embed="rId1"/>
                <a:stretch>
                  <a:fillRect l="-9" t="-10" r="-1880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892693" y="1674491"/>
                <a:ext cx="4468260" cy="41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  <m: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box>
                        <m:boxPr>
                          <m:ctrlPr>
                            <a:rPr lang="en-US" altLang="zh-CN" sz="32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sSub>
                            <m:sSubPr>
                              <m:ctrlPr>
                                <a:rPr lang="en-US" altLang="zh-CN" sz="32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lang="en-US" altLang="zh-CN" sz="32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1</m:t>
                              </m:r>
                              <m:r>
                                <a:rPr lang="en-US" altLang="zh-CN" sz="32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−</m:t>
                              </m:r>
                              <m:r>
                                <a:rPr lang="zh-CN" altLang="en-US" sz="32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𝜔</m:t>
                              </m:r>
                              <m:r>
                                <a:rPr lang="en-US" altLang="zh-CN" sz="32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)</m:t>
                              </m:r>
                              <m:r>
                                <a:rPr lang="en-US" altLang="zh-CN" sz="32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32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lang="zh-CN" altLang="en-US" sz="32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𝜔</m:t>
                          </m:r>
                        </m:e>
                      </m:box>
                      <m:r>
                        <a:rPr lang="zh-CN" altLang="en-US" sz="320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𝜑</m:t>
                      </m:r>
                      <m:r>
                        <a:rPr lang="en-US" altLang="zh-CN" sz="3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sSub>
                        <m:sSubPr>
                          <m:ctrlP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sub>
                      </m:sSub>
                      <m:r>
                        <a:rPr lang="en-US" altLang="zh-CN" sz="3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</m:oMath>
                  </m:oMathPara>
                </a14:m>
                <a:endParaRPr lang="zh-CN" altLang="en-US" sz="3200" kern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693" y="1674491"/>
                <a:ext cx="4468260" cy="410369"/>
              </a:xfrm>
              <a:prstGeom prst="rect">
                <a:avLst/>
              </a:prstGeom>
              <a:blipFill rotWithShape="1">
                <a:blip r:embed="rId2"/>
                <a:stretch>
                  <a:fillRect l="-9" t="-6653" r="4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844101" y="2363193"/>
                <a:ext cx="2558264" cy="906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ts val="3200"/>
                  </a:lnSpc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𝜔</m:t>
                      </m:r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  <m: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𝜑</m:t>
                              </m:r>
                            </m:e>
                            <m:sup>
                              <m: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zh-CN" altLang="en-US" sz="2800" kern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zh-CN" altLang="en-US" sz="2800" kern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:endParaRPr lang="zh-CN" altLang="en-US" sz="2800" kern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101" y="2363193"/>
                <a:ext cx="2558264" cy="906915"/>
              </a:xfrm>
              <a:prstGeom prst="rect">
                <a:avLst/>
              </a:prstGeom>
              <a:blipFill rotWithShape="1">
                <a:blip r:embed="rId3"/>
                <a:stretch>
                  <a:fillRect l="-2" t="-27416" r="-2883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4866612" y="2255733"/>
                <a:ext cx="2569100" cy="50270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lnSpc>
                    <a:spcPts val="3200"/>
                  </a:lnSpc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lang="zh-CN" altLang="en-US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𝜑</m:t>
                          </m:r>
                        </m:e>
                        <m:sup>
                          <m:r>
                            <a:rPr lang="en-US" altLang="zh-CN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e>
                      </m:d>
                      <m:r>
                        <a:rPr lang="en-US" altLang="zh-CN" b="0" i="0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f</m:t>
                      </m:r>
                      <m:r>
                        <a:rPr lang="en-US" altLang="zh-CN" b="0" i="0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′</m:t>
                      </m:r>
                      <m:d>
                        <m:dPr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x</m:t>
                          </m:r>
                        </m:e>
                      </m:d>
                      <m:r>
                        <a:rPr lang="en-US" altLang="zh-CN" b="0" i="0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r>
                        <a:rPr lang="en-US" altLang="zh-CN" b="0" i="0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1</m:t>
                      </m:r>
                    </m:oMath>
                  </m:oMathPara>
                </a14:m>
                <a:endParaRPr lang="zh-CN" altLang="en-US" kern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612" y="2255733"/>
                <a:ext cx="2569100" cy="502702"/>
              </a:xfrm>
              <a:prstGeom prst="rect">
                <a:avLst/>
              </a:prstGeom>
              <a:blipFill rotWithShape="1">
                <a:blip r:embed="rId4"/>
                <a:stretch>
                  <a:fillRect l="-24" t="-42" r="19" b="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983432" y="3062618"/>
                <a:ext cx="7416824" cy="37782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algn="ctr">
                  <a:spcBef>
                    <a:spcPts val="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  <m: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box>
                        <m:boxPr>
                          <m:ctrlP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sSub>
                            <m:sSubPr>
                              <m:ctrlPr>
                                <a:rPr lang="en-US" altLang="zh-CN" sz="28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altLang="zh-CN" sz="2800" b="0" i="1" kern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kern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1</m:t>
                                  </m:r>
                                  <m:r>
                                    <a:rPr lang="en-US" altLang="zh-CN" sz="2800" b="0" i="1" kern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2800" i="1" ker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i="1" ker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2800" i="1" ker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1</m:t>
                                      </m:r>
                                      <m:r>
                                        <a:rPr lang="en-US" altLang="zh-CN" sz="2800" i="1" ker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800" i="1" ker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800" i="1" ker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</a:rPr>
                                            <m:t>𝜑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800" i="1" ker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altLang="zh-CN" sz="2800" i="1" ker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i="1" ker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nor/>
                                        </m:rPr>
                                        <a:rPr lang="zh-CN" altLang="en-US" sz="2800" kern="0" dirty="0">
                                          <a:solidFill>
                                            <a:schemeClr val="tx1"/>
                                          </a:solidFill>
                                          <a:latin typeface="+mn-ea"/>
                                          <a:ea typeface="+mn-ea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sz="28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Pr>
                            <m:num>
                              <m: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1</m:t>
                              </m:r>
                              <m: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lang="en-US" altLang="zh-CN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CN" altLang="en-US" sz="2800" kern="0" dirty="0">
                                  <a:solidFill>
                                    <a:schemeClr val="tx1"/>
                                  </a:solidFill>
                                  <a:latin typeface="+mn-ea"/>
                                  <a:ea typeface="+mn-ea"/>
                                </a:rPr>
                                <m:t> </m:t>
                              </m:r>
                            </m:den>
                          </m:f>
                        </m:e>
                      </m:box>
                      <m:r>
                        <a:rPr lang="zh-CN" altLang="en-US" sz="280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𝜑</m:t>
                      </m:r>
                      <m:d>
                        <m:dPr>
                          <m:ctrlP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800" b="0" i="1" kern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  <a:p>
                <a:pPr marL="0" algn="ctr">
                  <a:spcBef>
                    <a:spcPts val="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0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𝜑</m:t>
                              </m:r>
                            </m:e>
                            <m:sup>
                              <m: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lang="zh-CN" altLang="en-US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  <m: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𝜑</m:t>
                              </m:r>
                            </m:e>
                            <m:sup>
                              <m: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zh-CN" altLang="en-US" sz="2800" kern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m:t> </m:t>
                          </m:r>
                        </m:den>
                      </m:f>
                      <m:r>
                        <a:rPr lang="en-US" altLang="zh-CN" sz="2800" b="0" i="1" kern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−</m:t>
                              </m:r>
                              <m:r>
                                <a:rPr lang="en-US" altLang="zh-CN" sz="32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𝑥𝑓</m:t>
                              </m:r>
                            </m:e>
                            <m:sup>
                              <m: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32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32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lang="en-US" altLang="zh-CN" sz="32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𝑓</m:t>
                          </m:r>
                          <m:r>
                            <a:rPr lang="en-US" altLang="zh-CN" sz="32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32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32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zh-CN" altLang="en-US" sz="3200" kern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m:t> </m:t>
                          </m:r>
                        </m:den>
                      </m:f>
                      <m:r>
                        <a:rPr lang="en-US" altLang="zh-CN" sz="3200" b="0" i="1" kern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sub>
                      </m:sSub>
                      <m:r>
                        <a:rPr lang="en-US" altLang="zh-CN" sz="3200" b="0" i="1" kern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f>
                        <m:fPr>
                          <m:ctrlP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𝑓</m:t>
                          </m:r>
                          <m: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32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32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32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zh-CN" altLang="en-US" sz="3200" kern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altLang="zh-CN" sz="3200" b="0" kern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3062618"/>
                <a:ext cx="7416824" cy="3778278"/>
              </a:xfrm>
              <a:prstGeom prst="rect">
                <a:avLst/>
              </a:prstGeom>
              <a:blipFill rotWithShape="1">
                <a:blip r:embed="rId5"/>
                <a:stretch>
                  <a:fillRect l="-6" r="6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193968" y="1611654"/>
            <a:ext cx="1723549" cy="473206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松弛法加速</a:t>
            </a:r>
            <a:endParaRPr lang="zh-CN" altLang="en-US" kern="0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 txBox="1">
            <a:spLocks noChangeArrowheads="1"/>
          </p:cNvSpPr>
          <p:nvPr/>
        </p:nvSpPr>
        <p:spPr bwMode="auto">
          <a:xfrm>
            <a:off x="1273721" y="536862"/>
            <a:ext cx="491561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660066"/>
                </a:solidFill>
              </a:rPr>
              <a:t>3.5.2 Newton</a:t>
            </a:r>
            <a:r>
              <a:rPr lang="zh-CN" altLang="en-US" sz="2800" b="1" dirty="0">
                <a:solidFill>
                  <a:srgbClr val="660066"/>
                </a:solidFill>
              </a:rPr>
              <a:t>法收敛性</a:t>
            </a:r>
            <a:endParaRPr lang="zh-CN" altLang="en-US" sz="2800" b="1" dirty="0">
              <a:solidFill>
                <a:srgbClr val="660066"/>
              </a:solidFill>
            </a:endParaRP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1487488" y="1129412"/>
            <a:ext cx="8382000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+mn-ea"/>
                <a:ea typeface="+mn-ea"/>
              </a:rPr>
              <a:t>定理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     设   是方程        的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单根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, 且</a:t>
            </a:r>
            <a:r>
              <a:rPr lang="en-US" altLang="zh-CN" sz="2800" i="1" dirty="0">
                <a:solidFill>
                  <a:srgbClr val="000000"/>
                </a:solidFill>
                <a:latin typeface="+mn-ea"/>
                <a:ea typeface="+mn-ea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+mn-ea"/>
                <a:ea typeface="+mn-ea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在     的某邻域内有连续的二阶导数, 则牛顿法在    附近局部收敛, 且</a:t>
            </a:r>
            <a:r>
              <a:rPr lang="zh-CN" altLang="en-US" sz="2800" dirty="0">
                <a:solidFill>
                  <a:srgbClr val="0000FF"/>
                </a:solidFill>
                <a:latin typeface="+mn-ea"/>
                <a:ea typeface="+mn-ea"/>
              </a:rPr>
              <a:t>至少二阶收敛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, 有</a:t>
            </a:r>
            <a:endParaRPr lang="zh-CN" altLang="en-US" sz="2800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10000"/>
              </a:lnSpc>
              <a:spcBef>
                <a:spcPct val="5000"/>
              </a:spcBef>
            </a:pPr>
            <a:r>
              <a:rPr lang="zh-CN" altLang="en-US" sz="32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endParaRPr lang="zh-CN" altLang="en-US" sz="32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7"/>
              <p:cNvSpPr txBox="1"/>
              <p:nvPr/>
            </p:nvSpPr>
            <p:spPr bwMode="auto">
              <a:xfrm>
                <a:off x="3602352" y="1212186"/>
                <a:ext cx="412750" cy="4572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2352" y="1212186"/>
                <a:ext cx="412750" cy="457200"/>
              </a:xfrm>
              <a:prstGeom prst="rect">
                <a:avLst/>
              </a:prstGeom>
              <a:blipFill rotWithShape="1">
                <a:blip r:embed="rId1"/>
                <a:stretch>
                  <a:fillRect l="-153" t="-133" r="153" b="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Object 9"/>
              <p:cNvSpPr txBox="1"/>
              <p:nvPr/>
            </p:nvSpPr>
            <p:spPr bwMode="auto">
              <a:xfrm>
                <a:off x="5231904" y="1242348"/>
                <a:ext cx="1219200" cy="427038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2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31904" y="1242348"/>
                <a:ext cx="1219200" cy="427038"/>
              </a:xfrm>
              <a:prstGeom prst="rect">
                <a:avLst/>
              </a:prstGeom>
              <a:blipFill rotWithShape="1">
                <a:blip r:embed="rId2"/>
                <a:stretch>
                  <a:fillRect l="-11" t="-67" r="11" b="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13"/>
              <p:cNvSpPr txBox="1"/>
              <p:nvPr/>
            </p:nvSpPr>
            <p:spPr bwMode="auto">
              <a:xfrm>
                <a:off x="9480376" y="1212186"/>
                <a:ext cx="533400" cy="4572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80376" y="1212186"/>
                <a:ext cx="533400" cy="457200"/>
              </a:xfrm>
              <a:prstGeom prst="rect">
                <a:avLst/>
              </a:prstGeom>
              <a:blipFill rotWithShape="1">
                <a:blip r:embed="rId3"/>
                <a:stretch>
                  <a:fillRect l="-86" t="-133" r="86" b="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bject 14"/>
              <p:cNvSpPr txBox="1"/>
              <p:nvPr/>
            </p:nvSpPr>
            <p:spPr bwMode="auto">
              <a:xfrm>
                <a:off x="8431698" y="1696912"/>
                <a:ext cx="436563" cy="48101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31698" y="1696912"/>
                <a:ext cx="436563" cy="481013"/>
              </a:xfrm>
              <a:prstGeom prst="rect">
                <a:avLst/>
              </a:prstGeom>
              <a:blipFill rotWithShape="1">
                <a:blip r:embed="rId4"/>
                <a:stretch>
                  <a:fillRect l="-38" t="-40" r="111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Object 16"/>
          <p:cNvGraphicFramePr>
            <a:graphicFrameLocks noChangeAspect="1"/>
          </p:cNvGraphicFramePr>
          <p:nvPr/>
        </p:nvGraphicFramePr>
        <p:xfrm>
          <a:off x="2813123" y="2781649"/>
          <a:ext cx="5410200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8" name="" r:id="rId5" imgW="2260600" imgH="584200" progId="Equation.3">
                  <p:embed/>
                </p:oleObj>
              </mc:Choice>
              <mc:Fallback>
                <p:oleObj name="" r:id="rId5" imgW="2260600" imgH="584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123" y="2781649"/>
                        <a:ext cx="5410200" cy="1112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1310278" y="3930309"/>
            <a:ext cx="10015264" cy="1799547"/>
            <a:chOff x="1310278" y="3930309"/>
            <a:chExt cx="10015264" cy="179954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Object 22"/>
                <p:cNvSpPr txBox="1"/>
                <p:nvPr/>
              </p:nvSpPr>
              <p:spPr bwMode="auto">
                <a:xfrm>
                  <a:off x="4252118" y="4764043"/>
                  <a:ext cx="1066800" cy="439738"/>
                </a:xfrm>
                <a:prstGeom prst="rect">
                  <a:avLst/>
                </a:prstGeom>
                <a:noFill/>
              </p:spPr>
              <p:txBody>
                <a:bodyPr>
                  <a:normAutofit fontScale="70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9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52118" y="4764043"/>
                  <a:ext cx="1066800" cy="439738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" name="组合 1"/>
            <p:cNvGrpSpPr/>
            <p:nvPr/>
          </p:nvGrpSpPr>
          <p:grpSpPr>
            <a:xfrm>
              <a:off x="1310278" y="3930309"/>
              <a:ext cx="10015264" cy="1799547"/>
              <a:chOff x="1310278" y="3930309"/>
              <a:chExt cx="10015264" cy="1799547"/>
            </a:xfrm>
          </p:grpSpPr>
          <p:sp>
            <p:nvSpPr>
              <p:cNvPr id="26" name="Text Box 18"/>
              <p:cNvSpPr txBox="1">
                <a:spLocks noChangeArrowheads="1"/>
              </p:cNvSpPr>
              <p:nvPr/>
            </p:nvSpPr>
            <p:spPr bwMode="auto">
              <a:xfrm>
                <a:off x="1310278" y="4025159"/>
                <a:ext cx="10015264" cy="17046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ct val="5000"/>
                  </a:spcBef>
                </a:pP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</a:rPr>
                  <a:t>证明:方法一： 牛顿迭代公式对应的迭代函数为</a:t>
                </a:r>
                <a:endParaRPr lang="zh-CN" altLang="en-US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  <a:p>
                <a:pPr>
                  <a:lnSpc>
                    <a:spcPct val="150000"/>
                  </a:lnSpc>
                  <a:spcBef>
                    <a:spcPct val="5000"/>
                  </a:spcBef>
                </a:pP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</a:rPr>
                  <a:t>      若    是方程         的单根,则有         ,          </a:t>
                </a:r>
                <a:endParaRPr lang="zh-CN" altLang="en-US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  <a:p>
                <a:pPr>
                  <a:lnSpc>
                    <a:spcPct val="150000"/>
                  </a:lnSpc>
                  <a:spcBef>
                    <a:spcPct val="5000"/>
                  </a:spcBef>
                </a:pP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</a:rPr>
                  <a:t>      从而 </a:t>
                </a:r>
                <a:endParaRPr lang="zh-CN" altLang="en-US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Object 19"/>
                  <p:cNvSpPr txBox="1"/>
                  <p:nvPr/>
                </p:nvSpPr>
                <p:spPr bwMode="auto">
                  <a:xfrm>
                    <a:off x="7968208" y="3930309"/>
                    <a:ext cx="2209800" cy="784225"/>
                  </a:xfrm>
                  <a:prstGeom prst="rect">
                    <a:avLst/>
                  </a:prstGeom>
                  <a:noFill/>
                </p:spPr>
                <p:txBody>
                  <a:bodyPr>
                    <a:normAutofit fontScale="85000" lnSpcReduction="1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27" name="Object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968208" y="3930309"/>
                    <a:ext cx="2209800" cy="784225"/>
                  </a:xfrm>
                  <a:prstGeom prst="rect">
                    <a:avLst/>
                  </a:prstGeom>
                  <a:blipFill rotWithShape="1">
                    <a:blip r:embed="rId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" name="Object 21"/>
                  <p:cNvSpPr txBox="1"/>
                  <p:nvPr/>
                </p:nvSpPr>
                <p:spPr bwMode="auto">
                  <a:xfrm>
                    <a:off x="2654392" y="4689191"/>
                    <a:ext cx="533400" cy="457200"/>
                  </a:xfrm>
                  <a:prstGeom prst="rect">
                    <a:avLst/>
                  </a:prstGeom>
                  <a:noFill/>
                </p:spPr>
                <p:txBody>
                  <a:bodyPr>
                    <a:norm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28" name="Object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654392" y="4689191"/>
                    <a:ext cx="533400" cy="457200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Object 23"/>
                  <p:cNvSpPr txBox="1"/>
                  <p:nvPr/>
                </p:nvSpPr>
                <p:spPr bwMode="auto">
                  <a:xfrm>
                    <a:off x="7169482" y="4764043"/>
                    <a:ext cx="1247729" cy="439738"/>
                  </a:xfrm>
                  <a:prstGeom prst="rect">
                    <a:avLst/>
                  </a:prstGeom>
                  <a:noFill/>
                </p:spPr>
                <p:txBody>
                  <a:bodyPr>
                    <a:normAutofit fontScale="775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30" name="Object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169482" y="4764043"/>
                    <a:ext cx="1247729" cy="439738"/>
                  </a:xfrm>
                  <a:prstGeom prst="rect">
                    <a:avLst/>
                  </a:prstGeom>
                  <a:blipFill rotWithShape="1">
                    <a:blip r:embed="rId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Object 25"/>
                  <p:cNvSpPr txBox="1"/>
                  <p:nvPr/>
                </p:nvSpPr>
                <p:spPr bwMode="auto">
                  <a:xfrm>
                    <a:off x="8737059" y="4737632"/>
                    <a:ext cx="1850021" cy="525136"/>
                  </a:xfrm>
                  <a:prstGeom prst="rect">
                    <a:avLst/>
                  </a:prstGeom>
                  <a:noFill/>
                </p:spPr>
                <p:txBody>
                  <a:bodyPr>
                    <a:norm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)≠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31" name="Object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737059" y="4737632"/>
                    <a:ext cx="1850021" cy="525136"/>
                  </a:xfrm>
                  <a:prstGeom prst="rect">
                    <a:avLst/>
                  </a:prstGeom>
                  <a:blipFill rotWithShape="1">
                    <a:blip r:embed="rId1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bject 27"/>
              <p:cNvSpPr txBox="1"/>
              <p:nvPr/>
            </p:nvSpPr>
            <p:spPr bwMode="auto">
              <a:xfrm>
                <a:off x="3239500" y="5127204"/>
                <a:ext cx="4267200" cy="9064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″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2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9500" y="5127204"/>
                <a:ext cx="4267200" cy="906463"/>
              </a:xfrm>
              <a:prstGeom prst="rect">
                <a:avLst/>
              </a:prstGeom>
              <a:blipFill rotWithShape="1">
                <a:blip r:embed="rId11"/>
                <a:stretch>
                  <a:fillRect l="-9" t="-24" r="9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1310278" y="6101686"/>
            <a:ext cx="10330337" cy="481013"/>
            <a:chOff x="1310278" y="6101686"/>
            <a:chExt cx="10330337" cy="481013"/>
          </a:xfrm>
        </p:grpSpPr>
        <p:sp>
          <p:nvSpPr>
            <p:cNvPr id="33" name="Text Box 29"/>
            <p:cNvSpPr txBox="1">
              <a:spLocks noChangeArrowheads="1"/>
            </p:cNvSpPr>
            <p:nvPr/>
          </p:nvSpPr>
          <p:spPr bwMode="auto">
            <a:xfrm>
              <a:off x="1310278" y="6101686"/>
              <a:ext cx="10330337" cy="4628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Bef>
                  <a:spcPct val="50000"/>
                </a:spcBef>
              </a:pPr>
              <a:r>
                <a:rPr lang="zh-CN" altLang="en-US" dirty="0">
                  <a:solidFill>
                    <a:srgbClr val="000000"/>
                  </a:solidFill>
                  <a:latin typeface="+mn-ea"/>
                  <a:ea typeface="+mn-ea"/>
                </a:rPr>
                <a:t>故牛顿迭代法在   附近局部收敛。迭代公式至少具有二阶收敛速度。 </a:t>
              </a:r>
              <a:endParaRPr lang="zh-CN" altLang="en-US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Object 30"/>
                <p:cNvSpPr txBox="1"/>
                <p:nvPr/>
              </p:nvSpPr>
              <p:spPr bwMode="auto">
                <a:xfrm>
                  <a:off x="3513248" y="6101686"/>
                  <a:ext cx="436563" cy="481013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4" name="Object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3248" y="6101686"/>
                  <a:ext cx="436563" cy="481013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57200" y="296068"/>
            <a:ext cx="838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800" b="1" dirty="0">
                <a:latin typeface="+mn-ea"/>
                <a:ea typeface="+mn-ea"/>
              </a:rPr>
              <a:t>方法二：利用泰勒公式证明二阶收敛</a:t>
            </a:r>
            <a:endParaRPr lang="zh-CN" altLang="en-US" sz="2800" b="1" dirty="0"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 bwMode="auto">
              <a:xfrm>
                <a:off x="1847528" y="833007"/>
                <a:ext cx="8589963" cy="14351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″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7528" y="833007"/>
                <a:ext cx="8589963" cy="1435100"/>
              </a:xfrm>
              <a:prstGeom prst="rect">
                <a:avLst/>
              </a:prstGeom>
              <a:blipFill rotWithShape="1">
                <a:blip r:embed="rId1"/>
                <a:stretch>
                  <a:fillRect l="-4" t="-36" r="7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5"/>
              <p:cNvSpPr txBox="1"/>
              <p:nvPr/>
            </p:nvSpPr>
            <p:spPr bwMode="auto">
              <a:xfrm>
                <a:off x="1114737" y="2767382"/>
                <a:ext cx="7066926" cy="123983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∴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″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4737" y="2767382"/>
                <a:ext cx="7066926" cy="1239837"/>
              </a:xfrm>
              <a:prstGeom prst="rect">
                <a:avLst/>
              </a:prstGeom>
              <a:blipFill rotWithShape="1">
                <a:blip r:embed="rId2"/>
                <a:stretch>
                  <a:fillRect l="-4" t="-4" r="5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7"/>
              <p:cNvSpPr txBox="1"/>
              <p:nvPr/>
            </p:nvSpPr>
            <p:spPr bwMode="auto">
              <a:xfrm>
                <a:off x="1880960" y="3863100"/>
                <a:ext cx="5511184" cy="123983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″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0960" y="3863100"/>
                <a:ext cx="5511184" cy="1239837"/>
              </a:xfrm>
              <a:prstGeom prst="rect">
                <a:avLst/>
              </a:prstGeom>
              <a:blipFill rotWithShape="1">
                <a:blip r:embed="rId3"/>
                <a:stretch>
                  <a:fillRect l="-2" t="-32" r="2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9"/>
              <p:cNvSpPr txBox="1"/>
              <p:nvPr/>
            </p:nvSpPr>
            <p:spPr bwMode="auto">
              <a:xfrm>
                <a:off x="2038028" y="4895626"/>
                <a:ext cx="4994076" cy="9096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即</m:t>
                          </m:r>
                          <m:r>
                            <a:rPr lang="zh-CN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：</m:t>
                          </m:r>
                          <m:r>
                            <a:rPr lang="zh-CN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″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8028" y="4895626"/>
                <a:ext cx="4994076" cy="909638"/>
              </a:xfrm>
              <a:prstGeom prst="rect">
                <a:avLst/>
              </a:prstGeom>
              <a:blipFill rotWithShape="1">
                <a:blip r:embed="rId4"/>
                <a:stretch>
                  <a:fillRect l="-6" t="-45" r="2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11"/>
              <p:cNvSpPr txBox="1"/>
              <p:nvPr/>
            </p:nvSpPr>
            <p:spPr bwMode="auto">
              <a:xfrm>
                <a:off x="3071664" y="5805264"/>
                <a:ext cx="4591050" cy="123983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1664" y="5805264"/>
                <a:ext cx="4591050" cy="1239837"/>
              </a:xfrm>
              <a:prstGeom prst="rect">
                <a:avLst/>
              </a:prstGeom>
              <a:blipFill rotWithShape="1">
                <a:blip r:embed="rId5"/>
                <a:stretch>
                  <a:fillRect l="-4" t="-8" r="4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2279576" y="6045348"/>
            <a:ext cx="121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故 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对象 8"/>
              <p:cNvSpPr txBox="1"/>
              <p:nvPr/>
            </p:nvSpPr>
            <p:spPr>
              <a:xfrm>
                <a:off x="1852775" y="2126157"/>
                <a:ext cx="1917700" cy="61753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775" y="2126157"/>
                <a:ext cx="1917700" cy="617538"/>
              </a:xfrm>
              <a:prstGeom prst="rect">
                <a:avLst/>
              </a:prstGeom>
              <a:blipFill rotWithShape="1">
                <a:blip r:embed="rId6"/>
                <a:stretch>
                  <a:fillRect l="-25" t="-29" r="25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 bwMode="auto">
          <a:xfrm>
            <a:off x="2038028" y="3863100"/>
            <a:ext cx="1732447" cy="909638"/>
          </a:xfrm>
          <a:prstGeom prst="rect">
            <a:avLst/>
          </a:prstGeom>
          <a:noFill/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9"/>
          <p:cNvGrpSpPr/>
          <p:nvPr/>
        </p:nvGrpSpPr>
        <p:grpSpPr bwMode="auto">
          <a:xfrm>
            <a:off x="1973995" y="241187"/>
            <a:ext cx="8423404" cy="1359843"/>
            <a:chOff x="674954" y="4699000"/>
            <a:chExt cx="7993063" cy="1359843"/>
          </a:xfrm>
          <a:noFill/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Object 12"/>
                <p:cNvSpPr txBox="1"/>
                <p:nvPr/>
              </p:nvSpPr>
              <p:spPr bwMode="auto">
                <a:xfrm>
                  <a:off x="2840708" y="4909969"/>
                  <a:ext cx="1192212" cy="42352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40708" y="4909969"/>
                  <a:ext cx="1192212" cy="423522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Object 13"/>
                <p:cNvSpPr txBox="1"/>
                <p:nvPr/>
              </p:nvSpPr>
              <p:spPr bwMode="auto">
                <a:xfrm>
                  <a:off x="2051720" y="4797346"/>
                  <a:ext cx="430213" cy="475868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51720" y="4797346"/>
                  <a:ext cx="430213" cy="475868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Object 20"/>
                <p:cNvSpPr txBox="1"/>
                <p:nvPr/>
              </p:nvSpPr>
              <p:spPr bwMode="auto">
                <a:xfrm>
                  <a:off x="6480374" y="4699000"/>
                  <a:ext cx="1898650" cy="81849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5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80374" y="4699000"/>
                  <a:ext cx="1898650" cy="818494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Object 10"/>
                <p:cNvSpPr txBox="1"/>
                <p:nvPr/>
              </p:nvSpPr>
              <p:spPr bwMode="auto">
                <a:xfrm>
                  <a:off x="1770261" y="5471494"/>
                  <a:ext cx="1793875" cy="58055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6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0261" y="5471494"/>
                  <a:ext cx="1793875" cy="580559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4"/>
            <p:cNvSpPr txBox="1">
              <a:spLocks noChangeArrowheads="1"/>
            </p:cNvSpPr>
            <p:nvPr/>
          </p:nvSpPr>
          <p:spPr bwMode="auto">
            <a:xfrm>
              <a:off x="674954" y="4767777"/>
              <a:ext cx="7993063" cy="129106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          如果</a:t>
              </a:r>
              <a:r>
                <a:rPr lang="zh-CN" altLang="en-US" sz="2400" i="1" dirty="0"/>
                <a:t>      </a:t>
              </a:r>
              <a:r>
                <a:rPr lang="zh-CN" altLang="en-US" sz="2400" dirty="0"/>
                <a:t>是   </a:t>
              </a:r>
              <a:r>
                <a:rPr lang="zh-CN" altLang="en-US" sz="2400" i="1" dirty="0"/>
                <a:t>              </a:t>
              </a:r>
              <a:r>
                <a:rPr lang="zh-CN" altLang="en-US" sz="2400" dirty="0"/>
                <a:t>的 </a:t>
              </a:r>
              <a:r>
                <a:rPr lang="en-US" altLang="zh-CN" sz="2400" i="1" dirty="0"/>
                <a:t>m</a:t>
              </a:r>
              <a:r>
                <a:rPr lang="en-US" altLang="zh-CN" sz="2400" dirty="0"/>
                <a:t>(&gt;1)</a:t>
              </a:r>
              <a:r>
                <a:rPr lang="zh-CN" altLang="en-US" sz="2400" dirty="0">
                  <a:solidFill>
                    <a:srgbClr val="FF0000"/>
                  </a:solidFill>
                </a:rPr>
                <a:t>重根</a:t>
              </a:r>
              <a:r>
                <a:rPr lang="zh-CN" altLang="en-US" sz="2400" dirty="0"/>
                <a:t>，则                            ，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     从而</a:t>
              </a:r>
              <a:r>
                <a:rPr lang="en-US" altLang="zh-CN" sz="2400" dirty="0"/>
                <a:t>                              ,   </a:t>
              </a:r>
              <a:r>
                <a:rPr lang="zh-CN" altLang="en-US" sz="2400" dirty="0"/>
                <a:t>此时</a:t>
              </a:r>
              <a:r>
                <a:rPr lang="en-US" altLang="zh-CN" sz="2400" i="1" dirty="0"/>
                <a:t>Newton</a:t>
              </a:r>
              <a:r>
                <a:rPr lang="zh-CN" altLang="en-US" sz="2400" dirty="0"/>
                <a:t>法仅有</a:t>
              </a:r>
              <a:r>
                <a:rPr lang="zh-CN" altLang="en-US" sz="2400" b="1" dirty="0"/>
                <a:t>线性收敛速度</a:t>
              </a:r>
              <a:r>
                <a:rPr lang="zh-CN" altLang="en-US" sz="2400" dirty="0"/>
                <a:t>。</a:t>
              </a:r>
              <a:r>
                <a:rPr lang="en-US" altLang="zh-CN" sz="2400" dirty="0"/>
                <a:t> 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en-US" altLang="zh-CN" sz="2400" dirty="0"/>
                <a:t> </a:t>
              </a:r>
              <a:endParaRPr lang="en-US" altLang="zh-CN" sz="2400" dirty="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790010" y="267423"/>
            <a:ext cx="1980029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重根形式：</a:t>
            </a:r>
            <a:endParaRPr lang="zh-CN" altLang="en-US" sz="2800" kern="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42666" y="1475102"/>
            <a:ext cx="1107996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证明：</a:t>
            </a:r>
            <a:endParaRPr lang="zh-CN" altLang="en-US" kern="0" dirty="0">
              <a:solidFill>
                <a:srgbClr val="7030A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554717" y="1937836"/>
                <a:ext cx="10186999" cy="41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eqArr>
                            <m:eqArrPr>
                              <m:ctrlPr>
                                <a:rPr lang="en-US" altLang="zh-CN" sz="2800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f</m:t>
                              </m:r>
                              <m:d>
                                <m:dPr>
                                  <m:ctrlPr>
                                    <a:rPr lang="en-US" altLang="zh-CN" sz="2800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a:rPr lang="en-US" altLang="zh-CN" sz="2800" b="0" i="0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800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800" b="0" i="1" kern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0" i="1" kern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𝑥</m:t>
                                      </m:r>
                                      <m:r>
                                        <a:rPr lang="en-US" altLang="zh-CN" sz="2800" b="0" i="1" kern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800" b="0" i="1" kern="0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800" b="0" i="1" kern="0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800" b="0" i="1" kern="0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800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𝑚</m:t>
                                  </m:r>
                                </m:sup>
                              </m:sSup>
                              <m:r>
                                <a:rPr lang="en-US" altLang="zh-CN" sz="2800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𝑔</m:t>
                              </m:r>
                              <m:r>
                                <a:rPr lang="en-US" altLang="zh-CN" sz="2800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(</m:t>
                              </m:r>
                              <m:r>
                                <a:rPr lang="en-US" altLang="zh-CN" sz="2800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  <m:r>
                                <a:rPr lang="en-US" altLang="zh-CN" sz="2800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)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2800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f</m:t>
                                  </m:r>
                                </m:e>
                                <m:sup>
                                  <m:r>
                                    <a:rPr lang="en-US" altLang="zh-CN" sz="2800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2800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2800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800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𝑚</m:t>
                                  </m:r>
                                  <m:d>
                                    <m:dPr>
                                      <m:ctrlPr>
                                        <a:rPr lang="en-US" altLang="zh-CN" sz="2800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𝑥</m:t>
                                      </m:r>
                                      <m:r>
                                        <a:rPr lang="en-US" altLang="zh-CN" sz="2800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800" i="1" ker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800" i="1" ker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800" i="1" ker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800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𝑚</m:t>
                                  </m:r>
                                  <m:r>
                                    <a:rPr lang="en-US" altLang="zh-CN" sz="2800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−</m:t>
                                  </m:r>
                                  <m:r>
                                    <a:rPr lang="en-US" altLang="zh-CN" sz="2800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altLang="zh-CN" sz="2800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CN" sz="2800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2800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800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800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𝑥</m:t>
                                      </m:r>
                                      <m:r>
                                        <a:rPr lang="en-US" altLang="zh-CN" sz="2800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800" i="1" ker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800" i="1" ker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800" i="1" ker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800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𝑚</m:t>
                                  </m:r>
                                </m:sup>
                              </m:sSup>
                              <m:r>
                                <a:rPr lang="en-US" altLang="zh-CN" sz="2800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𝑔</m:t>
                              </m:r>
                              <m:r>
                                <a:rPr lang="en-US" altLang="zh-CN" sz="2800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′(</m:t>
                              </m:r>
                              <m:r>
                                <a:rPr lang="en-US" altLang="zh-CN" sz="2800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  <m:r>
                                <a:rPr lang="en-US" altLang="zh-CN" sz="2800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)</m:t>
                              </m:r>
                            </m:e>
                          </m:eqArr>
                        </m:e>
                        <m:sup>
                          <m:r>
                            <a:rPr lang="en-US" altLang="zh-CN" sz="2800" b="0" i="0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sz="2800" kern="0" dirty="0">
                  <a:solidFill>
                    <a:srgbClr val="7030A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17" y="1937836"/>
                <a:ext cx="10186999" cy="410369"/>
              </a:xfrm>
              <a:prstGeom prst="rect">
                <a:avLst/>
              </a:prstGeom>
              <a:blipFill rotWithShape="1">
                <a:blip r:embed="rId5"/>
                <a:stretch>
                  <a:fillRect l="-4" t="-68814" r="1" b="1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268678" y="2877033"/>
                <a:ext cx="9834037" cy="41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根据</m:t>
                      </m:r>
                      <m:r>
                        <a:rPr lang="zh-CN" altLang="en-US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牛顿</m:t>
                      </m:r>
                      <m:r>
                        <a:rPr lang="zh-CN" altLang="en-US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迭代</m:t>
                      </m:r>
                      <m:r>
                        <a:rPr lang="zh-CN" altLang="en-US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公</m:t>
                      </m:r>
                      <m:r>
                        <a:rPr lang="zh-CN" altLang="en-US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式</m:t>
                      </m:r>
                      <m:r>
                        <a:rPr lang="zh-CN" altLang="en-US" i="1" ker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：</m:t>
                      </m:r>
                      <m:r>
                        <a:rPr lang="zh-CN" altLang="en-US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𝜑</m:t>
                      </m:r>
                      <m:d>
                        <m:dPr>
                          <m:ctrlPr>
                            <a:rPr lang="en-US" altLang="zh-CN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e>
                      </m:d>
                      <m:r>
                        <a:rPr lang="en-US" altLang="zh-CN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lang="en-US" altLang="zh-CN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𝑥</m:t>
                      </m:r>
                      <m:r>
                        <a:rPr lang="en-US" altLang="zh-CN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box>
                        <m:boxPr>
                          <m:ctrlPr>
                            <a:rPr lang="en-US" altLang="zh-CN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Pr>
                            <m:num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𝑓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𝑓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′(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zh-CN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=</m:t>
                          </m:r>
                          <m:r>
                            <a:rPr lang="en-US" altLang="zh-CN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  <m:r>
                            <a:rPr lang="en-US" altLang="zh-CN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CN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𝑥</m:t>
                                  </m:r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CN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𝑚𝑔</m:t>
                              </m:r>
                              <m:d>
                                <m:dPr>
                                  <m:ctrlPr>
                                    <a:rPr lang="en-US" altLang="zh-CN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CN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𝑥</m:t>
                                  </m:r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altLang="zh-CN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altLang="zh-CN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       (</m:t>
                          </m:r>
                          <m:r>
                            <a:rPr lang="en-US" altLang="zh-CN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  <m:r>
                            <a:rPr lang="en-US" altLang="zh-CN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≠</m:t>
                          </m:r>
                          <m:sSup>
                            <m:sSupPr>
                              <m:ctrlP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)</m:t>
                          </m:r>
                        </m:e>
                      </m:box>
                    </m:oMath>
                  </m:oMathPara>
                </a14:m>
                <a:endParaRPr lang="zh-CN" altLang="en-US" kern="0" dirty="0">
                  <a:solidFill>
                    <a:srgbClr val="7030A0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678" y="2877033"/>
                <a:ext cx="9834037" cy="410369"/>
              </a:xfrm>
              <a:prstGeom prst="rect">
                <a:avLst/>
              </a:prstGeom>
              <a:blipFill rotWithShape="1">
                <a:blip r:embed="rId6"/>
                <a:stretch>
                  <a:fillRect l="-6" t="-12961" r="4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4073501" y="3766721"/>
                <a:ext cx="3769686" cy="41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</m:e>
                        <m:sup>
                          <m:r>
                            <a:rPr lang="en-US" altLang="zh-CN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∗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zh-CN" altLang="en-US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𝜑</m:t>
                              </m:r>
                              <m:d>
                                <m:dPr>
                                  <m:ctrlPr>
                                    <a:rPr lang="en-US" altLang="zh-CN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r>
                                <a:rPr lang="zh-CN" altLang="en-US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𝜑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b="0" i="1" kern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  <m:r>
                                    <a:rPr lang="en-US" altLang="zh-CN" b="0" i="1" kern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−</m:t>
                                  </m:r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∗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kern="0" dirty="0">
                  <a:solidFill>
                    <a:srgbClr val="7030A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501" y="3766721"/>
                <a:ext cx="3769686" cy="410369"/>
              </a:xfrm>
              <a:prstGeom prst="rect">
                <a:avLst/>
              </a:prstGeom>
              <a:blipFill rotWithShape="1">
                <a:blip r:embed="rId7"/>
                <a:stretch>
                  <a:fillRect l="-16" t="-37732" r="-851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4040605" y="4272537"/>
                <a:ext cx="1432380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ker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𝜑</m:t>
                    </m:r>
                    <m:d>
                      <m:dPr>
                        <m:ctrlPr>
                          <a:rPr lang="en-US" altLang="zh-CN" i="1" ker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ker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 ker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 ker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>
                    <a:solidFill>
                      <a:srgbClr val="7030A0"/>
                    </a:solidFill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ker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i="1" ker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i="1" ker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∗</m:t>
                        </m:r>
                      </m:sup>
                    </m:sSup>
                  </m:oMath>
                </a14:m>
                <a:endParaRPr lang="zh-CN" altLang="en-US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605" y="4272537"/>
                <a:ext cx="1432380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7" t="-56" r="39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2213651" y="4656409"/>
                <a:ext cx="7561942" cy="165545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</m:e>
                        <m:sup>
                          <m:r>
                            <a:rPr lang="en-US" altLang="zh-CN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i="1" ker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  <m: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∗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−</m:t>
                                  </m:r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∗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(</m:t>
                          </m:r>
                          <m:r>
                            <a:rPr lang="en-US" altLang="zh-CN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  <m:r>
                            <a:rPr lang="en-US" altLang="zh-CN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𝑚𝑔</m:t>
                              </m:r>
                              <m:d>
                                <m:dPr>
                                  <m:ctrlP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CN" dirty="0">
                  <a:solidFill>
                    <a:srgbClr val="7030A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ker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  <m: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∗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altLang="zh-CN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 </m:t>
                          </m:r>
                          <m:r>
                            <a:rPr lang="en-US" altLang="zh-CN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(</m:t>
                          </m:r>
                          <m:r>
                            <a:rPr lang="en-US" altLang="zh-CN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  <m:r>
                            <a:rPr lang="en-US" altLang="zh-CN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𝑚𝑔</m:t>
                              </m:r>
                              <m:d>
                                <m:dPr>
                                  <m:ctrlP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i="1" ker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i="1" ker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651" y="4656409"/>
                <a:ext cx="7561942" cy="1655453"/>
              </a:xfrm>
              <a:prstGeom prst="rect">
                <a:avLst/>
              </a:prstGeom>
              <a:blipFill rotWithShape="1">
                <a:blip r:embed="rId9"/>
                <a:stretch>
                  <a:fillRect l="-1" t="-36" r="5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/>
              <p:cNvSpPr/>
              <p:nvPr/>
            </p:nvSpPr>
            <p:spPr>
              <a:xfrm>
                <a:off x="3424885" y="6103209"/>
                <a:ext cx="3394840" cy="78624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1</m:t>
                      </m:r>
                      <m:r>
                        <a:rPr lang="en-US" altLang="zh-CN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𝑚</m:t>
                          </m:r>
                        </m:den>
                      </m:f>
                      <m:r>
                        <a:rPr lang="en-US" altLang="zh-CN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CN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(</m:t>
                      </m:r>
                      <m:r>
                        <a:rPr lang="zh-CN" altLang="en-US" i="1" ker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求</m:t>
                      </m:r>
                      <m:r>
                        <a:rPr lang="zh-CN" altLang="en-US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极限</m:t>
                      </m:r>
                      <m:r>
                        <a:rPr lang="en-US" altLang="zh-CN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885" y="6103209"/>
                <a:ext cx="3394840" cy="786241"/>
              </a:xfrm>
              <a:prstGeom prst="rect">
                <a:avLst/>
              </a:prstGeom>
              <a:blipFill rotWithShape="1">
                <a:blip r:embed="rId10"/>
                <a:stretch>
                  <a:fillRect l="-10" t="-28" r="14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2011537" y="3634180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根据导数定义：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235303" y="4339295"/>
            <a:ext cx="18053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不动点性质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: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6" grpId="0"/>
      <p:bldP spid="15" grpId="0"/>
      <p:bldP spid="1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3"/>
              <p:cNvSpPr txBox="1"/>
              <p:nvPr/>
            </p:nvSpPr>
            <p:spPr bwMode="auto">
              <a:xfrm>
                <a:off x="1703512" y="476672"/>
                <a:ext cx="8494712" cy="43322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重根情形：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牛顿法不是平方收敛，</m:t>
                    </m:r>
                    <m:r>
                      <m:rPr>
                        <m:nor/>
                      </m:rPr>
                      <a:rPr lang="zh-CN" altLang="en-US">
                        <a:latin typeface="Cambria Math" panose="02040503050406030204" pitchFamily="18" charset="0"/>
                      </a:rPr>
                      <m:t>重数 </m:t>
                    </m:r>
                    <m:r>
                      <m:rPr>
                        <m:nor/>
                      </m:rPr>
                      <a:rPr lang="en-US" altLang="zh-CN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zh-CN" altLang="en-US">
                        <a:latin typeface="Cambria Math" panose="02040503050406030204" pitchFamily="18" charset="0"/>
                      </a:rPr>
                      <m:t>越大</m:t>
                    </m:r>
                  </m:oMath>
                </a14:m>
                <a: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，</a:t>
                </a:r>
                <a:r>
                  <a:rPr lang="zh-CN" altLang="en-US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收敛速度越慢</a:t>
                </a:r>
                <a:br>
                  <a:rPr lang="zh-CN" altLang="en-US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zh-CN" altLang="en-US" b="1" dirty="0">
                    <a:solidFill>
                      <a:srgbClr val="000000"/>
                    </a:solidFill>
                  </a:rPr>
                  <a:t>改进方</a:t>
                </a:r>
                <a14:m>
                  <m:oMath xmlns:m="http://schemas.openxmlformats.org/officeDocument/2006/math">
                    <m:r>
                      <a:rPr lang="zh-CN" altLang="en-US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法</m:t>
                    </m:r>
                    <m:r>
                      <a:rPr lang="zh-CN" altLang="en-US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一</m:t>
                    </m:r>
                    <m:r>
                      <a:rPr lang="zh-CN" alt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将迭代法改为</m:t>
                    </m:r>
                  </m:oMath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仍平方收敛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3512" y="476672"/>
                <a:ext cx="8494712" cy="4332263"/>
              </a:xfrm>
              <a:prstGeom prst="rect">
                <a:avLst/>
              </a:prstGeom>
              <a:blipFill rotWithShape="1">
                <a:blip r:embed="rId1"/>
                <a:stretch>
                  <a:fillRect l="-5" t="-10" r="1" b="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/>
          <p:cNvGrpSpPr/>
          <p:nvPr/>
        </p:nvGrpSpPr>
        <p:grpSpPr>
          <a:xfrm>
            <a:off x="1712005" y="3673343"/>
            <a:ext cx="8568952" cy="2707985"/>
            <a:chOff x="1703512" y="4149080"/>
            <a:chExt cx="8568952" cy="270798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矩形 2"/>
                <p:cNvSpPr/>
                <p:nvPr/>
              </p:nvSpPr>
              <p:spPr>
                <a:xfrm>
                  <a:off x="1703512" y="4149080"/>
                  <a:ext cx="8568952" cy="270798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b="1" dirty="0">
                      <a:solidFill>
                        <a:srgbClr val="000000"/>
                      </a:solidFill>
                    </a:rPr>
                    <a:t>改进方</a:t>
                  </a:r>
                  <a14:m>
                    <m:oMath xmlns:m="http://schemas.openxmlformats.org/officeDocument/2006/math">
                      <m:r>
                        <a:rPr lang="zh-CN" altLang="en-US" b="1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法</m:t>
                      </m:r>
                      <m:r>
                        <a:rPr lang="zh-CN" altLang="en-US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二</m:t>
                      </m:r>
                      <m:r>
                        <a:rPr lang="zh-CN" alt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zh-CN" alt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定</m:t>
                      </m:r>
                      <m:r>
                        <a:rPr lang="zh-CN" alt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义</m:t>
                      </m:r>
                      <m:r>
                        <a:rPr lang="zh-CN" alt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新</m:t>
                      </m:r>
                      <m:r>
                        <a:rPr lang="zh-CN" alt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函数</m:t>
                      </m:r>
                    </m:oMath>
                  </a14:m>
                  <a:endParaRPr lang="en-US" altLang="zh-CN" i="1" dirty="0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  <a:p>
                  <a:endParaRPr lang="en-US" altLang="zh-CN" i="1" dirty="0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  <a:p>
                  <a:endParaRPr lang="en-US" altLang="zh-CN" i="1" dirty="0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  <a:p>
                  <a:endParaRPr lang="en-US" altLang="zh-CN" i="1" dirty="0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将迭代法改为：</m:t>
                        </m:r>
                        <m:r>
                          <m:rPr>
                            <m:nor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</m:oMath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仍平方收敛</m:t>
                        </m:r>
                        <m: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" name="矩形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3512" y="4149080"/>
                  <a:ext cx="8568952" cy="270798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矩形 3"/>
                <p:cNvSpPr/>
                <p:nvPr/>
              </p:nvSpPr>
              <p:spPr>
                <a:xfrm>
                  <a:off x="3575720" y="4581128"/>
                  <a:ext cx="2196370" cy="86132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/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/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5720" y="4581128"/>
                  <a:ext cx="2196370" cy="861326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 txBox="1">
            <a:spLocks noChangeArrowheads="1"/>
          </p:cNvSpPr>
          <p:nvPr/>
        </p:nvSpPr>
        <p:spPr bwMode="auto">
          <a:xfrm>
            <a:off x="1992313" y="476250"/>
            <a:ext cx="51117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660066"/>
                </a:solidFill>
              </a:rPr>
              <a:t>3.5.5 </a:t>
            </a:r>
            <a:r>
              <a:rPr lang="zh-CN" altLang="en-US" sz="2800" b="1" dirty="0">
                <a:solidFill>
                  <a:srgbClr val="660066"/>
                </a:solidFill>
              </a:rPr>
              <a:t> 牛顿２阶导数法</a:t>
            </a:r>
            <a:endParaRPr lang="zh-CN" altLang="en-US" sz="2800" b="1" dirty="0">
              <a:solidFill>
                <a:srgbClr val="660066"/>
              </a:solidFill>
            </a:endParaRP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1666875" y="1196975"/>
          <a:ext cx="901541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19" name="Equation" r:id="rId1" imgW="72847200" imgH="6800850" progId="Equation.DSMT4">
                  <p:embed/>
                </p:oleObj>
              </mc:Choice>
              <mc:Fallback>
                <p:oleObj name="Equation" r:id="rId1" imgW="72847200" imgH="680085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75" y="1196975"/>
                        <a:ext cx="9015413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2252663" y="4221163"/>
          <a:ext cx="5838825" cy="206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20" name="Equation" r:id="rId3" imgW="47177325" imgH="16678275" progId="Equation.DSMT4">
                  <p:embed/>
                </p:oleObj>
              </mc:Choice>
              <mc:Fallback>
                <p:oleObj name="Equation" r:id="rId3" imgW="47177325" imgH="1667827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4221163"/>
                        <a:ext cx="5838825" cy="206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2154238" y="2133600"/>
          <a:ext cx="6680200" cy="184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21" name="Equation" r:id="rId5" imgW="53978175" imgH="14925675" progId="Equation.DSMT4">
                  <p:embed/>
                </p:oleObj>
              </mc:Choice>
              <mc:Fallback>
                <p:oleObj name="Equation" r:id="rId5" imgW="53978175" imgH="1492567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2133600"/>
                        <a:ext cx="6680200" cy="184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9154" name="Object 5"/>
              <p:cNvSpPr txBox="1"/>
              <p:nvPr/>
            </p:nvSpPr>
            <p:spPr bwMode="auto">
              <a:xfrm>
                <a:off x="2640013" y="692150"/>
                <a:ext cx="4779962" cy="18907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解出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得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＝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915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0013" y="692150"/>
                <a:ext cx="4779962" cy="1890713"/>
              </a:xfrm>
              <a:prstGeom prst="rect">
                <a:avLst/>
              </a:prstGeom>
              <a:blipFill rotWithShape="1">
                <a:blip r:embed="rId1"/>
                <a:stretch>
                  <a:fillRect l="-7" b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/>
              <p:cNvSpPr txBox="1"/>
              <p:nvPr/>
            </p:nvSpPr>
            <p:spPr bwMode="auto">
              <a:xfrm>
                <a:off x="2640013" y="2781300"/>
                <a:ext cx="5446712" cy="1030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″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0013" y="2781300"/>
                <a:ext cx="5446712" cy="1030288"/>
              </a:xfrm>
              <a:prstGeom prst="rect">
                <a:avLst/>
              </a:prstGeom>
              <a:blipFill rotWithShape="1">
                <a:blip r:embed="rId2"/>
                <a:stretch>
                  <a:fillRect l="-6" b="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5"/>
          <p:cNvGrpSpPr/>
          <p:nvPr/>
        </p:nvGrpSpPr>
        <p:grpSpPr bwMode="auto">
          <a:xfrm>
            <a:off x="2586038" y="4005263"/>
            <a:ext cx="6777037" cy="2262187"/>
            <a:chOff x="1062707" y="4005064"/>
            <a:chExt cx="6776368" cy="2262386"/>
          </a:xfrm>
        </p:grpSpPr>
        <p:sp>
          <p:nvSpPr>
            <p:cNvPr id="73733" name="矩形 5"/>
            <p:cNvSpPr>
              <a:spLocks noChangeArrowheads="1"/>
            </p:cNvSpPr>
            <p:nvPr/>
          </p:nvSpPr>
          <p:spPr bwMode="auto">
            <a:xfrm>
              <a:off x="3708400" y="5805488"/>
              <a:ext cx="4130675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ahoma" panose="020B0604030504040204" pitchFamily="34" charset="0"/>
                </a:rPr>
                <a:t>——</a:t>
              </a:r>
              <a:r>
                <a:rPr lang="zh-CN" altLang="en-US" sz="2400">
                  <a:solidFill>
                    <a:srgbClr val="FF0000"/>
                  </a:solidFill>
                  <a:latin typeface="Tahoma" panose="020B0604030504040204" pitchFamily="34" charset="0"/>
                </a:rPr>
                <a:t>牛顿２阶导数法迭代公式</a:t>
              </a:r>
              <a:endParaRPr lang="zh-CN" altLang="en-US" sz="2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734" name="Object 4"/>
                <p:cNvSpPr txBox="1"/>
                <p:nvPr/>
              </p:nvSpPr>
              <p:spPr bwMode="auto">
                <a:xfrm>
                  <a:off x="1062707" y="4005064"/>
                  <a:ext cx="5597525" cy="15033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       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...</m:t>
                        </m:r>
                      </m:oMath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＝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２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″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73734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707" y="4005064"/>
                  <a:ext cx="5597525" cy="1503363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0178" name="Object 4"/>
              <p:cNvSpPr txBox="1"/>
              <p:nvPr/>
            </p:nvSpPr>
            <p:spPr bwMode="auto">
              <a:xfrm>
                <a:off x="556320" y="1468362"/>
                <a:ext cx="7814567" cy="26177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解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的根</m:t>
                      </m:r>
                      <m:sSup>
                        <m:s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。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牛顿法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017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6320" y="1468362"/>
                <a:ext cx="7814567" cy="2617787"/>
              </a:xfrm>
              <a:prstGeom prst="rect">
                <a:avLst/>
              </a:prstGeom>
              <a:blipFill rotWithShape="1">
                <a:blip r:embed="rId1"/>
                <a:stretch>
                  <a:fillRect l="-1" t="-9" r="4" b="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179" name="Object 7"/>
              <p:cNvSpPr txBox="1"/>
              <p:nvPr/>
            </p:nvSpPr>
            <p:spPr bwMode="auto">
              <a:xfrm>
                <a:off x="767408" y="624967"/>
                <a:ext cx="9505056" cy="5159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【例】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  (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用牛顿法求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并说明算法的收敛阶。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017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7408" y="624967"/>
                <a:ext cx="9505056" cy="515937"/>
              </a:xfrm>
              <a:prstGeom prst="rect">
                <a:avLst/>
              </a:prstGeom>
              <a:blipFill rotWithShape="1">
                <a:blip r:embed="rId2"/>
                <a:stretch>
                  <a:fillRect l="-3" t="-25" r="1" b="8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595563" y="5857875"/>
            <a:ext cx="4662487" cy="461665"/>
          </a:xfrm>
          <a:prstGeom prst="rect">
            <a:avLst/>
          </a:prstGeom>
          <a:blipFill>
            <a:blip r:embed="rId3"/>
            <a:stretch>
              <a:fillRect l="-392" t="-14474" b="-30263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5"/>
              <p:cNvSpPr txBox="1"/>
              <p:nvPr/>
            </p:nvSpPr>
            <p:spPr bwMode="auto">
              <a:xfrm>
                <a:off x="3326954" y="3353037"/>
                <a:ext cx="1136650" cy="13223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        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26954" y="3353037"/>
                <a:ext cx="1136650" cy="1322387"/>
              </a:xfrm>
              <a:prstGeom prst="rect">
                <a:avLst/>
              </a:prstGeom>
              <a:blipFill rotWithShape="1">
                <a:blip r:embed="rId4"/>
                <a:stretch>
                  <a:fillRect l="-17" t="-18" r="-654" b="4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6"/>
              <p:cNvSpPr txBox="1"/>
              <p:nvPr/>
            </p:nvSpPr>
            <p:spPr bwMode="auto">
              <a:xfrm>
                <a:off x="1938363" y="4225128"/>
                <a:ext cx="4157637" cy="1008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8363" y="4225128"/>
                <a:ext cx="4157637" cy="1008112"/>
              </a:xfrm>
              <a:prstGeom prst="rect">
                <a:avLst/>
              </a:prstGeom>
              <a:blipFill rotWithShape="1">
                <a:blip r:embed="rId5"/>
                <a:stretch>
                  <a:fillRect l="-8" t="-47" b="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6"/>
              <p:cNvSpPr txBox="1"/>
              <p:nvPr/>
            </p:nvSpPr>
            <p:spPr bwMode="auto">
              <a:xfrm>
                <a:off x="4609528" y="3400340"/>
                <a:ext cx="1535113" cy="1376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        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09528" y="3400340"/>
                <a:ext cx="1535113" cy="1376363"/>
              </a:xfrm>
              <a:prstGeom prst="rect">
                <a:avLst/>
              </a:prstGeom>
              <a:blipFill rotWithShape="1">
                <a:blip r:embed="rId6"/>
                <a:stretch>
                  <a:fillRect l="-4" t="-40" r="25" b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2604180" y="5293755"/>
                <a:ext cx="17802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</m:e>
                        <m:sup>
                          <m:r>
                            <a:rPr lang="en-US" altLang="zh-CN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′</m:t>
                      </m:r>
                      <m:d>
                        <m:dPr>
                          <m:ctrlPr>
                            <a:rPr lang="en-US" altLang="zh-CN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0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180" y="5293755"/>
                <a:ext cx="1780295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3" t="-86" r="24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1202" name="Object 4"/>
              <p:cNvSpPr txBox="1"/>
              <p:nvPr/>
            </p:nvSpPr>
            <p:spPr bwMode="auto">
              <a:xfrm>
                <a:off x="1271464" y="372323"/>
                <a:ext cx="8946005" cy="1685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   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牛顿</m:t>
                    </m:r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8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阶导数法求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解，并说明收敛阶数</a:t>
                </a:r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解：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″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120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71464" y="372323"/>
                <a:ext cx="8946005" cy="1685925"/>
              </a:xfrm>
              <a:prstGeom prst="rect">
                <a:avLst/>
              </a:prstGeom>
              <a:blipFill rotWithShape="1">
                <a:blip r:embed="rId1"/>
                <a:stretch>
                  <a:fillRect l="-2" t="-13" r="4" b="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392362" y="6273028"/>
            <a:ext cx="562133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所以为３阶收敛。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3"/>
              <p:cNvSpPr txBox="1"/>
              <p:nvPr/>
            </p:nvSpPr>
            <p:spPr bwMode="auto">
              <a:xfrm>
                <a:off x="3384550" y="1873626"/>
                <a:ext cx="3863450" cy="13436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4550" y="1873626"/>
                <a:ext cx="3863450" cy="1343660"/>
              </a:xfrm>
              <a:prstGeom prst="rect">
                <a:avLst/>
              </a:prstGeom>
              <a:blipFill rotWithShape="1">
                <a:blip r:embed="rId2"/>
                <a:stretch>
                  <a:fillRect t="-28" r="3" b="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5"/>
              <p:cNvSpPr txBox="1"/>
              <p:nvPr/>
            </p:nvSpPr>
            <p:spPr bwMode="auto">
              <a:xfrm>
                <a:off x="3384550" y="2929532"/>
                <a:ext cx="1954748" cy="1097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4550" y="2929532"/>
                <a:ext cx="1954748" cy="1097799"/>
              </a:xfrm>
              <a:prstGeom prst="rect">
                <a:avLst/>
              </a:prstGeom>
              <a:blipFill rotWithShape="1">
                <a:blip r:embed="rId3"/>
                <a:stretch>
                  <a:fillRect t="-25" r="11" b="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5"/>
              <p:cNvSpPr txBox="1"/>
              <p:nvPr/>
            </p:nvSpPr>
            <p:spPr bwMode="auto">
              <a:xfrm>
                <a:off x="4036481" y="4118292"/>
                <a:ext cx="2946632" cy="1184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6481" y="4118292"/>
                <a:ext cx="2946632" cy="1184511"/>
              </a:xfrm>
              <a:prstGeom prst="rect">
                <a:avLst/>
              </a:prstGeom>
              <a:blipFill rotWithShape="1">
                <a:blip r:embed="rId4"/>
                <a:stretch>
                  <a:fillRect l="-14" t="-27" r="1" b="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7"/>
              <p:cNvSpPr txBox="1"/>
              <p:nvPr/>
            </p:nvSpPr>
            <p:spPr bwMode="auto">
              <a:xfrm>
                <a:off x="5441468" y="2915157"/>
                <a:ext cx="1954876" cy="11265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41468" y="2915157"/>
                <a:ext cx="1954876" cy="1126547"/>
              </a:xfrm>
              <a:prstGeom prst="rect">
                <a:avLst/>
              </a:prstGeom>
              <a:blipFill rotWithShape="1">
                <a:blip r:embed="rId5"/>
                <a:stretch>
                  <a:fillRect l="-8" t="-45" r="26" b="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6094443" y="2971800"/>
            <a:ext cx="64" cy="41742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lIns="0" tIns="0" rIns="0" bIns="0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endParaRPr lang="zh-CN" altLang="en-US" sz="36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2153252" y="5230842"/>
                <a:ext cx="379058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</m:e>
                        <m:sup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6</m:t>
                      </m:r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𝑎</m:t>
                      </m:r>
                      <m:sSup>
                        <m:sSupPr>
                          <m:ctrlP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−</m:t>
                      </m:r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3</m:t>
                      </m:r>
                      <m:sSup>
                        <m:sSupPr>
                          <m:ctrlP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4</m:t>
                          </m:r>
                        </m:sup>
                      </m:sSup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−</m:t>
                      </m:r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3</m:t>
                      </m:r>
                      <m:sSup>
                        <m:sSupPr>
                          <m:ctrlP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p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52" y="5230842"/>
                <a:ext cx="3790589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16" t="-75" r="6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6384032" y="5196522"/>
                <a:ext cx="31940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</m:e>
                        <m:sup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12</m:t>
                      </m:r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𝑎𝑥</m:t>
                      </m:r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−</m:t>
                      </m:r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12</m:t>
                      </m:r>
                      <m:sSup>
                        <m:sSupPr>
                          <m:ctrlP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32" y="5196522"/>
                <a:ext cx="3194080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12" t="-69" r="13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2438610" y="5734775"/>
                <a:ext cx="170014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</m:e>
                        <m:sup>
                          <m:r>
                            <a:rPr lang="en-US" altLang="zh-CN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610" y="5734775"/>
                <a:ext cx="1700145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12" t="-19" r="27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4406880" y="5734775"/>
                <a:ext cx="17802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</m:e>
                        <m:sup>
                          <m:r>
                            <a:rPr lang="en-US" altLang="zh-CN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′</m:t>
                      </m:r>
                      <m:d>
                        <m:dPr>
                          <m:ctrlPr>
                            <a:rPr lang="en-US" altLang="zh-CN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6880" y="5734775"/>
                <a:ext cx="1780295" cy="461665"/>
              </a:xfrm>
              <a:prstGeom prst="rect">
                <a:avLst/>
              </a:prstGeom>
              <a:blipFill rotWithShape="1">
                <a:blip r:embed="rId9"/>
                <a:stretch>
                  <a:fillRect l="-35" t="-19" r="21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6384032" y="5734775"/>
                <a:ext cx="186044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𝜑</m:t>
                          </m:r>
                        </m:e>
                        <m:sup>
                          <m:r>
                            <a:rPr lang="en-US" altLang="zh-CN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′′</m:t>
                      </m:r>
                      <m:d>
                        <m:dPr>
                          <m:ctrlPr>
                            <a:rPr lang="en-US" altLang="zh-CN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CN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32" y="5734775"/>
                <a:ext cx="1860445" cy="461665"/>
              </a:xfrm>
              <a:prstGeom prst="rect">
                <a:avLst/>
              </a:prstGeom>
              <a:blipFill rotWithShape="1">
                <a:blip r:embed="rId10"/>
                <a:stretch>
                  <a:fillRect l="-20" t="-19" r="15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10" grpId="0"/>
      <p:bldP spid="9" grpId="0"/>
      <p:bldP spid="12" grpId="0"/>
      <p:bldP spid="1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0" y="2276475"/>
            <a:ext cx="4673600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2135188" y="2060575"/>
            <a:ext cx="2952750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牛顿法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1.0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1.500000000000000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1.416666666666667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1.41421</a:t>
            </a:r>
            <a:r>
              <a:rPr lang="en-US" altLang="zh-CN" sz="2400" dirty="0"/>
              <a:t>5686274510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1.414213</a:t>
            </a:r>
            <a:r>
              <a:rPr lang="en-US" altLang="zh-CN" sz="2400" dirty="0"/>
              <a:t>562374690</a:t>
            </a:r>
            <a:endParaRPr lang="en-US" altLang="zh-CN" sz="2400" dirty="0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135188" y="4797425"/>
            <a:ext cx="316865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C00000"/>
                </a:solidFill>
              </a:rPr>
              <a:t>牛顿</a:t>
            </a:r>
            <a:r>
              <a:rPr lang="en-US" altLang="zh-CN" sz="2400">
                <a:solidFill>
                  <a:srgbClr val="C00000"/>
                </a:solidFill>
              </a:rPr>
              <a:t>2</a:t>
            </a:r>
            <a:r>
              <a:rPr lang="zh-CN" altLang="en-US" sz="2400">
                <a:solidFill>
                  <a:srgbClr val="C00000"/>
                </a:solidFill>
              </a:rPr>
              <a:t>阶导数法</a:t>
            </a:r>
            <a:endParaRPr lang="en-US" altLang="zh-CN" sz="2400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1.0 </a:t>
            </a:r>
            <a:endParaRPr lang="en-US" altLang="zh-CN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1.400000000000000</a:t>
            </a:r>
            <a:endParaRPr lang="en-US" altLang="zh-CN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1.414213</a:t>
            </a:r>
            <a:r>
              <a:rPr lang="en-US" altLang="zh-CN" sz="2400"/>
              <a:t>197969543</a:t>
            </a:r>
            <a:endParaRPr lang="en-US" altLang="zh-CN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7"/>
              <p:cNvSpPr txBox="1"/>
              <p:nvPr/>
            </p:nvSpPr>
            <p:spPr bwMode="auto">
              <a:xfrm>
                <a:off x="2149475" y="476250"/>
                <a:ext cx="4522788" cy="10318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 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414213562373095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控制精度为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9475" y="476250"/>
                <a:ext cx="4522788" cy="1031875"/>
              </a:xfrm>
              <a:prstGeom prst="rect">
                <a:avLst/>
              </a:prstGeom>
              <a:blipFill rotWithShape="1">
                <a:blip r:embed="rId2"/>
                <a:stretch>
                  <a:fillRect r="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76153" y="548680"/>
            <a:ext cx="4237057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>
              <a:lnSpc>
                <a:spcPts val="32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b="1" kern="0" dirty="0">
                <a:latin typeface="+mn-ea"/>
                <a:ea typeface="+mn-ea"/>
              </a:rPr>
              <a:t>用牛顿法解线性方程组</a:t>
            </a:r>
            <a:endParaRPr lang="zh-CN" altLang="en-US" sz="2800" b="1" kern="0" dirty="0"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2"/>
              <p:cNvSpPr txBox="1"/>
              <p:nvPr/>
            </p:nvSpPr>
            <p:spPr bwMode="auto">
              <a:xfrm>
                <a:off x="1905174" y="1340768"/>
                <a:ext cx="8001000" cy="1143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牛顿迭代公式：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𝐅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174" y="1340768"/>
                <a:ext cx="8001000" cy="1143000"/>
              </a:xfrm>
              <a:prstGeom prst="rect">
                <a:avLst/>
              </a:prstGeom>
              <a:blipFill rotWithShape="1">
                <a:blip r:embed="rId1"/>
                <a:stretch>
                  <a:fillRect l="-2" t="-25" r="2" b="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639616" y="2420888"/>
          <a:ext cx="6388100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13" name="公式" r:id="rId2" imgW="6388100" imgH="4191000" progId="Equation.3">
                  <p:embed/>
                </p:oleObj>
              </mc:Choice>
              <mc:Fallback>
                <p:oleObj name="公式" r:id="rId2" imgW="6388100" imgH="4191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616" y="2420888"/>
                        <a:ext cx="6388100" cy="419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1558925" y="530225"/>
          <a:ext cx="5400675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62" name="公式" r:id="rId1" imgW="66141600" imgH="22860000" progId="Equation.3">
                  <p:embed/>
                </p:oleObj>
              </mc:Choice>
              <mc:Fallback>
                <p:oleObj name="公式" r:id="rId1" imgW="66141600" imgH="22860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530225"/>
                        <a:ext cx="5400675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1200150" y="2636838"/>
          <a:ext cx="808831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63" name="公式" r:id="rId3" imgW="98755200" imgH="11582400" progId="Equation.3">
                  <p:embed/>
                </p:oleObj>
              </mc:Choice>
              <mc:Fallback>
                <p:oleObj name="公式" r:id="rId3" imgW="98755200" imgH="11582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2636838"/>
                        <a:ext cx="8088313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/>
              <p:cNvSpPr txBox="1"/>
              <p:nvPr/>
            </p:nvSpPr>
            <p:spPr bwMode="auto">
              <a:xfrm>
                <a:off x="263352" y="4221088"/>
                <a:ext cx="7314813" cy="16561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sSubSup>
                                      <m:sSub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sSubSup>
                                      <m:sSub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den>
                                </m:f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sSubSup>
                                      <m:sSub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  <m:sSubSup>
                                      <m:sSub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sSubSup>
                                      <m:sSub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352" y="4221088"/>
                <a:ext cx="7314813" cy="1656184"/>
              </a:xfrm>
              <a:prstGeom prst="rect">
                <a:avLst/>
              </a:prstGeom>
              <a:blipFill rotWithShape="1">
                <a:blip r:embed="rId5"/>
                <a:stretch>
                  <a:fillRect l="-6" t="-6264" r="1" b="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 bwMode="auto">
              <a:xfrm>
                <a:off x="1847528" y="6021288"/>
                <a:ext cx="2301553" cy="4091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逐次迭代得结果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7528" y="6021288"/>
                <a:ext cx="2301553" cy="409165"/>
              </a:xfrm>
              <a:prstGeom prst="rect">
                <a:avLst/>
              </a:prstGeom>
              <a:blipFill rotWithShape="1">
                <a:blip r:embed="rId6"/>
                <a:stretch>
                  <a:fillRect l="-14" t="-53" r="27" b="1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Group 19"/>
          <p:cNvGraphicFramePr>
            <a:graphicFrameLocks noGrp="1"/>
          </p:cNvGraphicFramePr>
          <p:nvPr/>
        </p:nvGraphicFramePr>
        <p:xfrm>
          <a:off x="7842249" y="4221088"/>
          <a:ext cx="3492500" cy="2172653"/>
        </p:xfrm>
        <a:graphic>
          <a:graphicData uri="http://schemas.openxmlformats.org/drawingml/2006/table">
            <a:tbl>
              <a:tblPr/>
              <a:tblGrid>
                <a:gridCol w="360363"/>
                <a:gridCol w="3132137"/>
              </a:tblGrid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k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(k)</a:t>
                      </a:r>
                      <a:endParaRPr kumimoji="1" lang="zh-CN" altLang="en-US" sz="20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6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(1.5, 1.0)</a:t>
                      </a:r>
                      <a:r>
                        <a:rPr kumimoji="1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0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(1.5, 0.75)</a:t>
                      </a:r>
                      <a:r>
                        <a:rPr kumimoji="1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(1.488095, 0.755952)</a:t>
                      </a:r>
                      <a:r>
                        <a:rPr kumimoji="1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(1.488034, 0.755983)</a:t>
                      </a:r>
                      <a:r>
                        <a:rPr kumimoji="1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0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1811" y="135346"/>
            <a:ext cx="4693377" cy="18665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7058" y="303329"/>
            <a:ext cx="5054590" cy="502702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pPr marL="342900" indent="-342900" algn="ctr">
              <a:lnSpc>
                <a:spcPts val="32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牛顿下山法</a:t>
            </a:r>
            <a:r>
              <a:rPr lang="en-US" altLang="zh-CN" sz="2800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zh-CN" altLang="en-US" sz="2800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实际应用中使用</a:t>
            </a:r>
            <a:r>
              <a:rPr lang="en-US" altLang="zh-CN" sz="2800" kern="0" dirty="0"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  <a:endParaRPr lang="zh-CN" altLang="en-US" sz="2800" kern="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481513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4481513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977006" y="832367"/>
            <a:ext cx="10649689" cy="2277547"/>
            <a:chOff x="950322" y="780664"/>
            <a:chExt cx="10649689" cy="2277547"/>
          </a:xfrm>
        </p:grpSpPr>
        <p:sp>
          <p:nvSpPr>
            <p:cNvPr id="4" name="Text Box 3"/>
            <p:cNvSpPr txBox="1">
              <a:spLocks noChangeArrowheads="1"/>
            </p:cNvSpPr>
            <p:nvPr/>
          </p:nvSpPr>
          <p:spPr bwMode="auto">
            <a:xfrm>
              <a:off x="950322" y="780664"/>
              <a:ext cx="10619928" cy="22775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  <a:spcBef>
                  <a:spcPct val="5000"/>
                </a:spcBef>
              </a:pPr>
              <a:r>
                <a:rPr lang="zh-CN" altLang="en-US" sz="2800" dirty="0">
                  <a:solidFill>
                    <a:srgbClr val="000000"/>
                  </a:solidFill>
                  <a:latin typeface="+mn-ea"/>
                  <a:ea typeface="+mn-ea"/>
                </a:rPr>
                <a:t>   </a:t>
              </a:r>
              <a:r>
                <a:rPr lang="zh-CN" altLang="en-US" dirty="0">
                  <a:solidFill>
                    <a:srgbClr val="000000"/>
                  </a:solidFill>
                  <a:latin typeface="+mn-ea"/>
                  <a:ea typeface="+mn-ea"/>
                </a:rPr>
                <a:t>通常,牛顿迭代法的收敛性依赖于初始值  的选取,如果   偏离所求的根   比较远,则牛顿法可能发散。为了防止迭代发散,我们对牛顿迭代法的迭代过程再附加一项要求,即具有单调性</a:t>
              </a:r>
              <a:r>
                <a:rPr lang="zh-CN" altLang="en-US" sz="2800" dirty="0">
                  <a:solidFill>
                    <a:srgbClr val="000000"/>
                  </a:solidFill>
                  <a:latin typeface="+mn-ea"/>
                  <a:ea typeface="+mn-ea"/>
                </a:rPr>
                <a:t>                                  </a:t>
              </a:r>
              <a:endParaRPr lang="zh-CN" altLang="en-US" sz="2800" dirty="0">
                <a:solidFill>
                  <a:srgbClr val="000000"/>
                </a:solidFill>
                <a:latin typeface="+mn-ea"/>
                <a:ea typeface="+mn-ea"/>
              </a:endParaRPr>
            </a:p>
            <a:p>
              <a:pPr algn="just">
                <a:spcBef>
                  <a:spcPct val="50000"/>
                </a:spcBef>
              </a:pPr>
              <a:endParaRPr lang="zh-CN" altLang="en-US" sz="280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Object 4"/>
                <p:cNvSpPr txBox="1"/>
                <p:nvPr/>
              </p:nvSpPr>
              <p:spPr bwMode="auto">
                <a:xfrm>
                  <a:off x="6809974" y="804300"/>
                  <a:ext cx="422275" cy="533400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6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09974" y="804300"/>
                  <a:ext cx="422275" cy="533400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Object 6"/>
                <p:cNvSpPr txBox="1"/>
                <p:nvPr/>
              </p:nvSpPr>
              <p:spPr bwMode="auto">
                <a:xfrm>
                  <a:off x="8918649" y="871578"/>
                  <a:ext cx="482600" cy="609600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7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18649" y="871578"/>
                  <a:ext cx="482600" cy="609600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Object 7"/>
                <p:cNvSpPr txBox="1"/>
                <p:nvPr/>
              </p:nvSpPr>
              <p:spPr bwMode="auto">
                <a:xfrm>
                  <a:off x="11117411" y="871578"/>
                  <a:ext cx="482600" cy="533400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117411" y="871578"/>
                  <a:ext cx="482600" cy="53340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01955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9"/>
              <p:cNvSpPr txBox="1"/>
              <p:nvPr/>
            </p:nvSpPr>
            <p:spPr bwMode="auto">
              <a:xfrm>
                <a:off x="4943872" y="2592103"/>
                <a:ext cx="2057400" cy="560388"/>
              </a:xfrm>
              <a:prstGeom prst="rect">
                <a:avLst/>
              </a:prstGeom>
              <a:noFill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43872" y="2592103"/>
                <a:ext cx="2057400" cy="560388"/>
              </a:xfrm>
              <a:prstGeom prst="rect">
                <a:avLst/>
              </a:prstGeom>
              <a:blipFill rotWithShape="1">
                <a:blip r:embed="rId4"/>
                <a:stretch>
                  <a:fillRect l="-19" t="-6" r="19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1382311" y="3178827"/>
            <a:ext cx="563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满足这项要求的算法称下山法。</a:t>
            </a:r>
            <a:endParaRPr lang="zh-CN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3929063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1703512" y="3877405"/>
                <a:ext cx="2952328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squar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𝑓</m:t>
                          </m:r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(</m:t>
                          </m:r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𝑓</m:t>
                          </m:r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′(</m:t>
                          </m:r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kern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2" y="3877405"/>
                <a:ext cx="2952328" cy="410369"/>
              </a:xfrm>
              <a:prstGeom prst="rect">
                <a:avLst/>
              </a:prstGeom>
              <a:blipFill rotWithShape="1">
                <a:blip r:embed="rId5"/>
                <a:stretch>
                  <a:fillRect l="-15" t="-45207" r="1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6456" y="4514561"/>
            <a:ext cx="5143946" cy="2126164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矩形 6"/>
          <p:cNvSpPr>
            <a:spLocks noChangeArrowheads="1"/>
          </p:cNvSpPr>
          <p:nvPr/>
        </p:nvSpPr>
        <p:spPr bwMode="auto">
          <a:xfrm>
            <a:off x="695400" y="378264"/>
            <a:ext cx="37898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§3.6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割线法</a:t>
            </a:r>
            <a:r>
              <a:rPr lang="en-US" altLang="zh-CN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弦截法）</a:t>
            </a:r>
            <a:endParaRPr lang="zh-CN" altLang="en-US" sz="2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组合 11"/>
          <p:cNvGrpSpPr/>
          <p:nvPr/>
        </p:nvGrpSpPr>
        <p:grpSpPr bwMode="auto">
          <a:xfrm>
            <a:off x="2063750" y="842969"/>
            <a:ext cx="8064500" cy="1252532"/>
            <a:chOff x="539750" y="843067"/>
            <a:chExt cx="8064500" cy="1252433"/>
          </a:xfrm>
        </p:grpSpPr>
        <p:sp>
          <p:nvSpPr>
            <p:cNvPr id="78857" name="Rectangle 3"/>
            <p:cNvSpPr txBox="1">
              <a:spLocks noChangeArrowheads="1"/>
            </p:cNvSpPr>
            <p:nvPr/>
          </p:nvSpPr>
          <p:spPr bwMode="auto">
            <a:xfrm>
              <a:off x="539750" y="843067"/>
              <a:ext cx="8064500" cy="1007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2800" dirty="0"/>
                <a:t>         </a:t>
              </a:r>
              <a:r>
                <a:rPr lang="en-US" altLang="zh-CN" sz="2400" dirty="0"/>
                <a:t>Newton</a:t>
              </a:r>
              <a:r>
                <a:rPr lang="zh-CN" altLang="en-US" sz="2400" dirty="0"/>
                <a:t>迭代法有一个较强的要求是            存在</a:t>
              </a:r>
              <a:endParaRPr lang="zh-CN" altLang="en-US" sz="2400" dirty="0"/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2400" dirty="0"/>
                <a:t>且                    </a:t>
              </a:r>
              <a:r>
                <a:rPr lang="en-US" altLang="zh-CN" sz="2400" dirty="0"/>
                <a:t>, </a:t>
              </a:r>
              <a:r>
                <a:rPr lang="zh-CN" altLang="en-US" sz="2400" dirty="0"/>
                <a:t>因此用弦的斜率近似地替代           。</a:t>
              </a:r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858" name="Object 6"/>
                <p:cNvSpPr txBox="1"/>
                <p:nvPr/>
              </p:nvSpPr>
              <p:spPr bwMode="auto">
                <a:xfrm>
                  <a:off x="971600" y="1628775"/>
                  <a:ext cx="1439862" cy="466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78858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71600" y="1628775"/>
                  <a:ext cx="1439862" cy="466725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859" name="Object 8"/>
                <p:cNvSpPr txBox="1"/>
                <p:nvPr/>
              </p:nvSpPr>
              <p:spPr bwMode="auto">
                <a:xfrm>
                  <a:off x="6173804" y="1039813"/>
                  <a:ext cx="827088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78859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73804" y="1039813"/>
                  <a:ext cx="827088" cy="44450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860" name="Object 12"/>
                <p:cNvSpPr txBox="1"/>
                <p:nvPr/>
              </p:nvSpPr>
              <p:spPr bwMode="auto">
                <a:xfrm>
                  <a:off x="6357950" y="1628800"/>
                  <a:ext cx="827088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78860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357950" y="1628800"/>
                  <a:ext cx="827088" cy="44450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13"/>
          <p:cNvGrpSpPr/>
          <p:nvPr/>
        </p:nvGrpSpPr>
        <p:grpSpPr bwMode="auto">
          <a:xfrm>
            <a:off x="911424" y="2118514"/>
            <a:ext cx="9793088" cy="4622855"/>
            <a:chOff x="-155926" y="2342088"/>
            <a:chExt cx="9120539" cy="4288909"/>
          </a:xfrm>
        </p:grpSpPr>
        <p:sp>
          <p:nvSpPr>
            <p:cNvPr id="78854" name="Rectangle 2"/>
            <p:cNvSpPr txBox="1">
              <a:spLocks noChangeArrowheads="1"/>
            </p:cNvSpPr>
            <p:nvPr/>
          </p:nvSpPr>
          <p:spPr bwMode="auto">
            <a:xfrm>
              <a:off x="-155926" y="2342088"/>
              <a:ext cx="5111750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660066"/>
                  </a:solidFill>
                </a:rPr>
                <a:t>2.6.1 </a:t>
              </a:r>
              <a:r>
                <a:rPr lang="zh-CN" altLang="en-US" sz="2400" b="1" dirty="0">
                  <a:solidFill>
                    <a:srgbClr val="660066"/>
                  </a:solidFill>
                </a:rPr>
                <a:t> 割线法几何示意图</a:t>
              </a:r>
              <a:endParaRPr lang="zh-CN" altLang="en-US" sz="2400" b="1" dirty="0">
                <a:solidFill>
                  <a:srgbClr val="660066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1" dirty="0">
                <a:solidFill>
                  <a:srgbClr val="660066"/>
                </a:solidFill>
              </a:endParaRPr>
            </a:p>
          </p:txBody>
        </p:sp>
        <p:pic>
          <p:nvPicPr>
            <p:cNvPr id="78855" name="Picture 3" descr="d2ztu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388" y="2997202"/>
              <a:ext cx="8785225" cy="3138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856" name="Text Box 4"/>
            <p:cNvSpPr txBox="1">
              <a:spLocks noChangeArrowheads="1"/>
            </p:cNvSpPr>
            <p:nvPr/>
          </p:nvSpPr>
          <p:spPr bwMode="auto">
            <a:xfrm>
              <a:off x="857224" y="6230938"/>
              <a:ext cx="7489825" cy="4000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latin typeface="Tahoma" panose="020B0604030504040204" pitchFamily="34" charset="0"/>
                </a:rPr>
                <a:t>(a) </a:t>
              </a:r>
              <a:r>
                <a:rPr lang="zh-CN" altLang="en-US" sz="2000">
                  <a:latin typeface="Tahoma" panose="020B0604030504040204" pitchFamily="34" charset="0"/>
                </a:rPr>
                <a:t>单点割线法 </a:t>
              </a:r>
              <a:r>
                <a:rPr lang="zh-CN" altLang="en-US" sz="2000">
                  <a:solidFill>
                    <a:srgbClr val="008000"/>
                  </a:solidFill>
                  <a:latin typeface="Tahoma" panose="020B0604030504040204" pitchFamily="34" charset="0"/>
                </a:rPr>
                <a:t>（一端固定）                        </a:t>
              </a:r>
              <a:r>
                <a:rPr lang="en-US" altLang="zh-CN" sz="2000">
                  <a:latin typeface="Tahoma" panose="020B0604030504040204" pitchFamily="34" charset="0"/>
                </a:rPr>
                <a:t>(b) </a:t>
              </a:r>
              <a:r>
                <a:rPr lang="zh-CN" altLang="en-US" sz="2000">
                  <a:latin typeface="Tahoma" panose="020B0604030504040204" pitchFamily="34" charset="0"/>
                </a:rPr>
                <a:t>变端点弦截法 </a:t>
              </a:r>
              <a:endParaRPr lang="zh-CN" altLang="en-US" sz="2000">
                <a:latin typeface="Tahoma" panose="020B0604030504040204" pitchFamily="34" charset="0"/>
              </a:endParaRPr>
            </a:p>
          </p:txBody>
        </p:sp>
      </p:grpSp>
      <p:sp>
        <p:nvSpPr>
          <p:cNvPr id="78853" name="矩形 11"/>
          <p:cNvSpPr>
            <a:spLocks noChangeArrowheads="1"/>
          </p:cNvSpPr>
          <p:nvPr/>
        </p:nvSpPr>
        <p:spPr bwMode="auto">
          <a:xfrm>
            <a:off x="6213491" y="2264999"/>
            <a:ext cx="2968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i="1" dirty="0">
                <a:solidFill>
                  <a:srgbClr val="FF0000"/>
                </a:solidFill>
              </a:rPr>
              <a:t>与二分法不同之处？</a:t>
            </a:r>
            <a:endParaRPr lang="zh-CN" altLang="en-US" sz="2400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3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 txBox="1">
            <a:spLocks noChangeArrowheads="1"/>
          </p:cNvSpPr>
          <p:nvPr/>
        </p:nvSpPr>
        <p:spPr bwMode="auto">
          <a:xfrm>
            <a:off x="762578" y="259709"/>
            <a:ext cx="51117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660066"/>
                </a:solidFill>
              </a:rPr>
              <a:t>3.6.2 </a:t>
            </a:r>
            <a:r>
              <a:rPr lang="zh-CN" altLang="en-US" sz="2800" b="1" dirty="0">
                <a:solidFill>
                  <a:srgbClr val="660066"/>
                </a:solidFill>
              </a:rPr>
              <a:t> 割线法公式</a:t>
            </a:r>
            <a:endParaRPr lang="zh-CN" altLang="en-US" sz="2800" b="1" dirty="0">
              <a:solidFill>
                <a:srgbClr val="660066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 dirty="0">
              <a:solidFill>
                <a:srgbClr val="660066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10"/>
              <p:cNvSpPr txBox="1"/>
              <p:nvPr/>
            </p:nvSpPr>
            <p:spPr bwMode="auto">
              <a:xfrm>
                <a:off x="1441189" y="871378"/>
                <a:ext cx="5655220" cy="1082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>
                  <a:lnSpc>
                    <a:spcPts val="3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在</m:t>
                          </m:r>
                        </m:e>
                        <m:sub/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/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上有唯一零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点</m:t>
                          </m:r>
                        </m:e>
                        <m:sub/>
                      </m:sSub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取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1189" y="871378"/>
                <a:ext cx="5655220" cy="1082675"/>
              </a:xfrm>
              <a:prstGeom prst="rect">
                <a:avLst/>
              </a:prstGeom>
              <a:blipFill rotWithShape="1">
                <a:blip r:embed="rId1"/>
                <a:stretch>
                  <a:fillRect l="-7" t="-15" r="5" b="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649328" y="4194533"/>
          <a:ext cx="4541838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86" name="公式" r:id="rId2" imgW="39500175" imgH="7458075" progId="Equation.3">
                  <p:embed/>
                </p:oleObj>
              </mc:Choice>
              <mc:Fallback>
                <p:oleObj name="公式" r:id="rId2" imgW="39500175" imgH="745807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328" y="4194533"/>
                        <a:ext cx="4541838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2"/>
          <p:cNvGrpSpPr/>
          <p:nvPr/>
        </p:nvGrpSpPr>
        <p:grpSpPr bwMode="auto">
          <a:xfrm>
            <a:off x="1587271" y="2894562"/>
            <a:ext cx="7277100" cy="1501775"/>
            <a:chOff x="750888" y="4076700"/>
            <a:chExt cx="7277100" cy="1501775"/>
          </a:xfrm>
        </p:grpSpPr>
        <p:sp>
          <p:nvSpPr>
            <p:cNvPr id="79883" name="Rectangle 3"/>
            <p:cNvSpPr txBox="1">
              <a:spLocks noChangeArrowheads="1"/>
            </p:cNvSpPr>
            <p:nvPr/>
          </p:nvSpPr>
          <p:spPr bwMode="auto">
            <a:xfrm>
              <a:off x="750888" y="4105275"/>
              <a:ext cx="7277100" cy="619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400" dirty="0"/>
                <a:t>解得弦与    轴的交点是坐标 </a:t>
              </a:r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884" name="Object 5"/>
                <p:cNvSpPr txBox="1"/>
                <p:nvPr/>
              </p:nvSpPr>
              <p:spPr bwMode="auto">
                <a:xfrm>
                  <a:off x="1027064" y="4741863"/>
                  <a:ext cx="4341812" cy="8366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79884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7064" y="4741863"/>
                  <a:ext cx="4341812" cy="836612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885" name="Object 8"/>
                <p:cNvSpPr txBox="1"/>
                <p:nvPr/>
              </p:nvSpPr>
              <p:spPr bwMode="auto">
                <a:xfrm>
                  <a:off x="1949549" y="4087812"/>
                  <a:ext cx="460276" cy="5282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79885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49549" y="4087812"/>
                  <a:ext cx="460276" cy="528255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886" name="Object 9"/>
                <p:cNvSpPr txBox="1"/>
                <p:nvPr/>
              </p:nvSpPr>
              <p:spPr bwMode="auto">
                <a:xfrm>
                  <a:off x="4500563" y="4076700"/>
                  <a:ext cx="358775" cy="4873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79886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00563" y="4076700"/>
                  <a:ext cx="358775" cy="487363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9881" name="Object 4"/>
              <p:cNvSpPr txBox="1"/>
              <p:nvPr/>
            </p:nvSpPr>
            <p:spPr bwMode="auto">
              <a:xfrm>
                <a:off x="1605428" y="1755290"/>
                <a:ext cx="7489328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过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及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/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得弦的方程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9881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5428" y="1755290"/>
                <a:ext cx="7489328" cy="457200"/>
              </a:xfrm>
              <a:prstGeom prst="rect">
                <a:avLst/>
              </a:prstGeom>
              <a:blipFill rotWithShape="1">
                <a:blip r:embed="rId7"/>
                <a:stretch>
                  <a:fillRect l="-2" t="-33" r="4" b="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476" name="Picture 1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771683" y="2247043"/>
            <a:ext cx="5324450" cy="3894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  <p:pic>
        <p:nvPicPr>
          <p:cNvPr id="79880" name="图片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288" y="439737"/>
            <a:ext cx="3250592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5" name="Object 11"/>
          <p:cNvGraphicFramePr>
            <a:graphicFrameLocks noChangeAspect="1"/>
          </p:cNvGraphicFramePr>
          <p:nvPr/>
        </p:nvGraphicFramePr>
        <p:xfrm>
          <a:off x="1952541" y="2211739"/>
          <a:ext cx="3935412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87" name="Equation" r:id="rId10" imgW="36204525" imgH="7458075" progId="Equation.DSMT4">
                  <p:embed/>
                </p:oleObj>
              </mc:Choice>
              <mc:Fallback>
                <p:oleObj name="Equation" r:id="rId10" imgW="36204525" imgH="745807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541" y="2211739"/>
                        <a:ext cx="3935412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9"/>
          <p:cNvGrpSpPr/>
          <p:nvPr/>
        </p:nvGrpSpPr>
        <p:grpSpPr bwMode="auto">
          <a:xfrm>
            <a:off x="95867" y="5099361"/>
            <a:ext cx="6821625" cy="1372743"/>
            <a:chOff x="70525" y="404813"/>
            <a:chExt cx="6408737" cy="137274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Object 6"/>
                <p:cNvSpPr txBox="1"/>
                <p:nvPr/>
              </p:nvSpPr>
              <p:spPr bwMode="auto">
                <a:xfrm>
                  <a:off x="611188" y="404813"/>
                  <a:ext cx="2859087" cy="503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再由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计算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......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6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1188" y="404813"/>
                  <a:ext cx="2859087" cy="503237"/>
                </a:xfrm>
                <a:prstGeom prst="rect">
                  <a:avLst/>
                </a:prstGeom>
                <a:blipFill rotWithShape="1">
                  <a:blip r:embed="rId1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Object 8"/>
                <p:cNvSpPr txBox="1"/>
                <p:nvPr/>
              </p:nvSpPr>
              <p:spPr bwMode="auto">
                <a:xfrm>
                  <a:off x="70525" y="880619"/>
                  <a:ext cx="6408737" cy="8969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plc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/>
                            <m:e/>
                          </m:mr>
                        </m:m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,...)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7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0525" y="880619"/>
                  <a:ext cx="6408737" cy="896937"/>
                </a:xfrm>
                <a:prstGeom prst="rect">
                  <a:avLst/>
                </a:prstGeom>
                <a:blipFill rotWithShape="1">
                  <a:blip r:embed="rId1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8" name="Object 12"/>
          <p:cNvGraphicFramePr>
            <a:graphicFrameLocks noChangeAspect="1"/>
          </p:cNvGraphicFramePr>
          <p:nvPr/>
        </p:nvGraphicFramePr>
        <p:xfrm>
          <a:off x="654427" y="6383181"/>
          <a:ext cx="453548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88" name="Equation" r:id="rId14" imgW="40595550" imgH="3514725" progId="Equation.DSMT4">
                  <p:embed/>
                </p:oleObj>
              </mc:Choice>
              <mc:Fallback>
                <p:oleObj name="Equation" r:id="rId14" imgW="40595550" imgH="351472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427" y="6383181"/>
                        <a:ext cx="4535487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E4A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1C1C1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0"/>
          <p:cNvGrpSpPr/>
          <p:nvPr/>
        </p:nvGrpSpPr>
        <p:grpSpPr bwMode="auto">
          <a:xfrm>
            <a:off x="1563687" y="692696"/>
            <a:ext cx="4295775" cy="1928812"/>
            <a:chOff x="517525" y="2673350"/>
            <a:chExt cx="4295740" cy="1928826"/>
          </a:xfrm>
        </p:grpSpPr>
        <p:graphicFrame>
          <p:nvGraphicFramePr>
            <p:cNvPr id="80904" name="Object 3"/>
            <p:cNvGraphicFramePr>
              <a:graphicFrameLocks noChangeAspect="1"/>
            </p:cNvGraphicFramePr>
            <p:nvPr/>
          </p:nvGraphicFramePr>
          <p:xfrm>
            <a:off x="728628" y="3179776"/>
            <a:ext cx="4084637" cy="142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44" name="Equation" r:id="rId1" imgW="35328225" imgH="12287250" progId="Equation.DSMT4">
                    <p:embed/>
                  </p:oleObj>
                </mc:Choice>
                <mc:Fallback>
                  <p:oleObj name="Equation" r:id="rId1" imgW="35328225" imgH="1228725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8628" y="3179776"/>
                          <a:ext cx="4084637" cy="1422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905" name="Object 5"/>
                <p:cNvSpPr txBox="1"/>
                <p:nvPr/>
              </p:nvSpPr>
              <p:spPr bwMode="auto">
                <a:xfrm>
                  <a:off x="517525" y="2673350"/>
                  <a:ext cx="3790950" cy="4651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若由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计算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以此类推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80905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7525" y="2673350"/>
                  <a:ext cx="3790950" cy="465138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279" name="Object 7"/>
              <p:cNvSpPr txBox="1"/>
              <p:nvPr/>
            </p:nvSpPr>
            <p:spPr bwMode="auto">
              <a:xfrm>
                <a:off x="623392" y="4842648"/>
                <a:ext cx="9793088" cy="1590675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两种方法分别以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代替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427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392" y="4842648"/>
                <a:ext cx="9793088" cy="1590675"/>
              </a:xfrm>
              <a:prstGeom prst="rect">
                <a:avLst/>
              </a:prstGeom>
              <a:blipFill rotWithShape="1">
                <a:blip r:embed="rId4"/>
                <a:stretch>
                  <a:fillRect l="-50" t="-328" r="-46" b="-271"/>
                </a:stretch>
              </a:blipFill>
              <a:ln>
                <a:solidFill>
                  <a:srgbClr val="92D050"/>
                </a:solidFill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4280" name="Object 13"/>
          <p:cNvGraphicFramePr>
            <a:graphicFrameLocks noChangeAspect="1"/>
          </p:cNvGraphicFramePr>
          <p:nvPr/>
        </p:nvGraphicFramePr>
        <p:xfrm>
          <a:off x="62388" y="2808152"/>
          <a:ext cx="66579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5" name="Equation" r:id="rId5" imgW="60779025" imgH="3514725" progId="Equation.DSMT4">
                  <p:embed/>
                </p:oleObj>
              </mc:Choice>
              <mc:Fallback>
                <p:oleObj name="Equation" r:id="rId5" imgW="60779025" imgH="351472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" y="2808152"/>
                        <a:ext cx="66579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E4A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1C1C1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3499" name="Picture 1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725081" y="260648"/>
            <a:ext cx="5318800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994" name="Object 2"/>
          <p:cNvGraphicFramePr>
            <a:graphicFrameLocks noChangeAspect="1"/>
          </p:cNvGraphicFramePr>
          <p:nvPr/>
        </p:nvGraphicFramePr>
        <p:xfrm>
          <a:off x="1981220" y="2058193"/>
          <a:ext cx="5051425" cy="425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17" name="Equation" r:id="rId1" imgW="30091380" imgH="25339040" progId="Equation.DSMT4">
                  <p:embed/>
                </p:oleObj>
              </mc:Choice>
              <mc:Fallback>
                <p:oleObj name="Equation" r:id="rId1" imgW="30091380" imgH="25339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20" y="2058193"/>
                        <a:ext cx="5051425" cy="425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2238375" y="285750"/>
            <a:ext cx="2447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u="sng">
                <a:solidFill>
                  <a:srgbClr val="CC0000"/>
                </a:solidFill>
                <a:latin typeface="宋体" panose="02010600030101010101" pitchFamily="2" charset="-122"/>
              </a:rPr>
              <a:t>几何解释</a:t>
            </a:r>
            <a:endParaRPr lang="zh-CN" altLang="en-US" sz="2800" b="1" u="sng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996" name="Object 4"/>
              <p:cNvSpPr txBox="1"/>
              <p:nvPr/>
            </p:nvSpPr>
            <p:spPr bwMode="auto">
              <a:xfrm>
                <a:off x="1199456" y="1124744"/>
                <a:ext cx="8345334" cy="14927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割线法是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过</m:t>
                          </m:r>
                        </m:e>
                        <m:sub/>
                      </m:sSub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及</m:t>
                          </m:r>
                        </m:e>
                        <m:sub/>
                      </m:sSub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/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得弦的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直线方程，由直线与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轴的交点作为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499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9456" y="1124744"/>
                <a:ext cx="8345334" cy="1492771"/>
              </a:xfrm>
              <a:prstGeom prst="rect">
                <a:avLst/>
              </a:prstGeom>
              <a:blipFill rotWithShape="1">
                <a:blip r:embed="rId3"/>
                <a:stretch>
                  <a:fillRect l="-7" t="-11" r="1" b="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7464152" y="6070609"/>
            <a:ext cx="3262432" cy="4520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>
              <a:lnSpc>
                <a:spcPts val="32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latin typeface="+mn-ea"/>
                <a:ea typeface="+mn-ea"/>
              </a:rPr>
              <a:t>，</a:t>
            </a:r>
            <a:r>
              <a:rPr lang="zh-CN" altLang="en-US" b="1" kern="0" dirty="0">
                <a:solidFill>
                  <a:srgbClr val="002060"/>
                </a:solidFill>
                <a:latin typeface="+mn-ea"/>
                <a:ea typeface="+mn-ea"/>
              </a:rPr>
              <a:t>开始需要赋两个初值</a:t>
            </a:r>
            <a:endParaRPr lang="zh-CN" altLang="en-US" b="1" kern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grpSp>
        <p:nvGrpSpPr>
          <p:cNvPr id="6" name="组合 16"/>
          <p:cNvGrpSpPr/>
          <p:nvPr/>
        </p:nvGrpSpPr>
        <p:grpSpPr bwMode="auto">
          <a:xfrm>
            <a:off x="6467262" y="2617515"/>
            <a:ext cx="5256212" cy="2522537"/>
            <a:chOff x="1547813" y="3573016"/>
            <a:chExt cx="5256212" cy="2522537"/>
          </a:xfrm>
        </p:grpSpPr>
        <p:sp>
          <p:nvSpPr>
            <p:cNvPr id="7" name="Line 6"/>
            <p:cNvSpPr>
              <a:spLocks noChangeAspect="1" noChangeShapeType="1"/>
            </p:cNvSpPr>
            <p:nvPr/>
          </p:nvSpPr>
          <p:spPr bwMode="auto">
            <a:xfrm>
              <a:off x="1547813" y="5657403"/>
              <a:ext cx="5045075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Arc 7"/>
            <p:cNvSpPr>
              <a:spLocks noChangeAspect="1"/>
            </p:cNvSpPr>
            <p:nvPr/>
          </p:nvSpPr>
          <p:spPr bwMode="auto">
            <a:xfrm flipV="1">
              <a:off x="1766888" y="3573016"/>
              <a:ext cx="3181350" cy="2522537"/>
            </a:xfrm>
            <a:custGeom>
              <a:avLst/>
              <a:gdLst>
                <a:gd name="T0" fmla="*/ 0 w 21600"/>
                <a:gd name="T1" fmla="*/ 0 h 21600"/>
                <a:gd name="T2" fmla="*/ 2147483646 w 21600"/>
                <a:gd name="T3" fmla="*/ 2147483646 h 21600"/>
                <a:gd name="T4" fmla="*/ 0 w 21600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8"/>
            <p:cNvSpPr>
              <a:spLocks noChangeAspect="1" noChangeShapeType="1"/>
            </p:cNvSpPr>
            <p:nvPr/>
          </p:nvSpPr>
          <p:spPr bwMode="auto">
            <a:xfrm flipH="1">
              <a:off x="3868738" y="4011166"/>
              <a:ext cx="1316037" cy="164623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9"/>
            <p:cNvSpPr>
              <a:spLocks noChangeAspect="1" noChangeShapeType="1"/>
            </p:cNvSpPr>
            <p:nvPr/>
          </p:nvSpPr>
          <p:spPr bwMode="auto">
            <a:xfrm flipH="1">
              <a:off x="4195763" y="3682553"/>
              <a:ext cx="752475" cy="1960563"/>
            </a:xfrm>
            <a:prstGeom prst="line">
              <a:avLst/>
            </a:prstGeom>
            <a:noFill/>
            <a:ln w="158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" name="Group 10"/>
            <p:cNvGrpSpPr/>
            <p:nvPr/>
          </p:nvGrpSpPr>
          <p:grpSpPr bwMode="auto">
            <a:xfrm>
              <a:off x="4748213" y="3682553"/>
              <a:ext cx="457200" cy="2268538"/>
              <a:chOff x="2592" y="1365"/>
              <a:chExt cx="288" cy="1429"/>
            </a:xfrm>
          </p:grpSpPr>
          <p:sp>
            <p:nvSpPr>
              <p:cNvPr id="17" name="Line 11"/>
              <p:cNvSpPr>
                <a:spLocks noChangeAspect="1" noChangeShapeType="1"/>
              </p:cNvSpPr>
              <p:nvPr/>
            </p:nvSpPr>
            <p:spPr bwMode="auto">
              <a:xfrm flipV="1">
                <a:off x="2718" y="1365"/>
                <a:ext cx="0" cy="1244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Text Box 12"/>
              <p:cNvSpPr txBox="1">
                <a:spLocks noChangeArrowheads="1"/>
              </p:cNvSpPr>
              <p:nvPr/>
            </p:nvSpPr>
            <p:spPr bwMode="auto">
              <a:xfrm>
                <a:off x="2592" y="254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000" b="1" i="1"/>
                  <a:t>x</a:t>
                </a:r>
                <a:r>
                  <a:rPr lang="en-US" altLang="zh-CN" sz="2000" b="1" baseline="-25000"/>
                  <a:t>0</a:t>
                </a:r>
                <a:endParaRPr lang="en-US" altLang="zh-CN" sz="2000" b="1" i="1"/>
              </a:p>
            </p:txBody>
          </p:sp>
        </p:grpSp>
        <p:grpSp>
          <p:nvGrpSpPr>
            <p:cNvPr id="12" name="Group 13"/>
            <p:cNvGrpSpPr/>
            <p:nvPr/>
          </p:nvGrpSpPr>
          <p:grpSpPr bwMode="auto">
            <a:xfrm>
              <a:off x="4291013" y="4868416"/>
              <a:ext cx="457200" cy="1082675"/>
              <a:chOff x="2304" y="2112"/>
              <a:chExt cx="288" cy="682"/>
            </a:xfrm>
          </p:grpSpPr>
          <p:sp>
            <p:nvSpPr>
              <p:cNvPr id="15" name="Line 14"/>
              <p:cNvSpPr>
                <a:spLocks noChangeAspect="1" noChangeShapeType="1"/>
              </p:cNvSpPr>
              <p:nvPr/>
            </p:nvSpPr>
            <p:spPr bwMode="auto">
              <a:xfrm>
                <a:off x="2441" y="2112"/>
                <a:ext cx="0" cy="497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Text Box 15"/>
              <p:cNvSpPr txBox="1">
                <a:spLocks noChangeArrowheads="1"/>
              </p:cNvSpPr>
              <p:nvPr/>
            </p:nvSpPr>
            <p:spPr bwMode="auto">
              <a:xfrm>
                <a:off x="2304" y="254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000" b="1" i="1"/>
                  <a:t>x</a:t>
                </a:r>
                <a:r>
                  <a:rPr lang="en-US" altLang="zh-CN" sz="2000" b="1" baseline="-25000"/>
                  <a:t>1</a:t>
                </a:r>
                <a:endParaRPr lang="en-US" altLang="zh-CN" sz="2000" b="1" i="1"/>
              </a:p>
            </p:txBody>
          </p:sp>
        </p:grpSp>
        <p:sp>
          <p:nvSpPr>
            <p:cNvPr id="13" name="AutoShape 17"/>
            <p:cNvSpPr>
              <a:spLocks noChangeArrowheads="1"/>
            </p:cNvSpPr>
            <p:nvPr/>
          </p:nvSpPr>
          <p:spPr bwMode="auto">
            <a:xfrm>
              <a:off x="2738438" y="4006403"/>
              <a:ext cx="1185862" cy="431800"/>
            </a:xfrm>
            <a:prstGeom prst="wedgeRectCallout">
              <a:avLst>
                <a:gd name="adj1" fmla="val 109972"/>
                <a:gd name="adj2" fmla="val 50736"/>
              </a:avLst>
            </a:prstGeom>
            <a:gradFill rotWithShape="0">
              <a:gsLst>
                <a:gs pos="0">
                  <a:srgbClr val="CCFFCC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rgbClr val="008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FF5050"/>
                  </a:solidFill>
                </a:rPr>
                <a:t>割线</a:t>
              </a:r>
              <a:r>
                <a:rPr lang="zh-CN" altLang="en-US" sz="2400">
                  <a:solidFill>
                    <a:srgbClr val="FF5050"/>
                  </a:solidFill>
                </a:rPr>
                <a:t> </a:t>
              </a:r>
              <a:endParaRPr lang="zh-CN" altLang="en-US" sz="2400">
                <a:solidFill>
                  <a:srgbClr val="FF5050"/>
                </a:solidFill>
              </a:endParaRPr>
            </a:p>
          </p:txBody>
        </p:sp>
        <p:sp>
          <p:nvSpPr>
            <p:cNvPr id="14" name="AutoShape 21"/>
            <p:cNvSpPr>
              <a:spLocks noChangeArrowheads="1"/>
            </p:cNvSpPr>
            <p:nvPr/>
          </p:nvSpPr>
          <p:spPr bwMode="auto">
            <a:xfrm>
              <a:off x="5618163" y="4870003"/>
              <a:ext cx="1185862" cy="431800"/>
            </a:xfrm>
            <a:prstGeom prst="wedgeRectCallout">
              <a:avLst>
                <a:gd name="adj1" fmla="val -102477"/>
                <a:gd name="adj2" fmla="val -198528"/>
              </a:avLst>
            </a:prstGeom>
            <a:gradFill rotWithShape="0">
              <a:gsLst>
                <a:gs pos="0">
                  <a:srgbClr val="CCFFCC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rgbClr val="008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chemeClr val="accent2"/>
                  </a:solidFill>
                </a:rPr>
                <a:t>切线</a:t>
              </a:r>
              <a:endParaRPr lang="zh-CN" altLang="en-US" sz="2400" b="1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22" name="组合 11"/>
          <p:cNvGrpSpPr/>
          <p:nvPr/>
        </p:nvGrpSpPr>
        <p:grpSpPr bwMode="auto">
          <a:xfrm>
            <a:off x="1774825" y="115888"/>
            <a:ext cx="8893175" cy="671512"/>
            <a:chOff x="250825" y="115888"/>
            <a:chExt cx="8893175" cy="671512"/>
          </a:xfrm>
        </p:grpSpPr>
        <p:sp>
          <p:nvSpPr>
            <p:cNvPr id="81930" name="Rectangle 2"/>
            <p:cNvSpPr txBox="1">
              <a:spLocks noChangeArrowheads="1"/>
            </p:cNvSpPr>
            <p:nvPr/>
          </p:nvSpPr>
          <p:spPr bwMode="auto">
            <a:xfrm>
              <a:off x="250825" y="115888"/>
              <a:ext cx="8893175" cy="671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8000"/>
                  </a:solidFill>
                </a:rPr>
                <a:t>例</a:t>
              </a:r>
              <a:r>
                <a:rPr lang="zh-CN" altLang="en-US" sz="2400">
                  <a:solidFill>
                    <a:schemeClr val="tx2"/>
                  </a:solidFill>
                </a:rPr>
                <a:t> 用双点割线法求方程                                 在区间         内的实根。</a:t>
              </a:r>
              <a:endParaRPr lang="zh-CN" altLang="en-US" sz="2400">
                <a:solidFill>
                  <a:schemeClr val="tx2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931" name="Object 5"/>
                <p:cNvSpPr txBox="1"/>
                <p:nvPr/>
              </p:nvSpPr>
              <p:spPr bwMode="auto">
                <a:xfrm>
                  <a:off x="3419475" y="211138"/>
                  <a:ext cx="2592388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81931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19475" y="211138"/>
                  <a:ext cx="2592388" cy="457200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932" name="Object 6"/>
                <p:cNvSpPr txBox="1"/>
                <p:nvPr/>
              </p:nvSpPr>
              <p:spPr bwMode="auto">
                <a:xfrm>
                  <a:off x="6986588" y="260350"/>
                  <a:ext cx="630237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81932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86588" y="260350"/>
                  <a:ext cx="630237" cy="43815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10"/>
          <p:cNvGrpSpPr/>
          <p:nvPr/>
        </p:nvGrpSpPr>
        <p:grpSpPr bwMode="auto">
          <a:xfrm>
            <a:off x="2063750" y="908050"/>
            <a:ext cx="6696075" cy="1296988"/>
            <a:chOff x="539751" y="858838"/>
            <a:chExt cx="6980237" cy="1325439"/>
          </a:xfrm>
        </p:grpSpPr>
        <p:sp>
          <p:nvSpPr>
            <p:cNvPr id="4" name="Rectangle 3"/>
            <p:cNvSpPr txBox="1">
              <a:spLocks noChangeArrowheads="1"/>
            </p:cNvSpPr>
            <p:nvPr/>
          </p:nvSpPr>
          <p:spPr bwMode="auto">
            <a:xfrm>
              <a:off x="539751" y="858838"/>
              <a:ext cx="4679969" cy="481831"/>
            </a:xfrm>
            <a:prstGeom prst="rect">
              <a:avLst/>
            </a:prstGeom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defRPr/>
              </a:pPr>
              <a:r>
                <a:rPr lang="zh-CN" altLang="en-US" b="1" kern="0" dirty="0">
                  <a:latin typeface="+mn-lt"/>
                  <a:ea typeface="+mn-ea"/>
                </a:rPr>
                <a:t>解</a:t>
              </a:r>
              <a:r>
                <a:rPr lang="zh-CN" altLang="en-US" kern="0" dirty="0">
                  <a:latin typeface="+mn-lt"/>
                  <a:ea typeface="+mn-ea"/>
                </a:rPr>
                <a:t>：取                          代入公式</a:t>
              </a:r>
              <a:endParaRPr lang="zh-CN" altLang="en-US" kern="0" dirty="0">
                <a:latin typeface="+mn-lt"/>
                <a:ea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928" name="Object 7"/>
                <p:cNvSpPr txBox="1"/>
                <p:nvPr/>
              </p:nvSpPr>
              <p:spPr bwMode="auto">
                <a:xfrm>
                  <a:off x="1581150" y="863600"/>
                  <a:ext cx="2036011" cy="6003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 , 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1928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81150" y="863600"/>
                  <a:ext cx="2036011" cy="600365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aphicFrame>
          <p:nvGraphicFramePr>
            <p:cNvPr id="81929" name="Object 8"/>
            <p:cNvGraphicFramePr>
              <a:graphicFrameLocks noChangeAspect="1"/>
            </p:cNvGraphicFramePr>
            <p:nvPr/>
          </p:nvGraphicFramePr>
          <p:xfrm>
            <a:off x="1341438" y="1277899"/>
            <a:ext cx="6178550" cy="906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80" name="Equation" r:id="rId4" imgW="50911125" imgH="7458075" progId="Equation.DSMT4">
                    <p:embed/>
                  </p:oleObj>
                </mc:Choice>
                <mc:Fallback>
                  <p:oleObj name="Equation" r:id="rId4" imgW="50911125" imgH="7458075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1438" y="1277899"/>
                          <a:ext cx="6178550" cy="906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11"/>
          <p:cNvGrpSpPr/>
          <p:nvPr/>
        </p:nvGrpSpPr>
        <p:grpSpPr bwMode="auto">
          <a:xfrm>
            <a:off x="2279650" y="2420938"/>
            <a:ext cx="6192838" cy="4214812"/>
            <a:chOff x="755576" y="2164087"/>
            <a:chExt cx="6191721" cy="4215304"/>
          </a:xfrm>
        </p:grpSpPr>
        <p:pic>
          <p:nvPicPr>
            <p:cNvPr id="81925" name="Group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2487" y="2689610"/>
              <a:ext cx="4926711" cy="3721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926" name="矩形 9"/>
            <p:cNvSpPr>
              <a:spLocks noChangeArrowheads="1"/>
            </p:cNvSpPr>
            <p:nvPr/>
          </p:nvSpPr>
          <p:spPr bwMode="auto">
            <a:xfrm>
              <a:off x="755576" y="2164087"/>
              <a:ext cx="3888673" cy="462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ts val="1200"/>
                </a:spcBef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</a:rPr>
                <a:t>计算结果</a:t>
              </a:r>
              <a:r>
                <a:rPr lang="en-US" altLang="zh-CN" sz="2400">
                  <a:solidFill>
                    <a:srgbClr val="000000"/>
                  </a:solidFill>
                </a:rPr>
                <a:t>, </a:t>
              </a:r>
              <a:r>
                <a:rPr lang="zh-CN" altLang="en-US" sz="2400">
                  <a:solidFill>
                    <a:srgbClr val="000000"/>
                  </a:solidFill>
                </a:rPr>
                <a:t>如下表所示：</a:t>
              </a:r>
              <a:endParaRPr lang="zh-CN" altLang="en-US" sz="240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 txBox="1">
            <a:spLocks noChangeArrowheads="1"/>
          </p:cNvSpPr>
          <p:nvPr/>
        </p:nvSpPr>
        <p:spPr bwMode="auto">
          <a:xfrm>
            <a:off x="2063750" y="476250"/>
            <a:ext cx="51117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660066"/>
                </a:solidFill>
              </a:rPr>
              <a:t>3.6.3 </a:t>
            </a:r>
            <a:r>
              <a:rPr lang="zh-CN" altLang="en-US" sz="2400" b="1">
                <a:solidFill>
                  <a:srgbClr val="660066"/>
                </a:solidFill>
              </a:rPr>
              <a:t> 割线法收敛的速度</a:t>
            </a:r>
            <a:endParaRPr lang="zh-CN" altLang="en-US" sz="2400" b="1">
              <a:solidFill>
                <a:srgbClr val="660066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660066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660066"/>
              </a:solidFill>
            </a:endParaRP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2667000" y="4089400"/>
          <a:ext cx="7288213" cy="236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75" name="Equation" r:id="rId1" imgW="62103000" imgH="20183475" progId="Equation.DSMT4">
                  <p:embed/>
                </p:oleObj>
              </mc:Choice>
              <mc:Fallback>
                <p:oleObj name="Equation" r:id="rId1" imgW="62103000" imgH="2018347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089400"/>
                        <a:ext cx="7288213" cy="236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E4A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1C1C1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2651125" y="2389188"/>
          <a:ext cx="6542088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76" name="Equation" r:id="rId3" imgW="56616600" imgH="12725400" progId="Equation.DSMT4">
                  <p:embed/>
                </p:oleObj>
              </mc:Choice>
              <mc:Fallback>
                <p:oleObj name="Equation" r:id="rId3" imgW="56616600" imgH="12725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2389188"/>
                        <a:ext cx="6542088" cy="146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6"/>
              <p:cNvSpPr txBox="1"/>
              <p:nvPr/>
            </p:nvSpPr>
            <p:spPr bwMode="auto">
              <a:xfrm>
                <a:off x="2093913" y="1189038"/>
                <a:ext cx="7851775" cy="1073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定理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设</m:t>
                          </m:r>
                        </m:e>
                        <m:sub/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≜</m:t>
                          </m:r>
                        </m:e>
                        <m:sub/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],  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],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          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＝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/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的根，则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93913" y="1189038"/>
                <a:ext cx="7851775" cy="1073150"/>
              </a:xfrm>
              <a:prstGeom prst="rect">
                <a:avLst/>
              </a:prstGeom>
              <a:blipFill rotWithShape="1">
                <a:blip r:embed="rId5"/>
                <a:stretch>
                  <a:fillRect l="-4" t="-30" r="4" b="-79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3" name="Text Box 2"/>
          <p:cNvSpPr txBox="1">
            <a:spLocks noChangeArrowheads="1"/>
          </p:cNvSpPr>
          <p:nvPr/>
        </p:nvSpPr>
        <p:spPr bwMode="auto">
          <a:xfrm>
            <a:off x="984184" y="301831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证明：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 bwMode="auto">
              <a:xfrm>
                <a:off x="2174876" y="308231"/>
                <a:ext cx="6729436" cy="869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Pre>
                            <m:sPre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sPre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4876" y="308231"/>
                <a:ext cx="6729436" cy="869950"/>
              </a:xfrm>
              <a:prstGeom prst="rect">
                <a:avLst/>
              </a:prstGeom>
              <a:blipFill rotWithShape="1">
                <a:blip r:embed="rId1"/>
                <a:stretch>
                  <a:fillRect t="-29" r="5" b="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2463702" y="2772525"/>
                <a:ext cx="7702237" cy="6661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Pre>
                      <m:sPre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sPre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US" altLang="zh-CN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702" y="2772525"/>
                <a:ext cx="7702237" cy="666144"/>
              </a:xfrm>
              <a:prstGeom prst="rect">
                <a:avLst/>
              </a:prstGeom>
              <a:blipFill rotWithShape="1">
                <a:blip r:embed="rId2"/>
                <a:stretch>
                  <a:fillRect l="-7" t="-17" r="3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1271464" y="1537450"/>
            <a:ext cx="73285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F1115"/>
                </a:solidFill>
                <a:latin typeface="quote-cjk-patch"/>
              </a:rPr>
              <a:t>假设 </a:t>
            </a:r>
            <a:r>
              <a:rPr lang="en-US" altLang="zh-CN" sz="2000" i="1" dirty="0">
                <a:solidFill>
                  <a:srgbClr val="0F1115"/>
                </a:solidFill>
                <a:latin typeface="KaTeX_Math"/>
              </a:rPr>
              <a:t>f</a:t>
            </a:r>
            <a:r>
              <a:rPr lang="en-US" altLang="zh-CN" sz="2000" dirty="0">
                <a:solidFill>
                  <a:srgbClr val="0F1115"/>
                </a:solidFill>
                <a:latin typeface="KaTeX_Main"/>
              </a:rPr>
              <a:t>(</a:t>
            </a:r>
            <a:r>
              <a:rPr lang="en-US" altLang="zh-CN" sz="2000" i="1" dirty="0">
                <a:solidFill>
                  <a:srgbClr val="0F1115"/>
                </a:solidFill>
                <a:latin typeface="KaTeX_Math"/>
              </a:rPr>
              <a:t>x</a:t>
            </a:r>
            <a:r>
              <a:rPr lang="en-US" altLang="zh-CN" sz="2000" dirty="0">
                <a:solidFill>
                  <a:srgbClr val="0F1115"/>
                </a:solidFill>
                <a:latin typeface="KaTeX_Main"/>
              </a:rPr>
              <a:t>)</a:t>
            </a:r>
            <a:r>
              <a:rPr lang="zh-CN" altLang="en-US" sz="2000" dirty="0">
                <a:solidFill>
                  <a:srgbClr val="0F1115"/>
                </a:solidFill>
                <a:latin typeface="quote-cjk-patch"/>
              </a:rPr>
              <a:t> 在根 </a:t>
            </a:r>
            <a:r>
              <a:rPr lang="en-US" altLang="zh-CN" sz="2000" i="1" dirty="0">
                <a:solidFill>
                  <a:srgbClr val="0F1115"/>
                </a:solidFill>
                <a:latin typeface="KaTeX_Math"/>
              </a:rPr>
              <a:t>x</a:t>
            </a:r>
            <a:r>
              <a:rPr lang="zh-CN" altLang="en-US" sz="2000" dirty="0">
                <a:solidFill>
                  <a:srgbClr val="0F1115"/>
                </a:solidFill>
                <a:latin typeface="KaTeX_Main"/>
              </a:rPr>
              <a:t>∗</a:t>
            </a:r>
            <a:r>
              <a:rPr lang="zh-CN" altLang="en-US" sz="2000" dirty="0">
                <a:solidFill>
                  <a:srgbClr val="0F1115"/>
                </a:solidFill>
                <a:latin typeface="quote-cjk-patch"/>
              </a:rPr>
              <a:t> 附近充分光滑，使用泰勒展开：</a:t>
            </a:r>
            <a:endParaRPr lang="zh-CN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463702" y="3580094"/>
                <a:ext cx="323800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702" y="3580094"/>
                <a:ext cx="3238002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17" t="-130" r="1" b="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/>
          <p:cNvGrpSpPr/>
          <p:nvPr/>
        </p:nvGrpSpPr>
        <p:grpSpPr>
          <a:xfrm>
            <a:off x="1703512" y="3810927"/>
            <a:ext cx="9114806" cy="1376082"/>
            <a:chOff x="1829768" y="2891085"/>
            <a:chExt cx="9114806" cy="1376082"/>
          </a:xfrm>
        </p:grpSpPr>
        <p:sp>
          <p:nvSpPr>
            <p:cNvPr id="26" name="矩形 25"/>
            <p:cNvSpPr/>
            <p:nvPr/>
          </p:nvSpPr>
          <p:spPr>
            <a:xfrm>
              <a:off x="1829768" y="3331005"/>
              <a:ext cx="73285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0F1115"/>
                  </a:solidFill>
                  <a:latin typeface="quote-cjk-patch"/>
                </a:rPr>
                <a:t>代入迭代公式：</a:t>
              </a:r>
              <a:endParaRPr lang="zh-CN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矩形 6"/>
                <p:cNvSpPr/>
                <p:nvPr/>
              </p:nvSpPr>
              <p:spPr>
                <a:xfrm>
                  <a:off x="3873151" y="2891085"/>
                  <a:ext cx="7071423" cy="1376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)(</m:t>
                            </m:r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a:rPr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a:rPr lang="en-US" altLang="zh-CN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e>
                                </m:d>
                              </m:num>
                              <m:den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a:rPr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a:rPr lang="en-US" altLang="zh-CN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e>
                                </m:d>
                              </m:num>
                              <m:den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nor/>
                              </m:rP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7" name="矩形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3151" y="2891085"/>
                  <a:ext cx="7071423" cy="137608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2560350" y="1957465"/>
                <a:ext cx="6783267" cy="6661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)</a:t>
                </a:r>
                <a:r>
                  <a:rPr lang="en-US" altLang="zh-CN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50" y="1957465"/>
                <a:ext cx="6783267" cy="666144"/>
              </a:xfrm>
              <a:prstGeom prst="rect">
                <a:avLst/>
              </a:prstGeom>
              <a:blipFill rotWithShape="1">
                <a:blip r:embed="rId5"/>
                <a:stretch>
                  <a:fillRect t="-59" r="3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3935760" y="5517232"/>
                <a:ext cx="5253811" cy="8124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760" y="5517232"/>
                <a:ext cx="5253811" cy="812467"/>
              </a:xfrm>
              <a:prstGeom prst="rect">
                <a:avLst/>
              </a:prstGeom>
              <a:blipFill rotWithShape="1">
                <a:blip r:embed="rId6"/>
                <a:stretch>
                  <a:fillRect l="-1" t="-43" r="9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10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5"/>
          <p:cNvGrpSpPr/>
          <p:nvPr/>
        </p:nvGrpSpPr>
        <p:grpSpPr bwMode="auto">
          <a:xfrm>
            <a:off x="4254278" y="5142618"/>
            <a:ext cx="3856419" cy="1832445"/>
            <a:chOff x="1339932" y="5032543"/>
            <a:chExt cx="3856419" cy="18324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Object 20"/>
                <p:cNvSpPr txBox="1"/>
                <p:nvPr/>
              </p:nvSpPr>
              <p:spPr bwMode="auto">
                <a:xfrm>
                  <a:off x="1495894" y="5032543"/>
                  <a:ext cx="2736850" cy="795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r>
                    <a:rPr lang="en-US" altLang="zh-CN" dirty="0">
                      <a:solidFill>
                        <a:srgbClr val="000000"/>
                      </a:solidFill>
                    </a:rPr>
                    <a:t>p</a:t>
                  </a:r>
                  <a14:m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618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95894" y="5032543"/>
                  <a:ext cx="2736850" cy="795338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Object 5"/>
                <p:cNvSpPr txBox="1"/>
                <p:nvPr/>
              </p:nvSpPr>
              <p:spPr bwMode="auto">
                <a:xfrm>
                  <a:off x="1339932" y="5701350"/>
                  <a:ext cx="3856419" cy="11636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𝑙𝑖𝑚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618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zh-CN" altLang="en-US" dirty="0"/>
                    <a:t>常数</a:t>
                  </a:r>
                  <a:endParaRPr lang="zh-CN" altLang="en-US" dirty="0"/>
                </a:p>
              </p:txBody>
            </p:sp>
          </mc:Choice>
          <mc:Fallback>
            <p:sp>
              <p:nvSpPr>
                <p:cNvPr id="4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39932" y="5701350"/>
                  <a:ext cx="3856419" cy="1163638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2459122" y="476672"/>
                <a:ext cx="2818400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</a:rPr>
                  <a:t>根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据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阶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收敛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定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义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sup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122" y="476672"/>
                <a:ext cx="2818400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14" t="-51" r="1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3133731" y="1352064"/>
                <a:ext cx="39897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</a:rPr>
                  <a:t>则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sup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zh-CN" altLang="en-US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  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</a:t>
                </a:r>
                <a:endParaRPr lang="zh-CN" altLang="en-US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31" y="1352064"/>
                <a:ext cx="3989747" cy="461665"/>
              </a:xfrm>
              <a:prstGeom prst="rect">
                <a:avLst/>
              </a:prstGeom>
              <a:blipFill rotWithShape="1">
                <a:blip r:embed="rId4"/>
                <a:stretch>
                  <a:fillRect t="-32" r="1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3133730" y="1858124"/>
                <a:ext cx="6655220" cy="5845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</a:rPr>
                  <a:t>根</a:t>
                </a:r>
                <a14:m>
                  <m:oMath xmlns:m="http://schemas.openxmlformats.org/officeDocument/2006/math">
                    <m:r>
                      <a:rPr lang="zh-CN" alt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据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阶</m:t>
                    </m:r>
                    <m:r>
                      <a:rPr lang="zh-CN" alt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定</m:t>
                    </m:r>
                    <m:r>
                      <a:rPr lang="zh-CN" alt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义</m:t>
                    </m:r>
                    <m:r>
                      <a:rPr lang="zh-CN" alt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递</m:t>
                    </m:r>
                    <m:r>
                      <a:rPr lang="zh-CN" alt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推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即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den>
                        </m:f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30" y="1858124"/>
                <a:ext cx="6655220" cy="584584"/>
              </a:xfrm>
              <a:prstGeom prst="rect">
                <a:avLst/>
              </a:prstGeom>
              <a:blipFill rotWithShape="1">
                <a:blip r:embed="rId5"/>
                <a:stretch>
                  <a:fillRect t="-20" r="-623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2459122" y="2460116"/>
                <a:ext cx="3068661" cy="9900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dirty="0">
                    <a:solidFill>
                      <a:srgbClr val="000000"/>
                    </a:solidFill>
                  </a:rPr>
                  <a:t>代入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）</m:t>
                    </m:r>
                    <m:r>
                      <a:rPr lang="zh-CN" alt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得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ts val="3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</m:den>
                          </m:f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122" y="2460116"/>
                <a:ext cx="3068661" cy="990015"/>
              </a:xfrm>
              <a:prstGeom prst="rect">
                <a:avLst/>
              </a:prstGeom>
              <a:blipFill rotWithShape="1">
                <a:blip r:embed="rId6"/>
                <a:stretch>
                  <a:fillRect l="-13" t="-13" r="4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2477861" y="3536531"/>
                <a:ext cx="3534750" cy="9900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dirty="0">
                    <a:solidFill>
                      <a:srgbClr val="000000"/>
                    </a:solidFill>
                  </a:rPr>
                  <a:t>化简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得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ts val="3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861" y="3536531"/>
                <a:ext cx="3534750" cy="990015"/>
              </a:xfrm>
              <a:prstGeom prst="rect">
                <a:avLst/>
              </a:prstGeom>
              <a:blipFill rotWithShape="1">
                <a:blip r:embed="rId7"/>
                <a:stretch>
                  <a:fillRect l="-3" t="-22" r="12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2610975" y="4546080"/>
                <a:ext cx="3286605" cy="6564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</a:rPr>
                  <a:t>比较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指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数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得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975" y="4546080"/>
                <a:ext cx="3286605" cy="656462"/>
              </a:xfrm>
              <a:prstGeom prst="rect">
                <a:avLst/>
              </a:prstGeom>
              <a:blipFill rotWithShape="1">
                <a:blip r:embed="rId8"/>
                <a:stretch>
                  <a:fillRect l="-15" t="-18" r="10" b="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3473" y="476672"/>
            <a:ext cx="9001000" cy="5780044"/>
          </a:xfrm>
          <a:prstGeom prst="rect">
            <a:avLst/>
          </a:prstGeom>
          <a:gradFill>
            <a:gsLst>
              <a:gs pos="10000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pPr marL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kern="0" dirty="0">
                <a:latin typeface="+mn-ea"/>
                <a:ea typeface="+mn-ea"/>
              </a:rPr>
              <a:t>总结：</a:t>
            </a:r>
            <a:endParaRPr lang="en-US" altLang="zh-CN" sz="2800" kern="0" dirty="0">
              <a:latin typeface="+mn-ea"/>
              <a:ea typeface="+mn-ea"/>
            </a:endParaRPr>
          </a:p>
          <a:p>
            <a:pPr marL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kern="0" dirty="0">
                <a:latin typeface="+mn-ea"/>
                <a:ea typeface="+mn-ea"/>
              </a:rPr>
              <a:t>1.</a:t>
            </a:r>
            <a:r>
              <a:rPr lang="zh-CN" altLang="en-US" sz="2800" kern="0" dirty="0">
                <a:latin typeface="+mn-ea"/>
                <a:ea typeface="+mn-ea"/>
              </a:rPr>
              <a:t>在一个区域范围内根的存在性，根的唯一性，重根</a:t>
            </a:r>
            <a:endParaRPr lang="en-US" altLang="zh-CN" sz="2800" kern="0" dirty="0">
              <a:latin typeface="+mn-ea"/>
              <a:ea typeface="+mn-ea"/>
            </a:endParaRPr>
          </a:p>
          <a:p>
            <a:pPr marL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kern="0" dirty="0">
                <a:latin typeface="+mn-ea"/>
                <a:ea typeface="+mn-ea"/>
              </a:rPr>
              <a:t>2.</a:t>
            </a:r>
            <a:r>
              <a:rPr lang="zh-CN" altLang="en-US" sz="2800" kern="0" dirty="0">
                <a:latin typeface="+mn-ea"/>
                <a:ea typeface="+mn-ea"/>
              </a:rPr>
              <a:t>迭代公式收敛性判定</a:t>
            </a:r>
            <a:endParaRPr lang="en-US" altLang="zh-CN" sz="2800" kern="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kern="0" dirty="0">
                <a:latin typeface="+mn-ea"/>
                <a:ea typeface="+mn-ea"/>
              </a:rPr>
              <a:t>3.</a:t>
            </a:r>
            <a:r>
              <a:rPr lang="zh-CN" altLang="en-US" sz="2800" kern="0" dirty="0">
                <a:latin typeface="+mn-ea"/>
                <a:ea typeface="+mn-ea"/>
              </a:rPr>
              <a:t>收敛阶数的判定</a:t>
            </a:r>
            <a:endParaRPr lang="en-US" altLang="zh-CN" sz="2800" kern="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kern="0" dirty="0">
                <a:latin typeface="+mn-ea"/>
                <a:ea typeface="+mn-ea"/>
              </a:rPr>
              <a:t>4.</a:t>
            </a:r>
            <a:r>
              <a:rPr lang="zh-CN" altLang="en-US" sz="2800" kern="0" dirty="0">
                <a:latin typeface="+mn-ea"/>
                <a:ea typeface="+mn-ea"/>
              </a:rPr>
              <a:t>误差分析：事前误差，事后误差，一阶收敛误差，二阶收敛误差</a:t>
            </a:r>
            <a:endParaRPr lang="en-US" altLang="zh-CN" sz="2800" kern="0" dirty="0">
              <a:latin typeface="+mn-ea"/>
              <a:ea typeface="+mn-ea"/>
            </a:endParaRPr>
          </a:p>
          <a:p>
            <a:pPr marL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kern="0" dirty="0">
                <a:latin typeface="+mn-ea"/>
                <a:ea typeface="+mn-ea"/>
              </a:rPr>
              <a:t>5.</a:t>
            </a:r>
            <a:r>
              <a:rPr lang="zh-CN" altLang="en-US" sz="2800" kern="0" dirty="0">
                <a:latin typeface="+mn-ea"/>
                <a:ea typeface="+mn-ea"/>
              </a:rPr>
              <a:t>牛顿迭代法</a:t>
            </a:r>
            <a:endParaRPr lang="en-US" altLang="zh-CN" sz="2800" kern="0" dirty="0">
              <a:latin typeface="+mn-ea"/>
              <a:ea typeface="+mn-ea"/>
            </a:endParaRPr>
          </a:p>
          <a:p>
            <a:pPr marL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kern="0" dirty="0">
                <a:latin typeface="+mn-ea"/>
                <a:ea typeface="+mn-ea"/>
              </a:rPr>
              <a:t>6.</a:t>
            </a:r>
            <a:r>
              <a:rPr lang="zh-CN" altLang="en-US" sz="2800" kern="0" dirty="0">
                <a:latin typeface="+mn-ea"/>
                <a:ea typeface="+mn-ea"/>
              </a:rPr>
              <a:t>割线法</a:t>
            </a:r>
            <a:r>
              <a:rPr lang="en-US" altLang="zh-CN" sz="2800" kern="0" dirty="0">
                <a:latin typeface="+mn-ea"/>
                <a:ea typeface="+mn-ea"/>
              </a:rPr>
              <a:t>:</a:t>
            </a:r>
            <a:r>
              <a:rPr lang="zh-CN" altLang="en-US" sz="2800" kern="0" dirty="0">
                <a:latin typeface="+mn-ea"/>
                <a:ea typeface="+mn-ea"/>
              </a:rPr>
              <a:t>差商代替一阶</a:t>
            </a:r>
            <a:r>
              <a:rPr lang="zh-CN" altLang="en-US" sz="2800" kern="0">
                <a:latin typeface="+mn-ea"/>
                <a:ea typeface="+mn-ea"/>
              </a:rPr>
              <a:t>导数的倒数</a:t>
            </a:r>
            <a:endParaRPr lang="en-US" altLang="zh-CN" sz="2800" kern="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3186" name="Object 6"/>
              <p:cNvSpPr txBox="1"/>
              <p:nvPr/>
            </p:nvSpPr>
            <p:spPr bwMode="auto">
              <a:xfrm>
                <a:off x="1930400" y="5457825"/>
                <a:ext cx="6080357" cy="650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</m:t>
                      </m:r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        ,  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公式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:   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rad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9318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0400" y="5457825"/>
                <a:ext cx="6080357" cy="650875"/>
              </a:xfrm>
              <a:prstGeom prst="rect">
                <a:avLst/>
              </a:prstGeom>
              <a:blipFill rotWithShape="1">
                <a:blip r:embed="rId1"/>
                <a:stretch>
                  <a:fillRect r="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187" name="Object 8"/>
              <p:cNvSpPr txBox="1"/>
              <p:nvPr/>
            </p:nvSpPr>
            <p:spPr bwMode="auto">
              <a:xfrm>
                <a:off x="1991544" y="3373438"/>
                <a:ext cx="5738812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</m:t>
                      </m:r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      ,   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公式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:    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93187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44" y="3373438"/>
                <a:ext cx="5738812" cy="647700"/>
              </a:xfrm>
              <a:prstGeom prst="rect">
                <a:avLst/>
              </a:prstGeom>
              <a:blipFill rotWithShape="1">
                <a:blip r:embed="rId2"/>
                <a:stretch>
                  <a:fillRect l="-3" t="-49" r="9" b="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188" name="Object 10"/>
              <p:cNvSpPr txBox="1"/>
              <p:nvPr/>
            </p:nvSpPr>
            <p:spPr bwMode="auto">
              <a:xfrm>
                <a:off x="1930400" y="4254500"/>
                <a:ext cx="5594350" cy="1100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    ,   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公式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:  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318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0400" y="4254500"/>
                <a:ext cx="5594350" cy="1100137"/>
              </a:xfrm>
              <a:prstGeom prst="rect">
                <a:avLst/>
              </a:prstGeom>
              <a:blipFill rotWithShape="1">
                <a:blip r:embed="rId3"/>
                <a:stretch>
                  <a:fillRect b="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189" name="Object 2"/>
              <p:cNvSpPr txBox="1"/>
              <p:nvPr/>
            </p:nvSpPr>
            <p:spPr bwMode="auto">
              <a:xfrm>
                <a:off x="2187575" y="869950"/>
                <a:ext cx="7767638" cy="10461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用迭代法求方程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内的根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取初始近似值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3189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7575" y="869950"/>
                <a:ext cx="7767638" cy="1046163"/>
              </a:xfrm>
              <a:prstGeom prst="rect">
                <a:avLst/>
              </a:prstGeom>
              <a:blipFill rotWithShape="1">
                <a:blip r:embed="rId4"/>
                <a:stretch>
                  <a:fillRect r="4" b="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190" name="Object 4"/>
              <p:cNvSpPr txBox="1"/>
              <p:nvPr/>
            </p:nvSpPr>
            <p:spPr bwMode="auto">
              <a:xfrm>
                <a:off x="1631504" y="2637832"/>
                <a:ext cx="6049168" cy="5095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 , 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公式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:  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9319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1504" y="2637832"/>
                <a:ext cx="6049168" cy="509588"/>
              </a:xfrm>
              <a:prstGeom prst="rect">
                <a:avLst/>
              </a:prstGeom>
              <a:blipFill rotWithShape="1">
                <a:blip r:embed="rId5"/>
                <a:stretch>
                  <a:fillRect l="-3" t="-8" r="6" b="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11"/>
          <p:cNvSpPr txBox="1">
            <a:spLocks noChangeArrowheads="1"/>
          </p:cNvSpPr>
          <p:nvPr/>
        </p:nvSpPr>
        <p:spPr bwMode="auto">
          <a:xfrm>
            <a:off x="1703388" y="1970088"/>
            <a:ext cx="3024187" cy="720725"/>
          </a:xfrm>
          <a:prstGeom prst="rect">
            <a:avLst/>
          </a:prstGeom>
          <a:noFill/>
        </p:spPr>
        <p:txBody>
          <a:bodyPr/>
          <a:lstStyle/>
          <a:p>
            <a:pPr marL="742950" lvl="1" indent="-285750" eaLnBrk="1" hangingPunct="1">
              <a:spcBef>
                <a:spcPct val="20000"/>
              </a:spcBef>
              <a:defRPr/>
            </a:pPr>
            <a:r>
              <a:rPr lang="zh-CN" altLang="en-US" sz="2800" kern="0" dirty="0">
                <a:solidFill>
                  <a:srgbClr val="008000"/>
                </a:solidFill>
                <a:latin typeface="+mn-lt"/>
                <a:ea typeface="+mn-ea"/>
              </a:rPr>
              <a:t>迭代公式：</a:t>
            </a:r>
            <a:endParaRPr lang="zh-CN" altLang="en-US" sz="2800" kern="0" dirty="0">
              <a:solidFill>
                <a:srgbClr val="008000"/>
              </a:solidFill>
              <a:latin typeface="+mn-lt"/>
              <a:ea typeface="+mn-ea"/>
            </a:endParaRPr>
          </a:p>
        </p:txBody>
      </p:sp>
      <p:sp>
        <p:nvSpPr>
          <p:cNvPr id="93192" name="矩形 8"/>
          <p:cNvSpPr>
            <a:spLocks noChangeArrowheads="1"/>
          </p:cNvSpPr>
          <p:nvPr/>
        </p:nvSpPr>
        <p:spPr bwMode="auto">
          <a:xfrm>
            <a:off x="2135188" y="260350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作业：</a:t>
            </a:r>
            <a:endParaRPr lang="en-US" altLang="zh-CN" sz="2400"/>
          </a:p>
        </p:txBody>
      </p:sp>
      <p:sp>
        <p:nvSpPr>
          <p:cNvPr id="93193" name="矩形 9"/>
          <p:cNvSpPr>
            <a:spLocks noChangeArrowheads="1"/>
          </p:cNvSpPr>
          <p:nvPr/>
        </p:nvSpPr>
        <p:spPr bwMode="auto">
          <a:xfrm>
            <a:off x="2125663" y="6237288"/>
            <a:ext cx="41862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试分析每种迭代公式的收敛性</a:t>
            </a:r>
            <a:endParaRPr lang="zh-CN" altLang="en-US" sz="24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4210" name="Object 3"/>
              <p:cNvSpPr txBox="1"/>
              <p:nvPr/>
            </p:nvSpPr>
            <p:spPr bwMode="auto">
              <a:xfrm>
                <a:off x="1343472" y="663753"/>
                <a:ext cx="9721080" cy="18262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对于给定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，设对一切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存在且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证明对于范围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内的任意定数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，迭代过程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均收敛于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的根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4210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3472" y="663753"/>
                <a:ext cx="9721080" cy="1826270"/>
              </a:xfrm>
              <a:prstGeom prst="rect">
                <a:avLst/>
              </a:prstGeom>
              <a:blipFill rotWithShape="1">
                <a:blip r:embed="rId1"/>
                <a:stretch>
                  <a:fillRect l="-5" t="-10" r="3" b="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998" name="Rectangle 30"/>
          <p:cNvSpPr>
            <a:spLocks noChangeArrowheads="1"/>
          </p:cNvSpPr>
          <p:nvPr/>
        </p:nvSpPr>
        <p:spPr bwMode="auto">
          <a:xfrm>
            <a:off x="1524000" y="-230188"/>
            <a:ext cx="184150" cy="460376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84000" name="Rectangle 32"/>
          <p:cNvSpPr>
            <a:spLocks noChangeArrowheads="1"/>
          </p:cNvSpPr>
          <p:nvPr/>
        </p:nvSpPr>
        <p:spPr bwMode="auto">
          <a:xfrm>
            <a:off x="1524000" y="-230188"/>
            <a:ext cx="184150" cy="460376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84002" name="Rectangle 34"/>
          <p:cNvSpPr>
            <a:spLocks noChangeArrowheads="1"/>
          </p:cNvSpPr>
          <p:nvPr/>
        </p:nvSpPr>
        <p:spPr bwMode="auto">
          <a:xfrm>
            <a:off x="1524000" y="-230188"/>
            <a:ext cx="184150" cy="460376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84004" name="Rectangle 36"/>
          <p:cNvSpPr>
            <a:spLocks noChangeArrowheads="1"/>
          </p:cNvSpPr>
          <p:nvPr/>
        </p:nvSpPr>
        <p:spPr bwMode="auto">
          <a:xfrm>
            <a:off x="1524000" y="-230188"/>
            <a:ext cx="184150" cy="460376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911394" y="2708920"/>
                <a:ext cx="7456850" cy="47320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lnSpc>
                    <a:spcPts val="3200"/>
                  </a:lnSpc>
                  <a:spcBef>
                    <a:spcPct val="20000"/>
                  </a:spcBef>
                  <a:buFont typeface="Wingdings" panose="05000000000000000000" pitchFamily="2" charset="2"/>
                  <a:buNone/>
                  <a:defRPr/>
                </a:pPr>
                <a:r>
                  <a:rPr lang="en-US" altLang="zh-CN" kern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3.</a:t>
                </a:r>
                <a:r>
                  <a:rPr lang="zh-CN" altLang="en-US" kern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分别用二分法和牛顿法求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𝑥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−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𝑡𝑎𝑛𝑥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0</m:t>
                    </m:r>
                  </m:oMath>
                </a14:m>
                <a:r>
                  <a:rPr lang="zh-CN" altLang="en-US" kern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的最小正根。</a:t>
                </a:r>
                <a:endParaRPr lang="zh-CN" altLang="en-US" kern="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394" y="2708920"/>
                <a:ext cx="7456850" cy="473206"/>
              </a:xfrm>
              <a:prstGeom prst="rect">
                <a:avLst/>
              </a:prstGeom>
              <a:blipFill rotWithShape="1">
                <a:blip r:embed="rId2"/>
                <a:stretch>
                  <a:fillRect l="-1" t="-2" r="-493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4293" name="Picture 85" descr="http://p3.toutiaoimg.com/origin/pgc-image/a1c80a282616401a9566a02207121058?noop.image?_iz=58558&amp;from=article.pc_detail&amp;x-expires=1682197813&amp;x-signature=9V0MAwo2KTuYSvN3vB5h14CoC8s%3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696" y="3429000"/>
            <a:ext cx="4032448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  <a:txDef>
      <a:spPr>
        <a:gradFill>
          <a:gsLst>
            <a:gs pos="10000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</a:spPr>
      <a:bodyPr/>
      <a:lstStyle>
        <a:defPPr marL="0" algn="ctr">
          <a:lnSpc>
            <a:spcPts val="3200"/>
          </a:lnSpc>
          <a:spcBef>
            <a:spcPct val="20000"/>
          </a:spcBef>
          <a:buFont typeface="Wingdings" panose="05000000000000000000" pitchFamily="2" charset="2"/>
          <a:buNone/>
          <a:defRPr sz="3600" kern="0" dirty="0" smtClean="0">
            <a:solidFill>
              <a:srgbClr val="FF0000"/>
            </a:solidFill>
            <a:latin typeface="华文中宋" panose="02010600040101010101" pitchFamily="2" charset="-122"/>
            <a:ea typeface="华文中宋" panose="02010600040101010101" pitchFamily="2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23773</Words>
  <Application>WPS 演示</Application>
  <PresentationFormat>宽屏</PresentationFormat>
  <Paragraphs>1962</Paragraphs>
  <Slides>90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48</vt:i4>
      </vt:variant>
      <vt:variant>
        <vt:lpstr>幻灯片标题</vt:lpstr>
      </vt:variant>
      <vt:variant>
        <vt:i4>90</vt:i4>
      </vt:variant>
    </vt:vector>
  </HeadingPairs>
  <TitlesOfParts>
    <vt:vector size="169" baseType="lpstr">
      <vt:lpstr>Arial</vt:lpstr>
      <vt:lpstr>宋体</vt:lpstr>
      <vt:lpstr>Wingdings</vt:lpstr>
      <vt:lpstr>Times New Roman</vt:lpstr>
      <vt:lpstr>华文中宋</vt:lpstr>
      <vt:lpstr>黑体</vt:lpstr>
      <vt:lpstr>Cambria Math</vt:lpstr>
      <vt:lpstr>Symbol</vt:lpstr>
      <vt:lpstr>Tahoma</vt:lpstr>
      <vt:lpstr>楷体_GB2312</vt:lpstr>
      <vt:lpstr>新宋体</vt:lpstr>
      <vt:lpstr>微软雅黑</vt:lpstr>
      <vt:lpstr>Arial Unicode MS</vt:lpstr>
      <vt:lpstr>等线</vt:lpstr>
      <vt:lpstr>Arial Black</vt:lpstr>
      <vt:lpstr>Times New Roman</vt:lpstr>
      <vt:lpstr>KaTeX_Math</vt:lpstr>
      <vt:lpstr>KaTeX_Main</vt:lpstr>
      <vt:lpstr>quote-cjk-patch</vt:lpstr>
      <vt:lpstr>华文楷体</vt:lpstr>
      <vt:lpstr>华文宋体</vt:lpstr>
      <vt:lpstr>KaTeX_Main</vt:lpstr>
      <vt:lpstr>KaTeX_Math</vt:lpstr>
      <vt:lpstr>Symbol</vt:lpstr>
      <vt:lpstr>Wingdings</vt:lpstr>
      <vt:lpstr>quote-cjk-patch</vt:lpstr>
      <vt:lpstr>楷体_GB2312</vt:lpstr>
      <vt:lpstr>方正楷体_GB2312</vt:lpstr>
      <vt:lpstr>Rage Italic</vt:lpstr>
      <vt:lpstr>Cooper Black</vt:lpstr>
      <vt:lpstr>默认设计模板</vt:lpstr>
      <vt:lpstr>Equation.DSMT4</vt:lpstr>
      <vt:lpstr>Equation.DSMT4</vt:lpstr>
      <vt:lpstr>Equation.DSMT4</vt:lpstr>
      <vt:lpstr>Equation.3</vt:lpstr>
      <vt:lpstr>Word.Picture.8</vt:lpstr>
      <vt:lpstr>Word.Picture.8</vt:lpstr>
      <vt:lpstr>Equation.DSMT4</vt:lpstr>
      <vt:lpstr>Equation.DSMT4</vt:lpstr>
      <vt:lpstr>Equation.3</vt:lpstr>
      <vt:lpstr>Equation.DSMT4</vt:lpstr>
      <vt:lpstr>Equation.DSMT4</vt:lpstr>
      <vt:lpstr>Word.Picture.8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二分法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njupt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</dc:title>
  <dc:creator>shyl</dc:creator>
  <cp:lastModifiedBy>O₂</cp:lastModifiedBy>
  <cp:revision>929</cp:revision>
  <dcterms:created xsi:type="dcterms:W3CDTF">2003-11-24T10:46:00Z</dcterms:created>
  <dcterms:modified xsi:type="dcterms:W3CDTF">2026-01-03T09:23:04Z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9580A57CF0A147AFB0C34EFA78F32CA7_12</vt:lpwstr>
  </property>
</Properties>
</file>