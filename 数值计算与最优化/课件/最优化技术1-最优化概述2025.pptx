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handoutMasterIdLst>
    <p:handoutMasterId r:id="rId12"/>
  </p:handoutMasterIdLst>
  <p:sldIdLst>
    <p:sldId id="256" r:id="rId2"/>
    <p:sldId id="278" r:id="rId3"/>
    <p:sldId id="263" r:id="rId4"/>
    <p:sldId id="288" r:id="rId5"/>
    <p:sldId id="279" r:id="rId6"/>
    <p:sldId id="282" r:id="rId7"/>
    <p:sldId id="280" r:id="rId8"/>
    <p:sldId id="281" r:id="rId9"/>
    <p:sldId id="289" r:id="rId10"/>
    <p:sldId id="25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48" autoAdjust="0"/>
    <p:restoredTop sz="94660"/>
  </p:normalViewPr>
  <p:slideViewPr>
    <p:cSldViewPr snapToGrid="0">
      <p:cViewPr varScale="1">
        <p:scale>
          <a:sx n="85" d="100"/>
          <a:sy n="85" d="100"/>
        </p:scale>
        <p:origin x="53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96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042114-4B4A-4A8D-AE8F-0B25A4637619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DCD70-D381-44E4-B785-24D3C289F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4865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DF8D-CB77-459F-9308-A84FC0D21C25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821B-5F3F-4B3C-81E0-24BE15B9630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931993"/>
            <a:ext cx="12192000" cy="4571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3C19958-B120-46D9-A7C3-DBE891BAF5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63" t="44271"/>
          <a:stretch/>
        </p:blipFill>
        <p:spPr>
          <a:xfrm rot="16200000">
            <a:off x="8343899" y="-2946399"/>
            <a:ext cx="901702" cy="67945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7D6C288-A50E-4296-9C84-523FCDCA02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2" r="62778" b="20521"/>
          <a:stretch/>
        </p:blipFill>
        <p:spPr>
          <a:xfrm rot="16200000">
            <a:off x="4394200" y="1562100"/>
            <a:ext cx="901700" cy="96901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10684386" y="638443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最优化技术</a:t>
            </a: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10748865" y="6721475"/>
            <a:ext cx="1443135" cy="0"/>
          </a:xfrm>
          <a:prstGeom prst="line">
            <a:avLst/>
          </a:prstGeom>
          <a:ln w="317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225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18457"/>
            <a:ext cx="10515600" cy="5458506"/>
          </a:xfrm>
          <a:ln w="12700">
            <a:solidFill>
              <a:schemeClr val="accent4"/>
            </a:solidFill>
          </a:ln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DF8D-CB77-459F-9308-A84FC0D21C25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821B-5F3F-4B3C-81E0-24BE15B9630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" y="0"/>
            <a:ext cx="1866122" cy="52251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22514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3C19958-B120-46D9-A7C3-DBE891BAF5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63" t="44271"/>
          <a:stretch/>
        </p:blipFill>
        <p:spPr>
          <a:xfrm rot="16200000">
            <a:off x="8343899" y="-2946399"/>
            <a:ext cx="901702" cy="67945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7D6C288-A50E-4296-9C84-523FCDCA02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2" r="62778" b="20521"/>
          <a:stretch/>
        </p:blipFill>
        <p:spPr>
          <a:xfrm rot="16200000">
            <a:off x="4394200" y="1562100"/>
            <a:ext cx="901700" cy="9690100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684386" y="638443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最优化技术</a:t>
            </a:r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10748865" y="6721475"/>
            <a:ext cx="1443135" cy="0"/>
          </a:xfrm>
          <a:prstGeom prst="line">
            <a:avLst/>
          </a:prstGeom>
          <a:ln w="317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033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31723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DF8D-CB77-459F-9308-A84FC0D21C25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821B-5F3F-4B3C-81E0-24BE15B9630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4061911"/>
            <a:ext cx="12192000" cy="26125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5791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DF8D-CB77-459F-9308-A84FC0D21C25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821B-5F3F-4B3C-81E0-24BE15B96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541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DF8D-CB77-459F-9308-A84FC0D21C25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821B-5F3F-4B3C-81E0-24BE15B96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062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DF8D-CB77-459F-9308-A84FC0D21C25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821B-5F3F-4B3C-81E0-24BE15B96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71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DF8D-CB77-459F-9308-A84FC0D21C25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821B-5F3F-4B3C-81E0-24BE15B96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430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DF8D-CB77-459F-9308-A84FC0D21C25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821B-5F3F-4B3C-81E0-24BE15B96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962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DF8D-CB77-459F-9308-A84FC0D21C25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821B-5F3F-4B3C-81E0-24BE15B96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922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DF8D-CB77-459F-9308-A84FC0D21C25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821B-5F3F-4B3C-81E0-24BE15B96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753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DF8D-CB77-459F-9308-A84FC0D21C25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821B-5F3F-4B3C-81E0-24BE15B96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900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ADF8D-CB77-459F-9308-A84FC0D21C25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7821B-5F3F-4B3C-81E0-24BE15B96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059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最优化技术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                                </a:t>
            </a:r>
            <a:endParaRPr lang="en-US" altLang="zh-CN" dirty="0"/>
          </a:p>
          <a:p>
            <a:r>
              <a:rPr lang="en-US" altLang="zh-CN" dirty="0"/>
              <a:t>                                   </a:t>
            </a:r>
            <a:r>
              <a:rPr lang="zh-CN" altLang="en-US" dirty="0"/>
              <a:t>重庆大学计算机学院</a:t>
            </a:r>
            <a:endParaRPr lang="en-US" altLang="zh-CN" dirty="0"/>
          </a:p>
          <a:p>
            <a:r>
              <a:rPr lang="en-US" altLang="zh-CN" dirty="0"/>
              <a:t>                                   </a:t>
            </a:r>
            <a:r>
              <a:rPr lang="zh-CN" altLang="en-US" dirty="0"/>
              <a:t>文静</a:t>
            </a:r>
          </a:p>
        </p:txBody>
      </p:sp>
    </p:spTree>
    <p:extLst>
      <p:ext uri="{BB962C8B-B14F-4D97-AF65-F5344CB8AC3E}">
        <p14:creationId xmlns:p14="http://schemas.microsoft.com/office/powerpoint/2010/main" val="4195427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最优化问题的提出：</a:t>
            </a:r>
            <a:endParaRPr lang="en-US" altLang="zh-CN" dirty="0"/>
          </a:p>
          <a:p>
            <a:pPr lvl="1"/>
            <a:r>
              <a:rPr lang="zh-CN" altLang="en-US" dirty="0"/>
              <a:t>生产计划中，在各种资源有限的前提下，如何安排生成，使生产成本达到最低？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金融投资中，如何选择和设计证券组合或投资项目组合，以便在可以接受的风险限度内尽可能大的获利。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机械设计中，如何满足工作条件，载荷和工艺要求，并在强度、刚度、寿命、尺寸范围及其他一些技术要求的限制条件下，寻找一组参数，以获得设计指标达到最优的设计方案。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在物流配送中，如何根据配送点和业务需求量，进行最优路线的计算。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最优化问题提出</a:t>
            </a:r>
          </a:p>
        </p:txBody>
      </p:sp>
    </p:spTree>
    <p:extLst>
      <p:ext uri="{BB962C8B-B14F-4D97-AF65-F5344CB8AC3E}">
        <p14:creationId xmlns:p14="http://schemas.microsoft.com/office/powerpoint/2010/main" val="3463943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研究内容：在有限和无限种可能的可行方案中挑选最优方案。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研究目的：主要解决最优计划，最优决策，最优分配，最优管理等最优化问题。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应用领域：经济，管理，国防，计算机等。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最优化技术</a:t>
            </a:r>
            <a:r>
              <a:rPr lang="en-US" altLang="zh-CN" dirty="0"/>
              <a:t>-</a:t>
            </a:r>
            <a:r>
              <a:rPr lang="zh-CN" altLang="en-US" dirty="0"/>
              <a:t>概述</a:t>
            </a:r>
          </a:p>
        </p:txBody>
      </p:sp>
    </p:spTree>
    <p:extLst>
      <p:ext uri="{BB962C8B-B14F-4D97-AF65-F5344CB8AC3E}">
        <p14:creationId xmlns:p14="http://schemas.microsoft.com/office/powerpoint/2010/main" val="225251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827183" y="685406"/>
                <a:ext cx="10515600" cy="5825562"/>
              </a:xfrm>
            </p:spPr>
            <p:txBody>
              <a:bodyPr>
                <a:normAutofit fontScale="55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3600" dirty="0"/>
                  <a:t>如何建立最优化问题模型</a:t>
                </a:r>
                <a:endParaRPr lang="en-US" altLang="zh-CN" sz="3600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3200" dirty="0"/>
                  <a:t>设计变量（参数）</a:t>
                </a:r>
                <a:endParaRPr lang="en-US" altLang="zh-CN" sz="3200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3200" dirty="0"/>
                  <a:t>确定目标函数</a:t>
                </a:r>
                <a:endParaRPr lang="en-US" altLang="zh-CN" sz="3200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3200" dirty="0"/>
                  <a:t>给出约束条件</a:t>
                </a:r>
                <a:endParaRPr lang="en-US" altLang="zh-CN" sz="320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3600" dirty="0"/>
                  <a:t>例：把半径为</a:t>
                </a:r>
                <a:r>
                  <a:rPr lang="en-US" altLang="zh-CN" sz="3600" dirty="0"/>
                  <a:t>1</a:t>
                </a:r>
                <a:r>
                  <a:rPr lang="zh-CN" altLang="en-US" sz="3600" dirty="0"/>
                  <a:t>的实心球熔化后，铸成一个实心圆柱体，问圆柱体取什么尺寸才使表面积最小。</a:t>
                </a:r>
                <a:endParaRPr lang="en-US" altLang="zh-CN" sz="3600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3200" dirty="0"/>
                  <a:t>变量（参数）：</a:t>
                </a:r>
                <a:endParaRPr lang="en-US" altLang="zh-CN" sz="3200" dirty="0"/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      决定圆柱表面的参数有底面半径</a:t>
                </a:r>
                <a:r>
                  <a:rPr lang="en-US" altLang="zh-CN" sz="3200" dirty="0"/>
                  <a:t>R</a:t>
                </a:r>
                <a:r>
                  <a:rPr lang="zh-CN" altLang="en-US" sz="3200" dirty="0"/>
                  <a:t>和高</a:t>
                </a:r>
                <a:r>
                  <a:rPr lang="en-US" altLang="zh-CN" sz="3200" dirty="0"/>
                  <a:t>h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3200" dirty="0"/>
                  <a:t>目标函数：</a:t>
                </a:r>
                <a:endParaRPr lang="en-US" altLang="zh-CN" sz="3200" dirty="0"/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    圆柱体表面积：</a:t>
                </a:r>
                <a:r>
                  <a:rPr lang="en-US" altLang="zh-CN" sz="3200" dirty="0"/>
                  <a:t>min </a:t>
                </a:r>
                <a14:m>
                  <m:oMath xmlns:m="http://schemas.openxmlformats.org/officeDocument/2006/math">
                    <m:r>
                      <a:rPr lang="en-US" altLang="zh-CN" sz="320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𝑅h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3200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3200" dirty="0"/>
                  <a:t>约束条件：</a:t>
                </a:r>
                <a:endParaRPr lang="en-US" altLang="zh-CN" sz="3200" dirty="0"/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    球重量</a:t>
                </a:r>
                <a:r>
                  <a:rPr lang="en-US" altLang="zh-CN" sz="3200" dirty="0"/>
                  <a:t>=</a:t>
                </a:r>
                <a:r>
                  <a:rPr lang="zh-CN" altLang="en-US" sz="3200" dirty="0"/>
                  <a:t>圆柱重量</a:t>
                </a:r>
                <a:endParaRPr lang="en-US" altLang="zh-CN" sz="3200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3200" dirty="0"/>
                  <a:t>数学模型：</a:t>
                </a:r>
                <a:endParaRPr lang="en-US" altLang="zh-CN" sz="3200" dirty="0"/>
              </a:p>
              <a:p>
                <a:pPr lvl="1">
                  <a:lnSpc>
                    <a:spcPct val="150000"/>
                  </a:lnSpc>
                </a:pPr>
                <a:endParaRPr lang="en-US" altLang="zh-CN" dirty="0"/>
              </a:p>
              <a:p>
                <a:pPr lvl="1">
                  <a:lnSpc>
                    <a:spcPct val="150000"/>
                  </a:lnSpc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7183" y="685406"/>
                <a:ext cx="10515600" cy="5825562"/>
              </a:xfrm>
              <a:blipFill rotWithShape="0">
                <a:blip r:embed="rId2"/>
                <a:stretch>
                  <a:fillRect l="-463" r="-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最优化问题模型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3127664" y="5266489"/>
                <a:ext cx="3231572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7664" y="5266489"/>
                <a:ext cx="3231572" cy="61093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6021385" y="5393382"/>
                <a:ext cx="3231572" cy="484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即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385" y="5393382"/>
                <a:ext cx="3231572" cy="484043"/>
              </a:xfrm>
              <a:prstGeom prst="rect">
                <a:avLst/>
              </a:prstGeom>
              <a:blipFill rotWithShape="0">
                <a:blip r:embed="rId4"/>
                <a:stretch>
                  <a:fillRect l="-1698" b="-3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8659717" y="5087121"/>
                <a:ext cx="2169632" cy="134088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in</m:t>
                                    </m:r>
                                  </m:fName>
                                  <m:e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𝑅h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sSup>
                                      <m:s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dirty="0"/>
                                  <m:t> </m:t>
                                </m:r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9717" y="5087121"/>
                <a:ext cx="2169632" cy="134088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8198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4" grpId="0"/>
      <p:bldP spid="5" grpId="0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38200" y="718457"/>
            <a:ext cx="10145617" cy="54585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人员分派问题：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假设某个项目有</a:t>
            </a:r>
            <a:r>
              <a:rPr lang="en-US" altLang="zh-CN" sz="2000" dirty="0"/>
              <a:t>4</a:t>
            </a:r>
            <a:r>
              <a:rPr lang="zh-CN" altLang="en-US" sz="2000" dirty="0"/>
              <a:t>项连续的任务，即任务</a:t>
            </a:r>
            <a:r>
              <a:rPr lang="en-US" altLang="zh-CN" sz="2000" dirty="0"/>
              <a:t>1</a:t>
            </a:r>
            <a:r>
              <a:rPr lang="zh-CN" altLang="en-US" sz="2000" dirty="0"/>
              <a:t>完成才能开始任务</a:t>
            </a:r>
            <a:r>
              <a:rPr lang="en-US" altLang="zh-CN" sz="2000" dirty="0"/>
              <a:t>2</a:t>
            </a:r>
            <a:r>
              <a:rPr lang="zh-CN" altLang="en-US" sz="2000" dirty="0"/>
              <a:t>，完成了任务</a:t>
            </a:r>
            <a:r>
              <a:rPr lang="en-US" altLang="zh-CN" sz="2000" dirty="0"/>
              <a:t>2</a:t>
            </a:r>
            <a:r>
              <a:rPr lang="zh-CN" altLang="en-US" sz="2000" dirty="0"/>
              <a:t>后才能开始任务</a:t>
            </a:r>
            <a:r>
              <a:rPr lang="en-US" altLang="zh-CN" sz="2000" dirty="0"/>
              <a:t>3</a:t>
            </a:r>
            <a:r>
              <a:rPr lang="zh-CN" altLang="en-US" sz="2000" dirty="0"/>
              <a:t>，以此类推。并规定由甲乙丙丁四名成员每人完成且仅完成其中一项任务，每人要完成四项任务的时间如表所示，应该如何分配这些任务，可以使得花费总时间最少？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endParaRPr lang="en-US" altLang="zh-CN" dirty="0"/>
          </a:p>
          <a:p>
            <a:pPr lvl="1">
              <a:lnSpc>
                <a:spcPct val="150000"/>
              </a:lnSpc>
            </a:pPr>
            <a:endParaRPr lang="en-US" altLang="zh-CN" dirty="0"/>
          </a:p>
          <a:p>
            <a:pPr lvl="1">
              <a:lnSpc>
                <a:spcPct val="150000"/>
              </a:lnSpc>
            </a:pPr>
            <a:endParaRPr lang="en-US" altLang="zh-CN" dirty="0"/>
          </a:p>
          <a:p>
            <a:pPr lvl="1">
              <a:lnSpc>
                <a:spcPct val="150000"/>
              </a:lnSpc>
            </a:pPr>
            <a:endParaRPr lang="en-US" altLang="zh-CN" dirty="0"/>
          </a:p>
          <a:p>
            <a:pPr lvl="1">
              <a:lnSpc>
                <a:spcPct val="150000"/>
              </a:lnSpc>
            </a:pPr>
            <a:endParaRPr lang="en-US" altLang="zh-CN" dirty="0"/>
          </a:p>
          <a:p>
            <a:pPr lvl="1"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典型案例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664582"/>
              </p:ext>
            </p:extLst>
          </p:nvPr>
        </p:nvGraphicFramePr>
        <p:xfrm>
          <a:off x="2052780" y="3561615"/>
          <a:ext cx="8462820" cy="2372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2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2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2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2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0688">
                <a:tc>
                  <a:txBody>
                    <a:bodyPr/>
                    <a:lstStyle/>
                    <a:p>
                      <a:r>
                        <a:rPr lang="zh-CN" altLang="en-US" dirty="0"/>
                        <a:t>                  时间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成员 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任务</a:t>
                      </a:r>
                      <a:r>
                        <a:rPr lang="en-US" altLang="zh-CN" dirty="0"/>
                        <a:t>1</a:t>
                      </a:r>
                      <a:r>
                        <a:rPr lang="zh-CN" altLang="en-US" dirty="0"/>
                        <a:t>（天）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任务</a:t>
                      </a: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（天）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任务</a:t>
                      </a:r>
                      <a:r>
                        <a:rPr lang="en-US" altLang="zh-CN" dirty="0"/>
                        <a:t>3</a:t>
                      </a:r>
                      <a:r>
                        <a:rPr lang="zh-CN" altLang="en-US" dirty="0"/>
                        <a:t>（天）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任务</a:t>
                      </a:r>
                      <a:r>
                        <a:rPr lang="en-US" altLang="zh-CN" dirty="0"/>
                        <a:t>4</a:t>
                      </a:r>
                      <a:r>
                        <a:rPr lang="zh-CN" altLang="en-US" dirty="0"/>
                        <a:t>（天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688">
                <a:tc>
                  <a:txBody>
                    <a:bodyPr/>
                    <a:lstStyle/>
                    <a:p>
                      <a:r>
                        <a:rPr lang="zh-CN" altLang="en-US" dirty="0"/>
                        <a:t>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688">
                <a:tc>
                  <a:txBody>
                    <a:bodyPr/>
                    <a:lstStyle/>
                    <a:p>
                      <a:r>
                        <a:rPr lang="zh-CN" altLang="en-US" dirty="0"/>
                        <a:t>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344">
                <a:tc>
                  <a:txBody>
                    <a:bodyPr/>
                    <a:lstStyle/>
                    <a:p>
                      <a:r>
                        <a:rPr lang="zh-CN" altLang="en-US" dirty="0"/>
                        <a:t>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344">
                <a:tc>
                  <a:txBody>
                    <a:bodyPr/>
                    <a:lstStyle/>
                    <a:p>
                      <a:r>
                        <a:rPr lang="zh-CN" altLang="en-US" dirty="0"/>
                        <a:t>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9817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706581" y="633846"/>
                <a:ext cx="10692245" cy="5746172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设为</a:t>
                </a:r>
                <a:r>
                  <a:rPr lang="en-US" altLang="zh-CN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E</a:t>
                </a:r>
                <a:r>
                  <a:rPr lang="en-US" altLang="zh-CN" baseline="-25000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ij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为第</a:t>
                </a:r>
                <a:r>
                  <a:rPr lang="en-US" altLang="zh-CN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i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人完成第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j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个任务的时间。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(</a:t>
                </a:r>
                <a:r>
                  <a:rPr lang="en-US" altLang="zh-CN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i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=1,2,3,4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分别代表甲乙丙丁，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j=1,2,3,4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分别代表任务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，任务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，任务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3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和任务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4)</a:t>
                </a: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设变量</a:t>
                </a:r>
                <a:r>
                  <a:rPr lang="en-US" altLang="zh-CN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x</a:t>
                </a:r>
                <a:r>
                  <a:rPr lang="en-US" altLang="zh-CN" baseline="-25000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ij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，</a:t>
                </a:r>
                <a:r>
                  <a:rPr lang="en-US" altLang="zh-CN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x</a:t>
                </a:r>
                <a:r>
                  <a:rPr lang="en-US" altLang="zh-CN" baseline="-25000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ij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取值为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或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。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目标：完成任务总时间为：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457200" lvl="1" indent="0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b="0" i="1" baseline="-25000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baseline="-25000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约束条件：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lvl="1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X</a:t>
                </a:r>
                <a:r>
                  <a:rPr lang="en-US" altLang="zh-CN" baseline="-25000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ij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=0 or </a:t>
                </a:r>
                <a:r>
                  <a:rPr lang="en-US" altLang="zh-CN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X</a:t>
                </a:r>
                <a:r>
                  <a:rPr lang="en-US" altLang="zh-CN" baseline="-25000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ij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=1</a:t>
                </a:r>
              </a:p>
              <a:p>
                <a:pPr lvl="1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每个人只能完成一项任务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: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baseline="-25000" smtClean="0">
                            <a:latin typeface="Cambria Math" panose="02040503050406030204" pitchFamily="18" charset="0"/>
                          </a:rPr>
                          <m:t>𝑖𝑗</m:t>
                        </m:r>
                      </m:e>
                    </m:nary>
                  </m:oMath>
                </a14:m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=1</a:t>
                </a:r>
              </a:p>
              <a:p>
                <a:pPr lvl="1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每项任务只能一个人完成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: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 baseline="-25000" smtClean="0">
                            <a:latin typeface="Cambria Math" panose="02040503050406030204" pitchFamily="18" charset="0"/>
                          </a:rPr>
                          <m:t>𝑖𝑗</m:t>
                        </m:r>
                      </m:e>
                    </m:nary>
                  </m:oMath>
                </a14:m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=1</a:t>
                </a:r>
              </a:p>
              <a:p>
                <a:pPr>
                  <a:spcBef>
                    <a:spcPts val="600"/>
                  </a:spcBef>
                </a:pP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数学模型：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>
                  <a:spcBef>
                    <a:spcPts val="600"/>
                  </a:spcBef>
                </a:pP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>
                  <a:spcBef>
                    <a:spcPts val="600"/>
                  </a:spcBef>
                </a:pPr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6581" y="633846"/>
                <a:ext cx="10692245" cy="5746172"/>
              </a:xfrm>
              <a:blipFill>
                <a:blip r:embed="rId2"/>
                <a:stretch>
                  <a:fillRect l="-854" t="-1481" r="-2620" b="-16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典型案例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8412845" y="3684035"/>
                <a:ext cx="2102755" cy="292047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in</m:t>
                                    </m:r>
                                  </m:fName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  <m:e>
                                        <m:nary>
                                          <m:naryPr>
                                            <m:chr m:val="∑"/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brk m:alnAt="23"/>
                                              </m:r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=1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sup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𝐸</m:t>
                                            </m:r>
                                            <m:r>
                                              <a:rPr lang="en-US" altLang="zh-CN" i="1" baseline="-25000">
                                                <a:latin typeface="Cambria Math" panose="02040503050406030204" pitchFamily="18" charset="0"/>
                                              </a:rPr>
                                              <m:t>𝑖𝑗</m:t>
                                            </m:r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  <m:r>
                                              <a:rPr lang="en-US" altLang="zh-CN" i="1" baseline="-25000">
                                                <a:latin typeface="Cambria Math" panose="02040503050406030204" pitchFamily="18" charset="0"/>
                                              </a:rPr>
                                              <m:t>𝑖𝑗</m:t>
                                            </m:r>
                                          </m:e>
                                        </m:nary>
                                      </m:e>
                                    </m:nary>
                                  </m:e>
                                </m:func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p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  <m:r>
                                            <a:rPr lang="en-US" altLang="zh-CN" i="1" baseline="-25000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e>
                                      </m:nary>
                                      <m:r>
                                        <m:rPr>
                                          <m:nor/>
                                        </m:rPr>
                                        <a:rPr lang="en-US" altLang="zh-CN" dirty="0"/>
                                        <m:t>=1 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  </m:t>
                                            </m:r>
                                            <m:nary>
                                              <m:naryPr>
                                                <m:chr m:val="∑"/>
                                                <m:ctrlPr>
                                                  <a:rPr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naryPr>
                                              <m:sub>
                                                <m:r>
                                                  <m:rPr>
                                                    <m:brk m:alnAt="23"/>
                                                  </m:rPr>
                                                  <a:rPr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  <m:r>
                                                  <a:rPr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  <m:t>=1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  <m:t>4</m:t>
                                                </m:r>
                                              </m:sup>
                                              <m:e>
                                                <m:r>
                                                  <a:rPr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  <m:r>
                                                  <a:rPr lang="en-US" altLang="zh-CN" i="1" baseline="-25000">
                                                    <a:latin typeface="Cambria Math" panose="02040503050406030204" pitchFamily="18" charset="0"/>
                                                  </a:rPr>
                                                  <m:t>𝑖𝑗</m:t>
                                                </m:r>
                                              </m:e>
                                            </m:nary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dirty="0"/>
                                              <m:t>=1 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b="0" i="0" dirty="0" smtClean="0">
                                                <a:latin typeface="Cambria Math" panose="02040503050406030204" pitchFamily="18" charset="0"/>
                                              </a:rPr>
                                              <m:t>         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dirty="0"/>
                                              <m:t>X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baseline="-25000" dirty="0"/>
                                              <m:t>ij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dirty="0"/>
                                              <m:t>=0 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dirty="0"/>
                                              <m:t>or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dirty="0"/>
                                              <m:t> 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dirty="0"/>
                                              <m:t>Xij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dirty="0"/>
                                              <m:t>=1 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845" y="3684035"/>
                <a:ext cx="2102755" cy="29204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1330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718456"/>
                <a:ext cx="10515600" cy="5759461"/>
              </a:xfrm>
            </p:spPr>
            <p:txBody>
              <a:bodyPr/>
              <a:lstStyle/>
              <a:p>
                <a:pPr>
                  <a:lnSpc>
                    <a:spcPts val="3360"/>
                  </a:lnSpc>
                </a:pP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投资决策问题：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lvl="1">
                  <a:lnSpc>
                    <a:spcPts val="3360"/>
                  </a:lnSpc>
                </a:pP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某企业有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n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个项目可供选择投资，并至少要对其中一个项目投资。已知该企业拥有总资金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A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元，投资于第</a:t>
                </a:r>
                <a:r>
                  <a:rPr lang="en-US" altLang="zh-CN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i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个项目需花费</a:t>
                </a:r>
                <a:r>
                  <a:rPr lang="en-US" altLang="zh-CN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a</a:t>
                </a:r>
                <a:r>
                  <a:rPr lang="en-US" altLang="zh-CN" baseline="-25000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i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元，并预计可收益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b</a:t>
                </a:r>
                <a:r>
                  <a:rPr lang="en-US" altLang="zh-CN" baseline="-25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i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元。试选择最佳投资方案。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457200" lvl="1" indent="0">
                  <a:lnSpc>
                    <a:spcPts val="3360"/>
                  </a:lnSpc>
                  <a:buNone/>
                </a:pP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    解：设变量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x</a:t>
                </a:r>
                <a:r>
                  <a:rPr lang="en-US" altLang="zh-CN" baseline="-25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i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，当投资第</a:t>
                </a:r>
                <a:r>
                  <a:rPr lang="en-US" altLang="zh-CN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i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个项目时，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x</a:t>
                </a:r>
                <a:r>
                  <a:rPr lang="en-US" altLang="zh-CN" baseline="-25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i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=1,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否则为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  <a:p>
                <a:pPr marL="457200" lvl="1" indent="0">
                  <a:lnSpc>
                    <a:spcPts val="3360"/>
                  </a:lnSpc>
                  <a:buNone/>
                </a:pP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    目标为</a:t>
                </a:r>
                <a:r>
                  <a:rPr lang="zh-CN" altLang="en-US" dirty="0">
                    <a:solidFill>
                      <a:srgbClr val="7030A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收益率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最大，即</a:t>
                </a:r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收益</a:t>
                </a:r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</a:t>
                </a:r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投资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baseline="-2500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b="0" i="1" baseline="-2500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nary>
                          <m:naryPr>
                            <m:chr m:val="∑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baseline="-2500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b="0" i="1" baseline="-2500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nary>
                      </m:e>
                    </m:nary>
                  </m:oMath>
                </a14:m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457200" lvl="1" indent="0">
                  <a:lnSpc>
                    <a:spcPts val="3360"/>
                  </a:lnSpc>
                  <a:buNone/>
                </a:pP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    约束条件：投资额不能超过总资金。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0&lt;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baseline="-2500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 baseline="-2500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nary>
                  </m:oMath>
                </a14:m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&lt;=A</a:t>
                </a:r>
              </a:p>
              <a:p>
                <a:pPr marL="457200" lvl="1" indent="0">
                  <a:lnSpc>
                    <a:spcPts val="3360"/>
                  </a:lnSpc>
                  <a:buNone/>
                </a:pP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                           x</a:t>
                </a:r>
                <a:r>
                  <a:rPr lang="en-US" altLang="zh-CN" baseline="-25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i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取值为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或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</a:p>
              <a:p>
                <a:pPr marL="457200" lvl="1" indent="0">
                  <a:lnSpc>
                    <a:spcPts val="3360"/>
                  </a:lnSpc>
                  <a:buNone/>
                </a:pP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数学模型：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lvl="1">
                  <a:lnSpc>
                    <a:spcPts val="3360"/>
                  </a:lnSpc>
                </a:pPr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18456"/>
                <a:ext cx="10515600" cy="5759461"/>
              </a:xfrm>
              <a:blipFill>
                <a:blip r:embed="rId2"/>
                <a:stretch>
                  <a:fillRect l="-984" t="-1795" r="-8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典型案例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411620" y="4576734"/>
                <a:ext cx="2650982" cy="22646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fName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zh-CN" i="1" baseline="-250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  <m:r>
                                          <a:rPr lang="en-US" altLang="zh-CN" i="1" baseline="-250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/</m:t>
                                        </m:r>
                                        <m:nary>
                                          <m:naryPr>
                                            <m:chr m:val="∑"/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brk m:alnAt="23"/>
                                              </m:r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=1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p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n-US" altLang="zh-CN" i="1" baseline="-250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  <m:r>
                                              <a:rPr lang="en-US" altLang="zh-CN" i="1" baseline="-250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</m:nary>
                                      </m:e>
                                    </m:nary>
                                  </m:e>
                                </m:func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   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CN" dirty="0"/>
                                        <m:t>0&lt;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altLang="zh-CN" i="1" baseline="-2500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  <m:r>
                                            <a:rPr lang="en-US" altLang="zh-CN" i="1" baseline="-2500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nary>
                                      <m:r>
                                        <m:rPr>
                                          <m:nor/>
                                        </m:rPr>
                                        <a:rPr lang="en-US" altLang="zh-CN" dirty="0"/>
                                        <m:t>&lt;=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CN" dirty="0"/>
                                        <m:t>A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CN" dirty="0"/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/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b="0" i="0" smtClean="0">
                                                <a:latin typeface="Cambria Math" panose="02040503050406030204" pitchFamily="18" charset="0"/>
                                              </a:rPr>
                                              <m:t>           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dirty="0"/>
                                              <m:t>X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baseline="-25000" dirty="0"/>
                                              <m:t>i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b="0" i="0" dirty="0" smtClean="0"/>
                                              <m:t>(1−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dirty="0"/>
                                              <m:t>X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baseline="-25000" dirty="0"/>
                                              <m:t>i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b="0" i="0" dirty="0" smtClean="0"/>
                                              <m:t>)=0,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b="0" i="0" dirty="0" smtClean="0"/>
                                              <m:t>i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b="0" i="0" dirty="0" smtClean="0"/>
                                              <m:t>=1</m:t>
                                            </m:r>
                                            <m:r>
                                              <a:rPr lang="en-US" altLang="zh-CN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…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n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dirty="0"/>
                                              <m:t> 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1620" y="4576734"/>
                <a:ext cx="2650982" cy="22646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8100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 animBg="1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718457"/>
                <a:ext cx="10515599" cy="5820888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运输问题：</a:t>
                </a:r>
                <a:endParaRPr lang="en-US" altLang="zh-CN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2600" dirty="0"/>
                  <a:t>设有不同城市的</a:t>
                </a:r>
                <a:r>
                  <a:rPr lang="en-US" altLang="zh-CN" sz="2600" dirty="0"/>
                  <a:t>m</a:t>
                </a:r>
                <a:r>
                  <a:rPr lang="zh-CN" altLang="en-US" sz="2600" dirty="0"/>
                  <a:t>个电视机厂</a:t>
                </a:r>
                <a:r>
                  <a:rPr lang="en-US" altLang="zh-CN" sz="2600" dirty="0"/>
                  <a:t>A</a:t>
                </a:r>
                <a:r>
                  <a:rPr lang="en-US" altLang="zh-CN" sz="2600" baseline="-25000" dirty="0"/>
                  <a:t>i</a:t>
                </a:r>
                <a:r>
                  <a:rPr lang="zh-CN" altLang="en-US" sz="2600" dirty="0"/>
                  <a:t>（</a:t>
                </a:r>
                <a:r>
                  <a:rPr lang="en-US" altLang="zh-CN" sz="2600" dirty="0" err="1"/>
                  <a:t>i</a:t>
                </a:r>
                <a:r>
                  <a:rPr lang="en-US" altLang="zh-CN" sz="2600" dirty="0"/>
                  <a:t>=1…m</a:t>
                </a:r>
                <a:r>
                  <a:rPr lang="zh-CN" altLang="en-US" sz="2600" dirty="0"/>
                  <a:t>），其产量分别为</a:t>
                </a:r>
                <a:r>
                  <a:rPr lang="en-US" altLang="zh-CN" sz="2600" dirty="0" err="1"/>
                  <a:t>a</a:t>
                </a:r>
                <a:r>
                  <a:rPr lang="en-US" altLang="zh-CN" sz="2600" baseline="-25000" dirty="0" err="1"/>
                  <a:t>i</a:t>
                </a:r>
                <a:r>
                  <a:rPr lang="zh-CN" altLang="en-US" sz="2600" dirty="0"/>
                  <a:t>（</a:t>
                </a:r>
                <a:r>
                  <a:rPr lang="en-US" altLang="zh-CN" sz="2600" dirty="0" err="1"/>
                  <a:t>i</a:t>
                </a:r>
                <a:r>
                  <a:rPr lang="en-US" altLang="zh-CN" sz="2600" dirty="0"/>
                  <a:t>=1…m)</a:t>
                </a:r>
                <a:r>
                  <a:rPr lang="zh-CN" altLang="en-US" sz="2600" dirty="0"/>
                  <a:t>台</a:t>
                </a:r>
                <a:r>
                  <a:rPr lang="en-US" altLang="zh-CN" sz="2600" dirty="0"/>
                  <a:t>,</a:t>
                </a:r>
                <a:r>
                  <a:rPr lang="zh-CN" altLang="en-US" sz="2600" dirty="0"/>
                  <a:t>其产品供应</a:t>
                </a:r>
                <a:r>
                  <a:rPr lang="en-US" altLang="zh-CN" sz="2600" dirty="0"/>
                  <a:t>n</a:t>
                </a:r>
                <a:r>
                  <a:rPr lang="zh-CN" altLang="en-US" sz="2600" dirty="0"/>
                  <a:t>个城市</a:t>
                </a:r>
                <a:r>
                  <a:rPr lang="en-US" altLang="zh-CN" sz="2600" dirty="0" err="1"/>
                  <a:t>B</a:t>
                </a:r>
                <a:r>
                  <a:rPr lang="en-US" altLang="zh-CN" sz="2600" baseline="-25000" dirty="0" err="1"/>
                  <a:t>j</a:t>
                </a:r>
                <a:r>
                  <a:rPr lang="en-US" altLang="zh-CN" sz="2600" dirty="0"/>
                  <a:t>(j=1…n)</a:t>
                </a:r>
                <a:r>
                  <a:rPr lang="zh-CN" altLang="en-US" sz="2600" dirty="0"/>
                  <a:t>，每个城市需要量为</a:t>
                </a:r>
                <a:r>
                  <a:rPr lang="en-US" altLang="zh-CN" sz="2600" dirty="0" err="1"/>
                  <a:t>b</a:t>
                </a:r>
                <a:r>
                  <a:rPr lang="en-US" altLang="zh-CN" sz="2600" baseline="-25000" dirty="0" err="1"/>
                  <a:t>j</a:t>
                </a:r>
                <a:r>
                  <a:rPr lang="en-US" altLang="zh-CN" sz="2600" dirty="0"/>
                  <a:t>(j=1…n)</a:t>
                </a:r>
                <a:r>
                  <a:rPr lang="zh-CN" altLang="en-US" sz="2600" dirty="0"/>
                  <a:t>台，假定产需平衡，即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600" b="0" i="1" baseline="-2500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nary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600" b="0" i="1" baseline="-2500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nary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600" dirty="0"/>
                  <a:t>已知从</a:t>
                </a:r>
                <a:r>
                  <a:rPr lang="en-US" altLang="zh-CN" sz="2600" dirty="0"/>
                  <a:t>A</a:t>
                </a:r>
                <a:r>
                  <a:rPr lang="en-US" altLang="zh-CN" sz="2600" baseline="-25000" dirty="0"/>
                  <a:t>i</a:t>
                </a:r>
                <a:r>
                  <a:rPr lang="zh-CN" altLang="en-US" sz="2600" dirty="0"/>
                  <a:t>到</a:t>
                </a:r>
                <a:r>
                  <a:rPr lang="en-US" altLang="zh-CN" sz="2600" dirty="0" err="1"/>
                  <a:t>B</a:t>
                </a:r>
                <a:r>
                  <a:rPr lang="en-US" altLang="zh-CN" sz="2600" baseline="-25000" dirty="0" err="1"/>
                  <a:t>j</a:t>
                </a:r>
                <a:r>
                  <a:rPr lang="zh-CN" altLang="en-US" sz="2600" dirty="0"/>
                  <a:t>的运费单价为</a:t>
                </a:r>
                <a:r>
                  <a:rPr lang="en-US" altLang="zh-CN" sz="2600" dirty="0" err="1"/>
                  <a:t>c</a:t>
                </a:r>
                <a:r>
                  <a:rPr lang="en-US" altLang="zh-CN" sz="2600" baseline="-25000" dirty="0" err="1"/>
                  <a:t>ij</a:t>
                </a:r>
                <a:r>
                  <a:rPr lang="zh-CN" altLang="en-US" sz="2600" dirty="0"/>
                  <a:t>（元</a:t>
                </a:r>
                <a:r>
                  <a:rPr lang="en-US" altLang="zh-CN" sz="2600" dirty="0"/>
                  <a:t>/</a:t>
                </a:r>
                <a:r>
                  <a:rPr lang="zh-CN" altLang="en-US" sz="2600" dirty="0"/>
                  <a:t>台），问由每个厂到每个城市运量为多少时，即能保证产需要量，又能使总运费最少？</a:t>
                </a:r>
                <a:endParaRPr lang="en-US" altLang="zh-CN" sz="2600" dirty="0"/>
              </a:p>
              <a:p>
                <a:pPr marL="914400" lvl="2" indent="0">
                  <a:lnSpc>
                    <a:spcPct val="150000"/>
                  </a:lnSpc>
                  <a:buNone/>
                </a:pPr>
                <a:r>
                  <a:rPr lang="zh-CN" altLang="en-US" sz="2600" dirty="0"/>
                  <a:t>解：设</a:t>
                </a:r>
                <a:r>
                  <a:rPr lang="en-US" altLang="zh-CN" sz="2600" dirty="0" err="1"/>
                  <a:t>x</a:t>
                </a:r>
                <a:r>
                  <a:rPr lang="en-US" altLang="zh-CN" sz="2600" baseline="-25000" dirty="0" err="1"/>
                  <a:t>ij</a:t>
                </a:r>
                <a:r>
                  <a:rPr lang="en-US" altLang="zh-CN" sz="2600" dirty="0"/>
                  <a:t> </a:t>
                </a:r>
                <a:r>
                  <a:rPr lang="zh-CN" altLang="en-US" sz="2600" dirty="0"/>
                  <a:t>为</a:t>
                </a:r>
                <a:r>
                  <a:rPr lang="en-US" altLang="zh-CN" sz="2600" dirty="0"/>
                  <a:t>A</a:t>
                </a:r>
                <a:r>
                  <a:rPr lang="en-US" altLang="zh-CN" sz="2600" baseline="-25000" dirty="0"/>
                  <a:t>i</a:t>
                </a:r>
                <a:r>
                  <a:rPr lang="zh-CN" altLang="en-US" sz="2600" dirty="0"/>
                  <a:t>向</a:t>
                </a:r>
                <a:r>
                  <a:rPr lang="en-US" altLang="zh-CN" sz="2600" dirty="0" err="1"/>
                  <a:t>B</a:t>
                </a:r>
                <a:r>
                  <a:rPr lang="en-US" altLang="zh-CN" sz="2600" baseline="-25000" dirty="0" err="1"/>
                  <a:t>j</a:t>
                </a:r>
                <a:r>
                  <a:rPr lang="zh-CN" altLang="en-US" sz="2600" dirty="0"/>
                  <a:t>供应电视机的台数</a:t>
                </a:r>
                <a:r>
                  <a:rPr lang="en-US" altLang="zh-CN" sz="2600" dirty="0"/>
                  <a:t>;</a:t>
                </a:r>
              </a:p>
              <a:p>
                <a:pPr marL="914400" lvl="2" indent="0">
                  <a:lnSpc>
                    <a:spcPct val="150000"/>
                  </a:lnSpc>
                  <a:buNone/>
                </a:pPr>
                <a:r>
                  <a:rPr lang="zh-CN" altLang="en-US" sz="2600" dirty="0"/>
                  <a:t>总运费为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2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zh-CN" sz="26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m:rPr>
                                <m:nor/>
                              </m:rPr>
                              <a:rPr lang="en-US" altLang="zh-CN" sz="2600" dirty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altLang="zh-CN" sz="2600" baseline="-25000" dirty="0"/>
                              <m:t>ij</m:t>
                            </m:r>
                            <m:r>
                              <m:rPr>
                                <m:nor/>
                              </m:rPr>
                              <a:rPr lang="en-US" altLang="zh-CN" sz="2600" dirty="0"/>
                              <m:t>∗</m:t>
                            </m:r>
                            <m:sSub>
                              <m:sSubPr>
                                <m:ctrlPr>
                                  <a:rPr lang="en-US" altLang="zh-CN" sz="2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altLang="zh-CN" sz="2600" dirty="0"/>
                                  <m:t>c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sz="2600" dirty="0"/>
                                  <m:t>ij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r>
                  <a:rPr lang="zh-CN" altLang="en-US" sz="2600" dirty="0"/>
                  <a:t> 。</a:t>
                </a:r>
                <a:endParaRPr lang="en-US" altLang="zh-CN" sz="2600" dirty="0"/>
              </a:p>
              <a:p>
                <a:pPr marL="914400" lvl="2" indent="0">
                  <a:lnSpc>
                    <a:spcPct val="150000"/>
                  </a:lnSpc>
                  <a:buNone/>
                </a:pPr>
                <a:r>
                  <a:rPr lang="zh-CN" altLang="en-US" sz="2600" dirty="0"/>
                  <a:t>约束条件为：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2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nor/>
                          </m:rPr>
                          <a:rPr lang="en-US" altLang="zh-CN" sz="2600" dirty="0"/>
                          <m:t>x</m:t>
                        </m:r>
                        <m:r>
                          <m:rPr>
                            <m:nor/>
                          </m:rPr>
                          <a:rPr lang="en-US" altLang="zh-CN" sz="2600" baseline="-25000" dirty="0"/>
                          <m:t>ij</m:t>
                        </m:r>
                      </m:e>
                    </m:nary>
                    <m:r>
                      <a:rPr lang="en-US" altLang="zh-CN" sz="26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6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600" dirty="0"/>
                  <a:t>,</a:t>
                </a:r>
              </a:p>
              <a:p>
                <a:pPr marL="914400" lvl="2" indent="0">
                  <a:lnSpc>
                    <a:spcPct val="150000"/>
                  </a:lnSpc>
                  <a:buNone/>
                </a:pPr>
                <a:r>
                  <a:rPr lang="en-US" altLang="zh-CN" sz="2600" dirty="0"/>
                  <a:t>                            </a:t>
                </a:r>
                <a:r>
                  <a:rPr lang="zh-CN" altLang="en-US" sz="26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2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m:rPr>
                            <m:nor/>
                          </m:rPr>
                          <a:rPr lang="en-US" altLang="zh-CN" sz="2600" dirty="0"/>
                          <m:t>x</m:t>
                        </m:r>
                        <m:r>
                          <m:rPr>
                            <m:nor/>
                          </m:rPr>
                          <a:rPr lang="en-US" altLang="zh-CN" sz="2600" baseline="-25000" dirty="0"/>
                          <m:t>ij</m:t>
                        </m:r>
                      </m:e>
                    </m:nary>
                    <m:r>
                      <a:rPr lang="en-US" altLang="zh-CN" sz="2600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600" dirty="0"/>
                  <a:t>b</a:t>
                </a:r>
                <a:r>
                  <a:rPr lang="en-US" altLang="zh-CN" sz="2600" baseline="-25000" dirty="0"/>
                  <a:t>j</a:t>
                </a:r>
              </a:p>
              <a:p>
                <a:pPr marL="914400" lvl="2" indent="0">
                  <a:lnSpc>
                    <a:spcPct val="150000"/>
                  </a:lnSpc>
                  <a:buNone/>
                </a:pPr>
                <a:r>
                  <a:rPr lang="zh-CN" altLang="en-US" sz="2300" dirty="0"/>
                  <a:t>数学模型为：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6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en-US" altLang="zh-CN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 altLang="zh-CN" sz="2600" b="0" i="0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600" b="0" i="0" smtClean="0">
                                      <a:latin typeface="Cambria Math" panose="02040503050406030204" pitchFamily="18" charset="0"/>
                                    </a:rPr>
                                    <m:t>in</m:t>
                                  </m:r>
                                </m:fName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zh-CN" alt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altLang="zh-CN" sz="2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en-US" altLang="zh-CN" sz="26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CN" sz="2600" i="1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6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CN" sz="2600" dirty="0"/>
                                            <m:t>x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CN" sz="2600" baseline="-25000" dirty="0"/>
                                            <m:t>ij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CN" sz="2600" dirty="0"/>
                                            <m:t>∗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6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CN" sz="2600" dirty="0"/>
                                                <m:t>c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CN" sz="2600" dirty="0"/>
                                                <m:t>ij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nary>
                                </m:e>
                              </m:func>
                            </m:e>
                          </m:mr>
                          <m:mr>
                            <m:e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nary>
                                <m:naryPr>
                                  <m:chr m:val="∑"/>
                                  <m:ctrlP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CN" sz="2600" dirty="0"/>
                                    <m:t>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CN" sz="2600" baseline="-25000" dirty="0"/>
                                    <m:t>ij</m:t>
                                  </m:r>
                                </m:e>
                              </m:nary>
                              <m:r>
                                <a:rPr lang="en-US" altLang="zh-CN" sz="2600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6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6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zh-CN" sz="2600" b="0" i="1" dirty="0" smtClean="0"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  <m:nary>
                                <m:naryPr>
                                  <m:chr m:val="∑"/>
                                  <m:ctrlP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CN" sz="2600" dirty="0"/>
                                    <m:t>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CN" sz="2600" baseline="-25000" dirty="0"/>
                                    <m:t>ij</m:t>
                                  </m:r>
                                </m:e>
                              </m:nary>
                              <m:r>
                                <a:rPr lang="en-US" altLang="zh-CN" sz="2600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CN" sz="2600" dirty="0"/>
                                <m:t>b</m:t>
                              </m:r>
                              <m:r>
                                <m:rPr>
                                  <m:nor/>
                                </m:rPr>
                                <a:rPr lang="en-US" altLang="zh-CN" sz="2600" baseline="-25000" dirty="0"/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CN" sz="2600" dirty="0"/>
                                <m:t> 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2400" dirty="0"/>
              </a:p>
              <a:p>
                <a:pPr lvl="1">
                  <a:lnSpc>
                    <a:spcPct val="150000"/>
                  </a:lnSpc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718457"/>
                <a:ext cx="10515599" cy="5820888"/>
              </a:xfrm>
              <a:blipFill>
                <a:blip r:embed="rId2"/>
                <a:stretch>
                  <a:fillRect l="-579" r="-1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典型案例</a:t>
            </a:r>
          </a:p>
        </p:txBody>
      </p:sp>
    </p:spTree>
    <p:extLst>
      <p:ext uri="{BB962C8B-B14F-4D97-AF65-F5344CB8AC3E}">
        <p14:creationId xmlns:p14="http://schemas.microsoft.com/office/powerpoint/2010/main" val="208547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最优化问题的分类  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线性</a:t>
            </a:r>
            <a:r>
              <a:rPr lang="zh-CN" altLang="en-US"/>
              <a:t>和非线性最优</a:t>
            </a:r>
            <a:r>
              <a:rPr lang="zh-CN" altLang="en-US" dirty="0"/>
              <a:t>问题：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非约束和约束优化问题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最优化技术概述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4428781" y="914400"/>
                <a:ext cx="14260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8781" y="914400"/>
                <a:ext cx="1426096" cy="461665"/>
              </a:xfrm>
              <a:prstGeom prst="rect">
                <a:avLst/>
              </a:prstGeom>
              <a:blipFill rotWithShape="0">
                <a:blip r:embed="rId2"/>
                <a:stretch>
                  <a:fillRect r="-858"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4034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8110" y="660119"/>
            <a:ext cx="10505208" cy="559724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梯度法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/>
              <a:t>梯度下降法</a:t>
            </a:r>
            <a:r>
              <a:rPr lang="en-US" altLang="zh-CN" sz="2800" dirty="0"/>
              <a:t>Gradient Descent</a:t>
            </a:r>
            <a:r>
              <a:rPr lang="zh-CN" altLang="en-US" sz="2800" dirty="0"/>
              <a:t>（最速下降法）</a:t>
            </a:r>
            <a:endParaRPr lang="en-US" altLang="zh-CN" sz="280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/>
              <a:t>共轭梯度法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线性规划：单纯形法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智能优化算法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/>
              <a:t>遗传算法</a:t>
            </a:r>
            <a:endParaRPr lang="en-US" altLang="zh-CN" sz="280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/>
              <a:t>粒子群算法</a:t>
            </a:r>
            <a:endParaRPr lang="en-US" altLang="zh-CN" sz="280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/>
              <a:t>模拟退火算法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000" b="1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2000" b="1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最优化技术</a:t>
            </a:r>
            <a:r>
              <a:rPr lang="en-US" altLang="zh-CN" dirty="0"/>
              <a:t>-</a:t>
            </a:r>
            <a:r>
              <a:rPr lang="zh-CN" altLang="en-US" dirty="0"/>
              <a:t>方法</a:t>
            </a:r>
          </a:p>
        </p:txBody>
      </p:sp>
    </p:spTree>
    <p:extLst>
      <p:ext uri="{BB962C8B-B14F-4D97-AF65-F5344CB8AC3E}">
        <p14:creationId xmlns:p14="http://schemas.microsoft.com/office/powerpoint/2010/main" val="3963443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15706</TotalTime>
  <Words>812</Words>
  <Application>Microsoft Office PowerPoint</Application>
  <PresentationFormat>宽屏</PresentationFormat>
  <Paragraphs>114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等线</vt:lpstr>
      <vt:lpstr>等线 Light</vt:lpstr>
      <vt:lpstr>宋体</vt:lpstr>
      <vt:lpstr>Arial</vt:lpstr>
      <vt:lpstr>Calibri</vt:lpstr>
      <vt:lpstr>Calibri Light</vt:lpstr>
      <vt:lpstr>Cambria Math</vt:lpstr>
      <vt:lpstr>Office Theme</vt:lpstr>
      <vt:lpstr>最优化技术</vt:lpstr>
      <vt:lpstr>最优化问题提出</vt:lpstr>
      <vt:lpstr>最优化技术-概述</vt:lpstr>
      <vt:lpstr>最优化问题模型</vt:lpstr>
      <vt:lpstr>典型案例</vt:lpstr>
      <vt:lpstr>典型案例</vt:lpstr>
      <vt:lpstr>典型案例</vt:lpstr>
      <vt:lpstr>典型案例</vt:lpstr>
      <vt:lpstr>最优化技术概述</vt:lpstr>
      <vt:lpstr>最优化技术-方法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最优化技术</dc:title>
  <dc:creator>wj</dc:creator>
  <cp:lastModifiedBy>Alice</cp:lastModifiedBy>
  <cp:revision>200</cp:revision>
  <dcterms:created xsi:type="dcterms:W3CDTF">2019-12-25T10:26:10Z</dcterms:created>
  <dcterms:modified xsi:type="dcterms:W3CDTF">2025-10-28T12:21:09Z</dcterms:modified>
</cp:coreProperties>
</file>