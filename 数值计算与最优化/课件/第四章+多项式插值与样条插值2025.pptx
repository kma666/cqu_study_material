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280" r:id="rId2"/>
    <p:sldId id="620" r:id="rId3"/>
    <p:sldId id="621" r:id="rId4"/>
    <p:sldId id="622" r:id="rId5"/>
    <p:sldId id="623" r:id="rId6"/>
    <p:sldId id="625" r:id="rId7"/>
    <p:sldId id="284" r:id="rId8"/>
    <p:sldId id="577" r:id="rId9"/>
    <p:sldId id="349" r:id="rId10"/>
    <p:sldId id="348" r:id="rId11"/>
    <p:sldId id="565" r:id="rId12"/>
    <p:sldId id="287" r:id="rId13"/>
    <p:sldId id="564" r:id="rId14"/>
    <p:sldId id="580" r:id="rId15"/>
    <p:sldId id="583" r:id="rId16"/>
    <p:sldId id="604" r:id="rId17"/>
    <p:sldId id="605" r:id="rId18"/>
    <p:sldId id="606" r:id="rId19"/>
    <p:sldId id="581" r:id="rId20"/>
    <p:sldId id="624" r:id="rId21"/>
    <p:sldId id="607" r:id="rId22"/>
    <p:sldId id="608" r:id="rId23"/>
    <p:sldId id="494" r:id="rId24"/>
    <p:sldId id="497" r:id="rId25"/>
    <p:sldId id="496" r:id="rId26"/>
    <p:sldId id="495" r:id="rId27"/>
    <p:sldId id="626" r:id="rId28"/>
    <p:sldId id="628" r:id="rId29"/>
    <p:sldId id="585" r:id="rId30"/>
    <p:sldId id="629" r:id="rId31"/>
    <p:sldId id="634" r:id="rId32"/>
    <p:sldId id="635" r:id="rId33"/>
    <p:sldId id="638" r:id="rId34"/>
    <p:sldId id="636" r:id="rId35"/>
    <p:sldId id="637" r:id="rId36"/>
    <p:sldId id="584" r:id="rId37"/>
    <p:sldId id="627" r:id="rId38"/>
    <p:sldId id="588" r:id="rId39"/>
    <p:sldId id="491" r:id="rId40"/>
    <p:sldId id="566" r:id="rId41"/>
    <p:sldId id="492" r:id="rId42"/>
    <p:sldId id="493" r:id="rId43"/>
    <p:sldId id="293" r:id="rId44"/>
    <p:sldId id="295" r:id="rId45"/>
    <p:sldId id="302" r:id="rId46"/>
    <p:sldId id="487" r:id="rId47"/>
    <p:sldId id="525" r:id="rId48"/>
    <p:sldId id="591" r:id="rId49"/>
    <p:sldId id="592" r:id="rId50"/>
    <p:sldId id="586" r:id="rId51"/>
    <p:sldId id="298" r:id="rId52"/>
    <p:sldId id="300" r:id="rId53"/>
    <p:sldId id="301" r:id="rId54"/>
    <p:sldId id="567" r:id="rId55"/>
    <p:sldId id="524" r:id="rId56"/>
    <p:sldId id="639" r:id="rId57"/>
    <p:sldId id="601" r:id="rId58"/>
    <p:sldId id="609" r:id="rId59"/>
    <p:sldId id="610" r:id="rId60"/>
    <p:sldId id="611" r:id="rId61"/>
    <p:sldId id="590" r:id="rId62"/>
    <p:sldId id="594" r:id="rId63"/>
    <p:sldId id="595" r:id="rId64"/>
    <p:sldId id="596" r:id="rId65"/>
    <p:sldId id="593" r:id="rId66"/>
    <p:sldId id="527" r:id="rId67"/>
    <p:sldId id="597" r:id="rId68"/>
    <p:sldId id="598" r:id="rId69"/>
    <p:sldId id="612" r:id="rId70"/>
    <p:sldId id="599" r:id="rId71"/>
    <p:sldId id="613" r:id="rId72"/>
    <p:sldId id="614" r:id="rId73"/>
    <p:sldId id="615" r:id="rId74"/>
    <p:sldId id="313" r:id="rId75"/>
    <p:sldId id="488" r:id="rId76"/>
    <p:sldId id="602" r:id="rId77"/>
    <p:sldId id="619" r:id="rId78"/>
    <p:sldId id="603" r:id="rId79"/>
    <p:sldId id="502" r:id="rId80"/>
    <p:sldId id="640" r:id="rId81"/>
    <p:sldId id="509" r:id="rId82"/>
    <p:sldId id="618" r:id="rId83"/>
    <p:sldId id="510" r:id="rId84"/>
    <p:sldId id="504" r:id="rId85"/>
    <p:sldId id="641" r:id="rId86"/>
    <p:sldId id="571" r:id="rId87"/>
    <p:sldId id="573" r:id="rId88"/>
    <p:sldId id="575" r:id="rId89"/>
    <p:sldId id="576" r:id="rId90"/>
    <p:sldId id="574" r:id="rId91"/>
    <p:sldId id="503" r:id="rId92"/>
    <p:sldId id="529" r:id="rId93"/>
    <p:sldId id="513" r:id="rId94"/>
    <p:sldId id="512" r:id="rId95"/>
    <p:sldId id="514" r:id="rId96"/>
    <p:sldId id="516" r:id="rId97"/>
    <p:sldId id="517" r:id="rId98"/>
    <p:sldId id="518" r:id="rId99"/>
    <p:sldId id="519" r:id="rId100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20" autoAdjust="0"/>
  </p:normalViewPr>
  <p:slideViewPr>
    <p:cSldViewPr>
      <p:cViewPr varScale="1">
        <p:scale>
          <a:sx n="79" d="100"/>
          <a:sy n="79" d="100"/>
        </p:scale>
        <p:origin x="85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6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10" Type="http://schemas.openxmlformats.org/officeDocument/2006/relationships/image" Target="../media/image167.wmf"/><Relationship Id="rId4" Type="http://schemas.openxmlformats.org/officeDocument/2006/relationships/image" Target="../media/image161.wmf"/><Relationship Id="rId9" Type="http://schemas.openxmlformats.org/officeDocument/2006/relationships/image" Target="../media/image166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4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76.wmf"/><Relationship Id="rId1" Type="http://schemas.openxmlformats.org/officeDocument/2006/relationships/image" Target="../media/image199.wmf"/><Relationship Id="rId4" Type="http://schemas.openxmlformats.org/officeDocument/2006/relationships/image" Target="../media/image20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wmf"/><Relationship Id="rId1" Type="http://schemas.openxmlformats.org/officeDocument/2006/relationships/image" Target="../media/image22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6" Type="http://schemas.openxmlformats.org/officeDocument/2006/relationships/image" Target="../media/image230.wmf"/><Relationship Id="rId5" Type="http://schemas.openxmlformats.org/officeDocument/2006/relationships/image" Target="../media/image229.wmf"/><Relationship Id="rId4" Type="http://schemas.openxmlformats.org/officeDocument/2006/relationships/image" Target="../media/image228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wmf"/><Relationship Id="rId7" Type="http://schemas.openxmlformats.org/officeDocument/2006/relationships/image" Target="../media/image237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5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6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wmf"/><Relationship Id="rId1" Type="http://schemas.openxmlformats.org/officeDocument/2006/relationships/image" Target="../media/image250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Relationship Id="rId4" Type="http://schemas.openxmlformats.org/officeDocument/2006/relationships/image" Target="../media/image258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Relationship Id="rId4" Type="http://schemas.openxmlformats.org/officeDocument/2006/relationships/image" Target="../media/image263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wmf"/><Relationship Id="rId2" Type="http://schemas.openxmlformats.org/officeDocument/2006/relationships/image" Target="../media/image265.wmf"/><Relationship Id="rId1" Type="http://schemas.openxmlformats.org/officeDocument/2006/relationships/image" Target="../media/image264.wmf"/><Relationship Id="rId4" Type="http://schemas.openxmlformats.org/officeDocument/2006/relationships/image" Target="../media/image26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A7B5546-A78E-4EDD-BB65-E921F07C14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DB8D64-672D-4489-9D3A-9BF18B4B4E9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B6E3BF5-1D1A-4238-A649-A01FEF06A7FF}" type="datetimeFigureOut">
              <a:rPr lang="zh-CN" altLang="en-US"/>
              <a:pPr>
                <a:defRPr/>
              </a:pPr>
              <a:t>2025/10/8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55A20B6-C446-41F0-B80F-EDEF0F326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2DEA20EB-5476-4638-B43D-777195BE7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4C3583-CCE0-45B0-8DF7-E15B329087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29D235-6BDE-4BBF-91D5-8BE1431BA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66C71FD-5765-44FC-9F54-5999A6B5937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.csdn.net/so/search?q=%E6%8F%92%E5%80%BC%E6%B3%95&amp;spm=1001.2101.3001.7020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N+1</a:t>
            </a:r>
            <a:r>
              <a:rPr lang="zh-CN" altLang="en-US" dirty="0"/>
              <a:t>个互异节点，不超过</a:t>
            </a:r>
            <a:r>
              <a:rPr lang="en-US" altLang="zh-CN" dirty="0"/>
              <a:t>n</a:t>
            </a:r>
            <a:r>
              <a:rPr lang="zh-CN" altLang="en-US" dirty="0"/>
              <a:t>次的多项式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24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n+1</a:t>
            </a:r>
            <a:r>
              <a:rPr lang="zh-CN" altLang="en-US" dirty="0"/>
              <a:t>个互异节点，存在唯一一个不超过</a:t>
            </a:r>
            <a:r>
              <a:rPr lang="en-US" altLang="zh-CN" dirty="0"/>
              <a:t>n</a:t>
            </a:r>
            <a:r>
              <a:rPr lang="zh-CN" altLang="en-US" dirty="0"/>
              <a:t>次的多项式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455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化为求解线性方程组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120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化为求解线性方程组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73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分子连乘跳过己，分母就是代自己</a:t>
            </a:r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0C3C3F7-1CDB-4675-95DC-8AFF59862ECD}" type="slidenum">
              <a:rPr lang="zh-CN" altLang="en-US" sz="1200" smtClean="0"/>
              <a:pPr/>
              <a:t>10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高次的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Lagrange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插值数值不稳定，通常情况下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Lagrange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插值多项式次数应小于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。实际计算中，往往采用分段低阶的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Lagrange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插值，这样不仅舍入误差小，数值稳定性也得到改善，计算量也少。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467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在部分插值应用中，不仅要求数据点函数值相等，还要求若干阶导数相同，满足函数值和若干导数值都相等的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插值法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成为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Hermite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插值。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835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有一阶导数为</a:t>
            </a:r>
            <a:r>
              <a:rPr lang="en-US" altLang="zh-CN" dirty="0"/>
              <a:t>0</a:t>
            </a:r>
            <a:r>
              <a:rPr lang="zh-CN" altLang="en-US" dirty="0"/>
              <a:t>，说明有重根。   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被一个次数为 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2n+2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的多项式整除，这只有在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恒等于零时才有可能。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7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仿拉格朗日插值多项式的构造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11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个条件</a:t>
            </a:r>
            <a:r>
              <a:rPr lang="en-US" altLang="zh-CN" dirty="0"/>
              <a:t>3</a:t>
            </a:r>
            <a:r>
              <a:rPr lang="zh-CN" altLang="en-US" dirty="0"/>
              <a:t>阶多项式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76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C63102D-E10C-41AE-89D0-558E75F2600B}" type="slidenum">
              <a:rPr lang="zh-CN" altLang="en-US" sz="1200" smtClean="0"/>
              <a:pPr/>
              <a:t>75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73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在此区间，</a:t>
            </a:r>
            <a:r>
              <a:rPr lang="en-US" altLang="zh-CN" dirty="0"/>
              <a:t>Xi</a:t>
            </a:r>
            <a:r>
              <a:rPr lang="zh-CN" altLang="en-US" dirty="0"/>
              <a:t>趋近于</a:t>
            </a:r>
            <a:r>
              <a:rPr lang="en-US" altLang="zh-CN" dirty="0"/>
              <a:t>xi,</a:t>
            </a:r>
            <a:r>
              <a:rPr lang="zh-CN" altLang="en-US" dirty="0"/>
              <a:t>把</a:t>
            </a:r>
            <a:r>
              <a:rPr lang="en-US" altLang="zh-CN" dirty="0"/>
              <a:t>xi</a:t>
            </a:r>
            <a:r>
              <a:rPr lang="zh-CN" altLang="en-US" dirty="0"/>
              <a:t>代入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6C71FD-5765-44FC-9F54-5999A6B59374}" type="slidenum">
              <a:rPr lang="zh-CN" altLang="en-US" smtClean="0"/>
              <a:pPr>
                <a:defRPr/>
              </a:pPr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64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AB24A61-C069-4C81-B771-BB0A68CECFD4}" type="slidenum">
              <a:rPr lang="zh-CN" altLang="en-US" sz="1200" smtClean="0"/>
              <a:pPr/>
              <a:t>86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3BCF8-7839-4569-BCD8-CD5EAE0134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8327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F45DC-444A-403F-8B73-344CE705CB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0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AE7BA-A306-4FC4-81F7-9883B75BEA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845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D5AB2-4D73-4351-B4B8-3E1C8B6710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337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51D03-73C0-43A0-935F-9E3F14D485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161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981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446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FA154-448D-4E1F-91E7-812F7E403E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13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3A0D1-91A7-4AA5-AF29-D7A14D07EE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618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EF412-7961-4E54-866B-5A5A803FAC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705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029F4-8CDF-4C23-BB4F-8850627F7F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426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0230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1EC72-DB81-4C69-8C0D-B588171F60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2189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4C90C3-9D23-4E7E-9B81-6ADEC030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C3502B-048F-44FD-AE7D-1558FD17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218168-F470-40ED-8CF1-0F60072B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006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1C22E-FDBC-40B2-B6F8-4F04352258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9894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387FDAA-372F-4661-B05B-701CEEC2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0C93660-FF53-4966-9E0F-88A4E930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3D59425-C5B3-4BC4-9699-AC8F6E61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006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EE99D-6AB0-4DDE-9A7C-D8D8C61183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127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F89C75-8170-4FC9-8466-1A97B0E66D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E97718-023C-4E03-A0D6-175227BDDDB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C026283-D20F-492E-BB2E-21ECAC5275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9CC4535-C334-466D-89AE-275BAEF883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emf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6.png"/><Relationship Id="rId4" Type="http://schemas.openxmlformats.org/officeDocument/2006/relationships/image" Target="../media/image2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30.png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7.png"/><Relationship Id="rId7" Type="http://schemas.openxmlformats.org/officeDocument/2006/relationships/image" Target="../media/image27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1.png"/><Relationship Id="rId4" Type="http://schemas.openxmlformats.org/officeDocument/2006/relationships/image" Target="../media/image33.png"/><Relationship Id="rId9" Type="http://schemas.openxmlformats.org/officeDocument/2006/relationships/image" Target="../media/image28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251.pn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4.bin"/><Relationship Id="rId7" Type="http://schemas.openxmlformats.org/officeDocument/2006/relationships/image" Target="../media/image44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11" Type="http://schemas.openxmlformats.org/officeDocument/2006/relationships/image" Target="../media/image37.w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6.bin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36.wmf"/><Relationship Id="rId9" Type="http://schemas.openxmlformats.org/officeDocument/2006/relationships/image" Target="../media/image37.wmf"/><Relationship Id="rId14" Type="http://schemas.openxmlformats.org/officeDocument/2006/relationships/image" Target="../media/image3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oleObject" Target="../embeddings/oleObject17.bin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56.png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10" Type="http://schemas.openxmlformats.org/officeDocument/2006/relationships/image" Target="../media/image57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58.png"/><Relationship Id="rId5" Type="http://schemas.openxmlformats.org/officeDocument/2006/relationships/image" Target="../media/image280.png"/><Relationship Id="rId10" Type="http://schemas.openxmlformats.org/officeDocument/2006/relationships/image" Target="../media/image57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0.png"/><Relationship Id="rId3" Type="http://schemas.openxmlformats.org/officeDocument/2006/relationships/image" Target="../media/image2600.png"/><Relationship Id="rId7" Type="http://schemas.openxmlformats.org/officeDocument/2006/relationships/image" Target="../media/image3000.png"/><Relationship Id="rId12" Type="http://schemas.openxmlformats.org/officeDocument/2006/relationships/image" Target="../media/image62.png"/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.png"/><Relationship Id="rId11" Type="http://schemas.openxmlformats.org/officeDocument/2006/relationships/image" Target="../media/image61.png"/><Relationship Id="rId5" Type="http://schemas.openxmlformats.org/officeDocument/2006/relationships/image" Target="../media/image2800.png"/><Relationship Id="rId10" Type="http://schemas.openxmlformats.org/officeDocument/2006/relationships/image" Target="../media/image59.png"/><Relationship Id="rId4" Type="http://schemas.openxmlformats.org/officeDocument/2006/relationships/image" Target="../media/image2700.png"/><Relationship Id="rId9" Type="http://schemas.openxmlformats.org/officeDocument/2006/relationships/image" Target="../media/image320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0.png"/><Relationship Id="rId13" Type="http://schemas.openxmlformats.org/officeDocument/2006/relationships/image" Target="../media/image63.png"/><Relationship Id="rId3" Type="http://schemas.openxmlformats.org/officeDocument/2006/relationships/image" Target="../media/image2600.png"/><Relationship Id="rId7" Type="http://schemas.openxmlformats.org/officeDocument/2006/relationships/image" Target="../media/image3000.png"/><Relationship Id="rId12" Type="http://schemas.openxmlformats.org/officeDocument/2006/relationships/image" Target="../media/image62.png"/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.png"/><Relationship Id="rId11" Type="http://schemas.openxmlformats.org/officeDocument/2006/relationships/image" Target="../media/image61.png"/><Relationship Id="rId5" Type="http://schemas.openxmlformats.org/officeDocument/2006/relationships/image" Target="../media/image2800.png"/><Relationship Id="rId10" Type="http://schemas.openxmlformats.org/officeDocument/2006/relationships/image" Target="../media/image59.png"/><Relationship Id="rId4" Type="http://schemas.openxmlformats.org/officeDocument/2006/relationships/image" Target="../media/image2700.png"/><Relationship Id="rId9" Type="http://schemas.openxmlformats.org/officeDocument/2006/relationships/image" Target="../media/image320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0.png"/><Relationship Id="rId13" Type="http://schemas.openxmlformats.org/officeDocument/2006/relationships/image" Target="../media/image63.png"/><Relationship Id="rId3" Type="http://schemas.openxmlformats.org/officeDocument/2006/relationships/image" Target="../media/image2600.png"/><Relationship Id="rId7" Type="http://schemas.openxmlformats.org/officeDocument/2006/relationships/image" Target="../media/image3000.png"/><Relationship Id="rId12" Type="http://schemas.openxmlformats.org/officeDocument/2006/relationships/image" Target="../media/image62.png"/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.png"/><Relationship Id="rId11" Type="http://schemas.openxmlformats.org/officeDocument/2006/relationships/image" Target="../media/image61.png"/><Relationship Id="rId5" Type="http://schemas.openxmlformats.org/officeDocument/2006/relationships/image" Target="../media/image2800.png"/><Relationship Id="rId10" Type="http://schemas.openxmlformats.org/officeDocument/2006/relationships/image" Target="../media/image59.png"/><Relationship Id="rId4" Type="http://schemas.openxmlformats.org/officeDocument/2006/relationships/image" Target="../media/image2700.png"/><Relationship Id="rId9" Type="http://schemas.openxmlformats.org/officeDocument/2006/relationships/image" Target="../media/image3200.png"/><Relationship Id="rId1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0.png"/><Relationship Id="rId13" Type="http://schemas.openxmlformats.org/officeDocument/2006/relationships/image" Target="../media/image63.png"/><Relationship Id="rId3" Type="http://schemas.openxmlformats.org/officeDocument/2006/relationships/image" Target="../media/image2600.png"/><Relationship Id="rId7" Type="http://schemas.openxmlformats.org/officeDocument/2006/relationships/image" Target="../media/image3000.png"/><Relationship Id="rId12" Type="http://schemas.openxmlformats.org/officeDocument/2006/relationships/image" Target="../media/image62.png"/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.png"/><Relationship Id="rId11" Type="http://schemas.openxmlformats.org/officeDocument/2006/relationships/image" Target="../media/image61.png"/><Relationship Id="rId5" Type="http://schemas.openxmlformats.org/officeDocument/2006/relationships/image" Target="../media/image2800.png"/><Relationship Id="rId15" Type="http://schemas.openxmlformats.org/officeDocument/2006/relationships/image" Target="../media/image65.png"/><Relationship Id="rId10" Type="http://schemas.openxmlformats.org/officeDocument/2006/relationships/image" Target="../media/image59.png"/><Relationship Id="rId4" Type="http://schemas.openxmlformats.org/officeDocument/2006/relationships/image" Target="../media/image2700.png"/><Relationship Id="rId9" Type="http://schemas.openxmlformats.org/officeDocument/2006/relationships/image" Target="../media/image3200.png"/><Relationship Id="rId1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0.png"/><Relationship Id="rId13" Type="http://schemas.openxmlformats.org/officeDocument/2006/relationships/image" Target="../media/image63.png"/><Relationship Id="rId3" Type="http://schemas.openxmlformats.org/officeDocument/2006/relationships/image" Target="../media/image2600.png"/><Relationship Id="rId7" Type="http://schemas.openxmlformats.org/officeDocument/2006/relationships/image" Target="../media/image3000.png"/><Relationship Id="rId12" Type="http://schemas.openxmlformats.org/officeDocument/2006/relationships/image" Target="../media/image62.png"/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.png"/><Relationship Id="rId11" Type="http://schemas.openxmlformats.org/officeDocument/2006/relationships/image" Target="../media/image61.png"/><Relationship Id="rId5" Type="http://schemas.openxmlformats.org/officeDocument/2006/relationships/image" Target="../media/image2800.png"/><Relationship Id="rId15" Type="http://schemas.openxmlformats.org/officeDocument/2006/relationships/image" Target="../media/image65.png"/><Relationship Id="rId10" Type="http://schemas.openxmlformats.org/officeDocument/2006/relationships/image" Target="../media/image59.png"/><Relationship Id="rId4" Type="http://schemas.openxmlformats.org/officeDocument/2006/relationships/image" Target="../media/image2700.png"/><Relationship Id="rId9" Type="http://schemas.openxmlformats.org/officeDocument/2006/relationships/image" Target="../media/image3200.png"/><Relationship Id="rId1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0.png"/><Relationship Id="rId13" Type="http://schemas.openxmlformats.org/officeDocument/2006/relationships/image" Target="../media/image63.png"/><Relationship Id="rId3" Type="http://schemas.openxmlformats.org/officeDocument/2006/relationships/image" Target="../media/image2600.png"/><Relationship Id="rId7" Type="http://schemas.openxmlformats.org/officeDocument/2006/relationships/image" Target="../media/image3000.png"/><Relationship Id="rId12" Type="http://schemas.openxmlformats.org/officeDocument/2006/relationships/image" Target="../media/image62.png"/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.png"/><Relationship Id="rId11" Type="http://schemas.openxmlformats.org/officeDocument/2006/relationships/image" Target="../media/image61.png"/><Relationship Id="rId5" Type="http://schemas.openxmlformats.org/officeDocument/2006/relationships/image" Target="../media/image2800.png"/><Relationship Id="rId15" Type="http://schemas.openxmlformats.org/officeDocument/2006/relationships/image" Target="../media/image65.png"/><Relationship Id="rId10" Type="http://schemas.openxmlformats.org/officeDocument/2006/relationships/image" Target="../media/image59.png"/><Relationship Id="rId4" Type="http://schemas.openxmlformats.org/officeDocument/2006/relationships/image" Target="../media/image2700.png"/><Relationship Id="rId9" Type="http://schemas.openxmlformats.org/officeDocument/2006/relationships/image" Target="../media/image3200.png"/><Relationship Id="rId1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0.png"/><Relationship Id="rId13" Type="http://schemas.openxmlformats.org/officeDocument/2006/relationships/image" Target="../media/image63.png"/><Relationship Id="rId3" Type="http://schemas.openxmlformats.org/officeDocument/2006/relationships/image" Target="../media/image2600.png"/><Relationship Id="rId7" Type="http://schemas.openxmlformats.org/officeDocument/2006/relationships/image" Target="../media/image3000.png"/><Relationship Id="rId12" Type="http://schemas.openxmlformats.org/officeDocument/2006/relationships/image" Target="../media/image62.png"/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.png"/><Relationship Id="rId11" Type="http://schemas.openxmlformats.org/officeDocument/2006/relationships/image" Target="../media/image61.png"/><Relationship Id="rId5" Type="http://schemas.openxmlformats.org/officeDocument/2006/relationships/image" Target="../media/image2800.png"/><Relationship Id="rId15" Type="http://schemas.openxmlformats.org/officeDocument/2006/relationships/image" Target="../media/image65.png"/><Relationship Id="rId10" Type="http://schemas.openxmlformats.org/officeDocument/2006/relationships/image" Target="../media/image59.png"/><Relationship Id="rId4" Type="http://schemas.openxmlformats.org/officeDocument/2006/relationships/image" Target="../media/image2700.png"/><Relationship Id="rId9" Type="http://schemas.openxmlformats.org/officeDocument/2006/relationships/image" Target="../media/image3200.png"/><Relationship Id="rId1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7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84.png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87.png"/><Relationship Id="rId4" Type="http://schemas.openxmlformats.org/officeDocument/2006/relationships/image" Target="../media/image85.png"/><Relationship Id="rId9" Type="http://schemas.openxmlformats.org/officeDocument/2006/relationships/image" Target="../media/image8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95.png"/><Relationship Id="rId3" Type="http://schemas.openxmlformats.org/officeDocument/2006/relationships/image" Target="../media/image91.png"/><Relationship Id="rId7" Type="http://schemas.openxmlformats.org/officeDocument/2006/relationships/image" Target="../media/image46.wmf"/><Relationship Id="rId12" Type="http://schemas.openxmlformats.org/officeDocument/2006/relationships/image" Target="../media/image9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8.wmf"/><Relationship Id="rId5" Type="http://schemas.openxmlformats.org/officeDocument/2006/relationships/image" Target="../media/image93.png"/><Relationship Id="rId10" Type="http://schemas.openxmlformats.org/officeDocument/2006/relationships/oleObject" Target="../embeddings/oleObject27.bin"/><Relationship Id="rId4" Type="http://schemas.openxmlformats.org/officeDocument/2006/relationships/image" Target="../media/image92.png"/><Relationship Id="rId9" Type="http://schemas.openxmlformats.org/officeDocument/2006/relationships/image" Target="../media/image47.wmf"/><Relationship Id="rId14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0.png"/><Relationship Id="rId3" Type="http://schemas.openxmlformats.org/officeDocument/2006/relationships/image" Target="../media/image850.png"/><Relationship Id="rId7" Type="http://schemas.openxmlformats.org/officeDocument/2006/relationships/image" Target="../media/image861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8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51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7" Type="http://schemas.openxmlformats.org/officeDocument/2006/relationships/image" Target="../media/image90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11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52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111.png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36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oleObject" Target="../embeddings/oleObject38.bin"/><Relationship Id="rId7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5.png"/><Relationship Id="rId11" Type="http://schemas.openxmlformats.org/officeDocument/2006/relationships/image" Target="../media/image121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59.wmf"/><Relationship Id="rId9" Type="http://schemas.openxmlformats.org/officeDocument/2006/relationships/image" Target="../media/image118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61.wmf"/><Relationship Id="rId9" Type="http://schemas.openxmlformats.org/officeDocument/2006/relationships/image" Target="../media/image12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oleObject" Target="../embeddings/oleObject42.bin"/><Relationship Id="rId7" Type="http://schemas.openxmlformats.org/officeDocument/2006/relationships/image" Target="../media/image12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61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63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5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1.png"/><Relationship Id="rId5" Type="http://schemas.openxmlformats.org/officeDocument/2006/relationships/image" Target="../media/image1251.png"/><Relationship Id="rId4" Type="http://schemas.openxmlformats.org/officeDocument/2006/relationships/image" Target="../media/image124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121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0.png"/><Relationship Id="rId13" Type="http://schemas.openxmlformats.org/officeDocument/2006/relationships/image" Target="../media/image124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220.png"/><Relationship Id="rId12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10.png"/><Relationship Id="rId11" Type="http://schemas.openxmlformats.org/officeDocument/2006/relationships/image" Target="../media/image132.png"/><Relationship Id="rId5" Type="http://schemas.openxmlformats.org/officeDocument/2006/relationships/image" Target="../media/image1200.png"/><Relationship Id="rId10" Type="http://schemas.openxmlformats.org/officeDocument/2006/relationships/image" Target="../media/image1260.png"/><Relationship Id="rId4" Type="http://schemas.openxmlformats.org/officeDocument/2006/relationships/image" Target="../media/image1190.png"/><Relationship Id="rId9" Type="http://schemas.openxmlformats.org/officeDocument/2006/relationships/image" Target="../media/image125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48.png"/><Relationship Id="rId2" Type="http://schemas.openxmlformats.org/officeDocument/2006/relationships/image" Target="../media/image131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5" Type="http://schemas.openxmlformats.org/officeDocument/2006/relationships/image" Target="../media/image145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image" Target="../media/image1510.png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52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1521.png"/><Relationship Id="rId4" Type="http://schemas.openxmlformats.org/officeDocument/2006/relationships/image" Target="../media/image130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0.png"/><Relationship Id="rId3" Type="http://schemas.openxmlformats.org/officeDocument/2006/relationships/image" Target="../media/image13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10.png"/><Relationship Id="rId9" Type="http://schemas.openxmlformats.org/officeDocument/2006/relationships/image" Target="../media/image153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5" Type="http://schemas.openxmlformats.org/officeDocument/2006/relationships/image" Target="../media/image165.png"/><Relationship Id="rId4" Type="http://schemas.openxmlformats.org/officeDocument/2006/relationships/image" Target="../media/image156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165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4.wmf"/><Relationship Id="rId20" Type="http://schemas.openxmlformats.org/officeDocument/2006/relationships/image" Target="../media/image166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image" Target="../media/image168.png"/><Relationship Id="rId10" Type="http://schemas.openxmlformats.org/officeDocument/2006/relationships/image" Target="../media/image161.w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163.wmf"/><Relationship Id="rId22" Type="http://schemas.openxmlformats.org/officeDocument/2006/relationships/image" Target="../media/image167.wm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0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50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0.png"/><Relationship Id="rId7" Type="http://schemas.openxmlformats.org/officeDocument/2006/relationships/image" Target="../media/image1700.png"/><Relationship Id="rId2" Type="http://schemas.openxmlformats.org/officeDocument/2006/relationships/image" Target="../media/image16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0.png"/><Relationship Id="rId5" Type="http://schemas.openxmlformats.org/officeDocument/2006/relationships/image" Target="../media/image1680.png"/><Relationship Id="rId4" Type="http://schemas.openxmlformats.org/officeDocument/2006/relationships/image" Target="../media/image167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77.png"/><Relationship Id="rId3" Type="http://schemas.openxmlformats.org/officeDocument/2006/relationships/image" Target="../media/image175.png"/><Relationship Id="rId7" Type="http://schemas.openxmlformats.org/officeDocument/2006/relationships/image" Target="../media/image193.png"/><Relationship Id="rId12" Type="http://schemas.openxmlformats.org/officeDocument/2006/relationships/image" Target="../media/image1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2.png"/><Relationship Id="rId11" Type="http://schemas.openxmlformats.org/officeDocument/2006/relationships/oleObject" Target="../embeddings/oleObject65.bin"/><Relationship Id="rId5" Type="http://schemas.openxmlformats.org/officeDocument/2006/relationships/image" Target="../media/image191.png"/><Relationship Id="rId10" Type="http://schemas.openxmlformats.org/officeDocument/2006/relationships/image" Target="../media/image174.wmf"/><Relationship Id="rId4" Type="http://schemas.openxmlformats.org/officeDocument/2006/relationships/image" Target="../media/image190.png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178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83.png"/><Relationship Id="rId7" Type="http://schemas.openxmlformats.org/officeDocument/2006/relationships/image" Target="../media/image18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9" Type="http://schemas.openxmlformats.org/officeDocument/2006/relationships/image" Target="../media/image195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177.wmf"/><Relationship Id="rId18" Type="http://schemas.openxmlformats.org/officeDocument/2006/relationships/oleObject" Target="../embeddings/oleObject69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180.wmf"/><Relationship Id="rId7" Type="http://schemas.openxmlformats.org/officeDocument/2006/relationships/image" Target="../media/image196.png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17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8.bin"/><Relationship Id="rId20" Type="http://schemas.openxmlformats.org/officeDocument/2006/relationships/oleObject" Target="../embeddings/oleObject70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76.wmf"/><Relationship Id="rId11" Type="http://schemas.openxmlformats.org/officeDocument/2006/relationships/image" Target="../media/image200.png"/><Relationship Id="rId5" Type="http://schemas.openxmlformats.org/officeDocument/2006/relationships/oleObject" Target="../embeddings/oleObject66.bin"/><Relationship Id="rId15" Type="http://schemas.openxmlformats.org/officeDocument/2006/relationships/image" Target="../media/image177.wmf"/><Relationship Id="rId10" Type="http://schemas.openxmlformats.org/officeDocument/2006/relationships/image" Target="../media/image199.png"/><Relationship Id="rId19" Type="http://schemas.openxmlformats.org/officeDocument/2006/relationships/image" Target="../media/image179.wmf"/><Relationship Id="rId4" Type="http://schemas.openxmlformats.org/officeDocument/2006/relationships/image" Target="../media/image203.png"/><Relationship Id="rId9" Type="http://schemas.openxmlformats.org/officeDocument/2006/relationships/image" Target="../media/image198.png"/><Relationship Id="rId14" Type="http://schemas.openxmlformats.org/officeDocument/2006/relationships/oleObject" Target="../embeddings/oleObject67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1.wmf"/><Relationship Id="rId3" Type="http://schemas.openxmlformats.org/officeDocument/2006/relationships/image" Target="../media/image202.png"/><Relationship Id="rId7" Type="http://schemas.openxmlformats.org/officeDocument/2006/relationships/image" Target="../media/image176.wmf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2050.png"/><Relationship Id="rId5" Type="http://schemas.openxmlformats.org/officeDocument/2006/relationships/image" Target="../media/image199.wmf"/><Relationship Id="rId10" Type="http://schemas.openxmlformats.org/officeDocument/2006/relationships/image" Target="../media/image200.wmf"/><Relationship Id="rId4" Type="http://schemas.openxmlformats.org/officeDocument/2006/relationships/oleObject" Target="../embeddings/oleObject71.bin"/><Relationship Id="rId9" Type="http://schemas.openxmlformats.org/officeDocument/2006/relationships/oleObject" Target="../embeddings/oleObject73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7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9.png"/><Relationship Id="rId5" Type="http://schemas.openxmlformats.org/officeDocument/2006/relationships/image" Target="../media/image207.png"/><Relationship Id="rId10" Type="http://schemas.openxmlformats.org/officeDocument/2006/relationships/image" Target="../media/image214.png"/><Relationship Id="rId4" Type="http://schemas.openxmlformats.org/officeDocument/2006/relationships/image" Target="../media/image20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7" Type="http://schemas.openxmlformats.org/officeDocument/2006/relationships/image" Target="../media/image218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7.png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oleObject" Target="../embeddings/oleObject75.bin"/><Relationship Id="rId7" Type="http://schemas.openxmlformats.org/officeDocument/2006/relationships/image" Target="../media/image20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224.png"/><Relationship Id="rId5" Type="http://schemas.openxmlformats.org/officeDocument/2006/relationships/image" Target="../media/image222.png"/><Relationship Id="rId10" Type="http://schemas.openxmlformats.org/officeDocument/2006/relationships/image" Target="../media/image223.png"/><Relationship Id="rId4" Type="http://schemas.openxmlformats.org/officeDocument/2006/relationships/image" Target="../media/image205.wmf"/><Relationship Id="rId9" Type="http://schemas.openxmlformats.org/officeDocument/2006/relationships/image" Target="../media/image207.wmf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222.wmf"/><Relationship Id="rId4" Type="http://schemas.openxmlformats.org/officeDocument/2006/relationships/image" Target="../media/image229.png"/><Relationship Id="rId9" Type="http://schemas.openxmlformats.org/officeDocument/2006/relationships/oleObject" Target="../embeddings/oleObject80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4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223.w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oleObject" Target="../embeddings/oleObject88.bin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2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228.wmf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230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94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23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7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10" Type="http://schemas.openxmlformats.org/officeDocument/2006/relationships/image" Target="../media/image234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236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13" Type="http://schemas.openxmlformats.org/officeDocument/2006/relationships/image" Target="../media/image243.e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242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241.wmf"/><Relationship Id="rId4" Type="http://schemas.openxmlformats.org/officeDocument/2006/relationships/image" Target="../media/image238.wmf"/><Relationship Id="rId9" Type="http://schemas.openxmlformats.org/officeDocument/2006/relationships/oleObject" Target="../embeddings/oleObject99.bin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245.w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246.wmf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48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247.wmf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3" Type="http://schemas.openxmlformats.org/officeDocument/2006/relationships/oleObject" Target="../embeddings/oleObject106.bin"/><Relationship Id="rId7" Type="http://schemas.openxmlformats.org/officeDocument/2006/relationships/image" Target="../media/image25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51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250.wmf"/><Relationship Id="rId9" Type="http://schemas.openxmlformats.org/officeDocument/2006/relationships/image" Target="../media/image254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56.wmf"/><Relationship Id="rId11" Type="http://schemas.openxmlformats.org/officeDocument/2006/relationships/image" Target="../media/image259.png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258.wmf"/><Relationship Id="rId4" Type="http://schemas.openxmlformats.org/officeDocument/2006/relationships/image" Target="../media/image255.wmf"/><Relationship Id="rId9" Type="http://schemas.openxmlformats.org/officeDocument/2006/relationships/oleObject" Target="../embeddings/oleObject111.bin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61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263.wmf"/><Relationship Id="rId4" Type="http://schemas.openxmlformats.org/officeDocument/2006/relationships/image" Target="../media/image260.wmf"/><Relationship Id="rId9" Type="http://schemas.openxmlformats.org/officeDocument/2006/relationships/oleObject" Target="../embeddings/oleObject115.bin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65.wmf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267.wmf"/><Relationship Id="rId4" Type="http://schemas.openxmlformats.org/officeDocument/2006/relationships/image" Target="../media/image264.wmf"/><Relationship Id="rId9" Type="http://schemas.openxmlformats.org/officeDocument/2006/relationships/oleObject" Target="../embeddings/oleObject1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7"/>
          <p:cNvSpPr>
            <a:spLocks noChangeArrowheads="1"/>
          </p:cNvSpPr>
          <p:nvPr/>
        </p:nvSpPr>
        <p:spPr bwMode="auto">
          <a:xfrm>
            <a:off x="3647728" y="836712"/>
            <a:ext cx="6911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3300"/>
                </a:solidFill>
              </a:rPr>
              <a:t>第四章  多项式插值</a:t>
            </a:r>
          </a:p>
        </p:txBody>
      </p:sp>
      <p:sp>
        <p:nvSpPr>
          <p:cNvPr id="5123" name="Text Box 1028"/>
          <p:cNvSpPr txBox="1">
            <a:spLocks noChangeArrowheads="1"/>
          </p:cNvSpPr>
          <p:nvPr/>
        </p:nvSpPr>
        <p:spPr bwMode="auto">
          <a:xfrm>
            <a:off x="3071664" y="1854017"/>
            <a:ext cx="5904656" cy="314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en-US" altLang="zh-CN" sz="2500" b="1" dirty="0"/>
              <a:t>4. 1  </a:t>
            </a:r>
            <a:r>
              <a:rPr lang="zh-CN" altLang="en-US" sz="2500" b="1" dirty="0">
                <a:solidFill>
                  <a:schemeClr val="accent2"/>
                </a:solidFill>
                <a:latin typeface="宋体" panose="02010600030101010101" pitchFamily="2" charset="-122"/>
              </a:rPr>
              <a:t>拉格朗日插值公式</a:t>
            </a:r>
            <a:endParaRPr lang="zh-CN" altLang="en-US" sz="2500" b="1" dirty="0"/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en-US" altLang="zh-CN" sz="2500" b="1" dirty="0"/>
              <a:t>4. 2  </a:t>
            </a:r>
            <a:r>
              <a:rPr lang="zh-CN" altLang="en-US" sz="25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en-US" altLang="zh-CN" sz="2500" b="1" dirty="0"/>
              <a:t>4. 3  </a:t>
            </a:r>
            <a:r>
              <a:rPr lang="zh-CN" altLang="en-US" sz="2500" b="1" dirty="0">
                <a:solidFill>
                  <a:schemeClr val="accent2"/>
                </a:solidFill>
                <a:latin typeface="宋体" panose="02010600030101010101" pitchFamily="2" charset="-122"/>
              </a:rPr>
              <a:t>埃特金插值公式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en-US" altLang="zh-CN" sz="2500" b="1" dirty="0"/>
              <a:t>4. 4  </a:t>
            </a:r>
            <a:r>
              <a:rPr lang="zh-CN" altLang="en-US" sz="2500" b="1" dirty="0">
                <a:solidFill>
                  <a:schemeClr val="accent2"/>
                </a:solidFill>
                <a:latin typeface="宋体" panose="02010600030101010101" pitchFamily="2" charset="-122"/>
              </a:rPr>
              <a:t>分段三次埃尔米特（</a:t>
            </a:r>
            <a:r>
              <a:rPr lang="en-US" altLang="zh-CN" sz="2500" b="1" dirty="0">
                <a:solidFill>
                  <a:schemeClr val="accent2"/>
                </a:solidFill>
                <a:latin typeface="宋体" panose="02010600030101010101" pitchFamily="2" charset="-122"/>
              </a:rPr>
              <a:t>Hermite</a:t>
            </a:r>
            <a:r>
              <a:rPr lang="zh-CN" altLang="en-US" sz="2500" b="1" dirty="0">
                <a:solidFill>
                  <a:schemeClr val="accent2"/>
                </a:solidFill>
                <a:latin typeface="宋体" panose="02010600030101010101" pitchFamily="2" charset="-122"/>
              </a:rPr>
              <a:t>）插值</a:t>
            </a:r>
            <a:endParaRPr lang="en-US" altLang="zh-CN" sz="25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en-US" altLang="zh-CN" sz="2500" b="1" dirty="0"/>
              <a:t>4. 5  </a:t>
            </a:r>
            <a:r>
              <a:rPr lang="zh-CN" altLang="en-US" sz="2500" b="1" dirty="0">
                <a:solidFill>
                  <a:schemeClr val="accent2"/>
                </a:solidFill>
                <a:latin typeface="宋体" panose="02010600030101010101" pitchFamily="2" charset="-122"/>
              </a:rPr>
              <a:t>三次样条插值</a:t>
            </a:r>
            <a:endParaRPr lang="en-US" altLang="zh-CN" sz="25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en-US" altLang="zh-CN" sz="2500" b="1" dirty="0"/>
              <a:t>4. 6  </a:t>
            </a:r>
            <a:r>
              <a:rPr lang="zh-CN" altLang="en-US" sz="2500" b="1" dirty="0">
                <a:solidFill>
                  <a:schemeClr val="accent2"/>
                </a:solidFill>
                <a:latin typeface="宋体" panose="02010600030101010101" pitchFamily="2" charset="-122"/>
              </a:rPr>
              <a:t>函数插值应用实例</a:t>
            </a:r>
            <a:endParaRPr lang="en-US" altLang="zh-CN" sz="25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020FC7-9C64-45C6-82FE-E6214999E65B}"/>
              </a:ext>
            </a:extLst>
          </p:cNvPr>
          <p:cNvSpPr txBox="1"/>
          <p:nvPr/>
        </p:nvSpPr>
        <p:spPr>
          <a:xfrm>
            <a:off x="828591" y="-8239"/>
            <a:ext cx="99587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1" dirty="0"/>
              <a:t>引例</a:t>
            </a:r>
            <a:endParaRPr lang="en-US" altLang="zh-CN" sz="3200" b="1" dirty="0"/>
          </a:p>
          <a:p>
            <a:r>
              <a:rPr lang="zh-CN" altLang="en-US" dirty="0"/>
              <a:t>                     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648912A-E675-4858-A3FE-5A76E0856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552" y="1165499"/>
            <a:ext cx="9073008" cy="830997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  <a:ea typeface="+mn-ea"/>
              </a:rPr>
              <a:t>气象站每隔6小时测量一次气温，得到了几个时间点的数</a:t>
            </a:r>
            <a:r>
              <a:rPr kumimoji="0" lang="zh-CN" altLang="en-US" dirty="0">
                <a:solidFill>
                  <a:srgbClr val="0F1115"/>
                </a:solidFill>
                <a:latin typeface="+mn-ea"/>
                <a:ea typeface="+mn-ea"/>
              </a:rPr>
              <a:t>据，如下表所示，请问上午</a:t>
            </a:r>
            <a:r>
              <a:rPr kumimoji="0" lang="en-US" altLang="zh-CN" dirty="0">
                <a:solidFill>
                  <a:srgbClr val="0F1115"/>
                </a:solidFill>
                <a:latin typeface="+mn-ea"/>
                <a:ea typeface="+mn-ea"/>
              </a:rPr>
              <a:t>9</a:t>
            </a:r>
            <a:r>
              <a:rPr kumimoji="0" lang="zh-CN" altLang="en-US" dirty="0">
                <a:solidFill>
                  <a:srgbClr val="0F1115"/>
                </a:solidFill>
                <a:latin typeface="+mn-ea"/>
                <a:ea typeface="+mn-ea"/>
              </a:rPr>
              <a:t>时气温？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C1ED53D-D35F-4897-BF39-B70D89D31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377101"/>
              </p:ext>
            </p:extLst>
          </p:nvPr>
        </p:nvGraphicFramePr>
        <p:xfrm>
          <a:off x="2518861" y="2241209"/>
          <a:ext cx="715427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12932546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0719152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33928905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282880537"/>
                    </a:ext>
                  </a:extLst>
                </a:gridCol>
                <a:gridCol w="1609662">
                  <a:extLst>
                    <a:ext uri="{9D8B030D-6E8A-4147-A177-3AD203B41FA5}">
                      <a16:colId xmlns:a16="http://schemas.microsoft.com/office/drawing/2014/main" val="188525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583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温度</a:t>
                      </a:r>
                      <a:r>
                        <a:rPr lang="en-US" altLang="zh-CN" dirty="0"/>
                        <a:t>(</a:t>
                      </a:r>
                      <a:r>
                        <a:rPr kumimoji="0" lang="zh-CN" altLang="zh-CN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F1115"/>
                          </a:solidFill>
                          <a:effectLst/>
                          <a:latin typeface="+mn-ea"/>
                          <a:ea typeface="+mn-ea"/>
                        </a:rPr>
                        <a:t>°C</a:t>
                      </a:r>
                      <a:r>
                        <a:rPr kumimoji="0" lang="en-US" altLang="zh-CN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F1115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97437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BB91282-6721-4F08-96EA-7EA02DA9663A}"/>
              </a:ext>
            </a:extLst>
          </p:cNvPr>
          <p:cNvSpPr/>
          <p:nvPr/>
        </p:nvSpPr>
        <p:spPr>
          <a:xfrm>
            <a:off x="1775520" y="3170234"/>
            <a:ext cx="45015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有两种解决方法：</a:t>
            </a:r>
            <a:r>
              <a:rPr lang="zh-CN" altLang="en-US" b="1" dirty="0">
                <a:solidFill>
                  <a:srgbClr val="008000"/>
                </a:solidFill>
              </a:rPr>
              <a:t>插值和</a:t>
            </a:r>
            <a:r>
              <a:rPr lang="zh-CN" altLang="en-US" b="1" dirty="0">
                <a:solidFill>
                  <a:srgbClr val="7030A0"/>
                </a:solidFill>
              </a:rPr>
              <a:t>逼近</a:t>
            </a:r>
            <a:r>
              <a:rPr lang="zh-CN" altLang="en-US" dirty="0"/>
              <a:t>。</a:t>
            </a:r>
          </a:p>
        </p:txBody>
      </p:sp>
      <p:sp>
        <p:nvSpPr>
          <p:cNvPr id="11" name="矩形 1">
            <a:extLst>
              <a:ext uri="{FF2B5EF4-FFF2-40B4-BE49-F238E27FC236}">
                <a16:creationId xmlns:a16="http://schemas.microsoft.com/office/drawing/2014/main" id="{AD788EA9-E9AD-4486-82AD-29ED02557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586" y="3907020"/>
            <a:ext cx="8280400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        </a:t>
            </a:r>
            <a:r>
              <a:rPr lang="zh-CN" altLang="en-US" sz="2400" dirty="0">
                <a:solidFill>
                  <a:srgbClr val="FF0000"/>
                </a:solidFill>
              </a:rPr>
              <a:t>插值：</a:t>
            </a:r>
            <a:r>
              <a:rPr lang="zh-CN" altLang="en-US" sz="2400" dirty="0"/>
              <a:t>在已知若干点的函数值的情况下，插入</a:t>
            </a:r>
            <a:r>
              <a:rPr lang="zh-CN" altLang="en-US" sz="2400" dirty="0">
                <a:solidFill>
                  <a:srgbClr val="FF0000"/>
                </a:solidFill>
              </a:rPr>
              <a:t>计算一些未知点的函数值</a:t>
            </a:r>
            <a:r>
              <a:rPr lang="zh-CN" altLang="en-US" sz="2400" dirty="0"/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C05EC8-50DA-4C95-90F3-0A24A784D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493" y="5542423"/>
            <a:ext cx="7200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插值在工程技术和数据处理等领域都有广泛的应用。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6309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510CA31-5FE8-4570-8CAB-DA47D0135CDA}"/>
              </a:ext>
            </a:extLst>
          </p:cNvPr>
          <p:cNvGrpSpPr/>
          <p:nvPr/>
        </p:nvGrpSpPr>
        <p:grpSpPr>
          <a:xfrm>
            <a:off x="871770" y="505124"/>
            <a:ext cx="9958704" cy="2082900"/>
            <a:chOff x="871770" y="505124"/>
            <a:chExt cx="9958704" cy="208290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D020FC7-9C64-45C6-82FE-E6214999E65B}"/>
                </a:ext>
              </a:extLst>
            </p:cNvPr>
            <p:cNvSpPr txBox="1"/>
            <p:nvPr/>
          </p:nvSpPr>
          <p:spPr>
            <a:xfrm>
              <a:off x="871770" y="505124"/>
              <a:ext cx="9958704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3200" b="1" dirty="0"/>
            </a:p>
            <a:p>
              <a:r>
                <a:rPr lang="zh-CN" altLang="en-US" dirty="0"/>
                <a:t>    假设由实验得到一组数据：</a:t>
              </a:r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要求出一个近似的函数表达式              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B03DE56-8EFC-4CDC-A4C6-AD997C3A4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1676" y="1017506"/>
              <a:ext cx="3352800" cy="1066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B25A368E-6F89-403C-954C-E79FD40A7EA6}"/>
                    </a:ext>
                  </a:extLst>
                </p:cNvPr>
                <p:cNvSpPr/>
                <p:nvPr/>
              </p:nvSpPr>
              <p:spPr>
                <a:xfrm>
                  <a:off x="4892618" y="2126359"/>
                  <a:ext cx="98302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B25A368E-6F89-403C-954C-E79FD40A7E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2618" y="2126359"/>
                  <a:ext cx="983025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8E0ABAD-EFD9-4EF9-AE28-6A3009D28EAE}"/>
              </a:ext>
            </a:extLst>
          </p:cNvPr>
          <p:cNvGrpSpPr/>
          <p:nvPr/>
        </p:nvGrpSpPr>
        <p:grpSpPr>
          <a:xfrm>
            <a:off x="1483155" y="2683454"/>
            <a:ext cx="8784976" cy="3364718"/>
            <a:chOff x="1415480" y="3160626"/>
            <a:chExt cx="8784976" cy="3364718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37A1494A-82D3-4776-9A82-F2EFA850A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15480" y="3160626"/>
              <a:ext cx="8784976" cy="3364718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905C4EF-8434-40CF-B93E-C586E8D7E7EA}"/>
                </a:ext>
              </a:extLst>
            </p:cNvPr>
            <p:cNvSpPr/>
            <p:nvPr/>
          </p:nvSpPr>
          <p:spPr bwMode="auto">
            <a:xfrm>
              <a:off x="7392144" y="3933056"/>
              <a:ext cx="2448272" cy="497966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84279E57-1DF2-4BC7-B73F-AFA297785FBF}"/>
                    </a:ext>
                  </a:extLst>
                </p:cNvPr>
                <p:cNvSpPr/>
                <p:nvPr/>
              </p:nvSpPr>
              <p:spPr bwMode="auto">
                <a:xfrm>
                  <a:off x="7536160" y="5244374"/>
                  <a:ext cx="2448272" cy="497966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zh-CN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rPr>
                    <a:t>（其中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kumimoji="1" lang="zh-CN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rPr>
                    <a:t>为实数）</a:t>
                  </a:r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84279E57-1DF2-4BC7-B73F-AFA297785F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36160" y="5244374"/>
                  <a:ext cx="2448272" cy="497966"/>
                </a:xfrm>
                <a:prstGeom prst="rect">
                  <a:avLst/>
                </a:prstGeom>
                <a:blipFill>
                  <a:blip r:embed="rId6"/>
                  <a:stretch>
                    <a:fillRect l="-3731" t="-13415" r="-16418" b="-15854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E162D3A4-594E-4986-9A63-CAA22929E468}"/>
              </a:ext>
            </a:extLst>
          </p:cNvPr>
          <p:cNvSpPr txBox="1"/>
          <p:nvPr/>
        </p:nvSpPr>
        <p:spPr>
          <a:xfrm>
            <a:off x="1775520" y="6164399"/>
            <a:ext cx="2266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如何求</a:t>
            </a:r>
            <a:r>
              <a:rPr lang="en-US" altLang="zh-CN" sz="2800" b="1" dirty="0"/>
              <a:t>P(x)</a:t>
            </a:r>
            <a:r>
              <a:rPr lang="zh-CN" altLang="en-US" sz="2800" b="1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77635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0ECCE14-35F2-4D2D-A5A5-E882A59F2EE7}"/>
              </a:ext>
            </a:extLst>
          </p:cNvPr>
          <p:cNvSpPr txBox="1"/>
          <p:nvPr/>
        </p:nvSpPr>
        <p:spPr>
          <a:xfrm>
            <a:off x="2639616" y="692696"/>
            <a:ext cx="3300904" cy="4731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本章要求：</a:t>
            </a:r>
            <a:endParaRPr lang="en-US" altLang="zh-CN" sz="2800" b="1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/>
              <a:t>求：</a:t>
            </a:r>
            <a:endParaRPr lang="en-US" altLang="zh-CN" sz="2800" b="1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插值多项式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分段插值函数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样条插值函数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讨论</a:t>
            </a:r>
            <a:r>
              <a:rPr lang="en-US" altLang="zh-CN" sz="2800" dirty="0"/>
              <a:t>P(x)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存在唯一性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误差估计</a:t>
            </a:r>
          </a:p>
        </p:txBody>
      </p:sp>
    </p:spTree>
    <p:extLst>
      <p:ext uri="{BB962C8B-B14F-4D97-AF65-F5344CB8AC3E}">
        <p14:creationId xmlns:p14="http://schemas.microsoft.com/office/powerpoint/2010/main" val="1307399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A10484-9991-4F58-9B3F-884CBA74EE9C}"/>
              </a:ext>
            </a:extLst>
          </p:cNvPr>
          <p:cNvSpPr txBox="1"/>
          <p:nvPr/>
        </p:nvSpPr>
        <p:spPr>
          <a:xfrm>
            <a:off x="1631504" y="548680"/>
            <a:ext cx="3587842" cy="1687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存在唯一性证明：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方法一：线性方程组方法</a:t>
            </a:r>
            <a:endParaRPr lang="en-US" altLang="zh-CN" b="1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448444-3C7F-467B-9B49-926831618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930" y="1758803"/>
            <a:ext cx="3939881" cy="182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5775FEF-E246-4B2D-BE64-F2A2385F59F3}"/>
              </a:ext>
            </a:extLst>
          </p:cNvPr>
          <p:cNvSpPr txBox="1"/>
          <p:nvPr/>
        </p:nvSpPr>
        <p:spPr>
          <a:xfrm>
            <a:off x="7104112" y="2060848"/>
            <a:ext cx="4608512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注意：此线性方程组</a:t>
            </a:r>
            <a:r>
              <a:rPr lang="en-US" altLang="zh-CN" dirty="0" err="1"/>
              <a:t>y,x</a:t>
            </a:r>
            <a:r>
              <a:rPr lang="zh-CN" altLang="en-US" dirty="0"/>
              <a:t>为已知，</a:t>
            </a:r>
            <a:r>
              <a:rPr lang="en-US" altLang="zh-CN" dirty="0"/>
              <a:t>a</a:t>
            </a:r>
            <a:r>
              <a:rPr lang="zh-CN" altLang="en-US" dirty="0"/>
              <a:t>为未知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B04BEC5-01A3-4301-A4DC-7AD0D4904DFE}"/>
              </a:ext>
            </a:extLst>
          </p:cNvPr>
          <p:cNvGrpSpPr/>
          <p:nvPr/>
        </p:nvGrpSpPr>
        <p:grpSpPr>
          <a:xfrm>
            <a:off x="3719736" y="3645024"/>
            <a:ext cx="2990553" cy="2576099"/>
            <a:chOff x="3532574" y="3717032"/>
            <a:chExt cx="2990553" cy="2576099"/>
          </a:xfrm>
        </p:grpSpPr>
        <p:sp>
          <p:nvSpPr>
            <p:cNvPr id="4" name="箭头: 下 3">
              <a:extLst>
                <a:ext uri="{FF2B5EF4-FFF2-40B4-BE49-F238E27FC236}">
                  <a16:creationId xmlns:a16="http://schemas.microsoft.com/office/drawing/2014/main" id="{7D62C1DE-1869-4358-8AE8-F371A626D08F}"/>
                </a:ext>
              </a:extLst>
            </p:cNvPr>
            <p:cNvSpPr/>
            <p:nvPr/>
          </p:nvSpPr>
          <p:spPr bwMode="auto">
            <a:xfrm>
              <a:off x="4367808" y="3717032"/>
              <a:ext cx="333767" cy="648072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39284F5-2C3D-4ACD-91A9-D8CFD9429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2574" y="4365104"/>
              <a:ext cx="2004234" cy="1928027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6C0D54F-33F2-48EC-A0ED-1C5BC4CF931A}"/>
                </a:ext>
              </a:extLst>
            </p:cNvPr>
            <p:cNvSpPr txBox="1"/>
            <p:nvPr/>
          </p:nvSpPr>
          <p:spPr>
            <a:xfrm>
              <a:off x="4799578" y="3742691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系数行列式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F8A59AC-9EFD-41FF-8985-4820D17DCADF}"/>
              </a:ext>
            </a:extLst>
          </p:cNvPr>
          <p:cNvSpPr txBox="1"/>
          <p:nvPr/>
        </p:nvSpPr>
        <p:spPr>
          <a:xfrm>
            <a:off x="2536906" y="6309320"/>
            <a:ext cx="4031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即证明系数行列式的值不为</a:t>
            </a:r>
            <a:r>
              <a:rPr lang="en-US" altLang="zh-CN" dirty="0"/>
              <a:t>0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F51EDE5-4BF8-45A0-AEA1-E42E41671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024" y="5211123"/>
            <a:ext cx="1981372" cy="586791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E270DCD1-208A-4C05-BA23-B68A718E90A8}"/>
              </a:ext>
            </a:extLst>
          </p:cNvPr>
          <p:cNvGrpSpPr/>
          <p:nvPr/>
        </p:nvGrpSpPr>
        <p:grpSpPr>
          <a:xfrm>
            <a:off x="5723970" y="4132348"/>
            <a:ext cx="2748293" cy="927242"/>
            <a:chOff x="5723970" y="4132348"/>
            <a:chExt cx="2748293" cy="927242"/>
          </a:xfrm>
        </p:grpSpPr>
        <p:sp>
          <p:nvSpPr>
            <p:cNvPr id="12" name="箭头: 下弧形 11">
              <a:extLst>
                <a:ext uri="{FF2B5EF4-FFF2-40B4-BE49-F238E27FC236}">
                  <a16:creationId xmlns:a16="http://schemas.microsoft.com/office/drawing/2014/main" id="{B17381B1-3A0E-462C-B41F-14BE0C415612}"/>
                </a:ext>
              </a:extLst>
            </p:cNvPr>
            <p:cNvSpPr/>
            <p:nvPr/>
          </p:nvSpPr>
          <p:spPr bwMode="auto">
            <a:xfrm flipH="1">
              <a:off x="5723970" y="4660000"/>
              <a:ext cx="1299517" cy="399590"/>
            </a:xfrm>
            <a:prstGeom prst="curvedUp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8396314-7278-4F8E-B238-CA100F884F8C}"/>
                </a:ext>
              </a:extLst>
            </p:cNvPr>
            <p:cNvSpPr/>
            <p:nvPr/>
          </p:nvSpPr>
          <p:spPr bwMode="auto">
            <a:xfrm>
              <a:off x="6710288" y="4132348"/>
              <a:ext cx="1761975" cy="6833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N+1</a:t>
              </a:r>
              <a:r>
                <a:rPr kumimoji="1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阶范德蒙行列式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39365E3-9462-485A-BB64-66CEC6F70829}"/>
                  </a:ext>
                </a:extLst>
              </p:cNvPr>
              <p:cNvSpPr txBox="1"/>
              <p:nvPr/>
            </p:nvSpPr>
            <p:spPr>
              <a:xfrm>
                <a:off x="8431537" y="5211123"/>
                <a:ext cx="5615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39365E3-9462-485A-BB64-66CEC6F70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37" y="5211123"/>
                <a:ext cx="561564" cy="369332"/>
              </a:xfrm>
              <a:prstGeom prst="rect">
                <a:avLst/>
              </a:prstGeom>
              <a:blipFill>
                <a:blip r:embed="rId6"/>
                <a:stretch>
                  <a:fillRect l="-8696" r="-13043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06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A10484-9991-4F58-9B3F-884CBA74EE9C}"/>
              </a:ext>
            </a:extLst>
          </p:cNvPr>
          <p:cNvSpPr txBox="1"/>
          <p:nvPr/>
        </p:nvSpPr>
        <p:spPr>
          <a:xfrm>
            <a:off x="1631504" y="548680"/>
            <a:ext cx="3121367" cy="1687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存在唯一性证明：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方法二：假设法</a:t>
            </a:r>
            <a:endParaRPr lang="en-US" altLang="zh-CN" b="1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8AB1A7-76A4-498D-8B3C-66654270F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094" y="2236643"/>
            <a:ext cx="7643812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/>
              <a:t>证明</a:t>
            </a:r>
            <a:r>
              <a:rPr lang="zh-CN" altLang="en-US" sz="2400" dirty="0"/>
              <a:t>：假设有不同于</a:t>
            </a:r>
            <a:r>
              <a:rPr lang="en-US" altLang="zh-CN" sz="2400" i="1" dirty="0" err="1"/>
              <a:t>P</a:t>
            </a:r>
            <a:r>
              <a:rPr lang="en-US" altLang="zh-CN" sz="2400" i="1" baseline="-25000" dirty="0" err="1"/>
              <a:t>n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的 </a:t>
            </a:r>
            <a:r>
              <a:rPr lang="en-US" altLang="zh-CN" sz="2400" i="1" dirty="0"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次多项式 </a:t>
            </a:r>
            <a:r>
              <a:rPr lang="en-US" altLang="zh-CN" sz="2400" i="1" dirty="0" err="1"/>
              <a:t>Q</a:t>
            </a:r>
            <a:r>
              <a:rPr lang="en-US" altLang="zh-CN" sz="2400" i="1" baseline="-25000" dirty="0" err="1"/>
              <a:t>n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r>
              <a:rPr lang="zh-CN" altLang="en-US" sz="2400" dirty="0"/>
              <a:t> ，满足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i="1" dirty="0"/>
              <a:t>                    </a:t>
            </a:r>
            <a:r>
              <a:rPr lang="en-US" altLang="zh-CN" sz="2400" i="1" dirty="0" err="1"/>
              <a:t>Q</a:t>
            </a:r>
            <a:r>
              <a:rPr lang="en-US" altLang="zh-CN" sz="2400" i="1" baseline="-30000" dirty="0" err="1"/>
              <a:t>n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i="1" baseline="-30000" dirty="0"/>
              <a:t>i</a:t>
            </a:r>
            <a:r>
              <a:rPr lang="en-US" altLang="zh-CN" sz="2400" dirty="0"/>
              <a:t>) = </a:t>
            </a:r>
            <a:r>
              <a:rPr lang="en-US" altLang="zh-CN" sz="2400" i="1" dirty="0" err="1"/>
              <a:t>y</a:t>
            </a:r>
            <a:r>
              <a:rPr lang="en-US" altLang="zh-CN" sz="2400" i="1" baseline="-30000" dirty="0" err="1"/>
              <a:t>i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	      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=0,1,…,</a:t>
            </a:r>
            <a:r>
              <a:rPr lang="en-US" altLang="zh-CN" sz="2400" i="1" dirty="0"/>
              <a:t>n</a:t>
            </a:r>
            <a:r>
              <a:rPr lang="en-US" altLang="zh-CN" sz="2400" dirty="0"/>
              <a:t>)</a:t>
            </a:r>
            <a:r>
              <a:rPr lang="en-US" altLang="zh-CN" sz="2000" dirty="0"/>
              <a:t>	</a:t>
            </a:r>
            <a:endParaRPr lang="zh-CN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694D1DE-4E4A-41CC-8C2B-D9A81C3B8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094" y="3717032"/>
            <a:ext cx="9294514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则 </a:t>
            </a:r>
            <a:r>
              <a:rPr lang="en-US" altLang="zh-CN" sz="2400" i="1" dirty="0" err="1"/>
              <a:t>F</a:t>
            </a:r>
            <a:r>
              <a:rPr lang="en-US" altLang="zh-CN" sz="2400" i="1" baseline="-25000" dirty="0" err="1"/>
              <a:t>n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= </a:t>
            </a:r>
            <a:r>
              <a:rPr lang="en-US" altLang="zh-CN" sz="2400" i="1" dirty="0" err="1"/>
              <a:t>p</a:t>
            </a:r>
            <a:r>
              <a:rPr lang="en-US" altLang="zh-CN" sz="2400" i="1" baseline="-30000" dirty="0" err="1"/>
              <a:t>n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r>
              <a:rPr lang="en-US" altLang="zh-CN" sz="1000" dirty="0"/>
              <a:t> </a:t>
            </a:r>
            <a:r>
              <a:rPr lang="zh-CN" altLang="en-US" sz="2400" dirty="0"/>
              <a:t>－</a:t>
            </a:r>
            <a:r>
              <a:rPr lang="en-US" altLang="zh-CN" sz="1000" dirty="0"/>
              <a:t> </a:t>
            </a:r>
            <a:r>
              <a:rPr lang="en-US" altLang="zh-CN" sz="2400" i="1" dirty="0" err="1"/>
              <a:t>Q</a:t>
            </a:r>
            <a:r>
              <a:rPr lang="en-US" altLang="zh-CN" sz="2400" i="1" baseline="-30000" dirty="0" err="1"/>
              <a:t>n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为次数不超过 </a:t>
            </a:r>
            <a:r>
              <a:rPr lang="en-US" altLang="zh-CN" sz="2400" i="1" dirty="0"/>
              <a:t>n </a:t>
            </a:r>
            <a:r>
              <a:rPr lang="zh-CN" altLang="en-US" sz="2400" dirty="0"/>
              <a:t>的多项式</a:t>
            </a:r>
            <a:r>
              <a:rPr lang="en-US" altLang="zh-CN" sz="2400" dirty="0"/>
              <a:t>, </a:t>
            </a:r>
            <a:r>
              <a:rPr lang="zh-CN" altLang="en-US" sz="2400" dirty="0"/>
              <a:t>不恒等于零</a:t>
            </a:r>
            <a:r>
              <a:rPr lang="en-US" altLang="zh-CN" sz="2400" dirty="0"/>
              <a:t>, </a:t>
            </a:r>
            <a:r>
              <a:rPr lang="zh-CN" altLang="en-US" sz="2400" dirty="0"/>
              <a:t>且至少存在</a:t>
            </a:r>
            <a:r>
              <a:rPr lang="en-US" altLang="zh-CN" sz="2400" dirty="0"/>
              <a:t>n</a:t>
            </a:r>
            <a:r>
              <a:rPr lang="zh-CN" altLang="en-US" sz="2400" dirty="0"/>
              <a:t>个零点，即</a:t>
            </a:r>
            <a:r>
              <a:rPr lang="zh-CN" altLang="en-US" sz="2400" b="1" dirty="0">
                <a:solidFill>
                  <a:srgbClr val="7030A0"/>
                </a:solidFill>
              </a:rPr>
              <a:t>至少有</a:t>
            </a:r>
            <a:r>
              <a:rPr lang="en-US" altLang="zh-CN" sz="2400" b="1" i="1" dirty="0">
                <a:solidFill>
                  <a:srgbClr val="7030A0"/>
                </a:solidFill>
              </a:rPr>
              <a:t>n</a:t>
            </a:r>
            <a:r>
              <a:rPr lang="en-US" altLang="zh-CN" sz="2400" b="1" dirty="0">
                <a:solidFill>
                  <a:srgbClr val="7030A0"/>
                </a:solidFill>
              </a:rPr>
              <a:t>+1</a:t>
            </a:r>
            <a:r>
              <a:rPr lang="zh-CN" altLang="en-US" sz="2400" b="1" dirty="0">
                <a:solidFill>
                  <a:srgbClr val="7030A0"/>
                </a:solidFill>
              </a:rPr>
              <a:t>个不同的根 </a:t>
            </a:r>
            <a:r>
              <a:rPr lang="en-US" altLang="zh-CN" sz="2400" i="1" dirty="0"/>
              <a:t>x</a:t>
            </a:r>
            <a:r>
              <a:rPr lang="en-US" altLang="zh-CN" sz="2400" i="1" baseline="-30000" dirty="0"/>
              <a:t>i</a:t>
            </a:r>
            <a:r>
              <a:rPr lang="en-US" altLang="zh-CN" sz="2400" dirty="0"/>
              <a:t> 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=0, 1, …, </a:t>
            </a:r>
            <a:r>
              <a:rPr lang="en-US" altLang="zh-CN" sz="2400" i="1" dirty="0"/>
              <a:t>n</a:t>
            </a:r>
            <a:r>
              <a:rPr lang="en-US" altLang="zh-CN" sz="2400" dirty="0"/>
              <a:t>) </a:t>
            </a:r>
            <a:r>
              <a:rPr lang="zh-CN" altLang="en-US" sz="2400" dirty="0"/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D7EAA8-41AD-4E16-AAD3-233551BF3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094" y="5060740"/>
            <a:ext cx="76438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这与“次数不超过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的多项式最多有</a:t>
            </a:r>
            <a:r>
              <a:rPr lang="en-US" altLang="zh-CN" sz="2400" i="1" dirty="0"/>
              <a:t>n</a:t>
            </a:r>
            <a:r>
              <a:rPr lang="zh-CN" altLang="en-US" sz="2400" dirty="0"/>
              <a:t>个根”相矛盾！</a:t>
            </a:r>
          </a:p>
        </p:txBody>
      </p:sp>
    </p:spTree>
    <p:extLst>
      <p:ext uri="{BB962C8B-B14F-4D97-AF65-F5344CB8AC3E}">
        <p14:creationId xmlns:p14="http://schemas.microsoft.com/office/powerpoint/2010/main" val="270837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719138" y="549275"/>
            <a:ext cx="5686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§4.1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拉格朗日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Lagrange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7171" name="Rectangle 5"/>
          <p:cNvSpPr txBox="1">
            <a:spLocks noChangeArrowheads="1"/>
          </p:cNvSpPr>
          <p:nvPr/>
        </p:nvSpPr>
        <p:spPr bwMode="auto">
          <a:xfrm>
            <a:off x="334665" y="1193775"/>
            <a:ext cx="6192887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FontTx/>
              <a:buNone/>
            </a:pPr>
            <a:r>
              <a:rPr lang="zh-CN" altLang="en-US" sz="2800" dirty="0"/>
              <a:t>    </a:t>
            </a:r>
            <a:r>
              <a:rPr lang="zh-CN" altLang="en-US" sz="2800" dirty="0">
                <a:solidFill>
                  <a:srgbClr val="FF0000"/>
                </a:solidFill>
              </a:rPr>
              <a:t>基本思想</a:t>
            </a:r>
            <a:r>
              <a:rPr lang="en-US" altLang="zh-CN" sz="2800" dirty="0"/>
              <a:t>: </a:t>
            </a:r>
            <a:r>
              <a:rPr lang="zh-CN" altLang="en-US" sz="2800" dirty="0">
                <a:latin typeface="宋体" panose="02010600030101010101" pitchFamily="2" charset="-122"/>
              </a:rPr>
              <a:t>把</a:t>
            </a:r>
            <a:r>
              <a:rPr lang="zh-CN" altLang="en-US" sz="2800" dirty="0"/>
              <a:t>插值函数 </a:t>
            </a:r>
            <a:r>
              <a:rPr lang="en-US" altLang="zh-CN" sz="2800" i="1" dirty="0" err="1"/>
              <a:t>p</a:t>
            </a:r>
            <a:r>
              <a:rPr lang="en-US" altLang="zh-CN" sz="2800" i="1" baseline="-25000" dirty="0" err="1"/>
              <a:t>n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 </a:t>
            </a:r>
            <a:r>
              <a:rPr lang="zh-CN" altLang="en-US" sz="2800" dirty="0"/>
              <a:t>的构造问题转化为 </a:t>
            </a:r>
            <a:r>
              <a:rPr lang="en-US" altLang="zh-CN" sz="2800" i="1" dirty="0"/>
              <a:t>n</a:t>
            </a:r>
            <a:r>
              <a:rPr lang="en-US" altLang="zh-CN" sz="2800" dirty="0"/>
              <a:t>+1</a:t>
            </a:r>
            <a:r>
              <a:rPr lang="zh-CN" altLang="en-US" sz="2800" dirty="0"/>
              <a:t>个插值基函数</a:t>
            </a:r>
            <a:r>
              <a:rPr lang="zh-CN" altLang="en-US" sz="2800" baseline="30000" dirty="0"/>
              <a:t> </a:t>
            </a:r>
            <a:r>
              <a:rPr lang="en-US" altLang="zh-CN" sz="2800" i="1" dirty="0"/>
              <a:t>l</a:t>
            </a:r>
            <a:r>
              <a:rPr lang="en-US" altLang="zh-CN" sz="2800" i="1" baseline="-25000" dirty="0"/>
              <a:t>i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)(</a:t>
            </a:r>
            <a:r>
              <a:rPr lang="en-US" altLang="zh-CN" sz="2800" i="1" dirty="0" err="1"/>
              <a:t>i</a:t>
            </a:r>
            <a:r>
              <a:rPr lang="en-US" altLang="zh-CN" sz="2800" dirty="0"/>
              <a:t>=0,1,…,</a:t>
            </a:r>
            <a:r>
              <a:rPr lang="en-US" altLang="zh-CN" sz="2800" i="1" dirty="0"/>
              <a:t>n</a:t>
            </a:r>
            <a:r>
              <a:rPr lang="en-US" altLang="zh-CN" sz="2800" dirty="0"/>
              <a:t>)</a:t>
            </a:r>
            <a:r>
              <a:rPr lang="zh-CN" altLang="en-US" sz="2800" dirty="0"/>
              <a:t>的构造。</a:t>
            </a:r>
            <a:r>
              <a:rPr lang="zh-CN" altLang="en-US" sz="3600" dirty="0"/>
              <a:t> 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8329762" y="3756805"/>
            <a:ext cx="2667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FF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图</a:t>
            </a:r>
            <a:r>
              <a:rPr lang="en-US" altLang="zh-CN" sz="2000" b="1" dirty="0"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－</a:t>
            </a:r>
            <a:r>
              <a:rPr lang="zh-CN" altLang="en-US" sz="2000" b="1" dirty="0">
                <a:cs typeface="Times New Roman" panose="02020603050405020304" pitchFamily="18" charset="0"/>
              </a:rPr>
              <a:t>1  </a:t>
            </a:r>
            <a:r>
              <a:rPr lang="zh-CN" altLang="en-US" sz="2000" b="1" dirty="0">
                <a:latin typeface="宋体" panose="02010600030101010101" pitchFamily="2" charset="-122"/>
              </a:rPr>
              <a:t>插值多项式</a:t>
            </a:r>
            <a:r>
              <a:rPr lang="zh-CN" altLang="en-US" sz="2000" b="1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173" name="Picture 5" descr="C:\丁伦制作的电子教案\09373 数值计算方法\SZ11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743" y="278337"/>
            <a:ext cx="5237162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74" name="Object 1"/>
              <p:cNvSpPr txBox="1"/>
              <p:nvPr/>
            </p:nvSpPr>
            <p:spPr bwMode="auto">
              <a:xfrm>
                <a:off x="238904" y="3324716"/>
                <a:ext cx="7107267" cy="28352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>
                  <a:lnSpc>
                    <a:spcPts val="81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∏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74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904" y="3324716"/>
                <a:ext cx="7107267" cy="2835275"/>
              </a:xfrm>
              <a:prstGeom prst="rect">
                <a:avLst/>
              </a:prstGeom>
              <a:blipFill>
                <a:blip r:embed="rId3"/>
                <a:stretch>
                  <a:fillRect b="-20215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21845" y="3182063"/>
                <a:ext cx="4235134" cy="449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=0,1,2…,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45" y="3182063"/>
                <a:ext cx="4235134" cy="4498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爆炸形 1 3"/>
          <p:cNvSpPr/>
          <p:nvPr/>
        </p:nvSpPr>
        <p:spPr bwMode="auto">
          <a:xfrm>
            <a:off x="5758408" y="2554682"/>
            <a:ext cx="1587763" cy="1298818"/>
          </a:xfrm>
          <a:prstGeom prst="irregularSeal1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latin typeface="+mn-ea"/>
                <a:ea typeface="+mn-ea"/>
              </a:rPr>
              <a:t>n</a:t>
            </a:r>
            <a:r>
              <a:rPr lang="zh-CN" altLang="en-US" sz="1600" dirty="0">
                <a:latin typeface="+mn-ea"/>
                <a:ea typeface="+mn-ea"/>
              </a:rPr>
              <a:t>次多项式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74C1E4F-A2A4-4456-8F2E-63D5CE58960B}"/>
                  </a:ext>
                </a:extLst>
              </p:cNvPr>
              <p:cNvSpPr txBox="1"/>
              <p:nvPr/>
            </p:nvSpPr>
            <p:spPr>
              <a:xfrm>
                <a:off x="4439816" y="5631571"/>
                <a:ext cx="7174785" cy="79124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74C1E4F-A2A4-4456-8F2E-63D5CE589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816" y="5631571"/>
                <a:ext cx="7174785" cy="7912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95A36976-2C21-4473-AC00-C64D5D057837}"/>
              </a:ext>
            </a:extLst>
          </p:cNvPr>
          <p:cNvGrpSpPr/>
          <p:nvPr/>
        </p:nvGrpSpPr>
        <p:grpSpPr>
          <a:xfrm>
            <a:off x="4084827" y="4322920"/>
            <a:ext cx="5395558" cy="1271438"/>
            <a:chOff x="4084827" y="4322920"/>
            <a:chExt cx="5395558" cy="1271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/>
                <p:cNvSpPr/>
                <p:nvPr/>
              </p:nvSpPr>
              <p:spPr>
                <a:xfrm>
                  <a:off x="4084827" y="4716831"/>
                  <a:ext cx="2656368" cy="461665"/>
                </a:xfrm>
                <a:prstGeom prst="rect">
                  <a:avLst/>
                </a:prstGeom>
                <a:solidFill>
                  <a:srgbClr val="92D050"/>
                </a:solidFill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为</m:t>
                      </m:r>
                    </m:oMath>
                  </a14:m>
                  <a:r>
                    <a:rPr lang="zh-CN" altLang="en-US" dirty="0"/>
                    <a:t>插值基函数</a:t>
                  </a:r>
                </a:p>
              </p:txBody>
            </p:sp>
          </mc:Choice>
          <mc:Fallback xmlns=""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4827" y="4716831"/>
                  <a:ext cx="2656368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688" t="-14667" r="-2752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8ABDD44B-DE48-4EB1-8834-DBF377F7C355}"/>
                    </a:ext>
                  </a:extLst>
                </p:cNvPr>
                <p:cNvSpPr/>
                <p:nvPr/>
              </p:nvSpPr>
              <p:spPr>
                <a:xfrm>
                  <a:off x="6995602" y="4322920"/>
                  <a:ext cx="2484783" cy="12714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=1,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8ABDD44B-DE48-4EB1-8834-DBF377F7C3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5602" y="4322920"/>
                  <a:ext cx="2484783" cy="127143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uiExpand="1" build="p"/>
      <p:bldP spid="4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495600" y="836712"/>
                <a:ext cx="6707605" cy="27959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当</a:t>
                </a:r>
                <a:r>
                  <a:rPr lang="en-US" altLang="zh-CN" dirty="0"/>
                  <a:t>x=x</a:t>
                </a:r>
                <a:r>
                  <a:rPr lang="en-US" altLang="zh-CN" baseline="-25000" dirty="0"/>
                  <a:t>0</a:t>
                </a:r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=…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当</a:t>
                </a:r>
                <a:r>
                  <a:rPr lang="en-US" altLang="zh-CN" dirty="0"/>
                  <a:t>x=x</a:t>
                </a:r>
                <a:r>
                  <a:rPr lang="en-US" altLang="zh-CN" baseline="-25000" dirty="0"/>
                  <a:t>1</a:t>
                </a:r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=1,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=…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……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当</a:t>
                </a:r>
                <a:r>
                  <a:rPr lang="en-US" altLang="zh-CN" dirty="0"/>
                  <a:t>x=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n</a:t>
                </a:r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=1,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836712"/>
                <a:ext cx="6707605" cy="2795958"/>
              </a:xfrm>
              <a:prstGeom prst="rect">
                <a:avLst/>
              </a:prstGeom>
              <a:blipFill>
                <a:blip r:embed="rId2"/>
                <a:stretch>
                  <a:fillRect l="-1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639616" y="3573016"/>
                <a:ext cx="3015826" cy="425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含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3573016"/>
                <a:ext cx="3015826" cy="4255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67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35188" y="3860800"/>
            <a:ext cx="3097212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几何意义</a:t>
            </a:r>
            <a:r>
              <a:rPr lang="zh-CN" altLang="en-US" sz="2400" dirty="0"/>
              <a:t>：通过两点</a:t>
            </a:r>
            <a:r>
              <a:rPr lang="en-US" altLang="zh-CN" sz="2400" i="1" dirty="0"/>
              <a:t>A</a:t>
            </a:r>
            <a:r>
              <a:rPr lang="en-US" altLang="zh-CN" sz="800" i="1" dirty="0"/>
              <a:t>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,</a:t>
            </a:r>
            <a:r>
              <a:rPr lang="en-US" altLang="zh-CN" sz="800" dirty="0"/>
              <a:t> </a:t>
            </a:r>
            <a:r>
              <a:rPr lang="en-US" altLang="zh-CN" sz="2400" i="1" dirty="0"/>
              <a:t>y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), </a:t>
            </a:r>
            <a:r>
              <a:rPr lang="en-US" altLang="zh-CN" sz="2400" i="1" dirty="0"/>
              <a:t>B</a:t>
            </a:r>
            <a:r>
              <a:rPr lang="en-US" altLang="zh-CN" sz="800" i="1" dirty="0"/>
              <a:t>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</a:t>
            </a:r>
            <a:r>
              <a:rPr lang="en-US" altLang="zh-CN" sz="800" dirty="0"/>
              <a:t> </a:t>
            </a:r>
            <a:r>
              <a:rPr lang="en-US" altLang="zh-CN" sz="2400" i="1" dirty="0"/>
              <a:t>y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</a:t>
            </a:r>
            <a:r>
              <a:rPr lang="zh-CN" altLang="en-US" sz="2400" dirty="0"/>
              <a:t>的一条直线。如图</a:t>
            </a:r>
            <a:r>
              <a:rPr lang="en-US" altLang="zh-CN" sz="2400" dirty="0"/>
              <a:t>4</a:t>
            </a:r>
            <a:r>
              <a:rPr lang="zh-CN" altLang="en-US" sz="2400" dirty="0"/>
              <a:t>－2所示。 </a:t>
            </a:r>
          </a:p>
        </p:txBody>
      </p:sp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5829300" y="1981200"/>
            <a:ext cx="4695825" cy="4152900"/>
            <a:chOff x="4124325" y="1981200"/>
            <a:chExt cx="4695825" cy="4152900"/>
          </a:xfrm>
        </p:grpSpPr>
        <p:pic>
          <p:nvPicPr>
            <p:cNvPr id="8198" name="Picture 2" descr="C:\丁伦制作的电子教案\09373 数值计算方法\SZ12.TI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4325" y="1981200"/>
              <a:ext cx="4695825" cy="360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9" name="Text Box 3"/>
            <p:cNvSpPr txBox="1">
              <a:spLocks noChangeArrowheads="1"/>
            </p:cNvSpPr>
            <p:nvPr/>
          </p:nvSpPr>
          <p:spPr bwMode="auto">
            <a:xfrm>
              <a:off x="5076825" y="5732463"/>
              <a:ext cx="3043238" cy="401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 dirty="0">
                  <a:latin typeface="宋体" panose="02010600030101010101" pitchFamily="2" charset="-122"/>
                </a:rPr>
                <a:t>图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4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－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2  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一次插值多项式</a:t>
              </a:r>
              <a:r>
                <a:rPr lang="zh-CN" altLang="en-US" sz="2000" dirty="0">
                  <a:latin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F122B3A-D696-4797-932C-2B57BE8F83F9}"/>
              </a:ext>
            </a:extLst>
          </p:cNvPr>
          <p:cNvSpPr/>
          <p:nvPr/>
        </p:nvSpPr>
        <p:spPr>
          <a:xfrm>
            <a:off x="2135188" y="549275"/>
            <a:ext cx="37497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b="1" kern="0" dirty="0">
                <a:solidFill>
                  <a:srgbClr val="7030A0"/>
                </a:solidFill>
                <a:latin typeface="Times New Roman"/>
                <a:ea typeface="宋体"/>
              </a:rPr>
              <a:t>1. </a:t>
            </a:r>
            <a:r>
              <a:rPr lang="en-US" altLang="zh-CN" b="1" i="1" kern="0" dirty="0">
                <a:solidFill>
                  <a:srgbClr val="7030A0"/>
                </a:solidFill>
                <a:latin typeface="Times New Roman"/>
                <a:ea typeface="宋体"/>
              </a:rPr>
              <a:t>n</a:t>
            </a:r>
            <a:r>
              <a:rPr lang="en-US" altLang="zh-CN" b="1" kern="0" dirty="0">
                <a:solidFill>
                  <a:srgbClr val="7030A0"/>
                </a:solidFill>
                <a:latin typeface="Times New Roman"/>
                <a:ea typeface="宋体"/>
              </a:rPr>
              <a:t>=1</a:t>
            </a:r>
            <a:r>
              <a:rPr lang="zh-CN" altLang="en-US" b="1" kern="0" dirty="0">
                <a:solidFill>
                  <a:srgbClr val="7030A0"/>
                </a:solidFill>
                <a:latin typeface="Times New Roman"/>
                <a:ea typeface="宋体"/>
              </a:rPr>
              <a:t>的情况</a:t>
            </a:r>
            <a:r>
              <a:rPr lang="en-US" altLang="zh-CN" b="1" kern="0" dirty="0">
                <a:solidFill>
                  <a:srgbClr val="7030A0"/>
                </a:solidFill>
                <a:latin typeface="Times New Roman"/>
                <a:ea typeface="宋体"/>
              </a:rPr>
              <a:t>(</a:t>
            </a:r>
            <a:r>
              <a:rPr lang="zh-CN" altLang="en-US" b="1" kern="0" dirty="0">
                <a:solidFill>
                  <a:srgbClr val="7030A0"/>
                </a:solidFill>
                <a:latin typeface="Times New Roman"/>
                <a:ea typeface="宋体"/>
              </a:rPr>
              <a:t>两个插值点</a:t>
            </a:r>
            <a:r>
              <a:rPr lang="en-US" altLang="zh-CN" b="1" kern="0" dirty="0">
                <a:solidFill>
                  <a:srgbClr val="7030A0"/>
                </a:solidFill>
                <a:latin typeface="Times New Roman"/>
                <a:ea typeface="宋体"/>
              </a:rPr>
              <a:t>)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35188" y="1268413"/>
            <a:ext cx="34607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b="1"/>
              <a:t>已知</a:t>
            </a:r>
            <a:r>
              <a:rPr lang="zh-CN" altLang="en-US" sz="2400"/>
              <a:t>：函数</a:t>
            </a:r>
            <a:r>
              <a:rPr lang="zh-CN" altLang="en-US" sz="2400" baseline="30000"/>
              <a:t> </a:t>
            </a:r>
            <a:r>
              <a:rPr lang="en-US" altLang="zh-CN" sz="2400" i="1"/>
              <a:t>y</a:t>
            </a:r>
            <a:r>
              <a:rPr lang="en-US" altLang="zh-CN" sz="2400"/>
              <a:t>=</a:t>
            </a:r>
            <a:r>
              <a:rPr lang="en-US" altLang="zh-CN" sz="2400" i="1"/>
              <a:t>f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 </a:t>
            </a:r>
            <a:r>
              <a:rPr lang="zh-CN" altLang="en-US" sz="2400"/>
              <a:t>在点</a:t>
            </a:r>
            <a:r>
              <a:rPr lang="zh-CN" altLang="en-US" sz="2400" baseline="30000"/>
              <a:t> </a:t>
            </a:r>
            <a:r>
              <a:rPr lang="en-US" altLang="zh-CN" sz="2400" i="1"/>
              <a:t>x</a:t>
            </a:r>
            <a:r>
              <a:rPr lang="en-US" altLang="zh-CN" sz="2400" baseline="-25000"/>
              <a:t>0</a:t>
            </a:r>
            <a:r>
              <a:rPr lang="en-US" altLang="zh-CN" sz="2400"/>
              <a:t>,</a:t>
            </a:r>
            <a:r>
              <a:rPr lang="en-US" altLang="zh-CN" sz="2400" baseline="30000"/>
              <a:t> </a:t>
            </a:r>
            <a:r>
              <a:rPr lang="en-US" altLang="zh-CN" sz="2400" i="1"/>
              <a:t>x</a:t>
            </a:r>
            <a:r>
              <a:rPr lang="en-US" altLang="zh-CN" sz="2400" baseline="-25000"/>
              <a:t>1</a:t>
            </a:r>
            <a:r>
              <a:rPr lang="zh-CN" altLang="en-US" sz="2400"/>
              <a:t>上的值为 </a:t>
            </a:r>
            <a:r>
              <a:rPr lang="en-US" altLang="zh-CN" sz="2400" i="1"/>
              <a:t>y</a:t>
            </a:r>
            <a:r>
              <a:rPr lang="en-US" altLang="zh-CN" sz="2400" baseline="-25000"/>
              <a:t>0</a:t>
            </a:r>
            <a:r>
              <a:rPr lang="en-US" altLang="zh-CN" sz="2400"/>
              <a:t>, </a:t>
            </a:r>
            <a:r>
              <a:rPr lang="en-US" altLang="zh-CN" sz="2400" i="1"/>
              <a:t>y</a:t>
            </a:r>
            <a:r>
              <a:rPr lang="en-US" altLang="zh-CN" sz="2400" baseline="-25000"/>
              <a:t>1</a:t>
            </a:r>
            <a:r>
              <a:rPr lang="zh-CN" altLang="en-US" sz="2400" baseline="-25000"/>
              <a:t>。</a:t>
            </a:r>
            <a:endParaRPr lang="en-US" altLang="zh-CN" sz="2400" baseline="-25000"/>
          </a:p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b="1"/>
              <a:t>要求：</a:t>
            </a:r>
            <a:r>
              <a:rPr lang="zh-CN" altLang="en-US" sz="2400"/>
              <a:t>多项式</a:t>
            </a:r>
            <a:r>
              <a:rPr lang="en-US" altLang="zh-CN" sz="2400" i="1"/>
              <a:t>y</a:t>
            </a:r>
            <a:r>
              <a:rPr lang="en-US" altLang="zh-CN" sz="800"/>
              <a:t> </a:t>
            </a:r>
            <a:r>
              <a:rPr lang="en-US" altLang="zh-CN" sz="2400"/>
              <a:t>=</a:t>
            </a:r>
            <a:r>
              <a:rPr lang="en-US" altLang="zh-CN" sz="2400" i="1"/>
              <a:t>p</a:t>
            </a:r>
            <a:r>
              <a:rPr lang="en-US" altLang="zh-CN" sz="2400" baseline="-25000"/>
              <a:t>1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)，</a:t>
            </a:r>
            <a:r>
              <a:rPr lang="zh-CN" altLang="en-US" sz="2400"/>
              <a:t>使 </a:t>
            </a:r>
            <a:r>
              <a:rPr lang="en-US" altLang="zh-CN" sz="2400" i="1"/>
              <a:t>p</a:t>
            </a:r>
            <a:r>
              <a:rPr lang="en-US" altLang="zh-CN" sz="2400" baseline="-25000"/>
              <a:t>1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 baseline="-25000"/>
              <a:t>0</a:t>
            </a:r>
            <a:r>
              <a:rPr lang="en-US" altLang="zh-CN" sz="2400"/>
              <a:t>)</a:t>
            </a:r>
            <a:r>
              <a:rPr lang="en-US" altLang="zh-CN" sz="1000"/>
              <a:t> </a:t>
            </a:r>
            <a:r>
              <a:rPr lang="en-US" altLang="zh-CN" sz="2400"/>
              <a:t>=</a:t>
            </a:r>
            <a:r>
              <a:rPr lang="en-US" altLang="zh-CN" sz="1200"/>
              <a:t> </a:t>
            </a:r>
            <a:r>
              <a:rPr lang="en-US" altLang="zh-CN" sz="2400" i="1"/>
              <a:t>y</a:t>
            </a:r>
            <a:r>
              <a:rPr lang="en-US" altLang="zh-CN" sz="2400" baseline="-25000"/>
              <a:t>0</a:t>
            </a:r>
            <a:r>
              <a:rPr lang="en-US" altLang="zh-CN" sz="2400"/>
              <a:t>, </a:t>
            </a:r>
            <a:r>
              <a:rPr lang="en-US" altLang="zh-CN" sz="2400" i="1"/>
              <a:t>p</a:t>
            </a:r>
            <a:r>
              <a:rPr lang="en-US" altLang="zh-CN" sz="2400" baseline="-25000"/>
              <a:t>1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 baseline="-25000"/>
              <a:t>1</a:t>
            </a:r>
            <a:r>
              <a:rPr lang="en-US" altLang="zh-CN" sz="2400"/>
              <a:t>)</a:t>
            </a:r>
            <a:r>
              <a:rPr lang="en-US" altLang="zh-CN" sz="900"/>
              <a:t> </a:t>
            </a:r>
            <a:r>
              <a:rPr lang="en-US" altLang="zh-CN" sz="2400"/>
              <a:t>= </a:t>
            </a:r>
            <a:r>
              <a:rPr lang="en-US" altLang="zh-CN" sz="2400" i="1"/>
              <a:t>y</a:t>
            </a:r>
            <a:r>
              <a:rPr lang="en-US" altLang="zh-CN" sz="2400" baseline="-25000"/>
              <a:t>1</a:t>
            </a:r>
            <a:r>
              <a:rPr lang="en-US" altLang="zh-CN" sz="2400"/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7"/>
          <p:cNvGrpSpPr>
            <a:grpSpLocks/>
          </p:cNvGrpSpPr>
          <p:nvPr/>
        </p:nvGrpSpPr>
        <p:grpSpPr bwMode="auto">
          <a:xfrm>
            <a:off x="1919536" y="535046"/>
            <a:ext cx="7237164" cy="1662054"/>
            <a:chOff x="396217" y="534448"/>
            <a:chExt cx="7236483" cy="1662429"/>
          </a:xfrm>
        </p:grpSpPr>
        <p:sp>
          <p:nvSpPr>
            <p:cNvPr id="9226" name="Text Box 6"/>
            <p:cNvSpPr txBox="1">
              <a:spLocks noChangeArrowheads="1"/>
            </p:cNvSpPr>
            <p:nvPr/>
          </p:nvSpPr>
          <p:spPr bwMode="auto">
            <a:xfrm>
              <a:off x="6858000" y="1433513"/>
              <a:ext cx="7747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(</a:t>
              </a:r>
              <a:r>
                <a:rPr lang="en-US" altLang="zh-CN" sz="2400" dirty="0"/>
                <a:t>4</a:t>
              </a:r>
              <a:r>
                <a:rPr lang="zh-CN" altLang="en-US" sz="2400" dirty="0"/>
                <a:t>.1)</a:t>
              </a:r>
            </a:p>
          </p:txBody>
        </p:sp>
        <p:graphicFrame>
          <p:nvGraphicFramePr>
            <p:cNvPr id="922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8336837"/>
                </p:ext>
              </p:extLst>
            </p:nvPr>
          </p:nvGraphicFramePr>
          <p:xfrm>
            <a:off x="1454731" y="1196526"/>
            <a:ext cx="4579507" cy="1000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5" name="Equation" r:id="rId4" imgW="34451925" imgH="7458075" progId="Equation.DSMT4">
                    <p:embed/>
                  </p:oleObj>
                </mc:Choice>
                <mc:Fallback>
                  <p:oleObj name="Equation" r:id="rId4" imgW="34451925" imgH="745807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4731" y="1196526"/>
                          <a:ext cx="4579507" cy="1000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8" name="矩形 6"/>
            <p:cNvSpPr>
              <a:spLocks noChangeArrowheads="1"/>
            </p:cNvSpPr>
            <p:nvPr/>
          </p:nvSpPr>
          <p:spPr bwMode="auto">
            <a:xfrm>
              <a:off x="396217" y="534448"/>
              <a:ext cx="6408134" cy="646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buFontTx/>
                <a:buNone/>
              </a:pPr>
              <a:r>
                <a:rPr lang="zh-CN" altLang="en-US" sz="2400" dirty="0"/>
                <a:t>由直线两点式可知，通过</a:t>
              </a:r>
              <a:r>
                <a:rPr lang="zh-CN" altLang="en-US" sz="800" dirty="0"/>
                <a:t> </a:t>
              </a:r>
              <a:r>
                <a:rPr lang="en-US" altLang="zh-CN" sz="2400" i="1" dirty="0"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/>
                <a:t>，</a:t>
              </a:r>
              <a:r>
                <a:rPr lang="en-US" altLang="zh-CN" sz="2400" i="1" dirty="0">
                  <a:cs typeface="Times New Roman" panose="02020603050405020304" pitchFamily="18" charset="0"/>
                </a:rPr>
                <a:t>B </a:t>
              </a:r>
              <a:r>
                <a:rPr lang="zh-CN" altLang="en-US" sz="2400" dirty="0"/>
                <a:t>的直线方程为 </a:t>
              </a:r>
            </a:p>
          </p:txBody>
        </p:sp>
      </p:grpSp>
      <p:grpSp>
        <p:nvGrpSpPr>
          <p:cNvPr id="4" name="组合 11"/>
          <p:cNvGrpSpPr>
            <a:grpSpLocks/>
          </p:cNvGrpSpPr>
          <p:nvPr/>
        </p:nvGrpSpPr>
        <p:grpSpPr bwMode="auto">
          <a:xfrm>
            <a:off x="1559496" y="3040045"/>
            <a:ext cx="10632504" cy="2863850"/>
            <a:chOff x="35496" y="3040045"/>
            <a:chExt cx="10632504" cy="2863850"/>
          </a:xfrm>
        </p:grpSpPr>
        <p:sp>
          <p:nvSpPr>
            <p:cNvPr id="9222" name="Rectangle 3"/>
            <p:cNvSpPr txBox="1">
              <a:spLocks noChangeArrowheads="1"/>
            </p:cNvSpPr>
            <p:nvPr/>
          </p:nvSpPr>
          <p:spPr bwMode="auto">
            <a:xfrm>
              <a:off x="35496" y="4076700"/>
              <a:ext cx="6408738" cy="158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buFontTx/>
                <a:buNone/>
              </a:pPr>
              <a:r>
                <a:rPr lang="zh-CN" altLang="en-US" sz="2400" dirty="0"/>
                <a:t>显然有：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cs typeface="Times New Roman" panose="02020603050405020304" pitchFamily="18" charset="0"/>
                </a:rPr>
                <a:t>)=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cs typeface="Times New Roman" panose="02020603050405020304" pitchFamily="18" charset="0"/>
                </a:rPr>
                <a:t>)=1</a:t>
              </a:r>
              <a:r>
                <a:rPr lang="en-US" altLang="zh-CN" sz="2800" dirty="0"/>
                <a:t>，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cs typeface="Times New Roman" panose="02020603050405020304" pitchFamily="18" charset="0"/>
                </a:rPr>
                <a:t>)=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cs typeface="Times New Roman" panose="02020603050405020304" pitchFamily="18" charset="0"/>
                </a:rPr>
                <a:t>)=0</a:t>
              </a:r>
              <a:r>
                <a:rPr lang="en-US" altLang="zh-CN" sz="2800" dirty="0"/>
                <a:t>，</a:t>
              </a:r>
            </a:p>
            <a:p>
              <a:pPr>
                <a:lnSpc>
                  <a:spcPct val="150000"/>
                </a:lnSpc>
                <a:buFontTx/>
                <a:buNone/>
              </a:pPr>
              <a:r>
                <a:rPr lang="en-US" altLang="zh-CN" sz="2800" i="1" dirty="0">
                  <a:cs typeface="Times New Roman" panose="02020603050405020304" pitchFamily="18" charset="0"/>
                </a:rPr>
                <a:t>              p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cs typeface="Times New Roman" panose="02020603050405020304" pitchFamily="18" charset="0"/>
                </a:rPr>
                <a:t>)=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/>
                <a:t>，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cs typeface="Times New Roman" panose="02020603050405020304" pitchFamily="18" charset="0"/>
                </a:rPr>
                <a:t>)=</a:t>
              </a:r>
              <a:r>
                <a:rPr lang="en-US" altLang="zh-CN" sz="2800" i="1" dirty="0"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30000" dirty="0">
                  <a:cs typeface="Times New Roman" panose="02020603050405020304" pitchFamily="18" charset="0"/>
                </a:rPr>
                <a:t>1</a:t>
              </a:r>
              <a:endParaRPr lang="zh-CN" altLang="en-US" sz="2800" dirty="0"/>
            </a:p>
          </p:txBody>
        </p:sp>
        <p:pic>
          <p:nvPicPr>
            <p:cNvPr id="9223" name="Picture 1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4279" y="3040045"/>
              <a:ext cx="4563721" cy="286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文本框 5"/>
          <p:cNvSpPr txBox="1"/>
          <p:nvPr/>
        </p:nvSpPr>
        <p:spPr>
          <a:xfrm>
            <a:off x="6384131" y="1418507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=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FA7FB-5495-4DAA-BC50-192A58A658E8}"/>
              </a:ext>
            </a:extLst>
          </p:cNvPr>
          <p:cNvGrpSpPr/>
          <p:nvPr/>
        </p:nvGrpSpPr>
        <p:grpSpPr>
          <a:xfrm>
            <a:off x="1415480" y="2282655"/>
            <a:ext cx="7902574" cy="1738483"/>
            <a:chOff x="1415480" y="2282655"/>
            <a:chExt cx="7902574" cy="1738483"/>
          </a:xfrm>
        </p:grpSpPr>
        <p:grpSp>
          <p:nvGrpSpPr>
            <p:cNvPr id="3" name="组合 9"/>
            <p:cNvGrpSpPr>
              <a:grpSpLocks/>
            </p:cNvGrpSpPr>
            <p:nvPr/>
          </p:nvGrpSpPr>
          <p:grpSpPr bwMode="auto">
            <a:xfrm>
              <a:off x="1415480" y="2282655"/>
              <a:ext cx="7902574" cy="1738483"/>
              <a:chOff x="-395860" y="2137981"/>
              <a:chExt cx="7902076" cy="1739453"/>
            </a:xfrm>
          </p:grpSpPr>
          <p:graphicFrame>
            <p:nvGraphicFramePr>
              <p:cNvPr id="9224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85276766"/>
                  </p:ext>
                </p:extLst>
              </p:nvPr>
            </p:nvGraphicFramePr>
            <p:xfrm>
              <a:off x="1439744" y="2895812"/>
              <a:ext cx="4230421" cy="9816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66" name="Equation" r:id="rId7" imgW="32470725" imgH="7458075" progId="Equation.DSMT4">
                      <p:embed/>
                    </p:oleObj>
                  </mc:Choice>
                  <mc:Fallback>
                    <p:oleObj name="Equation" r:id="rId7" imgW="32470725" imgH="7458075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39744" y="2895812"/>
                            <a:ext cx="4230421" cy="9816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25" name="矩形 8"/>
              <p:cNvSpPr>
                <a:spLocks noChangeArrowheads="1"/>
              </p:cNvSpPr>
              <p:nvPr/>
            </p:nvSpPr>
            <p:spPr bwMode="auto">
              <a:xfrm>
                <a:off x="-395860" y="2137981"/>
                <a:ext cx="7902076" cy="5600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+mn-ea"/>
                    <a:ea typeface="+mn-ea"/>
                  </a:rPr>
                  <a:t>变形为                            </a:t>
                </a:r>
                <a:r>
                  <a:rPr lang="en-US" altLang="zh-CN" sz="2400" baseline="-300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+mn-ea"/>
                    <a:ea typeface="+mn-ea"/>
                  </a:rPr>
                  <a:t>其中</a:t>
                </a:r>
                <a:endParaRPr lang="zh-CN" altLang="en-US" sz="24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F76BCDD-9540-48DB-A946-56149CF400E6}"/>
                </a:ext>
              </a:extLst>
            </p:cNvPr>
            <p:cNvSpPr/>
            <p:nvPr/>
          </p:nvSpPr>
          <p:spPr>
            <a:xfrm>
              <a:off x="2783632" y="2341396"/>
              <a:ext cx="31518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 kern="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p</a:t>
              </a:r>
              <a:r>
                <a:rPr lang="en-US" altLang="zh-CN" kern="0" baseline="-3000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1</a:t>
              </a:r>
              <a:r>
                <a:rPr lang="en-US" altLang="zh-CN" kern="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(</a:t>
              </a:r>
              <a:r>
                <a:rPr lang="en-US" altLang="zh-CN" i="1" kern="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x</a:t>
              </a:r>
              <a:r>
                <a:rPr lang="en-US" altLang="zh-CN" kern="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) = </a:t>
              </a:r>
              <a:r>
                <a:rPr lang="en-US" altLang="zh-CN" i="1" kern="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l</a:t>
              </a:r>
              <a:r>
                <a:rPr lang="en-US" altLang="zh-CN" kern="0" baseline="-3000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0 </a:t>
              </a:r>
              <a:r>
                <a:rPr lang="en-US" altLang="zh-CN" kern="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(</a:t>
              </a:r>
              <a:r>
                <a:rPr lang="en-US" altLang="zh-CN" i="1" kern="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x</a:t>
              </a:r>
              <a:r>
                <a:rPr lang="en-US" altLang="zh-CN" kern="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)</a:t>
              </a:r>
              <a:r>
                <a:rPr lang="en-US" altLang="zh-CN" kern="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 </a:t>
              </a:r>
              <a:r>
                <a:rPr lang="en-US" altLang="zh-CN" i="1" kern="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y</a:t>
              </a:r>
              <a:r>
                <a:rPr lang="en-US" altLang="zh-CN" kern="0" baseline="-3000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0 </a:t>
              </a:r>
              <a:r>
                <a:rPr lang="en-US" altLang="zh-CN" kern="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+ </a:t>
              </a:r>
              <a:r>
                <a:rPr lang="en-US" altLang="zh-CN" i="1" kern="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l</a:t>
              </a:r>
              <a:r>
                <a:rPr lang="en-US" altLang="zh-CN" kern="0" baseline="-3000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1</a:t>
              </a:r>
              <a:r>
                <a:rPr lang="en-US" altLang="zh-CN" kern="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(</a:t>
              </a:r>
              <a:r>
                <a:rPr lang="en-US" altLang="zh-CN" i="1" kern="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x</a:t>
              </a:r>
              <a:r>
                <a:rPr lang="en-US" altLang="zh-CN" kern="0" dirty="0">
                  <a:solidFill>
                    <a:srgbClr val="0B07B9"/>
                  </a:solidFill>
                  <a:latin typeface="Times New Roman"/>
                  <a:ea typeface="宋体"/>
                  <a:cs typeface="Times New Roman" pitchFamily="18" charset="0"/>
                </a:rPr>
                <a:t>) </a:t>
              </a:r>
              <a:r>
                <a:rPr lang="en-US" altLang="zh-CN" i="1" kern="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y</a:t>
              </a:r>
              <a:r>
                <a:rPr lang="en-US" altLang="zh-CN" kern="0" baseline="-30000" dirty="0">
                  <a:solidFill>
                    <a:srgbClr val="000000"/>
                  </a:solidFill>
                  <a:latin typeface="Times New Roman"/>
                  <a:ea typeface="宋体"/>
                  <a:cs typeface="Times New Roman" pitchFamily="18" charset="0"/>
                </a:rPr>
                <a:t>1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66938" y="357188"/>
            <a:ext cx="80010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</a:rPr>
              <a:t> 2. </a:t>
            </a:r>
            <a:r>
              <a:rPr lang="en-US" altLang="zh-CN" sz="2400" i="1" dirty="0">
                <a:solidFill>
                  <a:srgbClr val="CC0000"/>
                </a:solidFill>
              </a:rPr>
              <a:t>n</a:t>
            </a:r>
            <a:r>
              <a:rPr lang="en-US" altLang="zh-CN" sz="2400" dirty="0">
                <a:solidFill>
                  <a:srgbClr val="CC0000"/>
                </a:solidFill>
              </a:rPr>
              <a:t>=2 </a:t>
            </a:r>
            <a:r>
              <a:rPr lang="zh-CN" altLang="en-US" sz="2400" dirty="0">
                <a:solidFill>
                  <a:srgbClr val="CC0000"/>
                </a:solidFill>
              </a:rPr>
              <a:t>的情况（</a:t>
            </a:r>
            <a:r>
              <a:rPr lang="en-US" altLang="zh-CN" sz="2400" dirty="0">
                <a:solidFill>
                  <a:srgbClr val="CC0000"/>
                </a:solidFill>
              </a:rPr>
              <a:t>3</a:t>
            </a:r>
            <a:r>
              <a:rPr lang="zh-CN" altLang="en-US" sz="2400" dirty="0">
                <a:solidFill>
                  <a:srgbClr val="CC0000"/>
                </a:solidFill>
              </a:rPr>
              <a:t>个插值点）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      取 </a:t>
            </a:r>
            <a:r>
              <a:rPr lang="en-US" altLang="zh-CN" sz="2400" i="1" dirty="0"/>
              <a:t>p</a:t>
            </a:r>
            <a:r>
              <a:rPr lang="en-US" altLang="zh-CN" sz="2400" baseline="-30000" dirty="0"/>
              <a:t>2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为 </a:t>
            </a:r>
            <a:r>
              <a:rPr lang="en-US" altLang="zh-CN" sz="2400" i="1" dirty="0"/>
              <a:t>x </a:t>
            </a:r>
            <a:r>
              <a:rPr lang="zh-CN" altLang="en-US" sz="2400" dirty="0"/>
              <a:t>的二次函数，使得：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i="1" dirty="0">
                <a:cs typeface="Times New Roman" panose="02020603050405020304" pitchFamily="18" charset="0"/>
              </a:rPr>
              <a:t>                p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cs typeface="Times New Roman" panose="02020603050405020304" pitchFamily="18" charset="0"/>
              </a:rPr>
              <a:t>) = </a:t>
            </a:r>
            <a:r>
              <a:rPr lang="en-US" altLang="zh-CN" sz="2400" i="1" dirty="0">
                <a:cs typeface="Times New Roman" panose="02020603050405020304" pitchFamily="18" charset="0"/>
              </a:rPr>
              <a:t>y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cs typeface="Times New Roman" panose="02020603050405020304" pitchFamily="18" charset="0"/>
              </a:rPr>
              <a:t>,  </a:t>
            </a:r>
            <a:r>
              <a:rPr lang="en-US" altLang="zh-CN" sz="2400" i="1" dirty="0">
                <a:cs typeface="Times New Roman" panose="02020603050405020304" pitchFamily="18" charset="0"/>
              </a:rPr>
              <a:t>p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cs typeface="Times New Roman" panose="02020603050405020304" pitchFamily="18" charset="0"/>
              </a:rPr>
              <a:t>) = </a:t>
            </a:r>
            <a:r>
              <a:rPr lang="en-US" altLang="zh-CN" sz="2400" i="1" dirty="0">
                <a:cs typeface="Times New Roman" panose="02020603050405020304" pitchFamily="18" charset="0"/>
              </a:rPr>
              <a:t>y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cs typeface="Times New Roman" panose="02020603050405020304" pitchFamily="18" charset="0"/>
              </a:rPr>
              <a:t>,  </a:t>
            </a:r>
            <a:r>
              <a:rPr lang="en-US" altLang="zh-CN" sz="2400" i="1" dirty="0">
                <a:cs typeface="Times New Roman" panose="02020603050405020304" pitchFamily="18" charset="0"/>
              </a:rPr>
              <a:t>p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cs typeface="Times New Roman" panose="02020603050405020304" pitchFamily="18" charset="0"/>
              </a:rPr>
              <a:t>) = </a:t>
            </a:r>
            <a:r>
              <a:rPr lang="en-US" altLang="zh-CN" sz="2400" i="1" dirty="0">
                <a:cs typeface="Times New Roman" panose="02020603050405020304" pitchFamily="18" charset="0"/>
              </a:rPr>
              <a:t>y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 </a:t>
            </a:r>
            <a:r>
              <a:rPr lang="zh-CN" altLang="en-US" sz="2400" dirty="0"/>
              <a:t>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i="1" dirty="0"/>
              <a:t>              p</a:t>
            </a:r>
            <a:r>
              <a:rPr lang="en-US" altLang="zh-CN" sz="2400" baseline="-30000" dirty="0"/>
              <a:t>2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r>
              <a:rPr lang="zh-CN" altLang="en-US" sz="2400" dirty="0"/>
              <a:t> 称为二次插值多项式。通过三点的插值问题称为</a:t>
            </a:r>
            <a:r>
              <a:rPr lang="zh-CN" altLang="en-US" sz="2400" b="1" dirty="0">
                <a:solidFill>
                  <a:srgbClr val="008000"/>
                </a:solidFill>
              </a:rPr>
              <a:t>二次插值或抛物插值</a:t>
            </a:r>
            <a:r>
              <a:rPr lang="zh-CN" altLang="en-US" sz="2400" dirty="0"/>
              <a:t>。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438" y="3429000"/>
            <a:ext cx="4310062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4DCA7A5-12CD-412B-B9C6-2E0FF4CEFBE2}"/>
              </a:ext>
            </a:extLst>
          </p:cNvPr>
          <p:cNvSpPr/>
          <p:nvPr/>
        </p:nvSpPr>
        <p:spPr>
          <a:xfrm>
            <a:off x="6381750" y="5286375"/>
            <a:ext cx="102393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 kern="0" dirty="0">
                <a:cs typeface="Times New Roman" pitchFamily="18" charset="0"/>
              </a:rPr>
              <a:t>y=p</a:t>
            </a:r>
            <a:r>
              <a:rPr lang="en-US" altLang="zh-CN" kern="0" dirty="0">
                <a:cs typeface="Times New Roman" pitchFamily="18" charset="0"/>
              </a:rPr>
              <a:t>(</a:t>
            </a:r>
            <a:r>
              <a:rPr lang="en-US" altLang="zh-CN" i="1" kern="0" dirty="0">
                <a:cs typeface="Times New Roman" pitchFamily="18" charset="0"/>
              </a:rPr>
              <a:t>x</a:t>
            </a:r>
            <a:r>
              <a:rPr lang="en-US" altLang="zh-CN" kern="0" dirty="0">
                <a:cs typeface="Times New Roman" pitchFamily="18" charset="0"/>
              </a:rPr>
              <a:t>)</a:t>
            </a:r>
            <a:endParaRPr lang="zh-CN" altLang="en-US" dirty="0"/>
          </a:p>
        </p:txBody>
      </p:sp>
      <p:sp>
        <p:nvSpPr>
          <p:cNvPr id="12293" name="椭圆 9"/>
          <p:cNvSpPr>
            <a:spLocks noChangeArrowheads="1"/>
          </p:cNvSpPr>
          <p:nvPr/>
        </p:nvSpPr>
        <p:spPr bwMode="auto">
          <a:xfrm>
            <a:off x="4024313" y="4786313"/>
            <a:ext cx="142875" cy="142875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2294" name="椭圆 10"/>
          <p:cNvSpPr>
            <a:spLocks noChangeArrowheads="1"/>
          </p:cNvSpPr>
          <p:nvPr/>
        </p:nvSpPr>
        <p:spPr bwMode="auto">
          <a:xfrm>
            <a:off x="5894388" y="5500688"/>
            <a:ext cx="142875" cy="142875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2295" name="椭圆 12"/>
          <p:cNvSpPr>
            <a:spLocks noChangeArrowheads="1"/>
          </p:cNvSpPr>
          <p:nvPr/>
        </p:nvSpPr>
        <p:spPr bwMode="auto">
          <a:xfrm>
            <a:off x="7402513" y="4546600"/>
            <a:ext cx="142875" cy="142875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205EA8-E9F5-473C-957C-11C6C39D3CA7}"/>
              </a:ext>
            </a:extLst>
          </p:cNvPr>
          <p:cNvSpPr/>
          <p:nvPr/>
        </p:nvSpPr>
        <p:spPr>
          <a:xfrm>
            <a:off x="3952875" y="6143625"/>
            <a:ext cx="4238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x</a:t>
            </a:r>
            <a:r>
              <a:rPr lang="en-US" altLang="zh-CN" kern="0" baseline="-3000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0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D60E43-41D3-4952-9EAF-41259992CD04}"/>
              </a:ext>
            </a:extLst>
          </p:cNvPr>
          <p:cNvSpPr/>
          <p:nvPr/>
        </p:nvSpPr>
        <p:spPr>
          <a:xfrm>
            <a:off x="5810250" y="6143625"/>
            <a:ext cx="4238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x</a:t>
            </a:r>
            <a:r>
              <a:rPr lang="en-US" altLang="zh-CN" kern="0" baseline="-3000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1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BA4C98-B38C-4B04-8870-699006C564C8}"/>
              </a:ext>
            </a:extLst>
          </p:cNvPr>
          <p:cNvSpPr/>
          <p:nvPr/>
        </p:nvSpPr>
        <p:spPr>
          <a:xfrm>
            <a:off x="7323138" y="6176963"/>
            <a:ext cx="423862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x</a:t>
            </a:r>
            <a:r>
              <a:rPr lang="en-US" altLang="zh-CN" kern="0" baseline="-3000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2</a:t>
            </a:r>
            <a:endParaRPr lang="zh-CN" altLang="en-US" dirty="0"/>
          </a:p>
        </p:txBody>
      </p:sp>
      <p:cxnSp>
        <p:nvCxnSpPr>
          <p:cNvPr id="12299" name="直接连接符 17"/>
          <p:cNvCxnSpPr>
            <a:cxnSpLocks noChangeShapeType="1"/>
          </p:cNvCxnSpPr>
          <p:nvPr/>
        </p:nvCxnSpPr>
        <p:spPr bwMode="auto">
          <a:xfrm rot="5400000">
            <a:off x="5703094" y="5880894"/>
            <a:ext cx="5000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0" name="直接连接符 18"/>
          <p:cNvCxnSpPr>
            <a:cxnSpLocks noChangeShapeType="1"/>
          </p:cNvCxnSpPr>
          <p:nvPr/>
        </p:nvCxnSpPr>
        <p:spPr bwMode="auto">
          <a:xfrm rot="5400000">
            <a:off x="6716713" y="5394325"/>
            <a:ext cx="1498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9" t="1" r="2441" b="1709"/>
          <a:stretch/>
        </p:blipFill>
        <p:spPr bwMode="auto">
          <a:xfrm>
            <a:off x="8492906" y="4077072"/>
            <a:ext cx="3666554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31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849537"/>
              </p:ext>
            </p:extLst>
          </p:nvPr>
        </p:nvGraphicFramePr>
        <p:xfrm>
          <a:off x="1559496" y="906492"/>
          <a:ext cx="6965950" cy="552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9" name="Equation" r:id="rId4" imgW="53320950" imgH="42129075" progId="Equation.DSMT4">
                  <p:embed/>
                </p:oleObj>
              </mc:Choice>
              <mc:Fallback>
                <p:oleObj name="Equation" r:id="rId4" imgW="53320950" imgH="42129075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906492"/>
                        <a:ext cx="6965950" cy="552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矩形 6"/>
          <p:cNvSpPr>
            <a:spLocks noChangeArrowheads="1"/>
          </p:cNvSpPr>
          <p:nvPr/>
        </p:nvSpPr>
        <p:spPr bwMode="auto">
          <a:xfrm>
            <a:off x="2309813" y="428625"/>
            <a:ext cx="3897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8000"/>
                </a:solidFill>
              </a:rPr>
              <a:t>二次插值或抛物插值公式：</a:t>
            </a:r>
            <a:endParaRPr lang="zh-CN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 txBox="1">
            <a:spLocks noChangeArrowheads="1"/>
          </p:cNvSpPr>
          <p:nvPr/>
        </p:nvSpPr>
        <p:spPr bwMode="auto">
          <a:xfrm>
            <a:off x="2095500" y="738188"/>
            <a:ext cx="815340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</a:rPr>
              <a:t>3. 一般情况</a:t>
            </a:r>
          </a:p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dirty="0"/>
              <a:t>        当</a:t>
            </a:r>
            <a:r>
              <a:rPr lang="zh-CN" altLang="en-US" sz="2400" dirty="0">
                <a:solidFill>
                  <a:srgbClr val="FF0000"/>
                </a:solidFill>
              </a:rPr>
              <a:t>插值点</a:t>
            </a:r>
            <a:r>
              <a:rPr lang="zh-CN" altLang="en-US" sz="2400" dirty="0"/>
              <a:t>增加到</a:t>
            </a:r>
            <a:r>
              <a:rPr lang="en-US" altLang="zh-CN" sz="2400" i="1" dirty="0">
                <a:solidFill>
                  <a:srgbClr val="FF0000"/>
                </a:solidFill>
              </a:rPr>
              <a:t>n</a:t>
            </a:r>
            <a:r>
              <a:rPr lang="en-US" altLang="zh-CN" sz="2400" dirty="0">
                <a:solidFill>
                  <a:srgbClr val="FF0000"/>
                </a:solidFill>
              </a:rPr>
              <a:t>+1</a:t>
            </a:r>
            <a:r>
              <a:rPr lang="zh-CN" altLang="en-US" sz="2400" dirty="0"/>
              <a:t>个时，我们可以利用</a:t>
            </a:r>
            <a:r>
              <a:rPr lang="en-US" altLang="zh-CN" sz="2400" dirty="0"/>
              <a:t>Lagrange</a:t>
            </a:r>
            <a:r>
              <a:rPr lang="zh-CN" altLang="en-US" sz="2400" dirty="0"/>
              <a:t>插值方法写出</a:t>
            </a:r>
            <a:r>
              <a:rPr lang="en-US" altLang="zh-CN" sz="2400" i="1" dirty="0"/>
              <a:t>n</a:t>
            </a:r>
            <a:r>
              <a:rPr lang="zh-CN" altLang="en-US" sz="2400" dirty="0"/>
              <a:t>次插值多项式 </a:t>
            </a:r>
            <a:r>
              <a:rPr lang="en-US" altLang="zh-CN" sz="2400" i="1" dirty="0" err="1"/>
              <a:t>p</a:t>
            </a:r>
            <a:r>
              <a:rPr lang="en-US" altLang="zh-CN" sz="2400" i="1" baseline="-30000" dirty="0" err="1"/>
              <a:t>n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)，</a:t>
            </a:r>
            <a:r>
              <a:rPr lang="zh-CN" altLang="en-US" sz="2400" dirty="0"/>
              <a:t>如下所示：</a:t>
            </a: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991544" y="5554689"/>
                <a:ext cx="8840882" cy="1130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dirty="0"/>
                  <a:t>只与节点有关，与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无关</a:t>
                </a:r>
                <a:endParaRPr lang="en-US" altLang="zh-CN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rgbClr val="FF0000"/>
                    </a:solidFill>
                  </a:rPr>
                  <a:t>缺点</a:t>
                </a:r>
                <a:r>
                  <a:rPr lang="zh-CN" altLang="en-US" dirty="0"/>
                  <a:t>：增加一个插值节点，插值函数发生改变，计算代价高。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5554689"/>
                <a:ext cx="8840882" cy="1130246"/>
              </a:xfrm>
              <a:prstGeom prst="rect">
                <a:avLst/>
              </a:prstGeom>
              <a:blipFill>
                <a:blip r:embed="rId2"/>
                <a:stretch>
                  <a:fillRect l="-966" r="-207" b="-10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">
                <a:extLst>
                  <a:ext uri="{FF2B5EF4-FFF2-40B4-BE49-F238E27FC236}">
                    <a16:creationId xmlns:a16="http://schemas.microsoft.com/office/drawing/2014/main" id="{776EFE2E-6111-4BC3-8812-8D07C187BEDF}"/>
                  </a:ext>
                </a:extLst>
              </p:cNvPr>
              <p:cNvSpPr txBox="1"/>
              <p:nvPr/>
            </p:nvSpPr>
            <p:spPr bwMode="auto">
              <a:xfrm>
                <a:off x="2279576" y="2060848"/>
                <a:ext cx="7107267" cy="28352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>
                  <a:lnSpc>
                    <a:spcPts val="81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∏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Object 1">
                <a:extLst>
                  <a:ext uri="{FF2B5EF4-FFF2-40B4-BE49-F238E27FC236}">
                    <a16:creationId xmlns:a16="http://schemas.microsoft.com/office/drawing/2014/main" id="{776EFE2E-6111-4BC3-8812-8D07C187B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9576" y="2060848"/>
                <a:ext cx="7107267" cy="2835275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332656"/>
            <a:ext cx="10363200" cy="5763344"/>
          </a:xfrm>
        </p:spPr>
        <p:txBody>
          <a:bodyPr/>
          <a:lstStyle/>
          <a:p>
            <a:r>
              <a:rPr lang="zh-CN" altLang="en-US" sz="2800" b="1" dirty="0"/>
              <a:t>方法误差分析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154893" y="1085531"/>
                <a:ext cx="29538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893" y="1085531"/>
                <a:ext cx="2953886" cy="369332"/>
              </a:xfrm>
              <a:prstGeom prst="rect">
                <a:avLst/>
              </a:prstGeom>
              <a:blipFill>
                <a:blip r:embed="rId2"/>
                <a:stretch>
                  <a:fillRect l="-1649" r="-309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807968" y="1085531"/>
                <a:ext cx="22846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求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上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限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68" y="1085531"/>
                <a:ext cx="2284664" cy="369332"/>
              </a:xfrm>
              <a:prstGeom prst="rect">
                <a:avLst/>
              </a:prstGeom>
              <a:blipFill>
                <a:blip r:embed="rId3"/>
                <a:stretch>
                  <a:fillRect l="-4267" t="-8197" r="-4000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207568" y="1658997"/>
                <a:ext cx="21926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满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足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658997"/>
                <a:ext cx="2192652" cy="369332"/>
              </a:xfrm>
              <a:prstGeom prst="rect">
                <a:avLst/>
              </a:prstGeom>
              <a:blipFill>
                <a:blip r:embed="rId4"/>
                <a:stretch>
                  <a:fillRect l="-2778" t="-8197" r="-1389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207568" y="2282778"/>
                <a:ext cx="5997989" cy="22390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假设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存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在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且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连续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dirty="0"/>
                  <a:t>(x)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2282778"/>
                <a:ext cx="5997989" cy="2239011"/>
              </a:xfrm>
              <a:prstGeom prst="rect">
                <a:avLst/>
              </a:prstGeom>
              <a:blipFill>
                <a:blip r:embed="rId5"/>
                <a:stretch>
                  <a:fillRect l="-3049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2207568" y="5078062"/>
            <a:ext cx="2787943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如何推导出</a:t>
            </a:r>
            <a:r>
              <a:rPr lang="en-US" altLang="zh-CN" sz="2800" b="1" dirty="0"/>
              <a:t>k(x)?</a:t>
            </a:r>
            <a:endParaRPr lang="zh-CN" altLang="en-US" sz="2800" b="1" dirty="0"/>
          </a:p>
        </p:txBody>
      </p:sp>
      <p:pic>
        <p:nvPicPr>
          <p:cNvPr id="9" name="Picture 5" descr="C:\丁伦制作的电子教案\09373 数值计算方法\SZ11.T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332656"/>
            <a:ext cx="3928059" cy="259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988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build="p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914400" y="692696"/>
                <a:ext cx="10363200" cy="540330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构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造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函数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2800" dirty="0"/>
                  <a:t>(t)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692696"/>
                <a:ext cx="10363200" cy="5403304"/>
              </a:xfrm>
              <a:blipFill>
                <a:blip r:embed="rId2"/>
                <a:stretch>
                  <a:fillRect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991544" y="1700808"/>
                <a:ext cx="6142131" cy="394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−0−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!=0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1700808"/>
                <a:ext cx="6142131" cy="394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47528" y="2492896"/>
                <a:ext cx="2343590" cy="819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2492896"/>
                <a:ext cx="2343590" cy="8194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1847528" y="3572180"/>
            <a:ext cx="10081120" cy="1782283"/>
            <a:chOff x="1847528" y="3572180"/>
            <a:chExt cx="7056784" cy="17822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/>
                <p:cNvSpPr/>
                <p:nvPr/>
              </p:nvSpPr>
              <p:spPr>
                <a:xfrm>
                  <a:off x="1847528" y="3572180"/>
                  <a:ext cx="7056784" cy="178228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|≤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dirty="0"/>
                        <m:t>(</m:t>
                      </m:r>
                      <m:r>
                        <m:rPr>
                          <m:nor/>
                        </m:rPr>
                        <a:rPr lang="en-US" altLang="zh-CN" sz="2800" dirty="0"/>
                        <m:t>x</m:t>
                      </m:r>
                      <m:r>
                        <m:rPr>
                          <m:nor/>
                        </m:rPr>
                        <a:rPr lang="en-US" altLang="zh-CN" sz="2800" dirty="0"/>
                        <m:t>)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r>
                    <a:rPr lang="en-US" altLang="zh-CN" sz="2800" dirty="0"/>
                    <a:t>(x)</a:t>
                  </a:r>
                  <a:endParaRPr lang="zh-CN" altLang="en-US" sz="2800" dirty="0"/>
                </a:p>
                <a:p>
                  <a:pPr>
                    <a:lnSpc>
                      <a:spcPct val="150000"/>
                    </a:lnSpc>
                  </a:pP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7528" y="3572180"/>
                  <a:ext cx="7056784" cy="178228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/>
            <p:cNvSpPr txBox="1"/>
            <p:nvPr/>
          </p:nvSpPr>
          <p:spPr>
            <a:xfrm>
              <a:off x="6878919" y="4867443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</a:t>
              </a:r>
              <a:r>
                <a:rPr lang="zh-CN" altLang="en-US" dirty="0"/>
                <a:t>为次数。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796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133600" y="142875"/>
            <a:ext cx="7924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2385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［例］  设 </a:t>
            </a:r>
            <a:r>
              <a:rPr lang="en-US" altLang="zh-CN" sz="2800" b="1" i="1" dirty="0">
                <a:solidFill>
                  <a:schemeClr val="accent2"/>
                </a:solidFill>
              </a:rPr>
              <a:t>f</a:t>
            </a:r>
            <a:r>
              <a:rPr lang="en-US" altLang="zh-CN" sz="10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x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en-US" altLang="zh-CN" sz="1000" b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</a:rPr>
              <a:t>= ln</a:t>
            </a:r>
            <a:r>
              <a:rPr lang="en-US" altLang="zh-CN" sz="1400" b="1" dirty="0">
                <a:solidFill>
                  <a:schemeClr val="accent2"/>
                </a:solidFill>
              </a:rPr>
              <a:t> </a:t>
            </a:r>
            <a:r>
              <a:rPr lang="en-US" altLang="zh-CN" sz="2800" b="1" i="1" dirty="0">
                <a:solidFill>
                  <a:schemeClr val="accent2"/>
                </a:solidFill>
              </a:rPr>
              <a:t>x</a:t>
            </a:r>
            <a:r>
              <a:rPr lang="en-US" altLang="zh-CN" sz="2400" b="1" dirty="0">
                <a:solidFill>
                  <a:schemeClr val="accent2"/>
                </a:solidFill>
              </a:rPr>
              <a:t>, </a:t>
            </a:r>
            <a:r>
              <a:rPr lang="zh-CN" altLang="en-US" sz="2400" b="1" dirty="0">
                <a:solidFill>
                  <a:schemeClr val="accent2"/>
                </a:solidFill>
              </a:rPr>
              <a:t>并假定已给出型值表</a:t>
            </a:r>
            <a:r>
              <a:rPr lang="en-US" altLang="zh-CN" sz="2400" b="1" dirty="0">
                <a:solidFill>
                  <a:schemeClr val="accent2"/>
                </a:solidFill>
              </a:rPr>
              <a:t>, </a:t>
            </a:r>
            <a:r>
              <a:rPr lang="zh-CN" altLang="en-US" sz="2400" b="1" dirty="0">
                <a:solidFill>
                  <a:schemeClr val="accent2"/>
                </a:solidFill>
              </a:rPr>
              <a:t>试近似计算</a:t>
            </a:r>
            <a:r>
              <a:rPr lang="en-US" altLang="zh-CN" sz="2800" b="1" dirty="0">
                <a:solidFill>
                  <a:schemeClr val="accent2"/>
                </a:solidFill>
              </a:rPr>
              <a:t>ln(0.6)</a:t>
            </a:r>
            <a:r>
              <a:rPr lang="zh-CN" altLang="en-US" sz="2400" b="1" dirty="0">
                <a:solidFill>
                  <a:schemeClr val="accent2"/>
                </a:solidFill>
              </a:rPr>
              <a:t>的值，并指出精度。</a:t>
            </a:r>
            <a:endParaRPr lang="zh-CN" altLang="en-US" sz="2400" dirty="0"/>
          </a:p>
        </p:txBody>
      </p:sp>
      <p:graphicFrame>
        <p:nvGraphicFramePr>
          <p:cNvPr id="14" name="Group 103">
            <a:extLst>
              <a:ext uri="{FF2B5EF4-FFF2-40B4-BE49-F238E27FC236}">
                <a16:creationId xmlns:a16="http://schemas.microsoft.com/office/drawing/2014/main" id="{6B4F4DE0-C023-4367-A185-99FF08A3BFE9}"/>
              </a:ext>
            </a:extLst>
          </p:cNvPr>
          <p:cNvGraphicFramePr>
            <a:graphicFrameLocks noGrp="1"/>
          </p:cNvGraphicFramePr>
          <p:nvPr/>
        </p:nvGraphicFramePr>
        <p:xfrm>
          <a:off x="2309813" y="1484313"/>
          <a:ext cx="7929562" cy="1431978"/>
        </p:xfrm>
        <a:graphic>
          <a:graphicData uri="http://schemas.openxmlformats.org/drawingml/2006/table">
            <a:tbl>
              <a:tblPr/>
              <a:tblGrid>
                <a:gridCol w="752475">
                  <a:extLst>
                    <a:ext uri="{9D8B030D-6E8A-4147-A177-3AD203B41FA5}">
                      <a16:colId xmlns:a16="http://schemas.microsoft.com/office/drawing/2014/main" val="3257853067"/>
                    </a:ext>
                  </a:extLst>
                </a:gridCol>
                <a:gridCol w="1844675">
                  <a:extLst>
                    <a:ext uri="{9D8B030D-6E8A-4147-A177-3AD203B41FA5}">
                      <a16:colId xmlns:a16="http://schemas.microsoft.com/office/drawing/2014/main" val="3597887006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809374330"/>
                    </a:ext>
                  </a:extLst>
                </a:gridCol>
                <a:gridCol w="1776412">
                  <a:extLst>
                    <a:ext uri="{9D8B030D-6E8A-4147-A177-3AD203B41FA5}">
                      <a16:colId xmlns:a16="http://schemas.microsoft.com/office/drawing/2014/main" val="695523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91050455"/>
                    </a:ext>
                  </a:extLst>
                </a:gridCol>
              </a:tblGrid>
              <a:tr h="5179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23" marB="456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   </a:t>
                      </a:r>
                    </a:p>
                  </a:txBody>
                  <a:tcPr marT="45623" marB="456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型值表</a:t>
                      </a:r>
                    </a:p>
                  </a:txBody>
                  <a:tcPr marT="45623" marB="456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23" marB="456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23" marB="456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4481"/>
                  </a:ext>
                </a:extLst>
              </a:tr>
              <a:tr h="456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623" marB="456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</a:t>
                      </a:r>
                    </a:p>
                  </a:txBody>
                  <a:tcPr marT="45623" marB="456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</a:t>
                      </a:r>
                    </a:p>
                  </a:txBody>
                  <a:tcPr marT="45623" marB="456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</a:t>
                      </a:r>
                    </a:p>
                  </a:txBody>
                  <a:tcPr marT="45623" marB="456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</a:t>
                      </a:r>
                    </a:p>
                  </a:txBody>
                  <a:tcPr marT="45623" marB="456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49661"/>
                  </a:ext>
                </a:extLst>
              </a:tr>
              <a:tr h="456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ln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623" marB="456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-0.916291</a:t>
                      </a:r>
                    </a:p>
                  </a:txBody>
                  <a:tcPr marT="45623" marB="456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-0.693147</a:t>
                      </a:r>
                    </a:p>
                  </a:txBody>
                  <a:tcPr marT="45623" marB="456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-0.356675</a:t>
                      </a:r>
                    </a:p>
                  </a:txBody>
                  <a:tcPr marT="45623" marB="456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-0.223144</a:t>
                      </a:r>
                    </a:p>
                  </a:txBody>
                  <a:tcPr marT="45623" marB="456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42702"/>
                  </a:ext>
                </a:extLst>
              </a:tr>
            </a:tbl>
          </a:graphicData>
        </a:graphic>
      </p:graphicFrame>
      <p:graphicFrame>
        <p:nvGraphicFramePr>
          <p:cNvPr id="23554" name="Object 11"/>
          <p:cNvGraphicFramePr>
            <a:graphicFrameLocks noChangeAspect="1"/>
          </p:cNvGraphicFramePr>
          <p:nvPr/>
        </p:nvGraphicFramePr>
        <p:xfrm>
          <a:off x="3143250" y="4005263"/>
          <a:ext cx="5383213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18" name="Equation" r:id="rId3" imgW="46301025" imgH="21507450" progId="Equation.DSMT4">
                  <p:embed/>
                </p:oleObj>
              </mc:Choice>
              <mc:Fallback>
                <p:oleObj name="Equation" r:id="rId3" imgW="46301025" imgH="21507450" progId="Equation.DSMT4">
                  <p:embed/>
                  <p:pic>
                    <p:nvPicPr>
                      <p:cNvPr id="2355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005263"/>
                        <a:ext cx="5383213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19288" y="3068638"/>
            <a:ext cx="79248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2385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/>
              <a:t>   解</a:t>
            </a:r>
            <a:r>
              <a:rPr lang="zh-CN" altLang="en-US" sz="2400"/>
              <a:t>：利用</a:t>
            </a:r>
            <a:r>
              <a:rPr lang="zh-CN" altLang="en-US" sz="2400">
                <a:cs typeface="Times New Roman" panose="02020603050405020304" pitchFamily="18" charset="0"/>
              </a:rPr>
              <a:t>3</a:t>
            </a:r>
            <a:r>
              <a:rPr lang="zh-CN" altLang="en-US" sz="2400"/>
              <a:t>次</a:t>
            </a:r>
            <a:r>
              <a:rPr lang="en-US" altLang="zh-CN" sz="2400">
                <a:cs typeface="Times New Roman" panose="02020603050405020304" pitchFamily="18" charset="0"/>
              </a:rPr>
              <a:t>Lagrange </a:t>
            </a:r>
            <a:r>
              <a:rPr lang="zh-CN" altLang="en-US" sz="2400"/>
              <a:t>插值公式</a:t>
            </a:r>
            <a:r>
              <a:rPr lang="zh-CN" altLang="en-US" sz="2400">
                <a:cs typeface="Times New Roman" panose="02020603050405020304" pitchFamily="18" charset="0"/>
              </a:rPr>
              <a:t>, </a:t>
            </a:r>
            <a:r>
              <a:rPr lang="zh-CN" altLang="en-US" sz="2400"/>
              <a:t>简单计算过程如下： </a:t>
            </a:r>
          </a:p>
        </p:txBody>
      </p:sp>
    </p:spTree>
    <p:extLst>
      <p:ext uri="{BB962C8B-B14F-4D97-AF65-F5344CB8AC3E}">
        <p14:creationId xmlns:p14="http://schemas.microsoft.com/office/powerpoint/2010/main" val="389514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08727CA-90FF-40A3-B988-685BC37EEC2E}"/>
              </a:ext>
            </a:extLst>
          </p:cNvPr>
          <p:cNvSpPr/>
          <p:nvPr/>
        </p:nvSpPr>
        <p:spPr>
          <a:xfrm>
            <a:off x="2279650" y="476250"/>
            <a:ext cx="14922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kern="0" dirty="0"/>
              <a:t> 同理，得</a:t>
            </a:r>
            <a:endParaRPr lang="zh-CN" altLang="en-US" dirty="0"/>
          </a:p>
        </p:txBody>
      </p:sp>
      <p:grpSp>
        <p:nvGrpSpPr>
          <p:cNvPr id="4" name="组合 4"/>
          <p:cNvGrpSpPr>
            <a:grpSpLocks/>
          </p:cNvGrpSpPr>
          <p:nvPr/>
        </p:nvGrpSpPr>
        <p:grpSpPr bwMode="auto">
          <a:xfrm>
            <a:off x="2711450" y="1412875"/>
            <a:ext cx="6559550" cy="2589213"/>
            <a:chOff x="1243013" y="1196975"/>
            <a:chExt cx="6559550" cy="2589213"/>
          </a:xfrm>
        </p:grpSpPr>
        <p:graphicFrame>
          <p:nvGraphicFramePr>
            <p:cNvPr id="43013" name="Object 29"/>
            <p:cNvGraphicFramePr>
              <a:graphicFrameLocks noChangeAspect="1"/>
            </p:cNvGraphicFramePr>
            <p:nvPr/>
          </p:nvGraphicFramePr>
          <p:xfrm>
            <a:off x="1314450" y="1196975"/>
            <a:ext cx="6353175" cy="163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68" name="Equation" r:id="rId3" imgW="54635400" imgH="14039850" progId="Equation.DSMT4">
                    <p:embed/>
                  </p:oleObj>
                </mc:Choice>
                <mc:Fallback>
                  <p:oleObj name="Equation" r:id="rId3" imgW="54635400" imgH="14039850" progId="Equation.DSMT4">
                    <p:embed/>
                    <p:pic>
                      <p:nvPicPr>
                        <p:cNvPr id="43013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4450" y="1196975"/>
                          <a:ext cx="6353175" cy="163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4" name="Object 6"/>
            <p:cNvGraphicFramePr>
              <a:graphicFrameLocks noChangeAspect="1"/>
            </p:cNvGraphicFramePr>
            <p:nvPr/>
          </p:nvGraphicFramePr>
          <p:xfrm>
            <a:off x="1243013" y="2997200"/>
            <a:ext cx="6559550" cy="788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69" name="Equation" r:id="rId5" imgW="56397525" imgH="6800850" progId="Equation.DSMT4">
                    <p:embed/>
                  </p:oleObj>
                </mc:Choice>
                <mc:Fallback>
                  <p:oleObj name="Equation" r:id="rId5" imgW="56397525" imgH="6800850" progId="Equation.DSMT4">
                    <p:embed/>
                    <p:pic>
                      <p:nvPicPr>
                        <p:cNvPr id="4301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3013" y="2997200"/>
                          <a:ext cx="6559550" cy="788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220913" y="4652963"/>
          <a:ext cx="80899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0" name="Equation" r:id="rId7" imgW="69561075" imgH="6800850" progId="Equation.DSMT4">
                  <p:embed/>
                </p:oleObj>
              </mc:Choice>
              <mc:Fallback>
                <p:oleObj name="Equation" r:id="rId7" imgW="69561075" imgH="6800850" progId="Equation.DSMT4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4652963"/>
                        <a:ext cx="80899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471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2376096" y="904289"/>
                <a:ext cx="7527925" cy="234473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又因为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=−6/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所以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0.4,0.8</m:t>
                              </m:r>
                            </m:e>
                          </m:d>
                        </m:lim>
                      </m:limLow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(4)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=6/(0.4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&lt;234.4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从而可得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.6)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(4)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)⋯(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×234.4×0.0004&lt;0.00391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6096" y="904289"/>
                <a:ext cx="7527925" cy="2344737"/>
              </a:xfrm>
              <a:prstGeom prst="rect">
                <a:avLst/>
              </a:prstGeom>
              <a:blipFill>
                <a:blip r:embed="rId3"/>
                <a:stretch>
                  <a:fillRect l="-162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7"/>
          <p:cNvGrpSpPr>
            <a:grpSpLocks/>
          </p:cNvGrpSpPr>
          <p:nvPr/>
        </p:nvGrpSpPr>
        <p:grpSpPr bwMode="auto">
          <a:xfrm>
            <a:off x="2351088" y="3348038"/>
            <a:ext cx="7058025" cy="3081337"/>
            <a:chOff x="683568" y="3645024"/>
            <a:chExt cx="7058025" cy="3081338"/>
          </a:xfrm>
        </p:grpSpPr>
        <p:sp>
          <p:nvSpPr>
            <p:cNvPr id="44036" name="Rectangle 3"/>
            <p:cNvSpPr txBox="1">
              <a:spLocks noChangeArrowheads="1"/>
            </p:cNvSpPr>
            <p:nvPr/>
          </p:nvSpPr>
          <p:spPr bwMode="auto">
            <a:xfrm>
              <a:off x="683568" y="3645024"/>
              <a:ext cx="7058025" cy="308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en-US" sz="2400"/>
                <a:t>  综合上述</a:t>
              </a:r>
              <a:r>
                <a:rPr lang="zh-CN" altLang="en-US" sz="2400">
                  <a:cs typeface="Times New Roman" panose="02020603050405020304" pitchFamily="18" charset="0"/>
                </a:rPr>
                <a:t>, </a:t>
              </a:r>
              <a:r>
                <a:rPr lang="zh-CN" altLang="en-US" sz="2400"/>
                <a:t>我们有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r>
                <a:rPr lang="zh-CN" altLang="en-US" sz="2400"/>
                <a:t>       </a:t>
              </a:r>
              <a:r>
                <a:rPr lang="zh-CN" altLang="en-US" sz="2400">
                  <a:solidFill>
                    <a:srgbClr val="FF0000"/>
                  </a:solidFill>
                </a:rPr>
                <a:t>真值： </a:t>
              </a:r>
              <a:r>
                <a:rPr lang="en-US" altLang="zh-CN" sz="2400">
                  <a:solidFill>
                    <a:srgbClr val="FF0000"/>
                  </a:solidFill>
                  <a:cs typeface="Times New Roman" panose="02020603050405020304" pitchFamily="18" charset="0"/>
                </a:rPr>
                <a:t>ln(0.6) =    0.510826</a:t>
              </a:r>
              <a:endParaRPr lang="en-US" altLang="zh-CN" sz="2400">
                <a:solidFill>
                  <a:srgbClr val="FF0000"/>
                </a:solidFill>
              </a:endParaRPr>
            </a:p>
            <a:p>
              <a:pPr algn="just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r>
                <a:rPr lang="zh-CN" altLang="en-US" sz="2400"/>
                <a:t>       近似值：</a:t>
              </a:r>
              <a:r>
                <a:rPr lang="en-US" altLang="zh-CN" sz="2400" i="1">
                  <a:cs typeface="Times New Roman" panose="02020603050405020304" pitchFamily="18" charset="0"/>
                </a:rPr>
                <a:t>p</a:t>
              </a:r>
              <a:r>
                <a:rPr lang="en-US" altLang="zh-CN" sz="2400" baseline="-30000"/>
                <a:t>3</a:t>
              </a:r>
              <a:r>
                <a:rPr lang="en-US" altLang="zh-CN" sz="2400">
                  <a:cs typeface="Times New Roman" panose="02020603050405020304" pitchFamily="18" charset="0"/>
                </a:rPr>
                <a:t>(0.6) =    0.509975</a:t>
              </a:r>
              <a:endParaRPr lang="en-US" altLang="zh-CN" sz="2400"/>
            </a:p>
            <a:p>
              <a:pPr algn="just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r>
                <a:rPr lang="zh-CN" altLang="en-US" sz="2400"/>
                <a:t>       真误差：</a:t>
              </a:r>
              <a:r>
                <a:rPr lang="en-US" altLang="zh-CN" sz="2400">
                  <a:cs typeface="Times New Roman" panose="02020603050405020304" pitchFamily="18" charset="0"/>
                </a:rPr>
                <a:t>ln(0.6)    </a:t>
              </a:r>
              <a:r>
                <a:rPr lang="en-US" altLang="zh-CN" sz="2400" i="1">
                  <a:cs typeface="Times New Roman" panose="02020603050405020304" pitchFamily="18" charset="0"/>
                </a:rPr>
                <a:t>p</a:t>
              </a:r>
              <a:r>
                <a:rPr lang="en-US" altLang="zh-CN" sz="2400" baseline="-30000"/>
                <a:t>3</a:t>
              </a:r>
              <a:r>
                <a:rPr lang="en-US" altLang="zh-CN" sz="2400">
                  <a:cs typeface="Times New Roman" panose="02020603050405020304" pitchFamily="18" charset="0"/>
                </a:rPr>
                <a:t>(0.6) =    0.000851</a:t>
              </a:r>
              <a:endParaRPr lang="en-US" altLang="zh-CN" sz="2400"/>
            </a:p>
            <a:p>
              <a:pPr algn="just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r>
                <a:rPr lang="en-US" altLang="zh-CN" sz="2400"/>
                <a:t>       </a:t>
              </a:r>
              <a:r>
                <a:rPr lang="zh-CN" altLang="en-US" sz="2400"/>
                <a:t>估计的上界：|</a:t>
              </a:r>
              <a:r>
                <a:rPr lang="en-US" altLang="zh-CN" sz="2400"/>
                <a:t>ln(0.6)     </a:t>
              </a:r>
              <a:r>
                <a:rPr lang="en-US" altLang="zh-CN" sz="2400" i="1"/>
                <a:t>p</a:t>
              </a:r>
              <a:r>
                <a:rPr lang="en-US" altLang="zh-CN" sz="2400" baseline="-30000"/>
                <a:t>3</a:t>
              </a:r>
              <a:r>
                <a:rPr lang="en-US" altLang="zh-CN" sz="2400"/>
                <a:t>(0.6)| &lt;</a:t>
              </a:r>
              <a:r>
                <a:rPr lang="en-US" altLang="zh-CN" sz="1000"/>
                <a:t> </a:t>
              </a:r>
              <a:r>
                <a:rPr lang="en-US" altLang="zh-CN" sz="2400"/>
                <a:t>0.00391 </a:t>
              </a:r>
              <a:endParaRPr lang="zh-CN" altLang="en-US" sz="2400"/>
            </a:p>
          </p:txBody>
        </p:sp>
        <p:graphicFrame>
          <p:nvGraphicFramePr>
            <p:cNvPr id="44037" name="Object 5"/>
            <p:cNvGraphicFramePr>
              <a:graphicFrameLocks noChangeAspect="1"/>
            </p:cNvGraphicFramePr>
            <p:nvPr/>
          </p:nvGraphicFramePr>
          <p:xfrm>
            <a:off x="3366595" y="4509120"/>
            <a:ext cx="279524" cy="223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25" name="Equation" r:id="rId4" imgW="2190750" imgH="1752600" progId="Equation.DSMT4">
                    <p:embed/>
                  </p:oleObj>
                </mc:Choice>
                <mc:Fallback>
                  <p:oleObj name="Equation" r:id="rId4" imgW="2190750" imgH="1752600" progId="Equation.DSMT4">
                    <p:embed/>
                    <p:pic>
                      <p:nvPicPr>
                        <p:cNvPr id="4403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595" y="4509120"/>
                          <a:ext cx="279524" cy="223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38" name="Object 7"/>
            <p:cNvGraphicFramePr>
              <a:graphicFrameLocks noChangeAspect="1"/>
            </p:cNvGraphicFramePr>
            <p:nvPr/>
          </p:nvGraphicFramePr>
          <p:xfrm>
            <a:off x="3644404" y="5149597"/>
            <a:ext cx="279524" cy="223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26" name="Equation" r:id="rId6" imgW="2190750" imgH="1752600" progId="Equation.DSMT4">
                    <p:embed/>
                  </p:oleObj>
                </mc:Choice>
                <mc:Fallback>
                  <p:oleObj name="Equation" r:id="rId6" imgW="2190750" imgH="1752600" progId="Equation.DSMT4">
                    <p:embed/>
                    <p:pic>
                      <p:nvPicPr>
                        <p:cNvPr id="4403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4404" y="5149597"/>
                          <a:ext cx="279524" cy="223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39" name="Object 8"/>
            <p:cNvGraphicFramePr>
              <a:graphicFrameLocks noChangeAspect="1"/>
            </p:cNvGraphicFramePr>
            <p:nvPr/>
          </p:nvGraphicFramePr>
          <p:xfrm>
            <a:off x="3419872" y="5797669"/>
            <a:ext cx="279524" cy="223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27" name="Equation" r:id="rId8" imgW="2190750" imgH="1752600" progId="Equation.DSMT4">
                    <p:embed/>
                  </p:oleObj>
                </mc:Choice>
                <mc:Fallback>
                  <p:oleObj name="Equation" r:id="rId8" imgW="2190750" imgH="1752600" progId="Equation.DSMT4">
                    <p:embed/>
                    <p:pic>
                      <p:nvPicPr>
                        <p:cNvPr id="4403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5797669"/>
                          <a:ext cx="279524" cy="223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0" name="Object 9"/>
            <p:cNvGraphicFramePr>
              <a:graphicFrameLocks noChangeAspect="1"/>
            </p:cNvGraphicFramePr>
            <p:nvPr/>
          </p:nvGraphicFramePr>
          <p:xfrm>
            <a:off x="4788024" y="5797669"/>
            <a:ext cx="279524" cy="223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28" name="Equation" r:id="rId9" imgW="2190750" imgH="1752600" progId="Equation.DSMT4">
                    <p:embed/>
                  </p:oleObj>
                </mc:Choice>
                <mc:Fallback>
                  <p:oleObj name="Equation" r:id="rId9" imgW="2190750" imgH="1752600" progId="Equation.DSMT4">
                    <p:embed/>
                    <p:pic>
                      <p:nvPicPr>
                        <p:cNvPr id="4404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024" y="5797669"/>
                          <a:ext cx="279524" cy="223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1" name="Object 10"/>
            <p:cNvGraphicFramePr>
              <a:graphicFrameLocks noChangeAspect="1"/>
            </p:cNvGraphicFramePr>
            <p:nvPr/>
          </p:nvGraphicFramePr>
          <p:xfrm>
            <a:off x="4117650" y="6445741"/>
            <a:ext cx="279524" cy="223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29" name="Equation" r:id="rId10" imgW="2190750" imgH="1752600" progId="Equation.DSMT4">
                    <p:embed/>
                  </p:oleObj>
                </mc:Choice>
                <mc:Fallback>
                  <p:oleObj name="Equation" r:id="rId10" imgW="2190750" imgH="1752600" progId="Equation.DSMT4">
                    <p:embed/>
                    <p:pic>
                      <p:nvPicPr>
                        <p:cNvPr id="44041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7650" y="6445741"/>
                          <a:ext cx="279524" cy="223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1415480" y="442624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方法误差分析：</a:t>
            </a:r>
          </a:p>
        </p:txBody>
      </p:sp>
    </p:spTree>
    <p:extLst>
      <p:ext uri="{BB962C8B-B14F-4D97-AF65-F5344CB8AC3E}">
        <p14:creationId xmlns:p14="http://schemas.microsoft.com/office/powerpoint/2010/main" val="113373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91168" y="419713"/>
                <a:ext cx="10363200" cy="5547320"/>
              </a:xfrm>
            </p:spPr>
            <p:txBody>
              <a:bodyPr/>
              <a:lstStyle/>
              <a:p>
                <a:r>
                  <a:rPr lang="en-US" altLang="zh-CN" sz="2400" b="1" dirty="0">
                    <a:latin typeface="+mn-ea"/>
                  </a:rPr>
                  <a:t>[</a:t>
                </a:r>
                <a:r>
                  <a:rPr lang="zh-CN" altLang="en-US" sz="2400" b="1" dirty="0">
                    <a:latin typeface="+mn-ea"/>
                  </a:rPr>
                  <a:t>例</a:t>
                </a:r>
                <a:r>
                  <a:rPr lang="en-US" altLang="zh-CN" sz="2400" b="1" dirty="0">
                    <a:latin typeface="+mn-ea"/>
                  </a:rPr>
                  <a:t>]</a:t>
                </a:r>
                <a:r>
                  <a:rPr lang="zh-CN" altLang="en-US" sz="2400" b="1" dirty="0">
                    <a:latin typeface="+mn-ea"/>
                  </a:rPr>
                  <a:t>已知：</a:t>
                </a:r>
                <a:r>
                  <a:rPr lang="en-US" altLang="zh-CN" sz="2400" b="1" dirty="0">
                    <a:latin typeface="+mn-ea"/>
                  </a:rPr>
                  <a:t>sin0.32=0.314567,sin0.34=0.333487,</a:t>
                </a:r>
                <a:r>
                  <a:rPr lang="zh-CN" altLang="en-US" sz="2400" b="1" dirty="0">
                    <a:latin typeface="+mn-ea"/>
                  </a:rPr>
                  <a:t>用拉格朗日插值法求</a:t>
                </a:r>
                <a:r>
                  <a:rPr lang="en-US" altLang="zh-CN" sz="2400" b="1" dirty="0">
                    <a:latin typeface="+mn-ea"/>
                  </a:rPr>
                  <a:t>sin0.3367</a:t>
                </a:r>
                <a:r>
                  <a:rPr lang="zh-CN" altLang="en-US" sz="2400" b="1" dirty="0">
                    <a:latin typeface="+mn-ea"/>
                  </a:rPr>
                  <a:t>的近似值（精确到小数点后</a:t>
                </a:r>
                <a:r>
                  <a:rPr lang="en-US" altLang="zh-CN" sz="2400" b="1" dirty="0">
                    <a:latin typeface="+mn-ea"/>
                  </a:rPr>
                  <a:t>6</a:t>
                </a:r>
                <a:r>
                  <a:rPr lang="zh-CN" altLang="en-US" sz="2400" b="1" dirty="0">
                    <a:latin typeface="+mn-ea"/>
                  </a:rPr>
                  <a:t>位）和方法误差。</a:t>
                </a:r>
                <a:endParaRPr lang="en-US" altLang="zh-CN" sz="2400" b="1" dirty="0">
                  <a:latin typeface="+mn-ea"/>
                </a:endParaRPr>
              </a:p>
              <a:p>
                <a:endParaRPr lang="en-US" altLang="zh-CN" sz="2800" dirty="0">
                  <a:latin typeface="+mn-ea"/>
                </a:endParaRPr>
              </a:p>
              <a:p>
                <a:endParaRPr lang="en-US" altLang="zh-CN" sz="2800" dirty="0">
                  <a:latin typeface="+mn-ea"/>
                </a:endParaRPr>
              </a:p>
              <a:p>
                <a:pPr marL="800100" lvl="2" indent="0">
                  <a:buNone/>
                </a:pPr>
                <a:r>
                  <a:rPr lang="en-US" altLang="zh-CN" dirty="0">
                    <a:latin typeface="+mn-ea"/>
                  </a:rPr>
                  <a:t>x0=0.32   x1=0.34</a:t>
                </a:r>
              </a:p>
              <a:p>
                <a:pPr marL="800100" lvl="2" indent="0">
                  <a:buNone/>
                </a:pPr>
                <a:r>
                  <a:rPr lang="en-US" altLang="zh-CN" dirty="0">
                    <a:latin typeface="+mn-ea"/>
                  </a:rPr>
                  <a:t>y0=0.314567, y1=0.333487</a:t>
                </a:r>
              </a:p>
              <a:p>
                <a:pPr marL="800100" lvl="2" indent="0">
                  <a:buNone/>
                </a:pPr>
                <a:r>
                  <a:rPr lang="en-US" altLang="zh-CN" dirty="0">
                    <a:latin typeface="+mn-ea"/>
                  </a:rPr>
                  <a:t>L1(0.3367)=0.330365    </a:t>
                </a:r>
                <a:r>
                  <a:rPr lang="zh-CN" altLang="en-US" dirty="0">
                    <a:latin typeface="+mn-ea"/>
                  </a:rPr>
                  <a:t>舍入误差：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168" y="419713"/>
                <a:ext cx="10363200" cy="5547320"/>
              </a:xfrm>
              <a:blipFill>
                <a:blip r:embed="rId2"/>
                <a:stretch>
                  <a:fillRect l="-588" t="-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384297"/>
            <a:ext cx="3917231" cy="7200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566743" y="3740416"/>
                <a:ext cx="4623510" cy="6661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余项</a:t>
                </a:r>
                <a:r>
                  <a:rPr lang="en-US" altLang="zh-CN" dirty="0"/>
                  <a:t>R1(x)=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743" y="3740416"/>
                <a:ext cx="4623510" cy="666144"/>
              </a:xfrm>
              <a:prstGeom prst="rect">
                <a:avLst/>
              </a:prstGeom>
              <a:blipFill>
                <a:blip r:embed="rId4"/>
                <a:stretch>
                  <a:fillRect l="-1979" b="-82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9968753" y="1765147"/>
                <a:ext cx="186474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𝑐𝑜𝑠𝑥</m:t>
                      </m:r>
                    </m:oMath>
                  </m:oMathPara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-sinx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8753" y="1765147"/>
                <a:ext cx="1864741" cy="738664"/>
              </a:xfrm>
              <a:prstGeom prst="rect">
                <a:avLst/>
              </a:prstGeom>
              <a:blipFill>
                <a:blip r:embed="rId5"/>
                <a:stretch>
                  <a:fillRect l="-7516" b="-23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653072" y="4625186"/>
                <a:ext cx="6537555" cy="5653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0.32≤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≤0.34  </m:t>
                            </m:r>
                            <m:r>
                              <m:rPr>
                                <m:nor/>
                              </m:r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lim>
                        </m:limLow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𝑠𝑖𝑛𝑥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=sin0.34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072" y="4625186"/>
                <a:ext cx="6537555" cy="565348"/>
              </a:xfrm>
              <a:prstGeom prst="rect">
                <a:avLst/>
              </a:prstGeom>
              <a:blipFill>
                <a:blip r:embed="rId6"/>
                <a:stretch>
                  <a:fillRect t="-9783" b="-5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421651" y="4343365"/>
                <a:ext cx="2136419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b="0" dirty="0"/>
                  <a:t>0.32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≤0.34  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函数</m:t>
                    </m:r>
                  </m:oMath>
                </a14:m>
                <a:r>
                  <a:rPr lang="zh-CN" altLang="en-US" dirty="0"/>
                  <a:t>单调上升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651" y="4343365"/>
                <a:ext cx="2136419" cy="738664"/>
              </a:xfrm>
              <a:prstGeom prst="rect">
                <a:avLst/>
              </a:prstGeom>
              <a:blipFill>
                <a:blip r:embed="rId7"/>
                <a:stretch>
                  <a:fillRect l="-8857" t="-1229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506660" y="5248340"/>
                <a:ext cx="9530942" cy="10011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R1(x)&lt;=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0.34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0.34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0.3367−0.32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0.3367−0.34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0.92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0" y="5248340"/>
                <a:ext cx="9530942" cy="1001172"/>
              </a:xfrm>
              <a:prstGeom prst="rect">
                <a:avLst/>
              </a:prstGeom>
              <a:blipFill>
                <a:blip r:embed="rId8"/>
                <a:stretch>
                  <a:fillRect l="-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029122" y="1276513"/>
                <a:ext cx="16739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𝑠𝑖𝑛𝑥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9122" y="1276513"/>
                <a:ext cx="1673920" cy="369332"/>
              </a:xfrm>
              <a:prstGeom prst="rect">
                <a:avLst/>
              </a:prstGeom>
              <a:blipFill>
                <a:blip r:embed="rId9"/>
                <a:stretch>
                  <a:fillRect l="-5455" r="-327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271464" y="6236530"/>
            <a:ext cx="10206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舍入误差</a:t>
            </a:r>
            <a:r>
              <a:rPr lang="en-US" altLang="zh-CN" dirty="0"/>
              <a:t>&lt;</a:t>
            </a:r>
            <a:r>
              <a:rPr lang="zh-CN" altLang="en-US" dirty="0"/>
              <a:t>方法误差：在设计算法时不希望舍入误差成为误差的主要来源。</a:t>
            </a:r>
          </a:p>
        </p:txBody>
      </p:sp>
    </p:spTree>
    <p:extLst>
      <p:ext uri="{BB962C8B-B14F-4D97-AF65-F5344CB8AC3E}">
        <p14:creationId xmlns:p14="http://schemas.microsoft.com/office/powerpoint/2010/main" val="247858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animBg="1"/>
      <p:bldP spid="8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1168" y="419713"/>
            <a:ext cx="10786936" cy="5547320"/>
          </a:xfrm>
        </p:spPr>
        <p:txBody>
          <a:bodyPr/>
          <a:lstStyle/>
          <a:p>
            <a:r>
              <a:rPr lang="en-US" altLang="zh-CN" sz="2400" b="1" dirty="0">
                <a:latin typeface="+mn-ea"/>
              </a:rPr>
              <a:t>[</a:t>
            </a:r>
            <a:r>
              <a:rPr lang="zh-CN" altLang="en-US" sz="2400" b="1" dirty="0">
                <a:latin typeface="+mn-ea"/>
              </a:rPr>
              <a:t>例</a:t>
            </a:r>
            <a:r>
              <a:rPr lang="en-US" altLang="zh-CN" sz="2400" b="1" dirty="0">
                <a:latin typeface="+mn-ea"/>
              </a:rPr>
              <a:t>]</a:t>
            </a:r>
            <a:r>
              <a:rPr lang="zh-CN" altLang="en-US" sz="2400" b="1" dirty="0">
                <a:latin typeface="+mn-ea"/>
              </a:rPr>
              <a:t>已知：</a:t>
            </a:r>
            <a:r>
              <a:rPr lang="en-US" altLang="zh-CN" sz="2400" b="1" dirty="0">
                <a:latin typeface="+mn-ea"/>
              </a:rPr>
              <a:t>sin0.32=0.314567,sin0.34=0.333487,sin0.36=0.352274,</a:t>
            </a:r>
            <a:r>
              <a:rPr lang="zh-CN" altLang="en-US" sz="2400" b="1" dirty="0">
                <a:latin typeface="+mn-ea"/>
              </a:rPr>
              <a:t>用拉格朗日插值法求</a:t>
            </a:r>
            <a:r>
              <a:rPr lang="en-US" altLang="zh-CN" sz="2400" b="1" dirty="0">
                <a:latin typeface="+mn-ea"/>
              </a:rPr>
              <a:t>sin0.3367</a:t>
            </a:r>
            <a:r>
              <a:rPr lang="zh-CN" altLang="en-US" sz="2400" b="1" dirty="0">
                <a:latin typeface="+mn-ea"/>
              </a:rPr>
              <a:t>的近似值（精确到小数点后</a:t>
            </a:r>
            <a:r>
              <a:rPr lang="en-US" altLang="zh-CN" sz="2400" b="1" dirty="0">
                <a:latin typeface="+mn-ea"/>
              </a:rPr>
              <a:t>6</a:t>
            </a:r>
            <a:r>
              <a:rPr lang="zh-CN" altLang="en-US" sz="2400" b="1" dirty="0">
                <a:latin typeface="+mn-ea"/>
              </a:rPr>
              <a:t>位）和方法误差。</a:t>
            </a:r>
            <a:endParaRPr lang="en-US" altLang="zh-CN" sz="2400" b="1" dirty="0">
              <a:latin typeface="+mn-ea"/>
            </a:endParaRPr>
          </a:p>
          <a:p>
            <a:endParaRPr lang="en-US" altLang="zh-CN" sz="2800" dirty="0">
              <a:latin typeface="+mn-ea"/>
            </a:endParaRPr>
          </a:p>
          <a:p>
            <a:endParaRPr lang="en-US" altLang="zh-CN" sz="2800" dirty="0">
              <a:latin typeface="+mn-ea"/>
            </a:endParaRPr>
          </a:p>
          <a:p>
            <a:pPr marL="800100" lvl="2" indent="0">
              <a:buNone/>
            </a:pPr>
            <a:endParaRPr lang="zh-CN" altLang="en-US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506660" y="1797776"/>
                <a:ext cx="5935599" cy="685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余项</a:t>
                </a:r>
                <a:r>
                  <a:rPr lang="en-US" altLang="zh-CN" dirty="0"/>
                  <a:t>R2(x)=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0" y="1797776"/>
                <a:ext cx="5935599" cy="685059"/>
              </a:xfrm>
              <a:prstGeom prst="rect">
                <a:avLst/>
              </a:prstGeom>
              <a:blipFill>
                <a:blip r:embed="rId2"/>
                <a:stretch>
                  <a:fillRect l="-1540" b="-8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9968753" y="1765147"/>
                <a:ext cx="186474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𝑐𝑜𝑠𝑥</m:t>
                      </m:r>
                    </m:oMath>
                  </m:oMathPara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-sinx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8753" y="1765147"/>
                <a:ext cx="1864741" cy="738664"/>
              </a:xfrm>
              <a:prstGeom prst="rect">
                <a:avLst/>
              </a:prstGeom>
              <a:blipFill>
                <a:blip r:embed="rId4"/>
                <a:stretch>
                  <a:fillRect l="-7516" b="-23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538153" y="2475378"/>
                <a:ext cx="6537555" cy="775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p>
                      </m:e>
                      <m:sup/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0.32≤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≤0.34  </m:t>
                            </m:r>
                            <m:r>
                              <m:rPr>
                                <m:nor/>
                              </m:r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lim>
                        </m:limLow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𝑐𝑜𝑠𝑥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en-US" altLang="zh-CN" dirty="0"/>
                  <a:t>=cos0.32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153" y="2475378"/>
                <a:ext cx="6537555" cy="775662"/>
              </a:xfrm>
              <a:prstGeom prst="rect">
                <a:avLst/>
              </a:prstGeom>
              <a:blipFill>
                <a:blip r:embed="rId5"/>
                <a:stretch>
                  <a:fillRect b="-7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241067" y="2908447"/>
                <a:ext cx="2136419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dirty="0"/>
                  <a:t>0.32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≤0.34  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函数</m:t>
                    </m:r>
                  </m:oMath>
                </a14:m>
                <a:r>
                  <a:rPr lang="zh-CN" altLang="en-US" dirty="0"/>
                  <a:t>单调下降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067" y="2908447"/>
                <a:ext cx="2136419" cy="738664"/>
              </a:xfrm>
              <a:prstGeom prst="rect">
                <a:avLst/>
              </a:prstGeom>
              <a:blipFill>
                <a:blip r:embed="rId6"/>
                <a:stretch>
                  <a:fillRect l="-8857" t="-12397" b="-22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478932" y="3921043"/>
                <a:ext cx="9575827" cy="9881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R2(x)&lt;=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0.32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0.32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0.3367−0.32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0.3367−0.34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2.032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932" y="3921043"/>
                <a:ext cx="9575827" cy="988156"/>
              </a:xfrm>
              <a:prstGeom prst="rect">
                <a:avLst/>
              </a:prstGeom>
              <a:blipFill>
                <a:blip r:embed="rId7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029122" y="1276513"/>
                <a:ext cx="16739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𝑠𝑖𝑛𝑥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9122" y="1276513"/>
                <a:ext cx="1673920" cy="369332"/>
              </a:xfrm>
              <a:prstGeom prst="rect">
                <a:avLst/>
              </a:prstGeom>
              <a:blipFill>
                <a:blip r:embed="rId8"/>
                <a:stretch>
                  <a:fillRect l="-5455" r="-327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67BBAE00-E2A7-42EA-87C8-AA74457E6D62}"/>
              </a:ext>
            </a:extLst>
          </p:cNvPr>
          <p:cNvSpPr/>
          <p:nvPr/>
        </p:nvSpPr>
        <p:spPr>
          <a:xfrm>
            <a:off x="1713161" y="1325627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L2(0.3367)=0.330374 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CF76216-AB15-4288-B4C3-4EF14829F2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8220" y="5495779"/>
            <a:ext cx="5136325" cy="8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2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"/>
          <p:cNvGrpSpPr>
            <a:grpSpLocks/>
          </p:cNvGrpSpPr>
          <p:nvPr/>
        </p:nvGrpSpPr>
        <p:grpSpPr bwMode="auto">
          <a:xfrm>
            <a:off x="1981200" y="285750"/>
            <a:ext cx="8077200" cy="1990725"/>
            <a:chOff x="457200" y="285750"/>
            <a:chExt cx="8077200" cy="1991122"/>
          </a:xfrm>
        </p:grpSpPr>
        <p:sp>
          <p:nvSpPr>
            <p:cNvPr id="45066" name="Rectangle 3"/>
            <p:cNvSpPr txBox="1">
              <a:spLocks noChangeArrowheads="1"/>
            </p:cNvSpPr>
            <p:nvPr/>
          </p:nvSpPr>
          <p:spPr bwMode="auto">
            <a:xfrm>
              <a:off x="457200" y="285750"/>
              <a:ext cx="8077200" cy="1991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70000"/>
                </a:lnSpc>
                <a:buFontTx/>
                <a:buNone/>
              </a:pPr>
              <a:r>
                <a:rPr lang="zh-CN" altLang="en-US" sz="2400" b="1" dirty="0">
                  <a:solidFill>
                    <a:schemeClr val="accent2"/>
                  </a:solidFill>
                </a:rPr>
                <a:t>［例］  给定                           </a:t>
              </a:r>
              <a:r>
                <a:rPr lang="zh-CN" altLang="zh-CN" sz="2400" b="1" dirty="0">
                  <a:solidFill>
                    <a:schemeClr val="accent2"/>
                  </a:solidFill>
                </a:rPr>
                <a:t> 		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        。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取等距节点 </a:t>
              </a:r>
              <a:r>
                <a:rPr lang="en-US" altLang="zh-CN" sz="2400" b="1" i="1" dirty="0">
                  <a:solidFill>
                    <a:schemeClr val="accent2"/>
                  </a:solidFill>
                </a:rPr>
                <a:t>x</a:t>
              </a:r>
              <a:r>
                <a:rPr lang="en-US" altLang="zh-CN" sz="2400" b="1" i="1" baseline="-25000" dirty="0">
                  <a:solidFill>
                    <a:schemeClr val="accent2"/>
                  </a:solidFill>
                </a:rPr>
                <a:t>i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= -5+</a:t>
              </a:r>
              <a:r>
                <a:rPr lang="en-US" altLang="zh-CN" sz="2400" b="1" i="1" dirty="0">
                  <a:solidFill>
                    <a:schemeClr val="accent2"/>
                  </a:solidFill>
                </a:rPr>
                <a:t>i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(</a:t>
              </a:r>
              <a:r>
                <a:rPr lang="en-US" altLang="zh-CN" sz="2400" b="1" i="1" dirty="0" err="1">
                  <a:solidFill>
                    <a:schemeClr val="accent2"/>
                  </a:solidFill>
                </a:rPr>
                <a:t>i</a:t>
              </a:r>
              <a:r>
                <a:rPr lang="en-US" altLang="zh-CN" sz="1000" b="1" i="1" dirty="0">
                  <a:solidFill>
                    <a:schemeClr val="accent2"/>
                  </a:solidFill>
                </a:rPr>
                <a:t>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=</a:t>
              </a:r>
              <a:r>
                <a:rPr lang="en-US" altLang="zh-CN" sz="1000" b="1" dirty="0">
                  <a:solidFill>
                    <a:schemeClr val="accent2"/>
                  </a:solidFill>
                </a:rPr>
                <a:t>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0,</a:t>
              </a:r>
              <a:r>
                <a:rPr lang="en-US" altLang="zh-CN" sz="1000" b="1" dirty="0">
                  <a:solidFill>
                    <a:schemeClr val="accent2"/>
                  </a:solidFill>
                </a:rPr>
                <a:t>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1</a:t>
              </a:r>
              <a:r>
                <a:rPr lang="en-US" altLang="zh-CN" sz="1000" b="1" dirty="0">
                  <a:solidFill>
                    <a:schemeClr val="accent2"/>
                  </a:solidFill>
                </a:rPr>
                <a:t>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,…,</a:t>
              </a:r>
              <a:r>
                <a:rPr lang="en-US" altLang="zh-CN" sz="1000" b="1" dirty="0">
                  <a:solidFill>
                    <a:schemeClr val="accent2"/>
                  </a:solidFill>
                </a:rPr>
                <a:t>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10), 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试建立插值多项式 </a:t>
              </a:r>
              <a:r>
                <a:rPr lang="en-US" altLang="zh-CN" sz="2400" b="1" i="1" dirty="0">
                  <a:solidFill>
                    <a:schemeClr val="accent2"/>
                  </a:solidFill>
                </a:rPr>
                <a:t>L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10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(</a:t>
              </a:r>
              <a:r>
                <a:rPr lang="en-US" altLang="zh-CN" sz="2400" b="1" i="1" dirty="0">
                  <a:solidFill>
                    <a:schemeClr val="accent2"/>
                  </a:solidFill>
                </a:rPr>
                <a:t>x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), 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并作图形, 观察 </a:t>
              </a:r>
              <a:r>
                <a:rPr lang="en-US" altLang="zh-CN" sz="2400" b="1" i="1" dirty="0">
                  <a:solidFill>
                    <a:schemeClr val="accent2"/>
                  </a:solidFill>
                </a:rPr>
                <a:t>L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10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(</a:t>
              </a:r>
              <a:r>
                <a:rPr lang="en-US" altLang="zh-CN" sz="2400" b="1" i="1" dirty="0">
                  <a:solidFill>
                    <a:schemeClr val="accent2"/>
                  </a:solidFill>
                </a:rPr>
                <a:t>x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) 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对 </a:t>
              </a:r>
              <a:r>
                <a:rPr lang="en-US" altLang="zh-CN" sz="2400" b="1" i="1" dirty="0">
                  <a:solidFill>
                    <a:schemeClr val="accent2"/>
                  </a:solidFill>
                </a:rPr>
                <a:t>f(x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) 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的逼近效果。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7" name="Object 13"/>
                <p:cNvSpPr txBox="1"/>
                <p:nvPr/>
              </p:nvSpPr>
              <p:spPr bwMode="auto">
                <a:xfrm>
                  <a:off x="2051720" y="524559"/>
                  <a:ext cx="4140200" cy="55097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)=1/(1+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−5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sub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067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51720" y="524559"/>
                  <a:ext cx="4140200" cy="5509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9"/>
          <p:cNvGrpSpPr>
            <a:grpSpLocks/>
          </p:cNvGrpSpPr>
          <p:nvPr/>
        </p:nvGrpSpPr>
        <p:grpSpPr bwMode="auto">
          <a:xfrm>
            <a:off x="2024063" y="2428875"/>
            <a:ext cx="3216275" cy="2582863"/>
            <a:chOff x="500063" y="2428875"/>
            <a:chExt cx="3216275" cy="2582863"/>
          </a:xfrm>
        </p:grpSpPr>
        <p:graphicFrame>
          <p:nvGraphicFramePr>
            <p:cNvPr id="45064" name="Object 14"/>
            <p:cNvGraphicFramePr>
              <a:graphicFrameLocks noChangeAspect="1"/>
            </p:cNvGraphicFramePr>
            <p:nvPr/>
          </p:nvGraphicFramePr>
          <p:xfrm>
            <a:off x="642938" y="3000375"/>
            <a:ext cx="3073400" cy="2011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404" name="Equation" r:id="rId5" imgW="23479125" imgH="15363825" progId="Equation.DSMT4">
                    <p:embed/>
                  </p:oleObj>
                </mc:Choice>
                <mc:Fallback>
                  <p:oleObj name="Equation" r:id="rId5" imgW="23479125" imgH="15363825" progId="Equation.DSMT4">
                    <p:embed/>
                    <p:pic>
                      <p:nvPicPr>
                        <p:cNvPr id="4506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38" y="3000375"/>
                          <a:ext cx="3073400" cy="2011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9E1CFDB-FEAC-4653-B15A-33ECECD5C5C6}"/>
                </a:ext>
              </a:extLst>
            </p:cNvPr>
            <p:cNvSpPr/>
            <p:nvPr/>
          </p:nvSpPr>
          <p:spPr>
            <a:xfrm>
              <a:off x="500063" y="2428875"/>
              <a:ext cx="879475" cy="4619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b="1" kern="0" dirty="0"/>
                <a:t> 解</a:t>
              </a:r>
              <a:r>
                <a:rPr lang="zh-CN" altLang="en-US" kern="0" dirty="0"/>
                <a:t>：</a:t>
              </a:r>
              <a:endParaRPr lang="zh-CN" altLang="en-US" dirty="0"/>
            </a:p>
          </p:txBody>
        </p:sp>
      </p:grpSp>
      <p:grpSp>
        <p:nvGrpSpPr>
          <p:cNvPr id="4" name="组合 10"/>
          <p:cNvGrpSpPr>
            <a:grpSpLocks/>
          </p:cNvGrpSpPr>
          <p:nvPr/>
        </p:nvGrpSpPr>
        <p:grpSpPr bwMode="auto">
          <a:xfrm>
            <a:off x="2166938" y="2182351"/>
            <a:ext cx="8469312" cy="3554413"/>
            <a:chOff x="611560" y="2428875"/>
            <a:chExt cx="8468940" cy="3554413"/>
          </a:xfrm>
        </p:grpSpPr>
        <p:pic>
          <p:nvPicPr>
            <p:cNvPr id="45062" name="Picture 2" descr="C:\丁伦制作的电子教案\09373 数值计算方法\SZ13.TIF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9063" y="2428875"/>
              <a:ext cx="5151437" cy="3554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3" name="矩形 16"/>
            <p:cNvSpPr>
              <a:spLocks noChangeArrowheads="1"/>
            </p:cNvSpPr>
            <p:nvPr/>
          </p:nvSpPr>
          <p:spPr bwMode="auto">
            <a:xfrm>
              <a:off x="611560" y="5445224"/>
              <a:ext cx="26468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图形如右图所示。</a:t>
              </a:r>
            </a:p>
          </p:txBody>
        </p:sp>
      </p:grp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837249" y="5536739"/>
            <a:ext cx="2446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3333CC"/>
                </a:solidFill>
              </a:rPr>
              <a:t>龙格（</a:t>
            </a:r>
            <a:r>
              <a:rPr lang="en-US" altLang="zh-CN" sz="2000" b="1" dirty="0" err="1">
                <a:solidFill>
                  <a:srgbClr val="3333CC"/>
                </a:solidFill>
              </a:rPr>
              <a:t>Runge</a:t>
            </a:r>
            <a:r>
              <a:rPr lang="zh-CN" altLang="en-US" sz="2000" b="1" dirty="0">
                <a:solidFill>
                  <a:srgbClr val="3333CC"/>
                </a:solidFill>
              </a:rPr>
              <a:t>）现象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1055440" y="5936789"/>
            <a:ext cx="10999464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-apple-system"/>
              </a:rPr>
              <a:t>龙格现象（</a:t>
            </a:r>
            <a:r>
              <a:rPr lang="en-US" altLang="zh-CN" dirty="0" err="1">
                <a:solidFill>
                  <a:srgbClr val="7030A0"/>
                </a:solidFill>
                <a:latin typeface="-apple-system"/>
              </a:rPr>
              <a:t>Runge</a:t>
            </a:r>
            <a:r>
              <a:rPr lang="zh-CN" altLang="en-US" dirty="0">
                <a:solidFill>
                  <a:srgbClr val="7030A0"/>
                </a:solidFill>
                <a:latin typeface="-apple-system"/>
              </a:rPr>
              <a:t>）指的是对于某些函数，使用均匀节点构造高次多项式差值时，在插值区间的边缘的误差可能很大的现象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6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龙格现象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95600" y="548680"/>
            <a:ext cx="6815013" cy="514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9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166938" y="285750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grpSp>
        <p:nvGrpSpPr>
          <p:cNvPr id="2" name="组合 12"/>
          <p:cNvGrpSpPr>
            <a:grpSpLocks/>
          </p:cNvGrpSpPr>
          <p:nvPr/>
        </p:nvGrpSpPr>
        <p:grpSpPr bwMode="auto">
          <a:xfrm>
            <a:off x="2166938" y="1000125"/>
            <a:ext cx="6727825" cy="3538538"/>
            <a:chOff x="642938" y="1000125"/>
            <a:chExt cx="6728049" cy="3538538"/>
          </a:xfrm>
        </p:grpSpPr>
        <p:sp>
          <p:nvSpPr>
            <p:cNvPr id="15370" name="Rectangle 2"/>
            <p:cNvSpPr>
              <a:spLocks noChangeArrowheads="1"/>
            </p:cNvSpPr>
            <p:nvPr/>
          </p:nvSpPr>
          <p:spPr bwMode="auto">
            <a:xfrm>
              <a:off x="792163" y="1000125"/>
              <a:ext cx="43317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rgbClr val="CC0000"/>
                  </a:solidFill>
                </a:rPr>
                <a:t>1. </a:t>
              </a: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差商（均差</a:t>
              </a:r>
              <a:r>
                <a:rPr lang="en-US" altLang="zh-CN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及其对称性</a:t>
              </a:r>
              <a:endParaRPr lang="zh-CN" altLang="en-US" sz="2800" b="1" dirty="0">
                <a:solidFill>
                  <a:srgbClr val="CC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371" name="Object 2"/>
                <p:cNvGraphicFramePr>
                  <a:graphicFrameLocks noChangeAspect="1"/>
                </p:cNvGraphicFramePr>
                <p:nvPr/>
              </p:nvGraphicFramePr>
              <p:xfrm>
                <a:off x="2357438" y="2266950"/>
                <a:ext cx="3409950" cy="519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6378" name="Equation" r:id="rId3" imgW="26108025" imgH="3952875" progId="Equation.DSMT4">
                        <p:embed/>
                      </p:oleObj>
                    </mc:Choice>
                    <mc:Fallback>
                      <p:oleObj name="Equation" r:id="rId3" imgW="26108025" imgH="3952875" progId="Equation.DSMT4">
                        <p:embed/>
                        <p:pic>
                          <p:nvPicPr>
                            <p:cNvPr id="0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57438" y="2266950"/>
                              <a:ext cx="3409950" cy="5191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371" name="Object 2"/>
                <p:cNvGraphicFramePr>
                  <a:graphicFrameLocks noChangeAspect="1"/>
                </p:cNvGraphicFramePr>
                <p:nvPr/>
              </p:nvGraphicFramePr>
              <p:xfrm>
                <a:off x="2357438" y="2266950"/>
                <a:ext cx="3409950" cy="519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6255" name="Equation" r:id="rId5" imgW="26108025" imgH="3952875" progId="Equation.DSMT4">
                        <p:embed/>
                      </p:oleObj>
                    </mc:Choice>
                    <mc:Fallback>
                      <p:oleObj name="Equation" r:id="rId5" imgW="26108025" imgH="3952875" progId="Equation.DSMT4">
                        <p:embed/>
                        <p:pic>
                          <p:nvPicPr>
                            <p:cNvPr id="0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57438" y="2266950"/>
                              <a:ext cx="3409950" cy="5191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5372" name="矩形 6"/>
            <p:cNvSpPr>
              <a:spLocks noChangeArrowheads="1"/>
            </p:cNvSpPr>
            <p:nvPr/>
          </p:nvSpPr>
          <p:spPr bwMode="auto">
            <a:xfrm>
              <a:off x="1143000" y="1714500"/>
              <a:ext cx="62279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对于函数 </a:t>
              </a:r>
              <a:r>
                <a:rPr lang="en-US" altLang="zh-CN" sz="2400" i="1"/>
                <a:t>f</a:t>
              </a:r>
              <a:r>
                <a:rPr lang="en-US" altLang="zh-CN" sz="2400"/>
                <a:t>(</a:t>
              </a:r>
              <a:r>
                <a:rPr lang="en-US" altLang="zh-CN" sz="2400" i="1"/>
                <a:t>x</a:t>
              </a:r>
              <a:r>
                <a:rPr lang="en-US" altLang="zh-CN" sz="2400"/>
                <a:t>)</a:t>
              </a:r>
              <a:r>
                <a:rPr lang="zh-CN" altLang="en-US" sz="2400"/>
                <a:t>，已知其某些离散值（型值）：</a:t>
              </a:r>
            </a:p>
          </p:txBody>
        </p:sp>
        <p:sp>
          <p:nvSpPr>
            <p:cNvPr id="15373" name="矩形 7"/>
            <p:cNvSpPr>
              <a:spLocks noChangeArrowheads="1"/>
            </p:cNvSpPr>
            <p:nvPr/>
          </p:nvSpPr>
          <p:spPr bwMode="auto">
            <a:xfrm>
              <a:off x="857250" y="2928938"/>
              <a:ext cx="322738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可定义函数 </a:t>
              </a:r>
              <a:r>
                <a:rPr lang="en-US" altLang="zh-CN" sz="2400" i="1"/>
                <a:t>f</a:t>
              </a:r>
              <a:r>
                <a:rPr lang="en-US" altLang="zh-CN" sz="2400"/>
                <a:t>(</a:t>
              </a:r>
              <a:r>
                <a:rPr lang="en-US" altLang="zh-CN" sz="2400" i="1"/>
                <a:t>x</a:t>
              </a:r>
              <a:r>
                <a:rPr lang="en-US" altLang="zh-CN" sz="2400"/>
                <a:t>)</a:t>
              </a:r>
              <a:r>
                <a:rPr lang="zh-CN" altLang="en-US" sz="2400"/>
                <a:t> </a:t>
              </a:r>
              <a:r>
                <a:rPr lang="zh-CN" altLang="en-US" sz="2400" b="1">
                  <a:solidFill>
                    <a:srgbClr val="CC0000"/>
                  </a:solidFill>
                </a:rPr>
                <a:t>差商</a:t>
              </a:r>
              <a:r>
                <a:rPr lang="zh-CN" altLang="en-US" sz="2400"/>
                <a:t>：</a:t>
              </a:r>
            </a:p>
          </p:txBody>
        </p:sp>
        <p:sp>
          <p:nvSpPr>
            <p:cNvPr id="15374" name="矩形 8"/>
            <p:cNvSpPr>
              <a:spLocks noChangeArrowheads="1"/>
            </p:cNvSpPr>
            <p:nvPr/>
          </p:nvSpPr>
          <p:spPr bwMode="auto">
            <a:xfrm>
              <a:off x="642938" y="3752850"/>
              <a:ext cx="14160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一阶差商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75" name="Object 4"/>
                <p:cNvSpPr txBox="1"/>
                <p:nvPr/>
              </p:nvSpPr>
              <p:spPr bwMode="auto">
                <a:xfrm>
                  <a:off x="1928856" y="3500438"/>
                  <a:ext cx="2636925" cy="1038225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375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8856" y="3500438"/>
                  <a:ext cx="2636925" cy="103822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13FE872-BD75-44E0-9603-C93C71522874}"/>
              </a:ext>
            </a:extLst>
          </p:cNvPr>
          <p:cNvGrpSpPr/>
          <p:nvPr/>
        </p:nvGrpSpPr>
        <p:grpSpPr>
          <a:xfrm>
            <a:off x="2095500" y="5715000"/>
            <a:ext cx="8429625" cy="981075"/>
            <a:chOff x="2095500" y="5715000"/>
            <a:chExt cx="8429625" cy="981075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367" name="Object 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974136"/>
                    </p:ext>
                  </p:extLst>
                </p:nvPr>
              </p:nvGraphicFramePr>
              <p:xfrm>
                <a:off x="3300413" y="5715000"/>
                <a:ext cx="7224712" cy="9810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6379" name="Equation" r:id="rId8" imgW="55292625" imgH="7458075" progId="Equation.DSMT4">
                        <p:embed/>
                      </p:oleObj>
                    </mc:Choice>
                    <mc:Fallback>
                      <p:oleObj name="Equation" r:id="rId8" imgW="55292625" imgH="7458075" progId="Equation.DSMT4">
                        <p:embed/>
                        <p:pic>
                          <p:nvPicPr>
                            <p:cNvPr id="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00413" y="5715000"/>
                              <a:ext cx="7224712" cy="9810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367" name="Object 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974136"/>
                    </p:ext>
                  </p:extLst>
                </p:nvPr>
              </p:nvGraphicFramePr>
              <p:xfrm>
                <a:off x="3300413" y="5715000"/>
                <a:ext cx="7224712" cy="9810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6256" name="Equation" r:id="rId10" imgW="55292625" imgH="7458075" progId="Equation.DSMT4">
                        <p:embed/>
                      </p:oleObj>
                    </mc:Choice>
                    <mc:Fallback>
                      <p:oleObj name="Equation" r:id="rId10" imgW="55292625" imgH="7458075" progId="Equation.DSMT4">
                        <p:embed/>
                        <p:pic>
                          <p:nvPicPr>
                            <p:cNvPr id="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00413" y="5715000"/>
                              <a:ext cx="7224712" cy="9810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2E84A82-A388-48D7-8C25-1157CA3A40A9}"/>
                </a:ext>
              </a:extLst>
            </p:cNvPr>
            <p:cNvGrpSpPr/>
            <p:nvPr/>
          </p:nvGrpSpPr>
          <p:grpSpPr>
            <a:xfrm>
              <a:off x="2095500" y="5938837"/>
              <a:ext cx="3712468" cy="461963"/>
              <a:chOff x="2095500" y="5938837"/>
              <a:chExt cx="3712468" cy="461963"/>
            </a:xfrm>
          </p:grpSpPr>
          <p:sp>
            <p:nvSpPr>
              <p:cNvPr id="15366" name="矩形 13"/>
              <p:cNvSpPr>
                <a:spLocks noChangeArrowheads="1"/>
              </p:cNvSpPr>
              <p:nvPr/>
            </p:nvSpPr>
            <p:spPr bwMode="auto">
              <a:xfrm>
                <a:off x="2095500" y="5938837"/>
                <a:ext cx="1338262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 dirty="0"/>
                  <a:t>n </a:t>
                </a:r>
                <a:r>
                  <a:rPr lang="zh-CN" altLang="en-US" sz="2400" dirty="0"/>
                  <a:t>阶差商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矩形 6">
                    <a:extLst>
                      <a:ext uri="{FF2B5EF4-FFF2-40B4-BE49-F238E27FC236}">
                        <a16:creationId xmlns:a16="http://schemas.microsoft.com/office/drawing/2014/main" id="{42E73603-EDA1-4261-B0B0-054A9F8AC1E9}"/>
                      </a:ext>
                    </a:extLst>
                  </p:cNvPr>
                  <p:cNvSpPr/>
                  <p:nvPr/>
                </p:nvSpPr>
                <p:spPr>
                  <a:xfrm>
                    <a:off x="3321785" y="5939135"/>
                    <a:ext cx="2486183" cy="46166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a14:m>
                    <a:r>
                      <a:rPr lang="en-US" altLang="zh-CN" dirty="0"/>
                      <a:t>: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7" name="矩形 6">
                    <a:extLst>
                      <a:ext uri="{FF2B5EF4-FFF2-40B4-BE49-F238E27FC236}">
                        <a16:creationId xmlns:a16="http://schemas.microsoft.com/office/drawing/2014/main" id="{42E73603-EDA1-4261-B0B0-054A9F8AC1E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1785" y="5939135"/>
                    <a:ext cx="2486183" cy="46166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206" t="-10526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DEA73A3-A047-47E7-9EA2-2567FED6A1F5}"/>
              </a:ext>
            </a:extLst>
          </p:cNvPr>
          <p:cNvGrpSpPr/>
          <p:nvPr/>
        </p:nvGrpSpPr>
        <p:grpSpPr>
          <a:xfrm>
            <a:off x="2095500" y="4592266"/>
            <a:ext cx="6410325" cy="1009650"/>
            <a:chOff x="2095500" y="4592266"/>
            <a:chExt cx="6410325" cy="100965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ADEE97E-7D8A-4087-B1E6-D0E646745FB5}"/>
                </a:ext>
              </a:extLst>
            </p:cNvPr>
            <p:cNvGrpSpPr/>
            <p:nvPr/>
          </p:nvGrpSpPr>
          <p:grpSpPr>
            <a:xfrm>
              <a:off x="2095500" y="4592266"/>
              <a:ext cx="6410325" cy="1009650"/>
              <a:chOff x="2166938" y="4592638"/>
              <a:chExt cx="6410325" cy="1009650"/>
            </a:xfrm>
          </p:grpSpPr>
          <p:sp>
            <p:nvSpPr>
              <p:cNvPr id="15368" name="矩形 11"/>
              <p:cNvSpPr>
                <a:spLocks noChangeArrowheads="1"/>
              </p:cNvSpPr>
              <p:nvPr/>
            </p:nvSpPr>
            <p:spPr bwMode="auto">
              <a:xfrm>
                <a:off x="2166938" y="4852988"/>
                <a:ext cx="1416050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/>
                  <a:t>二阶差商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369" name="Object 5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36589478"/>
                      </p:ext>
                    </p:extLst>
                  </p:nvPr>
                </p:nvGraphicFramePr>
                <p:xfrm>
                  <a:off x="3703638" y="4592638"/>
                  <a:ext cx="4873625" cy="10096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6380" name="Equation" r:id="rId13" imgW="37299900" imgH="7677150" progId="Equation.DSMT4">
                          <p:embed/>
                        </p:oleObj>
                      </mc:Choice>
                      <mc:Fallback>
                        <p:oleObj name="Equation" r:id="rId13" imgW="37299900" imgH="7677150" progId="Equation.DSMT4">
                          <p:embed/>
                          <p:pic>
                            <p:nvPicPr>
                              <p:cNvPr id="0" name="Object 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03638" y="4592638"/>
                                <a:ext cx="4873625" cy="100965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369" name="Object 5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36589478"/>
                      </p:ext>
                    </p:extLst>
                  </p:nvPr>
                </p:nvGraphicFramePr>
                <p:xfrm>
                  <a:off x="3703638" y="4592638"/>
                  <a:ext cx="4873625" cy="10096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6257" name="Equation" r:id="rId15" imgW="37299900" imgH="7677150" progId="Equation.DSMT4">
                          <p:embed/>
                        </p:oleObj>
                      </mc:Choice>
                      <mc:Fallback>
                        <p:oleObj name="Equation" r:id="rId15" imgW="37299900" imgH="7677150" progId="Equation.DSMT4">
                          <p:embed/>
                          <p:pic>
                            <p:nvPicPr>
                              <p:cNvPr id="0" name="Object 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03638" y="4592638"/>
                                <a:ext cx="4873625" cy="100965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D511FA42-2990-4A04-AD5C-5380AC336EC8}"/>
                    </a:ext>
                  </a:extLst>
                </p:cNvPr>
                <p:cNvSpPr/>
                <p:nvPr/>
              </p:nvSpPr>
              <p:spPr>
                <a:xfrm>
                  <a:off x="3479093" y="4865807"/>
                  <a:ext cx="2107206" cy="49141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altLang="zh-CN" dirty="0"/>
                    <a:t>: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D511FA42-2990-4A04-AD5C-5380AC336E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9093" y="4865807"/>
                  <a:ext cx="2107206" cy="491417"/>
                </a:xfrm>
                <a:prstGeom prst="rect">
                  <a:avLst/>
                </a:prstGeom>
                <a:blipFill>
                  <a:blip r:embed="rId17"/>
                  <a:stretch>
                    <a:fillRect l="-2609" t="-9877" b="-209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3"/>
          <p:cNvSpPr>
            <a:spLocks noChangeArrowheads="1"/>
          </p:cNvSpPr>
          <p:nvPr/>
        </p:nvSpPr>
        <p:spPr bwMode="auto">
          <a:xfrm>
            <a:off x="1666190" y="725677"/>
            <a:ext cx="84802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定理：差商具有对称性（即其与点的排列顺次无关）</a:t>
            </a:r>
            <a:endParaRPr lang="zh-CN" altLang="en-US" sz="2800" dirty="0"/>
          </a:p>
        </p:txBody>
      </p:sp>
      <p:sp>
        <p:nvSpPr>
          <p:cNvPr id="4100" name="矩形 4"/>
          <p:cNvSpPr>
            <a:spLocks noChangeArrowheads="1"/>
          </p:cNvSpPr>
          <p:nvPr/>
        </p:nvSpPr>
        <p:spPr bwMode="auto">
          <a:xfrm>
            <a:off x="2238375" y="1466850"/>
            <a:ext cx="3587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CC0000"/>
                </a:solidFill>
                <a:latin typeface="宋体" panose="02010600030101010101" pitchFamily="2" charset="-122"/>
              </a:rPr>
              <a:t>证明：</a:t>
            </a:r>
            <a:r>
              <a:rPr lang="zh-CN" altLang="en-US" sz="2400" b="1">
                <a:latin typeface="宋体" panose="02010600030101010101" pitchFamily="2" charset="-122"/>
              </a:rPr>
              <a:t>采用数学归纳法。</a:t>
            </a:r>
            <a:endParaRPr lang="zh-CN" altLang="en-US" sz="2400"/>
          </a:p>
        </p:txBody>
      </p:sp>
      <p:sp>
        <p:nvSpPr>
          <p:cNvPr id="4101" name="矩形 5"/>
          <p:cNvSpPr>
            <a:spLocks noChangeArrowheads="1"/>
          </p:cNvSpPr>
          <p:nvPr/>
        </p:nvSpPr>
        <p:spPr bwMode="auto">
          <a:xfrm>
            <a:off x="2309813" y="2219325"/>
            <a:ext cx="2800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）对于一阶差商</a:t>
            </a:r>
          </a:p>
        </p:txBody>
      </p:sp>
      <p:sp>
        <p:nvSpPr>
          <p:cNvPr id="2" name="矩形 9"/>
          <p:cNvSpPr>
            <a:spLocks noChangeArrowheads="1"/>
          </p:cNvSpPr>
          <p:nvPr/>
        </p:nvSpPr>
        <p:spPr bwMode="auto">
          <a:xfrm>
            <a:off x="2943225" y="5467350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命题成立！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197B041-57D1-4F48-BD08-9D4327AAC002}"/>
              </a:ext>
            </a:extLst>
          </p:cNvPr>
          <p:cNvGrpSpPr/>
          <p:nvPr/>
        </p:nvGrpSpPr>
        <p:grpSpPr>
          <a:xfrm>
            <a:off x="2611438" y="3068638"/>
            <a:ext cx="5634560" cy="1031081"/>
            <a:chOff x="2611438" y="3068638"/>
            <a:chExt cx="5634560" cy="103108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098" name="Object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87660492"/>
                    </p:ext>
                  </p:extLst>
                </p:nvPr>
              </p:nvGraphicFramePr>
              <p:xfrm>
                <a:off x="2611438" y="3068638"/>
                <a:ext cx="2636837" cy="9810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346" name="Equation" r:id="rId3" imgW="20183475" imgH="7458075" progId="Equation.DSMT4">
                        <p:embed/>
                      </p:oleObj>
                    </mc:Choice>
                    <mc:Fallback>
                      <p:oleObj name="Equation" r:id="rId3" imgW="20183475" imgH="7458075" progId="Equation.DSMT4">
                        <p:embed/>
                        <p:pic>
                          <p:nvPicPr>
                            <p:cNvPr id="0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11438" y="3068638"/>
                              <a:ext cx="2636837" cy="9810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098" name="Object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87660492"/>
                    </p:ext>
                  </p:extLst>
                </p:nvPr>
              </p:nvGraphicFramePr>
              <p:xfrm>
                <a:off x="2611438" y="3068638"/>
                <a:ext cx="2636837" cy="9810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264" name="Equation" r:id="rId5" imgW="20183475" imgH="7458075" progId="Equation.DSMT4">
                        <p:embed/>
                      </p:oleObj>
                    </mc:Choice>
                    <mc:Fallback>
                      <p:oleObj name="Equation" r:id="rId5" imgW="20183475" imgH="7458075" progId="Equation.DSMT4">
                        <p:embed/>
                        <p:pic>
                          <p:nvPicPr>
                            <p:cNvPr id="0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11438" y="3068638"/>
                              <a:ext cx="2636837" cy="9810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7"/>
                <p:cNvSpPr txBox="1"/>
                <p:nvPr/>
              </p:nvSpPr>
              <p:spPr bwMode="auto">
                <a:xfrm>
                  <a:off x="3709988" y="3118644"/>
                  <a:ext cx="4536010" cy="981075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09988" y="3118644"/>
                  <a:ext cx="4536010" cy="9810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832225" y="4149725"/>
          <a:ext cx="25812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7" name="Equation" r:id="rId8" imgW="19745325" imgH="7458075" progId="Equation.DSMT4">
                  <p:embed/>
                </p:oleObj>
              </mc:Choice>
              <mc:Fallback>
                <p:oleObj name="Equation" r:id="rId8" imgW="19745325" imgH="745807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225" y="4149725"/>
                        <a:ext cx="258127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4101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3"/>
              <p:cNvSpPr txBox="1"/>
              <p:nvPr/>
            </p:nvSpPr>
            <p:spPr bwMode="auto">
              <a:xfrm>
                <a:off x="2503488" y="1268413"/>
                <a:ext cx="7394575" cy="147161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2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3488" y="1268413"/>
                <a:ext cx="7394575" cy="14716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1" name="矩形 6"/>
          <p:cNvSpPr>
            <a:spLocks noChangeArrowheads="1"/>
          </p:cNvSpPr>
          <p:nvPr/>
        </p:nvSpPr>
        <p:spPr bwMode="auto">
          <a:xfrm>
            <a:off x="2381250" y="642938"/>
            <a:ext cx="203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对于二阶差商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381250" y="2997200"/>
          <a:ext cx="808196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2" name="Equation" r:id="rId4" imgW="61874400" imgH="7458075" progId="Equation.DSMT4">
                  <p:embed/>
                </p:oleObj>
              </mc:Choice>
              <mc:Fallback>
                <p:oleObj name="Equation" r:id="rId4" imgW="61874400" imgH="745807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2997200"/>
                        <a:ext cx="8081963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552700" y="4522788"/>
          <a:ext cx="2493963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3" name="Equation" r:id="rId6" imgW="19088100" imgH="12725400" progId="Equation.DSMT4">
                  <p:embed/>
                </p:oleObj>
              </mc:Choice>
              <mc:Fallback>
                <p:oleObj name="Equation" r:id="rId6" imgW="19088100" imgH="12725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522788"/>
                        <a:ext cx="2493963" cy="167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3"/>
          <p:cNvSpPr>
            <a:spLocks noChangeArrowheads="1"/>
          </p:cNvSpPr>
          <p:nvPr/>
        </p:nvSpPr>
        <p:spPr bwMode="auto">
          <a:xfrm>
            <a:off x="2024063" y="428625"/>
            <a:ext cx="7856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）假设命题对于 </a:t>
            </a:r>
            <a:r>
              <a:rPr lang="en-US" altLang="zh-CN" sz="2400"/>
              <a:t>(</a:t>
            </a:r>
            <a:r>
              <a:rPr lang="en-US" altLang="zh-CN" sz="2400" i="1"/>
              <a:t>n</a:t>
            </a:r>
            <a:r>
              <a:rPr lang="en-US" altLang="zh-CN" sz="2400"/>
              <a:t>-1) </a:t>
            </a:r>
            <a:r>
              <a:rPr lang="zh-CN" altLang="en-US" sz="2400"/>
              <a:t>阶差商成立。我们考虑</a:t>
            </a:r>
            <a:r>
              <a:rPr lang="en-US" altLang="zh-CN" sz="2400" i="1"/>
              <a:t> n</a:t>
            </a:r>
            <a:r>
              <a:rPr lang="en-US" altLang="zh-CN" sz="2400"/>
              <a:t> </a:t>
            </a:r>
            <a:r>
              <a:rPr lang="zh-CN" altLang="en-US" sz="2400"/>
              <a:t>阶差商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2"/>
              <p:cNvSpPr txBox="1"/>
              <p:nvPr/>
            </p:nvSpPr>
            <p:spPr bwMode="auto">
              <a:xfrm>
                <a:off x="2640013" y="1244600"/>
                <a:ext cx="6348412" cy="8890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4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0013" y="1244600"/>
                <a:ext cx="6348412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矩形 5"/>
          <p:cNvSpPr>
            <a:spLocks noChangeArrowheads="1"/>
          </p:cNvSpPr>
          <p:nvPr/>
        </p:nvSpPr>
        <p:spPr bwMode="auto">
          <a:xfrm>
            <a:off x="9525000" y="63246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证毕。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178175" y="2146300"/>
          <a:ext cx="5434013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40" name="Equation" r:id="rId4" imgW="46958250" imgH="12725400" progId="Equation.DSMT4">
                  <p:embed/>
                </p:oleObj>
              </mc:Choice>
              <mc:Fallback>
                <p:oleObj name="Equation" r:id="rId4" imgW="46958250" imgH="12725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175" y="2146300"/>
                        <a:ext cx="5434013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1738313" y="3586163"/>
          <a:ext cx="8863012" cy="151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41" name="Equation" r:id="rId6" imgW="76581000" imgH="12725400" progId="Equation.DSMT4">
                  <p:embed/>
                </p:oleObj>
              </mc:Choice>
              <mc:Fallback>
                <p:oleObj name="Equation" r:id="rId6" imgW="76581000" imgH="12725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3586163"/>
                        <a:ext cx="8863012" cy="151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1662113" y="5170488"/>
          <a:ext cx="7948612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42" name="Equation" r:id="rId8" imgW="68684775" imgH="12725400" progId="Equation.DSMT4">
                  <p:embed/>
                </p:oleObj>
              </mc:Choice>
              <mc:Fallback>
                <p:oleObj name="Equation" r:id="rId8" imgW="68684775" imgH="12725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113" y="5170488"/>
                        <a:ext cx="7948612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07368" y="1720964"/>
            <a:ext cx="390729" cy="2827683"/>
            <a:chOff x="1624794" y="886294"/>
            <a:chExt cx="390729" cy="2827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634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7937" r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677" r="-806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677" r="-806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blipFill>
                <a:blip r:embed="rId6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blipFill>
                <a:blip r:embed="rId7"/>
                <a:stretch>
                  <a:fillRect l="-12030" r="-1353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blipFill>
                <a:blip r:embed="rId8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blipFill>
                <a:blip r:embed="rId9"/>
                <a:stretch>
                  <a:fillRect l="-11940" r="-13433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95400" y="48107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20829" y="2138461"/>
                <a:ext cx="3373296" cy="766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9" y="2138461"/>
                <a:ext cx="3373296" cy="766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185352" y="1054812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差商表</a:t>
            </a:r>
            <a:endParaRPr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25EFEF-9773-4006-9EA0-94E5AEF86D93}"/>
              </a:ext>
            </a:extLst>
          </p:cNvPr>
          <p:cNvSpPr/>
          <p:nvPr/>
        </p:nvSpPr>
        <p:spPr bwMode="auto">
          <a:xfrm>
            <a:off x="407368" y="1578032"/>
            <a:ext cx="1613461" cy="1209450"/>
          </a:xfrm>
          <a:prstGeom prst="rect">
            <a:avLst/>
          </a:prstGeom>
          <a:noFill/>
          <a:ln w="25400" cap="rnd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10A284-87CC-4E44-BA2A-9F5E27F0548B}"/>
              </a:ext>
            </a:extLst>
          </p:cNvPr>
          <p:cNvSpPr/>
          <p:nvPr/>
        </p:nvSpPr>
        <p:spPr bwMode="auto">
          <a:xfrm>
            <a:off x="2117932" y="1804795"/>
            <a:ext cx="3276193" cy="1209450"/>
          </a:xfrm>
          <a:prstGeom prst="rect">
            <a:avLst/>
          </a:prstGeom>
          <a:noFill/>
          <a:ln w="25400" cap="rnd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742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4" grpId="0"/>
      <p:bldP spid="2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07368" y="1720964"/>
            <a:ext cx="390729" cy="2827683"/>
            <a:chOff x="1624794" y="886294"/>
            <a:chExt cx="390729" cy="2827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634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7937" r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677" r="-806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677" r="-806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blipFill>
                <a:blip r:embed="rId6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blipFill>
                <a:blip r:embed="rId7"/>
                <a:stretch>
                  <a:fillRect l="-12030" r="-1353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blipFill>
                <a:blip r:embed="rId8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blipFill>
                <a:blip r:embed="rId9"/>
                <a:stretch>
                  <a:fillRect l="-11940" r="-13433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95400" y="48107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20829" y="2138461"/>
                <a:ext cx="3373296" cy="766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9" y="2138461"/>
                <a:ext cx="3373296" cy="766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991544" y="2981221"/>
                <a:ext cx="3373296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981221"/>
                <a:ext cx="3373296" cy="763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185352" y="1054812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差商表</a:t>
            </a:r>
            <a:endParaRPr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25EFEF-9773-4006-9EA0-94E5AEF86D93}"/>
              </a:ext>
            </a:extLst>
          </p:cNvPr>
          <p:cNvSpPr/>
          <p:nvPr/>
        </p:nvSpPr>
        <p:spPr bwMode="auto">
          <a:xfrm>
            <a:off x="302557" y="2380705"/>
            <a:ext cx="1613461" cy="1209450"/>
          </a:xfrm>
          <a:prstGeom prst="rect">
            <a:avLst/>
          </a:prstGeom>
          <a:noFill/>
          <a:ln w="25400" cap="rnd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10A284-87CC-4E44-BA2A-9F5E27F0548B}"/>
              </a:ext>
            </a:extLst>
          </p:cNvPr>
          <p:cNvSpPr/>
          <p:nvPr/>
        </p:nvSpPr>
        <p:spPr bwMode="auto">
          <a:xfrm>
            <a:off x="2053840" y="2904696"/>
            <a:ext cx="3276193" cy="956352"/>
          </a:xfrm>
          <a:prstGeom prst="rect">
            <a:avLst/>
          </a:prstGeom>
          <a:noFill/>
          <a:ln w="25400" cap="rnd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201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07368" y="1720964"/>
            <a:ext cx="390729" cy="2827683"/>
            <a:chOff x="1624794" y="886294"/>
            <a:chExt cx="390729" cy="2827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634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7937" r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677" r="-806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677" r="-806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blipFill>
                <a:blip r:embed="rId6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blipFill>
                <a:blip r:embed="rId7"/>
                <a:stretch>
                  <a:fillRect l="-12030" r="-1353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blipFill>
                <a:blip r:embed="rId8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blipFill>
                <a:blip r:embed="rId9"/>
                <a:stretch>
                  <a:fillRect l="-11940" r="-13433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95400" y="48107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185352" y="1054812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差商表</a:t>
            </a:r>
            <a:endParaRPr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58CFE4-5AED-4BB1-B42D-8FD1D3F5EC93}"/>
              </a:ext>
            </a:extLst>
          </p:cNvPr>
          <p:cNvSpPr/>
          <p:nvPr/>
        </p:nvSpPr>
        <p:spPr bwMode="auto">
          <a:xfrm>
            <a:off x="333882" y="3304963"/>
            <a:ext cx="1613461" cy="1209450"/>
          </a:xfrm>
          <a:prstGeom prst="rect">
            <a:avLst/>
          </a:prstGeom>
          <a:noFill/>
          <a:ln w="25400" cap="rnd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CF2B84C-1594-40E2-9E41-115EE05435B4}"/>
              </a:ext>
            </a:extLst>
          </p:cNvPr>
          <p:cNvSpPr/>
          <p:nvPr/>
        </p:nvSpPr>
        <p:spPr bwMode="auto">
          <a:xfrm>
            <a:off x="2085165" y="3828954"/>
            <a:ext cx="3276193" cy="956352"/>
          </a:xfrm>
          <a:prstGeom prst="rect">
            <a:avLst/>
          </a:prstGeom>
          <a:noFill/>
          <a:ln w="25400" cap="rnd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701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07368" y="1720964"/>
            <a:ext cx="390729" cy="2827683"/>
            <a:chOff x="1624794" y="886294"/>
            <a:chExt cx="390729" cy="2827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634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7937" r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677" r="-806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677" r="-806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blipFill>
                <a:blip r:embed="rId6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blipFill>
                <a:blip r:embed="rId7"/>
                <a:stretch>
                  <a:fillRect l="-12030" r="-1353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blipFill>
                <a:blip r:embed="rId8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blipFill>
                <a:blip r:embed="rId9"/>
                <a:stretch>
                  <a:fillRect l="-11940" r="-13433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95400" y="48107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185352" y="1054812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差商表</a:t>
            </a:r>
            <a:endParaRPr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CE7606-C7C6-4B01-9DE1-960B2D2F9FAD}"/>
              </a:ext>
            </a:extLst>
          </p:cNvPr>
          <p:cNvSpPr/>
          <p:nvPr/>
        </p:nvSpPr>
        <p:spPr bwMode="auto">
          <a:xfrm>
            <a:off x="2062332" y="2090296"/>
            <a:ext cx="3474300" cy="1723748"/>
          </a:xfrm>
          <a:prstGeom prst="rect">
            <a:avLst/>
          </a:prstGeom>
          <a:noFill/>
          <a:ln w="25400" cap="rnd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CCF2F8-BC14-484F-AFF5-6834650DADA7}"/>
              </a:ext>
            </a:extLst>
          </p:cNvPr>
          <p:cNvSpPr/>
          <p:nvPr/>
        </p:nvSpPr>
        <p:spPr bwMode="auto">
          <a:xfrm>
            <a:off x="5693237" y="2857692"/>
            <a:ext cx="4507219" cy="956352"/>
          </a:xfrm>
          <a:prstGeom prst="rect">
            <a:avLst/>
          </a:prstGeom>
          <a:noFill/>
          <a:ln w="25400" cap="rnd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687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07368" y="1720964"/>
            <a:ext cx="390729" cy="2827683"/>
            <a:chOff x="1624794" y="886294"/>
            <a:chExt cx="390729" cy="2827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634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7937" r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677" r="-806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677" r="-806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blipFill>
                <a:blip r:embed="rId6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blipFill>
                <a:blip r:embed="rId7"/>
                <a:stretch>
                  <a:fillRect l="-12030" r="-1353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blipFill>
                <a:blip r:embed="rId8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blipFill>
                <a:blip r:embed="rId9"/>
                <a:stretch>
                  <a:fillRect l="-11940" r="-13433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95400" y="48107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185352" y="1054812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差商表</a:t>
            </a:r>
            <a:endParaRPr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CE7606-C7C6-4B01-9DE1-960B2D2F9FAD}"/>
              </a:ext>
            </a:extLst>
          </p:cNvPr>
          <p:cNvSpPr/>
          <p:nvPr/>
        </p:nvSpPr>
        <p:spPr bwMode="auto">
          <a:xfrm>
            <a:off x="2003450" y="3021588"/>
            <a:ext cx="3474300" cy="1723748"/>
          </a:xfrm>
          <a:prstGeom prst="rect">
            <a:avLst/>
          </a:prstGeom>
          <a:noFill/>
          <a:ln w="25400" cap="rnd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CCF2F8-BC14-484F-AFF5-6834650DADA7}"/>
              </a:ext>
            </a:extLst>
          </p:cNvPr>
          <p:cNvSpPr/>
          <p:nvPr/>
        </p:nvSpPr>
        <p:spPr bwMode="auto">
          <a:xfrm>
            <a:off x="5663952" y="3854367"/>
            <a:ext cx="4507219" cy="956352"/>
          </a:xfrm>
          <a:prstGeom prst="rect">
            <a:avLst/>
          </a:prstGeom>
          <a:noFill/>
          <a:ln w="25400" cap="rnd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810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07368" y="1720964"/>
            <a:ext cx="390729" cy="2827683"/>
            <a:chOff x="1624794" y="886294"/>
            <a:chExt cx="390729" cy="2827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634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7937" r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677" r="-806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677" r="-806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blipFill>
                <a:blip r:embed="rId6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blipFill>
                <a:blip r:embed="rId7"/>
                <a:stretch>
                  <a:fillRect l="-12030" r="-1353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blipFill>
                <a:blip r:embed="rId8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blipFill>
                <a:blip r:embed="rId9"/>
                <a:stretch>
                  <a:fillRect l="-11940" r="-13433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95400" y="48107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10351641" y="4364332"/>
                <a:ext cx="1815432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641" y="4364332"/>
                <a:ext cx="1815432" cy="385555"/>
              </a:xfrm>
              <a:prstGeom prst="rect">
                <a:avLst/>
              </a:prstGeom>
              <a:blipFill>
                <a:blip r:embed="rId15"/>
                <a:stretch>
                  <a:fillRect l="-5034" r="-5705" b="-30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185352" y="1054812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差商表</a:t>
            </a:r>
            <a:endParaRPr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CE7606-C7C6-4B01-9DE1-960B2D2F9FAD}"/>
              </a:ext>
            </a:extLst>
          </p:cNvPr>
          <p:cNvSpPr/>
          <p:nvPr/>
        </p:nvSpPr>
        <p:spPr bwMode="auto">
          <a:xfrm>
            <a:off x="5678992" y="2981813"/>
            <a:ext cx="4408692" cy="1828905"/>
          </a:xfrm>
          <a:prstGeom prst="rect">
            <a:avLst/>
          </a:prstGeom>
          <a:noFill/>
          <a:ln w="25400" cap="rnd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CCF2F8-BC14-484F-AFF5-6834650DADA7}"/>
              </a:ext>
            </a:extLst>
          </p:cNvPr>
          <p:cNvSpPr/>
          <p:nvPr/>
        </p:nvSpPr>
        <p:spPr bwMode="auto">
          <a:xfrm>
            <a:off x="10245758" y="4271577"/>
            <a:ext cx="1921316" cy="539142"/>
          </a:xfrm>
          <a:prstGeom prst="rect">
            <a:avLst/>
          </a:prstGeom>
          <a:noFill/>
          <a:ln w="25400" cap="rnd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965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07368" y="1720964"/>
            <a:ext cx="390729" cy="2827683"/>
            <a:chOff x="1624794" y="886294"/>
            <a:chExt cx="390729" cy="2827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634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7937" r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677" r="-806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677" r="-806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blipFill>
                <a:blip r:embed="rId6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blipFill>
                <a:blip r:embed="rId7"/>
                <a:stretch>
                  <a:fillRect l="-12030" r="-1353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blipFill>
                <a:blip r:embed="rId8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blipFill>
                <a:blip r:embed="rId9"/>
                <a:stretch>
                  <a:fillRect l="-11940" r="-13433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95400" y="48107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10351641" y="4364332"/>
                <a:ext cx="1815432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641" y="4364332"/>
                <a:ext cx="1815432" cy="385555"/>
              </a:xfrm>
              <a:prstGeom prst="rect">
                <a:avLst/>
              </a:prstGeom>
              <a:blipFill>
                <a:blip r:embed="rId15"/>
                <a:stretch>
                  <a:fillRect l="-5034" r="-5705" b="-30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185352" y="1054812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差商表</a:t>
            </a:r>
            <a:endParaRPr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1C988E-7C8B-4ED6-9740-EF35AA9EF227}"/>
              </a:ext>
            </a:extLst>
          </p:cNvPr>
          <p:cNvSpPr txBox="1"/>
          <p:nvPr/>
        </p:nvSpPr>
        <p:spPr>
          <a:xfrm>
            <a:off x="2351584" y="5373216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一阶差商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1760457-F52A-4931-9021-21DF5AFF51C1}"/>
              </a:ext>
            </a:extLst>
          </p:cNvPr>
          <p:cNvSpPr/>
          <p:nvPr/>
        </p:nvSpPr>
        <p:spPr bwMode="auto">
          <a:xfrm>
            <a:off x="1973894" y="1787228"/>
            <a:ext cx="3314323" cy="3283544"/>
          </a:xfrm>
          <a:prstGeom prst="roundRect">
            <a:avLst/>
          </a:prstGeom>
          <a:solidFill>
            <a:srgbClr val="FFFF00">
              <a:alpha val="1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1999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07368" y="1720964"/>
            <a:ext cx="390729" cy="2827683"/>
            <a:chOff x="1624794" y="886294"/>
            <a:chExt cx="390729" cy="2827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634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7937" r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677" r="-806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677" r="-806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blipFill>
                <a:blip r:embed="rId6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blipFill>
                <a:blip r:embed="rId7"/>
                <a:stretch>
                  <a:fillRect l="-12030" r="-1353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blipFill>
                <a:blip r:embed="rId8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blipFill>
                <a:blip r:embed="rId9"/>
                <a:stretch>
                  <a:fillRect l="-11940" r="-13433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95400" y="48107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10351641" y="4364332"/>
                <a:ext cx="1815432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641" y="4364332"/>
                <a:ext cx="1815432" cy="385555"/>
              </a:xfrm>
              <a:prstGeom prst="rect">
                <a:avLst/>
              </a:prstGeom>
              <a:blipFill>
                <a:blip r:embed="rId15"/>
                <a:stretch>
                  <a:fillRect l="-5034" r="-5705" b="-30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185352" y="1054812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差商表</a:t>
            </a:r>
            <a:endParaRPr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1C988E-7C8B-4ED6-9740-EF35AA9EF227}"/>
              </a:ext>
            </a:extLst>
          </p:cNvPr>
          <p:cNvSpPr txBox="1"/>
          <p:nvPr/>
        </p:nvSpPr>
        <p:spPr>
          <a:xfrm>
            <a:off x="2351584" y="537321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一阶差商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C88A18-70BE-4A71-A8DD-9C96E856F7D3}"/>
              </a:ext>
            </a:extLst>
          </p:cNvPr>
          <p:cNvSpPr txBox="1"/>
          <p:nvPr/>
        </p:nvSpPr>
        <p:spPr>
          <a:xfrm>
            <a:off x="6672064" y="5291086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二阶差商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1760457-F52A-4931-9021-21DF5AFF51C1}"/>
              </a:ext>
            </a:extLst>
          </p:cNvPr>
          <p:cNvSpPr/>
          <p:nvPr/>
        </p:nvSpPr>
        <p:spPr bwMode="auto">
          <a:xfrm>
            <a:off x="5585086" y="2904696"/>
            <a:ext cx="4586085" cy="1906023"/>
          </a:xfrm>
          <a:prstGeom prst="roundRect">
            <a:avLst/>
          </a:prstGeom>
          <a:solidFill>
            <a:srgbClr val="FFFF00">
              <a:alpha val="1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1729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07368" y="1720964"/>
            <a:ext cx="390729" cy="2827683"/>
            <a:chOff x="1624794" y="886294"/>
            <a:chExt cx="390729" cy="2827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1" y="886294"/>
                  <a:ext cx="38003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6349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030" y="1415502"/>
                  <a:ext cx="38003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7937" r="-4762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4794" y="2316532"/>
                  <a:ext cx="38003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677" r="-8065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484" y="3344645"/>
                  <a:ext cx="38003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677" r="-806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1" y="1764346"/>
                <a:ext cx="815480" cy="369332"/>
              </a:xfrm>
              <a:prstGeom prst="rect">
                <a:avLst/>
              </a:prstGeom>
              <a:blipFill>
                <a:blip r:embed="rId6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32" y="2340159"/>
                <a:ext cx="808363" cy="369332"/>
              </a:xfrm>
              <a:prstGeom prst="rect">
                <a:avLst/>
              </a:prstGeom>
              <a:blipFill>
                <a:blip r:embed="rId7"/>
                <a:stretch>
                  <a:fillRect l="-12030" r="-1353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231937"/>
                <a:ext cx="815480" cy="369332"/>
              </a:xfrm>
              <a:prstGeom prst="rect">
                <a:avLst/>
              </a:prstGeom>
              <a:blipFill>
                <a:blip r:embed="rId8"/>
                <a:stretch>
                  <a:fillRect l="-11940" r="-13433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211796"/>
                <a:ext cx="815480" cy="369332"/>
              </a:xfrm>
              <a:prstGeom prst="rect">
                <a:avLst/>
              </a:prstGeom>
              <a:blipFill>
                <a:blip r:embed="rId9"/>
                <a:stretch>
                  <a:fillRect l="-11940" r="-13433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95400" y="48107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9" y="2138461"/>
                <a:ext cx="3352456" cy="766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981221"/>
                <a:ext cx="3352456" cy="763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72" y="3979549"/>
                <a:ext cx="3366691" cy="7657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2983529"/>
                <a:ext cx="4310731" cy="7668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3984100"/>
                <a:ext cx="4317849" cy="7663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10351641" y="4364332"/>
                <a:ext cx="1815432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641" y="4364332"/>
                <a:ext cx="1815432" cy="385555"/>
              </a:xfrm>
              <a:prstGeom prst="rect">
                <a:avLst/>
              </a:prstGeom>
              <a:blipFill>
                <a:blip r:embed="rId15"/>
                <a:stretch>
                  <a:fillRect l="-5034" r="-5705" b="-30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185352" y="1054812"/>
            <a:ext cx="1356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差商表</a:t>
            </a:r>
            <a:endParaRPr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1C988E-7C8B-4ED6-9740-EF35AA9EF227}"/>
              </a:ext>
            </a:extLst>
          </p:cNvPr>
          <p:cNvSpPr txBox="1"/>
          <p:nvPr/>
        </p:nvSpPr>
        <p:spPr>
          <a:xfrm>
            <a:off x="2351584" y="537321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一阶差商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C88A18-70BE-4A71-A8DD-9C96E856F7D3}"/>
              </a:ext>
            </a:extLst>
          </p:cNvPr>
          <p:cNvSpPr txBox="1"/>
          <p:nvPr/>
        </p:nvSpPr>
        <p:spPr>
          <a:xfrm>
            <a:off x="6672064" y="529108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二阶差商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B536BA-FAAC-4EA3-A459-5CE2D030E4DF}"/>
              </a:ext>
            </a:extLst>
          </p:cNvPr>
          <p:cNvSpPr txBox="1"/>
          <p:nvPr/>
        </p:nvSpPr>
        <p:spPr>
          <a:xfrm>
            <a:off x="10498530" y="5272384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三阶差商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1760457-F52A-4931-9021-21DF5AFF51C1}"/>
              </a:ext>
            </a:extLst>
          </p:cNvPr>
          <p:cNvSpPr/>
          <p:nvPr/>
        </p:nvSpPr>
        <p:spPr bwMode="auto">
          <a:xfrm>
            <a:off x="10351641" y="4235800"/>
            <a:ext cx="1815432" cy="631405"/>
          </a:xfrm>
          <a:prstGeom prst="roundRect">
            <a:avLst/>
          </a:prstGeom>
          <a:solidFill>
            <a:srgbClr val="FFFF00">
              <a:alpha val="1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1157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979157"/>
            <a:ext cx="10363200" cy="41148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7030A0"/>
                </a:solidFill>
              </a:rPr>
              <a:t>问题</a:t>
            </a:r>
            <a:r>
              <a:rPr lang="zh-CN" altLang="en-US" sz="2800" dirty="0"/>
              <a:t>：能否有增加一个插值节点时，只增加一项？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            假设有两个插值点，则直线公式为：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AE17732-1C9E-4243-A547-122361085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F171899-B61D-483C-8996-864E7B81FDB1}"/>
                  </a:ext>
                </a:extLst>
              </p:cNvPr>
              <p:cNvSpPr txBox="1"/>
              <p:nvPr/>
            </p:nvSpPr>
            <p:spPr>
              <a:xfrm>
                <a:off x="2568979" y="2265338"/>
                <a:ext cx="3521413" cy="630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800" dirty="0"/>
                  <a:t>)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F171899-B61D-483C-8996-864E7B81F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979" y="2265338"/>
                <a:ext cx="3521413" cy="630044"/>
              </a:xfrm>
              <a:prstGeom prst="rect">
                <a:avLst/>
              </a:prstGeom>
              <a:blipFill>
                <a:blip r:embed="rId2"/>
                <a:stretch>
                  <a:fillRect t="-9709" r="-5190" b="-97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0E9089C9-8BF9-4B98-A10F-FF0BC3DCE59C}"/>
              </a:ext>
            </a:extLst>
          </p:cNvPr>
          <p:cNvGrpSpPr/>
          <p:nvPr/>
        </p:nvGrpSpPr>
        <p:grpSpPr>
          <a:xfrm>
            <a:off x="2639616" y="3029922"/>
            <a:ext cx="3290453" cy="1028897"/>
            <a:chOff x="2359183" y="3489515"/>
            <a:chExt cx="3290453" cy="10288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8B801C8-4058-4D8D-92B6-F82400E576A1}"/>
                    </a:ext>
                  </a:extLst>
                </p:cNvPr>
                <p:cNvSpPr txBox="1"/>
                <p:nvPr/>
              </p:nvSpPr>
              <p:spPr>
                <a:xfrm>
                  <a:off x="2359183" y="4149080"/>
                  <a:ext cx="32904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)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8B801C8-4058-4D8D-92B6-F82400E576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9183" y="4149080"/>
                  <a:ext cx="329045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3148" t="-24590" r="-2037" b="-491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箭头: 下 13">
              <a:extLst>
                <a:ext uri="{FF2B5EF4-FFF2-40B4-BE49-F238E27FC236}">
                  <a16:creationId xmlns:a16="http://schemas.microsoft.com/office/drawing/2014/main" id="{DD52122A-77DF-4FDB-833A-F329D6791C2C}"/>
                </a:ext>
              </a:extLst>
            </p:cNvPr>
            <p:cNvSpPr/>
            <p:nvPr/>
          </p:nvSpPr>
          <p:spPr bwMode="auto">
            <a:xfrm>
              <a:off x="3575720" y="3489515"/>
              <a:ext cx="288032" cy="752095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1C9FE51-FFF6-4D9C-8916-34498B256B12}"/>
              </a:ext>
            </a:extLst>
          </p:cNvPr>
          <p:cNvGrpSpPr/>
          <p:nvPr/>
        </p:nvGrpSpPr>
        <p:grpSpPr>
          <a:xfrm>
            <a:off x="1406238" y="4137319"/>
            <a:ext cx="5866093" cy="1161449"/>
            <a:chOff x="1114563" y="4703473"/>
            <a:chExt cx="5866093" cy="1161449"/>
          </a:xfrm>
        </p:grpSpPr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96AF024C-C73C-4F11-B83C-496F7AB2CEF8}"/>
                </a:ext>
              </a:extLst>
            </p:cNvPr>
            <p:cNvSpPr/>
            <p:nvPr/>
          </p:nvSpPr>
          <p:spPr bwMode="auto">
            <a:xfrm>
              <a:off x="3589218" y="4703473"/>
              <a:ext cx="288032" cy="752095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7C45BEB-1F5D-4D6B-A212-C8A0B55BC411}"/>
                    </a:ext>
                  </a:extLst>
                </p:cNvPr>
                <p:cNvSpPr txBox="1"/>
                <p:nvPr/>
              </p:nvSpPr>
              <p:spPr>
                <a:xfrm>
                  <a:off x="1114563" y="5495590"/>
                  <a:ext cx="586609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baseline="-250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a14:m>
                  <a:r>
                    <a:rPr lang="en-US" altLang="zh-CN" dirty="0"/>
                    <a:t>+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baseline="-250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7C45BEB-1F5D-4D6B-A212-C8A0B55BC4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563" y="5495590"/>
                  <a:ext cx="586609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871" t="-26667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4EB2D7C-3EE4-4D6F-9EF0-E698E0C6B98A}"/>
              </a:ext>
            </a:extLst>
          </p:cNvPr>
          <p:cNvGrpSpPr/>
          <p:nvPr/>
        </p:nvGrpSpPr>
        <p:grpSpPr>
          <a:xfrm>
            <a:off x="1406238" y="5432222"/>
            <a:ext cx="10739543" cy="1171481"/>
            <a:chOff x="1127918" y="4703473"/>
            <a:chExt cx="10739543" cy="1171481"/>
          </a:xfrm>
        </p:grpSpPr>
        <p:sp>
          <p:nvSpPr>
            <p:cNvPr id="20" name="箭头: 下 19">
              <a:extLst>
                <a:ext uri="{FF2B5EF4-FFF2-40B4-BE49-F238E27FC236}">
                  <a16:creationId xmlns:a16="http://schemas.microsoft.com/office/drawing/2014/main" id="{8691F638-29AE-4190-9733-603B2CB382DD}"/>
                </a:ext>
              </a:extLst>
            </p:cNvPr>
            <p:cNvSpPr/>
            <p:nvPr/>
          </p:nvSpPr>
          <p:spPr bwMode="auto">
            <a:xfrm>
              <a:off x="3589218" y="4703473"/>
              <a:ext cx="288032" cy="752095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18D58E4-9922-4259-9C25-DFF0C2A34773}"/>
                    </a:ext>
                  </a:extLst>
                </p:cNvPr>
                <p:cNvSpPr txBox="1"/>
                <p:nvPr/>
              </p:nvSpPr>
              <p:spPr>
                <a:xfrm>
                  <a:off x="1127918" y="5505622"/>
                  <a:ext cx="1073954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baseline="-250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a14:m>
                  <a:r>
                    <a:rPr lang="en-US" altLang="zh-CN" dirty="0"/>
                    <a:t>+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baseline="-250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en-US" altLang="zh-CN" dirty="0"/>
                    <a:t>+…+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baseline="-250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en-US" altLang="zh-CN" dirty="0"/>
                    <a:t>…(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)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18D58E4-9922-4259-9C25-DFF0C2A34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918" y="5505622"/>
                  <a:ext cx="1073954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022" t="-26667" r="-114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9688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220104" y="1631768"/>
                <a:ext cx="107395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…(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104" y="1631768"/>
                <a:ext cx="10739543" cy="369332"/>
              </a:xfrm>
              <a:prstGeom prst="rect">
                <a:avLst/>
              </a:prstGeom>
              <a:blipFill>
                <a:blip r:embed="rId2"/>
                <a:stretch>
                  <a:fillRect l="-965" t="-26667" r="-114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1464202" y="2572353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思考</a:t>
            </a:r>
            <a:r>
              <a:rPr lang="zh-CN" altLang="en-US" dirty="0"/>
              <a:t>：为什么成立？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166938" y="3404218"/>
                <a:ext cx="48829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由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=0,1,2…,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938" y="3404218"/>
                <a:ext cx="4882940" cy="369332"/>
              </a:xfrm>
              <a:prstGeom prst="rect">
                <a:avLst/>
              </a:prstGeom>
              <a:blipFill>
                <a:blip r:embed="rId3"/>
                <a:stretch>
                  <a:fillRect l="-1498" t="-4918" r="-250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495600" y="4025261"/>
                <a:ext cx="27583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/>
                          </m:sSub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/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4025261"/>
                <a:ext cx="2758319" cy="369332"/>
              </a:xfrm>
              <a:prstGeom prst="rect">
                <a:avLst/>
              </a:prstGeom>
              <a:blipFill>
                <a:blip r:embed="rId4"/>
                <a:stretch>
                  <a:fillRect l="-1987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456953" y="4811812"/>
                <a:ext cx="44679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=A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953" y="4811812"/>
                <a:ext cx="4467954" cy="461665"/>
              </a:xfrm>
              <a:prstGeom prst="rect">
                <a:avLst/>
              </a:prstGeom>
              <a:blipFill>
                <a:blip r:embed="rId5"/>
                <a:stretch>
                  <a:fillRect l="-204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456809" y="5594246"/>
                <a:ext cx="5047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7030A0"/>
                    </a:solidFill>
                  </a:rPr>
                  <a:t>即增加一个节点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7030A0"/>
                    </a:solidFill>
                  </a:rPr>
                  <a:t>就是增加上面</a:t>
                </a:r>
                <a:r>
                  <a:rPr lang="en-US" altLang="zh-CN" b="1" dirty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b="1" dirty="0">
                    <a:solidFill>
                      <a:srgbClr val="7030A0"/>
                    </a:solidFill>
                  </a:rPr>
                  <a:t>项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809" y="5594246"/>
                <a:ext cx="5047985" cy="461665"/>
              </a:xfrm>
              <a:prstGeom prst="rect">
                <a:avLst/>
              </a:prstGeom>
              <a:blipFill>
                <a:blip r:embed="rId6"/>
                <a:stretch>
                  <a:fillRect l="-1812" t="-14667" r="-604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4AE17732-1C9E-4243-A547-122361085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19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914400" y="692696"/>
                <a:ext cx="10363200" cy="5403304"/>
              </a:xfrm>
            </p:spPr>
            <p:txBody>
              <a:bodyPr/>
              <a:lstStyle/>
              <a:p>
                <a:r>
                  <a:rPr lang="zh-CN" altLang="en-US" sz="2400" dirty="0"/>
                  <a:t>怎么求：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400" b="0" i="0" dirty="0" smtClean="0"/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?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692696"/>
                <a:ext cx="10363200" cy="5403304"/>
              </a:xfrm>
              <a:blipFill>
                <a:blip r:embed="rId2"/>
                <a:stretch>
                  <a:fillRect l="-765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487488" y="1556792"/>
                <a:ext cx="6287812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求</a:t>
                </a:r>
                <a:r>
                  <a:rPr lang="en-US" altLang="zh-CN" dirty="0"/>
                  <a:t>a0, </a:t>
                </a:r>
                <a:r>
                  <a:rPr lang="zh-CN" altLang="en-US" dirty="0"/>
                  <a:t>把</a:t>
                </a:r>
                <a:r>
                  <a:rPr lang="en-US" altLang="zh-CN" dirty="0"/>
                  <a:t>x0</a:t>
                </a:r>
                <a:r>
                  <a:rPr lang="zh-CN" altLang="en-US" dirty="0"/>
                  <a:t>代入则：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由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即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1556792"/>
                <a:ext cx="6287812" cy="477888"/>
              </a:xfrm>
              <a:prstGeom prst="rect">
                <a:avLst/>
              </a:prstGeom>
              <a:blipFill>
                <a:blip r:embed="rId3"/>
                <a:stretch>
                  <a:fillRect l="-1455" t="-15190" b="-24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487488" y="2365057"/>
                <a:ext cx="625453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求</a:t>
                </a:r>
                <a:r>
                  <a:rPr lang="en-US" altLang="zh-CN" dirty="0"/>
                  <a:t>a1, </a:t>
                </a:r>
                <a:r>
                  <a:rPr lang="zh-CN" altLang="en-US" dirty="0"/>
                  <a:t>把</a:t>
                </a:r>
                <a:r>
                  <a:rPr lang="en-US" altLang="zh-CN" dirty="0"/>
                  <a:t>x1</a:t>
                </a:r>
                <a:r>
                  <a:rPr lang="zh-CN" altLang="en-US" dirty="0"/>
                  <a:t>代入则：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由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                                       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                                  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2365057"/>
                <a:ext cx="6254533" cy="1200329"/>
              </a:xfrm>
              <a:prstGeom prst="rect">
                <a:avLst/>
              </a:prstGeom>
              <a:blipFill>
                <a:blip r:embed="rId4"/>
                <a:stretch>
                  <a:fillRect l="-1462" t="-5584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719736" y="5565953"/>
                <a:ext cx="5265096" cy="1157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 baseline="-25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altLang="zh-CN" dirty="0"/>
                            <m:t>…(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CN" dirty="0"/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5565953"/>
                <a:ext cx="5265096" cy="1157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087888" y="438944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677720" y="4823321"/>
                <a:ext cx="73491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nor/>
                      </m:rPr>
                      <a:rPr lang="en-US" altLang="zh-CN" dirty="0"/>
                      <m:t>…(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720" y="4823321"/>
                <a:ext cx="7349128" cy="461665"/>
              </a:xfrm>
              <a:prstGeom prst="rect">
                <a:avLst/>
              </a:prstGeom>
              <a:blipFill>
                <a:blip r:embed="rId6"/>
                <a:stretch>
                  <a:fillRect l="-16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9D18759-0F20-45D1-863A-2D10E011F5A5}"/>
                  </a:ext>
                </a:extLst>
              </p:cNvPr>
              <p:cNvSpPr txBox="1"/>
              <p:nvPr/>
            </p:nvSpPr>
            <p:spPr>
              <a:xfrm>
                <a:off x="4079776" y="3684644"/>
                <a:ext cx="2960811" cy="11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 baseline="-25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9D18759-0F20-45D1-863A-2D10E011F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776" y="3684644"/>
                <a:ext cx="2960811" cy="11462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68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1"/>
      <p:bldP spid="7" grpId="0"/>
      <p:bldP spid="2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991544" y="991562"/>
            <a:ext cx="23487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C0000"/>
                </a:solidFill>
              </a:rPr>
              <a:t>2. </a:t>
            </a: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400" b="1" dirty="0">
              <a:solidFill>
                <a:srgbClr val="CC0000"/>
              </a:solidFill>
            </a:endParaRPr>
          </a:p>
        </p:txBody>
      </p:sp>
      <p:sp>
        <p:nvSpPr>
          <p:cNvPr id="19464" name="Rectangle 3"/>
          <p:cNvSpPr txBox="1">
            <a:spLocks noChangeArrowheads="1"/>
          </p:cNvSpPr>
          <p:nvPr/>
        </p:nvSpPr>
        <p:spPr bwMode="auto">
          <a:xfrm>
            <a:off x="2166938" y="1404938"/>
            <a:ext cx="7929562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400"/>
              <a:t>牛顿（</a:t>
            </a:r>
            <a:r>
              <a:rPr lang="en-US" altLang="zh-CN" sz="2400"/>
              <a:t>Newton</a:t>
            </a:r>
            <a:r>
              <a:rPr lang="zh-CN" altLang="en-US" sz="2400"/>
              <a:t>）插值公式设计为递推形式：</a:t>
            </a:r>
          </a:p>
          <a:p>
            <a:endParaRPr lang="zh-CN" altLang="en-US"/>
          </a:p>
        </p:txBody>
      </p:sp>
      <p:grpSp>
        <p:nvGrpSpPr>
          <p:cNvPr id="3" name="组合 13"/>
          <p:cNvGrpSpPr>
            <a:grpSpLocks/>
          </p:cNvGrpSpPr>
          <p:nvPr/>
        </p:nvGrpSpPr>
        <p:grpSpPr bwMode="auto">
          <a:xfrm>
            <a:off x="2166938" y="3619500"/>
            <a:ext cx="7929562" cy="1809750"/>
            <a:chOff x="571500" y="2286000"/>
            <a:chExt cx="7929563" cy="1809755"/>
          </a:xfrm>
        </p:grpSpPr>
        <p:sp>
          <p:nvSpPr>
            <p:cNvPr id="19462" name="Rectangle 3"/>
            <p:cNvSpPr txBox="1">
              <a:spLocks noChangeArrowheads="1"/>
            </p:cNvSpPr>
            <p:nvPr/>
          </p:nvSpPr>
          <p:spPr bwMode="auto">
            <a:xfrm>
              <a:off x="571500" y="2286000"/>
              <a:ext cx="7929563" cy="6429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  <a:buFontTx/>
                <a:buNone/>
              </a:pPr>
              <a:r>
                <a:rPr lang="zh-CN" altLang="en-US" sz="2400"/>
                <a:t>  插值满足条件：</a:t>
              </a:r>
            </a:p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3" name="Object 4"/>
                <p:cNvSpPr txBox="1"/>
                <p:nvPr/>
              </p:nvSpPr>
              <p:spPr bwMode="auto">
                <a:xfrm>
                  <a:off x="2071687" y="3000377"/>
                  <a:ext cx="4640264" cy="1095378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=0,1,⋯,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</m:fNam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=1,2,⋯,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463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71687" y="3000377"/>
                  <a:ext cx="4640264" cy="109537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61" name="Object 18"/>
              <p:cNvSpPr txBox="1"/>
              <p:nvPr/>
            </p:nvSpPr>
            <p:spPr bwMode="auto">
              <a:xfrm>
                <a:off x="2600412" y="2047875"/>
                <a:ext cx="2133426" cy="5191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9461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0412" y="2047875"/>
                <a:ext cx="2133426" cy="51911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62BD2F2-D7CB-409C-B43F-03640C14ED24}"/>
                  </a:ext>
                </a:extLst>
              </p:cNvPr>
              <p:cNvSpPr/>
              <p:nvPr/>
            </p:nvSpPr>
            <p:spPr>
              <a:xfrm>
                <a:off x="2771763" y="2690812"/>
                <a:ext cx="73491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nor/>
                      </m:rPr>
                      <a:rPr lang="en-US" altLang="zh-CN" dirty="0"/>
                      <m:t>…(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62BD2F2-D7CB-409C-B43F-03640C14ED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763" y="2690812"/>
                <a:ext cx="7349128" cy="461665"/>
              </a:xfrm>
              <a:prstGeom prst="rect">
                <a:avLst/>
              </a:prstGeom>
              <a:blipFill>
                <a:blip r:embed="rId4"/>
                <a:stretch>
                  <a:fillRect l="-249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>
            <a:extLst>
              <a:ext uri="{FF2B5EF4-FFF2-40B4-BE49-F238E27FC236}">
                <a16:creationId xmlns:a16="http://schemas.microsoft.com/office/drawing/2014/main" id="{215143D5-45D6-49F5-802C-0F3DD40CF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552" y="438963"/>
            <a:ext cx="324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§4.2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714296D-8B3D-496C-815B-C263F23D7E03}"/>
              </a:ext>
            </a:extLst>
          </p:cNvPr>
          <p:cNvSpPr/>
          <p:nvPr/>
        </p:nvSpPr>
        <p:spPr bwMode="auto">
          <a:xfrm>
            <a:off x="7680176" y="4280715"/>
            <a:ext cx="1281672" cy="484641"/>
          </a:xfrm>
          <a:prstGeom prst="roundRect">
            <a:avLst/>
          </a:prstGeom>
          <a:solidFill>
            <a:srgbClr val="FFFF00">
              <a:alpha val="2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238375" y="714375"/>
            <a:ext cx="20409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宋体" panose="02010600030101010101" pitchFamily="2" charset="-122"/>
              </a:rPr>
              <a:t>牛顿插值公式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5" name="Object 1"/>
              <p:cNvSpPr txBox="1"/>
              <p:nvPr/>
            </p:nvSpPr>
            <p:spPr bwMode="auto">
              <a:xfrm>
                <a:off x="2881313" y="1500188"/>
                <a:ext cx="6532562" cy="51911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)⋯(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485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1313" y="1500188"/>
                <a:ext cx="6532562" cy="519112"/>
              </a:xfrm>
              <a:prstGeom prst="rect">
                <a:avLst/>
              </a:prstGeom>
              <a:blipFill>
                <a:blip r:embed="rId3"/>
                <a:stretch>
                  <a:fillRect r="-467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0FD96694-6FC5-4EA8-AD7B-6ACA4E49DB4B}"/>
              </a:ext>
            </a:extLst>
          </p:cNvPr>
          <p:cNvGrpSpPr/>
          <p:nvPr/>
        </p:nvGrpSpPr>
        <p:grpSpPr>
          <a:xfrm>
            <a:off x="2309813" y="2571750"/>
            <a:ext cx="6651625" cy="3847029"/>
            <a:chOff x="2309813" y="2571750"/>
            <a:chExt cx="6651625" cy="384702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E6833B5-FF2C-40D2-B74C-DF07EE5F62A7}"/>
                </a:ext>
              </a:extLst>
            </p:cNvPr>
            <p:cNvSpPr/>
            <p:nvPr/>
          </p:nvSpPr>
          <p:spPr bwMode="auto">
            <a:xfrm>
              <a:off x="2309813" y="2571750"/>
              <a:ext cx="2386012" cy="4619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b="1" kern="0" dirty="0">
                  <a:solidFill>
                    <a:srgbClr val="7030A0"/>
                  </a:solidFill>
                </a:rPr>
                <a:t>（</a:t>
              </a:r>
              <a:r>
                <a:rPr lang="en-US" altLang="zh-CN" b="1" kern="0" dirty="0">
                  <a:solidFill>
                    <a:srgbClr val="7030A0"/>
                  </a:solidFill>
                </a:rPr>
                <a:t>1</a:t>
              </a:r>
              <a:r>
                <a:rPr lang="zh-CN" altLang="en-US" b="1" kern="0" dirty="0">
                  <a:solidFill>
                    <a:srgbClr val="7030A0"/>
                  </a:solidFill>
                </a:rPr>
                <a:t>）</a:t>
              </a:r>
              <a:r>
                <a:rPr lang="en-US" altLang="zh-CN" b="1" i="1" kern="0" dirty="0">
                  <a:solidFill>
                    <a:srgbClr val="7030A0"/>
                  </a:solidFill>
                </a:rPr>
                <a:t>n</a:t>
              </a:r>
              <a:r>
                <a:rPr lang="en-US" altLang="zh-CN" b="1" kern="0" dirty="0">
                  <a:solidFill>
                    <a:srgbClr val="7030A0"/>
                  </a:solidFill>
                </a:rPr>
                <a:t>=1</a:t>
              </a:r>
              <a:r>
                <a:rPr lang="zh-CN" altLang="en-US" b="1" kern="0" dirty="0">
                  <a:solidFill>
                    <a:srgbClr val="7030A0"/>
                  </a:solidFill>
                </a:rPr>
                <a:t>的情况</a:t>
              </a: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52EA2808-F51E-45B8-8EBC-AD14F26ECBBD}"/>
                    </a:ext>
                  </a:extLst>
                </p:cNvPr>
                <p:cNvSpPr txBox="1"/>
                <p:nvPr/>
              </p:nvSpPr>
              <p:spPr>
                <a:xfrm>
                  <a:off x="3647728" y="3288028"/>
                  <a:ext cx="4132413" cy="7386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  <a:p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52EA2808-F51E-45B8-8EBC-AD14F26EC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728" y="3288028"/>
                  <a:ext cx="4132413" cy="7386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9FB47A8-436E-4E33-B4D0-571413ED2CBD}"/>
                </a:ext>
              </a:extLst>
            </p:cNvPr>
            <p:cNvGrpSpPr/>
            <p:nvPr/>
          </p:nvGrpSpPr>
          <p:grpSpPr>
            <a:xfrm>
              <a:off x="2881313" y="4025900"/>
              <a:ext cx="6080125" cy="981075"/>
              <a:chOff x="2458627" y="5642771"/>
              <a:chExt cx="6080125" cy="981075"/>
            </a:xfrm>
          </p:grpSpPr>
          <p:grpSp>
            <p:nvGrpSpPr>
              <p:cNvPr id="3" name="组合 16"/>
              <p:cNvGrpSpPr>
                <a:grpSpLocks/>
              </p:cNvGrpSpPr>
              <p:nvPr/>
            </p:nvGrpSpPr>
            <p:grpSpPr bwMode="auto">
              <a:xfrm>
                <a:off x="2458627" y="5642771"/>
                <a:ext cx="6080125" cy="981075"/>
                <a:chOff x="934602" y="5642782"/>
                <a:chExt cx="6080144" cy="981079"/>
              </a:xfrm>
            </p:grpSpPr>
            <p:sp>
              <p:nvSpPr>
                <p:cNvPr id="20487" name="矩形 13"/>
                <p:cNvSpPr>
                  <a:spLocks noChangeArrowheads="1"/>
                </p:cNvSpPr>
                <p:nvPr/>
              </p:nvSpPr>
              <p:spPr bwMode="auto">
                <a:xfrm>
                  <a:off x="934602" y="5897598"/>
                  <a:ext cx="800221" cy="4616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dirty="0"/>
                    <a:t>其中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20488" name="Object 6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1999817" y="5642782"/>
                    <a:ext cx="5014929" cy="981079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21393" name="Equation" r:id="rId5" imgW="38404800" imgH="7458075" progId="Equation.DSMT4">
                            <p:embed/>
                          </p:oleObj>
                        </mc:Choice>
                        <mc:Fallback>
                          <p:oleObj name="Equation" r:id="rId5" imgW="38404800" imgH="7458075" progId="Equation.DSMT4">
                            <p:embed/>
                            <p:pic>
                              <p:nvPicPr>
                                <p:cNvPr id="0" name="Object 6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6">
                                  <a:extLst>
                                    <a:ext uri="{28A0092B-C50C-407E-A947-70E740481C1C}">
                                      <a14:useLocalDpi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999817" y="5642782"/>
                                  <a:ext cx="5014929" cy="981079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20488" name="Object 6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1999817" y="5642782"/>
                    <a:ext cx="5014929" cy="981079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21352" name="Equation" r:id="rId7" imgW="38404800" imgH="7458075" progId="Equation.DSMT4">
                            <p:embed/>
                          </p:oleObj>
                        </mc:Choice>
                        <mc:Fallback>
                          <p:oleObj name="Equation" r:id="rId7" imgW="38404800" imgH="7458075" progId="Equation.DSMT4">
                            <p:embed/>
                            <p:pic>
                              <p:nvPicPr>
                                <p:cNvPr id="0" name="Object 6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8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999817" y="5642782"/>
                                  <a:ext cx="5014929" cy="981079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FDAE1B38-8BB6-49AD-B3FD-4B63F7611A24}"/>
                      </a:ext>
                    </a:extLst>
                  </p:cNvPr>
                  <p:cNvSpPr txBox="1"/>
                  <p:nvPr/>
                </p:nvSpPr>
                <p:spPr>
                  <a:xfrm>
                    <a:off x="3287688" y="5943753"/>
                    <a:ext cx="1744674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FDAE1B38-8BB6-49AD-B3FD-4B63F7611A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688" y="5943753"/>
                    <a:ext cx="1744674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B66B12F-EC78-44D7-9184-C080EE7E427F}"/>
                    </a:ext>
                  </a:extLst>
                </p:cNvPr>
                <p:cNvSpPr txBox="1"/>
                <p:nvPr/>
              </p:nvSpPr>
              <p:spPr>
                <a:xfrm>
                  <a:off x="3388841" y="5354320"/>
                  <a:ext cx="3767442" cy="10644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  <a:p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B66B12F-EC78-44D7-9184-C080EE7E42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8841" y="5354320"/>
                  <a:ext cx="3767442" cy="106445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846A380-E929-4C32-B2DE-F97DD776BE2A}"/>
              </a:ext>
            </a:extLst>
          </p:cNvPr>
          <p:cNvSpPr txBox="1"/>
          <p:nvPr/>
        </p:nvSpPr>
        <p:spPr>
          <a:xfrm>
            <a:off x="7998103" y="4918030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一阶差商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CC5E542-E9C5-4E35-ABEA-4B485102EDE6}"/>
              </a:ext>
            </a:extLst>
          </p:cNvPr>
          <p:cNvSpPr/>
          <p:nvPr/>
        </p:nvSpPr>
        <p:spPr>
          <a:xfrm>
            <a:off x="2095500" y="285750"/>
            <a:ext cx="261620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kern="0" dirty="0">
                <a:solidFill>
                  <a:srgbClr val="7030A0"/>
                </a:solidFill>
              </a:rPr>
              <a:t>（</a:t>
            </a:r>
            <a:r>
              <a:rPr lang="en-US" altLang="zh-CN" b="1" kern="0" dirty="0">
                <a:solidFill>
                  <a:srgbClr val="7030A0"/>
                </a:solidFill>
              </a:rPr>
              <a:t>2</a:t>
            </a:r>
            <a:r>
              <a:rPr lang="zh-CN" altLang="en-US" b="1" kern="0" dirty="0">
                <a:solidFill>
                  <a:srgbClr val="7030A0"/>
                </a:solidFill>
              </a:rPr>
              <a:t>）</a:t>
            </a:r>
            <a:r>
              <a:rPr lang="en-US" altLang="zh-CN" b="1" i="1" kern="0" dirty="0">
                <a:solidFill>
                  <a:srgbClr val="7030A0"/>
                </a:solidFill>
              </a:rPr>
              <a:t>n </a:t>
            </a:r>
            <a:r>
              <a:rPr lang="en-US" altLang="zh-CN" b="1" kern="0" dirty="0">
                <a:solidFill>
                  <a:srgbClr val="7030A0"/>
                </a:solidFill>
              </a:rPr>
              <a:t>= 2 </a:t>
            </a:r>
            <a:r>
              <a:rPr lang="zh-CN" altLang="en-US" b="1" kern="0" dirty="0">
                <a:solidFill>
                  <a:srgbClr val="7030A0"/>
                </a:solidFill>
              </a:rPr>
              <a:t>的情况</a:t>
            </a:r>
            <a:endParaRPr lang="zh-CN" altLang="en-US" dirty="0"/>
          </a:p>
        </p:txBody>
      </p:sp>
      <p:grpSp>
        <p:nvGrpSpPr>
          <p:cNvPr id="2" name="组合 8"/>
          <p:cNvGrpSpPr>
            <a:grpSpLocks/>
          </p:cNvGrpSpPr>
          <p:nvPr/>
        </p:nvGrpSpPr>
        <p:grpSpPr bwMode="auto">
          <a:xfrm>
            <a:off x="2526758" y="1827142"/>
            <a:ext cx="5802807" cy="519112"/>
            <a:chOff x="928688" y="1828651"/>
            <a:chExt cx="5802807" cy="5191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6" name="矩形 5"/>
                <p:cNvSpPr>
                  <a:spLocks noChangeArrowheads="1"/>
                </p:cNvSpPr>
                <p:nvPr/>
              </p:nvSpPr>
              <p:spPr bwMode="auto">
                <a:xfrm>
                  <a:off x="928688" y="1857375"/>
                  <a:ext cx="580280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dirty="0"/>
                    <a:t>由                        ，</a:t>
                  </a:r>
                  <a:r>
                    <a:rPr lang="zh-CN" altLang="en-US" sz="2400" dirty="0">
                      <a:solidFill>
                        <a:srgbClr val="0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400" dirty="0"/>
                    <a:t>                 得</a:t>
                  </a:r>
                </a:p>
              </p:txBody>
            </p:sp>
          </mc:Choice>
          <mc:Fallback xmlns="">
            <p:sp>
              <p:nvSpPr>
                <p:cNvPr id="2151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8688" y="1857375"/>
                  <a:ext cx="5802807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576" t="-14474" r="-735" b="-25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7" name="Object 3"/>
                <p:cNvSpPr txBox="1"/>
                <p:nvPr/>
              </p:nvSpPr>
              <p:spPr bwMode="auto">
                <a:xfrm>
                  <a:off x="1122111" y="1828651"/>
                  <a:ext cx="2325688" cy="51911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517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22111" y="1828651"/>
                  <a:ext cx="2325688" cy="519112"/>
                </a:xfrm>
                <a:prstGeom prst="rect">
                  <a:avLst/>
                </a:prstGeom>
                <a:blipFill>
                  <a:blip r:embed="rId4"/>
                  <a:stretch>
                    <a:fillRect b="-5882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10"/>
          <p:cNvGrpSpPr>
            <a:grpSpLocks/>
          </p:cNvGrpSpPr>
          <p:nvPr/>
        </p:nvGrpSpPr>
        <p:grpSpPr bwMode="auto">
          <a:xfrm>
            <a:off x="2381250" y="3314700"/>
            <a:ext cx="3322638" cy="1408113"/>
            <a:chOff x="857250" y="3143250"/>
            <a:chExt cx="3322241" cy="1409254"/>
          </a:xfrm>
        </p:grpSpPr>
        <p:sp>
          <p:nvSpPr>
            <p:cNvPr id="21514" name="矩形 8"/>
            <p:cNvSpPr>
              <a:spLocks noChangeArrowheads="1"/>
            </p:cNvSpPr>
            <p:nvPr/>
          </p:nvSpPr>
          <p:spPr bwMode="auto">
            <a:xfrm>
              <a:off x="857250" y="3143250"/>
              <a:ext cx="8001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于是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5" name="Object 5"/>
                <p:cNvSpPr txBox="1"/>
                <p:nvPr/>
              </p:nvSpPr>
              <p:spPr bwMode="auto">
                <a:xfrm>
                  <a:off x="1115982" y="3572222"/>
                  <a:ext cx="3063509" cy="98028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515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5982" y="3572222"/>
                  <a:ext cx="3063509" cy="9802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735638" y="3141663"/>
          <a:ext cx="4181475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84" name="Equation" r:id="rId6" imgW="32032575" imgH="12068175" progId="Equation.DSMT4">
                  <p:embed/>
                </p:oleObj>
              </mc:Choice>
              <mc:Fallback>
                <p:oleObj name="Equation" r:id="rId6" imgW="32032575" imgH="1206817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3141663"/>
                        <a:ext cx="4181475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2351088" y="4983163"/>
          <a:ext cx="3063875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85" name="Equation" r:id="rId8" imgW="23479125" imgH="11191875" progId="Equation.DSMT4">
                  <p:embed/>
                </p:oleObj>
              </mc:Choice>
              <mc:Fallback>
                <p:oleObj name="Equation" r:id="rId8" imgW="23479125" imgH="1119187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983163"/>
                        <a:ext cx="3063875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5375275" y="5443538"/>
          <a:ext cx="3122613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86" name="Equation" r:id="rId10" imgW="23917275" imgH="7458075" progId="Equation.DSMT4">
                  <p:embed/>
                </p:oleObj>
              </mc:Choice>
              <mc:Fallback>
                <p:oleObj name="Equation" r:id="rId10" imgW="23917275" imgH="745807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5443538"/>
                        <a:ext cx="3122613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2"/>
              <p:cNvSpPr txBox="1"/>
              <p:nvPr/>
            </p:nvSpPr>
            <p:spPr bwMode="auto">
              <a:xfrm>
                <a:off x="8440738" y="5630863"/>
                <a:ext cx="1976437" cy="5175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]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40738" y="5630863"/>
                <a:ext cx="1976437" cy="517525"/>
              </a:xfrm>
              <a:prstGeom prst="rect">
                <a:avLst/>
              </a:prstGeom>
              <a:blipFill>
                <a:blip r:embed="rId12"/>
                <a:stretch>
                  <a:fillRect t="-8235" b="-5882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0746948" y="5743287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二阶差商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7F51B7C-6AC1-4469-99D7-1604C2E609F1}"/>
                  </a:ext>
                </a:extLst>
              </p:cNvPr>
              <p:cNvSpPr txBox="1"/>
              <p:nvPr/>
            </p:nvSpPr>
            <p:spPr>
              <a:xfrm>
                <a:off x="3309068" y="986155"/>
                <a:ext cx="49037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7F51B7C-6AC1-4469-99D7-1604C2E60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068" y="986155"/>
                <a:ext cx="4903715" cy="369332"/>
              </a:xfrm>
              <a:prstGeom prst="rect">
                <a:avLst/>
              </a:prstGeom>
              <a:blipFill>
                <a:blip r:embed="rId13"/>
                <a:stretch>
                  <a:fillRect l="-2239" r="-211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7FA1ECF-1A9C-413E-9AE7-C38605C97DDF}"/>
                  </a:ext>
                </a:extLst>
              </p:cNvPr>
              <p:cNvSpPr txBox="1"/>
              <p:nvPr/>
            </p:nvSpPr>
            <p:spPr>
              <a:xfrm>
                <a:off x="3240243" y="2505154"/>
                <a:ext cx="44266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7FA1ECF-1A9C-413E-9AE7-C38605C9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243" y="2505154"/>
                <a:ext cx="4426661" cy="369332"/>
              </a:xfrm>
              <a:prstGeom prst="rect">
                <a:avLst/>
              </a:prstGeom>
              <a:blipFill>
                <a:blip r:embed="rId14"/>
                <a:stretch>
                  <a:fillRect l="-2479" r="-2204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3"/>
          <p:cNvSpPr>
            <a:spLocks noChangeArrowheads="1"/>
          </p:cNvSpPr>
          <p:nvPr/>
        </p:nvSpPr>
        <p:spPr bwMode="auto">
          <a:xfrm>
            <a:off x="2095500" y="531813"/>
            <a:ext cx="2503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7030A0"/>
                </a:solidFill>
              </a:rPr>
              <a:t>（</a:t>
            </a:r>
            <a:r>
              <a:rPr lang="en-US" altLang="zh-CN" sz="2400" b="1" dirty="0">
                <a:solidFill>
                  <a:srgbClr val="7030A0"/>
                </a:solidFill>
              </a:rPr>
              <a:t>3</a:t>
            </a:r>
            <a:r>
              <a:rPr lang="zh-CN" altLang="en-US" sz="2400" b="1" dirty="0">
                <a:solidFill>
                  <a:srgbClr val="7030A0"/>
                </a:solidFill>
              </a:rPr>
              <a:t>）设想：对于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Object 1"/>
              <p:cNvSpPr txBox="1"/>
              <p:nvPr/>
            </p:nvSpPr>
            <p:spPr bwMode="auto">
              <a:xfrm>
                <a:off x="2952750" y="1103313"/>
                <a:ext cx="6532563" cy="51911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)⋯(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531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2750" y="1103313"/>
                <a:ext cx="6532563" cy="519112"/>
              </a:xfrm>
              <a:prstGeom prst="rect">
                <a:avLst/>
              </a:prstGeom>
              <a:blipFill>
                <a:blip r:embed="rId2"/>
                <a:stretch>
                  <a:fillRect r="-28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2" name="矩形 5"/>
          <p:cNvSpPr>
            <a:spLocks noChangeArrowheads="1"/>
          </p:cNvSpPr>
          <p:nvPr/>
        </p:nvSpPr>
        <p:spPr bwMode="auto">
          <a:xfrm>
            <a:off x="2524125" y="17843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3" name="Object 3"/>
              <p:cNvSpPr txBox="1"/>
              <p:nvPr/>
            </p:nvSpPr>
            <p:spPr bwMode="auto">
              <a:xfrm>
                <a:off x="3260725" y="1765300"/>
                <a:ext cx="2835275" cy="5191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53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0725" y="1765300"/>
                <a:ext cx="2835275" cy="5191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6528048" y="1784648"/>
            <a:ext cx="1261884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r>
              <a:rPr lang="zh-CN" altLang="en-US" dirty="0"/>
              <a:t>阶差商</a:t>
            </a:r>
          </a:p>
        </p:txBody>
      </p:sp>
      <p:graphicFrame>
        <p:nvGraphicFramePr>
          <p:cNvPr id="19" name="Group 149">
            <a:extLst>
              <a:ext uri="{FF2B5EF4-FFF2-40B4-BE49-F238E27FC236}">
                <a16:creationId xmlns:a16="http://schemas.microsoft.com/office/drawing/2014/main" id="{613D19F4-A922-4429-ADF6-F2EFEF11D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291422"/>
              </p:ext>
            </p:extLst>
          </p:nvPr>
        </p:nvGraphicFramePr>
        <p:xfrm>
          <a:off x="2059781" y="2754752"/>
          <a:ext cx="8072437" cy="2587626"/>
        </p:xfrm>
        <a:graphic>
          <a:graphicData uri="http://schemas.openxmlformats.org/drawingml/2006/table">
            <a:tbl>
              <a:tblPr/>
              <a:tblGrid>
                <a:gridCol w="1287462">
                  <a:extLst>
                    <a:ext uri="{9D8B030D-6E8A-4147-A177-3AD203B41FA5}">
                      <a16:colId xmlns:a16="http://schemas.microsoft.com/office/drawing/2014/main" val="892226678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36309534"/>
                    </a:ext>
                  </a:extLst>
                </a:gridCol>
                <a:gridCol w="1608138">
                  <a:extLst>
                    <a:ext uri="{9D8B030D-6E8A-4147-A177-3AD203B41FA5}">
                      <a16:colId xmlns:a16="http://schemas.microsoft.com/office/drawing/2014/main" val="2064480668"/>
                    </a:ext>
                  </a:extLst>
                </a:gridCol>
                <a:gridCol w="1982787">
                  <a:extLst>
                    <a:ext uri="{9D8B030D-6E8A-4147-A177-3AD203B41FA5}">
                      <a16:colId xmlns:a16="http://schemas.microsoft.com/office/drawing/2014/main" val="941284880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1345790208"/>
                    </a:ext>
                  </a:extLst>
                </a:gridCol>
              </a:tblGrid>
              <a:tr h="490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一阶差商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二阶差商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三阶差商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537257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297080"/>
                  </a:ext>
                </a:extLst>
              </a:tr>
              <a:tr h="555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191252"/>
                  </a:ext>
                </a:extLst>
              </a:tr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f[x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f[x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82361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F[x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f[x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2868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">
                <a:extLst>
                  <a:ext uri="{FF2B5EF4-FFF2-40B4-BE49-F238E27FC236}">
                    <a16:creationId xmlns:a16="http://schemas.microsoft.com/office/drawing/2014/main" id="{1917AE22-F461-4FED-AC07-7DBA43336727}"/>
                  </a:ext>
                </a:extLst>
              </p:cNvPr>
              <p:cNvSpPr txBox="1"/>
              <p:nvPr/>
            </p:nvSpPr>
            <p:spPr bwMode="auto">
              <a:xfrm>
                <a:off x="2281238" y="5607050"/>
                <a:ext cx="7394575" cy="99536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Object 1">
                <a:extLst>
                  <a:ext uri="{FF2B5EF4-FFF2-40B4-BE49-F238E27FC236}">
                    <a16:creationId xmlns:a16="http://schemas.microsoft.com/office/drawing/2014/main" id="{1917AE22-F461-4FED-AC07-7DBA43336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1238" y="5607050"/>
                <a:ext cx="7394575" cy="9953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146">
            <a:extLst>
              <a:ext uri="{FF2B5EF4-FFF2-40B4-BE49-F238E27FC236}">
                <a16:creationId xmlns:a16="http://schemas.microsoft.com/office/drawing/2014/main" id="{A8E79823-BC3C-459C-B0F8-70C171A79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761" y="2333621"/>
            <a:ext cx="176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差商表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Object 3"/>
              <p:cNvSpPr txBox="1"/>
              <p:nvPr/>
            </p:nvSpPr>
            <p:spPr bwMode="auto">
              <a:xfrm>
                <a:off x="1703512" y="1057199"/>
                <a:ext cx="9217024" cy="10541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)⋯(</m:t>
                      </m:r>
                      <m:r>
                        <a:rPr lang="zh-CN" alt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29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3512" y="1057199"/>
                <a:ext cx="9217024" cy="1054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r="50712"/>
          <a:stretch/>
        </p:blipFill>
        <p:spPr>
          <a:xfrm>
            <a:off x="2676143" y="5440694"/>
            <a:ext cx="3028317" cy="883681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sp>
        <p:nvSpPr>
          <p:cNvPr id="5" name="矩形 4"/>
          <p:cNvSpPr/>
          <p:nvPr/>
        </p:nvSpPr>
        <p:spPr>
          <a:xfrm>
            <a:off x="852073" y="4100585"/>
            <a:ext cx="22076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cs typeface="Times New Roman" panose="02020603050405020304" pitchFamily="18" charset="0"/>
              </a:rPr>
              <a:t>插值余项公式</a:t>
            </a:r>
            <a:r>
              <a:rPr lang="en-US" altLang="zh-CN" b="1" dirty="0">
                <a:cs typeface="Times New Roman" panose="02020603050405020304" pitchFamily="18" charset="0"/>
              </a:rPr>
              <a:t>:</a:t>
            </a: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431704" y="4146752"/>
                <a:ext cx="4489499" cy="369332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04" y="4146752"/>
                <a:ext cx="4489499" cy="369332"/>
              </a:xfrm>
              <a:prstGeom prst="rect">
                <a:avLst/>
              </a:prstGeom>
              <a:blipFill>
                <a:blip r:embed="rId4"/>
                <a:stretch>
                  <a:fillRect l="-1087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8040216" y="4174450"/>
            <a:ext cx="268535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n+2</a:t>
            </a:r>
            <a:r>
              <a:rPr lang="zh-CN" altLang="en-US" dirty="0">
                <a:solidFill>
                  <a:srgbClr val="7030A0"/>
                </a:solidFill>
              </a:rPr>
              <a:t>个点</a:t>
            </a:r>
            <a:r>
              <a:rPr lang="en-US" altLang="zh-CN" dirty="0">
                <a:solidFill>
                  <a:srgbClr val="7030A0"/>
                </a:solidFill>
              </a:rPr>
              <a:t>n+1</a:t>
            </a:r>
            <a:r>
              <a:rPr lang="zh-CN" altLang="en-US" dirty="0">
                <a:solidFill>
                  <a:srgbClr val="7030A0"/>
                </a:solidFill>
              </a:rPr>
              <a:t>阶差商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72B62BE-0F2D-416C-B9A5-2768F144FCDF}"/>
              </a:ext>
            </a:extLst>
          </p:cNvPr>
          <p:cNvGrpSpPr/>
          <p:nvPr/>
        </p:nvGrpSpPr>
        <p:grpSpPr>
          <a:xfrm>
            <a:off x="7364263" y="2074944"/>
            <a:ext cx="1251112" cy="879514"/>
            <a:chOff x="8862076" y="4366520"/>
            <a:chExt cx="1251112" cy="8795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93323D0-867E-475B-A33D-745ACD8AC0C6}"/>
                    </a:ext>
                  </a:extLst>
                </p:cNvPr>
                <p:cNvSpPr/>
                <p:nvPr/>
              </p:nvSpPr>
              <p:spPr>
                <a:xfrm>
                  <a:off x="8862076" y="4722814"/>
                  <a:ext cx="125111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93323D0-867E-475B-A33D-745ACD8AC0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2076" y="4722814"/>
                  <a:ext cx="125111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28302151-1CA5-4706-8B65-5311BC90DDA0}"/>
                </a:ext>
              </a:extLst>
            </p:cNvPr>
            <p:cNvSpPr/>
            <p:nvPr/>
          </p:nvSpPr>
          <p:spPr bwMode="auto">
            <a:xfrm rot="5400000">
              <a:off x="9136445" y="4494174"/>
              <a:ext cx="453454" cy="19814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B6020814-DB24-47CE-BB3D-1F0FA15F0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552" y="438963"/>
            <a:ext cx="46907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§4.3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方法误差（插值余项）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55D72B2-5446-4CA9-B13A-0E8CA772CD60}"/>
              </a:ext>
            </a:extLst>
          </p:cNvPr>
          <p:cNvSpPr/>
          <p:nvPr/>
        </p:nvSpPr>
        <p:spPr bwMode="auto">
          <a:xfrm>
            <a:off x="5735960" y="1563032"/>
            <a:ext cx="4608512" cy="469463"/>
          </a:xfrm>
          <a:prstGeom prst="roundRect">
            <a:avLst/>
          </a:prstGeom>
          <a:solidFill>
            <a:srgbClr val="FFFF00">
              <a:alpha val="27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0CC19836-AB54-40AA-A295-A8B93077ACC6}"/>
                  </a:ext>
                </a:extLst>
              </p:cNvPr>
              <p:cNvSpPr txBox="1"/>
              <p:nvPr/>
            </p:nvSpPr>
            <p:spPr bwMode="auto">
              <a:xfrm>
                <a:off x="1423051" y="2983457"/>
                <a:ext cx="9388419" cy="10541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即：</m:t>
                      </m:r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0CC19836-AB54-40AA-A295-A8B93077A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3051" y="2983457"/>
                <a:ext cx="9388419" cy="1054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CDC0F6BE-B28E-4E44-8E5E-22FFEE5B2496}"/>
              </a:ext>
            </a:extLst>
          </p:cNvPr>
          <p:cNvSpPr txBox="1"/>
          <p:nvPr/>
        </p:nvSpPr>
        <p:spPr>
          <a:xfrm>
            <a:off x="185600" y="4859496"/>
            <a:ext cx="3570208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与拉格朗日插值余项相同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279781C-FD6D-4762-939A-C336F0BA02C9}"/>
              </a:ext>
            </a:extLst>
          </p:cNvPr>
          <p:cNvGrpSpPr/>
          <p:nvPr/>
        </p:nvGrpSpPr>
        <p:grpSpPr>
          <a:xfrm>
            <a:off x="3559906" y="4146752"/>
            <a:ext cx="7003694" cy="2307648"/>
            <a:chOff x="3559906" y="4550352"/>
            <a:chExt cx="7003694" cy="2307648"/>
          </a:xfrm>
        </p:grpSpPr>
        <p:sp>
          <p:nvSpPr>
            <p:cNvPr id="8" name="文本框 7"/>
            <p:cNvSpPr txBox="1"/>
            <p:nvPr/>
          </p:nvSpPr>
          <p:spPr>
            <a:xfrm>
              <a:off x="5416037" y="5263096"/>
              <a:ext cx="5147563" cy="46166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注意</a:t>
              </a:r>
              <a:r>
                <a:rPr lang="en-US" altLang="zh-CN" dirty="0">
                  <a:solidFill>
                    <a:srgbClr val="FF0000"/>
                  </a:solidFill>
                </a:rPr>
                <a:t>n+1</a:t>
              </a:r>
              <a:r>
                <a:rPr lang="zh-CN" altLang="en-US" dirty="0">
                  <a:solidFill>
                    <a:srgbClr val="FF0000"/>
                  </a:solidFill>
                </a:rPr>
                <a:t>阶差商与</a:t>
              </a:r>
              <a:r>
                <a:rPr lang="en-US" altLang="zh-CN" dirty="0">
                  <a:solidFill>
                    <a:srgbClr val="FF0000"/>
                  </a:solidFill>
                </a:rPr>
                <a:t>n+1</a:t>
              </a:r>
              <a:r>
                <a:rPr lang="zh-CN" altLang="en-US" dirty="0">
                  <a:solidFill>
                    <a:srgbClr val="FF0000"/>
                  </a:solidFill>
                </a:rPr>
                <a:t>阶导数间的关系</a:t>
              </a: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AB5729F-B400-4EDC-A0BE-C543D855E923}"/>
                </a:ext>
              </a:extLst>
            </p:cNvPr>
            <p:cNvSpPr/>
            <p:nvPr/>
          </p:nvSpPr>
          <p:spPr bwMode="auto">
            <a:xfrm>
              <a:off x="3559906" y="5724762"/>
              <a:ext cx="1239950" cy="1133238"/>
            </a:xfrm>
            <a:prstGeom prst="ellipse">
              <a:avLst/>
            </a:prstGeom>
            <a:solidFill>
              <a:srgbClr val="00B0F0">
                <a:alpha val="2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D54B7B1-9709-4D15-99F1-8389DB41D919}"/>
                </a:ext>
              </a:extLst>
            </p:cNvPr>
            <p:cNvSpPr/>
            <p:nvPr/>
          </p:nvSpPr>
          <p:spPr bwMode="auto">
            <a:xfrm>
              <a:off x="4655840" y="4550352"/>
              <a:ext cx="2088232" cy="389421"/>
            </a:xfrm>
            <a:prstGeom prst="roundRect">
              <a:avLst/>
            </a:prstGeom>
            <a:solidFill>
              <a:srgbClr val="00B0F0">
                <a:alpha val="13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" name="箭头: 上下 17">
              <a:extLst>
                <a:ext uri="{FF2B5EF4-FFF2-40B4-BE49-F238E27FC236}">
                  <a16:creationId xmlns:a16="http://schemas.microsoft.com/office/drawing/2014/main" id="{7868EB9E-C27F-4429-BD79-15E83530812E}"/>
                </a:ext>
              </a:extLst>
            </p:cNvPr>
            <p:cNvSpPr/>
            <p:nvPr/>
          </p:nvSpPr>
          <p:spPr bwMode="auto">
            <a:xfrm rot="1516490">
              <a:off x="4775274" y="4998332"/>
              <a:ext cx="141733" cy="835612"/>
            </a:xfrm>
            <a:prstGeom prst="upDownArrow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12" grpId="0" animBg="1"/>
      <p:bldP spid="16" grpId="0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 txBox="1">
            <a:spLocks noChangeArrowheads="1"/>
          </p:cNvSpPr>
          <p:nvPr/>
        </p:nvSpPr>
        <p:spPr bwMode="auto">
          <a:xfrm>
            <a:off x="2952750" y="180975"/>
            <a:ext cx="6253163" cy="639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altLang="zh-CN" sz="2400" i="1">
                <a:solidFill>
                  <a:srgbClr val="CC0000"/>
                </a:solidFill>
              </a:rPr>
              <a:t>Newton</a:t>
            </a:r>
            <a:r>
              <a:rPr lang="zh-CN" altLang="en-US" sz="2400">
                <a:solidFill>
                  <a:srgbClr val="CC0000"/>
                </a:solidFill>
              </a:rPr>
              <a:t>插值算法如下：</a:t>
            </a:r>
          </a:p>
          <a:p>
            <a:pPr algn="just">
              <a:lnSpc>
                <a:spcPct val="125000"/>
              </a:lnSpc>
            </a:pPr>
            <a:r>
              <a:rPr lang="en-US" altLang="zh-CN" sz="2400" i="1"/>
              <a:t>Input</a:t>
            </a:r>
            <a:r>
              <a:rPr lang="en-US" altLang="zh-CN" sz="2400"/>
              <a:t> </a:t>
            </a:r>
            <a:r>
              <a:rPr lang="en-US" altLang="zh-CN" sz="2400" i="1"/>
              <a:t>x</a:t>
            </a:r>
            <a:r>
              <a:rPr lang="en-US" altLang="zh-CN" sz="2400"/>
              <a:t>,(</a:t>
            </a:r>
            <a:r>
              <a:rPr lang="en-US" altLang="zh-CN" sz="2400" i="1"/>
              <a:t>x</a:t>
            </a:r>
            <a:r>
              <a:rPr lang="en-US" altLang="zh-CN" sz="2400" baseline="-30000"/>
              <a:t>i</a:t>
            </a:r>
            <a:r>
              <a:rPr lang="en-US" altLang="zh-CN" sz="2400"/>
              <a:t>,</a:t>
            </a:r>
            <a:r>
              <a:rPr lang="en-US" altLang="zh-CN" sz="2400" i="1"/>
              <a:t>y</a:t>
            </a:r>
            <a:r>
              <a:rPr lang="en-US" altLang="zh-CN" sz="2400" baseline="-30000"/>
              <a:t>i</a:t>
            </a:r>
            <a:r>
              <a:rPr lang="en-US" altLang="zh-CN" sz="2400"/>
              <a:t>),  </a:t>
            </a:r>
            <a:r>
              <a:rPr lang="en-US" altLang="zh-CN" sz="2400" i="1"/>
              <a:t>i</a:t>
            </a:r>
            <a:r>
              <a:rPr lang="en-US" altLang="zh-CN" sz="2400"/>
              <a:t>=0,1,…,</a:t>
            </a:r>
            <a:r>
              <a:rPr lang="en-US" altLang="zh-CN" sz="2400" i="1"/>
              <a:t>n</a:t>
            </a:r>
            <a:endParaRPr lang="en-US" altLang="zh-CN" sz="2400"/>
          </a:p>
          <a:p>
            <a:pPr algn="just">
              <a:lnSpc>
                <a:spcPct val="125000"/>
              </a:lnSpc>
            </a:pPr>
            <a:r>
              <a:rPr lang="en-US" altLang="zh-CN" sz="2400" i="1"/>
              <a:t>y</a:t>
            </a:r>
            <a:r>
              <a:rPr lang="en-US" altLang="zh-CN" sz="2400"/>
              <a:t>=</a:t>
            </a:r>
            <a:r>
              <a:rPr lang="en-US" altLang="zh-CN" sz="2400" i="1"/>
              <a:t>y</a:t>
            </a:r>
            <a:r>
              <a:rPr lang="en-US" altLang="zh-CN" sz="2400" baseline="-30000"/>
              <a:t>0</a:t>
            </a:r>
            <a:r>
              <a:rPr lang="en-US" altLang="zh-CN" sz="2400"/>
              <a:t>, </a:t>
            </a:r>
            <a:r>
              <a:rPr lang="en-US" altLang="zh-CN" sz="2400" i="1"/>
              <a:t>t</a:t>
            </a:r>
            <a:r>
              <a:rPr lang="en-US" altLang="zh-CN" sz="2400"/>
              <a:t>=1</a:t>
            </a:r>
          </a:p>
          <a:p>
            <a:pPr algn="just">
              <a:lnSpc>
                <a:spcPct val="125000"/>
              </a:lnSpc>
            </a:pPr>
            <a:r>
              <a:rPr lang="en-US" altLang="zh-CN" sz="2400" i="1"/>
              <a:t>For</a:t>
            </a:r>
            <a:r>
              <a:rPr lang="en-US" altLang="zh-CN" sz="2400"/>
              <a:t> </a:t>
            </a:r>
            <a:r>
              <a:rPr lang="en-US" altLang="zh-CN" sz="2400" i="1"/>
              <a:t>j</a:t>
            </a:r>
            <a:r>
              <a:rPr lang="en-US" altLang="zh-CN" sz="2400"/>
              <a:t>=1,…,</a:t>
            </a:r>
            <a:r>
              <a:rPr lang="en-US" altLang="zh-CN" sz="2400" i="1"/>
              <a:t>n</a:t>
            </a:r>
            <a:r>
              <a:rPr lang="en-US" altLang="zh-CN" sz="2400"/>
              <a:t> </a:t>
            </a:r>
            <a:r>
              <a:rPr lang="en-US" altLang="zh-CN" sz="2400" i="1"/>
              <a:t>do</a:t>
            </a:r>
            <a:r>
              <a:rPr lang="en-US" altLang="zh-CN" sz="2400"/>
              <a:t> 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2400" i="1"/>
              <a:t>     	t</a:t>
            </a:r>
            <a:r>
              <a:rPr lang="en-US" altLang="zh-CN" sz="2400"/>
              <a:t>=</a:t>
            </a:r>
            <a:r>
              <a:rPr lang="en-US" altLang="zh-CN" sz="2400" i="1"/>
              <a:t>t</a:t>
            </a:r>
            <a:r>
              <a:rPr lang="en-US" altLang="zh-CN" sz="2400"/>
              <a:t>*(</a:t>
            </a:r>
            <a:r>
              <a:rPr lang="en-US" altLang="zh-CN" sz="2400" i="1"/>
              <a:t>x</a:t>
            </a:r>
            <a:r>
              <a:rPr lang="en-US" altLang="zh-CN" sz="2400"/>
              <a:t>-</a:t>
            </a:r>
            <a:r>
              <a:rPr lang="en-US" altLang="zh-CN" sz="2400" i="1"/>
              <a:t>x</a:t>
            </a:r>
            <a:r>
              <a:rPr lang="en-US" altLang="zh-CN" sz="2400" baseline="-30000"/>
              <a:t>j-1</a:t>
            </a:r>
            <a:r>
              <a:rPr lang="en-US" altLang="zh-CN" sz="2400"/>
              <a:t>)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2400" i="1">
                <a:solidFill>
                  <a:srgbClr val="FF0000"/>
                </a:solidFill>
              </a:rPr>
              <a:t>           for</a:t>
            </a:r>
            <a:r>
              <a:rPr lang="en-US" altLang="zh-CN" sz="2400">
                <a:solidFill>
                  <a:srgbClr val="FF0000"/>
                </a:solidFill>
              </a:rPr>
              <a:t> </a:t>
            </a:r>
            <a:r>
              <a:rPr lang="en-US" altLang="zh-CN" sz="2400" i="1">
                <a:solidFill>
                  <a:srgbClr val="FF0000"/>
                </a:solidFill>
              </a:rPr>
              <a:t>i</a:t>
            </a:r>
            <a:r>
              <a:rPr lang="en-US" altLang="zh-CN" sz="2400">
                <a:solidFill>
                  <a:srgbClr val="FF0000"/>
                </a:solidFill>
              </a:rPr>
              <a:t>=0,…,</a:t>
            </a:r>
            <a:r>
              <a:rPr lang="en-US" altLang="zh-CN" sz="2400" i="1">
                <a:solidFill>
                  <a:srgbClr val="FF0000"/>
                </a:solidFill>
              </a:rPr>
              <a:t>n</a:t>
            </a:r>
            <a:r>
              <a:rPr lang="en-US" altLang="zh-CN" sz="2400">
                <a:solidFill>
                  <a:srgbClr val="FF0000"/>
                </a:solidFill>
              </a:rPr>
              <a:t>-</a:t>
            </a:r>
            <a:r>
              <a:rPr lang="en-US" altLang="zh-CN" sz="2400" i="1">
                <a:solidFill>
                  <a:srgbClr val="FF0000"/>
                </a:solidFill>
              </a:rPr>
              <a:t>j</a:t>
            </a:r>
            <a:r>
              <a:rPr lang="en-US" altLang="zh-CN" sz="2400">
                <a:solidFill>
                  <a:srgbClr val="FF0000"/>
                </a:solidFill>
              </a:rPr>
              <a:t> </a:t>
            </a:r>
            <a:r>
              <a:rPr lang="en-US" altLang="zh-CN" sz="2400" i="1">
                <a:solidFill>
                  <a:srgbClr val="FF0000"/>
                </a:solidFill>
              </a:rPr>
              <a:t>do</a:t>
            </a:r>
          </a:p>
          <a:p>
            <a:pPr algn="just">
              <a:lnSpc>
                <a:spcPct val="125000"/>
              </a:lnSpc>
            </a:pPr>
            <a:endParaRPr lang="en-US" altLang="zh-CN" sz="2400">
              <a:solidFill>
                <a:srgbClr val="FF0000"/>
              </a:solidFill>
            </a:endParaRPr>
          </a:p>
          <a:p>
            <a:pPr algn="just">
              <a:lnSpc>
                <a:spcPct val="125000"/>
              </a:lnSpc>
            </a:pPr>
            <a:endParaRPr lang="en-US" altLang="zh-CN" sz="2400">
              <a:solidFill>
                <a:srgbClr val="FF0000"/>
              </a:solidFill>
            </a:endParaRP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2400" i="1">
                <a:solidFill>
                  <a:srgbClr val="FF0000"/>
                </a:solidFill>
              </a:rPr>
              <a:t>           end</a:t>
            </a:r>
            <a:endParaRPr lang="en-US" altLang="zh-CN" sz="2400">
              <a:solidFill>
                <a:srgbClr val="FF0000"/>
              </a:solidFill>
            </a:endParaRP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2400" i="1"/>
              <a:t>           y</a:t>
            </a:r>
            <a:r>
              <a:rPr lang="en-US" altLang="zh-CN" sz="2400"/>
              <a:t>=</a:t>
            </a:r>
            <a:r>
              <a:rPr lang="en-US" altLang="zh-CN" sz="2400" i="1"/>
              <a:t>y</a:t>
            </a:r>
            <a:r>
              <a:rPr lang="en-US" altLang="zh-CN" sz="2400"/>
              <a:t>+</a:t>
            </a:r>
            <a:r>
              <a:rPr lang="en-US" altLang="zh-CN" sz="2400" i="1"/>
              <a:t>y</a:t>
            </a:r>
            <a:r>
              <a:rPr lang="en-US" altLang="zh-CN" sz="2400" baseline="-30000"/>
              <a:t>0</a:t>
            </a:r>
            <a:r>
              <a:rPr lang="en-US" altLang="zh-CN" sz="2400"/>
              <a:t>*</a:t>
            </a:r>
            <a:r>
              <a:rPr lang="en-US" altLang="zh-CN" sz="2400" i="1"/>
              <a:t>t</a:t>
            </a:r>
            <a:endParaRPr lang="en-US" altLang="zh-CN" sz="2400"/>
          </a:p>
          <a:p>
            <a:pPr algn="just">
              <a:lnSpc>
                <a:spcPct val="125000"/>
              </a:lnSpc>
            </a:pPr>
            <a:r>
              <a:rPr lang="en-US" altLang="zh-CN" sz="2400" i="1"/>
              <a:t>end</a:t>
            </a:r>
            <a:endParaRPr lang="en-US" altLang="zh-CN" sz="2400"/>
          </a:p>
          <a:p>
            <a:pPr>
              <a:lnSpc>
                <a:spcPct val="125000"/>
              </a:lnSpc>
            </a:pPr>
            <a:r>
              <a:rPr lang="en-US" altLang="zh-CN" sz="2400" i="1"/>
              <a:t>o</a:t>
            </a:r>
            <a:r>
              <a:rPr lang="en-US" altLang="zh-CN" sz="2400" i="1">
                <a:cs typeface="Times New Roman" panose="02020603050405020304" pitchFamily="18" charset="0"/>
              </a:rPr>
              <a:t>utput</a:t>
            </a:r>
            <a:r>
              <a:rPr lang="en-US" altLang="zh-CN" sz="2400"/>
              <a:t> </a:t>
            </a:r>
            <a:r>
              <a:rPr lang="en-US" altLang="zh-CN" sz="2400">
                <a:cs typeface="Times New Roman" panose="02020603050405020304" pitchFamily="18" charset="0"/>
              </a:rPr>
              <a:t> </a:t>
            </a:r>
            <a:r>
              <a:rPr lang="en-US" altLang="zh-CN" sz="2400" i="1">
                <a:cs typeface="Times New Roman" panose="02020603050405020304" pitchFamily="18" charset="0"/>
              </a:rPr>
              <a:t>y</a:t>
            </a:r>
            <a:r>
              <a:rPr lang="en-US" altLang="zh-CN" sz="2400"/>
              <a:t> </a:t>
            </a:r>
            <a:endParaRPr lang="zh-CN" altLang="en-US" sz="2400"/>
          </a:p>
        </p:txBody>
      </p:sp>
      <p:graphicFrame>
        <p:nvGraphicFramePr>
          <p:cNvPr id="26627" name="Object 1"/>
          <p:cNvGraphicFramePr>
            <a:graphicFrameLocks noChangeAspect="1"/>
          </p:cNvGraphicFramePr>
          <p:nvPr/>
        </p:nvGraphicFramePr>
        <p:xfrm>
          <a:off x="4310063" y="3429000"/>
          <a:ext cx="200025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0" name="Equation" r:id="rId3" imgW="14478000" imgH="7677150" progId="Equation.DSMT4">
                  <p:embed/>
                </p:oleObj>
              </mc:Choice>
              <mc:Fallback>
                <p:oleObj name="Equation" r:id="rId3" imgW="14478000" imgH="767715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63" y="3429000"/>
                        <a:ext cx="2000250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146"/>
          <p:cNvSpPr txBox="1">
            <a:spLocks noChangeArrowheads="1"/>
          </p:cNvSpPr>
          <p:nvPr/>
        </p:nvSpPr>
        <p:spPr bwMode="auto">
          <a:xfrm>
            <a:off x="7381875" y="2857500"/>
            <a:ext cx="2357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CC0000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400" b="1">
                <a:solidFill>
                  <a:srgbClr val="CC0000"/>
                </a:solidFill>
                <a:latin typeface="宋体" panose="02010600030101010101" pitchFamily="2" charset="-122"/>
              </a:rPr>
              <a:t>计算差商表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46810" y="554818"/>
                <a:ext cx="11425853" cy="4804682"/>
              </a:xfrm>
            </p:spPr>
            <p:txBody>
              <a:bodyPr/>
              <a:lstStyle/>
              <a:p>
                <a:r>
                  <a:rPr lang="zh-CN" altLang="en-US" sz="2800" dirty="0"/>
                  <a:t>例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求</m:t>
                    </m:r>
                  </m:oMath>
                </a14:m>
                <a:r>
                  <a:rPr lang="zh-CN" altLang="en-US" sz="2800" dirty="0"/>
                  <a:t>差商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[0,1,2,3,4]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[0,1,2,3,4,5]</m:t>
                    </m:r>
                  </m:oMath>
                </a14:m>
                <a:endParaRPr lang="en-US" altLang="zh-CN" sz="2800" dirty="0"/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例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：设函数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𝑟𝑥</m:t>
                    </m:r>
                  </m:oMath>
                </a14:m>
                <a:r>
                  <a:rPr lang="en-US" altLang="zh-CN" sz="2800" dirty="0"/>
                  <a:t>+s</a:t>
                </a:r>
                <a:r>
                  <a:rPr lang="zh-CN" altLang="en-US" sz="2800" dirty="0"/>
                  <a:t>，若差商</a:t>
                </a:r>
                <a:r>
                  <a:rPr lang="en-US" altLang="zh-CN" sz="2800" dirty="0"/>
                  <a:t>f[0,1,t]=1,</a:t>
                </a:r>
                <a:r>
                  <a:rPr lang="zh-CN" altLang="en-US" sz="2800" dirty="0"/>
                  <a:t>求差商</a:t>
                </a:r>
                <a:r>
                  <a:rPr lang="en-US" altLang="zh-CN" sz="2800" dirty="0"/>
                  <a:t>f[1,2,t].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46810" y="554818"/>
                <a:ext cx="11425853" cy="4804682"/>
              </a:xfrm>
              <a:blipFill>
                <a:blip r:embed="rId2"/>
                <a:stretch>
                  <a:fillRect l="-961" t="-1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847597" y="3347362"/>
                <a:ext cx="63306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同理：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阶差商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[0,1,2,3,4,5]</m:t>
                    </m:r>
                  </m:oMath>
                </a14:m>
                <a:r>
                  <a:rPr lang="en-US" altLang="zh-CN" dirty="0"/>
                  <a:t>=0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97" y="3347362"/>
                <a:ext cx="6330608" cy="461665"/>
              </a:xfrm>
              <a:prstGeom prst="rect">
                <a:avLst/>
              </a:prstGeom>
              <a:blipFill>
                <a:blip r:embed="rId3"/>
                <a:stretch>
                  <a:fillRect l="-1444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463026" y="2539662"/>
                <a:ext cx="5038944" cy="733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！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！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026" y="2539662"/>
                <a:ext cx="5038944" cy="733021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751388" y="2038694"/>
            <a:ext cx="391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根据</a:t>
            </a:r>
            <a:r>
              <a:rPr lang="en-US" altLang="zh-CN" dirty="0">
                <a:solidFill>
                  <a:srgbClr val="FF0000"/>
                </a:solidFill>
              </a:rPr>
              <a:t>n+1</a:t>
            </a:r>
            <a:r>
              <a:rPr lang="zh-CN" altLang="en-US" dirty="0">
                <a:solidFill>
                  <a:srgbClr val="FF0000"/>
                </a:solidFill>
              </a:rPr>
              <a:t>阶差商与</a:t>
            </a:r>
            <a:r>
              <a:rPr lang="en-US" altLang="zh-CN" dirty="0">
                <a:solidFill>
                  <a:srgbClr val="FF0000"/>
                </a:solidFill>
              </a:rPr>
              <a:t>n+1</a:t>
            </a:r>
            <a:r>
              <a:rPr lang="zh-CN" altLang="en-US" dirty="0">
                <a:solidFill>
                  <a:srgbClr val="FF0000"/>
                </a:solidFill>
              </a:rPr>
              <a:t>阶导数的关系：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47597" y="1290276"/>
                <a:ext cx="5490862" cy="6430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解：根据公式计算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97" y="1290276"/>
                <a:ext cx="5490862" cy="643061"/>
              </a:xfrm>
              <a:prstGeom prst="rect">
                <a:avLst/>
              </a:prstGeom>
              <a:blipFill>
                <a:blip r:embed="rId5"/>
                <a:stretch>
                  <a:fillRect l="-1665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482341" y="4678905"/>
                <a:ext cx="82825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解：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根据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n+1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阶差商与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n+1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阶导数的关系：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341" y="4678905"/>
                <a:ext cx="8282524" cy="461665"/>
              </a:xfrm>
              <a:prstGeom prst="rect">
                <a:avLst/>
              </a:prstGeom>
              <a:blipFill>
                <a:blip r:embed="rId6"/>
                <a:stretch>
                  <a:fillRect l="-1104" t="-14667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1482341" y="5146835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根据差商公式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056246" y="5078752"/>
                <a:ext cx="3001656" cy="5038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0,1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,2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0,1,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=1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246" y="5078752"/>
                <a:ext cx="3001656" cy="503856"/>
              </a:xfrm>
              <a:prstGeom prst="rect">
                <a:avLst/>
              </a:prstGeom>
              <a:blipFill>
                <a:blip r:embed="rId7"/>
                <a:stretch>
                  <a:fillRect r="-32049" b="-37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429021" y="5670763"/>
                <a:ext cx="12646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,2]</m:t>
                    </m:r>
                  </m:oMath>
                </a14:m>
                <a:r>
                  <a:rPr lang="en-US" altLang="zh-CN" dirty="0"/>
                  <a:t>=3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021" y="5670763"/>
                <a:ext cx="1264642" cy="369332"/>
              </a:xfrm>
              <a:prstGeom prst="rect">
                <a:avLst/>
              </a:prstGeom>
              <a:blipFill>
                <a:blip r:embed="rId8"/>
                <a:stretch>
                  <a:fillRect l="-1442" t="-6557" r="-2885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1460548" y="619815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根据差商对称性</a:t>
            </a:r>
          </a:p>
        </p:txBody>
      </p:sp>
      <p:sp>
        <p:nvSpPr>
          <p:cNvPr id="14" name="矩形 13"/>
          <p:cNvSpPr/>
          <p:nvPr/>
        </p:nvSpPr>
        <p:spPr>
          <a:xfrm>
            <a:off x="4521213" y="6199791"/>
            <a:ext cx="1035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f[1,2,t]=3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852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166938" y="285750"/>
            <a:ext cx="7991475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[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3]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已知 </a:t>
            </a:r>
            <a:r>
              <a:rPr lang="en-US" altLang="zh-CN" sz="2400" b="1" i="1" dirty="0">
                <a:solidFill>
                  <a:schemeClr val="accent2"/>
                </a:solidFill>
              </a:rPr>
              <a:t>f</a:t>
            </a:r>
            <a:r>
              <a:rPr lang="en-US" altLang="zh-CN" sz="2400" b="1" dirty="0">
                <a:solidFill>
                  <a:schemeClr val="accent2"/>
                </a:solidFill>
              </a:rPr>
              <a:t>(-1)=2,  </a:t>
            </a:r>
            <a:r>
              <a:rPr lang="en-US" altLang="zh-CN" sz="2400" b="1" i="1" dirty="0">
                <a:solidFill>
                  <a:schemeClr val="accent2"/>
                </a:solidFill>
              </a:rPr>
              <a:t>f</a:t>
            </a:r>
            <a:r>
              <a:rPr lang="en-US" altLang="zh-CN" sz="2400" b="1" dirty="0">
                <a:solidFill>
                  <a:schemeClr val="accent2"/>
                </a:solidFill>
              </a:rPr>
              <a:t>(1)=1,  </a:t>
            </a:r>
            <a:r>
              <a:rPr lang="en-US" altLang="zh-CN" sz="2400" b="1" i="1" dirty="0">
                <a:solidFill>
                  <a:schemeClr val="accent2"/>
                </a:solidFill>
              </a:rPr>
              <a:t>f</a:t>
            </a:r>
            <a:r>
              <a:rPr lang="en-US" altLang="zh-CN" sz="2400" b="1" dirty="0">
                <a:solidFill>
                  <a:schemeClr val="accent2"/>
                </a:solidFill>
              </a:rPr>
              <a:t>(2)=1，</a:t>
            </a:r>
            <a:r>
              <a:rPr lang="zh-CN" altLang="en-US" sz="2400" b="1" dirty="0">
                <a:solidFill>
                  <a:schemeClr val="accent2"/>
                </a:solidFill>
              </a:rPr>
              <a:t>求 </a:t>
            </a:r>
            <a:r>
              <a:rPr lang="en-US" altLang="zh-CN" sz="2400" b="1" i="1" dirty="0">
                <a:solidFill>
                  <a:schemeClr val="accent2"/>
                </a:solidFill>
              </a:rPr>
              <a:t>f</a:t>
            </a:r>
            <a:r>
              <a:rPr lang="en-US" altLang="zh-CN" sz="2400" b="1" dirty="0">
                <a:solidFill>
                  <a:schemeClr val="accent2"/>
                </a:solidFill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</a:rPr>
              <a:t>x</a:t>
            </a:r>
            <a:r>
              <a:rPr lang="en-US" altLang="zh-CN" sz="2400" b="1" dirty="0">
                <a:solidFill>
                  <a:schemeClr val="accent2"/>
                </a:solidFill>
              </a:rPr>
              <a:t>) </a:t>
            </a:r>
            <a:r>
              <a:rPr lang="zh-CN" altLang="en-US" sz="2400" b="1" dirty="0">
                <a:solidFill>
                  <a:schemeClr val="accent2"/>
                </a:solidFill>
              </a:rPr>
              <a:t>的</a:t>
            </a:r>
            <a:r>
              <a:rPr lang="en-US" altLang="zh-CN" sz="2400" b="1" dirty="0">
                <a:solidFill>
                  <a:schemeClr val="accent2"/>
                </a:solidFill>
              </a:rPr>
              <a:t>Newton</a:t>
            </a:r>
            <a:r>
              <a:rPr lang="zh-CN" altLang="en-US" sz="2400" b="1" dirty="0">
                <a:solidFill>
                  <a:schemeClr val="accent2"/>
                </a:solidFill>
              </a:rPr>
              <a:t>插值多项式 </a:t>
            </a:r>
            <a:r>
              <a:rPr lang="en-US" altLang="zh-CN" sz="2400" b="1" i="1" dirty="0">
                <a:solidFill>
                  <a:schemeClr val="accent2"/>
                </a:solidFill>
              </a:rPr>
              <a:t>p</a:t>
            </a:r>
            <a:r>
              <a:rPr lang="en-US" altLang="zh-CN" sz="2400" b="1" dirty="0">
                <a:solidFill>
                  <a:schemeClr val="accent2"/>
                </a:solidFill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</a:rPr>
              <a:t>x</a:t>
            </a:r>
            <a:r>
              <a:rPr lang="en-US" altLang="zh-CN" sz="2400" b="1" dirty="0">
                <a:solidFill>
                  <a:schemeClr val="accent2"/>
                </a:solidFill>
              </a:rPr>
              <a:t>)</a:t>
            </a:r>
            <a:r>
              <a:rPr lang="zh-CN" altLang="en-US" sz="2400" b="1" dirty="0">
                <a:solidFill>
                  <a:schemeClr val="accent2"/>
                </a:solidFill>
              </a:rPr>
              <a:t>。 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510E69E4-18D1-439B-9B2D-7E342070A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1714500"/>
            <a:ext cx="8137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latin typeface="宋体" pitchFamily="2" charset="-122"/>
              </a:rPr>
              <a:t>    </a:t>
            </a:r>
            <a:r>
              <a:rPr lang="zh-CN" altLang="en-US" b="1" dirty="0">
                <a:latin typeface="宋体" pitchFamily="2" charset="-122"/>
              </a:rPr>
              <a:t>解：</a:t>
            </a:r>
            <a:r>
              <a:rPr lang="zh-CN" altLang="en-US" kern="0" dirty="0"/>
              <a:t>设</a:t>
            </a:r>
            <a:r>
              <a:rPr lang="en-US" altLang="zh-CN" sz="2800" i="1" kern="0" dirty="0">
                <a:cs typeface="Times New Roman" pitchFamily="18" charset="0"/>
              </a:rPr>
              <a:t>x</a:t>
            </a:r>
            <a:r>
              <a:rPr lang="en-US" altLang="zh-CN" sz="2800" kern="0" baseline="-30000" dirty="0">
                <a:cs typeface="Times New Roman" pitchFamily="18" charset="0"/>
              </a:rPr>
              <a:t>0</a:t>
            </a:r>
            <a:r>
              <a:rPr lang="en-US" altLang="zh-CN" sz="2800" kern="0" dirty="0">
                <a:cs typeface="Times New Roman" pitchFamily="18" charset="0"/>
              </a:rPr>
              <a:t>= -1, </a:t>
            </a:r>
            <a:r>
              <a:rPr lang="en-US" altLang="zh-CN" sz="2800" i="1" kern="0" dirty="0">
                <a:cs typeface="Times New Roman" pitchFamily="18" charset="0"/>
              </a:rPr>
              <a:t>x</a:t>
            </a:r>
            <a:r>
              <a:rPr lang="en-US" altLang="zh-CN" sz="2800" kern="0" baseline="-30000" dirty="0">
                <a:cs typeface="Times New Roman" pitchFamily="18" charset="0"/>
              </a:rPr>
              <a:t>1</a:t>
            </a:r>
            <a:r>
              <a:rPr lang="en-US" altLang="zh-CN" sz="2800" kern="0" dirty="0">
                <a:cs typeface="Times New Roman" pitchFamily="18" charset="0"/>
              </a:rPr>
              <a:t>=1, </a:t>
            </a:r>
            <a:r>
              <a:rPr lang="en-US" altLang="zh-CN" sz="2800" i="1" kern="0" dirty="0">
                <a:cs typeface="Times New Roman" pitchFamily="18" charset="0"/>
              </a:rPr>
              <a:t>x</a:t>
            </a:r>
            <a:r>
              <a:rPr lang="en-US" altLang="zh-CN" sz="2800" kern="0" baseline="-30000" dirty="0">
                <a:cs typeface="Times New Roman" pitchFamily="18" charset="0"/>
              </a:rPr>
              <a:t>2</a:t>
            </a:r>
            <a:r>
              <a:rPr lang="en-US" altLang="zh-CN" sz="2800" kern="0" dirty="0">
                <a:cs typeface="Times New Roman" pitchFamily="18" charset="0"/>
              </a:rPr>
              <a:t>=2</a:t>
            </a:r>
            <a:r>
              <a:rPr lang="en-US" altLang="zh-CN" kern="0" dirty="0">
                <a:cs typeface="Times New Roman" pitchFamily="18" charset="0"/>
              </a:rPr>
              <a:t>, </a:t>
            </a:r>
            <a:r>
              <a:rPr lang="zh-CN" altLang="en-US" kern="0" dirty="0"/>
              <a:t>则 </a:t>
            </a:r>
            <a:endParaRPr lang="en-US" altLang="zh-CN" dirty="0">
              <a:latin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8" name="Object 6"/>
              <p:cNvSpPr txBox="1"/>
              <p:nvPr/>
            </p:nvSpPr>
            <p:spPr bwMode="auto">
              <a:xfrm>
                <a:off x="2952750" y="2571750"/>
                <a:ext cx="4572000" cy="93186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1−(−1)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2750" y="2571750"/>
                <a:ext cx="4572000" cy="9318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Object 7"/>
              <p:cNvSpPr txBox="1"/>
              <p:nvPr/>
            </p:nvSpPr>
            <p:spPr bwMode="auto">
              <a:xfrm>
                <a:off x="2952750" y="3857625"/>
                <a:ext cx="4183063" cy="9937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2−1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3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2750" y="3857625"/>
                <a:ext cx="4183063" cy="993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Object 8"/>
              <p:cNvSpPr txBox="1"/>
              <p:nvPr/>
            </p:nvSpPr>
            <p:spPr bwMode="auto">
              <a:xfrm>
                <a:off x="2881313" y="5214938"/>
                <a:ext cx="6099175" cy="105886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0−(−1/2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）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（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4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1313" y="5214938"/>
                <a:ext cx="6099175" cy="10588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338" grpId="0"/>
      <p:bldP spid="14339" grpId="0"/>
      <p:bldP spid="1434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46">
            <a:extLst>
              <a:ext uri="{FF2B5EF4-FFF2-40B4-BE49-F238E27FC236}">
                <a16:creationId xmlns:a16="http://schemas.microsoft.com/office/drawing/2014/main" id="{3EE408CE-3E3F-4A16-9ACF-96A8ED768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786063"/>
            <a:ext cx="176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差商表</a:t>
            </a:r>
          </a:p>
        </p:txBody>
      </p:sp>
      <p:graphicFrame>
        <p:nvGraphicFramePr>
          <p:cNvPr id="4" name="Group 149">
            <a:extLst>
              <a:ext uri="{FF2B5EF4-FFF2-40B4-BE49-F238E27FC236}">
                <a16:creationId xmlns:a16="http://schemas.microsoft.com/office/drawing/2014/main" id="{45078219-E53C-40F7-A7BA-27D0B7F22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197470"/>
              </p:ext>
            </p:extLst>
          </p:nvPr>
        </p:nvGraphicFramePr>
        <p:xfrm>
          <a:off x="2238375" y="3325813"/>
          <a:ext cx="8121650" cy="203200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769921960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350441765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840450688"/>
                    </a:ext>
                  </a:extLst>
                </a:gridCol>
                <a:gridCol w="2763837">
                  <a:extLst>
                    <a:ext uri="{9D8B030D-6E8A-4147-A177-3AD203B41FA5}">
                      <a16:colId xmlns:a16="http://schemas.microsoft.com/office/drawing/2014/main" val="1106264051"/>
                    </a:ext>
                  </a:extLst>
                </a:gridCol>
              </a:tblGrid>
              <a:tr h="490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一阶差商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二阶差商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1151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533848"/>
                  </a:ext>
                </a:extLst>
              </a:tr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f[x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 =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68179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f[x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 = 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f[x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 =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576586"/>
                  </a:ext>
                </a:extLst>
              </a:tr>
            </a:tbl>
          </a:graphicData>
        </a:graphic>
      </p:graphicFrame>
      <p:graphicFrame>
        <p:nvGraphicFramePr>
          <p:cNvPr id="67586" name="Object 1"/>
          <p:cNvGraphicFramePr>
            <a:graphicFrameLocks noChangeAspect="1"/>
          </p:cNvGraphicFramePr>
          <p:nvPr/>
        </p:nvGraphicFramePr>
        <p:xfrm>
          <a:off x="3095625" y="5522913"/>
          <a:ext cx="498792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98" name="Equation" r:id="rId3" imgW="37299900" imgH="6800850" progId="Equation.DSMT4">
                  <p:embed/>
                </p:oleObj>
              </mc:Choice>
              <mc:Fallback>
                <p:oleObj name="Equation" r:id="rId3" imgW="37299900" imgH="680085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5522913"/>
                        <a:ext cx="4987925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341" name="Object 24"/>
              <p:cNvSpPr txBox="1"/>
              <p:nvPr/>
            </p:nvSpPr>
            <p:spPr bwMode="auto">
              <a:xfrm>
                <a:off x="2592388" y="1039813"/>
                <a:ext cx="5427662" cy="90646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41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2388" y="1039813"/>
                <a:ext cx="5427662" cy="906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5"/>
              <p:cNvSpPr txBox="1"/>
              <p:nvPr/>
            </p:nvSpPr>
            <p:spPr bwMode="auto">
              <a:xfrm>
                <a:off x="1881188" y="428625"/>
                <a:ext cx="9111356" cy="52705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1188" y="428625"/>
                <a:ext cx="9111356" cy="527050"/>
              </a:xfrm>
              <a:prstGeom prst="rect">
                <a:avLst/>
              </a:prstGeom>
              <a:blipFill>
                <a:blip r:embed="rId6"/>
                <a:stretch>
                  <a:fillRect b="-3448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86553C7F-7C8F-44B0-916A-26D41CBCC577}"/>
              </a:ext>
            </a:extLst>
          </p:cNvPr>
          <p:cNvSpPr/>
          <p:nvPr/>
        </p:nvSpPr>
        <p:spPr>
          <a:xfrm>
            <a:off x="2024063" y="2357438"/>
            <a:ext cx="2659062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B07B9"/>
                </a:solidFill>
                <a:latin typeface="+mn-ea"/>
              </a:rPr>
              <a:t>差商表的</a:t>
            </a:r>
            <a:r>
              <a:rPr lang="zh-CN" altLang="en-US" b="1" dirty="0">
                <a:solidFill>
                  <a:srgbClr val="0B07B9"/>
                </a:solidFill>
                <a:latin typeface="宋体" pitchFamily="2" charset="-122"/>
              </a:rPr>
              <a:t>表示法：</a:t>
            </a:r>
            <a:endParaRPr lang="zh-CN" altLang="en-US" dirty="0">
              <a:solidFill>
                <a:srgbClr val="0B07B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4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102007"/>
              </p:ext>
            </p:extLst>
          </p:nvPr>
        </p:nvGraphicFramePr>
        <p:xfrm>
          <a:off x="695400" y="1628800"/>
          <a:ext cx="9964079" cy="3803714"/>
        </p:xfrm>
        <a:graphic>
          <a:graphicData uri="http://schemas.openxmlformats.org/drawingml/2006/table">
            <a:tbl>
              <a:tblPr/>
              <a:tblGrid>
                <a:gridCol w="1117467">
                  <a:extLst>
                    <a:ext uri="{9D8B030D-6E8A-4147-A177-3AD203B41FA5}">
                      <a16:colId xmlns:a16="http://schemas.microsoft.com/office/drawing/2014/main" val="3274409212"/>
                    </a:ext>
                  </a:extLst>
                </a:gridCol>
                <a:gridCol w="2171474">
                  <a:extLst>
                    <a:ext uri="{9D8B030D-6E8A-4147-A177-3AD203B41FA5}">
                      <a16:colId xmlns:a16="http://schemas.microsoft.com/office/drawing/2014/main" val="50396092"/>
                    </a:ext>
                  </a:extLst>
                </a:gridCol>
                <a:gridCol w="1583987">
                  <a:extLst>
                    <a:ext uri="{9D8B030D-6E8A-4147-A177-3AD203B41FA5}">
                      <a16:colId xmlns:a16="http://schemas.microsoft.com/office/drawing/2014/main" val="2416575264"/>
                    </a:ext>
                  </a:extLst>
                </a:gridCol>
                <a:gridCol w="1759986">
                  <a:extLst>
                    <a:ext uri="{9D8B030D-6E8A-4147-A177-3AD203B41FA5}">
                      <a16:colId xmlns:a16="http://schemas.microsoft.com/office/drawing/2014/main" val="2669236891"/>
                    </a:ext>
                  </a:extLst>
                </a:gridCol>
                <a:gridCol w="1847985">
                  <a:extLst>
                    <a:ext uri="{9D8B030D-6E8A-4147-A177-3AD203B41FA5}">
                      <a16:colId xmlns:a16="http://schemas.microsoft.com/office/drawing/2014/main" val="4156630085"/>
                    </a:ext>
                  </a:extLst>
                </a:gridCol>
                <a:gridCol w="1483180">
                  <a:extLst>
                    <a:ext uri="{9D8B030D-6E8A-4147-A177-3AD203B41FA5}">
                      <a16:colId xmlns:a16="http://schemas.microsoft.com/office/drawing/2014/main" val="297630018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kumimoji="1" lang="ru-RU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f</a:t>
                      </a: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kumimoji="1" lang="ru-RU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</a:t>
                      </a: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zh-CN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一阶差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商</a:t>
                      </a:r>
                      <a:endParaRPr kumimoji="1" lang="zh-CN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zh-CN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二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阶</a:t>
                      </a:r>
                      <a:r>
                        <a:rPr kumimoji="1" lang="zh-CN" altLang="ru-RU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宋体" panose="02010600030101010101" pitchFamily="2" charset="-122"/>
                          <a:cs typeface="+mn-cs"/>
                        </a:rPr>
                        <a:t>差</a:t>
                      </a:r>
                      <a:r>
                        <a:rPr kumimoji="1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宋体" panose="02010600030101010101" pitchFamily="2" charset="-122"/>
                          <a:cs typeface="+mn-cs"/>
                        </a:rPr>
                        <a:t>商</a:t>
                      </a:r>
                      <a:endParaRPr kumimoji="1" lang="zh-CN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zh-CN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三阶</a:t>
                      </a:r>
                      <a:r>
                        <a:rPr kumimoji="1" lang="zh-CN" altLang="ru-RU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宋体" panose="02010600030101010101" pitchFamily="2" charset="-122"/>
                          <a:cs typeface="+mn-cs"/>
                        </a:rPr>
                        <a:t>差</a:t>
                      </a:r>
                      <a:r>
                        <a:rPr kumimoji="1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宋体" panose="02010600030101010101" pitchFamily="2" charset="-122"/>
                          <a:cs typeface="+mn-cs"/>
                        </a:rPr>
                        <a:t>商</a:t>
                      </a:r>
                      <a:endParaRPr kumimoji="1" lang="zh-CN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zh-CN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四阶</a:t>
                      </a:r>
                      <a:r>
                        <a:rPr kumimoji="1" lang="zh-CN" altLang="ru-RU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宋体" panose="02010600030101010101" pitchFamily="2" charset="-122"/>
                          <a:cs typeface="+mn-cs"/>
                        </a:rPr>
                        <a:t>差</a:t>
                      </a:r>
                      <a:r>
                        <a:rPr kumimoji="1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宋体" panose="02010600030101010101" pitchFamily="2" charset="-122"/>
                          <a:cs typeface="+mn-cs"/>
                        </a:rPr>
                        <a:t>商</a:t>
                      </a:r>
                      <a:endParaRPr kumimoji="1" lang="zh-CN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790135"/>
                  </a:ext>
                </a:extLst>
              </a:tr>
              <a:tr h="1828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0.40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0.41075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0.57815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0.69675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0.88811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1.02652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1.1160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1.1860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1.2757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1.3841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0.2800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0.3588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0.4336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0.1970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0.2137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en-US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1" lang="ru-RU" altLang="zh-CN" sz="2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0.0344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27330"/>
                  </a:ext>
                </a:extLst>
              </a:tr>
            </a:tbl>
          </a:graphicData>
        </a:graphic>
      </p:graphicFrame>
      <p:sp>
        <p:nvSpPr>
          <p:cNvPr id="3" name="Rectangle 511"/>
          <p:cNvSpPr>
            <a:spLocks noChangeArrowheads="1"/>
          </p:cNvSpPr>
          <p:nvPr/>
        </p:nvSpPr>
        <p:spPr bwMode="auto">
          <a:xfrm>
            <a:off x="801960" y="377825"/>
            <a:ext cx="10478616" cy="85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ru-RU" dirty="0">
                <a:latin typeface="+mn-ea"/>
                <a:ea typeface="+mn-ea"/>
              </a:rPr>
              <a:t>例</a:t>
            </a:r>
            <a:r>
              <a:rPr kumimoji="1" lang="en-US" altLang="zh-CN" dirty="0">
                <a:latin typeface="+mn-ea"/>
                <a:ea typeface="+mn-ea"/>
              </a:rPr>
              <a:t>4</a:t>
            </a:r>
            <a:r>
              <a:rPr kumimoji="1" lang="ru-RU" altLang="zh-CN" dirty="0">
                <a:latin typeface="+mn-ea"/>
                <a:ea typeface="+mn-ea"/>
              </a:rPr>
              <a:t>  </a:t>
            </a:r>
            <a:r>
              <a:rPr kumimoji="1" lang="zh-CN" altLang="ru-RU" dirty="0">
                <a:latin typeface="+mn-ea"/>
                <a:ea typeface="+mn-ea"/>
              </a:rPr>
              <a:t>已知</a:t>
            </a:r>
            <a:r>
              <a:rPr kumimoji="1" lang="ru-RU" altLang="zh-CN" i="1" dirty="0">
                <a:latin typeface="+mn-ea"/>
                <a:ea typeface="+mn-ea"/>
              </a:rPr>
              <a:t>f</a:t>
            </a:r>
            <a:r>
              <a:rPr kumimoji="1" lang="ru-RU" altLang="zh-CN" dirty="0">
                <a:latin typeface="+mn-ea"/>
                <a:ea typeface="+mn-ea"/>
              </a:rPr>
              <a:t>(</a:t>
            </a:r>
            <a:r>
              <a:rPr kumimoji="1" lang="ru-RU" altLang="zh-CN" i="1" dirty="0">
                <a:latin typeface="+mn-ea"/>
                <a:ea typeface="+mn-ea"/>
              </a:rPr>
              <a:t>x</a:t>
            </a:r>
            <a:r>
              <a:rPr kumimoji="1" lang="ru-RU" altLang="zh-CN" dirty="0">
                <a:latin typeface="+mn-ea"/>
                <a:ea typeface="+mn-ea"/>
              </a:rPr>
              <a:t>)=sh</a:t>
            </a:r>
            <a:r>
              <a:rPr kumimoji="1" lang="ru-RU" altLang="zh-CN" i="1" dirty="0">
                <a:latin typeface="+mn-ea"/>
                <a:ea typeface="+mn-ea"/>
              </a:rPr>
              <a:t>x</a:t>
            </a:r>
            <a:r>
              <a:rPr kumimoji="1" lang="zh-CN" altLang="ru-RU" dirty="0">
                <a:latin typeface="+mn-ea"/>
                <a:ea typeface="+mn-ea"/>
              </a:rPr>
              <a:t>的数表</a:t>
            </a:r>
            <a:r>
              <a:rPr kumimoji="1" lang="ru-RU" altLang="zh-CN" dirty="0">
                <a:latin typeface="+mn-ea"/>
                <a:ea typeface="+mn-ea"/>
              </a:rPr>
              <a:t>,</a:t>
            </a:r>
            <a:r>
              <a:rPr kumimoji="1" lang="zh-CN" altLang="ru-RU" dirty="0">
                <a:latin typeface="+mn-ea"/>
                <a:ea typeface="+mn-ea"/>
              </a:rPr>
              <a:t>求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rPr>
              <a:t>三</a:t>
            </a:r>
            <a:r>
              <a:rPr kumimoji="1" lang="zh-CN" altLang="ru-RU" dirty="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rPr>
              <a:t>次</a:t>
            </a:r>
            <a:r>
              <a:rPr kumimoji="1" lang="zh-CN" altLang="ru-RU" dirty="0">
                <a:latin typeface="+mn-ea"/>
                <a:ea typeface="+mn-ea"/>
              </a:rPr>
              <a:t>牛顿插值多项式</a:t>
            </a:r>
            <a:r>
              <a:rPr kumimoji="1" lang="ru-RU" altLang="zh-CN" dirty="0">
                <a:latin typeface="+mn-ea"/>
                <a:ea typeface="+mn-ea"/>
              </a:rPr>
              <a:t>,</a:t>
            </a:r>
            <a:r>
              <a:rPr kumimoji="1" lang="zh-CN" altLang="ru-RU" dirty="0">
                <a:latin typeface="+mn-ea"/>
                <a:ea typeface="+mn-ea"/>
              </a:rPr>
              <a:t>并由此计算</a:t>
            </a:r>
            <a:r>
              <a:rPr kumimoji="1" lang="ru-RU" altLang="zh-CN" i="1" dirty="0">
                <a:latin typeface="+mn-ea"/>
                <a:ea typeface="+mn-ea"/>
              </a:rPr>
              <a:t>f</a:t>
            </a:r>
            <a:r>
              <a:rPr kumimoji="1" lang="ru-RU" altLang="zh-CN" dirty="0">
                <a:latin typeface="+mn-ea"/>
                <a:ea typeface="+mn-ea"/>
              </a:rPr>
              <a:t>(0.596)</a:t>
            </a:r>
            <a:r>
              <a:rPr kumimoji="1" lang="zh-CN" altLang="ru-RU" dirty="0">
                <a:latin typeface="+mn-ea"/>
                <a:ea typeface="+mn-ea"/>
              </a:rPr>
              <a:t>的近似值</a:t>
            </a:r>
            <a:r>
              <a:rPr kumimoji="1" lang="zh-CN" altLang="en-US">
                <a:latin typeface="+mn-ea"/>
                <a:ea typeface="+mn-ea"/>
              </a:rPr>
              <a:t>，并</a:t>
            </a:r>
            <a:r>
              <a:rPr lang="zh-CN" altLang="en-US">
                <a:latin typeface="+mn-ea"/>
                <a:ea typeface="+mn-ea"/>
              </a:rPr>
              <a:t>估计</a:t>
            </a:r>
            <a:r>
              <a:rPr kumimoji="1" lang="zh-CN" altLang="en-US">
                <a:latin typeface="+mn-ea"/>
                <a:ea typeface="+mn-ea"/>
              </a:rPr>
              <a:t>截断误差</a:t>
            </a:r>
            <a:r>
              <a:rPr kumimoji="1" lang="zh-CN" altLang="ru-RU" dirty="0">
                <a:latin typeface="+mn-ea"/>
                <a:ea typeface="+mn-ea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28538935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22"/>
              <p:cNvSpPr txBox="1"/>
              <p:nvPr/>
            </p:nvSpPr>
            <p:spPr bwMode="auto">
              <a:xfrm>
                <a:off x="1127448" y="3241999"/>
                <a:ext cx="7450137" cy="53975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(0.596)≈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(0.596)=0.6319145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Object 5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7448" y="3241999"/>
                <a:ext cx="7450137" cy="5397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24"/>
              <p:cNvSpPr txBox="1"/>
              <p:nvPr/>
            </p:nvSpPr>
            <p:spPr bwMode="auto">
              <a:xfrm>
                <a:off x="1878013" y="5089525"/>
                <a:ext cx="9709150" cy="66516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0.0344(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−0.40)(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−0.55)(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−0.65)(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−0.80)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Object 5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8013" y="5089525"/>
                <a:ext cx="9709150" cy="6651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26"/>
              <p:cNvSpPr txBox="1"/>
              <p:nvPr/>
            </p:nvSpPr>
            <p:spPr bwMode="auto">
              <a:xfrm>
                <a:off x="2711450" y="5876925"/>
                <a:ext cx="3443288" cy="57626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(0.596)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0.34×1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Object 5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450" y="5876925"/>
                <a:ext cx="3443288" cy="5762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27"/>
              <p:cNvSpPr txBox="1"/>
              <p:nvPr/>
            </p:nvSpPr>
            <p:spPr bwMode="auto">
              <a:xfrm>
                <a:off x="2397125" y="4498285"/>
                <a:ext cx="4071937" cy="5715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]=0.0344 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Object 5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7125" y="4498285"/>
                <a:ext cx="4071937" cy="571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A7EC5964-9662-4814-9724-CAC91C8DB808}"/>
              </a:ext>
            </a:extLst>
          </p:cNvPr>
          <p:cNvGrpSpPr/>
          <p:nvPr/>
        </p:nvGrpSpPr>
        <p:grpSpPr>
          <a:xfrm>
            <a:off x="751241" y="1092285"/>
            <a:ext cx="10835922" cy="2098224"/>
            <a:chOff x="751241" y="1092285"/>
            <a:chExt cx="10835922" cy="2098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bject 520"/>
                <p:cNvSpPr txBox="1"/>
                <p:nvPr/>
              </p:nvSpPr>
              <p:spPr bwMode="auto">
                <a:xfrm>
                  <a:off x="751241" y="1875315"/>
                  <a:ext cx="10835922" cy="1315194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)=0.41075+1.1160(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−0.40)</m:t>
                        </m:r>
                      </m:oMath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+0.2800(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−0.40)(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−0.55))+0.1970(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−0.40)(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−0.55)(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−0.65)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Object 5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1241" y="1875315"/>
                  <a:ext cx="10835922" cy="131519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672669" y="1092285"/>
              <a:ext cx="664797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+mn-ea"/>
                  <a:ea typeface="+mn-ea"/>
                </a:rPr>
                <a:t>解：由上表</a:t>
              </a:r>
              <a:r>
                <a:rPr lang="zh-CN" altLang="ru-RU" dirty="0">
                  <a:latin typeface="+mn-ea"/>
                  <a:ea typeface="+mn-ea"/>
                </a:rPr>
                <a:t>可得过前四点的三次牛顿插值多项式</a:t>
              </a:r>
              <a:endParaRPr lang="zh-CN" altLang="en-US" dirty="0">
                <a:latin typeface="+mn-ea"/>
                <a:ea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AA44A0C-0D56-40EA-AC07-D2E4CC391185}"/>
                  </a:ext>
                </a:extLst>
              </p:cNvPr>
              <p:cNvSpPr txBox="1"/>
              <p:nvPr/>
            </p:nvSpPr>
            <p:spPr>
              <a:xfrm>
                <a:off x="2855640" y="3955351"/>
                <a:ext cx="4489499" cy="369332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AA44A0C-0D56-40EA-AC07-D2E4CC391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3955351"/>
                <a:ext cx="4489499" cy="369332"/>
              </a:xfrm>
              <a:prstGeom prst="rect">
                <a:avLst/>
              </a:prstGeom>
              <a:blipFill>
                <a:blip r:embed="rId8"/>
                <a:stretch>
                  <a:fillRect l="-950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39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5480" y="670181"/>
            <a:ext cx="8412880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如何从很多采样点</a:t>
            </a:r>
            <a:r>
              <a:rPr lang="en-US" altLang="zh-CN" sz="2800" dirty="0"/>
              <a:t>(x</a:t>
            </a:r>
            <a:r>
              <a:rPr lang="en-US" altLang="zh-CN" sz="2800" baseline="-25000" dirty="0"/>
              <a:t>0,…..,</a:t>
            </a:r>
            <a:r>
              <a:rPr lang="en-US" altLang="zh-CN" sz="2800" dirty="0"/>
              <a:t> </a:t>
            </a:r>
            <a:r>
              <a:rPr lang="en-US" altLang="zh-CN" sz="2800" dirty="0" err="1"/>
              <a:t>x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)</a:t>
            </a:r>
            <a:r>
              <a:rPr lang="zh-CN" altLang="en-US" sz="2800" dirty="0"/>
              <a:t>中选择插值点进行插值？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03512" y="1556792"/>
            <a:ext cx="2281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/>
              <a:t>当</a:t>
            </a:r>
            <a:r>
              <a:rPr lang="en-US" altLang="zh-CN" b="1" dirty="0"/>
              <a:t>x</a:t>
            </a:r>
            <a:r>
              <a:rPr lang="zh-CN" altLang="en-US" b="1" dirty="0"/>
              <a:t>在</a:t>
            </a:r>
            <a:r>
              <a:rPr lang="en-US" altLang="zh-CN" b="1" dirty="0"/>
              <a:t>x</a:t>
            </a:r>
            <a:r>
              <a:rPr lang="en-US" altLang="zh-CN" b="1" baseline="-25000" dirty="0"/>
              <a:t>0</a:t>
            </a:r>
            <a:r>
              <a:rPr lang="zh-CN" altLang="en-US" b="1" dirty="0"/>
              <a:t>附近</a:t>
            </a:r>
            <a:r>
              <a:rPr lang="en-US" altLang="zh-CN" b="1" dirty="0"/>
              <a:t>: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703512" y="3290170"/>
            <a:ext cx="2257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/>
              <a:t>当</a:t>
            </a:r>
            <a:r>
              <a:rPr lang="en-US" altLang="zh-CN" b="1" dirty="0"/>
              <a:t>x</a:t>
            </a:r>
            <a:r>
              <a:rPr lang="zh-CN" altLang="en-US" b="1" dirty="0"/>
              <a:t>在</a:t>
            </a:r>
            <a:r>
              <a:rPr lang="en-US" altLang="zh-CN" b="1" dirty="0" err="1"/>
              <a:t>x</a:t>
            </a:r>
            <a:r>
              <a:rPr lang="en-US" altLang="zh-CN" b="1" baseline="-25000" dirty="0" err="1"/>
              <a:t>n</a:t>
            </a:r>
            <a:r>
              <a:rPr lang="zh-CN" altLang="en-US" b="1" dirty="0"/>
              <a:t>附近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791744" y="1556792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先选用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附近的插值节点</a:t>
            </a:r>
            <a:r>
              <a:rPr lang="en-US" altLang="zh-CN" dirty="0"/>
              <a:t>----</a:t>
            </a:r>
            <a:r>
              <a:rPr lang="zh-CN" altLang="en-US" dirty="0"/>
              <a:t>牛顿向前插值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91744" y="3272162"/>
            <a:ext cx="5896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先选用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zh-CN" altLang="en-US" dirty="0"/>
              <a:t>附近的插值节点</a:t>
            </a:r>
            <a:r>
              <a:rPr lang="en-US" altLang="zh-CN" dirty="0"/>
              <a:t>----</a:t>
            </a:r>
            <a:r>
              <a:rPr lang="zh-CN" altLang="en-US" dirty="0"/>
              <a:t>牛顿向后插值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"/>
              <p:cNvSpPr txBox="1"/>
              <p:nvPr/>
            </p:nvSpPr>
            <p:spPr bwMode="auto">
              <a:xfrm>
                <a:off x="2135188" y="2205038"/>
                <a:ext cx="7129462" cy="10541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)⋯(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5188" y="2205038"/>
                <a:ext cx="7129462" cy="1054100"/>
              </a:xfrm>
              <a:prstGeom prst="rect">
                <a:avLst/>
              </a:prstGeom>
              <a:blipFill>
                <a:blip r:embed="rId2"/>
                <a:stretch>
                  <a:fillRect r="-85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703512" y="3933056"/>
                <a:ext cx="1101722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)+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)(x-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/>
                  <a:t>)+….</a:t>
                </a:r>
              </a:p>
              <a:p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)(x-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/>
                  <a:t>)…(x-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3933056"/>
                <a:ext cx="11017224" cy="830997"/>
              </a:xfrm>
              <a:prstGeom prst="rect">
                <a:avLst/>
              </a:prstGeom>
              <a:blipFill>
                <a:blip r:embed="rId3"/>
                <a:stretch>
                  <a:fillRect l="-830" t="-583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CA3871D3-C61A-4206-BEFC-0DE368DCF0CB}"/>
              </a:ext>
            </a:extLst>
          </p:cNvPr>
          <p:cNvSpPr txBox="1"/>
          <p:nvPr/>
        </p:nvSpPr>
        <p:spPr>
          <a:xfrm>
            <a:off x="1847528" y="4963282"/>
            <a:ext cx="2959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/>
              <a:t>当</a:t>
            </a:r>
            <a:r>
              <a:rPr lang="en-US" altLang="zh-CN" b="1" dirty="0"/>
              <a:t>x</a:t>
            </a:r>
            <a:r>
              <a:rPr lang="zh-CN" altLang="en-US" b="1" dirty="0"/>
              <a:t>在</a:t>
            </a:r>
            <a:r>
              <a:rPr lang="en-US" altLang="zh-CN" b="1" dirty="0"/>
              <a:t>[x</a:t>
            </a:r>
            <a:r>
              <a:rPr lang="en-US" altLang="zh-CN" b="1" baseline="-25000" dirty="0"/>
              <a:t>k</a:t>
            </a:r>
            <a:r>
              <a:rPr lang="en-US" altLang="zh-CN" b="1" dirty="0"/>
              <a:t>,x</a:t>
            </a:r>
            <a:r>
              <a:rPr lang="en-US" altLang="zh-CN" b="1" baseline="-25000" dirty="0"/>
              <a:t>k+1</a:t>
            </a:r>
            <a:r>
              <a:rPr lang="en-US" altLang="zh-CN" b="1" dirty="0"/>
              <a:t>]</a:t>
            </a:r>
            <a:r>
              <a:rPr lang="zh-CN" altLang="en-US" b="1" dirty="0"/>
              <a:t>中间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1EA259-8899-47B2-892E-AE65900B901A}"/>
              </a:ext>
            </a:extLst>
          </p:cNvPr>
          <p:cNvSpPr txBox="1"/>
          <p:nvPr/>
        </p:nvSpPr>
        <p:spPr>
          <a:xfrm>
            <a:off x="1770545" y="5489848"/>
            <a:ext cx="8315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先选</a:t>
            </a:r>
            <a:r>
              <a:rPr lang="en-US" altLang="zh-CN" dirty="0"/>
              <a:t>[x</a:t>
            </a:r>
            <a:r>
              <a:rPr lang="en-US" altLang="zh-CN" baseline="-25000" dirty="0"/>
              <a:t>k</a:t>
            </a:r>
            <a:r>
              <a:rPr lang="en-US" altLang="zh-CN" dirty="0"/>
              <a:t>,x</a:t>
            </a:r>
            <a:r>
              <a:rPr lang="en-US" altLang="zh-CN" baseline="-25000" dirty="0"/>
              <a:t>k+1</a:t>
            </a:r>
            <a:r>
              <a:rPr lang="en-US" altLang="zh-CN" dirty="0"/>
              <a:t>]</a:t>
            </a:r>
            <a:r>
              <a:rPr lang="zh-CN" altLang="en-US" dirty="0"/>
              <a:t>两个节点，再看哪个插值节点离</a:t>
            </a:r>
            <a:r>
              <a:rPr lang="en-US" altLang="zh-CN" dirty="0"/>
              <a:t>x</a:t>
            </a:r>
            <a:r>
              <a:rPr lang="zh-CN" altLang="en-US" dirty="0"/>
              <a:t>最近，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CD9AA6-46C8-4642-97FD-34C895DD06D0}"/>
              </a:ext>
            </a:extLst>
          </p:cNvPr>
          <p:cNvSpPr txBox="1"/>
          <p:nvPr/>
        </p:nvSpPr>
        <p:spPr>
          <a:xfrm>
            <a:off x="1703512" y="6215643"/>
            <a:ext cx="822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/>
              <a:t>当插值节点分布不均匀时，多项式系数容易有</a:t>
            </a:r>
            <a:r>
              <a:rPr lang="zh-CN" altLang="en-US" b="1" dirty="0">
                <a:solidFill>
                  <a:srgbClr val="FF0000"/>
                </a:solidFill>
              </a:rPr>
              <a:t>不稳定</a:t>
            </a:r>
            <a:r>
              <a:rPr lang="zh-CN" altLang="en-US" b="1" dirty="0"/>
              <a:t>性。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A90BE9-2076-4B84-8F3B-2BE04B205B8C}"/>
              </a:ext>
            </a:extLst>
          </p:cNvPr>
          <p:cNvSpPr/>
          <p:nvPr/>
        </p:nvSpPr>
        <p:spPr>
          <a:xfrm>
            <a:off x="9828397" y="6215643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quote-cjk-patch"/>
              </a:rPr>
              <a:t>分段低次插值</a:t>
            </a:r>
            <a:endParaRPr lang="zh-CN" altLang="en-US" b="1" dirty="0">
              <a:solidFill>
                <a:srgbClr val="7030A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29019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9" grpId="0"/>
      <p:bldP spid="11" grpId="0"/>
      <p:bldP spid="12" grpId="0"/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952625" y="785813"/>
            <a:ext cx="7858125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      埃特金(</a:t>
            </a:r>
            <a:r>
              <a:rPr lang="en-US" altLang="zh-CN" sz="2400"/>
              <a:t>Aitken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zh-CN" altLang="en-US" sz="2400">
                <a:latin typeface="宋体" panose="02010600030101010101" pitchFamily="2" charset="-122"/>
              </a:rPr>
              <a:t>插值公式的构造是基于这样的</a:t>
            </a:r>
            <a:r>
              <a:rPr lang="zh-CN" altLang="en-US" sz="2400">
                <a:solidFill>
                  <a:srgbClr val="CC0000"/>
                </a:solidFill>
                <a:latin typeface="宋体" panose="02010600030101010101" pitchFamily="2" charset="-122"/>
              </a:rPr>
              <a:t>直观想象</a:t>
            </a:r>
            <a:r>
              <a:rPr lang="zh-CN" altLang="en-US" sz="2400">
                <a:latin typeface="宋体" panose="02010600030101010101" pitchFamily="2" charset="-122"/>
              </a:rPr>
              <a:t>：平面上的两个点可以连成一条直线, 对应一个线性函数；把线性函数看作形式点, 经线性组合, 可构成二次函数；把二次函数再看作形式点</a:t>
            </a:r>
            <a:r>
              <a:rPr lang="zh-CN" altLang="en-US" sz="2400">
                <a:cs typeface="Times New Roman" panose="02020603050405020304" pitchFamily="18" charset="0"/>
              </a:rPr>
              <a:t>, </a:t>
            </a:r>
            <a:r>
              <a:rPr lang="zh-CN" altLang="en-US" sz="2400">
                <a:latin typeface="宋体" panose="02010600030101010101" pitchFamily="2" charset="-122"/>
              </a:rPr>
              <a:t>经线性组合</a:t>
            </a:r>
            <a:r>
              <a:rPr lang="zh-CN" altLang="en-US" sz="2400">
                <a:cs typeface="Times New Roman" panose="02020603050405020304" pitchFamily="18" charset="0"/>
              </a:rPr>
              <a:t>, </a:t>
            </a:r>
            <a:r>
              <a:rPr lang="zh-CN" altLang="en-US" sz="2400">
                <a:latin typeface="宋体" panose="02010600030101010101" pitchFamily="2" charset="-122"/>
              </a:rPr>
              <a:t>可构成三次函数</a:t>
            </a:r>
            <a:r>
              <a:rPr lang="en-US" altLang="zh-CN" sz="2400">
                <a:latin typeface="宋体" panose="02010600030101010101" pitchFamily="2" charset="-122"/>
              </a:rPr>
              <a:t>,</a:t>
            </a:r>
            <a:r>
              <a:rPr lang="zh-CN" altLang="en-US" sz="2400">
                <a:latin typeface="宋体" panose="02010600030101010101" pitchFamily="2" charset="-122"/>
              </a:rPr>
              <a:t>以此类推。</a:t>
            </a:r>
            <a:r>
              <a:rPr lang="zh-CN" altLang="en-US" sz="2400"/>
              <a:t> </a:t>
            </a:r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2095500" y="285750"/>
            <a:ext cx="3608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§4.3 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埃特金插值公式</a:t>
            </a:r>
            <a:endParaRPr lang="zh-CN" altLang="en-US" sz="2800" b="1">
              <a:solidFill>
                <a:schemeClr val="tx2"/>
              </a:solidFill>
            </a:endParaRPr>
          </a:p>
        </p:txBody>
      </p:sp>
      <p:sp>
        <p:nvSpPr>
          <p:cNvPr id="46084" name="Text Box 316"/>
          <p:cNvSpPr txBox="1">
            <a:spLocks noChangeArrowheads="1"/>
          </p:cNvSpPr>
          <p:nvPr/>
        </p:nvSpPr>
        <p:spPr bwMode="auto">
          <a:xfrm>
            <a:off x="4810125" y="3538538"/>
            <a:ext cx="207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CC0000"/>
                </a:solidFill>
              </a:rPr>
              <a:t>Aitken </a:t>
            </a:r>
            <a:r>
              <a:rPr lang="zh-CN" altLang="en-US" sz="2400" b="1">
                <a:solidFill>
                  <a:srgbClr val="CC0000"/>
                </a:solidFill>
              </a:rPr>
              <a:t>插值表</a:t>
            </a:r>
          </a:p>
        </p:txBody>
      </p:sp>
      <p:graphicFrame>
        <p:nvGraphicFramePr>
          <p:cNvPr id="16" name="Group 149">
            <a:extLst>
              <a:ext uri="{FF2B5EF4-FFF2-40B4-BE49-F238E27FC236}">
                <a16:creationId xmlns:a16="http://schemas.microsoft.com/office/drawing/2014/main" id="{6415DCEC-8A6F-492C-BF24-B4C114183491}"/>
              </a:ext>
            </a:extLst>
          </p:cNvPr>
          <p:cNvGraphicFramePr>
            <a:graphicFrameLocks noGrp="1"/>
          </p:cNvGraphicFramePr>
          <p:nvPr/>
        </p:nvGraphicFramePr>
        <p:xfrm>
          <a:off x="2166938" y="4057650"/>
          <a:ext cx="8072437" cy="2587626"/>
        </p:xfrm>
        <a:graphic>
          <a:graphicData uri="http://schemas.openxmlformats.org/drawingml/2006/table">
            <a:tbl>
              <a:tblPr/>
              <a:tblGrid>
                <a:gridCol w="1287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8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2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,1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,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,3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,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0 ,1,2,3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4439816" y="4869160"/>
            <a:ext cx="576064" cy="576064"/>
            <a:chOff x="4439816" y="4869160"/>
            <a:chExt cx="576064" cy="576064"/>
          </a:xfrm>
        </p:grpSpPr>
        <p:cxnSp>
          <p:nvCxnSpPr>
            <p:cNvPr id="3" name="直接箭头连接符 2"/>
            <p:cNvCxnSpPr/>
            <p:nvPr/>
          </p:nvCxnSpPr>
          <p:spPr bwMode="auto">
            <a:xfrm>
              <a:off x="4439816" y="4869160"/>
              <a:ext cx="576064" cy="504056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 bwMode="auto">
            <a:xfrm>
              <a:off x="4439816" y="5445224"/>
              <a:ext cx="576064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4439816" y="4941168"/>
            <a:ext cx="720080" cy="1008112"/>
            <a:chOff x="4439816" y="4941168"/>
            <a:chExt cx="720080" cy="1008112"/>
          </a:xfrm>
        </p:grpSpPr>
        <p:cxnSp>
          <p:nvCxnSpPr>
            <p:cNvPr id="7" name="直接箭头连接符 6"/>
            <p:cNvCxnSpPr/>
            <p:nvPr/>
          </p:nvCxnSpPr>
          <p:spPr bwMode="auto">
            <a:xfrm>
              <a:off x="4439816" y="4941168"/>
              <a:ext cx="720080" cy="1008112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 bwMode="auto">
            <a:xfrm>
              <a:off x="4439816" y="5949280"/>
              <a:ext cx="648072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4439816" y="4941168"/>
            <a:ext cx="576064" cy="1512168"/>
            <a:chOff x="4439816" y="4941168"/>
            <a:chExt cx="576064" cy="1512168"/>
          </a:xfrm>
        </p:grpSpPr>
        <p:cxnSp>
          <p:nvCxnSpPr>
            <p:cNvPr id="11" name="直接箭头连接符 10"/>
            <p:cNvCxnSpPr/>
            <p:nvPr/>
          </p:nvCxnSpPr>
          <p:spPr bwMode="auto">
            <a:xfrm>
              <a:off x="4439816" y="4941168"/>
              <a:ext cx="576064" cy="15121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直接箭头连接符 13"/>
            <p:cNvCxnSpPr/>
            <p:nvPr/>
          </p:nvCxnSpPr>
          <p:spPr bwMode="auto">
            <a:xfrm>
              <a:off x="4439816" y="6453336"/>
              <a:ext cx="576064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5951984" y="5445224"/>
            <a:ext cx="864096" cy="504056"/>
            <a:chOff x="5951984" y="5445224"/>
            <a:chExt cx="864096" cy="504056"/>
          </a:xfrm>
        </p:grpSpPr>
        <p:cxnSp>
          <p:nvCxnSpPr>
            <p:cNvPr id="17" name="直接箭头连接符 16"/>
            <p:cNvCxnSpPr/>
            <p:nvPr/>
          </p:nvCxnSpPr>
          <p:spPr bwMode="auto">
            <a:xfrm>
              <a:off x="5951984" y="5445224"/>
              <a:ext cx="864096" cy="504056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 bwMode="auto">
            <a:xfrm>
              <a:off x="5951984" y="5949280"/>
              <a:ext cx="792088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5951984" y="5445224"/>
            <a:ext cx="864096" cy="1008112"/>
            <a:chOff x="5951984" y="5445224"/>
            <a:chExt cx="864096" cy="1008112"/>
          </a:xfrm>
        </p:grpSpPr>
        <p:cxnSp>
          <p:nvCxnSpPr>
            <p:cNvPr id="21" name="直接箭头连接符 20"/>
            <p:cNvCxnSpPr/>
            <p:nvPr/>
          </p:nvCxnSpPr>
          <p:spPr bwMode="auto">
            <a:xfrm>
              <a:off x="5951984" y="5445224"/>
              <a:ext cx="864096" cy="936104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 bwMode="auto">
            <a:xfrm>
              <a:off x="5951984" y="6453336"/>
              <a:ext cx="792088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组合 5"/>
          <p:cNvGrpSpPr>
            <a:grpSpLocks/>
          </p:cNvGrpSpPr>
          <p:nvPr/>
        </p:nvGrpSpPr>
        <p:grpSpPr bwMode="auto">
          <a:xfrm>
            <a:off x="2057400" y="357188"/>
            <a:ext cx="7896225" cy="6215062"/>
            <a:chOff x="533400" y="357188"/>
            <a:chExt cx="7896225" cy="6215062"/>
          </a:xfrm>
        </p:grpSpPr>
        <p:sp>
          <p:nvSpPr>
            <p:cNvPr id="30723" name="Rectangle 3"/>
            <p:cNvSpPr txBox="1">
              <a:spLocks noChangeArrowheads="1"/>
            </p:cNvSpPr>
            <p:nvPr/>
          </p:nvSpPr>
          <p:spPr bwMode="auto">
            <a:xfrm>
              <a:off x="533400" y="357188"/>
              <a:ext cx="7896225" cy="6215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cs typeface="Times New Roman" panose="02020603050405020304" pitchFamily="18" charset="0"/>
                </a:rPr>
                <a:t>Aitken</a:t>
              </a:r>
              <a:r>
                <a:rPr lang="zh-CN" altLang="en-US" sz="2400">
                  <a:solidFill>
                    <a:srgbClr val="CC0000"/>
                  </a:solidFill>
                </a:rPr>
                <a:t>插值算法如下：</a:t>
              </a:r>
            </a:p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2400">
                  <a:cs typeface="Times New Roman" panose="02020603050405020304" pitchFamily="18" charset="0"/>
                </a:rPr>
                <a:t>Input</a:t>
              </a:r>
              <a:r>
                <a:rPr lang="en-US" altLang="zh-CN" sz="2400"/>
                <a:t> </a:t>
              </a:r>
              <a:r>
                <a:rPr lang="en-US" altLang="zh-CN" sz="2400" i="1">
                  <a:cs typeface="Times New Roman" panose="02020603050405020304" pitchFamily="18" charset="0"/>
                </a:rPr>
                <a:t>x</a:t>
              </a:r>
              <a:r>
                <a:rPr lang="en-US" altLang="zh-CN" sz="2400">
                  <a:cs typeface="Times New Roman" panose="02020603050405020304" pitchFamily="18" charset="0"/>
                </a:rPr>
                <a:t>,(</a:t>
              </a:r>
              <a:r>
                <a:rPr lang="en-US" altLang="zh-CN" sz="2400" i="1">
                  <a:cs typeface="Times New Roman" panose="02020603050405020304" pitchFamily="18" charset="0"/>
                </a:rPr>
                <a:t>x</a:t>
              </a:r>
              <a:r>
                <a:rPr lang="en-US" altLang="zh-CN" sz="2400" i="1" baseline="-25000">
                  <a:cs typeface="Times New Roman" panose="02020603050405020304" pitchFamily="18" charset="0"/>
                </a:rPr>
                <a:t>i</a:t>
              </a:r>
              <a:r>
                <a:rPr lang="en-US" altLang="zh-CN" sz="2400">
                  <a:cs typeface="Times New Roman" panose="02020603050405020304" pitchFamily="18" charset="0"/>
                </a:rPr>
                <a:t>,</a:t>
              </a:r>
              <a:r>
                <a:rPr lang="en-US" altLang="zh-CN" sz="2400" i="1">
                  <a:cs typeface="Times New Roman" panose="02020603050405020304" pitchFamily="18" charset="0"/>
                </a:rPr>
                <a:t>y</a:t>
              </a:r>
              <a:r>
                <a:rPr lang="en-US" altLang="zh-CN" sz="2400" i="1" baseline="-25000">
                  <a:cs typeface="Times New Roman" panose="02020603050405020304" pitchFamily="18" charset="0"/>
                </a:rPr>
                <a:t>i</a:t>
              </a:r>
              <a:r>
                <a:rPr lang="en-US" altLang="zh-CN" sz="2400">
                  <a:cs typeface="Times New Roman" panose="02020603050405020304" pitchFamily="18" charset="0"/>
                </a:rPr>
                <a:t>), </a:t>
              </a:r>
              <a:r>
                <a:rPr lang="en-US" altLang="zh-CN" sz="2400" i="1">
                  <a:cs typeface="Times New Roman" panose="02020603050405020304" pitchFamily="18" charset="0"/>
                </a:rPr>
                <a:t>i</a:t>
              </a:r>
              <a:r>
                <a:rPr lang="en-US" altLang="zh-CN" sz="2400">
                  <a:cs typeface="Times New Roman" panose="02020603050405020304" pitchFamily="18" charset="0"/>
                </a:rPr>
                <a:t>=0,1,</a:t>
              </a:r>
              <a:r>
                <a:rPr lang="en-US" altLang="zh-CN" sz="2400"/>
                <a:t>…</a:t>
              </a:r>
              <a:r>
                <a:rPr lang="en-US" altLang="zh-CN" sz="2400">
                  <a:cs typeface="Times New Roman" panose="02020603050405020304" pitchFamily="18" charset="0"/>
                </a:rPr>
                <a:t>,</a:t>
              </a:r>
              <a:r>
                <a:rPr lang="en-US" altLang="zh-CN" sz="2400" i="1">
                  <a:cs typeface="Times New Roman" panose="02020603050405020304" pitchFamily="18" charset="0"/>
                </a:rPr>
                <a:t>n</a:t>
              </a:r>
              <a:endParaRPr lang="en-US" altLang="zh-CN" sz="2400"/>
            </a:p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2400">
                  <a:cs typeface="Times New Roman" panose="02020603050405020304" pitchFamily="18" charset="0"/>
                </a:rPr>
                <a:t>    	1</a:t>
              </a:r>
              <a:r>
                <a:rPr lang="en-US" altLang="zh-CN" sz="2400"/>
                <a:t>        </a:t>
              </a:r>
              <a:r>
                <a:rPr lang="en-US" altLang="zh-CN" sz="2400" i="1">
                  <a:cs typeface="Times New Roman" panose="02020603050405020304" pitchFamily="18" charset="0"/>
                </a:rPr>
                <a:t>k</a:t>
              </a:r>
              <a:endParaRPr lang="en-US" altLang="zh-CN" sz="2400"/>
            </a:p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2400" i="1">
                  <a:cs typeface="Times New Roman" panose="02020603050405020304" pitchFamily="18" charset="0"/>
                </a:rPr>
                <a:t>L</a:t>
              </a:r>
              <a:r>
                <a:rPr lang="en-US" altLang="zh-CN" sz="2400"/>
                <a:t>：</a:t>
              </a:r>
            </a:p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2400"/>
                <a:t>	</a:t>
              </a:r>
              <a:r>
                <a:rPr lang="en-US" altLang="zh-CN" sz="2400">
                  <a:cs typeface="Times New Roman" panose="02020603050405020304" pitchFamily="18" charset="0"/>
                </a:rPr>
                <a:t>for</a:t>
              </a:r>
              <a:r>
                <a:rPr lang="en-US" altLang="zh-CN" sz="2400"/>
                <a:t>   </a:t>
              </a:r>
              <a:r>
                <a:rPr lang="en-US" altLang="zh-CN" sz="2400" i="1">
                  <a:cs typeface="Times New Roman" panose="02020603050405020304" pitchFamily="18" charset="0"/>
                </a:rPr>
                <a:t>i</a:t>
              </a:r>
              <a:r>
                <a:rPr lang="en-US" altLang="zh-CN" sz="2400">
                  <a:cs typeface="Times New Roman" panose="02020603050405020304" pitchFamily="18" charset="0"/>
                </a:rPr>
                <a:t>=</a:t>
              </a:r>
              <a:r>
                <a:rPr lang="en-US" altLang="zh-CN" sz="2400" i="1">
                  <a:cs typeface="Times New Roman" panose="02020603050405020304" pitchFamily="18" charset="0"/>
                </a:rPr>
                <a:t>k</a:t>
              </a:r>
              <a:r>
                <a:rPr lang="en-US" altLang="zh-CN" sz="2400">
                  <a:cs typeface="Times New Roman" panose="02020603050405020304" pitchFamily="18" charset="0"/>
                </a:rPr>
                <a:t>, </a:t>
              </a:r>
              <a:r>
                <a:rPr lang="en-US" altLang="zh-CN" sz="2400" i="1">
                  <a:cs typeface="Times New Roman" panose="02020603050405020304" pitchFamily="18" charset="0"/>
                </a:rPr>
                <a:t>k</a:t>
              </a:r>
              <a:r>
                <a:rPr lang="en-US" altLang="zh-CN" sz="2400">
                  <a:cs typeface="Times New Roman" panose="02020603050405020304" pitchFamily="18" charset="0"/>
                </a:rPr>
                <a:t>+1,</a:t>
              </a:r>
              <a:r>
                <a:rPr lang="en-US" altLang="zh-CN" sz="2400"/>
                <a:t>…</a:t>
              </a:r>
              <a:r>
                <a:rPr lang="en-US" altLang="zh-CN" sz="2400">
                  <a:cs typeface="Times New Roman" panose="02020603050405020304" pitchFamily="18" charset="0"/>
                </a:rPr>
                <a:t>,</a:t>
              </a:r>
              <a:r>
                <a:rPr lang="en-US" altLang="zh-CN" sz="2400" i="1">
                  <a:cs typeface="Times New Roman" panose="02020603050405020304" pitchFamily="18" charset="0"/>
                </a:rPr>
                <a:t>n</a:t>
              </a:r>
              <a:r>
                <a:rPr lang="en-US" altLang="zh-CN" sz="2400">
                  <a:cs typeface="Times New Roman" panose="02020603050405020304" pitchFamily="18" charset="0"/>
                </a:rPr>
                <a:t>  </a:t>
              </a:r>
              <a:r>
                <a:rPr lang="en-US" altLang="zh-CN" sz="2400" i="1">
                  <a:cs typeface="Times New Roman" panose="02020603050405020304" pitchFamily="18" charset="0"/>
                </a:rPr>
                <a:t>do</a:t>
              </a:r>
            </a:p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endParaRPr lang="en-US" altLang="zh-CN" sz="2400" i="1"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endParaRPr lang="en-US" altLang="zh-CN" sz="2400" i="1"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endParaRPr lang="en-US" altLang="zh-CN" sz="2400" i="1"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2400" i="1">
                  <a:cs typeface="Times New Roman" panose="02020603050405020304" pitchFamily="18" charset="0"/>
                </a:rPr>
                <a:t>end</a:t>
              </a:r>
              <a:endParaRPr lang="en-US" altLang="zh-CN" sz="2400" i="1"/>
            </a:p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2400" i="1">
                  <a:cs typeface="Times New Roman" panose="02020603050405020304" pitchFamily="18" charset="0"/>
                </a:rPr>
                <a:t>If</a:t>
              </a:r>
              <a:r>
                <a:rPr lang="en-US" altLang="zh-CN" sz="2400" i="1"/>
                <a:t>  </a:t>
              </a:r>
              <a:r>
                <a:rPr lang="en-US" altLang="zh-CN" sz="2400" i="1">
                  <a:cs typeface="Times New Roman" panose="02020603050405020304" pitchFamily="18" charset="0"/>
                </a:rPr>
                <a:t>k</a:t>
              </a:r>
              <a:r>
                <a:rPr lang="en-US" altLang="zh-CN" sz="2400" i="1"/>
                <a:t>≠</a:t>
              </a:r>
              <a:r>
                <a:rPr lang="en-US" altLang="zh-CN" sz="2400" i="1">
                  <a:cs typeface="Times New Roman" panose="02020603050405020304" pitchFamily="18" charset="0"/>
                </a:rPr>
                <a:t>n</a:t>
              </a:r>
              <a:r>
                <a:rPr lang="en-US" altLang="zh-CN" sz="2400" i="1"/>
                <a:t> </a:t>
              </a:r>
              <a:r>
                <a:rPr lang="en-US" altLang="zh-CN" sz="2400" i="1">
                  <a:cs typeface="Times New Roman" panose="02020603050405020304" pitchFamily="18" charset="0"/>
                </a:rPr>
                <a:t>then</a:t>
              </a:r>
              <a:r>
                <a:rPr lang="en-US" altLang="zh-CN" sz="2400" i="1"/>
                <a:t> </a:t>
              </a:r>
              <a:r>
                <a:rPr lang="en-US" altLang="zh-CN" sz="2400" i="1">
                  <a:cs typeface="Times New Roman" panose="02020603050405020304" pitchFamily="18" charset="0"/>
                </a:rPr>
                <a:t> k+</a:t>
              </a:r>
              <a:r>
                <a:rPr lang="en-US" altLang="zh-CN" sz="2400">
                  <a:cs typeface="Times New Roman" panose="02020603050405020304" pitchFamily="18" charset="0"/>
                </a:rPr>
                <a:t>1</a:t>
              </a:r>
              <a:r>
                <a:rPr lang="en-US" altLang="zh-CN" sz="2400" i="1"/>
                <a:t>       </a:t>
              </a:r>
              <a:r>
                <a:rPr lang="en-US" altLang="zh-CN" sz="2400" i="1">
                  <a:cs typeface="Times New Roman" panose="02020603050405020304" pitchFamily="18" charset="0"/>
                </a:rPr>
                <a:t>k,  go to L</a:t>
              </a:r>
              <a:endParaRPr lang="en-US" altLang="zh-CN" sz="2400" i="1"/>
            </a:p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2400" i="1"/>
                <a:t>If  k=n, output  y</a:t>
              </a:r>
              <a:r>
                <a:rPr lang="en-US" altLang="zh-CN" sz="2400" i="1" baseline="-30000"/>
                <a:t>n</a:t>
              </a:r>
              <a:endParaRPr lang="zh-CN" altLang="en-US" sz="2400"/>
            </a:p>
          </p:txBody>
        </p:sp>
        <p:graphicFrame>
          <p:nvGraphicFramePr>
            <p:cNvPr id="30724" name="Object 16"/>
            <p:cNvGraphicFramePr>
              <a:graphicFrameLocks noChangeAspect="1"/>
            </p:cNvGraphicFramePr>
            <p:nvPr/>
          </p:nvGraphicFramePr>
          <p:xfrm>
            <a:off x="1285875" y="3500438"/>
            <a:ext cx="4929188" cy="1079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0" name="Equation" r:id="rId3" imgW="31813500" imgH="7458075" progId="Equation.3">
                    <p:embed/>
                  </p:oleObj>
                </mc:Choice>
                <mc:Fallback>
                  <p:oleObj name="Equation" r:id="rId3" imgW="31813500" imgH="745807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5875" y="3500438"/>
                          <a:ext cx="4929188" cy="1079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5" name="Object 17"/>
            <p:cNvGraphicFramePr>
              <a:graphicFrameLocks noChangeAspect="1"/>
            </p:cNvGraphicFramePr>
            <p:nvPr/>
          </p:nvGraphicFramePr>
          <p:xfrm>
            <a:off x="1785938" y="1643063"/>
            <a:ext cx="457200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1" r:id="rId5" imgW="3295650" imgH="2628900" progId="Equation.3">
                    <p:embed/>
                  </p:oleObj>
                </mc:Choice>
                <mc:Fallback>
                  <p:oleObj r:id="rId5" imgW="3295650" imgH="26289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5938" y="1643063"/>
                          <a:ext cx="457200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6" name="Object 18"/>
            <p:cNvGraphicFramePr>
              <a:graphicFrameLocks noChangeAspect="1"/>
            </p:cNvGraphicFramePr>
            <p:nvPr/>
          </p:nvGraphicFramePr>
          <p:xfrm>
            <a:off x="2971800" y="5500688"/>
            <a:ext cx="457200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2" r:id="rId7" imgW="3295650" imgH="2628900" progId="Equation.3">
                    <p:embed/>
                  </p:oleObj>
                </mc:Choice>
                <mc:Fallback>
                  <p:oleObj r:id="rId7" imgW="3295650" imgH="26289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800" y="5500688"/>
                          <a:ext cx="457200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1CB7D6A1-4796-4854-9B0C-941A4DC68E31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3" y="1125538"/>
            <a:ext cx="4391025" cy="790575"/>
          </a:xfrm>
          <a:prstGeom prst="rect">
            <a:avLst/>
          </a:prstGeom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b="1" dirty="0">
                <a:latin typeface="宋体" pitchFamily="2" charset="-122"/>
              </a:rPr>
              <a:t>解：</a:t>
            </a:r>
            <a:r>
              <a:rPr lang="zh-CN" altLang="en-US" kern="0" dirty="0"/>
              <a:t>设</a:t>
            </a:r>
            <a:r>
              <a:rPr lang="en-US" altLang="zh-CN" sz="2800" i="1" kern="0" dirty="0">
                <a:cs typeface="Times New Roman" pitchFamily="18" charset="0"/>
              </a:rPr>
              <a:t>x</a:t>
            </a:r>
            <a:r>
              <a:rPr lang="en-US" altLang="zh-CN" sz="2800" kern="0" baseline="-30000" dirty="0">
                <a:cs typeface="Times New Roman" pitchFamily="18" charset="0"/>
              </a:rPr>
              <a:t>0</a:t>
            </a:r>
            <a:r>
              <a:rPr lang="en-US" altLang="zh-CN" sz="2800" kern="0" dirty="0">
                <a:cs typeface="Times New Roman" pitchFamily="18" charset="0"/>
              </a:rPr>
              <a:t>=-1, </a:t>
            </a:r>
            <a:r>
              <a:rPr lang="en-US" altLang="zh-CN" sz="2800" i="1" kern="0" dirty="0">
                <a:cs typeface="Times New Roman" pitchFamily="18" charset="0"/>
              </a:rPr>
              <a:t>x</a:t>
            </a:r>
            <a:r>
              <a:rPr lang="en-US" altLang="zh-CN" sz="2800" kern="0" baseline="-30000" dirty="0">
                <a:cs typeface="Times New Roman" pitchFamily="18" charset="0"/>
              </a:rPr>
              <a:t>1</a:t>
            </a:r>
            <a:r>
              <a:rPr lang="en-US" altLang="zh-CN" sz="2800" kern="0" dirty="0">
                <a:cs typeface="Times New Roman" pitchFamily="18" charset="0"/>
              </a:rPr>
              <a:t>=1, </a:t>
            </a:r>
            <a:r>
              <a:rPr lang="en-US" altLang="zh-CN" sz="2800" i="1" kern="0" dirty="0">
                <a:cs typeface="Times New Roman" pitchFamily="18" charset="0"/>
              </a:rPr>
              <a:t>x</a:t>
            </a:r>
            <a:r>
              <a:rPr lang="en-US" altLang="zh-CN" sz="2800" kern="0" baseline="-30000" dirty="0">
                <a:cs typeface="Times New Roman" pitchFamily="18" charset="0"/>
              </a:rPr>
              <a:t>2</a:t>
            </a:r>
            <a:r>
              <a:rPr lang="en-US" altLang="zh-CN" sz="2800" kern="0" dirty="0">
                <a:cs typeface="Times New Roman" pitchFamily="18" charset="0"/>
              </a:rPr>
              <a:t>=2, </a:t>
            </a:r>
            <a:r>
              <a:rPr lang="zh-CN" altLang="en-US" kern="0" dirty="0"/>
              <a:t>则 </a:t>
            </a:r>
            <a:endParaRPr lang="zh-CN" altLang="en-US" b="1" kern="0" dirty="0">
              <a:solidFill>
                <a:schemeClr val="accent2"/>
              </a:solidFill>
              <a:latin typeface="+mn-lt"/>
            </a:endParaRPr>
          </a:p>
        </p:txBody>
      </p:sp>
      <p:graphicFrame>
        <p:nvGraphicFramePr>
          <p:cNvPr id="1638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208854"/>
              </p:ext>
            </p:extLst>
          </p:nvPr>
        </p:nvGraphicFramePr>
        <p:xfrm>
          <a:off x="2660650" y="2121662"/>
          <a:ext cx="53419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9" name="Equation" r:id="rId3" imgW="39281100" imgH="7458075" progId="Equation.DSMT4">
                  <p:embed/>
                </p:oleObj>
              </mc:Choice>
              <mc:Fallback>
                <p:oleObj name="Equation" r:id="rId3" imgW="39281100" imgH="745807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2121662"/>
                        <a:ext cx="534193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847850" y="404813"/>
            <a:ext cx="8640763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［例］已知</a:t>
            </a:r>
            <a:r>
              <a:rPr lang="en-US" altLang="zh-CN" sz="2400" b="1" i="1" dirty="0">
                <a:solidFill>
                  <a:schemeClr val="accent2"/>
                </a:solidFill>
              </a:rPr>
              <a:t>f</a:t>
            </a:r>
            <a:r>
              <a:rPr lang="en-US" altLang="zh-CN" sz="2400" b="1" dirty="0">
                <a:solidFill>
                  <a:schemeClr val="accent2"/>
                </a:solidFill>
              </a:rPr>
              <a:t>(-1)=2, </a:t>
            </a:r>
            <a:r>
              <a:rPr lang="en-US" altLang="zh-CN" sz="2400" b="1" i="1" dirty="0">
                <a:solidFill>
                  <a:schemeClr val="accent2"/>
                </a:solidFill>
              </a:rPr>
              <a:t>f</a:t>
            </a:r>
            <a:r>
              <a:rPr lang="en-US" altLang="zh-CN" sz="2400" b="1" dirty="0">
                <a:solidFill>
                  <a:schemeClr val="accent2"/>
                </a:solidFill>
              </a:rPr>
              <a:t>(1)=1, </a:t>
            </a:r>
            <a:r>
              <a:rPr lang="en-US" altLang="zh-CN" sz="2400" b="1" i="1" dirty="0">
                <a:solidFill>
                  <a:schemeClr val="accent2"/>
                </a:solidFill>
              </a:rPr>
              <a:t>f</a:t>
            </a:r>
            <a:r>
              <a:rPr lang="en-US" altLang="zh-CN" sz="2400" b="1" dirty="0">
                <a:solidFill>
                  <a:schemeClr val="accent2"/>
                </a:solidFill>
              </a:rPr>
              <a:t>(2)=1, </a:t>
            </a:r>
            <a:r>
              <a:rPr lang="zh-CN" altLang="en-US" sz="2400" b="1" dirty="0">
                <a:solidFill>
                  <a:schemeClr val="accent2"/>
                </a:solidFill>
              </a:rPr>
              <a:t>求</a:t>
            </a:r>
            <a:r>
              <a:rPr lang="en-US" altLang="zh-CN" sz="2400" b="1" i="1" dirty="0">
                <a:solidFill>
                  <a:schemeClr val="accent2"/>
                </a:solidFill>
              </a:rPr>
              <a:t>f</a:t>
            </a:r>
            <a:r>
              <a:rPr lang="en-US" altLang="zh-CN" sz="2400" b="1" dirty="0">
                <a:solidFill>
                  <a:schemeClr val="accent2"/>
                </a:solidFill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</a:rPr>
              <a:t>x</a:t>
            </a:r>
            <a:r>
              <a:rPr lang="en-US" altLang="zh-CN" sz="2400" b="1" dirty="0">
                <a:solidFill>
                  <a:schemeClr val="accent2"/>
                </a:solidFill>
              </a:rPr>
              <a:t>)</a:t>
            </a:r>
            <a:r>
              <a:rPr lang="zh-CN" altLang="en-US" sz="2400" b="1" dirty="0">
                <a:solidFill>
                  <a:schemeClr val="accent2"/>
                </a:solidFill>
              </a:rPr>
              <a:t>的</a:t>
            </a:r>
            <a:r>
              <a:rPr lang="en-US" altLang="zh-CN" sz="2400" b="1" dirty="0">
                <a:solidFill>
                  <a:schemeClr val="accent2"/>
                </a:solidFill>
              </a:rPr>
              <a:t>Aitken</a:t>
            </a:r>
            <a:r>
              <a:rPr lang="zh-CN" altLang="en-US" sz="2400" b="1" dirty="0">
                <a:solidFill>
                  <a:schemeClr val="accent2"/>
                </a:solidFill>
              </a:rPr>
              <a:t>插值多项式。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529114"/>
              </p:ext>
            </p:extLst>
          </p:nvPr>
        </p:nvGraphicFramePr>
        <p:xfrm>
          <a:off x="3753643" y="3013837"/>
          <a:ext cx="315595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0" name="Equation" r:id="rId5" imgW="22602825" imgH="7239000" progId="Equation.DSMT4">
                  <p:embed/>
                </p:oleObj>
              </mc:Choice>
              <mc:Fallback>
                <p:oleObj name="Equation" r:id="rId5" imgW="22602825" imgH="7239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643" y="3013837"/>
                        <a:ext cx="315595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403301"/>
              </p:ext>
            </p:extLst>
          </p:nvPr>
        </p:nvGraphicFramePr>
        <p:xfrm>
          <a:off x="3753643" y="3861048"/>
          <a:ext cx="14414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1" name="Equation" r:id="rId7" imgW="10534650" imgH="6800850" progId="Equation.DSMT4">
                  <p:embed/>
                </p:oleObj>
              </mc:Choice>
              <mc:Fallback>
                <p:oleObj name="Equation" r:id="rId7" imgW="10534650" imgH="680085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643" y="3861048"/>
                        <a:ext cx="14414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997010"/>
              </p:ext>
            </p:extLst>
          </p:nvPr>
        </p:nvGraphicFramePr>
        <p:xfrm>
          <a:off x="2595562" y="4678875"/>
          <a:ext cx="54721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2" name="Equation" r:id="rId9" imgW="40376475" imgH="7458075" progId="Equation.DSMT4">
                  <p:embed/>
                </p:oleObj>
              </mc:Choice>
              <mc:Fallback>
                <p:oleObj name="Equation" r:id="rId9" imgW="40376475" imgH="745807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2" y="4678875"/>
                        <a:ext cx="5472112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210060"/>
              </p:ext>
            </p:extLst>
          </p:nvPr>
        </p:nvGraphicFramePr>
        <p:xfrm>
          <a:off x="8280002" y="4739993"/>
          <a:ext cx="12239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3" name="Equation" r:id="rId11" imgW="8115300" imgH="6800850" progId="Equation.DSMT4">
                  <p:embed/>
                </p:oleObj>
              </mc:Choice>
              <mc:Fallback>
                <p:oleObj name="Equation" r:id="rId11" imgW="8115300" imgH="680085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002" y="4739993"/>
                        <a:ext cx="122396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D9E259F0-E73E-405C-AB82-4AF1D36506C6}"/>
              </a:ext>
            </a:extLst>
          </p:cNvPr>
          <p:cNvSpPr txBox="1"/>
          <p:nvPr/>
        </p:nvSpPr>
        <p:spPr>
          <a:xfrm>
            <a:off x="1841076" y="191611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方法一：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8">
                <a:extLst>
                  <a:ext uri="{FF2B5EF4-FFF2-40B4-BE49-F238E27FC236}">
                    <a16:creationId xmlns:a16="http://schemas.microsoft.com/office/drawing/2014/main" id="{E324A06B-AE97-4722-84A7-9C79EB1C1596}"/>
                  </a:ext>
                </a:extLst>
              </p:cNvPr>
              <p:cNvSpPr txBox="1"/>
              <p:nvPr/>
            </p:nvSpPr>
            <p:spPr bwMode="auto">
              <a:xfrm>
                <a:off x="1847850" y="5732462"/>
                <a:ext cx="7309211" cy="100488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Object 8">
                <a:extLst>
                  <a:ext uri="{FF2B5EF4-FFF2-40B4-BE49-F238E27FC236}">
                    <a16:creationId xmlns:a16="http://schemas.microsoft.com/office/drawing/2014/main" id="{E324A06B-AE97-4722-84A7-9C79EB1C1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850" y="5732462"/>
                <a:ext cx="7309211" cy="1004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407383"/>
              </p:ext>
            </p:extLst>
          </p:nvPr>
        </p:nvGraphicFramePr>
        <p:xfrm>
          <a:off x="2259013" y="317500"/>
          <a:ext cx="51927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11" name="Equation" r:id="rId3" imgW="43443525" imgH="7458075" progId="Equation.DSMT4">
                  <p:embed/>
                </p:oleObj>
              </mc:Choice>
              <mc:Fallback>
                <p:oleObj name="Equation" r:id="rId3" imgW="43443525" imgH="745807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317500"/>
                        <a:ext cx="5192712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4"/>
              <p:cNvSpPr txBox="1"/>
              <p:nvPr/>
            </p:nvSpPr>
            <p:spPr bwMode="auto">
              <a:xfrm>
                <a:off x="2372593" y="1300703"/>
                <a:ext cx="5804123" cy="8858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2−1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2593" y="1300703"/>
                <a:ext cx="5804123" cy="8858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2"/>
              <p:cNvSpPr txBox="1"/>
              <p:nvPr/>
            </p:nvSpPr>
            <p:spPr bwMode="auto">
              <a:xfrm>
                <a:off x="2862648" y="2232701"/>
                <a:ext cx="3063190" cy="8858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2648" y="2232701"/>
                <a:ext cx="3063190" cy="8858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774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5305" y="368671"/>
            <a:ext cx="4599466" cy="3153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2BF4FA03-23DD-4D2D-939C-2DFCF3C5A4AA}"/>
                  </a:ext>
                </a:extLst>
              </p:cNvPr>
              <p:cNvSpPr txBox="1"/>
              <p:nvPr/>
            </p:nvSpPr>
            <p:spPr bwMode="auto">
              <a:xfrm>
                <a:off x="2783632" y="3025282"/>
                <a:ext cx="3063190" cy="8858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2BF4FA03-23DD-4D2D-939C-2DFCF3C5A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3632" y="3025282"/>
                <a:ext cx="3063190" cy="8858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FCA1284D-AC42-48F6-B71F-4308B977CDAD}"/>
                  </a:ext>
                </a:extLst>
              </p:cNvPr>
              <p:cNvSpPr txBox="1"/>
              <p:nvPr/>
            </p:nvSpPr>
            <p:spPr bwMode="auto">
              <a:xfrm>
                <a:off x="2207568" y="5070761"/>
                <a:ext cx="5804123" cy="8858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FCA1284D-AC42-48F6-B71F-4308B977C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7568" y="5070761"/>
                <a:ext cx="5804123" cy="8858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2">
                <a:extLst>
                  <a:ext uri="{FF2B5EF4-FFF2-40B4-BE49-F238E27FC236}">
                    <a16:creationId xmlns:a16="http://schemas.microsoft.com/office/drawing/2014/main" id="{50BAC035-27AA-46CF-8721-1E6C5CA1EA9F}"/>
                  </a:ext>
                </a:extLst>
              </p:cNvPr>
              <p:cNvSpPr txBox="1"/>
              <p:nvPr/>
            </p:nvSpPr>
            <p:spPr bwMode="auto">
              <a:xfrm>
                <a:off x="2639616" y="5843587"/>
                <a:ext cx="3063190" cy="8858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4" name="Object 12">
                <a:extLst>
                  <a:ext uri="{FF2B5EF4-FFF2-40B4-BE49-F238E27FC236}">
                    <a16:creationId xmlns:a16="http://schemas.microsoft.com/office/drawing/2014/main" id="{50BAC035-27AA-46CF-8721-1E6C5CA1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9616" y="5843587"/>
                <a:ext cx="3063190" cy="8858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28CF5E24-8A7E-4457-946E-19E2826F2896}"/>
              </a:ext>
            </a:extLst>
          </p:cNvPr>
          <p:cNvGrpSpPr/>
          <p:nvPr/>
        </p:nvGrpSpPr>
        <p:grpSpPr>
          <a:xfrm>
            <a:off x="1055440" y="3710149"/>
            <a:ext cx="7309211" cy="1311305"/>
            <a:chOff x="1055440" y="3710149"/>
            <a:chExt cx="7309211" cy="13113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8">
                  <a:extLst>
                    <a:ext uri="{FF2B5EF4-FFF2-40B4-BE49-F238E27FC236}">
                      <a16:creationId xmlns:a16="http://schemas.microsoft.com/office/drawing/2014/main" id="{35F2B970-5058-43D6-B3D9-6B7950180AE1}"/>
                    </a:ext>
                  </a:extLst>
                </p:cNvPr>
                <p:cNvSpPr txBox="1"/>
                <p:nvPr/>
              </p:nvSpPr>
              <p:spPr bwMode="auto">
                <a:xfrm>
                  <a:off x="1055440" y="4016567"/>
                  <a:ext cx="7309211" cy="1004887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Object 8">
                  <a:extLst>
                    <a:ext uri="{FF2B5EF4-FFF2-40B4-BE49-F238E27FC236}">
                      <a16:creationId xmlns:a16="http://schemas.microsoft.com/office/drawing/2014/main" id="{35F2B970-5058-43D6-B3D9-6B7950180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5440" y="4016567"/>
                  <a:ext cx="7309211" cy="1004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DB870EA-90C2-4DF3-8946-EF0FAF5C80CC}"/>
                </a:ext>
              </a:extLst>
            </p:cNvPr>
            <p:cNvSpPr txBox="1"/>
            <p:nvPr/>
          </p:nvSpPr>
          <p:spPr>
            <a:xfrm>
              <a:off x="1415480" y="3710149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或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3" grpId="0"/>
      <p:bldP spid="14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16"/>
          <p:cNvSpPr txBox="1">
            <a:spLocks noChangeArrowheads="1"/>
          </p:cNvSpPr>
          <p:nvPr/>
        </p:nvSpPr>
        <p:spPr bwMode="auto">
          <a:xfrm>
            <a:off x="4845793" y="1126306"/>
            <a:ext cx="2388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C0000"/>
                </a:solidFill>
              </a:rPr>
              <a:t>Aitken </a:t>
            </a:r>
            <a:r>
              <a:rPr lang="zh-CN" altLang="en-US" sz="2400" b="1" dirty="0">
                <a:solidFill>
                  <a:srgbClr val="CC0000"/>
                </a:solidFill>
              </a:rPr>
              <a:t>插值表一</a:t>
            </a:r>
          </a:p>
        </p:txBody>
      </p:sp>
      <p:graphicFrame>
        <p:nvGraphicFramePr>
          <p:cNvPr id="3" name="Group 149">
            <a:extLst>
              <a:ext uri="{FF2B5EF4-FFF2-40B4-BE49-F238E27FC236}">
                <a16:creationId xmlns:a16="http://schemas.microsoft.com/office/drawing/2014/main" id="{313062A3-FE77-4B75-BC2C-0751D7D7E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819554"/>
              </p:ext>
            </p:extLst>
          </p:nvPr>
        </p:nvGraphicFramePr>
        <p:xfrm>
          <a:off x="2059781" y="1785139"/>
          <a:ext cx="8072438" cy="3494089"/>
        </p:xfrm>
        <a:graphic>
          <a:graphicData uri="http://schemas.openxmlformats.org/drawingml/2006/table">
            <a:tbl>
              <a:tblPr/>
              <a:tblGrid>
                <a:gridCol w="128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2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4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2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2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2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3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              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-1/2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8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1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-1/3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656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152004"/>
              </p:ext>
            </p:extLst>
          </p:nvPr>
        </p:nvGraphicFramePr>
        <p:xfrm>
          <a:off x="6023836" y="3218603"/>
          <a:ext cx="20589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0" name="Equation" r:id="rId3" imgW="14697075" imgH="6800850" progId="Equation.DSMT4">
                  <p:embed/>
                </p:oleObj>
              </mc:Choice>
              <mc:Fallback>
                <p:oleObj name="Equation" r:id="rId3" imgW="14697075" imgH="680085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836" y="3218603"/>
                        <a:ext cx="205898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297097"/>
              </p:ext>
            </p:extLst>
          </p:nvPr>
        </p:nvGraphicFramePr>
        <p:xfrm>
          <a:off x="6023836" y="4164753"/>
          <a:ext cx="18542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1" name="Equation" r:id="rId5" imgW="12287250" imgH="6800850" progId="Equation.DSMT4">
                  <p:embed/>
                </p:oleObj>
              </mc:Choice>
              <mc:Fallback>
                <p:oleObj name="Equation" r:id="rId5" imgW="12287250" imgH="680085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836" y="4164753"/>
                        <a:ext cx="185420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7" name="矩形 6"/>
          <p:cNvSpPr>
            <a:spLocks noChangeArrowheads="1"/>
          </p:cNvSpPr>
          <p:nvPr/>
        </p:nvSpPr>
        <p:spPr bwMode="auto">
          <a:xfrm>
            <a:off x="1952625" y="628650"/>
            <a:ext cx="53675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B07B9"/>
                </a:solidFill>
                <a:latin typeface="宋体" panose="02010600030101010101" pitchFamily="2" charset="-122"/>
              </a:rPr>
              <a:t>方法二：</a:t>
            </a:r>
            <a:r>
              <a:rPr lang="en-US" altLang="zh-CN" sz="2400" b="1" dirty="0">
                <a:solidFill>
                  <a:srgbClr val="0B07B9"/>
                </a:solidFill>
                <a:latin typeface="宋体" panose="02010600030101010101" pitchFamily="2" charset="-122"/>
              </a:rPr>
              <a:t>Aitken </a:t>
            </a:r>
            <a:r>
              <a:rPr lang="zh-CN" altLang="en-US" sz="2400" b="1" dirty="0">
                <a:solidFill>
                  <a:srgbClr val="0B07B9"/>
                </a:solidFill>
                <a:latin typeface="宋体" panose="02010600030101010101" pitchFamily="2" charset="-122"/>
              </a:rPr>
              <a:t>插值表的表示法：</a:t>
            </a:r>
            <a:endParaRPr lang="zh-CN" altLang="en-US" sz="2400" dirty="0">
              <a:solidFill>
                <a:srgbClr val="0B07B9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81E9A2C-BCF0-40FC-8732-AA25BF6C4B97}"/>
              </a:ext>
            </a:extLst>
          </p:cNvPr>
          <p:cNvGrpSpPr/>
          <p:nvPr/>
        </p:nvGrpSpPr>
        <p:grpSpPr>
          <a:xfrm>
            <a:off x="1271464" y="5511053"/>
            <a:ext cx="8023901" cy="906463"/>
            <a:chOff x="1271464" y="5511053"/>
            <a:chExt cx="8023901" cy="906463"/>
          </a:xfrm>
        </p:grpSpPr>
        <p:sp>
          <p:nvSpPr>
            <p:cNvPr id="5" name="文本框 4"/>
            <p:cNvSpPr txBox="1"/>
            <p:nvPr/>
          </p:nvSpPr>
          <p:spPr>
            <a:xfrm>
              <a:off x="1271464" y="5733451"/>
              <a:ext cx="29209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CC0000"/>
                  </a:solidFill>
                </a:rPr>
                <a:t>Aitken</a:t>
              </a:r>
              <a:r>
                <a:rPr lang="zh-CN" altLang="en-US" dirty="0"/>
                <a:t>插值法结果：</a:t>
              </a:r>
            </a:p>
          </p:txBody>
        </p:sp>
        <p:graphicFrame>
          <p:nvGraphicFramePr>
            <p:cNvPr id="12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8370642"/>
                </p:ext>
              </p:extLst>
            </p:nvPr>
          </p:nvGraphicFramePr>
          <p:xfrm>
            <a:off x="4307440" y="5511053"/>
            <a:ext cx="4987925" cy="906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02" name="Equation" r:id="rId7" imgW="37299900" imgH="6800850" progId="Equation.DSMT4">
                    <p:embed/>
                  </p:oleObj>
                </mc:Choice>
                <mc:Fallback>
                  <p:oleObj name="Equation" r:id="rId7" imgW="37299900" imgH="6800850" progId="Equation.DSMT4">
                    <p:embed/>
                    <p:pic>
                      <p:nvPicPr>
                        <p:cNvPr id="67586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7440" y="5511053"/>
                          <a:ext cx="4987925" cy="906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爆炸形 2 6"/>
          <p:cNvSpPr/>
          <p:nvPr/>
        </p:nvSpPr>
        <p:spPr bwMode="auto">
          <a:xfrm>
            <a:off x="8904312" y="5633864"/>
            <a:ext cx="4511824" cy="1224136"/>
          </a:xfrm>
          <a:prstGeom prst="irregularSeal2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2000" b="1" dirty="0">
                <a:solidFill>
                  <a:srgbClr val="7030A0"/>
                </a:solidFill>
              </a:rPr>
              <a:t>与牛顿插值法相同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ECF869F-F16F-4219-B9BE-AA2E045892BF}"/>
                  </a:ext>
                </a:extLst>
              </p:cNvPr>
              <p:cNvSpPr txBox="1"/>
              <p:nvPr/>
            </p:nvSpPr>
            <p:spPr>
              <a:xfrm>
                <a:off x="8406630" y="4272482"/>
                <a:ext cx="273459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2−1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ECF869F-F16F-4219-B9BE-AA2E04589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630" y="4272482"/>
                <a:ext cx="2734595" cy="6938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1DD50C6-6148-4E2E-8005-54172B13928D}"/>
              </a:ext>
            </a:extLst>
          </p:cNvPr>
          <p:cNvSpPr/>
          <p:nvPr/>
        </p:nvSpPr>
        <p:spPr bwMode="auto">
          <a:xfrm>
            <a:off x="6023836" y="3218603"/>
            <a:ext cx="2058987" cy="1828800"/>
          </a:xfrm>
          <a:prstGeom prst="rect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16"/>
          <p:cNvSpPr txBox="1">
            <a:spLocks noChangeArrowheads="1"/>
          </p:cNvSpPr>
          <p:nvPr/>
        </p:nvSpPr>
        <p:spPr bwMode="auto">
          <a:xfrm>
            <a:off x="4845793" y="1126306"/>
            <a:ext cx="2388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C0000"/>
                </a:solidFill>
              </a:rPr>
              <a:t>Aitken </a:t>
            </a:r>
            <a:r>
              <a:rPr lang="zh-CN" altLang="en-US" sz="2400" b="1" dirty="0">
                <a:solidFill>
                  <a:srgbClr val="CC0000"/>
                </a:solidFill>
              </a:rPr>
              <a:t>插值表二</a:t>
            </a:r>
          </a:p>
        </p:txBody>
      </p:sp>
      <p:graphicFrame>
        <p:nvGraphicFramePr>
          <p:cNvPr id="3" name="Group 149">
            <a:extLst>
              <a:ext uri="{FF2B5EF4-FFF2-40B4-BE49-F238E27FC236}">
                <a16:creationId xmlns:a16="http://schemas.microsoft.com/office/drawing/2014/main" id="{313062A3-FE77-4B75-BC2C-0751D7D7E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742614"/>
              </p:ext>
            </p:extLst>
          </p:nvPr>
        </p:nvGraphicFramePr>
        <p:xfrm>
          <a:off x="1988293" y="1812539"/>
          <a:ext cx="8072438" cy="3494089"/>
        </p:xfrm>
        <a:graphic>
          <a:graphicData uri="http://schemas.openxmlformats.org/drawingml/2006/table">
            <a:tbl>
              <a:tblPr/>
              <a:tblGrid>
                <a:gridCol w="128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2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4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2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2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400" b="0" i="1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2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3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                  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-1/2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8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1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8" marB="45688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6564" name="Object 9"/>
          <p:cNvGraphicFramePr>
            <a:graphicFrameLocks noChangeAspect="1"/>
          </p:cNvGraphicFramePr>
          <p:nvPr>
            <p:extLst/>
          </p:nvPr>
        </p:nvGraphicFramePr>
        <p:xfrm>
          <a:off x="6023836" y="3218603"/>
          <a:ext cx="20589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4" name="Equation" r:id="rId3" imgW="14697075" imgH="6800850" progId="Equation.DSMT4">
                  <p:embed/>
                </p:oleObj>
              </mc:Choice>
              <mc:Fallback>
                <p:oleObj name="Equation" r:id="rId3" imgW="14697075" imgH="6800850" progId="Equation.DSMT4">
                  <p:embed/>
                  <p:pic>
                    <p:nvPicPr>
                      <p:cNvPr id="6656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836" y="3218603"/>
                        <a:ext cx="205898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7" name="矩形 6"/>
          <p:cNvSpPr>
            <a:spLocks noChangeArrowheads="1"/>
          </p:cNvSpPr>
          <p:nvPr/>
        </p:nvSpPr>
        <p:spPr bwMode="auto">
          <a:xfrm>
            <a:off x="1952625" y="628650"/>
            <a:ext cx="53675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B07B9"/>
                </a:solidFill>
                <a:latin typeface="宋体" panose="02010600030101010101" pitchFamily="2" charset="-122"/>
              </a:rPr>
              <a:t>方法二：</a:t>
            </a:r>
            <a:r>
              <a:rPr lang="en-US" altLang="zh-CN" sz="2400" b="1" dirty="0">
                <a:solidFill>
                  <a:srgbClr val="0B07B9"/>
                </a:solidFill>
                <a:latin typeface="宋体" panose="02010600030101010101" pitchFamily="2" charset="-122"/>
              </a:rPr>
              <a:t>Aitken </a:t>
            </a:r>
            <a:r>
              <a:rPr lang="zh-CN" altLang="en-US" sz="2400" b="1" dirty="0">
                <a:solidFill>
                  <a:srgbClr val="0B07B9"/>
                </a:solidFill>
                <a:latin typeface="宋体" panose="02010600030101010101" pitchFamily="2" charset="-122"/>
              </a:rPr>
              <a:t>插值表的表示法：</a:t>
            </a:r>
            <a:endParaRPr lang="zh-CN" altLang="en-US" sz="2400" dirty="0">
              <a:solidFill>
                <a:srgbClr val="0B07B9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81E9A2C-BCF0-40FC-8732-AA25BF6C4B97}"/>
              </a:ext>
            </a:extLst>
          </p:cNvPr>
          <p:cNvGrpSpPr/>
          <p:nvPr/>
        </p:nvGrpSpPr>
        <p:grpSpPr>
          <a:xfrm>
            <a:off x="1271464" y="5511053"/>
            <a:ext cx="8023901" cy="906463"/>
            <a:chOff x="1271464" y="5511053"/>
            <a:chExt cx="8023901" cy="906463"/>
          </a:xfrm>
        </p:grpSpPr>
        <p:sp>
          <p:nvSpPr>
            <p:cNvPr id="5" name="文本框 4"/>
            <p:cNvSpPr txBox="1"/>
            <p:nvPr/>
          </p:nvSpPr>
          <p:spPr>
            <a:xfrm>
              <a:off x="1271464" y="5733451"/>
              <a:ext cx="29209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CC0000"/>
                  </a:solidFill>
                </a:rPr>
                <a:t>Aitken</a:t>
              </a:r>
              <a:r>
                <a:rPr lang="zh-CN" altLang="en-US" dirty="0"/>
                <a:t>插值法结果：</a:t>
              </a:r>
            </a:p>
          </p:txBody>
        </p:sp>
        <p:graphicFrame>
          <p:nvGraphicFramePr>
            <p:cNvPr id="12" name="Object 1"/>
            <p:cNvGraphicFramePr>
              <a:graphicFrameLocks noChangeAspect="1"/>
            </p:cNvGraphicFramePr>
            <p:nvPr>
              <p:extLst/>
            </p:nvPr>
          </p:nvGraphicFramePr>
          <p:xfrm>
            <a:off x="4307440" y="5511053"/>
            <a:ext cx="4987925" cy="906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75" name="Equation" r:id="rId5" imgW="37299900" imgH="6800850" progId="Equation.DSMT4">
                    <p:embed/>
                  </p:oleObj>
                </mc:Choice>
                <mc:Fallback>
                  <p:oleObj name="Equation" r:id="rId5" imgW="37299900" imgH="6800850" progId="Equation.DSMT4">
                    <p:embed/>
                    <p:pic>
                      <p:nvPicPr>
                        <p:cNvPr id="12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7440" y="5511053"/>
                          <a:ext cx="4987925" cy="906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ECF869F-F16F-4219-B9BE-AA2E045892BF}"/>
                  </a:ext>
                </a:extLst>
              </p:cNvPr>
              <p:cNvSpPr txBox="1"/>
              <p:nvPr/>
            </p:nvSpPr>
            <p:spPr>
              <a:xfrm>
                <a:off x="8391268" y="4281046"/>
                <a:ext cx="273459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ECF869F-F16F-4219-B9BE-AA2E04589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268" y="4281046"/>
                <a:ext cx="2734595" cy="6938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36732C0-2F1B-4C2B-A207-D781FB534C05}"/>
                  </a:ext>
                </a:extLst>
              </p:cNvPr>
              <p:cNvSpPr/>
              <p:nvPr/>
            </p:nvSpPr>
            <p:spPr>
              <a:xfrm>
                <a:off x="6064443" y="4389024"/>
                <a:ext cx="985270" cy="4778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en-US" altLang="zh-CN" dirty="0"/>
                  <a:t>=1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36732C0-2F1B-4C2B-A207-D781FB534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443" y="4389024"/>
                <a:ext cx="985270" cy="477888"/>
              </a:xfrm>
              <a:prstGeom prst="rect">
                <a:avLst/>
              </a:prstGeom>
              <a:blipFill>
                <a:blip r:embed="rId8"/>
                <a:stretch>
                  <a:fillRect l="-1863" t="-10256" r="-8696" b="-25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5BE3FB72-4203-4762-9699-24E076C33E74}"/>
              </a:ext>
            </a:extLst>
          </p:cNvPr>
          <p:cNvSpPr/>
          <p:nvPr/>
        </p:nvSpPr>
        <p:spPr bwMode="auto">
          <a:xfrm>
            <a:off x="6023836" y="3218603"/>
            <a:ext cx="2058987" cy="1828800"/>
          </a:xfrm>
          <a:prstGeom prst="rect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141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54278"/>
              </p:ext>
            </p:extLst>
          </p:nvPr>
        </p:nvGraphicFramePr>
        <p:xfrm>
          <a:off x="3791744" y="1124744"/>
          <a:ext cx="2376487" cy="158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7" r:id="rId3" imgW="5479920" imgH="3673080" progId="Visio.Drawing.11">
                  <p:embed/>
                </p:oleObj>
              </mc:Choice>
              <mc:Fallback>
                <p:oleObj r:id="rId3" imgW="5479920" imgH="3673080" progId="Visio.Drawing.11">
                  <p:embed/>
                  <p:pic>
                    <p:nvPicPr>
                      <p:cNvPr id="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1124744"/>
                        <a:ext cx="2376487" cy="158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191329"/>
              </p:ext>
            </p:extLst>
          </p:nvPr>
        </p:nvGraphicFramePr>
        <p:xfrm>
          <a:off x="3791744" y="2924969"/>
          <a:ext cx="2303462" cy="155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8" r:id="rId5" imgW="5479920" imgH="3673080" progId="Visio.Drawing.11">
                  <p:embed/>
                </p:oleObj>
              </mc:Choice>
              <mc:Fallback>
                <p:oleObj r:id="rId5" imgW="5479920" imgH="3673080" progId="Visio.Drawing.11">
                  <p:embed/>
                  <p:pic>
                    <p:nvPicPr>
                      <p:cNvPr id="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2924969"/>
                        <a:ext cx="2303462" cy="155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246149"/>
              </p:ext>
            </p:extLst>
          </p:nvPr>
        </p:nvGraphicFramePr>
        <p:xfrm>
          <a:off x="3791744" y="4798219"/>
          <a:ext cx="2305050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9" r:id="rId7" imgW="5573880" imgH="3673080" progId="Visio.Drawing.11">
                  <p:embed/>
                </p:oleObj>
              </mc:Choice>
              <mc:Fallback>
                <p:oleObj r:id="rId7" imgW="5573880" imgH="3673080" progId="Visio.Drawing.11">
                  <p:embed/>
                  <p:pic>
                    <p:nvPicPr>
                      <p:cNvPr id="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4798219"/>
                        <a:ext cx="2305050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608168" y="1844824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r>
              <a:rPr lang="zh-CN" altLang="en-US" dirty="0"/>
              <a:t>阶连续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08168" y="3469629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阶连续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623388" y="555466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阶连续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AB8BC8-6C08-4BD5-8EF1-4CC43BBDC408}"/>
              </a:ext>
            </a:extLst>
          </p:cNvPr>
          <p:cNvSpPr txBox="1"/>
          <p:nvPr/>
        </p:nvSpPr>
        <p:spPr>
          <a:xfrm>
            <a:off x="1055440" y="47667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知识回顾：</a:t>
            </a:r>
          </a:p>
        </p:txBody>
      </p:sp>
    </p:spTree>
    <p:extLst>
      <p:ext uri="{BB962C8B-B14F-4D97-AF65-F5344CB8AC3E}">
        <p14:creationId xmlns:p14="http://schemas.microsoft.com/office/powerpoint/2010/main" val="94829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95500" y="428625"/>
            <a:ext cx="52405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§4.4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 埃尔米特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Hermite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插值 </a:t>
            </a: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2095500" y="1412776"/>
            <a:ext cx="9264075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kumimoji="1" lang="zh-CN" altLang="en-US" sz="2400" dirty="0">
                <a:latin typeface="宋体" panose="02010600030101010101" pitchFamily="2" charset="-122"/>
              </a:rPr>
              <a:t>   不少实际问题不但要求在</a:t>
            </a:r>
            <a:r>
              <a:rPr kumimoji="1"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节点上函数值相等</a:t>
            </a:r>
            <a:r>
              <a:rPr kumimoji="1" lang="zh-CN" altLang="en-US" sz="2400" dirty="0">
                <a:latin typeface="宋体" panose="02010600030101010101" pitchFamily="2" charset="-122"/>
              </a:rPr>
              <a:t>，而且</a:t>
            </a:r>
          </a:p>
          <a:p>
            <a:pPr algn="l" eaLnBrk="1" hangingPunct="1">
              <a:lnSpc>
                <a:spcPct val="150000"/>
              </a:lnSpc>
            </a:pPr>
            <a:r>
              <a:rPr kumimoji="1" lang="zh-CN" altLang="en-US" sz="2400" dirty="0">
                <a:latin typeface="宋体" panose="02010600030101010101" pitchFamily="2" charset="-122"/>
              </a:rPr>
              <a:t>还要求它的</a:t>
            </a:r>
            <a:r>
              <a:rPr kumimoji="1"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导数值也相等</a:t>
            </a:r>
            <a:r>
              <a:rPr kumimoji="1" lang="zh-CN" altLang="en-US" sz="2400" dirty="0">
                <a:latin typeface="宋体" panose="02010600030101010101" pitchFamily="2" charset="-122"/>
              </a:rPr>
              <a:t>（即要求在节点上具有一</a:t>
            </a:r>
          </a:p>
          <a:p>
            <a:pPr algn="l" eaLnBrk="1" hangingPunct="1">
              <a:lnSpc>
                <a:spcPct val="150000"/>
              </a:lnSpc>
            </a:pPr>
            <a:r>
              <a:rPr kumimoji="1" lang="zh-CN" altLang="en-US" sz="2400" dirty="0">
                <a:latin typeface="宋体" panose="02010600030101010101" pitchFamily="2" charset="-122"/>
              </a:rPr>
              <a:t>阶光滑度），甚至要求高阶导数也相等，即：</a:t>
            </a:r>
            <a:endParaRPr kumimoji="1" lang="en-US" altLang="zh-CN" sz="2400" dirty="0">
              <a:latin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</a:pPr>
            <a:endParaRPr kumimoji="1" lang="en-US" altLang="zh-CN" sz="2400" dirty="0">
              <a:latin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</a:pPr>
            <a:endParaRPr kumimoji="1" lang="en-US" altLang="zh-CN" sz="2400" dirty="0">
              <a:latin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</a:pPr>
            <a:r>
              <a:rPr kumimoji="1" lang="zh-CN" altLang="en-US" sz="2400" dirty="0">
                <a:latin typeface="宋体" panose="02010600030101010101" pitchFamily="2" charset="-122"/>
              </a:rPr>
              <a:t>满足这种要求的插值多项式就是埃尔米特（</a:t>
            </a:r>
            <a:r>
              <a:rPr kumimoji="1" lang="en-US" altLang="zh-CN" sz="2400" dirty="0" err="1">
                <a:latin typeface="宋体" panose="02010600030101010101" pitchFamily="2" charset="-122"/>
              </a:rPr>
              <a:t>Hermite</a:t>
            </a:r>
            <a:r>
              <a:rPr kumimoji="1" lang="zh-CN" altLang="en-US" sz="2400" dirty="0">
                <a:latin typeface="宋体" panose="02010600030101010101" pitchFamily="2" charset="-122"/>
              </a:rPr>
              <a:t>）插值多项式。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9"/>
              <p:cNvSpPr txBox="1"/>
              <p:nvPr/>
            </p:nvSpPr>
            <p:spPr bwMode="auto">
              <a:xfrm>
                <a:off x="2640013" y="3340100"/>
                <a:ext cx="7272337" cy="56832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),⋯,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0013" y="3340100"/>
                <a:ext cx="7272337" cy="568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095500" y="4941168"/>
            <a:ext cx="1864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 b="1">
                <a:solidFill>
                  <a:srgbClr val="A31221"/>
                </a:solidFill>
                <a:latin typeface="华文细黑" panose="02010600040101010101" pitchFamily="2" charset="-122"/>
                <a:ea typeface="隶书" panose="02010509060101010101" pitchFamily="49" charset="-122"/>
              </a:defRPr>
            </a:lvl1pPr>
            <a:lvl2pPr marL="742950" indent="-285750">
              <a:defRPr sz="4800" b="1">
                <a:solidFill>
                  <a:srgbClr val="A31221"/>
                </a:solidFill>
                <a:latin typeface="华文细黑" panose="02010600040101010101" pitchFamily="2" charset="-122"/>
                <a:ea typeface="隶书" panose="02010509060101010101" pitchFamily="49" charset="-122"/>
              </a:defRPr>
            </a:lvl2pPr>
            <a:lvl3pPr marL="1143000" indent="-228600">
              <a:defRPr sz="4800" b="1">
                <a:solidFill>
                  <a:srgbClr val="A31221"/>
                </a:solidFill>
                <a:latin typeface="华文细黑" panose="02010600040101010101" pitchFamily="2" charset="-122"/>
                <a:ea typeface="隶书" panose="02010509060101010101" pitchFamily="49" charset="-122"/>
              </a:defRPr>
            </a:lvl3pPr>
            <a:lvl4pPr marL="1600200" indent="-228600">
              <a:defRPr sz="4800" b="1">
                <a:solidFill>
                  <a:srgbClr val="A31221"/>
                </a:solidFill>
                <a:latin typeface="华文细黑" panose="02010600040101010101" pitchFamily="2" charset="-122"/>
                <a:ea typeface="隶书" panose="02010509060101010101" pitchFamily="49" charset="-122"/>
              </a:defRPr>
            </a:lvl4pPr>
            <a:lvl5pPr marL="2057400" indent="-228600">
              <a:defRPr sz="4800" b="1">
                <a:solidFill>
                  <a:srgbClr val="A31221"/>
                </a:solidFill>
                <a:latin typeface="华文细黑" panose="02010600040101010101" pitchFamily="2" charset="-122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A31221"/>
                </a:solidFill>
                <a:latin typeface="华文细黑" panose="02010600040101010101" pitchFamily="2" charset="-122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A31221"/>
                </a:solidFill>
                <a:latin typeface="华文细黑" panose="02010600040101010101" pitchFamily="2" charset="-122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A31221"/>
                </a:solidFill>
                <a:latin typeface="华文细黑" panose="02010600040101010101" pitchFamily="2" charset="-122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A31221"/>
                </a:solidFill>
                <a:latin typeface="华文细黑" panose="02010600040101010101" pitchFamily="2" charset="-122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记为</a:t>
            </a:r>
            <a:r>
              <a:rPr lang="zh-CN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8005D303-81DD-450F-8558-8A2CEDFEC89C}"/>
                  </a:ext>
                </a:extLst>
              </p:cNvPr>
              <p:cNvSpPr txBox="1"/>
              <p:nvPr/>
            </p:nvSpPr>
            <p:spPr bwMode="auto">
              <a:xfrm>
                <a:off x="2207568" y="5551586"/>
                <a:ext cx="7272337" cy="56832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r>
                  <a:rPr lang="zh-CN" altLang="en-US" b="0" dirty="0">
                    <a:solidFill>
                      <a:srgbClr val="000000"/>
                    </a:solidFill>
                  </a:rPr>
                  <a:t>假设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已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=0,1,….,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8005D303-81DD-450F-8558-8A2CEDFEC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7568" y="5551586"/>
                <a:ext cx="7272337" cy="568325"/>
              </a:xfrm>
              <a:prstGeom prst="rect">
                <a:avLst/>
              </a:prstGeom>
              <a:blipFill>
                <a:blip r:embed="rId4"/>
                <a:stretch>
                  <a:fillRect l="-1090" t="-10753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25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631504" y="548680"/>
                <a:ext cx="9073008" cy="1140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7030A0"/>
                    </a:solidFill>
                  </a:rPr>
                  <a:t>定理</a:t>
                </a:r>
                <a:r>
                  <a:rPr lang="zh-CN" altLang="en-US" dirty="0"/>
                  <a:t>：满足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小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于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等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于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次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插值</m:t>
                    </m:r>
                  </m:oMath>
                </a14:m>
                <a:r>
                  <a:rPr lang="zh-CN" altLang="en-US" dirty="0"/>
                  <a:t>多项式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是存在且唯一的。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548680"/>
                <a:ext cx="9073008" cy="1140056"/>
              </a:xfrm>
              <a:prstGeom prst="rect">
                <a:avLst/>
              </a:prstGeom>
              <a:blipFill>
                <a:blip r:embed="rId3"/>
                <a:stretch>
                  <a:fillRect l="-1075" b="-9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351584" y="3093325"/>
                <a:ext cx="92797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令</a:t>
                </a:r>
                <a:r>
                  <a:rPr lang="en-US" altLang="zh-CN" dirty="0"/>
                  <a:t>R(x)=P(x)-Q(x)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R(x)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2n+1</a:t>
                </a:r>
                <a:r>
                  <a:rPr lang="zh-CN" altLang="en-US" dirty="0"/>
                  <a:t>次多项式，且</a:t>
                </a:r>
                <a:r>
                  <a:rPr lang="en-US" altLang="zh-CN" dirty="0"/>
                  <a:t>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)=0,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)=0 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3093325"/>
                <a:ext cx="9279720" cy="461665"/>
              </a:xfrm>
              <a:prstGeom prst="rect">
                <a:avLst/>
              </a:prstGeom>
              <a:blipFill>
                <a:blip r:embed="rId4"/>
                <a:stretch>
                  <a:fillRect l="-1051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734017" y="4460882"/>
                <a:ext cx="48377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Κ</m:t>
                      </m:r>
                      <m:sSup>
                        <m:sSupPr>
                          <m:ctrlPr>
                            <a:rPr lang="el-GR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=0,1,…,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017" y="4460882"/>
                <a:ext cx="4837798" cy="369332"/>
              </a:xfrm>
              <a:prstGeom prst="rect">
                <a:avLst/>
              </a:prstGeom>
              <a:blipFill>
                <a:blip r:embed="rId5"/>
                <a:stretch>
                  <a:fillRect l="-378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2639616" y="5123780"/>
            <a:ext cx="82253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由上式可知，</a:t>
            </a:r>
            <a:r>
              <a:rPr lang="en-US" altLang="zh-CN" dirty="0"/>
              <a:t>R(x)</a:t>
            </a:r>
            <a:r>
              <a:rPr lang="zh-CN" altLang="en-US" dirty="0"/>
              <a:t>存在</a:t>
            </a:r>
            <a:r>
              <a:rPr lang="en-US" altLang="zh-CN" dirty="0"/>
              <a:t>2n+2</a:t>
            </a:r>
            <a:r>
              <a:rPr lang="zh-CN" altLang="en-US" dirty="0"/>
              <a:t>个根，而</a:t>
            </a:r>
            <a:r>
              <a:rPr lang="en-US" altLang="zh-CN" dirty="0"/>
              <a:t>R(x)</a:t>
            </a:r>
            <a:r>
              <a:rPr lang="zh-CN" altLang="en-US" dirty="0"/>
              <a:t>是</a:t>
            </a:r>
            <a:r>
              <a:rPr lang="en-US" altLang="zh-CN" dirty="0"/>
              <a:t>2n+1</a:t>
            </a:r>
            <a:r>
              <a:rPr lang="zh-CN" altLang="en-US" dirty="0"/>
              <a:t>次多项式。</a:t>
            </a:r>
            <a:endParaRPr lang="en-US" altLang="zh-CN" dirty="0"/>
          </a:p>
          <a:p>
            <a:r>
              <a:rPr lang="zh-CN" altLang="en-US" dirty="0"/>
              <a:t>矛盾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639616" y="6168171"/>
                <a:ext cx="40799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所以</a:t>
                </a:r>
                <a:r>
                  <a:rPr lang="en-US" altLang="zh-CN" dirty="0"/>
                  <a:t>R(x)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altLang="zh-CN" dirty="0"/>
                  <a:t>0 ,</a:t>
                </a:r>
                <a:r>
                  <a:rPr lang="zh-CN" altLang="en-US" dirty="0"/>
                  <a:t>即</a:t>
                </a:r>
                <a:r>
                  <a:rPr lang="en-US" altLang="zh-CN" dirty="0"/>
                  <a:t>    P(x)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</m:oMath>
                </a14:m>
                <a:r>
                  <a:rPr lang="en-US" altLang="zh-CN" dirty="0"/>
                  <a:t>Q(x)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6168171"/>
                <a:ext cx="4079963" cy="461665"/>
              </a:xfrm>
              <a:prstGeom prst="rect">
                <a:avLst/>
              </a:prstGeom>
              <a:blipFill>
                <a:blip r:embed="rId6"/>
                <a:stretch>
                  <a:fillRect l="-2242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385706E0-9F42-48CD-8C2C-6AE37B47B63A}"/>
              </a:ext>
            </a:extLst>
          </p:cNvPr>
          <p:cNvGrpSpPr/>
          <p:nvPr/>
        </p:nvGrpSpPr>
        <p:grpSpPr>
          <a:xfrm>
            <a:off x="1631504" y="1951709"/>
            <a:ext cx="10338664" cy="1102777"/>
            <a:chOff x="1631504" y="1951709"/>
            <a:chExt cx="10338664" cy="1102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1631504" y="1951709"/>
                  <a:ext cx="1033866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dirty="0"/>
                    <a:t>证明：假设有两个</a:t>
                  </a:r>
                  <a14:m>
                    <m:oMath xmlns:m="http://schemas.openxmlformats.org/officeDocument/2006/math"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次数不超过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次</m:t>
                      </m:r>
                    </m:oMath>
                  </a14:m>
                  <a:r>
                    <a:rPr lang="zh-CN" altLang="en-US" dirty="0"/>
                    <a:t>多项式</a:t>
                  </a:r>
                  <a:r>
                    <a:rPr lang="en-US" altLang="zh-CN" dirty="0"/>
                    <a:t>P(x),Q(x)</a:t>
                  </a:r>
                  <a:r>
                    <a:rPr lang="zh-CN" altLang="en-US" dirty="0"/>
                    <a:t>，且都满足以上条件</a:t>
                  </a:r>
                  <a:r>
                    <a:rPr lang="en-US" altLang="zh-CN" dirty="0"/>
                    <a:t>: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504" y="1951709"/>
                  <a:ext cx="10338664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943" t="-14474" b="-30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C81BDB5-D56A-4817-999A-111BF7230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95705" y="2382679"/>
              <a:ext cx="7144606" cy="671807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60FACFC-F561-47DC-8A48-088030194A0D}"/>
              </a:ext>
            </a:extLst>
          </p:cNvPr>
          <p:cNvSpPr txBox="1"/>
          <p:nvPr/>
        </p:nvSpPr>
        <p:spPr>
          <a:xfrm>
            <a:off x="2351584" y="3705651"/>
            <a:ext cx="6596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根据多项式重根判定规则，则知</a:t>
            </a:r>
            <a:r>
              <a:rPr lang="en-US" altLang="zh-CN" dirty="0"/>
              <a:t>R(x)</a:t>
            </a:r>
            <a:r>
              <a:rPr lang="zh-CN" altLang="en-US" dirty="0"/>
              <a:t>至少两重根</a:t>
            </a:r>
          </a:p>
        </p:txBody>
      </p:sp>
    </p:spTree>
    <p:extLst>
      <p:ext uri="{BB962C8B-B14F-4D97-AF65-F5344CB8AC3E}">
        <p14:creationId xmlns:p14="http://schemas.microsoft.com/office/powerpoint/2010/main" val="276198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/>
              <p:cNvSpPr txBox="1"/>
              <p:nvPr/>
            </p:nvSpPr>
            <p:spPr bwMode="auto">
              <a:xfrm>
                <a:off x="1511300" y="882650"/>
                <a:ext cx="7848600" cy="187483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待定系数法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由插值条件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1300" y="882650"/>
                <a:ext cx="7848600" cy="18748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/>
              <p:cNvSpPr txBox="1"/>
              <p:nvPr/>
            </p:nvSpPr>
            <p:spPr bwMode="auto">
              <a:xfrm>
                <a:off x="1775520" y="4134864"/>
                <a:ext cx="8280400" cy="119221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共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个方程，可求出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个系数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5520" y="4134864"/>
                <a:ext cx="8280400" cy="11922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16047"/>
              </p:ext>
            </p:extLst>
          </p:nvPr>
        </p:nvGraphicFramePr>
        <p:xfrm>
          <a:off x="3071018" y="2757488"/>
          <a:ext cx="6049963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73" name="Equation" r:id="rId5" imgW="2438400" imgH="482600" progId="Equation.3">
                  <p:embed/>
                </p:oleObj>
              </mc:Choice>
              <mc:Fallback>
                <p:oleObj name="Equation" r:id="rId5" imgW="2438400" imgH="482600" progId="Equation.3">
                  <p:embed/>
                  <p:pic>
                    <p:nvPicPr>
                      <p:cNvPr id="92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018" y="2757488"/>
                        <a:ext cx="6049963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67408" y="35907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插值多项式的构造</a:t>
            </a:r>
          </a:p>
        </p:txBody>
      </p:sp>
    </p:spTree>
    <p:extLst>
      <p:ext uri="{BB962C8B-B14F-4D97-AF65-F5344CB8AC3E}">
        <p14:creationId xmlns:p14="http://schemas.microsoft.com/office/powerpoint/2010/main" val="9044222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927648" y="823156"/>
                <a:ext cx="5239318" cy="11008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CN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altLang="zh-CN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zh-CN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648" y="823156"/>
                <a:ext cx="5239318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279576" y="1874771"/>
                <a:ext cx="6025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dirty="0"/>
                  <a:t>为插值基函数</a:t>
                </a:r>
                <a:r>
                  <a:rPr lang="en-US" altLang="zh-CN" dirty="0"/>
                  <a:t>&lt;=2n+1</a:t>
                </a:r>
                <a:r>
                  <a:rPr lang="zh-CN" altLang="en-US" dirty="0"/>
                  <a:t>次多项式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1874771"/>
                <a:ext cx="6025432" cy="461665"/>
              </a:xfrm>
              <a:prstGeom prst="rect">
                <a:avLst/>
              </a:prstGeom>
              <a:blipFill>
                <a:blip r:embed="rId5"/>
                <a:stretch>
                  <a:fillRect t="-14667" r="-506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088723" y="2429175"/>
                <a:ext cx="23391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满</m:t>
                    </m:r>
                  </m:oMath>
                </a14:m>
                <a:r>
                  <a:rPr lang="zh-CN" altLang="en-US" dirty="0"/>
                  <a:t>足以下条件：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23" y="2429175"/>
                <a:ext cx="2339102" cy="461665"/>
              </a:xfrm>
              <a:prstGeom prst="rect">
                <a:avLst/>
              </a:prstGeom>
              <a:blipFill>
                <a:blip r:embed="rId6"/>
                <a:stretch>
                  <a:fillRect l="-2350" t="-14474" r="-3133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456358" y="2913393"/>
                <a:ext cx="2650149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358" y="2913393"/>
                <a:ext cx="2650149" cy="9161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467639" y="3943743"/>
                <a:ext cx="1705980" cy="523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639" y="3943743"/>
                <a:ext cx="1705980" cy="5230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438778" y="4625907"/>
                <a:ext cx="1784526" cy="523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778" y="4625907"/>
                <a:ext cx="1784526" cy="5230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 bwMode="auto">
          <a:xfrm>
            <a:off x="3215680" y="2763142"/>
            <a:ext cx="3096344" cy="3725529"/>
          </a:xfrm>
          <a:prstGeom prst="rect">
            <a:avLst/>
          </a:prstGeom>
          <a:noFill/>
          <a:ln w="317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438778" y="5172696"/>
                <a:ext cx="2650149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778" y="5172696"/>
                <a:ext cx="2650149" cy="9161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824192" y="230381"/>
                <a:ext cx="4106637" cy="46192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192" y="230381"/>
                <a:ext cx="4106637" cy="461921"/>
              </a:xfrm>
              <a:prstGeom prst="rect">
                <a:avLst/>
              </a:prstGeom>
              <a:blipFill>
                <a:blip r:embed="rId11"/>
                <a:stretch>
                  <a:fillRect l="-148" t="-8974" b="-26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589598" y="512444"/>
            <a:ext cx="2400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(2)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基函数法：</a:t>
            </a:r>
          </a:p>
        </p:txBody>
      </p:sp>
      <p:graphicFrame>
        <p:nvGraphicFramePr>
          <p:cNvPr id="15" name="Object 1">
            <a:extLst>
              <a:ext uri="{FF2B5EF4-FFF2-40B4-BE49-F238E27FC236}">
                <a16:creationId xmlns:a16="http://schemas.microsoft.com/office/drawing/2014/main" id="{0D3EEE6B-33D9-4458-84DD-DB8C86E1D4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362771"/>
              </p:ext>
            </p:extLst>
          </p:nvPr>
        </p:nvGraphicFramePr>
        <p:xfrm>
          <a:off x="8166966" y="2656809"/>
          <a:ext cx="4003727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66" name="Equation" r:id="rId12" imgW="40814625" imgH="21069300" progId="Equation.DSMT4">
                  <p:embed/>
                </p:oleObj>
              </mc:Choice>
              <mc:Fallback>
                <p:oleObj name="Equation" r:id="rId12" imgW="40814625" imgH="21069300" progId="Equation.DSMT4">
                  <p:embed/>
                  <p:pic>
                    <p:nvPicPr>
                      <p:cNvPr id="717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966" y="2656809"/>
                        <a:ext cx="4003727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46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396390" y="421091"/>
                <a:ext cx="3735831" cy="45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dirty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A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a:rPr lang="en-US" altLang="zh-CN" sz="2800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1" i="1" dirty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390" y="421091"/>
                <a:ext cx="3735831" cy="4565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396390" y="1427849"/>
                <a:ext cx="3664978" cy="45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dirty="0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altLang="zh-CN" sz="2800" b="0" i="0" dirty="0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x</m:t>
                      </m:r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800" b="0" i="0" dirty="0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390" y="1427849"/>
                <a:ext cx="3664978" cy="4565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677234" y="1799226"/>
                <a:ext cx="2821093" cy="1671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ts val="4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dirty="0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=1     </m:t>
                      </m:r>
                    </m:oMath>
                  </m:oMathPara>
                </a14:m>
                <a:endParaRPr lang="en-US" altLang="zh-CN" sz="2800" i="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𝑎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latin typeface="+mn-ea"/>
                    <a:ea typeface="+mn-ea"/>
                  </a:rPr>
                  <a:t>=1</a:t>
                </a:r>
              </a:p>
              <a:p>
                <a:pPr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𝑎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dirty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dirty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b</m:t>
                    </m:r>
                  </m:oMath>
                </a14:m>
                <a:r>
                  <a:rPr lang="en-US" altLang="zh-CN" sz="2800" dirty="0">
                    <a:latin typeface="+mn-ea"/>
                    <a:ea typeface="+mn-ea"/>
                  </a:rPr>
                  <a:t>=1</a:t>
                </a:r>
                <a:endParaRPr lang="zh-CN" altLang="en-US" sz="2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234" y="1799226"/>
                <a:ext cx="2821093" cy="1671098"/>
              </a:xfrm>
              <a:prstGeom prst="rect">
                <a:avLst/>
              </a:prstGeom>
              <a:blipFill>
                <a:blip r:embed="rId4"/>
                <a:stretch>
                  <a:fillRect r="-3888" b="-10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829843" y="3671645"/>
                <a:ext cx="2016834" cy="578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dirty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843" y="3671645"/>
                <a:ext cx="2016834" cy="578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879289" y="4223225"/>
                <a:ext cx="5310941" cy="572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𝑎</m:t>
                    </m:r>
                    <m:sSubSup>
                      <m:sSub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𝑎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dirty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latin typeface="+mn-ea"/>
                    <a:ea typeface="+mn-ea"/>
                  </a:rPr>
                  <a:t>=0</a:t>
                </a:r>
                <a:endParaRPr lang="zh-CN" altLang="en-US" sz="2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289" y="4223225"/>
                <a:ext cx="5310941" cy="572786"/>
              </a:xfrm>
              <a:prstGeom prst="rect">
                <a:avLst/>
              </a:prstGeom>
              <a:blipFill>
                <a:blip r:embed="rId6"/>
                <a:stretch>
                  <a:fillRect t="-7447" r="-1378" b="-24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961832" y="5421387"/>
                <a:ext cx="2216697" cy="572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𝑎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+2</m:t>
                    </m:r>
                    <m:sSubSup>
                      <m:sSub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latin typeface="+mn-ea"/>
                    <a:ea typeface="+mn-ea"/>
                  </a:rPr>
                  <a:t>=0</a:t>
                </a:r>
                <a:endParaRPr lang="zh-CN" altLang="en-US" sz="2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832" y="5421387"/>
                <a:ext cx="2216697" cy="572786"/>
              </a:xfrm>
              <a:prstGeom prst="rect">
                <a:avLst/>
              </a:prstGeom>
              <a:blipFill>
                <a:blip r:embed="rId7"/>
                <a:stretch>
                  <a:fillRect t="-6383" r="-4683" b="-24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165980" y="397472"/>
                <a:ext cx="3536481" cy="461665"/>
              </a:xfrm>
              <a:prstGeom prst="rect">
                <a:avLst/>
              </a:prstGeom>
              <a:ln w="19050"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处单根，其它处两重根</a:t>
                </a: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980" y="397472"/>
                <a:ext cx="3536481" cy="461665"/>
              </a:xfrm>
              <a:prstGeom prst="rect">
                <a:avLst/>
              </a:prstGeom>
              <a:blipFill>
                <a:blip r:embed="rId8"/>
                <a:stretch>
                  <a:fillRect t="-12658" r="-1370" b="-21519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165980" y="1746696"/>
                <a:ext cx="5682548" cy="830997"/>
              </a:xfrm>
              <a:prstGeom prst="rect">
                <a:avLst/>
              </a:prstGeom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+mn-ea"/>
                    <a:ea typeface="+mn-ea"/>
                  </a:rPr>
                  <a:t>在非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处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为两重根即有</a:t>
                </a:r>
                <a:r>
                  <a:rPr lang="en-US" altLang="zh-CN" dirty="0">
                    <a:latin typeface="+mn-ea"/>
                    <a:ea typeface="+mn-ea"/>
                  </a:rPr>
                  <a:t>2n</a:t>
                </a:r>
                <a:r>
                  <a:rPr lang="zh-CN" altLang="en-US" dirty="0">
                    <a:latin typeface="+mn-ea"/>
                    <a:ea typeface="+mn-ea"/>
                  </a:rPr>
                  <a:t>根，差</a:t>
                </a: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  <a:r>
                  <a:rPr lang="zh-CN" altLang="en-US" dirty="0">
                    <a:latin typeface="+mn-ea"/>
                    <a:ea typeface="+mn-ea"/>
                  </a:rPr>
                  <a:t>根，此根不能是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所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以构造一根。</a:t>
                </a: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980" y="1746696"/>
                <a:ext cx="5682548" cy="830997"/>
              </a:xfrm>
              <a:prstGeom prst="rect">
                <a:avLst/>
              </a:prstGeom>
              <a:blipFill>
                <a:blip r:embed="rId9"/>
                <a:stretch>
                  <a:fillRect l="-1496" t="-7194" b="-12230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188765" y="1025240"/>
                <a:ext cx="2372637" cy="508857"/>
              </a:xfrm>
              <a:prstGeom prst="rect">
                <a:avLst/>
              </a:prstGeom>
              <a:ln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则</a:t>
                </a:r>
                <a:r>
                  <a:rPr lang="en-US" altLang="zh-CN" dirty="0">
                    <a:latin typeface="+mn-ea"/>
                    <a:ea typeface="+mn-ea"/>
                  </a:rPr>
                  <a:t>A=1</a:t>
                </a:r>
                <a:endParaRPr lang="zh-CN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765" y="1025240"/>
                <a:ext cx="2372637" cy="508857"/>
              </a:xfrm>
              <a:prstGeom prst="rect">
                <a:avLst/>
              </a:prstGeom>
              <a:blipFill>
                <a:blip r:embed="rId10"/>
                <a:stretch>
                  <a:fillRect t="-4651" r="-2813" b="-18605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293700" y="906066"/>
                <a:ext cx="2373535" cy="4836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x</m:t>
                      </m:r>
                      <m:r>
                        <a:rPr lang="en-US" altLang="zh-CN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700" y="906066"/>
                <a:ext cx="2373535" cy="48365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910055" y="5727361"/>
                <a:ext cx="4696863" cy="1146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𝒂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=−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𝟐</m:t>
                      </m:r>
                      <m:sSubSup>
                        <m:sSubSup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zh-CN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𝟐</m:t>
                      </m:r>
                      <m:nary>
                        <m:naryPr>
                          <m:chr m:val="∑"/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≠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b="1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55" y="5727361"/>
                <a:ext cx="4696863" cy="11462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552384" y="253895"/>
                <a:ext cx="1782924" cy="523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84" y="253895"/>
                <a:ext cx="1782924" cy="52309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9523453" y="648172"/>
                <a:ext cx="2650149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>
                    <a:solidFill>
                      <a:srgbClr val="7030A0"/>
                    </a:solidFill>
                    <a:latin typeface="+mn-ea"/>
                    <a:ea typeface="+mn-ea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1     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𝑗</m:t>
                            </m:r>
                          </m:e>
                          <m:e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0      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≠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453" y="648172"/>
                <a:ext cx="2650149" cy="9161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9336360" y="2708920"/>
                <a:ext cx="2547557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zh-CN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>
                    <a:solidFill>
                      <a:srgbClr val="7030A0"/>
                    </a:solidFill>
                    <a:latin typeface="+mn-ea"/>
                    <a:ea typeface="+mn-ea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1     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𝑗</m:t>
                            </m:r>
                          </m:e>
                          <m:e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0      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≠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360" y="2708920"/>
                <a:ext cx="2547557" cy="91614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9342311" y="3702009"/>
                <a:ext cx="1861472" cy="523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2311" y="3702009"/>
                <a:ext cx="1861472" cy="52309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9D8166B-9623-41FF-A7C2-D2B4E3A650B6}"/>
                  </a:ext>
                </a:extLst>
              </p:cNvPr>
              <p:cNvSpPr/>
              <p:nvPr/>
            </p:nvSpPr>
            <p:spPr>
              <a:xfrm>
                <a:off x="1879289" y="4837993"/>
                <a:ext cx="3957943" cy="572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𝑎</m:t>
                    </m:r>
                    <m:sSubSup>
                      <m:sSub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+2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latin typeface="+mn-ea"/>
                    <a:ea typeface="+mn-ea"/>
                  </a:rPr>
                  <a:t>=0</a:t>
                </a:r>
                <a:endParaRPr lang="zh-CN" altLang="en-US" sz="2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9D8166B-9623-41FF-A7C2-D2B4E3A65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289" y="4837993"/>
                <a:ext cx="3957943" cy="572786"/>
              </a:xfrm>
              <a:prstGeom prst="rect">
                <a:avLst/>
              </a:prstGeom>
              <a:blipFill>
                <a:blip r:embed="rId17"/>
                <a:stretch>
                  <a:fillRect t="-7447" r="-2154" b="-24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86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12" grpId="0" animBg="1"/>
      <p:bldP spid="13" grpId="0" animBg="1"/>
      <p:bldP spid="14" grpId="0" animBg="1"/>
      <p:bldP spid="15" grpId="0"/>
      <p:bldP spid="9" grpId="0"/>
      <p:bldP spid="2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63352" y="548680"/>
                <a:ext cx="11305256" cy="2063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3200" b="0" dirty="0">
                    <a:latin typeface="+mn-ea"/>
                    <a:ea typeface="+mn-ea"/>
                  </a:rPr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1−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zh-CN" sz="28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sz="28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                            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𝑎𝑥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𝑎𝑥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+1−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𝑎</m:t>
                    </m:r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+mn-ea"/>
                    <a:ea typeface="+mn-ea"/>
                  </a:rPr>
                  <a:t> </a:t>
                </a:r>
              </a:p>
              <a:p>
                <a:r>
                  <a:rPr lang="en-US" altLang="zh-CN" sz="2800" dirty="0">
                    <a:latin typeface="+mn-ea"/>
                    <a:ea typeface="+mn-ea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  <a:ea typeface="+mn-ea"/>
                      </a:rPr>
                      <m:t>1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  <a:ea typeface="+mn-ea"/>
                      </a:rPr>
                      <m:t>𝑎</m:t>
                    </m:r>
                  </m:oMath>
                </a14:m>
                <a:r>
                  <a:rPr lang="en-US" altLang="zh-CN" sz="2800" dirty="0">
                    <a:latin typeface="+mn-ea"/>
                    <a:ea typeface="+mn-ea"/>
                  </a:rPr>
                  <a:t>(x-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+mn-ea"/>
                    <a:ea typeface="+mn-ea"/>
                  </a:rPr>
                  <a:t>)</a:t>
                </a:r>
              </a:p>
              <a:p>
                <a:r>
                  <a:rPr lang="en-US" altLang="zh-CN" sz="2800" dirty="0">
                    <a:latin typeface="+mn-ea"/>
                    <a:ea typeface="+mn-ea"/>
                  </a:rPr>
                  <a:t>                   = 1-2 (x-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+mn-ea"/>
                    <a:ea typeface="+mn-ea"/>
                  </a:rPr>
                  <a:t>)</a:t>
                </a:r>
                <a:r>
                  <a:rPr lang="en-US" altLang="zh-CN" sz="2800" dirty="0"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=0,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≠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b="1" i="1" dirty="0"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 dirty="0"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zh-CN" altLang="en-US" sz="32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548680"/>
                <a:ext cx="11305256" cy="20630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523461" y="4299853"/>
                <a:ext cx="5789405" cy="1664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CN" dirty="0">
                                  <a:solidFill>
                                    <a:srgbClr val="FF0000"/>
                                  </a:solidFill>
                                </a:rPr>
                                <m:t>1−2 (</m:t>
                              </m:r>
                              <m:r>
                                <m:rPr>
                                  <m:nor/>
                                </m:rPr>
                                <a:rPr lang="en-US" altLang="zh-CN" dirty="0">
                                  <a:solidFill>
                                    <a:srgbClr val="FF0000"/>
                                  </a:solidFill>
                                </a:rPr>
                                <m:t>x</m:t>
                              </m:r>
                              <m: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dirty="0">
                                  <a:solidFill>
                                    <a:srgbClr val="FF0000"/>
                                  </a:solidFill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dirty="0">
                                  <a:solidFill>
                                    <a:srgbClr val="FF0000"/>
                                  </a:solidFill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=0,</m:t>
                                  </m:r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≠</m:t>
                                  </m:r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altLang="zh-CN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𝒋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  <m:r>
                                <a:rPr lang="en-US" altLang="zh-CN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  <m:sSubSup>
                                <m:sSubSupPr>
                                  <m:ctrlP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a:rPr lang="en-US" altLang="zh-CN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zh-CN" altLang="en-US" dirty="0">
                                  <a:solidFill>
                                    <a:srgbClr val="FF0000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461" y="4299853"/>
                <a:ext cx="5789405" cy="16648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631504" y="3178426"/>
                <a:ext cx="5239318" cy="11008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zh-CN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3178426"/>
                <a:ext cx="5239318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8112224" y="378904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仅与节点有关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464152" y="5073883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思考：可否仿牛顿插值法构成？</a:t>
            </a:r>
          </a:p>
        </p:txBody>
      </p:sp>
    </p:spTree>
    <p:extLst>
      <p:ext uri="{BB962C8B-B14F-4D97-AF65-F5344CB8AC3E}">
        <p14:creationId xmlns:p14="http://schemas.microsoft.com/office/powerpoint/2010/main" val="14438803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03512" y="692696"/>
            <a:ext cx="3934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/>
              <a:t>插值余项（方法误差）：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215680" y="1484784"/>
                <a:ext cx="41889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484784"/>
                <a:ext cx="4188967" cy="369332"/>
              </a:xfrm>
              <a:prstGeom prst="rect">
                <a:avLst/>
              </a:prstGeom>
              <a:blipFill>
                <a:blip r:embed="rId2"/>
                <a:stretch>
                  <a:fillRect l="-2183" t="-8333" r="-2038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408021" y="2218839"/>
                <a:ext cx="22602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021" y="2218839"/>
                <a:ext cx="2260299" cy="369332"/>
              </a:xfrm>
              <a:prstGeom prst="rect">
                <a:avLst/>
              </a:prstGeom>
              <a:blipFill>
                <a:blip r:embed="rId3"/>
                <a:stretch>
                  <a:fillRect l="-3774" t="-3279" r="-269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408020" y="2931443"/>
                <a:ext cx="23404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020" y="2931443"/>
                <a:ext cx="2340449" cy="369332"/>
              </a:xfrm>
              <a:prstGeom prst="rect">
                <a:avLst/>
              </a:prstGeom>
              <a:blipFill>
                <a:blip r:embed="rId4"/>
                <a:stretch>
                  <a:fillRect l="-3385" t="-3333" r="-2604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399274" y="3668889"/>
                <a:ext cx="4379019" cy="375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则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274" y="3668889"/>
                <a:ext cx="4379019" cy="375552"/>
              </a:xfrm>
              <a:prstGeom prst="rect">
                <a:avLst/>
              </a:prstGeom>
              <a:blipFill>
                <a:blip r:embed="rId5"/>
                <a:stretch>
                  <a:fillRect l="-1950" t="-6557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5588783" y="675506"/>
            <a:ext cx="3499676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方法与</a:t>
            </a:r>
            <a:r>
              <a:rPr lang="en-US" altLang="zh-CN" dirty="0"/>
              <a:t>Lagrange</a:t>
            </a:r>
            <a:r>
              <a:rPr lang="zh-CN" altLang="en-US" dirty="0"/>
              <a:t>方法相同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1F33272-D5A1-4C72-B6F9-F3BF65D12EEA}"/>
                  </a:ext>
                </a:extLst>
              </p:cNvPr>
              <p:cNvSpPr txBox="1"/>
              <p:nvPr/>
            </p:nvSpPr>
            <p:spPr>
              <a:xfrm>
                <a:off x="3169948" y="4061631"/>
                <a:ext cx="7985584" cy="1604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故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8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ctrlP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sz="28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sSub>
                      <m:sSub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zh-CN" alt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</m:sub>
                    </m:sSub>
                  </m:oMath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其</m:t>
                    </m:r>
                  </m:oMath>
                </a14:m>
                <a:r>
                  <a:rPr lang="zh-CN" altLang="en-US" dirty="0"/>
                  <a:t>中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且</m:t>
                    </m:r>
                  </m:oMath>
                </a14:m>
                <a:r>
                  <a:rPr lang="zh-CN" altLang="en-US" dirty="0"/>
                  <a:t>与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有关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1F33272-D5A1-4C72-B6F9-F3BF65D12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948" y="4061631"/>
                <a:ext cx="7985584" cy="1604991"/>
              </a:xfrm>
              <a:prstGeom prst="rect">
                <a:avLst/>
              </a:prstGeom>
              <a:blipFill>
                <a:blip r:embed="rId6"/>
                <a:stretch>
                  <a:fillRect l="-1756" b="-10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75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1127448" y="1899859"/>
            <a:ext cx="9217521" cy="676725"/>
            <a:chOff x="-612506" y="2780929"/>
            <a:chExt cx="9216776" cy="676661"/>
          </a:xfrm>
        </p:grpSpPr>
        <p:graphicFrame>
          <p:nvGraphicFramePr>
            <p:cNvPr id="3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8626155"/>
                </p:ext>
              </p:extLst>
            </p:nvPr>
          </p:nvGraphicFramePr>
          <p:xfrm>
            <a:off x="-612506" y="2780929"/>
            <a:ext cx="8209887" cy="495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3" name="Equation" r:id="rId3" imgW="65827275" imgH="3952875" progId="Equation.DSMT4">
                    <p:embed/>
                  </p:oleObj>
                </mc:Choice>
                <mc:Fallback>
                  <p:oleObj name="Equation" r:id="rId3" imgW="65827275" imgH="3952875" progId="Equation.DSMT4">
                    <p:embed/>
                    <p:pic>
                      <p:nvPicPr>
                        <p:cNvPr id="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612506" y="2780929"/>
                          <a:ext cx="8209887" cy="495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3"/>
            <p:cNvSpPr txBox="1">
              <a:spLocks noChangeArrowheads="1"/>
            </p:cNvSpPr>
            <p:nvPr/>
          </p:nvSpPr>
          <p:spPr bwMode="auto">
            <a:xfrm>
              <a:off x="251520" y="2780929"/>
              <a:ext cx="8352750" cy="676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endParaRPr lang="zh-CN" altLang="en-US" sz="2400" dirty="0"/>
            </a:p>
          </p:txBody>
        </p:sp>
      </p:grp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97334" y="2393075"/>
            <a:ext cx="8353425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          </a:t>
            </a:r>
            <a:r>
              <a:rPr lang="zh-CN" altLang="en-US" sz="2400" dirty="0"/>
              <a:t>这样，就把</a:t>
            </a:r>
            <a:r>
              <a:rPr lang="en-US" altLang="zh-CN" sz="2400" i="1" dirty="0"/>
              <a:t>H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r>
              <a:rPr lang="zh-CN" altLang="en-US" sz="2400" dirty="0"/>
              <a:t>的构造问题转化为四个插值基函数</a:t>
            </a:r>
            <a:r>
              <a:rPr lang="en-US" altLang="zh-CN" sz="2400" i="1" dirty="0" err="1"/>
              <a:t>h</a:t>
            </a:r>
            <a:r>
              <a:rPr lang="en-US" altLang="zh-CN" sz="2400" i="1" baseline="-30000" dirty="0" err="1"/>
              <a:t>k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(</a:t>
            </a:r>
            <a:r>
              <a:rPr lang="en-US" altLang="zh-CN" sz="2400" i="1" dirty="0"/>
              <a:t>k</a:t>
            </a:r>
            <a:r>
              <a:rPr lang="en-US" altLang="zh-CN" sz="2400" dirty="0"/>
              <a:t>=1,2,3,4) </a:t>
            </a:r>
            <a:r>
              <a:rPr lang="zh-CN" altLang="en-US" sz="2400" dirty="0"/>
              <a:t>的构造问题。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97334" y="980860"/>
            <a:ext cx="10415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我们取</a:t>
            </a:r>
            <a:r>
              <a:rPr lang="en-US" altLang="zh-CN" dirty="0"/>
              <a:t>n=1,</a:t>
            </a:r>
            <a:r>
              <a:rPr lang="zh-CN" altLang="en-US" dirty="0"/>
              <a:t>考虑任意子区间［</a:t>
            </a:r>
            <a:r>
              <a:rPr lang="en-US" altLang="zh-CN" i="1" dirty="0">
                <a:cs typeface="Times New Roman" panose="02020603050405020304" pitchFamily="18" charset="0"/>
              </a:rPr>
              <a:t>x</a:t>
            </a:r>
            <a:r>
              <a:rPr lang="en-US" altLang="zh-CN" i="1" baseline="-30000" dirty="0"/>
              <a:t>i</a:t>
            </a:r>
            <a:r>
              <a:rPr lang="en-US" altLang="zh-CN" dirty="0">
                <a:cs typeface="Times New Roman" panose="02020603050405020304" pitchFamily="18" charset="0"/>
              </a:rPr>
              <a:t>,</a:t>
            </a:r>
            <a:r>
              <a:rPr lang="en-US" altLang="zh-CN" baseline="-25000" dirty="0"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cs typeface="Times New Roman" panose="02020603050405020304" pitchFamily="18" charset="0"/>
              </a:rPr>
              <a:t>x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+1</a:t>
            </a:r>
            <a:r>
              <a:rPr lang="en-US" altLang="zh-CN" dirty="0"/>
              <a:t>］</a:t>
            </a:r>
            <a:r>
              <a:rPr lang="en-US" altLang="zh-CN" dirty="0">
                <a:cs typeface="Times New Roman" panose="02020603050405020304" pitchFamily="18" charset="0"/>
              </a:rPr>
              <a:t>, </a:t>
            </a:r>
            <a:r>
              <a:rPr lang="en-US" altLang="zh-CN" i="1" dirty="0" err="1">
                <a:cs typeface="Times New Roman" panose="02020603050405020304" pitchFamily="18" charset="0"/>
              </a:rPr>
              <a:t>i</a:t>
            </a:r>
            <a:r>
              <a:rPr lang="en-US" altLang="zh-CN" dirty="0"/>
              <a:t>∈</a:t>
            </a:r>
            <a:r>
              <a:rPr lang="en-US" altLang="zh-CN" dirty="0">
                <a:cs typeface="Times New Roman" panose="02020603050405020304" pitchFamily="18" charset="0"/>
              </a:rPr>
              <a:t>(0,1,</a:t>
            </a:r>
            <a:r>
              <a:rPr lang="en-US" altLang="zh-CN" dirty="0"/>
              <a:t>…</a:t>
            </a:r>
            <a:r>
              <a:rPr lang="en-US" altLang="zh-CN" dirty="0"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cs typeface="Times New Roman" panose="02020603050405020304" pitchFamily="18" charset="0"/>
              </a:rPr>
              <a:t>n</a:t>
            </a:r>
            <a:r>
              <a:rPr lang="en-US" altLang="zh-CN" dirty="0">
                <a:cs typeface="Times New Roman" panose="02020603050405020304" pitchFamily="18" charset="0"/>
              </a:rPr>
              <a:t>-1), </a:t>
            </a:r>
            <a:r>
              <a:rPr lang="zh-CN" altLang="en-US" dirty="0"/>
              <a:t>在第</a:t>
            </a:r>
            <a:r>
              <a:rPr lang="zh-CN" altLang="en-US" sz="1000" dirty="0"/>
              <a:t> </a:t>
            </a:r>
            <a:r>
              <a:rPr lang="en-US" altLang="zh-CN" i="1" dirty="0" err="1">
                <a:cs typeface="Times New Roman" panose="02020603050405020304" pitchFamily="18" charset="0"/>
              </a:rPr>
              <a:t>i</a:t>
            </a:r>
            <a:r>
              <a:rPr lang="en-US" altLang="zh-CN" sz="1000" i="1" dirty="0">
                <a:cs typeface="Times New Roman" panose="02020603050405020304" pitchFamily="18" charset="0"/>
              </a:rPr>
              <a:t> </a:t>
            </a:r>
            <a:r>
              <a:rPr lang="zh-CN" altLang="en-US" dirty="0"/>
              <a:t>个子区间上，得到三次</a:t>
            </a:r>
            <a:r>
              <a:rPr lang="en-US" altLang="zh-CN" dirty="0"/>
              <a:t>Hermit</a:t>
            </a:r>
            <a:r>
              <a:rPr lang="zh-CN" altLang="en-US" dirty="0"/>
              <a:t>插值多项式。</a:t>
            </a: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55983"/>
              </p:ext>
            </p:extLst>
          </p:nvPr>
        </p:nvGraphicFramePr>
        <p:xfrm>
          <a:off x="1526786" y="5112990"/>
          <a:ext cx="5036891" cy="119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4" name="Equation" r:id="rId5" imgW="37080825" imgH="8772525" progId="Equation.DSMT4">
                  <p:embed/>
                </p:oleObj>
              </mc:Choice>
              <mc:Fallback>
                <p:oleObj name="Equation" r:id="rId5" imgW="37080825" imgH="8772525" progId="Equation.DSMT4">
                  <p:embed/>
                  <p:pic>
                    <p:nvPicPr>
                      <p:cNvPr id="481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786" y="5112990"/>
                        <a:ext cx="5036891" cy="119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565494"/>
              </p:ext>
            </p:extLst>
          </p:nvPr>
        </p:nvGraphicFramePr>
        <p:xfrm>
          <a:off x="1526786" y="3618354"/>
          <a:ext cx="5292422" cy="1266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5" name="Equation" r:id="rId7" imgW="36861750" imgH="8772525" progId="Equation.DSMT4">
                  <p:embed/>
                </p:oleObj>
              </mc:Choice>
              <mc:Fallback>
                <p:oleObj name="Equation" r:id="rId7" imgW="36861750" imgH="8772525" progId="Equation.DSMT4">
                  <p:embed/>
                  <p:pic>
                    <p:nvPicPr>
                      <p:cNvPr id="4813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786" y="3618354"/>
                        <a:ext cx="5292422" cy="1266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615879"/>
              </p:ext>
            </p:extLst>
          </p:nvPr>
        </p:nvGraphicFramePr>
        <p:xfrm>
          <a:off x="7520703" y="5230376"/>
          <a:ext cx="4199170" cy="121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6" name="Equation" r:id="rId9" imgW="30499050" imgH="8772525" progId="Equation.DSMT4">
                  <p:embed/>
                </p:oleObj>
              </mc:Choice>
              <mc:Fallback>
                <p:oleObj name="Equation" r:id="rId9" imgW="30499050" imgH="8772525" progId="Equation.DSMT4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0703" y="5230376"/>
                        <a:ext cx="4199170" cy="1216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65300"/>
              </p:ext>
            </p:extLst>
          </p:nvPr>
        </p:nvGraphicFramePr>
        <p:xfrm>
          <a:off x="7656550" y="3583585"/>
          <a:ext cx="39274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7" name="Equation" r:id="rId11" imgW="28527375" imgH="8772525" progId="Equation.DSMT4">
                  <p:embed/>
                </p:oleObj>
              </mc:Choice>
              <mc:Fallback>
                <p:oleObj name="Equation" r:id="rId11" imgW="28527375" imgH="8772525" progId="Equation.DSMT4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6550" y="3583585"/>
                        <a:ext cx="3927475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582836" y="41872"/>
                <a:ext cx="4402487" cy="931217"/>
              </a:xfrm>
              <a:prstGeom prst="rect">
                <a:avLst/>
              </a:prstGeom>
              <a:ln w="12700"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zh-CN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2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altLang="zh-CN" sz="2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836" y="41872"/>
                <a:ext cx="4402487" cy="93121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32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1487488" y="397363"/>
            <a:ext cx="8352928" cy="1428750"/>
            <a:chOff x="581025" y="4187825"/>
            <a:chExt cx="8352928" cy="1428750"/>
          </a:xfrm>
        </p:grpSpPr>
        <p:sp>
          <p:nvSpPr>
            <p:cNvPr id="51209" name="Rectangle 3"/>
            <p:cNvSpPr txBox="1">
              <a:spLocks noChangeArrowheads="1"/>
            </p:cNvSpPr>
            <p:nvPr/>
          </p:nvSpPr>
          <p:spPr bwMode="auto">
            <a:xfrm>
              <a:off x="581025" y="4187825"/>
              <a:ext cx="8352928" cy="142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buFontTx/>
                <a:buNone/>
              </a:pPr>
              <a:r>
                <a:rPr lang="zh-CN" altLang="en-US" dirty="0">
                  <a:solidFill>
                    <a:srgbClr val="CC0000"/>
                  </a:solidFill>
                  <a:cs typeface="Times New Roman" panose="02020603050405020304" pitchFamily="18" charset="0"/>
                </a:rPr>
                <a:t>    </a:t>
              </a:r>
              <a:r>
                <a:rPr lang="zh-CN" altLang="en-US" sz="2400" dirty="0">
                  <a:solidFill>
                    <a:srgbClr val="CC0000"/>
                  </a:solidFill>
                </a:rPr>
                <a:t>定理</a:t>
              </a:r>
              <a:r>
                <a:rPr lang="en-US" altLang="zh-CN" sz="2400" dirty="0">
                  <a:solidFill>
                    <a:srgbClr val="CC0000"/>
                  </a:solidFill>
                  <a:cs typeface="Times New Roman" panose="02020603050405020304" pitchFamily="18" charset="0"/>
                </a:rPr>
                <a:t>3</a:t>
              </a:r>
              <a:r>
                <a:rPr lang="zh-CN" altLang="en-US" sz="2400" dirty="0">
                  <a:solidFill>
                    <a:srgbClr val="CC0000"/>
                  </a:solidFill>
                  <a:cs typeface="Times New Roman" panose="02020603050405020304" pitchFamily="18" charset="0"/>
                </a:rPr>
                <a:t>  </a:t>
              </a:r>
              <a:r>
                <a:rPr lang="zh-CN" altLang="en-US" sz="2400" dirty="0"/>
                <a:t>若                                            是三次埃尔米特插值函数，则其插值余项为</a:t>
              </a:r>
            </a:p>
          </p:txBody>
        </p:sp>
        <p:graphicFrame>
          <p:nvGraphicFramePr>
            <p:cNvPr id="51211" name="Object 5"/>
            <p:cNvGraphicFramePr>
              <a:graphicFrameLocks noChangeAspect="1"/>
            </p:cNvGraphicFramePr>
            <p:nvPr/>
          </p:nvGraphicFramePr>
          <p:xfrm>
            <a:off x="2357438" y="4406900"/>
            <a:ext cx="3322637" cy="509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44" name="Equation" r:id="rId3" imgW="26993850" imgH="4171950" progId="Equation.DSMT4">
                    <p:embed/>
                  </p:oleObj>
                </mc:Choice>
                <mc:Fallback>
                  <p:oleObj name="Equation" r:id="rId3" imgW="26993850" imgH="417195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7438" y="4406900"/>
                          <a:ext cx="3322637" cy="509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784233" y="2348880"/>
                <a:ext cx="8023594" cy="859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33" y="2348880"/>
                <a:ext cx="8023594" cy="8599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89"/>
          <p:cNvSpPr>
            <a:spLocks noChangeArrowheads="1"/>
          </p:cNvSpPr>
          <p:nvPr/>
        </p:nvSpPr>
        <p:spPr bwMode="auto">
          <a:xfrm>
            <a:off x="381000" y="304800"/>
            <a:ext cx="10467528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ru-RU" dirty="0">
                <a:solidFill>
                  <a:schemeClr val="accent2"/>
                </a:solidFill>
                <a:latin typeface="+mn-ea"/>
                <a:ea typeface="+mn-ea"/>
              </a:rPr>
              <a:t>例</a:t>
            </a:r>
            <a:r>
              <a:rPr kumimoji="1" lang="ru-RU" altLang="zh-CN" dirty="0">
                <a:solidFill>
                  <a:schemeClr val="accent2"/>
                </a:solidFill>
                <a:latin typeface="+mn-ea"/>
                <a:ea typeface="+mn-ea"/>
              </a:rPr>
              <a:t>2</a:t>
            </a:r>
            <a:r>
              <a:rPr kumimoji="1" lang="ru-RU" altLang="zh-CN" dirty="0">
                <a:latin typeface="+mn-ea"/>
                <a:ea typeface="+mn-ea"/>
              </a:rPr>
              <a:t>   </a:t>
            </a:r>
            <a:r>
              <a:rPr kumimoji="1" lang="zh-CN" altLang="ru-RU" dirty="0">
                <a:latin typeface="+mn-ea"/>
                <a:ea typeface="+mn-ea"/>
              </a:rPr>
              <a:t>已知</a:t>
            </a:r>
            <a:r>
              <a:rPr kumimoji="1" lang="ru-RU" altLang="zh-CN" i="1" dirty="0">
                <a:latin typeface="+mn-ea"/>
                <a:ea typeface="+mn-ea"/>
              </a:rPr>
              <a:t>f</a:t>
            </a:r>
            <a:r>
              <a:rPr kumimoji="1" lang="ru-RU" altLang="zh-CN" dirty="0">
                <a:latin typeface="+mn-ea"/>
                <a:ea typeface="+mn-ea"/>
              </a:rPr>
              <a:t>(</a:t>
            </a:r>
            <a:r>
              <a:rPr kumimoji="1" lang="ru-RU" altLang="zh-CN" i="1" dirty="0">
                <a:latin typeface="+mn-ea"/>
                <a:ea typeface="+mn-ea"/>
              </a:rPr>
              <a:t>x</a:t>
            </a:r>
            <a:r>
              <a:rPr kumimoji="1" lang="ru-RU" altLang="zh-CN" dirty="0">
                <a:latin typeface="+mn-ea"/>
                <a:ea typeface="+mn-ea"/>
              </a:rPr>
              <a:t>)=</a:t>
            </a:r>
            <a:r>
              <a:rPr kumimoji="1" lang="ru-RU" altLang="zh-CN" i="1" dirty="0">
                <a:latin typeface="+mn-ea"/>
                <a:ea typeface="+mn-ea"/>
              </a:rPr>
              <a:t>x</a:t>
            </a:r>
            <a:r>
              <a:rPr kumimoji="1" lang="ru-RU" altLang="zh-CN" baseline="30000" dirty="0">
                <a:latin typeface="+mn-ea"/>
                <a:ea typeface="+mn-ea"/>
              </a:rPr>
              <a:t>1/2</a:t>
            </a:r>
            <a:r>
              <a:rPr kumimoji="1" lang="zh-CN" altLang="ru-RU" dirty="0">
                <a:latin typeface="+mn-ea"/>
                <a:ea typeface="+mn-ea"/>
              </a:rPr>
              <a:t>及其一阶导数的数据见下表</a:t>
            </a:r>
            <a:r>
              <a:rPr kumimoji="1" lang="ru-RU" altLang="zh-CN" dirty="0">
                <a:latin typeface="+mn-ea"/>
                <a:ea typeface="+mn-ea"/>
              </a:rPr>
              <a:t>,</a:t>
            </a:r>
            <a:r>
              <a:rPr kumimoji="1" lang="zh-CN" altLang="ru-RU" dirty="0">
                <a:latin typeface="+mn-ea"/>
                <a:ea typeface="+mn-ea"/>
              </a:rPr>
              <a:t>用埃尔米特插值公式计算</a:t>
            </a:r>
            <a:r>
              <a:rPr kumimoji="1" lang="ru-RU" altLang="zh-CN" dirty="0">
                <a:latin typeface="+mn-ea"/>
                <a:ea typeface="+mn-ea"/>
              </a:rPr>
              <a:t>125</a:t>
            </a:r>
            <a:r>
              <a:rPr kumimoji="1" lang="ru-RU" altLang="zh-CN" baseline="30000" dirty="0">
                <a:latin typeface="+mn-ea"/>
                <a:ea typeface="+mn-ea"/>
              </a:rPr>
              <a:t>1/2</a:t>
            </a:r>
            <a:r>
              <a:rPr kumimoji="1" lang="zh-CN" altLang="ru-RU" dirty="0">
                <a:latin typeface="+mn-ea"/>
                <a:ea typeface="+mn-ea"/>
              </a:rPr>
              <a:t>的近似值</a:t>
            </a:r>
            <a:r>
              <a:rPr kumimoji="1" lang="ru-RU" altLang="zh-CN" dirty="0">
                <a:latin typeface="+mn-ea"/>
                <a:ea typeface="+mn-ea"/>
              </a:rPr>
              <a:t>,</a:t>
            </a:r>
            <a:r>
              <a:rPr kumimoji="1" lang="zh-CN" altLang="ru-RU" dirty="0">
                <a:latin typeface="+mn-ea"/>
                <a:ea typeface="+mn-ea"/>
              </a:rPr>
              <a:t>并估计其截断误差</a:t>
            </a:r>
            <a:r>
              <a:rPr kumimoji="1" lang="ru-RU" altLang="zh-CN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3" name="Group 7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974159"/>
              </p:ext>
            </p:extLst>
          </p:nvPr>
        </p:nvGraphicFramePr>
        <p:xfrm>
          <a:off x="381000" y="1498761"/>
          <a:ext cx="3271103" cy="1676401"/>
        </p:xfrm>
        <a:graphic>
          <a:graphicData uri="http://schemas.openxmlformats.org/drawingml/2006/table">
            <a:tbl>
              <a:tblPr/>
              <a:tblGrid>
                <a:gridCol w="1041691">
                  <a:extLst>
                    <a:ext uri="{9D8B030D-6E8A-4147-A177-3AD203B41FA5}">
                      <a16:colId xmlns:a16="http://schemas.microsoft.com/office/drawing/2014/main" val="3089380293"/>
                    </a:ext>
                  </a:extLst>
                </a:gridCol>
                <a:gridCol w="1107891">
                  <a:extLst>
                    <a:ext uri="{9D8B030D-6E8A-4147-A177-3AD203B41FA5}">
                      <a16:colId xmlns:a16="http://schemas.microsoft.com/office/drawing/2014/main" val="705478090"/>
                    </a:ext>
                  </a:extLst>
                </a:gridCol>
                <a:gridCol w="1121521">
                  <a:extLst>
                    <a:ext uri="{9D8B030D-6E8A-4147-A177-3AD203B41FA5}">
                      <a16:colId xmlns:a16="http://schemas.microsoft.com/office/drawing/2014/main" val="2521489605"/>
                    </a:ext>
                  </a:extLst>
                </a:gridCol>
              </a:tblGrid>
              <a:tr h="59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403080"/>
                  </a:ext>
                </a:extLst>
              </a:tr>
              <a:tr h="525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f</a:t>
                      </a: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28296"/>
                  </a:ext>
                </a:extLst>
              </a:tr>
              <a:tr h="558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f </a:t>
                      </a:r>
                      <a:r>
                        <a:rPr kumimoji="1" lang="ru-RU" altLang="zh-CN" sz="28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'</a:t>
                      </a: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1/22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1/24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456280"/>
                  </a:ext>
                </a:extLst>
              </a:tr>
            </a:tbl>
          </a:graphicData>
        </a:graphic>
      </p:graphicFrame>
      <p:sp>
        <p:nvSpPr>
          <p:cNvPr id="4" name="Rectangle 808"/>
          <p:cNvSpPr>
            <a:spLocks noChangeArrowheads="1"/>
          </p:cNvSpPr>
          <p:nvPr/>
        </p:nvSpPr>
        <p:spPr bwMode="auto">
          <a:xfrm>
            <a:off x="3629897" y="1252687"/>
            <a:ext cx="6659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ru-RU" dirty="0">
                <a:latin typeface="+mn-ea"/>
                <a:ea typeface="+mn-ea"/>
              </a:rPr>
              <a:t>解</a:t>
            </a:r>
            <a:r>
              <a:rPr kumimoji="1" lang="en-US" altLang="zh-CN" dirty="0">
                <a:latin typeface="+mn-ea"/>
                <a:ea typeface="+mn-ea"/>
              </a:rPr>
              <a:t>:</a:t>
            </a:r>
            <a:endParaRPr kumimoji="1" lang="zh-CN" altLang="ru-RU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09"/>
              <p:cNvSpPr txBox="1"/>
              <p:nvPr/>
            </p:nvSpPr>
            <p:spPr bwMode="auto">
              <a:xfrm>
                <a:off x="3000375" y="1490663"/>
                <a:ext cx="8029575" cy="105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)=11×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−121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144−121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−144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121−144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Object 8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0375" y="1490663"/>
                <a:ext cx="8029575" cy="1052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10"/>
              <p:cNvSpPr txBox="1"/>
              <p:nvPr/>
            </p:nvSpPr>
            <p:spPr bwMode="auto">
              <a:xfrm>
                <a:off x="4213225" y="2608263"/>
                <a:ext cx="6635750" cy="104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+12×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−144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121−144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−121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144−121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Object 8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3225" y="2608263"/>
                <a:ext cx="6635750" cy="10493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295800" y="3756994"/>
                <a:ext cx="4982518" cy="1053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−121</m:t>
                          </m:r>
                        </m:e>
                      </m:d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−144</m:t>
                                  </m:r>
                                </m:num>
                                <m:den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121−144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baseline="300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00" y="3756994"/>
                <a:ext cx="4982518" cy="10532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295800" y="5013176"/>
                <a:ext cx="4982518" cy="1053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−144</m:t>
                          </m:r>
                        </m:e>
                      </m:d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−121</m:t>
                                  </m:r>
                                </m:num>
                                <m:den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44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baseline="300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00" y="5013176"/>
                <a:ext cx="4982518" cy="1053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37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9" grpId="0"/>
      <p:bldP spid="1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15"/>
          <p:cNvSpPr>
            <a:spLocks noChangeArrowheads="1"/>
          </p:cNvSpPr>
          <p:nvPr/>
        </p:nvSpPr>
        <p:spPr bwMode="auto">
          <a:xfrm>
            <a:off x="1832238" y="2156844"/>
            <a:ext cx="3935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ru-RU" dirty="0">
                <a:ea typeface="楷体_GB2312" pitchFamily="49" charset="-122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816"/>
              <p:cNvSpPr txBox="1"/>
              <p:nvPr/>
            </p:nvSpPr>
            <p:spPr bwMode="auto">
              <a:xfrm>
                <a:off x="2567608" y="2145926"/>
                <a:ext cx="4102100" cy="5207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125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(125)=11.18035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Object 8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7608" y="2145926"/>
                <a:ext cx="4102100" cy="5207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EDBE96A7-5247-45E2-8183-3BD686DD4F88}"/>
              </a:ext>
            </a:extLst>
          </p:cNvPr>
          <p:cNvGrpSpPr/>
          <p:nvPr/>
        </p:nvGrpSpPr>
        <p:grpSpPr>
          <a:xfrm>
            <a:off x="1616646" y="3853154"/>
            <a:ext cx="3831654" cy="838200"/>
            <a:chOff x="1616646" y="3853154"/>
            <a:chExt cx="3831654" cy="838200"/>
          </a:xfrm>
        </p:grpSpPr>
        <p:sp>
          <p:nvSpPr>
            <p:cNvPr id="4" name="Rectangle 817"/>
            <p:cNvSpPr>
              <a:spLocks noChangeArrowheads="1"/>
            </p:cNvSpPr>
            <p:nvPr/>
          </p:nvSpPr>
          <p:spPr bwMode="auto">
            <a:xfrm>
              <a:off x="1616646" y="4043660"/>
              <a:ext cx="7620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ru-RU" dirty="0">
                  <a:ea typeface="楷体_GB2312" pitchFamily="49" charset="-122"/>
                </a:rPr>
                <a:t>由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818"/>
                <p:cNvSpPr txBox="1"/>
                <p:nvPr/>
              </p:nvSpPr>
              <p:spPr bwMode="auto">
                <a:xfrm>
                  <a:off x="2225814" y="3853154"/>
                  <a:ext cx="3222486" cy="83820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(4)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7/2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Object 8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25814" y="3853154"/>
                  <a:ext cx="3222486" cy="8382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A51FFF5-9ABB-43BA-AC51-EFE878EEFD40}"/>
              </a:ext>
            </a:extLst>
          </p:cNvPr>
          <p:cNvGrpSpPr/>
          <p:nvPr/>
        </p:nvGrpSpPr>
        <p:grpSpPr>
          <a:xfrm>
            <a:off x="1578113" y="4914559"/>
            <a:ext cx="10062502" cy="2009775"/>
            <a:chOff x="1578114" y="4914559"/>
            <a:chExt cx="7923046" cy="2009775"/>
          </a:xfrm>
        </p:grpSpPr>
        <p:sp>
          <p:nvSpPr>
            <p:cNvPr id="6" name="Rectangle 819"/>
            <p:cNvSpPr>
              <a:spLocks noChangeArrowheads="1"/>
            </p:cNvSpPr>
            <p:nvPr/>
          </p:nvSpPr>
          <p:spPr bwMode="auto">
            <a:xfrm>
              <a:off x="1578114" y="5025464"/>
              <a:ext cx="12954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ru-RU" dirty="0">
                  <a:ea typeface="楷体_GB2312" pitchFamily="49" charset="-122"/>
                </a:rPr>
                <a:t>可求得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820"/>
                <p:cNvSpPr txBox="1"/>
                <p:nvPr/>
              </p:nvSpPr>
              <p:spPr bwMode="auto">
                <a:xfrm>
                  <a:off x="1933155" y="4914559"/>
                  <a:ext cx="7568005" cy="2009775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(125)</m:t>
                            </m:r>
                          </m:e>
                        </m:d>
                        <m:r>
                          <m:rPr>
                            <m:aln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384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121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121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⋅1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  <m:oMath xmlns:m="http://schemas.openxmlformats.org/officeDocument/2006/math">
                        <m:r>
                          <m:rPr>
                            <m:aln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384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⋅11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≈0.000012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=0.12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Object 8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33155" y="4914559"/>
                  <a:ext cx="7568005" cy="2009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21"/>
              <p:cNvSpPr txBox="1"/>
              <p:nvPr/>
            </p:nvSpPr>
            <p:spPr bwMode="auto">
              <a:xfrm>
                <a:off x="1558924" y="476250"/>
                <a:ext cx="9577635" cy="143528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−219</m:t>
                          </m:r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−144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265−2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−121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    +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22⋅2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−121</m:t>
                          </m:r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−144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24⋅2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−144</m:t>
                          </m:r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−121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Object 8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8924" y="476250"/>
                <a:ext cx="9577635" cy="14352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9026" y="2794719"/>
            <a:ext cx="5112864" cy="970245"/>
          </a:xfrm>
          <a:prstGeom prst="rect">
            <a:avLst/>
          </a:prstGeom>
          <a:ln w="22225">
            <a:solidFill>
              <a:srgbClr val="7030A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E8680AD-3002-45F2-ACBB-097215992E60}"/>
                  </a:ext>
                </a:extLst>
              </p:cNvPr>
              <p:cNvSpPr txBox="1"/>
              <p:nvPr/>
            </p:nvSpPr>
            <p:spPr>
              <a:xfrm>
                <a:off x="5925593" y="3853154"/>
                <a:ext cx="4523098" cy="973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故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：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121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7/2</m:t>
                                  </m:r>
                                </m:sup>
                              </m:sSup>
                            </m:e>
                            <m:sup/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E8680AD-3002-45F2-ACBB-097215992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593" y="3853154"/>
                <a:ext cx="4523098" cy="9732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63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 txBox="1">
            <a:spLocks noGrp="1"/>
          </p:cNvSpPr>
          <p:nvPr/>
        </p:nvSpPr>
        <p:spPr bwMode="auto">
          <a:xfrm>
            <a:off x="10271449" y="6465095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606C318-7236-4791-B627-A45081A33D8E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69</a:t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858986" y="259223"/>
            <a:ext cx="8610600" cy="6400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（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）用推广的牛顿插值法确定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Hermite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插值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掌握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</a:endParaRPr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pPr eaLnBrk="1" hangingPunct="1">
              <a:buFontTx/>
              <a:buNone/>
            </a:pPr>
            <a:endParaRPr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184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734433"/>
              </p:ext>
            </p:extLst>
          </p:nvPr>
        </p:nvGraphicFramePr>
        <p:xfrm>
          <a:off x="3071664" y="1905791"/>
          <a:ext cx="53340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34" name="Equation" r:id="rId3" imgW="2438280" imgH="241200" progId="Equation.DSMT4">
                  <p:embed/>
                </p:oleObj>
              </mc:Choice>
              <mc:Fallback>
                <p:oleObj name="Equation" r:id="rId3" imgW="2438280" imgH="241200" progId="Equation.DSMT4">
                  <p:embed/>
                  <p:pic>
                    <p:nvPicPr>
                      <p:cNvPr id="1843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1905791"/>
                        <a:ext cx="53340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732092"/>
              </p:ext>
            </p:extLst>
          </p:nvPr>
        </p:nvGraphicFramePr>
        <p:xfrm>
          <a:off x="2932926" y="2908370"/>
          <a:ext cx="6096000" cy="1576389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2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    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8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59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589361"/>
              </p:ext>
            </p:extLst>
          </p:nvPr>
        </p:nvGraphicFramePr>
        <p:xfrm>
          <a:off x="3580656" y="2938175"/>
          <a:ext cx="33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35" name="Equation" r:id="rId5" imgW="164880" imgH="228600" progId="Equation.DSMT4">
                  <p:embed/>
                </p:oleObj>
              </mc:Choice>
              <mc:Fallback>
                <p:oleObj name="Equation" r:id="rId5" imgW="164880" imgH="228600" progId="Equation.DSMT4">
                  <p:embed/>
                  <p:pic>
                    <p:nvPicPr>
                      <p:cNvPr id="1845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0656" y="2938175"/>
                        <a:ext cx="33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0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117236"/>
              </p:ext>
            </p:extLst>
          </p:nvPr>
        </p:nvGraphicFramePr>
        <p:xfrm>
          <a:off x="3580656" y="3471575"/>
          <a:ext cx="33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36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1846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0656" y="3471575"/>
                        <a:ext cx="33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1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190814"/>
              </p:ext>
            </p:extLst>
          </p:nvPr>
        </p:nvGraphicFramePr>
        <p:xfrm>
          <a:off x="3593356" y="3928775"/>
          <a:ext cx="304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37" name="Equation" r:id="rId9" imgW="152280" imgH="228600" progId="Equation.DSMT4">
                  <p:embed/>
                </p:oleObj>
              </mc:Choice>
              <mc:Fallback>
                <p:oleObj name="Equation" r:id="rId9" imgW="152280" imgH="228600" progId="Equation.DSMT4">
                  <p:embed/>
                  <p:pic>
                    <p:nvPicPr>
                      <p:cNvPr id="1846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356" y="3928775"/>
                        <a:ext cx="304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723977"/>
              </p:ext>
            </p:extLst>
          </p:nvPr>
        </p:nvGraphicFramePr>
        <p:xfrm>
          <a:off x="5104656" y="2938175"/>
          <a:ext cx="40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38" name="Equation" r:id="rId11" imgW="203040" imgH="228600" progId="Equation.DSMT4">
                  <p:embed/>
                </p:oleObj>
              </mc:Choice>
              <mc:Fallback>
                <p:oleObj name="Equation" r:id="rId11" imgW="203040" imgH="228600" progId="Equation.DSMT4">
                  <p:embed/>
                  <p:pic>
                    <p:nvPicPr>
                      <p:cNvPr id="1846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656" y="2938175"/>
                        <a:ext cx="40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745757"/>
              </p:ext>
            </p:extLst>
          </p:nvPr>
        </p:nvGraphicFramePr>
        <p:xfrm>
          <a:off x="5104656" y="3395375"/>
          <a:ext cx="40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39" name="Equation" r:id="rId13" imgW="203040" imgH="228600" progId="Equation.DSMT4">
                  <p:embed/>
                </p:oleObj>
              </mc:Choice>
              <mc:Fallback>
                <p:oleObj name="Equation" r:id="rId13" imgW="203040" imgH="228600" progId="Equation.DSMT4">
                  <p:embed/>
                  <p:pic>
                    <p:nvPicPr>
                      <p:cNvPr id="1846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656" y="3395375"/>
                        <a:ext cx="40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4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268079"/>
              </p:ext>
            </p:extLst>
          </p:nvPr>
        </p:nvGraphicFramePr>
        <p:xfrm>
          <a:off x="5117356" y="3928775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40" name="Equation" r:id="rId15" imgW="190440" imgH="228600" progId="Equation.DSMT4">
                  <p:embed/>
                </p:oleObj>
              </mc:Choice>
              <mc:Fallback>
                <p:oleObj name="Equation" r:id="rId15" imgW="190440" imgH="228600" progId="Equation.DSMT4">
                  <p:embed/>
                  <p:pic>
                    <p:nvPicPr>
                      <p:cNvPr id="1846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7356" y="3928775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967121"/>
              </p:ext>
            </p:extLst>
          </p:nvPr>
        </p:nvGraphicFramePr>
        <p:xfrm>
          <a:off x="7695456" y="4004976"/>
          <a:ext cx="1219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41" name="Equation" r:id="rId17" imgW="736560" imgH="228600" progId="Equation.DSMT4">
                  <p:embed/>
                </p:oleObj>
              </mc:Choice>
              <mc:Fallback>
                <p:oleObj name="Equation" r:id="rId17" imgW="736560" imgH="228600" progId="Equation.DSMT4">
                  <p:embed/>
                  <p:pic>
                    <p:nvPicPr>
                      <p:cNvPr id="1846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5456" y="4004976"/>
                        <a:ext cx="12192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6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695801"/>
              </p:ext>
            </p:extLst>
          </p:nvPr>
        </p:nvGraphicFramePr>
        <p:xfrm>
          <a:off x="6404820" y="4004976"/>
          <a:ext cx="903287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42" name="Equation" r:id="rId19" imgW="545760" imgH="228600" progId="Equation.DSMT4">
                  <p:embed/>
                </p:oleObj>
              </mc:Choice>
              <mc:Fallback>
                <p:oleObj name="Equation" r:id="rId19" imgW="545760" imgH="228600" progId="Equation.DSMT4">
                  <p:embed/>
                  <p:pic>
                    <p:nvPicPr>
                      <p:cNvPr id="18466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4820" y="4004976"/>
                        <a:ext cx="903287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432702"/>
              </p:ext>
            </p:extLst>
          </p:nvPr>
        </p:nvGraphicFramePr>
        <p:xfrm>
          <a:off x="6379419" y="3471576"/>
          <a:ext cx="94615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43" name="Equation" r:id="rId21" imgW="571320" imgH="228600" progId="Equation.DSMT4">
                  <p:embed/>
                </p:oleObj>
              </mc:Choice>
              <mc:Fallback>
                <p:oleObj name="Equation" r:id="rId21" imgW="571320" imgH="228600" progId="Equation.DSMT4">
                  <p:embed/>
                  <p:pic>
                    <p:nvPicPr>
                      <p:cNvPr id="18467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9419" y="3471576"/>
                        <a:ext cx="94615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90747" y="4675621"/>
            <a:ext cx="6508044" cy="198899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E32280D-2CC8-471B-A5CC-295F40B5B867}"/>
              </a:ext>
            </a:extLst>
          </p:cNvPr>
          <p:cNvSpPr txBox="1"/>
          <p:nvPr/>
        </p:nvSpPr>
        <p:spPr>
          <a:xfrm>
            <a:off x="5133487" y="252985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7030A0"/>
                </a:solidFill>
              </a:rPr>
              <a:t>重节点差商表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F3E5DA-5156-499C-9CC8-D6A40FA1065C}"/>
              </a:ext>
            </a:extLst>
          </p:cNvPr>
          <p:cNvSpPr/>
          <p:nvPr/>
        </p:nvSpPr>
        <p:spPr>
          <a:xfrm>
            <a:off x="2455874" y="906724"/>
            <a:ext cx="7416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quote-cjk-patch"/>
              </a:rPr>
              <a:t>当两个节点无限接近时，一阶差商趋向于导数</a:t>
            </a:r>
            <a:r>
              <a:rPr lang="en-US" altLang="zh-CN" dirty="0">
                <a:solidFill>
                  <a:srgbClr val="7030A0"/>
                </a:solidFill>
                <a:latin typeface="quote-cjk-patch"/>
              </a:rPr>
              <a:t>.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155403-3E54-4C9A-BBF7-DDDE4E1CCF05}"/>
              </a:ext>
            </a:extLst>
          </p:cNvPr>
          <p:cNvSpPr/>
          <p:nvPr/>
        </p:nvSpPr>
        <p:spPr>
          <a:xfrm>
            <a:off x="2537263" y="1402485"/>
            <a:ext cx="51924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通过</a:t>
            </a:r>
            <a:r>
              <a:rPr lang="zh-CN" altLang="en-US" b="1" dirty="0">
                <a:solidFill>
                  <a:srgbClr val="C00000"/>
                </a:solidFill>
                <a:latin typeface="quote-cjk-patch"/>
              </a:rPr>
              <a:t>重复节点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的方法来引入导数条件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397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4" grpId="0"/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1504" y="548680"/>
            <a:ext cx="7040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根据下表</a:t>
            </a:r>
            <a:r>
              <a:rPr lang="zh-CN" altLang="ru-RU" dirty="0">
                <a:ea typeface="楷体_GB2312" pitchFamily="49" charset="-122"/>
              </a:rPr>
              <a:t>用</a:t>
            </a:r>
            <a:r>
              <a:rPr lang="zh-CN" altLang="en-US" dirty="0">
                <a:ea typeface="楷体_GB2312" pitchFamily="49" charset="-122"/>
              </a:rPr>
              <a:t>三次</a:t>
            </a:r>
            <a:r>
              <a:rPr lang="zh-CN" altLang="ru-RU" dirty="0">
                <a:ea typeface="楷体_GB2312" pitchFamily="49" charset="-122"/>
              </a:rPr>
              <a:t>埃尔米特插值公式</a:t>
            </a:r>
            <a:r>
              <a:rPr lang="zh-CN" altLang="en-US" dirty="0">
                <a:ea typeface="楷体_GB2312" pitchFamily="49" charset="-122"/>
              </a:rPr>
              <a:t>构造插值函数</a:t>
            </a:r>
            <a:endParaRPr lang="zh-CN" altLang="en-US" dirty="0"/>
          </a:p>
        </p:txBody>
      </p:sp>
      <p:graphicFrame>
        <p:nvGraphicFramePr>
          <p:cNvPr id="3" name="Group 7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946952"/>
              </p:ext>
            </p:extLst>
          </p:nvPr>
        </p:nvGraphicFramePr>
        <p:xfrm>
          <a:off x="2783632" y="1196752"/>
          <a:ext cx="3271103" cy="1676401"/>
        </p:xfrm>
        <a:graphic>
          <a:graphicData uri="http://schemas.openxmlformats.org/drawingml/2006/table">
            <a:tbl>
              <a:tblPr/>
              <a:tblGrid>
                <a:gridCol w="1041691">
                  <a:extLst>
                    <a:ext uri="{9D8B030D-6E8A-4147-A177-3AD203B41FA5}">
                      <a16:colId xmlns:a16="http://schemas.microsoft.com/office/drawing/2014/main" val="3089380293"/>
                    </a:ext>
                  </a:extLst>
                </a:gridCol>
                <a:gridCol w="1107891">
                  <a:extLst>
                    <a:ext uri="{9D8B030D-6E8A-4147-A177-3AD203B41FA5}">
                      <a16:colId xmlns:a16="http://schemas.microsoft.com/office/drawing/2014/main" val="705478090"/>
                    </a:ext>
                  </a:extLst>
                </a:gridCol>
                <a:gridCol w="1121521">
                  <a:extLst>
                    <a:ext uri="{9D8B030D-6E8A-4147-A177-3AD203B41FA5}">
                      <a16:colId xmlns:a16="http://schemas.microsoft.com/office/drawing/2014/main" val="2521489605"/>
                    </a:ext>
                  </a:extLst>
                </a:gridCol>
              </a:tblGrid>
              <a:tr h="59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403080"/>
                  </a:ext>
                </a:extLst>
              </a:tr>
              <a:tr h="525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f</a:t>
                      </a: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1" lang="ru-RU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kumimoji="1" lang="ru-RU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28296"/>
                  </a:ext>
                </a:extLst>
              </a:tr>
              <a:tr h="558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f </a:t>
                      </a:r>
                      <a:r>
                        <a:rPr kumimoji="1" lang="ru-RU" altLang="zh-CN" sz="28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'</a:t>
                      </a: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1" lang="ru-RU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1/2</a:t>
                      </a:r>
                      <a:endParaRPr kumimoji="1" lang="ru-RU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ru-RU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1/2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456280"/>
                  </a:ext>
                </a:extLst>
              </a:tr>
            </a:tbl>
          </a:graphicData>
        </a:graphic>
      </p:graphicFrame>
      <p:graphicFrame>
        <p:nvGraphicFramePr>
          <p:cNvPr id="4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886709"/>
              </p:ext>
            </p:extLst>
          </p:nvPr>
        </p:nvGraphicFramePr>
        <p:xfrm>
          <a:off x="2495600" y="3212976"/>
          <a:ext cx="6096000" cy="239395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3458714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111864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606399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6997022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42193467"/>
                    </a:ext>
                  </a:extLst>
                </a:gridCol>
              </a:tblGrid>
              <a:tr h="6556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910997"/>
                  </a:ext>
                </a:extLst>
              </a:tr>
              <a:tr h="5794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0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0.5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348716"/>
                  </a:ext>
                </a:extLst>
              </a:tr>
              <a:tr h="5794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917956"/>
                  </a:ext>
                </a:extLst>
              </a:tr>
              <a:tr h="5794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0.5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-0.5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-1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0711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351584" y="5976568"/>
                <a:ext cx="67623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=1+0.5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+0.5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5976568"/>
                <a:ext cx="6762300" cy="369332"/>
              </a:xfrm>
              <a:prstGeom prst="rect">
                <a:avLst/>
              </a:prstGeom>
              <a:blipFill>
                <a:blip r:embed="rId2"/>
                <a:stretch>
                  <a:fillRect l="-541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487488" y="30689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解：</a:t>
            </a:r>
          </a:p>
        </p:txBody>
      </p:sp>
    </p:spTree>
    <p:extLst>
      <p:ext uri="{BB962C8B-B14F-4D97-AF65-F5344CB8AC3E}">
        <p14:creationId xmlns:p14="http://schemas.microsoft.com/office/powerpoint/2010/main" val="297377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 txBox="1">
            <a:spLocks noGrp="1"/>
          </p:cNvSpPr>
          <p:nvPr/>
        </p:nvSpPr>
        <p:spPr bwMode="auto">
          <a:xfrm>
            <a:off x="10156688" y="6315351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4392570-58AB-4BCD-BFB6-2DD9221C2D01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71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468050" y="18052"/>
            <a:ext cx="8686800" cy="6324600"/>
          </a:xfrm>
        </p:spPr>
        <p:txBody>
          <a:bodyPr/>
          <a:lstStyle/>
          <a:p>
            <a:pPr eaLnBrk="1" hangingPunct="1"/>
            <a:endParaRPr lang="en-US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zh-CN" altLang="en-US" sz="2400" b="1" dirty="0"/>
              <a:t>例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课堂作业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4" name="Object 3"/>
              <p:cNvSpPr txBox="1"/>
              <p:nvPr/>
            </p:nvSpPr>
            <p:spPr bwMode="auto">
              <a:xfrm>
                <a:off x="2786715" y="924672"/>
                <a:ext cx="6408737" cy="8953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)=1,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(2)=3.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48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6715" y="924672"/>
                <a:ext cx="6408737" cy="895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518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757005"/>
              </p:ext>
            </p:extLst>
          </p:nvPr>
        </p:nvGraphicFramePr>
        <p:xfrm>
          <a:off x="2667000" y="2406648"/>
          <a:ext cx="6096000" cy="239395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3458714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111864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606399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6997022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42193467"/>
                    </a:ext>
                  </a:extLst>
                </a:gridCol>
              </a:tblGrid>
              <a:tr h="6556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-0.5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-0.75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910997"/>
                  </a:ext>
                </a:extLst>
              </a:tr>
              <a:tr h="5794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0.5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-0.75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0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348716"/>
                  </a:ext>
                </a:extLst>
              </a:tr>
              <a:tr h="5794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0.5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-0.75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917956"/>
                  </a:ext>
                </a:extLst>
              </a:tr>
              <a:tr h="5794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2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3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2.5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0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0711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517" name="Object 36"/>
              <p:cNvSpPr txBox="1"/>
              <p:nvPr/>
            </p:nvSpPr>
            <p:spPr bwMode="auto">
              <a:xfrm>
                <a:off x="2667000" y="4953000"/>
                <a:ext cx="6172200" cy="11112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517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4953000"/>
                <a:ext cx="6172200" cy="1111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2667000" y="1651669"/>
            <a:ext cx="77251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ru-RU" dirty="0">
                <a:ea typeface="楷体_GB2312" pitchFamily="49" charset="-122"/>
              </a:rPr>
              <a:t>用</a:t>
            </a:r>
            <a:r>
              <a:rPr lang="zh-CN" altLang="en-US" dirty="0">
                <a:ea typeface="楷体_GB2312" pitchFamily="49" charset="-122"/>
              </a:rPr>
              <a:t>三次</a:t>
            </a:r>
            <a:r>
              <a:rPr lang="zh-CN" altLang="ru-RU" dirty="0">
                <a:ea typeface="楷体_GB2312" pitchFamily="49" charset="-122"/>
              </a:rPr>
              <a:t>埃尔米特插值公式</a:t>
            </a:r>
            <a:r>
              <a:rPr lang="zh-CN" altLang="en-US" dirty="0">
                <a:ea typeface="楷体_GB2312" pitchFamily="49" charset="-122"/>
              </a:rPr>
              <a:t>构造插值函数</a:t>
            </a:r>
            <a:r>
              <a:rPr lang="en-US" altLang="zh-CN" dirty="0">
                <a:ea typeface="楷体_GB2312" pitchFamily="49" charset="-122"/>
              </a:rPr>
              <a:t>,</a:t>
            </a:r>
            <a:r>
              <a:rPr lang="zh-CN" altLang="en-US" dirty="0">
                <a:ea typeface="楷体_GB2312" pitchFamily="49" charset="-122"/>
              </a:rPr>
              <a:t>并求出截断误差</a:t>
            </a:r>
            <a:r>
              <a:rPr lang="en-US" altLang="zh-CN" dirty="0">
                <a:ea typeface="楷体_GB2312" pitchFamily="49" charset="-122"/>
              </a:rPr>
              <a:t>.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691957" y="217581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584845" y="6003539"/>
                <a:ext cx="5484643" cy="572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=0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45" y="6003539"/>
                <a:ext cx="5484643" cy="572593"/>
              </a:xfrm>
              <a:prstGeom prst="rect">
                <a:avLst/>
              </a:prstGeom>
              <a:blipFill>
                <a:blip r:embed="rId4"/>
                <a:stretch>
                  <a:fillRect r="-2444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9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7" grpId="0"/>
      <p:bldP spid="8" grpId="0"/>
      <p:bldP spid="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59496" y="764704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/>
              <a:t>分段三次</a:t>
            </a:r>
            <a:r>
              <a:rPr lang="en-US" altLang="zh-CN" b="1" dirty="0" err="1"/>
              <a:t>Hermite</a:t>
            </a:r>
            <a:r>
              <a:rPr lang="zh-CN" altLang="en-US" b="1" dirty="0"/>
              <a:t>插值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83632" y="13276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把节点分成若干段，分段使用低次多项式函数。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597" y="2570145"/>
            <a:ext cx="8304535" cy="122413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99456" y="200722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给定函数表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79576" y="4005064"/>
            <a:ext cx="9039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把节点两两分段，每小段上作三次</a:t>
            </a:r>
            <a:r>
              <a:rPr lang="en-US" altLang="zh-CN" dirty="0" err="1"/>
              <a:t>Hermite</a:t>
            </a:r>
            <a:r>
              <a:rPr lang="zh-CN" altLang="en-US" dirty="0"/>
              <a:t>插值</a:t>
            </a:r>
            <a:r>
              <a:rPr lang="en-US" altLang="zh-CN" dirty="0"/>
              <a:t>,</a:t>
            </a:r>
            <a:r>
              <a:rPr lang="zh-CN" altLang="en-US" dirty="0"/>
              <a:t>分段表达式如下：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4575132"/>
            <a:ext cx="8833866" cy="217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319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155519" y="620117"/>
            <a:ext cx="838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</a:pPr>
            <a:r>
              <a:rPr kumimoji="1" lang="zh-CN" altLang="en-US" sz="2800" dirty="0">
                <a:latin typeface="+mn-ea"/>
                <a:ea typeface="+mn-ea"/>
              </a:rPr>
              <a:t>分段三次</a:t>
            </a:r>
            <a:r>
              <a:rPr kumimoji="1" lang="en-US" altLang="zh-CN" sz="2800" dirty="0">
                <a:latin typeface="+mn-ea"/>
                <a:ea typeface="+mn-ea"/>
              </a:rPr>
              <a:t>Hermite</a:t>
            </a:r>
            <a:r>
              <a:rPr kumimoji="1" lang="zh-CN" altLang="en-US" sz="2800" dirty="0">
                <a:latin typeface="+mn-ea"/>
                <a:ea typeface="+mn-ea"/>
              </a:rPr>
              <a:t>插值余项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835238" y="1453628"/>
            <a:ext cx="8229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定理</a:t>
            </a:r>
            <a:r>
              <a:rPr kumimoji="1"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</a:rPr>
              <a:t>：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设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f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在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[</a:t>
            </a:r>
            <a:r>
              <a:rPr kumimoji="1" lang="en-US" altLang="zh-CN" sz="2400" i="1" dirty="0" err="1">
                <a:latin typeface="Times New Roman" panose="02020603050405020304" pitchFamily="18" charset="0"/>
              </a:rPr>
              <a:t>a,b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]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上有四阶连续导数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f</a:t>
            </a:r>
            <a:r>
              <a:rPr kumimoji="1" lang="en-US" altLang="zh-CN" sz="2400" i="1" baseline="30000" dirty="0">
                <a:latin typeface="Times New Roman" panose="02020603050405020304" pitchFamily="18" charset="0"/>
              </a:rPr>
              <a:t>(4)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    且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| f</a:t>
            </a:r>
            <a:r>
              <a:rPr kumimoji="1" lang="en-US" altLang="zh-CN" sz="2400" i="1" baseline="30000" dirty="0">
                <a:latin typeface="Times New Roman" panose="02020603050405020304" pitchFamily="18" charset="0"/>
              </a:rPr>
              <a:t>(4)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(x)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|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≤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2400" i="1" baseline="-25000" dirty="0">
                <a:latin typeface="Times New Roman" panose="02020603050405020304" pitchFamily="18" charset="0"/>
              </a:rPr>
              <a:t>4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记： 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h = max |x</a:t>
            </a:r>
            <a:r>
              <a:rPr kumimoji="1" lang="en-US" altLang="zh-CN" sz="2400" i="1" baseline="-25000" dirty="0">
                <a:latin typeface="Times New Roman" panose="02020603050405020304" pitchFamily="18" charset="0"/>
              </a:rPr>
              <a:t>i+1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-x</a:t>
            </a:r>
            <a:r>
              <a:rPr kumimoji="1" lang="en-US" altLang="zh-CN" sz="2400" i="1" baseline="-25000" dirty="0">
                <a:latin typeface="Times New Roman" panose="02020603050405020304" pitchFamily="18" charset="0"/>
              </a:rPr>
              <a:t>i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|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就有估计：</a:t>
            </a:r>
            <a:endParaRPr kumimoji="1" lang="zh-CN" altLang="en-US" sz="20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1837048" y="5157192"/>
                <a:ext cx="8939472" cy="151216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4!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limLow>
                      <m:limLow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4!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limLow>
                      <m:limLow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7048" y="5157192"/>
                <a:ext cx="8939472" cy="15121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EAFBF429-3E26-4098-A664-C009866C1B76}"/>
                  </a:ext>
                </a:extLst>
              </p:cNvPr>
              <p:cNvSpPr txBox="1"/>
              <p:nvPr/>
            </p:nvSpPr>
            <p:spPr bwMode="auto">
              <a:xfrm>
                <a:off x="1847528" y="2953425"/>
                <a:ext cx="9720113" cy="9271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)|=</m:t>
                    </m:r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/>
                        </m:sSup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4!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limLow>
                      <m:limLow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lim>
                    </m:limLow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</m:t>
                    </m:r>
                    <m:sSup>
                      <m:sSup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</m:sSubSup>
                        <m:r>
                          <m:rPr>
                            <m:nor/>
                          </m:rPr>
                          <a:rPr lang="zh-CN" altLang="en-US" dirty="0"/>
                          <m:t>）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/>
                        </m:sSubSup>
                        <m:r>
                          <m:rPr>
                            <m:nor/>
                          </m:rPr>
                          <a:rPr lang="zh-CN" altLang="en-US" dirty="0"/>
                          <m:t>）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EAFBF429-3E26-4098-A664-C009866C1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528" y="2953425"/>
                <a:ext cx="9720113" cy="92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3184CBE9-4112-4895-B985-E32652DD9EE9}"/>
              </a:ext>
            </a:extLst>
          </p:cNvPr>
          <p:cNvSpPr/>
          <p:nvPr/>
        </p:nvSpPr>
        <p:spPr bwMode="auto">
          <a:xfrm>
            <a:off x="7752184" y="3063083"/>
            <a:ext cx="3815457" cy="58194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DE3FC9B-FE95-498E-B94B-04EDE4F8FA4D}"/>
              </a:ext>
            </a:extLst>
          </p:cNvPr>
          <p:cNvGrpSpPr/>
          <p:nvPr/>
        </p:nvGrpSpPr>
        <p:grpSpPr>
          <a:xfrm>
            <a:off x="7386119" y="3754682"/>
            <a:ext cx="4875117" cy="1264969"/>
            <a:chOff x="7386119" y="3754682"/>
            <a:chExt cx="4875117" cy="12649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48249781-ECDF-4CD2-B1D9-95C51416EDA6}"/>
                    </a:ext>
                  </a:extLst>
                </p:cNvPr>
                <p:cNvSpPr/>
                <p:nvPr/>
              </p:nvSpPr>
              <p:spPr>
                <a:xfrm>
                  <a:off x="7386119" y="4501817"/>
                  <a:ext cx="4875117" cy="5178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b="0" i="1" dirty="0"/>
                    <a:t>|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其</m:t>
                      </m:r>
                    </m:oMath>
                  </a14:m>
                  <a:r>
                    <a:rPr lang="zh-CN" altLang="en-US" sz="2000" i="1" dirty="0"/>
                    <a:t>最大值在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处</m:t>
                      </m:r>
                    </m:oMath>
                  </a14:m>
                  <a:r>
                    <a:rPr lang="zh-CN" altLang="en-US" sz="2000" i="1" dirty="0"/>
                    <a:t>。</a:t>
                  </a:r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48249781-ECDF-4CD2-B1D9-95C51416ED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6119" y="4501817"/>
                  <a:ext cx="4875117" cy="517834"/>
                </a:xfrm>
                <a:prstGeom prst="rect">
                  <a:avLst/>
                </a:prstGeom>
                <a:blipFill>
                  <a:blip r:embed="rId4"/>
                  <a:stretch>
                    <a:fillRect l="-1377" r="-751" b="-70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箭头: 下 8">
              <a:extLst>
                <a:ext uri="{FF2B5EF4-FFF2-40B4-BE49-F238E27FC236}">
                  <a16:creationId xmlns:a16="http://schemas.microsoft.com/office/drawing/2014/main" id="{02742698-5F9F-4AB0-9E8E-A98EB8FCBEC9}"/>
                </a:ext>
              </a:extLst>
            </p:cNvPr>
            <p:cNvSpPr/>
            <p:nvPr/>
          </p:nvSpPr>
          <p:spPr bwMode="auto">
            <a:xfrm>
              <a:off x="10776520" y="3754682"/>
              <a:ext cx="360040" cy="732604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32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309813" y="1071563"/>
            <a:ext cx="78581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/>
              <a:t>     </a:t>
            </a:r>
            <a:r>
              <a:rPr lang="zh-CN" altLang="en-US" sz="2400"/>
              <a:t>“</a:t>
            </a:r>
            <a:r>
              <a:rPr lang="zh-CN" altLang="en-US" sz="2400" b="1">
                <a:solidFill>
                  <a:srgbClr val="CC0000"/>
                </a:solidFill>
              </a:rPr>
              <a:t>样条</a:t>
            </a:r>
            <a:r>
              <a:rPr lang="zh-CN" altLang="en-US" sz="2400"/>
              <a:t>”原本是指在飞机或轮船设计过程中，为了描绘出光滑的外形曲线所用的一</a:t>
            </a:r>
            <a:r>
              <a:rPr lang="zh-CN" altLang="en-US" sz="2400">
                <a:latin typeface="宋体" panose="02010600030101010101" pitchFamily="2" charset="-122"/>
              </a:rPr>
              <a:t>种工具，即一个具有弹性的细长木条。</a:t>
            </a:r>
            <a:endParaRPr lang="zh-CN" altLang="en-US" sz="2400"/>
          </a:p>
        </p:txBody>
      </p:sp>
      <p:sp>
        <p:nvSpPr>
          <p:cNvPr id="52227" name="Rectangle 2"/>
          <p:cNvSpPr>
            <a:spLocks noChangeArrowheads="1"/>
          </p:cNvSpPr>
          <p:nvPr/>
        </p:nvSpPr>
        <p:spPr bwMode="auto">
          <a:xfrm>
            <a:off x="1127448" y="573854"/>
            <a:ext cx="3609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§4.5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 三次样条插值 </a:t>
            </a:r>
          </a:p>
        </p:txBody>
      </p:sp>
      <p:pic>
        <p:nvPicPr>
          <p:cNvPr id="55300" name="Picture 6" descr="http://img6.ph.126.net/kRnxmpfGjpBol1on7j3dAQ==/135586496283239235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2786063"/>
            <a:ext cx="4143375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309813" y="4786313"/>
            <a:ext cx="7786687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/>
              <a:t>        在作了某些近似简化后，</a:t>
            </a:r>
            <a:r>
              <a:rPr lang="zh-CN" altLang="en-US" sz="2400">
                <a:solidFill>
                  <a:srgbClr val="FF0000"/>
                </a:solidFill>
              </a:rPr>
              <a:t>样条的数学模型是分段的三次多项式曲线</a:t>
            </a:r>
            <a:r>
              <a:rPr lang="zh-CN" altLang="en-US" sz="2400"/>
              <a:t>：在相邻两块压铁之间是三次多项式曲线；在压铁处，</a:t>
            </a:r>
            <a:r>
              <a:rPr lang="zh-CN" altLang="en-US" sz="2400">
                <a:latin typeface="宋体" panose="02010600030101010101" pitchFamily="2" charset="-122"/>
              </a:rPr>
              <a:t>左右两段曲线的切线和曲率是连续的。</a:t>
            </a:r>
            <a:r>
              <a:rPr lang="zh-CN" altLang="en-US" sz="24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 txBox="1">
            <a:spLocks noChangeArrowheads="1"/>
          </p:cNvSpPr>
          <p:nvPr/>
        </p:nvSpPr>
        <p:spPr bwMode="auto">
          <a:xfrm>
            <a:off x="2309813" y="714375"/>
            <a:ext cx="7500937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CC00"/>
                </a:solidFill>
              </a:rPr>
              <a:t> </a:t>
            </a:r>
            <a:r>
              <a:rPr lang="zh-CN" altLang="en-US" sz="2400" b="1" dirty="0">
                <a:solidFill>
                  <a:srgbClr val="00CC00"/>
                </a:solidFill>
              </a:rPr>
              <a:t>定义</a:t>
            </a:r>
            <a:r>
              <a:rPr lang="zh-CN" altLang="en-US" sz="2400" dirty="0">
                <a:solidFill>
                  <a:srgbClr val="00CC00"/>
                </a:solidFill>
                <a:cs typeface="Times New Roman" panose="02020603050405020304" pitchFamily="18" charset="0"/>
              </a:rPr>
              <a:t>  </a:t>
            </a:r>
            <a:r>
              <a:rPr lang="zh-CN" altLang="en-US" sz="2400" dirty="0"/>
              <a:t>给定［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a</a:t>
            </a:r>
            <a:r>
              <a:rPr lang="en-US" altLang="zh-CN" sz="2400" dirty="0" err="1"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b</a:t>
            </a:r>
            <a:r>
              <a:rPr lang="en-US" altLang="zh-CN" sz="2400" dirty="0"/>
              <a:t>］</a:t>
            </a:r>
            <a:r>
              <a:rPr lang="zh-CN" altLang="en-US" sz="2400" dirty="0"/>
              <a:t>的分划：</a:t>
            </a:r>
            <a:r>
              <a:rPr lang="en-US" altLang="zh-CN" sz="2400" i="1" dirty="0">
                <a:cs typeface="Times New Roman" panose="02020603050405020304" pitchFamily="18" charset="0"/>
              </a:rPr>
              <a:t>a </a:t>
            </a:r>
            <a:r>
              <a:rPr lang="en-US" altLang="zh-CN" sz="2400" dirty="0">
                <a:cs typeface="Times New Roman" panose="02020603050405020304" pitchFamily="18" charset="0"/>
              </a:rPr>
              <a:t>= 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baseline="-30000" dirty="0"/>
              <a:t>0</a:t>
            </a:r>
            <a:r>
              <a:rPr lang="en-US" altLang="zh-CN" sz="2400" dirty="0">
                <a:cs typeface="Times New Roman" panose="02020603050405020304" pitchFamily="18" charset="0"/>
              </a:rPr>
              <a:t>&lt;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baseline="-30000" dirty="0"/>
              <a:t>1</a:t>
            </a:r>
            <a:r>
              <a:rPr lang="en-US" altLang="zh-CN" sz="2400" dirty="0">
                <a:cs typeface="Times New Roman" panose="02020603050405020304" pitchFamily="18" charset="0"/>
              </a:rPr>
              <a:t>&lt;</a:t>
            </a:r>
            <a:r>
              <a:rPr lang="en-US" altLang="zh-CN" sz="2400" dirty="0"/>
              <a:t>…</a:t>
            </a:r>
            <a:r>
              <a:rPr lang="en-US" altLang="zh-CN" sz="2400" dirty="0">
                <a:cs typeface="Times New Roman" panose="02020603050405020304" pitchFamily="18" charset="0"/>
              </a:rPr>
              <a:t>&lt;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x</a:t>
            </a:r>
            <a:r>
              <a:rPr lang="en-US" altLang="zh-CN" sz="2400" i="1" baseline="-30000" dirty="0" err="1"/>
              <a:t>n</a:t>
            </a:r>
            <a:r>
              <a:rPr lang="en-US" altLang="zh-CN" sz="2400" i="1" baseline="-30000" dirty="0"/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= </a:t>
            </a:r>
            <a:r>
              <a:rPr lang="en-US" altLang="zh-CN" sz="2400" i="1" dirty="0"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cs typeface="Times New Roman" panose="02020603050405020304" pitchFamily="18" charset="0"/>
              </a:rPr>
              <a:t>, </a:t>
            </a:r>
            <a:r>
              <a:rPr lang="zh-CN" altLang="en-US" sz="2400" dirty="0"/>
              <a:t>如果函数</a:t>
            </a:r>
            <a:r>
              <a:rPr lang="en-US" altLang="zh-CN" sz="2400" i="1" dirty="0"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cs typeface="Times New Roman" panose="02020603050405020304" pitchFamily="18" charset="0"/>
              </a:rPr>
              <a:t>) </a:t>
            </a:r>
            <a:r>
              <a:rPr lang="zh-CN" altLang="en-US" sz="2400" dirty="0"/>
              <a:t>在区间［</a:t>
            </a:r>
            <a:r>
              <a:rPr lang="en-US" altLang="zh-CN" sz="2400" i="1" dirty="0"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cs typeface="Times New Roman" panose="02020603050405020304" pitchFamily="18" charset="0"/>
              </a:rPr>
              <a:t>b</a:t>
            </a:r>
            <a:r>
              <a:rPr lang="en-US" altLang="zh-CN" sz="2400" dirty="0"/>
              <a:t>］</a:t>
            </a:r>
            <a:r>
              <a:rPr lang="zh-CN" altLang="en-US" sz="2400" dirty="0"/>
              <a:t>上满足以下条件：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   </a:t>
            </a:r>
            <a:r>
              <a:rPr lang="zh-CN" altLang="en-US" sz="2400" dirty="0"/>
              <a:t>（</a:t>
            </a:r>
            <a:r>
              <a:rPr lang="zh-CN" altLang="en-US" sz="2400" dirty="0">
                <a:cs typeface="Times New Roman" panose="02020603050405020304" pitchFamily="18" charset="0"/>
              </a:rPr>
              <a:t>1</a:t>
            </a:r>
            <a:r>
              <a:rPr lang="zh-CN" altLang="en-US" sz="2400" dirty="0"/>
              <a:t>）在每一个子区间（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baseline="-30000" dirty="0"/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,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baseline="-30000" dirty="0"/>
              <a:t>i+1</a:t>
            </a:r>
            <a:r>
              <a:rPr lang="en-US" altLang="zh-CN" sz="2400" dirty="0"/>
              <a:t>）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=0,1,</a:t>
            </a:r>
            <a:r>
              <a:rPr lang="en-US" altLang="zh-CN" sz="2400" dirty="0"/>
              <a:t>…</a:t>
            </a:r>
            <a:r>
              <a:rPr lang="en-US" altLang="zh-CN" sz="2400" dirty="0"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cs typeface="Times New Roman" panose="02020603050405020304" pitchFamily="18" charset="0"/>
              </a:rPr>
              <a:t>-1) </a:t>
            </a:r>
            <a:r>
              <a:rPr lang="zh-CN" altLang="en-US" sz="2400" dirty="0"/>
              <a:t>上，</a:t>
            </a:r>
            <a:r>
              <a:rPr lang="zh-CN" altLang="en-US" sz="2400" baseline="-25000" dirty="0"/>
              <a:t> </a:t>
            </a:r>
            <a:r>
              <a:rPr lang="en-US" altLang="zh-CN" sz="2400" i="1" dirty="0"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zh-CN" altLang="en-US" sz="2400" dirty="0"/>
              <a:t>是三次多项式</a:t>
            </a:r>
            <a:endParaRPr lang="en-US" altLang="zh-CN" sz="2400" dirty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（</a:t>
            </a:r>
            <a:r>
              <a:rPr lang="zh-CN" altLang="en-US" sz="2400" dirty="0"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）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cs typeface="Times New Roman" panose="02020603050405020304" pitchFamily="18" charset="0"/>
              </a:rPr>
              <a:t>) </a:t>
            </a:r>
            <a:r>
              <a:rPr lang="zh-CN" altLang="en-US" sz="2400" dirty="0"/>
              <a:t>在区间［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a</a:t>
            </a:r>
            <a:r>
              <a:rPr lang="en-US" altLang="zh-CN" sz="2400" dirty="0" err="1"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b</a:t>
            </a:r>
            <a:r>
              <a:rPr lang="en-US" altLang="zh-CN" sz="2400" dirty="0"/>
              <a:t>］</a:t>
            </a:r>
            <a:r>
              <a:rPr lang="zh-CN" altLang="en-US" sz="2400" dirty="0"/>
              <a:t>上具有二阶连续导数；</a:t>
            </a:r>
            <a:r>
              <a:rPr lang="zh-CN" altLang="en-US" sz="2400" dirty="0">
                <a:cs typeface="Times New Roman" panose="02020603050405020304" pitchFamily="18" charset="0"/>
              </a:rPr>
              <a:t>    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   </a:t>
            </a:r>
            <a:r>
              <a:rPr lang="zh-CN" altLang="en-US" sz="2400" dirty="0"/>
              <a:t>（</a:t>
            </a:r>
            <a:r>
              <a:rPr lang="zh-CN" altLang="en-US" sz="2400" dirty="0">
                <a:cs typeface="Times New Roman" panose="02020603050405020304" pitchFamily="18" charset="0"/>
              </a:rPr>
              <a:t>3</a:t>
            </a:r>
            <a:r>
              <a:rPr lang="zh-CN" altLang="en-US" sz="2400" dirty="0"/>
              <a:t>）</a:t>
            </a:r>
            <a:r>
              <a:rPr lang="en-US" altLang="zh-CN" sz="2400" i="1" dirty="0"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baseline="-30000" dirty="0"/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=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y</a:t>
            </a:r>
            <a:r>
              <a:rPr lang="en-US" altLang="zh-CN" sz="2400" baseline="-30000" dirty="0" err="1"/>
              <a:t>i</a:t>
            </a:r>
            <a:r>
              <a:rPr lang="en-US" altLang="zh-CN" sz="2400" baseline="-30000" dirty="0"/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=0,1,</a:t>
            </a:r>
            <a:r>
              <a:rPr lang="en-US" altLang="zh-CN" sz="2400" dirty="0"/>
              <a:t>…</a:t>
            </a:r>
            <a:r>
              <a:rPr lang="en-US" altLang="zh-CN" sz="2400" dirty="0"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en-US" altLang="zh-CN" sz="2400" dirty="0"/>
              <a:t>。</a:t>
            </a:r>
            <a:r>
              <a:rPr lang="zh-CN" altLang="en-US" sz="2400" dirty="0"/>
              <a:t>我们就称 </a:t>
            </a:r>
            <a:r>
              <a:rPr lang="en-US" altLang="zh-CN" sz="2400" b="1" i="1" dirty="0">
                <a:solidFill>
                  <a:srgbClr val="CC0000"/>
                </a:solidFill>
              </a:rPr>
              <a:t>s</a:t>
            </a:r>
            <a:r>
              <a:rPr lang="en-US" altLang="zh-CN" sz="2400" b="1" dirty="0">
                <a:solidFill>
                  <a:srgbClr val="CC0000"/>
                </a:solidFill>
              </a:rPr>
              <a:t>(</a:t>
            </a:r>
            <a:r>
              <a:rPr lang="en-US" altLang="zh-CN" sz="2400" b="1" i="1" dirty="0">
                <a:solidFill>
                  <a:srgbClr val="CC0000"/>
                </a:solidFill>
              </a:rPr>
              <a:t>x</a:t>
            </a:r>
            <a:r>
              <a:rPr lang="en-US" altLang="zh-CN" sz="2400" b="1" dirty="0">
                <a:solidFill>
                  <a:srgbClr val="CC0000"/>
                </a:solidFill>
              </a:rPr>
              <a:t>)</a:t>
            </a:r>
            <a:r>
              <a:rPr lang="zh-CN" altLang="en-US" sz="2400" b="1" dirty="0">
                <a:solidFill>
                  <a:srgbClr val="CC0000"/>
                </a:solidFill>
              </a:rPr>
              <a:t>为三次样条函数</a:t>
            </a:r>
            <a:r>
              <a:rPr lang="zh-CN" altLang="en-US" sz="2400" dirty="0"/>
              <a:t>。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208213" y="5013325"/>
            <a:ext cx="75009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        分段三次埃尔米特插值与三次样条函数的</a:t>
            </a:r>
            <a:r>
              <a:rPr lang="zh-CN" altLang="en-US" sz="2400" dirty="0">
                <a:solidFill>
                  <a:srgbClr val="FF0000"/>
                </a:solidFill>
              </a:rPr>
              <a:t>区别</a:t>
            </a:r>
            <a:r>
              <a:rPr lang="zh-CN" altLang="en-US" sz="2400" dirty="0"/>
              <a:t>：三次样条函数的</a:t>
            </a:r>
            <a:r>
              <a:rPr lang="zh-CN" altLang="en-US" sz="2400" b="1" dirty="0"/>
              <a:t>导数未知</a:t>
            </a:r>
            <a:r>
              <a:rPr lang="zh-CN" altLang="en-US" sz="2400" dirty="0"/>
              <a:t>，因为</a:t>
            </a:r>
            <a:r>
              <a:rPr lang="en-US" altLang="zh-CN" sz="2400" dirty="0"/>
              <a:t>s(x)</a:t>
            </a:r>
            <a:r>
              <a:rPr lang="zh-CN" altLang="en-US" sz="2400" dirty="0"/>
              <a:t>自身光滑。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23492" y="595934"/>
            <a:ext cx="9145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zh-CN" i="1" dirty="0">
                <a:latin typeface="+mn-ea"/>
                <a:ea typeface="+mn-ea"/>
              </a:rPr>
              <a:t> S</a:t>
            </a:r>
            <a:r>
              <a:rPr lang="ru-RU" altLang="zh-CN" dirty="0">
                <a:latin typeface="+mn-ea"/>
                <a:ea typeface="+mn-ea"/>
              </a:rPr>
              <a:t>(</a:t>
            </a:r>
            <a:r>
              <a:rPr lang="ru-RU" altLang="zh-CN" i="1" dirty="0">
                <a:latin typeface="+mn-ea"/>
                <a:ea typeface="+mn-ea"/>
              </a:rPr>
              <a:t>x</a:t>
            </a:r>
            <a:r>
              <a:rPr lang="ru-RU" altLang="zh-CN" dirty="0">
                <a:latin typeface="+mn-ea"/>
                <a:ea typeface="+mn-ea"/>
              </a:rPr>
              <a:t>)</a:t>
            </a:r>
            <a:r>
              <a:rPr lang="zh-CN" altLang="ru-RU" dirty="0">
                <a:latin typeface="+mn-ea"/>
                <a:ea typeface="+mn-ea"/>
              </a:rPr>
              <a:t>在每个小区间</a:t>
            </a:r>
            <a:r>
              <a:rPr lang="ru-RU" altLang="zh-CN" dirty="0">
                <a:latin typeface="+mn-ea"/>
                <a:ea typeface="+mn-ea"/>
              </a:rPr>
              <a:t>[</a:t>
            </a:r>
            <a:r>
              <a:rPr lang="ru-RU" altLang="zh-CN" i="1" dirty="0">
                <a:latin typeface="+mn-ea"/>
                <a:ea typeface="+mn-ea"/>
              </a:rPr>
              <a:t>x</a:t>
            </a:r>
            <a:r>
              <a:rPr lang="ru-RU" altLang="zh-CN" i="1" baseline="-25000" dirty="0">
                <a:latin typeface="+mn-ea"/>
                <a:ea typeface="+mn-ea"/>
              </a:rPr>
              <a:t>i</a:t>
            </a:r>
            <a:r>
              <a:rPr lang="ru-RU" altLang="zh-CN" dirty="0">
                <a:latin typeface="+mn-ea"/>
                <a:ea typeface="+mn-ea"/>
              </a:rPr>
              <a:t> , </a:t>
            </a:r>
            <a:r>
              <a:rPr lang="ru-RU" altLang="zh-CN" i="1" dirty="0">
                <a:latin typeface="+mn-ea"/>
                <a:ea typeface="+mn-ea"/>
              </a:rPr>
              <a:t>x</a:t>
            </a:r>
            <a:r>
              <a:rPr lang="ru-RU" altLang="zh-CN" i="1" baseline="-25000" dirty="0">
                <a:latin typeface="+mn-ea"/>
                <a:ea typeface="+mn-ea"/>
              </a:rPr>
              <a:t>i</a:t>
            </a:r>
            <a:r>
              <a:rPr lang="ru-RU" altLang="zh-CN" baseline="-25000" dirty="0">
                <a:latin typeface="+mn-ea"/>
                <a:ea typeface="+mn-ea"/>
              </a:rPr>
              <a:t>+1</a:t>
            </a:r>
            <a:r>
              <a:rPr lang="ru-RU" altLang="zh-CN" dirty="0">
                <a:latin typeface="+mn-ea"/>
                <a:ea typeface="+mn-ea"/>
              </a:rPr>
              <a:t>]</a:t>
            </a:r>
            <a:r>
              <a:rPr lang="zh-CN" altLang="ru-RU" dirty="0">
                <a:latin typeface="+mn-ea"/>
                <a:ea typeface="+mn-ea"/>
              </a:rPr>
              <a:t>上是一个次数不超过</a:t>
            </a:r>
            <a:r>
              <a:rPr lang="ru-RU" altLang="zh-CN" dirty="0">
                <a:latin typeface="+mn-ea"/>
                <a:ea typeface="+mn-ea"/>
              </a:rPr>
              <a:t>3</a:t>
            </a:r>
            <a:r>
              <a:rPr lang="zh-CN" altLang="ru-RU" dirty="0">
                <a:latin typeface="+mn-ea"/>
                <a:ea typeface="+mn-ea"/>
              </a:rPr>
              <a:t>的多项式</a:t>
            </a:r>
            <a:r>
              <a:rPr lang="ru-RU" altLang="zh-CN" dirty="0">
                <a:latin typeface="+mn-ea"/>
                <a:ea typeface="+mn-ea"/>
              </a:rPr>
              <a:t>, </a:t>
            </a:r>
            <a:r>
              <a:rPr lang="zh-CN" altLang="ru-RU" dirty="0">
                <a:latin typeface="+mn-ea"/>
                <a:ea typeface="+mn-ea"/>
              </a:rPr>
              <a:t>因此需确定</a:t>
            </a:r>
            <a:r>
              <a:rPr lang="zh-CN" altLang="ru-RU" b="1" dirty="0">
                <a:solidFill>
                  <a:srgbClr val="002060"/>
                </a:solidFill>
                <a:latin typeface="+mn-ea"/>
                <a:ea typeface="+mn-ea"/>
              </a:rPr>
              <a:t>四个待定常数</a:t>
            </a:r>
            <a:r>
              <a:rPr lang="ru-RU" altLang="zh-CN" dirty="0">
                <a:latin typeface="+mn-ea"/>
                <a:ea typeface="+mn-ea"/>
              </a:rPr>
              <a:t>, </a:t>
            </a:r>
            <a:r>
              <a:rPr lang="zh-CN" altLang="ru-RU" dirty="0">
                <a:latin typeface="+mn-ea"/>
                <a:ea typeface="+mn-ea"/>
              </a:rPr>
              <a:t>一共有</a:t>
            </a:r>
            <a:r>
              <a:rPr lang="ru-RU" altLang="zh-CN" i="1" dirty="0">
                <a:latin typeface="+mn-ea"/>
                <a:ea typeface="+mn-ea"/>
              </a:rPr>
              <a:t>n</a:t>
            </a:r>
            <a:r>
              <a:rPr lang="zh-CN" altLang="ru-RU" dirty="0">
                <a:latin typeface="+mn-ea"/>
                <a:ea typeface="+mn-ea"/>
              </a:rPr>
              <a:t>个小区间</a:t>
            </a:r>
            <a:r>
              <a:rPr lang="ru-RU" altLang="zh-CN" dirty="0">
                <a:latin typeface="+mn-ea"/>
                <a:ea typeface="+mn-ea"/>
              </a:rPr>
              <a:t>,</a:t>
            </a:r>
            <a:r>
              <a:rPr lang="zh-CN" altLang="ru-RU" dirty="0">
                <a:latin typeface="+mn-ea"/>
                <a:ea typeface="+mn-ea"/>
              </a:rPr>
              <a:t>故应</a:t>
            </a:r>
            <a:r>
              <a:rPr lang="zh-CN" altLang="ru-RU" dirty="0">
                <a:solidFill>
                  <a:srgbClr val="FF0000"/>
                </a:solidFill>
                <a:latin typeface="+mn-ea"/>
                <a:ea typeface="+mn-ea"/>
              </a:rPr>
              <a:t>确定</a:t>
            </a:r>
            <a:r>
              <a:rPr lang="ru-RU" altLang="zh-CN" dirty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ru-RU" altLang="zh-CN" i="1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zh-CN" altLang="ru-RU" dirty="0">
                <a:solidFill>
                  <a:srgbClr val="FF0000"/>
                </a:solidFill>
                <a:latin typeface="+mn-ea"/>
                <a:ea typeface="+mn-ea"/>
              </a:rPr>
              <a:t>个系数</a:t>
            </a:r>
            <a:endParaRPr lang="zh-CN" altLang="en-US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567608" y="1700808"/>
                <a:ext cx="15045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8" y="1700808"/>
                <a:ext cx="1504578" cy="369332"/>
              </a:xfrm>
              <a:prstGeom prst="rect">
                <a:avLst/>
              </a:prstGeom>
              <a:blipFill>
                <a:blip r:embed="rId2"/>
                <a:stretch>
                  <a:fillRect l="-4049" r="-810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470306" y="2230016"/>
                <a:ext cx="22759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306" y="2230016"/>
                <a:ext cx="2275944" cy="461665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096000" y="1919288"/>
                <a:ext cx="21005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=0,1,…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19288"/>
                <a:ext cx="2100511" cy="369332"/>
              </a:xfrm>
              <a:prstGeom prst="rect">
                <a:avLst/>
              </a:prstGeom>
              <a:blipFill>
                <a:blip r:embed="rId4"/>
                <a:stretch>
                  <a:fillRect l="-2609" r="-2609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576032" y="3112658"/>
                <a:ext cx="27565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032" y="3112658"/>
                <a:ext cx="2756587" cy="369332"/>
              </a:xfrm>
              <a:prstGeom prst="rect">
                <a:avLst/>
              </a:prstGeom>
              <a:blipFill>
                <a:blip r:embed="rId5"/>
                <a:stretch>
                  <a:fillRect l="-2212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576032" y="3806819"/>
                <a:ext cx="29168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032" y="3806819"/>
                <a:ext cx="2916889" cy="369332"/>
              </a:xfrm>
              <a:prstGeom prst="rect">
                <a:avLst/>
              </a:prstGeom>
              <a:blipFill>
                <a:blip r:embed="rId6"/>
                <a:stretch>
                  <a:fillRect l="-1883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096000" y="3425105"/>
                <a:ext cx="19391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=0,1,…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25105"/>
                <a:ext cx="1939121" cy="369332"/>
              </a:xfrm>
              <a:prstGeom prst="rect">
                <a:avLst/>
              </a:prstGeom>
              <a:blipFill>
                <a:blip r:embed="rId7"/>
                <a:stretch>
                  <a:fillRect l="-5346" t="-26667" r="-8491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右大括号 8"/>
          <p:cNvSpPr/>
          <p:nvPr/>
        </p:nvSpPr>
        <p:spPr bwMode="auto">
          <a:xfrm>
            <a:off x="4943872" y="1885474"/>
            <a:ext cx="549049" cy="67943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右大括号 9"/>
          <p:cNvSpPr/>
          <p:nvPr/>
        </p:nvSpPr>
        <p:spPr bwMode="auto">
          <a:xfrm>
            <a:off x="5492921" y="3325308"/>
            <a:ext cx="549049" cy="67943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52321" y="4885259"/>
            <a:ext cx="7859900" cy="1065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ru-RU" dirty="0">
                <a:latin typeface="+mn-ea"/>
                <a:ea typeface="+mn-ea"/>
              </a:rPr>
              <a:t>共计</a:t>
            </a:r>
            <a:r>
              <a:rPr lang="ru-RU" altLang="zh-CN" dirty="0">
                <a:latin typeface="+mn-ea"/>
                <a:ea typeface="+mn-ea"/>
              </a:rPr>
              <a:t>4</a:t>
            </a:r>
            <a:r>
              <a:rPr lang="ru-RU" altLang="zh-CN" i="1" dirty="0">
                <a:latin typeface="+mn-ea"/>
                <a:ea typeface="+mn-ea"/>
              </a:rPr>
              <a:t>n</a:t>
            </a:r>
            <a:r>
              <a:rPr lang="ru-RU" altLang="zh-CN" dirty="0">
                <a:latin typeface="+mn-ea"/>
                <a:ea typeface="+mn-ea"/>
              </a:rPr>
              <a:t>-2</a:t>
            </a:r>
            <a:r>
              <a:rPr lang="zh-CN" altLang="ru-RU" dirty="0">
                <a:latin typeface="+mn-ea"/>
                <a:ea typeface="+mn-ea"/>
              </a:rPr>
              <a:t>个，因此还需要</a:t>
            </a:r>
            <a:r>
              <a:rPr lang="ru-RU" altLang="zh-CN" dirty="0">
                <a:latin typeface="+mn-ea"/>
                <a:ea typeface="+mn-ea"/>
              </a:rPr>
              <a:t>2</a:t>
            </a:r>
            <a:r>
              <a:rPr lang="zh-CN" altLang="ru-RU" dirty="0">
                <a:latin typeface="+mn-ea"/>
                <a:ea typeface="+mn-ea"/>
              </a:rPr>
              <a:t>个条件才能确定</a:t>
            </a:r>
            <a:r>
              <a:rPr lang="ru-RU" altLang="zh-CN" i="1" dirty="0">
                <a:latin typeface="+mn-ea"/>
                <a:ea typeface="+mn-ea"/>
              </a:rPr>
              <a:t>S</a:t>
            </a:r>
            <a:r>
              <a:rPr lang="ru-RU" altLang="zh-CN" dirty="0">
                <a:latin typeface="+mn-ea"/>
                <a:ea typeface="+mn-ea"/>
              </a:rPr>
              <a:t>(</a:t>
            </a:r>
            <a:r>
              <a:rPr lang="ru-RU" altLang="zh-CN" i="1" dirty="0">
                <a:latin typeface="+mn-ea"/>
                <a:ea typeface="+mn-ea"/>
              </a:rPr>
              <a:t>x</a:t>
            </a:r>
            <a:r>
              <a:rPr lang="ru-RU" altLang="zh-CN" dirty="0">
                <a:latin typeface="+mn-ea"/>
                <a:ea typeface="+mn-ea"/>
              </a:rPr>
              <a:t>)</a:t>
            </a:r>
            <a:r>
              <a:rPr lang="zh-CN" altLang="ru-RU" dirty="0">
                <a:latin typeface="+mn-ea"/>
                <a:ea typeface="+mn-ea"/>
              </a:rPr>
              <a:t>，通常补充两个</a:t>
            </a:r>
            <a:r>
              <a:rPr lang="zh-CN" altLang="ru-RU" dirty="0">
                <a:solidFill>
                  <a:srgbClr val="0000FF"/>
                </a:solidFill>
                <a:latin typeface="+mn-ea"/>
                <a:ea typeface="+mn-ea"/>
              </a:rPr>
              <a:t>边界条件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（边界的一阶导数值或二阶导数值）</a:t>
            </a:r>
            <a:r>
              <a:rPr lang="zh-CN" altLang="ru-RU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069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1991544" y="908720"/>
                <a:ext cx="4592638" cy="150336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第一类：已知两端点的一阶导数</m:t>
                    </m:r>
                  </m:oMath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/>
                      </m:mr>
                    </m:m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         </a:t>
                </a:r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908720"/>
                <a:ext cx="4592638" cy="1503363"/>
              </a:xfrm>
              <a:prstGeom prst="rect">
                <a:avLst/>
              </a:prstGeom>
              <a:blipFill>
                <a:blip r:embed="rId2"/>
                <a:stretch>
                  <a:fillRect l="-1859" t="-1215" r="-5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 bwMode="auto">
              <a:xfrm>
                <a:off x="2084054" y="2591798"/>
                <a:ext cx="9397044" cy="403244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lnSpcReduction="10000"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第二类：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已知两端点二阶导数</m:t>
                    </m:r>
                  </m:oMath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当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时，即二阶导为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时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为自然边界条件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       </m:t>
                    </m:r>
                  </m:oMath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第三类：周期边界条件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首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尾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函数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值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一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阶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导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与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二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阶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导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相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等）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dirty="0">
                    <a:solidFill>
                      <a:srgbClr val="000000"/>
                    </a:solidFill>
                  </a:rPr>
                  <a:t>   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)=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+0)=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−0)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=0)=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−0)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4054" y="2591798"/>
                <a:ext cx="9397044" cy="4032448"/>
              </a:xfrm>
              <a:prstGeom prst="rect">
                <a:avLst/>
              </a:prstGeom>
              <a:blipFill>
                <a:blip r:embed="rId3"/>
                <a:stretch>
                  <a:fillRect l="-909" t="-1360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34846E92-C4BA-447C-A82B-48157DB3C4FF}"/>
              </a:ext>
            </a:extLst>
          </p:cNvPr>
          <p:cNvSpPr txBox="1"/>
          <p:nvPr/>
        </p:nvSpPr>
        <p:spPr>
          <a:xfrm>
            <a:off x="1703512" y="357197"/>
            <a:ext cx="2077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/>
              <a:t>边界条件：</a:t>
            </a:r>
          </a:p>
        </p:txBody>
      </p:sp>
    </p:spTree>
    <p:extLst>
      <p:ext uri="{BB962C8B-B14F-4D97-AF65-F5344CB8AC3E}">
        <p14:creationId xmlns:p14="http://schemas.microsoft.com/office/powerpoint/2010/main" val="41287119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076766" y="295390"/>
                <a:ext cx="9326569" cy="1745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latin typeface="+mn-ea"/>
                    <a:ea typeface="+mn-ea"/>
                  </a:rPr>
                  <a:t>求解方法：</a:t>
                </a:r>
                <a:r>
                  <a:rPr lang="zh-CN" altLang="ru-RU" b="1" dirty="0">
                    <a:latin typeface="+mn-ea"/>
                    <a:ea typeface="+mn-ea"/>
                  </a:rPr>
                  <a:t>三转角方程</a:t>
                </a:r>
                <a:r>
                  <a:rPr lang="en-US" altLang="zh-CN" b="1" dirty="0">
                    <a:latin typeface="+mn-ea"/>
                    <a:ea typeface="+mn-ea"/>
                  </a:rPr>
                  <a:t>(</a:t>
                </a:r>
                <a:r>
                  <a:rPr lang="zh-CN" altLang="en-US" b="1" dirty="0">
                    <a:latin typeface="+mn-ea"/>
                    <a:ea typeface="+mn-ea"/>
                  </a:rPr>
                  <a:t>待定一阶导数法</a:t>
                </a:r>
                <a:r>
                  <a:rPr lang="en-US" altLang="zh-CN" b="1" dirty="0">
                    <a:latin typeface="+mn-ea"/>
                    <a:ea typeface="+mn-ea"/>
                  </a:rPr>
                  <a:t>)</a:t>
                </a:r>
                <a:r>
                  <a:rPr lang="zh-CN" altLang="en-US" b="1" dirty="0">
                    <a:latin typeface="+mn-ea"/>
                    <a:ea typeface="+mn-ea"/>
                  </a:rPr>
                  <a:t>原理</a:t>
                </a:r>
                <a:r>
                  <a:rPr lang="en-US" altLang="zh-CN" b="1" dirty="0">
                    <a:latin typeface="+mn-ea"/>
                    <a:ea typeface="+mn-ea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latin typeface="+mn-ea"/>
                    <a:ea typeface="+mn-ea"/>
                  </a:rPr>
                  <a:t>   设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+mn-ea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  <m:t>S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+mn-ea"/>
                    <a:ea typeface="+mn-ea"/>
                  </a:rPr>
                  <a:t>已知，使用第一类条件，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</a:rPr>
                  <a:t>利用三次埃尔米特插值构造三次多项式，若能求得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  <a:ea typeface="+mn-ea"/>
                      </a:rPr>
                      <m:t>则</m:t>
                    </m:r>
                  </m:oMath>
                </a14:m>
                <a:r>
                  <a:rPr lang="en-US" altLang="zh-CN" b="1" dirty="0">
                    <a:latin typeface="+mn-ea"/>
                    <a:ea typeface="+mn-ea"/>
                  </a:rPr>
                  <a:t>S(x)</a:t>
                </a:r>
                <a:r>
                  <a:rPr lang="zh-CN" altLang="en-US" b="1" dirty="0">
                    <a:latin typeface="+mn-ea"/>
                    <a:ea typeface="+mn-ea"/>
                  </a:rPr>
                  <a:t>可求。</a:t>
                </a:r>
                <a:endParaRPr lang="zh-CN" altLang="ru-RU" b="1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766" y="295390"/>
                <a:ext cx="9326569" cy="1745093"/>
              </a:xfrm>
              <a:prstGeom prst="rect">
                <a:avLst/>
              </a:prstGeom>
              <a:blipFill>
                <a:blip r:embed="rId3"/>
                <a:stretch>
                  <a:fillRect l="-1046" r="-980"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3"/>
              <p:cNvSpPr txBox="1"/>
              <p:nvPr/>
            </p:nvSpPr>
            <p:spPr bwMode="auto">
              <a:xfrm>
                <a:off x="2645738" y="3785063"/>
                <a:ext cx="6618614" cy="11430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5738" y="3785063"/>
                <a:ext cx="6618614" cy="1143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6"/>
              <p:cNvSpPr txBox="1"/>
              <p:nvPr/>
            </p:nvSpPr>
            <p:spPr bwMode="auto">
              <a:xfrm>
                <a:off x="2567608" y="4804690"/>
                <a:ext cx="6696744" cy="11303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7608" y="4804690"/>
                <a:ext cx="6696744" cy="1130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5"/>
              <p:cNvSpPr txBox="1"/>
              <p:nvPr/>
            </p:nvSpPr>
            <p:spPr bwMode="auto">
              <a:xfrm>
                <a:off x="1524751" y="5768947"/>
                <a:ext cx="4051300" cy="12350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751" y="5768947"/>
                <a:ext cx="4051300" cy="12350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8"/>
              <p:cNvSpPr txBox="1"/>
              <p:nvPr/>
            </p:nvSpPr>
            <p:spPr bwMode="auto">
              <a:xfrm>
                <a:off x="5740051" y="5811617"/>
                <a:ext cx="5252493" cy="12160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40051" y="5811617"/>
                <a:ext cx="5252493" cy="12160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/>
              <p:cNvSpPr txBox="1"/>
              <p:nvPr/>
            </p:nvSpPr>
            <p:spPr bwMode="auto">
              <a:xfrm>
                <a:off x="1677835" y="2429625"/>
                <a:ext cx="9206361" cy="50006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7835" y="2429625"/>
                <a:ext cx="9206361" cy="500063"/>
              </a:xfrm>
              <a:prstGeom prst="rect">
                <a:avLst/>
              </a:prstGeom>
              <a:blipFill>
                <a:blip r:embed="rId8"/>
                <a:stretch>
                  <a:fillRect b="-10976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2"/>
          <p:cNvGrpSpPr>
            <a:grpSpLocks/>
          </p:cNvGrpSpPr>
          <p:nvPr/>
        </p:nvGrpSpPr>
        <p:grpSpPr bwMode="auto">
          <a:xfrm>
            <a:off x="1341086" y="2894579"/>
            <a:ext cx="8277488" cy="1217098"/>
            <a:chOff x="681182" y="1615005"/>
            <a:chExt cx="8278183" cy="1217454"/>
          </a:xfrm>
        </p:grpSpPr>
        <p:sp>
          <p:nvSpPr>
            <p:cNvPr id="18" name="Rectangle 3"/>
            <p:cNvSpPr txBox="1">
              <a:spLocks noChangeArrowheads="1"/>
            </p:cNvSpPr>
            <p:nvPr/>
          </p:nvSpPr>
          <p:spPr bwMode="auto">
            <a:xfrm>
              <a:off x="1329732" y="2113112"/>
              <a:ext cx="7501568" cy="719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其中，             为待定参数。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9" name="Object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88371091"/>
                    </p:ext>
                  </p:extLst>
                </p:nvPr>
              </p:nvGraphicFramePr>
              <p:xfrm>
                <a:off x="2177490" y="2145454"/>
                <a:ext cx="1027112" cy="503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86884" name="Equation" r:id="rId9" imgW="8115300" imgH="3952875" progId="Equation.DSMT4">
                        <p:embed/>
                      </p:oleObj>
                    </mc:Choice>
                    <mc:Fallback>
                      <p:oleObj name="Equation" r:id="rId9" imgW="8115300" imgH="3952875" progId="Equation.DSMT4">
                        <p:embed/>
                        <p:pic>
                          <p:nvPicPr>
                            <p:cNvPr id="55305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77490" y="2145454"/>
                              <a:ext cx="1027112" cy="5032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9" name="Object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88371091"/>
                    </p:ext>
                  </p:extLst>
                </p:nvPr>
              </p:nvGraphicFramePr>
              <p:xfrm>
                <a:off x="2177490" y="2145454"/>
                <a:ext cx="1027112" cy="503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86868" name="Equation" r:id="rId11" imgW="8115300" imgH="3952875" progId="Equation.DSMT4">
                        <p:embed/>
                      </p:oleObj>
                    </mc:Choice>
                    <mc:Fallback>
                      <p:oleObj name="Equation" r:id="rId11" imgW="8115300" imgH="3952875" progId="Equation.DSMT4">
                        <p:embed/>
                        <p:pic>
                          <p:nvPicPr>
                            <p:cNvPr id="55305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77490" y="2145454"/>
                              <a:ext cx="1027112" cy="5032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3"/>
                <p:cNvSpPr txBox="1"/>
                <p:nvPr/>
              </p:nvSpPr>
              <p:spPr bwMode="auto">
                <a:xfrm>
                  <a:off x="1201668" y="1734501"/>
                  <a:ext cx="7757697" cy="503385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1668" y="1734501"/>
                  <a:ext cx="7757697" cy="503385"/>
                </a:xfrm>
                <a:prstGeom prst="rect">
                  <a:avLst/>
                </a:prstGeom>
                <a:blipFill>
                  <a:blip r:embed="rId13"/>
                  <a:stretch>
                    <a:fillRect r="-236" b="-8434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C87DF2B-3659-48CC-BDA7-01F25987588F}"/>
                </a:ext>
              </a:extLst>
            </p:cNvPr>
            <p:cNvSpPr/>
            <p:nvPr/>
          </p:nvSpPr>
          <p:spPr>
            <a:xfrm>
              <a:off x="681182" y="1615005"/>
              <a:ext cx="492166" cy="6463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-342900" algn="just">
                <a:lnSpc>
                  <a:spcPct val="150000"/>
                </a:lnSpc>
                <a:spcBef>
                  <a:spcPts val="0"/>
                </a:spcBef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Times New Roman"/>
                  <a:ea typeface="宋体"/>
                </a:rPr>
                <a:t>设</a:t>
              </a:r>
              <a:endParaRPr lang="en-US" altLang="zh-CN" kern="0" dirty="0">
                <a:solidFill>
                  <a:srgbClr val="000000"/>
                </a:solidFill>
                <a:latin typeface="Times New Roman"/>
                <a:ea typeface="宋体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BB73D7F-DFE1-4182-9DD9-26D015217C92}"/>
                  </a:ext>
                </a:extLst>
              </p:cNvPr>
              <p:cNvSpPr txBox="1"/>
              <p:nvPr/>
            </p:nvSpPr>
            <p:spPr>
              <a:xfrm>
                <a:off x="1377124" y="2015266"/>
                <a:ext cx="2920287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b="0" dirty="0"/>
                  <a:t>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区</m:t>
                    </m:r>
                  </m:oMath>
                </a14:m>
                <a:r>
                  <a:rPr lang="zh-CN" altLang="en-US" dirty="0"/>
                  <a:t>间内有：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BB73D7F-DFE1-4182-9DD9-26D015217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124" y="2015266"/>
                <a:ext cx="2920287" cy="385555"/>
              </a:xfrm>
              <a:prstGeom prst="rect">
                <a:avLst/>
              </a:prstGeom>
              <a:blipFill>
                <a:blip r:embed="rId14"/>
                <a:stretch>
                  <a:fillRect l="-6472" t="-31746" r="-5219" b="-36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84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1FBBB53-F26A-406C-B882-2713A6168AC6}"/>
                  </a:ext>
                </a:extLst>
              </p:cNvPr>
              <p:cNvSpPr txBox="1"/>
              <p:nvPr/>
            </p:nvSpPr>
            <p:spPr>
              <a:xfrm>
                <a:off x="1919536" y="980728"/>
                <a:ext cx="2920287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b="0" dirty="0"/>
                  <a:t>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区</m:t>
                    </m:r>
                  </m:oMath>
                </a14:m>
                <a:r>
                  <a:rPr lang="zh-CN" altLang="en-US" dirty="0"/>
                  <a:t>间内有：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1FBBB53-F26A-406C-B882-2713A6168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980728"/>
                <a:ext cx="2920287" cy="385555"/>
              </a:xfrm>
              <a:prstGeom prst="rect">
                <a:avLst/>
              </a:prstGeom>
              <a:blipFill>
                <a:blip r:embed="rId3"/>
                <a:stretch>
                  <a:fillRect l="-6472" t="-31746" r="-5219" b="-36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3">
                <a:extLst>
                  <a:ext uri="{FF2B5EF4-FFF2-40B4-BE49-F238E27FC236}">
                    <a16:creationId xmlns:a16="http://schemas.microsoft.com/office/drawing/2014/main" id="{94C188A4-4415-472D-8025-2AACD39BA983}"/>
                  </a:ext>
                </a:extLst>
              </p:cNvPr>
              <p:cNvSpPr txBox="1"/>
              <p:nvPr/>
            </p:nvSpPr>
            <p:spPr bwMode="auto">
              <a:xfrm>
                <a:off x="3008164" y="2663300"/>
                <a:ext cx="6618614" cy="11430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Object 13">
                <a:extLst>
                  <a:ext uri="{FF2B5EF4-FFF2-40B4-BE49-F238E27FC236}">
                    <a16:creationId xmlns:a16="http://schemas.microsoft.com/office/drawing/2014/main" id="{94C188A4-4415-472D-8025-2AACD39BA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8164" y="2663300"/>
                <a:ext cx="6618614" cy="1143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6">
                <a:extLst>
                  <a:ext uri="{FF2B5EF4-FFF2-40B4-BE49-F238E27FC236}">
                    <a16:creationId xmlns:a16="http://schemas.microsoft.com/office/drawing/2014/main" id="{6DD892A6-7150-4B02-AFF8-02A5E3BF17FB}"/>
                  </a:ext>
                </a:extLst>
              </p:cNvPr>
              <p:cNvSpPr txBox="1"/>
              <p:nvPr/>
            </p:nvSpPr>
            <p:spPr bwMode="auto">
              <a:xfrm>
                <a:off x="2930034" y="3682927"/>
                <a:ext cx="6696744" cy="11303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Object 6">
                <a:extLst>
                  <a:ext uri="{FF2B5EF4-FFF2-40B4-BE49-F238E27FC236}">
                    <a16:creationId xmlns:a16="http://schemas.microsoft.com/office/drawing/2014/main" id="{6DD892A6-7150-4B02-AFF8-02A5E3BF1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0034" y="3682927"/>
                <a:ext cx="6696744" cy="1130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5">
                <a:extLst>
                  <a:ext uri="{FF2B5EF4-FFF2-40B4-BE49-F238E27FC236}">
                    <a16:creationId xmlns:a16="http://schemas.microsoft.com/office/drawing/2014/main" id="{965411B1-CC10-43A8-B63D-CF1A1691F77B}"/>
                  </a:ext>
                </a:extLst>
              </p:cNvPr>
              <p:cNvSpPr txBox="1"/>
              <p:nvPr/>
            </p:nvSpPr>
            <p:spPr bwMode="auto">
              <a:xfrm>
                <a:off x="1887177" y="4647184"/>
                <a:ext cx="4051300" cy="12350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Object 5">
                <a:extLst>
                  <a:ext uri="{FF2B5EF4-FFF2-40B4-BE49-F238E27FC236}">
                    <a16:creationId xmlns:a16="http://schemas.microsoft.com/office/drawing/2014/main" id="{965411B1-CC10-43A8-B63D-CF1A1691F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7177" y="4647184"/>
                <a:ext cx="4051300" cy="12350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8">
                <a:extLst>
                  <a:ext uri="{FF2B5EF4-FFF2-40B4-BE49-F238E27FC236}">
                    <a16:creationId xmlns:a16="http://schemas.microsoft.com/office/drawing/2014/main" id="{75088C1E-67DE-4C06-AE5B-33F814CC7CC3}"/>
                  </a:ext>
                </a:extLst>
              </p:cNvPr>
              <p:cNvSpPr txBox="1"/>
              <p:nvPr/>
            </p:nvSpPr>
            <p:spPr bwMode="auto">
              <a:xfrm>
                <a:off x="6102477" y="4689854"/>
                <a:ext cx="5252493" cy="12160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Object 8">
                <a:extLst>
                  <a:ext uri="{FF2B5EF4-FFF2-40B4-BE49-F238E27FC236}">
                    <a16:creationId xmlns:a16="http://schemas.microsoft.com/office/drawing/2014/main" id="{75088C1E-67DE-4C06-AE5B-33F814CC7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2477" y="4689854"/>
                <a:ext cx="5252493" cy="12160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组合 12">
            <a:extLst>
              <a:ext uri="{FF2B5EF4-FFF2-40B4-BE49-F238E27FC236}">
                <a16:creationId xmlns:a16="http://schemas.microsoft.com/office/drawing/2014/main" id="{04DDA49D-6CE5-4CFF-BB0B-47839DFCBD60}"/>
              </a:ext>
            </a:extLst>
          </p:cNvPr>
          <p:cNvGrpSpPr>
            <a:grpSpLocks/>
          </p:cNvGrpSpPr>
          <p:nvPr/>
        </p:nvGrpSpPr>
        <p:grpSpPr bwMode="auto">
          <a:xfrm>
            <a:off x="1799733" y="1559597"/>
            <a:ext cx="8277488" cy="1217098"/>
            <a:chOff x="681182" y="1615005"/>
            <a:chExt cx="8278183" cy="1217454"/>
          </a:xfrm>
        </p:grpSpPr>
        <p:sp>
          <p:nvSpPr>
            <p:cNvPr id="40" name="Rectangle 3">
              <a:extLst>
                <a:ext uri="{FF2B5EF4-FFF2-40B4-BE49-F238E27FC236}">
                  <a16:creationId xmlns:a16="http://schemas.microsoft.com/office/drawing/2014/main" id="{B0AA7DC9-3EEC-479B-84DB-B493DA9B2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9732" y="2113112"/>
              <a:ext cx="7501568" cy="719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其中，             为待定参数。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Object 2">
                  <a:extLst>
                    <a:ext uri="{FF2B5EF4-FFF2-40B4-BE49-F238E27FC236}">
                      <a16:creationId xmlns:a16="http://schemas.microsoft.com/office/drawing/2014/main" id="{443F7B79-E820-4B9F-B3CD-42E52655ACA4}"/>
                    </a:ext>
                  </a:extLst>
                </p:cNvPr>
                <p:cNvSpPr txBox="1"/>
                <p:nvPr/>
              </p:nvSpPr>
              <p:spPr bwMode="auto">
                <a:xfrm>
                  <a:off x="2265491" y="2237886"/>
                  <a:ext cx="1027199" cy="503384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Object 2">
                  <a:extLst>
                    <a:ext uri="{FF2B5EF4-FFF2-40B4-BE49-F238E27FC236}">
                      <a16:creationId xmlns:a16="http://schemas.microsoft.com/office/drawing/2014/main" id="{443F7B79-E820-4B9F-B3CD-42E52655A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65491" y="2237886"/>
                  <a:ext cx="1027199" cy="503384"/>
                </a:xfrm>
                <a:prstGeom prst="rect">
                  <a:avLst/>
                </a:prstGeom>
                <a:blipFill>
                  <a:blip r:embed="rId8"/>
                  <a:stretch>
                    <a:fillRect r="-4142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bject 3">
                  <a:extLst>
                    <a:ext uri="{FF2B5EF4-FFF2-40B4-BE49-F238E27FC236}">
                      <a16:creationId xmlns:a16="http://schemas.microsoft.com/office/drawing/2014/main" id="{76F12F48-2C6B-4020-BE9C-3F403734CAC5}"/>
                    </a:ext>
                  </a:extLst>
                </p:cNvPr>
                <p:cNvSpPr txBox="1"/>
                <p:nvPr/>
              </p:nvSpPr>
              <p:spPr bwMode="auto">
                <a:xfrm>
                  <a:off x="1201668" y="1734501"/>
                  <a:ext cx="7757697" cy="503385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Object 3">
                  <a:extLst>
                    <a:ext uri="{FF2B5EF4-FFF2-40B4-BE49-F238E27FC236}">
                      <a16:creationId xmlns:a16="http://schemas.microsoft.com/office/drawing/2014/main" id="{76F12F48-2C6B-4020-BE9C-3F403734C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1668" y="1734501"/>
                  <a:ext cx="7757697" cy="503385"/>
                </a:xfrm>
                <a:prstGeom prst="rect">
                  <a:avLst/>
                </a:prstGeom>
                <a:blipFill>
                  <a:blip r:embed="rId9"/>
                  <a:stretch>
                    <a:fillRect r="-236" b="-8434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FF40FB5-CD53-4DA7-856E-C3A90F40B154}"/>
                </a:ext>
              </a:extLst>
            </p:cNvPr>
            <p:cNvSpPr/>
            <p:nvPr/>
          </p:nvSpPr>
          <p:spPr>
            <a:xfrm>
              <a:off x="681182" y="1615005"/>
              <a:ext cx="492166" cy="6463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-342900" algn="just">
                <a:lnSpc>
                  <a:spcPct val="150000"/>
                </a:lnSpc>
                <a:spcBef>
                  <a:spcPts val="0"/>
                </a:spcBef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Times New Roman"/>
                  <a:ea typeface="宋体"/>
                </a:rPr>
                <a:t>设</a:t>
              </a:r>
              <a:endParaRPr lang="en-US" altLang="zh-CN" kern="0" dirty="0">
                <a:solidFill>
                  <a:srgbClr val="000000"/>
                </a:solidFill>
                <a:latin typeface="Times New Roman"/>
                <a:ea typeface="宋体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1"/>
          <p:cNvSpPr>
            <a:spLocks noChangeArrowheads="1"/>
          </p:cNvSpPr>
          <p:nvPr/>
        </p:nvSpPr>
        <p:spPr bwMode="auto">
          <a:xfrm>
            <a:off x="2205062" y="331969"/>
            <a:ext cx="8032750" cy="714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在区间</a:t>
            </a:r>
            <a:r>
              <a:rPr lang="zh-CN" altLang="en-US" sz="2400" b="1" dirty="0">
                <a:solidFill>
                  <a:srgbClr val="CC3300"/>
                </a:solidFill>
              </a:rPr>
              <a:t>端点</a:t>
            </a:r>
            <a:r>
              <a:rPr lang="zh-CN" altLang="en-US" sz="2400" dirty="0"/>
              <a:t>处，第一类边界条件有：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3" name="Object 3"/>
              <p:cNvSpPr txBox="1"/>
              <p:nvPr/>
            </p:nvSpPr>
            <p:spPr bwMode="auto">
              <a:xfrm>
                <a:off x="3226250" y="1128357"/>
                <a:ext cx="4154784" cy="4699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632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6250" y="1128357"/>
                <a:ext cx="4154784" cy="469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11"/>
          <p:cNvGrpSpPr>
            <a:grpSpLocks/>
          </p:cNvGrpSpPr>
          <p:nvPr/>
        </p:nvGrpSpPr>
        <p:grpSpPr bwMode="auto">
          <a:xfrm>
            <a:off x="2135188" y="1268413"/>
            <a:ext cx="8034337" cy="1570037"/>
            <a:chOff x="611560" y="1484784"/>
            <a:chExt cx="8033518" cy="1569566"/>
          </a:xfrm>
        </p:grpSpPr>
        <p:graphicFrame>
          <p:nvGraphicFramePr>
            <p:cNvPr id="56346" name="Object 8"/>
            <p:cNvGraphicFramePr>
              <a:graphicFrameLocks noChangeAspect="1"/>
            </p:cNvGraphicFramePr>
            <p:nvPr/>
          </p:nvGraphicFramePr>
          <p:xfrm>
            <a:off x="2571750" y="2428875"/>
            <a:ext cx="2711450" cy="625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63" name="Equation" r:id="rId5" imgW="23040975" imgH="5267325" progId="Equation.DSMT4">
                    <p:embed/>
                  </p:oleObj>
                </mc:Choice>
                <mc:Fallback>
                  <p:oleObj name="Equation" r:id="rId5" imgW="23040975" imgH="5267325" progId="Equation.DSMT4">
                    <p:embed/>
                    <p:pic>
                      <p:nvPicPr>
                        <p:cNvPr id="5634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750" y="2428875"/>
                          <a:ext cx="2711450" cy="625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47" name="矩形 9"/>
            <p:cNvSpPr>
              <a:spLocks noChangeArrowheads="1"/>
            </p:cNvSpPr>
            <p:nvPr/>
          </p:nvSpPr>
          <p:spPr bwMode="auto">
            <a:xfrm>
              <a:off x="611560" y="1484784"/>
              <a:ext cx="8033518" cy="830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2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在</a:t>
              </a:r>
              <a:r>
                <a:rPr lang="zh-CN" altLang="en-US" sz="2400" b="1">
                  <a:solidFill>
                    <a:srgbClr val="CC3300"/>
                  </a:solidFill>
                </a:rPr>
                <a:t>其他节点</a:t>
              </a:r>
              <a:r>
                <a:rPr lang="zh-CN" altLang="en-US" sz="2400"/>
                <a:t>处 </a:t>
              </a:r>
              <a:r>
                <a:rPr lang="en-US" altLang="zh-CN" sz="2400" i="1"/>
                <a:t>m</a:t>
              </a:r>
              <a:r>
                <a:rPr lang="en-US" altLang="zh-CN" sz="2400" i="1" baseline="-30000"/>
                <a:t>i</a:t>
              </a:r>
              <a:r>
                <a:rPr lang="en-US" altLang="zh-CN" sz="2400"/>
                <a:t> </a:t>
              </a:r>
              <a:r>
                <a:rPr lang="en-US" altLang="zh-CN" sz="2400">
                  <a:cs typeface="Times New Roman" panose="02020603050405020304" pitchFamily="18" charset="0"/>
                </a:rPr>
                <a:t>(</a:t>
              </a:r>
              <a:r>
                <a:rPr lang="en-US" altLang="zh-CN" sz="2400" i="1">
                  <a:cs typeface="Times New Roman" panose="02020603050405020304" pitchFamily="18" charset="0"/>
                </a:rPr>
                <a:t>i</a:t>
              </a:r>
              <a:r>
                <a:rPr lang="en-US" altLang="zh-CN" sz="2400">
                  <a:cs typeface="Times New Roman" panose="02020603050405020304" pitchFamily="18" charset="0"/>
                </a:rPr>
                <a:t>=1,2,</a:t>
              </a:r>
              <a:r>
                <a:rPr lang="en-US" altLang="zh-CN" sz="2400"/>
                <a:t>…</a:t>
              </a:r>
              <a:r>
                <a:rPr lang="en-US" altLang="zh-CN" sz="2400">
                  <a:cs typeface="Times New Roman" panose="02020603050405020304" pitchFamily="18" charset="0"/>
                </a:rPr>
                <a:t>,</a:t>
              </a:r>
              <a:r>
                <a:rPr lang="en-US" altLang="zh-CN" sz="2400" i="1">
                  <a:cs typeface="Times New Roman" panose="02020603050405020304" pitchFamily="18" charset="0"/>
                </a:rPr>
                <a:t>n</a:t>
              </a:r>
              <a:r>
                <a:rPr lang="en-US" altLang="zh-CN" sz="2400">
                  <a:cs typeface="Times New Roman" panose="02020603050405020304" pitchFamily="18" charset="0"/>
                </a:rPr>
                <a:t>-1)</a:t>
              </a:r>
              <a:r>
                <a:rPr lang="zh-CN" altLang="en-US" sz="2400">
                  <a:cs typeface="Times New Roman" panose="02020603050405020304" pitchFamily="18" charset="0"/>
                </a:rPr>
                <a:t>，</a:t>
              </a:r>
              <a:r>
                <a:rPr lang="en-US" altLang="zh-CN" sz="2400" i="1"/>
                <a:t> x</a:t>
              </a:r>
              <a:r>
                <a:rPr lang="en-US" altLang="zh-CN" sz="2400" i="1" baseline="-30000"/>
                <a:t>i</a:t>
              </a:r>
              <a:r>
                <a:rPr lang="en-US" altLang="zh-CN" sz="2400"/>
                <a:t> </a:t>
              </a:r>
              <a:r>
                <a:rPr lang="en-US" altLang="zh-CN" sz="2400">
                  <a:cs typeface="Times New Roman" panose="02020603050405020304" pitchFamily="18" charset="0"/>
                </a:rPr>
                <a:t>(</a:t>
              </a:r>
              <a:r>
                <a:rPr lang="en-US" altLang="zh-CN" sz="2400" i="1">
                  <a:cs typeface="Times New Roman" panose="02020603050405020304" pitchFamily="18" charset="0"/>
                </a:rPr>
                <a:t>i</a:t>
              </a:r>
              <a:r>
                <a:rPr lang="en-US" altLang="zh-CN" sz="2400">
                  <a:cs typeface="Times New Roman" panose="02020603050405020304" pitchFamily="18" charset="0"/>
                </a:rPr>
                <a:t>=1,2,</a:t>
              </a:r>
              <a:r>
                <a:rPr lang="en-US" altLang="zh-CN" sz="2400"/>
                <a:t>…</a:t>
              </a:r>
              <a:r>
                <a:rPr lang="en-US" altLang="zh-CN" sz="2400">
                  <a:cs typeface="Times New Roman" panose="02020603050405020304" pitchFamily="18" charset="0"/>
                </a:rPr>
                <a:t>,</a:t>
              </a:r>
              <a:r>
                <a:rPr lang="en-US" altLang="zh-CN" sz="2400" i="1">
                  <a:cs typeface="Times New Roman" panose="02020603050405020304" pitchFamily="18" charset="0"/>
                </a:rPr>
                <a:t>n</a:t>
              </a:r>
              <a:r>
                <a:rPr lang="en-US" altLang="zh-CN" sz="2400">
                  <a:cs typeface="Times New Roman" panose="02020603050405020304" pitchFamily="18" charset="0"/>
                </a:rPr>
                <a:t>-1)</a:t>
              </a:r>
              <a:r>
                <a:rPr lang="zh-CN" altLang="en-US" sz="2400">
                  <a:cs typeface="Times New Roman" panose="02020603050405020304" pitchFamily="18" charset="0"/>
                </a:rPr>
                <a:t>上，令</a:t>
              </a:r>
              <a:endParaRPr lang="en-US" altLang="zh-CN" sz="2400">
                <a:cs typeface="Times New Roman" panose="02020603050405020304" pitchFamily="18" charset="0"/>
              </a:endParaRPr>
            </a:p>
          </p:txBody>
        </p:sp>
      </p:grpSp>
      <p:pic>
        <p:nvPicPr>
          <p:cNvPr id="30730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5805488"/>
            <a:ext cx="58864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16"/>
          <p:cNvGrpSpPr>
            <a:grpSpLocks/>
          </p:cNvGrpSpPr>
          <p:nvPr/>
        </p:nvGrpSpPr>
        <p:grpSpPr bwMode="auto">
          <a:xfrm>
            <a:off x="2381250" y="3643313"/>
            <a:ext cx="7299325" cy="2071687"/>
            <a:chOff x="1066800" y="3709988"/>
            <a:chExt cx="7298854" cy="2072431"/>
          </a:xfrm>
        </p:grpSpPr>
        <p:pic>
          <p:nvPicPr>
            <p:cNvPr id="56344" name="Picture 6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3709988"/>
              <a:ext cx="7010400" cy="933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45" name="Picture 11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7704" y="4725144"/>
              <a:ext cx="6457950" cy="1057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组合 25"/>
          <p:cNvGrpSpPr>
            <a:grpSpLocks/>
          </p:cNvGrpSpPr>
          <p:nvPr/>
        </p:nvGrpSpPr>
        <p:grpSpPr bwMode="auto">
          <a:xfrm>
            <a:off x="2135188" y="2693569"/>
            <a:ext cx="9289404" cy="1453411"/>
            <a:chOff x="611188" y="2693569"/>
            <a:chExt cx="8064500" cy="1453411"/>
          </a:xfrm>
        </p:grpSpPr>
        <p:sp>
          <p:nvSpPr>
            <p:cNvPr id="56342" name="矩形 10"/>
            <p:cNvSpPr>
              <a:spLocks noChangeArrowheads="1"/>
            </p:cNvSpPr>
            <p:nvPr/>
          </p:nvSpPr>
          <p:spPr bwMode="auto">
            <a:xfrm>
              <a:off x="611188" y="2693569"/>
              <a:ext cx="8064500" cy="1453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2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660066"/>
                  </a:solidFill>
                  <a:cs typeface="Times New Roman" panose="02020603050405020304" pitchFamily="18" charset="0"/>
                </a:rPr>
                <a:t>下面计算                   ：</a:t>
              </a:r>
              <a:r>
                <a:rPr lang="zh-CN" altLang="en-US" sz="2400" dirty="0">
                  <a:cs typeface="Times New Roman" panose="02020603050405020304" pitchFamily="18" charset="0"/>
                </a:rPr>
                <a:t>记                                    ，在               上，有</a:t>
              </a:r>
              <a:endParaRPr lang="en-US" altLang="zh-CN" sz="2400" dirty="0"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40" name="Object 5"/>
                <p:cNvSpPr txBox="1"/>
                <p:nvPr/>
              </p:nvSpPr>
              <p:spPr bwMode="auto">
                <a:xfrm>
                  <a:off x="3167274" y="2978915"/>
                  <a:ext cx="2952328" cy="46990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步</m:t>
                        </m:r>
                        <m:r>
                          <a:rPr lang="zh-CN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长</m:t>
                        </m:r>
                        <m:sSub>
                          <m:sSubPr>
                            <m:ctrlPr>
                              <a:rPr lang="zh-CN" alt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6340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67274" y="2978915"/>
                  <a:ext cx="2952328" cy="4699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41" name="Object 9"/>
                <p:cNvSpPr txBox="1"/>
                <p:nvPr/>
              </p:nvSpPr>
              <p:spPr bwMode="auto">
                <a:xfrm>
                  <a:off x="6489256" y="3001850"/>
                  <a:ext cx="1033463" cy="46990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341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89256" y="3001850"/>
                  <a:ext cx="1033463" cy="469900"/>
                </a:xfrm>
                <a:prstGeom prst="rect">
                  <a:avLst/>
                </a:prstGeom>
                <a:blipFill>
                  <a:blip r:embed="rId11"/>
                  <a:stretch>
                    <a:fillRect l="-3590" r="-6154" b="-7692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6343" name="Object 1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06192757"/>
                    </p:ext>
                  </p:extLst>
                </p:nvPr>
              </p:nvGraphicFramePr>
              <p:xfrm>
                <a:off x="1742609" y="2951827"/>
                <a:ext cx="1239838" cy="6254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7864" name="Equation" r:id="rId12" imgW="10534650" imgH="5267325" progId="Equation.DSMT4">
                        <p:embed/>
                      </p:oleObj>
                    </mc:Choice>
                    <mc:Fallback>
                      <p:oleObj name="Equation" r:id="rId12" imgW="10534650" imgH="5267325" progId="Equation.DSMT4">
                        <p:embed/>
                        <p:pic>
                          <p:nvPicPr>
                            <p:cNvPr id="56343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42609" y="2951827"/>
                              <a:ext cx="1239838" cy="6254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56343" name="Object 1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06192757"/>
                    </p:ext>
                  </p:extLst>
                </p:nvPr>
              </p:nvGraphicFramePr>
              <p:xfrm>
                <a:off x="1742609" y="2951827"/>
                <a:ext cx="1239838" cy="6254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7849" name="Equation" r:id="rId14" imgW="10534650" imgH="5267325" progId="Equation.DSMT4">
                        <p:embed/>
                      </p:oleObj>
                    </mc:Choice>
                    <mc:Fallback>
                      <p:oleObj name="Equation" r:id="rId14" imgW="10534650" imgH="5267325" progId="Equation.DSMT4">
                        <p:embed/>
                        <p:pic>
                          <p:nvPicPr>
                            <p:cNvPr id="56343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42609" y="2951827"/>
                              <a:ext cx="1239838" cy="6254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56329" name="组合 33"/>
          <p:cNvGrpSpPr>
            <a:grpSpLocks/>
          </p:cNvGrpSpPr>
          <p:nvPr/>
        </p:nvGrpSpPr>
        <p:grpSpPr bwMode="auto">
          <a:xfrm>
            <a:off x="8810625" y="0"/>
            <a:ext cx="1857375" cy="1176338"/>
            <a:chOff x="7286644" y="0"/>
            <a:chExt cx="1857356" cy="1176021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AE47BDA-69D4-4FBA-8403-76C793B0DC53}"/>
                </a:ext>
              </a:extLst>
            </p:cNvPr>
            <p:cNvSpPr/>
            <p:nvPr/>
          </p:nvSpPr>
          <p:spPr bwMode="auto">
            <a:xfrm>
              <a:off x="7286644" y="0"/>
              <a:ext cx="1857356" cy="107127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56331" name="直接连接符 17"/>
            <p:cNvCxnSpPr>
              <a:cxnSpLocks noChangeShapeType="1"/>
            </p:cNvCxnSpPr>
            <p:nvPr/>
          </p:nvCxnSpPr>
          <p:spPr bwMode="auto">
            <a:xfrm>
              <a:off x="7429520" y="428628"/>
              <a:ext cx="1571636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32" name="直接连接符 19"/>
            <p:cNvCxnSpPr>
              <a:cxnSpLocks noChangeShapeType="1"/>
            </p:cNvCxnSpPr>
            <p:nvPr/>
          </p:nvCxnSpPr>
          <p:spPr bwMode="auto">
            <a:xfrm rot="5400000">
              <a:off x="8179619" y="392909"/>
              <a:ext cx="214314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33" name="直接连接符 20"/>
            <p:cNvCxnSpPr>
              <a:cxnSpLocks noChangeShapeType="1"/>
            </p:cNvCxnSpPr>
            <p:nvPr/>
          </p:nvCxnSpPr>
          <p:spPr bwMode="auto">
            <a:xfrm rot="5400000">
              <a:off x="7680347" y="392115"/>
              <a:ext cx="214314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34" name="直接连接符 21"/>
            <p:cNvCxnSpPr>
              <a:cxnSpLocks noChangeShapeType="1"/>
            </p:cNvCxnSpPr>
            <p:nvPr/>
          </p:nvCxnSpPr>
          <p:spPr bwMode="auto">
            <a:xfrm rot="5400000">
              <a:off x="8678891" y="392115"/>
              <a:ext cx="214314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56335" name="Object 17"/>
            <p:cNvGraphicFramePr>
              <a:graphicFrameLocks noChangeAspect="1"/>
            </p:cNvGraphicFramePr>
            <p:nvPr/>
          </p:nvGraphicFramePr>
          <p:xfrm>
            <a:off x="8173690" y="533950"/>
            <a:ext cx="309562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65" name="Equation" r:id="rId16" imgW="2628900" imgH="3952875" progId="Equation.DSMT4">
                    <p:embed/>
                  </p:oleObj>
                </mc:Choice>
                <mc:Fallback>
                  <p:oleObj name="Equation" r:id="rId16" imgW="2628900" imgH="3952875" progId="Equation.DSMT4">
                    <p:embed/>
                    <p:pic>
                      <p:nvPicPr>
                        <p:cNvPr id="5633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3690" y="533950"/>
                          <a:ext cx="309562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36" name="Object 18"/>
            <p:cNvGraphicFramePr>
              <a:graphicFrameLocks noChangeAspect="1"/>
            </p:cNvGraphicFramePr>
            <p:nvPr/>
          </p:nvGraphicFramePr>
          <p:xfrm>
            <a:off x="7580337" y="500066"/>
            <a:ext cx="49212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66" name="Equation" r:id="rId18" imgW="4171950" imgH="3952875" progId="Equation.DSMT4">
                    <p:embed/>
                  </p:oleObj>
                </mc:Choice>
                <mc:Fallback>
                  <p:oleObj name="Equation" r:id="rId18" imgW="4171950" imgH="3952875" progId="Equation.DSMT4">
                    <p:embed/>
                    <p:pic>
                      <p:nvPicPr>
                        <p:cNvPr id="5633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80337" y="500066"/>
                          <a:ext cx="492125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37" name="Object 19"/>
            <p:cNvGraphicFramePr>
              <a:graphicFrameLocks noChangeAspect="1"/>
            </p:cNvGraphicFramePr>
            <p:nvPr/>
          </p:nvGraphicFramePr>
          <p:xfrm>
            <a:off x="8643966" y="530232"/>
            <a:ext cx="49212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67" name="Equation" r:id="rId20" imgW="4171950" imgH="3952875" progId="Equation.DSMT4">
                    <p:embed/>
                  </p:oleObj>
                </mc:Choice>
                <mc:Fallback>
                  <p:oleObj name="Equation" r:id="rId20" imgW="4171950" imgH="3952875" progId="Equation.DSMT4">
                    <p:embed/>
                    <p:pic>
                      <p:nvPicPr>
                        <p:cNvPr id="5633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3966" y="530232"/>
                          <a:ext cx="492125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8" name="矩形 31"/>
            <p:cNvSpPr>
              <a:spLocks noChangeArrowheads="1"/>
            </p:cNvSpPr>
            <p:nvPr/>
          </p:nvSpPr>
          <p:spPr bwMode="auto">
            <a:xfrm>
              <a:off x="7988312" y="714182"/>
              <a:ext cx="227011" cy="461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56339" name="矩形 32"/>
            <p:cNvSpPr>
              <a:spLocks noChangeArrowheads="1"/>
            </p:cNvSpPr>
            <p:nvPr/>
          </p:nvSpPr>
          <p:spPr bwMode="auto">
            <a:xfrm>
              <a:off x="8345496" y="714182"/>
              <a:ext cx="227010" cy="461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501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1214438"/>
            <a:ext cx="5072063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73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556744"/>
              </p:ext>
            </p:extLst>
          </p:nvPr>
        </p:nvGraphicFramePr>
        <p:xfrm>
          <a:off x="6065235" y="620713"/>
          <a:ext cx="10334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73" name="Equation" r:id="rId4" imgW="8772525" imgH="3952875" progId="Equation.DSMT4">
                  <p:embed/>
                </p:oleObj>
              </mc:Choice>
              <mc:Fallback>
                <p:oleObj name="Equation" r:id="rId4" imgW="8772525" imgH="395287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5235" y="620713"/>
                        <a:ext cx="10334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8" name="矩形 5"/>
          <p:cNvSpPr>
            <a:spLocks noChangeArrowheads="1"/>
          </p:cNvSpPr>
          <p:nvPr/>
        </p:nvSpPr>
        <p:spPr bwMode="auto">
          <a:xfrm>
            <a:off x="1505198" y="600116"/>
            <a:ext cx="80471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用同样的方法，</a:t>
            </a:r>
            <a:r>
              <a:rPr lang="zh-CN" altLang="en-US" sz="2400" dirty="0">
                <a:cs typeface="Times New Roman" panose="02020603050405020304" pitchFamily="18" charset="0"/>
              </a:rPr>
              <a:t>记                      </a:t>
            </a:r>
            <a:r>
              <a:rPr lang="zh-CN" altLang="en-US" sz="2400" dirty="0"/>
              <a:t>在               上，可得</a:t>
            </a: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133600" y="2416175"/>
            <a:ext cx="7924800" cy="1584325"/>
            <a:chOff x="609600" y="2416820"/>
            <a:chExt cx="7924800" cy="1583680"/>
          </a:xfrm>
        </p:grpSpPr>
        <p:graphicFrame>
          <p:nvGraphicFramePr>
            <p:cNvPr id="57353" name="Object 8"/>
            <p:cNvGraphicFramePr>
              <a:graphicFrameLocks noChangeAspect="1"/>
            </p:cNvGraphicFramePr>
            <p:nvPr/>
          </p:nvGraphicFramePr>
          <p:xfrm>
            <a:off x="1285875" y="2428875"/>
            <a:ext cx="2711450" cy="625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274" name="Equation" r:id="rId6" imgW="23040975" imgH="5267325" progId="Equation.DSMT4">
                    <p:embed/>
                  </p:oleObj>
                </mc:Choice>
                <mc:Fallback>
                  <p:oleObj name="Equation" r:id="rId6" imgW="23040975" imgH="526732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5875" y="2428875"/>
                          <a:ext cx="2711450" cy="625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7354" name="Picture 6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3136900"/>
              <a:ext cx="7924800" cy="86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55" name="矩形 5"/>
            <p:cNvSpPr>
              <a:spLocks noChangeArrowheads="1"/>
            </p:cNvSpPr>
            <p:nvPr/>
          </p:nvSpPr>
          <p:spPr bwMode="auto">
            <a:xfrm>
              <a:off x="827584" y="2416820"/>
              <a:ext cx="36471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由                                     得</a:t>
              </a:r>
            </a:p>
          </p:txBody>
        </p:sp>
      </p:grpSp>
      <p:grpSp>
        <p:nvGrpSpPr>
          <p:cNvPr id="3" name="组合 11"/>
          <p:cNvGrpSpPr>
            <a:grpSpLocks/>
          </p:cNvGrpSpPr>
          <p:nvPr/>
        </p:nvGrpSpPr>
        <p:grpSpPr bwMode="auto">
          <a:xfrm>
            <a:off x="2207568" y="4365626"/>
            <a:ext cx="9129266" cy="1347992"/>
            <a:chOff x="683568" y="4365104"/>
            <a:chExt cx="9129266" cy="1348393"/>
          </a:xfrm>
        </p:grpSpPr>
        <p:graphicFrame>
          <p:nvGraphicFramePr>
            <p:cNvPr id="5735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2744705"/>
                </p:ext>
              </p:extLst>
            </p:nvPr>
          </p:nvGraphicFramePr>
          <p:xfrm>
            <a:off x="827584" y="4670510"/>
            <a:ext cx="8985250" cy="1042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275" name="Equation" r:id="rId9" imgW="76361925" imgH="8772525" progId="Equation.DSMT4">
                    <p:embed/>
                  </p:oleObj>
                </mc:Choice>
                <mc:Fallback>
                  <p:oleObj name="Equation" r:id="rId9" imgW="76361925" imgH="877252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584" y="4670510"/>
                          <a:ext cx="8985250" cy="1042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52" name="矩形 5"/>
            <p:cNvSpPr>
              <a:spLocks noChangeArrowheads="1"/>
            </p:cNvSpPr>
            <p:nvPr/>
          </p:nvSpPr>
          <p:spPr bwMode="auto">
            <a:xfrm>
              <a:off x="683568" y="4365104"/>
              <a:ext cx="1107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整理得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33273" y="5877272"/>
                <a:ext cx="11325453" cy="6992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=3[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73" y="5877272"/>
                <a:ext cx="11325453" cy="6992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611777"/>
              </p:ext>
            </p:extLst>
          </p:nvPr>
        </p:nvGraphicFramePr>
        <p:xfrm>
          <a:off x="4156134" y="593606"/>
          <a:ext cx="1549252" cy="470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76" name="Equation" r:id="rId12" imgW="13163550" imgH="3952875" progId="Equation.DSMT4">
                  <p:embed/>
                </p:oleObj>
              </mc:Choice>
              <mc:Fallback>
                <p:oleObj name="Equation" r:id="rId12" imgW="13163550" imgH="3952875" progId="Equation.DSMT4">
                  <p:embed/>
                  <p:pic>
                    <p:nvPicPr>
                      <p:cNvPr id="5634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134" y="593606"/>
                        <a:ext cx="1549252" cy="470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4AE4F55-11FF-44EF-BE04-D73B50EE5DF9}"/>
              </a:ext>
            </a:extLst>
          </p:cNvPr>
          <p:cNvSpPr txBox="1"/>
          <p:nvPr/>
        </p:nvSpPr>
        <p:spPr>
          <a:xfrm>
            <a:off x="8273296" y="1344037"/>
            <a:ext cx="3023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i="1" dirty="0">
                <a:solidFill>
                  <a:srgbClr val="7030A0"/>
                </a:solidFill>
              </a:rPr>
              <a:t>二阶导数方向相反值相同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5480" y="836712"/>
            <a:ext cx="17235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两边同除以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得到：</a:t>
            </a:r>
            <a:endParaRPr lang="en-US" altLang="zh-CN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215680" y="764704"/>
                <a:ext cx="1815241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764704"/>
                <a:ext cx="1815241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23392" y="2439768"/>
                <a:ext cx="11092273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=3[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2439768"/>
                <a:ext cx="11092273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7"/>
          <p:cNvGrpSpPr>
            <a:grpSpLocks/>
          </p:cNvGrpSpPr>
          <p:nvPr/>
        </p:nvGrpSpPr>
        <p:grpSpPr bwMode="auto">
          <a:xfrm>
            <a:off x="1758948" y="3619879"/>
            <a:ext cx="9769714" cy="2056177"/>
            <a:chOff x="450288" y="4445345"/>
            <a:chExt cx="9769714" cy="2056177"/>
          </a:xfrm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642938" y="457200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令：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3"/>
                <p:cNvSpPr txBox="1"/>
                <p:nvPr/>
              </p:nvSpPr>
              <p:spPr bwMode="auto">
                <a:xfrm>
                  <a:off x="1443156" y="4445345"/>
                  <a:ext cx="2296125" cy="958849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7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3156" y="4445345"/>
                  <a:ext cx="2296125" cy="95884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4"/>
                <p:cNvSpPr txBox="1"/>
                <p:nvPr/>
              </p:nvSpPr>
              <p:spPr bwMode="auto">
                <a:xfrm>
                  <a:off x="450288" y="5542672"/>
                  <a:ext cx="9769714" cy="95885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r>
                    <a:rPr lang="en-US" altLang="zh-CN" dirty="0"/>
                    <a:t>=</a:t>
                  </a:r>
                  <a:r>
                    <a:rPr lang="zh-CN" altLang="en-US" dirty="0">
                      <a:solidFill>
                        <a:srgbClr val="0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0288" y="5542672"/>
                  <a:ext cx="9769714" cy="9588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5095633" y="3791797"/>
                <a:ext cx="3096344" cy="672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  <a:ea typeface="+mn-ea"/>
                      </a:rPr>
                      <m:t>=1−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+mn-ea"/>
                          </a:rPr>
                          <m:t>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+mn-ea"/>
                          </a:rPr>
                          <m:t>i</m:t>
                        </m:r>
                      </m:sub>
                    </m:sSub>
                  </m:oMath>
                </a14:m>
                <a:endParaRPr lang="zh-CN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633" y="3791797"/>
                <a:ext cx="3096344" cy="672364"/>
              </a:xfrm>
              <a:prstGeom prst="rect">
                <a:avLst/>
              </a:prstGeom>
              <a:blipFill>
                <a:blip r:embed="rId7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654878" y="5877272"/>
                <a:ext cx="6537099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整理得：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m:rPr>
                            <m:nor/>
                          </m:rPr>
                          <a:rPr lang="zh-CN" altLang="en-US" dirty="0"/>
                          <m:t> 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878" y="5877272"/>
                <a:ext cx="6537099" cy="461665"/>
              </a:xfrm>
              <a:prstGeom prst="rect">
                <a:avLst/>
              </a:prstGeom>
              <a:blipFill>
                <a:blip r:embed="rId10"/>
                <a:stretch>
                  <a:fillRect l="-1398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云形 11"/>
          <p:cNvSpPr/>
          <p:nvPr/>
        </p:nvSpPr>
        <p:spPr bwMode="auto">
          <a:xfrm>
            <a:off x="7320136" y="5676056"/>
            <a:ext cx="2952328" cy="864096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三转角法的基本方程组</a:t>
            </a:r>
          </a:p>
        </p:txBody>
      </p:sp>
    </p:spTree>
    <p:extLst>
      <p:ext uri="{BB962C8B-B14F-4D97-AF65-F5344CB8AC3E}">
        <p14:creationId xmlns:p14="http://schemas.microsoft.com/office/powerpoint/2010/main" val="98119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6" name="矩形 2"/>
          <p:cNvSpPr>
            <a:spLocks noChangeArrowheads="1"/>
          </p:cNvSpPr>
          <p:nvPr/>
        </p:nvSpPr>
        <p:spPr bwMode="auto">
          <a:xfrm>
            <a:off x="1469770" y="1375068"/>
            <a:ext cx="75009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进一步整理，可得到关于</a:t>
            </a:r>
            <a:r>
              <a:rPr lang="en-US" altLang="zh-CN" sz="2400" i="1" dirty="0">
                <a:cs typeface="Times New Roman" panose="02020603050405020304" pitchFamily="18" charset="0"/>
              </a:rPr>
              <a:t>m</a:t>
            </a:r>
            <a:r>
              <a:rPr lang="en-US" altLang="zh-CN" sz="2400" i="1" baseline="-30000" dirty="0"/>
              <a:t>i</a:t>
            </a:r>
            <a:r>
              <a:rPr lang="en-US" altLang="zh-CN" sz="2400" dirty="0"/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=1,2,</a:t>
            </a:r>
            <a:r>
              <a:rPr lang="en-US" altLang="zh-CN" sz="2400" dirty="0"/>
              <a:t>…</a:t>
            </a:r>
            <a:r>
              <a:rPr lang="en-US" altLang="zh-CN" sz="2400" dirty="0"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cs typeface="Times New Roman" panose="02020603050405020304" pitchFamily="18" charset="0"/>
              </a:rPr>
              <a:t>n-</a:t>
            </a:r>
            <a:r>
              <a:rPr lang="en-US" altLang="zh-CN" sz="2400" dirty="0">
                <a:cs typeface="Times New Roman" panose="02020603050405020304" pitchFamily="18" charset="0"/>
              </a:rPr>
              <a:t>1) </a:t>
            </a:r>
            <a:r>
              <a:rPr lang="zh-CN" altLang="en-US" sz="2400" dirty="0">
                <a:cs typeface="Times New Roman" panose="02020603050405020304" pitchFamily="18" charset="0"/>
              </a:rPr>
              <a:t>的方程组</a:t>
            </a:r>
            <a:endParaRPr lang="zh-CN" altLang="en-US" sz="24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B4BE601-96D6-48B2-B13B-854B22AA4350}"/>
              </a:ext>
            </a:extLst>
          </p:cNvPr>
          <p:cNvGrpSpPr/>
          <p:nvPr/>
        </p:nvGrpSpPr>
        <p:grpSpPr>
          <a:xfrm>
            <a:off x="560423" y="3349636"/>
            <a:ext cx="10233520" cy="3120438"/>
            <a:chOff x="560423" y="3349636"/>
            <a:chExt cx="10233520" cy="3120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75" name="Object 2"/>
                <p:cNvSpPr txBox="1"/>
                <p:nvPr/>
              </p:nvSpPr>
              <p:spPr bwMode="auto">
                <a:xfrm>
                  <a:off x="560423" y="3349636"/>
                  <a:ext cx="10233520" cy="2776537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6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/>
                                <m:e/>
                                <m:e/>
                              </m:mr>
                              <m:mr>
                                <m:e/>
                                <m:e/>
                                <m:e/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−(1−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8375" name="Object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0423" y="3349636"/>
                  <a:ext cx="10233520" cy="277653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372" name="矩形 3"/>
            <p:cNvSpPr>
              <a:spLocks noChangeArrowheads="1"/>
            </p:cNvSpPr>
            <p:nvPr/>
          </p:nvSpPr>
          <p:spPr bwMode="auto">
            <a:xfrm>
              <a:off x="983432" y="5255509"/>
              <a:ext cx="11080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其中：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73" name="Object 3"/>
                <p:cNvSpPr txBox="1"/>
                <p:nvPr/>
              </p:nvSpPr>
              <p:spPr bwMode="auto">
                <a:xfrm>
                  <a:off x="1579393" y="5327249"/>
                  <a:ext cx="2339102" cy="110233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373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79393" y="5327249"/>
                  <a:ext cx="2339102" cy="110233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74" name="Object 4"/>
                <p:cNvSpPr txBox="1"/>
                <p:nvPr/>
              </p:nvSpPr>
              <p:spPr bwMode="auto">
                <a:xfrm>
                  <a:off x="3615395" y="5511224"/>
                  <a:ext cx="6193160" cy="95885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altLang="en-US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a:rPr lang="zh-CN" alt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374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15395" y="5511224"/>
                  <a:ext cx="6193160" cy="9588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1415480" y="387926"/>
                <a:ext cx="3894138" cy="150336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添加第一类边界条件：</m:t>
                      </m:r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387926"/>
                <a:ext cx="3894138" cy="15033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9624392" y="5537622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可用追赶法求解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684551-18E7-4AC5-A8F4-CFD1711F59CB}"/>
              </a:ext>
            </a:extLst>
          </p:cNvPr>
          <p:cNvSpPr txBox="1"/>
          <p:nvPr/>
        </p:nvSpPr>
        <p:spPr>
          <a:xfrm>
            <a:off x="2938286" y="6322158"/>
            <a:ext cx="603242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第一类边界条件的三次样条插值三转角公式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376773C-DA4F-4851-B0F1-C0F6A84960B0}"/>
                  </a:ext>
                </a:extLst>
              </p:cNvPr>
              <p:cNvSpPr txBox="1"/>
              <p:nvPr/>
            </p:nvSpPr>
            <p:spPr>
              <a:xfrm>
                <a:off x="1289026" y="2198736"/>
                <a:ext cx="877631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当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dirty="0"/>
                        <m:t>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dirty="0"/>
                        <m:t>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376773C-DA4F-4851-B0F1-C0F6A8496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026" y="2198736"/>
                <a:ext cx="8776313" cy="307777"/>
              </a:xfrm>
              <a:prstGeom prst="rect">
                <a:avLst/>
              </a:prstGeom>
              <a:blipFill>
                <a:blip r:embed="rId6"/>
                <a:stretch>
                  <a:fillRect l="-486" t="-8000" b="-3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C0494B9-B17A-434D-8EB1-7BC4B74B9ADD}"/>
                  </a:ext>
                </a:extLst>
              </p:cNvPr>
              <p:cNvSpPr txBox="1"/>
              <p:nvPr/>
            </p:nvSpPr>
            <p:spPr>
              <a:xfrm>
                <a:off x="1358650" y="2752439"/>
                <a:ext cx="53533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当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000" dirty="0"/>
                      <m:t> 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/>
                  <a:t>,……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C0494B9-B17A-434D-8EB1-7BC4B74B9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650" y="2752439"/>
                <a:ext cx="5353325" cy="307777"/>
              </a:xfrm>
              <a:prstGeom prst="rect">
                <a:avLst/>
              </a:prstGeom>
              <a:blipFill>
                <a:blip r:embed="rId7"/>
                <a:stretch>
                  <a:fillRect l="-2278" t="-26000" r="-2050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5" grpId="0"/>
      <p:bldP spid="2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086750" y="1716063"/>
            <a:ext cx="8092284" cy="986212"/>
            <a:chOff x="683568" y="1959223"/>
            <a:chExt cx="8092952" cy="986212"/>
          </a:xfrm>
        </p:grpSpPr>
        <p:graphicFrame>
          <p:nvGraphicFramePr>
            <p:cNvPr id="5940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6963193"/>
                </p:ext>
              </p:extLst>
            </p:nvPr>
          </p:nvGraphicFramePr>
          <p:xfrm>
            <a:off x="2320157" y="2059610"/>
            <a:ext cx="6456363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930" name="Equation" r:id="rId3" imgW="54854475" imgH="7458075" progId="Equation.DSMT4">
                    <p:embed/>
                  </p:oleObj>
                </mc:Choice>
                <mc:Fallback>
                  <p:oleObj name="Equation" r:id="rId3" imgW="54854475" imgH="745807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0157" y="2059610"/>
                          <a:ext cx="6456363" cy="885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5" name="矩形 1"/>
            <p:cNvSpPr>
              <a:spLocks noChangeArrowheads="1"/>
            </p:cNvSpPr>
            <p:nvPr/>
          </p:nvSpPr>
          <p:spPr bwMode="auto">
            <a:xfrm>
              <a:off x="683568" y="1959223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可得到：</a:t>
              </a:r>
              <a:endParaRPr lang="en-US" altLang="zh-CN" sz="2400"/>
            </a:p>
          </p:txBody>
        </p:sp>
      </p:grpSp>
      <p:grpSp>
        <p:nvGrpSpPr>
          <p:cNvPr id="3" name="组合 11"/>
          <p:cNvGrpSpPr>
            <a:grpSpLocks/>
          </p:cNvGrpSpPr>
          <p:nvPr/>
        </p:nvGrpSpPr>
        <p:grpSpPr bwMode="auto">
          <a:xfrm>
            <a:off x="803387" y="3083555"/>
            <a:ext cx="10067639" cy="3285025"/>
            <a:chOff x="203074" y="3118231"/>
            <a:chExt cx="8448936" cy="47880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02" name="Object 6"/>
                <p:cNvSpPr txBox="1"/>
                <p:nvPr/>
              </p:nvSpPr>
              <p:spPr bwMode="auto">
                <a:xfrm>
                  <a:off x="203074" y="3958158"/>
                  <a:ext cx="8448936" cy="394814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6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/>
                                <m:e/>
                                <m:e/>
                              </m:mr>
                              <m:mr>
                                <m:e/>
                                <m:e/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eqArr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402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3074" y="3958158"/>
                  <a:ext cx="8448936" cy="39481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403" name="矩形 7"/>
            <p:cNvSpPr>
              <a:spLocks noChangeArrowheads="1"/>
            </p:cNvSpPr>
            <p:nvPr/>
          </p:nvSpPr>
          <p:spPr bwMode="auto">
            <a:xfrm>
              <a:off x="203074" y="3118231"/>
              <a:ext cx="1107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</a:rPr>
                <a:t>于是有</a:t>
              </a:r>
            </a:p>
          </p:txBody>
        </p:sp>
      </p:grpSp>
      <p:grpSp>
        <p:nvGrpSpPr>
          <p:cNvPr id="59396" name="组合 12"/>
          <p:cNvGrpSpPr>
            <a:grpSpLocks/>
          </p:cNvGrpSpPr>
          <p:nvPr/>
        </p:nvGrpSpPr>
        <p:grpSpPr bwMode="auto">
          <a:xfrm>
            <a:off x="1699384" y="440723"/>
            <a:ext cx="8370528" cy="1308156"/>
            <a:chOff x="714375" y="500063"/>
            <a:chExt cx="8370528" cy="1308156"/>
          </a:xfrm>
        </p:grpSpPr>
        <p:sp>
          <p:nvSpPr>
            <p:cNvPr id="59397" name="矩形 1"/>
            <p:cNvSpPr>
              <a:spLocks noChangeArrowheads="1"/>
            </p:cNvSpPr>
            <p:nvPr/>
          </p:nvSpPr>
          <p:spPr bwMode="auto">
            <a:xfrm>
              <a:off x="714375" y="500063"/>
              <a:ext cx="380047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一般情况下，           未知，</a:t>
              </a:r>
              <a:endParaRPr lang="en-US" altLang="zh-CN" sz="2400" dirty="0"/>
            </a:p>
          </p:txBody>
        </p:sp>
        <p:graphicFrame>
          <p:nvGraphicFramePr>
            <p:cNvPr id="59398" name="Object 3"/>
            <p:cNvGraphicFramePr>
              <a:graphicFrameLocks noChangeAspect="1"/>
            </p:cNvGraphicFramePr>
            <p:nvPr/>
          </p:nvGraphicFramePr>
          <p:xfrm>
            <a:off x="2643188" y="500063"/>
            <a:ext cx="827087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931" name="Equation" r:id="rId6" imgW="7019925" imgH="3952875" progId="Equation.DSMT4">
                    <p:embed/>
                  </p:oleObj>
                </mc:Choice>
                <mc:Fallback>
                  <p:oleObj name="Equation" r:id="rId6" imgW="7019925" imgH="3952875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3188" y="500063"/>
                          <a:ext cx="827087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9399" name="组合 9"/>
            <p:cNvGrpSpPr>
              <a:grpSpLocks/>
            </p:cNvGrpSpPr>
            <p:nvPr/>
          </p:nvGrpSpPr>
          <p:grpSpPr bwMode="auto">
            <a:xfrm>
              <a:off x="3434989" y="519113"/>
              <a:ext cx="5649914" cy="1289106"/>
              <a:chOff x="3435227" y="519063"/>
              <a:chExt cx="5650852" cy="1289157"/>
            </a:xfrm>
          </p:grpSpPr>
          <p:graphicFrame>
            <p:nvGraphicFramePr>
              <p:cNvPr id="59400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1179936"/>
                  </p:ext>
                </p:extLst>
              </p:nvPr>
            </p:nvGraphicFramePr>
            <p:xfrm>
              <a:off x="3435227" y="1182745"/>
              <a:ext cx="3176588" cy="6254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932" name="Equation" r:id="rId8" imgW="26993850" imgH="5267325" progId="Equation.DSMT4">
                      <p:embed/>
                    </p:oleObj>
                  </mc:Choice>
                  <mc:Fallback>
                    <p:oleObj name="Equation" r:id="rId8" imgW="26993850" imgH="5267325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35227" y="1182745"/>
                            <a:ext cx="3176588" cy="6254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401" name="矩形 8"/>
              <p:cNvSpPr>
                <a:spLocks noChangeArrowheads="1"/>
              </p:cNvSpPr>
              <p:nvPr/>
            </p:nvSpPr>
            <p:spPr bwMode="auto">
              <a:xfrm>
                <a:off x="4283968" y="519063"/>
                <a:ext cx="4802111" cy="4616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此时可使用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第二类自然边界条件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设</a:t>
                </a:r>
                <a:endParaRPr lang="zh-CN" altLang="en-US" sz="2400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85"/>
              <p:cNvSpPr txBox="1"/>
              <p:nvPr/>
            </p:nvSpPr>
            <p:spPr bwMode="auto">
              <a:xfrm>
                <a:off x="1922463" y="2617788"/>
                <a:ext cx="3733800" cy="57626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Object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2463" y="2617788"/>
                <a:ext cx="3733800" cy="5762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89"/>
              <p:cNvSpPr txBox="1"/>
              <p:nvPr/>
            </p:nvSpPr>
            <p:spPr bwMode="auto">
              <a:xfrm>
                <a:off x="6311900" y="2617788"/>
                <a:ext cx="4267200" cy="55245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Object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1900" y="2617788"/>
                <a:ext cx="4267200" cy="5524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FC1C4685-55B1-4081-8596-C03BE2A5EA63}"/>
              </a:ext>
            </a:extLst>
          </p:cNvPr>
          <p:cNvSpPr txBox="1"/>
          <p:nvPr/>
        </p:nvSpPr>
        <p:spPr>
          <a:xfrm>
            <a:off x="2749292" y="6176932"/>
            <a:ext cx="726352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第二类边界条件的三次样条插值三转角公式（常用）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4A51DC-19A0-40E0-960B-BCE5CBDE1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548681"/>
            <a:ext cx="8928992" cy="230387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B2AA775-9D85-4801-AACC-A8DBB949C729}"/>
              </a:ext>
            </a:extLst>
          </p:cNvPr>
          <p:cNvSpPr txBox="1"/>
          <p:nvPr/>
        </p:nvSpPr>
        <p:spPr>
          <a:xfrm>
            <a:off x="4007768" y="3284984"/>
            <a:ext cx="225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</a:t>
            </a:r>
            <a:r>
              <a:rPr lang="zh-CN" altLang="en-US" dirty="0"/>
              <a:t>为最大步长。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0F9507-39D9-470B-BD76-8C3417324307}"/>
              </a:ext>
            </a:extLst>
          </p:cNvPr>
          <p:cNvSpPr txBox="1"/>
          <p:nvPr/>
        </p:nvSpPr>
        <p:spPr>
          <a:xfrm>
            <a:off x="9984432" y="220486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（自然样条）</a:t>
            </a:r>
          </a:p>
        </p:txBody>
      </p:sp>
    </p:spTree>
    <p:extLst>
      <p:ext uri="{BB962C8B-B14F-4D97-AF65-F5344CB8AC3E}">
        <p14:creationId xmlns:p14="http://schemas.microsoft.com/office/powerpoint/2010/main" val="39894245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 txBox="1">
            <a:spLocks noChangeArrowheads="1"/>
          </p:cNvSpPr>
          <p:nvPr/>
        </p:nvSpPr>
        <p:spPr bwMode="auto">
          <a:xfrm>
            <a:off x="2187574" y="3357563"/>
            <a:ext cx="642870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解</a:t>
            </a:r>
            <a:r>
              <a:rPr lang="en-US" altLang="zh-CN" sz="2400" dirty="0"/>
              <a:t>】</a:t>
            </a:r>
            <a:r>
              <a:rPr lang="zh-CN" altLang="en-US" sz="2400" dirty="0"/>
              <a:t>  使用三转角方程，依题意，得：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080F23-86AD-43D5-9EEF-B31E0B0AD7D1}"/>
              </a:ext>
            </a:extLst>
          </p:cNvPr>
          <p:cNvGrpSpPr/>
          <p:nvPr/>
        </p:nvGrpSpPr>
        <p:grpSpPr>
          <a:xfrm>
            <a:off x="2200275" y="531813"/>
            <a:ext cx="7888288" cy="1349375"/>
            <a:chOff x="2200275" y="531813"/>
            <a:chExt cx="7888288" cy="1349375"/>
          </a:xfrm>
        </p:grpSpPr>
        <p:sp>
          <p:nvSpPr>
            <p:cNvPr id="60419" name="Text Box 4"/>
            <p:cNvSpPr txBox="1">
              <a:spLocks noChangeArrowheads="1"/>
            </p:cNvSpPr>
            <p:nvPr/>
          </p:nvSpPr>
          <p:spPr bwMode="auto">
            <a:xfrm>
              <a:off x="2200275" y="531813"/>
              <a:ext cx="7888288" cy="1349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>
                  <a:srgbClr val="27305F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【</a:t>
              </a:r>
              <a:r>
                <a:rPr lang="zh-CN" altLang="en-US" sz="24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例</a:t>
              </a:r>
              <a:r>
                <a:rPr lang="en-US" altLang="zh-CN" sz="24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5】</a:t>
              </a:r>
              <a:r>
                <a:rPr lang="en-US" altLang="zh-CN" sz="2400" b="1" dirty="0">
                  <a:latin typeface="Arial Unicode MS" pitchFamily="34" charset="-122"/>
                  <a:ea typeface="黑体" panose="02010609060101010101" pitchFamily="49" charset="-122"/>
                </a:rPr>
                <a:t>  </a:t>
              </a:r>
              <a:r>
                <a:rPr lang="zh-CN" altLang="en-US" sz="2400" dirty="0"/>
                <a:t>已知的函数值如下：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>
                  <a:srgbClr val="27305F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latin typeface="Arial Unicode MS" pitchFamily="34" charset="-122"/>
                  <a:ea typeface="黑体" panose="02010609060101010101" pitchFamily="49" charset="-122"/>
                </a:rPr>
                <a:t>      </a:t>
              </a:r>
              <a:r>
                <a:rPr lang="en-US" altLang="zh-CN" sz="2400" b="1" i="1" dirty="0">
                  <a:ea typeface="黑体" panose="02010609060101010101" pitchFamily="49" charset="-122"/>
                </a:rPr>
                <a:t>x</a:t>
              </a:r>
              <a:r>
                <a:rPr lang="en-US" altLang="zh-CN" sz="2400" b="1" dirty="0">
                  <a:latin typeface="Arial Unicode MS" pitchFamily="34" charset="-122"/>
                  <a:ea typeface="黑体" panose="02010609060101010101" pitchFamily="49" charset="-122"/>
                </a:rPr>
                <a:t> </a:t>
              </a:r>
              <a:r>
                <a:rPr lang="en-US" altLang="zh-CN" sz="1400" b="1" dirty="0">
                  <a:latin typeface="Arial Unicode MS" pitchFamily="34" charset="-122"/>
                  <a:ea typeface="黑体" panose="02010609060101010101" pitchFamily="49" charset="-122"/>
                </a:rPr>
                <a:t>             </a:t>
              </a:r>
              <a:r>
                <a:rPr lang="en-US" altLang="zh-CN" sz="2400" b="1" dirty="0">
                  <a:latin typeface="Arial Unicode MS" pitchFamily="34" charset="-122"/>
                  <a:ea typeface="黑体" panose="02010609060101010101" pitchFamily="49" charset="-122"/>
                </a:rPr>
                <a:t>  1           2         4          5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>
                  <a:srgbClr val="27305F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latin typeface="Arial Unicode MS" pitchFamily="34" charset="-122"/>
                  <a:ea typeface="黑体" panose="02010609060101010101" pitchFamily="49" charset="-122"/>
                </a:rPr>
                <a:t>     </a:t>
              </a:r>
              <a:r>
                <a:rPr lang="en-US" altLang="zh-CN" sz="2400" b="1" i="1" dirty="0">
                  <a:ea typeface="黑体" panose="02010609060101010101" pitchFamily="49" charset="-122"/>
                </a:rPr>
                <a:t>f (x)</a:t>
              </a:r>
              <a:r>
                <a:rPr lang="en-US" altLang="zh-CN" sz="2400" b="1" dirty="0">
                  <a:latin typeface="Arial Unicode MS" pitchFamily="34" charset="-122"/>
                  <a:ea typeface="黑体" panose="02010609060101010101" pitchFamily="49" charset="-122"/>
                </a:rPr>
                <a:t>       1           3         4          2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60420" name="Line 5"/>
            <p:cNvSpPr>
              <a:spLocks noChangeShapeType="1"/>
            </p:cNvSpPr>
            <p:nvPr/>
          </p:nvSpPr>
          <p:spPr bwMode="auto">
            <a:xfrm>
              <a:off x="2582862" y="1412776"/>
              <a:ext cx="48275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1" name="Line 6"/>
            <p:cNvSpPr>
              <a:spLocks noChangeShapeType="1"/>
            </p:cNvSpPr>
            <p:nvPr/>
          </p:nvSpPr>
          <p:spPr bwMode="auto">
            <a:xfrm>
              <a:off x="4295775" y="1017588"/>
              <a:ext cx="0" cy="8636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2" name="Line 7"/>
            <p:cNvSpPr>
              <a:spLocks noChangeShapeType="1"/>
            </p:cNvSpPr>
            <p:nvPr/>
          </p:nvSpPr>
          <p:spPr bwMode="auto">
            <a:xfrm>
              <a:off x="5519936" y="909638"/>
              <a:ext cx="0" cy="8636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3" name="Line 8"/>
            <p:cNvSpPr>
              <a:spLocks noChangeShapeType="1"/>
            </p:cNvSpPr>
            <p:nvPr/>
          </p:nvSpPr>
          <p:spPr bwMode="auto">
            <a:xfrm>
              <a:off x="6456040" y="1017588"/>
              <a:ext cx="0" cy="792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4" name="Line 9"/>
            <p:cNvSpPr>
              <a:spLocks noChangeShapeType="1"/>
            </p:cNvSpPr>
            <p:nvPr/>
          </p:nvSpPr>
          <p:spPr bwMode="auto">
            <a:xfrm>
              <a:off x="3516313" y="1017588"/>
              <a:ext cx="0" cy="7921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425" name="Text Box 10"/>
          <p:cNvSpPr txBox="1">
            <a:spLocks noChangeArrowheads="1"/>
          </p:cNvSpPr>
          <p:nvPr/>
        </p:nvSpPr>
        <p:spPr bwMode="auto">
          <a:xfrm>
            <a:off x="2216150" y="2060575"/>
            <a:ext cx="820102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>
                <a:srgbClr val="27305F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/>
              <a:t>在区间</a:t>
            </a:r>
            <a:r>
              <a:rPr lang="zh-CN" altLang="en-US" sz="2400">
                <a:sym typeface="Symbol" panose="05050102010706020507" pitchFamily="18" charset="2"/>
              </a:rPr>
              <a:t></a:t>
            </a:r>
            <a:r>
              <a:rPr lang="en-US" altLang="zh-CN" sz="2400"/>
              <a:t>1,5</a:t>
            </a:r>
            <a:r>
              <a:rPr lang="en-US" altLang="zh-CN" sz="2400">
                <a:sym typeface="Symbol" panose="05050102010706020507" pitchFamily="18" charset="2"/>
              </a:rPr>
              <a:t></a:t>
            </a:r>
            <a:r>
              <a:rPr lang="zh-CN" altLang="en-US" sz="2400"/>
              <a:t>上求三次样条插值函数</a:t>
            </a:r>
            <a:r>
              <a:rPr lang="en-US" altLang="zh-CN" sz="2400" i="1"/>
              <a:t>S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),</a:t>
            </a:r>
            <a:r>
              <a:rPr lang="zh-CN" altLang="en-US" sz="2400"/>
              <a:t>使它满足边界条件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26" name="对象 36872"/>
              <p:cNvSpPr txBox="1"/>
              <p:nvPr/>
            </p:nvSpPr>
            <p:spPr bwMode="auto">
              <a:xfrm>
                <a:off x="2779713" y="2612302"/>
                <a:ext cx="7420743" cy="49053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60426" name="对象 368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9713" y="2612302"/>
                <a:ext cx="7420743" cy="490538"/>
              </a:xfrm>
              <a:prstGeom prst="rect">
                <a:avLst/>
              </a:prstGeom>
              <a:blipFill>
                <a:blip r:embed="rId4"/>
                <a:stretch>
                  <a:fillRect l="-247" t="-13750" b="-1875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427" name="Object 3"/>
          <p:cNvGraphicFramePr>
            <a:graphicFrameLocks noChangeAspect="1"/>
          </p:cNvGraphicFramePr>
          <p:nvPr/>
        </p:nvGraphicFramePr>
        <p:xfrm>
          <a:off x="3309938" y="3983038"/>
          <a:ext cx="41005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29" name="Equation" r:id="rId5" imgW="35985450" imgH="3952875" progId="Equation.DSMT4">
                  <p:embed/>
                </p:oleObj>
              </mc:Choice>
              <mc:Fallback>
                <p:oleObj name="Equation" r:id="rId5" imgW="35985450" imgH="395287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3983038"/>
                        <a:ext cx="4100512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4"/>
          <p:cNvGraphicFramePr>
            <a:graphicFrameLocks noChangeAspect="1"/>
          </p:cNvGraphicFramePr>
          <p:nvPr/>
        </p:nvGraphicFramePr>
        <p:xfrm>
          <a:off x="3225800" y="5643563"/>
          <a:ext cx="60515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30" name="Equation" r:id="rId7" imgW="53101875" imgH="8334375" progId="Equation.DSMT4">
                  <p:embed/>
                </p:oleObj>
              </mc:Choice>
              <mc:Fallback>
                <p:oleObj name="Equation" r:id="rId7" imgW="53101875" imgH="833437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5643563"/>
                        <a:ext cx="60515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5"/>
          <p:cNvGraphicFramePr>
            <a:graphicFrameLocks noChangeAspect="1"/>
          </p:cNvGraphicFramePr>
          <p:nvPr/>
        </p:nvGraphicFramePr>
        <p:xfrm>
          <a:off x="3298825" y="4624388"/>
          <a:ext cx="4999038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31" name="Equation" r:id="rId9" imgW="43881675" imgH="7458075" progId="Equation.DSMT4">
                  <p:embed/>
                </p:oleObj>
              </mc:Choice>
              <mc:Fallback>
                <p:oleObj name="Equation" r:id="rId9" imgW="43881675" imgH="745807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4624388"/>
                        <a:ext cx="4999038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1"/>
          <p:cNvGrpSpPr>
            <a:grpSpLocks/>
          </p:cNvGrpSpPr>
          <p:nvPr/>
        </p:nvGrpSpPr>
        <p:grpSpPr bwMode="auto">
          <a:xfrm>
            <a:off x="2024063" y="428625"/>
            <a:ext cx="8261350" cy="3778250"/>
            <a:chOff x="414309" y="2852936"/>
            <a:chExt cx="8261379" cy="3778245"/>
          </a:xfrm>
        </p:grpSpPr>
        <p:graphicFrame>
          <p:nvGraphicFramePr>
            <p:cNvPr id="62469" name="Object 6"/>
            <p:cNvGraphicFramePr>
              <a:graphicFrameLocks noChangeAspect="1"/>
            </p:cNvGraphicFramePr>
            <p:nvPr/>
          </p:nvGraphicFramePr>
          <p:xfrm>
            <a:off x="525463" y="2995805"/>
            <a:ext cx="8150225" cy="3635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95" name="Equation" r:id="rId3" imgW="71532750" imgH="31594425" progId="Equation.DSMT4">
                    <p:embed/>
                  </p:oleObj>
                </mc:Choice>
                <mc:Fallback>
                  <p:oleObj name="Equation" r:id="rId3" imgW="71532750" imgH="3159442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463" y="2995805"/>
                          <a:ext cx="8150225" cy="3635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70" name="矩形 7"/>
            <p:cNvSpPr>
              <a:spLocks noChangeArrowheads="1"/>
            </p:cNvSpPr>
            <p:nvPr/>
          </p:nvSpPr>
          <p:spPr bwMode="auto">
            <a:xfrm>
              <a:off x="414309" y="2852936"/>
              <a:ext cx="2339110" cy="461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</a:rPr>
                <a:t>代入三转角方程</a:t>
              </a:r>
            </a:p>
          </p:txBody>
        </p:sp>
      </p:grpSp>
      <p:sp>
        <p:nvSpPr>
          <p:cNvPr id="62467" name="矩形 7"/>
          <p:cNvSpPr>
            <a:spLocks noChangeArrowheads="1"/>
          </p:cNvSpPr>
          <p:nvPr/>
        </p:nvSpPr>
        <p:spPr bwMode="auto">
          <a:xfrm>
            <a:off x="2176463" y="4143375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得方程组：</a:t>
            </a:r>
          </a:p>
        </p:txBody>
      </p:sp>
      <p:graphicFrame>
        <p:nvGraphicFramePr>
          <p:cNvPr id="62468" name="Object 5"/>
          <p:cNvGraphicFramePr>
            <a:graphicFrameLocks noChangeAspect="1"/>
          </p:cNvGraphicFramePr>
          <p:nvPr/>
        </p:nvGraphicFramePr>
        <p:xfrm>
          <a:off x="2960688" y="4632325"/>
          <a:ext cx="4849812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96" name="Equation" r:id="rId5" imgW="42567225" imgH="16240125" progId="Equation.DSMT4">
                  <p:embed/>
                </p:oleObj>
              </mc:Choice>
              <mc:Fallback>
                <p:oleObj name="Equation" r:id="rId5" imgW="42567225" imgH="1624012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4632325"/>
                        <a:ext cx="4849812" cy="186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6"/>
          <p:cNvGraphicFramePr>
            <a:graphicFrameLocks noChangeAspect="1"/>
          </p:cNvGraphicFramePr>
          <p:nvPr/>
        </p:nvGraphicFramePr>
        <p:xfrm>
          <a:off x="3084513" y="1357313"/>
          <a:ext cx="56007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06" name="Equation" r:id="rId3" imgW="49149000" imgH="3952875" progId="Equation.DSMT4">
                  <p:embed/>
                </p:oleObj>
              </mc:Choice>
              <mc:Fallback>
                <p:oleObj name="Equation" r:id="rId3" imgW="49149000" imgH="395287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1357313"/>
                        <a:ext cx="56007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1" name="矩形 7"/>
          <p:cNvSpPr>
            <a:spLocks noChangeArrowheads="1"/>
          </p:cNvSpPr>
          <p:nvPr/>
        </p:nvSpPr>
        <p:spPr bwMode="auto">
          <a:xfrm>
            <a:off x="2095500" y="571500"/>
            <a:ext cx="203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解方程组，得</a:t>
            </a:r>
          </a:p>
        </p:txBody>
      </p:sp>
      <p:graphicFrame>
        <p:nvGraphicFramePr>
          <p:cNvPr id="63492" name="Object 3"/>
          <p:cNvGraphicFramePr>
            <a:graphicFrameLocks noChangeAspect="1"/>
          </p:cNvGraphicFramePr>
          <p:nvPr/>
        </p:nvGraphicFramePr>
        <p:xfrm>
          <a:off x="2309813" y="2714625"/>
          <a:ext cx="70786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07" name="Equation" r:id="rId5" imgW="55949850" imgH="3952875" progId="Equation.DSMT4">
                  <p:embed/>
                </p:oleObj>
              </mc:Choice>
              <mc:Fallback>
                <p:oleObj name="Equation" r:id="rId5" imgW="55949850" imgH="395287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2714625"/>
                        <a:ext cx="70786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3" name="矩形 8"/>
          <p:cNvSpPr>
            <a:spLocks noChangeArrowheads="1"/>
          </p:cNvSpPr>
          <p:nvPr/>
        </p:nvSpPr>
        <p:spPr bwMode="auto">
          <a:xfrm>
            <a:off x="2095500" y="1928813"/>
            <a:ext cx="203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代入计算公式</a:t>
            </a:r>
            <a:endParaRPr lang="en-US" altLang="zh-CN" sz="2400">
              <a:solidFill>
                <a:srgbClr val="000000"/>
              </a:solidFill>
            </a:endParaRPr>
          </a:p>
        </p:txBody>
      </p:sp>
      <p:graphicFrame>
        <p:nvGraphicFramePr>
          <p:cNvPr id="29701" name="Object 13"/>
          <p:cNvGraphicFramePr>
            <a:graphicFrameLocks noChangeAspect="1"/>
          </p:cNvGraphicFramePr>
          <p:nvPr/>
        </p:nvGraphicFramePr>
        <p:xfrm>
          <a:off x="3406775" y="3213100"/>
          <a:ext cx="47466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08" name="Equation" r:id="rId7" imgW="36642675" imgH="8772525" progId="Equation.DSMT4">
                  <p:embed/>
                </p:oleObj>
              </mc:Choice>
              <mc:Fallback>
                <p:oleObj name="Equation" r:id="rId7" imgW="36642675" imgH="877252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3213100"/>
                        <a:ext cx="47466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5"/>
          <p:cNvGraphicFramePr>
            <a:graphicFrameLocks noChangeAspect="1"/>
          </p:cNvGraphicFramePr>
          <p:nvPr/>
        </p:nvGraphicFramePr>
        <p:xfrm>
          <a:off x="3395663" y="4427538"/>
          <a:ext cx="4751387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09" name="Equation" r:id="rId9" imgW="37080825" imgH="8772525" progId="Equation.DSMT4">
                  <p:embed/>
                </p:oleObj>
              </mc:Choice>
              <mc:Fallback>
                <p:oleObj name="Equation" r:id="rId9" imgW="37080825" imgH="877252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663" y="4427538"/>
                        <a:ext cx="4751387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6"/>
          <p:cNvGraphicFramePr>
            <a:graphicFrameLocks noChangeAspect="1"/>
          </p:cNvGraphicFramePr>
          <p:nvPr/>
        </p:nvGraphicFramePr>
        <p:xfrm>
          <a:off x="1881188" y="5499100"/>
          <a:ext cx="40513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10" name="Equation" r:id="rId11" imgW="28965525" imgH="8772525" progId="Equation.DSMT4">
                  <p:embed/>
                </p:oleObj>
              </mc:Choice>
              <mc:Fallback>
                <p:oleObj name="Equation" r:id="rId11" imgW="28965525" imgH="877252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5499100"/>
                        <a:ext cx="405130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/>
        </p:nvGraphicFramePr>
        <p:xfrm>
          <a:off x="6310313" y="5570538"/>
          <a:ext cx="4198937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11" name="Equation" r:id="rId13" imgW="30499050" imgH="8772525" progId="Equation.DSMT4">
                  <p:embed/>
                </p:oleObj>
              </mc:Choice>
              <mc:Fallback>
                <p:oleObj name="Equation" r:id="rId13" imgW="30499050" imgH="877252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313" y="5570538"/>
                        <a:ext cx="4198937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337156" y="397485"/>
            <a:ext cx="5808000" cy="461665"/>
          </a:xfrm>
          <a:prstGeom prst="rect">
            <a:avLst/>
          </a:prstGeom>
          <a:noFill/>
          <a:ln w="3175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得到对应的导数，可以用</a:t>
            </a:r>
            <a:r>
              <a:rPr lang="en-US" altLang="zh-CN" dirty="0"/>
              <a:t>Hermite</a:t>
            </a:r>
            <a:r>
              <a:rPr lang="zh-CN" altLang="en-US" dirty="0"/>
              <a:t>方法求解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矩形 1"/>
          <p:cNvSpPr>
            <a:spLocks noChangeArrowheads="1"/>
          </p:cNvSpPr>
          <p:nvPr/>
        </p:nvSpPr>
        <p:spPr bwMode="auto">
          <a:xfrm>
            <a:off x="2238375" y="571500"/>
            <a:ext cx="800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对于</a:t>
            </a:r>
            <a:endParaRPr lang="en-US" altLang="zh-CN" sz="2400">
              <a:solidFill>
                <a:srgbClr val="000000"/>
              </a:solidFill>
            </a:endParaRPr>
          </a:p>
        </p:txBody>
      </p:sp>
      <p:graphicFrame>
        <p:nvGraphicFramePr>
          <p:cNvPr id="64515" name="Object 2"/>
          <p:cNvGraphicFramePr>
            <a:graphicFrameLocks noChangeAspect="1"/>
          </p:cNvGraphicFramePr>
          <p:nvPr/>
        </p:nvGraphicFramePr>
        <p:xfrm>
          <a:off x="3024188" y="714375"/>
          <a:ext cx="12001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4" name="Equation" r:id="rId3" imgW="10534650" imgH="3514725" progId="Equation.DSMT4">
                  <p:embed/>
                </p:oleObj>
              </mc:Choice>
              <mc:Fallback>
                <p:oleObj name="Equation" r:id="rId3" imgW="10534650" imgH="351472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714375"/>
                        <a:ext cx="12001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3"/>
          <p:cNvGraphicFramePr>
            <a:graphicFrameLocks noChangeAspect="1"/>
          </p:cNvGraphicFramePr>
          <p:nvPr/>
        </p:nvGraphicFramePr>
        <p:xfrm>
          <a:off x="2513013" y="1214438"/>
          <a:ext cx="544036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5" name="Equation" r:id="rId5" imgW="43005375" imgH="6800850" progId="Equation.DSMT4">
                  <p:embed/>
                </p:oleObj>
              </mc:Choice>
              <mc:Fallback>
                <p:oleObj name="Equation" r:id="rId5" imgW="43005375" imgH="680085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1214438"/>
                        <a:ext cx="5440362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13"/>
          <p:cNvGraphicFramePr>
            <a:graphicFrameLocks noChangeAspect="1"/>
          </p:cNvGraphicFramePr>
          <p:nvPr/>
        </p:nvGraphicFramePr>
        <p:xfrm>
          <a:off x="3309938" y="2428875"/>
          <a:ext cx="32686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6" name="Equation" r:id="rId7" imgW="25231725" imgH="4829175" progId="Equation.DSMT4">
                  <p:embed/>
                </p:oleObj>
              </mc:Choice>
              <mc:Fallback>
                <p:oleObj name="Equation" r:id="rId7" imgW="25231725" imgH="482917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2428875"/>
                        <a:ext cx="326866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5"/>
          <p:cNvGraphicFramePr>
            <a:graphicFrameLocks noChangeAspect="1"/>
          </p:cNvGraphicFramePr>
          <p:nvPr/>
        </p:nvGraphicFramePr>
        <p:xfrm>
          <a:off x="3309938" y="3143250"/>
          <a:ext cx="32607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7" name="Equation" r:id="rId9" imgW="25450800" imgH="4829175" progId="Equation.DSMT4">
                  <p:embed/>
                </p:oleObj>
              </mc:Choice>
              <mc:Fallback>
                <p:oleObj name="Equation" r:id="rId9" imgW="25450800" imgH="482917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3143250"/>
                        <a:ext cx="326072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6"/>
          <p:cNvGraphicFramePr>
            <a:graphicFrameLocks noChangeAspect="1"/>
          </p:cNvGraphicFramePr>
          <p:nvPr/>
        </p:nvGraphicFramePr>
        <p:xfrm>
          <a:off x="3309938" y="3857625"/>
          <a:ext cx="334486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8" name="Equation" r:id="rId11" imgW="23917275" imgH="4829175" progId="Equation.DSMT4">
                  <p:embed/>
                </p:oleObj>
              </mc:Choice>
              <mc:Fallback>
                <p:oleObj name="Equation" r:id="rId11" imgW="23917275" imgH="482917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3857625"/>
                        <a:ext cx="3344862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/>
        </p:nvGraphicFramePr>
        <p:xfrm>
          <a:off x="3309938" y="4643438"/>
          <a:ext cx="332263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9" name="Equation" r:id="rId13" imgW="24136350" imgH="4829175" progId="Equation.DSMT4">
                  <p:embed/>
                </p:oleObj>
              </mc:Choice>
              <mc:Fallback>
                <p:oleObj name="Equation" r:id="rId13" imgW="24136350" imgH="482917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4643438"/>
                        <a:ext cx="3322637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72EBCE6-0F4C-48C5-B9DE-86D92D972E80}"/>
              </a:ext>
            </a:extLst>
          </p:cNvPr>
          <p:cNvSpPr/>
          <p:nvPr/>
        </p:nvSpPr>
        <p:spPr bwMode="auto">
          <a:xfrm>
            <a:off x="2390775" y="5567363"/>
            <a:ext cx="1416050" cy="6461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3429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整理得：</a:t>
            </a:r>
            <a:endParaRPr lang="en-US" altLang="zh-CN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graphicFrame>
        <p:nvGraphicFramePr>
          <p:cNvPr id="64522" name="对象 40963"/>
          <p:cNvGraphicFramePr>
            <a:graphicFrameLocks noChangeAspect="1"/>
          </p:cNvGraphicFramePr>
          <p:nvPr/>
        </p:nvGraphicFramePr>
        <p:xfrm>
          <a:off x="3986213" y="5786438"/>
          <a:ext cx="37687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0" name="Equation" r:id="rId15" imgW="30060900" imgH="6800850" progId="Equation.DSMT4">
                  <p:embed/>
                </p:oleObj>
              </mc:Choice>
              <mc:Fallback>
                <p:oleObj name="Equation" r:id="rId15" imgW="30060900" imgH="6800850" progId="Equation.DSMT4">
                  <p:embed/>
                  <p:pic>
                    <p:nvPicPr>
                      <p:cNvPr id="0" name="对象 409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5786438"/>
                        <a:ext cx="376872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矩形 3"/>
          <p:cNvSpPr>
            <a:spLocks noChangeArrowheads="1"/>
          </p:cNvSpPr>
          <p:nvPr/>
        </p:nvSpPr>
        <p:spPr bwMode="auto">
          <a:xfrm>
            <a:off x="2392363" y="3654425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于是得</a:t>
            </a:r>
          </a:p>
        </p:txBody>
      </p:sp>
      <p:graphicFrame>
        <p:nvGraphicFramePr>
          <p:cNvPr id="65539" name="对象 40963"/>
          <p:cNvGraphicFramePr>
            <a:graphicFrameLocks noChangeAspect="1"/>
          </p:cNvGraphicFramePr>
          <p:nvPr/>
        </p:nvGraphicFramePr>
        <p:xfrm>
          <a:off x="2881313" y="4286250"/>
          <a:ext cx="5472112" cy="210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07" name="Equation" r:id="rId3" imgW="51568350" imgH="21507450" progId="Equation.DSMT4">
                  <p:embed/>
                </p:oleObj>
              </mc:Choice>
              <mc:Fallback>
                <p:oleObj name="Equation" r:id="rId3" imgW="51568350" imgH="21507450" progId="Equation.DSMT4">
                  <p:embed/>
                  <p:pic>
                    <p:nvPicPr>
                      <p:cNvPr id="0" name="对象 409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4286250"/>
                        <a:ext cx="5472112" cy="210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0" name="矩形 3"/>
          <p:cNvSpPr>
            <a:spLocks noChangeArrowheads="1"/>
          </p:cNvSpPr>
          <p:nvPr/>
        </p:nvSpPr>
        <p:spPr bwMode="auto">
          <a:xfrm>
            <a:off x="2036763" y="357188"/>
            <a:ext cx="203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同样的方法，</a:t>
            </a:r>
            <a:endParaRPr lang="en-US" altLang="zh-CN" sz="2400">
              <a:solidFill>
                <a:srgbClr val="000000"/>
              </a:solidFill>
            </a:endParaRP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/>
        </p:nvGraphicFramePr>
        <p:xfrm>
          <a:off x="3884613" y="500063"/>
          <a:ext cx="124936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08" name="Equation" r:id="rId5" imgW="10972800" imgH="3514725" progId="Equation.DSMT4">
                  <p:embed/>
                </p:oleObj>
              </mc:Choice>
              <mc:Fallback>
                <p:oleObj name="Equation" r:id="rId5" imgW="10972800" imgH="351472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500063"/>
                        <a:ext cx="124936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5"/>
          <p:cNvGraphicFramePr>
            <a:graphicFrameLocks noChangeAspect="1"/>
          </p:cNvGraphicFramePr>
          <p:nvPr/>
        </p:nvGraphicFramePr>
        <p:xfrm>
          <a:off x="3238500" y="1143000"/>
          <a:ext cx="31908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09" name="Equation" r:id="rId7" imgW="30060900" imgH="6800850" progId="Equation.DSMT4">
                  <p:embed/>
                </p:oleObj>
              </mc:Choice>
              <mc:Fallback>
                <p:oleObj name="Equation" r:id="rId7" imgW="30060900" imgH="680085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1143000"/>
                        <a:ext cx="31908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6"/>
          <p:cNvGraphicFramePr>
            <a:graphicFrameLocks noChangeAspect="1"/>
          </p:cNvGraphicFramePr>
          <p:nvPr/>
        </p:nvGraphicFramePr>
        <p:xfrm>
          <a:off x="2667000" y="2000250"/>
          <a:ext cx="12239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10" name="Equation" r:id="rId9" imgW="10753725" imgH="3514725" progId="Equation.DSMT4">
                  <p:embed/>
                </p:oleObj>
              </mc:Choice>
              <mc:Fallback>
                <p:oleObj name="Equation" r:id="rId9" imgW="10753725" imgH="351472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000250"/>
                        <a:ext cx="122396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7"/>
          <p:cNvGraphicFramePr>
            <a:graphicFrameLocks noChangeAspect="1"/>
          </p:cNvGraphicFramePr>
          <p:nvPr/>
        </p:nvGraphicFramePr>
        <p:xfrm>
          <a:off x="3167063" y="2763838"/>
          <a:ext cx="3725862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11" name="Equation" r:id="rId11" imgW="35109150" imgH="6800850" progId="Equation.DSMT4">
                  <p:embed/>
                </p:oleObj>
              </mc:Choice>
              <mc:Fallback>
                <p:oleObj name="Equation" r:id="rId11" imgW="35109150" imgH="680085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2763838"/>
                        <a:ext cx="3725862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5545" name="Picture 10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275" y="1000125"/>
            <a:ext cx="4022725" cy="313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 txBox="1">
            <a:spLocks noChangeArrowheads="1"/>
          </p:cNvSpPr>
          <p:nvPr/>
        </p:nvSpPr>
        <p:spPr bwMode="auto">
          <a:xfrm>
            <a:off x="1881188" y="928688"/>
            <a:ext cx="8215312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［例</a:t>
            </a:r>
            <a:r>
              <a:rPr lang="en-US" altLang="zh-CN" sz="2400" b="1" dirty="0">
                <a:solidFill>
                  <a:srgbClr val="FF0000"/>
                </a:solidFill>
              </a:rPr>
              <a:t>6</a:t>
            </a:r>
            <a:r>
              <a:rPr lang="zh-CN" altLang="en-US" sz="2400" b="1" dirty="0">
                <a:solidFill>
                  <a:srgbClr val="FF0000"/>
                </a:solidFill>
              </a:rPr>
              <a:t>］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zh-CN" altLang="en-US" sz="2400" dirty="0"/>
              <a:t>要在程控铣床上加工直升飞机的旋转机翼，外形的截面形状见图</a:t>
            </a:r>
            <a:r>
              <a:rPr lang="en-US" altLang="zh-CN" sz="2400" dirty="0">
                <a:cs typeface="Times New Roman" panose="02020603050405020304" pitchFamily="18" charset="0"/>
              </a:rPr>
              <a:t>4</a:t>
            </a:r>
            <a:r>
              <a:rPr lang="zh-CN" altLang="en-US" sz="2400" dirty="0"/>
              <a:t>-</a:t>
            </a:r>
            <a:r>
              <a:rPr lang="zh-CN" altLang="en-US" sz="2400" dirty="0">
                <a:cs typeface="Times New Roman" panose="02020603050405020304" pitchFamily="18" charset="0"/>
              </a:rPr>
              <a:t>4</a:t>
            </a:r>
            <a:r>
              <a:rPr lang="zh-CN" altLang="en-US" sz="2400" dirty="0"/>
              <a:t>。</a:t>
            </a:r>
          </a:p>
        </p:txBody>
      </p:sp>
      <p:sp>
        <p:nvSpPr>
          <p:cNvPr id="66563" name="Rectangle 2"/>
          <p:cNvSpPr>
            <a:spLocks noChangeArrowheads="1"/>
          </p:cNvSpPr>
          <p:nvPr/>
        </p:nvSpPr>
        <p:spPr bwMode="auto">
          <a:xfrm>
            <a:off x="2166938" y="285750"/>
            <a:ext cx="28889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§4.6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 应用实例 </a:t>
            </a:r>
          </a:p>
        </p:txBody>
      </p:sp>
      <p:grpSp>
        <p:nvGrpSpPr>
          <p:cNvPr id="66564" name="组合 5"/>
          <p:cNvGrpSpPr>
            <a:grpSpLocks/>
          </p:cNvGrpSpPr>
          <p:nvPr/>
        </p:nvGrpSpPr>
        <p:grpSpPr bwMode="auto">
          <a:xfrm>
            <a:off x="1595438" y="2276475"/>
            <a:ext cx="9037637" cy="3690938"/>
            <a:chOff x="0" y="214313"/>
            <a:chExt cx="9144000" cy="3837373"/>
          </a:xfrm>
        </p:grpSpPr>
        <p:pic>
          <p:nvPicPr>
            <p:cNvPr id="66565" name="Picture 2" descr="C:\丁伦制作的电子教案\09373 数值计算方法\SZ14.TI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4313"/>
              <a:ext cx="9144000" cy="3375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66" name="Text Box 3"/>
            <p:cNvSpPr txBox="1">
              <a:spLocks noChangeArrowheads="1"/>
            </p:cNvSpPr>
            <p:nvPr/>
          </p:nvSpPr>
          <p:spPr bwMode="auto">
            <a:xfrm>
              <a:off x="1786076" y="3571666"/>
              <a:ext cx="5138404" cy="480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图</a:t>
              </a:r>
              <a:r>
                <a:rPr lang="en-US" altLang="zh-CN" sz="2400" dirty="0">
                  <a:cs typeface="Times New Roman" panose="02020603050405020304" pitchFamily="18" charset="0"/>
                </a:rPr>
                <a:t>4</a:t>
              </a:r>
              <a:r>
                <a:rPr lang="zh-CN" altLang="en-US" sz="2400" dirty="0"/>
                <a:t>-</a:t>
              </a:r>
              <a:r>
                <a:rPr lang="zh-CN" altLang="en-US" sz="2400" dirty="0">
                  <a:cs typeface="Times New Roman" panose="02020603050405020304" pitchFamily="18" charset="0"/>
                </a:rPr>
                <a:t>4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直升飞机旋转机翼外形截面图</a:t>
              </a:r>
              <a:r>
                <a:rPr lang="zh-CN" altLang="en-US" sz="2400" dirty="0"/>
                <a:t> </a:t>
              </a: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 txBox="1">
            <a:spLocks noChangeArrowheads="1"/>
          </p:cNvSpPr>
          <p:nvPr/>
        </p:nvSpPr>
        <p:spPr bwMode="auto">
          <a:xfrm>
            <a:off x="1919288" y="549275"/>
            <a:ext cx="8215312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FontTx/>
              <a:buNone/>
            </a:pPr>
            <a:r>
              <a:rPr lang="zh-CN" altLang="en-US" sz="2400" dirty="0"/>
              <a:t>     外形头部有一段圆弧</a:t>
            </a:r>
            <a:r>
              <a:rPr lang="en-US" altLang="zh-CN" sz="2400" i="1" dirty="0"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，</a:t>
            </a:r>
            <a:r>
              <a:rPr lang="zh-CN" altLang="en-US" sz="2400" dirty="0"/>
              <a:t>圆的半径</a:t>
            </a:r>
            <a:r>
              <a:rPr lang="en-US" altLang="zh-CN" sz="2400" i="1" dirty="0"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cs typeface="Times New Roman" panose="02020603050405020304" pitchFamily="18" charset="0"/>
              </a:rPr>
              <a:t>=6.92</a:t>
            </a:r>
            <a:r>
              <a:rPr lang="en-US" altLang="zh-CN" sz="2400" i="1" dirty="0">
                <a:cs typeface="Times New Roman" panose="02020603050405020304" pitchFamily="18" charset="0"/>
              </a:rPr>
              <a:t>mm</a:t>
            </a:r>
            <a:r>
              <a:rPr lang="en-US" altLang="zh-CN" sz="2400" dirty="0"/>
              <a:t>，</a:t>
            </a:r>
            <a:r>
              <a:rPr lang="en-US" altLang="zh-CN" sz="2400" dirty="0">
                <a:cs typeface="Times New Roman" panose="02020603050405020304" pitchFamily="18" charset="0"/>
              </a:rPr>
              <a:t>tan</a:t>
            </a:r>
            <a:r>
              <a:rPr lang="en-US" altLang="zh-CN" sz="2400" i="1" dirty="0"/>
              <a:t>α</a:t>
            </a:r>
            <a:r>
              <a:rPr lang="en-US" altLang="zh-CN" sz="2400" dirty="0">
                <a:cs typeface="Times New Roman" panose="02020603050405020304" pitchFamily="18" charset="0"/>
              </a:rPr>
              <a:t>=0</a:t>
            </a:r>
            <a:r>
              <a:rPr lang="en-US" altLang="zh-CN" sz="2400" dirty="0"/>
              <a:t>.</a:t>
            </a:r>
            <a:r>
              <a:rPr lang="en-US" altLang="zh-CN" sz="2400" dirty="0">
                <a:cs typeface="Times New Roman" panose="02020603050405020304" pitchFamily="18" charset="0"/>
              </a:rPr>
              <a:t>305, </a:t>
            </a:r>
            <a:r>
              <a:rPr lang="en-US" altLang="zh-CN" sz="2400" i="1" dirty="0"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cs typeface="Times New Roman" panose="02020603050405020304" pitchFamily="18" charset="0"/>
              </a:rPr>
              <a:t>,</a:t>
            </a:r>
            <a:r>
              <a:rPr lang="en-US" altLang="zh-CN" sz="1600" dirty="0"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的坐标为</a:t>
            </a:r>
            <a:r>
              <a:rPr lang="en-US" altLang="zh-CN" sz="2400" i="1" dirty="0"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cs typeface="Times New Roman" panose="02020603050405020304" pitchFamily="18" charset="0"/>
              </a:rPr>
              <a:t>(0</a:t>
            </a:r>
            <a:r>
              <a:rPr lang="en-US" altLang="zh-CN" sz="2400" dirty="0"/>
              <a:t>.</a:t>
            </a:r>
            <a:r>
              <a:rPr lang="en-US" altLang="zh-CN" sz="2400" dirty="0">
                <a:cs typeface="Times New Roman" panose="02020603050405020304" pitchFamily="18" charset="0"/>
              </a:rPr>
              <a:t>52,</a:t>
            </a:r>
            <a:r>
              <a:rPr lang="en-US" altLang="zh-CN" sz="10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5</a:t>
            </a:r>
            <a:r>
              <a:rPr lang="en-US" altLang="zh-CN" sz="2400" dirty="0"/>
              <a:t>.</a:t>
            </a:r>
            <a:r>
              <a:rPr lang="en-US" altLang="zh-CN" sz="2400" dirty="0">
                <a:cs typeface="Times New Roman" panose="02020603050405020304" pitchFamily="18" charset="0"/>
              </a:rPr>
              <a:t>288)</a:t>
            </a:r>
            <a:r>
              <a:rPr lang="en-US" altLang="zh-CN" sz="2400" dirty="0"/>
              <a:t>，</a:t>
            </a:r>
            <a:r>
              <a:rPr lang="en-US" altLang="zh-CN" sz="2400" i="1" dirty="0"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cs typeface="Times New Roman" panose="02020603050405020304" pitchFamily="18" charset="0"/>
              </a:rPr>
              <a:t>(2</a:t>
            </a:r>
            <a:r>
              <a:rPr lang="en-US" altLang="zh-CN" sz="2400" dirty="0"/>
              <a:t>.</a:t>
            </a:r>
            <a:r>
              <a:rPr lang="en-US" altLang="zh-CN" sz="2400" dirty="0">
                <a:cs typeface="Times New Roman" panose="02020603050405020304" pitchFamily="18" charset="0"/>
              </a:rPr>
              <a:t>6,</a:t>
            </a:r>
            <a:r>
              <a:rPr lang="en-US" altLang="zh-CN" sz="10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-3</a:t>
            </a:r>
            <a:r>
              <a:rPr lang="en-US" altLang="zh-CN" sz="2400" dirty="0"/>
              <a:t>.</a:t>
            </a:r>
            <a:r>
              <a:rPr lang="en-US" altLang="zh-CN" sz="2400" dirty="0">
                <a:cs typeface="Times New Roman" panose="02020603050405020304" pitchFamily="18" charset="0"/>
              </a:rPr>
              <a:t>615)</a:t>
            </a:r>
            <a:r>
              <a:rPr lang="en-US" altLang="zh-CN" sz="2400" dirty="0"/>
              <a:t>，</a:t>
            </a:r>
            <a:r>
              <a:rPr lang="zh-CN" altLang="en-US" sz="2400" dirty="0"/>
              <a:t>截面上轮廓线</a:t>
            </a:r>
            <a:r>
              <a:rPr lang="zh-CN" altLang="en-US" sz="2400" dirty="0">
                <a:cs typeface="Times New Roman" panose="02020603050405020304" pitchFamily="18" charset="0"/>
              </a:rPr>
              <a:t>18</a:t>
            </a:r>
            <a:r>
              <a:rPr lang="zh-CN" altLang="en-US" sz="2400" dirty="0"/>
              <a:t>个点的坐标如下表所示。加工公差要求</a:t>
            </a:r>
          </a:p>
        </p:txBody>
      </p:sp>
      <p:graphicFrame>
        <p:nvGraphicFramePr>
          <p:cNvPr id="3" name="Group 666">
            <a:extLst>
              <a:ext uri="{FF2B5EF4-FFF2-40B4-BE49-F238E27FC236}">
                <a16:creationId xmlns:a16="http://schemas.microsoft.com/office/drawing/2014/main" id="{6FA5B997-C98A-4B8C-BF62-420EA9219206}"/>
              </a:ext>
            </a:extLst>
          </p:cNvPr>
          <p:cNvGraphicFramePr>
            <a:graphicFrameLocks noGrp="1"/>
          </p:cNvGraphicFramePr>
          <p:nvPr/>
        </p:nvGraphicFramePr>
        <p:xfrm>
          <a:off x="1703388" y="3429000"/>
          <a:ext cx="8786812" cy="2536824"/>
        </p:xfrm>
        <a:graphic>
          <a:graphicData uri="http://schemas.openxmlformats.org/drawingml/2006/table">
            <a:tbl>
              <a:tblPr/>
              <a:tblGrid>
                <a:gridCol w="642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78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38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3.1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28.65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39.62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50.65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104.6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156.6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13.84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28.44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36.5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36.6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208.6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364.4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416.3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34.6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26.34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7660" name="Object 2"/>
          <p:cNvGraphicFramePr>
            <a:graphicFrameLocks noChangeAspect="1"/>
          </p:cNvGraphicFramePr>
          <p:nvPr/>
        </p:nvGraphicFramePr>
        <p:xfrm>
          <a:off x="2208213" y="2060575"/>
          <a:ext cx="19653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3" name="Equation" r:id="rId3" imgW="15801975" imgH="3952875" progId="Equation.DSMT4">
                  <p:embed/>
                </p:oleObj>
              </mc:Choice>
              <mc:Fallback>
                <p:oleObj name="Equation" r:id="rId3" imgW="15801975" imgH="395287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2060575"/>
                        <a:ext cx="19653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057400" y="285750"/>
            <a:ext cx="807720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/>
              <a:t>解</a:t>
            </a:r>
            <a:r>
              <a:rPr lang="zh-CN" altLang="en-US" sz="2400"/>
              <a:t>：要用程控铣床加工工件，必须计算出整个工件外形曲线足够密的点的坐标值。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381250" y="5943600"/>
            <a:ext cx="58531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</a:rPr>
              <a:t>）</a:t>
            </a:r>
            <a:r>
              <a:rPr lang="zh-CN" altLang="en-US" sz="2400" dirty="0"/>
              <a:t>下面考虑 </a:t>
            </a:r>
            <a:r>
              <a:rPr lang="en-US" altLang="zh-CN" sz="2400" dirty="0">
                <a:solidFill>
                  <a:srgbClr val="0B07B9"/>
                </a:solidFill>
              </a:rPr>
              <a:t>[0.52, 520] </a:t>
            </a:r>
            <a:r>
              <a:rPr lang="zh-CN" altLang="en-US" sz="2400" dirty="0">
                <a:solidFill>
                  <a:srgbClr val="0B07B9"/>
                </a:solidFill>
              </a:rPr>
              <a:t>上的插值</a:t>
            </a:r>
            <a:r>
              <a:rPr lang="zh-CN" altLang="en-US" sz="2400" dirty="0"/>
              <a:t>问题。</a:t>
            </a:r>
            <a:endParaRPr lang="en-US" altLang="zh-CN" sz="2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063750" y="1484313"/>
            <a:ext cx="807720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/>
              <a:t>             根据所给条件，头部圆弧</a:t>
            </a:r>
            <a:r>
              <a:rPr lang="en-US" altLang="zh-CN" sz="2400" i="1">
                <a:cs typeface="Times New Roman" panose="02020603050405020304" pitchFamily="18" charset="0"/>
              </a:rPr>
              <a:t>B</a:t>
            </a:r>
            <a:r>
              <a:rPr lang="en-US" altLang="zh-CN" sz="2400" baseline="-30000">
                <a:latin typeface="宋体" panose="02010600030101010101" pitchFamily="2" charset="-122"/>
              </a:rPr>
              <a:t>1</a:t>
            </a:r>
            <a:r>
              <a:rPr lang="en-US" altLang="zh-CN" sz="2400" i="1">
                <a:cs typeface="Times New Roman" panose="02020603050405020304" pitchFamily="18" charset="0"/>
              </a:rPr>
              <a:t>B</a:t>
            </a:r>
            <a:r>
              <a:rPr lang="en-US" altLang="zh-CN" sz="2400" baseline="-30000">
                <a:latin typeface="宋体" panose="02010600030101010101" pitchFamily="2" charset="-122"/>
              </a:rPr>
              <a:t>2</a:t>
            </a:r>
            <a:r>
              <a:rPr lang="zh-CN" altLang="en-US" sz="2400"/>
              <a:t>可由圆的方程计算出点的坐标；其余部分利用插值方法计算</a:t>
            </a:r>
            <a:r>
              <a:rPr lang="zh-CN" altLang="en-US" sz="2400" b="1">
                <a:solidFill>
                  <a:srgbClr val="008000"/>
                </a:solidFill>
              </a:rPr>
              <a:t>加密点</a:t>
            </a:r>
            <a:r>
              <a:rPr lang="zh-CN" altLang="en-US" sz="2400"/>
              <a:t>的坐标。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063750" y="2708275"/>
            <a:ext cx="807720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C00000"/>
                </a:solidFill>
              </a:rPr>
              <a:t>（</a:t>
            </a:r>
            <a:r>
              <a:rPr lang="en-US" altLang="zh-CN" sz="2400" b="1">
                <a:solidFill>
                  <a:srgbClr val="C00000"/>
                </a:solidFill>
              </a:rPr>
              <a:t>1</a:t>
            </a:r>
            <a:r>
              <a:rPr lang="zh-CN" altLang="en-US" sz="2400" b="1">
                <a:solidFill>
                  <a:srgbClr val="C00000"/>
                </a:solidFill>
              </a:rPr>
              <a:t>）</a:t>
            </a:r>
            <a:r>
              <a:rPr lang="zh-CN" altLang="en-US" sz="2400">
                <a:solidFill>
                  <a:srgbClr val="0B07B9"/>
                </a:solidFill>
              </a:rPr>
              <a:t>头部圆弧</a:t>
            </a:r>
            <a:r>
              <a:rPr lang="en-US" altLang="zh-CN" sz="2400" i="1">
                <a:solidFill>
                  <a:srgbClr val="0B07B9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400" baseline="-30000">
                <a:solidFill>
                  <a:srgbClr val="0B07B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i="1">
                <a:solidFill>
                  <a:srgbClr val="0B07B9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400" baseline="-30000">
                <a:solidFill>
                  <a:srgbClr val="0B07B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/>
              <a:t>的计算方法。根据所给条件，可求得圆心坐标 </a:t>
            </a:r>
            <a:r>
              <a:rPr lang="zh-CN" altLang="en-US" sz="2400">
                <a:cs typeface="Times New Roman" panose="02020603050405020304" pitchFamily="18" charset="0"/>
              </a:rPr>
              <a:t>(</a:t>
            </a:r>
            <a:r>
              <a:rPr lang="en-US" altLang="zh-CN" sz="2400" i="1">
                <a:cs typeface="Times New Roman" panose="02020603050405020304" pitchFamily="18" charset="0"/>
              </a:rPr>
              <a:t>x</a:t>
            </a:r>
            <a:r>
              <a:rPr lang="en-US" altLang="zh-CN" sz="2400" baseline="-30000">
                <a:latin typeface="宋体" panose="02010600030101010101" pitchFamily="2" charset="-122"/>
              </a:rPr>
              <a:t>0</a:t>
            </a:r>
            <a:r>
              <a:rPr lang="en-US" altLang="zh-CN" sz="2400">
                <a:cs typeface="Times New Roman" panose="02020603050405020304" pitchFamily="18" charset="0"/>
              </a:rPr>
              <a:t>, </a:t>
            </a:r>
            <a:r>
              <a:rPr lang="en-US" altLang="zh-CN" sz="2400" i="1">
                <a:cs typeface="Times New Roman" panose="02020603050405020304" pitchFamily="18" charset="0"/>
              </a:rPr>
              <a:t>y</a:t>
            </a:r>
            <a:r>
              <a:rPr lang="en-US" altLang="zh-CN" sz="2400" baseline="-30000">
                <a:latin typeface="宋体" panose="02010600030101010101" pitchFamily="2" charset="-122"/>
              </a:rPr>
              <a:t>0</a:t>
            </a:r>
            <a:r>
              <a:rPr lang="en-US" altLang="zh-CN" sz="2400">
                <a:cs typeface="Times New Roman" panose="02020603050405020304" pitchFamily="18" charset="0"/>
              </a:rPr>
              <a:t>) </a:t>
            </a:r>
            <a:r>
              <a:rPr lang="zh-CN" altLang="en-US" sz="2400"/>
              <a:t>如下：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cs typeface="Times New Roman" panose="02020603050405020304" pitchFamily="18" charset="0"/>
              </a:rPr>
              <a:t>     </a:t>
            </a:r>
            <a:r>
              <a:rPr lang="zh-CN" altLang="zh-CN" sz="2400" i="1">
                <a:cs typeface="Times New Roman" panose="02020603050405020304" pitchFamily="18" charset="0"/>
              </a:rPr>
              <a:t>	</a:t>
            </a:r>
            <a:r>
              <a:rPr lang="en-US" altLang="zh-CN" sz="2400" i="1">
                <a:cs typeface="Times New Roman" panose="02020603050405020304" pitchFamily="18" charset="0"/>
              </a:rPr>
              <a:t>x</a:t>
            </a:r>
            <a:r>
              <a:rPr lang="en-US" altLang="zh-CN" sz="2400" baseline="-30000"/>
              <a:t>0 </a:t>
            </a:r>
            <a:r>
              <a:rPr lang="en-US" altLang="zh-CN" sz="2400">
                <a:cs typeface="Times New Roman" panose="02020603050405020304" pitchFamily="18" charset="0"/>
              </a:rPr>
              <a:t>= </a:t>
            </a:r>
            <a:r>
              <a:rPr lang="en-US" altLang="zh-CN" sz="2400" i="1">
                <a:cs typeface="Times New Roman" panose="02020603050405020304" pitchFamily="18" charset="0"/>
              </a:rPr>
              <a:t>R</a:t>
            </a:r>
            <a:r>
              <a:rPr lang="en-US" altLang="zh-CN" sz="2400"/>
              <a:t>cos</a:t>
            </a:r>
            <a:r>
              <a:rPr lang="en-US" altLang="zh-CN" sz="2400" i="1"/>
              <a:t>α </a:t>
            </a:r>
            <a:r>
              <a:rPr lang="en-US" altLang="zh-CN" sz="2400">
                <a:cs typeface="Times New Roman" panose="02020603050405020304" pitchFamily="18" charset="0"/>
              </a:rPr>
              <a:t>= 6.619</a:t>
            </a:r>
            <a:endParaRPr lang="en-US" altLang="zh-CN" sz="240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cs typeface="Times New Roman" panose="02020603050405020304" pitchFamily="18" charset="0"/>
              </a:rPr>
              <a:t>            y</a:t>
            </a:r>
            <a:r>
              <a:rPr lang="en-US" altLang="zh-CN" sz="2400" baseline="-30000"/>
              <a:t>0 </a:t>
            </a:r>
            <a:r>
              <a:rPr lang="en-US" altLang="zh-CN" sz="2400">
                <a:cs typeface="Times New Roman" panose="02020603050405020304" pitchFamily="18" charset="0"/>
              </a:rPr>
              <a:t>= </a:t>
            </a:r>
            <a:r>
              <a:rPr lang="en-US" altLang="zh-CN" sz="2400" i="1">
                <a:cs typeface="Times New Roman" panose="02020603050405020304" pitchFamily="18" charset="0"/>
              </a:rPr>
              <a:t>R</a:t>
            </a:r>
            <a:r>
              <a:rPr lang="en-US" altLang="zh-CN" sz="2400"/>
              <a:t>sin</a:t>
            </a:r>
            <a:r>
              <a:rPr lang="en-US" altLang="zh-CN" sz="2400" i="1"/>
              <a:t>α </a:t>
            </a:r>
            <a:r>
              <a:rPr lang="en-US" altLang="zh-CN" sz="2400">
                <a:cs typeface="Times New Roman" panose="02020603050405020304" pitchFamily="18" charset="0"/>
              </a:rPr>
              <a:t>= 2.0186</a:t>
            </a:r>
            <a:r>
              <a:rPr lang="zh-CN" altLang="en-US" sz="2400"/>
              <a:t>            </a:t>
            </a:r>
            <a:r>
              <a:rPr lang="en-US" altLang="zh-CN" sz="2400"/>
              <a:t> </a:t>
            </a:r>
            <a:endParaRPr lang="zh-CN" altLang="en-US" sz="2400"/>
          </a:p>
        </p:txBody>
      </p:sp>
      <p:grpSp>
        <p:nvGrpSpPr>
          <p:cNvPr id="4" name="组合 7"/>
          <p:cNvGrpSpPr>
            <a:grpSpLocks/>
          </p:cNvGrpSpPr>
          <p:nvPr/>
        </p:nvGrpSpPr>
        <p:grpSpPr bwMode="auto">
          <a:xfrm>
            <a:off x="2520950" y="5056188"/>
            <a:ext cx="5503863" cy="965200"/>
            <a:chOff x="996329" y="5055567"/>
            <a:chExt cx="5504484" cy="965721"/>
          </a:xfrm>
        </p:grpSpPr>
        <p:graphicFrame>
          <p:nvGraphicFramePr>
            <p:cNvPr id="68615" name="Object 2"/>
            <p:cNvGraphicFramePr>
              <a:graphicFrameLocks noChangeAspect="1"/>
            </p:cNvGraphicFramePr>
            <p:nvPr/>
          </p:nvGraphicFramePr>
          <p:xfrm>
            <a:off x="1714500" y="5448201"/>
            <a:ext cx="4786313" cy="573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79" name="Equation" r:id="rId3" imgW="40376475" imgH="4829175" progId="Equation.DSMT4">
                    <p:embed/>
                  </p:oleObj>
                </mc:Choice>
                <mc:Fallback>
                  <p:oleObj name="Equation" r:id="rId3" imgW="40376475" imgH="4829175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4500" y="5448201"/>
                          <a:ext cx="4786313" cy="573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16" name="矩形 6"/>
            <p:cNvSpPr>
              <a:spLocks noChangeArrowheads="1"/>
            </p:cNvSpPr>
            <p:nvPr/>
          </p:nvSpPr>
          <p:spPr bwMode="auto">
            <a:xfrm>
              <a:off x="996329" y="5055567"/>
              <a:ext cx="3575453" cy="462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</a:rPr>
                <a:t>于是，圆的方程为</a:t>
              </a: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5" grpId="0"/>
      <p:bldP spid="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7EE5AA3-2F14-4922-B1A8-4DF12EC91A19}"/>
              </a:ext>
            </a:extLst>
          </p:cNvPr>
          <p:cNvGraphicFramePr>
            <a:graphicFrameLocks noGrp="1"/>
          </p:cNvGraphicFramePr>
          <p:nvPr/>
        </p:nvGraphicFramePr>
        <p:xfrm>
          <a:off x="2309813" y="-68263"/>
          <a:ext cx="8072437" cy="696595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3690715165"/>
                    </a:ext>
                  </a:extLst>
                </a:gridCol>
                <a:gridCol w="912812">
                  <a:extLst>
                    <a:ext uri="{9D8B030D-6E8A-4147-A177-3AD203B41FA5}">
                      <a16:colId xmlns:a16="http://schemas.microsoft.com/office/drawing/2014/main" val="3539201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95739096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008068039"/>
                    </a:ext>
                  </a:extLst>
                </a:gridCol>
                <a:gridCol w="1370013">
                  <a:extLst>
                    <a:ext uri="{9D8B030D-6E8A-4147-A177-3AD203B41FA5}">
                      <a16:colId xmlns:a16="http://schemas.microsoft.com/office/drawing/2014/main" val="3692531892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792076886"/>
                    </a:ext>
                  </a:extLst>
                </a:gridCol>
                <a:gridCol w="1357312">
                  <a:extLst>
                    <a:ext uri="{9D8B030D-6E8A-4147-A177-3AD203B41FA5}">
                      <a16:colId xmlns:a16="http://schemas.microsoft.com/office/drawing/2014/main" val="248748986"/>
                    </a:ext>
                  </a:extLst>
                </a:gridCol>
              </a:tblGrid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zh-CN" alt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一阶差商</a:t>
                      </a: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二阶差商</a:t>
                      </a: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三阶差商</a:t>
                      </a: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四阶差商</a:t>
                      </a: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323289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288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704660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3.1</a:t>
                      </a: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9.4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1.5938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77545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13.84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0.9061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-0.091935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174538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17.95</a:t>
                      </a: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20.2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0.6392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-0.017974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0.00424328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133002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28.65</a:t>
                      </a: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24.9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0.4393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-0.009682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0.00032455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-0.1393E-3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564200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39.62</a:t>
                      </a: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28.44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0.3227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-0.005378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0.00013611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-0.0052E-3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99676"/>
                  </a:ext>
                </a:extLst>
              </a:tr>
              <a:tr h="365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50.65</a:t>
                      </a:r>
                    </a:p>
                  </a:txBody>
                  <a:tcPr marL="91439" marR="91439" marT="45731" marB="4573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31.1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0.2412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-0.003706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0.00005114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-0.0020E-3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846421"/>
                  </a:ext>
                </a:extLst>
              </a:tr>
              <a:tr h="365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78.0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731" marB="4573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35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0.1426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-0.002568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0.00002306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-0.0005E-3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788857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104.6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36.5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0.0564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-0.001597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0.00001493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-0.0001E-3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74223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156.6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36.6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0.0019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-0.000692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0.00000854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-0.0001E-3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681934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208.6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34.6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-0.0385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-0.000388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0.00000233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-0.0000E-3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297945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260.7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-0.0691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-0.000294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0.00000060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-0.0000E-3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670419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312.5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26.34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-0.0900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-0.000200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0.00000059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-0.0000E-3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2195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364.4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20.9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-0.1048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-0.000143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0.00000036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-0.0000E-3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85176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416.3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14.8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-0.1175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-0.000122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0.00000013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-0.0000E-3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412483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468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7.8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-0.1354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-0.000172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-0.00000032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-0.0000E-3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936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494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3.7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-0.1577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-0.000286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-0.00000088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-0.0000E-3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484488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507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-0.1692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-0.000295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-0.00000009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0.0000E-3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87295"/>
                  </a:ext>
                </a:extLst>
              </a:tr>
              <a:tr h="34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-0.1000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0.002662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0.00005689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0.00055E-3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36008" marB="360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34191"/>
                  </a:ext>
                </a:extLst>
              </a:tr>
            </a:tbl>
          </a:graphicData>
        </a:graphic>
      </p:graphicFrame>
      <p:sp>
        <p:nvSpPr>
          <p:cNvPr id="69804" name="矩形 3"/>
          <p:cNvSpPr>
            <a:spLocks noChangeArrowheads="1"/>
          </p:cNvSpPr>
          <p:nvPr/>
        </p:nvSpPr>
        <p:spPr bwMode="auto">
          <a:xfrm>
            <a:off x="1666875" y="2786063"/>
            <a:ext cx="5000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差商表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2D88111-FB37-4A47-B486-123F0FE0DA8A}"/>
              </a:ext>
            </a:extLst>
          </p:cNvPr>
          <p:cNvSpPr/>
          <p:nvPr/>
        </p:nvSpPr>
        <p:spPr>
          <a:xfrm>
            <a:off x="2279650" y="260350"/>
            <a:ext cx="78581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从差商表分析，可将 </a:t>
            </a:r>
            <a:r>
              <a:rPr lang="en-US" altLang="zh-CN" kern="0" dirty="0"/>
              <a:t>[0.52, 520] </a:t>
            </a:r>
            <a:r>
              <a:rPr lang="zh-CN" altLang="en-US" kern="0" dirty="0"/>
              <a:t>分成</a:t>
            </a:r>
            <a:r>
              <a:rPr lang="zh-CN" altLang="en-US" b="1" kern="0" dirty="0">
                <a:solidFill>
                  <a:srgbClr val="7030A0"/>
                </a:solidFill>
              </a:rPr>
              <a:t>三部分</a:t>
            </a:r>
            <a:r>
              <a:rPr lang="zh-CN" altLang="en-US" kern="0" dirty="0"/>
              <a:t>：</a:t>
            </a:r>
            <a:endParaRPr lang="en-US" altLang="zh-CN" kern="0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kern="0" dirty="0"/>
              <a:t>            [0.52, 28.65] </a:t>
            </a:r>
            <a:r>
              <a:rPr lang="zh-CN" altLang="en-US" kern="0" dirty="0"/>
              <a:t>，</a:t>
            </a:r>
            <a:r>
              <a:rPr lang="en-US" altLang="zh-CN" kern="0" dirty="0"/>
              <a:t> [28.65 , 507]</a:t>
            </a:r>
            <a:r>
              <a:rPr lang="zh-CN" altLang="en-US" kern="0" dirty="0"/>
              <a:t>，</a:t>
            </a:r>
            <a:r>
              <a:rPr lang="en-US" altLang="zh-CN" kern="0" dirty="0"/>
              <a:t> [507, 520]</a:t>
            </a:r>
            <a:endParaRPr lang="zh-CN" altLang="en-US" dirty="0"/>
          </a:p>
        </p:txBody>
      </p:sp>
      <p:graphicFrame>
        <p:nvGraphicFramePr>
          <p:cNvPr id="389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648336"/>
              </p:ext>
            </p:extLst>
          </p:nvPr>
        </p:nvGraphicFramePr>
        <p:xfrm>
          <a:off x="1960612" y="3735437"/>
          <a:ext cx="81930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50" name="Equation" r:id="rId3" imgW="65170050" imgH="3952875" progId="Equation.DSMT4">
                  <p:embed/>
                </p:oleObj>
              </mc:Choice>
              <mc:Fallback>
                <p:oleObj name="Equation" r:id="rId3" imgW="65170050" imgH="395287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612" y="3735437"/>
                        <a:ext cx="81930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054225" y="1506974"/>
            <a:ext cx="9144818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[28.65 , 507]</a:t>
            </a:r>
            <a:r>
              <a:rPr lang="zh-CN" altLang="en-US" sz="2400" dirty="0"/>
              <a:t>上的二阶差商均为负，与曲线向</a:t>
            </a:r>
            <a:r>
              <a:rPr lang="zh-CN" altLang="en-US" sz="2400" dirty="0">
                <a:solidFill>
                  <a:srgbClr val="FF0000"/>
                </a:solidFill>
              </a:rPr>
              <a:t>上凸</a:t>
            </a:r>
            <a:r>
              <a:rPr lang="zh-CN" altLang="en-US" sz="2400" dirty="0"/>
              <a:t>的特性一致。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128093" y="2083222"/>
            <a:ext cx="7858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</a:rPr>
              <a:t>（</a:t>
            </a:r>
            <a:r>
              <a:rPr lang="en-US" altLang="zh-CN" sz="2400" b="1" dirty="0">
                <a:solidFill>
                  <a:srgbClr val="CC0000"/>
                </a:solidFill>
              </a:rPr>
              <a:t>A</a:t>
            </a:r>
            <a:r>
              <a:rPr lang="zh-CN" altLang="en-US" sz="2400" b="1" dirty="0">
                <a:solidFill>
                  <a:srgbClr val="CC0000"/>
                </a:solidFill>
              </a:rPr>
              <a:t>）</a:t>
            </a:r>
            <a:r>
              <a:rPr lang="zh-CN" altLang="en-US" sz="2400" dirty="0"/>
              <a:t>对于</a:t>
            </a:r>
            <a:r>
              <a:rPr lang="en-US" altLang="zh-CN" sz="2400" dirty="0"/>
              <a:t> [28.65 , 507]</a:t>
            </a:r>
            <a:r>
              <a:rPr lang="zh-CN" altLang="en-US" sz="2400" dirty="0"/>
              <a:t>，采用二阶</a:t>
            </a:r>
            <a:r>
              <a:rPr lang="en-US" altLang="zh-CN" sz="2400" dirty="0"/>
              <a:t>Newton</a:t>
            </a:r>
            <a:r>
              <a:rPr lang="zh-CN" altLang="en-US" sz="2400" dirty="0"/>
              <a:t>插值公式。</a:t>
            </a: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1889175" y="4992737"/>
            <a:ext cx="7675562" cy="1109663"/>
            <a:chOff x="467544" y="4191471"/>
            <a:chExt cx="7676331" cy="1109737"/>
          </a:xfrm>
        </p:grpSpPr>
        <p:graphicFrame>
          <p:nvGraphicFramePr>
            <p:cNvPr id="70665" name="Object 4"/>
            <p:cNvGraphicFramePr>
              <a:graphicFrameLocks noChangeAspect="1"/>
            </p:cNvGraphicFramePr>
            <p:nvPr/>
          </p:nvGraphicFramePr>
          <p:xfrm>
            <a:off x="892175" y="4805908"/>
            <a:ext cx="72517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451" name="Equation" r:id="rId5" imgW="57711975" imgH="3952875" progId="Equation.DSMT4">
                    <p:embed/>
                  </p:oleObj>
                </mc:Choice>
                <mc:Fallback>
                  <p:oleObj name="Equation" r:id="rId5" imgW="57711975" imgH="395287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2175" y="4805908"/>
                          <a:ext cx="7251700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66" name="矩形 6"/>
            <p:cNvSpPr>
              <a:spLocks noChangeArrowheads="1"/>
            </p:cNvSpPr>
            <p:nvPr/>
          </p:nvSpPr>
          <p:spPr bwMode="auto">
            <a:xfrm>
              <a:off x="467544" y="4191471"/>
              <a:ext cx="3816732" cy="461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其</a:t>
              </a:r>
              <a:r>
                <a:rPr lang="en-US" altLang="zh-CN" sz="2400"/>
                <a:t>[</a:t>
              </a:r>
              <a:r>
                <a:rPr lang="en-US" altLang="zh-CN" sz="2400" i="1"/>
                <a:t>x</a:t>
              </a:r>
              <a:r>
                <a:rPr lang="en-US" altLang="zh-CN" sz="2400" baseline="-25000"/>
                <a:t>4</a:t>
              </a:r>
              <a:r>
                <a:rPr lang="en-US" altLang="zh-CN" sz="2400"/>
                <a:t> , </a:t>
              </a:r>
              <a:r>
                <a:rPr lang="en-US" altLang="zh-CN" sz="2400" i="1"/>
                <a:t>x</a:t>
              </a:r>
              <a:r>
                <a:rPr lang="en-US" altLang="zh-CN" sz="2400" baseline="-25000"/>
                <a:t>6</a:t>
              </a:r>
              <a:r>
                <a:rPr lang="en-US" altLang="zh-CN" sz="2400"/>
                <a:t> ]</a:t>
              </a:r>
              <a:r>
                <a:rPr lang="zh-CN" altLang="en-US" sz="2400"/>
                <a:t>上的误差估计为</a:t>
              </a:r>
            </a:p>
          </p:txBody>
        </p:sp>
      </p:grp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195740"/>
              </p:ext>
            </p:extLst>
          </p:nvPr>
        </p:nvGraphicFramePr>
        <p:xfrm>
          <a:off x="2495600" y="4437112"/>
          <a:ext cx="794543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52" name="Equation" r:id="rId7" imgW="63198375" imgH="3514725" progId="Equation.DSMT4">
                  <p:embed/>
                </p:oleObj>
              </mc:Choice>
              <mc:Fallback>
                <p:oleObj name="Equation" r:id="rId7" imgW="63198375" imgH="351472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4437112"/>
                        <a:ext cx="7945437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176512" y="3006775"/>
            <a:ext cx="7858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B07B9"/>
                </a:solidFill>
              </a:rPr>
              <a:t>以 </a:t>
            </a:r>
            <a:r>
              <a:rPr lang="en-US" altLang="zh-CN" sz="2400" dirty="0">
                <a:solidFill>
                  <a:srgbClr val="0B07B9"/>
                </a:solidFill>
              </a:rPr>
              <a:t>[</a:t>
            </a:r>
            <a:r>
              <a:rPr lang="en-US" altLang="zh-CN" sz="2400" i="1" dirty="0">
                <a:solidFill>
                  <a:srgbClr val="0B07B9"/>
                </a:solidFill>
              </a:rPr>
              <a:t>x</a:t>
            </a:r>
            <a:r>
              <a:rPr lang="en-US" altLang="zh-CN" sz="2400" baseline="-25000" dirty="0">
                <a:solidFill>
                  <a:srgbClr val="0B07B9"/>
                </a:solidFill>
              </a:rPr>
              <a:t>4</a:t>
            </a:r>
            <a:r>
              <a:rPr lang="en-US" altLang="zh-CN" sz="2400" dirty="0">
                <a:solidFill>
                  <a:srgbClr val="0B07B9"/>
                </a:solidFill>
              </a:rPr>
              <a:t> , </a:t>
            </a:r>
            <a:r>
              <a:rPr lang="en-US" altLang="zh-CN" sz="2400" i="1" dirty="0">
                <a:solidFill>
                  <a:srgbClr val="0B07B9"/>
                </a:solidFill>
              </a:rPr>
              <a:t>x</a:t>
            </a:r>
            <a:r>
              <a:rPr lang="en-US" altLang="zh-CN" sz="2400" baseline="-25000" dirty="0">
                <a:solidFill>
                  <a:srgbClr val="0B07B9"/>
                </a:solidFill>
              </a:rPr>
              <a:t>5</a:t>
            </a:r>
            <a:r>
              <a:rPr lang="en-US" altLang="zh-CN" sz="2400" dirty="0">
                <a:solidFill>
                  <a:srgbClr val="0B07B9"/>
                </a:solidFill>
              </a:rPr>
              <a:t> ,</a:t>
            </a:r>
            <a:r>
              <a:rPr lang="en-US" altLang="zh-CN" sz="2400" i="1" dirty="0">
                <a:solidFill>
                  <a:srgbClr val="0B07B9"/>
                </a:solidFill>
              </a:rPr>
              <a:t> x</a:t>
            </a:r>
            <a:r>
              <a:rPr lang="en-US" altLang="zh-CN" sz="2400" baseline="-25000" dirty="0">
                <a:solidFill>
                  <a:srgbClr val="0B07B9"/>
                </a:solidFill>
              </a:rPr>
              <a:t>6</a:t>
            </a:r>
            <a:r>
              <a:rPr lang="en-US" altLang="zh-CN" sz="2400" dirty="0">
                <a:solidFill>
                  <a:srgbClr val="0B07B9"/>
                </a:solidFill>
              </a:rPr>
              <a:t> ]=[28.65 , </a:t>
            </a:r>
            <a:r>
              <a:rPr lang="zh-CN" altLang="en-US" sz="2400" dirty="0">
                <a:solidFill>
                  <a:srgbClr val="0B07B9"/>
                </a:solidFill>
              </a:rPr>
              <a:t>39.62</a:t>
            </a:r>
            <a:r>
              <a:rPr lang="en-US" altLang="zh-CN" sz="2400" dirty="0">
                <a:solidFill>
                  <a:srgbClr val="0B07B9"/>
                </a:solidFill>
              </a:rPr>
              <a:t> ,</a:t>
            </a:r>
            <a:r>
              <a:rPr lang="en-US" altLang="zh-CN" sz="2400" i="1" dirty="0">
                <a:solidFill>
                  <a:srgbClr val="0B07B9"/>
                </a:solidFill>
              </a:rPr>
              <a:t> </a:t>
            </a:r>
            <a:r>
              <a:rPr lang="zh-CN" altLang="en-US" sz="2400" dirty="0">
                <a:solidFill>
                  <a:srgbClr val="0B07B9"/>
                </a:solidFill>
              </a:rPr>
              <a:t>50.65</a:t>
            </a:r>
            <a:r>
              <a:rPr lang="en-US" altLang="zh-CN" sz="2400" dirty="0">
                <a:solidFill>
                  <a:srgbClr val="0B07B9"/>
                </a:solidFill>
              </a:rPr>
              <a:t> ] </a:t>
            </a:r>
            <a:r>
              <a:rPr lang="zh-CN" altLang="en-US" sz="2400" dirty="0">
                <a:solidFill>
                  <a:srgbClr val="0B07B9"/>
                </a:solidFill>
              </a:rPr>
              <a:t>为例</a:t>
            </a:r>
            <a:r>
              <a:rPr lang="zh-CN" altLang="en-US" sz="2400" dirty="0"/>
              <a:t>，有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10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345530" y="869474"/>
            <a:ext cx="8719021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FontTx/>
              <a:buNone/>
            </a:pPr>
            <a:r>
              <a:rPr lang="zh-CN" altLang="en-US" sz="2400" dirty="0"/>
              <a:t>在 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1 </a:t>
            </a:r>
            <a:r>
              <a:rPr lang="zh-CN" altLang="en-US" sz="2400" dirty="0"/>
              <a:t>点处要考虑到</a:t>
            </a:r>
            <a:r>
              <a:rPr lang="zh-CN" altLang="en-US" sz="2400" dirty="0">
                <a:solidFill>
                  <a:srgbClr val="C00000"/>
                </a:solidFill>
              </a:rPr>
              <a:t>光滑性</a:t>
            </a:r>
            <a:r>
              <a:rPr lang="zh-CN" altLang="en-US" sz="2400" dirty="0"/>
              <a:t>，故将</a:t>
            </a:r>
            <a:r>
              <a:rPr lang="en-US" altLang="zh-CN" sz="2400" dirty="0"/>
              <a:t>[0.52, 28.65]</a:t>
            </a:r>
            <a:r>
              <a:rPr lang="zh-CN" altLang="en-US" sz="2400" dirty="0"/>
              <a:t>分为</a:t>
            </a:r>
            <a:endParaRPr lang="en-US" altLang="zh-CN" sz="2400" dirty="0"/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zh-CN" sz="2400" dirty="0"/>
              <a:t> [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 , 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]</a:t>
            </a:r>
            <a:r>
              <a:rPr lang="zh-CN" altLang="en-US" sz="2400" dirty="0"/>
              <a:t>与</a:t>
            </a:r>
            <a:r>
              <a:rPr lang="en-US" altLang="zh-CN" sz="2400" dirty="0"/>
              <a:t>[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, 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 ]</a:t>
            </a:r>
            <a:r>
              <a:rPr lang="zh-CN" altLang="en-US" sz="2400" dirty="0"/>
              <a:t>两段。</a:t>
            </a:r>
            <a:endParaRPr lang="en-US" altLang="zh-CN" sz="2400" dirty="0"/>
          </a:p>
        </p:txBody>
      </p:sp>
      <p:sp>
        <p:nvSpPr>
          <p:cNvPr id="71683" name="矩形 6"/>
          <p:cNvSpPr>
            <a:spLocks noChangeArrowheads="1"/>
          </p:cNvSpPr>
          <p:nvPr/>
        </p:nvSpPr>
        <p:spPr bwMode="auto">
          <a:xfrm>
            <a:off x="1487488" y="281740"/>
            <a:ext cx="48910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CC0000"/>
                </a:solidFill>
              </a:rPr>
              <a:t>（</a:t>
            </a:r>
            <a:r>
              <a:rPr lang="en-US" altLang="zh-CN" sz="2400" b="1">
                <a:solidFill>
                  <a:srgbClr val="CC0000"/>
                </a:solidFill>
              </a:rPr>
              <a:t>B</a:t>
            </a:r>
            <a:r>
              <a:rPr lang="zh-CN" altLang="en-US" sz="2400" b="1">
                <a:solidFill>
                  <a:srgbClr val="CC0000"/>
                </a:solidFill>
              </a:rPr>
              <a:t>）</a:t>
            </a:r>
            <a:r>
              <a:rPr lang="zh-CN" altLang="en-US" sz="2400">
                <a:solidFill>
                  <a:srgbClr val="000000"/>
                </a:solidFill>
              </a:rPr>
              <a:t>考虑</a:t>
            </a:r>
            <a:r>
              <a:rPr lang="en-US" altLang="zh-CN" sz="2400">
                <a:solidFill>
                  <a:srgbClr val="000000"/>
                </a:solidFill>
              </a:rPr>
              <a:t> [0.52, 28.65]</a:t>
            </a:r>
            <a:r>
              <a:rPr lang="zh-CN" altLang="en-US" sz="2400">
                <a:solidFill>
                  <a:srgbClr val="000000"/>
                </a:solidFill>
              </a:rPr>
              <a:t>部分</a:t>
            </a:r>
            <a:endParaRPr lang="en-US" altLang="zh-CN" sz="2400">
              <a:solidFill>
                <a:srgbClr val="000000"/>
              </a:solidFill>
            </a:endParaRPr>
          </a:p>
        </p:txBody>
      </p:sp>
      <p:grpSp>
        <p:nvGrpSpPr>
          <p:cNvPr id="3" name="组合 8"/>
          <p:cNvGrpSpPr>
            <a:grpSpLocks/>
          </p:cNvGrpSpPr>
          <p:nvPr/>
        </p:nvGrpSpPr>
        <p:grpSpPr bwMode="auto">
          <a:xfrm>
            <a:off x="2282057" y="1700808"/>
            <a:ext cx="9113118" cy="5264955"/>
            <a:chOff x="758553" y="1701346"/>
            <a:chExt cx="9113119" cy="5263673"/>
          </a:xfrm>
        </p:grpSpPr>
        <p:sp>
          <p:nvSpPr>
            <p:cNvPr id="71689" name="矩形 7"/>
            <p:cNvSpPr>
              <a:spLocks noChangeArrowheads="1"/>
            </p:cNvSpPr>
            <p:nvPr/>
          </p:nvSpPr>
          <p:spPr bwMode="auto">
            <a:xfrm>
              <a:off x="758553" y="1701346"/>
              <a:ext cx="7500938" cy="502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r>
                <a:rPr lang="zh-CN" altLang="en-US" sz="2400" dirty="0"/>
                <a:t>对于</a:t>
              </a:r>
              <a:r>
                <a:rPr lang="en-US" altLang="zh-CN" sz="2400" dirty="0">
                  <a:solidFill>
                    <a:srgbClr val="CC0000"/>
                  </a:solidFill>
                </a:rPr>
                <a:t>[</a:t>
              </a:r>
              <a:r>
                <a:rPr lang="en-US" altLang="zh-CN" sz="2400" i="1" dirty="0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 dirty="0">
                  <a:solidFill>
                    <a:srgbClr val="CC0000"/>
                  </a:solidFill>
                </a:rPr>
                <a:t>0</a:t>
              </a:r>
              <a:r>
                <a:rPr lang="en-US" altLang="zh-CN" sz="2400" dirty="0">
                  <a:solidFill>
                    <a:srgbClr val="CC0000"/>
                  </a:solidFill>
                </a:rPr>
                <a:t> , </a:t>
              </a:r>
              <a:r>
                <a:rPr lang="en-US" altLang="zh-CN" sz="2400" i="1" dirty="0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 dirty="0">
                  <a:solidFill>
                    <a:srgbClr val="CC0000"/>
                  </a:solidFill>
                </a:rPr>
                <a:t>2</a:t>
              </a:r>
              <a:r>
                <a:rPr lang="en-US" altLang="zh-CN" sz="2400" dirty="0">
                  <a:solidFill>
                    <a:srgbClr val="CC0000"/>
                  </a:solidFill>
                </a:rPr>
                <a:t> ]= [0.52 , </a:t>
              </a:r>
              <a:r>
                <a:rPr lang="zh-CN" altLang="en-US" sz="2400" dirty="0">
                  <a:solidFill>
                    <a:srgbClr val="CC0000"/>
                  </a:solidFill>
                </a:rPr>
                <a:t>8.</a:t>
              </a:r>
              <a:r>
                <a:rPr lang="en-US" altLang="zh-CN" sz="2400" dirty="0">
                  <a:solidFill>
                    <a:srgbClr val="CC0000"/>
                  </a:solidFill>
                </a:rPr>
                <a:t>0</a:t>
              </a:r>
              <a:r>
                <a:rPr lang="zh-CN" altLang="en-US" sz="2400" dirty="0">
                  <a:solidFill>
                    <a:srgbClr val="CC0000"/>
                  </a:solidFill>
                </a:rPr>
                <a:t>0</a:t>
              </a:r>
              <a:r>
                <a:rPr lang="en-US" altLang="zh-CN" sz="2400" dirty="0">
                  <a:solidFill>
                    <a:srgbClr val="CC0000"/>
                  </a:solidFill>
                </a:rPr>
                <a:t> ]</a:t>
              </a:r>
              <a:r>
                <a:rPr lang="zh-CN" altLang="en-US" sz="2400" dirty="0"/>
                <a:t>，插值多项式</a:t>
              </a:r>
              <a:r>
                <a:rPr lang="en-US" altLang="zh-CN" sz="2400" i="1" dirty="0"/>
                <a:t>p</a:t>
              </a:r>
              <a:r>
                <a:rPr lang="en-US" altLang="zh-CN" sz="2400" dirty="0"/>
                <a:t>(</a:t>
              </a:r>
              <a:r>
                <a:rPr lang="en-US" altLang="zh-CN" sz="2400" i="1" dirty="0"/>
                <a:t>x</a:t>
              </a:r>
              <a:r>
                <a:rPr lang="en-US" altLang="zh-CN" sz="2400" dirty="0"/>
                <a:t>)</a:t>
              </a:r>
              <a:r>
                <a:rPr lang="zh-CN" altLang="en-US" sz="2400" dirty="0"/>
                <a:t>满足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endParaRPr lang="en-US" altLang="zh-CN" sz="2400" dirty="0"/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zh-CN" altLang="en-US" sz="2400" dirty="0"/>
                <a:t>其中，        可由头部的圆方程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endParaRPr lang="en-US" altLang="zh-CN" sz="2400" dirty="0"/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zh-CN" altLang="en-US" sz="2400" dirty="0"/>
                <a:t>求得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endParaRPr lang="en-US" altLang="zh-CN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71685" name="Object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59408399"/>
                    </p:ext>
                  </p:extLst>
                </p:nvPr>
              </p:nvGraphicFramePr>
              <p:xfrm>
                <a:off x="1476150" y="2389291"/>
                <a:ext cx="4548187" cy="10461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9840" name="Equation" r:id="rId3" imgW="36204525" imgH="8334375" progId="Equation.DSMT4">
                        <p:embed/>
                      </p:oleObj>
                    </mc:Choice>
                    <mc:Fallback>
                      <p:oleObj name="Equation" r:id="rId3" imgW="36204525" imgH="8334375" progId="Equation.DSMT4">
                        <p:embed/>
                        <p:pic>
                          <p:nvPicPr>
                            <p:cNvPr id="0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76150" y="2389291"/>
                              <a:ext cx="4548187" cy="10461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71685" name="Object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59408399"/>
                    </p:ext>
                  </p:extLst>
                </p:nvPr>
              </p:nvGraphicFramePr>
              <p:xfrm>
                <a:off x="1476150" y="2389291"/>
                <a:ext cx="4548187" cy="10461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9840" name="Equation" r:id="rId3" imgW="36204525" imgH="8334375" progId="Equation.DSMT4">
                        <p:embed/>
                      </p:oleObj>
                    </mc:Choice>
                    <mc:Fallback>
                      <p:oleObj name="Equation" r:id="rId3" imgW="36204525" imgH="8334375" progId="Equation.DSMT4">
                        <p:embed/>
                        <p:pic>
                          <p:nvPicPr>
                            <p:cNvPr id="0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76150" y="2389291"/>
                              <a:ext cx="4548187" cy="10461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71686" name="Object 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80830941"/>
                    </p:ext>
                  </p:extLst>
                </p:nvPr>
              </p:nvGraphicFramePr>
              <p:xfrm>
                <a:off x="1620168" y="3421592"/>
                <a:ext cx="511175" cy="5715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9841" name="Equation" r:id="rId5" imgW="3733800" imgH="4171950" progId="Equation.DSMT4">
                        <p:embed/>
                      </p:oleObj>
                    </mc:Choice>
                    <mc:Fallback>
                      <p:oleObj name="Equation" r:id="rId5" imgW="3733800" imgH="4171950" progId="Equation.DSMT4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20168" y="3421592"/>
                              <a:ext cx="511175" cy="5715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71686" name="Object 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80830941"/>
                    </p:ext>
                  </p:extLst>
                </p:nvPr>
              </p:nvGraphicFramePr>
              <p:xfrm>
                <a:off x="1620168" y="3421592"/>
                <a:ext cx="511175" cy="5715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9841" name="Equation" r:id="rId5" imgW="3733800" imgH="4171950" progId="Equation.DSMT4">
                        <p:embed/>
                      </p:oleObj>
                    </mc:Choice>
                    <mc:Fallback>
                      <p:oleObj name="Equation" r:id="rId5" imgW="3733800" imgH="4171950" progId="Equation.DSMT4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20168" y="3421592"/>
                              <a:ext cx="511175" cy="5715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687" name="Object 4"/>
                <p:cNvSpPr txBox="1"/>
                <p:nvPr/>
              </p:nvSpPr>
              <p:spPr bwMode="auto">
                <a:xfrm>
                  <a:off x="4855072" y="3548018"/>
                  <a:ext cx="5016600" cy="7046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−6.619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−2.0186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=47.886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1687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5072" y="3548018"/>
                  <a:ext cx="5016600" cy="70467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688" name="Object 5"/>
                <p:cNvSpPr txBox="1"/>
                <p:nvPr/>
              </p:nvSpPr>
              <p:spPr bwMode="auto">
                <a:xfrm>
                  <a:off x="1760311" y="5871499"/>
                  <a:ext cx="3979863" cy="10935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−6.619</m:t>
                                    </m:r>
                                  </m:num>
                                  <m:den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−2.0186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eqArr>
                              <m:eqArrPr>
                                <m:ctrlP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=0.52</m:t>
                                </m:r>
                              </m:e>
                              <m:e>
                                <m: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=5.288</m:t>
                                </m:r>
                              </m:e>
                            </m:eqArr>
                          </m:sub>
                        </m:sSub>
                        <m:r>
                          <a:rPr lang="zh-CN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1.865</m:t>
                        </m:r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800" dirty="0"/>
                </a:p>
              </p:txBody>
            </p:sp>
          </mc:Choice>
          <mc:Fallback>
            <p:sp>
              <p:nvSpPr>
                <p:cNvPr id="71688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60311" y="5871499"/>
                  <a:ext cx="3979863" cy="10935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42503EFD-718C-48C4-84C6-3BE30249C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8024" y="4105703"/>
            <a:ext cx="6081287" cy="16536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9"/>
          <p:cNvGrpSpPr>
            <a:grpSpLocks/>
          </p:cNvGrpSpPr>
          <p:nvPr/>
        </p:nvGrpSpPr>
        <p:grpSpPr bwMode="auto">
          <a:xfrm>
            <a:off x="2381250" y="357188"/>
            <a:ext cx="7500938" cy="2462212"/>
            <a:chOff x="857250" y="357188"/>
            <a:chExt cx="7500938" cy="2462213"/>
          </a:xfrm>
        </p:grpSpPr>
        <p:sp>
          <p:nvSpPr>
            <p:cNvPr id="72715" name="矩形 1"/>
            <p:cNvSpPr>
              <a:spLocks noChangeArrowheads="1"/>
            </p:cNvSpPr>
            <p:nvPr/>
          </p:nvSpPr>
          <p:spPr bwMode="auto">
            <a:xfrm>
              <a:off x="857250" y="357188"/>
              <a:ext cx="7500938" cy="2462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r>
                <a:rPr lang="zh-CN" altLang="en-US" sz="2400"/>
                <a:t>根据给定的条件，可构造插值多项式</a:t>
              </a:r>
              <a:endParaRPr lang="en-US" altLang="zh-CN" sz="2400"/>
            </a:p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endParaRPr lang="en-US" altLang="zh-CN" sz="2400"/>
            </a:p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r>
                <a:rPr lang="zh-CN" altLang="en-US" sz="2400"/>
                <a:t>        其中</a:t>
              </a:r>
              <a:r>
                <a:rPr lang="en-US" altLang="zh-CN" sz="2400" i="1"/>
                <a:t>p</a:t>
              </a:r>
              <a:r>
                <a:rPr lang="en-US" altLang="zh-CN" sz="2400" baseline="-25000"/>
                <a:t>2</a:t>
              </a:r>
              <a:r>
                <a:rPr lang="en-US" altLang="zh-CN" sz="2400"/>
                <a:t>(</a:t>
              </a:r>
              <a:r>
                <a:rPr lang="en-US" altLang="zh-CN" sz="2400" i="1"/>
                <a:t>x</a:t>
              </a:r>
              <a:r>
                <a:rPr lang="en-US" altLang="zh-CN" sz="2400"/>
                <a:t>) </a:t>
              </a:r>
              <a:r>
                <a:rPr lang="zh-CN" altLang="en-US" sz="2400"/>
                <a:t>是经过 </a:t>
              </a:r>
              <a:r>
                <a:rPr lang="en-US" altLang="zh-CN" sz="2400"/>
                <a:t>(</a:t>
              </a:r>
              <a:r>
                <a:rPr lang="en-US" altLang="zh-CN" sz="1000"/>
                <a:t> </a:t>
              </a:r>
              <a:r>
                <a:rPr lang="en-US" altLang="zh-CN" sz="2400" i="1"/>
                <a:t>x</a:t>
              </a:r>
              <a:r>
                <a:rPr lang="en-US" altLang="zh-CN" sz="2400" baseline="-25000"/>
                <a:t>0</a:t>
              </a:r>
              <a:r>
                <a:rPr lang="en-US" altLang="zh-CN" sz="2400"/>
                <a:t>, </a:t>
              </a:r>
              <a:r>
                <a:rPr lang="en-US" altLang="zh-CN" sz="2400" i="1"/>
                <a:t>y</a:t>
              </a:r>
              <a:r>
                <a:rPr lang="en-US" altLang="zh-CN" sz="2400" baseline="-25000"/>
                <a:t>0</a:t>
              </a:r>
              <a:r>
                <a:rPr lang="zh-CN" altLang="en-US" sz="1000"/>
                <a:t> </a:t>
              </a:r>
              <a:r>
                <a:rPr lang="en-US" altLang="zh-CN" sz="2400"/>
                <a:t>)</a:t>
              </a:r>
              <a:r>
                <a:rPr lang="zh-CN" altLang="en-US" sz="2400"/>
                <a:t>，</a:t>
              </a:r>
              <a:r>
                <a:rPr lang="en-US" altLang="zh-CN" sz="2400"/>
                <a:t>(</a:t>
              </a:r>
              <a:r>
                <a:rPr lang="en-US" altLang="zh-CN" sz="1000"/>
                <a:t> </a:t>
              </a:r>
              <a:r>
                <a:rPr lang="en-US" altLang="zh-CN" sz="2400" i="1"/>
                <a:t>x</a:t>
              </a:r>
              <a:r>
                <a:rPr lang="en-US" altLang="zh-CN" sz="2400" baseline="-25000"/>
                <a:t>1</a:t>
              </a:r>
              <a:r>
                <a:rPr lang="en-US" altLang="zh-CN" sz="2400"/>
                <a:t>, </a:t>
              </a:r>
              <a:r>
                <a:rPr lang="en-US" altLang="zh-CN" sz="2400" i="1"/>
                <a:t>y</a:t>
              </a:r>
              <a:r>
                <a:rPr lang="en-US" altLang="zh-CN" sz="2400" baseline="-25000"/>
                <a:t>1</a:t>
              </a:r>
              <a:r>
                <a:rPr lang="en-US" altLang="zh-CN" sz="1000"/>
                <a:t> </a:t>
              </a:r>
              <a:r>
                <a:rPr lang="en-US" altLang="zh-CN" sz="2400"/>
                <a:t>) </a:t>
              </a:r>
              <a:r>
                <a:rPr lang="zh-CN" altLang="en-US" sz="2400"/>
                <a:t>和 </a:t>
              </a:r>
              <a:r>
                <a:rPr lang="en-US" altLang="zh-CN" sz="2400"/>
                <a:t>( </a:t>
              </a:r>
              <a:r>
                <a:rPr lang="en-US" altLang="zh-CN" sz="2400" i="1"/>
                <a:t>x</a:t>
              </a:r>
              <a:r>
                <a:rPr lang="en-US" altLang="zh-CN" sz="2400" baseline="-25000"/>
                <a:t>2</a:t>
              </a:r>
              <a:r>
                <a:rPr lang="en-US" altLang="zh-CN" sz="2400"/>
                <a:t>, </a:t>
              </a:r>
              <a:r>
                <a:rPr lang="en-US" altLang="zh-CN" sz="2400" i="1"/>
                <a:t>y</a:t>
              </a:r>
              <a:r>
                <a:rPr lang="en-US" altLang="zh-CN" sz="2400" baseline="-25000"/>
                <a:t>2</a:t>
              </a:r>
              <a:r>
                <a:rPr lang="en-US" altLang="zh-CN" sz="2400"/>
                <a:t> ) </a:t>
              </a:r>
              <a:r>
                <a:rPr lang="zh-CN" altLang="en-US" sz="2400"/>
                <a:t>的二次多项式。</a:t>
              </a:r>
              <a:endParaRPr lang="en-US" altLang="zh-CN" sz="2400"/>
            </a:p>
          </p:txBody>
        </p:sp>
        <p:graphicFrame>
          <p:nvGraphicFramePr>
            <p:cNvPr id="72716" name="Object 2"/>
            <p:cNvGraphicFramePr>
              <a:graphicFrameLocks noChangeAspect="1"/>
            </p:cNvGraphicFramePr>
            <p:nvPr/>
          </p:nvGraphicFramePr>
          <p:xfrm>
            <a:off x="1643063" y="1071563"/>
            <a:ext cx="5345112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34" name="Equation" r:id="rId3" imgW="42567225" imgH="3952875" progId="Equation.DSMT4">
                    <p:embed/>
                  </p:oleObj>
                </mc:Choice>
                <mc:Fallback>
                  <p:oleObj name="Equation" r:id="rId3" imgW="42567225" imgH="3952875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3063" y="1071563"/>
                          <a:ext cx="5345112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66" name="Object 7"/>
          <p:cNvGraphicFramePr>
            <a:graphicFrameLocks noChangeAspect="1"/>
          </p:cNvGraphicFramePr>
          <p:nvPr/>
        </p:nvGraphicFramePr>
        <p:xfrm>
          <a:off x="4189413" y="6213475"/>
          <a:ext cx="19288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5" name="Equation" r:id="rId5" imgW="15363825" imgH="3076575" progId="Equation.DSMT4">
                  <p:embed/>
                </p:oleObj>
              </mc:Choice>
              <mc:Fallback>
                <p:oleObj name="Equation" r:id="rId5" imgW="15363825" imgH="307657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6213475"/>
                        <a:ext cx="19288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10"/>
          <p:cNvGrpSpPr>
            <a:grpSpLocks/>
          </p:cNvGrpSpPr>
          <p:nvPr/>
        </p:nvGrpSpPr>
        <p:grpSpPr bwMode="auto">
          <a:xfrm>
            <a:off x="2363788" y="2967038"/>
            <a:ext cx="8062912" cy="1541462"/>
            <a:chOff x="839197" y="2967335"/>
            <a:chExt cx="8063503" cy="1541785"/>
          </a:xfrm>
        </p:grpSpPr>
        <p:graphicFrame>
          <p:nvGraphicFramePr>
            <p:cNvPr id="72713" name="Object 4"/>
            <p:cNvGraphicFramePr>
              <a:graphicFrameLocks noChangeAspect="1"/>
            </p:cNvGraphicFramePr>
            <p:nvPr/>
          </p:nvGraphicFramePr>
          <p:xfrm>
            <a:off x="857250" y="3574083"/>
            <a:ext cx="8045450" cy="935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36" name="Equation" r:id="rId7" imgW="64074675" imgH="7458075" progId="Equation.DSMT4">
                    <p:embed/>
                  </p:oleObj>
                </mc:Choice>
                <mc:Fallback>
                  <p:oleObj name="Equation" r:id="rId7" imgW="64074675" imgH="745807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7250" y="3574083"/>
                          <a:ext cx="8045450" cy="935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9221764-9009-48CD-9CCC-99E4328C98CE}"/>
                </a:ext>
              </a:extLst>
            </p:cNvPr>
            <p:cNvSpPr/>
            <p:nvPr/>
          </p:nvSpPr>
          <p:spPr>
            <a:xfrm>
              <a:off x="839197" y="2967335"/>
              <a:ext cx="492161" cy="4620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kern="0" dirty="0">
                  <a:solidFill>
                    <a:srgbClr val="000000"/>
                  </a:solidFill>
                </a:rPr>
                <a:t>故</a:t>
              </a:r>
              <a:endParaRPr lang="zh-CN" altLang="en-US" dirty="0"/>
            </a:p>
          </p:txBody>
        </p:sp>
      </p:grpSp>
      <p:grpSp>
        <p:nvGrpSpPr>
          <p:cNvPr id="5" name="组合 11"/>
          <p:cNvGrpSpPr>
            <a:grpSpLocks/>
          </p:cNvGrpSpPr>
          <p:nvPr/>
        </p:nvGrpSpPr>
        <p:grpSpPr bwMode="auto">
          <a:xfrm>
            <a:off x="2095500" y="4654550"/>
            <a:ext cx="8348663" cy="1295400"/>
            <a:chOff x="571500" y="4654877"/>
            <a:chExt cx="8348663" cy="1294403"/>
          </a:xfrm>
        </p:grpSpPr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72710" name="Object 3"/>
                <p:cNvGraphicFramePr>
                  <a:graphicFrameLocks noChangeAspect="1"/>
                </p:cNvGraphicFramePr>
                <p:nvPr/>
              </p:nvGraphicFramePr>
              <p:xfrm>
                <a:off x="1288629" y="4777333"/>
                <a:ext cx="1627187" cy="5238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2937" name="Equation" r:id="rId9" imgW="12944475" imgH="4171950" progId="Equation.DSMT4">
                        <p:embed/>
                      </p:oleObj>
                    </mc:Choice>
                    <mc:Fallback>
                      <p:oleObj name="Equation" r:id="rId9" imgW="12944475" imgH="4171950" progId="Equation.DSMT4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88629" y="4777333"/>
                              <a:ext cx="1627187" cy="5238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72710" name="Object 3"/>
                <p:cNvGraphicFramePr>
                  <a:graphicFrameLocks noChangeAspect="1"/>
                </p:cNvGraphicFramePr>
                <p:nvPr/>
              </p:nvGraphicFramePr>
              <p:xfrm>
                <a:off x="1288629" y="4777333"/>
                <a:ext cx="1627187" cy="5238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2937" name="Equation" r:id="rId9" imgW="12944475" imgH="4171950" progId="Equation.DSMT4">
                        <p:embed/>
                      </p:oleObj>
                    </mc:Choice>
                    <mc:Fallback>
                      <p:oleObj name="Equation" r:id="rId9" imgW="12944475" imgH="4171950" progId="Equation.DSMT4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88629" y="4777333"/>
                              <a:ext cx="1627187" cy="5238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711" name="Object 6"/>
                <p:cNvSpPr txBox="1"/>
                <p:nvPr/>
              </p:nvSpPr>
              <p:spPr bwMode="auto">
                <a:xfrm>
                  <a:off x="571500" y="5509881"/>
                  <a:ext cx="8348663" cy="439399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1.5938−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0.091935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(0.52−3.1)+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(0.52−3.1)(0.52−8)=1.8655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2711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1500" y="5509881"/>
                  <a:ext cx="8348663" cy="439399"/>
                </a:xfrm>
                <a:prstGeom prst="rect">
                  <a:avLst/>
                </a:prstGeom>
                <a:blipFill>
                  <a:blip r:embed="rId11"/>
                  <a:stretch>
                    <a:fillRect b="-15278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B451EF9-C457-4A76-9E66-3C2060CB6B5D}"/>
                </a:ext>
              </a:extLst>
            </p:cNvPr>
            <p:cNvSpPr/>
            <p:nvPr/>
          </p:nvSpPr>
          <p:spPr>
            <a:xfrm>
              <a:off x="835025" y="4654877"/>
              <a:ext cx="3665538" cy="64561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defRPr/>
              </a:pPr>
              <a:r>
                <a:rPr lang="zh-CN" altLang="en-US" kern="0" dirty="0">
                  <a:solidFill>
                    <a:srgbClr val="000000"/>
                  </a:solidFill>
                </a:rPr>
                <a:t>由  </a:t>
              </a:r>
              <a:r>
                <a:rPr lang="zh-CN" altLang="en-US" kern="0" dirty="0">
                  <a:solidFill>
                    <a:srgbClr val="C00000"/>
                  </a:solidFill>
                </a:rPr>
                <a:t>                   </a:t>
              </a:r>
              <a:r>
                <a:rPr lang="zh-CN" altLang="en-US" kern="0" dirty="0">
                  <a:solidFill>
                    <a:srgbClr val="000000"/>
                  </a:solidFill>
                </a:rPr>
                <a:t>  得</a:t>
              </a:r>
              <a:endParaRPr lang="en-US" altLang="zh-CN" kern="0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2"/>
          <p:cNvGraphicFramePr>
            <a:graphicFrameLocks noChangeAspect="1"/>
          </p:cNvGraphicFramePr>
          <p:nvPr/>
        </p:nvGraphicFramePr>
        <p:xfrm>
          <a:off x="2357438" y="473075"/>
          <a:ext cx="724535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3" name="Equation" r:id="rId3" imgW="57711975" imgH="7896225" progId="Equation.DSMT4">
                  <p:embed/>
                </p:oleObj>
              </mc:Choice>
              <mc:Fallback>
                <p:oleObj name="Equation" r:id="rId3" imgW="57711975" imgH="789622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473075"/>
                        <a:ext cx="724535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166938" y="1485900"/>
            <a:ext cx="75009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zh-CN" altLang="en-US" sz="2400"/>
              <a:t>说明曲线</a:t>
            </a:r>
            <a:r>
              <a:rPr lang="zh-CN" altLang="en-US" sz="2400" b="1">
                <a:solidFill>
                  <a:srgbClr val="008000"/>
                </a:solidFill>
              </a:rPr>
              <a:t>上凸</a:t>
            </a:r>
            <a:r>
              <a:rPr lang="zh-CN" altLang="en-US" sz="2400"/>
              <a:t>，与界面图形一致。</a:t>
            </a:r>
            <a:endParaRPr lang="en-US" altLang="zh-CN" sz="2400"/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2309813" y="2214563"/>
            <a:ext cx="7786687" cy="2320925"/>
            <a:chOff x="785813" y="2214563"/>
            <a:chExt cx="7786687" cy="2320925"/>
          </a:xfrm>
        </p:grpSpPr>
        <p:sp>
          <p:nvSpPr>
            <p:cNvPr id="73737" name="矩形 3"/>
            <p:cNvSpPr>
              <a:spLocks noChangeArrowheads="1"/>
            </p:cNvSpPr>
            <p:nvPr/>
          </p:nvSpPr>
          <p:spPr bwMode="auto">
            <a:xfrm>
              <a:off x="785813" y="2214563"/>
              <a:ext cx="7786687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       </a:t>
              </a:r>
              <a:r>
                <a:rPr lang="zh-CN" altLang="en-US" sz="2400"/>
                <a:t>对于</a:t>
              </a:r>
              <a:r>
                <a:rPr lang="en-US" altLang="zh-CN" sz="2400">
                  <a:solidFill>
                    <a:srgbClr val="CC0000"/>
                  </a:solidFill>
                </a:rPr>
                <a:t>[</a:t>
              </a:r>
              <a:r>
                <a:rPr lang="en-US" altLang="zh-CN" sz="2400" i="1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CC0000"/>
                  </a:solidFill>
                </a:rPr>
                <a:t>2</a:t>
              </a:r>
              <a:r>
                <a:rPr lang="en-US" altLang="zh-CN" sz="2400">
                  <a:solidFill>
                    <a:srgbClr val="CC0000"/>
                  </a:solidFill>
                </a:rPr>
                <a:t> , </a:t>
              </a:r>
              <a:r>
                <a:rPr lang="en-US" altLang="zh-CN" sz="2400" i="1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CC0000"/>
                  </a:solidFill>
                </a:rPr>
                <a:t>4</a:t>
              </a:r>
              <a:r>
                <a:rPr lang="en-US" altLang="zh-CN" sz="2400">
                  <a:solidFill>
                    <a:srgbClr val="CC0000"/>
                  </a:solidFill>
                </a:rPr>
                <a:t> ]= [0.52 , </a:t>
              </a:r>
              <a:r>
                <a:rPr lang="zh-CN" altLang="en-US" sz="2400">
                  <a:solidFill>
                    <a:srgbClr val="CC0000"/>
                  </a:solidFill>
                </a:rPr>
                <a:t>8.</a:t>
              </a:r>
              <a:r>
                <a:rPr lang="en-US" altLang="zh-CN" sz="2400">
                  <a:solidFill>
                    <a:srgbClr val="CC0000"/>
                  </a:solidFill>
                </a:rPr>
                <a:t>0</a:t>
              </a:r>
              <a:r>
                <a:rPr lang="zh-CN" altLang="en-US" sz="2400">
                  <a:solidFill>
                    <a:srgbClr val="CC0000"/>
                  </a:solidFill>
                </a:rPr>
                <a:t>0</a:t>
              </a:r>
              <a:r>
                <a:rPr lang="en-US" altLang="zh-CN" sz="2400">
                  <a:solidFill>
                    <a:srgbClr val="CC0000"/>
                  </a:solidFill>
                </a:rPr>
                <a:t> ]</a:t>
              </a:r>
              <a:r>
                <a:rPr lang="zh-CN" altLang="en-US" sz="2400"/>
                <a:t>，为保证精度，用</a:t>
              </a:r>
              <a:r>
                <a:rPr lang="en-US" altLang="zh-CN" sz="2400" i="1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CC0000"/>
                  </a:solidFill>
                </a:rPr>
                <a:t>2</a:t>
              </a:r>
              <a:r>
                <a:rPr lang="en-US" altLang="zh-CN" sz="2400">
                  <a:solidFill>
                    <a:srgbClr val="CC0000"/>
                  </a:solidFill>
                </a:rPr>
                <a:t> ~ </a:t>
              </a:r>
              <a:r>
                <a:rPr lang="en-US" altLang="zh-CN" sz="2400" i="1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CC0000"/>
                  </a:solidFill>
                </a:rPr>
                <a:t>5</a:t>
              </a:r>
              <a:r>
                <a:rPr lang="zh-CN" altLang="en-US" sz="2400"/>
                <a:t>作</a:t>
              </a:r>
              <a:r>
                <a:rPr lang="en-US" altLang="zh-CN" sz="2400"/>
                <a:t>Newton</a:t>
              </a:r>
              <a:r>
                <a:rPr lang="zh-CN" altLang="en-US" sz="2400"/>
                <a:t>插值</a:t>
              </a:r>
              <a:r>
                <a:rPr lang="en-US" altLang="zh-CN" sz="2400"/>
                <a:t> </a:t>
              </a:r>
              <a:endParaRPr lang="zh-CN" altLang="en-US" sz="2400"/>
            </a:p>
          </p:txBody>
        </p:sp>
        <p:graphicFrame>
          <p:nvGraphicFramePr>
            <p:cNvPr id="73738" name="Object 3"/>
            <p:cNvGraphicFramePr>
              <a:graphicFrameLocks noChangeAspect="1"/>
            </p:cNvGraphicFramePr>
            <p:nvPr/>
          </p:nvGraphicFramePr>
          <p:xfrm>
            <a:off x="1020763" y="3571875"/>
            <a:ext cx="7302500" cy="963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64" name="Equation" r:id="rId5" imgW="58150125" imgH="7677150" progId="Equation.DSMT4">
                    <p:embed/>
                  </p:oleObj>
                </mc:Choice>
                <mc:Fallback>
                  <p:oleObj name="Equation" r:id="rId5" imgW="58150125" imgH="767715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763" y="3571875"/>
                          <a:ext cx="7302500" cy="963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1809750" y="4714875"/>
          <a:ext cx="865346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5" name="Equation" r:id="rId7" imgW="68903850" imgH="9220200" progId="Equation.DSMT4">
                  <p:embed/>
                </p:oleObj>
              </mc:Choice>
              <mc:Fallback>
                <p:oleObj name="Equation" r:id="rId7" imgW="68903850" imgH="9220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4714875"/>
                        <a:ext cx="865346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10"/>
          <p:cNvGrpSpPr>
            <a:grpSpLocks/>
          </p:cNvGrpSpPr>
          <p:nvPr/>
        </p:nvGrpSpPr>
        <p:grpSpPr bwMode="auto">
          <a:xfrm>
            <a:off x="2095500" y="6072188"/>
            <a:ext cx="5510213" cy="500062"/>
            <a:chOff x="571500" y="6072188"/>
            <a:chExt cx="5510213" cy="500062"/>
          </a:xfrm>
        </p:grpSpPr>
        <p:graphicFrame>
          <p:nvGraphicFramePr>
            <p:cNvPr id="73735" name="Object 6"/>
            <p:cNvGraphicFramePr>
              <a:graphicFrameLocks noChangeAspect="1"/>
            </p:cNvGraphicFramePr>
            <p:nvPr/>
          </p:nvGraphicFramePr>
          <p:xfrm>
            <a:off x="571500" y="6072188"/>
            <a:ext cx="3802063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66" name="Equation" r:id="rId9" imgW="30279975" imgH="3952875" progId="Equation.DSMT4">
                    <p:embed/>
                  </p:oleObj>
                </mc:Choice>
                <mc:Fallback>
                  <p:oleObj name="Equation" r:id="rId9" imgW="30279975" imgH="395287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500" y="6072188"/>
                          <a:ext cx="3802063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36" name="矩形 8"/>
            <p:cNvSpPr>
              <a:spLocks noChangeArrowheads="1"/>
            </p:cNvSpPr>
            <p:nvPr/>
          </p:nvSpPr>
          <p:spPr bwMode="auto">
            <a:xfrm>
              <a:off x="4357688" y="6110288"/>
              <a:ext cx="172402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，曲线</a:t>
              </a:r>
              <a:r>
                <a:rPr lang="zh-CN" altLang="en-US" sz="2400" b="1">
                  <a:solidFill>
                    <a:srgbClr val="008000"/>
                  </a:solidFill>
                </a:rPr>
                <a:t>上凸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6"/>
          <p:cNvGrpSpPr>
            <a:grpSpLocks/>
          </p:cNvGrpSpPr>
          <p:nvPr/>
        </p:nvGrpSpPr>
        <p:grpSpPr bwMode="auto">
          <a:xfrm>
            <a:off x="2381250" y="357188"/>
            <a:ext cx="7500938" cy="2463800"/>
            <a:chOff x="857250" y="357188"/>
            <a:chExt cx="7500938" cy="2463800"/>
          </a:xfrm>
        </p:grpSpPr>
        <p:sp>
          <p:nvSpPr>
            <p:cNvPr id="74759" name="矩形 1"/>
            <p:cNvSpPr>
              <a:spLocks noChangeArrowheads="1"/>
            </p:cNvSpPr>
            <p:nvPr/>
          </p:nvSpPr>
          <p:spPr bwMode="auto">
            <a:xfrm>
              <a:off x="857250" y="357188"/>
              <a:ext cx="7500938" cy="1277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CC0000"/>
                  </a:solidFill>
                </a:rPr>
                <a:t>（</a:t>
              </a:r>
              <a:r>
                <a:rPr lang="en-US" altLang="zh-CN" sz="2400" b="1">
                  <a:solidFill>
                    <a:srgbClr val="CC0000"/>
                  </a:solidFill>
                </a:rPr>
                <a:t>C</a:t>
              </a:r>
              <a:r>
                <a:rPr lang="zh-CN" altLang="en-US" sz="2400" b="1">
                  <a:solidFill>
                    <a:srgbClr val="CC0000"/>
                  </a:solidFill>
                </a:rPr>
                <a:t>）</a:t>
              </a:r>
              <a:r>
                <a:rPr lang="zh-CN" altLang="en-US" sz="2400"/>
                <a:t>最后考虑</a:t>
              </a:r>
              <a:r>
                <a:rPr lang="en-US" altLang="zh-CN" sz="2400"/>
                <a:t> [507, 520]=</a:t>
              </a:r>
              <a:r>
                <a:rPr lang="en-US" altLang="zh-CN" sz="2400">
                  <a:solidFill>
                    <a:srgbClr val="CC0000"/>
                  </a:solidFill>
                </a:rPr>
                <a:t> [</a:t>
              </a:r>
              <a:r>
                <a:rPr lang="en-US" altLang="zh-CN" sz="2400" i="1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0B07B9"/>
                  </a:solidFill>
                </a:rPr>
                <a:t>17</a:t>
              </a:r>
              <a:r>
                <a:rPr lang="en-US" altLang="zh-CN" sz="2400">
                  <a:solidFill>
                    <a:srgbClr val="CC0000"/>
                  </a:solidFill>
                </a:rPr>
                <a:t> , </a:t>
              </a:r>
              <a:r>
                <a:rPr lang="en-US" altLang="zh-CN" sz="2400" i="1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CC0000"/>
                  </a:solidFill>
                </a:rPr>
                <a:t>18</a:t>
              </a:r>
              <a:r>
                <a:rPr lang="en-US" altLang="zh-CN" sz="2400">
                  <a:solidFill>
                    <a:srgbClr val="CC0000"/>
                  </a:solidFill>
                </a:rPr>
                <a:t> ]</a:t>
              </a:r>
              <a:r>
                <a:rPr lang="zh-CN" altLang="en-US" sz="2400"/>
                <a:t>部分</a:t>
              </a:r>
              <a:endParaRPr lang="en-US" altLang="zh-CN" sz="2400"/>
            </a:p>
            <a:p>
              <a:pPr eaLnBrk="1" hangingPunct="1">
                <a:lnSpc>
                  <a:spcPct val="150000"/>
                </a:lnSpc>
                <a:spcBef>
                  <a:spcPts val="600"/>
                </a:spcBef>
                <a:buFontTx/>
                <a:buNone/>
              </a:pPr>
              <a:r>
                <a:rPr lang="zh-CN" altLang="en-US" sz="2400"/>
                <a:t>为保证精度，用</a:t>
              </a:r>
              <a:r>
                <a:rPr lang="en-US" altLang="zh-CN" sz="2400" i="1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0B07B9"/>
                  </a:solidFill>
                </a:rPr>
                <a:t>15</a:t>
              </a:r>
              <a:r>
                <a:rPr lang="en-US" altLang="zh-CN" sz="2400">
                  <a:solidFill>
                    <a:srgbClr val="CC0000"/>
                  </a:solidFill>
                </a:rPr>
                <a:t> ~ </a:t>
              </a:r>
              <a:r>
                <a:rPr lang="en-US" altLang="zh-CN" sz="2400" i="1">
                  <a:solidFill>
                    <a:srgbClr val="CC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CC0000"/>
                  </a:solidFill>
                </a:rPr>
                <a:t>18</a:t>
              </a:r>
              <a:r>
                <a:rPr lang="zh-CN" altLang="en-US" sz="2400"/>
                <a:t>作三次</a:t>
              </a:r>
              <a:r>
                <a:rPr lang="en-US" altLang="zh-CN" sz="2400"/>
                <a:t>Newton</a:t>
              </a:r>
              <a:r>
                <a:rPr lang="zh-CN" altLang="en-US" sz="2400"/>
                <a:t>插值，得</a:t>
              </a:r>
              <a:endParaRPr lang="en-US" altLang="zh-CN" sz="2400"/>
            </a:p>
          </p:txBody>
        </p:sp>
        <p:graphicFrame>
          <p:nvGraphicFramePr>
            <p:cNvPr id="74760" name="Object 2"/>
            <p:cNvGraphicFramePr>
              <a:graphicFrameLocks noChangeAspect="1"/>
            </p:cNvGraphicFramePr>
            <p:nvPr/>
          </p:nvGraphicFramePr>
          <p:xfrm>
            <a:off x="928688" y="1857375"/>
            <a:ext cx="7275512" cy="963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85" name="Equation" r:id="rId3" imgW="57931050" imgH="7677150" progId="Equation.DSMT4">
                    <p:embed/>
                  </p:oleObj>
                </mc:Choice>
                <mc:Fallback>
                  <p:oleObj name="Equation" r:id="rId3" imgW="57931050" imgH="767715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88" y="1857375"/>
                          <a:ext cx="7275512" cy="963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1738313" y="3000375"/>
          <a:ext cx="8764587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86" name="Equation" r:id="rId5" imgW="69780150" imgH="9220200" progId="Equation.DSMT4">
                  <p:embed/>
                </p:oleObj>
              </mc:Choice>
              <mc:Fallback>
                <p:oleObj name="Equation" r:id="rId5" imgW="69780150" imgH="9220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3000375"/>
                        <a:ext cx="8764587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1992313" y="4437063"/>
          <a:ext cx="5980112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87" name="Equation" r:id="rId7" imgW="47615475" imgH="8772525" progId="Equation.DSMT4">
                  <p:embed/>
                </p:oleObj>
              </mc:Choice>
              <mc:Fallback>
                <p:oleObj name="Equation" r:id="rId7" imgW="47615475" imgH="877252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437063"/>
                        <a:ext cx="5980112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167063" y="6143625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曲线</a:t>
            </a:r>
            <a:r>
              <a:rPr lang="zh-CN" altLang="en-US" sz="2400" b="1">
                <a:solidFill>
                  <a:srgbClr val="008000"/>
                </a:solidFill>
              </a:rPr>
              <a:t>上凸</a:t>
            </a:r>
            <a:r>
              <a:rPr lang="zh-CN" altLang="en-US" sz="2400"/>
              <a:t>。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640013" y="5668963"/>
          <a:ext cx="77438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88" name="Equation" r:id="rId9" imgW="61655325" imgH="3952875" progId="Equation.DSMT4">
                  <p:embed/>
                </p:oleObj>
              </mc:Choice>
              <mc:Fallback>
                <p:oleObj name="Equation" r:id="rId9" imgW="61655325" imgH="395287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668963"/>
                        <a:ext cx="77438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4755488</TotalTime>
  <Words>7610</Words>
  <Application>Microsoft Office PowerPoint</Application>
  <PresentationFormat>宽屏</PresentationFormat>
  <Paragraphs>1149</Paragraphs>
  <Slides>99</Slides>
  <Notes>14</Notes>
  <HiddenSlides>0</HiddenSlides>
  <MMClips>1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99</vt:i4>
      </vt:variant>
    </vt:vector>
  </HeadingPairs>
  <TitlesOfParts>
    <vt:vector size="115" baseType="lpstr">
      <vt:lpstr>-apple-system</vt:lpstr>
      <vt:lpstr>Arial Unicode MS</vt:lpstr>
      <vt:lpstr>quote-cjk-patch</vt:lpstr>
      <vt:lpstr>黑体</vt:lpstr>
      <vt:lpstr>楷体_GB2312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Equation</vt:lpstr>
      <vt:lpstr>Equation.3</vt:lpstr>
      <vt:lpstr>Microsoft Visio 2003-2010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shyl</dc:creator>
  <cp:lastModifiedBy>Alice</cp:lastModifiedBy>
  <cp:revision>1200</cp:revision>
  <dcterms:created xsi:type="dcterms:W3CDTF">2003-11-24T10:46:46Z</dcterms:created>
  <dcterms:modified xsi:type="dcterms:W3CDTF">2025-10-08T06:15:59Z</dcterms:modified>
</cp:coreProperties>
</file>