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handoutMasterIdLst>
    <p:handoutMasterId r:id="rId36"/>
  </p:handoutMasterIdLst>
  <p:sldIdLst>
    <p:sldId id="320" r:id="rId2"/>
    <p:sldId id="325" r:id="rId3"/>
    <p:sldId id="317" r:id="rId4"/>
    <p:sldId id="321" r:id="rId5"/>
    <p:sldId id="268" r:id="rId6"/>
    <p:sldId id="293" r:id="rId7"/>
    <p:sldId id="322" r:id="rId8"/>
    <p:sldId id="289" r:id="rId9"/>
    <p:sldId id="290" r:id="rId10"/>
    <p:sldId id="291" r:id="rId11"/>
    <p:sldId id="266" r:id="rId12"/>
    <p:sldId id="292" r:id="rId13"/>
    <p:sldId id="278" r:id="rId14"/>
    <p:sldId id="282" r:id="rId15"/>
    <p:sldId id="280" r:id="rId16"/>
    <p:sldId id="299" r:id="rId17"/>
    <p:sldId id="283" r:id="rId18"/>
    <p:sldId id="326" r:id="rId19"/>
    <p:sldId id="284" r:id="rId20"/>
    <p:sldId id="285" r:id="rId21"/>
    <p:sldId id="286" r:id="rId22"/>
    <p:sldId id="327" r:id="rId23"/>
    <p:sldId id="328" r:id="rId24"/>
    <p:sldId id="287" r:id="rId25"/>
    <p:sldId id="288" r:id="rId26"/>
    <p:sldId id="323" r:id="rId27"/>
    <p:sldId id="273" r:id="rId28"/>
    <p:sldId id="296" r:id="rId29"/>
    <p:sldId id="274" r:id="rId30"/>
    <p:sldId id="307" r:id="rId31"/>
    <p:sldId id="275" r:id="rId32"/>
    <p:sldId id="318" r:id="rId33"/>
    <p:sldId id="319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" initials="A" lastIdx="1" clrIdx="0">
    <p:extLst>
      <p:ext uri="{19B8F6BF-5375-455C-9EA6-DF929625EA0E}">
        <p15:presenceInfo xmlns:p15="http://schemas.microsoft.com/office/powerpoint/2012/main" userId="Alic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5" autoAdjust="0"/>
    <p:restoredTop sz="94212" autoAdjust="0"/>
  </p:normalViewPr>
  <p:slideViewPr>
    <p:cSldViewPr snapToGrid="0">
      <p:cViewPr varScale="1">
        <p:scale>
          <a:sx n="80" d="100"/>
          <a:sy n="80" d="100"/>
        </p:scale>
        <p:origin x="2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18" Type="http://schemas.openxmlformats.org/officeDocument/2006/relationships/image" Target="../media/image4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47.wmf"/><Relationship Id="rId2" Type="http://schemas.openxmlformats.org/officeDocument/2006/relationships/image" Target="../media/image32.wmf"/><Relationship Id="rId16" Type="http://schemas.openxmlformats.org/officeDocument/2006/relationships/image" Target="../media/image46.wmf"/><Relationship Id="rId20" Type="http://schemas.openxmlformats.org/officeDocument/2006/relationships/image" Target="../media/image50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5" Type="http://schemas.openxmlformats.org/officeDocument/2006/relationships/image" Target="../media/image45.wmf"/><Relationship Id="rId10" Type="http://schemas.openxmlformats.org/officeDocument/2006/relationships/image" Target="../media/image40.wmf"/><Relationship Id="rId19" Type="http://schemas.openxmlformats.org/officeDocument/2006/relationships/image" Target="../media/image49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Relationship Id="rId14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e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12" Type="http://schemas.openxmlformats.org/officeDocument/2006/relationships/image" Target="../media/image116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10" Type="http://schemas.openxmlformats.org/officeDocument/2006/relationships/image" Target="../media/image126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e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42114-4B4A-4A8D-AE8F-0B25A463761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DCD70-D381-44E4-B785-24D3C289F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86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33410-4E79-424B-988B-3AC5026A7930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8D8E2-F5E6-43E5-8934-69E95CAABD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48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开始融合未来信息指导最初方向，后面融合历史信息，指导前进方向。加上参数，可以使遥远的历史信息指导作用变弱。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8D8E2-F5E6-43E5-8934-69E95CAABD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07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31993"/>
            <a:ext cx="12192000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C19958-B120-46D9-A7C3-DBE891BAF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/>
        </p:blipFill>
        <p:spPr>
          <a:xfrm rot="16200000">
            <a:off x="8343899" y="-2946399"/>
            <a:ext cx="901702" cy="6794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D6C288-A50E-4296-9C84-523FCDCA0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/>
        </p:blipFill>
        <p:spPr>
          <a:xfrm rot="16200000">
            <a:off x="4394200" y="1562100"/>
            <a:ext cx="901700" cy="96901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10684386" y="63844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最优化技术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10748865" y="6721475"/>
            <a:ext cx="1443135" cy="0"/>
          </a:xfrm>
          <a:prstGeom prst="lin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2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  <a:ln w="12700">
            <a:solidFill>
              <a:schemeClr val="accent4"/>
            </a:solidFill>
          </a:ln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" y="0"/>
            <a:ext cx="1866122" cy="5225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22514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C19958-B120-46D9-A7C3-DBE891BAF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/>
        </p:blipFill>
        <p:spPr>
          <a:xfrm rot="16200000">
            <a:off x="8343899" y="-2946399"/>
            <a:ext cx="901702" cy="67945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D6C288-A50E-4296-9C84-523FCDCA0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/>
        </p:blipFill>
        <p:spPr>
          <a:xfrm rot="16200000">
            <a:off x="4394200" y="1562100"/>
            <a:ext cx="901700" cy="9690100"/>
          </a:xfrm>
          <a:prstGeom prst="rect">
            <a:avLst/>
          </a:prstGeom>
        </p:spPr>
      </p:pic>
      <p:cxnSp>
        <p:nvCxnSpPr>
          <p:cNvPr id="14" name="直接连接符 13"/>
          <p:cNvCxnSpPr/>
          <p:nvPr userDrawn="1"/>
        </p:nvCxnSpPr>
        <p:spPr>
          <a:xfrm>
            <a:off x="10748865" y="6721475"/>
            <a:ext cx="1443135" cy="0"/>
          </a:xfrm>
          <a:prstGeom prst="lin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03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172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061911"/>
            <a:ext cx="12192000" cy="2612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79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54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6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7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3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6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2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75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90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ADF8D-CB77-459F-9308-A84FC0D21C25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7821B-5F3F-4B3C-81E0-24BE15B96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05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4.wmf"/><Relationship Id="rId26" Type="http://schemas.openxmlformats.org/officeDocument/2006/relationships/image" Target="../media/image28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2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27.w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9.w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30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9" Type="http://schemas.openxmlformats.org/officeDocument/2006/relationships/oleObject" Target="../embeddings/oleObject46.bin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46.wmf"/><Relationship Id="rId42" Type="http://schemas.openxmlformats.org/officeDocument/2006/relationships/image" Target="../media/image50.wmf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29" Type="http://schemas.openxmlformats.org/officeDocument/2006/relationships/oleObject" Target="../embeddings/oleObject41.bin"/><Relationship Id="rId41" Type="http://schemas.openxmlformats.org/officeDocument/2006/relationships/oleObject" Target="../embeddings/oleObject4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41.wmf"/><Relationship Id="rId32" Type="http://schemas.openxmlformats.org/officeDocument/2006/relationships/image" Target="../media/image45.w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9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3.wmf"/><Relationship Id="rId36" Type="http://schemas.openxmlformats.org/officeDocument/2006/relationships/image" Target="../media/image47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4.wmf"/><Relationship Id="rId35" Type="http://schemas.openxmlformats.org/officeDocument/2006/relationships/oleObject" Target="../embeddings/oleObject44.bin"/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image" Target="../media/image64.png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70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75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23" Type="http://schemas.openxmlformats.org/officeDocument/2006/relationships/image" Target="../media/image76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2.emf"/><Relationship Id="rId22" Type="http://schemas.openxmlformats.org/officeDocument/2006/relationships/image" Target="../media/image8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3.wmf"/><Relationship Id="rId17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image" Target="../media/image93.png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jugate_gradient_method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2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12.wmf"/><Relationship Id="rId26" Type="http://schemas.openxmlformats.org/officeDocument/2006/relationships/image" Target="../media/image116.wmf"/><Relationship Id="rId3" Type="http://schemas.openxmlformats.org/officeDocument/2006/relationships/oleObject" Target="../embeddings/oleObject99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15.w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2.wmf"/><Relationship Id="rId22" Type="http://schemas.openxmlformats.org/officeDocument/2006/relationships/image" Target="../media/image12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34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3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oleObject" Target="../embeddings/oleObject133.bin"/><Relationship Id="rId3" Type="http://schemas.openxmlformats.org/officeDocument/2006/relationships/image" Target="../media/image142.png"/><Relationship Id="rId7" Type="http://schemas.openxmlformats.org/officeDocument/2006/relationships/image" Target="../media/image136.wmf"/><Relationship Id="rId12" Type="http://schemas.openxmlformats.org/officeDocument/2006/relationships/image" Target="../media/image14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oleObject" Target="../embeddings/oleObject134.bin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37.wmf"/><Relationship Id="rId14" Type="http://schemas.openxmlformats.org/officeDocument/2006/relationships/image" Target="../media/image13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3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5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9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0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5" Type="http://schemas.openxmlformats.org/officeDocument/2006/relationships/image" Target="../media/image169.wmf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6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image" Target="../media/image179.png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2.wmf"/><Relationship Id="rId11" Type="http://schemas.openxmlformats.org/officeDocument/2006/relationships/image" Target="../media/image174.wmf"/><Relationship Id="rId5" Type="http://schemas.openxmlformats.org/officeDocument/2006/relationships/oleObject" Target="../embeddings/oleObject163.bin"/><Relationship Id="rId15" Type="http://schemas.openxmlformats.org/officeDocument/2006/relationships/image" Target="../media/image175.wmf"/><Relationship Id="rId10" Type="http://schemas.openxmlformats.org/officeDocument/2006/relationships/oleObject" Target="../embeddings/oleObject165.bin"/><Relationship Id="rId4" Type="http://schemas.openxmlformats.org/officeDocument/2006/relationships/image" Target="../media/image171.wmf"/><Relationship Id="rId9" Type="http://schemas.openxmlformats.org/officeDocument/2006/relationships/image" Target="../media/image156.png"/><Relationship Id="rId14" Type="http://schemas.openxmlformats.org/officeDocument/2006/relationships/oleObject" Target="../embeddings/oleObject16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7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8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8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梯度下降法：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优点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迭代过程简单，编制程序较易，一次迭代的工作量较少，计算机内存量小。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函数值下降方向明确，对初始点没有严格要求。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缺点</a:t>
            </a:r>
            <a:r>
              <a:rPr lang="en-US" altLang="zh-CN" dirty="0">
                <a:latin typeface="宋体" panose="02010600030101010101" pitchFamily="2" charset="-122"/>
              </a:rPr>
              <a:t>:</a:t>
            </a:r>
            <a:r>
              <a:rPr lang="zh-CN" altLang="en-US" dirty="0">
                <a:latin typeface="宋体" panose="02010600030101010101" pitchFamily="2" charset="-122"/>
              </a:rPr>
              <a:t>跌代过程中走许多弯路，有些情况下，收敛速度较慢。</a:t>
            </a:r>
            <a:endParaRPr lang="ja-JP" altLang="en-US" dirty="0">
              <a:latin typeface="宋体" panose="02010600030101010101" pitchFamily="2" charset="-122"/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</a:t>
            </a:r>
            <a:endParaRPr lang="en-US" altLang="zh-CN" dirty="0"/>
          </a:p>
        </p:txBody>
      </p:sp>
      <p:pic>
        <p:nvPicPr>
          <p:cNvPr id="32770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10499" r="8174" b="8626"/>
          <a:stretch/>
        </p:blipFill>
        <p:spPr bwMode="auto">
          <a:xfrm>
            <a:off x="2102584" y="3635805"/>
            <a:ext cx="4257231" cy="2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上一节</a:t>
            </a:r>
          </a:p>
        </p:txBody>
      </p:sp>
      <p:sp>
        <p:nvSpPr>
          <p:cNvPr id="9" name="矩形 8"/>
          <p:cNvSpPr/>
          <p:nvPr/>
        </p:nvSpPr>
        <p:spPr>
          <a:xfrm>
            <a:off x="5862734" y="5493122"/>
            <a:ext cx="46528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D4D4D"/>
                </a:solidFill>
                <a:latin typeface="-apple-system"/>
              </a:rPr>
              <a:t>图</a:t>
            </a:r>
            <a:r>
              <a:rPr lang="en-US" altLang="zh-CN" sz="1600" dirty="0">
                <a:solidFill>
                  <a:srgbClr val="4D4D4D"/>
                </a:solidFill>
                <a:latin typeface="-apple-system"/>
              </a:rPr>
              <a:t>1 </a:t>
            </a:r>
            <a:r>
              <a:rPr lang="zh-CN" altLang="en-US" sz="1600" dirty="0">
                <a:solidFill>
                  <a:srgbClr val="4D4D4D"/>
                </a:solidFill>
                <a:latin typeface="-apple-system"/>
              </a:rPr>
              <a:t>梯度下降法在</a:t>
            </a:r>
            <a:r>
              <a:rPr lang="en-US" altLang="zh-CN" sz="1600" dirty="0">
                <a:solidFill>
                  <a:srgbClr val="4D4D4D"/>
                </a:solidFill>
                <a:latin typeface="-apple-system"/>
              </a:rPr>
              <a:t>2</a:t>
            </a:r>
            <a:r>
              <a:rPr lang="zh-CN" altLang="en-US" sz="1600" dirty="0">
                <a:solidFill>
                  <a:srgbClr val="4D4D4D"/>
                </a:solidFill>
                <a:latin typeface="-apple-system"/>
              </a:rPr>
              <a:t>维解空间（也就是解向量只有两个维度）走出的路径示意图</a:t>
            </a:r>
            <a:endParaRPr lang="zh-CN" altLang="en-US" sz="1600" dirty="0"/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517173"/>
              </p:ext>
            </p:extLst>
          </p:nvPr>
        </p:nvGraphicFramePr>
        <p:xfrm>
          <a:off x="3764791" y="718457"/>
          <a:ext cx="276225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5" r:id="rId4" imgW="1195673" imgH="508979" progId="Equation.3">
                  <p:embed/>
                </p:oleObj>
              </mc:Choice>
              <mc:Fallback>
                <p:oleObj r:id="rId4" imgW="1195673" imgH="508979" progId="Equation.3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791" y="718457"/>
                        <a:ext cx="276225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667957" y="4437986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7030A0"/>
                </a:solidFill>
                <a:ea typeface="楷体_GB2312" pitchFamily="49" charset="-122"/>
              </a:rPr>
              <a:t>搜索方向没有直接指向最优点</a:t>
            </a:r>
          </a:p>
        </p:txBody>
      </p:sp>
    </p:spTree>
    <p:extLst>
      <p:ext uri="{BB962C8B-B14F-4D97-AF65-F5344CB8AC3E}">
        <p14:creationId xmlns:p14="http://schemas.microsoft.com/office/powerpoint/2010/main" val="418187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梯度下降法：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上一节</a:t>
            </a:r>
          </a:p>
        </p:txBody>
      </p:sp>
      <p:sp>
        <p:nvSpPr>
          <p:cNvPr id="6" name="矩形 5"/>
          <p:cNvSpPr/>
          <p:nvPr/>
        </p:nvSpPr>
        <p:spPr>
          <a:xfrm>
            <a:off x="949211" y="1199607"/>
            <a:ext cx="9976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梯度下降法x移动的方向正是函数f的负梯度方向，这代表了局部上f减小最快的方向。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        局部上减小最快的方向并不代表全局上指向最终解的方向。（</a:t>
            </a:r>
            <a:r>
              <a:rPr lang="zh-CN" altLang="en-US" sz="2400" dirty="0">
                <a:solidFill>
                  <a:srgbClr val="FF0000"/>
                </a:solidFill>
              </a:rPr>
              <a:t>局部最优非全局最优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32770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6988" r="5362" b="8626"/>
          <a:stretch/>
        </p:blipFill>
        <p:spPr bwMode="auto">
          <a:xfrm>
            <a:off x="1541126" y="3623263"/>
            <a:ext cx="4191279" cy="225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V="1">
            <a:off x="3054531" y="4752357"/>
            <a:ext cx="448404" cy="2104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920392" y="4955054"/>
            <a:ext cx="1134139" cy="3129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5937679" y="4334616"/>
            <a:ext cx="49606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zh-CN" sz="2400" dirty="0"/>
              <a:t>改进搜索方向，希望搜索方向</a:t>
            </a:r>
            <a:r>
              <a:rPr lang="zh-CN" altLang="zh-CN" sz="2400" dirty="0">
                <a:solidFill>
                  <a:srgbClr val="FF0000"/>
                </a:solidFill>
              </a:rPr>
              <a:t>直接指向最优点</a:t>
            </a:r>
            <a:r>
              <a:rPr lang="zh-CN" altLang="zh-CN" sz="2400" dirty="0"/>
              <a:t>。</a:t>
            </a:r>
          </a:p>
          <a:p>
            <a:r>
              <a:rPr lang="zh-CN" altLang="zh-CN" sz="2400" dirty="0"/>
              <a:t>可以避免跌代过程中走许多弯路，加快收敛速度</a:t>
            </a:r>
            <a:r>
              <a:rPr lang="zh-CN" altLang="zh-CN" sz="2400" dirty="0"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4221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2.8</a:t>
            </a:r>
            <a:r>
              <a:rPr lang="zh-CN" altLang="en-US" dirty="0"/>
              <a:t>共轭梯度法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Conjugate Gradient</a:t>
            </a:r>
            <a:r>
              <a:rPr lang="zh-CN" altLang="en-US" dirty="0"/>
              <a:t>）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124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共轭梯度法是以共轭方向作为搜索方向的一类算法。      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共轭梯度法是介于最速梯度下降法与牛顿法之间的一个方法，它仅需利用一阶导数信息，但克服了最速梯度下降法收敛慢的缺点，又避免了牛顿法需要存储和计算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Hesse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矩阵并求逆的缺点，</a:t>
            </a:r>
            <a:r>
              <a:rPr lang="zh-CN" altLang="en-US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共轭梯度法不仅是解决大型线性方程组最有用的方法之一，也是解大型非线性最优化最有效的算法之一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73621" y="1026433"/>
            <a:ext cx="8640762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238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990000"/>
                </a:solidFill>
                <a:latin typeface="Times New Roman" panose="02020603050405020304" pitchFamily="18" charset="0"/>
              </a:rPr>
              <a:t>共轭方向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  <a:r>
              <a:rPr lang="en-US" altLang="zh-CN" dirty="0"/>
              <a:t>-</a:t>
            </a:r>
            <a:r>
              <a:rPr lang="zh-CN" altLang="en-US" dirty="0"/>
              <a:t>基础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551696"/>
              </p:ext>
            </p:extLst>
          </p:nvPr>
        </p:nvGraphicFramePr>
        <p:xfrm>
          <a:off x="1026188" y="1384032"/>
          <a:ext cx="681300" cy="34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" name="公式" r:id="rId3" imgW="482400" imgH="241200" progId="Equation.3">
                  <p:embed/>
                </p:oleObj>
              </mc:Choice>
              <mc:Fallback>
                <p:oleObj name="公式" r:id="rId3" imgW="482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188" y="1384032"/>
                        <a:ext cx="681300" cy="34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990117"/>
              </p:ext>
            </p:extLst>
          </p:nvPr>
        </p:nvGraphicFramePr>
        <p:xfrm>
          <a:off x="1754087" y="1795669"/>
          <a:ext cx="5867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" name="公式" r:id="rId5" imgW="2882880" imgH="266400" progId="Equation.3">
                  <p:embed/>
                </p:oleObj>
              </mc:Choice>
              <mc:Fallback>
                <p:oleObj name="公式" r:id="rId5" imgW="28828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087" y="1795669"/>
                        <a:ext cx="58674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707488" y="2419874"/>
            <a:ext cx="9236075" cy="1655589"/>
            <a:chOff x="1707488" y="2419874"/>
            <a:chExt cx="9236075" cy="1655589"/>
          </a:xfrm>
        </p:grpSpPr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7797839"/>
                </p:ext>
              </p:extLst>
            </p:nvPr>
          </p:nvGraphicFramePr>
          <p:xfrm>
            <a:off x="1707488" y="2419874"/>
            <a:ext cx="9236075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" name="公式" r:id="rId7" imgW="4520880" imgH="228600" progId="Equation.3">
                    <p:embed/>
                  </p:oleObj>
                </mc:Choice>
                <mc:Fallback>
                  <p:oleObj name="公式" r:id="rId7" imgW="4520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7488" y="2419874"/>
                          <a:ext cx="9236075" cy="466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9544124"/>
                </p:ext>
              </p:extLst>
            </p:nvPr>
          </p:nvGraphicFramePr>
          <p:xfrm>
            <a:off x="1707488" y="2966291"/>
            <a:ext cx="7332663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9" name="公式" r:id="rId9" imgW="4000320" imgH="266400" progId="Equation.3">
                    <p:embed/>
                  </p:oleObj>
                </mc:Choice>
                <mc:Fallback>
                  <p:oleObj name="公式" r:id="rId9" imgW="40003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7488" y="2966291"/>
                          <a:ext cx="7332663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478304"/>
                </p:ext>
              </p:extLst>
            </p:nvPr>
          </p:nvGraphicFramePr>
          <p:xfrm>
            <a:off x="1790292" y="3663394"/>
            <a:ext cx="8017318" cy="412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0" name="公式" r:id="rId11" imgW="4940280" imgH="253800" progId="Equation.3">
                    <p:embed/>
                  </p:oleObj>
                </mc:Choice>
                <mc:Fallback>
                  <p:oleObj name="公式" r:id="rId11" imgW="49402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292" y="3663394"/>
                          <a:ext cx="8017318" cy="4120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027778"/>
              </p:ext>
            </p:extLst>
          </p:nvPr>
        </p:nvGraphicFramePr>
        <p:xfrm>
          <a:off x="1728355" y="1281770"/>
          <a:ext cx="93472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1" name="公式" r:id="rId13" imgW="4813200" imgH="228600" progId="Equation.3">
                  <p:embed/>
                </p:oleObj>
              </mc:Choice>
              <mc:Fallback>
                <p:oleObj name="公式" r:id="rId13" imgW="4813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355" y="1281770"/>
                        <a:ext cx="93472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366838" y="4154989"/>
            <a:ext cx="910669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也就是说，共轭方向</a:t>
            </a:r>
            <a:r>
              <a:rPr lang="zh-CN" altLang="en-US" sz="2400" b="1" dirty="0">
                <a:solidFill>
                  <a:srgbClr val="140A14"/>
                </a:solidFill>
                <a:latin typeface="Times New Roman" panose="02020603050405020304" pitchFamily="18" charset="0"/>
                <a:ea typeface="楷体_GB2312" pitchFamily="49" charset="-122"/>
              </a:rPr>
              <a:t>是指若干个方向矢量组成的方向组，各方向具有某种共同的性质，他们之间存在着特定的关系。</a:t>
            </a:r>
          </a:p>
        </p:txBody>
      </p:sp>
      <p:graphicFrame>
        <p:nvGraphicFramePr>
          <p:cNvPr id="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108711"/>
              </p:ext>
            </p:extLst>
          </p:nvPr>
        </p:nvGraphicFramePr>
        <p:xfrm>
          <a:off x="4790767" y="5193816"/>
          <a:ext cx="4092007" cy="516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" name="公式" r:id="rId15" imgW="2006280" imgH="253800" progId="Equation.3">
                  <p:embed/>
                </p:oleObj>
              </mc:Choice>
              <mc:Fallback>
                <p:oleObj name="公式" r:id="rId15" imgW="20062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0767" y="5193816"/>
                        <a:ext cx="4092007" cy="516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223783"/>
              </p:ext>
            </p:extLst>
          </p:nvPr>
        </p:nvGraphicFramePr>
        <p:xfrm>
          <a:off x="9095597" y="5288627"/>
          <a:ext cx="13033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" name="公式" r:id="rId17" imgW="812520" imgH="228600" progId="Equation.3">
                  <p:embed/>
                </p:oleObj>
              </mc:Choice>
              <mc:Fallback>
                <p:oleObj name="公式" r:id="rId17" imgW="812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5597" y="5288627"/>
                        <a:ext cx="13033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8343157" y="4831427"/>
            <a:ext cx="292890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共轭是正交的推广。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269992" y="5303684"/>
            <a:ext cx="3506804" cy="354919"/>
            <a:chOff x="1385455" y="5169609"/>
            <a:chExt cx="3506804" cy="354919"/>
          </a:xfrm>
        </p:grpSpPr>
        <p:graphicFrame>
          <p:nvGraphicFramePr>
            <p:cNvPr id="2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508025"/>
                </p:ext>
              </p:extLst>
            </p:nvPr>
          </p:nvGraphicFramePr>
          <p:xfrm>
            <a:off x="1385455" y="5196939"/>
            <a:ext cx="430213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4" r:id="rId19" imgW="393846" imgH="292290" progId="">
                    <p:embed/>
                  </p:oleObj>
                </mc:Choice>
                <mc:Fallback>
                  <p:oleObj r:id="rId19" imgW="393846" imgH="29229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5455" y="5196939"/>
                          <a:ext cx="430213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9416319"/>
                </p:ext>
              </p:extLst>
            </p:nvPr>
          </p:nvGraphicFramePr>
          <p:xfrm>
            <a:off x="1924483" y="5169609"/>
            <a:ext cx="2967776" cy="3549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5" name="公式" r:id="rId21" imgW="1841400" imgH="241200" progId="Equation.3">
                    <p:embed/>
                  </p:oleObj>
                </mc:Choice>
                <mc:Fallback>
                  <p:oleObj name="公式" r:id="rId21" imgW="1841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4483" y="5169609"/>
                          <a:ext cx="2967776" cy="3549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1754087" y="5726429"/>
            <a:ext cx="6801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维空间中互相共轭的非零向量的个数不超过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个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741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 animBg="1" autoUpdateAnimBg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共轭方向可看作是正交的变形</a:t>
            </a:r>
            <a:r>
              <a:rPr lang="en-US" altLang="zh-CN" dirty="0"/>
              <a:t>(</a:t>
            </a:r>
            <a:r>
              <a:rPr lang="zh-CN" altLang="en-US" dirty="0"/>
              <a:t>矩阵</a:t>
            </a:r>
            <a:r>
              <a:rPr lang="en-US" altLang="zh-CN" dirty="0"/>
              <a:t>A</a:t>
            </a:r>
            <a:r>
              <a:rPr lang="zh-CN" altLang="en-US" dirty="0"/>
              <a:t>是对称正定矩阵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891525" y="1580537"/>
            <a:ext cx="3026979" cy="2942896"/>
            <a:chOff x="3815255" y="1734207"/>
            <a:chExt cx="3026979" cy="2942896"/>
          </a:xfrm>
        </p:grpSpPr>
        <p:cxnSp>
          <p:nvCxnSpPr>
            <p:cNvPr id="5" name="直接箭头连接符 4"/>
            <p:cNvCxnSpPr/>
            <p:nvPr/>
          </p:nvCxnSpPr>
          <p:spPr>
            <a:xfrm flipV="1">
              <a:off x="3815255" y="3657600"/>
              <a:ext cx="3026979" cy="10510"/>
            </a:xfrm>
            <a:prstGeom prst="straightConnector1">
              <a:avLst/>
            </a:prstGeom>
            <a:ln w="34925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H="1" flipV="1">
              <a:off x="5213131" y="1734207"/>
              <a:ext cx="10510" cy="2942896"/>
            </a:xfrm>
            <a:prstGeom prst="straightConnector1">
              <a:avLst/>
            </a:prstGeom>
            <a:ln w="34925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接箭头连接符 9"/>
          <p:cNvCxnSpPr/>
          <p:nvPr/>
        </p:nvCxnSpPr>
        <p:spPr>
          <a:xfrm>
            <a:off x="4289401" y="3514440"/>
            <a:ext cx="576375" cy="64129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4289401" y="2381315"/>
            <a:ext cx="535322" cy="1099996"/>
          </a:xfrm>
          <a:prstGeom prst="straightConnector1">
            <a:avLst/>
          </a:prstGeom>
          <a:ln w="539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700242" y="409560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865776" y="21460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7017181" y="1372391"/>
                <a:ext cx="124585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b</a:t>
                </a:r>
                <a:r>
                  <a:rPr lang="en-US" altLang="zh-CN" sz="2800" baseline="30000" dirty="0" err="1"/>
                  <a:t>T</a:t>
                </a:r>
                <a:r>
                  <a:rPr lang="en-US" altLang="zh-CN" sz="2800" dirty="0" err="1"/>
                  <a:t>Aa</a:t>
                </a:r>
                <a:r>
                  <a:rPr lang="en-US" altLang="zh-CN" sz="2800" dirty="0"/>
                  <a:t>=0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b</a:t>
                </a:r>
                <a:r>
                  <a:rPr lang="en-US" altLang="zh-CN" sz="2800" baseline="30000" dirty="0"/>
                  <a:t>’(T)</a:t>
                </a:r>
                <a:r>
                  <a:rPr lang="en-US" altLang="zh-CN" sz="2800" dirty="0"/>
                  <a:t>a=0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 b'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181" y="1372391"/>
                <a:ext cx="1245854" cy="2031325"/>
              </a:xfrm>
              <a:prstGeom prst="rect">
                <a:avLst/>
              </a:prstGeom>
              <a:blipFill>
                <a:blip r:embed="rId2"/>
                <a:stretch>
                  <a:fillRect l="-9804" r="-7843" b="-4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/>
          <p:cNvGrpSpPr/>
          <p:nvPr/>
        </p:nvGrpSpPr>
        <p:grpSpPr>
          <a:xfrm>
            <a:off x="4277652" y="2503130"/>
            <a:ext cx="1428434" cy="958983"/>
            <a:chOff x="5201382" y="2656800"/>
            <a:chExt cx="1428434" cy="958983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5201382" y="2841466"/>
              <a:ext cx="969962" cy="774317"/>
            </a:xfrm>
            <a:prstGeom prst="straightConnector1">
              <a:avLst/>
            </a:prstGeom>
            <a:ln w="381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6202045" y="2656800"/>
              <a:ext cx="42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b'</a:t>
              </a:r>
              <a:endParaRPr lang="zh-CN" altLang="en-US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561362" y="3403716"/>
            <a:ext cx="4713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向量</a:t>
            </a:r>
            <a:r>
              <a:rPr lang="en-US" altLang="zh-CN" sz="2000" dirty="0"/>
              <a:t>b</a:t>
            </a:r>
            <a:r>
              <a:rPr lang="zh-CN" altLang="en-US" sz="2000" dirty="0"/>
              <a:t>与向量</a:t>
            </a:r>
            <a:r>
              <a:rPr lang="en-US" altLang="zh-CN" sz="2000" dirty="0"/>
              <a:t>a</a:t>
            </a:r>
            <a:r>
              <a:rPr lang="zh-CN" altLang="en-US" sz="2000" dirty="0"/>
              <a:t>关于矩阵</a:t>
            </a:r>
            <a:r>
              <a:rPr lang="en-US" altLang="zh-CN" sz="2000" dirty="0"/>
              <a:t>A</a:t>
            </a:r>
            <a:r>
              <a:rPr lang="zh-CN" altLang="en-US" sz="2000" dirty="0"/>
              <a:t>的一组共轭方向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289400" y="3481311"/>
            <a:ext cx="1180051" cy="507181"/>
            <a:chOff x="5213130" y="3634981"/>
            <a:chExt cx="1180051" cy="507181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5213130" y="3634981"/>
              <a:ext cx="805020" cy="322515"/>
            </a:xfrm>
            <a:prstGeom prst="straightConnector1">
              <a:avLst/>
            </a:prstGeom>
            <a:ln w="28575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6044368" y="3772830"/>
              <a:ext cx="348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zh-CN" altLang="en-US" dirty="0"/>
                <a:t>‘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8683069" y="3979293"/>
            <a:ext cx="979755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/>
              <a:t>a</a:t>
            </a:r>
            <a:r>
              <a:rPr lang="en-US" altLang="zh-CN" sz="2400" baseline="30000" dirty="0" err="1"/>
              <a:t>T</a:t>
            </a:r>
            <a:r>
              <a:rPr lang="en-US" altLang="zh-CN" sz="2400" dirty="0" err="1"/>
              <a:t>b</a:t>
            </a:r>
            <a:r>
              <a:rPr lang="en-US" altLang="zh-CN" sz="2400" dirty="0"/>
              <a:t>’=0</a:t>
            </a:r>
          </a:p>
        </p:txBody>
      </p:sp>
      <p:sp>
        <p:nvSpPr>
          <p:cNvPr id="29" name="矩形 28"/>
          <p:cNvSpPr/>
          <p:nvPr/>
        </p:nvSpPr>
        <p:spPr>
          <a:xfrm>
            <a:off x="7017181" y="3985736"/>
            <a:ext cx="1374094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(a’)</a:t>
            </a:r>
            <a:r>
              <a:rPr lang="en-US" altLang="zh-CN" sz="2400" baseline="30000" dirty="0"/>
              <a:t> </a:t>
            </a:r>
            <a:r>
              <a:rPr lang="en-US" altLang="zh-CN" sz="2400" baseline="30000" dirty="0" err="1"/>
              <a:t>T</a:t>
            </a:r>
            <a:r>
              <a:rPr lang="en-US" altLang="zh-CN" sz="2400" dirty="0" err="1"/>
              <a:t>Ab</a:t>
            </a:r>
            <a:r>
              <a:rPr lang="en-US" altLang="zh-CN" sz="2400" dirty="0"/>
              <a:t>=0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46068" y="4858284"/>
            <a:ext cx="4790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向量</a:t>
            </a:r>
            <a:r>
              <a:rPr lang="en-US" altLang="zh-CN" sz="2000" dirty="0"/>
              <a:t>a</a:t>
            </a:r>
            <a:r>
              <a:rPr lang="zh-CN" altLang="en-US" sz="2000" dirty="0"/>
              <a:t>与向量</a:t>
            </a:r>
            <a:r>
              <a:rPr lang="en-US" altLang="zh-CN" sz="2000" dirty="0"/>
              <a:t>b’</a:t>
            </a:r>
            <a:r>
              <a:rPr lang="zh-CN" altLang="en-US" sz="2000" dirty="0"/>
              <a:t>关于矩阵</a:t>
            </a:r>
            <a:r>
              <a:rPr lang="en-US" altLang="zh-CN" sz="2000" dirty="0"/>
              <a:t>A</a:t>
            </a:r>
            <a:r>
              <a:rPr lang="zh-CN" altLang="en-US" sz="2000" dirty="0"/>
              <a:t>的一组共轭方向</a:t>
            </a:r>
          </a:p>
        </p:txBody>
      </p:sp>
    </p:spTree>
    <p:extLst>
      <p:ext uri="{BB962C8B-B14F-4D97-AF65-F5344CB8AC3E}">
        <p14:creationId xmlns:p14="http://schemas.microsoft.com/office/powerpoint/2010/main" val="374276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4" grpId="0"/>
      <p:bldP spid="15" grpId="0"/>
      <p:bldP spid="29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线性方程组</a:t>
            </a:r>
            <a:r>
              <a:rPr lang="en-US" altLang="zh-CN" dirty="0"/>
              <a:t>Ax=b,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/>
              <a:t>n</a:t>
            </a:r>
            <a:r>
              <a:rPr lang="zh-CN" altLang="en-US" dirty="0"/>
              <a:t>阶正定对称矩阵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438258"/>
              </p:ext>
            </p:extLst>
          </p:nvPr>
        </p:nvGraphicFramePr>
        <p:xfrm>
          <a:off x="2636125" y="1502989"/>
          <a:ext cx="36449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" name="公式" r:id="rId3" imgW="2095200" imgH="406080" progId="Equation.3">
                  <p:embed/>
                </p:oleObj>
              </mc:Choice>
              <mc:Fallback>
                <p:oleObj name="公式" r:id="rId3" imgW="2095200" imgH="40608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125" y="1502989"/>
                        <a:ext cx="36449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431441"/>
              </p:ext>
            </p:extLst>
          </p:nvPr>
        </p:nvGraphicFramePr>
        <p:xfrm>
          <a:off x="2510065" y="2586490"/>
          <a:ext cx="22923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7" name="公式" r:id="rId5" imgW="1066680" imgH="241200" progId="Equation.3">
                  <p:embed/>
                </p:oleObj>
              </mc:Choice>
              <mc:Fallback>
                <p:oleObj name="公式" r:id="rId5" imgW="10666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0065" y="2586490"/>
                        <a:ext cx="229235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321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几何意义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1427018" y="1328057"/>
          <a:ext cx="20097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6" r:id="rId3" imgW="1649885" imgH="317542" progId="">
                  <p:embed/>
                </p:oleObj>
              </mc:Choice>
              <mc:Fallback>
                <p:oleObj r:id="rId3" imgW="1649885" imgH="31754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018" y="1328057"/>
                        <a:ext cx="20097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270738"/>
              </p:ext>
            </p:extLst>
          </p:nvPr>
        </p:nvGraphicFramePr>
        <p:xfrm>
          <a:off x="3116083" y="1571372"/>
          <a:ext cx="3224392" cy="70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7" name="公式" r:id="rId5" imgW="1854000" imgH="406080" progId="Equation.3">
                  <p:embed/>
                </p:oleObj>
              </mc:Choice>
              <mc:Fallback>
                <p:oleObj name="公式" r:id="rId5" imgW="1854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083" y="1571372"/>
                        <a:ext cx="3224392" cy="70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/>
          </p:nvPr>
        </p:nvGraphicFramePr>
        <p:xfrm>
          <a:off x="1350818" y="2394857"/>
          <a:ext cx="363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r:id="rId7" imgW="3630941" imgH="343068" progId="">
                  <p:embed/>
                </p:oleObj>
              </mc:Choice>
              <mc:Fallback>
                <p:oleObj r:id="rId7" imgW="3630941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818" y="2394857"/>
                        <a:ext cx="363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/>
          </p:nvPr>
        </p:nvGraphicFramePr>
        <p:xfrm>
          <a:off x="5008418" y="2351995"/>
          <a:ext cx="1943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r:id="rId9" imgW="1941732" imgH="355609" progId="">
                  <p:embed/>
                </p:oleObj>
              </mc:Choice>
              <mc:Fallback>
                <p:oleObj r:id="rId9" imgW="1941732" imgH="3556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418" y="2351995"/>
                        <a:ext cx="1943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399309" y="2766720"/>
            <a:ext cx="5621482" cy="1112849"/>
            <a:chOff x="1350818" y="5012025"/>
            <a:chExt cx="5621482" cy="1112849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1350818" y="5781974"/>
            <a:ext cx="2578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0" r:id="rId11" imgW="2577299" imgH="343068" progId="">
                    <p:embed/>
                  </p:oleObj>
                </mc:Choice>
                <mc:Fallback>
                  <p:oleObj r:id="rId11" imgW="2577299" imgH="343068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0818" y="5781974"/>
                          <a:ext cx="2578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1842178" y="5012025"/>
            <a:ext cx="25146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1" r:id="rId13" imgW="2513826" imgH="635042" progId="">
                    <p:embed/>
                  </p:oleObj>
                </mc:Choice>
                <mc:Fallback>
                  <p:oleObj r:id="rId13" imgW="2513826" imgH="63504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2178" y="5012025"/>
                          <a:ext cx="2514600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3987800" y="5752285"/>
            <a:ext cx="2984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2" r:id="rId15" imgW="2982229" imgH="355609" progId="">
                    <p:embed/>
                  </p:oleObj>
                </mc:Choice>
                <mc:Fallback>
                  <p:oleObj r:id="rId15" imgW="2982229" imgH="355609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7800" y="5752285"/>
                          <a:ext cx="29845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1660668" y="4004912"/>
            <a:ext cx="4052117" cy="476136"/>
            <a:chOff x="1977736" y="2844905"/>
            <a:chExt cx="4052117" cy="476136"/>
          </a:xfrm>
        </p:grpSpPr>
        <p:graphicFrame>
          <p:nvGraphicFramePr>
            <p:cNvPr id="12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1977736" y="2934834"/>
            <a:ext cx="533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3" r:id="rId17" imgW="533486" imgH="292290" progId="">
                    <p:embed/>
                  </p:oleObj>
                </mc:Choice>
                <mc:Fallback>
                  <p:oleObj r:id="rId17" imgW="533486" imgH="29229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7736" y="2934834"/>
                          <a:ext cx="5334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530426"/>
                </p:ext>
              </p:extLst>
            </p:nvPr>
          </p:nvGraphicFramePr>
          <p:xfrm>
            <a:off x="2815936" y="2844905"/>
            <a:ext cx="3213917" cy="476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4" name="公式" r:id="rId19" imgW="1625400" imgH="241200" progId="Equation.3">
                    <p:embed/>
                  </p:oleObj>
                </mc:Choice>
                <mc:Fallback>
                  <p:oleObj name="公式" r:id="rId19" imgW="1625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5936" y="2844905"/>
                          <a:ext cx="3213917" cy="476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2"/>
          <p:cNvGraphicFramePr>
            <a:graphicFrameLocks noChangeAspect="1"/>
          </p:cNvGraphicFramePr>
          <p:nvPr>
            <p:extLst/>
          </p:nvPr>
        </p:nvGraphicFramePr>
        <p:xfrm>
          <a:off x="1584614" y="5192447"/>
          <a:ext cx="4076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5" r:id="rId21" imgW="4075248" imgH="393846" progId="">
                  <p:embed/>
                </p:oleObj>
              </mc:Choice>
              <mc:Fallback>
                <p:oleObj r:id="rId21" imgW="4075248" imgH="3938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614" y="5192447"/>
                        <a:ext cx="4076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>
            <p:extLst/>
          </p:nvPr>
        </p:nvGraphicFramePr>
        <p:xfrm>
          <a:off x="1569027" y="5824045"/>
          <a:ext cx="309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6" r:id="rId23" imgW="3096429" imgH="355609" progId="">
                  <p:embed/>
                </p:oleObj>
              </mc:Choice>
              <mc:Fallback>
                <p:oleObj r:id="rId23" imgW="3096429" imgH="3556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027" y="5824045"/>
                        <a:ext cx="3098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6972300" y="2176112"/>
            <a:ext cx="4038600" cy="3276600"/>
            <a:chOff x="5541818" y="3614057"/>
            <a:chExt cx="4038600" cy="3276600"/>
          </a:xfrm>
        </p:grpSpPr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5541818" y="5900057"/>
              <a:ext cx="40386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6456218" y="3614057"/>
              <a:ext cx="0" cy="327660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6684818" y="5290457"/>
              <a:ext cx="1981200" cy="8382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6303818" y="5061857"/>
              <a:ext cx="2743200" cy="1295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7675418" y="5671457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" name="Object 19"/>
            <p:cNvGraphicFramePr>
              <a:graphicFrameLocks noChangeAspect="1"/>
            </p:cNvGraphicFramePr>
            <p:nvPr>
              <p:extLst/>
            </p:nvPr>
          </p:nvGraphicFramePr>
          <p:xfrm>
            <a:off x="7827818" y="5442857"/>
            <a:ext cx="203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7" r:id="rId25" imgW="203341" imgH="304853" progId="">
                    <p:embed/>
                  </p:oleObj>
                </mc:Choice>
                <mc:Fallback>
                  <p:oleObj r:id="rId25" imgW="203341" imgH="30485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7818" y="5442857"/>
                          <a:ext cx="2032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7370618" y="5519057"/>
              <a:ext cx="762000" cy="3810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884651" y="4649399"/>
            <a:ext cx="2351376" cy="393700"/>
            <a:chOff x="2127106" y="3420712"/>
            <a:chExt cx="2351376" cy="393700"/>
          </a:xfrm>
        </p:grpSpPr>
        <p:graphicFrame>
          <p:nvGraphicFramePr>
            <p:cNvPr id="23" name="Object 21"/>
            <p:cNvGraphicFramePr>
              <a:graphicFrameLocks noChangeAspect="1"/>
            </p:cNvGraphicFramePr>
            <p:nvPr>
              <p:extLst/>
            </p:nvPr>
          </p:nvGraphicFramePr>
          <p:xfrm>
            <a:off x="2941782" y="3420712"/>
            <a:ext cx="1536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8" r:id="rId27" imgW="1536350" imgH="393846" progId="">
                    <p:embed/>
                  </p:oleObj>
                </mc:Choice>
                <mc:Fallback>
                  <p:oleObj r:id="rId27" imgW="1536350" imgH="393846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782" y="3420712"/>
                          <a:ext cx="15367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2127106" y="3463760"/>
            <a:ext cx="304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9" r:id="rId29" imgW="304853" imgH="292164" progId="">
                    <p:embed/>
                  </p:oleObj>
                </mc:Choice>
                <mc:Fallback>
                  <p:oleObj r:id="rId29" imgW="304853" imgH="292164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7106" y="3463760"/>
                          <a:ext cx="3048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1969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0522" y="648908"/>
            <a:ext cx="10515600" cy="5458506"/>
          </a:xfrm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>
            <p:extLst/>
          </p:nvPr>
        </p:nvGraphicFramePr>
        <p:xfrm>
          <a:off x="1154043" y="921801"/>
          <a:ext cx="4076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6" r:id="rId3" imgW="4075248" imgH="393846" progId="">
                  <p:embed/>
                </p:oleObj>
              </mc:Choice>
              <mc:Fallback>
                <p:oleObj r:id="rId3" imgW="4075248" imgH="3938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043" y="921801"/>
                        <a:ext cx="4076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>
            <p:extLst/>
          </p:nvPr>
        </p:nvGraphicFramePr>
        <p:xfrm>
          <a:off x="1131025" y="2771237"/>
          <a:ext cx="405923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" r:id="rId5" imgW="3835717" imgH="368617" progId="">
                  <p:embed/>
                </p:oleObj>
              </mc:Choice>
              <mc:Fallback>
                <p:oleObj r:id="rId5" imgW="3835717" imgH="36861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025" y="2771237"/>
                        <a:ext cx="405923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>
            <p:extLst/>
          </p:nvPr>
        </p:nvGraphicFramePr>
        <p:xfrm>
          <a:off x="1179443" y="3512601"/>
          <a:ext cx="260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" r:id="rId7" imgW="2602687" imgH="393846" progId="">
                  <p:embed/>
                </p:oleObj>
              </mc:Choice>
              <mc:Fallback>
                <p:oleObj r:id="rId7" imgW="2602687" imgH="3938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443" y="3512601"/>
                        <a:ext cx="260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6889184" y="3301961"/>
            <a:ext cx="3962400" cy="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8108384" y="1827882"/>
            <a:ext cx="0" cy="304800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>
            <p:extLst/>
          </p:nvPr>
        </p:nvGraphicFramePr>
        <p:xfrm>
          <a:off x="7879784" y="3809082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9" r:id="rId9" imgW="177809" imgH="190487" progId="">
                  <p:embed/>
                </p:oleObj>
              </mc:Choice>
              <mc:Fallback>
                <p:oleObj r:id="rId9" imgW="177809" imgH="19048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784" y="3809082"/>
                        <a:ext cx="1778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>
            <p:extLst/>
          </p:nvPr>
        </p:nvGraphicFramePr>
        <p:xfrm>
          <a:off x="10546784" y="3378161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0" r:id="rId11" imgW="279596" imgH="343068" progId="">
                  <p:embed/>
                </p:oleObj>
              </mc:Choice>
              <mc:Fallback>
                <p:oleObj r:id="rId11" imgW="279596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6784" y="3378161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>
            <p:extLst/>
          </p:nvPr>
        </p:nvGraphicFramePr>
        <p:xfrm>
          <a:off x="7803584" y="1827882"/>
          <a:ext cx="29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1" r:id="rId13" imgW="292290" imgH="343068" progId="">
                  <p:embed/>
                </p:oleObj>
              </mc:Choice>
              <mc:Fallback>
                <p:oleObj r:id="rId13" imgW="292290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3584" y="1827882"/>
                        <a:ext cx="292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84101"/>
              </p:ext>
            </p:extLst>
          </p:nvPr>
        </p:nvGraphicFramePr>
        <p:xfrm>
          <a:off x="8549164" y="2806661"/>
          <a:ext cx="203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2" r:id="rId15" imgW="203341" imgH="304853" progId="">
                  <p:embed/>
                </p:oleObj>
              </mc:Choice>
              <mc:Fallback>
                <p:oleObj r:id="rId15" imgW="203341" imgH="3048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9164" y="2806661"/>
                        <a:ext cx="203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874048"/>
              </p:ext>
            </p:extLst>
          </p:nvPr>
        </p:nvGraphicFramePr>
        <p:xfrm>
          <a:off x="9473634" y="2395452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3" name="公式" r:id="rId17" imgW="241200" imgH="190440" progId="Equation.3">
                  <p:embed/>
                </p:oleObj>
              </mc:Choice>
              <mc:Fallback>
                <p:oleObj name="公式" r:id="rId17" imgW="2412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3634" y="2395452"/>
                        <a:ext cx="2413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6660584" y="1961534"/>
            <a:ext cx="4419600" cy="2057400"/>
            <a:chOff x="6660584" y="1961534"/>
            <a:chExt cx="4419600" cy="2057400"/>
          </a:xfrm>
        </p:grpSpPr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8794184" y="2905069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9" name="Oval 13"/>
            <p:cNvSpPr>
              <a:spLocks noChangeArrowheads="1"/>
            </p:cNvSpPr>
            <p:nvPr/>
          </p:nvSpPr>
          <p:spPr bwMode="auto">
            <a:xfrm>
              <a:off x="7727384" y="2692361"/>
              <a:ext cx="2286000" cy="533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Oval 14"/>
            <p:cNvSpPr>
              <a:spLocks noChangeArrowheads="1"/>
            </p:cNvSpPr>
            <p:nvPr/>
          </p:nvSpPr>
          <p:spPr bwMode="auto">
            <a:xfrm>
              <a:off x="7193984" y="2311361"/>
              <a:ext cx="3352800" cy="12192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Oval 15"/>
            <p:cNvSpPr>
              <a:spLocks noChangeArrowheads="1"/>
            </p:cNvSpPr>
            <p:nvPr/>
          </p:nvSpPr>
          <p:spPr bwMode="auto">
            <a:xfrm>
              <a:off x="6660584" y="1961534"/>
              <a:ext cx="4419600" cy="2057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52" name="Oval 16"/>
          <p:cNvSpPr>
            <a:spLocks noChangeArrowheads="1"/>
          </p:cNvSpPr>
          <p:nvPr/>
        </p:nvSpPr>
        <p:spPr bwMode="auto">
          <a:xfrm>
            <a:off x="9022784" y="2323182"/>
            <a:ext cx="76200" cy="76200"/>
          </a:xfrm>
          <a:prstGeom prst="ellipse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9976872" y="2878099"/>
            <a:ext cx="76200" cy="76200"/>
          </a:xfrm>
          <a:prstGeom prst="ellipse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>
            <a:off x="8870384" y="2920961"/>
            <a:ext cx="1143000" cy="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>
            <a:off x="8794184" y="2170781"/>
            <a:ext cx="1143000" cy="673979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56" name="Object 20"/>
          <p:cNvGraphicFramePr>
            <a:graphicFrameLocks noChangeAspect="1"/>
          </p:cNvGraphicFramePr>
          <p:nvPr>
            <p:extLst/>
          </p:nvPr>
        </p:nvGraphicFramePr>
        <p:xfrm>
          <a:off x="8870384" y="1942182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4" r:id="rId19" imgW="457319" imgH="343068" progId="">
                  <p:embed/>
                </p:oleObj>
              </mc:Choice>
              <mc:Fallback>
                <p:oleObj r:id="rId19" imgW="457319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0384" y="1942182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>
            <p:extLst/>
          </p:nvPr>
        </p:nvGraphicFramePr>
        <p:xfrm>
          <a:off x="5228051" y="959339"/>
          <a:ext cx="2902540" cy="432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5" name="公式" r:id="rId21" imgW="1447560" imgH="215640" progId="Equation.3">
                  <p:embed/>
                </p:oleObj>
              </mc:Choice>
              <mc:Fallback>
                <p:oleObj name="公式" r:id="rId21" imgW="1447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051" y="959339"/>
                        <a:ext cx="2902540" cy="432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/>
          <p:cNvGraphicFramePr>
            <a:graphicFrameLocks noChangeAspect="1"/>
          </p:cNvGraphicFramePr>
          <p:nvPr>
            <p:extLst/>
          </p:nvPr>
        </p:nvGraphicFramePr>
        <p:xfrm>
          <a:off x="1179443" y="1426626"/>
          <a:ext cx="5107436" cy="459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6" name="公式" r:id="rId23" imgW="2400120" imgH="215640" progId="Equation.3">
                  <p:embed/>
                </p:oleObj>
              </mc:Choice>
              <mc:Fallback>
                <p:oleObj name="公式" r:id="rId23" imgW="240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443" y="1426626"/>
                        <a:ext cx="5107436" cy="459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9" name="Object 23"/>
          <p:cNvGraphicFramePr>
            <a:graphicFrameLocks noChangeAspect="1"/>
          </p:cNvGraphicFramePr>
          <p:nvPr>
            <p:extLst/>
          </p:nvPr>
        </p:nvGraphicFramePr>
        <p:xfrm>
          <a:off x="1239363" y="2009239"/>
          <a:ext cx="4949156" cy="48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7" name="公式" r:id="rId25" imgW="2070000" imgH="215640" progId="Equation.3">
                  <p:embed/>
                </p:oleObj>
              </mc:Choice>
              <mc:Fallback>
                <p:oleObj name="公式" r:id="rId25" imgW="2070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363" y="2009239"/>
                        <a:ext cx="4949156" cy="48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Object 24"/>
          <p:cNvGraphicFramePr>
            <a:graphicFrameLocks noChangeAspect="1"/>
          </p:cNvGraphicFramePr>
          <p:nvPr>
            <p:extLst/>
          </p:nvPr>
        </p:nvGraphicFramePr>
        <p:xfrm>
          <a:off x="1223517" y="4150338"/>
          <a:ext cx="296801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8" name="公式" r:id="rId27" imgW="1600200" imgH="215640" progId="Equation.3">
                  <p:embed/>
                </p:oleObj>
              </mc:Choice>
              <mc:Fallback>
                <p:oleObj name="公式" r:id="rId27" imgW="1600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517" y="4150338"/>
                        <a:ext cx="296801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Object 25"/>
          <p:cNvGraphicFramePr>
            <a:graphicFrameLocks noChangeAspect="1"/>
          </p:cNvGraphicFramePr>
          <p:nvPr>
            <p:extLst/>
          </p:nvPr>
        </p:nvGraphicFramePr>
        <p:xfrm>
          <a:off x="4394327" y="4178014"/>
          <a:ext cx="2896314" cy="439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" name="公式" r:id="rId29" imgW="1422360" imgH="215640" progId="Equation.3">
                  <p:embed/>
                </p:oleObj>
              </mc:Choice>
              <mc:Fallback>
                <p:oleObj name="公式" r:id="rId29" imgW="1422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327" y="4178014"/>
                        <a:ext cx="2896314" cy="439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910087"/>
              </p:ext>
            </p:extLst>
          </p:nvPr>
        </p:nvGraphicFramePr>
        <p:xfrm>
          <a:off x="1085850" y="4810125"/>
          <a:ext cx="3028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0" name="公式" r:id="rId31" imgW="1498320" imgH="241200" progId="Equation.3">
                  <p:embed/>
                </p:oleObj>
              </mc:Choice>
              <mc:Fallback>
                <p:oleObj name="公式" r:id="rId31" imgW="1498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4810125"/>
                        <a:ext cx="30289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Object 27"/>
          <p:cNvGraphicFramePr>
            <a:graphicFrameLocks noChangeAspect="1"/>
          </p:cNvGraphicFramePr>
          <p:nvPr>
            <p:extLst/>
          </p:nvPr>
        </p:nvGraphicFramePr>
        <p:xfrm>
          <a:off x="10089584" y="2768561"/>
          <a:ext cx="44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1" r:id="rId33" imgW="444624" imgH="343068" progId="">
                  <p:embed/>
                </p:oleObj>
              </mc:Choice>
              <mc:Fallback>
                <p:oleObj r:id="rId33" imgW="444624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9584" y="2768561"/>
                        <a:ext cx="444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Object 28"/>
          <p:cNvGraphicFramePr>
            <a:graphicFrameLocks noChangeAspect="1"/>
          </p:cNvGraphicFramePr>
          <p:nvPr>
            <p:extLst/>
          </p:nvPr>
        </p:nvGraphicFramePr>
        <p:xfrm>
          <a:off x="4319642" y="4878650"/>
          <a:ext cx="558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2" r:id="rId35" imgW="558632" imgH="304853" progId="">
                  <p:embed/>
                </p:oleObj>
              </mc:Choice>
              <mc:Fallback>
                <p:oleObj r:id="rId35" imgW="558632" imgH="3048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642" y="4878650"/>
                        <a:ext cx="558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Object 29"/>
          <p:cNvGraphicFramePr>
            <a:graphicFrameLocks noChangeAspect="1"/>
          </p:cNvGraphicFramePr>
          <p:nvPr>
            <p:extLst/>
          </p:nvPr>
        </p:nvGraphicFramePr>
        <p:xfrm>
          <a:off x="5190263" y="4855024"/>
          <a:ext cx="1696119" cy="417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3" name="公式" r:id="rId37" imgW="876240" imgH="215640" progId="Equation.3">
                  <p:embed/>
                </p:oleObj>
              </mc:Choice>
              <mc:Fallback>
                <p:oleObj name="公式" r:id="rId37" imgW="876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0263" y="4855024"/>
                        <a:ext cx="1696119" cy="417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Object 30"/>
          <p:cNvGraphicFramePr>
            <a:graphicFrameLocks noChangeAspect="1"/>
          </p:cNvGraphicFramePr>
          <p:nvPr>
            <p:extLst/>
          </p:nvPr>
        </p:nvGraphicFramePr>
        <p:xfrm>
          <a:off x="1252665" y="5604550"/>
          <a:ext cx="863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4" r:id="rId39" imgW="8632570" imgH="343068" progId="">
                  <p:embed/>
                </p:oleObj>
              </mc:Choice>
              <mc:Fallback>
                <p:oleObj r:id="rId39" imgW="8632570" imgH="34306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665" y="5604550"/>
                        <a:ext cx="8636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091279"/>
              </p:ext>
            </p:extLst>
          </p:nvPr>
        </p:nvGraphicFramePr>
        <p:xfrm>
          <a:off x="9283134" y="2948358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5" name="公式" r:id="rId41" imgW="241200" imgH="190440" progId="Equation.3">
                  <p:embed/>
                </p:oleObj>
              </mc:Choice>
              <mc:Fallback>
                <p:oleObj name="公式" r:id="rId41" imgW="24120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3134" y="2948358"/>
                        <a:ext cx="2413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5" name="椭圆 4"/>
          <p:cNvSpPr/>
          <p:nvPr/>
        </p:nvSpPr>
        <p:spPr>
          <a:xfrm>
            <a:off x="5598367" y="3906301"/>
            <a:ext cx="1062217" cy="15147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90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 animBg="1"/>
      <p:bldP spid="14353" grpId="0" animBg="1"/>
      <p:bldP spid="14354" grpId="0" animBg="1"/>
      <p:bldP spid="14355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085135" y="718457"/>
            <a:ext cx="4811168" cy="252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同心椭圆簇的几何性质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：任意做两条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平行线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，与椭圆组中的两椭圆切于点 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。该两点必通过椭圆的中心；或者说，过椭圆中心做任意直线与任意两个椭圆相交，通过交点作椭圆切线必互相平行。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924" y="1337441"/>
            <a:ext cx="3995738" cy="386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6" name="矩形 5"/>
          <p:cNvSpPr/>
          <p:nvPr/>
        </p:nvSpPr>
        <p:spPr>
          <a:xfrm>
            <a:off x="1085135" y="3290026"/>
            <a:ext cx="4482548" cy="19082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结论：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切线的方向</a:t>
            </a:r>
            <a:r>
              <a:rPr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与两切点连线的方向</a:t>
            </a:r>
            <a:r>
              <a:rPr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S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，就是一对共轭方向。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正定二次二元函数，经过两次共轭方向搜索，就可搜到极小点</a:t>
            </a:r>
          </a:p>
        </p:txBody>
      </p:sp>
      <p:sp>
        <p:nvSpPr>
          <p:cNvPr id="7" name="矩形 6"/>
          <p:cNvSpPr/>
          <p:nvPr/>
        </p:nvSpPr>
        <p:spPr>
          <a:xfrm>
            <a:off x="1059402" y="5366789"/>
            <a:ext cx="100731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共轭方向法对于n阶对称正定矩阵A(即n维优化目标)，理论上至多只要n次迭代就能得到最优解。</a:t>
            </a:r>
          </a:p>
        </p:txBody>
      </p:sp>
    </p:spTree>
    <p:extLst>
      <p:ext uri="{BB962C8B-B14F-4D97-AF65-F5344CB8AC3E}">
        <p14:creationId xmlns:p14="http://schemas.microsoft.com/office/powerpoint/2010/main" val="97805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共轭梯度算法是一种迭代算法，用于寻找共轭方向。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9" name="矩形 8"/>
          <p:cNvSpPr/>
          <p:nvPr/>
        </p:nvSpPr>
        <p:spPr>
          <a:xfrm>
            <a:off x="838200" y="4247849"/>
            <a:ext cx="102607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如何选取一组共轭方向？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55350"/>
              </p:ext>
            </p:extLst>
          </p:nvPr>
        </p:nvGraphicFramePr>
        <p:xfrm>
          <a:off x="1561962" y="5182051"/>
          <a:ext cx="82153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5" name="公式" r:id="rId3" imgW="3848040" imgH="203040" progId="Equation.3">
                  <p:embed/>
                </p:oleObj>
              </mc:Choice>
              <mc:Fallback>
                <p:oleObj name="公式" r:id="rId3" imgW="38480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962" y="5182051"/>
                        <a:ext cx="82153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950707"/>
              </p:ext>
            </p:extLst>
          </p:nvPr>
        </p:nvGraphicFramePr>
        <p:xfrm>
          <a:off x="2239085" y="1322816"/>
          <a:ext cx="4676330" cy="808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" name="公式" r:id="rId5" imgW="1981080" imgH="342720" progId="Equation.3">
                  <p:embed/>
                </p:oleObj>
              </mc:Choice>
              <mc:Fallback>
                <p:oleObj name="公式" r:id="rId5" imgW="19810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085" y="1322816"/>
                        <a:ext cx="4676330" cy="808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39576"/>
              </p:ext>
            </p:extLst>
          </p:nvPr>
        </p:nvGraphicFramePr>
        <p:xfrm>
          <a:off x="3784600" y="3007856"/>
          <a:ext cx="4622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7" r:id="rId7" imgW="4620794" imgH="952087" progId="">
                  <p:embed/>
                </p:oleObj>
              </mc:Choice>
              <mc:Fallback>
                <p:oleObj r:id="rId7" imgW="4620794" imgH="95208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007856"/>
                        <a:ext cx="4622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154024" y="16331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正定二次函数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588361"/>
              </p:ext>
            </p:extLst>
          </p:nvPr>
        </p:nvGraphicFramePr>
        <p:xfrm>
          <a:off x="3265802" y="677593"/>
          <a:ext cx="3224392" cy="70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8" name="公式" r:id="rId9" imgW="1854000" imgH="406080" progId="Equation.3">
                  <p:embed/>
                </p:oleObj>
              </mc:Choice>
              <mc:Fallback>
                <p:oleObj name="公式" r:id="rId9" imgW="1854000" imgH="40608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802" y="677593"/>
                        <a:ext cx="3224392" cy="70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弧形箭头 11"/>
          <p:cNvSpPr/>
          <p:nvPr/>
        </p:nvSpPr>
        <p:spPr>
          <a:xfrm>
            <a:off x="6924455" y="971560"/>
            <a:ext cx="315809" cy="85455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946277"/>
              </p:ext>
            </p:extLst>
          </p:nvPr>
        </p:nvGraphicFramePr>
        <p:xfrm>
          <a:off x="7377692" y="1011909"/>
          <a:ext cx="39306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9" name="公式" r:id="rId11" imgW="2260440" imgH="406080" progId="Equation.3">
                  <p:embed/>
                </p:oleObj>
              </mc:Choice>
              <mc:Fallback>
                <p:oleObj name="公式" r:id="rId11" imgW="2260440" imgH="406080" progId="Equation.3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692" y="1011909"/>
                        <a:ext cx="393065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790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最优步长的确定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407144"/>
              </p:ext>
            </p:extLst>
          </p:nvPr>
        </p:nvGraphicFramePr>
        <p:xfrm>
          <a:off x="2986088" y="708025"/>
          <a:ext cx="3746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4" name="公式" r:id="rId3" imgW="126720" imgH="215640" progId="Equation.3">
                  <p:embed/>
                </p:oleObj>
              </mc:Choice>
              <mc:Fallback>
                <p:oleObj name="公式" r:id="rId3" imgW="126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708025"/>
                        <a:ext cx="3746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102241"/>
              </p:ext>
            </p:extLst>
          </p:nvPr>
        </p:nvGraphicFramePr>
        <p:xfrm>
          <a:off x="1307309" y="1279388"/>
          <a:ext cx="9423226" cy="50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5" name="公式" r:id="rId5" imgW="4305240" imgH="241200" progId="Equation.3">
                  <p:embed/>
                </p:oleObj>
              </mc:Choice>
              <mc:Fallback>
                <p:oleObj name="公式" r:id="rId5" imgW="4305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309" y="1279388"/>
                        <a:ext cx="9423226" cy="50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/>
          </p:nvPr>
        </p:nvGraphicFramePr>
        <p:xfrm>
          <a:off x="1421522" y="1749970"/>
          <a:ext cx="3911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6" r:id="rId7" imgW="3909903" imgH="533169" progId="">
                  <p:embed/>
                </p:oleObj>
              </mc:Choice>
              <mc:Fallback>
                <p:oleObj r:id="rId7" imgW="3909903" imgH="53316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22" y="1749970"/>
                        <a:ext cx="3911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/>
          </p:nvPr>
        </p:nvGraphicFramePr>
        <p:xfrm>
          <a:off x="1421522" y="2359570"/>
          <a:ext cx="350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7" r:id="rId9" imgW="3503679" imgH="393529" progId="">
                  <p:embed/>
                </p:oleObj>
              </mc:Choice>
              <mc:Fallback>
                <p:oleObj r:id="rId9" imgW="3503679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22" y="2359570"/>
                        <a:ext cx="3505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/>
          </p:nvPr>
        </p:nvGraphicFramePr>
        <p:xfrm>
          <a:off x="1496559" y="2977878"/>
          <a:ext cx="6450197" cy="473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8" name="公式" r:id="rId11" imgW="3111480" imgH="228600" progId="Equation.3">
                  <p:embed/>
                </p:oleObj>
              </mc:Choice>
              <mc:Fallback>
                <p:oleObj name="公式" r:id="rId11" imgW="3111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559" y="2977878"/>
                        <a:ext cx="6450197" cy="473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/>
          </p:nvPr>
        </p:nvGraphicFramePr>
        <p:xfrm>
          <a:off x="1421522" y="3654970"/>
          <a:ext cx="459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9" r:id="rId13" imgW="4595405" imgH="393529" progId="">
                  <p:embed/>
                </p:oleObj>
              </mc:Choice>
              <mc:Fallback>
                <p:oleObj r:id="rId13" imgW="4595405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22" y="3654970"/>
                        <a:ext cx="4597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/>
          </p:nvPr>
        </p:nvGraphicFramePr>
        <p:xfrm>
          <a:off x="1421522" y="4264570"/>
          <a:ext cx="425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0" r:id="rId15" imgW="4250810" imgH="406048" progId="">
                  <p:embed/>
                </p:oleObj>
              </mc:Choice>
              <mc:Fallback>
                <p:oleObj r:id="rId15" imgW="4250810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22" y="4264570"/>
                        <a:ext cx="425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/>
          </p:nvPr>
        </p:nvGraphicFramePr>
        <p:xfrm>
          <a:off x="2564522" y="4874170"/>
          <a:ext cx="276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1" r:id="rId17" imgW="2766199" imgH="406048" progId="">
                  <p:embed/>
                </p:oleObj>
              </mc:Choice>
              <mc:Fallback>
                <p:oleObj r:id="rId17" imgW="2766199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522" y="4874170"/>
                        <a:ext cx="2768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/>
          </p:nvPr>
        </p:nvGraphicFramePr>
        <p:xfrm>
          <a:off x="1421522" y="5407570"/>
          <a:ext cx="449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2" r:id="rId19" imgW="4493850" imgH="812447" progId="">
                  <p:embed/>
                </p:oleObj>
              </mc:Choice>
              <mc:Fallback>
                <p:oleObj r:id="rId19" imgW="4493850" imgH="81244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22" y="5407570"/>
                        <a:ext cx="4495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/>
          </p:nvPr>
        </p:nvGraphicFramePr>
        <p:xfrm>
          <a:off x="4615572" y="3642270"/>
          <a:ext cx="165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3" r:id="rId21" imgW="165100" imgH="330200" progId="">
                  <p:embed/>
                </p:oleObj>
              </mc:Choice>
              <mc:Fallback>
                <p:oleObj r:id="rId21" imgW="165100" imgH="330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572" y="3642270"/>
                        <a:ext cx="165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8067931" y="3076324"/>
                <a:ext cx="16296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931" y="3076324"/>
                <a:ext cx="1629613" cy="276999"/>
              </a:xfrm>
              <a:prstGeom prst="rect">
                <a:avLst/>
              </a:prstGeom>
              <a:blipFill>
                <a:blip r:embed="rId23"/>
                <a:stretch>
                  <a:fillRect l="-2612" t="-4444" r="-261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7065901" y="572456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针对正定矩阵</a:t>
            </a:r>
          </a:p>
        </p:txBody>
      </p:sp>
    </p:spTree>
    <p:extLst>
      <p:ext uri="{BB962C8B-B14F-4D97-AF65-F5344CB8AC3E}">
        <p14:creationId xmlns:p14="http://schemas.microsoft.com/office/powerpoint/2010/main" val="63924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搜索方向的确定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493198"/>
              </p:ext>
            </p:extLst>
          </p:nvPr>
        </p:nvGraphicFramePr>
        <p:xfrm>
          <a:off x="1186791" y="1188863"/>
          <a:ext cx="75755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1" r:id="rId4" imgW="6956581" imgH="393529" progId="">
                  <p:embed/>
                </p:oleObj>
              </mc:Choice>
              <mc:Fallback>
                <p:oleObj r:id="rId4" imgW="6956581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791" y="1188863"/>
                        <a:ext cx="75755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761405"/>
              </p:ext>
            </p:extLst>
          </p:nvPr>
        </p:nvGraphicFramePr>
        <p:xfrm>
          <a:off x="1186791" y="1745147"/>
          <a:ext cx="721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2" r:id="rId6" imgW="7207344" imgH="406048" progId="">
                  <p:embed/>
                </p:oleObj>
              </mc:Choice>
              <mc:Fallback>
                <p:oleObj r:id="rId6" imgW="7207344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791" y="1745147"/>
                        <a:ext cx="7213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058671"/>
              </p:ext>
            </p:extLst>
          </p:nvPr>
        </p:nvGraphicFramePr>
        <p:xfrm>
          <a:off x="1516991" y="2269344"/>
          <a:ext cx="51831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3" r:id="rId8" imgW="4900073" imgH="393529" progId="">
                  <p:embed/>
                </p:oleObj>
              </mc:Choice>
              <mc:Fallback>
                <p:oleObj r:id="rId8" imgW="4900073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991" y="2269344"/>
                        <a:ext cx="51831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077425"/>
              </p:ext>
            </p:extLst>
          </p:nvPr>
        </p:nvGraphicFramePr>
        <p:xfrm>
          <a:off x="1466191" y="2799247"/>
          <a:ext cx="466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4" r:id="rId10" imgW="4656858" imgH="406048" progId="">
                  <p:embed/>
                </p:oleObj>
              </mc:Choice>
              <mc:Fallback>
                <p:oleObj r:id="rId10" imgW="4656858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191" y="2799247"/>
                        <a:ext cx="4660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950199"/>
              </p:ext>
            </p:extLst>
          </p:nvPr>
        </p:nvGraphicFramePr>
        <p:xfrm>
          <a:off x="1542391" y="3954947"/>
          <a:ext cx="353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5" r:id="rId12" imgW="3529068" imgH="393529" progId="">
                  <p:embed/>
                </p:oleObj>
              </mc:Choice>
              <mc:Fallback>
                <p:oleObj r:id="rId12" imgW="3529068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91" y="3954947"/>
                        <a:ext cx="353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550653"/>
              </p:ext>
            </p:extLst>
          </p:nvPr>
        </p:nvGraphicFramePr>
        <p:xfrm>
          <a:off x="1542391" y="3434247"/>
          <a:ext cx="158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6" r:id="rId14" imgW="1586811" imgH="355446" progId="">
                  <p:embed/>
                </p:oleObj>
              </mc:Choice>
              <mc:Fallback>
                <p:oleObj r:id="rId14" imgW="1586811" imgH="3554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91" y="3434247"/>
                        <a:ext cx="158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779082"/>
              </p:ext>
            </p:extLst>
          </p:nvPr>
        </p:nvGraphicFramePr>
        <p:xfrm>
          <a:off x="1542391" y="4501047"/>
          <a:ext cx="4868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7" r:id="rId16" imgW="4470400" imgH="457200" progId="">
                  <p:embed/>
                </p:oleObj>
              </mc:Choice>
              <mc:Fallback>
                <p:oleObj r:id="rId16" imgW="4470400" imgH="457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91" y="4501047"/>
                        <a:ext cx="4868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329924"/>
              </p:ext>
            </p:extLst>
          </p:nvPr>
        </p:nvGraphicFramePr>
        <p:xfrm>
          <a:off x="1542391" y="5110647"/>
          <a:ext cx="5537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8" r:id="rId18" imgW="5537200" imgH="469900" progId="">
                  <p:embed/>
                </p:oleObj>
              </mc:Choice>
              <mc:Fallback>
                <p:oleObj r:id="rId18" imgW="5537200" imgH="4699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91" y="5110647"/>
                        <a:ext cx="5537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09304"/>
              </p:ext>
            </p:extLst>
          </p:nvPr>
        </p:nvGraphicFramePr>
        <p:xfrm>
          <a:off x="1516991" y="5581865"/>
          <a:ext cx="4140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" r:id="rId20" imgW="4140200" imgH="939800" progId="">
                  <p:embed/>
                </p:oleObj>
              </mc:Choice>
              <mc:Fallback>
                <p:oleObj r:id="rId20" imgW="4140200" imgH="939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991" y="5581865"/>
                        <a:ext cx="4140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212563" y="29298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438299"/>
              </p:ext>
            </p:extLst>
          </p:nvPr>
        </p:nvGraphicFramePr>
        <p:xfrm>
          <a:off x="6224413" y="2922118"/>
          <a:ext cx="5369331" cy="28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0" name="公式" r:id="rId22" imgW="3848040" imgH="203040" progId="Equation.3">
                  <p:embed/>
                </p:oleObj>
              </mc:Choice>
              <mc:Fallback>
                <p:oleObj name="公式" r:id="rId22" imgW="38480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224413" y="2922118"/>
                        <a:ext cx="5369331" cy="283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827196" y="5854380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Daniel</a:t>
            </a:r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239390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699002"/>
              </p:ext>
            </p:extLst>
          </p:nvPr>
        </p:nvGraphicFramePr>
        <p:xfrm>
          <a:off x="287338" y="125414"/>
          <a:ext cx="10134956" cy="85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公式" r:id="rId3" imgW="4838400" imgH="406080" progId="Equation.3">
                  <p:embed/>
                </p:oleObj>
              </mc:Choice>
              <mc:Fallback>
                <p:oleObj name="公式" r:id="rId3" imgW="48384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125414"/>
                        <a:ext cx="10134956" cy="850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166309"/>
              </p:ext>
            </p:extLst>
          </p:nvPr>
        </p:nvGraphicFramePr>
        <p:xfrm>
          <a:off x="1153638" y="868407"/>
          <a:ext cx="10425652" cy="45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公式" r:id="rId5" imgW="4483080" imgH="203040" progId="Equation.3">
                  <p:embed/>
                </p:oleObj>
              </mc:Choice>
              <mc:Fallback>
                <p:oleObj name="公式" r:id="rId5" imgW="44830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3638" y="868407"/>
                        <a:ext cx="10425652" cy="455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209800" y="1371600"/>
          <a:ext cx="403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r:id="rId7" imgW="4038600" imgH="457200" progId="">
                  <p:embed/>
                </p:oleObj>
              </mc:Choice>
              <mc:Fallback>
                <p:oleObj r:id="rId7" imgW="4038600" imgH="457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4038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2209800" y="1981200"/>
          <a:ext cx="354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r:id="rId9" imgW="3543300" imgH="457200" progId="">
                  <p:embed/>
                </p:oleObj>
              </mc:Choice>
              <mc:Fallback>
                <p:oleObj r:id="rId9" imgW="3543300" imgH="457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3543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209800" y="2616200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r:id="rId11" imgW="2373870" imgH="406224" progId="">
                  <p:embed/>
                </p:oleObj>
              </mc:Choice>
              <mc:Fallback>
                <p:oleObj r:id="rId11" imgW="2373870" imgH="406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616200"/>
                        <a:ext cx="237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374356"/>
              </p:ext>
            </p:extLst>
          </p:nvPr>
        </p:nvGraphicFramePr>
        <p:xfrm>
          <a:off x="1463351" y="3496258"/>
          <a:ext cx="304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r:id="rId13" imgW="295429" imgH="285750" progId="">
                  <p:embed/>
                </p:oleObj>
              </mc:Choice>
              <mc:Fallback>
                <p:oleObj r:id="rId13" imgW="295429" imgH="28575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351" y="3496258"/>
                        <a:ext cx="304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632018"/>
              </p:ext>
            </p:extLst>
          </p:nvPr>
        </p:nvGraphicFramePr>
        <p:xfrm>
          <a:off x="2206626" y="3642308"/>
          <a:ext cx="7842444" cy="46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4" name="公式" r:id="rId15" imgW="3746160" imgH="228600" progId="Equation.3">
                  <p:embed/>
                </p:oleObj>
              </mc:Choice>
              <mc:Fallback>
                <p:oleObj name="公式" r:id="rId15" imgW="3746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6" y="3642308"/>
                        <a:ext cx="7842444" cy="465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2206626" y="4267200"/>
          <a:ext cx="77755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5" r:id="rId17" imgW="7489749" imgH="342751" progId="">
                  <p:embed/>
                </p:oleObj>
              </mc:Choice>
              <mc:Fallback>
                <p:oleObj r:id="rId17" imgW="7489749" imgH="3427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6" y="4267200"/>
                        <a:ext cx="77755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2667000" y="4800600"/>
          <a:ext cx="281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r:id="rId19" imgW="2627759" imgH="342751" progId="">
                  <p:embed/>
                </p:oleObj>
              </mc:Choice>
              <mc:Fallback>
                <p:oleObj r:id="rId19" imgW="2627759" imgH="3427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00600"/>
                        <a:ext cx="281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792899"/>
              </p:ext>
            </p:extLst>
          </p:nvPr>
        </p:nvGraphicFramePr>
        <p:xfrm>
          <a:off x="2295330" y="5276850"/>
          <a:ext cx="3457769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公式" r:id="rId21" imgW="1676160" imgH="203040" progId="Equation.3">
                  <p:embed/>
                </p:oleObj>
              </mc:Choice>
              <mc:Fallback>
                <p:oleObj name="公式" r:id="rId21" imgW="1676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330" y="5276850"/>
                        <a:ext cx="3457769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485020"/>
              </p:ext>
            </p:extLst>
          </p:nvPr>
        </p:nvGraphicFramePr>
        <p:xfrm>
          <a:off x="6556570" y="5257800"/>
          <a:ext cx="349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8" r:id="rId23" imgW="3489471" imgH="406048" progId="">
                  <p:embed/>
                </p:oleObj>
              </mc:Choice>
              <mc:Fallback>
                <p:oleObj r:id="rId23" imgW="3489471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570" y="5257800"/>
                        <a:ext cx="3492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2667000" y="5867400"/>
          <a:ext cx="433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9" r:id="rId25" imgW="4328821" imgH="393529" progId="">
                  <p:embed/>
                </p:oleObj>
              </mc:Choice>
              <mc:Fallback>
                <p:oleObj r:id="rId25" imgW="4328821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867400"/>
                        <a:ext cx="4330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711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311642"/>
              </p:ext>
            </p:extLst>
          </p:nvPr>
        </p:nvGraphicFramePr>
        <p:xfrm>
          <a:off x="1092721" y="653247"/>
          <a:ext cx="5484946" cy="48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7" name="公式" r:id="rId3" imgW="2158920" imgH="203040" progId="Equation.3">
                  <p:embed/>
                </p:oleObj>
              </mc:Choice>
              <mc:Fallback>
                <p:oleObj name="公式" r:id="rId3" imgW="2158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721" y="653247"/>
                        <a:ext cx="5484946" cy="48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420922"/>
              </p:ext>
            </p:extLst>
          </p:nvPr>
        </p:nvGraphicFramePr>
        <p:xfrm>
          <a:off x="2908299" y="1160463"/>
          <a:ext cx="1665827" cy="778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8" name="公式" r:id="rId5" imgW="977760" imgH="457200" progId="Equation.3">
                  <p:embed/>
                </p:oleObj>
              </mc:Choice>
              <mc:Fallback>
                <p:oleObj name="公式" r:id="rId5" imgW="977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299" y="1160463"/>
                        <a:ext cx="1665827" cy="778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44951"/>
              </p:ext>
            </p:extLst>
          </p:nvPr>
        </p:nvGraphicFramePr>
        <p:xfrm>
          <a:off x="4525963" y="1187450"/>
          <a:ext cx="1342752" cy="895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9" name="公式" r:id="rId7" imgW="799920" imgH="533160" progId="Equation.3">
                  <p:embed/>
                </p:oleObj>
              </mc:Choice>
              <mc:Fallback>
                <p:oleObj name="公式" r:id="rId7" imgW="79992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1187450"/>
                        <a:ext cx="1342752" cy="895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855096"/>
              </p:ext>
            </p:extLst>
          </p:nvPr>
        </p:nvGraphicFramePr>
        <p:xfrm>
          <a:off x="3131187" y="2039840"/>
          <a:ext cx="3112295" cy="73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0" name="公式" r:id="rId9" imgW="2031840" imgH="482400" progId="Equation.3">
                  <p:embed/>
                </p:oleObj>
              </mc:Choice>
              <mc:Fallback>
                <p:oleObj name="公式" r:id="rId9" imgW="20318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187" y="2039840"/>
                        <a:ext cx="3112295" cy="739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254972"/>
              </p:ext>
            </p:extLst>
          </p:nvPr>
        </p:nvGraphicFramePr>
        <p:xfrm>
          <a:off x="2791777" y="4934347"/>
          <a:ext cx="1276370" cy="665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1" name="公式" r:id="rId11" imgW="876240" imgH="457200" progId="Equation.3">
                  <p:embed/>
                </p:oleObj>
              </mc:Choice>
              <mc:Fallback>
                <p:oleObj name="公式" r:id="rId11" imgW="876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777" y="4934347"/>
                        <a:ext cx="1276370" cy="665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936197"/>
              </p:ext>
            </p:extLst>
          </p:nvPr>
        </p:nvGraphicFramePr>
        <p:xfrm>
          <a:off x="2916284" y="5698251"/>
          <a:ext cx="2819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" r:id="rId13" imgW="2818177" imgH="799753" progId="">
                  <p:embed/>
                </p:oleObj>
              </mc:Choice>
              <mc:Fallback>
                <p:oleObj r:id="rId13" imgW="2818177" imgH="7997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84" y="5698251"/>
                        <a:ext cx="2819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424549" y="5754980"/>
            <a:ext cx="2579491" cy="743371"/>
            <a:chOff x="6615502" y="5532303"/>
            <a:chExt cx="2579491" cy="743371"/>
          </a:xfrm>
        </p:grpSpPr>
        <p:sp>
          <p:nvSpPr>
            <p:cNvPr id="8" name="文本框 7"/>
            <p:cNvSpPr txBox="1"/>
            <p:nvPr/>
          </p:nvSpPr>
          <p:spPr>
            <a:xfrm>
              <a:off x="7131711" y="5532303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FR</a:t>
              </a:r>
              <a:r>
                <a:rPr lang="zh-CN" altLang="en-US" dirty="0"/>
                <a:t>算法</a:t>
              </a:r>
              <a:r>
                <a:rPr lang="en-US" altLang="zh-CN" dirty="0"/>
                <a:t>(</a:t>
              </a:r>
              <a:r>
                <a:rPr lang="zh-CN" altLang="en-US" dirty="0"/>
                <a:t>最常用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12" name="右箭头 11"/>
            <p:cNvSpPr/>
            <p:nvPr/>
          </p:nvSpPr>
          <p:spPr>
            <a:xfrm flipH="1">
              <a:off x="6615502" y="5716969"/>
              <a:ext cx="2579491" cy="5587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046260" y="2974952"/>
                <a:ext cx="3822455" cy="347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260" y="2974952"/>
                <a:ext cx="3822455" cy="347403"/>
              </a:xfrm>
              <a:prstGeom prst="rect">
                <a:avLst/>
              </a:prstGeom>
              <a:blipFill>
                <a:blip r:embed="rId15"/>
                <a:stretch>
                  <a:fillRect b="-175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569197"/>
              </p:ext>
            </p:extLst>
          </p:nvPr>
        </p:nvGraphicFramePr>
        <p:xfrm>
          <a:off x="2747963" y="3406775"/>
          <a:ext cx="21748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" name="公式" r:id="rId16" imgW="1396800" imgH="939600" progId="Equation.3">
                  <p:embed/>
                </p:oleObj>
              </mc:Choice>
              <mc:Fallback>
                <p:oleObj name="公式" r:id="rId16" imgW="1396800" imgH="939600" progId="Equation.3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3406775"/>
                        <a:ext cx="217487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05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2"/>
          <p:cNvSpPr txBox="1">
            <a:spLocks/>
          </p:cNvSpPr>
          <p:nvPr/>
        </p:nvSpPr>
        <p:spPr>
          <a:xfrm>
            <a:off x="152400" y="152401"/>
            <a:ext cx="10515600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共轭梯度法</a:t>
            </a:r>
            <a:endParaRPr lang="zh-CN" altLang="en-US" dirty="0"/>
          </a:p>
        </p:txBody>
      </p:sp>
      <p:pic>
        <p:nvPicPr>
          <p:cNvPr id="27652" name="Picture 4" descr="https://upload.wikimedia.org/wikipedia/commons/thumb/b/bf/Conjugate_gradient_illustration.svg/800px-Conjugate_gradient_illustrat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85382" y="98973"/>
            <a:ext cx="4600454" cy="683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4383025" y="6173260"/>
            <a:ext cx="3873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3"/>
              </a:rPr>
              <a:t>Conjugate gradient method - Wikipedia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8323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86245" y="645880"/>
            <a:ext cx="10515600" cy="5458506"/>
          </a:xfrm>
        </p:spPr>
        <p:txBody>
          <a:bodyPr/>
          <a:lstStyle/>
          <a:p>
            <a:r>
              <a:rPr lang="zh-CN" altLang="en-US" dirty="0"/>
              <a:t>共轭梯度算法步骤：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925828"/>
              </p:ext>
            </p:extLst>
          </p:nvPr>
        </p:nvGraphicFramePr>
        <p:xfrm>
          <a:off x="1271092" y="1457325"/>
          <a:ext cx="6165695" cy="520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3" r:id="rId3" imgW="4658878" imgH="393529" progId="">
                  <p:embed/>
                </p:oleObj>
              </mc:Choice>
              <mc:Fallback>
                <p:oleObj r:id="rId3" imgW="4658878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092" y="1457325"/>
                        <a:ext cx="6165695" cy="520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288371"/>
              </p:ext>
            </p:extLst>
          </p:nvPr>
        </p:nvGraphicFramePr>
        <p:xfrm>
          <a:off x="1258392" y="2062825"/>
          <a:ext cx="8400125" cy="53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4" r:id="rId5" imgW="6344493" imgH="406048" progId="">
                  <p:embed/>
                </p:oleObj>
              </mc:Choice>
              <mc:Fallback>
                <p:oleObj r:id="rId5" imgW="6344493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392" y="2062825"/>
                        <a:ext cx="8400125" cy="53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877297"/>
              </p:ext>
            </p:extLst>
          </p:nvPr>
        </p:nvGraphicFramePr>
        <p:xfrm>
          <a:off x="1486993" y="2647025"/>
          <a:ext cx="9928948" cy="53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" r:id="rId7" imgW="7499190" imgH="406048" progId="">
                  <p:embed/>
                </p:oleObj>
              </mc:Choice>
              <mc:Fallback>
                <p:oleObj r:id="rId7" imgW="7499190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993" y="2647025"/>
                        <a:ext cx="9928948" cy="53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72750"/>
              </p:ext>
            </p:extLst>
          </p:nvPr>
        </p:nvGraphicFramePr>
        <p:xfrm>
          <a:off x="1194893" y="3358225"/>
          <a:ext cx="9676944" cy="53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6" r:id="rId9" imgW="7308856" imgH="406048" progId="">
                  <p:embed/>
                </p:oleObj>
              </mc:Choice>
              <mc:Fallback>
                <p:oleObj r:id="rId9" imgW="7308856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893" y="3358225"/>
                        <a:ext cx="9676944" cy="53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50350"/>
              </p:ext>
            </p:extLst>
          </p:nvPr>
        </p:nvGraphicFramePr>
        <p:xfrm>
          <a:off x="1423493" y="4044025"/>
          <a:ext cx="9122536" cy="53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" r:id="rId11" imgW="6890119" imgH="406048" progId="">
                  <p:embed/>
                </p:oleObj>
              </mc:Choice>
              <mc:Fallback>
                <p:oleObj r:id="rId11" imgW="6890119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493" y="4044025"/>
                        <a:ext cx="9122536" cy="53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481214"/>
              </p:ext>
            </p:extLst>
          </p:nvPr>
        </p:nvGraphicFramePr>
        <p:xfrm>
          <a:off x="1194893" y="5110825"/>
          <a:ext cx="8702530" cy="53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8" r:id="rId13" imgW="6572894" imgH="406048" progId="">
                  <p:embed/>
                </p:oleObj>
              </mc:Choice>
              <mc:Fallback>
                <p:oleObj r:id="rId13" imgW="6572894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893" y="5110825"/>
                        <a:ext cx="8702530" cy="53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540352"/>
              </p:ext>
            </p:extLst>
          </p:nvPr>
        </p:nvGraphicFramePr>
        <p:xfrm>
          <a:off x="1423492" y="4636026"/>
          <a:ext cx="1982431" cy="453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" r:id="rId15" imgW="1498600" imgH="342900" progId="">
                  <p:embed/>
                </p:oleObj>
              </mc:Choice>
              <mc:Fallback>
                <p:oleObj r:id="rId15" imgW="1498600" imgH="3429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492" y="4636026"/>
                        <a:ext cx="1982431" cy="453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65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6866" name="Picture 2" descr="https://img-blog.csdnimg.cn/b660a81bef924f399fe5b039a29c7bca.png#pic_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7" y="1111526"/>
            <a:ext cx="10156825" cy="494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859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</a:t>
            </a:r>
            <a:r>
              <a:rPr lang="zh-CN" altLang="en-US" sz="2000" dirty="0"/>
              <a:t>用共轭梯度法</a:t>
            </a:r>
            <a:r>
              <a:rPr lang="en-US" altLang="zh-CN" sz="2000" dirty="0"/>
              <a:t>(FR)</a:t>
            </a:r>
            <a:r>
              <a:rPr lang="zh-CN" altLang="en-US" sz="2000" dirty="0"/>
              <a:t>求解下列函数</a:t>
            </a:r>
            <a:endParaRPr lang="zh-CN" altLang="en-US" dirty="0"/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066005"/>
              </p:ext>
            </p:extLst>
          </p:nvPr>
        </p:nvGraphicFramePr>
        <p:xfrm>
          <a:off x="5494519" y="786575"/>
          <a:ext cx="226218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name="公式" r:id="rId3" imgW="1434960" imgH="241200" progId="Equation.3">
                  <p:embed/>
                </p:oleObj>
              </mc:Choice>
              <mc:Fallback>
                <p:oleObj name="公式" r:id="rId3" imgW="14349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519" y="786575"/>
                        <a:ext cx="2262187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531693"/>
              </p:ext>
            </p:extLst>
          </p:nvPr>
        </p:nvGraphicFramePr>
        <p:xfrm>
          <a:off x="7938009" y="807795"/>
          <a:ext cx="3234488" cy="41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2" r:id="rId5" imgW="3046678" imgH="393529" progId="">
                  <p:embed/>
                </p:oleObj>
              </mc:Choice>
              <mc:Fallback>
                <p:oleObj r:id="rId5" imgW="3046678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8009" y="807795"/>
                        <a:ext cx="3234488" cy="41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850401"/>
              </p:ext>
            </p:extLst>
          </p:nvPr>
        </p:nvGraphicFramePr>
        <p:xfrm>
          <a:off x="1400175" y="1650125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r:id="rId7" imgW="393700" imgH="304800" progId="">
                  <p:embed/>
                </p:oleObj>
              </mc:Choice>
              <mc:Fallback>
                <p:oleObj r:id="rId7" imgW="393700" imgH="304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1650125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110116"/>
              </p:ext>
            </p:extLst>
          </p:nvPr>
        </p:nvGraphicFramePr>
        <p:xfrm>
          <a:off x="2876550" y="2310525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r:id="rId9" imgW="2475426" imgH="406224" progId="">
                  <p:embed/>
                </p:oleObj>
              </mc:Choice>
              <mc:Fallback>
                <p:oleObj r:id="rId9" imgW="2475426" imgH="406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2310525"/>
                        <a:ext cx="247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431847"/>
              </p:ext>
            </p:extLst>
          </p:nvPr>
        </p:nvGraphicFramePr>
        <p:xfrm>
          <a:off x="2286000" y="2945525"/>
          <a:ext cx="146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r:id="rId11" imgW="1460500" imgH="342900" progId="">
                  <p:embed/>
                </p:oleObj>
              </mc:Choice>
              <mc:Fallback>
                <p:oleObj r:id="rId11" imgW="1460500" imgH="3429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45525"/>
                        <a:ext cx="1460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635852"/>
              </p:ext>
            </p:extLst>
          </p:nvPr>
        </p:nvGraphicFramePr>
        <p:xfrm>
          <a:off x="2273300" y="3326525"/>
          <a:ext cx="353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r:id="rId13" imgW="3527538" imgH="406048" progId="">
                  <p:embed/>
                </p:oleObj>
              </mc:Choice>
              <mc:Fallback>
                <p:oleObj r:id="rId13" imgW="3527538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3326525"/>
                        <a:ext cx="353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677484"/>
              </p:ext>
            </p:extLst>
          </p:nvPr>
        </p:nvGraphicFramePr>
        <p:xfrm>
          <a:off x="3048000" y="3783725"/>
          <a:ext cx="198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7" r:id="rId15" imgW="1981200" imgH="812800" progId="">
                  <p:embed/>
                </p:oleObj>
              </mc:Choice>
              <mc:Fallback>
                <p:oleObj r:id="rId15" imgW="1981200" imgH="812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83725"/>
                        <a:ext cx="198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118865"/>
              </p:ext>
            </p:extLst>
          </p:nvPr>
        </p:nvGraphicFramePr>
        <p:xfrm>
          <a:off x="1906691" y="1357281"/>
          <a:ext cx="7997618" cy="955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8" name="公式" r:id="rId17" imgW="3504960" imgH="419040" progId="Equation.3">
                  <p:embed/>
                </p:oleObj>
              </mc:Choice>
              <mc:Fallback>
                <p:oleObj name="公式" r:id="rId17" imgW="3504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691" y="1357281"/>
                        <a:ext cx="7997618" cy="955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250015"/>
              </p:ext>
            </p:extLst>
          </p:nvPr>
        </p:nvGraphicFramePr>
        <p:xfrm>
          <a:off x="9591675" y="1433350"/>
          <a:ext cx="1790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9" r:id="rId19" imgW="1791478" imgH="749625" progId="">
                  <p:embed/>
                </p:oleObj>
              </mc:Choice>
              <mc:Fallback>
                <p:oleObj r:id="rId19" imgW="1791478" imgH="7496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1675" y="1433350"/>
                        <a:ext cx="17907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67869"/>
              </p:ext>
            </p:extLst>
          </p:nvPr>
        </p:nvGraphicFramePr>
        <p:xfrm>
          <a:off x="2286000" y="4012325"/>
          <a:ext cx="304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0" r:id="rId21" imgW="304800" imgH="292100" progId="">
                  <p:embed/>
                </p:oleObj>
              </mc:Choice>
              <mc:Fallback>
                <p:oleObj r:id="rId21" imgW="304800" imgH="2921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12325"/>
                        <a:ext cx="304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227467"/>
              </p:ext>
            </p:extLst>
          </p:nvPr>
        </p:nvGraphicFramePr>
        <p:xfrm>
          <a:off x="3378200" y="4545725"/>
          <a:ext cx="2946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1" r:id="rId23" imgW="2946400" imgH="1511300" progId="">
                  <p:embed/>
                </p:oleObj>
              </mc:Choice>
              <mc:Fallback>
                <p:oleObj r:id="rId23" imgW="2946400" imgH="15113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545725"/>
                        <a:ext cx="29464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117673"/>
              </p:ext>
            </p:extLst>
          </p:nvPr>
        </p:nvGraphicFramePr>
        <p:xfrm>
          <a:off x="6477000" y="4964825"/>
          <a:ext cx="533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2" r:id="rId25" imgW="533400" imgH="647700" progId="">
                  <p:embed/>
                </p:oleObj>
              </mc:Choice>
              <mc:Fallback>
                <p:oleObj r:id="rId25" imgW="5334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964825"/>
                        <a:ext cx="533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240014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945209"/>
              </p:ext>
            </p:extLst>
          </p:nvPr>
        </p:nvGraphicFramePr>
        <p:xfrm>
          <a:off x="2336800" y="903888"/>
          <a:ext cx="292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0" r:id="rId3" imgW="2918467" imgH="406048" progId="">
                  <p:embed/>
                </p:oleObj>
              </mc:Choice>
              <mc:Fallback>
                <p:oleObj r:id="rId3" imgW="2918467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903888"/>
                        <a:ext cx="2921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077395"/>
              </p:ext>
            </p:extLst>
          </p:nvPr>
        </p:nvGraphicFramePr>
        <p:xfrm>
          <a:off x="3644900" y="1361088"/>
          <a:ext cx="2794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1" r:id="rId5" imgW="2794000" imgH="647700" progId="">
                  <p:embed/>
                </p:oleObj>
              </mc:Choice>
              <mc:Fallback>
                <p:oleObj r:id="rId5" imgW="27940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1361088"/>
                        <a:ext cx="2794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093608"/>
              </p:ext>
            </p:extLst>
          </p:nvPr>
        </p:nvGraphicFramePr>
        <p:xfrm>
          <a:off x="6553200" y="1388019"/>
          <a:ext cx="1282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2" r:id="rId7" imgW="1283257" imgH="647981" progId="">
                  <p:embed/>
                </p:oleObj>
              </mc:Choice>
              <mc:Fallback>
                <p:oleObj r:id="rId7" imgW="1283257" imgH="64798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388019"/>
                        <a:ext cx="1282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925622"/>
              </p:ext>
            </p:extLst>
          </p:nvPr>
        </p:nvGraphicFramePr>
        <p:xfrm>
          <a:off x="2374900" y="1970688"/>
          <a:ext cx="143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3" r:id="rId9" imgW="1435100" imgH="342900" progId="">
                  <p:embed/>
                </p:oleObj>
              </mc:Choice>
              <mc:Fallback>
                <p:oleObj r:id="rId9" imgW="1435100" imgH="3429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1970688"/>
                        <a:ext cx="1435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448387"/>
              </p:ext>
            </p:extLst>
          </p:nvPr>
        </p:nvGraphicFramePr>
        <p:xfrm>
          <a:off x="2425700" y="2351688"/>
          <a:ext cx="2222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4" r:id="rId11" imgW="2223465" imgH="647981" progId="">
                  <p:embed/>
                </p:oleObj>
              </mc:Choice>
              <mc:Fallback>
                <p:oleObj r:id="rId11" imgW="2223465" imgH="64798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2351688"/>
                        <a:ext cx="2222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937950"/>
              </p:ext>
            </p:extLst>
          </p:nvPr>
        </p:nvGraphicFramePr>
        <p:xfrm>
          <a:off x="2438400" y="3037488"/>
          <a:ext cx="1778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5" r:id="rId13" imgW="1778000" imgH="800100" progId="">
                  <p:embed/>
                </p:oleObj>
              </mc:Choice>
              <mc:Fallback>
                <p:oleObj r:id="rId13" imgW="1778000" imgH="8001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037488"/>
                        <a:ext cx="1778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59057"/>
              </p:ext>
            </p:extLst>
          </p:nvPr>
        </p:nvGraphicFramePr>
        <p:xfrm>
          <a:off x="4267200" y="2808888"/>
          <a:ext cx="2514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6" r:id="rId15" imgW="2514600" imgH="977900" progId="">
                  <p:embed/>
                </p:oleObj>
              </mc:Choice>
              <mc:Fallback>
                <p:oleObj r:id="rId15" imgW="2514600" imgH="9779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808888"/>
                        <a:ext cx="2514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971383"/>
              </p:ext>
            </p:extLst>
          </p:nvPr>
        </p:nvGraphicFramePr>
        <p:xfrm>
          <a:off x="2438400" y="4028088"/>
          <a:ext cx="260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7" r:id="rId17" imgW="2601242" imgH="406048" progId="">
                  <p:embed/>
                </p:oleObj>
              </mc:Choice>
              <mc:Fallback>
                <p:oleObj r:id="rId17" imgW="2601242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28088"/>
                        <a:ext cx="2603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382000"/>
              </p:ext>
            </p:extLst>
          </p:nvPr>
        </p:nvGraphicFramePr>
        <p:xfrm>
          <a:off x="3365500" y="4713888"/>
          <a:ext cx="3187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8" r:id="rId19" imgW="3187700" imgH="647700" progId="">
                  <p:embed/>
                </p:oleObj>
              </mc:Choice>
              <mc:Fallback>
                <p:oleObj r:id="rId19" imgW="31877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4713888"/>
                        <a:ext cx="3187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646696"/>
              </p:ext>
            </p:extLst>
          </p:nvPr>
        </p:nvGraphicFramePr>
        <p:xfrm>
          <a:off x="3352800" y="5475888"/>
          <a:ext cx="1524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9" r:id="rId21" imgW="1524662" imgH="647981" progId="">
                  <p:embed/>
                </p:oleObj>
              </mc:Choice>
              <mc:Fallback>
                <p:oleObj r:id="rId21" imgW="1524662" imgH="64798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75888"/>
                        <a:ext cx="1524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25165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912847"/>
              </p:ext>
            </p:extLst>
          </p:nvPr>
        </p:nvGraphicFramePr>
        <p:xfrm>
          <a:off x="2362200" y="685794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2" r:id="rId3" imgW="2437342" imgH="812447" progId="">
                  <p:embed/>
                </p:oleObj>
              </mc:Choice>
              <mc:Fallback>
                <p:oleObj r:id="rId3" imgW="2437342" imgH="81244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85794"/>
                        <a:ext cx="2438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989253"/>
              </p:ext>
            </p:extLst>
          </p:nvPr>
        </p:nvGraphicFramePr>
        <p:xfrm>
          <a:off x="3060700" y="1600194"/>
          <a:ext cx="33401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3" r:id="rId5" imgW="3340100" imgH="1511300" progId="">
                  <p:embed/>
                </p:oleObj>
              </mc:Choice>
              <mc:Fallback>
                <p:oleObj r:id="rId5" imgW="3340100" imgH="15113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600194"/>
                        <a:ext cx="33401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057771"/>
              </p:ext>
            </p:extLst>
          </p:nvPr>
        </p:nvGraphicFramePr>
        <p:xfrm>
          <a:off x="6553200" y="2019294"/>
          <a:ext cx="546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4" r:id="rId7" imgW="546100" imgH="647700" progId="">
                  <p:embed/>
                </p:oleObj>
              </mc:Choice>
              <mc:Fallback>
                <p:oleObj r:id="rId7" imgW="5461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019294"/>
                        <a:ext cx="546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100450"/>
              </p:ext>
            </p:extLst>
          </p:nvPr>
        </p:nvGraphicFramePr>
        <p:xfrm>
          <a:off x="2362200" y="3403594"/>
          <a:ext cx="261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5" r:id="rId9" imgW="2613931" imgH="406048" progId="">
                  <p:embed/>
                </p:oleObj>
              </mc:Choice>
              <mc:Fallback>
                <p:oleObj r:id="rId9" imgW="2613931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403594"/>
                        <a:ext cx="2616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910084"/>
              </p:ext>
            </p:extLst>
          </p:nvPr>
        </p:nvGraphicFramePr>
        <p:xfrm>
          <a:off x="3276600" y="3886194"/>
          <a:ext cx="3327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6" r:id="rId11" imgW="3327400" imgH="647700" progId="">
                  <p:embed/>
                </p:oleObj>
              </mc:Choice>
              <mc:Fallback>
                <p:oleObj r:id="rId11" imgW="33274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86194"/>
                        <a:ext cx="3327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643297"/>
              </p:ext>
            </p:extLst>
          </p:nvPr>
        </p:nvGraphicFramePr>
        <p:xfrm>
          <a:off x="3276600" y="4648194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7" r:id="rId13" imgW="1028700" imgH="393700" progId="">
                  <p:embed/>
                </p:oleObj>
              </mc:Choice>
              <mc:Fallback>
                <p:oleObj r:id="rId13" imgW="1028700" imgH="393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48194"/>
                        <a:ext cx="1028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670827"/>
              </p:ext>
            </p:extLst>
          </p:nvPr>
        </p:nvGraphicFramePr>
        <p:xfrm>
          <a:off x="2362200" y="5257794"/>
          <a:ext cx="177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8" r:id="rId15" imgW="1777229" imgH="406224" progId="">
                  <p:embed/>
                </p:oleObj>
              </mc:Choice>
              <mc:Fallback>
                <p:oleObj r:id="rId15" imgW="1777229" imgH="406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257794"/>
                        <a:ext cx="1778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240772"/>
              </p:ext>
            </p:extLst>
          </p:nvPr>
        </p:nvGraphicFramePr>
        <p:xfrm>
          <a:off x="2362200" y="5867394"/>
          <a:ext cx="292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9" r:id="rId17" imgW="2919733" imgH="393529" progId="">
                  <p:embed/>
                </p:oleObj>
              </mc:Choice>
              <mc:Fallback>
                <p:oleObj r:id="rId17" imgW="2919733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867394"/>
                        <a:ext cx="2921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7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例：用共轭梯度法求解线性方程组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424700" y="1558277"/>
                <a:ext cx="2254848" cy="754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700" y="1558277"/>
                <a:ext cx="2254848" cy="754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114846"/>
              </p:ext>
            </p:extLst>
          </p:nvPr>
        </p:nvGraphicFramePr>
        <p:xfrm>
          <a:off x="7567215" y="649601"/>
          <a:ext cx="3224392" cy="70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7" name="公式" r:id="rId4" imgW="1854000" imgH="406080" progId="Equation.3">
                  <p:embed/>
                </p:oleObj>
              </mc:Choice>
              <mc:Fallback>
                <p:oleObj name="公式" r:id="rId4" imgW="1854000" imgH="406080" progId="Equation.3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215" y="649601"/>
                        <a:ext cx="3224392" cy="70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88841" y="27711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365692"/>
              </p:ext>
            </p:extLst>
          </p:nvPr>
        </p:nvGraphicFramePr>
        <p:xfrm>
          <a:off x="2884949" y="2771191"/>
          <a:ext cx="1490487" cy="101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8" name="公式" r:id="rId6" imgW="1079280" imgH="736560" progId="Equation.3">
                  <p:embed/>
                </p:oleObj>
              </mc:Choice>
              <mc:Fallback>
                <p:oleObj name="公式" r:id="rId6" imgW="1079280" imgH="736560" progId="Equation.3">
                  <p:embed/>
                  <p:pic>
                    <p:nvPicPr>
                      <p:cNvPr id="23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949" y="2771191"/>
                        <a:ext cx="1490487" cy="101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221617"/>
              </p:ext>
            </p:extLst>
          </p:nvPr>
        </p:nvGraphicFramePr>
        <p:xfrm>
          <a:off x="4813380" y="3140524"/>
          <a:ext cx="2653911" cy="45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9" name="公式" r:id="rId8" imgW="1180800" imgH="203040" progId="Equation.3">
                  <p:embed/>
                </p:oleObj>
              </mc:Choice>
              <mc:Fallback>
                <p:oleObj name="公式" r:id="rId8" imgW="1180800" imgH="203040" progId="Equation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80" y="3140524"/>
                        <a:ext cx="2653911" cy="45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335172" y="3984171"/>
            <a:ext cx="1751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次迭代：</a:t>
            </a: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74135"/>
              </p:ext>
            </p:extLst>
          </p:nvPr>
        </p:nvGraphicFramePr>
        <p:xfrm>
          <a:off x="4087081" y="3984171"/>
          <a:ext cx="4146313" cy="42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0" name="公式" r:id="rId10" imgW="2374560" imgH="241200" progId="Equation.3">
                  <p:embed/>
                </p:oleObj>
              </mc:Choice>
              <mc:Fallback>
                <p:oleObj name="公式" r:id="rId10" imgW="2374560" imgH="241200" progId="Equation.3">
                  <p:embed/>
                  <p:pic>
                    <p:nvPicPr>
                      <p:cNvPr id="235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081" y="3984171"/>
                        <a:ext cx="4146313" cy="42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525110" y="1795901"/>
                <a:ext cx="1633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dirty="0"/>
                  <a:t>=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110" y="1795901"/>
                <a:ext cx="1633204" cy="276999"/>
              </a:xfrm>
              <a:prstGeom prst="rect">
                <a:avLst/>
              </a:prstGeom>
              <a:blipFill>
                <a:blip r:embed="rId12"/>
                <a:stretch>
                  <a:fillRect l="-3731" t="-28889" r="-8582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777956"/>
              </p:ext>
            </p:extLst>
          </p:nvPr>
        </p:nvGraphicFramePr>
        <p:xfrm>
          <a:off x="5377218" y="4494967"/>
          <a:ext cx="26130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1" name="公式" r:id="rId13" imgW="1536480" imgH="457200" progId="Equation.3">
                  <p:embed/>
                </p:oleObj>
              </mc:Choice>
              <mc:Fallback>
                <p:oleObj name="公式" r:id="rId13" imgW="1536480" imgH="457200" progId="Equation.3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7218" y="4494967"/>
                        <a:ext cx="26130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81613"/>
              </p:ext>
            </p:extLst>
          </p:nvPr>
        </p:nvGraphicFramePr>
        <p:xfrm>
          <a:off x="4375435" y="5440411"/>
          <a:ext cx="5334585" cy="696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2" name="公式" r:id="rId15" imgW="3111480" imgH="406080" progId="Equation.3">
                  <p:embed/>
                </p:oleObj>
              </mc:Choice>
              <mc:Fallback>
                <p:oleObj name="公式" r:id="rId15" imgW="3111480" imgH="406080" progId="Equation.3">
                  <p:embed/>
                  <p:pic>
                    <p:nvPicPr>
                      <p:cNvPr id="23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435" y="5440411"/>
                        <a:ext cx="5334585" cy="696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24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56674" y="1129004"/>
            <a:ext cx="175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次迭代：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47361"/>
              </p:ext>
            </p:extLst>
          </p:nvPr>
        </p:nvGraphicFramePr>
        <p:xfrm>
          <a:off x="3625635" y="1432497"/>
          <a:ext cx="3264330" cy="697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1" name="公式" r:id="rId3" imgW="1904760" imgH="406080" progId="Equation.3">
                  <p:embed/>
                </p:oleObj>
              </mc:Choice>
              <mc:Fallback>
                <p:oleObj name="公式" r:id="rId3" imgW="1904760" imgH="406080" progId="Equation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635" y="1432497"/>
                        <a:ext cx="3264330" cy="697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125928"/>
              </p:ext>
            </p:extLst>
          </p:nvPr>
        </p:nvGraphicFramePr>
        <p:xfrm>
          <a:off x="3625635" y="2230390"/>
          <a:ext cx="2915124" cy="74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2" name="公式" r:id="rId5" imgW="1790640" imgH="457200" progId="Equation.3">
                  <p:embed/>
                </p:oleObj>
              </mc:Choice>
              <mc:Fallback>
                <p:oleObj name="公式" r:id="rId5" imgW="1790640" imgH="457200" progId="Equation.3">
                  <p:embed/>
                  <p:pic>
                    <p:nvPicPr>
                      <p:cNvPr id="23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635" y="2230390"/>
                        <a:ext cx="2915124" cy="74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86476"/>
              </p:ext>
            </p:extLst>
          </p:nvPr>
        </p:nvGraphicFramePr>
        <p:xfrm>
          <a:off x="3451225" y="3122612"/>
          <a:ext cx="4743778" cy="618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name="公式" r:id="rId7" imgW="3111480" imgH="406080" progId="Equation.3">
                  <p:embed/>
                </p:oleObj>
              </mc:Choice>
              <mc:Fallback>
                <p:oleObj name="公式" r:id="rId7" imgW="3111480" imgH="406080" progId="Equation.3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122612"/>
                        <a:ext cx="4743778" cy="618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792925"/>
              </p:ext>
            </p:extLst>
          </p:nvPr>
        </p:nvGraphicFramePr>
        <p:xfrm>
          <a:off x="3994150" y="3803650"/>
          <a:ext cx="25273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4" name="公式" r:id="rId9" imgW="1485720" imgH="457200" progId="Equation.3">
                  <p:embed/>
                </p:oleObj>
              </mc:Choice>
              <mc:Fallback>
                <p:oleObj name="公式" r:id="rId9" imgW="1485720" imgH="457200" progId="Equation.3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3803650"/>
                        <a:ext cx="25273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471692"/>
              </p:ext>
            </p:extLst>
          </p:nvPr>
        </p:nvGraphicFramePr>
        <p:xfrm>
          <a:off x="3822150" y="4775880"/>
          <a:ext cx="3810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5" name="公式" r:id="rId11" imgW="2222280" imgH="406080" progId="Equation.3">
                  <p:embed/>
                </p:oleObj>
              </mc:Choice>
              <mc:Fallback>
                <p:oleObj name="公式" r:id="rId11" imgW="2222280" imgH="406080" progId="Equation.3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150" y="4775880"/>
                        <a:ext cx="38100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154211"/>
              </p:ext>
            </p:extLst>
          </p:nvPr>
        </p:nvGraphicFramePr>
        <p:xfrm>
          <a:off x="3451225" y="5620786"/>
          <a:ext cx="21764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name="公式" r:id="rId13" imgW="1269720" imgH="241200" progId="Equation.3">
                  <p:embed/>
                </p:oleObj>
              </mc:Choice>
              <mc:Fallback>
                <p:oleObj name="公式" r:id="rId13" imgW="1269720" imgH="241200" progId="Equation.3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5620786"/>
                        <a:ext cx="21764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419461" y="4775880"/>
            <a:ext cx="1212689" cy="695325"/>
          </a:xfrm>
          <a:prstGeom prst="rect">
            <a:avLst/>
          </a:prstGeom>
          <a:noFill/>
          <a:ln w="28575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8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838200" y="769746"/>
            <a:ext cx="10515600" cy="5458506"/>
          </a:xfrm>
        </p:spPr>
        <p:txBody>
          <a:bodyPr/>
          <a:lstStyle/>
          <a:p>
            <a:r>
              <a:rPr lang="zh-CN" altLang="en-US" dirty="0"/>
              <a:t>用于一般函数的共轭梯度法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444235"/>
              </p:ext>
            </p:extLst>
          </p:nvPr>
        </p:nvGraphicFramePr>
        <p:xfrm>
          <a:off x="3365937" y="1529252"/>
          <a:ext cx="1460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5" r:id="rId3" imgW="1460500" imgH="774700" progId="">
                  <p:embed/>
                </p:oleObj>
              </mc:Choice>
              <mc:Fallback>
                <p:oleObj r:id="rId3" imgW="1460500" imgH="774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937" y="1529252"/>
                        <a:ext cx="1460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802168"/>
              </p:ext>
            </p:extLst>
          </p:nvPr>
        </p:nvGraphicFramePr>
        <p:xfrm>
          <a:off x="1981636" y="2468134"/>
          <a:ext cx="7210577" cy="52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6" name="公式" r:id="rId5" imgW="2628720" imgH="190440" progId="Equation.3">
                  <p:embed/>
                </p:oleObj>
              </mc:Choice>
              <mc:Fallback>
                <p:oleObj name="公式" r:id="rId5" imgW="26287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636" y="2468134"/>
                        <a:ext cx="7210577" cy="52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340773"/>
              </p:ext>
            </p:extLst>
          </p:nvPr>
        </p:nvGraphicFramePr>
        <p:xfrm>
          <a:off x="1981637" y="5872652"/>
          <a:ext cx="73421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7" r:id="rId7" imgW="7067765" imgH="355292" progId="">
                  <p:embed/>
                </p:oleObj>
              </mc:Choice>
              <mc:Fallback>
                <p:oleObj r:id="rId7" imgW="7067765" imgH="3552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637" y="5872652"/>
                        <a:ext cx="73421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478908"/>
              </p:ext>
            </p:extLst>
          </p:nvPr>
        </p:nvGraphicFramePr>
        <p:xfrm>
          <a:off x="1994337" y="3129452"/>
          <a:ext cx="74787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8" r:id="rId9" imgW="6956581" imgH="393529" progId="">
                  <p:embed/>
                </p:oleObj>
              </mc:Choice>
              <mc:Fallback>
                <p:oleObj r:id="rId9" imgW="6956581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337" y="3129452"/>
                        <a:ext cx="74787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856428"/>
              </p:ext>
            </p:extLst>
          </p:nvPr>
        </p:nvGraphicFramePr>
        <p:xfrm>
          <a:off x="2375337" y="3739052"/>
          <a:ext cx="3200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9" r:id="rId11" imgW="3096112" imgH="317225" progId="">
                  <p:embed/>
                </p:oleObj>
              </mc:Choice>
              <mc:Fallback>
                <p:oleObj r:id="rId11" imgW="3096112" imgH="3172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337" y="3739052"/>
                        <a:ext cx="3200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0785"/>
              </p:ext>
            </p:extLst>
          </p:nvPr>
        </p:nvGraphicFramePr>
        <p:xfrm>
          <a:off x="3594537" y="4196252"/>
          <a:ext cx="337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0" r:id="rId13" imgW="3375270" imgH="406048" progId="">
                  <p:embed/>
                </p:oleObj>
              </mc:Choice>
              <mc:Fallback>
                <p:oleObj r:id="rId13" imgW="3375270" imgH="40604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537" y="4196252"/>
                        <a:ext cx="337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33279"/>
              </p:ext>
            </p:extLst>
          </p:nvPr>
        </p:nvGraphicFramePr>
        <p:xfrm>
          <a:off x="2375337" y="4729652"/>
          <a:ext cx="294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1" r:id="rId15" imgW="2946400" imgH="787400" progId="">
                  <p:embed/>
                </p:oleObj>
              </mc:Choice>
              <mc:Fallback>
                <p:oleObj r:id="rId15" imgW="2946400" imgH="787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337" y="4729652"/>
                        <a:ext cx="2946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344574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234134"/>
              </p:ext>
            </p:extLst>
          </p:nvPr>
        </p:nvGraphicFramePr>
        <p:xfrm>
          <a:off x="1296030" y="1165931"/>
          <a:ext cx="9066652" cy="44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8" name="公式" r:id="rId3" imgW="4089240" imgH="203040" progId="Equation.3">
                  <p:embed/>
                </p:oleObj>
              </mc:Choice>
              <mc:Fallback>
                <p:oleObj name="公式" r:id="rId3" imgW="4089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030" y="1165931"/>
                        <a:ext cx="9066652" cy="44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090157"/>
              </p:ext>
            </p:extLst>
          </p:nvPr>
        </p:nvGraphicFramePr>
        <p:xfrm>
          <a:off x="1370013" y="1616456"/>
          <a:ext cx="20526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9" name="公式" r:id="rId5" imgW="850680" imgH="203040" progId="Equation.3">
                  <p:embed/>
                </p:oleObj>
              </mc:Choice>
              <mc:Fallback>
                <p:oleObj name="公式" r:id="rId5" imgW="850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1616456"/>
                        <a:ext cx="20526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343624"/>
              </p:ext>
            </p:extLst>
          </p:nvPr>
        </p:nvGraphicFramePr>
        <p:xfrm>
          <a:off x="2022692" y="2104696"/>
          <a:ext cx="7688867" cy="376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0" r:id="rId7" imgW="6689996" imgH="342751" progId="">
                  <p:embed/>
                </p:oleObj>
              </mc:Choice>
              <mc:Fallback>
                <p:oleObj r:id="rId7" imgW="6689996" imgH="3427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692" y="2104696"/>
                        <a:ext cx="7688867" cy="376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481623"/>
              </p:ext>
            </p:extLst>
          </p:nvPr>
        </p:nvGraphicFramePr>
        <p:xfrm>
          <a:off x="1994834" y="2638096"/>
          <a:ext cx="7875475" cy="348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1" r:id="rId9" imgW="6890119" imgH="317225" progId="">
                  <p:embed/>
                </p:oleObj>
              </mc:Choice>
              <mc:Fallback>
                <p:oleObj r:id="rId9" imgW="6890119" imgH="3172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834" y="2638096"/>
                        <a:ext cx="7875475" cy="348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606989"/>
              </p:ext>
            </p:extLst>
          </p:nvPr>
        </p:nvGraphicFramePr>
        <p:xfrm>
          <a:off x="2041765" y="3247696"/>
          <a:ext cx="7352294" cy="376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2" r:id="rId11" imgW="6689996" imgH="342751" progId="">
                  <p:embed/>
                </p:oleObj>
              </mc:Choice>
              <mc:Fallback>
                <p:oleObj r:id="rId11" imgW="6689996" imgH="3427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765" y="3247696"/>
                        <a:ext cx="7352294" cy="376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800083"/>
              </p:ext>
            </p:extLst>
          </p:nvPr>
        </p:nvGraphicFramePr>
        <p:xfrm>
          <a:off x="1589070" y="4045190"/>
          <a:ext cx="304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3" r:id="rId13" imgW="295429" imgH="285750" progId="">
                  <p:embed/>
                </p:oleObj>
              </mc:Choice>
              <mc:Fallback>
                <p:oleObj r:id="rId13" imgW="295429" imgH="28575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70" y="4045190"/>
                        <a:ext cx="304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894859"/>
              </p:ext>
            </p:extLst>
          </p:nvPr>
        </p:nvGraphicFramePr>
        <p:xfrm>
          <a:off x="2194414" y="4135869"/>
          <a:ext cx="7875465" cy="402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4" r:id="rId15" imgW="6547516" imgH="355292" progId="">
                  <p:embed/>
                </p:oleObj>
              </mc:Choice>
              <mc:Fallback>
                <p:oleObj r:id="rId15" imgW="6547516" imgH="3552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414" y="4135869"/>
                        <a:ext cx="7875465" cy="402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088755"/>
              </p:ext>
            </p:extLst>
          </p:nvPr>
        </p:nvGraphicFramePr>
        <p:xfrm>
          <a:off x="2194414" y="4733596"/>
          <a:ext cx="5650245" cy="87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" r:id="rId17" imgW="5141269" imgH="799753" progId="">
                  <p:embed/>
                </p:oleObj>
              </mc:Choice>
              <mc:Fallback>
                <p:oleObj r:id="rId17" imgW="5141269" imgH="7997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414" y="4733596"/>
                        <a:ext cx="5650245" cy="878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305505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9262"/>
          <a:stretch/>
        </p:blipFill>
        <p:spPr>
          <a:xfrm>
            <a:off x="2264812" y="831216"/>
            <a:ext cx="7075131" cy="53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03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771" y="765543"/>
            <a:ext cx="10685721" cy="5571461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用一般共轭梯度法求解极小值</a:t>
            </a:r>
          </a:p>
          <a:p>
            <a:pPr algn="just">
              <a:buFontTx/>
              <a:buNone/>
            </a:pP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algn="just">
              <a:buFontTx/>
              <a:buNone/>
            </a:pP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algn="just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解：1）第一次迭代沿负梯度方向搜索。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0)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=[1 1]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 2）第二次迭代。求共轭方向 </a:t>
            </a:r>
          </a:p>
        </p:txBody>
      </p:sp>
      <p:graphicFrame>
        <p:nvGraphicFramePr>
          <p:cNvPr id="156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668632"/>
              </p:ext>
            </p:extLst>
          </p:nvPr>
        </p:nvGraphicFramePr>
        <p:xfrm>
          <a:off x="1927317" y="2621961"/>
          <a:ext cx="2057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8" r:id="rId3" imgW="1104900" imgH="381000" progId="Equation.3">
                  <p:embed/>
                </p:oleObj>
              </mc:Choice>
              <mc:Fallback>
                <p:oleObj r:id="rId3" imgW="11049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317" y="2621961"/>
                        <a:ext cx="20574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36602"/>
              </p:ext>
            </p:extLst>
          </p:nvPr>
        </p:nvGraphicFramePr>
        <p:xfrm>
          <a:off x="4397375" y="2565400"/>
          <a:ext cx="16510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9" name="公式" r:id="rId5" imgW="825480" imgH="457200" progId="Equation.3">
                  <p:embed/>
                </p:oleObj>
              </mc:Choice>
              <mc:Fallback>
                <p:oleObj name="公式" r:id="rId5" imgW="825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2565400"/>
                        <a:ext cx="165100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890928"/>
              </p:ext>
            </p:extLst>
          </p:nvPr>
        </p:nvGraphicFramePr>
        <p:xfrm>
          <a:off x="6644225" y="2666411"/>
          <a:ext cx="152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0" r:id="rId7" imgW="812447" imgH="380835" progId="Equation.3">
                  <p:embed/>
                </p:oleObj>
              </mc:Choice>
              <mc:Fallback>
                <p:oleObj r:id="rId7" imgW="812447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4225" y="2666411"/>
                        <a:ext cx="15240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885397"/>
              </p:ext>
            </p:extLst>
          </p:nvPr>
        </p:nvGraphicFramePr>
        <p:xfrm>
          <a:off x="8627758" y="2681886"/>
          <a:ext cx="19812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1" r:id="rId9" imgW="1117600" imgH="381000" progId="Equation.3">
                  <p:embed/>
                </p:oleObj>
              </mc:Choice>
              <mc:Fallback>
                <p:oleObj r:id="rId9" imgW="1117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7758" y="2681886"/>
                        <a:ext cx="1981200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2" name="Rectangle 10"/>
          <p:cNvSpPr>
            <a:spLocks noChangeArrowheads="1"/>
          </p:cNvSpPr>
          <p:nvPr/>
        </p:nvSpPr>
        <p:spPr bwMode="auto">
          <a:xfrm>
            <a:off x="5154613" y="31242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6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7798"/>
              </p:ext>
            </p:extLst>
          </p:nvPr>
        </p:nvGraphicFramePr>
        <p:xfrm>
          <a:off x="2698177" y="3884595"/>
          <a:ext cx="3810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" r:id="rId11" imgW="1879600" imgH="609600" progId="Equation.3">
                  <p:embed/>
                </p:oleObj>
              </mc:Choice>
              <mc:Fallback>
                <p:oleObj r:id="rId11" imgW="18796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177" y="3884595"/>
                        <a:ext cx="3810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4" name="Rectangle 12"/>
          <p:cNvSpPr>
            <a:spLocks noChangeArrowheads="1"/>
          </p:cNvSpPr>
          <p:nvPr/>
        </p:nvSpPr>
        <p:spPr bwMode="auto">
          <a:xfrm>
            <a:off x="4400550" y="32385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6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141487"/>
              </p:ext>
            </p:extLst>
          </p:nvPr>
        </p:nvGraphicFramePr>
        <p:xfrm>
          <a:off x="1987550" y="4999038"/>
          <a:ext cx="7994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" name="公式" r:id="rId13" imgW="3784320" imgH="457200" progId="Equation.3">
                  <p:embed/>
                </p:oleObj>
              </mc:Choice>
              <mc:Fallback>
                <p:oleObj name="公式" r:id="rId13" imgW="3784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4999038"/>
                        <a:ext cx="79946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158" y="803362"/>
            <a:ext cx="4267200" cy="4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121166" y="1518231"/>
            <a:ext cx="51299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其中，已知函数</a:t>
            </a:r>
            <a:r>
              <a:rPr lang="en-US" altLang="zh-CN" sz="2400" b="1" i="1" dirty="0">
                <a:latin typeface="Times New Roman" panose="02020603050405020304" pitchFamily="18" charset="0"/>
                <a:ea typeface="仿宋_GB2312" pitchFamily="49" charset="-122"/>
              </a:rPr>
              <a:t>X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仿宋_GB2312" pitchFamily="49" charset="-122"/>
              </a:rPr>
              <a:t>0)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=[1</a:t>
            </a:r>
            <a:r>
              <a:rPr lang="en-US" altLang="zh-CN" sz="2400" b="1" i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1]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仿宋_GB2312" pitchFamily="49" charset="-12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，ε＝0.1。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pic>
        <p:nvPicPr>
          <p:cNvPr id="14" name="图片 13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153" y="1494621"/>
            <a:ext cx="36576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36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补充：关于例</a:t>
            </a:r>
            <a:r>
              <a:rPr lang="en-US" altLang="zh-CN" dirty="0"/>
              <a:t>2</a:t>
            </a:r>
            <a:r>
              <a:rPr lang="zh-CN" altLang="en-US" dirty="0"/>
              <a:t>第一步求取的</a:t>
            </a:r>
            <a:r>
              <a:rPr lang="en-US" altLang="zh-CN" dirty="0"/>
              <a:t>x</a:t>
            </a:r>
            <a:r>
              <a:rPr lang="en-US" altLang="zh-CN" baseline="30000" dirty="0"/>
              <a:t>1</a:t>
            </a:r>
            <a:r>
              <a:rPr lang="zh-CN" altLang="en-US" dirty="0"/>
              <a:t>值的详细说明：</a:t>
            </a:r>
          </a:p>
        </p:txBody>
      </p:sp>
      <p:sp>
        <p:nvSpPr>
          <p:cNvPr id="5" name="标题 2"/>
          <p:cNvSpPr txBox="1">
            <a:spLocks/>
          </p:cNvSpPr>
          <p:nvPr/>
        </p:nvSpPr>
        <p:spPr>
          <a:xfrm>
            <a:off x="0" y="1"/>
            <a:ext cx="10515600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共轭梯度下降法</a:t>
            </a:r>
          </a:p>
        </p:txBody>
      </p:sp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13090"/>
              </p:ext>
            </p:extLst>
          </p:nvPr>
        </p:nvGraphicFramePr>
        <p:xfrm>
          <a:off x="1198048" y="1884316"/>
          <a:ext cx="7620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2" r:id="rId3" imgW="4305300" imgH="228600" progId="Equation.3">
                  <p:embed/>
                </p:oleObj>
              </mc:Choice>
              <mc:Fallback>
                <p:oleObj r:id="rId3" imgW="4305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048" y="1884316"/>
                        <a:ext cx="7620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549092" y="3906498"/>
            <a:ext cx="7417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宋体" panose="02010600030101010101" pitchFamily="2" charset="-122"/>
              </a:rPr>
              <a:t>对这种简单的一元函数，可以直接用解析法 求极小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057282"/>
              </p:ext>
            </p:extLst>
          </p:nvPr>
        </p:nvGraphicFramePr>
        <p:xfrm>
          <a:off x="2041634" y="4333273"/>
          <a:ext cx="754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3" r:id="rId5" imgW="3683000" imgH="203200" progId="Equation.3">
                  <p:embed/>
                </p:oleObj>
              </mc:Choice>
              <mc:Fallback>
                <p:oleObj r:id="rId5" imgW="36830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634" y="4333273"/>
                        <a:ext cx="7543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095373"/>
              </p:ext>
            </p:extLst>
          </p:nvPr>
        </p:nvGraphicFramePr>
        <p:xfrm>
          <a:off x="2041634" y="4790473"/>
          <a:ext cx="2057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4" r:id="rId7" imgW="863225" imgH="393529" progId="Equation.3">
                  <p:embed/>
                </p:oleObj>
              </mc:Choice>
              <mc:Fallback>
                <p:oleObj r:id="rId7" imgW="86322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634" y="4790473"/>
                        <a:ext cx="2057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231619" y="3115615"/>
                <a:ext cx="3403881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求导公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式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：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num>
                      <m:den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19" y="3115615"/>
                <a:ext cx="3403881" cy="635367"/>
              </a:xfrm>
              <a:prstGeom prst="rect">
                <a:avLst/>
              </a:prstGeom>
              <a:blipFill rotWithShape="0">
                <a:blip r:embed="rId9"/>
                <a:stretch>
                  <a:fillRect l="-2688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300690" y="1899539"/>
            <a:ext cx="977462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742398" y="1922416"/>
            <a:ext cx="977462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340966"/>
              </p:ext>
            </p:extLst>
          </p:nvPr>
        </p:nvGraphicFramePr>
        <p:xfrm>
          <a:off x="4635500" y="4895850"/>
          <a:ext cx="17240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5" name="公式" r:id="rId10" imgW="799920" imgH="393480" progId="Equation.3">
                  <p:embed/>
                </p:oleObj>
              </mc:Choice>
              <mc:Fallback>
                <p:oleObj name="公式" r:id="rId10" imgW="799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4895850"/>
                        <a:ext cx="1724025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394969" y="2534995"/>
                <a:ext cx="623443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baseline="30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69" y="2534995"/>
                <a:ext cx="6234431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1231619" y="1297913"/>
                <a:ext cx="623443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800" b="0" dirty="0"/>
                  <a:t>迭代公式：</a:t>
                </a:r>
                <a:r>
                  <a:rPr lang="en-US" altLang="zh-CN" sz="2800" b="0" dirty="0"/>
                  <a:t>X</a:t>
                </a:r>
                <a:r>
                  <a:rPr lang="en-US" altLang="zh-CN" sz="2800" b="0" baseline="30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b="0" i="1" baseline="30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baseline="30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baseline="30000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619" y="1297913"/>
                <a:ext cx="6234431" cy="430887"/>
              </a:xfrm>
              <a:prstGeom prst="rect">
                <a:avLst/>
              </a:prstGeom>
              <a:blipFill>
                <a:blip r:embed="rId13"/>
                <a:stretch>
                  <a:fillRect l="-3421" t="-25352" b="-49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514545"/>
              </p:ext>
            </p:extLst>
          </p:nvPr>
        </p:nvGraphicFramePr>
        <p:xfrm>
          <a:off x="8258175" y="679450"/>
          <a:ext cx="17018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6" name="公式" r:id="rId14" imgW="850680" imgH="457200" progId="Equation.3">
                  <p:embed/>
                </p:oleObj>
              </mc:Choice>
              <mc:Fallback>
                <p:oleObj name="公式" r:id="rId14" imgW="850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175" y="679450"/>
                        <a:ext cx="170180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9879437" y="909092"/>
            <a:ext cx="1744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0)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=[1 1]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25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 animBg="1"/>
      <p:bldP spid="12" grpId="0" animBg="1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5153" y="698501"/>
            <a:ext cx="10164726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代入原函数</a:t>
            </a:r>
          </a:p>
          <a:p>
            <a:pPr marL="0" indent="0">
              <a:buNone/>
            </a:pPr>
            <a:endParaRPr lang="zh-CN" altLang="en-US" b="1" dirty="0">
              <a:latin typeface="仿宋_GB2312" pitchFamily="49" charset="-122"/>
              <a:ea typeface="仿宋_GB2312" pitchFamily="49" charset="-122"/>
            </a:endParaRPr>
          </a:p>
          <a:p>
            <a:pPr marL="0" indent="0">
              <a:buNone/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对求导，并令其等于零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b="1" dirty="0"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zh-CN" altLang="en-US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解得</a:t>
            </a:r>
          </a:p>
          <a:p>
            <a:pPr marL="0" indent="0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因              所以</a:t>
            </a:r>
            <a:r>
              <a:rPr lang="en-US" altLang="zh-CN" b="1" i="1" dirty="0">
                <a:latin typeface="仿宋_GB2312" pitchFamily="49" charset="-122"/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latin typeface="仿宋_GB2312" pitchFamily="49" charset="-122"/>
                <a:ea typeface="宋体" panose="02010600030101010101" pitchFamily="2" charset="-122"/>
              </a:rPr>
              <a:t>(</a:t>
            </a:r>
            <a:r>
              <a:rPr lang="en-US" altLang="zh-CN" b="1" baseline="30000" dirty="0">
                <a:latin typeface="仿宋_GB2312" pitchFamily="49" charset="-122"/>
                <a:ea typeface="宋体" panose="02010600030101010101" pitchFamily="2" charset="-122"/>
              </a:rPr>
              <a:t>2)</a:t>
            </a:r>
            <a:r>
              <a:rPr lang="en-US" altLang="zh-CN" b="1" i="1" dirty="0">
                <a:latin typeface="仿宋_GB2312" pitchFamily="49" charset="-122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latin typeface="仿宋_GB2312" pitchFamily="49" charset="-122"/>
                <a:ea typeface="宋体" panose="02010600030101010101" pitchFamily="2" charset="-122"/>
              </a:rPr>
              <a:t>[4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仿宋_GB2312" pitchFamily="49" charset="-122"/>
                <a:ea typeface="宋体" panose="02010600030101010101" pitchFamily="2" charset="-122"/>
              </a:rPr>
              <a:t>2]</a:t>
            </a:r>
            <a:r>
              <a:rPr lang="en-US" altLang="zh-CN" b="1" i="1" baseline="30000" dirty="0">
                <a:latin typeface="仿宋_GB2312" pitchFamily="49" charset="-122"/>
                <a:ea typeface="宋体" panose="02010600030101010101" pitchFamily="2" charset="-122"/>
              </a:rPr>
              <a:t>T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         就是所求最优解。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  </a:t>
            </a:r>
          </a:p>
        </p:txBody>
      </p:sp>
      <p:graphicFrame>
        <p:nvGraphicFramePr>
          <p:cNvPr id="158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76169"/>
              </p:ext>
            </p:extLst>
          </p:nvPr>
        </p:nvGraphicFramePr>
        <p:xfrm>
          <a:off x="2935288" y="744538"/>
          <a:ext cx="73787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1" name="公式" r:id="rId3" imgW="3644640" imgH="457200" progId="Equation.3">
                  <p:embed/>
                </p:oleObj>
              </mc:Choice>
              <mc:Fallback>
                <p:oleObj name="公式" r:id="rId3" imgW="3644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744538"/>
                        <a:ext cx="73787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3529013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728633"/>
              </p:ext>
            </p:extLst>
          </p:nvPr>
        </p:nvGraphicFramePr>
        <p:xfrm>
          <a:off x="1733108" y="1921395"/>
          <a:ext cx="856500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2" r:id="rId5" imgW="4851400" imgH="228600" progId="Equation.3">
                  <p:embed/>
                </p:oleObj>
              </mc:Choice>
              <mc:Fallback>
                <p:oleObj r:id="rId5" imgW="4851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108" y="1921395"/>
                        <a:ext cx="8565006" cy="533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8" name="Rectangle 8"/>
          <p:cNvSpPr>
            <a:spLocks noChangeArrowheads="1"/>
          </p:cNvSpPr>
          <p:nvPr/>
        </p:nvSpPr>
        <p:spPr bwMode="auto">
          <a:xfrm>
            <a:off x="3905250" y="33258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530812"/>
              </p:ext>
            </p:extLst>
          </p:nvPr>
        </p:nvGraphicFramePr>
        <p:xfrm>
          <a:off x="2316162" y="3210958"/>
          <a:ext cx="831889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3" r:id="rId7" imgW="4140200" imgH="203200" progId="Equation.3">
                  <p:embed/>
                </p:oleObj>
              </mc:Choice>
              <mc:Fallback>
                <p:oleObj r:id="rId7" imgW="4140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2" y="3210958"/>
                        <a:ext cx="8318898" cy="457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0" name="Rectangle 10"/>
          <p:cNvSpPr>
            <a:spLocks noChangeArrowheads="1"/>
          </p:cNvSpPr>
          <p:nvPr/>
        </p:nvSpPr>
        <p:spPr bwMode="auto">
          <a:xfrm>
            <a:off x="5916613" y="33416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8732" name="Rectangle 12"/>
          <p:cNvSpPr>
            <a:spLocks noChangeArrowheads="1"/>
          </p:cNvSpPr>
          <p:nvPr/>
        </p:nvSpPr>
        <p:spPr bwMode="auto">
          <a:xfrm>
            <a:off x="5916613" y="33416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007139"/>
              </p:ext>
            </p:extLst>
          </p:nvPr>
        </p:nvGraphicFramePr>
        <p:xfrm>
          <a:off x="2413823" y="3892907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4" r:id="rId9" imgW="355138" imgH="177569" progId="Equation.3">
                  <p:embed/>
                </p:oleObj>
              </mc:Choice>
              <mc:Fallback>
                <p:oleObj r:id="rId9" imgW="355138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823" y="3892907"/>
                        <a:ext cx="914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4" name="Rectangle 14"/>
          <p:cNvSpPr>
            <a:spLocks noChangeArrowheads="1"/>
          </p:cNvSpPr>
          <p:nvPr/>
        </p:nvSpPr>
        <p:spPr bwMode="auto">
          <a:xfrm>
            <a:off x="5726113" y="32385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968569"/>
              </p:ext>
            </p:extLst>
          </p:nvPr>
        </p:nvGraphicFramePr>
        <p:xfrm>
          <a:off x="4109524" y="3791050"/>
          <a:ext cx="16002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5" r:id="rId11" imgW="736600" imgH="381000" progId="Equation.3">
                  <p:embed/>
                </p:oleObj>
              </mc:Choice>
              <mc:Fallback>
                <p:oleObj r:id="rId11" imgW="736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524" y="3791050"/>
                        <a:ext cx="16002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6" name="Rectangle 16"/>
          <p:cNvSpPr>
            <a:spLocks noChangeArrowheads="1"/>
          </p:cNvSpPr>
          <p:nvPr/>
        </p:nvSpPr>
        <p:spPr bwMode="auto">
          <a:xfrm>
            <a:off x="564673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700708"/>
              </p:ext>
            </p:extLst>
          </p:nvPr>
        </p:nvGraphicFramePr>
        <p:xfrm>
          <a:off x="6015611" y="3838001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6" r:id="rId13" imgW="901309" imgH="228501" progId="Equation.3">
                  <p:embed/>
                </p:oleObj>
              </mc:Choice>
              <mc:Fallback>
                <p:oleObj r:id="rId13" imgW="90130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611" y="3838001"/>
                        <a:ext cx="1676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8" name="Rectangle 18"/>
          <p:cNvSpPr>
            <a:spLocks noChangeArrowheads="1"/>
          </p:cNvSpPr>
          <p:nvPr/>
        </p:nvSpPr>
        <p:spPr bwMode="auto">
          <a:xfrm>
            <a:off x="5581650" y="32385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062993"/>
              </p:ext>
            </p:extLst>
          </p:nvPr>
        </p:nvGraphicFramePr>
        <p:xfrm>
          <a:off x="8076665" y="3672920"/>
          <a:ext cx="17160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7" name="公式" r:id="rId15" imgW="965160" imgH="457200" progId="Equation.3">
                  <p:embed/>
                </p:oleObj>
              </mc:Choice>
              <mc:Fallback>
                <p:oleObj name="公式" r:id="rId15" imgW="965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6665" y="3672920"/>
                        <a:ext cx="1716087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40" name="Rectangle 20"/>
          <p:cNvSpPr>
            <a:spLocks noChangeArrowheads="1"/>
          </p:cNvSpPr>
          <p:nvPr/>
        </p:nvSpPr>
        <p:spPr bwMode="auto">
          <a:xfrm>
            <a:off x="5494338" y="32877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301079"/>
              </p:ext>
            </p:extLst>
          </p:nvPr>
        </p:nvGraphicFramePr>
        <p:xfrm>
          <a:off x="1733108" y="4713070"/>
          <a:ext cx="2133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8" r:id="rId17" imgW="1206500" imgH="279400" progId="Equation.3">
                  <p:embed/>
                </p:oleObj>
              </mc:Choice>
              <mc:Fallback>
                <p:oleObj r:id="rId17" imgW="12065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108" y="4713070"/>
                        <a:ext cx="21336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42" name="Rectangle 22"/>
          <p:cNvSpPr>
            <a:spLocks noChangeArrowheads="1"/>
          </p:cNvSpPr>
          <p:nvPr/>
        </p:nvSpPr>
        <p:spPr bwMode="auto">
          <a:xfrm>
            <a:off x="566578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4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15289"/>
              </p:ext>
            </p:extLst>
          </p:nvPr>
        </p:nvGraphicFramePr>
        <p:xfrm>
          <a:off x="6990464" y="4713070"/>
          <a:ext cx="1524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9" r:id="rId19" imgW="863225" imgH="228501" progId="Equation.3">
                  <p:embed/>
                </p:oleObj>
              </mc:Choice>
              <mc:Fallback>
                <p:oleObj r:id="rId19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0464" y="4713070"/>
                        <a:ext cx="1524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17448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619"/>
          <p:cNvSpPr>
            <a:spLocks noGrp="1" noChangeArrowheads="1"/>
          </p:cNvSpPr>
          <p:nvPr>
            <p:ph type="title" idx="4294967295"/>
          </p:nvPr>
        </p:nvSpPr>
        <p:spPr>
          <a:xfrm>
            <a:off x="2132013" y="239713"/>
            <a:ext cx="2455862" cy="762000"/>
          </a:xfrm>
        </p:spPr>
        <p:txBody>
          <a:bodyPr anchor="b"/>
          <a:lstStyle/>
          <a:p>
            <a:r>
              <a:rPr lang="zh-CN" altLang="en-US" sz="2800" b="1"/>
              <a:t>收敛性定理</a:t>
            </a:r>
          </a:p>
        </p:txBody>
      </p:sp>
      <p:sp>
        <p:nvSpPr>
          <p:cNvPr id="95235" name="Rectangle 620"/>
          <p:cNvSpPr>
            <a:spLocks noChangeArrowheads="1"/>
          </p:cNvSpPr>
          <p:nvPr/>
        </p:nvSpPr>
        <p:spPr bwMode="auto">
          <a:xfrm>
            <a:off x="2025650" y="1268413"/>
            <a:ext cx="8066088" cy="1223962"/>
          </a:xfrm>
          <a:prstGeom prst="rect">
            <a:avLst/>
          </a:prstGeom>
          <a:noFill/>
          <a:ln w="19050" algn="ctr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5236" name="Rectangle 621"/>
          <p:cNvSpPr>
            <a:spLocks noChangeArrowheads="1"/>
          </p:cNvSpPr>
          <p:nvPr/>
        </p:nvSpPr>
        <p:spPr bwMode="auto">
          <a:xfrm>
            <a:off x="2063751" y="1268414"/>
            <a:ext cx="7885113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 sz="2600" dirty="0">
                <a:solidFill>
                  <a:srgbClr val="0000CC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ea typeface="黑体" panose="02010609060101010101" pitchFamily="49" charset="-122"/>
              </a:rPr>
              <a:t>设 </a:t>
            </a:r>
            <a:r>
              <a:rPr lang="en-US" altLang="zh-CN" sz="2400" i="1" dirty="0">
                <a:ea typeface="黑体" panose="02010609060101010101" pitchFamily="49" charset="-122"/>
              </a:rPr>
              <a:t>A</a:t>
            </a:r>
            <a:r>
              <a:rPr lang="zh-CN" altLang="en-US" sz="2400" i="1" dirty="0">
                <a:ea typeface="黑体" panose="02010609060101010101" pitchFamily="49" charset="-122"/>
              </a:rPr>
              <a:t>（</a:t>
            </a:r>
            <a:r>
              <a:rPr lang="en-US" altLang="zh-CN" sz="2400" i="1" dirty="0">
                <a:ea typeface="黑体" panose="02010609060101010101" pitchFamily="49" charset="-122"/>
              </a:rPr>
              <a:t>n*n</a:t>
            </a:r>
            <a:r>
              <a:rPr lang="zh-CN" altLang="en-US" sz="2400" i="1" dirty="0">
                <a:ea typeface="黑体" panose="02010609060101010101" pitchFamily="49" charset="-122"/>
              </a:rPr>
              <a:t>）</a:t>
            </a:r>
            <a:r>
              <a:rPr lang="en-US" altLang="zh-CN" sz="2400" i="1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ea typeface="黑体" panose="02010609060101010101" pitchFamily="49" charset="-122"/>
              </a:rPr>
              <a:t>对称正定</a:t>
            </a:r>
            <a:r>
              <a:rPr lang="zh-CN" altLang="en-US" sz="2400" dirty="0">
                <a:ea typeface="黑体" panose="02010609060101010101" pitchFamily="49" charset="-122"/>
              </a:rPr>
              <a:t>，则共轭梯度法至多 </a:t>
            </a:r>
            <a:r>
              <a:rPr lang="en-US" altLang="zh-CN" sz="2400" i="1" dirty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ea typeface="黑体" panose="02010609060101010101" pitchFamily="49" charset="-122"/>
              </a:rPr>
              <a:t>步就能找到精确解。</a:t>
            </a:r>
          </a:p>
        </p:txBody>
      </p:sp>
      <p:graphicFrame>
        <p:nvGraphicFramePr>
          <p:cNvPr id="2670" name="Object 6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06757"/>
              </p:ext>
            </p:extLst>
          </p:nvPr>
        </p:nvGraphicFramePr>
        <p:xfrm>
          <a:off x="3414713" y="3977497"/>
          <a:ext cx="52673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3" imgW="41252775" imgH="9439275" progId="Equation.DSMT4">
                  <p:embed/>
                </p:oleObj>
              </mc:Choice>
              <mc:Fallback>
                <p:oleObj name="Equation" r:id="rId3" imgW="41252775" imgH="9439275" progId="Equation.DSMT4">
                  <p:embed/>
                  <p:pic>
                    <p:nvPicPr>
                      <p:cNvPr id="2670" name="Object 6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3977497"/>
                        <a:ext cx="52673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" name="Rectangle 624"/>
          <p:cNvSpPr>
            <a:spLocks noChangeArrowheads="1"/>
          </p:cNvSpPr>
          <p:nvPr/>
        </p:nvSpPr>
        <p:spPr bwMode="auto">
          <a:xfrm>
            <a:off x="2025650" y="3021823"/>
            <a:ext cx="8066088" cy="2952750"/>
          </a:xfrm>
          <a:prstGeom prst="rect">
            <a:avLst/>
          </a:prstGeom>
          <a:noFill/>
          <a:ln w="19050" algn="ctr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673" name="Rectangle 625"/>
          <p:cNvSpPr>
            <a:spLocks noChangeArrowheads="1"/>
          </p:cNvSpPr>
          <p:nvPr/>
        </p:nvSpPr>
        <p:spPr bwMode="auto">
          <a:xfrm>
            <a:off x="2206625" y="3021823"/>
            <a:ext cx="7885113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 sz="2600" dirty="0">
                <a:solidFill>
                  <a:srgbClr val="0000CC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ea typeface="黑体" panose="02010609060101010101" pitchFamily="49" charset="-122"/>
              </a:rPr>
              <a:t>设 </a:t>
            </a:r>
            <a:r>
              <a:rPr lang="en-US" altLang="zh-CN" sz="2400" i="1" dirty="0">
                <a:ea typeface="黑体" panose="02010609060101010101" pitchFamily="49" charset="-122"/>
              </a:rPr>
              <a:t>A </a:t>
            </a:r>
            <a:r>
              <a:rPr lang="zh-CN" altLang="en-US" sz="2400" dirty="0">
                <a:solidFill>
                  <a:srgbClr val="0000CC"/>
                </a:solidFill>
                <a:ea typeface="黑体" panose="02010609060101010101" pitchFamily="49" charset="-122"/>
              </a:rPr>
              <a:t>对称正定</a:t>
            </a:r>
            <a:r>
              <a:rPr lang="zh-CN" altLang="en-US" sz="2400" dirty="0">
                <a:ea typeface="黑体" panose="02010609060101010101" pitchFamily="49" charset="-122"/>
              </a:rPr>
              <a:t>，</a:t>
            </a:r>
            <a:r>
              <a:rPr lang="en-US" altLang="zh-CN" sz="2400" i="1" dirty="0">
                <a:solidFill>
                  <a:srgbClr val="3333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400" dirty="0">
                <a:solidFill>
                  <a:srgbClr val="3333FF"/>
                </a:solidFill>
                <a:ea typeface="黑体" panose="02010609060101010101" pitchFamily="49" charset="-122"/>
              </a:rPr>
              <a:t>*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ea typeface="黑体" panose="02010609060101010101" pitchFamily="49" charset="-122"/>
              </a:rPr>
              <a:t>为精确解，</a:t>
            </a:r>
            <a:r>
              <a:rPr lang="zh-CN" altLang="en-US" sz="2400" dirty="0">
                <a:solidFill>
                  <a:srgbClr val="3333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solidFill>
                  <a:srgbClr val="3333FF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400" baseline="30000" dirty="0">
                <a:solidFill>
                  <a:srgbClr val="3333FF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400" i="1" baseline="30000" dirty="0">
                <a:solidFill>
                  <a:srgbClr val="3333FF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400" baseline="30000" dirty="0">
                <a:solidFill>
                  <a:srgbClr val="3333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400" baseline="30000" dirty="0">
                <a:solidFill>
                  <a:schemeClr val="folHlink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ea typeface="黑体" panose="02010609060101010101" pitchFamily="49" charset="-122"/>
              </a:rPr>
              <a:t>为共轭梯度法的数值解，则有</a:t>
            </a:r>
          </a:p>
        </p:txBody>
      </p:sp>
      <p:sp>
        <p:nvSpPr>
          <p:cNvPr id="2674" name="Rectangle 626"/>
          <p:cNvSpPr>
            <a:spLocks noChangeArrowheads="1"/>
          </p:cNvSpPr>
          <p:nvPr/>
        </p:nvSpPr>
        <p:spPr bwMode="auto">
          <a:xfrm>
            <a:off x="2278063" y="5326872"/>
            <a:ext cx="1150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其中</a:t>
            </a:r>
          </a:p>
        </p:txBody>
      </p:sp>
      <p:graphicFrame>
        <p:nvGraphicFramePr>
          <p:cNvPr id="2675" name="Object 6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983058"/>
              </p:ext>
            </p:extLst>
          </p:nvPr>
        </p:nvGraphicFramePr>
        <p:xfrm>
          <a:off x="3070225" y="5326873"/>
          <a:ext cx="38385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5" imgW="30060900" imgH="5048250" progId="Equation.DSMT4">
                  <p:embed/>
                </p:oleObj>
              </mc:Choice>
              <mc:Fallback>
                <p:oleObj name="Equation" r:id="rId5" imgW="30060900" imgH="5048250" progId="Equation.DSMT4">
                  <p:embed/>
                  <p:pic>
                    <p:nvPicPr>
                      <p:cNvPr id="2675" name="Object 6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5326873"/>
                        <a:ext cx="38385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706207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9" dur="500"/>
                                        <p:tgtEl>
                                          <p:spTgt spid="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2" dur="500"/>
                                        <p:tgtEl>
                                          <p:spTgt spid="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" dur="500"/>
                                        <p:tgtEl>
                                          <p:spTgt spid="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8" dur="500"/>
                                        <p:tgtEl>
                                          <p:spTgt spid="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childTnLst>
                                    <p:set>
                                      <p:cBhvr additive="base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1" dur="500"/>
                                        <p:tgtEl>
                                          <p:spTgt spid="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" grpId="0" animBg="1"/>
      <p:bldP spid="267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419" y="779241"/>
            <a:ext cx="9909543" cy="5260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共轭梯度法的特点：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）全局收敛（下降算法）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线性收敛；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      2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）每步迭代只需存储若干向量（适用于大规模问题）；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      3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）有二次终结性（对于正定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次函数，至多</a:t>
            </a:r>
            <a:r>
              <a:rPr lang="en-US" altLang="zh-CN" sz="2400" b="1" i="1" dirty="0"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次迭代可达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opt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）</a:t>
            </a: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      4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）一种有效的算法，克服了最速下降法的锯齿现象，又避免了牛顿法的计算量大和局部收敛性的缺点．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注：对不同的</a:t>
            </a:r>
            <a:r>
              <a:rPr lang="en-US" altLang="zh-CN" sz="2400" b="1" i="1" dirty="0">
                <a:latin typeface="Times New Roman" panose="02020603050405020304" pitchFamily="18" charset="0"/>
                <a:ea typeface="仿宋_GB2312" pitchFamily="49" charset="-122"/>
              </a:rPr>
              <a:t>β 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仿宋_GB2312" pitchFamily="49" charset="-122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公式，对于正定二次函数是相等的，对非正定二次函数，有不同的效果，经验上</a:t>
            </a: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PRP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效果较好。</a:t>
            </a: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3529013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3905250" y="33258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69" name="Rectangle 9"/>
          <p:cNvSpPr>
            <a:spLocks noChangeArrowheads="1"/>
          </p:cNvSpPr>
          <p:nvPr/>
        </p:nvSpPr>
        <p:spPr bwMode="auto">
          <a:xfrm>
            <a:off x="5916613" y="33416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70" name="Rectangle 10"/>
          <p:cNvSpPr>
            <a:spLocks noChangeArrowheads="1"/>
          </p:cNvSpPr>
          <p:nvPr/>
        </p:nvSpPr>
        <p:spPr bwMode="auto">
          <a:xfrm>
            <a:off x="5916613" y="33416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72" name="Rectangle 12"/>
          <p:cNvSpPr>
            <a:spLocks noChangeArrowheads="1"/>
          </p:cNvSpPr>
          <p:nvPr/>
        </p:nvSpPr>
        <p:spPr bwMode="auto">
          <a:xfrm>
            <a:off x="5726113" y="32385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74" name="Rectangle 14"/>
          <p:cNvSpPr>
            <a:spLocks noChangeArrowheads="1"/>
          </p:cNvSpPr>
          <p:nvPr/>
        </p:nvSpPr>
        <p:spPr bwMode="auto">
          <a:xfrm>
            <a:off x="564673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76" name="Rectangle 16"/>
          <p:cNvSpPr>
            <a:spLocks noChangeArrowheads="1"/>
          </p:cNvSpPr>
          <p:nvPr/>
        </p:nvSpPr>
        <p:spPr bwMode="auto">
          <a:xfrm>
            <a:off x="5581650" y="32385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78" name="Rectangle 18"/>
          <p:cNvSpPr>
            <a:spLocks noChangeArrowheads="1"/>
          </p:cNvSpPr>
          <p:nvPr/>
        </p:nvSpPr>
        <p:spPr bwMode="auto">
          <a:xfrm>
            <a:off x="5494338" y="32877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580" name="Rectangle 20"/>
          <p:cNvSpPr>
            <a:spLocks noChangeArrowheads="1"/>
          </p:cNvSpPr>
          <p:nvPr/>
        </p:nvSpPr>
        <p:spPr bwMode="auto">
          <a:xfrm>
            <a:off x="566578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</p:spTree>
    <p:extLst>
      <p:ext uri="{BB962C8B-B14F-4D97-AF65-F5344CB8AC3E}">
        <p14:creationId xmlns:p14="http://schemas.microsoft.com/office/powerpoint/2010/main" val="2565325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6648" y="683172"/>
            <a:ext cx="9690538" cy="5538952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b="1" dirty="0">
                <a:latin typeface="Times New Roman" panose="02020603050405020304" pitchFamily="18" charset="0"/>
                <a:ea typeface="仿宋_GB2312" pitchFamily="49" charset="-122"/>
              </a:rPr>
              <a:t>        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、最速下降法(梯度法) ：搜索方向为目标函数负梯度方向，计算速度开始几步搜索下降快，但愈接近极值点下降愈慢。对初始点的选择要求不高，适合与其它方法结合使用。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、共轭梯度法：第一步搜索沿负梯度方向，然后沿负梯度的共轭方向搜索。</a:t>
            </a: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仿宋_GB2312" pitchFamily="49" charset="-122"/>
              </a:rPr>
              <a:t>计算效率优于梯度法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。对初始点没有特殊的要求，不需要计算二阶偏导数矩阵及其逆矩阵，计算量与梯度法相当。</a:t>
            </a:r>
            <a:r>
              <a:rPr lang="zh-CN" altLang="en-US" sz="2400" b="1" dirty="0">
                <a:solidFill>
                  <a:srgbClr val="993300"/>
                </a:solidFill>
                <a:latin typeface="Times New Roman" panose="02020603050405020304" pitchFamily="18" charset="0"/>
                <a:ea typeface="仿宋_GB2312" pitchFamily="49" charset="-122"/>
              </a:rPr>
              <a:t>适用于各种规模的问题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。</a:t>
            </a: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2772" y="880241"/>
            <a:ext cx="7772400" cy="990600"/>
          </a:xfrm>
        </p:spPr>
        <p:txBody>
          <a:bodyPr/>
          <a:lstStyle/>
          <a:p>
            <a:r>
              <a:rPr lang="zh-CN" altLang="en-US" sz="3200" dirty="0">
                <a:solidFill>
                  <a:srgbClr val="33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梯度法与共轭梯度法的比较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0" y="1"/>
            <a:ext cx="10515600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共轭梯度法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617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函数 </a:t>
            </a:r>
            <a:r>
              <a:rPr lang="en-US" altLang="zh-CN" dirty="0"/>
              <a:t>f(x</a:t>
            </a:r>
            <a:r>
              <a:rPr lang="en-US" altLang="zh-CN" baseline="-25000" dirty="0"/>
              <a:t>0</a:t>
            </a:r>
            <a:r>
              <a:rPr lang="en-US" altLang="zh-CN" dirty="0"/>
              <a:t>,x</a:t>
            </a:r>
            <a:r>
              <a:rPr lang="en-US" altLang="zh-CN" baseline="-25000" dirty="0"/>
              <a:t>1</a:t>
            </a:r>
            <a:r>
              <a:rPr lang="en-US" altLang="zh-CN" dirty="0"/>
              <a:t>)=x</a:t>
            </a:r>
            <a:r>
              <a:rPr lang="en-US" altLang="zh-CN" baseline="-25000" dirty="0"/>
              <a:t>0</a:t>
            </a:r>
            <a:r>
              <a:rPr lang="en-US" altLang="zh-CN" baseline="30000" dirty="0"/>
              <a:t>2</a:t>
            </a:r>
            <a:r>
              <a:rPr lang="en-US" altLang="zh-CN" dirty="0"/>
              <a:t>+x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2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pic>
        <p:nvPicPr>
          <p:cNvPr id="24578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338" y="1176626"/>
            <a:ext cx="7467600" cy="478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19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18617</TotalTime>
  <Words>1128</Words>
  <Application>Microsoft Office PowerPoint</Application>
  <PresentationFormat>宽屏</PresentationFormat>
  <Paragraphs>133</Paragraphs>
  <Slides>33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55" baseType="lpstr">
      <vt:lpstr>-apple-system</vt:lpstr>
      <vt:lpstr>맑은 고딕</vt:lpstr>
      <vt:lpstr>游ゴシック</vt:lpstr>
      <vt:lpstr>等线</vt:lpstr>
      <vt:lpstr>等线 Light</vt:lpstr>
      <vt:lpstr>仿宋</vt:lpstr>
      <vt:lpstr>仿宋_GB2312</vt:lpstr>
      <vt:lpstr>黑体</vt:lpstr>
      <vt:lpstr>华文行楷</vt:lpstr>
      <vt:lpstr>楷体</vt:lpstr>
      <vt:lpstr>楷体_GB2312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Equation.3</vt:lpstr>
      <vt:lpstr>公式</vt:lpstr>
      <vt:lpstr>Equation</vt:lpstr>
      <vt:lpstr>上一节</vt:lpstr>
      <vt:lpstr>上一节</vt:lpstr>
      <vt:lpstr>2.8共轭梯度法 （Conjugate Gradient） </vt:lpstr>
      <vt:lpstr>共轭梯度法</vt:lpstr>
      <vt:lpstr>共轭梯度法-基础</vt:lpstr>
      <vt:lpstr>PowerPoint 演示文稿</vt:lpstr>
      <vt:lpstr>PowerPoint 演示文稿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PowerPoint 演示文稿</vt:lpstr>
      <vt:lpstr>共轭梯度法</vt:lpstr>
      <vt:lpstr>PowerPoint 演示文稿</vt:lpstr>
      <vt:lpstr>共轭梯度法</vt:lpstr>
      <vt:lpstr>PowerPoint 演示文稿</vt:lpstr>
      <vt:lpstr>共轭梯度法</vt:lpstr>
      <vt:lpstr>共轭梯度法</vt:lpstr>
      <vt:lpstr>共轭梯度法</vt:lpstr>
      <vt:lpstr>PowerPoint 演示文稿</vt:lpstr>
      <vt:lpstr>PowerPoint 演示文稿</vt:lpstr>
      <vt:lpstr>共轭梯度法</vt:lpstr>
      <vt:lpstr>共轭梯度法</vt:lpstr>
      <vt:lpstr>PowerPoint 演示文稿</vt:lpstr>
      <vt:lpstr>共轭梯度法</vt:lpstr>
      <vt:lpstr>PowerPoint 演示文稿</vt:lpstr>
      <vt:lpstr>共轭梯度法</vt:lpstr>
      <vt:lpstr>收敛性定理</vt:lpstr>
      <vt:lpstr>共轭梯度法</vt:lpstr>
      <vt:lpstr> 梯度法与共轭梯度法的比较</vt:lpstr>
      <vt:lpstr>共轭梯度法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最优化技术</dc:title>
  <dc:creator>wj</dc:creator>
  <cp:lastModifiedBy>Alice</cp:lastModifiedBy>
  <cp:revision>243</cp:revision>
  <dcterms:created xsi:type="dcterms:W3CDTF">2019-12-25T10:26:10Z</dcterms:created>
  <dcterms:modified xsi:type="dcterms:W3CDTF">2024-11-06T14:43:00Z</dcterms:modified>
</cp:coreProperties>
</file>