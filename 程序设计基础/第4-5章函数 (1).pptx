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71"/>
  </p:notesMasterIdLst>
  <p:handoutMasterIdLst>
    <p:handoutMasterId r:id="rId72"/>
  </p:handoutMasterIdLst>
  <p:sldIdLst>
    <p:sldId id="256" r:id="rId2"/>
    <p:sldId id="331" r:id="rId3"/>
    <p:sldId id="332" r:id="rId4"/>
    <p:sldId id="257" r:id="rId5"/>
    <p:sldId id="258" r:id="rId6"/>
    <p:sldId id="259" r:id="rId7"/>
    <p:sldId id="260" r:id="rId8"/>
    <p:sldId id="317" r:id="rId9"/>
    <p:sldId id="318" r:id="rId10"/>
    <p:sldId id="316" r:id="rId11"/>
    <p:sldId id="261" r:id="rId12"/>
    <p:sldId id="262" r:id="rId13"/>
    <p:sldId id="263" r:id="rId14"/>
    <p:sldId id="265" r:id="rId15"/>
    <p:sldId id="264" r:id="rId16"/>
    <p:sldId id="266" r:id="rId17"/>
    <p:sldId id="267" r:id="rId18"/>
    <p:sldId id="268" r:id="rId19"/>
    <p:sldId id="269" r:id="rId20"/>
    <p:sldId id="270" r:id="rId21"/>
    <p:sldId id="319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3" r:id="rId34"/>
    <p:sldId id="284" r:id="rId35"/>
    <p:sldId id="320" r:id="rId36"/>
    <p:sldId id="321" r:id="rId37"/>
    <p:sldId id="285" r:id="rId38"/>
    <p:sldId id="322" r:id="rId39"/>
    <p:sldId id="286" r:id="rId40"/>
    <p:sldId id="288" r:id="rId41"/>
    <p:sldId id="289" r:id="rId42"/>
    <p:sldId id="293" r:id="rId43"/>
    <p:sldId id="294" r:id="rId44"/>
    <p:sldId id="297" r:id="rId45"/>
    <p:sldId id="325" r:id="rId46"/>
    <p:sldId id="298" r:id="rId47"/>
    <p:sldId id="299" r:id="rId48"/>
    <p:sldId id="300" r:id="rId49"/>
    <p:sldId id="301" r:id="rId50"/>
    <p:sldId id="302" r:id="rId51"/>
    <p:sldId id="303" r:id="rId52"/>
    <p:sldId id="324" r:id="rId53"/>
    <p:sldId id="304" r:id="rId54"/>
    <p:sldId id="305" r:id="rId55"/>
    <p:sldId id="309" r:id="rId56"/>
    <p:sldId id="326" r:id="rId57"/>
    <p:sldId id="333" r:id="rId58"/>
    <p:sldId id="311" r:id="rId59"/>
    <p:sldId id="312" r:id="rId60"/>
    <p:sldId id="314" r:id="rId61"/>
    <p:sldId id="334" r:id="rId62"/>
    <p:sldId id="335" r:id="rId63"/>
    <p:sldId id="336" r:id="rId64"/>
    <p:sldId id="337" r:id="rId65"/>
    <p:sldId id="315" r:id="rId66"/>
    <p:sldId id="327" r:id="rId67"/>
    <p:sldId id="328" r:id="rId68"/>
    <p:sldId id="329" r:id="rId69"/>
    <p:sldId id="330" r:id="rId70"/>
  </p:sldIdLst>
  <p:sldSz cx="12192000" cy="68580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00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/>
    <p:restoredTop sz="85461" autoAdjust="0"/>
  </p:normalViewPr>
  <p:slideViewPr>
    <p:cSldViewPr showGuides="1">
      <p:cViewPr varScale="1">
        <p:scale>
          <a:sx n="73" d="100"/>
          <a:sy n="73" d="100"/>
        </p:scale>
        <p:origin x="322" y="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sz="1200" b="0" noProof="1" dirty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19D33F-5F84-4247-BCF4-4A0103945A93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1028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36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sz="12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6B48D4-BEFD-448B-B918-1D1608D5E3A9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fontAlgn="base" hangingPunct="1"/>
            <a:fld id="{9A0DB2DC-4C9A-4742-B13C-FB6460FD3503}" type="slidenum">
              <a:rPr lang="en-US" altLang="en-US" sz="1200" b="0" dirty="0"/>
              <a:t>19</a:t>
            </a:fld>
            <a:endParaRPr lang="en-US" altLang="en-US" sz="1200" b="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84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/>
              <a:t>必须借助外部的力量来实现函数值的返回。例如：创建一个临时变量，将临时变量的值送给指定的变量。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寄存器存储变量</a:t>
            </a:r>
          </a:p>
        </p:txBody>
      </p:sp>
    </p:spTree>
    <p:extLst>
      <p:ext uri="{BB962C8B-B14F-4D97-AF65-F5344CB8AC3E}">
        <p14:creationId xmlns:p14="http://schemas.microsoft.com/office/powerpoint/2010/main" val="399735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5904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6C0B561-AC06-4DE1-B569-88ACF7A6F8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287" y="207168"/>
            <a:ext cx="23431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36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711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4387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8276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3451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17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4475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7436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5824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92686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2024/11/8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567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Zh411y7XB/?spm_id_from=333.337.search-card.all.click&amp;vd_source=902c9ed89f30a1a5ad9bd6af31b885a4" TargetMode="Externa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xfrm>
            <a:off x="1487488" y="1799652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  函数 </a:t>
            </a:r>
          </a:p>
        </p:txBody>
      </p:sp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09FA62-6390-450C-8998-DEE5C8EA8ACF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6F1CBFB-1DF5-418F-8387-597A62D4E1D9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AB431FA2-3E5E-414A-BE85-0F4533F19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287" y="207168"/>
            <a:ext cx="23431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CB242D-DD62-4A64-8649-58032E26BF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184"/>
          <a:stretch/>
        </p:blipFill>
        <p:spPr>
          <a:xfrm>
            <a:off x="801237" y="3630643"/>
            <a:ext cx="9904637" cy="2021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F308F69-CB87-4E04-AD42-23EF4386D88C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图形 4" descr="打开的书">
            <a:extLst>
              <a:ext uri="{FF2B5EF4-FFF2-40B4-BE49-F238E27FC236}">
                <a16:creationId xmlns:a16="http://schemas.microsoft.com/office/drawing/2014/main" id="{14A50F1E-78CD-465C-9970-7FEC57E4C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5286CE-856B-4F16-BFC8-84AB2ADB2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1861077"/>
            <a:ext cx="5268060" cy="423921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11654A0-725A-454C-9434-537E8E6A3983}"/>
              </a:ext>
            </a:extLst>
          </p:cNvPr>
          <p:cNvSpPr txBox="1">
            <a:spLocks/>
          </p:cNvSpPr>
          <p:nvPr/>
        </p:nvSpPr>
        <p:spPr>
          <a:xfrm>
            <a:off x="2351584" y="22229"/>
            <a:ext cx="10515600" cy="132556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b="0"/>
              <a:t>4.1 </a:t>
            </a:r>
            <a:r>
              <a:rPr lang="zh-CN" altLang="en-US" sz="3600" b="0"/>
              <a:t>函数的定义和调用 </a:t>
            </a:r>
            <a:endParaRPr lang="zh-CN" altLang="en-US" sz="3600" b="0" dirty="0"/>
          </a:p>
        </p:txBody>
      </p:sp>
    </p:spTree>
    <p:extLst>
      <p:ext uri="{BB962C8B-B14F-4D97-AF65-F5344CB8AC3E}">
        <p14:creationId xmlns:p14="http://schemas.microsoft.com/office/powerpoint/2010/main" val="279261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F308F69-CB87-4E04-AD42-23EF4386D88C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图形 4" descr="打开的书">
            <a:extLst>
              <a:ext uri="{FF2B5EF4-FFF2-40B4-BE49-F238E27FC236}">
                <a16:creationId xmlns:a16="http://schemas.microsoft.com/office/drawing/2014/main" id="{14A50F1E-78CD-465C-9970-7FEC57E4C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11654A0-725A-454C-9434-537E8E6A3983}"/>
              </a:ext>
            </a:extLst>
          </p:cNvPr>
          <p:cNvSpPr txBox="1">
            <a:spLocks/>
          </p:cNvSpPr>
          <p:nvPr/>
        </p:nvSpPr>
        <p:spPr>
          <a:xfrm>
            <a:off x="2351584" y="22229"/>
            <a:ext cx="10515600" cy="132556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b="0"/>
              <a:t>4.1 </a:t>
            </a:r>
            <a:r>
              <a:rPr lang="zh-CN" altLang="en-US" sz="3600" b="0"/>
              <a:t>函数的定义和调用 </a:t>
            </a:r>
            <a:endParaRPr lang="zh-CN" altLang="en-US" sz="3600" b="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840B82-73E2-49B1-9344-A2B56CDE32D0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F634BB5-8A12-4DAB-924C-526AEAA6A784}"/>
              </a:ext>
            </a:extLst>
          </p:cNvPr>
          <p:cNvSpPr txBox="1"/>
          <p:nvPr/>
        </p:nvSpPr>
        <p:spPr>
          <a:xfrm>
            <a:off x="1228724" y="1367073"/>
            <a:ext cx="8514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  <a:ea typeface="仿宋" panose="02010609060101010101" pitchFamily="49" charset="-122"/>
              </a:rPr>
              <a:t>相对应，我们可以把这样一个一元二次函数定义为一个</a:t>
            </a:r>
            <a:r>
              <a:rPr lang="en-US" altLang="zh-CN" dirty="0">
                <a:latin typeface="Consolas" panose="020B0609020204030204" pitchFamily="49" charset="0"/>
                <a:ea typeface="仿宋" panose="02010609060101010101" pitchFamily="49" charset="-122"/>
              </a:rPr>
              <a:t>C</a:t>
            </a:r>
            <a:r>
              <a:rPr lang="zh-CN" altLang="en-US" dirty="0">
                <a:latin typeface="Consolas" panose="020B0609020204030204" pitchFamily="49" charset="0"/>
                <a:ea typeface="仿宋" panose="02010609060101010101" pitchFamily="49" charset="-122"/>
              </a:rPr>
              <a:t>语言的函数</a:t>
            </a:r>
            <a:r>
              <a:rPr lang="en-US" altLang="zh-CN" dirty="0">
                <a:latin typeface="Consolas" panose="020B0609020204030204" pitchFamily="49" charset="0"/>
                <a:ea typeface="仿宋" panose="02010609060101010101" pitchFamily="49" charset="-122"/>
              </a:rPr>
              <a:t>f</a:t>
            </a:r>
            <a:r>
              <a:rPr lang="zh-CN" altLang="en-US" dirty="0">
                <a:latin typeface="Consolas" panose="020B0609020204030204" pitchFamily="49" charset="0"/>
                <a:ea typeface="仿宋" panose="02010609060101010101" pitchFamily="49" charset="-122"/>
              </a:rPr>
              <a:t>。在这里，我们可以认为一个函数由输入、处理、输出三部分组成。函数接受的参数即是输入，例如 </a:t>
            </a:r>
            <a:r>
              <a:rPr lang="en-US" altLang="zh-CN" dirty="0"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en-US" dirty="0">
                <a:latin typeface="Consolas" panose="020B0609020204030204" pitchFamily="49" charset="0"/>
                <a:ea typeface="仿宋" panose="02010609060101010101" pitchFamily="49" charset="-122"/>
              </a:rPr>
              <a:t>，函数返回的结果是输出，例如 </a:t>
            </a:r>
            <a:r>
              <a:rPr lang="en-US" altLang="zh-CN" dirty="0">
                <a:latin typeface="Consolas" panose="020B0609020204030204" pitchFamily="49" charset="0"/>
                <a:ea typeface="仿宋" panose="02010609060101010101" pitchFamily="49" charset="-122"/>
              </a:rPr>
              <a:t>return y</a:t>
            </a:r>
            <a:r>
              <a:rPr lang="zh-CN" altLang="en-US" dirty="0">
                <a:latin typeface="Consolas" panose="020B0609020204030204" pitchFamily="49" charset="0"/>
                <a:ea typeface="仿宋" panose="02010609060101010101" pitchFamily="49" charset="-122"/>
              </a:rPr>
              <a:t>，中间的执行代码是处理过程。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5C2AD6-1D9C-4750-BE72-7F23F419C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2290404"/>
            <a:ext cx="8477528" cy="320151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D4D93A-851E-44FF-BA06-0BAB30F28B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17" t="42286" r="117" b="1835"/>
          <a:stretch/>
        </p:blipFill>
        <p:spPr>
          <a:xfrm>
            <a:off x="1143990" y="5750599"/>
            <a:ext cx="8670570" cy="557807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977238A-4878-44F9-889F-BA2D3F3C805F}"/>
              </a:ext>
            </a:extLst>
          </p:cNvPr>
          <p:cNvCxnSpPr>
            <a:cxnSpLocks/>
          </p:cNvCxnSpPr>
          <p:nvPr/>
        </p:nvCxnSpPr>
        <p:spPr>
          <a:xfrm>
            <a:off x="1313460" y="575059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AutoShape 3">
            <a:extLst>
              <a:ext uri="{FF2B5EF4-FFF2-40B4-BE49-F238E27FC236}">
                <a16:creationId xmlns:a16="http://schemas.microsoft.com/office/drawing/2014/main" id="{9D0D4493-3214-4AC3-90BD-C307FE14A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9354" y="5212451"/>
            <a:ext cx="2743200" cy="533400"/>
          </a:xfrm>
          <a:prstGeom prst="wedgeRoundRectCallout">
            <a:avLst>
              <a:gd name="adj1" fmla="val -103782"/>
              <a:gd name="adj2" fmla="val -144940"/>
              <a:gd name="adj3" fmla="val 16667"/>
            </a:avLst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ctr"/>
            <a:r>
              <a:rPr lang="zh-CN" altLang="en-US" b="1">
                <a:solidFill>
                  <a:srgbClr val="000066"/>
                </a:solidFill>
                <a:ea typeface="宋体" pitchFamily="2" charset="-122"/>
              </a:rPr>
              <a:t>自定义函数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734D985B-0B03-4BD1-A5A7-054C10F86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2938" y="2675850"/>
            <a:ext cx="1828800" cy="381000"/>
          </a:xfrm>
          <a:prstGeom prst="wedgeRoundRectCallout">
            <a:avLst>
              <a:gd name="adj1" fmla="val -219838"/>
              <a:gd name="adj2" fmla="val 222750"/>
              <a:gd name="adj3" fmla="val 16667"/>
            </a:avLst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ctr"/>
            <a:r>
              <a:rPr lang="zh-CN" altLang="en-US" sz="2000" b="1" dirty="0">
                <a:solidFill>
                  <a:srgbClr val="000000"/>
                </a:solidFill>
                <a:latin typeface="华文楷体" pitchFamily="2" charset="-122"/>
              </a:rPr>
              <a:t>被调函数</a:t>
            </a:r>
            <a:endParaRPr lang="zh-CN" altLang="en-US" sz="2000" b="1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39ABB522-7072-4718-A8F7-73458A483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615" y="2290403"/>
            <a:ext cx="1828800" cy="385446"/>
          </a:xfrm>
          <a:prstGeom prst="wedgeRoundRectCallout">
            <a:avLst>
              <a:gd name="adj1" fmla="val -216473"/>
              <a:gd name="adj2" fmla="val 142912"/>
              <a:gd name="adj3" fmla="val 16667"/>
            </a:avLst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ctr"/>
            <a:r>
              <a:rPr lang="zh-CN" altLang="en-US" sz="2000" b="1" dirty="0">
                <a:solidFill>
                  <a:srgbClr val="000000"/>
                </a:solidFill>
                <a:latin typeface="华文楷体" pitchFamily="2" charset="-122"/>
              </a:rPr>
              <a:t>函数的声明</a:t>
            </a:r>
            <a:endParaRPr lang="zh-CN" altLang="en-US" sz="2000" b="1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508D09-1394-49C2-8289-327A5C1BC754}"/>
              </a:ext>
            </a:extLst>
          </p:cNvPr>
          <p:cNvSpPr txBox="1"/>
          <p:nvPr/>
        </p:nvSpPr>
        <p:spPr>
          <a:xfrm>
            <a:off x="1354566" y="1347792"/>
            <a:ext cx="8514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相对应，我们可以把这样一个一元二次函数定义为一个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语言的函数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。在这里，我们可以认为一个函数由输入、处理、输出三部分组成。函数接受的参数即是输入，例如 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，函数返回的结果是输出，例如 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return y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，中间的执行代码是处理过程。</a:t>
            </a:r>
          </a:p>
        </p:txBody>
      </p:sp>
    </p:spTree>
    <p:extLst>
      <p:ext uri="{BB962C8B-B14F-4D97-AF65-F5344CB8AC3E}">
        <p14:creationId xmlns:p14="http://schemas.microsoft.com/office/powerpoint/2010/main" val="79150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 autoUpdateAnimBg="0"/>
      <p:bldP spid="15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92500"/>
          </a:bodyPr>
          <a:lstStyle/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函数：库函数和用户自定义函数。 </a:t>
            </a: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使用函数的原因之一：</a:t>
            </a:r>
            <a:r>
              <a:rPr lang="zh-CN" altLang="en-US" sz="2800" dirty="0">
                <a:solidFill>
                  <a:srgbClr val="FF0000"/>
                </a:solidFill>
              </a:rPr>
              <a:t>将程序分解成更小，更易管理的程序单元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原则：一个</a:t>
            </a:r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程序由若干个函数构成，其中一个是主函数，是程序执行入口，其它函数是子函数。</a:t>
            </a: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子函数间可以相互调用，但</a:t>
            </a:r>
            <a:r>
              <a:rPr lang="zh-CN" altLang="en-US" sz="2800" b="1" dirty="0">
                <a:solidFill>
                  <a:srgbClr val="FF0000"/>
                </a:solidFill>
              </a:rPr>
              <a:t>主函数只能调用其他子函数，而不能被其他子函数调用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FD8E61-D74F-4E77-B28F-1DEEC811634E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图形 7" descr="打开的书">
            <a:extLst>
              <a:ext uri="{FF2B5EF4-FFF2-40B4-BE49-F238E27FC236}">
                <a16:creationId xmlns:a16="http://schemas.microsoft.com/office/drawing/2014/main" id="{22527F0E-1670-42E0-918E-80AFD4B5B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2F2257C3-7F4D-45B0-AA9E-BB9F083A567A}"/>
              </a:ext>
            </a:extLst>
          </p:cNvPr>
          <p:cNvSpPr txBox="1">
            <a:spLocks/>
          </p:cNvSpPr>
          <p:nvPr/>
        </p:nvSpPr>
        <p:spPr>
          <a:xfrm>
            <a:off x="2351584" y="22229"/>
            <a:ext cx="10515600" cy="132556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b="0"/>
              <a:t>4.1 </a:t>
            </a:r>
            <a:r>
              <a:rPr lang="zh-CN" altLang="en-US" sz="3600" b="0"/>
              <a:t>函数的定义和调用 </a:t>
            </a:r>
            <a:endParaRPr lang="zh-CN" altLang="en-US" sz="36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055440" y="116632"/>
            <a:ext cx="10515600" cy="1325563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sz="4000" dirty="0"/>
              <a:t>4.1.2 </a:t>
            </a:r>
            <a:r>
              <a:rPr lang="zh-CN" altLang="en-US" sz="4000" dirty="0"/>
              <a:t>函数的定义</a:t>
            </a:r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2668324" y="1268760"/>
            <a:ext cx="8801504" cy="5425127"/>
          </a:xfrm>
        </p:spPr>
        <p:txBody>
          <a:bodyPr vert="horz" wrap="square" lIns="91440" tIns="45720" rIns="91440" bIns="45720" anchor="t" anchorCtr="0"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一般形式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</a:rPr>
              <a:t>类型</a:t>
            </a:r>
            <a:r>
              <a:rPr lang="en-US" altLang="zh-CN" sz="2400" dirty="0">
                <a:solidFill>
                  <a:schemeClr val="tx1"/>
                </a:solidFill>
              </a:rPr>
              <a:t>&gt;    &lt;</a:t>
            </a:r>
            <a:r>
              <a:rPr lang="zh-CN" altLang="en-US" sz="2400" dirty="0">
                <a:solidFill>
                  <a:schemeClr val="tx1"/>
                </a:solidFill>
              </a:rPr>
              <a:t>函数名</a:t>
            </a:r>
            <a:r>
              <a:rPr lang="en-US" altLang="zh-CN" sz="2400" dirty="0">
                <a:solidFill>
                  <a:schemeClr val="tx1"/>
                </a:solidFill>
              </a:rPr>
              <a:t>&gt; 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</a:rPr>
              <a:t>参数列表</a:t>
            </a:r>
            <a:r>
              <a:rPr lang="en-US" altLang="zh-CN" sz="2400" dirty="0">
                <a:solidFill>
                  <a:schemeClr val="tx1"/>
                </a:solidFill>
              </a:rPr>
              <a:t>&gt;</a:t>
            </a:r>
            <a:r>
              <a:rPr lang="zh-CN" altLang="en-US" sz="2400" dirty="0">
                <a:solidFill>
                  <a:schemeClr val="tx1"/>
                </a:solidFill>
              </a:rPr>
              <a:t>）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	&lt;</a:t>
            </a:r>
            <a:r>
              <a:rPr lang="zh-CN" altLang="en-US" sz="2400" dirty="0">
                <a:solidFill>
                  <a:schemeClr val="tx1"/>
                </a:solidFill>
              </a:rPr>
              <a:t>函数体</a:t>
            </a:r>
            <a:r>
              <a:rPr lang="en-US" altLang="zh-CN" sz="2400" dirty="0">
                <a:solidFill>
                  <a:schemeClr val="tx1"/>
                </a:solidFill>
              </a:rPr>
              <a:t>&gt;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} 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例如：求两个整数中的最大值。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fr-FR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int  max( int  x, int  y 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{	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	  return   x &gt; y ? x : y 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}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4267818" y="4216044"/>
            <a:ext cx="233680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2060"/>
                </a:solidFill>
                <a:latin typeface="Arial Unicode MS" pitchFamily="34" charset="-122"/>
                <a:ea typeface="楷体_GB2312" pitchFamily="49" charset="-122"/>
              </a:rPr>
              <a:t>形式参数</a:t>
            </a:r>
            <a:endParaRPr lang="en-US" altLang="zh-CN" b="1" dirty="0">
              <a:solidFill>
                <a:srgbClr val="002060"/>
              </a:solidFill>
              <a:latin typeface="Arial Unicode MS" pitchFamily="34" charset="-122"/>
              <a:ea typeface="楷体_GB2312" pitchFamily="49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405064" y="4148188"/>
            <a:ext cx="304800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2060"/>
                </a:solidFill>
                <a:latin typeface="Arial Unicode MS" pitchFamily="34" charset="-122"/>
                <a:ea typeface="楷体_GB2312" pitchFamily="49" charset="-122"/>
              </a:rPr>
              <a:t>函数类型</a:t>
            </a:r>
            <a:endParaRPr lang="en-US" altLang="zh-CN" b="1" dirty="0">
              <a:solidFill>
                <a:srgbClr val="002060"/>
              </a:solidFill>
              <a:latin typeface="Arial Unicode MS" pitchFamily="34" charset="-122"/>
              <a:ea typeface="楷体_GB2312" pitchFamily="49" charset="-122"/>
            </a:endParaRP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>
            <a:off x="3255610" y="4678351"/>
            <a:ext cx="406400" cy="3810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8" name="Line 13"/>
          <p:cNvSpPr>
            <a:spLocks noChangeShapeType="1"/>
          </p:cNvSpPr>
          <p:nvPr/>
        </p:nvSpPr>
        <p:spPr bwMode="auto">
          <a:xfrm flipH="1">
            <a:off x="4770099" y="4543552"/>
            <a:ext cx="203200" cy="5334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2464557" y="4525951"/>
            <a:ext cx="406400" cy="5334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899519" y="4182116"/>
            <a:ext cx="193040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2060"/>
                </a:solidFill>
                <a:latin typeface="Arial Unicode MS" pitchFamily="34" charset="-122"/>
                <a:ea typeface="楷体_GB2312" pitchFamily="49" charset="-122"/>
              </a:rPr>
              <a:t>函数名</a:t>
            </a:r>
            <a:endParaRPr lang="en-US" altLang="zh-CN" b="1" dirty="0">
              <a:solidFill>
                <a:srgbClr val="002060"/>
              </a:solidFill>
              <a:latin typeface="Arial Unicode MS" pitchFamily="34" charset="-122"/>
              <a:ea typeface="楷体_GB2312" pitchFamily="49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63E8B2B-FD01-4430-92F2-AE728F8B19FD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7171" name="Text Box 4"/>
          <p:cNvSpPr txBox="1"/>
          <p:nvPr/>
        </p:nvSpPr>
        <p:spPr>
          <a:xfrm>
            <a:off x="1271464" y="188716"/>
            <a:ext cx="9074224" cy="66295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</a:rPr>
              <a:t>注意如下几点：</a:t>
            </a:r>
          </a:p>
          <a:p>
            <a:pPr eaLnBrk="1" fontAlgn="t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fr-FR" altLang="zh-CN" dirty="0">
                <a:solidFill>
                  <a:schemeClr val="tx1"/>
                </a:solidFill>
              </a:rPr>
              <a:t>(1) </a:t>
            </a:r>
            <a:r>
              <a:rPr lang="zh-CN" altLang="fr-FR" dirty="0">
                <a:solidFill>
                  <a:schemeClr val="tx1"/>
                </a:solidFill>
              </a:rPr>
              <a:t>无返回值、有形参的函数。例如：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void  display( string s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{	cout &lt;&lt; "Hello" &lt;&lt; s ; 	</a:t>
            </a:r>
            <a:r>
              <a:rPr lang="fr-FR" altLang="zh-CN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>
              <a:lnSpc>
                <a:spcPct val="120000"/>
              </a:lnSpc>
            </a:pPr>
            <a:r>
              <a:rPr lang="fr-FR" altLang="zh-CN" dirty="0">
                <a:solidFill>
                  <a:schemeClr val="tx1"/>
                </a:solidFill>
              </a:rPr>
              <a:t>(2) </a:t>
            </a:r>
            <a:r>
              <a:rPr lang="zh-CN" altLang="fr-FR" dirty="0">
                <a:solidFill>
                  <a:schemeClr val="tx1"/>
                </a:solidFill>
              </a:rPr>
              <a:t>无返回值，也没有参数的函数。例如：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void  display(  )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{	cout &lt;&lt; "Hello" ;</a:t>
            </a: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 }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(3) </a:t>
            </a:r>
            <a:r>
              <a:rPr lang="zh-CN" altLang="fr-FR" dirty="0">
                <a:solidFill>
                  <a:schemeClr val="tx1"/>
                </a:solidFill>
              </a:rPr>
              <a:t>有返回值，但没有形参的函数。例如：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int  input(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{ 	int  x;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	cin &gt;&gt; x;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	return x;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(4) </a:t>
            </a:r>
            <a:r>
              <a:rPr lang="zh-CN" altLang="fr-FR" dirty="0">
                <a:solidFill>
                  <a:schemeClr val="tx1"/>
                </a:solidFill>
              </a:rPr>
              <a:t>有返回值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fr-FR" dirty="0">
                <a:solidFill>
                  <a:schemeClr val="tx1"/>
                </a:solidFill>
              </a:rPr>
              <a:t>有形参的函数。如前面的</a:t>
            </a:r>
            <a:r>
              <a:rPr lang="fr-FR" altLang="zh-CN" dirty="0">
                <a:solidFill>
                  <a:schemeClr val="tx1"/>
                </a:solidFill>
              </a:rPr>
              <a:t>max</a:t>
            </a:r>
            <a:r>
              <a:rPr lang="zh-CN" altLang="fr-FR" dirty="0">
                <a:solidFill>
                  <a:schemeClr val="tx1"/>
                </a:solidFill>
              </a:rPr>
              <a:t>函数。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FD8D16-9C36-4E28-9200-B7C68ADEBACB}"/>
              </a:ext>
            </a:extLst>
          </p:cNvPr>
          <p:cNvSpPr/>
          <p:nvPr/>
        </p:nvSpPr>
        <p:spPr>
          <a:xfrm>
            <a:off x="8231560" y="5283228"/>
            <a:ext cx="396044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fr-FR" altLang="zh-CN" dirty="0">
                <a:solidFill>
                  <a:schemeClr val="tx1"/>
                </a:solidFill>
              </a:rPr>
              <a:t>int  max( int  x, int  y )</a:t>
            </a:r>
          </a:p>
          <a:p>
            <a:pPr eaLnBrk="1" hangingPunct="1">
              <a:lnSpc>
                <a:spcPct val="90000"/>
              </a:lnSpc>
            </a:pPr>
            <a:r>
              <a:rPr lang="fr-FR" altLang="zh-CN" dirty="0">
                <a:solidFill>
                  <a:schemeClr val="tx1"/>
                </a:solidFill>
              </a:rPr>
              <a:t>{	</a:t>
            </a:r>
          </a:p>
          <a:p>
            <a:pPr eaLnBrk="1" hangingPunct="1">
              <a:lnSpc>
                <a:spcPct val="90000"/>
              </a:lnSpc>
            </a:pPr>
            <a:r>
              <a:rPr lang="fr-FR" altLang="zh-CN" dirty="0">
                <a:solidFill>
                  <a:schemeClr val="tx1"/>
                </a:solidFill>
              </a:rPr>
              <a:t>	  return   x &gt; y ? x : y 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} 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sz="4000" dirty="0"/>
              <a:t>4.1.3 </a:t>
            </a:r>
            <a:r>
              <a:rPr lang="zh-CN" altLang="en-US" sz="4000" dirty="0"/>
              <a:t>函数的调用</a:t>
            </a: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格式：</a:t>
            </a:r>
            <a:r>
              <a:rPr lang="en-US" altLang="zh-CN" sz="2800" dirty="0">
                <a:solidFill>
                  <a:schemeClr val="tx1"/>
                </a:solidFill>
              </a:rPr>
              <a:t>&lt;</a:t>
            </a:r>
            <a:r>
              <a:rPr lang="zh-CN" altLang="en-US" sz="2800" dirty="0">
                <a:solidFill>
                  <a:schemeClr val="tx1"/>
                </a:solidFill>
              </a:rPr>
              <a:t>函数名</a:t>
            </a:r>
            <a:r>
              <a:rPr lang="en-US" altLang="zh-CN" sz="2800" dirty="0">
                <a:solidFill>
                  <a:schemeClr val="tx1"/>
                </a:solidFill>
              </a:rPr>
              <a:t>&gt; (</a:t>
            </a:r>
            <a:r>
              <a:rPr lang="zh-CN" altLang="en-US" sz="2800" dirty="0">
                <a:solidFill>
                  <a:schemeClr val="tx1"/>
                </a:solidFill>
              </a:rPr>
              <a:t>实际参数表</a:t>
            </a:r>
            <a:r>
              <a:rPr lang="en-US" altLang="zh-CN" sz="2800" dirty="0">
                <a:solidFill>
                  <a:schemeClr val="tx1"/>
                </a:solidFill>
              </a:rPr>
              <a:t>);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调用无返回值的函数：完成某个功能操作，可单独作为函数调用语句使用；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调用有返回值的函数：将产生一个数值，函数调用通常出现在表达式中。</a:t>
            </a:r>
          </a:p>
          <a:p>
            <a:pPr eaLnBrk="1" hangingPunct="1">
              <a:lnSpc>
                <a:spcPct val="100000"/>
              </a:lnSpc>
            </a:pP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651337D-126B-43A9-819C-BC34AAEBF0B0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75520" y="892322"/>
            <a:ext cx="4873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例：界面显示，无返回值示例</a:t>
            </a:r>
          </a:p>
        </p:txBody>
      </p:sp>
      <p:sp>
        <p:nvSpPr>
          <p:cNvPr id="3" name="矩形 2"/>
          <p:cNvSpPr/>
          <p:nvPr/>
        </p:nvSpPr>
        <p:spPr>
          <a:xfrm>
            <a:off x="119336" y="1757095"/>
            <a:ext cx="7104112" cy="37856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displ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system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cls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"**********************"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"***1.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录入学生成绩*****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"***2.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查询学生成绩*****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"***3.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退出        *****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"**********************"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请输入选项（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1-3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）：***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5" name="AutoShape 6"/>
          <p:cNvSpPr/>
          <p:nvPr/>
        </p:nvSpPr>
        <p:spPr>
          <a:xfrm>
            <a:off x="3935760" y="619919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3-0-1.cpp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3C4903-1BA5-4DB8-9A05-3AD10A9D6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597" y="548680"/>
            <a:ext cx="4683917" cy="59855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6149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9456" y="188640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例：输入颜色字符，输出对应颜色的英文，若没有对应字符，输出“</a:t>
            </a:r>
            <a:r>
              <a:rPr lang="en-US" altLang="zh-CN" dirty="0">
                <a:solidFill>
                  <a:srgbClr val="002060"/>
                </a:solidFill>
              </a:rPr>
              <a:t>no color!</a:t>
            </a:r>
            <a:r>
              <a:rPr lang="zh-CN" altLang="en-US" dirty="0">
                <a:solidFill>
                  <a:srgbClr val="002060"/>
                </a:solidFill>
              </a:rPr>
              <a:t>”</a:t>
            </a:r>
            <a:r>
              <a:rPr lang="en-US" altLang="zh-CN" dirty="0">
                <a:solidFill>
                  <a:srgbClr val="002060"/>
                </a:solidFill>
              </a:rPr>
              <a:t>,</a:t>
            </a:r>
            <a:r>
              <a:rPr lang="zh-CN" altLang="en-US" dirty="0">
                <a:solidFill>
                  <a:srgbClr val="002060"/>
                </a:solidFill>
              </a:rPr>
              <a:t>当输入数字时程序结束。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zh-CN" altLang="en-US" dirty="0">
                <a:solidFill>
                  <a:srgbClr val="002060"/>
                </a:solidFill>
              </a:rPr>
              <a:t>（</a:t>
            </a:r>
            <a:r>
              <a:rPr lang="en-US" altLang="zh-CN" dirty="0">
                <a:solidFill>
                  <a:srgbClr val="002060"/>
                </a:solidFill>
              </a:rPr>
              <a:t>r-red  y-yellow g-green c-cyan b-blue</a:t>
            </a:r>
            <a:r>
              <a:rPr lang="zh-CN" altLang="en-US" dirty="0">
                <a:solidFill>
                  <a:srgbClr val="002060"/>
                </a:solidFill>
              </a:rPr>
              <a:t>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772816"/>
            <a:ext cx="4620677" cy="34887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128" y="1124744"/>
            <a:ext cx="3528392" cy="5585226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5231904" y="628762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findcolor.cpp</a:t>
            </a:r>
          </a:p>
        </p:txBody>
      </p:sp>
    </p:spTree>
    <p:extLst>
      <p:ext uri="{BB962C8B-B14F-4D97-AF65-F5344CB8AC3E}">
        <p14:creationId xmlns:p14="http://schemas.microsoft.com/office/powerpoint/2010/main" val="732896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1443"/>
          <p:cNvSpPr txBox="1"/>
          <p:nvPr/>
        </p:nvSpPr>
        <p:spPr>
          <a:xfrm>
            <a:off x="1559496" y="620688"/>
            <a:ext cx="8675687" cy="149271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2.13】 </a:t>
            </a:r>
            <a:r>
              <a:rPr lang="zh-CN" altLang="en-US" sz="2600" dirty="0">
                <a:solidFill>
                  <a:schemeClr val="tx1"/>
                </a:solidFill>
              </a:rPr>
              <a:t>求</a:t>
            </a:r>
            <a:r>
              <a:rPr lang="en-US" altLang="zh-CN" sz="2600" dirty="0">
                <a:solidFill>
                  <a:schemeClr val="tx1"/>
                </a:solidFill>
              </a:rPr>
              <a:t>100</a:t>
            </a:r>
            <a:r>
              <a:rPr lang="zh-CN" altLang="en-US" sz="2600" dirty="0">
                <a:solidFill>
                  <a:schemeClr val="tx1"/>
                </a:solidFill>
              </a:rPr>
              <a:t>～</a:t>
            </a:r>
            <a:r>
              <a:rPr lang="en-US" altLang="zh-CN" sz="2600" dirty="0">
                <a:solidFill>
                  <a:schemeClr val="tx1"/>
                </a:solidFill>
              </a:rPr>
              <a:t>150</a:t>
            </a:r>
            <a:r>
              <a:rPr lang="zh-CN" altLang="en-US" sz="2600" dirty="0">
                <a:solidFill>
                  <a:schemeClr val="tx1"/>
                </a:solidFill>
              </a:rPr>
              <a:t>之间的所有</a:t>
            </a:r>
            <a:r>
              <a:rPr lang="zh-CN" altLang="en-US" sz="2600" dirty="0">
                <a:solidFill>
                  <a:srgbClr val="002060"/>
                </a:solidFill>
              </a:rPr>
              <a:t>素数</a:t>
            </a:r>
            <a:r>
              <a:rPr lang="en-US" altLang="zh-CN" sz="2600" dirty="0">
                <a:solidFill>
                  <a:srgbClr val="002060"/>
                </a:solidFill>
              </a:rPr>
              <a:t>(</a:t>
            </a:r>
            <a:r>
              <a:rPr lang="zh-CN" altLang="en-US" sz="2600" dirty="0">
                <a:solidFill>
                  <a:srgbClr val="002060"/>
                </a:solidFill>
              </a:rPr>
              <a:t>用函数重写</a:t>
            </a:r>
            <a:r>
              <a:rPr lang="en-US" altLang="zh-CN" sz="2600" dirty="0">
                <a:solidFill>
                  <a:srgbClr val="002060"/>
                </a:solidFill>
              </a:rPr>
              <a:t>)</a:t>
            </a:r>
            <a:r>
              <a:rPr lang="zh-CN" altLang="en-US" sz="2600" dirty="0">
                <a:solidFill>
                  <a:schemeClr val="tx1"/>
                </a:solidFill>
              </a:rPr>
              <a:t>。 </a:t>
            </a:r>
          </a:p>
          <a:p>
            <a:pPr fontAlgn="t">
              <a:spcBef>
                <a:spcPct val="5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 </a:t>
            </a:r>
          </a:p>
          <a:p>
            <a:pPr fontAlgn="t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9336" y="1272027"/>
            <a:ext cx="5832648" cy="4524315"/>
          </a:xfrm>
          <a:prstGeom prst="rect">
            <a:avLst/>
          </a:prstGeom>
          <a:ln w="222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</a:p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150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++)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flag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判断是否为质数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isprime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8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5" name="AutoShape 6"/>
          <p:cNvSpPr/>
          <p:nvPr/>
        </p:nvSpPr>
        <p:spPr>
          <a:xfrm>
            <a:off x="4313014" y="621784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3-0-2.cpp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6EF344-8A27-42D5-9FE7-20D3A9E7CDE6}"/>
              </a:ext>
            </a:extLst>
          </p:cNvPr>
          <p:cNvSpPr/>
          <p:nvPr/>
        </p:nvSpPr>
        <p:spPr>
          <a:xfrm>
            <a:off x="6294663" y="1272027"/>
            <a:ext cx="5544616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bool isprime(int num)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bool bz = 1;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if (num &lt;= 1)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bz = 0;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else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for (int i = 2; i &lt;= (int)sqrt(num); i++)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if (num % i == 0)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	bz = 0;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	break;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	}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}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}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return bz;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0797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/>
          <p:nvPr/>
        </p:nvSpPr>
        <p:spPr>
          <a:xfrm>
            <a:off x="3071814" y="696913"/>
            <a:ext cx="7488237" cy="209288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max( int  x,  int  y)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x &gt; y ? x : y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9219" name="Text Box 5"/>
          <p:cNvSpPr txBox="1"/>
          <p:nvPr/>
        </p:nvSpPr>
        <p:spPr>
          <a:xfrm>
            <a:off x="7102475" y="2278063"/>
            <a:ext cx="3384550" cy="83185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思考：函数头与函数调用的区别。 </a:t>
            </a:r>
          </a:p>
        </p:txBody>
      </p:sp>
      <p:sp>
        <p:nvSpPr>
          <p:cNvPr id="9220" name="AutoShape 6"/>
          <p:cNvSpPr/>
          <p:nvPr/>
        </p:nvSpPr>
        <p:spPr>
          <a:xfrm>
            <a:off x="7896226" y="59499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3-1.cpp</a:t>
            </a:r>
          </a:p>
        </p:txBody>
      </p:sp>
      <p:sp>
        <p:nvSpPr>
          <p:cNvPr id="2" name="矩形 1"/>
          <p:cNvSpPr/>
          <p:nvPr/>
        </p:nvSpPr>
        <p:spPr>
          <a:xfrm>
            <a:off x="1815288" y="240993"/>
            <a:ext cx="79531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3.1】</a:t>
            </a:r>
            <a:r>
              <a:rPr lang="zh-CN" altLang="en-US" dirty="0">
                <a:solidFill>
                  <a:schemeClr val="tx1"/>
                </a:solidFill>
              </a:rPr>
              <a:t>输入两个整数，求其中较大的一个数。 </a:t>
            </a:r>
          </a:p>
        </p:txBody>
      </p:sp>
      <p:sp>
        <p:nvSpPr>
          <p:cNvPr id="3" name="矩形 2"/>
          <p:cNvSpPr/>
          <p:nvPr/>
        </p:nvSpPr>
        <p:spPr>
          <a:xfrm>
            <a:off x="3062934" y="2463172"/>
            <a:ext cx="778559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a,  b;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请输入两个整数</a:t>
            </a:r>
            <a:r>
              <a:rPr lang="en-US" altLang="zh-CN" dirty="0">
                <a:solidFill>
                  <a:schemeClr val="tx1"/>
                </a:solidFill>
              </a:rPr>
              <a:t>:";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en-US" altLang="zh-CN" dirty="0">
                <a:solidFill>
                  <a:schemeClr val="tx1"/>
                </a:solidFill>
              </a:rPr>
              <a:t> &gt;&gt; a &gt;&gt; b 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最大值是</a:t>
            </a:r>
            <a:r>
              <a:rPr lang="en-US" altLang="zh-CN" dirty="0">
                <a:solidFill>
                  <a:schemeClr val="tx1"/>
                </a:solidFill>
              </a:rPr>
              <a:t>:" &lt;&lt; max(a, b) &lt;&lt; 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 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89978" y="1058803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形参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86675" y="518929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实参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8040216" y="5013176"/>
            <a:ext cx="21602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6111444" y="1043153"/>
            <a:ext cx="632628" cy="246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4.2 </a:t>
            </a:r>
            <a:r>
              <a:rPr lang="zh-CN" altLang="en-US" dirty="0"/>
              <a:t>函数的声明 </a:t>
            </a: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1981200" y="1752600"/>
            <a:ext cx="8153400" cy="46291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对函数之间的排列没有顺序上的要求，但要满足“先定义后使用”。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对于自定义函数：</a:t>
            </a:r>
            <a:r>
              <a:rPr lang="zh-CN" altLang="en-US" sz="2800" dirty="0">
                <a:solidFill>
                  <a:schemeClr val="tx1"/>
                </a:solidFill>
              </a:rPr>
              <a:t>先定义、后调用的函数可以不用声明；但后定义、先调用的函数必须声明。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函数原型</a:t>
            </a:r>
            <a:r>
              <a:rPr lang="zh-CN" altLang="en-US" sz="2800" dirty="0">
                <a:solidFill>
                  <a:schemeClr val="tx1"/>
                </a:solidFill>
              </a:rPr>
              <a:t>：由函数定义抽取出来的能代表函数特征的部分，包括：函数类型、函数名、形参个数及其类型。它描述了一个函数的特征。</a:t>
            </a:r>
          </a:p>
        </p:txBody>
      </p:sp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5B046C8-EB77-4EF0-9372-72CDDD2828F8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/>
          <p:nvPr/>
        </p:nvSpPr>
        <p:spPr>
          <a:xfrm>
            <a:off x="928639" y="1017247"/>
            <a:ext cx="6136263" cy="5813899"/>
          </a:xfrm>
          <a:prstGeom prst="rect">
            <a:avLst/>
          </a:prstGeom>
          <a:noFill/>
          <a:ln w="9525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FF0000"/>
                </a:solidFill>
              </a:rPr>
              <a:t>bool   prime( int ) 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    int  x, n;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for ( n=960; n&lt;=970; n=n+2 )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for ( x=2; x&lt;=n/2; x++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if ( prime(x) &amp;&amp; prime(n-x))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{	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    cout &lt;&lt; n &lt;&lt; " = "&lt;&lt; x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              &lt;&lt; " + "&lt;&lt; n-x&lt;&lt;endl;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    break;   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 }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en-US" altLang="zh-CN" sz="2600" dirty="0">
                <a:solidFill>
                  <a:schemeClr val="tx1"/>
                </a:solidFill>
              </a:rPr>
              <a:t>return 0;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9701" name="Text Box 5"/>
          <p:cNvSpPr txBox="1"/>
          <p:nvPr/>
        </p:nvSpPr>
        <p:spPr>
          <a:xfrm>
            <a:off x="7248128" y="1548588"/>
            <a:ext cx="4752528" cy="405341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bool  prime(int  x)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{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  if (x &lt;= 1)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	return false;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B0F0"/>
                </a:solidFill>
              </a:rPr>
              <a:t>  for (int </a:t>
            </a:r>
            <a:r>
              <a:rPr lang="en-US" altLang="zh-CN" sz="2600" dirty="0" err="1">
                <a:solidFill>
                  <a:srgbClr val="00B0F0"/>
                </a:solidFill>
              </a:rPr>
              <a:t>i</a:t>
            </a:r>
            <a:r>
              <a:rPr lang="en-US" altLang="zh-CN" sz="2600" dirty="0">
                <a:solidFill>
                  <a:srgbClr val="00B0F0"/>
                </a:solidFill>
              </a:rPr>
              <a:t>=2; </a:t>
            </a:r>
            <a:r>
              <a:rPr lang="en-US" altLang="zh-CN" sz="2600" dirty="0" err="1">
                <a:solidFill>
                  <a:srgbClr val="00B0F0"/>
                </a:solidFill>
              </a:rPr>
              <a:t>i</a:t>
            </a:r>
            <a:r>
              <a:rPr lang="en-US" altLang="zh-CN" sz="2600" dirty="0">
                <a:solidFill>
                  <a:srgbClr val="00B0F0"/>
                </a:solidFill>
              </a:rPr>
              <a:t>&lt;=sqrt(x); </a:t>
            </a:r>
            <a:r>
              <a:rPr lang="en-US" altLang="zh-CN" sz="2600" dirty="0" err="1">
                <a:solidFill>
                  <a:srgbClr val="00B0F0"/>
                </a:solidFill>
              </a:rPr>
              <a:t>i</a:t>
            </a:r>
            <a:r>
              <a:rPr lang="en-US" altLang="zh-CN" sz="2600" dirty="0">
                <a:solidFill>
                  <a:srgbClr val="00B0F0"/>
                </a:solidFill>
              </a:rPr>
              <a:t>++)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B0F0"/>
                </a:solidFill>
              </a:rPr>
              <a:t>           if (x%i==0)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B0F0"/>
                </a:solidFill>
              </a:rPr>
              <a:t>		return  false;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  return  true;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11268" name="AutoShape 6"/>
          <p:cNvSpPr/>
          <p:nvPr/>
        </p:nvSpPr>
        <p:spPr>
          <a:xfrm>
            <a:off x="9480376" y="6165304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3-2.cpp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13115" y="476672"/>
            <a:ext cx="142218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函数声明</a:t>
            </a:r>
          </a:p>
        </p:txBody>
      </p:sp>
      <p:cxnSp>
        <p:nvCxnSpPr>
          <p:cNvPr id="4" name="直接箭头连接符 3"/>
          <p:cNvCxnSpPr>
            <a:cxnSpLocks/>
            <a:stCxn id="2" idx="2"/>
          </p:cNvCxnSpPr>
          <p:nvPr/>
        </p:nvCxnSpPr>
        <p:spPr>
          <a:xfrm>
            <a:off x="697977" y="938337"/>
            <a:ext cx="285455" cy="40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5F55F470-CC6F-4D24-BFF0-1C4428CF128F}"/>
              </a:ext>
            </a:extLst>
          </p:cNvPr>
          <p:cNvSpPr/>
          <p:nvPr/>
        </p:nvSpPr>
        <p:spPr>
          <a:xfrm>
            <a:off x="1775520" y="207786"/>
            <a:ext cx="9858819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4.2】</a:t>
            </a:r>
            <a:r>
              <a:rPr lang="zh-CN" altLang="en-US" dirty="0">
                <a:solidFill>
                  <a:schemeClr val="tx1"/>
                </a:solidFill>
              </a:rPr>
              <a:t>验证哥德巴赫猜想。编程：将 </a:t>
            </a:r>
            <a:r>
              <a:rPr lang="en-US" altLang="zh-CN" dirty="0">
                <a:solidFill>
                  <a:schemeClr val="tx1"/>
                </a:solidFill>
              </a:rPr>
              <a:t>960 </a:t>
            </a:r>
            <a:r>
              <a:rPr lang="zh-CN" altLang="en-US" dirty="0">
                <a:solidFill>
                  <a:schemeClr val="tx1"/>
                </a:solidFill>
              </a:rPr>
              <a:t>到 </a:t>
            </a:r>
            <a:r>
              <a:rPr lang="en-US" altLang="zh-CN" dirty="0">
                <a:solidFill>
                  <a:schemeClr val="tx1"/>
                </a:solidFill>
              </a:rPr>
              <a:t>970 </a:t>
            </a:r>
            <a:r>
              <a:rPr lang="zh-CN" altLang="en-US" dirty="0">
                <a:solidFill>
                  <a:schemeClr val="tx1"/>
                </a:solidFill>
              </a:rPr>
              <a:t>之间的全部偶数都分解成两个素数之和。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4.3 </a:t>
            </a:r>
            <a:r>
              <a:rPr lang="zh-CN" altLang="en-US" dirty="0"/>
              <a:t>函数的参数传递和返回值 </a:t>
            </a: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1199456" y="1786151"/>
            <a:ext cx="9372600" cy="4484688"/>
          </a:xfrm>
        </p:spPr>
        <p:txBody>
          <a:bodyPr vert="horz" wrap="square" lIns="91440" tIns="45720" rIns="91440" bIns="45720" anchor="t" anchorCtr="0"/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4.3.1 </a:t>
            </a:r>
            <a:r>
              <a:rPr lang="zh-CN" altLang="en-US" sz="2800" dirty="0">
                <a:solidFill>
                  <a:schemeClr val="tx1"/>
                </a:solidFill>
              </a:rPr>
              <a:t>函数参数的传递方式 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函数调用时，先将实参的值按照位置传递给对应的形参。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一般情况下，实参与形参的个数及顺序应该是一一对应，并且类型匹配。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solidFill>
                  <a:srgbClr val="FF0000"/>
                </a:solidFill>
              </a:rPr>
              <a:t>实参与形参的名字不要求相同。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支持两种参数传递：</a:t>
            </a:r>
            <a:r>
              <a:rPr lang="zh-CN" altLang="en-US" sz="2800" dirty="0">
                <a:solidFill>
                  <a:srgbClr val="FF0000"/>
                </a:solidFill>
              </a:rPr>
              <a:t>传值和传引用。</a:t>
            </a:r>
          </a:p>
        </p:txBody>
      </p:sp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757F66-9B41-4041-A31B-56CB59E8F735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/>
          <p:nvPr/>
        </p:nvSpPr>
        <p:spPr>
          <a:xfrm>
            <a:off x="1705929" y="440374"/>
            <a:ext cx="8351837" cy="646330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sz="2600" dirty="0">
                <a:solidFill>
                  <a:srgbClr val="C00000"/>
                </a:solidFill>
              </a:rPr>
              <a:t>【</a:t>
            </a:r>
            <a:r>
              <a:rPr lang="zh-CN" altLang="en-US" sz="2600" dirty="0">
                <a:solidFill>
                  <a:srgbClr val="C00000"/>
                </a:solidFill>
              </a:rPr>
              <a:t>例</a:t>
            </a:r>
            <a:r>
              <a:rPr lang="en-US" altLang="zh-CN" sz="2600" dirty="0">
                <a:solidFill>
                  <a:srgbClr val="C00000"/>
                </a:solidFill>
              </a:rPr>
              <a:t>4.3】</a:t>
            </a:r>
            <a:r>
              <a:rPr lang="zh-CN" altLang="en-US" sz="2600" dirty="0">
                <a:solidFill>
                  <a:srgbClr val="C00000"/>
                </a:solidFill>
              </a:rPr>
              <a:t>交换变量的值。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swap( int x, int y);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a=10, b=20;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swap(a, b);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cout&lt;&lt;a&lt;&lt;setw(6)&lt;&lt;b&lt;&lt;endl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swap( int  x,  int  y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 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t=x;	x=y;	y=t;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 setw(6) &lt;&lt; x &lt;&lt; setw(6) &lt;&lt;y &lt;&lt; endl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600" dirty="0">
                <a:solidFill>
                  <a:srgbClr val="7030A0"/>
                </a:solidFill>
              </a:rPr>
              <a:t>注意：</a:t>
            </a:r>
            <a:r>
              <a:rPr lang="zh-CN" altLang="en-US" dirty="0">
                <a:solidFill>
                  <a:srgbClr val="7030A0"/>
                </a:solidFill>
              </a:rPr>
              <a:t>遇到函数调用时，采用实参值来初始化相应的形参。即实参与形参的结合，发生在对形参变量分配空间时。 </a:t>
            </a:r>
          </a:p>
        </p:txBody>
      </p:sp>
      <p:sp>
        <p:nvSpPr>
          <p:cNvPr id="13315" name="AutoShape 4"/>
          <p:cNvSpPr/>
          <p:nvPr/>
        </p:nvSpPr>
        <p:spPr>
          <a:xfrm>
            <a:off x="10416480" y="5517232"/>
            <a:ext cx="133413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3-3.cpp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4.3.2 </a:t>
            </a:r>
            <a:r>
              <a:rPr lang="zh-CN" altLang="en-US" dirty="0"/>
              <a:t>函数的返回值 </a:t>
            </a: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1981200" y="1628775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marL="447675" indent="-447675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函数返回到调用者有两种方法：</a:t>
            </a:r>
          </a:p>
          <a:p>
            <a:pPr marL="447675" indent="-447675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</a:rPr>
              <a:t>对于没有返回值的函数，当函数的最后一条语句执行完毕后，函数终止并且返回到调用者，由调用者继续程序的执行。</a:t>
            </a:r>
          </a:p>
          <a:p>
            <a:pPr marL="447675" indent="-447675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对于有返回值的函数，必须采用</a:t>
            </a:r>
            <a:r>
              <a:rPr lang="en-US" altLang="zh-CN" sz="2800" dirty="0">
                <a:solidFill>
                  <a:schemeClr val="tx1"/>
                </a:solidFill>
              </a:rPr>
              <a:t>return</a:t>
            </a:r>
            <a:r>
              <a:rPr lang="zh-CN" altLang="en-US" sz="2800" dirty="0">
                <a:solidFill>
                  <a:schemeClr val="tx1"/>
                </a:solidFill>
              </a:rPr>
              <a:t>语句将要返回的值返回给调用者。格式为：</a:t>
            </a:r>
          </a:p>
          <a:p>
            <a:pPr marL="447675" indent="-447675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	          </a:t>
            </a:r>
            <a:r>
              <a:rPr lang="en-US" altLang="zh-CN" sz="2800" dirty="0">
                <a:solidFill>
                  <a:schemeClr val="tx1"/>
                </a:solidFill>
              </a:rPr>
              <a:t>return   </a:t>
            </a:r>
            <a:r>
              <a:rPr lang="zh-CN" altLang="en-US" sz="2800" dirty="0">
                <a:solidFill>
                  <a:schemeClr val="tx1"/>
                </a:solidFill>
              </a:rPr>
              <a:t>表达式 ； </a:t>
            </a:r>
          </a:p>
        </p:txBody>
      </p:sp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BCCDBE4-FB4B-4F2B-8842-EEAE61E41F8F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15363" name="Text Box 4"/>
          <p:cNvSpPr txBox="1"/>
          <p:nvPr/>
        </p:nvSpPr>
        <p:spPr>
          <a:xfrm>
            <a:off x="1127448" y="506476"/>
            <a:ext cx="10369152" cy="549381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3.4】</a:t>
            </a:r>
            <a:r>
              <a:rPr lang="zh-CN" altLang="en-US" sz="2600" dirty="0">
                <a:solidFill>
                  <a:schemeClr val="tx1"/>
                </a:solidFill>
              </a:rPr>
              <a:t>求</a:t>
            </a:r>
            <a:r>
              <a:rPr lang="en-US" altLang="zh-CN" sz="2600" dirty="0">
                <a:solidFill>
                  <a:schemeClr val="tx1"/>
                </a:solidFill>
              </a:rPr>
              <a:t>10~1000</a:t>
            </a:r>
            <a:r>
              <a:rPr lang="zh-CN" altLang="en-US" sz="2600" dirty="0">
                <a:solidFill>
                  <a:schemeClr val="tx1"/>
                </a:solidFill>
              </a:rPr>
              <a:t>之内的所有数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zh-CN" altLang="en-US" sz="2600" dirty="0">
                <a:solidFill>
                  <a:schemeClr val="tx1"/>
                </a:solidFill>
              </a:rPr>
              <a:t>，满足：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zh-CN" altLang="en-US" sz="2600" dirty="0">
                <a:solidFill>
                  <a:schemeClr val="tx1"/>
                </a:solidFill>
              </a:rPr>
              <a:t>、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en-US" altLang="zh-CN" sz="2600" baseline="30000" dirty="0">
                <a:solidFill>
                  <a:schemeClr val="tx1"/>
                </a:solidFill>
              </a:rPr>
              <a:t>2</a:t>
            </a:r>
            <a:r>
              <a:rPr lang="zh-CN" altLang="en-US" sz="2600" dirty="0">
                <a:solidFill>
                  <a:schemeClr val="tx1"/>
                </a:solidFill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en-US" altLang="zh-CN" sz="2600" baseline="30000" dirty="0">
                <a:solidFill>
                  <a:schemeClr val="tx1"/>
                </a:solidFill>
              </a:rPr>
              <a:t>3</a:t>
            </a:r>
            <a:r>
              <a:rPr lang="zh-CN" altLang="en-US" sz="2600" dirty="0">
                <a:solidFill>
                  <a:schemeClr val="tx1"/>
                </a:solidFill>
              </a:rPr>
              <a:t>均是回文数据。 </a:t>
            </a:r>
          </a:p>
          <a:p>
            <a:pPr eaLnBrk="1" fontAlgn="t" hangingPunct="1">
              <a:spcBef>
                <a:spcPct val="50000"/>
              </a:spcBef>
            </a:pPr>
            <a:r>
              <a:rPr lang="en-US" altLang="zh-CN" sz="2600" dirty="0">
                <a:solidFill>
                  <a:schemeClr val="tx1"/>
                </a:solidFill>
              </a:rPr>
              <a:t>bool  palindrome( int n);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 x;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cout&lt;&lt;" x x*x x*x*x"&lt;&lt;endl;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for(x=10;x&lt;=1000;x++)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if(palindrome(x) &amp;&amp; palindrome(x*x)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       &amp;&amp; palindrome(x*x*x))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cout &lt;&lt; x &lt;&lt; setw(8) &lt;&lt; x*x &lt;&lt; setw(10)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       &lt;&lt;x*x*x &lt;&lt;endl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9912424" y="1628800"/>
            <a:ext cx="2063552" cy="3046988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 回文数：从左往右读或从右往左读都是相同的，例如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2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22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33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101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575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1331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等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/>
          <p:nvPr/>
        </p:nvSpPr>
        <p:spPr>
          <a:xfrm>
            <a:off x="479376" y="1196752"/>
            <a:ext cx="5256212" cy="44577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bool  palindrome ( int   n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int  m=0, t=n;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while( n!=0 )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m=m*10+n%10;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n/=10;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m == 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1096" y="1340768"/>
            <a:ext cx="5457512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palindrome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to_string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reverse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begin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stoi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138624" y="5423619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用字符串解决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72464" y="5470212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3-4-1.cpp</a:t>
            </a:r>
          </a:p>
        </p:txBody>
      </p:sp>
      <p:sp>
        <p:nvSpPr>
          <p:cNvPr id="6" name="AutoShape 5"/>
          <p:cNvSpPr/>
          <p:nvPr/>
        </p:nvSpPr>
        <p:spPr>
          <a:xfrm>
            <a:off x="2063552" y="5885284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3-4.cpp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常问的</a:t>
            </a:r>
            <a:r>
              <a:rPr lang="en-US" altLang="zh-CN" dirty="0"/>
              <a:t>3</a:t>
            </a:r>
            <a:r>
              <a:rPr lang="zh-CN" altLang="en-US" dirty="0"/>
              <a:t>个问题 </a:t>
            </a: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</a:rPr>
              <a:t>一个函数可以有多个参数，但一个函数最多</a:t>
            </a:r>
            <a:r>
              <a:rPr lang="zh-CN" altLang="en-US" sz="2800" dirty="0">
                <a:solidFill>
                  <a:srgbClr val="7030A0"/>
                </a:solidFill>
              </a:rPr>
              <a:t>只能返回一个值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如果一个函数的返回值类型不是</a:t>
            </a:r>
            <a:r>
              <a:rPr lang="en-US" altLang="zh-CN" sz="2800" dirty="0">
                <a:solidFill>
                  <a:schemeClr val="tx1"/>
                </a:solidFill>
              </a:rPr>
              <a:t>void</a:t>
            </a:r>
            <a:r>
              <a:rPr lang="zh-CN" altLang="en-US" sz="2800" dirty="0">
                <a:solidFill>
                  <a:schemeClr val="tx1"/>
                </a:solidFill>
              </a:rPr>
              <a:t>，那么该函数必须包含</a:t>
            </a:r>
            <a:r>
              <a:rPr lang="en-US" altLang="zh-CN" sz="2800" dirty="0">
                <a:solidFill>
                  <a:schemeClr val="tx1"/>
                </a:solidFill>
              </a:rPr>
              <a:t>return</a:t>
            </a:r>
            <a:r>
              <a:rPr lang="zh-CN" altLang="en-US" sz="2800" dirty="0">
                <a:solidFill>
                  <a:schemeClr val="tx1"/>
                </a:solidFill>
              </a:rPr>
              <a:t>语句。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(3)</a:t>
            </a:r>
            <a:r>
              <a:rPr lang="zh-CN" altLang="en-US" sz="2800" dirty="0">
                <a:solidFill>
                  <a:schemeClr val="tx1"/>
                </a:solidFill>
              </a:rPr>
              <a:t>函数的返回值是如何返回到调用处的？</a:t>
            </a:r>
          </a:p>
        </p:txBody>
      </p:sp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BE11B2-EDB8-4CFD-BE88-CD5426D5AC35}"/>
              </a:ext>
            </a:extLst>
          </p:cNvPr>
          <p:cNvSpPr/>
          <p:nvPr/>
        </p:nvSpPr>
        <p:spPr>
          <a:xfrm>
            <a:off x="1415480" y="4725144"/>
            <a:ext cx="8928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dirty="0">
                <a:solidFill>
                  <a:schemeClr val="tx1"/>
                </a:solidFill>
              </a:rPr>
              <a:t>必须借助外部的力量来实现函数值的返回。例如：创建一个临时变量，将临时变量的值送给指定的变量。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2E1A90B-D6BD-42C0-8EB6-9253A43AC709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 </a:t>
            </a:r>
            <a:r>
              <a:rPr lang="zh-CN" altLang="en-US" dirty="0"/>
              <a:t>局部变量和全局变量 </a:t>
            </a:r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1981201" y="1752600"/>
            <a:ext cx="8361045" cy="441325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基本概念：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可见：</a:t>
            </a:r>
            <a:r>
              <a:rPr lang="zh-CN" altLang="en-US" sz="2800" dirty="0">
                <a:solidFill>
                  <a:schemeClr val="tx1"/>
                </a:solidFill>
              </a:rPr>
              <a:t>指变量可以正常使用；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生存：</a:t>
            </a:r>
            <a:r>
              <a:rPr lang="zh-CN" altLang="en-US" sz="2800" dirty="0">
                <a:solidFill>
                  <a:schemeClr val="tx1"/>
                </a:solidFill>
              </a:rPr>
              <a:t>指变量在内存中占有单元。有时，某变量在内存中占有单元，但却不能使用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可见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；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仅在某些函数或某些代码段中可见的变量，称为</a:t>
            </a:r>
            <a:r>
              <a:rPr lang="zh-CN" altLang="en-US" sz="2800" dirty="0">
                <a:solidFill>
                  <a:srgbClr val="FF0000"/>
                </a:solidFill>
              </a:rPr>
              <a:t>局部变量</a:t>
            </a:r>
            <a:r>
              <a:rPr lang="zh-CN" altLang="en-US" sz="2800" dirty="0">
                <a:solidFill>
                  <a:schemeClr val="tx1"/>
                </a:solidFill>
              </a:rPr>
              <a:t>；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如果在整个程序中都可见的变量，称为</a:t>
            </a:r>
            <a:r>
              <a:rPr lang="zh-CN" altLang="en-US" sz="2800" dirty="0">
                <a:solidFill>
                  <a:srgbClr val="FF0000"/>
                </a:solidFill>
              </a:rPr>
              <a:t>全局变量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73ABFBD-F256-4429-8944-7A8D1C02E282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99928" y="72325"/>
            <a:ext cx="902466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9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"c="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",&amp;c="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0320808" y="2088549"/>
            <a:ext cx="0" cy="20162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0896872" y="2592605"/>
            <a:ext cx="0" cy="148865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56112" y="4081258"/>
            <a:ext cx="736848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792458" y="1650398"/>
            <a:ext cx="8643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598506" y="2112063"/>
            <a:ext cx="694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296144" y="936421"/>
            <a:ext cx="0" cy="484805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872208" y="1440477"/>
            <a:ext cx="0" cy="432048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0" y="5760957"/>
            <a:ext cx="239992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948933" y="463818"/>
            <a:ext cx="694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9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1643354" y="1001547"/>
            <a:ext cx="694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endParaRPr lang="zh-CN" altLang="en-US" dirty="0"/>
          </a:p>
        </p:txBody>
      </p:sp>
      <p:sp>
        <p:nvSpPr>
          <p:cNvPr id="16" name="AutoShape 4"/>
          <p:cNvSpPr/>
          <p:nvPr/>
        </p:nvSpPr>
        <p:spPr>
          <a:xfrm>
            <a:off x="9264371" y="5180503"/>
            <a:ext cx="133413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ex3.cpp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895A10-E293-455F-AF84-94D0A3DC0BED}"/>
              </a:ext>
            </a:extLst>
          </p:cNvPr>
          <p:cNvSpPr/>
          <p:nvPr/>
        </p:nvSpPr>
        <p:spPr>
          <a:xfrm>
            <a:off x="432547" y="5972883"/>
            <a:ext cx="116401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规则：当内层代码引用的变量名同时存在于内层和外层时，使用内层变量。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           当内层代码引用的变量名在内层中不存在时，编译器会尝试在外层中查找。</a:t>
            </a:r>
          </a:p>
        </p:txBody>
      </p:sp>
    </p:spTree>
    <p:extLst>
      <p:ext uri="{BB962C8B-B14F-4D97-AF65-F5344CB8AC3E}">
        <p14:creationId xmlns:p14="http://schemas.microsoft.com/office/powerpoint/2010/main" val="2352808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4.4.1 </a:t>
            </a:r>
            <a:r>
              <a:rPr lang="zh-CN" altLang="en-US" dirty="0"/>
              <a:t>内存存储区的布局 </a:t>
            </a:r>
          </a:p>
        </p:txBody>
      </p:sp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pic>
        <p:nvPicPr>
          <p:cNvPr id="2048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1" y="1855788"/>
            <a:ext cx="5184775" cy="43100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D758346-A94F-47D3-8378-3554BC483BD2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4.4.2 </a:t>
            </a:r>
            <a:r>
              <a:rPr lang="zh-CN" altLang="en-US" dirty="0"/>
              <a:t>局部变量 </a:t>
            </a: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范围：函数内或复合语句块；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存储在栈中；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执行到定义局部变量的语句时，在栈中分配空间。当执行完毕，按先进后出的顺序依次释放。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局部变量定义时前面可加</a:t>
            </a:r>
            <a:r>
              <a:rPr lang="en-US" altLang="zh-CN" sz="2800" dirty="0">
                <a:solidFill>
                  <a:schemeClr val="tx1"/>
                </a:solidFill>
              </a:rPr>
              <a:t>auto</a:t>
            </a:r>
            <a:r>
              <a:rPr lang="zh-CN" altLang="en-US" sz="2800" dirty="0">
                <a:solidFill>
                  <a:schemeClr val="tx1"/>
                </a:solidFill>
              </a:rPr>
              <a:t>，但常省略。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rgbClr val="002060"/>
                </a:solidFill>
              </a:rPr>
              <a:t>若未显示赋值或初始化，其初值不确定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23A8100-F515-4D1B-915B-B283F0980374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/>
          <p:nvPr/>
        </p:nvSpPr>
        <p:spPr>
          <a:xfrm>
            <a:off x="2638426" y="884239"/>
            <a:ext cx="7561263" cy="5692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void   swap(int x, int y);  </a:t>
            </a:r>
            <a:r>
              <a:rPr lang="fr-FR" altLang="zh-CN" sz="2600" dirty="0">
                <a:solidFill>
                  <a:srgbClr val="C00000"/>
                </a:solidFill>
              </a:rPr>
              <a:t> // </a:t>
            </a:r>
            <a:r>
              <a:rPr lang="zh-CN" altLang="fr-FR" sz="2600" dirty="0">
                <a:solidFill>
                  <a:srgbClr val="C00000"/>
                </a:solidFill>
              </a:rPr>
              <a:t>分析局部变量</a:t>
            </a:r>
            <a:endParaRPr lang="zh-CN" altLang="fr-FR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int   main ( )</a:t>
            </a: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{	auto   int   x=10, y=20;</a:t>
            </a:r>
          </a:p>
          <a:p>
            <a:pPr eaLnBrk="1" fontAlgn="t" hangingPunct="1"/>
            <a:endParaRPr lang="zh-CN" altLang="fr-FR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fr-FR" sz="2600" dirty="0">
                <a:solidFill>
                  <a:schemeClr val="tx1"/>
                </a:solidFill>
              </a:rPr>
              <a:t>	</a:t>
            </a:r>
            <a:r>
              <a:rPr lang="fr-FR" altLang="zh-CN" sz="2600" dirty="0">
                <a:solidFill>
                  <a:schemeClr val="tx1"/>
                </a:solidFill>
              </a:rPr>
              <a:t>swap(x, y);</a:t>
            </a: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	cout&lt;&lt; setw(6) &lt;&lt; x &lt;&lt; setw(6) &lt;&lt; y &lt;&lt; endl ;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 swap(int x, int y)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  t; 	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t=x;	x=y;	y=t;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 setw(6) &lt;&lt; x &lt;&lt; setw(6) &lt;&lt; y &lt;&lt; endl ;</a:t>
            </a:r>
            <a:endParaRPr lang="fr-FR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} 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4.4.3 </a:t>
            </a:r>
            <a:r>
              <a:rPr lang="zh-CN" altLang="en-US" dirty="0"/>
              <a:t>全局变量 </a:t>
            </a: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2046288" y="1752600"/>
            <a:ext cx="8153400" cy="411480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全局变量</a:t>
            </a:r>
            <a:r>
              <a:rPr lang="en-US" altLang="zh-CN" sz="2800" dirty="0">
                <a:solidFill>
                  <a:schemeClr val="tx1"/>
                </a:solidFill>
              </a:rPr>
              <a:t>: </a:t>
            </a:r>
            <a:r>
              <a:rPr lang="zh-CN" altLang="en-US" sz="2800" dirty="0">
                <a:solidFill>
                  <a:schemeClr val="tx1"/>
                </a:solidFill>
              </a:rPr>
              <a:t>在函数外定义的变量。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</a:rPr>
              <a:t>全局变量存放在全局数据区，</a:t>
            </a:r>
            <a:r>
              <a:rPr lang="zh-CN" altLang="en-US" sz="2800" dirty="0">
                <a:solidFill>
                  <a:srgbClr val="002060"/>
                </a:solidFill>
              </a:rPr>
              <a:t>自动初始化为</a:t>
            </a:r>
            <a:r>
              <a:rPr lang="en-US" altLang="zh-CN" sz="2800" dirty="0">
                <a:solidFill>
                  <a:srgbClr val="002060"/>
                </a:solidFill>
              </a:rPr>
              <a:t>0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 作用域是从</a:t>
            </a:r>
            <a:r>
              <a:rPr lang="zh-CN" altLang="en-US" sz="2800" dirty="0">
                <a:solidFill>
                  <a:srgbClr val="FF0000"/>
                </a:solidFill>
              </a:rPr>
              <a:t>变量定义处开始到文件结束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(3)</a:t>
            </a:r>
            <a:r>
              <a:rPr lang="zh-CN" altLang="en-US" sz="2800" dirty="0">
                <a:solidFill>
                  <a:schemeClr val="tx1"/>
                </a:solidFill>
              </a:rPr>
              <a:t>如果程序的某个函数修改了全局变量，其他函数都“可见”修改后结果。 </a:t>
            </a:r>
          </a:p>
        </p:txBody>
      </p:sp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E7065E9-C93B-416A-9D91-8D9D14A60237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/>
          <p:nvPr/>
        </p:nvSpPr>
        <p:spPr>
          <a:xfrm>
            <a:off x="983432" y="332656"/>
            <a:ext cx="8315325" cy="6092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   a;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fun( 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 &lt;&lt; a 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a = 200;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int  a = 10;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fun( );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 &lt;&lt; setw(6) &lt;&lt; a &lt;&lt; setw(6) &lt;&lt; </a:t>
            </a:r>
            <a:r>
              <a:rPr lang="en-US" altLang="zh-CN" sz="2600" dirty="0">
                <a:solidFill>
                  <a:srgbClr val="FF0000"/>
                </a:solidFill>
              </a:rPr>
              <a:t>::a</a:t>
            </a:r>
            <a:r>
              <a:rPr lang="en-US" altLang="zh-CN" sz="2600" dirty="0">
                <a:solidFill>
                  <a:schemeClr val="tx1"/>
                </a:solidFill>
              </a:rPr>
              <a:t> &lt;&lt; endl; 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59356" y="2896717"/>
            <a:ext cx="3273827" cy="697552"/>
            <a:chOff x="3791744" y="2803456"/>
            <a:chExt cx="3273827" cy="697552"/>
          </a:xfrm>
        </p:grpSpPr>
        <p:sp>
          <p:nvSpPr>
            <p:cNvPr id="2" name="矩形 1"/>
            <p:cNvSpPr/>
            <p:nvPr/>
          </p:nvSpPr>
          <p:spPr>
            <a:xfrm>
              <a:off x="5481395" y="2803456"/>
              <a:ext cx="1584176" cy="4823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局部变量</a:t>
              </a: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H="1">
              <a:off x="3791744" y="2996952"/>
              <a:ext cx="1512168" cy="50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2495600" y="202277"/>
            <a:ext cx="3155412" cy="482352"/>
            <a:chOff x="3791744" y="3152232"/>
            <a:chExt cx="3155412" cy="482352"/>
          </a:xfrm>
        </p:grpSpPr>
        <p:sp>
          <p:nvSpPr>
            <p:cNvPr id="8" name="矩形 7"/>
            <p:cNvSpPr/>
            <p:nvPr/>
          </p:nvSpPr>
          <p:spPr>
            <a:xfrm>
              <a:off x="5362980" y="3152232"/>
              <a:ext cx="1584176" cy="48235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02060"/>
                  </a:solidFill>
                </a:rPr>
                <a:t>全局变量</a:t>
              </a: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H="1">
              <a:off x="3791744" y="3463165"/>
              <a:ext cx="1440160" cy="3784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AutoShape 4"/>
          <p:cNvSpPr/>
          <p:nvPr/>
        </p:nvSpPr>
        <p:spPr>
          <a:xfrm>
            <a:off x="10200456" y="5993681"/>
            <a:ext cx="133413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Ex3-0.cpp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171524" y="3809469"/>
            <a:ext cx="1584176" cy="986408"/>
            <a:chOff x="3165969" y="2514600"/>
            <a:chExt cx="1584176" cy="986408"/>
          </a:xfrm>
        </p:grpSpPr>
        <p:sp>
          <p:nvSpPr>
            <p:cNvPr id="13" name="矩形 12"/>
            <p:cNvSpPr/>
            <p:nvPr/>
          </p:nvSpPr>
          <p:spPr>
            <a:xfrm>
              <a:off x="3165969" y="2514600"/>
              <a:ext cx="1584176" cy="4823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局部变量</a:t>
              </a: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H="1">
              <a:off x="3791744" y="3070608"/>
              <a:ext cx="94305" cy="430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7267868" y="3687981"/>
            <a:ext cx="1584176" cy="1119160"/>
            <a:chOff x="3791744" y="2381848"/>
            <a:chExt cx="1584176" cy="1119160"/>
          </a:xfrm>
        </p:grpSpPr>
        <p:sp>
          <p:nvSpPr>
            <p:cNvPr id="17" name="矩形 16"/>
            <p:cNvSpPr/>
            <p:nvPr/>
          </p:nvSpPr>
          <p:spPr>
            <a:xfrm>
              <a:off x="3791744" y="2381848"/>
              <a:ext cx="1584176" cy="48235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02060"/>
                  </a:solidFill>
                </a:rPr>
                <a:t>全局变量</a:t>
              </a: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3791744" y="2864200"/>
              <a:ext cx="576064" cy="6368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3313898" y="1347535"/>
            <a:ext cx="3155412" cy="482352"/>
            <a:chOff x="3791744" y="3152232"/>
            <a:chExt cx="3155412" cy="482352"/>
          </a:xfrm>
        </p:grpSpPr>
        <p:sp>
          <p:nvSpPr>
            <p:cNvPr id="20" name="矩形 19"/>
            <p:cNvSpPr/>
            <p:nvPr/>
          </p:nvSpPr>
          <p:spPr>
            <a:xfrm>
              <a:off x="5362980" y="3152232"/>
              <a:ext cx="1584176" cy="48235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02060"/>
                  </a:solidFill>
                </a:rPr>
                <a:t>全局变量</a:t>
              </a:r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H="1">
              <a:off x="3791744" y="3463165"/>
              <a:ext cx="1440160" cy="3784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4.4.4 </a:t>
            </a:r>
            <a:r>
              <a:rPr lang="zh-CN" altLang="en-US" dirty="0"/>
              <a:t>局部变量与栈 </a:t>
            </a: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871450" y="1585119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栈实现函数调用和局部变量的空间分配。例如： </a:t>
            </a:r>
          </a:p>
        </p:txBody>
      </p:sp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43012" name="Text Box 4"/>
          <p:cNvSpPr txBox="1"/>
          <p:nvPr/>
        </p:nvSpPr>
        <p:spPr>
          <a:xfrm>
            <a:off x="1199456" y="2106369"/>
            <a:ext cx="7993062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 void  cat( int  x)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2 { 	cout&lt;&lt; x &lt;&lt; endl; }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3 void  dog ( int  a)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4 { 	int  b=10;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5	cat(b+a);		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6 }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7 int  main ( 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8 {	int  a=20;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9	dog( a );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10	cout &lt;&lt; a &lt;&lt; endl;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11	return  0;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12} 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301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4" y="3429000"/>
            <a:ext cx="6230937" cy="2047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D4D1DBD-6812-4A97-851F-CC1446D559D1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   </a:t>
            </a:r>
            <a:r>
              <a:rPr lang="zh-CN" altLang="en-US" dirty="0"/>
              <a:t>变量的存储类别 </a:t>
            </a: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838200" y="1351955"/>
            <a:ext cx="11129044" cy="5488037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存储类别修饰符：</a:t>
            </a:r>
            <a:r>
              <a:rPr lang="en-US" altLang="zh-CN" sz="2800" dirty="0">
                <a:solidFill>
                  <a:schemeClr val="tx1"/>
                </a:solidFill>
              </a:rPr>
              <a:t>auto</a:t>
            </a:r>
            <a:r>
              <a:rPr lang="zh-CN" altLang="en-US" sz="2800" dirty="0">
                <a:solidFill>
                  <a:schemeClr val="tx1"/>
                </a:solidFill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</a:rPr>
              <a:t>register</a:t>
            </a:r>
            <a:r>
              <a:rPr lang="zh-CN" altLang="en-US" sz="2800" dirty="0">
                <a:solidFill>
                  <a:schemeClr val="tx1"/>
                </a:solidFill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</a:rPr>
              <a:t>static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extern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514350" indent="-514350" eaLnBrk="1" hangingPunct="1">
              <a:lnSpc>
                <a:spcPct val="150000"/>
              </a:lnSpc>
              <a:buAutoNum type="arabicParenBoth"/>
            </a:pPr>
            <a:r>
              <a:rPr lang="en-US" altLang="zh-CN" sz="2800" dirty="0">
                <a:solidFill>
                  <a:schemeClr val="tx1"/>
                </a:solidFill>
              </a:rPr>
              <a:t>auto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register</a:t>
            </a:r>
            <a:r>
              <a:rPr lang="zh-CN" altLang="en-US" sz="2800" dirty="0">
                <a:solidFill>
                  <a:schemeClr val="tx1"/>
                </a:solidFill>
              </a:rPr>
              <a:t>修饰自动存储变量；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514350" indent="-514350" eaLnBrk="1" hangingPunct="1">
              <a:lnSpc>
                <a:spcPct val="150000"/>
              </a:lnSpc>
              <a:buAutoNum type="arabicParenBoth"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 static</a:t>
            </a:r>
            <a:r>
              <a:rPr lang="zh-CN" altLang="en-US" sz="2800" dirty="0">
                <a:solidFill>
                  <a:schemeClr val="tx1"/>
                </a:solidFill>
              </a:rPr>
              <a:t>修饰静态存储变量；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(3) extern</a:t>
            </a:r>
            <a:r>
              <a:rPr lang="zh-CN" altLang="en-US" sz="2800" dirty="0">
                <a:solidFill>
                  <a:schemeClr val="tx1"/>
                </a:solidFill>
              </a:rPr>
              <a:t>修饰外部存储变量。 </a:t>
            </a:r>
          </a:p>
        </p:txBody>
      </p:sp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" name="爆炸形 2 2"/>
          <p:cNvSpPr/>
          <p:nvPr/>
        </p:nvSpPr>
        <p:spPr>
          <a:xfrm>
            <a:off x="6402722" y="1871358"/>
            <a:ext cx="4176464" cy="184567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>
            <a:spAutoFit/>
          </a:bodyPr>
          <a:lstStyle/>
          <a:p>
            <a:pPr algn="ctr"/>
            <a:r>
              <a:rPr lang="zh-CN" altLang="en-US" dirty="0"/>
              <a:t>退出函数后自动释放</a:t>
            </a:r>
          </a:p>
        </p:txBody>
      </p:sp>
      <p:sp>
        <p:nvSpPr>
          <p:cNvPr id="7" name="爆炸形 2 6"/>
          <p:cNvSpPr/>
          <p:nvPr/>
        </p:nvSpPr>
        <p:spPr>
          <a:xfrm>
            <a:off x="4871864" y="3573016"/>
            <a:ext cx="4176464" cy="1845674"/>
          </a:xfrm>
          <a:prstGeom prst="irregularSeal2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>
            <a:spAutoFit/>
          </a:bodyPr>
          <a:lstStyle/>
          <a:p>
            <a:pPr algn="ctr"/>
            <a:r>
              <a:rPr lang="zh-CN" altLang="en-US" dirty="0"/>
              <a:t>退出函数后不释放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0B40B6E-A999-4003-B391-5B28EFEAEEF9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 idx="4294967295"/>
          </p:nvPr>
        </p:nvSpPr>
        <p:spPr>
          <a:xfrm>
            <a:off x="828614" y="404664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4.5.1 auto</a:t>
            </a:r>
            <a:r>
              <a:rPr lang="zh-CN" altLang="en-US" dirty="0"/>
              <a:t>修饰的变量 </a:t>
            </a:r>
          </a:p>
        </p:txBody>
      </p:sp>
      <p:sp>
        <p:nvSpPr>
          <p:cNvPr id="27652" name="Text Box 4"/>
          <p:cNvSpPr txBox="1"/>
          <p:nvPr/>
        </p:nvSpPr>
        <p:spPr>
          <a:xfrm>
            <a:off x="3935414" y="1844676"/>
            <a:ext cx="4321175" cy="3935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int fun( int  a )		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>
                <a:solidFill>
                  <a:srgbClr val="FF0000"/>
                </a:solidFill>
              </a:rPr>
              <a:t>auto  </a:t>
            </a:r>
            <a:r>
              <a:rPr lang="en-US" altLang="zh-CN" sz="2800" dirty="0">
                <a:solidFill>
                  <a:schemeClr val="tx1"/>
                </a:solidFill>
              </a:rPr>
              <a:t>int  b = 2;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>
                <a:solidFill>
                  <a:schemeClr val="tx1"/>
                </a:solidFill>
              </a:rPr>
              <a:t>……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      {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   double  d;   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800" dirty="0">
                <a:solidFill>
                  <a:schemeClr val="tx1"/>
                </a:solidFill>
              </a:rPr>
              <a:t>                </a:t>
            </a:r>
            <a:r>
              <a:rPr lang="en-US" altLang="zh-CN" sz="2800" dirty="0">
                <a:solidFill>
                  <a:schemeClr val="tx1"/>
                </a:solidFill>
              </a:rPr>
              <a:t>……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       }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}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2A2BF76-44D0-4D53-9C10-D690648DB498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 idx="4294967295"/>
          </p:nvPr>
        </p:nvSpPr>
        <p:spPr>
          <a:xfrm>
            <a:off x="479376" y="548680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4.5.2 register</a:t>
            </a:r>
            <a:r>
              <a:rPr lang="zh-CN" altLang="en-US" dirty="0"/>
              <a:t>修饰的变量 </a:t>
            </a:r>
          </a:p>
        </p:txBody>
      </p:sp>
      <p:sp>
        <p:nvSpPr>
          <p:cNvPr id="28676" name="Text Box 4"/>
          <p:cNvSpPr txBox="1"/>
          <p:nvPr/>
        </p:nvSpPr>
        <p:spPr>
          <a:xfrm>
            <a:off x="4079876" y="1946275"/>
            <a:ext cx="5256213" cy="4362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int  factor( int  n )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>
                <a:solidFill>
                  <a:srgbClr val="FF0000"/>
                </a:solidFill>
              </a:rPr>
              <a:t>register  </a:t>
            </a:r>
            <a:r>
              <a:rPr lang="en-US" altLang="zh-CN" sz="2800" dirty="0">
                <a:solidFill>
                  <a:schemeClr val="tx1"/>
                </a:solidFill>
              </a:rPr>
              <a:t>int  f = 1,  i;</a:t>
            </a:r>
          </a:p>
          <a:p>
            <a:pPr eaLnBrk="1" fontAlgn="t" hangingPunct="1"/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for( i = 1; i &lt;= n; i++)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 	f *= i;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return  f;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/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800" dirty="0">
                <a:solidFill>
                  <a:schemeClr val="tx1"/>
                </a:solidFill>
              </a:rPr>
              <a:t>建议少用该修饰符。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8479978-83E1-4D5B-9DED-B2E0C930E41B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28358"/>
            <a:ext cx="2743200" cy="365125"/>
          </a:xfrm>
        </p:spPr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 idx="4294967295"/>
          </p:nvPr>
        </p:nvSpPr>
        <p:spPr>
          <a:xfrm>
            <a:off x="490856" y="332656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4.5.3 static</a:t>
            </a:r>
            <a:r>
              <a:rPr lang="zh-CN" altLang="en-US" dirty="0"/>
              <a:t>修饰的变量 </a:t>
            </a:r>
          </a:p>
        </p:txBody>
      </p:sp>
      <p:sp>
        <p:nvSpPr>
          <p:cNvPr id="29700" name="Text Box 4"/>
          <p:cNvSpPr txBox="1"/>
          <p:nvPr/>
        </p:nvSpPr>
        <p:spPr>
          <a:xfrm>
            <a:off x="2567608" y="1276667"/>
            <a:ext cx="584009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 fun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</a:t>
            </a:r>
            <a:r>
              <a:rPr lang="en-US" altLang="zh-CN" dirty="0">
                <a:solidFill>
                  <a:srgbClr val="FF0000"/>
                </a:solidFill>
              </a:rPr>
              <a:t>static </a:t>
            </a:r>
            <a:r>
              <a:rPr lang="en-US" altLang="zh-CN" dirty="0">
                <a:solidFill>
                  <a:schemeClr val="tx1"/>
                </a:solidFill>
              </a:rPr>
              <a:t>int  a;         // </a:t>
            </a:r>
            <a:r>
              <a:rPr lang="zh-CN" altLang="en-US" dirty="0">
                <a:solidFill>
                  <a:schemeClr val="tx1"/>
                </a:solidFill>
              </a:rPr>
              <a:t>局部静态变量</a:t>
            </a: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int  b = 1;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a++;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b++;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a&lt;&lt; setw(6)&lt;&lt;b&lt;&lt;endl;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for( int  i = 0; i &lt; 5; i++)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fun(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 0;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701" name="AutoShape 7"/>
          <p:cNvSpPr/>
          <p:nvPr/>
        </p:nvSpPr>
        <p:spPr>
          <a:xfrm>
            <a:off x="2255967" y="1916832"/>
            <a:ext cx="217488" cy="2303463"/>
          </a:xfrm>
          <a:prstGeom prst="leftBrace">
            <a:avLst>
              <a:gd name="adj1" fmla="val 88211"/>
              <a:gd name="adj2" fmla="val 50000"/>
            </a:avLst>
          </a:prstGeom>
          <a:noFill/>
          <a:ln w="381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AutoShape 4"/>
          <p:cNvSpPr/>
          <p:nvPr/>
        </p:nvSpPr>
        <p:spPr>
          <a:xfrm>
            <a:off x="9624392" y="6181247"/>
            <a:ext cx="1334135" cy="355402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Ex3-1.cpp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FAC8B35-D686-4C21-AF04-5E162AFFDAEA}"/>
              </a:ext>
            </a:extLst>
          </p:cNvPr>
          <p:cNvCxnSpPr>
            <a:cxnSpLocks/>
          </p:cNvCxnSpPr>
          <p:nvPr/>
        </p:nvCxnSpPr>
        <p:spPr>
          <a:xfrm>
            <a:off x="1009650" y="1276667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4.5.4 extern</a:t>
            </a:r>
            <a:r>
              <a:rPr lang="zh-CN" altLang="en-US" dirty="0"/>
              <a:t>修饰的变量 </a:t>
            </a:r>
          </a:p>
        </p:txBody>
      </p:sp>
      <p:sp>
        <p:nvSpPr>
          <p:cNvPr id="30724" name="Rectangle 4"/>
          <p:cNvSpPr>
            <a:spLocks noGrp="1"/>
          </p:cNvSpPr>
          <p:nvPr>
            <p:ph idx="1"/>
          </p:nvPr>
        </p:nvSpPr>
        <p:spPr>
          <a:xfrm>
            <a:off x="1487488" y="1416052"/>
            <a:ext cx="8153400" cy="124460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extern</a:t>
            </a:r>
            <a:r>
              <a:rPr lang="zh-CN" altLang="en-US" sz="2800" dirty="0">
                <a:solidFill>
                  <a:schemeClr val="tx1"/>
                </a:solidFill>
              </a:rPr>
              <a:t>扩展全局变量的作用域，表现为：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 </a:t>
            </a:r>
            <a:r>
              <a:rPr lang="zh-CN" altLang="en-US" sz="2800" dirty="0">
                <a:solidFill>
                  <a:schemeClr val="tx1"/>
                </a:solidFill>
              </a:rPr>
              <a:t>将全局变量的作用域扩展到定义它之前。 </a:t>
            </a:r>
          </a:p>
        </p:txBody>
      </p:sp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48133" name="Text Box 5"/>
          <p:cNvSpPr txBox="1"/>
          <p:nvPr/>
        </p:nvSpPr>
        <p:spPr>
          <a:xfrm>
            <a:off x="1631504" y="2814638"/>
            <a:ext cx="7416800" cy="3387725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	</a:t>
            </a:r>
            <a:r>
              <a:rPr lang="en-US" altLang="zh-CN" dirty="0">
                <a:solidFill>
                  <a:srgbClr val="FF0000"/>
                </a:solidFill>
              </a:rPr>
              <a:t>extern  </a:t>
            </a:r>
            <a:r>
              <a:rPr lang="en-US" altLang="zh-CN" dirty="0">
                <a:solidFill>
                  <a:schemeClr val="tx1"/>
                </a:solidFill>
              </a:rPr>
              <a:t>int  x,  y;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2	int  min(int a, int b)       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3	{	return a&lt;b?a:b;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4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5	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6	{	cout &lt;&lt; min(x,y);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7			return 0;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8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9	</a:t>
            </a:r>
            <a:r>
              <a:rPr lang="en-US" altLang="zh-CN" dirty="0">
                <a:solidFill>
                  <a:srgbClr val="FF0000"/>
                </a:solidFill>
              </a:rPr>
              <a:t>int  </a:t>
            </a:r>
            <a:r>
              <a:rPr lang="fr-FR" altLang="zh-CN" dirty="0">
                <a:solidFill>
                  <a:srgbClr val="FF0000"/>
                </a:solidFill>
              </a:rPr>
              <a:t>x=3, y=5</a:t>
            </a:r>
            <a:r>
              <a:rPr lang="fr-FR" altLang="zh-CN" dirty="0">
                <a:solidFill>
                  <a:schemeClr val="tx1"/>
                </a:solidFill>
              </a:rPr>
              <a:t>; 	    // </a:t>
            </a:r>
            <a:r>
              <a:rPr lang="zh-CN" altLang="en-US" dirty="0">
                <a:solidFill>
                  <a:schemeClr val="tx1"/>
                </a:solidFill>
              </a:rPr>
              <a:t>定义全局变量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E190C3-9DD8-0269-1019-9EF33AB2B1DC}"/>
              </a:ext>
            </a:extLst>
          </p:cNvPr>
          <p:cNvSpPr txBox="1"/>
          <p:nvPr/>
        </p:nvSpPr>
        <p:spPr>
          <a:xfrm>
            <a:off x="9264352" y="3140968"/>
            <a:ext cx="2370112" cy="2369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变量定义与申明的区别：</a:t>
            </a:r>
            <a:endParaRPr lang="en-US" altLang="zh-CN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7A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定义时会为变量分配内存</a:t>
            </a:r>
            <a:endParaRPr lang="en-US" altLang="zh-CN" sz="2000" dirty="0">
              <a:solidFill>
                <a:srgbClr val="7A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7A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申明则无分配行为，只说明变量在其他地方定义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BD2308E-F7AA-4412-81C5-B9D0EBF996B3}"/>
              </a:ext>
            </a:extLst>
          </p:cNvPr>
          <p:cNvCxnSpPr>
            <a:cxnSpLocks/>
          </p:cNvCxnSpPr>
          <p:nvPr/>
        </p:nvCxnSpPr>
        <p:spPr>
          <a:xfrm>
            <a:off x="911424" y="1268760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484188" y="112532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4.5.4 extern</a:t>
            </a:r>
            <a:r>
              <a:rPr lang="zh-CN" altLang="en-US" dirty="0"/>
              <a:t>修饰的变量 </a:t>
            </a:r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1415480" y="1172309"/>
            <a:ext cx="8153400" cy="124460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extern</a:t>
            </a:r>
            <a:r>
              <a:rPr lang="zh-CN" altLang="en-US" sz="2800" dirty="0">
                <a:solidFill>
                  <a:schemeClr val="tx1"/>
                </a:solidFill>
              </a:rPr>
              <a:t>扩展全局变量的作用域，表现为：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 </a:t>
            </a:r>
            <a:r>
              <a:rPr lang="zh-CN" altLang="en-US" sz="2800" dirty="0">
                <a:solidFill>
                  <a:schemeClr val="tx1"/>
                </a:solidFill>
              </a:rPr>
              <a:t>将全局变量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函数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的作用域扩展到其他文件。  </a:t>
            </a:r>
          </a:p>
        </p:txBody>
      </p:sp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0180" name="Text Box 4"/>
          <p:cNvSpPr txBox="1"/>
          <p:nvPr/>
        </p:nvSpPr>
        <p:spPr>
          <a:xfrm>
            <a:off x="2062958" y="2333685"/>
            <a:ext cx="3744913" cy="4524315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// ex3-a.cpp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#include &lt;</a:t>
            </a:r>
            <a:r>
              <a:rPr lang="en-US" altLang="zh-CN" dirty="0" err="1">
                <a:solidFill>
                  <a:schemeClr val="tx1"/>
                </a:solidFill>
              </a:rPr>
              <a:t>iostream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#include"ex3-b.cpp"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using namespace </a:t>
            </a:r>
            <a:r>
              <a:rPr lang="en-US" altLang="zh-CN" dirty="0" err="1">
                <a:solidFill>
                  <a:schemeClr val="tx1"/>
                </a:solidFill>
              </a:rPr>
              <a:t>std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   x=3, y=5;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extern 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 add( );   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 main ( )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{    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    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 &lt;&lt; add( ) &lt;&lt; 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br>
              <a:rPr lang="en-US" altLang="zh-CN" dirty="0">
                <a:solidFill>
                  <a:schemeClr val="tx1"/>
                </a:solidFill>
              </a:rPr>
            </a:b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    return 0; 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}  </a:t>
            </a:r>
            <a:endParaRPr lang="fr-FR" altLang="zh-CN" dirty="0">
              <a:solidFill>
                <a:schemeClr val="tx1"/>
              </a:solidFill>
            </a:endParaRPr>
          </a:p>
        </p:txBody>
      </p:sp>
      <p:sp>
        <p:nvSpPr>
          <p:cNvPr id="50181" name="Text Box 5"/>
          <p:cNvSpPr txBox="1"/>
          <p:nvPr/>
        </p:nvSpPr>
        <p:spPr>
          <a:xfrm>
            <a:off x="6240464" y="2749551"/>
            <a:ext cx="3743325" cy="3387725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fr-FR" altLang="zh-CN" dirty="0">
                <a:solidFill>
                  <a:schemeClr val="tx1"/>
                </a:solidFill>
              </a:rPr>
              <a:t>// </a:t>
            </a:r>
            <a:r>
              <a:rPr lang="en-US" altLang="zh-CN" dirty="0">
                <a:solidFill>
                  <a:schemeClr val="tx1"/>
                </a:solidFill>
              </a:rPr>
              <a:t>e</a:t>
            </a:r>
            <a:r>
              <a:rPr lang="fr-FR" altLang="zh-CN" dirty="0">
                <a:solidFill>
                  <a:schemeClr val="tx1"/>
                </a:solidFill>
              </a:rPr>
              <a:t>x3-b.cpp</a:t>
            </a:r>
          </a:p>
          <a:p>
            <a:pPr eaLnBrk="1" fontAlgn="t" hangingPunct="1"/>
            <a:endParaRPr lang="fr-FR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fr-FR" altLang="zh-CN" dirty="0">
                <a:solidFill>
                  <a:srgbClr val="0000FF"/>
                </a:solidFill>
              </a:rPr>
              <a:t>extern  int  x, y;</a:t>
            </a:r>
            <a:endParaRPr lang="en-US" altLang="zh-CN" dirty="0">
              <a:solidFill>
                <a:srgbClr val="0000FF"/>
              </a:solidFill>
            </a:endParaRP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rgbClr val="FF0000"/>
                </a:solidFill>
              </a:rPr>
              <a:t>int  add( ) </a:t>
            </a:r>
            <a:r>
              <a:rPr lang="en-US" altLang="zh-CN" dirty="0">
                <a:solidFill>
                  <a:schemeClr val="tx1"/>
                </a:solidFill>
              </a:rPr>
              <a:t>      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x+y;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751" name="AutoShape 6"/>
          <p:cNvSpPr/>
          <p:nvPr/>
        </p:nvSpPr>
        <p:spPr>
          <a:xfrm>
            <a:off x="3792539" y="623887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ex3-a.cpp</a:t>
            </a:r>
          </a:p>
        </p:txBody>
      </p:sp>
      <p:sp>
        <p:nvSpPr>
          <p:cNvPr id="31752" name="AutoShape 7"/>
          <p:cNvSpPr/>
          <p:nvPr/>
        </p:nvSpPr>
        <p:spPr>
          <a:xfrm>
            <a:off x="7464426" y="625157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ex3-b.cpp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9C54513-813D-4A67-B04A-72B09FD20EB7}"/>
              </a:ext>
            </a:extLst>
          </p:cNvPr>
          <p:cNvCxnSpPr>
            <a:cxnSpLocks/>
          </p:cNvCxnSpPr>
          <p:nvPr/>
        </p:nvCxnSpPr>
        <p:spPr>
          <a:xfrm>
            <a:off x="551384" y="118720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ldLvl="0" animBg="1"/>
      <p:bldP spid="50181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551384" y="210263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4.6 </a:t>
            </a:r>
            <a:r>
              <a:rPr lang="zh-CN" altLang="en-US" dirty="0"/>
              <a:t>默认值参数 </a:t>
            </a: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821392" y="1212615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600" dirty="0">
                <a:solidFill>
                  <a:schemeClr val="tx1"/>
                </a:solidFill>
              </a:rPr>
              <a:t>默认参数也称缺省参数。</a:t>
            </a:r>
            <a:r>
              <a:rPr lang="zh-CN" altLang="en-US" sz="2400" dirty="0"/>
              <a:t>可以为函数的形式参数指定默认值，在函数调用时可省略函数实参</a:t>
            </a:r>
            <a:r>
              <a:rPr lang="zh-CN" altLang="en-US" sz="2600" dirty="0">
                <a:solidFill>
                  <a:schemeClr val="tx1"/>
                </a:solidFill>
              </a:rPr>
              <a:t>，直接将把参数的缺省值赋给函数形参。</a:t>
            </a:r>
          </a:p>
        </p:txBody>
      </p:sp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2774" name="AutoShape 5"/>
          <p:cNvSpPr/>
          <p:nvPr/>
        </p:nvSpPr>
        <p:spPr>
          <a:xfrm>
            <a:off x="10344472" y="6302499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3-6-1.cpp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60" y="6034107"/>
            <a:ext cx="7638070" cy="71179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14344" y="1966289"/>
            <a:ext cx="10536832" cy="415498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"1+2+3+4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C75D02E-27D5-4E43-B6C3-204260F12AF4}"/>
              </a:ext>
            </a:extLst>
          </p:cNvPr>
          <p:cNvCxnSpPr>
            <a:cxnSpLocks/>
          </p:cNvCxnSpPr>
          <p:nvPr/>
        </p:nvCxnSpPr>
        <p:spPr>
          <a:xfrm>
            <a:off x="821392" y="1124744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464" y="282530"/>
            <a:ext cx="8486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2060"/>
                </a:solidFill>
              </a:rPr>
              <a:t>注意</a:t>
            </a:r>
            <a:r>
              <a:rPr lang="en-US" altLang="zh-CN" b="0" dirty="0">
                <a:solidFill>
                  <a:srgbClr val="002060"/>
                </a:solidFill>
              </a:rPr>
              <a:t>1</a:t>
            </a:r>
            <a:r>
              <a:rPr lang="zh-CN" altLang="en-US" b="0" dirty="0">
                <a:solidFill>
                  <a:srgbClr val="002060"/>
                </a:solidFill>
              </a:rPr>
              <a:t>：</a:t>
            </a:r>
            <a:r>
              <a:rPr lang="zh-CN" altLang="en-US" b="0" dirty="0">
                <a:solidFill>
                  <a:schemeClr val="tx1"/>
                </a:solidFill>
              </a:rPr>
              <a:t>如果程序是先声明后定义，则只允许在</a:t>
            </a:r>
            <a:r>
              <a:rPr lang="zh-CN" altLang="en-US" b="0" dirty="0">
                <a:solidFill>
                  <a:srgbClr val="FF0000"/>
                </a:solidFill>
              </a:rPr>
              <a:t>声明中提供形参的默认值</a:t>
            </a:r>
            <a:r>
              <a:rPr lang="zh-CN" altLang="en-US" b="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1415480" y="1412776"/>
            <a:ext cx="9361040" cy="5262979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//Project - 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DefaultParameter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"1+2+3+4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092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32044" y="836712"/>
            <a:ext cx="9195200" cy="65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002060"/>
                </a:solidFill>
              </a:rPr>
              <a:t>注意</a:t>
            </a:r>
            <a:r>
              <a:rPr lang="en-US" altLang="zh-CN" sz="2800" b="0" dirty="0">
                <a:solidFill>
                  <a:srgbClr val="002060"/>
                </a:solidFill>
              </a:rPr>
              <a:t>2</a:t>
            </a:r>
            <a:r>
              <a:rPr lang="zh-CN" altLang="en-US" sz="2800" b="0" dirty="0">
                <a:solidFill>
                  <a:srgbClr val="002060"/>
                </a:solidFill>
              </a:rPr>
              <a:t>：</a:t>
            </a:r>
            <a:r>
              <a:rPr lang="zh-CN" altLang="en-US" b="0" dirty="0">
                <a:solidFill>
                  <a:schemeClr val="tx1"/>
                </a:solidFill>
              </a:rPr>
              <a:t>为函数提供的形参默认值只能提供给形参列表的</a:t>
            </a:r>
            <a:r>
              <a:rPr lang="zh-CN" altLang="en-US" b="0" dirty="0">
                <a:solidFill>
                  <a:srgbClr val="FF0000"/>
                </a:solidFill>
              </a:rPr>
              <a:t>最后 </a:t>
            </a:r>
            <a:r>
              <a:rPr lang="en-US" altLang="zh-CN" b="0" dirty="0">
                <a:solidFill>
                  <a:srgbClr val="FF0000"/>
                </a:solidFill>
              </a:rPr>
              <a:t>N </a:t>
            </a:r>
            <a:r>
              <a:rPr lang="zh-CN" altLang="en-US" b="0" dirty="0">
                <a:solidFill>
                  <a:srgbClr val="FF0000"/>
                </a:solidFill>
              </a:rPr>
              <a:t>个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r="17314"/>
          <a:stretch/>
        </p:blipFill>
        <p:spPr>
          <a:xfrm>
            <a:off x="263352" y="2661062"/>
            <a:ext cx="11778960" cy="115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0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838200" y="260648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4.7  </a:t>
            </a:r>
            <a:r>
              <a:rPr lang="zh-CN" altLang="en-US" dirty="0"/>
              <a:t>引用作参数 </a:t>
            </a: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767408" y="1453059"/>
            <a:ext cx="11234464" cy="5301208"/>
          </a:xfrm>
        </p:spPr>
        <p:txBody>
          <a:bodyPr vert="horz" wrap="square" lIns="91440" tIns="45720" rIns="91440" bIns="45720" anchor="t" anchorCtr="0">
            <a:normAutofit fontScale="92500" lnSpcReduction="20000"/>
          </a:bodyPr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支持按值传递、按引用传递。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引用不是定义一个新的变量，而是给一个已经定义过的变量重新取个名（别名）。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通过引用做参数，可以修改调用函数中的变量。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</a:p>
          <a:p>
            <a:pPr>
              <a:lnSpc>
                <a:spcPct val="16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    </a:t>
            </a:r>
            <a:r>
              <a:rPr lang="fr-FR" altLang="zh-CN" b="1" dirty="0"/>
              <a:t>int</a:t>
            </a:r>
            <a:r>
              <a:rPr lang="fr-FR" altLang="zh-CN" dirty="0"/>
              <a:t> x</a:t>
            </a:r>
            <a:r>
              <a:rPr lang="fr-FR" altLang="zh-CN" b="1" dirty="0"/>
              <a:t>=</a:t>
            </a:r>
            <a:r>
              <a:rPr lang="fr-FR" altLang="zh-CN" dirty="0"/>
              <a:t>5</a:t>
            </a:r>
            <a:r>
              <a:rPr lang="fr-FR" altLang="zh-CN" b="1" dirty="0"/>
              <a:t>;</a:t>
            </a:r>
            <a:br>
              <a:rPr lang="fr-FR" altLang="zh-CN" b="1" dirty="0"/>
            </a:br>
            <a:r>
              <a:rPr lang="fr-FR" altLang="zh-CN" dirty="0"/>
              <a:t>    cout</a:t>
            </a:r>
            <a:r>
              <a:rPr lang="fr-FR" altLang="zh-CN" b="1" dirty="0"/>
              <a:t>&lt;&lt;"x="&lt;&lt;</a:t>
            </a:r>
            <a:r>
              <a:rPr lang="fr-FR" altLang="zh-CN" dirty="0"/>
              <a:t>x</a:t>
            </a:r>
            <a:r>
              <a:rPr lang="fr-FR" altLang="zh-CN" b="1" dirty="0"/>
              <a:t>&lt;&lt;</a:t>
            </a:r>
            <a:r>
              <a:rPr lang="fr-FR" altLang="zh-CN" dirty="0"/>
              <a:t>endl</a:t>
            </a:r>
            <a:r>
              <a:rPr lang="fr-FR" altLang="zh-CN" b="1" dirty="0"/>
              <a:t>;</a:t>
            </a:r>
            <a:br>
              <a:rPr lang="fr-FR" altLang="zh-CN" b="1" dirty="0"/>
            </a:br>
            <a:r>
              <a:rPr lang="fr-FR" altLang="zh-CN" dirty="0"/>
              <a:t>    </a:t>
            </a:r>
            <a:r>
              <a:rPr lang="fr-FR" altLang="zh-CN" b="1" dirty="0">
                <a:solidFill>
                  <a:srgbClr val="FF0000"/>
                </a:solidFill>
              </a:rPr>
              <a:t>int&amp;</a:t>
            </a:r>
            <a:r>
              <a:rPr lang="fr-FR" altLang="zh-CN" dirty="0">
                <a:solidFill>
                  <a:srgbClr val="FF0000"/>
                </a:solidFill>
              </a:rPr>
              <a:t> y</a:t>
            </a:r>
            <a:r>
              <a:rPr lang="fr-FR" altLang="zh-CN" b="1" dirty="0">
                <a:solidFill>
                  <a:srgbClr val="FF0000"/>
                </a:solidFill>
              </a:rPr>
              <a:t>=</a:t>
            </a:r>
            <a:r>
              <a:rPr lang="fr-FR" altLang="zh-CN" dirty="0">
                <a:solidFill>
                  <a:srgbClr val="FF0000"/>
                </a:solidFill>
              </a:rPr>
              <a:t>x</a:t>
            </a:r>
            <a:r>
              <a:rPr lang="fr-FR" altLang="zh-CN" b="1" dirty="0">
                <a:solidFill>
                  <a:srgbClr val="FF0000"/>
                </a:solidFill>
              </a:rPr>
              <a:t>;</a:t>
            </a:r>
            <a:br>
              <a:rPr lang="fr-FR" altLang="zh-CN" b="1" dirty="0"/>
            </a:br>
            <a:r>
              <a:rPr lang="fr-FR" altLang="zh-CN" dirty="0"/>
              <a:t>    cout</a:t>
            </a:r>
            <a:r>
              <a:rPr lang="fr-FR" altLang="zh-CN" b="1" dirty="0"/>
              <a:t>&lt;&lt;"y="&lt;&lt;</a:t>
            </a:r>
            <a:r>
              <a:rPr lang="fr-FR" altLang="zh-CN" dirty="0"/>
              <a:t>y</a:t>
            </a:r>
            <a:r>
              <a:rPr lang="fr-FR" altLang="zh-CN" b="1" dirty="0"/>
              <a:t>&lt;&lt;</a:t>
            </a:r>
            <a:r>
              <a:rPr lang="fr-FR" altLang="zh-CN" dirty="0"/>
              <a:t>endl</a:t>
            </a:r>
            <a:r>
              <a:rPr lang="fr-FR" altLang="zh-CN" b="1" dirty="0"/>
              <a:t>;</a:t>
            </a:r>
            <a:br>
              <a:rPr lang="fr-FR" altLang="zh-CN" b="1" dirty="0"/>
            </a:br>
            <a:r>
              <a:rPr lang="fr-FR" altLang="zh-CN" dirty="0"/>
              <a:t>    y</a:t>
            </a:r>
            <a:r>
              <a:rPr lang="fr-FR" altLang="zh-CN" b="1" dirty="0"/>
              <a:t>++;</a:t>
            </a:r>
            <a:br>
              <a:rPr lang="fr-FR" altLang="zh-CN" b="1" dirty="0"/>
            </a:br>
            <a:r>
              <a:rPr lang="fr-FR" altLang="zh-CN" dirty="0"/>
              <a:t>    cout</a:t>
            </a:r>
            <a:r>
              <a:rPr lang="fr-FR" altLang="zh-CN" b="1" dirty="0"/>
              <a:t>&lt;&lt;"x="&lt;&lt;</a:t>
            </a:r>
            <a:r>
              <a:rPr lang="fr-FR" altLang="zh-CN" dirty="0"/>
              <a:t>x</a:t>
            </a:r>
            <a:r>
              <a:rPr lang="fr-FR" altLang="zh-CN" b="1" dirty="0"/>
              <a:t>&lt;&lt;</a:t>
            </a:r>
            <a:r>
              <a:rPr lang="fr-FR" altLang="zh-CN" dirty="0"/>
              <a:t>endl</a:t>
            </a:r>
            <a:r>
              <a:rPr lang="fr-FR" altLang="zh-CN" b="1" dirty="0"/>
              <a:t>;</a:t>
            </a:r>
            <a:r>
              <a:rPr lang="fr-FR" altLang="zh-CN" dirty="0"/>
              <a:t>     </a:t>
            </a:r>
            <a:r>
              <a:rPr lang="en-US" altLang="zh-CN" sz="2800" dirty="0">
                <a:solidFill>
                  <a:schemeClr val="tx1"/>
                </a:solidFill>
              </a:rPr>
              <a:t>   	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344472" y="6302499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3-7-1.cpp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572F6FB-BB68-4006-80DA-BC4BED3E2E26}"/>
              </a:ext>
            </a:extLst>
          </p:cNvPr>
          <p:cNvCxnSpPr>
            <a:cxnSpLocks/>
          </p:cNvCxnSpPr>
          <p:nvPr/>
        </p:nvCxnSpPr>
        <p:spPr>
          <a:xfrm>
            <a:off x="1009650" y="134076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71664" y="247288"/>
            <a:ext cx="6096000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void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swap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fr-FR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343472" y="3065165"/>
            <a:ext cx="8470353" cy="37856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"before swap(main):"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swap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"after swap(main):"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system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"pause"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81061" y="476672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例：交换两个数。</a:t>
            </a:r>
          </a:p>
        </p:txBody>
      </p:sp>
      <p:sp>
        <p:nvSpPr>
          <p:cNvPr id="7" name="AutoShape 5"/>
          <p:cNvSpPr/>
          <p:nvPr/>
        </p:nvSpPr>
        <p:spPr>
          <a:xfrm>
            <a:off x="10200456" y="6093296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3-7-2.cpp</a:t>
            </a:r>
          </a:p>
        </p:txBody>
      </p:sp>
    </p:spTree>
    <p:extLst>
      <p:ext uri="{BB962C8B-B14F-4D97-AF65-F5344CB8AC3E}">
        <p14:creationId xmlns:p14="http://schemas.microsoft.com/office/powerpoint/2010/main" val="3870133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/>
          <p:nvPr/>
        </p:nvSpPr>
        <p:spPr>
          <a:xfrm>
            <a:off x="1847528" y="221316"/>
            <a:ext cx="7993063" cy="408111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doubleNum ( int  &amp;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getNum ( int  &amp;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{   int  value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getNum ( value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doubleNum ( value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cout &lt;&lt; "</a:t>
            </a:r>
            <a:r>
              <a:rPr lang="zh-CN" altLang="en-US" dirty="0">
                <a:solidFill>
                  <a:schemeClr val="tx1"/>
                </a:solidFill>
              </a:rPr>
              <a:t>乘以 </a:t>
            </a:r>
            <a:r>
              <a:rPr lang="en-US" altLang="zh-CN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以后的结果是：</a:t>
            </a:r>
            <a:r>
              <a:rPr lang="en-US" altLang="zh-CN" dirty="0">
                <a:solidFill>
                  <a:schemeClr val="tx1"/>
                </a:solidFill>
              </a:rPr>
              <a:t>" &lt;&lt; value &lt;&lt; endl ;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return 0;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5843" name="Text Box 5"/>
          <p:cNvSpPr txBox="1"/>
          <p:nvPr/>
        </p:nvSpPr>
        <p:spPr>
          <a:xfrm>
            <a:off x="5880100" y="4611691"/>
            <a:ext cx="4464050" cy="2000250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doubleNum ( int  &amp;refVar)</a:t>
            </a:r>
          </a:p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refVar *= 2 ;</a:t>
            </a:r>
          </a:p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844" name="Text Box 6"/>
          <p:cNvSpPr txBox="1"/>
          <p:nvPr/>
        </p:nvSpPr>
        <p:spPr>
          <a:xfrm>
            <a:off x="8112125" y="1628775"/>
            <a:ext cx="18732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C00000"/>
                </a:solidFill>
              </a:rPr>
              <a:t>思考结果</a:t>
            </a:r>
            <a:r>
              <a:rPr lang="en-US" altLang="zh-CN" sz="3200" dirty="0">
                <a:solidFill>
                  <a:srgbClr val="C00000"/>
                </a:solidFill>
              </a:rPr>
              <a:t>?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35845" name="AutoShape 7"/>
          <p:cNvSpPr/>
          <p:nvPr/>
        </p:nvSpPr>
        <p:spPr>
          <a:xfrm>
            <a:off x="10488488" y="642620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3-9.cpp</a:t>
            </a:r>
          </a:p>
        </p:txBody>
      </p:sp>
      <p:sp>
        <p:nvSpPr>
          <p:cNvPr id="2" name="矩形 1"/>
          <p:cNvSpPr/>
          <p:nvPr/>
        </p:nvSpPr>
        <p:spPr>
          <a:xfrm>
            <a:off x="1055440" y="4487813"/>
            <a:ext cx="4608512" cy="230832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</a:t>
            </a:r>
            <a:r>
              <a:rPr lang="en-US" altLang="zh-CN" dirty="0" err="1">
                <a:solidFill>
                  <a:schemeClr val="tx1"/>
                </a:solidFill>
              </a:rPr>
              <a:t>getNum</a:t>
            </a:r>
            <a:r>
              <a:rPr lang="en-US" altLang="zh-CN" dirty="0">
                <a:solidFill>
                  <a:schemeClr val="tx1"/>
                </a:solidFill>
              </a:rPr>
              <a:t> ( 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&amp;</a:t>
            </a:r>
            <a:r>
              <a:rPr lang="en-US" altLang="zh-CN" dirty="0" err="1">
                <a:solidFill>
                  <a:schemeClr val="tx1"/>
                </a:solidFill>
              </a:rPr>
              <a:t>userNum</a:t>
            </a:r>
            <a:r>
              <a:rPr lang="en-US" altLang="zh-CN" dirty="0">
                <a:solidFill>
                  <a:schemeClr val="tx1"/>
                </a:solidFill>
              </a:rPr>
              <a:t>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请输入一个数</a:t>
            </a:r>
            <a:r>
              <a:rPr lang="en-US" altLang="zh-CN" dirty="0">
                <a:solidFill>
                  <a:schemeClr val="tx1"/>
                </a:solidFill>
              </a:rPr>
              <a:t>: "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en-US" altLang="zh-CN" dirty="0">
                <a:solidFill>
                  <a:schemeClr val="tx1"/>
                </a:solidFill>
              </a:rPr>
              <a:t> &gt;&gt; </a:t>
            </a:r>
            <a:r>
              <a:rPr lang="en-US" altLang="zh-CN" dirty="0" err="1">
                <a:solidFill>
                  <a:schemeClr val="tx1"/>
                </a:solidFill>
              </a:rPr>
              <a:t>userNum</a:t>
            </a:r>
            <a:r>
              <a:rPr lang="en-US" altLang="zh-CN" dirty="0">
                <a:solidFill>
                  <a:schemeClr val="tx1"/>
                </a:solidFill>
              </a:rPr>
              <a:t>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479376" y="26080"/>
            <a:ext cx="10515600" cy="1325563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en-US" altLang="zh-CN" sz="3600" dirty="0"/>
              <a:t>4.8 </a:t>
            </a:r>
            <a:r>
              <a:rPr lang="zh-CN" altLang="en-US" sz="3600" dirty="0"/>
              <a:t>函数重载 </a:t>
            </a: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911424" y="1235112"/>
            <a:ext cx="10801200" cy="936104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程序中定义多个函数，函数的</a:t>
            </a:r>
            <a:r>
              <a:rPr lang="zh-CN" altLang="en-US" sz="2800" dirty="0">
                <a:solidFill>
                  <a:srgbClr val="FF0000"/>
                </a:solidFill>
              </a:rPr>
              <a:t>名字相同</a:t>
            </a:r>
            <a:r>
              <a:rPr lang="zh-CN" altLang="en-US" sz="2800" dirty="0">
                <a:solidFill>
                  <a:schemeClr val="tx1"/>
                </a:solidFill>
              </a:rPr>
              <a:t>，但参数的</a:t>
            </a:r>
            <a:r>
              <a:rPr lang="zh-CN" altLang="en-US" sz="2800" dirty="0">
                <a:solidFill>
                  <a:srgbClr val="0070C0"/>
                </a:solidFill>
              </a:rPr>
              <a:t>类型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zh-CN" altLang="en-US" sz="2800" dirty="0">
                <a:solidFill>
                  <a:srgbClr val="0070C0"/>
                </a:solidFill>
              </a:rPr>
              <a:t>个数</a:t>
            </a:r>
            <a:r>
              <a:rPr lang="zh-CN" altLang="en-US" sz="2800" dirty="0">
                <a:solidFill>
                  <a:schemeClr val="tx1"/>
                </a:solidFill>
              </a:rPr>
              <a:t>不完全相同。</a:t>
            </a:r>
          </a:p>
        </p:txBody>
      </p:sp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10" name="AutoShape 6"/>
          <p:cNvSpPr/>
          <p:nvPr/>
        </p:nvSpPr>
        <p:spPr>
          <a:xfrm>
            <a:off x="9982200" y="5701653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3-10-1.cpp</a:t>
            </a:r>
          </a:p>
        </p:txBody>
      </p:sp>
      <p:sp>
        <p:nvSpPr>
          <p:cNvPr id="2" name="矩形 1"/>
          <p:cNvSpPr/>
          <p:nvPr/>
        </p:nvSpPr>
        <p:spPr>
          <a:xfrm>
            <a:off x="1692896" y="2054684"/>
            <a:ext cx="80885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</a:p>
          <a:p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1.3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3.4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hello,"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"world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!"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791744" y="110011"/>
            <a:ext cx="6096000" cy="9787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rgbClr val="002060"/>
                </a:solidFill>
              </a:rPr>
              <a:t>C++</a:t>
            </a:r>
            <a:r>
              <a:rPr lang="zh-CN" altLang="en-US" dirty="0">
                <a:solidFill>
                  <a:srgbClr val="002060"/>
                </a:solidFill>
              </a:rPr>
              <a:t>在进行函数调用时，不仅靠函数名识别函数，而且还要看参数列表。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8915" name="Text Box 4"/>
          <p:cNvSpPr txBox="1"/>
          <p:nvPr/>
        </p:nvSpPr>
        <p:spPr>
          <a:xfrm>
            <a:off x="1055440" y="1752600"/>
            <a:ext cx="9649072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2060"/>
                </a:solidFill>
              </a:rPr>
              <a:t>注意</a:t>
            </a:r>
            <a:r>
              <a:rPr lang="en-US" altLang="zh-CN" sz="2800" dirty="0">
                <a:solidFill>
                  <a:srgbClr val="002060"/>
                </a:solidFill>
              </a:rPr>
              <a:t>1</a:t>
            </a:r>
            <a:r>
              <a:rPr lang="zh-CN" altLang="en-US" sz="2800" dirty="0">
                <a:solidFill>
                  <a:srgbClr val="002060"/>
                </a:solidFill>
              </a:rPr>
              <a:t>：不能采用函数返回值的类型来区别重载：</a:t>
            </a: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38916" name="Rectangle 5"/>
          <p:cNvSpPr/>
          <p:nvPr/>
        </p:nvSpPr>
        <p:spPr>
          <a:xfrm>
            <a:off x="767408" y="45534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1" hangingPunct="1"/>
            <a:r>
              <a:rPr lang="en-US" altLang="zh-CN" sz="4000" b="0" dirty="0">
                <a:solidFill>
                  <a:schemeClr val="tx1"/>
                </a:solidFill>
              </a:rPr>
              <a:t>4.8 </a:t>
            </a:r>
            <a:r>
              <a:rPr lang="zh-CN" altLang="en-US" sz="4000" b="0" dirty="0">
                <a:solidFill>
                  <a:schemeClr val="tx1"/>
                </a:solidFill>
              </a:rPr>
              <a:t>函数重载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18831"/>
          <a:stretch/>
        </p:blipFill>
        <p:spPr>
          <a:xfrm>
            <a:off x="1199457" y="2564904"/>
            <a:ext cx="10369152" cy="1346318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623C3C9-39BD-4054-8D95-1EC6FC6ACF7D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 </a:t>
            </a:r>
            <a:r>
              <a:rPr lang="zh-CN" altLang="en-US" dirty="0"/>
              <a:t>函数模板 </a:t>
            </a: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1981200" y="1752600"/>
            <a:ext cx="8153400" cy="462915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模板：函数类模板。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函数模板</a:t>
            </a:r>
            <a:r>
              <a:rPr lang="zh-CN" altLang="en-US" sz="2800" dirty="0">
                <a:solidFill>
                  <a:srgbClr val="002060"/>
                </a:solidFill>
              </a:rPr>
              <a:t>简化重载</a:t>
            </a:r>
            <a:r>
              <a:rPr lang="zh-CN" altLang="en-US" sz="2800" dirty="0">
                <a:solidFill>
                  <a:schemeClr val="tx1"/>
                </a:solidFill>
              </a:rPr>
              <a:t>。编译器遇到函数调用时，将根据实参类型和函数模板一起产生函数代码。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800">
                <a:solidFill>
                  <a:schemeClr val="tx1"/>
                </a:solidFill>
              </a:rPr>
              <a:t>函数模板并不是真正意义上的函数，定义形式：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olidFill>
                  <a:schemeClr val="tx1"/>
                </a:solidFill>
              </a:rPr>
              <a:t>        </a:t>
            </a:r>
            <a:r>
              <a:rPr lang="en-US" altLang="zh-CN" sz="2800">
                <a:solidFill>
                  <a:schemeClr val="tx1"/>
                </a:solidFill>
              </a:rPr>
              <a:t>template  &lt; </a:t>
            </a:r>
            <a:r>
              <a:rPr lang="zh-CN" altLang="en-US" sz="2800">
                <a:solidFill>
                  <a:schemeClr val="tx1"/>
                </a:solidFill>
              </a:rPr>
              <a:t>类型参数表 </a:t>
            </a:r>
            <a:r>
              <a:rPr lang="en-US" altLang="zh-CN" sz="2800">
                <a:solidFill>
                  <a:schemeClr val="tx1"/>
                </a:solidFill>
              </a:rPr>
              <a:t>&gt;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>
                <a:solidFill>
                  <a:schemeClr val="tx1"/>
                </a:solidFill>
              </a:rPr>
              <a:t>        </a:t>
            </a:r>
            <a:r>
              <a:rPr lang="zh-CN" altLang="en-US" sz="2800">
                <a:solidFill>
                  <a:schemeClr val="tx1"/>
                </a:solidFill>
              </a:rPr>
              <a:t>返回值类型  函数名 </a:t>
            </a:r>
            <a:r>
              <a:rPr lang="en-US" altLang="zh-CN" sz="2800">
                <a:solidFill>
                  <a:schemeClr val="tx1"/>
                </a:solidFill>
              </a:rPr>
              <a:t>( </a:t>
            </a:r>
            <a:r>
              <a:rPr lang="zh-CN" altLang="en-US" sz="2800">
                <a:solidFill>
                  <a:schemeClr val="tx1"/>
                </a:solidFill>
              </a:rPr>
              <a:t>形式参数表 </a:t>
            </a:r>
            <a:r>
              <a:rPr lang="en-US" altLang="zh-CN" sz="280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>
                <a:solidFill>
                  <a:schemeClr val="tx1"/>
                </a:solidFill>
              </a:rPr>
              <a:t>        {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>
                <a:solidFill>
                  <a:schemeClr val="tx1"/>
                </a:solidFill>
              </a:rPr>
              <a:t>            // </a:t>
            </a:r>
            <a:r>
              <a:rPr lang="zh-CN" altLang="en-US" sz="2800">
                <a:solidFill>
                  <a:schemeClr val="tx1"/>
                </a:solidFill>
              </a:rPr>
              <a:t>函数体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olidFill>
                  <a:schemeClr val="tx1"/>
                </a:solidFill>
              </a:rPr>
              <a:t>        </a:t>
            </a:r>
            <a:r>
              <a:rPr lang="en-US" altLang="zh-CN" sz="2800">
                <a:solidFill>
                  <a:schemeClr val="tx1"/>
                </a:solidFill>
              </a:rPr>
              <a:t>}</a:t>
            </a:r>
            <a:r>
              <a:rPr lang="zh-CN" altLang="en-US" sz="2800">
                <a:solidFill>
                  <a:schemeClr val="tx1"/>
                </a:solidFill>
              </a:rPr>
              <a:t> 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39FD88-ECFD-4F05-B066-A2A451ED9867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4.9.1  </a:t>
            </a:r>
            <a:r>
              <a:rPr lang="zh-CN" altLang="en-US" dirty="0"/>
              <a:t>从函数重载到函数模板 </a:t>
            </a: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1487488" y="1690688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函数重载是函数名相同，参数一定不完全相同，采用函数重载，要对每个函数分别写出相应的代码。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600" dirty="0"/>
              <a:t>函数模板，参数个数一定相同，只需写一次代码。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C5C7C88-8177-464C-84D2-2FC1F844F8B4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4.9.2  </a:t>
            </a:r>
            <a:r>
              <a:rPr lang="zh-CN" altLang="en-US" dirty="0"/>
              <a:t>定义函数模板的方法 </a:t>
            </a: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2019300" y="1484784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(1) </a:t>
            </a:r>
            <a:r>
              <a:rPr lang="zh-CN" altLang="en-US" sz="2600" dirty="0">
                <a:solidFill>
                  <a:schemeClr val="tx1"/>
                </a:solidFill>
              </a:rPr>
              <a:t>定义一个普通的函数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33B3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400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400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   }</a:t>
            </a:r>
            <a:b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600" dirty="0">
                <a:solidFill>
                  <a:schemeClr val="tx1"/>
                </a:solidFill>
              </a:rPr>
              <a:t>(2) </a:t>
            </a:r>
            <a:r>
              <a:rPr lang="zh-CN" altLang="en-US" sz="2600" dirty="0">
                <a:solidFill>
                  <a:schemeClr val="tx1"/>
                </a:solidFill>
              </a:rPr>
              <a:t>在函数开头加上</a:t>
            </a:r>
            <a:r>
              <a:rPr lang="en-US" altLang="zh-CN" sz="2600" dirty="0">
                <a:solidFill>
                  <a:schemeClr val="tx1"/>
                </a:solidFill>
              </a:rPr>
              <a:t>template  &lt; class  T &gt;</a:t>
            </a:r>
            <a:r>
              <a:rPr lang="zh-CN" altLang="en-US" sz="2600" dirty="0">
                <a:solidFill>
                  <a:schemeClr val="tx1"/>
                </a:solidFill>
              </a:rPr>
              <a:t>，将函数形参的类型和局部变量的类型</a:t>
            </a:r>
            <a:r>
              <a:rPr lang="en-US" altLang="zh-CN" sz="2600" dirty="0">
                <a:solidFill>
                  <a:schemeClr val="tx1"/>
                </a:solidFill>
              </a:rPr>
              <a:t>int</a:t>
            </a:r>
            <a:r>
              <a:rPr lang="zh-CN" altLang="en-US" sz="2600" dirty="0">
                <a:solidFill>
                  <a:schemeClr val="tx1"/>
                </a:solidFill>
              </a:rPr>
              <a:t>采用</a:t>
            </a:r>
            <a:r>
              <a:rPr lang="en-US" altLang="zh-CN" sz="2600" dirty="0">
                <a:solidFill>
                  <a:schemeClr val="tx1"/>
                </a:solidFill>
              </a:rPr>
              <a:t>T</a:t>
            </a:r>
            <a:r>
              <a:rPr lang="zh-CN" altLang="en-US" sz="2600" dirty="0">
                <a:solidFill>
                  <a:schemeClr val="tx1"/>
                </a:solidFill>
              </a:rPr>
              <a:t>替换。</a:t>
            </a:r>
          </a:p>
        </p:txBody>
      </p:sp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5640" y="4581128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  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BB07433-D2BC-443D-AD1B-397EEFFE2EA9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40016" y="960289"/>
            <a:ext cx="5688632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template &lt;class T&gt;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T add(T </a:t>
            </a:r>
            <a:r>
              <a:rPr lang="en-US" altLang="zh-CN" dirty="0" err="1">
                <a:solidFill>
                  <a:srgbClr val="002060"/>
                </a:solidFill>
              </a:rPr>
              <a:t>a,T</a:t>
            </a:r>
            <a:r>
              <a:rPr lang="en-US" altLang="zh-CN" dirty="0">
                <a:solidFill>
                  <a:srgbClr val="002060"/>
                </a:solidFill>
              </a:rPr>
              <a:t> b)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{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return </a:t>
            </a:r>
            <a:r>
              <a:rPr lang="en-US" altLang="zh-CN" dirty="0" err="1">
                <a:solidFill>
                  <a:srgbClr val="002060"/>
                </a:solidFill>
              </a:rPr>
              <a:t>a+b</a:t>
            </a:r>
            <a:r>
              <a:rPr lang="en-US" altLang="zh-CN" dirty="0">
                <a:solidFill>
                  <a:srgbClr val="002060"/>
                </a:solidFill>
              </a:rPr>
              <a:t>;    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}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 main()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{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&lt;&lt;add(2,3)&lt;&lt;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&lt;&lt;add(1.3,3.4)&lt;&lt;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string s1="hello,";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string s2="world!";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&lt;&lt;add(s1,s2)&lt;&lt;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return 0;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} 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3352" y="1268760"/>
            <a:ext cx="5616624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</a:p>
          <a:p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1.3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3.4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hello,"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"world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!"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624512" y="692696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函数重载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76120" y="81007"/>
            <a:ext cx="41024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函数模板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zh-CN" altLang="en-US" dirty="0">
                <a:solidFill>
                  <a:srgbClr val="002060"/>
                </a:solidFill>
              </a:rPr>
              <a:t>参数个数相同，仅类型不同</a:t>
            </a:r>
            <a:r>
              <a:rPr lang="en-US" altLang="zh-CN" dirty="0">
                <a:solidFill>
                  <a:srgbClr val="002060"/>
                </a:solidFill>
              </a:rPr>
              <a:t>)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7408" y="173831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例</a:t>
            </a:r>
            <a:r>
              <a:rPr lang="en-US" altLang="zh-CN" dirty="0">
                <a:solidFill>
                  <a:srgbClr val="002060"/>
                </a:solidFill>
              </a:rPr>
              <a:t> :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7" name="AutoShape 3"/>
          <p:cNvSpPr/>
          <p:nvPr/>
        </p:nvSpPr>
        <p:spPr>
          <a:xfrm>
            <a:off x="6744072" y="631983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3-12-0.cpp</a:t>
            </a:r>
          </a:p>
        </p:txBody>
      </p:sp>
    </p:spTree>
    <p:extLst>
      <p:ext uri="{BB962C8B-B14F-4D97-AF65-F5344CB8AC3E}">
        <p14:creationId xmlns:p14="http://schemas.microsoft.com/office/powerpoint/2010/main" val="30908625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4.9.3  </a:t>
            </a:r>
            <a:r>
              <a:rPr lang="zh-CN" altLang="en-US" dirty="0"/>
              <a:t>在函数模板中使用多种类型 </a:t>
            </a: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983432" y="1690688"/>
            <a:ext cx="8153400" cy="462915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函数模板中可以使用多种通用类型，每个类型必须具有自己的参数：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</a:t>
            </a:r>
            <a:r>
              <a:rPr lang="en-US" altLang="zh-CN" sz="2800" dirty="0">
                <a:solidFill>
                  <a:schemeClr val="tx1"/>
                </a:solidFill>
              </a:rPr>
              <a:t>template  &lt; class   T1 , class   T2&gt;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</a:t>
            </a:r>
            <a:r>
              <a:rPr lang="fr-FR" altLang="zh-CN" sz="2800" dirty="0">
                <a:solidFill>
                  <a:schemeClr val="tx1"/>
                </a:solidFill>
              </a:rPr>
              <a:t>void   swap ( T1   &amp;var1 , T2   &amp;var2 )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{  T1  temp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   	temp = var1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   	var1 = ( T1 ) var2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   	</a:t>
            </a:r>
            <a:r>
              <a:rPr lang="en-US" altLang="zh-CN" sz="2800" dirty="0">
                <a:solidFill>
                  <a:schemeClr val="tx1"/>
                </a:solidFill>
              </a:rPr>
              <a:t>var2 = ( T2 ) temp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}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12224" y="2420888"/>
            <a:ext cx="3831498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main()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{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</a:t>
            </a: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a;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double b;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</a:t>
            </a:r>
            <a:r>
              <a:rPr lang="en-US" altLang="zh-CN" dirty="0" err="1">
                <a:solidFill>
                  <a:srgbClr val="002060"/>
                </a:solidFill>
              </a:rPr>
              <a:t>cin</a:t>
            </a:r>
            <a:r>
              <a:rPr lang="en-US" altLang="zh-CN" dirty="0">
                <a:solidFill>
                  <a:srgbClr val="002060"/>
                </a:solidFill>
              </a:rPr>
              <a:t>&gt;&gt;a&gt;&gt;b;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swap(</a:t>
            </a:r>
            <a:r>
              <a:rPr lang="en-US" altLang="zh-CN" dirty="0" err="1">
                <a:solidFill>
                  <a:srgbClr val="002060"/>
                </a:solidFill>
              </a:rPr>
              <a:t>a,b</a:t>
            </a:r>
            <a:r>
              <a:rPr lang="en-US" altLang="zh-CN" dirty="0">
                <a:solidFill>
                  <a:srgbClr val="002060"/>
                </a:solidFill>
              </a:rPr>
              <a:t>);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&lt;&lt;a&lt;&lt;“  “&lt;&lt;b&lt;&lt;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return 0;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}</a:t>
            </a:r>
          </a:p>
          <a:p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6744072" y="631983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3-12-1.cpp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B902CD4-8CC0-48C0-806B-10BFC226F8FB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4.9.4  </a:t>
            </a:r>
            <a:r>
              <a:rPr lang="zh-CN" altLang="en-US" dirty="0"/>
              <a:t>函数模板重载 </a:t>
            </a:r>
          </a:p>
        </p:txBody>
      </p:sp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dirty="0">
                <a:solidFill>
                  <a:schemeClr val="tx1"/>
                </a:solidFill>
              </a:rPr>
              <a:t>47</a:t>
            </a:fld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49156" name="Text Box 4"/>
          <p:cNvSpPr txBox="1"/>
          <p:nvPr/>
        </p:nvSpPr>
        <p:spPr>
          <a:xfrm>
            <a:off x="2566989" y="1773239"/>
            <a:ext cx="7921625" cy="485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rgbClr val="7030A0"/>
                </a:solidFill>
              </a:rPr>
              <a:t>template  &lt; class  T &gt;</a:t>
            </a:r>
          </a:p>
          <a:p>
            <a:pPr eaLnBrk="1" fontAlgn="t" hangingPunct="1"/>
            <a:r>
              <a:rPr lang="en-US" altLang="zh-CN" sz="2600" dirty="0">
                <a:solidFill>
                  <a:srgbClr val="7030A0"/>
                </a:solidFill>
              </a:rPr>
              <a:t>T  sum ( T  valueOne , T  valueTwo ) </a:t>
            </a:r>
          </a:p>
          <a:p>
            <a:pPr eaLnBrk="1" fontAlgn="t" hangingPunct="1"/>
            <a:r>
              <a:rPr lang="en-US" altLang="zh-CN" sz="2600" dirty="0">
                <a:solidFill>
                  <a:srgbClr val="7030A0"/>
                </a:solidFill>
              </a:rPr>
              <a:t>{    </a:t>
            </a:r>
          </a:p>
          <a:p>
            <a:pPr eaLnBrk="1" fontAlgn="t" hangingPunct="1"/>
            <a:r>
              <a:rPr lang="en-US" altLang="zh-CN" sz="2600" dirty="0">
                <a:solidFill>
                  <a:srgbClr val="7030A0"/>
                </a:solidFill>
              </a:rPr>
              <a:t>	  return  valueOne + valueTwo ;</a:t>
            </a:r>
          </a:p>
          <a:p>
            <a:pPr eaLnBrk="1" fontAlgn="t" hangingPunct="1"/>
            <a:r>
              <a:rPr lang="en-US" altLang="zh-CN" sz="2600" dirty="0">
                <a:solidFill>
                  <a:srgbClr val="7030A0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rgbClr val="0070C0"/>
                </a:solidFill>
              </a:rPr>
              <a:t>template  &lt; class  T &gt;</a:t>
            </a:r>
          </a:p>
          <a:p>
            <a:pPr eaLnBrk="1" fontAlgn="t" hangingPunct="1"/>
            <a:r>
              <a:rPr lang="en-US" altLang="zh-CN" sz="2600" dirty="0">
                <a:solidFill>
                  <a:srgbClr val="0070C0"/>
                </a:solidFill>
              </a:rPr>
              <a:t>T  sum ( T  valueOne , T  valueTwo , T  valueThree ) </a:t>
            </a:r>
          </a:p>
          <a:p>
            <a:pPr eaLnBrk="1" fontAlgn="t" hangingPunct="1"/>
            <a:r>
              <a:rPr lang="en-US" altLang="zh-CN" sz="2600" dirty="0">
                <a:solidFill>
                  <a:srgbClr val="0070C0"/>
                </a:solidFill>
              </a:rPr>
              <a:t>{    </a:t>
            </a:r>
          </a:p>
          <a:p>
            <a:pPr eaLnBrk="1" fontAlgn="t" hangingPunct="1"/>
            <a:r>
              <a:rPr lang="en-US" altLang="zh-CN" sz="2600" dirty="0">
                <a:solidFill>
                  <a:srgbClr val="0070C0"/>
                </a:solidFill>
              </a:rPr>
              <a:t>	   return  valueOne + valueTwo + valueThree ;</a:t>
            </a:r>
          </a:p>
          <a:p>
            <a:pPr eaLnBrk="1" fontAlgn="t" hangingPunct="1"/>
            <a:r>
              <a:rPr lang="pt-BR" altLang="zh-CN" sz="2600" dirty="0">
                <a:solidFill>
                  <a:srgbClr val="0070C0"/>
                </a:solidFill>
              </a:rPr>
              <a:t>} </a:t>
            </a:r>
          </a:p>
          <a:p>
            <a:pPr eaLnBrk="1" fontAlgn="t" hangingPunct="1"/>
            <a:r>
              <a:rPr lang="zh-CN" altLang="pt-BR" sz="2600" dirty="0">
                <a:solidFill>
                  <a:schemeClr val="tx1"/>
                </a:solidFill>
              </a:rPr>
              <a:t>调用形式：</a:t>
            </a:r>
            <a:r>
              <a:rPr lang="pt-BR" altLang="zh-CN" sz="2600" dirty="0">
                <a:solidFill>
                  <a:schemeClr val="tx1"/>
                </a:solidFill>
              </a:rPr>
              <a:t>sum ( num1 , num2 )</a:t>
            </a:r>
            <a:r>
              <a:rPr lang="zh-CN" altLang="pt-BR" sz="2600" dirty="0">
                <a:solidFill>
                  <a:schemeClr val="tx1"/>
                </a:solidFill>
              </a:rPr>
              <a:t>；</a:t>
            </a:r>
          </a:p>
          <a:p>
            <a:pPr eaLnBrk="1" fontAlgn="t" hangingPunct="1"/>
            <a:r>
              <a:rPr lang="pt-BR" altLang="zh-CN" sz="2600" dirty="0">
                <a:solidFill>
                  <a:schemeClr val="tx1"/>
                </a:solidFill>
              </a:rPr>
              <a:t>                    sum ( num1 , num2 , num3)</a:t>
            </a:r>
            <a:r>
              <a:rPr lang="zh-CN" altLang="pt-BR" sz="2600" dirty="0">
                <a:solidFill>
                  <a:schemeClr val="tx1"/>
                </a:solidFill>
              </a:rPr>
              <a:t>；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49157" name="Text Box 7"/>
          <p:cNvSpPr txBox="1"/>
          <p:nvPr/>
        </p:nvSpPr>
        <p:spPr>
          <a:xfrm>
            <a:off x="1703389" y="3100389"/>
            <a:ext cx="503237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形式之一</a:t>
            </a:r>
          </a:p>
        </p:txBody>
      </p:sp>
      <p:sp>
        <p:nvSpPr>
          <p:cNvPr id="49158" name="AutoShape 8"/>
          <p:cNvSpPr/>
          <p:nvPr/>
        </p:nvSpPr>
        <p:spPr>
          <a:xfrm>
            <a:off x="2351088" y="2433639"/>
            <a:ext cx="215900" cy="3240087"/>
          </a:xfrm>
          <a:prstGeom prst="leftBrace">
            <a:avLst>
              <a:gd name="adj1" fmla="val 124991"/>
              <a:gd name="adj2" fmla="val 50000"/>
            </a:avLst>
          </a:prstGeom>
          <a:noFill/>
          <a:ln w="254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693B3F9-12D5-471C-A9A5-547505E282BF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4.9.4  </a:t>
            </a:r>
            <a:r>
              <a:rPr lang="zh-CN" altLang="en-US" dirty="0"/>
              <a:t>函数模板重载 </a:t>
            </a:r>
          </a:p>
        </p:txBody>
      </p:sp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0180" name="Text Box 3"/>
          <p:cNvSpPr txBox="1"/>
          <p:nvPr/>
        </p:nvSpPr>
        <p:spPr>
          <a:xfrm>
            <a:off x="2566989" y="1773239"/>
            <a:ext cx="7921625" cy="437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0070C0"/>
                </a:solidFill>
              </a:rPr>
              <a:t>float  sum ( float  valueOne , float  valueTwo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0070C0"/>
                </a:solidFill>
              </a:rPr>
              <a:t>{    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0070C0"/>
                </a:solidFill>
              </a:rPr>
              <a:t>	return   valueOne + valueTwo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0070C0"/>
                </a:solidFill>
              </a:rPr>
              <a:t>}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7030A0"/>
                </a:solidFill>
              </a:rPr>
              <a:t>template  &lt; class  T &gt;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7030A0"/>
                </a:solidFill>
              </a:rPr>
              <a:t>T  sum ( T  valueOne , T  valueTwo , T  valueThree )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7030A0"/>
                </a:solidFill>
              </a:rPr>
              <a:t>{   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7030A0"/>
                </a:solidFill>
              </a:rPr>
              <a:t>	return   valueOne + valueTwo + valueThree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rgbClr val="7030A0"/>
                </a:solidFill>
              </a:rPr>
              <a:t>}</a:t>
            </a:r>
          </a:p>
        </p:txBody>
      </p:sp>
      <p:sp>
        <p:nvSpPr>
          <p:cNvPr id="50181" name="Text Box 4"/>
          <p:cNvSpPr txBox="1"/>
          <p:nvPr/>
        </p:nvSpPr>
        <p:spPr>
          <a:xfrm>
            <a:off x="1703389" y="3100389"/>
            <a:ext cx="503237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形式之二</a:t>
            </a:r>
          </a:p>
        </p:txBody>
      </p:sp>
      <p:sp>
        <p:nvSpPr>
          <p:cNvPr id="50182" name="AutoShape 5"/>
          <p:cNvSpPr/>
          <p:nvPr/>
        </p:nvSpPr>
        <p:spPr>
          <a:xfrm>
            <a:off x="2330451" y="2111376"/>
            <a:ext cx="144463" cy="3889375"/>
          </a:xfrm>
          <a:prstGeom prst="leftBrace">
            <a:avLst>
              <a:gd name="adj1" fmla="val 224233"/>
              <a:gd name="adj2" fmla="val 50000"/>
            </a:avLst>
          </a:prstGeom>
          <a:noFill/>
          <a:ln w="254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FE51C62-6FCF-4F63-9EFC-5917353203AC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dirty="0"/>
              <a:t>4.10 </a:t>
            </a:r>
            <a:r>
              <a:rPr lang="zh-CN" altLang="en-US" dirty="0"/>
              <a:t>内联函数 </a:t>
            </a: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频繁的函数调用会降低程序的效率，因为函数调用要有一定的时间和空间开销。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对一些函数体代码不是很大，但又频繁被调用的函数，引入内联函数可解决这一问题。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例：输入一个字符，判定该字符是否属于‘</a:t>
            </a:r>
            <a:r>
              <a:rPr lang="en-US" altLang="zh-CN" sz="2800" dirty="0">
                <a:solidFill>
                  <a:schemeClr val="tx1"/>
                </a:solidFill>
              </a:rPr>
              <a:t>0</a:t>
            </a:r>
            <a:r>
              <a:rPr lang="zh-CN" altLang="en-US" sz="2800" dirty="0">
                <a:solidFill>
                  <a:schemeClr val="tx1"/>
                </a:solidFill>
              </a:rPr>
              <a:t>’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zh-CN" altLang="en-US" sz="2800" dirty="0">
                <a:solidFill>
                  <a:schemeClr val="tx1"/>
                </a:solidFill>
              </a:rPr>
              <a:t>‘</a:t>
            </a:r>
            <a:r>
              <a:rPr lang="en-US" altLang="zh-CN" sz="2800" dirty="0">
                <a:solidFill>
                  <a:schemeClr val="tx1"/>
                </a:solidFill>
              </a:rPr>
              <a:t>9</a:t>
            </a:r>
            <a:r>
              <a:rPr lang="zh-CN" altLang="en-US" sz="2800" dirty="0">
                <a:solidFill>
                  <a:schemeClr val="tx1"/>
                </a:solidFill>
              </a:rPr>
              <a:t>’</a:t>
            </a:r>
          </a:p>
        </p:txBody>
      </p:sp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0E2BFF3-0C5B-4534-B59E-4E2B2ABDA9C4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/>
          <p:nvPr/>
        </p:nvSpPr>
        <p:spPr>
          <a:xfrm>
            <a:off x="47328" y="500168"/>
            <a:ext cx="7777162" cy="564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inline 	 bool   isDigit ( char  ch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ch&gt;='0' &amp;&amp; ch&lt;='9' ? true : false;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char  ch;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while( cin.get(ch)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if( </a:t>
            </a:r>
            <a:r>
              <a:rPr lang="en-US" altLang="zh-CN" sz="2600" dirty="0">
                <a:solidFill>
                  <a:srgbClr val="FF0000"/>
                </a:solidFill>
              </a:rPr>
              <a:t>isDigit(ch)</a:t>
            </a:r>
            <a:r>
              <a:rPr lang="en-US" altLang="zh-CN" sz="2600" dirty="0">
                <a:solidFill>
                  <a:schemeClr val="tx1"/>
                </a:solidFill>
              </a:rPr>
              <a:t>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cout&lt;&lt;ch&lt;&lt;" is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  else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cout&lt;&lt;ch&lt;&lt;" is not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3" name="Text Box 4"/>
          <p:cNvSpPr txBox="1"/>
          <p:nvPr/>
        </p:nvSpPr>
        <p:spPr>
          <a:xfrm>
            <a:off x="5783288" y="2055065"/>
            <a:ext cx="6408712" cy="409342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sz="2600" dirty="0" err="1">
                <a:solidFill>
                  <a:schemeClr val="tx1"/>
                </a:solidFill>
              </a:rPr>
              <a:t>int</a:t>
            </a:r>
            <a:r>
              <a:rPr lang="en-US" altLang="zh-CN" sz="2600" dirty="0">
                <a:solidFill>
                  <a:schemeClr val="tx1"/>
                </a:solidFill>
              </a:rPr>
              <a:t>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{char  ch;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while( cin.get(ch)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rgbClr val="FF0000"/>
                </a:solidFill>
              </a:rPr>
              <a:t>if(</a:t>
            </a:r>
            <a:r>
              <a:rPr lang="en-US" altLang="zh-CN" sz="2600" dirty="0" err="1">
                <a:solidFill>
                  <a:srgbClr val="FF0000"/>
                </a:solidFill>
              </a:rPr>
              <a:t>ch</a:t>
            </a:r>
            <a:r>
              <a:rPr lang="en-US" altLang="zh-CN" sz="2600" dirty="0">
                <a:solidFill>
                  <a:srgbClr val="FF0000"/>
                </a:solidFill>
              </a:rPr>
              <a:t>&gt;='0' &amp;&amp; </a:t>
            </a:r>
            <a:r>
              <a:rPr lang="en-US" altLang="zh-CN" sz="2600" dirty="0" err="1">
                <a:solidFill>
                  <a:srgbClr val="FF0000"/>
                </a:solidFill>
              </a:rPr>
              <a:t>ch</a:t>
            </a:r>
            <a:r>
              <a:rPr lang="en-US" altLang="zh-CN" sz="2600" dirty="0">
                <a:solidFill>
                  <a:srgbClr val="FF0000"/>
                </a:solidFill>
              </a:rPr>
              <a:t>&lt;='9' ? true : false </a:t>
            </a:r>
            <a:r>
              <a:rPr lang="en-US" altLang="zh-CN" sz="2600" dirty="0">
                <a:solidFill>
                  <a:schemeClr val="tx1"/>
                </a:solidFill>
              </a:rPr>
              <a:t>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zh-CN" sz="2600" dirty="0" err="1">
                <a:solidFill>
                  <a:schemeClr val="tx1"/>
                </a:solidFill>
              </a:rPr>
              <a:t>cout</a:t>
            </a:r>
            <a:r>
              <a:rPr lang="en-US" altLang="zh-CN" sz="2600" dirty="0">
                <a:solidFill>
                  <a:schemeClr val="tx1"/>
                </a:solidFill>
              </a:rPr>
              <a:t>&lt;&lt;ch&lt;&lt;" is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else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zh-CN" sz="2600" dirty="0" err="1">
                <a:solidFill>
                  <a:schemeClr val="tx1"/>
                </a:solidFill>
              </a:rPr>
              <a:t>cout</a:t>
            </a:r>
            <a:r>
              <a:rPr lang="en-US" altLang="zh-CN" sz="2600" dirty="0">
                <a:solidFill>
                  <a:schemeClr val="tx1"/>
                </a:solidFill>
              </a:rPr>
              <a:t>&lt;&lt;ch&lt;&lt;" is not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dirty="0"/>
              <a:t>4.10 </a:t>
            </a:r>
            <a:r>
              <a:rPr lang="zh-CN" altLang="en-US" dirty="0"/>
              <a:t>内联函数</a:t>
            </a: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1981200" y="1752601"/>
            <a:ext cx="8153400" cy="4556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将函数前加上</a:t>
            </a:r>
            <a:r>
              <a:rPr lang="en-US" altLang="zh-CN" sz="2600" dirty="0">
                <a:solidFill>
                  <a:schemeClr val="tx1"/>
                </a:solidFill>
              </a:rPr>
              <a:t>inline</a:t>
            </a:r>
            <a:r>
              <a:rPr lang="zh-CN" altLang="en-US" sz="2600" dirty="0">
                <a:solidFill>
                  <a:schemeClr val="tx1"/>
                </a:solidFill>
              </a:rPr>
              <a:t>关键字，对编译器来说，只是一个</a:t>
            </a:r>
            <a:r>
              <a:rPr lang="zh-CN" altLang="en-US" sz="2600" dirty="0">
                <a:solidFill>
                  <a:srgbClr val="7030A0"/>
                </a:solidFill>
              </a:rPr>
              <a:t>建议</a:t>
            </a:r>
            <a:r>
              <a:rPr lang="zh-CN" altLang="en-US" sz="2600" dirty="0">
                <a:solidFill>
                  <a:schemeClr val="tx1"/>
                </a:solidFill>
              </a:rPr>
              <a:t>，编译器可忽略它。 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在内联函数内</a:t>
            </a:r>
            <a:r>
              <a:rPr lang="zh-CN" altLang="en-US" sz="2600" dirty="0">
                <a:solidFill>
                  <a:srgbClr val="7030A0"/>
                </a:solidFill>
              </a:rPr>
              <a:t>不允许用循环语句、</a:t>
            </a:r>
            <a:r>
              <a:rPr lang="en-US" altLang="zh-CN" sz="2600" dirty="0">
                <a:solidFill>
                  <a:srgbClr val="7030A0"/>
                </a:solidFill>
              </a:rPr>
              <a:t>switch</a:t>
            </a:r>
            <a:r>
              <a:rPr lang="zh-CN" altLang="en-US" sz="2600" dirty="0">
                <a:solidFill>
                  <a:srgbClr val="7030A0"/>
                </a:solidFill>
              </a:rPr>
              <a:t>语句和嵌套的</a:t>
            </a:r>
            <a:r>
              <a:rPr lang="en-US" altLang="zh-CN" sz="2600" dirty="0">
                <a:solidFill>
                  <a:srgbClr val="7030A0"/>
                </a:solidFill>
              </a:rPr>
              <a:t>if</a:t>
            </a:r>
            <a:r>
              <a:rPr lang="zh-CN" altLang="en-US" sz="2600" dirty="0">
                <a:solidFill>
                  <a:srgbClr val="7030A0"/>
                </a:solidFill>
              </a:rPr>
              <a:t>等。 </a:t>
            </a:r>
            <a:r>
              <a:rPr lang="zh-CN" altLang="en-US" sz="2600" dirty="0">
                <a:solidFill>
                  <a:schemeClr val="tx1"/>
                </a:solidFill>
              </a:rPr>
              <a:t>即使将这样的函数定义为内联函数，系统也将它们作为一般函数处理，达不到优化的目的。 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关键字</a:t>
            </a:r>
            <a:r>
              <a:rPr lang="en-US" altLang="zh-CN" sz="2600" dirty="0">
                <a:solidFill>
                  <a:schemeClr val="tx1"/>
                </a:solidFill>
              </a:rPr>
              <a:t>inline</a:t>
            </a:r>
            <a:r>
              <a:rPr lang="zh-CN" altLang="en-US" sz="2600" dirty="0">
                <a:solidFill>
                  <a:schemeClr val="tx1"/>
                </a:solidFill>
              </a:rPr>
              <a:t>可以同时用在函数定义和声明处。如果函数定义在调用之后，则必须在函数声明中就包括</a:t>
            </a:r>
            <a:r>
              <a:rPr lang="en-US" altLang="zh-CN" sz="2600" dirty="0">
                <a:solidFill>
                  <a:schemeClr val="tx1"/>
                </a:solidFill>
              </a:rPr>
              <a:t>inline</a:t>
            </a:r>
            <a:r>
              <a:rPr lang="zh-CN" altLang="en-US" sz="2600" dirty="0">
                <a:solidFill>
                  <a:schemeClr val="tx1"/>
                </a:solidFill>
              </a:rPr>
              <a:t>，否则将作为一般函数处理。 </a:t>
            </a:r>
          </a:p>
        </p:txBody>
      </p:sp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3E5D01B-4A46-400F-BA2B-B7C3D77EE8B1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/>
          <p:nvPr/>
        </p:nvSpPr>
        <p:spPr>
          <a:xfrm>
            <a:off x="2063552" y="260649"/>
            <a:ext cx="7777162" cy="440120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inline 	 bool   isDigit ( char  ch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return  ch&gt;='0' &amp;&amp; ch&lt;='9' ? true : false;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int main (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{	char  ch;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while( cin.get(ch)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if( </a:t>
            </a:r>
            <a:r>
              <a:rPr lang="en-US" altLang="zh-CN" sz="2000" dirty="0">
                <a:solidFill>
                  <a:srgbClr val="FF0000"/>
                </a:solidFill>
              </a:rPr>
              <a:t>isDigit(ch)</a:t>
            </a:r>
            <a:r>
              <a:rPr lang="en-US" altLang="zh-CN" sz="2000" dirty="0">
                <a:solidFill>
                  <a:schemeClr val="tx1"/>
                </a:solidFill>
              </a:rPr>
              <a:t>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	cout&lt;&lt;ch&lt;&lt;" is a Digit.\n";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else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	cout&lt;&lt;ch&lt;&lt;" is not a Digit.\n";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}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43AEA9-8BB7-BDE6-3CFD-1E5E817B0B24}"/>
              </a:ext>
            </a:extLst>
          </p:cNvPr>
          <p:cNvSpPr txBox="1"/>
          <p:nvPr/>
        </p:nvSpPr>
        <p:spPr>
          <a:xfrm>
            <a:off x="3575721" y="4869160"/>
            <a:ext cx="5803705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inline</a:t>
            </a:r>
            <a:r>
              <a:rPr lang="en-US" altLang="zh-CN" dirty="0">
                <a:solidFill>
                  <a:srgbClr val="002060"/>
                </a:solidFill>
              </a:rPr>
              <a:t> bool </a:t>
            </a:r>
            <a:r>
              <a:rPr lang="en-US" altLang="zh-CN" dirty="0" err="1">
                <a:solidFill>
                  <a:srgbClr val="002060"/>
                </a:solidFill>
              </a:rPr>
              <a:t>isDigit</a:t>
            </a:r>
            <a:r>
              <a:rPr lang="en-US" altLang="zh-CN" dirty="0">
                <a:solidFill>
                  <a:srgbClr val="002060"/>
                </a:solidFill>
              </a:rPr>
              <a:t>(char </a:t>
            </a:r>
            <a:r>
              <a:rPr lang="en-US" altLang="zh-CN" dirty="0" err="1">
                <a:solidFill>
                  <a:srgbClr val="002060"/>
                </a:solidFill>
              </a:rPr>
              <a:t>ch</a:t>
            </a:r>
            <a:r>
              <a:rPr lang="en-US" altLang="zh-CN" dirty="0">
                <a:solidFill>
                  <a:srgbClr val="002060"/>
                </a:solidFill>
              </a:rPr>
              <a:t>)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{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 return </a:t>
            </a:r>
            <a:r>
              <a:rPr lang="en-US" altLang="zh-CN" dirty="0" err="1">
                <a:solidFill>
                  <a:srgbClr val="002060"/>
                </a:solidFill>
              </a:rPr>
              <a:t>ch</a:t>
            </a:r>
            <a:r>
              <a:rPr lang="en-US" altLang="zh-CN" dirty="0">
                <a:solidFill>
                  <a:srgbClr val="002060"/>
                </a:solidFill>
              </a:rPr>
              <a:t>&gt;=‘0’ &amp;&amp; </a:t>
            </a:r>
            <a:r>
              <a:rPr lang="en-US" altLang="zh-CN" dirty="0" err="1">
                <a:solidFill>
                  <a:srgbClr val="002060"/>
                </a:solidFill>
              </a:rPr>
              <a:t>ch</a:t>
            </a:r>
            <a:r>
              <a:rPr lang="en-US" altLang="zh-CN" dirty="0">
                <a:solidFill>
                  <a:srgbClr val="002060"/>
                </a:solidFill>
              </a:rPr>
              <a:t>&lt;=‘9’ ? </a:t>
            </a:r>
            <a:r>
              <a:rPr lang="en-US" altLang="zh-CN" dirty="0" err="1">
                <a:solidFill>
                  <a:srgbClr val="002060"/>
                </a:solidFill>
              </a:rPr>
              <a:t>true:false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}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42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4.11 </a:t>
            </a:r>
            <a:r>
              <a:rPr lang="zh-CN" altLang="en-US" dirty="0"/>
              <a:t>函数的递归调用 </a:t>
            </a: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一个函数直接或间接地调用该函数本身就称为函数的递归调用。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直接递归：函数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在自己的函数体中调用了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；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间接递归：函数</a:t>
            </a:r>
            <a:r>
              <a:rPr lang="en-US" altLang="zh-CN" sz="2800" dirty="0">
                <a:solidFill>
                  <a:schemeClr val="tx1"/>
                </a:solidFill>
              </a:rPr>
              <a:t>F1</a:t>
            </a:r>
            <a:r>
              <a:rPr lang="zh-CN" altLang="en-US" sz="2800" dirty="0">
                <a:solidFill>
                  <a:schemeClr val="tx1"/>
                </a:solidFill>
              </a:rPr>
              <a:t>调用了函数</a:t>
            </a:r>
            <a:r>
              <a:rPr lang="en-US" altLang="zh-CN" sz="2800" dirty="0">
                <a:solidFill>
                  <a:schemeClr val="tx1"/>
                </a:solidFill>
              </a:rPr>
              <a:t>F2</a:t>
            </a:r>
            <a:r>
              <a:rPr lang="zh-CN" altLang="en-US" sz="2800" dirty="0">
                <a:solidFill>
                  <a:schemeClr val="tx1"/>
                </a:solidFill>
              </a:rPr>
              <a:t>，而函数</a:t>
            </a:r>
            <a:r>
              <a:rPr lang="en-US" altLang="zh-CN" sz="2800" dirty="0">
                <a:solidFill>
                  <a:schemeClr val="tx1"/>
                </a:solidFill>
              </a:rPr>
              <a:t>F2</a:t>
            </a:r>
            <a:r>
              <a:rPr lang="zh-CN" altLang="en-US" sz="2800" dirty="0">
                <a:solidFill>
                  <a:schemeClr val="tx1"/>
                </a:solidFill>
              </a:rPr>
              <a:t>又调用了</a:t>
            </a:r>
            <a:r>
              <a:rPr lang="en-US" altLang="zh-CN" sz="2800" dirty="0">
                <a:solidFill>
                  <a:schemeClr val="tx1"/>
                </a:solidFill>
              </a:rPr>
              <a:t>F1</a:t>
            </a:r>
            <a:r>
              <a:rPr lang="zh-CN" altLang="en-US" sz="2800" dirty="0">
                <a:solidFill>
                  <a:schemeClr val="tx1"/>
                </a:solidFill>
              </a:rPr>
              <a:t>，。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递归应该有终止条件，否则就是一个死递归。 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：求解 </a:t>
            </a:r>
            <a:r>
              <a:rPr lang="en-US" altLang="zh-CN" dirty="0">
                <a:solidFill>
                  <a:schemeClr val="tx1"/>
                </a:solidFill>
              </a:rPr>
              <a:t>n!</a:t>
            </a:r>
          </a:p>
        </p:txBody>
      </p:sp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94348A9-9CBF-4D4A-AD42-8CAF1781F6F6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5"/>
          <p:cNvSpPr txBox="1"/>
          <p:nvPr/>
        </p:nvSpPr>
        <p:spPr>
          <a:xfrm>
            <a:off x="1919288" y="2276475"/>
            <a:ext cx="3744912" cy="407035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double  fac( int  n 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double y;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sz="2600" dirty="0">
                <a:solidFill>
                  <a:schemeClr val="tx1"/>
                </a:solidFill>
              </a:rPr>
              <a:t>if (0==n || 1==n)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y=1;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else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y = n * fac( n-1 );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return  y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55299" name="Text Box 6"/>
          <p:cNvSpPr txBox="1"/>
          <p:nvPr/>
        </p:nvSpPr>
        <p:spPr>
          <a:xfrm>
            <a:off x="5951539" y="2276475"/>
            <a:ext cx="4537075" cy="407035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main ( 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  int   n;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double  result;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cin &gt;&gt; n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if( n &gt;= 0 )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{	result = fac( n 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 &lt;&lt; result&lt;&lt;endl;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return 0;   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5300" name="Text Box 8"/>
          <p:cNvSpPr txBox="1"/>
          <p:nvPr/>
        </p:nvSpPr>
        <p:spPr>
          <a:xfrm>
            <a:off x="7535864" y="1093788"/>
            <a:ext cx="2808287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通过递归图和栈的变化理解该程序。</a:t>
            </a:r>
          </a:p>
        </p:txBody>
      </p:sp>
      <p:sp>
        <p:nvSpPr>
          <p:cNvPr id="55301" name="AutoShape 9"/>
          <p:cNvSpPr/>
          <p:nvPr/>
        </p:nvSpPr>
        <p:spPr>
          <a:xfrm>
            <a:off x="8759826" y="58054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3-15.cpp</a:t>
            </a:r>
          </a:p>
        </p:txBody>
      </p:sp>
      <p:pic>
        <p:nvPicPr>
          <p:cNvPr id="5530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1" y="491490"/>
            <a:ext cx="3202305" cy="154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4"/>
          <p:cNvSpPr txBox="1"/>
          <p:nvPr/>
        </p:nvSpPr>
        <p:spPr>
          <a:xfrm>
            <a:off x="551022" y="405074"/>
            <a:ext cx="7489825" cy="6203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3.17】</a:t>
            </a:r>
            <a:r>
              <a:rPr lang="zh-CN" altLang="en-US" sz="2600" dirty="0">
                <a:solidFill>
                  <a:schemeClr val="tx1"/>
                </a:solidFill>
              </a:rPr>
              <a:t>采用递归方法求解</a:t>
            </a:r>
            <a:r>
              <a:rPr lang="en-US" altLang="zh-CN" sz="2600" dirty="0">
                <a:solidFill>
                  <a:schemeClr val="tx1"/>
                </a:solidFill>
              </a:rPr>
              <a:t>Fibonacci</a:t>
            </a:r>
            <a:r>
              <a:rPr lang="zh-CN" altLang="en-US" sz="2600" dirty="0">
                <a:solidFill>
                  <a:schemeClr val="tx1"/>
                </a:solidFill>
              </a:rPr>
              <a:t>数列 。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fib( int  n);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countTimes=0;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   int i;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for(i=1; i&lt;=24; i++)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{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    cout &lt;&lt; fib(i) 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    if( i%6 ==0 ) 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cout &lt;&lt;endl;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}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cout &lt;&lt; countTimes;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return 0;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76805" name="Text Box 5"/>
          <p:cNvSpPr txBox="1"/>
          <p:nvPr/>
        </p:nvSpPr>
        <p:spPr>
          <a:xfrm>
            <a:off x="5736591" y="1272859"/>
            <a:ext cx="4608513" cy="3673475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fib( int  n)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countTimes++;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if(0==n || 1==n)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   return 1;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else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   return  fib(n-1)+fib(n-2);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59396" name="AutoShape 6"/>
          <p:cNvSpPr/>
          <p:nvPr/>
        </p:nvSpPr>
        <p:spPr>
          <a:xfrm>
            <a:off x="82565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3-17.cpp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154943" y="251194"/>
                <a:ext cx="5043175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, 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943" y="251194"/>
                <a:ext cx="5043175" cy="8238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22689" y="3284984"/>
            <a:ext cx="59859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汉诺塔小游戏和递归思想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哔哩哔哩</a:t>
            </a:r>
            <a:r>
              <a:rPr lang="en-US" altLang="zh-CN" dirty="0">
                <a:hlinkClick r:id="rId2"/>
              </a:rPr>
              <a:t>_</a:t>
            </a:r>
            <a:r>
              <a:rPr lang="en-US" altLang="zh-CN" dirty="0" err="1">
                <a:hlinkClick r:id="rId2"/>
              </a:rPr>
              <a:t>bilibili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847527" y="692696"/>
            <a:ext cx="3587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例：汉诺塔问题（自学）</a:t>
            </a:r>
          </a:p>
        </p:txBody>
      </p:sp>
    </p:spTree>
    <p:extLst>
      <p:ext uri="{BB962C8B-B14F-4D97-AF65-F5344CB8AC3E}">
        <p14:creationId xmlns:p14="http://schemas.microsoft.com/office/powerpoint/2010/main" val="40102680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0857C76-0490-41DD-A48E-6F7AC167A12A}"/>
              </a:ext>
            </a:extLst>
          </p:cNvPr>
          <p:cNvSpPr txBox="1">
            <a:spLocks/>
          </p:cNvSpPr>
          <p:nvPr/>
        </p:nvSpPr>
        <p:spPr>
          <a:xfrm>
            <a:off x="1487488" y="1799652"/>
            <a:ext cx="10515600" cy="1325563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0" dirty="0"/>
              <a:t>第</a:t>
            </a:r>
            <a:r>
              <a:rPr lang="en-US" altLang="zh-CN" b="0" dirty="0"/>
              <a:t>5</a:t>
            </a:r>
            <a:r>
              <a:rPr lang="zh-CN" altLang="en-US" b="0"/>
              <a:t>章   预编译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8786618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  </a:t>
            </a:r>
            <a:r>
              <a:rPr lang="zh-CN" altLang="en-US" dirty="0"/>
              <a:t>编译预处理 </a:t>
            </a:r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xfrm>
            <a:off x="1271464" y="1727101"/>
            <a:ext cx="8930208" cy="43513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ts val="600"/>
              </a:spcAft>
            </a:pPr>
            <a:r>
              <a:rPr lang="zh-CN" altLang="en-US" sz="2600" dirty="0">
                <a:solidFill>
                  <a:schemeClr val="tx1"/>
                </a:solidFill>
              </a:rPr>
              <a:t>在编译源程序之前进行的一些简单处理。</a:t>
            </a:r>
          </a:p>
          <a:p>
            <a:pPr eaLnBrk="1" hangingPunct="1">
              <a:spcAft>
                <a:spcPts val="600"/>
              </a:spcAft>
            </a:pPr>
            <a:r>
              <a:rPr lang="zh-CN" altLang="en-US" sz="2600" dirty="0">
                <a:solidFill>
                  <a:schemeClr val="tx1"/>
                </a:solidFill>
              </a:rPr>
              <a:t>预处理指令都是以“</a:t>
            </a:r>
            <a:r>
              <a:rPr lang="en-US" altLang="zh-CN" sz="2600" dirty="0">
                <a:solidFill>
                  <a:schemeClr val="tx1"/>
                </a:solidFill>
              </a:rPr>
              <a:t>#”</a:t>
            </a:r>
            <a:r>
              <a:rPr lang="zh-CN" altLang="en-US" sz="2600" dirty="0">
                <a:solidFill>
                  <a:schemeClr val="tx1"/>
                </a:solidFill>
              </a:rPr>
              <a:t>开头，每条指令占一行，一般写在程序的开始部分。</a:t>
            </a:r>
          </a:p>
          <a:p>
            <a:pPr eaLnBrk="1" hangingPunct="1">
              <a:spcAft>
                <a:spcPts val="600"/>
              </a:spcAft>
            </a:pPr>
            <a:r>
              <a:rPr lang="zh-CN" altLang="en-US" sz="2600" dirty="0">
                <a:solidFill>
                  <a:schemeClr val="tx1"/>
                </a:solidFill>
              </a:rPr>
              <a:t>源程序进行预处理后，将生成一个临时文件，然后编译器再对这个临时文件进行编译生成目标文件、通过链接生成可执行文件。</a:t>
            </a:r>
          </a:p>
          <a:p>
            <a:pPr eaLnBrk="1" hangingPunct="1">
              <a:spcAft>
                <a:spcPts val="600"/>
              </a:spcAft>
            </a:pPr>
            <a:r>
              <a:rPr lang="zh-CN" altLang="en-US" sz="2600" dirty="0">
                <a:solidFill>
                  <a:schemeClr val="tx1"/>
                </a:solidFill>
              </a:rPr>
              <a:t>编译预处理主要包括：</a:t>
            </a:r>
            <a:r>
              <a:rPr lang="zh-CN" altLang="en-US" sz="2600" b="1" dirty="0"/>
              <a:t>宏定义、文件包含和条件编译</a:t>
            </a:r>
            <a:r>
              <a:rPr lang="zh-CN" altLang="en-US" sz="2600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6851A20-E24A-430F-8D05-1FC3FBA285CF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5.1.1 </a:t>
            </a:r>
            <a:r>
              <a:rPr lang="zh-CN" altLang="en-US" dirty="0"/>
              <a:t>宏定义 </a:t>
            </a: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ts val="120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宏定义以</a:t>
            </a:r>
            <a:r>
              <a:rPr lang="en-US" altLang="zh-CN" sz="2800" dirty="0">
                <a:solidFill>
                  <a:schemeClr val="tx1"/>
                </a:solidFill>
              </a:rPr>
              <a:t>#define</a:t>
            </a:r>
            <a:r>
              <a:rPr lang="zh-CN" altLang="en-US" sz="2800" dirty="0">
                <a:solidFill>
                  <a:schemeClr val="tx1"/>
                </a:solidFill>
              </a:rPr>
              <a:t>开始，分不带参数和带参数：</a:t>
            </a:r>
          </a:p>
          <a:p>
            <a:pPr eaLnBrk="1" hangingPunct="1">
              <a:spcAft>
                <a:spcPts val="1200"/>
              </a:spcAft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</a:rPr>
              <a:t>不带参数的宏定义</a:t>
            </a:r>
          </a:p>
          <a:p>
            <a:pPr eaLnBrk="1" hangingPunct="1">
              <a:spcAft>
                <a:spcPts val="1200"/>
              </a:spcAft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#define    </a:t>
            </a:r>
            <a:r>
              <a:rPr lang="zh-CN" altLang="en-US" sz="2800" dirty="0">
                <a:solidFill>
                  <a:schemeClr val="tx1"/>
                </a:solidFill>
              </a:rPr>
              <a:t>宏名    字符串</a:t>
            </a:r>
          </a:p>
          <a:p>
            <a:pPr eaLnBrk="1" hangingPunct="1">
              <a:spcAft>
                <a:spcPts val="1200"/>
              </a:spcAft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例如：	</a:t>
            </a:r>
            <a:r>
              <a:rPr lang="en-US" altLang="zh-CN" sz="2800" dirty="0">
                <a:solidFill>
                  <a:schemeClr val="tx1"/>
                </a:solidFill>
              </a:rPr>
              <a:t>#define    PI   3.14 </a:t>
            </a:r>
          </a:p>
          <a:p>
            <a:pPr eaLnBrk="1" hangingPunct="1">
              <a:spcAft>
                <a:spcPts val="1200"/>
              </a:spcAft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spcAft>
                <a:spcPts val="1200"/>
              </a:spcAft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概念：宏代换或宏展开 </a:t>
            </a:r>
          </a:p>
        </p:txBody>
      </p:sp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74EDE7F-38A6-4BDA-A37D-1AEE5DE2E03B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5.1.1 </a:t>
            </a:r>
            <a:r>
              <a:rPr lang="zh-CN" altLang="en-US" dirty="0"/>
              <a:t>宏定义 </a:t>
            </a: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838200" y="1619250"/>
            <a:ext cx="10946432" cy="4618038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2.  </a:t>
            </a:r>
            <a:r>
              <a:rPr lang="zh-CN" altLang="en-US" sz="2800" dirty="0">
                <a:solidFill>
                  <a:schemeClr val="tx1"/>
                </a:solidFill>
              </a:rPr>
              <a:t>带参数的宏定义：</a:t>
            </a:r>
            <a:r>
              <a:rPr lang="en-US" altLang="zh-CN" sz="2800" dirty="0">
                <a:solidFill>
                  <a:schemeClr val="tx1"/>
                </a:solidFill>
              </a:rPr>
              <a:t>#define    </a:t>
            </a:r>
            <a:r>
              <a:rPr lang="zh-CN" altLang="en-US" sz="2800" dirty="0">
                <a:solidFill>
                  <a:schemeClr val="tx1"/>
                </a:solidFill>
              </a:rPr>
              <a:t>宏名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参数表</a:t>
            </a:r>
            <a:r>
              <a:rPr lang="en-US" altLang="zh-CN" sz="2800" dirty="0">
                <a:solidFill>
                  <a:schemeClr val="tx1"/>
                </a:solidFill>
              </a:rPr>
              <a:t>)    </a:t>
            </a:r>
            <a:r>
              <a:rPr lang="zh-CN" altLang="en-US" sz="2800" dirty="0">
                <a:solidFill>
                  <a:schemeClr val="tx1"/>
                </a:solidFill>
              </a:rPr>
              <a:t>字符串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例如：</a:t>
            </a:r>
            <a:r>
              <a:rPr lang="en-US" altLang="zh-CN" sz="2800" dirty="0">
                <a:solidFill>
                  <a:schemeClr val="tx1"/>
                </a:solidFill>
              </a:rPr>
              <a:t>#define      MUL(x,y)     (x)*(y)</a:t>
            </a:r>
            <a:endParaRPr lang="en-US" altLang="zh-CN" dirty="0"/>
          </a:p>
          <a:p>
            <a:pPr eaLnBrk="1" hangingPunct="1"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若程序中有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	MUL(3+1,  6+8)</a:t>
            </a:r>
            <a:r>
              <a:rPr lang="zh-CN" altLang="en-US" sz="2800" dirty="0">
                <a:solidFill>
                  <a:schemeClr val="tx1"/>
                </a:solidFill>
              </a:rPr>
              <a:t>会展开为：（</a:t>
            </a:r>
            <a:r>
              <a:rPr lang="en-US" altLang="zh-CN" sz="2800" dirty="0">
                <a:solidFill>
                  <a:schemeClr val="tx1"/>
                </a:solidFill>
              </a:rPr>
              <a:t>3+1</a:t>
            </a:r>
            <a:r>
              <a:rPr lang="zh-CN" altLang="en-US" sz="2800" dirty="0">
                <a:solidFill>
                  <a:schemeClr val="tx1"/>
                </a:solidFill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</a:rPr>
              <a:t>*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6+8</a:t>
            </a:r>
            <a:r>
              <a:rPr lang="zh-CN" altLang="en-US" sz="2800" dirty="0">
                <a:solidFill>
                  <a:schemeClr val="tx1"/>
                </a:solidFill>
              </a:rPr>
              <a:t>）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A318E-FC57-44CF-B130-26A132388491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13A6F56-B8C5-443D-8FE6-96B43F3BDC66}"/>
              </a:ext>
            </a:extLst>
          </p:cNvPr>
          <p:cNvSpPr txBox="1"/>
          <p:nvPr/>
        </p:nvSpPr>
        <p:spPr>
          <a:xfrm>
            <a:off x="1127448" y="4509120"/>
            <a:ext cx="9433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</a:rPr>
              <a:t>注：（</a:t>
            </a:r>
            <a:r>
              <a:rPr lang="en-US" altLang="zh-CN" sz="2800" dirty="0">
                <a:solidFill>
                  <a:srgbClr val="7030A0"/>
                </a:solidFill>
              </a:rPr>
              <a:t>1</a:t>
            </a:r>
            <a:r>
              <a:rPr lang="zh-CN" altLang="en-US" sz="2800" dirty="0">
                <a:solidFill>
                  <a:srgbClr val="7030A0"/>
                </a:solidFill>
              </a:rPr>
              <a:t>）宏名一般采用大写</a:t>
            </a:r>
            <a:r>
              <a:rPr lang="zh-CN" altLang="en-US" sz="2800" dirty="0">
                <a:solidFill>
                  <a:schemeClr val="tx1"/>
                </a:solidFill>
              </a:rPr>
              <a:t>，且宏名后面不能有空格。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5.1.1 </a:t>
            </a:r>
            <a:r>
              <a:rPr lang="zh-CN" altLang="en-US" dirty="0"/>
              <a:t>宏定义 </a:t>
            </a: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857414" y="1500676"/>
            <a:ext cx="10522541" cy="5030787"/>
          </a:xfrm>
        </p:spPr>
        <p:txBody>
          <a:bodyPr vert="horz" wrap="square" lIns="91440" tIns="45720" rIns="91440" bIns="45720" anchor="t" anchorCtr="0"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chemeClr val="tx1"/>
                </a:solidFill>
              </a:rPr>
              <a:t>注意</a:t>
            </a:r>
            <a:br>
              <a:rPr lang="zh-CN" altLang="en-US" dirty="0"/>
            </a:br>
            <a:r>
              <a:rPr lang="zh-CN" altLang="en-US" dirty="0"/>
              <a:t>        （</a:t>
            </a:r>
            <a:r>
              <a:rPr lang="en-US" altLang="zh-CN" dirty="0"/>
              <a:t>2</a:t>
            </a:r>
            <a:r>
              <a:rPr lang="zh-CN" altLang="en-US" dirty="0"/>
              <a:t>）带参宏只是将参数后面的字符串进行替换，不会考虑运算的优先级。 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zh-CN" altLang="en-US" dirty="0"/>
              <a:t>            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#define </a:t>
            </a:r>
            <a:r>
              <a:rPr lang="zh-CN" altLang="en-US" dirty="0"/>
              <a:t>指令只能写在一行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spcAft>
                <a:spcPts val="600"/>
              </a:spcAft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例：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spcAft>
                <a:spcPts val="600"/>
              </a:spcAft>
              <a:buNone/>
            </a:pPr>
            <a:endParaRPr lang="fr-FR" altLang="zh-CN" sz="2800" dirty="0">
              <a:solidFill>
                <a:schemeClr val="tx1"/>
              </a:solidFill>
            </a:endParaRPr>
          </a:p>
          <a:p>
            <a:pPr eaLnBrk="1" hangingPunct="1">
              <a:spcAft>
                <a:spcPts val="600"/>
              </a:spcAft>
              <a:buNone/>
            </a:pPr>
            <a:endParaRPr lang="fr-FR" altLang="zh-CN" dirty="0"/>
          </a:p>
          <a:p>
            <a:pPr eaLnBrk="1" hangingPunct="1">
              <a:spcAft>
                <a:spcPts val="600"/>
              </a:spcAft>
              <a:buNone/>
            </a:pPr>
            <a:endParaRPr lang="fr-FR" altLang="zh-CN" sz="2800" dirty="0">
              <a:solidFill>
                <a:schemeClr val="tx1"/>
              </a:solidFill>
            </a:endParaRPr>
          </a:p>
          <a:p>
            <a:pPr eaLnBrk="1" hangingPunct="1">
              <a:spcAft>
                <a:spcPts val="600"/>
              </a:spcAft>
              <a:buNone/>
            </a:pPr>
            <a:endParaRPr lang="fr-FR" altLang="zh-CN" dirty="0"/>
          </a:p>
          <a:p>
            <a:pPr eaLnBrk="1" hangingPunct="1">
              <a:spcAft>
                <a:spcPts val="600"/>
              </a:spcAft>
              <a:buNone/>
            </a:pPr>
            <a:endParaRPr lang="fr-FR" altLang="zh-CN" dirty="0"/>
          </a:p>
          <a:p>
            <a:pPr eaLnBrk="1" hangingPunct="1">
              <a:spcAft>
                <a:spcPts val="600"/>
              </a:spcAft>
              <a:buNone/>
            </a:pPr>
            <a:endParaRPr lang="fr-FR" altLang="zh-CN" sz="2800" dirty="0">
              <a:solidFill>
                <a:schemeClr val="tx1"/>
              </a:solidFill>
            </a:endParaRPr>
          </a:p>
          <a:p>
            <a:pPr eaLnBrk="1" hangingPunct="1">
              <a:spcAft>
                <a:spcPts val="600"/>
              </a:spcAft>
              <a:buNone/>
            </a:pPr>
            <a:endParaRPr lang="fr-FR" altLang="zh-CN" sz="2800" dirty="0">
              <a:solidFill>
                <a:schemeClr val="tx1"/>
              </a:solidFill>
            </a:endParaRPr>
          </a:p>
          <a:p>
            <a:pPr eaLnBrk="1" hangingPunct="1">
              <a:spcAft>
                <a:spcPts val="600"/>
              </a:spcAft>
              <a:buNone/>
            </a:pPr>
            <a:r>
              <a:rPr lang="zh-CN" altLang="fr-FR" sz="2800" dirty="0">
                <a:solidFill>
                  <a:schemeClr val="tx1"/>
                </a:solidFill>
              </a:rPr>
              <a:t>            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A318E-FC57-44CF-B130-26A132388491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4662277-B86A-4251-8120-547E568CBAC0}"/>
              </a:ext>
            </a:extLst>
          </p:cNvPr>
          <p:cNvSpPr/>
          <p:nvPr/>
        </p:nvSpPr>
        <p:spPr>
          <a:xfrm>
            <a:off x="2351584" y="2725503"/>
            <a:ext cx="4536504" cy="341632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#include &lt;iostream&gt;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#define </a:t>
            </a:r>
            <a:r>
              <a:rPr lang="en-US" altLang="zh-CN" dirty="0">
                <a:solidFill>
                  <a:srgbClr val="FF0000"/>
                </a:solidFill>
              </a:rPr>
              <a:t>PRINT</a:t>
            </a:r>
            <a:r>
              <a:rPr lang="zh-CN" altLang="en-US" dirty="0">
                <a:solidFill>
                  <a:srgbClr val="FF0000"/>
                </a:solidFill>
              </a:rPr>
              <a:t>(s) </a:t>
            </a:r>
            <a:r>
              <a:rPr lang="zh-CN" altLang="en-US" dirty="0">
                <a:solidFill>
                  <a:srgbClr val="002060"/>
                </a:solidFill>
              </a:rPr>
              <a:t>cout&lt;&lt;s&lt;&lt;endl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using namespace std;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int main()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string s;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getline(cin, s);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 PRINT</a:t>
            </a:r>
            <a:r>
              <a:rPr lang="zh-CN" altLang="en-US" dirty="0">
                <a:solidFill>
                  <a:srgbClr val="FF0000"/>
                </a:solidFill>
              </a:rPr>
              <a:t>(s)</a:t>
            </a:r>
            <a:r>
              <a:rPr lang="zh-CN" altLang="en-US" dirty="0">
                <a:solidFill>
                  <a:schemeClr val="tx1"/>
                </a:solidFill>
              </a:rPr>
              <a:t>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return 0;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}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CC23E54-A676-44D1-9456-7052FF7A042A}"/>
              </a:ext>
            </a:extLst>
          </p:cNvPr>
          <p:cNvGrpSpPr/>
          <p:nvPr/>
        </p:nvGrpSpPr>
        <p:grpSpPr>
          <a:xfrm>
            <a:off x="7058767" y="2720642"/>
            <a:ext cx="4903653" cy="3416320"/>
            <a:chOff x="7058767" y="2720642"/>
            <a:chExt cx="4903653" cy="341632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09BBD92-88F9-4920-A6CA-F373BADBFC01}"/>
                </a:ext>
              </a:extLst>
            </p:cNvPr>
            <p:cNvSpPr/>
            <p:nvPr/>
          </p:nvSpPr>
          <p:spPr>
            <a:xfrm>
              <a:off x="8001980" y="2720642"/>
              <a:ext cx="3960440" cy="341632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#include &lt;iostream&gt;</a:t>
              </a:r>
            </a:p>
            <a:p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zh-CN" altLang="en-US" dirty="0">
                  <a:solidFill>
                    <a:schemeClr val="tx1"/>
                  </a:solidFill>
                </a:rPr>
                <a:t>using namespace std;</a:t>
              </a:r>
            </a:p>
            <a:p>
              <a:r>
                <a:rPr lang="zh-CN" altLang="en-US" dirty="0">
                  <a:solidFill>
                    <a:schemeClr val="tx1"/>
                  </a:solidFill>
                </a:rPr>
                <a:t>int main() {</a:t>
              </a:r>
            </a:p>
            <a:p>
              <a:r>
                <a:rPr lang="zh-CN" altLang="en-US" dirty="0">
                  <a:solidFill>
                    <a:schemeClr val="tx1"/>
                  </a:solidFill>
                </a:rPr>
                <a:t>	string s;</a:t>
              </a:r>
            </a:p>
            <a:p>
              <a:r>
                <a:rPr lang="zh-CN" altLang="en-US" dirty="0">
                  <a:solidFill>
                    <a:schemeClr val="tx1"/>
                  </a:solidFill>
                </a:rPr>
                <a:t>	getline(cin, s);</a:t>
              </a:r>
            </a:p>
            <a:p>
              <a:r>
                <a:rPr lang="zh-CN" altLang="en-US" dirty="0">
                  <a:solidFill>
                    <a:schemeClr val="tx1"/>
                  </a:solidFill>
                </a:rPr>
                <a:t>	</a:t>
              </a:r>
              <a:r>
                <a:rPr lang="en-US" altLang="zh-CN" dirty="0">
                  <a:solidFill>
                    <a:srgbClr val="FF0000"/>
                  </a:solidFill>
                </a:rPr>
                <a:t> </a:t>
              </a:r>
              <a:r>
                <a:rPr lang="zh-CN" altLang="en-US" dirty="0">
                  <a:solidFill>
                    <a:srgbClr val="FF0000"/>
                  </a:solidFill>
                </a:rPr>
                <a:t>cout&lt;&lt;s&lt;&lt;endl</a:t>
              </a:r>
              <a:r>
                <a:rPr lang="zh-CN" altLang="en-US" dirty="0">
                  <a:solidFill>
                    <a:schemeClr val="tx1"/>
                  </a:solidFill>
                </a:rPr>
                <a:t>;</a:t>
              </a:r>
            </a:p>
            <a:p>
              <a:r>
                <a:rPr lang="zh-CN" altLang="en-US" dirty="0">
                  <a:solidFill>
                    <a:schemeClr val="tx1"/>
                  </a:solidFill>
                </a:rPr>
                <a:t>	return 0;</a:t>
              </a:r>
            </a:p>
            <a:p>
              <a:r>
                <a:rPr lang="zh-CN" alt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E7AE8311-5BE8-44ED-87C8-B6B1E616A0B6}"/>
                </a:ext>
              </a:extLst>
            </p:cNvPr>
            <p:cNvSpPr/>
            <p:nvPr/>
          </p:nvSpPr>
          <p:spPr>
            <a:xfrm>
              <a:off x="7120998" y="4293096"/>
              <a:ext cx="648072" cy="5094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A4BC5E0-7734-4339-AF68-4602149ECCA9}"/>
                </a:ext>
              </a:extLst>
            </p:cNvPr>
            <p:cNvSpPr txBox="1"/>
            <p:nvPr/>
          </p:nvSpPr>
          <p:spPr>
            <a:xfrm>
              <a:off x="7058767" y="3806305"/>
              <a:ext cx="8034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替换</a:t>
              </a: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F78401F-5565-4A38-93E2-D89C955D309D}"/>
              </a:ext>
            </a:extLst>
          </p:cNvPr>
          <p:cNvSpPr/>
          <p:nvPr/>
        </p:nvSpPr>
        <p:spPr>
          <a:xfrm>
            <a:off x="6528048" y="6356350"/>
            <a:ext cx="1473932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ex4-0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588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1F2DC5-7AA6-4CCE-9551-8A6081C7F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585392" cy="4351338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5.1.1 </a:t>
            </a:r>
            <a:r>
              <a:rPr lang="zh-CN" altLang="en-US" dirty="0"/>
              <a:t>宏定义 </a:t>
            </a: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A318E-FC57-44CF-B130-26A132388491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4662277-B86A-4251-8120-547E568CBAC0}"/>
              </a:ext>
            </a:extLst>
          </p:cNvPr>
          <p:cNvSpPr/>
          <p:nvPr/>
        </p:nvSpPr>
        <p:spPr>
          <a:xfrm>
            <a:off x="1198104" y="2383928"/>
            <a:ext cx="4536504" cy="415498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#define PI 3.1415926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#define S(r) PI*(r)*(r)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using namespace std;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int main() {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float a = 2;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float b = 3;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float s 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s = S(a + b);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"sum=" &lt;&lt; s;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return 0;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808C33-05F7-45AA-8A29-A6D4241EB328}"/>
              </a:ext>
            </a:extLst>
          </p:cNvPr>
          <p:cNvSpPr/>
          <p:nvPr/>
        </p:nvSpPr>
        <p:spPr>
          <a:xfrm>
            <a:off x="7076668" y="2777023"/>
            <a:ext cx="4203908" cy="830997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思考：为什么宏定义不写成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#define S(r) PI*r*r</a:t>
            </a:r>
            <a:r>
              <a:rPr lang="zh-CN" altLang="en-US" dirty="0">
                <a:solidFill>
                  <a:schemeClr val="bg1"/>
                </a:solidFill>
              </a:rPr>
              <a:t>？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0A3E3-4CE0-4D16-9C6D-4AAA50914BC0}"/>
              </a:ext>
            </a:extLst>
          </p:cNvPr>
          <p:cNvSpPr/>
          <p:nvPr/>
        </p:nvSpPr>
        <p:spPr>
          <a:xfrm>
            <a:off x="6744072" y="4325575"/>
            <a:ext cx="45365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如果传两个参数就会变变成：</a:t>
            </a:r>
            <a:r>
              <a:rPr lang="en-US" altLang="zh-CN" dirty="0">
                <a:solidFill>
                  <a:schemeClr val="tx1"/>
                </a:solidFill>
              </a:rPr>
              <a:t>s=3.1415926*</a:t>
            </a:r>
            <a:r>
              <a:rPr lang="en-US" altLang="zh-CN" dirty="0" err="1">
                <a:solidFill>
                  <a:schemeClr val="tx1"/>
                </a:solidFill>
              </a:rPr>
              <a:t>a+b</a:t>
            </a:r>
            <a:r>
              <a:rPr lang="en-US" altLang="zh-CN" dirty="0">
                <a:solidFill>
                  <a:schemeClr val="tx1"/>
                </a:solidFill>
              </a:rPr>
              <a:t>*</a:t>
            </a:r>
            <a:r>
              <a:rPr lang="en-US" altLang="zh-CN" dirty="0" err="1">
                <a:solidFill>
                  <a:schemeClr val="tx1"/>
                </a:solidFill>
              </a:rPr>
              <a:t>a+b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r>
              <a:rPr lang="zh-CN" altLang="en-US" dirty="0">
                <a:solidFill>
                  <a:schemeClr val="tx1"/>
                </a:solidFill>
              </a:rPr>
              <a:t>这样运算的优先级会出问题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A0573D6-55D5-4733-838C-36A09F426488}"/>
              </a:ext>
            </a:extLst>
          </p:cNvPr>
          <p:cNvSpPr/>
          <p:nvPr/>
        </p:nvSpPr>
        <p:spPr>
          <a:xfrm>
            <a:off x="6528048" y="6356350"/>
            <a:ext cx="1473932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ex4-1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83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5.1.1 </a:t>
            </a:r>
            <a:r>
              <a:rPr lang="zh-CN" altLang="en-US" dirty="0"/>
              <a:t>宏定义 </a:t>
            </a: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A318E-FC57-44CF-B130-26A132388491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7DD7537-6927-4221-8C15-A273272B61C3}"/>
              </a:ext>
            </a:extLst>
          </p:cNvPr>
          <p:cNvSpPr/>
          <p:nvPr/>
        </p:nvSpPr>
        <p:spPr>
          <a:xfrm>
            <a:off x="1117232" y="1426310"/>
            <a:ext cx="7039106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）带参的宏与函数的区别：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(5)   </a:t>
            </a:r>
            <a:r>
              <a:rPr lang="zh-CN" altLang="en-US" dirty="0">
                <a:solidFill>
                  <a:schemeClr val="tx1"/>
                </a:solidFill>
              </a:rPr>
              <a:t>带参宏函数一般用于实现功能比较简单的函数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61F84F-E683-437C-AC99-EFF470920EFF}"/>
              </a:ext>
            </a:extLst>
          </p:cNvPr>
          <p:cNvSpPr/>
          <p:nvPr/>
        </p:nvSpPr>
        <p:spPr>
          <a:xfrm>
            <a:off x="1991544" y="2119264"/>
            <a:ext cx="8208912" cy="3346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b="0" dirty="0">
                <a:solidFill>
                  <a:srgbClr val="4D4D4D"/>
                </a:solidFill>
                <a:latin typeface="-apple-system"/>
              </a:rPr>
              <a:t>普通函数只有一个返回值，但是带参宏函数可以返回多个结果。</a:t>
            </a:r>
            <a:endParaRPr lang="en-US" altLang="zh-CN" b="0" dirty="0">
              <a:solidFill>
                <a:srgbClr val="4D4D4D"/>
              </a:solidFill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b="0" dirty="0">
                <a:solidFill>
                  <a:srgbClr val="4D4D4D"/>
                </a:solidFill>
                <a:latin typeface="-apple-system"/>
              </a:rPr>
              <a:t>带参宏函数是进行展开会使源代码变长，调用次数变多代码会越长，调用函数不会使源代码变长。</a:t>
            </a:r>
            <a:endParaRPr lang="en-US" altLang="zh-CN" b="0" dirty="0">
              <a:solidFill>
                <a:srgbClr val="4D4D4D"/>
              </a:solidFill>
              <a:latin typeface="-apple-system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b="0" dirty="0">
                <a:solidFill>
                  <a:srgbClr val="4D4D4D"/>
                </a:solidFill>
                <a:latin typeface="-apple-system"/>
              </a:rPr>
              <a:t>宏替换只是在预编译阶段进行，会占用编译时间，函数则是在运行阶段会占用程序的运行时间。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388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5.1.1 </a:t>
            </a:r>
            <a:r>
              <a:rPr lang="zh-CN" altLang="en-US" dirty="0"/>
              <a:t>宏定义 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A318E-FC57-44CF-B130-26A132388491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DF7CC3ED-8E02-4CF8-A47A-51C07DACFDEC}"/>
              </a:ext>
            </a:extLst>
          </p:cNvPr>
          <p:cNvSpPr/>
          <p:nvPr/>
        </p:nvSpPr>
        <p:spPr>
          <a:xfrm>
            <a:off x="1343472" y="1578435"/>
            <a:ext cx="9865096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例：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pt-BR" altLang="zh-CN" dirty="0">
                <a:solidFill>
                  <a:schemeClr val="tx1"/>
                </a:solidFill>
              </a:rPr>
              <a:t>#include &lt;iostream&gt;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#define PI 3.1415926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#define CIRCLE(R,S,L,V) S=2*PI*R*R;L=2*PI*R;V=4/3*PI*R*R*R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using namespace std;</a:t>
            </a:r>
          </a:p>
          <a:p>
            <a:endParaRPr lang="pt-BR" altLang="zh-CN" dirty="0">
              <a:solidFill>
                <a:schemeClr val="tx1"/>
              </a:solidFill>
            </a:endParaRPr>
          </a:p>
          <a:p>
            <a:r>
              <a:rPr lang="pt-BR" altLang="zh-CN" dirty="0">
                <a:solidFill>
                  <a:schemeClr val="tx1"/>
                </a:solidFill>
              </a:rPr>
              <a:t>int main( ) {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	float R, S, L, V = 0;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	R = 2;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	CIRCLE(R, S, L, V);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	cout &lt;&lt; "R=" &lt;&lt; R &lt;&lt; " S=" &lt;&lt; S  &lt;&lt; " L=" &lt;&lt; L &lt;&lt; " V=" &lt;&lt; V;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	return 0;</a:t>
            </a:r>
          </a:p>
          <a:p>
            <a:r>
              <a:rPr lang="pt-BR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869A0A3-D594-48B5-B114-F7D4B3433FB2}"/>
              </a:ext>
            </a:extLst>
          </p:cNvPr>
          <p:cNvSpPr/>
          <p:nvPr/>
        </p:nvSpPr>
        <p:spPr>
          <a:xfrm>
            <a:off x="9406810" y="6010417"/>
            <a:ext cx="1473932" cy="4616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ex4-2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3641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5.1.2 </a:t>
            </a:r>
            <a:r>
              <a:rPr lang="zh-CN" altLang="en-US" dirty="0"/>
              <a:t>文件包含 </a:t>
            </a:r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格式为：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#include &lt;</a:t>
            </a:r>
            <a:r>
              <a:rPr lang="zh-CN" altLang="en-US" sz="2800" dirty="0">
                <a:solidFill>
                  <a:schemeClr val="tx1"/>
                </a:solidFill>
              </a:rPr>
              <a:t>文件名</a:t>
            </a:r>
            <a:r>
              <a:rPr lang="en-US" altLang="zh-CN" sz="2800" dirty="0">
                <a:solidFill>
                  <a:schemeClr val="tx1"/>
                </a:solidFill>
              </a:rPr>
              <a:t>&gt;   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#include "</a:t>
            </a:r>
            <a:r>
              <a:rPr lang="zh-CN" altLang="en-US" sz="2800" dirty="0">
                <a:solidFill>
                  <a:schemeClr val="tx1"/>
                </a:solidFill>
              </a:rPr>
              <a:t>文件名</a:t>
            </a:r>
            <a:r>
              <a:rPr lang="en-US" altLang="zh-CN" sz="2800" dirty="0">
                <a:solidFill>
                  <a:schemeClr val="tx1"/>
                </a:solidFill>
              </a:rPr>
              <a:t>"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第一种格式：标准格式，用于嵌入系统头文件。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第二种格式：首先在工作目录中找，如果找不到，再按标准方式进行查找。适用于包含用户自定义的头文件。 </a:t>
            </a:r>
          </a:p>
        </p:txBody>
      </p:sp>
      <p:sp>
        <p:nvSpPr>
          <p:cNvPr id="645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F9FF8E3-EEC8-4ADA-9E4E-68EBDC29BC0A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66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ctr" anchorCtr="0">
            <a:normAutofit/>
          </a:bodyPr>
          <a:lstStyle/>
          <a:p>
            <a:pPr eaLnBrk="1" hangingPunct="1"/>
            <a:r>
              <a:rPr lang="en-US" altLang="zh-CN" dirty="0"/>
              <a:t>5.1.3 </a:t>
            </a:r>
            <a:r>
              <a:rPr lang="zh-CN" altLang="en-US" dirty="0"/>
              <a:t>条件编译 </a:t>
            </a: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/>
              <a:t>目的：仅编译源程序中满足条件的程序段，使生成的目标程序较短，从而减少程序运行时的内存开销并提高程序的效率。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287689" y="3320772"/>
            <a:ext cx="6264696" cy="22313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8088" rIns="91440" bIns="3808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#ifdef 宏名 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en-US" altLang="zh-CN" sz="2800" b="0" dirty="0">
                <a:solidFill>
                  <a:srgbClr val="444444"/>
                </a:solidFill>
                <a:latin typeface="Arial Unicode MS"/>
              </a:rPr>
              <a:t>    </a:t>
            </a:r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程序段1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 #else 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en-US" altLang="zh-CN" sz="2800" b="0" dirty="0">
                <a:solidFill>
                  <a:srgbClr val="444444"/>
                </a:solidFill>
                <a:latin typeface="Arial Unicode MS"/>
              </a:rPr>
              <a:t>    </a:t>
            </a:r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程序段2 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#endif</a:t>
            </a:r>
            <a:r>
              <a:rPr lang="zh-CN" altLang="zh-CN" sz="1600" b="0" dirty="0">
                <a:solidFill>
                  <a:schemeClr val="tx1"/>
                </a:solidFill>
              </a:rPr>
              <a:t> </a:t>
            </a:r>
            <a:endParaRPr lang="zh-CN" altLang="zh-CN" sz="5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7689" y="6017568"/>
            <a:ext cx="6243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444444"/>
                </a:solidFill>
                <a:latin typeface="Helvetica Neue"/>
              </a:rPr>
              <a:t>#</a:t>
            </a:r>
            <a:r>
              <a:rPr lang="en-US" altLang="zh-CN" b="0" dirty="0" err="1">
                <a:solidFill>
                  <a:srgbClr val="444444"/>
                </a:solidFill>
                <a:latin typeface="Helvetica Neue"/>
              </a:rPr>
              <a:t>ifdef</a:t>
            </a:r>
            <a:r>
              <a:rPr lang="en-US" altLang="zh-CN" b="0" dirty="0">
                <a:solidFill>
                  <a:srgbClr val="444444"/>
                </a:solidFill>
                <a:latin typeface="Helvetica Neue"/>
              </a:rPr>
              <a:t> </a:t>
            </a:r>
            <a:r>
              <a:rPr lang="zh-CN" altLang="en-US" b="0" dirty="0">
                <a:solidFill>
                  <a:srgbClr val="444444"/>
                </a:solidFill>
                <a:latin typeface="Helvetica Neue"/>
              </a:rPr>
              <a:t>判断后面的宏是否已经定义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0FB26F5-342A-44BA-88BC-4C43829B71CE}"/>
              </a:ext>
            </a:extLst>
          </p:cNvPr>
          <p:cNvCxnSpPr>
            <a:cxnSpLocks/>
          </p:cNvCxnSpPr>
          <p:nvPr/>
        </p:nvCxnSpPr>
        <p:spPr>
          <a:xfrm>
            <a:off x="1009650" y="141277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6400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1504" y="620688"/>
            <a:ext cx="8424936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r>
              <a:rPr lang="zh-CN" altLang="en-US" dirty="0">
                <a:solidFill>
                  <a:schemeClr val="tx1"/>
                </a:solidFill>
              </a:rPr>
              <a:t>从键盘上读入一行文本，对其中的小写字母加密。加密原则是：将每个小写字母向后移动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位，例如：</a:t>
            </a:r>
            <a:r>
              <a:rPr lang="en-US" altLang="zh-CN" dirty="0">
                <a:solidFill>
                  <a:schemeClr val="tx1"/>
                </a:solidFill>
              </a:rPr>
              <a:t>'a'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'c'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‘x'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‘z'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‘y'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‘a'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'z'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'b'</a:t>
            </a:r>
            <a:r>
              <a:rPr lang="zh-CN" altLang="en-US" dirty="0">
                <a:solidFill>
                  <a:schemeClr val="tx1"/>
                </a:solidFill>
              </a:rPr>
              <a:t>，其他字母不改变。 </a:t>
            </a:r>
          </a:p>
        </p:txBody>
      </p:sp>
    </p:spTree>
    <p:extLst>
      <p:ext uri="{BB962C8B-B14F-4D97-AF65-F5344CB8AC3E}">
        <p14:creationId xmlns:p14="http://schemas.microsoft.com/office/powerpoint/2010/main" val="1660615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4"/>
          <p:cNvSpPr txBox="1"/>
          <p:nvPr/>
        </p:nvSpPr>
        <p:spPr>
          <a:xfrm>
            <a:off x="2855913" y="188914"/>
            <a:ext cx="7631112" cy="674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#define    CHINA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const  int  code=2;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cipher(int   c);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deCipher(int   c);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 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char   ch;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"Enter a sentence: "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while(cin.get(ch) &amp;&amp; ch !='\n'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#ifdef  CHINA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cout&lt;&lt; cipher(ch);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#else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cout&lt;&lt; deCipher(ch);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#endif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6563" name="AutoShape 5"/>
          <p:cNvSpPr/>
          <p:nvPr/>
        </p:nvSpPr>
        <p:spPr>
          <a:xfrm>
            <a:off x="82565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3-18.cpp</a:t>
            </a:r>
          </a:p>
        </p:txBody>
      </p:sp>
    </p:spTree>
    <p:extLst>
      <p:ext uri="{BB962C8B-B14F-4D97-AF65-F5344CB8AC3E}">
        <p14:creationId xmlns:p14="http://schemas.microsoft.com/office/powerpoint/2010/main" val="153646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/>
          <p:nvPr/>
        </p:nvSpPr>
        <p:spPr>
          <a:xfrm>
            <a:off x="2786063" y="149226"/>
            <a:ext cx="7631112" cy="674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cipher(int c)		// </a:t>
            </a:r>
            <a:r>
              <a:rPr lang="zh-CN" altLang="en-US" dirty="0">
                <a:solidFill>
                  <a:schemeClr val="tx1"/>
                </a:solidFill>
              </a:rPr>
              <a:t>加密函数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if( c &gt;= 'a' &amp;&amp; c &lt;= 'z' )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{	c=c+code;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if(c&gt;'z')	// </a:t>
            </a:r>
            <a:r>
              <a:rPr lang="zh-CN" altLang="en-US" dirty="0">
                <a:solidFill>
                  <a:schemeClr val="tx1"/>
                </a:solidFill>
              </a:rPr>
              <a:t>处理溢出的情况</a:t>
            </a: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		</a:t>
            </a:r>
            <a:r>
              <a:rPr lang="en-US" altLang="zh-CN" dirty="0">
                <a:solidFill>
                  <a:schemeClr val="tx1"/>
                </a:solidFill>
              </a:rPr>
              <a:t>c=c-26;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(char)c;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deCipher(int c)		// </a:t>
            </a:r>
            <a:r>
              <a:rPr lang="zh-CN" altLang="en-US" dirty="0">
                <a:solidFill>
                  <a:schemeClr val="tx1"/>
                </a:solidFill>
              </a:rPr>
              <a:t>解密函数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if( c &gt;= 'a' &amp;&amp; c &lt;= 'z' )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{	c=c-code;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if(c&lt;'a')	// </a:t>
            </a:r>
            <a:r>
              <a:rPr lang="zh-CN" altLang="en-US" dirty="0">
                <a:solidFill>
                  <a:schemeClr val="tx1"/>
                </a:solidFill>
              </a:rPr>
              <a:t>处理溢出的情况</a:t>
            </a: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		</a:t>
            </a:r>
            <a:r>
              <a:rPr lang="en-US" altLang="zh-CN" dirty="0">
                <a:solidFill>
                  <a:schemeClr val="tx1"/>
                </a:solidFill>
              </a:rPr>
              <a:t>c=c+26;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(char)c;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043245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1750</TotalTime>
  <Words>7027</Words>
  <Application>Microsoft Office PowerPoint</Application>
  <PresentationFormat>宽屏</PresentationFormat>
  <Paragraphs>765</Paragraphs>
  <Slides>69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8" baseType="lpstr">
      <vt:lpstr>-apple-system</vt:lpstr>
      <vt:lpstr>Arial Unicode MS</vt:lpstr>
      <vt:lpstr>Helvetica Neue</vt:lpstr>
      <vt:lpstr>Microsoft YaHei UI</vt:lpstr>
      <vt:lpstr>等线</vt:lpstr>
      <vt:lpstr>等线 Light</vt:lpstr>
      <vt:lpstr>仿宋</vt:lpstr>
      <vt:lpstr>华文楷体</vt:lpstr>
      <vt:lpstr>楷体_GB2312</vt:lpstr>
      <vt:lpstr>宋体</vt:lpstr>
      <vt:lpstr>Arial</vt:lpstr>
      <vt:lpstr>Calibri</vt:lpstr>
      <vt:lpstr>Calibri Light</vt:lpstr>
      <vt:lpstr>Cambria Math</vt:lpstr>
      <vt:lpstr>Consolas</vt:lpstr>
      <vt:lpstr>Consolas</vt:lpstr>
      <vt:lpstr>Times New Roman</vt:lpstr>
      <vt:lpstr>Wingdings</vt:lpstr>
      <vt:lpstr>默认设计模板</vt:lpstr>
      <vt:lpstr>第4章   函数 </vt:lpstr>
      <vt:lpstr>PowerPoint 演示文稿</vt:lpstr>
      <vt:lpstr>PowerPoint 演示文稿</vt:lpstr>
      <vt:lpstr>PowerPoint 演示文稿</vt:lpstr>
      <vt:lpstr>4.1.2 函数的定义</vt:lpstr>
      <vt:lpstr>PowerPoint 演示文稿</vt:lpstr>
      <vt:lpstr>4.1.3 函数的调用</vt:lpstr>
      <vt:lpstr>PowerPoint 演示文稿</vt:lpstr>
      <vt:lpstr>PowerPoint 演示文稿</vt:lpstr>
      <vt:lpstr>PowerPoint 演示文稿</vt:lpstr>
      <vt:lpstr>PowerPoint 演示文稿</vt:lpstr>
      <vt:lpstr>4.2 函数的声明 </vt:lpstr>
      <vt:lpstr>PowerPoint 演示文稿</vt:lpstr>
      <vt:lpstr>4.3 函数的参数传递和返回值 </vt:lpstr>
      <vt:lpstr>PowerPoint 演示文稿</vt:lpstr>
      <vt:lpstr>4.3.2 函数的返回值 </vt:lpstr>
      <vt:lpstr>PowerPoint 演示文稿</vt:lpstr>
      <vt:lpstr>PowerPoint 演示文稿</vt:lpstr>
      <vt:lpstr>常问的3个问题 </vt:lpstr>
      <vt:lpstr>4.4 局部变量和全局变量 </vt:lpstr>
      <vt:lpstr>PowerPoint 演示文稿</vt:lpstr>
      <vt:lpstr>4.4.1 内存存储区的布局 </vt:lpstr>
      <vt:lpstr>4.4.2 局部变量 </vt:lpstr>
      <vt:lpstr>PowerPoint 演示文稿</vt:lpstr>
      <vt:lpstr>4.4.3 全局变量 </vt:lpstr>
      <vt:lpstr>PowerPoint 演示文稿</vt:lpstr>
      <vt:lpstr>4.4.4 局部变量与栈 </vt:lpstr>
      <vt:lpstr>4.5   变量的存储类别 </vt:lpstr>
      <vt:lpstr>4.5.1 auto修饰的变量 </vt:lpstr>
      <vt:lpstr>4.5.2 register修饰的变量 </vt:lpstr>
      <vt:lpstr>4.5.3 static修饰的变量 </vt:lpstr>
      <vt:lpstr>4.5.4 extern修饰的变量 </vt:lpstr>
      <vt:lpstr>4.5.4 extern修饰的变量 </vt:lpstr>
      <vt:lpstr>4.6 默认值参数 </vt:lpstr>
      <vt:lpstr>PowerPoint 演示文稿</vt:lpstr>
      <vt:lpstr>PowerPoint 演示文稿</vt:lpstr>
      <vt:lpstr>4.7  引用作参数 </vt:lpstr>
      <vt:lpstr>PowerPoint 演示文稿</vt:lpstr>
      <vt:lpstr>PowerPoint 演示文稿</vt:lpstr>
      <vt:lpstr>4.8 函数重载 </vt:lpstr>
      <vt:lpstr>PowerPoint 演示文稿</vt:lpstr>
      <vt:lpstr>4.9 函数模板 </vt:lpstr>
      <vt:lpstr>4.9.1  从函数重载到函数模板 </vt:lpstr>
      <vt:lpstr>4.9.2  定义函数模板的方法 </vt:lpstr>
      <vt:lpstr>PowerPoint 演示文稿</vt:lpstr>
      <vt:lpstr>4.9.3  在函数模板中使用多种类型 </vt:lpstr>
      <vt:lpstr>4.9.4  函数模板重载 </vt:lpstr>
      <vt:lpstr>4.9.4  函数模板重载 </vt:lpstr>
      <vt:lpstr>4.10 内联函数 </vt:lpstr>
      <vt:lpstr>PowerPoint 演示文稿</vt:lpstr>
      <vt:lpstr>4.10 内联函数</vt:lpstr>
      <vt:lpstr>PowerPoint 演示文稿</vt:lpstr>
      <vt:lpstr>4.11 函数的递归调用 </vt:lpstr>
      <vt:lpstr>PowerPoint 演示文稿</vt:lpstr>
      <vt:lpstr>PowerPoint 演示文稿</vt:lpstr>
      <vt:lpstr>PowerPoint 演示文稿</vt:lpstr>
      <vt:lpstr>PowerPoint 演示文稿</vt:lpstr>
      <vt:lpstr>5.1  编译预处理 </vt:lpstr>
      <vt:lpstr>5.1.1 宏定义 </vt:lpstr>
      <vt:lpstr>5.1.1 宏定义 </vt:lpstr>
      <vt:lpstr>5.1.1 宏定义 </vt:lpstr>
      <vt:lpstr>5.1.1 宏定义 </vt:lpstr>
      <vt:lpstr>5.1.1 宏定义 </vt:lpstr>
      <vt:lpstr>5.1.1 宏定义 </vt:lpstr>
      <vt:lpstr>5.1.2 文件包含 </vt:lpstr>
      <vt:lpstr>5.1.3 条件编译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教案</dc:title>
  <dc:subject>电子教案</dc:subject>
  <dc:creator>皮德常</dc:creator>
  <cp:lastModifiedBy>Alice</cp:lastModifiedBy>
  <cp:revision>810</cp:revision>
  <dcterms:created xsi:type="dcterms:W3CDTF">2021-09-17T09:04:00Z</dcterms:created>
  <dcterms:modified xsi:type="dcterms:W3CDTF">2024-11-08T01:58:09Z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7B80EB59749549D1974291CBFE5B9C27</vt:lpwstr>
  </property>
  <property fmtid="{D5CDD505-2E9C-101B-9397-08002B2CF9AE}" pid="3" name="KSOProductBuildVer">
    <vt:lpwstr>2052-11.1.0.10938</vt:lpwstr>
  </property>
</Properties>
</file>