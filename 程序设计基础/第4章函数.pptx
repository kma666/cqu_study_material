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1" r:id="rId1"/>
  </p:sldMasterIdLst>
  <p:notesMasterIdLst>
    <p:notesMasterId r:id="rId64"/>
  </p:notesMasterIdLst>
  <p:handoutMasterIdLst>
    <p:handoutMasterId r:id="rId65"/>
  </p:handoutMasterIdLst>
  <p:sldIdLst>
    <p:sldId id="256" r:id="rId2"/>
    <p:sldId id="257" r:id="rId3"/>
    <p:sldId id="258" r:id="rId4"/>
    <p:sldId id="259" r:id="rId5"/>
    <p:sldId id="260" r:id="rId6"/>
    <p:sldId id="317" r:id="rId7"/>
    <p:sldId id="318" r:id="rId8"/>
    <p:sldId id="316" r:id="rId9"/>
    <p:sldId id="261" r:id="rId10"/>
    <p:sldId id="262" r:id="rId11"/>
    <p:sldId id="263" r:id="rId12"/>
    <p:sldId id="265" r:id="rId13"/>
    <p:sldId id="264" r:id="rId14"/>
    <p:sldId id="266" r:id="rId15"/>
    <p:sldId id="267" r:id="rId16"/>
    <p:sldId id="268" r:id="rId17"/>
    <p:sldId id="269" r:id="rId18"/>
    <p:sldId id="270" r:id="rId19"/>
    <p:sldId id="319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3" r:id="rId32"/>
    <p:sldId id="284" r:id="rId33"/>
    <p:sldId id="320" r:id="rId34"/>
    <p:sldId id="321" r:id="rId35"/>
    <p:sldId id="285" r:id="rId36"/>
    <p:sldId id="322" r:id="rId37"/>
    <p:sldId id="286" r:id="rId38"/>
    <p:sldId id="288" r:id="rId39"/>
    <p:sldId id="289" r:id="rId40"/>
    <p:sldId id="293" r:id="rId41"/>
    <p:sldId id="294" r:id="rId42"/>
    <p:sldId id="297" r:id="rId43"/>
    <p:sldId id="325" r:id="rId44"/>
    <p:sldId id="298" r:id="rId45"/>
    <p:sldId id="299" r:id="rId46"/>
    <p:sldId id="300" r:id="rId47"/>
    <p:sldId id="301" r:id="rId48"/>
    <p:sldId id="302" r:id="rId49"/>
    <p:sldId id="303" r:id="rId50"/>
    <p:sldId id="324" r:id="rId51"/>
    <p:sldId id="304" r:id="rId52"/>
    <p:sldId id="305" r:id="rId53"/>
    <p:sldId id="309" r:id="rId54"/>
    <p:sldId id="326" r:id="rId55"/>
    <p:sldId id="311" r:id="rId56"/>
    <p:sldId id="312" r:id="rId57"/>
    <p:sldId id="314" r:id="rId58"/>
    <p:sldId id="315" r:id="rId59"/>
    <p:sldId id="327" r:id="rId60"/>
    <p:sldId id="328" r:id="rId61"/>
    <p:sldId id="329" r:id="rId62"/>
    <p:sldId id="330" r:id="rId63"/>
  </p:sldIdLst>
  <p:sldSz cx="12192000" cy="6858000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FFFF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FFFF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FFFF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FFFF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FFFF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FFFF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FFFF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FFFF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FFFF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FF"/>
    <a:srgbClr val="00FF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7"/>
    <p:restoredTop sz="89409" autoAdjust="0"/>
  </p:normalViewPr>
  <p:slideViewPr>
    <p:cSldViewPr showGuides="1">
      <p:cViewPr varScale="1">
        <p:scale>
          <a:sx n="76" d="100"/>
          <a:sy n="76" d="100"/>
        </p:scale>
        <p:origin x="917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fontAlgn="base">
              <a:defRPr kumimoji="1" sz="1200" b="0" smtClean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fontAlgn="base">
              <a:defRPr kumimoji="1" sz="1200" b="0" smtClean="0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fontAlgn="base">
              <a:defRPr kumimoji="1" sz="1200" b="0" smtClean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fontAlgn="base">
              <a:defRPr sz="1200" b="0" noProof="1" dirty="0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F19D33F-5F84-4247-BCF4-4A0103945A93}" type="slidenum">
              <a:rPr kumimoji="0" lang="zh-CN" altLang="en-US" sz="12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fontAlgn="base">
              <a:defRPr kumimoji="1" sz="1200" b="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3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fontAlgn="base">
              <a:defRPr kumimoji="1" sz="1200" b="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1028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5365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15366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fontAlgn="base">
              <a:defRPr kumimoji="1" sz="1200" b="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7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fontAlgn="base">
              <a:defRPr sz="1200" b="0" noProof="1"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E6B48D4-BEFD-448B-B918-1D1608D5E3A9}" type="slidenum">
              <a:rPr kumimoji="0" lang="zh-CN" altLang="en-US" sz="1200" b="0" i="0" u="none" strike="noStrike" kern="1200" cap="none" spc="0" normalizeH="0" baseline="0" noProof="1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31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fontAlgn="base" hangingPunct="1"/>
            <a:fld id="{9A0DB2DC-4C9A-4742-B13C-FB6460FD3503}" type="slidenum">
              <a:rPr lang="en-US" altLang="en-US" sz="1200" b="0" dirty="0"/>
              <a:t>17</a:t>
            </a:fld>
            <a:endParaRPr lang="en-US" altLang="en-US" sz="1200" b="0" dirty="0"/>
          </a:p>
        </p:txBody>
      </p:sp>
      <p:sp>
        <p:nvSpPr>
          <p:cNvPr id="18435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843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r>
              <a:rPr lang="zh-CN" altLang="en-US" b="1" dirty="0"/>
              <a:t>必须借助外部的力量来实现函数值的返回。例如：创建一个临时变量，将临时变量的值送给指定的变量。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寄存器存储变量</a:t>
            </a:r>
          </a:p>
        </p:txBody>
      </p:sp>
    </p:spTree>
    <p:extLst>
      <p:ext uri="{BB962C8B-B14F-4D97-AF65-F5344CB8AC3E}">
        <p14:creationId xmlns:p14="http://schemas.microsoft.com/office/powerpoint/2010/main" val="3997352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fld id="{E5EA7DFA-81F7-481F-8BCA-B8DEAFCFE80C}" type="datetime1">
              <a:rPr lang="zh-CN" altLang="en-US" smtClean="0"/>
              <a:pPr eaLnBrk="1" hangingPunct="1">
                <a:defRPr/>
              </a:pPr>
              <a:t>2024/10/2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B5259C95-482D-4FB3-8BC8-98988470C26D}" type="slidenum">
              <a:rPr lang="zh-CN" altLang="en-US" smtClean="0"/>
              <a:pPr eaLnBrk="1" hangingPunct="1"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5904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fld id="{E5EA7DFA-81F7-481F-8BCA-B8DEAFCFE80C}" type="datetime1">
              <a:rPr lang="zh-CN" altLang="en-US" smtClean="0"/>
              <a:pPr eaLnBrk="1" hangingPunct="1">
                <a:defRPr/>
              </a:pPr>
              <a:t>2024/10/2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B5259C95-482D-4FB3-8BC8-98988470C26D}" type="slidenum">
              <a:rPr lang="zh-CN" altLang="en-US" smtClean="0"/>
              <a:pPr eaLnBrk="1" hangingPunct="1"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365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fld id="{E5EA7DFA-81F7-481F-8BCA-B8DEAFCFE80C}" type="datetime1">
              <a:rPr lang="zh-CN" altLang="en-US" smtClean="0"/>
              <a:pPr eaLnBrk="1" hangingPunct="1">
                <a:defRPr/>
              </a:pPr>
              <a:t>2024/10/2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B5259C95-482D-4FB3-8BC8-98988470C26D}" type="slidenum">
              <a:rPr lang="zh-CN" altLang="en-US" smtClean="0"/>
              <a:pPr eaLnBrk="1" hangingPunct="1"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317112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fld id="{E5EA7DFA-81F7-481F-8BCA-B8DEAFCFE80C}" type="datetime1">
              <a:rPr lang="zh-CN" altLang="en-US" smtClean="0"/>
              <a:pPr eaLnBrk="1" hangingPunct="1">
                <a:defRPr/>
              </a:pPr>
              <a:t>2024/10/2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B5259C95-482D-4FB3-8BC8-98988470C26D}" type="slidenum">
              <a:rPr lang="zh-CN" altLang="en-US" smtClean="0"/>
              <a:pPr eaLnBrk="1" hangingPunct="1"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243873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fld id="{E5EA7DFA-81F7-481F-8BCA-B8DEAFCFE80C}" type="datetime1">
              <a:rPr lang="zh-CN" altLang="en-US" smtClean="0"/>
              <a:pPr eaLnBrk="1" hangingPunct="1">
                <a:defRPr/>
              </a:pPr>
              <a:t>2024/10/2</a:t>
            </a:fld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B5259C95-482D-4FB3-8BC8-98988470C26D}" type="slidenum">
              <a:rPr lang="zh-CN" altLang="en-US" smtClean="0"/>
              <a:pPr eaLnBrk="1" hangingPunct="1"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082762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fld id="{E5EA7DFA-81F7-481F-8BCA-B8DEAFCFE80C}" type="datetime1">
              <a:rPr lang="zh-CN" altLang="en-US" smtClean="0"/>
              <a:pPr eaLnBrk="1" hangingPunct="1">
                <a:defRPr/>
              </a:pPr>
              <a:t>2024/10/2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B5259C95-482D-4FB3-8BC8-98988470C26D}" type="slidenum">
              <a:rPr lang="zh-CN" altLang="en-US" smtClean="0"/>
              <a:pPr eaLnBrk="1" hangingPunct="1"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934511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fld id="{E5EA7DFA-81F7-481F-8BCA-B8DEAFCFE80C}" type="datetime1">
              <a:rPr lang="zh-CN" altLang="en-US" smtClean="0"/>
              <a:pPr eaLnBrk="1" hangingPunct="1">
                <a:defRPr/>
              </a:pPr>
              <a:t>2024/10/2</a:t>
            </a:fld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B5259C95-482D-4FB3-8BC8-98988470C26D}" type="slidenum">
              <a:rPr lang="zh-CN" altLang="en-US" smtClean="0"/>
              <a:pPr eaLnBrk="1" hangingPunct="1"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417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fld id="{E5EA7DFA-81F7-481F-8BCA-B8DEAFCFE80C}" type="datetime1">
              <a:rPr lang="zh-CN" altLang="en-US" smtClean="0"/>
              <a:pPr eaLnBrk="1" hangingPunct="1">
                <a:defRPr/>
              </a:pPr>
              <a:t>2024/10/2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B5259C95-482D-4FB3-8BC8-98988470C26D}" type="slidenum">
              <a:rPr lang="zh-CN" altLang="en-US" smtClean="0"/>
              <a:pPr eaLnBrk="1" hangingPunct="1"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844752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fld id="{E5EA7DFA-81F7-481F-8BCA-B8DEAFCFE80C}" type="datetime1">
              <a:rPr lang="zh-CN" altLang="en-US" smtClean="0"/>
              <a:pPr eaLnBrk="1" hangingPunct="1">
                <a:defRPr/>
              </a:pPr>
              <a:t>2024/10/2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B5259C95-482D-4FB3-8BC8-98988470C26D}" type="slidenum">
              <a:rPr lang="zh-CN" altLang="en-US" smtClean="0"/>
              <a:pPr eaLnBrk="1" hangingPunct="1"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974365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fld id="{E5EA7DFA-81F7-481F-8BCA-B8DEAFCFE80C}" type="datetime1">
              <a:rPr lang="zh-CN" altLang="en-US" smtClean="0"/>
              <a:pPr eaLnBrk="1" hangingPunct="1">
                <a:defRPr/>
              </a:pPr>
              <a:t>2024/10/2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B5259C95-482D-4FB3-8BC8-98988470C26D}" type="slidenum">
              <a:rPr lang="zh-CN" altLang="en-US" smtClean="0"/>
              <a:pPr eaLnBrk="1" hangingPunct="1"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258240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>
              <a:defRPr/>
            </a:pPr>
            <a:fld id="{E5EA7DFA-81F7-481F-8BCA-B8DEAFCFE80C}" type="datetime1">
              <a:rPr lang="zh-CN" altLang="en-US" smtClean="0"/>
              <a:pPr eaLnBrk="1" hangingPunct="1">
                <a:defRPr/>
              </a:pPr>
              <a:t>2024/10/2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>
              <a:defRPr/>
            </a:pPr>
            <a:fld id="{B5259C95-482D-4FB3-8BC8-98988470C26D}" type="slidenum">
              <a:rPr lang="zh-CN" altLang="en-US" smtClean="0"/>
              <a:pPr eaLnBrk="1" hangingPunct="1"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926866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hangingPunct="1">
              <a:defRPr/>
            </a:pPr>
            <a:fld id="{E5EA7DFA-81F7-481F-8BCA-B8DEAFCFE80C}" type="datetime1">
              <a:rPr lang="zh-CN" altLang="en-US" smtClean="0"/>
              <a:pPr eaLnBrk="1" hangingPunct="1">
                <a:defRPr/>
              </a:pPr>
              <a:t>2024/10/2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hangingPunct="1"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hangingPunct="1">
              <a:defRPr/>
            </a:pPr>
            <a:fld id="{B5259C95-482D-4FB3-8BC8-98988470C26D}" type="slidenum">
              <a:rPr lang="zh-CN" altLang="en-US" smtClean="0"/>
              <a:pPr eaLnBrk="1" hangingPunct="1"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0567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ilibili.com/video/BV1Zh411y7XB/?spm_id_from=333.337.search-card.all.click&amp;vd_source=902c9ed89f30a1a5ad9bd6af31b885a4" TargetMode="Externa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章   函数 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09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1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4.1 </a:t>
            </a:r>
            <a:r>
              <a:rPr lang="zh-CN" altLang="en-US" dirty="0"/>
              <a:t>函数的定义和调用 </a:t>
            </a:r>
          </a:p>
        </p:txBody>
      </p:sp>
      <p:sp>
        <p:nvSpPr>
          <p:cNvPr id="512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>
            <a:normAutofit fontScale="92500"/>
          </a:bodyPr>
          <a:lstStyle/>
          <a:p>
            <a:pPr marL="609600" indent="-609600">
              <a:lnSpc>
                <a:spcPct val="150000"/>
              </a:lnSpc>
              <a:buFontTx/>
              <a:buAutoNum type="arabicPeriod"/>
            </a:pPr>
            <a:r>
              <a:rPr lang="zh-CN" altLang="en-US" sz="2800" dirty="0">
                <a:solidFill>
                  <a:schemeClr val="tx1"/>
                </a:solidFill>
              </a:rPr>
              <a:t>函数：库函数和用户自定义函数。 </a:t>
            </a:r>
          </a:p>
          <a:p>
            <a:pPr marL="609600" indent="-609600">
              <a:lnSpc>
                <a:spcPct val="150000"/>
              </a:lnSpc>
              <a:buFontTx/>
              <a:buAutoNum type="arabicPeriod"/>
            </a:pPr>
            <a:r>
              <a:rPr lang="zh-CN" altLang="en-US" sz="2800" dirty="0">
                <a:solidFill>
                  <a:schemeClr val="tx1"/>
                </a:solidFill>
              </a:rPr>
              <a:t>使用函数的原因之一：</a:t>
            </a:r>
            <a:r>
              <a:rPr lang="zh-CN" altLang="en-US" sz="2800" dirty="0">
                <a:solidFill>
                  <a:srgbClr val="FF0000"/>
                </a:solidFill>
              </a:rPr>
              <a:t>将程序分解成更小，更易管理的程序单元</a:t>
            </a:r>
            <a:r>
              <a:rPr lang="zh-CN" altLang="en-US" sz="2800" dirty="0">
                <a:solidFill>
                  <a:schemeClr val="tx1"/>
                </a:solidFill>
              </a:rPr>
              <a:t>。 </a:t>
            </a:r>
          </a:p>
          <a:p>
            <a:pPr marL="609600" indent="-609600">
              <a:lnSpc>
                <a:spcPct val="150000"/>
              </a:lnSpc>
              <a:buFontTx/>
              <a:buAutoNum type="arabicPeriod"/>
            </a:pPr>
            <a:r>
              <a:rPr lang="zh-CN" altLang="en-US" sz="2800" dirty="0">
                <a:solidFill>
                  <a:schemeClr val="tx1"/>
                </a:solidFill>
              </a:rPr>
              <a:t>原则：一个</a:t>
            </a:r>
            <a:r>
              <a:rPr lang="en-US" altLang="zh-CN" sz="2800" dirty="0">
                <a:solidFill>
                  <a:schemeClr val="tx1"/>
                </a:solidFill>
              </a:rPr>
              <a:t>C++</a:t>
            </a:r>
            <a:r>
              <a:rPr lang="zh-CN" altLang="en-US" sz="2800" dirty="0">
                <a:solidFill>
                  <a:schemeClr val="tx1"/>
                </a:solidFill>
              </a:rPr>
              <a:t>程序由若干个函数构成，其中一个是主函数，是程序执行入口，其它函数是子函数。</a:t>
            </a:r>
          </a:p>
          <a:p>
            <a:pPr marL="609600" indent="-609600">
              <a:lnSpc>
                <a:spcPct val="150000"/>
              </a:lnSpc>
              <a:buFontTx/>
              <a:buAutoNum type="arabicPeriod"/>
            </a:pPr>
            <a:r>
              <a:rPr lang="zh-CN" altLang="en-US" sz="2800" dirty="0">
                <a:solidFill>
                  <a:schemeClr val="tx1"/>
                </a:solidFill>
              </a:rPr>
              <a:t>子函数间可以相互调用，但</a:t>
            </a:r>
            <a:r>
              <a:rPr lang="zh-CN" altLang="en-US" sz="2800" dirty="0">
                <a:solidFill>
                  <a:srgbClr val="002060"/>
                </a:solidFill>
              </a:rPr>
              <a:t>主函数只能调用其他子函数</a:t>
            </a:r>
            <a:r>
              <a:rPr lang="zh-CN" altLang="en-US" sz="2800" dirty="0">
                <a:solidFill>
                  <a:schemeClr val="tx1"/>
                </a:solidFill>
              </a:rPr>
              <a:t>，而不能被其他子函数调用。</a:t>
            </a:r>
          </a:p>
        </p:txBody>
      </p:sp>
      <p:sp>
        <p:nvSpPr>
          <p:cNvPr id="512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2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/>
          </p:cNvSpPr>
          <p:nvPr>
            <p:ph type="title"/>
          </p:nvPr>
        </p:nvSpPr>
        <p:spPr>
          <a:xfrm>
            <a:off x="1055440" y="116632"/>
            <a:ext cx="10515600" cy="1325563"/>
          </a:xfrm>
        </p:spPr>
        <p:txBody>
          <a:bodyPr vert="horz" wrap="square" lIns="91440" tIns="45720" rIns="91440" bIns="45720" anchor="ctr" anchorCtr="0">
            <a:normAutofit/>
          </a:bodyPr>
          <a:lstStyle/>
          <a:p>
            <a:r>
              <a:rPr lang="en-US" altLang="zh-CN" sz="4000" dirty="0"/>
              <a:t>4.1.2 </a:t>
            </a:r>
            <a:r>
              <a:rPr lang="zh-CN" altLang="en-US" sz="4000" dirty="0"/>
              <a:t>函数的定义</a:t>
            </a:r>
          </a:p>
        </p:txBody>
      </p:sp>
      <p:sp>
        <p:nvSpPr>
          <p:cNvPr id="6148" name="Rectangle 3"/>
          <p:cNvSpPr>
            <a:spLocks noGrp="1"/>
          </p:cNvSpPr>
          <p:nvPr>
            <p:ph idx="1"/>
          </p:nvPr>
        </p:nvSpPr>
        <p:spPr>
          <a:xfrm>
            <a:off x="2668324" y="1268760"/>
            <a:ext cx="8801504" cy="5425127"/>
          </a:xfrm>
        </p:spPr>
        <p:txBody>
          <a:bodyPr vert="horz" wrap="square" lIns="91440" tIns="45720" rIns="91440" bIns="45720" anchor="t" anchorCtr="0"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zh-CN" altLang="en-US" sz="2600" dirty="0">
                <a:solidFill>
                  <a:schemeClr val="tx1"/>
                </a:solidFill>
              </a:rPr>
              <a:t>一般形式</a:t>
            </a:r>
            <a:r>
              <a:rPr lang="zh-CN" altLang="en-US" sz="2400" dirty="0">
                <a:solidFill>
                  <a:schemeClr val="tx1"/>
                </a:solidFill>
              </a:rPr>
              <a:t>：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&lt;</a:t>
            </a:r>
            <a:r>
              <a:rPr lang="zh-CN" altLang="en-US" sz="2400" dirty="0">
                <a:solidFill>
                  <a:schemeClr val="tx1"/>
                </a:solidFill>
              </a:rPr>
              <a:t>类型</a:t>
            </a:r>
            <a:r>
              <a:rPr lang="en-US" altLang="zh-CN" sz="2400" dirty="0">
                <a:solidFill>
                  <a:schemeClr val="tx1"/>
                </a:solidFill>
              </a:rPr>
              <a:t>&gt;    &lt;</a:t>
            </a:r>
            <a:r>
              <a:rPr lang="zh-CN" altLang="en-US" sz="2400" dirty="0">
                <a:solidFill>
                  <a:schemeClr val="tx1"/>
                </a:solidFill>
              </a:rPr>
              <a:t>函数名</a:t>
            </a:r>
            <a:r>
              <a:rPr lang="en-US" altLang="zh-CN" sz="2400" dirty="0">
                <a:solidFill>
                  <a:schemeClr val="tx1"/>
                </a:solidFill>
              </a:rPr>
              <a:t>&gt; </a:t>
            </a:r>
            <a:r>
              <a:rPr lang="zh-CN" altLang="en-US" sz="2400" dirty="0">
                <a:solidFill>
                  <a:schemeClr val="tx1"/>
                </a:solidFill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</a:rPr>
              <a:t>&lt;</a:t>
            </a:r>
            <a:r>
              <a:rPr lang="zh-CN" altLang="en-US" sz="2400" dirty="0">
                <a:solidFill>
                  <a:schemeClr val="tx1"/>
                </a:solidFill>
              </a:rPr>
              <a:t>参数列表</a:t>
            </a:r>
            <a:r>
              <a:rPr lang="en-US" altLang="zh-CN" sz="2400" dirty="0">
                <a:solidFill>
                  <a:schemeClr val="tx1"/>
                </a:solidFill>
              </a:rPr>
              <a:t>&gt;</a:t>
            </a:r>
            <a:r>
              <a:rPr lang="zh-CN" altLang="en-US" sz="2400" dirty="0">
                <a:solidFill>
                  <a:schemeClr val="tx1"/>
                </a:solidFill>
              </a:rPr>
              <a:t>） 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{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   	&lt;</a:t>
            </a:r>
            <a:r>
              <a:rPr lang="zh-CN" altLang="en-US" sz="2400" dirty="0">
                <a:solidFill>
                  <a:schemeClr val="tx1"/>
                </a:solidFill>
              </a:rPr>
              <a:t>函数体</a:t>
            </a:r>
            <a:r>
              <a:rPr lang="en-US" altLang="zh-CN" sz="2400" dirty="0">
                <a:solidFill>
                  <a:schemeClr val="tx1"/>
                </a:solidFill>
              </a:rPr>
              <a:t>&gt; 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} </a:t>
            </a:r>
          </a:p>
          <a:p>
            <a:pPr eaLnBrk="1" hangingPunct="1">
              <a:lnSpc>
                <a:spcPct val="90000"/>
              </a:lnSpc>
              <a:buNone/>
            </a:pPr>
            <a:endParaRPr lang="en-US" altLang="zh-CN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例如：求两个整数中的最大值。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en-US" altLang="zh-CN" dirty="0"/>
          </a:p>
          <a:p>
            <a:pPr eaLnBrk="1" hangingPunct="1">
              <a:lnSpc>
                <a:spcPct val="90000"/>
              </a:lnSpc>
              <a:buNone/>
            </a:pP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zh-CN" altLang="fr-FR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fr-FR" altLang="zh-CN" sz="2800" dirty="0">
                <a:solidFill>
                  <a:schemeClr val="tx1"/>
                </a:solidFill>
              </a:rPr>
              <a:t>int  max( int  x, int  y )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fr-FR" altLang="zh-CN" sz="2800" dirty="0">
                <a:solidFill>
                  <a:schemeClr val="tx1"/>
                </a:solidFill>
              </a:rPr>
              <a:t>{	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fr-FR" altLang="zh-CN" sz="2800" dirty="0">
                <a:solidFill>
                  <a:schemeClr val="tx1"/>
                </a:solidFill>
              </a:rPr>
              <a:t>	  return   x &gt; y ? x : y 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} 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4267818" y="4216044"/>
            <a:ext cx="2336800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b="1" dirty="0">
                <a:solidFill>
                  <a:srgbClr val="002060"/>
                </a:solidFill>
                <a:latin typeface="Arial Unicode MS" pitchFamily="34" charset="-122"/>
                <a:ea typeface="楷体_GB2312" pitchFamily="49" charset="-122"/>
              </a:rPr>
              <a:t>形式参数</a:t>
            </a:r>
            <a:endParaRPr lang="en-US" altLang="zh-CN" b="1" dirty="0">
              <a:solidFill>
                <a:srgbClr val="002060"/>
              </a:solidFill>
              <a:latin typeface="Arial Unicode MS" pitchFamily="34" charset="-122"/>
              <a:ea typeface="楷体_GB2312" pitchFamily="49" charset="-122"/>
            </a:endParaRPr>
          </a:p>
        </p:txBody>
      </p:sp>
      <p:sp>
        <p:nvSpPr>
          <p:cNvPr id="6" name="Rectangle 11"/>
          <p:cNvSpPr>
            <a:spLocks noChangeArrowheads="1"/>
          </p:cNvSpPr>
          <p:nvPr/>
        </p:nvSpPr>
        <p:spPr bwMode="auto">
          <a:xfrm>
            <a:off x="1405064" y="4148188"/>
            <a:ext cx="3048000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b="1" dirty="0">
                <a:solidFill>
                  <a:srgbClr val="002060"/>
                </a:solidFill>
                <a:latin typeface="Arial Unicode MS" pitchFamily="34" charset="-122"/>
                <a:ea typeface="楷体_GB2312" pitchFamily="49" charset="-122"/>
              </a:rPr>
              <a:t>函数类型</a:t>
            </a:r>
            <a:endParaRPr lang="en-US" altLang="zh-CN" b="1" dirty="0">
              <a:solidFill>
                <a:srgbClr val="002060"/>
              </a:solidFill>
              <a:latin typeface="Arial Unicode MS" pitchFamily="34" charset="-122"/>
              <a:ea typeface="楷体_GB2312" pitchFamily="49" charset="-122"/>
            </a:endParaRPr>
          </a:p>
        </p:txBody>
      </p:sp>
      <p:sp>
        <p:nvSpPr>
          <p:cNvPr id="7" name="Line 12"/>
          <p:cNvSpPr>
            <a:spLocks noChangeShapeType="1"/>
          </p:cNvSpPr>
          <p:nvPr/>
        </p:nvSpPr>
        <p:spPr bwMode="auto">
          <a:xfrm>
            <a:off x="3255610" y="4678351"/>
            <a:ext cx="406400" cy="381000"/>
          </a:xfrm>
          <a:prstGeom prst="line">
            <a:avLst/>
          </a:prstGeom>
          <a:noFill/>
          <a:ln w="25400">
            <a:solidFill>
              <a:srgbClr val="CC0066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zh-CN" altLang="en-US">
              <a:solidFill>
                <a:srgbClr val="002060"/>
              </a:solidFill>
            </a:endParaRPr>
          </a:p>
        </p:txBody>
      </p:sp>
      <p:sp>
        <p:nvSpPr>
          <p:cNvPr id="8" name="Line 13"/>
          <p:cNvSpPr>
            <a:spLocks noChangeShapeType="1"/>
          </p:cNvSpPr>
          <p:nvPr/>
        </p:nvSpPr>
        <p:spPr bwMode="auto">
          <a:xfrm flipH="1">
            <a:off x="4770099" y="4543552"/>
            <a:ext cx="203200" cy="533400"/>
          </a:xfrm>
          <a:prstGeom prst="line">
            <a:avLst/>
          </a:prstGeom>
          <a:noFill/>
          <a:ln w="25400">
            <a:solidFill>
              <a:srgbClr val="CC0066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zh-CN" altLang="en-US">
              <a:solidFill>
                <a:srgbClr val="002060"/>
              </a:solidFill>
            </a:endParaRPr>
          </a:p>
        </p:txBody>
      </p: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2464557" y="4525951"/>
            <a:ext cx="406400" cy="533400"/>
          </a:xfrm>
          <a:prstGeom prst="line">
            <a:avLst/>
          </a:prstGeom>
          <a:noFill/>
          <a:ln w="25400">
            <a:solidFill>
              <a:srgbClr val="CC0066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zh-CN" altLang="en-US">
              <a:solidFill>
                <a:srgbClr val="002060"/>
              </a:solidFill>
            </a:endParaRPr>
          </a:p>
        </p:txBody>
      </p:sp>
      <p:sp>
        <p:nvSpPr>
          <p:cNvPr id="10" name="Rectangle 15"/>
          <p:cNvSpPr>
            <a:spLocks noChangeArrowheads="1"/>
          </p:cNvSpPr>
          <p:nvPr/>
        </p:nvSpPr>
        <p:spPr bwMode="auto">
          <a:xfrm>
            <a:off x="2899519" y="4182116"/>
            <a:ext cx="1930400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b="1" dirty="0">
                <a:solidFill>
                  <a:srgbClr val="002060"/>
                </a:solidFill>
                <a:latin typeface="Arial Unicode MS" pitchFamily="34" charset="-122"/>
                <a:ea typeface="楷体_GB2312" pitchFamily="49" charset="-122"/>
              </a:rPr>
              <a:t>函数名</a:t>
            </a:r>
            <a:endParaRPr lang="en-US" altLang="zh-CN" b="1" dirty="0">
              <a:solidFill>
                <a:srgbClr val="002060"/>
              </a:solidFill>
              <a:latin typeface="Arial Unicode MS" pitchFamily="34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4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7171" name="Text Box 4"/>
          <p:cNvSpPr txBox="1"/>
          <p:nvPr/>
        </p:nvSpPr>
        <p:spPr>
          <a:xfrm>
            <a:off x="1631504" y="188640"/>
            <a:ext cx="9074224" cy="662950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fontAlgn="t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dirty="0">
                <a:solidFill>
                  <a:schemeClr val="tx1"/>
                </a:solidFill>
              </a:rPr>
              <a:t>注意如下几点：</a:t>
            </a:r>
          </a:p>
          <a:p>
            <a:pPr eaLnBrk="1" fontAlgn="t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fr-FR" altLang="zh-CN" dirty="0">
                <a:solidFill>
                  <a:schemeClr val="tx1"/>
                </a:solidFill>
              </a:rPr>
              <a:t>(1) </a:t>
            </a:r>
            <a:r>
              <a:rPr lang="zh-CN" altLang="fr-FR" dirty="0">
                <a:solidFill>
                  <a:schemeClr val="tx1"/>
                </a:solidFill>
              </a:rPr>
              <a:t>无返回值、有形参的函数。例如：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fontAlgn="t" hangingPunct="1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</a:rPr>
              <a:t>	</a:t>
            </a:r>
            <a:r>
              <a:rPr lang="en-US" altLang="zh-CN" dirty="0">
                <a:solidFill>
                  <a:schemeClr val="tx1"/>
                </a:solidFill>
              </a:rPr>
              <a:t>void  display( int  x )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	{	cout &lt;&lt; "Hello" &lt;&lt; x ; 	</a:t>
            </a:r>
            <a:r>
              <a:rPr lang="fr-FR" altLang="zh-CN" dirty="0">
                <a:solidFill>
                  <a:schemeClr val="tx1"/>
                </a:solidFill>
              </a:rPr>
              <a:t>} </a:t>
            </a:r>
          </a:p>
          <a:p>
            <a:pPr eaLnBrk="1" fontAlgn="t" hangingPunct="1">
              <a:lnSpc>
                <a:spcPct val="120000"/>
              </a:lnSpc>
            </a:pPr>
            <a:r>
              <a:rPr lang="fr-FR" altLang="zh-CN" dirty="0">
                <a:solidFill>
                  <a:schemeClr val="tx1"/>
                </a:solidFill>
              </a:rPr>
              <a:t>(2) </a:t>
            </a:r>
            <a:r>
              <a:rPr lang="zh-CN" altLang="fr-FR" dirty="0">
                <a:solidFill>
                  <a:schemeClr val="tx1"/>
                </a:solidFill>
              </a:rPr>
              <a:t>无返回值，也没有参数的函数。例如：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fontAlgn="t" hangingPunct="1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</a:rPr>
              <a:t>	</a:t>
            </a:r>
            <a:r>
              <a:rPr lang="en-US" altLang="zh-CN" dirty="0">
                <a:solidFill>
                  <a:schemeClr val="tx1"/>
                </a:solidFill>
              </a:rPr>
              <a:t>void  display(  )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fontAlgn="t" hangingPunct="1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</a:rPr>
              <a:t>	</a:t>
            </a:r>
            <a:r>
              <a:rPr lang="en-US" altLang="zh-CN" dirty="0">
                <a:solidFill>
                  <a:schemeClr val="tx1"/>
                </a:solidFill>
              </a:rPr>
              <a:t>{	cout &lt;&lt; "Hello" ;</a:t>
            </a:r>
            <a:r>
              <a:rPr lang="zh-CN" altLang="en-US" dirty="0">
                <a:solidFill>
                  <a:schemeClr val="tx1"/>
                </a:solidFill>
              </a:rPr>
              <a:t>	</a:t>
            </a:r>
            <a:r>
              <a:rPr lang="en-US" altLang="zh-CN" dirty="0">
                <a:solidFill>
                  <a:schemeClr val="tx1"/>
                </a:solidFill>
              </a:rPr>
              <a:t> } 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(3) </a:t>
            </a:r>
            <a:r>
              <a:rPr lang="zh-CN" altLang="fr-FR" dirty="0">
                <a:solidFill>
                  <a:schemeClr val="tx1"/>
                </a:solidFill>
              </a:rPr>
              <a:t>有返回值，但没有形参的函数。例如：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fontAlgn="t" hangingPunct="1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</a:rPr>
              <a:t>	</a:t>
            </a:r>
            <a:r>
              <a:rPr lang="en-US" altLang="zh-CN" dirty="0">
                <a:solidFill>
                  <a:schemeClr val="tx1"/>
                </a:solidFill>
              </a:rPr>
              <a:t>int  input( )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	{ 	int  x;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		cin &gt;&gt; x;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		return x;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fontAlgn="t" hangingPunct="1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</a:rPr>
              <a:t>	</a:t>
            </a:r>
            <a:r>
              <a:rPr lang="en-US" altLang="zh-CN" dirty="0">
                <a:solidFill>
                  <a:schemeClr val="tx1"/>
                </a:solidFill>
              </a:rPr>
              <a:t>} 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(4) </a:t>
            </a:r>
            <a:r>
              <a:rPr lang="zh-CN" altLang="fr-FR" dirty="0">
                <a:solidFill>
                  <a:schemeClr val="tx1"/>
                </a:solidFill>
              </a:rPr>
              <a:t>有返回值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zh-CN" altLang="fr-FR" dirty="0">
                <a:solidFill>
                  <a:schemeClr val="tx1"/>
                </a:solidFill>
              </a:rPr>
              <a:t>有形参的函数。如前面的</a:t>
            </a:r>
            <a:r>
              <a:rPr lang="fr-FR" altLang="zh-CN" dirty="0">
                <a:solidFill>
                  <a:schemeClr val="tx1"/>
                </a:solidFill>
              </a:rPr>
              <a:t>max</a:t>
            </a:r>
            <a:r>
              <a:rPr lang="zh-CN" altLang="fr-FR" dirty="0">
                <a:solidFill>
                  <a:schemeClr val="tx1"/>
                </a:solidFill>
              </a:rPr>
              <a:t>函数。 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>
            <a:normAutofit/>
          </a:bodyPr>
          <a:lstStyle/>
          <a:p>
            <a:r>
              <a:rPr lang="en-US" altLang="zh-CN" sz="4000" dirty="0"/>
              <a:t>4.1.3 </a:t>
            </a:r>
            <a:r>
              <a:rPr lang="zh-CN" altLang="en-US" sz="4000" dirty="0"/>
              <a:t>函数的调用</a:t>
            </a:r>
          </a:p>
        </p:txBody>
      </p:sp>
      <p:sp>
        <p:nvSpPr>
          <p:cNvPr id="819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格式：</a:t>
            </a:r>
            <a:r>
              <a:rPr lang="en-US" altLang="zh-CN" sz="2800" dirty="0">
                <a:solidFill>
                  <a:schemeClr val="tx1"/>
                </a:solidFill>
              </a:rPr>
              <a:t>&lt;</a:t>
            </a:r>
            <a:r>
              <a:rPr lang="zh-CN" altLang="en-US" sz="2800" dirty="0">
                <a:solidFill>
                  <a:schemeClr val="tx1"/>
                </a:solidFill>
              </a:rPr>
              <a:t>函数名</a:t>
            </a:r>
            <a:r>
              <a:rPr lang="en-US" altLang="zh-CN" sz="2800" dirty="0">
                <a:solidFill>
                  <a:schemeClr val="tx1"/>
                </a:solidFill>
              </a:rPr>
              <a:t>&gt; (</a:t>
            </a:r>
            <a:r>
              <a:rPr lang="zh-CN" altLang="en-US" sz="2800" dirty="0">
                <a:solidFill>
                  <a:schemeClr val="tx1"/>
                </a:solidFill>
              </a:rPr>
              <a:t>实际参数表</a:t>
            </a:r>
            <a:r>
              <a:rPr lang="en-US" altLang="zh-CN" sz="2800" dirty="0">
                <a:solidFill>
                  <a:schemeClr val="tx1"/>
                </a:solidFill>
              </a:rPr>
              <a:t>);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调用无返回值的函数：完成某个功能操作，可单独作为函数调用语句使用；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调用有返回值的函数：将产生一个数值，函数调用通常出现在表达式中。</a:t>
            </a:r>
          </a:p>
          <a:p>
            <a:pPr eaLnBrk="1" hangingPunct="1">
              <a:lnSpc>
                <a:spcPct val="100000"/>
              </a:lnSpc>
            </a:pP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819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5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919536" y="908720"/>
            <a:ext cx="42066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例：界面显示，无返回值示例</a:t>
            </a:r>
          </a:p>
        </p:txBody>
      </p:sp>
      <p:sp>
        <p:nvSpPr>
          <p:cNvPr id="3" name="矩形 2"/>
          <p:cNvSpPr/>
          <p:nvPr/>
        </p:nvSpPr>
        <p:spPr>
          <a:xfrm>
            <a:off x="2321248" y="1700808"/>
            <a:ext cx="758450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displ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system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 err="1">
                <a:solidFill>
                  <a:srgbClr val="007D17"/>
                </a:solidFill>
                <a:latin typeface="consolas" panose="020B0609020204030204" pitchFamily="49" charset="0"/>
              </a:rPr>
              <a:t>cls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"**********************"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"***1.</a:t>
            </a:r>
            <a:r>
              <a:rPr lang="zh-CN" altLang="en-US" dirty="0">
                <a:solidFill>
                  <a:srgbClr val="007D17"/>
                </a:solidFill>
                <a:latin typeface="consolas" panose="020B0609020204030204" pitchFamily="49" charset="0"/>
              </a:rPr>
              <a:t>录入学生成绩*****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"***2.</a:t>
            </a:r>
            <a:r>
              <a:rPr lang="zh-CN" altLang="en-US" dirty="0">
                <a:solidFill>
                  <a:srgbClr val="007D17"/>
                </a:solidFill>
                <a:latin typeface="consolas" panose="020B0609020204030204" pitchFamily="49" charset="0"/>
              </a:rPr>
              <a:t>查询学生成绩*****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"***3.</a:t>
            </a:r>
            <a:r>
              <a:rPr lang="zh-CN" altLang="en-US" dirty="0">
                <a:solidFill>
                  <a:srgbClr val="007D17"/>
                </a:solidFill>
                <a:latin typeface="consolas" panose="020B0609020204030204" pitchFamily="49" charset="0"/>
              </a:rPr>
              <a:t>退出        *****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"**********************"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zh-CN" altLang="en-US" dirty="0">
                <a:solidFill>
                  <a:srgbClr val="007D17"/>
                </a:solidFill>
                <a:latin typeface="consolas" panose="020B0609020204030204" pitchFamily="49" charset="0"/>
              </a:rPr>
              <a:t>请输入选项（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1-3</a:t>
            </a:r>
            <a:r>
              <a:rPr lang="zh-CN" altLang="en-US" dirty="0">
                <a:solidFill>
                  <a:srgbClr val="007D17"/>
                </a:solidFill>
                <a:latin typeface="consolas" panose="020B0609020204030204" pitchFamily="49" charset="0"/>
              </a:rPr>
              <a:t>）：***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endParaRPr lang="zh-CN" altLang="en-US" dirty="0"/>
          </a:p>
        </p:txBody>
      </p:sp>
      <p:sp>
        <p:nvSpPr>
          <p:cNvPr id="5" name="AutoShape 6"/>
          <p:cNvSpPr/>
          <p:nvPr/>
        </p:nvSpPr>
        <p:spPr>
          <a:xfrm>
            <a:off x="7896226" y="5949950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3-0-1.cpp</a:t>
            </a:r>
          </a:p>
        </p:txBody>
      </p:sp>
    </p:spTree>
    <p:extLst>
      <p:ext uri="{BB962C8B-B14F-4D97-AF65-F5344CB8AC3E}">
        <p14:creationId xmlns:p14="http://schemas.microsoft.com/office/powerpoint/2010/main" val="3661492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199456" y="188640"/>
            <a:ext cx="10513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2060"/>
                </a:solidFill>
              </a:rPr>
              <a:t>例：输入颜色字符，输出对应颜色的英文，若没有对应字符，输出“</a:t>
            </a:r>
            <a:r>
              <a:rPr lang="en-US" altLang="zh-CN" dirty="0">
                <a:solidFill>
                  <a:srgbClr val="002060"/>
                </a:solidFill>
              </a:rPr>
              <a:t>no color!</a:t>
            </a:r>
            <a:r>
              <a:rPr lang="zh-CN" altLang="en-US" dirty="0">
                <a:solidFill>
                  <a:srgbClr val="002060"/>
                </a:solidFill>
              </a:rPr>
              <a:t>”</a:t>
            </a:r>
            <a:r>
              <a:rPr lang="en-US" altLang="zh-CN" dirty="0">
                <a:solidFill>
                  <a:srgbClr val="002060"/>
                </a:solidFill>
              </a:rPr>
              <a:t>,</a:t>
            </a:r>
            <a:r>
              <a:rPr lang="zh-CN" altLang="en-US" dirty="0">
                <a:solidFill>
                  <a:srgbClr val="002060"/>
                </a:solidFill>
              </a:rPr>
              <a:t>当输入数字时程序结束。（</a:t>
            </a:r>
            <a:r>
              <a:rPr lang="en-US" altLang="zh-CN" dirty="0">
                <a:solidFill>
                  <a:srgbClr val="002060"/>
                </a:solidFill>
              </a:rPr>
              <a:t>r-red  y-yellow g-green c-cyan b-blue</a:t>
            </a:r>
            <a:r>
              <a:rPr lang="zh-CN" altLang="en-US" dirty="0">
                <a:solidFill>
                  <a:srgbClr val="002060"/>
                </a:solidFill>
              </a:rPr>
              <a:t>）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24" y="1772816"/>
            <a:ext cx="4620677" cy="348870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128" y="1124744"/>
            <a:ext cx="3528392" cy="5585226"/>
          </a:xfrm>
          <a:prstGeom prst="rect">
            <a:avLst/>
          </a:prstGeom>
        </p:spPr>
      </p:pic>
      <p:sp>
        <p:nvSpPr>
          <p:cNvPr id="7" name="AutoShape 6"/>
          <p:cNvSpPr/>
          <p:nvPr/>
        </p:nvSpPr>
        <p:spPr>
          <a:xfrm>
            <a:off x="5231904" y="6287620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findcolor.cpp</a:t>
            </a:r>
          </a:p>
        </p:txBody>
      </p:sp>
    </p:spTree>
    <p:extLst>
      <p:ext uri="{BB962C8B-B14F-4D97-AF65-F5344CB8AC3E}">
        <p14:creationId xmlns:p14="http://schemas.microsoft.com/office/powerpoint/2010/main" val="732896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61443"/>
          <p:cNvSpPr txBox="1"/>
          <p:nvPr/>
        </p:nvSpPr>
        <p:spPr>
          <a:xfrm>
            <a:off x="1559496" y="620688"/>
            <a:ext cx="8675687" cy="1492716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fontAlgn="t">
              <a:spcBef>
                <a:spcPct val="50000"/>
              </a:spcBef>
            </a:pPr>
            <a:r>
              <a:rPr lang="en-US" altLang="zh-CN" sz="2600" dirty="0">
                <a:solidFill>
                  <a:schemeClr val="tx1"/>
                </a:solidFill>
              </a:rPr>
              <a:t>【</a:t>
            </a:r>
            <a:r>
              <a:rPr lang="zh-CN" altLang="en-US" sz="2600" dirty="0">
                <a:solidFill>
                  <a:schemeClr val="tx1"/>
                </a:solidFill>
              </a:rPr>
              <a:t>例</a:t>
            </a:r>
            <a:r>
              <a:rPr lang="en-US" altLang="zh-CN" sz="2600" dirty="0">
                <a:solidFill>
                  <a:schemeClr val="tx1"/>
                </a:solidFill>
              </a:rPr>
              <a:t>2.13】 </a:t>
            </a:r>
            <a:r>
              <a:rPr lang="zh-CN" altLang="en-US" sz="2600" dirty="0">
                <a:solidFill>
                  <a:schemeClr val="tx1"/>
                </a:solidFill>
              </a:rPr>
              <a:t>求</a:t>
            </a:r>
            <a:r>
              <a:rPr lang="en-US" altLang="zh-CN" sz="2600" dirty="0">
                <a:solidFill>
                  <a:schemeClr val="tx1"/>
                </a:solidFill>
              </a:rPr>
              <a:t>100</a:t>
            </a:r>
            <a:r>
              <a:rPr lang="zh-CN" altLang="en-US" sz="2600" dirty="0">
                <a:solidFill>
                  <a:schemeClr val="tx1"/>
                </a:solidFill>
              </a:rPr>
              <a:t>～</a:t>
            </a:r>
            <a:r>
              <a:rPr lang="en-US" altLang="zh-CN" sz="2600" dirty="0">
                <a:solidFill>
                  <a:schemeClr val="tx1"/>
                </a:solidFill>
              </a:rPr>
              <a:t>150</a:t>
            </a:r>
            <a:r>
              <a:rPr lang="zh-CN" altLang="en-US" sz="2600" dirty="0">
                <a:solidFill>
                  <a:schemeClr val="tx1"/>
                </a:solidFill>
              </a:rPr>
              <a:t>之间的所有</a:t>
            </a:r>
            <a:r>
              <a:rPr lang="zh-CN" altLang="en-US" sz="2600" dirty="0">
                <a:solidFill>
                  <a:srgbClr val="002060"/>
                </a:solidFill>
              </a:rPr>
              <a:t>素数</a:t>
            </a:r>
            <a:r>
              <a:rPr lang="en-US" altLang="zh-CN" sz="2600" dirty="0">
                <a:solidFill>
                  <a:srgbClr val="002060"/>
                </a:solidFill>
              </a:rPr>
              <a:t>(</a:t>
            </a:r>
            <a:r>
              <a:rPr lang="zh-CN" altLang="en-US" sz="2600" dirty="0">
                <a:solidFill>
                  <a:srgbClr val="002060"/>
                </a:solidFill>
              </a:rPr>
              <a:t>用函数重写</a:t>
            </a:r>
            <a:r>
              <a:rPr lang="en-US" altLang="zh-CN" sz="2600" dirty="0">
                <a:solidFill>
                  <a:srgbClr val="002060"/>
                </a:solidFill>
              </a:rPr>
              <a:t>)</a:t>
            </a:r>
            <a:r>
              <a:rPr lang="zh-CN" altLang="en-US" sz="2600" dirty="0">
                <a:solidFill>
                  <a:schemeClr val="tx1"/>
                </a:solidFill>
              </a:rPr>
              <a:t>。 </a:t>
            </a:r>
          </a:p>
          <a:p>
            <a:pPr fontAlgn="t">
              <a:spcBef>
                <a:spcPct val="50000"/>
              </a:spcBef>
            </a:pPr>
            <a:r>
              <a:rPr lang="zh-CN" altLang="en-US" sz="2600" dirty="0">
                <a:solidFill>
                  <a:schemeClr val="tx1"/>
                </a:solidFill>
              </a:rPr>
              <a:t> </a:t>
            </a:r>
          </a:p>
          <a:p>
            <a:pPr fontAlgn="t"/>
            <a:r>
              <a:rPr lang="en-US" altLang="zh-CN" sz="2600" dirty="0">
                <a:solidFill>
                  <a:schemeClr val="tx1"/>
                </a:solidFill>
              </a:rPr>
              <a:t>		</a:t>
            </a:r>
            <a:endParaRPr lang="zh-CN" altLang="en-US" sz="2600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9336" y="1272027"/>
            <a:ext cx="5832648" cy="4524315"/>
          </a:xfrm>
          <a:prstGeom prst="rect">
            <a:avLst/>
          </a:prstGeom>
          <a:ln w="2222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(){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</a:t>
            </a:r>
          </a:p>
          <a:p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num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100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150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num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++)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bool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flag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  <a:t>//</a:t>
            </a:r>
            <a:r>
              <a:rPr lang="zh-CN" altLang="en-US" i="1" dirty="0">
                <a:solidFill>
                  <a:srgbClr val="8C8C8C"/>
                </a:solidFill>
                <a:latin typeface="consolas" panose="020B0609020204030204" pitchFamily="49" charset="0"/>
              </a:rPr>
              <a:t>判断是否为质数</a:t>
            </a:r>
            <a:br>
              <a:rPr lang="zh-CN" altLang="en-US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flag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judge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num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if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flag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setw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8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)&lt;&lt;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num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096000" y="1556792"/>
            <a:ext cx="6023992" cy="4524315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33B3"/>
                </a:solidFill>
                <a:latin typeface="consolas" panose="020B0609020204030204" pitchFamily="49" charset="0"/>
              </a:rPr>
              <a:t>bool</a:t>
            </a:r>
            <a:r>
              <a:rPr lang="en-US" altLang="zh-CN" b="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00627A"/>
                </a:solidFill>
                <a:latin typeface="consolas" panose="020B0609020204030204" pitchFamily="49" charset="0"/>
              </a:rPr>
              <a:t>judge</a:t>
            </a:r>
            <a:r>
              <a:rPr lang="en-US" altLang="zh-CN" b="0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b="0" dirty="0" err="1">
                <a:solidFill>
                  <a:srgbClr val="000000"/>
                </a:solidFill>
                <a:latin typeface="consolas" panose="020B0609020204030204" pitchFamily="49" charset="0"/>
              </a:rPr>
              <a:t>num</a:t>
            </a:r>
            <a:r>
              <a:rPr lang="en-US" altLang="zh-CN" b="0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b="0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0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b="0" dirty="0">
                <a:solidFill>
                  <a:srgbClr val="00B050"/>
                </a:solidFill>
                <a:latin typeface="consolas" panose="020B0609020204030204" pitchFamily="49" charset="0"/>
              </a:rPr>
              <a:t>if(</a:t>
            </a:r>
            <a:r>
              <a:rPr lang="en-US" altLang="zh-CN" b="0" dirty="0" err="1">
                <a:solidFill>
                  <a:srgbClr val="00B050"/>
                </a:solidFill>
                <a:latin typeface="consolas" panose="020B0609020204030204" pitchFamily="49" charset="0"/>
              </a:rPr>
              <a:t>num</a:t>
            </a:r>
            <a:r>
              <a:rPr lang="en-US" altLang="zh-CN" b="0" dirty="0">
                <a:solidFill>
                  <a:srgbClr val="00B050"/>
                </a:solidFill>
                <a:latin typeface="consolas" panose="020B0609020204030204" pitchFamily="49" charset="0"/>
              </a:rPr>
              <a:t>&lt;=1) </a:t>
            </a:r>
          </a:p>
          <a:p>
            <a:r>
              <a:rPr lang="en-US" altLang="zh-CN" b="0" dirty="0">
                <a:solidFill>
                  <a:srgbClr val="00B050"/>
                </a:solidFill>
                <a:latin typeface="consolas" panose="020B0609020204030204" pitchFamily="49" charset="0"/>
              </a:rPr>
              <a:t>      return false;</a:t>
            </a:r>
          </a:p>
          <a:p>
            <a:r>
              <a:rPr lang="en-US" altLang="zh-CN" b="0" dirty="0">
                <a:solidFill>
                  <a:srgbClr val="0033B3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b="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1750EB"/>
                </a:solidFill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b="0" dirty="0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C10000"/>
                </a:solidFill>
                <a:latin typeface="consolas" panose="020B0609020204030204" pitchFamily="49" charset="0"/>
              </a:rPr>
              <a:t>&lt;=(</a:t>
            </a:r>
            <a:r>
              <a:rPr lang="en-US" altLang="zh-CN" b="0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b="0" dirty="0" err="1">
                <a:solidFill>
                  <a:srgbClr val="400080"/>
                </a:solidFill>
                <a:latin typeface="consolas" panose="020B0609020204030204" pitchFamily="49" charset="0"/>
              </a:rPr>
              <a:t>sqrt</a:t>
            </a:r>
            <a:r>
              <a:rPr lang="en-US" altLang="zh-CN" b="0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latin typeface="consolas" panose="020B0609020204030204" pitchFamily="49" charset="0"/>
              </a:rPr>
              <a:t>num</a:t>
            </a:r>
            <a:r>
              <a:rPr lang="en-US" altLang="zh-CN" b="0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r>
              <a:rPr lang="en-US" altLang="zh-CN" b="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C10000"/>
                </a:solidFill>
                <a:latin typeface="consolas" panose="020B0609020204030204" pitchFamily="49" charset="0"/>
              </a:rPr>
              <a:t>++)</a:t>
            </a:r>
            <a:br>
              <a:rPr lang="en-US" altLang="zh-CN" b="0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br>
              <a:rPr lang="en-US" altLang="zh-CN" b="0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b="0" dirty="0">
                <a:solidFill>
                  <a:srgbClr val="0033B3"/>
                </a:solidFill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0000"/>
                </a:solidFill>
                <a:latin typeface="consolas" panose="020B0609020204030204" pitchFamily="49" charset="0"/>
              </a:rPr>
              <a:t>num</a:t>
            </a:r>
            <a:r>
              <a:rPr lang="en-US" altLang="zh-CN" b="0" dirty="0" err="1">
                <a:solidFill>
                  <a:srgbClr val="C10000"/>
                </a:solidFill>
                <a:latin typeface="consolas" panose="020B0609020204030204" pitchFamily="49" charset="0"/>
              </a:rPr>
              <a:t>%</a:t>
            </a:r>
            <a:r>
              <a:rPr lang="en-US" altLang="zh-CN" b="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C10000"/>
                </a:solidFill>
                <a:latin typeface="consolas" panose="020B0609020204030204" pitchFamily="49" charset="0"/>
              </a:rPr>
              <a:t>==</a:t>
            </a:r>
            <a:r>
              <a:rPr lang="en-US" altLang="zh-CN" b="0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b="0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 </a:t>
            </a:r>
            <a:r>
              <a:rPr lang="en-US" altLang="zh-CN" b="0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b="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0033B3"/>
                </a:solidFill>
                <a:latin typeface="consolas" panose="020B0609020204030204" pitchFamily="49" charset="0"/>
              </a:rPr>
              <a:t>false</a:t>
            </a:r>
            <a:r>
              <a:rPr lang="en-US" altLang="zh-CN" b="0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b="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br>
              <a:rPr lang="en-US" altLang="zh-CN" b="0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br>
              <a:rPr lang="en-US" altLang="zh-CN" b="0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b="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0033B3"/>
                </a:solidFill>
                <a:latin typeface="consolas" panose="020B0609020204030204" pitchFamily="49" charset="0"/>
              </a:rPr>
              <a:t>true</a:t>
            </a:r>
            <a:r>
              <a:rPr lang="en-US" altLang="zh-CN" b="0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0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0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br>
              <a:rPr lang="en-US" altLang="zh-CN" b="0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endParaRPr lang="zh-CN" altLang="en-US" b="0" dirty="0"/>
          </a:p>
        </p:txBody>
      </p:sp>
      <p:sp>
        <p:nvSpPr>
          <p:cNvPr id="5" name="AutoShape 6"/>
          <p:cNvSpPr/>
          <p:nvPr/>
        </p:nvSpPr>
        <p:spPr>
          <a:xfrm>
            <a:off x="7896226" y="5949950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3-0-2.cpp</a:t>
            </a:r>
          </a:p>
        </p:txBody>
      </p:sp>
    </p:spTree>
    <p:extLst>
      <p:ext uri="{BB962C8B-B14F-4D97-AF65-F5344CB8AC3E}">
        <p14:creationId xmlns:p14="http://schemas.microsoft.com/office/powerpoint/2010/main" val="3050797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4"/>
          <p:cNvSpPr txBox="1"/>
          <p:nvPr/>
        </p:nvSpPr>
        <p:spPr>
          <a:xfrm>
            <a:off x="3071814" y="696913"/>
            <a:ext cx="7488237" cy="209288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int  max( int  x,  int  y)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{	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return  x &gt; y ? x : y 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}</a:t>
            </a:r>
          </a:p>
          <a:p>
            <a:pPr eaLnBrk="1" fontAlgn="t" hangingPunct="1"/>
            <a:endParaRPr lang="en-US" altLang="zh-CN" sz="2600" dirty="0">
              <a:solidFill>
                <a:schemeClr val="tx1"/>
              </a:solidFill>
            </a:endParaRPr>
          </a:p>
        </p:txBody>
      </p:sp>
      <p:sp>
        <p:nvSpPr>
          <p:cNvPr id="9219" name="Text Box 5"/>
          <p:cNvSpPr txBox="1"/>
          <p:nvPr/>
        </p:nvSpPr>
        <p:spPr>
          <a:xfrm>
            <a:off x="7102475" y="2278063"/>
            <a:ext cx="3384550" cy="831850"/>
          </a:xfrm>
          <a:prstGeom prst="rect">
            <a:avLst/>
          </a:prstGeom>
          <a:noFill/>
          <a:ln w="19050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fontAlgn="t" hangingPunct="1"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</a:rPr>
              <a:t>思考：函数头与函数调用的区别。 </a:t>
            </a:r>
          </a:p>
        </p:txBody>
      </p:sp>
      <p:sp>
        <p:nvSpPr>
          <p:cNvPr id="9220" name="AutoShape 6"/>
          <p:cNvSpPr/>
          <p:nvPr/>
        </p:nvSpPr>
        <p:spPr>
          <a:xfrm>
            <a:off x="7896226" y="5949950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3-1.cpp</a:t>
            </a:r>
          </a:p>
        </p:txBody>
      </p:sp>
      <p:sp>
        <p:nvSpPr>
          <p:cNvPr id="2" name="矩形 1"/>
          <p:cNvSpPr/>
          <p:nvPr/>
        </p:nvSpPr>
        <p:spPr>
          <a:xfrm>
            <a:off x="1815288" y="240993"/>
            <a:ext cx="79531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dirty="0">
                <a:solidFill>
                  <a:schemeClr val="tx1"/>
                </a:solidFill>
              </a:rPr>
              <a:t>【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3.1】</a:t>
            </a:r>
            <a:r>
              <a:rPr lang="zh-CN" altLang="en-US" dirty="0">
                <a:solidFill>
                  <a:schemeClr val="tx1"/>
                </a:solidFill>
              </a:rPr>
              <a:t>输入两个整数，求其中较大的一个数。 </a:t>
            </a:r>
          </a:p>
        </p:txBody>
      </p:sp>
      <p:sp>
        <p:nvSpPr>
          <p:cNvPr id="3" name="矩形 2"/>
          <p:cNvSpPr/>
          <p:nvPr/>
        </p:nvSpPr>
        <p:spPr>
          <a:xfrm>
            <a:off x="3062934" y="2463172"/>
            <a:ext cx="778559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t" hangingPunct="1"/>
            <a:r>
              <a:rPr lang="en-US" altLang="zh-CN" dirty="0" err="1">
                <a:solidFill>
                  <a:schemeClr val="tx1"/>
                </a:solidFill>
              </a:rPr>
              <a:t>int</a:t>
            </a:r>
            <a:r>
              <a:rPr lang="en-US" altLang="zh-CN" dirty="0">
                <a:solidFill>
                  <a:schemeClr val="tx1"/>
                </a:solidFill>
              </a:rPr>
              <a:t>  main ( )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{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</a:t>
            </a:r>
            <a:r>
              <a:rPr lang="en-US" altLang="zh-CN" dirty="0" err="1">
                <a:solidFill>
                  <a:schemeClr val="tx1"/>
                </a:solidFill>
              </a:rPr>
              <a:t>int</a:t>
            </a:r>
            <a:r>
              <a:rPr lang="en-US" altLang="zh-CN" dirty="0">
                <a:solidFill>
                  <a:schemeClr val="tx1"/>
                </a:solidFill>
              </a:rPr>
              <a:t>  a,  b;</a:t>
            </a:r>
          </a:p>
          <a:p>
            <a:pPr eaLnBrk="1" fontAlgn="t" hangingPunct="1"/>
            <a:endParaRPr lang="en-US" altLang="zh-CN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</a:t>
            </a:r>
            <a:r>
              <a:rPr lang="en-US" altLang="zh-CN" dirty="0" err="1">
                <a:solidFill>
                  <a:schemeClr val="tx1"/>
                </a:solidFill>
              </a:rPr>
              <a:t>cout</a:t>
            </a:r>
            <a:r>
              <a:rPr lang="en-US" altLang="zh-CN" dirty="0">
                <a:solidFill>
                  <a:schemeClr val="tx1"/>
                </a:solidFill>
              </a:rPr>
              <a:t> &lt;&lt; "</a:t>
            </a:r>
            <a:r>
              <a:rPr lang="zh-CN" altLang="en-US" dirty="0">
                <a:solidFill>
                  <a:schemeClr val="tx1"/>
                </a:solidFill>
              </a:rPr>
              <a:t>请输入两个整数</a:t>
            </a:r>
            <a:r>
              <a:rPr lang="en-US" altLang="zh-CN" dirty="0">
                <a:solidFill>
                  <a:schemeClr val="tx1"/>
                </a:solidFill>
              </a:rPr>
              <a:t>:";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</a:t>
            </a:r>
            <a:r>
              <a:rPr lang="en-US" altLang="zh-CN" dirty="0" err="1">
                <a:solidFill>
                  <a:schemeClr val="tx1"/>
                </a:solidFill>
              </a:rPr>
              <a:t>cin</a:t>
            </a:r>
            <a:r>
              <a:rPr lang="en-US" altLang="zh-CN" dirty="0">
                <a:solidFill>
                  <a:schemeClr val="tx1"/>
                </a:solidFill>
              </a:rPr>
              <a:t> &gt;&gt; a &gt;&gt; b 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  	</a:t>
            </a:r>
            <a:r>
              <a:rPr lang="en-US" altLang="zh-CN" dirty="0" err="1">
                <a:solidFill>
                  <a:schemeClr val="tx1"/>
                </a:solidFill>
              </a:rPr>
              <a:t>cout</a:t>
            </a:r>
            <a:r>
              <a:rPr lang="en-US" altLang="zh-CN" dirty="0">
                <a:solidFill>
                  <a:schemeClr val="tx1"/>
                </a:solidFill>
              </a:rPr>
              <a:t> &lt;&lt; "</a:t>
            </a:r>
            <a:r>
              <a:rPr lang="zh-CN" altLang="en-US" dirty="0">
                <a:solidFill>
                  <a:schemeClr val="tx1"/>
                </a:solidFill>
              </a:rPr>
              <a:t>最大值是</a:t>
            </a:r>
            <a:r>
              <a:rPr lang="en-US" altLang="zh-CN" dirty="0">
                <a:solidFill>
                  <a:schemeClr val="tx1"/>
                </a:solidFill>
              </a:rPr>
              <a:t>:" &lt;&lt; max(a, b) &lt;&lt; </a:t>
            </a:r>
            <a:r>
              <a:rPr lang="en-US" altLang="zh-CN" dirty="0" err="1">
                <a:solidFill>
                  <a:schemeClr val="tx1"/>
                </a:solidFill>
              </a:rPr>
              <a:t>endl</a:t>
            </a:r>
            <a:r>
              <a:rPr lang="en-US" altLang="zh-CN" dirty="0">
                <a:solidFill>
                  <a:schemeClr val="tx1"/>
                </a:solidFill>
              </a:rPr>
              <a:t> ;</a:t>
            </a:r>
          </a:p>
          <a:p>
            <a:pPr eaLnBrk="1" fontAlgn="t" hangingPunct="1"/>
            <a:endParaRPr lang="en-US" altLang="zh-CN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return 0;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      }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89978" y="1058803"/>
            <a:ext cx="803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2060"/>
                </a:solidFill>
              </a:rPr>
              <a:t>形参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286675" y="5189292"/>
            <a:ext cx="803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2060"/>
                </a:solidFill>
              </a:rPr>
              <a:t>实参</a:t>
            </a:r>
          </a:p>
        </p:txBody>
      </p:sp>
      <p:cxnSp>
        <p:nvCxnSpPr>
          <p:cNvPr id="6" name="直接箭头连接符 5"/>
          <p:cNvCxnSpPr/>
          <p:nvPr/>
        </p:nvCxnSpPr>
        <p:spPr>
          <a:xfrm flipH="1" flipV="1">
            <a:off x="8040216" y="5013176"/>
            <a:ext cx="216024" cy="3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 flipV="1">
            <a:off x="6111444" y="1043153"/>
            <a:ext cx="632628" cy="2464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4.2 </a:t>
            </a:r>
            <a:r>
              <a:rPr lang="zh-CN" altLang="en-US" dirty="0"/>
              <a:t>函数的声明 </a:t>
            </a:r>
          </a:p>
        </p:txBody>
      </p:sp>
      <p:sp>
        <p:nvSpPr>
          <p:cNvPr id="10244" name="Rectangle 3"/>
          <p:cNvSpPr>
            <a:spLocks noGrp="1"/>
          </p:cNvSpPr>
          <p:nvPr>
            <p:ph idx="1"/>
          </p:nvPr>
        </p:nvSpPr>
        <p:spPr>
          <a:xfrm>
            <a:off x="1981200" y="1752600"/>
            <a:ext cx="8153400" cy="462915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30000"/>
              </a:lnSpc>
            </a:pPr>
            <a:r>
              <a:rPr lang="en-US" altLang="zh-CN" sz="2800" dirty="0">
                <a:solidFill>
                  <a:schemeClr val="tx1"/>
                </a:solidFill>
              </a:rPr>
              <a:t>C++</a:t>
            </a:r>
            <a:r>
              <a:rPr lang="zh-CN" altLang="en-US" sz="2800" dirty="0">
                <a:solidFill>
                  <a:schemeClr val="tx1"/>
                </a:solidFill>
              </a:rPr>
              <a:t>对函数之间的排列没有顺序上的要求，但要满足“先定义后使用”。 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dirty="0">
                <a:solidFill>
                  <a:srgbClr val="FF0000"/>
                </a:solidFill>
              </a:rPr>
              <a:t>对于自定义函数：</a:t>
            </a:r>
            <a:r>
              <a:rPr lang="zh-CN" altLang="en-US" sz="2800" dirty="0">
                <a:solidFill>
                  <a:schemeClr val="tx1"/>
                </a:solidFill>
              </a:rPr>
              <a:t>先定义、后调用的函数可以不用声明；但后定义、先调用的函数必须声明。 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dirty="0">
                <a:solidFill>
                  <a:srgbClr val="FF0000"/>
                </a:solidFill>
              </a:rPr>
              <a:t>函数原型</a:t>
            </a:r>
            <a:r>
              <a:rPr lang="zh-CN" altLang="en-US" sz="2800" dirty="0">
                <a:solidFill>
                  <a:schemeClr val="tx1"/>
                </a:solidFill>
              </a:rPr>
              <a:t>：由函数定义抽取出来的能代表函数特征的部分，包括：函数类型、函数名、形参个数及其类型。它描述了一个函数的特征。</a:t>
            </a:r>
          </a:p>
        </p:txBody>
      </p:sp>
      <p:sp>
        <p:nvSpPr>
          <p:cNvPr id="1024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10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4"/>
          <p:cNvSpPr txBox="1"/>
          <p:nvPr/>
        </p:nvSpPr>
        <p:spPr>
          <a:xfrm>
            <a:off x="1631316" y="476250"/>
            <a:ext cx="8785225" cy="6203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【</a:t>
            </a:r>
            <a:r>
              <a:rPr lang="zh-CN" altLang="en-US" sz="2600" dirty="0">
                <a:solidFill>
                  <a:schemeClr val="tx1"/>
                </a:solidFill>
              </a:rPr>
              <a:t>例</a:t>
            </a:r>
            <a:r>
              <a:rPr lang="en-US" altLang="zh-CN" sz="2600" dirty="0">
                <a:solidFill>
                  <a:schemeClr val="tx1"/>
                </a:solidFill>
              </a:rPr>
              <a:t>3.2】</a:t>
            </a:r>
            <a:r>
              <a:rPr lang="zh-CN" altLang="en-US" sz="2600" dirty="0">
                <a:solidFill>
                  <a:schemeClr val="tx1"/>
                </a:solidFill>
              </a:rPr>
              <a:t>验证哥德巴赫猜想。编程：将 </a:t>
            </a:r>
            <a:r>
              <a:rPr lang="en-US" altLang="zh-CN" sz="2600" dirty="0">
                <a:solidFill>
                  <a:schemeClr val="tx1"/>
                </a:solidFill>
              </a:rPr>
              <a:t>960 </a:t>
            </a:r>
            <a:r>
              <a:rPr lang="zh-CN" altLang="en-US" sz="2600" dirty="0">
                <a:solidFill>
                  <a:schemeClr val="tx1"/>
                </a:solidFill>
              </a:rPr>
              <a:t>到 </a:t>
            </a:r>
            <a:r>
              <a:rPr lang="en-US" altLang="zh-CN" sz="2600" dirty="0">
                <a:solidFill>
                  <a:schemeClr val="tx1"/>
                </a:solidFill>
              </a:rPr>
              <a:t>970 </a:t>
            </a:r>
            <a:r>
              <a:rPr lang="zh-CN" altLang="en-US" sz="2600" dirty="0">
                <a:solidFill>
                  <a:schemeClr val="tx1"/>
                </a:solidFill>
              </a:rPr>
              <a:t>之间的全部偶数都分解成两个素数之和。 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rgbClr val="FF0000"/>
                </a:solidFill>
              </a:rPr>
              <a:t>bool   prime( int  x) ;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int  main ( )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{    int  x, n;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     for ( n=960; n&lt;=970; n=n+2 )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	for ( x=2; x&lt;=n/2; x++ )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	     if ( prime(x) &amp;&amp; prime(n-x))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	     {	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	         cout &lt;&lt; n &lt;&lt; " = "&lt;&lt; x &lt;&lt; " + "&lt;&lt; n-x&lt;&lt;endl;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	         break;     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	      }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  </a:t>
            </a:r>
            <a:r>
              <a:rPr lang="en-US" altLang="zh-CN" sz="2600" dirty="0">
                <a:solidFill>
                  <a:schemeClr val="tx1"/>
                </a:solidFill>
              </a:rPr>
              <a:t>return 0; 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29701" name="Text Box 5"/>
          <p:cNvSpPr txBox="1"/>
          <p:nvPr/>
        </p:nvSpPr>
        <p:spPr>
          <a:xfrm>
            <a:off x="7248128" y="1548588"/>
            <a:ext cx="4752528" cy="3613297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rgbClr val="0000FF"/>
                </a:solidFill>
              </a:rPr>
              <a:t>bool  prime(int  x)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rgbClr val="0000FF"/>
                </a:solidFill>
              </a:rPr>
              <a:t>{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rgbClr val="0000FF"/>
                </a:solidFill>
              </a:rPr>
              <a:t>  </a:t>
            </a:r>
            <a:r>
              <a:rPr lang="en-US" altLang="zh-CN" sz="2600" dirty="0" err="1">
                <a:solidFill>
                  <a:srgbClr val="0000FF"/>
                </a:solidFill>
              </a:rPr>
              <a:t>int</a:t>
            </a:r>
            <a:r>
              <a:rPr lang="en-US" altLang="zh-CN" sz="2600" dirty="0">
                <a:solidFill>
                  <a:srgbClr val="0000FF"/>
                </a:solidFill>
              </a:rPr>
              <a:t> </a:t>
            </a:r>
            <a:r>
              <a:rPr lang="en-US" altLang="zh-CN" sz="2600" dirty="0" err="1">
                <a:solidFill>
                  <a:srgbClr val="0000FF"/>
                </a:solidFill>
              </a:rPr>
              <a:t>i</a:t>
            </a:r>
            <a:r>
              <a:rPr lang="en-US" altLang="zh-CN" sz="2600" dirty="0">
                <a:solidFill>
                  <a:srgbClr val="0000FF"/>
                </a:solidFill>
              </a:rPr>
              <a:t>;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rgbClr val="00B0F0"/>
                </a:solidFill>
              </a:rPr>
              <a:t>  for (i=2; </a:t>
            </a:r>
            <a:r>
              <a:rPr lang="en-US" altLang="zh-CN" sz="2600" dirty="0" err="1">
                <a:solidFill>
                  <a:srgbClr val="00B0F0"/>
                </a:solidFill>
              </a:rPr>
              <a:t>i</a:t>
            </a:r>
            <a:r>
              <a:rPr lang="en-US" altLang="zh-CN" sz="2600" dirty="0">
                <a:solidFill>
                  <a:srgbClr val="00B0F0"/>
                </a:solidFill>
              </a:rPr>
              <a:t>&lt;==(</a:t>
            </a:r>
            <a:r>
              <a:rPr lang="en-US" altLang="zh-CN" sz="2600" dirty="0" err="1">
                <a:solidFill>
                  <a:srgbClr val="00B0F0"/>
                </a:solidFill>
              </a:rPr>
              <a:t>int</a:t>
            </a:r>
            <a:r>
              <a:rPr lang="en-US" altLang="zh-CN" sz="2600" dirty="0">
                <a:solidFill>
                  <a:srgbClr val="00B0F0"/>
                </a:solidFill>
              </a:rPr>
              <a:t>)</a:t>
            </a:r>
            <a:r>
              <a:rPr lang="en-US" altLang="zh-CN" sz="2600" dirty="0" err="1">
                <a:solidFill>
                  <a:srgbClr val="00B0F0"/>
                </a:solidFill>
              </a:rPr>
              <a:t>sqrt</a:t>
            </a:r>
            <a:r>
              <a:rPr lang="en-US" altLang="zh-CN" sz="2600" dirty="0">
                <a:solidFill>
                  <a:srgbClr val="00B0F0"/>
                </a:solidFill>
              </a:rPr>
              <a:t>(x); </a:t>
            </a:r>
            <a:r>
              <a:rPr lang="en-US" altLang="zh-CN" sz="2600" dirty="0" err="1">
                <a:solidFill>
                  <a:srgbClr val="00B0F0"/>
                </a:solidFill>
              </a:rPr>
              <a:t>i</a:t>
            </a:r>
            <a:r>
              <a:rPr lang="en-US" altLang="zh-CN" sz="2600" dirty="0">
                <a:solidFill>
                  <a:srgbClr val="00B0F0"/>
                </a:solidFill>
              </a:rPr>
              <a:t>++)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rgbClr val="00B0F0"/>
                </a:solidFill>
              </a:rPr>
              <a:t>           if (x%i==0) 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rgbClr val="00B0F0"/>
                </a:solidFill>
              </a:rPr>
              <a:t>		return  false;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rgbClr val="0000FF"/>
                </a:solidFill>
              </a:rPr>
              <a:t>  return  true;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rgbClr val="0000FF"/>
                </a:solidFill>
              </a:rPr>
              <a:t>}</a:t>
            </a:r>
          </a:p>
        </p:txBody>
      </p:sp>
      <p:sp>
        <p:nvSpPr>
          <p:cNvPr id="11268" name="AutoShape 6"/>
          <p:cNvSpPr/>
          <p:nvPr/>
        </p:nvSpPr>
        <p:spPr>
          <a:xfrm>
            <a:off x="9480376" y="6165304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3-2.cpp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0" y="902866"/>
            <a:ext cx="1422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</a:rPr>
              <a:t>函数声明</a:t>
            </a:r>
          </a:p>
        </p:txBody>
      </p:sp>
      <p:cxnSp>
        <p:nvCxnSpPr>
          <p:cNvPr id="4" name="直接箭头连接符 3"/>
          <p:cNvCxnSpPr/>
          <p:nvPr/>
        </p:nvCxnSpPr>
        <p:spPr>
          <a:xfrm>
            <a:off x="1127448" y="1351916"/>
            <a:ext cx="503868" cy="204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7201" y="3212976"/>
            <a:ext cx="1806604" cy="255454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2060"/>
                </a:solidFill>
              </a:rPr>
              <a:t>先声明</a:t>
            </a:r>
            <a:endParaRPr lang="en-US" altLang="zh-CN" sz="2000" b="1" dirty="0">
              <a:solidFill>
                <a:srgbClr val="002060"/>
              </a:solidFill>
            </a:endParaRPr>
          </a:p>
          <a:p>
            <a:r>
              <a:rPr lang="zh-CN" altLang="en-US" sz="2000" b="1" dirty="0">
                <a:solidFill>
                  <a:srgbClr val="002060"/>
                </a:solidFill>
              </a:rPr>
              <a:t>主程序后面定义</a:t>
            </a:r>
            <a:endParaRPr lang="en-US" altLang="zh-CN" sz="2000" b="1" dirty="0">
              <a:solidFill>
                <a:srgbClr val="002060"/>
              </a:solidFill>
            </a:endParaRPr>
          </a:p>
          <a:p>
            <a:r>
              <a:rPr lang="zh-CN" altLang="en-US" sz="2000" dirty="0">
                <a:solidFill>
                  <a:schemeClr val="tx1"/>
                </a:solidFill>
              </a:rPr>
              <a:t>函数定义在后，调用在先，则必须在调用函数之前有函数原型声明</a:t>
            </a:r>
            <a:endParaRPr lang="zh-CN" altLang="en-US" sz="2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1" grpId="0" bldLvl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4.3 </a:t>
            </a:r>
            <a:r>
              <a:rPr lang="zh-CN" altLang="en-US" dirty="0"/>
              <a:t>函数的参数传递和返回值 </a:t>
            </a:r>
          </a:p>
        </p:txBody>
      </p:sp>
      <p:sp>
        <p:nvSpPr>
          <p:cNvPr id="12292" name="Rectangle 3"/>
          <p:cNvSpPr>
            <a:spLocks noGrp="1"/>
          </p:cNvSpPr>
          <p:nvPr>
            <p:ph idx="1"/>
          </p:nvPr>
        </p:nvSpPr>
        <p:spPr>
          <a:xfrm>
            <a:off x="1199456" y="1786151"/>
            <a:ext cx="9372600" cy="4484688"/>
          </a:xfrm>
        </p:spPr>
        <p:txBody>
          <a:bodyPr vert="horz" wrap="square" lIns="91440" tIns="45720" rIns="91440" bIns="45720" anchor="t" anchorCtr="0"/>
          <a:lstStyle/>
          <a:p>
            <a:pPr marL="533400" indent="-533400">
              <a:lnSpc>
                <a:spcPct val="13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4.3.1 </a:t>
            </a:r>
            <a:r>
              <a:rPr lang="zh-CN" altLang="en-US" sz="2800" dirty="0">
                <a:solidFill>
                  <a:schemeClr val="tx1"/>
                </a:solidFill>
              </a:rPr>
              <a:t>函数参数的传递方式 </a:t>
            </a:r>
          </a:p>
          <a:p>
            <a:pPr marL="533400" indent="-533400">
              <a:lnSpc>
                <a:spcPct val="130000"/>
              </a:lnSpc>
              <a:buFontTx/>
              <a:buAutoNum type="arabicPeriod"/>
            </a:pPr>
            <a:r>
              <a:rPr lang="zh-CN" altLang="en-US" sz="2800" dirty="0">
                <a:solidFill>
                  <a:schemeClr val="tx1"/>
                </a:solidFill>
              </a:rPr>
              <a:t>函数调用时，先将实参的值按照位置传递给对应的形参。</a:t>
            </a:r>
          </a:p>
          <a:p>
            <a:pPr marL="533400" indent="-533400">
              <a:lnSpc>
                <a:spcPct val="130000"/>
              </a:lnSpc>
              <a:buFontTx/>
              <a:buAutoNum type="arabicPeriod"/>
            </a:pPr>
            <a:r>
              <a:rPr lang="zh-CN" altLang="en-US" sz="2800" dirty="0">
                <a:solidFill>
                  <a:schemeClr val="tx1"/>
                </a:solidFill>
              </a:rPr>
              <a:t>一般情况下，实参与形参的个数及顺序应该是一一对应，并且类型匹配。</a:t>
            </a:r>
          </a:p>
          <a:p>
            <a:pPr marL="533400" indent="-533400">
              <a:lnSpc>
                <a:spcPct val="130000"/>
              </a:lnSpc>
              <a:buFontTx/>
              <a:buAutoNum type="arabicPeriod"/>
            </a:pPr>
            <a:r>
              <a:rPr lang="zh-CN" altLang="en-US" sz="2800" dirty="0">
                <a:solidFill>
                  <a:schemeClr val="tx1"/>
                </a:solidFill>
              </a:rPr>
              <a:t>实参与形参的名字不要求相同。</a:t>
            </a:r>
          </a:p>
          <a:p>
            <a:pPr marL="533400" indent="-533400">
              <a:lnSpc>
                <a:spcPct val="130000"/>
              </a:lnSpc>
              <a:buFontTx/>
              <a:buAutoNum type="arabicPeriod"/>
            </a:pPr>
            <a:r>
              <a:rPr lang="en-US" altLang="zh-CN" sz="2800" dirty="0">
                <a:solidFill>
                  <a:schemeClr val="tx1"/>
                </a:solidFill>
              </a:rPr>
              <a:t>C++</a:t>
            </a:r>
            <a:r>
              <a:rPr lang="zh-CN" altLang="en-US" sz="2800" dirty="0">
                <a:solidFill>
                  <a:schemeClr val="tx1"/>
                </a:solidFill>
              </a:rPr>
              <a:t>支持两种参数传递：传值和传引用。</a:t>
            </a:r>
          </a:p>
        </p:txBody>
      </p:sp>
      <p:sp>
        <p:nvSpPr>
          <p:cNvPr id="1229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12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3"/>
          <p:cNvSpPr txBox="1"/>
          <p:nvPr/>
        </p:nvSpPr>
        <p:spPr>
          <a:xfrm>
            <a:off x="1705929" y="440374"/>
            <a:ext cx="8351837" cy="60623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fontAlgn="t" hangingPunct="1">
              <a:spcBef>
                <a:spcPct val="50000"/>
              </a:spcBef>
            </a:pPr>
            <a:r>
              <a:rPr lang="en-US" altLang="zh-CN" sz="2600" dirty="0">
                <a:solidFill>
                  <a:srgbClr val="C00000"/>
                </a:solidFill>
              </a:rPr>
              <a:t>【3.3】</a:t>
            </a:r>
            <a:r>
              <a:rPr lang="zh-CN" altLang="en-US" sz="2600" dirty="0">
                <a:solidFill>
                  <a:srgbClr val="C00000"/>
                </a:solidFill>
              </a:rPr>
              <a:t>交换变量的值。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void  swap( int x, int y);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int  main ( 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{	int a=10, b=20;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swap(a, b);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cout&lt;&lt;a&lt;&lt;setw(6)&lt;&lt;b&lt;&lt;endl 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return 0;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}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void  swap( int  x,  int  y 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{	int  t;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t=x;	x=y;	y=t;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cout&lt;&lt; setw(6) &lt;&lt; x &lt;&lt; setw(6) &lt;&lt;y &lt;&lt; endl 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}</a:t>
            </a:r>
          </a:p>
          <a:p>
            <a:pPr eaLnBrk="1" fontAlgn="t" hangingPunct="1"/>
            <a:r>
              <a:rPr lang="zh-CN" altLang="en-US" sz="2600" dirty="0">
                <a:solidFill>
                  <a:schemeClr val="tx1"/>
                </a:solidFill>
              </a:rPr>
              <a:t>注意：</a:t>
            </a:r>
            <a:r>
              <a:rPr lang="zh-CN" altLang="en-US" dirty="0">
                <a:solidFill>
                  <a:schemeClr val="tx1"/>
                </a:solidFill>
              </a:rPr>
              <a:t>遇到函数调用时，采用实参值来初始化相应的形参。即实参与形参的结合，发生在对形参变量分配空间时。 </a:t>
            </a:r>
          </a:p>
        </p:txBody>
      </p:sp>
      <p:sp>
        <p:nvSpPr>
          <p:cNvPr id="13315" name="AutoShape 4"/>
          <p:cNvSpPr/>
          <p:nvPr/>
        </p:nvSpPr>
        <p:spPr>
          <a:xfrm>
            <a:off x="9118601" y="5155565"/>
            <a:ext cx="133413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3-3.cpp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4.3.2 </a:t>
            </a:r>
            <a:r>
              <a:rPr lang="zh-CN" altLang="en-US" dirty="0"/>
              <a:t>函数的返回值 </a:t>
            </a:r>
          </a:p>
        </p:txBody>
      </p:sp>
      <p:sp>
        <p:nvSpPr>
          <p:cNvPr id="14340" name="Rectangle 3"/>
          <p:cNvSpPr>
            <a:spLocks noGrp="1"/>
          </p:cNvSpPr>
          <p:nvPr>
            <p:ph idx="1"/>
          </p:nvPr>
        </p:nvSpPr>
        <p:spPr>
          <a:xfrm>
            <a:off x="1981200" y="1628775"/>
            <a:ext cx="8153400" cy="4484688"/>
          </a:xfrm>
        </p:spPr>
        <p:txBody>
          <a:bodyPr vert="horz" wrap="square" lIns="91440" tIns="45720" rIns="91440" bIns="45720" anchor="t" anchorCtr="0"/>
          <a:lstStyle/>
          <a:p>
            <a:pPr marL="447675" indent="-447675">
              <a:lnSpc>
                <a:spcPct val="13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函数返回到调用者有两种方法：</a:t>
            </a:r>
          </a:p>
          <a:p>
            <a:pPr marL="447675" indent="-447675">
              <a:lnSpc>
                <a:spcPct val="13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(1)</a:t>
            </a:r>
            <a:r>
              <a:rPr lang="zh-CN" altLang="en-US" sz="2800" dirty="0">
                <a:solidFill>
                  <a:schemeClr val="tx1"/>
                </a:solidFill>
              </a:rPr>
              <a:t>对于没有返回值的函数，当函数的最后一条语句执行完毕后，函数终止并且返回到调用者，由调用者继续程序的执行。</a:t>
            </a:r>
          </a:p>
          <a:p>
            <a:pPr marL="447675" indent="-447675">
              <a:lnSpc>
                <a:spcPct val="13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(2)</a:t>
            </a:r>
            <a:r>
              <a:rPr lang="zh-CN" altLang="en-US" sz="2800" dirty="0">
                <a:solidFill>
                  <a:schemeClr val="tx1"/>
                </a:solidFill>
              </a:rPr>
              <a:t>对于有返回值的函数，必须采用</a:t>
            </a:r>
            <a:r>
              <a:rPr lang="en-US" altLang="zh-CN" sz="2800" dirty="0">
                <a:solidFill>
                  <a:schemeClr val="tx1"/>
                </a:solidFill>
              </a:rPr>
              <a:t>return</a:t>
            </a:r>
            <a:r>
              <a:rPr lang="zh-CN" altLang="en-US" sz="2800" dirty="0">
                <a:solidFill>
                  <a:schemeClr val="tx1"/>
                </a:solidFill>
              </a:rPr>
              <a:t>语句将要返回的值返回给调用者。格式为：</a:t>
            </a:r>
          </a:p>
          <a:p>
            <a:pPr marL="447675" indent="-447675">
              <a:lnSpc>
                <a:spcPct val="13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	          </a:t>
            </a:r>
            <a:r>
              <a:rPr lang="en-US" altLang="zh-CN" sz="2800" dirty="0">
                <a:solidFill>
                  <a:schemeClr val="tx1"/>
                </a:solidFill>
              </a:rPr>
              <a:t>return   </a:t>
            </a:r>
            <a:r>
              <a:rPr lang="zh-CN" altLang="en-US" sz="2800" dirty="0">
                <a:solidFill>
                  <a:schemeClr val="tx1"/>
                </a:solidFill>
              </a:rPr>
              <a:t>表达式 ； </a:t>
            </a:r>
          </a:p>
        </p:txBody>
      </p:sp>
      <p:sp>
        <p:nvSpPr>
          <p:cNvPr id="1433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14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15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15363" name="Text Box 4"/>
          <p:cNvSpPr txBox="1"/>
          <p:nvPr/>
        </p:nvSpPr>
        <p:spPr>
          <a:xfrm>
            <a:off x="1127448" y="506476"/>
            <a:ext cx="10369152" cy="549381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fontAlgn="t" hangingPunct="1">
              <a:spcBef>
                <a:spcPct val="50000"/>
              </a:spcBef>
            </a:pPr>
            <a:r>
              <a:rPr lang="en-US" altLang="zh-CN" sz="2600" dirty="0">
                <a:solidFill>
                  <a:schemeClr val="tx1"/>
                </a:solidFill>
              </a:rPr>
              <a:t>【</a:t>
            </a:r>
            <a:r>
              <a:rPr lang="zh-CN" altLang="en-US" sz="2600" dirty="0">
                <a:solidFill>
                  <a:schemeClr val="tx1"/>
                </a:solidFill>
              </a:rPr>
              <a:t>例</a:t>
            </a:r>
            <a:r>
              <a:rPr lang="en-US" altLang="zh-CN" sz="2600" dirty="0">
                <a:solidFill>
                  <a:schemeClr val="tx1"/>
                </a:solidFill>
              </a:rPr>
              <a:t>3.4】</a:t>
            </a:r>
            <a:r>
              <a:rPr lang="zh-CN" altLang="en-US" sz="2600" dirty="0">
                <a:solidFill>
                  <a:schemeClr val="tx1"/>
                </a:solidFill>
              </a:rPr>
              <a:t>求</a:t>
            </a:r>
            <a:r>
              <a:rPr lang="en-US" altLang="zh-CN" sz="2600" dirty="0">
                <a:solidFill>
                  <a:schemeClr val="tx1"/>
                </a:solidFill>
              </a:rPr>
              <a:t>10~1000</a:t>
            </a:r>
            <a:r>
              <a:rPr lang="zh-CN" altLang="en-US" sz="2600" dirty="0">
                <a:solidFill>
                  <a:schemeClr val="tx1"/>
                </a:solidFill>
              </a:rPr>
              <a:t>之内的所有数</a:t>
            </a:r>
            <a:r>
              <a:rPr lang="en-US" altLang="zh-CN" sz="2600" dirty="0">
                <a:solidFill>
                  <a:schemeClr val="tx1"/>
                </a:solidFill>
              </a:rPr>
              <a:t>x</a:t>
            </a:r>
            <a:r>
              <a:rPr lang="zh-CN" altLang="en-US" sz="2600" dirty="0">
                <a:solidFill>
                  <a:schemeClr val="tx1"/>
                </a:solidFill>
              </a:rPr>
              <a:t>，满足：</a:t>
            </a:r>
            <a:r>
              <a:rPr lang="en-US" altLang="zh-CN" sz="2600" dirty="0">
                <a:solidFill>
                  <a:schemeClr val="tx1"/>
                </a:solidFill>
              </a:rPr>
              <a:t>x</a:t>
            </a:r>
            <a:r>
              <a:rPr lang="zh-CN" altLang="en-US" sz="2600" dirty="0">
                <a:solidFill>
                  <a:schemeClr val="tx1"/>
                </a:solidFill>
              </a:rPr>
              <a:t>、</a:t>
            </a:r>
            <a:r>
              <a:rPr lang="en-US" altLang="zh-CN" sz="2600" dirty="0">
                <a:solidFill>
                  <a:schemeClr val="tx1"/>
                </a:solidFill>
              </a:rPr>
              <a:t>x</a:t>
            </a:r>
            <a:r>
              <a:rPr lang="en-US" altLang="zh-CN" sz="2600" baseline="30000" dirty="0">
                <a:solidFill>
                  <a:schemeClr val="tx1"/>
                </a:solidFill>
              </a:rPr>
              <a:t>2</a:t>
            </a:r>
            <a:r>
              <a:rPr lang="zh-CN" altLang="en-US" sz="2600" dirty="0">
                <a:solidFill>
                  <a:schemeClr val="tx1"/>
                </a:solidFill>
              </a:rPr>
              <a:t>和</a:t>
            </a:r>
            <a:r>
              <a:rPr lang="en-US" altLang="zh-CN" sz="2600" dirty="0">
                <a:solidFill>
                  <a:schemeClr val="tx1"/>
                </a:solidFill>
              </a:rPr>
              <a:t>x</a:t>
            </a:r>
            <a:r>
              <a:rPr lang="en-US" altLang="zh-CN" sz="2600" baseline="30000" dirty="0">
                <a:solidFill>
                  <a:schemeClr val="tx1"/>
                </a:solidFill>
              </a:rPr>
              <a:t>3</a:t>
            </a:r>
            <a:r>
              <a:rPr lang="zh-CN" altLang="en-US" sz="2600" dirty="0">
                <a:solidFill>
                  <a:schemeClr val="tx1"/>
                </a:solidFill>
              </a:rPr>
              <a:t>均是回文数据。 </a:t>
            </a:r>
          </a:p>
          <a:p>
            <a:pPr eaLnBrk="1" fontAlgn="t" hangingPunct="1">
              <a:spcBef>
                <a:spcPct val="50000"/>
              </a:spcBef>
            </a:pPr>
            <a:r>
              <a:rPr lang="en-US" altLang="zh-CN" sz="2600" dirty="0">
                <a:solidFill>
                  <a:schemeClr val="tx1"/>
                </a:solidFill>
              </a:rPr>
              <a:t>bool  palindrome( int n);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int main ( 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{	int  x;</a:t>
            </a:r>
          </a:p>
          <a:p>
            <a:pPr eaLnBrk="1" fontAlgn="t" hangingPunct="1"/>
            <a:endParaRPr lang="en-US" altLang="zh-CN" sz="26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  cout&lt;&lt;" x x*x x*x*x"&lt;&lt;endl;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  for(x=10;x&lt;=1000;x++)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if(palindrome(x) &amp;&amp; palindrome(x*x)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	       &amp;&amp; palindrome(x*x*x))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cout &lt;&lt; x &lt;&lt; setw(8) &lt;&lt; x*x &lt;&lt; setw(10)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       &lt;&lt;x*x*x &lt;&lt;endl 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return 0;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2" name="矩形 1"/>
          <p:cNvSpPr/>
          <p:nvPr/>
        </p:nvSpPr>
        <p:spPr>
          <a:xfrm>
            <a:off x="9912424" y="1628800"/>
            <a:ext cx="2063552" cy="3046988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r>
              <a:rPr lang="zh-CN" altLang="en-US" b="0" dirty="0">
                <a:solidFill>
                  <a:srgbClr val="002060"/>
                </a:solidFill>
                <a:latin typeface="Arial" panose="020B0604020202020204" pitchFamily="34" charset="0"/>
              </a:rPr>
              <a:t> 回文数：从左往右读或从右往左读都是相同的，例如</a:t>
            </a:r>
            <a:r>
              <a:rPr lang="en-US" altLang="zh-CN" b="0" dirty="0">
                <a:solidFill>
                  <a:srgbClr val="002060"/>
                </a:solidFill>
                <a:latin typeface="Arial" panose="020B0604020202020204" pitchFamily="34" charset="0"/>
              </a:rPr>
              <a:t>1</a:t>
            </a:r>
            <a:r>
              <a:rPr lang="zh-CN" altLang="en-US" b="0" dirty="0">
                <a:solidFill>
                  <a:srgbClr val="002060"/>
                </a:solidFill>
                <a:latin typeface="Arial" panose="020B0604020202020204" pitchFamily="34" charset="0"/>
              </a:rPr>
              <a:t>，</a:t>
            </a:r>
            <a:r>
              <a:rPr lang="en-US" altLang="zh-CN" b="0" dirty="0">
                <a:solidFill>
                  <a:srgbClr val="002060"/>
                </a:solidFill>
                <a:latin typeface="Arial" panose="020B0604020202020204" pitchFamily="34" charset="0"/>
              </a:rPr>
              <a:t>2</a:t>
            </a:r>
            <a:r>
              <a:rPr lang="zh-CN" altLang="en-US" b="0" dirty="0">
                <a:solidFill>
                  <a:srgbClr val="002060"/>
                </a:solidFill>
                <a:latin typeface="Arial" panose="020B0604020202020204" pitchFamily="34" charset="0"/>
              </a:rPr>
              <a:t>，</a:t>
            </a:r>
            <a:r>
              <a:rPr lang="en-US" altLang="zh-CN" b="0" dirty="0">
                <a:solidFill>
                  <a:srgbClr val="002060"/>
                </a:solidFill>
                <a:latin typeface="Arial" panose="020B0604020202020204" pitchFamily="34" charset="0"/>
              </a:rPr>
              <a:t>11</a:t>
            </a:r>
            <a:r>
              <a:rPr lang="zh-CN" altLang="en-US" b="0" dirty="0">
                <a:solidFill>
                  <a:srgbClr val="002060"/>
                </a:solidFill>
                <a:latin typeface="Arial" panose="020B0604020202020204" pitchFamily="34" charset="0"/>
              </a:rPr>
              <a:t>，</a:t>
            </a:r>
            <a:r>
              <a:rPr lang="en-US" altLang="zh-CN" b="0" dirty="0">
                <a:solidFill>
                  <a:srgbClr val="002060"/>
                </a:solidFill>
                <a:latin typeface="Arial" panose="020B0604020202020204" pitchFamily="34" charset="0"/>
              </a:rPr>
              <a:t>22</a:t>
            </a:r>
            <a:r>
              <a:rPr lang="zh-CN" altLang="en-US" b="0" dirty="0">
                <a:solidFill>
                  <a:srgbClr val="002060"/>
                </a:solidFill>
                <a:latin typeface="Arial" panose="020B0604020202020204" pitchFamily="34" charset="0"/>
              </a:rPr>
              <a:t>，</a:t>
            </a:r>
            <a:r>
              <a:rPr lang="en-US" altLang="zh-CN" b="0" dirty="0">
                <a:solidFill>
                  <a:srgbClr val="002060"/>
                </a:solidFill>
                <a:latin typeface="Arial" panose="020B0604020202020204" pitchFamily="34" charset="0"/>
              </a:rPr>
              <a:t>33</a:t>
            </a:r>
            <a:r>
              <a:rPr lang="zh-CN" altLang="en-US" b="0" dirty="0">
                <a:solidFill>
                  <a:srgbClr val="002060"/>
                </a:solidFill>
                <a:latin typeface="Arial" panose="020B0604020202020204" pitchFamily="34" charset="0"/>
              </a:rPr>
              <a:t>，</a:t>
            </a:r>
            <a:r>
              <a:rPr lang="en-US" altLang="zh-CN" b="0" dirty="0">
                <a:solidFill>
                  <a:srgbClr val="002060"/>
                </a:solidFill>
                <a:latin typeface="Arial" panose="020B0604020202020204" pitchFamily="34" charset="0"/>
              </a:rPr>
              <a:t>101</a:t>
            </a:r>
            <a:r>
              <a:rPr lang="zh-CN" altLang="en-US" b="0" dirty="0">
                <a:solidFill>
                  <a:srgbClr val="002060"/>
                </a:solidFill>
                <a:latin typeface="Arial" panose="020B0604020202020204" pitchFamily="34" charset="0"/>
              </a:rPr>
              <a:t>，</a:t>
            </a:r>
            <a:r>
              <a:rPr lang="en-US" altLang="zh-CN" b="0" dirty="0">
                <a:solidFill>
                  <a:srgbClr val="002060"/>
                </a:solidFill>
                <a:latin typeface="Arial" panose="020B0604020202020204" pitchFamily="34" charset="0"/>
              </a:rPr>
              <a:t>575</a:t>
            </a:r>
            <a:r>
              <a:rPr lang="zh-CN" altLang="en-US" b="0" dirty="0">
                <a:solidFill>
                  <a:srgbClr val="002060"/>
                </a:solidFill>
                <a:latin typeface="Arial" panose="020B0604020202020204" pitchFamily="34" charset="0"/>
              </a:rPr>
              <a:t>，</a:t>
            </a:r>
            <a:r>
              <a:rPr lang="en-US" altLang="zh-CN" b="0" dirty="0">
                <a:solidFill>
                  <a:srgbClr val="002060"/>
                </a:solidFill>
                <a:latin typeface="Arial" panose="020B0604020202020204" pitchFamily="34" charset="0"/>
              </a:rPr>
              <a:t>1331</a:t>
            </a:r>
            <a:r>
              <a:rPr lang="zh-CN" altLang="en-US" b="0" dirty="0">
                <a:solidFill>
                  <a:srgbClr val="002060"/>
                </a:solidFill>
                <a:latin typeface="Arial" panose="020B0604020202020204" pitchFamily="34" charset="0"/>
              </a:rPr>
              <a:t>等</a:t>
            </a:r>
            <a:endParaRPr lang="zh-CN" altLang="en-US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/>
          <p:nvPr/>
        </p:nvSpPr>
        <p:spPr>
          <a:xfrm>
            <a:off x="479376" y="1196752"/>
            <a:ext cx="5256212" cy="44577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bool  palindrome ( int   n 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{	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int  m=0, t=n;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while( n!=0 )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{	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m=m*10+n%10;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n/=10;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}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return  m == t;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}</a:t>
            </a:r>
            <a:endParaRPr lang="zh-CN" altLang="en-US" sz="2600" dirty="0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6111096" y="1340768"/>
            <a:ext cx="5457512" cy="378565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bool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palindrome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n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string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s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s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to_string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reverse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begin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(),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());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stoi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n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8138624" y="5423619"/>
            <a:ext cx="2040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2060"/>
                </a:solidFill>
              </a:rPr>
              <a:t>用字符串解决</a:t>
            </a:r>
          </a:p>
        </p:txBody>
      </p:sp>
      <p:sp>
        <p:nvSpPr>
          <p:cNvPr id="5" name="AutoShape 5"/>
          <p:cNvSpPr/>
          <p:nvPr/>
        </p:nvSpPr>
        <p:spPr>
          <a:xfrm>
            <a:off x="10272464" y="5470212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3-4-1.cpp</a:t>
            </a:r>
          </a:p>
        </p:txBody>
      </p:sp>
      <p:sp>
        <p:nvSpPr>
          <p:cNvPr id="6" name="AutoShape 5"/>
          <p:cNvSpPr/>
          <p:nvPr/>
        </p:nvSpPr>
        <p:spPr>
          <a:xfrm>
            <a:off x="2063552" y="5885284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3-4.cpp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/>
              <a:t>常问的</a:t>
            </a:r>
            <a:r>
              <a:rPr lang="en-US" altLang="zh-CN" dirty="0"/>
              <a:t>3</a:t>
            </a:r>
            <a:r>
              <a:rPr lang="zh-CN" altLang="en-US" dirty="0"/>
              <a:t>个问题 </a:t>
            </a:r>
          </a:p>
        </p:txBody>
      </p:sp>
      <p:sp>
        <p:nvSpPr>
          <p:cNvPr id="1741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4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(1)</a:t>
            </a:r>
            <a:r>
              <a:rPr lang="zh-CN" altLang="en-US" sz="2800" dirty="0">
                <a:solidFill>
                  <a:schemeClr val="tx1"/>
                </a:solidFill>
              </a:rPr>
              <a:t>一个函数可以有多个参数，但一个函数最多只能返回一个值。 </a:t>
            </a:r>
          </a:p>
          <a:p>
            <a:pPr eaLnBrk="1" hangingPunct="1">
              <a:lnSpc>
                <a:spcPct val="14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(2)</a:t>
            </a:r>
            <a:r>
              <a:rPr lang="zh-CN" altLang="en-US" sz="2800" dirty="0">
                <a:solidFill>
                  <a:schemeClr val="tx1"/>
                </a:solidFill>
              </a:rPr>
              <a:t>如果一个函数的返回值类型不是</a:t>
            </a:r>
            <a:r>
              <a:rPr lang="en-US" altLang="zh-CN" sz="2800" dirty="0">
                <a:solidFill>
                  <a:schemeClr val="tx1"/>
                </a:solidFill>
              </a:rPr>
              <a:t>void</a:t>
            </a:r>
            <a:r>
              <a:rPr lang="zh-CN" altLang="en-US" sz="2800" dirty="0">
                <a:solidFill>
                  <a:schemeClr val="tx1"/>
                </a:solidFill>
              </a:rPr>
              <a:t>，那么该函数必须包含</a:t>
            </a:r>
            <a:r>
              <a:rPr lang="en-US" altLang="zh-CN" sz="2800" dirty="0">
                <a:solidFill>
                  <a:schemeClr val="tx1"/>
                </a:solidFill>
              </a:rPr>
              <a:t>return</a:t>
            </a:r>
            <a:r>
              <a:rPr lang="zh-CN" altLang="en-US" sz="2800" dirty="0">
                <a:solidFill>
                  <a:schemeClr val="tx1"/>
                </a:solidFill>
              </a:rPr>
              <a:t>语句。</a:t>
            </a:r>
          </a:p>
          <a:p>
            <a:pPr eaLnBrk="1" hangingPunct="1">
              <a:lnSpc>
                <a:spcPct val="14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(3)</a:t>
            </a:r>
            <a:r>
              <a:rPr lang="zh-CN" altLang="en-US" sz="2800" dirty="0">
                <a:solidFill>
                  <a:schemeClr val="tx1"/>
                </a:solidFill>
              </a:rPr>
              <a:t>函数的返回值是如何返回到调用处的？</a:t>
            </a:r>
          </a:p>
        </p:txBody>
      </p:sp>
      <p:sp>
        <p:nvSpPr>
          <p:cNvPr id="1741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17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4.4 </a:t>
            </a:r>
            <a:r>
              <a:rPr lang="zh-CN" altLang="en-US" dirty="0"/>
              <a:t>局部变量和全局变量 </a:t>
            </a:r>
          </a:p>
        </p:txBody>
      </p:sp>
      <p:sp>
        <p:nvSpPr>
          <p:cNvPr id="19460" name="Rectangle 3"/>
          <p:cNvSpPr>
            <a:spLocks noGrp="1"/>
          </p:cNvSpPr>
          <p:nvPr>
            <p:ph idx="1"/>
          </p:nvPr>
        </p:nvSpPr>
        <p:spPr>
          <a:xfrm>
            <a:off x="1981201" y="1752600"/>
            <a:ext cx="8361045" cy="4413250"/>
          </a:xfrm>
        </p:spPr>
        <p:txBody>
          <a:bodyPr vert="horz" wrap="square" lIns="91440" tIns="45720" rIns="91440" bIns="45720" anchor="t" anchorCtr="0"/>
          <a:lstStyle/>
          <a:p>
            <a:pPr marL="0" indent="0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基本概念：</a:t>
            </a:r>
          </a:p>
          <a:p>
            <a:pPr marL="609600" indent="-609600">
              <a:buFontTx/>
              <a:buAutoNum type="arabicPeriod"/>
            </a:pPr>
            <a:r>
              <a:rPr lang="zh-CN" altLang="en-US" sz="2800" dirty="0">
                <a:solidFill>
                  <a:srgbClr val="C00000"/>
                </a:solidFill>
              </a:rPr>
              <a:t>可见：</a:t>
            </a:r>
            <a:r>
              <a:rPr lang="zh-CN" altLang="en-US" sz="2800" dirty="0">
                <a:solidFill>
                  <a:schemeClr val="tx1"/>
                </a:solidFill>
              </a:rPr>
              <a:t>指变量可以正常使用；</a:t>
            </a:r>
          </a:p>
          <a:p>
            <a:pPr marL="609600" indent="-609600">
              <a:buFontTx/>
              <a:buAutoNum type="arabicPeriod"/>
            </a:pPr>
            <a:r>
              <a:rPr lang="zh-CN" altLang="en-US" sz="2800" dirty="0">
                <a:solidFill>
                  <a:srgbClr val="C00000"/>
                </a:solidFill>
              </a:rPr>
              <a:t>生存：</a:t>
            </a:r>
            <a:r>
              <a:rPr lang="zh-CN" altLang="en-US" sz="2800" dirty="0">
                <a:solidFill>
                  <a:schemeClr val="tx1"/>
                </a:solidFill>
              </a:rPr>
              <a:t>指变量在内存中占有单元。有时，某变量在内存中占有单元，但却不能使用</a:t>
            </a:r>
            <a:r>
              <a:rPr lang="en-US" altLang="zh-CN" sz="2800" dirty="0">
                <a:solidFill>
                  <a:schemeClr val="tx1"/>
                </a:solidFill>
              </a:rPr>
              <a:t>(</a:t>
            </a:r>
            <a:r>
              <a:rPr lang="zh-CN" altLang="en-US" sz="2800" dirty="0">
                <a:solidFill>
                  <a:schemeClr val="tx1"/>
                </a:solidFill>
              </a:rPr>
              <a:t>可见</a:t>
            </a:r>
            <a:r>
              <a:rPr lang="en-US" altLang="zh-CN" sz="2800" dirty="0">
                <a:solidFill>
                  <a:schemeClr val="tx1"/>
                </a:solidFill>
              </a:rPr>
              <a:t>)</a:t>
            </a:r>
            <a:r>
              <a:rPr lang="zh-CN" altLang="en-US" sz="2800" dirty="0">
                <a:solidFill>
                  <a:schemeClr val="tx1"/>
                </a:solidFill>
              </a:rPr>
              <a:t>；</a:t>
            </a:r>
          </a:p>
          <a:p>
            <a:pPr marL="609600" indent="-609600">
              <a:buFontTx/>
              <a:buAutoNum type="arabicPeriod"/>
            </a:pPr>
            <a:r>
              <a:rPr lang="zh-CN" altLang="en-US" sz="2800" dirty="0">
                <a:solidFill>
                  <a:schemeClr val="tx1"/>
                </a:solidFill>
              </a:rPr>
              <a:t>仅在某些函数或某些代码段中可见的变量，称为</a:t>
            </a:r>
            <a:r>
              <a:rPr lang="zh-CN" altLang="en-US" sz="2800" dirty="0">
                <a:solidFill>
                  <a:srgbClr val="FF0000"/>
                </a:solidFill>
              </a:rPr>
              <a:t>局部变量</a:t>
            </a:r>
            <a:r>
              <a:rPr lang="zh-CN" altLang="en-US" sz="2800" dirty="0">
                <a:solidFill>
                  <a:schemeClr val="tx1"/>
                </a:solidFill>
              </a:rPr>
              <a:t>；</a:t>
            </a:r>
          </a:p>
          <a:p>
            <a:pPr marL="609600" indent="-609600">
              <a:buFontTx/>
              <a:buAutoNum type="arabicPeriod"/>
            </a:pPr>
            <a:r>
              <a:rPr lang="zh-CN" altLang="en-US" sz="2800" dirty="0">
                <a:solidFill>
                  <a:schemeClr val="tx1"/>
                </a:solidFill>
              </a:rPr>
              <a:t>如果在整个程序中都可见的变量，称为</a:t>
            </a:r>
            <a:r>
              <a:rPr lang="zh-CN" altLang="en-US" sz="2800" dirty="0">
                <a:solidFill>
                  <a:srgbClr val="FF0000"/>
                </a:solidFill>
              </a:rPr>
              <a:t>全局变量</a:t>
            </a:r>
            <a:r>
              <a:rPr lang="zh-CN" altLang="en-US" sz="2800" dirty="0">
                <a:solidFill>
                  <a:schemeClr val="tx1"/>
                </a:solidFill>
              </a:rPr>
              <a:t>。 </a:t>
            </a:r>
          </a:p>
        </p:txBody>
      </p:sp>
      <p:sp>
        <p:nvSpPr>
          <p:cNvPr id="1945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18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79576" y="332656"/>
            <a:ext cx="9024664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a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9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a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10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c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5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"a="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",&amp;a="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&lt;&lt;&amp;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"b="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",&amp;b="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&lt;&lt;&amp;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"c="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",&amp;c="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&lt;&lt;&amp;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"a="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",&amp;a="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&lt;&lt;&amp;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"b="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",&amp;b="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&lt;&lt;&amp;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endParaRPr lang="zh-CN" altLang="en-US" dirty="0"/>
          </a:p>
        </p:txBody>
      </p:sp>
      <p:cxnSp>
        <p:nvCxnSpPr>
          <p:cNvPr id="6" name="直接箭头连接符 5"/>
          <p:cNvCxnSpPr/>
          <p:nvPr/>
        </p:nvCxnSpPr>
        <p:spPr>
          <a:xfrm>
            <a:off x="10200456" y="2348880"/>
            <a:ext cx="0" cy="2016224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10776520" y="2852936"/>
            <a:ext cx="0" cy="1488653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3935760" y="4341589"/>
            <a:ext cx="736848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9672106" y="1910729"/>
            <a:ext cx="8643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10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10478154" y="2372394"/>
            <a:ext cx="6944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5</a:t>
            </a:r>
            <a:endParaRPr lang="zh-CN" altLang="en-US" dirty="0"/>
          </a:p>
        </p:txBody>
      </p:sp>
      <p:cxnSp>
        <p:nvCxnSpPr>
          <p:cNvPr id="13" name="直接箭头连接符 12"/>
          <p:cNvCxnSpPr/>
          <p:nvPr/>
        </p:nvCxnSpPr>
        <p:spPr>
          <a:xfrm>
            <a:off x="1175792" y="1196752"/>
            <a:ext cx="0" cy="4848051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1751856" y="1700808"/>
            <a:ext cx="0" cy="432048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-120352" y="6021288"/>
            <a:ext cx="2399928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828581" y="724149"/>
            <a:ext cx="6944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9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1523002" y="1261878"/>
            <a:ext cx="6944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3</a:t>
            </a:r>
            <a:endParaRPr lang="zh-CN" altLang="en-US" dirty="0"/>
          </a:p>
        </p:txBody>
      </p:sp>
      <p:sp>
        <p:nvSpPr>
          <p:cNvPr id="16" name="AutoShape 4"/>
          <p:cNvSpPr/>
          <p:nvPr/>
        </p:nvSpPr>
        <p:spPr>
          <a:xfrm>
            <a:off x="9144019" y="5440834"/>
            <a:ext cx="133413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ex3.cpp</a:t>
            </a:r>
          </a:p>
        </p:txBody>
      </p:sp>
    </p:spTree>
    <p:extLst>
      <p:ext uri="{BB962C8B-B14F-4D97-AF65-F5344CB8AC3E}">
        <p14:creationId xmlns:p14="http://schemas.microsoft.com/office/powerpoint/2010/main" val="23528083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4.4.1 </a:t>
            </a:r>
            <a:r>
              <a:rPr lang="zh-CN" altLang="en-US" dirty="0"/>
              <a:t>内存存储区的布局 </a:t>
            </a:r>
          </a:p>
        </p:txBody>
      </p:sp>
      <p:sp>
        <p:nvSpPr>
          <p:cNvPr id="2048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20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pic>
        <p:nvPicPr>
          <p:cNvPr id="2048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951" y="1855788"/>
            <a:ext cx="5184775" cy="43100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4.4.2 </a:t>
            </a:r>
            <a:r>
              <a:rPr lang="zh-CN" altLang="en-US" dirty="0"/>
              <a:t>局部变量 </a:t>
            </a:r>
          </a:p>
        </p:txBody>
      </p:sp>
      <p:sp>
        <p:nvSpPr>
          <p:cNvPr id="2150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4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范围：函数内或复合语句块；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存储在栈中；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执行到定义局部变量的语句时，在栈中分配空间。当执行完毕，按先进后出的顺序依次释放。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局部变量定义时前面可加</a:t>
            </a:r>
            <a:r>
              <a:rPr lang="en-US" altLang="zh-CN" sz="2800" dirty="0">
                <a:solidFill>
                  <a:schemeClr val="tx1"/>
                </a:solidFill>
              </a:rPr>
              <a:t>auto</a:t>
            </a:r>
            <a:r>
              <a:rPr lang="zh-CN" altLang="en-US" sz="2800" dirty="0">
                <a:solidFill>
                  <a:schemeClr val="tx1"/>
                </a:solidFill>
              </a:rPr>
              <a:t>，但常省略。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sz="2800" dirty="0">
                <a:solidFill>
                  <a:srgbClr val="002060"/>
                </a:solidFill>
              </a:rPr>
              <a:t>若未显示赋值或初始化，其初值不确定</a:t>
            </a:r>
            <a:r>
              <a:rPr lang="zh-CN" altLang="en-US" sz="2800" dirty="0">
                <a:solidFill>
                  <a:schemeClr val="tx1"/>
                </a:solidFill>
              </a:rPr>
              <a:t>。 </a:t>
            </a:r>
          </a:p>
        </p:txBody>
      </p:sp>
      <p:sp>
        <p:nvSpPr>
          <p:cNvPr id="2150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21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4"/>
          <p:cNvSpPr txBox="1"/>
          <p:nvPr/>
        </p:nvSpPr>
        <p:spPr>
          <a:xfrm>
            <a:off x="2638426" y="884239"/>
            <a:ext cx="7561263" cy="5692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fontAlgn="t" hangingPunct="1"/>
            <a:r>
              <a:rPr lang="fr-FR" altLang="zh-CN" sz="2600" dirty="0">
                <a:solidFill>
                  <a:schemeClr val="tx1"/>
                </a:solidFill>
              </a:rPr>
              <a:t>void   swap(int x, int y);  </a:t>
            </a:r>
            <a:r>
              <a:rPr lang="fr-FR" altLang="zh-CN" sz="2600" dirty="0">
                <a:solidFill>
                  <a:srgbClr val="C00000"/>
                </a:solidFill>
              </a:rPr>
              <a:t> // </a:t>
            </a:r>
            <a:r>
              <a:rPr lang="zh-CN" altLang="fr-FR" sz="2600" dirty="0">
                <a:solidFill>
                  <a:srgbClr val="C00000"/>
                </a:solidFill>
              </a:rPr>
              <a:t>分析局部变量（见例</a:t>
            </a:r>
            <a:r>
              <a:rPr lang="fr-FR" altLang="zh-CN" sz="2600" dirty="0">
                <a:solidFill>
                  <a:srgbClr val="C00000"/>
                </a:solidFill>
              </a:rPr>
              <a:t>3-3</a:t>
            </a:r>
            <a:r>
              <a:rPr lang="zh-CN" altLang="fr-FR" sz="2600" dirty="0">
                <a:solidFill>
                  <a:srgbClr val="C00000"/>
                </a:solidFill>
              </a:rPr>
              <a:t>）</a:t>
            </a:r>
            <a:endParaRPr lang="zh-CN" altLang="fr-FR" sz="26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fr-FR" altLang="zh-CN" sz="2600" dirty="0">
                <a:solidFill>
                  <a:schemeClr val="tx1"/>
                </a:solidFill>
              </a:rPr>
              <a:t>int   main ( )</a:t>
            </a:r>
          </a:p>
          <a:p>
            <a:pPr eaLnBrk="1" fontAlgn="t" hangingPunct="1"/>
            <a:r>
              <a:rPr lang="fr-FR" altLang="zh-CN" sz="2600" dirty="0">
                <a:solidFill>
                  <a:schemeClr val="tx1"/>
                </a:solidFill>
              </a:rPr>
              <a:t>{	auto   int   x=10, y=20;</a:t>
            </a:r>
          </a:p>
          <a:p>
            <a:pPr eaLnBrk="1" fontAlgn="t" hangingPunct="1"/>
            <a:endParaRPr lang="zh-CN" altLang="fr-FR" sz="26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zh-CN" altLang="fr-FR" sz="2600" dirty="0">
                <a:solidFill>
                  <a:schemeClr val="tx1"/>
                </a:solidFill>
              </a:rPr>
              <a:t>	</a:t>
            </a:r>
            <a:r>
              <a:rPr lang="fr-FR" altLang="zh-CN" sz="2600" dirty="0">
                <a:solidFill>
                  <a:schemeClr val="tx1"/>
                </a:solidFill>
              </a:rPr>
              <a:t>swap(x, y);</a:t>
            </a:r>
          </a:p>
          <a:p>
            <a:pPr eaLnBrk="1" fontAlgn="t" hangingPunct="1"/>
            <a:r>
              <a:rPr lang="fr-FR" altLang="zh-CN" sz="2600" dirty="0">
                <a:solidFill>
                  <a:schemeClr val="tx1"/>
                </a:solidFill>
              </a:rPr>
              <a:t>	cout&lt;&lt; setw(6) &lt;&lt; x &lt;&lt; setw(6) &lt;&lt; y &lt;&lt; endl ;</a:t>
            </a:r>
            <a:endParaRPr lang="en-US" altLang="zh-CN" sz="26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return 0;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}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void   swap(int x, int y)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{	int   t; 	</a:t>
            </a:r>
            <a:endParaRPr lang="zh-CN" altLang="en-US" sz="2600" dirty="0">
              <a:solidFill>
                <a:schemeClr val="tx1"/>
              </a:solidFill>
            </a:endParaRPr>
          </a:p>
          <a:p>
            <a:pPr eaLnBrk="1" fontAlgn="t" hangingPunct="1"/>
            <a:endParaRPr lang="zh-CN" altLang="en-US" sz="26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zh-CN" altLang="en-US" sz="2600" dirty="0">
                <a:solidFill>
                  <a:schemeClr val="tx1"/>
                </a:solidFill>
              </a:rPr>
              <a:t>	</a:t>
            </a:r>
            <a:r>
              <a:rPr lang="en-US" altLang="zh-CN" sz="2600" dirty="0">
                <a:solidFill>
                  <a:schemeClr val="tx1"/>
                </a:solidFill>
              </a:rPr>
              <a:t>t=x;	x=y;	y=t;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cout&lt;&lt; setw(6) &lt;&lt; x &lt;&lt; setw(6) &lt;&lt; y &lt;&lt; endl ;</a:t>
            </a:r>
            <a:endParaRPr lang="fr-FR" altLang="zh-CN" sz="26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fr-FR" altLang="zh-CN" sz="2600" dirty="0">
                <a:solidFill>
                  <a:schemeClr val="tx1"/>
                </a:solidFill>
              </a:rPr>
              <a:t>} </a:t>
            </a:r>
            <a:endParaRPr lang="zh-CN" altLang="en-US" sz="2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4.4.3 </a:t>
            </a:r>
            <a:r>
              <a:rPr lang="zh-CN" altLang="en-US" dirty="0"/>
              <a:t>全局变量 </a:t>
            </a:r>
          </a:p>
        </p:txBody>
      </p:sp>
      <p:sp>
        <p:nvSpPr>
          <p:cNvPr id="23556" name="Rectangle 3"/>
          <p:cNvSpPr>
            <a:spLocks noGrp="1"/>
          </p:cNvSpPr>
          <p:nvPr>
            <p:ph idx="1"/>
          </p:nvPr>
        </p:nvSpPr>
        <p:spPr>
          <a:xfrm>
            <a:off x="2046288" y="1752600"/>
            <a:ext cx="8153400" cy="4114800"/>
          </a:xfrm>
        </p:spPr>
        <p:txBody>
          <a:bodyPr vert="horz" wrap="square" lIns="91440" tIns="45720" rIns="91440" bIns="45720" anchor="t" anchorCtr="0"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全局变量</a:t>
            </a:r>
            <a:r>
              <a:rPr lang="en-US" altLang="zh-CN" sz="2800" dirty="0">
                <a:solidFill>
                  <a:schemeClr val="tx1"/>
                </a:solidFill>
              </a:rPr>
              <a:t>: </a:t>
            </a:r>
            <a:r>
              <a:rPr lang="zh-CN" altLang="en-US" sz="2800" dirty="0">
                <a:solidFill>
                  <a:schemeClr val="tx1"/>
                </a:solidFill>
              </a:rPr>
              <a:t>在函数外定义的变量。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(1)</a:t>
            </a:r>
            <a:r>
              <a:rPr lang="zh-CN" altLang="en-US" sz="2800" dirty="0">
                <a:solidFill>
                  <a:schemeClr val="tx1"/>
                </a:solidFill>
              </a:rPr>
              <a:t>全局变量存放在全局数据区，</a:t>
            </a:r>
            <a:r>
              <a:rPr lang="zh-CN" altLang="en-US" sz="2800" dirty="0">
                <a:solidFill>
                  <a:srgbClr val="002060"/>
                </a:solidFill>
              </a:rPr>
              <a:t>自动初始化为</a:t>
            </a:r>
            <a:r>
              <a:rPr lang="en-US" altLang="zh-CN" sz="2800" dirty="0">
                <a:solidFill>
                  <a:srgbClr val="002060"/>
                </a:solidFill>
              </a:rPr>
              <a:t>0</a:t>
            </a:r>
            <a:r>
              <a:rPr lang="zh-CN" altLang="en-US" sz="2800" dirty="0">
                <a:solidFill>
                  <a:schemeClr val="tx1"/>
                </a:solidFill>
              </a:rPr>
              <a:t>。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(2)</a:t>
            </a:r>
            <a:r>
              <a:rPr lang="zh-CN" altLang="en-US" sz="2800" dirty="0">
                <a:solidFill>
                  <a:schemeClr val="tx1"/>
                </a:solidFill>
              </a:rPr>
              <a:t> 作用域是从</a:t>
            </a:r>
            <a:r>
              <a:rPr lang="zh-CN" altLang="en-US" sz="2800" dirty="0">
                <a:solidFill>
                  <a:srgbClr val="FF0000"/>
                </a:solidFill>
              </a:rPr>
              <a:t>变量定义处开始到文件结束</a:t>
            </a:r>
            <a:r>
              <a:rPr lang="zh-CN" altLang="en-US" sz="2800" dirty="0">
                <a:solidFill>
                  <a:schemeClr val="tx1"/>
                </a:solidFill>
              </a:rPr>
              <a:t>。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(3)</a:t>
            </a:r>
            <a:r>
              <a:rPr lang="zh-CN" altLang="en-US" sz="2800" dirty="0">
                <a:solidFill>
                  <a:schemeClr val="tx1"/>
                </a:solidFill>
              </a:rPr>
              <a:t>如果程序的某个函数修改了全局变量，其他函数都“可见”修改后结果。 </a:t>
            </a:r>
          </a:p>
        </p:txBody>
      </p:sp>
      <p:sp>
        <p:nvSpPr>
          <p:cNvPr id="2355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23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4"/>
          <p:cNvSpPr txBox="1"/>
          <p:nvPr/>
        </p:nvSpPr>
        <p:spPr>
          <a:xfrm>
            <a:off x="983432" y="332656"/>
            <a:ext cx="8315325" cy="60928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int     a;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void  fun( )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{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cout &lt;&lt; a ;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a = 200;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}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int  main ( 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{	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int  a = 10;</a:t>
            </a:r>
          </a:p>
          <a:p>
            <a:pPr eaLnBrk="1" fontAlgn="t" hangingPunct="1"/>
            <a:endParaRPr lang="en-US" altLang="zh-CN" sz="26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fun( );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cout &lt;&lt; setw(6) &lt;&lt; a &lt;&lt; setw(6) &lt;&lt; ::a &lt;&lt; endl; </a:t>
            </a:r>
          </a:p>
          <a:p>
            <a:pPr eaLnBrk="1" fontAlgn="t" hangingPunct="1"/>
            <a:endParaRPr lang="en-US" altLang="zh-CN" sz="26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return  0;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}</a:t>
            </a:r>
            <a:endParaRPr lang="zh-CN" altLang="en-US" sz="2600" dirty="0">
              <a:solidFill>
                <a:schemeClr val="tx1"/>
              </a:solidFill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659356" y="2896717"/>
            <a:ext cx="3273827" cy="697552"/>
            <a:chOff x="3791744" y="2803456"/>
            <a:chExt cx="3273827" cy="697552"/>
          </a:xfrm>
        </p:grpSpPr>
        <p:sp>
          <p:nvSpPr>
            <p:cNvPr id="2" name="矩形 1"/>
            <p:cNvSpPr/>
            <p:nvPr/>
          </p:nvSpPr>
          <p:spPr>
            <a:xfrm>
              <a:off x="5481395" y="2803456"/>
              <a:ext cx="1584176" cy="48235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局部变量</a:t>
              </a:r>
            </a:p>
          </p:txBody>
        </p:sp>
        <p:cxnSp>
          <p:nvCxnSpPr>
            <p:cNvPr id="4" name="直接箭头连接符 3"/>
            <p:cNvCxnSpPr/>
            <p:nvPr/>
          </p:nvCxnSpPr>
          <p:spPr>
            <a:xfrm flipH="1">
              <a:off x="3791744" y="2996952"/>
              <a:ext cx="1512168" cy="5040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6"/>
          <p:cNvGrpSpPr/>
          <p:nvPr/>
        </p:nvGrpSpPr>
        <p:grpSpPr>
          <a:xfrm>
            <a:off x="2495600" y="202277"/>
            <a:ext cx="3155412" cy="482352"/>
            <a:chOff x="3791744" y="3152232"/>
            <a:chExt cx="3155412" cy="482352"/>
          </a:xfrm>
        </p:grpSpPr>
        <p:sp>
          <p:nvSpPr>
            <p:cNvPr id="8" name="矩形 7"/>
            <p:cNvSpPr/>
            <p:nvPr/>
          </p:nvSpPr>
          <p:spPr>
            <a:xfrm>
              <a:off x="5362980" y="3152232"/>
              <a:ext cx="1584176" cy="482352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rgbClr val="002060"/>
                  </a:solidFill>
                </a:rPr>
                <a:t>全局变量</a:t>
              </a:r>
            </a:p>
          </p:txBody>
        </p:sp>
        <p:cxnSp>
          <p:nvCxnSpPr>
            <p:cNvPr id="9" name="直接箭头连接符 8"/>
            <p:cNvCxnSpPr/>
            <p:nvPr/>
          </p:nvCxnSpPr>
          <p:spPr>
            <a:xfrm flipH="1">
              <a:off x="3791744" y="3463165"/>
              <a:ext cx="1440160" cy="37843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AutoShape 4"/>
          <p:cNvSpPr/>
          <p:nvPr/>
        </p:nvSpPr>
        <p:spPr>
          <a:xfrm>
            <a:off x="8011631" y="5534095"/>
            <a:ext cx="133413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Ex3-0.cpp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4171524" y="3809469"/>
            <a:ext cx="1584176" cy="986408"/>
            <a:chOff x="3165969" y="2514600"/>
            <a:chExt cx="1584176" cy="986408"/>
          </a:xfrm>
        </p:grpSpPr>
        <p:sp>
          <p:nvSpPr>
            <p:cNvPr id="13" name="矩形 12"/>
            <p:cNvSpPr/>
            <p:nvPr/>
          </p:nvSpPr>
          <p:spPr>
            <a:xfrm>
              <a:off x="3165969" y="2514600"/>
              <a:ext cx="1584176" cy="48235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局部变量</a:t>
              </a:r>
            </a:p>
          </p:txBody>
        </p:sp>
        <p:cxnSp>
          <p:nvCxnSpPr>
            <p:cNvPr id="14" name="直接箭头连接符 13"/>
            <p:cNvCxnSpPr/>
            <p:nvPr/>
          </p:nvCxnSpPr>
          <p:spPr>
            <a:xfrm flipH="1">
              <a:off x="3791744" y="3070608"/>
              <a:ext cx="94305" cy="430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组合 15"/>
          <p:cNvGrpSpPr/>
          <p:nvPr/>
        </p:nvGrpSpPr>
        <p:grpSpPr>
          <a:xfrm>
            <a:off x="7267868" y="3687981"/>
            <a:ext cx="1584176" cy="1119160"/>
            <a:chOff x="3791744" y="2381848"/>
            <a:chExt cx="1584176" cy="1119160"/>
          </a:xfrm>
        </p:grpSpPr>
        <p:sp>
          <p:nvSpPr>
            <p:cNvPr id="17" name="矩形 16"/>
            <p:cNvSpPr/>
            <p:nvPr/>
          </p:nvSpPr>
          <p:spPr>
            <a:xfrm>
              <a:off x="3791744" y="2381848"/>
              <a:ext cx="1584176" cy="482352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rgbClr val="002060"/>
                  </a:solidFill>
                </a:rPr>
                <a:t>全局变量</a:t>
              </a:r>
            </a:p>
          </p:txBody>
        </p:sp>
        <p:cxnSp>
          <p:nvCxnSpPr>
            <p:cNvPr id="18" name="直接箭头连接符 17"/>
            <p:cNvCxnSpPr/>
            <p:nvPr/>
          </p:nvCxnSpPr>
          <p:spPr>
            <a:xfrm flipH="1">
              <a:off x="3791744" y="2864200"/>
              <a:ext cx="576064" cy="636808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/>
          <p:cNvGrpSpPr/>
          <p:nvPr/>
        </p:nvGrpSpPr>
        <p:grpSpPr>
          <a:xfrm>
            <a:off x="3313898" y="1347535"/>
            <a:ext cx="3155412" cy="482352"/>
            <a:chOff x="3791744" y="3152232"/>
            <a:chExt cx="3155412" cy="482352"/>
          </a:xfrm>
        </p:grpSpPr>
        <p:sp>
          <p:nvSpPr>
            <p:cNvPr id="20" name="矩形 19"/>
            <p:cNvSpPr/>
            <p:nvPr/>
          </p:nvSpPr>
          <p:spPr>
            <a:xfrm>
              <a:off x="5362980" y="3152232"/>
              <a:ext cx="1584176" cy="482352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rgbClr val="002060"/>
                  </a:solidFill>
                </a:rPr>
                <a:t>全局变量</a:t>
              </a:r>
            </a:p>
          </p:txBody>
        </p:sp>
        <p:cxnSp>
          <p:nvCxnSpPr>
            <p:cNvPr id="21" name="直接箭头连接符 20"/>
            <p:cNvCxnSpPr/>
            <p:nvPr/>
          </p:nvCxnSpPr>
          <p:spPr>
            <a:xfrm flipH="1">
              <a:off x="3791744" y="3463165"/>
              <a:ext cx="1440160" cy="37843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4.4.4 </a:t>
            </a:r>
            <a:r>
              <a:rPr lang="zh-CN" altLang="en-US" dirty="0"/>
              <a:t>局部变量与栈 </a:t>
            </a:r>
          </a:p>
        </p:txBody>
      </p:sp>
      <p:sp>
        <p:nvSpPr>
          <p:cNvPr id="25604" name="Rectangle 3"/>
          <p:cNvSpPr>
            <a:spLocks noGrp="1"/>
          </p:cNvSpPr>
          <p:nvPr>
            <p:ph idx="1"/>
          </p:nvPr>
        </p:nvSpPr>
        <p:spPr>
          <a:xfrm>
            <a:off x="871450" y="1585119"/>
            <a:ext cx="10515600" cy="4351338"/>
          </a:xfrm>
        </p:spPr>
        <p:txBody>
          <a:bodyPr vert="horz" wrap="square" lIns="91440" tIns="45720" rIns="91440" bIns="45720" anchor="t" anchorCtr="0"/>
          <a:lstStyle/>
          <a:p>
            <a:pPr marL="0" indent="0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栈实现函数调用和局部变量的空间分配。例如： </a:t>
            </a:r>
          </a:p>
        </p:txBody>
      </p:sp>
      <p:sp>
        <p:nvSpPr>
          <p:cNvPr id="2560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25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43012" name="Text Box 4"/>
          <p:cNvSpPr txBox="1"/>
          <p:nvPr/>
        </p:nvSpPr>
        <p:spPr>
          <a:xfrm>
            <a:off x="1199456" y="2106369"/>
            <a:ext cx="7993062" cy="4524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1 void  cat( int  x) 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2 { 	cout&lt;&lt; x &lt;&lt; endl; } 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3 void  dog ( int  a) 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4 { 	int  b=10;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5	cat(b+a);			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6 } 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7 int  main (  )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8 {	int  a=20;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9	dog( a ); 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10	cout &lt;&lt; a &lt;&lt; endl; 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11	return  0; 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12} </a:t>
            </a: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43014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944" y="3429000"/>
            <a:ext cx="6230937" cy="2047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4.5   </a:t>
            </a:r>
            <a:r>
              <a:rPr lang="zh-CN" altLang="en-US" dirty="0"/>
              <a:t>变量的存储类别 </a:t>
            </a:r>
          </a:p>
        </p:txBody>
      </p:sp>
      <p:sp>
        <p:nvSpPr>
          <p:cNvPr id="26628" name="Rectangle 3"/>
          <p:cNvSpPr>
            <a:spLocks noGrp="1"/>
          </p:cNvSpPr>
          <p:nvPr>
            <p:ph idx="1"/>
          </p:nvPr>
        </p:nvSpPr>
        <p:spPr>
          <a:xfrm>
            <a:off x="838200" y="1351955"/>
            <a:ext cx="11129044" cy="5488037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存储类别修饰符：</a:t>
            </a:r>
            <a:r>
              <a:rPr lang="en-US" altLang="zh-CN" sz="2800" dirty="0">
                <a:solidFill>
                  <a:schemeClr val="tx1"/>
                </a:solidFill>
              </a:rPr>
              <a:t>auto</a:t>
            </a:r>
            <a:r>
              <a:rPr lang="zh-CN" altLang="en-US" sz="2800" dirty="0">
                <a:solidFill>
                  <a:schemeClr val="tx1"/>
                </a:solidFill>
              </a:rPr>
              <a:t>、</a:t>
            </a:r>
            <a:r>
              <a:rPr lang="en-US" altLang="zh-CN" sz="2800" dirty="0">
                <a:solidFill>
                  <a:schemeClr val="tx1"/>
                </a:solidFill>
              </a:rPr>
              <a:t>register</a:t>
            </a:r>
            <a:r>
              <a:rPr lang="zh-CN" altLang="en-US" sz="2800" dirty="0">
                <a:solidFill>
                  <a:schemeClr val="tx1"/>
                </a:solidFill>
              </a:rPr>
              <a:t>、</a:t>
            </a:r>
            <a:r>
              <a:rPr lang="en-US" altLang="zh-CN" sz="2800" dirty="0">
                <a:solidFill>
                  <a:schemeClr val="tx1"/>
                </a:solidFill>
              </a:rPr>
              <a:t>static</a:t>
            </a:r>
            <a:r>
              <a:rPr lang="zh-CN" altLang="en-US" sz="2800" dirty="0">
                <a:solidFill>
                  <a:schemeClr val="tx1"/>
                </a:solidFill>
              </a:rPr>
              <a:t>和</a:t>
            </a:r>
            <a:r>
              <a:rPr lang="en-US" altLang="zh-CN" sz="2800" dirty="0">
                <a:solidFill>
                  <a:schemeClr val="tx1"/>
                </a:solidFill>
              </a:rPr>
              <a:t>extern</a:t>
            </a:r>
            <a:r>
              <a:rPr lang="zh-CN" altLang="en-US" sz="2800" dirty="0">
                <a:solidFill>
                  <a:schemeClr val="tx1"/>
                </a:solidFill>
              </a:rPr>
              <a:t>。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marL="514350" indent="-514350" eaLnBrk="1" hangingPunct="1">
              <a:lnSpc>
                <a:spcPct val="150000"/>
              </a:lnSpc>
              <a:buAutoNum type="arabicParenBoth"/>
            </a:pPr>
            <a:r>
              <a:rPr lang="en-US" altLang="zh-CN" sz="2800" dirty="0">
                <a:solidFill>
                  <a:schemeClr val="tx1"/>
                </a:solidFill>
              </a:rPr>
              <a:t>auto</a:t>
            </a:r>
            <a:r>
              <a:rPr lang="zh-CN" altLang="en-US" sz="2800" dirty="0">
                <a:solidFill>
                  <a:schemeClr val="tx1"/>
                </a:solidFill>
              </a:rPr>
              <a:t>和</a:t>
            </a:r>
            <a:r>
              <a:rPr lang="en-US" altLang="zh-CN" sz="2800" dirty="0">
                <a:solidFill>
                  <a:schemeClr val="tx1"/>
                </a:solidFill>
              </a:rPr>
              <a:t>register</a:t>
            </a:r>
            <a:r>
              <a:rPr lang="zh-CN" altLang="en-US" sz="2800" dirty="0">
                <a:solidFill>
                  <a:schemeClr val="tx1"/>
                </a:solidFill>
              </a:rPr>
              <a:t>修饰自动存储变量；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marL="514350" indent="-514350" eaLnBrk="1" hangingPunct="1">
              <a:lnSpc>
                <a:spcPct val="150000"/>
              </a:lnSpc>
              <a:buAutoNum type="arabicParenBoth"/>
            </a:pP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(2) static</a:t>
            </a:r>
            <a:r>
              <a:rPr lang="zh-CN" altLang="en-US" sz="2800" dirty="0">
                <a:solidFill>
                  <a:schemeClr val="tx1"/>
                </a:solidFill>
              </a:rPr>
              <a:t>修饰静态存储变量；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  <a:buNone/>
            </a:pP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(3) extern</a:t>
            </a:r>
            <a:r>
              <a:rPr lang="zh-CN" altLang="en-US" sz="2800" dirty="0">
                <a:solidFill>
                  <a:schemeClr val="tx1"/>
                </a:solidFill>
              </a:rPr>
              <a:t>修饰外部存储变量。 </a:t>
            </a:r>
          </a:p>
        </p:txBody>
      </p:sp>
      <p:sp>
        <p:nvSpPr>
          <p:cNvPr id="2662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26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3" name="爆炸形 2 2"/>
          <p:cNvSpPr/>
          <p:nvPr/>
        </p:nvSpPr>
        <p:spPr>
          <a:xfrm>
            <a:off x="6402722" y="1871358"/>
            <a:ext cx="4176464" cy="1845674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36000" rtlCol="0" anchor="ctr">
            <a:spAutoFit/>
          </a:bodyPr>
          <a:lstStyle/>
          <a:p>
            <a:pPr algn="ctr"/>
            <a:r>
              <a:rPr lang="zh-CN" altLang="en-US" dirty="0"/>
              <a:t>退出函数后自动释放</a:t>
            </a:r>
          </a:p>
        </p:txBody>
      </p:sp>
      <p:sp>
        <p:nvSpPr>
          <p:cNvPr id="7" name="爆炸形 2 6"/>
          <p:cNvSpPr/>
          <p:nvPr/>
        </p:nvSpPr>
        <p:spPr>
          <a:xfrm>
            <a:off x="4871864" y="3573016"/>
            <a:ext cx="4176464" cy="1845674"/>
          </a:xfrm>
          <a:prstGeom prst="irregularSeal2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36000" rtlCol="0" anchor="ctr">
            <a:spAutoFit/>
          </a:bodyPr>
          <a:lstStyle/>
          <a:p>
            <a:pPr algn="ctr"/>
            <a:r>
              <a:rPr lang="zh-CN" altLang="en-US" dirty="0"/>
              <a:t>退出函数后不释放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27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27651" name="Rectangle 2"/>
          <p:cNvSpPr>
            <a:spLocks noGrp="1"/>
          </p:cNvSpPr>
          <p:nvPr>
            <p:ph type="title" idx="4294967295"/>
          </p:nvPr>
        </p:nvSpPr>
        <p:spPr>
          <a:xfrm>
            <a:off x="828614" y="404664"/>
            <a:ext cx="7772400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4.5.1 auto</a:t>
            </a:r>
            <a:r>
              <a:rPr lang="zh-CN" altLang="en-US" dirty="0"/>
              <a:t>修饰的变量 </a:t>
            </a:r>
          </a:p>
        </p:txBody>
      </p:sp>
      <p:sp>
        <p:nvSpPr>
          <p:cNvPr id="27652" name="Text Box 4"/>
          <p:cNvSpPr txBox="1"/>
          <p:nvPr/>
        </p:nvSpPr>
        <p:spPr>
          <a:xfrm>
            <a:off x="3935414" y="1844676"/>
            <a:ext cx="4321175" cy="39354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zh-CN" sz="2800" dirty="0">
                <a:solidFill>
                  <a:schemeClr val="tx1"/>
                </a:solidFill>
              </a:rPr>
              <a:t>int fun( int  a )		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sz="2800" dirty="0">
                <a:solidFill>
                  <a:schemeClr val="tx1"/>
                </a:solidFill>
              </a:rPr>
              <a:t>{	</a:t>
            </a:r>
          </a:p>
          <a:p>
            <a:pPr eaLnBrk="1" fontAlgn="t" hangingPunct="1"/>
            <a:r>
              <a:rPr lang="en-US" altLang="zh-CN" sz="2800" dirty="0">
                <a:solidFill>
                  <a:schemeClr val="tx1"/>
                </a:solidFill>
              </a:rPr>
              <a:t>      </a:t>
            </a:r>
            <a:r>
              <a:rPr lang="en-US" altLang="zh-CN" sz="2800" dirty="0">
                <a:solidFill>
                  <a:srgbClr val="FF0000"/>
                </a:solidFill>
              </a:rPr>
              <a:t>auto  </a:t>
            </a:r>
            <a:r>
              <a:rPr lang="en-US" altLang="zh-CN" sz="2800" dirty="0">
                <a:solidFill>
                  <a:schemeClr val="tx1"/>
                </a:solidFill>
              </a:rPr>
              <a:t>int  b = 2; 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zh-CN" altLang="en-US" sz="2800" dirty="0">
                <a:solidFill>
                  <a:schemeClr val="tx1"/>
                </a:solidFill>
              </a:rPr>
              <a:t>      </a:t>
            </a:r>
            <a:r>
              <a:rPr lang="en-US" altLang="zh-CN" sz="2800" dirty="0">
                <a:solidFill>
                  <a:schemeClr val="tx1"/>
                </a:solidFill>
              </a:rPr>
              <a:t>……</a:t>
            </a:r>
          </a:p>
          <a:p>
            <a:pPr eaLnBrk="1" fontAlgn="t" hangingPunct="1"/>
            <a:r>
              <a:rPr lang="en-US" altLang="zh-CN" sz="2800" dirty="0">
                <a:solidFill>
                  <a:schemeClr val="tx1"/>
                </a:solidFill>
              </a:rPr>
              <a:t>      {</a:t>
            </a:r>
          </a:p>
          <a:p>
            <a:pPr eaLnBrk="1" fontAlgn="t" hangingPunct="1"/>
            <a:r>
              <a:rPr lang="en-US" altLang="zh-CN" sz="2800" dirty="0">
                <a:solidFill>
                  <a:schemeClr val="tx1"/>
                </a:solidFill>
              </a:rPr>
              <a:t>	   double  d;    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zh-CN" altLang="en-US" sz="2800" dirty="0">
                <a:solidFill>
                  <a:schemeClr val="tx1"/>
                </a:solidFill>
              </a:rPr>
              <a:t>                </a:t>
            </a:r>
            <a:r>
              <a:rPr lang="en-US" altLang="zh-CN" sz="2800" dirty="0">
                <a:solidFill>
                  <a:schemeClr val="tx1"/>
                </a:solidFill>
              </a:rPr>
              <a:t>……</a:t>
            </a:r>
          </a:p>
          <a:p>
            <a:pPr eaLnBrk="1" fontAlgn="t" hangingPunct="1"/>
            <a:r>
              <a:rPr lang="en-US" altLang="zh-CN" sz="2800" dirty="0">
                <a:solidFill>
                  <a:schemeClr val="tx1"/>
                </a:solidFill>
              </a:rPr>
              <a:t>       }</a:t>
            </a:r>
          </a:p>
          <a:p>
            <a:pPr eaLnBrk="1" fontAlgn="t" hangingPunct="1"/>
            <a:r>
              <a:rPr lang="en-US" altLang="zh-CN" sz="2800" dirty="0">
                <a:solidFill>
                  <a:schemeClr val="tx1"/>
                </a:solidFill>
              </a:rPr>
              <a:t>} 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28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28675" name="Rectangle 2"/>
          <p:cNvSpPr>
            <a:spLocks noGrp="1"/>
          </p:cNvSpPr>
          <p:nvPr>
            <p:ph type="title" idx="4294967295"/>
          </p:nvPr>
        </p:nvSpPr>
        <p:spPr>
          <a:xfrm>
            <a:off x="479376" y="548680"/>
            <a:ext cx="7772400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4.5.2 register</a:t>
            </a:r>
            <a:r>
              <a:rPr lang="zh-CN" altLang="en-US" dirty="0"/>
              <a:t>修饰的变量 </a:t>
            </a:r>
          </a:p>
        </p:txBody>
      </p:sp>
      <p:sp>
        <p:nvSpPr>
          <p:cNvPr id="28676" name="Text Box 4"/>
          <p:cNvSpPr txBox="1"/>
          <p:nvPr/>
        </p:nvSpPr>
        <p:spPr>
          <a:xfrm>
            <a:off x="4079876" y="1946275"/>
            <a:ext cx="5256213" cy="4362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zh-CN" sz="2800" dirty="0">
                <a:solidFill>
                  <a:schemeClr val="tx1"/>
                </a:solidFill>
              </a:rPr>
              <a:t>int  factor( int  n )</a:t>
            </a:r>
          </a:p>
          <a:p>
            <a:pPr eaLnBrk="1" fontAlgn="t" hangingPunct="1"/>
            <a:r>
              <a:rPr lang="en-US" altLang="zh-CN" sz="2800" dirty="0">
                <a:solidFill>
                  <a:schemeClr val="tx1"/>
                </a:solidFill>
              </a:rPr>
              <a:t>{</a:t>
            </a:r>
          </a:p>
          <a:p>
            <a:pPr eaLnBrk="1" fontAlgn="t" hangingPunct="1"/>
            <a:r>
              <a:rPr lang="en-US" altLang="zh-CN" sz="2800" dirty="0">
                <a:solidFill>
                  <a:schemeClr val="tx1"/>
                </a:solidFill>
              </a:rPr>
              <a:t>	</a:t>
            </a:r>
            <a:r>
              <a:rPr lang="en-US" altLang="zh-CN" sz="2800" dirty="0">
                <a:solidFill>
                  <a:srgbClr val="FF0000"/>
                </a:solidFill>
              </a:rPr>
              <a:t>register  </a:t>
            </a:r>
            <a:r>
              <a:rPr lang="en-US" altLang="zh-CN" sz="2800" dirty="0">
                <a:solidFill>
                  <a:schemeClr val="tx1"/>
                </a:solidFill>
              </a:rPr>
              <a:t>int  f = 1,  i;</a:t>
            </a:r>
          </a:p>
          <a:p>
            <a:pPr eaLnBrk="1" fontAlgn="t" hangingPunct="1"/>
            <a:endParaRPr lang="en-US" altLang="zh-CN" sz="28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sz="2800" dirty="0">
                <a:solidFill>
                  <a:schemeClr val="tx1"/>
                </a:solidFill>
              </a:rPr>
              <a:t>	for( i = 1; i &lt;= n; i++)</a:t>
            </a:r>
          </a:p>
          <a:p>
            <a:pPr eaLnBrk="1" fontAlgn="t" hangingPunct="1"/>
            <a:r>
              <a:rPr lang="en-US" altLang="zh-CN" sz="2800" dirty="0">
                <a:solidFill>
                  <a:schemeClr val="tx1"/>
                </a:solidFill>
              </a:rPr>
              <a:t>	 	f *= i;</a:t>
            </a:r>
          </a:p>
          <a:p>
            <a:pPr eaLnBrk="1" fontAlgn="t" hangingPunct="1"/>
            <a:r>
              <a:rPr lang="en-US" altLang="zh-CN" sz="2800" dirty="0">
                <a:solidFill>
                  <a:schemeClr val="tx1"/>
                </a:solidFill>
              </a:rPr>
              <a:t>	return  f;</a:t>
            </a:r>
          </a:p>
          <a:p>
            <a:pPr eaLnBrk="1" fontAlgn="t" hangingPunct="1"/>
            <a:r>
              <a:rPr lang="en-US" altLang="zh-CN" sz="2800" dirty="0">
                <a:solidFill>
                  <a:schemeClr val="tx1"/>
                </a:solidFill>
              </a:rPr>
              <a:t>} </a:t>
            </a:r>
          </a:p>
          <a:p>
            <a:pPr eaLnBrk="1" fontAlgn="t" hangingPunct="1"/>
            <a:endParaRPr lang="zh-CN" altLang="en-US" sz="28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zh-CN" altLang="en-US" sz="2800" dirty="0">
                <a:solidFill>
                  <a:schemeClr val="tx1"/>
                </a:solidFill>
              </a:rPr>
              <a:t>建议少用该修饰符。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29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29699" name="Rectangle 2"/>
          <p:cNvSpPr>
            <a:spLocks noGrp="1"/>
          </p:cNvSpPr>
          <p:nvPr>
            <p:ph type="title" idx="4294967295"/>
          </p:nvPr>
        </p:nvSpPr>
        <p:spPr>
          <a:xfrm>
            <a:off x="490856" y="332656"/>
            <a:ext cx="7772400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4.5.3 static</a:t>
            </a:r>
            <a:r>
              <a:rPr lang="zh-CN" altLang="en-US" dirty="0"/>
              <a:t>修饰的变量 </a:t>
            </a:r>
          </a:p>
        </p:txBody>
      </p:sp>
      <p:sp>
        <p:nvSpPr>
          <p:cNvPr id="29700" name="Text Box 4"/>
          <p:cNvSpPr txBox="1"/>
          <p:nvPr/>
        </p:nvSpPr>
        <p:spPr>
          <a:xfrm>
            <a:off x="2567608" y="1276667"/>
            <a:ext cx="5840095" cy="52622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void  fun ( )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{	</a:t>
            </a:r>
            <a:r>
              <a:rPr lang="en-US" altLang="zh-CN" dirty="0">
                <a:solidFill>
                  <a:srgbClr val="FF0000"/>
                </a:solidFill>
              </a:rPr>
              <a:t>static </a:t>
            </a:r>
            <a:r>
              <a:rPr lang="en-US" altLang="zh-CN" dirty="0">
                <a:solidFill>
                  <a:schemeClr val="tx1"/>
                </a:solidFill>
              </a:rPr>
              <a:t>int  a;         // </a:t>
            </a:r>
            <a:r>
              <a:rPr lang="zh-CN" altLang="en-US" dirty="0">
                <a:solidFill>
                  <a:schemeClr val="tx1"/>
                </a:solidFill>
              </a:rPr>
              <a:t>局部静态变量</a:t>
            </a:r>
          </a:p>
          <a:p>
            <a:pPr eaLnBrk="1" fontAlgn="t" hangingPunct="1"/>
            <a:r>
              <a:rPr lang="zh-CN" altLang="en-US" dirty="0">
                <a:solidFill>
                  <a:schemeClr val="tx1"/>
                </a:solidFill>
              </a:rPr>
              <a:t>	</a:t>
            </a:r>
            <a:r>
              <a:rPr lang="en-US" altLang="zh-CN" dirty="0">
                <a:solidFill>
                  <a:schemeClr val="tx1"/>
                </a:solidFill>
              </a:rPr>
              <a:t>int  b = 1;</a:t>
            </a:r>
          </a:p>
          <a:p>
            <a:pPr eaLnBrk="1" fontAlgn="t" hangingPunct="1"/>
            <a:endParaRPr lang="en-US" altLang="zh-CN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a++;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b++;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cout &lt;&lt; a&lt;&lt; setw(6)&lt;&lt;b&lt;&lt;endl;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}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int  main ( )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{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for( int  i = 0; i &lt; 5; i++)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	fun( );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return  0; 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}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701" name="AutoShape 7"/>
          <p:cNvSpPr/>
          <p:nvPr/>
        </p:nvSpPr>
        <p:spPr>
          <a:xfrm>
            <a:off x="2255967" y="1844824"/>
            <a:ext cx="217488" cy="2303463"/>
          </a:xfrm>
          <a:prstGeom prst="leftBrace">
            <a:avLst>
              <a:gd name="adj1" fmla="val 88211"/>
              <a:gd name="adj2" fmla="val 50000"/>
            </a:avLst>
          </a:prstGeom>
          <a:noFill/>
          <a:ln w="38100" cap="flat" cmpd="sng">
            <a:solidFill>
              <a:srgbClr val="C0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fontAlgn="t" hangingPunct="1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AutoShape 4"/>
          <p:cNvSpPr/>
          <p:nvPr/>
        </p:nvSpPr>
        <p:spPr>
          <a:xfrm>
            <a:off x="9144019" y="5517232"/>
            <a:ext cx="1334135" cy="355402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sz="2200" dirty="0">
                <a:solidFill>
                  <a:schemeClr val="tx1"/>
                </a:solidFill>
              </a:rPr>
              <a:t>Ex3-1.cpp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/>
          </p:cNvSpPr>
          <p:nvPr>
            <p:ph type="title"/>
          </p:nvPr>
        </p:nvSpPr>
        <p:spPr>
          <a:xfrm>
            <a:off x="623392" y="188640"/>
            <a:ext cx="10515600" cy="1325563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4.5.4 extern</a:t>
            </a:r>
            <a:r>
              <a:rPr lang="zh-CN" altLang="en-US" dirty="0"/>
              <a:t>修饰的变量 </a:t>
            </a:r>
          </a:p>
        </p:txBody>
      </p:sp>
      <p:sp>
        <p:nvSpPr>
          <p:cNvPr id="30724" name="Rectangle 4"/>
          <p:cNvSpPr>
            <a:spLocks noGrp="1"/>
          </p:cNvSpPr>
          <p:nvPr>
            <p:ph idx="1"/>
          </p:nvPr>
        </p:nvSpPr>
        <p:spPr>
          <a:xfrm>
            <a:off x="1487488" y="1416052"/>
            <a:ext cx="8153400" cy="1244600"/>
          </a:xfrm>
        </p:spPr>
        <p:txBody>
          <a:bodyPr vert="horz" wrap="square" lIns="91440" tIns="45720" rIns="91440" bIns="45720" anchor="t" anchorCtr="0"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extern</a:t>
            </a:r>
            <a:r>
              <a:rPr lang="zh-CN" altLang="en-US" sz="2800" dirty="0">
                <a:solidFill>
                  <a:schemeClr val="tx1"/>
                </a:solidFill>
              </a:rPr>
              <a:t>扩展全局变量的作用域，表现为：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(1) </a:t>
            </a:r>
            <a:r>
              <a:rPr lang="zh-CN" altLang="en-US" sz="2800" dirty="0">
                <a:solidFill>
                  <a:schemeClr val="tx1"/>
                </a:solidFill>
              </a:rPr>
              <a:t>将全局变量的作用域扩展到定义它之前。 </a:t>
            </a:r>
          </a:p>
        </p:txBody>
      </p:sp>
      <p:sp>
        <p:nvSpPr>
          <p:cNvPr id="3072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30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48133" name="Text Box 5"/>
          <p:cNvSpPr txBox="1"/>
          <p:nvPr/>
        </p:nvSpPr>
        <p:spPr>
          <a:xfrm>
            <a:off x="2711450" y="2997201"/>
            <a:ext cx="7416800" cy="3387725"/>
          </a:xfrm>
          <a:prstGeom prst="rect">
            <a:avLst/>
          </a:prstGeom>
          <a:noFill/>
          <a:ln w="19050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1	</a:t>
            </a:r>
            <a:r>
              <a:rPr lang="en-US" altLang="zh-CN" dirty="0">
                <a:solidFill>
                  <a:srgbClr val="FF0000"/>
                </a:solidFill>
              </a:rPr>
              <a:t>extern  </a:t>
            </a:r>
            <a:r>
              <a:rPr lang="en-US" altLang="zh-CN" dirty="0">
                <a:solidFill>
                  <a:schemeClr val="tx1"/>
                </a:solidFill>
              </a:rPr>
              <a:t>int  x,  y;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2	int  min(int a, int b)         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3	{	return a&lt;b?a:b;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4	}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5	int  main ( )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6	{	cout &lt;&lt; min(x,y);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7			return 0; 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8	}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9	</a:t>
            </a:r>
            <a:r>
              <a:rPr lang="en-US" altLang="zh-CN" dirty="0">
                <a:solidFill>
                  <a:srgbClr val="FF0000"/>
                </a:solidFill>
              </a:rPr>
              <a:t>int  </a:t>
            </a:r>
            <a:r>
              <a:rPr lang="fr-FR" altLang="zh-CN" dirty="0">
                <a:solidFill>
                  <a:srgbClr val="FF0000"/>
                </a:solidFill>
              </a:rPr>
              <a:t>x=3, y=5</a:t>
            </a:r>
            <a:r>
              <a:rPr lang="fr-FR" altLang="zh-CN" dirty="0">
                <a:solidFill>
                  <a:schemeClr val="tx1"/>
                </a:solidFill>
              </a:rPr>
              <a:t>; 	    // </a:t>
            </a:r>
            <a:r>
              <a:rPr lang="zh-CN" altLang="en-US" dirty="0">
                <a:solidFill>
                  <a:schemeClr val="tx1"/>
                </a:solidFill>
              </a:rPr>
              <a:t>定义全局变量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DE190C3-9DD8-0269-1019-9EF33AB2B1DC}"/>
              </a:ext>
            </a:extLst>
          </p:cNvPr>
          <p:cNvSpPr txBox="1"/>
          <p:nvPr/>
        </p:nvSpPr>
        <p:spPr>
          <a:xfrm>
            <a:off x="9319928" y="459047"/>
            <a:ext cx="2370112" cy="23698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变量定义与申明的区别：</a:t>
            </a:r>
            <a:endParaRPr lang="en-US" altLang="zh-CN" dirty="0">
              <a:solidFill>
                <a:schemeClr val="bg1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7A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定义时会为变量分配内存</a:t>
            </a:r>
            <a:endParaRPr lang="en-US" altLang="zh-CN" sz="2000" dirty="0">
              <a:solidFill>
                <a:srgbClr val="7A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7A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申明则无分配行为，只说明变量在其他地方定义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3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/>
          </p:cNvSpPr>
          <p:nvPr>
            <p:ph type="title"/>
          </p:nvPr>
        </p:nvSpPr>
        <p:spPr>
          <a:xfrm>
            <a:off x="484188" y="112532"/>
            <a:ext cx="7772400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4.5.4 extern</a:t>
            </a:r>
            <a:r>
              <a:rPr lang="zh-CN" altLang="en-US" dirty="0"/>
              <a:t>修饰的变量 </a:t>
            </a:r>
          </a:p>
        </p:txBody>
      </p:sp>
      <p:sp>
        <p:nvSpPr>
          <p:cNvPr id="31748" name="Rectangle 3"/>
          <p:cNvSpPr>
            <a:spLocks noGrp="1"/>
          </p:cNvSpPr>
          <p:nvPr>
            <p:ph idx="1"/>
          </p:nvPr>
        </p:nvSpPr>
        <p:spPr>
          <a:xfrm>
            <a:off x="1415480" y="1172309"/>
            <a:ext cx="8153400" cy="1244600"/>
          </a:xfrm>
        </p:spPr>
        <p:txBody>
          <a:bodyPr vert="horz" wrap="square" lIns="91440" tIns="45720" rIns="91440" bIns="45720" anchor="t" anchorCtr="0"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extern</a:t>
            </a:r>
            <a:r>
              <a:rPr lang="zh-CN" altLang="en-US" sz="2800" dirty="0">
                <a:solidFill>
                  <a:schemeClr val="tx1"/>
                </a:solidFill>
              </a:rPr>
              <a:t>扩展全局变量的作用域，表现为：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(2) </a:t>
            </a:r>
            <a:r>
              <a:rPr lang="zh-CN" altLang="en-US" sz="2800" dirty="0">
                <a:solidFill>
                  <a:schemeClr val="tx1"/>
                </a:solidFill>
              </a:rPr>
              <a:t>将全局变量</a:t>
            </a:r>
            <a:r>
              <a:rPr lang="en-US" altLang="zh-CN" sz="2800" dirty="0">
                <a:solidFill>
                  <a:schemeClr val="tx1"/>
                </a:solidFill>
              </a:rPr>
              <a:t>(</a:t>
            </a:r>
            <a:r>
              <a:rPr lang="zh-CN" altLang="en-US" sz="2800" dirty="0">
                <a:solidFill>
                  <a:schemeClr val="tx1"/>
                </a:solidFill>
              </a:rPr>
              <a:t>函数</a:t>
            </a:r>
            <a:r>
              <a:rPr lang="en-US" altLang="zh-CN" sz="2800" dirty="0">
                <a:solidFill>
                  <a:schemeClr val="tx1"/>
                </a:solidFill>
              </a:rPr>
              <a:t>)</a:t>
            </a:r>
            <a:r>
              <a:rPr lang="zh-CN" altLang="en-US" sz="2800" dirty="0">
                <a:solidFill>
                  <a:schemeClr val="tx1"/>
                </a:solidFill>
              </a:rPr>
              <a:t>的作用域扩展到其他文件。  </a:t>
            </a:r>
          </a:p>
        </p:txBody>
      </p:sp>
      <p:sp>
        <p:nvSpPr>
          <p:cNvPr id="3174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31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50180" name="Text Box 4"/>
          <p:cNvSpPr txBox="1"/>
          <p:nvPr/>
        </p:nvSpPr>
        <p:spPr>
          <a:xfrm>
            <a:off x="2062958" y="2333685"/>
            <a:ext cx="3744913" cy="4524315"/>
          </a:xfrm>
          <a:prstGeom prst="rect">
            <a:avLst/>
          </a:prstGeom>
          <a:noFill/>
          <a:ln w="158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// ex3-a.cpp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#include &lt;</a:t>
            </a:r>
            <a:r>
              <a:rPr lang="en-US" altLang="zh-CN" dirty="0" err="1">
                <a:solidFill>
                  <a:schemeClr val="tx1"/>
                </a:solidFill>
              </a:rPr>
              <a:t>iostream</a:t>
            </a:r>
            <a:r>
              <a:rPr lang="en-US" altLang="zh-CN" dirty="0">
                <a:solidFill>
                  <a:schemeClr val="tx1"/>
                </a:solidFill>
              </a:rPr>
              <a:t>&gt;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en-US" altLang="zh-CN" dirty="0">
                <a:solidFill>
                  <a:schemeClr val="tx1"/>
                </a:solidFill>
              </a:rPr>
              <a:t>#include"ex3-b.cpp"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en-US" altLang="zh-CN" dirty="0">
                <a:solidFill>
                  <a:schemeClr val="tx1"/>
                </a:solidFill>
              </a:rPr>
              <a:t>using namespace </a:t>
            </a:r>
            <a:r>
              <a:rPr lang="en-US" altLang="zh-CN" dirty="0" err="1">
                <a:solidFill>
                  <a:schemeClr val="tx1"/>
                </a:solidFill>
              </a:rPr>
              <a:t>std</a:t>
            </a:r>
            <a:r>
              <a:rPr lang="en-US" altLang="zh-CN" dirty="0">
                <a:solidFill>
                  <a:schemeClr val="tx1"/>
                </a:solidFill>
              </a:rPr>
              <a:t>;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en-US" altLang="zh-CN" dirty="0" err="1">
                <a:solidFill>
                  <a:schemeClr val="tx1"/>
                </a:solidFill>
              </a:rPr>
              <a:t>int</a:t>
            </a:r>
            <a:r>
              <a:rPr lang="en-US" altLang="zh-CN" dirty="0">
                <a:solidFill>
                  <a:schemeClr val="tx1"/>
                </a:solidFill>
              </a:rPr>
              <a:t>   x=3, y=5;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en-US" altLang="zh-CN" dirty="0">
                <a:solidFill>
                  <a:schemeClr val="tx1"/>
                </a:solidFill>
              </a:rPr>
              <a:t>extern </a:t>
            </a:r>
            <a:r>
              <a:rPr lang="en-US" altLang="zh-CN" dirty="0" err="1">
                <a:solidFill>
                  <a:schemeClr val="tx1"/>
                </a:solidFill>
              </a:rPr>
              <a:t>int</a:t>
            </a:r>
            <a:r>
              <a:rPr lang="en-US" altLang="zh-CN" dirty="0">
                <a:solidFill>
                  <a:schemeClr val="tx1"/>
                </a:solidFill>
              </a:rPr>
              <a:t> add( );   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en-US" altLang="zh-CN" dirty="0" err="1">
                <a:solidFill>
                  <a:schemeClr val="tx1"/>
                </a:solidFill>
              </a:rPr>
              <a:t>int</a:t>
            </a:r>
            <a:r>
              <a:rPr lang="en-US" altLang="zh-CN" dirty="0">
                <a:solidFill>
                  <a:schemeClr val="tx1"/>
                </a:solidFill>
              </a:rPr>
              <a:t> main ( )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en-US" altLang="zh-CN" dirty="0">
                <a:solidFill>
                  <a:schemeClr val="tx1"/>
                </a:solidFill>
              </a:rPr>
              <a:t>{    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en-US" altLang="zh-CN" dirty="0">
                <a:solidFill>
                  <a:schemeClr val="tx1"/>
                </a:solidFill>
              </a:rPr>
              <a:t>    </a:t>
            </a:r>
            <a:r>
              <a:rPr lang="en-US" altLang="zh-CN" dirty="0" err="1">
                <a:solidFill>
                  <a:schemeClr val="tx1"/>
                </a:solidFill>
              </a:rPr>
              <a:t>cout</a:t>
            </a:r>
            <a:r>
              <a:rPr lang="en-US" altLang="zh-CN" dirty="0">
                <a:solidFill>
                  <a:schemeClr val="tx1"/>
                </a:solidFill>
              </a:rPr>
              <a:t> &lt;&lt; add( ) &lt;&lt; </a:t>
            </a:r>
            <a:r>
              <a:rPr lang="en-US" altLang="zh-CN" dirty="0" err="1">
                <a:solidFill>
                  <a:schemeClr val="tx1"/>
                </a:solidFill>
              </a:rPr>
              <a:t>endl</a:t>
            </a:r>
            <a:r>
              <a:rPr lang="en-US" altLang="zh-CN" dirty="0">
                <a:solidFill>
                  <a:schemeClr val="tx1"/>
                </a:solidFill>
              </a:rPr>
              <a:t>;</a:t>
            </a:r>
            <a:br>
              <a:rPr lang="en-US" altLang="zh-CN" dirty="0">
                <a:solidFill>
                  <a:schemeClr val="tx1"/>
                </a:solidFill>
              </a:rPr>
            </a:br>
            <a:br>
              <a:rPr lang="en-US" altLang="zh-CN" dirty="0">
                <a:solidFill>
                  <a:schemeClr val="tx1"/>
                </a:solidFill>
              </a:rPr>
            </a:br>
            <a:r>
              <a:rPr lang="en-US" altLang="zh-CN" dirty="0">
                <a:solidFill>
                  <a:schemeClr val="tx1"/>
                </a:solidFill>
              </a:rPr>
              <a:t>    return 0; 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en-US" altLang="zh-CN" dirty="0">
                <a:solidFill>
                  <a:schemeClr val="tx1"/>
                </a:solidFill>
              </a:rPr>
              <a:t>}  </a:t>
            </a:r>
            <a:endParaRPr lang="fr-FR" altLang="zh-CN" dirty="0">
              <a:solidFill>
                <a:schemeClr val="tx1"/>
              </a:solidFill>
            </a:endParaRPr>
          </a:p>
        </p:txBody>
      </p:sp>
      <p:sp>
        <p:nvSpPr>
          <p:cNvPr id="50181" name="Text Box 5"/>
          <p:cNvSpPr txBox="1"/>
          <p:nvPr/>
        </p:nvSpPr>
        <p:spPr>
          <a:xfrm>
            <a:off x="6240464" y="2749551"/>
            <a:ext cx="3743325" cy="3387725"/>
          </a:xfrm>
          <a:prstGeom prst="rect">
            <a:avLst/>
          </a:prstGeom>
          <a:noFill/>
          <a:ln w="158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fontAlgn="t" hangingPunct="1"/>
            <a:r>
              <a:rPr lang="fr-FR" altLang="zh-CN" dirty="0">
                <a:solidFill>
                  <a:schemeClr val="tx1"/>
                </a:solidFill>
              </a:rPr>
              <a:t>// </a:t>
            </a:r>
            <a:r>
              <a:rPr lang="en-US" altLang="zh-CN" dirty="0">
                <a:solidFill>
                  <a:schemeClr val="tx1"/>
                </a:solidFill>
              </a:rPr>
              <a:t>e</a:t>
            </a:r>
            <a:r>
              <a:rPr lang="fr-FR" altLang="zh-CN" dirty="0">
                <a:solidFill>
                  <a:schemeClr val="tx1"/>
                </a:solidFill>
              </a:rPr>
              <a:t>x3-b.cpp</a:t>
            </a:r>
          </a:p>
          <a:p>
            <a:pPr eaLnBrk="1" fontAlgn="t" hangingPunct="1"/>
            <a:endParaRPr lang="fr-FR" altLang="zh-CN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fr-FR" altLang="zh-CN" dirty="0">
                <a:solidFill>
                  <a:srgbClr val="0000FF"/>
                </a:solidFill>
              </a:rPr>
              <a:t>extern  int  x, y;</a:t>
            </a:r>
            <a:endParaRPr lang="en-US" altLang="zh-CN" dirty="0">
              <a:solidFill>
                <a:srgbClr val="0000FF"/>
              </a:solidFill>
            </a:endParaRPr>
          </a:p>
          <a:p>
            <a:pPr eaLnBrk="1" fontAlgn="t" hangingPunct="1"/>
            <a:endParaRPr lang="en-US" altLang="zh-CN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dirty="0">
                <a:solidFill>
                  <a:srgbClr val="FF0000"/>
                </a:solidFill>
              </a:rPr>
              <a:t>int  add( ) </a:t>
            </a:r>
            <a:r>
              <a:rPr lang="en-US" altLang="zh-CN" dirty="0">
                <a:solidFill>
                  <a:schemeClr val="tx1"/>
                </a:solidFill>
              </a:rPr>
              <a:t>        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{	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return x+y;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}</a:t>
            </a:r>
          </a:p>
          <a:p>
            <a:pPr eaLnBrk="1" fontAlgn="t" hangingPunct="1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1751" name="AutoShape 6"/>
          <p:cNvSpPr/>
          <p:nvPr/>
        </p:nvSpPr>
        <p:spPr>
          <a:xfrm>
            <a:off x="3792539" y="6238875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dirty="0">
                <a:solidFill>
                  <a:schemeClr val="tx1"/>
                </a:solidFill>
              </a:rPr>
              <a:t>ex3-a.cpp</a:t>
            </a:r>
          </a:p>
        </p:txBody>
      </p:sp>
      <p:sp>
        <p:nvSpPr>
          <p:cNvPr id="31752" name="AutoShape 7"/>
          <p:cNvSpPr/>
          <p:nvPr/>
        </p:nvSpPr>
        <p:spPr>
          <a:xfrm>
            <a:off x="7464426" y="6251575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dirty="0">
                <a:solidFill>
                  <a:schemeClr val="tx1"/>
                </a:solidFill>
              </a:rPr>
              <a:t>ex3-b.cpp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0" grpId="0" bldLvl="0" animBg="1"/>
      <p:bldP spid="50181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/>
          </p:cNvSpPr>
          <p:nvPr>
            <p:ph type="title"/>
          </p:nvPr>
        </p:nvSpPr>
        <p:spPr>
          <a:xfrm>
            <a:off x="551384" y="210263"/>
            <a:ext cx="7772400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4.6 </a:t>
            </a:r>
            <a:r>
              <a:rPr lang="zh-CN" altLang="en-US" dirty="0"/>
              <a:t>默认值参数 </a:t>
            </a:r>
          </a:p>
        </p:txBody>
      </p:sp>
      <p:sp>
        <p:nvSpPr>
          <p:cNvPr id="32772" name="Rectangle 3"/>
          <p:cNvSpPr>
            <a:spLocks noGrp="1"/>
          </p:cNvSpPr>
          <p:nvPr>
            <p:ph idx="1"/>
          </p:nvPr>
        </p:nvSpPr>
        <p:spPr>
          <a:xfrm>
            <a:off x="821392" y="1212615"/>
            <a:ext cx="10515600" cy="4351338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sz="2600" dirty="0">
                <a:solidFill>
                  <a:schemeClr val="tx1"/>
                </a:solidFill>
              </a:rPr>
              <a:t>默认参数也称缺省参数。</a:t>
            </a:r>
            <a:r>
              <a:rPr lang="zh-CN" altLang="en-US" sz="2400" dirty="0"/>
              <a:t>可以为函数的形式参数指定默认值，在函数调用时可省略函数实参</a:t>
            </a:r>
            <a:r>
              <a:rPr lang="zh-CN" altLang="en-US" sz="2600" dirty="0">
                <a:solidFill>
                  <a:schemeClr val="tx1"/>
                </a:solidFill>
              </a:rPr>
              <a:t>，直接将把参数的缺省值赋给函数形参。</a:t>
            </a:r>
          </a:p>
        </p:txBody>
      </p:sp>
      <p:sp>
        <p:nvSpPr>
          <p:cNvPr id="3277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32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32774" name="AutoShape 5"/>
          <p:cNvSpPr/>
          <p:nvPr/>
        </p:nvSpPr>
        <p:spPr>
          <a:xfrm>
            <a:off x="10344472" y="6302499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dirty="0">
                <a:solidFill>
                  <a:schemeClr val="tx1"/>
                </a:solidFill>
              </a:rPr>
              <a:t>3-6-1.cpp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360" y="6034107"/>
            <a:ext cx="7638070" cy="71179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214344" y="1966289"/>
            <a:ext cx="10536832" cy="4154984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iostream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using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namespace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7D17"/>
                </a:solidFill>
                <a:latin typeface="consolas" panose="020B0609020204030204" pitchFamily="49" charset="0"/>
              </a:rPr>
              <a:t>std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a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b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c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a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b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c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"1+2 = 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"1+2+3 = 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"1+2+3+4 = 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4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endParaRPr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71464" y="282530"/>
            <a:ext cx="84861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0" dirty="0">
                <a:solidFill>
                  <a:srgbClr val="002060"/>
                </a:solidFill>
              </a:rPr>
              <a:t>注意</a:t>
            </a:r>
            <a:r>
              <a:rPr lang="en-US" altLang="zh-CN" b="0" dirty="0">
                <a:solidFill>
                  <a:srgbClr val="002060"/>
                </a:solidFill>
              </a:rPr>
              <a:t>1</a:t>
            </a:r>
            <a:r>
              <a:rPr lang="zh-CN" altLang="en-US" b="0" dirty="0">
                <a:solidFill>
                  <a:srgbClr val="002060"/>
                </a:solidFill>
              </a:rPr>
              <a:t>：</a:t>
            </a:r>
            <a:r>
              <a:rPr lang="zh-CN" altLang="en-US" b="0" dirty="0">
                <a:solidFill>
                  <a:schemeClr val="tx1"/>
                </a:solidFill>
              </a:rPr>
              <a:t>如果程序是先声明后定义，则只允许在</a:t>
            </a:r>
            <a:r>
              <a:rPr lang="zh-CN" altLang="en-US" b="0" dirty="0">
                <a:solidFill>
                  <a:srgbClr val="FF0000"/>
                </a:solidFill>
              </a:rPr>
              <a:t>声明中提供形参的默认值</a:t>
            </a:r>
            <a:r>
              <a:rPr lang="zh-CN" altLang="en-US" b="0" dirty="0">
                <a:solidFill>
                  <a:schemeClr val="tx1"/>
                </a:solidFill>
              </a:rPr>
              <a:t>。</a:t>
            </a:r>
          </a:p>
        </p:txBody>
      </p:sp>
      <p:sp>
        <p:nvSpPr>
          <p:cNvPr id="6" name="矩形 5"/>
          <p:cNvSpPr/>
          <p:nvPr/>
        </p:nvSpPr>
        <p:spPr>
          <a:xfrm>
            <a:off x="1415480" y="1412776"/>
            <a:ext cx="9361040" cy="5262979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  <a:t>//Project - </a:t>
            </a:r>
            <a:r>
              <a:rPr lang="en-US" altLang="zh-CN" i="1" dirty="0" err="1">
                <a:solidFill>
                  <a:srgbClr val="8C8C8C"/>
                </a:solidFill>
                <a:latin typeface="consolas" panose="020B0609020204030204" pitchFamily="49" charset="0"/>
              </a:rPr>
              <a:t>DefaultParameter</a:t>
            </a:r>
            <a:b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iostream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using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namespace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7D17"/>
                </a:solidFill>
                <a:latin typeface="consolas" panose="020B0609020204030204" pitchFamily="49" charset="0"/>
              </a:rPr>
              <a:t>std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a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b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c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()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"1+2 = 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"1+2+3 = 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"1+2+3+4 = 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4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a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b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c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a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b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c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50928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432044" y="836712"/>
            <a:ext cx="9195200" cy="6568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0" dirty="0">
                <a:solidFill>
                  <a:srgbClr val="002060"/>
                </a:solidFill>
              </a:rPr>
              <a:t>注意</a:t>
            </a:r>
            <a:r>
              <a:rPr lang="en-US" altLang="zh-CN" sz="2800" b="0" dirty="0">
                <a:solidFill>
                  <a:srgbClr val="002060"/>
                </a:solidFill>
              </a:rPr>
              <a:t>2</a:t>
            </a:r>
            <a:r>
              <a:rPr lang="zh-CN" altLang="en-US" sz="2800" b="0" dirty="0">
                <a:solidFill>
                  <a:srgbClr val="002060"/>
                </a:solidFill>
              </a:rPr>
              <a:t>：</a:t>
            </a:r>
            <a:r>
              <a:rPr lang="zh-CN" altLang="en-US" b="0" dirty="0">
                <a:solidFill>
                  <a:schemeClr val="tx1"/>
                </a:solidFill>
              </a:rPr>
              <a:t>为函数提供的形参默认值只能提供给形参列表的</a:t>
            </a:r>
            <a:r>
              <a:rPr lang="zh-CN" altLang="en-US" b="0" dirty="0">
                <a:solidFill>
                  <a:srgbClr val="FF0000"/>
                </a:solidFill>
              </a:rPr>
              <a:t>最后 </a:t>
            </a:r>
            <a:r>
              <a:rPr lang="en-US" altLang="zh-CN" b="0" dirty="0">
                <a:solidFill>
                  <a:srgbClr val="FF0000"/>
                </a:solidFill>
              </a:rPr>
              <a:t>N </a:t>
            </a:r>
            <a:r>
              <a:rPr lang="zh-CN" altLang="en-US" b="0" dirty="0">
                <a:solidFill>
                  <a:srgbClr val="FF0000"/>
                </a:solidFill>
              </a:rPr>
              <a:t>个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/>
          <a:srcRect r="17314"/>
          <a:stretch/>
        </p:blipFill>
        <p:spPr>
          <a:xfrm>
            <a:off x="263352" y="2661062"/>
            <a:ext cx="11778960" cy="1154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2303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/>
          </p:cNvSpPr>
          <p:nvPr>
            <p:ph type="title"/>
          </p:nvPr>
        </p:nvSpPr>
        <p:spPr>
          <a:xfrm>
            <a:off x="838200" y="260648"/>
            <a:ext cx="10515600" cy="1325563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4.7  </a:t>
            </a:r>
            <a:r>
              <a:rPr lang="zh-CN" altLang="en-US" dirty="0"/>
              <a:t>引用作参数 </a:t>
            </a:r>
          </a:p>
        </p:txBody>
      </p:sp>
      <p:sp>
        <p:nvSpPr>
          <p:cNvPr id="34820" name="Rectangle 3"/>
          <p:cNvSpPr>
            <a:spLocks noGrp="1"/>
          </p:cNvSpPr>
          <p:nvPr>
            <p:ph idx="1"/>
          </p:nvPr>
        </p:nvSpPr>
        <p:spPr>
          <a:xfrm>
            <a:off x="767408" y="1453059"/>
            <a:ext cx="11234464" cy="5301208"/>
          </a:xfrm>
        </p:spPr>
        <p:txBody>
          <a:bodyPr vert="horz" wrap="square" lIns="91440" tIns="45720" rIns="91440" bIns="45720" anchor="t" anchorCtr="0">
            <a:normAutofit fontScale="85000" lnSpcReduction="10000"/>
          </a:bodyPr>
          <a:lstStyle/>
          <a:p>
            <a:pPr eaLnBrk="1" hangingPunct="1"/>
            <a:r>
              <a:rPr lang="en-US" altLang="zh-CN" sz="2800" dirty="0">
                <a:solidFill>
                  <a:schemeClr val="tx1"/>
                </a:solidFill>
              </a:rPr>
              <a:t>C++</a:t>
            </a:r>
            <a:r>
              <a:rPr lang="zh-CN" altLang="en-US" sz="2800" dirty="0">
                <a:solidFill>
                  <a:schemeClr val="tx1"/>
                </a:solidFill>
              </a:rPr>
              <a:t>支持按值传递、按引用传递。</a:t>
            </a:r>
          </a:p>
          <a:p>
            <a:pPr eaLnBrk="1" hangingPunct="1"/>
            <a:r>
              <a:rPr lang="zh-CN" altLang="en-US" sz="2800" dirty="0">
                <a:solidFill>
                  <a:schemeClr val="tx1"/>
                </a:solidFill>
              </a:rPr>
              <a:t>引用不是定义一个新的变量，而是给一个已经定义过的变量重新取个名（别名）。</a:t>
            </a:r>
          </a:p>
          <a:p>
            <a:pPr eaLnBrk="1" hangingPunct="1"/>
            <a:r>
              <a:rPr lang="zh-CN" altLang="en-US" sz="2800" dirty="0">
                <a:solidFill>
                  <a:schemeClr val="tx1"/>
                </a:solidFill>
              </a:rPr>
              <a:t>通过引用做参数，可以修改调用函数中的变量。</a:t>
            </a: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1</a:t>
            </a:r>
            <a:r>
              <a:rPr lang="zh-CN" altLang="en-US" sz="2800" dirty="0">
                <a:solidFill>
                  <a:schemeClr val="tx1"/>
                </a:solidFill>
              </a:rPr>
              <a:t>：</a:t>
            </a:r>
          </a:p>
          <a:p>
            <a:pPr>
              <a:lnSpc>
                <a:spcPct val="16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	    </a:t>
            </a:r>
            <a:r>
              <a:rPr lang="fr-FR" altLang="zh-CN" b="1" dirty="0"/>
              <a:t>int</a:t>
            </a:r>
            <a:r>
              <a:rPr lang="fr-FR" altLang="zh-CN" dirty="0"/>
              <a:t> x</a:t>
            </a:r>
            <a:r>
              <a:rPr lang="fr-FR" altLang="zh-CN" b="1" dirty="0"/>
              <a:t>=</a:t>
            </a:r>
            <a:r>
              <a:rPr lang="fr-FR" altLang="zh-CN" dirty="0"/>
              <a:t>5</a:t>
            </a:r>
            <a:r>
              <a:rPr lang="fr-FR" altLang="zh-CN" b="1" dirty="0"/>
              <a:t>;</a:t>
            </a:r>
            <a:br>
              <a:rPr lang="fr-FR" altLang="zh-CN" b="1" dirty="0"/>
            </a:br>
            <a:r>
              <a:rPr lang="fr-FR" altLang="zh-CN" dirty="0"/>
              <a:t>    cout</a:t>
            </a:r>
            <a:r>
              <a:rPr lang="fr-FR" altLang="zh-CN" b="1" dirty="0"/>
              <a:t>&lt;&lt;"x="&lt;&lt;</a:t>
            </a:r>
            <a:r>
              <a:rPr lang="fr-FR" altLang="zh-CN" dirty="0"/>
              <a:t>x</a:t>
            </a:r>
            <a:r>
              <a:rPr lang="fr-FR" altLang="zh-CN" b="1" dirty="0"/>
              <a:t>&lt;&lt;</a:t>
            </a:r>
            <a:r>
              <a:rPr lang="fr-FR" altLang="zh-CN" dirty="0"/>
              <a:t>endl</a:t>
            </a:r>
            <a:r>
              <a:rPr lang="fr-FR" altLang="zh-CN" b="1" dirty="0"/>
              <a:t>;</a:t>
            </a:r>
            <a:br>
              <a:rPr lang="fr-FR" altLang="zh-CN" b="1" dirty="0"/>
            </a:br>
            <a:r>
              <a:rPr lang="fr-FR" altLang="zh-CN" dirty="0"/>
              <a:t>    </a:t>
            </a:r>
            <a:r>
              <a:rPr lang="fr-FR" altLang="zh-CN" b="1" dirty="0">
                <a:solidFill>
                  <a:srgbClr val="FF0000"/>
                </a:solidFill>
              </a:rPr>
              <a:t>int&amp;</a:t>
            </a:r>
            <a:r>
              <a:rPr lang="fr-FR" altLang="zh-CN" dirty="0">
                <a:solidFill>
                  <a:srgbClr val="FF0000"/>
                </a:solidFill>
              </a:rPr>
              <a:t> y</a:t>
            </a:r>
            <a:r>
              <a:rPr lang="fr-FR" altLang="zh-CN" b="1" dirty="0">
                <a:solidFill>
                  <a:srgbClr val="FF0000"/>
                </a:solidFill>
              </a:rPr>
              <a:t>=</a:t>
            </a:r>
            <a:r>
              <a:rPr lang="fr-FR" altLang="zh-CN" dirty="0">
                <a:solidFill>
                  <a:srgbClr val="FF0000"/>
                </a:solidFill>
              </a:rPr>
              <a:t>x</a:t>
            </a:r>
            <a:r>
              <a:rPr lang="fr-FR" altLang="zh-CN" b="1" dirty="0">
                <a:solidFill>
                  <a:srgbClr val="FF0000"/>
                </a:solidFill>
              </a:rPr>
              <a:t>;</a:t>
            </a:r>
            <a:br>
              <a:rPr lang="fr-FR" altLang="zh-CN" b="1" dirty="0"/>
            </a:br>
            <a:r>
              <a:rPr lang="fr-FR" altLang="zh-CN" dirty="0"/>
              <a:t>    cout</a:t>
            </a:r>
            <a:r>
              <a:rPr lang="fr-FR" altLang="zh-CN" b="1" dirty="0"/>
              <a:t>&lt;&lt;"y="&lt;&lt;</a:t>
            </a:r>
            <a:r>
              <a:rPr lang="fr-FR" altLang="zh-CN" dirty="0"/>
              <a:t>y</a:t>
            </a:r>
            <a:r>
              <a:rPr lang="fr-FR" altLang="zh-CN" b="1" dirty="0"/>
              <a:t>&lt;&lt;</a:t>
            </a:r>
            <a:r>
              <a:rPr lang="fr-FR" altLang="zh-CN" dirty="0"/>
              <a:t>endl</a:t>
            </a:r>
            <a:r>
              <a:rPr lang="fr-FR" altLang="zh-CN" b="1" dirty="0"/>
              <a:t>;</a:t>
            </a:r>
            <a:br>
              <a:rPr lang="fr-FR" altLang="zh-CN" b="1" dirty="0"/>
            </a:br>
            <a:r>
              <a:rPr lang="fr-FR" altLang="zh-CN" dirty="0"/>
              <a:t>    y</a:t>
            </a:r>
            <a:r>
              <a:rPr lang="fr-FR" altLang="zh-CN" b="1" dirty="0"/>
              <a:t>++;</a:t>
            </a:r>
            <a:br>
              <a:rPr lang="fr-FR" altLang="zh-CN" b="1" dirty="0"/>
            </a:br>
            <a:r>
              <a:rPr lang="fr-FR" altLang="zh-CN" dirty="0"/>
              <a:t>    cout</a:t>
            </a:r>
            <a:r>
              <a:rPr lang="fr-FR" altLang="zh-CN" b="1" dirty="0"/>
              <a:t>&lt;&lt;"x="&lt;&lt;</a:t>
            </a:r>
            <a:r>
              <a:rPr lang="fr-FR" altLang="zh-CN" dirty="0"/>
              <a:t>x</a:t>
            </a:r>
            <a:r>
              <a:rPr lang="fr-FR" altLang="zh-CN" b="1" dirty="0"/>
              <a:t>&lt;&lt;</a:t>
            </a:r>
            <a:r>
              <a:rPr lang="fr-FR" altLang="zh-CN" dirty="0"/>
              <a:t>endl</a:t>
            </a:r>
            <a:r>
              <a:rPr lang="fr-FR" altLang="zh-CN" b="1" dirty="0"/>
              <a:t>;</a:t>
            </a:r>
            <a:r>
              <a:rPr lang="fr-FR" altLang="zh-CN" dirty="0"/>
              <a:t>     </a:t>
            </a:r>
            <a:r>
              <a:rPr lang="en-US" altLang="zh-CN" sz="2800" dirty="0">
                <a:solidFill>
                  <a:schemeClr val="tx1"/>
                </a:solidFill>
              </a:rPr>
              <a:t>   	 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3481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35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344472" y="6302499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dirty="0">
                <a:solidFill>
                  <a:schemeClr val="tx1"/>
                </a:solidFill>
              </a:rPr>
              <a:t>3-7-1.cpp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071664" y="247288"/>
            <a:ext cx="6096000" cy="267765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fr-FR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void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swap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fr-FR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&amp;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x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fr-FR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&amp;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y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b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fr-FR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t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b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t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b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x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y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b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y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t</a:t>
            </a: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br>
              <a:rPr lang="fr-FR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fr-FR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r>
              <a:rPr lang="fr-FR" altLang="zh-CN" dirty="0">
                <a:solidFill>
                  <a:srgbClr val="000000"/>
                </a:solidFill>
              </a:rPr>
              <a:t> 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343472" y="2955716"/>
            <a:ext cx="9721080" cy="378565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a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10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20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"before swap(main):"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setw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6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a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setw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6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b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swap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"after swap(main):"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setw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6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a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setw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6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b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system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"pause"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581061" y="476672"/>
            <a:ext cx="2659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例：交换两个数。</a:t>
            </a:r>
          </a:p>
        </p:txBody>
      </p:sp>
      <p:sp>
        <p:nvSpPr>
          <p:cNvPr id="7" name="AutoShape 5"/>
          <p:cNvSpPr/>
          <p:nvPr/>
        </p:nvSpPr>
        <p:spPr>
          <a:xfrm>
            <a:off x="9408368" y="6237312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dirty="0">
                <a:solidFill>
                  <a:schemeClr val="tx1"/>
                </a:solidFill>
              </a:rPr>
              <a:t>3-7-2.cpp</a:t>
            </a:r>
          </a:p>
        </p:txBody>
      </p:sp>
    </p:spTree>
    <p:extLst>
      <p:ext uri="{BB962C8B-B14F-4D97-AF65-F5344CB8AC3E}">
        <p14:creationId xmlns:p14="http://schemas.microsoft.com/office/powerpoint/2010/main" val="38701339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4"/>
          <p:cNvSpPr txBox="1"/>
          <p:nvPr/>
        </p:nvSpPr>
        <p:spPr>
          <a:xfrm>
            <a:off x="1847528" y="221316"/>
            <a:ext cx="7993063" cy="408111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fontAlgn="t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void  doubleNum ( int  &amp; ) ;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void  getNum ( int  &amp; ) ;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int  main ( )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{   int  value ;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getNum ( value ) ;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doubleNum ( value ) ;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cout &lt;&lt; "</a:t>
            </a:r>
            <a:r>
              <a:rPr lang="zh-CN" altLang="en-US" dirty="0">
                <a:solidFill>
                  <a:schemeClr val="tx1"/>
                </a:solidFill>
              </a:rPr>
              <a:t>乘以 </a:t>
            </a:r>
            <a:r>
              <a:rPr lang="en-US" altLang="zh-CN" dirty="0">
                <a:solidFill>
                  <a:schemeClr val="tx1"/>
                </a:solidFill>
              </a:rPr>
              <a:t>2 </a:t>
            </a:r>
            <a:r>
              <a:rPr lang="zh-CN" altLang="en-US" dirty="0">
                <a:solidFill>
                  <a:schemeClr val="tx1"/>
                </a:solidFill>
              </a:rPr>
              <a:t>以后的结果是：</a:t>
            </a:r>
            <a:r>
              <a:rPr lang="en-US" altLang="zh-CN" dirty="0">
                <a:solidFill>
                  <a:schemeClr val="tx1"/>
                </a:solidFill>
              </a:rPr>
              <a:t>" &lt;&lt; value &lt;&lt; endl ; 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return 0; 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35843" name="Text Box 5"/>
          <p:cNvSpPr txBox="1"/>
          <p:nvPr/>
        </p:nvSpPr>
        <p:spPr>
          <a:xfrm>
            <a:off x="6168008" y="4641850"/>
            <a:ext cx="4464050" cy="2000250"/>
          </a:xfrm>
          <a:prstGeom prst="rect">
            <a:avLst/>
          </a:prstGeom>
          <a:noFill/>
          <a:ln w="15875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fontAlgn="t" hangingPunct="1">
              <a:lnSpc>
                <a:spcPct val="130000"/>
              </a:lnSpc>
            </a:pPr>
            <a:r>
              <a:rPr lang="en-US" altLang="zh-CN" dirty="0">
                <a:solidFill>
                  <a:schemeClr val="tx1"/>
                </a:solidFill>
              </a:rPr>
              <a:t>void  doubleNum ( int  &amp;refVar)</a:t>
            </a:r>
          </a:p>
          <a:p>
            <a:pPr eaLnBrk="1" fontAlgn="t" hangingPunct="1">
              <a:lnSpc>
                <a:spcPct val="130000"/>
              </a:lnSpc>
            </a:pPr>
            <a:r>
              <a:rPr lang="en-US" altLang="zh-CN" dirty="0">
                <a:solidFill>
                  <a:schemeClr val="tx1"/>
                </a:solidFill>
              </a:rPr>
              <a:t>{</a:t>
            </a:r>
          </a:p>
          <a:p>
            <a:pPr eaLnBrk="1" fontAlgn="t" hangingPunct="1">
              <a:lnSpc>
                <a:spcPct val="13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   refVar *= 2 ;</a:t>
            </a:r>
          </a:p>
          <a:p>
            <a:pPr eaLnBrk="1" fontAlgn="t" hangingPunct="1">
              <a:lnSpc>
                <a:spcPct val="130000"/>
              </a:lnSpc>
            </a:pPr>
            <a:r>
              <a:rPr lang="en-US" altLang="zh-CN" dirty="0">
                <a:solidFill>
                  <a:schemeClr val="tx1"/>
                </a:solidFill>
              </a:rPr>
              <a:t>}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5844" name="Text Box 6"/>
          <p:cNvSpPr txBox="1"/>
          <p:nvPr/>
        </p:nvSpPr>
        <p:spPr>
          <a:xfrm>
            <a:off x="8112125" y="1628775"/>
            <a:ext cx="187325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fontAlgn="t" hangingPunct="1">
              <a:spcBef>
                <a:spcPct val="50000"/>
              </a:spcBef>
            </a:pPr>
            <a:r>
              <a:rPr lang="zh-CN" altLang="en-US" sz="3200" dirty="0">
                <a:solidFill>
                  <a:srgbClr val="C00000"/>
                </a:solidFill>
              </a:rPr>
              <a:t>思考结果</a:t>
            </a:r>
            <a:r>
              <a:rPr lang="en-US" altLang="zh-CN" sz="3200" dirty="0">
                <a:solidFill>
                  <a:srgbClr val="C00000"/>
                </a:solidFill>
              </a:rPr>
              <a:t>?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35845" name="AutoShape 7"/>
          <p:cNvSpPr/>
          <p:nvPr/>
        </p:nvSpPr>
        <p:spPr>
          <a:xfrm>
            <a:off x="10488488" y="6426200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dirty="0">
                <a:solidFill>
                  <a:schemeClr val="tx1"/>
                </a:solidFill>
              </a:rPr>
              <a:t>3-9.cpp</a:t>
            </a:r>
          </a:p>
        </p:txBody>
      </p:sp>
      <p:sp>
        <p:nvSpPr>
          <p:cNvPr id="2" name="矩形 1"/>
          <p:cNvSpPr/>
          <p:nvPr/>
        </p:nvSpPr>
        <p:spPr>
          <a:xfrm>
            <a:off x="1055440" y="4487813"/>
            <a:ext cx="4608512" cy="2308324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eaLnBrk="1" fontAlgn="t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void  </a:t>
            </a:r>
            <a:r>
              <a:rPr lang="en-US" altLang="zh-CN" dirty="0" err="1">
                <a:solidFill>
                  <a:schemeClr val="tx1"/>
                </a:solidFill>
              </a:rPr>
              <a:t>getNum</a:t>
            </a:r>
            <a:r>
              <a:rPr lang="en-US" altLang="zh-CN" dirty="0">
                <a:solidFill>
                  <a:schemeClr val="tx1"/>
                </a:solidFill>
              </a:rPr>
              <a:t> ( </a:t>
            </a:r>
            <a:r>
              <a:rPr lang="en-US" altLang="zh-CN" dirty="0" err="1">
                <a:solidFill>
                  <a:schemeClr val="tx1"/>
                </a:solidFill>
              </a:rPr>
              <a:t>int</a:t>
            </a:r>
            <a:r>
              <a:rPr lang="en-US" altLang="zh-CN" dirty="0">
                <a:solidFill>
                  <a:schemeClr val="tx1"/>
                </a:solidFill>
              </a:rPr>
              <a:t>  &amp;</a:t>
            </a:r>
            <a:r>
              <a:rPr lang="en-US" altLang="zh-CN" dirty="0" err="1">
                <a:solidFill>
                  <a:schemeClr val="tx1"/>
                </a:solidFill>
              </a:rPr>
              <a:t>userNum</a:t>
            </a:r>
            <a:r>
              <a:rPr lang="en-US" altLang="zh-CN" dirty="0">
                <a:solidFill>
                  <a:schemeClr val="tx1"/>
                </a:solidFill>
              </a:rPr>
              <a:t> )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{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</a:t>
            </a:r>
            <a:r>
              <a:rPr lang="en-US" altLang="zh-CN" dirty="0" err="1">
                <a:solidFill>
                  <a:schemeClr val="tx1"/>
                </a:solidFill>
              </a:rPr>
              <a:t>cout</a:t>
            </a:r>
            <a:r>
              <a:rPr lang="en-US" altLang="zh-CN" dirty="0">
                <a:solidFill>
                  <a:schemeClr val="tx1"/>
                </a:solidFill>
              </a:rPr>
              <a:t> &lt;&lt; "</a:t>
            </a:r>
            <a:r>
              <a:rPr lang="zh-CN" altLang="en-US" dirty="0">
                <a:solidFill>
                  <a:schemeClr val="tx1"/>
                </a:solidFill>
              </a:rPr>
              <a:t>请输入一个数</a:t>
            </a:r>
            <a:r>
              <a:rPr lang="en-US" altLang="zh-CN" dirty="0">
                <a:solidFill>
                  <a:schemeClr val="tx1"/>
                </a:solidFill>
              </a:rPr>
              <a:t>: " ;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</a:t>
            </a:r>
            <a:r>
              <a:rPr lang="en-US" altLang="zh-CN" dirty="0" err="1">
                <a:solidFill>
                  <a:schemeClr val="tx1"/>
                </a:solidFill>
              </a:rPr>
              <a:t>cin</a:t>
            </a:r>
            <a:r>
              <a:rPr lang="en-US" altLang="zh-CN" dirty="0">
                <a:solidFill>
                  <a:schemeClr val="tx1"/>
                </a:solidFill>
              </a:rPr>
              <a:t> &gt;&gt; </a:t>
            </a:r>
            <a:r>
              <a:rPr lang="en-US" altLang="zh-CN" dirty="0" err="1">
                <a:solidFill>
                  <a:schemeClr val="tx1"/>
                </a:solidFill>
              </a:rPr>
              <a:t>userNum</a:t>
            </a:r>
            <a:r>
              <a:rPr lang="en-US" altLang="zh-CN" dirty="0">
                <a:solidFill>
                  <a:schemeClr val="tx1"/>
                </a:solidFill>
              </a:rPr>
              <a:t> ;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/>
          </p:cNvSpPr>
          <p:nvPr>
            <p:ph type="title"/>
          </p:nvPr>
        </p:nvSpPr>
        <p:spPr>
          <a:xfrm>
            <a:off x="479376" y="26080"/>
            <a:ext cx="10515600" cy="1325563"/>
          </a:xfrm>
        </p:spPr>
        <p:txBody>
          <a:bodyPr vert="horz" wrap="square" lIns="91440" tIns="45720" rIns="91440" bIns="45720" anchor="ctr" anchorCtr="0">
            <a:normAutofit/>
          </a:bodyPr>
          <a:lstStyle/>
          <a:p>
            <a:pPr eaLnBrk="1" hangingPunct="1"/>
            <a:r>
              <a:rPr lang="en-US" altLang="zh-CN" sz="3600" dirty="0"/>
              <a:t>4.8 </a:t>
            </a:r>
            <a:r>
              <a:rPr lang="zh-CN" altLang="en-US" sz="3600" dirty="0"/>
              <a:t>函数重载 </a:t>
            </a:r>
          </a:p>
        </p:txBody>
      </p:sp>
      <p:sp>
        <p:nvSpPr>
          <p:cNvPr id="37892" name="Rectangle 3"/>
          <p:cNvSpPr>
            <a:spLocks noGrp="1"/>
          </p:cNvSpPr>
          <p:nvPr>
            <p:ph idx="1"/>
          </p:nvPr>
        </p:nvSpPr>
        <p:spPr>
          <a:xfrm>
            <a:off x="911424" y="1235112"/>
            <a:ext cx="10801200" cy="936104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sz="2800" dirty="0">
                <a:solidFill>
                  <a:schemeClr val="tx1"/>
                </a:solidFill>
              </a:rPr>
              <a:t>程序中定义多个函数，函数的</a:t>
            </a:r>
            <a:r>
              <a:rPr lang="zh-CN" altLang="en-US" sz="2800" dirty="0">
                <a:solidFill>
                  <a:srgbClr val="FF0000"/>
                </a:solidFill>
              </a:rPr>
              <a:t>名字相同</a:t>
            </a:r>
            <a:r>
              <a:rPr lang="zh-CN" altLang="en-US" sz="2800" dirty="0">
                <a:solidFill>
                  <a:schemeClr val="tx1"/>
                </a:solidFill>
              </a:rPr>
              <a:t>，但参数的</a:t>
            </a:r>
            <a:r>
              <a:rPr lang="zh-CN" altLang="en-US" sz="2800" dirty="0">
                <a:solidFill>
                  <a:srgbClr val="0070C0"/>
                </a:solidFill>
              </a:rPr>
              <a:t>类型</a:t>
            </a:r>
            <a:r>
              <a:rPr lang="zh-CN" altLang="en-US" sz="2800" dirty="0">
                <a:solidFill>
                  <a:schemeClr val="tx1"/>
                </a:solidFill>
              </a:rPr>
              <a:t>或</a:t>
            </a:r>
            <a:r>
              <a:rPr lang="zh-CN" altLang="en-US" sz="2800" dirty="0">
                <a:solidFill>
                  <a:srgbClr val="0070C0"/>
                </a:solidFill>
              </a:rPr>
              <a:t>个数</a:t>
            </a:r>
            <a:r>
              <a:rPr lang="zh-CN" altLang="en-US" sz="2800" dirty="0">
                <a:solidFill>
                  <a:schemeClr val="tx1"/>
                </a:solidFill>
              </a:rPr>
              <a:t>不完全相同。</a:t>
            </a:r>
          </a:p>
        </p:txBody>
      </p:sp>
      <p:sp>
        <p:nvSpPr>
          <p:cNvPr id="3789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38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10" name="AutoShape 6"/>
          <p:cNvSpPr/>
          <p:nvPr/>
        </p:nvSpPr>
        <p:spPr>
          <a:xfrm>
            <a:off x="9982200" y="5701653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dirty="0">
                <a:solidFill>
                  <a:schemeClr val="tx1"/>
                </a:solidFill>
              </a:rPr>
              <a:t>3-10-1.cpp</a:t>
            </a:r>
          </a:p>
        </p:txBody>
      </p:sp>
      <p:sp>
        <p:nvSpPr>
          <p:cNvPr id="2" name="矩形 1"/>
          <p:cNvSpPr/>
          <p:nvPr/>
        </p:nvSpPr>
        <p:spPr>
          <a:xfrm>
            <a:off x="1692896" y="2054684"/>
            <a:ext cx="808856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;}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double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double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double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;}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string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string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string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;}</a:t>
            </a:r>
          </a:p>
          <a:p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800080"/>
                </a:solidFill>
                <a:latin typeface="consolas" panose="020B0609020204030204" pitchFamily="49" charset="0"/>
              </a:rPr>
              <a:t>1.3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800080"/>
                </a:solidFill>
                <a:latin typeface="consolas" panose="020B0609020204030204" pitchFamily="49" charset="0"/>
              </a:rPr>
              <a:t>3.4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 err="1">
                <a:solidFill>
                  <a:srgbClr val="007D17"/>
                </a:solidFill>
                <a:latin typeface="consolas" panose="020B0609020204030204" pitchFamily="49" charset="0"/>
              </a:rPr>
              <a:t>hello,"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7D17"/>
                </a:solidFill>
                <a:latin typeface="consolas" panose="020B0609020204030204" pitchFamily="49" charset="0"/>
              </a:rPr>
              <a:t>"world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!"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791744" y="110011"/>
            <a:ext cx="6096000" cy="97872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pPr eaLnBrk="1" fontAlgn="t" hangingPunct="1">
              <a:lnSpc>
                <a:spcPct val="120000"/>
              </a:lnSpc>
            </a:pPr>
            <a:r>
              <a:rPr lang="en-US" altLang="zh-CN" dirty="0">
                <a:solidFill>
                  <a:srgbClr val="002060"/>
                </a:solidFill>
              </a:rPr>
              <a:t>C++</a:t>
            </a:r>
            <a:r>
              <a:rPr lang="zh-CN" altLang="en-US" dirty="0">
                <a:solidFill>
                  <a:srgbClr val="002060"/>
                </a:solidFill>
              </a:rPr>
              <a:t>在进行函数调用时，不仅靠函数名识别函数，而且还要看参数列表。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39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38915" name="Text Box 4"/>
          <p:cNvSpPr txBox="1"/>
          <p:nvPr/>
        </p:nvSpPr>
        <p:spPr>
          <a:xfrm>
            <a:off x="1055440" y="1752600"/>
            <a:ext cx="9649072" cy="267765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fontAlgn="t" hangingPunct="1">
              <a:lnSpc>
                <a:spcPct val="120000"/>
              </a:lnSpc>
            </a:pPr>
            <a:r>
              <a:rPr lang="zh-CN" altLang="en-US" sz="2800" dirty="0">
                <a:solidFill>
                  <a:srgbClr val="002060"/>
                </a:solidFill>
              </a:rPr>
              <a:t>注意</a:t>
            </a:r>
            <a:r>
              <a:rPr lang="en-US" altLang="zh-CN" sz="2800" dirty="0">
                <a:solidFill>
                  <a:srgbClr val="002060"/>
                </a:solidFill>
              </a:rPr>
              <a:t>1</a:t>
            </a:r>
            <a:r>
              <a:rPr lang="zh-CN" altLang="en-US" sz="2800" dirty="0">
                <a:solidFill>
                  <a:srgbClr val="002060"/>
                </a:solidFill>
              </a:rPr>
              <a:t>：不能采用函数返回值的类型来区别重载：</a:t>
            </a:r>
          </a:p>
          <a:p>
            <a:pPr eaLnBrk="1" fontAlgn="t" hangingPunct="1">
              <a:lnSpc>
                <a:spcPct val="120000"/>
              </a:lnSpc>
            </a:pPr>
            <a:endParaRPr lang="en-US" altLang="zh-CN" sz="2800" dirty="0">
              <a:solidFill>
                <a:schemeClr val="tx1"/>
              </a:solidFill>
            </a:endParaRPr>
          </a:p>
          <a:p>
            <a:pPr eaLnBrk="1" fontAlgn="t" hangingPunct="1">
              <a:lnSpc>
                <a:spcPct val="120000"/>
              </a:lnSpc>
            </a:pPr>
            <a:endParaRPr lang="en-US" altLang="zh-CN" sz="2800" dirty="0">
              <a:solidFill>
                <a:schemeClr val="tx1"/>
              </a:solidFill>
            </a:endParaRPr>
          </a:p>
          <a:p>
            <a:pPr eaLnBrk="1" fontAlgn="t" hangingPunct="1">
              <a:lnSpc>
                <a:spcPct val="120000"/>
              </a:lnSpc>
            </a:pPr>
            <a:endParaRPr lang="en-US" altLang="zh-CN" sz="2800" dirty="0">
              <a:solidFill>
                <a:schemeClr val="tx1"/>
              </a:solidFill>
            </a:endParaRPr>
          </a:p>
          <a:p>
            <a:pPr eaLnBrk="1" fontAlgn="t" hangingPunct="1">
              <a:lnSpc>
                <a:spcPct val="120000"/>
              </a:lnSpc>
            </a:pPr>
            <a:endParaRPr lang="en-US" altLang="zh-CN" sz="2800" dirty="0">
              <a:solidFill>
                <a:schemeClr val="tx1"/>
              </a:solidFill>
            </a:endParaRPr>
          </a:p>
        </p:txBody>
      </p:sp>
      <p:sp>
        <p:nvSpPr>
          <p:cNvPr id="38916" name="Rectangle 5"/>
          <p:cNvSpPr/>
          <p:nvPr/>
        </p:nvSpPr>
        <p:spPr>
          <a:xfrm>
            <a:off x="767408" y="45534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eaLnBrk="1" hangingPunct="1"/>
            <a:r>
              <a:rPr lang="en-US" altLang="zh-CN" sz="4000" b="0" dirty="0">
                <a:solidFill>
                  <a:schemeClr val="tx1"/>
                </a:solidFill>
              </a:rPr>
              <a:t>4.8 </a:t>
            </a:r>
            <a:r>
              <a:rPr lang="zh-CN" altLang="en-US" sz="4000" b="0" dirty="0">
                <a:solidFill>
                  <a:schemeClr val="tx1"/>
                </a:solidFill>
              </a:rPr>
              <a:t>函数重载 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r="18831"/>
          <a:stretch/>
        </p:blipFill>
        <p:spPr>
          <a:xfrm>
            <a:off x="1199457" y="2564904"/>
            <a:ext cx="10369152" cy="134631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4.9 </a:t>
            </a:r>
            <a:r>
              <a:rPr lang="zh-CN" altLang="en-US" dirty="0"/>
              <a:t>函数模板 </a:t>
            </a:r>
          </a:p>
        </p:txBody>
      </p:sp>
      <p:sp>
        <p:nvSpPr>
          <p:cNvPr id="43012" name="Rectangle 3"/>
          <p:cNvSpPr>
            <a:spLocks noGrp="1"/>
          </p:cNvSpPr>
          <p:nvPr>
            <p:ph idx="1"/>
          </p:nvPr>
        </p:nvSpPr>
        <p:spPr>
          <a:xfrm>
            <a:off x="1981200" y="1752600"/>
            <a:ext cx="8153400" cy="4629150"/>
          </a:xfrm>
        </p:spPr>
        <p:txBody>
          <a:bodyPr vert="horz" wrap="square" lIns="91440" tIns="45720" rIns="91440" bIns="45720" anchor="t" anchorCtr="0">
            <a:normAutofit lnSpcReduction="10000"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模板：函数类模板。</a:t>
            </a:r>
          </a:p>
          <a:p>
            <a:pPr eaLnBrk="1" hangingPunct="1">
              <a:lnSpc>
                <a:spcPct val="10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函数模板</a:t>
            </a:r>
            <a:r>
              <a:rPr lang="zh-CN" altLang="en-US" sz="2800" dirty="0">
                <a:solidFill>
                  <a:srgbClr val="002060"/>
                </a:solidFill>
              </a:rPr>
              <a:t>简化重载</a:t>
            </a:r>
            <a:r>
              <a:rPr lang="zh-CN" altLang="en-US" sz="2800" dirty="0">
                <a:solidFill>
                  <a:schemeClr val="tx1"/>
                </a:solidFill>
              </a:rPr>
              <a:t>。编译器遇到函数调用时，将根据实参类型和函数模板一起产生函数代码。</a:t>
            </a:r>
          </a:p>
          <a:p>
            <a:pPr eaLnBrk="1" hangingPunct="1">
              <a:lnSpc>
                <a:spcPct val="100000"/>
              </a:lnSpc>
            </a:pPr>
            <a:r>
              <a:rPr lang="zh-CN" altLang="en-US" sz="2800">
                <a:solidFill>
                  <a:schemeClr val="tx1"/>
                </a:solidFill>
              </a:rPr>
              <a:t>函数模板并不是真正意义上的函数，定义形式：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2800">
                <a:solidFill>
                  <a:schemeClr val="tx1"/>
                </a:solidFill>
              </a:rPr>
              <a:t>        </a:t>
            </a:r>
            <a:r>
              <a:rPr lang="en-US" altLang="zh-CN" sz="2800">
                <a:solidFill>
                  <a:schemeClr val="tx1"/>
                </a:solidFill>
              </a:rPr>
              <a:t>template  &lt; </a:t>
            </a:r>
            <a:r>
              <a:rPr lang="zh-CN" altLang="en-US" sz="2800">
                <a:solidFill>
                  <a:schemeClr val="tx1"/>
                </a:solidFill>
              </a:rPr>
              <a:t>类型参数表 </a:t>
            </a:r>
            <a:r>
              <a:rPr lang="en-US" altLang="zh-CN" sz="2800">
                <a:solidFill>
                  <a:schemeClr val="tx1"/>
                </a:solidFill>
              </a:rPr>
              <a:t>&gt;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sz="2800">
                <a:solidFill>
                  <a:schemeClr val="tx1"/>
                </a:solidFill>
              </a:rPr>
              <a:t>        </a:t>
            </a:r>
            <a:r>
              <a:rPr lang="zh-CN" altLang="en-US" sz="2800">
                <a:solidFill>
                  <a:schemeClr val="tx1"/>
                </a:solidFill>
              </a:rPr>
              <a:t>返回值类型  函数名 </a:t>
            </a:r>
            <a:r>
              <a:rPr lang="en-US" altLang="zh-CN" sz="2800">
                <a:solidFill>
                  <a:schemeClr val="tx1"/>
                </a:solidFill>
              </a:rPr>
              <a:t>( </a:t>
            </a:r>
            <a:r>
              <a:rPr lang="zh-CN" altLang="en-US" sz="2800">
                <a:solidFill>
                  <a:schemeClr val="tx1"/>
                </a:solidFill>
              </a:rPr>
              <a:t>形式参数表 </a:t>
            </a:r>
            <a:r>
              <a:rPr lang="en-US" altLang="zh-CN" sz="2800">
                <a:solidFill>
                  <a:schemeClr val="tx1"/>
                </a:solidFill>
              </a:rPr>
              <a:t>)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sz="2800">
                <a:solidFill>
                  <a:schemeClr val="tx1"/>
                </a:solidFill>
              </a:rPr>
              <a:t>        {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sz="2800">
                <a:solidFill>
                  <a:schemeClr val="tx1"/>
                </a:solidFill>
              </a:rPr>
              <a:t>            // </a:t>
            </a:r>
            <a:r>
              <a:rPr lang="zh-CN" altLang="en-US" sz="2800">
                <a:solidFill>
                  <a:schemeClr val="tx1"/>
                </a:solidFill>
              </a:rPr>
              <a:t>函数体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2800">
                <a:solidFill>
                  <a:schemeClr val="tx1"/>
                </a:solidFill>
              </a:rPr>
              <a:t>        </a:t>
            </a:r>
            <a:r>
              <a:rPr lang="en-US" altLang="zh-CN" sz="2800">
                <a:solidFill>
                  <a:schemeClr val="tx1"/>
                </a:solidFill>
              </a:rPr>
              <a:t>}</a:t>
            </a:r>
            <a:r>
              <a:rPr lang="zh-CN" altLang="en-US" sz="2800">
                <a:solidFill>
                  <a:schemeClr val="tx1"/>
                </a:solidFill>
              </a:rPr>
              <a:t> </a:t>
            </a:r>
            <a:endParaRPr lang="en-US" altLang="zh-CN" sz="2800" dirty="0">
              <a:solidFill>
                <a:schemeClr val="tx1"/>
              </a:solidFill>
            </a:endParaRPr>
          </a:p>
        </p:txBody>
      </p:sp>
      <p:sp>
        <p:nvSpPr>
          <p:cNvPr id="4301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40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4.9.1  </a:t>
            </a:r>
            <a:r>
              <a:rPr lang="zh-CN" altLang="en-US" dirty="0"/>
              <a:t>从函数重载到函数模板 </a:t>
            </a:r>
          </a:p>
        </p:txBody>
      </p:sp>
      <p:sp>
        <p:nvSpPr>
          <p:cNvPr id="44036" name="Rectangle 3"/>
          <p:cNvSpPr>
            <a:spLocks noGrp="1"/>
          </p:cNvSpPr>
          <p:nvPr>
            <p:ph idx="1"/>
          </p:nvPr>
        </p:nvSpPr>
        <p:spPr>
          <a:xfrm>
            <a:off x="1487488" y="1690688"/>
            <a:ext cx="8153400" cy="448468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50000"/>
              </a:lnSpc>
            </a:pPr>
            <a:r>
              <a:rPr lang="zh-CN" altLang="en-US" sz="2600" dirty="0">
                <a:solidFill>
                  <a:schemeClr val="tx1"/>
                </a:solidFill>
              </a:rPr>
              <a:t>函数重载是函数名相同，参数一定不完全相同，采用函数重载，要对每个函数分别写出相应的代码。</a:t>
            </a:r>
          </a:p>
        </p:txBody>
      </p:sp>
      <p:sp>
        <p:nvSpPr>
          <p:cNvPr id="4403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41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4.9.2  </a:t>
            </a:r>
            <a:r>
              <a:rPr lang="zh-CN" altLang="en-US" dirty="0"/>
              <a:t>定义函数模板的方法 </a:t>
            </a:r>
          </a:p>
        </p:txBody>
      </p:sp>
      <p:sp>
        <p:nvSpPr>
          <p:cNvPr id="47108" name="Rectangle 3"/>
          <p:cNvSpPr>
            <a:spLocks noGrp="1"/>
          </p:cNvSpPr>
          <p:nvPr>
            <p:ph idx="1"/>
          </p:nvPr>
        </p:nvSpPr>
        <p:spPr>
          <a:xfrm>
            <a:off x="2019300" y="1484784"/>
            <a:ext cx="8153400" cy="448468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00000"/>
              </a:lnSpc>
              <a:buNone/>
            </a:pPr>
            <a:r>
              <a:rPr lang="en-US" altLang="zh-CN" sz="2600" dirty="0">
                <a:solidFill>
                  <a:schemeClr val="tx1"/>
                </a:solidFill>
              </a:rPr>
              <a:t>(1) </a:t>
            </a:r>
            <a:r>
              <a:rPr lang="zh-CN" altLang="en-US" sz="2600" dirty="0">
                <a:solidFill>
                  <a:schemeClr val="tx1"/>
                </a:solidFill>
              </a:rPr>
              <a:t>定义一个普通的函数</a:t>
            </a:r>
          </a:p>
          <a:p>
            <a:pPr>
              <a:lnSpc>
                <a:spcPct val="100000"/>
              </a:lnSpc>
              <a:buNone/>
            </a:pPr>
            <a:r>
              <a:rPr lang="en-US" altLang="zh-CN" sz="2400" dirty="0">
                <a:solidFill>
                  <a:srgbClr val="0033B3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2400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2400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sz="2400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400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sz="2400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2400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 b</a:t>
            </a:r>
            <a:r>
              <a:rPr lang="en-US" altLang="zh-CN" sz="2400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sz="2400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sz="2400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pPr>
              <a:lnSpc>
                <a:spcPct val="100000"/>
              </a:lnSpc>
              <a:buNone/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altLang="zh-CN" sz="2400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sz="2400" dirty="0" err="1">
                <a:solidFill>
                  <a:srgbClr val="C1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sz="2400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buNone/>
            </a:pPr>
            <a:r>
              <a:rPr lang="en-US" altLang="zh-CN" sz="2400" dirty="0">
                <a:solidFill>
                  <a:srgbClr val="C10000"/>
                </a:solidFill>
                <a:latin typeface="consolas" panose="020B0609020204030204" pitchFamily="49" charset="0"/>
              </a:rPr>
              <a:t>   }</a:t>
            </a:r>
            <a:br>
              <a:rPr lang="en-US" altLang="zh-CN" sz="2400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sz="2600" dirty="0">
                <a:solidFill>
                  <a:schemeClr val="tx1"/>
                </a:solidFill>
              </a:rPr>
              <a:t>(2) </a:t>
            </a:r>
            <a:r>
              <a:rPr lang="zh-CN" altLang="en-US" sz="2600" dirty="0">
                <a:solidFill>
                  <a:schemeClr val="tx1"/>
                </a:solidFill>
              </a:rPr>
              <a:t>在函数开头加上</a:t>
            </a:r>
            <a:r>
              <a:rPr lang="en-US" altLang="zh-CN" sz="2600" dirty="0">
                <a:solidFill>
                  <a:schemeClr val="tx1"/>
                </a:solidFill>
              </a:rPr>
              <a:t>template  &lt; class  T &gt;</a:t>
            </a:r>
            <a:r>
              <a:rPr lang="zh-CN" altLang="en-US" sz="2600" dirty="0">
                <a:solidFill>
                  <a:schemeClr val="tx1"/>
                </a:solidFill>
              </a:rPr>
              <a:t>，将函数形参的类型和局部变量的类型</a:t>
            </a:r>
            <a:r>
              <a:rPr lang="en-US" altLang="zh-CN" sz="2600" dirty="0">
                <a:solidFill>
                  <a:schemeClr val="tx1"/>
                </a:solidFill>
              </a:rPr>
              <a:t>int</a:t>
            </a:r>
            <a:r>
              <a:rPr lang="zh-CN" altLang="en-US" sz="2600" dirty="0">
                <a:solidFill>
                  <a:schemeClr val="tx1"/>
                </a:solidFill>
              </a:rPr>
              <a:t>采用</a:t>
            </a:r>
            <a:r>
              <a:rPr lang="en-US" altLang="zh-CN" sz="2600" dirty="0">
                <a:solidFill>
                  <a:schemeClr val="tx1"/>
                </a:solidFill>
              </a:rPr>
              <a:t>T</a:t>
            </a:r>
            <a:r>
              <a:rPr lang="zh-CN" altLang="en-US" sz="2600" dirty="0">
                <a:solidFill>
                  <a:schemeClr val="tx1"/>
                </a:solidFill>
              </a:rPr>
              <a:t>替换。</a:t>
            </a:r>
          </a:p>
        </p:txBody>
      </p:sp>
      <p:sp>
        <p:nvSpPr>
          <p:cNvPr id="4710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42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855640" y="4581128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Template &lt;class T&gt;</a:t>
            </a:r>
          </a:p>
          <a:p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  }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endParaRPr lang="zh-CN" alt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240016" y="960289"/>
            <a:ext cx="5688632" cy="526297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</a:rPr>
              <a:t>template &lt;class T&gt;</a:t>
            </a:r>
            <a:br>
              <a:rPr lang="en-US" altLang="zh-CN" dirty="0">
                <a:solidFill>
                  <a:srgbClr val="002060"/>
                </a:solidFill>
              </a:rPr>
            </a:br>
            <a:r>
              <a:rPr lang="en-US" altLang="zh-CN" dirty="0">
                <a:solidFill>
                  <a:srgbClr val="002060"/>
                </a:solidFill>
              </a:rPr>
              <a:t>T add(T </a:t>
            </a:r>
            <a:r>
              <a:rPr lang="en-US" altLang="zh-CN" dirty="0" err="1">
                <a:solidFill>
                  <a:srgbClr val="002060"/>
                </a:solidFill>
              </a:rPr>
              <a:t>a,T</a:t>
            </a:r>
            <a:r>
              <a:rPr lang="en-US" altLang="zh-CN" dirty="0">
                <a:solidFill>
                  <a:srgbClr val="002060"/>
                </a:solidFill>
              </a:rPr>
              <a:t> b)</a:t>
            </a:r>
            <a:br>
              <a:rPr lang="en-US" altLang="zh-CN" dirty="0">
                <a:solidFill>
                  <a:srgbClr val="002060"/>
                </a:solidFill>
              </a:rPr>
            </a:br>
            <a:r>
              <a:rPr lang="en-US" altLang="zh-CN" dirty="0">
                <a:solidFill>
                  <a:srgbClr val="002060"/>
                </a:solidFill>
              </a:rPr>
              <a:t>{</a:t>
            </a:r>
            <a:br>
              <a:rPr lang="en-US" altLang="zh-CN" dirty="0">
                <a:solidFill>
                  <a:srgbClr val="002060"/>
                </a:solidFill>
              </a:rPr>
            </a:br>
            <a:r>
              <a:rPr lang="en-US" altLang="zh-CN" dirty="0">
                <a:solidFill>
                  <a:srgbClr val="002060"/>
                </a:solidFill>
              </a:rPr>
              <a:t>    return </a:t>
            </a:r>
            <a:r>
              <a:rPr lang="en-US" altLang="zh-CN" dirty="0" err="1">
                <a:solidFill>
                  <a:srgbClr val="002060"/>
                </a:solidFill>
              </a:rPr>
              <a:t>a+b</a:t>
            </a:r>
            <a:r>
              <a:rPr lang="en-US" altLang="zh-CN" dirty="0">
                <a:solidFill>
                  <a:srgbClr val="002060"/>
                </a:solidFill>
              </a:rPr>
              <a:t>;    </a:t>
            </a:r>
            <a:br>
              <a:rPr lang="en-US" altLang="zh-CN" dirty="0">
                <a:solidFill>
                  <a:srgbClr val="002060"/>
                </a:solidFill>
              </a:rPr>
            </a:br>
            <a:r>
              <a:rPr lang="en-US" altLang="zh-CN" dirty="0">
                <a:solidFill>
                  <a:srgbClr val="002060"/>
                </a:solidFill>
              </a:rPr>
              <a:t>}</a:t>
            </a:r>
            <a:br>
              <a:rPr lang="en-US" altLang="zh-CN" dirty="0">
                <a:solidFill>
                  <a:srgbClr val="002060"/>
                </a:solidFill>
              </a:rPr>
            </a:br>
            <a:r>
              <a:rPr lang="en-US" altLang="zh-CN" dirty="0" err="1">
                <a:solidFill>
                  <a:srgbClr val="002060"/>
                </a:solidFill>
              </a:rPr>
              <a:t>int</a:t>
            </a:r>
            <a:r>
              <a:rPr lang="en-US" altLang="zh-CN" dirty="0">
                <a:solidFill>
                  <a:srgbClr val="002060"/>
                </a:solidFill>
              </a:rPr>
              <a:t> main()</a:t>
            </a:r>
            <a:br>
              <a:rPr lang="en-US" altLang="zh-CN" dirty="0">
                <a:solidFill>
                  <a:srgbClr val="002060"/>
                </a:solidFill>
              </a:rPr>
            </a:br>
            <a:r>
              <a:rPr lang="en-US" altLang="zh-CN" dirty="0">
                <a:solidFill>
                  <a:srgbClr val="002060"/>
                </a:solidFill>
              </a:rPr>
              <a:t>{</a:t>
            </a:r>
            <a:br>
              <a:rPr lang="en-US" altLang="zh-CN" dirty="0">
                <a:solidFill>
                  <a:srgbClr val="002060"/>
                </a:solidFill>
              </a:rPr>
            </a:br>
            <a:r>
              <a:rPr lang="en-US" altLang="zh-CN" dirty="0">
                <a:solidFill>
                  <a:srgbClr val="002060"/>
                </a:solidFill>
              </a:rPr>
              <a:t>    </a:t>
            </a:r>
            <a:r>
              <a:rPr lang="en-US" altLang="zh-CN" dirty="0" err="1">
                <a:solidFill>
                  <a:srgbClr val="002060"/>
                </a:solidFill>
              </a:rPr>
              <a:t>cout</a:t>
            </a:r>
            <a:r>
              <a:rPr lang="en-US" altLang="zh-CN" dirty="0">
                <a:solidFill>
                  <a:srgbClr val="002060"/>
                </a:solidFill>
              </a:rPr>
              <a:t>&lt;&lt;add(2,3)&lt;&lt;</a:t>
            </a:r>
            <a:r>
              <a:rPr lang="en-US" altLang="zh-CN" dirty="0" err="1">
                <a:solidFill>
                  <a:srgbClr val="002060"/>
                </a:solidFill>
              </a:rPr>
              <a:t>endl</a:t>
            </a:r>
            <a:r>
              <a:rPr lang="en-US" altLang="zh-CN" dirty="0">
                <a:solidFill>
                  <a:srgbClr val="002060"/>
                </a:solidFill>
              </a:rPr>
              <a:t>;</a:t>
            </a:r>
            <a:br>
              <a:rPr lang="en-US" altLang="zh-CN" dirty="0">
                <a:solidFill>
                  <a:srgbClr val="002060"/>
                </a:solidFill>
              </a:rPr>
            </a:br>
            <a:r>
              <a:rPr lang="en-US" altLang="zh-CN" dirty="0">
                <a:solidFill>
                  <a:srgbClr val="002060"/>
                </a:solidFill>
              </a:rPr>
              <a:t>    </a:t>
            </a:r>
            <a:r>
              <a:rPr lang="en-US" altLang="zh-CN" dirty="0" err="1">
                <a:solidFill>
                  <a:srgbClr val="002060"/>
                </a:solidFill>
              </a:rPr>
              <a:t>cout</a:t>
            </a:r>
            <a:r>
              <a:rPr lang="en-US" altLang="zh-CN" dirty="0">
                <a:solidFill>
                  <a:srgbClr val="002060"/>
                </a:solidFill>
              </a:rPr>
              <a:t>&lt;&lt;add(1.3,3.4)&lt;&lt;</a:t>
            </a:r>
            <a:r>
              <a:rPr lang="en-US" altLang="zh-CN" dirty="0" err="1">
                <a:solidFill>
                  <a:srgbClr val="002060"/>
                </a:solidFill>
              </a:rPr>
              <a:t>endl</a:t>
            </a:r>
            <a:r>
              <a:rPr lang="en-US" altLang="zh-CN" dirty="0">
                <a:solidFill>
                  <a:srgbClr val="002060"/>
                </a:solidFill>
              </a:rPr>
              <a:t>;</a:t>
            </a:r>
            <a:br>
              <a:rPr lang="en-US" altLang="zh-CN" dirty="0">
                <a:solidFill>
                  <a:srgbClr val="002060"/>
                </a:solidFill>
              </a:rPr>
            </a:br>
            <a:r>
              <a:rPr lang="en-US" altLang="zh-CN" dirty="0">
                <a:solidFill>
                  <a:srgbClr val="002060"/>
                </a:solidFill>
              </a:rPr>
              <a:t>    string s1="hello,";</a:t>
            </a:r>
            <a:br>
              <a:rPr lang="en-US" altLang="zh-CN" dirty="0">
                <a:solidFill>
                  <a:srgbClr val="002060"/>
                </a:solidFill>
              </a:rPr>
            </a:br>
            <a:r>
              <a:rPr lang="en-US" altLang="zh-CN" dirty="0">
                <a:solidFill>
                  <a:srgbClr val="002060"/>
                </a:solidFill>
              </a:rPr>
              <a:t>    string s2="world!";</a:t>
            </a:r>
            <a:br>
              <a:rPr lang="en-US" altLang="zh-CN" dirty="0">
                <a:solidFill>
                  <a:srgbClr val="002060"/>
                </a:solidFill>
              </a:rPr>
            </a:br>
            <a:r>
              <a:rPr lang="en-US" altLang="zh-CN" dirty="0">
                <a:solidFill>
                  <a:srgbClr val="002060"/>
                </a:solidFill>
              </a:rPr>
              <a:t>    </a:t>
            </a:r>
            <a:r>
              <a:rPr lang="en-US" altLang="zh-CN" dirty="0" err="1">
                <a:solidFill>
                  <a:srgbClr val="002060"/>
                </a:solidFill>
              </a:rPr>
              <a:t>cout</a:t>
            </a:r>
            <a:r>
              <a:rPr lang="en-US" altLang="zh-CN" dirty="0">
                <a:solidFill>
                  <a:srgbClr val="002060"/>
                </a:solidFill>
              </a:rPr>
              <a:t>&lt;&lt;add(s1,s2)&lt;&lt;</a:t>
            </a:r>
            <a:r>
              <a:rPr lang="en-US" altLang="zh-CN" dirty="0" err="1">
                <a:solidFill>
                  <a:srgbClr val="002060"/>
                </a:solidFill>
              </a:rPr>
              <a:t>endl</a:t>
            </a:r>
            <a:r>
              <a:rPr lang="en-US" altLang="zh-CN" dirty="0">
                <a:solidFill>
                  <a:srgbClr val="002060"/>
                </a:solidFill>
              </a:rPr>
              <a:t>;</a:t>
            </a:r>
            <a:br>
              <a:rPr lang="en-US" altLang="zh-CN" dirty="0">
                <a:solidFill>
                  <a:srgbClr val="002060"/>
                </a:solidFill>
              </a:rPr>
            </a:br>
            <a:r>
              <a:rPr lang="en-US" altLang="zh-CN" dirty="0">
                <a:solidFill>
                  <a:srgbClr val="002060"/>
                </a:solidFill>
              </a:rPr>
              <a:t>    return 0;</a:t>
            </a:r>
            <a:br>
              <a:rPr lang="en-US" altLang="zh-CN" dirty="0">
                <a:solidFill>
                  <a:srgbClr val="002060"/>
                </a:solidFill>
              </a:rPr>
            </a:br>
            <a:r>
              <a:rPr lang="en-US" altLang="zh-CN" dirty="0">
                <a:solidFill>
                  <a:srgbClr val="002060"/>
                </a:solidFill>
              </a:rPr>
              <a:t>} </a:t>
            </a:r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63352" y="1268760"/>
            <a:ext cx="5616624" cy="489364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;}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double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double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double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;}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string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8080"/>
                </a:solidFill>
                <a:latin typeface="consolas" panose="020B0609020204030204" pitchFamily="49" charset="0"/>
              </a:rPr>
              <a:t>string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8080"/>
                </a:solidFill>
                <a:latin typeface="consolas" panose="020B0609020204030204" pitchFamily="49" charset="0"/>
              </a:rPr>
              <a:t>string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b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;}</a:t>
            </a:r>
          </a:p>
          <a:p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2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3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800080"/>
                </a:solidFill>
                <a:latin typeface="consolas" panose="020B0609020204030204" pitchFamily="49" charset="0"/>
              </a:rPr>
              <a:t>1.3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800080"/>
                </a:solidFill>
                <a:latin typeface="consolas" panose="020B0609020204030204" pitchFamily="49" charset="0"/>
              </a:rPr>
              <a:t>3.4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&lt;&lt;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 err="1">
                <a:solidFill>
                  <a:srgbClr val="007D17"/>
                </a:solidFill>
                <a:latin typeface="consolas" panose="020B0609020204030204" pitchFamily="49" charset="0"/>
              </a:rPr>
              <a:t>hello,"</a:t>
            </a:r>
            <a:r>
              <a:rPr lang="en-US" altLang="zh-CN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7D17"/>
                </a:solidFill>
                <a:latin typeface="consolas" panose="020B0609020204030204" pitchFamily="49" charset="0"/>
              </a:rPr>
              <a:t>"world</a:t>
            </a:r>
            <a:r>
              <a:rPr lang="en-US" altLang="zh-CN" dirty="0">
                <a:solidFill>
                  <a:srgbClr val="007D17"/>
                </a:solidFill>
                <a:latin typeface="consolas" panose="020B0609020204030204" pitchFamily="49" charset="0"/>
              </a:rPr>
              <a:t>!"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)&lt;&lt;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endl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624512" y="692696"/>
            <a:ext cx="1422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2060"/>
                </a:solidFill>
              </a:rPr>
              <a:t>函数重载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176120" y="81007"/>
            <a:ext cx="41024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2060"/>
                </a:solidFill>
              </a:rPr>
              <a:t>函数模板</a:t>
            </a:r>
            <a:endParaRPr lang="en-US" altLang="zh-CN" dirty="0">
              <a:solidFill>
                <a:srgbClr val="002060"/>
              </a:solidFill>
            </a:endParaRPr>
          </a:p>
          <a:p>
            <a:r>
              <a:rPr lang="en-US" altLang="zh-CN" dirty="0">
                <a:solidFill>
                  <a:srgbClr val="002060"/>
                </a:solidFill>
              </a:rPr>
              <a:t>(</a:t>
            </a:r>
            <a:r>
              <a:rPr lang="zh-CN" altLang="en-US" dirty="0">
                <a:solidFill>
                  <a:srgbClr val="002060"/>
                </a:solidFill>
              </a:rPr>
              <a:t>参数个数相同，仅类型不同</a:t>
            </a:r>
            <a:r>
              <a:rPr lang="en-US" altLang="zh-CN" dirty="0">
                <a:solidFill>
                  <a:srgbClr val="002060"/>
                </a:solidFill>
              </a:rPr>
              <a:t>)</a:t>
            </a:r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67408" y="173831"/>
            <a:ext cx="6735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2060"/>
                </a:solidFill>
              </a:rPr>
              <a:t>例</a:t>
            </a:r>
            <a:r>
              <a:rPr lang="en-US" altLang="zh-CN" dirty="0">
                <a:solidFill>
                  <a:srgbClr val="002060"/>
                </a:solidFill>
              </a:rPr>
              <a:t> :</a:t>
            </a:r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7" name="AutoShape 3"/>
          <p:cNvSpPr/>
          <p:nvPr/>
        </p:nvSpPr>
        <p:spPr>
          <a:xfrm>
            <a:off x="6744072" y="6319838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3-12-0.cpp</a:t>
            </a:r>
          </a:p>
        </p:txBody>
      </p:sp>
    </p:spTree>
    <p:extLst>
      <p:ext uri="{BB962C8B-B14F-4D97-AF65-F5344CB8AC3E}">
        <p14:creationId xmlns:p14="http://schemas.microsoft.com/office/powerpoint/2010/main" val="30908625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4.9.3  </a:t>
            </a:r>
            <a:r>
              <a:rPr lang="zh-CN" altLang="en-US" dirty="0"/>
              <a:t>在函数模板中使用多种类型 </a:t>
            </a:r>
          </a:p>
        </p:txBody>
      </p:sp>
      <p:sp>
        <p:nvSpPr>
          <p:cNvPr id="48132" name="Rectangle 3"/>
          <p:cNvSpPr>
            <a:spLocks noGrp="1"/>
          </p:cNvSpPr>
          <p:nvPr>
            <p:ph idx="1"/>
          </p:nvPr>
        </p:nvSpPr>
        <p:spPr>
          <a:xfrm>
            <a:off x="983432" y="1690688"/>
            <a:ext cx="8153400" cy="4629150"/>
          </a:xfrm>
        </p:spPr>
        <p:txBody>
          <a:bodyPr vert="horz" wrap="square" lIns="91440" tIns="45720" rIns="91440" bIns="45720" anchor="t" anchorCtr="0">
            <a:normAutofit lnSpcReduction="10000"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函数模板中可以使用多种通用类型，每个类型必须具有自己的参数：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    </a:t>
            </a:r>
            <a:r>
              <a:rPr lang="en-US" altLang="zh-CN" sz="2800" dirty="0">
                <a:solidFill>
                  <a:schemeClr val="tx1"/>
                </a:solidFill>
              </a:rPr>
              <a:t>template  &lt; class   T1 , class   T2&gt;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     </a:t>
            </a:r>
            <a:r>
              <a:rPr lang="fr-FR" altLang="zh-CN" sz="2800" dirty="0">
                <a:solidFill>
                  <a:schemeClr val="tx1"/>
                </a:solidFill>
              </a:rPr>
              <a:t>void   swap ( T1   &amp;var1 , T2   &amp;var2 ) 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fr-FR" altLang="zh-CN" sz="2800" dirty="0">
                <a:solidFill>
                  <a:schemeClr val="tx1"/>
                </a:solidFill>
              </a:rPr>
              <a:t>        {  T1  temp ;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fr-FR" altLang="zh-CN" sz="2800" dirty="0">
                <a:solidFill>
                  <a:schemeClr val="tx1"/>
                </a:solidFill>
              </a:rPr>
              <a:t>           	temp = var1 ;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fr-FR" altLang="zh-CN" sz="2800" dirty="0">
                <a:solidFill>
                  <a:schemeClr val="tx1"/>
                </a:solidFill>
              </a:rPr>
              <a:t>           	var1 = ( T1 ) var2 ;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fr-FR" altLang="zh-CN" sz="2800" dirty="0">
                <a:solidFill>
                  <a:schemeClr val="tx1"/>
                </a:solidFill>
              </a:rPr>
              <a:t>           	</a:t>
            </a:r>
            <a:r>
              <a:rPr lang="en-US" altLang="zh-CN" sz="2800" dirty="0">
                <a:solidFill>
                  <a:schemeClr val="tx1"/>
                </a:solidFill>
              </a:rPr>
              <a:t>var2 = ( T2 ) temp ;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     } 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4813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44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112224" y="2420888"/>
            <a:ext cx="3831498" cy="378565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rgbClr val="002060"/>
                </a:solidFill>
              </a:rPr>
              <a:t>int</a:t>
            </a:r>
            <a:r>
              <a:rPr lang="en-US" altLang="zh-CN" dirty="0">
                <a:solidFill>
                  <a:srgbClr val="002060"/>
                </a:solidFill>
              </a:rPr>
              <a:t> main()</a:t>
            </a:r>
          </a:p>
          <a:p>
            <a:r>
              <a:rPr lang="en-US" altLang="zh-CN" dirty="0">
                <a:solidFill>
                  <a:srgbClr val="002060"/>
                </a:solidFill>
              </a:rPr>
              <a:t>{</a:t>
            </a:r>
          </a:p>
          <a:p>
            <a:r>
              <a:rPr lang="en-US" altLang="zh-CN" dirty="0">
                <a:solidFill>
                  <a:srgbClr val="002060"/>
                </a:solidFill>
              </a:rPr>
              <a:t>   </a:t>
            </a:r>
            <a:r>
              <a:rPr lang="en-US" altLang="zh-CN" dirty="0" err="1">
                <a:solidFill>
                  <a:srgbClr val="002060"/>
                </a:solidFill>
              </a:rPr>
              <a:t>int</a:t>
            </a:r>
            <a:r>
              <a:rPr lang="en-US" altLang="zh-CN" dirty="0">
                <a:solidFill>
                  <a:srgbClr val="002060"/>
                </a:solidFill>
              </a:rPr>
              <a:t> a;</a:t>
            </a:r>
          </a:p>
          <a:p>
            <a:r>
              <a:rPr lang="en-US" altLang="zh-CN" dirty="0">
                <a:solidFill>
                  <a:srgbClr val="002060"/>
                </a:solidFill>
              </a:rPr>
              <a:t>   double b;</a:t>
            </a:r>
          </a:p>
          <a:p>
            <a:r>
              <a:rPr lang="en-US" altLang="zh-CN" dirty="0">
                <a:solidFill>
                  <a:srgbClr val="002060"/>
                </a:solidFill>
              </a:rPr>
              <a:t>   </a:t>
            </a:r>
            <a:r>
              <a:rPr lang="en-US" altLang="zh-CN" dirty="0" err="1">
                <a:solidFill>
                  <a:srgbClr val="002060"/>
                </a:solidFill>
              </a:rPr>
              <a:t>cin</a:t>
            </a:r>
            <a:r>
              <a:rPr lang="en-US" altLang="zh-CN" dirty="0">
                <a:solidFill>
                  <a:srgbClr val="002060"/>
                </a:solidFill>
              </a:rPr>
              <a:t>&gt;&gt;a&gt;&gt;b;</a:t>
            </a:r>
          </a:p>
          <a:p>
            <a:r>
              <a:rPr lang="en-US" altLang="zh-CN" dirty="0">
                <a:solidFill>
                  <a:srgbClr val="002060"/>
                </a:solidFill>
              </a:rPr>
              <a:t>   swap(</a:t>
            </a:r>
            <a:r>
              <a:rPr lang="en-US" altLang="zh-CN" dirty="0" err="1">
                <a:solidFill>
                  <a:srgbClr val="002060"/>
                </a:solidFill>
              </a:rPr>
              <a:t>a,b</a:t>
            </a:r>
            <a:r>
              <a:rPr lang="en-US" altLang="zh-CN" dirty="0">
                <a:solidFill>
                  <a:srgbClr val="002060"/>
                </a:solidFill>
              </a:rPr>
              <a:t>);</a:t>
            </a:r>
          </a:p>
          <a:p>
            <a:r>
              <a:rPr lang="en-US" altLang="zh-CN" dirty="0">
                <a:solidFill>
                  <a:srgbClr val="002060"/>
                </a:solidFill>
              </a:rPr>
              <a:t>   </a:t>
            </a:r>
            <a:r>
              <a:rPr lang="en-US" altLang="zh-CN" dirty="0" err="1">
                <a:solidFill>
                  <a:srgbClr val="002060"/>
                </a:solidFill>
              </a:rPr>
              <a:t>cout</a:t>
            </a:r>
            <a:r>
              <a:rPr lang="en-US" altLang="zh-CN" dirty="0">
                <a:solidFill>
                  <a:srgbClr val="002060"/>
                </a:solidFill>
              </a:rPr>
              <a:t>&lt;&lt;a&lt;&lt;“  “&lt;&lt;b&lt;&lt;</a:t>
            </a:r>
            <a:r>
              <a:rPr lang="en-US" altLang="zh-CN" dirty="0" err="1">
                <a:solidFill>
                  <a:srgbClr val="002060"/>
                </a:solidFill>
              </a:rPr>
              <a:t>endl</a:t>
            </a:r>
            <a:r>
              <a:rPr lang="en-US" altLang="zh-CN" dirty="0">
                <a:solidFill>
                  <a:srgbClr val="002060"/>
                </a:solidFill>
              </a:rPr>
              <a:t>;</a:t>
            </a:r>
          </a:p>
          <a:p>
            <a:r>
              <a:rPr lang="en-US" altLang="zh-CN" dirty="0">
                <a:solidFill>
                  <a:srgbClr val="002060"/>
                </a:solidFill>
              </a:rPr>
              <a:t>   return 0;</a:t>
            </a:r>
          </a:p>
          <a:p>
            <a:r>
              <a:rPr lang="en-US" altLang="zh-CN" dirty="0">
                <a:solidFill>
                  <a:srgbClr val="002060"/>
                </a:solidFill>
              </a:rPr>
              <a:t>}</a:t>
            </a:r>
          </a:p>
          <a:p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6" name="AutoShape 3"/>
          <p:cNvSpPr/>
          <p:nvPr/>
        </p:nvSpPr>
        <p:spPr>
          <a:xfrm>
            <a:off x="6744072" y="6319838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3-12-1.cpp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4.9.4  </a:t>
            </a:r>
            <a:r>
              <a:rPr lang="zh-CN" altLang="en-US" dirty="0"/>
              <a:t>函数模板重载 </a:t>
            </a:r>
          </a:p>
        </p:txBody>
      </p:sp>
      <p:sp>
        <p:nvSpPr>
          <p:cNvPr id="4915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dirty="0">
                <a:solidFill>
                  <a:schemeClr val="tx1"/>
                </a:solidFill>
              </a:rPr>
              <a:t>45</a:t>
            </a:fld>
            <a:endParaRPr lang="en-US" altLang="en-US" sz="1600" dirty="0">
              <a:solidFill>
                <a:schemeClr val="tx1"/>
              </a:solidFill>
            </a:endParaRPr>
          </a:p>
        </p:txBody>
      </p:sp>
      <p:sp>
        <p:nvSpPr>
          <p:cNvPr id="49156" name="Text Box 4"/>
          <p:cNvSpPr txBox="1"/>
          <p:nvPr/>
        </p:nvSpPr>
        <p:spPr>
          <a:xfrm>
            <a:off x="2566989" y="1773239"/>
            <a:ext cx="7921625" cy="4854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template  &lt; class  T &gt;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T  sum ( T  valueOne , T  valueTwo )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{   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  return  valueOne + valueTwo 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}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template  &lt; class  T &gt;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T  sum ( T  valueOne , T  valueTwo , T  valueThree )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{   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   return  valueOne + valueTwo + valueThree ;</a:t>
            </a:r>
          </a:p>
          <a:p>
            <a:pPr eaLnBrk="1" fontAlgn="t" hangingPunct="1"/>
            <a:r>
              <a:rPr lang="pt-BR" altLang="zh-CN" sz="2600" dirty="0">
                <a:solidFill>
                  <a:schemeClr val="tx1"/>
                </a:solidFill>
              </a:rPr>
              <a:t>} </a:t>
            </a:r>
          </a:p>
          <a:p>
            <a:pPr eaLnBrk="1" fontAlgn="t" hangingPunct="1"/>
            <a:r>
              <a:rPr lang="zh-CN" altLang="pt-BR" sz="2600" dirty="0">
                <a:solidFill>
                  <a:schemeClr val="tx1"/>
                </a:solidFill>
              </a:rPr>
              <a:t>调用形式：</a:t>
            </a:r>
            <a:r>
              <a:rPr lang="pt-BR" altLang="zh-CN" sz="2600" dirty="0">
                <a:solidFill>
                  <a:schemeClr val="tx1"/>
                </a:solidFill>
              </a:rPr>
              <a:t>sum ( num1 , num2 )</a:t>
            </a:r>
            <a:r>
              <a:rPr lang="zh-CN" altLang="pt-BR" sz="2600" dirty="0">
                <a:solidFill>
                  <a:schemeClr val="tx1"/>
                </a:solidFill>
              </a:rPr>
              <a:t>；</a:t>
            </a:r>
          </a:p>
          <a:p>
            <a:pPr eaLnBrk="1" fontAlgn="t" hangingPunct="1"/>
            <a:r>
              <a:rPr lang="pt-BR" altLang="zh-CN" sz="2600" dirty="0">
                <a:solidFill>
                  <a:schemeClr val="tx1"/>
                </a:solidFill>
              </a:rPr>
              <a:t>                    sum ( num1 , num2 , num3)</a:t>
            </a:r>
            <a:r>
              <a:rPr lang="zh-CN" altLang="pt-BR" sz="2600" dirty="0">
                <a:solidFill>
                  <a:schemeClr val="tx1"/>
                </a:solidFill>
              </a:rPr>
              <a:t>；</a:t>
            </a:r>
            <a:endParaRPr lang="zh-CN" altLang="en-US" sz="2600" dirty="0">
              <a:solidFill>
                <a:schemeClr val="tx1"/>
              </a:solidFill>
            </a:endParaRPr>
          </a:p>
        </p:txBody>
      </p:sp>
      <p:sp>
        <p:nvSpPr>
          <p:cNvPr id="49157" name="Text Box 7"/>
          <p:cNvSpPr txBox="1"/>
          <p:nvPr/>
        </p:nvSpPr>
        <p:spPr>
          <a:xfrm>
            <a:off x="1703389" y="3100389"/>
            <a:ext cx="503237" cy="15700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fontAlgn="t" hangingPunct="1">
              <a:spcBef>
                <a:spcPct val="50000"/>
              </a:spcBef>
            </a:pPr>
            <a:r>
              <a:rPr lang="zh-CN" altLang="en-US" dirty="0">
                <a:solidFill>
                  <a:srgbClr val="C00000"/>
                </a:solidFill>
              </a:rPr>
              <a:t>形式之一</a:t>
            </a:r>
          </a:p>
        </p:txBody>
      </p:sp>
      <p:sp>
        <p:nvSpPr>
          <p:cNvPr id="49158" name="AutoShape 8"/>
          <p:cNvSpPr/>
          <p:nvPr/>
        </p:nvSpPr>
        <p:spPr>
          <a:xfrm>
            <a:off x="2351088" y="2433639"/>
            <a:ext cx="215900" cy="3240087"/>
          </a:xfrm>
          <a:prstGeom prst="leftBrace">
            <a:avLst>
              <a:gd name="adj1" fmla="val 124991"/>
              <a:gd name="adj2" fmla="val 50000"/>
            </a:avLst>
          </a:prstGeom>
          <a:noFill/>
          <a:ln w="25400" cap="flat" cmpd="sng">
            <a:solidFill>
              <a:srgbClr val="C0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fontAlgn="t" hangingPunct="1"/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4.9.4  </a:t>
            </a:r>
            <a:r>
              <a:rPr lang="zh-CN" altLang="en-US" dirty="0"/>
              <a:t>函数模板重载 </a:t>
            </a:r>
          </a:p>
        </p:txBody>
      </p:sp>
      <p:sp>
        <p:nvSpPr>
          <p:cNvPr id="5017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46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50180" name="Text Box 3"/>
          <p:cNvSpPr txBox="1"/>
          <p:nvPr/>
        </p:nvSpPr>
        <p:spPr>
          <a:xfrm>
            <a:off x="2566989" y="1773239"/>
            <a:ext cx="7921625" cy="4378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fontAlgn="t" hangingPunct="1">
              <a:lnSpc>
                <a:spcPct val="12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float  sum ( float  valueOne , float  valueTwo )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{     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	return   valueOne + valueTwo ;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} 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template  &lt; class  T &gt;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T  sum ( T  valueOne , T  valueTwo , T  valueThree ) 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{    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	return   valueOne + valueTwo + valueThree ;</a:t>
            </a:r>
          </a:p>
          <a:p>
            <a:pPr eaLnBrk="1" fontAlgn="t" hangingPunct="1">
              <a:lnSpc>
                <a:spcPct val="12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50181" name="Text Box 4"/>
          <p:cNvSpPr txBox="1"/>
          <p:nvPr/>
        </p:nvSpPr>
        <p:spPr>
          <a:xfrm>
            <a:off x="1703389" y="3100389"/>
            <a:ext cx="503237" cy="15700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fontAlgn="t" hangingPunct="1">
              <a:spcBef>
                <a:spcPct val="50000"/>
              </a:spcBef>
            </a:pPr>
            <a:r>
              <a:rPr lang="zh-CN" altLang="en-US" dirty="0">
                <a:solidFill>
                  <a:srgbClr val="C00000"/>
                </a:solidFill>
              </a:rPr>
              <a:t>形式之二</a:t>
            </a:r>
          </a:p>
        </p:txBody>
      </p:sp>
      <p:sp>
        <p:nvSpPr>
          <p:cNvPr id="50182" name="AutoShape 5"/>
          <p:cNvSpPr/>
          <p:nvPr/>
        </p:nvSpPr>
        <p:spPr>
          <a:xfrm>
            <a:off x="2330451" y="2111376"/>
            <a:ext cx="144463" cy="3889375"/>
          </a:xfrm>
          <a:prstGeom prst="leftBrace">
            <a:avLst>
              <a:gd name="adj1" fmla="val 224233"/>
              <a:gd name="adj2" fmla="val 50000"/>
            </a:avLst>
          </a:prstGeom>
          <a:noFill/>
          <a:ln w="25400" cap="flat" cmpd="sng">
            <a:solidFill>
              <a:srgbClr val="C0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fontAlgn="t" hangingPunct="1"/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fr-FR" altLang="zh-CN" dirty="0"/>
              <a:t>4.10 </a:t>
            </a:r>
            <a:r>
              <a:rPr lang="zh-CN" altLang="en-US" dirty="0"/>
              <a:t>内联函数 </a:t>
            </a:r>
          </a:p>
        </p:txBody>
      </p:sp>
      <p:sp>
        <p:nvSpPr>
          <p:cNvPr id="5120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频繁的函数调用会降低程序的效率，因为函数调用要有一定的时间和空间开销。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对一些函数体代码不是很大，但又频繁被调用的函数，引入内联函数可解决这一问题。 例如：</a:t>
            </a:r>
          </a:p>
        </p:txBody>
      </p:sp>
      <p:sp>
        <p:nvSpPr>
          <p:cNvPr id="5120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47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4"/>
          <p:cNvSpPr txBox="1"/>
          <p:nvPr/>
        </p:nvSpPr>
        <p:spPr>
          <a:xfrm>
            <a:off x="47328" y="500168"/>
            <a:ext cx="7777162" cy="5648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inline 	 bool   isDigit ( char  ch 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{	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return  ch&gt;='0' &amp;&amp; ch&lt;='9' ? true : false;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}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int main ( 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{ char  ch;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while( cin.get(ch) 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   if( </a:t>
            </a:r>
            <a:r>
              <a:rPr lang="en-US" altLang="zh-CN" sz="2600" dirty="0">
                <a:solidFill>
                  <a:srgbClr val="FF0000"/>
                </a:solidFill>
              </a:rPr>
              <a:t>isDigit(ch)</a:t>
            </a:r>
            <a:r>
              <a:rPr lang="en-US" altLang="zh-CN" sz="2600" dirty="0">
                <a:solidFill>
                  <a:schemeClr val="tx1"/>
                </a:solidFill>
              </a:rPr>
              <a:t> 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cout&lt;&lt;ch&lt;&lt;" is a Digit.\n";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  else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cout&lt;&lt;ch&lt;&lt;" is not a Digit.\n";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 return 0;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}</a:t>
            </a:r>
            <a:endParaRPr lang="zh-CN" altLang="en-US" sz="2600" dirty="0">
              <a:solidFill>
                <a:schemeClr val="tx1"/>
              </a:solidFill>
            </a:endParaRPr>
          </a:p>
        </p:txBody>
      </p:sp>
      <p:sp>
        <p:nvSpPr>
          <p:cNvPr id="3" name="Text Box 4"/>
          <p:cNvSpPr txBox="1"/>
          <p:nvPr/>
        </p:nvSpPr>
        <p:spPr>
          <a:xfrm>
            <a:off x="5783288" y="2055065"/>
            <a:ext cx="6408712" cy="4093428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eaLnBrk="1" fontAlgn="t" hangingPunct="1"/>
            <a:r>
              <a:rPr lang="en-US" altLang="zh-CN" sz="2600" dirty="0" err="1">
                <a:solidFill>
                  <a:schemeClr val="tx1"/>
                </a:solidFill>
              </a:rPr>
              <a:t>int</a:t>
            </a:r>
            <a:r>
              <a:rPr lang="en-US" altLang="zh-CN" sz="2600" dirty="0">
                <a:solidFill>
                  <a:schemeClr val="tx1"/>
                </a:solidFill>
              </a:rPr>
              <a:t> main ( 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{char  ch;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while( cin.get(ch) 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</a:t>
            </a:r>
            <a:r>
              <a:rPr lang="en-US" altLang="zh-CN" sz="2600" dirty="0">
                <a:solidFill>
                  <a:srgbClr val="FF0000"/>
                </a:solidFill>
              </a:rPr>
              <a:t>if(</a:t>
            </a:r>
            <a:r>
              <a:rPr lang="en-US" altLang="zh-CN" sz="2600" dirty="0" err="1">
                <a:solidFill>
                  <a:srgbClr val="FF0000"/>
                </a:solidFill>
              </a:rPr>
              <a:t>ch</a:t>
            </a:r>
            <a:r>
              <a:rPr lang="en-US" altLang="zh-CN" sz="2600" dirty="0">
                <a:solidFill>
                  <a:srgbClr val="FF0000"/>
                </a:solidFill>
              </a:rPr>
              <a:t>&gt;='0' &amp;&amp; </a:t>
            </a:r>
            <a:r>
              <a:rPr lang="en-US" altLang="zh-CN" sz="2600" dirty="0" err="1">
                <a:solidFill>
                  <a:srgbClr val="FF0000"/>
                </a:solidFill>
              </a:rPr>
              <a:t>ch</a:t>
            </a:r>
            <a:r>
              <a:rPr lang="en-US" altLang="zh-CN" sz="2600" dirty="0">
                <a:solidFill>
                  <a:srgbClr val="FF0000"/>
                </a:solidFill>
              </a:rPr>
              <a:t>&lt;='9' ? true : false </a:t>
            </a:r>
            <a:r>
              <a:rPr lang="en-US" altLang="zh-CN" sz="2600" dirty="0">
                <a:solidFill>
                  <a:schemeClr val="tx1"/>
                </a:solidFill>
              </a:rPr>
              <a:t>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</a:t>
            </a:r>
            <a:r>
              <a:rPr lang="en-US" altLang="zh-CN" sz="2600" dirty="0" err="1">
                <a:solidFill>
                  <a:schemeClr val="tx1"/>
                </a:solidFill>
              </a:rPr>
              <a:t>cout</a:t>
            </a:r>
            <a:r>
              <a:rPr lang="en-US" altLang="zh-CN" sz="2600" dirty="0">
                <a:solidFill>
                  <a:schemeClr val="tx1"/>
                </a:solidFill>
              </a:rPr>
              <a:t>&lt;&lt;ch&lt;&lt;" is a Digit.\n";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else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	</a:t>
            </a:r>
            <a:r>
              <a:rPr lang="en-US" altLang="zh-CN" sz="2600" dirty="0" err="1">
                <a:solidFill>
                  <a:schemeClr val="tx1"/>
                </a:solidFill>
              </a:rPr>
              <a:t>cout</a:t>
            </a:r>
            <a:r>
              <a:rPr lang="en-US" altLang="zh-CN" sz="2600" dirty="0">
                <a:solidFill>
                  <a:schemeClr val="tx1"/>
                </a:solidFill>
              </a:rPr>
              <a:t>&lt;&lt;ch&lt;&lt;" is not a Digit.\n";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return 0;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}</a:t>
            </a:r>
            <a:endParaRPr lang="zh-CN" altLang="en-US" sz="2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fr-FR" altLang="zh-CN" dirty="0"/>
              <a:t>4.10 </a:t>
            </a:r>
            <a:r>
              <a:rPr lang="zh-CN" altLang="en-US" dirty="0"/>
              <a:t>内联函数</a:t>
            </a:r>
          </a:p>
        </p:txBody>
      </p:sp>
      <p:sp>
        <p:nvSpPr>
          <p:cNvPr id="53252" name="Rectangle 3"/>
          <p:cNvSpPr>
            <a:spLocks noGrp="1"/>
          </p:cNvSpPr>
          <p:nvPr>
            <p:ph idx="1"/>
          </p:nvPr>
        </p:nvSpPr>
        <p:spPr>
          <a:xfrm>
            <a:off x="1981200" y="1752601"/>
            <a:ext cx="8153400" cy="455612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20000"/>
              </a:lnSpc>
              <a:spcBef>
                <a:spcPct val="30000"/>
              </a:spcBef>
            </a:pPr>
            <a:r>
              <a:rPr lang="zh-CN" altLang="en-US" sz="2600" dirty="0">
                <a:solidFill>
                  <a:schemeClr val="tx1"/>
                </a:solidFill>
              </a:rPr>
              <a:t>将函数前加上</a:t>
            </a:r>
            <a:r>
              <a:rPr lang="en-US" altLang="zh-CN" sz="2600" dirty="0">
                <a:solidFill>
                  <a:schemeClr val="tx1"/>
                </a:solidFill>
              </a:rPr>
              <a:t>inline</a:t>
            </a:r>
            <a:r>
              <a:rPr lang="zh-CN" altLang="en-US" sz="2600" dirty="0">
                <a:solidFill>
                  <a:schemeClr val="tx1"/>
                </a:solidFill>
              </a:rPr>
              <a:t>关键字，对编译器来说，只是一个建议，编译器可忽略它。 </a:t>
            </a:r>
          </a:p>
          <a:p>
            <a:pPr eaLnBrk="1" hangingPunct="1">
              <a:lnSpc>
                <a:spcPct val="120000"/>
              </a:lnSpc>
              <a:spcBef>
                <a:spcPct val="30000"/>
              </a:spcBef>
            </a:pPr>
            <a:r>
              <a:rPr lang="zh-CN" altLang="en-US" sz="2600" dirty="0">
                <a:solidFill>
                  <a:schemeClr val="tx1"/>
                </a:solidFill>
              </a:rPr>
              <a:t>在内联函数内不允许用循环语句、</a:t>
            </a:r>
            <a:r>
              <a:rPr lang="en-US" altLang="zh-CN" sz="2600" dirty="0">
                <a:solidFill>
                  <a:schemeClr val="tx1"/>
                </a:solidFill>
              </a:rPr>
              <a:t>switch</a:t>
            </a:r>
            <a:r>
              <a:rPr lang="zh-CN" altLang="en-US" sz="2600" dirty="0">
                <a:solidFill>
                  <a:schemeClr val="tx1"/>
                </a:solidFill>
              </a:rPr>
              <a:t>语句和嵌套的</a:t>
            </a:r>
            <a:r>
              <a:rPr lang="en-US" altLang="zh-CN" sz="2600" dirty="0">
                <a:solidFill>
                  <a:schemeClr val="tx1"/>
                </a:solidFill>
              </a:rPr>
              <a:t>if</a:t>
            </a:r>
            <a:r>
              <a:rPr lang="zh-CN" altLang="en-US" sz="2600" dirty="0">
                <a:solidFill>
                  <a:schemeClr val="tx1"/>
                </a:solidFill>
              </a:rPr>
              <a:t>等。 即使将这样的函数定义为内联函数，系统也将它们作为一般函数处理，达不到优化的目的。 </a:t>
            </a:r>
          </a:p>
          <a:p>
            <a:pPr eaLnBrk="1" hangingPunct="1">
              <a:lnSpc>
                <a:spcPct val="120000"/>
              </a:lnSpc>
              <a:spcBef>
                <a:spcPct val="30000"/>
              </a:spcBef>
            </a:pPr>
            <a:r>
              <a:rPr lang="zh-CN" altLang="en-US" sz="2600" dirty="0">
                <a:solidFill>
                  <a:schemeClr val="tx1"/>
                </a:solidFill>
              </a:rPr>
              <a:t>关键字</a:t>
            </a:r>
            <a:r>
              <a:rPr lang="en-US" altLang="zh-CN" sz="2600" dirty="0">
                <a:solidFill>
                  <a:schemeClr val="tx1"/>
                </a:solidFill>
              </a:rPr>
              <a:t>inline</a:t>
            </a:r>
            <a:r>
              <a:rPr lang="zh-CN" altLang="en-US" sz="2600" dirty="0">
                <a:solidFill>
                  <a:schemeClr val="tx1"/>
                </a:solidFill>
              </a:rPr>
              <a:t>可以同时用在函数定义和声明处。如果函数定义在调用之后，则必须在函数声明中就包括</a:t>
            </a:r>
            <a:r>
              <a:rPr lang="en-US" altLang="zh-CN" sz="2600" dirty="0">
                <a:solidFill>
                  <a:schemeClr val="tx1"/>
                </a:solidFill>
              </a:rPr>
              <a:t>inline</a:t>
            </a:r>
            <a:r>
              <a:rPr lang="zh-CN" altLang="en-US" sz="2600" dirty="0">
                <a:solidFill>
                  <a:schemeClr val="tx1"/>
                </a:solidFill>
              </a:rPr>
              <a:t>，否则将作为一般函数处理。 </a:t>
            </a:r>
          </a:p>
        </p:txBody>
      </p:sp>
      <p:sp>
        <p:nvSpPr>
          <p:cNvPr id="5325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49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4"/>
          <p:cNvSpPr txBox="1"/>
          <p:nvPr/>
        </p:nvSpPr>
        <p:spPr>
          <a:xfrm>
            <a:off x="2063552" y="260649"/>
            <a:ext cx="7777162" cy="4401205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zh-CN" sz="2000" dirty="0">
                <a:solidFill>
                  <a:schemeClr val="tx1"/>
                </a:solidFill>
              </a:rPr>
              <a:t>inline 	 bool   isDigit ( char  ch )</a:t>
            </a:r>
          </a:p>
          <a:p>
            <a:pPr eaLnBrk="1" fontAlgn="t" hangingPunct="1"/>
            <a:r>
              <a:rPr lang="en-US" altLang="zh-CN" sz="2000" dirty="0">
                <a:solidFill>
                  <a:schemeClr val="tx1"/>
                </a:solidFill>
              </a:rPr>
              <a:t>{	</a:t>
            </a:r>
          </a:p>
          <a:p>
            <a:pPr eaLnBrk="1" fontAlgn="t" hangingPunct="1"/>
            <a:r>
              <a:rPr lang="en-US" altLang="zh-CN" sz="2000" dirty="0">
                <a:solidFill>
                  <a:schemeClr val="tx1"/>
                </a:solidFill>
              </a:rPr>
              <a:t>	return  ch&gt;='0' &amp;&amp; ch&lt;='9' ? true : false;</a:t>
            </a:r>
          </a:p>
          <a:p>
            <a:pPr eaLnBrk="1" fontAlgn="t" hangingPunct="1"/>
            <a:r>
              <a:rPr lang="en-US" altLang="zh-CN" sz="2000" dirty="0">
                <a:solidFill>
                  <a:schemeClr val="tx1"/>
                </a:solidFill>
              </a:rPr>
              <a:t>}</a:t>
            </a:r>
          </a:p>
          <a:p>
            <a:pPr eaLnBrk="1" fontAlgn="t" hangingPunct="1"/>
            <a:r>
              <a:rPr lang="en-US" altLang="zh-CN" sz="2000" dirty="0">
                <a:solidFill>
                  <a:schemeClr val="tx1"/>
                </a:solidFill>
              </a:rPr>
              <a:t>int main ( )</a:t>
            </a:r>
          </a:p>
          <a:p>
            <a:pPr eaLnBrk="1" fontAlgn="t" hangingPunct="1"/>
            <a:r>
              <a:rPr lang="en-US" altLang="zh-CN" sz="2000" dirty="0">
                <a:solidFill>
                  <a:schemeClr val="tx1"/>
                </a:solidFill>
              </a:rPr>
              <a:t>{	char  ch;</a:t>
            </a:r>
          </a:p>
          <a:p>
            <a:pPr eaLnBrk="1" fontAlgn="t" hangingPunct="1"/>
            <a:r>
              <a:rPr lang="en-US" altLang="zh-CN" sz="2000" dirty="0">
                <a:solidFill>
                  <a:schemeClr val="tx1"/>
                </a:solidFill>
              </a:rPr>
              <a:t>	</a:t>
            </a:r>
          </a:p>
          <a:p>
            <a:pPr eaLnBrk="1" fontAlgn="t" hangingPunct="1"/>
            <a:r>
              <a:rPr lang="en-US" altLang="zh-CN" sz="2000" dirty="0">
                <a:solidFill>
                  <a:schemeClr val="tx1"/>
                </a:solidFill>
              </a:rPr>
              <a:t>	while( cin.get(ch) )</a:t>
            </a:r>
          </a:p>
          <a:p>
            <a:pPr eaLnBrk="1" fontAlgn="t" hangingPunct="1"/>
            <a:r>
              <a:rPr lang="en-US" altLang="zh-CN" sz="2000" dirty="0">
                <a:solidFill>
                  <a:schemeClr val="tx1"/>
                </a:solidFill>
              </a:rPr>
              <a:t>		if( </a:t>
            </a:r>
            <a:r>
              <a:rPr lang="en-US" altLang="zh-CN" sz="2000" dirty="0">
                <a:solidFill>
                  <a:srgbClr val="FF0000"/>
                </a:solidFill>
              </a:rPr>
              <a:t>isDigit(ch)</a:t>
            </a:r>
            <a:r>
              <a:rPr lang="en-US" altLang="zh-CN" sz="2000" dirty="0">
                <a:solidFill>
                  <a:schemeClr val="tx1"/>
                </a:solidFill>
              </a:rPr>
              <a:t> )</a:t>
            </a:r>
          </a:p>
          <a:p>
            <a:pPr eaLnBrk="1" fontAlgn="t" hangingPunct="1"/>
            <a:r>
              <a:rPr lang="en-US" altLang="zh-CN" sz="2000" dirty="0">
                <a:solidFill>
                  <a:schemeClr val="tx1"/>
                </a:solidFill>
              </a:rPr>
              <a:t>			cout&lt;&lt;ch&lt;&lt;" is a Digit.\n";</a:t>
            </a:r>
          </a:p>
          <a:p>
            <a:pPr eaLnBrk="1" fontAlgn="t" hangingPunct="1"/>
            <a:r>
              <a:rPr lang="en-US" altLang="zh-CN" sz="2000" dirty="0">
                <a:solidFill>
                  <a:schemeClr val="tx1"/>
                </a:solidFill>
              </a:rPr>
              <a:t>		else</a:t>
            </a:r>
          </a:p>
          <a:p>
            <a:pPr eaLnBrk="1" fontAlgn="t" hangingPunct="1"/>
            <a:r>
              <a:rPr lang="en-US" altLang="zh-CN" sz="2000" dirty="0">
                <a:solidFill>
                  <a:schemeClr val="tx1"/>
                </a:solidFill>
              </a:rPr>
              <a:t>			cout&lt;&lt;ch&lt;&lt;" is not a Digit.\n";</a:t>
            </a:r>
          </a:p>
          <a:p>
            <a:pPr eaLnBrk="1" fontAlgn="t" hangingPunct="1"/>
            <a:r>
              <a:rPr lang="en-US" altLang="zh-CN" sz="2000" dirty="0">
                <a:solidFill>
                  <a:schemeClr val="tx1"/>
                </a:solidFill>
              </a:rPr>
              <a:t>	return 0; </a:t>
            </a:r>
          </a:p>
          <a:p>
            <a:pPr eaLnBrk="1" fontAlgn="t" hangingPunct="1"/>
            <a:r>
              <a:rPr lang="en-US" altLang="zh-CN" sz="2000" dirty="0">
                <a:solidFill>
                  <a:schemeClr val="tx1"/>
                </a:solidFill>
              </a:rPr>
              <a:t>}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A43AEA9-8BB7-BDE6-3CFD-1E5E817B0B24}"/>
              </a:ext>
            </a:extLst>
          </p:cNvPr>
          <p:cNvSpPr txBox="1"/>
          <p:nvPr/>
        </p:nvSpPr>
        <p:spPr>
          <a:xfrm>
            <a:off x="3575721" y="4869160"/>
            <a:ext cx="5803705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inline</a:t>
            </a:r>
            <a:r>
              <a:rPr lang="en-US" altLang="zh-CN" dirty="0">
                <a:solidFill>
                  <a:srgbClr val="002060"/>
                </a:solidFill>
              </a:rPr>
              <a:t> bool </a:t>
            </a:r>
            <a:r>
              <a:rPr lang="en-US" altLang="zh-CN" dirty="0" err="1">
                <a:solidFill>
                  <a:srgbClr val="002060"/>
                </a:solidFill>
              </a:rPr>
              <a:t>isDigit</a:t>
            </a:r>
            <a:r>
              <a:rPr lang="en-US" altLang="zh-CN" dirty="0">
                <a:solidFill>
                  <a:srgbClr val="002060"/>
                </a:solidFill>
              </a:rPr>
              <a:t>(char </a:t>
            </a:r>
            <a:r>
              <a:rPr lang="en-US" altLang="zh-CN" dirty="0" err="1">
                <a:solidFill>
                  <a:srgbClr val="002060"/>
                </a:solidFill>
              </a:rPr>
              <a:t>ch</a:t>
            </a:r>
            <a:r>
              <a:rPr lang="en-US" altLang="zh-CN" dirty="0">
                <a:solidFill>
                  <a:srgbClr val="002060"/>
                </a:solidFill>
              </a:rPr>
              <a:t>)</a:t>
            </a:r>
          </a:p>
          <a:p>
            <a:r>
              <a:rPr lang="en-US" altLang="zh-CN" dirty="0">
                <a:solidFill>
                  <a:srgbClr val="002060"/>
                </a:solidFill>
              </a:rPr>
              <a:t>{</a:t>
            </a:r>
          </a:p>
          <a:p>
            <a:r>
              <a:rPr lang="en-US" altLang="zh-CN" dirty="0">
                <a:solidFill>
                  <a:srgbClr val="002060"/>
                </a:solidFill>
              </a:rPr>
              <a:t>    return </a:t>
            </a:r>
            <a:r>
              <a:rPr lang="en-US" altLang="zh-CN" dirty="0" err="1">
                <a:solidFill>
                  <a:srgbClr val="002060"/>
                </a:solidFill>
              </a:rPr>
              <a:t>ch</a:t>
            </a:r>
            <a:r>
              <a:rPr lang="en-US" altLang="zh-CN" dirty="0">
                <a:solidFill>
                  <a:srgbClr val="002060"/>
                </a:solidFill>
              </a:rPr>
              <a:t>&gt;=‘0’ &amp;&amp; </a:t>
            </a:r>
            <a:r>
              <a:rPr lang="en-US" altLang="zh-CN" dirty="0" err="1">
                <a:solidFill>
                  <a:srgbClr val="002060"/>
                </a:solidFill>
              </a:rPr>
              <a:t>ch</a:t>
            </a:r>
            <a:r>
              <a:rPr lang="en-US" altLang="zh-CN" dirty="0">
                <a:solidFill>
                  <a:srgbClr val="002060"/>
                </a:solidFill>
              </a:rPr>
              <a:t>&lt;=‘9’ ? </a:t>
            </a:r>
            <a:r>
              <a:rPr lang="en-US" altLang="zh-CN" dirty="0" err="1">
                <a:solidFill>
                  <a:srgbClr val="002060"/>
                </a:solidFill>
              </a:rPr>
              <a:t>true:false</a:t>
            </a:r>
            <a:r>
              <a:rPr lang="en-US" altLang="zh-CN" dirty="0">
                <a:solidFill>
                  <a:srgbClr val="002060"/>
                </a:solidFill>
              </a:rPr>
              <a:t>;</a:t>
            </a:r>
          </a:p>
          <a:p>
            <a:r>
              <a:rPr lang="en-US" altLang="zh-CN" dirty="0">
                <a:solidFill>
                  <a:srgbClr val="002060"/>
                </a:solidFill>
              </a:rPr>
              <a:t>}</a:t>
            </a:r>
            <a:endParaRPr lang="zh-CN" alt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423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4.11 </a:t>
            </a:r>
            <a:r>
              <a:rPr lang="zh-CN" altLang="en-US" dirty="0"/>
              <a:t>函数的递归调用 </a:t>
            </a:r>
          </a:p>
        </p:txBody>
      </p:sp>
      <p:sp>
        <p:nvSpPr>
          <p:cNvPr id="5427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sz="2800" dirty="0">
                <a:solidFill>
                  <a:schemeClr val="tx1"/>
                </a:solidFill>
              </a:rPr>
              <a:t>一个函数直接或间接地调用该函数本身就称为函数的递归调用。</a:t>
            </a:r>
          </a:p>
          <a:p>
            <a:pPr eaLnBrk="1" hangingPunct="1"/>
            <a:r>
              <a:rPr lang="zh-CN" altLang="en-US" sz="2800" dirty="0">
                <a:solidFill>
                  <a:schemeClr val="tx1"/>
                </a:solidFill>
              </a:rPr>
              <a:t>直接递归：函数</a:t>
            </a:r>
            <a:r>
              <a:rPr lang="en-US" altLang="zh-CN" sz="2800" dirty="0">
                <a:solidFill>
                  <a:schemeClr val="tx1"/>
                </a:solidFill>
              </a:rPr>
              <a:t>F</a:t>
            </a:r>
            <a:r>
              <a:rPr lang="zh-CN" altLang="en-US" sz="2800" dirty="0">
                <a:solidFill>
                  <a:schemeClr val="tx1"/>
                </a:solidFill>
              </a:rPr>
              <a:t>在自己的函数体中调用了</a:t>
            </a:r>
            <a:r>
              <a:rPr lang="en-US" altLang="zh-CN" sz="2800" dirty="0">
                <a:solidFill>
                  <a:schemeClr val="tx1"/>
                </a:solidFill>
              </a:rPr>
              <a:t>F</a:t>
            </a:r>
            <a:r>
              <a:rPr lang="zh-CN" altLang="en-US" sz="2800" dirty="0">
                <a:solidFill>
                  <a:schemeClr val="tx1"/>
                </a:solidFill>
              </a:rPr>
              <a:t>；</a:t>
            </a:r>
          </a:p>
          <a:p>
            <a:pPr eaLnBrk="1" hangingPunct="1"/>
            <a:r>
              <a:rPr lang="zh-CN" altLang="en-US" sz="2800" dirty="0">
                <a:solidFill>
                  <a:schemeClr val="tx1"/>
                </a:solidFill>
              </a:rPr>
              <a:t>间接递归：函数</a:t>
            </a:r>
            <a:r>
              <a:rPr lang="en-US" altLang="zh-CN" sz="2800" dirty="0">
                <a:solidFill>
                  <a:schemeClr val="tx1"/>
                </a:solidFill>
              </a:rPr>
              <a:t>F1</a:t>
            </a:r>
            <a:r>
              <a:rPr lang="zh-CN" altLang="en-US" sz="2800" dirty="0">
                <a:solidFill>
                  <a:schemeClr val="tx1"/>
                </a:solidFill>
              </a:rPr>
              <a:t>调用了函数</a:t>
            </a:r>
            <a:r>
              <a:rPr lang="en-US" altLang="zh-CN" sz="2800" dirty="0">
                <a:solidFill>
                  <a:schemeClr val="tx1"/>
                </a:solidFill>
              </a:rPr>
              <a:t>F2</a:t>
            </a:r>
            <a:r>
              <a:rPr lang="zh-CN" altLang="en-US" sz="2800" dirty="0">
                <a:solidFill>
                  <a:schemeClr val="tx1"/>
                </a:solidFill>
              </a:rPr>
              <a:t>，而函数</a:t>
            </a:r>
            <a:r>
              <a:rPr lang="en-US" altLang="zh-CN" sz="2800" dirty="0">
                <a:solidFill>
                  <a:schemeClr val="tx1"/>
                </a:solidFill>
              </a:rPr>
              <a:t>F2</a:t>
            </a:r>
            <a:r>
              <a:rPr lang="zh-CN" altLang="en-US" sz="2800" dirty="0">
                <a:solidFill>
                  <a:schemeClr val="tx1"/>
                </a:solidFill>
              </a:rPr>
              <a:t>又调用了</a:t>
            </a:r>
            <a:r>
              <a:rPr lang="en-US" altLang="zh-CN" sz="2800" dirty="0">
                <a:solidFill>
                  <a:schemeClr val="tx1"/>
                </a:solidFill>
              </a:rPr>
              <a:t>F1</a:t>
            </a:r>
            <a:r>
              <a:rPr lang="zh-CN" altLang="en-US" sz="2800" dirty="0">
                <a:solidFill>
                  <a:schemeClr val="tx1"/>
                </a:solidFill>
              </a:rPr>
              <a:t>，。</a:t>
            </a:r>
          </a:p>
          <a:p>
            <a:pPr eaLnBrk="1" hangingPunct="1"/>
            <a:r>
              <a:rPr lang="zh-CN" altLang="en-US" sz="2800" dirty="0">
                <a:solidFill>
                  <a:schemeClr val="tx1"/>
                </a:solidFill>
              </a:rPr>
              <a:t>递归应该有终止条件，否则就是一个死递归。 </a:t>
            </a:r>
          </a:p>
          <a:p>
            <a:pPr eaLnBrk="1" hangingPunct="1"/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1</a:t>
            </a:r>
            <a:r>
              <a:rPr lang="zh-CN" altLang="en-US" sz="2800" dirty="0">
                <a:solidFill>
                  <a:schemeClr val="tx1"/>
                </a:solidFill>
              </a:rPr>
              <a:t>：求解 </a:t>
            </a:r>
            <a:r>
              <a:rPr lang="en-US" altLang="zh-CN" dirty="0">
                <a:solidFill>
                  <a:schemeClr val="tx1"/>
                </a:solidFill>
              </a:rPr>
              <a:t>n!</a:t>
            </a:r>
          </a:p>
        </p:txBody>
      </p:sp>
      <p:sp>
        <p:nvSpPr>
          <p:cNvPr id="5427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51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5"/>
          <p:cNvSpPr txBox="1"/>
          <p:nvPr/>
        </p:nvSpPr>
        <p:spPr>
          <a:xfrm>
            <a:off x="1919288" y="2276475"/>
            <a:ext cx="3744912" cy="4070350"/>
          </a:xfrm>
          <a:prstGeom prst="rect">
            <a:avLst/>
          </a:prstGeom>
          <a:noFill/>
          <a:ln w="19050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double  fac( int  n )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{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  double y;</a:t>
            </a:r>
          </a:p>
          <a:p>
            <a:pPr eaLnBrk="1" fontAlgn="t" hangingPunct="1"/>
            <a:endParaRPr lang="en-US" altLang="zh-CN" sz="26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     </a:t>
            </a:r>
            <a:r>
              <a:rPr lang="en-US" altLang="zh-CN" sz="2600" dirty="0">
                <a:solidFill>
                  <a:schemeClr val="tx1"/>
                </a:solidFill>
              </a:rPr>
              <a:t>if (0==n || 1==n)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y=1;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  else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y = n * fac( n-1 );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  return  y 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}</a:t>
            </a:r>
            <a:endParaRPr lang="zh-CN" altLang="en-US" sz="2600" dirty="0">
              <a:solidFill>
                <a:schemeClr val="tx1"/>
              </a:solidFill>
            </a:endParaRPr>
          </a:p>
        </p:txBody>
      </p:sp>
      <p:sp>
        <p:nvSpPr>
          <p:cNvPr id="55299" name="Text Box 6"/>
          <p:cNvSpPr txBox="1"/>
          <p:nvPr/>
        </p:nvSpPr>
        <p:spPr>
          <a:xfrm>
            <a:off x="5951539" y="2276475"/>
            <a:ext cx="4537075" cy="4070350"/>
          </a:xfrm>
          <a:prstGeom prst="rect">
            <a:avLst/>
          </a:prstGeom>
          <a:noFill/>
          <a:ln w="19050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int main (  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{   int   n;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  double  result;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  cin &gt;&gt; n 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  if( n &gt;= 0 )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  {	result = fac( n );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	cout &lt;&lt; result&lt;&lt;endl;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    }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    return 0;    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55300" name="Text Box 8"/>
          <p:cNvSpPr txBox="1"/>
          <p:nvPr/>
        </p:nvSpPr>
        <p:spPr>
          <a:xfrm>
            <a:off x="7535864" y="1093788"/>
            <a:ext cx="2808287" cy="830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fontAlgn="t" hangingPunct="1"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</a:rPr>
              <a:t>通过递归图和栈的变化理解该程序。</a:t>
            </a:r>
          </a:p>
        </p:txBody>
      </p:sp>
      <p:sp>
        <p:nvSpPr>
          <p:cNvPr id="55301" name="AutoShape 9"/>
          <p:cNvSpPr/>
          <p:nvPr/>
        </p:nvSpPr>
        <p:spPr>
          <a:xfrm>
            <a:off x="8759826" y="5805488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dirty="0">
                <a:solidFill>
                  <a:schemeClr val="tx1"/>
                </a:solidFill>
              </a:rPr>
              <a:t>3-15.cpp</a:t>
            </a:r>
          </a:p>
        </p:txBody>
      </p:sp>
      <p:pic>
        <p:nvPicPr>
          <p:cNvPr id="5530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651" y="491490"/>
            <a:ext cx="3202305" cy="1549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4"/>
          <p:cNvSpPr txBox="1"/>
          <p:nvPr/>
        </p:nvSpPr>
        <p:spPr>
          <a:xfrm>
            <a:off x="551022" y="405074"/>
            <a:ext cx="7489825" cy="6203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【</a:t>
            </a:r>
            <a:r>
              <a:rPr lang="zh-CN" altLang="en-US" sz="2600" dirty="0">
                <a:solidFill>
                  <a:schemeClr val="tx1"/>
                </a:solidFill>
              </a:rPr>
              <a:t>例</a:t>
            </a:r>
            <a:r>
              <a:rPr lang="en-US" altLang="zh-CN" sz="2600" dirty="0">
                <a:solidFill>
                  <a:schemeClr val="tx1"/>
                </a:solidFill>
              </a:rPr>
              <a:t>3.17】</a:t>
            </a:r>
            <a:r>
              <a:rPr lang="zh-CN" altLang="en-US" sz="2600" dirty="0">
                <a:solidFill>
                  <a:schemeClr val="tx1"/>
                </a:solidFill>
              </a:rPr>
              <a:t>采用递归方法求解</a:t>
            </a:r>
            <a:r>
              <a:rPr lang="en-US" altLang="zh-CN" sz="2600" dirty="0">
                <a:solidFill>
                  <a:schemeClr val="tx1"/>
                </a:solidFill>
              </a:rPr>
              <a:t>Fibonacci</a:t>
            </a:r>
            <a:r>
              <a:rPr lang="zh-CN" altLang="en-US" sz="2600" dirty="0">
                <a:solidFill>
                  <a:schemeClr val="tx1"/>
                </a:solidFill>
              </a:rPr>
              <a:t>数列 。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int  fib( int  n);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int  countTimes=0;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int  main ( )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{   int i;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    for(i=1; i&lt;=24; i++) 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    {  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         cout &lt;&lt; fib(i) ;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         if( i%6 ==0 )   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	 cout &lt;&lt;endl;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     }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     cout &lt;&lt; countTimes;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     return 0;</a:t>
            </a:r>
          </a:p>
          <a:p>
            <a:pPr eaLnBrk="1" fontAlgn="t" hangingPunct="1">
              <a:lnSpc>
                <a:spcPct val="11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}</a:t>
            </a:r>
            <a:endParaRPr lang="zh-CN" altLang="en-US" sz="2600" dirty="0">
              <a:solidFill>
                <a:schemeClr val="tx1"/>
              </a:solidFill>
            </a:endParaRPr>
          </a:p>
        </p:txBody>
      </p:sp>
      <p:sp>
        <p:nvSpPr>
          <p:cNvPr id="76805" name="Text Box 5"/>
          <p:cNvSpPr txBox="1"/>
          <p:nvPr/>
        </p:nvSpPr>
        <p:spPr>
          <a:xfrm>
            <a:off x="5736591" y="1272859"/>
            <a:ext cx="4608513" cy="3673475"/>
          </a:xfrm>
          <a:prstGeom prst="rect">
            <a:avLst/>
          </a:prstGeom>
          <a:noFill/>
          <a:ln w="19050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int  fib( int  n)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{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 countTimes++;</a:t>
            </a:r>
          </a:p>
          <a:p>
            <a:pPr eaLnBrk="1" fontAlgn="t" hangingPunct="1"/>
            <a:endParaRPr lang="en-US" altLang="zh-CN" sz="2600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  if(0==n || 1==n)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       return 1;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   else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          return  fib(n-1)+fib(n-2);</a:t>
            </a:r>
          </a:p>
          <a:p>
            <a:pPr eaLnBrk="1" fontAlgn="t" hangingPunct="1"/>
            <a:r>
              <a:rPr lang="en-US" altLang="zh-CN" sz="2600" dirty="0">
                <a:solidFill>
                  <a:schemeClr val="tx1"/>
                </a:solidFill>
              </a:rPr>
              <a:t>}</a:t>
            </a:r>
            <a:endParaRPr lang="zh-CN" altLang="en-US" sz="2600" dirty="0">
              <a:solidFill>
                <a:schemeClr val="tx1"/>
              </a:solidFill>
            </a:endParaRPr>
          </a:p>
        </p:txBody>
      </p:sp>
      <p:sp>
        <p:nvSpPr>
          <p:cNvPr id="59396" name="AutoShape 6"/>
          <p:cNvSpPr/>
          <p:nvPr/>
        </p:nvSpPr>
        <p:spPr>
          <a:xfrm>
            <a:off x="8256589" y="6165850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dirty="0">
                <a:solidFill>
                  <a:schemeClr val="tx1"/>
                </a:solidFill>
              </a:rPr>
              <a:t>3-17.cpp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7154943" y="251194"/>
                <a:ext cx="5043175" cy="8238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       , 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d>
                                  <m:dPr>
                                    <m:ctrlPr>
                                      <a:rPr lang="en-US" altLang="zh-CN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n-US" altLang="zh-CN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</m:d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d>
                                  <m:dPr>
                                    <m:ctrlPr>
                                      <a:rPr lang="en-US" altLang="zh-CN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n-US" altLang="zh-CN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</m:d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4943" y="251194"/>
                <a:ext cx="5043175" cy="8238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6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5" grpId="0" bldLvl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022689" y="3284984"/>
            <a:ext cx="59859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hlinkClick r:id="rId2"/>
              </a:rPr>
              <a:t>汉诺塔小游戏和递归思想</a:t>
            </a:r>
            <a:r>
              <a:rPr lang="en-US" altLang="zh-CN" dirty="0">
                <a:hlinkClick r:id="rId2"/>
              </a:rPr>
              <a:t>_</a:t>
            </a:r>
            <a:r>
              <a:rPr lang="zh-CN" altLang="en-US" dirty="0">
                <a:hlinkClick r:id="rId2"/>
              </a:rPr>
              <a:t>哔哩哔哩</a:t>
            </a:r>
            <a:r>
              <a:rPr lang="en-US" altLang="zh-CN" dirty="0">
                <a:hlinkClick r:id="rId2"/>
              </a:rPr>
              <a:t>_</a:t>
            </a:r>
            <a:r>
              <a:rPr lang="en-US" altLang="zh-CN" dirty="0" err="1">
                <a:hlinkClick r:id="rId2"/>
              </a:rPr>
              <a:t>bilibili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847527" y="692696"/>
            <a:ext cx="35878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例：汉诺塔问题（自学）</a:t>
            </a:r>
          </a:p>
        </p:txBody>
      </p:sp>
    </p:spTree>
    <p:extLst>
      <p:ext uri="{BB962C8B-B14F-4D97-AF65-F5344CB8AC3E}">
        <p14:creationId xmlns:p14="http://schemas.microsoft.com/office/powerpoint/2010/main" val="401026809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4.13  </a:t>
            </a:r>
            <a:r>
              <a:rPr lang="zh-CN" altLang="en-US" dirty="0"/>
              <a:t>编译预处理 </a:t>
            </a:r>
          </a:p>
        </p:txBody>
      </p:sp>
      <p:sp>
        <p:nvSpPr>
          <p:cNvPr id="6144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sz="2600" dirty="0">
                <a:solidFill>
                  <a:schemeClr val="tx1"/>
                </a:solidFill>
              </a:rPr>
              <a:t>是在编译源程序之前进行的一些简单处理。</a:t>
            </a:r>
          </a:p>
          <a:p>
            <a:pPr eaLnBrk="1" hangingPunct="1"/>
            <a:r>
              <a:rPr lang="zh-CN" altLang="en-US" sz="2600" dirty="0">
                <a:solidFill>
                  <a:schemeClr val="tx1"/>
                </a:solidFill>
              </a:rPr>
              <a:t>预处理指令都是以“</a:t>
            </a:r>
            <a:r>
              <a:rPr lang="en-US" altLang="zh-CN" sz="2600" dirty="0">
                <a:solidFill>
                  <a:schemeClr val="tx1"/>
                </a:solidFill>
              </a:rPr>
              <a:t>#”</a:t>
            </a:r>
            <a:r>
              <a:rPr lang="zh-CN" altLang="en-US" sz="2600" dirty="0">
                <a:solidFill>
                  <a:schemeClr val="tx1"/>
                </a:solidFill>
              </a:rPr>
              <a:t>开头，每条指令占一行，一般写在程序的开始部分。</a:t>
            </a:r>
          </a:p>
          <a:p>
            <a:pPr eaLnBrk="1" hangingPunct="1"/>
            <a:r>
              <a:rPr lang="zh-CN" altLang="en-US" sz="2600" dirty="0">
                <a:solidFill>
                  <a:schemeClr val="tx1"/>
                </a:solidFill>
              </a:rPr>
              <a:t>源程序进行预处理后，将生成一个临时文件，然后编译器再对这个临时文件进行编译生成目标文件、通过链接生成可执行文件。</a:t>
            </a:r>
          </a:p>
          <a:p>
            <a:pPr eaLnBrk="1" hangingPunct="1"/>
            <a:r>
              <a:rPr lang="zh-CN" altLang="en-US" sz="2600" dirty="0">
                <a:solidFill>
                  <a:schemeClr val="tx1"/>
                </a:solidFill>
              </a:rPr>
              <a:t>编译预处理主要包括：宏定义、文件包含和条件编译。 </a:t>
            </a:r>
          </a:p>
        </p:txBody>
      </p:sp>
      <p:sp>
        <p:nvSpPr>
          <p:cNvPr id="6144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55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4.13.1 </a:t>
            </a:r>
            <a:r>
              <a:rPr lang="zh-CN" altLang="en-US" dirty="0"/>
              <a:t>宏定义 </a:t>
            </a:r>
          </a:p>
        </p:txBody>
      </p:sp>
      <p:sp>
        <p:nvSpPr>
          <p:cNvPr id="6246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sz="2800" dirty="0">
                <a:solidFill>
                  <a:schemeClr val="tx1"/>
                </a:solidFill>
              </a:rPr>
              <a:t>宏定义以</a:t>
            </a:r>
            <a:r>
              <a:rPr lang="en-US" altLang="zh-CN" sz="2800" dirty="0">
                <a:solidFill>
                  <a:schemeClr val="tx1"/>
                </a:solidFill>
              </a:rPr>
              <a:t>#define</a:t>
            </a:r>
            <a:r>
              <a:rPr lang="zh-CN" altLang="en-US" sz="2800" dirty="0">
                <a:solidFill>
                  <a:schemeClr val="tx1"/>
                </a:solidFill>
              </a:rPr>
              <a:t>开始，分不带参数和带参数：</a:t>
            </a:r>
          </a:p>
          <a:p>
            <a:pPr eaLnBrk="1" hangingPunct="1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1. </a:t>
            </a:r>
            <a:r>
              <a:rPr lang="zh-CN" altLang="en-US" sz="2800" dirty="0">
                <a:solidFill>
                  <a:schemeClr val="tx1"/>
                </a:solidFill>
              </a:rPr>
              <a:t>不带参数的宏定义</a:t>
            </a: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		</a:t>
            </a:r>
            <a:r>
              <a:rPr lang="en-US" altLang="zh-CN" sz="2800" dirty="0">
                <a:solidFill>
                  <a:schemeClr val="tx1"/>
                </a:solidFill>
              </a:rPr>
              <a:t>#define    </a:t>
            </a:r>
            <a:r>
              <a:rPr lang="zh-CN" altLang="en-US" sz="2800" dirty="0">
                <a:solidFill>
                  <a:schemeClr val="tx1"/>
                </a:solidFill>
              </a:rPr>
              <a:t>宏名    字符串</a:t>
            </a: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例如：	</a:t>
            </a:r>
            <a:r>
              <a:rPr lang="en-US" altLang="zh-CN" sz="2800" dirty="0">
                <a:solidFill>
                  <a:schemeClr val="tx1"/>
                </a:solidFill>
              </a:rPr>
              <a:t>#define    PI   3.14 </a:t>
            </a:r>
          </a:p>
          <a:p>
            <a:pPr eaLnBrk="1" hangingPunct="1">
              <a:buNone/>
            </a:pP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概念：宏代换或宏展开 </a:t>
            </a:r>
          </a:p>
        </p:txBody>
      </p:sp>
      <p:sp>
        <p:nvSpPr>
          <p:cNvPr id="6246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56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4.13.1 </a:t>
            </a:r>
            <a:r>
              <a:rPr lang="zh-CN" altLang="en-US" dirty="0"/>
              <a:t>宏定义 </a:t>
            </a:r>
          </a:p>
        </p:txBody>
      </p:sp>
      <p:sp>
        <p:nvSpPr>
          <p:cNvPr id="63492" name="Rectangle 3"/>
          <p:cNvSpPr>
            <a:spLocks noGrp="1"/>
          </p:cNvSpPr>
          <p:nvPr>
            <p:ph idx="1"/>
          </p:nvPr>
        </p:nvSpPr>
        <p:spPr>
          <a:xfrm>
            <a:off x="1981200" y="1619250"/>
            <a:ext cx="8153400" cy="461803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2.  </a:t>
            </a:r>
            <a:r>
              <a:rPr lang="zh-CN" altLang="en-US" sz="2800" dirty="0">
                <a:solidFill>
                  <a:schemeClr val="tx1"/>
                </a:solidFill>
              </a:rPr>
              <a:t>带参数的宏定义</a:t>
            </a: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		</a:t>
            </a:r>
            <a:r>
              <a:rPr lang="en-US" altLang="zh-CN" sz="2800" dirty="0">
                <a:solidFill>
                  <a:schemeClr val="tx1"/>
                </a:solidFill>
              </a:rPr>
              <a:t>#define    </a:t>
            </a:r>
            <a:r>
              <a:rPr lang="zh-CN" altLang="en-US" sz="2800" dirty="0">
                <a:solidFill>
                  <a:schemeClr val="tx1"/>
                </a:solidFill>
              </a:rPr>
              <a:t>宏名</a:t>
            </a:r>
            <a:r>
              <a:rPr lang="en-US" altLang="zh-CN" sz="2800" dirty="0">
                <a:solidFill>
                  <a:schemeClr val="tx1"/>
                </a:solidFill>
              </a:rPr>
              <a:t>(</a:t>
            </a:r>
            <a:r>
              <a:rPr lang="zh-CN" altLang="en-US" sz="2800" dirty="0">
                <a:solidFill>
                  <a:schemeClr val="tx1"/>
                </a:solidFill>
              </a:rPr>
              <a:t>参数表</a:t>
            </a:r>
            <a:r>
              <a:rPr lang="en-US" altLang="zh-CN" sz="2800" dirty="0">
                <a:solidFill>
                  <a:schemeClr val="tx1"/>
                </a:solidFill>
              </a:rPr>
              <a:t>)    </a:t>
            </a:r>
            <a:r>
              <a:rPr lang="zh-CN" altLang="en-US" sz="2800" dirty="0">
                <a:solidFill>
                  <a:schemeClr val="tx1"/>
                </a:solidFill>
              </a:rPr>
              <a:t>字符串</a:t>
            </a: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例如：</a:t>
            </a:r>
            <a:r>
              <a:rPr lang="en-US" altLang="zh-CN" sz="2800" dirty="0">
                <a:solidFill>
                  <a:schemeClr val="tx1"/>
                </a:solidFill>
              </a:rPr>
              <a:t>#define      MUL(x,y)     (x)*(y)</a:t>
            </a: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假设程序中有</a:t>
            </a:r>
            <a:r>
              <a:rPr lang="en-US" altLang="zh-CN" sz="2800" dirty="0">
                <a:solidFill>
                  <a:schemeClr val="tx1"/>
                </a:solidFill>
              </a:rPr>
              <a:t>:</a:t>
            </a:r>
          </a:p>
          <a:p>
            <a:pPr eaLnBrk="1" hangingPunct="1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		MUL(3+1,  6+8)</a:t>
            </a:r>
            <a:r>
              <a:rPr lang="zh-CN" altLang="en-US" sz="2800" dirty="0">
                <a:solidFill>
                  <a:schemeClr val="tx1"/>
                </a:solidFill>
              </a:rPr>
              <a:t>会展开为：</a:t>
            </a:r>
            <a:r>
              <a:rPr lang="en-US" altLang="zh-CN" sz="2800" dirty="0">
                <a:solidFill>
                  <a:schemeClr val="tx1"/>
                </a:solidFill>
              </a:rPr>
              <a:t>…</a:t>
            </a:r>
          </a:p>
          <a:p>
            <a:pPr eaLnBrk="1" hangingPunct="1"/>
            <a:r>
              <a:rPr lang="zh-CN" altLang="en-US" sz="2800" dirty="0">
                <a:solidFill>
                  <a:schemeClr val="tx1"/>
                </a:solidFill>
              </a:rPr>
              <a:t>注意</a:t>
            </a:r>
            <a:r>
              <a:rPr lang="en-US" altLang="zh-CN" sz="2800" dirty="0">
                <a:solidFill>
                  <a:schemeClr val="tx1"/>
                </a:solidFill>
              </a:rPr>
              <a:t>1</a:t>
            </a:r>
            <a:r>
              <a:rPr lang="zh-CN" altLang="en-US" sz="2800" dirty="0">
                <a:solidFill>
                  <a:schemeClr val="tx1"/>
                </a:solidFill>
              </a:rPr>
              <a:t>：续行符</a:t>
            </a:r>
            <a:r>
              <a:rPr lang="en-US" altLang="zh-CN" sz="2800" dirty="0">
                <a:solidFill>
                  <a:schemeClr val="tx1"/>
                </a:solidFill>
              </a:rPr>
              <a:t>“\”</a:t>
            </a:r>
            <a:r>
              <a:rPr lang="zh-CN" altLang="en-US" sz="2800" dirty="0">
                <a:solidFill>
                  <a:schemeClr val="tx1"/>
                </a:solidFill>
              </a:rPr>
              <a:t>的应用。</a:t>
            </a: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        </a:t>
            </a:r>
            <a:r>
              <a:rPr lang="en-US" altLang="zh-CN" sz="2800" dirty="0">
                <a:solidFill>
                  <a:schemeClr val="tx1"/>
                </a:solidFill>
              </a:rPr>
              <a:t>2</a:t>
            </a:r>
            <a:r>
              <a:rPr lang="zh-CN" altLang="en-US" sz="2800" dirty="0">
                <a:solidFill>
                  <a:schemeClr val="tx1"/>
                </a:solidFill>
              </a:rPr>
              <a:t>：</a:t>
            </a:r>
            <a:r>
              <a:rPr lang="fr-FR" altLang="zh-CN" sz="2800" dirty="0">
                <a:solidFill>
                  <a:schemeClr val="tx1"/>
                </a:solidFill>
              </a:rPr>
              <a:t>#define      ADD       (x, y)        x+y </a:t>
            </a:r>
          </a:p>
          <a:p>
            <a:pPr eaLnBrk="1" hangingPunct="1">
              <a:buNone/>
            </a:pPr>
            <a:r>
              <a:rPr lang="zh-CN" altLang="fr-FR" sz="2800" dirty="0">
                <a:solidFill>
                  <a:schemeClr val="tx1"/>
                </a:solidFill>
              </a:rPr>
              <a:t>            </a:t>
            </a:r>
            <a:r>
              <a:rPr lang="fr-FR" altLang="zh-CN" sz="2800" dirty="0">
                <a:solidFill>
                  <a:schemeClr val="tx1"/>
                </a:solidFill>
              </a:rPr>
              <a:t>3</a:t>
            </a:r>
            <a:r>
              <a:rPr lang="zh-CN" altLang="fr-FR" sz="2800" dirty="0">
                <a:solidFill>
                  <a:schemeClr val="tx1"/>
                </a:solidFill>
              </a:rPr>
              <a:t>：</a:t>
            </a:r>
            <a:r>
              <a:rPr lang="zh-CN" altLang="en-US" sz="2800" dirty="0">
                <a:solidFill>
                  <a:schemeClr val="tx1"/>
                </a:solidFill>
              </a:rPr>
              <a:t>带参的宏与函数的区别 </a:t>
            </a:r>
          </a:p>
        </p:txBody>
      </p:sp>
      <p:sp>
        <p:nvSpPr>
          <p:cNvPr id="6349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57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4.13.2 </a:t>
            </a:r>
            <a:r>
              <a:rPr lang="zh-CN" altLang="en-US" dirty="0"/>
              <a:t>文件包含 </a:t>
            </a:r>
          </a:p>
        </p:txBody>
      </p:sp>
      <p:sp>
        <p:nvSpPr>
          <p:cNvPr id="6451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sz="2800" dirty="0">
                <a:solidFill>
                  <a:schemeClr val="tx1"/>
                </a:solidFill>
              </a:rPr>
              <a:t>格式为：</a:t>
            </a: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		</a:t>
            </a:r>
            <a:r>
              <a:rPr lang="en-US" altLang="zh-CN" sz="2800" dirty="0">
                <a:solidFill>
                  <a:schemeClr val="tx1"/>
                </a:solidFill>
              </a:rPr>
              <a:t>#include &lt;</a:t>
            </a:r>
            <a:r>
              <a:rPr lang="zh-CN" altLang="en-US" sz="2800" dirty="0">
                <a:solidFill>
                  <a:schemeClr val="tx1"/>
                </a:solidFill>
              </a:rPr>
              <a:t>文件名</a:t>
            </a:r>
            <a:r>
              <a:rPr lang="en-US" altLang="zh-CN" sz="2800" dirty="0">
                <a:solidFill>
                  <a:schemeClr val="tx1"/>
                </a:solidFill>
              </a:rPr>
              <a:t>&gt;   </a:t>
            </a:r>
            <a:r>
              <a:rPr lang="zh-CN" altLang="en-US" sz="2800" dirty="0">
                <a:solidFill>
                  <a:schemeClr val="tx1"/>
                </a:solidFill>
              </a:rPr>
              <a:t>或</a:t>
            </a: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		</a:t>
            </a:r>
            <a:r>
              <a:rPr lang="en-US" altLang="zh-CN" sz="2800" dirty="0">
                <a:solidFill>
                  <a:schemeClr val="tx1"/>
                </a:solidFill>
              </a:rPr>
              <a:t>#include "</a:t>
            </a:r>
            <a:r>
              <a:rPr lang="zh-CN" altLang="en-US" sz="2800" dirty="0">
                <a:solidFill>
                  <a:schemeClr val="tx1"/>
                </a:solidFill>
              </a:rPr>
              <a:t>文件名</a:t>
            </a:r>
            <a:r>
              <a:rPr lang="en-US" altLang="zh-CN" sz="2800" dirty="0">
                <a:solidFill>
                  <a:schemeClr val="tx1"/>
                </a:solidFill>
              </a:rPr>
              <a:t>"</a:t>
            </a: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第一种格式：标准格式，用于嵌入系统头文件。</a:t>
            </a: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第二种格式：首先在工作目录中找，如果找不到，再按标准方式进行查找。适用于包含用户自定义的头文件。 </a:t>
            </a:r>
          </a:p>
        </p:txBody>
      </p:sp>
      <p:sp>
        <p:nvSpPr>
          <p:cNvPr id="6451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58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fontAlgn="base" hangingPunct="1"/>
            <a:fld id="{9A0DB2DC-4C9A-4742-B13C-FB6460FD3503}" type="slidenum">
              <a:rPr lang="en-US" altLang="en-US" sz="1600" b="0" dirty="0">
                <a:solidFill>
                  <a:schemeClr val="tx1"/>
                </a:solidFill>
              </a:rPr>
              <a:t>59</a:t>
            </a:fld>
            <a:endParaRPr lang="en-US" altLang="en-US" sz="1600" b="0" dirty="0">
              <a:solidFill>
                <a:schemeClr val="tx1"/>
              </a:solidFill>
            </a:endParaRPr>
          </a:p>
        </p:txBody>
      </p:sp>
      <p:sp>
        <p:nvSpPr>
          <p:cNvPr id="6553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rtlCol="0" anchor="ctr" anchorCtr="0">
            <a:normAutofit/>
          </a:bodyPr>
          <a:lstStyle/>
          <a:p>
            <a:pPr eaLnBrk="1" hangingPunct="1"/>
            <a:r>
              <a:rPr lang="en-US" altLang="zh-CN" dirty="0"/>
              <a:t>4.13.3 </a:t>
            </a:r>
            <a:r>
              <a:rPr lang="zh-CN" altLang="en-US" dirty="0"/>
              <a:t>条件编译 </a:t>
            </a:r>
          </a:p>
        </p:txBody>
      </p:sp>
      <p:sp>
        <p:nvSpPr>
          <p:cNvPr id="6554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rtlCol="0" anchor="t" anchorCtr="0">
            <a:norm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dirty="0"/>
              <a:t>目的：仅编译源程序中满足条件的程序段，使生成的目标程序较短，从而减少程序运行时的内存开销并提高程序的效率。 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3287689" y="3320772"/>
            <a:ext cx="6264696" cy="22313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38088" rIns="91440" bIns="38088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zh-CN" sz="2800" b="0" dirty="0">
                <a:solidFill>
                  <a:srgbClr val="444444"/>
                </a:solidFill>
                <a:latin typeface="Arial Unicode MS"/>
              </a:rPr>
              <a:t>#ifdef 宏名 </a:t>
            </a:r>
            <a:endParaRPr lang="en-US" altLang="zh-CN" sz="2800" b="0" dirty="0">
              <a:solidFill>
                <a:srgbClr val="444444"/>
              </a:solidFill>
              <a:latin typeface="Arial Unicode MS"/>
            </a:endParaRPr>
          </a:p>
          <a:p>
            <a:r>
              <a:rPr lang="en-US" altLang="zh-CN" sz="2800" b="0" dirty="0">
                <a:solidFill>
                  <a:srgbClr val="444444"/>
                </a:solidFill>
                <a:latin typeface="Arial Unicode MS"/>
              </a:rPr>
              <a:t>    </a:t>
            </a:r>
            <a:r>
              <a:rPr lang="zh-CN" altLang="zh-CN" sz="2800" b="0" dirty="0">
                <a:solidFill>
                  <a:srgbClr val="444444"/>
                </a:solidFill>
                <a:latin typeface="Arial Unicode MS"/>
              </a:rPr>
              <a:t>程序段1</a:t>
            </a:r>
            <a:endParaRPr lang="en-US" altLang="zh-CN" sz="2800" b="0" dirty="0">
              <a:solidFill>
                <a:srgbClr val="444444"/>
              </a:solidFill>
              <a:latin typeface="Arial Unicode MS"/>
            </a:endParaRPr>
          </a:p>
          <a:p>
            <a:r>
              <a:rPr lang="zh-CN" altLang="zh-CN" sz="2800" b="0" dirty="0">
                <a:solidFill>
                  <a:srgbClr val="444444"/>
                </a:solidFill>
                <a:latin typeface="Arial Unicode MS"/>
              </a:rPr>
              <a:t> #else </a:t>
            </a:r>
            <a:endParaRPr lang="en-US" altLang="zh-CN" sz="2800" b="0" dirty="0">
              <a:solidFill>
                <a:srgbClr val="444444"/>
              </a:solidFill>
              <a:latin typeface="Arial Unicode MS"/>
            </a:endParaRPr>
          </a:p>
          <a:p>
            <a:r>
              <a:rPr lang="en-US" altLang="zh-CN" sz="2800" b="0" dirty="0">
                <a:solidFill>
                  <a:srgbClr val="444444"/>
                </a:solidFill>
                <a:latin typeface="Arial Unicode MS"/>
              </a:rPr>
              <a:t>    </a:t>
            </a:r>
            <a:r>
              <a:rPr lang="zh-CN" altLang="zh-CN" sz="2800" b="0" dirty="0">
                <a:solidFill>
                  <a:srgbClr val="444444"/>
                </a:solidFill>
                <a:latin typeface="Arial Unicode MS"/>
              </a:rPr>
              <a:t>程序段2 </a:t>
            </a:r>
            <a:endParaRPr lang="en-US" altLang="zh-CN" sz="2800" b="0" dirty="0">
              <a:solidFill>
                <a:srgbClr val="444444"/>
              </a:solidFill>
              <a:latin typeface="Arial Unicode MS"/>
            </a:endParaRPr>
          </a:p>
          <a:p>
            <a:r>
              <a:rPr lang="zh-CN" altLang="zh-CN" sz="2800" b="0" dirty="0">
                <a:solidFill>
                  <a:srgbClr val="444444"/>
                </a:solidFill>
                <a:latin typeface="Arial Unicode MS"/>
              </a:rPr>
              <a:t>#endif</a:t>
            </a:r>
            <a:r>
              <a:rPr lang="zh-CN" altLang="zh-CN" sz="1600" b="0" dirty="0">
                <a:solidFill>
                  <a:schemeClr val="tx1"/>
                </a:solidFill>
              </a:rPr>
              <a:t> </a:t>
            </a:r>
            <a:endParaRPr lang="zh-CN" altLang="zh-CN" sz="5400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287689" y="6017568"/>
            <a:ext cx="62432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444444"/>
                </a:solidFill>
                <a:latin typeface="Helvetica Neue"/>
              </a:rPr>
              <a:t>#</a:t>
            </a:r>
            <a:r>
              <a:rPr lang="en-US" altLang="zh-CN" b="0" dirty="0" err="1">
                <a:solidFill>
                  <a:srgbClr val="444444"/>
                </a:solidFill>
                <a:latin typeface="Helvetica Neue"/>
              </a:rPr>
              <a:t>ifdef</a:t>
            </a:r>
            <a:r>
              <a:rPr lang="en-US" altLang="zh-CN" b="0" dirty="0">
                <a:solidFill>
                  <a:srgbClr val="444444"/>
                </a:solidFill>
                <a:latin typeface="Helvetica Neue"/>
              </a:rPr>
              <a:t> </a:t>
            </a:r>
            <a:r>
              <a:rPr lang="zh-CN" altLang="en-US" b="0" dirty="0">
                <a:solidFill>
                  <a:srgbClr val="444444"/>
                </a:solidFill>
                <a:latin typeface="Helvetica Neue"/>
              </a:rPr>
              <a:t>判断后面的宏是否已经定义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564004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47528" y="1052736"/>
            <a:ext cx="8424936" cy="1532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zh-CN" dirty="0">
                <a:solidFill>
                  <a:schemeClr val="tx1"/>
                </a:solidFill>
              </a:rPr>
              <a:t>【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3.18】</a:t>
            </a:r>
            <a:r>
              <a:rPr lang="zh-CN" altLang="en-US" dirty="0">
                <a:solidFill>
                  <a:schemeClr val="tx1"/>
                </a:solidFill>
              </a:rPr>
              <a:t>从键盘上读入一行文本，对其中的小写字母加密。加密原则是：将每个小写字母向后移动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位，例如：</a:t>
            </a:r>
            <a:r>
              <a:rPr lang="en-US" altLang="zh-CN" dirty="0">
                <a:solidFill>
                  <a:schemeClr val="tx1"/>
                </a:solidFill>
              </a:rPr>
              <a:t>'a'</a:t>
            </a:r>
            <a:r>
              <a:rPr lang="zh-CN" altLang="en-US" dirty="0">
                <a:solidFill>
                  <a:schemeClr val="tx1"/>
                </a:solidFill>
              </a:rPr>
              <a:t>变成</a:t>
            </a:r>
            <a:r>
              <a:rPr lang="en-US" altLang="zh-CN" dirty="0">
                <a:solidFill>
                  <a:schemeClr val="tx1"/>
                </a:solidFill>
              </a:rPr>
              <a:t>'c'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‘x'</a:t>
            </a:r>
            <a:r>
              <a:rPr lang="zh-CN" altLang="en-US" dirty="0">
                <a:solidFill>
                  <a:schemeClr val="tx1"/>
                </a:solidFill>
              </a:rPr>
              <a:t>变成</a:t>
            </a:r>
            <a:r>
              <a:rPr lang="en-US" altLang="zh-CN" dirty="0">
                <a:solidFill>
                  <a:schemeClr val="tx1"/>
                </a:solidFill>
              </a:rPr>
              <a:t>‘z'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‘y'</a:t>
            </a:r>
            <a:r>
              <a:rPr lang="zh-CN" altLang="en-US" dirty="0">
                <a:solidFill>
                  <a:schemeClr val="tx1"/>
                </a:solidFill>
              </a:rPr>
              <a:t>变成</a:t>
            </a:r>
            <a:r>
              <a:rPr lang="en-US" altLang="zh-CN" dirty="0">
                <a:solidFill>
                  <a:schemeClr val="tx1"/>
                </a:solidFill>
              </a:rPr>
              <a:t>‘a'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'z'</a:t>
            </a:r>
            <a:r>
              <a:rPr lang="zh-CN" altLang="en-US" dirty="0">
                <a:solidFill>
                  <a:schemeClr val="tx1"/>
                </a:solidFill>
              </a:rPr>
              <a:t>变成</a:t>
            </a:r>
            <a:r>
              <a:rPr lang="en-US" altLang="zh-CN" dirty="0">
                <a:solidFill>
                  <a:schemeClr val="tx1"/>
                </a:solidFill>
              </a:rPr>
              <a:t>'b'</a:t>
            </a:r>
            <a:r>
              <a:rPr lang="zh-CN" altLang="en-US" dirty="0">
                <a:solidFill>
                  <a:schemeClr val="tx1"/>
                </a:solidFill>
              </a:rPr>
              <a:t>，其他字母不改变。 </a:t>
            </a:r>
          </a:p>
        </p:txBody>
      </p:sp>
    </p:spTree>
    <p:extLst>
      <p:ext uri="{BB962C8B-B14F-4D97-AF65-F5344CB8AC3E}">
        <p14:creationId xmlns:p14="http://schemas.microsoft.com/office/powerpoint/2010/main" val="16606150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4"/>
          <p:cNvSpPr txBox="1"/>
          <p:nvPr/>
        </p:nvSpPr>
        <p:spPr>
          <a:xfrm>
            <a:off x="2855913" y="188914"/>
            <a:ext cx="7631112" cy="6740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#define    CHINA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const  int  code=2;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char  cipher(int   c);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char  deCipher(int   c);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int  main (  ) 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{	char   ch;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cout &lt;&lt; "Enter a sentence: " &lt;&lt; endl;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while(cin.get(ch) &amp;&amp; ch !='\n' )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{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#ifdef  CHINA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	cout&lt;&lt; cipher(ch);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#else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	cout&lt;&lt; deCipher(ch);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#endif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}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cout &lt;&lt; endl;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return 0;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}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6563" name="AutoShape 5"/>
          <p:cNvSpPr/>
          <p:nvPr/>
        </p:nvSpPr>
        <p:spPr>
          <a:xfrm>
            <a:off x="8256589" y="6165850"/>
            <a:ext cx="1584325" cy="43180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fontAlgn="t" hangingPunct="1"/>
            <a:r>
              <a:rPr lang="en-US" altLang="zh-CN" dirty="0">
                <a:solidFill>
                  <a:schemeClr val="tx1"/>
                </a:solidFill>
              </a:rPr>
              <a:t>3-18.cpp</a:t>
            </a:r>
          </a:p>
        </p:txBody>
      </p:sp>
    </p:spTree>
    <p:extLst>
      <p:ext uri="{BB962C8B-B14F-4D97-AF65-F5344CB8AC3E}">
        <p14:creationId xmlns:p14="http://schemas.microsoft.com/office/powerpoint/2010/main" val="1536465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2"/>
          <p:cNvSpPr txBox="1"/>
          <p:nvPr/>
        </p:nvSpPr>
        <p:spPr>
          <a:xfrm>
            <a:off x="2786063" y="149226"/>
            <a:ext cx="7631112" cy="6740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char  cipher(int c)		// </a:t>
            </a:r>
            <a:r>
              <a:rPr lang="zh-CN" altLang="en-US" dirty="0">
                <a:solidFill>
                  <a:schemeClr val="tx1"/>
                </a:solidFill>
              </a:rPr>
              <a:t>加密函数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{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if( c &gt;= 'a' &amp;&amp; c &lt;= 'z' )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zh-CN" altLang="en-US" dirty="0">
                <a:solidFill>
                  <a:schemeClr val="tx1"/>
                </a:solidFill>
              </a:rPr>
              <a:t>	</a:t>
            </a:r>
            <a:r>
              <a:rPr lang="en-US" altLang="zh-CN" dirty="0">
                <a:solidFill>
                  <a:schemeClr val="tx1"/>
                </a:solidFill>
              </a:rPr>
              <a:t>{	c=c+code;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	if(c&gt;'z')	// </a:t>
            </a:r>
            <a:r>
              <a:rPr lang="zh-CN" altLang="en-US" dirty="0">
                <a:solidFill>
                  <a:schemeClr val="tx1"/>
                </a:solidFill>
              </a:rPr>
              <a:t>处理溢出的情况</a:t>
            </a:r>
          </a:p>
          <a:p>
            <a:pPr eaLnBrk="1" fontAlgn="t" hangingPunct="1"/>
            <a:r>
              <a:rPr lang="zh-CN" altLang="en-US" dirty="0">
                <a:solidFill>
                  <a:schemeClr val="tx1"/>
                </a:solidFill>
              </a:rPr>
              <a:t>			</a:t>
            </a:r>
            <a:r>
              <a:rPr lang="en-US" altLang="zh-CN" dirty="0">
                <a:solidFill>
                  <a:schemeClr val="tx1"/>
                </a:solidFill>
              </a:rPr>
              <a:t>c=c-26;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}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return (char)c;  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}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char  deCipher(int c)		// </a:t>
            </a:r>
            <a:r>
              <a:rPr lang="zh-CN" altLang="en-US" dirty="0">
                <a:solidFill>
                  <a:schemeClr val="tx1"/>
                </a:solidFill>
              </a:rPr>
              <a:t>解密函数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{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if( c &gt;= 'a' &amp;&amp; c &lt;= 'z' )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fontAlgn="t" hangingPunct="1"/>
            <a:r>
              <a:rPr lang="zh-CN" altLang="en-US" dirty="0">
                <a:solidFill>
                  <a:schemeClr val="tx1"/>
                </a:solidFill>
              </a:rPr>
              <a:t>	</a:t>
            </a:r>
            <a:r>
              <a:rPr lang="en-US" altLang="zh-CN" dirty="0">
                <a:solidFill>
                  <a:schemeClr val="tx1"/>
                </a:solidFill>
              </a:rPr>
              <a:t>{	c=c-code;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	if(c&lt;'a')	// </a:t>
            </a:r>
            <a:r>
              <a:rPr lang="zh-CN" altLang="en-US" dirty="0">
                <a:solidFill>
                  <a:schemeClr val="tx1"/>
                </a:solidFill>
              </a:rPr>
              <a:t>处理溢出的情况</a:t>
            </a:r>
          </a:p>
          <a:p>
            <a:pPr eaLnBrk="1" fontAlgn="t" hangingPunct="1"/>
            <a:r>
              <a:rPr lang="zh-CN" altLang="en-US" dirty="0">
                <a:solidFill>
                  <a:schemeClr val="tx1"/>
                </a:solidFill>
              </a:rPr>
              <a:t>			</a:t>
            </a:r>
            <a:r>
              <a:rPr lang="en-US" altLang="zh-CN" dirty="0">
                <a:solidFill>
                  <a:schemeClr val="tx1"/>
                </a:solidFill>
              </a:rPr>
              <a:t>c=c+26;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}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	return (char)c;  </a:t>
            </a:r>
          </a:p>
          <a:p>
            <a:pPr eaLnBrk="1" fontAlgn="t" hangingPunct="1"/>
            <a:r>
              <a:rPr lang="en-US" altLang="zh-CN" dirty="0">
                <a:solidFill>
                  <a:schemeClr val="tx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30432452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916</TotalTime>
  <Words>6309</Words>
  <Application>Microsoft Office PowerPoint</Application>
  <PresentationFormat>宽屏</PresentationFormat>
  <Paragraphs>653</Paragraphs>
  <Slides>62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62</vt:i4>
      </vt:variant>
    </vt:vector>
  </HeadingPairs>
  <TitlesOfParts>
    <vt:vector size="77" baseType="lpstr">
      <vt:lpstr>Arial Unicode MS</vt:lpstr>
      <vt:lpstr>Helvetica Neue</vt:lpstr>
      <vt:lpstr>等线</vt:lpstr>
      <vt:lpstr>等线 Light</vt:lpstr>
      <vt:lpstr>仿宋</vt:lpstr>
      <vt:lpstr>楷体_GB2312</vt:lpstr>
      <vt:lpstr>宋体</vt:lpstr>
      <vt:lpstr>Arial</vt:lpstr>
      <vt:lpstr>Calibri</vt:lpstr>
      <vt:lpstr>Calibri Light</vt:lpstr>
      <vt:lpstr>Cambria Math</vt:lpstr>
      <vt:lpstr>consolas</vt:lpstr>
      <vt:lpstr>Times New Roman</vt:lpstr>
      <vt:lpstr>Wingdings</vt:lpstr>
      <vt:lpstr>默认设计模板</vt:lpstr>
      <vt:lpstr>第4章   函数 </vt:lpstr>
      <vt:lpstr>4.1 函数的定义和调用 </vt:lpstr>
      <vt:lpstr>4.1.2 函数的定义</vt:lpstr>
      <vt:lpstr>PowerPoint 演示文稿</vt:lpstr>
      <vt:lpstr>4.1.3 函数的调用</vt:lpstr>
      <vt:lpstr>PowerPoint 演示文稿</vt:lpstr>
      <vt:lpstr>PowerPoint 演示文稿</vt:lpstr>
      <vt:lpstr>PowerPoint 演示文稿</vt:lpstr>
      <vt:lpstr>PowerPoint 演示文稿</vt:lpstr>
      <vt:lpstr>4.2 函数的声明 </vt:lpstr>
      <vt:lpstr>PowerPoint 演示文稿</vt:lpstr>
      <vt:lpstr>4.3 函数的参数传递和返回值 </vt:lpstr>
      <vt:lpstr>PowerPoint 演示文稿</vt:lpstr>
      <vt:lpstr>4.3.2 函数的返回值 </vt:lpstr>
      <vt:lpstr>PowerPoint 演示文稿</vt:lpstr>
      <vt:lpstr>PowerPoint 演示文稿</vt:lpstr>
      <vt:lpstr>常问的3个问题 </vt:lpstr>
      <vt:lpstr>4.4 局部变量和全局变量 </vt:lpstr>
      <vt:lpstr>PowerPoint 演示文稿</vt:lpstr>
      <vt:lpstr>4.4.1 内存存储区的布局 </vt:lpstr>
      <vt:lpstr>4.4.2 局部变量 </vt:lpstr>
      <vt:lpstr>PowerPoint 演示文稿</vt:lpstr>
      <vt:lpstr>4.4.3 全局变量 </vt:lpstr>
      <vt:lpstr>PowerPoint 演示文稿</vt:lpstr>
      <vt:lpstr>4.4.4 局部变量与栈 </vt:lpstr>
      <vt:lpstr>4.5   变量的存储类别 </vt:lpstr>
      <vt:lpstr>4.5.1 auto修饰的变量 </vt:lpstr>
      <vt:lpstr>4.5.2 register修饰的变量 </vt:lpstr>
      <vt:lpstr>4.5.3 static修饰的变量 </vt:lpstr>
      <vt:lpstr>4.5.4 extern修饰的变量 </vt:lpstr>
      <vt:lpstr>4.5.4 extern修饰的变量 </vt:lpstr>
      <vt:lpstr>4.6 默认值参数 </vt:lpstr>
      <vt:lpstr>PowerPoint 演示文稿</vt:lpstr>
      <vt:lpstr>PowerPoint 演示文稿</vt:lpstr>
      <vt:lpstr>4.7  引用作参数 </vt:lpstr>
      <vt:lpstr>PowerPoint 演示文稿</vt:lpstr>
      <vt:lpstr>PowerPoint 演示文稿</vt:lpstr>
      <vt:lpstr>4.8 函数重载 </vt:lpstr>
      <vt:lpstr>PowerPoint 演示文稿</vt:lpstr>
      <vt:lpstr>4.9 函数模板 </vt:lpstr>
      <vt:lpstr>4.9.1  从函数重载到函数模板 </vt:lpstr>
      <vt:lpstr>4.9.2  定义函数模板的方法 </vt:lpstr>
      <vt:lpstr>PowerPoint 演示文稿</vt:lpstr>
      <vt:lpstr>4.9.3  在函数模板中使用多种类型 </vt:lpstr>
      <vt:lpstr>4.9.4  函数模板重载 </vt:lpstr>
      <vt:lpstr>4.9.4  函数模板重载 </vt:lpstr>
      <vt:lpstr>4.10 内联函数 </vt:lpstr>
      <vt:lpstr>PowerPoint 演示文稿</vt:lpstr>
      <vt:lpstr>4.10 内联函数</vt:lpstr>
      <vt:lpstr>PowerPoint 演示文稿</vt:lpstr>
      <vt:lpstr>4.11 函数的递归调用 </vt:lpstr>
      <vt:lpstr>PowerPoint 演示文稿</vt:lpstr>
      <vt:lpstr>PowerPoint 演示文稿</vt:lpstr>
      <vt:lpstr>PowerPoint 演示文稿</vt:lpstr>
      <vt:lpstr>4.13  编译预处理 </vt:lpstr>
      <vt:lpstr>4.13.1 宏定义 </vt:lpstr>
      <vt:lpstr>4.13.1 宏定义 </vt:lpstr>
      <vt:lpstr>4.13.2 文件包含 </vt:lpstr>
      <vt:lpstr>4.13.3 条件编译 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 教案</dc:title>
  <dc:subject>电子教案</dc:subject>
  <dc:creator>皮德常</dc:creator>
  <cp:lastModifiedBy>Alice</cp:lastModifiedBy>
  <cp:revision>780</cp:revision>
  <dcterms:created xsi:type="dcterms:W3CDTF">2021-09-17T09:04:00Z</dcterms:created>
  <dcterms:modified xsi:type="dcterms:W3CDTF">2024-10-02T15:19:32Z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7B80EB59749549D1974291CBFE5B9C27</vt:lpwstr>
  </property>
  <property fmtid="{D5CDD505-2E9C-101B-9397-08002B2CF9AE}" pid="3" name="KSOProductBuildVer">
    <vt:lpwstr>2052-11.1.0.10938</vt:lpwstr>
  </property>
</Properties>
</file>