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1" r:id="rId1"/>
  </p:sldMasterIdLst>
  <p:notesMasterIdLst>
    <p:notesMasterId r:id="rId66"/>
  </p:notesMasterIdLst>
  <p:handoutMasterIdLst>
    <p:handoutMasterId r:id="rId67"/>
  </p:handoutMasterIdLst>
  <p:sldIdLst>
    <p:sldId id="256" r:id="rId2"/>
    <p:sldId id="257" r:id="rId3"/>
    <p:sldId id="258" r:id="rId4"/>
    <p:sldId id="259" r:id="rId5"/>
    <p:sldId id="260" r:id="rId6"/>
    <p:sldId id="261" r:id="rId7"/>
    <p:sldId id="262" r:id="rId8"/>
    <p:sldId id="312" r:id="rId9"/>
    <p:sldId id="309" r:id="rId10"/>
    <p:sldId id="263" r:id="rId11"/>
    <p:sldId id="313" r:id="rId12"/>
    <p:sldId id="264" r:id="rId13"/>
    <p:sldId id="265" r:id="rId14"/>
    <p:sldId id="266" r:id="rId15"/>
    <p:sldId id="267" r:id="rId16"/>
    <p:sldId id="268" r:id="rId17"/>
    <p:sldId id="310" r:id="rId18"/>
    <p:sldId id="269" r:id="rId19"/>
    <p:sldId id="271" r:id="rId20"/>
    <p:sldId id="272" r:id="rId21"/>
    <p:sldId id="314" r:id="rId22"/>
    <p:sldId id="273" r:id="rId23"/>
    <p:sldId id="695" r:id="rId24"/>
    <p:sldId id="275" r:id="rId25"/>
    <p:sldId id="276" r:id="rId26"/>
    <p:sldId id="694" r:id="rId27"/>
    <p:sldId id="291" r:id="rId28"/>
    <p:sldId id="316" r:id="rId29"/>
    <p:sldId id="701" r:id="rId30"/>
    <p:sldId id="315" r:id="rId31"/>
    <p:sldId id="278" r:id="rId32"/>
    <p:sldId id="280" r:id="rId33"/>
    <p:sldId id="281" r:id="rId34"/>
    <p:sldId id="279" r:id="rId35"/>
    <p:sldId id="283" r:id="rId36"/>
    <p:sldId id="282" r:id="rId37"/>
    <p:sldId id="285" r:id="rId38"/>
    <p:sldId id="287" r:id="rId39"/>
    <p:sldId id="698" r:id="rId40"/>
    <p:sldId id="286" r:id="rId41"/>
    <p:sldId id="699" r:id="rId42"/>
    <p:sldId id="700" r:id="rId43"/>
    <p:sldId id="696" r:id="rId44"/>
    <p:sldId id="697" r:id="rId45"/>
    <p:sldId id="289" r:id="rId46"/>
    <p:sldId id="290" r:id="rId47"/>
    <p:sldId id="311" r:id="rId48"/>
    <p:sldId id="293" r:id="rId49"/>
    <p:sldId id="292" r:id="rId50"/>
    <p:sldId id="692" r:id="rId51"/>
    <p:sldId id="693" r:id="rId52"/>
    <p:sldId id="683" r:id="rId53"/>
    <p:sldId id="296" r:id="rId54"/>
    <p:sldId id="297" r:id="rId55"/>
    <p:sldId id="298" r:id="rId56"/>
    <p:sldId id="299" r:id="rId57"/>
    <p:sldId id="300" r:id="rId58"/>
    <p:sldId id="301" r:id="rId59"/>
    <p:sldId id="302" r:id="rId60"/>
    <p:sldId id="303" r:id="rId61"/>
    <p:sldId id="304" r:id="rId62"/>
    <p:sldId id="305" r:id="rId63"/>
    <p:sldId id="306" r:id="rId64"/>
    <p:sldId id="308" r:id="rId65"/>
  </p:sldIdLst>
  <p:sldSz cx="12192000" cy="6858000"/>
  <p:notesSz cx="6858000" cy="9144000"/>
  <p:defaultTextStyle>
    <a:defPPr>
      <a:defRPr lang="en-US"/>
    </a:defPPr>
    <a:lvl1pPr algn="l" rtl="0" fontAlgn="t">
      <a:spcBef>
        <a:spcPct val="0"/>
      </a:spcBef>
      <a:spcAft>
        <a:spcPct val="0"/>
      </a:spcAft>
      <a:defRPr sz="2400" b="1" kern="1200">
        <a:solidFill>
          <a:srgbClr val="FFFFFF"/>
        </a:solidFill>
        <a:latin typeface="Times New Roman" panose="02020603050405020304" pitchFamily="18" charset="0"/>
        <a:ea typeface="宋体" panose="02010600030101010101" pitchFamily="2" charset="-122"/>
        <a:cs typeface="+mn-cs"/>
      </a:defRPr>
    </a:lvl1pPr>
    <a:lvl2pPr marL="457200" algn="l" rtl="0" fontAlgn="t">
      <a:spcBef>
        <a:spcPct val="0"/>
      </a:spcBef>
      <a:spcAft>
        <a:spcPct val="0"/>
      </a:spcAft>
      <a:defRPr sz="2400" b="1" kern="1200">
        <a:solidFill>
          <a:srgbClr val="FFFFFF"/>
        </a:solidFill>
        <a:latin typeface="Times New Roman" panose="02020603050405020304" pitchFamily="18" charset="0"/>
        <a:ea typeface="宋体" panose="02010600030101010101" pitchFamily="2" charset="-122"/>
        <a:cs typeface="+mn-cs"/>
      </a:defRPr>
    </a:lvl2pPr>
    <a:lvl3pPr marL="914400" algn="l" rtl="0" fontAlgn="t">
      <a:spcBef>
        <a:spcPct val="0"/>
      </a:spcBef>
      <a:spcAft>
        <a:spcPct val="0"/>
      </a:spcAft>
      <a:defRPr sz="2400" b="1" kern="1200">
        <a:solidFill>
          <a:srgbClr val="FFFFFF"/>
        </a:solidFill>
        <a:latin typeface="Times New Roman" panose="02020603050405020304" pitchFamily="18" charset="0"/>
        <a:ea typeface="宋体" panose="02010600030101010101" pitchFamily="2" charset="-122"/>
        <a:cs typeface="+mn-cs"/>
      </a:defRPr>
    </a:lvl3pPr>
    <a:lvl4pPr marL="1371600" algn="l" rtl="0" fontAlgn="t">
      <a:spcBef>
        <a:spcPct val="0"/>
      </a:spcBef>
      <a:spcAft>
        <a:spcPct val="0"/>
      </a:spcAft>
      <a:defRPr sz="2400" b="1" kern="1200">
        <a:solidFill>
          <a:srgbClr val="FFFFFF"/>
        </a:solidFill>
        <a:latin typeface="Times New Roman" panose="02020603050405020304" pitchFamily="18" charset="0"/>
        <a:ea typeface="宋体" panose="02010600030101010101" pitchFamily="2" charset="-122"/>
        <a:cs typeface="+mn-cs"/>
      </a:defRPr>
    </a:lvl4pPr>
    <a:lvl5pPr marL="1828800" algn="l" rtl="0" fontAlgn="t">
      <a:spcBef>
        <a:spcPct val="0"/>
      </a:spcBef>
      <a:spcAft>
        <a:spcPct val="0"/>
      </a:spcAft>
      <a:defRPr sz="2400" b="1" kern="1200">
        <a:solidFill>
          <a:srgbClr val="FFFFFF"/>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b="1" kern="1200">
        <a:solidFill>
          <a:srgbClr val="FFFFFF"/>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b="1" kern="1200">
        <a:solidFill>
          <a:srgbClr val="FFFFFF"/>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b="1" kern="1200">
        <a:solidFill>
          <a:srgbClr val="FFFFFF"/>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b="1" kern="1200">
        <a:solidFill>
          <a:srgbClr val="FFFFFF"/>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FFFF"/>
    <a:srgbClr val="00FF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62" autoAdjust="0"/>
    <p:restoredTop sz="94710" autoAdjust="0"/>
  </p:normalViewPr>
  <p:slideViewPr>
    <p:cSldViewPr>
      <p:cViewPr varScale="1">
        <p:scale>
          <a:sx n="81" d="100"/>
          <a:sy n="81" d="100"/>
        </p:scale>
        <p:origin x="682" y="53"/>
      </p:cViewPr>
      <p:guideLst>
        <p:guide orient="horz" pos="2160"/>
        <p:guide pos="3816"/>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6146" name="页眉占位符 6145"/>
          <p:cNvSpPr>
            <a:spLocks noGrp="1"/>
          </p:cNvSpPr>
          <p:nvPr>
            <p:ph type="hdr" sz="quarter"/>
          </p:nvPr>
        </p:nvSpPr>
        <p:spPr>
          <a:xfrm>
            <a:off x="0" y="0"/>
            <a:ext cx="2971800" cy="457200"/>
          </a:xfrm>
          <a:prstGeom prst="rect">
            <a:avLst/>
          </a:prstGeom>
          <a:noFill/>
          <a:ln w="9525">
            <a:noFill/>
          </a:ln>
        </p:spPr>
        <p:txBody>
          <a:bodyPr/>
          <a:lstStyle>
            <a:lvl1pPr>
              <a:defRPr sz="1200" b="0" noProof="1" dirty="0"/>
            </a:lvl1pPr>
          </a:lstStyle>
          <a:p>
            <a:endParaRPr lang="zh-CN" altLang="en-US"/>
          </a:p>
        </p:txBody>
      </p:sp>
      <p:sp>
        <p:nvSpPr>
          <p:cNvPr id="6147" name="日期占位符 6146"/>
          <p:cNvSpPr>
            <a:spLocks noGrp="1"/>
          </p:cNvSpPr>
          <p:nvPr>
            <p:ph type="dt" sz="quarter" idx="1"/>
          </p:nvPr>
        </p:nvSpPr>
        <p:spPr>
          <a:xfrm>
            <a:off x="3886200" y="0"/>
            <a:ext cx="2971800" cy="457200"/>
          </a:xfrm>
          <a:prstGeom prst="rect">
            <a:avLst/>
          </a:prstGeom>
          <a:noFill/>
          <a:ln w="9525">
            <a:noFill/>
          </a:ln>
        </p:spPr>
        <p:txBody>
          <a:bodyPr/>
          <a:lstStyle>
            <a:lvl1pPr algn="r">
              <a:defRPr sz="1200" b="0" noProof="1" dirty="0"/>
            </a:lvl1pPr>
          </a:lstStyle>
          <a:p>
            <a:endParaRPr lang="zh-CN" altLang="en-US"/>
          </a:p>
        </p:txBody>
      </p:sp>
      <p:sp>
        <p:nvSpPr>
          <p:cNvPr id="6148" name="页脚占位符 6147"/>
          <p:cNvSpPr>
            <a:spLocks noGrp="1"/>
          </p:cNvSpPr>
          <p:nvPr>
            <p:ph type="ftr" sz="quarter" idx="2"/>
          </p:nvPr>
        </p:nvSpPr>
        <p:spPr>
          <a:xfrm>
            <a:off x="0" y="8686800"/>
            <a:ext cx="2971800" cy="457200"/>
          </a:xfrm>
          <a:prstGeom prst="rect">
            <a:avLst/>
          </a:prstGeom>
          <a:noFill/>
          <a:ln w="9525">
            <a:noFill/>
          </a:ln>
        </p:spPr>
        <p:txBody>
          <a:bodyPr anchor="b" anchorCtr="0"/>
          <a:lstStyle>
            <a:lvl1pPr>
              <a:defRPr sz="1200" b="0" noProof="1" dirty="0"/>
            </a:lvl1pPr>
          </a:lstStyle>
          <a:p>
            <a:endParaRPr lang="zh-CN" altLang="en-US"/>
          </a:p>
        </p:txBody>
      </p:sp>
      <p:sp>
        <p:nvSpPr>
          <p:cNvPr id="6149" name="灯片编号占位符 6148"/>
          <p:cNvSpPr>
            <a:spLocks noGrp="1"/>
          </p:cNvSpPr>
          <p:nvPr>
            <p:ph type="sldNum" sz="quarter" idx="3"/>
          </p:nvPr>
        </p:nvSpPr>
        <p:spPr>
          <a:xfrm>
            <a:off x="3886200" y="8686800"/>
            <a:ext cx="2971800" cy="457200"/>
          </a:xfrm>
          <a:prstGeom prst="rect">
            <a:avLst/>
          </a:prstGeom>
          <a:noFill/>
          <a:ln w="9525">
            <a:noFill/>
          </a:ln>
        </p:spPr>
        <p:txBody>
          <a:bodyPr anchor="b" anchorCtr="0"/>
          <a:lstStyle>
            <a:lvl1pPr algn="r">
              <a:defRPr sz="1200" b="0" noProof="1" dirty="0"/>
            </a:lvl1pPr>
          </a:lstStyle>
          <a:p>
            <a:fld id="{F65F3F41-8E58-40E3-8903-B114AE2B2C6D}" type="slidenum">
              <a:rPr lang="zh-CN" altLang="en-US"/>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5362" name="页眉占位符 15361"/>
          <p:cNvSpPr>
            <a:spLocks noGrp="1"/>
          </p:cNvSpPr>
          <p:nvPr>
            <p:ph type="hdr" sz="quarter"/>
          </p:nvPr>
        </p:nvSpPr>
        <p:spPr>
          <a:xfrm>
            <a:off x="0" y="0"/>
            <a:ext cx="2971800" cy="457200"/>
          </a:xfrm>
          <a:prstGeom prst="rect">
            <a:avLst/>
          </a:prstGeom>
          <a:noFill/>
          <a:ln w="9525">
            <a:noFill/>
          </a:ln>
        </p:spPr>
        <p:txBody>
          <a:bodyPr/>
          <a:lstStyle>
            <a:lvl1pPr>
              <a:defRPr sz="1200" b="0" noProof="1" dirty="0"/>
            </a:lvl1pPr>
          </a:lstStyle>
          <a:p>
            <a:endParaRPr lang="zh-CN" altLang="en-US"/>
          </a:p>
        </p:txBody>
      </p:sp>
      <p:sp>
        <p:nvSpPr>
          <p:cNvPr id="15363" name="日期占位符 15362"/>
          <p:cNvSpPr>
            <a:spLocks noGrp="1"/>
          </p:cNvSpPr>
          <p:nvPr>
            <p:ph type="dt" idx="1"/>
          </p:nvPr>
        </p:nvSpPr>
        <p:spPr>
          <a:xfrm>
            <a:off x="3886200" y="0"/>
            <a:ext cx="2971800" cy="457200"/>
          </a:xfrm>
          <a:prstGeom prst="rect">
            <a:avLst/>
          </a:prstGeom>
          <a:noFill/>
          <a:ln w="9525">
            <a:noFill/>
          </a:ln>
        </p:spPr>
        <p:txBody>
          <a:bodyPr/>
          <a:lstStyle>
            <a:lvl1pPr algn="r">
              <a:defRPr sz="1200" b="0" noProof="1" dirty="0"/>
            </a:lvl1pPr>
          </a:lstStyle>
          <a:p>
            <a:endParaRPr lang="zh-CN" altLang="en-US"/>
          </a:p>
        </p:txBody>
      </p:sp>
      <p:sp>
        <p:nvSpPr>
          <p:cNvPr id="4100" name="幻灯片图像占位符 15363"/>
          <p:cNvSpPr>
            <a:spLocks noGrp="1" noRot="1" noChangeAspect="1" noChangeArrowheads="1" noTextEdit="1"/>
          </p:cNvSpPr>
          <p:nvPr>
            <p:ph type="sldImg" idx="4294967295"/>
          </p:nvPr>
        </p:nvSpPr>
        <p:spPr bwMode="auto">
          <a:xfrm>
            <a:off x="381000" y="685800"/>
            <a:ext cx="6096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4101" name="文本占位符 15364"/>
          <p:cNvSpPr>
            <a:spLocks noGrp="1" noChangeArrowheads="1"/>
          </p:cNvSpPr>
          <p:nvPr>
            <p:ph type="body" sz="quarter" idx="9"/>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5366" name="页脚占位符 15365"/>
          <p:cNvSpPr>
            <a:spLocks noGrp="1"/>
          </p:cNvSpPr>
          <p:nvPr>
            <p:ph type="ftr" sz="quarter" idx="4"/>
          </p:nvPr>
        </p:nvSpPr>
        <p:spPr>
          <a:xfrm>
            <a:off x="0" y="8686800"/>
            <a:ext cx="2971800" cy="457200"/>
          </a:xfrm>
          <a:prstGeom prst="rect">
            <a:avLst/>
          </a:prstGeom>
          <a:noFill/>
          <a:ln w="9525">
            <a:noFill/>
          </a:ln>
        </p:spPr>
        <p:txBody>
          <a:bodyPr anchor="b" anchorCtr="0"/>
          <a:lstStyle>
            <a:lvl1pPr>
              <a:defRPr sz="1200" b="0" noProof="1" dirty="0"/>
            </a:lvl1pPr>
          </a:lstStyle>
          <a:p>
            <a:endParaRPr lang="zh-CN" altLang="en-US"/>
          </a:p>
        </p:txBody>
      </p:sp>
      <p:sp>
        <p:nvSpPr>
          <p:cNvPr id="15367" name="灯片编号占位符 15366"/>
          <p:cNvSpPr>
            <a:spLocks noGrp="1"/>
          </p:cNvSpPr>
          <p:nvPr>
            <p:ph type="sldNum" sz="quarter" idx="5"/>
          </p:nvPr>
        </p:nvSpPr>
        <p:spPr>
          <a:xfrm>
            <a:off x="3886200" y="8686800"/>
            <a:ext cx="2971800" cy="457200"/>
          </a:xfrm>
          <a:prstGeom prst="rect">
            <a:avLst/>
          </a:prstGeom>
          <a:noFill/>
          <a:ln w="9525">
            <a:noFill/>
          </a:ln>
        </p:spPr>
        <p:txBody>
          <a:bodyPr anchor="b" anchorCtr="0"/>
          <a:lstStyle>
            <a:lvl1pPr algn="r">
              <a:defRPr sz="1200" b="0" noProof="1" dirty="0"/>
            </a:lvl1pPr>
          </a:lstStyle>
          <a:p>
            <a:fld id="{909966A4-9919-4AD9-8D16-2CD79381324E}" type="slidenum">
              <a:rPr lang="zh-CN" altLang="en-US"/>
              <a:t>‹#›</a:t>
            </a:fld>
            <a:endParaRPr lang="zh-CN" altLang="en-US"/>
          </a:p>
        </p:txBody>
      </p:sp>
    </p:spTree>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1pPr>
    <a:lvl2pPr marL="457200" lvl="1"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2pPr>
    <a:lvl3pPr marL="914400" lvl="2"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3pPr>
    <a:lvl4pPr marL="1371600" lvl="3"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4pPr>
    <a:lvl5pPr marL="1828800" lvl="4"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每行看作一个整体，</a:t>
            </a:r>
            <a:r>
              <a:rPr lang="en-US" altLang="zh-CN" dirty="0"/>
              <a:t>a</a:t>
            </a:r>
            <a:r>
              <a:rPr lang="zh-CN" altLang="en-US" dirty="0"/>
              <a:t>指向一个一维数组</a:t>
            </a:r>
            <a:r>
              <a:rPr lang="en-US" altLang="zh-CN" dirty="0"/>
              <a:t>a[0],a+1</a:t>
            </a:r>
            <a:r>
              <a:rPr lang="zh-CN" altLang="en-US" dirty="0"/>
              <a:t>指向一个一维数组</a:t>
            </a:r>
            <a:r>
              <a:rPr lang="en-US" altLang="zh-CN" dirty="0"/>
              <a:t>a[1]….</a:t>
            </a:r>
            <a:endParaRPr lang="zh-CN" altLang="en-US" dirty="0"/>
          </a:p>
        </p:txBody>
      </p:sp>
      <p:sp>
        <p:nvSpPr>
          <p:cNvPr id="4" name="灯片编号占位符 3"/>
          <p:cNvSpPr>
            <a:spLocks noGrp="1"/>
          </p:cNvSpPr>
          <p:nvPr>
            <p:ph type="sldNum" sz="quarter" idx="10"/>
          </p:nvPr>
        </p:nvSpPr>
        <p:spPr/>
        <p:txBody>
          <a:bodyPr/>
          <a:lstStyle/>
          <a:p>
            <a:fld id="{909966A4-9919-4AD9-8D16-2CD79381324E}" type="slidenum">
              <a:rPr lang="zh-CN" altLang="en-US" smtClean="0"/>
              <a:t>20</a:t>
            </a:fld>
            <a:endParaRPr lang="zh-CN" altLang="en-US"/>
          </a:p>
        </p:txBody>
      </p:sp>
    </p:spTree>
    <p:extLst>
      <p:ext uri="{BB962C8B-B14F-4D97-AF65-F5344CB8AC3E}">
        <p14:creationId xmlns:p14="http://schemas.microsoft.com/office/powerpoint/2010/main" val="233987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数组指针相当于二维数组的行指针</a:t>
            </a:r>
          </a:p>
        </p:txBody>
      </p:sp>
      <p:sp>
        <p:nvSpPr>
          <p:cNvPr id="4" name="灯片编号占位符 3"/>
          <p:cNvSpPr>
            <a:spLocks noGrp="1"/>
          </p:cNvSpPr>
          <p:nvPr>
            <p:ph type="sldNum" sz="quarter" idx="5"/>
          </p:nvPr>
        </p:nvSpPr>
        <p:spPr/>
        <p:txBody>
          <a:bodyPr/>
          <a:lstStyle/>
          <a:p>
            <a:fld id="{909966A4-9919-4AD9-8D16-2CD79381324E}" type="slidenum">
              <a:rPr lang="zh-CN" altLang="en-US" smtClean="0"/>
              <a:t>23</a:t>
            </a:fld>
            <a:endParaRPr lang="zh-CN" altLang="en-US"/>
          </a:p>
        </p:txBody>
      </p:sp>
    </p:spTree>
    <p:extLst>
      <p:ext uri="{BB962C8B-B14F-4D97-AF65-F5344CB8AC3E}">
        <p14:creationId xmlns:p14="http://schemas.microsoft.com/office/powerpoint/2010/main" val="2199739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BB962C8B-B14F-4D97-AF65-F5344CB8AC3E}" type="datetime1">
              <a:rPr lang="zh-CN" altLang="en-US" smtClean="0"/>
              <a:t>2024/11/22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F1927E8-763A-4054-BCC7-D9473AD86036}" type="slidenum">
              <a:rPr lang="zh-CN" altLang="en-US" smtClean="0"/>
              <a:t>‹#›</a:t>
            </a:fld>
            <a:endParaRPr lang="zh-CN" altLang="en-US"/>
          </a:p>
        </p:txBody>
      </p:sp>
    </p:spTree>
    <p:extLst>
      <p:ext uri="{BB962C8B-B14F-4D97-AF65-F5344CB8AC3E}">
        <p14:creationId xmlns:p14="http://schemas.microsoft.com/office/powerpoint/2010/main" val="174659770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B962C8B-B14F-4D97-AF65-F5344CB8AC3E}" type="datetime1">
              <a:rPr lang="zh-CN" altLang="en-US" smtClean="0"/>
              <a:t>2024/11/22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1EB1119-B1EA-482F-8756-A2F14CA520E4}" type="slidenum">
              <a:rPr lang="zh-CN" altLang="en-US" smtClean="0"/>
              <a:t>‹#›</a:t>
            </a:fld>
            <a:endParaRPr lang="zh-CN" altLang="en-US"/>
          </a:p>
        </p:txBody>
      </p:sp>
      <p:pic>
        <p:nvPicPr>
          <p:cNvPr id="7" name="Picture 2">
            <a:extLst>
              <a:ext uri="{FF2B5EF4-FFF2-40B4-BE49-F238E27FC236}">
                <a16:creationId xmlns:a16="http://schemas.microsoft.com/office/drawing/2014/main" id="{5AD419F9-9167-430B-87FA-40D742FC765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539287" y="207168"/>
            <a:ext cx="2343150" cy="742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4856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B962C8B-B14F-4D97-AF65-F5344CB8AC3E}" type="datetime1">
              <a:rPr lang="zh-CN" altLang="en-US" smtClean="0"/>
              <a:t>2024/11/22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F1927E8-763A-4054-BCC7-D9473AD86036}" type="slidenum">
              <a:rPr lang="zh-CN" altLang="en-US" smtClean="0"/>
              <a:t>‹#›</a:t>
            </a:fld>
            <a:endParaRPr lang="zh-CN" altLang="en-US"/>
          </a:p>
        </p:txBody>
      </p:sp>
    </p:spTree>
    <p:extLst>
      <p:ext uri="{BB962C8B-B14F-4D97-AF65-F5344CB8AC3E}">
        <p14:creationId xmlns:p14="http://schemas.microsoft.com/office/powerpoint/2010/main" val="220996710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BB962C8B-B14F-4D97-AF65-F5344CB8AC3E}" type="datetime1">
              <a:rPr lang="zh-CN" altLang="en-US" smtClean="0"/>
              <a:t>2024/11/22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F1927E8-763A-4054-BCC7-D9473AD86036}" type="slidenum">
              <a:rPr lang="zh-CN" altLang="en-US" smtClean="0"/>
              <a:t>‹#›</a:t>
            </a:fld>
            <a:endParaRPr lang="zh-CN" altLang="en-US"/>
          </a:p>
        </p:txBody>
      </p:sp>
    </p:spTree>
    <p:extLst>
      <p:ext uri="{BB962C8B-B14F-4D97-AF65-F5344CB8AC3E}">
        <p14:creationId xmlns:p14="http://schemas.microsoft.com/office/powerpoint/2010/main" val="183245949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B962C8B-B14F-4D97-AF65-F5344CB8AC3E}" type="datetime1">
              <a:rPr lang="zh-CN" altLang="en-US" smtClean="0"/>
              <a:t>2024/11/22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4F1927E8-763A-4054-BCC7-D9473AD86036}" type="slidenum">
              <a:rPr lang="zh-CN" altLang="en-US" smtClean="0"/>
              <a:t>‹#›</a:t>
            </a:fld>
            <a:endParaRPr lang="zh-CN" altLang="en-US"/>
          </a:p>
        </p:txBody>
      </p:sp>
    </p:spTree>
    <p:extLst>
      <p:ext uri="{BB962C8B-B14F-4D97-AF65-F5344CB8AC3E}">
        <p14:creationId xmlns:p14="http://schemas.microsoft.com/office/powerpoint/2010/main" val="287381387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B962C8B-B14F-4D97-AF65-F5344CB8AC3E}" type="datetime1">
              <a:rPr lang="zh-CN" altLang="en-US" smtClean="0"/>
              <a:t>2024/11/22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4F1927E8-763A-4054-BCC7-D9473AD86036}" type="slidenum">
              <a:rPr lang="zh-CN" altLang="en-US" smtClean="0"/>
              <a:t>‹#›</a:t>
            </a:fld>
            <a:endParaRPr lang="zh-CN" altLang="en-US"/>
          </a:p>
        </p:txBody>
      </p:sp>
      <p:pic>
        <p:nvPicPr>
          <p:cNvPr id="6" name="Picture 2">
            <a:extLst>
              <a:ext uri="{FF2B5EF4-FFF2-40B4-BE49-F238E27FC236}">
                <a16:creationId xmlns:a16="http://schemas.microsoft.com/office/drawing/2014/main" id="{7E9DD610-483F-4A67-A907-44097EE5AF6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539287" y="207168"/>
            <a:ext cx="2343150" cy="742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2144884"/>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962C8B-B14F-4D97-AF65-F5344CB8AC3E}" type="datetime1">
              <a:rPr lang="zh-CN" altLang="en-US" smtClean="0"/>
              <a:t>2024/11/22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963452B-A65B-4273-96E5-02F0330122CB}" type="slidenum">
              <a:rPr lang="zh-CN" altLang="en-US" smtClean="0"/>
              <a:t>‹#›</a:t>
            </a:fld>
            <a:endParaRPr lang="zh-CN" altLang="en-US"/>
          </a:p>
        </p:txBody>
      </p:sp>
      <p:pic>
        <p:nvPicPr>
          <p:cNvPr id="5" name="Picture 2">
            <a:extLst>
              <a:ext uri="{FF2B5EF4-FFF2-40B4-BE49-F238E27FC236}">
                <a16:creationId xmlns:a16="http://schemas.microsoft.com/office/drawing/2014/main" id="{D5A9DE32-DAD5-499A-A403-72D319BB3F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539287" y="207168"/>
            <a:ext cx="2343150" cy="742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2378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BB962C8B-B14F-4D97-AF65-F5344CB8AC3E}" type="datetime1">
              <a:rPr lang="zh-CN" altLang="en-US" smtClean="0"/>
              <a:t>2024/11/22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F1927E8-763A-4054-BCC7-D9473AD86036}" type="slidenum">
              <a:rPr lang="zh-CN" altLang="en-US" smtClean="0"/>
              <a:t>‹#›</a:t>
            </a:fld>
            <a:endParaRPr lang="zh-CN" altLang="en-US"/>
          </a:p>
        </p:txBody>
      </p:sp>
      <p:pic>
        <p:nvPicPr>
          <p:cNvPr id="8" name="Picture 2">
            <a:extLst>
              <a:ext uri="{FF2B5EF4-FFF2-40B4-BE49-F238E27FC236}">
                <a16:creationId xmlns:a16="http://schemas.microsoft.com/office/drawing/2014/main" id="{26AF9D25-A448-413D-A9EB-DEE7BCFBE13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539287" y="207168"/>
            <a:ext cx="2343150" cy="742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31133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BB962C8B-B14F-4D97-AF65-F5344CB8AC3E}" type="datetime1">
              <a:rPr lang="zh-CN" altLang="en-US" smtClean="0"/>
              <a:t>2024/11/22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F1927E8-763A-4054-BCC7-D9473AD86036}" type="slidenum">
              <a:rPr lang="zh-CN" altLang="en-US" smtClean="0"/>
              <a:t>‹#›</a:t>
            </a:fld>
            <a:endParaRPr lang="zh-CN" altLang="en-US"/>
          </a:p>
        </p:txBody>
      </p:sp>
      <p:pic>
        <p:nvPicPr>
          <p:cNvPr id="8" name="Picture 2">
            <a:extLst>
              <a:ext uri="{FF2B5EF4-FFF2-40B4-BE49-F238E27FC236}">
                <a16:creationId xmlns:a16="http://schemas.microsoft.com/office/drawing/2014/main" id="{8294E9C0-9536-4D99-968D-8EDCF5476F7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539287" y="207168"/>
            <a:ext cx="2343150" cy="742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510658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B962C8B-B14F-4D97-AF65-F5344CB8AC3E}" type="datetime1">
              <a:rPr lang="zh-CN" altLang="en-US" smtClean="0"/>
              <a:t>2024/11/22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F1927E8-763A-4054-BCC7-D9473AD86036}" type="slidenum">
              <a:rPr lang="zh-CN" altLang="en-US" smtClean="0"/>
              <a:t>‹#›</a:t>
            </a:fld>
            <a:endParaRPr lang="zh-CN" altLang="en-US"/>
          </a:p>
        </p:txBody>
      </p:sp>
      <p:pic>
        <p:nvPicPr>
          <p:cNvPr id="7" name="Picture 2">
            <a:extLst>
              <a:ext uri="{FF2B5EF4-FFF2-40B4-BE49-F238E27FC236}">
                <a16:creationId xmlns:a16="http://schemas.microsoft.com/office/drawing/2014/main" id="{CA5759A7-BA3C-47A7-94CE-CDF0E62857C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539287" y="207168"/>
            <a:ext cx="2343150" cy="742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98990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B962C8B-B14F-4D97-AF65-F5344CB8AC3E}" type="datetime1">
              <a:rPr lang="zh-CN" altLang="en-US" smtClean="0"/>
              <a:t>2024/11/22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F1927E8-763A-4054-BCC7-D9473AD86036}" type="slidenum">
              <a:rPr lang="zh-CN" altLang="en-US" smtClean="0"/>
              <a:t>‹#›</a:t>
            </a:fld>
            <a:endParaRPr lang="zh-CN" altLang="en-US"/>
          </a:p>
        </p:txBody>
      </p:sp>
    </p:spTree>
    <p:extLst>
      <p:ext uri="{BB962C8B-B14F-4D97-AF65-F5344CB8AC3E}">
        <p14:creationId xmlns:p14="http://schemas.microsoft.com/office/powerpoint/2010/main" val="3682988806"/>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包含小图像的标题幻灯片">
    <p:spTree>
      <p:nvGrpSpPr>
        <p:cNvPr id="1" name=""/>
        <p:cNvGrpSpPr/>
        <p:nvPr/>
      </p:nvGrpSpPr>
      <p:grpSpPr>
        <a:xfrm>
          <a:off x="0" y="0"/>
          <a:ext cx="0" cy="0"/>
          <a:chOff x="0" y="0"/>
          <a:chExt cx="0" cy="0"/>
        </a:xfrm>
      </p:grpSpPr>
      <p:sp>
        <p:nvSpPr>
          <p:cNvPr id="9" name="图片占位符 1"/>
          <p:cNvSpPr>
            <a:spLocks noGrp="1"/>
          </p:cNvSpPr>
          <p:nvPr>
            <p:ph type="pic" sz="quarter" idx="13" hasCustomPrompt="1"/>
          </p:nvPr>
        </p:nvSpPr>
        <p:spPr>
          <a:xfrm>
            <a:off x="9980476" y="-9832"/>
            <a:ext cx="2211524" cy="6858000"/>
          </a:xfrm>
          <a:solidFill>
            <a:schemeClr val="bg1">
              <a:lumMod val="95000"/>
            </a:schemeClr>
          </a:solidFill>
        </p:spPr>
        <p:txBody>
          <a:bodyPr rtlCol="0" anchor="ctr"/>
          <a:lstStyle>
            <a:lvl1pPr marL="0" indent="0" algn="ctr">
              <a:buNone/>
              <a:defRPr sz="1200" i="1">
                <a:latin typeface="Microsoft YaHei UI" panose="020B0503020204020204" pitchFamily="34" charset="-122"/>
                <a:ea typeface="Microsoft YaHei UI" panose="020B0503020204020204" pitchFamily="34" charset="-122"/>
                <a:cs typeface="Times New Roman" panose="02020603050405020304" pitchFamily="18" charset="0"/>
              </a:defRPr>
            </a:lvl1pPr>
          </a:lstStyle>
          <a:p>
            <a:pPr rtl="0"/>
            <a:r>
              <a:rPr lang="zh-CN" altLang="en-US" noProof="0"/>
              <a:t>插入或拖放照片</a:t>
            </a:r>
          </a:p>
        </p:txBody>
      </p:sp>
      <p:sp>
        <p:nvSpPr>
          <p:cNvPr id="2" name="标题 1"/>
          <p:cNvSpPr>
            <a:spLocks noGrp="1"/>
          </p:cNvSpPr>
          <p:nvPr>
            <p:ph type="ctrTitle" hasCustomPrompt="1"/>
          </p:nvPr>
        </p:nvSpPr>
        <p:spPr>
          <a:xfrm>
            <a:off x="286990" y="4336464"/>
            <a:ext cx="6798250" cy="1674470"/>
          </a:xfrm>
        </p:spPr>
        <p:txBody>
          <a:bodyPr rtlCol="0" anchor="b"/>
          <a:lstStyle>
            <a:lvl1pPr algn="r">
              <a:lnSpc>
                <a:spcPts val="5000"/>
              </a:lnSpc>
              <a:defRPr sz="6000" b="1" cap="all" spc="-300" baseline="0">
                <a:solidFill>
                  <a:schemeClr val="tx1"/>
                </a:solidFill>
                <a:latin typeface="Microsoft YaHei UI" panose="020B0503020204020204" pitchFamily="34" charset="-122"/>
                <a:ea typeface="Microsoft YaHei UI" panose="020B0503020204020204" pitchFamily="34" charset="-122"/>
              </a:defRPr>
            </a:lvl1pPr>
          </a:lstStyle>
          <a:p>
            <a:pPr rtl="0"/>
            <a:r>
              <a:rPr lang="zh-CN" altLang="en-US" noProof="0"/>
              <a:t>演示文稿标题</a:t>
            </a:r>
          </a:p>
        </p:txBody>
      </p:sp>
      <p:sp>
        <p:nvSpPr>
          <p:cNvPr id="3" name="副标题 2"/>
          <p:cNvSpPr>
            <a:spLocks noGrp="1"/>
          </p:cNvSpPr>
          <p:nvPr>
            <p:ph type="subTitle" idx="1" hasCustomPrompt="1"/>
          </p:nvPr>
        </p:nvSpPr>
        <p:spPr>
          <a:xfrm>
            <a:off x="7311904" y="4640707"/>
            <a:ext cx="3401478" cy="1192038"/>
          </a:xfrm>
          <a:solidFill>
            <a:schemeClr val="tx1"/>
          </a:solidFill>
        </p:spPr>
        <p:txBody>
          <a:bodyPr lIns="252000" tIns="0" rtlCol="0" anchor="ctr"/>
          <a:lstStyle>
            <a:lvl1pPr marL="0" indent="0" algn="l">
              <a:lnSpc>
                <a:spcPct val="100000"/>
              </a:lnSpc>
              <a:buNone/>
              <a:defRPr sz="1800" i="1">
                <a:solidFill>
                  <a:schemeClr val="bg1"/>
                </a:solidFill>
                <a:latin typeface="Microsoft YaHei UI" panose="020B0503020204020204" pitchFamily="34" charset="-122"/>
                <a:ea typeface="Microsoft YaHei UI" panose="020B0503020204020204" pitchFamily="34" charset="-122"/>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zh-CN" altLang="en-US" noProof="0"/>
              <a:t>单击以编辑母版副标题样式</a:t>
            </a:r>
          </a:p>
        </p:txBody>
      </p:sp>
      <p:sp>
        <p:nvSpPr>
          <p:cNvPr id="7" name="长方形 6"/>
          <p:cNvSpPr/>
          <p:nvPr userDrawn="1"/>
        </p:nvSpPr>
        <p:spPr>
          <a:xfrm>
            <a:off x="0" y="6784477"/>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a typeface="Microsoft YaHei UI" panose="020B0503020204020204" pitchFamily="34" charset="-122"/>
            </a:endParaRPr>
          </a:p>
        </p:txBody>
      </p:sp>
      <p:sp>
        <p:nvSpPr>
          <p:cNvPr id="8" name="长方形 7"/>
          <p:cNvSpPr/>
          <p:nvPr userDrawn="1"/>
        </p:nvSpPr>
        <p:spPr>
          <a:xfrm>
            <a:off x="0" y="-9832"/>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a typeface="Microsoft YaHei UI" panose="020B0503020204020204" pitchFamily="34" charset="-122"/>
            </a:endParaRPr>
          </a:p>
        </p:txBody>
      </p:sp>
      <p:sp>
        <p:nvSpPr>
          <p:cNvPr id="11" name="长方形 10"/>
          <p:cNvSpPr/>
          <p:nvPr userDrawn="1"/>
        </p:nvSpPr>
        <p:spPr>
          <a:xfrm rot="5400000">
            <a:off x="-3378441" y="3400453"/>
            <a:ext cx="6826157" cy="69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a typeface="Microsoft YaHei UI" panose="020B0503020204020204" pitchFamily="34" charset="-122"/>
            </a:endParaRPr>
          </a:p>
        </p:txBody>
      </p:sp>
      <p:pic>
        <p:nvPicPr>
          <p:cNvPr id="10" name="Picture 2">
            <a:extLst>
              <a:ext uri="{FF2B5EF4-FFF2-40B4-BE49-F238E27FC236}">
                <a16:creationId xmlns:a16="http://schemas.microsoft.com/office/drawing/2014/main" id="{B84E733B-F1AE-49E7-A2AE-5514F586D37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539287" y="207168"/>
            <a:ext cx="2343150" cy="742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0939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962C8B-B14F-4D97-AF65-F5344CB8AC3E}" type="datetime1">
              <a:rPr lang="zh-CN" altLang="en-US" smtClean="0"/>
              <a:t>2024/11/22</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1927E8-763A-4054-BCC7-D9473AD86036}" type="slidenum">
              <a:rPr lang="zh-CN" altLang="en-US" smtClean="0"/>
              <a:t>‹#›</a:t>
            </a:fld>
            <a:endParaRPr lang="zh-CN" altLang="en-US"/>
          </a:p>
        </p:txBody>
      </p:sp>
      <p:sp>
        <p:nvSpPr>
          <p:cNvPr id="7" name="直接连接符 6"/>
          <p:cNvSpPr>
            <a:spLocks noChangeShapeType="1"/>
          </p:cNvSpPr>
          <p:nvPr userDrawn="1"/>
        </p:nvSpPr>
        <p:spPr bwMode="auto">
          <a:xfrm>
            <a:off x="508000" y="1600200"/>
            <a:ext cx="11074400" cy="0"/>
          </a:xfrm>
          <a:prstGeom prst="line">
            <a:avLst/>
          </a:prstGeom>
          <a:noFill/>
          <a:ln w="38100">
            <a:solidFill>
              <a:srgbClr val="C00000"/>
            </a:solidFill>
            <a:round/>
          </a:ln>
          <a:extLst>
            <a:ext uri="{909E8E84-426E-40DD-AFC4-6F175D3DCCD1}">
              <a14:hiddenFill xmlns:a14="http://schemas.microsoft.com/office/drawing/2010/main">
                <a:noFill/>
              </a14:hiddenFill>
            </a:ext>
          </a:extLst>
        </p:spPr>
        <p:txBody>
          <a:bodyPr/>
          <a:lstStyle/>
          <a:p>
            <a:endParaRPr lang="zh-CN" altLang="en-US" sz="2400"/>
          </a:p>
        </p:txBody>
      </p:sp>
      <p:pic>
        <p:nvPicPr>
          <p:cNvPr id="8" name="Picture 2">
            <a:extLst>
              <a:ext uri="{FF2B5EF4-FFF2-40B4-BE49-F238E27FC236}">
                <a16:creationId xmlns:a16="http://schemas.microsoft.com/office/drawing/2014/main" id="{6769473C-4866-4049-BFC3-F51D9FC75509}"/>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9539287" y="207168"/>
            <a:ext cx="2343150" cy="742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2701463"/>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21505"/>
          <p:cNvSpPr>
            <a:spLocks noGrp="1" noChangeArrowheads="1"/>
          </p:cNvSpPr>
          <p:nvPr>
            <p:ph type="title"/>
          </p:nvPr>
        </p:nvSpPr>
        <p:spPr/>
        <p:txBody>
          <a:bodyPr/>
          <a:lstStyle/>
          <a:p>
            <a:r>
              <a:rPr lang="zh-CN" altLang="en-US" dirty="0"/>
              <a:t>第</a:t>
            </a:r>
            <a:r>
              <a:rPr lang="en-US" altLang="zh-CN"/>
              <a:t>7</a:t>
            </a:r>
            <a:r>
              <a:rPr lang="zh-CN" altLang="en-US"/>
              <a:t>章  </a:t>
            </a:r>
            <a:r>
              <a:rPr lang="zh-CN" altLang="en-US" dirty="0"/>
              <a:t>指针 </a:t>
            </a:r>
          </a:p>
        </p:txBody>
      </p:sp>
      <p:sp>
        <p:nvSpPr>
          <p:cNvPr id="2" name="内容占位符 1"/>
          <p:cNvSpPr>
            <a:spLocks noGrp="1"/>
          </p:cNvSpPr>
          <p:nvPr>
            <p:ph idx="1"/>
          </p:nvPr>
        </p:nvSpPr>
        <p:spPr/>
        <p:txBody>
          <a:bodyPr/>
          <a:lstStyle/>
          <a:p>
            <a:endParaRPr lang="zh-CN" altLang="en-US"/>
          </a:p>
        </p:txBody>
      </p:sp>
      <p:sp>
        <p:nvSpPr>
          <p:cNvPr id="5121"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24A2ADAC-F202-4B2C-80C3-2104DE131489}" type="slidenum">
              <a:rPr lang="zh-CN" altLang="en-US" smtClean="0"/>
              <a:t>1</a:t>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23553"/>
          <p:cNvSpPr>
            <a:spLocks noGrp="1" noChangeArrowheads="1"/>
          </p:cNvSpPr>
          <p:nvPr>
            <p:ph type="title"/>
          </p:nvPr>
        </p:nvSpPr>
        <p:spPr/>
        <p:txBody>
          <a:bodyPr/>
          <a:lstStyle/>
          <a:p>
            <a:r>
              <a:rPr lang="en-US" altLang="zh-CN" dirty="0"/>
              <a:t>7.1 </a:t>
            </a:r>
            <a:r>
              <a:rPr lang="zh-CN" altLang="en-US" dirty="0"/>
              <a:t>指针的概念 </a:t>
            </a:r>
          </a:p>
        </p:txBody>
      </p:sp>
      <p:sp>
        <p:nvSpPr>
          <p:cNvPr id="6147" name="文本占位符 23554"/>
          <p:cNvSpPr>
            <a:spLocks noGrp="1" noChangeArrowheads="1"/>
          </p:cNvSpPr>
          <p:nvPr>
            <p:ph idx="1"/>
          </p:nvPr>
        </p:nvSpPr>
        <p:spPr>
          <a:xfrm>
            <a:off x="1990725" y="1700213"/>
            <a:ext cx="8153400" cy="4114800"/>
          </a:xfrm>
        </p:spPr>
        <p:txBody>
          <a:bodyPr/>
          <a:lstStyle/>
          <a:p>
            <a:pPr>
              <a:buFontTx/>
              <a:buNone/>
            </a:pPr>
            <a:r>
              <a:rPr lang="zh-CN" altLang="en-US"/>
              <a:t>例如，假设定义有如下</a:t>
            </a:r>
            <a:r>
              <a:rPr lang="en-US" altLang="zh-CN"/>
              <a:t>2</a:t>
            </a:r>
            <a:r>
              <a:rPr lang="zh-CN" altLang="en-US"/>
              <a:t>个变量：</a:t>
            </a:r>
            <a:endParaRPr lang="zh-CN" altLang="pt-BR"/>
          </a:p>
          <a:p>
            <a:pPr>
              <a:buFontTx/>
              <a:buNone/>
            </a:pPr>
            <a:r>
              <a:rPr lang="pt-BR" altLang="zh-CN"/>
              <a:t>		int       num=123;</a:t>
            </a:r>
          </a:p>
          <a:p>
            <a:pPr>
              <a:buFontTx/>
              <a:buNone/>
            </a:pPr>
            <a:r>
              <a:rPr lang="pt-BR" altLang="zh-CN"/>
              <a:t>		char    ch='A'; </a:t>
            </a:r>
            <a:endParaRPr lang="en-US" altLang="zh-CN"/>
          </a:p>
        </p:txBody>
      </p:sp>
      <p:sp>
        <p:nvSpPr>
          <p:cNvPr id="6145"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1D1B9293-67ED-4A0F-9FA0-555F933E60B2}" type="slidenum">
              <a:rPr lang="zh-CN" altLang="en-US" smtClean="0"/>
              <a:t>2</a:t>
            </a:fld>
            <a:endParaRPr lang="zh-CN" altLang="en-US"/>
          </a:p>
        </p:txBody>
      </p:sp>
      <p:pic>
        <p:nvPicPr>
          <p:cNvPr id="6148" name="图片 2355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9151" y="3429001"/>
            <a:ext cx="6335713" cy="293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24577"/>
          <p:cNvSpPr>
            <a:spLocks noGrp="1" noChangeArrowheads="1"/>
          </p:cNvSpPr>
          <p:nvPr>
            <p:ph type="title"/>
          </p:nvPr>
        </p:nvSpPr>
        <p:spPr/>
        <p:txBody>
          <a:bodyPr/>
          <a:lstStyle/>
          <a:p>
            <a:r>
              <a:rPr lang="en-US" altLang="zh-CN" dirty="0"/>
              <a:t>7.2 </a:t>
            </a:r>
            <a:r>
              <a:rPr lang="zh-CN" altLang="en-US" dirty="0"/>
              <a:t>指针变量 </a:t>
            </a:r>
          </a:p>
        </p:txBody>
      </p:sp>
      <p:sp>
        <p:nvSpPr>
          <p:cNvPr id="7171" name="文本占位符 24578"/>
          <p:cNvSpPr>
            <a:spLocks noGrp="1" noChangeArrowheads="1"/>
          </p:cNvSpPr>
          <p:nvPr>
            <p:ph idx="1"/>
          </p:nvPr>
        </p:nvSpPr>
        <p:spPr>
          <a:xfrm>
            <a:off x="1990725" y="1700213"/>
            <a:ext cx="8153400" cy="4114800"/>
          </a:xfrm>
        </p:spPr>
        <p:txBody>
          <a:bodyPr/>
          <a:lstStyle/>
          <a:p>
            <a:pPr>
              <a:lnSpc>
                <a:spcPct val="150000"/>
              </a:lnSpc>
            </a:pPr>
            <a:r>
              <a:rPr lang="zh-CN" altLang="en-US" dirty="0"/>
              <a:t>存放指针或者说地址的变量就是指针变量。</a:t>
            </a:r>
          </a:p>
          <a:p>
            <a:pPr>
              <a:lnSpc>
                <a:spcPct val="150000"/>
              </a:lnSpc>
            </a:pPr>
            <a:r>
              <a:rPr lang="zh-CN" altLang="en-US" dirty="0"/>
              <a:t>一般变量的内存单元中存放的是数据，指针变量的内存单元中存放的是地址。</a:t>
            </a:r>
          </a:p>
        </p:txBody>
      </p:sp>
      <p:sp>
        <p:nvSpPr>
          <p:cNvPr id="7169"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BAE2096A-49B3-4E05-B6B6-98A6E208AA36}" type="slidenum">
              <a:rPr lang="zh-CN" altLang="en-US" smtClean="0"/>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25601"/>
          <p:cNvSpPr>
            <a:spLocks noGrp="1" noChangeArrowheads="1"/>
          </p:cNvSpPr>
          <p:nvPr>
            <p:ph type="title"/>
          </p:nvPr>
        </p:nvSpPr>
        <p:spPr/>
        <p:txBody>
          <a:bodyPr/>
          <a:lstStyle/>
          <a:p>
            <a:r>
              <a:rPr lang="en-US" altLang="zh-CN" dirty="0"/>
              <a:t>7.2.1 </a:t>
            </a:r>
            <a:r>
              <a:rPr lang="zh-CN" altLang="en-US" dirty="0"/>
              <a:t>指针的存储空间 </a:t>
            </a:r>
          </a:p>
        </p:txBody>
      </p:sp>
      <p:sp>
        <p:nvSpPr>
          <p:cNvPr id="8195" name="文本占位符 25602"/>
          <p:cNvSpPr>
            <a:spLocks noGrp="1" noChangeArrowheads="1"/>
          </p:cNvSpPr>
          <p:nvPr>
            <p:ph idx="1"/>
          </p:nvPr>
        </p:nvSpPr>
        <p:spPr>
          <a:xfrm>
            <a:off x="1990724" y="1700212"/>
            <a:ext cx="8641779" cy="4393083"/>
          </a:xfrm>
        </p:spPr>
        <p:txBody>
          <a:bodyPr>
            <a:normAutofit/>
          </a:bodyPr>
          <a:lstStyle/>
          <a:p>
            <a:r>
              <a:rPr lang="zh-CN" altLang="en-US" sz="2600" dirty="0"/>
              <a:t>例如：	</a:t>
            </a:r>
          </a:p>
          <a:p>
            <a:pPr>
              <a:buFontTx/>
              <a:buNone/>
            </a:pPr>
            <a:r>
              <a:rPr lang="en-US" altLang="zh-CN" sz="2600" dirty="0"/>
              <a:t>		</a:t>
            </a:r>
            <a:r>
              <a:rPr lang="en-US" altLang="zh-CN" sz="2600" dirty="0" err="1"/>
              <a:t>int</a:t>
            </a:r>
            <a:r>
              <a:rPr lang="en-US" altLang="zh-CN" sz="2600" dirty="0"/>
              <a:t> *</a:t>
            </a:r>
            <a:r>
              <a:rPr lang="en-US" altLang="zh-CN" sz="2600" dirty="0" err="1"/>
              <a:t>pInt</a:t>
            </a:r>
            <a:r>
              <a:rPr lang="en-US" altLang="zh-CN" sz="2600" dirty="0"/>
              <a:t> ;  </a:t>
            </a:r>
          </a:p>
          <a:p>
            <a:pPr>
              <a:buFontTx/>
              <a:buNone/>
            </a:pPr>
            <a:r>
              <a:rPr lang="en-US" altLang="zh-CN" sz="2600" dirty="0"/>
              <a:t>	    	char *</a:t>
            </a:r>
            <a:r>
              <a:rPr lang="en-US" altLang="zh-CN" sz="2600" dirty="0" err="1"/>
              <a:t>pChar</a:t>
            </a:r>
            <a:r>
              <a:rPr lang="en-US" altLang="zh-CN" sz="2600" dirty="0"/>
              <a:t> ; </a:t>
            </a:r>
          </a:p>
          <a:p>
            <a:pPr>
              <a:buFontTx/>
              <a:buNone/>
            </a:pPr>
            <a:r>
              <a:rPr lang="en-US" altLang="zh-CN" sz="2600" dirty="0"/>
              <a:t>           </a:t>
            </a:r>
          </a:p>
          <a:p>
            <a:pPr>
              <a:lnSpc>
                <a:spcPct val="110000"/>
              </a:lnSpc>
              <a:spcAft>
                <a:spcPts val="600"/>
              </a:spcAft>
              <a:buFontTx/>
              <a:buNone/>
            </a:pPr>
            <a:r>
              <a:rPr lang="en-US" altLang="zh-CN" sz="2600" dirty="0"/>
              <a:t>1</a:t>
            </a:r>
            <a:r>
              <a:rPr lang="zh-CN" altLang="en-US" sz="2600" dirty="0"/>
              <a:t>：指针不指向内存的</a:t>
            </a:r>
            <a:r>
              <a:rPr lang="en-US" altLang="zh-CN" sz="2600" dirty="0"/>
              <a:t>0</a:t>
            </a:r>
            <a:r>
              <a:rPr lang="zh-CN" altLang="en-US" sz="2600" dirty="0"/>
              <a:t>号单元。如果指针变量值为</a:t>
            </a:r>
            <a:r>
              <a:rPr lang="en-US" altLang="zh-CN" sz="2600" dirty="0"/>
              <a:t>0</a:t>
            </a:r>
            <a:r>
              <a:rPr lang="zh-CN" altLang="en-US" sz="2600" dirty="0"/>
              <a:t>（即</a:t>
            </a:r>
            <a:r>
              <a:rPr lang="en-US" altLang="zh-CN" sz="2600" dirty="0"/>
              <a:t>NULL )</a:t>
            </a:r>
            <a:r>
              <a:rPr lang="zh-CN" altLang="en-US" sz="2600" dirty="0"/>
              <a:t>，表示</a:t>
            </a:r>
            <a:r>
              <a:rPr lang="zh-CN" altLang="en-US" sz="2600" dirty="0">
                <a:solidFill>
                  <a:srgbClr val="FF0000"/>
                </a:solidFill>
              </a:rPr>
              <a:t>空指针</a:t>
            </a:r>
            <a:r>
              <a:rPr lang="zh-CN" altLang="en-US" sz="2600" dirty="0"/>
              <a:t>。</a:t>
            </a:r>
            <a:r>
              <a:rPr lang="en-US" altLang="zh-CN" sz="2600" dirty="0"/>
              <a:t>int *p=NULL;</a:t>
            </a:r>
            <a:endParaRPr lang="zh-CN" altLang="en-US" sz="2600" dirty="0"/>
          </a:p>
          <a:p>
            <a:pPr>
              <a:lnSpc>
                <a:spcPct val="110000"/>
              </a:lnSpc>
              <a:spcAft>
                <a:spcPts val="600"/>
              </a:spcAft>
              <a:buFontTx/>
              <a:buNone/>
            </a:pPr>
            <a:r>
              <a:rPr lang="en-US" altLang="zh-CN" sz="2600" dirty="0"/>
              <a:t>2. </a:t>
            </a:r>
            <a:r>
              <a:rPr lang="zh-CN" altLang="en-US" sz="2600" dirty="0"/>
              <a:t>地址值与整型数值不同：如地址</a:t>
            </a:r>
            <a:r>
              <a:rPr lang="en-US" altLang="zh-CN" sz="2600" dirty="0"/>
              <a:t>1000</a:t>
            </a:r>
            <a:r>
              <a:rPr lang="zh-CN" altLang="en-US" sz="2600" dirty="0"/>
              <a:t>与整数</a:t>
            </a:r>
            <a:r>
              <a:rPr lang="en-US" altLang="zh-CN" sz="2600" dirty="0"/>
              <a:t>1000</a:t>
            </a:r>
            <a:r>
              <a:rPr lang="zh-CN" altLang="en-US" sz="2600" dirty="0"/>
              <a:t>。</a:t>
            </a:r>
          </a:p>
          <a:p>
            <a:pPr>
              <a:lnSpc>
                <a:spcPct val="110000"/>
              </a:lnSpc>
              <a:spcAft>
                <a:spcPts val="600"/>
              </a:spcAft>
              <a:buFontTx/>
              <a:buNone/>
            </a:pPr>
            <a:r>
              <a:rPr lang="en-US" altLang="zh-CN" sz="2600" dirty="0"/>
              <a:t>3. </a:t>
            </a:r>
            <a:r>
              <a:rPr lang="zh-CN" altLang="en-US" sz="2600" dirty="0">
                <a:solidFill>
                  <a:srgbClr val="7030A0"/>
                </a:solidFill>
              </a:rPr>
              <a:t>无论是何种类型的指针都占</a:t>
            </a:r>
            <a:r>
              <a:rPr lang="en-US" altLang="zh-CN" sz="2600" dirty="0">
                <a:solidFill>
                  <a:srgbClr val="7030A0"/>
                </a:solidFill>
              </a:rPr>
              <a:t>4(</a:t>
            </a:r>
            <a:r>
              <a:rPr lang="zh-CN" altLang="en-US" sz="2600" dirty="0">
                <a:solidFill>
                  <a:srgbClr val="7030A0"/>
                </a:solidFill>
              </a:rPr>
              <a:t>或</a:t>
            </a:r>
            <a:r>
              <a:rPr lang="en-US" altLang="zh-CN" sz="2600" dirty="0">
                <a:solidFill>
                  <a:srgbClr val="7030A0"/>
                </a:solidFill>
              </a:rPr>
              <a:t>8)</a:t>
            </a:r>
            <a:r>
              <a:rPr lang="zh-CN" altLang="en-US" sz="2600" dirty="0">
                <a:solidFill>
                  <a:srgbClr val="7030A0"/>
                </a:solidFill>
              </a:rPr>
              <a:t>个字节的内存空间</a:t>
            </a:r>
            <a:r>
              <a:rPr lang="zh-CN" altLang="en-US" sz="2600" dirty="0"/>
              <a:t>。</a:t>
            </a:r>
          </a:p>
        </p:txBody>
      </p:sp>
      <p:sp>
        <p:nvSpPr>
          <p:cNvPr id="8193"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3BDFE30A-859E-47C0-A236-4EE98856EAE7}" type="slidenum">
              <a:rPr lang="zh-CN" altLang="en-US" smtClean="0"/>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7" name="文本框 26627"/>
          <p:cNvSpPr txBox="1">
            <a:spLocks noChangeArrowheads="1"/>
          </p:cNvSpPr>
          <p:nvPr/>
        </p:nvSpPr>
        <p:spPr bwMode="auto">
          <a:xfrm>
            <a:off x="2281239" y="836613"/>
            <a:ext cx="8135937" cy="5776912"/>
          </a:xfrm>
          <a:prstGeom prst="rect">
            <a:avLst/>
          </a:prstGeom>
          <a:noFill/>
          <a:ln w="9525">
            <a:solidFill>
              <a:srgbClr val="C0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a:lnSpc>
                <a:spcPct val="130000"/>
              </a:lnSpc>
            </a:pPr>
            <a:r>
              <a:rPr lang="zh-CN" altLang="fr-FR" sz="2600">
                <a:solidFill>
                  <a:schemeClr val="tx1"/>
                </a:solidFill>
              </a:rPr>
              <a:t>例如：</a:t>
            </a:r>
          </a:p>
          <a:p>
            <a:pPr>
              <a:lnSpc>
                <a:spcPct val="130000"/>
              </a:lnSpc>
            </a:pPr>
            <a:r>
              <a:rPr lang="en-US" altLang="zh-CN" sz="2600" noProof="1">
                <a:solidFill>
                  <a:schemeClr val="tx1"/>
                </a:solidFill>
              </a:rPr>
              <a:t>	int	   *pInt ;</a:t>
            </a:r>
          </a:p>
          <a:p>
            <a:pPr>
              <a:lnSpc>
                <a:spcPct val="130000"/>
              </a:lnSpc>
            </a:pPr>
            <a:r>
              <a:rPr lang="en-US" altLang="zh-CN" sz="2600" noProof="1">
                <a:solidFill>
                  <a:schemeClr val="tx1"/>
                </a:solidFill>
              </a:rPr>
              <a:t>	char	   *pChar ;</a:t>
            </a:r>
          </a:p>
          <a:p>
            <a:pPr>
              <a:lnSpc>
                <a:spcPct val="130000"/>
              </a:lnSpc>
            </a:pPr>
            <a:r>
              <a:rPr lang="en-US" altLang="zh-CN" sz="2600" noProof="1">
                <a:solidFill>
                  <a:schemeClr val="tx1"/>
                </a:solidFill>
              </a:rPr>
              <a:t>	double   *pDouble ;</a:t>
            </a:r>
          </a:p>
          <a:p>
            <a:pPr>
              <a:lnSpc>
                <a:spcPct val="130000"/>
              </a:lnSpc>
            </a:pPr>
            <a:r>
              <a:rPr lang="en-US" altLang="zh-CN" sz="2600" noProof="1">
                <a:solidFill>
                  <a:schemeClr val="tx1"/>
                </a:solidFill>
              </a:rPr>
              <a:t>	float       *pFloat ;</a:t>
            </a:r>
          </a:p>
          <a:p>
            <a:pPr>
              <a:lnSpc>
                <a:spcPct val="130000"/>
              </a:lnSpc>
            </a:pPr>
            <a:endParaRPr lang="en-US" altLang="zh-CN" sz="2600" noProof="1">
              <a:solidFill>
                <a:schemeClr val="tx1"/>
              </a:solidFill>
            </a:endParaRPr>
          </a:p>
          <a:p>
            <a:pPr>
              <a:lnSpc>
                <a:spcPct val="130000"/>
              </a:lnSpc>
            </a:pPr>
            <a:r>
              <a:rPr lang="en-US" altLang="zh-CN" sz="2600" noProof="1">
                <a:solidFill>
                  <a:schemeClr val="tx1"/>
                </a:solidFill>
              </a:rPr>
              <a:t>	cout &lt;&lt; sizeof( pInt) &lt;&lt;"\t"</a:t>
            </a:r>
          </a:p>
          <a:p>
            <a:pPr>
              <a:lnSpc>
                <a:spcPct val="130000"/>
              </a:lnSpc>
            </a:pPr>
            <a:r>
              <a:rPr lang="en-US" altLang="zh-CN" sz="2600" noProof="1">
                <a:solidFill>
                  <a:schemeClr val="tx1"/>
                </a:solidFill>
              </a:rPr>
              <a:t>                </a:t>
            </a:r>
            <a:r>
              <a:rPr lang="en-US" altLang="zh-CN" sz="2600">
                <a:solidFill>
                  <a:schemeClr val="tx1"/>
                </a:solidFill>
              </a:rPr>
              <a:t>    </a:t>
            </a:r>
            <a:r>
              <a:rPr lang="en-US" altLang="zh-CN" sz="2600" noProof="1">
                <a:solidFill>
                  <a:schemeClr val="tx1"/>
                </a:solidFill>
              </a:rPr>
              <a:t>&lt;&lt; sizeof( pChar) &lt;&lt;"\t"</a:t>
            </a:r>
          </a:p>
          <a:p>
            <a:pPr>
              <a:lnSpc>
                <a:spcPct val="130000"/>
              </a:lnSpc>
            </a:pPr>
            <a:r>
              <a:rPr lang="en-US" altLang="zh-CN" sz="2600" noProof="1">
                <a:solidFill>
                  <a:schemeClr val="tx1"/>
                </a:solidFill>
              </a:rPr>
              <a:t>                </a:t>
            </a:r>
            <a:r>
              <a:rPr lang="en-US" altLang="zh-CN" sz="2600">
                <a:solidFill>
                  <a:schemeClr val="tx1"/>
                </a:solidFill>
              </a:rPr>
              <a:t>    </a:t>
            </a:r>
            <a:r>
              <a:rPr lang="en-US" altLang="zh-CN" sz="2600" noProof="1">
                <a:solidFill>
                  <a:schemeClr val="tx1"/>
                </a:solidFill>
              </a:rPr>
              <a:t>&lt;&lt; sizeof( pDouble) &lt;&lt; "\t"</a:t>
            </a:r>
          </a:p>
          <a:p>
            <a:pPr>
              <a:lnSpc>
                <a:spcPct val="130000"/>
              </a:lnSpc>
            </a:pPr>
            <a:r>
              <a:rPr lang="en-US" altLang="zh-CN" sz="2600" noProof="1">
                <a:solidFill>
                  <a:schemeClr val="tx1"/>
                </a:solidFill>
              </a:rPr>
              <a:t>	</a:t>
            </a:r>
            <a:r>
              <a:rPr lang="en-US" altLang="zh-CN" sz="2600">
                <a:solidFill>
                  <a:schemeClr val="tx1"/>
                </a:solidFill>
              </a:rPr>
              <a:t>        </a:t>
            </a:r>
            <a:r>
              <a:rPr lang="en-US" altLang="zh-CN" sz="2600" noProof="1">
                <a:solidFill>
                  <a:schemeClr val="tx1"/>
                </a:solidFill>
              </a:rPr>
              <a:t>&lt;&lt; sizeof( pFloat) &lt;&lt; endl; </a:t>
            </a:r>
            <a:endParaRPr lang="en-US" altLang="zh-CN" sz="2600">
              <a:solidFill>
                <a:schemeClr val="tx1"/>
              </a:solidFill>
            </a:endParaRPr>
          </a:p>
          <a:p>
            <a:pPr>
              <a:lnSpc>
                <a:spcPct val="130000"/>
              </a:lnSpc>
            </a:pPr>
            <a:endParaRPr lang="en-US" altLang="zh-CN" sz="2600">
              <a:solidFill>
                <a:schemeClr val="tx1"/>
              </a:solidFill>
            </a:endParaRPr>
          </a:p>
        </p:txBody>
      </p:sp>
      <p:sp>
        <p:nvSpPr>
          <p:cNvPr id="9218" name="流程图: 过程 26628"/>
          <p:cNvSpPr>
            <a:spLocks noChangeArrowheads="1"/>
          </p:cNvSpPr>
          <p:nvPr/>
        </p:nvSpPr>
        <p:spPr bwMode="auto">
          <a:xfrm>
            <a:off x="8688389" y="5373688"/>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solidFill>
                  <a:schemeClr val="tx1"/>
                </a:solidFill>
              </a:rPr>
              <a:t>Ex5-a.cpp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27649"/>
          <p:cNvSpPr>
            <a:spLocks noGrp="1" noChangeArrowheads="1"/>
          </p:cNvSpPr>
          <p:nvPr>
            <p:ph type="title"/>
          </p:nvPr>
        </p:nvSpPr>
        <p:spPr/>
        <p:txBody>
          <a:bodyPr/>
          <a:lstStyle/>
          <a:p>
            <a:r>
              <a:rPr lang="en-US" altLang="zh-CN" dirty="0"/>
              <a:t>7.2.2 </a:t>
            </a:r>
            <a:r>
              <a:rPr lang="zh-CN" altLang="en-US" dirty="0"/>
              <a:t>运算符 </a:t>
            </a:r>
            <a:r>
              <a:rPr lang="en-US" altLang="zh-CN" dirty="0"/>
              <a:t>&amp; </a:t>
            </a:r>
            <a:r>
              <a:rPr lang="zh-CN" altLang="en-US" dirty="0"/>
              <a:t>和 * </a:t>
            </a:r>
          </a:p>
        </p:txBody>
      </p:sp>
      <p:sp>
        <p:nvSpPr>
          <p:cNvPr id="10243" name="文本占位符 27650"/>
          <p:cNvSpPr>
            <a:spLocks noGrp="1" noChangeArrowheads="1"/>
          </p:cNvSpPr>
          <p:nvPr>
            <p:ph idx="1"/>
          </p:nvPr>
        </p:nvSpPr>
        <p:spPr>
          <a:xfrm>
            <a:off x="1990725" y="1700213"/>
            <a:ext cx="8153400" cy="4114800"/>
          </a:xfrm>
        </p:spPr>
        <p:txBody>
          <a:bodyPr/>
          <a:lstStyle/>
          <a:p>
            <a:pPr marL="533400" indent="-533400">
              <a:buFontTx/>
              <a:buAutoNum type="arabicPeriod"/>
            </a:pPr>
            <a:r>
              <a:rPr lang="en-US" altLang="zh-CN" b="1" dirty="0">
                <a:solidFill>
                  <a:srgbClr val="7030A0"/>
                </a:solidFill>
              </a:rPr>
              <a:t>&amp;</a:t>
            </a:r>
            <a:r>
              <a:rPr lang="zh-CN" altLang="en-US" b="1" dirty="0">
                <a:solidFill>
                  <a:srgbClr val="7030A0"/>
                </a:solidFill>
              </a:rPr>
              <a:t>：取内存变量地址</a:t>
            </a:r>
            <a:r>
              <a:rPr lang="zh-CN" altLang="en-US" dirty="0"/>
              <a:t>，例如：</a:t>
            </a:r>
          </a:p>
          <a:p>
            <a:pPr marL="533400" indent="-533400">
              <a:buNone/>
            </a:pPr>
            <a:r>
              <a:rPr lang="en-US" altLang="zh-CN" dirty="0"/>
              <a:t>		char    *</a:t>
            </a:r>
            <a:r>
              <a:rPr lang="en-US" altLang="zh-CN" dirty="0" err="1"/>
              <a:t>pChar</a:t>
            </a:r>
            <a:r>
              <a:rPr lang="en-US" altLang="zh-CN" dirty="0"/>
              <a:t>,   </a:t>
            </a:r>
            <a:r>
              <a:rPr lang="en-US" altLang="zh-CN" dirty="0" err="1"/>
              <a:t>ch</a:t>
            </a:r>
            <a:r>
              <a:rPr lang="en-US" altLang="zh-CN" dirty="0"/>
              <a:t>='A';</a:t>
            </a:r>
          </a:p>
          <a:p>
            <a:pPr marL="533400" indent="-533400">
              <a:buNone/>
            </a:pPr>
            <a:r>
              <a:rPr lang="en-US" altLang="zh-CN" dirty="0"/>
              <a:t>		</a:t>
            </a:r>
            <a:r>
              <a:rPr lang="en-US" altLang="zh-CN" dirty="0" err="1"/>
              <a:t>pChar</a:t>
            </a:r>
            <a:r>
              <a:rPr lang="en-US" altLang="zh-CN" dirty="0"/>
              <a:t> = &amp;</a:t>
            </a:r>
            <a:r>
              <a:rPr lang="en-US" altLang="zh-CN" dirty="0" err="1"/>
              <a:t>ch</a:t>
            </a:r>
            <a:r>
              <a:rPr lang="en-US" altLang="zh-CN" dirty="0"/>
              <a:t> ;			  </a:t>
            </a:r>
          </a:p>
        </p:txBody>
      </p:sp>
      <p:sp>
        <p:nvSpPr>
          <p:cNvPr id="10241"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D0FCC12B-0F87-493A-A4DA-6B186223F161}" type="slidenum">
              <a:rPr lang="zh-CN" altLang="en-US" smtClean="0"/>
              <a:t>6</a:t>
            </a:fld>
            <a:endParaRPr lang="zh-CN" altLang="en-US"/>
          </a:p>
        </p:txBody>
      </p:sp>
      <p:pic>
        <p:nvPicPr>
          <p:cNvPr id="10244" name="图片 276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7350" y="3644901"/>
            <a:ext cx="6624638" cy="262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28673"/>
          <p:cNvSpPr>
            <a:spLocks noGrp="1" noChangeArrowheads="1"/>
          </p:cNvSpPr>
          <p:nvPr>
            <p:ph type="title"/>
          </p:nvPr>
        </p:nvSpPr>
        <p:spPr/>
        <p:txBody>
          <a:bodyPr/>
          <a:lstStyle/>
          <a:p>
            <a:r>
              <a:rPr lang="en-US" altLang="zh-CN" dirty="0"/>
              <a:t>7.2.2 </a:t>
            </a:r>
            <a:r>
              <a:rPr lang="zh-CN" altLang="en-US" dirty="0"/>
              <a:t>运算符 </a:t>
            </a:r>
            <a:r>
              <a:rPr lang="en-US" altLang="zh-CN" dirty="0"/>
              <a:t>&amp; </a:t>
            </a:r>
            <a:r>
              <a:rPr lang="zh-CN" altLang="en-US" dirty="0"/>
              <a:t>和 * </a:t>
            </a:r>
          </a:p>
        </p:txBody>
      </p:sp>
      <p:sp>
        <p:nvSpPr>
          <p:cNvPr id="11267" name="文本占位符 28674"/>
          <p:cNvSpPr>
            <a:spLocks noGrp="1" noChangeArrowheads="1"/>
          </p:cNvSpPr>
          <p:nvPr>
            <p:ph idx="1"/>
          </p:nvPr>
        </p:nvSpPr>
        <p:spPr>
          <a:xfrm>
            <a:off x="1981200" y="1752600"/>
            <a:ext cx="8153400" cy="4484688"/>
          </a:xfrm>
        </p:spPr>
        <p:txBody>
          <a:bodyPr>
            <a:normAutofit/>
          </a:bodyPr>
          <a:lstStyle/>
          <a:p>
            <a:pPr marL="533400" indent="-533400">
              <a:lnSpc>
                <a:spcPct val="140000"/>
              </a:lnSpc>
              <a:spcBef>
                <a:spcPct val="10000"/>
              </a:spcBef>
              <a:buNone/>
            </a:pPr>
            <a:r>
              <a:rPr lang="en-US" altLang="zh-CN" dirty="0"/>
              <a:t>2. </a:t>
            </a:r>
            <a:r>
              <a:rPr lang="zh-CN" altLang="en-US" dirty="0">
                <a:solidFill>
                  <a:srgbClr val="7030A0"/>
                </a:solidFill>
              </a:rPr>
              <a:t>*：通过指针间接访问所指变量</a:t>
            </a:r>
            <a:r>
              <a:rPr lang="en-US" altLang="zh-CN" dirty="0">
                <a:solidFill>
                  <a:srgbClr val="7030A0"/>
                </a:solidFill>
              </a:rPr>
              <a:t> </a:t>
            </a:r>
          </a:p>
          <a:p>
            <a:pPr marL="533400" indent="-533400">
              <a:lnSpc>
                <a:spcPct val="140000"/>
              </a:lnSpc>
              <a:spcBef>
                <a:spcPct val="10000"/>
              </a:spcBef>
              <a:buNone/>
            </a:pPr>
            <a:r>
              <a:rPr lang="pt-BR" altLang="zh-CN" dirty="0"/>
              <a:t>		char  *pChar, ch1='A', ch2 ;</a:t>
            </a:r>
          </a:p>
          <a:p>
            <a:pPr marL="533400" indent="-533400">
              <a:lnSpc>
                <a:spcPct val="140000"/>
              </a:lnSpc>
              <a:spcBef>
                <a:spcPct val="10000"/>
              </a:spcBef>
              <a:buNone/>
            </a:pPr>
            <a:r>
              <a:rPr lang="pt-BR" altLang="zh-CN" dirty="0"/>
              <a:t>		pChar = &amp;ch1;			</a:t>
            </a:r>
          </a:p>
          <a:p>
            <a:pPr marL="533400" indent="-533400">
              <a:lnSpc>
                <a:spcPct val="140000"/>
              </a:lnSpc>
              <a:spcBef>
                <a:spcPct val="10000"/>
              </a:spcBef>
              <a:buNone/>
            </a:pPr>
            <a:r>
              <a:rPr lang="pt-BR" altLang="zh-CN" dirty="0"/>
              <a:t>		ch2 = *pChar; //</a:t>
            </a:r>
            <a:r>
              <a:rPr lang="zh-CN" altLang="en-US" dirty="0"/>
              <a:t>取指针指向的内容</a:t>
            </a:r>
            <a:endParaRPr lang="en-US" altLang="zh-CN" dirty="0"/>
          </a:p>
          <a:p>
            <a:pPr marL="533400" indent="-533400">
              <a:lnSpc>
                <a:spcPct val="140000"/>
              </a:lnSpc>
              <a:spcBef>
                <a:spcPct val="10000"/>
              </a:spcBef>
              <a:buNone/>
            </a:pPr>
            <a:r>
              <a:rPr lang="en-US" altLang="zh-CN" dirty="0"/>
              <a:t>		*</a:t>
            </a:r>
            <a:r>
              <a:rPr lang="en-US" altLang="zh-CN" dirty="0" err="1"/>
              <a:t>pChar</a:t>
            </a:r>
            <a:r>
              <a:rPr lang="en-US" altLang="zh-CN" dirty="0"/>
              <a:t> = 'B' ; </a:t>
            </a:r>
          </a:p>
          <a:p>
            <a:pPr marL="533400" indent="-533400">
              <a:lnSpc>
                <a:spcPct val="140000"/>
              </a:lnSpc>
              <a:spcBef>
                <a:spcPct val="10000"/>
              </a:spcBef>
              <a:buNone/>
            </a:pPr>
            <a:r>
              <a:rPr lang="zh-CN" altLang="en-US" dirty="0"/>
              <a:t>指针变量初始化：</a:t>
            </a:r>
          </a:p>
          <a:p>
            <a:pPr marL="533400" indent="-533400">
              <a:lnSpc>
                <a:spcPct val="140000"/>
              </a:lnSpc>
              <a:spcBef>
                <a:spcPct val="10000"/>
              </a:spcBef>
              <a:buNone/>
            </a:pPr>
            <a:r>
              <a:rPr lang="en-US" altLang="zh-CN" dirty="0"/>
              <a:t>		</a:t>
            </a:r>
            <a:r>
              <a:rPr lang="pt-BR" altLang="zh-CN" dirty="0"/>
              <a:t>char  ch='A',  *pChar = &amp;ch,   *p = NULL ; </a:t>
            </a:r>
          </a:p>
        </p:txBody>
      </p:sp>
      <p:sp>
        <p:nvSpPr>
          <p:cNvPr id="11265"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2ACE0C8-3D08-4DA5-B7B6-9690BA269B77}" type="slidenum">
              <a:rPr lang="zh-CN" altLang="en-US" smtClean="0"/>
              <a:t>7</a:t>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1EB1119-B1EA-482F-8756-A2F14CA520E4}" type="slidenum">
              <a:rPr lang="zh-CN" altLang="en-US" smtClean="0"/>
              <a:t>8</a:t>
            </a:fld>
            <a:endParaRPr lang="zh-CN" altLang="en-US"/>
          </a:p>
        </p:txBody>
      </p:sp>
      <p:pic>
        <p:nvPicPr>
          <p:cNvPr id="5" name="图片 4"/>
          <p:cNvPicPr>
            <a:picLocks noChangeAspect="1"/>
          </p:cNvPicPr>
          <p:nvPr/>
        </p:nvPicPr>
        <p:blipFill>
          <a:blip r:embed="rId2"/>
          <a:stretch>
            <a:fillRect/>
          </a:stretch>
        </p:blipFill>
        <p:spPr>
          <a:xfrm>
            <a:off x="1487488" y="3375430"/>
            <a:ext cx="9601201" cy="2843299"/>
          </a:xfrm>
          <a:prstGeom prst="rect">
            <a:avLst/>
          </a:prstGeom>
        </p:spPr>
      </p:pic>
      <p:sp>
        <p:nvSpPr>
          <p:cNvPr id="6" name="矩形 5"/>
          <p:cNvSpPr/>
          <p:nvPr/>
        </p:nvSpPr>
        <p:spPr>
          <a:xfrm>
            <a:off x="990600" y="1773363"/>
            <a:ext cx="8633792" cy="1800493"/>
          </a:xfrm>
          <a:prstGeom prst="rect">
            <a:avLst/>
          </a:prstGeom>
        </p:spPr>
        <p:txBody>
          <a:bodyPr wrap="square">
            <a:spAutoFit/>
          </a:bodyPr>
          <a:lstStyle/>
          <a:p>
            <a:pPr lvl="1">
              <a:spcBef>
                <a:spcPts val="600"/>
              </a:spcBef>
            </a:pPr>
            <a:r>
              <a:rPr lang="zh-CN" altLang="en-US" b="0" dirty="0">
                <a:solidFill>
                  <a:schemeClr val="tx1"/>
                </a:solidFill>
              </a:rPr>
              <a:t>例：指针变量</a:t>
            </a:r>
            <a:r>
              <a:rPr lang="en-US" altLang="zh-CN" b="0" dirty="0">
                <a:solidFill>
                  <a:schemeClr val="tx1"/>
                </a:solidFill>
              </a:rPr>
              <a:t>p</a:t>
            </a:r>
            <a:r>
              <a:rPr lang="zh-CN" altLang="en-US" b="0" dirty="0">
                <a:solidFill>
                  <a:schemeClr val="tx1"/>
                </a:solidFill>
              </a:rPr>
              <a:t>中存放着整型变量</a:t>
            </a:r>
            <a:r>
              <a:rPr lang="en-US" altLang="zh-CN" b="0" dirty="0">
                <a:solidFill>
                  <a:schemeClr val="tx1"/>
                </a:solidFill>
              </a:rPr>
              <a:t>a</a:t>
            </a:r>
            <a:r>
              <a:rPr lang="zh-CN" altLang="en-US" b="0" dirty="0">
                <a:solidFill>
                  <a:schemeClr val="tx1"/>
                </a:solidFill>
              </a:rPr>
              <a:t>的地址</a:t>
            </a:r>
            <a:endParaRPr lang="en-US" altLang="zh-CN" b="0" dirty="0">
              <a:solidFill>
                <a:schemeClr val="tx1"/>
              </a:solidFill>
            </a:endParaRPr>
          </a:p>
          <a:p>
            <a:pPr lvl="1">
              <a:spcBef>
                <a:spcPts val="600"/>
              </a:spcBef>
            </a:pPr>
            <a:r>
              <a:rPr lang="zh-CN" altLang="en-US" b="0" dirty="0">
                <a:solidFill>
                  <a:schemeClr val="tx1"/>
                </a:solidFill>
              </a:rPr>
              <a:t>建立了</a:t>
            </a:r>
            <a:r>
              <a:rPr lang="en-US" altLang="zh-CN" b="0" dirty="0">
                <a:solidFill>
                  <a:schemeClr val="tx1"/>
                </a:solidFill>
              </a:rPr>
              <a:t>p</a:t>
            </a:r>
            <a:r>
              <a:rPr lang="zh-CN" altLang="en-US" b="0" dirty="0">
                <a:solidFill>
                  <a:schemeClr val="tx1"/>
                </a:solidFill>
              </a:rPr>
              <a:t>和</a:t>
            </a:r>
            <a:r>
              <a:rPr lang="en-US" altLang="zh-CN" b="0" dirty="0">
                <a:solidFill>
                  <a:schemeClr val="tx1"/>
                </a:solidFill>
              </a:rPr>
              <a:t>a</a:t>
            </a:r>
            <a:r>
              <a:rPr lang="zh-CN" altLang="en-US" b="0" dirty="0">
                <a:solidFill>
                  <a:schemeClr val="tx1"/>
                </a:solidFill>
              </a:rPr>
              <a:t>的指向关系：</a:t>
            </a:r>
            <a:r>
              <a:rPr lang="en-US" altLang="zh-CN" b="0" dirty="0">
                <a:solidFill>
                  <a:schemeClr val="tx1"/>
                </a:solidFill>
              </a:rPr>
              <a:t>p</a:t>
            </a:r>
            <a:r>
              <a:rPr lang="zh-CN" altLang="en-US" b="0" dirty="0">
                <a:solidFill>
                  <a:schemeClr val="tx1"/>
                </a:solidFill>
              </a:rPr>
              <a:t>指向</a:t>
            </a:r>
            <a:r>
              <a:rPr lang="en-US" altLang="zh-CN" b="0" dirty="0">
                <a:solidFill>
                  <a:schemeClr val="tx1"/>
                </a:solidFill>
              </a:rPr>
              <a:t>a</a:t>
            </a:r>
          </a:p>
          <a:p>
            <a:pPr lvl="1">
              <a:spcBef>
                <a:spcPts val="600"/>
              </a:spcBef>
            </a:pPr>
            <a:r>
              <a:rPr lang="zh-CN" altLang="en-US" b="0" dirty="0">
                <a:solidFill>
                  <a:schemeClr val="tx1"/>
                </a:solidFill>
              </a:rPr>
              <a:t>访问</a:t>
            </a:r>
            <a:r>
              <a:rPr lang="en-US" altLang="zh-CN" b="0" dirty="0">
                <a:solidFill>
                  <a:schemeClr val="tx1"/>
                </a:solidFill>
              </a:rPr>
              <a:t>p</a:t>
            </a:r>
            <a:r>
              <a:rPr lang="zh-CN" altLang="en-US" b="0" dirty="0">
                <a:solidFill>
                  <a:schemeClr val="tx1"/>
                </a:solidFill>
              </a:rPr>
              <a:t>，只能看到地址：直接访问</a:t>
            </a:r>
            <a:endParaRPr lang="en-US" altLang="zh-CN" b="0" dirty="0">
              <a:solidFill>
                <a:schemeClr val="tx1"/>
              </a:solidFill>
            </a:endParaRPr>
          </a:p>
          <a:p>
            <a:pPr lvl="1">
              <a:spcBef>
                <a:spcPts val="600"/>
              </a:spcBef>
            </a:pPr>
            <a:r>
              <a:rPr lang="zh-CN" altLang="en-US" b="0" dirty="0">
                <a:solidFill>
                  <a:schemeClr val="tx1"/>
                </a:solidFill>
              </a:rPr>
              <a:t>通过</a:t>
            </a:r>
            <a:r>
              <a:rPr lang="en-US" altLang="zh-CN" b="0" dirty="0">
                <a:solidFill>
                  <a:schemeClr val="tx1"/>
                </a:solidFill>
              </a:rPr>
              <a:t>p</a:t>
            </a:r>
            <a:r>
              <a:rPr lang="zh-CN" altLang="en-US" b="0" dirty="0">
                <a:solidFill>
                  <a:schemeClr val="tx1"/>
                </a:solidFill>
              </a:rPr>
              <a:t>访问它所指向的</a:t>
            </a:r>
            <a:r>
              <a:rPr lang="en-US" altLang="zh-CN" b="0" dirty="0">
                <a:solidFill>
                  <a:schemeClr val="tx1"/>
                </a:solidFill>
              </a:rPr>
              <a:t>a</a:t>
            </a:r>
            <a:r>
              <a:rPr lang="zh-CN" altLang="en-US" b="0" dirty="0">
                <a:solidFill>
                  <a:schemeClr val="tx1"/>
                </a:solidFill>
              </a:rPr>
              <a:t>：间接访问</a:t>
            </a:r>
            <a:endParaRPr lang="en-US" altLang="zh-CN" b="0" dirty="0">
              <a:solidFill>
                <a:schemeClr val="tx1"/>
              </a:solidFill>
            </a:endParaRPr>
          </a:p>
        </p:txBody>
      </p:sp>
      <p:sp>
        <p:nvSpPr>
          <p:cNvPr id="7" name="标题 28673"/>
          <p:cNvSpPr txBox="1">
            <a:spLocks noChangeArrowheads="1"/>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b="0" dirty="0"/>
              <a:t>7.2.2 </a:t>
            </a:r>
            <a:r>
              <a:rPr lang="zh-CN" altLang="en-US" b="0" dirty="0"/>
              <a:t>运算符 </a:t>
            </a:r>
            <a:r>
              <a:rPr lang="en-US" altLang="zh-CN" b="0" dirty="0"/>
              <a:t>&amp; </a:t>
            </a:r>
            <a:r>
              <a:rPr lang="zh-CN" altLang="en-US" b="0" dirty="0"/>
              <a:t>和 * </a:t>
            </a:r>
          </a:p>
        </p:txBody>
      </p:sp>
    </p:spTree>
    <p:extLst>
      <p:ext uri="{BB962C8B-B14F-4D97-AF65-F5344CB8AC3E}">
        <p14:creationId xmlns:p14="http://schemas.microsoft.com/office/powerpoint/2010/main" val="3313468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77825"/>
          <p:cNvSpPr>
            <a:spLocks noGrp="1" noChangeArrowheads="1"/>
          </p:cNvSpPr>
          <p:nvPr>
            <p:ph type="title"/>
          </p:nvPr>
        </p:nvSpPr>
        <p:spPr/>
        <p:txBody>
          <a:bodyPr/>
          <a:lstStyle/>
          <a:p>
            <a:r>
              <a:rPr lang="en-US" altLang="zh-CN" dirty="0"/>
              <a:t>7.2.2 </a:t>
            </a:r>
            <a:r>
              <a:rPr lang="zh-CN" altLang="en-US" dirty="0"/>
              <a:t>运算符 </a:t>
            </a:r>
            <a:r>
              <a:rPr lang="en-US" altLang="zh-CN" dirty="0"/>
              <a:t>&amp; </a:t>
            </a:r>
            <a:r>
              <a:rPr lang="zh-CN" altLang="en-US" dirty="0"/>
              <a:t>和 * </a:t>
            </a:r>
          </a:p>
        </p:txBody>
      </p:sp>
      <p:sp>
        <p:nvSpPr>
          <p:cNvPr id="12291" name="文本占位符 77826"/>
          <p:cNvSpPr>
            <a:spLocks noGrp="1" noChangeArrowheads="1"/>
          </p:cNvSpPr>
          <p:nvPr>
            <p:ph idx="1"/>
          </p:nvPr>
        </p:nvSpPr>
        <p:spPr>
          <a:xfrm>
            <a:off x="1914810" y="1772816"/>
            <a:ext cx="8362379" cy="4114800"/>
          </a:xfrm>
        </p:spPr>
        <p:txBody>
          <a:bodyPr/>
          <a:lstStyle/>
          <a:p>
            <a:pPr marL="533400" indent="-533400">
              <a:buNone/>
            </a:pPr>
            <a:r>
              <a:rPr lang="zh-CN" altLang="en-US" sz="3000" dirty="0">
                <a:solidFill>
                  <a:srgbClr val="FF0000"/>
                </a:solidFill>
              </a:rPr>
              <a:t>思考</a:t>
            </a:r>
            <a:r>
              <a:rPr lang="en-US" altLang="zh-CN" sz="3000" dirty="0">
                <a:solidFill>
                  <a:srgbClr val="FF0000"/>
                </a:solidFill>
              </a:rPr>
              <a:t>: </a:t>
            </a:r>
            <a:r>
              <a:rPr lang="zh-CN" altLang="en-US" sz="3000" dirty="0"/>
              <a:t>下面代码的含义，尤其是</a:t>
            </a:r>
            <a:r>
              <a:rPr lang="en-US" altLang="zh-CN" dirty="0"/>
              <a:t>'*'</a:t>
            </a:r>
            <a:r>
              <a:rPr lang="zh-CN" altLang="en-US" dirty="0"/>
              <a:t>符号的含义：</a:t>
            </a:r>
          </a:p>
          <a:p>
            <a:pPr marL="533400" indent="-533400">
              <a:buNone/>
            </a:pPr>
            <a:r>
              <a:rPr lang="en-US" altLang="zh-CN" dirty="0"/>
              <a:t> int   num=16</a:t>
            </a:r>
            <a:r>
              <a:rPr lang="zh-CN" altLang="en-US" dirty="0"/>
              <a:t>，*</a:t>
            </a:r>
            <a:r>
              <a:rPr lang="en-US" altLang="zh-CN" dirty="0"/>
              <a:t>pInt=&amp;num; </a:t>
            </a:r>
            <a:endParaRPr lang="zh-CN" altLang="en-US" dirty="0"/>
          </a:p>
          <a:p>
            <a:pPr marL="533400" indent="-533400">
              <a:buNone/>
            </a:pPr>
            <a:endParaRPr lang="en-US" altLang="zh-CN" dirty="0"/>
          </a:p>
          <a:p>
            <a:pPr marL="0" indent="0">
              <a:buNone/>
            </a:pPr>
            <a:r>
              <a:rPr lang="en-US" altLang="zh-CN" dirty="0"/>
              <a:t>*pInt =123; 	</a:t>
            </a:r>
          </a:p>
          <a:p>
            <a:pPr marL="533400" indent="-533400">
              <a:buFontTx/>
              <a:buAutoNum type="arabicPeriod" startAt="2"/>
            </a:pPr>
            <a:endParaRPr lang="en-US" altLang="zh-CN" dirty="0"/>
          </a:p>
          <a:p>
            <a:pPr marL="533400" indent="-533400">
              <a:buNone/>
            </a:pPr>
            <a:r>
              <a:rPr lang="en-US" altLang="zh-CN" dirty="0"/>
              <a:t> num *= 123; </a:t>
            </a:r>
          </a:p>
        </p:txBody>
      </p:sp>
      <p:sp>
        <p:nvSpPr>
          <p:cNvPr id="12289"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D7527970-4AF9-49E6-9908-541B94E99C11}" type="slidenum">
              <a:rPr lang="zh-CN" altLang="en-US" smtClean="0"/>
              <a:t>9</a:t>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29697"/>
          <p:cNvSpPr>
            <a:spLocks noGrp="1" noChangeArrowheads="1"/>
          </p:cNvSpPr>
          <p:nvPr>
            <p:ph type="title"/>
          </p:nvPr>
        </p:nvSpPr>
        <p:spPr/>
        <p:txBody>
          <a:bodyPr/>
          <a:lstStyle/>
          <a:p>
            <a:r>
              <a:rPr lang="en-US" altLang="zh-CN" dirty="0"/>
              <a:t>7.2.3 </a:t>
            </a:r>
            <a:r>
              <a:rPr lang="zh-CN" altLang="en-US" dirty="0"/>
              <a:t>引用指针变量 </a:t>
            </a:r>
          </a:p>
        </p:txBody>
      </p:sp>
      <p:sp>
        <p:nvSpPr>
          <p:cNvPr id="13315" name="文本占位符 29698"/>
          <p:cNvSpPr>
            <a:spLocks noGrp="1" noChangeArrowheads="1"/>
          </p:cNvSpPr>
          <p:nvPr>
            <p:ph idx="1"/>
          </p:nvPr>
        </p:nvSpPr>
        <p:spPr>
          <a:xfrm>
            <a:off x="2063751" y="1700213"/>
            <a:ext cx="8353425" cy="4629150"/>
          </a:xfrm>
        </p:spPr>
        <p:txBody>
          <a:bodyPr/>
          <a:lstStyle/>
          <a:p>
            <a:r>
              <a:rPr lang="zh-CN" altLang="en-US" sz="2600" dirty="0"/>
              <a:t>例如：</a:t>
            </a:r>
          </a:p>
          <a:p>
            <a:pPr>
              <a:buFontTx/>
              <a:buNone/>
            </a:pPr>
            <a:r>
              <a:rPr lang="fr-FR" altLang="zh-CN" sz="2600" dirty="0">
                <a:solidFill>
                  <a:srgbClr val="FF0000"/>
                </a:solidFill>
              </a:rPr>
              <a:t>1   	</a:t>
            </a:r>
            <a:r>
              <a:rPr lang="fr-FR" altLang="zh-CN" sz="2600" dirty="0"/>
              <a:t>int	x = 30 , y = 90; </a:t>
            </a:r>
          </a:p>
          <a:p>
            <a:pPr>
              <a:buFontTx/>
              <a:buNone/>
            </a:pPr>
            <a:r>
              <a:rPr lang="fr-FR" altLang="zh-CN" sz="2600" dirty="0">
                <a:solidFill>
                  <a:srgbClr val="FF0000"/>
                </a:solidFill>
              </a:rPr>
              <a:t>2   	</a:t>
            </a:r>
            <a:r>
              <a:rPr lang="fr-FR" altLang="zh-CN" sz="2600" dirty="0"/>
              <a:t>int	*p1=&amp;x ,  *p2 = &amp;y,  *t ;</a:t>
            </a:r>
          </a:p>
          <a:p>
            <a:pPr>
              <a:buFontTx/>
              <a:buNone/>
            </a:pPr>
            <a:r>
              <a:rPr lang="fr-FR" altLang="zh-CN" sz="2600" dirty="0">
                <a:solidFill>
                  <a:srgbClr val="FF0000"/>
                </a:solidFill>
              </a:rPr>
              <a:t>3   	</a:t>
            </a:r>
            <a:r>
              <a:rPr lang="fr-FR" altLang="zh-CN" sz="2600" dirty="0"/>
              <a:t>t = p1; 	p1 = p2;	p2 = t;</a:t>
            </a:r>
          </a:p>
          <a:p>
            <a:pPr>
              <a:buFontTx/>
              <a:buNone/>
            </a:pPr>
            <a:endParaRPr lang="fr-FR" altLang="zh-CN" sz="2600" dirty="0"/>
          </a:p>
          <a:p>
            <a:pPr>
              <a:buFontTx/>
              <a:buNone/>
            </a:pPr>
            <a:r>
              <a:rPr lang="fr-FR" altLang="zh-CN" sz="2600" dirty="0">
                <a:solidFill>
                  <a:srgbClr val="0000CC"/>
                </a:solidFill>
              </a:rPr>
              <a:t>思考：</a:t>
            </a:r>
            <a:r>
              <a:rPr lang="zh-CN" altLang="fr-FR" sz="2600" dirty="0">
                <a:solidFill>
                  <a:srgbClr val="0000CC"/>
                </a:solidFill>
              </a:rPr>
              <a:t>*</a:t>
            </a:r>
            <a:r>
              <a:rPr lang="fr-FR" altLang="zh-CN" sz="2600" dirty="0">
                <a:solidFill>
                  <a:srgbClr val="0000CC"/>
                </a:solidFill>
              </a:rPr>
              <a:t>p1</a:t>
            </a:r>
            <a:r>
              <a:rPr lang="zh-CN" altLang="fr-FR" sz="2600" dirty="0">
                <a:solidFill>
                  <a:srgbClr val="0000CC"/>
                </a:solidFill>
              </a:rPr>
              <a:t>、 *</a:t>
            </a:r>
            <a:r>
              <a:rPr lang="fr-FR" altLang="zh-CN" sz="2600" dirty="0">
                <a:solidFill>
                  <a:srgbClr val="0000CC"/>
                </a:solidFill>
              </a:rPr>
              <a:t>p2</a:t>
            </a:r>
            <a:r>
              <a:rPr lang="zh-CN" altLang="fr-FR" sz="2600" dirty="0">
                <a:solidFill>
                  <a:srgbClr val="0000CC"/>
                </a:solidFill>
              </a:rPr>
              <a:t>、</a:t>
            </a:r>
            <a:r>
              <a:rPr lang="fr-FR" altLang="zh-CN" sz="2600" dirty="0">
                <a:solidFill>
                  <a:srgbClr val="0000CC"/>
                </a:solidFill>
              </a:rPr>
              <a:t>x </a:t>
            </a:r>
            <a:r>
              <a:rPr lang="zh-CN" altLang="fr-FR" sz="2600" dirty="0">
                <a:solidFill>
                  <a:srgbClr val="0000CC"/>
                </a:solidFill>
              </a:rPr>
              <a:t>和 </a:t>
            </a:r>
            <a:r>
              <a:rPr lang="fr-FR" altLang="zh-CN" sz="2600" dirty="0">
                <a:solidFill>
                  <a:srgbClr val="0000CC"/>
                </a:solidFill>
              </a:rPr>
              <a:t>y</a:t>
            </a:r>
            <a:r>
              <a:rPr lang="zh-CN" altLang="fr-FR" sz="2600" dirty="0">
                <a:solidFill>
                  <a:srgbClr val="0000CC"/>
                </a:solidFill>
              </a:rPr>
              <a:t>的值？如下形式又是多少？</a:t>
            </a:r>
          </a:p>
          <a:p>
            <a:pPr>
              <a:buFontTx/>
              <a:buNone/>
            </a:pPr>
            <a:r>
              <a:rPr lang="fr-FR" altLang="zh-CN" sz="2600" dirty="0">
                <a:solidFill>
                  <a:srgbClr val="FF0000"/>
                </a:solidFill>
              </a:rPr>
              <a:t>1		</a:t>
            </a:r>
            <a:r>
              <a:rPr lang="fr-FR" altLang="zh-CN" sz="2600" dirty="0"/>
              <a:t>int	x = 30 , y = 90; </a:t>
            </a:r>
          </a:p>
          <a:p>
            <a:pPr>
              <a:buFontTx/>
              <a:buNone/>
            </a:pPr>
            <a:r>
              <a:rPr lang="fr-FR" altLang="zh-CN" sz="2600" dirty="0">
                <a:solidFill>
                  <a:srgbClr val="FF0000"/>
                </a:solidFill>
              </a:rPr>
              <a:t>2		</a:t>
            </a:r>
            <a:r>
              <a:rPr lang="fr-FR" altLang="zh-CN" sz="2600" dirty="0"/>
              <a:t>int	*p1 = &amp;x ,   *p2 = &amp;y,   t ;</a:t>
            </a:r>
          </a:p>
          <a:p>
            <a:pPr>
              <a:buFontTx/>
              <a:buNone/>
            </a:pPr>
            <a:r>
              <a:rPr lang="fr-FR" altLang="zh-CN" sz="2600" dirty="0">
                <a:solidFill>
                  <a:srgbClr val="FF0000"/>
                </a:solidFill>
              </a:rPr>
              <a:t>3		</a:t>
            </a:r>
            <a:r>
              <a:rPr lang="fr-FR" altLang="zh-CN" sz="2600" dirty="0"/>
              <a:t>t = *p1; 	*p1 = *p2;		*p2 = t; </a:t>
            </a:r>
            <a:endParaRPr lang="zh-CN" altLang="en-US" sz="2600" dirty="0"/>
          </a:p>
        </p:txBody>
      </p:sp>
      <p:sp>
        <p:nvSpPr>
          <p:cNvPr id="13313"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E96B17B8-8D7B-4E62-8E57-F443B9E9035E}" type="slidenum">
              <a:rPr lang="zh-CN" altLang="en-US" smtClean="0"/>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F1EB1119-B1EA-482F-8756-A2F14CA520E4}" type="slidenum">
              <a:rPr lang="zh-CN" altLang="en-US" smtClean="0"/>
              <a:t>11</a:t>
            </a:fld>
            <a:endParaRPr lang="zh-CN" altLang="en-US"/>
          </a:p>
        </p:txBody>
      </p:sp>
      <p:pic>
        <p:nvPicPr>
          <p:cNvPr id="5" name="图片 4"/>
          <p:cNvPicPr>
            <a:picLocks noChangeAspect="1"/>
          </p:cNvPicPr>
          <p:nvPr/>
        </p:nvPicPr>
        <p:blipFill>
          <a:blip r:embed="rId2"/>
          <a:stretch>
            <a:fillRect/>
          </a:stretch>
        </p:blipFill>
        <p:spPr>
          <a:xfrm>
            <a:off x="1199456" y="5051418"/>
            <a:ext cx="5220280" cy="1276251"/>
          </a:xfrm>
          <a:prstGeom prst="rect">
            <a:avLst/>
          </a:prstGeom>
        </p:spPr>
      </p:pic>
      <p:pic>
        <p:nvPicPr>
          <p:cNvPr id="6" name="图片 5"/>
          <p:cNvPicPr>
            <a:picLocks noChangeAspect="1"/>
          </p:cNvPicPr>
          <p:nvPr/>
        </p:nvPicPr>
        <p:blipFill>
          <a:blip r:embed="rId3"/>
          <a:stretch>
            <a:fillRect/>
          </a:stretch>
        </p:blipFill>
        <p:spPr>
          <a:xfrm>
            <a:off x="47328" y="365125"/>
            <a:ext cx="11843763" cy="4044212"/>
          </a:xfrm>
          <a:prstGeom prst="rect">
            <a:avLst/>
          </a:prstGeom>
        </p:spPr>
      </p:pic>
    </p:spTree>
    <p:extLst>
      <p:ext uri="{BB962C8B-B14F-4D97-AF65-F5344CB8AC3E}">
        <p14:creationId xmlns:p14="http://schemas.microsoft.com/office/powerpoint/2010/main" val="2111256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30721"/>
          <p:cNvSpPr>
            <a:spLocks noGrp="1" noChangeArrowheads="1"/>
          </p:cNvSpPr>
          <p:nvPr>
            <p:ph type="title"/>
          </p:nvPr>
        </p:nvSpPr>
        <p:spPr/>
        <p:txBody>
          <a:bodyPr/>
          <a:lstStyle/>
          <a:p>
            <a:r>
              <a:rPr lang="en-US" altLang="zh-CN" dirty="0"/>
              <a:t>7.3 </a:t>
            </a:r>
            <a:r>
              <a:rPr lang="zh-CN" altLang="en-US" dirty="0"/>
              <a:t>指针与数组 </a:t>
            </a:r>
          </a:p>
        </p:txBody>
      </p:sp>
      <p:sp>
        <p:nvSpPr>
          <p:cNvPr id="14339" name="文本占位符 30722"/>
          <p:cNvSpPr>
            <a:spLocks noGrp="1" noChangeArrowheads="1"/>
          </p:cNvSpPr>
          <p:nvPr>
            <p:ph idx="1"/>
          </p:nvPr>
        </p:nvSpPr>
        <p:spPr>
          <a:xfrm>
            <a:off x="1847850" y="1752600"/>
            <a:ext cx="8686800" cy="4484688"/>
          </a:xfrm>
        </p:spPr>
        <p:txBody>
          <a:bodyPr/>
          <a:lstStyle/>
          <a:p>
            <a:pPr>
              <a:lnSpc>
                <a:spcPct val="120000"/>
              </a:lnSpc>
            </a:pPr>
            <a:r>
              <a:rPr lang="zh-CN" altLang="en-US" sz="2600"/>
              <a:t>访问数组的方式：下标形式、指针形式。</a:t>
            </a:r>
          </a:p>
          <a:p>
            <a:pPr>
              <a:lnSpc>
                <a:spcPct val="120000"/>
              </a:lnSpc>
            </a:pPr>
            <a:r>
              <a:rPr lang="zh-CN" altLang="en-US" sz="2600"/>
              <a:t>数组要么在静态存储区中被创建，如全局数组和静态数组；要么在栈上被创建，如一般的局部数组。</a:t>
            </a:r>
          </a:p>
          <a:p>
            <a:pPr>
              <a:lnSpc>
                <a:spcPct val="120000"/>
              </a:lnSpc>
            </a:pPr>
            <a:r>
              <a:rPr lang="zh-CN" altLang="en-US" sz="2600"/>
              <a:t>数组名对应着一块内存，其地址与容量在其生命期内保持不变，只有数组的内容可以改变。</a:t>
            </a:r>
          </a:p>
          <a:p>
            <a:pPr>
              <a:lnSpc>
                <a:spcPct val="120000"/>
              </a:lnSpc>
            </a:pPr>
            <a:r>
              <a:rPr lang="zh-CN" altLang="en-US" sz="2600"/>
              <a:t>指针可以指向任意类型的内存块，其特征是“可变”。指针比数组灵活，但也更容易出错。 </a:t>
            </a:r>
          </a:p>
        </p:txBody>
      </p:sp>
      <p:sp>
        <p:nvSpPr>
          <p:cNvPr id="14337"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FFBF452E-6A1C-43F7-9693-A31C6E275E6E}" type="slidenum">
              <a:rPr lang="zh-CN" altLang="en-US" smtClean="0"/>
              <a:t>12</a:t>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31745"/>
          <p:cNvSpPr>
            <a:spLocks noGrp="1" noChangeArrowheads="1"/>
          </p:cNvSpPr>
          <p:nvPr>
            <p:ph type="title"/>
          </p:nvPr>
        </p:nvSpPr>
        <p:spPr/>
        <p:txBody>
          <a:bodyPr/>
          <a:lstStyle/>
          <a:p>
            <a:r>
              <a:rPr lang="en-US" altLang="zh-CN" dirty="0"/>
              <a:t>7.3.1 </a:t>
            </a:r>
            <a:r>
              <a:rPr lang="zh-CN" altLang="en-US" dirty="0"/>
              <a:t>指针与一维数组</a:t>
            </a:r>
          </a:p>
        </p:txBody>
      </p:sp>
      <p:sp>
        <p:nvSpPr>
          <p:cNvPr id="15363" name="文本占位符 31746"/>
          <p:cNvSpPr>
            <a:spLocks noGrp="1" noChangeArrowheads="1"/>
          </p:cNvSpPr>
          <p:nvPr>
            <p:ph idx="1"/>
          </p:nvPr>
        </p:nvSpPr>
        <p:spPr>
          <a:xfrm>
            <a:off x="1981200" y="1609726"/>
            <a:ext cx="8153400" cy="4915618"/>
          </a:xfrm>
        </p:spPr>
        <p:txBody>
          <a:bodyPr>
            <a:normAutofit fontScale="92500" lnSpcReduction="20000"/>
          </a:bodyPr>
          <a:lstStyle/>
          <a:p>
            <a:pPr>
              <a:lnSpc>
                <a:spcPct val="140000"/>
              </a:lnSpc>
            </a:pPr>
            <a:r>
              <a:rPr lang="zh-CN" altLang="en-US" sz="2600" dirty="0"/>
              <a:t>数组名代表该数组的开始地址，这意味着数组名是一个指针常量，例如： </a:t>
            </a:r>
            <a:r>
              <a:rPr lang="en-US" altLang="zh-CN" sz="2600" dirty="0"/>
              <a:t>int   a[10]={0,1,2,3,4,5,6,7,8,9};</a:t>
            </a:r>
          </a:p>
          <a:p>
            <a:pPr>
              <a:lnSpc>
                <a:spcPct val="90000"/>
              </a:lnSpc>
              <a:buFontTx/>
              <a:buNone/>
            </a:pPr>
            <a:endParaRPr lang="en-US" altLang="zh-CN" sz="2600" dirty="0"/>
          </a:p>
          <a:p>
            <a:pPr>
              <a:lnSpc>
                <a:spcPct val="90000"/>
              </a:lnSpc>
              <a:buFontTx/>
              <a:buNone/>
            </a:pPr>
            <a:endParaRPr lang="en-US" altLang="zh-CN" sz="2600" dirty="0"/>
          </a:p>
          <a:p>
            <a:pPr>
              <a:lnSpc>
                <a:spcPct val="90000"/>
              </a:lnSpc>
              <a:buFontTx/>
              <a:buNone/>
            </a:pPr>
            <a:endParaRPr lang="en-US" altLang="zh-CN" sz="2600" dirty="0"/>
          </a:p>
          <a:p>
            <a:pPr>
              <a:lnSpc>
                <a:spcPct val="90000"/>
              </a:lnSpc>
              <a:buFontTx/>
              <a:buNone/>
            </a:pPr>
            <a:endParaRPr lang="en-US" altLang="zh-CN" sz="2600" dirty="0"/>
          </a:p>
          <a:p>
            <a:pPr>
              <a:lnSpc>
                <a:spcPct val="130000"/>
              </a:lnSpc>
              <a:buFontTx/>
              <a:buNone/>
            </a:pPr>
            <a:r>
              <a:rPr lang="pt-BR" altLang="zh-CN" sz="2600" dirty="0"/>
              <a:t>		int    a[10],   *p;</a:t>
            </a:r>
          </a:p>
          <a:p>
            <a:pPr>
              <a:lnSpc>
                <a:spcPct val="130000"/>
              </a:lnSpc>
              <a:buFontTx/>
              <a:buNone/>
            </a:pPr>
            <a:r>
              <a:rPr lang="fr-FR" altLang="zh-CN" sz="2600" dirty="0"/>
              <a:t>		p = &amp;a[0];  </a:t>
            </a:r>
            <a:r>
              <a:rPr lang="en-US" altLang="zh-CN" sz="2600" dirty="0"/>
              <a:t>//</a:t>
            </a:r>
            <a:r>
              <a:rPr lang="zh-CN" altLang="en-US" sz="2600" dirty="0"/>
              <a:t>或</a:t>
            </a:r>
            <a:r>
              <a:rPr lang="en-US" altLang="zh-CN" sz="2600" dirty="0"/>
              <a:t>p=a;</a:t>
            </a:r>
            <a:r>
              <a:rPr lang="fr-FR" altLang="zh-CN" sz="2600" dirty="0"/>
              <a:t> </a:t>
            </a:r>
          </a:p>
          <a:p>
            <a:pPr>
              <a:lnSpc>
                <a:spcPct val="130000"/>
              </a:lnSpc>
              <a:buFontTx/>
              <a:buNone/>
            </a:pPr>
            <a:r>
              <a:rPr lang="fr-FR" altLang="zh-CN" sz="2600" dirty="0"/>
              <a:t>		</a:t>
            </a:r>
            <a:r>
              <a:rPr lang="zh-CN" altLang="fr-FR" sz="2600" dirty="0"/>
              <a:t>则 </a:t>
            </a:r>
            <a:r>
              <a:rPr lang="fr-FR" altLang="zh-CN" sz="2600" dirty="0"/>
              <a:t>p</a:t>
            </a:r>
            <a:r>
              <a:rPr lang="zh-CN" altLang="fr-FR" sz="2600" dirty="0"/>
              <a:t>、 </a:t>
            </a:r>
            <a:r>
              <a:rPr lang="fr-FR" altLang="zh-CN" sz="2600" dirty="0"/>
              <a:t>a </a:t>
            </a:r>
            <a:r>
              <a:rPr lang="zh-CN" altLang="fr-FR" sz="2600" dirty="0"/>
              <a:t>、 </a:t>
            </a:r>
            <a:r>
              <a:rPr lang="fr-FR" altLang="zh-CN" sz="2600" dirty="0"/>
              <a:t>&amp;a[0]</a:t>
            </a:r>
            <a:r>
              <a:rPr lang="zh-CN" altLang="fr-FR" sz="2600" dirty="0"/>
              <a:t>是</a:t>
            </a:r>
            <a:r>
              <a:rPr lang="zh-CN" altLang="en-US" sz="2600" dirty="0"/>
              <a:t>同</a:t>
            </a:r>
            <a:r>
              <a:rPr lang="zh-CN" altLang="fr-FR" sz="2600" dirty="0"/>
              <a:t>一个</a:t>
            </a:r>
            <a:r>
              <a:rPr lang="zh-CN" altLang="en-US" sz="2600" dirty="0"/>
              <a:t>地址</a:t>
            </a:r>
            <a:r>
              <a:rPr lang="zh-CN" altLang="fr-FR" sz="2600" dirty="0"/>
              <a:t>值。</a:t>
            </a:r>
            <a:endParaRPr lang="en-US" altLang="zh-CN" sz="2600" dirty="0"/>
          </a:p>
          <a:p>
            <a:pPr>
              <a:lnSpc>
                <a:spcPct val="130000"/>
              </a:lnSpc>
              <a:buFontTx/>
              <a:buNone/>
            </a:pPr>
            <a:r>
              <a:rPr lang="en-US" altLang="zh-CN" sz="2600" dirty="0"/>
              <a:t>            *(a+1),*(p+1),a[1]</a:t>
            </a:r>
            <a:r>
              <a:rPr lang="zh-CN" altLang="en-US" sz="2600" dirty="0"/>
              <a:t>是相同的值</a:t>
            </a:r>
            <a:endParaRPr lang="en-US" altLang="zh-CN" sz="2600" dirty="0"/>
          </a:p>
          <a:p>
            <a:pPr>
              <a:lnSpc>
                <a:spcPct val="130000"/>
              </a:lnSpc>
              <a:buFontTx/>
              <a:buNone/>
            </a:pPr>
            <a:endParaRPr lang="zh-CN" altLang="en-US" sz="2600" dirty="0"/>
          </a:p>
        </p:txBody>
      </p:sp>
      <p:sp>
        <p:nvSpPr>
          <p:cNvPr id="15361"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7643DD9B-9E7E-48E0-B96F-96B7F6482D1F}" type="slidenum">
              <a:rPr lang="zh-CN" altLang="en-US" smtClean="0"/>
              <a:t>13</a:t>
            </a:fld>
            <a:endParaRPr lang="zh-CN" altLang="en-US"/>
          </a:p>
        </p:txBody>
      </p:sp>
      <p:pic>
        <p:nvPicPr>
          <p:cNvPr id="15364" name="图片 317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576" y="2608622"/>
            <a:ext cx="8054975" cy="145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32769"/>
          <p:cNvSpPr>
            <a:spLocks noGrp="1" noChangeArrowheads="1"/>
          </p:cNvSpPr>
          <p:nvPr>
            <p:ph type="title"/>
          </p:nvPr>
        </p:nvSpPr>
        <p:spPr/>
        <p:txBody>
          <a:bodyPr/>
          <a:lstStyle/>
          <a:p>
            <a:r>
              <a:rPr lang="en-US" altLang="zh-CN" dirty="0"/>
              <a:t>7.3.1</a:t>
            </a:r>
            <a:r>
              <a:rPr lang="zh-CN" altLang="en-US" dirty="0"/>
              <a:t>指针与一维数组</a:t>
            </a:r>
          </a:p>
        </p:txBody>
      </p:sp>
      <p:sp>
        <p:nvSpPr>
          <p:cNvPr id="16387" name="文本占位符 32770"/>
          <p:cNvSpPr>
            <a:spLocks noGrp="1" noChangeArrowheads="1"/>
          </p:cNvSpPr>
          <p:nvPr>
            <p:ph idx="1"/>
          </p:nvPr>
        </p:nvSpPr>
        <p:spPr>
          <a:xfrm>
            <a:off x="1981200" y="1752601"/>
            <a:ext cx="8153400" cy="4556125"/>
          </a:xfrm>
        </p:spPr>
        <p:txBody>
          <a:bodyPr/>
          <a:lstStyle/>
          <a:p>
            <a:pPr>
              <a:lnSpc>
                <a:spcPct val="90000"/>
              </a:lnSpc>
            </a:pPr>
            <a:r>
              <a:rPr lang="zh-CN" altLang="en-US" sz="2600" dirty="0">
                <a:solidFill>
                  <a:srgbClr val="FF0000"/>
                </a:solidFill>
              </a:rPr>
              <a:t>思考：</a:t>
            </a:r>
            <a:r>
              <a:rPr lang="zh-CN" altLang="en-US" sz="2600" dirty="0"/>
              <a:t>下面的程序涉及指针与数组，有什么错？</a:t>
            </a:r>
          </a:p>
          <a:p>
            <a:pPr>
              <a:lnSpc>
                <a:spcPct val="90000"/>
              </a:lnSpc>
              <a:buFontTx/>
              <a:buNone/>
            </a:pPr>
            <a:endParaRPr lang="zh-CN" altLang="en-US" sz="2600" dirty="0"/>
          </a:p>
          <a:p>
            <a:pPr>
              <a:lnSpc>
                <a:spcPct val="90000"/>
              </a:lnSpc>
              <a:buFontTx/>
              <a:buNone/>
            </a:pPr>
            <a:r>
              <a:rPr lang="zh-CN" altLang="en-US" sz="2600" dirty="0"/>
              <a:t>        </a:t>
            </a:r>
            <a:r>
              <a:rPr lang="en-US" altLang="zh-CN" sz="2600" dirty="0"/>
              <a:t>char    str[ ] = "hello";</a:t>
            </a:r>
          </a:p>
          <a:p>
            <a:pPr>
              <a:lnSpc>
                <a:spcPct val="90000"/>
              </a:lnSpc>
              <a:buFontTx/>
              <a:buNone/>
            </a:pPr>
            <a:r>
              <a:rPr lang="en-US" altLang="zh-CN" sz="2600" dirty="0"/>
              <a:t>        str[0] = 'X';	</a:t>
            </a:r>
            <a:endParaRPr lang="zh-CN" altLang="en-US" sz="2600" dirty="0"/>
          </a:p>
          <a:p>
            <a:pPr>
              <a:lnSpc>
                <a:spcPct val="90000"/>
              </a:lnSpc>
              <a:buFontTx/>
              <a:buNone/>
            </a:pPr>
            <a:r>
              <a:rPr lang="zh-CN" altLang="en-US" sz="2600" dirty="0"/>
              <a:t>        </a:t>
            </a:r>
            <a:r>
              <a:rPr lang="en-US" altLang="zh-CN" sz="2600" dirty="0"/>
              <a:t>cout &lt;&lt; str &lt;&lt; endl;</a:t>
            </a:r>
          </a:p>
          <a:p>
            <a:pPr>
              <a:lnSpc>
                <a:spcPct val="90000"/>
              </a:lnSpc>
              <a:buFontTx/>
              <a:buNone/>
            </a:pPr>
            <a:endParaRPr lang="en-US" altLang="zh-CN" sz="2600" dirty="0"/>
          </a:p>
          <a:p>
            <a:pPr>
              <a:buNone/>
            </a:pPr>
            <a:r>
              <a:rPr lang="en-US" altLang="zh-CN" sz="2600" dirty="0"/>
              <a:t>        char    *p = "world"; </a:t>
            </a:r>
            <a:r>
              <a:rPr lang="en-US" altLang="zh-CN" sz="2600" dirty="0">
                <a:solidFill>
                  <a:srgbClr val="FF0000"/>
                </a:solidFill>
              </a:rPr>
              <a:t>// </a:t>
            </a:r>
            <a:r>
              <a:rPr lang="zh-CN" altLang="en-US" sz="2600" dirty="0">
                <a:solidFill>
                  <a:srgbClr val="FF0000"/>
                </a:solidFill>
              </a:rPr>
              <a:t>编译器查不出该错误</a:t>
            </a:r>
            <a:endParaRPr lang="zh-CN" altLang="en-US" sz="2600" dirty="0"/>
          </a:p>
          <a:p>
            <a:pPr>
              <a:lnSpc>
                <a:spcPct val="90000"/>
              </a:lnSpc>
              <a:buFontTx/>
              <a:buNone/>
            </a:pPr>
            <a:r>
              <a:rPr lang="zh-CN" altLang="en-US" sz="2600" dirty="0"/>
              <a:t>        </a:t>
            </a:r>
            <a:r>
              <a:rPr lang="en-US" altLang="zh-CN" sz="2600" dirty="0"/>
              <a:t>p[0] =  'X';	</a:t>
            </a:r>
            <a:r>
              <a:rPr lang="en-US" altLang="zh-CN" sz="2600" dirty="0">
                <a:solidFill>
                  <a:srgbClr val="FF0000"/>
                </a:solidFill>
              </a:rPr>
              <a:t>           	</a:t>
            </a:r>
            <a:endParaRPr lang="zh-CN" altLang="en-US" sz="2600" dirty="0">
              <a:solidFill>
                <a:srgbClr val="FF0000"/>
              </a:solidFill>
            </a:endParaRPr>
          </a:p>
          <a:p>
            <a:pPr>
              <a:lnSpc>
                <a:spcPct val="90000"/>
              </a:lnSpc>
              <a:buFontTx/>
              <a:buNone/>
            </a:pPr>
            <a:r>
              <a:rPr lang="zh-CN" altLang="en-US" sz="2600" dirty="0"/>
              <a:t>        </a:t>
            </a:r>
            <a:r>
              <a:rPr lang="en-US" altLang="zh-CN" sz="2600" dirty="0"/>
              <a:t>cout &lt;&lt; p &lt;&lt; endl; </a:t>
            </a:r>
            <a:endParaRPr lang="zh-CN" altLang="en-US" sz="2600" dirty="0"/>
          </a:p>
        </p:txBody>
      </p:sp>
      <p:sp>
        <p:nvSpPr>
          <p:cNvPr id="16385"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CD5C786-5D02-4C27-AB90-AB68B6CF7F8D}" type="slidenum">
              <a:rPr lang="zh-CN" altLang="en-US" smtClean="0"/>
              <a:t>14</a:t>
            </a:fld>
            <a:endParaRPr lang="zh-CN" altLang="en-US"/>
          </a:p>
        </p:txBody>
      </p:sp>
      <p:sp>
        <p:nvSpPr>
          <p:cNvPr id="16388" name="流程图: 过程 32772"/>
          <p:cNvSpPr>
            <a:spLocks noChangeArrowheads="1"/>
          </p:cNvSpPr>
          <p:nvPr/>
        </p:nvSpPr>
        <p:spPr bwMode="auto">
          <a:xfrm>
            <a:off x="8688389" y="5373688"/>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t>Ex5-b.cpp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33793"/>
          <p:cNvSpPr>
            <a:spLocks noGrp="1" noChangeArrowheads="1"/>
          </p:cNvSpPr>
          <p:nvPr>
            <p:ph type="title"/>
          </p:nvPr>
        </p:nvSpPr>
        <p:spPr/>
        <p:txBody>
          <a:bodyPr/>
          <a:lstStyle/>
          <a:p>
            <a:r>
              <a:rPr lang="en-US" altLang="zh-CN" dirty="0"/>
              <a:t>7.3.2 </a:t>
            </a:r>
            <a:r>
              <a:rPr lang="zh-CN" altLang="en-US" dirty="0"/>
              <a:t>指针的运算 </a:t>
            </a:r>
          </a:p>
        </p:txBody>
      </p:sp>
      <p:sp>
        <p:nvSpPr>
          <p:cNvPr id="17411" name="文本占位符 33794"/>
          <p:cNvSpPr>
            <a:spLocks noGrp="1" noChangeArrowheads="1"/>
          </p:cNvSpPr>
          <p:nvPr>
            <p:ph idx="1"/>
          </p:nvPr>
        </p:nvSpPr>
        <p:spPr>
          <a:xfrm>
            <a:off x="1774825" y="1752601"/>
            <a:ext cx="8153400" cy="4556125"/>
          </a:xfrm>
        </p:spPr>
        <p:txBody>
          <a:bodyPr/>
          <a:lstStyle/>
          <a:p>
            <a:pPr>
              <a:buFontTx/>
              <a:buNone/>
            </a:pPr>
            <a:r>
              <a:rPr lang="en-US" altLang="zh-CN" dirty="0">
                <a:solidFill>
                  <a:srgbClr val="FF0000"/>
                </a:solidFill>
              </a:rPr>
              <a:t>1</a:t>
            </a:r>
            <a:r>
              <a:rPr lang="zh-CN" altLang="en-US" dirty="0">
                <a:solidFill>
                  <a:srgbClr val="FF0000"/>
                </a:solidFill>
              </a:rPr>
              <a:t>．指针 </a:t>
            </a:r>
            <a:r>
              <a:rPr lang="en-US" altLang="zh-CN" dirty="0">
                <a:solidFill>
                  <a:srgbClr val="FF0000"/>
                </a:solidFill>
              </a:rPr>
              <a:t>± </a:t>
            </a:r>
            <a:r>
              <a:rPr lang="zh-CN" altLang="en-US" dirty="0">
                <a:solidFill>
                  <a:srgbClr val="FF0000"/>
                </a:solidFill>
              </a:rPr>
              <a:t>整数值 </a:t>
            </a:r>
          </a:p>
          <a:p>
            <a:pPr>
              <a:buFontTx/>
              <a:buNone/>
            </a:pPr>
            <a:r>
              <a:rPr lang="zh-CN" altLang="en-US" dirty="0"/>
              <a:t>		例：</a:t>
            </a:r>
            <a:r>
              <a:rPr lang="en-US" altLang="zh-CN" dirty="0"/>
              <a:t>int  a[10], *p1, *p2;</a:t>
            </a:r>
          </a:p>
          <a:p>
            <a:pPr>
              <a:buFontTx/>
              <a:buNone/>
            </a:pPr>
            <a:r>
              <a:rPr lang="en-US" altLang="zh-CN" dirty="0"/>
              <a:t>		p1 = &amp;a[2]; </a:t>
            </a:r>
            <a:endParaRPr lang="pt-BR" altLang="zh-CN" dirty="0"/>
          </a:p>
          <a:p>
            <a:pPr>
              <a:buFontTx/>
              <a:buNone/>
            </a:pPr>
            <a:r>
              <a:rPr lang="pt-BR" altLang="zh-CN" dirty="0"/>
              <a:t>		p2 = p1 + 3; </a:t>
            </a:r>
          </a:p>
          <a:p>
            <a:pPr>
              <a:buFontTx/>
              <a:buNone/>
            </a:pPr>
            <a:endParaRPr lang="zh-CN" altLang="pt-BR" dirty="0"/>
          </a:p>
          <a:p>
            <a:pPr>
              <a:spcBef>
                <a:spcPct val="50000"/>
              </a:spcBef>
              <a:buFontTx/>
              <a:buNone/>
            </a:pPr>
            <a:r>
              <a:rPr lang="zh-CN" altLang="pt-BR" dirty="0"/>
              <a:t>注意如下形式，</a:t>
            </a:r>
            <a:r>
              <a:rPr lang="zh-CN" altLang="en-US" dirty="0"/>
              <a:t>有什么不同？</a:t>
            </a:r>
            <a:endParaRPr lang="zh-CN" altLang="pt-BR" dirty="0"/>
          </a:p>
          <a:p>
            <a:pPr>
              <a:buFontTx/>
              <a:buNone/>
            </a:pPr>
            <a:r>
              <a:rPr lang="pt-BR" altLang="zh-CN" dirty="0"/>
              <a:t>		</a:t>
            </a:r>
            <a:r>
              <a:rPr lang="en-US" altLang="zh-CN" dirty="0"/>
              <a:t>int  m = *p1++ ,   n = *++p2; </a:t>
            </a:r>
          </a:p>
        </p:txBody>
      </p:sp>
      <p:sp>
        <p:nvSpPr>
          <p:cNvPr id="17409"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82E2DE40-1E42-435C-BFAC-8BB88AB71235}" type="slidenum">
              <a:rPr lang="zh-CN" altLang="en-US" smtClean="0"/>
              <a:t>15</a:t>
            </a:fld>
            <a:endParaRPr lang="zh-CN" altLang="en-US"/>
          </a:p>
        </p:txBody>
      </p:sp>
      <p:pic>
        <p:nvPicPr>
          <p:cNvPr id="17412" name="图片 3379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8337" y="2901155"/>
            <a:ext cx="5724525" cy="112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流程图: 过程 32772"/>
          <p:cNvSpPr>
            <a:spLocks noChangeArrowheads="1"/>
          </p:cNvSpPr>
          <p:nvPr/>
        </p:nvSpPr>
        <p:spPr bwMode="auto">
          <a:xfrm>
            <a:off x="8688389" y="5373688"/>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t>Ex5-0.cpp</a:t>
            </a:r>
          </a:p>
        </p:txBody>
      </p:sp>
      <p:sp>
        <p:nvSpPr>
          <p:cNvPr id="2" name="文本框 1"/>
          <p:cNvSpPr txBox="1"/>
          <p:nvPr/>
        </p:nvSpPr>
        <p:spPr>
          <a:xfrm>
            <a:off x="3500043" y="5805488"/>
            <a:ext cx="1731564" cy="461665"/>
          </a:xfrm>
          <a:prstGeom prst="rect">
            <a:avLst/>
          </a:prstGeom>
          <a:noFill/>
        </p:spPr>
        <p:txBody>
          <a:bodyPr wrap="none" rtlCol="0">
            <a:spAutoFit/>
          </a:bodyPr>
          <a:lstStyle/>
          <a:p>
            <a:r>
              <a:rPr lang="zh-CN" altLang="en-US" dirty="0">
                <a:solidFill>
                  <a:srgbClr val="7030A0"/>
                </a:solidFill>
              </a:rPr>
              <a:t>建议加括号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3" name="文本框 34819"/>
          <p:cNvSpPr txBox="1">
            <a:spLocks noChangeArrowheads="1"/>
          </p:cNvSpPr>
          <p:nvPr/>
        </p:nvSpPr>
        <p:spPr bwMode="auto">
          <a:xfrm>
            <a:off x="1847851" y="476672"/>
            <a:ext cx="7632700" cy="576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lnSpc>
                <a:spcPct val="130000"/>
              </a:lnSpc>
            </a:pPr>
            <a:r>
              <a:rPr lang="en-US" altLang="zh-CN" sz="2600" dirty="0">
                <a:solidFill>
                  <a:schemeClr val="tx1"/>
                </a:solidFill>
              </a:rPr>
              <a:t>【</a:t>
            </a:r>
            <a:r>
              <a:rPr lang="zh-CN" altLang="en-US" sz="2600" dirty="0">
                <a:solidFill>
                  <a:schemeClr val="tx1"/>
                </a:solidFill>
              </a:rPr>
              <a:t>例</a:t>
            </a:r>
            <a:r>
              <a:rPr lang="en-US" altLang="zh-CN" sz="2600" dirty="0">
                <a:solidFill>
                  <a:schemeClr val="tx1"/>
                </a:solidFill>
              </a:rPr>
              <a:t>7.1】</a:t>
            </a:r>
            <a:r>
              <a:rPr lang="zh-CN" altLang="en-US" sz="2600" dirty="0">
                <a:solidFill>
                  <a:schemeClr val="tx1"/>
                </a:solidFill>
              </a:rPr>
              <a:t>通过指针使一个数组逆序存放。 </a:t>
            </a:r>
            <a:endParaRPr lang="en-US" altLang="zh-CN" sz="2600" dirty="0">
              <a:solidFill>
                <a:schemeClr val="tx1"/>
              </a:solidFill>
            </a:endParaRPr>
          </a:p>
          <a:p>
            <a:r>
              <a:rPr lang="en-US" altLang="zh-CN" sz="2600" noProof="1">
                <a:solidFill>
                  <a:schemeClr val="tx1"/>
                </a:solidFill>
              </a:rPr>
              <a:t>	int   set[ ] = {10, 20, 30, 40, 50, 60, 70, 80};</a:t>
            </a:r>
          </a:p>
          <a:p>
            <a:r>
              <a:rPr lang="en-US" altLang="zh-CN" sz="2600" noProof="1">
                <a:solidFill>
                  <a:schemeClr val="tx1"/>
                </a:solidFill>
              </a:rPr>
              <a:t>	int   *p1,*p2, t, i, length ;</a:t>
            </a:r>
          </a:p>
          <a:p>
            <a:endParaRPr lang="en-US" altLang="zh-CN" sz="2600" noProof="1">
              <a:solidFill>
                <a:schemeClr val="tx1"/>
              </a:solidFill>
            </a:endParaRPr>
          </a:p>
          <a:p>
            <a:r>
              <a:rPr lang="en-US" altLang="zh-CN" sz="2600" noProof="1">
                <a:solidFill>
                  <a:schemeClr val="tx1"/>
                </a:solidFill>
              </a:rPr>
              <a:t>	length = sizeof(set) / sizeof(set[0]);</a:t>
            </a:r>
            <a:endParaRPr lang="en-US" altLang="en-US" sz="2600" noProof="1">
              <a:solidFill>
                <a:schemeClr val="tx1"/>
              </a:solidFill>
            </a:endParaRPr>
          </a:p>
          <a:p>
            <a:r>
              <a:rPr lang="en-US" altLang="en-US" sz="2600" noProof="1">
                <a:solidFill>
                  <a:schemeClr val="tx1"/>
                </a:solidFill>
              </a:rPr>
              <a:t>	</a:t>
            </a:r>
            <a:r>
              <a:rPr lang="en-US" altLang="zh-CN" sz="2600" noProof="1">
                <a:solidFill>
                  <a:schemeClr val="tx1"/>
                </a:solidFill>
              </a:rPr>
              <a:t>p1 = set;</a:t>
            </a:r>
            <a:r>
              <a:rPr lang="en-US" altLang="zh-CN" sz="2600" dirty="0">
                <a:solidFill>
                  <a:schemeClr val="tx1"/>
                </a:solidFill>
              </a:rPr>
              <a:t>	</a:t>
            </a:r>
            <a:r>
              <a:rPr lang="en-US" altLang="zh-CN" sz="2600" noProof="1">
                <a:solidFill>
                  <a:schemeClr val="tx1"/>
                </a:solidFill>
              </a:rPr>
              <a:t>p2= set + length -1;</a:t>
            </a:r>
            <a:endParaRPr lang="en-US" altLang="en-US" sz="2600" noProof="1">
              <a:solidFill>
                <a:schemeClr val="tx1"/>
              </a:solidFill>
            </a:endParaRPr>
          </a:p>
          <a:p>
            <a:r>
              <a:rPr lang="en-US" altLang="en-US" sz="2600" noProof="1">
                <a:solidFill>
                  <a:schemeClr val="tx1"/>
                </a:solidFill>
              </a:rPr>
              <a:t>	</a:t>
            </a:r>
            <a:r>
              <a:rPr lang="en-US" altLang="zh-CN" sz="2600" noProof="1">
                <a:solidFill>
                  <a:schemeClr val="tx1"/>
                </a:solidFill>
              </a:rPr>
              <a:t>for(  i</a:t>
            </a:r>
            <a:r>
              <a:rPr lang="en-US" altLang="zh-CN" sz="2600" dirty="0">
                <a:solidFill>
                  <a:schemeClr val="tx1"/>
                </a:solidFill>
              </a:rPr>
              <a:t> </a:t>
            </a:r>
            <a:r>
              <a:rPr lang="en-US" altLang="zh-CN" sz="2600" noProof="1">
                <a:solidFill>
                  <a:schemeClr val="tx1"/>
                </a:solidFill>
              </a:rPr>
              <a:t>=</a:t>
            </a:r>
            <a:r>
              <a:rPr lang="en-US" altLang="zh-CN" sz="2600" dirty="0">
                <a:solidFill>
                  <a:schemeClr val="tx1"/>
                </a:solidFill>
              </a:rPr>
              <a:t> </a:t>
            </a:r>
            <a:r>
              <a:rPr lang="en-US" altLang="zh-CN" sz="2600" noProof="1">
                <a:solidFill>
                  <a:schemeClr val="tx1"/>
                </a:solidFill>
              </a:rPr>
              <a:t>0; i</a:t>
            </a:r>
            <a:r>
              <a:rPr lang="en-US" altLang="zh-CN" sz="2600" dirty="0">
                <a:solidFill>
                  <a:schemeClr val="tx1"/>
                </a:solidFill>
              </a:rPr>
              <a:t> </a:t>
            </a:r>
            <a:r>
              <a:rPr lang="en-US" altLang="zh-CN" sz="2600" noProof="1">
                <a:solidFill>
                  <a:schemeClr val="tx1"/>
                </a:solidFill>
              </a:rPr>
              <a:t>&lt;  length / 2; i++)</a:t>
            </a:r>
          </a:p>
          <a:p>
            <a:r>
              <a:rPr lang="en-US" altLang="zh-CN" sz="2600" noProof="1">
                <a:solidFill>
                  <a:schemeClr val="tx1"/>
                </a:solidFill>
              </a:rPr>
              <a:t>	{</a:t>
            </a:r>
          </a:p>
          <a:p>
            <a:r>
              <a:rPr lang="en-US" altLang="zh-CN" sz="2600" noProof="1">
                <a:solidFill>
                  <a:schemeClr val="tx1"/>
                </a:solidFill>
              </a:rPr>
              <a:t>		t=*p1;	*p1=*p2;	*p2=t;	</a:t>
            </a:r>
            <a:endParaRPr lang="en-US" altLang="en-US" sz="2600" noProof="1">
              <a:solidFill>
                <a:schemeClr val="tx1"/>
              </a:solidFill>
            </a:endParaRPr>
          </a:p>
          <a:p>
            <a:r>
              <a:rPr lang="en-US" altLang="en-US" sz="2600" noProof="1">
                <a:solidFill>
                  <a:schemeClr val="tx1"/>
                </a:solidFill>
              </a:rPr>
              <a:t>		</a:t>
            </a:r>
            <a:r>
              <a:rPr lang="en-US" altLang="zh-CN" sz="2600" noProof="1">
                <a:solidFill>
                  <a:schemeClr val="tx1"/>
                </a:solidFill>
              </a:rPr>
              <a:t>p1++;	</a:t>
            </a:r>
            <a:endParaRPr lang="en-US" altLang="en-US" sz="2600" noProof="1">
              <a:solidFill>
                <a:schemeClr val="tx1"/>
              </a:solidFill>
            </a:endParaRPr>
          </a:p>
          <a:p>
            <a:r>
              <a:rPr lang="en-US" altLang="en-US" sz="2600" noProof="1">
                <a:solidFill>
                  <a:schemeClr val="tx1"/>
                </a:solidFill>
              </a:rPr>
              <a:t>		</a:t>
            </a:r>
            <a:r>
              <a:rPr lang="en-US" altLang="zh-CN" sz="2600" noProof="1">
                <a:solidFill>
                  <a:schemeClr val="tx1"/>
                </a:solidFill>
              </a:rPr>
              <a:t>--p2;	</a:t>
            </a:r>
            <a:endParaRPr lang="en-US" altLang="en-US" sz="2600" noProof="1">
              <a:solidFill>
                <a:schemeClr val="tx1"/>
              </a:solidFill>
            </a:endParaRPr>
          </a:p>
          <a:p>
            <a:r>
              <a:rPr lang="en-US" altLang="en-US" sz="2600" noProof="1">
                <a:solidFill>
                  <a:schemeClr val="tx1"/>
                </a:solidFill>
              </a:rPr>
              <a:t>	</a:t>
            </a:r>
            <a:r>
              <a:rPr lang="en-US" altLang="zh-CN" sz="2600" noProof="1">
                <a:solidFill>
                  <a:schemeClr val="tx1"/>
                </a:solidFill>
              </a:rPr>
              <a:t>}</a:t>
            </a:r>
          </a:p>
          <a:p>
            <a:r>
              <a:rPr lang="en-US" altLang="zh-CN" sz="2600" noProof="1">
                <a:solidFill>
                  <a:schemeClr val="tx1"/>
                </a:solidFill>
              </a:rPr>
              <a:t>	for( i = 0; i &lt; length; i++)</a:t>
            </a:r>
          </a:p>
          <a:p>
            <a:r>
              <a:rPr lang="en-US" altLang="zh-CN" sz="2600" noProof="1">
                <a:solidFill>
                  <a:schemeClr val="tx1"/>
                </a:solidFill>
              </a:rPr>
              <a:t>		cout &lt;&lt; set[i] &lt;&lt; "\t";</a:t>
            </a:r>
          </a:p>
        </p:txBody>
      </p:sp>
      <p:sp>
        <p:nvSpPr>
          <p:cNvPr id="18434" name="流程图: 过程 34821"/>
          <p:cNvSpPr>
            <a:spLocks noChangeArrowheads="1"/>
          </p:cNvSpPr>
          <p:nvPr/>
        </p:nvSpPr>
        <p:spPr bwMode="auto">
          <a:xfrm>
            <a:off x="8688389" y="5373688"/>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t>5-1.cpp</a:t>
            </a:r>
          </a:p>
        </p:txBody>
      </p:sp>
      <p:sp>
        <p:nvSpPr>
          <p:cNvPr id="2" name="文本框 1"/>
          <p:cNvSpPr txBox="1"/>
          <p:nvPr/>
        </p:nvSpPr>
        <p:spPr>
          <a:xfrm>
            <a:off x="8150700" y="548680"/>
            <a:ext cx="2659702" cy="461665"/>
          </a:xfrm>
          <a:prstGeom prst="rect">
            <a:avLst/>
          </a:prstGeom>
          <a:noFill/>
        </p:spPr>
        <p:txBody>
          <a:bodyPr wrap="none" rtlCol="0">
            <a:spAutoFit/>
          </a:bodyPr>
          <a:lstStyle/>
          <a:p>
            <a:r>
              <a:rPr lang="zh-CN" altLang="en-US" dirty="0">
                <a:solidFill>
                  <a:srgbClr val="7030A0"/>
                </a:solidFill>
              </a:rPr>
              <a:t>首尾数据进行交换</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7" name="文本框 78850"/>
          <p:cNvSpPr txBox="1">
            <a:spLocks noChangeArrowheads="1"/>
          </p:cNvSpPr>
          <p:nvPr/>
        </p:nvSpPr>
        <p:spPr bwMode="auto">
          <a:xfrm>
            <a:off x="1343472" y="981075"/>
            <a:ext cx="9865096" cy="2539157"/>
          </a:xfrm>
          <a:prstGeom prst="rect">
            <a:avLst/>
          </a:prstGeom>
          <a:noFill/>
          <a:ln w="9525">
            <a:solidFill>
              <a:srgbClr val="C0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p>
            <a:pPr>
              <a:lnSpc>
                <a:spcPct val="150000"/>
              </a:lnSpc>
            </a:pPr>
            <a:r>
              <a:rPr lang="fr-FR" altLang="zh-CN" sz="2800" dirty="0">
                <a:solidFill>
                  <a:srgbClr val="FF0000"/>
                </a:solidFill>
                <a:latin typeface="+mn-lt"/>
                <a:ea typeface="+mn-ea"/>
              </a:rPr>
              <a:t>思考：如下程序段的输出结果</a:t>
            </a:r>
            <a:endParaRPr lang="zh-CN" altLang="en-US" sz="2600" dirty="0">
              <a:solidFill>
                <a:schemeClr val="tx1"/>
              </a:solidFill>
            </a:endParaRPr>
          </a:p>
          <a:p>
            <a:pPr>
              <a:lnSpc>
                <a:spcPct val="150000"/>
              </a:lnSpc>
            </a:pPr>
            <a:r>
              <a:rPr lang="en-US" altLang="zh-CN" sz="2600" dirty="0">
                <a:solidFill>
                  <a:schemeClr val="tx1"/>
                </a:solidFill>
              </a:rPr>
              <a:t>int   set[ ] = {10, 20, 30, 40, 50, 60, 70, 80, 90, 100}</a:t>
            </a:r>
            <a:r>
              <a:rPr lang="zh-CN" altLang="en-US" sz="2600" dirty="0">
                <a:solidFill>
                  <a:schemeClr val="tx1"/>
                </a:solidFill>
              </a:rPr>
              <a:t>，*</a:t>
            </a:r>
            <a:r>
              <a:rPr lang="en-US" altLang="zh-CN" sz="2600" dirty="0">
                <a:solidFill>
                  <a:schemeClr val="tx1"/>
                </a:solidFill>
              </a:rPr>
              <a:t>p = &amp;set[3]</a:t>
            </a:r>
            <a:r>
              <a:rPr lang="zh-CN" altLang="en-US" sz="2600" dirty="0">
                <a:solidFill>
                  <a:schemeClr val="tx1"/>
                </a:solidFill>
              </a:rPr>
              <a:t>；</a:t>
            </a:r>
          </a:p>
          <a:p>
            <a:pPr>
              <a:lnSpc>
                <a:spcPct val="150000"/>
              </a:lnSpc>
            </a:pPr>
            <a:r>
              <a:rPr lang="zh-CN" altLang="en-US" sz="2600" dirty="0">
                <a:solidFill>
                  <a:schemeClr val="tx1"/>
                </a:solidFill>
              </a:rPr>
              <a:t>        </a:t>
            </a:r>
          </a:p>
          <a:p>
            <a:pPr>
              <a:lnSpc>
                <a:spcPct val="150000"/>
              </a:lnSpc>
            </a:pPr>
            <a:r>
              <a:rPr lang="en-US" altLang="zh-CN" sz="2600" dirty="0" err="1">
                <a:solidFill>
                  <a:schemeClr val="tx1"/>
                </a:solidFill>
              </a:rPr>
              <a:t>cout</a:t>
            </a:r>
            <a:r>
              <a:rPr lang="en-US" altLang="zh-CN" sz="2600" dirty="0">
                <a:solidFill>
                  <a:schemeClr val="tx1"/>
                </a:solidFill>
              </a:rPr>
              <a:t> &lt;&lt; p[0] &lt;&lt; " " &lt;&lt; set[0] &lt;&lt; " " &lt;&lt; *( p + 3) &lt;&lt; " " &lt;&lt; *(set + 3) ;</a:t>
            </a:r>
            <a:endParaRPr lang="zh-CN" altLang="en-US" sz="2600" dirty="0">
              <a:solidFill>
                <a:schemeClr val="tx1"/>
              </a:solidFill>
            </a:endParaRPr>
          </a:p>
        </p:txBody>
      </p:sp>
      <p:pic>
        <p:nvPicPr>
          <p:cNvPr id="19458" name="图片 7888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6989" y="4292600"/>
            <a:ext cx="7705725" cy="117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流程图: 过程 32772">
            <a:extLst>
              <a:ext uri="{FF2B5EF4-FFF2-40B4-BE49-F238E27FC236}">
                <a16:creationId xmlns:a16="http://schemas.microsoft.com/office/drawing/2014/main" id="{6F776F40-6B7B-44B0-83EE-E7FA22D6A3B7}"/>
              </a:ext>
            </a:extLst>
          </p:cNvPr>
          <p:cNvSpPr>
            <a:spLocks noChangeArrowheads="1"/>
          </p:cNvSpPr>
          <p:nvPr/>
        </p:nvSpPr>
        <p:spPr bwMode="auto">
          <a:xfrm>
            <a:off x="9048328" y="5775143"/>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t>demo1.cpp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35841"/>
          <p:cNvSpPr>
            <a:spLocks noGrp="1" noChangeArrowheads="1"/>
          </p:cNvSpPr>
          <p:nvPr>
            <p:ph type="title"/>
          </p:nvPr>
        </p:nvSpPr>
        <p:spPr/>
        <p:txBody>
          <a:bodyPr/>
          <a:lstStyle/>
          <a:p>
            <a:r>
              <a:rPr lang="en-US" altLang="zh-CN" dirty="0"/>
              <a:t>7.3.2 </a:t>
            </a:r>
            <a:r>
              <a:rPr lang="zh-CN" altLang="en-US" dirty="0"/>
              <a:t>指针的运算 </a:t>
            </a:r>
          </a:p>
        </p:txBody>
      </p:sp>
      <p:sp>
        <p:nvSpPr>
          <p:cNvPr id="20483" name="文本占位符 35842"/>
          <p:cNvSpPr>
            <a:spLocks noGrp="1" noChangeArrowheads="1"/>
          </p:cNvSpPr>
          <p:nvPr>
            <p:ph idx="1"/>
          </p:nvPr>
        </p:nvSpPr>
        <p:spPr>
          <a:xfrm>
            <a:off x="1981200" y="1752600"/>
            <a:ext cx="8153400" cy="4484688"/>
          </a:xfrm>
        </p:spPr>
        <p:txBody>
          <a:bodyPr>
            <a:normAutofit/>
          </a:bodyPr>
          <a:lstStyle/>
          <a:p>
            <a:pPr>
              <a:lnSpc>
                <a:spcPct val="120000"/>
              </a:lnSpc>
              <a:buFontTx/>
              <a:buNone/>
            </a:pPr>
            <a:r>
              <a:rPr lang="en-US" altLang="zh-CN" sz="2600" dirty="0">
                <a:solidFill>
                  <a:srgbClr val="FF0000"/>
                </a:solidFill>
              </a:rPr>
              <a:t>2</a:t>
            </a:r>
            <a:r>
              <a:rPr lang="zh-CN" altLang="en-US" sz="2600" dirty="0">
                <a:solidFill>
                  <a:srgbClr val="FF0000"/>
                </a:solidFill>
              </a:rPr>
              <a:t>．指针相减，</a:t>
            </a:r>
            <a:r>
              <a:rPr lang="zh-CN" altLang="en-US" sz="2600" dirty="0"/>
              <a:t>例如：</a:t>
            </a:r>
          </a:p>
          <a:p>
            <a:pPr>
              <a:lnSpc>
                <a:spcPct val="120000"/>
              </a:lnSpc>
              <a:buFontTx/>
              <a:buNone/>
            </a:pPr>
            <a:r>
              <a:rPr lang="zh-CN" altLang="pt-BR" sz="2600" dirty="0"/>
              <a:t> 	</a:t>
            </a:r>
            <a:r>
              <a:rPr lang="pt-BR" altLang="zh-CN" sz="2600" dirty="0"/>
              <a:t>int   *p1 ,*p2 , n , a[ ]={2, 4, 6, 8, 10};</a:t>
            </a:r>
          </a:p>
          <a:p>
            <a:pPr>
              <a:lnSpc>
                <a:spcPct val="120000"/>
              </a:lnSpc>
              <a:buFontTx/>
              <a:buNone/>
            </a:pPr>
            <a:r>
              <a:rPr lang="pt-BR" altLang="zh-CN" sz="2600" dirty="0"/>
              <a:t>    	p1 = &amp;a[1];</a:t>
            </a:r>
          </a:p>
          <a:p>
            <a:pPr>
              <a:lnSpc>
                <a:spcPct val="120000"/>
              </a:lnSpc>
              <a:buFontTx/>
              <a:buNone/>
            </a:pPr>
            <a:r>
              <a:rPr lang="pt-BR" altLang="zh-CN" sz="2600" dirty="0"/>
              <a:t>    	p2 = &amp;a[4];</a:t>
            </a:r>
          </a:p>
          <a:p>
            <a:pPr>
              <a:lnSpc>
                <a:spcPct val="120000"/>
              </a:lnSpc>
              <a:buFontTx/>
              <a:buNone/>
            </a:pPr>
            <a:r>
              <a:rPr lang="pt-BR" altLang="zh-CN" sz="2600" dirty="0"/>
              <a:t>    	n = p2 – p1 ; </a:t>
            </a:r>
          </a:p>
          <a:p>
            <a:pPr>
              <a:lnSpc>
                <a:spcPct val="120000"/>
              </a:lnSpc>
              <a:buFontTx/>
              <a:buNone/>
            </a:pPr>
            <a:r>
              <a:rPr lang="pt-BR" altLang="zh-CN" sz="2600" dirty="0"/>
              <a:t>    	</a:t>
            </a:r>
            <a:r>
              <a:rPr lang="zh-CN" altLang="pt-BR" sz="2600" dirty="0"/>
              <a:t>注意：若有指针</a:t>
            </a:r>
            <a:r>
              <a:rPr lang="en-US" altLang="zh-CN" sz="2600" dirty="0"/>
              <a:t>p3</a:t>
            </a:r>
            <a:r>
              <a:rPr lang="zh-CN" altLang="en-US" sz="2600" dirty="0"/>
              <a:t>，让其指向数组中间（</a:t>
            </a:r>
            <a:r>
              <a:rPr lang="en-US" altLang="zh-CN" sz="2600" dirty="0"/>
              <a:t>p1,p2</a:t>
            </a:r>
            <a:r>
              <a:rPr lang="zh-CN" altLang="en-US" sz="2600" dirty="0"/>
              <a:t>中间）的一个元素：</a:t>
            </a:r>
            <a:r>
              <a:rPr lang="en-US" altLang="zh-CN" sz="2600" dirty="0"/>
              <a:t>p3 = p1 + ( p2 – p1 ) / 2 </a:t>
            </a:r>
            <a:r>
              <a:rPr lang="zh-CN" altLang="en-US" sz="2600" dirty="0"/>
              <a:t>。 </a:t>
            </a:r>
            <a:endParaRPr lang="en-US" altLang="zh-CN" sz="2600" dirty="0"/>
          </a:p>
        </p:txBody>
      </p:sp>
      <p:sp>
        <p:nvSpPr>
          <p:cNvPr id="20481"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ABEDFF68-8035-4B0E-9855-96F642BC55E6}" type="slidenum">
              <a:rPr lang="zh-CN" altLang="en-US" smtClean="0"/>
              <a:t>18</a:t>
            </a:fld>
            <a:endParaRPr lang="zh-CN" altLang="en-US"/>
          </a:p>
        </p:txBody>
      </p:sp>
      <p:sp>
        <p:nvSpPr>
          <p:cNvPr id="5" name="流程图: 过程 32772"/>
          <p:cNvSpPr>
            <a:spLocks noChangeArrowheads="1"/>
          </p:cNvSpPr>
          <p:nvPr/>
        </p:nvSpPr>
        <p:spPr bwMode="auto">
          <a:xfrm>
            <a:off x="8688389" y="5373688"/>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t>Ex5-1.cpp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37889"/>
          <p:cNvSpPr>
            <a:spLocks noGrp="1" noChangeArrowheads="1"/>
          </p:cNvSpPr>
          <p:nvPr>
            <p:ph type="title"/>
          </p:nvPr>
        </p:nvSpPr>
        <p:spPr/>
        <p:txBody>
          <a:bodyPr/>
          <a:lstStyle/>
          <a:p>
            <a:r>
              <a:rPr lang="en-US" altLang="zh-CN" dirty="0"/>
              <a:t>7.3.2 </a:t>
            </a:r>
            <a:r>
              <a:rPr lang="zh-CN" altLang="en-US" dirty="0"/>
              <a:t>指针的运算 </a:t>
            </a:r>
          </a:p>
        </p:txBody>
      </p:sp>
      <p:sp>
        <p:nvSpPr>
          <p:cNvPr id="21507" name="文本占位符 37890"/>
          <p:cNvSpPr>
            <a:spLocks noGrp="1" noChangeArrowheads="1"/>
          </p:cNvSpPr>
          <p:nvPr>
            <p:ph idx="1"/>
          </p:nvPr>
        </p:nvSpPr>
        <p:spPr>
          <a:xfrm>
            <a:off x="479376" y="1752601"/>
            <a:ext cx="11233248" cy="1171575"/>
          </a:xfrm>
        </p:spPr>
        <p:txBody>
          <a:bodyPr/>
          <a:lstStyle/>
          <a:p>
            <a:pPr>
              <a:buFontTx/>
              <a:buNone/>
            </a:pPr>
            <a:r>
              <a:rPr lang="en-US" altLang="zh-CN" sz="2600" dirty="0"/>
              <a:t>3</a:t>
            </a:r>
            <a:r>
              <a:rPr lang="zh-CN" altLang="en-US" sz="2600" dirty="0"/>
              <a:t>．指针比较：指向同一个数组的两个指针可进行的比较包括 </a:t>
            </a:r>
            <a:r>
              <a:rPr lang="en-US" altLang="zh-CN" sz="2600" dirty="0"/>
              <a:t>==</a:t>
            </a:r>
            <a:r>
              <a:rPr lang="zh-CN" altLang="en-US" sz="2600" dirty="0"/>
              <a:t>、</a:t>
            </a:r>
            <a:r>
              <a:rPr lang="en-US" altLang="zh-CN" sz="2600" dirty="0"/>
              <a:t>!=</a:t>
            </a:r>
            <a:r>
              <a:rPr lang="zh-CN" altLang="en-US" sz="2600" dirty="0"/>
              <a:t>、</a:t>
            </a:r>
            <a:r>
              <a:rPr lang="en-US" altLang="zh-CN" sz="2600" dirty="0"/>
              <a:t>&lt;</a:t>
            </a:r>
            <a:r>
              <a:rPr lang="zh-CN" altLang="en-US" sz="2600" dirty="0"/>
              <a:t>、</a:t>
            </a:r>
            <a:r>
              <a:rPr lang="en-US" altLang="zh-CN" sz="2600" dirty="0"/>
              <a:t>&lt;=</a:t>
            </a:r>
            <a:r>
              <a:rPr lang="zh-CN" altLang="en-US" sz="2600" dirty="0"/>
              <a:t>、</a:t>
            </a:r>
            <a:r>
              <a:rPr lang="en-US" altLang="zh-CN" sz="2600" dirty="0"/>
              <a:t>&gt;</a:t>
            </a:r>
            <a:r>
              <a:rPr lang="zh-CN" altLang="en-US" sz="2600" dirty="0"/>
              <a:t>和</a:t>
            </a:r>
            <a:r>
              <a:rPr lang="en-US" altLang="zh-CN" sz="2600" dirty="0"/>
              <a:t>&gt;=</a:t>
            </a:r>
          </a:p>
        </p:txBody>
      </p:sp>
      <p:sp>
        <p:nvSpPr>
          <p:cNvPr id="21505"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E20EB1E9-EF5D-47B6-8F50-8018E3D140C0}" type="slidenum">
              <a:rPr lang="zh-CN" altLang="en-US" smtClean="0"/>
              <a:t>19</a:t>
            </a:fld>
            <a:endParaRPr lang="zh-CN" altLang="en-US"/>
          </a:p>
        </p:txBody>
      </p:sp>
      <p:sp>
        <p:nvSpPr>
          <p:cNvPr id="37892" name="文本框 37891"/>
          <p:cNvSpPr txBox="1">
            <a:spLocks noChangeArrowheads="1"/>
          </p:cNvSpPr>
          <p:nvPr/>
        </p:nvSpPr>
        <p:spPr bwMode="auto">
          <a:xfrm>
            <a:off x="2423592" y="2474158"/>
            <a:ext cx="7921625" cy="4247317"/>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l">
              <a:lnSpc>
                <a:spcPct val="150000"/>
              </a:lnSpc>
              <a:buClrTx/>
              <a:buSzTx/>
              <a:buFontTx/>
            </a:pPr>
            <a:r>
              <a:rPr lang="fr-FR" altLang="zh-CN" dirty="0">
                <a:solidFill>
                  <a:srgbClr val="FF0000"/>
                </a:solidFill>
                <a:latin typeface="+mn-lt"/>
                <a:ea typeface="+mn-ea"/>
              </a:rPr>
              <a:t>修改【例5.1】</a:t>
            </a:r>
            <a:r>
              <a:rPr lang="zh-CN" altLang="en-US" dirty="0">
                <a:solidFill>
                  <a:srgbClr val="FF0000"/>
                </a:solidFill>
                <a:latin typeface="+mn-lt"/>
                <a:ea typeface="+mn-ea"/>
              </a:rPr>
              <a:t>把数组中的数据逆序排列</a:t>
            </a:r>
            <a:endParaRPr lang="fr-FR" altLang="zh-CN" dirty="0">
              <a:solidFill>
                <a:srgbClr val="FF0000"/>
              </a:solidFill>
              <a:latin typeface="+mn-lt"/>
              <a:ea typeface="+mn-ea"/>
            </a:endParaRPr>
          </a:p>
          <a:p>
            <a:r>
              <a:rPr lang="en-US" altLang="zh-CN" sz="2600" noProof="1">
                <a:solidFill>
                  <a:schemeClr val="tx1"/>
                </a:solidFill>
              </a:rPr>
              <a:t>int   set[ ] = {10, 20, 30, 40, 50, 60, 70, 80};</a:t>
            </a:r>
          </a:p>
          <a:p>
            <a:r>
              <a:rPr lang="en-US" altLang="zh-CN" sz="2600" noProof="1">
                <a:solidFill>
                  <a:schemeClr val="tx1"/>
                </a:solidFill>
              </a:rPr>
              <a:t>int   *p1,*p2, t, i, length ;</a:t>
            </a:r>
          </a:p>
          <a:p>
            <a:r>
              <a:rPr lang="en-US" altLang="zh-CN" sz="2600" noProof="1">
                <a:solidFill>
                  <a:schemeClr val="tx1"/>
                </a:solidFill>
              </a:rPr>
              <a:t>length = sizeof(set) / sizeof(set[0]);	</a:t>
            </a:r>
          </a:p>
          <a:p>
            <a:r>
              <a:rPr lang="en-US" altLang="zh-CN" sz="2600" noProof="1">
                <a:solidFill>
                  <a:schemeClr val="tx1"/>
                </a:solidFill>
              </a:rPr>
              <a:t>p1 = set</a:t>
            </a:r>
            <a:r>
              <a:rPr lang="zh-CN" altLang="en-US" sz="2600" noProof="1">
                <a:solidFill>
                  <a:schemeClr val="tx1"/>
                </a:solidFill>
              </a:rPr>
              <a:t>；</a:t>
            </a:r>
            <a:r>
              <a:rPr lang="en-US" altLang="zh-CN" sz="2600" noProof="1">
                <a:solidFill>
                  <a:schemeClr val="tx1"/>
                </a:solidFill>
              </a:rPr>
              <a:t> p2 = set + length -1; </a:t>
            </a:r>
          </a:p>
          <a:p>
            <a:r>
              <a:rPr lang="en-US" altLang="zh-CN" sz="2600" noProof="1">
                <a:solidFill>
                  <a:schemeClr val="tx1"/>
                </a:solidFill>
              </a:rPr>
              <a:t>while(p1 &lt; p2 ) {</a:t>
            </a:r>
          </a:p>
          <a:p>
            <a:r>
              <a:rPr lang="en-US" altLang="zh-CN" sz="2600" noProof="1">
                <a:solidFill>
                  <a:schemeClr val="tx1"/>
                </a:solidFill>
              </a:rPr>
              <a:t>	t=*p1;</a:t>
            </a:r>
            <a:r>
              <a:rPr lang="en-US" altLang="zh-CN" sz="2600" dirty="0">
                <a:solidFill>
                  <a:schemeClr val="tx1"/>
                </a:solidFill>
              </a:rPr>
              <a:t>    </a:t>
            </a:r>
            <a:r>
              <a:rPr lang="en-US" altLang="zh-CN" sz="2600" noProof="1">
                <a:solidFill>
                  <a:schemeClr val="tx1"/>
                </a:solidFill>
              </a:rPr>
              <a:t>*p1=*p2;	</a:t>
            </a:r>
            <a:r>
              <a:rPr lang="en-US" altLang="zh-CN" sz="2600" dirty="0">
                <a:solidFill>
                  <a:schemeClr val="tx1"/>
                </a:solidFill>
              </a:rPr>
              <a:t>   </a:t>
            </a:r>
            <a:r>
              <a:rPr lang="en-US" altLang="zh-CN" sz="2600" noProof="1">
                <a:solidFill>
                  <a:schemeClr val="tx1"/>
                </a:solidFill>
              </a:rPr>
              <a:t>*p2=t;</a:t>
            </a:r>
          </a:p>
          <a:p>
            <a:r>
              <a:rPr lang="en-US" altLang="zh-CN" sz="2600" noProof="1">
                <a:solidFill>
                  <a:schemeClr val="tx1"/>
                </a:solidFill>
              </a:rPr>
              <a:t>           p1++;</a:t>
            </a:r>
          </a:p>
          <a:p>
            <a:r>
              <a:rPr lang="en-US" altLang="zh-CN" sz="2600" noProof="1">
                <a:solidFill>
                  <a:schemeClr val="tx1"/>
                </a:solidFill>
              </a:rPr>
              <a:t>           p2--; </a:t>
            </a:r>
          </a:p>
          <a:p>
            <a:r>
              <a:rPr lang="en-US" altLang="zh-CN" sz="2600" noProof="1">
                <a:solidFill>
                  <a:schemeClr val="tx1"/>
                </a:solidFill>
              </a:rPr>
              <a:t>} </a:t>
            </a:r>
          </a:p>
        </p:txBody>
      </p:sp>
      <p:sp>
        <p:nvSpPr>
          <p:cNvPr id="6" name="流程图: 过程 32772">
            <a:extLst>
              <a:ext uri="{FF2B5EF4-FFF2-40B4-BE49-F238E27FC236}">
                <a16:creationId xmlns:a16="http://schemas.microsoft.com/office/drawing/2014/main" id="{81DF73D8-9DF3-4731-BC9B-D7DD8B721922}"/>
              </a:ext>
            </a:extLst>
          </p:cNvPr>
          <p:cNvSpPr>
            <a:spLocks noChangeArrowheads="1"/>
          </p:cNvSpPr>
          <p:nvPr/>
        </p:nvSpPr>
        <p:spPr bwMode="auto">
          <a:xfrm>
            <a:off x="8688389" y="5373688"/>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t>5-1-1.cpp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38913"/>
          <p:cNvSpPr>
            <a:spLocks noGrp="1" noChangeArrowheads="1"/>
          </p:cNvSpPr>
          <p:nvPr>
            <p:ph type="title"/>
          </p:nvPr>
        </p:nvSpPr>
        <p:spPr/>
        <p:txBody>
          <a:bodyPr/>
          <a:lstStyle/>
          <a:p>
            <a:r>
              <a:rPr lang="en-US" altLang="zh-CN" dirty="0"/>
              <a:t>7.3.3 </a:t>
            </a:r>
            <a:r>
              <a:rPr lang="zh-CN" altLang="en-US" dirty="0"/>
              <a:t>二维数组与指针 </a:t>
            </a:r>
          </a:p>
        </p:txBody>
      </p:sp>
      <p:sp>
        <p:nvSpPr>
          <p:cNvPr id="22531" name="文本占位符 38914"/>
          <p:cNvSpPr>
            <a:spLocks noGrp="1" noChangeArrowheads="1"/>
          </p:cNvSpPr>
          <p:nvPr>
            <p:ph idx="1"/>
          </p:nvPr>
        </p:nvSpPr>
        <p:spPr>
          <a:xfrm>
            <a:off x="1990725" y="1700213"/>
            <a:ext cx="8153400" cy="4114800"/>
          </a:xfrm>
        </p:spPr>
        <p:txBody>
          <a:bodyPr/>
          <a:lstStyle/>
          <a:p>
            <a:pPr marL="0" indent="0">
              <a:buNone/>
            </a:pPr>
            <a:r>
              <a:rPr lang="fr-FR" altLang="zh-CN" dirty="0">
                <a:solidFill>
                  <a:srgbClr val="FF0000"/>
                </a:solidFill>
              </a:rPr>
              <a:t>1</a:t>
            </a:r>
            <a:r>
              <a:rPr lang="en-US" altLang="zh-CN" dirty="0">
                <a:solidFill>
                  <a:srgbClr val="C00000"/>
                </a:solidFill>
              </a:rPr>
              <a:t>. </a:t>
            </a:r>
            <a:r>
              <a:rPr lang="zh-CN" altLang="en-US" dirty="0">
                <a:solidFill>
                  <a:srgbClr val="C00000"/>
                </a:solidFill>
              </a:rPr>
              <a:t>对数</a:t>
            </a:r>
            <a:r>
              <a:rPr lang="fr-FR" altLang="zh-CN" dirty="0">
                <a:solidFill>
                  <a:srgbClr val="FF0000"/>
                </a:solidFill>
              </a:rPr>
              <a:t>组</a:t>
            </a:r>
            <a:r>
              <a:rPr lang="zh-CN" altLang="en-US" dirty="0">
                <a:solidFill>
                  <a:srgbClr val="C00000"/>
                </a:solidFill>
              </a:rPr>
              <a:t>的理解。 </a:t>
            </a:r>
          </a:p>
        </p:txBody>
      </p:sp>
      <p:sp>
        <p:nvSpPr>
          <p:cNvPr id="22529" name="灯片编号占位符 1"/>
          <p:cNvSpPr>
            <a:spLocks noGrp="1" noChangeArrowheads="1"/>
          </p:cNvSpPr>
          <p:nvPr>
            <p:ph type="sldNum" sz="quarter" idx="12"/>
          </p:nvPr>
        </p:nvSpPr>
        <p:spPr bwMode="auto">
          <a:xfrm>
            <a:off x="8610600" y="6391276"/>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3146833B-3B80-4B24-B890-FDADEFE06A46}" type="slidenum">
              <a:rPr lang="zh-CN" altLang="en-US" smtClean="0"/>
              <a:t>20</a:t>
            </a:fld>
            <a:endParaRPr lang="zh-CN" altLang="en-US"/>
          </a:p>
        </p:txBody>
      </p:sp>
      <p:pic>
        <p:nvPicPr>
          <p:cNvPr id="22532" name="图片 389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2164" y="2276476"/>
            <a:ext cx="8281987" cy="206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7" name="文本框 38916"/>
          <p:cNvSpPr txBox="1">
            <a:spLocks noChangeArrowheads="1"/>
          </p:cNvSpPr>
          <p:nvPr/>
        </p:nvSpPr>
        <p:spPr bwMode="auto">
          <a:xfrm>
            <a:off x="2135559" y="4520457"/>
            <a:ext cx="8208591" cy="101566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marL="457200" indent="-457200">
              <a:defRPr sz="2400" b="1">
                <a:solidFill>
                  <a:srgbClr val="FFFFFF"/>
                </a:solidFill>
                <a:latin typeface="Times New Roman" panose="02020603050405020304" pitchFamily="18" charset="0"/>
                <a:ea typeface="宋体" panose="02010600030101010101" pitchFamily="2" charset="-122"/>
              </a:defRPr>
            </a:lvl1pPr>
            <a:lvl2pPr>
              <a:defRPr sz="2400" b="1">
                <a:solidFill>
                  <a:srgbClr val="FFFFFF"/>
                </a:solidFill>
                <a:latin typeface="Times New Roman" panose="02020603050405020304" pitchFamily="18" charset="0"/>
                <a:ea typeface="宋体" panose="02010600030101010101" pitchFamily="2" charset="-122"/>
              </a:defRPr>
            </a:lvl2pPr>
            <a:lvl3pPr>
              <a:defRPr sz="2400" b="1">
                <a:solidFill>
                  <a:srgbClr val="FFFFFF"/>
                </a:solidFill>
                <a:latin typeface="Times New Roman" panose="02020603050405020304" pitchFamily="18" charset="0"/>
                <a:ea typeface="宋体" panose="02010600030101010101" pitchFamily="2" charset="-122"/>
              </a:defRPr>
            </a:lvl3pPr>
            <a:lvl4pPr>
              <a:defRPr sz="2400" b="1">
                <a:solidFill>
                  <a:srgbClr val="FFFFFF"/>
                </a:solidFill>
                <a:latin typeface="Times New Roman" panose="02020603050405020304" pitchFamily="18" charset="0"/>
                <a:ea typeface="宋体" panose="02010600030101010101" pitchFamily="2" charset="-122"/>
              </a:defRPr>
            </a:lvl4pPr>
            <a:lvl5pPr>
              <a:defRPr sz="2400" b="1">
                <a:solidFill>
                  <a:srgbClr val="FFFFFF"/>
                </a:solidFill>
                <a:latin typeface="Times New Roman" panose="02020603050405020304" pitchFamily="18" charset="0"/>
                <a:ea typeface="宋体" panose="02010600030101010101" pitchFamily="2" charset="-122"/>
              </a:defRPr>
            </a:lvl5pPr>
            <a:lvl6pPr fontAlgn="t">
              <a:spcBef>
                <a:spcPct val="0"/>
              </a:spcBef>
              <a:spcAft>
                <a:spcPct val="0"/>
              </a:spcAft>
              <a:defRPr sz="2400" b="1">
                <a:solidFill>
                  <a:srgbClr val="FFFFFF"/>
                </a:solidFill>
                <a:latin typeface="Times New Roman" panose="02020603050405020304" pitchFamily="18" charset="0"/>
                <a:ea typeface="宋体" panose="02010600030101010101" pitchFamily="2" charset="-122"/>
              </a:defRPr>
            </a:lvl6pPr>
            <a:lvl7pPr fontAlgn="t">
              <a:spcBef>
                <a:spcPct val="0"/>
              </a:spcBef>
              <a:spcAft>
                <a:spcPct val="0"/>
              </a:spcAft>
              <a:defRPr sz="2400" b="1">
                <a:solidFill>
                  <a:srgbClr val="FFFFFF"/>
                </a:solidFill>
                <a:latin typeface="Times New Roman" panose="02020603050405020304" pitchFamily="18" charset="0"/>
                <a:ea typeface="宋体" panose="02010600030101010101" pitchFamily="2" charset="-122"/>
              </a:defRPr>
            </a:lvl7pPr>
            <a:lvl8pPr fontAlgn="t">
              <a:spcBef>
                <a:spcPct val="0"/>
              </a:spcBef>
              <a:spcAft>
                <a:spcPct val="0"/>
              </a:spcAft>
              <a:defRPr sz="2400" b="1">
                <a:solidFill>
                  <a:srgbClr val="FFFFFF"/>
                </a:solidFill>
                <a:latin typeface="Times New Roman" panose="02020603050405020304" pitchFamily="18" charset="0"/>
                <a:ea typeface="宋体" panose="02010600030101010101" pitchFamily="2" charset="-122"/>
              </a:defRPr>
            </a:lvl8pPr>
            <a:lvl9pPr fontAlgn="t">
              <a:spcBef>
                <a:spcPct val="0"/>
              </a:spcBef>
              <a:spcAft>
                <a:spcPct val="0"/>
              </a:spcAft>
              <a:defRPr sz="2400" b="1">
                <a:solidFill>
                  <a:srgbClr val="FFFFFF"/>
                </a:solidFill>
                <a:latin typeface="Times New Roman" panose="02020603050405020304" pitchFamily="18" charset="0"/>
                <a:ea typeface="宋体" panose="02010600030101010101" pitchFamily="2" charset="-122"/>
              </a:defRPr>
            </a:lvl9pPr>
          </a:lstStyle>
          <a:p>
            <a:pPr>
              <a:spcBef>
                <a:spcPct val="50000"/>
              </a:spcBef>
            </a:pPr>
            <a:r>
              <a:rPr lang="zh-CN" altLang="en-US" dirty="0">
                <a:solidFill>
                  <a:schemeClr val="tx1"/>
                </a:solidFill>
              </a:rPr>
              <a:t>行指针：如</a:t>
            </a:r>
            <a:r>
              <a:rPr lang="en-US" altLang="zh-CN" dirty="0">
                <a:solidFill>
                  <a:schemeClr val="tx1"/>
                </a:solidFill>
              </a:rPr>
              <a:t>a,a+1 ,……,</a:t>
            </a:r>
            <a:r>
              <a:rPr lang="en-US" altLang="zh-CN" dirty="0" err="1">
                <a:solidFill>
                  <a:schemeClr val="tx1"/>
                </a:solidFill>
              </a:rPr>
              <a:t>a+j</a:t>
            </a:r>
            <a:r>
              <a:rPr lang="en-US" altLang="zh-CN" dirty="0">
                <a:solidFill>
                  <a:schemeClr val="tx1"/>
                </a:solidFill>
              </a:rPr>
              <a:t>   </a:t>
            </a:r>
          </a:p>
          <a:p>
            <a:pPr>
              <a:spcBef>
                <a:spcPct val="50000"/>
              </a:spcBef>
            </a:pPr>
            <a:r>
              <a:rPr lang="zh-CN" altLang="en-US" dirty="0">
                <a:solidFill>
                  <a:schemeClr val="tx1"/>
                </a:solidFill>
              </a:rPr>
              <a:t>元素指针</a:t>
            </a:r>
            <a:r>
              <a:rPr lang="en-US" altLang="zh-CN" dirty="0">
                <a:solidFill>
                  <a:schemeClr val="tx1"/>
                </a:solidFill>
              </a:rPr>
              <a:t>(</a:t>
            </a:r>
            <a:r>
              <a:rPr lang="zh-CN" altLang="en-US" dirty="0">
                <a:solidFill>
                  <a:schemeClr val="tx1"/>
                </a:solidFill>
              </a:rPr>
              <a:t>存放每一行的起始地址</a:t>
            </a:r>
            <a:r>
              <a:rPr lang="en-US" altLang="zh-CN" dirty="0">
                <a:solidFill>
                  <a:schemeClr val="tx1"/>
                </a:solidFill>
              </a:rPr>
              <a:t>)</a:t>
            </a:r>
            <a:r>
              <a:rPr lang="zh-CN" altLang="en-US" dirty="0">
                <a:solidFill>
                  <a:schemeClr val="tx1"/>
                </a:solidFill>
              </a:rPr>
              <a:t>：如 *</a:t>
            </a:r>
            <a:r>
              <a:rPr lang="en-US" altLang="zh-CN" dirty="0">
                <a:solidFill>
                  <a:schemeClr val="tx1"/>
                </a:solidFill>
              </a:rPr>
              <a:t>a </a:t>
            </a:r>
            <a:r>
              <a:rPr lang="zh-CN" altLang="en-US" dirty="0">
                <a:solidFill>
                  <a:schemeClr val="tx1"/>
                </a:solidFill>
              </a:rPr>
              <a:t>和 *</a:t>
            </a:r>
            <a:r>
              <a:rPr lang="en-US" altLang="zh-CN" dirty="0">
                <a:solidFill>
                  <a:schemeClr val="tx1"/>
                </a:solidFill>
              </a:rPr>
              <a:t>(a+1) </a:t>
            </a:r>
            <a:r>
              <a:rPr lang="zh-CN" altLang="en-US" dirty="0">
                <a:solidFill>
                  <a:schemeClr val="tx1"/>
                </a:solidFill>
              </a:rPr>
              <a:t> </a:t>
            </a:r>
            <a:endParaRPr lang="en-US" altLang="zh-CN" dirty="0">
              <a:solidFill>
                <a:schemeClr val="tx1"/>
              </a:solidFill>
            </a:endParaRPr>
          </a:p>
        </p:txBody>
      </p:sp>
      <p:sp>
        <p:nvSpPr>
          <p:cNvPr id="7" name="流程图: 过程 32772"/>
          <p:cNvSpPr>
            <a:spLocks noChangeArrowheads="1"/>
          </p:cNvSpPr>
          <p:nvPr/>
        </p:nvSpPr>
        <p:spPr bwMode="auto">
          <a:xfrm>
            <a:off x="9048750" y="5714666"/>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t>Ex5-2.cpp</a:t>
            </a:r>
          </a:p>
        </p:txBody>
      </p:sp>
      <p:graphicFrame>
        <p:nvGraphicFramePr>
          <p:cNvPr id="2" name="表格 1"/>
          <p:cNvGraphicFramePr>
            <a:graphicFrameLocks noGrp="1"/>
          </p:cNvGraphicFramePr>
          <p:nvPr>
            <p:extLst>
              <p:ext uri="{D42A27DB-BD31-4B8C-83A1-F6EECF244321}">
                <p14:modId xmlns:p14="http://schemas.microsoft.com/office/powerpoint/2010/main" val="4152134278"/>
              </p:ext>
            </p:extLst>
          </p:nvPr>
        </p:nvGraphicFramePr>
        <p:xfrm>
          <a:off x="5621976" y="1727890"/>
          <a:ext cx="4522149" cy="1112520"/>
        </p:xfrm>
        <a:graphic>
          <a:graphicData uri="http://schemas.openxmlformats.org/drawingml/2006/table">
            <a:tbl>
              <a:tblPr firstRow="1" bandRow="1">
                <a:tableStyleId>{5C22544A-7EE6-4342-B048-85BDC9FD1C3A}</a:tableStyleId>
              </a:tblPr>
              <a:tblGrid>
                <a:gridCol w="1410128">
                  <a:extLst>
                    <a:ext uri="{9D8B030D-6E8A-4147-A177-3AD203B41FA5}">
                      <a16:colId xmlns:a16="http://schemas.microsoft.com/office/drawing/2014/main" val="2437120327"/>
                    </a:ext>
                  </a:extLst>
                </a:gridCol>
                <a:gridCol w="1584176">
                  <a:extLst>
                    <a:ext uri="{9D8B030D-6E8A-4147-A177-3AD203B41FA5}">
                      <a16:colId xmlns:a16="http://schemas.microsoft.com/office/drawing/2014/main" val="770476836"/>
                    </a:ext>
                  </a:extLst>
                </a:gridCol>
                <a:gridCol w="1527845">
                  <a:extLst>
                    <a:ext uri="{9D8B030D-6E8A-4147-A177-3AD203B41FA5}">
                      <a16:colId xmlns:a16="http://schemas.microsoft.com/office/drawing/2014/main" val="3767424128"/>
                    </a:ext>
                  </a:extLst>
                </a:gridCol>
              </a:tblGrid>
              <a:tr h="370840">
                <a:tc>
                  <a:txBody>
                    <a:bodyPr/>
                    <a:lstStyle/>
                    <a:p>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2</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9885703"/>
                  </a:ext>
                </a:extLst>
              </a:tr>
              <a:tr h="370840">
                <a:tc>
                  <a:txBody>
                    <a:bodyPr/>
                    <a:lstStyle/>
                    <a:p>
                      <a:r>
                        <a:rPr lang="en-US" altLang="zh-CN" dirty="0"/>
                        <a:t>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4</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3232274"/>
                  </a:ext>
                </a:extLst>
              </a:tr>
              <a:tr h="370840">
                <a:tc>
                  <a:txBody>
                    <a:bodyPr/>
                    <a:lstStyle/>
                    <a:p>
                      <a:r>
                        <a:rPr lang="en-US" altLang="zh-CN" dirty="0"/>
                        <a:t>6</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7</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dirty="0"/>
                        <a:t>8</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6341738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1EB1119-B1EA-482F-8756-A2F14CA520E4}" type="slidenum">
              <a:rPr lang="zh-CN" altLang="en-US" smtClean="0"/>
              <a:t>21</a:t>
            </a:fld>
            <a:endParaRPr lang="zh-CN" altLang="en-US"/>
          </a:p>
        </p:txBody>
      </p:sp>
      <p:sp>
        <p:nvSpPr>
          <p:cNvPr id="5" name="文本框 4"/>
          <p:cNvSpPr txBox="1"/>
          <p:nvPr/>
        </p:nvSpPr>
        <p:spPr>
          <a:xfrm>
            <a:off x="4583832" y="2481808"/>
            <a:ext cx="1026243" cy="1354217"/>
          </a:xfrm>
          <a:prstGeom prst="rect">
            <a:avLst/>
          </a:prstGeom>
          <a:noFill/>
        </p:spPr>
        <p:txBody>
          <a:bodyPr wrap="none" rtlCol="0">
            <a:spAutoFit/>
          </a:bodyPr>
          <a:lstStyle/>
          <a:p>
            <a:pPr>
              <a:spcAft>
                <a:spcPts val="600"/>
              </a:spcAft>
            </a:pPr>
            <a:r>
              <a:rPr lang="en-US" altLang="zh-CN" dirty="0">
                <a:solidFill>
                  <a:schemeClr val="tx1"/>
                </a:solidFill>
              </a:rPr>
              <a:t>a[0]</a:t>
            </a:r>
          </a:p>
          <a:p>
            <a:pPr>
              <a:spcAft>
                <a:spcPts val="600"/>
              </a:spcAft>
            </a:pPr>
            <a:r>
              <a:rPr lang="en-US" altLang="zh-CN" dirty="0">
                <a:solidFill>
                  <a:schemeClr val="tx1"/>
                </a:solidFill>
              </a:rPr>
              <a:t>a[0]+1</a:t>
            </a:r>
          </a:p>
          <a:p>
            <a:pPr>
              <a:spcAft>
                <a:spcPts val="600"/>
              </a:spcAft>
            </a:pPr>
            <a:r>
              <a:rPr lang="en-US" altLang="zh-CN" dirty="0">
                <a:solidFill>
                  <a:schemeClr val="tx1"/>
                </a:solidFill>
              </a:rPr>
              <a:t>a[0]+2</a:t>
            </a:r>
          </a:p>
        </p:txBody>
      </p:sp>
      <p:sp>
        <p:nvSpPr>
          <p:cNvPr id="6" name="标题 38913"/>
          <p:cNvSpPr txBox="1">
            <a:spLocks noChangeArrowheads="1"/>
          </p:cNvSpPr>
          <p:nvPr/>
        </p:nvSpPr>
        <p:spPr>
          <a:xfrm>
            <a:off x="1457275" y="39285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b="0" dirty="0"/>
              <a:t>7.3.3 </a:t>
            </a:r>
            <a:r>
              <a:rPr lang="zh-CN" altLang="en-US" b="0" dirty="0"/>
              <a:t>二维数组与指针 </a:t>
            </a:r>
          </a:p>
        </p:txBody>
      </p:sp>
      <p:graphicFrame>
        <p:nvGraphicFramePr>
          <p:cNvPr id="7" name="内容占位符 4"/>
          <p:cNvGraphicFramePr>
            <a:graphicFrameLocks/>
          </p:cNvGraphicFramePr>
          <p:nvPr>
            <p:extLst>
              <p:ext uri="{D42A27DB-BD31-4B8C-83A1-F6EECF244321}">
                <p14:modId xmlns:p14="http://schemas.microsoft.com/office/powerpoint/2010/main" val="1007344081"/>
              </p:ext>
            </p:extLst>
          </p:nvPr>
        </p:nvGraphicFramePr>
        <p:xfrm>
          <a:off x="2711624" y="2482552"/>
          <a:ext cx="1440160" cy="4114800"/>
        </p:xfrm>
        <a:graphic>
          <a:graphicData uri="http://schemas.openxmlformats.org/drawingml/2006/table">
            <a:tbl>
              <a:tblPr firstRow="1" bandRow="1">
                <a:tableStyleId>{5C22544A-7EE6-4342-B048-85BDC9FD1C3A}</a:tableStyleId>
              </a:tblPr>
              <a:tblGrid>
                <a:gridCol w="1440160">
                  <a:extLst>
                    <a:ext uri="{9D8B030D-6E8A-4147-A177-3AD203B41FA5}">
                      <a16:colId xmlns:a16="http://schemas.microsoft.com/office/drawing/2014/main" val="4131693039"/>
                    </a:ext>
                  </a:extLst>
                </a:gridCol>
              </a:tblGrid>
              <a:tr h="370840">
                <a:tc>
                  <a:txBody>
                    <a:bodyPr/>
                    <a:lstStyle/>
                    <a:p>
                      <a:r>
                        <a:rPr lang="en-US" altLang="zh-CN" sz="2400" dirty="0">
                          <a:solidFill>
                            <a:schemeClr val="tx1"/>
                          </a:solidFill>
                        </a:rPr>
                        <a:t>a[0]</a:t>
                      </a:r>
                      <a:r>
                        <a:rPr lang="en-US" altLang="zh-CN" sz="2400" dirty="0">
                          <a:solidFill>
                            <a:srgbClr val="00B050"/>
                          </a:solidFill>
                        </a:rPr>
                        <a:t>[0]</a:t>
                      </a:r>
                      <a:endParaRPr lang="zh-CN" altLang="en-US" sz="240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990859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tx1"/>
                          </a:solidFill>
                        </a:rPr>
                        <a:t>a[0]</a:t>
                      </a:r>
                      <a:r>
                        <a:rPr lang="en-US" altLang="zh-CN" sz="2400" dirty="0">
                          <a:solidFill>
                            <a:srgbClr val="00B050"/>
                          </a:solidFill>
                        </a:rPr>
                        <a:t>[1]</a:t>
                      </a:r>
                      <a:endParaRPr lang="zh-CN" altLang="en-US" sz="240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662583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tx1"/>
                          </a:solidFill>
                        </a:rPr>
                        <a:t>a[0]</a:t>
                      </a:r>
                      <a:r>
                        <a:rPr lang="en-US" altLang="zh-CN" sz="2400" dirty="0">
                          <a:solidFill>
                            <a:srgbClr val="00B050"/>
                          </a:solidFill>
                        </a:rPr>
                        <a:t>[2]</a:t>
                      </a:r>
                      <a:endParaRPr lang="zh-CN" altLang="en-US" sz="240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8972226"/>
                  </a:ext>
                </a:extLst>
              </a:tr>
              <a:tr h="370840">
                <a:tc>
                  <a:txBody>
                    <a:bodyPr/>
                    <a:lstStyle/>
                    <a:p>
                      <a:r>
                        <a:rPr lang="en-US" altLang="zh-CN" sz="2400" dirty="0">
                          <a:solidFill>
                            <a:schemeClr val="tx1"/>
                          </a:solidFill>
                        </a:rPr>
                        <a:t>a[1]</a:t>
                      </a:r>
                      <a:r>
                        <a:rPr lang="en-US" altLang="zh-CN" sz="2400" dirty="0">
                          <a:solidFill>
                            <a:srgbClr val="00B050"/>
                          </a:solidFill>
                        </a:rPr>
                        <a:t>[0]</a:t>
                      </a:r>
                      <a:endParaRPr lang="zh-CN" altLang="en-US" sz="240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9800859"/>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tx1"/>
                          </a:solidFill>
                        </a:rPr>
                        <a:t>a[1]</a:t>
                      </a:r>
                      <a:r>
                        <a:rPr lang="en-US" altLang="zh-CN" sz="2400" dirty="0">
                          <a:solidFill>
                            <a:srgbClr val="00B050"/>
                          </a:solidFill>
                        </a:rPr>
                        <a:t>[1]</a:t>
                      </a:r>
                      <a:endParaRPr lang="zh-CN" altLang="en-US" sz="240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461526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tx1"/>
                          </a:solidFill>
                        </a:rPr>
                        <a:t>a[1]</a:t>
                      </a:r>
                      <a:r>
                        <a:rPr lang="en-US" altLang="zh-CN" sz="2400" dirty="0">
                          <a:solidFill>
                            <a:srgbClr val="00B050"/>
                          </a:solidFill>
                        </a:rPr>
                        <a:t>[2]</a:t>
                      </a:r>
                      <a:endParaRPr lang="zh-CN" altLang="en-US" sz="240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3964449"/>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tx1"/>
                          </a:solidFill>
                        </a:rPr>
                        <a:t>a[2]</a:t>
                      </a:r>
                      <a:r>
                        <a:rPr lang="en-US" altLang="zh-CN" sz="2400" dirty="0">
                          <a:solidFill>
                            <a:srgbClr val="00B050"/>
                          </a:solidFill>
                        </a:rPr>
                        <a:t>[0]</a:t>
                      </a:r>
                      <a:endParaRPr lang="zh-CN" altLang="en-US" sz="240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044934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tx1"/>
                          </a:solidFill>
                        </a:rPr>
                        <a:t>a[2]</a:t>
                      </a:r>
                      <a:r>
                        <a:rPr lang="en-US" altLang="zh-CN" sz="2400" dirty="0">
                          <a:solidFill>
                            <a:srgbClr val="00B050"/>
                          </a:solidFill>
                        </a:rPr>
                        <a:t>[1]</a:t>
                      </a:r>
                      <a:endParaRPr lang="zh-CN" altLang="en-US" sz="240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931964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tx1"/>
                          </a:solidFill>
                        </a:rPr>
                        <a:t>a[2]</a:t>
                      </a:r>
                      <a:r>
                        <a:rPr lang="en-US" altLang="zh-CN" sz="2400" dirty="0">
                          <a:solidFill>
                            <a:srgbClr val="00B050"/>
                          </a:solidFill>
                        </a:rPr>
                        <a:t>[2]</a:t>
                      </a:r>
                      <a:endParaRPr lang="zh-CN" altLang="en-US" sz="240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7084979"/>
                  </a:ext>
                </a:extLst>
              </a:tr>
            </a:tbl>
          </a:graphicData>
        </a:graphic>
      </p:graphicFrame>
      <p:cxnSp>
        <p:nvCxnSpPr>
          <p:cNvPr id="9" name="直接箭头连接符 8"/>
          <p:cNvCxnSpPr/>
          <p:nvPr/>
        </p:nvCxnSpPr>
        <p:spPr>
          <a:xfrm flipH="1">
            <a:off x="3935760" y="3158916"/>
            <a:ext cx="57606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a:off x="3966243" y="3634680"/>
            <a:ext cx="61758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H="1">
            <a:off x="3966243" y="2698576"/>
            <a:ext cx="57606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4583832" y="3963143"/>
            <a:ext cx="1026243" cy="1354217"/>
          </a:xfrm>
          <a:prstGeom prst="rect">
            <a:avLst/>
          </a:prstGeom>
          <a:noFill/>
        </p:spPr>
        <p:txBody>
          <a:bodyPr wrap="none" rtlCol="0">
            <a:spAutoFit/>
          </a:bodyPr>
          <a:lstStyle/>
          <a:p>
            <a:pPr>
              <a:spcAft>
                <a:spcPts val="600"/>
              </a:spcAft>
            </a:pPr>
            <a:r>
              <a:rPr lang="en-US" altLang="zh-CN" dirty="0">
                <a:solidFill>
                  <a:schemeClr val="tx1"/>
                </a:solidFill>
              </a:rPr>
              <a:t>a[1]</a:t>
            </a:r>
          </a:p>
          <a:p>
            <a:pPr>
              <a:spcAft>
                <a:spcPts val="600"/>
              </a:spcAft>
            </a:pPr>
            <a:r>
              <a:rPr lang="en-US" altLang="zh-CN" dirty="0">
                <a:solidFill>
                  <a:schemeClr val="tx1"/>
                </a:solidFill>
              </a:rPr>
              <a:t>a[1]+1</a:t>
            </a:r>
          </a:p>
          <a:p>
            <a:pPr>
              <a:spcAft>
                <a:spcPts val="600"/>
              </a:spcAft>
            </a:pPr>
            <a:r>
              <a:rPr lang="en-US" altLang="zh-CN" dirty="0">
                <a:solidFill>
                  <a:schemeClr val="tx1"/>
                </a:solidFill>
              </a:rPr>
              <a:t>a[1]+2</a:t>
            </a:r>
          </a:p>
        </p:txBody>
      </p:sp>
      <p:cxnSp>
        <p:nvCxnSpPr>
          <p:cNvPr id="14" name="直接箭头连接符 13"/>
          <p:cNvCxnSpPr/>
          <p:nvPr/>
        </p:nvCxnSpPr>
        <p:spPr>
          <a:xfrm flipH="1">
            <a:off x="3966243" y="4210744"/>
            <a:ext cx="57606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H="1">
            <a:off x="3966243" y="4640251"/>
            <a:ext cx="57606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H="1">
            <a:off x="3987005" y="5074840"/>
            <a:ext cx="57606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22" name="组合 21"/>
          <p:cNvGrpSpPr/>
          <p:nvPr/>
        </p:nvGrpSpPr>
        <p:grpSpPr>
          <a:xfrm>
            <a:off x="1123610" y="2432666"/>
            <a:ext cx="1588014" cy="3139321"/>
            <a:chOff x="1123610" y="1866946"/>
            <a:chExt cx="1588014" cy="3139321"/>
          </a:xfrm>
        </p:grpSpPr>
        <p:sp>
          <p:nvSpPr>
            <p:cNvPr id="17" name="文本框 16"/>
            <p:cNvSpPr txBox="1"/>
            <p:nvPr/>
          </p:nvSpPr>
          <p:spPr>
            <a:xfrm>
              <a:off x="1123610" y="1866946"/>
              <a:ext cx="667170" cy="3139321"/>
            </a:xfrm>
            <a:prstGeom prst="rect">
              <a:avLst/>
            </a:prstGeom>
            <a:noFill/>
          </p:spPr>
          <p:txBody>
            <a:bodyPr wrap="none" rtlCol="0">
              <a:spAutoFit/>
            </a:bodyPr>
            <a:lstStyle/>
            <a:p>
              <a:pPr>
                <a:spcAft>
                  <a:spcPts val="600"/>
                </a:spcAft>
              </a:pPr>
              <a:r>
                <a:rPr lang="en-US" altLang="zh-CN" dirty="0">
                  <a:solidFill>
                    <a:schemeClr val="tx1"/>
                  </a:solidFill>
                </a:rPr>
                <a:t>a</a:t>
              </a:r>
            </a:p>
            <a:p>
              <a:pPr>
                <a:spcAft>
                  <a:spcPts val="600"/>
                </a:spcAft>
              </a:pPr>
              <a:endParaRPr lang="en-US" altLang="zh-CN" dirty="0">
                <a:solidFill>
                  <a:schemeClr val="tx1"/>
                </a:solidFill>
              </a:endParaRPr>
            </a:p>
            <a:p>
              <a:pPr>
                <a:spcAft>
                  <a:spcPts val="600"/>
                </a:spcAft>
              </a:pPr>
              <a:endParaRPr lang="en-US" altLang="zh-CN" dirty="0">
                <a:solidFill>
                  <a:schemeClr val="tx1"/>
                </a:solidFill>
              </a:endParaRPr>
            </a:p>
            <a:p>
              <a:pPr>
                <a:spcAft>
                  <a:spcPts val="600"/>
                </a:spcAft>
              </a:pPr>
              <a:r>
                <a:rPr lang="en-US" altLang="zh-CN" dirty="0">
                  <a:solidFill>
                    <a:schemeClr val="tx1"/>
                  </a:solidFill>
                </a:rPr>
                <a:t>a+1</a:t>
              </a:r>
            </a:p>
            <a:p>
              <a:pPr>
                <a:spcAft>
                  <a:spcPts val="600"/>
                </a:spcAft>
              </a:pPr>
              <a:endParaRPr lang="en-US" altLang="zh-CN" dirty="0">
                <a:solidFill>
                  <a:schemeClr val="tx1"/>
                </a:solidFill>
              </a:endParaRPr>
            </a:p>
            <a:p>
              <a:pPr>
                <a:spcAft>
                  <a:spcPts val="600"/>
                </a:spcAft>
              </a:pPr>
              <a:endParaRPr lang="en-US" altLang="zh-CN" dirty="0">
                <a:solidFill>
                  <a:schemeClr val="tx1"/>
                </a:solidFill>
              </a:endParaRPr>
            </a:p>
            <a:p>
              <a:pPr>
                <a:spcAft>
                  <a:spcPts val="600"/>
                </a:spcAft>
              </a:pPr>
              <a:r>
                <a:rPr lang="en-US" altLang="zh-CN" dirty="0">
                  <a:solidFill>
                    <a:schemeClr val="tx1"/>
                  </a:solidFill>
                </a:rPr>
                <a:t>a+2</a:t>
              </a:r>
            </a:p>
          </p:txBody>
        </p:sp>
        <p:cxnSp>
          <p:nvCxnSpPr>
            <p:cNvPr id="19" name="直接箭头连接符 18"/>
            <p:cNvCxnSpPr/>
            <p:nvPr/>
          </p:nvCxnSpPr>
          <p:spPr>
            <a:xfrm>
              <a:off x="1457195" y="2132856"/>
              <a:ext cx="1254429"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20" name="直接箭头连接符 19"/>
            <p:cNvCxnSpPr/>
            <p:nvPr/>
          </p:nvCxnSpPr>
          <p:spPr>
            <a:xfrm>
              <a:off x="1457195" y="3645024"/>
              <a:ext cx="1254429"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21" name="直接箭头连接符 20"/>
            <p:cNvCxnSpPr/>
            <p:nvPr/>
          </p:nvCxnSpPr>
          <p:spPr>
            <a:xfrm>
              <a:off x="1457195" y="4963959"/>
              <a:ext cx="1254429"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grpSp>
      <p:sp>
        <p:nvSpPr>
          <p:cNvPr id="23" name="矩形 22"/>
          <p:cNvSpPr/>
          <p:nvPr/>
        </p:nvSpPr>
        <p:spPr>
          <a:xfrm>
            <a:off x="7104112" y="5661248"/>
            <a:ext cx="2329484" cy="461665"/>
          </a:xfrm>
          <a:prstGeom prst="rect">
            <a:avLst/>
          </a:prstGeom>
        </p:spPr>
        <p:txBody>
          <a:bodyPr wrap="none">
            <a:spAutoFit/>
          </a:bodyPr>
          <a:lstStyle/>
          <a:p>
            <a:r>
              <a:rPr lang="en-US" altLang="zh-CN" dirty="0">
                <a:solidFill>
                  <a:schemeClr val="tx1"/>
                </a:solidFill>
              </a:rPr>
              <a:t>a=a[0]=&amp;a[0][0]</a:t>
            </a:r>
            <a:endParaRPr lang="zh-CN" altLang="en-US" dirty="0"/>
          </a:p>
        </p:txBody>
      </p:sp>
      <p:sp>
        <p:nvSpPr>
          <p:cNvPr id="24" name="文本框 23"/>
          <p:cNvSpPr txBox="1"/>
          <p:nvPr/>
        </p:nvSpPr>
        <p:spPr>
          <a:xfrm>
            <a:off x="646186" y="1689361"/>
            <a:ext cx="6681637" cy="461665"/>
          </a:xfrm>
          <a:prstGeom prst="rect">
            <a:avLst/>
          </a:prstGeom>
          <a:noFill/>
        </p:spPr>
        <p:txBody>
          <a:bodyPr wrap="none" rtlCol="0">
            <a:spAutoFit/>
          </a:bodyPr>
          <a:lstStyle/>
          <a:p>
            <a:r>
              <a:rPr lang="zh-CN" altLang="en-US" dirty="0">
                <a:solidFill>
                  <a:srgbClr val="7030A0"/>
                </a:solidFill>
              </a:rPr>
              <a:t>形式上为二维数组，实际存储时按一维存储的。</a:t>
            </a:r>
          </a:p>
        </p:txBody>
      </p:sp>
    </p:spTree>
    <p:extLst>
      <p:ext uri="{BB962C8B-B14F-4D97-AF65-F5344CB8AC3E}">
        <p14:creationId xmlns:p14="http://schemas.microsoft.com/office/powerpoint/2010/main" val="548356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righ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right)">
                                      <p:cBhvr>
                                        <p:cTn id="12" dur="500"/>
                                        <p:tgtEl>
                                          <p:spTgt spid="5">
                                            <p:txEl>
                                              <p:pRg st="1" end="1"/>
                                            </p:txEl>
                                          </p:spTgt>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grpId="0"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wipe(right)">
                                      <p:cBhvr>
                                        <p:cTn id="21" dur="500"/>
                                        <p:tgtEl>
                                          <p:spTgt spid="5">
                                            <p:txEl>
                                              <p:pRg st="2" end="2"/>
                                            </p:txEl>
                                          </p:spTgt>
                                        </p:tgtEl>
                                      </p:cBhvr>
                                    </p:animEffect>
                                  </p:childTnLst>
                                </p:cTn>
                              </p:par>
                            </p:childTnLst>
                          </p:cTn>
                        </p:par>
                        <p:par>
                          <p:cTn id="22" fill="hold">
                            <p:stCondLst>
                              <p:cond delay="500"/>
                            </p:stCondLst>
                            <p:childTnLst>
                              <p:par>
                                <p:cTn id="23" presetID="22" presetClass="entr" presetSubtype="2"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right)">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2"/>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3" grpId="0" uiExpand="1" build="p"/>
      <p:bldP spid="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39937"/>
          <p:cNvSpPr>
            <a:spLocks noGrp="1" noChangeArrowheads="1"/>
          </p:cNvSpPr>
          <p:nvPr>
            <p:ph type="title"/>
          </p:nvPr>
        </p:nvSpPr>
        <p:spPr/>
        <p:txBody>
          <a:bodyPr/>
          <a:lstStyle/>
          <a:p>
            <a:r>
              <a:rPr lang="en-US" altLang="zh-CN" dirty="0"/>
              <a:t>7.3.3 </a:t>
            </a:r>
            <a:r>
              <a:rPr lang="zh-CN" altLang="en-US" dirty="0"/>
              <a:t>二维数组与指针 </a:t>
            </a:r>
          </a:p>
        </p:txBody>
      </p:sp>
      <p:sp>
        <p:nvSpPr>
          <p:cNvPr id="23555" name="文本占位符 39938"/>
          <p:cNvSpPr>
            <a:spLocks noGrp="1" noChangeArrowheads="1"/>
          </p:cNvSpPr>
          <p:nvPr>
            <p:ph idx="1"/>
          </p:nvPr>
        </p:nvSpPr>
        <p:spPr>
          <a:xfrm>
            <a:off x="1331628" y="1700358"/>
            <a:ext cx="9012521" cy="4114800"/>
          </a:xfrm>
        </p:spPr>
        <p:txBody>
          <a:bodyPr/>
          <a:lstStyle/>
          <a:p>
            <a:pPr marL="0" fontAlgn="t">
              <a:lnSpc>
                <a:spcPct val="150000"/>
              </a:lnSpc>
              <a:buNone/>
            </a:pPr>
            <a:r>
              <a:rPr lang="fr-FR" altLang="zh-CN" dirty="0">
                <a:solidFill>
                  <a:srgbClr val="FF0000"/>
                </a:solidFill>
              </a:rPr>
              <a:t>2．二维数组元素a[i][j]的表示 </a:t>
            </a:r>
          </a:p>
          <a:p>
            <a:pPr>
              <a:buFontTx/>
              <a:buNone/>
            </a:pPr>
            <a:r>
              <a:rPr lang="en-US" altLang="zh-CN" dirty="0"/>
              <a:t>(1)  </a:t>
            </a:r>
            <a:r>
              <a:rPr lang="zh-CN" altLang="en-US" dirty="0"/>
              <a:t>元素</a:t>
            </a:r>
            <a:r>
              <a:rPr lang="en-US" altLang="zh-CN" dirty="0"/>
              <a:t>a[i][j]</a:t>
            </a:r>
            <a:r>
              <a:rPr lang="zh-CN" altLang="en-US" dirty="0"/>
              <a:t>的地址：</a:t>
            </a:r>
            <a:r>
              <a:rPr lang="en-US" altLang="zh-CN" dirty="0"/>
              <a:t>&amp;a[i][j]</a:t>
            </a:r>
            <a:r>
              <a:rPr lang="zh-CN" altLang="en-US" dirty="0"/>
              <a:t>、</a:t>
            </a:r>
            <a:r>
              <a:rPr lang="en-US" altLang="zh-CN" dirty="0"/>
              <a:t>a[i]+j</a:t>
            </a:r>
            <a:r>
              <a:rPr lang="zh-CN" altLang="en-US" dirty="0"/>
              <a:t>和 *</a:t>
            </a:r>
            <a:r>
              <a:rPr lang="en-US" altLang="zh-CN" dirty="0"/>
              <a:t>(a+i)+j </a:t>
            </a:r>
            <a:r>
              <a:rPr lang="zh-CN" altLang="en-US" dirty="0"/>
              <a:t>。</a:t>
            </a:r>
          </a:p>
          <a:p>
            <a:pPr>
              <a:buFontTx/>
              <a:buNone/>
            </a:pPr>
            <a:r>
              <a:rPr lang="en-US" altLang="zh-CN" dirty="0"/>
              <a:t>(2) </a:t>
            </a:r>
            <a:r>
              <a:rPr lang="zh-CN" altLang="en-US" dirty="0"/>
              <a:t>元素表示为：</a:t>
            </a:r>
            <a:r>
              <a:rPr lang="en-US" altLang="zh-CN" dirty="0"/>
              <a:t>a[i][j]</a:t>
            </a:r>
            <a:r>
              <a:rPr lang="zh-CN" altLang="en-US" dirty="0"/>
              <a:t>、*</a:t>
            </a:r>
            <a:r>
              <a:rPr lang="en-US" altLang="zh-CN" dirty="0"/>
              <a:t>(a[i]+j)</a:t>
            </a:r>
            <a:r>
              <a:rPr lang="zh-CN" altLang="en-US" dirty="0"/>
              <a:t>、*</a:t>
            </a:r>
            <a:r>
              <a:rPr lang="en-US" altLang="zh-CN" dirty="0"/>
              <a:t>(*(a+i)+j) </a:t>
            </a:r>
            <a:r>
              <a:rPr lang="zh-CN" altLang="en-US" dirty="0"/>
              <a:t>和 </a:t>
            </a:r>
            <a:r>
              <a:rPr lang="en-US" altLang="zh-CN" dirty="0"/>
              <a:t>(*(a+i))[j] </a:t>
            </a:r>
            <a:endParaRPr lang="zh-CN" altLang="en-US" dirty="0"/>
          </a:p>
        </p:txBody>
      </p:sp>
      <p:sp>
        <p:nvSpPr>
          <p:cNvPr id="23553"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BAB9CF35-4D57-40B7-85FD-BDC45F192985}" type="slidenum">
              <a:rPr lang="zh-CN" altLang="en-US" smtClean="0"/>
              <a:t>22</a:t>
            </a:fld>
            <a:endParaRPr lang="zh-CN" altLang="en-US"/>
          </a:p>
        </p:txBody>
      </p:sp>
      <p:grpSp>
        <p:nvGrpSpPr>
          <p:cNvPr id="39944" name="组合 39943"/>
          <p:cNvGrpSpPr/>
          <p:nvPr/>
        </p:nvGrpSpPr>
        <p:grpSpPr bwMode="auto">
          <a:xfrm>
            <a:off x="1504993" y="4001836"/>
            <a:ext cx="8496300" cy="2354263"/>
            <a:chOff x="295" y="2886"/>
            <a:chExt cx="5352" cy="1483"/>
          </a:xfrm>
        </p:grpSpPr>
        <p:sp>
          <p:nvSpPr>
            <p:cNvPr id="23557" name="文本框 39941"/>
            <p:cNvSpPr txBox="1">
              <a:spLocks noChangeArrowheads="1"/>
            </p:cNvSpPr>
            <p:nvPr/>
          </p:nvSpPr>
          <p:spPr bwMode="auto">
            <a:xfrm>
              <a:off x="295" y="2886"/>
              <a:ext cx="5352" cy="1064"/>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r>
                <a:rPr lang="zh-CN" altLang="en-US" sz="2600" dirty="0">
                  <a:solidFill>
                    <a:schemeClr val="tx1"/>
                  </a:solidFill>
                </a:rPr>
                <a:t>例如：输出一个</a:t>
              </a:r>
              <a:r>
                <a:rPr lang="en-US" altLang="zh-CN" sz="2600" dirty="0">
                  <a:solidFill>
                    <a:schemeClr val="tx1"/>
                  </a:solidFill>
                </a:rPr>
                <a:t>2×3</a:t>
              </a:r>
              <a:r>
                <a:rPr lang="zh-CN" altLang="en-US" sz="2600" dirty="0">
                  <a:solidFill>
                    <a:schemeClr val="tx1"/>
                  </a:solidFill>
                </a:rPr>
                <a:t>二维数组的每个元素地址和元素值：</a:t>
              </a:r>
            </a:p>
            <a:p>
              <a:r>
                <a:rPr lang="en-US" altLang="zh-CN" sz="2600" dirty="0">
                  <a:solidFill>
                    <a:schemeClr val="tx1"/>
                  </a:solidFill>
                </a:rPr>
                <a:t>int  a[2][3]={10, 20, 30, 40, 50, 60}, *p ;</a:t>
              </a:r>
            </a:p>
            <a:p>
              <a:r>
                <a:rPr lang="en-US" altLang="zh-CN" sz="2600" dirty="0">
                  <a:solidFill>
                    <a:schemeClr val="tx1"/>
                  </a:solidFill>
                </a:rPr>
                <a:t>for( p = a[0]; p &lt; a[0] + 6; p++ )          </a:t>
              </a:r>
            </a:p>
            <a:p>
              <a:r>
                <a:rPr lang="en-US" altLang="zh-CN" sz="2600" dirty="0">
                  <a:solidFill>
                    <a:schemeClr val="tx1"/>
                  </a:solidFill>
                </a:rPr>
                <a:t>	cout &lt;&lt; setw(5) &lt;&lt; p &lt;&lt; setw(5) &lt;&lt; *p &lt;&lt; endl; </a:t>
              </a:r>
              <a:endParaRPr lang="zh-CN" altLang="en-US" sz="2600" dirty="0">
                <a:solidFill>
                  <a:schemeClr val="tx1"/>
                </a:solidFill>
              </a:endParaRPr>
            </a:p>
          </p:txBody>
        </p:sp>
        <p:sp>
          <p:nvSpPr>
            <p:cNvPr id="23558" name="流程图: 过程 39942"/>
            <p:cNvSpPr>
              <a:spLocks noChangeArrowheads="1"/>
            </p:cNvSpPr>
            <p:nvPr/>
          </p:nvSpPr>
          <p:spPr bwMode="auto">
            <a:xfrm>
              <a:off x="4428" y="4097"/>
              <a:ext cx="998" cy="272"/>
            </a:xfrm>
            <a:prstGeom prst="flowChartProcess">
              <a:avLst/>
            </a:prstGeom>
            <a:solidFill>
              <a:schemeClr val="accent1"/>
            </a:solidFill>
            <a:ln w="9525">
              <a:solidFill>
                <a:srgbClr val="FF0000"/>
              </a:solidFill>
              <a:miter lim="800000"/>
            </a:ln>
          </p:spPr>
          <p:txBody>
            <a:bodyPr wrap="none" anchor="ctr"/>
            <a:lstStyle/>
            <a:p>
              <a:pPr algn="ctr"/>
              <a:r>
                <a:rPr lang="en-US" altLang="zh-CN" sz="2200" dirty="0"/>
                <a:t>Ex5-c.cpp</a:t>
              </a:r>
            </a:p>
          </p:txBody>
        </p:sp>
      </p:grpSp>
      <p:graphicFrame>
        <p:nvGraphicFramePr>
          <p:cNvPr id="8" name="内容占位符 4"/>
          <p:cNvGraphicFramePr>
            <a:graphicFrameLocks/>
          </p:cNvGraphicFramePr>
          <p:nvPr>
            <p:extLst>
              <p:ext uri="{D42A27DB-BD31-4B8C-83A1-F6EECF244321}">
                <p14:modId xmlns:p14="http://schemas.microsoft.com/office/powerpoint/2010/main" val="2357174492"/>
              </p:ext>
            </p:extLst>
          </p:nvPr>
        </p:nvGraphicFramePr>
        <p:xfrm>
          <a:off x="10488488" y="1970882"/>
          <a:ext cx="1440160" cy="4114800"/>
        </p:xfrm>
        <a:graphic>
          <a:graphicData uri="http://schemas.openxmlformats.org/drawingml/2006/table">
            <a:tbl>
              <a:tblPr firstRow="1" bandRow="1">
                <a:tableStyleId>{5C22544A-7EE6-4342-B048-85BDC9FD1C3A}</a:tableStyleId>
              </a:tblPr>
              <a:tblGrid>
                <a:gridCol w="1440160">
                  <a:extLst>
                    <a:ext uri="{9D8B030D-6E8A-4147-A177-3AD203B41FA5}">
                      <a16:colId xmlns:a16="http://schemas.microsoft.com/office/drawing/2014/main" val="4131693039"/>
                    </a:ext>
                  </a:extLst>
                </a:gridCol>
              </a:tblGrid>
              <a:tr h="370840">
                <a:tc>
                  <a:txBody>
                    <a:bodyPr/>
                    <a:lstStyle/>
                    <a:p>
                      <a:r>
                        <a:rPr lang="en-US" altLang="zh-CN" sz="2400" dirty="0">
                          <a:solidFill>
                            <a:schemeClr val="tx1"/>
                          </a:solidFill>
                        </a:rPr>
                        <a:t>a[0]</a:t>
                      </a:r>
                      <a:r>
                        <a:rPr lang="en-US" altLang="zh-CN" sz="2400" dirty="0">
                          <a:solidFill>
                            <a:srgbClr val="00B050"/>
                          </a:solidFill>
                        </a:rPr>
                        <a:t>[0]</a:t>
                      </a:r>
                      <a:endParaRPr lang="zh-CN" altLang="en-US" sz="240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990859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tx1"/>
                          </a:solidFill>
                        </a:rPr>
                        <a:t>a[0]</a:t>
                      </a:r>
                      <a:r>
                        <a:rPr lang="en-US" altLang="zh-CN" sz="2400" dirty="0">
                          <a:solidFill>
                            <a:srgbClr val="00B050"/>
                          </a:solidFill>
                        </a:rPr>
                        <a:t>[1]</a:t>
                      </a:r>
                      <a:endParaRPr lang="zh-CN" altLang="en-US" sz="240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662583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tx1"/>
                          </a:solidFill>
                        </a:rPr>
                        <a:t>a[0]</a:t>
                      </a:r>
                      <a:r>
                        <a:rPr lang="en-US" altLang="zh-CN" sz="2400" dirty="0">
                          <a:solidFill>
                            <a:srgbClr val="00B050"/>
                          </a:solidFill>
                        </a:rPr>
                        <a:t>[2]</a:t>
                      </a:r>
                      <a:endParaRPr lang="zh-CN" altLang="en-US" sz="240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8972226"/>
                  </a:ext>
                </a:extLst>
              </a:tr>
              <a:tr h="370840">
                <a:tc>
                  <a:txBody>
                    <a:bodyPr/>
                    <a:lstStyle/>
                    <a:p>
                      <a:r>
                        <a:rPr lang="en-US" altLang="zh-CN" sz="2400" dirty="0">
                          <a:solidFill>
                            <a:schemeClr val="tx1"/>
                          </a:solidFill>
                        </a:rPr>
                        <a:t>a[1]</a:t>
                      </a:r>
                      <a:r>
                        <a:rPr lang="en-US" altLang="zh-CN" sz="2400" dirty="0">
                          <a:solidFill>
                            <a:srgbClr val="00B050"/>
                          </a:solidFill>
                        </a:rPr>
                        <a:t>[0]</a:t>
                      </a:r>
                      <a:endParaRPr lang="zh-CN" altLang="en-US" sz="240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9800859"/>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tx1"/>
                          </a:solidFill>
                        </a:rPr>
                        <a:t>a[1]</a:t>
                      </a:r>
                      <a:r>
                        <a:rPr lang="en-US" altLang="zh-CN" sz="2400" dirty="0">
                          <a:solidFill>
                            <a:srgbClr val="00B050"/>
                          </a:solidFill>
                        </a:rPr>
                        <a:t>[1]</a:t>
                      </a:r>
                      <a:endParaRPr lang="zh-CN" altLang="en-US" sz="240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461526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tx1"/>
                          </a:solidFill>
                        </a:rPr>
                        <a:t>a[1]</a:t>
                      </a:r>
                      <a:r>
                        <a:rPr lang="en-US" altLang="zh-CN" sz="2400" dirty="0">
                          <a:solidFill>
                            <a:srgbClr val="00B050"/>
                          </a:solidFill>
                        </a:rPr>
                        <a:t>[2]</a:t>
                      </a:r>
                      <a:endParaRPr lang="zh-CN" altLang="en-US" sz="240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3964449"/>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tx1"/>
                          </a:solidFill>
                        </a:rPr>
                        <a:t>a[2]</a:t>
                      </a:r>
                      <a:r>
                        <a:rPr lang="en-US" altLang="zh-CN" sz="2400" dirty="0">
                          <a:solidFill>
                            <a:srgbClr val="00B050"/>
                          </a:solidFill>
                        </a:rPr>
                        <a:t>[0]</a:t>
                      </a:r>
                      <a:endParaRPr lang="zh-CN" altLang="en-US" sz="240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044934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tx1"/>
                          </a:solidFill>
                        </a:rPr>
                        <a:t>a[2]</a:t>
                      </a:r>
                      <a:r>
                        <a:rPr lang="en-US" altLang="zh-CN" sz="2400" dirty="0">
                          <a:solidFill>
                            <a:srgbClr val="00B050"/>
                          </a:solidFill>
                        </a:rPr>
                        <a:t>[1]</a:t>
                      </a:r>
                      <a:endParaRPr lang="zh-CN" altLang="en-US" sz="240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931964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tx1"/>
                          </a:solidFill>
                        </a:rPr>
                        <a:t>a[2]</a:t>
                      </a:r>
                      <a:r>
                        <a:rPr lang="en-US" altLang="zh-CN" sz="2400" dirty="0">
                          <a:solidFill>
                            <a:srgbClr val="00B050"/>
                          </a:solidFill>
                        </a:rPr>
                        <a:t>[2]</a:t>
                      </a:r>
                      <a:endParaRPr lang="zh-CN" altLang="en-US" sz="2400"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7084979"/>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944"/>
                                        </p:tgtEl>
                                        <p:attrNameLst>
                                          <p:attrName>style.visibility</p:attrName>
                                        </p:attrNameLst>
                                      </p:cBhvr>
                                      <p:to>
                                        <p:strVal val="visible"/>
                                      </p:to>
                                    </p:set>
                                    <p:animEffect transition="in" filter="blinds(horizontal)">
                                      <p:cBhvr>
                                        <p:cTn id="7" dur="500"/>
                                        <p:tgtEl>
                                          <p:spTgt spid="399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39937"/>
          <p:cNvSpPr>
            <a:spLocks noGrp="1" noChangeArrowheads="1"/>
          </p:cNvSpPr>
          <p:nvPr>
            <p:ph type="title"/>
          </p:nvPr>
        </p:nvSpPr>
        <p:spPr/>
        <p:txBody>
          <a:bodyPr/>
          <a:lstStyle/>
          <a:p>
            <a:r>
              <a:rPr lang="en-US" altLang="zh-CN" dirty="0"/>
              <a:t>7.3.3 </a:t>
            </a:r>
            <a:r>
              <a:rPr lang="zh-CN" altLang="en-US" dirty="0"/>
              <a:t>二维数组与指针 </a:t>
            </a:r>
          </a:p>
        </p:txBody>
      </p:sp>
      <p:sp>
        <p:nvSpPr>
          <p:cNvPr id="23555" name="文本占位符 39938"/>
          <p:cNvSpPr>
            <a:spLocks noGrp="1" noChangeArrowheads="1"/>
          </p:cNvSpPr>
          <p:nvPr>
            <p:ph idx="1"/>
          </p:nvPr>
        </p:nvSpPr>
        <p:spPr>
          <a:xfrm>
            <a:off x="767408" y="1543686"/>
            <a:ext cx="6490251" cy="5075221"/>
          </a:xfrm>
        </p:spPr>
        <p:txBody>
          <a:bodyPr>
            <a:normAutofit/>
          </a:bodyPr>
          <a:lstStyle/>
          <a:p>
            <a:pPr marL="0" fontAlgn="t">
              <a:lnSpc>
                <a:spcPct val="150000"/>
              </a:lnSpc>
              <a:spcBef>
                <a:spcPts val="0"/>
              </a:spcBef>
              <a:buNone/>
            </a:pPr>
            <a:r>
              <a:rPr lang="zh-CN" altLang="en-US" dirty="0">
                <a:solidFill>
                  <a:srgbClr val="FF0000"/>
                </a:solidFill>
              </a:rPr>
              <a:t>指针数组与数组指针</a:t>
            </a:r>
            <a:endParaRPr lang="en-US" altLang="zh-CN" dirty="0">
              <a:solidFill>
                <a:srgbClr val="FF0000"/>
              </a:solidFill>
            </a:endParaRPr>
          </a:p>
          <a:p>
            <a:pPr fontAlgn="t">
              <a:lnSpc>
                <a:spcPct val="150000"/>
              </a:lnSpc>
              <a:spcBef>
                <a:spcPts val="0"/>
              </a:spcBef>
            </a:pPr>
            <a:r>
              <a:rPr lang="zh-CN" altLang="en-US" sz="2400" dirty="0"/>
              <a:t>指针数组：是一个数组，数组里的每个元素是一个指针。</a:t>
            </a:r>
            <a:r>
              <a:rPr lang="en-US" altLang="zh-CN" sz="2400" dirty="0"/>
              <a:t> </a:t>
            </a:r>
            <a:r>
              <a:rPr lang="en-US" altLang="zh-CN" sz="2400" dirty="0">
                <a:solidFill>
                  <a:srgbClr val="7030A0"/>
                </a:solidFill>
              </a:rPr>
              <a:t>int *p[n]</a:t>
            </a:r>
          </a:p>
          <a:p>
            <a:pPr fontAlgn="t">
              <a:lnSpc>
                <a:spcPct val="150000"/>
              </a:lnSpc>
              <a:spcBef>
                <a:spcPts val="0"/>
              </a:spcBef>
            </a:pPr>
            <a:endParaRPr lang="en-US" altLang="zh-CN" sz="2400" dirty="0">
              <a:solidFill>
                <a:srgbClr val="7030A0"/>
              </a:solidFill>
            </a:endParaRPr>
          </a:p>
          <a:p>
            <a:pPr fontAlgn="t">
              <a:lnSpc>
                <a:spcPct val="160000"/>
              </a:lnSpc>
              <a:spcBef>
                <a:spcPts val="1200"/>
              </a:spcBef>
            </a:pPr>
            <a:endParaRPr lang="en-US" altLang="zh-CN" sz="2400" dirty="0"/>
          </a:p>
          <a:p>
            <a:pPr fontAlgn="t">
              <a:lnSpc>
                <a:spcPts val="2500"/>
              </a:lnSpc>
              <a:spcBef>
                <a:spcPts val="0"/>
              </a:spcBef>
            </a:pPr>
            <a:r>
              <a:rPr lang="zh-CN" altLang="en-US" sz="2400" dirty="0"/>
              <a:t>数组指针：是一个指针，这个指针指向一个一维数组，即数组的指针。</a:t>
            </a:r>
            <a:endParaRPr lang="en-US" altLang="zh-CN" sz="2400" dirty="0"/>
          </a:p>
          <a:p>
            <a:pPr marL="0" indent="0" fontAlgn="t">
              <a:lnSpc>
                <a:spcPct val="150000"/>
              </a:lnSpc>
              <a:spcBef>
                <a:spcPts val="0"/>
              </a:spcBef>
              <a:buNone/>
            </a:pPr>
            <a:r>
              <a:rPr lang="en-US" altLang="zh-CN" sz="2400" dirty="0">
                <a:solidFill>
                  <a:srgbClr val="7030A0"/>
                </a:solidFill>
              </a:rPr>
              <a:t>                    int (*p)[n]</a:t>
            </a:r>
            <a:endParaRPr lang="zh-CN" altLang="en-US" sz="2400" dirty="0">
              <a:solidFill>
                <a:srgbClr val="7030A0"/>
              </a:solidFill>
            </a:endParaRPr>
          </a:p>
          <a:p>
            <a:pPr>
              <a:lnSpc>
                <a:spcPct val="150000"/>
              </a:lnSpc>
              <a:buFontTx/>
              <a:buNone/>
            </a:pPr>
            <a:endParaRPr lang="zh-CN" altLang="en-US" dirty="0"/>
          </a:p>
        </p:txBody>
      </p:sp>
      <p:sp>
        <p:nvSpPr>
          <p:cNvPr id="23553"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BAB9CF35-4D57-40B7-85FD-BDC45F192985}" type="slidenum">
              <a:rPr lang="zh-CN" altLang="en-US" smtClean="0"/>
              <a:t>23</a:t>
            </a:fld>
            <a:endParaRPr lang="zh-CN" altLang="en-US"/>
          </a:p>
        </p:txBody>
      </p:sp>
      <p:sp>
        <p:nvSpPr>
          <p:cNvPr id="2" name="对话气泡: 椭圆形 1">
            <a:extLst>
              <a:ext uri="{FF2B5EF4-FFF2-40B4-BE49-F238E27FC236}">
                <a16:creationId xmlns:a16="http://schemas.microsoft.com/office/drawing/2014/main" id="{611C5D5C-E841-4A37-9688-A4D57B9C3962}"/>
              </a:ext>
            </a:extLst>
          </p:cNvPr>
          <p:cNvSpPr/>
          <p:nvPr/>
        </p:nvSpPr>
        <p:spPr>
          <a:xfrm>
            <a:off x="4012532" y="5877272"/>
            <a:ext cx="2227484" cy="861735"/>
          </a:xfrm>
          <a:prstGeom prst="wedgeEllipseCallout">
            <a:avLst>
              <a:gd name="adj1" fmla="val -96287"/>
              <a:gd name="adj2" fmla="val -5804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t>注意其优先级，即先看括号</a:t>
            </a:r>
          </a:p>
        </p:txBody>
      </p:sp>
      <p:sp>
        <p:nvSpPr>
          <p:cNvPr id="6" name="文本占位符 56322">
            <a:extLst>
              <a:ext uri="{FF2B5EF4-FFF2-40B4-BE49-F238E27FC236}">
                <a16:creationId xmlns:a16="http://schemas.microsoft.com/office/drawing/2014/main" id="{B9879F54-AF3E-4F4A-993B-D3D75E91FCD8}"/>
              </a:ext>
            </a:extLst>
          </p:cNvPr>
          <p:cNvSpPr txBox="1">
            <a:spLocks noChangeArrowheads="1"/>
          </p:cNvSpPr>
          <p:nvPr/>
        </p:nvSpPr>
        <p:spPr>
          <a:xfrm>
            <a:off x="1130169" y="3302440"/>
            <a:ext cx="4546600" cy="13890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Bef>
                <a:spcPts val="600"/>
              </a:spcBef>
              <a:spcAft>
                <a:spcPts val="0"/>
              </a:spcAft>
              <a:buFontTx/>
              <a:buNone/>
            </a:pPr>
            <a:r>
              <a:rPr lang="zh-CN" altLang="en-US" sz="2400" b="0" dirty="0"/>
              <a:t>例如：</a:t>
            </a:r>
            <a:r>
              <a:rPr lang="en-US" altLang="zh-CN" sz="2400" b="0" dirty="0"/>
              <a:t>int   *</a:t>
            </a:r>
            <a:r>
              <a:rPr lang="en-US" altLang="zh-CN" sz="2400" b="0" dirty="0" err="1"/>
              <a:t>pInt</a:t>
            </a:r>
            <a:r>
              <a:rPr lang="en-US" altLang="zh-CN" sz="2400" b="0" dirty="0"/>
              <a:t>[5]; </a:t>
            </a:r>
          </a:p>
          <a:p>
            <a:pPr fontAlgn="auto">
              <a:spcBef>
                <a:spcPts val="600"/>
              </a:spcBef>
              <a:spcAft>
                <a:spcPts val="0"/>
              </a:spcAft>
              <a:buFontTx/>
              <a:buNone/>
            </a:pPr>
            <a:endParaRPr lang="zh-CN" altLang="en-US" b="0" dirty="0"/>
          </a:p>
        </p:txBody>
      </p:sp>
      <p:grpSp>
        <p:nvGrpSpPr>
          <p:cNvPr id="7" name="组合 6">
            <a:extLst>
              <a:ext uri="{FF2B5EF4-FFF2-40B4-BE49-F238E27FC236}">
                <a16:creationId xmlns:a16="http://schemas.microsoft.com/office/drawing/2014/main" id="{37412D92-F4FE-4FEE-96CA-76E2D03E6B25}"/>
              </a:ext>
            </a:extLst>
          </p:cNvPr>
          <p:cNvGrpSpPr/>
          <p:nvPr/>
        </p:nvGrpSpPr>
        <p:grpSpPr>
          <a:xfrm>
            <a:off x="2565996" y="3065634"/>
            <a:ext cx="4546600" cy="1015663"/>
            <a:chOff x="8608466" y="1710584"/>
            <a:chExt cx="4310047" cy="1015663"/>
          </a:xfrm>
        </p:grpSpPr>
        <p:sp>
          <p:nvSpPr>
            <p:cNvPr id="8" name="文本框 7">
              <a:extLst>
                <a:ext uri="{FF2B5EF4-FFF2-40B4-BE49-F238E27FC236}">
                  <a16:creationId xmlns:a16="http://schemas.microsoft.com/office/drawing/2014/main" id="{C2A49315-368D-41A7-9870-95A0A046141E}"/>
                </a:ext>
              </a:extLst>
            </p:cNvPr>
            <p:cNvSpPr txBox="1"/>
            <p:nvPr/>
          </p:nvSpPr>
          <p:spPr>
            <a:xfrm>
              <a:off x="10574239" y="1710584"/>
              <a:ext cx="2344274" cy="1015663"/>
            </a:xfrm>
            <a:prstGeom prst="rect">
              <a:avLst/>
            </a:prstGeom>
            <a:noFill/>
            <a:ln>
              <a:solidFill>
                <a:schemeClr val="accent1">
                  <a:shade val="50000"/>
                </a:schemeClr>
              </a:solidFill>
            </a:ln>
          </p:spPr>
          <p:txBody>
            <a:bodyPr wrap="square" rtlCol="0">
              <a:spAutoFit/>
            </a:bodyPr>
            <a:lstStyle/>
            <a:p>
              <a:r>
                <a:rPr lang="en-US" altLang="zh-CN" sz="2000" dirty="0">
                  <a:solidFill>
                    <a:srgbClr val="7030A0"/>
                  </a:solidFill>
                </a:rPr>
                <a:t>5</a:t>
              </a:r>
              <a:r>
                <a:rPr lang="zh-CN" altLang="en-US" sz="2000" dirty="0">
                  <a:solidFill>
                    <a:srgbClr val="7030A0"/>
                  </a:solidFill>
                </a:rPr>
                <a:t>个元素的数组，每个元素的数据类型为整型指针</a:t>
              </a:r>
            </a:p>
          </p:txBody>
        </p:sp>
        <p:sp>
          <p:nvSpPr>
            <p:cNvPr id="9" name="椭圆 8">
              <a:extLst>
                <a:ext uri="{FF2B5EF4-FFF2-40B4-BE49-F238E27FC236}">
                  <a16:creationId xmlns:a16="http://schemas.microsoft.com/office/drawing/2014/main" id="{210850B8-4BA2-4D39-B54A-F025B25D3390}"/>
                </a:ext>
              </a:extLst>
            </p:cNvPr>
            <p:cNvSpPr/>
            <p:nvPr/>
          </p:nvSpPr>
          <p:spPr>
            <a:xfrm>
              <a:off x="8608466" y="1897129"/>
              <a:ext cx="1293912" cy="4774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cxnSp>
          <p:nvCxnSpPr>
            <p:cNvPr id="10" name="直接箭头连接符 9">
              <a:extLst>
                <a:ext uri="{FF2B5EF4-FFF2-40B4-BE49-F238E27FC236}">
                  <a16:creationId xmlns:a16="http://schemas.microsoft.com/office/drawing/2014/main" id="{4A02AACE-B591-474A-82CD-34F9093B4B31}"/>
                </a:ext>
              </a:extLst>
            </p:cNvPr>
            <p:cNvCxnSpPr>
              <a:cxnSpLocks/>
              <a:endCxn id="8" idx="1"/>
            </p:cNvCxnSpPr>
            <p:nvPr/>
          </p:nvCxnSpPr>
          <p:spPr>
            <a:xfrm>
              <a:off x="9902378" y="2135837"/>
              <a:ext cx="671861" cy="825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4" name="文本框 13">
            <a:extLst>
              <a:ext uri="{FF2B5EF4-FFF2-40B4-BE49-F238E27FC236}">
                <a16:creationId xmlns:a16="http://schemas.microsoft.com/office/drawing/2014/main" id="{7A8D8AE1-F9ED-4C75-A59B-6845A6A55BC1}"/>
              </a:ext>
            </a:extLst>
          </p:cNvPr>
          <p:cNvSpPr txBox="1">
            <a:spLocks noChangeArrowheads="1"/>
          </p:cNvSpPr>
          <p:nvPr/>
        </p:nvSpPr>
        <p:spPr bwMode="auto">
          <a:xfrm>
            <a:off x="7257659" y="2473477"/>
            <a:ext cx="4825529" cy="3046988"/>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p>
            <a:pPr>
              <a:spcBef>
                <a:spcPct val="50000"/>
              </a:spcBef>
            </a:pPr>
            <a:r>
              <a:rPr lang="zh-CN" altLang="en-US" sz="2000" dirty="0">
                <a:solidFill>
                  <a:srgbClr val="FF0000"/>
                </a:solidFill>
              </a:rPr>
              <a:t>思考如下程序片段的含义：</a:t>
            </a:r>
          </a:p>
          <a:p>
            <a:r>
              <a:rPr lang="en-US" altLang="zh-CN" dirty="0">
                <a:solidFill>
                  <a:schemeClr val="tx1"/>
                </a:solidFill>
              </a:rPr>
              <a:t>int    a[6],   *p[3],   i;</a:t>
            </a:r>
          </a:p>
          <a:p>
            <a:r>
              <a:rPr lang="en-US" altLang="zh-CN" dirty="0">
                <a:solidFill>
                  <a:schemeClr val="tx1"/>
                </a:solidFill>
              </a:rPr>
              <a:t>for(i=0; i &lt; 6; ++i)  		</a:t>
            </a:r>
          </a:p>
          <a:p>
            <a:r>
              <a:rPr lang="en-US" altLang="zh-CN" dirty="0">
                <a:solidFill>
                  <a:schemeClr val="tx1"/>
                </a:solidFill>
              </a:rPr>
              <a:t>	a[i] = i*3;</a:t>
            </a:r>
          </a:p>
          <a:p>
            <a:r>
              <a:rPr lang="en-US" altLang="zh-CN" dirty="0">
                <a:solidFill>
                  <a:schemeClr val="tx1"/>
                </a:solidFill>
              </a:rPr>
              <a:t>for(i=0; i &lt; 3; ++i)		</a:t>
            </a:r>
          </a:p>
          <a:p>
            <a:r>
              <a:rPr lang="en-US" altLang="zh-CN" dirty="0">
                <a:solidFill>
                  <a:schemeClr val="tx1"/>
                </a:solidFill>
              </a:rPr>
              <a:t>	p[i]=&amp;a[i*2];</a:t>
            </a:r>
          </a:p>
          <a:p>
            <a:r>
              <a:rPr lang="en-US" altLang="zh-CN" dirty="0">
                <a:solidFill>
                  <a:schemeClr val="tx1"/>
                </a:solidFill>
              </a:rPr>
              <a:t>for(i=0; i &lt; 3; ++i)		</a:t>
            </a:r>
          </a:p>
          <a:p>
            <a:r>
              <a:rPr lang="en-US" altLang="zh-CN" dirty="0">
                <a:solidFill>
                  <a:schemeClr val="tx1"/>
                </a:solidFill>
              </a:rPr>
              <a:t>	cout &lt;&lt; setw(5) &lt;&lt; *( p[i]+1);</a:t>
            </a:r>
            <a:r>
              <a:rPr lang="zh-CN" altLang="en-US" sz="2000" dirty="0">
                <a:solidFill>
                  <a:schemeClr val="tx1"/>
                </a:solidFill>
              </a:rPr>
              <a:t> </a:t>
            </a:r>
            <a:r>
              <a:rPr lang="en-US" altLang="zh-CN" dirty="0">
                <a:solidFill>
                  <a:schemeClr val="tx1"/>
                </a:solidFill>
              </a:rPr>
              <a:t> </a:t>
            </a:r>
            <a:endParaRPr lang="zh-CN" altLang="en-US" dirty="0">
              <a:solidFill>
                <a:schemeClr val="tx1"/>
              </a:solidFill>
            </a:endParaRPr>
          </a:p>
        </p:txBody>
      </p:sp>
    </p:spTree>
    <p:extLst>
      <p:ext uri="{BB962C8B-B14F-4D97-AF65-F5344CB8AC3E}">
        <p14:creationId xmlns:p14="http://schemas.microsoft.com/office/powerpoint/2010/main" val="1141478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43009"/>
          <p:cNvSpPr>
            <a:spLocks noGrp="1" noChangeArrowheads="1"/>
          </p:cNvSpPr>
          <p:nvPr>
            <p:ph type="title"/>
          </p:nvPr>
        </p:nvSpPr>
        <p:spPr/>
        <p:txBody>
          <a:bodyPr/>
          <a:lstStyle/>
          <a:p>
            <a:r>
              <a:rPr lang="en-US" altLang="zh-CN" dirty="0"/>
              <a:t>7.3.3 </a:t>
            </a:r>
            <a:r>
              <a:rPr lang="zh-CN" altLang="en-US" dirty="0"/>
              <a:t>二维数组与指针 </a:t>
            </a:r>
          </a:p>
        </p:txBody>
      </p:sp>
      <p:sp>
        <p:nvSpPr>
          <p:cNvPr id="24579" name="文本占位符 43010"/>
          <p:cNvSpPr>
            <a:spLocks noGrp="1" noChangeArrowheads="1"/>
          </p:cNvSpPr>
          <p:nvPr>
            <p:ph idx="1"/>
          </p:nvPr>
        </p:nvSpPr>
        <p:spPr>
          <a:xfrm>
            <a:off x="1487488" y="1726190"/>
            <a:ext cx="8362950" cy="4484688"/>
          </a:xfrm>
        </p:spPr>
        <p:txBody>
          <a:bodyPr/>
          <a:lstStyle/>
          <a:p>
            <a:pPr marL="0" indent="0">
              <a:buNone/>
            </a:pPr>
            <a:r>
              <a:rPr lang="fr-FR" altLang="zh-CN" dirty="0">
                <a:solidFill>
                  <a:srgbClr val="FF0000"/>
                </a:solidFill>
              </a:rPr>
              <a:t>3．行指针变量 </a:t>
            </a:r>
            <a:r>
              <a:rPr lang="zh-CN" altLang="en-US" sz="2400" dirty="0"/>
              <a:t> </a:t>
            </a:r>
          </a:p>
          <a:p>
            <a:r>
              <a:rPr lang="zh-CN" altLang="en-US" sz="2400" dirty="0"/>
              <a:t>  一维数组：</a:t>
            </a:r>
            <a:r>
              <a:rPr lang="en-US" altLang="zh-CN" sz="2400" dirty="0"/>
              <a:t>        int  b[10], *pb = b ;</a:t>
            </a:r>
          </a:p>
          <a:p>
            <a:pPr marL="0" indent="0">
              <a:buNone/>
            </a:pPr>
            <a:r>
              <a:rPr lang="en-US" altLang="zh-CN" sz="2400" dirty="0"/>
              <a:t>pb</a:t>
            </a:r>
            <a:r>
              <a:rPr lang="zh-CN" altLang="en-US" sz="2400" dirty="0"/>
              <a:t>与</a:t>
            </a:r>
            <a:r>
              <a:rPr lang="en-US" altLang="zh-CN" sz="2400" dirty="0"/>
              <a:t>b</a:t>
            </a:r>
            <a:r>
              <a:rPr lang="zh-CN" altLang="en-US" sz="2400" dirty="0"/>
              <a:t>、*</a:t>
            </a:r>
            <a:r>
              <a:rPr lang="en-US" altLang="zh-CN" sz="2400" dirty="0"/>
              <a:t>pb</a:t>
            </a:r>
            <a:r>
              <a:rPr lang="zh-CN" altLang="en-US" sz="2400" dirty="0"/>
              <a:t>与*</a:t>
            </a:r>
            <a:r>
              <a:rPr lang="en-US" altLang="zh-CN" sz="2400" dirty="0"/>
              <a:t>b</a:t>
            </a:r>
            <a:r>
              <a:rPr lang="zh-CN" altLang="en-US" sz="2400" dirty="0"/>
              <a:t>、</a:t>
            </a:r>
            <a:r>
              <a:rPr lang="en-US" altLang="zh-CN" sz="2400" dirty="0"/>
              <a:t>pb+1</a:t>
            </a:r>
            <a:r>
              <a:rPr lang="zh-CN" altLang="en-US" sz="2400" dirty="0"/>
              <a:t>与</a:t>
            </a:r>
            <a:r>
              <a:rPr lang="en-US" altLang="zh-CN" sz="2400" dirty="0"/>
              <a:t>b+1</a:t>
            </a:r>
            <a:r>
              <a:rPr lang="zh-CN" altLang="en-US" sz="2400" dirty="0"/>
              <a:t>、*</a:t>
            </a:r>
            <a:r>
              <a:rPr lang="en-US" altLang="zh-CN" sz="2400" dirty="0"/>
              <a:t>( pb+1)</a:t>
            </a:r>
            <a:r>
              <a:rPr lang="zh-CN" altLang="en-US" sz="2400" dirty="0"/>
              <a:t>与*</a:t>
            </a:r>
            <a:r>
              <a:rPr lang="en-US" altLang="zh-CN" sz="2400" dirty="0"/>
              <a:t>(b+1)</a:t>
            </a:r>
            <a:r>
              <a:rPr lang="zh-CN" altLang="en-US" sz="2400" dirty="0"/>
              <a:t>分别等价。</a:t>
            </a:r>
          </a:p>
          <a:p>
            <a:endParaRPr lang="zh-CN" altLang="en-US" sz="2400" dirty="0"/>
          </a:p>
          <a:p>
            <a:r>
              <a:rPr lang="zh-CN" altLang="en-US" sz="2400" dirty="0"/>
              <a:t>   二维数组与行指针变量： </a:t>
            </a:r>
            <a:r>
              <a:rPr lang="en-US" altLang="zh-CN" sz="2400" dirty="0"/>
              <a:t>int a[3][4]</a:t>
            </a:r>
            <a:r>
              <a:rPr lang="zh-CN" altLang="en-US" sz="2400" dirty="0"/>
              <a:t>，</a:t>
            </a:r>
            <a:r>
              <a:rPr lang="en-US" altLang="zh-CN" sz="2400" dirty="0">
                <a:solidFill>
                  <a:srgbClr val="FF0000"/>
                </a:solidFill>
              </a:rPr>
              <a:t>(</a:t>
            </a:r>
            <a:r>
              <a:rPr lang="en-US" altLang="zh-CN" sz="2400" dirty="0"/>
              <a:t>*pa</a:t>
            </a:r>
            <a:r>
              <a:rPr lang="en-US" altLang="zh-CN" sz="2400" dirty="0">
                <a:solidFill>
                  <a:srgbClr val="FF0000"/>
                </a:solidFill>
              </a:rPr>
              <a:t>)</a:t>
            </a:r>
            <a:r>
              <a:rPr lang="en-US" altLang="zh-CN" sz="2400" dirty="0"/>
              <a:t>[4] = a; </a:t>
            </a:r>
          </a:p>
          <a:p>
            <a:pPr>
              <a:buFontTx/>
              <a:buNone/>
            </a:pPr>
            <a:r>
              <a:rPr lang="en-US" altLang="zh-CN" sz="2400" dirty="0"/>
              <a:t>(1) pa</a:t>
            </a:r>
            <a:r>
              <a:rPr lang="zh-CN" altLang="en-US" sz="2400" dirty="0"/>
              <a:t>与</a:t>
            </a:r>
            <a:r>
              <a:rPr lang="en-US" altLang="zh-CN" sz="2400" dirty="0"/>
              <a:t>a</a:t>
            </a:r>
            <a:r>
              <a:rPr lang="zh-CN" altLang="en-US" sz="2400" dirty="0"/>
              <a:t>都是</a:t>
            </a:r>
            <a:r>
              <a:rPr lang="en-US" altLang="zh-CN" sz="2400" dirty="0"/>
              <a:t>a[0]</a:t>
            </a:r>
            <a:r>
              <a:rPr lang="zh-CN" altLang="en-US" sz="2400" dirty="0"/>
              <a:t>行元素的地址； </a:t>
            </a:r>
          </a:p>
          <a:p>
            <a:pPr>
              <a:buFontTx/>
              <a:buNone/>
            </a:pPr>
            <a:r>
              <a:rPr lang="en-US" altLang="zh-CN" sz="2400" dirty="0"/>
              <a:t>(2) *pa</a:t>
            </a:r>
            <a:r>
              <a:rPr lang="zh-CN" altLang="en-US" sz="2400" dirty="0"/>
              <a:t>与*</a:t>
            </a:r>
            <a:r>
              <a:rPr lang="en-US" altLang="zh-CN" sz="2400" dirty="0"/>
              <a:t>a</a:t>
            </a:r>
            <a:r>
              <a:rPr lang="zh-CN" altLang="en-US" sz="2400" dirty="0"/>
              <a:t>都是</a:t>
            </a:r>
            <a:r>
              <a:rPr lang="en-US" altLang="zh-CN" sz="2400" dirty="0"/>
              <a:t>a[0]</a:t>
            </a:r>
            <a:r>
              <a:rPr lang="zh-CN" altLang="en-US" sz="2400" dirty="0"/>
              <a:t>，是</a:t>
            </a:r>
            <a:r>
              <a:rPr lang="en-US" altLang="zh-CN" sz="2400" dirty="0"/>
              <a:t>a[0][0]</a:t>
            </a:r>
            <a:r>
              <a:rPr lang="zh-CN" altLang="en-US" sz="2400" dirty="0"/>
              <a:t>元素的地址；</a:t>
            </a:r>
          </a:p>
          <a:p>
            <a:pPr>
              <a:buFontTx/>
              <a:buNone/>
            </a:pPr>
            <a:r>
              <a:rPr lang="en-US" altLang="zh-CN" sz="2400" dirty="0"/>
              <a:t>(3) pa+1</a:t>
            </a:r>
            <a:r>
              <a:rPr lang="zh-CN" altLang="en-US" sz="2400" dirty="0"/>
              <a:t>与</a:t>
            </a:r>
            <a:r>
              <a:rPr lang="en-US" altLang="zh-CN" sz="2400" dirty="0"/>
              <a:t>a+1</a:t>
            </a:r>
            <a:r>
              <a:rPr lang="zh-CN" altLang="en-US" sz="2400" dirty="0"/>
              <a:t>都是</a:t>
            </a:r>
            <a:r>
              <a:rPr lang="en-US" altLang="zh-CN" sz="2400" dirty="0"/>
              <a:t>a[1]</a:t>
            </a:r>
            <a:r>
              <a:rPr lang="zh-CN" altLang="en-US" sz="2400" dirty="0"/>
              <a:t>行元素的地址；</a:t>
            </a:r>
          </a:p>
          <a:p>
            <a:pPr>
              <a:buFontTx/>
              <a:buNone/>
            </a:pPr>
            <a:r>
              <a:rPr lang="en-US" altLang="zh-CN" sz="2400" dirty="0"/>
              <a:t>(4) *( pa+1)</a:t>
            </a:r>
            <a:r>
              <a:rPr lang="zh-CN" altLang="en-US" sz="2400" dirty="0"/>
              <a:t>与*</a:t>
            </a:r>
            <a:r>
              <a:rPr lang="en-US" altLang="zh-CN" sz="2400" dirty="0"/>
              <a:t>(a+1) </a:t>
            </a:r>
            <a:r>
              <a:rPr lang="zh-CN" altLang="en-US" sz="2400" dirty="0"/>
              <a:t>都是</a:t>
            </a:r>
            <a:r>
              <a:rPr lang="en-US" altLang="zh-CN" sz="2400" dirty="0"/>
              <a:t>a[1]</a:t>
            </a:r>
            <a:r>
              <a:rPr lang="zh-CN" altLang="en-US" sz="2400" dirty="0"/>
              <a:t>，是</a:t>
            </a:r>
            <a:r>
              <a:rPr lang="en-US" altLang="zh-CN" sz="2400" dirty="0"/>
              <a:t>a[1][0]</a:t>
            </a:r>
            <a:r>
              <a:rPr lang="zh-CN" altLang="en-US" sz="2400" dirty="0"/>
              <a:t>元素的地址。 </a:t>
            </a:r>
          </a:p>
        </p:txBody>
      </p:sp>
      <p:sp>
        <p:nvSpPr>
          <p:cNvPr id="24577"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B62AB245-9A3C-4779-A665-3E98EE15704A}" type="slidenum">
              <a:rPr lang="zh-CN" altLang="en-US" smtClean="0"/>
              <a:t>24</a:t>
            </a:fld>
            <a:endParaRPr lang="zh-CN" altLang="en-US"/>
          </a:p>
        </p:txBody>
      </p:sp>
      <p:grpSp>
        <p:nvGrpSpPr>
          <p:cNvPr id="5" name="组合 4"/>
          <p:cNvGrpSpPr/>
          <p:nvPr/>
        </p:nvGrpSpPr>
        <p:grpSpPr>
          <a:xfrm>
            <a:off x="8610600" y="3140968"/>
            <a:ext cx="3184054" cy="1200329"/>
            <a:chOff x="8610600" y="3140968"/>
            <a:chExt cx="3184054" cy="1200329"/>
          </a:xfrm>
        </p:grpSpPr>
        <p:sp>
          <p:nvSpPr>
            <p:cNvPr id="2" name="文本框 1"/>
            <p:cNvSpPr txBox="1"/>
            <p:nvPr/>
          </p:nvSpPr>
          <p:spPr>
            <a:xfrm>
              <a:off x="9264352" y="3140968"/>
              <a:ext cx="2530302" cy="1200329"/>
            </a:xfrm>
            <a:prstGeom prst="rect">
              <a:avLst/>
            </a:prstGeom>
            <a:noFill/>
          </p:spPr>
          <p:txBody>
            <a:bodyPr wrap="square" rtlCol="0">
              <a:spAutoFit/>
            </a:bodyPr>
            <a:lstStyle/>
            <a:p>
              <a:r>
                <a:rPr lang="zh-CN" altLang="en-US" dirty="0">
                  <a:solidFill>
                    <a:srgbClr val="FF0000"/>
                  </a:solidFill>
                </a:rPr>
                <a:t>数组</a:t>
              </a:r>
              <a:r>
                <a:rPr lang="zh-CN" altLang="en-US" i="1" dirty="0">
                  <a:solidFill>
                    <a:srgbClr val="FF0000"/>
                  </a:solidFill>
                </a:rPr>
                <a:t>指针</a:t>
              </a:r>
              <a:r>
                <a:rPr lang="zh-CN" altLang="en-US" dirty="0">
                  <a:solidFill>
                    <a:srgbClr val="FF0000"/>
                  </a:solidFill>
                </a:rPr>
                <a:t>：指向一个数组，每个数组有</a:t>
              </a:r>
              <a:r>
                <a:rPr lang="en-US" altLang="zh-CN" dirty="0">
                  <a:solidFill>
                    <a:srgbClr val="FF0000"/>
                  </a:solidFill>
                </a:rPr>
                <a:t>4</a:t>
              </a:r>
              <a:r>
                <a:rPr lang="zh-CN" altLang="en-US" dirty="0">
                  <a:solidFill>
                    <a:srgbClr val="FF0000"/>
                  </a:solidFill>
                </a:rPr>
                <a:t>个元素</a:t>
              </a:r>
            </a:p>
          </p:txBody>
        </p:sp>
        <p:cxnSp>
          <p:nvCxnSpPr>
            <p:cNvPr id="4" name="直接箭头连接符 3"/>
            <p:cNvCxnSpPr/>
            <p:nvPr/>
          </p:nvCxnSpPr>
          <p:spPr>
            <a:xfrm flipH="1">
              <a:off x="8610600" y="3573016"/>
              <a:ext cx="581744" cy="14401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428358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标题 44034"/>
          <p:cNvSpPr>
            <a:spLocks noGrp="1" noChangeArrowheads="1"/>
          </p:cNvSpPr>
          <p:nvPr>
            <p:ph type="title"/>
          </p:nvPr>
        </p:nvSpPr>
        <p:spPr/>
        <p:txBody>
          <a:bodyPr/>
          <a:lstStyle/>
          <a:p>
            <a:r>
              <a:rPr lang="en-US" altLang="zh-CN" dirty="0"/>
              <a:t>7.3.3 </a:t>
            </a:r>
            <a:r>
              <a:rPr lang="zh-CN" altLang="en-US" dirty="0"/>
              <a:t>二维数组与指针 </a:t>
            </a:r>
          </a:p>
        </p:txBody>
      </p:sp>
      <p:sp>
        <p:nvSpPr>
          <p:cNvPr id="25601"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E1DC9D5A-3EE0-46FD-B32C-5DFC7C7DC05A}" type="slidenum">
              <a:rPr lang="zh-CN" altLang="en-US" smtClean="0"/>
              <a:t>25</a:t>
            </a:fld>
            <a:endParaRPr lang="zh-CN" altLang="en-US"/>
          </a:p>
        </p:txBody>
      </p:sp>
      <p:sp>
        <p:nvSpPr>
          <p:cNvPr id="25602" name="文本框 44033"/>
          <p:cNvSpPr txBox="1">
            <a:spLocks noChangeArrowheads="1"/>
          </p:cNvSpPr>
          <p:nvPr/>
        </p:nvSpPr>
        <p:spPr bwMode="auto">
          <a:xfrm>
            <a:off x="2495550" y="1730375"/>
            <a:ext cx="7848600" cy="477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600" dirty="0">
                <a:solidFill>
                  <a:schemeClr val="tx1"/>
                </a:solidFill>
              </a:rPr>
              <a:t>【</a:t>
            </a:r>
            <a:r>
              <a:rPr lang="zh-CN" altLang="en-US" sz="2600" dirty="0">
                <a:solidFill>
                  <a:schemeClr val="tx1"/>
                </a:solidFill>
              </a:rPr>
              <a:t>例</a:t>
            </a:r>
            <a:r>
              <a:rPr lang="en-US" altLang="zh-CN" sz="2600" dirty="0">
                <a:solidFill>
                  <a:schemeClr val="tx1"/>
                </a:solidFill>
              </a:rPr>
              <a:t>7.2】</a:t>
            </a:r>
            <a:r>
              <a:rPr lang="zh-CN" altLang="en-US" sz="2600" dirty="0">
                <a:solidFill>
                  <a:schemeClr val="tx1"/>
                </a:solidFill>
              </a:rPr>
              <a:t>输出二维数组的地址。</a:t>
            </a:r>
          </a:p>
          <a:p>
            <a:endParaRPr lang="zh-CN" altLang="en-US" sz="2600" dirty="0">
              <a:solidFill>
                <a:schemeClr val="tx1"/>
              </a:solidFill>
            </a:endParaRPr>
          </a:p>
          <a:p>
            <a:r>
              <a:rPr lang="fr-FR" altLang="zh-CN" sz="2600" dirty="0">
                <a:solidFill>
                  <a:schemeClr val="tx1"/>
                </a:solidFill>
              </a:rPr>
              <a:t>int  a[3][4]={{1,2,3,4},{5,6,7,8},{9,10,11,12} };</a:t>
            </a:r>
          </a:p>
          <a:p>
            <a:endParaRPr lang="fr-FR" altLang="zh-CN" sz="2600" dirty="0">
              <a:solidFill>
                <a:schemeClr val="tx1"/>
              </a:solidFill>
            </a:endParaRPr>
          </a:p>
          <a:p>
            <a:pPr>
              <a:lnSpc>
                <a:spcPct val="130000"/>
              </a:lnSpc>
            </a:pPr>
            <a:r>
              <a:rPr lang="fr-FR" altLang="zh-CN" sz="2600" dirty="0">
                <a:solidFill>
                  <a:schemeClr val="tx1"/>
                </a:solidFill>
              </a:rPr>
              <a:t>cout &lt;&lt;a&lt;&lt;"\t"&lt;&lt;a[0]&lt;&lt;"\t" </a:t>
            </a:r>
          </a:p>
          <a:p>
            <a:pPr>
              <a:lnSpc>
                <a:spcPct val="130000"/>
              </a:lnSpc>
            </a:pPr>
            <a:r>
              <a:rPr lang="fr-FR" altLang="zh-CN" sz="2600" dirty="0">
                <a:solidFill>
                  <a:schemeClr val="tx1"/>
                </a:solidFill>
              </a:rPr>
              <a:t>        &lt;&lt;*(a+0 )&lt;&lt;"\t"&lt;&lt;&amp;a&lt;&lt;endl;</a:t>
            </a:r>
          </a:p>
          <a:p>
            <a:pPr>
              <a:lnSpc>
                <a:spcPct val="130000"/>
              </a:lnSpc>
            </a:pPr>
            <a:r>
              <a:rPr lang="fr-FR" altLang="zh-CN" sz="2600" dirty="0">
                <a:solidFill>
                  <a:schemeClr val="tx1"/>
                </a:solidFill>
              </a:rPr>
              <a:t>cout &lt;&lt;a+1&lt;&lt;"\t"&lt;&lt;a[1]&lt;&lt;"\t" </a:t>
            </a:r>
          </a:p>
          <a:p>
            <a:pPr>
              <a:lnSpc>
                <a:spcPct val="130000"/>
              </a:lnSpc>
            </a:pPr>
            <a:r>
              <a:rPr lang="fr-FR" altLang="zh-CN" sz="2600" dirty="0">
                <a:solidFill>
                  <a:schemeClr val="tx1"/>
                </a:solidFill>
              </a:rPr>
              <a:t>        &lt;&lt;*(a+1)&lt;&lt;"\t"&lt;&lt;&amp;a[1]&lt;&lt;endl;</a:t>
            </a:r>
          </a:p>
          <a:p>
            <a:pPr>
              <a:lnSpc>
                <a:spcPct val="130000"/>
              </a:lnSpc>
            </a:pPr>
            <a:r>
              <a:rPr lang="fr-FR" altLang="zh-CN" sz="2600" dirty="0">
                <a:solidFill>
                  <a:schemeClr val="tx1"/>
                </a:solidFill>
              </a:rPr>
              <a:t>cout &lt;&lt;a[1]+2&lt;&lt;"\t"&lt;&lt;*(a+1)+2&lt;&lt;"\t" </a:t>
            </a:r>
          </a:p>
          <a:p>
            <a:pPr>
              <a:lnSpc>
                <a:spcPct val="130000"/>
              </a:lnSpc>
            </a:pPr>
            <a:r>
              <a:rPr lang="fr-FR" altLang="zh-CN" sz="2600" dirty="0">
                <a:solidFill>
                  <a:schemeClr val="tx1"/>
                </a:solidFill>
              </a:rPr>
              <a:t>        &lt;&lt;&amp;a[1][2]&lt;&lt;"\t"&lt;&lt;endl;</a:t>
            </a:r>
          </a:p>
        </p:txBody>
      </p:sp>
      <p:sp>
        <p:nvSpPr>
          <p:cNvPr id="25604" name="流程图: 过程 44035"/>
          <p:cNvSpPr>
            <a:spLocks noChangeArrowheads="1"/>
          </p:cNvSpPr>
          <p:nvPr/>
        </p:nvSpPr>
        <p:spPr bwMode="auto">
          <a:xfrm>
            <a:off x="8832851" y="5734050"/>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t>5-2.cpp</a:t>
            </a:r>
          </a:p>
        </p:txBody>
      </p:sp>
    </p:spTree>
    <p:extLst>
      <p:ext uri="{BB962C8B-B14F-4D97-AF65-F5344CB8AC3E}">
        <p14:creationId xmlns:p14="http://schemas.microsoft.com/office/powerpoint/2010/main" val="30836630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1EB1119-B1EA-482F-8756-A2F14CA520E4}" type="slidenum">
              <a:rPr lang="zh-CN" altLang="en-US" smtClean="0"/>
              <a:t>26</a:t>
            </a:fld>
            <a:endParaRPr lang="zh-CN" altLang="en-US"/>
          </a:p>
        </p:txBody>
      </p:sp>
      <p:sp>
        <p:nvSpPr>
          <p:cNvPr id="6" name="标题 38913"/>
          <p:cNvSpPr txBox="1">
            <a:spLocks noChangeArrowheads="1"/>
          </p:cNvSpPr>
          <p:nvPr/>
        </p:nvSpPr>
        <p:spPr>
          <a:xfrm>
            <a:off x="1457275" y="39285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b="0" dirty="0"/>
              <a:t>7.3.3 </a:t>
            </a:r>
            <a:r>
              <a:rPr lang="zh-CN" altLang="en-US" b="0" dirty="0"/>
              <a:t>二维数组与指针 </a:t>
            </a:r>
          </a:p>
        </p:txBody>
      </p:sp>
      <p:sp>
        <p:nvSpPr>
          <p:cNvPr id="2" name="矩形 1">
            <a:extLst>
              <a:ext uri="{FF2B5EF4-FFF2-40B4-BE49-F238E27FC236}">
                <a16:creationId xmlns:a16="http://schemas.microsoft.com/office/drawing/2014/main" id="{B5240E86-E7C2-429E-9F5E-AE16396B7D4A}"/>
              </a:ext>
            </a:extLst>
          </p:cNvPr>
          <p:cNvSpPr/>
          <p:nvPr/>
        </p:nvSpPr>
        <p:spPr>
          <a:xfrm>
            <a:off x="469804" y="1379810"/>
            <a:ext cx="5905784" cy="2400657"/>
          </a:xfrm>
          <a:prstGeom prst="rect">
            <a:avLst/>
          </a:prstGeom>
        </p:spPr>
        <p:txBody>
          <a:bodyPr wrap="none">
            <a:spAutoFit/>
          </a:bodyPr>
          <a:lstStyle/>
          <a:p>
            <a:pPr marL="342900" indent="-342900">
              <a:lnSpc>
                <a:spcPct val="150000"/>
              </a:lnSpc>
              <a:spcBef>
                <a:spcPts val="0"/>
              </a:spcBef>
              <a:buFont typeface="Arial" panose="020B0604020202020204" pitchFamily="34" charset="0"/>
              <a:buChar char="•"/>
            </a:pPr>
            <a:r>
              <a:rPr lang="zh-CN" altLang="en-US" sz="2800" b="0" dirty="0">
                <a:solidFill>
                  <a:schemeClr val="tx1"/>
                </a:solidFill>
                <a:latin typeface="Arial" panose="020B0604020202020204" pitchFamily="34" charset="0"/>
              </a:rPr>
              <a:t>通过指针访问二维数组</a:t>
            </a:r>
            <a:r>
              <a:rPr lang="en-US" altLang="zh-CN" sz="2800" b="0" dirty="0">
                <a:solidFill>
                  <a:schemeClr val="tx1"/>
                </a:solidFill>
                <a:latin typeface="Arial" panose="020B0604020202020204" pitchFamily="34" charset="0"/>
              </a:rPr>
              <a:t>:</a:t>
            </a:r>
          </a:p>
          <a:p>
            <a:pPr marL="457200" indent="-457200">
              <a:lnSpc>
                <a:spcPct val="150000"/>
              </a:lnSpc>
              <a:spcBef>
                <a:spcPts val="0"/>
              </a:spcBef>
              <a:buFont typeface="+mj-ea"/>
              <a:buAutoNum type="circleNumDbPlain"/>
            </a:pPr>
            <a:r>
              <a:rPr lang="zh-CN" altLang="en-US" dirty="0">
                <a:solidFill>
                  <a:srgbClr val="00B050"/>
                </a:solidFill>
              </a:rPr>
              <a:t>将二维数组当作一维数组来访问</a:t>
            </a:r>
            <a:endParaRPr lang="en-US" altLang="zh-CN" dirty="0">
              <a:solidFill>
                <a:srgbClr val="00B050"/>
              </a:solidFill>
            </a:endParaRPr>
          </a:p>
          <a:p>
            <a:pPr marL="457200" indent="-457200">
              <a:lnSpc>
                <a:spcPct val="150000"/>
              </a:lnSpc>
              <a:spcBef>
                <a:spcPts val="0"/>
              </a:spcBef>
              <a:buFont typeface="+mj-ea"/>
              <a:buAutoNum type="circleNumDbPlain"/>
            </a:pPr>
            <a:r>
              <a:rPr lang="zh-CN" altLang="en-US" dirty="0">
                <a:solidFill>
                  <a:srgbClr val="7030A0"/>
                </a:solidFill>
              </a:rPr>
              <a:t>通过</a:t>
            </a:r>
            <a:r>
              <a:rPr lang="zh-CN" altLang="en-US" i="1" dirty="0">
                <a:solidFill>
                  <a:srgbClr val="7030A0"/>
                </a:solidFill>
              </a:rPr>
              <a:t>数组指针</a:t>
            </a:r>
            <a:r>
              <a:rPr lang="zh-CN" altLang="en-US" dirty="0">
                <a:solidFill>
                  <a:srgbClr val="7030A0"/>
                </a:solidFill>
              </a:rPr>
              <a:t>来访问</a:t>
            </a:r>
            <a:endParaRPr lang="en-US" altLang="zh-CN" dirty="0">
              <a:solidFill>
                <a:srgbClr val="7030A0"/>
              </a:solidFill>
            </a:endParaRPr>
          </a:p>
          <a:p>
            <a:pPr marL="457200" indent="-457200">
              <a:lnSpc>
                <a:spcPct val="150000"/>
              </a:lnSpc>
              <a:spcBef>
                <a:spcPts val="0"/>
              </a:spcBef>
              <a:buFont typeface="+mj-ea"/>
              <a:buAutoNum type="circleNumDbPlain"/>
            </a:pPr>
            <a:r>
              <a:rPr lang="zh-CN" altLang="en-US" dirty="0">
                <a:solidFill>
                  <a:srgbClr val="002060"/>
                </a:solidFill>
              </a:rPr>
              <a:t>通过</a:t>
            </a:r>
            <a:r>
              <a:rPr lang="zh-CN" altLang="en-US" i="1" dirty="0">
                <a:solidFill>
                  <a:srgbClr val="002060"/>
                </a:solidFill>
              </a:rPr>
              <a:t>指针数组</a:t>
            </a:r>
            <a:r>
              <a:rPr lang="zh-CN" altLang="en-US" dirty="0">
                <a:solidFill>
                  <a:srgbClr val="002060"/>
                </a:solidFill>
              </a:rPr>
              <a:t>和</a:t>
            </a:r>
            <a:r>
              <a:rPr lang="zh-CN" altLang="en-US" dirty="0">
                <a:solidFill>
                  <a:srgbClr val="FFC000"/>
                </a:solidFill>
              </a:rPr>
              <a:t>指向指针的指针</a:t>
            </a:r>
            <a:r>
              <a:rPr lang="zh-CN" altLang="en-US" dirty="0">
                <a:solidFill>
                  <a:srgbClr val="002060"/>
                </a:solidFill>
              </a:rPr>
              <a:t>来访问</a:t>
            </a:r>
          </a:p>
        </p:txBody>
      </p:sp>
      <p:grpSp>
        <p:nvGrpSpPr>
          <p:cNvPr id="18" name="组合 17">
            <a:extLst>
              <a:ext uri="{FF2B5EF4-FFF2-40B4-BE49-F238E27FC236}">
                <a16:creationId xmlns:a16="http://schemas.microsoft.com/office/drawing/2014/main" id="{B38DDD54-1C76-4E0D-9139-866BD96AEA2A}"/>
              </a:ext>
            </a:extLst>
          </p:cNvPr>
          <p:cNvGrpSpPr/>
          <p:nvPr/>
        </p:nvGrpSpPr>
        <p:grpSpPr>
          <a:xfrm>
            <a:off x="6768660" y="1629033"/>
            <a:ext cx="5328592" cy="2308324"/>
            <a:chOff x="6768660" y="1629033"/>
            <a:chExt cx="5328592" cy="2308324"/>
          </a:xfrm>
        </p:grpSpPr>
        <p:sp>
          <p:nvSpPr>
            <p:cNvPr id="3" name="矩形 2">
              <a:extLst>
                <a:ext uri="{FF2B5EF4-FFF2-40B4-BE49-F238E27FC236}">
                  <a16:creationId xmlns:a16="http://schemas.microsoft.com/office/drawing/2014/main" id="{A851E8F7-D4DF-4906-BEE3-3806F7C38F2B}"/>
                </a:ext>
              </a:extLst>
            </p:cNvPr>
            <p:cNvSpPr/>
            <p:nvPr/>
          </p:nvSpPr>
          <p:spPr>
            <a:xfrm>
              <a:off x="6768660" y="1629033"/>
              <a:ext cx="5328592" cy="2308324"/>
            </a:xfrm>
            <a:prstGeom prst="rect">
              <a:avLst/>
            </a:prstGeom>
            <a:ln w="19050">
              <a:solidFill>
                <a:srgbClr val="00B050"/>
              </a:solidFill>
            </a:ln>
          </p:spPr>
          <p:txBody>
            <a:bodyPr wrap="square">
              <a:spAutoFit/>
            </a:bodyPr>
            <a:lstStyle/>
            <a:p>
              <a:r>
                <a:rPr lang="zh-CN" altLang="en-US" dirty="0">
                  <a:solidFill>
                    <a:schemeClr val="tx1"/>
                  </a:solidFill>
                </a:rPr>
                <a:t>int *p;</a:t>
              </a:r>
            </a:p>
            <a:p>
              <a:r>
                <a:rPr lang="zh-CN" altLang="en-US" dirty="0">
                  <a:solidFill>
                    <a:schemeClr val="tx1"/>
                  </a:solidFill>
                </a:rPr>
                <a:t>p = &amp;a[0][0]; // 或者 p = a[0];</a:t>
              </a:r>
            </a:p>
            <a:p>
              <a:r>
                <a:rPr lang="zh-CN" altLang="en-US" dirty="0">
                  <a:solidFill>
                    <a:schemeClr val="tx1"/>
                  </a:solidFill>
                </a:rPr>
                <a:t>for (int i = 0; i &lt; 3 * 4; i++) {</a:t>
              </a:r>
            </a:p>
            <a:p>
              <a:r>
                <a:rPr lang="zh-CN" altLang="en-US" dirty="0">
                  <a:solidFill>
                    <a:schemeClr val="tx1"/>
                  </a:solidFill>
                </a:rPr>
                <a:t>	cout &lt;&lt; *(p + i) &lt;&lt; " " &lt;&lt; endl;</a:t>
              </a:r>
              <a:endParaRPr lang="en-US" altLang="zh-CN" dirty="0">
                <a:solidFill>
                  <a:schemeClr val="tx1"/>
                </a:solidFill>
              </a:endParaRPr>
            </a:p>
            <a:p>
              <a:endParaRPr lang="en-US" altLang="zh-CN" dirty="0">
                <a:solidFill>
                  <a:schemeClr val="tx1"/>
                </a:solidFill>
              </a:endParaRPr>
            </a:p>
            <a:p>
              <a:r>
                <a:rPr lang="zh-CN" altLang="en-US" dirty="0">
                  <a:solidFill>
                    <a:schemeClr val="tx1"/>
                  </a:solidFill>
                </a:rPr>
                <a:t>}</a:t>
              </a:r>
            </a:p>
          </p:txBody>
        </p:sp>
        <p:sp>
          <p:nvSpPr>
            <p:cNvPr id="25" name="流程图: 过程 32772">
              <a:extLst>
                <a:ext uri="{FF2B5EF4-FFF2-40B4-BE49-F238E27FC236}">
                  <a16:creationId xmlns:a16="http://schemas.microsoft.com/office/drawing/2014/main" id="{B13616D8-9191-4092-80E9-FADA62854FD7}"/>
                </a:ext>
              </a:extLst>
            </p:cNvPr>
            <p:cNvSpPr>
              <a:spLocks noChangeArrowheads="1"/>
            </p:cNvSpPr>
            <p:nvPr/>
          </p:nvSpPr>
          <p:spPr bwMode="auto">
            <a:xfrm>
              <a:off x="10416480" y="3441863"/>
              <a:ext cx="1296144" cy="374002"/>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t>visit1.cpp</a:t>
              </a:r>
            </a:p>
          </p:txBody>
        </p:sp>
      </p:grpSp>
      <p:grpSp>
        <p:nvGrpSpPr>
          <p:cNvPr id="28" name="组合 27">
            <a:extLst>
              <a:ext uri="{FF2B5EF4-FFF2-40B4-BE49-F238E27FC236}">
                <a16:creationId xmlns:a16="http://schemas.microsoft.com/office/drawing/2014/main" id="{FCA1FBC8-EBE1-4A91-8A2F-186FCA729781}"/>
              </a:ext>
            </a:extLst>
          </p:cNvPr>
          <p:cNvGrpSpPr/>
          <p:nvPr/>
        </p:nvGrpSpPr>
        <p:grpSpPr>
          <a:xfrm>
            <a:off x="6828938" y="4000996"/>
            <a:ext cx="5328592" cy="2677656"/>
            <a:chOff x="6828938" y="4000996"/>
            <a:chExt cx="5328592" cy="2677656"/>
          </a:xfrm>
        </p:grpSpPr>
        <p:sp>
          <p:nvSpPr>
            <p:cNvPr id="8" name="矩形 7">
              <a:extLst>
                <a:ext uri="{FF2B5EF4-FFF2-40B4-BE49-F238E27FC236}">
                  <a16:creationId xmlns:a16="http://schemas.microsoft.com/office/drawing/2014/main" id="{30ECD1C5-4B2C-4590-93B3-78BF9AE555F1}"/>
                </a:ext>
              </a:extLst>
            </p:cNvPr>
            <p:cNvSpPr/>
            <p:nvPr/>
          </p:nvSpPr>
          <p:spPr>
            <a:xfrm>
              <a:off x="6828938" y="4000996"/>
              <a:ext cx="5328592" cy="2677656"/>
            </a:xfrm>
            <a:prstGeom prst="rect">
              <a:avLst/>
            </a:prstGeom>
            <a:ln w="19050">
              <a:solidFill>
                <a:srgbClr val="7030A0"/>
              </a:solidFill>
            </a:ln>
          </p:spPr>
          <p:txBody>
            <a:bodyPr wrap="square">
              <a:spAutoFit/>
            </a:bodyPr>
            <a:lstStyle/>
            <a:p>
              <a:r>
                <a:rPr lang="zh-CN" altLang="en-US" dirty="0">
                  <a:solidFill>
                    <a:schemeClr val="tx1"/>
                  </a:solidFill>
                </a:rPr>
                <a:t>int (*pr)[4]; // 数组指针</a:t>
              </a:r>
            </a:p>
            <a:p>
              <a:r>
                <a:rPr lang="zh-CN" altLang="en-US" dirty="0">
                  <a:solidFill>
                    <a:schemeClr val="tx1"/>
                  </a:solidFill>
                </a:rPr>
                <a:t>pr = a;</a:t>
              </a:r>
            </a:p>
            <a:p>
              <a:r>
                <a:rPr lang="zh-CN" altLang="en-US" dirty="0">
                  <a:solidFill>
                    <a:schemeClr val="tx1"/>
                  </a:solidFill>
                </a:rPr>
                <a:t>for (int i = 0; i &lt; 3; i++) {</a:t>
              </a:r>
            </a:p>
            <a:p>
              <a:r>
                <a:rPr lang="zh-CN" altLang="en-US" dirty="0">
                  <a:solidFill>
                    <a:schemeClr val="tx1"/>
                  </a:solidFill>
                </a:rPr>
                <a:t>     for (int j = 0; j &lt; 4; j++) {</a:t>
              </a:r>
            </a:p>
            <a:p>
              <a:r>
                <a:rPr lang="zh-CN" altLang="en-US" dirty="0">
                  <a:solidFill>
                    <a:schemeClr val="tx1"/>
                  </a:solidFill>
                </a:rPr>
                <a:t>	cout &lt;&lt; *(*(pr + i) + j) &lt;&lt; " " ;}</a:t>
              </a:r>
            </a:p>
            <a:p>
              <a:r>
                <a:rPr lang="zh-CN" altLang="en-US" dirty="0">
                  <a:solidFill>
                    <a:schemeClr val="tx1"/>
                  </a:solidFill>
                </a:rPr>
                <a:t>	}</a:t>
              </a:r>
              <a:endParaRPr lang="en-US" altLang="zh-CN" dirty="0">
                <a:solidFill>
                  <a:schemeClr val="tx1"/>
                </a:solidFill>
              </a:endParaRPr>
            </a:p>
            <a:p>
              <a:endParaRPr lang="zh-CN" altLang="en-US" dirty="0">
                <a:solidFill>
                  <a:schemeClr val="tx1"/>
                </a:solidFill>
              </a:endParaRPr>
            </a:p>
          </p:txBody>
        </p:sp>
        <p:sp>
          <p:nvSpPr>
            <p:cNvPr id="26" name="流程图: 过程 32772">
              <a:extLst>
                <a:ext uri="{FF2B5EF4-FFF2-40B4-BE49-F238E27FC236}">
                  <a16:creationId xmlns:a16="http://schemas.microsoft.com/office/drawing/2014/main" id="{C17F40D7-4A50-48AD-B11A-79721BFA046C}"/>
                </a:ext>
              </a:extLst>
            </p:cNvPr>
            <p:cNvSpPr>
              <a:spLocks noChangeArrowheads="1"/>
            </p:cNvSpPr>
            <p:nvPr/>
          </p:nvSpPr>
          <p:spPr bwMode="auto">
            <a:xfrm>
              <a:off x="10416480" y="6095783"/>
              <a:ext cx="1355294" cy="393856"/>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t>visit2.cpp</a:t>
              </a:r>
            </a:p>
          </p:txBody>
        </p:sp>
      </p:grpSp>
      <p:grpSp>
        <p:nvGrpSpPr>
          <p:cNvPr id="29" name="组合 28">
            <a:extLst>
              <a:ext uri="{FF2B5EF4-FFF2-40B4-BE49-F238E27FC236}">
                <a16:creationId xmlns:a16="http://schemas.microsoft.com/office/drawing/2014/main" id="{2CE62140-ED96-4FC1-B1FC-995C81AA9603}"/>
              </a:ext>
            </a:extLst>
          </p:cNvPr>
          <p:cNvGrpSpPr/>
          <p:nvPr/>
        </p:nvGrpSpPr>
        <p:grpSpPr>
          <a:xfrm>
            <a:off x="597628" y="3879310"/>
            <a:ext cx="5650135" cy="2921028"/>
            <a:chOff x="944150" y="3882711"/>
            <a:chExt cx="5650135" cy="3046988"/>
          </a:xfrm>
        </p:grpSpPr>
        <p:sp>
          <p:nvSpPr>
            <p:cNvPr id="12" name="矩形 11">
              <a:extLst>
                <a:ext uri="{FF2B5EF4-FFF2-40B4-BE49-F238E27FC236}">
                  <a16:creationId xmlns:a16="http://schemas.microsoft.com/office/drawing/2014/main" id="{252B75B8-B72F-4847-A25B-0B52488CD5E9}"/>
                </a:ext>
              </a:extLst>
            </p:cNvPr>
            <p:cNvSpPr/>
            <p:nvPr/>
          </p:nvSpPr>
          <p:spPr>
            <a:xfrm>
              <a:off x="944150" y="3882711"/>
              <a:ext cx="5650135" cy="3046988"/>
            </a:xfrm>
            <a:prstGeom prst="rect">
              <a:avLst/>
            </a:prstGeom>
            <a:ln w="22225">
              <a:solidFill>
                <a:srgbClr val="002060"/>
              </a:solidFill>
            </a:ln>
          </p:spPr>
          <p:txBody>
            <a:bodyPr wrap="square">
              <a:spAutoFit/>
            </a:bodyPr>
            <a:lstStyle/>
            <a:p>
              <a:r>
                <a:rPr lang="zh-CN" altLang="en-US" dirty="0">
                  <a:solidFill>
                    <a:schemeClr val="tx1"/>
                  </a:solidFill>
                </a:rPr>
                <a:t>int *ptt[3];</a:t>
              </a:r>
            </a:p>
            <a:p>
              <a:r>
                <a:rPr lang="zh-CN" altLang="en-US" dirty="0">
                  <a:solidFill>
                    <a:schemeClr val="tx1"/>
                  </a:solidFill>
                </a:rPr>
                <a:t>for (int i = 0; i &lt; 3; i++) {</a:t>
              </a:r>
            </a:p>
            <a:p>
              <a:r>
                <a:rPr lang="zh-CN" altLang="en-US" dirty="0">
                  <a:solidFill>
                    <a:schemeClr val="tx1"/>
                  </a:solidFill>
                </a:rPr>
                <a:t>     ptt[i] = a[i];}</a:t>
              </a:r>
            </a:p>
            <a:p>
              <a:r>
                <a:rPr lang="zh-CN" altLang="en-US" dirty="0">
                  <a:solidFill>
                    <a:schemeClr val="tx1"/>
                  </a:solidFill>
                </a:rPr>
                <a:t>for (int i = 0; i &lt; 3; i++) {</a:t>
              </a:r>
            </a:p>
            <a:p>
              <a:r>
                <a:rPr lang="zh-CN" altLang="en-US" dirty="0">
                  <a:solidFill>
                    <a:schemeClr val="tx1"/>
                  </a:solidFill>
                </a:rPr>
                <a:t>     for (int j = 0; j &lt; 4; j++) {</a:t>
              </a:r>
            </a:p>
            <a:p>
              <a:r>
                <a:rPr lang="zh-CN" altLang="en-US" dirty="0">
                  <a:solidFill>
                    <a:schemeClr val="tx1"/>
                  </a:solidFill>
                </a:rPr>
                <a:t>	cout &lt;&lt; *(ptt[i] + j) &lt;&lt; “ ”  ；}</a:t>
              </a:r>
              <a:endParaRPr lang="en-US" altLang="zh-CN" dirty="0">
                <a:solidFill>
                  <a:schemeClr val="tx1"/>
                </a:solidFill>
              </a:endParaRPr>
            </a:p>
            <a:p>
              <a:r>
                <a:rPr lang="zh-CN" altLang="en-US" dirty="0">
                  <a:solidFill>
                    <a:schemeClr val="tx1"/>
                  </a:solidFill>
                </a:rPr>
                <a:t>}</a:t>
              </a:r>
              <a:endParaRPr lang="en-US" altLang="zh-CN" dirty="0">
                <a:solidFill>
                  <a:schemeClr val="tx1"/>
                </a:solidFill>
              </a:endParaRPr>
            </a:p>
            <a:p>
              <a:endParaRPr lang="zh-CN" altLang="en-US" dirty="0">
                <a:solidFill>
                  <a:schemeClr val="tx1"/>
                </a:solidFill>
              </a:endParaRPr>
            </a:p>
          </p:txBody>
        </p:sp>
        <p:sp>
          <p:nvSpPr>
            <p:cNvPr id="27" name="流程图: 过程 32772">
              <a:extLst>
                <a:ext uri="{FF2B5EF4-FFF2-40B4-BE49-F238E27FC236}">
                  <a16:creationId xmlns:a16="http://schemas.microsoft.com/office/drawing/2014/main" id="{A5949171-AF7A-4439-8275-1B3E86554533}"/>
                </a:ext>
              </a:extLst>
            </p:cNvPr>
            <p:cNvSpPr>
              <a:spLocks noChangeArrowheads="1"/>
            </p:cNvSpPr>
            <p:nvPr/>
          </p:nvSpPr>
          <p:spPr bwMode="auto">
            <a:xfrm>
              <a:off x="4783693" y="6326794"/>
              <a:ext cx="1224136" cy="405255"/>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t>visit3.cpp</a:t>
              </a:r>
            </a:p>
          </p:txBody>
        </p:sp>
      </p:grpSp>
    </p:spTree>
    <p:extLst>
      <p:ext uri="{BB962C8B-B14F-4D97-AF65-F5344CB8AC3E}">
        <p14:creationId xmlns:p14="http://schemas.microsoft.com/office/powerpoint/2010/main" val="2452726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59393"/>
          <p:cNvSpPr>
            <a:spLocks noGrp="1" noChangeArrowheads="1"/>
          </p:cNvSpPr>
          <p:nvPr>
            <p:ph type="title"/>
          </p:nvPr>
        </p:nvSpPr>
        <p:spPr/>
        <p:txBody>
          <a:bodyPr/>
          <a:lstStyle/>
          <a:p>
            <a:r>
              <a:rPr lang="zh-CN" altLang="en-US" dirty="0"/>
              <a:t>指向指针的指针 </a:t>
            </a:r>
          </a:p>
        </p:txBody>
      </p:sp>
      <p:sp>
        <p:nvSpPr>
          <p:cNvPr id="43011" name="文本占位符 59394"/>
          <p:cNvSpPr>
            <a:spLocks noGrp="1" noChangeArrowheads="1"/>
          </p:cNvSpPr>
          <p:nvPr>
            <p:ph idx="1"/>
          </p:nvPr>
        </p:nvSpPr>
        <p:spPr>
          <a:xfrm>
            <a:off x="1981200" y="1609725"/>
            <a:ext cx="8153400" cy="1747838"/>
          </a:xfrm>
        </p:spPr>
        <p:txBody>
          <a:bodyPr/>
          <a:lstStyle/>
          <a:p>
            <a:pPr>
              <a:lnSpc>
                <a:spcPct val="100000"/>
              </a:lnSpc>
              <a:spcBef>
                <a:spcPct val="0"/>
              </a:spcBef>
            </a:pPr>
            <a:r>
              <a:rPr lang="zh-CN" altLang="en-US" dirty="0"/>
              <a:t>例如：	</a:t>
            </a:r>
            <a:r>
              <a:rPr lang="en-US" altLang="zh-CN" dirty="0" err="1"/>
              <a:t>int</a:t>
            </a:r>
            <a:r>
              <a:rPr lang="en-US" altLang="zh-CN" dirty="0"/>
              <a:t> x=89</a:t>
            </a:r>
            <a:r>
              <a:rPr lang="zh-CN" altLang="en-US" dirty="0"/>
              <a:t>，*</a:t>
            </a:r>
            <a:r>
              <a:rPr lang="en-US" altLang="zh-CN" dirty="0"/>
              <a:t>p = &amp;x </a:t>
            </a:r>
            <a:r>
              <a:rPr lang="zh-CN" altLang="en-US" dirty="0"/>
              <a:t>， **</a:t>
            </a:r>
            <a:r>
              <a:rPr lang="en-US" altLang="zh-CN" dirty="0"/>
              <a:t>pp; 		</a:t>
            </a:r>
          </a:p>
          <a:p>
            <a:pPr>
              <a:lnSpc>
                <a:spcPct val="100000"/>
              </a:lnSpc>
              <a:spcBef>
                <a:spcPct val="0"/>
              </a:spcBef>
              <a:buFontTx/>
              <a:buNone/>
            </a:pPr>
            <a:r>
              <a:rPr lang="en-US" altLang="zh-CN" dirty="0"/>
              <a:t>			pp = &amp;p ; </a:t>
            </a:r>
            <a:endParaRPr lang="zh-CN" altLang="en-US" dirty="0"/>
          </a:p>
        </p:txBody>
      </p:sp>
      <p:sp>
        <p:nvSpPr>
          <p:cNvPr id="43009"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46CCCF4A-4858-4DB9-B102-FAECE1AE18A7}" type="slidenum">
              <a:rPr lang="zh-CN" altLang="en-US" smtClean="0"/>
              <a:t>27</a:t>
            </a:fld>
            <a:endParaRPr lang="zh-CN" altLang="en-US"/>
          </a:p>
        </p:txBody>
      </p:sp>
      <p:sp>
        <p:nvSpPr>
          <p:cNvPr id="22" name="文本框 21"/>
          <p:cNvSpPr txBox="1"/>
          <p:nvPr/>
        </p:nvSpPr>
        <p:spPr>
          <a:xfrm>
            <a:off x="3863752" y="2561066"/>
            <a:ext cx="3974165" cy="523220"/>
          </a:xfrm>
          <a:prstGeom prst="rect">
            <a:avLst/>
          </a:prstGeom>
          <a:noFill/>
        </p:spPr>
        <p:txBody>
          <a:bodyPr wrap="none" rtlCol="0">
            <a:spAutoFit/>
          </a:bodyPr>
          <a:lstStyle/>
          <a:p>
            <a:r>
              <a:rPr lang="zh-CN" altLang="en-US" sz="2800" dirty="0">
                <a:solidFill>
                  <a:srgbClr val="7030A0"/>
                </a:solidFill>
              </a:rPr>
              <a:t>思考：</a:t>
            </a:r>
            <a:r>
              <a:rPr lang="en-US" altLang="zh-CN" sz="2800" dirty="0">
                <a:solidFill>
                  <a:srgbClr val="7030A0"/>
                </a:solidFill>
              </a:rPr>
              <a:t>   *p, *pp,   **pp?</a:t>
            </a:r>
            <a:endParaRPr lang="zh-CN" altLang="en-US" sz="2800" dirty="0">
              <a:solidFill>
                <a:srgbClr val="7030A0"/>
              </a:solidFill>
            </a:endParaRPr>
          </a:p>
        </p:txBody>
      </p:sp>
      <p:sp>
        <p:nvSpPr>
          <p:cNvPr id="29" name="文本框 28"/>
          <p:cNvSpPr txBox="1"/>
          <p:nvPr/>
        </p:nvSpPr>
        <p:spPr>
          <a:xfrm>
            <a:off x="5519936" y="3827831"/>
            <a:ext cx="843501" cy="400110"/>
          </a:xfrm>
          <a:prstGeom prst="rect">
            <a:avLst/>
          </a:prstGeom>
          <a:noFill/>
        </p:spPr>
        <p:txBody>
          <a:bodyPr wrap="none" rtlCol="0">
            <a:spAutoFit/>
          </a:bodyPr>
          <a:lstStyle/>
          <a:p>
            <a:r>
              <a:rPr lang="zh-CN" altLang="en-US" sz="2000" dirty="0">
                <a:solidFill>
                  <a:schemeClr val="tx1"/>
                </a:solidFill>
              </a:rPr>
              <a:t>指针</a:t>
            </a:r>
            <a:r>
              <a:rPr lang="en-US" altLang="zh-CN" sz="2000" dirty="0">
                <a:solidFill>
                  <a:schemeClr val="tx1"/>
                </a:solidFill>
              </a:rPr>
              <a:t>p</a:t>
            </a:r>
            <a:endParaRPr lang="zh-CN" altLang="en-US" sz="2000" dirty="0">
              <a:solidFill>
                <a:schemeClr val="tx1"/>
              </a:solidFill>
            </a:endParaRPr>
          </a:p>
        </p:txBody>
      </p:sp>
      <p:graphicFrame>
        <p:nvGraphicFramePr>
          <p:cNvPr id="30" name="表格 29"/>
          <p:cNvGraphicFramePr>
            <a:graphicFrameLocks noGrp="1"/>
          </p:cNvGraphicFramePr>
          <p:nvPr>
            <p:extLst/>
          </p:nvPr>
        </p:nvGraphicFramePr>
        <p:xfrm>
          <a:off x="5447928" y="4170460"/>
          <a:ext cx="995701" cy="554683"/>
        </p:xfrm>
        <a:graphic>
          <a:graphicData uri="http://schemas.openxmlformats.org/drawingml/2006/table">
            <a:tbl>
              <a:tblPr firstRow="1" bandRow="1">
                <a:tableStyleId>{5C22544A-7EE6-4342-B048-85BDC9FD1C3A}</a:tableStyleId>
              </a:tblPr>
              <a:tblGrid>
                <a:gridCol w="995701">
                  <a:extLst>
                    <a:ext uri="{9D8B030D-6E8A-4147-A177-3AD203B41FA5}">
                      <a16:colId xmlns:a16="http://schemas.microsoft.com/office/drawing/2014/main" val="2767727257"/>
                    </a:ext>
                  </a:extLst>
                </a:gridCol>
              </a:tblGrid>
              <a:tr h="554683">
                <a:tc>
                  <a:txBody>
                    <a:bodyPr/>
                    <a:lstStyle/>
                    <a:p>
                      <a:pPr algn="ctr"/>
                      <a:r>
                        <a:rPr lang="en-US" altLang="zh-CN" dirty="0"/>
                        <a:t>0x002</a:t>
                      </a:r>
                      <a:endParaRPr lang="zh-CN" altLang="en-US" dirty="0"/>
                    </a:p>
                  </a:txBody>
                  <a:tcPr/>
                </a:tc>
                <a:extLst>
                  <a:ext uri="{0D108BD9-81ED-4DB2-BD59-A6C34878D82A}">
                    <a16:rowId xmlns:a16="http://schemas.microsoft.com/office/drawing/2014/main" val="1043883158"/>
                  </a:ext>
                </a:extLst>
              </a:tr>
            </a:tbl>
          </a:graphicData>
        </a:graphic>
      </p:graphicFrame>
      <p:sp>
        <p:nvSpPr>
          <p:cNvPr id="31" name="文本框 30"/>
          <p:cNvSpPr txBox="1"/>
          <p:nvPr/>
        </p:nvSpPr>
        <p:spPr>
          <a:xfrm>
            <a:off x="7731071" y="3811272"/>
            <a:ext cx="338554" cy="461665"/>
          </a:xfrm>
          <a:prstGeom prst="rect">
            <a:avLst/>
          </a:prstGeom>
          <a:noFill/>
        </p:spPr>
        <p:txBody>
          <a:bodyPr wrap="none" rtlCol="0">
            <a:spAutoFit/>
          </a:bodyPr>
          <a:lstStyle/>
          <a:p>
            <a:r>
              <a:rPr lang="en-US" altLang="zh-CN" dirty="0">
                <a:solidFill>
                  <a:schemeClr val="tx1"/>
                </a:solidFill>
              </a:rPr>
              <a:t>x</a:t>
            </a:r>
            <a:endParaRPr lang="zh-CN" altLang="en-US" dirty="0">
              <a:solidFill>
                <a:schemeClr val="tx1"/>
              </a:solidFill>
            </a:endParaRPr>
          </a:p>
        </p:txBody>
      </p:sp>
      <p:graphicFrame>
        <p:nvGraphicFramePr>
          <p:cNvPr id="32" name="表格 31"/>
          <p:cNvGraphicFramePr>
            <a:graphicFrameLocks noGrp="1"/>
          </p:cNvGraphicFramePr>
          <p:nvPr>
            <p:extLst/>
          </p:nvPr>
        </p:nvGraphicFramePr>
        <p:xfrm>
          <a:off x="7461852" y="4170461"/>
          <a:ext cx="869148" cy="527748"/>
        </p:xfrm>
        <a:graphic>
          <a:graphicData uri="http://schemas.openxmlformats.org/drawingml/2006/table">
            <a:tbl>
              <a:tblPr firstRow="1" bandRow="1">
                <a:tableStyleId>{5C22544A-7EE6-4342-B048-85BDC9FD1C3A}</a:tableStyleId>
              </a:tblPr>
              <a:tblGrid>
                <a:gridCol w="869148">
                  <a:extLst>
                    <a:ext uri="{9D8B030D-6E8A-4147-A177-3AD203B41FA5}">
                      <a16:colId xmlns:a16="http://schemas.microsoft.com/office/drawing/2014/main" val="2767727257"/>
                    </a:ext>
                  </a:extLst>
                </a:gridCol>
              </a:tblGrid>
              <a:tr h="527748">
                <a:tc>
                  <a:txBody>
                    <a:bodyPr/>
                    <a:lstStyle/>
                    <a:p>
                      <a:pPr algn="ctr"/>
                      <a:r>
                        <a:rPr lang="en-US" altLang="zh-CN" dirty="0"/>
                        <a:t>89</a:t>
                      </a:r>
                      <a:endParaRPr lang="zh-CN" altLang="en-US" dirty="0"/>
                    </a:p>
                  </a:txBody>
                  <a:tcPr/>
                </a:tc>
                <a:extLst>
                  <a:ext uri="{0D108BD9-81ED-4DB2-BD59-A6C34878D82A}">
                    <a16:rowId xmlns:a16="http://schemas.microsoft.com/office/drawing/2014/main" val="1043883158"/>
                  </a:ext>
                </a:extLst>
              </a:tr>
            </a:tbl>
          </a:graphicData>
        </a:graphic>
      </p:graphicFrame>
      <p:sp>
        <p:nvSpPr>
          <p:cNvPr id="33" name="文本框 32"/>
          <p:cNvSpPr txBox="1"/>
          <p:nvPr/>
        </p:nvSpPr>
        <p:spPr>
          <a:xfrm>
            <a:off x="3321408" y="3808968"/>
            <a:ext cx="986167" cy="400110"/>
          </a:xfrm>
          <a:prstGeom prst="rect">
            <a:avLst/>
          </a:prstGeom>
          <a:noFill/>
        </p:spPr>
        <p:txBody>
          <a:bodyPr wrap="none" rtlCol="0">
            <a:spAutoFit/>
          </a:bodyPr>
          <a:lstStyle/>
          <a:p>
            <a:r>
              <a:rPr lang="zh-CN" altLang="en-US" sz="2000" dirty="0">
                <a:solidFill>
                  <a:schemeClr val="tx1"/>
                </a:solidFill>
              </a:rPr>
              <a:t>指针</a:t>
            </a:r>
            <a:r>
              <a:rPr lang="en-US" altLang="zh-CN" sz="2000" dirty="0">
                <a:solidFill>
                  <a:schemeClr val="tx1"/>
                </a:solidFill>
              </a:rPr>
              <a:t>pp</a:t>
            </a:r>
            <a:endParaRPr lang="zh-CN" altLang="en-US" sz="2000" dirty="0">
              <a:solidFill>
                <a:schemeClr val="tx1"/>
              </a:solidFill>
            </a:endParaRPr>
          </a:p>
        </p:txBody>
      </p:sp>
      <p:graphicFrame>
        <p:nvGraphicFramePr>
          <p:cNvPr id="34" name="表格 33"/>
          <p:cNvGraphicFramePr>
            <a:graphicFrameLocks noGrp="1"/>
          </p:cNvGraphicFramePr>
          <p:nvPr>
            <p:extLst/>
          </p:nvPr>
        </p:nvGraphicFramePr>
        <p:xfrm>
          <a:off x="3321408" y="4170460"/>
          <a:ext cx="968508" cy="554684"/>
        </p:xfrm>
        <a:graphic>
          <a:graphicData uri="http://schemas.openxmlformats.org/drawingml/2006/table">
            <a:tbl>
              <a:tblPr firstRow="1" bandRow="1">
                <a:tableStyleId>{5C22544A-7EE6-4342-B048-85BDC9FD1C3A}</a:tableStyleId>
              </a:tblPr>
              <a:tblGrid>
                <a:gridCol w="968508">
                  <a:extLst>
                    <a:ext uri="{9D8B030D-6E8A-4147-A177-3AD203B41FA5}">
                      <a16:colId xmlns:a16="http://schemas.microsoft.com/office/drawing/2014/main" val="2767727257"/>
                    </a:ext>
                  </a:extLst>
                </a:gridCol>
              </a:tblGrid>
              <a:tr h="554684">
                <a:tc>
                  <a:txBody>
                    <a:bodyPr/>
                    <a:lstStyle/>
                    <a:p>
                      <a:pPr algn="ctr"/>
                      <a:r>
                        <a:rPr lang="en-US" altLang="zh-CN" dirty="0"/>
                        <a:t>ox003</a:t>
                      </a:r>
                      <a:endParaRPr lang="zh-CN" altLang="en-US" dirty="0"/>
                    </a:p>
                  </a:txBody>
                  <a:tcPr/>
                </a:tc>
                <a:extLst>
                  <a:ext uri="{0D108BD9-81ED-4DB2-BD59-A6C34878D82A}">
                    <a16:rowId xmlns:a16="http://schemas.microsoft.com/office/drawing/2014/main" val="1043883158"/>
                  </a:ext>
                </a:extLst>
              </a:tr>
            </a:tbl>
          </a:graphicData>
        </a:graphic>
      </p:graphicFrame>
      <p:cxnSp>
        <p:nvCxnSpPr>
          <p:cNvPr id="24" name="直接箭头连接符 23"/>
          <p:cNvCxnSpPr/>
          <p:nvPr/>
        </p:nvCxnSpPr>
        <p:spPr>
          <a:xfrm>
            <a:off x="6456040" y="4365104"/>
            <a:ext cx="1005812" cy="0"/>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cxnSp>
        <p:nvCxnSpPr>
          <p:cNvPr id="37" name="直接箭头连接符 36"/>
          <p:cNvCxnSpPr/>
          <p:nvPr/>
        </p:nvCxnSpPr>
        <p:spPr>
          <a:xfrm>
            <a:off x="4367808" y="4437112"/>
            <a:ext cx="1005812" cy="0"/>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sp>
        <p:nvSpPr>
          <p:cNvPr id="25" name="文本框 24"/>
          <p:cNvSpPr txBox="1"/>
          <p:nvPr/>
        </p:nvSpPr>
        <p:spPr>
          <a:xfrm>
            <a:off x="7731071" y="4941168"/>
            <a:ext cx="510076" cy="461665"/>
          </a:xfrm>
          <a:prstGeom prst="rect">
            <a:avLst/>
          </a:prstGeom>
          <a:noFill/>
        </p:spPr>
        <p:txBody>
          <a:bodyPr wrap="none" rtlCol="0">
            <a:spAutoFit/>
          </a:bodyPr>
          <a:lstStyle/>
          <a:p>
            <a:r>
              <a:rPr lang="en-US" altLang="zh-CN" dirty="0">
                <a:solidFill>
                  <a:srgbClr val="7030A0"/>
                </a:solidFill>
              </a:rPr>
              <a:t>*p</a:t>
            </a:r>
            <a:endParaRPr lang="zh-CN" altLang="en-US" dirty="0">
              <a:solidFill>
                <a:srgbClr val="7030A0"/>
              </a:solidFill>
            </a:endParaRPr>
          </a:p>
        </p:txBody>
      </p:sp>
      <p:sp>
        <p:nvSpPr>
          <p:cNvPr id="39" name="文本框 38"/>
          <p:cNvSpPr txBox="1"/>
          <p:nvPr/>
        </p:nvSpPr>
        <p:spPr>
          <a:xfrm>
            <a:off x="5678633" y="4836939"/>
            <a:ext cx="681597" cy="461665"/>
          </a:xfrm>
          <a:prstGeom prst="rect">
            <a:avLst/>
          </a:prstGeom>
          <a:noFill/>
        </p:spPr>
        <p:txBody>
          <a:bodyPr wrap="none" rtlCol="0">
            <a:spAutoFit/>
          </a:bodyPr>
          <a:lstStyle/>
          <a:p>
            <a:r>
              <a:rPr lang="en-US" altLang="zh-CN" dirty="0">
                <a:solidFill>
                  <a:srgbClr val="7030A0"/>
                </a:solidFill>
              </a:rPr>
              <a:t>*pp</a:t>
            </a:r>
            <a:endParaRPr lang="zh-CN" altLang="en-US" dirty="0">
              <a:solidFill>
                <a:srgbClr val="7030A0"/>
              </a:solidFill>
            </a:endParaRPr>
          </a:p>
        </p:txBody>
      </p:sp>
      <p:sp>
        <p:nvSpPr>
          <p:cNvPr id="40" name="文本框 39"/>
          <p:cNvSpPr txBox="1"/>
          <p:nvPr/>
        </p:nvSpPr>
        <p:spPr>
          <a:xfrm>
            <a:off x="7651882" y="5511107"/>
            <a:ext cx="835485" cy="461665"/>
          </a:xfrm>
          <a:prstGeom prst="rect">
            <a:avLst/>
          </a:prstGeom>
          <a:noFill/>
        </p:spPr>
        <p:txBody>
          <a:bodyPr wrap="none" rtlCol="0">
            <a:spAutoFit/>
          </a:bodyPr>
          <a:lstStyle/>
          <a:p>
            <a:r>
              <a:rPr lang="en-US" altLang="zh-CN" dirty="0">
                <a:solidFill>
                  <a:srgbClr val="7030A0"/>
                </a:solidFill>
              </a:rPr>
              <a:t>**pp</a:t>
            </a:r>
            <a:endParaRPr lang="zh-CN" altLang="en-US" dirty="0">
              <a:solidFill>
                <a:srgbClr val="7030A0"/>
              </a:solidFill>
            </a:endParaRPr>
          </a:p>
        </p:txBody>
      </p:sp>
    </p:spTree>
    <p:extLst>
      <p:ext uri="{BB962C8B-B14F-4D97-AF65-F5344CB8AC3E}">
        <p14:creationId xmlns:p14="http://schemas.microsoft.com/office/powerpoint/2010/main" val="9380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left)">
                                      <p:cBhvr>
                                        <p:cTn id="19" dur="500"/>
                                        <p:tgtEl>
                                          <p:spTgt spid="2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4"/>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wipe(left)">
                                      <p:cBhvr>
                                        <p:cTn id="30" dur="500"/>
                                        <p:tgtEl>
                                          <p:spTgt spid="37"/>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 calcmode="lin" valueType="num">
                                      <p:cBhvr>
                                        <p:cTn id="35" dur="500" fill="hold"/>
                                        <p:tgtEl>
                                          <p:spTgt spid="25"/>
                                        </p:tgtEl>
                                        <p:attrNameLst>
                                          <p:attrName>ppt_w</p:attrName>
                                        </p:attrNameLst>
                                      </p:cBhvr>
                                      <p:tavLst>
                                        <p:tav tm="0">
                                          <p:val>
                                            <p:fltVal val="0"/>
                                          </p:val>
                                        </p:tav>
                                        <p:tav tm="100000">
                                          <p:val>
                                            <p:strVal val="#ppt_w"/>
                                          </p:val>
                                        </p:tav>
                                      </p:tavLst>
                                    </p:anim>
                                    <p:anim calcmode="lin" valueType="num">
                                      <p:cBhvr>
                                        <p:cTn id="36" dur="500" fill="hold"/>
                                        <p:tgtEl>
                                          <p:spTgt spid="25"/>
                                        </p:tgtEl>
                                        <p:attrNameLst>
                                          <p:attrName>ppt_h</p:attrName>
                                        </p:attrNameLst>
                                      </p:cBhvr>
                                      <p:tavLst>
                                        <p:tav tm="0">
                                          <p:val>
                                            <p:fltVal val="0"/>
                                          </p:val>
                                        </p:tav>
                                        <p:tav tm="100000">
                                          <p:val>
                                            <p:strVal val="#ppt_h"/>
                                          </p:val>
                                        </p:tav>
                                      </p:tavLst>
                                    </p:anim>
                                    <p:animEffect transition="in" filter="fade">
                                      <p:cBhvr>
                                        <p:cTn id="37" dur="5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45" presetClass="entr" presetSubtype="0" fill="hold" grpId="0" nodeType="click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2000"/>
                                        <p:tgtEl>
                                          <p:spTgt spid="39"/>
                                        </p:tgtEl>
                                      </p:cBhvr>
                                    </p:animEffect>
                                    <p:anim calcmode="lin" valueType="num">
                                      <p:cBhvr>
                                        <p:cTn id="43" dur="2000" fill="hold"/>
                                        <p:tgtEl>
                                          <p:spTgt spid="39"/>
                                        </p:tgtEl>
                                        <p:attrNameLst>
                                          <p:attrName>ppt_w</p:attrName>
                                        </p:attrNameLst>
                                      </p:cBhvr>
                                      <p:tavLst>
                                        <p:tav tm="0" fmla="#ppt_w*sin(2.5*pi*$)">
                                          <p:val>
                                            <p:fltVal val="0"/>
                                          </p:val>
                                        </p:tav>
                                        <p:tav tm="100000">
                                          <p:val>
                                            <p:fltVal val="1"/>
                                          </p:val>
                                        </p:tav>
                                      </p:tavLst>
                                    </p:anim>
                                    <p:anim calcmode="lin" valueType="num">
                                      <p:cBhvr>
                                        <p:cTn id="44" dur="2000" fill="hold"/>
                                        <p:tgtEl>
                                          <p:spTgt spid="39"/>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6" presetClass="entr" presetSubtype="0" fill="hold" grpId="0" nodeType="click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wipe(down)">
                                      <p:cBhvr>
                                        <p:cTn id="49" dur="580">
                                          <p:stCondLst>
                                            <p:cond delay="0"/>
                                          </p:stCondLst>
                                        </p:cTn>
                                        <p:tgtEl>
                                          <p:spTgt spid="40"/>
                                        </p:tgtEl>
                                      </p:cBhvr>
                                    </p:animEffect>
                                    <p:anim calcmode="lin" valueType="num">
                                      <p:cBhvr>
                                        <p:cTn id="50" dur="1822" tmFilter="0,0; 0.14,0.36; 0.43,0.73; 0.71,0.91; 1.0,1.0">
                                          <p:stCondLst>
                                            <p:cond delay="0"/>
                                          </p:stCondLst>
                                        </p:cTn>
                                        <p:tgtEl>
                                          <p:spTgt spid="40"/>
                                        </p:tgtEl>
                                        <p:attrNameLst>
                                          <p:attrName>ppt_x</p:attrName>
                                        </p:attrNameLst>
                                      </p:cBhvr>
                                      <p:tavLst>
                                        <p:tav tm="0">
                                          <p:val>
                                            <p:strVal val="#ppt_x-0.25"/>
                                          </p:val>
                                        </p:tav>
                                        <p:tav tm="100000">
                                          <p:val>
                                            <p:strVal val="#ppt_x"/>
                                          </p:val>
                                        </p:tav>
                                      </p:tavLst>
                                    </p:anim>
                                    <p:anim calcmode="lin" valueType="num">
                                      <p:cBhvr>
                                        <p:cTn id="51" dur="664" tmFilter="0.0,0.0; 0.25,0.07; 0.50,0.2; 0.75,0.467; 1.0,1.0">
                                          <p:stCondLst>
                                            <p:cond delay="0"/>
                                          </p:stCondLst>
                                        </p:cTn>
                                        <p:tgtEl>
                                          <p:spTgt spid="40"/>
                                        </p:tgtEl>
                                        <p:attrNameLst>
                                          <p:attrName>ppt_y</p:attrName>
                                        </p:attrNameLst>
                                      </p:cBhvr>
                                      <p:tavLst>
                                        <p:tav tm="0" fmla="#ppt_y-sin(pi*$)/3">
                                          <p:val>
                                            <p:fltVal val="0.5"/>
                                          </p:val>
                                        </p:tav>
                                        <p:tav tm="100000">
                                          <p:val>
                                            <p:fltVal val="1"/>
                                          </p:val>
                                        </p:tav>
                                      </p:tavLst>
                                    </p:anim>
                                    <p:anim calcmode="lin" valueType="num">
                                      <p:cBhvr>
                                        <p:cTn id="52" dur="664" tmFilter="0, 0; 0.125,0.2665; 0.25,0.4; 0.375,0.465; 0.5,0.5;  0.625,0.535; 0.75,0.6; 0.875,0.7335; 1,1">
                                          <p:stCondLst>
                                            <p:cond delay="664"/>
                                          </p:stCondLst>
                                        </p:cTn>
                                        <p:tgtEl>
                                          <p:spTgt spid="40"/>
                                        </p:tgtEl>
                                        <p:attrNameLst>
                                          <p:attrName>ppt_y</p:attrName>
                                        </p:attrNameLst>
                                      </p:cBhvr>
                                      <p:tavLst>
                                        <p:tav tm="0" fmla="#ppt_y-sin(pi*$)/9">
                                          <p:val>
                                            <p:fltVal val="0"/>
                                          </p:val>
                                        </p:tav>
                                        <p:tav tm="100000">
                                          <p:val>
                                            <p:fltVal val="1"/>
                                          </p:val>
                                        </p:tav>
                                      </p:tavLst>
                                    </p:anim>
                                    <p:anim calcmode="lin" valueType="num">
                                      <p:cBhvr>
                                        <p:cTn id="53" dur="332" tmFilter="0, 0; 0.125,0.2665; 0.25,0.4; 0.375,0.465; 0.5,0.5;  0.625,0.535; 0.75,0.6; 0.875,0.7335; 1,1">
                                          <p:stCondLst>
                                            <p:cond delay="1324"/>
                                          </p:stCondLst>
                                        </p:cTn>
                                        <p:tgtEl>
                                          <p:spTgt spid="40"/>
                                        </p:tgtEl>
                                        <p:attrNameLst>
                                          <p:attrName>ppt_y</p:attrName>
                                        </p:attrNameLst>
                                      </p:cBhvr>
                                      <p:tavLst>
                                        <p:tav tm="0" fmla="#ppt_y-sin(pi*$)/27">
                                          <p:val>
                                            <p:fltVal val="0"/>
                                          </p:val>
                                        </p:tav>
                                        <p:tav tm="100000">
                                          <p:val>
                                            <p:fltVal val="1"/>
                                          </p:val>
                                        </p:tav>
                                      </p:tavLst>
                                    </p:anim>
                                    <p:anim calcmode="lin" valueType="num">
                                      <p:cBhvr>
                                        <p:cTn id="54" dur="164" tmFilter="0, 0; 0.125,0.2665; 0.25,0.4; 0.375,0.465; 0.5,0.5;  0.625,0.535; 0.75,0.6; 0.875,0.7335; 1,1">
                                          <p:stCondLst>
                                            <p:cond delay="1656"/>
                                          </p:stCondLst>
                                        </p:cTn>
                                        <p:tgtEl>
                                          <p:spTgt spid="40"/>
                                        </p:tgtEl>
                                        <p:attrNameLst>
                                          <p:attrName>ppt_y</p:attrName>
                                        </p:attrNameLst>
                                      </p:cBhvr>
                                      <p:tavLst>
                                        <p:tav tm="0" fmla="#ppt_y-sin(pi*$)/81">
                                          <p:val>
                                            <p:fltVal val="0"/>
                                          </p:val>
                                        </p:tav>
                                        <p:tav tm="100000">
                                          <p:val>
                                            <p:fltVal val="1"/>
                                          </p:val>
                                        </p:tav>
                                      </p:tavLst>
                                    </p:anim>
                                    <p:animScale>
                                      <p:cBhvr>
                                        <p:cTn id="55" dur="26">
                                          <p:stCondLst>
                                            <p:cond delay="650"/>
                                          </p:stCondLst>
                                        </p:cTn>
                                        <p:tgtEl>
                                          <p:spTgt spid="40"/>
                                        </p:tgtEl>
                                      </p:cBhvr>
                                      <p:to x="100000" y="60000"/>
                                    </p:animScale>
                                    <p:animScale>
                                      <p:cBhvr>
                                        <p:cTn id="56" dur="166" decel="50000">
                                          <p:stCondLst>
                                            <p:cond delay="676"/>
                                          </p:stCondLst>
                                        </p:cTn>
                                        <p:tgtEl>
                                          <p:spTgt spid="40"/>
                                        </p:tgtEl>
                                      </p:cBhvr>
                                      <p:to x="100000" y="100000"/>
                                    </p:animScale>
                                    <p:animScale>
                                      <p:cBhvr>
                                        <p:cTn id="57" dur="26">
                                          <p:stCondLst>
                                            <p:cond delay="1312"/>
                                          </p:stCondLst>
                                        </p:cTn>
                                        <p:tgtEl>
                                          <p:spTgt spid="40"/>
                                        </p:tgtEl>
                                      </p:cBhvr>
                                      <p:to x="100000" y="80000"/>
                                    </p:animScale>
                                    <p:animScale>
                                      <p:cBhvr>
                                        <p:cTn id="58" dur="166" decel="50000">
                                          <p:stCondLst>
                                            <p:cond delay="1338"/>
                                          </p:stCondLst>
                                        </p:cTn>
                                        <p:tgtEl>
                                          <p:spTgt spid="40"/>
                                        </p:tgtEl>
                                      </p:cBhvr>
                                      <p:to x="100000" y="100000"/>
                                    </p:animScale>
                                    <p:animScale>
                                      <p:cBhvr>
                                        <p:cTn id="59" dur="26">
                                          <p:stCondLst>
                                            <p:cond delay="1642"/>
                                          </p:stCondLst>
                                        </p:cTn>
                                        <p:tgtEl>
                                          <p:spTgt spid="40"/>
                                        </p:tgtEl>
                                      </p:cBhvr>
                                      <p:to x="100000" y="90000"/>
                                    </p:animScale>
                                    <p:animScale>
                                      <p:cBhvr>
                                        <p:cTn id="60" dur="166" decel="50000">
                                          <p:stCondLst>
                                            <p:cond delay="1668"/>
                                          </p:stCondLst>
                                        </p:cTn>
                                        <p:tgtEl>
                                          <p:spTgt spid="40"/>
                                        </p:tgtEl>
                                      </p:cBhvr>
                                      <p:to x="100000" y="100000"/>
                                    </p:animScale>
                                    <p:animScale>
                                      <p:cBhvr>
                                        <p:cTn id="61" dur="26">
                                          <p:stCondLst>
                                            <p:cond delay="1808"/>
                                          </p:stCondLst>
                                        </p:cTn>
                                        <p:tgtEl>
                                          <p:spTgt spid="40"/>
                                        </p:tgtEl>
                                      </p:cBhvr>
                                      <p:to x="100000" y="95000"/>
                                    </p:animScale>
                                    <p:animScale>
                                      <p:cBhvr>
                                        <p:cTn id="62" dur="166" decel="50000">
                                          <p:stCondLst>
                                            <p:cond delay="1834"/>
                                          </p:stCondLst>
                                        </p:cTn>
                                        <p:tgtEl>
                                          <p:spTgt spid="4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P spid="33" grpId="0"/>
      <p:bldP spid="25" grpId="0"/>
      <p:bldP spid="39" grpId="0"/>
      <p:bldP spid="4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59393"/>
          <p:cNvSpPr>
            <a:spLocks noGrp="1" noChangeArrowheads="1"/>
          </p:cNvSpPr>
          <p:nvPr>
            <p:ph type="title"/>
          </p:nvPr>
        </p:nvSpPr>
        <p:spPr/>
        <p:txBody>
          <a:bodyPr/>
          <a:lstStyle/>
          <a:p>
            <a:r>
              <a:rPr lang="en-US" altLang="zh-CN" dirty="0"/>
              <a:t>7.5.3 </a:t>
            </a:r>
            <a:r>
              <a:rPr lang="zh-CN" altLang="en-US" dirty="0"/>
              <a:t>指向指针的指针 </a:t>
            </a:r>
          </a:p>
        </p:txBody>
      </p:sp>
      <p:sp>
        <p:nvSpPr>
          <p:cNvPr id="43009"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46CCCF4A-4858-4DB9-B102-FAECE1AE18A7}" type="slidenum">
              <a:rPr lang="zh-CN" altLang="en-US" smtClean="0"/>
              <a:t>28</a:t>
            </a:fld>
            <a:endParaRPr lang="zh-CN" altLang="en-US"/>
          </a:p>
        </p:txBody>
      </p:sp>
      <p:sp>
        <p:nvSpPr>
          <p:cNvPr id="59396" name="文本框 59395"/>
          <p:cNvSpPr txBox="1">
            <a:spLocks noChangeArrowheads="1"/>
          </p:cNvSpPr>
          <p:nvPr/>
        </p:nvSpPr>
        <p:spPr bwMode="auto">
          <a:xfrm>
            <a:off x="5015880" y="1690688"/>
            <a:ext cx="6121400" cy="3752850"/>
          </a:xfrm>
          <a:prstGeom prst="rect">
            <a:avLst/>
          </a:prstGeom>
          <a:noFill/>
          <a:ln w="9525">
            <a:solidFill>
              <a:srgbClr val="C00000"/>
            </a:solidFill>
            <a:miter lim="800000"/>
          </a:ln>
          <a:extLst>
            <a:ext uri="{909E8E84-426E-40DD-AFC4-6F175D3DCCD1}">
              <a14:hiddenFill xmlns:a14="http://schemas.microsoft.com/office/drawing/2010/main">
                <a:solidFill>
                  <a:srgbClr val="FFFFFF"/>
                </a:solidFill>
              </a14:hiddenFill>
            </a:ext>
          </a:extLst>
        </p:spPr>
        <p:txBody>
          <a:bodyPr>
            <a:spAutoFit/>
          </a:bodyPr>
          <a:lstStyle/>
          <a:p>
            <a:r>
              <a:rPr lang="en-US" altLang="zh-CN" dirty="0">
                <a:solidFill>
                  <a:schemeClr val="tx1"/>
                </a:solidFill>
              </a:rPr>
              <a:t>void  main( ) </a:t>
            </a:r>
          </a:p>
          <a:p>
            <a:r>
              <a:rPr lang="en-US" altLang="zh-CN" dirty="0">
                <a:solidFill>
                  <a:schemeClr val="tx1"/>
                </a:solidFill>
              </a:rPr>
              <a:t>{ 	int  a[ ]={10, 20, 30, 40, 50}; </a:t>
            </a:r>
          </a:p>
          <a:p>
            <a:r>
              <a:rPr lang="en-US" altLang="zh-CN" dirty="0">
                <a:solidFill>
                  <a:schemeClr val="tx1"/>
                </a:solidFill>
              </a:rPr>
              <a:t>	int *p[ ]={a, a+1, a+2, a+3, a+4}; </a:t>
            </a:r>
          </a:p>
          <a:p>
            <a:r>
              <a:rPr lang="en-US" altLang="zh-CN" dirty="0">
                <a:solidFill>
                  <a:schemeClr val="tx1"/>
                </a:solidFill>
              </a:rPr>
              <a:t>	int **pp=p; </a:t>
            </a:r>
          </a:p>
          <a:p>
            <a:r>
              <a:rPr lang="en-US" altLang="zh-CN" dirty="0">
                <a:solidFill>
                  <a:schemeClr val="tx1"/>
                </a:solidFill>
              </a:rPr>
              <a:t>	cout &lt;&lt; setw(5) &lt;&lt; *p[4];</a:t>
            </a:r>
          </a:p>
          <a:p>
            <a:r>
              <a:rPr lang="en-US" altLang="zh-CN" dirty="0">
                <a:solidFill>
                  <a:schemeClr val="tx1"/>
                </a:solidFill>
              </a:rPr>
              <a:t>	cout &lt;&lt; setw(5) &lt;&lt; **( p+1);</a:t>
            </a:r>
          </a:p>
          <a:p>
            <a:r>
              <a:rPr lang="en-US" altLang="zh-CN" dirty="0">
                <a:solidFill>
                  <a:schemeClr val="tx1"/>
                </a:solidFill>
              </a:rPr>
              <a:t>	cout &lt;&lt; setw(5) &lt;&lt; **pp++;</a:t>
            </a:r>
          </a:p>
          <a:p>
            <a:r>
              <a:rPr lang="en-US" altLang="zh-CN" dirty="0">
                <a:solidFill>
                  <a:schemeClr val="tx1"/>
                </a:solidFill>
              </a:rPr>
              <a:t>	cout &lt;&lt; setw(5) &lt;&lt; **++pp;</a:t>
            </a:r>
          </a:p>
          <a:p>
            <a:r>
              <a:rPr lang="en-US" altLang="zh-CN" dirty="0">
                <a:solidFill>
                  <a:schemeClr val="tx1"/>
                </a:solidFill>
              </a:rPr>
              <a:t>	cout &lt;&lt; setw(5) &lt;&lt; *++*pp &lt;&lt; endl;</a:t>
            </a:r>
          </a:p>
          <a:p>
            <a:r>
              <a:rPr lang="en-US" altLang="zh-CN" dirty="0">
                <a:solidFill>
                  <a:schemeClr val="tx1"/>
                </a:solidFill>
              </a:rPr>
              <a:t>} </a:t>
            </a:r>
            <a:endParaRPr lang="zh-CN" altLang="en-US" dirty="0">
              <a:solidFill>
                <a:schemeClr val="tx1"/>
              </a:solidFill>
            </a:endParaRPr>
          </a:p>
        </p:txBody>
      </p:sp>
      <p:sp>
        <p:nvSpPr>
          <p:cNvPr id="43013" name="文本框 59396"/>
          <p:cNvSpPr txBox="1">
            <a:spLocks noChangeArrowheads="1"/>
          </p:cNvSpPr>
          <p:nvPr/>
        </p:nvSpPr>
        <p:spPr bwMode="auto">
          <a:xfrm>
            <a:off x="4846658" y="5675980"/>
            <a:ext cx="515991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dirty="0">
                <a:solidFill>
                  <a:srgbClr val="FF0000"/>
                </a:solidFill>
              </a:rPr>
              <a:t>分析该程序的输出结果</a:t>
            </a:r>
          </a:p>
        </p:txBody>
      </p:sp>
      <p:sp>
        <p:nvSpPr>
          <p:cNvPr id="43014" name="流程图: 过程 59397"/>
          <p:cNvSpPr>
            <a:spLocks noChangeArrowheads="1"/>
          </p:cNvSpPr>
          <p:nvPr/>
        </p:nvSpPr>
        <p:spPr bwMode="auto">
          <a:xfrm>
            <a:off x="8976320" y="5791309"/>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solidFill>
                  <a:schemeClr val="tx1"/>
                </a:solidFill>
              </a:rPr>
              <a:t>Ex5-j.cpp</a:t>
            </a:r>
          </a:p>
        </p:txBody>
      </p:sp>
      <p:graphicFrame>
        <p:nvGraphicFramePr>
          <p:cNvPr id="2" name="表格 1"/>
          <p:cNvGraphicFramePr>
            <a:graphicFrameLocks noGrp="1"/>
          </p:cNvGraphicFramePr>
          <p:nvPr>
            <p:extLst/>
          </p:nvPr>
        </p:nvGraphicFramePr>
        <p:xfrm>
          <a:off x="1597858" y="2314377"/>
          <a:ext cx="607616" cy="1854200"/>
        </p:xfrm>
        <a:graphic>
          <a:graphicData uri="http://schemas.openxmlformats.org/drawingml/2006/table">
            <a:tbl>
              <a:tblPr firstRow="1" bandRow="1">
                <a:tableStyleId>{5C22544A-7EE6-4342-B048-85BDC9FD1C3A}</a:tableStyleId>
              </a:tblPr>
              <a:tblGrid>
                <a:gridCol w="607616">
                  <a:extLst>
                    <a:ext uri="{9D8B030D-6E8A-4147-A177-3AD203B41FA5}">
                      <a16:colId xmlns:a16="http://schemas.microsoft.com/office/drawing/2014/main" val="2803633851"/>
                    </a:ext>
                  </a:extLst>
                </a:gridCol>
              </a:tblGrid>
              <a:tr h="370840">
                <a:tc>
                  <a:txBody>
                    <a:bodyPr/>
                    <a:lstStyle/>
                    <a:p>
                      <a:r>
                        <a:rPr lang="en-US" altLang="zh-CN" dirty="0"/>
                        <a:t>a</a:t>
                      </a:r>
                      <a:endParaRPr lang="zh-CN" altLang="en-US" dirty="0"/>
                    </a:p>
                  </a:txBody>
                  <a:tcPr/>
                </a:tc>
                <a:extLst>
                  <a:ext uri="{0D108BD9-81ED-4DB2-BD59-A6C34878D82A}">
                    <a16:rowId xmlns:a16="http://schemas.microsoft.com/office/drawing/2014/main" val="2821485176"/>
                  </a:ext>
                </a:extLst>
              </a:tr>
              <a:tr h="370840">
                <a:tc>
                  <a:txBody>
                    <a:bodyPr/>
                    <a:lstStyle/>
                    <a:p>
                      <a:r>
                        <a:rPr lang="en-US" altLang="zh-CN" dirty="0"/>
                        <a:t>a+1</a:t>
                      </a:r>
                      <a:endParaRPr lang="zh-CN" altLang="en-US" dirty="0"/>
                    </a:p>
                  </a:txBody>
                  <a:tcPr/>
                </a:tc>
                <a:extLst>
                  <a:ext uri="{0D108BD9-81ED-4DB2-BD59-A6C34878D82A}">
                    <a16:rowId xmlns:a16="http://schemas.microsoft.com/office/drawing/2014/main" val="3898933849"/>
                  </a:ext>
                </a:extLst>
              </a:tr>
              <a:tr h="370840">
                <a:tc>
                  <a:txBody>
                    <a:bodyPr/>
                    <a:lstStyle/>
                    <a:p>
                      <a:r>
                        <a:rPr lang="en-US" altLang="zh-CN" dirty="0"/>
                        <a:t>a+2</a:t>
                      </a:r>
                      <a:endParaRPr lang="zh-CN" altLang="en-US" dirty="0"/>
                    </a:p>
                  </a:txBody>
                  <a:tcPr/>
                </a:tc>
                <a:extLst>
                  <a:ext uri="{0D108BD9-81ED-4DB2-BD59-A6C34878D82A}">
                    <a16:rowId xmlns:a16="http://schemas.microsoft.com/office/drawing/2014/main" val="3994565229"/>
                  </a:ext>
                </a:extLst>
              </a:tr>
              <a:tr h="370840">
                <a:tc>
                  <a:txBody>
                    <a:bodyPr/>
                    <a:lstStyle/>
                    <a:p>
                      <a:r>
                        <a:rPr lang="en-US" altLang="zh-CN" dirty="0"/>
                        <a:t>a+3</a:t>
                      </a:r>
                      <a:endParaRPr lang="zh-CN" altLang="en-US" dirty="0"/>
                    </a:p>
                  </a:txBody>
                  <a:tcPr/>
                </a:tc>
                <a:extLst>
                  <a:ext uri="{0D108BD9-81ED-4DB2-BD59-A6C34878D82A}">
                    <a16:rowId xmlns:a16="http://schemas.microsoft.com/office/drawing/2014/main" val="3557526324"/>
                  </a:ext>
                </a:extLst>
              </a:tr>
              <a:tr h="370840">
                <a:tc>
                  <a:txBody>
                    <a:bodyPr/>
                    <a:lstStyle/>
                    <a:p>
                      <a:r>
                        <a:rPr lang="en-US" altLang="zh-CN" dirty="0"/>
                        <a:t>a+4</a:t>
                      </a:r>
                      <a:endParaRPr lang="zh-CN" altLang="en-US" dirty="0"/>
                    </a:p>
                  </a:txBody>
                  <a:tcPr/>
                </a:tc>
                <a:extLst>
                  <a:ext uri="{0D108BD9-81ED-4DB2-BD59-A6C34878D82A}">
                    <a16:rowId xmlns:a16="http://schemas.microsoft.com/office/drawing/2014/main" val="2252138135"/>
                  </a:ext>
                </a:extLst>
              </a:tr>
            </a:tbl>
          </a:graphicData>
        </a:graphic>
      </p:graphicFrame>
      <p:graphicFrame>
        <p:nvGraphicFramePr>
          <p:cNvPr id="11" name="表格 10"/>
          <p:cNvGraphicFramePr>
            <a:graphicFrameLocks noGrp="1"/>
          </p:cNvGraphicFramePr>
          <p:nvPr>
            <p:extLst/>
          </p:nvPr>
        </p:nvGraphicFramePr>
        <p:xfrm>
          <a:off x="2451815" y="2314377"/>
          <a:ext cx="607616" cy="1854200"/>
        </p:xfrm>
        <a:graphic>
          <a:graphicData uri="http://schemas.openxmlformats.org/drawingml/2006/table">
            <a:tbl>
              <a:tblPr firstRow="1" bandRow="1">
                <a:tableStyleId>{5C22544A-7EE6-4342-B048-85BDC9FD1C3A}</a:tableStyleId>
              </a:tblPr>
              <a:tblGrid>
                <a:gridCol w="607616">
                  <a:extLst>
                    <a:ext uri="{9D8B030D-6E8A-4147-A177-3AD203B41FA5}">
                      <a16:colId xmlns:a16="http://schemas.microsoft.com/office/drawing/2014/main" val="2803633851"/>
                    </a:ext>
                  </a:extLst>
                </a:gridCol>
              </a:tblGrid>
              <a:tr h="370840">
                <a:tc>
                  <a:txBody>
                    <a:bodyPr/>
                    <a:lstStyle/>
                    <a:p>
                      <a:r>
                        <a:rPr lang="en-US" altLang="zh-CN" dirty="0"/>
                        <a:t>10</a:t>
                      </a:r>
                      <a:endParaRPr lang="zh-CN" altLang="en-US" dirty="0"/>
                    </a:p>
                  </a:txBody>
                  <a:tcPr/>
                </a:tc>
                <a:extLst>
                  <a:ext uri="{0D108BD9-81ED-4DB2-BD59-A6C34878D82A}">
                    <a16:rowId xmlns:a16="http://schemas.microsoft.com/office/drawing/2014/main" val="2821485176"/>
                  </a:ext>
                </a:extLst>
              </a:tr>
              <a:tr h="370840">
                <a:tc>
                  <a:txBody>
                    <a:bodyPr/>
                    <a:lstStyle/>
                    <a:p>
                      <a:r>
                        <a:rPr lang="en-US" altLang="zh-CN" dirty="0"/>
                        <a:t>20</a:t>
                      </a:r>
                      <a:endParaRPr lang="zh-CN" altLang="en-US" dirty="0"/>
                    </a:p>
                  </a:txBody>
                  <a:tcPr/>
                </a:tc>
                <a:extLst>
                  <a:ext uri="{0D108BD9-81ED-4DB2-BD59-A6C34878D82A}">
                    <a16:rowId xmlns:a16="http://schemas.microsoft.com/office/drawing/2014/main" val="3898933849"/>
                  </a:ext>
                </a:extLst>
              </a:tr>
              <a:tr h="370840">
                <a:tc>
                  <a:txBody>
                    <a:bodyPr/>
                    <a:lstStyle/>
                    <a:p>
                      <a:r>
                        <a:rPr lang="en-US" altLang="zh-CN" dirty="0"/>
                        <a:t>30</a:t>
                      </a:r>
                      <a:endParaRPr lang="zh-CN" altLang="en-US" dirty="0"/>
                    </a:p>
                  </a:txBody>
                  <a:tcPr/>
                </a:tc>
                <a:extLst>
                  <a:ext uri="{0D108BD9-81ED-4DB2-BD59-A6C34878D82A}">
                    <a16:rowId xmlns:a16="http://schemas.microsoft.com/office/drawing/2014/main" val="3994565229"/>
                  </a:ext>
                </a:extLst>
              </a:tr>
              <a:tr h="370840">
                <a:tc>
                  <a:txBody>
                    <a:bodyPr/>
                    <a:lstStyle/>
                    <a:p>
                      <a:r>
                        <a:rPr lang="en-US" altLang="zh-CN" dirty="0"/>
                        <a:t>40</a:t>
                      </a:r>
                      <a:endParaRPr lang="zh-CN" altLang="en-US" dirty="0"/>
                    </a:p>
                  </a:txBody>
                  <a:tcPr/>
                </a:tc>
                <a:extLst>
                  <a:ext uri="{0D108BD9-81ED-4DB2-BD59-A6C34878D82A}">
                    <a16:rowId xmlns:a16="http://schemas.microsoft.com/office/drawing/2014/main" val="3557526324"/>
                  </a:ext>
                </a:extLst>
              </a:tr>
              <a:tr h="370840">
                <a:tc>
                  <a:txBody>
                    <a:bodyPr/>
                    <a:lstStyle/>
                    <a:p>
                      <a:r>
                        <a:rPr lang="en-US" altLang="zh-CN" dirty="0"/>
                        <a:t>50</a:t>
                      </a:r>
                      <a:endParaRPr lang="zh-CN" altLang="en-US" dirty="0"/>
                    </a:p>
                  </a:txBody>
                  <a:tcPr/>
                </a:tc>
                <a:extLst>
                  <a:ext uri="{0D108BD9-81ED-4DB2-BD59-A6C34878D82A}">
                    <a16:rowId xmlns:a16="http://schemas.microsoft.com/office/drawing/2014/main" val="2252138135"/>
                  </a:ext>
                </a:extLst>
              </a:tr>
            </a:tbl>
          </a:graphicData>
        </a:graphic>
      </p:graphicFrame>
      <p:cxnSp>
        <p:nvCxnSpPr>
          <p:cNvPr id="6" name="直接箭头连接符 5"/>
          <p:cNvCxnSpPr/>
          <p:nvPr/>
        </p:nvCxnSpPr>
        <p:spPr>
          <a:xfrm>
            <a:off x="2031206" y="2493938"/>
            <a:ext cx="442122"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4" name="直接箭头连接符 13"/>
          <p:cNvCxnSpPr/>
          <p:nvPr/>
        </p:nvCxnSpPr>
        <p:spPr>
          <a:xfrm>
            <a:off x="2058156" y="2853978"/>
            <a:ext cx="442122"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5" name="直接箭头连接符 14"/>
          <p:cNvCxnSpPr/>
          <p:nvPr/>
        </p:nvCxnSpPr>
        <p:spPr>
          <a:xfrm>
            <a:off x="2031206" y="3230216"/>
            <a:ext cx="442122"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6" name="直接箭头连接符 15"/>
          <p:cNvCxnSpPr/>
          <p:nvPr/>
        </p:nvCxnSpPr>
        <p:spPr>
          <a:xfrm>
            <a:off x="2031206" y="3646066"/>
            <a:ext cx="442122"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7" name="直接箭头连接符 16"/>
          <p:cNvCxnSpPr/>
          <p:nvPr/>
        </p:nvCxnSpPr>
        <p:spPr>
          <a:xfrm>
            <a:off x="2031206" y="4006106"/>
            <a:ext cx="442122"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7" name="文本框 6"/>
          <p:cNvSpPr txBox="1"/>
          <p:nvPr/>
        </p:nvSpPr>
        <p:spPr>
          <a:xfrm>
            <a:off x="2351584" y="4365104"/>
            <a:ext cx="829073" cy="400110"/>
          </a:xfrm>
          <a:prstGeom prst="rect">
            <a:avLst/>
          </a:prstGeom>
          <a:noFill/>
        </p:spPr>
        <p:txBody>
          <a:bodyPr wrap="none" rtlCol="0">
            <a:spAutoFit/>
          </a:bodyPr>
          <a:lstStyle/>
          <a:p>
            <a:r>
              <a:rPr lang="zh-CN" altLang="en-US" sz="2000" dirty="0">
                <a:solidFill>
                  <a:schemeClr val="tx1"/>
                </a:solidFill>
              </a:rPr>
              <a:t>数组</a:t>
            </a:r>
            <a:r>
              <a:rPr lang="en-US" altLang="zh-CN" sz="2000" dirty="0">
                <a:solidFill>
                  <a:schemeClr val="tx1"/>
                </a:solidFill>
              </a:rPr>
              <a:t>a</a:t>
            </a:r>
            <a:endParaRPr lang="zh-CN" altLang="en-US" sz="2000" dirty="0">
              <a:solidFill>
                <a:schemeClr val="tx1"/>
              </a:solidFill>
            </a:endParaRPr>
          </a:p>
        </p:txBody>
      </p:sp>
      <p:sp>
        <p:nvSpPr>
          <p:cNvPr id="19" name="文本框 18"/>
          <p:cNvSpPr txBox="1"/>
          <p:nvPr/>
        </p:nvSpPr>
        <p:spPr>
          <a:xfrm>
            <a:off x="1373607" y="4344530"/>
            <a:ext cx="843501" cy="400110"/>
          </a:xfrm>
          <a:prstGeom prst="rect">
            <a:avLst/>
          </a:prstGeom>
          <a:noFill/>
        </p:spPr>
        <p:txBody>
          <a:bodyPr wrap="none" rtlCol="0">
            <a:spAutoFit/>
          </a:bodyPr>
          <a:lstStyle/>
          <a:p>
            <a:r>
              <a:rPr lang="zh-CN" altLang="en-US" sz="2000" dirty="0">
                <a:solidFill>
                  <a:schemeClr val="tx1"/>
                </a:solidFill>
              </a:rPr>
              <a:t>数组</a:t>
            </a:r>
            <a:r>
              <a:rPr lang="en-US" altLang="zh-CN" sz="2000" dirty="0">
                <a:solidFill>
                  <a:schemeClr val="tx1"/>
                </a:solidFill>
              </a:rPr>
              <a:t>p</a:t>
            </a:r>
            <a:endParaRPr lang="zh-CN" altLang="en-US" sz="2000" dirty="0">
              <a:solidFill>
                <a:schemeClr val="tx1"/>
              </a:solidFill>
            </a:endParaRPr>
          </a:p>
        </p:txBody>
      </p:sp>
      <p:cxnSp>
        <p:nvCxnSpPr>
          <p:cNvPr id="20" name="直接箭头连接符 19"/>
          <p:cNvCxnSpPr/>
          <p:nvPr/>
        </p:nvCxnSpPr>
        <p:spPr>
          <a:xfrm>
            <a:off x="1161396" y="2493938"/>
            <a:ext cx="442122"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21" name="文本框 20"/>
          <p:cNvSpPr txBox="1"/>
          <p:nvPr/>
        </p:nvSpPr>
        <p:spPr>
          <a:xfrm>
            <a:off x="458274" y="2004048"/>
            <a:ext cx="986167" cy="400110"/>
          </a:xfrm>
          <a:prstGeom prst="rect">
            <a:avLst/>
          </a:prstGeom>
          <a:noFill/>
        </p:spPr>
        <p:txBody>
          <a:bodyPr wrap="none" rtlCol="0">
            <a:spAutoFit/>
          </a:bodyPr>
          <a:lstStyle/>
          <a:p>
            <a:r>
              <a:rPr lang="zh-CN" altLang="en-US" sz="2000" dirty="0">
                <a:solidFill>
                  <a:schemeClr val="tx1"/>
                </a:solidFill>
              </a:rPr>
              <a:t>指针</a:t>
            </a:r>
            <a:r>
              <a:rPr lang="en-US" altLang="zh-CN" sz="2000" dirty="0">
                <a:solidFill>
                  <a:schemeClr val="tx1"/>
                </a:solidFill>
              </a:rPr>
              <a:t>pp</a:t>
            </a:r>
            <a:endParaRPr lang="zh-CN" altLang="en-US" sz="2000" dirty="0">
              <a:solidFill>
                <a:schemeClr val="tx1"/>
              </a:solidFill>
            </a:endParaRPr>
          </a:p>
        </p:txBody>
      </p:sp>
      <p:graphicFrame>
        <p:nvGraphicFramePr>
          <p:cNvPr id="4" name="表格 3"/>
          <p:cNvGraphicFramePr>
            <a:graphicFrameLocks noGrp="1"/>
          </p:cNvGraphicFramePr>
          <p:nvPr>
            <p:extLst/>
          </p:nvPr>
        </p:nvGraphicFramePr>
        <p:xfrm>
          <a:off x="575293" y="2346678"/>
          <a:ext cx="594877" cy="370840"/>
        </p:xfrm>
        <a:graphic>
          <a:graphicData uri="http://schemas.openxmlformats.org/drawingml/2006/table">
            <a:tbl>
              <a:tblPr firstRow="1" bandRow="1">
                <a:tableStyleId>{5C22544A-7EE6-4342-B048-85BDC9FD1C3A}</a:tableStyleId>
              </a:tblPr>
              <a:tblGrid>
                <a:gridCol w="594877">
                  <a:extLst>
                    <a:ext uri="{9D8B030D-6E8A-4147-A177-3AD203B41FA5}">
                      <a16:colId xmlns:a16="http://schemas.microsoft.com/office/drawing/2014/main" val="2767727257"/>
                    </a:ext>
                  </a:extLst>
                </a:gridCol>
              </a:tblGrid>
              <a:tr h="370840">
                <a:tc>
                  <a:txBody>
                    <a:bodyPr/>
                    <a:lstStyle/>
                    <a:p>
                      <a:endParaRPr lang="zh-CN" altLang="en-US" dirty="0"/>
                    </a:p>
                  </a:txBody>
                  <a:tcPr/>
                </a:tc>
                <a:extLst>
                  <a:ext uri="{0D108BD9-81ED-4DB2-BD59-A6C34878D82A}">
                    <a16:rowId xmlns:a16="http://schemas.microsoft.com/office/drawing/2014/main" val="1043883158"/>
                  </a:ext>
                </a:extLst>
              </a:tr>
            </a:tbl>
          </a:graphicData>
        </a:graphic>
      </p:graphicFrame>
    </p:spTree>
    <p:extLst>
      <p:ext uri="{BB962C8B-B14F-4D97-AF65-F5344CB8AC3E}">
        <p14:creationId xmlns:p14="http://schemas.microsoft.com/office/powerpoint/2010/main" val="509794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par>
                                <p:cTn id="20" presetID="22" presetClass="entr" presetSubtype="8"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par>
                                <p:cTn id="23" presetID="22" presetClass="entr" presetSubtype="8"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left)">
                                      <p:cBhvr>
                                        <p:cTn id="25" dur="500"/>
                                        <p:tgtEl>
                                          <p:spTgt spid="15"/>
                                        </p:tgtEl>
                                      </p:cBhvr>
                                    </p:animEffect>
                                  </p:childTnLst>
                                </p:cTn>
                              </p:par>
                              <p:par>
                                <p:cTn id="26" presetID="22" presetClass="entr" presetSubtype="8"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par>
                                <p:cTn id="29" presetID="22" presetClass="entr" presetSubtype="8"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left)">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9" grpId="0"/>
      <p:bldP spid="2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1EB1119-B1EA-482F-8756-A2F14CA520E4}" type="slidenum">
              <a:rPr lang="zh-CN" altLang="en-US" smtClean="0"/>
              <a:t>29</a:t>
            </a:fld>
            <a:endParaRPr lang="zh-CN" altLang="en-US"/>
          </a:p>
        </p:txBody>
      </p:sp>
      <p:sp>
        <p:nvSpPr>
          <p:cNvPr id="6" name="标题 38913"/>
          <p:cNvSpPr txBox="1">
            <a:spLocks noChangeArrowheads="1"/>
          </p:cNvSpPr>
          <p:nvPr/>
        </p:nvSpPr>
        <p:spPr>
          <a:xfrm>
            <a:off x="1457275" y="39285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b="0" dirty="0"/>
              <a:t>7.3.3 </a:t>
            </a:r>
            <a:r>
              <a:rPr lang="zh-CN" altLang="en-US" b="0" dirty="0"/>
              <a:t>二维数组与指针 </a:t>
            </a:r>
          </a:p>
        </p:txBody>
      </p:sp>
      <p:sp>
        <p:nvSpPr>
          <p:cNvPr id="2" name="矩形 1">
            <a:extLst>
              <a:ext uri="{FF2B5EF4-FFF2-40B4-BE49-F238E27FC236}">
                <a16:creationId xmlns:a16="http://schemas.microsoft.com/office/drawing/2014/main" id="{B5240E86-E7C2-429E-9F5E-AE16396B7D4A}"/>
              </a:ext>
            </a:extLst>
          </p:cNvPr>
          <p:cNvSpPr/>
          <p:nvPr/>
        </p:nvSpPr>
        <p:spPr>
          <a:xfrm>
            <a:off x="695400" y="1412776"/>
            <a:ext cx="4221027" cy="1384995"/>
          </a:xfrm>
          <a:prstGeom prst="rect">
            <a:avLst/>
          </a:prstGeom>
        </p:spPr>
        <p:txBody>
          <a:bodyPr wrap="none">
            <a:spAutoFit/>
          </a:bodyPr>
          <a:lstStyle/>
          <a:p>
            <a:pPr marL="342900" indent="-342900">
              <a:lnSpc>
                <a:spcPct val="150000"/>
              </a:lnSpc>
              <a:spcBef>
                <a:spcPts val="0"/>
              </a:spcBef>
              <a:buFont typeface="Arial" panose="020B0604020202020204" pitchFamily="34" charset="0"/>
              <a:buChar char="•"/>
            </a:pPr>
            <a:r>
              <a:rPr lang="zh-CN" altLang="en-US" sz="2800" b="0" dirty="0">
                <a:solidFill>
                  <a:schemeClr val="tx1"/>
                </a:solidFill>
                <a:latin typeface="Arial" panose="020B0604020202020204" pitchFamily="34" charset="0"/>
              </a:rPr>
              <a:t>二维数组作为函数参数</a:t>
            </a:r>
            <a:r>
              <a:rPr lang="en-US" altLang="zh-CN" sz="2800" b="0" dirty="0">
                <a:solidFill>
                  <a:schemeClr val="tx1"/>
                </a:solidFill>
                <a:latin typeface="Arial" panose="020B0604020202020204" pitchFamily="34" charset="0"/>
              </a:rPr>
              <a:t>:</a:t>
            </a:r>
          </a:p>
          <a:p>
            <a:pPr marL="342900" indent="-342900">
              <a:lnSpc>
                <a:spcPct val="150000"/>
              </a:lnSpc>
              <a:spcBef>
                <a:spcPts val="0"/>
              </a:spcBef>
              <a:buFont typeface="Arial" panose="020B0604020202020204" pitchFamily="34" charset="0"/>
              <a:buChar char="•"/>
            </a:pPr>
            <a:r>
              <a:rPr lang="zh-CN" altLang="en-US" sz="2800" b="0" dirty="0">
                <a:solidFill>
                  <a:schemeClr val="tx1"/>
                </a:solidFill>
                <a:latin typeface="Arial" panose="020B0604020202020204" pitchFamily="34" charset="0"/>
              </a:rPr>
              <a:t>例：</a:t>
            </a:r>
            <a:r>
              <a:rPr lang="zh-CN" altLang="en-US" b="0" dirty="0">
                <a:solidFill>
                  <a:schemeClr val="tx1"/>
                </a:solidFill>
              </a:rPr>
              <a:t>求矩阵最大值</a:t>
            </a:r>
            <a:endParaRPr lang="en-US" altLang="zh-CN" b="0" dirty="0">
              <a:solidFill>
                <a:schemeClr val="tx1"/>
              </a:solidFill>
            </a:endParaRPr>
          </a:p>
        </p:txBody>
      </p:sp>
      <p:sp>
        <p:nvSpPr>
          <p:cNvPr id="5" name="矩形 4">
            <a:extLst>
              <a:ext uri="{FF2B5EF4-FFF2-40B4-BE49-F238E27FC236}">
                <a16:creationId xmlns:a16="http://schemas.microsoft.com/office/drawing/2014/main" id="{F14DCA2C-5805-46C4-906D-71D11C44D7C6}"/>
              </a:ext>
            </a:extLst>
          </p:cNvPr>
          <p:cNvSpPr/>
          <p:nvPr/>
        </p:nvSpPr>
        <p:spPr>
          <a:xfrm>
            <a:off x="573666" y="2783516"/>
            <a:ext cx="4342761" cy="4093428"/>
          </a:xfrm>
          <a:prstGeom prst="rect">
            <a:avLst/>
          </a:prstGeom>
          <a:ln>
            <a:solidFill>
              <a:schemeClr val="accent1"/>
            </a:solidFill>
          </a:ln>
        </p:spPr>
        <p:txBody>
          <a:bodyPr wrap="square">
            <a:spAutoFit/>
          </a:bodyPr>
          <a:lstStyle/>
          <a:p>
            <a:r>
              <a:rPr lang="zh-CN" altLang="en-US" sz="2000" dirty="0">
                <a:solidFill>
                  <a:schemeClr val="tx1"/>
                </a:solidFill>
              </a:rPr>
              <a:t>int fun(</a:t>
            </a:r>
            <a:r>
              <a:rPr lang="zh-CN" altLang="en-US" sz="2000" dirty="0">
                <a:solidFill>
                  <a:srgbClr val="FF0000"/>
                </a:solidFill>
              </a:rPr>
              <a:t>int *array</a:t>
            </a:r>
            <a:r>
              <a:rPr lang="zh-CN" altLang="en-US" sz="2000" dirty="0">
                <a:solidFill>
                  <a:schemeClr val="tx1"/>
                </a:solidFill>
              </a:rPr>
              <a:t>, int n, int m) {</a:t>
            </a:r>
          </a:p>
          <a:p>
            <a:r>
              <a:rPr lang="zh-CN" altLang="en-US" sz="2000" dirty="0">
                <a:solidFill>
                  <a:schemeClr val="tx1"/>
                </a:solidFill>
              </a:rPr>
              <a:t> int max = array[0]</a:t>
            </a:r>
            <a:endParaRPr lang="en-US" altLang="zh-CN" sz="2000" dirty="0">
              <a:solidFill>
                <a:schemeClr val="tx1"/>
              </a:solidFill>
            </a:endParaRPr>
          </a:p>
          <a:p>
            <a:r>
              <a:rPr lang="zh-CN" altLang="en-US" sz="2000" dirty="0">
                <a:solidFill>
                  <a:schemeClr val="tx1"/>
                </a:solidFill>
              </a:rPr>
              <a:t> for (int i = 0; i &lt; n * m; i ++) {</a:t>
            </a:r>
          </a:p>
          <a:p>
            <a:r>
              <a:rPr lang="zh-CN" altLang="en-US" sz="2000" dirty="0">
                <a:solidFill>
                  <a:schemeClr val="tx1"/>
                </a:solidFill>
              </a:rPr>
              <a:t>   if (max &lt; array[i])</a:t>
            </a:r>
          </a:p>
          <a:p>
            <a:r>
              <a:rPr lang="zh-CN" altLang="en-US" sz="2000" dirty="0">
                <a:solidFill>
                  <a:schemeClr val="tx1"/>
                </a:solidFill>
              </a:rPr>
              <a:t>      max = array[i];}</a:t>
            </a:r>
          </a:p>
          <a:p>
            <a:r>
              <a:rPr lang="zh-CN" altLang="en-US" sz="2000" dirty="0">
                <a:solidFill>
                  <a:schemeClr val="tx1"/>
                </a:solidFill>
              </a:rPr>
              <a:t>    return  max;  }</a:t>
            </a:r>
          </a:p>
          <a:p>
            <a:r>
              <a:rPr lang="zh-CN" altLang="en-US" sz="2000" dirty="0">
                <a:solidFill>
                  <a:schemeClr val="tx1"/>
                </a:solidFill>
              </a:rPr>
              <a:t>const int N = 2; </a:t>
            </a:r>
            <a:endParaRPr lang="en-US" altLang="zh-CN" sz="2000" dirty="0">
              <a:solidFill>
                <a:schemeClr val="tx1"/>
              </a:solidFill>
            </a:endParaRPr>
          </a:p>
          <a:p>
            <a:r>
              <a:rPr lang="zh-CN" altLang="en-US" sz="2000" dirty="0">
                <a:solidFill>
                  <a:schemeClr val="tx1"/>
                </a:solidFill>
              </a:rPr>
              <a:t>const int M = 3; </a:t>
            </a:r>
          </a:p>
          <a:p>
            <a:r>
              <a:rPr lang="zh-CN" altLang="en-US" sz="2000" dirty="0">
                <a:solidFill>
                  <a:schemeClr val="tx1"/>
                </a:solidFill>
              </a:rPr>
              <a:t>int main() {</a:t>
            </a:r>
          </a:p>
          <a:p>
            <a:r>
              <a:rPr lang="zh-CN" altLang="en-US" sz="2000" dirty="0">
                <a:solidFill>
                  <a:schemeClr val="tx1"/>
                </a:solidFill>
              </a:rPr>
              <a:t>   int a[N][M] = {{1, 2, 3}, {4, 5, 6}};</a:t>
            </a:r>
            <a:endParaRPr lang="en-US" altLang="zh-CN" sz="2000" dirty="0">
              <a:solidFill>
                <a:schemeClr val="tx1"/>
              </a:solidFill>
            </a:endParaRPr>
          </a:p>
          <a:p>
            <a:r>
              <a:rPr lang="en-US" altLang="zh-CN" sz="2000" dirty="0">
                <a:solidFill>
                  <a:schemeClr val="tx1"/>
                </a:solidFill>
              </a:rPr>
              <a:t>   </a:t>
            </a:r>
            <a:r>
              <a:rPr lang="en-US" altLang="zh-CN" sz="2000" dirty="0">
                <a:solidFill>
                  <a:srgbClr val="7030A0"/>
                </a:solidFill>
              </a:rPr>
              <a:t>int *p=a[0];</a:t>
            </a:r>
            <a:endParaRPr lang="zh-CN" altLang="en-US" sz="2000" dirty="0">
              <a:solidFill>
                <a:srgbClr val="7030A0"/>
              </a:solidFill>
            </a:endParaRPr>
          </a:p>
          <a:p>
            <a:r>
              <a:rPr lang="zh-CN" altLang="en-US" sz="2000" dirty="0">
                <a:solidFill>
                  <a:schemeClr val="tx1"/>
                </a:solidFill>
              </a:rPr>
              <a:t>   cout &lt;&lt; </a:t>
            </a:r>
            <a:r>
              <a:rPr lang="zh-CN" altLang="en-US" sz="2000" dirty="0">
                <a:solidFill>
                  <a:srgbClr val="FF0000"/>
                </a:solidFill>
              </a:rPr>
              <a:t>fun(</a:t>
            </a:r>
            <a:r>
              <a:rPr lang="en-US" altLang="zh-CN" sz="2000" dirty="0">
                <a:solidFill>
                  <a:srgbClr val="FF0000"/>
                </a:solidFill>
              </a:rPr>
              <a:t>p</a:t>
            </a:r>
            <a:r>
              <a:rPr lang="zh-CN" altLang="en-US" sz="2000" dirty="0">
                <a:solidFill>
                  <a:srgbClr val="FF0000"/>
                </a:solidFill>
              </a:rPr>
              <a:t>, N, M) </a:t>
            </a:r>
            <a:r>
              <a:rPr lang="zh-CN" altLang="en-US" sz="2000" dirty="0">
                <a:solidFill>
                  <a:schemeClr val="tx1"/>
                </a:solidFill>
              </a:rPr>
              <a:t>&lt;&lt; endl;</a:t>
            </a:r>
          </a:p>
          <a:p>
            <a:r>
              <a:rPr lang="zh-CN" altLang="en-US" sz="2000" dirty="0">
                <a:solidFill>
                  <a:schemeClr val="tx1"/>
                </a:solidFill>
              </a:rPr>
              <a:t>return 0;}</a:t>
            </a:r>
          </a:p>
        </p:txBody>
      </p:sp>
      <p:sp>
        <p:nvSpPr>
          <p:cNvPr id="7" name="矩形 6">
            <a:extLst>
              <a:ext uri="{FF2B5EF4-FFF2-40B4-BE49-F238E27FC236}">
                <a16:creationId xmlns:a16="http://schemas.microsoft.com/office/drawing/2014/main" id="{DF7B301A-2B3D-44D5-BC4A-805E050DBEFC}"/>
              </a:ext>
            </a:extLst>
          </p:cNvPr>
          <p:cNvSpPr/>
          <p:nvPr/>
        </p:nvSpPr>
        <p:spPr>
          <a:xfrm>
            <a:off x="5280148" y="1533465"/>
            <a:ext cx="6724057" cy="5324535"/>
          </a:xfrm>
          <a:prstGeom prst="rect">
            <a:avLst/>
          </a:prstGeom>
          <a:ln w="19050">
            <a:solidFill>
              <a:schemeClr val="accent1"/>
            </a:solidFill>
          </a:ln>
        </p:spPr>
        <p:txBody>
          <a:bodyPr wrap="square">
            <a:spAutoFit/>
          </a:bodyPr>
          <a:lstStyle/>
          <a:p>
            <a:r>
              <a:rPr lang="zh-CN" altLang="en-US" sz="2000" dirty="0">
                <a:solidFill>
                  <a:srgbClr val="7030A0"/>
                </a:solidFill>
              </a:rPr>
              <a:t>const int N = 2;</a:t>
            </a:r>
          </a:p>
          <a:p>
            <a:r>
              <a:rPr lang="zh-CN" altLang="en-US" sz="2000" dirty="0">
                <a:solidFill>
                  <a:srgbClr val="7030A0"/>
                </a:solidFill>
              </a:rPr>
              <a:t>const int M = 3;</a:t>
            </a:r>
          </a:p>
          <a:p>
            <a:r>
              <a:rPr lang="zh-CN" altLang="en-US" sz="2000" dirty="0">
                <a:solidFill>
                  <a:srgbClr val="7030A0"/>
                </a:solidFill>
              </a:rPr>
              <a:t>void fun(int **array, int n, int m) {</a:t>
            </a:r>
          </a:p>
          <a:p>
            <a:r>
              <a:rPr lang="zh-CN" altLang="en-US" sz="2000" dirty="0">
                <a:solidFill>
                  <a:srgbClr val="7030A0"/>
                </a:solidFill>
              </a:rPr>
              <a:t>	int max = array[0][0];</a:t>
            </a:r>
          </a:p>
          <a:p>
            <a:r>
              <a:rPr lang="zh-CN" altLang="en-US" sz="2000" dirty="0">
                <a:solidFill>
                  <a:srgbClr val="7030A0"/>
                </a:solidFill>
              </a:rPr>
              <a:t>	for (int i = 0; i &lt; n; i++) {</a:t>
            </a:r>
          </a:p>
          <a:p>
            <a:r>
              <a:rPr lang="zh-CN" altLang="en-US" sz="2000" dirty="0">
                <a:solidFill>
                  <a:srgbClr val="7030A0"/>
                </a:solidFill>
              </a:rPr>
              <a:t>		for (int j = 0; j &lt; m; j++) {</a:t>
            </a:r>
          </a:p>
          <a:p>
            <a:r>
              <a:rPr lang="zh-CN" altLang="en-US" sz="2000" dirty="0">
                <a:solidFill>
                  <a:srgbClr val="7030A0"/>
                </a:solidFill>
              </a:rPr>
              <a:t>			if (max &lt; array[i][j])</a:t>
            </a:r>
          </a:p>
          <a:p>
            <a:r>
              <a:rPr lang="zh-CN" altLang="en-US" sz="2000" dirty="0">
                <a:solidFill>
                  <a:srgbClr val="7030A0"/>
                </a:solidFill>
              </a:rPr>
              <a:t>				max = array[i][j];</a:t>
            </a:r>
          </a:p>
          <a:p>
            <a:r>
              <a:rPr lang="zh-CN" altLang="en-US" sz="2000" dirty="0">
                <a:solidFill>
                  <a:srgbClr val="7030A0"/>
                </a:solidFill>
              </a:rPr>
              <a:t>		}</a:t>
            </a:r>
          </a:p>
          <a:p>
            <a:r>
              <a:rPr lang="zh-CN" altLang="en-US" sz="2000" dirty="0">
                <a:solidFill>
                  <a:srgbClr val="7030A0"/>
                </a:solidFill>
              </a:rPr>
              <a:t>	}</a:t>
            </a:r>
          </a:p>
          <a:p>
            <a:r>
              <a:rPr lang="zh-CN" altLang="en-US" sz="2000" dirty="0">
                <a:solidFill>
                  <a:srgbClr val="7030A0"/>
                </a:solidFill>
              </a:rPr>
              <a:t>int main() {</a:t>
            </a:r>
          </a:p>
          <a:p>
            <a:r>
              <a:rPr lang="zh-CN" altLang="en-US" sz="2000" dirty="0">
                <a:solidFill>
                  <a:srgbClr val="7030A0"/>
                </a:solidFill>
              </a:rPr>
              <a:t>   int a[N][M] = {{1, 2, 3}, {4, 5, 6}};</a:t>
            </a:r>
          </a:p>
          <a:p>
            <a:r>
              <a:rPr lang="zh-CN" altLang="en-US" sz="2000" dirty="0">
                <a:solidFill>
                  <a:srgbClr val="7030A0"/>
                </a:solidFill>
              </a:rPr>
              <a:t>   int *p[N];//定义指针数组用于储存二维数组每行的首地址</a:t>
            </a:r>
            <a:endParaRPr lang="en-US" altLang="zh-CN" sz="2000" dirty="0">
              <a:solidFill>
                <a:srgbClr val="7030A0"/>
              </a:solidFill>
            </a:endParaRPr>
          </a:p>
          <a:p>
            <a:r>
              <a:rPr lang="en-US" altLang="zh-CN" sz="2000" dirty="0">
                <a:solidFill>
                  <a:srgbClr val="7030A0"/>
                </a:solidFill>
              </a:rPr>
              <a:t>   </a:t>
            </a:r>
            <a:r>
              <a:rPr lang="zh-CN" altLang="en-US" sz="2000" dirty="0">
                <a:solidFill>
                  <a:srgbClr val="7030A0"/>
                </a:solidFill>
              </a:rPr>
              <a:t>for (int i = 0; i &lt; N; i ++)</a:t>
            </a:r>
          </a:p>
          <a:p>
            <a:r>
              <a:rPr lang="zh-CN" altLang="en-US" sz="2000" dirty="0">
                <a:solidFill>
                  <a:srgbClr val="7030A0"/>
                </a:solidFill>
              </a:rPr>
              <a:t>	p[i] = a[i];</a:t>
            </a:r>
            <a:r>
              <a:rPr lang="en-US" altLang="zh-CN" sz="2000" dirty="0">
                <a:solidFill>
                  <a:srgbClr val="7030A0"/>
                </a:solidFill>
              </a:rPr>
              <a:t>//p[</a:t>
            </a:r>
            <a:r>
              <a:rPr lang="en-US" altLang="zh-CN" sz="2000" dirty="0" err="1">
                <a:solidFill>
                  <a:srgbClr val="7030A0"/>
                </a:solidFill>
              </a:rPr>
              <a:t>i</a:t>
            </a:r>
            <a:r>
              <a:rPr lang="en-US" altLang="zh-CN" sz="2000" dirty="0">
                <a:solidFill>
                  <a:srgbClr val="7030A0"/>
                </a:solidFill>
              </a:rPr>
              <a:t>]</a:t>
            </a:r>
            <a:r>
              <a:rPr lang="zh-CN" altLang="en-US" sz="2000" dirty="0">
                <a:solidFill>
                  <a:srgbClr val="7030A0"/>
                </a:solidFill>
              </a:rPr>
              <a:t>为行指针</a:t>
            </a:r>
          </a:p>
          <a:p>
            <a:r>
              <a:rPr lang="zh-CN" altLang="en-US" sz="2000" dirty="0">
                <a:solidFill>
                  <a:srgbClr val="7030A0"/>
                </a:solidFill>
              </a:rPr>
              <a:t>	fun(p, N, M);//函数调用时传入指针 p</a:t>
            </a:r>
          </a:p>
          <a:p>
            <a:r>
              <a:rPr lang="zh-CN" altLang="en-US" sz="2000" dirty="0">
                <a:solidFill>
                  <a:srgbClr val="7030A0"/>
                </a:solidFill>
              </a:rPr>
              <a:t>return 0;	}</a:t>
            </a:r>
          </a:p>
        </p:txBody>
      </p:sp>
      <p:sp>
        <p:nvSpPr>
          <p:cNvPr id="16" name="流程图: 过程 32772">
            <a:extLst>
              <a:ext uri="{FF2B5EF4-FFF2-40B4-BE49-F238E27FC236}">
                <a16:creationId xmlns:a16="http://schemas.microsoft.com/office/drawing/2014/main" id="{AAA54FB5-45F4-4DD8-8635-9EC2F79E98D8}"/>
              </a:ext>
            </a:extLst>
          </p:cNvPr>
          <p:cNvSpPr>
            <a:spLocks noChangeArrowheads="1"/>
          </p:cNvSpPr>
          <p:nvPr/>
        </p:nvSpPr>
        <p:spPr bwMode="auto">
          <a:xfrm>
            <a:off x="10560496" y="6395882"/>
            <a:ext cx="1355294" cy="393856"/>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t>fun2.cpp</a:t>
            </a:r>
          </a:p>
        </p:txBody>
      </p:sp>
      <p:sp>
        <p:nvSpPr>
          <p:cNvPr id="17" name="流程图: 过程 32772">
            <a:extLst>
              <a:ext uri="{FF2B5EF4-FFF2-40B4-BE49-F238E27FC236}">
                <a16:creationId xmlns:a16="http://schemas.microsoft.com/office/drawing/2014/main" id="{2361088D-3F2D-4C9E-B010-F721783932B4}"/>
              </a:ext>
            </a:extLst>
          </p:cNvPr>
          <p:cNvSpPr>
            <a:spLocks noChangeArrowheads="1"/>
          </p:cNvSpPr>
          <p:nvPr/>
        </p:nvSpPr>
        <p:spPr bwMode="auto">
          <a:xfrm>
            <a:off x="3742994" y="6454772"/>
            <a:ext cx="1355294" cy="393856"/>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t>fun1.cpp</a:t>
            </a:r>
          </a:p>
        </p:txBody>
      </p:sp>
    </p:spTree>
    <p:extLst>
      <p:ext uri="{BB962C8B-B14F-4D97-AF65-F5344CB8AC3E}">
        <p14:creationId xmlns:p14="http://schemas.microsoft.com/office/powerpoint/2010/main" val="6996223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思考：下面哪些有错</a:t>
            </a:r>
            <a:r>
              <a:rPr lang="en-US" altLang="zh-CN" dirty="0"/>
              <a:t>.</a:t>
            </a:r>
            <a:endParaRPr lang="zh-CN" altLang="en-US" dirty="0"/>
          </a:p>
        </p:txBody>
      </p:sp>
      <p:sp>
        <p:nvSpPr>
          <p:cNvPr id="4" name="灯片编号占位符 3"/>
          <p:cNvSpPr>
            <a:spLocks noGrp="1"/>
          </p:cNvSpPr>
          <p:nvPr>
            <p:ph type="sldNum" sz="quarter" idx="12"/>
          </p:nvPr>
        </p:nvSpPr>
        <p:spPr/>
        <p:txBody>
          <a:bodyPr/>
          <a:lstStyle/>
          <a:p>
            <a:fld id="{F1EB1119-B1EA-482F-8756-A2F14CA520E4}" type="slidenum">
              <a:rPr lang="zh-CN" altLang="en-US" smtClean="0"/>
              <a:t>30</a:t>
            </a:fld>
            <a:endParaRPr lang="zh-CN" altLang="en-US"/>
          </a:p>
        </p:txBody>
      </p:sp>
      <p:sp>
        <p:nvSpPr>
          <p:cNvPr id="5" name="标题 38913"/>
          <p:cNvSpPr txBox="1">
            <a:spLocks noChangeArrowheads="1"/>
          </p:cNvSpPr>
          <p:nvPr/>
        </p:nvSpPr>
        <p:spPr>
          <a:xfrm>
            <a:off x="1457275" y="39285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altLang="zh-CN" b="0" dirty="0"/>
              <a:t>7.3.3 </a:t>
            </a:r>
            <a:r>
              <a:rPr lang="zh-CN" altLang="en-US" b="0" dirty="0"/>
              <a:t>二维数组与指针 </a:t>
            </a:r>
          </a:p>
        </p:txBody>
      </p:sp>
      <p:sp>
        <p:nvSpPr>
          <p:cNvPr id="6" name="矩形 5"/>
          <p:cNvSpPr/>
          <p:nvPr/>
        </p:nvSpPr>
        <p:spPr>
          <a:xfrm>
            <a:off x="1209129" y="2790886"/>
            <a:ext cx="2035571" cy="830997"/>
          </a:xfrm>
          <a:prstGeom prst="rect">
            <a:avLst/>
          </a:prstGeom>
          <a:ln>
            <a:solidFill>
              <a:schemeClr val="accent1"/>
            </a:solidFill>
          </a:ln>
        </p:spPr>
        <p:txBody>
          <a:bodyPr wrap="square">
            <a:spAutoFit/>
          </a:bodyPr>
          <a:lstStyle/>
          <a:p>
            <a:r>
              <a:rPr lang="en-US" altLang="zh-CN" dirty="0" err="1">
                <a:solidFill>
                  <a:schemeClr val="tx1"/>
                </a:solidFill>
              </a:rPr>
              <a:t>int</a:t>
            </a:r>
            <a:r>
              <a:rPr lang="en-US" altLang="zh-CN" dirty="0">
                <a:solidFill>
                  <a:schemeClr val="tx1"/>
                </a:solidFill>
              </a:rPr>
              <a:t> a[][4]; </a:t>
            </a:r>
            <a:endParaRPr lang="en-US" altLang="zh-CN" i="1" dirty="0">
              <a:solidFill>
                <a:schemeClr val="tx1"/>
              </a:solidFill>
              <a:latin typeface="consolas" panose="020B0609020204030204" pitchFamily="49" charset="0"/>
            </a:endParaRPr>
          </a:p>
          <a:p>
            <a:r>
              <a:rPr lang="en-US" altLang="zh-CN" i="1" dirty="0" err="1">
                <a:solidFill>
                  <a:srgbClr val="8C8C8C"/>
                </a:solidFill>
                <a:latin typeface="consolas" panose="020B0609020204030204" pitchFamily="49" charset="0"/>
              </a:rPr>
              <a:t>int</a:t>
            </a:r>
            <a:r>
              <a:rPr lang="en-US" altLang="zh-CN" i="1" dirty="0">
                <a:solidFill>
                  <a:srgbClr val="8C8C8C"/>
                </a:solidFill>
                <a:latin typeface="consolas" panose="020B0609020204030204" pitchFamily="49" charset="0"/>
              </a:rPr>
              <a:t> *p=a;</a:t>
            </a:r>
            <a:r>
              <a:rPr lang="en-US" altLang="zh-CN" dirty="0">
                <a:solidFill>
                  <a:srgbClr val="000000"/>
                </a:solidFill>
                <a:latin typeface="consolas" panose="020B0609020204030204" pitchFamily="49" charset="0"/>
              </a:rPr>
              <a:t> </a:t>
            </a:r>
            <a:endParaRPr lang="zh-CN" altLang="en-US" dirty="0"/>
          </a:p>
        </p:txBody>
      </p:sp>
      <p:sp>
        <p:nvSpPr>
          <p:cNvPr id="7" name="矩形 6"/>
          <p:cNvSpPr/>
          <p:nvPr/>
        </p:nvSpPr>
        <p:spPr>
          <a:xfrm>
            <a:off x="4295800" y="2790886"/>
            <a:ext cx="2860973" cy="830997"/>
          </a:xfrm>
          <a:prstGeom prst="rect">
            <a:avLst/>
          </a:prstGeom>
          <a:ln>
            <a:solidFill>
              <a:schemeClr val="accent1"/>
            </a:solidFill>
          </a:ln>
        </p:spPr>
        <p:txBody>
          <a:bodyPr wrap="square">
            <a:spAutoFit/>
          </a:bodyPr>
          <a:lstStyle/>
          <a:p>
            <a:r>
              <a:rPr lang="en-US" altLang="zh-CN" dirty="0" err="1">
                <a:solidFill>
                  <a:schemeClr val="tx1"/>
                </a:solidFill>
              </a:rPr>
              <a:t>int</a:t>
            </a:r>
            <a:r>
              <a:rPr lang="en-US" altLang="zh-CN" dirty="0">
                <a:solidFill>
                  <a:schemeClr val="tx1"/>
                </a:solidFill>
              </a:rPr>
              <a:t> a[][4]; </a:t>
            </a:r>
            <a:endParaRPr lang="en-US" altLang="zh-CN" i="1" dirty="0">
              <a:solidFill>
                <a:schemeClr val="tx1"/>
              </a:solidFill>
              <a:latin typeface="consolas" panose="020B0609020204030204" pitchFamily="49" charset="0"/>
            </a:endParaRPr>
          </a:p>
          <a:p>
            <a:r>
              <a:rPr lang="en-US" altLang="zh-CN" dirty="0" err="1">
                <a:solidFill>
                  <a:srgbClr val="0033B3"/>
                </a:solidFill>
                <a:latin typeface="consolas" panose="020B0609020204030204" pitchFamily="49" charset="0"/>
              </a:rPr>
              <a:t>int</a:t>
            </a:r>
            <a:r>
              <a:rPr lang="en-US" altLang="zh-CN" dirty="0">
                <a:solidFill>
                  <a:srgbClr val="000000"/>
                </a:solidFill>
                <a:latin typeface="consolas" panose="020B0609020204030204" pitchFamily="49" charset="0"/>
              </a:rPr>
              <a:t> </a:t>
            </a:r>
            <a:r>
              <a:rPr lang="en-US" altLang="zh-CN" dirty="0">
                <a:solidFill>
                  <a:srgbClr val="C10000"/>
                </a:solidFill>
                <a:latin typeface="consolas" panose="020B0609020204030204" pitchFamily="49" charset="0"/>
              </a:rPr>
              <a:t>*</a:t>
            </a:r>
            <a:r>
              <a:rPr lang="en-US" altLang="zh-CN" dirty="0">
                <a:solidFill>
                  <a:srgbClr val="000000"/>
                </a:solidFill>
                <a:latin typeface="consolas" panose="020B0609020204030204" pitchFamily="49" charset="0"/>
              </a:rPr>
              <a:t>p</a:t>
            </a:r>
            <a:r>
              <a:rPr lang="en-US" altLang="zh-CN" dirty="0">
                <a:solidFill>
                  <a:srgbClr val="C10000"/>
                </a:solidFill>
                <a:latin typeface="consolas" panose="020B0609020204030204" pitchFamily="49" charset="0"/>
              </a:rPr>
              <a:t>=&amp;</a:t>
            </a:r>
            <a:r>
              <a:rPr lang="en-US" altLang="zh-CN" dirty="0">
                <a:solidFill>
                  <a:srgbClr val="000000"/>
                </a:solidFill>
                <a:latin typeface="consolas" panose="020B0609020204030204" pitchFamily="49" charset="0"/>
              </a:rPr>
              <a:t>a</a:t>
            </a:r>
            <a:r>
              <a:rPr lang="en-US" altLang="zh-CN" dirty="0">
                <a:solidFill>
                  <a:srgbClr val="C10000"/>
                </a:solidFill>
                <a:latin typeface="consolas" panose="020B0609020204030204" pitchFamily="49" charset="0"/>
              </a:rPr>
              <a:t>[</a:t>
            </a:r>
            <a:r>
              <a:rPr lang="en-US" altLang="zh-CN" dirty="0">
                <a:solidFill>
                  <a:srgbClr val="1750EB"/>
                </a:solidFill>
                <a:latin typeface="consolas" panose="020B0609020204030204" pitchFamily="49" charset="0"/>
              </a:rPr>
              <a:t>0</a:t>
            </a:r>
            <a:r>
              <a:rPr lang="en-US" altLang="zh-CN" dirty="0">
                <a:solidFill>
                  <a:srgbClr val="C10000"/>
                </a:solidFill>
                <a:latin typeface="consolas" panose="020B0609020204030204" pitchFamily="49" charset="0"/>
              </a:rPr>
              <a:t>][</a:t>
            </a:r>
            <a:r>
              <a:rPr lang="en-US" altLang="zh-CN" dirty="0">
                <a:solidFill>
                  <a:srgbClr val="1750EB"/>
                </a:solidFill>
                <a:latin typeface="consolas" panose="020B0609020204030204" pitchFamily="49" charset="0"/>
              </a:rPr>
              <a:t>0</a:t>
            </a:r>
            <a:r>
              <a:rPr lang="en-US" altLang="zh-CN" dirty="0">
                <a:solidFill>
                  <a:srgbClr val="C10000"/>
                </a:solidFill>
                <a:latin typeface="consolas" panose="020B0609020204030204" pitchFamily="49" charset="0"/>
              </a:rPr>
              <a:t>];</a:t>
            </a:r>
            <a:endParaRPr lang="zh-CN" altLang="en-US" dirty="0"/>
          </a:p>
        </p:txBody>
      </p:sp>
      <p:sp>
        <p:nvSpPr>
          <p:cNvPr id="8" name="矩形 7"/>
          <p:cNvSpPr/>
          <p:nvPr/>
        </p:nvSpPr>
        <p:spPr>
          <a:xfrm>
            <a:off x="7968208" y="2816595"/>
            <a:ext cx="2300630" cy="830997"/>
          </a:xfrm>
          <a:prstGeom prst="rect">
            <a:avLst/>
          </a:prstGeom>
          <a:ln>
            <a:solidFill>
              <a:schemeClr val="accent1"/>
            </a:solidFill>
          </a:ln>
        </p:spPr>
        <p:txBody>
          <a:bodyPr wrap="none">
            <a:spAutoFit/>
          </a:bodyPr>
          <a:lstStyle/>
          <a:p>
            <a:r>
              <a:rPr lang="en-US" altLang="zh-CN" dirty="0" err="1">
                <a:solidFill>
                  <a:schemeClr val="tx1"/>
                </a:solidFill>
              </a:rPr>
              <a:t>int</a:t>
            </a:r>
            <a:r>
              <a:rPr lang="en-US" altLang="zh-CN" dirty="0">
                <a:solidFill>
                  <a:schemeClr val="tx1"/>
                </a:solidFill>
              </a:rPr>
              <a:t> a[][4]; </a:t>
            </a:r>
            <a:r>
              <a:rPr lang="en-US" altLang="zh-CN" dirty="0">
                <a:solidFill>
                  <a:srgbClr val="000000"/>
                </a:solidFill>
                <a:latin typeface="consolas" panose="020B0609020204030204" pitchFamily="49" charset="0"/>
              </a:rPr>
              <a:t>  </a:t>
            </a:r>
          </a:p>
          <a:p>
            <a:r>
              <a:rPr lang="en-US" altLang="zh-CN" dirty="0" err="1">
                <a:solidFill>
                  <a:srgbClr val="0033B3"/>
                </a:solidFill>
                <a:latin typeface="consolas" panose="020B0609020204030204" pitchFamily="49" charset="0"/>
              </a:rPr>
              <a:t>int</a:t>
            </a:r>
            <a:r>
              <a:rPr lang="en-US" altLang="zh-CN" dirty="0">
                <a:solidFill>
                  <a:srgbClr val="000000"/>
                </a:solidFill>
                <a:latin typeface="consolas" panose="020B0609020204030204" pitchFamily="49" charset="0"/>
              </a:rPr>
              <a:t> </a:t>
            </a:r>
            <a:r>
              <a:rPr lang="en-US" altLang="zh-CN" dirty="0">
                <a:solidFill>
                  <a:srgbClr val="C10000"/>
                </a:solidFill>
                <a:latin typeface="consolas" panose="020B0609020204030204" pitchFamily="49" charset="0"/>
              </a:rPr>
              <a:t>*</a:t>
            </a:r>
            <a:r>
              <a:rPr lang="en-US" altLang="zh-CN" dirty="0">
                <a:solidFill>
                  <a:srgbClr val="000000"/>
                </a:solidFill>
                <a:latin typeface="consolas" panose="020B0609020204030204" pitchFamily="49" charset="0"/>
              </a:rPr>
              <a:t>p</a:t>
            </a:r>
            <a:r>
              <a:rPr lang="en-US" altLang="zh-CN" dirty="0">
                <a:solidFill>
                  <a:srgbClr val="C10000"/>
                </a:solidFill>
                <a:latin typeface="consolas" panose="020B0609020204030204" pitchFamily="49" charset="0"/>
              </a:rPr>
              <a:t>=</a:t>
            </a:r>
            <a:r>
              <a:rPr lang="en-US" altLang="zh-CN" dirty="0">
                <a:solidFill>
                  <a:srgbClr val="000000"/>
                </a:solidFill>
                <a:latin typeface="consolas" panose="020B0609020204030204" pitchFamily="49" charset="0"/>
              </a:rPr>
              <a:t>a</a:t>
            </a:r>
            <a:r>
              <a:rPr lang="en-US" altLang="zh-CN" dirty="0">
                <a:solidFill>
                  <a:srgbClr val="C10000"/>
                </a:solidFill>
                <a:latin typeface="consolas" panose="020B0609020204030204" pitchFamily="49" charset="0"/>
              </a:rPr>
              <a:t>[</a:t>
            </a:r>
            <a:r>
              <a:rPr lang="en-US" altLang="zh-CN" dirty="0">
                <a:solidFill>
                  <a:srgbClr val="1750EB"/>
                </a:solidFill>
                <a:latin typeface="consolas" panose="020B0609020204030204" pitchFamily="49" charset="0"/>
              </a:rPr>
              <a:t>0</a:t>
            </a:r>
            <a:r>
              <a:rPr lang="en-US" altLang="zh-CN" dirty="0">
                <a:solidFill>
                  <a:srgbClr val="C10000"/>
                </a:solidFill>
                <a:latin typeface="consolas" panose="020B0609020204030204" pitchFamily="49" charset="0"/>
              </a:rPr>
              <a:t>];</a:t>
            </a:r>
            <a:r>
              <a:rPr lang="en-US" altLang="zh-CN" dirty="0">
                <a:solidFill>
                  <a:srgbClr val="000000"/>
                </a:solidFill>
              </a:rPr>
              <a:t> </a:t>
            </a:r>
            <a:endParaRPr lang="zh-CN" altLang="en-US" dirty="0"/>
          </a:p>
        </p:txBody>
      </p:sp>
      <p:sp>
        <p:nvSpPr>
          <p:cNvPr id="9" name="文本框 8"/>
          <p:cNvSpPr txBox="1"/>
          <p:nvPr/>
        </p:nvSpPr>
        <p:spPr>
          <a:xfrm>
            <a:off x="5379704" y="4125479"/>
            <a:ext cx="352982" cy="461665"/>
          </a:xfrm>
          <a:prstGeom prst="rect">
            <a:avLst/>
          </a:prstGeom>
          <a:noFill/>
        </p:spPr>
        <p:txBody>
          <a:bodyPr wrap="none" rtlCol="0">
            <a:spAutoFit/>
          </a:bodyPr>
          <a:lstStyle/>
          <a:p>
            <a:r>
              <a:rPr lang="zh-CN" altLang="en-US" dirty="0">
                <a:solidFill>
                  <a:srgbClr val="FF0000"/>
                </a:solidFill>
              </a:rPr>
              <a:t>√</a:t>
            </a:r>
          </a:p>
        </p:txBody>
      </p:sp>
      <p:sp>
        <p:nvSpPr>
          <p:cNvPr id="10" name="文本框 9"/>
          <p:cNvSpPr txBox="1"/>
          <p:nvPr/>
        </p:nvSpPr>
        <p:spPr>
          <a:xfrm>
            <a:off x="8832304" y="4097911"/>
            <a:ext cx="352982" cy="461665"/>
          </a:xfrm>
          <a:prstGeom prst="rect">
            <a:avLst/>
          </a:prstGeom>
          <a:noFill/>
        </p:spPr>
        <p:txBody>
          <a:bodyPr wrap="none" rtlCol="0">
            <a:spAutoFit/>
          </a:bodyPr>
          <a:lstStyle/>
          <a:p>
            <a:r>
              <a:rPr lang="zh-CN" altLang="en-US" dirty="0">
                <a:solidFill>
                  <a:srgbClr val="FF0000"/>
                </a:solidFill>
              </a:rPr>
              <a:t>√</a:t>
            </a:r>
          </a:p>
        </p:txBody>
      </p:sp>
      <p:sp>
        <p:nvSpPr>
          <p:cNvPr id="2" name="文本框 1">
            <a:extLst>
              <a:ext uri="{FF2B5EF4-FFF2-40B4-BE49-F238E27FC236}">
                <a16:creationId xmlns:a16="http://schemas.microsoft.com/office/drawing/2014/main" id="{B14A2E48-C329-4756-8D06-39153016FBD5}"/>
              </a:ext>
            </a:extLst>
          </p:cNvPr>
          <p:cNvSpPr txBox="1"/>
          <p:nvPr/>
        </p:nvSpPr>
        <p:spPr>
          <a:xfrm>
            <a:off x="1209129" y="4146903"/>
            <a:ext cx="1976823" cy="461665"/>
          </a:xfrm>
          <a:prstGeom prst="rect">
            <a:avLst/>
          </a:prstGeom>
          <a:noFill/>
        </p:spPr>
        <p:txBody>
          <a:bodyPr wrap="none" rtlCol="0">
            <a:spAutoFit/>
          </a:bodyPr>
          <a:lstStyle/>
          <a:p>
            <a:r>
              <a:rPr lang="en-US" altLang="zh-CN" dirty="0">
                <a:solidFill>
                  <a:schemeClr val="tx1"/>
                </a:solidFill>
              </a:rPr>
              <a:t>Int (*p)[4]=a;</a:t>
            </a:r>
            <a:endParaRPr lang="zh-CN" altLang="en-US" dirty="0">
              <a:solidFill>
                <a:schemeClr val="tx1"/>
              </a:solidFill>
            </a:endParaRPr>
          </a:p>
        </p:txBody>
      </p:sp>
    </p:spTree>
    <p:extLst>
      <p:ext uri="{BB962C8B-B14F-4D97-AF65-F5344CB8AC3E}">
        <p14:creationId xmlns:p14="http://schemas.microsoft.com/office/powerpoint/2010/main" val="822663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46081"/>
          <p:cNvSpPr>
            <a:spLocks noGrp="1" noChangeArrowheads="1"/>
          </p:cNvSpPr>
          <p:nvPr>
            <p:ph type="title"/>
          </p:nvPr>
        </p:nvSpPr>
        <p:spPr/>
        <p:txBody>
          <a:bodyPr/>
          <a:lstStyle/>
          <a:p>
            <a:r>
              <a:rPr lang="en-US" altLang="zh-CN" dirty="0"/>
              <a:t>7.4 </a:t>
            </a:r>
            <a:r>
              <a:rPr lang="zh-CN" altLang="en-US" dirty="0"/>
              <a:t>指针与函数 </a:t>
            </a:r>
          </a:p>
        </p:txBody>
      </p:sp>
      <p:sp>
        <p:nvSpPr>
          <p:cNvPr id="28675" name="文本占位符 46082"/>
          <p:cNvSpPr>
            <a:spLocks noGrp="1" noChangeArrowheads="1"/>
          </p:cNvSpPr>
          <p:nvPr>
            <p:ph idx="1"/>
          </p:nvPr>
        </p:nvSpPr>
        <p:spPr>
          <a:xfrm>
            <a:off x="1990725" y="1700213"/>
            <a:ext cx="8153400" cy="4114800"/>
          </a:xfrm>
        </p:spPr>
        <p:txBody>
          <a:bodyPr/>
          <a:lstStyle/>
          <a:p>
            <a:pPr>
              <a:lnSpc>
                <a:spcPct val="140000"/>
              </a:lnSpc>
              <a:buFontTx/>
              <a:buNone/>
            </a:pPr>
            <a:r>
              <a:rPr lang="en-US" altLang="zh-CN" dirty="0"/>
              <a:t>C++</a:t>
            </a:r>
            <a:r>
              <a:rPr lang="zh-CN" altLang="en-US" dirty="0"/>
              <a:t>中的函数参数的传递方式：</a:t>
            </a:r>
          </a:p>
          <a:p>
            <a:pPr>
              <a:lnSpc>
                <a:spcPct val="140000"/>
              </a:lnSpc>
              <a:buFontTx/>
              <a:buNone/>
            </a:pPr>
            <a:r>
              <a:rPr lang="en-US" altLang="zh-CN" dirty="0"/>
              <a:t>(1)</a:t>
            </a:r>
            <a:r>
              <a:rPr lang="zh-CN" altLang="en-US" dirty="0"/>
              <a:t>传值调用；</a:t>
            </a:r>
          </a:p>
          <a:p>
            <a:pPr>
              <a:lnSpc>
                <a:spcPct val="140000"/>
              </a:lnSpc>
              <a:buFontTx/>
              <a:buNone/>
            </a:pPr>
            <a:r>
              <a:rPr lang="en-US" altLang="zh-CN" dirty="0"/>
              <a:t>(2) </a:t>
            </a:r>
            <a:r>
              <a:rPr lang="zh-CN" altLang="en-US" dirty="0"/>
              <a:t>传引用。</a:t>
            </a:r>
          </a:p>
          <a:p>
            <a:pPr>
              <a:lnSpc>
                <a:spcPct val="140000"/>
              </a:lnSpc>
            </a:pPr>
            <a:r>
              <a:rPr lang="zh-CN" altLang="en-US" dirty="0"/>
              <a:t>另一种在函数中可以修改相应实参的方法，是通过指针传递（实际上是传递指针的值，属于传值调用）。 </a:t>
            </a:r>
          </a:p>
        </p:txBody>
      </p:sp>
      <p:sp>
        <p:nvSpPr>
          <p:cNvPr id="28673"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2344B86-45E8-4BA1-9468-773E3A7D14D9}" type="slidenum">
              <a:rPr lang="zh-CN" altLang="en-US" smtClean="0"/>
              <a:t>31</a:t>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B559451F-4C70-436C-8A8B-7C8EA734A6D5}" type="slidenum">
              <a:rPr lang="zh-CN" altLang="en-US" smtClean="0"/>
              <a:t>32</a:t>
            </a:fld>
            <a:endParaRPr lang="zh-CN" altLang="en-US"/>
          </a:p>
        </p:txBody>
      </p:sp>
      <p:sp>
        <p:nvSpPr>
          <p:cNvPr id="29698" name="文本框 48129"/>
          <p:cNvSpPr txBox="1">
            <a:spLocks noChangeArrowheads="1"/>
          </p:cNvSpPr>
          <p:nvPr/>
        </p:nvSpPr>
        <p:spPr bwMode="auto">
          <a:xfrm>
            <a:off x="1919288" y="1628775"/>
            <a:ext cx="8640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dirty="0">
                <a:solidFill>
                  <a:schemeClr val="tx1"/>
                </a:solidFill>
              </a:rPr>
              <a:t>【5.4】</a:t>
            </a:r>
            <a:r>
              <a:rPr lang="zh-CN" altLang="en-US" dirty="0">
                <a:solidFill>
                  <a:schemeClr val="tx1"/>
                </a:solidFill>
              </a:rPr>
              <a:t>交换变量</a:t>
            </a:r>
            <a:r>
              <a:rPr lang="en-US" altLang="zh-CN" dirty="0">
                <a:solidFill>
                  <a:schemeClr val="tx1"/>
                </a:solidFill>
              </a:rPr>
              <a:t>x</a:t>
            </a:r>
            <a:r>
              <a:rPr lang="zh-CN" altLang="en-US" dirty="0">
                <a:solidFill>
                  <a:schemeClr val="tx1"/>
                </a:solidFill>
              </a:rPr>
              <a:t>与</a:t>
            </a:r>
            <a:r>
              <a:rPr lang="en-US" altLang="zh-CN" dirty="0">
                <a:solidFill>
                  <a:schemeClr val="tx1"/>
                </a:solidFill>
              </a:rPr>
              <a:t>y</a:t>
            </a:r>
            <a:r>
              <a:rPr lang="zh-CN" altLang="en-US" dirty="0">
                <a:solidFill>
                  <a:schemeClr val="tx1"/>
                </a:solidFill>
              </a:rPr>
              <a:t>的值。采用基本类型的变量做函数形参。</a:t>
            </a:r>
          </a:p>
        </p:txBody>
      </p:sp>
      <p:sp>
        <p:nvSpPr>
          <p:cNvPr id="29699" name="矩形 48130"/>
          <p:cNvSpPr>
            <a:spLocks noChangeArrowheads="1"/>
          </p:cNvSpPr>
          <p:nvPr/>
        </p:nvSpPr>
        <p:spPr bwMode="auto">
          <a:xfrm>
            <a:off x="1897406" y="4857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fontAlgn="base"/>
            <a:r>
              <a:rPr lang="en-US" altLang="zh-CN" sz="4000" b="0" dirty="0">
                <a:solidFill>
                  <a:schemeClr val="tx1"/>
                </a:solidFill>
              </a:rPr>
              <a:t>7.4 </a:t>
            </a:r>
            <a:r>
              <a:rPr lang="zh-CN" altLang="en-US" sz="4000" b="0" dirty="0">
                <a:solidFill>
                  <a:schemeClr val="tx1"/>
                </a:solidFill>
              </a:rPr>
              <a:t>指针与函数 </a:t>
            </a:r>
          </a:p>
        </p:txBody>
      </p:sp>
      <p:sp>
        <p:nvSpPr>
          <p:cNvPr id="29700" name="文本框 48131"/>
          <p:cNvSpPr txBox="1">
            <a:spLocks noChangeArrowheads="1"/>
          </p:cNvSpPr>
          <p:nvPr/>
        </p:nvSpPr>
        <p:spPr bwMode="auto">
          <a:xfrm>
            <a:off x="3145155" y="2060576"/>
            <a:ext cx="6624320" cy="409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fr-FR" altLang="zh-CN" sz="2600" dirty="0">
                <a:solidFill>
                  <a:schemeClr val="tx1"/>
                </a:solidFill>
              </a:rPr>
              <a:t>void  main ( )</a:t>
            </a:r>
          </a:p>
          <a:p>
            <a:r>
              <a:rPr lang="fr-FR" altLang="zh-CN" sz="2600" dirty="0">
                <a:solidFill>
                  <a:schemeClr val="tx1"/>
                </a:solidFill>
              </a:rPr>
              <a:t>{	int  x=10, y=20;</a:t>
            </a:r>
          </a:p>
          <a:p>
            <a:r>
              <a:rPr lang="fr-FR" altLang="zh-CN" sz="2600" dirty="0">
                <a:solidFill>
                  <a:schemeClr val="tx1"/>
                </a:solidFill>
              </a:rPr>
              <a:t>	swap(x, y);</a:t>
            </a:r>
          </a:p>
          <a:p>
            <a:r>
              <a:rPr lang="fr-FR" altLang="zh-CN" sz="2600" dirty="0">
                <a:solidFill>
                  <a:schemeClr val="tx1"/>
                </a:solidFill>
              </a:rPr>
              <a:t>	cout &lt;&lt; x &lt;&lt; "\t" &lt;&lt; y &lt;&lt; endl;</a:t>
            </a:r>
            <a:endParaRPr lang="en-US" altLang="zh-CN" sz="2600" dirty="0">
              <a:solidFill>
                <a:schemeClr val="tx1"/>
              </a:solidFill>
            </a:endParaRPr>
          </a:p>
          <a:p>
            <a:r>
              <a:rPr lang="en-US" altLang="zh-CN" sz="2600" dirty="0">
                <a:solidFill>
                  <a:schemeClr val="tx1"/>
                </a:solidFill>
              </a:rPr>
              <a:t>}</a:t>
            </a:r>
          </a:p>
          <a:p>
            <a:endParaRPr lang="en-US" altLang="zh-CN" sz="2600" dirty="0">
              <a:solidFill>
                <a:schemeClr val="tx1"/>
              </a:solidFill>
            </a:endParaRPr>
          </a:p>
          <a:p>
            <a:r>
              <a:rPr lang="en-US" altLang="zh-CN" sz="2600" dirty="0">
                <a:solidFill>
                  <a:schemeClr val="tx1"/>
                </a:solidFill>
              </a:rPr>
              <a:t>void swap( int  a,  int  b)</a:t>
            </a:r>
            <a:endParaRPr lang="fr-FR" altLang="zh-CN" sz="2600" dirty="0">
              <a:solidFill>
                <a:schemeClr val="tx1"/>
              </a:solidFill>
            </a:endParaRPr>
          </a:p>
          <a:p>
            <a:r>
              <a:rPr lang="fr-FR" altLang="zh-CN" sz="2600" dirty="0">
                <a:solidFill>
                  <a:schemeClr val="tx1"/>
                </a:solidFill>
              </a:rPr>
              <a:t>{	int  t;</a:t>
            </a:r>
          </a:p>
          <a:p>
            <a:r>
              <a:rPr lang="fr-FR" altLang="zh-CN" sz="2600" dirty="0">
                <a:solidFill>
                  <a:schemeClr val="tx1"/>
                </a:solidFill>
              </a:rPr>
              <a:t>	t = a ;  		a = b ;  	b = t ;</a:t>
            </a:r>
          </a:p>
          <a:p>
            <a:r>
              <a:rPr lang="en-US" altLang="zh-CN" sz="2600" dirty="0">
                <a:solidFill>
                  <a:schemeClr val="tx1"/>
                </a:solidFill>
              </a:rPr>
              <a:t>} </a:t>
            </a:r>
            <a:endParaRPr lang="zh-CN" altLang="en-US" sz="2600" dirty="0">
              <a:solidFill>
                <a:schemeClr val="tx1"/>
              </a:solidFill>
            </a:endParaRPr>
          </a:p>
        </p:txBody>
      </p:sp>
      <p:sp>
        <p:nvSpPr>
          <p:cNvPr id="29701" name="流程图: 过程 48132"/>
          <p:cNvSpPr>
            <a:spLocks noChangeArrowheads="1"/>
          </p:cNvSpPr>
          <p:nvPr/>
        </p:nvSpPr>
        <p:spPr bwMode="auto">
          <a:xfrm>
            <a:off x="7824154" y="6309360"/>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solidFill>
                  <a:schemeClr val="tx1"/>
                </a:solidFill>
              </a:rPr>
              <a:t>Ex5-d.cpp</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3771F10D-3627-4945-BC0C-26FF0ADE4EA1}" type="slidenum">
              <a:rPr lang="zh-CN" altLang="en-US" smtClean="0"/>
              <a:t>33</a:t>
            </a:fld>
            <a:endParaRPr lang="zh-CN" altLang="en-US"/>
          </a:p>
        </p:txBody>
      </p:sp>
      <p:sp>
        <p:nvSpPr>
          <p:cNvPr id="30722" name="文本框 49153"/>
          <p:cNvSpPr txBox="1">
            <a:spLocks noChangeArrowheads="1"/>
          </p:cNvSpPr>
          <p:nvPr/>
        </p:nvSpPr>
        <p:spPr bwMode="auto">
          <a:xfrm>
            <a:off x="2998788" y="1758951"/>
            <a:ext cx="7200900" cy="489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600" dirty="0">
                <a:solidFill>
                  <a:schemeClr val="tx1"/>
                </a:solidFill>
              </a:rPr>
              <a:t>【5.5】</a:t>
            </a:r>
            <a:r>
              <a:rPr lang="zh-CN" altLang="en-US" sz="2600" dirty="0">
                <a:solidFill>
                  <a:schemeClr val="tx1"/>
                </a:solidFill>
              </a:rPr>
              <a:t>交换变量</a:t>
            </a:r>
            <a:r>
              <a:rPr lang="en-US" altLang="zh-CN" sz="2600" dirty="0">
                <a:solidFill>
                  <a:schemeClr val="tx1"/>
                </a:solidFill>
              </a:rPr>
              <a:t>x</a:t>
            </a:r>
            <a:r>
              <a:rPr lang="zh-CN" altLang="en-US" sz="2600" dirty="0">
                <a:solidFill>
                  <a:schemeClr val="tx1"/>
                </a:solidFill>
              </a:rPr>
              <a:t>与</a:t>
            </a:r>
            <a:r>
              <a:rPr lang="en-US" altLang="zh-CN" sz="2600" dirty="0">
                <a:solidFill>
                  <a:schemeClr val="tx1"/>
                </a:solidFill>
              </a:rPr>
              <a:t>y</a:t>
            </a:r>
            <a:r>
              <a:rPr lang="zh-CN" altLang="en-US" sz="2600" dirty="0">
                <a:solidFill>
                  <a:schemeClr val="tx1"/>
                </a:solidFill>
              </a:rPr>
              <a:t>的值。采用引用做函数形参。 </a:t>
            </a:r>
          </a:p>
          <a:p>
            <a:r>
              <a:rPr lang="fr-FR" altLang="zh-CN" sz="2600" dirty="0">
                <a:solidFill>
                  <a:schemeClr val="tx1"/>
                </a:solidFill>
              </a:rPr>
              <a:t>int  main ( )</a:t>
            </a:r>
          </a:p>
          <a:p>
            <a:r>
              <a:rPr lang="fr-FR" altLang="zh-CN" sz="2600" dirty="0">
                <a:solidFill>
                  <a:schemeClr val="tx1"/>
                </a:solidFill>
              </a:rPr>
              <a:t>{	int  x=10, y=20;</a:t>
            </a:r>
          </a:p>
          <a:p>
            <a:r>
              <a:rPr lang="fr-FR" altLang="zh-CN" sz="2600" dirty="0">
                <a:solidFill>
                  <a:schemeClr val="tx1"/>
                </a:solidFill>
              </a:rPr>
              <a:t>	swap(x, y);</a:t>
            </a:r>
          </a:p>
          <a:p>
            <a:r>
              <a:rPr lang="fr-FR" altLang="zh-CN" sz="2600" dirty="0">
                <a:solidFill>
                  <a:schemeClr val="tx1"/>
                </a:solidFill>
              </a:rPr>
              <a:t>	cout &lt;&lt; x &lt;&lt; "\t" &lt;&lt; y &lt;&lt; endl;</a:t>
            </a:r>
            <a:endParaRPr lang="en-US" altLang="zh-CN" sz="2600" dirty="0">
              <a:solidFill>
                <a:schemeClr val="tx1"/>
              </a:solidFill>
            </a:endParaRPr>
          </a:p>
          <a:p>
            <a:r>
              <a:rPr lang="en-US" altLang="zh-CN" sz="2600" dirty="0">
                <a:solidFill>
                  <a:schemeClr val="tx1"/>
                </a:solidFill>
              </a:rPr>
              <a:t>	return  0;</a:t>
            </a:r>
          </a:p>
          <a:p>
            <a:r>
              <a:rPr lang="en-US" altLang="zh-CN" sz="2600" dirty="0">
                <a:solidFill>
                  <a:schemeClr val="tx1"/>
                </a:solidFill>
              </a:rPr>
              <a:t>}</a:t>
            </a:r>
          </a:p>
          <a:p>
            <a:r>
              <a:rPr lang="en-US" altLang="zh-CN" sz="2600" dirty="0">
                <a:solidFill>
                  <a:schemeClr val="tx1"/>
                </a:solidFill>
              </a:rPr>
              <a:t>void  swap(int  &amp;a, int  &amp;b)</a:t>
            </a:r>
            <a:endParaRPr lang="fr-FR" altLang="zh-CN" sz="2600" dirty="0">
              <a:solidFill>
                <a:schemeClr val="tx1"/>
              </a:solidFill>
            </a:endParaRPr>
          </a:p>
          <a:p>
            <a:r>
              <a:rPr lang="fr-FR" altLang="zh-CN" sz="2600" dirty="0">
                <a:solidFill>
                  <a:schemeClr val="tx1"/>
                </a:solidFill>
              </a:rPr>
              <a:t>{	int  t;</a:t>
            </a:r>
          </a:p>
          <a:p>
            <a:r>
              <a:rPr lang="fr-FR" altLang="zh-CN" sz="2600" dirty="0">
                <a:solidFill>
                  <a:schemeClr val="tx1"/>
                </a:solidFill>
              </a:rPr>
              <a:t>	t = a ;  	a = b ;  b = t ;</a:t>
            </a:r>
          </a:p>
          <a:p>
            <a:r>
              <a:rPr lang="en-US" altLang="zh-CN" sz="2600" dirty="0">
                <a:solidFill>
                  <a:schemeClr val="tx1"/>
                </a:solidFill>
              </a:rPr>
              <a:t>} </a:t>
            </a:r>
            <a:endParaRPr lang="zh-CN" altLang="en-US" sz="2600" dirty="0">
              <a:solidFill>
                <a:schemeClr val="tx1"/>
              </a:solidFill>
            </a:endParaRPr>
          </a:p>
        </p:txBody>
      </p:sp>
      <p:sp>
        <p:nvSpPr>
          <p:cNvPr id="30723" name="矩形 49154"/>
          <p:cNvSpPr>
            <a:spLocks noChangeArrowheads="1"/>
          </p:cNvSpPr>
          <p:nvPr/>
        </p:nvSpPr>
        <p:spPr bwMode="auto">
          <a:xfrm>
            <a:off x="2209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fontAlgn="base"/>
            <a:r>
              <a:rPr lang="en-US" altLang="zh-CN" sz="4000" b="0" dirty="0">
                <a:solidFill>
                  <a:schemeClr val="tx1"/>
                </a:solidFill>
              </a:rPr>
              <a:t>7.4 </a:t>
            </a:r>
            <a:r>
              <a:rPr lang="zh-CN" altLang="en-US" sz="4000" b="0" dirty="0">
                <a:solidFill>
                  <a:schemeClr val="tx1"/>
                </a:solidFill>
              </a:rPr>
              <a:t>指针与函数 </a:t>
            </a:r>
          </a:p>
        </p:txBody>
      </p:sp>
      <p:sp>
        <p:nvSpPr>
          <p:cNvPr id="30724" name="流程图: 过程 49155"/>
          <p:cNvSpPr>
            <a:spLocks noChangeArrowheads="1"/>
          </p:cNvSpPr>
          <p:nvPr/>
        </p:nvSpPr>
        <p:spPr bwMode="auto">
          <a:xfrm>
            <a:off x="8976044" y="5805170"/>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solidFill>
                  <a:schemeClr val="tx1"/>
                </a:solidFill>
              </a:rPr>
              <a:t>Ex5-e.cpp</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7DB0006C-6240-4917-AFDA-90D6277416B2}" type="slidenum">
              <a:rPr lang="zh-CN" altLang="en-US" smtClean="0"/>
              <a:t>34</a:t>
            </a:fld>
            <a:endParaRPr lang="zh-CN" altLang="en-US"/>
          </a:p>
        </p:txBody>
      </p:sp>
      <p:sp>
        <p:nvSpPr>
          <p:cNvPr id="31746" name="文本框 47107"/>
          <p:cNvSpPr txBox="1">
            <a:spLocks noChangeArrowheads="1"/>
          </p:cNvSpPr>
          <p:nvPr/>
        </p:nvSpPr>
        <p:spPr bwMode="auto">
          <a:xfrm>
            <a:off x="2998788" y="1758951"/>
            <a:ext cx="720090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dirty="0">
                <a:solidFill>
                  <a:schemeClr val="tx1"/>
                </a:solidFill>
              </a:rPr>
              <a:t>【5.6】</a:t>
            </a:r>
            <a:r>
              <a:rPr lang="zh-CN" altLang="en-US" dirty="0">
                <a:solidFill>
                  <a:schemeClr val="tx1"/>
                </a:solidFill>
              </a:rPr>
              <a:t>交换变量</a:t>
            </a:r>
            <a:r>
              <a:rPr lang="en-US" altLang="zh-CN" dirty="0">
                <a:solidFill>
                  <a:schemeClr val="tx1"/>
                </a:solidFill>
              </a:rPr>
              <a:t>x</a:t>
            </a:r>
            <a:r>
              <a:rPr lang="zh-CN" altLang="en-US" dirty="0">
                <a:solidFill>
                  <a:schemeClr val="tx1"/>
                </a:solidFill>
              </a:rPr>
              <a:t>与</a:t>
            </a:r>
            <a:r>
              <a:rPr lang="en-US" altLang="zh-CN" dirty="0">
                <a:solidFill>
                  <a:schemeClr val="tx1"/>
                </a:solidFill>
              </a:rPr>
              <a:t>y</a:t>
            </a:r>
            <a:r>
              <a:rPr lang="zh-CN" altLang="en-US" dirty="0">
                <a:solidFill>
                  <a:schemeClr val="tx1"/>
                </a:solidFill>
              </a:rPr>
              <a:t>的值。采用指针做函数形参。 </a:t>
            </a:r>
          </a:p>
          <a:p>
            <a:r>
              <a:rPr lang="fr-FR" altLang="zh-CN" dirty="0">
                <a:solidFill>
                  <a:schemeClr val="tx1"/>
                </a:solidFill>
              </a:rPr>
              <a:t>int  main ( )</a:t>
            </a:r>
          </a:p>
          <a:p>
            <a:r>
              <a:rPr lang="fr-FR" altLang="zh-CN" dirty="0">
                <a:solidFill>
                  <a:schemeClr val="tx1"/>
                </a:solidFill>
              </a:rPr>
              <a:t>{	int  x=10, y=20;</a:t>
            </a:r>
          </a:p>
          <a:p>
            <a:endParaRPr lang="fr-FR" altLang="zh-CN" dirty="0">
              <a:solidFill>
                <a:schemeClr val="tx1"/>
              </a:solidFill>
            </a:endParaRPr>
          </a:p>
          <a:p>
            <a:r>
              <a:rPr lang="fr-FR" altLang="zh-CN" dirty="0">
                <a:solidFill>
                  <a:schemeClr val="tx1"/>
                </a:solidFill>
              </a:rPr>
              <a:t>	swap( &amp;x, &amp; y);</a:t>
            </a:r>
          </a:p>
          <a:p>
            <a:r>
              <a:rPr lang="fr-FR" altLang="zh-CN" dirty="0">
                <a:solidFill>
                  <a:schemeClr val="tx1"/>
                </a:solidFill>
              </a:rPr>
              <a:t>	cout &lt;&lt; x &lt;&lt; "\t" &lt;&lt; y &lt;&lt; endl;</a:t>
            </a:r>
            <a:endParaRPr lang="en-US" altLang="zh-CN" dirty="0">
              <a:solidFill>
                <a:schemeClr val="tx1"/>
              </a:solidFill>
            </a:endParaRPr>
          </a:p>
          <a:p>
            <a:r>
              <a:rPr lang="en-US" altLang="zh-CN" dirty="0">
                <a:solidFill>
                  <a:schemeClr val="tx1"/>
                </a:solidFill>
              </a:rPr>
              <a:t>	return  0;</a:t>
            </a:r>
          </a:p>
          <a:p>
            <a:r>
              <a:rPr lang="en-US" altLang="zh-CN" dirty="0">
                <a:solidFill>
                  <a:schemeClr val="tx1"/>
                </a:solidFill>
              </a:rPr>
              <a:t>}</a:t>
            </a:r>
          </a:p>
          <a:p>
            <a:r>
              <a:rPr lang="en-US" altLang="zh-CN" dirty="0">
                <a:solidFill>
                  <a:schemeClr val="tx1"/>
                </a:solidFill>
              </a:rPr>
              <a:t>void  swap(int *px, int *</a:t>
            </a:r>
            <a:r>
              <a:rPr lang="en-US" altLang="zh-CN" dirty="0" err="1">
                <a:solidFill>
                  <a:schemeClr val="tx1"/>
                </a:solidFill>
              </a:rPr>
              <a:t>py</a:t>
            </a:r>
            <a:r>
              <a:rPr lang="en-US" altLang="zh-CN" dirty="0">
                <a:solidFill>
                  <a:schemeClr val="tx1"/>
                </a:solidFill>
              </a:rPr>
              <a:t> )</a:t>
            </a:r>
            <a:endParaRPr lang="fr-FR" altLang="zh-CN" dirty="0">
              <a:solidFill>
                <a:schemeClr val="tx1"/>
              </a:solidFill>
            </a:endParaRPr>
          </a:p>
          <a:p>
            <a:r>
              <a:rPr lang="fr-FR" altLang="zh-CN" dirty="0">
                <a:solidFill>
                  <a:schemeClr val="tx1"/>
                </a:solidFill>
              </a:rPr>
              <a:t>{	int  t;</a:t>
            </a:r>
          </a:p>
          <a:p>
            <a:endParaRPr lang="fr-FR" altLang="zh-CN" dirty="0">
              <a:solidFill>
                <a:schemeClr val="tx1"/>
              </a:solidFill>
            </a:endParaRPr>
          </a:p>
          <a:p>
            <a:r>
              <a:rPr lang="fr-FR" altLang="zh-CN" dirty="0">
                <a:solidFill>
                  <a:schemeClr val="tx1"/>
                </a:solidFill>
              </a:rPr>
              <a:t>	t=*px ;    *px=*py ;   *py= t; </a:t>
            </a:r>
          </a:p>
          <a:p>
            <a:r>
              <a:rPr lang="en-US" altLang="zh-CN" dirty="0">
                <a:solidFill>
                  <a:schemeClr val="tx1"/>
                </a:solidFill>
              </a:rPr>
              <a:t>} </a:t>
            </a:r>
            <a:endParaRPr lang="zh-CN" altLang="en-US" dirty="0">
              <a:solidFill>
                <a:schemeClr val="tx1"/>
              </a:solidFill>
            </a:endParaRPr>
          </a:p>
        </p:txBody>
      </p:sp>
      <p:sp>
        <p:nvSpPr>
          <p:cNvPr id="31747" name="矩形 47108"/>
          <p:cNvSpPr>
            <a:spLocks noChangeArrowheads="1"/>
          </p:cNvSpPr>
          <p:nvPr/>
        </p:nvSpPr>
        <p:spPr bwMode="auto">
          <a:xfrm>
            <a:off x="2209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fontAlgn="base"/>
            <a:r>
              <a:rPr lang="en-US" altLang="zh-CN" sz="4000" b="0" dirty="0">
                <a:solidFill>
                  <a:schemeClr val="tx1"/>
                </a:solidFill>
              </a:rPr>
              <a:t>7.4 </a:t>
            </a:r>
            <a:r>
              <a:rPr lang="zh-CN" altLang="en-US" sz="4000" b="0" dirty="0">
                <a:solidFill>
                  <a:schemeClr val="tx1"/>
                </a:solidFill>
              </a:rPr>
              <a:t>指针与函数 </a:t>
            </a:r>
          </a:p>
        </p:txBody>
      </p:sp>
      <p:sp>
        <p:nvSpPr>
          <p:cNvPr id="31748" name="流程图: 过程 47110"/>
          <p:cNvSpPr>
            <a:spLocks noChangeArrowheads="1"/>
          </p:cNvSpPr>
          <p:nvPr/>
        </p:nvSpPr>
        <p:spPr bwMode="auto">
          <a:xfrm>
            <a:off x="8688389" y="5013325"/>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solidFill>
                  <a:schemeClr val="tx1"/>
                </a:solidFill>
              </a:rPr>
              <a:t>Ex5-f.cpp</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69" name="文本框 51201"/>
          <p:cNvSpPr txBox="1">
            <a:spLocks noChangeArrowheads="1"/>
          </p:cNvSpPr>
          <p:nvPr/>
        </p:nvSpPr>
        <p:spPr bwMode="auto">
          <a:xfrm>
            <a:off x="1560513" y="549276"/>
            <a:ext cx="9144000" cy="637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chemeClr val="tx1"/>
                </a:solidFill>
              </a:rPr>
              <a:t>【</a:t>
            </a:r>
            <a:r>
              <a:rPr lang="zh-CN" altLang="en-US" dirty="0">
                <a:solidFill>
                  <a:schemeClr val="tx1"/>
                </a:solidFill>
              </a:rPr>
              <a:t>例</a:t>
            </a:r>
            <a:r>
              <a:rPr lang="en-US" altLang="zh-CN" dirty="0">
                <a:solidFill>
                  <a:schemeClr val="tx1"/>
                </a:solidFill>
              </a:rPr>
              <a:t>7.6】</a:t>
            </a:r>
            <a:r>
              <a:rPr lang="zh-CN" altLang="en-US" dirty="0">
                <a:solidFill>
                  <a:schemeClr val="tx1"/>
                </a:solidFill>
              </a:rPr>
              <a:t>将数组中从第</a:t>
            </a:r>
            <a:r>
              <a:rPr lang="en-US" altLang="zh-CN" dirty="0" err="1">
                <a:solidFill>
                  <a:schemeClr val="tx1"/>
                </a:solidFill>
              </a:rPr>
              <a:t>i</a:t>
            </a:r>
            <a:r>
              <a:rPr lang="zh-CN" altLang="en-US" dirty="0">
                <a:solidFill>
                  <a:schemeClr val="tx1"/>
                </a:solidFill>
              </a:rPr>
              <a:t>个开始的</a:t>
            </a:r>
            <a:r>
              <a:rPr lang="en-US" altLang="zh-CN" dirty="0">
                <a:solidFill>
                  <a:schemeClr val="tx1"/>
                </a:solidFill>
              </a:rPr>
              <a:t>n</a:t>
            </a:r>
            <a:r>
              <a:rPr lang="zh-CN" altLang="en-US" dirty="0">
                <a:solidFill>
                  <a:schemeClr val="tx1"/>
                </a:solidFill>
              </a:rPr>
              <a:t>个元素，反序存放在原数组中。</a:t>
            </a:r>
          </a:p>
          <a:p>
            <a:r>
              <a:rPr lang="en-US" altLang="zh-CN" dirty="0">
                <a:solidFill>
                  <a:schemeClr val="tx1"/>
                </a:solidFill>
              </a:rPr>
              <a:t>        	void </a:t>
            </a:r>
            <a:r>
              <a:rPr lang="en-US" altLang="zh-CN" dirty="0" err="1">
                <a:solidFill>
                  <a:schemeClr val="tx1"/>
                </a:solidFill>
              </a:rPr>
              <a:t>reverseArray</a:t>
            </a:r>
            <a:r>
              <a:rPr lang="en-US" altLang="zh-CN" dirty="0">
                <a:solidFill>
                  <a:schemeClr val="tx1"/>
                </a:solidFill>
              </a:rPr>
              <a:t>(int x[ ],int start, int count);</a:t>
            </a:r>
          </a:p>
          <a:p>
            <a:r>
              <a:rPr lang="en-US" altLang="zh-CN" dirty="0">
                <a:solidFill>
                  <a:schemeClr val="tx1"/>
                </a:solidFill>
              </a:rPr>
              <a:t>        	int  main ( )</a:t>
            </a:r>
          </a:p>
          <a:p>
            <a:r>
              <a:rPr lang="en-US" altLang="zh-CN" dirty="0">
                <a:solidFill>
                  <a:schemeClr val="tx1"/>
                </a:solidFill>
              </a:rPr>
              <a:t>        	{	int </a:t>
            </a:r>
            <a:r>
              <a:rPr lang="en-US" altLang="zh-CN" dirty="0" err="1">
                <a:solidFill>
                  <a:schemeClr val="tx1"/>
                </a:solidFill>
              </a:rPr>
              <a:t>i,a</a:t>
            </a:r>
            <a:r>
              <a:rPr lang="en-US" altLang="zh-CN" dirty="0">
                <a:solidFill>
                  <a:schemeClr val="tx1"/>
                </a:solidFill>
              </a:rPr>
              <a:t>[10]={0,1,2,3,4,5,6,7,8,9};</a:t>
            </a:r>
          </a:p>
          <a:p>
            <a:endParaRPr lang="en-US" altLang="zh-CN" dirty="0">
              <a:solidFill>
                <a:schemeClr val="tx1"/>
              </a:solidFill>
            </a:endParaRPr>
          </a:p>
          <a:p>
            <a:r>
              <a:rPr lang="en-US" altLang="zh-CN" dirty="0">
                <a:solidFill>
                  <a:schemeClr val="tx1"/>
                </a:solidFill>
              </a:rPr>
              <a:t>		</a:t>
            </a:r>
            <a:r>
              <a:rPr lang="en-US" altLang="zh-CN" dirty="0" err="1">
                <a:solidFill>
                  <a:schemeClr val="tx1"/>
                </a:solidFill>
              </a:rPr>
              <a:t>reverseArray</a:t>
            </a:r>
            <a:r>
              <a:rPr lang="en-US" altLang="zh-CN" dirty="0">
                <a:solidFill>
                  <a:schemeClr val="tx1"/>
                </a:solidFill>
              </a:rPr>
              <a:t>(a,2,6);</a:t>
            </a:r>
          </a:p>
          <a:p>
            <a:r>
              <a:rPr lang="en-US" altLang="zh-CN" dirty="0">
                <a:solidFill>
                  <a:schemeClr val="tx1"/>
                </a:solidFill>
              </a:rPr>
              <a:t>		for(</a:t>
            </a:r>
            <a:r>
              <a:rPr lang="en-US" altLang="zh-CN" dirty="0" err="1">
                <a:solidFill>
                  <a:schemeClr val="tx1"/>
                </a:solidFill>
              </a:rPr>
              <a:t>i</a:t>
            </a:r>
            <a:r>
              <a:rPr lang="en-US" altLang="zh-CN" dirty="0">
                <a:solidFill>
                  <a:schemeClr val="tx1"/>
                </a:solidFill>
              </a:rPr>
              <a:t>=0;i&lt;10;i++)</a:t>
            </a:r>
          </a:p>
          <a:p>
            <a:r>
              <a:rPr lang="en-US" altLang="zh-CN" dirty="0">
                <a:solidFill>
                  <a:schemeClr val="tx1"/>
                </a:solidFill>
              </a:rPr>
              <a:t>			</a:t>
            </a:r>
            <a:r>
              <a:rPr lang="en-US" altLang="zh-CN" dirty="0" err="1">
                <a:solidFill>
                  <a:schemeClr val="tx1"/>
                </a:solidFill>
              </a:rPr>
              <a:t>cout</a:t>
            </a:r>
            <a:r>
              <a:rPr lang="en-US" altLang="zh-CN" dirty="0">
                <a:solidFill>
                  <a:schemeClr val="tx1"/>
                </a:solidFill>
              </a:rPr>
              <a:t> &lt;&lt; </a:t>
            </a:r>
            <a:r>
              <a:rPr lang="en-US" altLang="zh-CN" dirty="0" err="1">
                <a:solidFill>
                  <a:schemeClr val="tx1"/>
                </a:solidFill>
              </a:rPr>
              <a:t>setw</a:t>
            </a:r>
            <a:r>
              <a:rPr lang="en-US" altLang="zh-CN" dirty="0">
                <a:solidFill>
                  <a:schemeClr val="tx1"/>
                </a:solidFill>
              </a:rPr>
              <a:t>(5) &lt;&lt; a[</a:t>
            </a:r>
            <a:r>
              <a:rPr lang="en-US" altLang="zh-CN" dirty="0" err="1">
                <a:solidFill>
                  <a:schemeClr val="tx1"/>
                </a:solidFill>
              </a:rPr>
              <a:t>i</a:t>
            </a:r>
            <a:r>
              <a:rPr lang="en-US" altLang="zh-CN" dirty="0">
                <a:solidFill>
                  <a:schemeClr val="tx1"/>
                </a:solidFill>
              </a:rPr>
              <a:t>] ;</a:t>
            </a:r>
          </a:p>
          <a:p>
            <a:r>
              <a:rPr lang="en-US" altLang="zh-CN" dirty="0">
                <a:solidFill>
                  <a:schemeClr val="tx1"/>
                </a:solidFill>
              </a:rPr>
              <a:t>		return 0;</a:t>
            </a:r>
          </a:p>
          <a:p>
            <a:r>
              <a:rPr lang="en-US" altLang="zh-CN" dirty="0">
                <a:solidFill>
                  <a:schemeClr val="tx1"/>
                </a:solidFill>
              </a:rPr>
              <a:t>        	}</a:t>
            </a:r>
          </a:p>
          <a:p>
            <a:r>
              <a:rPr lang="en-US" altLang="zh-CN" dirty="0">
                <a:solidFill>
                  <a:schemeClr val="tx1"/>
                </a:solidFill>
              </a:rPr>
              <a:t>	void </a:t>
            </a:r>
            <a:r>
              <a:rPr lang="en-US" altLang="zh-CN" dirty="0" err="1">
                <a:solidFill>
                  <a:schemeClr val="tx1"/>
                </a:solidFill>
              </a:rPr>
              <a:t>reverseArray</a:t>
            </a:r>
            <a:r>
              <a:rPr lang="en-US" altLang="zh-CN" dirty="0">
                <a:solidFill>
                  <a:schemeClr val="tx1"/>
                </a:solidFill>
              </a:rPr>
              <a:t>( int x[ ],int start, int count)</a:t>
            </a:r>
          </a:p>
          <a:p>
            <a:r>
              <a:rPr lang="en-US" altLang="zh-CN" dirty="0">
                <a:solidFill>
                  <a:schemeClr val="tx1"/>
                </a:solidFill>
              </a:rPr>
              <a:t>	{	int t, </a:t>
            </a:r>
            <a:r>
              <a:rPr lang="en-US" altLang="zh-CN" dirty="0" err="1">
                <a:solidFill>
                  <a:schemeClr val="tx1"/>
                </a:solidFill>
              </a:rPr>
              <a:t>i</a:t>
            </a:r>
            <a:r>
              <a:rPr lang="en-US" altLang="zh-CN" dirty="0">
                <a:solidFill>
                  <a:schemeClr val="tx1"/>
                </a:solidFill>
              </a:rPr>
              <a:t>, j;</a:t>
            </a:r>
          </a:p>
          <a:p>
            <a:r>
              <a:rPr lang="en-US" altLang="zh-CN" dirty="0">
                <a:solidFill>
                  <a:schemeClr val="tx1"/>
                </a:solidFill>
              </a:rPr>
              <a:t>		for(</a:t>
            </a:r>
            <a:r>
              <a:rPr lang="en-US" altLang="zh-CN" dirty="0" err="1">
                <a:solidFill>
                  <a:schemeClr val="tx1"/>
                </a:solidFill>
              </a:rPr>
              <a:t>i</a:t>
            </a:r>
            <a:r>
              <a:rPr lang="en-US" altLang="zh-CN" dirty="0">
                <a:solidFill>
                  <a:schemeClr val="tx1"/>
                </a:solidFill>
              </a:rPr>
              <a:t>=</a:t>
            </a:r>
            <a:r>
              <a:rPr lang="en-US" altLang="zh-CN" dirty="0" err="1">
                <a:solidFill>
                  <a:schemeClr val="tx1"/>
                </a:solidFill>
              </a:rPr>
              <a:t>start,j</a:t>
            </a:r>
            <a:r>
              <a:rPr lang="en-US" altLang="zh-CN" dirty="0">
                <a:solidFill>
                  <a:schemeClr val="tx1"/>
                </a:solidFill>
              </a:rPr>
              <a:t>=start+count-1; </a:t>
            </a:r>
            <a:r>
              <a:rPr lang="en-US" altLang="zh-CN" dirty="0" err="1">
                <a:solidFill>
                  <a:schemeClr val="tx1"/>
                </a:solidFill>
              </a:rPr>
              <a:t>i</a:t>
            </a:r>
            <a:r>
              <a:rPr lang="en-US" altLang="zh-CN" dirty="0">
                <a:solidFill>
                  <a:schemeClr val="tx1"/>
                </a:solidFill>
              </a:rPr>
              <a:t>&lt;j; </a:t>
            </a:r>
            <a:r>
              <a:rPr lang="en-US" altLang="zh-CN" dirty="0" err="1">
                <a:solidFill>
                  <a:schemeClr val="tx1"/>
                </a:solidFill>
              </a:rPr>
              <a:t>i</a:t>
            </a:r>
            <a:r>
              <a:rPr lang="en-US" altLang="zh-CN" dirty="0">
                <a:solidFill>
                  <a:schemeClr val="tx1"/>
                </a:solidFill>
              </a:rPr>
              <a:t>++,j--)</a:t>
            </a:r>
          </a:p>
          <a:p>
            <a:r>
              <a:rPr lang="en-US" altLang="zh-CN" dirty="0">
                <a:solidFill>
                  <a:schemeClr val="tx1"/>
                </a:solidFill>
              </a:rPr>
              <a:t>		{</a:t>
            </a:r>
          </a:p>
          <a:p>
            <a:r>
              <a:rPr lang="en-US" altLang="zh-CN" dirty="0">
                <a:solidFill>
                  <a:schemeClr val="tx1"/>
                </a:solidFill>
              </a:rPr>
              <a:t>			t=x[</a:t>
            </a:r>
            <a:r>
              <a:rPr lang="en-US" altLang="zh-CN" dirty="0" err="1">
                <a:solidFill>
                  <a:schemeClr val="tx1"/>
                </a:solidFill>
              </a:rPr>
              <a:t>i</a:t>
            </a:r>
            <a:r>
              <a:rPr lang="en-US" altLang="zh-CN" dirty="0">
                <a:solidFill>
                  <a:schemeClr val="tx1"/>
                </a:solidFill>
              </a:rPr>
              <a:t>]; x[</a:t>
            </a:r>
            <a:r>
              <a:rPr lang="en-US" altLang="zh-CN" dirty="0" err="1">
                <a:solidFill>
                  <a:schemeClr val="tx1"/>
                </a:solidFill>
              </a:rPr>
              <a:t>i</a:t>
            </a:r>
            <a:r>
              <a:rPr lang="en-US" altLang="zh-CN" dirty="0">
                <a:solidFill>
                  <a:schemeClr val="tx1"/>
                </a:solidFill>
              </a:rPr>
              <a:t>]=x[j]; x[j]=t;</a:t>
            </a:r>
          </a:p>
          <a:p>
            <a:r>
              <a:rPr lang="en-US" altLang="zh-CN" dirty="0">
                <a:solidFill>
                  <a:schemeClr val="tx1"/>
                </a:solidFill>
              </a:rPr>
              <a:t>		}</a:t>
            </a:r>
          </a:p>
          <a:p>
            <a:r>
              <a:rPr lang="en-US" altLang="zh-CN" dirty="0">
                <a:solidFill>
                  <a:schemeClr val="tx1"/>
                </a:solidFill>
              </a:rPr>
              <a:t>	} </a:t>
            </a:r>
            <a:endParaRPr lang="zh-CN" altLang="en-US" dirty="0">
              <a:solidFill>
                <a:schemeClr val="tx1"/>
              </a:solidFill>
            </a:endParaRPr>
          </a:p>
        </p:txBody>
      </p:sp>
      <p:sp>
        <p:nvSpPr>
          <p:cNvPr id="32770" name="流程图: 过程 51202"/>
          <p:cNvSpPr>
            <a:spLocks noChangeArrowheads="1"/>
          </p:cNvSpPr>
          <p:nvPr/>
        </p:nvSpPr>
        <p:spPr bwMode="auto">
          <a:xfrm>
            <a:off x="8832851" y="5734050"/>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solidFill>
                  <a:schemeClr val="tx1"/>
                </a:solidFill>
              </a:rPr>
              <a:t>5-6.cpp</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文本框 50179"/>
          <p:cNvSpPr txBox="1">
            <a:spLocks noChangeArrowheads="1"/>
          </p:cNvSpPr>
          <p:nvPr/>
        </p:nvSpPr>
        <p:spPr bwMode="auto">
          <a:xfrm>
            <a:off x="1343472" y="1752600"/>
            <a:ext cx="6624638"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dirty="0">
                <a:solidFill>
                  <a:schemeClr val="tx1"/>
                </a:solidFill>
              </a:rPr>
              <a:t>	</a:t>
            </a:r>
            <a:r>
              <a:rPr lang="fr-FR" altLang="zh-CN" sz="2800" dirty="0">
                <a:solidFill>
                  <a:srgbClr val="FF0000"/>
                </a:solidFill>
                <a:latin typeface="+mn-lt"/>
                <a:ea typeface="+mn-ea"/>
              </a:rPr>
              <a:t>思考下面的问题输</a:t>
            </a:r>
            <a:r>
              <a:rPr lang="zh-CN" altLang="en-US" sz="2800" dirty="0">
                <a:solidFill>
                  <a:srgbClr val="FF0000"/>
                </a:solidFill>
              </a:rPr>
              <a:t>出</a:t>
            </a:r>
            <a:r>
              <a:rPr lang="fr-FR" altLang="zh-CN" sz="2800" dirty="0">
                <a:solidFill>
                  <a:srgbClr val="FF0000"/>
                </a:solidFill>
                <a:latin typeface="+mn-lt"/>
                <a:ea typeface="+mn-ea"/>
              </a:rPr>
              <a:t>结果</a:t>
            </a:r>
            <a:r>
              <a:rPr lang="zh-CN" altLang="en-US" sz="2800" dirty="0">
                <a:solidFill>
                  <a:srgbClr val="FF0000"/>
                </a:solidFill>
              </a:rPr>
              <a:t>：</a:t>
            </a:r>
          </a:p>
          <a:p>
            <a:endParaRPr lang="zh-CN" altLang="en-US" sz="2800" dirty="0">
              <a:solidFill>
                <a:schemeClr val="tx1"/>
              </a:solidFill>
            </a:endParaRPr>
          </a:p>
          <a:p>
            <a:r>
              <a:rPr lang="zh-CN" altLang="en-US" sz="2800" dirty="0">
                <a:solidFill>
                  <a:schemeClr val="tx1"/>
                </a:solidFill>
              </a:rPr>
              <a:t>	</a:t>
            </a:r>
            <a:r>
              <a:rPr lang="en-US" altLang="zh-CN" sz="2800" dirty="0">
                <a:solidFill>
                  <a:schemeClr val="tx1"/>
                </a:solidFill>
              </a:rPr>
              <a:t>char   str[ ] = “hello world</a:t>
            </a:r>
            <a:r>
              <a:rPr lang="zh-CN" altLang="en-US" sz="2800" dirty="0">
                <a:solidFill>
                  <a:schemeClr val="tx1"/>
                </a:solidFill>
              </a:rPr>
              <a:t>！</a:t>
            </a:r>
            <a:r>
              <a:rPr lang="en-US" altLang="zh-CN" sz="2800" dirty="0">
                <a:solidFill>
                  <a:schemeClr val="tx1"/>
                </a:solidFill>
              </a:rPr>
              <a:t>";</a:t>
            </a:r>
          </a:p>
          <a:p>
            <a:r>
              <a:rPr lang="en-US" altLang="zh-CN" sz="2800" dirty="0">
                <a:solidFill>
                  <a:schemeClr val="tx1"/>
                </a:solidFill>
              </a:rPr>
              <a:t>	char   *ps  = str;</a:t>
            </a:r>
          </a:p>
          <a:p>
            <a:r>
              <a:rPr lang="en-US" altLang="zh-CN" sz="2800" dirty="0">
                <a:solidFill>
                  <a:schemeClr val="tx1"/>
                </a:solidFill>
              </a:rPr>
              <a:t>	cout&lt;&lt; sizeof(str) &lt;&lt; endl;</a:t>
            </a:r>
          </a:p>
          <a:p>
            <a:r>
              <a:rPr lang="en-US" altLang="zh-CN" sz="2800" dirty="0">
                <a:solidFill>
                  <a:schemeClr val="tx1"/>
                </a:solidFill>
              </a:rPr>
              <a:t>	cout&lt;&lt; sizeof( ps) &lt;&lt; </a:t>
            </a:r>
            <a:r>
              <a:rPr lang="en-US" altLang="zh-CN" sz="2800" dirty="0" err="1">
                <a:solidFill>
                  <a:schemeClr val="tx1"/>
                </a:solidFill>
              </a:rPr>
              <a:t>endl</a:t>
            </a:r>
            <a:r>
              <a:rPr lang="en-US" altLang="zh-CN" sz="2800" dirty="0">
                <a:solidFill>
                  <a:schemeClr val="tx1"/>
                </a:solidFill>
              </a:rPr>
              <a:t>;</a:t>
            </a:r>
          </a:p>
          <a:p>
            <a:r>
              <a:rPr lang="en-US" altLang="zh-CN" sz="2800" dirty="0">
                <a:solidFill>
                  <a:schemeClr val="tx1"/>
                </a:solidFill>
              </a:rPr>
              <a:t>          fun(str);</a:t>
            </a:r>
          </a:p>
          <a:p>
            <a:r>
              <a:rPr lang="zh-CN" altLang="en-US" sz="2800" dirty="0">
                <a:solidFill>
                  <a:schemeClr val="tx1"/>
                </a:solidFill>
              </a:rPr>
              <a:t>	</a:t>
            </a:r>
          </a:p>
          <a:p>
            <a:r>
              <a:rPr lang="en-US" altLang="zh-CN" sz="2800" dirty="0">
                <a:solidFill>
                  <a:schemeClr val="tx1"/>
                </a:solidFill>
              </a:rPr>
              <a:t>	void fun(char </a:t>
            </a:r>
            <a:r>
              <a:rPr lang="en-US" altLang="zh-CN" sz="2800" dirty="0" err="1">
                <a:solidFill>
                  <a:schemeClr val="tx1"/>
                </a:solidFill>
              </a:rPr>
              <a:t>str</a:t>
            </a:r>
            <a:r>
              <a:rPr lang="en-US" altLang="zh-CN" sz="2800" dirty="0">
                <a:solidFill>
                  <a:schemeClr val="tx1"/>
                </a:solidFill>
              </a:rPr>
              <a:t>[])</a:t>
            </a:r>
          </a:p>
          <a:p>
            <a:r>
              <a:rPr lang="en-US" altLang="zh-CN" sz="2800" dirty="0">
                <a:solidFill>
                  <a:schemeClr val="tx1"/>
                </a:solidFill>
              </a:rPr>
              <a:t>	{</a:t>
            </a:r>
          </a:p>
          <a:p>
            <a:r>
              <a:rPr lang="en-US" altLang="zh-CN" sz="2800" dirty="0">
                <a:solidFill>
                  <a:schemeClr val="tx1"/>
                </a:solidFill>
              </a:rPr>
              <a:t>		cout&lt;&lt; sizeof(str) &lt;&lt; endl; </a:t>
            </a:r>
          </a:p>
          <a:p>
            <a:r>
              <a:rPr lang="en-US" altLang="zh-CN" sz="2800" dirty="0">
                <a:solidFill>
                  <a:schemeClr val="tx1"/>
                </a:solidFill>
              </a:rPr>
              <a:t>	} </a:t>
            </a:r>
            <a:endParaRPr lang="zh-CN" altLang="en-US" sz="2800" dirty="0">
              <a:solidFill>
                <a:schemeClr val="tx1"/>
              </a:solidFill>
            </a:endParaRPr>
          </a:p>
        </p:txBody>
      </p:sp>
      <p:sp>
        <p:nvSpPr>
          <p:cNvPr id="33794" name="流程图: 过程 50180"/>
          <p:cNvSpPr>
            <a:spLocks noChangeArrowheads="1"/>
          </p:cNvSpPr>
          <p:nvPr/>
        </p:nvSpPr>
        <p:spPr bwMode="auto">
          <a:xfrm>
            <a:off x="8256240" y="6215858"/>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solidFill>
                  <a:schemeClr val="tx1"/>
                </a:solidFill>
              </a:rPr>
              <a:t>Ex5-g.cpp</a:t>
            </a:r>
          </a:p>
        </p:txBody>
      </p:sp>
      <p:sp>
        <p:nvSpPr>
          <p:cNvPr id="4" name="矩形 47108">
            <a:extLst>
              <a:ext uri="{FF2B5EF4-FFF2-40B4-BE49-F238E27FC236}">
                <a16:creationId xmlns:a16="http://schemas.microsoft.com/office/drawing/2014/main" id="{1F9FD19F-DFE7-4B82-B4BE-552BEC3F90D2}"/>
              </a:ext>
            </a:extLst>
          </p:cNvPr>
          <p:cNvSpPr>
            <a:spLocks noChangeArrowheads="1"/>
          </p:cNvSpPr>
          <p:nvPr/>
        </p:nvSpPr>
        <p:spPr bwMode="auto">
          <a:xfrm>
            <a:off x="2209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fontAlgn="base"/>
            <a:r>
              <a:rPr lang="en-US" altLang="zh-CN" sz="4000" b="0" dirty="0">
                <a:solidFill>
                  <a:schemeClr val="tx1"/>
                </a:solidFill>
              </a:rPr>
              <a:t>7.4 </a:t>
            </a:r>
            <a:r>
              <a:rPr lang="zh-CN" altLang="en-US" sz="4000" b="0" dirty="0">
                <a:solidFill>
                  <a:schemeClr val="tx1"/>
                </a:solidFill>
              </a:rPr>
              <a:t>指针与函数 </a:t>
            </a:r>
          </a:p>
        </p:txBody>
      </p:sp>
      <p:pic>
        <p:nvPicPr>
          <p:cNvPr id="2" name="图片 1">
            <a:extLst>
              <a:ext uri="{FF2B5EF4-FFF2-40B4-BE49-F238E27FC236}">
                <a16:creationId xmlns:a16="http://schemas.microsoft.com/office/drawing/2014/main" id="{B16B63DB-9628-4760-AF2D-FA1D9E9D6C7F}"/>
              </a:ext>
            </a:extLst>
          </p:cNvPr>
          <p:cNvPicPr>
            <a:picLocks noChangeAspect="1"/>
          </p:cNvPicPr>
          <p:nvPr/>
        </p:nvPicPr>
        <p:blipFill>
          <a:blip r:embed="rId2"/>
          <a:stretch>
            <a:fillRect/>
          </a:stretch>
        </p:blipFill>
        <p:spPr>
          <a:xfrm>
            <a:off x="10128448" y="3429000"/>
            <a:ext cx="449619" cy="10135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346B6D77-ABA6-4836-942C-5A29A0E6CC9C}" type="slidenum">
              <a:rPr lang="zh-CN" altLang="en-US" smtClean="0"/>
              <a:t>37</a:t>
            </a:fld>
            <a:endParaRPr lang="zh-CN" altLang="en-US"/>
          </a:p>
        </p:txBody>
      </p:sp>
      <p:sp>
        <p:nvSpPr>
          <p:cNvPr id="34818" name="文本框 53249"/>
          <p:cNvSpPr txBox="1">
            <a:spLocks noChangeArrowheads="1"/>
          </p:cNvSpPr>
          <p:nvPr/>
        </p:nvSpPr>
        <p:spPr bwMode="auto">
          <a:xfrm>
            <a:off x="1233488" y="1640829"/>
            <a:ext cx="91452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spcBef>
                <a:spcPct val="50000"/>
              </a:spcBef>
              <a:buClrTx/>
              <a:buSzTx/>
              <a:buFontTx/>
            </a:pPr>
            <a:r>
              <a:rPr lang="fr-FR" altLang="zh-CN" dirty="0">
                <a:solidFill>
                  <a:srgbClr val="FF0000"/>
                </a:solidFill>
                <a:latin typeface="+mn-lt"/>
                <a:ea typeface="+mn-ea"/>
              </a:rPr>
              <a:t>函数可返回一个指针，但必须保证指针指向的对象存在。</a:t>
            </a:r>
          </a:p>
        </p:txBody>
      </p:sp>
      <p:sp>
        <p:nvSpPr>
          <p:cNvPr id="34819" name="文本框 53250"/>
          <p:cNvSpPr txBox="1">
            <a:spLocks noChangeArrowheads="1"/>
          </p:cNvSpPr>
          <p:nvPr/>
        </p:nvSpPr>
        <p:spPr bwMode="auto">
          <a:xfrm>
            <a:off x="1690427" y="2085246"/>
            <a:ext cx="8748712" cy="489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600" dirty="0">
                <a:solidFill>
                  <a:schemeClr val="tx1"/>
                </a:solidFill>
              </a:rPr>
              <a:t>【</a:t>
            </a:r>
            <a:r>
              <a:rPr lang="zh-CN" altLang="en-US" sz="2600" dirty="0">
                <a:solidFill>
                  <a:schemeClr val="tx1"/>
                </a:solidFill>
              </a:rPr>
              <a:t>例</a:t>
            </a:r>
            <a:r>
              <a:rPr lang="en-US" altLang="zh-CN" sz="2600" dirty="0">
                <a:solidFill>
                  <a:schemeClr val="tx1"/>
                </a:solidFill>
              </a:rPr>
              <a:t>7.7】</a:t>
            </a:r>
            <a:r>
              <a:rPr lang="zh-CN" altLang="en-US" sz="2600" dirty="0">
                <a:solidFill>
                  <a:schemeClr val="tx1"/>
                </a:solidFill>
              </a:rPr>
              <a:t>有</a:t>
            </a:r>
            <a:r>
              <a:rPr lang="en-US" altLang="zh-CN" sz="2600" dirty="0">
                <a:solidFill>
                  <a:schemeClr val="tx1"/>
                </a:solidFill>
              </a:rPr>
              <a:t>3</a:t>
            </a:r>
            <a:r>
              <a:rPr lang="zh-CN" altLang="en-US" sz="2600" dirty="0">
                <a:solidFill>
                  <a:schemeClr val="tx1"/>
                </a:solidFill>
              </a:rPr>
              <a:t>个学生，每人</a:t>
            </a:r>
            <a:r>
              <a:rPr lang="en-US" altLang="zh-CN" sz="2600" dirty="0">
                <a:solidFill>
                  <a:schemeClr val="tx1"/>
                </a:solidFill>
              </a:rPr>
              <a:t>4</a:t>
            </a:r>
            <a:r>
              <a:rPr lang="zh-CN" altLang="en-US" sz="2600" dirty="0">
                <a:solidFill>
                  <a:schemeClr val="tx1"/>
                </a:solidFill>
              </a:rPr>
              <a:t>门功课，输入一个学号，输出相应的成绩。</a:t>
            </a:r>
          </a:p>
          <a:p>
            <a:r>
              <a:rPr lang="en-US" altLang="zh-CN" sz="2600" dirty="0">
                <a:solidFill>
                  <a:schemeClr val="tx1"/>
                </a:solidFill>
              </a:rPr>
              <a:t>float *search( float (*a)[4], </a:t>
            </a:r>
            <a:r>
              <a:rPr lang="en-US" altLang="zh-CN" sz="2600" dirty="0" err="1">
                <a:solidFill>
                  <a:schemeClr val="tx1"/>
                </a:solidFill>
              </a:rPr>
              <a:t>int</a:t>
            </a:r>
            <a:r>
              <a:rPr lang="en-US" altLang="zh-CN" sz="2600" dirty="0">
                <a:solidFill>
                  <a:schemeClr val="tx1"/>
                </a:solidFill>
              </a:rPr>
              <a:t> n)</a:t>
            </a:r>
          </a:p>
          <a:p>
            <a:r>
              <a:rPr lang="en-US" altLang="zh-CN" sz="2600" dirty="0">
                <a:solidFill>
                  <a:schemeClr val="tx1"/>
                </a:solidFill>
              </a:rPr>
              <a:t>{	return *( </a:t>
            </a:r>
            <a:r>
              <a:rPr lang="en-US" altLang="zh-CN" sz="2600" dirty="0" err="1">
                <a:solidFill>
                  <a:schemeClr val="tx1"/>
                </a:solidFill>
              </a:rPr>
              <a:t>a+n</a:t>
            </a:r>
            <a:r>
              <a:rPr lang="en-US" altLang="zh-CN" sz="2600" dirty="0">
                <a:solidFill>
                  <a:schemeClr val="tx1"/>
                </a:solidFill>
              </a:rPr>
              <a:t>);	} </a:t>
            </a:r>
            <a:endParaRPr lang="zh-CN" altLang="en-US" sz="2600" dirty="0">
              <a:solidFill>
                <a:schemeClr val="tx1"/>
              </a:solidFill>
            </a:endParaRPr>
          </a:p>
          <a:p>
            <a:r>
              <a:rPr lang="en-US" altLang="zh-CN" sz="2600" dirty="0">
                <a:solidFill>
                  <a:schemeClr val="tx1"/>
                </a:solidFill>
              </a:rPr>
              <a:t>void   main ( )</a:t>
            </a:r>
          </a:p>
          <a:p>
            <a:r>
              <a:rPr lang="en-US" altLang="zh-CN" sz="2600" dirty="0">
                <a:solidFill>
                  <a:schemeClr val="tx1"/>
                </a:solidFill>
              </a:rPr>
              <a:t>{  float  score[][4]={{60,70,80,90},{67,78,89,98},{78,88,89,98}};</a:t>
            </a:r>
          </a:p>
          <a:p>
            <a:r>
              <a:rPr lang="en-US" altLang="zh-CN" sz="2600" dirty="0">
                <a:solidFill>
                  <a:schemeClr val="tx1"/>
                </a:solidFill>
              </a:rPr>
              <a:t>    float *p;</a:t>
            </a:r>
          </a:p>
          <a:p>
            <a:r>
              <a:rPr lang="en-US" altLang="zh-CN" sz="2600" dirty="0">
                <a:solidFill>
                  <a:schemeClr val="tx1"/>
                </a:solidFill>
              </a:rPr>
              <a:t>    </a:t>
            </a:r>
            <a:r>
              <a:rPr lang="en-US" altLang="zh-CN" sz="2600" dirty="0" err="1">
                <a:solidFill>
                  <a:schemeClr val="tx1"/>
                </a:solidFill>
              </a:rPr>
              <a:t>int</a:t>
            </a:r>
            <a:r>
              <a:rPr lang="en-US" altLang="zh-CN" sz="2600" dirty="0">
                <a:solidFill>
                  <a:schemeClr val="tx1"/>
                </a:solidFill>
              </a:rPr>
              <a:t> </a:t>
            </a:r>
            <a:r>
              <a:rPr lang="en-US" altLang="zh-CN" sz="2600" dirty="0" err="1">
                <a:solidFill>
                  <a:schemeClr val="tx1"/>
                </a:solidFill>
              </a:rPr>
              <a:t>i,m</a:t>
            </a:r>
            <a:r>
              <a:rPr lang="en-US" altLang="zh-CN" sz="2600" dirty="0">
                <a:solidFill>
                  <a:schemeClr val="tx1"/>
                </a:solidFill>
              </a:rPr>
              <a:t>;</a:t>
            </a:r>
          </a:p>
          <a:p>
            <a:r>
              <a:rPr lang="en-US" altLang="zh-CN" sz="2600" dirty="0">
                <a:solidFill>
                  <a:schemeClr val="tx1"/>
                </a:solidFill>
              </a:rPr>
              <a:t>    </a:t>
            </a:r>
            <a:r>
              <a:rPr lang="en-US" altLang="zh-CN" sz="2600" dirty="0" err="1">
                <a:solidFill>
                  <a:schemeClr val="tx1"/>
                </a:solidFill>
              </a:rPr>
              <a:t>cin</a:t>
            </a:r>
            <a:r>
              <a:rPr lang="en-US" altLang="zh-CN" sz="2600" dirty="0">
                <a:solidFill>
                  <a:schemeClr val="tx1"/>
                </a:solidFill>
              </a:rPr>
              <a:t> &gt;&gt; m ;</a:t>
            </a:r>
          </a:p>
          <a:p>
            <a:r>
              <a:rPr lang="en-US" altLang="zh-CN" sz="2600" dirty="0">
                <a:solidFill>
                  <a:schemeClr val="tx1"/>
                </a:solidFill>
              </a:rPr>
              <a:t>    p = search( </a:t>
            </a:r>
            <a:r>
              <a:rPr lang="en-US" altLang="zh-CN" sz="2600" dirty="0" err="1">
                <a:solidFill>
                  <a:schemeClr val="tx1"/>
                </a:solidFill>
              </a:rPr>
              <a:t>score,m</a:t>
            </a:r>
            <a:r>
              <a:rPr lang="en-US" altLang="zh-CN" sz="2600" dirty="0">
                <a:solidFill>
                  <a:schemeClr val="tx1"/>
                </a:solidFill>
              </a:rPr>
              <a:t>);</a:t>
            </a:r>
          </a:p>
          <a:p>
            <a:r>
              <a:rPr lang="en-US" altLang="zh-CN" sz="2600" dirty="0">
                <a:solidFill>
                  <a:schemeClr val="tx1"/>
                </a:solidFill>
              </a:rPr>
              <a:t>    for(</a:t>
            </a:r>
            <a:r>
              <a:rPr lang="en-US" altLang="zh-CN" sz="2600" dirty="0" err="1">
                <a:solidFill>
                  <a:schemeClr val="tx1"/>
                </a:solidFill>
              </a:rPr>
              <a:t>i</a:t>
            </a:r>
            <a:r>
              <a:rPr lang="en-US" altLang="zh-CN" sz="2600" dirty="0">
                <a:solidFill>
                  <a:schemeClr val="tx1"/>
                </a:solidFill>
              </a:rPr>
              <a:t>=0;i&lt;4;i++)	</a:t>
            </a:r>
            <a:r>
              <a:rPr lang="en-US" altLang="zh-CN" sz="2600" dirty="0" err="1">
                <a:solidFill>
                  <a:schemeClr val="tx1"/>
                </a:solidFill>
              </a:rPr>
              <a:t>cout</a:t>
            </a:r>
            <a:r>
              <a:rPr lang="en-US" altLang="zh-CN" sz="2600" dirty="0">
                <a:solidFill>
                  <a:schemeClr val="tx1"/>
                </a:solidFill>
              </a:rPr>
              <a:t> &lt;&lt; </a:t>
            </a:r>
            <a:r>
              <a:rPr lang="en-US" altLang="zh-CN" sz="2600" dirty="0" err="1">
                <a:solidFill>
                  <a:schemeClr val="tx1"/>
                </a:solidFill>
              </a:rPr>
              <a:t>setw</a:t>
            </a:r>
            <a:r>
              <a:rPr lang="en-US" altLang="zh-CN" sz="2600" dirty="0">
                <a:solidFill>
                  <a:schemeClr val="tx1"/>
                </a:solidFill>
              </a:rPr>
              <a:t>(5) &lt;&lt; *( </a:t>
            </a:r>
            <a:r>
              <a:rPr lang="en-US" altLang="zh-CN" sz="2600" dirty="0" err="1">
                <a:solidFill>
                  <a:schemeClr val="tx1"/>
                </a:solidFill>
              </a:rPr>
              <a:t>p+i</a:t>
            </a:r>
            <a:r>
              <a:rPr lang="en-US" altLang="zh-CN" sz="2600" dirty="0">
                <a:solidFill>
                  <a:schemeClr val="tx1"/>
                </a:solidFill>
              </a:rPr>
              <a:t>);</a:t>
            </a:r>
          </a:p>
          <a:p>
            <a:r>
              <a:rPr lang="en-US" altLang="zh-CN" sz="2600" dirty="0">
                <a:solidFill>
                  <a:schemeClr val="tx1"/>
                </a:solidFill>
              </a:rPr>
              <a:t>}</a:t>
            </a:r>
          </a:p>
        </p:txBody>
      </p:sp>
      <p:sp>
        <p:nvSpPr>
          <p:cNvPr id="34820" name="流程图: 过程 53251"/>
          <p:cNvSpPr>
            <a:spLocks noChangeArrowheads="1"/>
          </p:cNvSpPr>
          <p:nvPr/>
        </p:nvSpPr>
        <p:spPr bwMode="auto">
          <a:xfrm>
            <a:off x="8904289" y="5805488"/>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solidFill>
                  <a:schemeClr val="tx1"/>
                </a:solidFill>
              </a:rPr>
              <a:t>5-7.cpp</a:t>
            </a:r>
          </a:p>
        </p:txBody>
      </p:sp>
      <p:sp>
        <p:nvSpPr>
          <p:cNvPr id="6" name="矩形 47108">
            <a:extLst>
              <a:ext uri="{FF2B5EF4-FFF2-40B4-BE49-F238E27FC236}">
                <a16:creationId xmlns:a16="http://schemas.microsoft.com/office/drawing/2014/main" id="{BAD11B41-DAC8-4EDF-B705-2DABCBCF9172}"/>
              </a:ext>
            </a:extLst>
          </p:cNvPr>
          <p:cNvSpPr>
            <a:spLocks noChangeArrowheads="1"/>
          </p:cNvSpPr>
          <p:nvPr/>
        </p:nvSpPr>
        <p:spPr bwMode="auto">
          <a:xfrm>
            <a:off x="2209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fontAlgn="base"/>
            <a:r>
              <a:rPr lang="en-US" altLang="zh-CN" sz="4000" b="0" dirty="0">
                <a:solidFill>
                  <a:schemeClr val="tx1"/>
                </a:solidFill>
              </a:rPr>
              <a:t>7.4 </a:t>
            </a:r>
            <a:r>
              <a:rPr lang="zh-CN" altLang="en-US" sz="4000" b="0" dirty="0">
                <a:solidFill>
                  <a:schemeClr val="tx1"/>
                </a:solidFill>
              </a:rPr>
              <a:t>指针与函数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55297"/>
          <p:cNvSpPr>
            <a:spLocks noGrp="1" noChangeArrowheads="1"/>
          </p:cNvSpPr>
          <p:nvPr>
            <p:ph type="title"/>
          </p:nvPr>
        </p:nvSpPr>
        <p:spPr>
          <a:xfrm>
            <a:off x="838200" y="1350168"/>
            <a:ext cx="10515600" cy="1325563"/>
          </a:xfrm>
        </p:spPr>
        <p:txBody>
          <a:bodyPr>
            <a:normAutofit/>
          </a:bodyPr>
          <a:lstStyle/>
          <a:p>
            <a:pPr marL="571500" indent="-571500">
              <a:buFont typeface="Arial" panose="020B0604020202020204" pitchFamily="34" charset="0"/>
              <a:buChar char="•"/>
            </a:pPr>
            <a:r>
              <a:rPr lang="zh-CN" altLang="en-US" sz="2800" b="1" dirty="0">
                <a:solidFill>
                  <a:srgbClr val="FF0000"/>
                </a:solidFill>
              </a:rPr>
              <a:t>指向函数的指针</a:t>
            </a:r>
          </a:p>
        </p:txBody>
      </p:sp>
      <p:sp>
        <p:nvSpPr>
          <p:cNvPr id="36867" name="文本占位符 55298"/>
          <p:cNvSpPr>
            <a:spLocks noGrp="1" noChangeArrowheads="1"/>
          </p:cNvSpPr>
          <p:nvPr>
            <p:ph idx="1"/>
          </p:nvPr>
        </p:nvSpPr>
        <p:spPr>
          <a:xfrm>
            <a:off x="4151784" y="2012950"/>
            <a:ext cx="7848872" cy="4845050"/>
          </a:xfrm>
        </p:spPr>
        <p:txBody>
          <a:bodyPr>
            <a:normAutofit/>
          </a:bodyPr>
          <a:lstStyle/>
          <a:p>
            <a:pPr>
              <a:lnSpc>
                <a:spcPct val="100000"/>
              </a:lnSpc>
              <a:buFontTx/>
              <a:buNone/>
            </a:pPr>
            <a:r>
              <a:rPr lang="zh-CN" altLang="en-US" sz="2600" dirty="0"/>
              <a:t>    例如：	   </a:t>
            </a:r>
            <a:r>
              <a:rPr lang="en-US" altLang="zh-CN" sz="2600" dirty="0"/>
              <a:t>int   (*funP)(int, int); </a:t>
            </a:r>
          </a:p>
          <a:p>
            <a:pPr>
              <a:lnSpc>
                <a:spcPct val="100000"/>
              </a:lnSpc>
              <a:buFontTx/>
              <a:buNone/>
            </a:pPr>
            <a:r>
              <a:rPr lang="zh-CN" altLang="en-US" sz="2600" dirty="0"/>
              <a:t>    容易搞混：</a:t>
            </a:r>
            <a:r>
              <a:rPr lang="en-US" altLang="zh-CN" sz="2600" dirty="0"/>
              <a:t>int   *funP(int, int);//</a:t>
            </a:r>
            <a:r>
              <a:rPr lang="zh-CN" altLang="en-US" sz="2600" dirty="0"/>
              <a:t>函数返回值为指针</a:t>
            </a:r>
            <a:endParaRPr lang="en-US" altLang="zh-CN" sz="2600" dirty="0"/>
          </a:p>
          <a:p>
            <a:pPr>
              <a:lnSpc>
                <a:spcPct val="100000"/>
              </a:lnSpc>
              <a:buFontTx/>
              <a:buNone/>
            </a:pPr>
            <a:r>
              <a:rPr lang="en-US" altLang="zh-CN" sz="2600" dirty="0"/>
              <a:t> </a:t>
            </a:r>
            <a:r>
              <a:rPr lang="fr-FR" altLang="zh-CN" sz="2600" dirty="0"/>
              <a:t>	int  max( int x, int y)</a:t>
            </a:r>
          </a:p>
          <a:p>
            <a:pPr>
              <a:lnSpc>
                <a:spcPct val="100000"/>
              </a:lnSpc>
              <a:buFontTx/>
              <a:buNone/>
            </a:pPr>
            <a:r>
              <a:rPr lang="en-US" altLang="zh-CN" sz="2600" dirty="0"/>
              <a:t>	{	return   x&gt;y ? x: y;    }</a:t>
            </a:r>
          </a:p>
          <a:p>
            <a:pPr>
              <a:lnSpc>
                <a:spcPct val="100000"/>
              </a:lnSpc>
              <a:buFontTx/>
              <a:buNone/>
            </a:pPr>
            <a:r>
              <a:rPr lang="en-US" altLang="zh-CN" sz="2600" dirty="0"/>
              <a:t>	funP=max ; </a:t>
            </a:r>
          </a:p>
          <a:p>
            <a:pPr>
              <a:lnSpc>
                <a:spcPct val="100000"/>
              </a:lnSpc>
              <a:buFontTx/>
              <a:buNone/>
            </a:pPr>
            <a:r>
              <a:rPr lang="zh-CN" altLang="en-US" sz="2600" dirty="0">
                <a:solidFill>
                  <a:srgbClr val="FF0000"/>
                </a:solidFill>
              </a:rPr>
              <a:t>	调用函数</a:t>
            </a:r>
            <a:r>
              <a:rPr lang="en-US" altLang="zh-CN" sz="2600" dirty="0">
                <a:solidFill>
                  <a:srgbClr val="FF0000"/>
                </a:solidFill>
              </a:rPr>
              <a:t>max</a:t>
            </a:r>
            <a:r>
              <a:rPr lang="zh-CN" altLang="en-US" sz="2600" dirty="0">
                <a:solidFill>
                  <a:srgbClr val="FF0000"/>
                </a:solidFill>
              </a:rPr>
              <a:t>的方法： </a:t>
            </a:r>
          </a:p>
          <a:p>
            <a:pPr>
              <a:lnSpc>
                <a:spcPct val="100000"/>
              </a:lnSpc>
              <a:buFontTx/>
              <a:buNone/>
            </a:pPr>
            <a:r>
              <a:rPr lang="en-US" altLang="zh-CN" sz="2600" dirty="0"/>
              <a:t>	k = max(10,20 ); </a:t>
            </a:r>
          </a:p>
          <a:p>
            <a:pPr>
              <a:lnSpc>
                <a:spcPct val="100000"/>
              </a:lnSpc>
              <a:buFontTx/>
              <a:buNone/>
            </a:pPr>
            <a:r>
              <a:rPr lang="en-US" altLang="zh-CN" sz="2600" dirty="0"/>
              <a:t>	k = (*funP)(10,20 ); </a:t>
            </a:r>
          </a:p>
          <a:p>
            <a:pPr>
              <a:lnSpc>
                <a:spcPct val="100000"/>
              </a:lnSpc>
              <a:buFontTx/>
              <a:buNone/>
            </a:pPr>
            <a:r>
              <a:rPr lang="en-US" altLang="zh-CN" sz="2600" dirty="0"/>
              <a:t>	k = funP(10,20 ); 	</a:t>
            </a:r>
            <a:endParaRPr lang="zh-CN" altLang="en-US" sz="2600" dirty="0"/>
          </a:p>
        </p:txBody>
      </p:sp>
      <p:sp>
        <p:nvSpPr>
          <p:cNvPr id="36865"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A6B38D3A-E2F4-4D6F-8FCC-0083BF9BD387}" type="slidenum">
              <a:rPr lang="zh-CN" altLang="en-US" smtClean="0"/>
              <a:t>38</a:t>
            </a:fld>
            <a:endParaRPr lang="zh-CN" altLang="en-US"/>
          </a:p>
        </p:txBody>
      </p:sp>
      <p:sp>
        <p:nvSpPr>
          <p:cNvPr id="5" name="矩形 47108">
            <a:extLst>
              <a:ext uri="{FF2B5EF4-FFF2-40B4-BE49-F238E27FC236}">
                <a16:creationId xmlns:a16="http://schemas.microsoft.com/office/drawing/2014/main" id="{66810D82-EBB7-4C36-AACD-4A5E976EFFC9}"/>
              </a:ext>
            </a:extLst>
          </p:cNvPr>
          <p:cNvSpPr>
            <a:spLocks noChangeArrowheads="1"/>
          </p:cNvSpPr>
          <p:nvPr/>
        </p:nvSpPr>
        <p:spPr bwMode="auto">
          <a:xfrm>
            <a:off x="838200" y="493721"/>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fontAlgn="base"/>
            <a:r>
              <a:rPr lang="en-US" altLang="zh-CN" sz="4000" b="0" dirty="0">
                <a:solidFill>
                  <a:schemeClr val="tx1"/>
                </a:solidFill>
              </a:rPr>
              <a:t>7.4 </a:t>
            </a:r>
            <a:r>
              <a:rPr lang="zh-CN" altLang="en-US" sz="4000" b="0" dirty="0">
                <a:solidFill>
                  <a:schemeClr val="tx1"/>
                </a:solidFill>
              </a:rPr>
              <a:t>指针与函数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55297"/>
          <p:cNvSpPr>
            <a:spLocks noGrp="1" noChangeArrowheads="1"/>
          </p:cNvSpPr>
          <p:nvPr>
            <p:ph type="title"/>
          </p:nvPr>
        </p:nvSpPr>
        <p:spPr>
          <a:xfrm>
            <a:off x="930708" y="548680"/>
            <a:ext cx="10515600" cy="1325563"/>
          </a:xfrm>
        </p:spPr>
        <p:txBody>
          <a:bodyPr>
            <a:normAutofit/>
          </a:bodyPr>
          <a:lstStyle/>
          <a:p>
            <a:r>
              <a:rPr lang="zh-CN" altLang="en-US" sz="3600" b="1" dirty="0"/>
              <a:t>指向函数的指针</a:t>
            </a:r>
          </a:p>
        </p:txBody>
      </p:sp>
      <p:sp>
        <p:nvSpPr>
          <p:cNvPr id="36865"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A6B38D3A-E2F4-4D6F-8FCC-0083BF9BD387}" type="slidenum">
              <a:rPr lang="zh-CN" altLang="en-US" smtClean="0"/>
              <a:t>39</a:t>
            </a:fld>
            <a:endParaRPr lang="zh-CN" altLang="en-US"/>
          </a:p>
        </p:txBody>
      </p:sp>
      <p:sp>
        <p:nvSpPr>
          <p:cNvPr id="3" name="内容占位符 2">
            <a:extLst>
              <a:ext uri="{FF2B5EF4-FFF2-40B4-BE49-F238E27FC236}">
                <a16:creationId xmlns:a16="http://schemas.microsoft.com/office/drawing/2014/main" id="{BC111A9F-4607-49EB-B474-90E7D54396DF}"/>
              </a:ext>
            </a:extLst>
          </p:cNvPr>
          <p:cNvSpPr>
            <a:spLocks noGrp="1"/>
          </p:cNvSpPr>
          <p:nvPr>
            <p:ph idx="1"/>
          </p:nvPr>
        </p:nvSpPr>
        <p:spPr>
          <a:xfrm>
            <a:off x="938188" y="1772816"/>
            <a:ext cx="10515600" cy="4351338"/>
          </a:xfrm>
        </p:spPr>
        <p:txBody>
          <a:bodyPr/>
          <a:lstStyle/>
          <a:p>
            <a:endParaRPr lang="zh-CN" altLang="en-US" dirty="0"/>
          </a:p>
        </p:txBody>
      </p:sp>
      <p:grpSp>
        <p:nvGrpSpPr>
          <p:cNvPr id="8" name="组合 7">
            <a:extLst>
              <a:ext uri="{FF2B5EF4-FFF2-40B4-BE49-F238E27FC236}">
                <a16:creationId xmlns:a16="http://schemas.microsoft.com/office/drawing/2014/main" id="{16ECFEDB-765B-4C98-961F-A5AE3C76248D}"/>
              </a:ext>
            </a:extLst>
          </p:cNvPr>
          <p:cNvGrpSpPr/>
          <p:nvPr/>
        </p:nvGrpSpPr>
        <p:grpSpPr>
          <a:xfrm>
            <a:off x="479376" y="1643294"/>
            <a:ext cx="8247784" cy="4881026"/>
            <a:chOff x="1228725" y="2362815"/>
            <a:chExt cx="6500423" cy="3764448"/>
          </a:xfrm>
        </p:grpSpPr>
        <p:pic>
          <p:nvPicPr>
            <p:cNvPr id="9" name="图片 8">
              <a:extLst>
                <a:ext uri="{FF2B5EF4-FFF2-40B4-BE49-F238E27FC236}">
                  <a16:creationId xmlns:a16="http://schemas.microsoft.com/office/drawing/2014/main" id="{E3D106F1-9BAF-4B8D-99BB-EA5FB0928740}"/>
                </a:ext>
              </a:extLst>
            </p:cNvPr>
            <p:cNvPicPr>
              <a:picLocks noChangeAspect="1"/>
            </p:cNvPicPr>
            <p:nvPr/>
          </p:nvPicPr>
          <p:blipFill>
            <a:blip r:embed="rId2"/>
            <a:stretch>
              <a:fillRect/>
            </a:stretch>
          </p:blipFill>
          <p:spPr>
            <a:xfrm>
              <a:off x="1228725" y="2362815"/>
              <a:ext cx="6500423" cy="3200677"/>
            </a:xfrm>
            <a:prstGeom prst="rect">
              <a:avLst/>
            </a:prstGeom>
          </p:spPr>
        </p:pic>
        <p:pic>
          <p:nvPicPr>
            <p:cNvPr id="10" name="图片 9">
              <a:extLst>
                <a:ext uri="{FF2B5EF4-FFF2-40B4-BE49-F238E27FC236}">
                  <a16:creationId xmlns:a16="http://schemas.microsoft.com/office/drawing/2014/main" id="{F85B1F44-3D07-47C8-9916-8C6B22FF3BCB}"/>
                </a:ext>
              </a:extLst>
            </p:cNvPr>
            <p:cNvPicPr>
              <a:picLocks noChangeAspect="1"/>
            </p:cNvPicPr>
            <p:nvPr/>
          </p:nvPicPr>
          <p:blipFill>
            <a:blip r:embed="rId3"/>
            <a:stretch>
              <a:fillRect/>
            </a:stretch>
          </p:blipFill>
          <p:spPr>
            <a:xfrm>
              <a:off x="1263017" y="5456645"/>
              <a:ext cx="6431837" cy="670618"/>
            </a:xfrm>
            <a:prstGeom prst="rect">
              <a:avLst/>
            </a:prstGeom>
          </p:spPr>
        </p:pic>
      </p:grpSp>
      <p:grpSp>
        <p:nvGrpSpPr>
          <p:cNvPr id="4" name="组合 3">
            <a:extLst>
              <a:ext uri="{FF2B5EF4-FFF2-40B4-BE49-F238E27FC236}">
                <a16:creationId xmlns:a16="http://schemas.microsoft.com/office/drawing/2014/main" id="{93DE9BFE-DCC3-437D-B97F-DE71C27EC6F4}"/>
              </a:ext>
            </a:extLst>
          </p:cNvPr>
          <p:cNvGrpSpPr/>
          <p:nvPr/>
        </p:nvGrpSpPr>
        <p:grpSpPr>
          <a:xfrm>
            <a:off x="5078442" y="1701665"/>
            <a:ext cx="7123249" cy="1510513"/>
            <a:chOff x="5078442" y="1701665"/>
            <a:chExt cx="7123249" cy="1510513"/>
          </a:xfrm>
        </p:grpSpPr>
        <p:sp>
          <p:nvSpPr>
            <p:cNvPr id="11" name="矩形 10">
              <a:extLst>
                <a:ext uri="{FF2B5EF4-FFF2-40B4-BE49-F238E27FC236}">
                  <a16:creationId xmlns:a16="http://schemas.microsoft.com/office/drawing/2014/main" id="{B47AC7CA-522B-48B0-B560-AC5461B98BBB}"/>
                </a:ext>
              </a:extLst>
            </p:cNvPr>
            <p:cNvSpPr/>
            <p:nvPr/>
          </p:nvSpPr>
          <p:spPr>
            <a:xfrm>
              <a:off x="5735960" y="1701665"/>
              <a:ext cx="3023585" cy="400110"/>
            </a:xfrm>
            <a:prstGeom prst="rect">
              <a:avLst/>
            </a:prstGeom>
          </p:spPr>
          <p:txBody>
            <a:bodyPr wrap="none">
              <a:spAutoFit/>
            </a:bodyPr>
            <a:lstStyle/>
            <a:p>
              <a:r>
                <a:rPr lang="zh-CN" altLang="en-US" sz="2000" dirty="0">
                  <a:solidFill>
                    <a:schemeClr val="tx1"/>
                  </a:solidFill>
                </a:rPr>
                <a:t>上述程序的执行结果为：</a:t>
              </a:r>
            </a:p>
          </p:txBody>
        </p:sp>
        <p:pic>
          <p:nvPicPr>
            <p:cNvPr id="12" name="图片 11">
              <a:extLst>
                <a:ext uri="{FF2B5EF4-FFF2-40B4-BE49-F238E27FC236}">
                  <a16:creationId xmlns:a16="http://schemas.microsoft.com/office/drawing/2014/main" id="{CAAF55F5-E8D3-42D3-9A95-D74FE9908905}"/>
                </a:ext>
              </a:extLst>
            </p:cNvPr>
            <p:cNvPicPr>
              <a:picLocks noChangeAspect="1"/>
            </p:cNvPicPr>
            <p:nvPr/>
          </p:nvPicPr>
          <p:blipFill rotWithShape="1">
            <a:blip r:embed="rId4"/>
            <a:srcRect r="19398"/>
            <a:stretch/>
          </p:blipFill>
          <p:spPr>
            <a:xfrm>
              <a:off x="5078442" y="2428026"/>
              <a:ext cx="7123249" cy="784152"/>
            </a:xfrm>
            <a:prstGeom prst="rect">
              <a:avLst/>
            </a:prstGeom>
          </p:spPr>
        </p:pic>
      </p:grpSp>
    </p:spTree>
    <p:extLst>
      <p:ext uri="{BB962C8B-B14F-4D97-AF65-F5344CB8AC3E}">
        <p14:creationId xmlns:p14="http://schemas.microsoft.com/office/powerpoint/2010/main" val="2800588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54273"/>
          <p:cNvSpPr>
            <a:spLocks noGrp="1" noChangeArrowheads="1"/>
          </p:cNvSpPr>
          <p:nvPr>
            <p:ph type="title"/>
          </p:nvPr>
        </p:nvSpPr>
        <p:spPr>
          <a:xfrm>
            <a:off x="838200" y="365125"/>
            <a:ext cx="10515600" cy="1325563"/>
          </a:xfrm>
        </p:spPr>
        <p:txBody>
          <a:bodyPr>
            <a:normAutofit/>
          </a:bodyPr>
          <a:lstStyle/>
          <a:p>
            <a:r>
              <a:rPr lang="zh-CN" altLang="en-US" sz="4000" dirty="0"/>
              <a:t>指向函数的指针</a:t>
            </a:r>
          </a:p>
        </p:txBody>
      </p:sp>
      <p:sp>
        <p:nvSpPr>
          <p:cNvPr id="37889"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1878947B-4AB8-48CF-BE6A-5685F77CDBBE}" type="slidenum">
              <a:rPr lang="zh-CN" altLang="en-US" smtClean="0"/>
              <a:t>40</a:t>
            </a:fld>
            <a:endParaRPr lang="zh-CN" altLang="en-US"/>
          </a:p>
        </p:txBody>
      </p:sp>
      <p:sp>
        <p:nvSpPr>
          <p:cNvPr id="37891" name="文本框 54275"/>
          <p:cNvSpPr txBox="1">
            <a:spLocks noChangeArrowheads="1"/>
          </p:cNvSpPr>
          <p:nvPr/>
        </p:nvSpPr>
        <p:spPr bwMode="auto">
          <a:xfrm>
            <a:off x="2425701" y="1700213"/>
            <a:ext cx="7991475" cy="525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600" dirty="0">
                <a:solidFill>
                  <a:schemeClr val="tx1"/>
                </a:solidFill>
              </a:rPr>
              <a:t>【7.8】</a:t>
            </a:r>
            <a:r>
              <a:rPr lang="zh-CN" altLang="en-US" sz="2600" dirty="0">
                <a:solidFill>
                  <a:schemeClr val="tx1"/>
                </a:solidFill>
              </a:rPr>
              <a:t>采用函数名做参数。 </a:t>
            </a:r>
          </a:p>
          <a:p>
            <a:r>
              <a:rPr lang="en-US" altLang="zh-CN" sz="2600" dirty="0">
                <a:solidFill>
                  <a:schemeClr val="tx1"/>
                </a:solidFill>
              </a:rPr>
              <a:t>int max(int, int) ;</a:t>
            </a:r>
          </a:p>
          <a:p>
            <a:r>
              <a:rPr lang="en-US" altLang="zh-CN" sz="2600" dirty="0">
                <a:solidFill>
                  <a:schemeClr val="tx1"/>
                </a:solidFill>
              </a:rPr>
              <a:t>int min(int, int) ;</a:t>
            </a:r>
          </a:p>
          <a:p>
            <a:r>
              <a:rPr lang="en-US" altLang="zh-CN" sz="2600" dirty="0">
                <a:solidFill>
                  <a:schemeClr val="tx1"/>
                </a:solidFill>
              </a:rPr>
              <a:t>int add(int, int) ;</a:t>
            </a:r>
          </a:p>
          <a:p>
            <a:r>
              <a:rPr lang="en-US" altLang="zh-CN" sz="2600" dirty="0">
                <a:solidFill>
                  <a:schemeClr val="tx1"/>
                </a:solidFill>
              </a:rPr>
              <a:t>int process(int x, int y, int (*fun)(int, int)) </a:t>
            </a:r>
          </a:p>
          <a:p>
            <a:r>
              <a:rPr lang="en-US" altLang="zh-CN" sz="2600" dirty="0">
                <a:solidFill>
                  <a:schemeClr val="tx1"/>
                </a:solidFill>
              </a:rPr>
              <a:t>{	return  fun(x, y) ;          } </a:t>
            </a:r>
          </a:p>
          <a:p>
            <a:r>
              <a:rPr lang="en-US" altLang="zh-CN" sz="2600" dirty="0">
                <a:solidFill>
                  <a:schemeClr val="tx1"/>
                </a:solidFill>
              </a:rPr>
              <a:t>void  main ( )</a:t>
            </a:r>
          </a:p>
          <a:p>
            <a:r>
              <a:rPr lang="en-US" altLang="zh-CN" sz="2600" dirty="0">
                <a:solidFill>
                  <a:schemeClr val="tx1"/>
                </a:solidFill>
              </a:rPr>
              <a:t>{	int  a, b ;</a:t>
            </a:r>
          </a:p>
          <a:p>
            <a:r>
              <a:rPr lang="en-US" altLang="zh-CN" sz="2600" dirty="0">
                <a:solidFill>
                  <a:schemeClr val="tx1"/>
                </a:solidFill>
              </a:rPr>
              <a:t>	cin &gt;&gt; a &gt;&gt; b ;</a:t>
            </a:r>
          </a:p>
          <a:p>
            <a:r>
              <a:rPr lang="en-US" altLang="zh-CN" sz="2600" dirty="0">
                <a:solidFill>
                  <a:schemeClr val="tx1"/>
                </a:solidFill>
              </a:rPr>
              <a:t>	cout &lt;&lt; process(a, b, max) &lt;&lt; endl ; </a:t>
            </a:r>
          </a:p>
          <a:p>
            <a:r>
              <a:rPr lang="en-US" altLang="zh-CN" sz="2600" dirty="0">
                <a:solidFill>
                  <a:schemeClr val="tx1"/>
                </a:solidFill>
              </a:rPr>
              <a:t>	cout &lt;&lt; process(a, b, min) &lt;&lt; endl ;</a:t>
            </a:r>
          </a:p>
          <a:p>
            <a:r>
              <a:rPr lang="en-US" altLang="zh-CN" sz="2600" dirty="0">
                <a:solidFill>
                  <a:schemeClr val="tx1"/>
                </a:solidFill>
              </a:rPr>
              <a:t>	cout &lt;&lt; process(a, b, add) &lt;&lt; endl ;</a:t>
            </a:r>
          </a:p>
          <a:p>
            <a:r>
              <a:rPr lang="en-US" altLang="zh-CN" sz="2600" dirty="0">
                <a:solidFill>
                  <a:schemeClr val="tx1"/>
                </a:solidFill>
              </a:rPr>
              <a:t>}</a:t>
            </a:r>
          </a:p>
        </p:txBody>
      </p:sp>
      <p:sp>
        <p:nvSpPr>
          <p:cNvPr id="37892" name="流程图: 过程 54277"/>
          <p:cNvSpPr>
            <a:spLocks noChangeArrowheads="1"/>
          </p:cNvSpPr>
          <p:nvPr/>
        </p:nvSpPr>
        <p:spPr bwMode="auto">
          <a:xfrm>
            <a:off x="8904289" y="5805488"/>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t>5-8.cpp</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54273"/>
          <p:cNvSpPr>
            <a:spLocks noGrp="1" noChangeArrowheads="1"/>
          </p:cNvSpPr>
          <p:nvPr>
            <p:ph type="title"/>
          </p:nvPr>
        </p:nvSpPr>
        <p:spPr>
          <a:xfrm>
            <a:off x="838200" y="365125"/>
            <a:ext cx="10515600" cy="1325563"/>
          </a:xfrm>
        </p:spPr>
        <p:txBody>
          <a:bodyPr>
            <a:normAutofit/>
          </a:bodyPr>
          <a:lstStyle/>
          <a:p>
            <a:r>
              <a:rPr lang="zh-CN" altLang="en-US" sz="4000" dirty="0"/>
              <a:t>指向函数的指针</a:t>
            </a:r>
          </a:p>
        </p:txBody>
      </p:sp>
      <p:sp>
        <p:nvSpPr>
          <p:cNvPr id="37889"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1878947B-4AB8-48CF-BE6A-5685F77CDBBE}" type="slidenum">
              <a:rPr lang="zh-CN" altLang="en-US" smtClean="0"/>
              <a:t>41</a:t>
            </a:fld>
            <a:endParaRPr lang="zh-CN" altLang="en-US"/>
          </a:p>
        </p:txBody>
      </p:sp>
      <p:sp>
        <p:nvSpPr>
          <p:cNvPr id="37891" name="文本框 54275"/>
          <p:cNvSpPr txBox="1">
            <a:spLocks noChangeArrowheads="1"/>
          </p:cNvSpPr>
          <p:nvPr/>
        </p:nvSpPr>
        <p:spPr bwMode="auto">
          <a:xfrm>
            <a:off x="838200" y="1632419"/>
            <a:ext cx="79914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b="0" dirty="0">
                <a:solidFill>
                  <a:schemeClr val="tx1"/>
                </a:solidFill>
              </a:rPr>
              <a:t>函数指针的应用：</a:t>
            </a:r>
            <a:endParaRPr lang="en-US" altLang="zh-CN" b="0" dirty="0">
              <a:solidFill>
                <a:schemeClr val="tx1"/>
              </a:solidFill>
            </a:endParaRPr>
          </a:p>
          <a:p>
            <a:pPr>
              <a:spcBef>
                <a:spcPct val="50000"/>
              </a:spcBef>
            </a:pPr>
            <a:r>
              <a:rPr lang="zh-CN" altLang="en-US" b="0" dirty="0">
                <a:solidFill>
                  <a:schemeClr val="tx1"/>
                </a:solidFill>
              </a:rPr>
              <a:t>例</a:t>
            </a:r>
            <a:r>
              <a:rPr lang="en-US" altLang="zh-CN" b="0" dirty="0">
                <a:solidFill>
                  <a:schemeClr val="tx1"/>
                </a:solidFill>
              </a:rPr>
              <a:t>1</a:t>
            </a:r>
            <a:r>
              <a:rPr lang="zh-CN" altLang="en-US" b="0" dirty="0">
                <a:solidFill>
                  <a:schemeClr val="tx1"/>
                </a:solidFill>
              </a:rPr>
              <a:t>：假设一个字符中数组 中存有如下国家名：</a:t>
            </a:r>
            <a:endParaRPr lang="en-US" altLang="zh-CN" b="0" dirty="0">
              <a:solidFill>
                <a:schemeClr val="tx1"/>
              </a:solidFill>
            </a:endParaRPr>
          </a:p>
        </p:txBody>
      </p:sp>
      <p:sp>
        <p:nvSpPr>
          <p:cNvPr id="6" name="矩形 5">
            <a:extLst>
              <a:ext uri="{FF2B5EF4-FFF2-40B4-BE49-F238E27FC236}">
                <a16:creationId xmlns:a16="http://schemas.microsoft.com/office/drawing/2014/main" id="{D8C33227-2C8B-465B-922E-A5109FBC8AF5}"/>
              </a:ext>
            </a:extLst>
          </p:cNvPr>
          <p:cNvSpPr/>
          <p:nvPr/>
        </p:nvSpPr>
        <p:spPr>
          <a:xfrm>
            <a:off x="1519327" y="2984698"/>
            <a:ext cx="9153345" cy="1015663"/>
          </a:xfrm>
          <a:prstGeom prst="rect">
            <a:avLst/>
          </a:prstGeom>
        </p:spPr>
        <p:txBody>
          <a:bodyPr wrap="square">
            <a:spAutoFit/>
          </a:bodyPr>
          <a:lstStyle/>
          <a:p>
            <a:r>
              <a:rPr lang="zh-CN" altLang="en-US" sz="2000" b="0" dirty="0">
                <a:solidFill>
                  <a:schemeClr val="tx1"/>
                </a:solidFill>
                <a:latin typeface="宋体" panose="02010600030101010101" pitchFamily="2" charset="-122"/>
              </a:rPr>
              <a:t>现要求使用下述两种方法对这些国家名称进行非递减排序： </a:t>
            </a:r>
            <a:endParaRPr lang="en-US" altLang="zh-CN" sz="2000" b="0" dirty="0">
              <a:solidFill>
                <a:schemeClr val="tx1"/>
              </a:solidFill>
              <a:latin typeface="宋体" panose="02010600030101010101" pitchFamily="2" charset="-122"/>
            </a:endParaRPr>
          </a:p>
          <a:p>
            <a:r>
              <a:rPr lang="en-US" altLang="zh-CN" sz="2000" b="0" dirty="0">
                <a:solidFill>
                  <a:schemeClr val="tx1"/>
                </a:solidFill>
                <a:latin typeface="宋体" panose="02010600030101010101" pitchFamily="2" charset="-122"/>
              </a:rPr>
              <a:t>• </a:t>
            </a:r>
            <a:r>
              <a:rPr lang="zh-CN" altLang="en-US" sz="2000" b="0" dirty="0">
                <a:solidFill>
                  <a:schemeClr val="tx1"/>
                </a:solidFill>
                <a:latin typeface="宋体" panose="02010600030101010101" pitchFamily="2" charset="-122"/>
              </a:rPr>
              <a:t>按字母表顺序； </a:t>
            </a:r>
            <a:endParaRPr lang="en-US" altLang="zh-CN" sz="2000" b="0" dirty="0">
              <a:solidFill>
                <a:schemeClr val="tx1"/>
              </a:solidFill>
              <a:latin typeface="宋体" panose="02010600030101010101" pitchFamily="2" charset="-122"/>
            </a:endParaRPr>
          </a:p>
          <a:p>
            <a:r>
              <a:rPr lang="en-US" altLang="zh-CN" sz="2000" b="0" dirty="0">
                <a:solidFill>
                  <a:schemeClr val="tx1"/>
                </a:solidFill>
                <a:latin typeface="宋体" panose="02010600030101010101" pitchFamily="2" charset="-122"/>
              </a:rPr>
              <a:t>• </a:t>
            </a:r>
            <a:r>
              <a:rPr lang="zh-CN" altLang="en-US" sz="2000" b="0" dirty="0">
                <a:solidFill>
                  <a:schemeClr val="tx1"/>
                </a:solidFill>
                <a:latin typeface="宋体" panose="02010600030101010101" pitchFamily="2" charset="-122"/>
              </a:rPr>
              <a:t>按国名长度，即国名中包含的字符个数排序。</a:t>
            </a:r>
          </a:p>
        </p:txBody>
      </p:sp>
      <p:pic>
        <p:nvPicPr>
          <p:cNvPr id="7" name="图片 6">
            <a:extLst>
              <a:ext uri="{FF2B5EF4-FFF2-40B4-BE49-F238E27FC236}">
                <a16:creationId xmlns:a16="http://schemas.microsoft.com/office/drawing/2014/main" id="{47D765E8-DF6A-47F3-BEBF-B19A2D93C658}"/>
              </a:ext>
            </a:extLst>
          </p:cNvPr>
          <p:cNvPicPr>
            <a:picLocks noChangeAspect="1"/>
          </p:cNvPicPr>
          <p:nvPr/>
        </p:nvPicPr>
        <p:blipFill>
          <a:blip r:embed="rId2"/>
          <a:stretch>
            <a:fillRect/>
          </a:stretch>
        </p:blipFill>
        <p:spPr>
          <a:xfrm>
            <a:off x="1631501" y="2582378"/>
            <a:ext cx="7988269" cy="368335"/>
          </a:xfrm>
          <a:prstGeom prst="rect">
            <a:avLst/>
          </a:prstGeom>
        </p:spPr>
      </p:pic>
      <p:sp>
        <p:nvSpPr>
          <p:cNvPr id="8" name="矩形 7">
            <a:extLst>
              <a:ext uri="{FF2B5EF4-FFF2-40B4-BE49-F238E27FC236}">
                <a16:creationId xmlns:a16="http://schemas.microsoft.com/office/drawing/2014/main" id="{1444625E-8604-40F5-BC43-72A019304A20}"/>
              </a:ext>
            </a:extLst>
          </p:cNvPr>
          <p:cNvSpPr/>
          <p:nvPr/>
        </p:nvSpPr>
        <p:spPr>
          <a:xfrm>
            <a:off x="1343472" y="3968218"/>
            <a:ext cx="9153346" cy="2862322"/>
          </a:xfrm>
          <a:prstGeom prst="rect">
            <a:avLst/>
          </a:prstGeom>
          <a:ln>
            <a:solidFill>
              <a:schemeClr val="accent1"/>
            </a:solidFill>
          </a:ln>
        </p:spPr>
        <p:txBody>
          <a:bodyPr wrap="square">
            <a:spAutoFit/>
          </a:bodyPr>
          <a:lstStyle/>
          <a:p>
            <a:pPr marL="457200" indent="-457200">
              <a:lnSpc>
                <a:spcPct val="150000"/>
              </a:lnSpc>
              <a:buFont typeface="+mj-lt"/>
              <a:buAutoNum type="alphaLcParenR"/>
            </a:pPr>
            <a:r>
              <a:rPr lang="zh-CN" altLang="en-US" sz="2000" b="0" dirty="0">
                <a:solidFill>
                  <a:schemeClr val="tx1"/>
                </a:solidFill>
                <a:latin typeface="华文楷体" panose="02010600040101010101" pitchFamily="2" charset="-122"/>
                <a:ea typeface="华文楷体" panose="02010600040101010101" pitchFamily="2" charset="-122"/>
              </a:rPr>
              <a:t>在冒泡排序里，我们设计了 </a:t>
            </a:r>
            <a:r>
              <a:rPr lang="en-US" altLang="zh-CN" sz="2000" b="0" dirty="0" err="1">
                <a:solidFill>
                  <a:schemeClr val="tx1"/>
                </a:solidFill>
                <a:latin typeface="华文楷体" panose="02010600040101010101" pitchFamily="2" charset="-122"/>
                <a:ea typeface="华文楷体" panose="02010600040101010101" pitchFamily="2" charset="-122"/>
              </a:rPr>
              <a:t>bubbleSort</a:t>
            </a:r>
            <a:r>
              <a:rPr lang="en-US" altLang="zh-CN" sz="2000" b="0" dirty="0">
                <a:solidFill>
                  <a:schemeClr val="tx1"/>
                </a:solidFill>
                <a:latin typeface="华文楷体" panose="02010600040101010101" pitchFamily="2" charset="-122"/>
                <a:ea typeface="华文楷体" panose="02010600040101010101" pitchFamily="2" charset="-122"/>
              </a:rPr>
              <a:t>( )</a:t>
            </a:r>
            <a:r>
              <a:rPr lang="zh-CN" altLang="en-US" sz="2000" b="0" dirty="0">
                <a:solidFill>
                  <a:schemeClr val="tx1"/>
                </a:solidFill>
                <a:latin typeface="华文楷体" panose="02010600040101010101" pitchFamily="2" charset="-122"/>
                <a:ea typeface="华文楷体" panose="02010600040101010101" pitchFamily="2" charset="-122"/>
              </a:rPr>
              <a:t>函数。要实现两种不同的排序策略，最直接的办法是设计两个版本的 </a:t>
            </a:r>
            <a:r>
              <a:rPr lang="en-US" altLang="zh-CN" sz="2000" b="0" dirty="0" err="1">
                <a:solidFill>
                  <a:schemeClr val="tx1"/>
                </a:solidFill>
                <a:latin typeface="华文楷体" panose="02010600040101010101" pitchFamily="2" charset="-122"/>
                <a:ea typeface="华文楷体" panose="02010600040101010101" pitchFamily="2" charset="-122"/>
              </a:rPr>
              <a:t>bubbleSort</a:t>
            </a:r>
            <a:r>
              <a:rPr lang="en-US" altLang="zh-CN" sz="2000" b="0" dirty="0">
                <a:solidFill>
                  <a:schemeClr val="tx1"/>
                </a:solidFill>
                <a:latin typeface="华文楷体" panose="02010600040101010101" pitchFamily="2" charset="-122"/>
                <a:ea typeface="华文楷体" panose="02010600040101010101" pitchFamily="2" charset="-122"/>
              </a:rPr>
              <a:t>( )</a:t>
            </a:r>
            <a:r>
              <a:rPr lang="zh-CN" altLang="en-US" sz="2000" b="0" dirty="0">
                <a:solidFill>
                  <a:schemeClr val="tx1"/>
                </a:solidFill>
                <a:latin typeface="华文楷体" panose="02010600040101010101" pitchFamily="2" charset="-122"/>
                <a:ea typeface="华文楷体" panose="02010600040101010101" pitchFamily="2" charset="-122"/>
              </a:rPr>
              <a:t>函数来完成，但这样做会增加工作量以及代码冗余。</a:t>
            </a:r>
            <a:endParaRPr lang="en-US" altLang="zh-CN" sz="2000" b="0" dirty="0">
              <a:solidFill>
                <a:schemeClr val="tx1"/>
              </a:solidFill>
              <a:latin typeface="华文楷体" panose="02010600040101010101" pitchFamily="2" charset="-122"/>
              <a:ea typeface="华文楷体" panose="02010600040101010101" pitchFamily="2" charset="-122"/>
            </a:endParaRPr>
          </a:p>
          <a:p>
            <a:pPr marL="457200" indent="-457200">
              <a:lnSpc>
                <a:spcPct val="150000"/>
              </a:lnSpc>
              <a:buFont typeface="+mj-lt"/>
              <a:buAutoNum type="alphaLcParenR"/>
            </a:pPr>
            <a:r>
              <a:rPr lang="zh-CN" altLang="en-US" sz="2000" b="0" dirty="0">
                <a:solidFill>
                  <a:schemeClr val="tx1"/>
                </a:solidFill>
                <a:latin typeface="华文楷体" panose="02010600040101010101" pitchFamily="2" charset="-122"/>
                <a:ea typeface="华文楷体" panose="02010600040101010101" pitchFamily="2" charset="-122"/>
              </a:rPr>
              <a:t>另外一种解决方案是把两种不种的排序策略设计为两个不同的比较函数，然后把比较函数作为函数指针传递给 </a:t>
            </a:r>
            <a:r>
              <a:rPr lang="en-US" altLang="zh-CN" sz="2000" b="0" dirty="0" err="1">
                <a:solidFill>
                  <a:schemeClr val="tx1"/>
                </a:solidFill>
                <a:latin typeface="华文楷体" panose="02010600040101010101" pitchFamily="2" charset="-122"/>
                <a:ea typeface="华文楷体" panose="02010600040101010101" pitchFamily="2" charset="-122"/>
              </a:rPr>
              <a:t>bubbleSort</a:t>
            </a:r>
            <a:r>
              <a:rPr lang="en-US" altLang="zh-CN" sz="2000" b="0" dirty="0">
                <a:solidFill>
                  <a:schemeClr val="tx1"/>
                </a:solidFill>
                <a:latin typeface="华文楷体" panose="02010600040101010101" pitchFamily="2" charset="-122"/>
                <a:ea typeface="华文楷体" panose="02010600040101010101" pitchFamily="2" charset="-122"/>
              </a:rPr>
              <a:t>( )</a:t>
            </a:r>
            <a:r>
              <a:rPr lang="zh-CN" altLang="en-US" sz="2000" b="0" dirty="0">
                <a:solidFill>
                  <a:schemeClr val="tx1"/>
                </a:solidFill>
                <a:latin typeface="华文楷体" panose="02010600040101010101" pitchFamily="2" charset="-122"/>
                <a:ea typeface="华文楷体" panose="02010600040101010101" pitchFamily="2" charset="-122"/>
              </a:rPr>
              <a:t>函数。在 </a:t>
            </a:r>
            <a:r>
              <a:rPr lang="en-US" altLang="zh-CN" sz="2000" b="0" dirty="0" err="1">
                <a:solidFill>
                  <a:schemeClr val="tx1"/>
                </a:solidFill>
                <a:latin typeface="华文楷体" panose="02010600040101010101" pitchFamily="2" charset="-122"/>
                <a:ea typeface="华文楷体" panose="02010600040101010101" pitchFamily="2" charset="-122"/>
              </a:rPr>
              <a:t>bubbleSort</a:t>
            </a:r>
            <a:r>
              <a:rPr lang="en-US" altLang="zh-CN" sz="2000" b="0" dirty="0">
                <a:solidFill>
                  <a:schemeClr val="tx1"/>
                </a:solidFill>
                <a:latin typeface="华文楷体" panose="02010600040101010101" pitchFamily="2" charset="-122"/>
                <a:ea typeface="华文楷体" panose="02010600040101010101" pitchFamily="2" charset="-122"/>
              </a:rPr>
              <a:t>( )</a:t>
            </a:r>
            <a:r>
              <a:rPr lang="zh-CN" altLang="en-US" sz="2000" b="0" dirty="0">
                <a:solidFill>
                  <a:schemeClr val="tx1"/>
                </a:solidFill>
                <a:latin typeface="华文楷体" panose="02010600040101010101" pitchFamily="2" charset="-122"/>
                <a:ea typeface="华文楷体" panose="02010600040101010101" pitchFamily="2" charset="-122"/>
              </a:rPr>
              <a:t>函数内部进行排序时，使用传入的函数指针来调用相应的比较函数来进行元素比较。</a:t>
            </a:r>
          </a:p>
        </p:txBody>
      </p:sp>
    </p:spTree>
    <p:extLst>
      <p:ext uri="{BB962C8B-B14F-4D97-AF65-F5344CB8AC3E}">
        <p14:creationId xmlns:p14="http://schemas.microsoft.com/office/powerpoint/2010/main" val="42266133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D86ACD-0418-487B-8639-C2BD72370DC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B74115F-1A75-46BD-B3A7-260C6046DF98}"/>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82038F42-6FDB-445A-B92F-454B174F80C6}"/>
              </a:ext>
            </a:extLst>
          </p:cNvPr>
          <p:cNvSpPr>
            <a:spLocks noGrp="1"/>
          </p:cNvSpPr>
          <p:nvPr>
            <p:ph type="sldNum" sz="quarter" idx="12"/>
          </p:nvPr>
        </p:nvSpPr>
        <p:spPr/>
        <p:txBody>
          <a:bodyPr/>
          <a:lstStyle/>
          <a:p>
            <a:fld id="{F1EB1119-B1EA-482F-8756-A2F14CA520E4}" type="slidenum">
              <a:rPr lang="zh-CN" altLang="en-US" smtClean="0"/>
              <a:t>42</a:t>
            </a:fld>
            <a:endParaRPr lang="zh-CN" altLang="en-US" dirty="0"/>
          </a:p>
        </p:txBody>
      </p:sp>
      <p:grpSp>
        <p:nvGrpSpPr>
          <p:cNvPr id="5" name="组合 4">
            <a:extLst>
              <a:ext uri="{FF2B5EF4-FFF2-40B4-BE49-F238E27FC236}">
                <a16:creationId xmlns:a16="http://schemas.microsoft.com/office/drawing/2014/main" id="{EC7800A5-5168-4403-8EE1-7E29D9D8679D}"/>
              </a:ext>
            </a:extLst>
          </p:cNvPr>
          <p:cNvGrpSpPr/>
          <p:nvPr/>
        </p:nvGrpSpPr>
        <p:grpSpPr>
          <a:xfrm>
            <a:off x="695400" y="136525"/>
            <a:ext cx="8496944" cy="6584950"/>
            <a:chOff x="1202052" y="2352015"/>
            <a:chExt cx="6454699" cy="3988596"/>
          </a:xfrm>
        </p:grpSpPr>
        <p:pic>
          <p:nvPicPr>
            <p:cNvPr id="6" name="图片 5">
              <a:extLst>
                <a:ext uri="{FF2B5EF4-FFF2-40B4-BE49-F238E27FC236}">
                  <a16:creationId xmlns:a16="http://schemas.microsoft.com/office/drawing/2014/main" id="{AD9333D0-5CE7-4F2C-8100-DF679CD06FA4}"/>
                </a:ext>
              </a:extLst>
            </p:cNvPr>
            <p:cNvPicPr>
              <a:picLocks noChangeAspect="1"/>
            </p:cNvPicPr>
            <p:nvPr/>
          </p:nvPicPr>
          <p:blipFill>
            <a:blip r:embed="rId2"/>
            <a:stretch>
              <a:fillRect/>
            </a:stretch>
          </p:blipFill>
          <p:spPr>
            <a:xfrm>
              <a:off x="1228725" y="2352015"/>
              <a:ext cx="6401355" cy="1737511"/>
            </a:xfrm>
            <a:prstGeom prst="rect">
              <a:avLst/>
            </a:prstGeom>
          </p:spPr>
        </p:pic>
        <p:pic>
          <p:nvPicPr>
            <p:cNvPr id="7" name="图片 6">
              <a:extLst>
                <a:ext uri="{FF2B5EF4-FFF2-40B4-BE49-F238E27FC236}">
                  <a16:creationId xmlns:a16="http://schemas.microsoft.com/office/drawing/2014/main" id="{F6E891BB-EF76-4C33-AB3B-3550C7A264A5}"/>
                </a:ext>
              </a:extLst>
            </p:cNvPr>
            <p:cNvPicPr>
              <a:picLocks noChangeAspect="1"/>
            </p:cNvPicPr>
            <p:nvPr/>
          </p:nvPicPr>
          <p:blipFill>
            <a:blip r:embed="rId3"/>
            <a:stretch>
              <a:fillRect/>
            </a:stretch>
          </p:blipFill>
          <p:spPr>
            <a:xfrm>
              <a:off x="1202052" y="4084896"/>
              <a:ext cx="6454699" cy="2255715"/>
            </a:xfrm>
            <a:prstGeom prst="rect">
              <a:avLst/>
            </a:prstGeom>
          </p:spPr>
        </p:pic>
      </p:grpSp>
      <p:sp>
        <p:nvSpPr>
          <p:cNvPr id="8" name="流程图: 过程 54277">
            <a:extLst>
              <a:ext uri="{FF2B5EF4-FFF2-40B4-BE49-F238E27FC236}">
                <a16:creationId xmlns:a16="http://schemas.microsoft.com/office/drawing/2014/main" id="{AFCB520A-68A9-4F0F-B414-F97AEFE15FDA}"/>
              </a:ext>
            </a:extLst>
          </p:cNvPr>
          <p:cNvSpPr>
            <a:spLocks noChangeArrowheads="1"/>
          </p:cNvSpPr>
          <p:nvPr/>
        </p:nvSpPr>
        <p:spPr bwMode="auto">
          <a:xfrm>
            <a:off x="8400257" y="5805488"/>
            <a:ext cx="2088358"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t>funcpointer2.cpp</a:t>
            </a:r>
          </a:p>
        </p:txBody>
      </p:sp>
    </p:spTree>
    <p:extLst>
      <p:ext uri="{BB962C8B-B14F-4D97-AF65-F5344CB8AC3E}">
        <p14:creationId xmlns:p14="http://schemas.microsoft.com/office/powerpoint/2010/main" val="12079429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AF3D299-C6FA-45FD-8486-F43A0FE36C97}"/>
              </a:ext>
            </a:extLst>
          </p:cNvPr>
          <p:cNvSpPr>
            <a:spLocks noGrp="1"/>
          </p:cNvSpPr>
          <p:nvPr>
            <p:ph idx="1"/>
          </p:nvPr>
        </p:nvSpPr>
        <p:spPr/>
        <p:txBody>
          <a:bodyPr/>
          <a:lstStyle/>
          <a:p>
            <a:pPr>
              <a:lnSpc>
                <a:spcPct val="150000"/>
              </a:lnSpc>
              <a:spcBef>
                <a:spcPts val="0"/>
              </a:spcBef>
            </a:pPr>
            <a:r>
              <a:rPr lang="en-US" altLang="zh-CN" dirty="0"/>
              <a:t>sort()</a:t>
            </a:r>
            <a:r>
              <a:rPr lang="zh-CN" altLang="en-US" dirty="0"/>
              <a:t>函数：</a:t>
            </a:r>
            <a:r>
              <a:rPr lang="en-US" altLang="zh-CN" b="1" dirty="0"/>
              <a:t>sort(</a:t>
            </a:r>
            <a:r>
              <a:rPr lang="en-US" altLang="zh-CN" b="1" dirty="0" err="1"/>
              <a:t>first_pointer,first_pointer+n,cmp</a:t>
            </a:r>
            <a:r>
              <a:rPr lang="en-US" altLang="zh-CN" b="1" dirty="0"/>
              <a:t>)</a:t>
            </a:r>
          </a:p>
          <a:p>
            <a:pPr lvl="1">
              <a:lnSpc>
                <a:spcPct val="150000"/>
              </a:lnSpc>
              <a:spcBef>
                <a:spcPts val="0"/>
              </a:spcBef>
            </a:pPr>
            <a:r>
              <a:rPr lang="zh-CN" altLang="en-US" dirty="0"/>
              <a:t>参数</a:t>
            </a:r>
            <a:r>
              <a:rPr lang="en-US" altLang="zh-CN" dirty="0"/>
              <a:t>1</a:t>
            </a:r>
            <a:r>
              <a:rPr lang="zh-CN" altLang="en-US" dirty="0"/>
              <a:t>：第一个参数是排序数据的首地址。</a:t>
            </a:r>
          </a:p>
          <a:p>
            <a:pPr lvl="1">
              <a:lnSpc>
                <a:spcPct val="150000"/>
              </a:lnSpc>
              <a:spcBef>
                <a:spcPts val="0"/>
              </a:spcBef>
            </a:pPr>
            <a:r>
              <a:rPr lang="zh-CN" altLang="en-US" dirty="0"/>
              <a:t>参数</a:t>
            </a:r>
            <a:r>
              <a:rPr lang="en-US" altLang="zh-CN" dirty="0"/>
              <a:t>2</a:t>
            </a:r>
            <a:r>
              <a:rPr lang="zh-CN" altLang="en-US" dirty="0"/>
              <a:t>：要排序数据的尾地址。</a:t>
            </a:r>
          </a:p>
          <a:p>
            <a:pPr lvl="1">
              <a:lnSpc>
                <a:spcPct val="150000"/>
              </a:lnSpc>
              <a:spcBef>
                <a:spcPts val="0"/>
              </a:spcBef>
            </a:pPr>
            <a:r>
              <a:rPr lang="zh-CN" altLang="en-US" dirty="0"/>
              <a:t>参数</a:t>
            </a:r>
            <a:r>
              <a:rPr lang="en-US" altLang="zh-CN" dirty="0"/>
              <a:t>3</a:t>
            </a:r>
            <a:r>
              <a:rPr lang="zh-CN" altLang="en-US" dirty="0"/>
              <a:t>：一个指向函数的指针。默认按数组升序排序，也可以通过自定义比较函数实现排序。</a:t>
            </a:r>
          </a:p>
          <a:p>
            <a:pPr>
              <a:lnSpc>
                <a:spcPct val="150000"/>
              </a:lnSpc>
              <a:spcBef>
                <a:spcPts val="0"/>
              </a:spcBef>
            </a:pPr>
            <a:endParaRPr lang="en-US" altLang="zh-CN" dirty="0"/>
          </a:p>
          <a:p>
            <a:pPr>
              <a:lnSpc>
                <a:spcPct val="150000"/>
              </a:lnSpc>
              <a:spcBef>
                <a:spcPts val="0"/>
              </a:spcBef>
            </a:pPr>
            <a:endParaRPr lang="zh-CN" altLang="en-US" dirty="0"/>
          </a:p>
        </p:txBody>
      </p:sp>
      <p:sp>
        <p:nvSpPr>
          <p:cNvPr id="4" name="灯片编号占位符 3">
            <a:extLst>
              <a:ext uri="{FF2B5EF4-FFF2-40B4-BE49-F238E27FC236}">
                <a16:creationId xmlns:a16="http://schemas.microsoft.com/office/drawing/2014/main" id="{2F4C88E5-CD32-447A-B767-0303BB64A06F}"/>
              </a:ext>
            </a:extLst>
          </p:cNvPr>
          <p:cNvSpPr>
            <a:spLocks noGrp="1"/>
          </p:cNvSpPr>
          <p:nvPr>
            <p:ph type="sldNum" sz="quarter" idx="12"/>
          </p:nvPr>
        </p:nvSpPr>
        <p:spPr/>
        <p:txBody>
          <a:bodyPr/>
          <a:lstStyle/>
          <a:p>
            <a:fld id="{F1EB1119-B1EA-482F-8756-A2F14CA520E4}" type="slidenum">
              <a:rPr lang="zh-CN" altLang="en-US" smtClean="0"/>
              <a:t>43</a:t>
            </a:fld>
            <a:endParaRPr lang="zh-CN" altLang="en-US"/>
          </a:p>
        </p:txBody>
      </p:sp>
      <p:sp>
        <p:nvSpPr>
          <p:cNvPr id="5" name="标题 54273">
            <a:extLst>
              <a:ext uri="{FF2B5EF4-FFF2-40B4-BE49-F238E27FC236}">
                <a16:creationId xmlns:a16="http://schemas.microsoft.com/office/drawing/2014/main" id="{1898FBF7-F106-4E64-9846-DB9EF9857B79}"/>
              </a:ext>
            </a:extLst>
          </p:cNvPr>
          <p:cNvSpPr txBox="1">
            <a:spLocks noChangeArrowheads="1"/>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b="0"/>
              <a:t>指向函数的指针</a:t>
            </a:r>
            <a:endParaRPr lang="zh-CN" altLang="en-US" b="0" dirty="0"/>
          </a:p>
        </p:txBody>
      </p:sp>
      <p:sp>
        <p:nvSpPr>
          <p:cNvPr id="6" name="矩形 5">
            <a:extLst>
              <a:ext uri="{FF2B5EF4-FFF2-40B4-BE49-F238E27FC236}">
                <a16:creationId xmlns:a16="http://schemas.microsoft.com/office/drawing/2014/main" id="{863CD4E9-15F7-4A16-A287-3CACC928F42E}"/>
              </a:ext>
            </a:extLst>
          </p:cNvPr>
          <p:cNvSpPr/>
          <p:nvPr/>
        </p:nvSpPr>
        <p:spPr>
          <a:xfrm>
            <a:off x="1847528" y="4948374"/>
            <a:ext cx="8280920" cy="830997"/>
          </a:xfrm>
          <a:prstGeom prst="rect">
            <a:avLst/>
          </a:prstGeom>
        </p:spPr>
        <p:txBody>
          <a:bodyPr wrap="square">
            <a:spAutoFit/>
          </a:bodyPr>
          <a:lstStyle/>
          <a:p>
            <a:r>
              <a:rPr lang="en-US" altLang="zh-CN" b="0" dirty="0">
                <a:solidFill>
                  <a:srgbClr val="61AEEE"/>
                </a:solidFill>
                <a:latin typeface="Source Code Pro"/>
              </a:rPr>
              <a:t>sort</a:t>
            </a:r>
            <a:r>
              <a:rPr lang="en-US" altLang="zh-CN" b="0" dirty="0">
                <a:solidFill>
                  <a:srgbClr val="999999"/>
                </a:solidFill>
                <a:latin typeface="Source Code Pro"/>
              </a:rPr>
              <a:t>(</a:t>
            </a:r>
            <a:r>
              <a:rPr lang="en-US" altLang="zh-CN" b="0" dirty="0">
                <a:solidFill>
                  <a:srgbClr val="ABB2BF"/>
                </a:solidFill>
                <a:latin typeface="Source Code Pro"/>
              </a:rPr>
              <a:t>A</a:t>
            </a:r>
            <a:r>
              <a:rPr lang="en-US" altLang="zh-CN" b="0" dirty="0">
                <a:solidFill>
                  <a:srgbClr val="999999"/>
                </a:solidFill>
                <a:latin typeface="Source Code Pro"/>
              </a:rPr>
              <a:t>,</a:t>
            </a:r>
            <a:r>
              <a:rPr lang="en-US" altLang="zh-CN" b="0" dirty="0">
                <a:solidFill>
                  <a:srgbClr val="ABB2BF"/>
                </a:solidFill>
                <a:latin typeface="Source Code Pro"/>
              </a:rPr>
              <a:t>A</a:t>
            </a:r>
            <a:r>
              <a:rPr lang="en-US" altLang="zh-CN" b="0" dirty="0">
                <a:solidFill>
                  <a:srgbClr val="669900"/>
                </a:solidFill>
                <a:latin typeface="Source Code Pro"/>
              </a:rPr>
              <a:t>+</a:t>
            </a:r>
            <a:r>
              <a:rPr lang="en-US" altLang="zh-CN" b="0" dirty="0">
                <a:solidFill>
                  <a:srgbClr val="98C379"/>
                </a:solidFill>
                <a:latin typeface="Source Code Pro"/>
              </a:rPr>
              <a:t>100</a:t>
            </a:r>
            <a:r>
              <a:rPr lang="en-US" altLang="zh-CN" b="0" dirty="0">
                <a:solidFill>
                  <a:srgbClr val="999999"/>
                </a:solidFill>
                <a:latin typeface="Source Code Pro"/>
              </a:rPr>
              <a:t>,</a:t>
            </a:r>
            <a:r>
              <a:rPr lang="en-US" altLang="zh-CN" b="0" dirty="0">
                <a:solidFill>
                  <a:srgbClr val="ABB2BF"/>
                </a:solidFill>
                <a:latin typeface="Source Code Pro"/>
              </a:rPr>
              <a:t>greater</a:t>
            </a:r>
            <a:r>
              <a:rPr lang="en-US" altLang="zh-CN" b="0" dirty="0">
                <a:solidFill>
                  <a:srgbClr val="669900"/>
                </a:solidFill>
                <a:latin typeface="Source Code Pro"/>
              </a:rPr>
              <a:t>&lt;</a:t>
            </a:r>
            <a:r>
              <a:rPr lang="en-US" altLang="zh-CN" b="0" dirty="0">
                <a:solidFill>
                  <a:srgbClr val="C678DD"/>
                </a:solidFill>
                <a:latin typeface="Source Code Pro"/>
              </a:rPr>
              <a:t>int</a:t>
            </a:r>
            <a:r>
              <a:rPr lang="en-US" altLang="zh-CN" b="0" dirty="0">
                <a:solidFill>
                  <a:srgbClr val="669900"/>
                </a:solidFill>
                <a:latin typeface="Source Code Pro"/>
              </a:rPr>
              <a:t>&gt;</a:t>
            </a:r>
            <a:r>
              <a:rPr lang="en-US" altLang="zh-CN" b="0" dirty="0">
                <a:solidFill>
                  <a:srgbClr val="999999"/>
                </a:solidFill>
                <a:latin typeface="Source Code Pro"/>
              </a:rPr>
              <a:t>());</a:t>
            </a:r>
            <a:r>
              <a:rPr lang="en-US" altLang="zh-CN" b="0" i="1" dirty="0">
                <a:solidFill>
                  <a:srgbClr val="5C6370"/>
                </a:solidFill>
                <a:latin typeface="Source Code Pro"/>
              </a:rPr>
              <a:t>//</a:t>
            </a:r>
            <a:r>
              <a:rPr lang="zh-CN" altLang="en-US" b="0" i="1" dirty="0">
                <a:solidFill>
                  <a:srgbClr val="5C6370"/>
                </a:solidFill>
                <a:latin typeface="Source Code Pro"/>
              </a:rPr>
              <a:t>降序排列</a:t>
            </a:r>
            <a:r>
              <a:rPr lang="en-US" altLang="zh-CN" b="0" dirty="0">
                <a:solidFill>
                  <a:srgbClr val="ABB2BF"/>
                </a:solidFill>
                <a:latin typeface="Source Code Pro"/>
              </a:rPr>
              <a:t> </a:t>
            </a:r>
            <a:r>
              <a:rPr lang="en-US" altLang="zh-CN" b="0" dirty="0">
                <a:solidFill>
                  <a:srgbClr val="61AEEE"/>
                </a:solidFill>
                <a:latin typeface="Source Code Pro"/>
              </a:rPr>
              <a:t>sort</a:t>
            </a:r>
            <a:r>
              <a:rPr lang="en-US" altLang="zh-CN" b="0" dirty="0">
                <a:solidFill>
                  <a:srgbClr val="999999"/>
                </a:solidFill>
                <a:latin typeface="Source Code Pro"/>
              </a:rPr>
              <a:t>(</a:t>
            </a:r>
            <a:r>
              <a:rPr lang="en-US" altLang="zh-CN" b="0" dirty="0">
                <a:solidFill>
                  <a:srgbClr val="ABB2BF"/>
                </a:solidFill>
                <a:latin typeface="Source Code Pro"/>
              </a:rPr>
              <a:t>A</a:t>
            </a:r>
            <a:r>
              <a:rPr lang="en-US" altLang="zh-CN" b="0" dirty="0">
                <a:solidFill>
                  <a:srgbClr val="999999"/>
                </a:solidFill>
                <a:latin typeface="Source Code Pro"/>
              </a:rPr>
              <a:t>,</a:t>
            </a:r>
            <a:r>
              <a:rPr lang="en-US" altLang="zh-CN" b="0" dirty="0">
                <a:solidFill>
                  <a:srgbClr val="ABB2BF"/>
                </a:solidFill>
                <a:latin typeface="Source Code Pro"/>
              </a:rPr>
              <a:t>A</a:t>
            </a:r>
            <a:r>
              <a:rPr lang="en-US" altLang="zh-CN" b="0" dirty="0">
                <a:solidFill>
                  <a:srgbClr val="669900"/>
                </a:solidFill>
                <a:latin typeface="Source Code Pro"/>
              </a:rPr>
              <a:t>+</a:t>
            </a:r>
            <a:r>
              <a:rPr lang="en-US" altLang="zh-CN" b="0" dirty="0">
                <a:solidFill>
                  <a:srgbClr val="98C379"/>
                </a:solidFill>
                <a:latin typeface="Source Code Pro"/>
              </a:rPr>
              <a:t>100</a:t>
            </a:r>
            <a:r>
              <a:rPr lang="en-US" altLang="zh-CN" b="0" dirty="0">
                <a:solidFill>
                  <a:srgbClr val="999999"/>
                </a:solidFill>
                <a:latin typeface="Source Code Pro"/>
              </a:rPr>
              <a:t>,</a:t>
            </a:r>
            <a:r>
              <a:rPr lang="en-US" altLang="zh-CN" b="0" dirty="0">
                <a:solidFill>
                  <a:srgbClr val="ABB2BF"/>
                </a:solidFill>
                <a:latin typeface="Source Code Pro"/>
              </a:rPr>
              <a:t>less</a:t>
            </a:r>
            <a:r>
              <a:rPr lang="en-US" altLang="zh-CN" b="0" dirty="0">
                <a:solidFill>
                  <a:srgbClr val="669900"/>
                </a:solidFill>
                <a:latin typeface="Source Code Pro"/>
              </a:rPr>
              <a:t>&lt;</a:t>
            </a:r>
            <a:r>
              <a:rPr lang="en-US" altLang="zh-CN" b="0" dirty="0">
                <a:solidFill>
                  <a:srgbClr val="C678DD"/>
                </a:solidFill>
                <a:latin typeface="Source Code Pro"/>
              </a:rPr>
              <a:t>int</a:t>
            </a:r>
            <a:r>
              <a:rPr lang="en-US" altLang="zh-CN" b="0" dirty="0">
                <a:solidFill>
                  <a:srgbClr val="669900"/>
                </a:solidFill>
                <a:latin typeface="Source Code Pro"/>
              </a:rPr>
              <a:t>&gt;</a:t>
            </a:r>
            <a:r>
              <a:rPr lang="en-US" altLang="zh-CN" b="0" dirty="0">
                <a:solidFill>
                  <a:srgbClr val="999999"/>
                </a:solidFill>
                <a:latin typeface="Source Code Pro"/>
              </a:rPr>
              <a:t>());</a:t>
            </a:r>
            <a:r>
              <a:rPr lang="en-US" altLang="zh-CN" b="0" i="1" dirty="0">
                <a:solidFill>
                  <a:srgbClr val="5C6370"/>
                </a:solidFill>
                <a:latin typeface="Source Code Pro"/>
              </a:rPr>
              <a:t>//</a:t>
            </a:r>
            <a:r>
              <a:rPr lang="zh-CN" altLang="en-US" b="0" i="1" dirty="0">
                <a:solidFill>
                  <a:srgbClr val="5C6370"/>
                </a:solidFill>
                <a:latin typeface="Source Code Pro"/>
              </a:rPr>
              <a:t>升序排列</a:t>
            </a:r>
            <a:endParaRPr lang="zh-CN" altLang="en-US" dirty="0"/>
          </a:p>
        </p:txBody>
      </p:sp>
    </p:spTree>
    <p:extLst>
      <p:ext uri="{BB962C8B-B14F-4D97-AF65-F5344CB8AC3E}">
        <p14:creationId xmlns:p14="http://schemas.microsoft.com/office/powerpoint/2010/main" val="1359213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AF3D299-C6FA-45FD-8486-F43A0FE36C97}"/>
              </a:ext>
            </a:extLst>
          </p:cNvPr>
          <p:cNvSpPr>
            <a:spLocks noGrp="1"/>
          </p:cNvSpPr>
          <p:nvPr>
            <p:ph idx="1"/>
          </p:nvPr>
        </p:nvSpPr>
        <p:spPr/>
        <p:txBody>
          <a:bodyPr/>
          <a:lstStyle/>
          <a:p>
            <a:pPr>
              <a:lnSpc>
                <a:spcPct val="150000"/>
              </a:lnSpc>
              <a:spcBef>
                <a:spcPts val="0"/>
              </a:spcBef>
            </a:pPr>
            <a:r>
              <a:rPr lang="zh-CN" altLang="en-US" dirty="0"/>
              <a:t>例：</a:t>
            </a:r>
            <a:endParaRPr lang="en-US" altLang="zh-CN" dirty="0"/>
          </a:p>
          <a:p>
            <a:pPr>
              <a:lnSpc>
                <a:spcPct val="150000"/>
              </a:lnSpc>
              <a:spcBef>
                <a:spcPts val="0"/>
              </a:spcBef>
            </a:pPr>
            <a:endParaRPr lang="zh-CN" altLang="en-US" dirty="0"/>
          </a:p>
        </p:txBody>
      </p:sp>
      <p:sp>
        <p:nvSpPr>
          <p:cNvPr id="4" name="灯片编号占位符 3">
            <a:extLst>
              <a:ext uri="{FF2B5EF4-FFF2-40B4-BE49-F238E27FC236}">
                <a16:creationId xmlns:a16="http://schemas.microsoft.com/office/drawing/2014/main" id="{2F4C88E5-CD32-447A-B767-0303BB64A06F}"/>
              </a:ext>
            </a:extLst>
          </p:cNvPr>
          <p:cNvSpPr>
            <a:spLocks noGrp="1"/>
          </p:cNvSpPr>
          <p:nvPr>
            <p:ph type="sldNum" sz="quarter" idx="12"/>
          </p:nvPr>
        </p:nvSpPr>
        <p:spPr/>
        <p:txBody>
          <a:bodyPr/>
          <a:lstStyle/>
          <a:p>
            <a:fld id="{F1EB1119-B1EA-482F-8756-A2F14CA520E4}" type="slidenum">
              <a:rPr lang="zh-CN" altLang="en-US" smtClean="0"/>
              <a:t>44</a:t>
            </a:fld>
            <a:endParaRPr lang="zh-CN" altLang="en-US"/>
          </a:p>
        </p:txBody>
      </p:sp>
      <p:sp>
        <p:nvSpPr>
          <p:cNvPr id="5" name="标题 54273">
            <a:extLst>
              <a:ext uri="{FF2B5EF4-FFF2-40B4-BE49-F238E27FC236}">
                <a16:creationId xmlns:a16="http://schemas.microsoft.com/office/drawing/2014/main" id="{1898FBF7-F106-4E64-9846-DB9EF9857B79}"/>
              </a:ext>
            </a:extLst>
          </p:cNvPr>
          <p:cNvSpPr txBox="1">
            <a:spLocks noChangeArrowheads="1"/>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zh-CN" altLang="en-US" b="0"/>
              <a:t>指向函数的指针</a:t>
            </a:r>
            <a:endParaRPr lang="zh-CN" altLang="en-US" b="0" dirty="0"/>
          </a:p>
        </p:txBody>
      </p:sp>
      <p:sp>
        <p:nvSpPr>
          <p:cNvPr id="2" name="矩形 1">
            <a:extLst>
              <a:ext uri="{FF2B5EF4-FFF2-40B4-BE49-F238E27FC236}">
                <a16:creationId xmlns:a16="http://schemas.microsoft.com/office/drawing/2014/main" id="{7CC7B16E-B4F6-47BD-AE56-3BEC01A81075}"/>
              </a:ext>
            </a:extLst>
          </p:cNvPr>
          <p:cNvSpPr/>
          <p:nvPr/>
        </p:nvSpPr>
        <p:spPr>
          <a:xfrm>
            <a:off x="1906960" y="1825625"/>
            <a:ext cx="9751640" cy="4893647"/>
          </a:xfrm>
          <a:prstGeom prst="rect">
            <a:avLst/>
          </a:prstGeom>
        </p:spPr>
        <p:txBody>
          <a:bodyPr wrap="square">
            <a:spAutoFit/>
          </a:bodyPr>
          <a:lstStyle/>
          <a:p>
            <a:r>
              <a:rPr lang="en-US" altLang="zh-CN" dirty="0">
                <a:solidFill>
                  <a:schemeClr val="tx1"/>
                </a:solidFill>
              </a:rPr>
              <a:t>#include&lt;iostream&gt;</a:t>
            </a:r>
          </a:p>
          <a:p>
            <a:r>
              <a:rPr lang="en-US" altLang="zh-CN" dirty="0">
                <a:solidFill>
                  <a:schemeClr val="tx1"/>
                </a:solidFill>
              </a:rPr>
              <a:t>#include&lt;algorithm&gt;</a:t>
            </a:r>
          </a:p>
          <a:p>
            <a:r>
              <a:rPr lang="en-US" altLang="zh-CN" dirty="0">
                <a:solidFill>
                  <a:schemeClr val="tx1"/>
                </a:solidFill>
              </a:rPr>
              <a:t>using namespace std;</a:t>
            </a:r>
          </a:p>
          <a:p>
            <a:r>
              <a:rPr lang="en-US" altLang="zh-CN" dirty="0">
                <a:solidFill>
                  <a:schemeClr val="tx1"/>
                </a:solidFill>
              </a:rPr>
              <a:t>bool </a:t>
            </a:r>
            <a:r>
              <a:rPr lang="en-US" altLang="zh-CN" dirty="0" err="1">
                <a:solidFill>
                  <a:schemeClr val="tx1"/>
                </a:solidFill>
              </a:rPr>
              <a:t>cmp</a:t>
            </a:r>
            <a:r>
              <a:rPr lang="en-US" altLang="zh-CN" dirty="0">
                <a:solidFill>
                  <a:schemeClr val="tx1"/>
                </a:solidFill>
              </a:rPr>
              <a:t>(int </a:t>
            </a:r>
            <a:r>
              <a:rPr lang="en-US" altLang="zh-CN" dirty="0" err="1">
                <a:solidFill>
                  <a:schemeClr val="tx1"/>
                </a:solidFill>
              </a:rPr>
              <a:t>x,int</a:t>
            </a:r>
            <a:r>
              <a:rPr lang="en-US" altLang="zh-CN" dirty="0">
                <a:solidFill>
                  <a:schemeClr val="tx1"/>
                </a:solidFill>
              </a:rPr>
              <a:t> y)</a:t>
            </a:r>
            <a:r>
              <a:rPr lang="zh-CN" altLang="en-US" dirty="0">
                <a:solidFill>
                  <a:schemeClr val="tx1"/>
                </a:solidFill>
              </a:rPr>
              <a:t> </a:t>
            </a:r>
            <a:r>
              <a:rPr lang="en-US" altLang="zh-CN" dirty="0">
                <a:solidFill>
                  <a:schemeClr val="tx1"/>
                </a:solidFill>
              </a:rPr>
              <a:t>//</a:t>
            </a:r>
            <a:r>
              <a:rPr lang="zh-CN" altLang="en-US" dirty="0">
                <a:solidFill>
                  <a:schemeClr val="tx1"/>
                </a:solidFill>
              </a:rPr>
              <a:t>按个位数由大到小排序</a:t>
            </a:r>
            <a:endParaRPr lang="en-US" altLang="zh-CN" dirty="0">
              <a:solidFill>
                <a:schemeClr val="tx1"/>
              </a:solidFill>
            </a:endParaRPr>
          </a:p>
          <a:p>
            <a:r>
              <a:rPr lang="en-US" altLang="zh-CN" dirty="0">
                <a:solidFill>
                  <a:schemeClr val="tx1"/>
                </a:solidFill>
              </a:rPr>
              <a:t>      { return x % 10 &gt; y % 10;}</a:t>
            </a:r>
          </a:p>
          <a:p>
            <a:r>
              <a:rPr lang="en-US" altLang="zh-CN" dirty="0">
                <a:solidFill>
                  <a:schemeClr val="tx1"/>
                </a:solidFill>
              </a:rPr>
              <a:t>int main(){</a:t>
            </a:r>
          </a:p>
          <a:p>
            <a:r>
              <a:rPr lang="en-US" altLang="zh-CN" dirty="0">
                <a:solidFill>
                  <a:schemeClr val="tx1"/>
                </a:solidFill>
              </a:rPr>
              <a:t>	int num[10] = {65,59,96,13,21,80,72,33,44,99};</a:t>
            </a:r>
          </a:p>
          <a:p>
            <a:r>
              <a:rPr lang="en-US" altLang="zh-CN" dirty="0">
                <a:solidFill>
                  <a:schemeClr val="tx1"/>
                </a:solidFill>
              </a:rPr>
              <a:t>	sort(num,num+10,cmp);</a:t>
            </a:r>
          </a:p>
          <a:p>
            <a:r>
              <a:rPr lang="en-US" altLang="zh-CN" dirty="0">
                <a:solidFill>
                  <a:schemeClr val="tx1"/>
                </a:solidFill>
              </a:rPr>
              <a:t>	for(int </a:t>
            </a:r>
            <a:r>
              <a:rPr lang="en-US" altLang="zh-CN" dirty="0" err="1">
                <a:solidFill>
                  <a:schemeClr val="tx1"/>
                </a:solidFill>
              </a:rPr>
              <a:t>i</a:t>
            </a:r>
            <a:r>
              <a:rPr lang="en-US" altLang="zh-CN" dirty="0">
                <a:solidFill>
                  <a:schemeClr val="tx1"/>
                </a:solidFill>
              </a:rPr>
              <a:t>=0;i&lt;10;i++)</a:t>
            </a:r>
          </a:p>
          <a:p>
            <a:r>
              <a:rPr lang="en-US" altLang="zh-CN" dirty="0">
                <a:solidFill>
                  <a:schemeClr val="tx1"/>
                </a:solidFill>
              </a:rPr>
              <a:t>            {</a:t>
            </a:r>
          </a:p>
          <a:p>
            <a:r>
              <a:rPr lang="en-US" altLang="zh-CN" dirty="0">
                <a:solidFill>
                  <a:schemeClr val="tx1"/>
                </a:solidFill>
              </a:rPr>
              <a:t>                </a:t>
            </a:r>
            <a:r>
              <a:rPr lang="en-US" altLang="zh-CN" dirty="0" err="1">
                <a:solidFill>
                  <a:schemeClr val="tx1"/>
                </a:solidFill>
              </a:rPr>
              <a:t>cout</a:t>
            </a:r>
            <a:r>
              <a:rPr lang="en-US" altLang="zh-CN" dirty="0">
                <a:solidFill>
                  <a:schemeClr val="tx1"/>
                </a:solidFill>
              </a:rPr>
              <a:t>&lt;&lt;num[</a:t>
            </a:r>
            <a:r>
              <a:rPr lang="en-US" altLang="zh-CN" dirty="0" err="1">
                <a:solidFill>
                  <a:schemeClr val="tx1"/>
                </a:solidFill>
              </a:rPr>
              <a:t>i</a:t>
            </a:r>
            <a:r>
              <a:rPr lang="en-US" altLang="zh-CN" dirty="0">
                <a:solidFill>
                  <a:schemeClr val="tx1"/>
                </a:solidFill>
              </a:rPr>
              <a:t>]&lt;&lt;" "; }//</a:t>
            </a:r>
            <a:r>
              <a:rPr lang="zh-CN" altLang="en-US" dirty="0">
                <a:solidFill>
                  <a:schemeClr val="tx1"/>
                </a:solidFill>
              </a:rPr>
              <a:t>输出结果：</a:t>
            </a:r>
            <a:r>
              <a:rPr lang="en-US" altLang="zh-CN" dirty="0">
                <a:solidFill>
                  <a:schemeClr val="tx1"/>
                </a:solidFill>
              </a:rPr>
              <a:t>59 99 96 65 44 13 33 72 21 80</a:t>
            </a:r>
          </a:p>
          <a:p>
            <a:r>
              <a:rPr lang="en-US" altLang="zh-CN" dirty="0">
                <a:solidFill>
                  <a:schemeClr val="tx1"/>
                </a:solidFill>
              </a:rPr>
              <a:t>	return 0;</a:t>
            </a:r>
          </a:p>
          <a:p>
            <a:r>
              <a:rPr lang="en-US" altLang="zh-CN" dirty="0">
                <a:solidFill>
                  <a:schemeClr val="tx1"/>
                </a:solidFill>
              </a:rPr>
              <a:t>} </a:t>
            </a:r>
          </a:p>
        </p:txBody>
      </p:sp>
      <p:sp>
        <p:nvSpPr>
          <p:cNvPr id="6" name="流程图: 过程 54277">
            <a:extLst>
              <a:ext uri="{FF2B5EF4-FFF2-40B4-BE49-F238E27FC236}">
                <a16:creationId xmlns:a16="http://schemas.microsoft.com/office/drawing/2014/main" id="{38CC5E20-ABFB-4712-869A-896946624810}"/>
              </a:ext>
            </a:extLst>
          </p:cNvPr>
          <p:cNvSpPr>
            <a:spLocks noChangeArrowheads="1"/>
          </p:cNvSpPr>
          <p:nvPr/>
        </p:nvSpPr>
        <p:spPr bwMode="auto">
          <a:xfrm>
            <a:off x="8373663" y="6050757"/>
            <a:ext cx="2088358"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t>sort1.cpp</a:t>
            </a:r>
          </a:p>
        </p:txBody>
      </p:sp>
    </p:spTree>
    <p:extLst>
      <p:ext uri="{BB962C8B-B14F-4D97-AF65-F5344CB8AC3E}">
        <p14:creationId xmlns:p14="http://schemas.microsoft.com/office/powerpoint/2010/main" val="6557307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57345"/>
          <p:cNvSpPr>
            <a:spLocks noGrp="1" noChangeArrowheads="1"/>
          </p:cNvSpPr>
          <p:nvPr>
            <p:ph type="title"/>
          </p:nvPr>
        </p:nvSpPr>
        <p:spPr/>
        <p:txBody>
          <a:bodyPr/>
          <a:lstStyle/>
          <a:p>
            <a:r>
              <a:rPr lang="en-US" altLang="zh-CN" dirty="0"/>
              <a:t>7.5.2 main </a:t>
            </a:r>
            <a:r>
              <a:rPr lang="zh-CN" altLang="en-US" dirty="0"/>
              <a:t>函数的参数 </a:t>
            </a:r>
          </a:p>
        </p:txBody>
      </p:sp>
      <p:sp>
        <p:nvSpPr>
          <p:cNvPr id="39939" name="文本占位符 57346"/>
          <p:cNvSpPr>
            <a:spLocks noGrp="1" noChangeArrowheads="1"/>
          </p:cNvSpPr>
          <p:nvPr>
            <p:ph idx="1"/>
          </p:nvPr>
        </p:nvSpPr>
        <p:spPr>
          <a:xfrm>
            <a:off x="2423592" y="1690688"/>
            <a:ext cx="6562725" cy="4114800"/>
          </a:xfrm>
        </p:spPr>
        <p:txBody>
          <a:bodyPr/>
          <a:lstStyle/>
          <a:p>
            <a:pPr>
              <a:buFontTx/>
              <a:buNone/>
            </a:pPr>
            <a:r>
              <a:rPr lang="zh-CN" altLang="en-US" dirty="0"/>
              <a:t>在</a:t>
            </a:r>
            <a:r>
              <a:rPr lang="en-US" altLang="zh-CN" dirty="0"/>
              <a:t>main( )</a:t>
            </a:r>
            <a:r>
              <a:rPr lang="zh-CN" altLang="en-US" dirty="0"/>
              <a:t>函数头部声明的格式为： </a:t>
            </a:r>
          </a:p>
          <a:p>
            <a:pPr>
              <a:buFontTx/>
              <a:buNone/>
            </a:pPr>
            <a:r>
              <a:rPr lang="zh-CN" altLang="en-US" dirty="0">
                <a:solidFill>
                  <a:srgbClr val="0000CC"/>
                </a:solidFill>
              </a:rPr>
              <a:t>   </a:t>
            </a:r>
            <a:r>
              <a:rPr lang="en-US" altLang="zh-CN" dirty="0">
                <a:solidFill>
                  <a:srgbClr val="0000CC"/>
                </a:solidFill>
              </a:rPr>
              <a:t>int  main( int  argc, </a:t>
            </a:r>
            <a:r>
              <a:rPr lang="en-US" altLang="zh-CN" dirty="0">
                <a:solidFill>
                  <a:srgbClr val="C00000"/>
                </a:solidFill>
              </a:rPr>
              <a:t>char  *argv[ ] </a:t>
            </a:r>
            <a:r>
              <a:rPr lang="en-US" altLang="zh-CN" dirty="0">
                <a:solidFill>
                  <a:srgbClr val="0000CC"/>
                </a:solidFill>
              </a:rPr>
              <a:t>) </a:t>
            </a:r>
          </a:p>
          <a:p>
            <a:pPr>
              <a:buFontTx/>
              <a:buNone/>
            </a:pPr>
            <a:r>
              <a:rPr lang="en-US" altLang="zh-CN" dirty="0">
                <a:solidFill>
                  <a:srgbClr val="0000CC"/>
                </a:solidFill>
              </a:rPr>
              <a:t>   int  main (int argc, </a:t>
            </a:r>
            <a:r>
              <a:rPr lang="en-US" altLang="zh-CN" dirty="0">
                <a:solidFill>
                  <a:srgbClr val="C00000"/>
                </a:solidFill>
              </a:rPr>
              <a:t>char **argv</a:t>
            </a:r>
            <a:r>
              <a:rPr lang="en-US" altLang="zh-CN" dirty="0">
                <a:solidFill>
                  <a:srgbClr val="0000CC"/>
                </a:solidFill>
              </a:rPr>
              <a:t>) </a:t>
            </a:r>
            <a:r>
              <a:rPr lang="zh-CN" altLang="en-US" dirty="0">
                <a:solidFill>
                  <a:srgbClr val="0000CC"/>
                </a:solidFill>
              </a:rPr>
              <a:t> </a:t>
            </a:r>
          </a:p>
          <a:p>
            <a:pPr>
              <a:buFontTx/>
              <a:buNone/>
            </a:pPr>
            <a:endParaRPr lang="en-US" altLang="zh-CN" dirty="0"/>
          </a:p>
          <a:p>
            <a:pPr>
              <a:buFontTx/>
              <a:buNone/>
            </a:pPr>
            <a:r>
              <a:rPr lang="en-US" altLang="zh-CN" dirty="0"/>
              <a:t>argc</a:t>
            </a:r>
            <a:r>
              <a:rPr lang="zh-CN" altLang="en-US" dirty="0"/>
              <a:t>表示命令行中字符串的个数。</a:t>
            </a:r>
          </a:p>
          <a:p>
            <a:pPr>
              <a:buFontTx/>
              <a:buNone/>
            </a:pPr>
            <a:r>
              <a:rPr lang="en-US" altLang="zh-CN" dirty="0"/>
              <a:t>argv[ ]</a:t>
            </a:r>
            <a:r>
              <a:rPr lang="zh-CN" altLang="en-US" dirty="0"/>
              <a:t>指向命令行中的各个字符串。</a:t>
            </a:r>
          </a:p>
        </p:txBody>
      </p:sp>
      <p:sp>
        <p:nvSpPr>
          <p:cNvPr id="39937"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B2389034-12A1-4673-ACE8-1B6B674DCAD4}" type="slidenum">
              <a:rPr lang="zh-CN" altLang="en-US" smtClean="0"/>
              <a:t>45</a:t>
            </a:fld>
            <a:endParaRPr lang="zh-CN" altLang="en-US"/>
          </a:p>
        </p:txBody>
      </p:sp>
      <p:sp>
        <p:nvSpPr>
          <p:cNvPr id="2" name="矩形 1"/>
          <p:cNvSpPr/>
          <p:nvPr/>
        </p:nvSpPr>
        <p:spPr>
          <a:xfrm>
            <a:off x="7968208" y="2348880"/>
            <a:ext cx="2743200" cy="830997"/>
          </a:xfrm>
          <a:prstGeom prst="rect">
            <a:avLst/>
          </a:prstGeom>
          <a:ln>
            <a:solidFill>
              <a:schemeClr val="accent1"/>
            </a:solidFill>
          </a:ln>
        </p:spPr>
        <p:txBody>
          <a:bodyPr wrap="square">
            <a:spAutoFit/>
          </a:bodyPr>
          <a:lstStyle/>
          <a:p>
            <a:r>
              <a:rPr lang="zh-CN" altLang="en-US" dirty="0">
                <a:solidFill>
                  <a:srgbClr val="7030A0"/>
                </a:solidFill>
                <a:latin typeface="Consolas" panose="020B0609020204030204" pitchFamily="49" charset="0"/>
                <a:ea typeface="仿宋" panose="02010609060101010101" pitchFamily="49" charset="-122"/>
                <a:cs typeface="阿里巴巴普惠体 R" panose="00020600040101010101" pitchFamily="18" charset="-122"/>
              </a:rPr>
              <a:t>指针数组</a:t>
            </a:r>
            <a:endParaRPr lang="en-US" altLang="zh-CN" dirty="0">
              <a:solidFill>
                <a:srgbClr val="7030A0"/>
              </a:solidFill>
              <a:latin typeface="Consolas" panose="020B0609020204030204" pitchFamily="49" charset="0"/>
              <a:ea typeface="仿宋" panose="02010609060101010101" pitchFamily="49" charset="-122"/>
              <a:cs typeface="阿里巴巴普惠体 R" panose="00020600040101010101" pitchFamily="18" charset="-122"/>
            </a:endParaRPr>
          </a:p>
          <a:p>
            <a:r>
              <a:rPr lang="zh-CN" altLang="en-US" dirty="0">
                <a:solidFill>
                  <a:srgbClr val="7030A0"/>
                </a:solidFill>
                <a:latin typeface="Consolas" panose="020B0609020204030204" pitchFamily="49" charset="0"/>
                <a:ea typeface="仿宋" panose="02010609060101010101" pitchFamily="49" charset="-122"/>
                <a:cs typeface="阿里巴巴普惠体 R" panose="00020600040101010101" pitchFamily="18" charset="-122"/>
              </a:rPr>
              <a:t>指向指针的指针</a:t>
            </a:r>
            <a:r>
              <a:rPr lang="zh-CN" altLang="zh-CN" dirty="0">
                <a:solidFill>
                  <a:srgbClr val="7030A0"/>
                </a:solidFill>
                <a:latin typeface="Consolas" panose="020B0609020204030204" pitchFamily="49" charset="0"/>
                <a:ea typeface="仿宋" panose="02010609060101010101" pitchFamily="49" charset="-122"/>
                <a:cs typeface="阿里巴巴普惠体 R" panose="00020600040101010101" pitchFamily="18" charset="-122"/>
              </a:rPr>
              <a:t>。</a:t>
            </a:r>
            <a:endParaRPr lang="zh-CN" altLang="en-US" dirty="0">
              <a:solidFill>
                <a:srgbClr val="7030A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51C1B7AE-744A-4C8A-9DF5-F687D664F0F4}" type="slidenum">
              <a:rPr lang="zh-CN" altLang="en-US" smtClean="0"/>
              <a:t>46</a:t>
            </a:fld>
            <a:endParaRPr lang="zh-CN" altLang="en-US"/>
          </a:p>
        </p:txBody>
      </p:sp>
      <p:sp>
        <p:nvSpPr>
          <p:cNvPr id="40962" name="文本框 58371"/>
          <p:cNvSpPr txBox="1">
            <a:spLocks noChangeArrowheads="1"/>
          </p:cNvSpPr>
          <p:nvPr/>
        </p:nvSpPr>
        <p:spPr bwMode="auto">
          <a:xfrm>
            <a:off x="1919288" y="1125539"/>
            <a:ext cx="82804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600" dirty="0">
                <a:solidFill>
                  <a:schemeClr val="tx1"/>
                </a:solidFill>
              </a:rPr>
              <a:t>【</a:t>
            </a:r>
            <a:r>
              <a:rPr lang="zh-CN" altLang="en-US" sz="2600" dirty="0">
                <a:solidFill>
                  <a:schemeClr val="tx1"/>
                </a:solidFill>
              </a:rPr>
              <a:t>例</a:t>
            </a:r>
            <a:r>
              <a:rPr lang="en-US" altLang="zh-CN" sz="2600" dirty="0">
                <a:solidFill>
                  <a:schemeClr val="tx1"/>
                </a:solidFill>
              </a:rPr>
              <a:t>7.11】</a:t>
            </a:r>
            <a:r>
              <a:rPr lang="zh-CN" altLang="en-US" sz="2600" dirty="0">
                <a:solidFill>
                  <a:schemeClr val="tx1"/>
                </a:solidFill>
              </a:rPr>
              <a:t>通过命令行参数计算输入数据的和。</a:t>
            </a:r>
          </a:p>
          <a:p>
            <a:endParaRPr lang="en-US" altLang="zh-CN" sz="2600" dirty="0">
              <a:solidFill>
                <a:schemeClr val="tx1"/>
              </a:solidFill>
            </a:endParaRPr>
          </a:p>
          <a:p>
            <a:r>
              <a:rPr lang="en-US" altLang="zh-CN" sz="2600" dirty="0">
                <a:solidFill>
                  <a:schemeClr val="tx1"/>
                </a:solidFill>
              </a:rPr>
              <a:t>void   main (int </a:t>
            </a:r>
            <a:r>
              <a:rPr lang="en-US" altLang="zh-CN" sz="2600" dirty="0" err="1">
                <a:solidFill>
                  <a:schemeClr val="tx1"/>
                </a:solidFill>
              </a:rPr>
              <a:t>argc</a:t>
            </a:r>
            <a:r>
              <a:rPr lang="en-US" altLang="zh-CN" sz="2600" dirty="0">
                <a:solidFill>
                  <a:schemeClr val="tx1"/>
                </a:solidFill>
              </a:rPr>
              <a:t>, char *</a:t>
            </a:r>
            <a:r>
              <a:rPr lang="en-US" altLang="zh-CN" sz="2600" dirty="0" err="1">
                <a:solidFill>
                  <a:schemeClr val="tx1"/>
                </a:solidFill>
              </a:rPr>
              <a:t>argv</a:t>
            </a:r>
            <a:r>
              <a:rPr lang="en-US" altLang="zh-CN" sz="2600" dirty="0">
                <a:solidFill>
                  <a:schemeClr val="tx1"/>
                </a:solidFill>
              </a:rPr>
              <a:t>[ ]) </a:t>
            </a:r>
          </a:p>
          <a:p>
            <a:r>
              <a:rPr lang="en-US" altLang="zh-CN" sz="2600" dirty="0">
                <a:solidFill>
                  <a:schemeClr val="tx1"/>
                </a:solidFill>
              </a:rPr>
              <a:t>{</a:t>
            </a:r>
          </a:p>
          <a:p>
            <a:r>
              <a:rPr lang="en-US" altLang="zh-CN" sz="2600" dirty="0">
                <a:solidFill>
                  <a:schemeClr val="tx1"/>
                </a:solidFill>
              </a:rPr>
              <a:t> 	int  sum, </a:t>
            </a:r>
            <a:r>
              <a:rPr lang="en-US" altLang="zh-CN" sz="2600" dirty="0" err="1">
                <a:solidFill>
                  <a:schemeClr val="tx1"/>
                </a:solidFill>
              </a:rPr>
              <a:t>i</a:t>
            </a:r>
            <a:r>
              <a:rPr lang="en-US" altLang="zh-CN" sz="2600" dirty="0">
                <a:solidFill>
                  <a:schemeClr val="tx1"/>
                </a:solidFill>
              </a:rPr>
              <a:t>; </a:t>
            </a:r>
          </a:p>
          <a:p>
            <a:endParaRPr lang="en-US" altLang="zh-CN" sz="2600" dirty="0">
              <a:solidFill>
                <a:schemeClr val="tx1"/>
              </a:solidFill>
            </a:endParaRPr>
          </a:p>
          <a:p>
            <a:r>
              <a:rPr lang="en-US" altLang="zh-CN" sz="2600" dirty="0">
                <a:solidFill>
                  <a:schemeClr val="tx1"/>
                </a:solidFill>
              </a:rPr>
              <a:t>	</a:t>
            </a:r>
            <a:r>
              <a:rPr lang="en-US" altLang="zh-CN" sz="2600" dirty="0" err="1">
                <a:solidFill>
                  <a:schemeClr val="tx1"/>
                </a:solidFill>
              </a:rPr>
              <a:t>cout</a:t>
            </a:r>
            <a:r>
              <a:rPr lang="en-US" altLang="zh-CN" sz="2600" dirty="0">
                <a:solidFill>
                  <a:schemeClr val="tx1"/>
                </a:solidFill>
              </a:rPr>
              <a:t> &lt;&lt; "Command name:" &lt;&lt; </a:t>
            </a:r>
            <a:r>
              <a:rPr lang="en-US" altLang="zh-CN" sz="2600" dirty="0" err="1">
                <a:solidFill>
                  <a:schemeClr val="tx1"/>
                </a:solidFill>
              </a:rPr>
              <a:t>argv</a:t>
            </a:r>
            <a:r>
              <a:rPr lang="en-US" altLang="zh-CN" sz="2600" dirty="0">
                <a:solidFill>
                  <a:schemeClr val="tx1"/>
                </a:solidFill>
              </a:rPr>
              <a:t>[0] &lt;&lt; </a:t>
            </a:r>
            <a:r>
              <a:rPr lang="en-US" altLang="zh-CN" sz="2600" dirty="0" err="1">
                <a:solidFill>
                  <a:schemeClr val="tx1"/>
                </a:solidFill>
              </a:rPr>
              <a:t>endl</a:t>
            </a:r>
            <a:r>
              <a:rPr lang="en-US" altLang="zh-CN" sz="2600" dirty="0">
                <a:solidFill>
                  <a:schemeClr val="tx1"/>
                </a:solidFill>
              </a:rPr>
              <a:t>; </a:t>
            </a:r>
          </a:p>
          <a:p>
            <a:r>
              <a:rPr lang="en-US" altLang="zh-CN" sz="2600" dirty="0">
                <a:solidFill>
                  <a:schemeClr val="tx1"/>
                </a:solidFill>
              </a:rPr>
              <a:t>	for(sum=0, </a:t>
            </a:r>
            <a:r>
              <a:rPr lang="en-US" altLang="zh-CN" sz="2600" dirty="0" err="1">
                <a:solidFill>
                  <a:schemeClr val="tx1"/>
                </a:solidFill>
              </a:rPr>
              <a:t>i</a:t>
            </a:r>
            <a:r>
              <a:rPr lang="en-US" altLang="zh-CN" sz="2600" dirty="0">
                <a:solidFill>
                  <a:schemeClr val="tx1"/>
                </a:solidFill>
              </a:rPr>
              <a:t>=1; </a:t>
            </a:r>
            <a:r>
              <a:rPr lang="en-US" altLang="zh-CN" sz="2600" dirty="0" err="1">
                <a:solidFill>
                  <a:schemeClr val="tx1"/>
                </a:solidFill>
              </a:rPr>
              <a:t>i</a:t>
            </a:r>
            <a:r>
              <a:rPr lang="en-US" altLang="zh-CN" sz="2600" dirty="0">
                <a:solidFill>
                  <a:schemeClr val="tx1"/>
                </a:solidFill>
              </a:rPr>
              <a:t>&lt;</a:t>
            </a:r>
            <a:r>
              <a:rPr lang="en-US" altLang="zh-CN" sz="2600" dirty="0" err="1">
                <a:solidFill>
                  <a:schemeClr val="tx1"/>
                </a:solidFill>
              </a:rPr>
              <a:t>argc</a:t>
            </a:r>
            <a:r>
              <a:rPr lang="en-US" altLang="zh-CN" sz="2600" dirty="0">
                <a:solidFill>
                  <a:schemeClr val="tx1"/>
                </a:solidFill>
              </a:rPr>
              <a:t>; </a:t>
            </a:r>
            <a:r>
              <a:rPr lang="en-US" altLang="zh-CN" sz="2600" dirty="0" err="1">
                <a:solidFill>
                  <a:schemeClr val="tx1"/>
                </a:solidFill>
              </a:rPr>
              <a:t>i</a:t>
            </a:r>
            <a:r>
              <a:rPr lang="en-US" altLang="zh-CN" sz="2600" dirty="0">
                <a:solidFill>
                  <a:schemeClr val="tx1"/>
                </a:solidFill>
              </a:rPr>
              <a:t>++) </a:t>
            </a:r>
          </a:p>
          <a:p>
            <a:r>
              <a:rPr lang="en-US" altLang="zh-CN" sz="2600" dirty="0">
                <a:solidFill>
                  <a:schemeClr val="tx1"/>
                </a:solidFill>
              </a:rPr>
              <a:t>		sum += </a:t>
            </a:r>
            <a:r>
              <a:rPr lang="en-US" altLang="zh-CN" sz="2600" dirty="0" err="1">
                <a:solidFill>
                  <a:schemeClr val="tx1"/>
                </a:solidFill>
              </a:rPr>
              <a:t>atoi</a:t>
            </a:r>
            <a:r>
              <a:rPr lang="en-US" altLang="zh-CN" sz="2600" dirty="0">
                <a:solidFill>
                  <a:schemeClr val="tx1"/>
                </a:solidFill>
              </a:rPr>
              <a:t>(</a:t>
            </a:r>
            <a:r>
              <a:rPr lang="en-US" altLang="zh-CN" sz="2600" dirty="0" err="1">
                <a:solidFill>
                  <a:schemeClr val="tx1"/>
                </a:solidFill>
              </a:rPr>
              <a:t>argv</a:t>
            </a:r>
            <a:r>
              <a:rPr lang="en-US" altLang="zh-CN" sz="2600" dirty="0">
                <a:solidFill>
                  <a:schemeClr val="tx1"/>
                </a:solidFill>
              </a:rPr>
              <a:t>[</a:t>
            </a:r>
            <a:r>
              <a:rPr lang="en-US" altLang="zh-CN" sz="2600" dirty="0" err="1">
                <a:solidFill>
                  <a:schemeClr val="tx1"/>
                </a:solidFill>
              </a:rPr>
              <a:t>i</a:t>
            </a:r>
            <a:r>
              <a:rPr lang="en-US" altLang="zh-CN" sz="2600" dirty="0">
                <a:solidFill>
                  <a:schemeClr val="tx1"/>
                </a:solidFill>
              </a:rPr>
              <a:t>]);</a:t>
            </a:r>
          </a:p>
          <a:p>
            <a:endParaRPr lang="en-US" altLang="zh-CN" sz="2600" dirty="0">
              <a:solidFill>
                <a:schemeClr val="tx1"/>
              </a:solidFill>
            </a:endParaRPr>
          </a:p>
          <a:p>
            <a:r>
              <a:rPr lang="en-US" altLang="zh-CN" sz="2600" dirty="0">
                <a:solidFill>
                  <a:schemeClr val="tx1"/>
                </a:solidFill>
              </a:rPr>
              <a:t>	</a:t>
            </a:r>
            <a:r>
              <a:rPr lang="en-US" altLang="zh-CN" sz="2600" dirty="0" err="1">
                <a:solidFill>
                  <a:schemeClr val="tx1"/>
                </a:solidFill>
              </a:rPr>
              <a:t>cout</a:t>
            </a:r>
            <a:r>
              <a:rPr lang="en-US" altLang="zh-CN" sz="2600" dirty="0">
                <a:solidFill>
                  <a:schemeClr val="tx1"/>
                </a:solidFill>
              </a:rPr>
              <a:t> &lt;&lt; "Sum is:" &lt;&lt; sum &lt;&lt; </a:t>
            </a:r>
            <a:r>
              <a:rPr lang="en-US" altLang="zh-CN" sz="2600" dirty="0" err="1">
                <a:solidFill>
                  <a:schemeClr val="tx1"/>
                </a:solidFill>
              </a:rPr>
              <a:t>endl</a:t>
            </a:r>
            <a:r>
              <a:rPr lang="en-US" altLang="zh-CN" sz="2600" dirty="0">
                <a:solidFill>
                  <a:schemeClr val="tx1"/>
                </a:solidFill>
              </a:rPr>
              <a:t>;</a:t>
            </a:r>
          </a:p>
          <a:p>
            <a:r>
              <a:rPr lang="en-US" altLang="zh-CN" sz="2600" dirty="0">
                <a:solidFill>
                  <a:schemeClr val="tx1"/>
                </a:solidFill>
              </a:rPr>
              <a:t>} </a:t>
            </a:r>
            <a:endParaRPr lang="zh-CN" altLang="en-US" sz="2600" dirty="0">
              <a:solidFill>
                <a:schemeClr val="tx1"/>
              </a:solidFill>
            </a:endParaRPr>
          </a:p>
        </p:txBody>
      </p:sp>
      <p:sp>
        <p:nvSpPr>
          <p:cNvPr id="40963" name="流程图: 过程 58373"/>
          <p:cNvSpPr>
            <a:spLocks noChangeArrowheads="1"/>
          </p:cNvSpPr>
          <p:nvPr/>
        </p:nvSpPr>
        <p:spPr bwMode="auto">
          <a:xfrm>
            <a:off x="7824789" y="5876925"/>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solidFill>
                  <a:schemeClr val="tx1"/>
                </a:solidFill>
              </a:rPr>
              <a:t>5-11.cpp</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9BB60B39-F867-40D5-AEFD-7BFDEEC09863}" type="slidenum">
              <a:rPr lang="zh-CN" altLang="en-US" smtClean="0"/>
              <a:t>47</a:t>
            </a:fld>
            <a:endParaRPr lang="zh-CN" altLang="en-US"/>
          </a:p>
        </p:txBody>
      </p:sp>
      <p:sp>
        <p:nvSpPr>
          <p:cNvPr id="41986" name="文本框 79874"/>
          <p:cNvSpPr txBox="1">
            <a:spLocks noChangeArrowheads="1"/>
          </p:cNvSpPr>
          <p:nvPr/>
        </p:nvSpPr>
        <p:spPr bwMode="auto">
          <a:xfrm>
            <a:off x="1895476" y="1125538"/>
            <a:ext cx="8348663" cy="28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600" dirty="0">
                <a:solidFill>
                  <a:schemeClr val="tx1"/>
                </a:solidFill>
              </a:rPr>
              <a:t>	思考如下程序段的输出结果：</a:t>
            </a:r>
          </a:p>
          <a:p>
            <a:endParaRPr lang="en-US" altLang="zh-CN" sz="2600" dirty="0">
              <a:solidFill>
                <a:schemeClr val="tx1"/>
              </a:solidFill>
            </a:endParaRPr>
          </a:p>
          <a:p>
            <a:r>
              <a:rPr lang="en-US" altLang="zh-CN" sz="2600" dirty="0">
                <a:solidFill>
                  <a:schemeClr val="tx1"/>
                </a:solidFill>
              </a:rPr>
              <a:t>void</a:t>
            </a:r>
            <a:r>
              <a:rPr lang="en-US" altLang="zh-CN" sz="2600" noProof="1">
                <a:solidFill>
                  <a:schemeClr val="tx1"/>
                </a:solidFill>
              </a:rPr>
              <a:t>  main (int argc, char *argv[ ]) </a:t>
            </a:r>
          </a:p>
          <a:p>
            <a:r>
              <a:rPr lang="en-US" altLang="zh-CN" sz="2600" noProof="1">
                <a:solidFill>
                  <a:schemeClr val="tx1"/>
                </a:solidFill>
              </a:rPr>
              <a:t>{ </a:t>
            </a:r>
          </a:p>
          <a:p>
            <a:r>
              <a:rPr lang="en-US" altLang="zh-CN" sz="2600" noProof="1">
                <a:solidFill>
                  <a:schemeClr val="tx1"/>
                </a:solidFill>
              </a:rPr>
              <a:t>	cout &lt;&lt; ++ * ++ * ++ argv &lt;&lt; endl;</a:t>
            </a:r>
          </a:p>
          <a:p>
            <a:r>
              <a:rPr lang="en-US" altLang="zh-CN" sz="2600" noProof="1">
                <a:solidFill>
                  <a:schemeClr val="tx1"/>
                </a:solidFill>
              </a:rPr>
              <a:t>	cout &lt;&lt; ++ * ++ * argv &lt;&lt; endl;  </a:t>
            </a:r>
          </a:p>
          <a:p>
            <a:r>
              <a:rPr lang="en-US" altLang="zh-CN" sz="2600" noProof="1">
                <a:solidFill>
                  <a:schemeClr val="tx1"/>
                </a:solidFill>
              </a:rPr>
              <a:t>}</a:t>
            </a:r>
            <a:endParaRPr lang="zh-CN" altLang="en-US" sz="2600" dirty="0">
              <a:solidFill>
                <a:schemeClr val="tx1"/>
              </a:solidFill>
            </a:endParaRPr>
          </a:p>
        </p:txBody>
      </p:sp>
      <p:sp>
        <p:nvSpPr>
          <p:cNvPr id="41987" name="流程图: 过程 79876"/>
          <p:cNvSpPr>
            <a:spLocks noChangeArrowheads="1"/>
          </p:cNvSpPr>
          <p:nvPr/>
        </p:nvSpPr>
        <p:spPr bwMode="auto">
          <a:xfrm>
            <a:off x="8688389" y="3429000"/>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solidFill>
                  <a:schemeClr val="tx1"/>
                </a:solidFill>
              </a:rPr>
              <a:t>Ex5-i.cpp</a:t>
            </a:r>
          </a:p>
        </p:txBody>
      </p:sp>
      <p:pic>
        <p:nvPicPr>
          <p:cNvPr id="41988" name="图片 7987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450" y="4076700"/>
            <a:ext cx="6459538"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61441"/>
          <p:cNvSpPr>
            <a:spLocks noGrp="1" noChangeArrowheads="1"/>
          </p:cNvSpPr>
          <p:nvPr>
            <p:ph type="title"/>
          </p:nvPr>
        </p:nvSpPr>
        <p:spPr/>
        <p:txBody>
          <a:bodyPr/>
          <a:lstStyle/>
          <a:p>
            <a:r>
              <a:rPr lang="en-US" altLang="zh-CN" dirty="0"/>
              <a:t>7.6 </a:t>
            </a:r>
            <a:r>
              <a:rPr lang="zh-CN" altLang="en-US" dirty="0"/>
              <a:t>内存的动态分配和释放</a:t>
            </a:r>
          </a:p>
        </p:txBody>
      </p:sp>
      <p:sp>
        <p:nvSpPr>
          <p:cNvPr id="44033"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71F7798-DBE0-4B2C-AFB0-463916C9FBAA}" type="slidenum">
              <a:rPr lang="zh-CN" altLang="en-US" smtClean="0"/>
              <a:t>48</a:t>
            </a:fld>
            <a:endParaRPr lang="zh-CN" altLang="en-US"/>
          </a:p>
        </p:txBody>
      </p:sp>
      <p:sp>
        <p:nvSpPr>
          <p:cNvPr id="44035" name="文本框 61442"/>
          <p:cNvSpPr txBox="1">
            <a:spLocks noChangeArrowheads="1"/>
          </p:cNvSpPr>
          <p:nvPr/>
        </p:nvSpPr>
        <p:spPr bwMode="auto">
          <a:xfrm>
            <a:off x="1853407" y="1905539"/>
            <a:ext cx="3455988" cy="4467225"/>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r>
              <a:rPr lang="zh-CN" altLang="en-US" sz="2600" dirty="0">
                <a:solidFill>
                  <a:schemeClr val="tx1"/>
                </a:solidFill>
              </a:rPr>
              <a:t>分配单个元素空间：</a:t>
            </a:r>
          </a:p>
          <a:p>
            <a:r>
              <a:rPr lang="en-US" altLang="zh-CN" sz="2600" dirty="0">
                <a:solidFill>
                  <a:schemeClr val="tx1"/>
                </a:solidFill>
              </a:rPr>
              <a:t>int  *iptr ;</a:t>
            </a:r>
          </a:p>
          <a:p>
            <a:r>
              <a:rPr lang="en-US" altLang="zh-CN" sz="2600" dirty="0">
                <a:solidFill>
                  <a:schemeClr val="tx1"/>
                </a:solidFill>
              </a:rPr>
              <a:t>iptr = new  int ;</a:t>
            </a:r>
          </a:p>
          <a:p>
            <a:r>
              <a:rPr lang="en-US" altLang="zh-CN" sz="2600" dirty="0">
                <a:solidFill>
                  <a:schemeClr val="tx1"/>
                </a:solidFill>
              </a:rPr>
              <a:t>*iptr = 25 ;</a:t>
            </a:r>
          </a:p>
          <a:p>
            <a:endParaRPr lang="en-US" altLang="zh-CN" sz="2600" dirty="0">
              <a:solidFill>
                <a:schemeClr val="tx1"/>
              </a:solidFill>
            </a:endParaRPr>
          </a:p>
          <a:p>
            <a:r>
              <a:rPr lang="en-US" altLang="zh-CN" sz="2600" dirty="0">
                <a:solidFill>
                  <a:schemeClr val="tx1"/>
                </a:solidFill>
              </a:rPr>
              <a:t>iptr = new  int(30 ) ;</a:t>
            </a:r>
          </a:p>
          <a:p>
            <a:r>
              <a:rPr lang="en-US" altLang="zh-CN" sz="2600" dirty="0">
                <a:solidFill>
                  <a:schemeClr val="tx1"/>
                </a:solidFill>
              </a:rPr>
              <a:t>cout &lt;&lt; *iptr ;</a:t>
            </a:r>
          </a:p>
          <a:p>
            <a:r>
              <a:rPr lang="en-US" altLang="zh-CN" sz="2600" dirty="0">
                <a:solidFill>
                  <a:schemeClr val="tx1"/>
                </a:solidFill>
              </a:rPr>
              <a:t>cin &gt;&gt; *iptr;</a:t>
            </a:r>
          </a:p>
          <a:p>
            <a:r>
              <a:rPr lang="en-US" altLang="zh-CN" sz="2600" dirty="0">
                <a:solidFill>
                  <a:schemeClr val="tx1"/>
                </a:solidFill>
              </a:rPr>
              <a:t>total += *iptr ;</a:t>
            </a:r>
          </a:p>
          <a:p>
            <a:endParaRPr lang="en-US" altLang="zh-CN" sz="2600" dirty="0">
              <a:solidFill>
                <a:schemeClr val="tx1"/>
              </a:solidFill>
            </a:endParaRPr>
          </a:p>
          <a:p>
            <a:r>
              <a:rPr lang="en-US" altLang="zh-CN" sz="2600" dirty="0">
                <a:solidFill>
                  <a:srgbClr val="C00000"/>
                </a:solidFill>
              </a:rPr>
              <a:t>delete   </a:t>
            </a:r>
            <a:r>
              <a:rPr lang="en-US" altLang="zh-CN" sz="2600" dirty="0" err="1">
                <a:solidFill>
                  <a:srgbClr val="C00000"/>
                </a:solidFill>
              </a:rPr>
              <a:t>iptr</a:t>
            </a:r>
            <a:r>
              <a:rPr lang="en-US" altLang="zh-CN" sz="2600" dirty="0">
                <a:solidFill>
                  <a:srgbClr val="C00000"/>
                </a:solidFill>
              </a:rPr>
              <a:t> </a:t>
            </a:r>
            <a:r>
              <a:rPr lang="en-US" altLang="zh-CN" sz="2600" dirty="0">
                <a:solidFill>
                  <a:schemeClr val="tx1"/>
                </a:solidFill>
              </a:rPr>
              <a:t>;//</a:t>
            </a:r>
            <a:r>
              <a:rPr lang="zh-CN" altLang="en-US" sz="2600" dirty="0">
                <a:solidFill>
                  <a:schemeClr val="tx1"/>
                </a:solidFill>
              </a:rPr>
              <a:t>释放</a:t>
            </a:r>
            <a:endParaRPr lang="en-US" altLang="zh-CN" sz="2600" dirty="0">
              <a:solidFill>
                <a:schemeClr val="tx1"/>
              </a:solidFill>
            </a:endParaRPr>
          </a:p>
        </p:txBody>
      </p:sp>
      <p:sp>
        <p:nvSpPr>
          <p:cNvPr id="61444" name="文本框 61443"/>
          <p:cNvSpPr txBox="1">
            <a:spLocks noChangeArrowheads="1"/>
          </p:cNvSpPr>
          <p:nvPr/>
        </p:nvSpPr>
        <p:spPr bwMode="auto">
          <a:xfrm>
            <a:off x="5662613" y="2206625"/>
            <a:ext cx="4970462" cy="4070350"/>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r>
              <a:rPr lang="zh-CN" altLang="en-US" sz="2600" dirty="0">
                <a:solidFill>
                  <a:schemeClr val="tx1"/>
                </a:solidFill>
              </a:rPr>
              <a:t>分配一片空间：</a:t>
            </a:r>
          </a:p>
          <a:p>
            <a:r>
              <a:rPr lang="en-US" altLang="zh-CN" sz="2600" dirty="0">
                <a:solidFill>
                  <a:schemeClr val="tx1"/>
                </a:solidFill>
              </a:rPr>
              <a:t>int  *a ;</a:t>
            </a:r>
          </a:p>
          <a:p>
            <a:endParaRPr lang="en-US" altLang="zh-CN" sz="2600" dirty="0">
              <a:solidFill>
                <a:schemeClr val="tx1"/>
              </a:solidFill>
            </a:endParaRPr>
          </a:p>
          <a:p>
            <a:r>
              <a:rPr lang="en-US" altLang="zh-CN" sz="2600" dirty="0">
                <a:solidFill>
                  <a:schemeClr val="tx1"/>
                </a:solidFill>
              </a:rPr>
              <a:t>a = new int [ 100 ] ;</a:t>
            </a:r>
          </a:p>
          <a:p>
            <a:r>
              <a:rPr lang="en-US" altLang="zh-CN" sz="2600" dirty="0">
                <a:solidFill>
                  <a:schemeClr val="tx1"/>
                </a:solidFill>
              </a:rPr>
              <a:t>if ( NULL == a )</a:t>
            </a:r>
          </a:p>
          <a:p>
            <a:r>
              <a:rPr lang="en-US" altLang="zh-CN" sz="2600" dirty="0">
                <a:solidFill>
                  <a:schemeClr val="tx1"/>
                </a:solidFill>
              </a:rPr>
              <a:t>{    </a:t>
            </a:r>
            <a:r>
              <a:rPr lang="en-US" altLang="zh-CN" sz="2600" dirty="0" err="1">
                <a:solidFill>
                  <a:schemeClr val="tx1"/>
                </a:solidFill>
              </a:rPr>
              <a:t>cout</a:t>
            </a:r>
            <a:r>
              <a:rPr lang="en-US" altLang="zh-CN" sz="2600" dirty="0">
                <a:solidFill>
                  <a:schemeClr val="tx1"/>
                </a:solidFill>
              </a:rPr>
              <a:t> &lt;&lt; "</a:t>
            </a:r>
            <a:r>
              <a:rPr lang="zh-CN" altLang="en-US" sz="2600" dirty="0">
                <a:solidFill>
                  <a:schemeClr val="tx1"/>
                </a:solidFill>
              </a:rPr>
              <a:t>分配空间失败 </a:t>
            </a:r>
            <a:r>
              <a:rPr lang="en-US" altLang="zh-CN" sz="2600" dirty="0">
                <a:solidFill>
                  <a:schemeClr val="tx1"/>
                </a:solidFill>
              </a:rPr>
              <a:t>! \n” ;</a:t>
            </a:r>
          </a:p>
          <a:p>
            <a:r>
              <a:rPr lang="en-US" altLang="zh-CN" sz="2600" dirty="0">
                <a:solidFill>
                  <a:schemeClr val="tx1"/>
                </a:solidFill>
              </a:rPr>
              <a:t>     exit ( 0 ) ;</a:t>
            </a:r>
          </a:p>
          <a:p>
            <a:r>
              <a:rPr lang="en-US" altLang="zh-CN" sz="2600" dirty="0">
                <a:solidFill>
                  <a:schemeClr val="tx1"/>
                </a:solidFill>
              </a:rPr>
              <a:t>} </a:t>
            </a:r>
          </a:p>
          <a:p>
            <a:endParaRPr lang="en-US" altLang="zh-CN" sz="2600" dirty="0">
              <a:solidFill>
                <a:schemeClr val="tx1"/>
              </a:solidFill>
            </a:endParaRPr>
          </a:p>
          <a:p>
            <a:r>
              <a:rPr lang="en-US" altLang="zh-CN" sz="2600" dirty="0">
                <a:solidFill>
                  <a:srgbClr val="FF0000"/>
                </a:solidFill>
              </a:rPr>
              <a:t>delete  [ ] </a:t>
            </a:r>
            <a:r>
              <a:rPr lang="en-US" altLang="zh-CN" sz="2600" dirty="0">
                <a:solidFill>
                  <a:schemeClr val="tx1"/>
                </a:solidFill>
              </a:rPr>
              <a:t>a ; //</a:t>
            </a:r>
            <a:r>
              <a:rPr lang="zh-CN" altLang="en-US" sz="2600" dirty="0">
                <a:solidFill>
                  <a:schemeClr val="tx1"/>
                </a:solidFill>
              </a:rPr>
              <a:t>释放</a:t>
            </a:r>
          </a:p>
        </p:txBody>
      </p:sp>
      <p:sp>
        <p:nvSpPr>
          <p:cNvPr id="6" name="流程图: 过程 60422">
            <a:extLst>
              <a:ext uri="{FF2B5EF4-FFF2-40B4-BE49-F238E27FC236}">
                <a16:creationId xmlns:a16="http://schemas.microsoft.com/office/drawing/2014/main" id="{EAF54BC0-E274-4446-8CB7-4E5B1DDB54F1}"/>
              </a:ext>
            </a:extLst>
          </p:cNvPr>
          <p:cNvSpPr>
            <a:spLocks noChangeArrowheads="1"/>
          </p:cNvSpPr>
          <p:nvPr/>
        </p:nvSpPr>
        <p:spPr bwMode="auto">
          <a:xfrm>
            <a:off x="8832304" y="5517232"/>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t>darray.cpp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1444"/>
                                        </p:tgtEl>
                                        <p:attrNameLst>
                                          <p:attrName>style.visibility</p:attrName>
                                        </p:attrNameLst>
                                      </p:cBhvr>
                                      <p:to>
                                        <p:strVal val="visible"/>
                                      </p:to>
                                    </p:set>
                                    <p:animEffect transition="in" filter="checkerboard(across)">
                                      <p:cBhvr>
                                        <p:cTn id="7" dur="500"/>
                                        <p:tgtEl>
                                          <p:spTgt spid="61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60417"/>
          <p:cNvSpPr>
            <a:spLocks noGrp="1" noChangeArrowheads="1"/>
          </p:cNvSpPr>
          <p:nvPr>
            <p:ph type="title"/>
          </p:nvPr>
        </p:nvSpPr>
        <p:spPr/>
        <p:txBody>
          <a:bodyPr/>
          <a:lstStyle/>
          <a:p>
            <a:r>
              <a:rPr lang="en-US" altLang="zh-CN" dirty="0"/>
              <a:t>7.6 </a:t>
            </a:r>
            <a:r>
              <a:rPr lang="zh-CN" altLang="en-US" dirty="0"/>
              <a:t>内存的动态分配和释放</a:t>
            </a:r>
          </a:p>
        </p:txBody>
      </p:sp>
      <p:sp>
        <p:nvSpPr>
          <p:cNvPr id="45057"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ED7C132D-DD4B-42AB-BEE2-82E2E40BAEA6}" type="slidenum">
              <a:rPr lang="zh-CN" altLang="en-US" smtClean="0"/>
              <a:t>49</a:t>
            </a:fld>
            <a:endParaRPr lang="zh-CN" altLang="en-US"/>
          </a:p>
        </p:txBody>
      </p:sp>
      <p:sp>
        <p:nvSpPr>
          <p:cNvPr id="45059" name="文本框 60420"/>
          <p:cNvSpPr txBox="1">
            <a:spLocks noChangeArrowheads="1"/>
          </p:cNvSpPr>
          <p:nvPr/>
        </p:nvSpPr>
        <p:spPr bwMode="auto">
          <a:xfrm>
            <a:off x="1992314" y="1773239"/>
            <a:ext cx="8351837" cy="4848225"/>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r>
              <a:rPr lang="zh-CN" altLang="en-US" dirty="0">
                <a:solidFill>
                  <a:schemeClr val="tx1"/>
                </a:solidFill>
              </a:rPr>
              <a:t>如果函数的参数是一个指针，</a:t>
            </a:r>
            <a:r>
              <a:rPr lang="zh-CN" altLang="en-US" dirty="0">
                <a:solidFill>
                  <a:srgbClr val="FF0000"/>
                </a:solidFill>
              </a:rPr>
              <a:t>不要用该指针去申请动态内存</a:t>
            </a:r>
            <a:r>
              <a:rPr lang="zh-CN" altLang="en-US" dirty="0">
                <a:solidFill>
                  <a:schemeClr val="tx1"/>
                </a:solidFill>
              </a:rPr>
              <a:t>，例如：</a:t>
            </a:r>
          </a:p>
          <a:p>
            <a:r>
              <a:rPr lang="en-US" altLang="zh-CN" dirty="0">
                <a:solidFill>
                  <a:schemeClr val="tx1"/>
                </a:solidFill>
              </a:rPr>
              <a:t>void  getMemory(char *p, int num)</a:t>
            </a:r>
          </a:p>
          <a:p>
            <a:r>
              <a:rPr lang="en-US" altLang="zh-CN" dirty="0">
                <a:solidFill>
                  <a:schemeClr val="tx1"/>
                </a:solidFill>
              </a:rPr>
              <a:t>{</a:t>
            </a:r>
          </a:p>
          <a:p>
            <a:r>
              <a:rPr lang="en-US" altLang="zh-CN" dirty="0">
                <a:solidFill>
                  <a:schemeClr val="tx1"/>
                </a:solidFill>
              </a:rPr>
              <a:t>   	  </a:t>
            </a:r>
            <a:r>
              <a:rPr lang="en-US" altLang="zh-CN" dirty="0">
                <a:solidFill>
                  <a:srgbClr val="FF0000"/>
                </a:solidFill>
              </a:rPr>
              <a:t>p = new char[num];</a:t>
            </a:r>
          </a:p>
          <a:p>
            <a:r>
              <a:rPr lang="en-US" altLang="zh-CN" dirty="0">
                <a:solidFill>
                  <a:schemeClr val="tx1"/>
                </a:solidFill>
              </a:rPr>
              <a:t>}</a:t>
            </a:r>
          </a:p>
          <a:p>
            <a:r>
              <a:rPr lang="en-US" altLang="zh-CN" dirty="0">
                <a:solidFill>
                  <a:schemeClr val="tx1"/>
                </a:solidFill>
              </a:rPr>
              <a:t>void  test( )</a:t>
            </a:r>
          </a:p>
          <a:p>
            <a:r>
              <a:rPr lang="en-US" altLang="zh-CN" dirty="0">
                <a:solidFill>
                  <a:schemeClr val="tx1"/>
                </a:solidFill>
              </a:rPr>
              <a:t>{</a:t>
            </a:r>
          </a:p>
          <a:p>
            <a:r>
              <a:rPr lang="en-US" altLang="zh-CN" dirty="0">
                <a:solidFill>
                  <a:schemeClr val="tx1"/>
                </a:solidFill>
              </a:rPr>
              <a:t>	  char  *str = NULL;</a:t>
            </a:r>
          </a:p>
          <a:p>
            <a:endParaRPr lang="en-US" altLang="zh-CN" dirty="0">
              <a:solidFill>
                <a:schemeClr val="tx1"/>
              </a:solidFill>
            </a:endParaRPr>
          </a:p>
          <a:p>
            <a:r>
              <a:rPr lang="en-US" altLang="zh-CN" dirty="0">
                <a:solidFill>
                  <a:schemeClr val="tx1"/>
                </a:solidFill>
              </a:rPr>
              <a:t>   	  getMemory(str, 100 );</a:t>
            </a:r>
            <a:endParaRPr lang="zh-CN" altLang="en-US" dirty="0">
              <a:solidFill>
                <a:schemeClr val="tx1"/>
              </a:solidFill>
            </a:endParaRPr>
          </a:p>
          <a:p>
            <a:r>
              <a:rPr lang="en-US" altLang="zh-CN" dirty="0">
                <a:solidFill>
                  <a:schemeClr val="tx1"/>
                </a:solidFill>
              </a:rPr>
              <a:t>   	  strcpy(str, "hello");</a:t>
            </a:r>
          </a:p>
          <a:p>
            <a:r>
              <a:rPr lang="en-US" altLang="zh-CN" dirty="0">
                <a:solidFill>
                  <a:schemeClr val="tx1"/>
                </a:solidFill>
              </a:rPr>
              <a:t>} </a:t>
            </a:r>
          </a:p>
        </p:txBody>
      </p:sp>
      <p:sp>
        <p:nvSpPr>
          <p:cNvPr id="45060" name="流程图: 过程 60422"/>
          <p:cNvSpPr>
            <a:spLocks noChangeArrowheads="1"/>
          </p:cNvSpPr>
          <p:nvPr/>
        </p:nvSpPr>
        <p:spPr bwMode="auto">
          <a:xfrm>
            <a:off x="8543926" y="5661025"/>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t>Ex5-k.cpp</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a:off x="1105633" y="1462843"/>
            <a:ext cx="7600950" cy="0"/>
          </a:xfrm>
          <a:prstGeom prst="line">
            <a:avLst/>
          </a:prstGeom>
        </p:spPr>
        <p:style>
          <a:lnRef idx="3">
            <a:schemeClr val="dk1"/>
          </a:lnRef>
          <a:fillRef idx="0">
            <a:schemeClr val="dk1"/>
          </a:fillRef>
          <a:effectRef idx="2">
            <a:schemeClr val="dk1"/>
          </a:effectRef>
          <a:fontRef idx="minor">
            <a:schemeClr val="tx1"/>
          </a:fontRef>
        </p:style>
      </p:cxnSp>
      <p:pic>
        <p:nvPicPr>
          <p:cNvPr id="15" name="图形 2" descr="打开的书"/>
          <p:cNvPicPr>
            <a:picLocks noChangeAspect="1"/>
          </p:cNvPicPr>
          <p:nvPr/>
        </p:nvPicPr>
        <p:blipFill>
          <a:blip r:embed="rId2"/>
          <a:stretch>
            <a:fillRect/>
          </a:stretch>
        </p:blipFill>
        <p:spPr>
          <a:xfrm>
            <a:off x="1105633" y="548443"/>
            <a:ext cx="914400" cy="914400"/>
          </a:xfrm>
          <a:prstGeom prst="rect">
            <a:avLst/>
          </a:prstGeom>
        </p:spPr>
      </p:pic>
      <p:sp>
        <p:nvSpPr>
          <p:cNvPr id="13" name="内容占位符 11"/>
          <p:cNvSpPr txBox="1">
            <a:spLocks/>
          </p:cNvSpPr>
          <p:nvPr/>
        </p:nvSpPr>
        <p:spPr>
          <a:xfrm>
            <a:off x="1415480" y="983404"/>
            <a:ext cx="7776864" cy="6387121"/>
          </a:xfrm>
          <a:prstGeom prst="rect">
            <a:avLst/>
          </a:prstGeom>
          <a:noFill/>
        </p:spPr>
        <p:txBody>
          <a:bodyPr vert="horz" lIns="252000" tIns="0" rIns="0" bIns="0" rtlCol="0" anchor="ctr">
            <a:noAutofit/>
          </a:bodyPr>
          <a:lstStyle>
            <a:lvl1pPr marL="0" indent="0" algn="l" defTabSz="914400" rtl="0" eaLnBrk="1" latinLnBrk="0" hangingPunct="1">
              <a:lnSpc>
                <a:spcPct val="100000"/>
              </a:lnSpc>
              <a:spcBef>
                <a:spcPts val="1000"/>
              </a:spcBef>
              <a:buFont typeface="Arial" panose="020B0604020202020204" pitchFamily="34" charset="0"/>
              <a:buNone/>
              <a:defRPr sz="1800" i="1" kern="1200">
                <a:solidFill>
                  <a:schemeClr val="bg1"/>
                </a:solidFill>
                <a:latin typeface="Microsoft YaHei UI" panose="020B0503020204020204" pitchFamily="34" charset="-122"/>
                <a:ea typeface="Microsoft YaHei UI" panose="020B0503020204020204" pitchFamily="34" charset="-122"/>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icrosoft YaHei UI" panose="020B0503020204020204" pitchFamily="34" charset="-122"/>
                <a:ea typeface="Microsoft YaHei UI" panose="020B0503020204020204" pitchFamily="34"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icrosoft YaHei UI" panose="020B0503020204020204" pitchFamily="34" charset="-122"/>
                <a:ea typeface="Microsoft YaHei UI" panose="020B0503020204020204" pitchFamily="34"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icrosoft YaHei UI" panose="020B0503020204020204" pitchFamily="34" charset="-122"/>
                <a:ea typeface="Microsoft YaHei UI" panose="020B0503020204020204" pitchFamily="34"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icrosoft YaHei UI" panose="020B0503020204020204" pitchFamily="34" charset="-122"/>
                <a:ea typeface="Microsoft YaHei UI" panose="020B0503020204020204" pitchFamily="3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nSpc>
                <a:spcPct val="110000"/>
              </a:lnSpc>
              <a:spcBef>
                <a:spcPts val="600"/>
              </a:spcBef>
              <a:spcAft>
                <a:spcPts val="600"/>
              </a:spcAft>
              <a:buFont typeface="Arial" panose="020B0604020202020204" pitchFamily="34" charset="0"/>
              <a:buChar char="•"/>
            </a:pPr>
            <a:r>
              <a:rPr lang="zh-CN" altLang="en-US" sz="2400" b="1" i="0" dirty="0">
                <a:solidFill>
                  <a:srgbClr val="FF0000"/>
                </a:solidFill>
                <a:latin typeface="华文仿宋" panose="02010600040101010101" pitchFamily="2" charset="-122"/>
                <a:ea typeface="华文仿宋" panose="02010600040101010101" pitchFamily="2" charset="-122"/>
              </a:rPr>
              <a:t>内存泄漏</a:t>
            </a:r>
            <a:r>
              <a:rPr lang="zh-CN" altLang="en-US" sz="2400" b="1" i="0" dirty="0">
                <a:solidFill>
                  <a:schemeClr val="tx1"/>
                </a:solidFill>
                <a:latin typeface="华文仿宋" panose="02010600040101010101" pitchFamily="2" charset="-122"/>
                <a:ea typeface="华文仿宋" panose="02010600040101010101" pitchFamily="2" charset="-122"/>
              </a:rPr>
              <a:t>：</a:t>
            </a:r>
            <a:r>
              <a:rPr lang="zh-CN" altLang="zh-CN" sz="2400" i="0" dirty="0">
                <a:solidFill>
                  <a:schemeClr val="tx1"/>
                </a:solidFill>
                <a:latin typeface="华文仿宋" panose="02010600040101010101" pitchFamily="2" charset="-122"/>
                <a:ea typeface="华文仿宋" panose="02010600040101010101" pitchFamily="2" charset="-122"/>
              </a:rPr>
              <a:t>动态申请的内存空间没有正常释放，但是也不能继续使用</a:t>
            </a:r>
            <a:endParaRPr lang="en-US" altLang="zh-CN" sz="2400" dirty="0">
              <a:latin typeface="华文仿宋" panose="02010600040101010101" pitchFamily="2" charset="-122"/>
              <a:ea typeface="华文仿宋" panose="02010600040101010101" pitchFamily="2" charset="-122"/>
            </a:endParaRPr>
          </a:p>
          <a:p>
            <a:pPr>
              <a:lnSpc>
                <a:spcPct val="110000"/>
              </a:lnSpc>
              <a:spcBef>
                <a:spcPts val="600"/>
              </a:spcBef>
              <a:spcAft>
                <a:spcPts val="600"/>
              </a:spcAft>
            </a:pPr>
            <a:r>
              <a:rPr lang="zh-CN" altLang="en-US" sz="2400" i="0" dirty="0">
                <a:solidFill>
                  <a:schemeClr val="tx1"/>
                </a:solidFill>
                <a:latin typeface="华文仿宋" panose="02010600040101010101" pitchFamily="2" charset="-122"/>
                <a:ea typeface="华文仿宋" panose="02010600040101010101" pitchFamily="2" charset="-122"/>
              </a:rPr>
              <a:t>例如：</a:t>
            </a:r>
            <a:r>
              <a:rPr lang="zh-CN" altLang="zh-CN" sz="2400" i="0" dirty="0">
                <a:solidFill>
                  <a:schemeClr val="tx1"/>
                </a:solidFill>
                <a:latin typeface="华文仿宋" panose="02010600040101010101" pitchFamily="2" charset="-122"/>
                <a:ea typeface="华文仿宋" panose="02010600040101010101" pitchFamily="2" charset="-122"/>
              </a:rPr>
              <a:t> </a:t>
            </a:r>
            <a:r>
              <a:rPr lang="en-US" altLang="zh-CN" sz="2400" i="0" dirty="0">
                <a:solidFill>
                  <a:schemeClr val="tx1"/>
                </a:solidFill>
                <a:latin typeface="华文仿宋" panose="02010600040101010101" pitchFamily="2" charset="-122"/>
                <a:ea typeface="华文仿宋" panose="02010600040101010101" pitchFamily="2" charset="-122"/>
              </a:rPr>
              <a:t>char *pch1=0;//</a:t>
            </a:r>
            <a:r>
              <a:rPr lang="zh-CN" altLang="en-US" sz="2400" i="0" dirty="0">
                <a:solidFill>
                  <a:schemeClr val="tx1"/>
                </a:solidFill>
                <a:latin typeface="华文仿宋" panose="02010600040101010101" pitchFamily="2" charset="-122"/>
                <a:ea typeface="华文仿宋" panose="02010600040101010101" pitchFamily="2" charset="-122"/>
              </a:rPr>
              <a:t>空指针</a:t>
            </a:r>
            <a:endParaRPr lang="zh-CN" altLang="zh-CN" sz="2400" i="0" dirty="0">
              <a:solidFill>
                <a:schemeClr val="tx1"/>
              </a:solidFill>
              <a:latin typeface="华文仿宋" panose="02010600040101010101" pitchFamily="2" charset="-122"/>
              <a:ea typeface="华文仿宋" panose="02010600040101010101" pitchFamily="2" charset="-122"/>
            </a:endParaRPr>
          </a:p>
          <a:p>
            <a:pPr lvl="1" algn="l">
              <a:lnSpc>
                <a:spcPct val="110000"/>
              </a:lnSpc>
              <a:spcBef>
                <a:spcPts val="600"/>
              </a:spcBef>
              <a:spcAft>
                <a:spcPts val="600"/>
              </a:spcAft>
            </a:pPr>
            <a:r>
              <a:rPr lang="en-US" altLang="zh-CN" sz="2400" dirty="0">
                <a:latin typeface="华文仿宋" panose="02010600040101010101" pitchFamily="2" charset="-122"/>
                <a:ea typeface="华文仿宋" panose="02010600040101010101" pitchFamily="2" charset="-122"/>
              </a:rPr>
              <a:t>       pch1 = new char('A');</a:t>
            </a:r>
            <a:endParaRPr lang="zh-CN" altLang="zh-CN" sz="2400" dirty="0">
              <a:latin typeface="华文仿宋" panose="02010600040101010101" pitchFamily="2" charset="-122"/>
              <a:ea typeface="华文仿宋" panose="02010600040101010101" pitchFamily="2" charset="-122"/>
            </a:endParaRPr>
          </a:p>
          <a:p>
            <a:pPr lvl="1" algn="l">
              <a:lnSpc>
                <a:spcPct val="110000"/>
              </a:lnSpc>
              <a:spcBef>
                <a:spcPts val="600"/>
              </a:spcBef>
              <a:spcAft>
                <a:spcPts val="600"/>
              </a:spcAft>
            </a:pPr>
            <a:r>
              <a:rPr lang="en-US" altLang="zh-CN" sz="2400" dirty="0">
                <a:latin typeface="华文仿宋" panose="02010600040101010101" pitchFamily="2" charset="-122"/>
                <a:ea typeface="华文仿宋" panose="02010600040101010101" pitchFamily="2" charset="-122"/>
              </a:rPr>
              <a:t>        char *pch2 = new char ('B');</a:t>
            </a:r>
            <a:endParaRPr lang="zh-CN" altLang="zh-CN" sz="2400" dirty="0">
              <a:latin typeface="华文仿宋" panose="02010600040101010101" pitchFamily="2" charset="-122"/>
              <a:ea typeface="华文仿宋" panose="02010600040101010101" pitchFamily="2" charset="-122"/>
            </a:endParaRPr>
          </a:p>
          <a:p>
            <a:pPr lvl="1" algn="l">
              <a:lnSpc>
                <a:spcPct val="110000"/>
              </a:lnSpc>
              <a:spcBef>
                <a:spcPts val="600"/>
              </a:spcBef>
              <a:spcAft>
                <a:spcPts val="600"/>
              </a:spcAft>
            </a:pPr>
            <a:r>
              <a:rPr lang="en-US" altLang="zh-CN" sz="2400" dirty="0">
                <a:latin typeface="华文仿宋" panose="02010600040101010101" pitchFamily="2" charset="-122"/>
                <a:ea typeface="华文仿宋" panose="02010600040101010101" pitchFamily="2" charset="-122"/>
              </a:rPr>
              <a:t>        pch1=pch2;   //</a:t>
            </a:r>
            <a:r>
              <a:rPr lang="zh-CN" altLang="en-US" sz="2400" b="0" dirty="0">
                <a:latin typeface="-apple-system"/>
              </a:rPr>
              <a:t>指针重新赋值</a:t>
            </a:r>
            <a:endParaRPr lang="zh-CN" altLang="zh-CN" sz="2400" dirty="0">
              <a:latin typeface="华文仿宋" panose="02010600040101010101" pitchFamily="2" charset="-122"/>
              <a:ea typeface="华文仿宋" panose="02010600040101010101" pitchFamily="2" charset="-122"/>
            </a:endParaRPr>
          </a:p>
          <a:p>
            <a:pPr marL="800100" lvl="1" indent="-342900" algn="l">
              <a:lnSpc>
                <a:spcPct val="110000"/>
              </a:lnSpc>
              <a:spcBef>
                <a:spcPts val="600"/>
              </a:spcBef>
              <a:spcAft>
                <a:spcPts val="600"/>
              </a:spcAft>
              <a:buFont typeface="Arial" panose="020B0604020202020204" pitchFamily="34" charset="0"/>
              <a:buChar char="•"/>
            </a:pPr>
            <a:r>
              <a:rPr lang="zh-CN" altLang="zh-CN" sz="2400" dirty="0">
                <a:latin typeface="华文仿宋" panose="02010600040101010101" pitchFamily="2" charset="-122"/>
                <a:ea typeface="华文仿宋" panose="02010600040101010101" pitchFamily="2" charset="-122"/>
              </a:rPr>
              <a:t>最常出现的情况是申请了动态内存后，没有正常地用</a:t>
            </a:r>
            <a:r>
              <a:rPr lang="en-US" altLang="zh-CN" sz="2400" dirty="0">
                <a:latin typeface="华文仿宋" panose="02010600040101010101" pitchFamily="2" charset="-122"/>
                <a:ea typeface="华文仿宋" panose="02010600040101010101" pitchFamily="2" charset="-122"/>
              </a:rPr>
              <a:t>delete</a:t>
            </a:r>
            <a:r>
              <a:rPr lang="zh-CN" altLang="zh-CN" sz="2400" dirty="0">
                <a:latin typeface="华文仿宋" panose="02010600040101010101" pitchFamily="2" charset="-122"/>
                <a:ea typeface="华文仿宋" panose="02010600040101010101" pitchFamily="2" charset="-122"/>
              </a:rPr>
              <a:t>来释放，导致内存泄漏</a:t>
            </a:r>
            <a:endParaRPr lang="en-US" altLang="zh-CN" sz="2400" dirty="0">
              <a:latin typeface="华文仿宋" panose="02010600040101010101" pitchFamily="2" charset="-122"/>
              <a:ea typeface="华文仿宋" panose="02010600040101010101" pitchFamily="2" charset="-122"/>
            </a:endParaRPr>
          </a:p>
          <a:p>
            <a:pPr marL="800100" lvl="1" indent="-342900" algn="l">
              <a:lnSpc>
                <a:spcPct val="110000"/>
              </a:lnSpc>
              <a:spcBef>
                <a:spcPts val="600"/>
              </a:spcBef>
              <a:spcAft>
                <a:spcPts val="600"/>
              </a:spcAft>
              <a:buFont typeface="Arial" panose="020B0604020202020204" pitchFamily="34" charset="0"/>
              <a:buChar char="•"/>
            </a:pPr>
            <a:r>
              <a:rPr lang="zh-CN" altLang="en-US" sz="2400" dirty="0">
                <a:latin typeface="华文仿宋" panose="02010600040101010101" pitchFamily="2" charset="-122"/>
                <a:ea typeface="华文仿宋" panose="02010600040101010101" pitchFamily="2" charset="-122"/>
              </a:rPr>
              <a:t>内存泄漏造成内存容量不够时，程序运行崩溃</a:t>
            </a:r>
            <a:endParaRPr lang="en-US" altLang="zh-CN" sz="2400" dirty="0">
              <a:latin typeface="华文仿宋" panose="02010600040101010101" pitchFamily="2" charset="-122"/>
              <a:ea typeface="华文仿宋" panose="02010600040101010101" pitchFamily="2" charset="-122"/>
            </a:endParaRPr>
          </a:p>
          <a:p>
            <a:pPr marL="800100" lvl="1" indent="-342900" algn="l">
              <a:lnSpc>
                <a:spcPct val="110000"/>
              </a:lnSpc>
              <a:spcBef>
                <a:spcPts val="600"/>
              </a:spcBef>
              <a:spcAft>
                <a:spcPts val="600"/>
              </a:spcAft>
              <a:buFont typeface="Arial" panose="020B0604020202020204" pitchFamily="34" charset="0"/>
              <a:buChar char="•"/>
            </a:pPr>
            <a:endParaRPr lang="en-US" altLang="zh-CN" sz="2400" dirty="0">
              <a:latin typeface="华文仿宋" panose="02010600040101010101" pitchFamily="2" charset="-122"/>
              <a:ea typeface="华文仿宋" panose="02010600040101010101" pitchFamily="2" charset="-122"/>
            </a:endParaRPr>
          </a:p>
        </p:txBody>
      </p:sp>
      <p:sp>
        <p:nvSpPr>
          <p:cNvPr id="7" name="标题 60417">
            <a:extLst>
              <a:ext uri="{FF2B5EF4-FFF2-40B4-BE49-F238E27FC236}">
                <a16:creationId xmlns:a16="http://schemas.microsoft.com/office/drawing/2014/main" id="{D15D19CB-931D-4A6F-8879-AED3CA31C800}"/>
              </a:ext>
            </a:extLst>
          </p:cNvPr>
          <p:cNvSpPr txBox="1">
            <a:spLocks noChangeArrowheads="1"/>
          </p:cNvSpPr>
          <p:nvPr/>
        </p:nvSpPr>
        <p:spPr>
          <a:xfrm>
            <a:off x="2135559" y="0"/>
            <a:ext cx="5142273" cy="1325563"/>
          </a:xfrm>
          <a:prstGeom prst="rect">
            <a:avLst/>
          </a:prstGeom>
        </p:spPr>
        <p:txBody>
          <a:bodyPr vert="horz" lIns="91440" tIns="45720" rIns="91440" bIns="45720" rtlCol="0" anchor="b">
            <a:normAutofit/>
          </a:bodyPr>
          <a:lstStyle>
            <a:lvl1pPr algn="r" defTabSz="914400" rtl="0" eaLnBrk="1" latinLnBrk="0" hangingPunct="1">
              <a:lnSpc>
                <a:spcPts val="5000"/>
              </a:lnSpc>
              <a:spcBef>
                <a:spcPct val="0"/>
              </a:spcBef>
              <a:buNone/>
              <a:defRPr sz="6000" b="1" kern="1200" cap="all" spc="-300" baseline="0">
                <a:solidFill>
                  <a:schemeClr val="tx1"/>
                </a:solidFill>
                <a:latin typeface="Microsoft YaHei UI" panose="020B0503020204020204" pitchFamily="34" charset="-122"/>
                <a:ea typeface="Microsoft YaHei UI" panose="020B0503020204020204" pitchFamily="34" charset="-122"/>
                <a:cs typeface="+mj-cs"/>
              </a:defRPr>
            </a:lvl1pPr>
          </a:lstStyle>
          <a:p>
            <a:pPr fontAlgn="auto">
              <a:spcAft>
                <a:spcPts val="0"/>
              </a:spcAft>
            </a:pPr>
            <a:r>
              <a:rPr lang="en-US" altLang="zh-CN" sz="3600" b="0"/>
              <a:t>7.6 </a:t>
            </a:r>
            <a:r>
              <a:rPr lang="zh-CN" altLang="en-US" sz="3600" b="0"/>
              <a:t>内存的动态分配和释放</a:t>
            </a:r>
            <a:endParaRPr lang="zh-CN" altLang="en-US" sz="3600" b="0" dirty="0"/>
          </a:p>
        </p:txBody>
      </p:sp>
      <p:grpSp>
        <p:nvGrpSpPr>
          <p:cNvPr id="3" name="组合 2">
            <a:extLst>
              <a:ext uri="{FF2B5EF4-FFF2-40B4-BE49-F238E27FC236}">
                <a16:creationId xmlns:a16="http://schemas.microsoft.com/office/drawing/2014/main" id="{AB8B2993-8F04-4B7C-9B21-990DAEB6EBF8}"/>
              </a:ext>
            </a:extLst>
          </p:cNvPr>
          <p:cNvGrpSpPr/>
          <p:nvPr/>
        </p:nvGrpSpPr>
        <p:grpSpPr>
          <a:xfrm>
            <a:off x="6240016" y="2109579"/>
            <a:ext cx="5862352" cy="2638842"/>
            <a:chOff x="5793117" y="2135150"/>
            <a:chExt cx="5862352" cy="2638842"/>
          </a:xfrm>
        </p:grpSpPr>
        <p:sp>
          <p:nvSpPr>
            <p:cNvPr id="2" name="箭头: 右 1">
              <a:extLst>
                <a:ext uri="{FF2B5EF4-FFF2-40B4-BE49-F238E27FC236}">
                  <a16:creationId xmlns:a16="http://schemas.microsoft.com/office/drawing/2014/main" id="{3E5B35B3-FA78-4FE2-883C-63BE4C679954}"/>
                </a:ext>
              </a:extLst>
            </p:cNvPr>
            <p:cNvSpPr/>
            <p:nvPr/>
          </p:nvSpPr>
          <p:spPr>
            <a:xfrm>
              <a:off x="5793117" y="3284989"/>
              <a:ext cx="605768" cy="2880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内容占位符 11">
              <a:extLst>
                <a:ext uri="{FF2B5EF4-FFF2-40B4-BE49-F238E27FC236}">
                  <a16:creationId xmlns:a16="http://schemas.microsoft.com/office/drawing/2014/main" id="{497543CF-9C3F-466E-BAAC-E9AACFFDD9E2}"/>
                </a:ext>
              </a:extLst>
            </p:cNvPr>
            <p:cNvSpPr txBox="1">
              <a:spLocks/>
            </p:cNvSpPr>
            <p:nvPr/>
          </p:nvSpPr>
          <p:spPr>
            <a:xfrm>
              <a:off x="6585205" y="2135150"/>
              <a:ext cx="5070264" cy="2638842"/>
            </a:xfrm>
            <a:prstGeom prst="rect">
              <a:avLst/>
            </a:prstGeom>
            <a:noFill/>
            <a:ln>
              <a:solidFill>
                <a:schemeClr val="accent1">
                  <a:shade val="50000"/>
                </a:schemeClr>
              </a:solidFill>
            </a:ln>
          </p:spPr>
          <p:txBody>
            <a:bodyPr vert="horz" lIns="0" tIns="0" rIns="0" bIns="0" rtlCol="0" anchor="ctr">
              <a:noAutofit/>
            </a:bodyPr>
            <a:lstStyle>
              <a:lvl1pPr marL="0" indent="0" algn="l" defTabSz="914400" rtl="0" eaLnBrk="1" latinLnBrk="0" hangingPunct="1">
                <a:lnSpc>
                  <a:spcPct val="100000"/>
                </a:lnSpc>
                <a:spcBef>
                  <a:spcPts val="1000"/>
                </a:spcBef>
                <a:buFont typeface="Arial" panose="020B0604020202020204" pitchFamily="34" charset="0"/>
                <a:buNone/>
                <a:defRPr sz="1800" i="1" kern="1200">
                  <a:solidFill>
                    <a:schemeClr val="bg1"/>
                  </a:solidFill>
                  <a:latin typeface="Microsoft YaHei UI" panose="020B0503020204020204" pitchFamily="34" charset="-122"/>
                  <a:ea typeface="Microsoft YaHei UI" panose="020B0503020204020204" pitchFamily="34" charset="-122"/>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icrosoft YaHei UI" panose="020B0503020204020204" pitchFamily="34" charset="-122"/>
                  <a:ea typeface="Microsoft YaHei UI" panose="020B0503020204020204" pitchFamily="34"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icrosoft YaHei UI" panose="020B0503020204020204" pitchFamily="34" charset="-122"/>
                  <a:ea typeface="Microsoft YaHei UI" panose="020B0503020204020204" pitchFamily="34"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icrosoft YaHei UI" panose="020B0503020204020204" pitchFamily="34" charset="-122"/>
                  <a:ea typeface="Microsoft YaHei UI" panose="020B0503020204020204" pitchFamily="34"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icrosoft YaHei UI" panose="020B0503020204020204" pitchFamily="34" charset="-122"/>
                  <a:ea typeface="Microsoft YaHei UI" panose="020B0503020204020204" pitchFamily="3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0000"/>
                </a:lnSpc>
                <a:spcBef>
                  <a:spcPts val="600"/>
                </a:spcBef>
                <a:spcAft>
                  <a:spcPts val="600"/>
                </a:spcAft>
              </a:pPr>
              <a:r>
                <a:rPr lang="en-US" altLang="zh-CN" sz="2200" dirty="0">
                  <a:latin typeface="华文仿宋" panose="02010600040101010101" pitchFamily="2" charset="-122"/>
                  <a:ea typeface="华文仿宋" panose="02010600040101010101" pitchFamily="2" charset="-122"/>
                </a:rPr>
                <a:t>     </a:t>
              </a:r>
              <a:r>
                <a:rPr lang="en-US" altLang="zh-CN" sz="2400" i="0" dirty="0">
                  <a:solidFill>
                    <a:schemeClr val="tx1"/>
                  </a:solidFill>
                  <a:latin typeface="仿宋" panose="02010609060101010101" pitchFamily="49" charset="-122"/>
                  <a:ea typeface="仿宋" panose="02010609060101010101" pitchFamily="49" charset="-122"/>
                </a:rPr>
                <a:t>char *pch1=0;</a:t>
              </a:r>
              <a:endParaRPr lang="zh-CN" altLang="zh-CN" sz="2400" i="0" dirty="0">
                <a:solidFill>
                  <a:schemeClr val="tx1"/>
                </a:solidFill>
                <a:latin typeface="仿宋" panose="02010609060101010101" pitchFamily="49" charset="-122"/>
                <a:ea typeface="仿宋" panose="02010609060101010101" pitchFamily="49" charset="-122"/>
              </a:endParaRPr>
            </a:p>
            <a:p>
              <a:pPr lvl="1" algn="l">
                <a:lnSpc>
                  <a:spcPct val="110000"/>
                </a:lnSpc>
                <a:spcBef>
                  <a:spcPts val="600"/>
                </a:spcBef>
                <a:spcAft>
                  <a:spcPts val="600"/>
                </a:spcAft>
              </a:pPr>
              <a:r>
                <a:rPr lang="en-US" altLang="zh-CN" sz="2400" dirty="0">
                  <a:latin typeface="仿宋" panose="02010609060101010101" pitchFamily="49" charset="-122"/>
                  <a:ea typeface="仿宋" panose="02010609060101010101" pitchFamily="49" charset="-122"/>
                </a:rPr>
                <a:t>pch1 = new char('A');</a:t>
              </a:r>
              <a:endParaRPr lang="zh-CN" altLang="zh-CN" sz="2400" dirty="0">
                <a:latin typeface="仿宋" panose="02010609060101010101" pitchFamily="49" charset="-122"/>
                <a:ea typeface="仿宋" panose="02010609060101010101" pitchFamily="49" charset="-122"/>
              </a:endParaRPr>
            </a:p>
            <a:p>
              <a:pPr lvl="1" algn="l">
                <a:lnSpc>
                  <a:spcPct val="110000"/>
                </a:lnSpc>
                <a:spcBef>
                  <a:spcPts val="600"/>
                </a:spcBef>
                <a:spcAft>
                  <a:spcPts val="600"/>
                </a:spcAft>
              </a:pPr>
              <a:r>
                <a:rPr lang="en-US" altLang="zh-CN" sz="2400" dirty="0">
                  <a:latin typeface="仿宋" panose="02010609060101010101" pitchFamily="49" charset="-122"/>
                  <a:ea typeface="仿宋" panose="02010609060101010101" pitchFamily="49" charset="-122"/>
                </a:rPr>
                <a:t>char *pch2 = new char ('B’);</a:t>
              </a:r>
            </a:p>
            <a:p>
              <a:pPr lvl="1" algn="l">
                <a:lnSpc>
                  <a:spcPct val="110000"/>
                </a:lnSpc>
                <a:spcBef>
                  <a:spcPts val="600"/>
                </a:spcBef>
                <a:spcAft>
                  <a:spcPts val="600"/>
                </a:spcAft>
              </a:pPr>
              <a:r>
                <a:rPr lang="en-US" altLang="zh-CN" sz="2400" dirty="0">
                  <a:solidFill>
                    <a:srgbClr val="C00000"/>
                  </a:solidFill>
                  <a:latin typeface="仿宋" panose="02010609060101010101" pitchFamily="49" charset="-122"/>
                  <a:ea typeface="仿宋" panose="02010609060101010101" pitchFamily="49" charset="-122"/>
                </a:rPr>
                <a:t>delete pch1;</a:t>
              </a:r>
              <a:endParaRPr lang="zh-CN" altLang="zh-CN" sz="2400" dirty="0">
                <a:solidFill>
                  <a:srgbClr val="C00000"/>
                </a:solidFill>
                <a:latin typeface="仿宋" panose="02010609060101010101" pitchFamily="49" charset="-122"/>
                <a:ea typeface="仿宋" panose="02010609060101010101" pitchFamily="49" charset="-122"/>
              </a:endParaRPr>
            </a:p>
            <a:p>
              <a:pPr lvl="1" algn="l">
                <a:lnSpc>
                  <a:spcPct val="110000"/>
                </a:lnSpc>
                <a:spcBef>
                  <a:spcPts val="600"/>
                </a:spcBef>
                <a:spcAft>
                  <a:spcPts val="600"/>
                </a:spcAft>
              </a:pPr>
              <a:r>
                <a:rPr lang="en-US" altLang="zh-CN" sz="2400" dirty="0">
                  <a:latin typeface="仿宋" panose="02010609060101010101" pitchFamily="49" charset="-122"/>
                  <a:ea typeface="仿宋" panose="02010609060101010101" pitchFamily="49" charset="-122"/>
                </a:rPr>
                <a:t>pch1=pch2;   </a:t>
              </a:r>
            </a:p>
          </p:txBody>
        </p:sp>
      </p:grpSp>
      <p:sp>
        <p:nvSpPr>
          <p:cNvPr id="9" name="流程图: 过程 65540">
            <a:extLst>
              <a:ext uri="{FF2B5EF4-FFF2-40B4-BE49-F238E27FC236}">
                <a16:creationId xmlns:a16="http://schemas.microsoft.com/office/drawing/2014/main" id="{6AF203FA-21E3-4A6B-9248-846A573E83DF}"/>
              </a:ext>
            </a:extLst>
          </p:cNvPr>
          <p:cNvSpPr>
            <a:spLocks noChangeArrowheads="1"/>
          </p:cNvSpPr>
          <p:nvPr/>
        </p:nvSpPr>
        <p:spPr bwMode="auto">
          <a:xfrm>
            <a:off x="10486218" y="4963356"/>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solidFill>
                  <a:schemeClr val="tx1"/>
                </a:solidFill>
              </a:rPr>
              <a:t>error1.cpp</a:t>
            </a:r>
          </a:p>
        </p:txBody>
      </p:sp>
    </p:spTree>
    <p:extLst>
      <p:ext uri="{BB962C8B-B14F-4D97-AF65-F5344CB8AC3E}">
        <p14:creationId xmlns:p14="http://schemas.microsoft.com/office/powerpoint/2010/main" val="1356741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a:off x="1105633" y="1462843"/>
            <a:ext cx="7600950" cy="0"/>
          </a:xfrm>
          <a:prstGeom prst="line">
            <a:avLst/>
          </a:prstGeom>
        </p:spPr>
        <p:style>
          <a:lnRef idx="3">
            <a:schemeClr val="dk1"/>
          </a:lnRef>
          <a:fillRef idx="0">
            <a:schemeClr val="dk1"/>
          </a:fillRef>
          <a:effectRef idx="2">
            <a:schemeClr val="dk1"/>
          </a:effectRef>
          <a:fontRef idx="minor">
            <a:schemeClr val="tx1"/>
          </a:fontRef>
        </p:style>
      </p:cxnSp>
      <p:pic>
        <p:nvPicPr>
          <p:cNvPr id="15" name="图形 2" descr="打开的书"/>
          <p:cNvPicPr>
            <a:picLocks noChangeAspect="1"/>
          </p:cNvPicPr>
          <p:nvPr/>
        </p:nvPicPr>
        <p:blipFill>
          <a:blip r:embed="rId2"/>
          <a:stretch>
            <a:fillRect/>
          </a:stretch>
        </p:blipFill>
        <p:spPr>
          <a:xfrm>
            <a:off x="1105633" y="548443"/>
            <a:ext cx="914400" cy="914400"/>
          </a:xfrm>
          <a:prstGeom prst="rect">
            <a:avLst/>
          </a:prstGeom>
        </p:spPr>
      </p:pic>
      <p:sp>
        <p:nvSpPr>
          <p:cNvPr id="16" name="文本框 15"/>
          <p:cNvSpPr txBox="1"/>
          <p:nvPr/>
        </p:nvSpPr>
        <p:spPr>
          <a:xfrm>
            <a:off x="2696007" y="855540"/>
            <a:ext cx="2954655" cy="461665"/>
          </a:xfrm>
          <a:prstGeom prst="rect">
            <a:avLst/>
          </a:prstGeom>
          <a:noFill/>
        </p:spPr>
        <p:txBody>
          <a:bodyPr wrap="none" rtlCol="0">
            <a:spAutoFit/>
          </a:bodyPr>
          <a:lstStyle/>
          <a:p>
            <a:r>
              <a:rPr lang="zh-CN" altLang="en-US" sz="24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内存泄露与指针悬挂</a:t>
            </a:r>
          </a:p>
        </p:txBody>
      </p:sp>
      <p:sp>
        <p:nvSpPr>
          <p:cNvPr id="13" name="内容占位符 11"/>
          <p:cNvSpPr txBox="1">
            <a:spLocks/>
          </p:cNvSpPr>
          <p:nvPr/>
        </p:nvSpPr>
        <p:spPr>
          <a:xfrm>
            <a:off x="1105633" y="1608481"/>
            <a:ext cx="10402341" cy="4643463"/>
          </a:xfrm>
          <a:prstGeom prst="rect">
            <a:avLst/>
          </a:prstGeom>
          <a:noFill/>
        </p:spPr>
        <p:txBody>
          <a:bodyPr vert="horz" lIns="252000" tIns="0" rIns="0" bIns="0" rtlCol="0" anchor="ctr">
            <a:noAutofit/>
          </a:bodyPr>
          <a:lstStyle>
            <a:lvl1pPr marL="0" indent="0" algn="l" defTabSz="914400" rtl="0" eaLnBrk="1" latinLnBrk="0" hangingPunct="1">
              <a:lnSpc>
                <a:spcPct val="100000"/>
              </a:lnSpc>
              <a:spcBef>
                <a:spcPts val="1000"/>
              </a:spcBef>
              <a:buFont typeface="Arial" panose="020B0604020202020204" pitchFamily="34" charset="0"/>
              <a:buNone/>
              <a:defRPr sz="1800" i="1" kern="1200">
                <a:solidFill>
                  <a:schemeClr val="bg1"/>
                </a:solidFill>
                <a:latin typeface="Microsoft YaHei UI" panose="020B0503020204020204" pitchFamily="34" charset="-122"/>
                <a:ea typeface="Microsoft YaHei UI" panose="020B0503020204020204" pitchFamily="34" charset="-122"/>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icrosoft YaHei UI" panose="020B0503020204020204" pitchFamily="34" charset="-122"/>
                <a:ea typeface="Microsoft YaHei UI" panose="020B0503020204020204" pitchFamily="34"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icrosoft YaHei UI" panose="020B0503020204020204" pitchFamily="34" charset="-122"/>
                <a:ea typeface="Microsoft YaHei UI" panose="020B0503020204020204" pitchFamily="34"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icrosoft YaHei UI" panose="020B0503020204020204" pitchFamily="34" charset="-122"/>
                <a:ea typeface="Microsoft YaHei UI" panose="020B0503020204020204" pitchFamily="34"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icrosoft YaHei UI" panose="020B0503020204020204" pitchFamily="34" charset="-122"/>
                <a:ea typeface="Microsoft YaHei UI" panose="020B0503020204020204" pitchFamily="3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spcBef>
                <a:spcPts val="600"/>
              </a:spcBef>
              <a:spcAft>
                <a:spcPts val="600"/>
              </a:spcAft>
              <a:buFont typeface="Arial" panose="020B0604020202020204" pitchFamily="34" charset="0"/>
              <a:buChar char="•"/>
            </a:pPr>
            <a:r>
              <a:rPr lang="zh-CN" altLang="en-US" sz="2400" b="1" i="0" dirty="0">
                <a:solidFill>
                  <a:schemeClr val="tx1"/>
                </a:solidFill>
                <a:latin typeface="华文仿宋" panose="02010600040101010101" pitchFamily="2" charset="-122"/>
                <a:ea typeface="华文仿宋" panose="02010600040101010101" pitchFamily="2" charset="-122"/>
              </a:rPr>
              <a:t>指针悬挂（野指针）</a:t>
            </a:r>
            <a:endParaRPr lang="en-US" altLang="zh-CN" sz="2400" b="1" i="0" dirty="0">
              <a:solidFill>
                <a:schemeClr val="tx1"/>
              </a:solidFill>
              <a:latin typeface="华文仿宋" panose="02010600040101010101" pitchFamily="2" charset="-122"/>
              <a:ea typeface="华文仿宋" panose="02010600040101010101" pitchFamily="2" charset="-122"/>
            </a:endParaRPr>
          </a:p>
          <a:p>
            <a:pPr marL="800100" lvl="1" indent="-342900" algn="l">
              <a:lnSpc>
                <a:spcPct val="100000"/>
              </a:lnSpc>
              <a:spcBef>
                <a:spcPts val="600"/>
              </a:spcBef>
              <a:spcAft>
                <a:spcPts val="600"/>
              </a:spcAft>
              <a:buFont typeface="Arial" panose="020B0604020202020204" pitchFamily="34" charset="0"/>
              <a:buChar char="•"/>
            </a:pPr>
            <a:r>
              <a:rPr lang="zh-CN" altLang="en-US" sz="2400" dirty="0">
                <a:latin typeface="华文仿宋" panose="02010600040101010101" pitchFamily="2" charset="-122"/>
                <a:ea typeface="华文仿宋" panose="02010600040101010101" pitchFamily="2" charset="-122"/>
              </a:rPr>
              <a:t>让指针指向一个已经释放的空间</a:t>
            </a:r>
            <a:endParaRPr lang="en-US" altLang="zh-CN" sz="2400" dirty="0">
              <a:latin typeface="华文仿宋" panose="02010600040101010101" pitchFamily="2" charset="-122"/>
              <a:ea typeface="华文仿宋" panose="02010600040101010101" pitchFamily="2" charset="-122"/>
            </a:endParaRPr>
          </a:p>
          <a:p>
            <a:pPr lvl="1" algn="l">
              <a:lnSpc>
                <a:spcPct val="100000"/>
              </a:lnSpc>
              <a:spcBef>
                <a:spcPts val="600"/>
              </a:spcBef>
              <a:spcAft>
                <a:spcPts val="600"/>
              </a:spcAft>
            </a:pPr>
            <a:r>
              <a:rPr lang="zh-CN" altLang="en-US" sz="2400" dirty="0">
                <a:latin typeface="华文仿宋" panose="02010600040101010101" pitchFamily="2" charset="-122"/>
                <a:ea typeface="华文仿宋" panose="02010600040101010101" pitchFamily="2" charset="-122"/>
              </a:rPr>
              <a:t>例如：</a:t>
            </a:r>
            <a:endParaRPr lang="en-US" altLang="zh-CN" sz="2400" dirty="0">
              <a:latin typeface="华文仿宋" panose="02010600040101010101" pitchFamily="2" charset="-122"/>
              <a:ea typeface="华文仿宋" panose="02010600040101010101" pitchFamily="2" charset="-122"/>
            </a:endParaRPr>
          </a:p>
          <a:p>
            <a:pPr lvl="2" algn="l">
              <a:lnSpc>
                <a:spcPct val="100000"/>
              </a:lnSpc>
              <a:spcBef>
                <a:spcPts val="600"/>
              </a:spcBef>
              <a:spcAft>
                <a:spcPts val="600"/>
              </a:spcAft>
            </a:pPr>
            <a:r>
              <a:rPr lang="zh-CN" altLang="zh-CN" sz="2000" dirty="0">
                <a:latin typeface="华文仿宋" panose="02010600040101010101" pitchFamily="2" charset="-122"/>
                <a:ea typeface="华文仿宋" panose="02010600040101010101" pitchFamily="2" charset="-122"/>
              </a:rPr>
              <a:t> </a:t>
            </a:r>
            <a:r>
              <a:rPr lang="en-US" altLang="zh-CN" sz="2000" dirty="0">
                <a:latin typeface="华文仿宋" panose="02010600040101010101" pitchFamily="2" charset="-122"/>
                <a:ea typeface="华文仿宋" panose="02010600040101010101" pitchFamily="2" charset="-122"/>
              </a:rPr>
              <a:t>char *pch1, *pch2;</a:t>
            </a:r>
          </a:p>
          <a:p>
            <a:pPr lvl="2" algn="l">
              <a:lnSpc>
                <a:spcPct val="100000"/>
              </a:lnSpc>
              <a:spcBef>
                <a:spcPts val="600"/>
              </a:spcBef>
              <a:spcAft>
                <a:spcPts val="600"/>
              </a:spcAft>
            </a:pPr>
            <a:r>
              <a:rPr lang="en-US" altLang="zh-CN" sz="2000" dirty="0">
                <a:latin typeface="华文仿宋" panose="02010600040101010101" pitchFamily="2" charset="-122"/>
                <a:ea typeface="华文仿宋" panose="02010600040101010101" pitchFamily="2" charset="-122"/>
              </a:rPr>
              <a:t> pch1 = new char;</a:t>
            </a:r>
          </a:p>
          <a:p>
            <a:pPr lvl="2" algn="l">
              <a:lnSpc>
                <a:spcPct val="100000"/>
              </a:lnSpc>
              <a:spcBef>
                <a:spcPts val="600"/>
              </a:spcBef>
              <a:spcAft>
                <a:spcPts val="600"/>
              </a:spcAft>
            </a:pPr>
            <a:r>
              <a:rPr lang="en-US" altLang="zh-CN" sz="2000" dirty="0">
                <a:latin typeface="华文仿宋" panose="02010600040101010101" pitchFamily="2" charset="-122"/>
                <a:ea typeface="华文仿宋" panose="02010600040101010101" pitchFamily="2" charset="-122"/>
              </a:rPr>
              <a:t> pch2 = pch1;</a:t>
            </a:r>
          </a:p>
          <a:p>
            <a:pPr lvl="2" algn="l">
              <a:lnSpc>
                <a:spcPct val="100000"/>
              </a:lnSpc>
              <a:spcBef>
                <a:spcPts val="600"/>
              </a:spcBef>
              <a:spcAft>
                <a:spcPts val="600"/>
              </a:spcAft>
            </a:pPr>
            <a:r>
              <a:rPr lang="en-US" altLang="zh-CN" sz="2000" dirty="0">
                <a:latin typeface="华文仿宋" panose="02010600040101010101" pitchFamily="2" charset="-122"/>
                <a:ea typeface="华文仿宋" panose="02010600040101010101" pitchFamily="2" charset="-122"/>
              </a:rPr>
              <a:t> *pch2 = 'B';</a:t>
            </a:r>
          </a:p>
          <a:p>
            <a:pPr lvl="2" algn="l">
              <a:lnSpc>
                <a:spcPct val="100000"/>
              </a:lnSpc>
              <a:spcBef>
                <a:spcPts val="600"/>
              </a:spcBef>
              <a:spcAft>
                <a:spcPts val="600"/>
              </a:spcAft>
            </a:pPr>
            <a:r>
              <a:rPr lang="en-US" altLang="zh-CN" sz="2000" dirty="0">
                <a:latin typeface="华文仿宋" panose="02010600040101010101" pitchFamily="2" charset="-122"/>
                <a:ea typeface="华文仿宋" panose="02010600040101010101" pitchFamily="2" charset="-122"/>
              </a:rPr>
              <a:t> delete  pch1;//</a:t>
            </a:r>
            <a:r>
              <a:rPr lang="zh-CN" altLang="en-US" sz="2000" dirty="0">
                <a:latin typeface="华文仿宋" panose="02010600040101010101" pitchFamily="2" charset="-122"/>
                <a:ea typeface="华文仿宋" panose="02010600040101010101" pitchFamily="2" charset="-122"/>
              </a:rPr>
              <a:t>释放</a:t>
            </a:r>
            <a:r>
              <a:rPr lang="en-US" altLang="zh-CN" sz="2000" dirty="0">
                <a:latin typeface="华文仿宋" panose="02010600040101010101" pitchFamily="2" charset="-122"/>
                <a:ea typeface="华文仿宋" panose="02010600040101010101" pitchFamily="2" charset="-122"/>
              </a:rPr>
              <a:t>pch1</a:t>
            </a:r>
            <a:r>
              <a:rPr lang="zh-CN" altLang="en-US" sz="2000" dirty="0">
                <a:latin typeface="华文仿宋" panose="02010600040101010101" pitchFamily="2" charset="-122"/>
                <a:ea typeface="华文仿宋" panose="02010600040101010101" pitchFamily="2" charset="-122"/>
              </a:rPr>
              <a:t>指向的空间</a:t>
            </a:r>
            <a:endParaRPr lang="en-US" altLang="zh-CN" sz="2000" dirty="0">
              <a:latin typeface="华文仿宋" panose="02010600040101010101" pitchFamily="2" charset="-122"/>
              <a:ea typeface="华文仿宋" panose="02010600040101010101" pitchFamily="2" charset="-122"/>
            </a:endParaRPr>
          </a:p>
          <a:p>
            <a:pPr marL="800100" lvl="1" indent="-342900" algn="l">
              <a:lnSpc>
                <a:spcPct val="100000"/>
              </a:lnSpc>
              <a:spcBef>
                <a:spcPts val="600"/>
              </a:spcBef>
              <a:spcAft>
                <a:spcPts val="600"/>
              </a:spcAft>
              <a:buFont typeface="Arial" panose="020B0604020202020204" pitchFamily="34" charset="0"/>
              <a:buChar char="•"/>
            </a:pPr>
            <a:r>
              <a:rPr lang="zh-CN" altLang="en-US" sz="2400" dirty="0">
                <a:latin typeface="华文仿宋" panose="02010600040101010101" pitchFamily="2" charset="-122"/>
                <a:ea typeface="华文仿宋" panose="02010600040101010101" pitchFamily="2" charset="-122"/>
              </a:rPr>
              <a:t>使用这样的指针会造成程序</a:t>
            </a:r>
            <a:r>
              <a:rPr lang="zh-CN" altLang="zh-CN" sz="2400" dirty="0">
                <a:latin typeface="华文仿宋" panose="02010600040101010101" pitchFamily="2" charset="-122"/>
                <a:ea typeface="华文仿宋" panose="02010600040101010101" pitchFamily="2" charset="-122"/>
              </a:rPr>
              <a:t>运行</a:t>
            </a:r>
            <a:r>
              <a:rPr lang="zh-CN" altLang="en-US" sz="2400" dirty="0">
                <a:latin typeface="华文仿宋" panose="02010600040101010101" pitchFamily="2" charset="-122"/>
                <a:ea typeface="华文仿宋" panose="02010600040101010101" pitchFamily="2" charset="-122"/>
              </a:rPr>
              <a:t>时出错</a:t>
            </a:r>
            <a:endParaRPr lang="en-US" altLang="zh-CN" sz="2400" dirty="0">
              <a:latin typeface="华文仿宋" panose="02010600040101010101" pitchFamily="2" charset="-122"/>
              <a:ea typeface="华文仿宋" panose="02010600040101010101" pitchFamily="2" charset="-122"/>
            </a:endParaRPr>
          </a:p>
          <a:p>
            <a:pPr marL="800100" lvl="1" indent="-342900" algn="l">
              <a:lnSpc>
                <a:spcPct val="100000"/>
              </a:lnSpc>
              <a:spcBef>
                <a:spcPts val="600"/>
              </a:spcBef>
              <a:spcAft>
                <a:spcPts val="600"/>
              </a:spcAft>
              <a:buFont typeface="Arial" panose="020B0604020202020204" pitchFamily="34" charset="0"/>
              <a:buChar char="•"/>
            </a:pPr>
            <a:endParaRPr lang="en-US" altLang="zh-CN" sz="2800" dirty="0">
              <a:latin typeface="华文仿宋" panose="02010600040101010101" pitchFamily="2" charset="-122"/>
              <a:ea typeface="华文仿宋" panose="02010600040101010101" pitchFamily="2" charset="-122"/>
            </a:endParaRPr>
          </a:p>
        </p:txBody>
      </p:sp>
      <p:sp>
        <p:nvSpPr>
          <p:cNvPr id="6" name="标题 60417">
            <a:extLst>
              <a:ext uri="{FF2B5EF4-FFF2-40B4-BE49-F238E27FC236}">
                <a16:creationId xmlns:a16="http://schemas.microsoft.com/office/drawing/2014/main" id="{D42060F9-BB09-4B8C-B5D8-455872A8EBB0}"/>
              </a:ext>
            </a:extLst>
          </p:cNvPr>
          <p:cNvSpPr txBox="1">
            <a:spLocks noChangeArrowheads="1"/>
          </p:cNvSpPr>
          <p:nvPr/>
        </p:nvSpPr>
        <p:spPr>
          <a:xfrm>
            <a:off x="2135559" y="0"/>
            <a:ext cx="5142273" cy="1325563"/>
          </a:xfrm>
          <a:prstGeom prst="rect">
            <a:avLst/>
          </a:prstGeom>
        </p:spPr>
        <p:txBody>
          <a:bodyPr vert="horz" lIns="91440" tIns="45720" rIns="91440" bIns="45720" rtlCol="0" anchor="b">
            <a:normAutofit/>
          </a:bodyPr>
          <a:lstStyle>
            <a:lvl1pPr algn="r" defTabSz="914400" rtl="0" eaLnBrk="1" latinLnBrk="0" hangingPunct="1">
              <a:lnSpc>
                <a:spcPts val="5000"/>
              </a:lnSpc>
              <a:spcBef>
                <a:spcPct val="0"/>
              </a:spcBef>
              <a:buNone/>
              <a:defRPr sz="6000" b="1" kern="1200" cap="all" spc="-300" baseline="0">
                <a:solidFill>
                  <a:schemeClr val="tx1"/>
                </a:solidFill>
                <a:latin typeface="Microsoft YaHei UI" panose="020B0503020204020204" pitchFamily="34" charset="-122"/>
                <a:ea typeface="Microsoft YaHei UI" panose="020B0503020204020204" pitchFamily="34" charset="-122"/>
                <a:cs typeface="+mj-cs"/>
              </a:defRPr>
            </a:lvl1pPr>
          </a:lstStyle>
          <a:p>
            <a:pPr fontAlgn="auto">
              <a:spcAft>
                <a:spcPts val="0"/>
              </a:spcAft>
            </a:pPr>
            <a:r>
              <a:rPr lang="en-US" altLang="zh-CN" sz="3600" b="0"/>
              <a:t>7.6 </a:t>
            </a:r>
            <a:r>
              <a:rPr lang="zh-CN" altLang="en-US" sz="3600" b="0"/>
              <a:t>内存的动态分配和释放</a:t>
            </a:r>
            <a:endParaRPr lang="zh-CN" altLang="en-US" sz="3600" b="0" dirty="0"/>
          </a:p>
        </p:txBody>
      </p:sp>
      <p:grpSp>
        <p:nvGrpSpPr>
          <p:cNvPr id="4" name="组合 3">
            <a:extLst>
              <a:ext uri="{FF2B5EF4-FFF2-40B4-BE49-F238E27FC236}">
                <a16:creationId xmlns:a16="http://schemas.microsoft.com/office/drawing/2014/main" id="{C0B36EC7-7DFE-41BC-BF02-106D8180A072}"/>
              </a:ext>
            </a:extLst>
          </p:cNvPr>
          <p:cNvGrpSpPr/>
          <p:nvPr/>
        </p:nvGrpSpPr>
        <p:grpSpPr>
          <a:xfrm>
            <a:off x="5650662" y="2345162"/>
            <a:ext cx="5173186" cy="3170099"/>
            <a:chOff x="5650662" y="2345162"/>
            <a:chExt cx="5173186" cy="3170099"/>
          </a:xfrm>
        </p:grpSpPr>
        <p:sp>
          <p:nvSpPr>
            <p:cNvPr id="2" name="矩形 1">
              <a:extLst>
                <a:ext uri="{FF2B5EF4-FFF2-40B4-BE49-F238E27FC236}">
                  <a16:creationId xmlns:a16="http://schemas.microsoft.com/office/drawing/2014/main" id="{910223C4-CB50-4927-AA5E-E2811BBAC5FD}"/>
                </a:ext>
              </a:extLst>
            </p:cNvPr>
            <p:cNvSpPr/>
            <p:nvPr/>
          </p:nvSpPr>
          <p:spPr>
            <a:xfrm>
              <a:off x="7896200" y="2345162"/>
              <a:ext cx="2927648" cy="3170099"/>
            </a:xfrm>
            <a:prstGeom prst="rect">
              <a:avLst/>
            </a:prstGeom>
            <a:ln w="19050">
              <a:solidFill>
                <a:schemeClr val="accent1"/>
              </a:solidFill>
            </a:ln>
          </p:spPr>
          <p:txBody>
            <a:bodyPr wrap="square">
              <a:spAutoFit/>
            </a:bodyPr>
            <a:lstStyle/>
            <a:p>
              <a:pPr>
                <a:spcBef>
                  <a:spcPts val="600"/>
                </a:spcBef>
                <a:spcAft>
                  <a:spcPts val="600"/>
                </a:spcAft>
              </a:pPr>
              <a:r>
                <a:rPr lang="zh-CN" altLang="zh-CN" sz="2000" dirty="0">
                  <a:solidFill>
                    <a:schemeClr val="tx1"/>
                  </a:solidFill>
                  <a:latin typeface="华文仿宋" panose="02010600040101010101" pitchFamily="2" charset="-122"/>
                  <a:ea typeface="华文仿宋" panose="02010600040101010101" pitchFamily="2" charset="-122"/>
                </a:rPr>
                <a:t> </a:t>
              </a:r>
              <a:r>
                <a:rPr lang="en-US" altLang="zh-CN" sz="2000" dirty="0">
                  <a:solidFill>
                    <a:schemeClr val="tx1"/>
                  </a:solidFill>
                  <a:latin typeface="华文仿宋" panose="02010600040101010101" pitchFamily="2" charset="-122"/>
                  <a:ea typeface="华文仿宋" panose="02010600040101010101" pitchFamily="2" charset="-122"/>
                </a:rPr>
                <a:t>char *pch1, *pch2;</a:t>
              </a:r>
            </a:p>
            <a:p>
              <a:pPr>
                <a:spcBef>
                  <a:spcPts val="600"/>
                </a:spcBef>
                <a:spcAft>
                  <a:spcPts val="600"/>
                </a:spcAft>
              </a:pPr>
              <a:r>
                <a:rPr lang="en-US" altLang="zh-CN" sz="2000" dirty="0">
                  <a:solidFill>
                    <a:schemeClr val="tx1"/>
                  </a:solidFill>
                  <a:latin typeface="华文仿宋" panose="02010600040101010101" pitchFamily="2" charset="-122"/>
                  <a:ea typeface="华文仿宋" panose="02010600040101010101" pitchFamily="2" charset="-122"/>
                </a:rPr>
                <a:t> pch1 = new char;</a:t>
              </a:r>
            </a:p>
            <a:p>
              <a:pPr>
                <a:spcBef>
                  <a:spcPts val="600"/>
                </a:spcBef>
                <a:spcAft>
                  <a:spcPts val="600"/>
                </a:spcAft>
              </a:pPr>
              <a:r>
                <a:rPr lang="en-US" altLang="zh-CN" sz="2000" dirty="0">
                  <a:solidFill>
                    <a:schemeClr val="tx1"/>
                  </a:solidFill>
                  <a:latin typeface="华文仿宋" panose="02010600040101010101" pitchFamily="2" charset="-122"/>
                  <a:ea typeface="华文仿宋" panose="02010600040101010101" pitchFamily="2" charset="-122"/>
                </a:rPr>
                <a:t> pch2 = pch1;</a:t>
              </a:r>
            </a:p>
            <a:p>
              <a:pPr>
                <a:spcBef>
                  <a:spcPts val="600"/>
                </a:spcBef>
                <a:spcAft>
                  <a:spcPts val="600"/>
                </a:spcAft>
              </a:pPr>
              <a:r>
                <a:rPr lang="en-US" altLang="zh-CN" sz="2000" dirty="0">
                  <a:solidFill>
                    <a:schemeClr val="tx1"/>
                  </a:solidFill>
                  <a:latin typeface="华文仿宋" panose="02010600040101010101" pitchFamily="2" charset="-122"/>
                  <a:ea typeface="华文仿宋" panose="02010600040101010101" pitchFamily="2" charset="-122"/>
                </a:rPr>
                <a:t> *pch2 = 'B';</a:t>
              </a:r>
            </a:p>
            <a:p>
              <a:pPr>
                <a:spcBef>
                  <a:spcPts val="600"/>
                </a:spcBef>
                <a:spcAft>
                  <a:spcPts val="600"/>
                </a:spcAft>
              </a:pPr>
              <a:r>
                <a:rPr lang="en-US" altLang="zh-CN" sz="2000" dirty="0">
                  <a:solidFill>
                    <a:schemeClr val="tx1"/>
                  </a:solidFill>
                  <a:latin typeface="华文仿宋" panose="02010600040101010101" pitchFamily="2" charset="-122"/>
                  <a:ea typeface="华文仿宋" panose="02010600040101010101" pitchFamily="2" charset="-122"/>
                </a:rPr>
                <a:t> delete  pch1;</a:t>
              </a:r>
            </a:p>
            <a:p>
              <a:pPr>
                <a:spcBef>
                  <a:spcPts val="600"/>
                </a:spcBef>
                <a:spcAft>
                  <a:spcPts val="600"/>
                </a:spcAft>
              </a:pPr>
              <a:r>
                <a:rPr lang="en-US" altLang="zh-CN" sz="2000" dirty="0">
                  <a:solidFill>
                    <a:srgbClr val="FF0000"/>
                  </a:solidFill>
                  <a:latin typeface="华文仿宋" panose="02010600040101010101" pitchFamily="2" charset="-122"/>
                  <a:ea typeface="华文仿宋" panose="02010600040101010101" pitchFamily="2" charset="-122"/>
                </a:rPr>
                <a:t>  pch1=0;</a:t>
              </a:r>
            </a:p>
            <a:p>
              <a:pPr>
                <a:spcBef>
                  <a:spcPts val="600"/>
                </a:spcBef>
                <a:spcAft>
                  <a:spcPts val="600"/>
                </a:spcAft>
              </a:pPr>
              <a:r>
                <a:rPr lang="en-US" altLang="zh-CN" sz="2000" dirty="0">
                  <a:solidFill>
                    <a:srgbClr val="FF0000"/>
                  </a:solidFill>
                  <a:latin typeface="华文仿宋" panose="02010600040101010101" pitchFamily="2" charset="-122"/>
                  <a:ea typeface="华文仿宋" panose="02010600040101010101" pitchFamily="2" charset="-122"/>
                </a:rPr>
                <a:t>  pch2=0;</a:t>
              </a:r>
            </a:p>
          </p:txBody>
        </p:sp>
        <p:sp>
          <p:nvSpPr>
            <p:cNvPr id="3" name="箭头: 右 2">
              <a:extLst>
                <a:ext uri="{FF2B5EF4-FFF2-40B4-BE49-F238E27FC236}">
                  <a16:creationId xmlns:a16="http://schemas.microsoft.com/office/drawing/2014/main" id="{1F210B7E-E943-4284-9AE1-09B44B0E585E}"/>
                </a:ext>
              </a:extLst>
            </p:cNvPr>
            <p:cNvSpPr/>
            <p:nvPr/>
          </p:nvSpPr>
          <p:spPr>
            <a:xfrm>
              <a:off x="5650662" y="3573016"/>
              <a:ext cx="949394" cy="5040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083588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11914188" y="6402388"/>
            <a:ext cx="277812" cy="273050"/>
          </a:xfrm>
        </p:spPr>
        <p:txBody>
          <a:bodyPr/>
          <a:lstStyle/>
          <a:p>
            <a:fld id="{19B51A1E-902D-48AF-9020-955120F399B6}" type="slidenum">
              <a:rPr lang="en-ZA" altLang="zh-CN" noProof="0" smtClean="0"/>
              <a:t>52</a:t>
            </a:fld>
            <a:endParaRPr lang="zh-CN" altLang="en-US" noProof="0" dirty="0"/>
          </a:p>
        </p:txBody>
      </p:sp>
      <p:sp>
        <p:nvSpPr>
          <p:cNvPr id="8" name="Rectangle 2"/>
          <p:cNvSpPr>
            <a:spLocks noChangeArrowheads="1"/>
          </p:cNvSpPr>
          <p:nvPr/>
        </p:nvSpPr>
        <p:spPr bwMode="auto">
          <a:xfrm>
            <a:off x="2207568" y="1392627"/>
            <a:ext cx="4553732" cy="46166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mn-lt"/>
                <a:ea typeface="-apple-system"/>
              </a:rPr>
              <a:t>1.</a:t>
            </a:r>
            <a:r>
              <a:rPr kumimoji="0" lang="zh-CN" altLang="zh-CN" sz="2000" b="0" i="0" u="none" strike="noStrike" cap="none" normalizeH="0" baseline="0" dirty="0">
                <a:ln>
                  <a:noFill/>
                </a:ln>
                <a:solidFill>
                  <a:srgbClr val="000000"/>
                </a:solidFill>
                <a:effectLst/>
                <a:latin typeface="+mn-lt"/>
                <a:ea typeface="-apple-system"/>
              </a:rPr>
              <a:t>new和delete运算符正确的使用是（ </a:t>
            </a:r>
            <a:r>
              <a:rPr kumimoji="0" lang="en-US" altLang="zh-CN" sz="2000" b="0" i="0" u="none" strike="noStrike" cap="none" normalizeH="0" baseline="0" dirty="0">
                <a:ln>
                  <a:noFill/>
                </a:ln>
                <a:solidFill>
                  <a:srgbClr val="000000"/>
                </a:solidFill>
                <a:effectLst/>
                <a:latin typeface="+mn-lt"/>
                <a:ea typeface="-apple-system"/>
              </a:rPr>
              <a:t>  </a:t>
            </a:r>
            <a:r>
              <a:rPr kumimoji="0" lang="zh-CN" altLang="zh-CN" sz="2000" b="0" i="0" u="none" strike="noStrike" cap="none" normalizeH="0" baseline="0" dirty="0">
                <a:ln>
                  <a:noFill/>
                </a:ln>
                <a:solidFill>
                  <a:srgbClr val="000000"/>
                </a:solidFill>
                <a:effectLst/>
                <a:latin typeface="+mn-lt"/>
                <a:ea typeface="-apple-system"/>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000" b="0" i="0" u="none" strike="noStrike" cap="none" normalizeH="0" baseline="0" dirty="0">
              <a:ln>
                <a:noFill/>
              </a:ln>
              <a:solidFill>
                <a:srgbClr val="000000"/>
              </a:solidFill>
              <a:effectLst/>
              <a:latin typeface="+mn-lt"/>
              <a:ea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n-lt"/>
                <a:ea typeface="-apple-system"/>
              </a:rPr>
              <a:t>A.</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n-lt"/>
                <a:ea typeface="SFMono-Regular"/>
              </a:rPr>
              <a:t>int* p=new int[10];</a:t>
            </a:r>
            <a:endParaRPr kumimoji="0" lang="en-US" altLang="zh-CN" sz="2000" b="0" i="0" u="none" strike="noStrike" cap="none" normalizeH="0" baseline="0" dirty="0">
              <a:ln>
                <a:noFill/>
              </a:ln>
              <a:solidFill>
                <a:srgbClr val="000000"/>
              </a:solidFill>
              <a:effectLst/>
              <a:latin typeface="+mn-lt"/>
              <a:ea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n-lt"/>
                <a:ea typeface="SFMono-Regular"/>
              </a:rPr>
              <a:t>delete p;</a:t>
            </a:r>
            <a:endParaRPr kumimoji="0" lang="zh-CN" altLang="zh-CN" sz="2000" b="0" i="0" u="none" strike="noStrike" cap="none" normalizeH="0" baseline="0" dirty="0">
              <a:ln>
                <a:noFill/>
              </a:ln>
              <a:solidFill>
                <a:srgbClr val="000000"/>
              </a:solidFill>
              <a:effectLst/>
              <a:latin typeface="+mn-lt"/>
              <a:ea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n-lt"/>
                <a:ea typeface="-apple-system"/>
              </a:rPr>
              <a:t>B.</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n-lt"/>
                <a:ea typeface="SFMono-Regular"/>
              </a:rPr>
              <a:t>int* p=new int(10); </a:t>
            </a:r>
            <a:endParaRPr kumimoji="0" lang="en-US" altLang="zh-CN" sz="2000" b="0" i="0" u="none" strike="noStrike" cap="none" normalizeH="0" baseline="0" dirty="0">
              <a:ln>
                <a:noFill/>
              </a:ln>
              <a:solidFill>
                <a:srgbClr val="000000"/>
              </a:solidFill>
              <a:effectLst/>
              <a:latin typeface="+mn-lt"/>
              <a:ea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n-lt"/>
                <a:ea typeface="SFMono-Regular"/>
              </a:rPr>
              <a:t>delete []p;</a:t>
            </a:r>
            <a:endParaRPr kumimoji="0" lang="zh-CN" altLang="zh-CN" sz="2000" b="0" i="0" u="none" strike="noStrike" cap="none" normalizeH="0" baseline="0" dirty="0">
              <a:ln>
                <a:noFill/>
              </a:ln>
              <a:solidFill>
                <a:srgbClr val="000000"/>
              </a:solidFill>
              <a:effectLst/>
              <a:latin typeface="+mn-lt"/>
              <a:ea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n-lt"/>
                <a:ea typeface="-apple-system"/>
              </a:rPr>
              <a:t>C.</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n-lt"/>
                <a:ea typeface="SFMono-Regular"/>
              </a:rPr>
              <a:t>array&lt;int, 10&gt;* v=new array&lt;int,10&gt;(); </a:t>
            </a:r>
            <a:endParaRPr kumimoji="0" lang="en-US" altLang="zh-CN" sz="2000" b="0" i="0" u="none" strike="noStrike" cap="none" normalizeH="0" baseline="0" dirty="0">
              <a:ln>
                <a:noFill/>
              </a:ln>
              <a:solidFill>
                <a:srgbClr val="000000"/>
              </a:solidFill>
              <a:effectLst/>
              <a:latin typeface="+mn-lt"/>
              <a:ea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n-lt"/>
                <a:ea typeface="SFMono-Regular"/>
              </a:rPr>
              <a:t>delete v;</a:t>
            </a:r>
            <a:endParaRPr kumimoji="0" lang="zh-CN" altLang="zh-CN" sz="2000" b="0" i="0" u="none" strike="noStrike" cap="none" normalizeH="0" baseline="0" dirty="0">
              <a:ln>
                <a:noFill/>
              </a:ln>
              <a:solidFill>
                <a:srgbClr val="000000"/>
              </a:solidFill>
              <a:effectLst/>
              <a:latin typeface="+mn-lt"/>
              <a:ea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n-lt"/>
                <a:ea typeface="-apple-system"/>
              </a:rPr>
              <a:t>D.</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n-lt"/>
                <a:ea typeface="SFMono-Regular"/>
              </a:rPr>
              <a:t>vector&lt;int&gt;* v=new vector&lt;int&gt;(10); </a:t>
            </a:r>
            <a:endParaRPr kumimoji="0" lang="en-US" altLang="zh-CN" sz="2000" b="0" i="0" u="none" strike="noStrike" cap="none" normalizeH="0" baseline="0" dirty="0">
              <a:ln>
                <a:noFill/>
              </a:ln>
              <a:solidFill>
                <a:srgbClr val="000000"/>
              </a:solidFill>
              <a:effectLst/>
              <a:latin typeface="+mn-lt"/>
              <a:ea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n-lt"/>
                <a:ea typeface="SFMono-Regular"/>
              </a:rPr>
              <a:t>delete []</a:t>
            </a:r>
            <a:r>
              <a:rPr kumimoji="0" lang="en-US" altLang="zh-CN" sz="2000" b="0" i="0" u="none" strike="noStrike" cap="none" normalizeH="0" baseline="0" dirty="0">
                <a:ln>
                  <a:noFill/>
                </a:ln>
                <a:solidFill>
                  <a:srgbClr val="000000"/>
                </a:solidFill>
                <a:effectLst/>
                <a:latin typeface="+mn-lt"/>
                <a:ea typeface="SFMono-Regular"/>
              </a:rPr>
              <a:t>v</a:t>
            </a:r>
            <a:r>
              <a:rPr kumimoji="0" lang="zh-CN" altLang="zh-CN" sz="2000" b="0" i="0" u="none" strike="noStrike" cap="none" normalizeH="0" baseline="0" dirty="0">
                <a:ln>
                  <a:noFill/>
                </a:ln>
                <a:solidFill>
                  <a:srgbClr val="000000"/>
                </a:solidFill>
                <a:effectLst/>
                <a:latin typeface="+mn-lt"/>
                <a:ea typeface="SFMono-Regular"/>
              </a:rPr>
              <a:t>;</a:t>
            </a:r>
            <a:endParaRPr kumimoji="0" lang="zh-CN" altLang="zh-CN" sz="2000" b="0" i="0" u="none" strike="noStrike" cap="none" normalizeH="0" baseline="0" dirty="0">
              <a:ln>
                <a:noFill/>
              </a:ln>
              <a:solidFill>
                <a:schemeClr val="tx1"/>
              </a:solidFill>
              <a:effectLst/>
              <a:latin typeface="+mn-lt"/>
            </a:endParaRPr>
          </a:p>
        </p:txBody>
      </p:sp>
      <p:sp>
        <p:nvSpPr>
          <p:cNvPr id="13" name="文本框 12"/>
          <p:cNvSpPr txBox="1"/>
          <p:nvPr/>
        </p:nvSpPr>
        <p:spPr>
          <a:xfrm>
            <a:off x="4772382" y="1927772"/>
            <a:ext cx="338554" cy="369332"/>
          </a:xfrm>
          <a:prstGeom prst="rect">
            <a:avLst/>
          </a:prstGeom>
          <a:noFill/>
        </p:spPr>
        <p:txBody>
          <a:bodyPr wrap="none" rtlCol="0">
            <a:spAutoFit/>
          </a:bodyPr>
          <a:lstStyle/>
          <a:p>
            <a:r>
              <a:rPr lang="en-US" altLang="zh-CN" dirty="0"/>
              <a:t>C</a:t>
            </a:r>
            <a:endParaRPr lang="zh-CN" altLang="en-US" dirty="0"/>
          </a:p>
        </p:txBody>
      </p:sp>
      <p:cxnSp>
        <p:nvCxnSpPr>
          <p:cNvPr id="14" name="直接连接符 13"/>
          <p:cNvCxnSpPr/>
          <p:nvPr/>
        </p:nvCxnSpPr>
        <p:spPr>
          <a:xfrm>
            <a:off x="1509192" y="930962"/>
            <a:ext cx="7600950" cy="0"/>
          </a:xfrm>
          <a:prstGeom prst="line">
            <a:avLst/>
          </a:prstGeom>
        </p:spPr>
        <p:style>
          <a:lnRef idx="3">
            <a:schemeClr val="dk1"/>
          </a:lnRef>
          <a:fillRef idx="0">
            <a:schemeClr val="dk1"/>
          </a:fillRef>
          <a:effectRef idx="2">
            <a:schemeClr val="dk1"/>
          </a:effectRef>
          <a:fontRef idx="minor">
            <a:schemeClr val="tx1"/>
          </a:fontRef>
        </p:style>
      </p:cxnSp>
      <p:pic>
        <p:nvPicPr>
          <p:cNvPr id="15" name="图形 2" descr="打开的书"/>
          <p:cNvPicPr>
            <a:picLocks noChangeAspect="1"/>
          </p:cNvPicPr>
          <p:nvPr/>
        </p:nvPicPr>
        <p:blipFill>
          <a:blip r:embed="rId2"/>
          <a:stretch>
            <a:fillRect/>
          </a:stretch>
        </p:blipFill>
        <p:spPr>
          <a:xfrm>
            <a:off x="1509192" y="80729"/>
            <a:ext cx="914400" cy="914400"/>
          </a:xfrm>
          <a:prstGeom prst="rect">
            <a:avLst/>
          </a:prstGeom>
        </p:spPr>
      </p:pic>
      <p:sp>
        <p:nvSpPr>
          <p:cNvPr id="16" name="文本框 15"/>
          <p:cNvSpPr txBox="1"/>
          <p:nvPr/>
        </p:nvSpPr>
        <p:spPr>
          <a:xfrm>
            <a:off x="2600314" y="307097"/>
            <a:ext cx="1415772" cy="461665"/>
          </a:xfrm>
          <a:prstGeom prst="rect">
            <a:avLst/>
          </a:prstGeom>
          <a:noFill/>
        </p:spPr>
        <p:txBody>
          <a:bodyPr wrap="none" rtlCol="0">
            <a:spAutoFit/>
          </a:bodyPr>
          <a:lstStyle/>
          <a:p>
            <a:r>
              <a:rPr lang="zh-CN" altLang="en-US" sz="24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课堂练习</a:t>
            </a:r>
          </a:p>
        </p:txBody>
      </p:sp>
      <p:sp>
        <p:nvSpPr>
          <p:cNvPr id="11" name="文本框 10"/>
          <p:cNvSpPr txBox="1"/>
          <p:nvPr/>
        </p:nvSpPr>
        <p:spPr>
          <a:xfrm>
            <a:off x="11232974" y="1135460"/>
            <a:ext cx="338554" cy="369332"/>
          </a:xfrm>
          <a:prstGeom prst="rect">
            <a:avLst/>
          </a:prstGeom>
          <a:noFill/>
        </p:spPr>
        <p:txBody>
          <a:bodyPr wrap="none" rtlCol="0">
            <a:spAutoFit/>
          </a:bodyPr>
          <a:lstStyle/>
          <a:p>
            <a:r>
              <a:rPr lang="en-US" altLang="zh-CN" dirty="0"/>
              <a:t>B</a:t>
            </a:r>
            <a:endParaRPr lang="zh-CN" altLang="en-US" dirty="0"/>
          </a:p>
        </p:txBody>
      </p:sp>
      <p:sp>
        <p:nvSpPr>
          <p:cNvPr id="2" name="文本框 1">
            <a:extLst>
              <a:ext uri="{FF2B5EF4-FFF2-40B4-BE49-F238E27FC236}">
                <a16:creationId xmlns:a16="http://schemas.microsoft.com/office/drawing/2014/main" id="{BFDEE7CC-2F03-4E9E-91F8-18631CCDCA08}"/>
              </a:ext>
            </a:extLst>
          </p:cNvPr>
          <p:cNvSpPr txBox="1"/>
          <p:nvPr/>
        </p:nvSpPr>
        <p:spPr>
          <a:xfrm>
            <a:off x="2423592" y="476672"/>
            <a:ext cx="1422184" cy="461665"/>
          </a:xfrm>
          <a:prstGeom prst="rect">
            <a:avLst/>
          </a:prstGeom>
          <a:noFill/>
        </p:spPr>
        <p:txBody>
          <a:bodyPr wrap="none" rtlCol="0">
            <a:spAutoFit/>
          </a:bodyPr>
          <a:lstStyle/>
          <a:p>
            <a:r>
              <a:rPr lang="zh-CN" altLang="en-US" dirty="0">
                <a:solidFill>
                  <a:schemeClr val="tx1"/>
                </a:solidFill>
              </a:rPr>
              <a:t>课堂练习</a:t>
            </a:r>
          </a:p>
        </p:txBody>
      </p:sp>
      <p:sp>
        <p:nvSpPr>
          <p:cNvPr id="3" name="文本框 2">
            <a:extLst>
              <a:ext uri="{FF2B5EF4-FFF2-40B4-BE49-F238E27FC236}">
                <a16:creationId xmlns:a16="http://schemas.microsoft.com/office/drawing/2014/main" id="{7CA4194B-509C-4814-B2D2-93AAAADF87F8}"/>
              </a:ext>
            </a:extLst>
          </p:cNvPr>
          <p:cNvSpPr txBox="1"/>
          <p:nvPr/>
        </p:nvSpPr>
        <p:spPr>
          <a:xfrm>
            <a:off x="6240016" y="1650773"/>
            <a:ext cx="370614" cy="400110"/>
          </a:xfrm>
          <a:prstGeom prst="rect">
            <a:avLst/>
          </a:prstGeom>
          <a:noFill/>
        </p:spPr>
        <p:txBody>
          <a:bodyPr wrap="none" rtlCol="0">
            <a:spAutoFit/>
          </a:bodyPr>
          <a:lstStyle/>
          <a:p>
            <a:r>
              <a:rPr lang="en-US" altLang="zh-CN" sz="2000" dirty="0">
                <a:solidFill>
                  <a:srgbClr val="7030A0"/>
                </a:solidFill>
              </a:rPr>
              <a:t>C</a:t>
            </a:r>
            <a:endParaRPr lang="zh-CN" altLang="en-US" sz="2000" dirty="0">
              <a:solidFill>
                <a:srgbClr val="7030A0"/>
              </a:solidFill>
            </a:endParaRPr>
          </a:p>
        </p:txBody>
      </p:sp>
    </p:spTree>
    <p:extLst>
      <p:ext uri="{BB962C8B-B14F-4D97-AF65-F5344CB8AC3E}">
        <p14:creationId xmlns:p14="http://schemas.microsoft.com/office/powerpoint/2010/main" val="4024585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1" grpId="0"/>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64513"/>
          <p:cNvSpPr>
            <a:spLocks noGrp="1" noChangeArrowheads="1"/>
          </p:cNvSpPr>
          <p:nvPr>
            <p:ph type="title"/>
          </p:nvPr>
        </p:nvSpPr>
        <p:spPr>
          <a:xfrm>
            <a:off x="2207568" y="365125"/>
            <a:ext cx="10515600" cy="1325563"/>
          </a:xfrm>
        </p:spPr>
        <p:txBody>
          <a:bodyPr>
            <a:normAutofit/>
          </a:bodyPr>
          <a:lstStyle/>
          <a:p>
            <a:r>
              <a:rPr lang="en-US" altLang="zh-CN" sz="4000" dirty="0"/>
              <a:t>7.7 void</a:t>
            </a:r>
            <a:r>
              <a:rPr lang="zh-CN" altLang="en-US" sz="4000" dirty="0"/>
              <a:t>和</a:t>
            </a:r>
            <a:r>
              <a:rPr lang="en-US" altLang="zh-CN" sz="4000" dirty="0"/>
              <a:t>const</a:t>
            </a:r>
            <a:r>
              <a:rPr lang="zh-CN" altLang="en-US" sz="4000" dirty="0"/>
              <a:t>修饰指针变量 </a:t>
            </a:r>
          </a:p>
        </p:txBody>
      </p:sp>
      <p:sp>
        <p:nvSpPr>
          <p:cNvPr id="48131" name="文本占位符 64514"/>
          <p:cNvSpPr>
            <a:spLocks noGrp="1" noChangeArrowheads="1"/>
          </p:cNvSpPr>
          <p:nvPr>
            <p:ph idx="1"/>
          </p:nvPr>
        </p:nvSpPr>
        <p:spPr>
          <a:xfrm>
            <a:off x="1919536" y="1690688"/>
            <a:ext cx="8153400" cy="4989513"/>
          </a:xfrm>
        </p:spPr>
        <p:txBody>
          <a:bodyPr/>
          <a:lstStyle/>
          <a:p>
            <a:pPr>
              <a:buFontTx/>
              <a:buNone/>
            </a:pPr>
            <a:r>
              <a:rPr lang="en-US" altLang="zh-CN" sz="2600" dirty="0">
                <a:solidFill>
                  <a:srgbClr val="FF0000"/>
                </a:solidFill>
              </a:rPr>
              <a:t>7.7.1  void</a:t>
            </a:r>
            <a:r>
              <a:rPr lang="zh-CN" altLang="en-US" sz="2600" dirty="0">
                <a:solidFill>
                  <a:srgbClr val="FF0000"/>
                </a:solidFill>
              </a:rPr>
              <a:t>修饰指针 </a:t>
            </a:r>
          </a:p>
          <a:p>
            <a:pPr>
              <a:buFontTx/>
              <a:buNone/>
            </a:pPr>
            <a:r>
              <a:rPr lang="en-US" altLang="zh-CN" sz="2600" dirty="0"/>
              <a:t>	void</a:t>
            </a:r>
            <a:r>
              <a:rPr lang="zh-CN" altLang="en-US" sz="2600" dirty="0"/>
              <a:t>修饰指针代表是一种</a:t>
            </a:r>
            <a:r>
              <a:rPr lang="zh-CN" altLang="en-US" sz="2600" i="1" dirty="0">
                <a:solidFill>
                  <a:srgbClr val="7030A0"/>
                </a:solidFill>
              </a:rPr>
              <a:t>不确定类型</a:t>
            </a:r>
            <a:r>
              <a:rPr lang="zh-CN" altLang="en-US" sz="2600" dirty="0"/>
              <a:t>的指针。 </a:t>
            </a:r>
          </a:p>
          <a:p>
            <a:pPr>
              <a:buFontTx/>
              <a:buNone/>
            </a:pPr>
            <a:r>
              <a:rPr lang="en-US" altLang="zh-CN" sz="2600" dirty="0"/>
              <a:t>1. </a:t>
            </a:r>
            <a:r>
              <a:rPr lang="zh-CN" altLang="en-US" sz="2600" dirty="0"/>
              <a:t>任何类型的指针都可以直接赋给它，无需类型转换：        </a:t>
            </a:r>
          </a:p>
          <a:p>
            <a:pPr>
              <a:spcBef>
                <a:spcPct val="0"/>
              </a:spcBef>
              <a:buFontTx/>
              <a:buNone/>
            </a:pPr>
            <a:r>
              <a:rPr lang="zh-CN" altLang="en-US" sz="2600" dirty="0"/>
              <a:t>        		</a:t>
            </a:r>
            <a:r>
              <a:rPr lang="en-US" altLang="zh-CN" sz="2600" dirty="0"/>
              <a:t>void *p1;</a:t>
            </a:r>
          </a:p>
          <a:p>
            <a:pPr>
              <a:spcBef>
                <a:spcPct val="0"/>
              </a:spcBef>
              <a:buFontTx/>
              <a:buNone/>
            </a:pPr>
            <a:r>
              <a:rPr lang="en-US" altLang="zh-CN" sz="2600" dirty="0"/>
              <a:t>			int  *p2;</a:t>
            </a:r>
          </a:p>
          <a:p>
            <a:pPr>
              <a:spcBef>
                <a:spcPct val="0"/>
              </a:spcBef>
              <a:buFontTx/>
              <a:buNone/>
            </a:pPr>
            <a:r>
              <a:rPr lang="en-US" altLang="zh-CN" sz="2600" dirty="0"/>
              <a:t>        		p1 = p2;</a:t>
            </a:r>
          </a:p>
          <a:p>
            <a:pPr>
              <a:spcBef>
                <a:spcPct val="0"/>
              </a:spcBef>
              <a:buFontTx/>
              <a:buNone/>
            </a:pPr>
            <a:endParaRPr lang="en-US" altLang="zh-CN" sz="2600" dirty="0"/>
          </a:p>
          <a:p>
            <a:pPr>
              <a:buFontTx/>
              <a:buNone/>
            </a:pPr>
            <a:r>
              <a:rPr lang="en-US" altLang="zh-CN" sz="2600" dirty="0"/>
              <a:t>2. </a:t>
            </a:r>
            <a:r>
              <a:rPr lang="zh-CN" altLang="en-US" sz="2600" dirty="0">
                <a:solidFill>
                  <a:srgbClr val="FFC000"/>
                </a:solidFill>
              </a:rPr>
              <a:t>不能对</a:t>
            </a:r>
            <a:r>
              <a:rPr lang="en-US" altLang="zh-CN" sz="2600" dirty="0">
                <a:solidFill>
                  <a:srgbClr val="FFC000"/>
                </a:solidFill>
              </a:rPr>
              <a:t>void</a:t>
            </a:r>
            <a:r>
              <a:rPr lang="zh-CN" altLang="en-US" sz="2600" dirty="0">
                <a:solidFill>
                  <a:srgbClr val="FFC000"/>
                </a:solidFill>
              </a:rPr>
              <a:t>指针进行算术操作</a:t>
            </a:r>
            <a:r>
              <a:rPr lang="zh-CN" altLang="en-US" sz="2600" dirty="0"/>
              <a:t>：</a:t>
            </a:r>
          </a:p>
          <a:p>
            <a:pPr>
              <a:spcBef>
                <a:spcPct val="0"/>
              </a:spcBef>
              <a:buFontTx/>
              <a:buNone/>
            </a:pPr>
            <a:r>
              <a:rPr lang="zh-CN" altLang="en-US" sz="2600" dirty="0"/>
              <a:t>        		</a:t>
            </a:r>
            <a:r>
              <a:rPr lang="en-US" altLang="zh-CN" sz="2600" dirty="0"/>
              <a:t>void * p;</a:t>
            </a:r>
          </a:p>
          <a:p>
            <a:pPr>
              <a:spcBef>
                <a:spcPct val="0"/>
              </a:spcBef>
              <a:buFontTx/>
              <a:buNone/>
            </a:pPr>
            <a:r>
              <a:rPr lang="en-US" altLang="zh-CN" sz="2600" dirty="0"/>
              <a:t>        		p++; </a:t>
            </a:r>
          </a:p>
          <a:p>
            <a:pPr>
              <a:spcBef>
                <a:spcPct val="0"/>
              </a:spcBef>
              <a:buFontTx/>
              <a:buNone/>
            </a:pPr>
            <a:r>
              <a:rPr lang="en-US" altLang="zh-CN" sz="2600" dirty="0"/>
              <a:t>        		p += 1; </a:t>
            </a:r>
            <a:endParaRPr lang="zh-CN" altLang="en-US" sz="2600" dirty="0"/>
          </a:p>
        </p:txBody>
      </p:sp>
      <p:sp>
        <p:nvSpPr>
          <p:cNvPr id="48129"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3FD4E1A-CA44-431D-9291-491D59FF61F5}" type="slidenum">
              <a:rPr lang="zh-CN" altLang="en-US" smtClean="0"/>
              <a:t>53</a:t>
            </a:fld>
            <a:endParaRPr lang="zh-CN" altLang="en-US"/>
          </a:p>
        </p:txBody>
      </p:sp>
      <p:pic>
        <p:nvPicPr>
          <p:cNvPr id="5" name="图形 2" descr="打开的书">
            <a:extLst>
              <a:ext uri="{FF2B5EF4-FFF2-40B4-BE49-F238E27FC236}">
                <a16:creationId xmlns:a16="http://schemas.microsoft.com/office/drawing/2014/main" id="{03C48E2F-EB43-417A-9BFC-C545D94F1880}"/>
              </a:ext>
            </a:extLst>
          </p:cNvPr>
          <p:cNvPicPr>
            <a:picLocks noChangeAspect="1"/>
          </p:cNvPicPr>
          <p:nvPr/>
        </p:nvPicPr>
        <p:blipFill>
          <a:blip r:embed="rId2"/>
          <a:stretch>
            <a:fillRect/>
          </a:stretch>
        </p:blipFill>
        <p:spPr>
          <a:xfrm>
            <a:off x="1105633" y="548443"/>
            <a:ext cx="914400" cy="9144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3" name="文本框 65539"/>
          <p:cNvSpPr txBox="1">
            <a:spLocks noChangeArrowheads="1"/>
          </p:cNvSpPr>
          <p:nvPr/>
        </p:nvSpPr>
        <p:spPr bwMode="auto">
          <a:xfrm>
            <a:off x="1127448" y="551993"/>
            <a:ext cx="10009112" cy="637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dirty="0">
                <a:solidFill>
                  <a:schemeClr val="tx1"/>
                </a:solidFill>
              </a:rPr>
              <a:t> </a:t>
            </a:r>
            <a:r>
              <a:rPr lang="en-US" altLang="zh-CN" dirty="0">
                <a:solidFill>
                  <a:schemeClr val="tx1"/>
                </a:solidFill>
              </a:rPr>
              <a:t>【</a:t>
            </a:r>
            <a:r>
              <a:rPr lang="zh-CN" altLang="en-US" dirty="0">
                <a:solidFill>
                  <a:schemeClr val="tx1"/>
                </a:solidFill>
              </a:rPr>
              <a:t>例</a:t>
            </a:r>
            <a:r>
              <a:rPr lang="en-US" altLang="zh-CN" dirty="0">
                <a:solidFill>
                  <a:schemeClr val="tx1"/>
                </a:solidFill>
              </a:rPr>
              <a:t>7.13】</a:t>
            </a:r>
            <a:r>
              <a:rPr lang="zh-CN" altLang="en-US" dirty="0">
                <a:solidFill>
                  <a:schemeClr val="tx1"/>
                </a:solidFill>
              </a:rPr>
              <a:t>交换两个数的通用程序，可交换整数、字符或同等类型且个数相等的数组。 </a:t>
            </a:r>
          </a:p>
          <a:p>
            <a:r>
              <a:rPr lang="en-US" altLang="zh-CN" dirty="0">
                <a:solidFill>
                  <a:schemeClr val="tx1"/>
                </a:solidFill>
              </a:rPr>
              <a:t>void swap(void   *p1,  void *p2,  int   </a:t>
            </a:r>
            <a:r>
              <a:rPr lang="en-US" altLang="zh-CN" dirty="0" err="1">
                <a:solidFill>
                  <a:schemeClr val="tx1"/>
                </a:solidFill>
              </a:rPr>
              <a:t>elemNumber</a:t>
            </a:r>
            <a:r>
              <a:rPr lang="en-US" altLang="zh-CN" dirty="0">
                <a:solidFill>
                  <a:schemeClr val="tx1"/>
                </a:solidFill>
              </a:rPr>
              <a:t>);</a:t>
            </a:r>
          </a:p>
          <a:p>
            <a:r>
              <a:rPr lang="en-US" altLang="zh-CN" dirty="0">
                <a:solidFill>
                  <a:schemeClr val="tx1"/>
                </a:solidFill>
              </a:rPr>
              <a:t>int  main ( ) </a:t>
            </a:r>
          </a:p>
          <a:p>
            <a:r>
              <a:rPr lang="en-US" altLang="zh-CN" dirty="0">
                <a:solidFill>
                  <a:schemeClr val="tx1"/>
                </a:solidFill>
              </a:rPr>
              <a:t>{	double  x=99.9,  y=88.8;</a:t>
            </a:r>
          </a:p>
          <a:p>
            <a:r>
              <a:rPr lang="en-US" altLang="zh-CN" dirty="0">
                <a:solidFill>
                  <a:schemeClr val="tx1"/>
                </a:solidFill>
              </a:rPr>
              <a:t>	swap( &amp;x, &amp;y, </a:t>
            </a:r>
            <a:r>
              <a:rPr lang="en-US" altLang="zh-CN" dirty="0" err="1">
                <a:solidFill>
                  <a:schemeClr val="tx1"/>
                </a:solidFill>
              </a:rPr>
              <a:t>sizeof</a:t>
            </a:r>
            <a:r>
              <a:rPr lang="en-US" altLang="zh-CN" dirty="0">
                <a:solidFill>
                  <a:schemeClr val="tx1"/>
                </a:solidFill>
              </a:rPr>
              <a:t>(double) );</a:t>
            </a:r>
          </a:p>
          <a:p>
            <a:r>
              <a:rPr lang="en-US" altLang="zh-CN" dirty="0">
                <a:solidFill>
                  <a:schemeClr val="tx1"/>
                </a:solidFill>
              </a:rPr>
              <a:t>	</a:t>
            </a:r>
            <a:r>
              <a:rPr lang="en-US" altLang="zh-CN" dirty="0" err="1">
                <a:solidFill>
                  <a:schemeClr val="tx1"/>
                </a:solidFill>
              </a:rPr>
              <a:t>cout</a:t>
            </a:r>
            <a:r>
              <a:rPr lang="en-US" altLang="zh-CN" dirty="0">
                <a:solidFill>
                  <a:schemeClr val="tx1"/>
                </a:solidFill>
              </a:rPr>
              <a:t>&lt;&lt;"</a:t>
            </a:r>
            <a:r>
              <a:rPr lang="zh-CN" altLang="en-US" dirty="0">
                <a:solidFill>
                  <a:schemeClr val="tx1"/>
                </a:solidFill>
              </a:rPr>
              <a:t>交换后</a:t>
            </a:r>
            <a:r>
              <a:rPr lang="en-US" altLang="zh-CN" dirty="0">
                <a:solidFill>
                  <a:schemeClr val="tx1"/>
                </a:solidFill>
              </a:rPr>
              <a:t>:x="&lt;&lt;x&lt;&lt;"  y="&lt;&lt;y&lt;&lt;</a:t>
            </a:r>
            <a:r>
              <a:rPr lang="en-US" altLang="zh-CN" dirty="0" err="1">
                <a:solidFill>
                  <a:schemeClr val="tx1"/>
                </a:solidFill>
              </a:rPr>
              <a:t>endl</a:t>
            </a:r>
            <a:r>
              <a:rPr lang="en-US" altLang="zh-CN" dirty="0">
                <a:solidFill>
                  <a:schemeClr val="tx1"/>
                </a:solidFill>
              </a:rPr>
              <a:t>;</a:t>
            </a:r>
          </a:p>
          <a:p>
            <a:endParaRPr lang="en-US" altLang="zh-CN" dirty="0">
              <a:solidFill>
                <a:schemeClr val="tx1"/>
              </a:solidFill>
            </a:endParaRPr>
          </a:p>
          <a:p>
            <a:r>
              <a:rPr lang="en-US" altLang="zh-CN" dirty="0">
                <a:solidFill>
                  <a:schemeClr val="tx1"/>
                </a:solidFill>
              </a:rPr>
              <a:t>	int  a[ ]={1,2,3,4,5}, b[ ]={31,32,33,34,35};</a:t>
            </a:r>
          </a:p>
          <a:p>
            <a:r>
              <a:rPr lang="en-US" altLang="zh-CN" dirty="0">
                <a:solidFill>
                  <a:schemeClr val="tx1"/>
                </a:solidFill>
              </a:rPr>
              <a:t>	swap( a, b, </a:t>
            </a:r>
            <a:r>
              <a:rPr lang="en-US" altLang="zh-CN" dirty="0" err="1">
                <a:solidFill>
                  <a:schemeClr val="tx1"/>
                </a:solidFill>
              </a:rPr>
              <a:t>sizeof</a:t>
            </a:r>
            <a:r>
              <a:rPr lang="en-US" altLang="zh-CN" dirty="0">
                <a:solidFill>
                  <a:schemeClr val="tx1"/>
                </a:solidFill>
              </a:rPr>
              <a:t>(a));</a:t>
            </a:r>
            <a:endParaRPr lang="zh-CN" altLang="en-US" dirty="0">
              <a:solidFill>
                <a:schemeClr val="tx1"/>
              </a:solidFill>
            </a:endParaRPr>
          </a:p>
          <a:p>
            <a:r>
              <a:rPr lang="en-US" altLang="zh-CN" dirty="0">
                <a:solidFill>
                  <a:schemeClr val="tx1"/>
                </a:solidFill>
              </a:rPr>
              <a:t>	for(</a:t>
            </a:r>
            <a:r>
              <a:rPr lang="en-US" altLang="zh-CN" dirty="0" err="1">
                <a:solidFill>
                  <a:schemeClr val="tx1"/>
                </a:solidFill>
              </a:rPr>
              <a:t>i</a:t>
            </a:r>
            <a:r>
              <a:rPr lang="en-US" altLang="zh-CN" dirty="0">
                <a:solidFill>
                  <a:schemeClr val="tx1"/>
                </a:solidFill>
              </a:rPr>
              <a:t>=0;i&lt;</a:t>
            </a:r>
            <a:r>
              <a:rPr lang="en-US" altLang="zh-CN" dirty="0" err="1">
                <a:solidFill>
                  <a:schemeClr val="tx1"/>
                </a:solidFill>
              </a:rPr>
              <a:t>sizeof</a:t>
            </a:r>
            <a:r>
              <a:rPr lang="en-US" altLang="zh-CN" dirty="0">
                <a:solidFill>
                  <a:schemeClr val="tx1"/>
                </a:solidFill>
              </a:rPr>
              <a:t>(a)/</a:t>
            </a:r>
            <a:r>
              <a:rPr lang="en-US" altLang="zh-CN" dirty="0" err="1">
                <a:solidFill>
                  <a:schemeClr val="tx1"/>
                </a:solidFill>
              </a:rPr>
              <a:t>sizeof</a:t>
            </a:r>
            <a:r>
              <a:rPr lang="en-US" altLang="zh-CN" dirty="0">
                <a:solidFill>
                  <a:schemeClr val="tx1"/>
                </a:solidFill>
              </a:rPr>
              <a:t>(*a); </a:t>
            </a:r>
            <a:r>
              <a:rPr lang="en-US" altLang="zh-CN" dirty="0" err="1">
                <a:solidFill>
                  <a:schemeClr val="tx1"/>
                </a:solidFill>
              </a:rPr>
              <a:t>i</a:t>
            </a:r>
            <a:r>
              <a:rPr lang="en-US" altLang="zh-CN" dirty="0">
                <a:solidFill>
                  <a:schemeClr val="tx1"/>
                </a:solidFill>
              </a:rPr>
              <a:t>++)</a:t>
            </a:r>
          </a:p>
          <a:p>
            <a:r>
              <a:rPr lang="en-US" altLang="zh-CN" dirty="0">
                <a:solidFill>
                  <a:schemeClr val="tx1"/>
                </a:solidFill>
              </a:rPr>
              <a:t>		</a:t>
            </a:r>
            <a:r>
              <a:rPr lang="en-US" altLang="zh-CN" dirty="0" err="1">
                <a:solidFill>
                  <a:schemeClr val="tx1"/>
                </a:solidFill>
              </a:rPr>
              <a:t>cout</a:t>
            </a:r>
            <a:r>
              <a:rPr lang="en-US" altLang="zh-CN" dirty="0">
                <a:solidFill>
                  <a:schemeClr val="tx1"/>
                </a:solidFill>
              </a:rPr>
              <a:t>&lt;&lt; </a:t>
            </a:r>
            <a:r>
              <a:rPr lang="en-US" altLang="zh-CN" dirty="0" err="1">
                <a:solidFill>
                  <a:schemeClr val="tx1"/>
                </a:solidFill>
              </a:rPr>
              <a:t>setw</a:t>
            </a:r>
            <a:r>
              <a:rPr lang="en-US" altLang="zh-CN" dirty="0">
                <a:solidFill>
                  <a:schemeClr val="tx1"/>
                </a:solidFill>
              </a:rPr>
              <a:t>(5)&lt;&lt;a[</a:t>
            </a:r>
            <a:r>
              <a:rPr lang="en-US" altLang="zh-CN" dirty="0" err="1">
                <a:solidFill>
                  <a:schemeClr val="tx1"/>
                </a:solidFill>
              </a:rPr>
              <a:t>i</a:t>
            </a:r>
            <a:r>
              <a:rPr lang="en-US" altLang="zh-CN" dirty="0">
                <a:solidFill>
                  <a:schemeClr val="tx1"/>
                </a:solidFill>
              </a:rPr>
              <a:t>];</a:t>
            </a:r>
          </a:p>
          <a:p>
            <a:r>
              <a:rPr lang="en-US" altLang="zh-CN" dirty="0">
                <a:solidFill>
                  <a:schemeClr val="tx1"/>
                </a:solidFill>
              </a:rPr>
              <a:t>	</a:t>
            </a:r>
            <a:r>
              <a:rPr lang="en-US" altLang="zh-CN" dirty="0" err="1">
                <a:solidFill>
                  <a:schemeClr val="tx1"/>
                </a:solidFill>
              </a:rPr>
              <a:t>cout</a:t>
            </a:r>
            <a:r>
              <a:rPr lang="en-US" altLang="zh-CN" dirty="0">
                <a:solidFill>
                  <a:schemeClr val="tx1"/>
                </a:solidFill>
              </a:rPr>
              <a:t>&lt;&lt;</a:t>
            </a:r>
            <a:r>
              <a:rPr lang="en-US" altLang="zh-CN" dirty="0" err="1">
                <a:solidFill>
                  <a:schemeClr val="tx1"/>
                </a:solidFill>
              </a:rPr>
              <a:t>endl</a:t>
            </a:r>
            <a:r>
              <a:rPr lang="en-US" altLang="zh-CN" dirty="0">
                <a:solidFill>
                  <a:schemeClr val="tx1"/>
                </a:solidFill>
              </a:rPr>
              <a:t>&lt;&lt; "b=";</a:t>
            </a:r>
          </a:p>
          <a:p>
            <a:r>
              <a:rPr lang="en-US" altLang="zh-CN" dirty="0">
                <a:solidFill>
                  <a:schemeClr val="tx1"/>
                </a:solidFill>
              </a:rPr>
              <a:t>	for(</a:t>
            </a:r>
            <a:r>
              <a:rPr lang="en-US" altLang="zh-CN" dirty="0" err="1">
                <a:solidFill>
                  <a:schemeClr val="tx1"/>
                </a:solidFill>
              </a:rPr>
              <a:t>i</a:t>
            </a:r>
            <a:r>
              <a:rPr lang="en-US" altLang="zh-CN" dirty="0">
                <a:solidFill>
                  <a:schemeClr val="tx1"/>
                </a:solidFill>
              </a:rPr>
              <a:t>=0;i&lt;</a:t>
            </a:r>
            <a:r>
              <a:rPr lang="en-US" altLang="zh-CN" dirty="0" err="1">
                <a:solidFill>
                  <a:schemeClr val="tx1"/>
                </a:solidFill>
              </a:rPr>
              <a:t>sizeof</a:t>
            </a:r>
            <a:r>
              <a:rPr lang="en-US" altLang="zh-CN" dirty="0">
                <a:solidFill>
                  <a:schemeClr val="tx1"/>
                </a:solidFill>
              </a:rPr>
              <a:t>(b)/</a:t>
            </a:r>
            <a:r>
              <a:rPr lang="en-US" altLang="zh-CN" dirty="0" err="1">
                <a:solidFill>
                  <a:schemeClr val="tx1"/>
                </a:solidFill>
              </a:rPr>
              <a:t>sizeof</a:t>
            </a:r>
            <a:r>
              <a:rPr lang="en-US" altLang="zh-CN" dirty="0">
                <a:solidFill>
                  <a:schemeClr val="tx1"/>
                </a:solidFill>
              </a:rPr>
              <a:t>(*b); </a:t>
            </a:r>
            <a:r>
              <a:rPr lang="en-US" altLang="zh-CN" dirty="0" err="1">
                <a:solidFill>
                  <a:schemeClr val="tx1"/>
                </a:solidFill>
              </a:rPr>
              <a:t>i</a:t>
            </a:r>
            <a:r>
              <a:rPr lang="en-US" altLang="zh-CN" dirty="0">
                <a:solidFill>
                  <a:schemeClr val="tx1"/>
                </a:solidFill>
              </a:rPr>
              <a:t>++)</a:t>
            </a:r>
          </a:p>
          <a:p>
            <a:r>
              <a:rPr lang="en-US" altLang="zh-CN" dirty="0">
                <a:solidFill>
                  <a:schemeClr val="tx1"/>
                </a:solidFill>
              </a:rPr>
              <a:t>		</a:t>
            </a:r>
            <a:r>
              <a:rPr lang="en-US" altLang="zh-CN" dirty="0" err="1">
                <a:solidFill>
                  <a:schemeClr val="tx1"/>
                </a:solidFill>
              </a:rPr>
              <a:t>cout</a:t>
            </a:r>
            <a:r>
              <a:rPr lang="en-US" altLang="zh-CN" dirty="0">
                <a:solidFill>
                  <a:schemeClr val="tx1"/>
                </a:solidFill>
              </a:rPr>
              <a:t>&lt;&lt; </a:t>
            </a:r>
            <a:r>
              <a:rPr lang="en-US" altLang="zh-CN" dirty="0" err="1">
                <a:solidFill>
                  <a:schemeClr val="tx1"/>
                </a:solidFill>
              </a:rPr>
              <a:t>setw</a:t>
            </a:r>
            <a:r>
              <a:rPr lang="en-US" altLang="zh-CN" dirty="0">
                <a:solidFill>
                  <a:schemeClr val="tx1"/>
                </a:solidFill>
              </a:rPr>
              <a:t>(5)&lt;&lt;b[</a:t>
            </a:r>
            <a:r>
              <a:rPr lang="en-US" altLang="zh-CN" dirty="0" err="1">
                <a:solidFill>
                  <a:schemeClr val="tx1"/>
                </a:solidFill>
              </a:rPr>
              <a:t>i</a:t>
            </a:r>
            <a:r>
              <a:rPr lang="en-US" altLang="zh-CN" dirty="0">
                <a:solidFill>
                  <a:schemeClr val="tx1"/>
                </a:solidFill>
              </a:rPr>
              <a:t>];</a:t>
            </a:r>
          </a:p>
          <a:p>
            <a:r>
              <a:rPr lang="en-US" altLang="zh-CN" dirty="0">
                <a:solidFill>
                  <a:schemeClr val="tx1"/>
                </a:solidFill>
              </a:rPr>
              <a:t>	</a:t>
            </a:r>
            <a:r>
              <a:rPr lang="en-US" altLang="zh-CN" dirty="0" err="1">
                <a:solidFill>
                  <a:schemeClr val="tx1"/>
                </a:solidFill>
              </a:rPr>
              <a:t>cout</a:t>
            </a:r>
            <a:r>
              <a:rPr lang="en-US" altLang="zh-CN" dirty="0">
                <a:solidFill>
                  <a:schemeClr val="tx1"/>
                </a:solidFill>
              </a:rPr>
              <a:t>&lt;&lt;</a:t>
            </a:r>
            <a:r>
              <a:rPr lang="en-US" altLang="zh-CN" dirty="0" err="1">
                <a:solidFill>
                  <a:schemeClr val="tx1"/>
                </a:solidFill>
              </a:rPr>
              <a:t>endl</a:t>
            </a:r>
            <a:r>
              <a:rPr lang="en-US" altLang="zh-CN" dirty="0">
                <a:solidFill>
                  <a:schemeClr val="tx1"/>
                </a:solidFill>
              </a:rPr>
              <a:t>;</a:t>
            </a:r>
          </a:p>
          <a:p>
            <a:r>
              <a:rPr lang="en-US" altLang="zh-CN" dirty="0">
                <a:solidFill>
                  <a:schemeClr val="tx1"/>
                </a:solidFill>
              </a:rPr>
              <a:t>}</a:t>
            </a:r>
            <a:endParaRPr lang="zh-CN" altLang="en-US" dirty="0">
              <a:solidFill>
                <a:schemeClr val="tx1"/>
              </a:solidFill>
            </a:endParaRPr>
          </a:p>
        </p:txBody>
      </p:sp>
      <p:sp>
        <p:nvSpPr>
          <p:cNvPr id="49154" name="流程图: 过程 65540"/>
          <p:cNvSpPr>
            <a:spLocks noChangeArrowheads="1"/>
          </p:cNvSpPr>
          <p:nvPr/>
        </p:nvSpPr>
        <p:spPr bwMode="auto">
          <a:xfrm>
            <a:off x="8688389" y="5876925"/>
            <a:ext cx="1584325" cy="431800"/>
          </a:xfrm>
          <a:prstGeom prst="flowChartProcess">
            <a:avLst/>
          </a:prstGeom>
          <a:solidFill>
            <a:schemeClr val="accent1"/>
          </a:solidFill>
          <a:ln w="9525">
            <a:solidFill>
              <a:schemeClr val="tx1"/>
            </a:solidFill>
            <a:miter lim="800000"/>
          </a:ln>
        </p:spPr>
        <p:txBody>
          <a:bodyPr wrap="none" anchor="ctr"/>
          <a:lstStyle/>
          <a:p>
            <a:pPr algn="ctr"/>
            <a:r>
              <a:rPr lang="en-US" altLang="zh-CN" sz="2200" dirty="0">
                <a:solidFill>
                  <a:schemeClr val="tx1"/>
                </a:solidFill>
              </a:rPr>
              <a:t>5-13.cpp</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7" name="文本框 66561"/>
          <p:cNvSpPr txBox="1">
            <a:spLocks noChangeArrowheads="1"/>
          </p:cNvSpPr>
          <p:nvPr/>
        </p:nvSpPr>
        <p:spPr bwMode="auto">
          <a:xfrm>
            <a:off x="2208213" y="1557339"/>
            <a:ext cx="82804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sz="2600" dirty="0">
              <a:solidFill>
                <a:schemeClr val="tx1"/>
              </a:solidFill>
            </a:endParaRPr>
          </a:p>
          <a:p>
            <a:r>
              <a:rPr lang="en-US" altLang="zh-CN" sz="2600" dirty="0">
                <a:solidFill>
                  <a:schemeClr val="tx1"/>
                </a:solidFill>
              </a:rPr>
              <a:t>void  swap( void  *p1, void  *p2, int  </a:t>
            </a:r>
            <a:r>
              <a:rPr lang="en-US" altLang="zh-CN" sz="2600" dirty="0" err="1">
                <a:solidFill>
                  <a:schemeClr val="tx1"/>
                </a:solidFill>
              </a:rPr>
              <a:t>elemNumber</a:t>
            </a:r>
            <a:r>
              <a:rPr lang="en-US" altLang="zh-CN" sz="2600" dirty="0">
                <a:solidFill>
                  <a:schemeClr val="tx1"/>
                </a:solidFill>
              </a:rPr>
              <a:t>)</a:t>
            </a:r>
          </a:p>
          <a:p>
            <a:r>
              <a:rPr lang="en-US" altLang="zh-CN" sz="2600" dirty="0">
                <a:solidFill>
                  <a:schemeClr val="tx1"/>
                </a:solidFill>
              </a:rPr>
              <a:t>{</a:t>
            </a:r>
          </a:p>
          <a:p>
            <a:r>
              <a:rPr lang="en-US" altLang="zh-CN" sz="2600" dirty="0">
                <a:solidFill>
                  <a:schemeClr val="tx1"/>
                </a:solidFill>
              </a:rPr>
              <a:t>	char  *first=(char *)p1, *second=(char *)p2, temp;</a:t>
            </a:r>
          </a:p>
          <a:p>
            <a:endParaRPr lang="en-US" altLang="zh-CN" sz="2600" dirty="0">
              <a:solidFill>
                <a:schemeClr val="tx1"/>
              </a:solidFill>
            </a:endParaRPr>
          </a:p>
          <a:p>
            <a:r>
              <a:rPr lang="en-US" altLang="zh-CN" sz="2600" dirty="0">
                <a:solidFill>
                  <a:schemeClr val="tx1"/>
                </a:solidFill>
              </a:rPr>
              <a:t>	for(int k=0;k&lt;</a:t>
            </a:r>
            <a:r>
              <a:rPr lang="en-US" altLang="zh-CN" sz="2600" dirty="0" err="1">
                <a:solidFill>
                  <a:schemeClr val="tx1"/>
                </a:solidFill>
              </a:rPr>
              <a:t>elemNumber;k</a:t>
            </a:r>
            <a:r>
              <a:rPr lang="en-US" altLang="zh-CN" sz="2600" dirty="0">
                <a:solidFill>
                  <a:schemeClr val="tx1"/>
                </a:solidFill>
              </a:rPr>
              <a:t>++)</a:t>
            </a:r>
          </a:p>
          <a:p>
            <a:r>
              <a:rPr lang="en-US" altLang="zh-CN" sz="2600" dirty="0">
                <a:solidFill>
                  <a:schemeClr val="tx1"/>
                </a:solidFill>
              </a:rPr>
              <a:t>	{ </a:t>
            </a:r>
          </a:p>
          <a:p>
            <a:r>
              <a:rPr lang="en-US" altLang="zh-CN" sz="2600" dirty="0">
                <a:solidFill>
                  <a:schemeClr val="tx1"/>
                </a:solidFill>
              </a:rPr>
              <a:t>		temp=first[k];</a:t>
            </a:r>
          </a:p>
          <a:p>
            <a:r>
              <a:rPr lang="en-US" altLang="zh-CN" sz="2600" dirty="0">
                <a:solidFill>
                  <a:schemeClr val="tx1"/>
                </a:solidFill>
              </a:rPr>
              <a:t>		first[k]=second[k];</a:t>
            </a:r>
          </a:p>
          <a:p>
            <a:r>
              <a:rPr lang="en-US" altLang="zh-CN" sz="2600" dirty="0">
                <a:solidFill>
                  <a:schemeClr val="tx1"/>
                </a:solidFill>
              </a:rPr>
              <a:t>		second[k]=temp;</a:t>
            </a:r>
          </a:p>
          <a:p>
            <a:r>
              <a:rPr lang="en-US" altLang="zh-CN" sz="2600" dirty="0">
                <a:solidFill>
                  <a:schemeClr val="tx1"/>
                </a:solidFill>
              </a:rPr>
              <a:t>	}</a:t>
            </a:r>
          </a:p>
          <a:p>
            <a:r>
              <a:rPr lang="en-US" altLang="zh-CN" sz="2600" dirty="0">
                <a:solidFill>
                  <a:schemeClr val="tx1"/>
                </a:solidFill>
              </a:rPr>
              <a:t>}</a:t>
            </a:r>
            <a:endParaRPr lang="zh-CN" altLang="en-US" sz="2600" dirty="0">
              <a:solidFill>
                <a:schemeClr val="tx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67585"/>
          <p:cNvSpPr>
            <a:spLocks noGrp="1" noChangeArrowheads="1"/>
          </p:cNvSpPr>
          <p:nvPr>
            <p:ph type="title"/>
          </p:nvPr>
        </p:nvSpPr>
        <p:spPr>
          <a:xfrm>
            <a:off x="2495600" y="427038"/>
            <a:ext cx="10515600" cy="1325563"/>
          </a:xfrm>
        </p:spPr>
        <p:txBody>
          <a:bodyPr/>
          <a:lstStyle/>
          <a:p>
            <a:r>
              <a:rPr lang="en-US" altLang="zh-CN" dirty="0"/>
              <a:t>7.7.2 const</a:t>
            </a:r>
            <a:r>
              <a:rPr lang="zh-CN" altLang="en-US" dirty="0"/>
              <a:t>修饰指针 </a:t>
            </a:r>
          </a:p>
        </p:txBody>
      </p:sp>
      <p:sp>
        <p:nvSpPr>
          <p:cNvPr id="51203" name="文本占位符 67586"/>
          <p:cNvSpPr>
            <a:spLocks noGrp="1" noChangeArrowheads="1"/>
          </p:cNvSpPr>
          <p:nvPr>
            <p:ph idx="1"/>
          </p:nvPr>
        </p:nvSpPr>
        <p:spPr>
          <a:xfrm>
            <a:off x="1981200" y="1752601"/>
            <a:ext cx="8153400" cy="4556125"/>
          </a:xfrm>
        </p:spPr>
        <p:txBody>
          <a:bodyPr>
            <a:normAutofit/>
          </a:bodyPr>
          <a:lstStyle/>
          <a:p>
            <a:pPr>
              <a:lnSpc>
                <a:spcPct val="100000"/>
              </a:lnSpc>
            </a:pPr>
            <a:r>
              <a:rPr lang="en-US" altLang="zh-CN" dirty="0"/>
              <a:t>1</a:t>
            </a:r>
            <a:r>
              <a:rPr lang="zh-CN" altLang="en-US" dirty="0"/>
              <a:t>．</a:t>
            </a:r>
            <a:r>
              <a:rPr lang="zh-CN" altLang="en-US" b="1" i="1" dirty="0">
                <a:solidFill>
                  <a:srgbClr val="FF0000"/>
                </a:solidFill>
              </a:rPr>
              <a:t>常量</a:t>
            </a:r>
            <a:r>
              <a:rPr lang="zh-CN" altLang="en-US" dirty="0">
                <a:solidFill>
                  <a:srgbClr val="FF0000"/>
                </a:solidFill>
              </a:rPr>
              <a:t>指针</a:t>
            </a:r>
            <a:r>
              <a:rPr lang="zh-CN" altLang="en-US" dirty="0"/>
              <a:t>：</a:t>
            </a:r>
            <a:r>
              <a:rPr lang="zh-CN" altLang="en-US" b="1" dirty="0"/>
              <a:t>指针的指向可以修改，但是指针指向的值不可以修改</a:t>
            </a:r>
            <a:r>
              <a:rPr lang="zh-CN" altLang="en-US" dirty="0"/>
              <a:t>，例如：</a:t>
            </a:r>
          </a:p>
          <a:p>
            <a:pPr>
              <a:lnSpc>
                <a:spcPct val="100000"/>
              </a:lnSpc>
              <a:buFontTx/>
              <a:buNone/>
            </a:pPr>
            <a:r>
              <a:rPr lang="zh-CN" altLang="en-US" dirty="0"/>
              <a:t>   	</a:t>
            </a:r>
            <a:r>
              <a:rPr lang="en-US" altLang="zh-CN" dirty="0"/>
              <a:t>int i=6;</a:t>
            </a:r>
          </a:p>
          <a:p>
            <a:pPr>
              <a:lnSpc>
                <a:spcPct val="100000"/>
              </a:lnSpc>
              <a:buFontTx/>
              <a:buNone/>
            </a:pPr>
            <a:r>
              <a:rPr lang="en-US" altLang="zh-CN" dirty="0"/>
              <a:t>   	</a:t>
            </a:r>
            <a:r>
              <a:rPr lang="en-US" altLang="zh-CN" dirty="0">
                <a:solidFill>
                  <a:srgbClr val="7030A0"/>
                </a:solidFill>
              </a:rPr>
              <a:t>const int *</a:t>
            </a:r>
            <a:r>
              <a:rPr lang="en-US" altLang="zh-CN" dirty="0"/>
              <a:t>p1=&amp;i;</a:t>
            </a:r>
          </a:p>
          <a:p>
            <a:pPr>
              <a:lnSpc>
                <a:spcPct val="100000"/>
              </a:lnSpc>
              <a:buFontTx/>
              <a:buNone/>
            </a:pPr>
            <a:r>
              <a:rPr lang="en-US" altLang="zh-CN" dirty="0"/>
              <a:t>   	const int m=30;	</a:t>
            </a:r>
          </a:p>
          <a:p>
            <a:pPr>
              <a:lnSpc>
                <a:spcPct val="100000"/>
              </a:lnSpc>
              <a:buFontTx/>
              <a:buNone/>
            </a:pPr>
            <a:r>
              <a:rPr lang="en-US" altLang="zh-CN" dirty="0"/>
              <a:t>   	const int *p2=&amp;m;</a:t>
            </a:r>
          </a:p>
          <a:p>
            <a:pPr>
              <a:lnSpc>
                <a:spcPct val="100000"/>
              </a:lnSpc>
              <a:buFontTx/>
              <a:buNone/>
            </a:pPr>
            <a:r>
              <a:rPr lang="en-US" altLang="zh-CN" dirty="0"/>
              <a:t>   	*p1=16;	</a:t>
            </a:r>
            <a:r>
              <a:rPr lang="en-US" altLang="zh-CN" dirty="0">
                <a:solidFill>
                  <a:srgbClr val="FF0000"/>
                </a:solidFill>
              </a:rPr>
              <a:t>//</a:t>
            </a:r>
            <a:r>
              <a:rPr lang="zh-CN" altLang="en-US" dirty="0">
                <a:solidFill>
                  <a:srgbClr val="FF0000"/>
                </a:solidFill>
              </a:rPr>
              <a:t>错误</a:t>
            </a:r>
          </a:p>
          <a:p>
            <a:pPr>
              <a:lnSpc>
                <a:spcPct val="100000"/>
              </a:lnSpc>
              <a:buFontTx/>
              <a:buNone/>
            </a:pPr>
            <a:r>
              <a:rPr lang="zh-CN" altLang="en-US" dirty="0"/>
              <a:t>   	</a:t>
            </a:r>
            <a:r>
              <a:rPr lang="en-US" altLang="zh-CN" dirty="0"/>
              <a:t>p1=&amp;m;	</a:t>
            </a:r>
            <a:r>
              <a:rPr lang="en-US" altLang="zh-CN" dirty="0">
                <a:solidFill>
                  <a:srgbClr val="FF0000"/>
                </a:solidFill>
              </a:rPr>
              <a:t>//</a:t>
            </a:r>
            <a:r>
              <a:rPr lang="zh-CN" altLang="en-US" dirty="0">
                <a:solidFill>
                  <a:srgbClr val="FF0000"/>
                </a:solidFill>
              </a:rPr>
              <a:t>正确</a:t>
            </a:r>
          </a:p>
        </p:txBody>
      </p:sp>
      <p:sp>
        <p:nvSpPr>
          <p:cNvPr id="51201"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D5B519C7-4786-4A62-9942-C6AB1DAE1226}" type="slidenum">
              <a:rPr lang="zh-CN" altLang="en-US" smtClean="0"/>
              <a:t>56</a:t>
            </a:fld>
            <a:endParaRPr lang="zh-CN" altLang="en-US"/>
          </a:p>
        </p:txBody>
      </p:sp>
      <p:pic>
        <p:nvPicPr>
          <p:cNvPr id="5" name="图形 2" descr="打开的书">
            <a:extLst>
              <a:ext uri="{FF2B5EF4-FFF2-40B4-BE49-F238E27FC236}">
                <a16:creationId xmlns:a16="http://schemas.microsoft.com/office/drawing/2014/main" id="{2C3C42D4-26A3-48AC-87C3-FC4C1DD2D126}"/>
              </a:ext>
            </a:extLst>
          </p:cNvPr>
          <p:cNvPicPr>
            <a:picLocks noChangeAspect="1"/>
          </p:cNvPicPr>
          <p:nvPr/>
        </p:nvPicPr>
        <p:blipFill>
          <a:blip r:embed="rId2"/>
          <a:stretch>
            <a:fillRect/>
          </a:stretch>
        </p:blipFill>
        <p:spPr>
          <a:xfrm>
            <a:off x="1105633" y="548443"/>
            <a:ext cx="914400" cy="9144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68609"/>
          <p:cNvSpPr>
            <a:spLocks noGrp="1" noChangeArrowheads="1"/>
          </p:cNvSpPr>
          <p:nvPr>
            <p:ph type="title"/>
          </p:nvPr>
        </p:nvSpPr>
        <p:spPr/>
        <p:txBody>
          <a:bodyPr/>
          <a:lstStyle/>
          <a:p>
            <a:r>
              <a:rPr lang="en-US" altLang="zh-CN" dirty="0"/>
              <a:t>7.7.2 const</a:t>
            </a:r>
            <a:r>
              <a:rPr lang="zh-CN" altLang="en-US" dirty="0"/>
              <a:t>修饰指针 </a:t>
            </a:r>
          </a:p>
        </p:txBody>
      </p:sp>
      <p:sp>
        <p:nvSpPr>
          <p:cNvPr id="52227" name="文本占位符 68610"/>
          <p:cNvSpPr>
            <a:spLocks noGrp="1" noChangeArrowheads="1"/>
          </p:cNvSpPr>
          <p:nvPr>
            <p:ph idx="1"/>
          </p:nvPr>
        </p:nvSpPr>
        <p:spPr>
          <a:xfrm>
            <a:off x="983432" y="1745456"/>
            <a:ext cx="10595520" cy="4556125"/>
          </a:xfrm>
        </p:spPr>
        <p:txBody>
          <a:bodyPr/>
          <a:lstStyle/>
          <a:p>
            <a:r>
              <a:rPr lang="en-US" altLang="zh-CN" dirty="0"/>
              <a:t>2</a:t>
            </a:r>
            <a:r>
              <a:rPr lang="zh-CN" altLang="en-US" dirty="0"/>
              <a:t>．</a:t>
            </a:r>
            <a:r>
              <a:rPr lang="zh-CN" altLang="en-US" b="1" i="1" dirty="0">
                <a:solidFill>
                  <a:srgbClr val="FF0000"/>
                </a:solidFill>
              </a:rPr>
              <a:t>指针</a:t>
            </a:r>
            <a:r>
              <a:rPr lang="zh-CN" altLang="en-US" dirty="0">
                <a:solidFill>
                  <a:srgbClr val="FF0000"/>
                </a:solidFill>
              </a:rPr>
              <a:t>常量：</a:t>
            </a:r>
            <a:r>
              <a:rPr lang="zh-CN" altLang="en-US" b="1" dirty="0"/>
              <a:t>指针的指向不可以修改，指针指向的内存的值可以修改</a:t>
            </a:r>
            <a:r>
              <a:rPr lang="zh-CN" altLang="en-US" dirty="0"/>
              <a:t>，例如：</a:t>
            </a:r>
          </a:p>
          <a:p>
            <a:pPr>
              <a:buFontTx/>
              <a:buNone/>
            </a:pPr>
            <a:r>
              <a:rPr lang="zh-CN" altLang="en-US" dirty="0"/>
              <a:t>   	 </a:t>
            </a:r>
            <a:r>
              <a:rPr lang="en-US" altLang="zh-CN" dirty="0"/>
              <a:t>char  stringA[10]="abcd", </a:t>
            </a:r>
            <a:r>
              <a:rPr lang="en-US" altLang="zh-CN" dirty="0" err="1"/>
              <a:t>stringB</a:t>
            </a:r>
            <a:r>
              <a:rPr lang="en-US" altLang="zh-CN" dirty="0"/>
              <a:t>[10]="xyz"; 	</a:t>
            </a:r>
          </a:p>
          <a:p>
            <a:pPr>
              <a:buFontTx/>
              <a:buNone/>
            </a:pPr>
            <a:r>
              <a:rPr lang="en-US" altLang="zh-CN" dirty="0">
                <a:solidFill>
                  <a:srgbClr val="7030A0"/>
                </a:solidFill>
              </a:rPr>
              <a:t>            char  *const  </a:t>
            </a:r>
            <a:r>
              <a:rPr lang="en-US" altLang="zh-CN" dirty="0"/>
              <a:t>sp=stringA;	</a:t>
            </a:r>
          </a:p>
          <a:p>
            <a:pPr>
              <a:buFontTx/>
              <a:buNone/>
            </a:pPr>
            <a:r>
              <a:rPr lang="en-US" altLang="zh-CN" dirty="0"/>
              <a:t>   	</a:t>
            </a:r>
            <a:r>
              <a:rPr lang="en-US" altLang="zh-CN" dirty="0" err="1"/>
              <a:t>sp</a:t>
            </a:r>
            <a:r>
              <a:rPr lang="en-US" altLang="zh-CN" dirty="0"/>
              <a:t> = stringB;	</a:t>
            </a:r>
            <a:r>
              <a:rPr lang="en-US" altLang="zh-CN" dirty="0">
                <a:solidFill>
                  <a:srgbClr val="FF0000"/>
                </a:solidFill>
              </a:rPr>
              <a:t>//</a:t>
            </a:r>
            <a:r>
              <a:rPr lang="zh-CN" altLang="en-US" dirty="0">
                <a:solidFill>
                  <a:srgbClr val="FF0000"/>
                </a:solidFill>
              </a:rPr>
              <a:t>错误</a:t>
            </a:r>
            <a:endParaRPr lang="zh-CN" altLang="en-US" dirty="0"/>
          </a:p>
          <a:p>
            <a:pPr>
              <a:buFontTx/>
              <a:buNone/>
            </a:pPr>
            <a:r>
              <a:rPr lang="zh-CN" altLang="en-US" dirty="0"/>
              <a:t>   	*</a:t>
            </a:r>
            <a:r>
              <a:rPr lang="en-US" altLang="zh-CN" dirty="0"/>
              <a:t>(sp+1)='t';					</a:t>
            </a:r>
          </a:p>
          <a:p>
            <a:pPr>
              <a:buFontTx/>
              <a:buNone/>
            </a:pPr>
            <a:r>
              <a:rPr lang="en-US" altLang="zh-CN" dirty="0"/>
              <a:t>   	</a:t>
            </a:r>
            <a:r>
              <a:rPr lang="en-US" altLang="zh-CN" dirty="0" err="1"/>
              <a:t>cout</a:t>
            </a:r>
            <a:r>
              <a:rPr lang="en-US" altLang="zh-CN" dirty="0"/>
              <a:t>&lt;&lt;"stringA="&lt;&lt;sp&lt;&lt;endl;</a:t>
            </a:r>
            <a:endParaRPr lang="zh-CN" altLang="en-US" dirty="0"/>
          </a:p>
        </p:txBody>
      </p:sp>
      <p:sp>
        <p:nvSpPr>
          <p:cNvPr id="52225"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8FF224C3-3F56-4741-A8A7-804FB313EDD0}" type="slidenum">
              <a:rPr lang="zh-CN" altLang="en-US" smtClean="0"/>
              <a:t>57</a:t>
            </a:fld>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69633"/>
          <p:cNvSpPr>
            <a:spLocks noGrp="1" noChangeArrowheads="1"/>
          </p:cNvSpPr>
          <p:nvPr>
            <p:ph type="title"/>
          </p:nvPr>
        </p:nvSpPr>
        <p:spPr/>
        <p:txBody>
          <a:bodyPr/>
          <a:lstStyle/>
          <a:p>
            <a:r>
              <a:rPr lang="en-US" altLang="zh-CN" dirty="0"/>
              <a:t>7.7.2 const</a:t>
            </a:r>
            <a:r>
              <a:rPr lang="zh-CN" altLang="en-US" dirty="0"/>
              <a:t>修饰指针 </a:t>
            </a:r>
          </a:p>
        </p:txBody>
      </p:sp>
      <p:sp>
        <p:nvSpPr>
          <p:cNvPr id="53251" name="文本占位符 69634"/>
          <p:cNvSpPr>
            <a:spLocks noGrp="1" noChangeArrowheads="1"/>
          </p:cNvSpPr>
          <p:nvPr>
            <p:ph idx="1"/>
          </p:nvPr>
        </p:nvSpPr>
        <p:spPr>
          <a:xfrm>
            <a:off x="1199456" y="1752601"/>
            <a:ext cx="8935144" cy="4556125"/>
          </a:xfrm>
        </p:spPr>
        <p:txBody>
          <a:bodyPr/>
          <a:lstStyle/>
          <a:p>
            <a:r>
              <a:rPr lang="en-US" altLang="zh-CN" dirty="0"/>
              <a:t>3</a:t>
            </a:r>
            <a:r>
              <a:rPr lang="zh-CN" altLang="en-US" dirty="0"/>
              <a:t>．</a:t>
            </a:r>
            <a:r>
              <a:rPr lang="zh-CN" altLang="en-US" b="1" i="1" dirty="0">
                <a:solidFill>
                  <a:srgbClr val="FF0000"/>
                </a:solidFill>
              </a:rPr>
              <a:t>指向常量的常指针</a:t>
            </a:r>
            <a:r>
              <a:rPr lang="zh-CN" altLang="en-US" dirty="0"/>
              <a:t>，不可以通过这种指针变量修改所指的内容，也不可以改变指针的指向，例如：</a:t>
            </a:r>
          </a:p>
          <a:p>
            <a:pPr>
              <a:buFontTx/>
              <a:buNone/>
            </a:pPr>
            <a:r>
              <a:rPr lang="zh-CN" altLang="en-US" dirty="0"/>
              <a:t>		</a:t>
            </a:r>
            <a:r>
              <a:rPr lang="en-US" altLang="zh-CN" dirty="0"/>
              <a:t>int  i=100,  j=200;</a:t>
            </a:r>
          </a:p>
          <a:p>
            <a:pPr>
              <a:buFontTx/>
              <a:buNone/>
            </a:pPr>
            <a:r>
              <a:rPr lang="en-US" altLang="zh-CN" dirty="0"/>
              <a:t>		</a:t>
            </a:r>
            <a:r>
              <a:rPr lang="en-US" altLang="zh-CN" b="1" dirty="0">
                <a:solidFill>
                  <a:srgbClr val="7030A0"/>
                </a:solidFill>
              </a:rPr>
              <a:t>const  int  * const </a:t>
            </a:r>
            <a:r>
              <a:rPr lang="en-US" altLang="zh-CN" dirty="0"/>
              <a:t> p=&amp;i;	 </a:t>
            </a:r>
          </a:p>
          <a:p>
            <a:pPr>
              <a:buFontTx/>
              <a:buNone/>
            </a:pPr>
            <a:r>
              <a:rPr lang="en-US" altLang="zh-CN" dirty="0"/>
              <a:t>		i=20;		</a:t>
            </a:r>
            <a:r>
              <a:rPr lang="en-US" altLang="zh-CN" dirty="0">
                <a:solidFill>
                  <a:srgbClr val="FF0000"/>
                </a:solidFill>
              </a:rPr>
              <a:t>// </a:t>
            </a:r>
            <a:r>
              <a:rPr lang="zh-CN" altLang="en-US" dirty="0">
                <a:solidFill>
                  <a:srgbClr val="FF0000"/>
                </a:solidFill>
              </a:rPr>
              <a:t>正确</a:t>
            </a:r>
          </a:p>
          <a:p>
            <a:pPr>
              <a:buFontTx/>
              <a:buNone/>
            </a:pPr>
            <a:r>
              <a:rPr lang="zh-CN" altLang="en-US" dirty="0"/>
              <a:t>		*</a:t>
            </a:r>
            <a:r>
              <a:rPr lang="en-US" altLang="zh-CN" dirty="0"/>
              <a:t>p=0;		</a:t>
            </a:r>
            <a:r>
              <a:rPr lang="zh-CN" altLang="en-US" dirty="0">
                <a:solidFill>
                  <a:srgbClr val="FF0000"/>
                </a:solidFill>
              </a:rPr>
              <a:t>// 错误</a:t>
            </a:r>
            <a:endParaRPr lang="zh-CN" altLang="en-US" dirty="0"/>
          </a:p>
          <a:p>
            <a:pPr algn="l">
              <a:buClrTx/>
              <a:buSzTx/>
              <a:buFontTx/>
              <a:buNone/>
            </a:pPr>
            <a:r>
              <a:rPr lang="zh-CN" altLang="en-US" dirty="0"/>
              <a:t>     	</a:t>
            </a:r>
            <a:r>
              <a:rPr lang="en-US" altLang="zh-CN" dirty="0"/>
              <a:t>p=&amp;j;	</a:t>
            </a:r>
            <a:r>
              <a:rPr lang="zh-CN" altLang="en-US" dirty="0">
                <a:solidFill>
                  <a:srgbClr val="FF0000"/>
                </a:solidFill>
              </a:rPr>
              <a:t>// 错误</a:t>
            </a:r>
          </a:p>
        </p:txBody>
      </p:sp>
      <p:sp>
        <p:nvSpPr>
          <p:cNvPr id="53249"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31F829E3-565B-4B81-8DD2-5B448BC7031C}" type="slidenum">
              <a:rPr lang="zh-CN" altLang="en-US" smtClean="0"/>
              <a:t>58</a:t>
            </a:fld>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70657"/>
          <p:cNvSpPr>
            <a:spLocks noGrp="1" noChangeArrowheads="1"/>
          </p:cNvSpPr>
          <p:nvPr>
            <p:ph type="title"/>
          </p:nvPr>
        </p:nvSpPr>
        <p:spPr/>
        <p:txBody>
          <a:bodyPr/>
          <a:lstStyle/>
          <a:p>
            <a:r>
              <a:rPr lang="en-US" altLang="zh-CN" dirty="0"/>
              <a:t>7.8 </a:t>
            </a:r>
            <a:r>
              <a:rPr lang="zh-CN" altLang="en-US" dirty="0"/>
              <a:t>对容易混淆概念的总结 </a:t>
            </a:r>
          </a:p>
        </p:txBody>
      </p:sp>
      <p:sp>
        <p:nvSpPr>
          <p:cNvPr id="54273"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2737CE8D-89F9-4889-BF8D-A8D1FB0640CD}" type="slidenum">
              <a:rPr lang="zh-CN" altLang="en-US" smtClean="0"/>
              <a:t>59</a:t>
            </a:fld>
            <a:endParaRPr lang="zh-CN" altLang="en-US"/>
          </a:p>
        </p:txBody>
      </p:sp>
      <p:sp>
        <p:nvSpPr>
          <p:cNvPr id="54275" name="文本框 70659"/>
          <p:cNvSpPr txBox="1">
            <a:spLocks noChangeArrowheads="1"/>
          </p:cNvSpPr>
          <p:nvPr/>
        </p:nvSpPr>
        <p:spPr bwMode="auto">
          <a:xfrm>
            <a:off x="1919289" y="1916114"/>
            <a:ext cx="8353425" cy="406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600" dirty="0">
                <a:solidFill>
                  <a:srgbClr val="FF0000"/>
                </a:solidFill>
              </a:rPr>
              <a:t>1. int *p;  </a:t>
            </a:r>
          </a:p>
          <a:p>
            <a:r>
              <a:rPr lang="en-US" altLang="zh-CN" sz="2600" dirty="0">
                <a:solidFill>
                  <a:schemeClr val="tx1"/>
                </a:solidFill>
              </a:rPr>
              <a:t>    p</a:t>
            </a:r>
            <a:r>
              <a:rPr lang="zh-CN" altLang="en-US" sz="2600" dirty="0">
                <a:solidFill>
                  <a:schemeClr val="tx1"/>
                </a:solidFill>
              </a:rPr>
              <a:t>是一个指向整型量的一般指针。</a:t>
            </a:r>
          </a:p>
          <a:p>
            <a:r>
              <a:rPr lang="zh-CN" altLang="en-US" sz="2600" dirty="0">
                <a:solidFill>
                  <a:schemeClr val="tx1"/>
                </a:solidFill>
              </a:rPr>
              <a:t>	</a:t>
            </a:r>
            <a:r>
              <a:rPr lang="en-US" altLang="zh-CN" sz="2600" dirty="0">
                <a:solidFill>
                  <a:schemeClr val="tx1"/>
                </a:solidFill>
              </a:rPr>
              <a:t>int  i, a[10], b[3][4], *p;</a:t>
            </a:r>
          </a:p>
          <a:p>
            <a:r>
              <a:rPr lang="en-US" altLang="zh-CN" sz="2600" dirty="0">
                <a:solidFill>
                  <a:schemeClr val="tx1"/>
                </a:solidFill>
              </a:rPr>
              <a:t>	p=&amp;i;        	// p</a:t>
            </a:r>
            <a:r>
              <a:rPr lang="zh-CN" altLang="en-US" sz="2600" dirty="0">
                <a:solidFill>
                  <a:schemeClr val="tx1"/>
                </a:solidFill>
              </a:rPr>
              <a:t>指向简单整型变量 </a:t>
            </a:r>
          </a:p>
          <a:p>
            <a:r>
              <a:rPr lang="zh-CN" altLang="en-US" sz="2600" dirty="0">
                <a:solidFill>
                  <a:schemeClr val="tx1"/>
                </a:solidFill>
              </a:rPr>
              <a:t>	</a:t>
            </a:r>
            <a:r>
              <a:rPr lang="en-US" altLang="zh-CN" sz="2600" dirty="0">
                <a:solidFill>
                  <a:schemeClr val="tx1"/>
                </a:solidFill>
              </a:rPr>
              <a:t>p=&amp;a[3];    	// p</a:t>
            </a:r>
            <a:r>
              <a:rPr lang="zh-CN" altLang="en-US" sz="2600" dirty="0">
                <a:solidFill>
                  <a:schemeClr val="tx1"/>
                </a:solidFill>
              </a:rPr>
              <a:t>指向一个元素 </a:t>
            </a:r>
          </a:p>
          <a:p>
            <a:r>
              <a:rPr lang="zh-CN" altLang="en-US" sz="2600" dirty="0">
                <a:solidFill>
                  <a:schemeClr val="tx1"/>
                </a:solidFill>
              </a:rPr>
              <a:t>	</a:t>
            </a:r>
            <a:r>
              <a:rPr lang="en-US" altLang="zh-CN" sz="2600" dirty="0">
                <a:solidFill>
                  <a:schemeClr val="tx1"/>
                </a:solidFill>
              </a:rPr>
              <a:t>p=&amp;b[2][3];	// p</a:t>
            </a:r>
            <a:r>
              <a:rPr lang="zh-CN" altLang="en-US" sz="2600" dirty="0">
                <a:solidFill>
                  <a:schemeClr val="tx1"/>
                </a:solidFill>
              </a:rPr>
              <a:t>指向一个元素   </a:t>
            </a:r>
          </a:p>
          <a:p>
            <a:r>
              <a:rPr lang="zh-CN" altLang="en-US" sz="2600" dirty="0">
                <a:solidFill>
                  <a:schemeClr val="tx1"/>
                </a:solidFill>
              </a:rPr>
              <a:t>	</a:t>
            </a:r>
            <a:r>
              <a:rPr lang="en-US" altLang="zh-CN" sz="2600" dirty="0">
                <a:solidFill>
                  <a:schemeClr val="tx1"/>
                </a:solidFill>
              </a:rPr>
              <a:t>p=a;</a:t>
            </a:r>
          </a:p>
          <a:p>
            <a:r>
              <a:rPr lang="en-US" altLang="zh-CN" sz="2600" dirty="0">
                <a:solidFill>
                  <a:schemeClr val="tx1"/>
                </a:solidFill>
              </a:rPr>
              <a:t>	p++;        	// </a:t>
            </a:r>
            <a:r>
              <a:rPr lang="zh-CN" altLang="en-US" sz="2600" dirty="0">
                <a:solidFill>
                  <a:schemeClr val="tx1"/>
                </a:solidFill>
              </a:rPr>
              <a:t>正确 </a:t>
            </a:r>
          </a:p>
          <a:p>
            <a:r>
              <a:rPr lang="zh-CN" altLang="en-US" sz="2600" dirty="0">
                <a:solidFill>
                  <a:schemeClr val="tx1"/>
                </a:solidFill>
              </a:rPr>
              <a:t>	</a:t>
            </a:r>
            <a:r>
              <a:rPr lang="en-US" altLang="zh-CN" sz="2600" dirty="0">
                <a:solidFill>
                  <a:srgbClr val="7030A0"/>
                </a:solidFill>
              </a:rPr>
              <a:t>a++;        	// </a:t>
            </a:r>
            <a:r>
              <a:rPr lang="zh-CN" altLang="en-US" sz="2600" dirty="0">
                <a:solidFill>
                  <a:srgbClr val="7030A0"/>
                </a:solidFill>
              </a:rPr>
              <a:t>错误 </a:t>
            </a:r>
          </a:p>
          <a:p>
            <a:r>
              <a:rPr lang="zh-CN" altLang="en-US" sz="2600" dirty="0">
                <a:solidFill>
                  <a:schemeClr val="tx1"/>
                </a:solidFill>
              </a:rPr>
              <a:t>	</a:t>
            </a:r>
            <a:r>
              <a:rPr lang="en-US" altLang="zh-CN" sz="2600" dirty="0">
                <a:solidFill>
                  <a:schemeClr val="tx1"/>
                </a:solidFill>
              </a:rPr>
              <a:t>++*p         	// </a:t>
            </a:r>
            <a:r>
              <a:rPr lang="zh-CN" altLang="en-US" sz="2600" dirty="0">
                <a:solidFill>
                  <a:schemeClr val="tx1"/>
                </a:solidFill>
              </a:rPr>
              <a:t>将</a:t>
            </a:r>
            <a:r>
              <a:rPr lang="en-US" altLang="zh-CN" sz="2600" dirty="0">
                <a:solidFill>
                  <a:schemeClr val="tx1"/>
                </a:solidFill>
              </a:rPr>
              <a:t>p</a:t>
            </a:r>
            <a:r>
              <a:rPr lang="zh-CN" altLang="en-US" sz="2600" dirty="0">
                <a:solidFill>
                  <a:schemeClr val="tx1"/>
                </a:solidFill>
              </a:rPr>
              <a:t>指向的变量值加</a:t>
            </a:r>
            <a:r>
              <a:rPr lang="en-US" altLang="zh-CN" sz="2600" dirty="0">
                <a:solidFill>
                  <a:schemeClr val="tx1"/>
                </a:solidFill>
              </a:rPr>
              <a:t>1 </a:t>
            </a:r>
            <a:endParaRPr lang="zh-CN" altLang="en-US" sz="2600" dirty="0">
              <a:solidFill>
                <a:schemeClr val="tx1"/>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71681"/>
          <p:cNvSpPr>
            <a:spLocks noGrp="1" noChangeArrowheads="1"/>
          </p:cNvSpPr>
          <p:nvPr>
            <p:ph type="title"/>
          </p:nvPr>
        </p:nvSpPr>
        <p:spPr/>
        <p:txBody>
          <a:bodyPr/>
          <a:lstStyle/>
          <a:p>
            <a:r>
              <a:rPr lang="en-US" altLang="zh-CN" dirty="0">
                <a:solidFill>
                  <a:schemeClr val="tx1"/>
                </a:solidFill>
              </a:rPr>
              <a:t>7.8 </a:t>
            </a:r>
            <a:r>
              <a:rPr lang="zh-CN" altLang="en-US" dirty="0">
                <a:solidFill>
                  <a:schemeClr val="tx1"/>
                </a:solidFill>
              </a:rPr>
              <a:t>对容易混淆概念的总结 </a:t>
            </a:r>
          </a:p>
        </p:txBody>
      </p:sp>
      <p:sp>
        <p:nvSpPr>
          <p:cNvPr id="55297"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FAEB4529-A958-49F2-BA29-AEF78A47C65A}" type="slidenum">
              <a:rPr lang="zh-CN" altLang="en-US" smtClean="0"/>
              <a:t>60</a:t>
            </a:fld>
            <a:endParaRPr lang="zh-CN" altLang="en-US"/>
          </a:p>
        </p:txBody>
      </p:sp>
      <p:sp>
        <p:nvSpPr>
          <p:cNvPr id="55299" name="文本框 71682"/>
          <p:cNvSpPr txBox="1">
            <a:spLocks noChangeArrowheads="1"/>
          </p:cNvSpPr>
          <p:nvPr/>
        </p:nvSpPr>
        <p:spPr bwMode="auto">
          <a:xfrm>
            <a:off x="1919289" y="1916114"/>
            <a:ext cx="8353425" cy="449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600" dirty="0">
                <a:solidFill>
                  <a:srgbClr val="FF0000"/>
                </a:solidFill>
              </a:rPr>
              <a:t>2. int (*p)[M]; </a:t>
            </a:r>
            <a:r>
              <a:rPr lang="en-US" altLang="zh-CN" sz="2600">
                <a:solidFill>
                  <a:schemeClr val="tx1"/>
                </a:solidFill>
              </a:rPr>
              <a:t>        // p</a:t>
            </a:r>
            <a:r>
              <a:rPr lang="zh-CN" altLang="en-US" sz="2600">
                <a:solidFill>
                  <a:schemeClr val="tx1"/>
                </a:solidFill>
              </a:rPr>
              <a:t>是一个行指针。</a:t>
            </a:r>
          </a:p>
          <a:p>
            <a:r>
              <a:rPr lang="zh-CN" altLang="en-US" sz="2600">
                <a:solidFill>
                  <a:schemeClr val="tx1"/>
                </a:solidFill>
              </a:rPr>
              <a:t>	</a:t>
            </a:r>
            <a:r>
              <a:rPr lang="en-US" altLang="zh-CN" sz="2600">
                <a:solidFill>
                  <a:schemeClr val="tx1"/>
                </a:solidFill>
              </a:rPr>
              <a:t>int  a[3][4], (*p)[4];</a:t>
            </a:r>
          </a:p>
          <a:p>
            <a:r>
              <a:rPr lang="en-US" altLang="zh-CN" sz="2600">
                <a:solidFill>
                  <a:schemeClr val="tx1"/>
                </a:solidFill>
              </a:rPr>
              <a:t>	p=a;</a:t>
            </a:r>
          </a:p>
          <a:p>
            <a:r>
              <a:rPr lang="en-US" altLang="zh-CN" sz="2600">
                <a:solidFill>
                  <a:schemeClr val="tx1"/>
                </a:solidFill>
              </a:rPr>
              <a:t>	p++;   	// p</a:t>
            </a:r>
            <a:r>
              <a:rPr lang="zh-CN" altLang="en-US" sz="2600">
                <a:solidFill>
                  <a:schemeClr val="tx1"/>
                </a:solidFill>
              </a:rPr>
              <a:t>指向数组</a:t>
            </a:r>
            <a:r>
              <a:rPr lang="en-US" altLang="zh-CN" sz="2600">
                <a:solidFill>
                  <a:schemeClr val="tx1"/>
                </a:solidFill>
              </a:rPr>
              <a:t>a</a:t>
            </a:r>
            <a:r>
              <a:rPr lang="zh-CN" altLang="en-US" sz="2600">
                <a:solidFill>
                  <a:schemeClr val="tx1"/>
                </a:solidFill>
              </a:rPr>
              <a:t>的下一行</a:t>
            </a:r>
          </a:p>
          <a:p>
            <a:endParaRPr lang="en-US" altLang="zh-CN" sz="2600">
              <a:solidFill>
                <a:schemeClr val="tx1"/>
              </a:solidFill>
            </a:endParaRPr>
          </a:p>
          <a:p>
            <a:r>
              <a:rPr lang="en-US" altLang="zh-CN" sz="2600" dirty="0">
                <a:solidFill>
                  <a:srgbClr val="FF0000"/>
                </a:solidFill>
              </a:rPr>
              <a:t>3. int * p[M];  </a:t>
            </a:r>
            <a:r>
              <a:rPr lang="en-US" altLang="zh-CN" sz="2600">
                <a:solidFill>
                  <a:schemeClr val="tx1"/>
                </a:solidFill>
              </a:rPr>
              <a:t>// </a:t>
            </a:r>
            <a:r>
              <a:rPr lang="zh-CN" altLang="en-US" sz="2600">
                <a:solidFill>
                  <a:schemeClr val="tx1"/>
                </a:solidFill>
              </a:rPr>
              <a:t>由指针构成的数组，指针数组，</a:t>
            </a:r>
          </a:p>
          <a:p>
            <a:endParaRPr lang="en-US" altLang="zh-CN" sz="2600">
              <a:solidFill>
                <a:schemeClr val="tx1"/>
              </a:solidFill>
            </a:endParaRPr>
          </a:p>
          <a:p>
            <a:r>
              <a:rPr lang="en-US" altLang="zh-CN" sz="2600" dirty="0">
                <a:solidFill>
                  <a:srgbClr val="FF0000"/>
                </a:solidFill>
              </a:rPr>
              <a:t>4. int **p;    </a:t>
            </a:r>
            <a:r>
              <a:rPr lang="en-US" altLang="zh-CN" sz="2600">
                <a:solidFill>
                  <a:schemeClr val="tx1"/>
                </a:solidFill>
              </a:rPr>
              <a:t>   // </a:t>
            </a:r>
            <a:r>
              <a:rPr lang="zh-CN" altLang="en-US" sz="2600">
                <a:solidFill>
                  <a:schemeClr val="tx1"/>
                </a:solidFill>
              </a:rPr>
              <a:t>指向整型指针的指针。</a:t>
            </a:r>
          </a:p>
          <a:p>
            <a:r>
              <a:rPr lang="zh-CN" altLang="en-US" sz="2600">
                <a:solidFill>
                  <a:schemeClr val="tx1"/>
                </a:solidFill>
              </a:rPr>
              <a:t>	</a:t>
            </a:r>
            <a:r>
              <a:rPr lang="en-US" altLang="zh-CN" sz="2600">
                <a:solidFill>
                  <a:schemeClr val="tx1"/>
                </a:solidFill>
              </a:rPr>
              <a:t>int  *a[10], **p;</a:t>
            </a:r>
          </a:p>
          <a:p>
            <a:r>
              <a:rPr lang="en-US" altLang="zh-CN" sz="2600">
                <a:solidFill>
                  <a:schemeClr val="tx1"/>
                </a:solidFill>
              </a:rPr>
              <a:t>	p=a;</a:t>
            </a:r>
          </a:p>
          <a:p>
            <a:r>
              <a:rPr lang="en-US" altLang="zh-CN" sz="2600">
                <a:solidFill>
                  <a:schemeClr val="tx1"/>
                </a:solidFill>
              </a:rPr>
              <a:t>	p++; </a:t>
            </a:r>
            <a:endParaRPr lang="zh-CN" altLang="en-US" sz="2600">
              <a:solidFill>
                <a:schemeClr val="tx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72705"/>
          <p:cNvSpPr>
            <a:spLocks noGrp="1" noChangeArrowheads="1"/>
          </p:cNvSpPr>
          <p:nvPr>
            <p:ph type="title"/>
          </p:nvPr>
        </p:nvSpPr>
        <p:spPr/>
        <p:txBody>
          <a:bodyPr>
            <a:normAutofit/>
          </a:bodyPr>
          <a:lstStyle/>
          <a:p>
            <a:r>
              <a:rPr lang="en-US" altLang="zh-CN" sz="3600" dirty="0"/>
              <a:t>7.8 </a:t>
            </a:r>
            <a:r>
              <a:rPr lang="zh-CN" altLang="en-US" sz="3600" dirty="0"/>
              <a:t>对容易混淆概念的总结 </a:t>
            </a:r>
          </a:p>
        </p:txBody>
      </p:sp>
      <p:sp>
        <p:nvSpPr>
          <p:cNvPr id="56321"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302A180F-8464-4748-A2B6-D1AFB100483B}" type="slidenum">
              <a:rPr lang="zh-CN" altLang="en-US" smtClean="0"/>
              <a:t>61</a:t>
            </a:fld>
            <a:endParaRPr lang="zh-CN" altLang="en-US"/>
          </a:p>
        </p:txBody>
      </p:sp>
      <p:sp>
        <p:nvSpPr>
          <p:cNvPr id="56323" name="文本框 72706"/>
          <p:cNvSpPr txBox="1">
            <a:spLocks noChangeArrowheads="1"/>
          </p:cNvSpPr>
          <p:nvPr/>
        </p:nvSpPr>
        <p:spPr bwMode="auto">
          <a:xfrm>
            <a:off x="1919289" y="1916113"/>
            <a:ext cx="8353425" cy="2091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buClrTx/>
              <a:buSzTx/>
              <a:buFontTx/>
            </a:pPr>
            <a:r>
              <a:rPr lang="en-US" altLang="zh-CN" sz="2600" dirty="0">
                <a:solidFill>
                  <a:srgbClr val="FF0000"/>
                </a:solidFill>
              </a:rPr>
              <a:t>5. int (*p)(int, int);  </a:t>
            </a:r>
          </a:p>
          <a:p>
            <a:r>
              <a:rPr lang="en-US" altLang="zh-CN" sz="2600" dirty="0">
                <a:solidFill>
                  <a:schemeClr val="tx1"/>
                </a:solidFill>
              </a:rPr>
              <a:t>	p</a:t>
            </a:r>
            <a:r>
              <a:rPr lang="zh-CN" altLang="en-US" sz="2600" dirty="0">
                <a:solidFill>
                  <a:schemeClr val="tx1"/>
                </a:solidFill>
              </a:rPr>
              <a:t>是一个指向函数的指针，也称为函数指针</a:t>
            </a:r>
          </a:p>
          <a:p>
            <a:endParaRPr lang="zh-CN" altLang="en-US" sz="2600" dirty="0">
              <a:solidFill>
                <a:schemeClr val="tx1"/>
              </a:solidFill>
            </a:endParaRPr>
          </a:p>
          <a:p>
            <a:pPr algn="l">
              <a:buClrTx/>
              <a:buSzTx/>
              <a:buFontTx/>
            </a:pPr>
            <a:r>
              <a:rPr lang="en-US" altLang="zh-CN" sz="2600" dirty="0">
                <a:solidFill>
                  <a:srgbClr val="FF0000"/>
                </a:solidFill>
              </a:rPr>
              <a:t>6. int *fun( ){   }  </a:t>
            </a:r>
          </a:p>
          <a:p>
            <a:r>
              <a:rPr lang="zh-CN" altLang="en-US" sz="2600" dirty="0">
                <a:solidFill>
                  <a:schemeClr val="tx1"/>
                </a:solidFill>
              </a:rPr>
              <a:t>	返回值为整型指针的函数</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73729"/>
          <p:cNvSpPr>
            <a:spLocks noGrp="1" noChangeArrowheads="1"/>
          </p:cNvSpPr>
          <p:nvPr>
            <p:ph type="title"/>
          </p:nvPr>
        </p:nvSpPr>
        <p:spPr/>
        <p:txBody>
          <a:bodyPr>
            <a:normAutofit/>
          </a:bodyPr>
          <a:lstStyle/>
          <a:p>
            <a:r>
              <a:rPr lang="en-US" altLang="zh-CN" sz="3600" dirty="0"/>
              <a:t>7.8 </a:t>
            </a:r>
            <a:r>
              <a:rPr lang="zh-CN" altLang="en-US" sz="3600" dirty="0"/>
              <a:t>对容易混淆概念的总结 </a:t>
            </a:r>
          </a:p>
        </p:txBody>
      </p:sp>
      <p:sp>
        <p:nvSpPr>
          <p:cNvPr id="57345"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AF6BCA01-C7C0-4726-ABE5-02531BD285FD}" type="slidenum">
              <a:rPr lang="zh-CN" altLang="en-US" smtClean="0"/>
              <a:t>62</a:t>
            </a:fld>
            <a:endParaRPr lang="zh-CN" altLang="en-US"/>
          </a:p>
        </p:txBody>
      </p:sp>
      <p:sp>
        <p:nvSpPr>
          <p:cNvPr id="57347" name="文本框 73730"/>
          <p:cNvSpPr txBox="1">
            <a:spLocks noChangeArrowheads="1"/>
          </p:cNvSpPr>
          <p:nvPr/>
        </p:nvSpPr>
        <p:spPr bwMode="auto">
          <a:xfrm>
            <a:off x="1919289" y="1916113"/>
            <a:ext cx="8353425" cy="4554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buClrTx/>
              <a:buSzTx/>
              <a:buFontTx/>
            </a:pPr>
            <a:r>
              <a:rPr lang="en-US" altLang="zh-CN" sz="2600" dirty="0">
                <a:solidFill>
                  <a:srgbClr val="FF0000"/>
                </a:solidFill>
              </a:rPr>
              <a:t>7. NULL指针</a:t>
            </a:r>
          </a:p>
          <a:p>
            <a:r>
              <a:rPr lang="en-US" altLang="zh-CN" dirty="0">
                <a:solidFill>
                  <a:schemeClr val="tx1"/>
                </a:solidFill>
              </a:rPr>
              <a:t>	NULL</a:t>
            </a:r>
            <a:r>
              <a:rPr lang="zh-CN" altLang="en-US" dirty="0">
                <a:solidFill>
                  <a:schemeClr val="tx1"/>
                </a:solidFill>
              </a:rPr>
              <a:t>定义</a:t>
            </a:r>
            <a:r>
              <a:rPr lang="en-US" altLang="zh-CN" dirty="0">
                <a:solidFill>
                  <a:schemeClr val="tx1"/>
                </a:solidFill>
              </a:rPr>
              <a:t>0</a:t>
            </a:r>
            <a:r>
              <a:rPr lang="zh-CN" altLang="en-US" dirty="0">
                <a:solidFill>
                  <a:schemeClr val="tx1"/>
                </a:solidFill>
              </a:rPr>
              <a:t>，通常用来初始化一个指针变量，例如：</a:t>
            </a:r>
          </a:p>
          <a:p>
            <a:r>
              <a:rPr lang="en-US" altLang="zh-CN" dirty="0">
                <a:solidFill>
                  <a:schemeClr val="tx1"/>
                </a:solidFill>
              </a:rPr>
              <a:t>	int  m=0; </a:t>
            </a:r>
          </a:p>
          <a:p>
            <a:r>
              <a:rPr lang="en-US" altLang="zh-CN" dirty="0">
                <a:solidFill>
                  <a:schemeClr val="tx1"/>
                </a:solidFill>
              </a:rPr>
              <a:t>	int  *p=NULL;          // </a:t>
            </a:r>
            <a:r>
              <a:rPr lang="zh-CN" altLang="en-US" dirty="0">
                <a:solidFill>
                  <a:schemeClr val="tx1"/>
                </a:solidFill>
              </a:rPr>
              <a:t>采用</a:t>
            </a:r>
            <a:r>
              <a:rPr lang="en-US" altLang="zh-CN" dirty="0">
                <a:solidFill>
                  <a:schemeClr val="tx1"/>
                </a:solidFill>
              </a:rPr>
              <a:t>NULL</a:t>
            </a:r>
            <a:r>
              <a:rPr lang="zh-CN" altLang="en-US" dirty="0">
                <a:solidFill>
                  <a:schemeClr val="tx1"/>
                </a:solidFill>
              </a:rPr>
              <a:t>初始化指针变量</a:t>
            </a:r>
            <a:r>
              <a:rPr lang="en-US" altLang="zh-CN" dirty="0">
                <a:solidFill>
                  <a:schemeClr val="tx1"/>
                </a:solidFill>
              </a:rPr>
              <a:t>p</a:t>
            </a:r>
          </a:p>
          <a:p>
            <a:r>
              <a:rPr lang="zh-CN" altLang="en-US" dirty="0">
                <a:solidFill>
                  <a:schemeClr val="tx1"/>
                </a:solidFill>
              </a:rPr>
              <a:t>指针与零值比较的标准</a:t>
            </a:r>
            <a:r>
              <a:rPr lang="en-US" altLang="zh-CN" dirty="0">
                <a:solidFill>
                  <a:schemeClr val="tx1"/>
                </a:solidFill>
              </a:rPr>
              <a:t>if</a:t>
            </a:r>
            <a:r>
              <a:rPr lang="zh-CN" altLang="en-US" dirty="0">
                <a:solidFill>
                  <a:schemeClr val="tx1"/>
                </a:solidFill>
              </a:rPr>
              <a:t>语句如下：</a:t>
            </a:r>
          </a:p>
          <a:p>
            <a:r>
              <a:rPr lang="zh-CN" altLang="en-US" dirty="0">
                <a:solidFill>
                  <a:schemeClr val="tx1"/>
                </a:solidFill>
              </a:rPr>
              <a:t>	</a:t>
            </a:r>
            <a:r>
              <a:rPr lang="en-US" altLang="zh-CN" dirty="0">
                <a:solidFill>
                  <a:srgbClr val="7030A0"/>
                </a:solidFill>
              </a:rPr>
              <a:t>if ( p == NULL )	// </a:t>
            </a:r>
            <a:r>
              <a:rPr lang="zh-CN" altLang="en-US" dirty="0">
                <a:solidFill>
                  <a:srgbClr val="7030A0"/>
                </a:solidFill>
              </a:rPr>
              <a:t>强调</a:t>
            </a:r>
            <a:r>
              <a:rPr lang="en-US" altLang="zh-CN" dirty="0">
                <a:solidFill>
                  <a:srgbClr val="7030A0"/>
                </a:solidFill>
              </a:rPr>
              <a:t>p</a:t>
            </a:r>
            <a:r>
              <a:rPr lang="zh-CN" altLang="en-US" dirty="0">
                <a:solidFill>
                  <a:srgbClr val="7030A0"/>
                </a:solidFill>
              </a:rPr>
              <a:t>是指针变量</a:t>
            </a:r>
          </a:p>
          <a:p>
            <a:r>
              <a:rPr lang="zh-CN" altLang="en-US" dirty="0">
                <a:solidFill>
                  <a:srgbClr val="7030A0"/>
                </a:solidFill>
              </a:rPr>
              <a:t>	</a:t>
            </a:r>
            <a:r>
              <a:rPr lang="en-US" altLang="zh-CN" dirty="0">
                <a:solidFill>
                  <a:srgbClr val="7030A0"/>
                </a:solidFill>
              </a:rPr>
              <a:t>if ( p != NULL )	</a:t>
            </a:r>
          </a:p>
          <a:p>
            <a:r>
              <a:rPr lang="zh-CN" altLang="en-US" dirty="0">
                <a:solidFill>
                  <a:schemeClr val="tx1"/>
                </a:solidFill>
              </a:rPr>
              <a:t>如下两种形式影响程序的可读性：</a:t>
            </a:r>
          </a:p>
          <a:p>
            <a:r>
              <a:rPr lang="zh-CN" altLang="en-US" dirty="0">
                <a:solidFill>
                  <a:schemeClr val="tx1"/>
                </a:solidFill>
              </a:rPr>
              <a:t>		</a:t>
            </a:r>
            <a:r>
              <a:rPr lang="en-US" altLang="zh-CN" dirty="0">
                <a:solidFill>
                  <a:schemeClr val="tx1"/>
                </a:solidFill>
              </a:rPr>
              <a:t>if ( p == 0 ) 	</a:t>
            </a:r>
          </a:p>
          <a:p>
            <a:r>
              <a:rPr lang="en-US" altLang="zh-CN" dirty="0">
                <a:solidFill>
                  <a:schemeClr val="tx1"/>
                </a:solidFill>
              </a:rPr>
              <a:t>		if ( p != 0 )    </a:t>
            </a:r>
          </a:p>
          <a:p>
            <a:r>
              <a:rPr lang="zh-CN" altLang="en-US" dirty="0">
                <a:solidFill>
                  <a:schemeClr val="tx1"/>
                </a:solidFill>
              </a:rPr>
              <a:t>或者		</a:t>
            </a:r>
            <a:r>
              <a:rPr lang="en-US" altLang="zh-CN" dirty="0">
                <a:solidFill>
                  <a:schemeClr val="tx1"/>
                </a:solidFill>
              </a:rPr>
              <a:t>if ( p )			</a:t>
            </a:r>
          </a:p>
          <a:p>
            <a:r>
              <a:rPr lang="en-US" altLang="zh-CN" dirty="0">
                <a:solidFill>
                  <a:schemeClr val="tx1"/>
                </a:solidFill>
              </a:rPr>
              <a:t>		if ( !p ) </a:t>
            </a:r>
            <a:endParaRPr lang="zh-CN" altLang="en-US" dirty="0">
              <a:solidFill>
                <a:schemeClr val="tx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74753"/>
          <p:cNvSpPr>
            <a:spLocks noGrp="1" noChangeArrowheads="1"/>
          </p:cNvSpPr>
          <p:nvPr>
            <p:ph type="title"/>
          </p:nvPr>
        </p:nvSpPr>
        <p:spPr/>
        <p:txBody>
          <a:bodyPr>
            <a:normAutofit/>
          </a:bodyPr>
          <a:lstStyle/>
          <a:p>
            <a:r>
              <a:rPr lang="en-US" altLang="zh-CN" sz="3600" dirty="0"/>
              <a:t>7.8 </a:t>
            </a:r>
            <a:r>
              <a:rPr lang="zh-CN" altLang="en-US" sz="3600" dirty="0"/>
              <a:t>对容易混淆概念的总结 </a:t>
            </a:r>
          </a:p>
        </p:txBody>
      </p:sp>
      <p:sp>
        <p:nvSpPr>
          <p:cNvPr id="58369"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B1B8BE47-1D79-4C89-BC10-74E83A5E0933}" type="slidenum">
              <a:rPr lang="zh-CN" altLang="en-US" smtClean="0"/>
              <a:t>63</a:t>
            </a:fld>
            <a:endParaRPr lang="zh-CN" altLang="en-US"/>
          </a:p>
        </p:txBody>
      </p:sp>
      <p:sp>
        <p:nvSpPr>
          <p:cNvPr id="58371" name="文本框 74754"/>
          <p:cNvSpPr txBox="1">
            <a:spLocks noChangeArrowheads="1"/>
          </p:cNvSpPr>
          <p:nvPr/>
        </p:nvSpPr>
        <p:spPr bwMode="auto">
          <a:xfrm>
            <a:off x="1919289" y="1773239"/>
            <a:ext cx="8353425"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600" dirty="0">
                <a:solidFill>
                  <a:srgbClr val="FF0000"/>
                </a:solidFill>
              </a:rPr>
              <a:t>8. </a:t>
            </a:r>
            <a:r>
              <a:rPr lang="en-US" altLang="zh-CN" sz="2600" dirty="0" err="1">
                <a:solidFill>
                  <a:srgbClr val="FF0000"/>
                </a:solidFill>
              </a:rPr>
              <a:t>野指针</a:t>
            </a:r>
            <a:r>
              <a:rPr lang="zh-CN" altLang="en-US" sz="2600" dirty="0">
                <a:solidFill>
                  <a:srgbClr val="FF0000"/>
                </a:solidFill>
              </a:rPr>
              <a:t>（悬空指针）</a:t>
            </a:r>
            <a:r>
              <a:rPr lang="en-US" altLang="zh-CN" sz="2600" dirty="0">
                <a:solidFill>
                  <a:srgbClr val="FF0000"/>
                </a:solidFill>
              </a:rPr>
              <a:t>。</a:t>
            </a:r>
            <a:r>
              <a:rPr lang="zh-CN" altLang="en-US" sz="2600" dirty="0">
                <a:solidFill>
                  <a:schemeClr val="tx1"/>
                </a:solidFill>
              </a:rPr>
              <a:t>指向“垃圾”内存的指针，产生的原因如下：</a:t>
            </a:r>
          </a:p>
          <a:p>
            <a:r>
              <a:rPr lang="zh-CN" altLang="en-US" sz="2600" dirty="0">
                <a:solidFill>
                  <a:schemeClr val="tx1"/>
                </a:solidFill>
              </a:rPr>
              <a:t>（</a:t>
            </a:r>
            <a:r>
              <a:rPr lang="en-US" altLang="zh-CN" sz="2600" dirty="0">
                <a:solidFill>
                  <a:schemeClr val="tx1"/>
                </a:solidFill>
              </a:rPr>
              <a:t>1</a:t>
            </a:r>
            <a:r>
              <a:rPr lang="zh-CN" altLang="en-US" sz="2600" dirty="0">
                <a:solidFill>
                  <a:schemeClr val="tx1"/>
                </a:solidFill>
              </a:rPr>
              <a:t>）指针变量没有被初始化，如下的形式比较好：</a:t>
            </a:r>
          </a:p>
          <a:p>
            <a:r>
              <a:rPr lang="en-US" altLang="zh-CN" sz="2600" dirty="0">
                <a:solidFill>
                  <a:schemeClr val="tx1"/>
                </a:solidFill>
              </a:rPr>
              <a:t>char *p = NULL;</a:t>
            </a:r>
          </a:p>
          <a:p>
            <a:r>
              <a:rPr lang="en-US" altLang="zh-CN" sz="2600" dirty="0">
                <a:solidFill>
                  <a:schemeClr val="tx1"/>
                </a:solidFill>
              </a:rPr>
              <a:t>char *str = new char[100];</a:t>
            </a:r>
          </a:p>
          <a:p>
            <a:r>
              <a:rPr lang="zh-CN" altLang="en-US" sz="2600" dirty="0">
                <a:solidFill>
                  <a:schemeClr val="tx1"/>
                </a:solidFill>
              </a:rPr>
              <a:t>（</a:t>
            </a:r>
            <a:r>
              <a:rPr lang="en-US" altLang="zh-CN" sz="2600" dirty="0">
                <a:solidFill>
                  <a:schemeClr val="tx1"/>
                </a:solidFill>
              </a:rPr>
              <a:t>2</a:t>
            </a:r>
            <a:r>
              <a:rPr lang="zh-CN" altLang="en-US" sz="2600" dirty="0">
                <a:solidFill>
                  <a:schemeClr val="tx1"/>
                </a:solidFill>
              </a:rPr>
              <a:t>）指针</a:t>
            </a:r>
            <a:r>
              <a:rPr lang="en-US" altLang="zh-CN" sz="2600" dirty="0">
                <a:solidFill>
                  <a:schemeClr val="tx1"/>
                </a:solidFill>
              </a:rPr>
              <a:t>p </a:t>
            </a:r>
            <a:r>
              <a:rPr lang="zh-CN" altLang="en-US" sz="2600" dirty="0">
                <a:solidFill>
                  <a:schemeClr val="tx1"/>
                </a:solidFill>
              </a:rPr>
              <a:t>被</a:t>
            </a:r>
            <a:r>
              <a:rPr lang="en-US" altLang="zh-CN" sz="2600" dirty="0">
                <a:solidFill>
                  <a:schemeClr val="tx1"/>
                </a:solidFill>
              </a:rPr>
              <a:t>delete </a:t>
            </a:r>
            <a:r>
              <a:rPr lang="zh-CN" altLang="en-US" sz="2600" dirty="0">
                <a:solidFill>
                  <a:schemeClr val="tx1"/>
                </a:solidFill>
              </a:rPr>
              <a:t>，没有置为</a:t>
            </a:r>
            <a:r>
              <a:rPr lang="en-US" altLang="zh-CN" sz="2600" dirty="0">
                <a:solidFill>
                  <a:schemeClr val="tx1"/>
                </a:solidFill>
              </a:rPr>
              <a:t>NULL</a:t>
            </a:r>
            <a:r>
              <a:rPr lang="zh-CN" altLang="en-US" sz="2600" dirty="0">
                <a:solidFill>
                  <a:schemeClr val="tx1"/>
                </a:solidFill>
              </a:rPr>
              <a:t>：</a:t>
            </a:r>
          </a:p>
          <a:p>
            <a:r>
              <a:rPr lang="en-US" altLang="zh-CN" sz="2600" dirty="0">
                <a:solidFill>
                  <a:schemeClr val="tx1"/>
                </a:solidFill>
              </a:rPr>
              <a:t>int *p = new int(100 );</a:t>
            </a:r>
          </a:p>
          <a:p>
            <a:r>
              <a:rPr lang="en-US" altLang="zh-CN" sz="2600" dirty="0" err="1">
                <a:solidFill>
                  <a:schemeClr val="tx1"/>
                </a:solidFill>
              </a:rPr>
              <a:t>cout</a:t>
            </a:r>
            <a:r>
              <a:rPr lang="en-US" altLang="zh-CN" sz="2600" dirty="0">
                <a:solidFill>
                  <a:schemeClr val="tx1"/>
                </a:solidFill>
              </a:rPr>
              <a:t> &lt;&lt; p &lt;&lt; </a:t>
            </a:r>
            <a:r>
              <a:rPr lang="en-US" altLang="zh-CN" sz="2600" dirty="0" err="1">
                <a:solidFill>
                  <a:schemeClr val="tx1"/>
                </a:solidFill>
              </a:rPr>
              <a:t>endl</a:t>
            </a:r>
            <a:r>
              <a:rPr lang="en-US" altLang="zh-CN" sz="2600" dirty="0">
                <a:solidFill>
                  <a:schemeClr val="tx1"/>
                </a:solidFill>
              </a:rPr>
              <a:t> ; </a:t>
            </a:r>
            <a:endParaRPr lang="zh-CN" altLang="en-US" sz="2600" dirty="0">
              <a:solidFill>
                <a:schemeClr val="tx1"/>
              </a:solidFill>
            </a:endParaRPr>
          </a:p>
          <a:p>
            <a:r>
              <a:rPr lang="en-US" altLang="zh-CN" sz="2600" dirty="0">
                <a:solidFill>
                  <a:schemeClr val="tx1"/>
                </a:solidFill>
              </a:rPr>
              <a:t>delete [ ]p;	</a:t>
            </a:r>
          </a:p>
          <a:p>
            <a:r>
              <a:rPr lang="en-US" altLang="zh-CN" sz="2600" dirty="0" err="1">
                <a:solidFill>
                  <a:schemeClr val="tx1"/>
                </a:solidFill>
              </a:rPr>
              <a:t>cout</a:t>
            </a:r>
            <a:r>
              <a:rPr lang="en-US" altLang="zh-CN" sz="2600" dirty="0">
                <a:solidFill>
                  <a:schemeClr val="tx1"/>
                </a:solidFill>
              </a:rPr>
              <a:t> &lt;&lt; p &lt;&lt; </a:t>
            </a:r>
            <a:r>
              <a:rPr lang="en-US" altLang="zh-CN" sz="2600" dirty="0" err="1">
                <a:solidFill>
                  <a:schemeClr val="tx1"/>
                </a:solidFill>
              </a:rPr>
              <a:t>endl</a:t>
            </a:r>
            <a:r>
              <a:rPr lang="en-US" altLang="zh-CN" sz="2600" dirty="0">
                <a:solidFill>
                  <a:schemeClr val="tx1"/>
                </a:solidFill>
              </a:rPr>
              <a:t> ;</a:t>
            </a:r>
            <a:endParaRPr lang="zh-CN" altLang="en-US" sz="2600" dirty="0">
              <a:solidFill>
                <a:schemeClr val="tx1"/>
              </a:solidFill>
            </a:endParaRPr>
          </a:p>
          <a:p>
            <a:r>
              <a:rPr lang="zh-CN" altLang="en-US" sz="2600" dirty="0">
                <a:solidFill>
                  <a:schemeClr val="tx1"/>
                </a:solidFill>
              </a:rPr>
              <a:t>此时</a:t>
            </a:r>
            <a:r>
              <a:rPr lang="en-US" altLang="zh-CN" sz="2600" dirty="0">
                <a:solidFill>
                  <a:schemeClr val="tx1"/>
                </a:solidFill>
              </a:rPr>
              <a:t>p</a:t>
            </a:r>
            <a:r>
              <a:rPr lang="zh-CN" altLang="en-US" sz="2600" dirty="0">
                <a:solidFill>
                  <a:schemeClr val="tx1"/>
                </a:solidFill>
              </a:rPr>
              <a:t>是一个野指针，也称为“悬空的指针”。避免此问题的方法是增加一个赋值：</a:t>
            </a:r>
            <a:r>
              <a:rPr lang="en-US" altLang="zh-CN" sz="2600" dirty="0">
                <a:solidFill>
                  <a:schemeClr val="tx1"/>
                </a:solidFill>
              </a:rPr>
              <a:t>p=NULL</a:t>
            </a:r>
            <a:endParaRPr lang="zh-CN" altLang="en-US" sz="2600" dirty="0">
              <a:solidFill>
                <a:schemeClr val="tx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76801"/>
          <p:cNvSpPr>
            <a:spLocks noGrp="1" noChangeArrowheads="1"/>
          </p:cNvSpPr>
          <p:nvPr>
            <p:ph type="title"/>
          </p:nvPr>
        </p:nvSpPr>
        <p:spPr/>
        <p:txBody>
          <a:bodyPr>
            <a:normAutofit/>
          </a:bodyPr>
          <a:lstStyle/>
          <a:p>
            <a:r>
              <a:rPr lang="en-US" altLang="zh-CN" sz="3600" dirty="0"/>
              <a:t>7.8 </a:t>
            </a:r>
            <a:r>
              <a:rPr lang="zh-CN" altLang="en-US" sz="3600" dirty="0"/>
              <a:t>对容易混淆概念的总结 </a:t>
            </a:r>
          </a:p>
        </p:txBody>
      </p:sp>
      <p:sp>
        <p:nvSpPr>
          <p:cNvPr id="59393" name="灯片编号占位符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0D40DF1D-62CD-443C-9036-84722B1B6020}" type="slidenum">
              <a:rPr lang="zh-CN" altLang="en-US" smtClean="0"/>
              <a:t>64</a:t>
            </a:fld>
            <a:endParaRPr lang="zh-CN" altLang="en-US"/>
          </a:p>
        </p:txBody>
      </p:sp>
      <p:sp>
        <p:nvSpPr>
          <p:cNvPr id="59395" name="文本框 76802"/>
          <p:cNvSpPr txBox="1">
            <a:spLocks noChangeArrowheads="1"/>
          </p:cNvSpPr>
          <p:nvPr/>
        </p:nvSpPr>
        <p:spPr bwMode="auto">
          <a:xfrm>
            <a:off x="1919289" y="1773239"/>
            <a:ext cx="8353425" cy="406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600" dirty="0">
                <a:solidFill>
                  <a:schemeClr val="tx1"/>
                </a:solidFill>
              </a:rPr>
              <a:t>9. </a:t>
            </a:r>
            <a:r>
              <a:rPr lang="zh-CN" altLang="en-US" sz="2600" dirty="0">
                <a:solidFill>
                  <a:schemeClr val="tx1"/>
                </a:solidFill>
              </a:rPr>
              <a:t>指针与引用的区别</a:t>
            </a:r>
          </a:p>
          <a:p>
            <a:endParaRPr lang="en-US" altLang="zh-CN" sz="2600" dirty="0">
              <a:solidFill>
                <a:schemeClr val="tx1"/>
              </a:solidFill>
            </a:endParaRPr>
          </a:p>
          <a:p>
            <a:r>
              <a:rPr lang="en-US" altLang="zh-CN" sz="2600" dirty="0">
                <a:solidFill>
                  <a:schemeClr val="tx1"/>
                </a:solidFill>
              </a:rPr>
              <a:t>(1)</a:t>
            </a:r>
            <a:r>
              <a:rPr lang="zh-CN" altLang="en-US" sz="2600" dirty="0">
                <a:solidFill>
                  <a:schemeClr val="tx1"/>
                </a:solidFill>
              </a:rPr>
              <a:t>在创建引用时，必须对它进行初始化，而指针则可以在任何时候赋值；</a:t>
            </a:r>
          </a:p>
          <a:p>
            <a:endParaRPr lang="zh-CN" altLang="en-US" sz="2600" dirty="0">
              <a:solidFill>
                <a:schemeClr val="tx1"/>
              </a:solidFill>
            </a:endParaRPr>
          </a:p>
          <a:p>
            <a:r>
              <a:rPr lang="en-US" altLang="zh-CN" sz="2600" dirty="0">
                <a:solidFill>
                  <a:schemeClr val="tx1"/>
                </a:solidFill>
              </a:rPr>
              <a:t>(2)</a:t>
            </a:r>
            <a:r>
              <a:rPr lang="zh-CN" altLang="en-US" sz="2600" dirty="0">
                <a:solidFill>
                  <a:schemeClr val="tx1"/>
                </a:solidFill>
              </a:rPr>
              <a:t>不能有</a:t>
            </a:r>
            <a:r>
              <a:rPr lang="en-US" altLang="zh-CN" sz="2600" dirty="0">
                <a:solidFill>
                  <a:schemeClr val="tx1"/>
                </a:solidFill>
              </a:rPr>
              <a:t>NULL</a:t>
            </a:r>
            <a:r>
              <a:rPr lang="zh-CN" altLang="en-US" sz="2600" dirty="0">
                <a:solidFill>
                  <a:schemeClr val="tx1"/>
                </a:solidFill>
              </a:rPr>
              <a:t>引用，引用必须与合法的存储单元关联，而指针可以是</a:t>
            </a:r>
            <a:r>
              <a:rPr lang="en-US" altLang="zh-CN" sz="2600" dirty="0">
                <a:solidFill>
                  <a:schemeClr val="tx1"/>
                </a:solidFill>
              </a:rPr>
              <a:t>NULL</a:t>
            </a:r>
            <a:r>
              <a:rPr lang="zh-CN" altLang="en-US" sz="2600" dirty="0">
                <a:solidFill>
                  <a:schemeClr val="tx1"/>
                </a:solidFill>
              </a:rPr>
              <a:t>指针；</a:t>
            </a:r>
          </a:p>
          <a:p>
            <a:endParaRPr lang="zh-CN" altLang="en-US" sz="2600" dirty="0">
              <a:solidFill>
                <a:schemeClr val="tx1"/>
              </a:solidFill>
            </a:endParaRPr>
          </a:p>
          <a:p>
            <a:r>
              <a:rPr lang="en-US" altLang="zh-CN" sz="2600" dirty="0">
                <a:solidFill>
                  <a:schemeClr val="tx1"/>
                </a:solidFill>
              </a:rPr>
              <a:t>(3)</a:t>
            </a:r>
            <a:r>
              <a:rPr lang="zh-CN" altLang="en-US" sz="2600" dirty="0">
                <a:solidFill>
                  <a:schemeClr val="tx1"/>
                </a:solidFill>
              </a:rPr>
              <a:t>一旦对引用进行了初始化，就不能改变引用关系，而指针则可以随时改变所指的对象。 </a:t>
            </a:r>
          </a:p>
        </p:txBody>
      </p:sp>
    </p:spTree>
  </p:cSld>
  <p:clrMapOvr>
    <a:masterClrMapping/>
  </p:clrMapOvr>
</p:sld>
</file>

<file path=ppt/theme/theme1.xml><?xml version="1.0" encoding="utf-8"?>
<a:theme xmlns:a="http://schemas.openxmlformats.org/drawingml/2006/main" name="默认设计模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1611</TotalTime>
  <Words>6499</Words>
  <Application>Microsoft Office PowerPoint</Application>
  <PresentationFormat>宽屏</PresentationFormat>
  <Paragraphs>802</Paragraphs>
  <Slides>64</Slides>
  <Notes>2</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64</vt:i4>
      </vt:variant>
    </vt:vector>
  </HeadingPairs>
  <TitlesOfParts>
    <vt:vector size="82" baseType="lpstr">
      <vt:lpstr>-apple-system</vt:lpstr>
      <vt:lpstr>Microsoft YaHei UI</vt:lpstr>
      <vt:lpstr>SFMono-Regular</vt:lpstr>
      <vt:lpstr>Source Code Pro</vt:lpstr>
      <vt:lpstr>阿里巴巴普惠体 R</vt:lpstr>
      <vt:lpstr>等线</vt:lpstr>
      <vt:lpstr>等线 Light</vt:lpstr>
      <vt:lpstr>仿宋</vt:lpstr>
      <vt:lpstr>华文仿宋</vt:lpstr>
      <vt:lpstr>华文楷体</vt:lpstr>
      <vt:lpstr>宋体</vt:lpstr>
      <vt:lpstr>Arial</vt:lpstr>
      <vt:lpstr>Calibri</vt:lpstr>
      <vt:lpstr>Calibri Light</vt:lpstr>
      <vt:lpstr>Consolas</vt:lpstr>
      <vt:lpstr>Consolas</vt:lpstr>
      <vt:lpstr>Times New Roman</vt:lpstr>
      <vt:lpstr>默认设计模板</vt:lpstr>
      <vt:lpstr>第7章  指针 </vt:lpstr>
      <vt:lpstr>7.1 指针的概念 </vt:lpstr>
      <vt:lpstr>7.2 指针变量 </vt:lpstr>
      <vt:lpstr>7.2.1 指针的存储空间 </vt:lpstr>
      <vt:lpstr>PowerPoint 演示文稿</vt:lpstr>
      <vt:lpstr>7.2.2 运算符 &amp; 和 * </vt:lpstr>
      <vt:lpstr>7.2.2 运算符 &amp; 和 * </vt:lpstr>
      <vt:lpstr>PowerPoint 演示文稿</vt:lpstr>
      <vt:lpstr>7.2.2 运算符 &amp; 和 * </vt:lpstr>
      <vt:lpstr>7.2.3 引用指针变量 </vt:lpstr>
      <vt:lpstr>PowerPoint 演示文稿</vt:lpstr>
      <vt:lpstr>7.3 指针与数组 </vt:lpstr>
      <vt:lpstr>7.3.1 指针与一维数组</vt:lpstr>
      <vt:lpstr>7.3.1指针与一维数组</vt:lpstr>
      <vt:lpstr>7.3.2 指针的运算 </vt:lpstr>
      <vt:lpstr>PowerPoint 演示文稿</vt:lpstr>
      <vt:lpstr>PowerPoint 演示文稿</vt:lpstr>
      <vt:lpstr>7.3.2 指针的运算 </vt:lpstr>
      <vt:lpstr>7.3.2 指针的运算 </vt:lpstr>
      <vt:lpstr>7.3.3 二维数组与指针 </vt:lpstr>
      <vt:lpstr>PowerPoint 演示文稿</vt:lpstr>
      <vt:lpstr>7.3.3 二维数组与指针 </vt:lpstr>
      <vt:lpstr>7.3.3 二维数组与指针 </vt:lpstr>
      <vt:lpstr>7.3.3 二维数组与指针 </vt:lpstr>
      <vt:lpstr>7.3.3 二维数组与指针 </vt:lpstr>
      <vt:lpstr>PowerPoint 演示文稿</vt:lpstr>
      <vt:lpstr>指向指针的指针 </vt:lpstr>
      <vt:lpstr>7.5.3 指向指针的指针 </vt:lpstr>
      <vt:lpstr>PowerPoint 演示文稿</vt:lpstr>
      <vt:lpstr>PowerPoint 演示文稿</vt:lpstr>
      <vt:lpstr>7.4 指针与函数 </vt:lpstr>
      <vt:lpstr>PowerPoint 演示文稿</vt:lpstr>
      <vt:lpstr>PowerPoint 演示文稿</vt:lpstr>
      <vt:lpstr>PowerPoint 演示文稿</vt:lpstr>
      <vt:lpstr>PowerPoint 演示文稿</vt:lpstr>
      <vt:lpstr>PowerPoint 演示文稿</vt:lpstr>
      <vt:lpstr>PowerPoint 演示文稿</vt:lpstr>
      <vt:lpstr>指向函数的指针</vt:lpstr>
      <vt:lpstr>指向函数的指针</vt:lpstr>
      <vt:lpstr>指向函数的指针</vt:lpstr>
      <vt:lpstr>指向函数的指针</vt:lpstr>
      <vt:lpstr>PowerPoint 演示文稿</vt:lpstr>
      <vt:lpstr>PowerPoint 演示文稿</vt:lpstr>
      <vt:lpstr>PowerPoint 演示文稿</vt:lpstr>
      <vt:lpstr>7.5.2 main 函数的参数 </vt:lpstr>
      <vt:lpstr>PowerPoint 演示文稿</vt:lpstr>
      <vt:lpstr>PowerPoint 演示文稿</vt:lpstr>
      <vt:lpstr>7.6 内存的动态分配和释放</vt:lpstr>
      <vt:lpstr>7.6 内存的动态分配和释放</vt:lpstr>
      <vt:lpstr>PowerPoint 演示文稿</vt:lpstr>
      <vt:lpstr>PowerPoint 演示文稿</vt:lpstr>
      <vt:lpstr>PowerPoint 演示文稿</vt:lpstr>
      <vt:lpstr>7.7 void和const修饰指针变量 </vt:lpstr>
      <vt:lpstr>PowerPoint 演示文稿</vt:lpstr>
      <vt:lpstr>PowerPoint 演示文稿</vt:lpstr>
      <vt:lpstr>7.7.2 const修饰指针 </vt:lpstr>
      <vt:lpstr>7.7.2 const修饰指针 </vt:lpstr>
      <vt:lpstr>7.7.2 const修饰指针 </vt:lpstr>
      <vt:lpstr>7.8 对容易混淆概念的总结 </vt:lpstr>
      <vt:lpstr>7.8 对容易混淆概念的总结 </vt:lpstr>
      <vt:lpstr>7.8 对容易混淆概念的总结 </vt:lpstr>
      <vt:lpstr>7.8 对容易混淆概念的总结 </vt:lpstr>
      <vt:lpstr>7.8 对容易混淆概念的总结 </vt:lpstr>
      <vt:lpstr>7.8 对容易混淆概念的总结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教案</dc:title>
  <dc:subject>电子教案</dc:subject>
  <dc:creator>皮德常</dc:creator>
  <cp:lastModifiedBy>Alice</cp:lastModifiedBy>
  <cp:revision>592</cp:revision>
  <dcterms:created xsi:type="dcterms:W3CDTF">2021-09-21T02:11:00Z</dcterms:created>
  <dcterms:modified xsi:type="dcterms:W3CDTF">2024-11-22T03:34:10Z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3AB40059B0724B47BC3874F81D086780</vt:lpwstr>
  </property>
  <property fmtid="{D5CDD505-2E9C-101B-9397-08002B2CF9AE}" pid="3" name="KSOProductBuildVer">
    <vt:lpwstr>2052-11.1.0.11115</vt:lpwstr>
  </property>
</Properties>
</file>