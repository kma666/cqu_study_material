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3" r:id="rId1"/>
  </p:sldMasterIdLst>
  <p:notesMasterIdLst>
    <p:notesMasterId r:id="rId82"/>
  </p:notesMasterIdLst>
  <p:handoutMasterIdLst>
    <p:handoutMasterId r:id="rId83"/>
  </p:handoutMasterIdLst>
  <p:sldIdLst>
    <p:sldId id="256" r:id="rId2"/>
    <p:sldId id="257" r:id="rId3"/>
    <p:sldId id="258" r:id="rId4"/>
    <p:sldId id="259" r:id="rId5"/>
    <p:sldId id="260" r:id="rId6"/>
    <p:sldId id="261" r:id="rId7"/>
    <p:sldId id="354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344" r:id="rId20"/>
    <p:sldId id="355" r:id="rId21"/>
    <p:sldId id="275" r:id="rId22"/>
    <p:sldId id="277" r:id="rId23"/>
    <p:sldId id="345" r:id="rId24"/>
    <p:sldId id="278" r:id="rId25"/>
    <p:sldId id="346" r:id="rId26"/>
    <p:sldId id="348" r:id="rId27"/>
    <p:sldId id="347" r:id="rId28"/>
    <p:sldId id="272" r:id="rId29"/>
    <p:sldId id="282" r:id="rId30"/>
    <p:sldId id="350" r:id="rId31"/>
    <p:sldId id="351" r:id="rId32"/>
    <p:sldId id="273" r:id="rId33"/>
    <p:sldId id="349" r:id="rId34"/>
    <p:sldId id="285" r:id="rId35"/>
    <p:sldId id="286" r:id="rId36"/>
    <p:sldId id="283" r:id="rId37"/>
    <p:sldId id="284" r:id="rId38"/>
    <p:sldId id="287" r:id="rId39"/>
    <p:sldId id="288" r:id="rId40"/>
    <p:sldId id="289" r:id="rId41"/>
    <p:sldId id="324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40" r:id="rId57"/>
    <p:sldId id="325" r:id="rId58"/>
    <p:sldId id="334" r:id="rId59"/>
    <p:sldId id="341" r:id="rId60"/>
    <p:sldId id="336" r:id="rId61"/>
    <p:sldId id="342" r:id="rId62"/>
    <p:sldId id="339" r:id="rId63"/>
    <p:sldId id="352" r:id="rId64"/>
    <p:sldId id="343" r:id="rId65"/>
    <p:sldId id="353" r:id="rId66"/>
    <p:sldId id="304" r:id="rId67"/>
    <p:sldId id="305" r:id="rId68"/>
    <p:sldId id="306" r:id="rId69"/>
    <p:sldId id="307" r:id="rId70"/>
    <p:sldId id="308" r:id="rId71"/>
    <p:sldId id="309" r:id="rId72"/>
    <p:sldId id="310" r:id="rId73"/>
    <p:sldId id="311" r:id="rId74"/>
    <p:sldId id="312" r:id="rId75"/>
    <p:sldId id="313" r:id="rId76"/>
    <p:sldId id="314" r:id="rId77"/>
    <p:sldId id="315" r:id="rId78"/>
    <p:sldId id="316" r:id="rId79"/>
    <p:sldId id="356" r:id="rId80"/>
    <p:sldId id="317" r:id="rId81"/>
  </p:sldIdLst>
  <p:sldSz cx="12192000" cy="6858000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FF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/>
    <p:restoredTop sz="90887" autoAdjust="0"/>
  </p:normalViewPr>
  <p:slideViewPr>
    <p:cSldViewPr showGuides="1">
      <p:cViewPr varScale="1">
        <p:scale>
          <a:sx n="77" d="100"/>
          <a:sy n="77" d="100"/>
        </p:scale>
        <p:origin x="88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fontAlgn="base">
              <a:defRPr kumimoji="1" sz="1200" b="0" smtClean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fontAlgn="base">
              <a:defRPr kumimoji="1" sz="1200" b="0" smtClean="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fontAlgn="base">
              <a:defRPr kumimoji="1" sz="1200" b="0" smtClean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fontAlgn="base">
              <a:defRPr sz="1200" b="0" noProof="1" dirty="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5FE11E-6DA0-47C4-8691-E0E27A57CAFD}" type="slidenum">
              <a:rPr kumimoji="0" lang="zh-CN" altLang="en-US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fontAlgn="base">
              <a:defRPr kumimoji="1" sz="1200" b="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fontAlgn="base">
              <a:defRPr kumimoji="1" sz="1200" b="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1028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5366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fontAlgn="base">
              <a:defRPr kumimoji="1" sz="1200" b="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7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fontAlgn="base">
              <a:defRPr sz="1200" b="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A229A9E-3927-4E09-9B70-8CF7611A34E1}" type="slidenum">
              <a:rPr kumimoji="0" lang="zh-CN" altLang="en-US" sz="1200" b="0" i="0" u="none" strike="noStrike" kern="1200" cap="none" spc="0" normalizeH="0" baseline="0" noProof="1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9000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遍历所有的数据，每次对相邻元素进行两两比较，如果顺序和预先规定的顺序不一致，则进行位置交换；这样一次遍历会将最大或最小的数据上浮到顶端，之后再重复同样的操作，直到所有的数据有序。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7297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601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056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14221AD1-2C85-4D65-84C7-81A74AC1112E}" type="datetime1">
              <a:rPr lang="zh-CN" altLang="en-US" smtClean="0"/>
              <a:pPr eaLnBrk="1" hangingPunct="1">
                <a:defRPr/>
              </a:pPr>
              <a:t>2024/11/11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A8992CC8-4E9E-4A07-A9A3-1194DCE67374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5426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14221AD1-2C85-4D65-84C7-81A74AC1112E}" type="datetime1">
              <a:rPr lang="zh-CN" altLang="en-US" smtClean="0"/>
              <a:pPr eaLnBrk="1" hangingPunct="1">
                <a:defRPr/>
              </a:pPr>
              <a:t>2024/11/11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A8992CC8-4E9E-4A07-A9A3-1194DCE67374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982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14221AD1-2C85-4D65-84C7-81A74AC1112E}" type="datetime1">
              <a:rPr lang="zh-CN" altLang="en-US" smtClean="0"/>
              <a:pPr eaLnBrk="1" hangingPunct="1">
                <a:defRPr/>
              </a:pPr>
              <a:t>2024/11/11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A8992CC8-4E9E-4A07-A9A3-1194DCE67374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53050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14221AD1-2C85-4D65-84C7-81A74AC1112E}" type="datetime1">
              <a:rPr lang="zh-CN" altLang="en-US" smtClean="0"/>
              <a:pPr eaLnBrk="1" hangingPunct="1">
                <a:defRPr/>
              </a:pPr>
              <a:t>2024/11/11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A8992CC8-4E9E-4A07-A9A3-1194DCE67374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44090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14221AD1-2C85-4D65-84C7-81A74AC1112E}" type="datetime1">
              <a:rPr lang="zh-CN" altLang="en-US" smtClean="0"/>
              <a:pPr eaLnBrk="1" hangingPunct="1">
                <a:defRPr/>
              </a:pPr>
              <a:t>2024/11/11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A8992CC8-4E9E-4A07-A9A3-1194DCE67374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2503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14221AD1-2C85-4D65-84C7-81A74AC1112E}" type="datetime1">
              <a:rPr lang="zh-CN" altLang="en-US" smtClean="0"/>
              <a:pPr eaLnBrk="1" hangingPunct="1">
                <a:defRPr/>
              </a:pPr>
              <a:t>2024/11/11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A8992CC8-4E9E-4A07-A9A3-1194DCE67374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7858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14221AD1-2C85-4D65-84C7-81A74AC1112E}" type="datetime1">
              <a:rPr lang="zh-CN" altLang="en-US" smtClean="0"/>
              <a:pPr eaLnBrk="1" hangingPunct="1">
                <a:defRPr/>
              </a:pPr>
              <a:t>2024/11/11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A8992CC8-4E9E-4A07-A9A3-1194DCE67374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48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14221AD1-2C85-4D65-84C7-81A74AC1112E}" type="datetime1">
              <a:rPr lang="zh-CN" altLang="en-US" smtClean="0"/>
              <a:pPr eaLnBrk="1" hangingPunct="1">
                <a:defRPr/>
              </a:pPr>
              <a:t>2024/11/11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A8992CC8-4E9E-4A07-A9A3-1194DCE67374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4851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14221AD1-2C85-4D65-84C7-81A74AC1112E}" type="datetime1">
              <a:rPr lang="zh-CN" altLang="en-US" smtClean="0"/>
              <a:pPr eaLnBrk="1" hangingPunct="1">
                <a:defRPr/>
              </a:pPr>
              <a:t>2024/11/11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A8992CC8-4E9E-4A07-A9A3-1194DCE67374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8126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14221AD1-2C85-4D65-84C7-81A74AC1112E}" type="datetime1">
              <a:rPr lang="zh-CN" altLang="en-US" smtClean="0"/>
              <a:pPr eaLnBrk="1" hangingPunct="1">
                <a:defRPr/>
              </a:pPr>
              <a:t>2024/11/11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A8992CC8-4E9E-4A07-A9A3-1194DCE67374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6108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14221AD1-2C85-4D65-84C7-81A74AC1112E}" type="datetime1">
              <a:rPr lang="zh-CN" altLang="en-US" smtClean="0"/>
              <a:pPr eaLnBrk="1" hangingPunct="1">
                <a:defRPr/>
              </a:pPr>
              <a:t>2024/11/11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A8992CC8-4E9E-4A07-A9A3-1194DCE67374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0340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752600"/>
            <a:ext cx="108712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14221AD1-2C85-4D65-84C7-81A74AC1112E}" type="datetime1">
              <a:rPr lang="zh-CN" altLang="en-US" smtClean="0"/>
              <a:pPr eaLnBrk="1" hangingPunct="1">
                <a:defRPr/>
              </a:pPr>
              <a:t>2024/11/11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A8992CC8-4E9E-4A07-A9A3-1194DCE67374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713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包含小图像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80477" y="-9832"/>
            <a:ext cx="2211524" cy="6858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900" i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rtl="0"/>
            <a:r>
              <a:rPr lang="zh-CN" altLang="en-US" noProof="0"/>
              <a:t>插入或拖放照片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89" y="4336464"/>
            <a:ext cx="6798251" cy="1674470"/>
          </a:xfrm>
          <a:prstGeom prst="rect">
            <a:avLst/>
          </a:prstGeom>
        </p:spPr>
        <p:txBody>
          <a:bodyPr rtlCol="0" anchor="b"/>
          <a:lstStyle>
            <a:lvl1pPr algn="r">
              <a:lnSpc>
                <a:spcPts val="3750"/>
              </a:lnSpc>
              <a:defRPr sz="4500" b="1" cap="all" spc="-225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演示文稿标题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1905" y="4640707"/>
            <a:ext cx="3401479" cy="1192038"/>
          </a:xfrm>
          <a:solidFill>
            <a:schemeClr val="tx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350" i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rtl="0"/>
            <a:r>
              <a:rPr lang="zh-CN" altLang="en-US" noProof="0"/>
              <a:t>单击以编辑母版副标题样式</a:t>
            </a:r>
          </a:p>
        </p:txBody>
      </p:sp>
      <p:sp>
        <p:nvSpPr>
          <p:cNvPr id="7" name="长方形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1" y="678447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长方形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1" y="-9832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长方形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0" y="3400454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623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hangingPunct="1">
              <a:defRPr/>
            </a:pPr>
            <a:fld id="{14221AD1-2C85-4D65-84C7-81A74AC1112E}" type="datetime1">
              <a:rPr lang="zh-CN" altLang="en-US" smtClean="0"/>
              <a:pPr eaLnBrk="1" hangingPunct="1">
                <a:defRPr/>
              </a:pPr>
              <a:t>2024/11/11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hangingPunct="1">
              <a:defRPr/>
            </a:pPr>
            <a:fld id="{A8992CC8-4E9E-4A07-A9A3-1194DCE67374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602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 数组 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9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引言</a:t>
            </a:r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  <a:spcBef>
                <a:spcPct val="40000"/>
              </a:spcBef>
            </a:pPr>
            <a:r>
              <a:rPr lang="zh-CN" altLang="en-US" sz="2600" dirty="0">
                <a:solidFill>
                  <a:srgbClr val="FF0000"/>
                </a:solidFill>
              </a:rPr>
              <a:t>构造数据类型：</a:t>
            </a:r>
            <a:r>
              <a:rPr lang="zh-CN" altLang="en-US" sz="2600" dirty="0">
                <a:solidFill>
                  <a:schemeClr val="tx1"/>
                </a:solidFill>
              </a:rPr>
              <a:t>由基本数据类型和构造类型，按一定原则组合而成，亦称导出类型。主要包括：数组、指针、结构体、类等。</a:t>
            </a:r>
          </a:p>
          <a:p>
            <a:pPr eaLnBrk="1" hangingPunct="1">
              <a:lnSpc>
                <a:spcPct val="130000"/>
              </a:lnSpc>
              <a:spcBef>
                <a:spcPct val="40000"/>
              </a:spcBef>
            </a:pPr>
            <a:r>
              <a:rPr lang="zh-CN" altLang="en-US" sz="2600" dirty="0">
                <a:solidFill>
                  <a:schemeClr val="tx1"/>
                </a:solidFill>
              </a:rPr>
              <a:t>数组是由单一类型的数据元素组成的有序集合，每个元素采用数组名和下标来表示。</a:t>
            </a:r>
          </a:p>
          <a:p>
            <a:pPr eaLnBrk="1" hangingPunct="1">
              <a:lnSpc>
                <a:spcPct val="130000"/>
              </a:lnSpc>
              <a:spcBef>
                <a:spcPct val="40000"/>
              </a:spcBef>
            </a:pPr>
            <a:r>
              <a:rPr lang="zh-CN" altLang="en-US" sz="2600" dirty="0">
                <a:solidFill>
                  <a:schemeClr val="tx1"/>
                </a:solidFill>
              </a:rPr>
              <a:t>数组可分为一维数组和多维数组。 </a:t>
            </a:r>
          </a:p>
        </p:txBody>
      </p:sp>
      <p:sp>
        <p:nvSpPr>
          <p:cNvPr id="512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6.1 </a:t>
            </a:r>
            <a:r>
              <a:rPr lang="zh-CN" altLang="en-US" dirty="0"/>
              <a:t>一维数组 </a:t>
            </a:r>
          </a:p>
        </p:txBody>
      </p:sp>
      <p:sp>
        <p:nvSpPr>
          <p:cNvPr id="6148" name="Rectangle 3"/>
          <p:cNvSpPr>
            <a:spLocks noGrp="1"/>
          </p:cNvSpPr>
          <p:nvPr>
            <p:ph idx="1"/>
          </p:nvPr>
        </p:nvSpPr>
        <p:spPr>
          <a:xfrm>
            <a:off x="1055440" y="1679036"/>
            <a:ext cx="10081120" cy="4556125"/>
          </a:xfrm>
        </p:spPr>
        <p:txBody>
          <a:bodyPr vert="horz" wrap="square" lIns="91440" tIns="45720" rIns="91440" bIns="45720" anchor="t" anchorCtr="0">
            <a:normAutofit fontScale="92500" lnSpcReduction="10000"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600" dirty="0">
                <a:solidFill>
                  <a:schemeClr val="tx1"/>
                </a:solidFill>
              </a:rPr>
              <a:t>数组用来存储一组类型相同的值，并且值保存在连续的内存单元中；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6.1.1   </a:t>
            </a:r>
            <a:r>
              <a:rPr lang="zh-CN" altLang="en-US" sz="2600" dirty="0">
                <a:solidFill>
                  <a:schemeClr val="tx1"/>
                </a:solidFill>
              </a:rPr>
              <a:t>定义一维数组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           </a:t>
            </a:r>
            <a:r>
              <a:rPr lang="en-US" altLang="zh-CN" sz="2600" dirty="0">
                <a:solidFill>
                  <a:schemeClr val="tx1"/>
                </a:solidFill>
              </a:rPr>
              <a:t>&lt;</a:t>
            </a:r>
            <a:r>
              <a:rPr lang="zh-CN" altLang="en-US" sz="2600" dirty="0">
                <a:solidFill>
                  <a:schemeClr val="tx1"/>
                </a:solidFill>
              </a:rPr>
              <a:t>类型说明符</a:t>
            </a:r>
            <a:r>
              <a:rPr lang="en-US" altLang="zh-CN" sz="2600" dirty="0">
                <a:solidFill>
                  <a:schemeClr val="tx1"/>
                </a:solidFill>
              </a:rPr>
              <a:t>&gt;    &lt;</a:t>
            </a:r>
            <a:r>
              <a:rPr lang="zh-CN" altLang="en-US" sz="2600" dirty="0">
                <a:solidFill>
                  <a:schemeClr val="tx1"/>
                </a:solidFill>
              </a:rPr>
              <a:t>数组名</a:t>
            </a:r>
            <a:r>
              <a:rPr lang="en-US" altLang="zh-CN" sz="2600" dirty="0">
                <a:solidFill>
                  <a:schemeClr val="tx1"/>
                </a:solidFill>
              </a:rPr>
              <a:t>&gt;[&lt;</a:t>
            </a:r>
            <a:r>
              <a:rPr lang="zh-CN" altLang="en-US" sz="2600" dirty="0">
                <a:solidFill>
                  <a:schemeClr val="tx1"/>
                </a:solidFill>
              </a:rPr>
              <a:t>元素的个数</a:t>
            </a:r>
            <a:r>
              <a:rPr lang="en-US" altLang="zh-CN" sz="2600" dirty="0">
                <a:solidFill>
                  <a:schemeClr val="tx1"/>
                </a:solidFill>
              </a:rPr>
              <a:t>&gt;];</a:t>
            </a:r>
          </a:p>
          <a:p>
            <a:pPr marL="457200" lvl="1" indent="0">
              <a:lnSpc>
                <a:spcPct val="150000"/>
              </a:lnSpc>
              <a:buNone/>
              <a:defRPr/>
            </a:pPr>
            <a:r>
              <a:rPr lang="zh-CN" altLang="en-US" sz="2600" dirty="0">
                <a:solidFill>
                  <a:schemeClr val="tx1"/>
                </a:solidFill>
              </a:rPr>
              <a:t>例如：</a:t>
            </a:r>
            <a:r>
              <a:rPr lang="zh-CN" altLang="en-US" sz="2000" dirty="0"/>
              <a:t>          </a:t>
            </a:r>
            <a:endParaRPr lang="en-US" altLang="zh-CN" sz="2000" dirty="0"/>
          </a:p>
          <a:p>
            <a:pPr marL="457200" lvl="1" indent="0">
              <a:lnSpc>
                <a:spcPct val="150000"/>
              </a:lnSpc>
              <a:buNone/>
              <a:defRPr/>
            </a:pPr>
            <a:r>
              <a:rPr lang="zh-CN" altLang="en-US" dirty="0"/>
              <a:t>           </a:t>
            </a:r>
            <a:r>
              <a:rPr lang="en-US" altLang="zh-CN" sz="2600" dirty="0" err="1"/>
              <a:t>int</a:t>
            </a:r>
            <a:r>
              <a:rPr lang="en-US" altLang="zh-CN" sz="2600" dirty="0"/>
              <a:t>  score[5];    //</a:t>
            </a:r>
            <a:r>
              <a:rPr lang="zh-CN" altLang="en-US" sz="2600" dirty="0"/>
              <a:t>存放</a:t>
            </a:r>
            <a:r>
              <a:rPr lang="en-US" altLang="zh-CN" sz="2600" dirty="0"/>
              <a:t>5</a:t>
            </a:r>
            <a:r>
              <a:rPr lang="zh-CN" altLang="en-US" sz="2600" dirty="0"/>
              <a:t>名同学课程成绩</a:t>
            </a:r>
            <a:endParaRPr lang="en-US" altLang="zh-CN" sz="2600" dirty="0"/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  const   int   numDays = 5 ;	</a:t>
            </a:r>
            <a:endParaRPr lang="zh-CN" altLang="en-US" sz="2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  int    workDay[ numDays ];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  #define   COUNT   5	</a:t>
            </a:r>
            <a:endParaRPr lang="zh-CN" altLang="en-US" sz="2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 double  pay[ COUNT ]; </a:t>
            </a:r>
            <a:r>
              <a:rPr lang="zh-CN" altLang="en-US" sz="2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14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3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6.1.2 </a:t>
            </a:r>
            <a:r>
              <a:rPr lang="zh-CN" altLang="en-US" dirty="0"/>
              <a:t>引用一维数组元素 </a:t>
            </a: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983432" y="1412776"/>
            <a:ext cx="10370368" cy="5040560"/>
          </a:xfrm>
        </p:spPr>
        <p:txBody>
          <a:bodyPr vert="horz" wrap="square" lIns="91440" tIns="45720" rIns="91440" bIns="45720" anchor="t" anchorCtr="0">
            <a:noAutofit/>
          </a:bodyPr>
          <a:lstStyle/>
          <a:p>
            <a:pPr eaLnBrk="1" hangingPunct="1">
              <a:lnSpc>
                <a:spcPct val="170000"/>
              </a:lnSpc>
              <a:spcBef>
                <a:spcPct val="10000"/>
              </a:spcBef>
            </a:pPr>
            <a:r>
              <a:rPr lang="zh-CN" altLang="en-US" sz="2400" dirty="0">
                <a:solidFill>
                  <a:schemeClr val="tx1"/>
                </a:solidFill>
              </a:rPr>
              <a:t>元素的访问：通过下标访问元素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indent="0" eaLnBrk="1" hangingPunct="1">
              <a:lnSpc>
                <a:spcPct val="170000"/>
              </a:lnSpc>
              <a:spcBef>
                <a:spcPct val="1000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例如：</a:t>
            </a:r>
            <a:r>
              <a:rPr lang="en-US" altLang="zh-CN" sz="2400" dirty="0">
                <a:solidFill>
                  <a:schemeClr val="tx1"/>
                </a:solidFill>
              </a:rPr>
              <a:t>days[0] = 10;	</a:t>
            </a:r>
          </a:p>
          <a:p>
            <a:pPr eaLnBrk="1" hangingPunct="1">
              <a:lnSpc>
                <a:spcPct val="170000"/>
              </a:lnSpc>
              <a:spcBef>
                <a:spcPct val="1000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注意：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514350" indent="-514350" eaLnBrk="1" hangingPunct="1">
              <a:lnSpc>
                <a:spcPct val="100000"/>
              </a:lnSpc>
              <a:spcBef>
                <a:spcPct val="10000"/>
              </a:spcBef>
              <a:buFont typeface="+mj-lt"/>
              <a:buAutoNum type="alphaLcParenR"/>
            </a:pPr>
            <a:r>
              <a:rPr lang="zh-CN" altLang="en-US" sz="2400" dirty="0">
                <a:solidFill>
                  <a:schemeClr val="tx1"/>
                </a:solidFill>
              </a:rPr>
              <a:t>全局数组元素初值为</a:t>
            </a:r>
            <a:r>
              <a:rPr lang="en-US" altLang="zh-CN" sz="2400" dirty="0">
                <a:solidFill>
                  <a:schemeClr val="tx1"/>
                </a:solidFill>
              </a:rPr>
              <a:t>0</a:t>
            </a:r>
            <a:r>
              <a:rPr lang="zh-CN" altLang="en-US" sz="2400" dirty="0">
                <a:solidFill>
                  <a:schemeClr val="tx1"/>
                </a:solidFill>
              </a:rPr>
              <a:t>；局部数组初值不定。</a:t>
            </a:r>
            <a:endParaRPr lang="en-US" altLang="zh-CN" dirty="0"/>
          </a:p>
          <a:p>
            <a:pPr marL="514350" indent="-514350">
              <a:lnSpc>
                <a:spcPct val="100000"/>
              </a:lnSpc>
              <a:spcBef>
                <a:spcPct val="10000"/>
              </a:spcBef>
              <a:buFont typeface="+mj-lt"/>
              <a:buAutoNum type="alphaLcParenR"/>
            </a:pPr>
            <a:r>
              <a:rPr lang="zh-CN" altLang="zh-CN" sz="2400" dirty="0">
                <a:solidFill>
                  <a:srgbClr val="FF0000"/>
                </a:solidFill>
              </a:rPr>
              <a:t>元素的下标从</a:t>
            </a:r>
            <a:r>
              <a:rPr lang="en-US" altLang="zh-CN" sz="2400" dirty="0">
                <a:solidFill>
                  <a:srgbClr val="FF0000"/>
                </a:solidFill>
              </a:rPr>
              <a:t>0</a:t>
            </a:r>
            <a:r>
              <a:rPr lang="zh-CN" altLang="zh-CN" sz="2400" dirty="0">
                <a:solidFill>
                  <a:srgbClr val="FF0000"/>
                </a:solidFill>
              </a:rPr>
              <a:t>开始计</a:t>
            </a:r>
            <a:endParaRPr lang="en-US" altLang="zh-CN" sz="2400" dirty="0"/>
          </a:p>
          <a:p>
            <a:pPr marL="514350" indent="-514350">
              <a:lnSpc>
                <a:spcPct val="100000"/>
              </a:lnSpc>
              <a:spcBef>
                <a:spcPct val="10000"/>
              </a:spcBef>
              <a:buFont typeface="+mj-lt"/>
              <a:buAutoNum type="alphaLcParenR"/>
            </a:pPr>
            <a:r>
              <a:rPr lang="zh-CN" altLang="zh-CN" sz="2400" dirty="0"/>
              <a:t>数组元素的最大下标比元素个数</a:t>
            </a:r>
            <a:r>
              <a:rPr lang="zh-CN" altLang="zh-CN" sz="2400" dirty="0">
                <a:solidFill>
                  <a:srgbClr val="FF0000"/>
                </a:solidFill>
              </a:rPr>
              <a:t>少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eaLnBrk="1" hangingPunct="1">
              <a:lnSpc>
                <a:spcPct val="170000"/>
              </a:lnSpc>
              <a:spcBef>
                <a:spcPct val="10000"/>
              </a:spcBef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思考如下有什么错：</a:t>
            </a:r>
          </a:p>
          <a:p>
            <a:pPr eaLnBrk="1" hangingPunct="1">
              <a:lnSpc>
                <a:spcPct val="170000"/>
              </a:lnSpc>
              <a:spcBef>
                <a:spcPct val="10000"/>
              </a:spcBef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		int 	readings[-1]</a:t>
            </a:r>
          </a:p>
          <a:p>
            <a:pPr eaLnBrk="1" hangingPunct="1">
              <a:lnSpc>
                <a:spcPct val="170000"/>
              </a:lnSpc>
              <a:spcBef>
                <a:spcPct val="10000"/>
              </a:spcBef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		float 	measurements[4.5]	</a:t>
            </a:r>
          </a:p>
        </p:txBody>
      </p:sp>
      <p:sp>
        <p:nvSpPr>
          <p:cNvPr id="717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6.1.3 </a:t>
            </a:r>
            <a:r>
              <a:rPr lang="zh-CN" altLang="en-US" dirty="0"/>
              <a:t>数组无越界检查 </a:t>
            </a:r>
          </a:p>
        </p:txBody>
      </p:sp>
      <p:sp>
        <p:nvSpPr>
          <p:cNvPr id="819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例如：</a:t>
            </a: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		</a:t>
            </a:r>
            <a:r>
              <a:rPr lang="en-US" altLang="zh-CN" dirty="0">
                <a:solidFill>
                  <a:schemeClr val="tx1"/>
                </a:solidFill>
              </a:rPr>
              <a:t>short   values[3];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	for ( int  count = 0;  count &lt; 5;  count++)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		values[ count ] = 200; </a:t>
            </a: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注意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zh-CN" altLang="en-US" dirty="0">
                <a:solidFill>
                  <a:srgbClr val="FF0000"/>
                </a:solidFill>
              </a:rPr>
              <a:t>数组无越界检查</a:t>
            </a:r>
            <a:r>
              <a:rPr lang="zh-CN" altLang="en-US" dirty="0">
                <a:solidFill>
                  <a:schemeClr val="tx1"/>
                </a:solidFill>
              </a:rPr>
              <a:t>。权利与义务是相对的。</a:t>
            </a:r>
            <a:r>
              <a:rPr lang="en-US" altLang="zh-CN" dirty="0">
                <a:solidFill>
                  <a:schemeClr val="tx1"/>
                </a:solidFill>
              </a:rPr>
              <a:t>C++</a:t>
            </a:r>
            <a:r>
              <a:rPr lang="zh-CN" altLang="en-US" dirty="0">
                <a:solidFill>
                  <a:schemeClr val="tx1"/>
                </a:solidFill>
              </a:rPr>
              <a:t>是一个很灵活的语言，给程序员高度自由的同时，也要求你具有高度的责任感，否则系统崩溃的后果自负。</a:t>
            </a:r>
          </a:p>
        </p:txBody>
      </p:sp>
      <p:sp>
        <p:nvSpPr>
          <p:cNvPr id="819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5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38A858E-8636-4A6A-8AA6-C05CBAD9EA20}"/>
              </a:ext>
            </a:extLst>
          </p:cNvPr>
          <p:cNvSpPr txBox="1"/>
          <p:nvPr/>
        </p:nvSpPr>
        <p:spPr>
          <a:xfrm>
            <a:off x="1199456" y="6125517"/>
            <a:ext cx="6964984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若在</a:t>
            </a:r>
            <a:r>
              <a:rPr lang="en-US" altLang="zh-CN" dirty="0">
                <a:solidFill>
                  <a:srgbClr val="7030A0"/>
                </a:solidFill>
              </a:rPr>
              <a:t>PTA</a:t>
            </a:r>
            <a:r>
              <a:rPr lang="zh-CN" altLang="en-US" dirty="0">
                <a:solidFill>
                  <a:srgbClr val="7030A0"/>
                </a:solidFill>
              </a:rPr>
              <a:t>中报段错误，请首先检查数组的越界问题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6.1.4 </a:t>
            </a:r>
            <a:r>
              <a:rPr lang="zh-CN" altLang="en-US" dirty="0"/>
              <a:t>数组初始化 </a:t>
            </a:r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xfrm>
            <a:off x="1847528" y="1628775"/>
            <a:ext cx="9587407" cy="509270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eaLnBrk="1" hangingPunct="1"/>
            <a:r>
              <a:rPr lang="zh-CN" altLang="en-US" sz="2600" dirty="0">
                <a:solidFill>
                  <a:schemeClr val="tx1"/>
                </a:solidFill>
              </a:rPr>
              <a:t>初始化：在定义数组的同时对元素赋值。 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rgbClr val="FF0000"/>
                </a:solidFill>
              </a:rPr>
              <a:t>(1)</a:t>
            </a:r>
            <a:r>
              <a:rPr lang="zh-CN" altLang="en-US" sz="2600" dirty="0">
                <a:solidFill>
                  <a:srgbClr val="FF0000"/>
                </a:solidFill>
              </a:rPr>
              <a:t>全部赋初值，</a:t>
            </a:r>
            <a:r>
              <a:rPr lang="zh-CN" altLang="en-US" sz="2600" dirty="0">
                <a:solidFill>
                  <a:schemeClr val="tx1"/>
                </a:solidFill>
              </a:rPr>
              <a:t>例如：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int  days[7]={0, 1, 2, 3, 4, 5, 6};</a:t>
            </a:r>
          </a:p>
          <a:p>
            <a:pPr>
              <a:buNone/>
            </a:pPr>
            <a:r>
              <a:rPr lang="en-US" altLang="zh-CN" sz="2600" dirty="0"/>
              <a:t>              </a:t>
            </a:r>
            <a:r>
              <a:rPr lang="en-US" altLang="zh-CN" sz="2600" dirty="0" err="1"/>
              <a:t>int</a:t>
            </a:r>
            <a:r>
              <a:rPr lang="en-US" altLang="zh-CN" sz="2600" dirty="0"/>
              <a:t> days[7]={0};//</a:t>
            </a:r>
            <a:r>
              <a:rPr lang="zh-CN" altLang="en-US" sz="2600" dirty="0"/>
              <a:t>全部数组元素赋初值为</a:t>
            </a:r>
            <a:r>
              <a:rPr lang="en-US" altLang="zh-CN" sz="2600" dirty="0"/>
              <a:t>0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rgbClr val="FF0000"/>
                </a:solidFill>
              </a:rPr>
              <a:t>(2) </a:t>
            </a:r>
            <a:r>
              <a:rPr lang="zh-CN" altLang="en-US" sz="2600" dirty="0">
                <a:solidFill>
                  <a:srgbClr val="FF0000"/>
                </a:solidFill>
              </a:rPr>
              <a:t>部分元素赋初值</a:t>
            </a:r>
            <a:r>
              <a:rPr lang="zh-CN" altLang="en-US" sz="2600" dirty="0">
                <a:solidFill>
                  <a:schemeClr val="tx1"/>
                </a:solidFill>
              </a:rPr>
              <a:t>，例如：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int days[7]={0, 1, 2, 3}; </a:t>
            </a:r>
            <a:r>
              <a:rPr lang="en-US" altLang="zh-CN" sz="2600" dirty="0"/>
              <a:t>//</a:t>
            </a:r>
            <a:r>
              <a:rPr lang="zh-CN" altLang="en-US" sz="2600" dirty="0"/>
              <a:t>剩余的自动初始化为</a:t>
            </a:r>
            <a:r>
              <a:rPr lang="en-US" altLang="zh-CN" sz="2600" dirty="0"/>
              <a:t>0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sz="2600" dirty="0">
                <a:solidFill>
                  <a:srgbClr val="FF0000"/>
                </a:solidFill>
              </a:rPr>
              <a:t>(3)</a:t>
            </a:r>
            <a:r>
              <a:rPr lang="zh-CN" altLang="en-US" sz="2600" dirty="0">
                <a:solidFill>
                  <a:srgbClr val="FF0000"/>
                </a:solidFill>
              </a:rPr>
              <a:t> 全部数组元素赋初值时，</a:t>
            </a:r>
            <a:r>
              <a:rPr lang="zh-CN" altLang="en-US" sz="2600" dirty="0">
                <a:solidFill>
                  <a:schemeClr val="tx1"/>
                </a:solidFill>
              </a:rPr>
              <a:t>可以不指定长度：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int days[ ]={0, 1, 2, 3, 4}; 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(4) </a:t>
            </a:r>
            <a:r>
              <a:rPr lang="zh-CN" altLang="en-US" sz="2600" dirty="0">
                <a:solidFill>
                  <a:schemeClr val="tx1"/>
                </a:solidFill>
              </a:rPr>
              <a:t>全局数组和静态数组的初值都自动为</a:t>
            </a:r>
            <a:r>
              <a:rPr lang="en-US" altLang="zh-CN" sz="2600" dirty="0">
                <a:solidFill>
                  <a:schemeClr val="tx1"/>
                </a:solidFill>
              </a:rPr>
              <a:t>0</a:t>
            </a:r>
            <a:r>
              <a:rPr lang="zh-CN" altLang="en-US" sz="2600" dirty="0">
                <a:solidFill>
                  <a:schemeClr val="tx1"/>
                </a:solidFill>
              </a:rPr>
              <a:t>；而局部自动数组的初值不确定。 </a:t>
            </a:r>
            <a:endParaRPr lang="en-US" altLang="zh-CN" sz="2600" dirty="0">
              <a:solidFill>
                <a:schemeClr val="tx1"/>
              </a:solidFill>
            </a:endParaRPr>
          </a:p>
        </p:txBody>
      </p:sp>
      <p:sp>
        <p:nvSpPr>
          <p:cNvPr id="921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1C23A936-A0FE-4AE5-8F9F-D14C6B557659}"/>
              </a:ext>
            </a:extLst>
          </p:cNvPr>
          <p:cNvSpPr txBox="1"/>
          <p:nvPr/>
        </p:nvSpPr>
        <p:spPr>
          <a:xfrm>
            <a:off x="1559496" y="332656"/>
            <a:ext cx="8856984" cy="600164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】</a:t>
            </a:r>
            <a:r>
              <a:rPr lang="zh-CN" altLang="en-US" dirty="0">
                <a:solidFill>
                  <a:schemeClr val="tx1"/>
                </a:solidFill>
              </a:rPr>
              <a:t>输入</a:t>
            </a:r>
            <a:r>
              <a:rPr lang="en-US" altLang="zh-CN" dirty="0">
                <a:solidFill>
                  <a:schemeClr val="tx1"/>
                </a:solidFill>
              </a:rPr>
              <a:t>10</a:t>
            </a:r>
            <a:r>
              <a:rPr lang="zh-CN" altLang="en-US" dirty="0">
                <a:solidFill>
                  <a:schemeClr val="tx1"/>
                </a:solidFill>
              </a:rPr>
              <a:t>个数，并计算这</a:t>
            </a:r>
            <a:r>
              <a:rPr lang="en-US" altLang="zh-CN" dirty="0">
                <a:solidFill>
                  <a:schemeClr val="tx1"/>
                </a:solidFill>
              </a:rPr>
              <a:t>10</a:t>
            </a:r>
            <a:r>
              <a:rPr lang="zh-CN" altLang="en-US" dirty="0">
                <a:solidFill>
                  <a:schemeClr val="tx1"/>
                </a:solidFill>
              </a:rPr>
              <a:t>个数的和，然后反序输出。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#include &lt;iostream&gt;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#include &lt;</a:t>
            </a:r>
            <a:r>
              <a:rPr lang="en-US" altLang="zh-CN" dirty="0" err="1">
                <a:solidFill>
                  <a:schemeClr val="tx1"/>
                </a:solidFill>
              </a:rPr>
              <a:t>iomanip</a:t>
            </a:r>
            <a:r>
              <a:rPr lang="en-US" altLang="zh-CN" dirty="0">
                <a:solidFill>
                  <a:schemeClr val="tx1"/>
                </a:solidFill>
              </a:rPr>
              <a:t>&gt;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using namespace std;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const int n = 10;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int  main ( ) {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int a[n];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int sum = 0,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for (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= 0;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&lt; n;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++) {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</a:t>
            </a:r>
            <a:r>
              <a:rPr lang="en-US" altLang="zh-CN" dirty="0" err="1">
                <a:solidFill>
                  <a:schemeClr val="tx1"/>
                </a:solidFill>
              </a:rPr>
              <a:t>cin</a:t>
            </a:r>
            <a:r>
              <a:rPr lang="en-US" altLang="zh-CN" dirty="0">
                <a:solidFill>
                  <a:schemeClr val="tx1"/>
                </a:solidFill>
              </a:rPr>
              <a:t> &gt;&gt; a[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];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sum = sum + a[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];	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 &lt;&lt; "sum=" &lt;&lt; sum &lt;&lt; </a:t>
            </a:r>
            <a:r>
              <a:rPr lang="en-US" altLang="zh-CN" dirty="0" err="1">
                <a:solidFill>
                  <a:schemeClr val="tx1"/>
                </a:solidFill>
              </a:rPr>
              <a:t>endl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for (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= n - 1;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&gt;= 0;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--) {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 &lt;&lt; </a:t>
            </a:r>
            <a:r>
              <a:rPr lang="en-US" altLang="zh-CN" dirty="0" err="1">
                <a:solidFill>
                  <a:schemeClr val="tx1"/>
                </a:solidFill>
              </a:rPr>
              <a:t>setw</a:t>
            </a:r>
            <a:r>
              <a:rPr lang="en-US" altLang="zh-CN" dirty="0">
                <a:solidFill>
                  <a:schemeClr val="tx1"/>
                </a:solidFill>
              </a:rPr>
              <a:t>(5) &lt;&lt; a[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];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return 0; }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831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4"/>
          <p:cNvSpPr txBox="1"/>
          <p:nvPr/>
        </p:nvSpPr>
        <p:spPr>
          <a:xfrm>
            <a:off x="2279650" y="514350"/>
            <a:ext cx="8280400" cy="6370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6.1】</a:t>
            </a:r>
            <a:r>
              <a:rPr lang="zh-CN" altLang="en-US" dirty="0">
                <a:solidFill>
                  <a:schemeClr val="tx1"/>
                </a:solidFill>
              </a:rPr>
              <a:t>用数组求</a:t>
            </a:r>
            <a:r>
              <a:rPr lang="en-US" altLang="zh-CN" dirty="0">
                <a:solidFill>
                  <a:schemeClr val="tx1"/>
                </a:solidFill>
              </a:rPr>
              <a:t>Fibonacci</a:t>
            </a:r>
            <a:r>
              <a:rPr lang="zh-CN" altLang="en-US" dirty="0">
                <a:solidFill>
                  <a:schemeClr val="tx1"/>
                </a:solidFill>
              </a:rPr>
              <a:t>数列的前</a:t>
            </a:r>
            <a:r>
              <a:rPr lang="en-US" altLang="zh-CN" dirty="0">
                <a:solidFill>
                  <a:schemeClr val="tx1"/>
                </a:solidFill>
              </a:rPr>
              <a:t>24</a:t>
            </a:r>
            <a:r>
              <a:rPr lang="zh-CN" altLang="en-US" dirty="0">
                <a:solidFill>
                  <a:schemeClr val="tx1"/>
                </a:solidFill>
              </a:rPr>
              <a:t>项，以及它们的和。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      	int i,  fib[24]={1, 1},  sum;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sum=fib[0]+fib[1]; 	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	for (i=2; i&lt;24; i++)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	{	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		fib[i] = fib[i-2] + fib[i-1];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		sum += fib[i];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	}	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	for ( i=0; i&lt;24; i++)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	{	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		cout &lt;&lt; setw(10) &lt;&lt; fib[i];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		if ((i+1)%6==0) 	cout &lt;&lt; endl;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	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	cout &lt;&lt; setw(10) &lt;&lt; "sum = " &lt;&lt; sum &lt;&lt; endl;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	return 0;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243" name="AutoShape 5"/>
          <p:cNvSpPr/>
          <p:nvPr/>
        </p:nvSpPr>
        <p:spPr>
          <a:xfrm>
            <a:off x="8472489" y="616585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4-1.cpp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6.2 </a:t>
            </a:r>
            <a:r>
              <a:rPr lang="zh-CN" altLang="en-US" dirty="0"/>
              <a:t>多维数组 </a:t>
            </a:r>
          </a:p>
        </p:txBody>
      </p:sp>
      <p:sp>
        <p:nvSpPr>
          <p:cNvPr id="1126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sz="2600" dirty="0">
                <a:solidFill>
                  <a:schemeClr val="tx1"/>
                </a:solidFill>
              </a:rPr>
              <a:t>具有两个或两个以上下标的数组称为多维数组</a:t>
            </a:r>
            <a:r>
              <a:rPr lang="en-US" altLang="zh-CN" sz="2600" dirty="0">
                <a:solidFill>
                  <a:schemeClr val="tx1"/>
                </a:solidFill>
              </a:rPr>
              <a:t>;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600" dirty="0">
                <a:solidFill>
                  <a:schemeClr val="tx1"/>
                </a:solidFill>
              </a:rPr>
              <a:t>一维数组对应向量</a:t>
            </a:r>
            <a:r>
              <a:rPr lang="en-US" altLang="zh-CN" sz="2600" dirty="0">
                <a:solidFill>
                  <a:schemeClr val="tx1"/>
                </a:solidFill>
              </a:rPr>
              <a:t>;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600" dirty="0">
                <a:solidFill>
                  <a:schemeClr val="tx1"/>
                </a:solidFill>
              </a:rPr>
              <a:t>二维数组对应矩阵或一个二维表。二维数组的横向为行，纵向为列。 第一个下标称为</a:t>
            </a:r>
            <a:r>
              <a:rPr lang="zh-CN" altLang="en-US" sz="2600" dirty="0">
                <a:solidFill>
                  <a:srgbClr val="FF0000"/>
                </a:solidFill>
              </a:rPr>
              <a:t>行下标</a:t>
            </a:r>
            <a:r>
              <a:rPr lang="zh-CN" altLang="en-US" sz="2600" dirty="0">
                <a:solidFill>
                  <a:schemeClr val="tx1"/>
                </a:solidFill>
              </a:rPr>
              <a:t>，第二个下标称为</a:t>
            </a:r>
            <a:r>
              <a:rPr lang="zh-CN" altLang="en-US" sz="2600" dirty="0">
                <a:solidFill>
                  <a:srgbClr val="FF0000"/>
                </a:solidFill>
              </a:rPr>
              <a:t>列下标</a:t>
            </a:r>
            <a:r>
              <a:rPr lang="zh-CN" altLang="en-US" sz="2600" dirty="0">
                <a:solidFill>
                  <a:schemeClr val="tx1"/>
                </a:solidFill>
              </a:rPr>
              <a:t>。 </a:t>
            </a:r>
          </a:p>
        </p:txBody>
      </p:sp>
      <p:sp>
        <p:nvSpPr>
          <p:cNvPr id="1126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9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6.2.1 </a:t>
            </a:r>
            <a:r>
              <a:rPr lang="zh-CN" altLang="en-US" dirty="0"/>
              <a:t>二维数组的定义 </a:t>
            </a:r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xfrm>
            <a:off x="1981200" y="1752601"/>
            <a:ext cx="8153400" cy="1389063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例如，定义一个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行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列的二维数组：</a:t>
            </a: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	    	</a:t>
            </a:r>
            <a:r>
              <a:rPr lang="en-US" altLang="zh-CN" dirty="0">
                <a:solidFill>
                  <a:schemeClr val="tx1"/>
                </a:solidFill>
              </a:rPr>
              <a:t>int  matrix[ 3 ][ 4 ];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2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10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pic>
        <p:nvPicPr>
          <p:cNvPr id="12293" name="Picture 4"/>
          <p:cNvPicPr>
            <a:picLocks noChangeAspect="1"/>
          </p:cNvPicPr>
          <p:nvPr/>
        </p:nvPicPr>
        <p:blipFill rotWithShape="1">
          <a:blip r:embed="rId2"/>
          <a:srcRect b="22536"/>
          <a:stretch/>
        </p:blipFill>
        <p:spPr>
          <a:xfrm>
            <a:off x="1415480" y="3220616"/>
            <a:ext cx="9517616" cy="179255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6.2.2 </a:t>
            </a:r>
            <a:r>
              <a:rPr lang="zh-CN" altLang="en-US" dirty="0"/>
              <a:t>二维数组的初始化 </a:t>
            </a:r>
          </a:p>
        </p:txBody>
      </p:sp>
      <p:sp>
        <p:nvSpPr>
          <p:cNvPr id="13316" name="Rectangle 3"/>
          <p:cNvSpPr>
            <a:spLocks noGrp="1"/>
          </p:cNvSpPr>
          <p:nvPr>
            <p:ph idx="1"/>
          </p:nvPr>
        </p:nvSpPr>
        <p:spPr>
          <a:xfrm>
            <a:off x="983432" y="1539082"/>
            <a:ext cx="10873208" cy="4968875"/>
          </a:xfrm>
        </p:spPr>
        <p:txBody>
          <a:bodyPr vert="horz" wrap="square" lIns="91440" tIns="45720" rIns="91440" bIns="45720" anchor="t" anchorCtr="0">
            <a:normAutofit fontScale="92500" lnSpcReduction="10000"/>
          </a:bodyPr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按行对二维数组初始化，例如：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		int  matrix[3][4]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{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						{1, 2, 3, 4},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						{5, 6, 7, 8},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						{9, 10, 11, 12}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					 }; 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2.</a:t>
            </a:r>
            <a:r>
              <a:rPr lang="zh-CN" altLang="en-US" dirty="0">
                <a:solidFill>
                  <a:schemeClr val="tx1"/>
                </a:solidFill>
              </a:rPr>
              <a:t>将所有数据写在一个花括号内，按数组元素排列的顺序赋初值： 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  matrix[3][4]={1, 2, 3, 4, 5, 6, 7, 8, 9, 10, 11, 12}; </a:t>
            </a:r>
          </a:p>
        </p:txBody>
      </p:sp>
      <p:sp>
        <p:nvSpPr>
          <p:cNvPr id="1331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11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6.2.2 </a:t>
            </a:r>
            <a:r>
              <a:rPr lang="zh-CN" altLang="en-US" dirty="0"/>
              <a:t>二维数组的初始化 </a:t>
            </a:r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xfrm>
            <a:off x="1487488" y="1669308"/>
            <a:ext cx="10153128" cy="4556125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对部分元素赋初值，例如：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		int  matrix[3][4]={	{1},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						{5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6},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						{9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10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11}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					}; 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4.</a:t>
            </a:r>
            <a:r>
              <a:rPr lang="zh-CN" altLang="en-US" dirty="0">
                <a:solidFill>
                  <a:schemeClr val="tx1"/>
                </a:solidFill>
              </a:rPr>
              <a:t>根据给定的初始化数据，</a:t>
            </a:r>
            <a:r>
              <a:rPr lang="zh-CN" altLang="en-US" dirty="0">
                <a:solidFill>
                  <a:srgbClr val="FF0000"/>
                </a:solidFill>
              </a:rPr>
              <a:t>自动确定</a:t>
            </a:r>
            <a:r>
              <a:rPr lang="zh-CN" altLang="en-US" dirty="0">
                <a:solidFill>
                  <a:schemeClr val="tx1"/>
                </a:solidFill>
              </a:rPr>
              <a:t>数组的</a:t>
            </a:r>
            <a:r>
              <a:rPr lang="zh-CN" altLang="en-US" dirty="0">
                <a:solidFill>
                  <a:srgbClr val="FF0000"/>
                </a:solidFill>
              </a:rPr>
              <a:t>行数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 eaLnBrk="1" hangingPunct="1">
              <a:lnSpc>
                <a:spcPct val="100000"/>
              </a:lnSpc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  matrix[ ][4]={1, 2, 3, 4, 5, 6, 7, 8, 9, 10}; 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5. </a:t>
            </a:r>
            <a:r>
              <a:rPr lang="zh-CN" altLang="en-US" dirty="0">
                <a:solidFill>
                  <a:schemeClr val="tx1"/>
                </a:solidFill>
              </a:rPr>
              <a:t>定义数组时可省略行数，但不能省略列数：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		int  matrix[3][ ]={1, 2, 3, 4, 5, 6, 7, 8, 9, 10}; </a:t>
            </a:r>
          </a:p>
        </p:txBody>
      </p:sp>
      <p:sp>
        <p:nvSpPr>
          <p:cNvPr id="1433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12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乘号 1">
            <a:extLst>
              <a:ext uri="{FF2B5EF4-FFF2-40B4-BE49-F238E27FC236}">
                <a16:creationId xmlns:a16="http://schemas.microsoft.com/office/drawing/2014/main" id="{0B86CDBF-0326-440D-865D-2C12AE0F1DD1}"/>
              </a:ext>
            </a:extLst>
          </p:cNvPr>
          <p:cNvSpPr/>
          <p:nvPr/>
        </p:nvSpPr>
        <p:spPr>
          <a:xfrm>
            <a:off x="9048328" y="5505353"/>
            <a:ext cx="792088" cy="72008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uiExpand="1" build="p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6.2.3 </a:t>
            </a:r>
            <a:r>
              <a:rPr lang="zh-CN" altLang="en-US" dirty="0"/>
              <a:t>引用二维数组元素 </a:t>
            </a:r>
          </a:p>
        </p:txBody>
      </p:sp>
      <p:sp>
        <p:nvSpPr>
          <p:cNvPr id="15364" name="Rectangle 3"/>
          <p:cNvSpPr>
            <a:spLocks noGrp="1"/>
          </p:cNvSpPr>
          <p:nvPr>
            <p:ph idx="1"/>
          </p:nvPr>
        </p:nvSpPr>
        <p:spPr>
          <a:xfrm>
            <a:off x="1811099" y="1556792"/>
            <a:ext cx="8153400" cy="4484688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例如，有如下定义：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	int  matrix[3][4]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正确：</a:t>
            </a:r>
            <a:r>
              <a:rPr lang="en-US" altLang="zh-CN" dirty="0">
                <a:solidFill>
                  <a:schemeClr val="tx1"/>
                </a:solidFill>
              </a:rPr>
              <a:t>matrix[0][0] = matrix[1][2] + matrix[2][3] 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错误：</a:t>
            </a:r>
            <a:r>
              <a:rPr lang="en-US" altLang="zh-CN" dirty="0">
                <a:solidFill>
                  <a:schemeClr val="tx1"/>
                </a:solidFill>
              </a:rPr>
              <a:t>matrix[3][4] = 5; </a:t>
            </a:r>
            <a:r>
              <a:rPr lang="en-US" altLang="zh-CN" dirty="0"/>
              <a:t>//</a:t>
            </a:r>
            <a:r>
              <a:rPr lang="zh-CN" altLang="en-US" dirty="0"/>
              <a:t>超界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但</a:t>
            </a:r>
            <a:r>
              <a:rPr lang="zh-CN" altLang="en-US" dirty="0">
                <a:solidFill>
                  <a:srgbClr val="FF0000"/>
                </a:solidFill>
              </a:rPr>
              <a:t>不能混淆：</a:t>
            </a:r>
            <a:r>
              <a:rPr lang="en-US" altLang="zh-CN" dirty="0">
                <a:solidFill>
                  <a:schemeClr val="tx1"/>
                </a:solidFill>
              </a:rPr>
              <a:t>int matrix[3][4] = {0}; </a:t>
            </a:r>
          </a:p>
          <a:p>
            <a:pPr eaLnBrk="1" hangingPunct="1"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数组不能整体赋值，例如：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	int  matrix_A[3][4] = {0}, matrix_B[3][4];</a:t>
            </a:r>
            <a:r>
              <a:rPr lang="zh-CN" altLang="fr-FR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		</a:t>
            </a:r>
            <a:r>
              <a:rPr lang="en-US" altLang="zh-CN" dirty="0">
                <a:solidFill>
                  <a:schemeClr val="tx1"/>
                </a:solidFill>
              </a:rPr>
              <a:t>matrix_B = matrix_A</a:t>
            </a:r>
            <a:r>
              <a:rPr lang="zh-CN" altLang="en-US" dirty="0">
                <a:solidFill>
                  <a:schemeClr val="tx1"/>
                </a:solidFill>
              </a:rPr>
              <a:t>； </a:t>
            </a:r>
            <a:r>
              <a:rPr lang="en-US" altLang="zh-CN" dirty="0">
                <a:solidFill>
                  <a:srgbClr val="FF0000"/>
                </a:solidFill>
              </a:rPr>
              <a:t>// error</a:t>
            </a:r>
          </a:p>
        </p:txBody>
      </p:sp>
      <p:sp>
        <p:nvSpPr>
          <p:cNvPr id="1536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13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6.3 </a:t>
            </a:r>
            <a:r>
              <a:rPr lang="zh-CN" altLang="en-US" dirty="0"/>
              <a:t>数组作函数参数</a:t>
            </a:r>
          </a:p>
        </p:txBody>
      </p:sp>
      <p:sp>
        <p:nvSpPr>
          <p:cNvPr id="16388" name="Rectangle 3"/>
          <p:cNvSpPr>
            <a:spLocks noGrp="1"/>
          </p:cNvSpPr>
          <p:nvPr>
            <p:ph idx="1"/>
          </p:nvPr>
        </p:nvSpPr>
        <p:spPr>
          <a:xfrm>
            <a:off x="1981201" y="1752600"/>
            <a:ext cx="8435975" cy="812304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tx1"/>
                </a:solidFill>
              </a:rPr>
              <a:t>两种情况：</a:t>
            </a:r>
            <a:r>
              <a:rPr lang="zh-CN" altLang="en-US" dirty="0">
                <a:solidFill>
                  <a:srgbClr val="FF0000"/>
                </a:solidFill>
              </a:rPr>
              <a:t>数组元素</a:t>
            </a:r>
            <a:r>
              <a:rPr lang="zh-CN" altLang="en-US" dirty="0">
                <a:solidFill>
                  <a:schemeClr val="tx1"/>
                </a:solidFill>
              </a:rPr>
              <a:t>作函数参数和</a:t>
            </a:r>
            <a:r>
              <a:rPr lang="zh-CN" altLang="en-US" u="sng" dirty="0">
                <a:solidFill>
                  <a:srgbClr val="FF0000"/>
                </a:solidFill>
              </a:rPr>
              <a:t>数组名</a:t>
            </a:r>
            <a:r>
              <a:rPr lang="zh-CN" altLang="en-US" dirty="0">
                <a:solidFill>
                  <a:schemeClr val="tx1"/>
                </a:solidFill>
              </a:rPr>
              <a:t>做参数。</a:t>
            </a:r>
          </a:p>
        </p:txBody>
      </p:sp>
      <p:sp>
        <p:nvSpPr>
          <p:cNvPr id="1638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14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27448" y="2480892"/>
            <a:ext cx="10226352" cy="217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6.3.1 </a:t>
            </a:r>
            <a:r>
              <a:rPr lang="zh-CN" altLang="en-US" sz="2800" dirty="0">
                <a:solidFill>
                  <a:schemeClr val="tx1"/>
                </a:solidFill>
              </a:rPr>
              <a:t>数组元素作函数参数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tx1"/>
                </a:solidFill>
              </a:rPr>
              <a:t>        数组元素作函数参数与普通变量做函数参数一样，属于单向传值。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4"/>
          <p:cNvSpPr txBox="1"/>
          <p:nvPr/>
        </p:nvSpPr>
        <p:spPr>
          <a:xfrm>
            <a:off x="6960095" y="2636912"/>
            <a:ext cx="4896545" cy="209288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void  showValue(int  </a:t>
            </a:r>
            <a:r>
              <a:rPr lang="en-US" altLang="zh-CN" sz="2600" dirty="0">
                <a:solidFill>
                  <a:srgbClr val="FF0000"/>
                </a:solidFill>
              </a:rPr>
              <a:t>num</a:t>
            </a:r>
            <a:r>
              <a:rPr lang="en-US" altLang="zh-CN" sz="2600" dirty="0">
                <a:solidFill>
                  <a:schemeClr val="tx1"/>
                </a:solidFill>
              </a:rPr>
              <a:t>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{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	</a:t>
            </a:r>
            <a:r>
              <a:rPr lang="en-US" altLang="zh-CN" sz="2600" dirty="0" err="1">
                <a:solidFill>
                  <a:schemeClr val="tx1"/>
                </a:solidFill>
              </a:rPr>
              <a:t>cout</a:t>
            </a:r>
            <a:r>
              <a:rPr lang="en-US" altLang="zh-CN" sz="2600" dirty="0">
                <a:solidFill>
                  <a:schemeClr val="tx1"/>
                </a:solidFill>
              </a:rPr>
              <a:t> &lt;&lt; setw(5) &lt;&lt; num;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 }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17411" name="AutoShape 5"/>
          <p:cNvSpPr/>
          <p:nvPr/>
        </p:nvSpPr>
        <p:spPr>
          <a:xfrm>
            <a:off x="8472489" y="616585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4-2.cpp</a:t>
            </a:r>
          </a:p>
        </p:txBody>
      </p:sp>
      <p:sp>
        <p:nvSpPr>
          <p:cNvPr id="2" name="矩形 1"/>
          <p:cNvSpPr/>
          <p:nvPr/>
        </p:nvSpPr>
        <p:spPr>
          <a:xfrm>
            <a:off x="479376" y="1605860"/>
            <a:ext cx="6264696" cy="41549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1" fontAlgn="t" hangingPunct="1"/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void  </a:t>
            </a:r>
            <a:r>
              <a:rPr lang="en-US" altLang="zh-CN" dirty="0" err="1">
                <a:solidFill>
                  <a:schemeClr val="tx1"/>
                </a:solidFill>
              </a:rPr>
              <a:t>showValue</a:t>
            </a:r>
            <a:r>
              <a:rPr lang="en-US" altLang="zh-CN" dirty="0">
                <a:solidFill>
                  <a:schemeClr val="tx1"/>
                </a:solidFill>
              </a:rPr>
              <a:t>(int);	 //</a:t>
            </a:r>
            <a:r>
              <a:rPr lang="zh-CN" altLang="en-US" dirty="0">
                <a:solidFill>
                  <a:schemeClr val="tx1"/>
                </a:solidFill>
              </a:rPr>
              <a:t>函数原型 </a:t>
            </a:r>
          </a:p>
          <a:p>
            <a:pPr eaLnBrk="1" fontAlgn="t" hangingPunct="1"/>
            <a:r>
              <a:rPr lang="zh-CN" altLang="en-US" dirty="0">
                <a:solidFill>
                  <a:schemeClr val="tx1"/>
                </a:solidFill>
              </a:rPr>
              <a:t>        </a:t>
            </a: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  main (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  {		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 </a:t>
            </a: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  set[  ] = {2, 8, 15, 29, 45, 38, 35, 90};</a:t>
            </a:r>
          </a:p>
          <a:p>
            <a:pPr eaLnBrk="1" fontAlgn="t" hangingPunct="1"/>
            <a:endParaRPr lang="en-US" altLang="zh-CN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	for (</a:t>
            </a: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= 0;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&lt; 8;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++)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      	</a:t>
            </a:r>
            <a:r>
              <a:rPr lang="en-US" altLang="zh-CN" dirty="0" err="1">
                <a:solidFill>
                  <a:schemeClr val="tx1"/>
                </a:solidFill>
              </a:rPr>
              <a:t>showValue</a:t>
            </a:r>
            <a:r>
              <a:rPr lang="en-US" altLang="zh-CN" dirty="0">
                <a:solidFill>
                  <a:schemeClr val="tx1"/>
                </a:solidFill>
              </a:rPr>
              <a:t>( </a:t>
            </a:r>
            <a:r>
              <a:rPr lang="en-US" altLang="zh-CN" dirty="0">
                <a:solidFill>
                  <a:srgbClr val="FF0000"/>
                </a:solidFill>
              </a:rPr>
              <a:t>set[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  <a:r>
              <a:rPr lang="en-US" altLang="zh-CN" dirty="0">
                <a:solidFill>
                  <a:schemeClr val="tx1"/>
                </a:solidFill>
              </a:rPr>
              <a:t> 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 &lt;&lt; </a:t>
            </a:r>
            <a:r>
              <a:rPr lang="en-US" altLang="zh-CN" dirty="0" err="1">
                <a:solidFill>
                  <a:schemeClr val="tx1"/>
                </a:solidFill>
              </a:rPr>
              <a:t>endl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</a:p>
          <a:p>
            <a:pPr eaLnBrk="1" fontAlgn="t" hangingPunct="1"/>
            <a:endParaRPr lang="en-US" altLang="zh-CN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	return  0;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}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23392" y="548680"/>
            <a:ext cx="5828840" cy="5208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6.2】</a:t>
            </a:r>
            <a:r>
              <a:rPr lang="zh-CN" altLang="en-US" dirty="0">
                <a:solidFill>
                  <a:schemeClr val="tx1"/>
                </a:solidFill>
              </a:rPr>
              <a:t>采用函数输出一维数组的内容。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4.3.2 </a:t>
            </a:r>
            <a:r>
              <a:rPr lang="zh-CN" altLang="en-US" dirty="0"/>
              <a:t>数组名作函数参数 </a:t>
            </a:r>
          </a:p>
        </p:txBody>
      </p:sp>
      <p:sp>
        <p:nvSpPr>
          <p:cNvPr id="18436" name="Rectangle 3"/>
          <p:cNvSpPr>
            <a:spLocks noGrp="1"/>
          </p:cNvSpPr>
          <p:nvPr>
            <p:ph idx="1"/>
          </p:nvPr>
        </p:nvSpPr>
        <p:spPr>
          <a:xfrm>
            <a:off x="1981200" y="1752600"/>
            <a:ext cx="8153400" cy="44846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</a:pPr>
            <a:r>
              <a:rPr lang="zh-CN" altLang="en-US" u="sng" dirty="0">
                <a:solidFill>
                  <a:srgbClr val="FF0000"/>
                </a:solidFill>
              </a:rPr>
              <a:t>数组名</a:t>
            </a:r>
            <a:r>
              <a:rPr lang="zh-CN" altLang="en-US" dirty="0">
                <a:solidFill>
                  <a:schemeClr val="tx1"/>
                </a:solidFill>
              </a:rPr>
              <a:t>代表数组在内存中的</a:t>
            </a:r>
            <a:r>
              <a:rPr lang="zh-CN" altLang="en-US" u="sng" dirty="0">
                <a:solidFill>
                  <a:srgbClr val="FF0000"/>
                </a:solidFill>
              </a:rPr>
              <a:t>首地址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数组名做实参的传递方式称为地址传递，本质属于</a:t>
            </a:r>
            <a:r>
              <a:rPr lang="zh-CN" altLang="en-US" u="sng" dirty="0">
                <a:solidFill>
                  <a:srgbClr val="FF0000"/>
                </a:solidFill>
              </a:rPr>
              <a:t>单向传递地址</a:t>
            </a:r>
            <a:r>
              <a:rPr lang="zh-CN" altLang="en-US" dirty="0">
                <a:solidFill>
                  <a:schemeClr val="tx1"/>
                </a:solidFill>
              </a:rPr>
              <a:t>值。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tx1"/>
                </a:solidFill>
              </a:rPr>
              <a:t>采用数组名作实参和形参时，将实参数组的首地址传递给形参数组，它们将</a:t>
            </a:r>
            <a:r>
              <a:rPr lang="zh-CN" altLang="en-US" u="sng" dirty="0">
                <a:solidFill>
                  <a:srgbClr val="FF0000"/>
                </a:solidFill>
              </a:rPr>
              <a:t>共享空间</a:t>
            </a:r>
            <a:r>
              <a:rPr lang="zh-CN" altLang="en-US" dirty="0">
                <a:solidFill>
                  <a:schemeClr val="tx1"/>
                </a:solidFill>
              </a:rPr>
              <a:t>。这种传递方式，可节省内存空间，提高程序的效率。</a:t>
            </a:r>
          </a:p>
        </p:txBody>
      </p:sp>
      <p:sp>
        <p:nvSpPr>
          <p:cNvPr id="1843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16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4"/>
          <p:cNvSpPr txBox="1"/>
          <p:nvPr/>
        </p:nvSpPr>
        <p:spPr>
          <a:xfrm>
            <a:off x="3143672" y="763136"/>
            <a:ext cx="7129462" cy="6002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void  showValue( int [ ], int );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void  doubleValue( int [ ], int );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	int set[ ] = {2, 8, 15, 29, 45, 38, 35, 90};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doubleValue(set, 8);	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showValue(set,8);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return 0;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void  showValue( int  nums[ ],  int count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	for (int index = 0; index &lt; count; index++)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	        cout &lt;&lt; setw(5) &lt;&lt; nums[index];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void  doubleValue( int nums[ ], int  count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	for (int index = 0; index &lt; count; index++)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	        nums[index] *= 2;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459" name="AutoShape 5"/>
          <p:cNvSpPr/>
          <p:nvPr/>
        </p:nvSpPr>
        <p:spPr>
          <a:xfrm>
            <a:off x="8472489" y="616585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4-3.cpp</a:t>
            </a:r>
          </a:p>
        </p:txBody>
      </p:sp>
      <p:sp>
        <p:nvSpPr>
          <p:cNvPr id="2" name="矩形 1"/>
          <p:cNvSpPr/>
          <p:nvPr/>
        </p:nvSpPr>
        <p:spPr>
          <a:xfrm>
            <a:off x="1847528" y="188640"/>
            <a:ext cx="4408579" cy="5208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6.3】</a:t>
            </a:r>
            <a:r>
              <a:rPr lang="zh-CN" altLang="en-US" dirty="0">
                <a:solidFill>
                  <a:schemeClr val="tx1"/>
                </a:solidFill>
              </a:rPr>
              <a:t>将</a:t>
            </a:r>
            <a:r>
              <a:rPr lang="en-US" altLang="zh-CN" dirty="0">
                <a:solidFill>
                  <a:schemeClr val="tx1"/>
                </a:solidFill>
              </a:rPr>
              <a:t>set</a:t>
            </a:r>
            <a:r>
              <a:rPr lang="zh-CN" altLang="en-US" dirty="0">
                <a:solidFill>
                  <a:schemeClr val="tx1"/>
                </a:solidFill>
              </a:rPr>
              <a:t>数组的值翻倍。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18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2531" name="Text Box 4"/>
          <p:cNvSpPr txBox="1"/>
          <p:nvPr/>
        </p:nvSpPr>
        <p:spPr>
          <a:xfrm>
            <a:off x="1415480" y="1101959"/>
            <a:ext cx="10441160" cy="543225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 eaLnBrk="1" fontAlgn="t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chemeClr val="tx1"/>
                </a:solidFill>
              </a:rPr>
              <a:t>排序算法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marL="914400" lvl="1" indent="-457200" eaLnBrk="1" fontAlgn="t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FF0000"/>
                </a:solidFill>
              </a:rPr>
              <a:t>冒泡排序</a:t>
            </a:r>
            <a:endParaRPr lang="en-US" altLang="zh-CN" sz="2600" dirty="0">
              <a:solidFill>
                <a:srgbClr val="FF0000"/>
              </a:solidFill>
            </a:endParaRPr>
          </a:p>
          <a:p>
            <a:pPr marL="914400" lvl="1" indent="-457200" eaLnBrk="1" fontAlgn="t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chemeClr val="tx1"/>
                </a:solidFill>
              </a:rPr>
              <a:t>选择排序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marL="914400" lvl="1" indent="-457200" eaLnBrk="1" fontAlgn="t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chemeClr val="tx1"/>
                </a:solidFill>
              </a:rPr>
              <a:t>插入排序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marL="914400" lvl="1" indent="-457200" eaLnBrk="1" fontAlgn="t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chemeClr val="tx1"/>
                </a:solidFill>
              </a:rPr>
              <a:t>快速排序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marL="457200" indent="-457200" eaLnBrk="1" fontAlgn="t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chemeClr val="tx1"/>
                </a:solidFill>
              </a:rPr>
              <a:t>查找算法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marL="914400" lvl="1" indent="-457200" eaLnBrk="1" fontAlgn="t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chemeClr val="tx1"/>
                </a:solidFill>
              </a:rPr>
              <a:t>顺序查找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marL="914400" lvl="1" indent="-457200" eaLnBrk="1" fontAlgn="t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chemeClr val="tx1"/>
                </a:solidFill>
              </a:rPr>
              <a:t>二分查找</a:t>
            </a:r>
            <a:endParaRPr lang="en-US" altLang="zh-CN" sz="2600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CB14DFD-C8D7-4CE9-ACAA-6AEE9D7E6C9A}"/>
              </a:ext>
            </a:extLst>
          </p:cNvPr>
          <p:cNvSpPr txBox="1">
            <a:spLocks/>
          </p:cNvSpPr>
          <p:nvPr/>
        </p:nvSpPr>
        <p:spPr>
          <a:xfrm>
            <a:off x="872142" y="-45740"/>
            <a:ext cx="10515600" cy="1325563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b="0" dirty="0"/>
              <a:t>6.4</a:t>
            </a:r>
            <a:r>
              <a:rPr lang="zh-CN" altLang="en-US" b="0" dirty="0"/>
              <a:t>常用算法举例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772816"/>
            <a:ext cx="9951118" cy="3096171"/>
          </a:xfrm>
          <a:prstGeom prst="rect">
            <a:avLst/>
          </a:prstGeom>
        </p:spPr>
      </p:pic>
      <p:sp>
        <p:nvSpPr>
          <p:cNvPr id="3" name="标题 1"/>
          <p:cNvSpPr txBox="1">
            <a:spLocks/>
          </p:cNvSpPr>
          <p:nvPr/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3600" b="0" dirty="0"/>
              <a:t>冒泡排序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92FD1E-33F3-4022-8A86-C1A9349A01FC}"/>
              </a:ext>
            </a:extLst>
          </p:cNvPr>
          <p:cNvSpPr/>
          <p:nvPr/>
        </p:nvSpPr>
        <p:spPr>
          <a:xfrm>
            <a:off x="5388114" y="515719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0" dirty="0">
                <a:solidFill>
                  <a:schemeClr val="tx1"/>
                </a:solidFill>
              </a:rPr>
              <a:t>动画演示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384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20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2531" name="Text Box 4"/>
          <p:cNvSpPr txBox="1"/>
          <p:nvPr/>
        </p:nvSpPr>
        <p:spPr>
          <a:xfrm>
            <a:off x="767408" y="620688"/>
            <a:ext cx="10441160" cy="49244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【</a:t>
            </a:r>
            <a:r>
              <a:rPr lang="zh-CN" altLang="en-US" sz="2600" dirty="0">
                <a:solidFill>
                  <a:schemeClr val="tx1"/>
                </a:solidFill>
              </a:rPr>
              <a:t>例</a:t>
            </a:r>
            <a:r>
              <a:rPr lang="en-US" altLang="zh-CN" sz="2600" dirty="0">
                <a:solidFill>
                  <a:schemeClr val="tx1"/>
                </a:solidFill>
              </a:rPr>
              <a:t>6.11】</a:t>
            </a:r>
            <a:r>
              <a:rPr lang="zh-CN" altLang="en-US" sz="2600" dirty="0">
                <a:solidFill>
                  <a:schemeClr val="tx1"/>
                </a:solidFill>
              </a:rPr>
              <a:t>冒泡排序（按从小到大的顺序（升序）对数组元素排序）</a:t>
            </a:r>
            <a:endParaRPr lang="en-US" altLang="zh-CN" sz="2600" dirty="0">
              <a:solidFill>
                <a:schemeClr val="tx1"/>
              </a:solidFill>
            </a:endParaRPr>
          </a:p>
        </p:txBody>
      </p:sp>
      <p:pic>
        <p:nvPicPr>
          <p:cNvPr id="22532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80" y="1446515"/>
            <a:ext cx="9520092" cy="5400328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797561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5"/>
          <p:cNvSpPr txBox="1"/>
          <p:nvPr/>
        </p:nvSpPr>
        <p:spPr>
          <a:xfrm>
            <a:off x="191344" y="667869"/>
            <a:ext cx="4680519" cy="5632311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const int arrSize=8;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void getArray(int array[ ], int n);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void bubbleSort(int array[ ], int n);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void showArray(int array[ ], int n);</a:t>
            </a:r>
          </a:p>
          <a:p>
            <a:pPr eaLnBrk="1" fontAlgn="t" hangingPunct="1"/>
            <a:endParaRPr lang="en-US" altLang="zh-CN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</a:t>
            </a: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 values[arrSize];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getArray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values,arrSize</a:t>
            </a:r>
            <a:r>
              <a:rPr lang="en-US" altLang="zh-CN" dirty="0">
                <a:solidFill>
                  <a:srgbClr val="FF0000"/>
                </a:solidFill>
              </a:rPr>
              <a:t> 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 &lt;&lt; "</a:t>
            </a:r>
            <a:r>
              <a:rPr lang="zh-CN" altLang="en-US" dirty="0">
                <a:solidFill>
                  <a:schemeClr val="tx1"/>
                </a:solidFill>
              </a:rPr>
              <a:t>排序前</a:t>
            </a:r>
            <a:r>
              <a:rPr lang="en-US" altLang="zh-CN" dirty="0">
                <a:solidFill>
                  <a:schemeClr val="tx1"/>
                </a:solidFill>
              </a:rPr>
              <a:t>:\n";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showArray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values,arrSize</a:t>
            </a:r>
            <a:r>
              <a:rPr lang="en-US" altLang="zh-CN" dirty="0">
                <a:solidFill>
                  <a:srgbClr val="FF0000"/>
                </a:solidFill>
              </a:rPr>
              <a:t>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bubbleSort</a:t>
            </a:r>
            <a:r>
              <a:rPr lang="en-US" altLang="zh-CN" dirty="0">
                <a:solidFill>
                  <a:srgbClr val="FF0000"/>
                </a:solidFill>
              </a:rPr>
              <a:t>(values, arrSize 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 &lt;&lt; "</a:t>
            </a:r>
            <a:r>
              <a:rPr lang="zh-CN" altLang="en-US" dirty="0">
                <a:solidFill>
                  <a:schemeClr val="tx1"/>
                </a:solidFill>
              </a:rPr>
              <a:t>排序后</a:t>
            </a:r>
            <a:r>
              <a:rPr lang="en-US" altLang="zh-CN" dirty="0">
                <a:solidFill>
                  <a:schemeClr val="tx1"/>
                </a:solidFill>
              </a:rPr>
              <a:t>:\n";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showArray</a:t>
            </a:r>
            <a:r>
              <a:rPr lang="en-US" altLang="zh-CN" dirty="0">
                <a:solidFill>
                  <a:srgbClr val="FF0000"/>
                </a:solidFill>
              </a:rPr>
              <a:t>(values, arrSize 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return 0;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3555" name="AutoShape 6"/>
          <p:cNvSpPr/>
          <p:nvPr/>
        </p:nvSpPr>
        <p:spPr>
          <a:xfrm>
            <a:off x="10607675" y="630018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4-5.cpp</a:t>
            </a:r>
          </a:p>
        </p:txBody>
      </p:sp>
      <p:sp>
        <p:nvSpPr>
          <p:cNvPr id="4" name="Text Box 4"/>
          <p:cNvSpPr txBox="1"/>
          <p:nvPr/>
        </p:nvSpPr>
        <p:spPr>
          <a:xfrm>
            <a:off x="5087888" y="9628"/>
            <a:ext cx="6048672" cy="696190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void getArray(int array[ ], int n)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	srand(time(0));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for(int i=0; i&lt;n; i++)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   array[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] = rand( )%100;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void bubblesortArray(int array[ ], int n)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   int i, j, t; 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for(i=0; i&lt;n-1; i++)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{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                                        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void showArray(int array[ ], int n)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	for(int i=0; i&lt;n; i++)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   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 &lt;&lt; setw(5)&lt;&lt; array[i];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cout&lt;&lt;</a:t>
            </a:r>
            <a:r>
              <a:rPr lang="en-US" altLang="zh-CN" dirty="0" err="1">
                <a:solidFill>
                  <a:schemeClr val="tx1"/>
                </a:solidFill>
              </a:rPr>
              <a:t>endl</a:t>
            </a:r>
            <a:r>
              <a:rPr lang="en-US" altLang="zh-CN" dirty="0">
                <a:solidFill>
                  <a:schemeClr val="tx1"/>
                </a:solidFill>
              </a:rPr>
              <a:t>;   }</a:t>
            </a:r>
          </a:p>
        </p:txBody>
      </p:sp>
      <p:sp>
        <p:nvSpPr>
          <p:cNvPr id="2" name="矩形 1"/>
          <p:cNvSpPr/>
          <p:nvPr/>
        </p:nvSpPr>
        <p:spPr>
          <a:xfrm>
            <a:off x="5663952" y="3068960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rgbClr val="7030A0"/>
                </a:solidFill>
              </a:rPr>
              <a:t>for(j=0; j&lt;n-1-i; </a:t>
            </a:r>
            <a:r>
              <a:rPr lang="en-US" altLang="zh-CN" dirty="0" err="1">
                <a:solidFill>
                  <a:srgbClr val="7030A0"/>
                </a:solidFill>
              </a:rPr>
              <a:t>j++</a:t>
            </a:r>
            <a:r>
              <a:rPr lang="en-US" altLang="zh-CN" dirty="0">
                <a:solidFill>
                  <a:srgbClr val="7030A0"/>
                </a:solidFill>
              </a:rPr>
              <a:t>)</a:t>
            </a:r>
          </a:p>
          <a:p>
            <a:pPr eaLnBrk="1" fontAlgn="t" hangingPunct="1"/>
            <a:r>
              <a:rPr lang="en-US" altLang="zh-CN" dirty="0">
                <a:solidFill>
                  <a:srgbClr val="7030A0"/>
                </a:solidFill>
              </a:rPr>
              <a:t>       if(array[j]&gt;array[j+1])</a:t>
            </a:r>
          </a:p>
          <a:p>
            <a:pPr eaLnBrk="1" fontAlgn="t" hangingPunct="1"/>
            <a:r>
              <a:rPr lang="en-US" altLang="zh-CN" dirty="0">
                <a:solidFill>
                  <a:srgbClr val="7030A0"/>
                </a:solidFill>
              </a:rPr>
              <a:t>	{  t=array[j];  </a:t>
            </a:r>
          </a:p>
          <a:p>
            <a:pPr eaLnBrk="1" fontAlgn="t" hangingPunct="1"/>
            <a:r>
              <a:rPr lang="en-US" altLang="zh-CN" dirty="0">
                <a:solidFill>
                  <a:srgbClr val="7030A0"/>
                </a:solidFill>
              </a:rPr>
              <a:t>              array[j]=array[j+1];  </a:t>
            </a:r>
          </a:p>
          <a:p>
            <a:pPr eaLnBrk="1" fontAlgn="t" hangingPunct="1"/>
            <a:r>
              <a:rPr lang="en-US" altLang="zh-CN" dirty="0">
                <a:solidFill>
                  <a:srgbClr val="7030A0"/>
                </a:solidFill>
              </a:rPr>
              <a:t>             array[j+1]=t;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/>
          </p:cNvSpPr>
          <p:nvPr>
            <p:ph type="title"/>
          </p:nvPr>
        </p:nvSpPr>
        <p:spPr>
          <a:xfrm>
            <a:off x="975381" y="371428"/>
            <a:ext cx="103632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2800" dirty="0">
                <a:solidFill>
                  <a:schemeClr val="tx1"/>
                </a:solidFill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6.12】</a:t>
            </a:r>
            <a:r>
              <a:rPr lang="zh-CN" altLang="en-US" sz="2800" dirty="0">
                <a:solidFill>
                  <a:schemeClr val="tx1"/>
                </a:solidFill>
              </a:rPr>
              <a:t>选择排序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以升序为例</a:t>
            </a:r>
            <a:r>
              <a:rPr lang="en-US" altLang="zh-CN" sz="2800" dirty="0">
                <a:solidFill>
                  <a:schemeClr val="tx1"/>
                </a:solidFill>
              </a:rPr>
              <a:t>):</a:t>
            </a:r>
            <a:r>
              <a:rPr lang="zh-CN" altLang="en-US" sz="2800" dirty="0">
                <a:solidFill>
                  <a:schemeClr val="tx1"/>
                </a:solidFill>
              </a:rPr>
              <a:t>冒泡法的改进</a:t>
            </a:r>
          </a:p>
        </p:txBody>
      </p:sp>
      <p:graphicFrame>
        <p:nvGraphicFramePr>
          <p:cNvPr id="44342" name="Group 310"/>
          <p:cNvGraphicFramePr>
            <a:graphicFrameLocks noGrp="1"/>
          </p:cNvGraphicFramePr>
          <p:nvPr>
            <p:ph type="tbl"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2124951"/>
              </p:ext>
            </p:extLst>
          </p:nvPr>
        </p:nvGraphicFramePr>
        <p:xfrm>
          <a:off x="1794242" y="1412776"/>
          <a:ext cx="8153400" cy="4114800"/>
        </p:xfrm>
        <a:graphic>
          <a:graphicData uri="http://schemas.openxmlformats.org/drawingml/2006/table">
            <a:tbl>
              <a:tblPr/>
              <a:tblGrid>
                <a:gridCol w="1674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a[0]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a[1]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a[2]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a[3]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a[4]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原数组</a:t>
                      </a: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9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7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2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6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第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</a:t>
                      </a:r>
                      <a:r>
                        <a:rPr kumimoji="1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趟：</a:t>
                      </a:r>
                      <a:endParaRPr kumimoji="1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2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7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9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6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第</a:t>
                      </a: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趟：</a:t>
                      </a: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2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7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9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6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第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3</a:t>
                      </a:r>
                      <a:r>
                        <a:rPr kumimoji="1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趟：</a:t>
                      </a:r>
                      <a:endParaRPr kumimoji="1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2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6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9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7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第</a:t>
                      </a: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4</a:t>
                      </a: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趟：</a:t>
                      </a: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2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6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7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9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60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22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756381" y="5680498"/>
            <a:ext cx="10801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404040"/>
                </a:solidFill>
                <a:latin typeface="Arial" panose="020B0604020202020204" pitchFamily="34" charset="0"/>
              </a:rPr>
              <a:t>先在数据中找出最小的元素，放到序列的起始；然后再从余下的数据中继续寻找最大或最小的元素，依次放到排序序列中，直到所有数据样本排序完成。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选择排序动画演示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079" y="1988840"/>
            <a:ext cx="10926721" cy="334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842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/>
          <p:nvPr/>
        </p:nvSpPr>
        <p:spPr>
          <a:xfrm>
            <a:off x="2855913" y="476250"/>
            <a:ext cx="7416800" cy="6370638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void selectionSort(int array[ ], int n)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	int i, j, t,minIndex;</a:t>
            </a:r>
          </a:p>
          <a:p>
            <a:pPr eaLnBrk="1" fontAlgn="t" hangingPunct="1"/>
            <a:endParaRPr lang="en-US" altLang="zh-CN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for( i=0; i&lt;n-1; i++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{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</a:t>
            </a:r>
            <a:r>
              <a:rPr lang="en-US" altLang="zh-CN" dirty="0" err="1">
                <a:solidFill>
                  <a:schemeClr val="tx1"/>
                </a:solidFill>
              </a:rPr>
              <a:t>minIndex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;//</a:t>
            </a:r>
            <a:r>
              <a:rPr lang="zh-CN" altLang="en-US" dirty="0">
                <a:solidFill>
                  <a:schemeClr val="tx1"/>
                </a:solidFill>
              </a:rPr>
              <a:t>记录最小值的下标号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for( j=i+1; j&lt;=n-1; j++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	if(array[j]&lt;array[minIndex])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		minIndex=j;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if( minIndex != i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{	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	t=array[minIndex];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	array[minIndex]=array[i];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	array[i]=t;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6627" name="AutoShape 3"/>
          <p:cNvSpPr/>
          <p:nvPr/>
        </p:nvSpPr>
        <p:spPr>
          <a:xfrm>
            <a:off x="8615364" y="6092825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4-6.cpp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854208"/>
            <a:ext cx="2916227" cy="600164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zh-CN" altLang="en-US" b="0" dirty="0">
                <a:solidFill>
                  <a:srgbClr val="404040"/>
                </a:solidFill>
                <a:latin typeface="Arial" panose="020B0604020202020204" pitchFamily="34" charset="0"/>
              </a:rPr>
              <a:t>将第一待排序序列第一个元素看做一个有序序列，把第二个元素到最后一个元素当成是未排序序列。</a:t>
            </a:r>
          </a:p>
          <a:p>
            <a:pPr algn="just">
              <a:buFont typeface="+mj-lt"/>
              <a:buAutoNum type="arabicPeriod"/>
            </a:pPr>
            <a:r>
              <a:rPr lang="zh-CN" altLang="en-US" b="0" dirty="0">
                <a:solidFill>
                  <a:srgbClr val="404040"/>
                </a:solidFill>
                <a:latin typeface="Arial" panose="020B0604020202020204" pitchFamily="34" charset="0"/>
              </a:rPr>
              <a:t>从头到尾依次扫描未排序序列，将扫描到的每个元素插入有序序列的适当位置。（如果待插入的元素与有序序列中的某个元素相等，则将待插入元素插入到相等元素的后面）。</a:t>
            </a:r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695400" y="-34996"/>
            <a:ext cx="10363200" cy="114300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200" b="0" dirty="0"/>
              <a:t>【</a:t>
            </a:r>
            <a:r>
              <a:rPr lang="zh-CN" altLang="en-US" sz="3200" b="0" dirty="0"/>
              <a:t>例</a:t>
            </a:r>
            <a:r>
              <a:rPr lang="en-US" altLang="zh-CN" sz="3200" b="0" dirty="0"/>
              <a:t>6.13】</a:t>
            </a:r>
            <a:r>
              <a:rPr lang="zh-CN" altLang="en-US" sz="3200" b="0" dirty="0"/>
              <a:t>插入排序（以升序为例）（自学） </a:t>
            </a:r>
          </a:p>
        </p:txBody>
      </p:sp>
      <p:graphicFrame>
        <p:nvGraphicFramePr>
          <p:cNvPr id="5" name="Group 310"/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7967642"/>
              </p:ext>
            </p:extLst>
          </p:nvPr>
        </p:nvGraphicFramePr>
        <p:xfrm>
          <a:off x="3071664" y="1196752"/>
          <a:ext cx="8153400" cy="4114800"/>
        </p:xfrm>
        <a:graphic>
          <a:graphicData uri="http://schemas.openxmlformats.org/drawingml/2006/table">
            <a:tbl>
              <a:tblPr/>
              <a:tblGrid>
                <a:gridCol w="1674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a[0]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a[1]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a[2]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a[3]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a[4]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原数组</a:t>
                      </a: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9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7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2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6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第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</a:t>
                      </a:r>
                      <a:r>
                        <a:rPr kumimoji="1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趟：</a:t>
                      </a:r>
                      <a:endParaRPr kumimoji="1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7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9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9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6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第</a:t>
                      </a: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趟：</a:t>
                      </a: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7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9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9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6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第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3</a:t>
                      </a:r>
                      <a:r>
                        <a:rPr kumimoji="1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趟：</a:t>
                      </a:r>
                      <a:endParaRPr kumimoji="1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7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9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9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7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第</a:t>
                      </a: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4</a:t>
                      </a: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趟：</a:t>
                      </a: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7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  <a:defRPr/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9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47675" algn="l"/>
                        </a:tabLst>
                        <a:defRPr/>
                      </a:pP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9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968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908720"/>
            <a:ext cx="9096375" cy="51244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839416" y="5373216"/>
            <a:ext cx="10729192" cy="792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0" dirty="0"/>
              <a:t>插入排序动画演示</a:t>
            </a:r>
          </a:p>
        </p:txBody>
      </p:sp>
    </p:spTree>
    <p:extLst>
      <p:ext uri="{BB962C8B-B14F-4D97-AF65-F5344CB8AC3E}">
        <p14:creationId xmlns:p14="http://schemas.microsoft.com/office/powerpoint/2010/main" val="3252341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/>
          </p:cNvSpPr>
          <p:nvPr>
            <p:ph type="title"/>
          </p:nvPr>
        </p:nvSpPr>
        <p:spPr>
          <a:xfrm>
            <a:off x="955288" y="284718"/>
            <a:ext cx="103632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3200" dirty="0">
                <a:solidFill>
                  <a:schemeClr val="tx1"/>
                </a:solidFill>
              </a:rPr>
              <a:t>【</a:t>
            </a:r>
            <a:r>
              <a:rPr lang="zh-CN" altLang="en-US" sz="3200" dirty="0">
                <a:solidFill>
                  <a:schemeClr val="tx1"/>
                </a:solidFill>
              </a:rPr>
              <a:t>例</a:t>
            </a:r>
            <a:r>
              <a:rPr lang="en-US" altLang="zh-CN" sz="3200" dirty="0">
                <a:solidFill>
                  <a:schemeClr val="tx1"/>
                </a:solidFill>
              </a:rPr>
              <a:t>6.13】</a:t>
            </a:r>
            <a:r>
              <a:rPr lang="zh-CN" altLang="en-US" sz="3200" dirty="0">
                <a:solidFill>
                  <a:schemeClr val="tx1"/>
                </a:solidFill>
              </a:rPr>
              <a:t>插入排序（以升序为例） </a:t>
            </a:r>
          </a:p>
        </p:txBody>
      </p:sp>
      <p:sp>
        <p:nvSpPr>
          <p:cNvPr id="2765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27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7652" name="Text Box 55"/>
          <p:cNvSpPr txBox="1"/>
          <p:nvPr/>
        </p:nvSpPr>
        <p:spPr>
          <a:xfrm>
            <a:off x="1847528" y="1557283"/>
            <a:ext cx="7993063" cy="5293757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void  insertSort(int a[ ], int n)  </a:t>
            </a:r>
            <a:r>
              <a:rPr lang="en-US" altLang="zh-CN" sz="2600" dirty="0">
                <a:solidFill>
                  <a:srgbClr val="FF0000"/>
                </a:solidFill>
              </a:rPr>
              <a:t>// </a:t>
            </a:r>
            <a:r>
              <a:rPr lang="zh-CN" altLang="en-US" sz="2600" dirty="0">
                <a:solidFill>
                  <a:srgbClr val="FF0000"/>
                </a:solidFill>
              </a:rPr>
              <a:t>插入排序</a:t>
            </a:r>
            <a:endParaRPr lang="zh-CN" altLang="en-US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int i, j, k, x;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for(i=1; i&lt;n; i++)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{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x=a[i];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for( j=0; j&lt;</a:t>
            </a:r>
            <a:r>
              <a:rPr lang="en-US" altLang="zh-CN" sz="2600" dirty="0" err="1">
                <a:solidFill>
                  <a:schemeClr val="tx1"/>
                </a:solidFill>
              </a:rPr>
              <a:t>i</a:t>
            </a:r>
            <a:r>
              <a:rPr lang="en-US" altLang="zh-CN" sz="2600" dirty="0">
                <a:solidFill>
                  <a:schemeClr val="tx1"/>
                </a:solidFill>
              </a:rPr>
              <a:t>; </a:t>
            </a:r>
            <a:r>
              <a:rPr lang="en-US" altLang="zh-CN" sz="2600" dirty="0" err="1">
                <a:solidFill>
                  <a:schemeClr val="tx1"/>
                </a:solidFill>
              </a:rPr>
              <a:t>j++</a:t>
            </a:r>
            <a:r>
              <a:rPr lang="en-US" altLang="zh-CN" sz="2600" dirty="0">
                <a:solidFill>
                  <a:schemeClr val="tx1"/>
                </a:solidFill>
              </a:rPr>
              <a:t> )  </a:t>
            </a:r>
            <a:r>
              <a:rPr lang="en-US" altLang="zh-CN" sz="2600" dirty="0">
                <a:solidFill>
                  <a:srgbClr val="FF0000"/>
                </a:solidFill>
              </a:rPr>
              <a:t> // </a:t>
            </a:r>
            <a:r>
              <a:rPr lang="zh-CN" altLang="en-US" sz="2600" dirty="0">
                <a:solidFill>
                  <a:srgbClr val="FF0000"/>
                </a:solidFill>
              </a:rPr>
              <a:t>找位置</a:t>
            </a:r>
            <a:endParaRPr lang="zh-CN" altLang="en-US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sz="2600" dirty="0">
                <a:solidFill>
                  <a:schemeClr val="tx1"/>
                </a:solidFill>
              </a:rPr>
              <a:t>			</a:t>
            </a:r>
            <a:r>
              <a:rPr lang="en-US" altLang="zh-CN" sz="2600" dirty="0">
                <a:solidFill>
                  <a:schemeClr val="tx1"/>
                </a:solidFill>
              </a:rPr>
              <a:t>if (x &lt; a[j]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                                 break;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for( k=i; k&gt;j; k--)	</a:t>
            </a:r>
            <a:r>
              <a:rPr lang="en-US" altLang="zh-CN" sz="2600" dirty="0">
                <a:solidFill>
                  <a:srgbClr val="FF0000"/>
                </a:solidFill>
              </a:rPr>
              <a:t>// </a:t>
            </a:r>
            <a:r>
              <a:rPr lang="zh-CN" altLang="en-US" sz="2600" dirty="0">
                <a:solidFill>
                  <a:srgbClr val="FF0000"/>
                </a:solidFill>
              </a:rPr>
              <a:t>右移</a:t>
            </a:r>
          </a:p>
          <a:p>
            <a:pPr eaLnBrk="1" fontAlgn="t" hangingPunct="1"/>
            <a:r>
              <a:rPr lang="zh-CN" altLang="en-US" sz="2600" dirty="0">
                <a:solidFill>
                  <a:schemeClr val="tx1"/>
                </a:solidFill>
              </a:rPr>
              <a:t>			</a:t>
            </a:r>
            <a:r>
              <a:rPr lang="en-US" altLang="zh-CN" sz="2600" dirty="0">
                <a:solidFill>
                  <a:schemeClr val="tx1"/>
                </a:solidFill>
              </a:rPr>
              <a:t>a[k] = a[k-1];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a[j] = x;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}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7653" name="AutoShape 56"/>
          <p:cNvSpPr/>
          <p:nvPr/>
        </p:nvSpPr>
        <p:spPr>
          <a:xfrm>
            <a:off x="8515351" y="6092825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4-7.cpp</a:t>
            </a:r>
          </a:p>
        </p:txBody>
      </p:sp>
    </p:spTree>
    <p:extLst>
      <p:ext uri="{BB962C8B-B14F-4D97-AF65-F5344CB8AC3E}">
        <p14:creationId xmlns:p14="http://schemas.microsoft.com/office/powerpoint/2010/main" val="2717168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6.4</a:t>
            </a:r>
            <a:r>
              <a:rPr lang="zh-CN" altLang="en-US" dirty="0"/>
              <a:t>常用算法</a:t>
            </a:r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6.15】</a:t>
            </a:r>
            <a:r>
              <a:rPr lang="zh-CN" altLang="en-US" dirty="0">
                <a:solidFill>
                  <a:srgbClr val="FF0000"/>
                </a:solidFill>
              </a:rPr>
              <a:t>线性查找。</a:t>
            </a:r>
            <a:r>
              <a:rPr lang="zh-CN" altLang="en-US" dirty="0">
                <a:solidFill>
                  <a:schemeClr val="tx1"/>
                </a:solidFill>
              </a:rPr>
              <a:t>在长度为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en-US" dirty="0">
                <a:solidFill>
                  <a:schemeClr val="tx1"/>
                </a:solidFill>
              </a:rPr>
              <a:t>的一维数组中查找值为</a:t>
            </a:r>
            <a:r>
              <a:rPr lang="en-US" altLang="zh-CN" dirty="0">
                <a:solidFill>
                  <a:schemeClr val="tx1"/>
                </a:solidFill>
              </a:rPr>
              <a:t>value</a:t>
            </a:r>
            <a:r>
              <a:rPr lang="zh-CN" altLang="en-US" dirty="0">
                <a:solidFill>
                  <a:schemeClr val="tx1"/>
                </a:solidFill>
              </a:rPr>
              <a:t>的元素，即从数组的第一个元素开始，逐个与被查值</a:t>
            </a:r>
            <a:r>
              <a:rPr lang="en-US" altLang="zh-CN" dirty="0">
                <a:solidFill>
                  <a:schemeClr val="tx1"/>
                </a:solidFill>
              </a:rPr>
              <a:t>value</a:t>
            </a:r>
            <a:r>
              <a:rPr lang="zh-CN" altLang="en-US" dirty="0">
                <a:solidFill>
                  <a:schemeClr val="tx1"/>
                </a:solidFill>
              </a:rPr>
              <a:t>进行比较。若找到，返回数组元素的下标，否则返回</a:t>
            </a:r>
            <a:r>
              <a:rPr lang="en-US" altLang="zh-CN" dirty="0">
                <a:solidFill>
                  <a:schemeClr val="tx1"/>
                </a:solidFill>
              </a:rPr>
              <a:t>-1</a:t>
            </a:r>
            <a:r>
              <a:rPr lang="zh-CN" altLang="en-US" dirty="0">
                <a:solidFill>
                  <a:schemeClr val="tx1"/>
                </a:solidFill>
              </a:rPr>
              <a:t>。 </a:t>
            </a:r>
          </a:p>
        </p:txBody>
      </p:sp>
      <p:sp>
        <p:nvSpPr>
          <p:cNvPr id="2048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28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38916" name="Text Box 4"/>
          <p:cNvSpPr txBox="1"/>
          <p:nvPr/>
        </p:nvSpPr>
        <p:spPr>
          <a:xfrm>
            <a:off x="2351584" y="3476625"/>
            <a:ext cx="7705725" cy="216535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>
              <a:lnSpc>
                <a:spcPct val="13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const  int  arrSize=5;</a:t>
            </a:r>
          </a:p>
          <a:p>
            <a:pPr eaLnBrk="1" fontAlgn="t" hangingPunct="1">
              <a:lnSpc>
                <a:spcPct val="13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int  searchList(int list[ ], int  numElems,  int  value);</a:t>
            </a:r>
          </a:p>
          <a:p>
            <a:pPr eaLnBrk="1" fontAlgn="t" hangingPunct="1">
              <a:lnSpc>
                <a:spcPct val="130000"/>
              </a:lnSpc>
            </a:pPr>
            <a:endParaRPr lang="zh-CN" altLang="en-US" sz="2600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30000"/>
              </a:lnSpc>
            </a:pPr>
            <a:endParaRPr lang="zh-CN" altLang="en-US" sz="2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97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2800" dirty="0">
                <a:solidFill>
                  <a:schemeClr val="tx1"/>
                </a:solidFill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6.16】</a:t>
            </a:r>
            <a:r>
              <a:rPr lang="zh-CN" altLang="en-US" sz="2800" u="sng" dirty="0">
                <a:solidFill>
                  <a:srgbClr val="FF0000"/>
                </a:solidFill>
              </a:rPr>
              <a:t>二分查找</a:t>
            </a:r>
            <a:r>
              <a:rPr lang="zh-CN" altLang="en-US" sz="2800" dirty="0">
                <a:solidFill>
                  <a:schemeClr val="tx1"/>
                </a:solidFill>
              </a:rPr>
              <a:t>，即</a:t>
            </a:r>
            <a:r>
              <a:rPr lang="zh-CN" altLang="en-US" sz="2800" u="sng" dirty="0">
                <a:solidFill>
                  <a:srgbClr val="FF0000"/>
                </a:solidFill>
              </a:rPr>
              <a:t>折半查找</a:t>
            </a:r>
            <a:r>
              <a:rPr lang="zh-CN" altLang="en-US" sz="2800" dirty="0">
                <a:solidFill>
                  <a:schemeClr val="tx1"/>
                </a:solidFill>
              </a:rPr>
              <a:t>。前提是数组已经排序（假定是非递减排序）。 （自学）</a:t>
            </a:r>
          </a:p>
        </p:txBody>
      </p:sp>
      <p:sp>
        <p:nvSpPr>
          <p:cNvPr id="3174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29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pic>
        <p:nvPicPr>
          <p:cNvPr id="2" name="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38400" y="1844824"/>
            <a:ext cx="7315200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二分查找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</p:sp>
      <p:pic>
        <p:nvPicPr>
          <p:cNvPr id="4" name="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7600" y="1767075"/>
            <a:ext cx="73152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3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二分查找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</p:sp>
      <p:pic>
        <p:nvPicPr>
          <p:cNvPr id="4" name="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38400" y="1371600"/>
            <a:ext cx="73152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8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4"/>
          <p:cNvSpPr txBox="1"/>
          <p:nvPr/>
        </p:nvSpPr>
        <p:spPr>
          <a:xfrm>
            <a:off x="1992314" y="433389"/>
            <a:ext cx="8569325" cy="6370637"/>
          </a:xfrm>
          <a:prstGeom prst="rect">
            <a:avLst/>
          </a:prstGeom>
          <a:noFill/>
          <a:ln w="222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	int tests[arrSize] = {43, 87, 89, 453, 238};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int result,   x=453;	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result = searchList(tests, arrSize, x);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if (-1 == result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 &lt;&lt; "</a:t>
            </a:r>
            <a:r>
              <a:rPr lang="zh-CN" altLang="en-US" dirty="0">
                <a:solidFill>
                  <a:schemeClr val="tx1"/>
                </a:solidFill>
              </a:rPr>
              <a:t>没有找到</a:t>
            </a:r>
            <a:r>
              <a:rPr lang="en-US" altLang="zh-CN" dirty="0">
                <a:solidFill>
                  <a:schemeClr val="tx1"/>
                </a:solidFill>
              </a:rPr>
              <a:t>:"&lt;&lt; x&lt;&lt; </a:t>
            </a:r>
            <a:r>
              <a:rPr lang="en-US" altLang="zh-CN" dirty="0" err="1">
                <a:solidFill>
                  <a:schemeClr val="tx1"/>
                </a:solidFill>
              </a:rPr>
              <a:t>endl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else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 &lt;&lt;x&lt;&lt; " </a:t>
            </a:r>
            <a:r>
              <a:rPr lang="zh-CN" altLang="en-US" dirty="0">
                <a:solidFill>
                  <a:schemeClr val="tx1"/>
                </a:solidFill>
              </a:rPr>
              <a:t>是第 </a:t>
            </a:r>
            <a:r>
              <a:rPr lang="en-US" altLang="zh-CN" dirty="0">
                <a:solidFill>
                  <a:schemeClr val="tx1"/>
                </a:solidFill>
              </a:rPr>
              <a:t>"&lt;&lt;(result + 1)&lt;&lt;"</a:t>
            </a:r>
            <a:r>
              <a:rPr lang="zh-CN" altLang="en-US" dirty="0">
                <a:solidFill>
                  <a:schemeClr val="tx1"/>
                </a:solidFill>
              </a:rPr>
              <a:t>个元素</a:t>
            </a:r>
            <a:r>
              <a:rPr lang="en-US" altLang="zh-CN" dirty="0">
                <a:solidFill>
                  <a:schemeClr val="tx1"/>
                </a:solidFill>
              </a:rPr>
              <a:t>";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return  0;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endParaRPr lang="en-US" altLang="zh-CN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rgbClr val="FF0000"/>
                </a:solidFill>
              </a:rPr>
              <a:t>int searchList(int list[ ], int numElems, int value)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	for(int  i=0; i &lt; numElems; i++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if( value == list[i] )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	return i;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return -1;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1507" name="AutoShape 5"/>
          <p:cNvSpPr/>
          <p:nvPr/>
        </p:nvSpPr>
        <p:spPr>
          <a:xfrm>
            <a:off x="8472489" y="616585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4-4.cpp</a:t>
            </a:r>
          </a:p>
        </p:txBody>
      </p:sp>
    </p:spTree>
    <p:extLst>
      <p:ext uri="{BB962C8B-B14F-4D97-AF65-F5344CB8AC3E}">
        <p14:creationId xmlns:p14="http://schemas.microsoft.com/office/powerpoint/2010/main" val="30937750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2800" dirty="0">
                <a:solidFill>
                  <a:schemeClr val="tx1"/>
                </a:solidFill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6.16】</a:t>
            </a:r>
            <a:r>
              <a:rPr lang="zh-CN" altLang="en-US" sz="2800" u="sng" dirty="0">
                <a:solidFill>
                  <a:srgbClr val="FF0000"/>
                </a:solidFill>
              </a:rPr>
              <a:t>二分查找</a:t>
            </a:r>
            <a:r>
              <a:rPr lang="zh-CN" altLang="en-US" sz="2800" dirty="0">
                <a:solidFill>
                  <a:schemeClr val="tx1"/>
                </a:solidFill>
              </a:rPr>
              <a:t>，即</a:t>
            </a:r>
            <a:r>
              <a:rPr lang="zh-CN" altLang="en-US" sz="2800" u="sng" dirty="0">
                <a:solidFill>
                  <a:srgbClr val="FF0000"/>
                </a:solidFill>
              </a:rPr>
              <a:t>折半查找</a:t>
            </a:r>
            <a:r>
              <a:rPr lang="zh-CN" altLang="en-US" sz="2800" dirty="0">
                <a:solidFill>
                  <a:schemeClr val="tx1"/>
                </a:solidFill>
              </a:rPr>
              <a:t>。前提是数组已经排序（假定是非递减排序）。 （自学）</a:t>
            </a:r>
          </a:p>
        </p:txBody>
      </p:sp>
      <p:sp>
        <p:nvSpPr>
          <p:cNvPr id="3174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33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31748" name="Text Box 3"/>
          <p:cNvSpPr txBox="1"/>
          <p:nvPr/>
        </p:nvSpPr>
        <p:spPr>
          <a:xfrm>
            <a:off x="2206625" y="1804989"/>
            <a:ext cx="8210550" cy="4467225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#include  &lt;iostream&gt;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#include  &lt;iomanip&gt;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#include  &lt;ctime&gt;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using namespace std;</a:t>
            </a:r>
          </a:p>
          <a:p>
            <a:pPr eaLnBrk="1" fontAlgn="t" hangingPunct="1">
              <a:lnSpc>
                <a:spcPct val="110000"/>
              </a:lnSpc>
            </a:pPr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const  int  arrSize=10;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int    binarySearch(int a[ ], int numElems, int value);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void getArray(int a[ ], int n);		// </a:t>
            </a:r>
            <a:r>
              <a:rPr lang="zh-CN" altLang="en-US" sz="2600" dirty="0">
                <a:solidFill>
                  <a:schemeClr val="tx1"/>
                </a:solidFill>
              </a:rPr>
              <a:t>产生数组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void selectionSort(int a[ ], int n);	// </a:t>
            </a:r>
            <a:r>
              <a:rPr lang="zh-CN" altLang="en-US" sz="2600" dirty="0">
                <a:solidFill>
                  <a:schemeClr val="tx1"/>
                </a:solidFill>
              </a:rPr>
              <a:t>选择排序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void showArray(int a[ ], int n);		// </a:t>
            </a:r>
            <a:r>
              <a:rPr lang="zh-CN" altLang="en-US" sz="2600" dirty="0">
                <a:solidFill>
                  <a:schemeClr val="tx1"/>
                </a:solidFill>
              </a:rPr>
              <a:t>输出数组元素</a:t>
            </a:r>
          </a:p>
        </p:txBody>
      </p:sp>
    </p:spTree>
    <p:extLst>
      <p:ext uri="{BB962C8B-B14F-4D97-AF65-F5344CB8AC3E}">
        <p14:creationId xmlns:p14="http://schemas.microsoft.com/office/powerpoint/2010/main" val="38524505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/>
          <p:nvPr/>
        </p:nvSpPr>
        <p:spPr>
          <a:xfrm>
            <a:off x="2135188" y="333375"/>
            <a:ext cx="8424862" cy="64516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void selectionSort(int a[ ], int n)		// </a:t>
            </a:r>
            <a:r>
              <a:rPr lang="zh-CN" altLang="en-US" sz="2600" dirty="0">
                <a:solidFill>
                  <a:schemeClr val="tx1"/>
                </a:solidFill>
              </a:rPr>
              <a:t>选择排序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int i, j, t, minIndex;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for(i=0; i&lt;n-1; i++)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{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minIndex=i;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for(j=i+1; j&lt;n; j++)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if(a[j]&lt;a[minIndex])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	minIndex=j;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if( minIndex != i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{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t=a[minIndex];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a[minIndex]=a[i];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a[i]=t;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}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}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/>
          <p:nvPr/>
        </p:nvSpPr>
        <p:spPr>
          <a:xfrm>
            <a:off x="2063751" y="260350"/>
            <a:ext cx="8424863" cy="64516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//二分查找函数,在a数组中查找value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int binarySearch(int a[ ], int numElems, int value)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{	</a:t>
            </a:r>
            <a:r>
              <a:rPr lang="en-US" altLang="en-US" sz="2600" dirty="0" err="1">
                <a:solidFill>
                  <a:schemeClr val="tx1"/>
                </a:solidFill>
              </a:rPr>
              <a:t>int</a:t>
            </a:r>
            <a:r>
              <a:rPr lang="en-US" altLang="en-US" sz="2600" dirty="0">
                <a:solidFill>
                  <a:schemeClr val="tx1"/>
                </a:solidFill>
              </a:rPr>
              <a:t> left=0, mid, right=numElems-1;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while (left&lt;=right)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{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mid=(</a:t>
            </a:r>
            <a:r>
              <a:rPr lang="en-US" altLang="en-US" sz="2600" dirty="0" err="1">
                <a:solidFill>
                  <a:schemeClr val="tx1"/>
                </a:solidFill>
              </a:rPr>
              <a:t>left+right</a:t>
            </a:r>
            <a:r>
              <a:rPr lang="en-US" altLang="en-US" sz="2600" dirty="0">
                <a:solidFill>
                  <a:schemeClr val="tx1"/>
                </a:solidFill>
              </a:rPr>
              <a:t>)/2;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if( value == a[mid] )       // 查找成功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	return mid;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else if( value &lt; a[mid] )   //位于数组的前一半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</a:t>
            </a:r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right=mid-1;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else 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</a:t>
            </a:r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left=mid+1;    //位于数组的后一半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}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return -1;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}</a:t>
            </a:r>
            <a:endParaRPr lang="en-US" altLang="zh-CN" sz="2600" dirty="0">
              <a:solidFill>
                <a:schemeClr val="tx1"/>
              </a:solidFill>
            </a:endParaRPr>
          </a:p>
        </p:txBody>
      </p:sp>
      <p:sp>
        <p:nvSpPr>
          <p:cNvPr id="35843" name="AutoShape 3"/>
          <p:cNvSpPr/>
          <p:nvPr/>
        </p:nvSpPr>
        <p:spPr>
          <a:xfrm>
            <a:off x="8759826" y="5876925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4-9.cpp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/>
          <p:nvPr/>
        </p:nvSpPr>
        <p:spPr>
          <a:xfrm>
            <a:off x="2422525" y="139701"/>
            <a:ext cx="8066088" cy="6740525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	int a[arrSize], p, x;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getArray( a, arrSize );	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cout &lt;&lt; "</a:t>
            </a:r>
            <a:r>
              <a:rPr lang="zh-CN" altLang="en-US" dirty="0">
                <a:solidFill>
                  <a:schemeClr val="tx1"/>
                </a:solidFill>
              </a:rPr>
              <a:t>排序前：</a:t>
            </a:r>
            <a:r>
              <a:rPr lang="en-US" altLang="zh-CN" dirty="0">
                <a:solidFill>
                  <a:schemeClr val="tx1"/>
                </a:solidFill>
              </a:rPr>
              <a:t>";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showArray( a, arrSize 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selectionSort( a, arrSize 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cout &lt;&lt; "</a:t>
            </a:r>
            <a:r>
              <a:rPr lang="zh-CN" altLang="en-US" dirty="0">
                <a:solidFill>
                  <a:schemeClr val="tx1"/>
                </a:solidFill>
              </a:rPr>
              <a:t>排序后：</a:t>
            </a:r>
            <a:r>
              <a:rPr lang="en-US" altLang="zh-CN" dirty="0">
                <a:solidFill>
                  <a:schemeClr val="tx1"/>
                </a:solidFill>
              </a:rPr>
              <a:t>";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showArray( a, arrSize 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cout &lt;&lt; "</a:t>
            </a:r>
            <a:r>
              <a:rPr lang="zh-CN" altLang="en-US" dirty="0">
                <a:solidFill>
                  <a:schemeClr val="tx1"/>
                </a:solidFill>
              </a:rPr>
              <a:t>请输入要查找的数：</a:t>
            </a:r>
            <a:r>
              <a:rPr lang="en-US" altLang="zh-CN" dirty="0">
                <a:solidFill>
                  <a:schemeClr val="tx1"/>
                </a:solidFill>
              </a:rPr>
              <a:t>";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cin &gt;&gt; x;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p=binarySearch(a, sizeof(a) / sizeof(a[0]), x);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if(p&gt;=0)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cout &lt;&lt; "</a:t>
            </a:r>
            <a:r>
              <a:rPr lang="zh-CN" altLang="en-US" dirty="0">
                <a:solidFill>
                  <a:schemeClr val="tx1"/>
                </a:solidFill>
              </a:rPr>
              <a:t>已找到，下标为</a:t>
            </a:r>
            <a:r>
              <a:rPr lang="en-US" altLang="zh-CN" dirty="0">
                <a:solidFill>
                  <a:schemeClr val="tx1"/>
                </a:solidFill>
              </a:rPr>
              <a:t>:" &lt;&lt; p &lt;&lt; endl;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else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cout &lt;&lt; "</a:t>
            </a:r>
            <a:r>
              <a:rPr lang="zh-CN" altLang="en-US" dirty="0">
                <a:solidFill>
                  <a:schemeClr val="tx1"/>
                </a:solidFill>
              </a:rPr>
              <a:t>无此数</a:t>
            </a:r>
            <a:r>
              <a:rPr lang="en-US" altLang="zh-CN" dirty="0">
                <a:solidFill>
                  <a:schemeClr val="tx1"/>
                </a:solidFill>
              </a:rPr>
              <a:t>" &lt;&lt; x &lt;&lt; endl;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return 0;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/>
          <p:nvPr/>
        </p:nvSpPr>
        <p:spPr>
          <a:xfrm>
            <a:off x="4148138" y="404813"/>
            <a:ext cx="6196012" cy="629285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void getArray(int a[ ], int n)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{	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srand(time(0));</a:t>
            </a:r>
            <a:endParaRPr lang="zh-CN" altLang="en-US" sz="2600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r>
              <a:rPr lang="zh-CN" altLang="en-US" sz="2600" dirty="0">
                <a:solidFill>
                  <a:schemeClr val="tx1"/>
                </a:solidFill>
              </a:rPr>
              <a:t>	</a:t>
            </a:r>
            <a:r>
              <a:rPr lang="en-US" altLang="zh-CN" sz="2600" dirty="0">
                <a:solidFill>
                  <a:schemeClr val="tx1"/>
                </a:solidFill>
              </a:rPr>
              <a:t>for(int i=0; i&lt;n; i++)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	a[i]=rand()%100;	</a:t>
            </a:r>
            <a:endParaRPr lang="zh-CN" altLang="en-US" sz="2600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  <a:p>
            <a:pPr eaLnBrk="1" fontAlgn="t" hangingPunct="1">
              <a:lnSpc>
                <a:spcPct val="120000"/>
              </a:lnSpc>
            </a:pPr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void showArray(int a[ ], int n)</a:t>
            </a:r>
            <a:endParaRPr lang="zh-CN" altLang="en-US" sz="2600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{	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for(int i=0; i&lt;n; i++)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	cout &lt;&lt; setw(5)&lt;&lt; a[i];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cout&lt;&lt;endl;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3200" dirty="0"/>
              <a:t>【</a:t>
            </a:r>
            <a:r>
              <a:rPr lang="zh-CN" altLang="en-US" sz="3200" dirty="0"/>
              <a:t>例</a:t>
            </a:r>
            <a:r>
              <a:rPr lang="en-US" altLang="zh-CN" sz="3200" dirty="0"/>
              <a:t>6.10】</a:t>
            </a:r>
            <a:r>
              <a:rPr lang="zh-CN" altLang="en-US" sz="3200" dirty="0"/>
              <a:t>求两个集合的交集。 </a:t>
            </a:r>
          </a:p>
        </p:txBody>
      </p:sp>
      <p:sp>
        <p:nvSpPr>
          <p:cNvPr id="3686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38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36868" name="Text Box 3"/>
          <p:cNvSpPr txBox="1"/>
          <p:nvPr/>
        </p:nvSpPr>
        <p:spPr>
          <a:xfrm>
            <a:off x="1992313" y="1844675"/>
            <a:ext cx="8210550" cy="459105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例如，有集合</a:t>
            </a:r>
            <a:r>
              <a:rPr lang="en-US" altLang="zh-CN" sz="2800" dirty="0">
                <a:solidFill>
                  <a:schemeClr val="tx1"/>
                </a:solidFill>
              </a:rPr>
              <a:t>A</a:t>
            </a:r>
            <a:r>
              <a:rPr lang="zh-CN" altLang="en-US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</a:rPr>
              <a:t>B</a:t>
            </a:r>
            <a:r>
              <a:rPr lang="zh-CN" altLang="en-US" sz="2800" dirty="0">
                <a:solidFill>
                  <a:schemeClr val="tx1"/>
                </a:solidFill>
              </a:rPr>
              <a:t>：</a:t>
            </a:r>
          </a:p>
          <a:p>
            <a:pPr eaLnBrk="1" fontAlgn="t" hangingPunct="1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A = {1, 2, 3, 4, 5, 6, 7, 8, 9, 10}</a:t>
            </a:r>
          </a:p>
          <a:p>
            <a:pPr eaLnBrk="1" fontAlgn="t" hangingPunct="1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B = {2, 4, 8, 12, 14, 20, 25, 28, 30, 32}</a:t>
            </a:r>
          </a:p>
          <a:p>
            <a:pPr eaLnBrk="1" fontAlgn="t" hangingPunct="1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A</a:t>
            </a:r>
            <a:r>
              <a:rPr lang="zh-CN" altLang="en-US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</a:rPr>
              <a:t>B</a:t>
            </a:r>
            <a:r>
              <a:rPr lang="zh-CN" altLang="en-US" sz="2800" dirty="0">
                <a:solidFill>
                  <a:schemeClr val="tx1"/>
                </a:solidFill>
              </a:rPr>
              <a:t>的交集</a:t>
            </a:r>
            <a:r>
              <a:rPr lang="en-US" altLang="zh-CN" sz="2800" dirty="0">
                <a:solidFill>
                  <a:schemeClr val="tx1"/>
                </a:solidFill>
              </a:rPr>
              <a:t>A∩B = {2, 4, 8}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</a:p>
          <a:p>
            <a:pPr eaLnBrk="1" fontAlgn="t" hangingPunct="1">
              <a:lnSpc>
                <a:spcPct val="150000"/>
              </a:lnSpc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50000"/>
              </a:lnSpc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/>
          <p:nvPr/>
        </p:nvSpPr>
        <p:spPr>
          <a:xfrm>
            <a:off x="2135823" y="261621"/>
            <a:ext cx="8424862" cy="6092825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void getArrays(int [ ], int [ ]);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int getinterSetion(int [ ], int [ ], int [ ]);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void display(int [ ], int);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int main(  )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     int </a:t>
            </a:r>
            <a:r>
              <a:rPr lang="en-US" altLang="zh-CN" sz="2600" dirty="0">
                <a:solidFill>
                  <a:schemeClr val="tx1"/>
                </a:solidFill>
              </a:rPr>
              <a:t>	</a:t>
            </a:r>
            <a:r>
              <a:rPr lang="en-US" altLang="en-US" sz="2600" dirty="0">
                <a:solidFill>
                  <a:schemeClr val="tx1"/>
                </a:solidFill>
              </a:rPr>
              <a:t>set1[10],	</a:t>
            </a:r>
            <a:r>
              <a:rPr lang="en-US" altLang="zh-CN" sz="2600" dirty="0">
                <a:solidFill>
                  <a:schemeClr val="tx1"/>
                </a:solidFill>
              </a:rPr>
              <a:t>	</a:t>
            </a:r>
            <a:r>
              <a:rPr lang="en-US" altLang="en-US" sz="2600" dirty="0">
                <a:solidFill>
                  <a:schemeClr val="tx1"/>
                </a:solidFill>
              </a:rPr>
              <a:t>// 集合1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</a:t>
            </a:r>
            <a:r>
              <a:rPr lang="en-US" altLang="en-US" sz="2600" dirty="0">
                <a:solidFill>
                  <a:schemeClr val="tx1"/>
                </a:solidFill>
              </a:rPr>
              <a:t>set2[10],	</a:t>
            </a:r>
            <a:r>
              <a:rPr lang="en-US" altLang="zh-CN" sz="2600" dirty="0">
                <a:solidFill>
                  <a:schemeClr val="tx1"/>
                </a:solidFill>
              </a:rPr>
              <a:t>	</a:t>
            </a:r>
            <a:r>
              <a:rPr lang="en-US" altLang="en-US" sz="2600" dirty="0">
                <a:solidFill>
                  <a:schemeClr val="tx1"/>
                </a:solidFill>
              </a:rPr>
              <a:t>// 集合2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</a:t>
            </a:r>
            <a:r>
              <a:rPr lang="en-US" altLang="en-US" sz="2600" dirty="0">
                <a:solidFill>
                  <a:schemeClr val="tx1"/>
                </a:solidFill>
              </a:rPr>
              <a:t>interSetion[10],	// 交集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</a:t>
            </a:r>
            <a:r>
              <a:rPr lang="en-US" altLang="en-US" sz="2600" dirty="0">
                <a:solidFill>
                  <a:schemeClr val="tx1"/>
                </a:solidFill>
              </a:rPr>
              <a:t>numIntValues;</a:t>
            </a:r>
            <a:r>
              <a:rPr lang="en-US" altLang="zh-CN" sz="2600" dirty="0">
                <a:solidFill>
                  <a:schemeClr val="tx1"/>
                </a:solidFill>
              </a:rPr>
              <a:t>	</a:t>
            </a:r>
            <a:r>
              <a:rPr lang="en-US" altLang="en-US" sz="2600" dirty="0">
                <a:solidFill>
                  <a:schemeClr val="tx1"/>
                </a:solidFill>
              </a:rPr>
              <a:t>// 交集中元素个数</a:t>
            </a:r>
          </a:p>
          <a:p>
            <a:pPr eaLnBrk="1" fontAlgn="t" hangingPunct="1"/>
            <a:endParaRPr lang="en-US" altLang="en-US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      getArrays(set1, set2);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      numIntValues = getinterSetion(set1, set2, interSetion);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      display(interSetion, numIntValues);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      return 0;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/>
          <p:nvPr/>
        </p:nvSpPr>
        <p:spPr>
          <a:xfrm>
            <a:off x="2279333" y="1113156"/>
            <a:ext cx="8208962" cy="4892675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void getArrays(int first[], int second[])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{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int </a:t>
            </a:r>
            <a:r>
              <a:rPr lang="en-US" altLang="zh-CN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ndx;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endParaRPr lang="en-US" altLang="en-US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cout &lt;&lt; "</a:t>
            </a:r>
            <a:r>
              <a:rPr lang="en-US" altLang="zh-CN" sz="2600" dirty="0">
                <a:solidFill>
                  <a:schemeClr val="tx1"/>
                </a:solidFill>
              </a:rPr>
              <a:t>请输入第1个集合的元素</a:t>
            </a:r>
            <a:r>
              <a:rPr lang="en-US" altLang="en-US" sz="2600" dirty="0">
                <a:solidFill>
                  <a:schemeClr val="tx1"/>
                </a:solidFill>
              </a:rPr>
              <a:t>:\n";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for ( ndx = 0; ndx &lt; 10; ndx++)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	cin &gt;&gt; first[ndx];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endParaRPr lang="en-US" altLang="en-US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cout &lt;&lt; "</a:t>
            </a:r>
            <a:r>
              <a:rPr lang="en-US" altLang="zh-CN" sz="2600" dirty="0">
                <a:solidFill>
                  <a:schemeClr val="tx1"/>
                </a:solidFill>
              </a:rPr>
              <a:t>请输入第2个集合的元素</a:t>
            </a:r>
            <a:r>
              <a:rPr lang="en-US" altLang="en-US" sz="2600" dirty="0">
                <a:solidFill>
                  <a:schemeClr val="tx1"/>
                </a:solidFill>
              </a:rPr>
              <a:t>:\n";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for (ndx = 0; ndx &lt; 10; ndx++)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	cin &gt;&gt; second[ndx];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/>
          <p:nvPr/>
        </p:nvSpPr>
        <p:spPr>
          <a:xfrm>
            <a:off x="2279651" y="1617346"/>
            <a:ext cx="8208963" cy="4492625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void display(int </a:t>
            </a:r>
            <a:r>
              <a:rPr lang="en-US" altLang="zh-CN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interSet[ ], int num)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if (0 == num)</a:t>
            </a:r>
            <a:r>
              <a:rPr lang="en-US" altLang="zh-CN" sz="2600" dirty="0">
                <a:solidFill>
                  <a:schemeClr val="tx1"/>
                </a:solidFill>
              </a:rPr>
              <a:t>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cout &lt;&lt; "交集为空\n";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else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{</a:t>
            </a:r>
            <a:r>
              <a:rPr lang="en-US" altLang="zh-CN" sz="2600" dirty="0">
                <a:solidFill>
                  <a:schemeClr val="tx1"/>
                </a:solidFill>
              </a:rPr>
              <a:t>	</a:t>
            </a:r>
            <a:r>
              <a:rPr lang="en-US" altLang="en-US" sz="2600" dirty="0">
                <a:solidFill>
                  <a:schemeClr val="tx1"/>
                </a:solidFill>
              </a:rPr>
              <a:t>cout &lt;&lt; "交集为:";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for (int ndx = 0; ndx &lt; num; ndx++)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	cout &lt;&lt; interSet[ndx] &lt;&lt; " ";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cout &lt;&lt; endl;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}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/>
          <p:nvPr/>
        </p:nvSpPr>
        <p:spPr>
          <a:xfrm>
            <a:off x="2206943" y="373381"/>
            <a:ext cx="8208962" cy="6492875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</a:t>
            </a:r>
            <a:r>
              <a:rPr lang="en-US" altLang="en-US" sz="2600" dirty="0">
                <a:solidFill>
                  <a:srgbClr val="FF0000"/>
                </a:solidFill>
              </a:rPr>
              <a:t>// 求2个集合的交集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int getinterSetion(int first[ ], int second[ ], int interSet[ ])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{    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    int  count = 0;</a:t>
            </a:r>
          </a:p>
          <a:p>
            <a:pPr eaLnBrk="1" fontAlgn="t" hangingPunct="1"/>
            <a:endParaRPr lang="en-US" altLang="en-US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    for (int i = 0; i &lt; 10; i++)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    {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           for(int j = 0; j &lt; 10; j++)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                 if (first[i] == second[j])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                {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                       interSet[count] = first[i];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                       count++;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                }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     } 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    return count;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0963" name="AutoShape 3"/>
          <p:cNvSpPr/>
          <p:nvPr/>
        </p:nvSpPr>
        <p:spPr>
          <a:xfrm>
            <a:off x="8616951" y="5876925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4-10.cpp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/>
          </p:cNvSpPr>
          <p:nvPr>
            <p:ph type="title"/>
          </p:nvPr>
        </p:nvSpPr>
        <p:spPr>
          <a:xfrm>
            <a:off x="2284413" y="476250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2800" dirty="0"/>
              <a:t>【</a:t>
            </a:r>
            <a:r>
              <a:rPr lang="zh-CN" altLang="en-US" sz="2800" dirty="0"/>
              <a:t>例</a:t>
            </a:r>
            <a:r>
              <a:rPr lang="en-US" altLang="zh-CN" sz="2800" dirty="0"/>
              <a:t>】</a:t>
            </a:r>
            <a:r>
              <a:rPr lang="zh-CN" altLang="en-US" sz="2800" dirty="0"/>
              <a:t>将一个</a:t>
            </a:r>
            <a:r>
              <a:rPr lang="en-US" altLang="zh-CN" sz="2800" dirty="0"/>
              <a:t>3×4</a:t>
            </a:r>
            <a:r>
              <a:rPr lang="zh-CN" altLang="en-US" sz="2800" dirty="0"/>
              <a:t>二维数组</a:t>
            </a:r>
            <a:r>
              <a:rPr lang="en-US" altLang="zh-CN" sz="2800" dirty="0"/>
              <a:t>set1</a:t>
            </a:r>
            <a:r>
              <a:rPr lang="zh-CN" altLang="en-US" sz="2800" dirty="0"/>
              <a:t>转置为</a:t>
            </a:r>
            <a:r>
              <a:rPr lang="en-US" altLang="zh-CN" sz="2800" dirty="0"/>
              <a:t>set2 </a:t>
            </a:r>
            <a:r>
              <a:rPr lang="zh-CN" altLang="en-US" sz="2800" dirty="0"/>
              <a:t>，然后将</a:t>
            </a:r>
            <a:r>
              <a:rPr lang="en-US" altLang="zh-CN" sz="2800" dirty="0"/>
              <a:t>set1</a:t>
            </a:r>
            <a:r>
              <a:rPr lang="zh-CN" altLang="en-US" sz="2800" dirty="0"/>
              <a:t>与</a:t>
            </a:r>
            <a:r>
              <a:rPr lang="en-US" altLang="zh-CN" sz="2800" dirty="0"/>
              <a:t>set2</a:t>
            </a:r>
            <a:r>
              <a:rPr lang="zh-CN" altLang="en-US" sz="2800" dirty="0"/>
              <a:t>相乘得到</a:t>
            </a:r>
            <a:r>
              <a:rPr lang="en-US" altLang="zh-CN" sz="2800" dirty="0"/>
              <a:t>set3 </a:t>
            </a:r>
            <a:r>
              <a:rPr lang="zh-CN" altLang="en-US" sz="2800" dirty="0"/>
              <a:t>。</a:t>
            </a:r>
          </a:p>
        </p:txBody>
      </p:sp>
      <p:sp>
        <p:nvSpPr>
          <p:cNvPr id="4198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/>
              <a:t>43</a:t>
            </a:fld>
            <a:endParaRPr lang="en-US" altLang="en-US" sz="1600" b="0" dirty="0"/>
          </a:p>
        </p:txBody>
      </p:sp>
      <p:pic>
        <p:nvPicPr>
          <p:cNvPr id="41988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595" y="2924811"/>
            <a:ext cx="6985000" cy="2309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4"/>
          <p:cNvSpPr txBox="1"/>
          <p:nvPr/>
        </p:nvSpPr>
        <p:spPr>
          <a:xfrm>
            <a:off x="2207896" y="261939"/>
            <a:ext cx="8208963" cy="6492875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void </a:t>
            </a:r>
            <a:r>
              <a:rPr lang="en-US" altLang="zh-CN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transpose(</a:t>
            </a:r>
            <a:r>
              <a:rPr lang="en-US" altLang="zh-CN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int a[ ][4], </a:t>
            </a:r>
            <a:r>
              <a:rPr lang="en-US" altLang="zh-CN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int b[ ][3])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{	int</a:t>
            </a:r>
            <a:r>
              <a:rPr lang="en-US" altLang="zh-CN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 i, </a:t>
            </a:r>
            <a:r>
              <a:rPr lang="en-US" altLang="zh-CN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j;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for (i=0; i&lt;3; i++)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for (j=0; j&lt;4; j++) 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</a:t>
            </a:r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b[j][i]=a[i][j];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void </a:t>
            </a:r>
            <a:r>
              <a:rPr lang="en-US" altLang="zh-CN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multiply(</a:t>
            </a:r>
            <a:r>
              <a:rPr lang="en-US" altLang="zh-CN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int a[ ][4], </a:t>
            </a:r>
            <a:r>
              <a:rPr lang="en-US" altLang="zh-CN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int b[ ][3], </a:t>
            </a:r>
            <a:r>
              <a:rPr lang="en-US" altLang="zh-CN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int c[ ][3])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{</a:t>
            </a:r>
            <a:r>
              <a:rPr lang="en-US" altLang="zh-CN" sz="2600" dirty="0">
                <a:solidFill>
                  <a:schemeClr val="tx1"/>
                </a:solidFill>
              </a:rPr>
              <a:t>	</a:t>
            </a:r>
            <a:r>
              <a:rPr lang="en-US" altLang="en-US" sz="2600" dirty="0">
                <a:solidFill>
                  <a:schemeClr val="tx1"/>
                </a:solidFill>
              </a:rPr>
              <a:t>int i,</a:t>
            </a:r>
            <a:r>
              <a:rPr lang="en-US" altLang="zh-CN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j,</a:t>
            </a:r>
            <a:r>
              <a:rPr lang="en-US" altLang="zh-CN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k;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for (i=0; i&lt;3; i++)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for (j=0; j&lt;3; j++)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</a:t>
            </a:r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c[i][j]=0;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	</a:t>
            </a:r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for( k=0 ; k &lt; 4; k++)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	</a:t>
            </a:r>
            <a:r>
              <a:rPr lang="en-US" altLang="en-US" sz="2600" dirty="0">
                <a:solidFill>
                  <a:schemeClr val="tx1"/>
                </a:solidFill>
              </a:rPr>
              <a:t>c[i][j] += a[i][k] * b[k][j];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en-US" sz="2600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en-US" sz="2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3011" name="AutoShape 5"/>
          <p:cNvSpPr/>
          <p:nvPr/>
        </p:nvSpPr>
        <p:spPr>
          <a:xfrm>
            <a:off x="8688389" y="602138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4-11.cpp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/>
          <p:nvPr/>
        </p:nvSpPr>
        <p:spPr>
          <a:xfrm>
            <a:off x="2135560" y="548680"/>
            <a:ext cx="8208962" cy="609397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zh-CN" altLang="en-US" sz="2600" dirty="0">
                <a:solidFill>
                  <a:srgbClr val="FF0000"/>
                </a:solidFill>
              </a:rPr>
              <a:t>		</a:t>
            </a:r>
            <a:endParaRPr lang="en-US" altLang="zh-CN" sz="2600" dirty="0">
              <a:solidFill>
                <a:srgbClr val="FF0000"/>
              </a:solidFill>
            </a:endParaRPr>
          </a:p>
          <a:p>
            <a:pPr eaLnBrk="1" fontAlgn="t" hangingPunct="1"/>
            <a:r>
              <a:rPr lang="zh-CN" altLang="en-US" sz="2600" dirty="0">
                <a:solidFill>
                  <a:srgbClr val="FF0000"/>
                </a:solidFill>
              </a:rPr>
              <a:t>如何在同一个矩阵中将一个</a:t>
            </a:r>
            <a:r>
              <a:rPr lang="en-US" altLang="zh-CN" sz="2600" dirty="0">
                <a:solidFill>
                  <a:srgbClr val="FF0000"/>
                </a:solidFill>
              </a:rPr>
              <a:t>3×3</a:t>
            </a:r>
            <a:r>
              <a:rPr lang="zh-CN" altLang="en-US" sz="2600" dirty="0">
                <a:solidFill>
                  <a:srgbClr val="FF0000"/>
                </a:solidFill>
              </a:rPr>
              <a:t>二维数组</a:t>
            </a:r>
            <a:r>
              <a:rPr lang="en-US" altLang="zh-CN" sz="2600" dirty="0">
                <a:solidFill>
                  <a:srgbClr val="FF0000"/>
                </a:solidFill>
              </a:rPr>
              <a:t>(</a:t>
            </a:r>
            <a:r>
              <a:rPr lang="zh-CN" altLang="en-US" sz="2600" dirty="0">
                <a:solidFill>
                  <a:srgbClr val="FF0000"/>
                </a:solidFill>
              </a:rPr>
              <a:t>方阵</a:t>
            </a:r>
            <a:r>
              <a:rPr lang="en-US" altLang="zh-CN" sz="2600" dirty="0">
                <a:solidFill>
                  <a:srgbClr val="FF0000"/>
                </a:solidFill>
              </a:rPr>
              <a:t>)</a:t>
            </a:r>
            <a:r>
              <a:rPr lang="zh-CN" altLang="en-US" sz="2600" dirty="0">
                <a:solidFill>
                  <a:srgbClr val="FF0000"/>
                </a:solidFill>
              </a:rPr>
              <a:t>转置？</a:t>
            </a:r>
          </a:p>
          <a:p>
            <a:pPr eaLnBrk="1" fontAlgn="t" hangingPunct="1"/>
            <a:endParaRPr lang="zh-CN" altLang="en-US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sz="2600" dirty="0">
                <a:solidFill>
                  <a:schemeClr val="tx1"/>
                </a:solidFill>
              </a:rPr>
              <a:t>		</a:t>
            </a:r>
            <a:r>
              <a:rPr lang="en-US" altLang="zh-CN" sz="2600" dirty="0">
                <a:solidFill>
                  <a:schemeClr val="tx1"/>
                </a:solidFill>
              </a:rPr>
              <a:t>void  transpose ( int  a[ ][3])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{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int  i, j, t;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for (i=0; i&lt;3; i++)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	for (j=0; j&lt;i; j++)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	{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		t = a[j][i];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		a[j][i] = a[i][j];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		a[i][j] = t;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	}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} </a:t>
            </a:r>
            <a:endParaRPr lang="en-US" altLang="en-US" sz="2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6.5</a:t>
            </a:r>
            <a:r>
              <a:rPr lang="zh-CN" altLang="en-US" dirty="0"/>
              <a:t>字符数组与字符串 </a:t>
            </a:r>
          </a:p>
        </p:txBody>
      </p:sp>
      <p:sp>
        <p:nvSpPr>
          <p:cNvPr id="45060" name="Rectangle 3"/>
          <p:cNvSpPr>
            <a:spLocks noGrp="1"/>
          </p:cNvSpPr>
          <p:nvPr>
            <p:ph idx="1"/>
          </p:nvPr>
        </p:nvSpPr>
        <p:spPr>
          <a:xfrm>
            <a:off x="1631504" y="1706712"/>
            <a:ext cx="7128792" cy="4351338"/>
          </a:xfrm>
        </p:spPr>
        <p:txBody>
          <a:bodyPr vert="horz" wrap="square" lIns="91440" tIns="45720" rIns="91440" bIns="45720" anchor="t" anchorCtr="0"/>
          <a:lstStyle/>
          <a:p>
            <a:pPr marL="533400" indent="-533400">
              <a:lnSpc>
                <a:spcPct val="150000"/>
              </a:lnSpc>
            </a:pPr>
            <a:r>
              <a:rPr lang="zh-CN" altLang="en-US" sz="3200" dirty="0">
                <a:solidFill>
                  <a:schemeClr val="tx1"/>
                </a:solidFill>
              </a:rPr>
              <a:t>实现字符串的方法：</a:t>
            </a:r>
          </a:p>
          <a:p>
            <a:pPr marL="533400" indent="-533400"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solidFill>
                  <a:schemeClr val="tx1"/>
                </a:solidFill>
              </a:rPr>
              <a:t>定义字符型数组；</a:t>
            </a:r>
            <a:endParaRPr lang="en-US" altLang="zh-CN" dirty="0">
              <a:solidFill>
                <a:schemeClr val="tx1"/>
              </a:solidFill>
            </a:endParaRPr>
          </a:p>
          <a:p>
            <a:pPr marL="533400" indent="-533400">
              <a:lnSpc>
                <a:spcPct val="150000"/>
              </a:lnSpc>
              <a:buFontTx/>
              <a:buAutoNum type="arabicPeriod"/>
            </a:pPr>
            <a:r>
              <a:rPr lang="zh-CN" altLang="en-US" dirty="0"/>
              <a:t>使用字符串类型；</a:t>
            </a:r>
            <a:endParaRPr lang="zh-CN" altLang="en-US" dirty="0">
              <a:solidFill>
                <a:schemeClr val="tx1"/>
              </a:solidFill>
            </a:endParaRPr>
          </a:p>
          <a:p>
            <a:pPr marL="533400" indent="-533400"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solidFill>
                  <a:schemeClr val="tx1"/>
                </a:solidFill>
              </a:rPr>
              <a:t>字符型指针间接实现</a:t>
            </a: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下一章</a:t>
            </a:r>
            <a:r>
              <a:rPr lang="en-US" altLang="zh-CN" dirty="0">
                <a:solidFill>
                  <a:schemeClr val="tx1"/>
                </a:solidFill>
              </a:rPr>
              <a:t>];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05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46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6.5.1 </a:t>
            </a:r>
            <a:r>
              <a:rPr lang="zh-CN" altLang="en-US" dirty="0"/>
              <a:t>字符数组的定义 </a:t>
            </a:r>
          </a:p>
        </p:txBody>
      </p:sp>
      <p:sp>
        <p:nvSpPr>
          <p:cNvPr id="46084" name="Rectangle 3"/>
          <p:cNvSpPr>
            <a:spLocks noGrp="1"/>
          </p:cNvSpPr>
          <p:nvPr>
            <p:ph idx="1"/>
          </p:nvPr>
        </p:nvSpPr>
        <p:spPr>
          <a:xfrm>
            <a:off x="3563938" y="1752600"/>
            <a:ext cx="663575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例如：</a:t>
            </a: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 		</a:t>
            </a:r>
            <a:r>
              <a:rPr lang="en-US" altLang="zh-CN" dirty="0">
                <a:solidFill>
                  <a:schemeClr val="tx1"/>
                </a:solidFill>
              </a:rPr>
              <a:t>char  str1[10];   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	char  str2[3][10];</a:t>
            </a:r>
          </a:p>
          <a:p>
            <a:pPr eaLnBrk="1" hangingPunct="1"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下面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个数组的区别：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	char   str[10]; 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	int      array[10];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608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47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6.5.2 </a:t>
            </a:r>
            <a:r>
              <a:rPr lang="zh-CN" altLang="en-US" dirty="0"/>
              <a:t>字符数组的初始化 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idx="1"/>
          </p:nvPr>
        </p:nvSpPr>
        <p:spPr>
          <a:xfrm>
            <a:off x="1343472" y="1702798"/>
            <a:ext cx="8153400" cy="4556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indent="0">
              <a:buNone/>
              <a:defRPr/>
            </a:pPr>
            <a:r>
              <a:rPr lang="zh-CN" altLang="en-US" sz="2600" dirty="0">
                <a:solidFill>
                  <a:schemeClr val="tx1"/>
                </a:solidFill>
              </a:rPr>
              <a:t>例</a:t>
            </a:r>
            <a:r>
              <a:rPr lang="en-US" altLang="zh-CN" sz="2600" dirty="0">
                <a:solidFill>
                  <a:schemeClr val="tx1"/>
                </a:solidFill>
              </a:rPr>
              <a:t>1</a:t>
            </a:r>
            <a:r>
              <a:rPr lang="zh-CN" altLang="en-US" sz="2600" dirty="0">
                <a:solidFill>
                  <a:schemeClr val="tx1"/>
                </a:solidFill>
              </a:rPr>
              <a:t>：</a:t>
            </a:r>
          </a:p>
          <a:p>
            <a:pPr>
              <a:buNone/>
              <a:defRPr/>
            </a:pPr>
            <a:r>
              <a:rPr lang="en-US" altLang="zh-CN" sz="2600" dirty="0">
                <a:solidFill>
                  <a:schemeClr val="tx1"/>
                </a:solidFill>
              </a:rPr>
              <a:t>	char  name[10]={'s', 't', 'a', 'r', '  ', 'C', 'h', 'i', 'n','a'}; </a:t>
            </a:r>
            <a:endParaRPr lang="zh-CN" altLang="en-US" sz="260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zh-CN" altLang="en-US" sz="2600" dirty="0">
                <a:solidFill>
                  <a:schemeClr val="tx1"/>
                </a:solidFill>
              </a:rPr>
              <a:t>例</a:t>
            </a:r>
            <a:r>
              <a:rPr lang="en-US" altLang="zh-CN" sz="2600" dirty="0">
                <a:solidFill>
                  <a:schemeClr val="tx1"/>
                </a:solidFill>
              </a:rPr>
              <a:t>2</a:t>
            </a:r>
            <a:r>
              <a:rPr lang="zh-CN" altLang="en-US" sz="2600" dirty="0">
                <a:solidFill>
                  <a:schemeClr val="tx1"/>
                </a:solidFill>
              </a:rPr>
              <a:t>：</a:t>
            </a:r>
            <a:r>
              <a:rPr lang="en-US" altLang="zh-CN" sz="2600" dirty="0">
                <a:solidFill>
                  <a:schemeClr val="tx1"/>
                </a:solidFill>
              </a:rPr>
              <a:t>	char  name[10]={'s', 't', 'a', 'r'}; </a:t>
            </a:r>
            <a:endParaRPr lang="zh-CN" altLang="en-US" sz="260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zh-CN" altLang="en-US" sz="2600" dirty="0">
                <a:solidFill>
                  <a:schemeClr val="tx1"/>
                </a:solidFill>
              </a:rPr>
              <a:t>例</a:t>
            </a:r>
            <a:r>
              <a:rPr lang="en-US" altLang="zh-CN" sz="2600" dirty="0">
                <a:solidFill>
                  <a:schemeClr val="tx1"/>
                </a:solidFill>
              </a:rPr>
              <a:t>3:	char  name[ ]={'s', 't', 'a', 'r'}; </a:t>
            </a:r>
          </a:p>
          <a:p>
            <a:pPr marL="0" indent="0">
              <a:buNone/>
              <a:defRPr/>
            </a:pPr>
            <a:r>
              <a:rPr lang="zh-CN" altLang="en-US" sz="2600" dirty="0">
                <a:solidFill>
                  <a:schemeClr val="tx1"/>
                </a:solidFill>
              </a:rPr>
              <a:t>例</a:t>
            </a:r>
            <a:r>
              <a:rPr lang="en-US" altLang="zh-CN" sz="2600" dirty="0">
                <a:solidFill>
                  <a:schemeClr val="tx1"/>
                </a:solidFill>
              </a:rPr>
              <a:t>4</a:t>
            </a:r>
            <a:r>
              <a:rPr lang="zh-CN" altLang="en-US" sz="2600" dirty="0">
                <a:solidFill>
                  <a:schemeClr val="tx1"/>
                </a:solidFill>
              </a:rPr>
              <a:t>：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zh-CN" sz="2600" dirty="0">
                <a:solidFill>
                  <a:schemeClr val="tx1"/>
                </a:solidFill>
              </a:rPr>
              <a:t>		char  names[3][6]={	{'P', 'e', 't', 'e', 'r'},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zh-CN" sz="2600" dirty="0">
                <a:solidFill>
                  <a:schemeClr val="tx1"/>
                </a:solidFill>
              </a:rPr>
              <a:t>						{'J', 'o', 'e','s'},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zh-CN" sz="2600" dirty="0">
                <a:solidFill>
                  <a:schemeClr val="tx1"/>
                </a:solidFill>
              </a:rPr>
              <a:t>						{'T', 'o', 'm'}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altLang="zh-CN" sz="2600" dirty="0">
                <a:solidFill>
                  <a:schemeClr val="tx1"/>
                </a:solidFill>
              </a:rPr>
              <a:t>				       };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4710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48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3" name="爆炸形 2 2"/>
          <p:cNvSpPr/>
          <p:nvPr/>
        </p:nvSpPr>
        <p:spPr>
          <a:xfrm>
            <a:off x="8355478" y="2132856"/>
            <a:ext cx="3558244" cy="3116559"/>
          </a:xfrm>
          <a:prstGeom prst="irregularSeal2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初始化字符数组非字符串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6.5.3 </a:t>
            </a:r>
            <a:r>
              <a:rPr lang="zh-CN" altLang="en-US" dirty="0"/>
              <a:t>字符串 </a:t>
            </a:r>
          </a:p>
        </p:txBody>
      </p:sp>
      <p:sp>
        <p:nvSpPr>
          <p:cNvPr id="4813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marL="533400" indent="-533400">
              <a:lnSpc>
                <a:spcPct val="130000"/>
              </a:lnSpc>
            </a:pPr>
            <a:r>
              <a:rPr lang="zh-CN" altLang="en-US" sz="2600" dirty="0">
                <a:solidFill>
                  <a:schemeClr val="tx1"/>
                </a:solidFill>
              </a:rPr>
              <a:t>初始化字符串的方法：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1.	char name[10]={"Tom"};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2.	char name[10]= "Tom";</a:t>
            </a:r>
          </a:p>
          <a:p>
            <a:pPr marL="533400" indent="-533400">
              <a:lnSpc>
                <a:spcPct val="130000"/>
              </a:lnSpc>
              <a:buFontTx/>
              <a:buAutoNum type="arabicPeriod" startAt="3"/>
            </a:pPr>
            <a:r>
              <a:rPr lang="en-US" altLang="zh-CN" sz="2600" dirty="0">
                <a:solidFill>
                  <a:schemeClr val="tx1"/>
                </a:solidFill>
              </a:rPr>
              <a:t>char name[10]={'T','o','m','\0'};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	</a:t>
            </a:r>
            <a:r>
              <a:rPr lang="zh-CN" altLang="en-US" sz="2600" dirty="0">
                <a:solidFill>
                  <a:srgbClr val="7030A0"/>
                </a:solidFill>
              </a:rPr>
              <a:t>它们与下面这个不同</a:t>
            </a:r>
            <a:r>
              <a:rPr lang="zh-CN" altLang="en-US" sz="2600" dirty="0">
                <a:solidFill>
                  <a:schemeClr val="tx1"/>
                </a:solidFill>
              </a:rPr>
              <a:t>：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char name[10]={'T','o','m','&amp;','P','e','t','e','r','!'}; </a:t>
            </a:r>
            <a:r>
              <a:rPr lang="zh-CN" altLang="en-US" sz="2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813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49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9857CA-7B2A-4380-88B2-7467C5D25370}"/>
              </a:ext>
            </a:extLst>
          </p:cNvPr>
          <p:cNvGrpSpPr/>
          <p:nvPr/>
        </p:nvGrpSpPr>
        <p:grpSpPr>
          <a:xfrm>
            <a:off x="7747156" y="4001294"/>
            <a:ext cx="3011388" cy="893961"/>
            <a:chOff x="7747156" y="4001294"/>
            <a:chExt cx="3011388" cy="893961"/>
          </a:xfrm>
        </p:grpSpPr>
        <p:sp>
          <p:nvSpPr>
            <p:cNvPr id="2" name="箭头: 右 1">
              <a:extLst>
                <a:ext uri="{FF2B5EF4-FFF2-40B4-BE49-F238E27FC236}">
                  <a16:creationId xmlns:a16="http://schemas.microsoft.com/office/drawing/2014/main" id="{F947D10C-BE2C-4FB8-B9A6-4528DCBE9B67}"/>
                </a:ext>
              </a:extLst>
            </p:cNvPr>
            <p:cNvSpPr/>
            <p:nvPr/>
          </p:nvSpPr>
          <p:spPr>
            <a:xfrm rot="8467838">
              <a:off x="7747156" y="4607223"/>
              <a:ext cx="1512168" cy="2880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A4EA66D-4971-44F5-8902-372D49B2CD4D}"/>
                </a:ext>
              </a:extLst>
            </p:cNvPr>
            <p:cNvSpPr txBox="1"/>
            <p:nvPr/>
          </p:nvSpPr>
          <p:spPr>
            <a:xfrm>
              <a:off x="9336360" y="4001294"/>
              <a:ext cx="14221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字符数组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6.5.4 </a:t>
            </a:r>
            <a:r>
              <a:rPr lang="zh-CN" altLang="en-US" dirty="0"/>
              <a:t>字符数组的输入和输出 </a:t>
            </a:r>
          </a:p>
        </p:txBody>
      </p:sp>
      <p:sp>
        <p:nvSpPr>
          <p:cNvPr id="49156" name="Rectangle 3"/>
          <p:cNvSpPr>
            <a:spLocks noGrp="1"/>
          </p:cNvSpPr>
          <p:nvPr>
            <p:ph idx="1"/>
          </p:nvPr>
        </p:nvSpPr>
        <p:spPr>
          <a:xfrm>
            <a:off x="1981200" y="1752601"/>
            <a:ext cx="10379496" cy="4556125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eaLnBrk="1" hangingPunct="1">
              <a:lnSpc>
                <a:spcPct val="10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1. </a:t>
            </a:r>
            <a:r>
              <a:rPr lang="zh-CN" altLang="en-US" sz="2600" dirty="0">
                <a:solidFill>
                  <a:schemeClr val="tx1"/>
                </a:solidFill>
              </a:rPr>
              <a:t>按单个字符输入输出：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		</a:t>
            </a:r>
            <a:r>
              <a:rPr lang="en-US" altLang="zh-CN" sz="2600" dirty="0">
                <a:solidFill>
                  <a:schemeClr val="tx1"/>
                </a:solidFill>
              </a:rPr>
              <a:t>char   name[10];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for(int i=0; i&lt;10; i++)</a:t>
            </a:r>
            <a:endParaRPr lang="zh-CN" altLang="en-US" sz="2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			</a:t>
            </a:r>
            <a:r>
              <a:rPr lang="en-US" altLang="zh-CN" sz="2600" dirty="0">
                <a:solidFill>
                  <a:schemeClr val="tx1"/>
                </a:solidFill>
              </a:rPr>
              <a:t>cin &gt;&gt; name[i];    // </a:t>
            </a:r>
            <a:r>
              <a:rPr lang="zh-CN" altLang="en-US" sz="2600" dirty="0">
                <a:solidFill>
                  <a:schemeClr val="tx1"/>
                </a:solidFill>
              </a:rPr>
              <a:t>区别 </a:t>
            </a:r>
            <a:r>
              <a:rPr lang="en-US" altLang="zh-CN" dirty="0" err="1">
                <a:solidFill>
                  <a:schemeClr val="tx1"/>
                </a:solidFill>
              </a:rPr>
              <a:t>cin.get</a:t>
            </a:r>
            <a:r>
              <a:rPr lang="en-US" altLang="zh-CN" dirty="0">
                <a:solidFill>
                  <a:schemeClr val="tx1"/>
                </a:solidFill>
              </a:rPr>
              <a:t>( name[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] )</a:t>
            </a:r>
            <a:endParaRPr lang="zh-CN" altLang="en-US" sz="2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for(i=0; i&lt;10; i++)</a:t>
            </a:r>
            <a:endParaRPr lang="zh-CN" altLang="en-US" sz="2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			</a:t>
            </a:r>
            <a:r>
              <a:rPr lang="en-US" altLang="zh-CN" sz="2600" dirty="0">
                <a:solidFill>
                  <a:schemeClr val="tx1"/>
                </a:solidFill>
              </a:rPr>
              <a:t>cout &lt;&lt; name[i]; 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</a:rPr>
              <a:t>将字符串作为一个整体输入输出：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		cin &gt;&gt; name ; 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		</a:t>
            </a:r>
            <a:r>
              <a:rPr lang="en-US" altLang="zh-CN" dirty="0">
                <a:solidFill>
                  <a:schemeClr val="tx1"/>
                </a:solidFill>
              </a:rPr>
              <a:t>cout &lt;&lt; name ;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915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50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0152B4-4931-420D-B848-17A976A80293}"/>
              </a:ext>
            </a:extLst>
          </p:cNvPr>
          <p:cNvSpPr/>
          <p:nvPr/>
        </p:nvSpPr>
        <p:spPr>
          <a:xfrm>
            <a:off x="8375830" y="1844824"/>
            <a:ext cx="3417923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chemeClr val="tx1"/>
                </a:solidFill>
              </a:rPr>
              <a:t>cin.get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  <a:r>
              <a:rPr lang="zh-CN" altLang="en-US" dirty="0">
                <a:solidFill>
                  <a:schemeClr val="tx1"/>
                </a:solidFill>
              </a:rPr>
              <a:t>可读入空格字符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 err="1">
                <a:solidFill>
                  <a:schemeClr val="tx1"/>
                </a:solidFill>
              </a:rPr>
              <a:t>cin</a:t>
            </a:r>
            <a:r>
              <a:rPr lang="zh-CN" altLang="en-US" dirty="0">
                <a:solidFill>
                  <a:schemeClr val="tx1"/>
                </a:solidFill>
              </a:rPr>
              <a:t>不处理空格字符</a:t>
            </a:r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6.5.4 </a:t>
            </a:r>
            <a:r>
              <a:rPr lang="zh-CN" altLang="en-US" dirty="0"/>
              <a:t>字符数组的输入和输出 </a:t>
            </a:r>
          </a:p>
        </p:txBody>
      </p:sp>
      <p:sp>
        <p:nvSpPr>
          <p:cNvPr id="50180" name="Rectangle 3"/>
          <p:cNvSpPr>
            <a:spLocks noGrp="1"/>
          </p:cNvSpPr>
          <p:nvPr>
            <p:ph idx="1"/>
          </p:nvPr>
        </p:nvSpPr>
        <p:spPr>
          <a:xfrm>
            <a:off x="1981200" y="1752601"/>
            <a:ext cx="8153400" cy="45561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dirty="0">
                <a:solidFill>
                  <a:srgbClr val="FF0000"/>
                </a:solidFill>
              </a:rPr>
              <a:t>常见错误一：把字符数据当字符串输出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	char  name[9]={'T','o','m','&amp;','P','e','t','e','r'};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	cout &lt;&lt; name;</a:t>
            </a:r>
          </a:p>
          <a:p>
            <a:pPr eaLnBrk="1" hangingPunct="1">
              <a:buNone/>
            </a:pPr>
            <a:r>
              <a:rPr lang="zh-CN" altLang="en-US" dirty="0">
                <a:solidFill>
                  <a:srgbClr val="FF0000"/>
                </a:solidFill>
              </a:rPr>
              <a:t>常见错误二：把数值类型的数组整体输入输出</a:t>
            </a:r>
          </a:p>
          <a:p>
            <a:pPr eaLnBrk="1" hangingPunct="1">
              <a:buNone/>
            </a:pPr>
            <a:r>
              <a:rPr lang="fr-FR" altLang="zh-CN" dirty="0">
                <a:solidFill>
                  <a:schemeClr val="tx1"/>
                </a:solidFill>
              </a:rPr>
              <a:t>		int   qty[4] = {2, 7, 9, 8};</a:t>
            </a:r>
          </a:p>
          <a:p>
            <a:pPr eaLnBrk="1" hangingPunct="1">
              <a:buNone/>
            </a:pPr>
            <a:r>
              <a:rPr lang="fr-FR" altLang="zh-CN" dirty="0">
                <a:solidFill>
                  <a:schemeClr val="tx1"/>
                </a:solidFill>
              </a:rPr>
              <a:t>		cout &lt;&lt; qty &lt;&lt; endl</a:t>
            </a:r>
            <a:endParaRPr lang="zh-CN" altLang="fr-FR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fr-FR" altLang="zh-CN" dirty="0">
                <a:solidFill>
                  <a:schemeClr val="tx1"/>
                </a:solidFill>
              </a:rPr>
              <a:t>		cin &gt;&gt; qty ;   	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017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51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6.6 </a:t>
            </a:r>
            <a:r>
              <a:rPr lang="zh-CN" altLang="en-US" dirty="0"/>
              <a:t>处理字符和字符串 </a:t>
            </a:r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4.6.1 </a:t>
            </a:r>
            <a:r>
              <a:rPr lang="zh-CN" altLang="en-US" sz="2600" dirty="0">
                <a:solidFill>
                  <a:schemeClr val="tx1"/>
                </a:solidFill>
              </a:rPr>
              <a:t>处理字符的宏（</a:t>
            </a:r>
            <a:r>
              <a:rPr lang="zh-CN" altLang="en-US" sz="2600" dirty="0">
                <a:solidFill>
                  <a:srgbClr val="FF0000"/>
                </a:solidFill>
              </a:rPr>
              <a:t>要</a:t>
            </a:r>
            <a:r>
              <a:rPr lang="en-US" altLang="zh-CN" sz="2600" dirty="0">
                <a:solidFill>
                  <a:srgbClr val="FF0000"/>
                </a:solidFill>
              </a:rPr>
              <a:t>#include&lt;</a:t>
            </a:r>
            <a:r>
              <a:rPr lang="en-US" altLang="zh-CN" sz="2600" dirty="0" err="1">
                <a:solidFill>
                  <a:srgbClr val="FF0000"/>
                </a:solidFill>
              </a:rPr>
              <a:t>cctype</a:t>
            </a:r>
            <a:r>
              <a:rPr lang="en-US" altLang="zh-CN" sz="2600" dirty="0">
                <a:solidFill>
                  <a:srgbClr val="FF0000"/>
                </a:solidFill>
              </a:rPr>
              <a:t>&gt; </a:t>
            </a:r>
            <a:r>
              <a:rPr lang="zh-CN" altLang="en-US" sz="2600" dirty="0">
                <a:solidFill>
                  <a:schemeClr val="tx1"/>
                </a:solidFill>
              </a:rPr>
              <a:t>）</a:t>
            </a:r>
          </a:p>
          <a:p>
            <a:pPr eaLnBrk="1" hangingPunct="1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	例如：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char  letter='a';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if( isupper(letter) )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    	cout &lt;&lt; letter &lt;&lt; " is an upper case";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else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    	cout &lt;&lt; letter &lt;&lt; " is not an upper case "; </a:t>
            </a:r>
            <a:r>
              <a:rPr lang="zh-CN" altLang="en-US" sz="2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120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52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868" name="Group 1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018706"/>
              </p:ext>
            </p:extLst>
          </p:nvPr>
        </p:nvGraphicFramePr>
        <p:xfrm>
          <a:off x="2135189" y="523875"/>
          <a:ext cx="8353425" cy="6147206"/>
        </p:xfrm>
        <a:graphic>
          <a:graphicData uri="http://schemas.openxmlformats.org/drawingml/2006/table">
            <a:tbl>
              <a:tblPr/>
              <a:tblGrid>
                <a:gridCol w="2160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宏名</a:t>
                      </a:r>
                      <a:endParaRPr kumimoji="1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功能</a:t>
                      </a: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isalpha(ch)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是否是字母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isalnum</a:t>
                      </a: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kumimoji="1" lang="en-US" altLang="zh-CN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ch</a:t>
                      </a: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)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是否是字母或数字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isdigit(ch)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是否是数字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islower(ch)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是否是小写字母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isprint(ch)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判断</a:t>
                      </a: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ch</a:t>
                      </a: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是否为打印字符</a:t>
                      </a: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包括空格）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ispunct(ch)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判断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ch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是否为</a:t>
                      </a: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标点符号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isupper(ch)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是否是大写字母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838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isspace(ch)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空白字符包括：空格，竖向跳格符</a:t>
                      </a: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'\v'</a:t>
                      </a: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，换行符</a:t>
                      </a: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'\n'</a:t>
                      </a: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，跳格符</a:t>
                      </a:r>
                      <a:r>
                        <a:rPr kumimoji="1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'\t'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09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tolower(ch)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转小写字母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809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toupper(ch)</a:t>
                      </a:r>
                      <a:endParaRPr kumimoji="1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转大写字母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17A013CE-5F23-4EA7-8875-DB43E4D7C593}"/>
              </a:ext>
            </a:extLst>
          </p:cNvPr>
          <p:cNvSpPr/>
          <p:nvPr/>
        </p:nvSpPr>
        <p:spPr>
          <a:xfrm>
            <a:off x="2495600" y="27383"/>
            <a:ext cx="29578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#include&lt;</a:t>
            </a:r>
            <a:r>
              <a:rPr lang="en-US" altLang="zh-CN" sz="2800" dirty="0" err="1">
                <a:solidFill>
                  <a:srgbClr val="FF0000"/>
                </a:solidFill>
              </a:rPr>
              <a:t>cctype</a:t>
            </a:r>
            <a:r>
              <a:rPr lang="en-US" altLang="zh-CN" sz="2800" dirty="0">
                <a:solidFill>
                  <a:srgbClr val="FF0000"/>
                </a:solidFill>
              </a:rPr>
              <a:t>&gt; 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/>
          </p:cNvSpPr>
          <p:nvPr>
            <p:ph type="title"/>
          </p:nvPr>
        </p:nvSpPr>
        <p:spPr>
          <a:xfrm>
            <a:off x="989283" y="431862"/>
            <a:ext cx="9490124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2800" dirty="0"/>
              <a:t>【</a:t>
            </a:r>
            <a:r>
              <a:rPr lang="zh-CN" altLang="en-US" sz="2800" dirty="0"/>
              <a:t>例</a:t>
            </a:r>
            <a:r>
              <a:rPr lang="en-US" altLang="zh-CN" sz="2800" dirty="0"/>
              <a:t>6-12】</a:t>
            </a:r>
            <a:r>
              <a:rPr lang="zh-CN" altLang="en-US" sz="2800" dirty="0"/>
              <a:t>假设学号由前面</a:t>
            </a:r>
            <a:r>
              <a:rPr lang="en-US" altLang="zh-CN" sz="2800" dirty="0"/>
              <a:t>4</a:t>
            </a:r>
            <a:r>
              <a:rPr lang="zh-CN" altLang="en-US" sz="2800" dirty="0"/>
              <a:t>个字符，后面</a:t>
            </a:r>
            <a:r>
              <a:rPr lang="en-US" altLang="zh-CN" sz="2800" dirty="0"/>
              <a:t>4</a:t>
            </a:r>
            <a:r>
              <a:rPr lang="zh-CN" altLang="en-US" sz="2800" dirty="0"/>
              <a:t>个数字构成，从键盘输入一个学号，测试它是否合法。 </a:t>
            </a:r>
          </a:p>
        </p:txBody>
      </p:sp>
      <p:sp>
        <p:nvSpPr>
          <p:cNvPr id="5325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/>
              <a:t>54</a:t>
            </a:fld>
            <a:endParaRPr lang="en-US" altLang="en-US" sz="1600" b="0" dirty="0"/>
          </a:p>
        </p:txBody>
      </p:sp>
      <p:sp>
        <p:nvSpPr>
          <p:cNvPr id="53252" name="Text Box 3"/>
          <p:cNvSpPr txBox="1"/>
          <p:nvPr/>
        </p:nvSpPr>
        <p:spPr>
          <a:xfrm>
            <a:off x="2063552" y="1674812"/>
            <a:ext cx="8210550" cy="48641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bool testNum(char [ ]);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main(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char studentID[10];</a:t>
            </a:r>
          </a:p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 &lt;&lt; "</a:t>
            </a:r>
            <a:r>
              <a:rPr lang="zh-CN" altLang="en-US" sz="2600" dirty="0">
                <a:solidFill>
                  <a:schemeClr val="tx1"/>
                </a:solidFill>
              </a:rPr>
              <a:t>按 </a:t>
            </a:r>
            <a:r>
              <a:rPr lang="en-US" altLang="zh-CN" sz="2600" dirty="0">
                <a:solidFill>
                  <a:schemeClr val="tx1"/>
                </a:solidFill>
              </a:rPr>
              <a:t>ABCD1234 </a:t>
            </a:r>
            <a:r>
              <a:rPr lang="zh-CN" altLang="en-US" sz="2600" dirty="0">
                <a:solidFill>
                  <a:schemeClr val="tx1"/>
                </a:solidFill>
              </a:rPr>
              <a:t>的形式输入一个学号</a:t>
            </a:r>
            <a:r>
              <a:rPr lang="en-US" altLang="zh-CN" sz="2600" dirty="0">
                <a:solidFill>
                  <a:schemeClr val="tx1"/>
                </a:solidFill>
              </a:rPr>
              <a:t>";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</a:t>
            </a:r>
            <a:r>
              <a:rPr lang="en-US" altLang="zh-CN" sz="2600" dirty="0" err="1">
                <a:solidFill>
                  <a:schemeClr val="tx1"/>
                </a:solidFill>
              </a:rPr>
              <a:t>cin.getline</a:t>
            </a:r>
            <a:r>
              <a:rPr lang="en-US" altLang="zh-CN" sz="2600" dirty="0">
                <a:solidFill>
                  <a:schemeClr val="tx1"/>
                </a:solidFill>
              </a:rPr>
              <a:t>(</a:t>
            </a:r>
            <a:r>
              <a:rPr lang="en-US" altLang="zh-CN" sz="2600" dirty="0" err="1">
                <a:solidFill>
                  <a:schemeClr val="tx1"/>
                </a:solidFill>
              </a:rPr>
              <a:t>studentID</a:t>
            </a:r>
            <a:r>
              <a:rPr lang="en-US" altLang="zh-CN" sz="2600" dirty="0">
                <a:solidFill>
                  <a:schemeClr val="tx1"/>
                </a:solidFill>
              </a:rPr>
              <a:t>, 9);	  // </a:t>
            </a:r>
            <a:r>
              <a:rPr lang="zh-CN" altLang="en-US" sz="2600" dirty="0">
                <a:solidFill>
                  <a:schemeClr val="tx1"/>
                </a:solidFill>
              </a:rPr>
              <a:t>为什么是</a:t>
            </a:r>
            <a:r>
              <a:rPr lang="en-US" altLang="zh-CN" sz="2600" dirty="0">
                <a:solidFill>
                  <a:schemeClr val="tx1"/>
                </a:solidFill>
              </a:rPr>
              <a:t>9</a:t>
            </a:r>
            <a:r>
              <a:rPr lang="zh-CN" altLang="en-US" sz="2600" dirty="0">
                <a:solidFill>
                  <a:schemeClr val="tx1"/>
                </a:solidFill>
              </a:rPr>
              <a:t>，不是</a:t>
            </a:r>
            <a:r>
              <a:rPr lang="en-US" altLang="zh-CN" sz="2600" dirty="0">
                <a:solidFill>
                  <a:schemeClr val="tx1"/>
                </a:solidFill>
              </a:rPr>
              <a:t>8</a:t>
            </a:r>
            <a:r>
              <a:rPr lang="zh-CN" altLang="en-US" sz="2600" dirty="0">
                <a:solidFill>
                  <a:schemeClr val="tx1"/>
                </a:solidFill>
              </a:rPr>
              <a:t>？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if (</a:t>
            </a:r>
            <a:r>
              <a:rPr lang="en-US" altLang="zh-CN" sz="2600" dirty="0" err="1">
                <a:solidFill>
                  <a:schemeClr val="tx1"/>
                </a:solidFill>
              </a:rPr>
              <a:t>testNum</a:t>
            </a:r>
            <a:r>
              <a:rPr lang="en-US" altLang="zh-CN" sz="2600" dirty="0">
                <a:solidFill>
                  <a:schemeClr val="tx1"/>
                </a:solidFill>
              </a:rPr>
              <a:t>(</a:t>
            </a:r>
            <a:r>
              <a:rPr lang="en-US" altLang="zh-CN" sz="2600" dirty="0" err="1">
                <a:solidFill>
                  <a:schemeClr val="tx1"/>
                </a:solidFill>
              </a:rPr>
              <a:t>studentID</a:t>
            </a:r>
            <a:r>
              <a:rPr lang="en-US" altLang="zh-CN" sz="2600" dirty="0">
                <a:solidFill>
                  <a:schemeClr val="tx1"/>
                </a:solidFill>
              </a:rPr>
              <a:t>))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cout &lt;&lt; "</a:t>
            </a:r>
            <a:r>
              <a:rPr lang="zh-CN" altLang="en-US" sz="2600" dirty="0">
                <a:solidFill>
                  <a:schemeClr val="tx1"/>
                </a:solidFill>
              </a:rPr>
              <a:t>合法！</a:t>
            </a:r>
            <a:r>
              <a:rPr lang="en-US" altLang="zh-CN" sz="2600" dirty="0">
                <a:solidFill>
                  <a:schemeClr val="tx1"/>
                </a:solidFill>
              </a:rPr>
              <a:t>";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else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cout &lt;&lt; "</a:t>
            </a:r>
            <a:r>
              <a:rPr lang="zh-CN" altLang="en-US" sz="2600" dirty="0">
                <a:solidFill>
                  <a:schemeClr val="tx1"/>
                </a:solidFill>
              </a:rPr>
              <a:t>非法</a:t>
            </a:r>
            <a:r>
              <a:rPr lang="en-US" altLang="zh-CN" sz="2600" dirty="0">
                <a:solidFill>
                  <a:schemeClr val="tx1"/>
                </a:solidFill>
              </a:rPr>
              <a:t>:" &lt;&lt; studentID &lt;&lt; endl;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 0;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4"/>
          <p:cNvSpPr txBox="1"/>
          <p:nvPr/>
        </p:nvSpPr>
        <p:spPr>
          <a:xfrm>
            <a:off x="2113502" y="579438"/>
            <a:ext cx="8210550" cy="565785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bool   testNum(char sID[ ])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// </a:t>
            </a:r>
            <a:r>
              <a:rPr lang="zh-CN" altLang="en-US" sz="2600" dirty="0">
                <a:solidFill>
                  <a:schemeClr val="tx1"/>
                </a:solidFill>
              </a:rPr>
              <a:t>测试前</a:t>
            </a:r>
            <a:r>
              <a:rPr lang="en-US" altLang="zh-CN" sz="2600" dirty="0">
                <a:solidFill>
                  <a:schemeClr val="tx1"/>
                </a:solidFill>
              </a:rPr>
              <a:t>4</a:t>
            </a:r>
            <a:r>
              <a:rPr lang="zh-CN" altLang="en-US" sz="2600" dirty="0">
                <a:solidFill>
                  <a:schemeClr val="tx1"/>
                </a:solidFill>
              </a:rPr>
              <a:t>个是否为字母</a:t>
            </a:r>
          </a:p>
          <a:p>
            <a:pPr eaLnBrk="1" fontAlgn="t" hangingPunct="1"/>
            <a:r>
              <a:rPr lang="zh-CN" altLang="en-US" sz="2600" dirty="0">
                <a:solidFill>
                  <a:schemeClr val="tx1"/>
                </a:solidFill>
              </a:rPr>
              <a:t>	</a:t>
            </a:r>
            <a:r>
              <a:rPr lang="en-US" altLang="zh-CN" sz="2600" dirty="0">
                <a:solidFill>
                  <a:schemeClr val="tx1"/>
                </a:solidFill>
              </a:rPr>
              <a:t>for (int count = 0; count &lt; 4; count++)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if (!isalpha(sID[count]))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                 return false;</a:t>
            </a:r>
          </a:p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// </a:t>
            </a:r>
            <a:r>
              <a:rPr lang="zh-CN" altLang="en-US" sz="2600" dirty="0">
                <a:solidFill>
                  <a:schemeClr val="tx1"/>
                </a:solidFill>
              </a:rPr>
              <a:t>测试后</a:t>
            </a:r>
            <a:r>
              <a:rPr lang="en-US" altLang="zh-CN" sz="2600" dirty="0">
                <a:solidFill>
                  <a:schemeClr val="tx1"/>
                </a:solidFill>
              </a:rPr>
              <a:t>4</a:t>
            </a:r>
            <a:r>
              <a:rPr lang="zh-CN" altLang="en-US" sz="2600" dirty="0">
                <a:solidFill>
                  <a:schemeClr val="tx1"/>
                </a:solidFill>
              </a:rPr>
              <a:t>个是否为数字</a:t>
            </a:r>
          </a:p>
          <a:p>
            <a:pPr eaLnBrk="1" fontAlgn="t" hangingPunct="1"/>
            <a:r>
              <a:rPr lang="zh-CN" altLang="en-US" sz="2600" dirty="0">
                <a:solidFill>
                  <a:schemeClr val="tx1"/>
                </a:solidFill>
              </a:rPr>
              <a:t>	</a:t>
            </a:r>
            <a:r>
              <a:rPr lang="en-US" altLang="zh-CN" sz="2600" dirty="0">
                <a:solidFill>
                  <a:schemeClr val="tx1"/>
                </a:solidFill>
              </a:rPr>
              <a:t>for (count = 4; count &lt; 8; count++)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if (!isdigit(sID[count]))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                 return false;</a:t>
            </a:r>
          </a:p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true;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  </a:t>
            </a:r>
          </a:p>
        </p:txBody>
      </p:sp>
      <p:sp>
        <p:nvSpPr>
          <p:cNvPr id="54275" name="AutoShape 5"/>
          <p:cNvSpPr/>
          <p:nvPr/>
        </p:nvSpPr>
        <p:spPr>
          <a:xfrm>
            <a:off x="8759826" y="602138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4-12.cpp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 flipV="1">
            <a:off x="1487488" y="1066577"/>
            <a:ext cx="9073008" cy="570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855641" y="541101"/>
            <a:ext cx="5171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</a:rPr>
              <a:t>处理</a:t>
            </a:r>
            <a:r>
              <a:rPr lang="en-US" altLang="zh-CN" sz="3200" dirty="0">
                <a:solidFill>
                  <a:schemeClr val="tx1"/>
                </a:solidFill>
              </a:rPr>
              <a:t>C++</a:t>
            </a:r>
            <a:r>
              <a:rPr lang="zh-CN" altLang="en-US" sz="3200" dirty="0">
                <a:solidFill>
                  <a:schemeClr val="tx1"/>
                </a:solidFill>
              </a:rPr>
              <a:t>风格字符串的函数 </a:t>
            </a:r>
            <a:endParaRPr lang="zh-CN" altLang="en-US" sz="30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5520" y="255657"/>
            <a:ext cx="810920" cy="810920"/>
          </a:xfrm>
          <a:prstGeom prst="rect">
            <a:avLst/>
          </a:prstGeom>
        </p:spPr>
      </p:pic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143672" y="2863563"/>
            <a:ext cx="6939356" cy="1015663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例如：</a:t>
            </a:r>
            <a:endParaRPr lang="en-US" altLang="zh-CN" sz="2000" dirty="0">
              <a:solidFill>
                <a:schemeClr val="tx1"/>
              </a:solidFill>
              <a:latin typeface="Consolas" panose="020B0609020204030204" pitchFamily="49" charset="0"/>
              <a:ea typeface="仿宋" panose="02010609060101010101" pitchFamily="49" charset="-122"/>
              <a:cs typeface="阿里巴巴普惠体 R" panose="00020600040101010101" pitchFamily="18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string str1=“Happy”;//</a:t>
            </a:r>
            <a:r>
              <a:rPr lang="zh-CN" altLang="en-US" sz="200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初始化</a:t>
            </a:r>
            <a:endParaRPr lang="en-US" altLang="zh-CN" sz="2000" dirty="0">
              <a:solidFill>
                <a:schemeClr val="tx1"/>
              </a:solidFill>
              <a:latin typeface="Consolas" panose="020B0609020204030204" pitchFamily="49" charset="0"/>
              <a:ea typeface="仿宋" panose="02010609060101010101" pitchFamily="49" charset="-122"/>
              <a:cs typeface="阿里巴巴普惠体 R" panose="00020600040101010101" pitchFamily="18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string str2=str1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79576" y="1066577"/>
            <a:ext cx="4743606" cy="50090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字符串头文件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#include&lt;string&gt;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字符串声明及初始化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</a:endParaRPr>
          </a:p>
          <a:p>
            <a:pPr marL="85725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kern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string</a:t>
            </a:r>
            <a:r>
              <a:rPr lang="zh-CN" altLang="zh-CN" b="0" kern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对象的连接</a:t>
            </a:r>
            <a:endParaRPr lang="en-US" altLang="zh-CN" b="0" kern="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L="771525" lvl="2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50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使用“</a:t>
            </a:r>
            <a:r>
              <a:rPr lang="en-US" altLang="zh-CN" sz="2250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+</a:t>
            </a:r>
            <a:r>
              <a:rPr lang="zh-CN" altLang="en-US" sz="2250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”</a:t>
            </a:r>
            <a:r>
              <a:rPr lang="zh-CN" altLang="zh-CN" sz="2250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实现字符串的连接</a:t>
            </a:r>
            <a:endParaRPr lang="en-US" altLang="zh-CN" sz="2250" b="0" kern="0" dirty="0">
              <a:solidFill>
                <a:schemeClr val="tx1"/>
              </a:solidFill>
              <a:latin typeface="Consolas" panose="020B0609020204030204" pitchFamily="49" charset="0"/>
              <a:ea typeface="仿宋" panose="02010609060101010101" pitchFamily="49" charset="-122"/>
              <a:cs typeface="阿里巴巴普惠体 R" panose="00020600040101010101" pitchFamily="18" charset="-122"/>
            </a:endParaRPr>
          </a:p>
          <a:p>
            <a:pPr marL="771525" lvl="2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50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使用“</a:t>
            </a:r>
            <a:r>
              <a:rPr lang="en-US" altLang="zh-CN" sz="2250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+=</a:t>
            </a:r>
            <a:r>
              <a:rPr lang="zh-CN" altLang="en-US" sz="2250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”实现字符串</a:t>
            </a:r>
            <a:r>
              <a:rPr lang="zh-CN" altLang="en-US" sz="2250" b="0" kern="0" dirty="0"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的连接</a:t>
            </a:r>
            <a:endParaRPr lang="en-US" altLang="zh-CN" sz="2250" b="0" kern="0" dirty="0">
              <a:latin typeface="Consolas" panose="020B0609020204030204" pitchFamily="49" charset="0"/>
              <a:ea typeface="仿宋" panose="02010609060101010101" pitchFamily="49" charset="-122"/>
              <a:cs typeface="阿里巴巴普惠体 R" panose="00020600040101010101" pitchFamily="18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030790" y="5413921"/>
            <a:ext cx="6939356" cy="1323439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例如：</a:t>
            </a:r>
            <a:endParaRPr lang="en-US" altLang="zh-CN" sz="2000" dirty="0">
              <a:solidFill>
                <a:schemeClr val="tx1"/>
              </a:solidFill>
              <a:latin typeface="Consolas" panose="020B0609020204030204" pitchFamily="49" charset="0"/>
              <a:ea typeface="仿宋" panose="02010609060101010101" pitchFamily="49" charset="-122"/>
              <a:cs typeface="阿里巴巴普惠体 R" panose="00020600040101010101" pitchFamily="18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string str1=“Happy”;str2=“ new year!\n”;//</a:t>
            </a:r>
            <a:r>
              <a:rPr lang="zh-CN" altLang="en-US" sz="200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初始化</a:t>
            </a:r>
            <a:endParaRPr lang="en-US" altLang="zh-CN" sz="2000" dirty="0">
              <a:solidFill>
                <a:schemeClr val="tx1"/>
              </a:solidFill>
              <a:latin typeface="Consolas" panose="020B0609020204030204" pitchFamily="49" charset="0"/>
              <a:ea typeface="仿宋" panose="02010609060101010101" pitchFamily="49" charset="-122"/>
              <a:cs typeface="阿里巴巴普惠体 R" panose="00020600040101010101" pitchFamily="18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string str3=str1+str2;</a:t>
            </a:r>
          </a:p>
          <a:p>
            <a:r>
              <a:rPr lang="en-US" altLang="zh-CN" sz="200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str1+=str2;</a:t>
            </a:r>
          </a:p>
        </p:txBody>
      </p:sp>
    </p:spTree>
    <p:extLst>
      <p:ext uri="{BB962C8B-B14F-4D97-AF65-F5344CB8AC3E}">
        <p14:creationId xmlns:p14="http://schemas.microsoft.com/office/powerpoint/2010/main" val="59272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9" grpId="0" animBg="1"/>
      <p:bldP spid="9" grpId="1" animBg="1"/>
      <p:bldP spid="9" grpId="2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 flipV="1">
            <a:off x="1271464" y="1124744"/>
            <a:ext cx="9361040" cy="570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9496" y="313824"/>
            <a:ext cx="810920" cy="810920"/>
          </a:xfrm>
          <a:prstGeom prst="rect">
            <a:avLst/>
          </a:prstGeom>
        </p:spPr>
      </p:pic>
      <p:sp>
        <p:nvSpPr>
          <p:cNvPr id="5" name="内容占位符 11"/>
          <p:cNvSpPr txBox="1">
            <a:spLocks/>
          </p:cNvSpPr>
          <p:nvPr/>
        </p:nvSpPr>
        <p:spPr>
          <a:xfrm>
            <a:off x="1487488" y="1268199"/>
            <a:ext cx="9577064" cy="1800200"/>
          </a:xfrm>
          <a:prstGeom prst="rect">
            <a:avLst/>
          </a:prstGeom>
          <a:noFill/>
          <a:ln w="9525">
            <a:noFill/>
          </a:ln>
        </p:spPr>
        <p:txBody>
          <a:bodyPr lIns="252000" tIns="0" rtlCol="0" anchor="ctr">
            <a:noAutofit/>
          </a:bodyPr>
          <a:lstStyle>
            <a:lvl1pPr marL="0" indent="0" algn="l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350" b="1" i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342900" indent="0" algn="ctr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None/>
              <a:defRPr sz="1500">
                <a:solidFill>
                  <a:schemeClr val="tx1"/>
                </a:solidFill>
                <a:latin typeface="+mn-lt"/>
                <a:ea typeface="+mn-ea"/>
              </a:defRPr>
            </a:lvl2pPr>
            <a:lvl3pPr marL="685800" indent="0" algn="ctr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None/>
              <a:defRPr sz="1350">
                <a:solidFill>
                  <a:schemeClr val="tx1"/>
                </a:solidFill>
                <a:latin typeface="+mn-lt"/>
                <a:ea typeface="+mn-ea"/>
              </a:defRPr>
            </a:lvl3pPr>
            <a:lvl4pPr marL="1028700" indent="0" algn="ctr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1371600" indent="0" algn="ctr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+mn-lt"/>
                <a:ea typeface="+mn-ea"/>
              </a:defRPr>
            </a:lvl5pPr>
            <a:lvl6pPr marL="17145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2057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24003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85725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0" i="0" kern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string</a:t>
            </a:r>
            <a:r>
              <a:rPr lang="zh-CN" altLang="en-US" sz="2400" b="0" i="0" kern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对象的比较</a:t>
            </a:r>
            <a:endParaRPr lang="en-US" altLang="zh-CN" sz="2400" b="0" i="0" kern="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L="771525" lvl="2" indent="-342900" algn="l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50" b="0" kern="0" dirty="0"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使用关系运算符实现字符串比较</a:t>
            </a:r>
            <a:endParaRPr lang="en-US" altLang="zh-CN" sz="2250" b="0" kern="0" dirty="0">
              <a:latin typeface="Consolas" panose="020B0609020204030204" pitchFamily="49" charset="0"/>
              <a:ea typeface="仿宋" panose="02010609060101010101" pitchFamily="49" charset="-122"/>
              <a:cs typeface="阿里巴巴普惠体 R" panose="00020600040101010101" pitchFamily="18" charset="-122"/>
            </a:endParaRPr>
          </a:p>
          <a:p>
            <a:pPr marL="771525" lvl="2" indent="-342900" algn="l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50" b="0" kern="0" dirty="0"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逐个比较字符大小，比较的是字符的</a:t>
            </a:r>
            <a:r>
              <a:rPr lang="en-US" altLang="zh-CN" sz="2250" b="0" kern="0" dirty="0"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ASCII</a:t>
            </a:r>
            <a:r>
              <a:rPr lang="zh-CN" altLang="en-US" sz="2250" b="0" kern="0" dirty="0"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码值</a:t>
            </a:r>
            <a:endParaRPr lang="en-US" altLang="zh-CN" sz="2250" b="0" kern="0" dirty="0">
              <a:latin typeface="Consolas" panose="020B0609020204030204" pitchFamily="49" charset="0"/>
              <a:ea typeface="仿宋" panose="02010609060101010101" pitchFamily="49" charset="-122"/>
              <a:cs typeface="阿里巴巴普惠体 R" panose="00020600040101010101" pitchFamily="18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39416" y="3356992"/>
            <a:ext cx="8568952" cy="267765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fr-FR" altLang="zh-CN" b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</a:t>
            </a:r>
            <a:r>
              <a:rPr lang="zh-CN" altLang="en-US" b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例：</a:t>
            </a:r>
            <a:r>
              <a:rPr lang="fr-FR" altLang="zh-CN" b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string str1="Hello",str2="hello";</a:t>
            </a:r>
          </a:p>
          <a:p>
            <a:r>
              <a:rPr lang="fr-FR" altLang="zh-CN" b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    string str3="Hello",str4="hello!",str5="Hi";</a:t>
            </a:r>
          </a:p>
          <a:p>
            <a:r>
              <a:rPr lang="fr-FR" altLang="zh-CN" b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    cout&lt;&lt;(str1!=str2)&lt;&lt;endl;</a:t>
            </a:r>
          </a:p>
          <a:p>
            <a:r>
              <a:rPr lang="fr-FR" altLang="zh-CN" b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    cout&lt;&lt;(str1==str3)&lt;&lt;endl;</a:t>
            </a:r>
          </a:p>
          <a:p>
            <a:r>
              <a:rPr lang="fr-FR" altLang="zh-CN" b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    cout&lt;&lt;(str1&lt;str5)&lt;&lt;endl;</a:t>
            </a:r>
          </a:p>
          <a:p>
            <a:r>
              <a:rPr lang="fr-FR" altLang="zh-CN" b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    cout&lt;&lt;(str2&gt;str4)&lt;&lt;endl;</a:t>
            </a:r>
          </a:p>
          <a:p>
            <a:r>
              <a:rPr lang="fr-FR" altLang="zh-CN" b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    return 0;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400" y="3933056"/>
            <a:ext cx="2059691" cy="118018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639617" y="599268"/>
            <a:ext cx="5171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</a:rPr>
              <a:t>处理</a:t>
            </a:r>
            <a:r>
              <a:rPr lang="en-US" altLang="zh-CN" sz="3200" dirty="0">
                <a:solidFill>
                  <a:schemeClr val="tx1"/>
                </a:solidFill>
              </a:rPr>
              <a:t>C++</a:t>
            </a:r>
            <a:r>
              <a:rPr lang="zh-CN" altLang="en-US" sz="3200" dirty="0">
                <a:solidFill>
                  <a:schemeClr val="tx1"/>
                </a:solidFill>
              </a:rPr>
              <a:t>风格字符串的函数 </a:t>
            </a:r>
            <a:endParaRPr lang="zh-CN" altLang="en-US" sz="30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316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xfrm>
            <a:off x="1952312" y="1268759"/>
            <a:ext cx="9401487" cy="5452715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r>
              <a:rPr lang="zh-CN" altLang="en-US" sz="2600" dirty="0">
                <a:solidFill>
                  <a:schemeClr val="tx1"/>
                </a:solidFill>
              </a:rPr>
              <a:t>获取字串长度</a:t>
            </a:r>
            <a:endParaRPr lang="en-US" altLang="zh-CN" sz="2600" dirty="0">
              <a:solidFill>
                <a:schemeClr val="tx1"/>
              </a:solidFill>
            </a:endParaRPr>
          </a:p>
          <a:p>
            <a:endParaRPr lang="en-US" altLang="zh-CN" sz="2600" dirty="0"/>
          </a:p>
          <a:p>
            <a:endParaRPr lang="en-US" altLang="zh-CN" sz="2600" dirty="0">
              <a:solidFill>
                <a:schemeClr val="tx1"/>
              </a:solidFill>
            </a:endParaRPr>
          </a:p>
          <a:p>
            <a:endParaRPr lang="en-US" altLang="zh-CN" sz="2600" dirty="0"/>
          </a:p>
          <a:p>
            <a:endParaRPr lang="en-US" altLang="zh-CN" sz="2600" dirty="0">
              <a:solidFill>
                <a:schemeClr val="tx1"/>
              </a:solidFill>
            </a:endParaRPr>
          </a:p>
          <a:p>
            <a:endParaRPr lang="en-US" altLang="zh-CN" sz="2600" dirty="0"/>
          </a:p>
          <a:p>
            <a:endParaRPr lang="en-US" altLang="zh-CN" sz="2600" dirty="0">
              <a:solidFill>
                <a:schemeClr val="tx1"/>
              </a:solidFill>
            </a:endParaRPr>
          </a:p>
          <a:p>
            <a:r>
              <a:rPr lang="zh-CN" altLang="en-US" sz="2600" dirty="0">
                <a:solidFill>
                  <a:schemeClr val="tx1"/>
                </a:solidFill>
              </a:rPr>
              <a:t>访问字符串中某个字符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600" dirty="0"/>
              <a:t>例：</a:t>
            </a:r>
            <a:r>
              <a:rPr lang="zh-CN" altLang="en-US" sz="2400" dirty="0"/>
              <a:t> string str = "Hello World";</a:t>
            </a:r>
          </a:p>
          <a:p>
            <a:pPr marL="0" indent="0">
              <a:buNone/>
            </a:pPr>
            <a:r>
              <a:rPr lang="en-US" altLang="zh-CN" sz="2400" dirty="0"/>
              <a:t>        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ch</a:t>
            </a:r>
            <a:r>
              <a:rPr lang="zh-CN" altLang="en-US" sz="2400" dirty="0"/>
              <a:t> =</a:t>
            </a:r>
            <a:r>
              <a:rPr lang="en-US" altLang="zh-CN" sz="2400" dirty="0" err="1"/>
              <a:t>str</a:t>
            </a:r>
            <a:r>
              <a:rPr lang="en-US" altLang="zh-CN" sz="2400" dirty="0"/>
              <a:t>[2];</a:t>
            </a:r>
            <a:r>
              <a:rPr lang="zh-CN" altLang="en-US" sz="2400" dirty="0"/>
              <a:t> </a:t>
            </a:r>
            <a:endParaRPr lang="en-US" altLang="zh-CN" sz="2600" dirty="0">
              <a:solidFill>
                <a:schemeClr val="tx1"/>
              </a:solidFill>
            </a:endParaRPr>
          </a:p>
        </p:txBody>
      </p:sp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58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 flipV="1">
            <a:off x="1258820" y="1078111"/>
            <a:ext cx="8407737" cy="400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3647728" y="541101"/>
            <a:ext cx="35702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C++</a:t>
            </a:r>
            <a:r>
              <a:rPr lang="zh-CN" altLang="en-US" sz="30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字符串常用函数</a:t>
            </a:r>
          </a:p>
        </p:txBody>
      </p:sp>
      <p:pic>
        <p:nvPicPr>
          <p:cNvPr id="8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6852" y="250203"/>
            <a:ext cx="810920" cy="81092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461886" y="1651712"/>
            <a:ext cx="88919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71525" lvl="2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串变量名</a:t>
            </a:r>
            <a:r>
              <a:rPr lang="en-US" altLang="zh-CN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.length()   </a:t>
            </a:r>
            <a:r>
              <a:rPr lang="zh-CN" altLang="en-US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或   串变量名</a:t>
            </a:r>
            <a:r>
              <a:rPr lang="en-US" altLang="zh-CN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.size()   </a:t>
            </a:r>
          </a:p>
          <a:p>
            <a:pPr marL="85725" lvl="1" eaLnBrk="1" hangingPunct="1">
              <a:lnSpc>
                <a:spcPct val="150000"/>
              </a:lnSpc>
            </a:pPr>
            <a:r>
              <a:rPr lang="zh-CN" altLang="en-US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例：</a:t>
            </a:r>
            <a:endParaRPr lang="en-US" altLang="zh-CN" b="0" kern="0" dirty="0">
              <a:solidFill>
                <a:schemeClr val="tx1"/>
              </a:solidFill>
              <a:latin typeface="Consolas" panose="020B0609020204030204" pitchFamily="49" charset="0"/>
              <a:ea typeface="仿宋" panose="02010609060101010101" pitchFamily="49" charset="-122"/>
              <a:cs typeface="阿里巴巴普惠体 R" panose="00020600040101010101" pitchFamily="18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78528" y="2492896"/>
            <a:ext cx="6096000" cy="181588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zh-CN" altLang="en-US" sz="2800" b="0" dirty="0">
                <a:solidFill>
                  <a:schemeClr val="tx1"/>
                </a:solidFill>
              </a:rPr>
              <a:t>#include &lt;string&gt;</a:t>
            </a:r>
          </a:p>
          <a:p>
            <a:r>
              <a:rPr lang="en-US" altLang="zh-CN" sz="2800" b="0" dirty="0">
                <a:solidFill>
                  <a:schemeClr val="tx1"/>
                </a:solidFill>
              </a:rPr>
              <a:t>using namespace </a:t>
            </a:r>
            <a:r>
              <a:rPr lang="en-US" altLang="zh-CN" sz="2800" b="0" dirty="0" err="1">
                <a:solidFill>
                  <a:schemeClr val="tx1"/>
                </a:solidFill>
              </a:rPr>
              <a:t>std</a:t>
            </a:r>
            <a:r>
              <a:rPr lang="en-US" altLang="zh-CN" sz="2800" b="0" dirty="0">
                <a:solidFill>
                  <a:schemeClr val="tx1"/>
                </a:solidFill>
              </a:rPr>
              <a:t>;</a:t>
            </a:r>
            <a:r>
              <a:rPr lang="zh-CN" altLang="en-US" sz="2800" b="0" dirty="0">
                <a:solidFill>
                  <a:schemeClr val="tx1"/>
                </a:solidFill>
              </a:rPr>
              <a:t> </a:t>
            </a:r>
          </a:p>
          <a:p>
            <a:r>
              <a:rPr lang="zh-CN" altLang="en-US" sz="2800" b="0" dirty="0">
                <a:solidFill>
                  <a:schemeClr val="tx1"/>
                </a:solidFill>
              </a:rPr>
              <a:t>string str = "Hello World";</a:t>
            </a:r>
          </a:p>
          <a:p>
            <a:r>
              <a:rPr lang="en-US" altLang="zh-CN" sz="2800" b="0" dirty="0" err="1">
                <a:solidFill>
                  <a:schemeClr val="tx1"/>
                </a:solidFill>
              </a:rPr>
              <a:t>int</a:t>
            </a:r>
            <a:r>
              <a:rPr lang="en-US" altLang="zh-CN" sz="2800" b="0" dirty="0">
                <a:solidFill>
                  <a:schemeClr val="tx1"/>
                </a:solidFill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</a:rPr>
              <a:t>length = str.length(); // 或 str.size();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525443" y="533392"/>
            <a:ext cx="5171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</a:rPr>
              <a:t>处理</a:t>
            </a:r>
            <a:r>
              <a:rPr lang="en-US" altLang="zh-CN" sz="3200" dirty="0">
                <a:solidFill>
                  <a:schemeClr val="tx1"/>
                </a:solidFill>
              </a:rPr>
              <a:t>C++</a:t>
            </a:r>
            <a:r>
              <a:rPr lang="zh-CN" altLang="en-US" sz="3200" dirty="0">
                <a:solidFill>
                  <a:schemeClr val="tx1"/>
                </a:solidFill>
              </a:rPr>
              <a:t>风格字符串的函数 </a:t>
            </a:r>
            <a:endParaRPr lang="zh-CN" altLang="en-US" sz="30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41130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 flipV="1">
            <a:off x="1439888" y="1140581"/>
            <a:ext cx="9160452" cy="142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3647728" y="541101"/>
            <a:ext cx="35702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C++</a:t>
            </a:r>
            <a:r>
              <a:rPr lang="zh-CN" altLang="en-US" sz="30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字符串常用函数</a:t>
            </a:r>
          </a:p>
        </p:txBody>
      </p:sp>
      <p:pic>
        <p:nvPicPr>
          <p:cNvPr id="8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1660" y="286862"/>
            <a:ext cx="810920" cy="810920"/>
          </a:xfrm>
          <a:prstGeom prst="rect">
            <a:avLst/>
          </a:prstGeom>
        </p:spPr>
      </p:pic>
      <p:sp>
        <p:nvSpPr>
          <p:cNvPr id="11" name="Rectangle 3"/>
          <p:cNvSpPr>
            <a:spLocks noGrp="1"/>
          </p:cNvSpPr>
          <p:nvPr>
            <p:ph idx="1"/>
          </p:nvPr>
        </p:nvSpPr>
        <p:spPr>
          <a:xfrm>
            <a:off x="1415480" y="1340768"/>
            <a:ext cx="8435975" cy="4268788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600" dirty="0">
                <a:solidFill>
                  <a:schemeClr val="tx1"/>
                </a:solidFill>
              </a:rPr>
              <a:t>取子串</a:t>
            </a:r>
            <a:r>
              <a:rPr lang="en-US" altLang="zh-CN" sz="2600" dirty="0" err="1">
                <a:solidFill>
                  <a:schemeClr val="tx1"/>
                </a:solidFill>
              </a:rPr>
              <a:t>substr</a:t>
            </a:r>
            <a:r>
              <a:rPr lang="zh-CN" altLang="en-US" sz="2600" dirty="0">
                <a:solidFill>
                  <a:schemeClr val="tx1"/>
                </a:solidFill>
              </a:rPr>
              <a:t>函数</a:t>
            </a:r>
          </a:p>
          <a:p>
            <a:pPr eaLnBrk="1" hangingPunct="1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	</a:t>
            </a:r>
            <a:endParaRPr lang="en-US" altLang="zh-CN" sz="2600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110298" y="1854714"/>
            <a:ext cx="8717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串变量名</a:t>
            </a:r>
            <a:r>
              <a:rPr lang="en-US" altLang="zh-CN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.</a:t>
            </a:r>
            <a:r>
              <a:rPr lang="en-US" altLang="zh-CN" b="0" kern="0" dirty="0" err="1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substr</a:t>
            </a:r>
            <a:r>
              <a:rPr lang="en-US" altLang="zh-CN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(</a:t>
            </a:r>
            <a:r>
              <a:rPr lang="zh-CN" altLang="en-US" b="0" dirty="0">
                <a:solidFill>
                  <a:schemeClr val="tx1"/>
                </a:solidFill>
              </a:rPr>
              <a:t>size_t pos, size_t n</a:t>
            </a:r>
            <a:r>
              <a:rPr lang="en-US" altLang="zh-CN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)   </a:t>
            </a:r>
            <a:r>
              <a:rPr lang="zh-CN" altLang="en-US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开始位置，结束位置</a:t>
            </a:r>
            <a:r>
              <a:rPr lang="en-US" altLang="zh-CN" b="0" kern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631504" y="2875610"/>
            <a:ext cx="7800528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    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s1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hello,world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!"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size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 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结果：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12</a:t>
            </a:r>
            <a:b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</a:t>
            </a:r>
            <a:b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substr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 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结果：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world!</a:t>
            </a:r>
            <a:b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 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这里的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0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表示下标  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5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表示长度          </a:t>
            </a:r>
            <a:b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substr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 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结果：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hello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16" name="AutoShape 3"/>
          <p:cNvSpPr/>
          <p:nvPr/>
        </p:nvSpPr>
        <p:spPr>
          <a:xfrm>
            <a:off x="8400107" y="5952887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c++ex2.cpp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808041" y="572306"/>
            <a:ext cx="5171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</a:rPr>
              <a:t>处理</a:t>
            </a:r>
            <a:r>
              <a:rPr lang="en-US" altLang="zh-CN" sz="3200" dirty="0">
                <a:solidFill>
                  <a:schemeClr val="tx1"/>
                </a:solidFill>
              </a:rPr>
              <a:t>C++</a:t>
            </a:r>
            <a:r>
              <a:rPr lang="zh-CN" altLang="en-US" sz="3200" dirty="0">
                <a:solidFill>
                  <a:schemeClr val="tx1"/>
                </a:solidFill>
              </a:rPr>
              <a:t>风格字符串的函数 </a:t>
            </a:r>
            <a:endParaRPr lang="zh-CN" altLang="en-US" sz="30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94762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xfrm>
            <a:off x="839416" y="1314546"/>
            <a:ext cx="8435975" cy="493243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替换</a:t>
            </a:r>
            <a:r>
              <a:rPr lang="en-US" altLang="zh-CN" dirty="0">
                <a:solidFill>
                  <a:schemeClr val="tx1"/>
                </a:solidFill>
              </a:rPr>
              <a:t>replace</a:t>
            </a:r>
            <a:r>
              <a:rPr lang="zh-CN" altLang="en-US" dirty="0">
                <a:solidFill>
                  <a:schemeClr val="tx1"/>
                </a:solidFill>
              </a:rPr>
              <a:t>函数</a:t>
            </a:r>
          </a:p>
        </p:txBody>
      </p:sp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60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59496" y="1867167"/>
            <a:ext cx="110892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0" dirty="0">
                <a:solidFill>
                  <a:schemeClr val="tx1"/>
                </a:solidFill>
              </a:rPr>
              <a:t>string&amp; replace(size_t pos, size_t n, const char *s);</a:t>
            </a:r>
            <a:endParaRPr lang="en-US" altLang="zh-CN" sz="2800" b="0" dirty="0">
              <a:solidFill>
                <a:schemeClr val="tx1"/>
              </a:solidFill>
            </a:endParaRPr>
          </a:p>
          <a:p>
            <a:r>
              <a:rPr lang="zh-CN" altLang="en-US" sz="2800" b="0" dirty="0">
                <a:solidFill>
                  <a:schemeClr val="tx1"/>
                </a:solidFill>
              </a:rPr>
              <a:t>//将当前字符串从pos索引开始的n个字符，替换成字符串s</a:t>
            </a:r>
            <a:endParaRPr lang="zh-CN" altLang="en-US" b="0" dirty="0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 flipV="1">
            <a:off x="1343472" y="1138746"/>
            <a:ext cx="7704856" cy="570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5244" y="327826"/>
            <a:ext cx="810920" cy="81092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961023" y="2940030"/>
            <a:ext cx="10441160" cy="34163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s1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“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hello,world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!”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size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 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结果：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12</a:t>
            </a:r>
            <a:b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replace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size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()-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“.”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 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结果：</a:t>
            </a:r>
            <a:r>
              <a:rPr lang="en-US" altLang="zh-CN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hello,world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.</a:t>
            </a:r>
            <a:b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replace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“girl”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 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这里的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6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表示下标，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5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表示长度 </a:t>
            </a:r>
            <a:endParaRPr lang="en-US" altLang="zh-CN" i="1" dirty="0">
              <a:solidFill>
                <a:srgbClr val="8C8C8C"/>
              </a:solidFill>
              <a:latin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结果：</a:t>
            </a:r>
            <a:r>
              <a:rPr lang="en-US" altLang="zh-CN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hello,girl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.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replace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begin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begin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()+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"boy"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 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结果：</a:t>
            </a:r>
            <a:r>
              <a:rPr lang="en-US" altLang="zh-CN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boy,girl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.</a:t>
            </a:r>
            <a:b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11" name="AutoShape 3"/>
          <p:cNvSpPr/>
          <p:nvPr/>
        </p:nvSpPr>
        <p:spPr>
          <a:xfrm>
            <a:off x="8112224" y="6392853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c++ex3.cpp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514360" y="543851"/>
            <a:ext cx="5171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</a:rPr>
              <a:t>处理</a:t>
            </a:r>
            <a:r>
              <a:rPr lang="en-US" altLang="zh-CN" sz="3200" dirty="0">
                <a:solidFill>
                  <a:schemeClr val="tx1"/>
                </a:solidFill>
              </a:rPr>
              <a:t>C++</a:t>
            </a:r>
            <a:r>
              <a:rPr lang="zh-CN" altLang="en-US" sz="3200" dirty="0">
                <a:solidFill>
                  <a:schemeClr val="tx1"/>
                </a:solidFill>
              </a:rPr>
              <a:t>风格字符串的函数 </a:t>
            </a:r>
            <a:endParaRPr lang="zh-CN" altLang="en-US" sz="30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53135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xfrm>
            <a:off x="1127448" y="1215494"/>
            <a:ext cx="9721080" cy="5381857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整数转字串 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to_string</a:t>
            </a:r>
            <a:r>
              <a:rPr lang="en-US" altLang="zh-CN" dirty="0"/>
              <a:t>(   )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字串转整数：</a:t>
            </a:r>
            <a:r>
              <a:rPr lang="en-US" altLang="zh-CN" dirty="0" err="1"/>
              <a:t>stoi</a:t>
            </a:r>
            <a:r>
              <a:rPr lang="en-US" altLang="zh-CN" dirty="0"/>
              <a:t>(   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61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343472" y="1195790"/>
            <a:ext cx="9505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5244" y="327826"/>
            <a:ext cx="810920" cy="810920"/>
          </a:xfrm>
          <a:prstGeom prst="rect">
            <a:avLst/>
          </a:prstGeom>
        </p:spPr>
      </p:pic>
      <p:sp>
        <p:nvSpPr>
          <p:cNvPr id="11" name="AutoShape 3"/>
          <p:cNvSpPr/>
          <p:nvPr/>
        </p:nvSpPr>
        <p:spPr>
          <a:xfrm>
            <a:off x="8610600" y="5430259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c++ex1.cpp</a:t>
            </a:r>
          </a:p>
        </p:txBody>
      </p:sp>
      <p:sp>
        <p:nvSpPr>
          <p:cNvPr id="3" name="矩形 2"/>
          <p:cNvSpPr/>
          <p:nvPr/>
        </p:nvSpPr>
        <p:spPr>
          <a:xfrm>
            <a:off x="1787657" y="1860913"/>
            <a:ext cx="8616685" cy="41549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    long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num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s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s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to_string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number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]={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//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统计串中含有各数字字符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0-9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的个数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length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++)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number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]-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‘0’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]++;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数字字符转整数类型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++)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":"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]&lt;&lt;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567608" y="553971"/>
            <a:ext cx="5171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</a:rPr>
              <a:t>处理</a:t>
            </a:r>
            <a:r>
              <a:rPr lang="en-US" altLang="zh-CN" sz="3200" dirty="0">
                <a:solidFill>
                  <a:schemeClr val="tx1"/>
                </a:solidFill>
              </a:rPr>
              <a:t>C++</a:t>
            </a:r>
            <a:r>
              <a:rPr lang="zh-CN" altLang="en-US" sz="3200" dirty="0">
                <a:solidFill>
                  <a:schemeClr val="tx1"/>
                </a:solidFill>
              </a:rPr>
              <a:t>风格字符串的函数 </a:t>
            </a:r>
            <a:endParaRPr lang="zh-CN" altLang="en-US" sz="30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94295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xfrm>
            <a:off x="2063552" y="1294606"/>
            <a:ext cx="8435975" cy="4268788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用于字串查找的</a:t>
            </a:r>
            <a:r>
              <a:rPr lang="en-US" altLang="zh-CN" dirty="0">
                <a:solidFill>
                  <a:schemeClr val="tx1"/>
                </a:solidFill>
              </a:rPr>
              <a:t>find</a:t>
            </a:r>
            <a:r>
              <a:rPr lang="zh-CN" altLang="en-US" dirty="0">
                <a:solidFill>
                  <a:schemeClr val="tx1"/>
                </a:solidFill>
              </a:rPr>
              <a:t>函数</a:t>
            </a:r>
          </a:p>
        </p:txBody>
      </p:sp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62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487487" y="1092844"/>
            <a:ext cx="964907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3647728" y="541101"/>
            <a:ext cx="35702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C++</a:t>
            </a:r>
            <a:r>
              <a:rPr lang="zh-CN" altLang="en-US" sz="30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字符串常用函数</a:t>
            </a:r>
          </a:p>
        </p:txBody>
      </p:sp>
      <p:pic>
        <p:nvPicPr>
          <p:cNvPr id="8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5519" y="224880"/>
            <a:ext cx="810920" cy="81092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279576" y="1906019"/>
            <a:ext cx="923842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0" dirty="0">
                <a:solidFill>
                  <a:schemeClr val="tx1"/>
                </a:solidFill>
                <a:latin typeface="consolas" panose="020B0609020204030204" pitchFamily="49" charset="0"/>
              </a:rPr>
              <a:t>找到后返回首字母在字符串中的下标</a:t>
            </a:r>
            <a:r>
              <a:rPr lang="en-US" altLang="zh-CN" b="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zh-CN" altLang="en-US" b="0" dirty="0">
                <a:solidFill>
                  <a:schemeClr val="tx1"/>
                </a:solidFill>
                <a:latin typeface="consolas" panose="020B0609020204030204" pitchFamily="49" charset="0"/>
              </a:rPr>
              <a:t>返回下标的类型为</a:t>
            </a:r>
            <a:r>
              <a:rPr lang="en-US" altLang="zh-CN" b="0" dirty="0" err="1">
                <a:solidFill>
                  <a:schemeClr val="tx1"/>
                </a:solidFill>
                <a:latin typeface="consolas" panose="020B0609020204030204" pitchFamily="49" charset="0"/>
              </a:rPr>
              <a:t>size_t</a:t>
            </a:r>
            <a:r>
              <a:rPr lang="en-US" altLang="zh-CN" b="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zh-CN" altLang="en-US" b="0" dirty="0">
                <a:solidFill>
                  <a:schemeClr val="tx1"/>
                </a:solidFill>
                <a:latin typeface="consolas" panose="020B0609020204030204" pitchFamily="49" charset="0"/>
              </a:rPr>
              <a:t>，</a:t>
            </a:r>
            <a:endParaRPr lang="en-US" altLang="zh-CN" b="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FF0000"/>
                </a:solidFill>
                <a:latin typeface="consolas" panose="020B0609020204030204" pitchFamily="49" charset="0"/>
              </a:rPr>
              <a:t>若没找到返回值为： </a:t>
            </a:r>
            <a:r>
              <a:rPr lang="en-US" altLang="zh-CN" b="0" dirty="0">
                <a:solidFill>
                  <a:srgbClr val="FF0000"/>
                </a:solidFill>
                <a:latin typeface="consolas" panose="020B0609020204030204" pitchFamily="49" charset="0"/>
              </a:rPr>
              <a:t>string::</a:t>
            </a:r>
            <a:r>
              <a:rPr lang="en-US" altLang="zh-CN" b="0" dirty="0" err="1">
                <a:solidFill>
                  <a:srgbClr val="FF0000"/>
                </a:solidFill>
                <a:latin typeface="consolas" panose="020B0609020204030204" pitchFamily="49" charset="0"/>
              </a:rPr>
              <a:t>npos</a:t>
            </a:r>
            <a:r>
              <a:rPr lang="zh-CN" altLang="en-US" b="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矩形 3"/>
          <p:cNvSpPr/>
          <p:nvPr/>
        </p:nvSpPr>
        <p:spPr>
          <a:xfrm>
            <a:off x="1759803" y="2934563"/>
            <a:ext cx="9043471" cy="279756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s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"dog bird chicken bird cat"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 1. 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查找一个字符串</a:t>
            </a:r>
            <a:b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find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"bird"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 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结果是：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4</a:t>
            </a:r>
            <a:b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 2. 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从下标为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6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开始找字符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'</a:t>
            </a:r>
            <a:r>
              <a:rPr lang="en-US" altLang="zh-CN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i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'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，返回找到的第一个</a:t>
            </a:r>
            <a:r>
              <a:rPr lang="en-US" altLang="zh-CN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i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的下标</a:t>
            </a:r>
            <a:b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find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'i'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 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结果是：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10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11" name="AutoShape 3"/>
          <p:cNvSpPr/>
          <p:nvPr/>
        </p:nvSpPr>
        <p:spPr>
          <a:xfrm>
            <a:off x="8544272" y="6107112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c++ex5.cpp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855640" y="510324"/>
            <a:ext cx="5171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</a:rPr>
              <a:t>处理</a:t>
            </a:r>
            <a:r>
              <a:rPr lang="en-US" altLang="zh-CN" sz="3200" dirty="0">
                <a:solidFill>
                  <a:schemeClr val="tx1"/>
                </a:solidFill>
              </a:rPr>
              <a:t>C++</a:t>
            </a:r>
            <a:r>
              <a:rPr lang="zh-CN" altLang="en-US" sz="3200" dirty="0">
                <a:solidFill>
                  <a:schemeClr val="tx1"/>
                </a:solidFill>
              </a:rPr>
              <a:t>风格字符串的函数 </a:t>
            </a:r>
            <a:endParaRPr lang="zh-CN" altLang="en-US" sz="30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50325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9416" y="47667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例：输入一个区间，统计该区间数中不含数字</a:t>
            </a:r>
            <a:r>
              <a:rPr lang="en-US" altLang="zh-CN" dirty="0"/>
              <a:t>4</a:t>
            </a:r>
            <a:r>
              <a:rPr lang="zh-CN" altLang="en-US" dirty="0"/>
              <a:t>和数字</a:t>
            </a:r>
            <a:r>
              <a:rPr lang="en-US" altLang="zh-CN" dirty="0"/>
              <a:t>62</a:t>
            </a:r>
            <a:r>
              <a:rPr lang="zh-CN" altLang="en-US" dirty="0"/>
              <a:t>的数字的个数。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例如：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1   100</a:t>
            </a:r>
          </a:p>
          <a:p>
            <a:pPr marL="0" indent="0">
              <a:buNone/>
            </a:pPr>
            <a:r>
              <a:rPr lang="en-US" altLang="zh-CN" dirty="0"/>
              <a:t>  80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83956" y="2864296"/>
            <a:ext cx="59481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思路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输入两个数</a:t>
            </a:r>
            <a:r>
              <a:rPr lang="en-US" altLang="zh-CN" dirty="0" err="1">
                <a:solidFill>
                  <a:schemeClr val="tx1"/>
                </a:solidFill>
              </a:rPr>
              <a:t>a,b</a:t>
            </a:r>
            <a:r>
              <a:rPr lang="zh-CN" altLang="en-US" dirty="0">
                <a:solidFill>
                  <a:schemeClr val="tx1"/>
                </a:solidFill>
              </a:rPr>
              <a:t>，计数器变量初始化为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循环变量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从 </a:t>
            </a:r>
            <a:r>
              <a:rPr lang="en-US" altLang="zh-CN" dirty="0">
                <a:solidFill>
                  <a:schemeClr val="tx1"/>
                </a:solidFill>
              </a:rPr>
              <a:t>a  </a:t>
            </a:r>
            <a:r>
              <a:rPr lang="zh-CN" altLang="en-US" dirty="0">
                <a:solidFill>
                  <a:schemeClr val="tx1"/>
                </a:solidFill>
              </a:rPr>
              <a:t>到  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</a:p>
          <a:p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一个个数判断是否含有“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”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若不含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，则再看此数是否含有“</a:t>
            </a:r>
            <a:r>
              <a:rPr lang="en-US" altLang="zh-CN" dirty="0">
                <a:solidFill>
                  <a:schemeClr val="tx1"/>
                </a:solidFill>
              </a:rPr>
              <a:t>62</a:t>
            </a:r>
            <a:r>
              <a:rPr lang="zh-CN" altLang="en-US" dirty="0">
                <a:solidFill>
                  <a:schemeClr val="tx1"/>
                </a:solidFill>
              </a:rPr>
              <a:t>”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若仍不含，则计算器</a:t>
            </a:r>
            <a:r>
              <a:rPr lang="en-US" altLang="zh-CN" dirty="0">
                <a:solidFill>
                  <a:schemeClr val="tx1"/>
                </a:solidFill>
              </a:rPr>
              <a:t>+1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</a:p>
        </p:txBody>
      </p:sp>
      <p:sp>
        <p:nvSpPr>
          <p:cNvPr id="5" name="矩形 4"/>
          <p:cNvSpPr/>
          <p:nvPr/>
        </p:nvSpPr>
        <p:spPr>
          <a:xfrm>
            <a:off x="1487488" y="4319850"/>
            <a:ext cx="5948148" cy="12221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线形标注 1 5"/>
          <p:cNvSpPr/>
          <p:nvPr/>
        </p:nvSpPr>
        <p:spPr>
          <a:xfrm>
            <a:off x="7608168" y="2652341"/>
            <a:ext cx="2913618" cy="400612"/>
          </a:xfrm>
          <a:prstGeom prst="borderCallout1">
            <a:avLst>
              <a:gd name="adj1" fmla="val 18750"/>
              <a:gd name="adj2" fmla="val -8333"/>
              <a:gd name="adj3" fmla="val 408310"/>
              <a:gd name="adj4" fmla="val -5656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串查找方式解决</a:t>
            </a:r>
          </a:p>
        </p:txBody>
      </p:sp>
      <p:sp>
        <p:nvSpPr>
          <p:cNvPr id="7" name="矩形 6"/>
          <p:cNvSpPr/>
          <p:nvPr/>
        </p:nvSpPr>
        <p:spPr>
          <a:xfrm>
            <a:off x="7608168" y="3688453"/>
            <a:ext cx="3057634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数要变成串</a:t>
            </a:r>
          </a:p>
        </p:txBody>
      </p:sp>
    </p:spTree>
    <p:extLst>
      <p:ext uri="{BB962C8B-B14F-4D97-AF65-F5344CB8AC3E}">
        <p14:creationId xmlns:p14="http://schemas.microsoft.com/office/powerpoint/2010/main" val="132533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xfrm>
            <a:off x="1127448" y="1215495"/>
            <a:ext cx="9721080" cy="1826422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字串颠倒 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reverse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64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 flipV="1">
            <a:off x="1343472" y="1138746"/>
            <a:ext cx="7704856" cy="570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5244" y="327826"/>
            <a:ext cx="810920" cy="810920"/>
          </a:xfrm>
          <a:prstGeom prst="rect">
            <a:avLst/>
          </a:prstGeom>
        </p:spPr>
      </p:pic>
      <p:sp>
        <p:nvSpPr>
          <p:cNvPr id="11" name="AutoShape 3"/>
          <p:cNvSpPr/>
          <p:nvPr/>
        </p:nvSpPr>
        <p:spPr>
          <a:xfrm>
            <a:off x="8544272" y="6107112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c++ex4.cpp</a:t>
            </a:r>
          </a:p>
        </p:txBody>
      </p:sp>
      <p:sp>
        <p:nvSpPr>
          <p:cNvPr id="2" name="矩形 1"/>
          <p:cNvSpPr/>
          <p:nvPr/>
        </p:nvSpPr>
        <p:spPr>
          <a:xfrm>
            <a:off x="1631504" y="1897873"/>
            <a:ext cx="53463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1F542E"/>
                </a:solidFill>
                <a:latin typeface="consolas" panose="020B0609020204030204" pitchFamily="49" charset="0"/>
              </a:rPr>
              <a:t>引用头文件：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317316" y="2924944"/>
            <a:ext cx="6096000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    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s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getline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cin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reverse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begin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007D17"/>
                </a:solidFill>
                <a:latin typeface="consolas" panose="020B0609020204030204" pitchFamily="49" charset="0"/>
              </a:rPr>
              <a:t>全部颠倒：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reverse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begin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begin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()+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007D17"/>
                </a:solidFill>
                <a:latin typeface="consolas" panose="020B0609020204030204" pitchFamily="49" charset="0"/>
              </a:rPr>
              <a:t>部分颠倒：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927648" y="465679"/>
            <a:ext cx="5171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</a:rPr>
              <a:t>处理</a:t>
            </a:r>
            <a:r>
              <a:rPr lang="en-US" altLang="zh-CN" sz="3200" dirty="0">
                <a:solidFill>
                  <a:schemeClr val="tx1"/>
                </a:solidFill>
              </a:rPr>
              <a:t>C++</a:t>
            </a:r>
            <a:r>
              <a:rPr lang="zh-CN" altLang="en-US" sz="3200" dirty="0">
                <a:solidFill>
                  <a:schemeClr val="tx1"/>
                </a:solidFill>
              </a:rPr>
              <a:t>风格字符串的函数 </a:t>
            </a:r>
            <a:endParaRPr lang="zh-CN" altLang="en-US" sz="30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56641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xfrm>
            <a:off x="1127448" y="1215495"/>
            <a:ext cx="9721080" cy="1826422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字串大小写转换 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transform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65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 flipV="1">
            <a:off x="1343472" y="1125418"/>
            <a:ext cx="9505056" cy="703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5244" y="327826"/>
            <a:ext cx="810920" cy="810920"/>
          </a:xfrm>
          <a:prstGeom prst="rect">
            <a:avLst/>
          </a:prstGeom>
        </p:spPr>
      </p:pic>
      <p:sp>
        <p:nvSpPr>
          <p:cNvPr id="11" name="AutoShape 3"/>
          <p:cNvSpPr/>
          <p:nvPr/>
        </p:nvSpPr>
        <p:spPr>
          <a:xfrm>
            <a:off x="9264203" y="6342152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trans.cpp</a:t>
            </a:r>
          </a:p>
        </p:txBody>
      </p:sp>
      <p:sp>
        <p:nvSpPr>
          <p:cNvPr id="2" name="矩形 1"/>
          <p:cNvSpPr/>
          <p:nvPr/>
        </p:nvSpPr>
        <p:spPr>
          <a:xfrm>
            <a:off x="1631504" y="1897873"/>
            <a:ext cx="53463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1F542E"/>
                </a:solidFill>
                <a:latin typeface="consolas" panose="020B0609020204030204" pitchFamily="49" charset="0"/>
              </a:rPr>
              <a:t>引用头文件：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95400" y="2472061"/>
            <a:ext cx="10997563" cy="37856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string s;</a:t>
            </a:r>
          </a:p>
          <a:p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getline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cin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, s);</a:t>
            </a:r>
          </a:p>
          <a:p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transform(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s.begin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(), 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s.end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(), 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s.begin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(), ::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toupper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 &lt;&lt; "</a:t>
            </a:r>
            <a:r>
              <a:rPr lang="zh-CN" altLang="en-US" dirty="0">
                <a:solidFill>
                  <a:srgbClr val="008080"/>
                </a:solidFill>
                <a:latin typeface="consolas" panose="020B0609020204030204" pitchFamily="49" charset="0"/>
              </a:rPr>
              <a:t>小转大：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" &lt;&lt; s &lt;&lt; 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transform(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s.begin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(), 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s.end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(), 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s.begin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(), ::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tolower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 &lt;&lt; "</a:t>
            </a:r>
            <a:r>
              <a:rPr lang="zh-CN" altLang="en-US" dirty="0">
                <a:solidFill>
                  <a:srgbClr val="008080"/>
                </a:solidFill>
                <a:latin typeface="consolas" panose="020B0609020204030204" pitchFamily="49" charset="0"/>
              </a:rPr>
              <a:t>大转小：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" &lt;&lt; s &lt;&lt; 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transform(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s.begin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() + 1, 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s.end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() - 2, 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s.begin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() + 1, ::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toupper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 &lt;&lt; "</a:t>
            </a:r>
            <a:r>
              <a:rPr lang="zh-CN" altLang="en-US" dirty="0">
                <a:solidFill>
                  <a:srgbClr val="008080"/>
                </a:solidFill>
                <a:latin typeface="consolas" panose="020B0609020204030204" pitchFamily="49" charset="0"/>
              </a:rPr>
              <a:t>部分小转大：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" &lt;&lt; s &lt;&lt; 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return 0;</a:t>
            </a:r>
          </a:p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927648" y="465679"/>
            <a:ext cx="5171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</a:rPr>
              <a:t>处理</a:t>
            </a:r>
            <a:r>
              <a:rPr lang="en-US" altLang="zh-CN" sz="3200" dirty="0">
                <a:solidFill>
                  <a:schemeClr val="tx1"/>
                </a:solidFill>
              </a:rPr>
              <a:t>C++</a:t>
            </a:r>
            <a:r>
              <a:rPr lang="zh-CN" altLang="en-US" sz="3200" dirty="0">
                <a:solidFill>
                  <a:schemeClr val="tx1"/>
                </a:solidFill>
              </a:rPr>
              <a:t>风格字符串的函数 </a:t>
            </a:r>
            <a:endParaRPr lang="zh-CN" altLang="en-US" sz="30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34605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46232" cy="132556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6.6.2 </a:t>
            </a:r>
            <a:r>
              <a:rPr lang="zh-CN" altLang="en-US" dirty="0"/>
              <a:t>处理</a:t>
            </a:r>
            <a:r>
              <a:rPr lang="en-US" altLang="zh-CN" dirty="0"/>
              <a:t>C</a:t>
            </a:r>
            <a:r>
              <a:rPr lang="zh-CN" altLang="en-US" dirty="0"/>
              <a:t>风格字符串的函数</a:t>
            </a:r>
            <a:r>
              <a:rPr lang="en-US" altLang="zh-CN" dirty="0"/>
              <a:t>(</a:t>
            </a:r>
            <a:r>
              <a:rPr lang="zh-CN" altLang="en-US" dirty="0"/>
              <a:t>自学</a:t>
            </a:r>
            <a:r>
              <a:rPr lang="en-US" altLang="zh-CN" dirty="0"/>
              <a:t>)</a:t>
            </a:r>
            <a:r>
              <a:rPr lang="zh-CN" altLang="en-US" dirty="0"/>
              <a:t>（</a:t>
            </a:r>
            <a:r>
              <a:rPr lang="en-US" altLang="zh-CN" sz="3200" dirty="0">
                <a:solidFill>
                  <a:srgbClr val="7030A0"/>
                </a:solidFill>
              </a:rPr>
              <a:t>#include &lt;</a:t>
            </a:r>
            <a:r>
              <a:rPr lang="en-US" altLang="zh-CN" sz="3200" dirty="0" err="1">
                <a:solidFill>
                  <a:srgbClr val="7030A0"/>
                </a:solidFill>
              </a:rPr>
              <a:t>cstring</a:t>
            </a:r>
            <a:r>
              <a:rPr lang="en-US" altLang="zh-CN" sz="3200" dirty="0">
                <a:solidFill>
                  <a:srgbClr val="7030A0"/>
                </a:solidFill>
              </a:rPr>
              <a:t>&gt;</a:t>
            </a:r>
            <a:r>
              <a:rPr lang="zh-CN" altLang="en-US" dirty="0"/>
              <a:t>） </a:t>
            </a:r>
          </a:p>
        </p:txBody>
      </p:sp>
      <p:sp>
        <p:nvSpPr>
          <p:cNvPr id="55300" name="Rectangle 3"/>
          <p:cNvSpPr>
            <a:spLocks noGrp="1"/>
          </p:cNvSpPr>
          <p:nvPr>
            <p:ph idx="1"/>
          </p:nvPr>
        </p:nvSpPr>
        <p:spPr>
          <a:xfrm>
            <a:off x="1981201" y="1752600"/>
            <a:ext cx="8435975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．求字符串长度</a:t>
            </a: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函数原型：</a:t>
            </a:r>
            <a:r>
              <a:rPr lang="en-US" altLang="zh-CN" dirty="0">
                <a:solidFill>
                  <a:schemeClr val="tx1"/>
                </a:solidFill>
              </a:rPr>
              <a:t>int  strlen( const  char  str[ ] ) 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		char s1[ ]="I love China!";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		cout &lt;&lt; strlen(s1);</a:t>
            </a: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思考：如下输出多少？</a:t>
            </a: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char  name[10]={'T','o','m','\0','P','e','t','e','r','\0'};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cout &lt;&lt; strlen(name) &lt;&lt; sizeof(name) &lt;&lt; endl; </a:t>
            </a:r>
          </a:p>
        </p:txBody>
      </p:sp>
      <p:sp>
        <p:nvSpPr>
          <p:cNvPr id="5529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66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55301" name="AutoShape 4"/>
          <p:cNvSpPr/>
          <p:nvPr/>
        </p:nvSpPr>
        <p:spPr>
          <a:xfrm>
            <a:off x="7896226" y="580548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EX4-a.cpp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6.6.2 </a:t>
            </a:r>
            <a:r>
              <a:rPr lang="zh-CN" altLang="en-US" dirty="0"/>
              <a:t>处理</a:t>
            </a:r>
            <a:r>
              <a:rPr lang="en-US" altLang="zh-CN" dirty="0"/>
              <a:t>C</a:t>
            </a:r>
            <a:r>
              <a:rPr lang="zh-CN" altLang="en-US" dirty="0"/>
              <a:t>风格字符串的函数 </a:t>
            </a:r>
          </a:p>
        </p:txBody>
      </p:sp>
      <p:sp>
        <p:nvSpPr>
          <p:cNvPr id="56324" name="Rectangle 3"/>
          <p:cNvSpPr>
            <a:spLocks noGrp="1"/>
          </p:cNvSpPr>
          <p:nvPr>
            <p:ph idx="1"/>
          </p:nvPr>
        </p:nvSpPr>
        <p:spPr>
          <a:xfrm>
            <a:off x="1981201" y="1752600"/>
            <a:ext cx="8435975" cy="4114800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．字符串拷贝函数之一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函数原型：</a:t>
            </a:r>
            <a:r>
              <a:rPr lang="en-US" altLang="zh-CN" dirty="0">
                <a:solidFill>
                  <a:srgbClr val="7030A0"/>
                </a:solidFill>
              </a:rPr>
              <a:t>char * strcpy (char s1[ ], const char s2[ ])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例如：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		char src[80]={ "I am a student."};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char dst[80];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		strcpy(dst, src);	</a:t>
            </a:r>
          </a:p>
          <a:p>
            <a:pPr eaLnBrk="1" hangingPunct="1">
              <a:lnSpc>
                <a:spcPct val="100000"/>
              </a:lnSpc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非法的操作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dirty="0">
                <a:solidFill>
                  <a:schemeClr val="tx1"/>
                </a:solidFill>
              </a:rPr>
              <a:t>dst = src </a:t>
            </a:r>
            <a:r>
              <a:rPr lang="zh-CN" altLang="en-US" dirty="0">
                <a:solidFill>
                  <a:schemeClr val="tx1"/>
                </a:solidFill>
              </a:rPr>
              <a:t>； 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5632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67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56325" name="AutoShape 4"/>
          <p:cNvSpPr/>
          <p:nvPr/>
        </p:nvSpPr>
        <p:spPr>
          <a:xfrm>
            <a:off x="7896226" y="580548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EX4-b.cpp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6.6.2 </a:t>
            </a:r>
            <a:r>
              <a:rPr lang="zh-CN" altLang="en-US" dirty="0"/>
              <a:t>处理</a:t>
            </a:r>
            <a:r>
              <a:rPr lang="en-US" altLang="zh-CN" dirty="0"/>
              <a:t>C</a:t>
            </a:r>
            <a:r>
              <a:rPr lang="zh-CN" altLang="en-US" dirty="0"/>
              <a:t>风格字符串的函数 </a:t>
            </a:r>
          </a:p>
        </p:txBody>
      </p:sp>
      <p:sp>
        <p:nvSpPr>
          <p:cNvPr id="57348" name="Rectangle 3"/>
          <p:cNvSpPr>
            <a:spLocks noGrp="1"/>
          </p:cNvSpPr>
          <p:nvPr>
            <p:ph idx="1"/>
          </p:nvPr>
        </p:nvSpPr>
        <p:spPr>
          <a:xfrm>
            <a:off x="1981201" y="1752600"/>
            <a:ext cx="8435975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．字符串拷贝函数之二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char * </a:t>
            </a:r>
            <a:r>
              <a:rPr lang="en-US" altLang="zh-CN" dirty="0">
                <a:solidFill>
                  <a:srgbClr val="7030A0"/>
                </a:solidFill>
              </a:rPr>
              <a:t>strncpy(char s1[ ], const char s2 [ ], int len) </a:t>
            </a: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例如：		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	char src[80]={ "I am a student."},  dst[80];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	strncpy( dst, src,10);	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	</a:t>
            </a:r>
            <a:r>
              <a:rPr lang="en-US" altLang="zh-CN" dirty="0">
                <a:solidFill>
                  <a:srgbClr val="FF0000"/>
                </a:solidFill>
              </a:rPr>
              <a:t>dst[10]='\0';</a:t>
            </a:r>
            <a:r>
              <a:rPr lang="en-US" altLang="zh-CN" dirty="0">
                <a:solidFill>
                  <a:schemeClr val="tx1"/>
                </a:solidFill>
              </a:rPr>
              <a:t>	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		</a:t>
            </a:r>
            <a:r>
              <a:rPr lang="en-US" altLang="zh-CN" dirty="0">
                <a:solidFill>
                  <a:schemeClr val="tx1"/>
                </a:solidFill>
              </a:rPr>
              <a:t>cout &lt;&lt; dst &lt;&lt; endl;</a:t>
            </a:r>
          </a:p>
        </p:txBody>
      </p:sp>
      <p:sp>
        <p:nvSpPr>
          <p:cNvPr id="5734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68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57349" name="AutoShape 4"/>
          <p:cNvSpPr/>
          <p:nvPr/>
        </p:nvSpPr>
        <p:spPr>
          <a:xfrm>
            <a:off x="7896226" y="580548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EX4-c.cpp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6.6.2 </a:t>
            </a:r>
            <a:r>
              <a:rPr lang="zh-CN" altLang="en-US" dirty="0"/>
              <a:t>处理</a:t>
            </a:r>
            <a:r>
              <a:rPr lang="en-US" altLang="zh-CN" dirty="0"/>
              <a:t>C</a:t>
            </a:r>
            <a:r>
              <a:rPr lang="zh-CN" altLang="en-US" dirty="0"/>
              <a:t>风格字符串的函数 </a:t>
            </a:r>
          </a:p>
        </p:txBody>
      </p:sp>
      <p:sp>
        <p:nvSpPr>
          <p:cNvPr id="58372" name="Rectangle 3"/>
          <p:cNvSpPr>
            <a:spLocks noGrp="1"/>
          </p:cNvSpPr>
          <p:nvPr>
            <p:ph idx="1"/>
          </p:nvPr>
        </p:nvSpPr>
        <p:spPr>
          <a:xfrm>
            <a:off x="1066136" y="1690688"/>
            <a:ext cx="10790504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．字符串连接函数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函数原型：</a:t>
            </a:r>
            <a:r>
              <a:rPr lang="en-US" altLang="zh-CN" dirty="0">
                <a:solidFill>
                  <a:srgbClr val="7030A0"/>
                </a:solidFill>
              </a:rPr>
              <a:t>char * strcat (char s1[ ], const char s2[ ])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    将</a:t>
            </a:r>
            <a:r>
              <a:rPr lang="en-US" altLang="zh-CN" dirty="0">
                <a:solidFill>
                  <a:schemeClr val="tx1"/>
                </a:solidFill>
              </a:rPr>
              <a:t>s2</a:t>
            </a:r>
            <a:r>
              <a:rPr lang="zh-CN" altLang="en-US" dirty="0">
                <a:solidFill>
                  <a:schemeClr val="tx1"/>
                </a:solidFill>
              </a:rPr>
              <a:t>字符串连接到</a:t>
            </a:r>
            <a:r>
              <a:rPr lang="en-US" altLang="zh-CN" dirty="0">
                <a:solidFill>
                  <a:schemeClr val="tx1"/>
                </a:solidFill>
              </a:rPr>
              <a:t>s1</a:t>
            </a:r>
            <a:r>
              <a:rPr lang="zh-CN" altLang="en-US" dirty="0">
                <a:solidFill>
                  <a:schemeClr val="tx1"/>
                </a:solidFill>
              </a:rPr>
              <a:t>串的尾部，修改的是</a:t>
            </a:r>
            <a:r>
              <a:rPr lang="en-US" altLang="zh-CN" dirty="0">
                <a:solidFill>
                  <a:schemeClr val="tx1"/>
                </a:solidFill>
              </a:rPr>
              <a:t>s1</a:t>
            </a:r>
            <a:r>
              <a:rPr lang="zh-CN" altLang="en-US" dirty="0">
                <a:solidFill>
                  <a:schemeClr val="tx1"/>
                </a:solidFill>
              </a:rPr>
              <a:t>，函数返回</a:t>
            </a:r>
            <a:r>
              <a:rPr lang="en-US" altLang="zh-CN" dirty="0">
                <a:solidFill>
                  <a:schemeClr val="tx1"/>
                </a:solidFill>
              </a:rPr>
              <a:t>s1[0]</a:t>
            </a:r>
            <a:r>
              <a:rPr lang="zh-CN" altLang="en-US" dirty="0">
                <a:solidFill>
                  <a:schemeClr val="tx1"/>
                </a:solidFill>
              </a:rPr>
              <a:t>的地址，例如：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		char  s1[20]= "You“;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char   s2[20]= " &amp; Me";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		strcat(s1, s2); </a:t>
            </a:r>
          </a:p>
        </p:txBody>
      </p:sp>
      <p:sp>
        <p:nvSpPr>
          <p:cNvPr id="5837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69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58373" name="AutoShape 4"/>
          <p:cNvSpPr/>
          <p:nvPr/>
        </p:nvSpPr>
        <p:spPr>
          <a:xfrm>
            <a:off x="7896226" y="580548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EX4-d.cpp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/>
          </p:cNvSpPr>
          <p:nvPr>
            <p:ph type="title"/>
          </p:nvPr>
        </p:nvSpPr>
        <p:spPr>
          <a:xfrm>
            <a:off x="911424" y="296864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6.6.2 </a:t>
            </a:r>
            <a:r>
              <a:rPr lang="zh-CN" altLang="en-US" dirty="0"/>
              <a:t>处理</a:t>
            </a:r>
            <a:r>
              <a:rPr lang="en-US" altLang="zh-CN" dirty="0"/>
              <a:t>C</a:t>
            </a:r>
            <a:r>
              <a:rPr lang="zh-CN" altLang="en-US" dirty="0"/>
              <a:t>风格字符串的函数 </a:t>
            </a:r>
          </a:p>
        </p:txBody>
      </p:sp>
      <p:sp>
        <p:nvSpPr>
          <p:cNvPr id="59396" name="Rectangle 3"/>
          <p:cNvSpPr>
            <a:spLocks noGrp="1"/>
          </p:cNvSpPr>
          <p:nvPr>
            <p:ph idx="1"/>
          </p:nvPr>
        </p:nvSpPr>
        <p:spPr>
          <a:xfrm>
            <a:off x="1127448" y="1489685"/>
            <a:ext cx="10441160" cy="5035659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．字符串比较函数之一 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函数原型：</a:t>
            </a:r>
            <a:r>
              <a:rPr lang="en-US" altLang="zh-CN" sz="2400" dirty="0">
                <a:solidFill>
                  <a:srgbClr val="7030A0"/>
                </a:solidFill>
              </a:rPr>
              <a:t>int strcmp (const char s1[ ], const char s2[ ]) 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 比较两个字符串的大小，即按从左到右的顺序逐个比较对应字符的</a:t>
            </a:r>
            <a:r>
              <a:rPr lang="en-US" altLang="zh-CN" sz="2400" dirty="0">
                <a:solidFill>
                  <a:schemeClr val="tx1"/>
                </a:solidFill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</a:rPr>
              <a:t>码值。若</a:t>
            </a:r>
            <a:r>
              <a:rPr lang="en-US" altLang="zh-CN" sz="2400" dirty="0">
                <a:solidFill>
                  <a:schemeClr val="tx1"/>
                </a:solidFill>
              </a:rPr>
              <a:t>s1</a:t>
            </a:r>
            <a:r>
              <a:rPr lang="zh-CN" altLang="en-US" sz="2400" dirty="0">
                <a:solidFill>
                  <a:srgbClr val="00B050"/>
                </a:solidFill>
              </a:rPr>
              <a:t>大于</a:t>
            </a:r>
            <a:r>
              <a:rPr lang="en-US" altLang="zh-CN" sz="2400" dirty="0">
                <a:solidFill>
                  <a:schemeClr val="tx1"/>
                </a:solidFill>
              </a:rPr>
              <a:t>s2</a:t>
            </a:r>
            <a:r>
              <a:rPr lang="zh-CN" altLang="en-US" sz="2400" dirty="0">
                <a:solidFill>
                  <a:schemeClr val="tx1"/>
                </a:solidFill>
              </a:rPr>
              <a:t>，返回整数</a:t>
            </a:r>
            <a:r>
              <a:rPr lang="en-US" altLang="zh-CN" sz="2400" dirty="0">
                <a:solidFill>
                  <a:srgbClr val="00B050"/>
                </a:solidFill>
              </a:rPr>
              <a:t>1</a:t>
            </a:r>
            <a:r>
              <a:rPr lang="zh-CN" altLang="en-US" sz="2400" dirty="0">
                <a:solidFill>
                  <a:schemeClr val="tx1"/>
                </a:solidFill>
              </a:rPr>
              <a:t>；若</a:t>
            </a:r>
            <a:r>
              <a:rPr lang="en-US" altLang="zh-CN" sz="2400" dirty="0">
                <a:solidFill>
                  <a:schemeClr val="tx1"/>
                </a:solidFill>
              </a:rPr>
              <a:t>s1</a:t>
            </a:r>
            <a:r>
              <a:rPr lang="zh-CN" altLang="en-US" sz="2400" dirty="0">
                <a:solidFill>
                  <a:srgbClr val="00B050"/>
                </a:solidFill>
              </a:rPr>
              <a:t>小于</a:t>
            </a:r>
            <a:r>
              <a:rPr lang="en-US" altLang="zh-CN" sz="2400" dirty="0">
                <a:solidFill>
                  <a:schemeClr val="tx1"/>
                </a:solidFill>
              </a:rPr>
              <a:t>s2</a:t>
            </a:r>
            <a:r>
              <a:rPr lang="zh-CN" altLang="en-US" sz="2400" dirty="0">
                <a:solidFill>
                  <a:schemeClr val="tx1"/>
                </a:solidFill>
              </a:rPr>
              <a:t>，返回整数</a:t>
            </a:r>
            <a:r>
              <a:rPr lang="en-US" altLang="zh-CN" sz="2400" dirty="0">
                <a:solidFill>
                  <a:srgbClr val="00B050"/>
                </a:solidFill>
              </a:rPr>
              <a:t>-1</a:t>
            </a:r>
            <a:r>
              <a:rPr lang="zh-CN" altLang="en-US" sz="2400" dirty="0">
                <a:solidFill>
                  <a:schemeClr val="tx1"/>
                </a:solidFill>
              </a:rPr>
              <a:t>；若</a:t>
            </a:r>
            <a:r>
              <a:rPr lang="en-US" altLang="zh-CN" sz="2400" dirty="0">
                <a:solidFill>
                  <a:schemeClr val="tx1"/>
                </a:solidFill>
              </a:rPr>
              <a:t>s1</a:t>
            </a:r>
            <a:r>
              <a:rPr lang="zh-CN" altLang="en-US" sz="2400" dirty="0">
                <a:solidFill>
                  <a:srgbClr val="00B050"/>
                </a:solidFill>
              </a:rPr>
              <a:t>等于</a:t>
            </a:r>
            <a:r>
              <a:rPr lang="en-US" altLang="zh-CN" sz="2400" dirty="0">
                <a:solidFill>
                  <a:schemeClr val="tx1"/>
                </a:solidFill>
              </a:rPr>
              <a:t>s2</a:t>
            </a:r>
            <a:r>
              <a:rPr lang="zh-CN" altLang="en-US" sz="2400" dirty="0">
                <a:solidFill>
                  <a:schemeClr val="tx1"/>
                </a:solidFill>
              </a:rPr>
              <a:t>，返回整数</a:t>
            </a:r>
            <a:r>
              <a:rPr lang="en-US" altLang="zh-CN" sz="2400" dirty="0">
                <a:solidFill>
                  <a:srgbClr val="00B050"/>
                </a:solidFill>
              </a:rPr>
              <a:t>0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例如：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	</a:t>
            </a:r>
            <a:r>
              <a:rPr lang="en-US" altLang="zh-CN" sz="2400" dirty="0">
                <a:solidFill>
                  <a:schemeClr val="tx1"/>
                </a:solidFill>
              </a:rPr>
              <a:t>char s1[10]="You", s2[20]="Me";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cout&lt;&lt;strcmp(s1,s2)&lt;&lt;endl;		//</a:t>
            </a:r>
            <a:r>
              <a:rPr lang="zh-CN" altLang="en-US" sz="2400" dirty="0">
                <a:solidFill>
                  <a:schemeClr val="tx1"/>
                </a:solidFill>
              </a:rPr>
              <a:t>输出结果为</a:t>
            </a:r>
            <a:r>
              <a:rPr lang="en-US" altLang="zh-CN" sz="2400" dirty="0">
                <a:solidFill>
                  <a:schemeClr val="tx1"/>
                </a:solidFill>
              </a:rPr>
              <a:t>1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cout&lt;&lt;strcmp(s2,s1)&lt;&lt;endl;		//</a:t>
            </a:r>
            <a:r>
              <a:rPr lang="zh-CN" altLang="en-US" sz="2400" dirty="0">
                <a:solidFill>
                  <a:schemeClr val="tx1"/>
                </a:solidFill>
              </a:rPr>
              <a:t>输出结果为</a:t>
            </a:r>
            <a:r>
              <a:rPr lang="en-US" altLang="zh-CN" sz="2400" dirty="0">
                <a:solidFill>
                  <a:schemeClr val="tx1"/>
                </a:solidFill>
              </a:rPr>
              <a:t>-1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cout&lt;&lt;strcmp(s1,"You")&lt;&lt;endl;		//</a:t>
            </a:r>
            <a:r>
              <a:rPr lang="zh-CN" altLang="en-US" sz="2400" dirty="0">
                <a:solidFill>
                  <a:schemeClr val="tx1"/>
                </a:solidFill>
              </a:rPr>
              <a:t>输出结果为</a:t>
            </a:r>
            <a:r>
              <a:rPr lang="en-US" altLang="zh-CN" sz="2400" dirty="0">
                <a:solidFill>
                  <a:schemeClr val="tx1"/>
                </a:solidFill>
              </a:rPr>
              <a:t>0 </a:t>
            </a:r>
          </a:p>
        </p:txBody>
      </p:sp>
      <p:sp>
        <p:nvSpPr>
          <p:cNvPr id="5939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077200" y="6259513"/>
            <a:ext cx="1905000" cy="457200"/>
          </a:xfrm>
        </p:spPr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70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59397" name="AutoShape 4"/>
          <p:cNvSpPr/>
          <p:nvPr/>
        </p:nvSpPr>
        <p:spPr>
          <a:xfrm>
            <a:off x="9840416" y="5973196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EX4-e.cpp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6.6.2 </a:t>
            </a:r>
            <a:r>
              <a:rPr lang="zh-CN" altLang="en-US" dirty="0"/>
              <a:t>处理</a:t>
            </a:r>
            <a:r>
              <a:rPr lang="en-US" altLang="zh-CN" dirty="0"/>
              <a:t>C</a:t>
            </a:r>
            <a:r>
              <a:rPr lang="zh-CN" altLang="en-US" dirty="0"/>
              <a:t>风格字符串的函数 </a:t>
            </a:r>
          </a:p>
        </p:txBody>
      </p:sp>
      <p:sp>
        <p:nvSpPr>
          <p:cNvPr id="60420" name="Rectangle 3"/>
          <p:cNvSpPr>
            <a:spLocks noGrp="1"/>
          </p:cNvSpPr>
          <p:nvPr>
            <p:ph idx="1"/>
          </p:nvPr>
        </p:nvSpPr>
        <p:spPr>
          <a:xfrm>
            <a:off x="911424" y="1484784"/>
            <a:ext cx="10657184" cy="46085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0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6</a:t>
            </a:r>
            <a:r>
              <a:rPr lang="zh-CN" altLang="en-US" sz="2600" dirty="0">
                <a:solidFill>
                  <a:schemeClr val="tx1"/>
                </a:solidFill>
              </a:rPr>
              <a:t>．字符串比较函数之二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</a:t>
            </a:r>
            <a:r>
              <a:rPr lang="en-US" altLang="zh-CN" sz="2600" dirty="0">
                <a:solidFill>
                  <a:srgbClr val="7030A0"/>
                </a:solidFill>
              </a:rPr>
              <a:t>int   strncmp( const  char  s1[ ], const  char s2[ ], int  len)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    比较两个字符串中的前</a:t>
            </a:r>
            <a:r>
              <a:rPr lang="en-US" altLang="zh-CN" sz="2600" dirty="0">
                <a:solidFill>
                  <a:schemeClr val="tx1"/>
                </a:solidFill>
              </a:rPr>
              <a:t>len</a:t>
            </a:r>
            <a:r>
              <a:rPr lang="zh-CN" altLang="en-US" sz="2600" dirty="0">
                <a:solidFill>
                  <a:schemeClr val="tx1"/>
                </a:solidFill>
              </a:rPr>
              <a:t>个字符。若字符串</a:t>
            </a:r>
            <a:r>
              <a:rPr lang="en-US" altLang="zh-CN" sz="2600" dirty="0">
                <a:solidFill>
                  <a:schemeClr val="tx1"/>
                </a:solidFill>
              </a:rPr>
              <a:t>s1</a:t>
            </a:r>
            <a:r>
              <a:rPr lang="zh-CN" altLang="en-US" sz="2600" dirty="0">
                <a:solidFill>
                  <a:schemeClr val="tx1"/>
                </a:solidFill>
              </a:rPr>
              <a:t>或字符串</a:t>
            </a:r>
            <a:r>
              <a:rPr lang="en-US" altLang="zh-CN" sz="2600" dirty="0">
                <a:solidFill>
                  <a:schemeClr val="tx1"/>
                </a:solidFill>
              </a:rPr>
              <a:t>s2</a:t>
            </a:r>
            <a:r>
              <a:rPr lang="zh-CN" altLang="en-US" sz="2600" dirty="0">
                <a:solidFill>
                  <a:schemeClr val="tx1"/>
                </a:solidFill>
              </a:rPr>
              <a:t>的长度小于</a:t>
            </a:r>
            <a:r>
              <a:rPr lang="en-US" altLang="zh-CN" sz="2600" dirty="0">
                <a:solidFill>
                  <a:schemeClr val="tx1"/>
                </a:solidFill>
              </a:rPr>
              <a:t>len</a:t>
            </a:r>
            <a:r>
              <a:rPr lang="zh-CN" altLang="en-US" sz="2600" dirty="0">
                <a:solidFill>
                  <a:schemeClr val="tx1"/>
                </a:solidFill>
              </a:rPr>
              <a:t>，该函数的功能与</a:t>
            </a:r>
            <a:r>
              <a:rPr lang="en-US" altLang="zh-CN" sz="2600" dirty="0">
                <a:solidFill>
                  <a:schemeClr val="tx1"/>
                </a:solidFill>
              </a:rPr>
              <a:t>strcmp( )</a:t>
            </a:r>
            <a:r>
              <a:rPr lang="zh-CN" altLang="en-US" sz="2600" dirty="0">
                <a:solidFill>
                  <a:schemeClr val="tx1"/>
                </a:solidFill>
              </a:rPr>
              <a:t>相同。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600" dirty="0"/>
              <a:t>    </a:t>
            </a:r>
            <a:r>
              <a:rPr lang="zh-CN" altLang="en-US" sz="2600" dirty="0">
                <a:solidFill>
                  <a:schemeClr val="tx1"/>
                </a:solidFill>
              </a:rPr>
              <a:t>当两个字符串的长度均大于</a:t>
            </a:r>
            <a:r>
              <a:rPr lang="en-US" altLang="zh-CN" sz="2600" dirty="0">
                <a:solidFill>
                  <a:schemeClr val="tx1"/>
                </a:solidFill>
              </a:rPr>
              <a:t>len</a:t>
            </a:r>
            <a:r>
              <a:rPr lang="zh-CN" altLang="en-US" sz="2600" dirty="0">
                <a:solidFill>
                  <a:schemeClr val="tx1"/>
                </a:solidFill>
              </a:rPr>
              <a:t>时，</a:t>
            </a:r>
            <a:r>
              <a:rPr lang="en-US" altLang="zh-CN" sz="2600" dirty="0">
                <a:solidFill>
                  <a:schemeClr val="tx1"/>
                </a:solidFill>
              </a:rPr>
              <a:t>len</a:t>
            </a:r>
            <a:r>
              <a:rPr lang="zh-CN" altLang="en-US" sz="2600" dirty="0">
                <a:solidFill>
                  <a:schemeClr val="tx1"/>
                </a:solidFill>
              </a:rPr>
              <a:t>为最多要比较的字符个数：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char   s1[10]="China", s2[20]="Chinese";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cout&lt;&lt;strncmp(s1,s2,5)&lt;&lt;endl; </a:t>
            </a:r>
            <a:r>
              <a:rPr lang="en-US" altLang="zh-CN" sz="2400" dirty="0">
                <a:solidFill>
                  <a:schemeClr val="tx1"/>
                </a:solidFill>
              </a:rPr>
              <a:t>	     //</a:t>
            </a:r>
            <a:r>
              <a:rPr lang="zh-CN" altLang="en-US" sz="2400" dirty="0">
                <a:solidFill>
                  <a:schemeClr val="tx1"/>
                </a:solidFill>
              </a:rPr>
              <a:t>输出结果为</a:t>
            </a:r>
            <a:r>
              <a:rPr lang="en-US" altLang="zh-CN" sz="2400" dirty="0">
                <a:solidFill>
                  <a:schemeClr val="tx1"/>
                </a:solidFill>
              </a:rPr>
              <a:t>-1</a:t>
            </a:r>
            <a:r>
              <a:rPr lang="en-US" altLang="zh-CN" sz="2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041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71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6.6.2 </a:t>
            </a:r>
            <a:r>
              <a:rPr lang="zh-CN" altLang="en-US" dirty="0"/>
              <a:t>处理</a:t>
            </a:r>
            <a:r>
              <a:rPr lang="en-US" altLang="zh-CN" dirty="0"/>
              <a:t>C</a:t>
            </a:r>
            <a:r>
              <a:rPr lang="zh-CN" altLang="en-US" dirty="0"/>
              <a:t>风格字符串的函数 </a:t>
            </a:r>
          </a:p>
        </p:txBody>
      </p:sp>
      <p:sp>
        <p:nvSpPr>
          <p:cNvPr id="61444" name="Rectangle 3"/>
          <p:cNvSpPr>
            <a:spLocks noGrp="1"/>
          </p:cNvSpPr>
          <p:nvPr>
            <p:ph idx="1"/>
          </p:nvPr>
        </p:nvSpPr>
        <p:spPr>
          <a:xfrm>
            <a:off x="1262337" y="1510630"/>
            <a:ext cx="10091463" cy="42687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7</a:t>
            </a:r>
            <a:r>
              <a:rPr lang="zh-CN" altLang="en-US" sz="2600" dirty="0">
                <a:solidFill>
                  <a:schemeClr val="tx1"/>
                </a:solidFill>
              </a:rPr>
              <a:t>．大写字母变成小写字母函数</a:t>
            </a:r>
          </a:p>
          <a:p>
            <a:pPr eaLnBrk="1" hangingPunct="1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	函数原型：</a:t>
            </a:r>
            <a:r>
              <a:rPr lang="en-US" altLang="zh-CN" sz="2600" dirty="0">
                <a:solidFill>
                  <a:schemeClr val="tx1"/>
                </a:solidFill>
              </a:rPr>
              <a:t>char * strlwr( char  s[ ]);</a:t>
            </a:r>
          </a:p>
          <a:p>
            <a:pPr eaLnBrk="1" hangingPunct="1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	</a:t>
            </a:r>
          </a:p>
          <a:p>
            <a:pPr eaLnBrk="1" hangingPunct="1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	将字符数组</a:t>
            </a:r>
            <a:r>
              <a:rPr lang="en-US" altLang="zh-CN" sz="2600" dirty="0">
                <a:solidFill>
                  <a:schemeClr val="tx1"/>
                </a:solidFill>
              </a:rPr>
              <a:t>s</a:t>
            </a:r>
            <a:r>
              <a:rPr lang="zh-CN" altLang="en-US" sz="2600" dirty="0">
                <a:solidFill>
                  <a:schemeClr val="tx1"/>
                </a:solidFill>
              </a:rPr>
              <a:t>中的所有大写字母都变成小写字母，其他字母保持不变，例如：</a:t>
            </a:r>
          </a:p>
          <a:p>
            <a:pPr eaLnBrk="1" hangingPunct="1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		</a:t>
            </a:r>
            <a:r>
              <a:rPr lang="en-US" altLang="zh-CN" sz="2600" dirty="0">
                <a:solidFill>
                  <a:schemeClr val="tx1"/>
                </a:solidFill>
              </a:rPr>
              <a:t>char s[20]="You &amp; Me &amp; 789";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cout &lt;&lt; strlwr(s)&lt;&lt; </a:t>
            </a:r>
            <a:r>
              <a:rPr lang="en-US" altLang="zh-CN" sz="2600" dirty="0" err="1">
                <a:solidFill>
                  <a:schemeClr val="tx1"/>
                </a:solidFill>
              </a:rPr>
              <a:t>endl</a:t>
            </a:r>
            <a:r>
              <a:rPr lang="en-US" altLang="zh-CN" sz="2600" dirty="0">
                <a:solidFill>
                  <a:schemeClr val="tx1"/>
                </a:solidFill>
              </a:rPr>
              <a:t>;</a:t>
            </a:r>
          </a:p>
          <a:p>
            <a:pPr eaLnBrk="1" hangingPunct="1">
              <a:buNone/>
            </a:pPr>
            <a:endParaRPr lang="en-US" altLang="zh-CN" sz="26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8</a:t>
            </a:r>
            <a:r>
              <a:rPr lang="zh-CN" altLang="en-US" sz="2600" dirty="0">
                <a:solidFill>
                  <a:schemeClr val="tx1"/>
                </a:solidFill>
              </a:rPr>
              <a:t>．小写字母变成大写字母：</a:t>
            </a:r>
            <a:r>
              <a:rPr lang="en-US" altLang="zh-CN" sz="2600" dirty="0">
                <a:solidFill>
                  <a:schemeClr val="tx1"/>
                </a:solidFill>
              </a:rPr>
              <a:t>char * strupr( char s[ ]); </a:t>
            </a:r>
          </a:p>
        </p:txBody>
      </p:sp>
      <p:sp>
        <p:nvSpPr>
          <p:cNvPr id="614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72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80900" name="AutoShape 4"/>
          <p:cNvSpPr/>
          <p:nvPr/>
        </p:nvSpPr>
        <p:spPr>
          <a:xfrm>
            <a:off x="9121775" y="3645024"/>
            <a:ext cx="2232025" cy="865187"/>
          </a:xfrm>
          <a:prstGeom prst="cloudCallout">
            <a:avLst>
              <a:gd name="adj1" fmla="val -88864"/>
              <a:gd name="adj2" fmla="val 13641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ctr" eaLnBrk="1" fontAlgn="t" hangingPunct="1"/>
            <a:r>
              <a:rPr lang="zh-CN" altLang="en-US" sz="2200" dirty="0">
                <a:solidFill>
                  <a:schemeClr val="tx1"/>
                </a:solidFill>
              </a:rPr>
              <a:t>为什么前没有</a:t>
            </a:r>
            <a:r>
              <a:rPr lang="en-US" altLang="zh-CN" sz="2200" dirty="0">
                <a:solidFill>
                  <a:schemeClr val="tx1"/>
                </a:solidFill>
              </a:rPr>
              <a:t>const 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6.6.2 </a:t>
            </a:r>
            <a:r>
              <a:rPr lang="zh-CN" altLang="en-US" dirty="0"/>
              <a:t>处理</a:t>
            </a:r>
            <a:r>
              <a:rPr lang="en-US" altLang="zh-CN" dirty="0"/>
              <a:t>C</a:t>
            </a:r>
            <a:r>
              <a:rPr lang="zh-CN" altLang="en-US" dirty="0"/>
              <a:t>风格字符串的函数 </a:t>
            </a:r>
          </a:p>
        </p:txBody>
      </p:sp>
      <p:sp>
        <p:nvSpPr>
          <p:cNvPr id="62468" name="Rectangle 3"/>
          <p:cNvSpPr>
            <a:spLocks noGrp="1"/>
          </p:cNvSpPr>
          <p:nvPr>
            <p:ph idx="1"/>
          </p:nvPr>
        </p:nvSpPr>
        <p:spPr>
          <a:xfrm>
            <a:off x="911424" y="1536700"/>
            <a:ext cx="10369152" cy="42687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9</a:t>
            </a:r>
            <a:r>
              <a:rPr lang="zh-CN" altLang="en-US" sz="2600" dirty="0">
                <a:solidFill>
                  <a:schemeClr val="tx1"/>
                </a:solidFill>
              </a:rPr>
              <a:t>．查找子串的函数</a:t>
            </a:r>
          </a:p>
          <a:p>
            <a:pPr eaLnBrk="1" hangingPunct="1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	原型：</a:t>
            </a:r>
            <a:r>
              <a:rPr lang="en-US" altLang="zh-CN" sz="2600" dirty="0">
                <a:solidFill>
                  <a:srgbClr val="7030A0"/>
                </a:solidFill>
              </a:rPr>
              <a:t>char * strstr(const char s1[ ],  const char s2 [ ]) </a:t>
            </a:r>
          </a:p>
          <a:p>
            <a:pPr eaLnBrk="1" hangingPunct="1">
              <a:buNone/>
            </a:pPr>
            <a:endParaRPr lang="en-US" altLang="zh-CN" sz="26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    如果字符串</a:t>
            </a:r>
            <a:r>
              <a:rPr lang="en-US" altLang="zh-CN" sz="2600" dirty="0">
                <a:solidFill>
                  <a:schemeClr val="tx1"/>
                </a:solidFill>
              </a:rPr>
              <a:t>s1</a:t>
            </a:r>
            <a:r>
              <a:rPr lang="zh-CN" altLang="en-US" sz="2600" dirty="0">
                <a:solidFill>
                  <a:schemeClr val="tx1"/>
                </a:solidFill>
              </a:rPr>
              <a:t>包含要查找的子串</a:t>
            </a:r>
            <a:r>
              <a:rPr lang="en-US" altLang="zh-CN" sz="2600" dirty="0">
                <a:solidFill>
                  <a:schemeClr val="tx1"/>
                </a:solidFill>
              </a:rPr>
              <a:t>s2</a:t>
            </a:r>
            <a:r>
              <a:rPr lang="zh-CN" altLang="en-US" sz="2600" dirty="0">
                <a:solidFill>
                  <a:schemeClr val="tx1"/>
                </a:solidFill>
              </a:rPr>
              <a:t>，则返回</a:t>
            </a:r>
            <a:r>
              <a:rPr lang="en-US" altLang="zh-CN" sz="2600" dirty="0">
                <a:solidFill>
                  <a:schemeClr val="tx1"/>
                </a:solidFill>
              </a:rPr>
              <a:t>s2</a:t>
            </a:r>
            <a:r>
              <a:rPr lang="zh-CN" altLang="en-US" sz="2600" dirty="0">
                <a:solidFill>
                  <a:schemeClr val="tx1"/>
                </a:solidFill>
              </a:rPr>
              <a:t>在</a:t>
            </a:r>
            <a:r>
              <a:rPr lang="en-US" altLang="zh-CN" sz="2600" dirty="0">
                <a:solidFill>
                  <a:schemeClr val="tx1"/>
                </a:solidFill>
              </a:rPr>
              <a:t>s1</a:t>
            </a:r>
            <a:r>
              <a:rPr lang="zh-CN" altLang="en-US" sz="2600" dirty="0">
                <a:solidFill>
                  <a:schemeClr val="tx1"/>
                </a:solidFill>
              </a:rPr>
              <a:t>中，第一次出现的位置（地址），否则，则返回值</a:t>
            </a:r>
            <a:r>
              <a:rPr lang="en-US" altLang="zh-CN" sz="2600" dirty="0">
                <a:solidFill>
                  <a:schemeClr val="tx1"/>
                </a:solidFill>
              </a:rPr>
              <a:t>NULL</a:t>
            </a:r>
            <a:r>
              <a:rPr lang="zh-CN" altLang="en-US" sz="2600" dirty="0">
                <a:solidFill>
                  <a:schemeClr val="tx1"/>
                </a:solidFill>
              </a:rPr>
              <a:t>。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endParaRPr lang="zh-CN" altLang="en-US" sz="26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例如：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char str[80]="I love China &amp; you !",  substr[ ]="in";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cout &lt;&lt; strstr( str, substr )&lt;&lt;endl;</a:t>
            </a:r>
          </a:p>
        </p:txBody>
      </p:sp>
      <p:sp>
        <p:nvSpPr>
          <p:cNvPr id="6246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73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62469" name="AutoShape 4"/>
          <p:cNvSpPr/>
          <p:nvPr/>
        </p:nvSpPr>
        <p:spPr>
          <a:xfrm>
            <a:off x="8112126" y="558958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EX4-f.cpp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6.6.2 </a:t>
            </a:r>
            <a:r>
              <a:rPr lang="zh-CN" altLang="en-US" dirty="0"/>
              <a:t>处理</a:t>
            </a:r>
            <a:r>
              <a:rPr lang="en-US" altLang="zh-CN" dirty="0"/>
              <a:t>C</a:t>
            </a:r>
            <a:r>
              <a:rPr lang="zh-CN" altLang="en-US" dirty="0"/>
              <a:t>风格字符串的函数 </a:t>
            </a:r>
          </a:p>
        </p:txBody>
      </p:sp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xfrm>
            <a:off x="919242" y="1690688"/>
            <a:ext cx="9073008" cy="4268788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10</a:t>
            </a:r>
            <a:r>
              <a:rPr lang="zh-CN" altLang="en-US" sz="2600" dirty="0">
                <a:solidFill>
                  <a:schemeClr val="tx1"/>
                </a:solidFill>
              </a:rPr>
              <a:t>．字符串转换为整数的函数</a:t>
            </a:r>
          </a:p>
          <a:p>
            <a:pPr eaLnBrk="1" hangingPunct="1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	函数原型</a:t>
            </a:r>
            <a:r>
              <a:rPr lang="zh-CN" altLang="en-US" sz="2600" dirty="0">
                <a:solidFill>
                  <a:srgbClr val="7030A0"/>
                </a:solidFill>
              </a:rPr>
              <a:t>： </a:t>
            </a:r>
            <a:r>
              <a:rPr lang="en-US" altLang="zh-CN" sz="2600" dirty="0">
                <a:solidFill>
                  <a:srgbClr val="7030A0"/>
                </a:solidFill>
              </a:rPr>
              <a:t>int atoi(const char str[ ])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	例如：	</a:t>
            </a:r>
            <a:r>
              <a:rPr lang="en-US" altLang="zh-CN" sz="2600" dirty="0">
                <a:solidFill>
                  <a:schemeClr val="tx1"/>
                </a:solidFill>
              </a:rPr>
              <a:t>char 	s1[80]="789123", 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		s2[80]="789X123",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		s3[80]="X123";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	int  	i=atoi(s1),  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		j=atoi(s2),  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			k=atoi(s3); </a:t>
            </a:r>
          </a:p>
        </p:txBody>
      </p:sp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74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63493" name="AutoShape 4"/>
          <p:cNvSpPr/>
          <p:nvPr/>
        </p:nvSpPr>
        <p:spPr>
          <a:xfrm>
            <a:off x="8112126" y="558958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EX4-g.cpp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6.6.2 </a:t>
            </a:r>
            <a:r>
              <a:rPr lang="zh-CN" altLang="en-US" dirty="0"/>
              <a:t>处理</a:t>
            </a:r>
            <a:r>
              <a:rPr lang="en-US" altLang="zh-CN" dirty="0"/>
              <a:t>C</a:t>
            </a:r>
            <a:r>
              <a:rPr lang="zh-CN" altLang="en-US" dirty="0"/>
              <a:t>风格字符串的函数 </a:t>
            </a:r>
          </a:p>
        </p:txBody>
      </p:sp>
      <p:sp>
        <p:nvSpPr>
          <p:cNvPr id="64516" name="Rectangle 3"/>
          <p:cNvSpPr>
            <a:spLocks noGrp="1"/>
          </p:cNvSpPr>
          <p:nvPr>
            <p:ph idx="1"/>
          </p:nvPr>
        </p:nvSpPr>
        <p:spPr>
          <a:xfrm>
            <a:off x="1271464" y="1690688"/>
            <a:ext cx="9217024" cy="42687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11.</a:t>
            </a:r>
            <a:r>
              <a:rPr lang="zh-CN" altLang="en-US" sz="2600" dirty="0">
                <a:solidFill>
                  <a:schemeClr val="tx1"/>
                </a:solidFill>
              </a:rPr>
              <a:t>整数转换为字符串的函数</a:t>
            </a:r>
          </a:p>
          <a:p>
            <a:pPr eaLnBrk="1" hangingPunct="1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函数原型： </a:t>
            </a:r>
            <a:r>
              <a:rPr lang="en-US" altLang="zh-CN" sz="2600" dirty="0">
                <a:solidFill>
                  <a:srgbClr val="7030A0"/>
                </a:solidFill>
              </a:rPr>
              <a:t>char *itoa(int value, char str[ ], int radix) </a:t>
            </a:r>
          </a:p>
          <a:p>
            <a:pPr eaLnBrk="1" hangingPunct="1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例如：</a:t>
            </a:r>
          </a:p>
          <a:p>
            <a:pPr eaLnBrk="1" hangingPunct="1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	</a:t>
            </a:r>
            <a:r>
              <a:rPr lang="en-US" altLang="zh-CN" sz="2600" dirty="0">
                <a:solidFill>
                  <a:schemeClr val="tx1"/>
                </a:solidFill>
              </a:rPr>
              <a:t>int   n = 123; 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char  s1[20],  s2[20]; 	 		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itoa(n, s1, 3);   </a:t>
            </a:r>
            <a:r>
              <a:rPr lang="en-US" altLang="zh-CN" sz="2400" dirty="0">
                <a:solidFill>
                  <a:schemeClr val="tx1"/>
                </a:solidFill>
              </a:rPr>
              <a:t>// s1</a:t>
            </a:r>
            <a:r>
              <a:rPr lang="zh-CN" altLang="en-US" sz="2400" dirty="0">
                <a:solidFill>
                  <a:schemeClr val="tx1"/>
                </a:solidFill>
              </a:rPr>
              <a:t>中存储的是三进制表示的串</a:t>
            </a:r>
            <a:r>
              <a:rPr lang="en-US" altLang="zh-CN" sz="2400" dirty="0">
                <a:solidFill>
                  <a:schemeClr val="tx1"/>
                </a:solidFill>
              </a:rPr>
              <a:t>"11120"</a:t>
            </a:r>
          </a:p>
          <a:p>
            <a:pPr eaLnBrk="1" hangingPunct="1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	itoa(n, s2, 10);  </a:t>
            </a:r>
            <a:r>
              <a:rPr lang="en-US" altLang="zh-CN" sz="2400" dirty="0">
                <a:solidFill>
                  <a:schemeClr val="tx1"/>
                </a:solidFill>
              </a:rPr>
              <a:t>// s2</a:t>
            </a:r>
            <a:r>
              <a:rPr lang="zh-CN" altLang="en-US" sz="2400" dirty="0">
                <a:solidFill>
                  <a:schemeClr val="tx1"/>
                </a:solidFill>
              </a:rPr>
              <a:t>中存储的是十进制表示的串</a:t>
            </a:r>
            <a:r>
              <a:rPr lang="en-US" altLang="zh-CN" sz="2400" dirty="0">
                <a:solidFill>
                  <a:schemeClr val="tx1"/>
                </a:solidFill>
              </a:rPr>
              <a:t>"123"</a:t>
            </a:r>
            <a:r>
              <a:rPr lang="en-US" altLang="zh-CN" sz="2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451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75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64517" name="AutoShape 4"/>
          <p:cNvSpPr/>
          <p:nvPr/>
        </p:nvSpPr>
        <p:spPr>
          <a:xfrm>
            <a:off x="7896226" y="558958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EX4-h.cpp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754640" y="2572859"/>
            <a:ext cx="3196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整数      字符串     进制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6.6.3 </a:t>
            </a:r>
            <a:r>
              <a:rPr lang="zh-CN" altLang="en-US" dirty="0"/>
              <a:t>自定义字符串处理的函数 </a:t>
            </a:r>
          </a:p>
        </p:txBody>
      </p:sp>
      <p:sp>
        <p:nvSpPr>
          <p:cNvPr id="6554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【</a:t>
            </a:r>
            <a:r>
              <a:rPr lang="zh-CN" altLang="en-US" sz="2600" dirty="0">
                <a:solidFill>
                  <a:schemeClr val="tx1"/>
                </a:solidFill>
              </a:rPr>
              <a:t>例</a:t>
            </a:r>
            <a:r>
              <a:rPr lang="en-US" altLang="zh-CN" sz="2600" dirty="0">
                <a:solidFill>
                  <a:schemeClr val="tx1"/>
                </a:solidFill>
              </a:rPr>
              <a:t>4-13】</a:t>
            </a:r>
            <a:r>
              <a:rPr lang="zh-CN" altLang="en-US" sz="2600" dirty="0">
                <a:solidFill>
                  <a:schemeClr val="tx1"/>
                </a:solidFill>
              </a:rPr>
              <a:t>写一个查找子串的函数：</a:t>
            </a: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原型：</a:t>
            </a:r>
            <a:r>
              <a:rPr lang="en-US" altLang="zh-CN" sz="2600" dirty="0">
                <a:solidFill>
                  <a:schemeClr val="tx1"/>
                </a:solidFill>
              </a:rPr>
              <a:t>int  myStrFind( const char s1[ ],  const char s2 [ ])</a:t>
            </a: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功能：如果串</a:t>
            </a:r>
            <a:r>
              <a:rPr lang="en-US" altLang="zh-CN" sz="2600" dirty="0">
                <a:solidFill>
                  <a:schemeClr val="tx1"/>
                </a:solidFill>
              </a:rPr>
              <a:t>s1</a:t>
            </a:r>
            <a:r>
              <a:rPr lang="zh-CN" altLang="en-US" sz="2600" dirty="0">
                <a:solidFill>
                  <a:schemeClr val="tx1"/>
                </a:solidFill>
              </a:rPr>
              <a:t>包含要查找的子串</a:t>
            </a:r>
            <a:r>
              <a:rPr lang="en-US" altLang="zh-CN" sz="2600" dirty="0">
                <a:solidFill>
                  <a:schemeClr val="tx1"/>
                </a:solidFill>
              </a:rPr>
              <a:t>s2</a:t>
            </a:r>
            <a:r>
              <a:rPr lang="zh-CN" altLang="en-US" sz="2600" dirty="0">
                <a:solidFill>
                  <a:schemeClr val="tx1"/>
                </a:solidFill>
              </a:rPr>
              <a:t>，则返回</a:t>
            </a:r>
            <a:r>
              <a:rPr lang="en-US" altLang="zh-CN" sz="2600" dirty="0">
                <a:solidFill>
                  <a:schemeClr val="tx1"/>
                </a:solidFill>
              </a:rPr>
              <a:t>s2</a:t>
            </a:r>
            <a:r>
              <a:rPr lang="zh-CN" altLang="en-US" sz="2600" dirty="0">
                <a:solidFill>
                  <a:schemeClr val="tx1"/>
                </a:solidFill>
              </a:rPr>
              <a:t>在</a:t>
            </a:r>
            <a:r>
              <a:rPr lang="en-US" altLang="zh-CN" sz="2600" dirty="0">
                <a:solidFill>
                  <a:schemeClr val="tx1"/>
                </a:solidFill>
              </a:rPr>
              <a:t>s1</a:t>
            </a:r>
            <a:r>
              <a:rPr lang="zh-CN" altLang="en-US" sz="2600" dirty="0">
                <a:solidFill>
                  <a:schemeClr val="tx1"/>
                </a:solidFill>
              </a:rPr>
              <a:t>中第一次出现的下标，否则返回</a:t>
            </a:r>
            <a:r>
              <a:rPr lang="en-US" altLang="zh-CN" sz="2600" dirty="0">
                <a:solidFill>
                  <a:schemeClr val="tx1"/>
                </a:solidFill>
              </a:rPr>
              <a:t>-1</a:t>
            </a:r>
            <a:r>
              <a:rPr lang="zh-CN" altLang="en-US" sz="2600" dirty="0">
                <a:solidFill>
                  <a:schemeClr val="tx1"/>
                </a:solidFill>
              </a:rPr>
              <a:t>。另外，第一个串长度不小于第二个串。 </a:t>
            </a:r>
          </a:p>
        </p:txBody>
      </p:sp>
      <p:sp>
        <p:nvSpPr>
          <p:cNvPr id="6553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76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/>
          <p:nvPr/>
        </p:nvSpPr>
        <p:spPr>
          <a:xfrm>
            <a:off x="1776095" y="1126174"/>
            <a:ext cx="8712200" cy="52927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 myStrFind(const char s1[ ], const char s2[ ])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  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int i, j, k;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  <a:sym typeface="+mn-ea"/>
              </a:rPr>
              <a:t>    for(i=0;i&lt;=strlen(s1)-strlen(s2);i++)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  <a:sym typeface="+mn-ea"/>
              </a:rPr>
              <a:t>    {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  <a:sym typeface="+mn-ea"/>
              </a:rPr>
              <a:t>	k=i;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  <a:sym typeface="+mn-ea"/>
              </a:rPr>
              <a:t>          	for(j=0;(s1[k]==s2[j])&amp;&amp;(s2[j]!='\0');j++)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  <a:sym typeface="+mn-ea"/>
              </a:rPr>
              <a:t>                	k++;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  <a:sym typeface="+mn-ea"/>
              </a:rPr>
              <a:t>        	if(s2[j]=='\0')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  <a:sym typeface="+mn-ea"/>
              </a:rPr>
              <a:t>               	return i;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  <a:sym typeface="+mn-ea"/>
              </a:rPr>
              <a:t>    }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return   -1;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66563" name="AutoShape 3"/>
          <p:cNvSpPr/>
          <p:nvPr/>
        </p:nvSpPr>
        <p:spPr>
          <a:xfrm>
            <a:off x="7896226" y="558958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4-13.cpp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/>
          <p:nvPr/>
        </p:nvSpPr>
        <p:spPr>
          <a:xfrm>
            <a:off x="1776413" y="924243"/>
            <a:ext cx="8712200" cy="547751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500" dirty="0">
                <a:solidFill>
                  <a:schemeClr val="tx1"/>
                </a:solidFill>
              </a:rPr>
              <a:t>【</a:t>
            </a:r>
            <a:r>
              <a:rPr lang="zh-CN" altLang="en-US" sz="2500" dirty="0">
                <a:solidFill>
                  <a:schemeClr val="tx1"/>
                </a:solidFill>
              </a:rPr>
              <a:t>例</a:t>
            </a:r>
            <a:r>
              <a:rPr lang="en-US" altLang="zh-CN" sz="2500" dirty="0">
                <a:solidFill>
                  <a:schemeClr val="tx1"/>
                </a:solidFill>
              </a:rPr>
              <a:t>6-14】</a:t>
            </a:r>
            <a:r>
              <a:rPr lang="zh-CN" altLang="en-US" sz="2500" dirty="0">
                <a:solidFill>
                  <a:schemeClr val="tx1"/>
                </a:solidFill>
              </a:rPr>
              <a:t>统计一个子串</a:t>
            </a:r>
            <a:r>
              <a:rPr lang="en-US" altLang="zh-CN" sz="2500" dirty="0">
                <a:solidFill>
                  <a:schemeClr val="tx1"/>
                </a:solidFill>
              </a:rPr>
              <a:t>substr</a:t>
            </a:r>
            <a:r>
              <a:rPr lang="zh-CN" altLang="en-US" sz="2500" dirty="0">
                <a:solidFill>
                  <a:schemeClr val="tx1"/>
                </a:solidFill>
              </a:rPr>
              <a:t>在一个长串</a:t>
            </a:r>
            <a:r>
              <a:rPr lang="en-US" altLang="zh-CN" sz="2500" dirty="0">
                <a:solidFill>
                  <a:schemeClr val="tx1"/>
                </a:solidFill>
              </a:rPr>
              <a:t>str</a:t>
            </a:r>
            <a:r>
              <a:rPr lang="zh-CN" altLang="en-US" sz="2500" dirty="0">
                <a:solidFill>
                  <a:schemeClr val="tx1"/>
                </a:solidFill>
              </a:rPr>
              <a:t>中出现的次数。</a:t>
            </a:r>
          </a:p>
          <a:p>
            <a:pPr eaLnBrk="1" fontAlgn="t" hangingPunct="1"/>
            <a:r>
              <a:rPr lang="en-US" altLang="zh-CN" sz="2500" dirty="0">
                <a:solidFill>
                  <a:schemeClr val="tx1"/>
                </a:solidFill>
              </a:rPr>
              <a:t>int countTimes(char str[ ], char substr[ ])</a:t>
            </a:r>
          </a:p>
          <a:p>
            <a:pPr eaLnBrk="1" fontAlgn="t" hangingPunct="1"/>
            <a:r>
              <a:rPr lang="en-US" altLang="zh-CN" sz="2500" dirty="0">
                <a:solidFill>
                  <a:schemeClr val="tx1"/>
                </a:solidFill>
              </a:rPr>
              <a:t>{  int i, j, k, n=0;    	// n统计子串在主串中出现的次数</a:t>
            </a:r>
          </a:p>
          <a:p>
            <a:pPr eaLnBrk="1" fontAlgn="t" hangingPunct="1"/>
            <a:endParaRPr lang="en-US" altLang="zh-CN" sz="25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500" dirty="0">
                <a:solidFill>
                  <a:schemeClr val="tx1"/>
                </a:solidFill>
              </a:rPr>
              <a:t>    for(i=0; str[i]!='\0'; i++) </a:t>
            </a:r>
          </a:p>
          <a:p>
            <a:pPr eaLnBrk="1" fontAlgn="t" hangingPunct="1"/>
            <a:r>
              <a:rPr lang="en-US" altLang="zh-CN" sz="2500" dirty="0">
                <a:solidFill>
                  <a:schemeClr val="tx1"/>
                </a:solidFill>
              </a:rPr>
              <a:t>    {</a:t>
            </a:r>
          </a:p>
          <a:p>
            <a:pPr eaLnBrk="1" fontAlgn="t" hangingPunct="1"/>
            <a:r>
              <a:rPr lang="en-US" altLang="zh-CN" sz="2500" dirty="0">
                <a:solidFill>
                  <a:schemeClr val="tx1"/>
                </a:solidFill>
              </a:rPr>
              <a:t>    	j=i;</a:t>
            </a:r>
          </a:p>
          <a:p>
            <a:pPr eaLnBrk="1" fontAlgn="t" hangingPunct="1"/>
            <a:r>
              <a:rPr lang="en-US" altLang="zh-CN" sz="2500" dirty="0">
                <a:solidFill>
                  <a:schemeClr val="tx1"/>
                </a:solidFill>
              </a:rPr>
              <a:t>        	for( k=0; str[j]!='\0' &amp;&amp; substr[k]==str[j];  k++)</a:t>
            </a:r>
          </a:p>
          <a:p>
            <a:pPr eaLnBrk="1" fontAlgn="t" hangingPunct="1"/>
            <a:r>
              <a:rPr lang="en-US" altLang="zh-CN" sz="2500" dirty="0">
                <a:solidFill>
                  <a:schemeClr val="tx1"/>
                </a:solidFill>
              </a:rPr>
              <a:t>            	j++;</a:t>
            </a:r>
          </a:p>
          <a:p>
            <a:pPr eaLnBrk="1" fontAlgn="t" hangingPunct="1"/>
            <a:r>
              <a:rPr lang="en-US" altLang="zh-CN" sz="2500" dirty="0">
                <a:solidFill>
                  <a:schemeClr val="tx1"/>
                </a:solidFill>
              </a:rPr>
              <a:t>        	if(substr[k]=='\0') </a:t>
            </a:r>
          </a:p>
          <a:p>
            <a:pPr eaLnBrk="1" fontAlgn="t" hangingPunct="1"/>
            <a:r>
              <a:rPr lang="en-US" altLang="zh-CN" sz="2500" dirty="0">
                <a:solidFill>
                  <a:schemeClr val="tx1"/>
                </a:solidFill>
              </a:rPr>
              <a:t>            	n++;</a:t>
            </a:r>
          </a:p>
          <a:p>
            <a:pPr eaLnBrk="1" fontAlgn="t" hangingPunct="1"/>
            <a:r>
              <a:rPr lang="en-US" altLang="zh-CN" sz="2500" dirty="0">
                <a:solidFill>
                  <a:schemeClr val="tx1"/>
                </a:solidFill>
              </a:rPr>
              <a:t>    }</a:t>
            </a:r>
          </a:p>
          <a:p>
            <a:pPr eaLnBrk="1" fontAlgn="t" hangingPunct="1"/>
            <a:r>
              <a:rPr lang="en-US" altLang="zh-CN" sz="2500" dirty="0">
                <a:solidFill>
                  <a:schemeClr val="tx1"/>
                </a:solidFill>
              </a:rPr>
              <a:t>    return n;</a:t>
            </a:r>
          </a:p>
          <a:p>
            <a:pPr eaLnBrk="1" fontAlgn="t" hangingPunct="1"/>
            <a:r>
              <a:rPr lang="en-US" altLang="zh-CN" sz="25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4A63852-B8D8-4001-9F05-AA0EE87EFB1A}"/>
              </a:ext>
            </a:extLst>
          </p:cNvPr>
          <p:cNvSpPr/>
          <p:nvPr/>
        </p:nvSpPr>
        <p:spPr>
          <a:xfrm>
            <a:off x="7896226" y="558958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4-14.cpp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73231A-1620-4712-98A6-4D962343F6DC}"/>
              </a:ext>
            </a:extLst>
          </p:cNvPr>
          <p:cNvSpPr/>
          <p:nvPr/>
        </p:nvSpPr>
        <p:spPr>
          <a:xfrm>
            <a:off x="308909" y="910751"/>
            <a:ext cx="5976664" cy="5632311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#include &lt;iostream&gt;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#include &lt;string&gt;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using namespace std;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int </a:t>
            </a:r>
            <a:r>
              <a:rPr lang="en-US" altLang="zh-CN" dirty="0" err="1">
                <a:solidFill>
                  <a:schemeClr val="tx1"/>
                </a:solidFill>
              </a:rPr>
              <a:t>strcount</a:t>
            </a:r>
            <a:r>
              <a:rPr lang="en-US" altLang="zh-CN" dirty="0">
                <a:solidFill>
                  <a:schemeClr val="tx1"/>
                </a:solidFill>
              </a:rPr>
              <a:t>(string str, string </a:t>
            </a:r>
            <a:r>
              <a:rPr lang="en-US" altLang="zh-CN" dirty="0" err="1">
                <a:solidFill>
                  <a:schemeClr val="tx1"/>
                </a:solidFill>
              </a:rPr>
              <a:t>substr</a:t>
            </a:r>
            <a:r>
              <a:rPr lang="en-US" altLang="zh-CN" dirty="0">
                <a:solidFill>
                  <a:schemeClr val="tx1"/>
                </a:solidFill>
              </a:rPr>
              <a:t>) {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int count = 0;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int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= 0;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while (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&lt; </a:t>
            </a:r>
            <a:r>
              <a:rPr lang="en-US" altLang="zh-CN" dirty="0" err="1">
                <a:solidFill>
                  <a:schemeClr val="tx1"/>
                </a:solidFill>
              </a:rPr>
              <a:t>str.size</a:t>
            </a:r>
            <a:r>
              <a:rPr lang="en-US" altLang="zh-CN" dirty="0">
                <a:solidFill>
                  <a:schemeClr val="tx1"/>
                </a:solidFill>
              </a:rPr>
              <a:t>()) {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	auto </a:t>
            </a:r>
            <a:r>
              <a:rPr lang="en-US" altLang="zh-CN" dirty="0" err="1">
                <a:solidFill>
                  <a:schemeClr val="tx1"/>
                </a:solidFill>
              </a:rPr>
              <a:t>isfind</a:t>
            </a:r>
            <a:r>
              <a:rPr lang="en-US" altLang="zh-CN" dirty="0">
                <a:solidFill>
                  <a:schemeClr val="tx1"/>
                </a:solidFill>
              </a:rPr>
              <a:t> = </a:t>
            </a:r>
            <a:r>
              <a:rPr lang="en-US" altLang="zh-CN" dirty="0" err="1">
                <a:solidFill>
                  <a:schemeClr val="tx1"/>
                </a:solidFill>
              </a:rPr>
              <a:t>str.find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substr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);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	if (</a:t>
            </a:r>
            <a:r>
              <a:rPr lang="en-US" altLang="zh-CN" dirty="0" err="1">
                <a:solidFill>
                  <a:schemeClr val="tx1"/>
                </a:solidFill>
              </a:rPr>
              <a:t>isfind</a:t>
            </a:r>
            <a:r>
              <a:rPr lang="en-US" altLang="zh-CN" dirty="0">
                <a:solidFill>
                  <a:schemeClr val="tx1"/>
                </a:solidFill>
              </a:rPr>
              <a:t> == string::</a:t>
            </a:r>
            <a:r>
              <a:rPr lang="en-US" altLang="zh-CN" dirty="0" err="1">
                <a:solidFill>
                  <a:schemeClr val="tx1"/>
                </a:solidFill>
              </a:rPr>
              <a:t>npos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		break;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	else {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		count++;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		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= (int)</a:t>
            </a:r>
            <a:r>
              <a:rPr lang="en-US" altLang="zh-CN" dirty="0" err="1">
                <a:solidFill>
                  <a:schemeClr val="tx1"/>
                </a:solidFill>
              </a:rPr>
              <a:t>isfind</a:t>
            </a:r>
            <a:r>
              <a:rPr lang="en-US" altLang="zh-CN" dirty="0">
                <a:solidFill>
                  <a:schemeClr val="tx1"/>
                </a:solidFill>
              </a:rPr>
              <a:t> + 1;	}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}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return count;}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E236F37-08DD-40C3-9C0D-03EE26476BAB}"/>
              </a:ext>
            </a:extLst>
          </p:cNvPr>
          <p:cNvSpPr/>
          <p:nvPr/>
        </p:nvSpPr>
        <p:spPr>
          <a:xfrm>
            <a:off x="10272464" y="5805264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6-14.cpp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1B8298-C0A5-4879-95B1-D6ACA1D6B74A}"/>
              </a:ext>
            </a:extLst>
          </p:cNvPr>
          <p:cNvSpPr/>
          <p:nvPr/>
        </p:nvSpPr>
        <p:spPr>
          <a:xfrm>
            <a:off x="6528048" y="1700808"/>
            <a:ext cx="5472608" cy="3046988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int main() {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string str = "I am Chinese,I love China";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string substr = "in";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int n = strcount(str, substr);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cout &lt;&lt; substr &lt;&lt; "在 " &lt;&lt; str &lt;&lt; "中出现的次数：" &lt;&lt; n &lt;&lt; endl;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return 0;}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6FCA69-DC95-4AF8-AB04-73C6B9F707E7}"/>
              </a:ext>
            </a:extLst>
          </p:cNvPr>
          <p:cNvSpPr/>
          <p:nvPr/>
        </p:nvSpPr>
        <p:spPr>
          <a:xfrm>
            <a:off x="610029" y="306824"/>
            <a:ext cx="49952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//</a:t>
            </a:r>
            <a:r>
              <a:rPr lang="zh-CN" altLang="en-US" dirty="0">
                <a:solidFill>
                  <a:schemeClr val="tx1"/>
                </a:solidFill>
              </a:rPr>
              <a:t>使用字符串相关方法解决前一问题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494873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/>
          <p:nvPr/>
        </p:nvSpPr>
        <p:spPr>
          <a:xfrm>
            <a:off x="1847850" y="290513"/>
            <a:ext cx="8712200" cy="64516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【</a:t>
            </a:r>
            <a:r>
              <a:rPr lang="zh-CN" altLang="en-US" sz="2600" dirty="0">
                <a:solidFill>
                  <a:schemeClr val="tx1"/>
                </a:solidFill>
              </a:rPr>
              <a:t>例</a:t>
            </a:r>
            <a:r>
              <a:rPr lang="en-US" altLang="zh-CN" sz="2600" dirty="0">
                <a:solidFill>
                  <a:schemeClr val="tx1"/>
                </a:solidFill>
              </a:rPr>
              <a:t>6-15】</a:t>
            </a:r>
            <a:r>
              <a:rPr lang="zh-CN" altLang="en-US" sz="2600" dirty="0">
                <a:solidFill>
                  <a:schemeClr val="tx1"/>
                </a:solidFill>
              </a:rPr>
              <a:t>输入一行字符，统计其中的单词个数。</a:t>
            </a:r>
          </a:p>
          <a:p>
            <a:pPr eaLnBrk="1" fontAlgn="t" hangingPunct="1"/>
            <a:r>
              <a:rPr lang="zh-CN" altLang="en-US" sz="2600" dirty="0">
                <a:solidFill>
                  <a:schemeClr val="tx1"/>
                </a:solidFill>
              </a:rPr>
              <a:t>分析：顺序扫描数组，若当前字符是非空格，而其前一个字符是空格，则单词数加</a:t>
            </a:r>
            <a:r>
              <a:rPr lang="en-US" altLang="zh-CN" sz="2600" dirty="0">
                <a:solidFill>
                  <a:schemeClr val="tx1"/>
                </a:solidFill>
              </a:rPr>
              <a:t>1</a:t>
            </a:r>
            <a:r>
              <a:rPr lang="zh-CN" altLang="en-US" sz="2600" dirty="0">
                <a:solidFill>
                  <a:schemeClr val="tx1"/>
                </a:solidFill>
              </a:rPr>
              <a:t>。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 countWords( char  str[ ])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int  i,  num=0;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char  </a:t>
            </a:r>
            <a:r>
              <a:rPr lang="en-US" altLang="zh-CN" sz="2600" dirty="0" err="1">
                <a:solidFill>
                  <a:schemeClr val="tx1"/>
                </a:solidFill>
              </a:rPr>
              <a:t>ch</a:t>
            </a:r>
            <a:r>
              <a:rPr lang="en-US" altLang="zh-CN" sz="2600" dirty="0">
                <a:solidFill>
                  <a:schemeClr val="tx1"/>
                </a:solidFill>
              </a:rPr>
              <a:t>='  ';     // </a:t>
            </a:r>
            <a:r>
              <a:rPr lang="zh-CN" altLang="en-US" sz="2600" dirty="0">
                <a:solidFill>
                  <a:schemeClr val="tx1"/>
                </a:solidFill>
              </a:rPr>
              <a:t>存放前一字符</a:t>
            </a:r>
          </a:p>
          <a:p>
            <a:pPr eaLnBrk="1" fontAlgn="t" hangingPunct="1"/>
            <a:endParaRPr lang="zh-CN" altLang="en-US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sz="2600" dirty="0">
                <a:solidFill>
                  <a:schemeClr val="tx1"/>
                </a:solidFill>
              </a:rPr>
              <a:t>	</a:t>
            </a:r>
            <a:r>
              <a:rPr lang="en-US" altLang="zh-CN" sz="2600" dirty="0">
                <a:solidFill>
                  <a:schemeClr val="tx1"/>
                </a:solidFill>
              </a:rPr>
              <a:t>for (i=num=0; str[i]!='\0'; i++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{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if ( ch == '  ' &amp;&amp; str[i] != ' ')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num++;  	// </a:t>
            </a:r>
            <a:r>
              <a:rPr lang="zh-CN" altLang="en-US" sz="2600" dirty="0">
                <a:solidFill>
                  <a:schemeClr val="tx1"/>
                </a:solidFill>
              </a:rPr>
              <a:t>单词数加</a:t>
            </a:r>
            <a:r>
              <a:rPr lang="en-US" altLang="zh-CN" sz="2600" dirty="0">
                <a:solidFill>
                  <a:schemeClr val="tx1"/>
                </a:solidFill>
              </a:rPr>
              <a:t>1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ch = str[i];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}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   num;  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68611" name="AutoShape 3"/>
          <p:cNvSpPr/>
          <p:nvPr/>
        </p:nvSpPr>
        <p:spPr>
          <a:xfrm>
            <a:off x="7896226" y="558958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4-15.cpp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dbadeaa-deae-4937-9dbb-20ac3e458e53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dbadeaa-deae-4937-9dbb-20ac3e458e53}"/>
</p:tagLst>
</file>

<file path=ppt/theme/theme1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1817</TotalTime>
  <Words>7958</Words>
  <Application>Microsoft Office PowerPoint</Application>
  <PresentationFormat>宽屏</PresentationFormat>
  <Paragraphs>948</Paragraphs>
  <Slides>80</Slides>
  <Notes>4</Notes>
  <HiddenSlides>0</HiddenSlides>
  <MMClips>3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94" baseType="lpstr">
      <vt:lpstr>Microsoft YaHei UI</vt:lpstr>
      <vt:lpstr>阿里巴巴普惠体 R</vt:lpstr>
      <vt:lpstr>等线</vt:lpstr>
      <vt:lpstr>等线 Light</vt:lpstr>
      <vt:lpstr>仿宋</vt:lpstr>
      <vt:lpstr>宋体</vt:lpstr>
      <vt:lpstr>Arial</vt:lpstr>
      <vt:lpstr>Calibri</vt:lpstr>
      <vt:lpstr>Calibri Light</vt:lpstr>
      <vt:lpstr>consolas</vt:lpstr>
      <vt:lpstr>consolas</vt:lpstr>
      <vt:lpstr>Courier New</vt:lpstr>
      <vt:lpstr>Times New Roman</vt:lpstr>
      <vt:lpstr>默认设计模板</vt:lpstr>
      <vt:lpstr>第6章  数组 </vt:lpstr>
      <vt:lpstr>引言</vt:lpstr>
      <vt:lpstr>6.1 一维数组 </vt:lpstr>
      <vt:lpstr>6.1.2 引用一维数组元素 </vt:lpstr>
      <vt:lpstr>6.1.3 数组无越界检查 </vt:lpstr>
      <vt:lpstr>6.1.4 数组初始化 </vt:lpstr>
      <vt:lpstr>PowerPoint 演示文稿</vt:lpstr>
      <vt:lpstr>PowerPoint 演示文稿</vt:lpstr>
      <vt:lpstr>6.2 多维数组 </vt:lpstr>
      <vt:lpstr>6.2.1 二维数组的定义 </vt:lpstr>
      <vt:lpstr>6.2.2 二维数组的初始化 </vt:lpstr>
      <vt:lpstr>6.2.2 二维数组的初始化 </vt:lpstr>
      <vt:lpstr>6.2.3 引用二维数组元素 </vt:lpstr>
      <vt:lpstr>6.3 数组作函数参数</vt:lpstr>
      <vt:lpstr>PowerPoint 演示文稿</vt:lpstr>
      <vt:lpstr>4.3.2 数组名作函数参数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【例6.12】选择排序(以升序为例):冒泡法的改进</vt:lpstr>
      <vt:lpstr>选择排序动画演示</vt:lpstr>
      <vt:lpstr>PowerPoint 演示文稿</vt:lpstr>
      <vt:lpstr>PowerPoint 演示文稿</vt:lpstr>
      <vt:lpstr>PowerPoint 演示文稿</vt:lpstr>
      <vt:lpstr>【例6.13】插入排序（以升序为例） </vt:lpstr>
      <vt:lpstr>6.4常用算法</vt:lpstr>
      <vt:lpstr>【例6.16】二分查找，即折半查找。前提是数组已经排序（假定是非递减排序）。 （自学）</vt:lpstr>
      <vt:lpstr>二分查找</vt:lpstr>
      <vt:lpstr>二分查找</vt:lpstr>
      <vt:lpstr>PowerPoint 演示文稿</vt:lpstr>
      <vt:lpstr>【例6.16】二分查找，即折半查找。前提是数组已经排序（假定是非递减排序）。 （自学）</vt:lpstr>
      <vt:lpstr>PowerPoint 演示文稿</vt:lpstr>
      <vt:lpstr>PowerPoint 演示文稿</vt:lpstr>
      <vt:lpstr>PowerPoint 演示文稿</vt:lpstr>
      <vt:lpstr>PowerPoint 演示文稿</vt:lpstr>
      <vt:lpstr>【例6.10】求两个集合的交集。 </vt:lpstr>
      <vt:lpstr>PowerPoint 演示文稿</vt:lpstr>
      <vt:lpstr>PowerPoint 演示文稿</vt:lpstr>
      <vt:lpstr>PowerPoint 演示文稿</vt:lpstr>
      <vt:lpstr>PowerPoint 演示文稿</vt:lpstr>
      <vt:lpstr>【例】将一个3×4二维数组set1转置为set2 ，然后将set1与set2相乘得到set3 。</vt:lpstr>
      <vt:lpstr>PowerPoint 演示文稿</vt:lpstr>
      <vt:lpstr>PowerPoint 演示文稿</vt:lpstr>
      <vt:lpstr>6.5字符数组与字符串 </vt:lpstr>
      <vt:lpstr>6.5.1 字符数组的定义 </vt:lpstr>
      <vt:lpstr>6.5.2 字符数组的初始化 </vt:lpstr>
      <vt:lpstr>6.5.3 字符串 </vt:lpstr>
      <vt:lpstr>6.5.4 字符数组的输入和输出 </vt:lpstr>
      <vt:lpstr>6.5.4 字符数组的输入和输出 </vt:lpstr>
      <vt:lpstr>6.6 处理字符和字符串 </vt:lpstr>
      <vt:lpstr>PowerPoint 演示文稿</vt:lpstr>
      <vt:lpstr>【例6-12】假设学号由前面4个字符，后面4个数字构成，从键盘输入一个学号，测试它是否合法。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6.6.2 处理C风格字符串的函数(自学)（#include &lt;cstring&gt;） </vt:lpstr>
      <vt:lpstr>6.6.2 处理C风格字符串的函数 </vt:lpstr>
      <vt:lpstr>6.6.2 处理C风格字符串的函数 </vt:lpstr>
      <vt:lpstr>6.6.2 处理C风格字符串的函数 </vt:lpstr>
      <vt:lpstr>6.6.2 处理C风格字符串的函数 </vt:lpstr>
      <vt:lpstr>6.6.2 处理C风格字符串的函数 </vt:lpstr>
      <vt:lpstr>6.6.2 处理C风格字符串的函数 </vt:lpstr>
      <vt:lpstr>6.6.2 处理C风格字符串的函数 </vt:lpstr>
      <vt:lpstr>6.6.2 处理C风格字符串的函数 </vt:lpstr>
      <vt:lpstr>6.6.2 处理C风格字符串的函数 </vt:lpstr>
      <vt:lpstr>6.6.3 自定义字符串处理的函数 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教案</dc:title>
  <dc:subject>电子教案</dc:subject>
  <dc:creator>皮德常</dc:creator>
  <cp:lastModifiedBy>Alice</cp:lastModifiedBy>
  <cp:revision>769</cp:revision>
  <dcterms:created xsi:type="dcterms:W3CDTF">2021-09-21T01:47:00Z</dcterms:created>
  <dcterms:modified xsi:type="dcterms:W3CDTF">2024-11-11T04:10:20Z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0C913E5F127B45D48EDD7A61773297FC</vt:lpwstr>
  </property>
  <property fmtid="{D5CDD505-2E9C-101B-9397-08002B2CF9AE}" pid="3" name="KSOProductBuildVer">
    <vt:lpwstr>2052-11.1.0.11045</vt:lpwstr>
  </property>
</Properties>
</file>