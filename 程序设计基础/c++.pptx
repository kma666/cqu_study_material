
<file path=[Content_Types].xml><?xml version="1.0" encoding="utf-8"?>
<Types xmlns="http://schemas.openxmlformats.org/package/2006/content-types">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7" r:id="rId3"/>
    <p:sldId id="277" r:id="rId4"/>
    <p:sldId id="269" r:id="rId5"/>
    <p:sldId id="256" r:id="rId6"/>
    <p:sldId id="263" r:id="rId7"/>
    <p:sldId id="258" r:id="rId8"/>
    <p:sldId id="259" r:id="rId9"/>
    <p:sldId id="260" r:id="rId10"/>
    <p:sldId id="261" r:id="rId11"/>
    <p:sldId id="262" r:id="rId12"/>
  </p:sldIdLst>
  <p:sldSz cx="12192000" cy="6858000"/>
  <p:notesSz cx="6858000" cy="9144000"/>
  <p:custDataLst>
    <p:tags r:id="rId16"/>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116" d="100"/>
          <a:sy n="116" d="100"/>
        </p:scale>
        <p:origin x="336"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6" Type="http://schemas.openxmlformats.org/officeDocument/2006/relationships/tags" Target="tags/tag1.xml"/><Relationship Id="rId15" Type="http://schemas.openxmlformats.org/officeDocument/2006/relationships/tableStyles" Target="tableStyles.xml"/><Relationship Id="rId14" Type="http://schemas.openxmlformats.org/officeDocument/2006/relationships/viewProps" Target="viewProps.xml"/><Relationship Id="rId13" Type="http://schemas.openxmlformats.org/officeDocument/2006/relationships/presProps" Target="presProps.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单击此处编辑母版文本样式</a:t>
            </a:r>
            <a:endParaRPr lang="zh-CN" altLang="en-US" smtClean="0"/>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839788" y="2505075"/>
            <a:ext cx="5157787"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6172200" y="2505075"/>
            <a:ext cx="5183188"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97B5FA-0921-464F-AAE1-844C04324D75}"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65CE74E-AB26-4998-AD42-012C4C1AD076}"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1322070" y="1645920"/>
            <a:ext cx="4154170" cy="3222625"/>
          </a:xfrm>
        </p:spPr>
        <p:txBody>
          <a:bodyPr>
            <a:normAutofit/>
          </a:bodyPr>
          <a:p>
            <a:r>
              <a:rPr lang="zh-CN" altLang="en-US" sz="2400"/>
              <a:t>#include &lt;bits/stdc++.h&gt;</a:t>
            </a:r>
            <a:br>
              <a:rPr lang="zh-CN" altLang="en-US" sz="2400"/>
            </a:br>
            <a:r>
              <a:rPr lang="zh-CN" altLang="en-US" sz="2400"/>
              <a:t>using namespace std;</a:t>
            </a:r>
            <a:br>
              <a:rPr lang="zh-CN" altLang="en-US" sz="2400"/>
            </a:br>
            <a:r>
              <a:rPr lang="zh-CN" altLang="en-US" sz="2400"/>
              <a:t>int main()</a:t>
            </a:r>
            <a:br>
              <a:rPr lang="zh-CN" altLang="en-US" sz="2400"/>
            </a:br>
            <a:r>
              <a:rPr lang="zh-CN" altLang="en-US" sz="2400"/>
              <a:t>{</a:t>
            </a:r>
            <a:br>
              <a:rPr lang="zh-CN" altLang="en-US" sz="2400"/>
            </a:br>
            <a:r>
              <a:rPr lang="zh-CN" altLang="en-US" sz="2400"/>
              <a:t>    </a:t>
            </a:r>
            <a:br>
              <a:rPr lang="zh-CN" altLang="en-US" sz="2400"/>
            </a:br>
            <a:r>
              <a:rPr lang="zh-CN" altLang="en-US" sz="2400"/>
              <a:t>    return 0;</a:t>
            </a:r>
            <a:br>
              <a:rPr lang="zh-CN" altLang="en-US" sz="2400"/>
            </a:br>
            <a:r>
              <a:rPr lang="zh-CN" altLang="en-US" sz="2400"/>
              <a:t>}</a:t>
            </a:r>
            <a:endParaRPr lang="zh-CN" altLang="en-US" sz="2400"/>
          </a:p>
        </p:txBody>
      </p:sp>
      <p:sp>
        <p:nvSpPr>
          <p:cNvPr id="3" name="内容占位符 2"/>
          <p:cNvSpPr>
            <a:spLocks noGrp="1"/>
          </p:cNvSpPr>
          <p:nvPr>
            <p:ph idx="1"/>
          </p:nvPr>
        </p:nvSpPr>
        <p:spPr>
          <a:xfrm>
            <a:off x="6096000" y="721360"/>
            <a:ext cx="5589270" cy="5071745"/>
          </a:xfrm>
        </p:spPr>
        <p:txBody>
          <a:bodyPr>
            <a:normAutofit fontScale="25000"/>
          </a:bodyPr>
          <a:p>
            <a:r>
              <a:rPr lang="zh-CN" altLang="en-US" sz="4000"/>
              <a:t>优点：</a:t>
            </a:r>
            <a:endParaRPr lang="zh-CN" altLang="en-US" sz="4000"/>
          </a:p>
          <a:p>
            <a:endParaRPr lang="zh-CN" altLang="en-US" sz="4000"/>
          </a:p>
          <a:p>
            <a:r>
              <a:rPr lang="zh-CN" altLang="en-US" sz="4000"/>
              <a:t>  1、在竞赛中节约时间</a:t>
            </a:r>
            <a:endParaRPr lang="zh-CN" altLang="en-US" sz="4000"/>
          </a:p>
          <a:p>
            <a:endParaRPr lang="zh-CN" altLang="en-US" sz="4000"/>
          </a:p>
          <a:p>
            <a:r>
              <a:rPr lang="zh-CN" altLang="en-US" sz="4000"/>
              <a:t>  2、减少了编写所有必要头文件的工作量</a:t>
            </a:r>
            <a:endParaRPr lang="zh-CN" altLang="en-US" sz="4000"/>
          </a:p>
          <a:p>
            <a:endParaRPr lang="zh-CN" altLang="en-US" sz="4000"/>
          </a:p>
          <a:p>
            <a:r>
              <a:rPr lang="zh-CN" altLang="en-US" sz="4000"/>
              <a:t>  3、对于使用的每个函数，不用记住GNU C++的所有STL</a:t>
            </a:r>
            <a:endParaRPr lang="zh-CN" altLang="en-US" sz="4000"/>
          </a:p>
          <a:p>
            <a:endParaRPr lang="zh-CN" altLang="en-US" sz="4000"/>
          </a:p>
          <a:p>
            <a:r>
              <a:rPr lang="zh-CN" altLang="en-US" sz="4000"/>
              <a:t>  缺点：</a:t>
            </a:r>
            <a:endParaRPr lang="zh-CN" altLang="en-US" sz="4000"/>
          </a:p>
          <a:p>
            <a:endParaRPr lang="zh-CN" altLang="en-US" sz="4000"/>
          </a:p>
          <a:p>
            <a:r>
              <a:rPr lang="zh-CN" altLang="en-US" sz="4000"/>
              <a:t>  1、不属于GNU C++库的标准头文件，在部分情况下可能会失败</a:t>
            </a:r>
            <a:endParaRPr lang="zh-CN" altLang="en-US" sz="4000"/>
          </a:p>
          <a:p>
            <a:endParaRPr lang="zh-CN" altLang="en-US" sz="4000"/>
          </a:p>
          <a:p>
            <a:r>
              <a:rPr lang="zh-CN" altLang="en-US" sz="4000"/>
              <a:t>  2、使用它将包含许多不必要的东西，并增加编译时间</a:t>
            </a:r>
            <a:endParaRPr lang="zh-CN" altLang="en-US" sz="4000"/>
          </a:p>
          <a:p>
            <a:endParaRPr lang="zh-CN" altLang="en-US" sz="4000"/>
          </a:p>
          <a:p>
            <a:r>
              <a:rPr lang="zh-CN" altLang="en-US" sz="4000"/>
              <a:t>  3、这个头文件不是C++标准的一部分，因此是不可移植的，应该避免</a:t>
            </a:r>
            <a:endParaRPr lang="zh-CN" altLang="en-US" sz="4000"/>
          </a:p>
          <a:p>
            <a:endParaRPr lang="zh-CN" altLang="en-US" sz="4000"/>
          </a:p>
          <a:p>
            <a:r>
              <a:rPr lang="zh-CN" altLang="en-US" sz="4000"/>
              <a:t>  4、编译器每次编译翻译单元时都必须实际读取和分析每个包含的头文件，应该减少这类头文件的使用</a:t>
            </a:r>
            <a:endParaRPr lang="zh-CN" altLang="en-US" sz="4000"/>
          </a:p>
        </p:txBody>
      </p:sp>
      <p:sp>
        <p:nvSpPr>
          <p:cNvPr id="4" name="文本框 3"/>
          <p:cNvSpPr txBox="1"/>
          <p:nvPr/>
        </p:nvSpPr>
        <p:spPr>
          <a:xfrm>
            <a:off x="1071245" y="481965"/>
            <a:ext cx="4655820" cy="829945"/>
          </a:xfrm>
          <a:prstGeom prst="rect">
            <a:avLst/>
          </a:prstGeom>
          <a:noFill/>
        </p:spPr>
        <p:txBody>
          <a:bodyPr wrap="square" rtlCol="0">
            <a:spAutoFit/>
          </a:bodyPr>
          <a:p>
            <a:r>
              <a:rPr lang="en-US" altLang="zh-CN" sz="4800" b="1"/>
              <a:t>c++</a:t>
            </a:r>
            <a:r>
              <a:rPr lang="zh-CN" altLang="en-US" sz="4800" b="1"/>
              <a:t>万能头文件</a:t>
            </a:r>
            <a:endParaRPr lang="zh-CN" altLang="en-US" sz="4800" b="1"/>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ym typeface="+mn-ea"/>
              </a:rPr>
              <a:t>#include &lt;iomanip&gt;</a:t>
            </a:r>
            <a:endParaRPr lang="zh-CN" altLang="en-US"/>
          </a:p>
        </p:txBody>
      </p:sp>
      <p:sp>
        <p:nvSpPr>
          <p:cNvPr id="3" name="内容占位符 2"/>
          <p:cNvSpPr>
            <a:spLocks noGrp="1"/>
          </p:cNvSpPr>
          <p:nvPr>
            <p:ph idx="1"/>
          </p:nvPr>
        </p:nvSpPr>
        <p:spPr/>
        <p:txBody>
          <a:bodyPr/>
          <a:p>
            <a:r>
              <a:rPr lang="zh-CN" altLang="en-US"/>
              <a:t>在C++中，#include &lt;iomanip&gt;是一个预处理指令，它告诉编译器要包含 &lt;iomanip&gt; 头文件。&lt;iomanip&gt; 头文件是C++标准库中的一部分，主要用于格式化输入输出流。</a:t>
            </a:r>
            <a:endParaRPr lang="zh-CN" altLang="en-US"/>
          </a:p>
          <a:p>
            <a:endParaRPr lang="zh-CN" altLang="en-US"/>
          </a:p>
          <a:p>
            <a:r>
              <a:rPr lang="zh-CN" altLang="en-US"/>
              <a:t>&lt;iomanip&gt; 头文件提供了一组操作符和函数，用于控制输入和输出流的格式。它允许你设置字段宽度、填充字符、精度等属性，以便更好地控制数据的显示方式。</a:t>
            </a:r>
            <a:endParaRPr lang="zh-CN" alt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冒泡</a:t>
            </a:r>
            <a:r>
              <a:rPr lang="zh-CN" altLang="en-US"/>
              <a:t>排序</a:t>
            </a:r>
            <a:endParaRPr lang="zh-CN" altLang="en-US"/>
          </a:p>
        </p:txBody>
      </p:sp>
      <p:sp>
        <p:nvSpPr>
          <p:cNvPr id="3" name="内容占位符 2"/>
          <p:cNvSpPr>
            <a:spLocks noGrp="1"/>
          </p:cNvSpPr>
          <p:nvPr>
            <p:ph idx="1"/>
          </p:nvPr>
        </p:nvSpPr>
        <p:spPr/>
        <p:txBody>
          <a:bodyPr>
            <a:normAutofit lnSpcReduction="10000"/>
          </a:bodyPr>
          <a:p>
            <a:r>
              <a:rPr lang="zh-CN" altLang="en-US"/>
              <a:t>    for(int i=0;i&lt;n-1;i++){</a:t>
            </a:r>
            <a:endParaRPr lang="zh-CN" altLang="en-US"/>
          </a:p>
          <a:p>
            <a:r>
              <a:rPr lang="zh-CN" altLang="en-US"/>
              <a:t>        for(int j=i;j&lt;n;j++){</a:t>
            </a:r>
            <a:endParaRPr lang="zh-CN" altLang="en-US"/>
          </a:p>
          <a:p>
            <a:r>
              <a:rPr lang="zh-CN" altLang="en-US"/>
              <a:t>            if(a[i]&lt;a[j]){</a:t>
            </a:r>
            <a:endParaRPr lang="zh-CN" altLang="en-US"/>
          </a:p>
          <a:p>
            <a:r>
              <a:rPr lang="zh-CN" altLang="en-US"/>
              <a:t>                int t=a[i];</a:t>
            </a:r>
            <a:endParaRPr lang="zh-CN" altLang="en-US"/>
          </a:p>
          <a:p>
            <a:r>
              <a:rPr lang="zh-CN" altLang="en-US"/>
              <a:t>                a[i]=a[j];</a:t>
            </a:r>
            <a:endParaRPr lang="zh-CN" altLang="en-US"/>
          </a:p>
          <a:p>
            <a:r>
              <a:rPr lang="zh-CN" altLang="en-US"/>
              <a:t>                a[j]=t;</a:t>
            </a:r>
            <a:endParaRPr lang="zh-CN" altLang="en-US"/>
          </a:p>
          <a:p>
            <a:r>
              <a:rPr lang="zh-CN" altLang="en-US"/>
              <a:t>            }</a:t>
            </a:r>
            <a:endParaRPr lang="zh-CN" altLang="en-US"/>
          </a:p>
          <a:p>
            <a:r>
              <a:rPr lang="zh-CN" altLang="en-US"/>
              <a:t>        }</a:t>
            </a:r>
            <a:endParaRPr lang="zh-CN" altLang="en-US"/>
          </a:p>
          <a:p>
            <a:r>
              <a:rPr lang="zh-CN" altLang="en-US"/>
              <a:t>    }</a:t>
            </a:r>
            <a:endParaRPr lang="zh-CN" alt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文本框 3"/>
          <p:cNvSpPr txBox="1"/>
          <p:nvPr/>
        </p:nvSpPr>
        <p:spPr>
          <a:xfrm>
            <a:off x="4163060" y="965835"/>
            <a:ext cx="6117590" cy="3415030"/>
          </a:xfrm>
          <a:prstGeom prst="rect">
            <a:avLst/>
          </a:prstGeom>
          <a:noFill/>
        </p:spPr>
        <p:txBody>
          <a:bodyPr wrap="square" rtlCol="0">
            <a:spAutoFit/>
          </a:bodyPr>
          <a:p>
            <a:r>
              <a:rPr lang="zh-CN" altLang="en-US"/>
              <a:t>factorial *= i; 是一个复合赋值语句，用于计算阶乘。这个语句的作用是将 factorial 的当前值乘以 i，并将结果赋值给 factorial。</a:t>
            </a:r>
            <a:endParaRPr lang="zh-CN" altLang="en-US"/>
          </a:p>
          <a:p>
            <a:endParaRPr lang="zh-CN" altLang="en-US"/>
          </a:p>
          <a:p>
            <a:r>
              <a:rPr lang="zh-CN" altLang="en-US"/>
              <a:t>在循环中，这个语句用于逐步计算 i!（i的阶乘）。初始时，factorial 被赋值为 1。在每次循环迭代中，factorial 的值都会乘以当前的 i，从而得到 i!。</a:t>
            </a:r>
            <a:endParaRPr lang="zh-CN" altLang="en-US"/>
          </a:p>
          <a:p>
            <a:endParaRPr lang="zh-CN" altLang="en-US"/>
          </a:p>
          <a:p>
            <a:r>
              <a:rPr lang="zh-CN" altLang="en-US"/>
              <a:t>例如，如果 i 是 5，那么在执行 factorial *= i; 之后，factorial 的值就会变成 5!（即 120）。这个语句使得我们能够在每次循环迭代中高效地更新 factorial 的值，而不需要每次都重新计算整个阶乘。</a:t>
            </a:r>
            <a:endParaRPr lang="zh-CN" altLang="en-US"/>
          </a:p>
        </p:txBody>
      </p:sp>
      <p:sp>
        <p:nvSpPr>
          <p:cNvPr id="5" name="矩形 4"/>
          <p:cNvSpPr/>
          <p:nvPr/>
        </p:nvSpPr>
        <p:spPr>
          <a:xfrm>
            <a:off x="1056005" y="428625"/>
            <a:ext cx="2011680" cy="1198880"/>
          </a:xfrm>
          <a:prstGeom prst="rect">
            <a:avLst/>
          </a:prstGeom>
          <a:noFill/>
          <a:ln>
            <a:noFill/>
          </a:ln>
        </p:spPr>
        <p:txBody>
          <a:bodyPr wrap="none" rtlCol="0" anchor="t">
            <a:spAutoFit/>
          </a:bodyPr>
          <a:p>
            <a:pPr algn="ctr"/>
            <a:r>
              <a:rPr lang="zh-CN" altLang="en-US" sz="7200" b="1">
                <a:solidFill>
                  <a:schemeClr val="tx1"/>
                </a:solidFill>
                <a:effectLst>
                  <a:outerShdw blurRad="38100" dist="19050" dir="2700000" algn="tl" rotWithShape="0">
                    <a:schemeClr val="dk1">
                      <a:alpha val="40000"/>
                    </a:schemeClr>
                  </a:outerShdw>
                </a:effectLst>
              </a:rPr>
              <a:t>阶乘</a:t>
            </a:r>
            <a:endParaRPr lang="zh-CN" altLang="en-US" sz="7200" b="1">
              <a:solidFill>
                <a:schemeClr val="tx1"/>
              </a:solidFill>
              <a:effectLst>
                <a:outerShdw blurRad="38100" dist="19050" dir="2700000" algn="tl" rotWithShape="0">
                  <a:schemeClr val="dk1">
                    <a:alpha val="40000"/>
                  </a:schemeClr>
                </a:outerShdw>
              </a:effectLst>
            </a:endParaRPr>
          </a:p>
        </p:txBody>
      </p:sp>
      <p:sp>
        <p:nvSpPr>
          <p:cNvPr id="2" name="文本框 1"/>
          <p:cNvSpPr txBox="1"/>
          <p:nvPr/>
        </p:nvSpPr>
        <p:spPr>
          <a:xfrm>
            <a:off x="517525" y="2075815"/>
            <a:ext cx="3908425" cy="4523105"/>
          </a:xfrm>
          <a:prstGeom prst="rect">
            <a:avLst/>
          </a:prstGeom>
          <a:noFill/>
        </p:spPr>
        <p:txBody>
          <a:bodyPr wrap="square" rtlCol="0">
            <a:spAutoFit/>
          </a:bodyPr>
          <a:p>
            <a:r>
              <a:rPr lang="zh-CN" altLang="en-US">
                <a:solidFill>
                  <a:srgbClr val="FF0000"/>
                </a:solidFill>
              </a:rPr>
              <a:t>#include &lt;bits/stdc++.h&gt;</a:t>
            </a:r>
            <a:endParaRPr lang="zh-CN" altLang="en-US">
              <a:solidFill>
                <a:srgbClr val="FF0000"/>
              </a:solidFill>
            </a:endParaRPr>
          </a:p>
          <a:p>
            <a:r>
              <a:rPr lang="zh-CN" altLang="en-US">
                <a:solidFill>
                  <a:srgbClr val="FF0000"/>
                </a:solidFill>
              </a:rPr>
              <a:t>using namespace std;</a:t>
            </a:r>
            <a:endParaRPr lang="zh-CN" altLang="en-US">
              <a:solidFill>
                <a:srgbClr val="FF0000"/>
              </a:solidFill>
            </a:endParaRPr>
          </a:p>
          <a:p>
            <a:r>
              <a:rPr lang="zh-CN" altLang="en-US">
                <a:solidFill>
                  <a:srgbClr val="FF0000"/>
                </a:solidFill>
              </a:rPr>
              <a:t>int factorial(int num)</a:t>
            </a:r>
            <a:endParaRPr lang="zh-CN" altLang="en-US">
              <a:solidFill>
                <a:srgbClr val="FF0000"/>
              </a:solidFill>
            </a:endParaRPr>
          </a:p>
          <a:p>
            <a:r>
              <a:rPr lang="zh-CN" altLang="en-US">
                <a:solidFill>
                  <a:srgbClr val="FF0000"/>
                </a:solidFill>
              </a:rPr>
              <a:t>{</a:t>
            </a:r>
            <a:endParaRPr lang="zh-CN" altLang="en-US">
              <a:solidFill>
                <a:srgbClr val="FF0000"/>
              </a:solidFill>
            </a:endParaRPr>
          </a:p>
          <a:p>
            <a:r>
              <a:rPr lang="zh-CN" altLang="en-US">
                <a:solidFill>
                  <a:srgbClr val="FF0000"/>
                </a:solidFill>
              </a:rPr>
              <a:t>    int sum = 1;</a:t>
            </a:r>
            <a:endParaRPr lang="zh-CN" altLang="en-US">
              <a:solidFill>
                <a:srgbClr val="FF0000"/>
              </a:solidFill>
            </a:endParaRPr>
          </a:p>
          <a:p>
            <a:r>
              <a:rPr lang="zh-CN" altLang="en-US">
                <a:solidFill>
                  <a:srgbClr val="FF0000"/>
                </a:solidFill>
              </a:rPr>
              <a:t>    for (int i = 1; i &lt;= num; i++)</a:t>
            </a:r>
            <a:endParaRPr lang="zh-CN" altLang="en-US">
              <a:solidFill>
                <a:srgbClr val="FF0000"/>
              </a:solidFill>
            </a:endParaRPr>
          </a:p>
          <a:p>
            <a:r>
              <a:rPr lang="zh-CN" altLang="en-US">
                <a:solidFill>
                  <a:srgbClr val="FF0000"/>
                </a:solidFill>
              </a:rPr>
              <a:t>        sum *= i;</a:t>
            </a:r>
            <a:endParaRPr lang="zh-CN" altLang="en-US">
              <a:solidFill>
                <a:srgbClr val="FF0000"/>
              </a:solidFill>
            </a:endParaRPr>
          </a:p>
          <a:p>
            <a:r>
              <a:rPr lang="zh-CN" altLang="en-US">
                <a:solidFill>
                  <a:srgbClr val="FF0000"/>
                </a:solidFill>
              </a:rPr>
              <a:t>    return sum;</a:t>
            </a:r>
            <a:endParaRPr lang="zh-CN" altLang="en-US">
              <a:solidFill>
                <a:srgbClr val="FF0000"/>
              </a:solidFill>
            </a:endParaRPr>
          </a:p>
          <a:p>
            <a:r>
              <a:rPr lang="zh-CN" altLang="en-US">
                <a:solidFill>
                  <a:srgbClr val="FF0000"/>
                </a:solidFill>
              </a:rPr>
              <a:t>}</a:t>
            </a:r>
            <a:endParaRPr lang="zh-CN" altLang="en-US">
              <a:solidFill>
                <a:srgbClr val="FF0000"/>
              </a:solidFill>
            </a:endParaRPr>
          </a:p>
          <a:p>
            <a:r>
              <a:rPr lang="zh-CN" altLang="en-US">
                <a:solidFill>
                  <a:srgbClr val="FF0000"/>
                </a:solidFill>
              </a:rPr>
              <a:t>int main()</a:t>
            </a:r>
            <a:endParaRPr lang="zh-CN" altLang="en-US">
              <a:solidFill>
                <a:srgbClr val="FF0000"/>
              </a:solidFill>
            </a:endParaRPr>
          </a:p>
          <a:p>
            <a:r>
              <a:rPr lang="zh-CN" altLang="en-US">
                <a:solidFill>
                  <a:srgbClr val="FF0000"/>
                </a:solidFill>
              </a:rPr>
              <a:t>{</a:t>
            </a:r>
            <a:endParaRPr lang="zh-CN" altLang="en-US">
              <a:solidFill>
                <a:srgbClr val="FF0000"/>
              </a:solidFill>
            </a:endParaRPr>
          </a:p>
          <a:p>
            <a:r>
              <a:rPr lang="zh-CN" altLang="en-US">
                <a:solidFill>
                  <a:srgbClr val="FF0000"/>
                </a:solidFill>
              </a:rPr>
              <a:t>    int i;</a:t>
            </a:r>
            <a:endParaRPr lang="zh-CN" altLang="en-US">
              <a:solidFill>
                <a:srgbClr val="FF0000"/>
              </a:solidFill>
            </a:endParaRPr>
          </a:p>
          <a:p>
            <a:r>
              <a:rPr lang="zh-CN" altLang="en-US">
                <a:solidFill>
                  <a:srgbClr val="FF0000"/>
                </a:solidFill>
              </a:rPr>
              <a:t>    cin&gt;&gt;i;</a:t>
            </a:r>
            <a:endParaRPr lang="zh-CN" altLang="en-US">
              <a:solidFill>
                <a:srgbClr val="FF0000"/>
              </a:solidFill>
            </a:endParaRPr>
          </a:p>
          <a:p>
            <a:r>
              <a:rPr lang="zh-CN" altLang="en-US">
                <a:solidFill>
                  <a:srgbClr val="FF0000"/>
                </a:solidFill>
              </a:rPr>
              <a:t>    cout&lt;&lt;factorial(i);</a:t>
            </a:r>
            <a:endParaRPr lang="zh-CN" altLang="en-US">
              <a:solidFill>
                <a:srgbClr val="FF0000"/>
              </a:solidFill>
            </a:endParaRPr>
          </a:p>
          <a:p>
            <a:r>
              <a:rPr lang="zh-CN" altLang="en-US">
                <a:solidFill>
                  <a:srgbClr val="FF0000"/>
                </a:solidFill>
              </a:rPr>
              <a:t>    return 0;</a:t>
            </a:r>
            <a:endParaRPr lang="zh-CN" altLang="en-US">
              <a:solidFill>
                <a:srgbClr val="FF0000"/>
              </a:solidFill>
            </a:endParaRPr>
          </a:p>
          <a:p>
            <a:r>
              <a:rPr lang="zh-CN" altLang="en-US">
                <a:solidFill>
                  <a:srgbClr val="FF0000"/>
                </a:solidFill>
              </a:rPr>
              <a:t>}</a:t>
            </a:r>
            <a:endParaRPr lang="zh-CN" altLang="en-US">
              <a:solidFill>
                <a:srgbClr val="FF0000"/>
              </a:solidFill>
            </a:endParaRPr>
          </a:p>
        </p:txBody>
      </p:sp>
      <p:sp>
        <p:nvSpPr>
          <p:cNvPr id="3" name="文本框 2"/>
          <p:cNvSpPr txBox="1"/>
          <p:nvPr/>
        </p:nvSpPr>
        <p:spPr>
          <a:xfrm>
            <a:off x="3437255" y="4601845"/>
            <a:ext cx="2433320" cy="1753235"/>
          </a:xfrm>
          <a:prstGeom prst="rect">
            <a:avLst/>
          </a:prstGeom>
          <a:noFill/>
        </p:spPr>
        <p:txBody>
          <a:bodyPr wrap="square" rtlCol="0">
            <a:spAutoFit/>
          </a:bodyPr>
          <a:p>
            <a:endParaRPr lang="zh-CN" altLang="en-US"/>
          </a:p>
          <a:p>
            <a:r>
              <a:rPr lang="zh-CN" altLang="en-US"/>
              <a:t>    while(x != 0）</a:t>
            </a:r>
            <a:endParaRPr lang="zh-CN" altLang="en-US"/>
          </a:p>
          <a:p>
            <a:r>
              <a:rPr lang="zh-CN" altLang="en-US"/>
              <a:t>     {</a:t>
            </a:r>
            <a:endParaRPr lang="zh-CN" altLang="en-US"/>
          </a:p>
          <a:p>
            <a:r>
              <a:rPr lang="zh-CN" altLang="en-US"/>
              <a:t>        sum *= x;</a:t>
            </a:r>
            <a:endParaRPr lang="zh-CN" altLang="en-US"/>
          </a:p>
          <a:p>
            <a:r>
              <a:rPr lang="zh-CN" altLang="en-US"/>
              <a:t>        x--;</a:t>
            </a:r>
            <a:endParaRPr lang="zh-CN" altLang="en-US"/>
          </a:p>
          <a:p>
            <a:r>
              <a:rPr lang="zh-CN" altLang="en-US"/>
              <a:t>     }</a:t>
            </a:r>
            <a:endParaRPr lang="zh-CN" alt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b="1">
                <a:sym typeface="+mn-ea"/>
              </a:rPr>
              <a:t>printf</a:t>
            </a:r>
            <a:endParaRPr lang="zh-CN" altLang="en-US" b="1"/>
          </a:p>
        </p:txBody>
      </p:sp>
      <p:sp>
        <p:nvSpPr>
          <p:cNvPr id="3" name="内容占位符 2"/>
          <p:cNvSpPr>
            <a:spLocks noGrp="1"/>
          </p:cNvSpPr>
          <p:nvPr>
            <p:ph idx="1"/>
          </p:nvPr>
        </p:nvSpPr>
        <p:spPr/>
        <p:txBody>
          <a:bodyPr/>
          <a:p>
            <a:r>
              <a:rPr lang="zh-CN" altLang="en-US"/>
              <a:t>printf("%.2f",avg);</a:t>
            </a:r>
            <a:r>
              <a:rPr lang="en-US" altLang="zh-CN"/>
              <a:t>//avg</a:t>
            </a:r>
            <a:r>
              <a:rPr lang="zh-CN" altLang="en-US"/>
              <a:t>输出时保留小数点</a:t>
            </a:r>
            <a:r>
              <a:rPr lang="zh-CN" altLang="en-US"/>
              <a:t>后两位。</a:t>
            </a:r>
            <a:endParaRPr lang="zh-CN" altLang="en-US"/>
          </a:p>
          <a:p>
            <a:r>
              <a:rPr lang="zh-CN" altLang="en-US"/>
              <a:t>printf("average = %.2f\nmax = %.2f\nmin = %.2f",avg,max,min);</a:t>
            </a:r>
            <a:endParaRPr lang="zh-CN" alt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890905" y="285115"/>
            <a:ext cx="4973955" cy="6057900"/>
          </a:xfrm>
        </p:spPr>
        <p:txBody>
          <a:bodyPr>
            <a:normAutofit fontScale="25000"/>
          </a:bodyPr>
          <a:p>
            <a:r>
              <a:rPr lang="zh-CN" altLang="en-US" sz="12800" b="1"/>
              <a:t>strncpy()函数</a:t>
            </a:r>
            <a:endParaRPr lang="zh-CN" altLang="en-US" sz="12800" b="1"/>
          </a:p>
          <a:p>
            <a:r>
              <a:rPr lang="zh-CN" altLang="en-US" sz="4000"/>
              <a:t>char *strncpy(char *dest, const char *src, size_t n) 把 src 所指向的字符串复制到 dest，最多复制 n 个字符。当 src 的长度小于 n 时，dest 的剩余部分将用空字节填充。</a:t>
            </a:r>
            <a:endParaRPr lang="zh-CN" altLang="en-US" sz="4000"/>
          </a:p>
          <a:p>
            <a:endParaRPr lang="zh-CN" altLang="en-US"/>
          </a:p>
          <a:p>
            <a:r>
              <a:rPr lang="zh-CN" altLang="en-US"/>
              <a:t>格式</a:t>
            </a:r>
            <a:endParaRPr lang="zh-CN" altLang="en-US"/>
          </a:p>
          <a:p>
            <a:r>
              <a:rPr lang="zh-CN" altLang="en-US"/>
              <a:t>char *strncpy(char *dest, const char *src, size_t n)</a:t>
            </a:r>
            <a:endParaRPr lang="zh-CN" altLang="en-US"/>
          </a:p>
          <a:p>
            <a:r>
              <a:rPr lang="zh-CN" altLang="en-US"/>
              <a:t>char *strncpy(存储复制内容的目标数组, 要复制的字符串, 从源中复制的字符数)</a:t>
            </a:r>
            <a:endParaRPr lang="zh-CN" altLang="en-US"/>
          </a:p>
          <a:p>
            <a:r>
              <a:rPr lang="zh-CN" altLang="en-US"/>
              <a:t>dest – 指向用于存储复制内容的目标数组。</a:t>
            </a:r>
            <a:endParaRPr lang="zh-CN" altLang="en-US"/>
          </a:p>
          <a:p>
            <a:r>
              <a:rPr lang="zh-CN" altLang="en-US"/>
              <a:t>src – 要复制的字符串。</a:t>
            </a:r>
            <a:endParaRPr lang="zh-CN" altLang="en-US"/>
          </a:p>
          <a:p>
            <a:r>
              <a:rPr lang="zh-CN" altLang="en-US"/>
              <a:t>n – 要从源中复制的字符数。</a:t>
            </a:r>
            <a:endParaRPr lang="zh-CN" altLang="en-US"/>
          </a:p>
          <a:p>
            <a:r>
              <a:rPr lang="zh-CN" altLang="en-US"/>
              <a:t>该函数返回最终复制的字符串。</a:t>
            </a:r>
            <a:endParaRPr lang="zh-CN" altLang="en-US"/>
          </a:p>
          <a:p>
            <a:endParaRPr lang="zh-CN" altLang="en-US"/>
          </a:p>
          <a:p>
            <a:r>
              <a:rPr lang="zh-CN" altLang="en-US"/>
              <a:t>案例</a:t>
            </a:r>
            <a:endParaRPr lang="zh-CN" altLang="en-US"/>
          </a:p>
          <a:p>
            <a:r>
              <a:rPr lang="zh-CN" altLang="en-US"/>
              <a:t>#include &lt;stdio.h&gt;</a:t>
            </a:r>
            <a:endParaRPr lang="zh-CN" altLang="en-US"/>
          </a:p>
          <a:p>
            <a:r>
              <a:rPr lang="zh-CN" altLang="en-US"/>
              <a:t>int main(){</a:t>
            </a:r>
            <a:endParaRPr lang="zh-CN" altLang="en-US"/>
          </a:p>
          <a:p>
            <a:r>
              <a:rPr lang="zh-CN" altLang="en-US"/>
              <a:t>char src[40];</a:t>
            </a:r>
            <a:endParaRPr lang="zh-CN" altLang="en-US"/>
          </a:p>
          <a:p>
            <a:r>
              <a:rPr lang="zh-CN" altLang="en-US"/>
              <a:t>char dest[12];</a:t>
            </a:r>
            <a:endParaRPr lang="zh-CN" altLang="en-US"/>
          </a:p>
          <a:p>
            <a:endParaRPr lang="zh-CN" altLang="en-US"/>
          </a:p>
          <a:p>
            <a:r>
              <a:rPr lang="zh-CN" altLang="en-US"/>
              <a:t>memset(dest, ‘\0’, sizeof(dest));</a:t>
            </a:r>
            <a:endParaRPr lang="zh-CN" altLang="en-US"/>
          </a:p>
          <a:p>
            <a:r>
              <a:rPr lang="zh-CN" altLang="en-US"/>
              <a:t>strcpy(src, “This is codercto.com”);</a:t>
            </a:r>
            <a:endParaRPr lang="zh-CN" altLang="en-US"/>
          </a:p>
          <a:p>
            <a:r>
              <a:rPr lang="zh-CN" altLang="en-US"/>
              <a:t>strncpy(dest, src, 10);</a:t>
            </a:r>
            <a:endParaRPr lang="zh-CN" altLang="en-US"/>
          </a:p>
          <a:p>
            <a:r>
              <a:rPr lang="zh-CN" altLang="en-US"/>
              <a:t>printf(“最终的目标字符串： %s\n”, dest);</a:t>
            </a:r>
            <a:endParaRPr lang="zh-CN" altLang="en-US"/>
          </a:p>
          <a:p>
            <a:endParaRPr lang="zh-CN" altLang="en-US"/>
          </a:p>
          <a:p>
            <a:r>
              <a:rPr lang="zh-CN" altLang="en-US"/>
              <a:t>return(0);</a:t>
            </a:r>
            <a:endParaRPr lang="zh-CN" altLang="en-US"/>
          </a:p>
          <a:p>
            <a:r>
              <a:rPr lang="zh-CN" altLang="en-US"/>
              <a:t>}</a:t>
            </a:r>
            <a:endParaRPr lang="zh-CN" alt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素数</a:t>
            </a:r>
            <a:endParaRPr lang="zh-CN" altLang="en-US"/>
          </a:p>
        </p:txBody>
      </p:sp>
      <p:sp>
        <p:nvSpPr>
          <p:cNvPr id="3" name="内容占位符 2"/>
          <p:cNvSpPr>
            <a:spLocks noGrp="1"/>
          </p:cNvSpPr>
          <p:nvPr>
            <p:ph idx="1"/>
          </p:nvPr>
        </p:nvSpPr>
        <p:spPr/>
        <p:txBody>
          <a:bodyPr>
            <a:normAutofit lnSpcReduction="20000"/>
          </a:bodyPr>
          <a:p>
            <a:r>
              <a:rPr lang="zh-CN" altLang="en-US"/>
              <a:t>int prim(int n)</a:t>
            </a:r>
            <a:endParaRPr lang="zh-CN" altLang="en-US"/>
          </a:p>
          <a:p>
            <a:r>
              <a:rPr lang="zh-CN" altLang="en-US"/>
              <a:t>{</a:t>
            </a:r>
            <a:endParaRPr lang="zh-CN" altLang="en-US"/>
          </a:p>
          <a:p>
            <a:r>
              <a:rPr lang="zh-CN" altLang="en-US"/>
              <a:t>    if(n == 0 || n == 1) return 0;</a:t>
            </a:r>
            <a:endParaRPr lang="zh-CN" altLang="en-US"/>
          </a:p>
          <a:p>
            <a:r>
              <a:rPr lang="zh-CN" altLang="en-US"/>
              <a:t>    for(int i = 2;i*i &lt;= n;i++){</a:t>
            </a:r>
            <a:endParaRPr lang="zh-CN" altLang="en-US"/>
          </a:p>
          <a:p>
            <a:r>
              <a:rPr lang="zh-CN" altLang="en-US"/>
              <a:t>        if(n%i == 0){</a:t>
            </a:r>
            <a:endParaRPr lang="zh-CN" altLang="en-US"/>
          </a:p>
          <a:p>
            <a:r>
              <a:rPr lang="zh-CN" altLang="en-US"/>
              <a:t>            return 0;</a:t>
            </a:r>
            <a:endParaRPr lang="zh-CN" altLang="en-US"/>
          </a:p>
          <a:p>
            <a:r>
              <a:rPr lang="zh-CN" altLang="en-US"/>
              <a:t>        }</a:t>
            </a:r>
            <a:endParaRPr lang="zh-CN" altLang="en-US"/>
          </a:p>
          <a:p>
            <a:r>
              <a:rPr lang="zh-CN" altLang="en-US"/>
              <a:t>    }</a:t>
            </a:r>
            <a:endParaRPr lang="zh-CN" altLang="en-US"/>
          </a:p>
          <a:p>
            <a:r>
              <a:rPr lang="zh-CN" altLang="en-US"/>
              <a:t>    return 1;</a:t>
            </a:r>
            <a:endParaRPr lang="zh-CN" altLang="en-US"/>
          </a:p>
          <a:p>
            <a:r>
              <a:rPr lang="zh-CN" altLang="en-US"/>
              <a:t>}</a:t>
            </a:r>
            <a:endParaRPr lang="zh-CN" alt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838200" y="365125"/>
            <a:ext cx="2084070" cy="1325880"/>
          </a:xfrm>
        </p:spPr>
        <p:txBody>
          <a:bodyPr/>
          <a:p>
            <a:r>
              <a:rPr lang="zh-CN" altLang="en-US" b="1"/>
              <a:t>substr</a:t>
            </a:r>
            <a:endParaRPr lang="zh-CN" altLang="en-US" b="1"/>
          </a:p>
        </p:txBody>
      </p:sp>
      <p:sp>
        <p:nvSpPr>
          <p:cNvPr id="3" name="内容占位符 2"/>
          <p:cNvSpPr>
            <a:spLocks noGrp="1"/>
          </p:cNvSpPr>
          <p:nvPr>
            <p:ph idx="1"/>
          </p:nvPr>
        </p:nvSpPr>
        <p:spPr/>
        <p:txBody>
          <a:bodyPr/>
          <a:p>
            <a:r>
              <a:rPr lang="zh-CN" altLang="en-US"/>
              <a:t>temp = s.substr(i,k);//截取</a:t>
            </a:r>
            <a:r>
              <a:rPr lang="en-US" altLang="zh-CN"/>
              <a:t>s</a:t>
            </a:r>
            <a:r>
              <a:rPr lang="zh-CN" altLang="en-US"/>
              <a:t>中的</a:t>
            </a:r>
            <a:r>
              <a:rPr lang="zh-CN" altLang="en-US">
                <a:sym typeface="+mn-ea"/>
              </a:rPr>
              <a:t>字符，从</a:t>
            </a:r>
            <a:r>
              <a:rPr lang="zh-CN" altLang="en-US"/>
              <a:t>i开始，截k个</a:t>
            </a:r>
            <a:r>
              <a:rPr lang="zh-CN" altLang="en-US">
                <a:sym typeface="+mn-ea"/>
              </a:rPr>
              <a:t>字符</a:t>
            </a:r>
            <a:endParaRPr lang="zh-CN" alt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b="1">
                <a:sym typeface="+mn-ea"/>
              </a:rPr>
              <a:t>stoi</a:t>
            </a:r>
            <a:endParaRPr lang="zh-CN" altLang="en-US" b="1"/>
          </a:p>
        </p:txBody>
      </p:sp>
      <p:sp>
        <p:nvSpPr>
          <p:cNvPr id="3" name="内容占位符 2"/>
          <p:cNvSpPr>
            <a:spLocks noGrp="1"/>
          </p:cNvSpPr>
          <p:nvPr>
            <p:ph idx="1"/>
          </p:nvPr>
        </p:nvSpPr>
        <p:spPr/>
        <p:txBody>
          <a:bodyPr/>
          <a:p>
            <a:r>
              <a:rPr lang="zh-CN" altLang="en-US"/>
              <a:t>a = stoi(temp); //将string类型转化为int类型</a:t>
            </a:r>
            <a:endParaRPr lang="zh-CN" alt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以16进制格式打印v的值</a:t>
            </a:r>
            <a:endParaRPr lang="zh-CN" altLang="en-US"/>
          </a:p>
        </p:txBody>
      </p:sp>
      <p:sp>
        <p:nvSpPr>
          <p:cNvPr id="3" name="内容占位符 2"/>
          <p:cNvSpPr>
            <a:spLocks noGrp="1"/>
          </p:cNvSpPr>
          <p:nvPr>
            <p:ph idx="1"/>
          </p:nvPr>
        </p:nvSpPr>
        <p:spPr>
          <a:xfrm>
            <a:off x="838200" y="1825625"/>
            <a:ext cx="2592705" cy="4351655"/>
          </a:xfrm>
        </p:spPr>
        <p:txBody>
          <a:bodyPr>
            <a:normAutofit fontScale="60000"/>
          </a:bodyPr>
          <a:p>
            <a:r>
              <a:rPr lang="zh-CN" altLang="en-US"/>
              <a:t>#include&lt;iostream&gt;</a:t>
            </a:r>
            <a:endParaRPr lang="zh-CN" altLang="en-US"/>
          </a:p>
          <a:p>
            <a:endParaRPr lang="zh-CN" altLang="en-US"/>
          </a:p>
          <a:p>
            <a:r>
              <a:rPr lang="zh-CN" altLang="en-US"/>
              <a:t>using namespace std;</a:t>
            </a:r>
            <a:endParaRPr lang="zh-CN" altLang="en-US"/>
          </a:p>
          <a:p>
            <a:r>
              <a:rPr lang="zh-CN" altLang="en-US"/>
              <a:t>int main()</a:t>
            </a:r>
            <a:endParaRPr lang="zh-CN" altLang="en-US"/>
          </a:p>
          <a:p>
            <a:r>
              <a:rPr lang="zh-CN" altLang="en-US"/>
              <a:t>{</a:t>
            </a:r>
            <a:endParaRPr lang="zh-CN" altLang="en-US"/>
          </a:p>
          <a:p>
            <a:r>
              <a:rPr lang="zh-CN" altLang="en-US"/>
              <a:t>    unsigned int v;</a:t>
            </a:r>
            <a:endParaRPr lang="zh-CN" altLang="en-US"/>
          </a:p>
          <a:p>
            <a:r>
              <a:rPr lang="zh-CN" altLang="en-US"/>
              <a:t>    cin &gt;&gt; v;</a:t>
            </a:r>
            <a:endParaRPr lang="zh-CN" altLang="en-US"/>
          </a:p>
          <a:p>
            <a:r>
              <a:rPr lang="zh-CN" altLang="en-US"/>
              <a:t>    cout &lt;&lt; </a:t>
            </a:r>
            <a:r>
              <a:rPr lang="zh-CN" altLang="en-US">
                <a:solidFill>
                  <a:srgbClr val="FF0000"/>
                </a:solidFill>
              </a:rPr>
              <a:t>hex</a:t>
            </a:r>
            <a:r>
              <a:rPr lang="zh-CN" altLang="en-US"/>
              <a:t>;</a:t>
            </a:r>
            <a:endParaRPr lang="zh-CN" altLang="en-US"/>
          </a:p>
          <a:p>
            <a:r>
              <a:rPr lang="zh-CN" altLang="en-US"/>
              <a:t>    cout &lt;&lt; v &lt;&lt; endl;</a:t>
            </a:r>
            <a:endParaRPr lang="zh-CN" altLang="en-US"/>
          </a:p>
          <a:p>
            <a:r>
              <a:rPr lang="zh-CN" altLang="en-US"/>
              <a:t>    return 0;</a:t>
            </a:r>
            <a:endParaRPr lang="zh-CN" altLang="en-US"/>
          </a:p>
          <a:p>
            <a:r>
              <a:rPr lang="zh-CN" altLang="en-US"/>
              <a:t>}</a:t>
            </a:r>
            <a:endParaRPr lang="zh-CN" altLang="en-US"/>
          </a:p>
        </p:txBody>
      </p:sp>
    </p:spTree>
  </p:cSld>
  <p:clrMapOvr>
    <a:masterClrMapping/>
  </p:clrMapOvr>
</p:sld>
</file>

<file path=ppt/tags/tag1.xml><?xml version="1.0" encoding="utf-8"?>
<p:tagLst xmlns:p="http://schemas.openxmlformats.org/presentationml/2006/main">
  <p:tag name="commondata" val="eyJoZGlkIjoiMDQ4NjdlODAwNTE0NzIxNDAxY2Q3MWExNTMxNmU4MGEifQ=="/>
  <p:tag name="KSO_WPP_MARK_KEY" val="d006a5c8-8a84-46ed-9d7f-9225dd9f323c"/>
</p:tagLst>
</file>

<file path=ppt/theme/theme1.xml><?xml version="1.0" encoding="utf-8"?>
<a:theme xmlns:a="http://schemas.openxmlformats.org/drawingml/2006/main" name="WPS">
  <a:themeElements>
    <a:clrScheme name="WPS">
      <a:dk1>
        <a:srgbClr val="000000"/>
      </a:dk1>
      <a:lt1>
        <a:srgbClr val="FFFFFF"/>
      </a:lt1>
      <a:dk2>
        <a:srgbClr val="0F1423"/>
      </a:dk2>
      <a:lt2>
        <a:srgbClr val="FFFFFF"/>
      </a:lt2>
      <a:accent1>
        <a:srgbClr val="4874CB"/>
      </a:accent1>
      <a:accent2>
        <a:srgbClr val="E6724B"/>
      </a:accent2>
      <a:accent3>
        <a:srgbClr val="EFBB1F"/>
      </a:accent3>
      <a:accent4>
        <a:srgbClr val="75BD42"/>
      </a:accent4>
      <a:accent5>
        <a:srgbClr val="30C0B4"/>
      </a:accent5>
      <a:accent6>
        <a:srgbClr val="E05269"/>
      </a:accent6>
      <a:hlink>
        <a:srgbClr val="0026E5"/>
      </a:hlink>
      <a:folHlink>
        <a:srgbClr val="7E1FAD"/>
      </a:folHlink>
    </a:clrScheme>
    <a:fontScheme name="WPS">
      <a:majorFont>
        <a:latin typeface="Calibri"/>
        <a:ea typeface=""/>
        <a:cs typeface=""/>
        <a:font script="Jpan" typeface="ＭＳ Ｐゴシック"/>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2216</Words>
  <Application>WPS 演示</Application>
  <PresentationFormat>宽屏</PresentationFormat>
  <Paragraphs>136</Paragraphs>
  <Slides>10</Slides>
  <Notes>0</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10</vt:i4>
      </vt:variant>
    </vt:vector>
  </HeadingPairs>
  <TitlesOfParts>
    <vt:vector size="17" baseType="lpstr">
      <vt:lpstr>Arial</vt:lpstr>
      <vt:lpstr>宋体</vt:lpstr>
      <vt:lpstr>Wingdings</vt:lpstr>
      <vt:lpstr>Calibri</vt:lpstr>
      <vt:lpstr>微软雅黑</vt:lpstr>
      <vt:lpstr>Arial Unicode MS</vt:lpstr>
      <vt:lpstr>WPS</vt:lpstr>
      <vt:lpstr>#include &lt;bits/stdc++.h&gt; using namespace std; int main() {          return 0; }</vt:lpstr>
      <vt:lpstr>PowerPoint 演示文稿</vt:lpstr>
      <vt:lpstr>冒泡排序</vt:lpstr>
      <vt:lpstr>PowerPoint 演示文稿</vt:lpstr>
      <vt:lpstr>printf</vt:lpstr>
      <vt:lpstr>PowerPoint 演示文稿</vt:lpstr>
      <vt:lpstr>素数</vt:lpstr>
      <vt:lpstr>substr</vt:lpstr>
      <vt:lpstr>stoi</vt:lpstr>
      <vt:lpstr>以16进制格式打印v的值</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小富</dc:creator>
  <cp:lastModifiedBy>张富</cp:lastModifiedBy>
  <cp:revision>14</cp:revision>
  <dcterms:created xsi:type="dcterms:W3CDTF">2023-10-27T14:38:00Z</dcterms:created>
  <dcterms:modified xsi:type="dcterms:W3CDTF">2023-12-04T04:15:10Z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37A2B1AD709A49B28EE640F43AEFD867_12</vt:lpwstr>
  </property>
  <property fmtid="{D5CDD505-2E9C-101B-9397-08002B2CF9AE}" pid="3" name="KSOProductBuildVer">
    <vt:lpwstr>2052-11.1.0.15319</vt:lpwstr>
  </property>
</Properties>
</file>